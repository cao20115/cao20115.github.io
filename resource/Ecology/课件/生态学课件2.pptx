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0"/>
  </p:notesMasterIdLst>
  <p:handoutMasterIdLst>
    <p:handoutMasterId r:id="rId131"/>
  </p:handoutMasterIdLst>
  <p:sldIdLst>
    <p:sldId id="342" r:id="rId2"/>
    <p:sldId id="278" r:id="rId3"/>
    <p:sldId id="279" r:id="rId4"/>
    <p:sldId id="280" r:id="rId5"/>
    <p:sldId id="281" r:id="rId6"/>
    <p:sldId id="260" r:id="rId7"/>
    <p:sldId id="343" r:id="rId8"/>
    <p:sldId id="256" r:id="rId9"/>
    <p:sldId id="257" r:id="rId10"/>
    <p:sldId id="268" r:id="rId11"/>
    <p:sldId id="269" r:id="rId12"/>
    <p:sldId id="345" r:id="rId13"/>
    <p:sldId id="346" r:id="rId14"/>
    <p:sldId id="347" r:id="rId15"/>
    <p:sldId id="348" r:id="rId16"/>
    <p:sldId id="349" r:id="rId17"/>
    <p:sldId id="350" r:id="rId18"/>
    <p:sldId id="259" r:id="rId19"/>
    <p:sldId id="352" r:id="rId20"/>
    <p:sldId id="266" r:id="rId21"/>
    <p:sldId id="355" r:id="rId22"/>
    <p:sldId id="258" r:id="rId23"/>
    <p:sldId id="351" r:id="rId24"/>
    <p:sldId id="275" r:id="rId25"/>
    <p:sldId id="277" r:id="rId26"/>
    <p:sldId id="357" r:id="rId27"/>
    <p:sldId id="356" r:id="rId28"/>
    <p:sldId id="289" r:id="rId29"/>
    <p:sldId id="290" r:id="rId30"/>
    <p:sldId id="291" r:id="rId31"/>
    <p:sldId id="292" r:id="rId32"/>
    <p:sldId id="293" r:id="rId33"/>
    <p:sldId id="359" r:id="rId34"/>
    <p:sldId id="360"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61" r:id="rId52"/>
    <p:sldId id="362"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449" r:id="rId84"/>
    <p:sldId id="544" r:id="rId85"/>
    <p:sldId id="450" r:id="rId86"/>
    <p:sldId id="451" r:id="rId87"/>
    <p:sldId id="456" r:id="rId88"/>
    <p:sldId id="459" r:id="rId89"/>
    <p:sldId id="460" r:id="rId90"/>
    <p:sldId id="464" r:id="rId91"/>
    <p:sldId id="467" r:id="rId92"/>
    <p:sldId id="469" r:id="rId93"/>
    <p:sldId id="471" r:id="rId94"/>
    <p:sldId id="472" r:id="rId95"/>
    <p:sldId id="479" r:id="rId96"/>
    <p:sldId id="482" r:id="rId97"/>
    <p:sldId id="484" r:id="rId98"/>
    <p:sldId id="486" r:id="rId99"/>
    <p:sldId id="487" r:id="rId100"/>
    <p:sldId id="491" r:id="rId101"/>
    <p:sldId id="493" r:id="rId102"/>
    <p:sldId id="494" r:id="rId103"/>
    <p:sldId id="495" r:id="rId104"/>
    <p:sldId id="497" r:id="rId105"/>
    <p:sldId id="498" r:id="rId106"/>
    <p:sldId id="500" r:id="rId107"/>
    <p:sldId id="502" r:id="rId108"/>
    <p:sldId id="503" r:id="rId109"/>
    <p:sldId id="508" r:id="rId110"/>
    <p:sldId id="510" r:id="rId111"/>
    <p:sldId id="513" r:id="rId112"/>
    <p:sldId id="514" r:id="rId113"/>
    <p:sldId id="515" r:id="rId114"/>
    <p:sldId id="516" r:id="rId115"/>
    <p:sldId id="517" r:id="rId116"/>
    <p:sldId id="518" r:id="rId117"/>
    <p:sldId id="519" r:id="rId118"/>
    <p:sldId id="521" r:id="rId119"/>
    <p:sldId id="523" r:id="rId120"/>
    <p:sldId id="524" r:id="rId121"/>
    <p:sldId id="525" r:id="rId122"/>
    <p:sldId id="526" r:id="rId123"/>
    <p:sldId id="527" r:id="rId124"/>
    <p:sldId id="539" r:id="rId125"/>
    <p:sldId id="540" r:id="rId126"/>
    <p:sldId id="541" r:id="rId127"/>
    <p:sldId id="542" r:id="rId128"/>
    <p:sldId id="543" r:id="rId1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9425D4-8D74-1747-A1CF-162EB1E78E4B}" v="740" dt="2025-10-03T02:31:57.872"/>
    <p1510:client id="{EA910B6D-A278-40B9-9D63-723E2DFEE1CA}" v="304" dt="2025-10-03T01:59:10.4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handoutMaster" Target="handoutMasters/handoutMaster1.xml"/><Relationship Id="rId136"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邦 肖" userId="38982054f6b45302" providerId="LiveId" clId="{DD7BC8ED-19D6-4812-BE91-58B758706EA9}"/>
    <pc:docChg chg="undo custSel delSld modSld">
      <pc:chgData name="邦 肖" userId="38982054f6b45302" providerId="LiveId" clId="{DD7BC8ED-19D6-4812-BE91-58B758706EA9}" dt="2025-10-03T01:59:10.446" v="314" actId="13926"/>
      <pc:docMkLst>
        <pc:docMk/>
      </pc:docMkLst>
      <pc:sldChg chg="modSp mod">
        <pc:chgData name="邦 肖" userId="38982054f6b45302" providerId="LiveId" clId="{DD7BC8ED-19D6-4812-BE91-58B758706EA9}" dt="2025-10-03T01:47:00.064" v="190" actId="1076"/>
        <pc:sldMkLst>
          <pc:docMk/>
          <pc:sldMk cId="0" sldId="487"/>
        </pc:sldMkLst>
        <pc:spChg chg="mod">
          <ac:chgData name="邦 肖" userId="38982054f6b45302" providerId="LiveId" clId="{DD7BC8ED-19D6-4812-BE91-58B758706EA9}" dt="2025-10-03T01:47:00.064" v="190" actId="1076"/>
          <ac:spMkLst>
            <pc:docMk/>
            <pc:sldMk cId="0" sldId="487"/>
            <ac:spMk id="247811" creationId="{00000000-0000-0000-0000-000000000000}"/>
          </ac:spMkLst>
        </pc:spChg>
      </pc:sldChg>
      <pc:sldChg chg="modSp mod">
        <pc:chgData name="邦 肖" userId="38982054f6b45302" providerId="LiveId" clId="{DD7BC8ED-19D6-4812-BE91-58B758706EA9}" dt="2025-10-03T01:47:34.994" v="192" actId="20577"/>
        <pc:sldMkLst>
          <pc:docMk/>
          <pc:sldMk cId="0" sldId="491"/>
        </pc:sldMkLst>
        <pc:spChg chg="mod">
          <ac:chgData name="邦 肖" userId="38982054f6b45302" providerId="LiveId" clId="{DD7BC8ED-19D6-4812-BE91-58B758706EA9}" dt="2025-10-03T01:41:25.693" v="143" actId="403"/>
          <ac:spMkLst>
            <pc:docMk/>
            <pc:sldMk cId="0" sldId="491"/>
            <ac:spMk id="2" creationId="{00000000-0000-0000-0000-000000000000}"/>
          </ac:spMkLst>
        </pc:spChg>
        <pc:spChg chg="mod">
          <ac:chgData name="邦 肖" userId="38982054f6b45302" providerId="LiveId" clId="{DD7BC8ED-19D6-4812-BE91-58B758706EA9}" dt="2025-10-03T01:47:34.994" v="192" actId="20577"/>
          <ac:spMkLst>
            <pc:docMk/>
            <pc:sldMk cId="0" sldId="491"/>
            <ac:spMk id="549891" creationId="{00000000-0000-0000-0000-000000000000}"/>
          </ac:spMkLst>
        </pc:spChg>
      </pc:sldChg>
      <pc:sldChg chg="modSp mod">
        <pc:chgData name="邦 肖" userId="38982054f6b45302" providerId="LiveId" clId="{DD7BC8ED-19D6-4812-BE91-58B758706EA9}" dt="2025-10-03T01:46:48.142" v="189" actId="20577"/>
        <pc:sldMkLst>
          <pc:docMk/>
          <pc:sldMk cId="0" sldId="493"/>
        </pc:sldMkLst>
        <pc:spChg chg="mod">
          <ac:chgData name="邦 肖" userId="38982054f6b45302" providerId="LiveId" clId="{DD7BC8ED-19D6-4812-BE91-58B758706EA9}" dt="2025-10-03T01:46:48.142" v="189" actId="20577"/>
          <ac:spMkLst>
            <pc:docMk/>
            <pc:sldMk cId="0" sldId="493"/>
            <ac:spMk id="714755" creationId="{00000000-0000-0000-0000-000000000000}"/>
          </ac:spMkLst>
        </pc:spChg>
      </pc:sldChg>
      <pc:sldChg chg="modSp mod">
        <pc:chgData name="邦 肖" userId="38982054f6b45302" providerId="LiveId" clId="{DD7BC8ED-19D6-4812-BE91-58B758706EA9}" dt="2025-10-03T01:44:50.162" v="162" actId="1076"/>
        <pc:sldMkLst>
          <pc:docMk/>
          <pc:sldMk cId="0" sldId="495"/>
        </pc:sldMkLst>
        <pc:spChg chg="mod">
          <ac:chgData name="邦 肖" userId="38982054f6b45302" providerId="LiveId" clId="{DD7BC8ED-19D6-4812-BE91-58B758706EA9}" dt="2025-10-03T01:44:50.162" v="162" actId="1076"/>
          <ac:spMkLst>
            <pc:docMk/>
            <pc:sldMk cId="0" sldId="495"/>
            <ac:spMk id="276483" creationId="{00000000-0000-0000-0000-000000000000}"/>
          </ac:spMkLst>
        </pc:spChg>
      </pc:sldChg>
      <pc:sldChg chg="modSp mod">
        <pc:chgData name="邦 肖" userId="38982054f6b45302" providerId="LiveId" clId="{DD7BC8ED-19D6-4812-BE91-58B758706EA9}" dt="2025-10-03T01:44:44.020" v="161" actId="1076"/>
        <pc:sldMkLst>
          <pc:docMk/>
          <pc:sldMk cId="0" sldId="497"/>
        </pc:sldMkLst>
        <pc:spChg chg="mod">
          <ac:chgData name="邦 肖" userId="38982054f6b45302" providerId="LiveId" clId="{DD7BC8ED-19D6-4812-BE91-58B758706EA9}" dt="2025-10-03T01:44:44.020" v="161" actId="1076"/>
          <ac:spMkLst>
            <pc:docMk/>
            <pc:sldMk cId="0" sldId="497"/>
            <ac:spMk id="251907" creationId="{00000000-0000-0000-0000-000000000000}"/>
          </ac:spMkLst>
        </pc:spChg>
      </pc:sldChg>
      <pc:sldChg chg="addSp modSp mod">
        <pc:chgData name="邦 肖" userId="38982054f6b45302" providerId="LiveId" clId="{DD7BC8ED-19D6-4812-BE91-58B758706EA9}" dt="2025-10-03T01:45:47.506" v="180" actId="20577"/>
        <pc:sldMkLst>
          <pc:docMk/>
          <pc:sldMk cId="0" sldId="498"/>
        </pc:sldMkLst>
        <pc:spChg chg="mod">
          <ac:chgData name="邦 肖" userId="38982054f6b45302" providerId="LiveId" clId="{DD7BC8ED-19D6-4812-BE91-58B758706EA9}" dt="2025-10-03T01:45:16.064" v="170" actId="1038"/>
          <ac:spMkLst>
            <pc:docMk/>
            <pc:sldMk cId="0" sldId="498"/>
            <ac:spMk id="811012" creationId="{00000000-0000-0000-0000-000000000000}"/>
          </ac:spMkLst>
        </pc:spChg>
        <pc:spChg chg="add mod">
          <ac:chgData name="邦 肖" userId="38982054f6b45302" providerId="LiveId" clId="{DD7BC8ED-19D6-4812-BE91-58B758706EA9}" dt="2025-10-03T01:45:47.506" v="180" actId="20577"/>
          <ac:spMkLst>
            <pc:docMk/>
            <pc:sldMk cId="0" sldId="498"/>
            <ac:spMk id="812036" creationId="{00000000-0000-0000-0000-000000000000}"/>
          </ac:spMkLst>
        </pc:spChg>
      </pc:sldChg>
      <pc:sldChg chg="delSp modSp del mod">
        <pc:chgData name="邦 肖" userId="38982054f6b45302" providerId="LiveId" clId="{DD7BC8ED-19D6-4812-BE91-58B758706EA9}" dt="2025-10-03T01:28:43.502" v="38" actId="2696"/>
        <pc:sldMkLst>
          <pc:docMk/>
          <pc:sldMk cId="0" sldId="499"/>
        </pc:sldMkLst>
        <pc:spChg chg="del mod">
          <ac:chgData name="邦 肖" userId="38982054f6b45302" providerId="LiveId" clId="{DD7BC8ED-19D6-4812-BE91-58B758706EA9}" dt="2025-10-03T01:26:45.723" v="18" actId="21"/>
          <ac:spMkLst>
            <pc:docMk/>
            <pc:sldMk cId="0" sldId="499"/>
            <ac:spMk id="812036" creationId="{00000000-0000-0000-0000-000000000000}"/>
          </ac:spMkLst>
        </pc:spChg>
      </pc:sldChg>
      <pc:sldChg chg="addSp modSp mod">
        <pc:chgData name="邦 肖" userId="38982054f6b45302" providerId="LiveId" clId="{DD7BC8ED-19D6-4812-BE91-58B758706EA9}" dt="2025-10-03T01:31:58.022" v="70" actId="207"/>
        <pc:sldMkLst>
          <pc:docMk/>
          <pc:sldMk cId="0" sldId="500"/>
        </pc:sldMkLst>
        <pc:spChg chg="mod">
          <ac:chgData name="邦 肖" userId="38982054f6b45302" providerId="LiveId" clId="{DD7BC8ED-19D6-4812-BE91-58B758706EA9}" dt="2025-10-03T01:28:56.908" v="40" actId="12"/>
          <ac:spMkLst>
            <pc:docMk/>
            <pc:sldMk cId="0" sldId="500"/>
            <ac:spMk id="813060" creationId="{00000000-0000-0000-0000-000000000000}"/>
          </ac:spMkLst>
        </pc:spChg>
        <pc:spChg chg="add mod">
          <ac:chgData name="邦 肖" userId="38982054f6b45302" providerId="LiveId" clId="{DD7BC8ED-19D6-4812-BE91-58B758706EA9}" dt="2025-10-03T01:31:58.022" v="70" actId="207"/>
          <ac:spMkLst>
            <pc:docMk/>
            <pc:sldMk cId="0" sldId="500"/>
            <ac:spMk id="814084" creationId="{00000000-0000-0000-0000-000000000000}"/>
          </ac:spMkLst>
        </pc:spChg>
      </pc:sldChg>
      <pc:sldChg chg="delSp modSp del mod">
        <pc:chgData name="邦 肖" userId="38982054f6b45302" providerId="LiveId" clId="{DD7BC8ED-19D6-4812-BE91-58B758706EA9}" dt="2025-10-03T01:32:04.986" v="71" actId="2696"/>
        <pc:sldMkLst>
          <pc:docMk/>
          <pc:sldMk cId="0" sldId="501"/>
        </pc:sldMkLst>
        <pc:spChg chg="del mod">
          <ac:chgData name="邦 肖" userId="38982054f6b45302" providerId="LiveId" clId="{DD7BC8ED-19D6-4812-BE91-58B758706EA9}" dt="2025-10-03T01:30:20.483" v="43" actId="21"/>
          <ac:spMkLst>
            <pc:docMk/>
            <pc:sldMk cId="0" sldId="501"/>
            <ac:spMk id="814084" creationId="{00000000-0000-0000-0000-000000000000}"/>
          </ac:spMkLst>
        </pc:spChg>
      </pc:sldChg>
      <pc:sldChg chg="modSp mod">
        <pc:chgData name="邦 肖" userId="38982054f6b45302" providerId="LiveId" clId="{DD7BC8ED-19D6-4812-BE91-58B758706EA9}" dt="2025-10-03T01:48:30.536" v="194" actId="113"/>
        <pc:sldMkLst>
          <pc:docMk/>
          <pc:sldMk cId="0" sldId="503"/>
        </pc:sldMkLst>
        <pc:spChg chg="mod">
          <ac:chgData name="邦 肖" userId="38982054f6b45302" providerId="LiveId" clId="{DD7BC8ED-19D6-4812-BE91-58B758706EA9}" dt="2025-10-03T01:48:30.536" v="194" actId="113"/>
          <ac:spMkLst>
            <pc:docMk/>
            <pc:sldMk cId="0" sldId="503"/>
            <ac:spMk id="816132" creationId="{00000000-0000-0000-0000-000000000000}"/>
          </ac:spMkLst>
        </pc:spChg>
      </pc:sldChg>
      <pc:sldChg chg="del">
        <pc:chgData name="邦 肖" userId="38982054f6b45302" providerId="LiveId" clId="{DD7BC8ED-19D6-4812-BE91-58B758706EA9}" dt="2025-10-03T01:32:36.644" v="72" actId="2696"/>
        <pc:sldMkLst>
          <pc:docMk/>
          <pc:sldMk cId="0" sldId="507"/>
        </pc:sldMkLst>
      </pc:sldChg>
      <pc:sldChg chg="modSp mod">
        <pc:chgData name="邦 肖" userId="38982054f6b45302" providerId="LiveId" clId="{DD7BC8ED-19D6-4812-BE91-58B758706EA9}" dt="2025-10-03T01:37:43.177" v="100" actId="1076"/>
        <pc:sldMkLst>
          <pc:docMk/>
          <pc:sldMk cId="0" sldId="508"/>
        </pc:sldMkLst>
        <pc:spChg chg="mod">
          <ac:chgData name="邦 肖" userId="38982054f6b45302" providerId="LiveId" clId="{DD7BC8ED-19D6-4812-BE91-58B758706EA9}" dt="2025-10-03T01:37:43.177" v="100" actId="1076"/>
          <ac:spMkLst>
            <pc:docMk/>
            <pc:sldMk cId="0" sldId="508"/>
            <ac:spMk id="820227" creationId="{00000000-0000-0000-0000-000000000000}"/>
          </ac:spMkLst>
        </pc:spChg>
      </pc:sldChg>
      <pc:sldChg chg="modSp mod">
        <pc:chgData name="邦 肖" userId="38982054f6b45302" providerId="LiveId" clId="{DD7BC8ED-19D6-4812-BE91-58B758706EA9}" dt="2025-10-03T01:50:05.168" v="196" actId="14100"/>
        <pc:sldMkLst>
          <pc:docMk/>
          <pc:sldMk cId="0" sldId="514"/>
        </pc:sldMkLst>
        <pc:picChg chg="mod">
          <ac:chgData name="邦 肖" userId="38982054f6b45302" providerId="LiveId" clId="{DD7BC8ED-19D6-4812-BE91-58B758706EA9}" dt="2025-10-03T01:50:05.168" v="196" actId="14100"/>
          <ac:picMkLst>
            <pc:docMk/>
            <pc:sldMk cId="0" sldId="514"/>
            <ac:picMk id="269317" creationId="{00000000-0000-0000-0000-000000000000}"/>
          </ac:picMkLst>
        </pc:picChg>
      </pc:sldChg>
      <pc:sldChg chg="modSp mod">
        <pc:chgData name="邦 肖" userId="38982054f6b45302" providerId="LiveId" clId="{DD7BC8ED-19D6-4812-BE91-58B758706EA9}" dt="2025-10-03T01:50:15.156" v="198" actId="14100"/>
        <pc:sldMkLst>
          <pc:docMk/>
          <pc:sldMk cId="0" sldId="515"/>
        </pc:sldMkLst>
        <pc:picChg chg="mod">
          <ac:chgData name="邦 肖" userId="38982054f6b45302" providerId="LiveId" clId="{DD7BC8ED-19D6-4812-BE91-58B758706EA9}" dt="2025-10-03T01:50:15.156" v="198" actId="14100"/>
          <ac:picMkLst>
            <pc:docMk/>
            <pc:sldMk cId="0" sldId="515"/>
            <ac:picMk id="275461" creationId="{00000000-0000-0000-0000-000000000000}"/>
          </ac:picMkLst>
        </pc:picChg>
      </pc:sldChg>
      <pc:sldChg chg="modSp mod">
        <pc:chgData name="邦 肖" userId="38982054f6b45302" providerId="LiveId" clId="{DD7BC8ED-19D6-4812-BE91-58B758706EA9}" dt="2025-10-03T01:51:03.614" v="203" actId="14100"/>
        <pc:sldMkLst>
          <pc:docMk/>
          <pc:sldMk cId="0" sldId="516"/>
        </pc:sldMkLst>
        <pc:picChg chg="mod">
          <ac:chgData name="邦 肖" userId="38982054f6b45302" providerId="LiveId" clId="{DD7BC8ED-19D6-4812-BE91-58B758706EA9}" dt="2025-10-03T01:51:03.614" v="203" actId="14100"/>
          <ac:picMkLst>
            <pc:docMk/>
            <pc:sldMk cId="0" sldId="516"/>
            <ac:picMk id="274439" creationId="{00000000-0000-0000-0000-000000000000}"/>
          </ac:picMkLst>
        </pc:picChg>
      </pc:sldChg>
      <pc:sldChg chg="modSp mod">
        <pc:chgData name="邦 肖" userId="38982054f6b45302" providerId="LiveId" clId="{DD7BC8ED-19D6-4812-BE91-58B758706EA9}" dt="2025-10-03T01:59:10.446" v="314" actId="13926"/>
        <pc:sldMkLst>
          <pc:docMk/>
          <pc:sldMk cId="0" sldId="517"/>
        </pc:sldMkLst>
        <pc:spChg chg="mod">
          <ac:chgData name="邦 肖" userId="38982054f6b45302" providerId="LiveId" clId="{DD7BC8ED-19D6-4812-BE91-58B758706EA9}" dt="2025-10-03T01:59:10.446" v="314" actId="13926"/>
          <ac:spMkLst>
            <pc:docMk/>
            <pc:sldMk cId="0" sldId="517"/>
            <ac:spMk id="273411" creationId="{00000000-0000-0000-0000-000000000000}"/>
          </ac:spMkLst>
        </pc:spChg>
      </pc:sldChg>
      <pc:sldChg chg="modSp mod">
        <pc:chgData name="邦 肖" userId="38982054f6b45302" providerId="LiveId" clId="{DD7BC8ED-19D6-4812-BE91-58B758706EA9}" dt="2025-10-03T01:52:45.782" v="223" actId="14100"/>
        <pc:sldMkLst>
          <pc:docMk/>
          <pc:sldMk cId="0" sldId="518"/>
        </pc:sldMkLst>
        <pc:picChg chg="mod">
          <ac:chgData name="邦 肖" userId="38982054f6b45302" providerId="LiveId" clId="{DD7BC8ED-19D6-4812-BE91-58B758706EA9}" dt="2025-10-03T01:52:45.782" v="223" actId="14100"/>
          <ac:picMkLst>
            <pc:docMk/>
            <pc:sldMk cId="0" sldId="518"/>
            <ac:picMk id="802820" creationId="{00000000-0000-0000-0000-000000000000}"/>
          </ac:picMkLst>
        </pc:picChg>
      </pc:sldChg>
      <pc:sldChg chg="modSp mod">
        <pc:chgData name="邦 肖" userId="38982054f6b45302" providerId="LiveId" clId="{DD7BC8ED-19D6-4812-BE91-58B758706EA9}" dt="2025-10-03T01:58:45.184" v="312" actId="404"/>
        <pc:sldMkLst>
          <pc:docMk/>
          <pc:sldMk cId="0" sldId="521"/>
        </pc:sldMkLst>
        <pc:spChg chg="mod">
          <ac:chgData name="邦 肖" userId="38982054f6b45302" providerId="LiveId" clId="{DD7BC8ED-19D6-4812-BE91-58B758706EA9}" dt="2025-10-03T01:58:45.184" v="312" actId="404"/>
          <ac:spMkLst>
            <pc:docMk/>
            <pc:sldMk cId="0" sldId="521"/>
            <ac:spMk id="2" creationId="{00000000-0000-0000-0000-000000000000}"/>
          </ac:spMkLst>
        </pc:spChg>
        <pc:spChg chg="mod">
          <ac:chgData name="邦 肖" userId="38982054f6b45302" providerId="LiveId" clId="{DD7BC8ED-19D6-4812-BE91-58B758706EA9}" dt="2025-10-03T01:19:38.337" v="13" actId="20577"/>
          <ac:spMkLst>
            <pc:docMk/>
            <pc:sldMk cId="0" sldId="521"/>
            <ac:spMk id="270339" creationId="{00000000-0000-0000-0000-000000000000}"/>
          </ac:spMkLst>
        </pc:spChg>
      </pc:sldChg>
      <pc:sldChg chg="modSp mod">
        <pc:chgData name="邦 肖" userId="38982054f6b45302" providerId="LiveId" clId="{DD7BC8ED-19D6-4812-BE91-58B758706EA9}" dt="2025-10-03T01:58:34.359" v="301" actId="1076"/>
        <pc:sldMkLst>
          <pc:docMk/>
          <pc:sldMk cId="0" sldId="523"/>
        </pc:sldMkLst>
        <pc:picChg chg="mod">
          <ac:chgData name="邦 肖" userId="38982054f6b45302" providerId="LiveId" clId="{DD7BC8ED-19D6-4812-BE91-58B758706EA9}" dt="2025-10-03T01:58:34.359" v="301" actId="1076"/>
          <ac:picMkLst>
            <pc:docMk/>
            <pc:sldMk cId="0" sldId="523"/>
            <ac:picMk id="277509" creationId="{00000000-0000-0000-0000-000000000000}"/>
          </ac:picMkLst>
        </pc:picChg>
      </pc:sldChg>
      <pc:sldChg chg="modSp mod">
        <pc:chgData name="邦 肖" userId="38982054f6b45302" providerId="LiveId" clId="{DD7BC8ED-19D6-4812-BE91-58B758706EA9}" dt="2025-10-03T01:58:29.424" v="300" actId="14100"/>
        <pc:sldMkLst>
          <pc:docMk/>
          <pc:sldMk cId="0" sldId="524"/>
        </pc:sldMkLst>
        <pc:picChg chg="mod">
          <ac:chgData name="邦 肖" userId="38982054f6b45302" providerId="LiveId" clId="{DD7BC8ED-19D6-4812-BE91-58B758706EA9}" dt="2025-10-03T01:58:29.424" v="300" actId="14100"/>
          <ac:picMkLst>
            <pc:docMk/>
            <pc:sldMk cId="0" sldId="524"/>
            <ac:picMk id="286724" creationId="{00000000-0000-0000-0000-000000000000}"/>
          </ac:picMkLst>
        </pc:picChg>
      </pc:sldChg>
      <pc:sldChg chg="modSp mod">
        <pc:chgData name="邦 肖" userId="38982054f6b45302" providerId="LiveId" clId="{DD7BC8ED-19D6-4812-BE91-58B758706EA9}" dt="2025-10-03T01:58:17.659" v="296" actId="14100"/>
        <pc:sldMkLst>
          <pc:docMk/>
          <pc:sldMk cId="0" sldId="525"/>
        </pc:sldMkLst>
        <pc:picChg chg="mod">
          <ac:chgData name="邦 肖" userId="38982054f6b45302" providerId="LiveId" clId="{DD7BC8ED-19D6-4812-BE91-58B758706EA9}" dt="2025-10-03T01:58:17.659" v="296" actId="14100"/>
          <ac:picMkLst>
            <pc:docMk/>
            <pc:sldMk cId="0" sldId="525"/>
            <ac:picMk id="285701" creationId="{00000000-0000-0000-0000-000000000000}"/>
          </ac:picMkLst>
        </pc:picChg>
      </pc:sldChg>
      <pc:sldChg chg="modSp mod">
        <pc:chgData name="邦 肖" userId="38982054f6b45302" providerId="LiveId" clId="{DD7BC8ED-19D6-4812-BE91-58B758706EA9}" dt="2025-10-03T01:58:04.444" v="292" actId="13926"/>
        <pc:sldMkLst>
          <pc:docMk/>
          <pc:sldMk cId="0" sldId="527"/>
        </pc:sldMkLst>
        <pc:graphicFrameChg chg="modGraphic">
          <ac:chgData name="邦 肖" userId="38982054f6b45302" providerId="LiveId" clId="{DD7BC8ED-19D6-4812-BE91-58B758706EA9}" dt="2025-10-03T01:58:04.444" v="292" actId="13926"/>
          <ac:graphicFrameMkLst>
            <pc:docMk/>
            <pc:sldMk cId="0" sldId="527"/>
            <ac:graphicFrameMk id="408627" creationId="{00000000-0000-0000-0000-000000000000}"/>
          </ac:graphicFrameMkLst>
        </pc:graphicFrameChg>
      </pc:sldChg>
      <pc:sldChg chg="del">
        <pc:chgData name="邦 肖" userId="38982054f6b45302" providerId="LiveId" clId="{DD7BC8ED-19D6-4812-BE91-58B758706EA9}" dt="2025-10-03T01:20:33.503" v="14" actId="2696"/>
        <pc:sldMkLst>
          <pc:docMk/>
          <pc:sldMk cId="0" sldId="528"/>
        </pc:sldMkLst>
      </pc:sldChg>
      <pc:sldChg chg="modSp mod">
        <pc:chgData name="邦 肖" userId="38982054f6b45302" providerId="LiveId" clId="{DD7BC8ED-19D6-4812-BE91-58B758706EA9}" dt="2025-10-03T01:57:31.428" v="284" actId="13926"/>
        <pc:sldMkLst>
          <pc:docMk/>
          <pc:sldMk cId="0" sldId="539"/>
        </pc:sldMkLst>
        <pc:spChg chg="mod">
          <ac:chgData name="邦 肖" userId="38982054f6b45302" providerId="LiveId" clId="{DD7BC8ED-19D6-4812-BE91-58B758706EA9}" dt="2025-10-03T01:57:31.428" v="284" actId="13926"/>
          <ac:spMkLst>
            <pc:docMk/>
            <pc:sldMk cId="0" sldId="539"/>
            <ac:spMk id="278532" creationId="{00000000-0000-0000-0000-000000000000}"/>
          </ac:spMkLst>
        </pc:spChg>
      </pc:sldChg>
      <pc:sldChg chg="modSp mod">
        <pc:chgData name="邦 肖" userId="38982054f6b45302" providerId="LiveId" clId="{DD7BC8ED-19D6-4812-BE91-58B758706EA9}" dt="2025-10-03T01:57:20.265" v="279" actId="13926"/>
        <pc:sldMkLst>
          <pc:docMk/>
          <pc:sldMk cId="0" sldId="540"/>
        </pc:sldMkLst>
        <pc:spChg chg="mod">
          <ac:chgData name="邦 肖" userId="38982054f6b45302" providerId="LiveId" clId="{DD7BC8ED-19D6-4812-BE91-58B758706EA9}" dt="2025-10-03T01:57:20.265" v="279" actId="13926"/>
          <ac:spMkLst>
            <pc:docMk/>
            <pc:sldMk cId="0" sldId="540"/>
            <ac:spMk id="289795" creationId="{00000000-0000-0000-0000-000000000000}"/>
          </ac:spMkLst>
        </pc:spChg>
      </pc:sldChg>
      <pc:sldChg chg="modSp mod">
        <pc:chgData name="邦 肖" userId="38982054f6b45302" providerId="LiveId" clId="{DD7BC8ED-19D6-4812-BE91-58B758706EA9}" dt="2025-10-03T01:57:00.602" v="274" actId="13926"/>
        <pc:sldMkLst>
          <pc:docMk/>
          <pc:sldMk cId="0" sldId="541"/>
        </pc:sldMkLst>
        <pc:spChg chg="mod">
          <ac:chgData name="邦 肖" userId="38982054f6b45302" providerId="LiveId" clId="{DD7BC8ED-19D6-4812-BE91-58B758706EA9}" dt="2025-10-03T01:57:00.602" v="274" actId="13926"/>
          <ac:spMkLst>
            <pc:docMk/>
            <pc:sldMk cId="0" sldId="541"/>
            <ac:spMk id="293891" creationId="{00000000-0000-0000-0000-000000000000}"/>
          </ac:spMkLst>
        </pc:spChg>
      </pc:sldChg>
      <pc:sldChg chg="modSp mod">
        <pc:chgData name="邦 肖" userId="38982054f6b45302" providerId="LiveId" clId="{DD7BC8ED-19D6-4812-BE91-58B758706EA9}" dt="2025-10-03T01:55:25.300" v="240"/>
        <pc:sldMkLst>
          <pc:docMk/>
          <pc:sldMk cId="0" sldId="542"/>
        </pc:sldMkLst>
        <pc:spChg chg="mod">
          <ac:chgData name="邦 肖" userId="38982054f6b45302" providerId="LiveId" clId="{DD7BC8ED-19D6-4812-BE91-58B758706EA9}" dt="2025-10-03T01:55:25.300" v="240"/>
          <ac:spMkLst>
            <pc:docMk/>
            <pc:sldMk cId="0" sldId="542"/>
            <ac:spMk id="292868" creationId="{00000000-0000-0000-0000-000000000000}"/>
          </ac:spMkLst>
        </pc:spChg>
      </pc:sldChg>
      <pc:sldChg chg="modSp mod">
        <pc:chgData name="邦 肖" userId="38982054f6b45302" providerId="LiveId" clId="{DD7BC8ED-19D6-4812-BE91-58B758706EA9}" dt="2025-10-03T01:54:58.950" v="235" actId="13926"/>
        <pc:sldMkLst>
          <pc:docMk/>
          <pc:sldMk cId="0" sldId="543"/>
        </pc:sldMkLst>
        <pc:spChg chg="mod">
          <ac:chgData name="邦 肖" userId="38982054f6b45302" providerId="LiveId" clId="{DD7BC8ED-19D6-4812-BE91-58B758706EA9}" dt="2025-10-03T01:54:58.950" v="235" actId="13926"/>
          <ac:spMkLst>
            <pc:docMk/>
            <pc:sldMk cId="0" sldId="543"/>
            <ac:spMk id="291843" creationId="{00000000-0000-0000-0000-000000000000}"/>
          </ac:spMkLst>
        </pc:spChg>
      </pc:sldChg>
    </pc:docChg>
  </pc:docChgLst>
  <pc:docChgLst>
    <pc:chgData name="邦 肖" userId="38982054f6b45302" providerId="LiveId" clId="{95A0DA5A-AD6B-579F-A03E-EEED9F52BEEA}"/>
    <pc:docChg chg="undo custSel modSld">
      <pc:chgData name="邦 肖" userId="38982054f6b45302" providerId="LiveId" clId="{95A0DA5A-AD6B-579F-A03E-EEED9F52BEEA}" dt="2025-10-03T02:31:57.872" v="739" actId="13926"/>
      <pc:docMkLst>
        <pc:docMk/>
      </pc:docMkLst>
      <pc:sldChg chg="modSp mod">
        <pc:chgData name="邦 肖" userId="38982054f6b45302" providerId="LiveId" clId="{95A0DA5A-AD6B-579F-A03E-EEED9F52BEEA}" dt="2025-10-03T02:03:44.882" v="55" actId="27636"/>
        <pc:sldMkLst>
          <pc:docMk/>
          <pc:sldMk cId="0" sldId="355"/>
        </pc:sldMkLst>
        <pc:spChg chg="mod">
          <ac:chgData name="邦 肖" userId="38982054f6b45302" providerId="LiveId" clId="{95A0DA5A-AD6B-579F-A03E-EEED9F52BEEA}" dt="2025-10-03T02:03:44.882" v="55" actId="27636"/>
          <ac:spMkLst>
            <pc:docMk/>
            <pc:sldMk cId="0" sldId="355"/>
            <ac:spMk id="3" creationId="{00000000-0000-0000-0000-000000000000}"/>
          </ac:spMkLst>
        </pc:spChg>
      </pc:sldChg>
      <pc:sldChg chg="modSp mod">
        <pc:chgData name="邦 肖" userId="38982054f6b45302" providerId="LiveId" clId="{95A0DA5A-AD6B-579F-A03E-EEED9F52BEEA}" dt="2025-10-03T01:27:07.602" v="27" actId="1076"/>
        <pc:sldMkLst>
          <pc:docMk/>
          <pc:sldMk cId="0" sldId="451"/>
        </pc:sldMkLst>
        <pc:spChg chg="mod">
          <ac:chgData name="邦 肖" userId="38982054f6b45302" providerId="LiveId" clId="{95A0DA5A-AD6B-579F-A03E-EEED9F52BEEA}" dt="2025-10-03T01:27:07.602" v="27" actId="1076"/>
          <ac:spMkLst>
            <pc:docMk/>
            <pc:sldMk cId="0" sldId="451"/>
            <ac:spMk id="829456" creationId="{00000000-0000-0000-0000-000000000000}"/>
          </ac:spMkLst>
        </pc:spChg>
      </pc:sldChg>
      <pc:sldChg chg="modSp mod">
        <pc:chgData name="邦 肖" userId="38982054f6b45302" providerId="LiveId" clId="{95A0DA5A-AD6B-579F-A03E-EEED9F52BEEA}" dt="2025-10-03T01:27:26.233" v="32" actId="404"/>
        <pc:sldMkLst>
          <pc:docMk/>
          <pc:sldMk cId="0" sldId="459"/>
        </pc:sldMkLst>
        <pc:spChg chg="mod">
          <ac:chgData name="邦 肖" userId="38982054f6b45302" providerId="LiveId" clId="{95A0DA5A-AD6B-579F-A03E-EEED9F52BEEA}" dt="2025-10-03T01:27:26.233" v="32" actId="404"/>
          <ac:spMkLst>
            <pc:docMk/>
            <pc:sldMk cId="0" sldId="459"/>
            <ac:spMk id="2" creationId="{00000000-0000-0000-0000-000000000000}"/>
          </ac:spMkLst>
        </pc:spChg>
        <pc:spChg chg="mod">
          <ac:chgData name="邦 肖" userId="38982054f6b45302" providerId="LiveId" clId="{95A0DA5A-AD6B-579F-A03E-EEED9F52BEEA}" dt="2025-10-03T01:24:11.134" v="2" actId="20577"/>
          <ac:spMkLst>
            <pc:docMk/>
            <pc:sldMk cId="0" sldId="459"/>
            <ac:spMk id="499715" creationId="{00000000-0000-0000-0000-000000000000}"/>
          </ac:spMkLst>
        </pc:spChg>
      </pc:sldChg>
      <pc:sldChg chg="modSp mod">
        <pc:chgData name="邦 肖" userId="38982054f6b45302" providerId="LiveId" clId="{95A0DA5A-AD6B-579F-A03E-EEED9F52BEEA}" dt="2025-10-03T01:24:59.522" v="8" actId="20577"/>
        <pc:sldMkLst>
          <pc:docMk/>
          <pc:sldMk cId="0" sldId="460"/>
        </pc:sldMkLst>
        <pc:spChg chg="mod">
          <ac:chgData name="邦 肖" userId="38982054f6b45302" providerId="LiveId" clId="{95A0DA5A-AD6B-579F-A03E-EEED9F52BEEA}" dt="2025-10-03T01:24:59.522" v="8" actId="20577"/>
          <ac:spMkLst>
            <pc:docMk/>
            <pc:sldMk cId="0" sldId="460"/>
            <ac:spMk id="514051" creationId="{00000000-0000-0000-0000-000000000000}"/>
          </ac:spMkLst>
        </pc:spChg>
      </pc:sldChg>
      <pc:sldChg chg="modSp mod">
        <pc:chgData name="邦 肖" userId="38982054f6b45302" providerId="LiveId" clId="{95A0DA5A-AD6B-579F-A03E-EEED9F52BEEA}" dt="2025-10-03T01:31:00.157" v="34" actId="403"/>
        <pc:sldMkLst>
          <pc:docMk/>
          <pc:sldMk cId="0" sldId="467"/>
        </pc:sldMkLst>
        <pc:spChg chg="mod">
          <ac:chgData name="邦 肖" userId="38982054f6b45302" providerId="LiveId" clId="{95A0DA5A-AD6B-579F-A03E-EEED9F52BEEA}" dt="2025-10-03T01:31:00.157" v="34" actId="403"/>
          <ac:spMkLst>
            <pc:docMk/>
            <pc:sldMk cId="0" sldId="467"/>
            <ac:spMk id="2" creationId="{00000000-0000-0000-0000-000000000000}"/>
          </ac:spMkLst>
        </pc:spChg>
        <pc:spChg chg="mod">
          <ac:chgData name="邦 肖" userId="38982054f6b45302" providerId="LiveId" clId="{95A0DA5A-AD6B-579F-A03E-EEED9F52BEEA}" dt="2025-10-03T01:25:14.101" v="11" actId="20577"/>
          <ac:spMkLst>
            <pc:docMk/>
            <pc:sldMk cId="0" sldId="467"/>
            <ac:spMk id="230403" creationId="{00000000-0000-0000-0000-000000000000}"/>
          </ac:spMkLst>
        </pc:spChg>
      </pc:sldChg>
      <pc:sldChg chg="modSp mod">
        <pc:chgData name="邦 肖" userId="38982054f6b45302" providerId="LiveId" clId="{95A0DA5A-AD6B-579F-A03E-EEED9F52BEEA}" dt="2025-10-03T01:25:28.115" v="14" actId="20577"/>
        <pc:sldMkLst>
          <pc:docMk/>
          <pc:sldMk cId="0" sldId="469"/>
        </pc:sldMkLst>
        <pc:spChg chg="mod">
          <ac:chgData name="邦 肖" userId="38982054f6b45302" providerId="LiveId" clId="{95A0DA5A-AD6B-579F-A03E-EEED9F52BEEA}" dt="2025-10-03T01:25:28.115" v="14" actId="20577"/>
          <ac:spMkLst>
            <pc:docMk/>
            <pc:sldMk cId="0" sldId="469"/>
            <ac:spMk id="570371" creationId="{00000000-0000-0000-0000-000000000000}"/>
          </ac:spMkLst>
        </pc:spChg>
      </pc:sldChg>
      <pc:sldChg chg="modSp mod">
        <pc:chgData name="邦 肖" userId="38982054f6b45302" providerId="LiveId" clId="{95A0DA5A-AD6B-579F-A03E-EEED9F52BEEA}" dt="2025-10-03T01:32:15" v="37" actId="403"/>
        <pc:sldMkLst>
          <pc:docMk/>
          <pc:sldMk cId="0" sldId="471"/>
        </pc:sldMkLst>
        <pc:spChg chg="mod">
          <ac:chgData name="邦 肖" userId="38982054f6b45302" providerId="LiveId" clId="{95A0DA5A-AD6B-579F-A03E-EEED9F52BEEA}" dt="2025-10-03T01:32:15" v="37" actId="403"/>
          <ac:spMkLst>
            <pc:docMk/>
            <pc:sldMk cId="0" sldId="471"/>
            <ac:spMk id="2" creationId="{00000000-0000-0000-0000-000000000000}"/>
          </ac:spMkLst>
        </pc:spChg>
        <pc:spChg chg="mod">
          <ac:chgData name="邦 肖" userId="38982054f6b45302" providerId="LiveId" clId="{95A0DA5A-AD6B-579F-A03E-EEED9F52BEEA}" dt="2025-10-03T01:25:44.117" v="17" actId="20577"/>
          <ac:spMkLst>
            <pc:docMk/>
            <pc:sldMk cId="0" sldId="471"/>
            <ac:spMk id="841731" creationId="{00000000-0000-0000-0000-000000000000}"/>
          </ac:spMkLst>
        </pc:spChg>
      </pc:sldChg>
      <pc:sldChg chg="modSp mod">
        <pc:chgData name="邦 肖" userId="38982054f6b45302" providerId="LiveId" clId="{95A0DA5A-AD6B-579F-A03E-EEED9F52BEEA}" dt="2025-10-03T01:32:23.190" v="39" actId="403"/>
        <pc:sldMkLst>
          <pc:docMk/>
          <pc:sldMk cId="0" sldId="472"/>
        </pc:sldMkLst>
        <pc:spChg chg="mod">
          <ac:chgData name="邦 肖" userId="38982054f6b45302" providerId="LiveId" clId="{95A0DA5A-AD6B-579F-A03E-EEED9F52BEEA}" dt="2025-10-03T01:32:23.190" v="39" actId="403"/>
          <ac:spMkLst>
            <pc:docMk/>
            <pc:sldMk cId="0" sldId="472"/>
            <ac:spMk id="2" creationId="{00000000-0000-0000-0000-000000000000}"/>
          </ac:spMkLst>
        </pc:spChg>
        <pc:spChg chg="mod">
          <ac:chgData name="邦 肖" userId="38982054f6b45302" providerId="LiveId" clId="{95A0DA5A-AD6B-579F-A03E-EEED9F52BEEA}" dt="2025-10-03T01:25:56.343" v="20" actId="20577"/>
          <ac:spMkLst>
            <pc:docMk/>
            <pc:sldMk cId="0" sldId="472"/>
            <ac:spMk id="228355" creationId="{00000000-0000-0000-0000-000000000000}"/>
          </ac:spMkLst>
        </pc:spChg>
      </pc:sldChg>
      <pc:sldChg chg="modSp mod">
        <pc:chgData name="邦 肖" userId="38982054f6b45302" providerId="LiveId" clId="{95A0DA5A-AD6B-579F-A03E-EEED9F52BEEA}" dt="2025-10-03T01:26:11.444" v="23" actId="20577"/>
        <pc:sldMkLst>
          <pc:docMk/>
          <pc:sldMk cId="0" sldId="479"/>
        </pc:sldMkLst>
        <pc:spChg chg="mod">
          <ac:chgData name="邦 肖" userId="38982054f6b45302" providerId="LiveId" clId="{95A0DA5A-AD6B-579F-A03E-EEED9F52BEEA}" dt="2025-10-03T01:26:11.444" v="23" actId="20577"/>
          <ac:spMkLst>
            <pc:docMk/>
            <pc:sldMk cId="0" sldId="479"/>
            <ac:spMk id="224259" creationId="{00000000-0000-0000-0000-000000000000}"/>
          </ac:spMkLst>
        </pc:spChg>
      </pc:sldChg>
      <pc:sldChg chg="modSp mod">
        <pc:chgData name="邦 肖" userId="38982054f6b45302" providerId="LiveId" clId="{95A0DA5A-AD6B-579F-A03E-EEED9F52BEEA}" dt="2025-10-03T01:33:42.647" v="45" actId="403"/>
        <pc:sldMkLst>
          <pc:docMk/>
          <pc:sldMk cId="0" sldId="482"/>
        </pc:sldMkLst>
        <pc:spChg chg="mod">
          <ac:chgData name="邦 肖" userId="38982054f6b45302" providerId="LiveId" clId="{95A0DA5A-AD6B-579F-A03E-EEED9F52BEEA}" dt="2025-10-03T01:33:42.647" v="45" actId="403"/>
          <ac:spMkLst>
            <pc:docMk/>
            <pc:sldMk cId="0" sldId="482"/>
            <ac:spMk id="2" creationId="{00000000-0000-0000-0000-000000000000}"/>
          </ac:spMkLst>
        </pc:spChg>
        <pc:spChg chg="mod">
          <ac:chgData name="邦 肖" userId="38982054f6b45302" providerId="LiveId" clId="{95A0DA5A-AD6B-579F-A03E-EEED9F52BEEA}" dt="2025-10-03T01:26:19.503" v="26" actId="20577"/>
          <ac:spMkLst>
            <pc:docMk/>
            <pc:sldMk cId="0" sldId="482"/>
            <ac:spMk id="373763" creationId="{00000000-0000-0000-0000-000000000000}"/>
          </ac:spMkLst>
        </pc:spChg>
      </pc:sldChg>
      <pc:sldChg chg="modSp mod">
        <pc:chgData name="邦 肖" userId="38982054f6b45302" providerId="LiveId" clId="{95A0DA5A-AD6B-579F-A03E-EEED9F52BEEA}" dt="2025-10-03T02:31:57.872" v="739" actId="13926"/>
        <pc:sldMkLst>
          <pc:docMk/>
          <pc:sldMk cId="0" sldId="517"/>
        </pc:sldMkLst>
        <pc:spChg chg="mod">
          <ac:chgData name="邦 肖" userId="38982054f6b45302" providerId="LiveId" clId="{95A0DA5A-AD6B-579F-A03E-EEED9F52BEEA}" dt="2025-10-03T02:31:57.872" v="739" actId="13926"/>
          <ac:spMkLst>
            <pc:docMk/>
            <pc:sldMk cId="0" sldId="517"/>
            <ac:spMk id="273411" creationId="{00000000-0000-0000-0000-000000000000}"/>
          </ac:spMkLst>
        </pc:spChg>
      </pc:sldChg>
      <pc:sldChg chg="modSp mod">
        <pc:chgData name="邦 肖" userId="38982054f6b45302" providerId="LiveId" clId="{95A0DA5A-AD6B-579F-A03E-EEED9F52BEEA}" dt="2025-10-03T02:04:46.757" v="72" actId="14100"/>
        <pc:sldMkLst>
          <pc:docMk/>
          <pc:sldMk cId="0" sldId="521"/>
        </pc:sldMkLst>
        <pc:spChg chg="mod">
          <ac:chgData name="邦 肖" userId="38982054f6b45302" providerId="LiveId" clId="{95A0DA5A-AD6B-579F-A03E-EEED9F52BEEA}" dt="2025-10-03T02:03:46.393" v="56" actId="14100"/>
          <ac:spMkLst>
            <pc:docMk/>
            <pc:sldMk cId="0" sldId="521"/>
            <ac:spMk id="2" creationId="{00000000-0000-0000-0000-000000000000}"/>
          </ac:spMkLst>
        </pc:spChg>
        <pc:spChg chg="mod">
          <ac:chgData name="邦 肖" userId="38982054f6b45302" providerId="LiveId" clId="{95A0DA5A-AD6B-579F-A03E-EEED9F52BEEA}" dt="2025-10-03T02:04:46.757" v="72" actId="14100"/>
          <ac:spMkLst>
            <pc:docMk/>
            <pc:sldMk cId="0" sldId="521"/>
            <ac:spMk id="270339" creationId="{00000000-0000-0000-0000-000000000000}"/>
          </ac:spMkLst>
        </pc:spChg>
      </pc:sldChg>
      <pc:sldChg chg="modSp mod">
        <pc:chgData name="邦 肖" userId="38982054f6b45302" providerId="LiveId" clId="{95A0DA5A-AD6B-579F-A03E-EEED9F52BEEA}" dt="2025-10-03T02:28:02.948" v="687" actId="1076"/>
        <pc:sldMkLst>
          <pc:docMk/>
          <pc:sldMk cId="0" sldId="527"/>
        </pc:sldMkLst>
        <pc:spChg chg="mod">
          <ac:chgData name="邦 肖" userId="38982054f6b45302" providerId="LiveId" clId="{95A0DA5A-AD6B-579F-A03E-EEED9F52BEEA}" dt="2025-10-03T02:28:02.948" v="687" actId="1076"/>
          <ac:spMkLst>
            <pc:docMk/>
            <pc:sldMk cId="0" sldId="527"/>
            <ac:spMk id="408582" creationId="{00000000-0000-0000-0000-000000000000}"/>
          </ac:spMkLst>
        </pc:spChg>
      </pc:sldChg>
      <pc:sldChg chg="modSp mod">
        <pc:chgData name="邦 肖" userId="38982054f6b45302" providerId="LiveId" clId="{95A0DA5A-AD6B-579F-A03E-EEED9F52BEEA}" dt="2025-10-03T02:31:12.408" v="729" actId="403"/>
        <pc:sldMkLst>
          <pc:docMk/>
          <pc:sldMk cId="0" sldId="539"/>
        </pc:sldMkLst>
        <pc:spChg chg="mod">
          <ac:chgData name="邦 肖" userId="38982054f6b45302" providerId="LiveId" clId="{95A0DA5A-AD6B-579F-A03E-EEED9F52BEEA}" dt="2025-10-03T02:31:12.408" v="729" actId="403"/>
          <ac:spMkLst>
            <pc:docMk/>
            <pc:sldMk cId="0" sldId="539"/>
            <ac:spMk id="278531" creationId="{00000000-0000-0000-0000-000000000000}"/>
          </ac:spMkLst>
        </pc:spChg>
        <pc:spChg chg="mod">
          <ac:chgData name="邦 肖" userId="38982054f6b45302" providerId="LiveId" clId="{95A0DA5A-AD6B-579F-A03E-EEED9F52BEEA}" dt="2025-10-03T02:30:55.768" v="728" actId="1076"/>
          <ac:spMkLst>
            <pc:docMk/>
            <pc:sldMk cId="0" sldId="539"/>
            <ac:spMk id="278532" creationId="{00000000-0000-0000-0000-000000000000}"/>
          </ac:spMkLst>
        </pc:spChg>
      </pc:sldChg>
      <pc:sldChg chg="modSp mod">
        <pc:chgData name="邦 肖" userId="38982054f6b45302" providerId="LiveId" clId="{95A0DA5A-AD6B-579F-A03E-EEED9F52BEEA}" dt="2025-10-03T02:25:14.347" v="682" actId="13926"/>
        <pc:sldMkLst>
          <pc:docMk/>
          <pc:sldMk cId="0" sldId="540"/>
        </pc:sldMkLst>
        <pc:spChg chg="mod">
          <ac:chgData name="邦 肖" userId="38982054f6b45302" providerId="LiveId" clId="{95A0DA5A-AD6B-579F-A03E-EEED9F52BEEA}" dt="2025-10-03T02:25:14.347" v="682" actId="13926"/>
          <ac:spMkLst>
            <pc:docMk/>
            <pc:sldMk cId="0" sldId="540"/>
            <ac:spMk id="289795" creationId="{00000000-0000-0000-0000-000000000000}"/>
          </ac:spMkLst>
        </pc:spChg>
      </pc:sldChg>
      <pc:sldChg chg="modSp mod">
        <pc:chgData name="邦 肖" userId="38982054f6b45302" providerId="LiveId" clId="{95A0DA5A-AD6B-579F-A03E-EEED9F52BEEA}" dt="2025-10-03T02:29:24.865" v="696" actId="403"/>
        <pc:sldMkLst>
          <pc:docMk/>
          <pc:sldMk cId="0" sldId="541"/>
        </pc:sldMkLst>
        <pc:spChg chg="mod">
          <ac:chgData name="邦 肖" userId="38982054f6b45302" providerId="LiveId" clId="{95A0DA5A-AD6B-579F-A03E-EEED9F52BEEA}" dt="2025-10-03T02:29:24.865" v="696" actId="403"/>
          <ac:spMkLst>
            <pc:docMk/>
            <pc:sldMk cId="0" sldId="541"/>
            <ac:spMk id="293891" creationId="{00000000-0000-0000-0000-000000000000}"/>
          </ac:spMkLst>
        </pc:spChg>
      </pc:sldChg>
      <pc:sldChg chg="modSp mod">
        <pc:chgData name="邦 肖" userId="38982054f6b45302" providerId="LiveId" clId="{95A0DA5A-AD6B-579F-A03E-EEED9F52BEEA}" dt="2025-10-03T02:29:49.257" v="700" actId="1076"/>
        <pc:sldMkLst>
          <pc:docMk/>
          <pc:sldMk cId="0" sldId="542"/>
        </pc:sldMkLst>
        <pc:spChg chg="mod">
          <ac:chgData name="邦 肖" userId="38982054f6b45302" providerId="LiveId" clId="{95A0DA5A-AD6B-579F-A03E-EEED9F52BEEA}" dt="2025-10-03T02:29:45.472" v="699" actId="1076"/>
          <ac:spMkLst>
            <pc:docMk/>
            <pc:sldMk cId="0" sldId="542"/>
            <ac:spMk id="292867" creationId="{00000000-0000-0000-0000-000000000000}"/>
          </ac:spMkLst>
        </pc:spChg>
        <pc:spChg chg="mod">
          <ac:chgData name="邦 肖" userId="38982054f6b45302" providerId="LiveId" clId="{95A0DA5A-AD6B-579F-A03E-EEED9F52BEEA}" dt="2025-10-03T02:29:49.257" v="700" actId="1076"/>
          <ac:spMkLst>
            <pc:docMk/>
            <pc:sldMk cId="0" sldId="542"/>
            <ac:spMk id="292868" creationId="{00000000-0000-0000-0000-000000000000}"/>
          </ac:spMkLst>
        </pc:spChg>
      </pc:sldChg>
      <pc:sldChg chg="modSp mod">
        <pc:chgData name="邦 肖" userId="38982054f6b45302" providerId="LiveId" clId="{95A0DA5A-AD6B-579F-A03E-EEED9F52BEEA}" dt="2025-10-03T02:30:41.167" v="726" actId="20577"/>
        <pc:sldMkLst>
          <pc:docMk/>
          <pc:sldMk cId="0" sldId="543"/>
        </pc:sldMkLst>
        <pc:spChg chg="mod">
          <ac:chgData name="邦 肖" userId="38982054f6b45302" providerId="LiveId" clId="{95A0DA5A-AD6B-579F-A03E-EEED9F52BEEA}" dt="2025-10-03T02:30:41.167" v="726" actId="20577"/>
          <ac:spMkLst>
            <pc:docMk/>
            <pc:sldMk cId="0" sldId="543"/>
            <ac:spMk id="29184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2025/10/2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2025/10/2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5D91FB2-FDD5-49D3-815A-8B0A97253F9F}" type="datetimeFigureOut">
              <a:rPr lang="zh-CN" altLang="en-US" smtClean="0"/>
              <a:t>2025/10/2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832B54-21F9-4919-A57C-7DCEFC1CE455}"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D91FB2-FDD5-49D3-815A-8B0A97253F9F}" type="datetimeFigureOut">
              <a:rPr lang="zh-CN" altLang="en-US" smtClean="0"/>
              <a:t>2025/10/2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832B54-21F9-4919-A57C-7DCEFC1CE455}"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5D91FB2-FDD5-49D3-815A-8B0A97253F9F}" type="datetimeFigureOut">
              <a:rPr lang="zh-CN" altLang="en-US" smtClean="0"/>
              <a:t>2025/10/2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832B54-21F9-4919-A57C-7DCEFC1CE45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5D91FB2-FDD5-49D3-815A-8B0A97253F9F}" type="datetimeFigureOut">
              <a:rPr lang="zh-CN" altLang="en-US" smtClean="0"/>
              <a:t>2025/10/2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832B54-21F9-4919-A57C-7DCEFC1CE45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5D91FB2-FDD5-49D3-815A-8B0A97253F9F}" type="datetimeFigureOut">
              <a:rPr lang="zh-CN" altLang="en-US" smtClean="0"/>
              <a:t>2025/10/2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4832B54-21F9-4919-A57C-7DCEFC1CE45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5D91FB2-FDD5-49D3-815A-8B0A97253F9F}" type="datetimeFigureOut">
              <a:rPr lang="zh-CN" altLang="en-US" smtClean="0"/>
              <a:t>2025/10/2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4832B54-21F9-4919-A57C-7DCEFC1CE45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5D91FB2-FDD5-49D3-815A-8B0A97253F9F}" type="datetimeFigureOut">
              <a:rPr lang="zh-CN" altLang="en-US" smtClean="0"/>
              <a:t>2025/10/2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4832B54-21F9-4919-A57C-7DCEFC1CE45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5D91FB2-FDD5-49D3-815A-8B0A97253F9F}" type="datetimeFigureOut">
              <a:rPr lang="zh-CN" altLang="en-US" smtClean="0"/>
              <a:t>2025/10/2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832B54-21F9-4919-A57C-7DCEFC1CE45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5D91FB2-FDD5-49D3-815A-8B0A97253F9F}" type="datetimeFigureOut">
              <a:rPr lang="zh-CN" altLang="en-US" smtClean="0"/>
              <a:t>2025/10/2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832B54-21F9-4919-A57C-7DCEFC1CE45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D91FB2-FDD5-49D3-815A-8B0A97253F9F}" type="datetimeFigureOut">
              <a:rPr lang="zh-CN" altLang="en-US" smtClean="0"/>
              <a:t>2025/10/2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832B54-21F9-4919-A57C-7DCEFC1CE45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D91FB2-FDD5-49D3-815A-8B0A97253F9F}" type="datetimeFigureOut">
              <a:rPr lang="zh-CN" altLang="en-US" smtClean="0"/>
              <a:t>2025/10/2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832B54-21F9-4919-A57C-7DCEFC1CE45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457200"/>
            <a:ext cx="10363200" cy="5638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spcBef>
                <a:spcPct val="50000"/>
              </a:spcBef>
            </a:pPr>
            <a:fld id="{9A0DB2DC-4C9A-4742-B13C-FB6460FD3503}" type="slidenum">
              <a:rPr lang="en-US" altLang="zh-CN" dirty="0">
                <a:latin typeface="Times New Roman" panose="02020603050405020304" pitchFamily="18" charset="0"/>
              </a:rPr>
              <a:t>‹#›</a:t>
            </a:fld>
            <a:endParaRPr lang="en-US" altLang="zh-CN">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标题 5"/>
          <p:cNvSpPr>
            <a:spLocks noGrp="1"/>
          </p:cNvSpPr>
          <p:nvPr>
            <p:ph type="title"/>
          </p:nvPr>
        </p:nvSpPr>
        <p:spPr>
          <a:xfrm>
            <a:off x="4175787" y="260648"/>
            <a:ext cx="8016213" cy="504056"/>
          </a:xfrm>
        </p:spPr>
        <p:txBody>
          <a:bodyPr/>
          <a:lstStyle>
            <a:lvl1pPr algn="r">
              <a:defRPr>
                <a:solidFill>
                  <a:schemeClr val="tx2"/>
                </a:solidFill>
              </a:defRPr>
            </a:lvl1pPr>
          </a:lstStyle>
          <a:p>
            <a:r>
              <a:rPr lang="zh-CN" altLang="en-US"/>
              <a:t>单击此处编辑母版标题样式</a:t>
            </a:r>
          </a:p>
        </p:txBody>
      </p:sp>
      <p:sp>
        <p:nvSpPr>
          <p:cNvPr id="12" name="内容占位符 11"/>
          <p:cNvSpPr>
            <a:spLocks noGrp="1"/>
          </p:cNvSpPr>
          <p:nvPr>
            <p:ph sz="quarter" idx="17"/>
          </p:nvPr>
        </p:nvSpPr>
        <p:spPr>
          <a:xfrm>
            <a:off x="1007533" y="1557338"/>
            <a:ext cx="10369551" cy="43195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 name="日期占位符 1"/>
          <p:cNvSpPr>
            <a:spLocks noGrp="1"/>
          </p:cNvSpPr>
          <p:nvPr>
            <p:ph type="dt" sz="half"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BE7237F-A853-4D55-A6E4-B8CB02A7CB2E}"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2025/10/2</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20"/>
          </p:nvPr>
        </p:nvSpPr>
        <p:spPr/>
        <p:txBody>
          <a:bodyPr/>
          <a:lstStyle/>
          <a:p>
            <a:pPr lvl="0" eaLnBrk="1" hangingPunct="1"/>
            <a:fld id="{9A0DB2DC-4C9A-4742-B13C-FB6460FD3503}" type="slidenum">
              <a:rPr lang="zh-CN" altLang="en-US" dirty="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BE7237F-A853-4D55-A6E4-B8CB02A7CB2E}"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2025/10/2</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reserve="1">
  <p:cSld name="1_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BE7237F-A853-4D55-A6E4-B8CB02A7CB2E}"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2025/10/2</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91FB2-FDD5-49D3-815A-8B0A97253F9F}" type="datetimeFigureOut">
              <a:rPr lang="zh-CN" altLang="en-US" smtClean="0"/>
              <a:t>2025/10/2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832B54-21F9-4919-A57C-7DCEFC1CE45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1.xml"/><Relationship Id="rId5" Type="http://schemas.openxmlformats.org/officeDocument/2006/relationships/image" Target="../media/image11.w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3.bin"/><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29.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image" Target="../media/image22.wmf"/><Relationship Id="rId7" Type="http://schemas.openxmlformats.org/officeDocument/2006/relationships/oleObject" Target="../embeddings/oleObject5.bin"/><Relationship Id="rId2" Type="http://schemas.openxmlformats.org/officeDocument/2006/relationships/oleObject" Target="../embeddings/oleObject4.bin"/><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hyperlink" Target="http://images.google.cn/imgres?imgurl=http://www.nmggtt.gov.cn/TeKan/images/039.jpg&amp;imgrefurl=http://www.nmggtt.gov.cn/TeKan/5-1.html&amp;h=392&amp;w=530&amp;sz=65&amp;hl=zh-CN&amp;start=1&amp;tbnid=J9hB5FhomrOl5M:&amp;tbnh=98&amp;tbnw=132&amp;prev=/images%3Fq%3D%25E5%25BA%2584%25E7%25A8%25BC%25E5%259C%25B0%26gbv%3D2%26complete%3D1%26hl%3Dzh-CN%26newwindow%3D1%26sa%3DG" TargetMode="External"/><Relationship Id="rId4" Type="http://schemas.openxmlformats.org/officeDocument/2006/relationships/image" Target="../media/image23.jpeg"/></Relationships>
</file>

<file path=ppt/slides/_rels/slide30.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6.bin"/><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31.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image" Target="../media/image30.jpeg"/><Relationship Id="rId5" Type="http://schemas.openxmlformats.org/officeDocument/2006/relationships/hyperlink" Target="http://images.google.cn/imgres?imgurl=http://baike.baidu.com/pic/2/11835978461925763.jpg&amp;imgrefurl=http://baike.baidu.com/history/id%3D2493008&amp;h=252&amp;w=450&amp;sz=24&amp;hl=zh-CN&amp;start=4&amp;tbnid=zGcqnr61cXgoNM:&amp;tbnh=71&amp;tbnw=127&amp;prev=/images%3Fq%3D%25E9%259B%258C%25E9%259B%2584%25E9%25B8%25B3%25E9%25B8%25AF%26gbv%3D2%26complete%3D1%26hl%3Dzh-CN%26newwindow%3D1%26sa%3DG" TargetMode="External"/><Relationship Id="rId4" Type="http://schemas.openxmlformats.org/officeDocument/2006/relationships/image" Target="../media/image29.jpeg"/></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hyperlink" Target="http://images.google.cn/imgres?imgurl=http://www.threewell.com.tw/wilson_pic/alice.jpg&amp;imgrefurl=http://www.threewell.com.tw/PJblog/default.asp%3Fid%3D74&amp;h=150&amp;w=150&amp;sz=37&amp;hl=zh-CN&amp;start=1&amp;tbnid=1JRb_Jh28hXkCM:&amp;tbnh=96&amp;tbnw=96&amp;prev=/images%3Fq%3D%25E7%2588%25B1%25E4%25B8%25BD%25E4%25B8%259D%25E6%25A2%25A6%25E6%25B8%25B8%25E4%25BB%2599%25E5%25A2%2583%25EF%25BC%258C%25E7%25BA%25A2%25E7%259A%2587%25E5%2590%258E%26gbv%3D2%26complete%3D1%26hl%3Dzh-CN%26newwindow%3D1%26sa%3DG"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8.bin"/><Relationship Id="rId1" Type="http://schemas.openxmlformats.org/officeDocument/2006/relationships/slideLayout" Target="../slideLayouts/slideLayout7.xml"/><Relationship Id="rId5" Type="http://schemas.openxmlformats.org/officeDocument/2006/relationships/image" Target="../media/image35.wmf"/><Relationship Id="rId4" Type="http://schemas.openxmlformats.org/officeDocument/2006/relationships/image" Target="../media/image34.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36.wmf"/><Relationship Id="rId7" Type="http://schemas.openxmlformats.org/officeDocument/2006/relationships/image" Target="../media/image38.wmf"/><Relationship Id="rId12" Type="http://schemas.openxmlformats.org/officeDocument/2006/relationships/image" Target="../media/image41.jpeg"/><Relationship Id="rId2" Type="http://schemas.openxmlformats.org/officeDocument/2006/relationships/oleObject" Target="../embeddings/oleObject9.bin"/><Relationship Id="rId1" Type="http://schemas.openxmlformats.org/officeDocument/2006/relationships/slideLayout" Target="../slideLayouts/slideLayout7.xml"/><Relationship Id="rId6" Type="http://schemas.openxmlformats.org/officeDocument/2006/relationships/oleObject" Target="../embeddings/oleObject11.bin"/><Relationship Id="rId11" Type="http://schemas.openxmlformats.org/officeDocument/2006/relationships/hyperlink" Target="http://blog.voc.com.cn/sp1/wang-qi/155238381534/1190968922191_381534.jpg" TargetMode="External"/><Relationship Id="rId5" Type="http://schemas.openxmlformats.org/officeDocument/2006/relationships/image" Target="../media/image37.wmf"/><Relationship Id="rId10" Type="http://schemas.openxmlformats.org/officeDocument/2006/relationships/image" Target="../media/image40.jpeg"/><Relationship Id="rId4" Type="http://schemas.openxmlformats.org/officeDocument/2006/relationships/oleObject" Target="../embeddings/oleObject10.bin"/><Relationship Id="rId9" Type="http://schemas.openxmlformats.org/officeDocument/2006/relationships/image" Target="../media/image39.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54.jpeg"/><Relationship Id="rId3" Type="http://schemas.openxmlformats.org/officeDocument/2006/relationships/image" Target="../media/image51.wmf"/><Relationship Id="rId7" Type="http://schemas.openxmlformats.org/officeDocument/2006/relationships/hyperlink" Target="http://images.google.com/imgres?imgurl=http://explorebiodiversity.com/Hawaii/Shrimp-goby/general/images/predation.jpg&amp;imgrefurl=http://explorebiodiversity.com/Hawaii/Shrimp-goby/general/Predators.htm&amp;h=299&amp;w=503&amp;sz=66&amp;tbnid=jLdpONeOh9623M:&amp;tbnh=75&amp;tbnw=127&amp;hl=zh-CN&amp;start=1&amp;prev=/images%3Fq%3Dpredation%26svnum%3D10%26hl%3Dzh-CN%26lr%3D%26newwindow%3D1%26sa%3DG" TargetMode="External"/><Relationship Id="rId2" Type="http://schemas.openxmlformats.org/officeDocument/2006/relationships/oleObject" Target="../embeddings/oleObject13.bin"/><Relationship Id="rId1" Type="http://schemas.openxmlformats.org/officeDocument/2006/relationships/slideLayout" Target="../slideLayouts/slideLayout7.xml"/><Relationship Id="rId6" Type="http://schemas.openxmlformats.org/officeDocument/2006/relationships/image" Target="../media/image53.jpeg"/><Relationship Id="rId5" Type="http://schemas.openxmlformats.org/officeDocument/2006/relationships/image" Target="../media/image52.wmf"/><Relationship Id="rId10" Type="http://schemas.openxmlformats.org/officeDocument/2006/relationships/image" Target="../media/image55.jpeg"/><Relationship Id="rId4" Type="http://schemas.openxmlformats.org/officeDocument/2006/relationships/oleObject" Target="../embeddings/oleObject14.bin"/><Relationship Id="rId9" Type="http://schemas.openxmlformats.org/officeDocument/2006/relationships/hyperlink" Target="http://images.google.com/imgres?imgurl=http://www.dimijianimages.com/More-page5-mutualisms/3-way-mutualism.jpg&amp;imgrefurl=http://www.dimijianimages.com/More-page5-mutualisms/3-way-mutualism.htm&amp;h=491&amp;w=651&amp;sz=62&amp;tbnid=OHYn-QRBhtmeFM:&amp;tbnh=101&amp;tbnw=135&amp;hl=zh-CN&amp;start=1&amp;prev=/images%3Fq%3Dmutualism%26svnum%3D10%26hl%3Dzh-CN%26lr%3D%26newwindow%3D1%26sa%3DG"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15.bin"/><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wmf"/><Relationship Id="rId4" Type="http://schemas.openxmlformats.org/officeDocument/2006/relationships/oleObject" Target="../embeddings/oleObject16.bin"/></Relationships>
</file>

<file path=ppt/slides/_rels/slide47.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17.bin"/><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hyperlink" Target="http://imgnews.baidu.com/i?ct=520093696&amp;z=0&amp;tn=baiduimagenewsdetail&amp;word=%B2%B6%CA%B3&amp;in=5&amp;cl=3&amp;lm=-1&amp;pn=4&amp;rn=1" TargetMode="External"/><Relationship Id="rId2" Type="http://schemas.openxmlformats.org/officeDocument/2006/relationships/image" Target="../media/image71.jpeg"/><Relationship Id="rId1" Type="http://schemas.openxmlformats.org/officeDocument/2006/relationships/slideLayout" Target="../slideLayouts/slideLayout7.xml"/><Relationship Id="rId4" Type="http://schemas.openxmlformats.org/officeDocument/2006/relationships/image" Target="../media/image72.jpeg"/></Relationships>
</file>

<file path=ppt/slides/_rels/slide66.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84.wmf"/><Relationship Id="rId7" Type="http://schemas.openxmlformats.org/officeDocument/2006/relationships/image" Target="../media/image87.jpeg"/><Relationship Id="rId2" Type="http://schemas.openxmlformats.org/officeDocument/2006/relationships/oleObject" Target="../embeddings/oleObject18.bin"/><Relationship Id="rId1" Type="http://schemas.openxmlformats.org/officeDocument/2006/relationships/slideLayout" Target="../slideLayouts/slideLayout7.xml"/><Relationship Id="rId6" Type="http://schemas.openxmlformats.org/officeDocument/2006/relationships/hyperlink" Target="http://images.google.com/imgres?imgurl=http://e-info.org.tw/topic/crab/2003/cr030924012.jpg&amp;imgrefurl=http://e-info.org.tw/topic/crab/2003/cr03092401.htm&amp;h=220&amp;w=300&amp;sz=33&amp;hl=zh-CN&amp;start=8&amp;um=1&amp;tbnid=Hv27i-3n47OoIM:&amp;tbnh=85&amp;tbnw=116&amp;prev=/images%3Fq%3D%25E4%25BA%2592%25E5%2588%25A9%25E5%2585%25B1%25E7%2594%259F%26svnum%3D10%26um%3D1%26hl%3Dzh-CN%26lr%3D%26newwindow%3D1%26sa%3DN" TargetMode="External"/><Relationship Id="rId5" Type="http://schemas.openxmlformats.org/officeDocument/2006/relationships/image" Target="../media/image86.jpeg"/><Relationship Id="rId4" Type="http://schemas.openxmlformats.org/officeDocument/2006/relationships/image" Target="../media/image85.jpeg"/></Relationships>
</file>

<file path=ppt/slides/_rels/slide81.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jpe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838960"/>
            <a:ext cx="9144000" cy="1671320"/>
          </a:xfrm>
        </p:spPr>
        <p:txBody>
          <a:bodyPr/>
          <a:lstStyle/>
          <a:p>
            <a:r>
              <a:rPr lang="en-US" altLang="zh-CN" b="1">
                <a:solidFill>
                  <a:srgbClr val="FF0000"/>
                </a:solidFill>
              </a:rPr>
              <a:t>5  </a:t>
            </a:r>
            <a:r>
              <a:rPr lang="zh-CN" altLang="en-US" b="1">
                <a:solidFill>
                  <a:srgbClr val="FF0000"/>
                </a:solidFill>
              </a:rPr>
              <a:t>生物种及其变异与进化</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75303" y="363088"/>
            <a:ext cx="7216877" cy="387286"/>
          </a:xfrm>
          <a:prstGeom prst="rect">
            <a:avLst/>
          </a:prstGeom>
          <a:noFill/>
        </p:spPr>
        <p:txBody>
          <a:bodyPr wrap="square">
            <a:spAutoFit/>
          </a:bodyPr>
          <a:lstStyle/>
          <a:p>
            <a:pPr>
              <a:lnSpc>
                <a:spcPts val="2250"/>
              </a:lnSpc>
              <a:spcBef>
                <a:spcPts val="2400"/>
              </a:spcBef>
              <a:spcAft>
                <a:spcPts val="1200"/>
              </a:spcAft>
              <a:buNone/>
            </a:pPr>
            <a:r>
              <a:rPr lang="zh-CN" altLang="en-US" sz="2800" b="1">
                <a:solidFill>
                  <a:srgbClr val="0F1115"/>
                </a:solidFill>
                <a:effectLst/>
                <a:latin typeface="黑体" panose="02010609060101010101" charset="-122"/>
                <a:ea typeface="黑体" panose="02010609060101010101" charset="-122"/>
              </a:rPr>
              <a:t>一、表型的自然选择模型种类及特点</a:t>
            </a:r>
          </a:p>
        </p:txBody>
      </p:sp>
      <p:sp>
        <p:nvSpPr>
          <p:cNvPr id="7" name="文本框 6"/>
          <p:cNvSpPr txBox="1"/>
          <p:nvPr/>
        </p:nvSpPr>
        <p:spPr>
          <a:xfrm>
            <a:off x="835742" y="966158"/>
            <a:ext cx="10510684" cy="1200329"/>
          </a:xfrm>
          <a:prstGeom prst="rect">
            <a:avLst/>
          </a:prstGeom>
          <a:noFill/>
        </p:spPr>
        <p:txBody>
          <a:bodyPr wrap="square">
            <a:spAutoFit/>
          </a:bodyPr>
          <a:lstStyle/>
          <a:p>
            <a:r>
              <a:rPr lang="zh-CN" altLang="en-US" sz="2400" b="0" i="0">
                <a:solidFill>
                  <a:srgbClr val="0F1115"/>
                </a:solidFill>
                <a:effectLst/>
                <a:latin typeface="楷体" panose="02010609060101010101" pitchFamily="49" charset="-122"/>
                <a:ea typeface="楷体" panose="02010609060101010101" pitchFamily="49" charset="-122"/>
              </a:rPr>
              <a:t>    自然选择本质上是</a:t>
            </a:r>
            <a:r>
              <a:rPr lang="zh-CN" altLang="en-US" sz="2400" b="1" i="0">
                <a:solidFill>
                  <a:srgbClr val="FF0000"/>
                </a:solidFill>
                <a:effectLst/>
                <a:latin typeface="楷体" panose="02010609060101010101" pitchFamily="49" charset="-122"/>
                <a:ea typeface="楷体" panose="02010609060101010101" pitchFamily="49" charset="-122"/>
              </a:rPr>
              <a:t>针对表型</a:t>
            </a:r>
            <a:r>
              <a:rPr lang="zh-CN" altLang="en-US" sz="2400" b="0" i="0">
                <a:solidFill>
                  <a:srgbClr val="0F1115"/>
                </a:solidFill>
                <a:effectLst/>
                <a:latin typeface="楷体" panose="02010609060101010101" pitchFamily="49" charset="-122"/>
                <a:ea typeface="楷体" panose="02010609060101010101" pitchFamily="49" charset="-122"/>
              </a:rPr>
              <a:t>的选择，但选择的结果导致了</a:t>
            </a:r>
            <a:r>
              <a:rPr lang="zh-CN" altLang="en-US" sz="2400" b="1" i="0">
                <a:solidFill>
                  <a:srgbClr val="FF0000"/>
                </a:solidFill>
                <a:effectLst/>
                <a:latin typeface="楷体" panose="02010609060101010101" pitchFamily="49" charset="-122"/>
                <a:ea typeface="楷体" panose="02010609060101010101" pitchFamily="49" charset="-122"/>
              </a:rPr>
              <a:t>种群基因频率的定向改变</a:t>
            </a:r>
            <a:r>
              <a:rPr lang="zh-CN" altLang="en-US" sz="2400" b="0" i="0">
                <a:solidFill>
                  <a:srgbClr val="0F1115"/>
                </a:solidFill>
                <a:effectLst/>
                <a:latin typeface="楷体" panose="02010609060101010101" pitchFamily="49" charset="-122"/>
                <a:ea typeface="楷体" panose="02010609060101010101" pitchFamily="49" charset="-122"/>
              </a:rPr>
              <a:t>。达尔文认为的自然选择是指</a:t>
            </a:r>
            <a:r>
              <a:rPr lang="zh-CN" altLang="en-US" sz="2400" b="0" i="0">
                <a:solidFill>
                  <a:srgbClr val="FF0000"/>
                </a:solidFill>
                <a:effectLst/>
                <a:latin typeface="楷体" panose="02010609060101010101" pitchFamily="49" charset="-122"/>
                <a:ea typeface="楷体" panose="02010609060101010101" pitchFamily="49" charset="-122"/>
              </a:rPr>
              <a:t>个体选择</a:t>
            </a:r>
            <a:r>
              <a:rPr lang="zh-CN" altLang="en-US" sz="2400" b="0" i="0">
                <a:solidFill>
                  <a:srgbClr val="0F1115"/>
                </a:solidFill>
                <a:effectLst/>
                <a:latin typeface="楷体" panose="02010609060101010101" pitchFamily="49" charset="-122"/>
                <a:ea typeface="楷体" panose="02010609060101010101" pitchFamily="49" charset="-122"/>
              </a:rPr>
              <a:t>，根据选择压力对表型分布的影响，可以划分为三种主要模型。</a:t>
            </a:r>
            <a:endParaRPr lang="zh-CN" altLang="en-US" sz="2400">
              <a:latin typeface="楷体" panose="02010609060101010101" pitchFamily="49" charset="-122"/>
              <a:ea typeface="楷体" panose="02010609060101010101" pitchFamily="49" charset="-122"/>
            </a:endParaRPr>
          </a:p>
        </p:txBody>
      </p:sp>
      <p:graphicFrame>
        <p:nvGraphicFramePr>
          <p:cNvPr id="8" name="表格 7"/>
          <p:cNvGraphicFramePr>
            <a:graphicFrameLocks noGrp="1"/>
          </p:cNvGraphicFramePr>
          <p:nvPr/>
        </p:nvGraphicFramePr>
        <p:xfrm>
          <a:off x="835742" y="2382271"/>
          <a:ext cx="10515599" cy="3261360"/>
        </p:xfrm>
        <a:graphic>
          <a:graphicData uri="http://schemas.openxmlformats.org/drawingml/2006/table">
            <a:tbl>
              <a:tblPr/>
              <a:tblGrid>
                <a:gridCol w="1376516">
                  <a:extLst>
                    <a:ext uri="{9D8B030D-6E8A-4147-A177-3AD203B41FA5}">
                      <a16:colId xmlns:a16="http://schemas.microsoft.com/office/drawing/2014/main" val="20000"/>
                    </a:ext>
                  </a:extLst>
                </a:gridCol>
                <a:gridCol w="2536265">
                  <a:extLst>
                    <a:ext uri="{9D8B030D-6E8A-4147-A177-3AD203B41FA5}">
                      <a16:colId xmlns:a16="http://schemas.microsoft.com/office/drawing/2014/main" val="20001"/>
                    </a:ext>
                  </a:extLst>
                </a:gridCol>
                <a:gridCol w="3179135">
                  <a:extLst>
                    <a:ext uri="{9D8B030D-6E8A-4147-A177-3AD203B41FA5}">
                      <a16:colId xmlns:a16="http://schemas.microsoft.com/office/drawing/2014/main" val="20002"/>
                    </a:ext>
                  </a:extLst>
                </a:gridCol>
                <a:gridCol w="3423683">
                  <a:extLst>
                    <a:ext uri="{9D8B030D-6E8A-4147-A177-3AD203B41FA5}">
                      <a16:colId xmlns:a16="http://schemas.microsoft.com/office/drawing/2014/main" val="20003"/>
                    </a:ext>
                  </a:extLst>
                </a:gridCol>
              </a:tblGrid>
              <a:tr h="0">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模型</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选择方向</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对种群遗传组成的影响</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结果</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algn="ctr" defTabSz="914400" rtl="0" eaLnBrk="1" latinLnBrk="0" hangingPunct="1">
                        <a:lnSpc>
                          <a:spcPct val="100000"/>
                        </a:lnSpc>
                        <a:buNone/>
                      </a:pPr>
                      <a:r>
                        <a:rPr lang="zh-CN" altLang="en-US" sz="2200" b="1" kern="0" baseline="0">
                          <a:solidFill>
                            <a:srgbClr val="FF0000"/>
                          </a:solidFill>
                          <a:effectLst/>
                          <a:latin typeface="宋体" panose="02010600030101010101" pitchFamily="2" charset="-122"/>
                          <a:ea typeface="宋体" panose="02010600030101010101" pitchFamily="2" charset="-122"/>
                          <a:cs typeface="+mn-cs"/>
                        </a:rPr>
                        <a:t>稳定选择</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淘汰两侧极端值</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遗传多样性降低，趋于稳定</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保持现状，适应稳定环境</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algn="ctr" defTabSz="914400" rtl="0" eaLnBrk="1" latinLnBrk="0" hangingPunct="1">
                        <a:lnSpc>
                          <a:spcPct val="100000"/>
                        </a:lnSpc>
                        <a:buNone/>
                      </a:pPr>
                      <a:r>
                        <a:rPr lang="zh-CN" altLang="en-US" sz="2200" b="1" kern="0" baseline="0">
                          <a:solidFill>
                            <a:srgbClr val="FF0000"/>
                          </a:solidFill>
                          <a:effectLst/>
                          <a:latin typeface="宋体" panose="02010600030101010101" pitchFamily="2" charset="-122"/>
                          <a:ea typeface="宋体" panose="02010600030101010101" pitchFamily="2" charset="-122"/>
                          <a:cs typeface="+mn-cs"/>
                        </a:rPr>
                        <a:t>定向选择</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淘汰一侧，保留另一侧</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基因频率定向变化</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产生进化性变化，适应新环境</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algn="ctr" defTabSz="914400" rtl="0" eaLnBrk="1" latinLnBrk="0" hangingPunct="1">
                        <a:lnSpc>
                          <a:spcPct val="100000"/>
                        </a:lnSpc>
                        <a:buNone/>
                      </a:pPr>
                      <a:r>
                        <a:rPr lang="zh-CN" altLang="en-US" sz="2200" b="1" kern="0" baseline="0">
                          <a:solidFill>
                            <a:srgbClr val="FF0000"/>
                          </a:solidFill>
                          <a:effectLst/>
                          <a:latin typeface="宋体" panose="02010600030101010101" pitchFamily="2" charset="-122"/>
                          <a:ea typeface="宋体" panose="02010600030101010101" pitchFamily="2" charset="-122"/>
                          <a:cs typeface="+mn-cs"/>
                        </a:rPr>
                        <a:t>分裂选择</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淘汰中间值</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遗传多样性增加，产生分化</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0" baseline="0">
                          <a:solidFill>
                            <a:schemeClr val="tx1"/>
                          </a:solidFill>
                          <a:effectLst/>
                          <a:latin typeface="宋体" panose="02010600030101010101" pitchFamily="2" charset="-122"/>
                          <a:ea typeface="宋体" panose="02010600030101010101" pitchFamily="2" charset="-122"/>
                          <a:cs typeface="+mn-cs"/>
                        </a:rPr>
                        <a:t>可能导致物种分化</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88257" y="491686"/>
            <a:ext cx="11159613" cy="2528897"/>
          </a:xfrm>
          <a:prstGeom prst="rect">
            <a:avLst/>
          </a:prstGeom>
          <a:noFill/>
        </p:spPr>
        <p:txBody>
          <a:bodyPr wrap="square">
            <a:spAutoFit/>
          </a:bodyPr>
          <a:lstStyle/>
          <a:p>
            <a:pPr algn="l">
              <a:spcBef>
                <a:spcPts val="1200"/>
              </a:spcBef>
              <a:spcAft>
                <a:spcPts val="600"/>
              </a:spcAft>
            </a:pPr>
            <a:r>
              <a:rPr lang="en-US" altLang="zh-CN" sz="2400" b="1">
                <a:solidFill>
                  <a:srgbClr val="FF0000"/>
                </a:solidFill>
                <a:effectLst/>
                <a:latin typeface="宋体" panose="02010600030101010101" pitchFamily="2" charset="-122"/>
                <a:ea typeface="宋体" panose="02010600030101010101" pitchFamily="2" charset="-122"/>
              </a:rPr>
              <a:t>1.</a:t>
            </a:r>
            <a:r>
              <a:rPr lang="zh-CN" altLang="en-US" sz="2400" b="1">
                <a:solidFill>
                  <a:srgbClr val="FF0000"/>
                </a:solidFill>
                <a:effectLst/>
                <a:latin typeface="宋体" panose="02010600030101010101" pitchFamily="2" charset="-122"/>
                <a:ea typeface="宋体" panose="02010600030101010101" pitchFamily="2" charset="-122"/>
              </a:rPr>
              <a:t>稳定选择</a:t>
            </a:r>
          </a:p>
          <a:p>
            <a:pPr algn="l">
              <a:spcBef>
                <a:spcPts val="600"/>
              </a:spcBef>
              <a:spcAft>
                <a:spcPts val="1200"/>
              </a:spcAft>
            </a:pPr>
            <a:r>
              <a:rPr lang="zh-CN" altLang="en-US" sz="2400" b="1" i="0">
                <a:solidFill>
                  <a:srgbClr val="FF0000"/>
                </a:solidFill>
                <a:effectLst/>
                <a:latin typeface="宋体" panose="02010600030101010101" pitchFamily="2" charset="-122"/>
                <a:ea typeface="宋体" panose="02010600030101010101" pitchFamily="2" charset="-122"/>
              </a:rPr>
              <a:t>特点</a:t>
            </a:r>
            <a:r>
              <a:rPr lang="zh-CN" altLang="en-US" sz="2400" b="0" i="0">
                <a:solidFill>
                  <a:srgbClr val="FF0000"/>
                </a:solidFill>
                <a:effectLst/>
                <a:latin typeface="宋体" panose="02010600030101010101" pitchFamily="2" charset="-122"/>
                <a:ea typeface="宋体" panose="02010600030101010101" pitchFamily="2" charset="-122"/>
              </a:rPr>
              <a:t>：</a:t>
            </a:r>
            <a:r>
              <a:rPr lang="zh-CN" altLang="en-US" sz="2400" b="1" i="0">
                <a:solidFill>
                  <a:srgbClr val="0F1115"/>
                </a:solidFill>
                <a:effectLst/>
                <a:latin typeface="宋体" panose="02010600030101010101" pitchFamily="2" charset="-122"/>
                <a:ea typeface="宋体" panose="02010600030101010101" pitchFamily="2" charset="-122"/>
              </a:rPr>
              <a:t>淘汰极端变异个体，保留中间值个体</a:t>
            </a:r>
            <a:r>
              <a:rPr lang="zh-CN" altLang="en-US" sz="2400" b="0" i="0">
                <a:solidFill>
                  <a:srgbClr val="0F1115"/>
                </a:solidFill>
                <a:effectLst/>
                <a:latin typeface="宋体" panose="02010600030101010101" pitchFamily="2" charset="-122"/>
                <a:ea typeface="宋体" panose="02010600030101010101" pitchFamily="2" charset="-122"/>
              </a:rPr>
              <a:t>。</a:t>
            </a:r>
          </a:p>
          <a:p>
            <a:pPr algn="l">
              <a:spcBef>
                <a:spcPts val="450"/>
              </a:spcBef>
              <a:spcAft>
                <a:spcPts val="1200"/>
              </a:spcAft>
            </a:pPr>
            <a:r>
              <a:rPr lang="zh-CN" altLang="en-US" sz="2400" b="1" i="0">
                <a:solidFill>
                  <a:srgbClr val="FF0000"/>
                </a:solidFill>
                <a:effectLst/>
                <a:latin typeface="宋体" panose="02010600030101010101" pitchFamily="2" charset="-122"/>
                <a:ea typeface="宋体" panose="02010600030101010101" pitchFamily="2" charset="-122"/>
              </a:rPr>
              <a:t>对种群的影响</a:t>
            </a:r>
            <a:r>
              <a:rPr lang="zh-CN" altLang="en-US" sz="2400" b="0" i="0">
                <a:solidFill>
                  <a:srgbClr val="FF0000"/>
                </a:solidFill>
                <a:effectLst/>
                <a:latin typeface="宋体" panose="02010600030101010101" pitchFamily="2" charset="-122"/>
                <a:ea typeface="宋体" panose="02010600030101010101" pitchFamily="2" charset="-122"/>
              </a:rPr>
              <a:t>：</a:t>
            </a:r>
            <a:r>
              <a:rPr lang="zh-CN" altLang="en-US" sz="2400" b="0" i="0">
                <a:solidFill>
                  <a:srgbClr val="0F1115"/>
                </a:solidFill>
                <a:effectLst/>
                <a:latin typeface="宋体" panose="02010600030101010101" pitchFamily="2" charset="-122"/>
                <a:ea typeface="宋体" panose="02010600030101010101" pitchFamily="2" charset="-122"/>
              </a:rPr>
              <a:t>使种群的表型分布范围</a:t>
            </a:r>
            <a:r>
              <a:rPr lang="zh-CN" altLang="en-US" sz="2400" b="1" i="0">
                <a:solidFill>
                  <a:srgbClr val="FF0000"/>
                </a:solidFill>
                <a:effectLst/>
                <a:latin typeface="宋体" panose="02010600030101010101" pitchFamily="2" charset="-122"/>
                <a:ea typeface="宋体" panose="02010600030101010101" pitchFamily="2" charset="-122"/>
              </a:rPr>
              <a:t>变窄</a:t>
            </a:r>
            <a:r>
              <a:rPr lang="zh-CN" altLang="en-US" sz="2400" b="0" i="0">
                <a:solidFill>
                  <a:srgbClr val="0F1115"/>
                </a:solidFill>
                <a:effectLst/>
                <a:latin typeface="宋体" panose="02010600030101010101" pitchFamily="2" charset="-122"/>
                <a:ea typeface="宋体" panose="02010600030101010101" pitchFamily="2" charset="-122"/>
              </a:rPr>
              <a:t>，种群的遗传组成</a:t>
            </a:r>
            <a:r>
              <a:rPr lang="zh-CN" altLang="en-US" sz="2400" b="1" i="0">
                <a:solidFill>
                  <a:srgbClr val="FF0000"/>
                </a:solidFill>
                <a:effectLst/>
                <a:latin typeface="宋体" panose="02010600030101010101" pitchFamily="2" charset="-122"/>
                <a:ea typeface="宋体" panose="02010600030101010101" pitchFamily="2" charset="-122"/>
              </a:rPr>
              <a:t>趋于均质化</a:t>
            </a:r>
            <a:r>
              <a:rPr lang="zh-CN" altLang="en-US" sz="2400" b="0" i="0">
                <a:solidFill>
                  <a:srgbClr val="0F1115"/>
                </a:solidFill>
                <a:effectLst/>
                <a:latin typeface="宋体" panose="02010600030101010101" pitchFamily="2" charset="-122"/>
                <a:ea typeface="宋体" panose="02010600030101010101" pitchFamily="2" charset="-122"/>
              </a:rPr>
              <a:t>，有利于维持现有适应性的性状。</a:t>
            </a:r>
          </a:p>
          <a:p>
            <a:pPr algn="l">
              <a:spcBef>
                <a:spcPts val="450"/>
              </a:spcBef>
              <a:spcAft>
                <a:spcPts val="1200"/>
              </a:spcAft>
            </a:pPr>
            <a:r>
              <a:rPr lang="zh-CN" altLang="en-US" sz="2400" b="1" i="0">
                <a:solidFill>
                  <a:srgbClr val="FF0000"/>
                </a:solidFill>
                <a:effectLst/>
                <a:latin typeface="宋体" panose="02010600030101010101" pitchFamily="2" charset="-122"/>
                <a:ea typeface="宋体" panose="02010600030101010101" pitchFamily="2" charset="-122"/>
              </a:rPr>
              <a:t>发生条件</a:t>
            </a:r>
            <a:r>
              <a:rPr lang="zh-CN" altLang="en-US" sz="2400" b="0" i="0">
                <a:solidFill>
                  <a:srgbClr val="FF0000"/>
                </a:solidFill>
                <a:effectLst/>
                <a:latin typeface="宋体" panose="02010600030101010101" pitchFamily="2" charset="-122"/>
                <a:ea typeface="宋体" panose="02010600030101010101" pitchFamily="2" charset="-122"/>
              </a:rPr>
              <a:t>：</a:t>
            </a:r>
            <a:r>
              <a:rPr lang="zh-CN" altLang="en-US" sz="2400" b="0" i="0">
                <a:solidFill>
                  <a:srgbClr val="0F1115"/>
                </a:solidFill>
                <a:effectLst/>
                <a:latin typeface="宋体" panose="02010600030101010101" pitchFamily="2" charset="-122"/>
                <a:ea typeface="宋体" panose="02010600030101010101" pitchFamily="2" charset="-122"/>
              </a:rPr>
              <a:t>当环境条件相对稳定时，这种选择模式占优势。</a:t>
            </a: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58" y="3429000"/>
            <a:ext cx="3010161" cy="1714649"/>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9146" y="3429000"/>
            <a:ext cx="2751803" cy="1714649"/>
          </a:xfrm>
          <a:prstGeom prst="rect">
            <a:avLst/>
          </a:prstGeom>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1676" y="3429000"/>
            <a:ext cx="2696827" cy="1714649"/>
          </a:xfrm>
          <a:prstGeom prst="rect">
            <a:avLst/>
          </a:prstGeom>
        </p:spPr>
      </p:pic>
      <p:cxnSp>
        <p:nvCxnSpPr>
          <p:cNvPr id="13" name="直接箭头连接符 12"/>
          <p:cNvCxnSpPr>
            <a:stCxn id="7" idx="3"/>
            <a:endCxn id="9" idx="1"/>
          </p:cNvCxnSpPr>
          <p:nvPr/>
        </p:nvCxnSpPr>
        <p:spPr>
          <a:xfrm>
            <a:off x="3698419" y="4286325"/>
            <a:ext cx="910727" cy="0"/>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cxnSp>
        <p:nvCxnSpPr>
          <p:cNvPr id="14" name="直接箭头连接符 13"/>
          <p:cNvCxnSpPr>
            <a:stCxn id="9" idx="3"/>
            <a:endCxn id="11" idx="1"/>
          </p:cNvCxnSpPr>
          <p:nvPr/>
        </p:nvCxnSpPr>
        <p:spPr>
          <a:xfrm>
            <a:off x="7360949" y="4286325"/>
            <a:ext cx="910727" cy="0"/>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0103" y="400813"/>
            <a:ext cx="11012129" cy="2515235"/>
          </a:xfrm>
          <a:prstGeom prst="rect">
            <a:avLst/>
          </a:prstGeom>
          <a:noFill/>
        </p:spPr>
        <p:txBody>
          <a:bodyPr wrap="square">
            <a:spAutoFit/>
          </a:bodyPr>
          <a:lstStyle/>
          <a:p>
            <a:pPr algn="l">
              <a:spcBef>
                <a:spcPts val="1200"/>
              </a:spcBef>
              <a:spcAft>
                <a:spcPts val="600"/>
              </a:spcAft>
            </a:pPr>
            <a:r>
              <a:rPr lang="en-US" altLang="zh-CN" sz="2400" b="1">
                <a:solidFill>
                  <a:srgbClr val="FF0000"/>
                </a:solidFill>
                <a:effectLst/>
                <a:latin typeface="宋体" panose="02010600030101010101" pitchFamily="2" charset="-122"/>
                <a:ea typeface="宋体" panose="02010600030101010101" pitchFamily="2" charset="-122"/>
              </a:rPr>
              <a:t>2.</a:t>
            </a:r>
            <a:r>
              <a:rPr lang="zh-CN" altLang="en-US" sz="2400" b="1">
                <a:solidFill>
                  <a:srgbClr val="FF0000"/>
                </a:solidFill>
                <a:effectLst/>
                <a:latin typeface="宋体" panose="02010600030101010101" pitchFamily="2" charset="-122"/>
                <a:ea typeface="宋体" panose="02010600030101010101" pitchFamily="2" charset="-122"/>
              </a:rPr>
              <a:t>定向选择</a:t>
            </a:r>
          </a:p>
          <a:p>
            <a:pPr algn="l">
              <a:spcBef>
                <a:spcPts val="600"/>
              </a:spcBef>
              <a:spcAft>
                <a:spcPts val="1200"/>
              </a:spcAft>
            </a:pPr>
            <a:r>
              <a:rPr lang="zh-CN" altLang="en-US" sz="2400" b="1" i="0">
                <a:solidFill>
                  <a:srgbClr val="FF0000"/>
                </a:solidFill>
                <a:effectLst/>
                <a:latin typeface="宋体" panose="02010600030101010101" pitchFamily="2" charset="-122"/>
                <a:ea typeface="宋体" panose="02010600030101010101" pitchFamily="2" charset="-122"/>
              </a:rPr>
              <a:t>特点</a:t>
            </a:r>
            <a:r>
              <a:rPr lang="zh-CN" altLang="en-US" sz="2400" b="0" i="0">
                <a:solidFill>
                  <a:srgbClr val="FF0000"/>
                </a:solidFill>
                <a:effectLst/>
                <a:latin typeface="宋体" panose="02010600030101010101" pitchFamily="2" charset="-122"/>
                <a:ea typeface="宋体" panose="02010600030101010101" pitchFamily="2" charset="-122"/>
              </a:rPr>
              <a:t>：</a:t>
            </a:r>
            <a:r>
              <a:rPr lang="zh-CN" altLang="en-US" sz="2400" b="1" i="0">
                <a:solidFill>
                  <a:srgbClr val="0F1115"/>
                </a:solidFill>
                <a:effectLst/>
                <a:latin typeface="宋体" panose="02010600030101010101" pitchFamily="2" charset="-122"/>
                <a:ea typeface="宋体" panose="02010600030101010101" pitchFamily="2" charset="-122"/>
              </a:rPr>
              <a:t>淘汰一侧的极端个体和中间型个体，保留另一侧的</a:t>
            </a:r>
            <a:r>
              <a:rPr lang="zh-CN" altLang="en-US" sz="2400" b="1" i="0">
                <a:solidFill>
                  <a:srgbClr val="FF0000"/>
                </a:solidFill>
                <a:effectLst/>
                <a:latin typeface="宋体" panose="02010600030101010101" pitchFamily="2" charset="-122"/>
                <a:ea typeface="宋体" panose="02010600030101010101" pitchFamily="2" charset="-122"/>
              </a:rPr>
              <a:t>极端个体</a:t>
            </a:r>
            <a:r>
              <a:rPr lang="zh-CN" altLang="en-US" sz="2400" b="0" i="0">
                <a:solidFill>
                  <a:srgbClr val="0F1115"/>
                </a:solidFill>
                <a:effectLst/>
                <a:latin typeface="宋体" panose="02010600030101010101" pitchFamily="2" charset="-122"/>
                <a:ea typeface="宋体" panose="02010600030101010101" pitchFamily="2" charset="-122"/>
              </a:rPr>
              <a:t>。</a:t>
            </a:r>
          </a:p>
          <a:p>
            <a:pPr algn="l">
              <a:spcBef>
                <a:spcPts val="450"/>
              </a:spcBef>
              <a:spcAft>
                <a:spcPts val="1200"/>
              </a:spcAft>
            </a:pPr>
            <a:r>
              <a:rPr lang="zh-CN" altLang="en-US" sz="2400" b="1" i="0">
                <a:solidFill>
                  <a:srgbClr val="FF0000"/>
                </a:solidFill>
                <a:effectLst/>
                <a:latin typeface="宋体" panose="02010600030101010101" pitchFamily="2" charset="-122"/>
                <a:ea typeface="宋体" panose="02010600030101010101" pitchFamily="2" charset="-122"/>
              </a:rPr>
              <a:t>对种群的影响</a:t>
            </a:r>
            <a:r>
              <a:rPr lang="zh-CN" altLang="en-US" sz="2400" b="0" i="0">
                <a:solidFill>
                  <a:srgbClr val="FF0000"/>
                </a:solidFill>
                <a:effectLst/>
                <a:latin typeface="宋体" panose="02010600030101010101" pitchFamily="2" charset="-122"/>
                <a:ea typeface="宋体" panose="02010600030101010101" pitchFamily="2" charset="-122"/>
              </a:rPr>
              <a:t>：</a:t>
            </a:r>
            <a:r>
              <a:rPr lang="zh-CN" altLang="en-US" sz="2400" b="0" i="0">
                <a:solidFill>
                  <a:srgbClr val="0F1115"/>
                </a:solidFill>
                <a:effectLst/>
                <a:latin typeface="宋体" panose="02010600030101010101" pitchFamily="2" charset="-122"/>
                <a:ea typeface="宋体" panose="02010600030101010101" pitchFamily="2" charset="-122"/>
              </a:rPr>
              <a:t>使种群的平均表型值向</a:t>
            </a:r>
            <a:r>
              <a:rPr lang="zh-CN" altLang="en-US" sz="2400" b="1" i="0">
                <a:solidFill>
                  <a:srgbClr val="FF0000"/>
                </a:solidFill>
                <a:effectLst/>
                <a:latin typeface="宋体" panose="02010600030101010101" pitchFamily="2" charset="-122"/>
                <a:ea typeface="宋体" panose="02010600030101010101" pitchFamily="2" charset="-122"/>
              </a:rPr>
              <a:t>一个方向</a:t>
            </a:r>
            <a:r>
              <a:rPr lang="zh-CN" altLang="en-US" sz="2400" b="0" i="0">
                <a:solidFill>
                  <a:srgbClr val="0F1115"/>
                </a:solidFill>
                <a:effectLst/>
                <a:latin typeface="宋体" panose="02010600030101010101" pitchFamily="2" charset="-122"/>
                <a:ea typeface="宋体" panose="02010600030101010101" pitchFamily="2" charset="-122"/>
              </a:rPr>
              <a:t>持续移动，导致</a:t>
            </a:r>
            <a:r>
              <a:rPr lang="zh-CN" altLang="en-US" sz="2400" b="1" i="0">
                <a:solidFill>
                  <a:srgbClr val="FF0000"/>
                </a:solidFill>
                <a:effectLst/>
                <a:latin typeface="宋体" panose="02010600030101010101" pitchFamily="2" charset="-122"/>
                <a:ea typeface="宋体" panose="02010600030101010101" pitchFamily="2" charset="-122"/>
              </a:rPr>
              <a:t>进化性变化</a:t>
            </a:r>
            <a:r>
              <a:rPr lang="zh-CN" altLang="en-US" sz="2400" b="0" i="0">
                <a:solidFill>
                  <a:srgbClr val="0F1115"/>
                </a:solidFill>
                <a:effectLst/>
                <a:latin typeface="宋体" panose="02010600030101010101" pitchFamily="2" charset="-122"/>
                <a:ea typeface="宋体" panose="02010600030101010101" pitchFamily="2" charset="-122"/>
              </a:rPr>
              <a:t>的发生。这是最常见的导致适应性进化的选择模式。</a:t>
            </a:r>
          </a:p>
          <a:p>
            <a:pPr algn="l">
              <a:spcBef>
                <a:spcPts val="450"/>
              </a:spcBef>
              <a:spcAft>
                <a:spcPts val="1200"/>
              </a:spcAft>
            </a:pPr>
            <a:r>
              <a:rPr lang="zh-CN" altLang="en-US" sz="2400" b="1" i="0">
                <a:solidFill>
                  <a:srgbClr val="FF0000"/>
                </a:solidFill>
                <a:effectLst/>
                <a:latin typeface="宋体" panose="02010600030101010101" pitchFamily="2" charset="-122"/>
                <a:ea typeface="宋体" panose="02010600030101010101" pitchFamily="2" charset="-122"/>
              </a:rPr>
              <a:t>发生条件</a:t>
            </a:r>
            <a:r>
              <a:rPr lang="zh-CN" altLang="en-US" sz="2400" b="0" i="0">
                <a:solidFill>
                  <a:srgbClr val="FF0000"/>
                </a:solidFill>
                <a:effectLst/>
                <a:latin typeface="宋体" panose="02010600030101010101" pitchFamily="2" charset="-122"/>
                <a:ea typeface="宋体" panose="02010600030101010101" pitchFamily="2" charset="-122"/>
              </a:rPr>
              <a:t>：</a:t>
            </a:r>
            <a:r>
              <a:rPr lang="zh-CN" altLang="en-US" sz="2400" b="0" i="0">
                <a:solidFill>
                  <a:srgbClr val="0F1115"/>
                </a:solidFill>
                <a:effectLst/>
                <a:latin typeface="宋体" panose="02010600030101010101" pitchFamily="2" charset="-122"/>
                <a:ea typeface="宋体" panose="02010600030101010101" pitchFamily="2" charset="-122"/>
              </a:rPr>
              <a:t>当环境条件发生</a:t>
            </a:r>
            <a:r>
              <a:rPr lang="zh-CN" altLang="en-US" sz="2400" b="0" i="0">
                <a:solidFill>
                  <a:srgbClr val="FF0000"/>
                </a:solidFill>
                <a:effectLst/>
                <a:latin typeface="宋体" panose="02010600030101010101" pitchFamily="2" charset="-122"/>
                <a:ea typeface="宋体" panose="02010600030101010101" pitchFamily="2" charset="-122"/>
              </a:rPr>
              <a:t>定向变化</a:t>
            </a:r>
            <a:r>
              <a:rPr lang="zh-CN" altLang="en-US" sz="2400" b="0" i="0">
                <a:solidFill>
                  <a:srgbClr val="0F1115"/>
                </a:solidFill>
                <a:effectLst/>
                <a:latin typeface="宋体" panose="02010600030101010101" pitchFamily="2" charset="-122"/>
                <a:ea typeface="宋体" panose="02010600030101010101" pitchFamily="2" charset="-122"/>
              </a:rPr>
              <a:t>，或种群迁移到新环境时。（</a:t>
            </a:r>
            <a:r>
              <a:rPr lang="zh-CN" altLang="en-US" sz="2400" b="0" i="0">
                <a:solidFill>
                  <a:srgbClr val="FF0000"/>
                </a:solidFill>
                <a:effectLst/>
                <a:latin typeface="宋体" panose="02010600030101010101" pitchFamily="2" charset="-122"/>
                <a:ea typeface="宋体" panose="02010600030101010101" pitchFamily="2" charset="-122"/>
              </a:rPr>
              <a:t>自然选择</a:t>
            </a:r>
            <a:r>
              <a:rPr lang="zh-CN" altLang="en-US" sz="2400" b="0" i="0">
                <a:solidFill>
                  <a:srgbClr val="0F1115"/>
                </a:solidFill>
                <a:effectLst/>
                <a:latin typeface="宋体" panose="02010600030101010101" pitchFamily="2" charset="-122"/>
                <a:ea typeface="宋体" panose="02010600030101010101" pitchFamily="2" charset="-122"/>
              </a:rPr>
              <a: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58" y="3429000"/>
            <a:ext cx="3010161" cy="1714649"/>
          </a:xfrm>
          <a:prstGeom prst="rect">
            <a:avLst/>
          </a:prstGeom>
        </p:spPr>
      </p:pic>
      <p:cxnSp>
        <p:nvCxnSpPr>
          <p:cNvPr id="5" name="直接箭头连接符 4"/>
          <p:cNvCxnSpPr>
            <a:stCxn id="4" idx="3"/>
            <a:endCxn id="7" idx="1"/>
          </p:cNvCxnSpPr>
          <p:nvPr/>
        </p:nvCxnSpPr>
        <p:spPr>
          <a:xfrm>
            <a:off x="3698419" y="4286325"/>
            <a:ext cx="1190452" cy="0"/>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8871" y="3429000"/>
            <a:ext cx="2398860" cy="1714649"/>
          </a:xfrm>
          <a:prstGeom prst="rect">
            <a:avLst/>
          </a:prstGeom>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8183" y="3429000"/>
            <a:ext cx="2857748" cy="1714649"/>
          </a:xfrm>
          <a:prstGeom prst="rect">
            <a:avLst/>
          </a:prstGeom>
        </p:spPr>
      </p:pic>
      <p:cxnSp>
        <p:nvCxnSpPr>
          <p:cNvPr id="12" name="直接箭头连接符 11"/>
          <p:cNvCxnSpPr>
            <a:stCxn id="7" idx="3"/>
            <a:endCxn id="11" idx="1"/>
          </p:cNvCxnSpPr>
          <p:nvPr/>
        </p:nvCxnSpPr>
        <p:spPr>
          <a:xfrm>
            <a:off x="7287731" y="4286325"/>
            <a:ext cx="1190452" cy="0"/>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3174" y="424558"/>
            <a:ext cx="10584426" cy="2884170"/>
          </a:xfrm>
          <a:prstGeom prst="rect">
            <a:avLst/>
          </a:prstGeom>
          <a:noFill/>
        </p:spPr>
        <p:txBody>
          <a:bodyPr wrap="square">
            <a:spAutoFit/>
          </a:bodyPr>
          <a:lstStyle/>
          <a:p>
            <a:pPr algn="l">
              <a:spcBef>
                <a:spcPts val="1200"/>
              </a:spcBef>
              <a:spcAft>
                <a:spcPts val="600"/>
              </a:spcAft>
            </a:pPr>
            <a:r>
              <a:rPr lang="en-US" altLang="zh-CN" sz="2400" b="1">
                <a:solidFill>
                  <a:srgbClr val="FF0000"/>
                </a:solidFill>
                <a:effectLst/>
                <a:latin typeface="宋体" panose="02010600030101010101" pitchFamily="2" charset="-122"/>
                <a:ea typeface="宋体" panose="02010600030101010101" pitchFamily="2" charset="-122"/>
              </a:rPr>
              <a:t>3.</a:t>
            </a:r>
            <a:r>
              <a:rPr lang="zh-CN" altLang="en-US" sz="2400" b="1">
                <a:solidFill>
                  <a:srgbClr val="FF0000"/>
                </a:solidFill>
                <a:effectLst/>
                <a:latin typeface="宋体" panose="02010600030101010101" pitchFamily="2" charset="-122"/>
                <a:ea typeface="宋体" panose="02010600030101010101" pitchFamily="2" charset="-122"/>
              </a:rPr>
              <a:t>分裂选择</a:t>
            </a:r>
          </a:p>
          <a:p>
            <a:pPr algn="l">
              <a:spcBef>
                <a:spcPts val="600"/>
              </a:spcBef>
              <a:spcAft>
                <a:spcPts val="1200"/>
              </a:spcAft>
            </a:pPr>
            <a:r>
              <a:rPr lang="zh-CN" altLang="en-US" sz="2400" b="1" i="0">
                <a:solidFill>
                  <a:srgbClr val="FF0000"/>
                </a:solidFill>
                <a:effectLst/>
                <a:latin typeface="宋体" panose="02010600030101010101" pitchFamily="2" charset="-122"/>
                <a:ea typeface="宋体" panose="02010600030101010101" pitchFamily="2" charset="-122"/>
              </a:rPr>
              <a:t>特点</a:t>
            </a:r>
            <a:r>
              <a:rPr lang="zh-CN" altLang="en-US" sz="2400" b="0" i="0">
                <a:solidFill>
                  <a:srgbClr val="FF0000"/>
                </a:solidFill>
                <a:effectLst/>
                <a:latin typeface="宋体" panose="02010600030101010101" pitchFamily="2" charset="-122"/>
                <a:ea typeface="宋体" panose="02010600030101010101" pitchFamily="2" charset="-122"/>
              </a:rPr>
              <a:t>：</a:t>
            </a:r>
            <a:r>
              <a:rPr lang="zh-CN" altLang="en-US" sz="2400" b="1" i="0">
                <a:solidFill>
                  <a:srgbClr val="0F1115"/>
                </a:solidFill>
                <a:effectLst/>
                <a:latin typeface="宋体" panose="02010600030101010101" pitchFamily="2" charset="-122"/>
                <a:ea typeface="宋体" panose="02010600030101010101" pitchFamily="2" charset="-122"/>
              </a:rPr>
              <a:t>淘汰中间表型个体，同时保留两侧的极端表型个体</a:t>
            </a:r>
            <a:r>
              <a:rPr lang="zh-CN" altLang="en-US" sz="2400" b="0" i="0">
                <a:solidFill>
                  <a:srgbClr val="0F1115"/>
                </a:solidFill>
                <a:effectLst/>
                <a:latin typeface="宋体" panose="02010600030101010101" pitchFamily="2" charset="-122"/>
                <a:ea typeface="宋体" panose="02010600030101010101" pitchFamily="2" charset="-122"/>
              </a:rPr>
              <a:t>。</a:t>
            </a:r>
          </a:p>
          <a:p>
            <a:pPr algn="l">
              <a:spcBef>
                <a:spcPts val="450"/>
              </a:spcBef>
              <a:spcAft>
                <a:spcPts val="1200"/>
              </a:spcAft>
            </a:pPr>
            <a:r>
              <a:rPr lang="zh-CN" altLang="en-US" sz="2400" b="1" i="0">
                <a:solidFill>
                  <a:srgbClr val="FF0000"/>
                </a:solidFill>
                <a:effectLst/>
                <a:latin typeface="宋体" panose="02010600030101010101" pitchFamily="2" charset="-122"/>
                <a:ea typeface="宋体" panose="02010600030101010101" pitchFamily="2" charset="-122"/>
              </a:rPr>
              <a:t>对种群的影响</a:t>
            </a:r>
            <a:r>
              <a:rPr lang="zh-CN" altLang="en-US" sz="2400" b="0" i="0">
                <a:solidFill>
                  <a:srgbClr val="FF0000"/>
                </a:solidFill>
                <a:effectLst/>
                <a:latin typeface="宋体" panose="02010600030101010101" pitchFamily="2" charset="-122"/>
                <a:ea typeface="宋体" panose="02010600030101010101" pitchFamily="2" charset="-122"/>
              </a:rPr>
              <a:t>：</a:t>
            </a:r>
            <a:r>
              <a:rPr lang="zh-CN" altLang="en-US" sz="2400" b="0" i="0">
                <a:solidFill>
                  <a:srgbClr val="0F1115"/>
                </a:solidFill>
                <a:effectLst/>
                <a:latin typeface="宋体" panose="02010600030101010101" pitchFamily="2" charset="-122"/>
                <a:ea typeface="宋体" panose="02010600030101010101" pitchFamily="2" charset="-122"/>
              </a:rPr>
              <a:t>使种群的表型分布范围</a:t>
            </a:r>
            <a:r>
              <a:rPr lang="zh-CN" altLang="en-US" sz="2400" b="1" i="0">
                <a:solidFill>
                  <a:srgbClr val="FF0000"/>
                </a:solidFill>
                <a:effectLst/>
                <a:latin typeface="宋体" panose="02010600030101010101" pitchFamily="2" charset="-122"/>
                <a:ea typeface="宋体" panose="02010600030101010101" pitchFamily="2" charset="-122"/>
              </a:rPr>
              <a:t>变宽</a:t>
            </a:r>
            <a:r>
              <a:rPr lang="zh-CN" altLang="en-US" sz="2400" b="0" i="0">
                <a:solidFill>
                  <a:srgbClr val="0F1115"/>
                </a:solidFill>
                <a:effectLst/>
                <a:latin typeface="宋体" panose="02010600030101010101" pitchFamily="2" charset="-122"/>
                <a:ea typeface="宋体" panose="02010600030101010101" pitchFamily="2" charset="-122"/>
              </a:rPr>
              <a:t>，并可能最终导致一个种群</a:t>
            </a:r>
            <a:r>
              <a:rPr lang="zh-CN" altLang="en-US" sz="2400" b="1" i="0">
                <a:solidFill>
                  <a:srgbClr val="FF0000"/>
                </a:solidFill>
                <a:effectLst/>
                <a:latin typeface="宋体" panose="02010600030101010101" pitchFamily="2" charset="-122"/>
                <a:ea typeface="宋体" panose="02010600030101010101" pitchFamily="2" charset="-122"/>
              </a:rPr>
              <a:t>分裂为两个不同的亚种群或新种</a:t>
            </a:r>
            <a:r>
              <a:rPr lang="zh-CN" altLang="en-US" sz="2400" b="0" i="0">
                <a:solidFill>
                  <a:srgbClr val="0F1115"/>
                </a:solidFill>
                <a:effectLst/>
                <a:latin typeface="宋体" panose="02010600030101010101" pitchFamily="2" charset="-122"/>
                <a:ea typeface="宋体" panose="02010600030101010101" pitchFamily="2" charset="-122"/>
              </a:rPr>
              <a:t>。</a:t>
            </a:r>
          </a:p>
          <a:p>
            <a:pPr algn="l">
              <a:spcBef>
                <a:spcPts val="450"/>
              </a:spcBef>
              <a:spcAft>
                <a:spcPts val="1200"/>
              </a:spcAft>
            </a:pPr>
            <a:r>
              <a:rPr lang="zh-CN" altLang="en-US" sz="2400" b="1" i="0">
                <a:solidFill>
                  <a:srgbClr val="FF0000"/>
                </a:solidFill>
                <a:effectLst/>
                <a:latin typeface="宋体" panose="02010600030101010101" pitchFamily="2" charset="-122"/>
                <a:ea typeface="宋体" panose="02010600030101010101" pitchFamily="2" charset="-122"/>
              </a:rPr>
              <a:t>发生条件</a:t>
            </a:r>
            <a:r>
              <a:rPr lang="zh-CN" altLang="en-US" sz="2400" b="0" i="0">
                <a:solidFill>
                  <a:srgbClr val="FF0000"/>
                </a:solidFill>
                <a:effectLst/>
                <a:latin typeface="宋体" panose="02010600030101010101" pitchFamily="2" charset="-122"/>
                <a:ea typeface="宋体" panose="02010600030101010101" pitchFamily="2" charset="-122"/>
              </a:rPr>
              <a:t>：</a:t>
            </a:r>
            <a:r>
              <a:rPr lang="zh-CN" altLang="en-US" sz="2400" b="0" i="0">
                <a:solidFill>
                  <a:srgbClr val="0F1115"/>
                </a:solidFill>
                <a:effectLst/>
                <a:latin typeface="宋体" panose="02010600030101010101" pitchFamily="2" charset="-122"/>
                <a:ea typeface="宋体" panose="02010600030101010101" pitchFamily="2" charset="-122"/>
              </a:rPr>
              <a:t>当一个种群所处的环境</a:t>
            </a:r>
            <a:r>
              <a:rPr lang="zh-CN" altLang="en-US" sz="2400" b="0" i="0">
                <a:solidFill>
                  <a:srgbClr val="FF0000"/>
                </a:solidFill>
                <a:effectLst/>
                <a:latin typeface="宋体" panose="02010600030101010101" pitchFamily="2" charset="-122"/>
                <a:ea typeface="宋体" panose="02010600030101010101" pitchFamily="2" charset="-122"/>
              </a:rPr>
              <a:t>不是均一的</a:t>
            </a:r>
            <a:r>
              <a:rPr lang="zh-CN" altLang="en-US" sz="2400" b="0" i="0">
                <a:solidFill>
                  <a:srgbClr val="0F1115"/>
                </a:solidFill>
                <a:effectLst/>
                <a:latin typeface="宋体" panose="02010600030101010101" pitchFamily="2" charset="-122"/>
                <a:ea typeface="宋体" panose="02010600030101010101" pitchFamily="2" charset="-122"/>
              </a:rPr>
              <a:t>，存在多种</a:t>
            </a:r>
            <a:r>
              <a:rPr lang="zh-CN" altLang="en-US" sz="2400" b="0" i="0">
                <a:solidFill>
                  <a:srgbClr val="FF0000"/>
                </a:solidFill>
                <a:effectLst/>
                <a:latin typeface="宋体" panose="02010600030101010101" pitchFamily="2" charset="-122"/>
                <a:ea typeface="宋体" panose="02010600030101010101" pitchFamily="2" charset="-122"/>
              </a:rPr>
              <a:t>不同的生态位</a:t>
            </a:r>
            <a:r>
              <a:rPr lang="zh-CN" altLang="en-US" sz="2400" b="0" i="0">
                <a:solidFill>
                  <a:srgbClr val="0F1115"/>
                </a:solidFill>
                <a:effectLst/>
                <a:latin typeface="宋体" panose="02010600030101010101" pitchFamily="2" charset="-122"/>
                <a:ea typeface="宋体" panose="02010600030101010101" pitchFamily="2" charset="-122"/>
              </a:rPr>
              <a:t>或</a:t>
            </a:r>
            <a:r>
              <a:rPr lang="zh-CN" altLang="en-US" sz="2400" b="0" i="0">
                <a:solidFill>
                  <a:srgbClr val="FF0000"/>
                </a:solidFill>
                <a:effectLst/>
                <a:latin typeface="宋体" panose="02010600030101010101" pitchFamily="2" charset="-122"/>
                <a:ea typeface="宋体" panose="02010600030101010101" pitchFamily="2" charset="-122"/>
              </a:rPr>
              <a:t>选择压力</a:t>
            </a:r>
            <a:r>
              <a:rPr lang="zh-CN" altLang="en-US" sz="2400" b="0" i="0">
                <a:solidFill>
                  <a:srgbClr val="0F1115"/>
                </a:solidFill>
                <a:effectLst/>
                <a:latin typeface="宋体" panose="02010600030101010101" pitchFamily="2" charset="-122"/>
                <a:ea typeface="宋体" panose="02010600030101010101" pitchFamily="2" charset="-122"/>
              </a:rPr>
              <a:t>时。</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58" y="3429000"/>
            <a:ext cx="3010161" cy="1714649"/>
          </a:xfrm>
          <a:prstGeom prst="rect">
            <a:avLst/>
          </a:prstGeom>
        </p:spPr>
      </p:pic>
      <p:cxnSp>
        <p:nvCxnSpPr>
          <p:cNvPr id="5" name="直接箭头连接符 4"/>
          <p:cNvCxnSpPr>
            <a:stCxn id="4" idx="3"/>
            <a:endCxn id="7" idx="1"/>
          </p:cNvCxnSpPr>
          <p:nvPr/>
        </p:nvCxnSpPr>
        <p:spPr>
          <a:xfrm flipV="1">
            <a:off x="3698419" y="4286323"/>
            <a:ext cx="1223886" cy="2"/>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2305" y="3428999"/>
            <a:ext cx="2391932" cy="1714647"/>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3583" y="3428998"/>
            <a:ext cx="2685999" cy="1714647"/>
          </a:xfrm>
          <a:prstGeom prst="rect">
            <a:avLst/>
          </a:prstGeom>
        </p:spPr>
      </p:pic>
      <p:cxnSp>
        <p:nvCxnSpPr>
          <p:cNvPr id="11" name="直接箭头连接符 10"/>
          <p:cNvCxnSpPr>
            <a:stCxn id="7" idx="3"/>
            <a:endCxn id="10" idx="1"/>
          </p:cNvCxnSpPr>
          <p:nvPr/>
        </p:nvCxnSpPr>
        <p:spPr>
          <a:xfrm flipV="1">
            <a:off x="7314237" y="4286322"/>
            <a:ext cx="1179346" cy="1"/>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521724" y="2133600"/>
          <a:ext cx="11148552" cy="2590800"/>
        </p:xfrm>
        <a:graphic>
          <a:graphicData uri="http://schemas.openxmlformats.org/drawingml/2006/table">
            <a:tbl>
              <a:tblPr/>
              <a:tblGrid>
                <a:gridCol w="1474838">
                  <a:extLst>
                    <a:ext uri="{9D8B030D-6E8A-4147-A177-3AD203B41FA5}">
                      <a16:colId xmlns:a16="http://schemas.microsoft.com/office/drawing/2014/main" val="20000"/>
                    </a:ext>
                  </a:extLst>
                </a:gridCol>
                <a:gridCol w="3303639">
                  <a:extLst>
                    <a:ext uri="{9D8B030D-6E8A-4147-A177-3AD203B41FA5}">
                      <a16:colId xmlns:a16="http://schemas.microsoft.com/office/drawing/2014/main" val="20001"/>
                    </a:ext>
                  </a:extLst>
                </a:gridCol>
                <a:gridCol w="6370075">
                  <a:extLst>
                    <a:ext uri="{9D8B030D-6E8A-4147-A177-3AD203B41FA5}">
                      <a16:colId xmlns:a16="http://schemas.microsoft.com/office/drawing/2014/main" val="20002"/>
                    </a:ext>
                  </a:extLst>
                </a:gridCol>
              </a:tblGrid>
              <a:tr h="0">
                <a:tc>
                  <a:txBody>
                    <a:bodyPr/>
                    <a:lstStyle/>
                    <a:p>
                      <a:pPr marL="0" algn="ctr" defTabSz="914400" rtl="0" eaLnBrk="1" latinLnBrk="0" hangingPunct="1">
                        <a:lnSpc>
                          <a:spcPct val="100000"/>
                        </a:lnSpc>
                        <a:buNone/>
                      </a:pPr>
                      <a:r>
                        <a:rPr lang="zh-CN" altLang="en-US" sz="2200" b="1" kern="1200">
                          <a:solidFill>
                            <a:srgbClr val="FF0000"/>
                          </a:solidFill>
                          <a:effectLst/>
                          <a:latin typeface="宋体" panose="02010600030101010101" pitchFamily="2" charset="-122"/>
                          <a:ea typeface="宋体" panose="02010600030101010101" pitchFamily="2" charset="-122"/>
                          <a:cs typeface="+mn-cs"/>
                        </a:rPr>
                        <a:t>配子选择</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1200">
                          <a:solidFill>
                            <a:schemeClr val="tx1"/>
                          </a:solidFill>
                          <a:effectLst/>
                          <a:latin typeface="宋体" panose="02010600030101010101" pitchFamily="2" charset="-122"/>
                          <a:ea typeface="宋体" panose="02010600030101010101" pitchFamily="2" charset="-122"/>
                          <a:cs typeface="+mn-cs"/>
                        </a:rPr>
                        <a:t>配子</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1200">
                          <a:solidFill>
                            <a:schemeClr val="tx1"/>
                          </a:solidFill>
                          <a:effectLst/>
                          <a:latin typeface="宋体" panose="02010600030101010101" pitchFamily="2" charset="-122"/>
                          <a:ea typeface="宋体" panose="02010600030101010101" pitchFamily="2" charset="-122"/>
                          <a:cs typeface="+mn-cs"/>
                        </a:rPr>
                        <a:t>不同基因型的配子在成功受精的几率上存在差异</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algn="ctr" defTabSz="914400" rtl="0" eaLnBrk="1" latinLnBrk="0" hangingPunct="1">
                        <a:lnSpc>
                          <a:spcPct val="100000"/>
                        </a:lnSpc>
                        <a:buNone/>
                      </a:pPr>
                      <a:r>
                        <a:rPr lang="zh-CN" altLang="en-US" sz="2200" b="1" kern="1200">
                          <a:solidFill>
                            <a:srgbClr val="FF0000"/>
                          </a:solidFill>
                          <a:effectLst/>
                          <a:latin typeface="宋体" panose="02010600030101010101" pitchFamily="2" charset="-122"/>
                          <a:ea typeface="宋体" panose="02010600030101010101" pitchFamily="2" charset="-122"/>
                          <a:cs typeface="+mn-cs"/>
                        </a:rPr>
                        <a:t>性选择</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1200">
                          <a:solidFill>
                            <a:schemeClr val="tx1"/>
                          </a:solidFill>
                          <a:effectLst/>
                          <a:latin typeface="宋体" panose="02010600030101010101" pitchFamily="2" charset="-122"/>
                          <a:ea typeface="宋体" panose="02010600030101010101" pitchFamily="2" charset="-122"/>
                          <a:cs typeface="+mn-cs"/>
                        </a:rPr>
                        <a:t>个体（以获得配偶为标准）</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1200">
                          <a:solidFill>
                            <a:schemeClr val="tx1"/>
                          </a:solidFill>
                          <a:effectLst/>
                          <a:latin typeface="宋体" panose="02010600030101010101" pitchFamily="2" charset="-122"/>
                          <a:ea typeface="宋体" panose="02010600030101010101" pitchFamily="2" charset="-122"/>
                          <a:cs typeface="+mn-cs"/>
                        </a:rPr>
                        <a:t>通过竞争配偶或吸引异性的能力差异来决定繁殖成功率</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algn="ctr" defTabSz="914400" rtl="0" eaLnBrk="1" latinLnBrk="0" hangingPunct="1">
                        <a:lnSpc>
                          <a:spcPct val="100000"/>
                        </a:lnSpc>
                        <a:buNone/>
                      </a:pPr>
                      <a:r>
                        <a:rPr lang="zh-CN" altLang="en-US" sz="2200" b="1" kern="1200">
                          <a:solidFill>
                            <a:srgbClr val="FF0000"/>
                          </a:solidFill>
                          <a:effectLst/>
                          <a:latin typeface="宋体" panose="02010600030101010101" pitchFamily="2" charset="-122"/>
                          <a:ea typeface="宋体" panose="02010600030101010101" pitchFamily="2" charset="-122"/>
                          <a:cs typeface="+mn-cs"/>
                        </a:rPr>
                        <a:t>亲缘选择</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1200">
                          <a:solidFill>
                            <a:schemeClr val="tx1"/>
                          </a:solidFill>
                          <a:effectLst/>
                          <a:latin typeface="宋体" panose="02010600030101010101" pitchFamily="2" charset="-122"/>
                          <a:ea typeface="宋体" panose="02010600030101010101" pitchFamily="2" charset="-122"/>
                          <a:cs typeface="+mn-cs"/>
                        </a:rPr>
                        <a:t>具有亲缘关系的个体</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1200">
                          <a:solidFill>
                            <a:schemeClr val="tx1"/>
                          </a:solidFill>
                          <a:effectLst/>
                          <a:latin typeface="宋体" panose="02010600030101010101" pitchFamily="2" charset="-122"/>
                          <a:ea typeface="宋体" panose="02010600030101010101" pitchFamily="2" charset="-122"/>
                          <a:cs typeface="+mn-cs"/>
                        </a:rPr>
                        <a:t>通过帮助亲属繁殖来间接传播共有基因</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algn="ctr" defTabSz="914400" rtl="0" eaLnBrk="1" latinLnBrk="0" hangingPunct="1">
                        <a:lnSpc>
                          <a:spcPct val="100000"/>
                        </a:lnSpc>
                        <a:buNone/>
                      </a:pPr>
                      <a:r>
                        <a:rPr lang="zh-CN" altLang="en-US" sz="2200" b="1" kern="1200">
                          <a:solidFill>
                            <a:srgbClr val="FF0000"/>
                          </a:solidFill>
                          <a:effectLst/>
                          <a:latin typeface="宋体" panose="02010600030101010101" pitchFamily="2" charset="-122"/>
                          <a:ea typeface="宋体" panose="02010600030101010101" pitchFamily="2" charset="-122"/>
                          <a:cs typeface="+mn-cs"/>
                        </a:rPr>
                        <a:t>群体选择</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1200">
                          <a:solidFill>
                            <a:schemeClr val="tx1"/>
                          </a:solidFill>
                          <a:effectLst/>
                          <a:latin typeface="宋体" panose="02010600030101010101" pitchFamily="2" charset="-122"/>
                          <a:ea typeface="宋体" panose="02010600030101010101" pitchFamily="2" charset="-122"/>
                          <a:cs typeface="+mn-cs"/>
                        </a:rPr>
                        <a:t>群体</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zh-CN" altLang="en-US" sz="2200" b="1" kern="1200">
                          <a:solidFill>
                            <a:schemeClr val="tx1"/>
                          </a:solidFill>
                          <a:effectLst/>
                          <a:latin typeface="宋体" panose="02010600030101010101" pitchFamily="2" charset="-122"/>
                          <a:ea typeface="宋体" panose="02010600030101010101" pitchFamily="2" charset="-122"/>
                          <a:cs typeface="+mn-cs"/>
                        </a:rPr>
                        <a:t>具有利他行为的群体在群体间竞争中更易生存</a:t>
                      </a:r>
                    </a:p>
                  </a:txBody>
                  <a:tcPr marL="114300" marR="1143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 name="文本框 3"/>
          <p:cNvSpPr txBox="1"/>
          <p:nvPr/>
        </p:nvSpPr>
        <p:spPr>
          <a:xfrm>
            <a:off x="343862" y="813206"/>
            <a:ext cx="6096000" cy="461665"/>
          </a:xfrm>
          <a:prstGeom prst="rect">
            <a:avLst/>
          </a:prstGeom>
          <a:noFill/>
        </p:spPr>
        <p:txBody>
          <a:bodyPr wrap="square">
            <a:spAutoFit/>
          </a:bodyPr>
          <a:lstStyle/>
          <a:p>
            <a:r>
              <a:rPr lang="en-US" altLang="zh-CN" sz="2400" b="1">
                <a:solidFill>
                  <a:srgbClr val="FF0000"/>
                </a:solidFill>
                <a:latin typeface="宋体" panose="02010600030101010101" pitchFamily="2" charset="-122"/>
                <a:ea typeface="宋体" panose="02010600030101010101" pitchFamily="2" charset="-122"/>
              </a:rPr>
              <a:t>4.</a:t>
            </a:r>
            <a:r>
              <a:rPr lang="zh-CN" altLang="en-US" sz="2400" b="1">
                <a:solidFill>
                  <a:srgbClr val="FF0000"/>
                </a:solidFill>
                <a:latin typeface="宋体" panose="02010600030101010101" pitchFamily="2" charset="-122"/>
                <a:ea typeface="宋体" panose="02010600030101010101" pitchFamily="2" charset="-122"/>
              </a:rPr>
              <a:t>其它生物学单位的选择</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838960"/>
            <a:ext cx="9144000" cy="1671320"/>
          </a:xfrm>
        </p:spPr>
        <p:txBody>
          <a:bodyPr/>
          <a:lstStyle/>
          <a:p>
            <a:r>
              <a:rPr lang="en-US" altLang="zh-CN" b="1">
                <a:solidFill>
                  <a:srgbClr val="FF0000"/>
                </a:solidFill>
              </a:rPr>
              <a:t>6  </a:t>
            </a:r>
            <a:r>
              <a:rPr lang="zh-CN" altLang="en-US" b="1">
                <a:solidFill>
                  <a:srgbClr val="FF0000"/>
                </a:solidFill>
              </a:rPr>
              <a:t>生活史对策</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4365" y="892810"/>
            <a:ext cx="10923905" cy="3028315"/>
          </a:xfrm>
          <a:prstGeom prst="rect">
            <a:avLst/>
          </a:prstGeom>
          <a:noFill/>
        </p:spPr>
        <p:txBody>
          <a:bodyPr wrap="square">
            <a:noAutofit/>
          </a:bodyPr>
          <a:lstStyle/>
          <a:p>
            <a:pPr algn="l"/>
            <a:r>
              <a:rPr lang="en-US" altLang="zh-CN" sz="2800" b="1" i="0">
                <a:solidFill>
                  <a:srgbClr val="FF0000"/>
                </a:solidFill>
                <a:effectLst/>
                <a:latin typeface="宋体" panose="02010600030101010101" pitchFamily="2" charset="-122"/>
                <a:ea typeface="宋体" panose="02010600030101010101" pitchFamily="2" charset="-122"/>
              </a:rPr>
              <a:t>    </a:t>
            </a:r>
            <a:r>
              <a:rPr lang="zh-CN" altLang="en-US" sz="2800" b="1" i="0">
                <a:solidFill>
                  <a:srgbClr val="FF0000"/>
                </a:solidFill>
                <a:effectLst/>
                <a:latin typeface="宋体" panose="02010600030101010101" pitchFamily="2" charset="-122"/>
                <a:ea typeface="宋体" panose="02010600030101010101" pitchFamily="2" charset="-122"/>
              </a:rPr>
              <a:t>生活史</a:t>
            </a:r>
            <a:r>
              <a:rPr lang="zh-CN" altLang="en-US" sz="2800" b="1" i="0">
                <a:solidFill>
                  <a:srgbClr val="0F1115"/>
                </a:solidFill>
                <a:effectLst/>
                <a:latin typeface="宋体" panose="02010600030101010101" pitchFamily="2" charset="-122"/>
                <a:ea typeface="宋体" panose="02010600030101010101" pitchFamily="2" charset="-122"/>
              </a:rPr>
              <a:t>：指生物从出生到死亡所经历的全部过程。生活史的关键组分包括身体大小、生长率、繁殖和寿命。 </a:t>
            </a:r>
            <a:endParaRPr lang="en-US" altLang="zh-CN" sz="2800" b="1" i="0">
              <a:solidFill>
                <a:srgbClr val="0F1115"/>
              </a:solidFill>
              <a:effectLst/>
              <a:latin typeface="宋体" panose="02010600030101010101" pitchFamily="2" charset="-122"/>
              <a:ea typeface="宋体" panose="02010600030101010101" pitchFamily="2" charset="-122"/>
            </a:endParaRPr>
          </a:p>
          <a:p>
            <a:pPr algn="l"/>
            <a:r>
              <a:rPr lang="en-US" altLang="zh-CN" sz="2800" b="1" i="0">
                <a:solidFill>
                  <a:srgbClr val="FF0000"/>
                </a:solidFill>
                <a:effectLst/>
                <a:latin typeface="宋体" panose="02010600030101010101" pitchFamily="2" charset="-122"/>
                <a:ea typeface="宋体" panose="02010600030101010101" pitchFamily="2" charset="-122"/>
              </a:rPr>
              <a:t>    </a:t>
            </a:r>
            <a:r>
              <a:rPr lang="zh-CN" altLang="en-US" sz="2800" b="1" i="0">
                <a:solidFill>
                  <a:srgbClr val="FF0000"/>
                </a:solidFill>
                <a:effectLst/>
                <a:latin typeface="宋体" panose="02010600030101010101" pitchFamily="2" charset="-122"/>
                <a:ea typeface="宋体" panose="02010600030101010101" pitchFamily="2" charset="-122"/>
              </a:rPr>
              <a:t>生活史对策</a:t>
            </a:r>
            <a:r>
              <a:rPr lang="zh-CN" altLang="en-US" sz="2800" b="1" i="0">
                <a:effectLst/>
                <a:latin typeface="宋体" panose="02010600030101010101" pitchFamily="2" charset="-122"/>
                <a:ea typeface="宋体" panose="02010600030101010101" pitchFamily="2" charset="-122"/>
              </a:rPr>
              <a:t>：</a:t>
            </a:r>
            <a:r>
              <a:rPr lang="zh-CN" altLang="en-US" sz="2800" b="1" i="0">
                <a:solidFill>
                  <a:srgbClr val="0F1115"/>
                </a:solidFill>
                <a:effectLst/>
                <a:latin typeface="宋体" panose="02010600030101010101" pitchFamily="2" charset="-122"/>
                <a:ea typeface="宋体" panose="02010600030101010101" pitchFamily="2" charset="-122"/>
              </a:rPr>
              <a:t>生物在生存斗争中获得的生存对策，又称</a:t>
            </a:r>
            <a:r>
              <a:rPr lang="zh-CN" altLang="en-US" sz="2800" b="1" i="0">
                <a:solidFill>
                  <a:srgbClr val="FF0000"/>
                </a:solidFill>
                <a:effectLst/>
                <a:latin typeface="宋体" panose="02010600030101010101" pitchFamily="2" charset="-122"/>
                <a:ea typeface="宋体" panose="02010600030101010101" pitchFamily="2" charset="-122"/>
              </a:rPr>
              <a:t>生态对策</a:t>
            </a:r>
            <a:r>
              <a:rPr lang="zh-CN" altLang="en-US" sz="2800" b="1" i="0">
                <a:solidFill>
                  <a:srgbClr val="0F1115"/>
                </a:solidFill>
                <a:effectLst/>
                <a:latin typeface="宋体" panose="02010600030101010101" pitchFamily="2" charset="-122"/>
                <a:ea typeface="宋体" panose="02010600030101010101" pitchFamily="2" charset="-122"/>
              </a:rPr>
              <a:t>。</a:t>
            </a:r>
            <a:endParaRPr lang="en-US" altLang="zh-CN" sz="2800" b="1" i="0">
              <a:solidFill>
                <a:srgbClr val="0F1115"/>
              </a:solidFill>
              <a:effectLst/>
              <a:latin typeface="宋体" panose="02010600030101010101" pitchFamily="2" charset="-122"/>
              <a:ea typeface="宋体" panose="02010600030101010101" pitchFamily="2" charset="-122"/>
            </a:endParaRPr>
          </a:p>
          <a:p>
            <a:pPr algn="l"/>
            <a:r>
              <a:rPr lang="zh-CN" altLang="en-US" sz="2800" b="1">
                <a:latin typeface="宋体" panose="02010600030101010101" pitchFamily="2" charset="-122"/>
                <a:ea typeface="宋体" panose="02010600030101010101" pitchFamily="2" charset="-122"/>
              </a:rPr>
              <a:t>    任何生活史特征都不是独立的，一种特征的进化必然影响到其他特征。例如，投入繁殖的能量增加，则用于生长和维持的能量就会减少，这种不同生活史形状间此消彼长的关系称为</a:t>
            </a:r>
            <a:r>
              <a:rPr lang="zh-CN" altLang="en-US" sz="2800" b="1">
                <a:solidFill>
                  <a:srgbClr val="FF0000"/>
                </a:solidFill>
                <a:latin typeface="宋体" panose="02010600030101010101" pitchFamily="2" charset="-122"/>
                <a:ea typeface="宋体" panose="02010600030101010101" pitchFamily="2" charset="-122"/>
              </a:rPr>
              <a:t>权衡</a:t>
            </a:r>
            <a:r>
              <a:rPr lang="zh-CN" altLang="en-US" sz="2800" b="1">
                <a:latin typeface="宋体" panose="02010600030101010101" pitchFamily="2" charset="-122"/>
                <a:ea typeface="宋体" panose="02010600030101010101" pitchFamily="2" charset="-122"/>
              </a:rPr>
              <a:t>。</a:t>
            </a:r>
            <a:endParaRPr lang="en-US" altLang="zh-CN" sz="2800" b="1">
              <a:latin typeface="宋体" panose="02010600030101010101" pitchFamily="2" charset="-122"/>
              <a:ea typeface="宋体" panose="02010600030101010101" pitchFamily="2" charset="-122"/>
            </a:endParaRPr>
          </a:p>
          <a:p>
            <a:pPr algn="l"/>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生物为增加繁殖力花费的能量称为</a:t>
            </a:r>
            <a:r>
              <a:rPr lang="zh-CN" altLang="en-US" sz="2800" b="1">
                <a:solidFill>
                  <a:srgbClr val="FF0000"/>
                </a:solidFill>
                <a:latin typeface="宋体" panose="02010600030101010101" pitchFamily="2" charset="-122"/>
                <a:ea typeface="宋体" panose="02010600030101010101" pitchFamily="2" charset="-122"/>
              </a:rPr>
              <a:t>生殖努力</a:t>
            </a:r>
            <a:r>
              <a:rPr lang="zh-CN" altLang="en-US" sz="2800" b="1">
                <a:latin typeface="宋体" panose="02010600030101010101" pitchFamily="2" charset="-122"/>
                <a:ea typeface="宋体" panose="02010600030101010101" pitchFamily="2" charset="-122"/>
              </a:rPr>
              <a:t>。包括了分配给生殖后代的</a:t>
            </a:r>
            <a:r>
              <a:rPr lang="zh-CN" altLang="en-US" sz="2800" b="1">
                <a:solidFill>
                  <a:srgbClr val="FF0000"/>
                </a:solidFill>
                <a:latin typeface="宋体" panose="02010600030101010101" pitchFamily="2" charset="-122"/>
                <a:ea typeface="宋体" panose="02010600030101010101" pitchFamily="2" charset="-122"/>
              </a:rPr>
              <a:t>能量</a:t>
            </a:r>
            <a:r>
              <a:rPr lang="zh-CN" altLang="en-US" sz="2800" b="1">
                <a:latin typeface="宋体" panose="02010600030101010101" pitchFamily="2" charset="-122"/>
                <a:ea typeface="宋体" panose="02010600030101010101" pitchFamily="2" charset="-122"/>
              </a:rPr>
              <a:t>、</a:t>
            </a:r>
            <a:r>
              <a:rPr lang="zh-CN" altLang="en-US" sz="2800" b="1">
                <a:solidFill>
                  <a:srgbClr val="FF0000"/>
                </a:solidFill>
                <a:latin typeface="宋体" panose="02010600030101010101" pitchFamily="2" charset="-122"/>
                <a:ea typeface="宋体" panose="02010600030101010101" pitchFamily="2" charset="-122"/>
              </a:rPr>
              <a:t>时间</a:t>
            </a:r>
            <a:r>
              <a:rPr lang="zh-CN" altLang="en-US" sz="2800" b="1">
                <a:latin typeface="宋体" panose="02010600030101010101" pitchFamily="2" charset="-122"/>
                <a:ea typeface="宋体" panose="02010600030101010101" pitchFamily="2" charset="-122"/>
              </a:rPr>
              <a:t>、</a:t>
            </a:r>
            <a:r>
              <a:rPr lang="zh-CN" altLang="en-US" sz="2800" b="1">
                <a:solidFill>
                  <a:srgbClr val="FF0000"/>
                </a:solidFill>
                <a:latin typeface="宋体" panose="02010600030101010101" pitchFamily="2" charset="-122"/>
                <a:ea typeface="宋体" panose="02010600030101010101" pitchFamily="2" charset="-122"/>
              </a:rPr>
              <a:t>承担的风险</a:t>
            </a:r>
            <a:r>
              <a:rPr lang="zh-CN" altLang="en-US" sz="2800" b="1">
                <a:latin typeface="宋体" panose="02010600030101010101" pitchFamily="2" charset="-122"/>
                <a:ea typeface="宋体" panose="02010600030101010101" pitchFamily="2" charset="-122"/>
              </a:rPr>
              <a:t>和</a:t>
            </a:r>
            <a:r>
              <a:rPr lang="zh-CN" altLang="en-US" sz="2800" b="1">
                <a:solidFill>
                  <a:srgbClr val="FF0000"/>
                </a:solidFill>
                <a:latin typeface="宋体" panose="02010600030101010101" pitchFamily="2" charset="-122"/>
                <a:ea typeface="宋体" panose="02010600030101010101" pitchFamily="2" charset="-122"/>
              </a:rPr>
              <a:t>亲体关怀</a:t>
            </a:r>
            <a:r>
              <a:rPr lang="zh-CN" altLang="en-US" sz="2800" b="1">
                <a:latin typeface="宋体" panose="02010600030101010101" pitchFamily="2" charset="-122"/>
                <a:ea typeface="宋体" panose="02010600030101010101" pitchFamily="2" charset="-122"/>
              </a:rPr>
              <a:t>。</a:t>
            </a:r>
          </a:p>
        </p:txBody>
      </p:sp>
      <p:sp>
        <p:nvSpPr>
          <p:cNvPr id="9" name="文本框 8"/>
          <p:cNvSpPr txBox="1"/>
          <p:nvPr/>
        </p:nvSpPr>
        <p:spPr>
          <a:xfrm>
            <a:off x="521150" y="4413206"/>
            <a:ext cx="11164530" cy="953135"/>
          </a:xfrm>
          <a:prstGeom prst="rect">
            <a:avLst/>
          </a:prstGeom>
          <a:noFill/>
        </p:spPr>
        <p:txBody>
          <a:bodyPr wrap="square">
            <a:spAutoFit/>
          </a:bodyPr>
          <a:lstStyle/>
          <a:p>
            <a:r>
              <a:rPr lang="en-US" altLang="zh-CN" sz="2400" b="1">
                <a:latin typeface="宋体" panose="02010600030101010101" pitchFamily="2" charset="-122"/>
                <a:ea typeface="宋体" panose="02010600030101010101" pitchFamily="2" charset="-122"/>
              </a:rPr>
              <a:t>    </a:t>
            </a:r>
            <a:r>
              <a:rPr lang="en-US" altLang="zh-CN" sz="2800" b="1">
                <a:latin typeface="宋体" panose="02010600030101010101" pitchFamily="2" charset="-122"/>
                <a:ea typeface="宋体" panose="02010600030101010101" pitchFamily="2" charset="-122"/>
              </a:rPr>
              <a:t>1967</a:t>
            </a:r>
            <a:r>
              <a:rPr lang="zh-CN" altLang="en-US" sz="2800" b="1">
                <a:latin typeface="宋体" panose="02010600030101010101" pitchFamily="2" charset="-122"/>
                <a:ea typeface="宋体" panose="02010600030101010101" pitchFamily="2" charset="-122"/>
              </a:rPr>
              <a:t>年</a:t>
            </a:r>
            <a:r>
              <a:rPr lang="en-US" altLang="zh-CN" sz="2800" b="1">
                <a:latin typeface="宋体" panose="02010600030101010101" pitchFamily="2" charset="-122"/>
                <a:ea typeface="宋体" panose="02010600030101010101" pitchFamily="2" charset="-122"/>
              </a:rPr>
              <a:t>MacArthur</a:t>
            </a:r>
            <a:r>
              <a:rPr lang="zh-CN" altLang="en-US" sz="2800" b="1">
                <a:latin typeface="宋体" panose="02010600030101010101" pitchFamily="2" charset="-122"/>
                <a:ea typeface="宋体" panose="02010600030101010101" pitchFamily="2" charset="-122"/>
              </a:rPr>
              <a:t>和</a:t>
            </a:r>
            <a:r>
              <a:rPr lang="en-US" altLang="zh-CN" sz="2800" b="1">
                <a:latin typeface="宋体" panose="02010600030101010101" pitchFamily="2" charset="-122"/>
                <a:ea typeface="宋体" panose="02010600030101010101" pitchFamily="2" charset="-122"/>
              </a:rPr>
              <a:t>Wilson</a:t>
            </a:r>
            <a:r>
              <a:rPr lang="zh-CN" altLang="en-US" sz="2800" b="1">
                <a:latin typeface="宋体" panose="02010600030101010101" pitchFamily="2" charset="-122"/>
                <a:ea typeface="宋体" panose="02010600030101010101" pitchFamily="2" charset="-122"/>
              </a:rPr>
              <a:t>在</a:t>
            </a:r>
            <a:r>
              <a:rPr lang="en-US" altLang="zh-CN" sz="2800" b="1">
                <a:latin typeface="宋体" panose="02010600030101010101" pitchFamily="2" charset="-122"/>
                <a:ea typeface="宋体" panose="02010600030101010101" pitchFamily="2" charset="-122"/>
              </a:rPr>
              <a:t>Lack</a:t>
            </a:r>
            <a:r>
              <a:rPr lang="zh-CN" altLang="en-US" sz="2800" b="1">
                <a:latin typeface="宋体" panose="02010600030101010101" pitchFamily="2" charset="-122"/>
                <a:ea typeface="宋体" panose="02010600030101010101" pitchFamily="2" charset="-122"/>
              </a:rPr>
              <a:t>的基础上将生物按栖息环境和进化对策分为</a:t>
            </a:r>
            <a:r>
              <a:rPr lang="en-US" altLang="zh-CN" sz="2800" b="1">
                <a:solidFill>
                  <a:srgbClr val="FF0000"/>
                </a:solidFill>
                <a:latin typeface="宋体" panose="02010600030101010101" pitchFamily="2" charset="-122"/>
                <a:ea typeface="宋体" panose="02010600030101010101" pitchFamily="2" charset="-122"/>
              </a:rPr>
              <a:t>r</a:t>
            </a:r>
            <a:r>
              <a:rPr lang="zh-CN" altLang="en-US" sz="2800" b="1">
                <a:solidFill>
                  <a:srgbClr val="FF0000"/>
                </a:solidFill>
                <a:latin typeface="宋体" panose="02010600030101010101" pitchFamily="2" charset="-122"/>
                <a:ea typeface="宋体" panose="02010600030101010101" pitchFamily="2" charset="-122"/>
              </a:rPr>
              <a:t>对策</a:t>
            </a:r>
            <a:r>
              <a:rPr lang="zh-CN" altLang="en-US" sz="2800" b="1">
                <a:latin typeface="宋体" panose="02010600030101010101" pitchFamily="2" charset="-122"/>
                <a:ea typeface="宋体" panose="02010600030101010101" pitchFamily="2" charset="-122"/>
              </a:rPr>
              <a:t>和</a:t>
            </a:r>
            <a:r>
              <a:rPr lang="en-US" altLang="zh-CN" sz="2800" b="1">
                <a:solidFill>
                  <a:srgbClr val="FF0000"/>
                </a:solidFill>
                <a:latin typeface="宋体" panose="02010600030101010101" pitchFamily="2" charset="-122"/>
                <a:ea typeface="宋体" panose="02010600030101010101" pitchFamily="2" charset="-122"/>
              </a:rPr>
              <a:t>K</a:t>
            </a:r>
            <a:r>
              <a:rPr lang="zh-CN" altLang="en-US" sz="2800" b="1">
                <a:solidFill>
                  <a:srgbClr val="FF0000"/>
                </a:solidFill>
                <a:latin typeface="宋体" panose="02010600030101010101" pitchFamily="2" charset="-122"/>
                <a:ea typeface="宋体" panose="02010600030101010101" pitchFamily="2" charset="-122"/>
              </a:rPr>
              <a:t>对策</a:t>
            </a:r>
            <a:r>
              <a:rPr lang="zh-CN" altLang="en-US" sz="2800" b="1">
                <a:latin typeface="宋体" panose="02010600030101010101" pitchFamily="2" charset="-122"/>
                <a:ea typeface="宋体" panose="02010600030101010101" pitchFamily="2" charset="-122"/>
              </a:rPr>
              <a:t>，两种对策又分别对应</a:t>
            </a:r>
            <a:r>
              <a:rPr lang="en-US" altLang="zh-CN" sz="2800" b="1">
                <a:solidFill>
                  <a:srgbClr val="FF0000"/>
                </a:solidFill>
                <a:latin typeface="宋体" panose="02010600030101010101" pitchFamily="2" charset="-122"/>
                <a:ea typeface="宋体" panose="02010600030101010101" pitchFamily="2" charset="-122"/>
              </a:rPr>
              <a:t>r-</a:t>
            </a:r>
            <a:r>
              <a:rPr lang="zh-CN" altLang="en-US" sz="2800" b="1">
                <a:solidFill>
                  <a:srgbClr val="FF0000"/>
                </a:solidFill>
                <a:latin typeface="宋体" panose="02010600030101010101" pitchFamily="2" charset="-122"/>
                <a:ea typeface="宋体" panose="02010600030101010101" pitchFamily="2" charset="-122"/>
              </a:rPr>
              <a:t>选择</a:t>
            </a:r>
            <a:r>
              <a:rPr lang="zh-CN" altLang="en-US" sz="2800" b="1">
                <a:latin typeface="宋体" panose="02010600030101010101" pitchFamily="2" charset="-122"/>
                <a:ea typeface="宋体" panose="02010600030101010101" pitchFamily="2" charset="-122"/>
              </a:rPr>
              <a:t>和</a:t>
            </a:r>
            <a:r>
              <a:rPr lang="en-US" altLang="zh-CN" sz="2800" b="1">
                <a:solidFill>
                  <a:srgbClr val="FF0000"/>
                </a:solidFill>
                <a:latin typeface="宋体" panose="02010600030101010101" pitchFamily="2" charset="-122"/>
                <a:ea typeface="宋体" panose="02010600030101010101" pitchFamily="2" charset="-122"/>
              </a:rPr>
              <a:t>K-</a:t>
            </a:r>
            <a:r>
              <a:rPr lang="zh-CN" altLang="en-US" sz="2800" b="1">
                <a:solidFill>
                  <a:srgbClr val="FF0000"/>
                </a:solidFill>
                <a:latin typeface="宋体" panose="02010600030101010101" pitchFamily="2" charset="-122"/>
                <a:ea typeface="宋体" panose="02010600030101010101" pitchFamily="2" charset="-122"/>
              </a:rPr>
              <a:t>选择</a:t>
            </a:r>
            <a:r>
              <a:rPr lang="zh-CN" altLang="en-US" sz="2800" b="1">
                <a:latin typeface="宋体" panose="02010600030101010101" pitchFamily="2" charset="-122"/>
                <a:ea typeface="宋体" panose="02010600030101010101" pitchFamily="2" charset="-122"/>
              </a:rPr>
              <a:t>。</a:t>
            </a:r>
            <a:endParaRPr lang="zh-CN" altLang="en-US" sz="2800"/>
          </a:p>
        </p:txBody>
      </p:sp>
      <p:sp>
        <p:nvSpPr>
          <p:cNvPr id="3" name="文本框 2"/>
          <p:cNvSpPr txBox="1"/>
          <p:nvPr/>
        </p:nvSpPr>
        <p:spPr>
          <a:xfrm>
            <a:off x="521109" y="369614"/>
            <a:ext cx="6096000" cy="521970"/>
          </a:xfrm>
          <a:prstGeom prst="rect">
            <a:avLst/>
          </a:prstGeom>
          <a:noFill/>
        </p:spPr>
        <p:txBody>
          <a:bodyPr wrap="square">
            <a:spAutoFit/>
          </a:bodyPr>
          <a:lstStyle/>
          <a:p>
            <a:r>
              <a:rPr lang="zh-CN" sz="2800" b="1" i="0">
                <a:solidFill>
                  <a:srgbClr val="0F1115"/>
                </a:solidFill>
                <a:effectLst/>
                <a:latin typeface="黑体" panose="02010609060101010101" charset="-122"/>
                <a:ea typeface="黑体" panose="02010609060101010101" charset="-122"/>
              </a:rPr>
              <a:t>一、</a:t>
            </a:r>
            <a:r>
              <a:rPr lang="zh-CN" altLang="en-US" sz="2800" b="1" i="0">
                <a:solidFill>
                  <a:srgbClr val="0F1115"/>
                </a:solidFill>
                <a:effectLst/>
                <a:latin typeface="黑体" panose="02010609060101010101" charset="-122"/>
                <a:ea typeface="黑体" panose="02010609060101010101" charset="-122"/>
              </a:rPr>
              <a:t>生活史和生活史对策的定义</a:t>
            </a:r>
            <a:endParaRPr lang="zh-CN" altLang="en-US" sz="2800" b="1">
              <a:latin typeface="黑体" panose="02010609060101010101" charset="-122"/>
              <a:ea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247035" y="846905"/>
          <a:ext cx="11697929" cy="5811800"/>
        </p:xfrm>
        <a:graphic>
          <a:graphicData uri="http://schemas.openxmlformats.org/drawingml/2006/table">
            <a:tbl>
              <a:tblPr/>
              <a:tblGrid>
                <a:gridCol w="2329017">
                  <a:extLst>
                    <a:ext uri="{9D8B030D-6E8A-4147-A177-3AD203B41FA5}">
                      <a16:colId xmlns:a16="http://schemas.microsoft.com/office/drawing/2014/main" val="20000"/>
                    </a:ext>
                  </a:extLst>
                </a:gridCol>
                <a:gridCol w="5316688">
                  <a:extLst>
                    <a:ext uri="{9D8B030D-6E8A-4147-A177-3AD203B41FA5}">
                      <a16:colId xmlns:a16="http://schemas.microsoft.com/office/drawing/2014/main" val="20001"/>
                    </a:ext>
                  </a:extLst>
                </a:gridCol>
                <a:gridCol w="4052224">
                  <a:extLst>
                    <a:ext uri="{9D8B030D-6E8A-4147-A177-3AD203B41FA5}">
                      <a16:colId xmlns:a16="http://schemas.microsoft.com/office/drawing/2014/main" val="20002"/>
                    </a:ext>
                  </a:extLst>
                </a:gridCol>
              </a:tblGrid>
              <a:tr h="469883">
                <a:tc>
                  <a:txBody>
                    <a:bodyPr/>
                    <a:lstStyle/>
                    <a:p>
                      <a:pPr marL="0" algn="l" defTabSz="914400" rtl="0" eaLnBrk="1" latinLnBrk="0" hangingPunct="1">
                        <a:lnSpc>
                          <a:spcPct val="100000"/>
                        </a:lnSpc>
                        <a:buNone/>
                      </a:pPr>
                      <a:endPar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选择</a:t>
                      </a:r>
                    </a:p>
                  </a:txBody>
                  <a:tcPr marL="121920"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0" hangingPunct="1">
                        <a:lnSpc>
                          <a:spcPct val="100000"/>
                        </a:lnSpc>
                        <a:buNone/>
                      </a:pPr>
                      <a:r>
                        <a:rPr 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选择</a:t>
                      </a:r>
                    </a:p>
                  </a:txBody>
                  <a:tcPr marL="121920"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69883">
                <a:tc>
                  <a:txBody>
                    <a:bodyPr/>
                    <a:lstStyle/>
                    <a:p>
                      <a:pPr marL="0" algn="ctr"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气候</a:t>
                      </a:r>
                    </a:p>
                  </a:txBody>
                  <a:tcPr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多变的、不确定的、难以预测的</a:t>
                      </a:r>
                    </a:p>
                  </a:txBody>
                  <a:tcPr marL="121920"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稳定、可预测、较确定</a:t>
                      </a:r>
                    </a:p>
                  </a:txBody>
                  <a:tcPr marL="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9883">
                <a:tc>
                  <a:txBody>
                    <a:bodyPr/>
                    <a:lstStyle/>
                    <a:p>
                      <a:pPr marL="0" algn="ctr"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死亡率</a:t>
                      </a:r>
                    </a:p>
                  </a:txBody>
                  <a:tcPr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常是灾难性的、无规律、非密度制约</a:t>
                      </a:r>
                    </a:p>
                  </a:txBody>
                  <a:tcPr marL="121920"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比较有规律、受密度制约</a:t>
                      </a:r>
                    </a:p>
                  </a:txBody>
                  <a:tcPr marL="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9883">
                <a:tc>
                  <a:txBody>
                    <a:bodyPr/>
                    <a:lstStyle/>
                    <a:p>
                      <a:pPr marL="0" algn="ctr"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存活</a:t>
                      </a:r>
                    </a:p>
                  </a:txBody>
                  <a:tcPr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存活曲线</a:t>
                      </a:r>
                      <a:r>
                        <a:rPr lang="en-US" altLang="zh-CN" sz="2200" b="1" kern="1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en-US" sz="2200" b="1" kern="1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型（Ⅲ</a:t>
                      </a:r>
                      <a:r>
                        <a:rPr lang="zh-CN" altLang="en-US" sz="2200" b="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型</a:t>
                      </a:r>
                      <a:r>
                        <a:rPr lang="zh-CN" altLang="en-US" sz="2200" b="1" kern="1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，幼体存活率低</a:t>
                      </a:r>
                    </a:p>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时间上变动大，不稳定</a:t>
                      </a:r>
                    </a:p>
                  </a:txBody>
                  <a:tcPr marL="121920"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存活曲线</a:t>
                      </a:r>
                      <a:r>
                        <a:rPr lang="en-US" altLang="zh-CN" sz="2200" b="1" kern="1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b="1" kern="1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kern="1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b="1" kern="1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型</a:t>
                      </a:r>
                      <a:r>
                        <a:rPr lang="zh-CN" altLang="en-US" sz="2200" b="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2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sym typeface="+mn-ea"/>
                        </a:rPr>
                        <a:t>Ⅰ、Ⅱ</a:t>
                      </a:r>
                      <a:r>
                        <a:rPr lang="zh-CN" altLang="en-US" sz="2200" b="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型）</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，幼体存活率高，时间上稳定</a:t>
                      </a:r>
                    </a:p>
                  </a:txBody>
                  <a:tcPr marL="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9883">
                <a:tc>
                  <a:txBody>
                    <a:bodyPr/>
                    <a:lstStyle/>
                    <a:p>
                      <a:pPr marL="0" algn="ctr"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种群大小</a:t>
                      </a:r>
                    </a:p>
                  </a:txBody>
                  <a:tcPr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不稳定，通常低于环境容纳量</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p>
                  </a:txBody>
                  <a:tcPr marL="121920"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稳定，通常在</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值附近</a:t>
                      </a:r>
                    </a:p>
                  </a:txBody>
                  <a:tcPr marL="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9883">
                <a:tc>
                  <a:txBody>
                    <a:bodyPr/>
                    <a:lstStyle/>
                    <a:p>
                      <a:pPr marL="0" algn="ctr"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种类、种间竞争</a:t>
                      </a:r>
                    </a:p>
                  </a:txBody>
                  <a:tcPr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多变，通常不紧张</a:t>
                      </a:r>
                    </a:p>
                  </a:txBody>
                  <a:tcPr marL="121920"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经常保持紧张</a:t>
                      </a:r>
                    </a:p>
                  </a:txBody>
                  <a:tcPr marL="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035522">
                <a:tc>
                  <a:txBody>
                    <a:bodyPr/>
                    <a:lstStyle/>
                    <a:p>
                      <a:pPr marL="0" algn="ctr"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选择倾向</a:t>
                      </a:r>
                    </a:p>
                  </a:txBody>
                  <a:tcPr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发育快；</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增长力高；</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提早生育；</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体型小；</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单次生殖（</a:t>
                      </a:r>
                      <a:r>
                        <a:rPr lang="zh-CN" altLang="en-US" sz="2200" b="1" kern="1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一生中</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121920"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发育缓慢；</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竞争力高；</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延迟生育；</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体型大；</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多次生殖</a:t>
                      </a:r>
                    </a:p>
                  </a:txBody>
                  <a:tcPr marL="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757459">
                <a:tc>
                  <a:txBody>
                    <a:bodyPr/>
                    <a:lstStyle/>
                    <a:p>
                      <a:pPr marL="0" algn="ctr"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寿命</a:t>
                      </a:r>
                    </a:p>
                  </a:txBody>
                  <a:tcPr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短，通常小于</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年</a:t>
                      </a:r>
                    </a:p>
                  </a:txBody>
                  <a:tcPr marL="121920"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长，通常大于</a:t>
                      </a:r>
                      <a:r>
                        <a:rPr lang="en-US" altLang="zh-CN"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年</a:t>
                      </a:r>
                    </a:p>
                  </a:txBody>
                  <a:tcPr marL="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757459">
                <a:tc>
                  <a:txBody>
                    <a:bodyPr/>
                    <a:lstStyle/>
                    <a:p>
                      <a:pPr marL="0" algn="ctr" defTabSz="914400" rtl="0" eaLnBrk="1" latinLnBrk="0" hangingPunct="1">
                        <a:lnSpc>
                          <a:spcPct val="100000"/>
                        </a:lnSpc>
                        <a:buNone/>
                      </a:pPr>
                      <a:r>
                        <a:rPr lang="zh-CN" altLang="en-US" sz="2200" b="1" kern="12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最终结果</a:t>
                      </a:r>
                    </a:p>
                  </a:txBody>
                  <a:tcPr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高繁殖力，更易形成新物种</a:t>
                      </a:r>
                    </a:p>
                  </a:txBody>
                  <a:tcPr marL="121920" marR="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lnSpc>
                          <a:spcPct val="100000"/>
                        </a:lnSpc>
                        <a:buNone/>
                      </a:pPr>
                      <a:r>
                        <a:rPr lang="zh-CN" altLang="en-US" sz="2200" b="1" kern="1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高存活力，破坏后恢复困难</a:t>
                      </a:r>
                    </a:p>
                  </a:txBody>
                  <a:tcPr marL="12192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 name="文本框 1"/>
          <p:cNvSpPr txBox="1"/>
          <p:nvPr/>
        </p:nvSpPr>
        <p:spPr>
          <a:xfrm>
            <a:off x="-98324" y="230308"/>
            <a:ext cx="6096000" cy="521970"/>
          </a:xfrm>
          <a:prstGeom prst="rect">
            <a:avLst/>
          </a:prstGeom>
          <a:noFill/>
        </p:spPr>
        <p:txBody>
          <a:bodyPr wrap="square">
            <a:spAutoFit/>
          </a:bodyPr>
          <a:lstStyle/>
          <a:p>
            <a:pPr algn="ctr"/>
            <a:r>
              <a:rPr lang="zh-CN" altLang="en-US" sz="2800" b="1">
                <a:latin typeface="黑体" panose="02010609060101010101" charset="-122"/>
                <a:ea typeface="黑体" panose="02010609060101010101" charset="-122"/>
              </a:rPr>
              <a:t>二、</a:t>
            </a:r>
            <a:r>
              <a:rPr lang="en-US" altLang="zh-CN" sz="2800" b="1">
                <a:latin typeface="黑体" panose="02010609060101010101" charset="-122"/>
                <a:ea typeface="黑体" panose="02010609060101010101" charset="-122"/>
              </a:rPr>
              <a:t>r-</a:t>
            </a:r>
            <a:r>
              <a:rPr lang="zh-CN" altLang="en-US" sz="2800" b="1">
                <a:latin typeface="黑体" panose="02010609060101010101" charset="-122"/>
                <a:ea typeface="黑体" panose="02010609060101010101" charset="-122"/>
              </a:rPr>
              <a:t>选择和</a:t>
            </a:r>
            <a:r>
              <a:rPr lang="en-US" altLang="zh-CN" sz="2800" b="1">
                <a:latin typeface="黑体" panose="02010609060101010101" charset="-122"/>
                <a:ea typeface="黑体" panose="02010609060101010101" charset="-122"/>
              </a:rPr>
              <a:t>K-</a:t>
            </a:r>
            <a:r>
              <a:rPr lang="zh-CN" altLang="en-US" sz="2800" b="1">
                <a:latin typeface="黑体" panose="02010609060101010101" charset="-122"/>
                <a:ea typeface="黑体" panose="02010609060101010101" charset="-122"/>
              </a:rPr>
              <a:t>选择相关特征的比较</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1030" y="536139"/>
            <a:ext cx="6609940" cy="578572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98324" y="230308"/>
            <a:ext cx="6096000" cy="521970"/>
          </a:xfrm>
          <a:prstGeom prst="rect">
            <a:avLst/>
          </a:prstGeom>
          <a:noFill/>
        </p:spPr>
        <p:txBody>
          <a:bodyPr wrap="square">
            <a:spAutoFit/>
          </a:bodyPr>
          <a:lstStyle/>
          <a:p>
            <a:pPr algn="ctr"/>
            <a:r>
              <a:rPr lang="zh-CN" sz="2800" b="1">
                <a:latin typeface="黑体" panose="02010609060101010101" charset="-122"/>
                <a:ea typeface="黑体" panose="02010609060101010101" charset="-122"/>
              </a:rPr>
              <a:t>二、</a:t>
            </a:r>
            <a:r>
              <a:rPr lang="en-US" altLang="zh-CN" sz="2800" b="1">
                <a:latin typeface="黑体" panose="02010609060101010101" charset="-122"/>
                <a:ea typeface="黑体" panose="02010609060101010101" charset="-122"/>
              </a:rPr>
              <a:t>r-</a:t>
            </a:r>
            <a:r>
              <a:rPr lang="zh-CN" altLang="en-US" sz="2800" b="1">
                <a:latin typeface="黑体" panose="02010609060101010101" charset="-122"/>
                <a:ea typeface="黑体" panose="02010609060101010101" charset="-122"/>
              </a:rPr>
              <a:t>选择和</a:t>
            </a:r>
            <a:r>
              <a:rPr lang="en-US" altLang="zh-CN" sz="2800" b="1">
                <a:latin typeface="黑体" panose="02010609060101010101" charset="-122"/>
                <a:ea typeface="黑体" panose="02010609060101010101" charset="-122"/>
              </a:rPr>
              <a:t>K-</a:t>
            </a:r>
            <a:r>
              <a:rPr lang="zh-CN" altLang="en-US" sz="2800" b="1">
                <a:latin typeface="黑体" panose="02010609060101010101" charset="-122"/>
                <a:ea typeface="黑体" panose="02010609060101010101" charset="-122"/>
              </a:rPr>
              <a:t>选择相关特征的比较</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p:nvPr/>
        </p:nvSpPr>
        <p:spPr>
          <a:xfrm>
            <a:off x="346710" y="1141095"/>
            <a:ext cx="11497945" cy="43840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两种类型对策者的优缺点：</a:t>
            </a:r>
          </a:p>
          <a:p>
            <a:pPr marL="0" indent="0">
              <a:lnSpc>
                <a:spcPct val="130000"/>
              </a:lnSpc>
              <a:buNone/>
            </a:pPr>
            <a:r>
              <a:rPr lang="en-US" altLang="zh-CN" b="1">
                <a:latin typeface="Times New Roman" panose="02020603050405020304" pitchFamily="18" charset="0"/>
                <a:ea typeface="宋体" panose="02010600030101010101" pitchFamily="2" charset="-122"/>
                <a:cs typeface="Times New Roman" panose="02020603050405020304" pitchFamily="18" charset="0"/>
              </a:rPr>
              <a:t>        K-</a:t>
            </a:r>
            <a:r>
              <a:rPr lang="zh-CN" altLang="en-US" b="1">
                <a:latin typeface="Times New Roman" panose="02020603050405020304" pitchFamily="18" charset="0"/>
                <a:ea typeface="宋体" panose="02010600030101010101" pitchFamily="2" charset="-122"/>
                <a:cs typeface="Times New Roman" panose="02020603050405020304" pitchFamily="18" charset="0"/>
              </a:rPr>
              <a:t>对策种群竞争性强，数量较稳定，一般稳定在</a:t>
            </a:r>
            <a:r>
              <a:rPr lang="en-US" altLang="zh-CN" b="1">
                <a:latin typeface="Times New Roman" panose="02020603050405020304" pitchFamily="18" charset="0"/>
                <a:ea typeface="宋体" panose="02010600030101010101" pitchFamily="2" charset="-122"/>
                <a:cs typeface="Times New Roman" panose="02020603050405020304" pitchFamily="18" charset="0"/>
              </a:rPr>
              <a:t>K</a:t>
            </a:r>
            <a:r>
              <a:rPr lang="zh-CN" altLang="en-US" b="1">
                <a:latin typeface="Times New Roman" panose="02020603050405020304" pitchFamily="18" charset="0"/>
                <a:ea typeface="宋体" panose="02010600030101010101" pitchFamily="2" charset="-122"/>
                <a:cs typeface="Times New Roman" panose="02020603050405020304" pitchFamily="18" charset="0"/>
              </a:rPr>
              <a:t>附近，大量死亡或导致生境退化的可能性较小。但一旦受危害造成种群数量下降，由于其低</a:t>
            </a:r>
            <a:r>
              <a:rPr lang="en-US" altLang="zh-CN" b="1">
                <a:latin typeface="Times New Roman" panose="02020603050405020304" pitchFamily="18" charset="0"/>
                <a:ea typeface="宋体" panose="02010600030101010101" pitchFamily="2" charset="-122"/>
                <a:cs typeface="Times New Roman" panose="02020603050405020304" pitchFamily="18" charset="0"/>
              </a:rPr>
              <a:t>r</a:t>
            </a:r>
            <a:r>
              <a:rPr lang="zh-CN" altLang="en-US" b="1">
                <a:latin typeface="Times New Roman" panose="02020603050405020304" pitchFamily="18" charset="0"/>
                <a:ea typeface="宋体" panose="02010600030101010101" pitchFamily="2" charset="-122"/>
                <a:cs typeface="Times New Roman" panose="02020603050405020304" pitchFamily="18" charset="0"/>
              </a:rPr>
              <a:t>值种群恢复比较困难。</a:t>
            </a:r>
          </a:p>
          <a:p>
            <a:pPr marL="0" indent="0">
              <a:lnSpc>
                <a:spcPct val="130000"/>
              </a:lnSpc>
              <a:buNone/>
            </a:pPr>
            <a:r>
              <a:rPr lang="en-US" altLang="zh-CN" b="1">
                <a:latin typeface="Times New Roman" panose="02020603050405020304" pitchFamily="18" charset="0"/>
                <a:ea typeface="宋体" panose="02010600030101010101" pitchFamily="2" charset="-122"/>
                <a:cs typeface="Times New Roman" panose="02020603050405020304" pitchFamily="18" charset="0"/>
              </a:rPr>
              <a:t>        r-</a:t>
            </a:r>
            <a:r>
              <a:rPr lang="zh-CN" altLang="en-US" b="1">
                <a:latin typeface="Times New Roman" panose="02020603050405020304" pitchFamily="18" charset="0"/>
                <a:ea typeface="宋体" panose="02010600030101010101" pitchFamily="2" charset="-122"/>
                <a:cs typeface="Times New Roman" panose="02020603050405020304" pitchFamily="18" charset="0"/>
              </a:rPr>
              <a:t>对策者死亡率高，但高</a:t>
            </a:r>
            <a:r>
              <a:rPr lang="en-US" altLang="zh-CN" b="1">
                <a:latin typeface="Times New Roman" panose="02020603050405020304" pitchFamily="18" charset="0"/>
                <a:ea typeface="宋体" panose="02010600030101010101" pitchFamily="2" charset="-122"/>
                <a:cs typeface="Times New Roman" panose="02020603050405020304" pitchFamily="18" charset="0"/>
              </a:rPr>
              <a:t>r</a:t>
            </a:r>
            <a:r>
              <a:rPr lang="zh-CN" altLang="en-US" b="1">
                <a:latin typeface="Times New Roman" panose="02020603050405020304" pitchFamily="18" charset="0"/>
                <a:ea typeface="宋体" panose="02010600030101010101" pitchFamily="2" charset="-122"/>
                <a:cs typeface="Times New Roman" panose="02020603050405020304" pitchFamily="18" charset="0"/>
              </a:rPr>
              <a:t>值使其种群能迅速恢复，而且高扩展能力还可使其迅速离开恶化的生境，在其它地方建立新的种群。 </a:t>
            </a:r>
            <a:r>
              <a:rPr lang="en-US" altLang="zh-CN" b="1">
                <a:latin typeface="Times New Roman" panose="02020603050405020304" pitchFamily="18" charset="0"/>
                <a:ea typeface="宋体" panose="02010600030101010101" pitchFamily="2" charset="-122"/>
                <a:cs typeface="Times New Roman" panose="02020603050405020304" pitchFamily="18" charset="0"/>
              </a:rPr>
              <a:t>r-</a:t>
            </a:r>
            <a:r>
              <a:rPr lang="zh-CN" altLang="en-US" b="1">
                <a:latin typeface="Times New Roman" panose="02020603050405020304" pitchFamily="18" charset="0"/>
                <a:ea typeface="宋体" panose="02010600030101010101" pitchFamily="2" charset="-122"/>
                <a:cs typeface="Times New Roman" panose="02020603050405020304" pitchFamily="18" charset="0"/>
              </a:rPr>
              <a:t>对策者的高死亡率、高运动性和连续地面临新局面，更有</a:t>
            </a:r>
            <a:r>
              <a:rPr lang="zh-CN" altLang="en-US"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利于形成新物种</a:t>
            </a:r>
            <a:r>
              <a:rPr lang="zh-CN" altLang="en-US" b="1">
                <a:latin typeface="Times New Roman" panose="02020603050405020304" pitchFamily="18" charset="0"/>
                <a:ea typeface="宋体" panose="02010600030101010101" pitchFamily="2" charset="-122"/>
                <a:cs typeface="Times New Roman" panose="02020603050405020304" pitchFamily="18" charset="0"/>
              </a:rPr>
              <a:t>。</a:t>
            </a:r>
          </a:p>
          <a:p>
            <a:pPr marL="0" indent="0">
              <a:buNone/>
            </a:pP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文本框 1"/>
          <p:cNvSpPr txBox="1"/>
          <p:nvPr/>
        </p:nvSpPr>
        <p:spPr>
          <a:xfrm>
            <a:off x="-98324" y="230308"/>
            <a:ext cx="6096000" cy="521970"/>
          </a:xfrm>
          <a:prstGeom prst="rect">
            <a:avLst/>
          </a:prstGeom>
          <a:noFill/>
        </p:spPr>
        <p:txBody>
          <a:bodyPr wrap="square">
            <a:spAutoFit/>
          </a:bodyPr>
          <a:lstStyle/>
          <a:p>
            <a:pPr algn="ctr"/>
            <a:r>
              <a:rPr lang="zh-CN" sz="2800" b="1">
                <a:latin typeface="黑体" panose="02010609060101010101" charset="-122"/>
                <a:ea typeface="黑体" panose="02010609060101010101" charset="-122"/>
              </a:rPr>
              <a:t>二、</a:t>
            </a:r>
            <a:r>
              <a:rPr lang="en-US" altLang="zh-CN" sz="2800" b="1">
                <a:latin typeface="黑体" panose="02010609060101010101" charset="-122"/>
                <a:ea typeface="黑体" panose="02010609060101010101" charset="-122"/>
              </a:rPr>
              <a:t>r-</a:t>
            </a:r>
            <a:r>
              <a:rPr lang="zh-CN" altLang="en-US" sz="2800" b="1">
                <a:latin typeface="黑体" panose="02010609060101010101" charset="-122"/>
                <a:ea typeface="黑体" panose="02010609060101010101" charset="-122"/>
              </a:rPr>
              <a:t>选择和</a:t>
            </a:r>
            <a:r>
              <a:rPr lang="en-US" altLang="zh-CN" sz="2800" b="1">
                <a:latin typeface="黑体" panose="02010609060101010101" charset="-122"/>
                <a:ea typeface="黑体" panose="02010609060101010101" charset="-122"/>
              </a:rPr>
              <a:t>K-</a:t>
            </a:r>
            <a:r>
              <a:rPr lang="zh-CN" altLang="en-US" sz="2800" b="1">
                <a:latin typeface="黑体" panose="02010609060101010101" charset="-122"/>
                <a:ea typeface="黑体" panose="02010609060101010101" charset="-122"/>
              </a:rPr>
              <a:t>选择相关特征的比较</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p:nvPr/>
        </p:nvSpPr>
        <p:spPr>
          <a:xfrm>
            <a:off x="375622" y="571551"/>
            <a:ext cx="10911809" cy="5184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2014</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年全国联赛试题）</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选择与 </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K-</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选择是种群增长的两个基本对策，下面说法中哪些是错误的</a:t>
            </a:r>
            <a:br>
              <a:rPr lang="zh-CN" altLang="en-US" sz="2400" b="1">
                <a:latin typeface="Times New Roman" panose="02020603050405020304" pitchFamily="18" charset="0"/>
                <a:ea typeface="宋体" panose="02010600030101010101" pitchFamily="2" charset="-122"/>
                <a:cs typeface="Times New Roman" panose="02020603050405020304" pitchFamily="18" charset="0"/>
              </a:rPr>
            </a:b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A.K-</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对策者种群数量通常接近其环境容纳量，而 </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对策者其种群数量通常处于增长阶段</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spcBef>
                <a:spcPts val="0"/>
              </a:spcBef>
              <a:buNone/>
            </a:pP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spcBef>
                <a:spcPts val="0"/>
              </a:spcBef>
              <a:buNone/>
            </a:pP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D. K-</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对策者通常具有较长的寿命，而 </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对策者通常寿命较短</a:t>
            </a:r>
            <a:br>
              <a:rPr lang="zh-CN" altLang="en-US" sz="2400" b="1">
                <a:latin typeface="Times New Roman" panose="02020603050405020304" pitchFamily="18" charset="0"/>
                <a:ea typeface="宋体" panose="02010600030101010101" pitchFamily="2" charset="-122"/>
                <a:cs typeface="Times New Roman" panose="02020603050405020304" pitchFamily="18" charset="0"/>
              </a:rPr>
            </a:br>
            <a:r>
              <a:rPr lang="zh-CN" altLang="en-US" sz="2400" b="1">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6" name="文本框 5"/>
          <p:cNvSpPr txBox="1"/>
          <p:nvPr/>
        </p:nvSpPr>
        <p:spPr>
          <a:xfrm>
            <a:off x="610598" y="3200809"/>
            <a:ext cx="10363200" cy="1198880"/>
          </a:xfrm>
          <a:prstGeom prst="rect">
            <a:avLst/>
          </a:prstGeom>
          <a:noFill/>
        </p:spPr>
        <p:txBody>
          <a:bodyPr wrap="square">
            <a:spAutoFit/>
          </a:bodyPr>
          <a:lstStyle/>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B. r-</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对策者通常体型较大，以适应高的繁殖率</a:t>
            </a:r>
            <a:br>
              <a:rPr lang="zh-CN" altLang="en-US" sz="2400" b="1">
                <a:latin typeface="Times New Roman" panose="02020603050405020304" pitchFamily="18" charset="0"/>
                <a:ea typeface="宋体" panose="02010600030101010101" pitchFamily="2" charset="-122"/>
                <a:cs typeface="Times New Roman" panose="02020603050405020304" pitchFamily="18" charset="0"/>
              </a:rPr>
            </a:br>
            <a:r>
              <a:rPr lang="zh-CN" altLang="en-US" sz="2400" b="1">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C. K-</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对策者繁殖时间较早，从而可以使种群数量迅速接近环境容纳量</a:t>
            </a:r>
            <a:endParaRPr lang="zh-CN" altLang="en-US" sz="240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FF0000"/>
                                      </p:to>
                                    </p:animClr>
                                    <p:animClr clrSpc="rgb" dir="cw">
                                      <p:cBhvr>
                                        <p:cTn id="7" dur="500" fill="hold"/>
                                        <p:tgtEl>
                                          <p:spTgt spid="6">
                                            <p:txEl>
                                              <p:pRg st="0" end="0"/>
                                            </p:txEl>
                                          </p:spTgt>
                                        </p:tgtEl>
                                        <p:attrNameLst>
                                          <p:attrName>fillcolor</p:attrName>
                                        </p:attrNameLst>
                                      </p:cBhvr>
                                      <p:to>
                                        <a:srgbClr val="FF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p:nvPr/>
        </p:nvSpPr>
        <p:spPr>
          <a:xfrm>
            <a:off x="641504" y="646778"/>
            <a:ext cx="10881902" cy="56262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a:solidFill>
                  <a:srgbClr val="CC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2017</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年全国联赛试题）生态对策是物种在生存斗争中基于不同环境限制下的生活史或行为模式及其进化趋向。对于</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K-</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对策者而言，以下哪个方面不是其表现： </a:t>
            </a:r>
          </a:p>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A.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面临的捕食压力通常较小 </a:t>
            </a:r>
          </a:p>
          <a:p>
            <a:pPr marL="0" indent="0">
              <a:lnSpc>
                <a:spcPct val="150000"/>
              </a:lnSpc>
              <a:spcBef>
                <a:spcPts val="0"/>
              </a:spcBef>
              <a:buNone/>
            </a:pP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C.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繁殖能力通常较低　</a:t>
            </a:r>
          </a:p>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D.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进化方向趋向于高存活</a:t>
            </a:r>
          </a:p>
          <a:p>
            <a:pPr marL="0" indent="0">
              <a:lnSpc>
                <a:spcPct val="150000"/>
              </a:lnSpc>
              <a:spcBef>
                <a:spcPts val="0"/>
              </a:spcBef>
              <a:buNone/>
            </a:pPr>
            <a:endParaRPr lang="zh-CN" altLang="en-US" sz="2400" b="1">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spcBef>
                <a:spcPts val="0"/>
              </a:spcBef>
              <a:buNone/>
            </a:pPr>
            <a:endParaRPr lang="zh-CN" altLang="en-US" sz="2400">
              <a:solidFill>
                <a:srgbClr val="CC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658762" y="2833088"/>
            <a:ext cx="6096000" cy="576248"/>
          </a:xfrm>
          <a:prstGeom prst="rect">
            <a:avLst/>
          </a:prstGeom>
          <a:noFill/>
        </p:spPr>
        <p:txBody>
          <a:bodyPr wrap="square">
            <a:spAutoFit/>
          </a:bodyPr>
          <a:lstStyle/>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发育速度通常较快</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FF0000"/>
                                      </p:to>
                                    </p:animClr>
                                    <p:animClr clrSpc="rgb" dir="cw">
                                      <p:cBhvr>
                                        <p:cTn id="7" dur="500" fill="hold"/>
                                        <p:tgtEl>
                                          <p:spTgt spid="6">
                                            <p:txEl>
                                              <p:pRg st="0" end="0"/>
                                            </p:txEl>
                                          </p:spTgt>
                                        </p:tgtEl>
                                        <p:attrNameLst>
                                          <p:attrName>fillcolor</p:attrName>
                                        </p:attrNameLst>
                                      </p:cBhvr>
                                      <p:to>
                                        <a:srgbClr val="FF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p:nvPr/>
        </p:nvSpPr>
        <p:spPr>
          <a:xfrm>
            <a:off x="638481" y="450133"/>
            <a:ext cx="10904589" cy="58425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2017</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年全国联赛试题）享用共同资源的两个物种体重相似，其中高代谢率者与低代谢率者相比，下列叙述正确的是（单选，</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分）</a:t>
            </a:r>
          </a:p>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A.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内禀增长率小 </a:t>
            </a:r>
          </a:p>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B.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生长速率慢 </a:t>
            </a:r>
          </a:p>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C.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世代周期长 </a:t>
            </a:r>
          </a:p>
          <a:p>
            <a:pPr marL="0" indent="0">
              <a:lnSpc>
                <a:spcPct val="150000"/>
              </a:lnSpc>
              <a:spcBef>
                <a:spcPts val="0"/>
              </a:spcBef>
              <a:buNone/>
            </a:pPr>
            <a:endParaRPr lang="zh-CN" altLang="en-US" sz="2400">
              <a:solidFill>
                <a:srgbClr val="0066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638481" y="3232355"/>
            <a:ext cx="11052074" cy="576248"/>
          </a:xfrm>
          <a:prstGeom prst="rect">
            <a:avLst/>
          </a:prstGeom>
          <a:noFill/>
        </p:spPr>
        <p:txBody>
          <a:bodyPr wrap="square">
            <a:spAutoFit/>
          </a:bodyPr>
          <a:lstStyle/>
          <a:p>
            <a:pPr marL="0" indent="0">
              <a:lnSpc>
                <a:spcPct val="150000"/>
              </a:lnSpc>
              <a:spcBef>
                <a:spcPts val="0"/>
              </a:spcBef>
              <a:buNone/>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D.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种群波动大</a:t>
            </a:r>
          </a:p>
        </p:txBody>
      </p:sp>
      <p:sp>
        <p:nvSpPr>
          <p:cNvPr id="8" name="文本框 7"/>
          <p:cNvSpPr txBox="1"/>
          <p:nvPr/>
        </p:nvSpPr>
        <p:spPr>
          <a:xfrm>
            <a:off x="648929" y="3987869"/>
            <a:ext cx="10667999" cy="1130246"/>
          </a:xfrm>
          <a:prstGeom prst="rect">
            <a:avLst/>
          </a:prstGeom>
          <a:noFill/>
        </p:spPr>
        <p:txBody>
          <a:bodyPr wrap="square">
            <a:spAutoFit/>
          </a:bodyPr>
          <a:lstStyle/>
          <a:p>
            <a:pPr marL="0" indent="0">
              <a:lnSpc>
                <a:spcPct val="150000"/>
              </a:lnSpc>
              <a:spcBef>
                <a:spcPts val="0"/>
              </a:spcBef>
              <a:buNone/>
            </a:pPr>
            <a:r>
              <a:rPr lang="zh-CN" altLang="en-US" sz="2400" b="1">
                <a:solidFill>
                  <a:srgbClr val="0066FF"/>
                </a:solidFill>
                <a:latin typeface="Times New Roman" panose="02020603050405020304" pitchFamily="18" charset="0"/>
                <a:ea typeface="宋体" panose="02010600030101010101" pitchFamily="2" charset="-122"/>
                <a:cs typeface="Times New Roman" panose="02020603050405020304" pitchFamily="18" charset="0"/>
              </a:rPr>
              <a:t>（生物体越小，代谢活动水平越高。高代谢率者内禀增长率高，生长速度快，世代周期短，属</a:t>
            </a:r>
            <a:r>
              <a:rPr lang="en-US" altLang="zh-CN" sz="2400" b="1">
                <a:solidFill>
                  <a:srgbClr val="0066FF"/>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b="1">
                <a:solidFill>
                  <a:srgbClr val="0066FF"/>
                </a:solidFill>
                <a:latin typeface="Times New Roman" panose="02020603050405020304" pitchFamily="18" charset="0"/>
                <a:ea typeface="宋体" panose="02010600030101010101" pitchFamily="2" charset="-122"/>
                <a:cs typeface="Times New Roman" panose="02020603050405020304" pitchFamily="18" charset="0"/>
              </a:rPr>
              <a:t>对策者，故种群波动大。）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FF0000"/>
                                      </p:to>
                                    </p:animClr>
                                    <p:animClr clrSpc="rgb" dir="cw">
                                      <p:cBhvr>
                                        <p:cTn id="7" dur="500" fill="hold"/>
                                        <p:tgtEl>
                                          <p:spTgt spid="6">
                                            <p:txEl>
                                              <p:pRg st="0" end="0"/>
                                            </p:txEl>
                                          </p:spTgt>
                                        </p:tgtEl>
                                        <p:attrNameLst>
                                          <p:attrName>fillcolor</p:attrName>
                                        </p:attrNameLst>
                                      </p:cBhvr>
                                      <p:to>
                                        <a:srgbClr val="FF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p:nvPr/>
        </p:nvSpPr>
        <p:spPr>
          <a:xfrm>
            <a:off x="526025" y="560900"/>
            <a:ext cx="10712246" cy="5073650"/>
          </a:xfrm>
          <a:prstGeom prst="rect">
            <a:avLst/>
          </a:prstGeom>
        </p:spPr>
        <p:txBody>
          <a:bodyPr vert="horz" lIns="91440" tIns="45720" rIns="91440" bIns="45720" rtlCol="0">
            <a:normAutofit fontScale="9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altLang="zh-CN" sz="3110" b="1">
                <a:latin typeface="Times New Roman" panose="02020603050405020304" pitchFamily="18" charset="0"/>
                <a:ea typeface="宋体" panose="02010600030101010101" pitchFamily="2" charset="-122"/>
                <a:cs typeface="Times New Roman" panose="02020603050405020304" pitchFamily="18" charset="0"/>
              </a:rPr>
              <a:t>4.</a:t>
            </a:r>
            <a:r>
              <a:rPr lang="zh-CN" altLang="en-US" sz="3110" b="1">
                <a:latin typeface="Times New Roman" panose="02020603050405020304" pitchFamily="18" charset="0"/>
                <a:ea typeface="宋体" panose="02010600030101010101" pitchFamily="2" charset="-122"/>
                <a:cs typeface="Times New Roman" panose="02020603050405020304" pitchFamily="18" charset="0"/>
              </a:rPr>
              <a:t>关于</a:t>
            </a:r>
            <a:r>
              <a:rPr lang="en-US" altLang="zh-CN" sz="3110" b="1">
                <a:latin typeface="Times New Roman" panose="02020603050405020304" pitchFamily="18" charset="0"/>
                <a:ea typeface="宋体" panose="02010600030101010101" pitchFamily="2" charset="-122"/>
                <a:cs typeface="Times New Roman" panose="02020603050405020304" pitchFamily="18" charset="0"/>
              </a:rPr>
              <a:t>K-</a:t>
            </a:r>
            <a:r>
              <a:rPr lang="zh-CN" altLang="en-US" sz="3110" b="1">
                <a:latin typeface="Times New Roman" panose="02020603050405020304" pitchFamily="18" charset="0"/>
                <a:ea typeface="宋体" panose="02010600030101010101" pitchFamily="2" charset="-122"/>
                <a:cs typeface="Times New Roman" panose="02020603050405020304" pitchFamily="18" charset="0"/>
              </a:rPr>
              <a:t>对策者和</a:t>
            </a:r>
            <a:r>
              <a:rPr lang="en-US" altLang="zh-CN" sz="3110" b="1">
                <a:latin typeface="Times New Roman" panose="02020603050405020304" pitchFamily="18" charset="0"/>
                <a:ea typeface="宋体" panose="02010600030101010101" pitchFamily="2" charset="-122"/>
                <a:cs typeface="Times New Roman" panose="02020603050405020304" pitchFamily="18" charset="0"/>
              </a:rPr>
              <a:t>r-</a:t>
            </a:r>
            <a:r>
              <a:rPr lang="zh-CN" altLang="en-US" sz="3110" b="1">
                <a:latin typeface="Times New Roman" panose="02020603050405020304" pitchFamily="18" charset="0"/>
                <a:ea typeface="宋体" panose="02010600030101010101" pitchFamily="2" charset="-122"/>
                <a:cs typeface="Times New Roman" panose="02020603050405020304" pitchFamily="18" charset="0"/>
              </a:rPr>
              <a:t>对策者，下列叙述正确的是</a:t>
            </a:r>
          </a:p>
          <a:p>
            <a:pPr marL="0" indent="0">
              <a:lnSpc>
                <a:spcPct val="150000"/>
              </a:lnSpc>
              <a:spcBef>
                <a:spcPts val="0"/>
              </a:spcBef>
              <a:buNone/>
            </a:pPr>
            <a:r>
              <a:rPr lang="en-US" altLang="zh-CN" sz="3110" b="1">
                <a:latin typeface="Times New Roman" panose="02020603050405020304" pitchFamily="18" charset="0"/>
                <a:ea typeface="宋体" panose="02010600030101010101" pitchFamily="2" charset="-122"/>
                <a:cs typeface="Times New Roman" panose="02020603050405020304" pitchFamily="18" charset="0"/>
              </a:rPr>
              <a:t>A.</a:t>
            </a:r>
            <a:r>
              <a:rPr lang="zh-CN" altLang="en-US" sz="3110" b="1">
                <a:latin typeface="Times New Roman" panose="02020603050405020304" pitchFamily="18" charset="0"/>
                <a:ea typeface="宋体" panose="02010600030101010101" pitchFamily="2" charset="-122"/>
                <a:cs typeface="Times New Roman" panose="02020603050405020304" pitchFamily="18" charset="0"/>
              </a:rPr>
              <a:t>当环境尚未被生物充分利用时，生物往往以</a:t>
            </a:r>
            <a:r>
              <a:rPr lang="en-US" altLang="zh-CN" sz="3110" b="1">
                <a:latin typeface="Times New Roman" panose="02020603050405020304" pitchFamily="18" charset="0"/>
                <a:ea typeface="宋体" panose="02010600030101010101" pitchFamily="2" charset="-122"/>
                <a:cs typeface="Times New Roman" panose="02020603050405020304" pitchFamily="18" charset="0"/>
              </a:rPr>
              <a:t>K-</a:t>
            </a:r>
            <a:r>
              <a:rPr lang="zh-CN" altLang="en-US" sz="3110" b="1">
                <a:latin typeface="Times New Roman" panose="02020603050405020304" pitchFamily="18" charset="0"/>
                <a:ea typeface="宋体" panose="02010600030101010101" pitchFamily="2" charset="-122"/>
                <a:cs typeface="Times New Roman" panose="02020603050405020304" pitchFamily="18" charset="0"/>
              </a:rPr>
              <a:t>对策者为主</a:t>
            </a:r>
          </a:p>
          <a:p>
            <a:pPr marL="0" indent="0">
              <a:lnSpc>
                <a:spcPct val="150000"/>
              </a:lnSpc>
              <a:spcBef>
                <a:spcPts val="0"/>
              </a:spcBef>
              <a:buNone/>
            </a:pPr>
            <a:endParaRPr lang="en-US" altLang="zh-CN" sz="3110" b="1">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spcBef>
                <a:spcPts val="0"/>
              </a:spcBef>
              <a:buNone/>
            </a:pPr>
            <a:endParaRPr lang="en-US" altLang="zh-CN" sz="3110" b="1">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spcBef>
                <a:spcPts val="0"/>
              </a:spcBef>
              <a:buNone/>
            </a:pPr>
            <a:r>
              <a:rPr lang="en-US" altLang="zh-CN" sz="3110" b="1">
                <a:latin typeface="Times New Roman" panose="02020603050405020304" pitchFamily="18" charset="0"/>
                <a:ea typeface="宋体" panose="02010600030101010101" pitchFamily="2" charset="-122"/>
                <a:cs typeface="Times New Roman" panose="02020603050405020304" pitchFamily="18" charset="0"/>
              </a:rPr>
              <a:t>D.</a:t>
            </a:r>
            <a:r>
              <a:rPr lang="zh-CN" altLang="en-US" sz="3110" b="1">
                <a:latin typeface="Times New Roman" panose="02020603050405020304" pitchFamily="18" charset="0"/>
                <a:ea typeface="宋体" panose="02010600030101010101" pitchFamily="2" charset="-122"/>
                <a:cs typeface="Times New Roman" panose="02020603050405020304" pitchFamily="18" charset="0"/>
              </a:rPr>
              <a:t>当环境已被最大限度利用时，生物往往以</a:t>
            </a:r>
            <a:r>
              <a:rPr lang="en-US" altLang="zh-CN" sz="3110" b="1">
                <a:latin typeface="Times New Roman" panose="02020603050405020304" pitchFamily="18" charset="0"/>
                <a:ea typeface="宋体" panose="02010600030101010101" pitchFamily="2" charset="-122"/>
                <a:cs typeface="Times New Roman" panose="02020603050405020304" pitchFamily="18" charset="0"/>
              </a:rPr>
              <a:t>r-</a:t>
            </a:r>
            <a:r>
              <a:rPr lang="zh-CN" altLang="en-US" sz="3110" b="1">
                <a:latin typeface="Times New Roman" panose="02020603050405020304" pitchFamily="18" charset="0"/>
                <a:ea typeface="宋体" panose="02010600030101010101" pitchFamily="2" charset="-122"/>
                <a:cs typeface="Times New Roman" panose="02020603050405020304" pitchFamily="18" charset="0"/>
              </a:rPr>
              <a:t>对策者为主</a:t>
            </a:r>
          </a:p>
          <a:p>
            <a:pPr marL="0" indent="0">
              <a:lnSpc>
                <a:spcPct val="150000"/>
              </a:lnSpc>
              <a:spcBef>
                <a:spcPts val="0"/>
              </a:spcBef>
              <a:buNone/>
            </a:pPr>
            <a:endParaRPr lang="zh-CN" altLang="en-US" sz="3110" b="1">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spcBef>
                <a:spcPts val="0"/>
              </a:spcBef>
              <a:buNone/>
            </a:pPr>
            <a:r>
              <a:rPr lang="en-US" altLang="zh-CN" b="1">
                <a:latin typeface="Times New Roman" panose="02020603050405020304" pitchFamily="18" charset="0"/>
                <a:ea typeface="宋体" panose="02010600030101010101" pitchFamily="2" charset="-122"/>
                <a:cs typeface="Times New Roman" panose="02020603050405020304" pitchFamily="18" charset="0"/>
              </a:rPr>
              <a:t>5.r-</a:t>
            </a:r>
            <a:r>
              <a:rPr lang="zh-CN" altLang="en-US" b="1">
                <a:latin typeface="Times New Roman" panose="02020603050405020304" pitchFamily="18" charset="0"/>
                <a:ea typeface="宋体" panose="02010600030101010101" pitchFamily="2" charset="-122"/>
                <a:cs typeface="Times New Roman" panose="02020603050405020304" pitchFamily="18" charset="0"/>
              </a:rPr>
              <a:t>选择者主要的特征之一是</a:t>
            </a:r>
            <a:br>
              <a:rPr lang="zh-CN" altLang="en-US" b="1">
                <a:latin typeface="Times New Roman" panose="02020603050405020304" pitchFamily="18" charset="0"/>
                <a:ea typeface="宋体" panose="02010600030101010101" pitchFamily="2" charset="-122"/>
                <a:cs typeface="Times New Roman" panose="02020603050405020304" pitchFamily="18" charset="0"/>
              </a:rPr>
            </a:br>
            <a:r>
              <a:rPr lang="en-US" altLang="zh-CN" b="1">
                <a:latin typeface="Times New Roman" panose="02020603050405020304" pitchFamily="18" charset="0"/>
                <a:ea typeface="宋体" panose="02010600030101010101" pitchFamily="2" charset="-122"/>
                <a:cs typeface="Times New Roman" panose="02020603050405020304" pitchFamily="18" charset="0"/>
              </a:rPr>
              <a:t>				B.</a:t>
            </a:r>
            <a:r>
              <a:rPr lang="zh-CN" altLang="en-US" b="1">
                <a:latin typeface="Times New Roman" panose="02020603050405020304" pitchFamily="18" charset="0"/>
                <a:ea typeface="宋体" panose="02010600030101010101" pitchFamily="2" charset="-122"/>
                <a:cs typeface="Times New Roman" panose="02020603050405020304" pitchFamily="18" charset="0"/>
              </a:rPr>
              <a:t>高</a:t>
            </a:r>
            <a:r>
              <a:rPr lang="en-US" altLang="zh-CN" b="1">
                <a:latin typeface="Times New Roman" panose="02020603050405020304" pitchFamily="18" charset="0"/>
                <a:ea typeface="宋体" panose="02010600030101010101" pitchFamily="2" charset="-122"/>
                <a:cs typeface="Times New Roman" panose="02020603050405020304" pitchFamily="18" charset="0"/>
              </a:rPr>
              <a:t>r</a:t>
            </a:r>
            <a:r>
              <a:rPr lang="zh-CN" altLang="en-US" b="1">
                <a:latin typeface="Times New Roman" panose="02020603050405020304" pitchFamily="18" charset="0"/>
                <a:ea typeface="宋体" panose="02010600030101010101" pitchFamily="2" charset="-122"/>
                <a:cs typeface="Times New Roman" panose="02020603050405020304" pitchFamily="18" charset="0"/>
              </a:rPr>
              <a:t>、低</a:t>
            </a:r>
            <a:r>
              <a:rPr lang="en-US" altLang="zh-CN" b="1">
                <a:latin typeface="Times New Roman" panose="02020603050405020304" pitchFamily="18" charset="0"/>
                <a:ea typeface="宋体" panose="02010600030101010101" pitchFamily="2" charset="-122"/>
                <a:cs typeface="Times New Roman" panose="02020603050405020304" pitchFamily="18" charset="0"/>
              </a:rPr>
              <a:t>K</a:t>
            </a:r>
          </a:p>
          <a:p>
            <a:pPr marL="0" indent="0">
              <a:lnSpc>
                <a:spcPct val="150000"/>
              </a:lnSpc>
              <a:spcBef>
                <a:spcPts val="0"/>
              </a:spcBef>
              <a:buNone/>
            </a:pPr>
            <a:r>
              <a:rPr lang="en-US" altLang="zh-CN" b="1">
                <a:latin typeface="Times New Roman" panose="02020603050405020304" pitchFamily="18" charset="0"/>
                <a:ea typeface="宋体" panose="02010600030101010101" pitchFamily="2" charset="-122"/>
                <a:cs typeface="Times New Roman" panose="02020603050405020304" pitchFamily="18" charset="0"/>
              </a:rPr>
              <a:t>C. </a:t>
            </a:r>
            <a:r>
              <a:rPr lang="zh-CN" altLang="en-US" b="1">
                <a:latin typeface="Times New Roman" panose="02020603050405020304" pitchFamily="18" charset="0"/>
                <a:ea typeface="宋体" panose="02010600030101010101" pitchFamily="2" charset="-122"/>
                <a:cs typeface="Times New Roman" panose="02020603050405020304" pitchFamily="18" charset="0"/>
              </a:rPr>
              <a:t>低</a:t>
            </a:r>
            <a:r>
              <a:rPr lang="en-US" altLang="zh-CN" b="1">
                <a:latin typeface="Times New Roman" panose="02020603050405020304" pitchFamily="18" charset="0"/>
                <a:ea typeface="宋体" panose="02010600030101010101" pitchFamily="2" charset="-122"/>
                <a:cs typeface="Times New Roman" panose="02020603050405020304" pitchFamily="18" charset="0"/>
              </a:rPr>
              <a:t>r</a:t>
            </a:r>
            <a:r>
              <a:rPr lang="zh-CN" altLang="en-US" b="1">
                <a:latin typeface="Times New Roman" panose="02020603050405020304" pitchFamily="18" charset="0"/>
                <a:ea typeface="宋体" panose="02010600030101010101" pitchFamily="2" charset="-122"/>
                <a:cs typeface="Times New Roman" panose="02020603050405020304" pitchFamily="18" charset="0"/>
              </a:rPr>
              <a:t>、低</a:t>
            </a:r>
            <a:r>
              <a:rPr lang="en-US" altLang="zh-CN" b="1">
                <a:latin typeface="Times New Roman" panose="02020603050405020304" pitchFamily="18" charset="0"/>
                <a:ea typeface="宋体" panose="02010600030101010101" pitchFamily="2" charset="-122"/>
                <a:cs typeface="Times New Roman" panose="02020603050405020304" pitchFamily="18" charset="0"/>
              </a:rPr>
              <a:t>K    		D. </a:t>
            </a:r>
            <a:r>
              <a:rPr lang="zh-CN" altLang="en-US" b="1">
                <a:latin typeface="Times New Roman" panose="02020603050405020304" pitchFamily="18" charset="0"/>
                <a:ea typeface="宋体" panose="02010600030101010101" pitchFamily="2" charset="-122"/>
                <a:cs typeface="Times New Roman" panose="02020603050405020304" pitchFamily="18" charset="0"/>
              </a:rPr>
              <a:t>低</a:t>
            </a:r>
            <a:r>
              <a:rPr lang="en-US" altLang="zh-CN" b="1">
                <a:latin typeface="Times New Roman" panose="02020603050405020304" pitchFamily="18" charset="0"/>
                <a:ea typeface="宋体" panose="02010600030101010101" pitchFamily="2" charset="-122"/>
                <a:cs typeface="Times New Roman" panose="02020603050405020304" pitchFamily="18" charset="0"/>
              </a:rPr>
              <a:t>r</a:t>
            </a:r>
            <a:r>
              <a:rPr lang="zh-CN" altLang="en-US" b="1">
                <a:latin typeface="Times New Roman" panose="02020603050405020304" pitchFamily="18" charset="0"/>
                <a:ea typeface="宋体" panose="02010600030101010101" pitchFamily="2" charset="-122"/>
                <a:cs typeface="Times New Roman" panose="02020603050405020304" pitchFamily="18" charset="0"/>
              </a:rPr>
              <a:t>、高</a:t>
            </a:r>
            <a:r>
              <a:rPr lang="en-US" altLang="zh-CN" b="1">
                <a:latin typeface="Times New Roman" panose="02020603050405020304" pitchFamily="18" charset="0"/>
                <a:ea typeface="宋体" panose="02010600030101010101" pitchFamily="2" charset="-122"/>
                <a:cs typeface="Times New Roman" panose="02020603050405020304" pitchFamily="18" charset="0"/>
              </a:rPr>
              <a:t>K</a:t>
            </a:r>
            <a:endParaRPr lang="zh-CN" altLang="en-US" b="1">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spcBef>
                <a:spcPts val="0"/>
              </a:spcBef>
              <a:buNone/>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p:cNvSpPr txBox="1"/>
          <p:nvPr/>
        </p:nvSpPr>
        <p:spPr>
          <a:xfrm>
            <a:off x="541020" y="1637665"/>
            <a:ext cx="10103485" cy="1383665"/>
          </a:xfrm>
          <a:prstGeom prst="rect">
            <a:avLst/>
          </a:prstGeom>
          <a:noFill/>
        </p:spPr>
        <p:txBody>
          <a:bodyPr wrap="square">
            <a:spAutoFit/>
          </a:bodyPr>
          <a:lstStyle/>
          <a:p>
            <a:pPr marL="0" indent="0">
              <a:lnSpc>
                <a:spcPct val="150000"/>
              </a:lnSpc>
              <a:spcBef>
                <a:spcPts val="0"/>
              </a:spcBef>
              <a:buNone/>
            </a:pPr>
            <a:r>
              <a:rPr lang="en-US" altLang="zh-CN" sz="2800" b="1">
                <a:latin typeface="Times New Roman" panose="02020603050405020304" pitchFamily="18" charset="0"/>
                <a:ea typeface="宋体" panose="02010600030101010101" pitchFamily="2" charset="-122"/>
                <a:cs typeface="Times New Roman" panose="02020603050405020304" pitchFamily="18" charset="0"/>
              </a:rPr>
              <a:t>B.</a:t>
            </a:r>
            <a:r>
              <a:rPr lang="zh-CN" altLang="en-US" sz="2800" b="1">
                <a:latin typeface="Times New Roman" panose="02020603050405020304" pitchFamily="18" charset="0"/>
                <a:ea typeface="宋体" panose="02010600030101010101" pitchFamily="2" charset="-122"/>
                <a:cs typeface="Times New Roman" panose="02020603050405020304" pitchFamily="18" charset="0"/>
              </a:rPr>
              <a:t>当环境尚未被生物充分利用时，生物往往以</a:t>
            </a:r>
            <a:r>
              <a:rPr lang="en-US" altLang="zh-CN" sz="2800" b="1">
                <a:latin typeface="Times New Roman" panose="02020603050405020304" pitchFamily="18" charset="0"/>
                <a:ea typeface="宋体" panose="02010600030101010101" pitchFamily="2" charset="-122"/>
                <a:cs typeface="Times New Roman" panose="02020603050405020304" pitchFamily="18" charset="0"/>
              </a:rPr>
              <a:t>r-</a:t>
            </a:r>
            <a:r>
              <a:rPr lang="zh-CN" altLang="en-US" sz="2800" b="1">
                <a:latin typeface="Times New Roman" panose="02020603050405020304" pitchFamily="18" charset="0"/>
                <a:ea typeface="宋体" panose="02010600030101010101" pitchFamily="2" charset="-122"/>
                <a:cs typeface="Times New Roman" panose="02020603050405020304" pitchFamily="18" charset="0"/>
              </a:rPr>
              <a:t>对策者为主</a:t>
            </a:r>
          </a:p>
          <a:p>
            <a:pPr marL="0" indent="0">
              <a:lnSpc>
                <a:spcPct val="150000"/>
              </a:lnSpc>
              <a:spcBef>
                <a:spcPts val="0"/>
              </a:spcBef>
              <a:buNone/>
            </a:pPr>
            <a:r>
              <a:rPr lang="en-US" altLang="zh-CN" sz="2800" b="1">
                <a:latin typeface="Times New Roman" panose="02020603050405020304" pitchFamily="18" charset="0"/>
                <a:ea typeface="宋体" panose="02010600030101010101" pitchFamily="2" charset="-122"/>
                <a:cs typeface="Times New Roman" panose="02020603050405020304" pitchFamily="18" charset="0"/>
              </a:rPr>
              <a:t>C.</a:t>
            </a:r>
            <a:r>
              <a:rPr lang="zh-CN" altLang="en-US" sz="2800" b="1">
                <a:latin typeface="Times New Roman" panose="02020603050405020304" pitchFamily="18" charset="0"/>
                <a:ea typeface="宋体" panose="02010600030101010101" pitchFamily="2" charset="-122"/>
                <a:cs typeface="Times New Roman" panose="02020603050405020304" pitchFamily="18" charset="0"/>
              </a:rPr>
              <a:t>当环境已被最大限度利用时，生物往往以</a:t>
            </a:r>
            <a:r>
              <a:rPr lang="en-US" altLang="zh-CN" sz="2800" b="1">
                <a:latin typeface="Times New Roman" panose="02020603050405020304" pitchFamily="18" charset="0"/>
                <a:ea typeface="宋体" panose="02010600030101010101" pitchFamily="2" charset="-122"/>
                <a:cs typeface="Times New Roman" panose="02020603050405020304" pitchFamily="18" charset="0"/>
              </a:rPr>
              <a:t>K-</a:t>
            </a:r>
            <a:r>
              <a:rPr lang="zh-CN" altLang="en-US" sz="2800" b="1">
                <a:latin typeface="Times New Roman" panose="02020603050405020304" pitchFamily="18" charset="0"/>
                <a:ea typeface="宋体" panose="02010600030101010101" pitchFamily="2" charset="-122"/>
                <a:cs typeface="Times New Roman" panose="02020603050405020304" pitchFamily="18" charset="0"/>
              </a:rPr>
              <a:t>对策者为主</a:t>
            </a:r>
          </a:p>
        </p:txBody>
      </p:sp>
      <p:sp>
        <p:nvSpPr>
          <p:cNvPr id="6" name="文本框 5"/>
          <p:cNvSpPr txBox="1"/>
          <p:nvPr/>
        </p:nvSpPr>
        <p:spPr>
          <a:xfrm>
            <a:off x="541020" y="4485640"/>
            <a:ext cx="6771640" cy="460375"/>
          </a:xfrm>
          <a:prstGeom prst="rect">
            <a:avLst/>
          </a:prstGeom>
          <a:noFill/>
        </p:spPr>
        <p:txBody>
          <a:bodyPr wrap="square">
            <a:spAutoFit/>
          </a:bodyPr>
          <a:lstStyle/>
          <a:p>
            <a:r>
              <a:rPr lang="en-US" altLang="zh-CN" sz="2400" b="1">
                <a:latin typeface="Times New Roman" panose="02020603050405020304" pitchFamily="18" charset="0"/>
                <a:ea typeface="宋体" panose="02010600030101010101" pitchFamily="2" charset="-122"/>
                <a:cs typeface="Times New Roman" panose="02020603050405020304" pitchFamily="18" charset="0"/>
              </a:rPr>
              <a:t>A.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高</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、高</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K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4">
                                            <p:txEl>
                                              <p:pRg st="0" end="0"/>
                                            </p:txEl>
                                          </p:spTgt>
                                        </p:tgtEl>
                                        <p:attrNameLst>
                                          <p:attrName>style.color</p:attrName>
                                        </p:attrNameLst>
                                      </p:cBhvr>
                                      <p:to>
                                        <a:srgbClr val="FF0000"/>
                                      </p:to>
                                    </p:animClr>
                                    <p:animClr clrSpc="rgb" dir="cw">
                                      <p:cBhvr>
                                        <p:cTn id="7" dur="500" fill="hold"/>
                                        <p:tgtEl>
                                          <p:spTgt spid="4">
                                            <p:txEl>
                                              <p:pRg st="0" end="0"/>
                                            </p:txEl>
                                          </p:spTgt>
                                        </p:tgtEl>
                                        <p:attrNameLst>
                                          <p:attrName>fillcolor</p:attrName>
                                        </p:attrNameLst>
                                      </p:cBhvr>
                                      <p:to>
                                        <a:srgbClr val="FF0000"/>
                                      </p:to>
                                    </p:animClr>
                                    <p:set>
                                      <p:cBhvr>
                                        <p:cTn id="8" dur="500" fill="hold"/>
                                        <p:tgtEl>
                                          <p:spTgt spid="4">
                                            <p:txEl>
                                              <p:pRg st="0" end="0"/>
                                            </p:txEl>
                                          </p:spTgt>
                                        </p:tgtEl>
                                        <p:attrNameLst>
                                          <p:attrName>fill.type</p:attrName>
                                        </p:attrNameLst>
                                      </p:cBhvr>
                                      <p:to>
                                        <p:strVal val="solid"/>
                                      </p:to>
                                    </p:set>
                                    <p:set>
                                      <p:cBhvr>
                                        <p:cTn id="9" dur="500" fill="hold"/>
                                        <p:tgtEl>
                                          <p:spTgt spid="4">
                                            <p:txEl>
                                              <p:pRg st="0" end="0"/>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500" fill="hold"/>
                                        <p:tgtEl>
                                          <p:spTgt spid="4">
                                            <p:txEl>
                                              <p:pRg st="1" end="1"/>
                                            </p:txEl>
                                          </p:spTgt>
                                        </p:tgtEl>
                                        <p:attrNameLst>
                                          <p:attrName>style.color</p:attrName>
                                        </p:attrNameLst>
                                      </p:cBhvr>
                                      <p:to>
                                        <a:srgbClr val="FF0000"/>
                                      </p:to>
                                    </p:animClr>
                                    <p:animClr clrSpc="rgb" dir="cw">
                                      <p:cBhvr>
                                        <p:cTn id="12" dur="500" fill="hold"/>
                                        <p:tgtEl>
                                          <p:spTgt spid="4">
                                            <p:txEl>
                                              <p:pRg st="1" end="1"/>
                                            </p:txEl>
                                          </p:spTgt>
                                        </p:tgtEl>
                                        <p:attrNameLst>
                                          <p:attrName>fillcolor</p:attrName>
                                        </p:attrNameLst>
                                      </p:cBhvr>
                                      <p:to>
                                        <a:srgbClr val="FF0000"/>
                                      </p:to>
                                    </p:animClr>
                                    <p:set>
                                      <p:cBhvr>
                                        <p:cTn id="13" dur="500" fill="hold"/>
                                        <p:tgtEl>
                                          <p:spTgt spid="4">
                                            <p:txEl>
                                              <p:pRg st="1" end="1"/>
                                            </p:txEl>
                                          </p:spTgt>
                                        </p:tgtEl>
                                        <p:attrNameLst>
                                          <p:attrName>fill.type</p:attrName>
                                        </p:attrNameLst>
                                      </p:cBhvr>
                                      <p:to>
                                        <p:strVal val="solid"/>
                                      </p:to>
                                    </p:set>
                                    <p:set>
                                      <p:cBhvr>
                                        <p:cTn id="14" dur="500" fill="hold"/>
                                        <p:tgtEl>
                                          <p:spTgt spid="4">
                                            <p:txEl>
                                              <p:pRg st="1" end="1"/>
                                            </p:txEl>
                                          </p:spTgt>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9" presetClass="emph" presetSubtype="0" fill="hold" nodeType="clickEffect">
                                  <p:stCondLst>
                                    <p:cond delay="0"/>
                                  </p:stCondLst>
                                  <p:childTnLst>
                                    <p:animClr clrSpc="rgb" dir="cw">
                                      <p:cBhvr override="childStyle">
                                        <p:cTn id="18" dur="500" fill="hold"/>
                                        <p:tgtEl>
                                          <p:spTgt spid="6">
                                            <p:txEl>
                                              <p:pRg st="0" end="0"/>
                                            </p:txEl>
                                          </p:spTgt>
                                        </p:tgtEl>
                                        <p:attrNameLst>
                                          <p:attrName>style.color</p:attrName>
                                        </p:attrNameLst>
                                      </p:cBhvr>
                                      <p:to>
                                        <a:srgbClr val="FF0000"/>
                                      </p:to>
                                    </p:animClr>
                                    <p:animClr clrSpc="rgb" dir="cw">
                                      <p:cBhvr>
                                        <p:cTn id="19" dur="500" fill="hold"/>
                                        <p:tgtEl>
                                          <p:spTgt spid="6">
                                            <p:txEl>
                                              <p:pRg st="0" end="0"/>
                                            </p:txEl>
                                          </p:spTgt>
                                        </p:tgtEl>
                                        <p:attrNameLst>
                                          <p:attrName>fillcolor</p:attrName>
                                        </p:attrNameLst>
                                      </p:cBhvr>
                                      <p:to>
                                        <a:srgbClr val="FF0000"/>
                                      </p:to>
                                    </p:animClr>
                                    <p:set>
                                      <p:cBhvr>
                                        <p:cTn id="20" dur="500" fill="hold"/>
                                        <p:tgtEl>
                                          <p:spTgt spid="6">
                                            <p:txEl>
                                              <p:pRg st="0" end="0"/>
                                            </p:txEl>
                                          </p:spTgt>
                                        </p:tgtEl>
                                        <p:attrNameLst>
                                          <p:attrName>fill.type</p:attrName>
                                        </p:attrNameLst>
                                      </p:cBhvr>
                                      <p:to>
                                        <p:strVal val="solid"/>
                                      </p:to>
                                    </p:set>
                                    <p:set>
                                      <p:cBhvr>
                                        <p:cTn id="21" dur="500" fill="hold"/>
                                        <p:tgtEl>
                                          <p:spTgt spid="6">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91613" y="460023"/>
            <a:ext cx="11366089" cy="3900235"/>
          </a:xfrm>
          <a:prstGeom prst="rect">
            <a:avLst/>
          </a:prstGeom>
          <a:noFill/>
        </p:spPr>
        <p:txBody>
          <a:bodyPr wrap="square">
            <a:spAutoFit/>
          </a:bodyPr>
          <a:lstStyle/>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6.</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下图是K-对策者和r-对策者的增长曲线，图中x表示不稳定平衡点，S1和S2表示平衡点，根据该图，下述错误的是:</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A.当种群数量低于X点时，种群数量可能无</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法恢复;</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B.当种群数量高于或低于S2时，种群数量都</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趋向于平衡;</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C.农业上很多有害生物，是很难消灭的;</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0261" y="1389747"/>
            <a:ext cx="5247441" cy="4627001"/>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491613" y="4360258"/>
            <a:ext cx="6096000" cy="1130246"/>
          </a:xfrm>
          <a:prstGeom prst="rect">
            <a:avLst/>
          </a:prstGeom>
          <a:noFill/>
        </p:spPr>
        <p:txBody>
          <a:bodyPr wrap="square">
            <a:spAutoFit/>
          </a:bodyPr>
          <a:lstStyle/>
          <a:p>
            <a:pPr>
              <a:lnSpc>
                <a:spcPct val="150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D.对于防治典型的K-对策者和r-对策者来说，</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天敌发挥很大作用。</a:t>
            </a:r>
          </a:p>
        </p:txBody>
      </p:sp>
      <p:sp>
        <p:nvSpPr>
          <p:cNvPr id="2" name="文本框 1"/>
          <p:cNvSpPr txBox="1"/>
          <p:nvPr/>
        </p:nvSpPr>
        <p:spPr>
          <a:xfrm>
            <a:off x="10865485" y="2067560"/>
            <a:ext cx="893445" cy="368300"/>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1800">
                <a:solidFill>
                  <a:srgbClr val="FF0000"/>
                </a:solidFill>
                <a:latin typeface="汉仪君黑-55W" panose="00020600040101010101" charset="-122"/>
                <a:ea typeface="汉仪君黑-55W" panose="00020600040101010101" charset="-122"/>
                <a:sym typeface="汉仪君黑-55W" panose="00020600040101010101" charset="-122"/>
              </a:rPr>
              <a:t>S1</a:t>
            </a:r>
          </a:p>
        </p:txBody>
      </p:sp>
      <p:sp>
        <p:nvSpPr>
          <p:cNvPr id="29" name="文本框 28"/>
          <p:cNvSpPr txBox="1"/>
          <p:nvPr/>
        </p:nvSpPr>
        <p:spPr>
          <a:xfrm>
            <a:off x="9810115" y="2828290"/>
            <a:ext cx="893445" cy="368300"/>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1800">
                <a:latin typeface="汉仪君黑-55W" panose="00020600040101010101" charset="-122"/>
                <a:ea typeface="汉仪君黑-55W" panose="00020600040101010101" charset="-122"/>
                <a:sym typeface="汉仪君黑-55W" panose="00020600040101010101" charset="-122"/>
              </a:rPr>
              <a:t>  </a:t>
            </a:r>
            <a:r>
              <a:rPr lang="en-US" altLang="zh-CN" sz="1800">
                <a:solidFill>
                  <a:srgbClr val="FF0000"/>
                </a:solidFill>
                <a:latin typeface="汉仪君黑-55W" panose="00020600040101010101" charset="-122"/>
                <a:ea typeface="汉仪君黑-55W" panose="00020600040101010101" charset="-122"/>
                <a:sym typeface="汉仪君黑-55W" panose="00020600040101010101" charset="-122"/>
              </a:rPr>
              <a:t>S2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9">
                                            <p:txEl>
                                              <p:pRg st="0" end="0"/>
                                            </p:txEl>
                                          </p:spTgt>
                                        </p:tgtEl>
                                        <p:attrNameLst>
                                          <p:attrName>style.color</p:attrName>
                                        </p:attrNameLst>
                                      </p:cBhvr>
                                      <p:to>
                                        <a:srgbClr val="FF0000"/>
                                      </p:to>
                                    </p:animClr>
                                    <p:animClr clrSpc="rgb" dir="cw">
                                      <p:cBhvr>
                                        <p:cTn id="7" dur="500" fill="hold"/>
                                        <p:tgtEl>
                                          <p:spTgt spid="9">
                                            <p:txEl>
                                              <p:pRg st="0" end="0"/>
                                            </p:txEl>
                                          </p:spTgt>
                                        </p:tgtEl>
                                        <p:attrNameLst>
                                          <p:attrName>fillcolor</p:attrName>
                                        </p:attrNameLst>
                                      </p:cBhvr>
                                      <p:to>
                                        <a:srgbClr val="FF0000"/>
                                      </p:to>
                                    </p:animClr>
                                    <p:set>
                                      <p:cBhvr>
                                        <p:cTn id="8" dur="500" fill="hold"/>
                                        <p:tgtEl>
                                          <p:spTgt spid="9">
                                            <p:txEl>
                                              <p:pRg st="0" end="0"/>
                                            </p:txEl>
                                          </p:spTgt>
                                        </p:tgtEl>
                                        <p:attrNameLst>
                                          <p:attrName>fill.type</p:attrName>
                                        </p:attrNameLst>
                                      </p:cBhvr>
                                      <p:to>
                                        <p:strVal val="solid"/>
                                      </p:to>
                                    </p:set>
                                    <p:set>
                                      <p:cBhvr>
                                        <p:cTn id="9" dur="500" fill="hold"/>
                                        <p:tgtEl>
                                          <p:spTgt spid="9">
                                            <p:txEl>
                                              <p:pRg st="0" end="0"/>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500" fill="hold"/>
                                        <p:tgtEl>
                                          <p:spTgt spid="9">
                                            <p:txEl>
                                              <p:pRg st="1" end="1"/>
                                            </p:txEl>
                                          </p:spTgt>
                                        </p:tgtEl>
                                        <p:attrNameLst>
                                          <p:attrName>style.color</p:attrName>
                                        </p:attrNameLst>
                                      </p:cBhvr>
                                      <p:to>
                                        <a:srgbClr val="FF0000"/>
                                      </p:to>
                                    </p:animClr>
                                    <p:animClr clrSpc="rgb" dir="cw">
                                      <p:cBhvr>
                                        <p:cTn id="12" dur="500" fill="hold"/>
                                        <p:tgtEl>
                                          <p:spTgt spid="9">
                                            <p:txEl>
                                              <p:pRg st="1" end="1"/>
                                            </p:txEl>
                                          </p:spTgt>
                                        </p:tgtEl>
                                        <p:attrNameLst>
                                          <p:attrName>fillcolor</p:attrName>
                                        </p:attrNameLst>
                                      </p:cBhvr>
                                      <p:to>
                                        <a:srgbClr val="FF0000"/>
                                      </p:to>
                                    </p:animClr>
                                    <p:set>
                                      <p:cBhvr>
                                        <p:cTn id="13" dur="500" fill="hold"/>
                                        <p:tgtEl>
                                          <p:spTgt spid="9">
                                            <p:txEl>
                                              <p:pRg st="1" end="1"/>
                                            </p:txEl>
                                          </p:spTgt>
                                        </p:tgtEl>
                                        <p:attrNameLst>
                                          <p:attrName>fill.type</p:attrName>
                                        </p:attrNameLst>
                                      </p:cBhvr>
                                      <p:to>
                                        <p:strVal val="solid"/>
                                      </p:to>
                                    </p:set>
                                    <p:set>
                                      <p:cBhvr>
                                        <p:cTn id="14" dur="500" fill="hold"/>
                                        <p:tgtEl>
                                          <p:spTgt spid="9">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73624" y="311941"/>
            <a:ext cx="10599175" cy="5631180"/>
          </a:xfrm>
          <a:prstGeom prst="rect">
            <a:avLst/>
          </a:prstGeom>
          <a:noFill/>
        </p:spPr>
        <p:txBody>
          <a:bodyPr wrap="square">
            <a:spAutoFit/>
          </a:bodyPr>
          <a:lstStyle/>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7. r</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－选择的生物是利用那些快速生长又快速繁殖的生境。它们由于能快速转移，能快速、完全利用这些生境，能很快找到新的、适合繁殖的生境而被自然选择保存下来。下列性状中哪一条适用于</a:t>
            </a:r>
            <a:r>
              <a:rPr lang="en-US" altLang="zh-CN" sz="2400" b="1">
                <a:latin typeface="Times New Roman" panose="02020603050405020304" pitchFamily="18" charset="0"/>
                <a:ea typeface="宋体" panose="02010600030101010101" pitchFamily="2" charset="-122"/>
                <a:cs typeface="Times New Roman" panose="02020603050405020304" pitchFamily="18" charset="0"/>
                <a:sym typeface="+mn-ea"/>
              </a:rPr>
              <a:t>r</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－选择的生物：</a:t>
            </a:r>
          </a:p>
          <a:p>
            <a:pPr>
              <a:lnSpc>
                <a:spcPct val="150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①它们的发育慢   ②它们的后代数量多   ③它们的生活周期短</a:t>
            </a:r>
          </a:p>
          <a:p>
            <a:pPr>
              <a:lnSpc>
                <a:spcPct val="150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④它们的死亡率与种群密度无关    ⑤它们的种群大小是相对稳定的</a:t>
            </a:r>
          </a:p>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A.①②③</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是正确的     </a:t>
            </a:r>
          </a:p>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B.①②④</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是正确的   </a:t>
            </a:r>
          </a:p>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C.②③⑤</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是正确的</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endParaRPr lang="zh-CN" altLang="en-US"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E.①③⑤</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是正确的</a:t>
            </a:r>
          </a:p>
        </p:txBody>
      </p:sp>
      <p:sp>
        <p:nvSpPr>
          <p:cNvPr id="7" name="文本框 6"/>
          <p:cNvSpPr txBox="1"/>
          <p:nvPr/>
        </p:nvSpPr>
        <p:spPr>
          <a:xfrm>
            <a:off x="373624" y="4688503"/>
            <a:ext cx="6096000" cy="576248"/>
          </a:xfrm>
          <a:prstGeom prst="rect">
            <a:avLst/>
          </a:prstGeom>
          <a:noFill/>
        </p:spPr>
        <p:txBody>
          <a:bodyPr wrap="square">
            <a:spAutoFit/>
          </a:bodyPr>
          <a:lstStyle/>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D.②③④</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是正确的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7">
                                            <p:txEl>
                                              <p:pRg st="0" end="0"/>
                                            </p:txEl>
                                          </p:spTgt>
                                        </p:tgtEl>
                                        <p:attrNameLst>
                                          <p:attrName>style.color</p:attrName>
                                        </p:attrNameLst>
                                      </p:cBhvr>
                                      <p:to>
                                        <a:srgbClr val="FF0000"/>
                                      </p:to>
                                    </p:animClr>
                                    <p:animClr clrSpc="rgb" dir="cw">
                                      <p:cBhvr>
                                        <p:cTn id="7" dur="500" fill="hold"/>
                                        <p:tgtEl>
                                          <p:spTgt spid="7">
                                            <p:txEl>
                                              <p:pRg st="0" end="0"/>
                                            </p:txEl>
                                          </p:spTgt>
                                        </p:tgtEl>
                                        <p:attrNameLst>
                                          <p:attrName>fillcolor</p:attrName>
                                        </p:attrNameLst>
                                      </p:cBhvr>
                                      <p:to>
                                        <a:srgbClr val="FF0000"/>
                                      </p:to>
                                    </p:animClr>
                                    <p:set>
                                      <p:cBhvr>
                                        <p:cTn id="8" dur="500" fill="hold"/>
                                        <p:tgtEl>
                                          <p:spTgt spid="7">
                                            <p:txEl>
                                              <p:pRg st="0" end="0"/>
                                            </p:txEl>
                                          </p:spTgt>
                                        </p:tgtEl>
                                        <p:attrNameLst>
                                          <p:attrName>fill.type</p:attrName>
                                        </p:attrNameLst>
                                      </p:cBhvr>
                                      <p:to>
                                        <p:strVal val="solid"/>
                                      </p:to>
                                    </p:set>
                                    <p:set>
                                      <p:cBhvr>
                                        <p:cTn id="9" dur="500" fill="hold"/>
                                        <p:tgtEl>
                                          <p:spTgt spid="7">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4"/>
          <p:cNvSpPr txBox="1"/>
          <p:nvPr/>
        </p:nvSpPr>
        <p:spPr>
          <a:xfrm>
            <a:off x="314632" y="988470"/>
            <a:ext cx="11562735" cy="5262979"/>
          </a:xfrm>
          <a:prstGeom prst="rect">
            <a:avLst/>
          </a:prstGeom>
          <a:noFill/>
        </p:spPr>
        <p:txBody>
          <a:bodyPr wrap="square">
            <a:spAutoFit/>
          </a:bodyPr>
          <a:lstStyle/>
          <a:p>
            <a:r>
              <a:rPr lang="zh-CN"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生殖价（</a:t>
            </a:r>
            <a:r>
              <a:rPr lang="en-US" altLang="zh-CN"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Vx</a:t>
            </a:r>
            <a:r>
              <a:rPr lang="zh-CN"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用来描述某一年龄的雌体平均能对未来种群增长所做的贡献。</a:t>
            </a:r>
          </a:p>
          <a:p>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Vx: x</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龄雌体的生殖价。</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：估计生殖价时雌体的年龄。</a:t>
            </a:r>
          </a:p>
          <a:p>
            <a:pPr>
              <a:spcBef>
                <a:spcPct val="50000"/>
              </a:spcBef>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T</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龄以后的年龄。</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W</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：最后一次生殖的年龄。</a:t>
            </a:r>
          </a:p>
          <a:p>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a:latin typeface="Times New Roman" panose="02020603050405020304" pitchFamily="18" charset="0"/>
                <a:ea typeface="宋体" panose="02010600030101010101" pitchFamily="2" charset="-122"/>
                <a:cs typeface="Times New Roman" panose="02020603050405020304" pitchFamily="18" charset="0"/>
              </a:rPr>
              <a:t>雌体在年龄为</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时的生殖价即等同于世代净增值率</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R0</a:t>
            </a:r>
          </a:p>
          <a:p>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2400" b="1">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生殖效率：</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生物在繁殖上的能量投入与产出之间的比率。</a:t>
            </a:r>
          </a:p>
        </p:txBody>
      </p:sp>
      <p:graphicFrame>
        <p:nvGraphicFramePr>
          <p:cNvPr id="8" name="Object 4"/>
          <p:cNvGraphicFramePr>
            <a:graphicFrameLocks noChangeAspect="1"/>
          </p:cNvGraphicFramePr>
          <p:nvPr/>
        </p:nvGraphicFramePr>
        <p:xfrm>
          <a:off x="7959879" y="1598102"/>
          <a:ext cx="2722562" cy="1544637"/>
        </p:xfrm>
        <a:graphic>
          <a:graphicData uri="http://schemas.openxmlformats.org/presentationml/2006/ole">
            <mc:AlternateContent xmlns:mc="http://schemas.openxmlformats.org/markup-compatibility/2006">
              <mc:Choice xmlns:v="urn:schemas-microsoft-com:vml" Requires="v">
                <p:oleObj name="公式" r:id="rId2" imgW="1206500" imgH="685800" progId="Equation.3">
                  <p:embed/>
                </p:oleObj>
              </mc:Choice>
              <mc:Fallback>
                <p:oleObj name="公式" r:id="rId2" imgW="1206500" imgH="685800" progId="Equation.3">
                  <p:embed/>
                  <p:pic>
                    <p:nvPicPr>
                      <p:cNvPr id="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9879" y="1598102"/>
                        <a:ext cx="2722562" cy="1544637"/>
                      </a:xfrm>
                      <a:prstGeom prst="rect">
                        <a:avLst/>
                      </a:prstGeom>
                      <a:noFill/>
                    </p:spPr>
                  </p:pic>
                </p:oleObj>
              </mc:Fallback>
            </mc:AlternateContent>
          </a:graphicData>
        </a:graphic>
      </p:graphicFrame>
      <p:graphicFrame>
        <p:nvGraphicFramePr>
          <p:cNvPr id="9" name="Object 7"/>
          <p:cNvGraphicFramePr>
            <a:graphicFrameLocks noChangeAspect="1"/>
          </p:cNvGraphicFramePr>
          <p:nvPr/>
        </p:nvGraphicFramePr>
        <p:xfrm>
          <a:off x="7959879" y="3429000"/>
          <a:ext cx="3688093" cy="1544636"/>
        </p:xfrm>
        <a:graphic>
          <a:graphicData uri="http://schemas.openxmlformats.org/presentationml/2006/ole">
            <mc:AlternateContent xmlns:mc="http://schemas.openxmlformats.org/markup-compatibility/2006">
              <mc:Choice xmlns:v="urn:schemas-microsoft-com:vml" Requires="v">
                <p:oleObj name="公式" r:id="rId4" imgW="1638300" imgH="685800" progId="Equation.3">
                  <p:embed/>
                </p:oleObj>
              </mc:Choice>
              <mc:Fallback>
                <p:oleObj name="公式" r:id="rId4" imgW="1638300" imgH="685800" progId="Equation.3">
                  <p:embed/>
                  <p:pic>
                    <p:nvPicPr>
                      <p:cNvPr id="9"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59879" y="3429000"/>
                        <a:ext cx="3688093" cy="1544636"/>
                      </a:xfrm>
                      <a:prstGeom prst="rect">
                        <a:avLst/>
                      </a:prstGeom>
                      <a:noFill/>
                    </p:spPr>
                  </p:pic>
                </p:oleObj>
              </mc:Fallback>
            </mc:AlternateContent>
          </a:graphicData>
        </a:graphic>
      </p:graphicFrame>
      <p:sp>
        <p:nvSpPr>
          <p:cNvPr id="4" name="Rectangle 2"/>
          <p:cNvSpPr txBox="1">
            <a:spLocks noChangeArrowheads="1"/>
          </p:cNvSpPr>
          <p:nvPr/>
        </p:nvSpPr>
        <p:spPr>
          <a:xfrm>
            <a:off x="0" y="-363794"/>
            <a:ext cx="7772400" cy="11430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altLang="zh-CN" sz="2800" b="1">
              <a:latin typeface="黑体" panose="02010609060101010101" charset="-122"/>
              <a:ea typeface="黑体" panose="02010609060101010101" charset="-122"/>
              <a:cs typeface="Times New Roman" panose="02020603050405020304" pitchFamily="18"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stretch>
            <a:fillRect/>
          </a:stretch>
        </p:blipFill>
        <p:spPr>
          <a:xfrm>
            <a:off x="2014220" y="1003935"/>
            <a:ext cx="7820025" cy="4900295"/>
          </a:xfrm>
          <a:prstGeom prst="rect">
            <a:avLst/>
          </a:prstGeom>
        </p:spPr>
      </p:pic>
      <p:sp>
        <p:nvSpPr>
          <p:cNvPr id="6" name="文本框 5"/>
          <p:cNvSpPr txBox="1"/>
          <p:nvPr/>
        </p:nvSpPr>
        <p:spPr>
          <a:xfrm>
            <a:off x="584835" y="257094"/>
            <a:ext cx="8662219" cy="521970"/>
          </a:xfrm>
          <a:prstGeom prst="rect">
            <a:avLst/>
          </a:prstGeom>
          <a:noFill/>
        </p:spPr>
        <p:txBody>
          <a:bodyPr wrap="square">
            <a:spAutoFit/>
          </a:bodyPr>
          <a:lstStyle/>
          <a:p>
            <a:pPr algn="l">
              <a:lnSpc>
                <a:spcPct val="100000"/>
              </a:lnSpc>
            </a:pPr>
            <a:r>
              <a:rPr lang="zh-CN" sz="2800" b="1">
                <a:latin typeface="黑体" panose="02010609060101010101" charset="-122"/>
                <a:ea typeface="黑体" panose="02010609060101010101" charset="-122"/>
                <a:cs typeface="Times New Roman" panose="02020603050405020304" pitchFamily="18" charset="0"/>
              </a:rPr>
              <a:t>三、</a:t>
            </a:r>
            <a:r>
              <a:rPr lang="zh-CN" altLang="en-US" sz="2800" b="1">
                <a:latin typeface="黑体" panose="02010609060101010101" charset="-122"/>
                <a:ea typeface="黑体" panose="02010609060101010101" charset="-122"/>
                <a:cs typeface="Times New Roman" panose="02020603050405020304" pitchFamily="18" charset="0"/>
              </a:rPr>
              <a:t>生殖价和生殖效率</a:t>
            </a:r>
            <a:endParaRPr lang="en-US" altLang="zh-CN" sz="2800" b="1">
              <a:latin typeface="黑体" panose="02010609060101010101" charset="-122"/>
              <a:ea typeface="黑体" panose="02010609060101010101" charset="-122"/>
              <a:cs typeface="Times New Roman" panose="02020603050405020304" pitchFamily="18"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3"/>
          <p:cNvSpPr txBox="1">
            <a:spLocks noChangeArrowheads="1"/>
          </p:cNvSpPr>
          <p:nvPr/>
        </p:nvSpPr>
        <p:spPr>
          <a:xfrm>
            <a:off x="843915" y="1730375"/>
            <a:ext cx="10504170" cy="29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b="1">
                <a:latin typeface="Times New Roman" panose="02020603050405020304" pitchFamily="18" charset="0"/>
                <a:ea typeface="宋体" panose="02010600030101010101" pitchFamily="2" charset="-122"/>
                <a:cs typeface="Times New Roman" panose="02020603050405020304" pitchFamily="18" charset="0"/>
              </a:rPr>
              <a:t>根据对生活史不同组分（出生率、幼体死亡率、成体死亡率等）的影响来比较不同生境。如果成体死亡率与幼体死亡率相对比较稳定，可预期成体会“保护其赌注”，在很长的一段时期内生产后代（也就是多次生殖），而如果幼体死亡率低于成体，其分配给繁殖的能量就应该高，后代一次产出（单次生殖）。 </a:t>
            </a:r>
          </a:p>
        </p:txBody>
      </p:sp>
      <p:sp>
        <p:nvSpPr>
          <p:cNvPr id="7" name="文本框 6"/>
          <p:cNvSpPr txBox="1"/>
          <p:nvPr/>
        </p:nvSpPr>
        <p:spPr>
          <a:xfrm>
            <a:off x="752475" y="558165"/>
            <a:ext cx="8618855" cy="645160"/>
          </a:xfrm>
          <a:prstGeom prst="rect">
            <a:avLst/>
          </a:prstGeom>
          <a:noFill/>
        </p:spPr>
        <p:txBody>
          <a:bodyPr wrap="square">
            <a:spAutoFit/>
          </a:bodyPr>
          <a:lstStyle/>
          <a:p>
            <a:r>
              <a:rPr lang="zh-CN" sz="3600" b="1">
                <a:latin typeface="黑体" panose="02010609060101010101" charset="-122"/>
                <a:ea typeface="黑体" panose="02010609060101010101" charset="-122"/>
                <a:cs typeface="Times New Roman" panose="02020603050405020304" pitchFamily="18" charset="0"/>
              </a:rPr>
              <a:t>四、</a:t>
            </a:r>
            <a:r>
              <a:rPr lang="zh-CN" altLang="en-US" sz="3600" b="1">
                <a:latin typeface="黑体" panose="02010609060101010101" charset="-122"/>
                <a:ea typeface="黑体" panose="02010609060101010101" charset="-122"/>
                <a:cs typeface="Times New Roman" panose="02020603050405020304" pitchFamily="18" charset="0"/>
              </a:rPr>
              <a:t>两面下注理论（</a:t>
            </a:r>
            <a:r>
              <a:rPr lang="en-US" altLang="zh-CN" sz="3600" b="1">
                <a:latin typeface="黑体" panose="02010609060101010101" charset="-122"/>
                <a:ea typeface="黑体" panose="02010609060101010101" charset="-122"/>
                <a:cs typeface="Times New Roman" panose="02020603050405020304" pitchFamily="18" charset="0"/>
              </a:rPr>
              <a:t>bet-hedging theory)</a:t>
            </a:r>
            <a:endParaRPr lang="zh-CN" altLang="en-US" sz="360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542415"/>
            <a:ext cx="10515600" cy="4351338"/>
          </a:xfrm>
        </p:spPr>
        <p:txBody>
          <a:bodyPr>
            <a:normAutofit fontScale="92500"/>
          </a:bodyPr>
          <a:lstStyle/>
          <a:p>
            <a:pPr marL="0" indent="0">
              <a:buNone/>
            </a:pPr>
            <a:r>
              <a:rPr lang="en-US" altLang="zh-CN" b="1">
                <a:latin typeface="Times New Roman" panose="02020603050405020304" pitchFamily="18" charset="0"/>
                <a:ea typeface="宋体" panose="02010600030101010101" pitchFamily="2" charset="-122"/>
                <a:cs typeface="Times New Roman" panose="02020603050405020304" pitchFamily="18" charset="0"/>
              </a:rPr>
              <a:t>        </a:t>
            </a:r>
            <a:r>
              <a:rPr lang="zh-CN" altLang="en-US" b="1">
                <a:latin typeface="Times New Roman" panose="02020603050405020304" pitchFamily="18" charset="0"/>
                <a:ea typeface="宋体" panose="02010600030101010101" pitchFamily="2" charset="-122"/>
                <a:cs typeface="Times New Roman" panose="02020603050405020304" pitchFamily="18" charset="0"/>
              </a:rPr>
              <a:t>两面下注理论指生物根据</a:t>
            </a:r>
            <a:r>
              <a:rPr lang="zh-CN" altLang="en-US"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不同生存策略</a:t>
            </a:r>
            <a:r>
              <a:rPr lang="zh-CN" altLang="en-US" b="1">
                <a:latin typeface="Times New Roman" panose="02020603050405020304" pitchFamily="18" charset="0"/>
                <a:ea typeface="宋体" panose="02010600030101010101" pitchFamily="2" charset="-122"/>
                <a:cs typeface="Times New Roman" panose="02020603050405020304" pitchFamily="18" charset="0"/>
              </a:rPr>
              <a:t>调整</a:t>
            </a:r>
            <a:r>
              <a:rPr lang="zh-CN" altLang="en-US"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繁殖行为</a:t>
            </a:r>
            <a:r>
              <a:rPr lang="zh-CN" altLang="en-US" b="1">
                <a:latin typeface="Times New Roman" panose="02020603050405020304" pitchFamily="18" charset="0"/>
                <a:ea typeface="宋体" panose="02010600030101010101" pitchFamily="2" charset="-122"/>
                <a:cs typeface="Times New Roman" panose="02020603050405020304" pitchFamily="18" charset="0"/>
              </a:rPr>
              <a:t>。该理论认为，生物会根据成体死亡率与幼体死亡率的对比关系调整繁殖策略：</a:t>
            </a:r>
          </a:p>
          <a:p>
            <a:pPr marL="0" indent="0">
              <a:buNone/>
            </a:pPr>
            <a:r>
              <a:rPr lang="en-US" altLang="zh-CN" b="1">
                <a:latin typeface="Times New Roman" panose="02020603050405020304" pitchFamily="18" charset="0"/>
                <a:ea typeface="宋体" panose="02010600030101010101" pitchFamily="2" charset="-122"/>
                <a:cs typeface="Times New Roman" panose="02020603050405020304" pitchFamily="18" charset="0"/>
              </a:rPr>
              <a:t>1.</a:t>
            </a:r>
            <a:r>
              <a:rPr lang="zh-CN" altLang="en-US" b="1">
                <a:latin typeface="Times New Roman" panose="02020603050405020304" pitchFamily="18" charset="0"/>
                <a:ea typeface="宋体" panose="02010600030101010101" pitchFamily="2" charset="-122"/>
                <a:cs typeface="Times New Roman" panose="02020603050405020304" pitchFamily="18" charset="0"/>
              </a:rPr>
              <a:t>成体死亡率较高‌时，生物倾向于采取</a:t>
            </a:r>
            <a:r>
              <a:rPr lang="zh-CN" altLang="en-US"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多次繁殖策略</a:t>
            </a:r>
            <a:r>
              <a:rPr lang="zh-CN" altLang="en-US" b="1">
                <a:latin typeface="Times New Roman" panose="02020603050405020304" pitchFamily="18" charset="0"/>
                <a:ea typeface="宋体" panose="02010600030101010101" pitchFamily="2" charset="-122"/>
                <a:cs typeface="Times New Roman" panose="02020603050405020304" pitchFamily="18" charset="0"/>
              </a:rPr>
              <a:t>（如昆虫的多</a:t>
            </a:r>
            <a:r>
              <a:rPr lang="en-US" altLang="zh-CN" b="1">
                <a:latin typeface="Times New Roman" panose="02020603050405020304" pitchFamily="18" charset="0"/>
                <a:ea typeface="宋体" panose="02010600030101010101" pitchFamily="2" charset="-122"/>
                <a:cs typeface="Times New Roman" panose="02020603050405020304" pitchFamily="18" charset="0"/>
              </a:rPr>
              <a:t>  </a:t>
            </a:r>
          </a:p>
          <a:p>
            <a:pPr marL="0" indent="0">
              <a:buNone/>
            </a:pPr>
            <a:r>
              <a:rPr lang="en-US" altLang="zh-CN" b="1">
                <a:latin typeface="Times New Roman" panose="02020603050405020304" pitchFamily="18" charset="0"/>
                <a:ea typeface="宋体" panose="02010600030101010101" pitchFamily="2" charset="-122"/>
                <a:cs typeface="Times New Roman" panose="02020603050405020304" pitchFamily="18" charset="0"/>
              </a:rPr>
              <a:t>    </a:t>
            </a:r>
            <a:r>
              <a:rPr lang="zh-CN" altLang="en-US" b="1">
                <a:latin typeface="Times New Roman" panose="02020603050405020304" pitchFamily="18" charset="0"/>
                <a:ea typeface="宋体" panose="02010600030101010101" pitchFamily="2" charset="-122"/>
                <a:cs typeface="Times New Roman" panose="02020603050405020304" pitchFamily="18" charset="0"/>
              </a:rPr>
              <a:t>次繁殖），通过增加繁殖次数降低单次繁殖风险；</a:t>
            </a:r>
          </a:p>
          <a:p>
            <a:pPr marL="0" indent="0">
              <a:buNone/>
            </a:pPr>
            <a:r>
              <a:rPr lang="en-US" altLang="zh-CN" b="1">
                <a:latin typeface="Times New Roman" panose="02020603050405020304" pitchFamily="18" charset="0"/>
                <a:ea typeface="宋体" panose="02010600030101010101" pitchFamily="2" charset="-122"/>
                <a:cs typeface="Times New Roman" panose="02020603050405020304" pitchFamily="18" charset="0"/>
              </a:rPr>
              <a:t>2.</a:t>
            </a:r>
            <a:r>
              <a:rPr lang="zh-CN" altLang="en-US" b="1">
                <a:latin typeface="Times New Roman" panose="02020603050405020304" pitchFamily="18" charset="0"/>
                <a:ea typeface="宋体" panose="02010600030101010101" pitchFamily="2" charset="-122"/>
                <a:cs typeface="Times New Roman" panose="02020603050405020304" pitchFamily="18" charset="0"/>
              </a:rPr>
              <a:t>幼体死亡率较高‌时，则采用</a:t>
            </a:r>
            <a:r>
              <a:rPr lang="zh-CN" altLang="en-US"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一次性繁殖策略</a:t>
            </a:r>
            <a:r>
              <a:rPr lang="zh-CN" altLang="en-US" b="1">
                <a:latin typeface="Times New Roman" panose="02020603050405020304" pitchFamily="18" charset="0"/>
                <a:ea typeface="宋体" panose="02010600030101010101" pitchFamily="2" charset="-122"/>
                <a:cs typeface="Times New Roman" panose="02020603050405020304" pitchFamily="18" charset="0"/>
              </a:rPr>
              <a:t>（如鸟类筑巢），将</a:t>
            </a:r>
          </a:p>
          <a:p>
            <a:pPr marL="0" indent="0">
              <a:buNone/>
            </a:pPr>
            <a:r>
              <a:rPr lang="zh-CN" altLang="en-US" b="1">
                <a:latin typeface="Times New Roman" panose="02020603050405020304" pitchFamily="18" charset="0"/>
                <a:ea typeface="宋体" panose="02010600030101010101" pitchFamily="2" charset="-122"/>
                <a:cs typeface="Times New Roman" panose="02020603050405020304" pitchFamily="18" charset="0"/>
              </a:rPr>
              <a:t> </a:t>
            </a:r>
            <a:r>
              <a:rPr lang="en-US" altLang="zh-CN" b="1">
                <a:latin typeface="Times New Roman" panose="02020603050405020304" pitchFamily="18" charset="0"/>
                <a:ea typeface="宋体" panose="02010600030101010101" pitchFamily="2" charset="-122"/>
                <a:cs typeface="Times New Roman" panose="02020603050405020304" pitchFamily="18" charset="0"/>
              </a:rPr>
              <a:t>   </a:t>
            </a:r>
            <a:r>
              <a:rPr lang="zh-CN" altLang="en-US" b="1">
                <a:latin typeface="Times New Roman" panose="02020603050405020304" pitchFamily="18" charset="0"/>
                <a:ea typeface="宋体" panose="02010600030101010101" pitchFamily="2" charset="-122"/>
                <a:cs typeface="Times New Roman" panose="02020603050405020304" pitchFamily="18" charset="0"/>
              </a:rPr>
              <a:t>更多能量投入单次繁殖以增加存活概率。 ‌</a:t>
            </a:r>
          </a:p>
          <a:p>
            <a:pPr marL="0" indent="0">
              <a:buNone/>
            </a:pPr>
            <a:r>
              <a:rPr lang="en-US" altLang="zh-CN" b="1">
                <a:latin typeface="Times New Roman" panose="02020603050405020304" pitchFamily="18" charset="0"/>
                <a:ea typeface="宋体" panose="02010600030101010101" pitchFamily="2" charset="-122"/>
                <a:cs typeface="Times New Roman" panose="02020603050405020304" pitchFamily="18" charset="0"/>
              </a:rPr>
              <a:t>     </a:t>
            </a:r>
            <a:r>
              <a:rPr lang="zh-CN" altLang="en-US" b="1">
                <a:latin typeface="Times New Roman" panose="02020603050405020304" pitchFamily="18" charset="0"/>
                <a:ea typeface="宋体" panose="02010600030101010101" pitchFamily="2" charset="-122"/>
                <a:cs typeface="Times New Roman" panose="02020603050405020304" pitchFamily="18" charset="0"/>
              </a:rPr>
              <a:t>该理论通过分析生物</a:t>
            </a:r>
            <a:r>
              <a:rPr lang="zh-CN" altLang="en-US"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不同生命周期阶段</a:t>
            </a:r>
            <a:r>
              <a:rPr lang="zh-CN" altLang="en-US" b="1">
                <a:latin typeface="Times New Roman" panose="02020603050405020304" pitchFamily="18" charset="0"/>
                <a:ea typeface="宋体" panose="02010600030101010101" pitchFamily="2" charset="-122"/>
                <a:cs typeface="Times New Roman" panose="02020603050405020304" pitchFamily="18" charset="0"/>
              </a:rPr>
              <a:t>的存活风险，揭示了生物适应环境的进化策略。</a:t>
            </a:r>
          </a:p>
          <a:p>
            <a:pPr marL="0" indent="0">
              <a:buNone/>
            </a:pPr>
            <a:endParaRPr lang="zh-CN" altLang="en-US"/>
          </a:p>
        </p:txBody>
      </p:sp>
      <p:sp>
        <p:nvSpPr>
          <p:cNvPr id="7" name="文本框 6"/>
          <p:cNvSpPr txBox="1"/>
          <p:nvPr/>
        </p:nvSpPr>
        <p:spPr>
          <a:xfrm>
            <a:off x="752475" y="558165"/>
            <a:ext cx="8618855" cy="645160"/>
          </a:xfrm>
          <a:prstGeom prst="rect">
            <a:avLst/>
          </a:prstGeom>
          <a:noFill/>
        </p:spPr>
        <p:txBody>
          <a:bodyPr wrap="square">
            <a:spAutoFit/>
          </a:bodyPr>
          <a:lstStyle/>
          <a:p>
            <a:r>
              <a:rPr lang="zh-CN" sz="3600" b="1">
                <a:latin typeface="黑体" panose="02010609060101010101" charset="-122"/>
                <a:ea typeface="黑体" panose="02010609060101010101" charset="-122"/>
                <a:cs typeface="Times New Roman" panose="02020603050405020304" pitchFamily="18" charset="0"/>
              </a:rPr>
              <a:t>四、</a:t>
            </a:r>
            <a:r>
              <a:rPr lang="zh-CN" altLang="en-US" sz="3600" b="1">
                <a:latin typeface="黑体" panose="02010609060101010101" charset="-122"/>
                <a:ea typeface="黑体" panose="02010609060101010101" charset="-122"/>
                <a:cs typeface="Times New Roman" panose="02020603050405020304" pitchFamily="18" charset="0"/>
              </a:rPr>
              <a:t>两面下注理论（</a:t>
            </a:r>
            <a:r>
              <a:rPr lang="en-US" altLang="zh-CN" sz="3600" b="1">
                <a:latin typeface="黑体" panose="02010609060101010101" charset="-122"/>
                <a:ea typeface="黑体" panose="02010609060101010101" charset="-122"/>
                <a:cs typeface="Times New Roman" panose="02020603050405020304" pitchFamily="18" charset="0"/>
              </a:rPr>
              <a:t>bet-hedging theory)</a:t>
            </a:r>
            <a:endParaRPr lang="zh-CN" altLang="en-US" sz="360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69735" y="196245"/>
            <a:ext cx="9268129"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sz="2800" b="1">
                <a:latin typeface="黑体" panose="02010609060101010101" charset="-122"/>
                <a:ea typeface="黑体" panose="02010609060101010101" charset="-122"/>
              </a:rPr>
              <a:t>五、</a:t>
            </a:r>
            <a:r>
              <a:rPr lang="en-US" altLang="zh-CN" sz="2800" b="1">
                <a:latin typeface="黑体" panose="02010609060101010101" charset="-122"/>
                <a:ea typeface="黑体" panose="02010609060101010101" charset="-122"/>
              </a:rPr>
              <a:t>Grime </a:t>
            </a:r>
            <a:r>
              <a:rPr lang="zh-CN" altLang="en-US" sz="2800" b="1">
                <a:latin typeface="黑体" panose="02010609060101010101" charset="-122"/>
                <a:ea typeface="黑体" panose="02010609060101010101" charset="-122"/>
              </a:rPr>
              <a:t>的</a:t>
            </a:r>
            <a:r>
              <a:rPr lang="en-US" altLang="zh-CN" sz="2800" b="1">
                <a:latin typeface="黑体" panose="02010609060101010101" charset="-122"/>
                <a:ea typeface="黑体" panose="02010609060101010101" charset="-122"/>
              </a:rPr>
              <a:t>CSR</a:t>
            </a:r>
            <a:r>
              <a:rPr lang="zh-CN" altLang="en-US" sz="2800" b="1">
                <a:latin typeface="黑体" panose="02010609060101010101" charset="-122"/>
                <a:ea typeface="黑体" panose="02010609060101010101" charset="-122"/>
              </a:rPr>
              <a:t>三角形</a:t>
            </a:r>
          </a:p>
        </p:txBody>
      </p:sp>
      <p:sp>
        <p:nvSpPr>
          <p:cNvPr id="3" name="Line 4"/>
          <p:cNvSpPr>
            <a:spLocks noChangeShapeType="1"/>
          </p:cNvSpPr>
          <p:nvPr/>
        </p:nvSpPr>
        <p:spPr bwMode="auto">
          <a:xfrm flipV="1">
            <a:off x="2700338" y="2276475"/>
            <a:ext cx="0" cy="2667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 name="Group 14"/>
          <p:cNvGrpSpPr/>
          <p:nvPr/>
        </p:nvGrpSpPr>
        <p:grpSpPr bwMode="auto">
          <a:xfrm>
            <a:off x="1979613" y="2349500"/>
            <a:ext cx="5105400" cy="3140075"/>
            <a:chOff x="1008" y="1872"/>
            <a:chExt cx="3216" cy="1978"/>
          </a:xfrm>
        </p:grpSpPr>
        <p:sp>
          <p:nvSpPr>
            <p:cNvPr id="5" name="Line 5"/>
            <p:cNvSpPr>
              <a:spLocks noChangeShapeType="1"/>
            </p:cNvSpPr>
            <p:nvPr/>
          </p:nvSpPr>
          <p:spPr bwMode="auto">
            <a:xfrm>
              <a:off x="1488" y="3504"/>
              <a:ext cx="2256"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6"/>
            <p:cNvSpPr>
              <a:spLocks noChangeShapeType="1"/>
            </p:cNvSpPr>
            <p:nvPr/>
          </p:nvSpPr>
          <p:spPr bwMode="auto">
            <a:xfrm>
              <a:off x="1488" y="1872"/>
              <a:ext cx="2208" cy="16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Text Box 7"/>
            <p:cNvSpPr txBox="1">
              <a:spLocks noChangeArrowheads="1"/>
            </p:cNvSpPr>
            <p:nvPr/>
          </p:nvSpPr>
          <p:spPr bwMode="auto">
            <a:xfrm>
              <a:off x="2208" y="3600"/>
              <a:ext cx="20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生境的严峻度</a:t>
              </a:r>
            </a:p>
          </p:txBody>
        </p:sp>
        <p:sp>
          <p:nvSpPr>
            <p:cNvPr id="8" name="Text Box 9"/>
            <p:cNvSpPr txBox="1">
              <a:spLocks noChangeArrowheads="1"/>
            </p:cNvSpPr>
            <p:nvPr/>
          </p:nvSpPr>
          <p:spPr bwMode="auto">
            <a:xfrm>
              <a:off x="1008" y="2064"/>
              <a:ext cx="308" cy="1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2000"/>
                <a:t>生境的干扰水平</a:t>
              </a:r>
            </a:p>
          </p:txBody>
        </p:sp>
        <p:sp>
          <p:nvSpPr>
            <p:cNvPr id="9" name="Text Box 11"/>
            <p:cNvSpPr txBox="1">
              <a:spLocks noChangeArrowheads="1"/>
            </p:cNvSpPr>
            <p:nvPr/>
          </p:nvSpPr>
          <p:spPr bwMode="auto">
            <a:xfrm>
              <a:off x="1584" y="3216"/>
              <a:ext cx="912"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竞争</a:t>
              </a:r>
            </a:p>
            <a:p>
              <a:pPr>
                <a:spcBef>
                  <a:spcPct val="50000"/>
                </a:spcBef>
              </a:pPr>
              <a:endParaRPr lang="en-US" altLang="zh-CN"/>
            </a:p>
          </p:txBody>
        </p:sp>
        <p:sp>
          <p:nvSpPr>
            <p:cNvPr id="10" name="Text Box 12"/>
            <p:cNvSpPr txBox="1">
              <a:spLocks noChangeArrowheads="1"/>
            </p:cNvSpPr>
            <p:nvPr/>
          </p:nvSpPr>
          <p:spPr bwMode="auto">
            <a:xfrm>
              <a:off x="1526" y="2208"/>
              <a:ext cx="346" cy="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a:t>杂草</a:t>
              </a:r>
            </a:p>
          </p:txBody>
        </p:sp>
        <p:sp>
          <p:nvSpPr>
            <p:cNvPr id="11" name="Text Box 13"/>
            <p:cNvSpPr txBox="1">
              <a:spLocks noChangeArrowheads="1"/>
            </p:cNvSpPr>
            <p:nvPr/>
          </p:nvSpPr>
          <p:spPr bwMode="auto">
            <a:xfrm>
              <a:off x="2688" y="3168"/>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胁迫</a:t>
              </a:r>
            </a:p>
          </p:txBody>
        </p:sp>
      </p:grpSp>
      <p:pic>
        <p:nvPicPr>
          <p:cNvPr id="12"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4797425"/>
            <a:ext cx="1944687" cy="173513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863" y="5013325"/>
            <a:ext cx="2808287" cy="1674813"/>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18"/>
          <p:cNvSpPr txBox="1">
            <a:spLocks noChangeArrowheads="1"/>
          </p:cNvSpPr>
          <p:nvPr/>
        </p:nvSpPr>
        <p:spPr bwMode="auto">
          <a:xfrm>
            <a:off x="5866130" y="211455"/>
            <a:ext cx="5870575" cy="4204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ctr">
              <a:spcBef>
                <a:spcPct val="50000"/>
              </a:spcBef>
            </a:pPr>
            <a:r>
              <a:rPr lang="zh-CN" altLang="en-US" sz="2200" b="1">
                <a:latin typeface="楷体" panose="02010609060101010101" pitchFamily="49" charset="-122"/>
                <a:ea typeface="楷体" panose="02010609060101010101" pitchFamily="49" charset="-122"/>
              </a:rPr>
              <a:t>杂草的特点</a:t>
            </a:r>
            <a:endParaRPr lang="en-US" altLang="zh-CN" sz="2200" b="1">
              <a:latin typeface="楷体" panose="02010609060101010101" pitchFamily="49" charset="-122"/>
              <a:ea typeface="楷体" panose="02010609060101010101" pitchFamily="49" charset="-122"/>
            </a:endParaRPr>
          </a:p>
          <a:p>
            <a:pPr marL="342900" indent="-342900">
              <a:spcBef>
                <a:spcPct val="50000"/>
              </a:spcBef>
              <a:buFont typeface="Arial" panose="020B0604020202020204" pitchFamily="34" charset="0"/>
              <a:buChar char="•"/>
            </a:pPr>
            <a:r>
              <a:rPr lang="zh-CN" altLang="en-US" sz="2200" b="1">
                <a:latin typeface="楷体" panose="02010609060101010101" pitchFamily="49" charset="-122"/>
                <a:ea typeface="楷体" panose="02010609060101010101" pitchFamily="49" charset="-122"/>
              </a:rPr>
              <a:t>杂草出现在几乎所有植物群落中</a:t>
            </a:r>
            <a:endParaRPr lang="en-US" altLang="zh-CN" sz="2200" b="1">
              <a:latin typeface="楷体" panose="02010609060101010101" pitchFamily="49" charset="-122"/>
              <a:ea typeface="楷体" panose="02010609060101010101" pitchFamily="49" charset="-122"/>
            </a:endParaRPr>
          </a:p>
          <a:p>
            <a:pPr marL="342900" indent="-342900">
              <a:spcBef>
                <a:spcPct val="50000"/>
              </a:spcBef>
              <a:buFont typeface="Arial" panose="020B0604020202020204" pitchFamily="34" charset="0"/>
              <a:buChar char="•"/>
            </a:pPr>
            <a:r>
              <a:rPr lang="zh-CN" altLang="en-US" sz="2200" b="1">
                <a:latin typeface="楷体" panose="02010609060101010101" pitchFamily="49" charset="-122"/>
                <a:ea typeface="楷体" panose="02010609060101010101" pitchFamily="49" charset="-122"/>
              </a:rPr>
              <a:t>杂草常常在</a:t>
            </a:r>
            <a:r>
              <a:rPr lang="zh-CN" altLang="en-US" sz="2200" b="1">
                <a:solidFill>
                  <a:srgbClr val="FF0000"/>
                </a:solidFill>
                <a:latin typeface="楷体" panose="02010609060101010101" pitchFamily="49" charset="-122"/>
                <a:ea typeface="楷体" panose="02010609060101010101" pitchFamily="49" charset="-122"/>
              </a:rPr>
              <a:t>人类干扰</a:t>
            </a:r>
            <a:r>
              <a:rPr lang="zh-CN" altLang="en-US" sz="2200" b="1">
                <a:latin typeface="楷体" panose="02010609060101010101" pitchFamily="49" charset="-122"/>
                <a:ea typeface="楷体" panose="02010609060101010101" pitchFamily="49" charset="-122"/>
              </a:rPr>
              <a:t>后入侵</a:t>
            </a:r>
            <a:endParaRPr lang="en-US" altLang="zh-CN" sz="2200" b="1">
              <a:latin typeface="楷体" panose="02010609060101010101" pitchFamily="49" charset="-122"/>
              <a:ea typeface="楷体" panose="02010609060101010101" pitchFamily="49" charset="-122"/>
            </a:endParaRPr>
          </a:p>
          <a:p>
            <a:pPr marL="342900" indent="-342900">
              <a:spcBef>
                <a:spcPct val="50000"/>
              </a:spcBef>
              <a:buFont typeface="Arial" panose="020B0604020202020204" pitchFamily="34" charset="0"/>
              <a:buChar char="•"/>
            </a:pPr>
            <a:r>
              <a:rPr lang="zh-CN" altLang="en-US" sz="2200" b="1">
                <a:latin typeface="楷体" panose="02010609060101010101" pitchFamily="49" charset="-122"/>
                <a:ea typeface="楷体" panose="02010609060101010101" pitchFamily="49" charset="-122"/>
              </a:rPr>
              <a:t>人类干扰越厉害，杂草入侵越厉害</a:t>
            </a:r>
            <a:endParaRPr lang="en-US" altLang="zh-CN" sz="2200" b="1">
              <a:latin typeface="楷体" panose="02010609060101010101" pitchFamily="49" charset="-122"/>
              <a:ea typeface="楷体" panose="02010609060101010101" pitchFamily="49" charset="-122"/>
            </a:endParaRPr>
          </a:p>
          <a:p>
            <a:pPr marL="342900" indent="-342900">
              <a:spcBef>
                <a:spcPct val="50000"/>
              </a:spcBef>
              <a:buFont typeface="Arial" panose="020B0604020202020204" pitchFamily="34" charset="0"/>
              <a:buChar char="•"/>
            </a:pPr>
            <a:r>
              <a:rPr lang="zh-CN" altLang="en-US" sz="2200" b="1">
                <a:latin typeface="楷体" panose="02010609060101010101" pitchFamily="49" charset="-122"/>
                <a:ea typeface="楷体" panose="02010609060101010101" pitchFamily="49" charset="-122"/>
              </a:rPr>
              <a:t>天然系统中的多样性越高，杂草入侵的可能性越低</a:t>
            </a:r>
            <a:endParaRPr lang="en-US" altLang="zh-CN" sz="2200" b="1">
              <a:latin typeface="楷体" panose="02010609060101010101" pitchFamily="49" charset="-122"/>
              <a:ea typeface="楷体" panose="02010609060101010101" pitchFamily="49" charset="-122"/>
            </a:endParaRPr>
          </a:p>
          <a:p>
            <a:pPr marL="342900" indent="-342900">
              <a:spcBef>
                <a:spcPct val="50000"/>
              </a:spcBef>
              <a:buFont typeface="Arial" panose="020B0604020202020204" pitchFamily="34" charset="0"/>
              <a:buChar char="•"/>
            </a:pPr>
            <a:r>
              <a:rPr lang="zh-CN" altLang="en-US" sz="2200" b="1">
                <a:latin typeface="楷体" panose="02010609060101010101" pitchFamily="49" charset="-122"/>
                <a:ea typeface="楷体" panose="02010609060101010101" pitchFamily="49" charset="-122"/>
              </a:rPr>
              <a:t>大多数杂草不会在树冠层郁闭良好的森林中茂盛生长</a:t>
            </a:r>
            <a:endParaRPr lang="en-US" altLang="zh-CN" sz="2200" b="1">
              <a:latin typeface="楷体" panose="02010609060101010101" pitchFamily="49" charset="-122"/>
              <a:ea typeface="楷体" panose="02010609060101010101" pitchFamily="49" charset="-122"/>
            </a:endParaRPr>
          </a:p>
          <a:p>
            <a:pPr marL="342900" indent="-342900">
              <a:spcBef>
                <a:spcPct val="50000"/>
              </a:spcBef>
              <a:buFont typeface="Arial" panose="020B0604020202020204" pitchFamily="34" charset="0"/>
              <a:buChar char="•"/>
            </a:pPr>
            <a:r>
              <a:rPr lang="zh-CN" altLang="en-US" sz="2200" b="1">
                <a:latin typeface="楷体" panose="02010609060101010101" pitchFamily="49" charset="-122"/>
                <a:ea typeface="楷体" panose="02010609060101010101" pitchFamily="49" charset="-122"/>
              </a:rPr>
              <a:t>天然系统的恢复会降低杂草过度生长</a:t>
            </a:r>
          </a:p>
        </p:txBody>
      </p:sp>
      <p:pic>
        <p:nvPicPr>
          <p:cNvPr id="15"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125538"/>
            <a:ext cx="2057400" cy="14097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 Box 20"/>
          <p:cNvSpPr txBox="1">
            <a:spLocks noChangeArrowheads="1"/>
          </p:cNvSpPr>
          <p:nvPr/>
        </p:nvSpPr>
        <p:spPr bwMode="auto">
          <a:xfrm>
            <a:off x="684213" y="2708275"/>
            <a:ext cx="1008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latin typeface="Times New Roman" panose="02020603050405020304" pitchFamily="18" charset="0"/>
                <a:ea typeface="宋体" panose="02010600030101010101" pitchFamily="2" charset="-122"/>
                <a:cs typeface="Times New Roman" panose="02020603050405020304" pitchFamily="18" charset="0"/>
              </a:rPr>
              <a:t>Ruderal</a:t>
            </a:r>
          </a:p>
        </p:txBody>
      </p:sp>
      <p:sp>
        <p:nvSpPr>
          <p:cNvPr id="17" name="Text Box 21"/>
          <p:cNvSpPr txBox="1">
            <a:spLocks noChangeArrowheads="1"/>
          </p:cNvSpPr>
          <p:nvPr/>
        </p:nvSpPr>
        <p:spPr bwMode="auto">
          <a:xfrm>
            <a:off x="2627313" y="6237288"/>
            <a:ext cx="14398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latin typeface="Times New Roman" panose="02020603050405020304" pitchFamily="18" charset="0"/>
                <a:ea typeface="宋体" panose="02010600030101010101" pitchFamily="2" charset="-122"/>
                <a:cs typeface="Times New Roman" panose="02020603050405020304" pitchFamily="18" charset="0"/>
              </a:rPr>
              <a:t>Competitive</a:t>
            </a:r>
          </a:p>
        </p:txBody>
      </p:sp>
      <p:sp>
        <p:nvSpPr>
          <p:cNvPr id="18" name="Text Box 22"/>
          <p:cNvSpPr txBox="1">
            <a:spLocks noChangeArrowheads="1"/>
          </p:cNvSpPr>
          <p:nvPr/>
        </p:nvSpPr>
        <p:spPr bwMode="auto">
          <a:xfrm>
            <a:off x="5003800" y="6165850"/>
            <a:ext cx="10080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latin typeface="Times New Roman" panose="02020603050405020304" pitchFamily="18" charset="0"/>
                <a:ea typeface="宋体" panose="02010600030101010101" pitchFamily="2" charset="-122"/>
                <a:cs typeface="Times New Roman" panose="02020603050405020304" pitchFamily="18" charset="0"/>
              </a:rPr>
              <a:t>Stress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4">
                                            <p:txEl>
                                              <p:pRg st="3" end="3"/>
                                            </p:txEl>
                                          </p:spTgt>
                                        </p:tgtEl>
                                        <p:attrNameLst>
                                          <p:attrName>style.visibility</p:attrName>
                                        </p:attrNameLst>
                                      </p:cBhvr>
                                      <p:to>
                                        <p:strVal val="visible"/>
                                      </p:to>
                                    </p:set>
                                    <p:anim calcmode="lin" valueType="num">
                                      <p:cBhvr additive="base">
                                        <p:cTn id="25" dur="500" fill="hold"/>
                                        <p:tgtEl>
                                          <p:spTgt spid="1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14">
                                            <p:txEl>
                                              <p:pRg st="4" end="4"/>
                                            </p:txEl>
                                          </p:spTgt>
                                        </p:tgtEl>
                                        <p:attrNameLst>
                                          <p:attrName>style.visibility</p:attrName>
                                        </p:attrNameLst>
                                      </p:cBhvr>
                                      <p:to>
                                        <p:strVal val="visible"/>
                                      </p:to>
                                    </p:set>
                                    <p:anim calcmode="lin" valueType="num">
                                      <p:cBhvr additive="base">
                                        <p:cTn id="31" dur="500" fill="hold"/>
                                        <p:tgtEl>
                                          <p:spTgt spid="14">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14">
                                            <p:txEl>
                                              <p:pRg st="5" end="5"/>
                                            </p:txEl>
                                          </p:spTgt>
                                        </p:tgtEl>
                                        <p:attrNameLst>
                                          <p:attrName>style.visibility</p:attrName>
                                        </p:attrNameLst>
                                      </p:cBhvr>
                                      <p:to>
                                        <p:strVal val="visible"/>
                                      </p:to>
                                    </p:set>
                                    <p:anim calcmode="lin" valueType="num">
                                      <p:cBhvr additive="base">
                                        <p:cTn id="37" dur="500" fill="hold"/>
                                        <p:tgtEl>
                                          <p:spTgt spid="14">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14">
                                            <p:txEl>
                                              <p:pRg st="6" end="6"/>
                                            </p:txEl>
                                          </p:spTgt>
                                        </p:tgtEl>
                                        <p:attrNameLst>
                                          <p:attrName>style.visibility</p:attrName>
                                        </p:attrNameLst>
                                      </p:cBhvr>
                                      <p:to>
                                        <p:strVal val="visible"/>
                                      </p:to>
                                    </p:set>
                                    <p:anim calcmode="lin" valueType="num">
                                      <p:cBhvr additive="base">
                                        <p:cTn id="43" dur="500" fill="hold"/>
                                        <p:tgtEl>
                                          <p:spTgt spid="14">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4">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stretch>
            <a:fillRect/>
          </a:stretch>
        </p:blipFill>
        <p:spPr>
          <a:xfrm>
            <a:off x="2337435" y="783590"/>
            <a:ext cx="7738745" cy="5836285"/>
          </a:xfrm>
          <a:prstGeom prst="rect">
            <a:avLst/>
          </a:prstGeom>
        </p:spPr>
      </p:pic>
      <p:sp>
        <p:nvSpPr>
          <p:cNvPr id="5" name="Text Box 2"/>
          <p:cNvSpPr txBox="1">
            <a:spLocks noChangeArrowheads="1"/>
          </p:cNvSpPr>
          <p:nvPr/>
        </p:nvSpPr>
        <p:spPr bwMode="auto">
          <a:xfrm>
            <a:off x="369735" y="196245"/>
            <a:ext cx="9268129"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sz="2800" b="1">
                <a:latin typeface="黑体" panose="02010609060101010101" charset="-122"/>
                <a:ea typeface="黑体" panose="02010609060101010101" charset="-122"/>
              </a:rPr>
              <a:t>五、</a:t>
            </a:r>
            <a:r>
              <a:rPr lang="en-US" altLang="zh-CN" sz="2800" b="1">
                <a:latin typeface="黑体" panose="02010609060101010101" charset="-122"/>
                <a:ea typeface="黑体" panose="02010609060101010101" charset="-122"/>
              </a:rPr>
              <a:t>Grime </a:t>
            </a:r>
            <a:r>
              <a:rPr lang="zh-CN" altLang="en-US" sz="2800" b="1">
                <a:latin typeface="黑体" panose="02010609060101010101" charset="-122"/>
                <a:ea typeface="黑体" panose="02010609060101010101" charset="-122"/>
              </a:rPr>
              <a:t>的</a:t>
            </a:r>
            <a:r>
              <a:rPr lang="en-US" altLang="zh-CN" sz="2800" b="1">
                <a:latin typeface="黑体" panose="02010609060101010101" charset="-122"/>
                <a:ea typeface="黑体" panose="02010609060101010101" charset="-122"/>
              </a:rPr>
              <a:t>CSR</a:t>
            </a:r>
            <a:r>
              <a:rPr lang="zh-CN" altLang="en-US" sz="2800" b="1">
                <a:latin typeface="黑体" panose="02010609060101010101" charset="-122"/>
                <a:ea typeface="黑体" panose="02010609060101010101" charset="-122"/>
              </a:rPr>
              <a:t>三角形</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2701" y="1496648"/>
            <a:ext cx="5329238" cy="366395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373626" y="637851"/>
            <a:ext cx="11267768" cy="3415030"/>
          </a:xfrm>
          <a:prstGeom prst="rect">
            <a:avLst/>
          </a:prstGeom>
          <a:noFill/>
        </p:spPr>
        <p:txBody>
          <a:bodyPr wrap="square">
            <a:spAutoFit/>
          </a:bodyPr>
          <a:lstStyle/>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8.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下图示意不同生境条件和植物生活史的关系，选项中正确的是</a:t>
            </a:r>
          </a:p>
          <a:p>
            <a:pPr>
              <a:lnSpc>
                <a:spcPct val="150000"/>
              </a:lnSpc>
            </a:pPr>
            <a:endParaRPr lang="zh-CN" altLang="en-US"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D.</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Ｘ</a:t>
            </a:r>
            <a:r>
              <a:rPr lang="zh-CN" altLang="en-US" sz="2400" b="1">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高严峻度、高干扰的生境会有比较多</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样化的植物</a:t>
            </a:r>
          </a:p>
        </p:txBody>
      </p:sp>
      <p:sp>
        <p:nvSpPr>
          <p:cNvPr id="7" name="文本框 6"/>
          <p:cNvSpPr txBox="1"/>
          <p:nvPr/>
        </p:nvSpPr>
        <p:spPr>
          <a:xfrm>
            <a:off x="373380" y="1191895"/>
            <a:ext cx="6610985" cy="1753235"/>
          </a:xfrm>
          <a:prstGeom prst="rect">
            <a:avLst/>
          </a:prstGeom>
          <a:noFill/>
        </p:spPr>
        <p:txBody>
          <a:bodyPr wrap="square">
            <a:spAutoFit/>
          </a:bodyPr>
          <a:lstStyle/>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A.</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M=杂草类具有的特征</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B.</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Ｎ</a:t>
            </a:r>
            <a:r>
              <a:rPr lang="zh-CN" altLang="en-US" sz="2400" b="1">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具有高竞争力的生活史</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C.</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Ｙ</a:t>
            </a:r>
            <a:r>
              <a:rPr lang="zh-CN" altLang="en-US" sz="2400" b="1">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有利于发展胁迫－耐受特征的生活史</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7">
                                            <p:txEl>
                                              <p:pRg st="0" end="0"/>
                                            </p:txEl>
                                          </p:spTgt>
                                        </p:tgtEl>
                                        <p:attrNameLst>
                                          <p:attrName>style.color</p:attrName>
                                        </p:attrNameLst>
                                      </p:cBhvr>
                                      <p:to>
                                        <a:srgbClr val="FF0000"/>
                                      </p:to>
                                    </p:animClr>
                                    <p:animClr clrSpc="rgb" dir="cw">
                                      <p:cBhvr>
                                        <p:cTn id="7" dur="500" fill="hold"/>
                                        <p:tgtEl>
                                          <p:spTgt spid="7">
                                            <p:txEl>
                                              <p:pRg st="0" end="0"/>
                                            </p:txEl>
                                          </p:spTgt>
                                        </p:tgtEl>
                                        <p:attrNameLst>
                                          <p:attrName>fillcolor</p:attrName>
                                        </p:attrNameLst>
                                      </p:cBhvr>
                                      <p:to>
                                        <a:srgbClr val="FF0000"/>
                                      </p:to>
                                    </p:animClr>
                                    <p:set>
                                      <p:cBhvr>
                                        <p:cTn id="8" dur="500" fill="hold"/>
                                        <p:tgtEl>
                                          <p:spTgt spid="7">
                                            <p:txEl>
                                              <p:pRg st="0" end="0"/>
                                            </p:txEl>
                                          </p:spTgt>
                                        </p:tgtEl>
                                        <p:attrNameLst>
                                          <p:attrName>fill.type</p:attrName>
                                        </p:attrNameLst>
                                      </p:cBhvr>
                                      <p:to>
                                        <p:strVal val="solid"/>
                                      </p:to>
                                    </p:set>
                                    <p:set>
                                      <p:cBhvr>
                                        <p:cTn id="9" dur="500" fill="hold"/>
                                        <p:tgtEl>
                                          <p:spTgt spid="7">
                                            <p:txEl>
                                              <p:pRg st="0" end="0"/>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500" fill="hold"/>
                                        <p:tgtEl>
                                          <p:spTgt spid="7">
                                            <p:txEl>
                                              <p:pRg st="1" end="1"/>
                                            </p:txEl>
                                          </p:spTgt>
                                        </p:tgtEl>
                                        <p:attrNameLst>
                                          <p:attrName>style.color</p:attrName>
                                        </p:attrNameLst>
                                      </p:cBhvr>
                                      <p:to>
                                        <a:srgbClr val="FF0000"/>
                                      </p:to>
                                    </p:animClr>
                                    <p:animClr clrSpc="rgb" dir="cw">
                                      <p:cBhvr>
                                        <p:cTn id="12" dur="500" fill="hold"/>
                                        <p:tgtEl>
                                          <p:spTgt spid="7">
                                            <p:txEl>
                                              <p:pRg st="1" end="1"/>
                                            </p:txEl>
                                          </p:spTgt>
                                        </p:tgtEl>
                                        <p:attrNameLst>
                                          <p:attrName>fillcolor</p:attrName>
                                        </p:attrNameLst>
                                      </p:cBhvr>
                                      <p:to>
                                        <a:srgbClr val="FF0000"/>
                                      </p:to>
                                    </p:animClr>
                                    <p:set>
                                      <p:cBhvr>
                                        <p:cTn id="13" dur="500" fill="hold"/>
                                        <p:tgtEl>
                                          <p:spTgt spid="7">
                                            <p:txEl>
                                              <p:pRg st="1" end="1"/>
                                            </p:txEl>
                                          </p:spTgt>
                                        </p:tgtEl>
                                        <p:attrNameLst>
                                          <p:attrName>fill.type</p:attrName>
                                        </p:attrNameLst>
                                      </p:cBhvr>
                                      <p:to>
                                        <p:strVal val="solid"/>
                                      </p:to>
                                    </p:set>
                                    <p:set>
                                      <p:cBhvr>
                                        <p:cTn id="14" dur="500" fill="hold"/>
                                        <p:tgtEl>
                                          <p:spTgt spid="7">
                                            <p:txEl>
                                              <p:pRg st="1" end="1"/>
                                            </p:txEl>
                                          </p:spTgt>
                                        </p:tgtEl>
                                        <p:attrNameLst>
                                          <p:attrName>fill.on</p:attrName>
                                        </p:attrNameLst>
                                      </p:cBhvr>
                                      <p:to>
                                        <p:strVal val="true"/>
                                      </p:to>
                                    </p:set>
                                  </p:childTnLst>
                                </p:cTn>
                              </p:par>
                              <p:par>
                                <p:cTn id="15" presetID="19" presetClass="emph" presetSubtype="0" fill="hold" nodeType="withEffect">
                                  <p:stCondLst>
                                    <p:cond delay="0"/>
                                  </p:stCondLst>
                                  <p:childTnLst>
                                    <p:animClr clrSpc="rgb" dir="cw">
                                      <p:cBhvr override="childStyle">
                                        <p:cTn id="16" dur="500" fill="hold"/>
                                        <p:tgtEl>
                                          <p:spTgt spid="7">
                                            <p:txEl>
                                              <p:pRg st="2" end="2"/>
                                            </p:txEl>
                                          </p:spTgt>
                                        </p:tgtEl>
                                        <p:attrNameLst>
                                          <p:attrName>style.color</p:attrName>
                                        </p:attrNameLst>
                                      </p:cBhvr>
                                      <p:to>
                                        <a:srgbClr val="FF0000"/>
                                      </p:to>
                                    </p:animClr>
                                    <p:animClr clrSpc="rgb" dir="cw">
                                      <p:cBhvr>
                                        <p:cTn id="17" dur="500" fill="hold"/>
                                        <p:tgtEl>
                                          <p:spTgt spid="7">
                                            <p:txEl>
                                              <p:pRg st="2" end="2"/>
                                            </p:txEl>
                                          </p:spTgt>
                                        </p:tgtEl>
                                        <p:attrNameLst>
                                          <p:attrName>fillcolor</p:attrName>
                                        </p:attrNameLst>
                                      </p:cBhvr>
                                      <p:to>
                                        <a:srgbClr val="FF0000"/>
                                      </p:to>
                                    </p:animClr>
                                    <p:set>
                                      <p:cBhvr>
                                        <p:cTn id="18" dur="500" fill="hold"/>
                                        <p:tgtEl>
                                          <p:spTgt spid="7">
                                            <p:txEl>
                                              <p:pRg st="2" end="2"/>
                                            </p:txEl>
                                          </p:spTgt>
                                        </p:tgtEl>
                                        <p:attrNameLst>
                                          <p:attrName>fill.type</p:attrName>
                                        </p:attrNameLst>
                                      </p:cBhvr>
                                      <p:to>
                                        <p:strVal val="solid"/>
                                      </p:to>
                                    </p:set>
                                    <p:set>
                                      <p:cBhvr>
                                        <p:cTn id="19" dur="500" fill="hold"/>
                                        <p:tgtEl>
                                          <p:spTgt spid="7">
                                            <p:txEl>
                                              <p:pRg st="2" end="2"/>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786580" y="636761"/>
            <a:ext cx="10432026" cy="2861310"/>
          </a:xfrm>
          <a:prstGeom prst="rect">
            <a:avLst/>
          </a:prstGeom>
          <a:noFill/>
        </p:spPr>
        <p:txBody>
          <a:bodyPr wrap="square">
            <a:spAutoFit/>
          </a:bodyPr>
          <a:lstStyle/>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9.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根据</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Grime</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的</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1">
                <a:latin typeface="Times New Roman" panose="02020603050405020304" pitchFamily="18" charset="0"/>
                <a:ea typeface="宋体" panose="02010600030101010101" pitchFamily="2" charset="-122"/>
                <a:cs typeface="Times New Roman" panose="02020603050405020304" pitchFamily="18" charset="0"/>
                <a:sym typeface="+mn-ea"/>
              </a:rPr>
              <a:t>S</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三角形对植物生活的划分，下面说法正确的是</a:t>
            </a:r>
          </a:p>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A.</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高山冻原环境支持杂草对策</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endParaRPr lang="zh-CN" altLang="en-US" sz="2400" b="1">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C.</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沙漠支持杂草对策</a:t>
            </a:r>
          </a:p>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D.</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热带雨林环境支持胁迫忍耐对策</a:t>
            </a:r>
          </a:p>
        </p:txBody>
      </p:sp>
      <p:sp>
        <p:nvSpPr>
          <p:cNvPr id="7" name="文本框 6"/>
          <p:cNvSpPr txBox="1"/>
          <p:nvPr/>
        </p:nvSpPr>
        <p:spPr>
          <a:xfrm>
            <a:off x="786580" y="1746261"/>
            <a:ext cx="6096000" cy="645160"/>
          </a:xfrm>
          <a:prstGeom prst="rect">
            <a:avLst/>
          </a:prstGeom>
          <a:noFill/>
        </p:spPr>
        <p:txBody>
          <a:bodyPr wrap="square">
            <a:spAutoFit/>
          </a:bodyPr>
          <a:lstStyle/>
          <a:p>
            <a:pPr>
              <a:lnSpc>
                <a:spcPct val="150000"/>
              </a:lnSpc>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     B.</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放牧草原环境支持杂草对策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7">
                                            <p:txEl>
                                              <p:pRg st="0" end="0"/>
                                            </p:txEl>
                                          </p:spTgt>
                                        </p:tgtEl>
                                        <p:attrNameLst>
                                          <p:attrName>style.color</p:attrName>
                                        </p:attrNameLst>
                                      </p:cBhvr>
                                      <p:to>
                                        <a:srgbClr val="FF0000"/>
                                      </p:to>
                                    </p:animClr>
                                    <p:animClr clrSpc="rgb" dir="cw">
                                      <p:cBhvr>
                                        <p:cTn id="7" dur="500" fill="hold"/>
                                        <p:tgtEl>
                                          <p:spTgt spid="7">
                                            <p:txEl>
                                              <p:pRg st="0" end="0"/>
                                            </p:txEl>
                                          </p:spTgt>
                                        </p:tgtEl>
                                        <p:attrNameLst>
                                          <p:attrName>fillcolor</p:attrName>
                                        </p:attrNameLst>
                                      </p:cBhvr>
                                      <p:to>
                                        <a:srgbClr val="FF0000"/>
                                      </p:to>
                                    </p:animClr>
                                    <p:set>
                                      <p:cBhvr>
                                        <p:cTn id="8" dur="500" fill="hold"/>
                                        <p:tgtEl>
                                          <p:spTgt spid="7">
                                            <p:txEl>
                                              <p:pRg st="0" end="0"/>
                                            </p:txEl>
                                          </p:spTgt>
                                        </p:tgtEl>
                                        <p:attrNameLst>
                                          <p:attrName>fill.type</p:attrName>
                                        </p:attrNameLst>
                                      </p:cBhvr>
                                      <p:to>
                                        <p:strVal val="solid"/>
                                      </p:to>
                                    </p:set>
                                    <p:set>
                                      <p:cBhvr>
                                        <p:cTn id="9" dur="500" fill="hold"/>
                                        <p:tgtEl>
                                          <p:spTgt spid="7">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srcRect l="11500" t="46739" r="21966" b="17394"/>
          <a:stretch>
            <a:fillRect/>
          </a:stretch>
        </p:blipFill>
        <p:spPr>
          <a:xfrm>
            <a:off x="861060" y="1104900"/>
            <a:ext cx="10293350" cy="4648835"/>
          </a:xfrm>
          <a:prstGeom prst="rect">
            <a:avLst/>
          </a:prstGeom>
        </p:spPr>
      </p:pic>
      <p:sp>
        <p:nvSpPr>
          <p:cNvPr id="5" name="标题 4"/>
          <p:cNvSpPr>
            <a:spLocks noGrp="1"/>
          </p:cNvSpPr>
          <p:nvPr>
            <p:ph type="ctrTitle"/>
          </p:nvPr>
        </p:nvSpPr>
        <p:spPr>
          <a:xfrm>
            <a:off x="1254125" y="212725"/>
            <a:ext cx="9144000" cy="1035685"/>
          </a:xfrm>
        </p:spPr>
        <p:txBody>
          <a:bodyPr/>
          <a:lstStyle/>
          <a:p>
            <a:r>
              <a:rPr lang="en-US" altLang="zh-CN" b="1">
                <a:solidFill>
                  <a:srgbClr val="FF0000"/>
                </a:solidFill>
              </a:rPr>
              <a:t>7  </a:t>
            </a:r>
            <a:r>
              <a:rPr lang="zh-CN" altLang="en-US" b="1">
                <a:solidFill>
                  <a:srgbClr val="FF0000"/>
                </a:solidFill>
              </a:rPr>
              <a:t>种内与种间关系</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stretch>
            <a:fillRect/>
          </a:stretch>
        </p:blipFill>
        <p:spPr>
          <a:xfrm>
            <a:off x="2157730" y="1231265"/>
            <a:ext cx="7431405" cy="4673600"/>
          </a:xfrm>
          <a:prstGeom prst="rect">
            <a:avLst/>
          </a:prstGeom>
        </p:spPr>
      </p:pic>
      <p:sp>
        <p:nvSpPr>
          <p:cNvPr id="5" name="标题 4"/>
          <p:cNvSpPr>
            <a:spLocks noGrp="1"/>
          </p:cNvSpPr>
          <p:nvPr>
            <p:ph type="ctrTitle"/>
          </p:nvPr>
        </p:nvSpPr>
        <p:spPr>
          <a:xfrm>
            <a:off x="1049020" y="344170"/>
            <a:ext cx="9144000" cy="1257935"/>
          </a:xfrm>
        </p:spPr>
        <p:txBody>
          <a:bodyPr/>
          <a:lstStyle/>
          <a:p>
            <a:r>
              <a:rPr lang="en-US" altLang="zh-CN" b="1">
                <a:solidFill>
                  <a:srgbClr val="FF0000"/>
                </a:solidFill>
              </a:rPr>
              <a:t>7  </a:t>
            </a:r>
            <a:r>
              <a:rPr lang="zh-CN" altLang="en-US" b="1">
                <a:solidFill>
                  <a:srgbClr val="FF0000"/>
                </a:solidFill>
              </a:rPr>
              <a:t>种内与种间关系</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p:nvPr/>
        </p:nvGraphicFramePr>
        <p:xfrm>
          <a:off x="2895600" y="1447800"/>
          <a:ext cx="6705600" cy="4559300"/>
        </p:xfrm>
        <a:graphic>
          <a:graphicData uri="http://schemas.openxmlformats.org/presentationml/2006/ole">
            <mc:AlternateContent xmlns:mc="http://schemas.openxmlformats.org/markup-compatibility/2006">
              <mc:Choice xmlns:v="urn:schemas-microsoft-com:vml" Requires="v">
                <p:oleObj r:id="rId2" imgW="6705600" imgH="4565650" progId="Word.Document.8">
                  <p:embed/>
                </p:oleObj>
              </mc:Choice>
              <mc:Fallback>
                <p:oleObj r:id="rId2" imgW="6705600" imgH="4565650" progId="Word.Document.8">
                  <p:embed/>
                  <p:pic>
                    <p:nvPicPr>
                      <p:cNvPr id="1026" name="Object 2"/>
                      <p:cNvPicPr/>
                      <p:nvPr/>
                    </p:nvPicPr>
                    <p:blipFill>
                      <a:blip r:embed="rId3"/>
                      <a:stretch>
                        <a:fillRect/>
                      </a:stretch>
                    </p:blipFill>
                    <p:spPr>
                      <a:xfrm>
                        <a:off x="2895600" y="1447800"/>
                        <a:ext cx="6705600" cy="4559300"/>
                      </a:xfrm>
                      <a:prstGeom prst="rect">
                        <a:avLst/>
                      </a:prstGeom>
                      <a:noFill/>
                      <a:ln w="38100">
                        <a:noFill/>
                        <a:miter/>
                      </a:ln>
                    </p:spPr>
                  </p:pic>
                </p:oleObj>
              </mc:Fallback>
            </mc:AlternateContent>
          </a:graphicData>
        </a:graphic>
      </p:graphicFrame>
      <p:pic>
        <p:nvPicPr>
          <p:cNvPr id="1027" name="Picture 4" descr="IMG_0063"/>
          <p:cNvPicPr>
            <a:picLocks noChangeAspect="1"/>
          </p:cNvPicPr>
          <p:nvPr/>
        </p:nvPicPr>
        <p:blipFill>
          <a:blip r:embed="rId4"/>
          <a:stretch>
            <a:fillRect/>
          </a:stretch>
        </p:blipFill>
        <p:spPr>
          <a:xfrm>
            <a:off x="1524000" y="0"/>
            <a:ext cx="4284663" cy="3213100"/>
          </a:xfrm>
          <a:prstGeom prst="rect">
            <a:avLst/>
          </a:prstGeom>
          <a:noFill/>
          <a:ln w="9525">
            <a:noFill/>
          </a:ln>
        </p:spPr>
      </p:pic>
      <p:sp>
        <p:nvSpPr>
          <p:cNvPr id="1028" name="Rectangle 6"/>
          <p:cNvSpPr/>
          <p:nvPr/>
        </p:nvSpPr>
        <p:spPr>
          <a:xfrm>
            <a:off x="6311900" y="1844675"/>
            <a:ext cx="4356100" cy="1783715"/>
          </a:xfrm>
          <a:prstGeom prst="rect">
            <a:avLst/>
          </a:prstGeom>
          <a:noFill/>
          <a:ln w="12700">
            <a:noFill/>
          </a:ln>
        </p:spPr>
        <p:txBody>
          <a:bodyPr>
            <a:spAutoFit/>
          </a:bodyPr>
          <a:lstStyle/>
          <a:p>
            <a:endParaRPr lang="en-US" altLang="zh-CN" sz="3600" b="1">
              <a:latin typeface="Times New Roman" panose="02020603050405020304" pitchFamily="18" charset="0"/>
            </a:endParaRPr>
          </a:p>
          <a:p>
            <a:r>
              <a:rPr lang="en-US" altLang="zh-CN" b="1">
                <a:latin typeface="Times New Roman" panose="02020603050405020304" pitchFamily="18" charset="0"/>
              </a:rPr>
              <a:t> </a:t>
            </a:r>
          </a:p>
          <a:p>
            <a:r>
              <a:rPr lang="zh-CN" altLang="en-US" sz="2800" b="1">
                <a:latin typeface="Times New Roman" panose="02020603050405020304" pitchFamily="18" charset="0"/>
              </a:rPr>
              <a:t>种内关系的基本类型</a:t>
            </a:r>
          </a:p>
          <a:p>
            <a:endParaRPr lang="en-US" altLang="zh-CN" sz="2800" b="1">
              <a:latin typeface="Times New Roman" panose="02020603050405020304" pitchFamily="18" charset="0"/>
            </a:endParaRPr>
          </a:p>
        </p:txBody>
      </p:sp>
      <p:sp>
        <p:nvSpPr>
          <p:cNvPr id="1029" name="Text Box 7"/>
          <p:cNvSpPr txBox="1"/>
          <p:nvPr/>
        </p:nvSpPr>
        <p:spPr>
          <a:xfrm>
            <a:off x="6167438" y="692150"/>
            <a:ext cx="4321175" cy="1353185"/>
          </a:xfrm>
          <a:prstGeom prst="rect">
            <a:avLst/>
          </a:prstGeom>
          <a:noFill/>
          <a:ln w="12700">
            <a:noFill/>
          </a:ln>
        </p:spPr>
        <p:txBody>
          <a:bodyPr>
            <a:spAutoFit/>
          </a:bodyPr>
          <a:lstStyle/>
          <a:p>
            <a:pPr>
              <a:spcBef>
                <a:spcPct val="50000"/>
              </a:spcBef>
            </a:pPr>
            <a:r>
              <a:rPr lang="en-US" altLang="zh-CN" sz="4000" b="1">
                <a:latin typeface="Times New Roman" panose="02020603050405020304" pitchFamily="18" charset="0"/>
              </a:rPr>
              <a:t>7.1   </a:t>
            </a:r>
            <a:r>
              <a:rPr lang="zh-CN" altLang="en-US" sz="4000" b="1">
                <a:latin typeface="Times New Roman" panose="02020603050405020304" pitchFamily="18" charset="0"/>
              </a:rPr>
              <a:t>种内关系</a:t>
            </a:r>
          </a:p>
          <a:p>
            <a:pPr>
              <a:spcBef>
                <a:spcPct val="50000"/>
              </a:spcBef>
            </a:pPr>
            <a:r>
              <a:rPr lang="en-US" altLang="zh-CN" sz="2800" b="1">
                <a:latin typeface="Times New Roman" panose="02020603050405020304" pitchFamily="18" charset="0"/>
              </a:rPr>
              <a:t>(Intraspecific competition)</a:t>
            </a:r>
          </a:p>
        </p:txBody>
      </p:sp>
      <p:sp>
        <p:nvSpPr>
          <p:cNvPr id="37896" name="Text Box 8"/>
          <p:cNvSpPr txBox="1"/>
          <p:nvPr/>
        </p:nvSpPr>
        <p:spPr>
          <a:xfrm>
            <a:off x="448945" y="3502660"/>
            <a:ext cx="10901680" cy="1814830"/>
          </a:xfrm>
          <a:prstGeom prst="rect">
            <a:avLst/>
          </a:prstGeom>
          <a:noFill/>
          <a:ln w="12700">
            <a:noFill/>
          </a:ln>
        </p:spPr>
        <p:txBody>
          <a:bodyPr wrap="square">
            <a:spAutoFit/>
          </a:bodyPr>
          <a:lstStyle/>
          <a:p>
            <a:r>
              <a:rPr lang="en-US" altLang="zh-CN" sz="2800" b="1">
                <a:latin typeface="Times New Roman" panose="02020603050405020304" pitchFamily="18" charset="0"/>
              </a:rPr>
              <a:t>1.</a:t>
            </a:r>
            <a:r>
              <a:rPr lang="zh-CN" altLang="en-US" sz="2800" b="1">
                <a:latin typeface="Times New Roman" panose="02020603050405020304" pitchFamily="18" charset="0"/>
              </a:rPr>
              <a:t>个体间的竞争</a:t>
            </a:r>
            <a:r>
              <a:rPr lang="en-US" altLang="zh-CN" sz="2800" b="1">
                <a:latin typeface="Times New Roman" panose="02020603050405020304" pitchFamily="18" charset="0"/>
              </a:rPr>
              <a:t>--</a:t>
            </a:r>
            <a:r>
              <a:rPr lang="zh-CN" altLang="en-US" sz="2800" b="1">
                <a:latin typeface="Times New Roman" panose="02020603050405020304" pitchFamily="18" charset="0"/>
              </a:rPr>
              <a:t>植物的密度效应</a:t>
            </a:r>
            <a:r>
              <a:rPr lang="en-US" altLang="zh-CN" sz="2800" b="1">
                <a:latin typeface="Times New Roman" panose="02020603050405020304" pitchFamily="18" charset="0"/>
              </a:rPr>
              <a:t>; </a:t>
            </a:r>
          </a:p>
          <a:p>
            <a:r>
              <a:rPr lang="en-US" altLang="zh-CN" sz="2800" b="1">
                <a:latin typeface="Times New Roman" panose="02020603050405020304" pitchFamily="18" charset="0"/>
              </a:rPr>
              <a:t>2.</a:t>
            </a:r>
            <a:r>
              <a:rPr lang="zh-CN" altLang="en-US" sz="2800" b="1">
                <a:latin typeface="Times New Roman" panose="02020603050405020304" pitchFamily="18" charset="0"/>
              </a:rPr>
              <a:t>与性别有关的种内关系（繁殖与婚配制度）</a:t>
            </a:r>
            <a:r>
              <a:rPr lang="en-US" altLang="zh-CN" sz="2800" b="1">
                <a:latin typeface="Times New Roman" panose="02020603050405020304" pitchFamily="18" charset="0"/>
              </a:rPr>
              <a:t>;</a:t>
            </a:r>
            <a:endParaRPr lang="zh-CN" altLang="en-US" sz="2800" b="1">
              <a:latin typeface="Times New Roman" panose="02020603050405020304" pitchFamily="18" charset="0"/>
            </a:endParaRPr>
          </a:p>
          <a:p>
            <a:r>
              <a:rPr lang="en-US" altLang="zh-CN" sz="2800" b="1">
                <a:latin typeface="Times New Roman" panose="02020603050405020304" pitchFamily="18" charset="0"/>
              </a:rPr>
              <a:t>3.</a:t>
            </a:r>
            <a:r>
              <a:rPr lang="zh-CN" altLang="en-US" sz="2800" b="1">
                <a:latin typeface="Times New Roman" panose="02020603050405020304" pitchFamily="18" charset="0"/>
              </a:rPr>
              <a:t>与性别无关的种内关系（领域、社会等级、集群和利他行为，他感</a:t>
            </a:r>
          </a:p>
          <a:p>
            <a:r>
              <a:rPr lang="zh-CN" altLang="en-US" sz="2800" b="1">
                <a:latin typeface="Times New Roman" panose="02020603050405020304" pitchFamily="18" charset="0"/>
              </a:rPr>
              <a:t> </a:t>
            </a:r>
            <a:r>
              <a:rPr lang="en-US" altLang="zh-CN" sz="2800" b="1">
                <a:latin typeface="Times New Roman" panose="02020603050405020304" pitchFamily="18" charset="0"/>
              </a:rPr>
              <a:t>  </a:t>
            </a:r>
            <a:r>
              <a:rPr lang="zh-CN" altLang="en-US" sz="2800" b="1">
                <a:latin typeface="Times New Roman" panose="02020603050405020304" pitchFamily="18" charset="0"/>
              </a:rPr>
              <a:t>作用）。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96">
                                            <p:txEl>
                                              <p:charRg st="0" end="19"/>
                                            </p:txEl>
                                          </p:spTgt>
                                        </p:tgtEl>
                                        <p:attrNameLst>
                                          <p:attrName>style.visibility</p:attrName>
                                        </p:attrNameLst>
                                      </p:cBhvr>
                                      <p:to>
                                        <p:strVal val="visible"/>
                                      </p:to>
                                    </p:set>
                                    <p:animEffect transition="in" filter="blinds(horizontal)">
                                      <p:cBhvr>
                                        <p:cTn id="7" dur="500"/>
                                        <p:tgtEl>
                                          <p:spTgt spid="37896">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896">
                                            <p:txEl>
                                              <p:charRg st="19" end="41"/>
                                            </p:txEl>
                                          </p:spTgt>
                                        </p:tgtEl>
                                        <p:attrNameLst>
                                          <p:attrName>style.visibility</p:attrName>
                                        </p:attrNameLst>
                                      </p:cBhvr>
                                      <p:to>
                                        <p:strVal val="visible"/>
                                      </p:to>
                                    </p:set>
                                    <p:animEffect transition="in" filter="blinds(horizontal)">
                                      <p:cBhvr>
                                        <p:cTn id="12" dur="500"/>
                                        <p:tgtEl>
                                          <p:spTgt spid="37896">
                                            <p:txEl>
                                              <p:charRg st="19" end="4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896">
                                            <p:txEl>
                                              <p:charRg st="41" end="76"/>
                                            </p:txEl>
                                          </p:spTgt>
                                        </p:tgtEl>
                                        <p:attrNameLst>
                                          <p:attrName>style.visibility</p:attrName>
                                        </p:attrNameLst>
                                      </p:cBhvr>
                                      <p:to>
                                        <p:strVal val="visible"/>
                                      </p:to>
                                    </p:set>
                                    <p:animEffect transition="in" filter="blinds(horizontal)">
                                      <p:cBhvr>
                                        <p:cTn id="17" dur="500"/>
                                        <p:tgtEl>
                                          <p:spTgt spid="37896">
                                            <p:txEl>
                                              <p:charRg st="41" end="7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896">
                                            <p:txEl>
                                              <p:charRg st="3" end="3"/>
                                            </p:txEl>
                                          </p:spTgt>
                                        </p:tgtEl>
                                        <p:attrNameLst>
                                          <p:attrName>style.visibility</p:attrName>
                                        </p:attrNameLst>
                                      </p:cBhvr>
                                      <p:to>
                                        <p:strVal val="visible"/>
                                      </p:to>
                                    </p:set>
                                    <p:animEffect transition="in" filter="blinds(horizontal)">
                                      <p:cBhvr>
                                        <p:cTn id="22" dur="500"/>
                                        <p:tgtEl>
                                          <p:spTgt spid="37896">
                                            <p:txEl>
                                              <p:char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2"/>
          <p:cNvGraphicFramePr/>
          <p:nvPr/>
        </p:nvGraphicFramePr>
        <p:xfrm>
          <a:off x="3048000" y="762000"/>
          <a:ext cx="5486400" cy="2076450"/>
        </p:xfrm>
        <a:graphic>
          <a:graphicData uri="http://schemas.openxmlformats.org/presentationml/2006/ole">
            <mc:AlternateContent xmlns:mc="http://schemas.openxmlformats.org/markup-compatibility/2006">
              <mc:Choice xmlns:v="urn:schemas-microsoft-com:vml" Requires="v">
                <p:oleObj r:id="rId2" imgW="5486400" imgH="2095500" progId="Word.Document.8">
                  <p:embed/>
                </p:oleObj>
              </mc:Choice>
              <mc:Fallback>
                <p:oleObj r:id="rId2" imgW="5486400" imgH="2095500" progId="Word.Document.8">
                  <p:embed/>
                  <p:pic>
                    <p:nvPicPr>
                      <p:cNvPr id="2050" name="Object 2"/>
                      <p:cNvPicPr/>
                      <p:nvPr/>
                    </p:nvPicPr>
                    <p:blipFill>
                      <a:blip r:embed="rId3"/>
                      <a:stretch>
                        <a:fillRect/>
                      </a:stretch>
                    </p:blipFill>
                    <p:spPr>
                      <a:xfrm>
                        <a:off x="3048000" y="762000"/>
                        <a:ext cx="5486400" cy="2076450"/>
                      </a:xfrm>
                      <a:prstGeom prst="rect">
                        <a:avLst/>
                      </a:prstGeom>
                      <a:noFill/>
                      <a:ln w="38100">
                        <a:noFill/>
                        <a:miter/>
                      </a:ln>
                    </p:spPr>
                  </p:pic>
                </p:oleObj>
              </mc:Fallback>
            </mc:AlternateContent>
          </a:graphicData>
        </a:graphic>
      </p:graphicFrame>
      <p:pic>
        <p:nvPicPr>
          <p:cNvPr id="2051" name="Picture 7" descr="16 副本"/>
          <p:cNvPicPr>
            <a:picLocks noChangeAspect="1"/>
          </p:cNvPicPr>
          <p:nvPr/>
        </p:nvPicPr>
        <p:blipFill>
          <a:blip r:embed="rId4"/>
          <a:srcRect b="15026"/>
          <a:stretch>
            <a:fillRect/>
          </a:stretch>
        </p:blipFill>
        <p:spPr>
          <a:xfrm>
            <a:off x="1960245" y="3000375"/>
            <a:ext cx="7162800" cy="2740025"/>
          </a:xfrm>
          <a:prstGeom prst="rect">
            <a:avLst/>
          </a:prstGeom>
          <a:noFill/>
          <a:ln w="9525">
            <a:noFill/>
          </a:ln>
        </p:spPr>
      </p:pic>
      <p:sp>
        <p:nvSpPr>
          <p:cNvPr id="2052" name="Text Box 8"/>
          <p:cNvSpPr txBox="1"/>
          <p:nvPr/>
        </p:nvSpPr>
        <p:spPr>
          <a:xfrm>
            <a:off x="1083310" y="476250"/>
            <a:ext cx="8916670" cy="2953385"/>
          </a:xfrm>
          <a:prstGeom prst="rect">
            <a:avLst/>
          </a:prstGeom>
          <a:noFill/>
          <a:ln w="12700">
            <a:noFill/>
          </a:ln>
        </p:spPr>
        <p:txBody>
          <a:bodyPr wrap="square">
            <a:spAutoFit/>
          </a:bodyPr>
          <a:lstStyle/>
          <a:p>
            <a:pPr algn="just">
              <a:spcBef>
                <a:spcPct val="50000"/>
              </a:spcBef>
            </a:pPr>
            <a:r>
              <a:rPr lang="en-US" altLang="zh-CN" sz="3200" b="1">
                <a:solidFill>
                  <a:srgbClr val="000000"/>
                </a:solidFill>
                <a:latin typeface="Times New Roman" panose="02020603050405020304" pitchFamily="18" charset="0"/>
              </a:rPr>
              <a:t>7.1.1   </a:t>
            </a:r>
            <a:r>
              <a:rPr lang="zh-CN" altLang="en-US" sz="3200" b="1">
                <a:solidFill>
                  <a:srgbClr val="000000"/>
                </a:solidFill>
                <a:latin typeface="Times New Roman" panose="02020603050405020304" pitchFamily="18" charset="0"/>
              </a:rPr>
              <a:t>植物的密度效应</a:t>
            </a:r>
            <a:endParaRPr lang="zh-CN" altLang="en-US" sz="3200" b="1">
              <a:latin typeface="Times New Roman" panose="02020603050405020304" pitchFamily="18" charset="0"/>
            </a:endParaRPr>
          </a:p>
          <a:p>
            <a:pPr algn="just">
              <a:spcBef>
                <a:spcPct val="50000"/>
              </a:spcBef>
            </a:pPr>
            <a:r>
              <a:rPr lang="en-US" altLang="zh-CN" sz="2800" b="1">
                <a:solidFill>
                  <a:srgbClr val="000000"/>
                </a:solidFill>
                <a:latin typeface="Times New Roman" panose="02020603050405020304" pitchFamily="18" charset="0"/>
              </a:rPr>
              <a:t>1 </a:t>
            </a:r>
            <a:r>
              <a:rPr lang="zh-CN" altLang="en-US" sz="2800" b="1">
                <a:solidFill>
                  <a:srgbClr val="000000"/>
                </a:solidFill>
                <a:latin typeface="Times New Roman" panose="02020603050405020304" pitchFamily="18" charset="0"/>
              </a:rPr>
              <a:t>最后产量恒值法则 </a:t>
            </a:r>
            <a:r>
              <a:rPr lang="en-US" altLang="zh-CN" sz="2800" b="1">
                <a:solidFill>
                  <a:srgbClr val="000000"/>
                </a:solidFill>
                <a:latin typeface="Times New Roman" panose="02020603050405020304" pitchFamily="18" charset="0"/>
              </a:rPr>
              <a:t>(law of constant final yield)</a:t>
            </a:r>
            <a:endParaRPr lang="en-US" altLang="zh-CN" sz="2800" b="1">
              <a:latin typeface="Times New Roman" panose="02020603050405020304" pitchFamily="18" charset="0"/>
            </a:endParaRPr>
          </a:p>
          <a:p>
            <a:pPr algn="just">
              <a:spcBef>
                <a:spcPct val="50000"/>
              </a:spcBef>
            </a:pPr>
            <a:r>
              <a:rPr lang="zh-CN" altLang="en-US" sz="2800" b="1">
                <a:solidFill>
                  <a:srgbClr val="000000"/>
                </a:solidFill>
                <a:latin typeface="Times New Roman" panose="02020603050405020304" pitchFamily="18" charset="0"/>
              </a:rPr>
              <a:t>在很大播种密度范围内，植物的最终产量是相等的。（</a:t>
            </a:r>
            <a:r>
              <a:rPr lang="en-US" altLang="zh-CN" sz="2800" b="1">
                <a:solidFill>
                  <a:srgbClr val="000000"/>
                </a:solidFill>
                <a:latin typeface="Times New Roman" panose="02020603050405020304" pitchFamily="18" charset="0"/>
              </a:rPr>
              <a:t>Y = W×d</a:t>
            </a:r>
            <a:r>
              <a:rPr lang="en-US" altLang="zh-CN" sz="2800" b="1">
                <a:solidFill>
                  <a:srgbClr val="000000"/>
                </a:solidFill>
                <a:latin typeface="Times New Roman" panose="02020603050405020304" pitchFamily="18" charset="0"/>
                <a:sym typeface="+mn-ea"/>
              </a:rPr>
              <a:t>=K</a:t>
            </a:r>
            <a:r>
              <a:rPr lang="en-US" altLang="zh-CN" sz="2800" b="1" baseline="-25000">
                <a:solidFill>
                  <a:srgbClr val="000000"/>
                </a:solidFill>
                <a:latin typeface="Times New Roman" panose="02020603050405020304" pitchFamily="18" charset="0"/>
                <a:sym typeface="+mn-ea"/>
              </a:rPr>
              <a:t>i</a:t>
            </a:r>
            <a:r>
              <a:rPr lang="zh-CN" altLang="en-US" sz="2800" b="1">
                <a:solidFill>
                  <a:srgbClr val="000000"/>
                </a:solidFill>
                <a:latin typeface="Times New Roman" panose="02020603050405020304" pitchFamily="18" charset="0"/>
              </a:rPr>
              <a:t>）</a:t>
            </a:r>
            <a:endParaRPr lang="zh-CN" altLang="en-US" sz="2800" b="1">
              <a:latin typeface="Times New Roman" panose="02020603050405020304" pitchFamily="18" charset="0"/>
            </a:endParaRPr>
          </a:p>
          <a:p>
            <a:pPr>
              <a:spcBef>
                <a:spcPct val="50000"/>
              </a:spcBef>
            </a:pPr>
            <a:endParaRPr lang="en-US" altLang="zh-CN" sz="2800" b="1">
              <a:latin typeface="Times New Roman" panose="02020603050405020304" pitchFamily="18" charset="0"/>
            </a:endParaRPr>
          </a:p>
        </p:txBody>
      </p:sp>
      <p:pic>
        <p:nvPicPr>
          <p:cNvPr id="2053" name="Picture 10">
            <a:hlinkClick r:id="rId5"/>
          </p:cNvPr>
          <p:cNvPicPr>
            <a:picLocks noChangeAspect="1"/>
          </p:cNvPicPr>
          <p:nvPr/>
        </p:nvPicPr>
        <p:blipFill>
          <a:blip r:embed="rId6"/>
          <a:stretch>
            <a:fillRect/>
          </a:stretch>
        </p:blipFill>
        <p:spPr>
          <a:xfrm>
            <a:off x="10083800" y="325755"/>
            <a:ext cx="1835150" cy="1196975"/>
          </a:xfrm>
          <a:prstGeom prst="rect">
            <a:avLst/>
          </a:prstGeom>
          <a:noFill/>
          <a:ln w="9525">
            <a:noFill/>
          </a:ln>
        </p:spPr>
      </p:pic>
      <p:graphicFrame>
        <p:nvGraphicFramePr>
          <p:cNvPr id="2" name="对象 1">
            <a:hlinkClick r:id="" action="ppaction://ole?verb=0"/>
          </p:cNvPr>
          <p:cNvGraphicFramePr>
            <a:graphicFrameLocks noChangeAspect="1"/>
          </p:cNvGraphicFramePr>
          <p:nvPr/>
        </p:nvGraphicFramePr>
        <p:xfrm>
          <a:off x="6007418" y="3321050"/>
          <a:ext cx="177165" cy="215900"/>
        </p:xfrm>
        <a:graphic>
          <a:graphicData uri="http://schemas.openxmlformats.org/presentationml/2006/ole">
            <mc:AlternateContent xmlns:mc="http://schemas.openxmlformats.org/markup-compatibility/2006">
              <mc:Choice xmlns:v="urn:schemas-microsoft-com:vml" Requires="v">
                <p:oleObj r:id="rId7" imgW="177165" imgH="215900" progId="Equation.KSEE3">
                  <p:embed/>
                </p:oleObj>
              </mc:Choice>
              <mc:Fallback>
                <p:oleObj r:id="rId7" imgW="177165" imgH="215900" progId="Equation.KSEE3">
                  <p:embed/>
                  <p:pic>
                    <p:nvPicPr>
                      <p:cNvPr id="2" name="对象 1">
                        <a:hlinkClick r:id="" action="ppaction://ole?verb=0"/>
                      </p:cNvPr>
                      <p:cNvPicPr/>
                      <p:nvPr/>
                    </p:nvPicPr>
                    <p:blipFill>
                      <a:blip r:embed="rId8"/>
                      <a:stretch>
                        <a:fillRect/>
                      </a:stretch>
                    </p:blipFill>
                    <p:spPr>
                      <a:xfrm>
                        <a:off x="6007418" y="3321050"/>
                        <a:ext cx="177165" cy="215900"/>
                      </a:xfrm>
                      <a:prstGeom prst="rect">
                        <a:avLst/>
                      </a:prstGeom>
                    </p:spPr>
                  </p:pic>
                </p:oleObj>
              </mc:Fallback>
            </mc:AlternateContent>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p:cNvGraphicFramePr/>
          <p:nvPr/>
        </p:nvGraphicFramePr>
        <p:xfrm>
          <a:off x="2362200" y="0"/>
          <a:ext cx="5867400" cy="3005138"/>
        </p:xfrm>
        <a:graphic>
          <a:graphicData uri="http://schemas.openxmlformats.org/presentationml/2006/ole">
            <mc:AlternateContent xmlns:mc="http://schemas.openxmlformats.org/markup-compatibility/2006">
              <mc:Choice xmlns:v="urn:schemas-microsoft-com:vml" Requires="v">
                <p:oleObj r:id="rId2" imgW="5486400" imgH="3005455" progId="Word.Document.8">
                  <p:embed/>
                </p:oleObj>
              </mc:Choice>
              <mc:Fallback>
                <p:oleObj r:id="rId2" imgW="5486400" imgH="3005455" progId="Word.Document.8">
                  <p:embed/>
                  <p:pic>
                    <p:nvPicPr>
                      <p:cNvPr id="3074" name="Object 2"/>
                      <p:cNvPicPr/>
                      <p:nvPr/>
                    </p:nvPicPr>
                    <p:blipFill>
                      <a:blip r:embed="rId3"/>
                      <a:stretch>
                        <a:fillRect/>
                      </a:stretch>
                    </p:blipFill>
                    <p:spPr>
                      <a:xfrm>
                        <a:off x="2362200" y="0"/>
                        <a:ext cx="5867400" cy="3005138"/>
                      </a:xfrm>
                      <a:prstGeom prst="rect">
                        <a:avLst/>
                      </a:prstGeom>
                      <a:noFill/>
                      <a:ln w="38100">
                        <a:noFill/>
                        <a:miter/>
                      </a:ln>
                    </p:spPr>
                  </p:pic>
                </p:oleObj>
              </mc:Fallback>
            </mc:AlternateContent>
          </a:graphicData>
        </a:graphic>
      </p:graphicFrame>
      <p:pic>
        <p:nvPicPr>
          <p:cNvPr id="3075" name="Picture 26" descr="图6-2 副本"/>
          <p:cNvPicPr>
            <a:picLocks noChangeAspect="1"/>
          </p:cNvPicPr>
          <p:nvPr/>
        </p:nvPicPr>
        <p:blipFill>
          <a:blip r:embed="rId4"/>
          <a:stretch>
            <a:fillRect/>
          </a:stretch>
        </p:blipFill>
        <p:spPr>
          <a:xfrm>
            <a:off x="2941320" y="1936750"/>
            <a:ext cx="5684520" cy="4555490"/>
          </a:xfrm>
          <a:prstGeom prst="rect">
            <a:avLst/>
          </a:prstGeom>
          <a:noFill/>
          <a:ln w="9525">
            <a:noFill/>
          </a:ln>
        </p:spPr>
      </p:pic>
      <p:sp>
        <p:nvSpPr>
          <p:cNvPr id="3076" name="Text Box 27"/>
          <p:cNvSpPr txBox="1"/>
          <p:nvPr/>
        </p:nvSpPr>
        <p:spPr>
          <a:xfrm>
            <a:off x="609600" y="333375"/>
            <a:ext cx="10787380" cy="2030095"/>
          </a:xfrm>
          <a:prstGeom prst="rect">
            <a:avLst/>
          </a:prstGeom>
          <a:noFill/>
          <a:ln w="12700">
            <a:noFill/>
          </a:ln>
        </p:spPr>
        <p:txBody>
          <a:bodyPr wrap="square">
            <a:spAutoFit/>
          </a:bodyPr>
          <a:lstStyle/>
          <a:p>
            <a:pPr algn="just">
              <a:spcBef>
                <a:spcPct val="50000"/>
              </a:spcBef>
            </a:pPr>
            <a:r>
              <a:rPr lang="en-US" altLang="zh-CN" sz="2800" b="1">
                <a:solidFill>
                  <a:srgbClr val="000000"/>
                </a:solidFill>
                <a:latin typeface="Times New Roman" panose="02020603050405020304" pitchFamily="18" charset="0"/>
              </a:rPr>
              <a:t>2  Yoda</a:t>
            </a:r>
            <a:r>
              <a:rPr lang="zh-CN" altLang="en-US" sz="2800" b="1">
                <a:solidFill>
                  <a:srgbClr val="000000"/>
                </a:solidFill>
                <a:latin typeface="Times New Roman" panose="02020603050405020304" pitchFamily="18" charset="0"/>
              </a:rPr>
              <a:t>氏</a:t>
            </a:r>
            <a:r>
              <a:rPr lang="en-US" altLang="zh-CN" sz="2800" b="1">
                <a:solidFill>
                  <a:srgbClr val="000000"/>
                </a:solidFill>
                <a:latin typeface="Times New Roman" panose="02020603050405020304" pitchFamily="18" charset="0"/>
              </a:rPr>
              <a:t>-3/2</a:t>
            </a:r>
            <a:r>
              <a:rPr lang="zh-CN" altLang="en-US" sz="2800" b="1">
                <a:solidFill>
                  <a:srgbClr val="000000"/>
                </a:solidFill>
                <a:latin typeface="Times New Roman" panose="02020603050405020304" pitchFamily="18" charset="0"/>
              </a:rPr>
              <a:t>自疏法则（</a:t>
            </a:r>
            <a:r>
              <a:rPr lang="en-US" altLang="zh-CN" sz="2800" b="1">
                <a:solidFill>
                  <a:srgbClr val="000000"/>
                </a:solidFill>
                <a:latin typeface="Times New Roman" panose="02020603050405020304" pitchFamily="18" charset="0"/>
              </a:rPr>
              <a:t>Toda’s -3/2 law</a:t>
            </a:r>
            <a:r>
              <a:rPr lang="zh-CN" altLang="en-US" sz="2800" b="1">
                <a:solidFill>
                  <a:srgbClr val="000000"/>
                </a:solidFill>
                <a:latin typeface="Times New Roman" panose="02020603050405020304" pitchFamily="18" charset="0"/>
              </a:rPr>
              <a:t>）</a:t>
            </a:r>
            <a:endParaRPr lang="zh-CN" altLang="en-US" sz="2800">
              <a:latin typeface="Times New Roman" panose="02020603050405020304" pitchFamily="18" charset="0"/>
            </a:endParaRPr>
          </a:p>
          <a:p>
            <a:pPr>
              <a:spcBef>
                <a:spcPct val="50000"/>
              </a:spcBef>
            </a:pPr>
            <a:r>
              <a:rPr lang="zh-CN" altLang="en-US" sz="2800" b="1">
                <a:solidFill>
                  <a:srgbClr val="000000"/>
                </a:solidFill>
                <a:latin typeface="Times New Roman" panose="02020603050405020304" pitchFamily="18" charset="0"/>
              </a:rPr>
              <a:t>   </a:t>
            </a: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如果播种密度进一步提高，随着高密度播种下植株的连续生长，有些植株死亡，种群开始出现自疏现象，自疏域的斜率一般为</a:t>
            </a:r>
            <a:r>
              <a:rPr lang="en-US" altLang="zh-CN" sz="2800" b="1">
                <a:solidFill>
                  <a:srgbClr val="000000"/>
                </a:solidFill>
                <a:latin typeface="Times New Roman" panose="02020603050405020304" pitchFamily="18" charset="0"/>
              </a:rPr>
              <a:t>-3/2</a:t>
            </a:r>
            <a:r>
              <a:rPr lang="zh-CN" altLang="en-US" sz="2800" b="1">
                <a:solidFill>
                  <a:srgbClr val="000000"/>
                </a:solidFill>
                <a:latin typeface="Times New Roman" panose="02020603050405020304" pitchFamily="18" charset="0"/>
              </a:rPr>
              <a:t>。（</a:t>
            </a:r>
            <a:r>
              <a:rPr lang="en-US" altLang="zh-CN" sz="2800" b="1">
                <a:solidFill>
                  <a:srgbClr val="000000"/>
                </a:solidFill>
                <a:latin typeface="Times New Roman" panose="02020603050405020304" pitchFamily="18" charset="0"/>
              </a:rPr>
              <a:t>w = cd</a:t>
            </a:r>
            <a:r>
              <a:rPr lang="en-US" altLang="zh-CN" sz="2800" b="1" baseline="30000">
                <a:solidFill>
                  <a:srgbClr val="000000"/>
                </a:solidFill>
                <a:latin typeface="Times New Roman" panose="02020603050405020304" pitchFamily="18" charset="0"/>
              </a:rPr>
              <a:t>-3/2</a:t>
            </a:r>
            <a:r>
              <a:rPr lang="zh-CN" altLang="en-US" sz="2800" b="1">
                <a:solidFill>
                  <a:srgbClr val="000000"/>
                </a:solidFill>
                <a:latin typeface="Times New Roman" panose="02020603050405020304" pitchFamily="18" charset="0"/>
              </a:rPr>
              <a:t>）</a:t>
            </a:r>
            <a:r>
              <a:rPr lang="zh-CN" altLang="en-US" sz="2800">
                <a:latin typeface="Times New Roman" panose="02020603050405020304" pitchFamily="18" charset="0"/>
              </a:rPr>
              <a:t> </a:t>
            </a:r>
          </a:p>
        </p:txBody>
      </p:sp>
      <p:sp>
        <p:nvSpPr>
          <p:cNvPr id="3077" name="Text Box 28"/>
          <p:cNvSpPr txBox="1"/>
          <p:nvPr/>
        </p:nvSpPr>
        <p:spPr>
          <a:xfrm>
            <a:off x="9131300" y="2363470"/>
            <a:ext cx="1871663" cy="1198880"/>
          </a:xfrm>
          <a:prstGeom prst="rect">
            <a:avLst/>
          </a:prstGeom>
          <a:noFill/>
          <a:ln w="12700">
            <a:noFill/>
          </a:ln>
        </p:spPr>
        <p:txBody>
          <a:bodyPr>
            <a:spAutoFit/>
          </a:bodyPr>
          <a:lstStyle/>
          <a:p>
            <a:pPr>
              <a:spcBef>
                <a:spcPct val="50000"/>
              </a:spcBef>
            </a:pPr>
            <a:r>
              <a:rPr lang="en-US" altLang="zh-CN" b="1">
                <a:latin typeface="Times New Roman" panose="02020603050405020304" pitchFamily="18" charset="0"/>
              </a:rPr>
              <a:t>w: </a:t>
            </a:r>
            <a:r>
              <a:rPr lang="zh-CN" altLang="en-US" b="1">
                <a:latin typeface="Times New Roman" panose="02020603050405020304" pitchFamily="18" charset="0"/>
              </a:rPr>
              <a:t>平均重量</a:t>
            </a:r>
          </a:p>
          <a:p>
            <a:pPr>
              <a:spcBef>
                <a:spcPct val="50000"/>
              </a:spcBef>
            </a:pPr>
            <a:r>
              <a:rPr lang="en-US" altLang="zh-CN" b="1">
                <a:latin typeface="Times New Roman" panose="02020603050405020304" pitchFamily="18" charset="0"/>
              </a:rPr>
              <a:t>c:</a:t>
            </a:r>
            <a:r>
              <a:rPr lang="zh-CN" altLang="en-US" b="1">
                <a:latin typeface="Times New Roman" panose="02020603050405020304" pitchFamily="18" charset="0"/>
              </a:rPr>
              <a:t>常数</a:t>
            </a:r>
          </a:p>
          <a:p>
            <a:pPr>
              <a:spcBef>
                <a:spcPct val="50000"/>
              </a:spcBef>
            </a:pPr>
            <a:r>
              <a:rPr lang="en-US" altLang="zh-CN" b="1">
                <a:latin typeface="Times New Roman" panose="02020603050405020304" pitchFamily="18" charset="0"/>
              </a:rPr>
              <a:t>d: </a:t>
            </a:r>
            <a:r>
              <a:rPr lang="zh-CN" altLang="en-US" b="1">
                <a:latin typeface="Times New Roman" panose="02020603050405020304" pitchFamily="18" charset="0"/>
              </a:rPr>
              <a:t>密度</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p:nvPr/>
        </p:nvGraphicFramePr>
        <p:xfrm>
          <a:off x="2743200" y="762000"/>
          <a:ext cx="6718300" cy="5270500"/>
        </p:xfrm>
        <a:graphic>
          <a:graphicData uri="http://schemas.openxmlformats.org/presentationml/2006/ole">
            <mc:AlternateContent xmlns:mc="http://schemas.openxmlformats.org/markup-compatibility/2006">
              <mc:Choice xmlns:v="urn:schemas-microsoft-com:vml" Requires="v">
                <p:oleObj r:id="rId2" imgW="6725285" imgH="5277485" progId="Word.Document.8">
                  <p:embed/>
                </p:oleObj>
              </mc:Choice>
              <mc:Fallback>
                <p:oleObj r:id="rId2" imgW="6725285" imgH="5277485" progId="Word.Document.8">
                  <p:embed/>
                  <p:pic>
                    <p:nvPicPr>
                      <p:cNvPr id="4098" name="Object 2"/>
                      <p:cNvPicPr/>
                      <p:nvPr/>
                    </p:nvPicPr>
                    <p:blipFill>
                      <a:blip r:embed="rId3"/>
                      <a:stretch>
                        <a:fillRect/>
                      </a:stretch>
                    </p:blipFill>
                    <p:spPr>
                      <a:xfrm>
                        <a:off x="2743200" y="762000"/>
                        <a:ext cx="6718300" cy="5270500"/>
                      </a:xfrm>
                      <a:prstGeom prst="rect">
                        <a:avLst/>
                      </a:prstGeom>
                      <a:noFill/>
                      <a:ln w="38100">
                        <a:noFill/>
                        <a:miter/>
                      </a:ln>
                    </p:spPr>
                  </p:pic>
                </p:oleObj>
              </mc:Fallback>
            </mc:AlternateContent>
          </a:graphicData>
        </a:graphic>
      </p:graphicFrame>
      <p:sp>
        <p:nvSpPr>
          <p:cNvPr id="4099" name="Text Box 4"/>
          <p:cNvSpPr txBox="1"/>
          <p:nvPr/>
        </p:nvSpPr>
        <p:spPr>
          <a:xfrm>
            <a:off x="2135188" y="1125538"/>
            <a:ext cx="5638800" cy="583565"/>
          </a:xfrm>
          <a:prstGeom prst="rect">
            <a:avLst/>
          </a:prstGeom>
          <a:noFill/>
          <a:ln w="12700">
            <a:noFill/>
          </a:ln>
        </p:spPr>
        <p:txBody>
          <a:bodyPr>
            <a:spAutoFit/>
          </a:bodyPr>
          <a:lstStyle/>
          <a:p>
            <a:pPr algn="just">
              <a:spcBef>
                <a:spcPct val="50000"/>
              </a:spcBef>
            </a:pPr>
            <a:r>
              <a:rPr lang="en-US" altLang="zh-CN" b="1">
                <a:solidFill>
                  <a:srgbClr val="000000"/>
                </a:solidFill>
                <a:latin typeface="Times New Roman" panose="02020603050405020304" pitchFamily="18" charset="0"/>
              </a:rPr>
              <a:t>  </a:t>
            </a:r>
            <a:r>
              <a:rPr lang="en-US" altLang="zh-CN" sz="3200" b="1">
                <a:solidFill>
                  <a:srgbClr val="000000"/>
                </a:solidFill>
                <a:latin typeface="Times New Roman" panose="02020603050405020304" pitchFamily="18" charset="0"/>
              </a:rPr>
              <a:t>1 </a:t>
            </a:r>
            <a:r>
              <a:rPr lang="zh-CN" altLang="en-US" sz="3200" b="1">
                <a:solidFill>
                  <a:srgbClr val="000000"/>
                </a:solidFill>
                <a:latin typeface="Times New Roman" panose="02020603050405020304" pitchFamily="18" charset="0"/>
              </a:rPr>
              <a:t>无性繁殖和有性繁殖</a:t>
            </a:r>
          </a:p>
        </p:txBody>
      </p:sp>
      <p:sp>
        <p:nvSpPr>
          <p:cNvPr id="4100" name="Text Box 5"/>
          <p:cNvSpPr txBox="1"/>
          <p:nvPr/>
        </p:nvSpPr>
        <p:spPr>
          <a:xfrm>
            <a:off x="1676400" y="304800"/>
            <a:ext cx="6172200" cy="1476375"/>
          </a:xfrm>
          <a:prstGeom prst="rect">
            <a:avLst/>
          </a:prstGeom>
          <a:noFill/>
          <a:ln w="12700">
            <a:noFill/>
          </a:ln>
        </p:spPr>
        <p:txBody>
          <a:bodyPr>
            <a:spAutoFit/>
          </a:bodyPr>
          <a:lstStyle/>
          <a:p>
            <a:pPr algn="just">
              <a:spcBef>
                <a:spcPct val="50000"/>
              </a:spcBef>
            </a:pPr>
            <a:r>
              <a:rPr lang="en-US" altLang="zh-CN" sz="3600" b="1">
                <a:solidFill>
                  <a:srgbClr val="000000"/>
                </a:solidFill>
                <a:latin typeface="Times New Roman" panose="02020603050405020304" pitchFamily="18" charset="0"/>
              </a:rPr>
              <a:t>7.1.2 </a:t>
            </a:r>
            <a:r>
              <a:rPr lang="zh-CN" altLang="en-US" sz="3600" b="1">
                <a:solidFill>
                  <a:srgbClr val="000000"/>
                </a:solidFill>
                <a:latin typeface="Times New Roman" panose="02020603050405020304" pitchFamily="18" charset="0"/>
              </a:rPr>
              <a:t>与性别有关的种内关系</a:t>
            </a:r>
            <a:endParaRPr lang="zh-CN" altLang="en-US" sz="3600" b="1">
              <a:latin typeface="Times New Roman" panose="02020603050405020304" pitchFamily="18" charset="0"/>
            </a:endParaRPr>
          </a:p>
          <a:p>
            <a:pPr>
              <a:spcBef>
                <a:spcPct val="50000"/>
              </a:spcBef>
            </a:pPr>
            <a:endParaRPr lang="en-US" altLang="zh-CN" sz="3600" b="1">
              <a:latin typeface="Times New Roman" panose="02020603050405020304" pitchFamily="18" charset="0"/>
            </a:endParaRPr>
          </a:p>
        </p:txBody>
      </p:sp>
      <p:sp>
        <p:nvSpPr>
          <p:cNvPr id="4101" name="Text Box 6"/>
          <p:cNvSpPr txBox="1"/>
          <p:nvPr/>
        </p:nvSpPr>
        <p:spPr>
          <a:xfrm>
            <a:off x="955675" y="1916430"/>
            <a:ext cx="10254615" cy="1323340"/>
          </a:xfrm>
          <a:prstGeom prst="rect">
            <a:avLst/>
          </a:prstGeom>
          <a:noFill/>
          <a:ln w="12700">
            <a:noFill/>
          </a:ln>
        </p:spPr>
        <p:txBody>
          <a:bodyPr wrap="square">
            <a:noAutofit/>
          </a:bodyPr>
          <a:lstStyle/>
          <a:p>
            <a:pPr algn="just">
              <a:spcBef>
                <a:spcPct val="50000"/>
              </a:spcBef>
            </a:pP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无性繁殖无需偿付减数分裂的代价，母体所产后代带有母本的整个基因组，环境条件有利时能迅速增殖，开拓暂时性栖息地。</a:t>
            </a:r>
            <a:endParaRPr lang="zh-CN" altLang="en-US" sz="2800" b="1">
              <a:latin typeface="Times New Roman" panose="02020603050405020304" pitchFamily="18" charset="0"/>
            </a:endParaRPr>
          </a:p>
          <a:p>
            <a:endParaRPr lang="zh-CN" altLang="en-US" sz="2800" b="1">
              <a:latin typeface="Times New Roman" panose="02020603050405020304" pitchFamily="18" charset="0"/>
            </a:endParaRPr>
          </a:p>
          <a:p>
            <a:endParaRPr lang="zh-CN" altLang="en-US" sz="2800" b="1">
              <a:solidFill>
                <a:srgbClr val="000000"/>
              </a:solidFill>
              <a:latin typeface="Times New Roman" panose="02020603050405020304" pitchFamily="18" charset="0"/>
            </a:endParaRPr>
          </a:p>
          <a:p>
            <a:endParaRPr lang="zh-CN" altLang="en-US" sz="2800" b="1">
              <a:latin typeface="Times New Roman" panose="02020603050405020304" pitchFamily="18" charset="0"/>
            </a:endParaRPr>
          </a:p>
          <a:p>
            <a:endParaRPr lang="zh-CN" altLang="en-US" sz="2800" b="1">
              <a:latin typeface="Times New Roman" panose="02020603050405020304" pitchFamily="18" charset="0"/>
            </a:endParaRPr>
          </a:p>
          <a:p>
            <a:pPr>
              <a:spcBef>
                <a:spcPct val="50000"/>
              </a:spcBef>
            </a:pPr>
            <a:endParaRPr lang="zh-CN" altLang="en-US" sz="2800" b="1">
              <a:latin typeface="Times New Roman" panose="02020603050405020304" pitchFamily="18" charset="0"/>
            </a:endParaRPr>
          </a:p>
          <a:p>
            <a:pPr>
              <a:spcBef>
                <a:spcPct val="50000"/>
              </a:spcBef>
            </a:pPr>
            <a:endParaRPr lang="en-US" altLang="zh-CN">
              <a:latin typeface="Times New Roman" panose="02020603050405020304" pitchFamily="18" charset="0"/>
            </a:endParaRPr>
          </a:p>
        </p:txBody>
      </p:sp>
      <p:sp>
        <p:nvSpPr>
          <p:cNvPr id="40967" name="Text Box 7"/>
          <p:cNvSpPr txBox="1"/>
          <p:nvPr/>
        </p:nvSpPr>
        <p:spPr>
          <a:xfrm>
            <a:off x="955675" y="2990215"/>
            <a:ext cx="10411460" cy="2184400"/>
          </a:xfrm>
          <a:prstGeom prst="rect">
            <a:avLst/>
          </a:prstGeom>
          <a:noFill/>
          <a:ln w="12700">
            <a:noFill/>
          </a:ln>
        </p:spPr>
        <p:txBody>
          <a:bodyPr wrap="square">
            <a:noAutofit/>
          </a:bodyPr>
          <a:lstStyle/>
          <a:p>
            <a:r>
              <a:rPr lang="en-US" altLang="zh-CN" sz="2800" b="1">
                <a:latin typeface="Times New Roman" panose="02020603050405020304" pitchFamily="18" charset="0"/>
              </a:rPr>
              <a:t>        </a:t>
            </a:r>
            <a:r>
              <a:rPr lang="zh-CN" altLang="en-US" sz="2800" b="1">
                <a:latin typeface="Times New Roman" panose="02020603050405020304" pitchFamily="18" charset="0"/>
              </a:rPr>
              <a:t>有性繁殖要在进化选择上处于有利地位，必须使之获得利益超过所偿付的</a:t>
            </a:r>
            <a:r>
              <a:rPr lang="zh-CN" altLang="en-US" sz="2800" b="1">
                <a:solidFill>
                  <a:srgbClr val="FF0000"/>
                </a:solidFill>
                <a:latin typeface="Times New Roman" panose="02020603050405020304" pitchFamily="18" charset="0"/>
              </a:rPr>
              <a:t>减数分裂价、基因重组价和交配价</a:t>
            </a:r>
            <a:r>
              <a:rPr lang="zh-CN" altLang="en-US" sz="2800" b="1">
                <a:latin typeface="Times New Roman" panose="02020603050405020304" pitchFamily="18" charset="0"/>
              </a:rPr>
              <a:t>。</a:t>
            </a:r>
            <a:r>
              <a:rPr lang="zh-CN" altLang="en-US" sz="2800" b="1">
                <a:solidFill>
                  <a:srgbClr val="000000"/>
                </a:solidFill>
                <a:latin typeface="Times New Roman" panose="02020603050405020304" pitchFamily="18" charset="0"/>
              </a:rPr>
              <a:t>为什么多数生物行有性繁殖？一般认为，</a:t>
            </a:r>
            <a:r>
              <a:rPr lang="zh-CN" altLang="en-US" sz="2800" b="1">
                <a:solidFill>
                  <a:srgbClr val="FF0000"/>
                </a:solidFill>
                <a:latin typeface="Times New Roman" panose="02020603050405020304" pitchFamily="18" charset="0"/>
              </a:rPr>
              <a:t>有性繁殖是对生存在多变和易遭不测环境下的一种适应性</a:t>
            </a:r>
            <a:r>
              <a:rPr lang="zh-CN" altLang="en-US" sz="2800" b="1">
                <a:solidFill>
                  <a:srgbClr val="000000"/>
                </a:solidFill>
                <a:latin typeface="Times New Roman" panose="02020603050405020304" pitchFamily="18" charset="0"/>
              </a:rPr>
              <a:t>，有性繁殖能产生</a:t>
            </a:r>
            <a:r>
              <a:rPr lang="zh-CN" altLang="en-US" sz="2800" b="1">
                <a:solidFill>
                  <a:srgbClr val="FF0000"/>
                </a:solidFill>
                <a:latin typeface="Times New Roman" panose="02020603050405020304" pitchFamily="18" charset="0"/>
              </a:rPr>
              <a:t>更多变异类型</a:t>
            </a:r>
            <a:r>
              <a:rPr lang="zh-CN" altLang="en-US" sz="2800" b="1">
                <a:solidFill>
                  <a:srgbClr val="000000"/>
                </a:solidFill>
                <a:latin typeface="Times New Roman" panose="02020603050405020304" pitchFamily="18" charset="0"/>
              </a:rPr>
              <a:t>的后代，有利于生存竞争</a:t>
            </a:r>
            <a:r>
              <a:rPr lang="zh-CN" altLang="en-US" sz="2800">
                <a:latin typeface="Times New Roman" panose="02020603050405020304" pitchFamily="18" charset="0"/>
              </a:rPr>
              <a:t> </a:t>
            </a:r>
            <a:r>
              <a:rPr lang="zh-CN" altLang="en-US" sz="2800" b="1">
                <a:solidFill>
                  <a:srgbClr val="000000"/>
                </a:solidFill>
                <a:latin typeface="Times New Roman" panose="02020603050405020304" pitchFamily="18" charset="0"/>
              </a:rPr>
              <a:t>。</a:t>
            </a:r>
          </a:p>
          <a:p>
            <a:pPr>
              <a:spcBef>
                <a:spcPct val="50000"/>
              </a:spcBef>
            </a:pPr>
            <a:endParaRPr lang="en-US" altLang="zh-CN" sz="2800">
              <a:latin typeface="Times New Roman" panose="02020603050405020304" pitchFamily="18" charset="0"/>
            </a:endParaRPr>
          </a:p>
        </p:txBody>
      </p:sp>
      <p:pic>
        <p:nvPicPr>
          <p:cNvPr id="4103" name="Picture 8" descr="A%2520asexprodu"/>
          <p:cNvPicPr>
            <a:picLocks noChangeAspect="1"/>
          </p:cNvPicPr>
          <p:nvPr/>
        </p:nvPicPr>
        <p:blipFill>
          <a:blip r:embed="rId4"/>
          <a:stretch>
            <a:fillRect/>
          </a:stretch>
        </p:blipFill>
        <p:spPr>
          <a:xfrm>
            <a:off x="9194800" y="180658"/>
            <a:ext cx="2016125" cy="1512887"/>
          </a:xfrm>
          <a:prstGeom prst="rect">
            <a:avLst/>
          </a:prstGeom>
          <a:noFill/>
          <a:ln w="9525">
            <a:noFill/>
          </a:ln>
        </p:spPr>
      </p:pic>
      <p:pic>
        <p:nvPicPr>
          <p:cNvPr id="4104" name="Picture 10">
            <a:hlinkClick r:id="rId5"/>
          </p:cNvPr>
          <p:cNvPicPr>
            <a:picLocks noChangeAspect="1"/>
          </p:cNvPicPr>
          <p:nvPr/>
        </p:nvPicPr>
        <p:blipFill>
          <a:blip r:embed="rId6"/>
          <a:stretch>
            <a:fillRect/>
          </a:stretch>
        </p:blipFill>
        <p:spPr>
          <a:xfrm>
            <a:off x="9365933" y="5174615"/>
            <a:ext cx="2087562" cy="11684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67"/>
                                        </p:tgtEl>
                                        <p:attrNameLst>
                                          <p:attrName>style.visibility</p:attrName>
                                        </p:attrNameLst>
                                      </p:cBhvr>
                                      <p:to>
                                        <p:strVal val="visible"/>
                                      </p:to>
                                    </p:set>
                                    <p:animEffect transition="in" filter="blinds(horizontal)">
                                      <p:cBhvr>
                                        <p:cTn id="7" dur="500"/>
                                        <p:tgtEl>
                                          <p:spTgt spid="40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4"/>
          <p:cNvSpPr txBox="1"/>
          <p:nvPr/>
        </p:nvSpPr>
        <p:spPr>
          <a:xfrm>
            <a:off x="1847850" y="333375"/>
            <a:ext cx="5327650" cy="521970"/>
          </a:xfrm>
          <a:prstGeom prst="rect">
            <a:avLst/>
          </a:prstGeom>
          <a:noFill/>
          <a:ln w="12700">
            <a:noFill/>
          </a:ln>
        </p:spPr>
        <p:txBody>
          <a:bodyPr>
            <a:spAutoFit/>
          </a:bodyPr>
          <a:lstStyle/>
          <a:p>
            <a:endParaRPr lang="zh-CN" altLang="zh-CN" sz="2800" b="1">
              <a:solidFill>
                <a:srgbClr val="000000"/>
              </a:solidFill>
              <a:latin typeface="Times New Roman" panose="02020603050405020304" pitchFamily="18" charset="0"/>
            </a:endParaRPr>
          </a:p>
        </p:txBody>
      </p:sp>
      <p:sp>
        <p:nvSpPr>
          <p:cNvPr id="16387" name="Text Box 7"/>
          <p:cNvSpPr txBox="1"/>
          <p:nvPr/>
        </p:nvSpPr>
        <p:spPr>
          <a:xfrm>
            <a:off x="872490" y="405130"/>
            <a:ext cx="8118475" cy="1814195"/>
          </a:xfrm>
          <a:prstGeom prst="rect">
            <a:avLst/>
          </a:prstGeom>
          <a:noFill/>
          <a:ln w="12700">
            <a:noFill/>
          </a:ln>
        </p:spPr>
        <p:txBody>
          <a:bodyPr wrap="square">
            <a:noAutofit/>
          </a:bodyPr>
          <a:lstStyle/>
          <a:p>
            <a:pPr>
              <a:spcBef>
                <a:spcPct val="50000"/>
              </a:spcBef>
            </a:pPr>
            <a:r>
              <a:rPr lang="en-US" altLang="zh-CN" sz="3200" b="1">
                <a:solidFill>
                  <a:srgbClr val="000000"/>
                </a:solidFill>
                <a:latin typeface="Times New Roman" panose="02020603050405020304" pitchFamily="18" charset="0"/>
              </a:rPr>
              <a:t>        </a:t>
            </a:r>
            <a:r>
              <a:rPr lang="zh-CN" altLang="en-US" sz="3200" b="1">
                <a:solidFill>
                  <a:srgbClr val="FF0000"/>
                </a:solidFill>
                <a:latin typeface="Times New Roman" panose="02020603050405020304" pitchFamily="18" charset="0"/>
              </a:rPr>
              <a:t>红皇后效应</a:t>
            </a:r>
            <a:r>
              <a:rPr lang="zh-CN" altLang="en-US" sz="3200" b="1">
                <a:solidFill>
                  <a:srgbClr val="000000"/>
                </a:solidFill>
                <a:latin typeface="Times New Roman" panose="02020603050405020304" pitchFamily="18" charset="0"/>
              </a:rPr>
              <a:t>（</a:t>
            </a:r>
            <a:r>
              <a:rPr lang="en-US" altLang="zh-CN" sz="3200" b="1">
                <a:solidFill>
                  <a:srgbClr val="000000"/>
                </a:solidFill>
                <a:latin typeface="Times New Roman" panose="02020603050405020304" pitchFamily="18" charset="0"/>
              </a:rPr>
              <a:t>Red queen effect)</a:t>
            </a:r>
            <a:r>
              <a:rPr lang="zh-CN" altLang="en-US" sz="3200" b="1">
                <a:solidFill>
                  <a:srgbClr val="000000"/>
                </a:solidFill>
                <a:latin typeface="Times New Roman" panose="02020603050405020304" pitchFamily="18" charset="0"/>
              </a:rPr>
              <a:t>：</a:t>
            </a:r>
            <a:r>
              <a:rPr lang="zh-CN" altLang="en-US" sz="3200" b="1">
                <a:latin typeface="Times New Roman" panose="02020603050405020304" pitchFamily="18" charset="0"/>
              </a:rPr>
              <a:t>在环境条件稳定时，一个物种的任何进化改进可能构成对其他物种的竞争压力，种间关系可能推动生物进化。</a:t>
            </a:r>
          </a:p>
        </p:txBody>
      </p:sp>
      <p:pic>
        <p:nvPicPr>
          <p:cNvPr id="16388" name="Picture 10">
            <a:hlinkClick r:id="rId2"/>
          </p:cNvPr>
          <p:cNvPicPr>
            <a:picLocks noChangeAspect="1"/>
          </p:cNvPicPr>
          <p:nvPr/>
        </p:nvPicPr>
        <p:blipFill>
          <a:blip r:embed="rId3"/>
          <a:stretch>
            <a:fillRect/>
          </a:stretch>
        </p:blipFill>
        <p:spPr>
          <a:xfrm>
            <a:off x="9209088" y="203518"/>
            <a:ext cx="2016125" cy="2016125"/>
          </a:xfrm>
          <a:prstGeom prst="rect">
            <a:avLst/>
          </a:prstGeom>
          <a:noFill/>
          <a:ln w="9525">
            <a:noFill/>
          </a:ln>
        </p:spPr>
      </p:pic>
      <p:sp>
        <p:nvSpPr>
          <p:cNvPr id="16389" name="Text Box 11"/>
          <p:cNvSpPr txBox="1"/>
          <p:nvPr/>
        </p:nvSpPr>
        <p:spPr>
          <a:xfrm>
            <a:off x="9337675" y="2343785"/>
            <a:ext cx="2346960" cy="306705"/>
          </a:xfrm>
          <a:prstGeom prst="rect">
            <a:avLst/>
          </a:prstGeom>
          <a:noFill/>
          <a:ln w="12700">
            <a:noFill/>
          </a:ln>
        </p:spPr>
        <p:txBody>
          <a:bodyPr wrap="square">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http://www.nipic.com</a:t>
            </a:r>
          </a:p>
        </p:txBody>
      </p:sp>
      <p:sp>
        <p:nvSpPr>
          <p:cNvPr id="16390" name="TextBox 8"/>
          <p:cNvSpPr txBox="1"/>
          <p:nvPr/>
        </p:nvSpPr>
        <p:spPr>
          <a:xfrm>
            <a:off x="942340" y="2929255"/>
            <a:ext cx="10104120" cy="1972945"/>
          </a:xfrm>
          <a:prstGeom prst="rect">
            <a:avLst/>
          </a:prstGeom>
          <a:noFill/>
          <a:ln w="9525">
            <a:noFill/>
          </a:ln>
        </p:spPr>
        <p:txBody>
          <a:bodyPr wrap="square">
            <a:noAutofit/>
          </a:bodyPr>
          <a:lstStyle/>
          <a:p>
            <a:pPr>
              <a:spcBef>
                <a:spcPct val="50000"/>
              </a:spcBef>
            </a:pPr>
            <a:r>
              <a:rPr lang="zh-CN" altLang="en-US" sz="2800" b="1">
                <a:latin typeface="Times New Roman" panose="02020603050405020304" pitchFamily="18" charset="0"/>
              </a:rPr>
              <a:t>        红皇后效应（</a:t>
            </a:r>
            <a:r>
              <a:rPr lang="en-US" altLang="zh-CN" sz="2800" b="1">
                <a:latin typeface="Times New Roman" panose="02020603050405020304" pitchFamily="18" charset="0"/>
              </a:rPr>
              <a:t>Red Queen Effect</a:t>
            </a:r>
            <a:r>
              <a:rPr lang="zh-CN" altLang="en-US" sz="2800" b="1">
                <a:latin typeface="Times New Roman" panose="02020603050405020304" pitchFamily="18" charset="0"/>
              </a:rPr>
              <a:t>）源于《爱丽丝镜中奇遇记》中红皇后的名言：</a:t>
            </a:r>
            <a:r>
              <a:rPr lang="en-US" altLang="zh-CN" sz="2800" b="1">
                <a:latin typeface="Times New Roman" panose="02020603050405020304" pitchFamily="18" charset="0"/>
              </a:rPr>
              <a:t>“</a:t>
            </a:r>
            <a:r>
              <a:rPr lang="zh-CN" altLang="en-US" sz="2800" b="1">
                <a:latin typeface="Times New Roman" panose="02020603050405020304" pitchFamily="18" charset="0"/>
              </a:rPr>
              <a:t>你必须全力奔跑才能留在原地</a:t>
            </a:r>
            <a:r>
              <a:rPr lang="en-US" altLang="zh-CN" sz="2800" b="1">
                <a:latin typeface="Times New Roman" panose="02020603050405020304" pitchFamily="18" charset="0"/>
              </a:rPr>
              <a:t>”</a:t>
            </a:r>
            <a:r>
              <a:rPr lang="zh-CN" altLang="en-US" sz="2800" b="1">
                <a:latin typeface="Times New Roman" panose="02020603050405020304" pitchFamily="18" charset="0"/>
              </a:rPr>
              <a:t>，这一概念后被广泛应用于生物学、管理学和社会科学领域，描述个体或组织在竞争环境中需持续进化以维持相对地位的动态现象</a:t>
            </a:r>
            <a:r>
              <a:rPr lang="en-US" altLang="zh-CN" sz="2800" b="1">
                <a:latin typeface="Times New Roman" panose="02020603050405020304" pitchFamily="18" charset="0"/>
              </a:rPr>
              <a:t>‌</a:t>
            </a:r>
            <a:r>
              <a:rPr lang="zh-CN" altLang="en-US" sz="2800" b="1">
                <a:latin typeface="Times New Roman" panose="02020603050405020304" pitchFamily="18" charset="0"/>
              </a:rPr>
              <a:t>。</a:t>
            </a:r>
            <a:endParaRPr lang="en-US" altLang="zh-CN" sz="2800" b="1">
              <a:latin typeface="Times New Roman" panose="02020603050405020304" pitchFamily="18" charset="0"/>
            </a:endParaRPr>
          </a:p>
          <a:p>
            <a:pPr>
              <a:spcBef>
                <a:spcPct val="50000"/>
              </a:spcBef>
            </a:pPr>
            <a:endParaRPr lang="en-US" altLang="zh-CN">
              <a:latin typeface="Times New Roman" panose="02020603050405020304" pitchFamily="18" charset="0"/>
            </a:endParaRPr>
          </a:p>
          <a:p>
            <a:endParaRPr lang="zh-CN" altLang="en-US" sz="2800">
              <a:latin typeface="Times New Roman" panose="02020603050405020304" pitchFamily="18"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4"/>
          <p:cNvSpPr txBox="1"/>
          <p:nvPr/>
        </p:nvSpPr>
        <p:spPr>
          <a:xfrm>
            <a:off x="1847850" y="333375"/>
            <a:ext cx="5327650" cy="521970"/>
          </a:xfrm>
          <a:prstGeom prst="rect">
            <a:avLst/>
          </a:prstGeom>
          <a:noFill/>
          <a:ln w="12700">
            <a:noFill/>
          </a:ln>
        </p:spPr>
        <p:txBody>
          <a:bodyPr>
            <a:spAutoFit/>
          </a:bodyPr>
          <a:lstStyle/>
          <a:p>
            <a:endParaRPr lang="zh-CN" altLang="zh-CN" sz="2800" b="1">
              <a:solidFill>
                <a:srgbClr val="000000"/>
              </a:solidFill>
              <a:latin typeface="Times New Roman" panose="02020603050405020304" pitchFamily="18" charset="0"/>
            </a:endParaRPr>
          </a:p>
        </p:txBody>
      </p:sp>
      <p:sp>
        <p:nvSpPr>
          <p:cNvPr id="16390" name="TextBox 8"/>
          <p:cNvSpPr txBox="1"/>
          <p:nvPr/>
        </p:nvSpPr>
        <p:spPr>
          <a:xfrm>
            <a:off x="641350" y="1029970"/>
            <a:ext cx="10104120" cy="2767330"/>
          </a:xfrm>
          <a:prstGeom prst="rect">
            <a:avLst/>
          </a:prstGeom>
          <a:noFill/>
          <a:ln w="9525">
            <a:noFill/>
          </a:ln>
        </p:spPr>
        <p:txBody>
          <a:bodyPr wrap="square">
            <a:noAutofit/>
          </a:bodyPr>
          <a:lstStyle/>
          <a:p>
            <a:pPr>
              <a:spcBef>
                <a:spcPct val="50000"/>
              </a:spcBef>
            </a:pPr>
            <a:r>
              <a:rPr lang="zh-CN" altLang="en-US" sz="2800" b="1">
                <a:latin typeface="Times New Roman" panose="02020603050405020304" pitchFamily="18" charset="0"/>
              </a:rPr>
              <a:t>        病原生物在生存竞争过程中不断进攻遗传上一致的宿主种群并将其淘汰，而只有那些具不断变化的、进行有性繁殖的基因型的宿主能存活下来；宿主的多</a:t>
            </a:r>
            <a:r>
              <a:rPr lang="zh-CN" altLang="en-US" sz="2800" b="1">
                <a:latin typeface="Times New Roman" panose="02020603050405020304" pitchFamily="18" charset="0"/>
                <a:sym typeface="+mn-ea"/>
              </a:rPr>
              <a:t>变</a:t>
            </a:r>
            <a:r>
              <a:rPr lang="zh-CN" altLang="en-US" sz="2800" b="1">
                <a:latin typeface="Times New Roman" panose="02020603050405020304" pitchFamily="18" charset="0"/>
              </a:rPr>
              <a:t>型又进而使病原体生物同样也进行有性繁殖，这样才能使病原体生物保持有进攻多变型宿主的能力。这就是说，物种间的病原体</a:t>
            </a:r>
            <a:r>
              <a:rPr lang="en-US" altLang="zh-CN" sz="2800" b="1">
                <a:latin typeface="Times New Roman" panose="02020603050405020304" pitchFamily="18" charset="0"/>
              </a:rPr>
              <a:t>-</a:t>
            </a:r>
            <a:r>
              <a:rPr lang="zh-CN" altLang="en-US" sz="2800" b="1">
                <a:latin typeface="Times New Roman" panose="02020603050405020304" pitchFamily="18" charset="0"/>
              </a:rPr>
              <a:t>宿主相互作用成了性别关系进化的一个主要因素。</a:t>
            </a:r>
          </a:p>
          <a:p>
            <a:pPr>
              <a:spcBef>
                <a:spcPct val="50000"/>
              </a:spcBef>
            </a:pPr>
            <a:endParaRPr lang="en-US" altLang="zh-CN">
              <a:latin typeface="Times New Roman" panose="02020603050405020304" pitchFamily="18" charset="0"/>
            </a:endParaRPr>
          </a:p>
          <a:p>
            <a:endParaRPr lang="zh-CN" altLang="en-US" sz="2800">
              <a:latin typeface="Times New Roman" panose="02020603050405020304" pitchFamily="18"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506220" y="95250"/>
            <a:ext cx="9022715" cy="6667500"/>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p:nvPr/>
        </p:nvSpPr>
        <p:spPr>
          <a:xfrm>
            <a:off x="798195" y="478790"/>
            <a:ext cx="10919460" cy="2953385"/>
          </a:xfrm>
          <a:prstGeom prst="rect">
            <a:avLst/>
          </a:prstGeom>
          <a:noFill/>
          <a:ln w="12700">
            <a:noFill/>
          </a:ln>
        </p:spPr>
        <p:txBody>
          <a:bodyPr wrap="square">
            <a:spAutoFit/>
          </a:bodyPr>
          <a:lstStyle/>
          <a:p>
            <a:pPr>
              <a:spcBef>
                <a:spcPct val="50000"/>
              </a:spcBef>
            </a:pPr>
            <a:r>
              <a:rPr lang="en-US" altLang="zh-CN" sz="3600" b="1">
                <a:latin typeface="Times New Roman" panose="02020603050405020304" pitchFamily="18" charset="0"/>
              </a:rPr>
              <a:t>2 </a:t>
            </a:r>
            <a:r>
              <a:rPr lang="zh-CN" altLang="en-US" sz="3600" b="1">
                <a:latin typeface="Times New Roman" panose="02020603050405020304" pitchFamily="18" charset="0"/>
              </a:rPr>
              <a:t>性比</a:t>
            </a:r>
          </a:p>
          <a:p>
            <a:pPr>
              <a:spcBef>
                <a:spcPct val="50000"/>
              </a:spcBef>
            </a:pPr>
            <a:r>
              <a:rPr lang="en-US" altLang="zh-CN" sz="3200" b="1">
                <a:latin typeface="宋体" panose="02010600030101010101" pitchFamily="2" charset="-122"/>
              </a:rPr>
              <a:t>    </a:t>
            </a:r>
            <a:r>
              <a:rPr lang="zh-CN" altLang="en-US" sz="3200" b="1">
                <a:latin typeface="宋体" panose="02010600030101010101" pitchFamily="2" charset="-122"/>
              </a:rPr>
              <a:t>种群中雄体对雌体的比例，大多数生物种群的性比倾向于</a:t>
            </a:r>
            <a:r>
              <a:rPr lang="en-US" altLang="zh-CN" sz="3200" b="1">
                <a:latin typeface="Times New Roman" panose="02020603050405020304" pitchFamily="18" charset="0"/>
              </a:rPr>
              <a:t>1:1</a:t>
            </a:r>
            <a:r>
              <a:rPr lang="zh-CN" altLang="en-US" sz="3200" b="1">
                <a:latin typeface="宋体" panose="02010600030101010101" pitchFamily="2" charset="-122"/>
              </a:rPr>
              <a:t>。</a:t>
            </a:r>
          </a:p>
          <a:p>
            <a:pPr>
              <a:spcBef>
                <a:spcPct val="50000"/>
              </a:spcBef>
            </a:pPr>
            <a:r>
              <a:rPr lang="en-US" altLang="zh-CN" sz="2800" b="1">
                <a:latin typeface="Times New Roman" panose="02020603050405020304" pitchFamily="18" charset="0"/>
              </a:rPr>
              <a:t>        </a:t>
            </a:r>
            <a:r>
              <a:rPr lang="en-US" altLang="zh-CN" sz="2800" b="1">
                <a:solidFill>
                  <a:srgbClr val="FF0000"/>
                </a:solidFill>
                <a:latin typeface="Times New Roman" panose="02020603050405020304" pitchFamily="18" charset="0"/>
              </a:rPr>
              <a:t>Fisher</a:t>
            </a:r>
            <a:r>
              <a:rPr lang="zh-CN" altLang="en-US" sz="2800" b="1">
                <a:solidFill>
                  <a:srgbClr val="FF0000"/>
                </a:solidFill>
                <a:latin typeface="宋体" panose="02010600030101010101" pitchFamily="2" charset="-122"/>
              </a:rPr>
              <a:t>氏性比理论</a:t>
            </a:r>
            <a:r>
              <a:rPr lang="zh-CN" altLang="en-US" sz="2800" b="1">
                <a:latin typeface="宋体" panose="02010600030101010101" pitchFamily="2" charset="-122"/>
              </a:rPr>
              <a:t>（</a:t>
            </a:r>
            <a:r>
              <a:rPr lang="en-US" altLang="zh-CN" sz="2800" b="1">
                <a:latin typeface="Times New Roman" panose="02020603050405020304" pitchFamily="18" charset="0"/>
              </a:rPr>
              <a:t>Fisher's sex ratio theory</a:t>
            </a:r>
            <a:r>
              <a:rPr lang="zh-CN" altLang="en-US" sz="2800" b="1">
                <a:latin typeface="宋体" panose="02010600030101010101" pitchFamily="2" charset="-122"/>
              </a:rPr>
              <a:t>）：雌雄两性应该有相等投资（</a:t>
            </a:r>
            <a:r>
              <a:rPr lang="en-US" altLang="zh-CN" sz="2800" b="1">
                <a:latin typeface="宋体" panose="02010600030101010101" pitchFamily="2" charset="-122"/>
              </a:rPr>
              <a:t>equal investment</a:t>
            </a:r>
            <a:r>
              <a:rPr lang="zh-CN" altLang="en-US" sz="2800" b="1">
                <a:latin typeface="宋体" panose="02010600030101010101" pitchFamily="2" charset="-122"/>
              </a:rPr>
              <a:t>），这是</a:t>
            </a:r>
            <a:r>
              <a:rPr lang="zh-CN" altLang="en-US" sz="2800" b="1">
                <a:solidFill>
                  <a:srgbClr val="FF0000"/>
                </a:solidFill>
                <a:latin typeface="宋体" panose="02010600030101010101" pitchFamily="2" charset="-122"/>
              </a:rPr>
              <a:t>稀少型有利</a:t>
            </a:r>
            <a:r>
              <a:rPr lang="zh-CN" altLang="en-US" sz="2800" b="1">
                <a:latin typeface="宋体" panose="02010600030101010101" pitchFamily="2" charset="-122"/>
              </a:rPr>
              <a:t>的结果。 </a:t>
            </a:r>
            <a:r>
              <a:rPr lang="zh-CN" altLang="en-US" sz="2800" b="1">
                <a:latin typeface="Times New Roman" panose="02020603050405020304" pitchFamily="18" charset="0"/>
              </a:rPr>
              <a:t> </a:t>
            </a:r>
          </a:p>
        </p:txBody>
      </p:sp>
      <p:sp>
        <p:nvSpPr>
          <p:cNvPr id="104451" name="Text Box 3"/>
          <p:cNvSpPr txBox="1"/>
          <p:nvPr/>
        </p:nvSpPr>
        <p:spPr>
          <a:xfrm>
            <a:off x="798195" y="3585845"/>
            <a:ext cx="10530205" cy="2482215"/>
          </a:xfrm>
          <a:prstGeom prst="rect">
            <a:avLst/>
          </a:prstGeom>
          <a:noFill/>
          <a:ln w="12700">
            <a:noFill/>
          </a:ln>
        </p:spPr>
        <p:txBody>
          <a:bodyPr>
            <a:noAutofit/>
          </a:bodyPr>
          <a:lstStyle/>
          <a:p>
            <a:pPr>
              <a:spcBef>
                <a:spcPct val="50000"/>
              </a:spcBef>
            </a:pPr>
            <a:r>
              <a:rPr lang="en-US" altLang="zh-CN" sz="2800" b="1">
                <a:latin typeface="宋体" panose="02010600030101010101" pitchFamily="2" charset="-122"/>
              </a:rPr>
              <a:t>    </a:t>
            </a:r>
            <a:r>
              <a:rPr lang="zh-CN" altLang="en-US" sz="2800" b="1">
                <a:latin typeface="宋体" panose="02010600030101010101" pitchFamily="2" charset="-122"/>
              </a:rPr>
              <a:t>假如雄比雌少，雄体竞争小于雌体，并与多个雌体交配生产后代，因此雄性适合度将比雌性的高。反之雌性适合度将超过雄性。因此，任何性比上的偏离都会被进化所纠正。如果母体偏向于生产性别较少的后代，母体的适合度就比较高。这就是稀少型有利（</a:t>
            </a:r>
            <a:r>
              <a:rPr lang="en-US" altLang="zh-CN" sz="2800" b="1">
                <a:latin typeface="Times New Roman" panose="02020603050405020304" pitchFamily="18" charset="0"/>
              </a:rPr>
              <a:t>rare type advantage</a:t>
            </a:r>
            <a:r>
              <a:rPr lang="zh-CN" altLang="en-US" sz="2800" b="1">
                <a:latin typeface="宋体" panose="02010600030101010101" pitchFamily="2" charset="-122"/>
              </a:rPr>
              <a:t>）。</a:t>
            </a:r>
            <a:r>
              <a:rPr lang="zh-CN" altLang="en-US" sz="2800" b="1">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451"/>
                                        </p:tgtEl>
                                        <p:attrNameLst>
                                          <p:attrName>style.visibility</p:attrName>
                                        </p:attrNameLst>
                                      </p:cBhvr>
                                      <p:to>
                                        <p:strVal val="visible"/>
                                      </p:to>
                                    </p:set>
                                    <p:animEffect transition="in" filter="blinds(horizontal)">
                                      <p:cBhvr>
                                        <p:cTn id="7" dur="500"/>
                                        <p:tgtEl>
                                          <p:spTgt spid="104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2"/>
          <p:cNvGraphicFramePr/>
          <p:nvPr/>
        </p:nvGraphicFramePr>
        <p:xfrm>
          <a:off x="2819400" y="685800"/>
          <a:ext cx="5600700" cy="4914900"/>
        </p:xfrm>
        <a:graphic>
          <a:graphicData uri="http://schemas.openxmlformats.org/presentationml/2006/ole">
            <mc:AlternateContent xmlns:mc="http://schemas.openxmlformats.org/markup-compatibility/2006">
              <mc:Choice xmlns:v="urn:schemas-microsoft-com:vml" Requires="v">
                <p:oleObj r:id="rId2" imgW="5600700" imgH="4933315" progId="Word.Document.8">
                  <p:embed/>
                </p:oleObj>
              </mc:Choice>
              <mc:Fallback>
                <p:oleObj r:id="rId2" imgW="5600700" imgH="4933315" progId="Word.Document.8">
                  <p:embed/>
                  <p:pic>
                    <p:nvPicPr>
                      <p:cNvPr id="6146" name="Object 2"/>
                      <p:cNvPicPr/>
                      <p:nvPr/>
                    </p:nvPicPr>
                    <p:blipFill>
                      <a:blip r:embed="rId3"/>
                      <a:stretch>
                        <a:fillRect/>
                      </a:stretch>
                    </p:blipFill>
                    <p:spPr>
                      <a:xfrm>
                        <a:off x="2819400" y="685800"/>
                        <a:ext cx="5600700" cy="4914900"/>
                      </a:xfrm>
                      <a:prstGeom prst="rect">
                        <a:avLst/>
                      </a:prstGeom>
                      <a:noFill/>
                      <a:ln w="38100">
                        <a:noFill/>
                        <a:miter/>
                      </a:ln>
                    </p:spPr>
                  </p:pic>
                </p:oleObj>
              </mc:Fallback>
            </mc:AlternateContent>
          </a:graphicData>
        </a:graphic>
      </p:graphicFrame>
      <p:sp>
        <p:nvSpPr>
          <p:cNvPr id="6147" name="Text Box 4"/>
          <p:cNvSpPr txBox="1"/>
          <p:nvPr/>
        </p:nvSpPr>
        <p:spPr>
          <a:xfrm>
            <a:off x="1030605" y="189230"/>
            <a:ext cx="3886200" cy="696595"/>
          </a:xfrm>
          <a:prstGeom prst="rect">
            <a:avLst/>
          </a:prstGeom>
          <a:noFill/>
          <a:ln w="12700">
            <a:noFill/>
          </a:ln>
        </p:spPr>
        <p:txBody>
          <a:bodyPr>
            <a:noAutofit/>
          </a:bodyPr>
          <a:lstStyle/>
          <a:p>
            <a:pPr algn="just">
              <a:spcBef>
                <a:spcPct val="50000"/>
              </a:spcBef>
            </a:pPr>
            <a:r>
              <a:rPr lang="en-US" altLang="zh-CN" sz="3200" b="1">
                <a:solidFill>
                  <a:srgbClr val="000000"/>
                </a:solidFill>
                <a:latin typeface="Times New Roman" panose="02020603050405020304" pitchFamily="18" charset="0"/>
              </a:rPr>
              <a:t>3 </a:t>
            </a:r>
            <a:r>
              <a:rPr lang="zh-CN" altLang="en-US" sz="3200" b="1">
                <a:solidFill>
                  <a:srgbClr val="000000"/>
                </a:solidFill>
                <a:latin typeface="Times New Roman" panose="02020603050405020304" pitchFamily="18" charset="0"/>
              </a:rPr>
              <a:t>动物的婚配制度</a:t>
            </a:r>
            <a:endParaRPr lang="zh-CN" altLang="en-US" sz="3200">
              <a:latin typeface="Times New Roman" panose="02020603050405020304" pitchFamily="18" charset="0"/>
            </a:endParaRPr>
          </a:p>
          <a:p>
            <a:pPr>
              <a:spcBef>
                <a:spcPct val="50000"/>
              </a:spcBef>
            </a:pPr>
            <a:endParaRPr lang="zh-CN" altLang="en-US" sz="2800" b="1">
              <a:latin typeface="Times New Roman" panose="02020603050405020304" pitchFamily="18" charset="0"/>
            </a:endParaRPr>
          </a:p>
          <a:p>
            <a:pPr>
              <a:spcBef>
                <a:spcPct val="50000"/>
              </a:spcBef>
            </a:pPr>
            <a:endParaRPr lang="en-US" altLang="zh-CN">
              <a:latin typeface="Times New Roman" panose="02020603050405020304" pitchFamily="18" charset="0"/>
            </a:endParaRPr>
          </a:p>
        </p:txBody>
      </p:sp>
      <p:sp>
        <p:nvSpPr>
          <p:cNvPr id="6148" name="Text Box 5"/>
          <p:cNvSpPr txBox="1"/>
          <p:nvPr/>
        </p:nvSpPr>
        <p:spPr>
          <a:xfrm>
            <a:off x="723900" y="1052830"/>
            <a:ext cx="6828155" cy="1599565"/>
          </a:xfrm>
          <a:prstGeom prst="rect">
            <a:avLst/>
          </a:prstGeom>
          <a:noFill/>
          <a:ln w="12700">
            <a:noFill/>
          </a:ln>
        </p:spPr>
        <p:txBody>
          <a:bodyPr wrap="square">
            <a:spAutoFit/>
          </a:bodyPr>
          <a:lstStyle/>
          <a:p>
            <a:pPr algn="just">
              <a:spcBef>
                <a:spcPct val="50000"/>
              </a:spcBef>
            </a:pPr>
            <a:r>
              <a:rPr lang="zh-CN" altLang="en-US" sz="2800" b="1">
                <a:solidFill>
                  <a:srgbClr val="000000"/>
                </a:solidFill>
                <a:latin typeface="Times New Roman" panose="02020603050405020304" pitchFamily="18" charset="0"/>
              </a:rPr>
              <a:t>（</a:t>
            </a:r>
            <a:r>
              <a:rPr lang="en-US" altLang="zh-CN" sz="2800" b="1">
                <a:solidFill>
                  <a:srgbClr val="000000"/>
                </a:solidFill>
                <a:latin typeface="Times New Roman" panose="02020603050405020304" pitchFamily="18" charset="0"/>
              </a:rPr>
              <a:t>1</a:t>
            </a:r>
            <a:r>
              <a:rPr lang="zh-CN" altLang="en-US" sz="2800" b="1">
                <a:solidFill>
                  <a:srgbClr val="000000"/>
                </a:solidFill>
                <a:latin typeface="Times New Roman" panose="02020603050405020304" pitchFamily="18" charset="0"/>
              </a:rPr>
              <a:t>）定义</a:t>
            </a:r>
            <a:endParaRPr lang="en-US" altLang="zh-CN" sz="2800" b="1">
              <a:solidFill>
                <a:srgbClr val="000000"/>
              </a:solidFill>
              <a:latin typeface="Times New Roman" panose="02020603050405020304" pitchFamily="18" charset="0"/>
            </a:endParaRPr>
          </a:p>
          <a:p>
            <a:pPr algn="just">
              <a:spcBef>
                <a:spcPct val="50000"/>
              </a:spcBef>
            </a:pPr>
            <a:r>
              <a:rPr lang="en-US" altLang="zh-CN" sz="2800" b="1">
                <a:latin typeface="Times New Roman" panose="02020603050405020304" pitchFamily="18" charset="0"/>
              </a:rPr>
              <a:t>       </a:t>
            </a:r>
            <a:r>
              <a:rPr lang="zh-CN" altLang="en-US" sz="2800" b="1">
                <a:latin typeface="Times New Roman" panose="02020603050405020304" pitchFamily="18" charset="0"/>
              </a:rPr>
              <a:t>指种群内婚配的类型，包括配偶的数目，配偶持续时间，以及对后代的抚育等。</a:t>
            </a:r>
          </a:p>
        </p:txBody>
      </p:sp>
      <p:pic>
        <p:nvPicPr>
          <p:cNvPr id="6149" name="Picture 6"/>
          <p:cNvPicPr>
            <a:picLocks noChangeAspect="1"/>
          </p:cNvPicPr>
          <p:nvPr/>
        </p:nvPicPr>
        <p:blipFill>
          <a:blip r:embed="rId4"/>
          <a:stretch>
            <a:fillRect/>
          </a:stretch>
        </p:blipFill>
        <p:spPr>
          <a:xfrm>
            <a:off x="7921625" y="210503"/>
            <a:ext cx="3276600" cy="2441575"/>
          </a:xfrm>
          <a:prstGeom prst="rect">
            <a:avLst/>
          </a:prstGeom>
          <a:noFill/>
          <a:ln w="12700">
            <a:noFill/>
          </a:ln>
        </p:spPr>
      </p:pic>
      <p:pic>
        <p:nvPicPr>
          <p:cNvPr id="6150" name="Picture 7"/>
          <p:cNvPicPr>
            <a:picLocks noChangeAspect="1"/>
          </p:cNvPicPr>
          <p:nvPr/>
        </p:nvPicPr>
        <p:blipFill>
          <a:blip r:embed="rId5"/>
          <a:stretch>
            <a:fillRect/>
          </a:stretch>
        </p:blipFill>
        <p:spPr>
          <a:xfrm>
            <a:off x="7378065" y="2819400"/>
            <a:ext cx="4489450" cy="349250"/>
          </a:xfrm>
          <a:prstGeom prst="rect">
            <a:avLst/>
          </a:prstGeom>
          <a:noFill/>
          <a:ln w="12700">
            <a:noFill/>
          </a:ln>
        </p:spPr>
      </p:pic>
      <p:sp>
        <p:nvSpPr>
          <p:cNvPr id="6151" name="Text Box 1035"/>
          <p:cNvSpPr txBox="1"/>
          <p:nvPr/>
        </p:nvSpPr>
        <p:spPr>
          <a:xfrm>
            <a:off x="593090" y="3168650"/>
            <a:ext cx="10605135" cy="2783840"/>
          </a:xfrm>
          <a:prstGeom prst="rect">
            <a:avLst/>
          </a:prstGeom>
          <a:noFill/>
          <a:ln w="12700">
            <a:noFill/>
          </a:ln>
        </p:spPr>
        <p:txBody>
          <a:bodyPr wrap="square">
            <a:noAutofit/>
          </a:bodyPr>
          <a:lstStyle/>
          <a:p>
            <a:r>
              <a:rPr lang="zh-CN" altLang="en-US" sz="2800" b="1">
                <a:solidFill>
                  <a:srgbClr val="000000"/>
                </a:solidFill>
                <a:latin typeface="Times New Roman" panose="02020603050405020304" pitchFamily="18" charset="0"/>
              </a:rPr>
              <a:t>（</a:t>
            </a:r>
            <a:r>
              <a:rPr lang="en-US" altLang="zh-CN" sz="2800" b="1">
                <a:solidFill>
                  <a:srgbClr val="000000"/>
                </a:solidFill>
                <a:latin typeface="Times New Roman" panose="02020603050405020304" pitchFamily="18" charset="0"/>
              </a:rPr>
              <a:t>2</a:t>
            </a:r>
            <a:r>
              <a:rPr lang="zh-CN" altLang="en-US" sz="2800" b="1">
                <a:solidFill>
                  <a:srgbClr val="000000"/>
                </a:solidFill>
                <a:latin typeface="Times New Roman" panose="02020603050405020304" pitchFamily="18" charset="0"/>
              </a:rPr>
              <a:t>）类型</a:t>
            </a:r>
            <a:endParaRPr lang="zh-CN" altLang="en-US" sz="2800" b="1">
              <a:latin typeface="Times New Roman" panose="02020603050405020304" pitchFamily="18" charset="0"/>
            </a:endParaRPr>
          </a:p>
          <a:p>
            <a:r>
              <a:rPr lang="zh-CN" altLang="en-US" sz="2800" b="1">
                <a:solidFill>
                  <a:srgbClr val="000000"/>
                </a:solidFill>
                <a:latin typeface="Times New Roman" panose="02020603050405020304" pitchFamily="18" charset="0"/>
              </a:rPr>
              <a:t>   </a:t>
            </a: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有一雌多雄制 （斗鱼、红颈瓣蹼鹬），一雄多雌制（猕猴）及单配偶制（天鹅、鸿雁、白鹤）</a:t>
            </a:r>
          </a:p>
          <a:p>
            <a:endParaRPr lang="zh-CN" altLang="en-US" sz="2800" b="1">
              <a:solidFill>
                <a:srgbClr val="000000"/>
              </a:solidFill>
              <a:latin typeface="Times New Roman" panose="02020603050405020304" pitchFamily="18" charset="0"/>
            </a:endParaRPr>
          </a:p>
          <a:p>
            <a:r>
              <a:rPr lang="zh-CN" altLang="en-US" sz="2800" b="1">
                <a:solidFill>
                  <a:srgbClr val="000000"/>
                </a:solidFill>
                <a:latin typeface="Times New Roman" panose="02020603050405020304" pitchFamily="18" charset="0"/>
              </a:rPr>
              <a:t>（</a:t>
            </a:r>
            <a:r>
              <a:rPr lang="en-US" altLang="zh-CN" sz="2800" b="1">
                <a:solidFill>
                  <a:srgbClr val="000000"/>
                </a:solidFill>
                <a:latin typeface="Times New Roman" panose="02020603050405020304" pitchFamily="18" charset="0"/>
              </a:rPr>
              <a:t>3</a:t>
            </a:r>
            <a:r>
              <a:rPr lang="zh-CN" altLang="en-US" sz="2800" b="1">
                <a:solidFill>
                  <a:srgbClr val="000000"/>
                </a:solidFill>
                <a:latin typeface="Times New Roman" panose="02020603050405020304" pitchFamily="18" charset="0"/>
              </a:rPr>
              <a:t>）影响因素：决定动物婚配制度的主要生态因素是</a:t>
            </a:r>
            <a:r>
              <a:rPr lang="zh-CN" altLang="en-US" sz="2800" b="1">
                <a:solidFill>
                  <a:srgbClr val="FF0000"/>
                </a:solidFill>
                <a:latin typeface="Times New Roman" panose="02020603050405020304" pitchFamily="18" charset="0"/>
              </a:rPr>
              <a:t>资源的质量和分布</a:t>
            </a:r>
            <a:r>
              <a:rPr lang="zh-CN" altLang="en-US" sz="2800" b="1">
                <a:solidFill>
                  <a:srgbClr val="000000"/>
                </a:solidFill>
                <a:latin typeface="Times New Roman" panose="02020603050405020304" pitchFamily="18" charset="0"/>
              </a:rPr>
              <a:t>。</a:t>
            </a:r>
            <a:r>
              <a:rPr lang="zh-CN" altLang="en-US" sz="2800" b="1">
                <a:solidFill>
                  <a:srgbClr val="FF3300"/>
                </a:solidFill>
                <a:latin typeface="Times New Roman" panose="02020603050405020304" pitchFamily="18" charset="0"/>
              </a:rPr>
              <a:t>高质而分布均匀的资源</a:t>
            </a:r>
            <a:r>
              <a:rPr lang="zh-CN" altLang="en-US" sz="2800" b="1">
                <a:solidFill>
                  <a:srgbClr val="000000"/>
                </a:solidFill>
                <a:latin typeface="Times New Roman" panose="02020603050405020304" pitchFamily="18" charset="0"/>
              </a:rPr>
              <a:t>有利于产生</a:t>
            </a:r>
            <a:r>
              <a:rPr lang="zh-CN" altLang="en-US" sz="2800" b="1">
                <a:solidFill>
                  <a:srgbClr val="FF0000"/>
                </a:solidFill>
                <a:latin typeface="Times New Roman" panose="02020603050405020304" pitchFamily="18" charset="0"/>
              </a:rPr>
              <a:t>单配偶制</a:t>
            </a:r>
            <a:r>
              <a:rPr lang="zh-CN" altLang="en-US" sz="2800" b="1">
                <a:solidFill>
                  <a:srgbClr val="000000"/>
                </a:solidFill>
                <a:latin typeface="Times New Roman" panose="02020603050405020304" pitchFamily="18" charset="0"/>
              </a:rPr>
              <a:t>。</a:t>
            </a:r>
            <a:endParaRPr lang="zh-CN" altLang="en-US" sz="2800" b="1">
              <a:latin typeface="Times New Roman" panose="02020603050405020304" pitchFamily="18" charset="0"/>
            </a:endParaRPr>
          </a:p>
          <a:p>
            <a:endParaRPr lang="zh-CN" altLang="en-US" sz="2800">
              <a:latin typeface="Times New Roman" panose="02020603050405020304" pitchFamily="18" charset="0"/>
            </a:endParaRPr>
          </a:p>
          <a:p>
            <a:pPr>
              <a:spcBef>
                <a:spcPct val="50000"/>
              </a:spcBef>
            </a:pPr>
            <a:endParaRPr lang="en-US" altLang="zh-CN" sz="2800">
              <a:latin typeface="Times New Roman" panose="02020603050405020304" pitchFamily="18"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7"/>
          <p:cNvGraphicFramePr/>
          <p:nvPr/>
        </p:nvGraphicFramePr>
        <p:xfrm>
          <a:off x="2895600" y="685800"/>
          <a:ext cx="5486400" cy="419100"/>
        </p:xfrm>
        <a:graphic>
          <a:graphicData uri="http://schemas.openxmlformats.org/presentationml/2006/ole">
            <mc:AlternateContent xmlns:mc="http://schemas.openxmlformats.org/markup-compatibility/2006">
              <mc:Choice xmlns:v="urn:schemas-microsoft-com:vml" Requires="v">
                <p:oleObj r:id="rId2" imgW="5486400" imgH="427990" progId="Word.Document.8">
                  <p:embed/>
                </p:oleObj>
              </mc:Choice>
              <mc:Fallback>
                <p:oleObj r:id="rId2" imgW="5486400" imgH="427990" progId="Word.Document.8">
                  <p:embed/>
                  <p:pic>
                    <p:nvPicPr>
                      <p:cNvPr id="7170" name="Object 7"/>
                      <p:cNvPicPr/>
                      <p:nvPr/>
                    </p:nvPicPr>
                    <p:blipFill>
                      <a:blip r:embed="rId3"/>
                      <a:stretch>
                        <a:fillRect/>
                      </a:stretch>
                    </p:blipFill>
                    <p:spPr>
                      <a:xfrm>
                        <a:off x="2895600" y="685800"/>
                        <a:ext cx="5486400" cy="419100"/>
                      </a:xfrm>
                      <a:prstGeom prst="rect">
                        <a:avLst/>
                      </a:prstGeom>
                      <a:noFill/>
                      <a:ln w="38100">
                        <a:noFill/>
                        <a:miter/>
                      </a:ln>
                    </p:spPr>
                  </p:pic>
                </p:oleObj>
              </mc:Fallback>
            </mc:AlternateContent>
          </a:graphicData>
        </a:graphic>
      </p:graphicFrame>
      <p:graphicFrame>
        <p:nvGraphicFramePr>
          <p:cNvPr id="7171" name="Object 8"/>
          <p:cNvGraphicFramePr/>
          <p:nvPr/>
        </p:nvGraphicFramePr>
        <p:xfrm>
          <a:off x="3124200" y="1358900"/>
          <a:ext cx="5486400" cy="5219700"/>
        </p:xfrm>
        <a:graphic>
          <a:graphicData uri="http://schemas.openxmlformats.org/presentationml/2006/ole">
            <mc:AlternateContent xmlns:mc="http://schemas.openxmlformats.org/markup-compatibility/2006">
              <mc:Choice xmlns:v="urn:schemas-microsoft-com:vml" Requires="v">
                <p:oleObj r:id="rId4" imgW="5486400" imgH="5228590" progId="Word.Document.8">
                  <p:embed/>
                </p:oleObj>
              </mc:Choice>
              <mc:Fallback>
                <p:oleObj r:id="rId4" imgW="5486400" imgH="5228590" progId="Word.Document.8">
                  <p:embed/>
                  <p:pic>
                    <p:nvPicPr>
                      <p:cNvPr id="7171" name="Object 8"/>
                      <p:cNvPicPr/>
                      <p:nvPr/>
                    </p:nvPicPr>
                    <p:blipFill>
                      <a:blip r:embed="rId5"/>
                      <a:stretch>
                        <a:fillRect/>
                      </a:stretch>
                    </p:blipFill>
                    <p:spPr>
                      <a:xfrm>
                        <a:off x="3124200" y="1358900"/>
                        <a:ext cx="5486400" cy="5219700"/>
                      </a:xfrm>
                      <a:prstGeom prst="rect">
                        <a:avLst/>
                      </a:prstGeom>
                      <a:noFill/>
                      <a:ln w="38100">
                        <a:noFill/>
                        <a:miter/>
                      </a:ln>
                    </p:spPr>
                  </p:pic>
                </p:oleObj>
              </mc:Fallback>
            </mc:AlternateContent>
          </a:graphicData>
        </a:graphic>
      </p:graphicFrame>
      <p:graphicFrame>
        <p:nvGraphicFramePr>
          <p:cNvPr id="7172" name="Object 9"/>
          <p:cNvGraphicFramePr/>
          <p:nvPr/>
        </p:nvGraphicFramePr>
        <p:xfrm>
          <a:off x="2819400" y="3200400"/>
          <a:ext cx="5486400" cy="2133600"/>
        </p:xfrm>
        <a:graphic>
          <a:graphicData uri="http://schemas.openxmlformats.org/presentationml/2006/ole">
            <mc:AlternateContent xmlns:mc="http://schemas.openxmlformats.org/markup-compatibility/2006">
              <mc:Choice xmlns:v="urn:schemas-microsoft-com:vml" Requires="v">
                <p:oleObj r:id="rId6" imgW="5486400" imgH="2145665" progId="Word.Document.8">
                  <p:embed/>
                </p:oleObj>
              </mc:Choice>
              <mc:Fallback>
                <p:oleObj r:id="rId6" imgW="5486400" imgH="2145665" progId="Word.Document.8">
                  <p:embed/>
                  <p:pic>
                    <p:nvPicPr>
                      <p:cNvPr id="7172" name="Object 9"/>
                      <p:cNvPicPr/>
                      <p:nvPr/>
                    </p:nvPicPr>
                    <p:blipFill>
                      <a:blip r:embed="rId7"/>
                      <a:stretch>
                        <a:fillRect/>
                      </a:stretch>
                    </p:blipFill>
                    <p:spPr>
                      <a:xfrm>
                        <a:off x="2819400" y="3200400"/>
                        <a:ext cx="5486400" cy="2133600"/>
                      </a:xfrm>
                      <a:prstGeom prst="rect">
                        <a:avLst/>
                      </a:prstGeom>
                      <a:noFill/>
                      <a:ln w="38100">
                        <a:noFill/>
                        <a:miter/>
                      </a:ln>
                    </p:spPr>
                  </p:pic>
                </p:oleObj>
              </mc:Fallback>
            </mc:AlternateContent>
          </a:graphicData>
        </a:graphic>
      </p:graphicFrame>
      <p:graphicFrame>
        <p:nvGraphicFramePr>
          <p:cNvPr id="7173" name="Object 10"/>
          <p:cNvGraphicFramePr/>
          <p:nvPr/>
        </p:nvGraphicFramePr>
        <p:xfrm>
          <a:off x="2971800" y="5029200"/>
          <a:ext cx="5486400" cy="1276350"/>
        </p:xfrm>
        <a:graphic>
          <a:graphicData uri="http://schemas.openxmlformats.org/presentationml/2006/ole">
            <mc:AlternateContent xmlns:mc="http://schemas.openxmlformats.org/markup-compatibility/2006">
              <mc:Choice xmlns:v="urn:schemas-microsoft-com:vml" Requires="v">
                <p:oleObj r:id="rId8" imgW="5486400" imgH="1287780" progId="Word.Document.8">
                  <p:embed/>
                </p:oleObj>
              </mc:Choice>
              <mc:Fallback>
                <p:oleObj r:id="rId8" imgW="5486400" imgH="1287780" progId="Word.Document.8">
                  <p:embed/>
                  <p:pic>
                    <p:nvPicPr>
                      <p:cNvPr id="7173" name="Object 10"/>
                      <p:cNvPicPr/>
                      <p:nvPr/>
                    </p:nvPicPr>
                    <p:blipFill>
                      <a:blip r:embed="rId9"/>
                      <a:stretch>
                        <a:fillRect/>
                      </a:stretch>
                    </p:blipFill>
                    <p:spPr>
                      <a:xfrm>
                        <a:off x="2971800" y="5029200"/>
                        <a:ext cx="5486400" cy="1276350"/>
                      </a:xfrm>
                      <a:prstGeom prst="rect">
                        <a:avLst/>
                      </a:prstGeom>
                      <a:noFill/>
                      <a:ln w="38100">
                        <a:noFill/>
                        <a:miter/>
                      </a:ln>
                    </p:spPr>
                  </p:pic>
                </p:oleObj>
              </mc:Fallback>
            </mc:AlternateContent>
          </a:graphicData>
        </a:graphic>
      </p:graphicFrame>
      <p:sp>
        <p:nvSpPr>
          <p:cNvPr id="7174" name="Text Box 7"/>
          <p:cNvSpPr txBox="1"/>
          <p:nvPr/>
        </p:nvSpPr>
        <p:spPr>
          <a:xfrm>
            <a:off x="1335723" y="470853"/>
            <a:ext cx="7620000" cy="645160"/>
          </a:xfrm>
          <a:prstGeom prst="rect">
            <a:avLst/>
          </a:prstGeom>
          <a:noFill/>
          <a:ln w="12700">
            <a:noFill/>
          </a:ln>
        </p:spPr>
        <p:txBody>
          <a:bodyPr>
            <a:spAutoFit/>
          </a:bodyPr>
          <a:lstStyle/>
          <a:p>
            <a:pPr>
              <a:spcBef>
                <a:spcPct val="50000"/>
              </a:spcBef>
            </a:pPr>
            <a:r>
              <a:rPr lang="en-US" altLang="zh-CN" sz="3600" b="1">
                <a:solidFill>
                  <a:srgbClr val="000000"/>
                </a:solidFill>
                <a:latin typeface="宋体" panose="02010600030101010101" pitchFamily="2" charset="-122"/>
              </a:rPr>
              <a:t>7.1.3 </a:t>
            </a:r>
            <a:r>
              <a:rPr lang="zh-CN" altLang="en-US" sz="3600" b="1">
                <a:solidFill>
                  <a:srgbClr val="000000"/>
                </a:solidFill>
                <a:latin typeface="宋体" panose="02010600030101010101" pitchFamily="2" charset="-122"/>
              </a:rPr>
              <a:t>与性别无关的社会性行为</a:t>
            </a:r>
            <a:r>
              <a:rPr lang="zh-CN" altLang="en-US" sz="3600">
                <a:latin typeface="Times New Roman" panose="02020603050405020304" pitchFamily="18" charset="0"/>
              </a:rPr>
              <a:t> </a:t>
            </a:r>
          </a:p>
        </p:txBody>
      </p:sp>
      <p:sp>
        <p:nvSpPr>
          <p:cNvPr id="7175" name="Text Box 8"/>
          <p:cNvSpPr txBox="1"/>
          <p:nvPr/>
        </p:nvSpPr>
        <p:spPr>
          <a:xfrm>
            <a:off x="1541780" y="1220470"/>
            <a:ext cx="9108440" cy="1047115"/>
          </a:xfrm>
          <a:prstGeom prst="rect">
            <a:avLst/>
          </a:prstGeom>
          <a:noFill/>
          <a:ln w="12700">
            <a:noFill/>
          </a:ln>
        </p:spPr>
        <p:txBody>
          <a:bodyPr wrap="square">
            <a:noAutofit/>
          </a:bodyPr>
          <a:lstStyle/>
          <a:p>
            <a:pPr algn="just">
              <a:spcBef>
                <a:spcPct val="50000"/>
              </a:spcBef>
            </a:pPr>
            <a:r>
              <a:rPr lang="en-US" altLang="zh-CN" sz="2800" b="1">
                <a:solidFill>
                  <a:srgbClr val="000000"/>
                </a:solidFill>
                <a:latin typeface="Times New Roman" panose="02020603050405020304" pitchFamily="18" charset="0"/>
              </a:rPr>
              <a:t>1 </a:t>
            </a:r>
            <a:r>
              <a:rPr lang="zh-CN" altLang="en-US" sz="2800" b="1">
                <a:solidFill>
                  <a:srgbClr val="000000"/>
                </a:solidFill>
                <a:latin typeface="Times New Roman" panose="02020603050405020304" pitchFamily="18" charset="0"/>
              </a:rPr>
              <a:t>领域（</a:t>
            </a:r>
            <a:r>
              <a:rPr lang="en-US" altLang="zh-CN" sz="2800" b="1">
                <a:solidFill>
                  <a:srgbClr val="000000"/>
                </a:solidFill>
                <a:latin typeface="Times New Roman" panose="02020603050405020304" pitchFamily="18" charset="0"/>
              </a:rPr>
              <a:t>territory</a:t>
            </a:r>
            <a:r>
              <a:rPr lang="zh-CN" altLang="en-US" sz="2800" b="1">
                <a:solidFill>
                  <a:srgbClr val="000000"/>
                </a:solidFill>
                <a:latin typeface="Times New Roman" panose="02020603050405020304" pitchFamily="18" charset="0"/>
              </a:rPr>
              <a:t>）：指个体、家庭或其他社群单位所占据并积极保卫不让同种其他个体侵入的空间。</a:t>
            </a:r>
            <a:endParaRPr lang="zh-CN" altLang="en-US" sz="2800">
              <a:latin typeface="Times New Roman" panose="02020603050405020304" pitchFamily="18" charset="0"/>
            </a:endParaRPr>
          </a:p>
          <a:p>
            <a:pPr>
              <a:spcBef>
                <a:spcPct val="50000"/>
              </a:spcBef>
            </a:pPr>
            <a:endParaRPr lang="en-US" altLang="zh-CN" sz="2800">
              <a:latin typeface="Times New Roman" panose="02020603050405020304" pitchFamily="18" charset="0"/>
            </a:endParaRPr>
          </a:p>
        </p:txBody>
      </p:sp>
      <p:pic>
        <p:nvPicPr>
          <p:cNvPr id="7176" name="Picture 10" descr="领域行为2"/>
          <p:cNvPicPr>
            <a:picLocks noChangeAspect="1"/>
          </p:cNvPicPr>
          <p:nvPr/>
        </p:nvPicPr>
        <p:blipFill>
          <a:blip r:embed="rId10"/>
          <a:stretch>
            <a:fillRect/>
          </a:stretch>
        </p:blipFill>
        <p:spPr>
          <a:xfrm>
            <a:off x="6024563" y="2430145"/>
            <a:ext cx="4343400" cy="2895600"/>
          </a:xfrm>
          <a:prstGeom prst="rect">
            <a:avLst/>
          </a:prstGeom>
          <a:noFill/>
          <a:ln w="9525">
            <a:noFill/>
          </a:ln>
        </p:spPr>
      </p:pic>
      <p:pic>
        <p:nvPicPr>
          <p:cNvPr id="7177" name="Picture 5" descr="preview1190968922191_381534">
            <a:hlinkClick r:id="rId11"/>
          </p:cNvPr>
          <p:cNvPicPr>
            <a:picLocks noChangeAspect="1"/>
          </p:cNvPicPr>
          <p:nvPr/>
        </p:nvPicPr>
        <p:blipFill>
          <a:blip r:embed="rId12"/>
          <a:stretch>
            <a:fillRect/>
          </a:stretch>
        </p:blipFill>
        <p:spPr>
          <a:xfrm>
            <a:off x="1774825" y="2604770"/>
            <a:ext cx="4110038" cy="2728913"/>
          </a:xfrm>
          <a:prstGeom prst="rect">
            <a:avLst/>
          </a:prstGeom>
          <a:noFill/>
          <a:ln w="9525">
            <a:noFill/>
          </a:ln>
        </p:spPr>
      </p:pic>
      <p:sp>
        <p:nvSpPr>
          <p:cNvPr id="7178" name="Text Box 6"/>
          <p:cNvSpPr txBox="1"/>
          <p:nvPr/>
        </p:nvSpPr>
        <p:spPr>
          <a:xfrm>
            <a:off x="4800600" y="5488305"/>
            <a:ext cx="3635375" cy="306705"/>
          </a:xfrm>
          <a:prstGeom prst="rect">
            <a:avLst/>
          </a:prstGeom>
          <a:noFill/>
          <a:ln w="12700">
            <a:noFill/>
          </a:ln>
        </p:spPr>
        <p:txBody>
          <a:bodyPr>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http://www.nipic.com</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p:nvPr/>
        </p:nvSpPr>
        <p:spPr>
          <a:xfrm>
            <a:off x="1120775" y="533400"/>
            <a:ext cx="9765030" cy="1472565"/>
          </a:xfrm>
          <a:prstGeom prst="rect">
            <a:avLst/>
          </a:prstGeom>
          <a:noFill/>
          <a:ln w="12700">
            <a:noFill/>
          </a:ln>
        </p:spPr>
        <p:txBody>
          <a:bodyPr>
            <a:noAutofit/>
          </a:bodyPr>
          <a:lstStyle/>
          <a:p>
            <a:pPr algn="just">
              <a:spcBef>
                <a:spcPct val="50000"/>
              </a:spcBef>
            </a:pPr>
            <a:r>
              <a:rPr lang="zh-CN" altLang="en-US" sz="3200" b="1">
                <a:solidFill>
                  <a:srgbClr val="000000"/>
                </a:solidFill>
                <a:latin typeface="宋体" panose="02010600030101010101" pitchFamily="2" charset="-122"/>
              </a:rPr>
              <a:t>有关领域的概括性规律：</a:t>
            </a:r>
            <a:r>
              <a:rPr lang="zh-CN" altLang="en-US" sz="2800" b="1">
                <a:latin typeface="Times New Roman" panose="02020603050405020304" pitchFamily="18" charset="0"/>
              </a:rPr>
              <a:t> </a:t>
            </a:r>
          </a:p>
          <a:p>
            <a:pPr algn="just">
              <a:spcBef>
                <a:spcPct val="50000"/>
              </a:spcBef>
            </a:pPr>
            <a:endParaRPr lang="zh-CN" altLang="en-US" sz="2800" b="1">
              <a:latin typeface="Times New Roman" panose="02020603050405020304" pitchFamily="18" charset="0"/>
            </a:endParaRPr>
          </a:p>
          <a:p>
            <a:pPr algn="just">
              <a:spcBef>
                <a:spcPct val="50000"/>
              </a:spcBef>
            </a:pPr>
            <a:endParaRPr lang="en-US" altLang="zh-CN" sz="2800" b="1">
              <a:latin typeface="Times New Roman" panose="02020603050405020304" pitchFamily="18" charset="0"/>
            </a:endParaRPr>
          </a:p>
        </p:txBody>
      </p:sp>
      <p:sp>
        <p:nvSpPr>
          <p:cNvPr id="18435" name="Text Box 3"/>
          <p:cNvSpPr txBox="1"/>
          <p:nvPr/>
        </p:nvSpPr>
        <p:spPr>
          <a:xfrm>
            <a:off x="827405" y="2005965"/>
            <a:ext cx="10547350" cy="1532890"/>
          </a:xfrm>
          <a:prstGeom prst="rect">
            <a:avLst/>
          </a:prstGeom>
          <a:noFill/>
          <a:ln w="12700">
            <a:noFill/>
          </a:ln>
        </p:spPr>
        <p:txBody>
          <a:bodyPr>
            <a:noAutofit/>
          </a:bodyPr>
          <a:lstStyle/>
          <a:p>
            <a:r>
              <a:rPr lang="zh-CN" altLang="en-US" sz="3600" b="1">
                <a:latin typeface="Times New Roman" panose="02020603050405020304" pitchFamily="18" charset="0"/>
              </a:rPr>
              <a:t>（</a:t>
            </a:r>
            <a:r>
              <a:rPr lang="en-US" altLang="zh-CN" sz="3600" b="1">
                <a:latin typeface="Times New Roman" panose="02020603050405020304" pitchFamily="18" charset="0"/>
              </a:rPr>
              <a:t>2</a:t>
            </a:r>
            <a:r>
              <a:rPr lang="zh-CN" altLang="en-US" sz="3600" b="1">
                <a:latin typeface="Times New Roman" panose="02020603050405020304" pitchFamily="18" charset="0"/>
              </a:rPr>
              <a:t>）领域面积受</a:t>
            </a:r>
            <a:r>
              <a:rPr lang="zh-CN" altLang="en-US" sz="3600" b="1">
                <a:solidFill>
                  <a:srgbClr val="FF0000"/>
                </a:solidFill>
                <a:latin typeface="Times New Roman" panose="02020603050405020304" pitchFamily="18" charset="0"/>
              </a:rPr>
              <a:t>食物品质</a:t>
            </a:r>
            <a:r>
              <a:rPr lang="zh-CN" altLang="en-US" sz="3600" b="1">
                <a:latin typeface="Times New Roman" panose="02020603050405020304" pitchFamily="18" charset="0"/>
              </a:rPr>
              <a:t>的影响，食肉动物的领</a:t>
            </a:r>
          </a:p>
          <a:p>
            <a:r>
              <a:rPr lang="zh-CN" altLang="en-US" sz="3600" b="1">
                <a:latin typeface="Times New Roman" panose="02020603050405020304" pitchFamily="18" charset="0"/>
              </a:rPr>
              <a:t> </a:t>
            </a:r>
            <a:r>
              <a:rPr lang="en-US" altLang="zh-CN" sz="3600" b="1">
                <a:latin typeface="Times New Roman" panose="02020603050405020304" pitchFamily="18" charset="0"/>
              </a:rPr>
              <a:t>         </a:t>
            </a:r>
            <a:r>
              <a:rPr lang="zh-CN" altLang="en-US" sz="3600" b="1">
                <a:latin typeface="Times New Roman" panose="02020603050405020304" pitchFamily="18" charset="0"/>
              </a:rPr>
              <a:t>域面积较同样体重的食草动物大，且体重越</a:t>
            </a:r>
          </a:p>
          <a:p>
            <a:r>
              <a:rPr lang="zh-CN" altLang="en-US" sz="3600" b="1">
                <a:latin typeface="Times New Roman" panose="02020603050405020304" pitchFamily="18" charset="0"/>
              </a:rPr>
              <a:t> </a:t>
            </a:r>
            <a:r>
              <a:rPr lang="en-US" altLang="zh-CN" sz="3600" b="1">
                <a:latin typeface="Times New Roman" panose="02020603050405020304" pitchFamily="18" charset="0"/>
              </a:rPr>
              <a:t>         </a:t>
            </a:r>
            <a:r>
              <a:rPr lang="zh-CN" altLang="en-US" sz="3600" b="1">
                <a:latin typeface="Times New Roman" panose="02020603050405020304" pitchFamily="18" charset="0"/>
              </a:rPr>
              <a:t>大，这种差别也越大；</a:t>
            </a:r>
          </a:p>
          <a:p>
            <a:endParaRPr lang="zh-CN" altLang="en-US" sz="2800" b="1">
              <a:latin typeface="Times New Roman" panose="02020603050405020304" pitchFamily="18" charset="0"/>
            </a:endParaRPr>
          </a:p>
          <a:p>
            <a:r>
              <a:rPr lang="zh-CN" altLang="en-US" b="1">
                <a:solidFill>
                  <a:srgbClr val="000000"/>
                </a:solidFill>
                <a:latin typeface="Times New Roman" panose="02020603050405020304" pitchFamily="18" charset="0"/>
              </a:rPr>
              <a:t> </a:t>
            </a:r>
            <a:endParaRPr lang="zh-CN" altLang="en-US" b="1">
              <a:latin typeface="Times New Roman" panose="02020603050405020304" pitchFamily="18" charset="0"/>
            </a:endParaRPr>
          </a:p>
          <a:p>
            <a:pPr>
              <a:spcBef>
                <a:spcPct val="50000"/>
              </a:spcBef>
            </a:pPr>
            <a:endParaRPr lang="en-US" altLang="zh-CN">
              <a:latin typeface="Times New Roman" panose="02020603050405020304" pitchFamily="18" charset="0"/>
            </a:endParaRPr>
          </a:p>
        </p:txBody>
      </p:sp>
      <p:sp>
        <p:nvSpPr>
          <p:cNvPr id="18436" name="Text Box 4"/>
          <p:cNvSpPr txBox="1"/>
          <p:nvPr/>
        </p:nvSpPr>
        <p:spPr>
          <a:xfrm>
            <a:off x="993140" y="3664585"/>
            <a:ext cx="10033635" cy="1741805"/>
          </a:xfrm>
          <a:prstGeom prst="rect">
            <a:avLst/>
          </a:prstGeom>
          <a:noFill/>
          <a:ln w="12700">
            <a:noFill/>
          </a:ln>
        </p:spPr>
        <p:txBody>
          <a:bodyPr wrap="square">
            <a:noAutofit/>
          </a:bodyPr>
          <a:lstStyle/>
          <a:p>
            <a:r>
              <a:rPr lang="zh-CN" altLang="en-US" sz="3600" b="1">
                <a:latin typeface="Times New Roman" panose="02020603050405020304" pitchFamily="18" charset="0"/>
              </a:rPr>
              <a:t>（</a:t>
            </a:r>
            <a:r>
              <a:rPr lang="en-US" altLang="zh-CN" sz="3600" b="1">
                <a:latin typeface="Times New Roman" panose="02020603050405020304" pitchFamily="18" charset="0"/>
              </a:rPr>
              <a:t>3</a:t>
            </a:r>
            <a:r>
              <a:rPr lang="zh-CN" altLang="en-US" sz="3600" b="1">
                <a:latin typeface="Times New Roman" panose="02020603050405020304" pitchFamily="18" charset="0"/>
              </a:rPr>
              <a:t>）领域面积和行为往往随</a:t>
            </a:r>
            <a:r>
              <a:rPr lang="zh-CN" altLang="en-US" sz="3600" b="1">
                <a:solidFill>
                  <a:srgbClr val="FF0000"/>
                </a:solidFill>
                <a:latin typeface="Times New Roman" panose="02020603050405020304" pitchFamily="18" charset="0"/>
              </a:rPr>
              <a:t>生活史</a:t>
            </a:r>
            <a:r>
              <a:rPr lang="zh-CN" altLang="en-US" sz="3600" b="1">
                <a:latin typeface="Times New Roman" panose="02020603050405020304" pitchFamily="18" charset="0"/>
              </a:rPr>
              <a:t>尤其是</a:t>
            </a:r>
            <a:r>
              <a:rPr lang="zh-CN" altLang="en-US" sz="3600" b="1">
                <a:solidFill>
                  <a:srgbClr val="FF0000"/>
                </a:solidFill>
                <a:latin typeface="Times New Roman" panose="02020603050405020304" pitchFamily="18" charset="0"/>
              </a:rPr>
              <a:t>繁殖节</a:t>
            </a:r>
          </a:p>
          <a:p>
            <a:r>
              <a:rPr lang="zh-CN" altLang="en-US" sz="3600" b="1">
                <a:solidFill>
                  <a:srgbClr val="FF0000"/>
                </a:solidFill>
                <a:latin typeface="Times New Roman" panose="02020603050405020304" pitchFamily="18" charset="0"/>
              </a:rPr>
              <a:t> </a:t>
            </a:r>
            <a:r>
              <a:rPr lang="en-US" altLang="zh-CN" sz="3600" b="1">
                <a:solidFill>
                  <a:srgbClr val="FF0000"/>
                </a:solidFill>
                <a:latin typeface="Times New Roman" panose="02020603050405020304" pitchFamily="18" charset="0"/>
              </a:rPr>
              <a:t>        </a:t>
            </a:r>
            <a:r>
              <a:rPr lang="zh-CN" altLang="en-US" sz="3600" b="1">
                <a:solidFill>
                  <a:srgbClr val="FF0000"/>
                </a:solidFill>
                <a:latin typeface="Times New Roman" panose="02020603050405020304" pitchFamily="18" charset="0"/>
              </a:rPr>
              <a:t>律</a:t>
            </a:r>
            <a:r>
              <a:rPr lang="zh-CN" altLang="en-US" sz="3600" b="1">
                <a:latin typeface="Times New Roman" panose="02020603050405020304" pitchFamily="18" charset="0"/>
              </a:rPr>
              <a:t>而变化。例如鸟类一般在营巢期领域行为</a:t>
            </a:r>
          </a:p>
          <a:p>
            <a:r>
              <a:rPr lang="zh-CN" altLang="en-US" sz="3600" b="1">
                <a:latin typeface="Times New Roman" panose="02020603050405020304" pitchFamily="18" charset="0"/>
              </a:rPr>
              <a:t> </a:t>
            </a:r>
            <a:r>
              <a:rPr lang="en-US" altLang="zh-CN" sz="3600" b="1">
                <a:latin typeface="Times New Roman" panose="02020603050405020304" pitchFamily="18" charset="0"/>
              </a:rPr>
              <a:t>       </a:t>
            </a:r>
            <a:r>
              <a:rPr lang="zh-CN" altLang="en-US" sz="3600" b="1">
                <a:latin typeface="Times New Roman" panose="02020603050405020304" pitchFamily="18" charset="0"/>
              </a:rPr>
              <a:t>表现最强烈，面积也大。</a:t>
            </a:r>
          </a:p>
          <a:p>
            <a:pPr>
              <a:spcBef>
                <a:spcPct val="50000"/>
              </a:spcBef>
            </a:pPr>
            <a:endParaRPr lang="en-US" altLang="zh-CN" sz="3600">
              <a:latin typeface="Times New Roman" panose="02020603050405020304" pitchFamily="18" charset="0"/>
            </a:endParaRPr>
          </a:p>
        </p:txBody>
      </p:sp>
      <p:sp>
        <p:nvSpPr>
          <p:cNvPr id="18437" name="Text Box 5"/>
          <p:cNvSpPr txBox="1"/>
          <p:nvPr/>
        </p:nvSpPr>
        <p:spPr>
          <a:xfrm>
            <a:off x="827405" y="1235075"/>
            <a:ext cx="9643110" cy="645160"/>
          </a:xfrm>
          <a:prstGeom prst="rect">
            <a:avLst/>
          </a:prstGeom>
          <a:noFill/>
          <a:ln w="12700">
            <a:noFill/>
          </a:ln>
        </p:spPr>
        <p:txBody>
          <a:bodyPr wrap="square">
            <a:spAutoFit/>
          </a:bodyPr>
          <a:lstStyle/>
          <a:p>
            <a:pPr>
              <a:spcBef>
                <a:spcPct val="50000"/>
              </a:spcBef>
            </a:pPr>
            <a:r>
              <a:rPr lang="zh-CN" altLang="en-US" sz="3600" b="1">
                <a:latin typeface="Times New Roman" panose="02020603050405020304" pitchFamily="18" charset="0"/>
              </a:rPr>
              <a:t>（</a:t>
            </a:r>
            <a:r>
              <a:rPr lang="en-US" altLang="zh-CN" sz="3600" b="1">
                <a:latin typeface="Times New Roman" panose="02020603050405020304" pitchFamily="18" charset="0"/>
              </a:rPr>
              <a:t>1</a:t>
            </a:r>
            <a:r>
              <a:rPr lang="zh-CN" altLang="en-US" sz="3600" b="1">
                <a:latin typeface="Times New Roman" panose="02020603050405020304" pitchFamily="18" charset="0"/>
              </a:rPr>
              <a:t>）领域面积随其占有者的</a:t>
            </a:r>
            <a:r>
              <a:rPr lang="zh-CN" altLang="en-US" sz="3600" b="1">
                <a:solidFill>
                  <a:srgbClr val="FF0000"/>
                </a:solidFill>
                <a:latin typeface="Times New Roman" panose="02020603050405020304" pitchFamily="18" charset="0"/>
              </a:rPr>
              <a:t>体重</a:t>
            </a:r>
            <a:r>
              <a:rPr lang="zh-CN" altLang="en-US" sz="3600" b="1">
                <a:latin typeface="Times New Roman" panose="02020603050405020304" pitchFamily="18" charset="0"/>
              </a:rPr>
              <a:t>而扩大；</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图6-8 副本"/>
          <p:cNvPicPr>
            <a:picLocks noChangeAspect="1"/>
          </p:cNvPicPr>
          <p:nvPr/>
        </p:nvPicPr>
        <p:blipFill>
          <a:blip r:embed="rId2"/>
          <a:stretch>
            <a:fillRect/>
          </a:stretch>
        </p:blipFill>
        <p:spPr>
          <a:xfrm>
            <a:off x="1828800" y="457200"/>
            <a:ext cx="4892675" cy="5943600"/>
          </a:xfrm>
          <a:prstGeom prst="rect">
            <a:avLst/>
          </a:prstGeom>
          <a:noFill/>
          <a:ln w="9525">
            <a:noFill/>
          </a:ln>
        </p:spPr>
      </p:pic>
      <p:sp>
        <p:nvSpPr>
          <p:cNvPr id="19459" name="Text Box 3"/>
          <p:cNvSpPr txBox="1"/>
          <p:nvPr/>
        </p:nvSpPr>
        <p:spPr>
          <a:xfrm>
            <a:off x="7162800" y="1981200"/>
            <a:ext cx="3200400" cy="953135"/>
          </a:xfrm>
          <a:prstGeom prst="rect">
            <a:avLst/>
          </a:prstGeom>
          <a:noFill/>
          <a:ln w="12700">
            <a:noFill/>
          </a:ln>
        </p:spPr>
        <p:txBody>
          <a:bodyPr>
            <a:spAutoFit/>
          </a:bodyPr>
          <a:lstStyle/>
          <a:p>
            <a:pPr>
              <a:spcBef>
                <a:spcPct val="50000"/>
              </a:spcBef>
            </a:pPr>
            <a:r>
              <a:rPr lang="zh-CN" altLang="en-US" sz="2800" b="1">
                <a:latin typeface="Times New Roman" panose="02020603050405020304" pitchFamily="18" charset="0"/>
              </a:rPr>
              <a:t>鸟类领域面积与体重、食性的关系 </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p:nvPr/>
        </p:nvSpPr>
        <p:spPr>
          <a:xfrm>
            <a:off x="1080770" y="328295"/>
            <a:ext cx="10215880" cy="3692525"/>
          </a:xfrm>
          <a:prstGeom prst="rect">
            <a:avLst/>
          </a:prstGeom>
          <a:noFill/>
          <a:ln w="12700">
            <a:noFill/>
          </a:ln>
        </p:spPr>
        <p:txBody>
          <a:bodyPr wrap="square">
            <a:spAutoFit/>
          </a:bodyPr>
          <a:lstStyle/>
          <a:p>
            <a:pPr algn="just">
              <a:spcBef>
                <a:spcPct val="50000"/>
              </a:spcBef>
            </a:pPr>
            <a:r>
              <a:rPr lang="en-US" altLang="zh-CN" sz="3600" b="1">
                <a:solidFill>
                  <a:srgbClr val="000000"/>
                </a:solidFill>
                <a:latin typeface="Times New Roman" panose="02020603050405020304" pitchFamily="18" charset="0"/>
              </a:rPr>
              <a:t>2 </a:t>
            </a:r>
            <a:r>
              <a:rPr lang="zh-CN" altLang="en-US" sz="3600" b="1">
                <a:solidFill>
                  <a:srgbClr val="000000"/>
                </a:solidFill>
                <a:latin typeface="Times New Roman" panose="02020603050405020304" pitchFamily="18" charset="0"/>
              </a:rPr>
              <a:t>社会等级（</a:t>
            </a:r>
            <a:r>
              <a:rPr lang="en-US" altLang="zh-CN" sz="3600" b="1">
                <a:solidFill>
                  <a:srgbClr val="000000"/>
                </a:solidFill>
                <a:latin typeface="Times New Roman" panose="02020603050405020304" pitchFamily="18" charset="0"/>
              </a:rPr>
              <a:t>social hierarchy</a:t>
            </a:r>
            <a:r>
              <a:rPr lang="zh-CN" altLang="en-US" sz="3600" b="1">
                <a:solidFill>
                  <a:srgbClr val="000000"/>
                </a:solidFill>
                <a:latin typeface="Times New Roman" panose="02020603050405020304" pitchFamily="18" charset="0"/>
              </a:rPr>
              <a:t>）：指动物种群中的各个动物的地位具有一定的排列顺序的等级现象。是通过</a:t>
            </a:r>
            <a:r>
              <a:rPr lang="zh-CN" altLang="en-US" sz="3600" b="1">
                <a:solidFill>
                  <a:srgbClr val="FF0000"/>
                </a:solidFill>
                <a:latin typeface="Times New Roman" panose="02020603050405020304" pitchFamily="18" charset="0"/>
              </a:rPr>
              <a:t>动物格斗</a:t>
            </a:r>
            <a:r>
              <a:rPr lang="zh-CN" altLang="en-US" sz="3600" b="1">
                <a:solidFill>
                  <a:srgbClr val="000000"/>
                </a:solidFill>
                <a:latin typeface="Times New Roman" panose="02020603050405020304" pitchFamily="18" charset="0"/>
              </a:rPr>
              <a:t>而建立起来的支配</a:t>
            </a:r>
            <a:r>
              <a:rPr lang="en-US" altLang="zh-CN" sz="3600" b="1">
                <a:solidFill>
                  <a:srgbClr val="000000"/>
                </a:solidFill>
                <a:latin typeface="Times New Roman" panose="02020603050405020304" pitchFamily="18" charset="0"/>
              </a:rPr>
              <a:t>-</a:t>
            </a:r>
            <a:r>
              <a:rPr lang="zh-CN" altLang="en-US" sz="3600" b="1">
                <a:solidFill>
                  <a:srgbClr val="000000"/>
                </a:solidFill>
                <a:latin typeface="Times New Roman" panose="02020603050405020304" pitchFamily="18" charset="0"/>
              </a:rPr>
              <a:t>从属关系。可减少不必要的能耗，保持稳定，强者优先生产后代，有利于种族的保存和延续。</a:t>
            </a:r>
            <a:endParaRPr lang="zh-CN" altLang="en-US" sz="3600" b="1">
              <a:latin typeface="Times New Roman" panose="02020603050405020304" pitchFamily="18" charset="0"/>
            </a:endParaRPr>
          </a:p>
          <a:p>
            <a:pPr>
              <a:spcBef>
                <a:spcPct val="50000"/>
              </a:spcBef>
            </a:pPr>
            <a:endParaRPr lang="en-US" altLang="zh-CN" sz="3600">
              <a:latin typeface="Times New Roman" panose="02020603050405020304" pitchFamily="18" charset="0"/>
            </a:endParaRPr>
          </a:p>
        </p:txBody>
      </p:sp>
      <p:sp>
        <p:nvSpPr>
          <p:cNvPr id="20483" name="Text Box 3"/>
          <p:cNvSpPr txBox="1"/>
          <p:nvPr/>
        </p:nvSpPr>
        <p:spPr>
          <a:xfrm>
            <a:off x="2209800" y="3581400"/>
            <a:ext cx="7772400" cy="368300"/>
          </a:xfrm>
          <a:prstGeom prst="rect">
            <a:avLst/>
          </a:prstGeom>
          <a:noFill/>
          <a:ln w="12700">
            <a:noFill/>
          </a:ln>
        </p:spPr>
        <p:txBody>
          <a:bodyPr>
            <a:spAutoFit/>
          </a:bodyPr>
          <a:lstStyle/>
          <a:p>
            <a:pPr>
              <a:spcBef>
                <a:spcPct val="50000"/>
              </a:spcBef>
            </a:pPr>
            <a:endParaRPr lang="zh-CN" altLang="zh-CN">
              <a:latin typeface="Times New Roman" panose="02020603050405020304" pitchFamily="18" charset="0"/>
            </a:endParaRPr>
          </a:p>
        </p:txBody>
      </p:sp>
      <p:sp>
        <p:nvSpPr>
          <p:cNvPr id="20484" name="Text Box 4"/>
          <p:cNvSpPr txBox="1"/>
          <p:nvPr/>
        </p:nvSpPr>
        <p:spPr>
          <a:xfrm>
            <a:off x="2286000" y="5181600"/>
            <a:ext cx="7696200" cy="368300"/>
          </a:xfrm>
          <a:prstGeom prst="rect">
            <a:avLst/>
          </a:prstGeom>
          <a:noFill/>
          <a:ln w="12700">
            <a:noFill/>
          </a:ln>
        </p:spPr>
        <p:txBody>
          <a:bodyPr>
            <a:spAutoFit/>
          </a:bodyPr>
          <a:lstStyle/>
          <a:p>
            <a:pPr>
              <a:spcBef>
                <a:spcPct val="50000"/>
              </a:spcBef>
            </a:pPr>
            <a:endParaRPr lang="zh-CN" altLang="zh-CN" b="1">
              <a:latin typeface="Times New Roman" panose="02020603050405020304" pitchFamily="18" charset="0"/>
            </a:endParaRPr>
          </a:p>
        </p:txBody>
      </p:sp>
      <p:pic>
        <p:nvPicPr>
          <p:cNvPr id="20485" name="Picture 5" descr="社会等级1"/>
          <p:cNvPicPr>
            <a:picLocks noChangeAspect="1"/>
          </p:cNvPicPr>
          <p:nvPr/>
        </p:nvPicPr>
        <p:blipFill>
          <a:blip r:embed="rId2"/>
          <a:stretch>
            <a:fillRect/>
          </a:stretch>
        </p:blipFill>
        <p:spPr>
          <a:xfrm>
            <a:off x="1981200" y="3286125"/>
            <a:ext cx="3657600" cy="2560638"/>
          </a:xfrm>
          <a:prstGeom prst="rect">
            <a:avLst/>
          </a:prstGeom>
          <a:noFill/>
          <a:ln w="9525">
            <a:noFill/>
          </a:ln>
        </p:spPr>
      </p:pic>
      <p:pic>
        <p:nvPicPr>
          <p:cNvPr id="20486" name="Picture 6" descr="猴王"/>
          <p:cNvPicPr>
            <a:picLocks noChangeAspect="1"/>
          </p:cNvPicPr>
          <p:nvPr/>
        </p:nvPicPr>
        <p:blipFill>
          <a:blip r:embed="rId3"/>
          <a:stretch>
            <a:fillRect/>
          </a:stretch>
        </p:blipFill>
        <p:spPr>
          <a:xfrm>
            <a:off x="6096000" y="3375025"/>
            <a:ext cx="3962400" cy="2646363"/>
          </a:xfrm>
          <a:prstGeom prst="rect">
            <a:avLst/>
          </a:prstGeom>
          <a:noFill/>
          <a:ln w="9525">
            <a:noFill/>
          </a:ln>
        </p:spPr>
      </p:pic>
      <p:sp>
        <p:nvSpPr>
          <p:cNvPr id="20487" name="Text Box 7"/>
          <p:cNvSpPr txBox="1"/>
          <p:nvPr/>
        </p:nvSpPr>
        <p:spPr>
          <a:xfrm>
            <a:off x="4224338" y="6021388"/>
            <a:ext cx="3635375" cy="306705"/>
          </a:xfrm>
          <a:prstGeom prst="rect">
            <a:avLst/>
          </a:prstGeom>
          <a:noFill/>
          <a:ln w="12700">
            <a:noFill/>
          </a:ln>
        </p:spPr>
        <p:txBody>
          <a:bodyPr>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http://www.nipic.com</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p:nvPr/>
        </p:nvSpPr>
        <p:spPr>
          <a:xfrm>
            <a:off x="2135188" y="476250"/>
            <a:ext cx="7273925" cy="368300"/>
          </a:xfrm>
          <a:prstGeom prst="rect">
            <a:avLst/>
          </a:prstGeom>
          <a:noFill/>
          <a:ln w="12700">
            <a:noFill/>
          </a:ln>
        </p:spPr>
        <p:txBody>
          <a:bodyPr>
            <a:spAutoFit/>
          </a:bodyPr>
          <a:lstStyle/>
          <a:p>
            <a:pPr>
              <a:spcBef>
                <a:spcPct val="50000"/>
              </a:spcBef>
            </a:pPr>
            <a:endParaRPr lang="zh-CN" altLang="zh-CN">
              <a:latin typeface="Times New Roman" panose="02020603050405020304" pitchFamily="18" charset="0"/>
            </a:endParaRPr>
          </a:p>
        </p:txBody>
      </p:sp>
      <p:sp>
        <p:nvSpPr>
          <p:cNvPr id="21507" name="Text Box 3"/>
          <p:cNvSpPr txBox="1"/>
          <p:nvPr/>
        </p:nvSpPr>
        <p:spPr>
          <a:xfrm>
            <a:off x="948055" y="333375"/>
            <a:ext cx="10095230" cy="1322070"/>
          </a:xfrm>
          <a:prstGeom prst="rect">
            <a:avLst/>
          </a:prstGeom>
          <a:noFill/>
          <a:ln w="12700">
            <a:noFill/>
          </a:ln>
        </p:spPr>
        <p:txBody>
          <a:bodyPr wrap="square">
            <a:spAutoFit/>
          </a:bodyPr>
          <a:lstStyle/>
          <a:p>
            <a:pPr>
              <a:spcBef>
                <a:spcPct val="50000"/>
              </a:spcBef>
            </a:pPr>
            <a:r>
              <a:rPr lang="en-US" altLang="zh-CN" sz="2800" b="1">
                <a:latin typeface="Times New Roman" panose="02020603050405020304" pitchFamily="18" charset="0"/>
              </a:rPr>
              <a:t> </a:t>
            </a:r>
            <a:r>
              <a:rPr lang="en-US" altLang="zh-CN" sz="3200" b="1">
                <a:latin typeface="Times New Roman" panose="02020603050405020304" pitchFamily="18" charset="0"/>
              </a:rPr>
              <a:t>3  </a:t>
            </a:r>
            <a:r>
              <a:rPr lang="zh-CN" altLang="en-US" sz="3200" b="1">
                <a:latin typeface="Times New Roman" panose="02020603050405020304" pitchFamily="18" charset="0"/>
              </a:rPr>
              <a:t>集群（</a:t>
            </a:r>
            <a:r>
              <a:rPr lang="en-US" altLang="zh-CN" sz="3200" b="1">
                <a:latin typeface="Times New Roman" panose="02020603050405020304" pitchFamily="18" charset="0"/>
              </a:rPr>
              <a:t>colonial</a:t>
            </a:r>
            <a:r>
              <a:rPr lang="zh-CN" altLang="en-US" sz="3200" b="1">
                <a:latin typeface="Times New Roman" panose="02020603050405020304" pitchFamily="18" charset="0"/>
              </a:rPr>
              <a:t>）生活</a:t>
            </a:r>
          </a:p>
          <a:p>
            <a:pPr>
              <a:spcBef>
                <a:spcPct val="50000"/>
              </a:spcBef>
            </a:pPr>
            <a:r>
              <a:rPr lang="zh-CN" altLang="en-US" sz="3200" b="1">
                <a:latin typeface="Times New Roman" panose="02020603050405020304" pitchFamily="18" charset="0"/>
              </a:rPr>
              <a:t>动物种群对空间资源的利用方式为集群共同利用领域 。</a:t>
            </a:r>
          </a:p>
        </p:txBody>
      </p:sp>
      <p:pic>
        <p:nvPicPr>
          <p:cNvPr id="21508" name="Picture 4" descr="企鹅"/>
          <p:cNvPicPr>
            <a:picLocks noChangeAspect="1"/>
          </p:cNvPicPr>
          <p:nvPr/>
        </p:nvPicPr>
        <p:blipFill>
          <a:blip r:embed="rId2"/>
          <a:stretch>
            <a:fillRect/>
          </a:stretch>
        </p:blipFill>
        <p:spPr>
          <a:xfrm>
            <a:off x="8576310" y="1655445"/>
            <a:ext cx="2561590" cy="1920875"/>
          </a:xfrm>
          <a:prstGeom prst="rect">
            <a:avLst/>
          </a:prstGeom>
          <a:noFill/>
          <a:ln w="9525">
            <a:noFill/>
          </a:ln>
        </p:spPr>
      </p:pic>
      <p:sp>
        <p:nvSpPr>
          <p:cNvPr id="21509" name="Text Box 5"/>
          <p:cNvSpPr txBox="1"/>
          <p:nvPr/>
        </p:nvSpPr>
        <p:spPr>
          <a:xfrm>
            <a:off x="948055" y="1655445"/>
            <a:ext cx="6010910" cy="1568450"/>
          </a:xfrm>
          <a:prstGeom prst="rect">
            <a:avLst/>
          </a:prstGeom>
          <a:noFill/>
          <a:ln w="12700">
            <a:noFill/>
          </a:ln>
        </p:spPr>
        <p:txBody>
          <a:bodyPr wrap="square">
            <a:spAutoFit/>
          </a:bodyPr>
          <a:lstStyle/>
          <a:p>
            <a:pPr>
              <a:spcBef>
                <a:spcPct val="50000"/>
              </a:spcBef>
            </a:pPr>
            <a:r>
              <a:rPr lang="zh-CN" altLang="en-US" sz="3200" b="1">
                <a:latin typeface="Times New Roman" panose="02020603050405020304" pitchFamily="18" charset="0"/>
              </a:rPr>
              <a:t>集群生活的不利因素：易招引天敌注意，加剧个体间的资源竞争，易于流行传染病。 </a:t>
            </a:r>
          </a:p>
        </p:txBody>
      </p:sp>
      <p:sp>
        <p:nvSpPr>
          <p:cNvPr id="21510" name="Text Box 6"/>
          <p:cNvSpPr txBox="1"/>
          <p:nvPr/>
        </p:nvSpPr>
        <p:spPr>
          <a:xfrm>
            <a:off x="794385" y="4034790"/>
            <a:ext cx="10576560" cy="1198880"/>
          </a:xfrm>
          <a:prstGeom prst="rect">
            <a:avLst/>
          </a:prstGeom>
          <a:noFill/>
          <a:ln w="12700">
            <a:noFill/>
          </a:ln>
        </p:spPr>
        <p:txBody>
          <a:bodyPr wrap="square">
            <a:spAutoFit/>
          </a:bodyPr>
          <a:lstStyle/>
          <a:p>
            <a:pPr>
              <a:spcBef>
                <a:spcPct val="50000"/>
              </a:spcBef>
            </a:pPr>
            <a:r>
              <a:rPr lang="zh-CN" altLang="en-US" sz="3600" b="1">
                <a:latin typeface="Times New Roman" panose="02020603050405020304" pitchFamily="18" charset="0"/>
              </a:rPr>
              <a:t>有利因素：利于改变小气候条件 ；利于共同防御天敌 ；利于动物繁殖和抚育幼体 ；利于迁移或迁徙。</a:t>
            </a:r>
            <a:r>
              <a:rPr lang="zh-CN" altLang="en-US" sz="3600">
                <a:latin typeface="Times New Roman" panose="02020603050405020304" pitchFamily="18" charset="0"/>
              </a:rPr>
              <a:t> </a:t>
            </a:r>
          </a:p>
        </p:txBody>
      </p:sp>
      <p:sp>
        <p:nvSpPr>
          <p:cNvPr id="21511" name="Text Box 8"/>
          <p:cNvSpPr txBox="1"/>
          <p:nvPr/>
        </p:nvSpPr>
        <p:spPr>
          <a:xfrm>
            <a:off x="9004935" y="3576320"/>
            <a:ext cx="2132965" cy="306705"/>
          </a:xfrm>
          <a:prstGeom prst="rect">
            <a:avLst/>
          </a:prstGeom>
          <a:noFill/>
          <a:ln w="12700">
            <a:noFill/>
          </a:ln>
        </p:spPr>
        <p:txBody>
          <a:bodyPr wrap="square">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http://www.ce.cn</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阿伦氏规律"/>
          <p:cNvPicPr>
            <a:picLocks noChangeAspect="1"/>
          </p:cNvPicPr>
          <p:nvPr/>
        </p:nvPicPr>
        <p:blipFill>
          <a:blip r:embed="rId2"/>
          <a:srcRect l="6206" t="10392" r="2406" b="5578"/>
          <a:stretch>
            <a:fillRect/>
          </a:stretch>
        </p:blipFill>
        <p:spPr>
          <a:xfrm>
            <a:off x="2983865" y="514985"/>
            <a:ext cx="5882005" cy="2776220"/>
          </a:xfrm>
          <a:prstGeom prst="rect">
            <a:avLst/>
          </a:prstGeom>
          <a:noFill/>
          <a:ln w="9525">
            <a:noFill/>
          </a:ln>
        </p:spPr>
      </p:pic>
      <p:sp>
        <p:nvSpPr>
          <p:cNvPr id="22531" name="Rectangle 3"/>
          <p:cNvSpPr/>
          <p:nvPr/>
        </p:nvSpPr>
        <p:spPr>
          <a:xfrm>
            <a:off x="929640" y="3429635"/>
            <a:ext cx="9990455" cy="2333625"/>
          </a:xfrm>
          <a:prstGeom prst="rect">
            <a:avLst/>
          </a:prstGeom>
          <a:noFill/>
          <a:ln w="12700">
            <a:noFill/>
          </a:ln>
        </p:spPr>
        <p:txBody>
          <a:bodyPr>
            <a:noAutofit/>
          </a:bodyPr>
          <a:lstStyle/>
          <a:p>
            <a:pPr>
              <a:spcBef>
                <a:spcPct val="50000"/>
              </a:spcBef>
            </a:pPr>
            <a:r>
              <a:rPr lang="en-US" altLang="zh-CN" sz="3600" b="1">
                <a:latin typeface="Times New Roman" panose="02020603050405020304" pitchFamily="18" charset="0"/>
              </a:rPr>
              <a:t>         </a:t>
            </a:r>
            <a:r>
              <a:rPr lang="zh-CN" altLang="en-US" sz="3600" b="1">
                <a:latin typeface="Times New Roman" panose="02020603050405020304" pitchFamily="18" charset="0"/>
              </a:rPr>
              <a:t>阿利氏规律（</a:t>
            </a:r>
            <a:r>
              <a:rPr lang="en-US" altLang="zh-CN" sz="3600" b="1">
                <a:latin typeface="Times New Roman" panose="02020603050405020304" pitchFamily="18" charset="0"/>
              </a:rPr>
              <a:t>Allee’s law</a:t>
            </a:r>
            <a:r>
              <a:rPr lang="zh-CN" altLang="en-US" sz="3600" b="1">
                <a:latin typeface="Times New Roman" panose="02020603050405020304" pitchFamily="18" charset="0"/>
              </a:rPr>
              <a:t>）：动物种群</a:t>
            </a:r>
            <a:r>
              <a:rPr lang="zh-CN" altLang="en-US" sz="3600" b="1">
                <a:solidFill>
                  <a:srgbClr val="FF0000"/>
                </a:solidFill>
                <a:latin typeface="Times New Roman" panose="02020603050405020304" pitchFamily="18" charset="0"/>
              </a:rPr>
              <a:t>过密</a:t>
            </a:r>
            <a:r>
              <a:rPr lang="zh-CN" altLang="en-US" sz="3600" b="1">
                <a:latin typeface="Times New Roman" panose="02020603050405020304" pitchFamily="18" charset="0"/>
              </a:rPr>
              <a:t>（</a:t>
            </a:r>
            <a:r>
              <a:rPr lang="en-US" altLang="zh-CN" sz="3600" b="1">
                <a:latin typeface="Times New Roman" panose="02020603050405020304" pitchFamily="18" charset="0"/>
              </a:rPr>
              <a:t>overcrowding</a:t>
            </a:r>
            <a:r>
              <a:rPr lang="zh-CN" altLang="en-US" sz="3600" b="1">
                <a:latin typeface="Times New Roman" panose="02020603050405020304" pitchFamily="18" charset="0"/>
              </a:rPr>
              <a:t>）或</a:t>
            </a:r>
            <a:r>
              <a:rPr lang="zh-CN" altLang="en-US" sz="3600" b="1">
                <a:solidFill>
                  <a:srgbClr val="FF0000"/>
                </a:solidFill>
                <a:latin typeface="Times New Roman" panose="02020603050405020304" pitchFamily="18" charset="0"/>
              </a:rPr>
              <a:t>过疏</a:t>
            </a:r>
            <a:r>
              <a:rPr lang="en-US" altLang="zh-CN" sz="3600" b="1">
                <a:latin typeface="Times New Roman" panose="02020603050405020304" pitchFamily="18" charset="0"/>
              </a:rPr>
              <a:t>(undercrowding) </a:t>
            </a:r>
            <a:r>
              <a:rPr lang="zh-CN" altLang="en-US" sz="3600" b="1">
                <a:latin typeface="Times New Roman" panose="02020603050405020304" pitchFamily="18" charset="0"/>
              </a:rPr>
              <a:t>都可能对种群增长产生抑制性影响，种群有一个</a:t>
            </a:r>
            <a:r>
              <a:rPr lang="zh-CN" altLang="en-US" sz="3600" b="1">
                <a:solidFill>
                  <a:srgbClr val="FF0000"/>
                </a:solidFill>
                <a:latin typeface="Times New Roman" panose="02020603050405020304" pitchFamily="18" charset="0"/>
              </a:rPr>
              <a:t>最适的种群密度</a:t>
            </a:r>
            <a:r>
              <a:rPr lang="zh-CN" altLang="en-US" sz="3600" b="1">
                <a:latin typeface="Times New Roman" panose="02020603050405020304" pitchFamily="18" charset="0"/>
              </a:rPr>
              <a:t>。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p:nvPr/>
        </p:nvSpPr>
        <p:spPr>
          <a:xfrm>
            <a:off x="1022350" y="422910"/>
            <a:ext cx="10369550" cy="2219325"/>
          </a:xfrm>
          <a:prstGeom prst="rect">
            <a:avLst/>
          </a:prstGeom>
          <a:noFill/>
          <a:ln w="12700">
            <a:noFill/>
          </a:ln>
        </p:spPr>
        <p:txBody>
          <a:bodyPr wrap="square">
            <a:noAutofit/>
          </a:bodyPr>
          <a:lstStyle/>
          <a:p>
            <a:pPr algn="just">
              <a:spcBef>
                <a:spcPct val="50000"/>
              </a:spcBef>
            </a:pPr>
            <a:r>
              <a:rPr lang="en-US" altLang="zh-CN" sz="2800" b="1">
                <a:solidFill>
                  <a:srgbClr val="000000"/>
                </a:solidFill>
                <a:latin typeface="Times New Roman" panose="02020603050405020304" pitchFamily="18" charset="0"/>
              </a:rPr>
              <a:t>4 </a:t>
            </a:r>
            <a:r>
              <a:rPr lang="zh-CN" altLang="en-US" sz="2800" b="1">
                <a:solidFill>
                  <a:srgbClr val="000000"/>
                </a:solidFill>
                <a:latin typeface="Times New Roman" panose="02020603050405020304" pitchFamily="18" charset="0"/>
              </a:rPr>
              <a:t>利他行为（</a:t>
            </a:r>
            <a:r>
              <a:rPr lang="en-US" altLang="zh-CN" sz="2800" b="1">
                <a:solidFill>
                  <a:srgbClr val="000000"/>
                </a:solidFill>
                <a:latin typeface="Times New Roman" panose="02020603050405020304" pitchFamily="18" charset="0"/>
              </a:rPr>
              <a:t>altruism</a:t>
            </a:r>
            <a:r>
              <a:rPr lang="zh-CN" altLang="en-US" sz="2800" b="1">
                <a:solidFill>
                  <a:srgbClr val="000000"/>
                </a:solidFill>
                <a:latin typeface="Times New Roman" panose="02020603050405020304" pitchFamily="18" charset="0"/>
              </a:rPr>
              <a:t>）：指生物个体通过牺牲自我而使社群整体或其他个体获得利益的行为。</a:t>
            </a:r>
          </a:p>
          <a:p>
            <a:pPr algn="just">
              <a:spcBef>
                <a:spcPct val="50000"/>
              </a:spcBef>
            </a:pPr>
            <a:r>
              <a:rPr lang="zh-CN" altLang="en-US" sz="2800" b="1">
                <a:solidFill>
                  <a:srgbClr val="000000"/>
                </a:solidFill>
                <a:latin typeface="Times New Roman" panose="02020603050405020304" pitchFamily="18" charset="0"/>
              </a:rPr>
              <a:t>如蜜蜂的合作行为，狒狒等的哨兵行为。利他行为是如何进化而来的问题，是社会生物学的中心。</a:t>
            </a:r>
            <a:endParaRPr lang="zh-CN" altLang="en-US" sz="2800" b="1">
              <a:latin typeface="Times New Roman" panose="02020603050405020304" pitchFamily="18" charset="0"/>
            </a:endParaRPr>
          </a:p>
          <a:p>
            <a:pPr>
              <a:spcBef>
                <a:spcPct val="50000"/>
              </a:spcBef>
            </a:pPr>
            <a:endParaRPr lang="zh-CN" altLang="en-US" sz="2800" b="1">
              <a:latin typeface="Times New Roman" panose="02020603050405020304" pitchFamily="18" charset="0"/>
            </a:endParaRPr>
          </a:p>
          <a:p>
            <a:pPr>
              <a:spcBef>
                <a:spcPct val="50000"/>
              </a:spcBef>
            </a:pPr>
            <a:endParaRPr lang="en-US" altLang="zh-CN">
              <a:latin typeface="Times New Roman" panose="02020603050405020304" pitchFamily="18" charset="0"/>
            </a:endParaRPr>
          </a:p>
        </p:txBody>
      </p:sp>
      <p:pic>
        <p:nvPicPr>
          <p:cNvPr id="23555" name="Picture 4" descr="利他行为"/>
          <p:cNvPicPr>
            <a:picLocks noChangeAspect="1"/>
          </p:cNvPicPr>
          <p:nvPr/>
        </p:nvPicPr>
        <p:blipFill>
          <a:blip r:embed="rId2"/>
          <a:srcRect t="5252" r="20532" b="4866"/>
          <a:stretch>
            <a:fillRect/>
          </a:stretch>
        </p:blipFill>
        <p:spPr>
          <a:xfrm>
            <a:off x="1736090" y="2754630"/>
            <a:ext cx="4359910" cy="3401695"/>
          </a:xfrm>
          <a:prstGeom prst="rect">
            <a:avLst/>
          </a:prstGeom>
          <a:noFill/>
          <a:ln w="9525">
            <a:noFill/>
          </a:ln>
        </p:spPr>
      </p:pic>
      <p:pic>
        <p:nvPicPr>
          <p:cNvPr id="23556" name="Picture 5" descr="犬鼠"/>
          <p:cNvPicPr>
            <a:picLocks noChangeAspect="1"/>
          </p:cNvPicPr>
          <p:nvPr/>
        </p:nvPicPr>
        <p:blipFill>
          <a:blip r:embed="rId3"/>
          <a:stretch>
            <a:fillRect/>
          </a:stretch>
        </p:blipFill>
        <p:spPr>
          <a:xfrm>
            <a:off x="7719060" y="2944495"/>
            <a:ext cx="1760538" cy="2514600"/>
          </a:xfrm>
          <a:prstGeom prst="rect">
            <a:avLst/>
          </a:prstGeom>
          <a:noFill/>
          <a:ln w="9525">
            <a:noFill/>
          </a:ln>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p:nvPr/>
        </p:nvSpPr>
        <p:spPr>
          <a:xfrm>
            <a:off x="734695" y="375285"/>
            <a:ext cx="10721975" cy="1753235"/>
          </a:xfrm>
          <a:prstGeom prst="rect">
            <a:avLst/>
          </a:prstGeom>
          <a:noFill/>
          <a:ln w="12700">
            <a:noFill/>
          </a:ln>
        </p:spPr>
        <p:txBody>
          <a:bodyPr wrap="square">
            <a:spAutoFit/>
          </a:bodyPr>
          <a:lstStyle/>
          <a:p>
            <a:pPr>
              <a:spcBef>
                <a:spcPct val="50000"/>
              </a:spcBef>
            </a:pPr>
            <a:r>
              <a:rPr lang="en-US" altLang="zh-CN" b="1">
                <a:latin typeface="Times New Roman" panose="02020603050405020304" pitchFamily="18" charset="0"/>
              </a:rPr>
              <a:t> </a:t>
            </a:r>
            <a:r>
              <a:rPr lang="en-US" altLang="zh-CN" sz="3600" b="1">
                <a:latin typeface="Times New Roman" panose="02020603050405020304" pitchFamily="18" charset="0"/>
              </a:rPr>
              <a:t>5 </a:t>
            </a:r>
            <a:r>
              <a:rPr lang="en-US" altLang="zh-CN" sz="3600" b="1">
                <a:solidFill>
                  <a:srgbClr val="FF0000"/>
                </a:solidFill>
                <a:latin typeface="Times New Roman" panose="02020603050405020304" pitchFamily="18" charset="0"/>
              </a:rPr>
              <a:t> </a:t>
            </a:r>
            <a:r>
              <a:rPr lang="zh-CN" altLang="en-US" sz="3600" b="1">
                <a:solidFill>
                  <a:srgbClr val="FF0000"/>
                </a:solidFill>
                <a:latin typeface="Times New Roman" panose="02020603050405020304" pitchFamily="18" charset="0"/>
              </a:rPr>
              <a:t>他感作用</a:t>
            </a:r>
            <a:r>
              <a:rPr lang="zh-CN" altLang="en-US" sz="3600">
                <a:latin typeface="Times New Roman" panose="02020603050405020304" pitchFamily="18" charset="0"/>
              </a:rPr>
              <a:t>（</a:t>
            </a:r>
            <a:r>
              <a:rPr lang="en-US" altLang="zh-CN" sz="3600">
                <a:latin typeface="Times New Roman" panose="02020603050405020304" pitchFamily="18" charset="0"/>
              </a:rPr>
              <a:t>allelopathy</a:t>
            </a:r>
            <a:r>
              <a:rPr lang="zh-CN" altLang="en-US" sz="3600">
                <a:latin typeface="Times New Roman" panose="02020603050405020304" pitchFamily="18" charset="0"/>
              </a:rPr>
              <a:t>）：</a:t>
            </a:r>
            <a:r>
              <a:rPr lang="zh-CN" altLang="en-US" sz="3600" b="1">
                <a:latin typeface="Times New Roman" panose="02020603050405020304" pitchFamily="18" charset="0"/>
              </a:rPr>
              <a:t>也称作</a:t>
            </a:r>
            <a:r>
              <a:rPr lang="zh-CN" altLang="en-US" sz="3600" b="1">
                <a:solidFill>
                  <a:srgbClr val="FF0000"/>
                </a:solidFill>
                <a:latin typeface="Times New Roman" panose="02020603050405020304" pitchFamily="18" charset="0"/>
              </a:rPr>
              <a:t>异株克生</a:t>
            </a:r>
            <a:r>
              <a:rPr lang="zh-CN" altLang="en-US" sz="3600" b="1">
                <a:latin typeface="Times New Roman" panose="02020603050405020304" pitchFamily="18" charset="0"/>
              </a:rPr>
              <a:t>，通常指一种植物通过向体外分泌代谢过程中的化学物质，对其它植物产生直接或间接的影响。</a:t>
            </a:r>
          </a:p>
        </p:txBody>
      </p:sp>
      <p:sp>
        <p:nvSpPr>
          <p:cNvPr id="24579" name="Text Box 3"/>
          <p:cNvSpPr txBox="1"/>
          <p:nvPr/>
        </p:nvSpPr>
        <p:spPr>
          <a:xfrm>
            <a:off x="819150" y="2407285"/>
            <a:ext cx="4070985" cy="3776345"/>
          </a:xfrm>
          <a:prstGeom prst="rect">
            <a:avLst/>
          </a:prstGeom>
          <a:noFill/>
          <a:ln w="12700">
            <a:noFill/>
          </a:ln>
        </p:spPr>
        <p:txBody>
          <a:bodyPr>
            <a:noAutofit/>
          </a:bodyPr>
          <a:lstStyle/>
          <a:p>
            <a:pPr>
              <a:spcBef>
                <a:spcPct val="50000"/>
              </a:spcBef>
            </a:pPr>
            <a:r>
              <a:rPr lang="zh-CN" altLang="en-US" sz="2800" b="1">
                <a:latin typeface="Times New Roman" panose="02020603050405020304" pitchFamily="18" charset="0"/>
              </a:rPr>
              <a:t>这种作用是生存斗争的一种特殊形式，</a:t>
            </a:r>
            <a:r>
              <a:rPr lang="zh-CN" altLang="en-US" sz="2800" b="1">
                <a:solidFill>
                  <a:srgbClr val="FF0000"/>
                </a:solidFill>
                <a:latin typeface="Times New Roman" panose="02020603050405020304" pitchFamily="18" charset="0"/>
              </a:rPr>
              <a:t>种间、种内关系都有此现象</a:t>
            </a:r>
            <a:r>
              <a:rPr lang="zh-CN" altLang="en-US" sz="2800" b="1">
                <a:latin typeface="Times New Roman" panose="02020603050405020304" pitchFamily="18" charset="0"/>
              </a:rPr>
              <a:t>（黑胡桃、香蒲）。他感作用对农林业生产管理、植物群落的结构和演替具有重要意义。 （农业上歇地现象）</a:t>
            </a:r>
          </a:p>
          <a:p>
            <a:pPr>
              <a:spcBef>
                <a:spcPct val="50000"/>
              </a:spcBef>
            </a:pPr>
            <a:endParaRPr lang="en-US" altLang="zh-CN" sz="2800" b="1">
              <a:latin typeface="Times New Roman" panose="02020603050405020304" pitchFamily="18" charset="0"/>
            </a:endParaRPr>
          </a:p>
        </p:txBody>
      </p:sp>
      <p:pic>
        <p:nvPicPr>
          <p:cNvPr id="24580" name="Picture 4" descr="allelopathy_001"/>
          <p:cNvPicPr>
            <a:picLocks noChangeAspect="1"/>
          </p:cNvPicPr>
          <p:nvPr/>
        </p:nvPicPr>
        <p:blipFill>
          <a:blip r:embed="rId2"/>
          <a:stretch>
            <a:fillRect/>
          </a:stretch>
        </p:blipFill>
        <p:spPr>
          <a:xfrm>
            <a:off x="5519738" y="2060575"/>
            <a:ext cx="4392612" cy="2468563"/>
          </a:xfrm>
          <a:prstGeom prst="rect">
            <a:avLst/>
          </a:prstGeom>
          <a:noFill/>
          <a:ln w="9525">
            <a:noFill/>
          </a:ln>
        </p:spPr>
      </p:pic>
      <p:pic>
        <p:nvPicPr>
          <p:cNvPr id="24581" name="Picture 5" descr="他感作用"/>
          <p:cNvPicPr>
            <a:picLocks noChangeAspect="1"/>
          </p:cNvPicPr>
          <p:nvPr/>
        </p:nvPicPr>
        <p:blipFill>
          <a:blip r:embed="rId3"/>
          <a:stretch>
            <a:fillRect/>
          </a:stretch>
        </p:blipFill>
        <p:spPr>
          <a:xfrm>
            <a:off x="5664200" y="4652963"/>
            <a:ext cx="2686050" cy="2046287"/>
          </a:xfrm>
          <a:prstGeom prst="rect">
            <a:avLst/>
          </a:prstGeom>
          <a:noFill/>
          <a:ln w="9525">
            <a:noFill/>
          </a:ln>
        </p:spPr>
      </p:pic>
      <p:sp>
        <p:nvSpPr>
          <p:cNvPr id="24582" name="Text Box 6"/>
          <p:cNvSpPr txBox="1"/>
          <p:nvPr/>
        </p:nvSpPr>
        <p:spPr>
          <a:xfrm>
            <a:off x="8364538" y="5661025"/>
            <a:ext cx="2303462" cy="521970"/>
          </a:xfrm>
          <a:prstGeom prst="rect">
            <a:avLst/>
          </a:prstGeom>
          <a:noFill/>
          <a:ln w="12700">
            <a:noFill/>
          </a:ln>
        </p:spPr>
        <p:txBody>
          <a:bodyPr>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Mcfadden and Keeton, 1994</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3"/>
          <p:cNvGraphicFramePr/>
          <p:nvPr/>
        </p:nvGraphicFramePr>
        <p:xfrm>
          <a:off x="3225800" y="990600"/>
          <a:ext cx="5422900" cy="2311400"/>
        </p:xfrm>
        <a:graphic>
          <a:graphicData uri="http://schemas.openxmlformats.org/presentationml/2006/ole">
            <mc:AlternateContent xmlns:mc="http://schemas.openxmlformats.org/markup-compatibility/2006">
              <mc:Choice xmlns:v="urn:schemas-microsoft-com:vml" Requires="v">
                <p:oleObj r:id="rId2" imgW="5506085" imgH="2343785" progId="Word.Document.8">
                  <p:embed/>
                </p:oleObj>
              </mc:Choice>
              <mc:Fallback>
                <p:oleObj r:id="rId2" imgW="5506085" imgH="2343785" progId="Word.Document.8">
                  <p:embed/>
                  <p:pic>
                    <p:nvPicPr>
                      <p:cNvPr id="8194" name="Object 3"/>
                      <p:cNvPicPr/>
                      <p:nvPr/>
                    </p:nvPicPr>
                    <p:blipFill>
                      <a:blip r:embed="rId3"/>
                      <a:stretch>
                        <a:fillRect/>
                      </a:stretch>
                    </p:blipFill>
                    <p:spPr>
                      <a:xfrm>
                        <a:off x="3225800" y="990600"/>
                        <a:ext cx="5422900" cy="2311400"/>
                      </a:xfrm>
                      <a:prstGeom prst="rect">
                        <a:avLst/>
                      </a:prstGeom>
                      <a:noFill/>
                      <a:ln w="38100">
                        <a:noFill/>
                        <a:miter/>
                      </a:ln>
                    </p:spPr>
                  </p:pic>
                </p:oleObj>
              </mc:Fallback>
            </mc:AlternateContent>
          </a:graphicData>
        </a:graphic>
      </p:graphicFrame>
      <p:graphicFrame>
        <p:nvGraphicFramePr>
          <p:cNvPr id="8195" name="Object 4"/>
          <p:cNvGraphicFramePr/>
          <p:nvPr/>
        </p:nvGraphicFramePr>
        <p:xfrm>
          <a:off x="1043940" y="1962785"/>
          <a:ext cx="6267450" cy="2095500"/>
        </p:xfrm>
        <a:graphic>
          <a:graphicData uri="http://schemas.openxmlformats.org/presentationml/2006/ole">
            <mc:AlternateContent xmlns:mc="http://schemas.openxmlformats.org/markup-compatibility/2006">
              <mc:Choice xmlns:v="urn:schemas-microsoft-com:vml" Requires="v">
                <p:oleObj r:id="rId4" imgW="6268085" imgH="2115185" progId="Word.Document.8">
                  <p:embed/>
                </p:oleObj>
              </mc:Choice>
              <mc:Fallback>
                <p:oleObj r:id="rId4" imgW="6268085" imgH="2115185" progId="Word.Document.8">
                  <p:embed/>
                  <p:pic>
                    <p:nvPicPr>
                      <p:cNvPr id="8195" name="Object 4"/>
                      <p:cNvPicPr/>
                      <p:nvPr/>
                    </p:nvPicPr>
                    <p:blipFill>
                      <a:blip r:embed="rId5"/>
                      <a:stretch>
                        <a:fillRect/>
                      </a:stretch>
                    </p:blipFill>
                    <p:spPr>
                      <a:xfrm>
                        <a:off x="1043940" y="1962785"/>
                        <a:ext cx="6267450" cy="2095500"/>
                      </a:xfrm>
                      <a:prstGeom prst="rect">
                        <a:avLst/>
                      </a:prstGeom>
                      <a:noFill/>
                      <a:ln w="38100">
                        <a:noFill/>
                        <a:miter/>
                      </a:ln>
                    </p:spPr>
                  </p:pic>
                </p:oleObj>
              </mc:Fallback>
            </mc:AlternateContent>
          </a:graphicData>
        </a:graphic>
      </p:graphicFrame>
      <p:sp>
        <p:nvSpPr>
          <p:cNvPr id="8196" name="Text Box 5"/>
          <p:cNvSpPr txBox="1"/>
          <p:nvPr/>
        </p:nvSpPr>
        <p:spPr>
          <a:xfrm>
            <a:off x="2166938" y="785813"/>
            <a:ext cx="3386137" cy="1537970"/>
          </a:xfrm>
          <a:prstGeom prst="rect">
            <a:avLst/>
          </a:prstGeom>
          <a:noFill/>
          <a:ln w="12700">
            <a:noFill/>
          </a:ln>
        </p:spPr>
        <p:txBody>
          <a:bodyPr>
            <a:spAutoFit/>
          </a:bodyPr>
          <a:lstStyle/>
          <a:p>
            <a:pPr algn="just">
              <a:spcBef>
                <a:spcPct val="50000"/>
              </a:spcBef>
            </a:pPr>
            <a:r>
              <a:rPr lang="en-US" altLang="zh-CN" sz="4000" b="1">
                <a:solidFill>
                  <a:srgbClr val="000000"/>
                </a:solidFill>
                <a:latin typeface="Times New Roman" panose="02020603050405020304" pitchFamily="18" charset="0"/>
                <a:ea typeface="楷体_GB2312" pitchFamily="49" charset="-122"/>
              </a:rPr>
              <a:t>7.2  </a:t>
            </a:r>
            <a:r>
              <a:rPr lang="zh-CN" altLang="en-US" sz="4000" b="1">
                <a:solidFill>
                  <a:srgbClr val="000000"/>
                </a:solidFill>
                <a:latin typeface="Times New Roman" panose="02020603050405020304" pitchFamily="18" charset="0"/>
                <a:ea typeface="楷体_GB2312" pitchFamily="49" charset="-122"/>
              </a:rPr>
              <a:t>种间关系</a:t>
            </a:r>
            <a:endParaRPr lang="zh-CN" altLang="en-US" sz="4000">
              <a:latin typeface="Times New Roman" panose="02020603050405020304" pitchFamily="18" charset="0"/>
            </a:endParaRPr>
          </a:p>
          <a:p>
            <a:pPr algn="just">
              <a:spcBef>
                <a:spcPct val="50000"/>
              </a:spcBef>
            </a:pPr>
            <a:r>
              <a:rPr lang="zh-CN" altLang="en-US" b="1">
                <a:solidFill>
                  <a:srgbClr val="000000"/>
                </a:solidFill>
                <a:latin typeface="Times New Roman" panose="02020603050405020304" pitchFamily="18" charset="0"/>
                <a:ea typeface="楷体_GB2312" pitchFamily="49" charset="-122"/>
              </a:rPr>
              <a:t> </a:t>
            </a:r>
            <a:endParaRPr lang="zh-CN" altLang="en-US">
              <a:latin typeface="Times New Roman" panose="02020603050405020304" pitchFamily="18" charset="0"/>
            </a:endParaRPr>
          </a:p>
          <a:p>
            <a:pPr>
              <a:spcBef>
                <a:spcPct val="50000"/>
              </a:spcBef>
            </a:pPr>
            <a:endParaRPr lang="en-US" altLang="zh-CN">
              <a:latin typeface="Times New Roman" panose="02020603050405020304" pitchFamily="18" charset="0"/>
            </a:endParaRPr>
          </a:p>
        </p:txBody>
      </p:sp>
      <p:pic>
        <p:nvPicPr>
          <p:cNvPr id="8197" name="Picture 6" descr="竞争"/>
          <p:cNvPicPr>
            <a:picLocks noChangeAspect="1"/>
          </p:cNvPicPr>
          <p:nvPr/>
        </p:nvPicPr>
        <p:blipFill>
          <a:blip r:embed="rId6"/>
          <a:stretch>
            <a:fillRect/>
          </a:stretch>
        </p:blipFill>
        <p:spPr>
          <a:xfrm>
            <a:off x="7934325" y="285433"/>
            <a:ext cx="3429000" cy="2286000"/>
          </a:xfrm>
          <a:prstGeom prst="rect">
            <a:avLst/>
          </a:prstGeom>
          <a:noFill/>
          <a:ln w="9525">
            <a:noFill/>
          </a:ln>
        </p:spPr>
      </p:pic>
      <p:pic>
        <p:nvPicPr>
          <p:cNvPr id="8198" name="Picture 9" descr="predation">
            <a:hlinkClick r:id="rId7"/>
          </p:cNvPr>
          <p:cNvPicPr>
            <a:picLocks noChangeAspect="1"/>
          </p:cNvPicPr>
          <p:nvPr/>
        </p:nvPicPr>
        <p:blipFill>
          <a:blip r:embed="rId8"/>
          <a:stretch>
            <a:fillRect/>
          </a:stretch>
        </p:blipFill>
        <p:spPr>
          <a:xfrm>
            <a:off x="6660515" y="4147185"/>
            <a:ext cx="2743200" cy="1620838"/>
          </a:xfrm>
          <a:prstGeom prst="rect">
            <a:avLst/>
          </a:prstGeom>
          <a:noFill/>
          <a:ln w="9525">
            <a:noFill/>
          </a:ln>
        </p:spPr>
      </p:pic>
      <p:pic>
        <p:nvPicPr>
          <p:cNvPr id="8199" name="Picture 11" descr="3-way-mutualism">
            <a:hlinkClick r:id="rId9"/>
          </p:cNvPr>
          <p:cNvPicPr>
            <a:picLocks noChangeAspect="1"/>
          </p:cNvPicPr>
          <p:nvPr/>
        </p:nvPicPr>
        <p:blipFill>
          <a:blip r:embed="rId10"/>
          <a:stretch>
            <a:fillRect/>
          </a:stretch>
        </p:blipFill>
        <p:spPr>
          <a:xfrm>
            <a:off x="1743710" y="4058285"/>
            <a:ext cx="2286000" cy="1709738"/>
          </a:xfrm>
          <a:prstGeom prst="rect">
            <a:avLst/>
          </a:prstGeom>
          <a:noFill/>
          <a:ln w="9525">
            <a:noFill/>
          </a:ln>
        </p:spPr>
      </p:pic>
      <p:sp>
        <p:nvSpPr>
          <p:cNvPr id="8200" name="Text Box 12"/>
          <p:cNvSpPr txBox="1"/>
          <p:nvPr/>
        </p:nvSpPr>
        <p:spPr>
          <a:xfrm>
            <a:off x="8537575" y="2687955"/>
            <a:ext cx="2951163" cy="306705"/>
          </a:xfrm>
          <a:prstGeom prst="rect">
            <a:avLst/>
          </a:prstGeom>
          <a:noFill/>
          <a:ln w="12700">
            <a:noFill/>
          </a:ln>
        </p:spPr>
        <p:txBody>
          <a:bodyPr>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Mcfadden and Keeton, 1994</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p:cNvGraphicFramePr/>
          <p:nvPr/>
        </p:nvGraphicFramePr>
        <p:xfrm>
          <a:off x="3200400" y="609600"/>
          <a:ext cx="5791200" cy="660400"/>
        </p:xfrm>
        <a:graphic>
          <a:graphicData uri="http://schemas.openxmlformats.org/presentationml/2006/ole">
            <mc:AlternateContent xmlns:mc="http://schemas.openxmlformats.org/markup-compatibility/2006">
              <mc:Choice xmlns:v="urn:schemas-microsoft-com:vml" Requires="v">
                <p:oleObj r:id="rId2" imgW="5791200" imgH="666115" progId="Word.Document.8">
                  <p:embed/>
                </p:oleObj>
              </mc:Choice>
              <mc:Fallback>
                <p:oleObj r:id="rId2" imgW="5791200" imgH="666115" progId="Word.Document.8">
                  <p:embed/>
                  <p:pic>
                    <p:nvPicPr>
                      <p:cNvPr id="9218" name="Object 2"/>
                      <p:cNvPicPr/>
                      <p:nvPr/>
                    </p:nvPicPr>
                    <p:blipFill>
                      <a:blip r:embed="rId3"/>
                      <a:stretch>
                        <a:fillRect/>
                      </a:stretch>
                    </p:blipFill>
                    <p:spPr>
                      <a:xfrm>
                        <a:off x="3200400" y="609600"/>
                        <a:ext cx="5791200" cy="660400"/>
                      </a:xfrm>
                      <a:prstGeom prst="rect">
                        <a:avLst/>
                      </a:prstGeom>
                      <a:noFill/>
                      <a:ln w="38100">
                        <a:noFill/>
                        <a:miter/>
                      </a:ln>
                    </p:spPr>
                  </p:pic>
                </p:oleObj>
              </mc:Fallback>
            </mc:AlternateContent>
          </a:graphicData>
        </a:graphic>
      </p:graphicFrame>
      <p:graphicFrame>
        <p:nvGraphicFramePr>
          <p:cNvPr id="9219" name="Object 5"/>
          <p:cNvGraphicFramePr/>
          <p:nvPr/>
        </p:nvGraphicFramePr>
        <p:xfrm>
          <a:off x="6705600" y="2133600"/>
          <a:ext cx="4724400" cy="2647950"/>
        </p:xfrm>
        <a:graphic>
          <a:graphicData uri="http://schemas.openxmlformats.org/presentationml/2006/ole">
            <mc:AlternateContent xmlns:mc="http://schemas.openxmlformats.org/markup-compatibility/2006">
              <mc:Choice xmlns:v="urn:schemas-microsoft-com:vml" Requires="v">
                <p:oleObj r:id="rId4" imgW="5486400" imgH="2971800" progId="Word.Document.8">
                  <p:embed/>
                </p:oleObj>
              </mc:Choice>
              <mc:Fallback>
                <p:oleObj r:id="rId4" imgW="5486400" imgH="2971800" progId="Word.Document.8">
                  <p:embed/>
                  <p:pic>
                    <p:nvPicPr>
                      <p:cNvPr id="9219" name="Object 5"/>
                      <p:cNvPicPr/>
                      <p:nvPr/>
                    </p:nvPicPr>
                    <p:blipFill>
                      <a:blip r:embed="rId5"/>
                      <a:stretch>
                        <a:fillRect/>
                      </a:stretch>
                    </p:blipFill>
                    <p:spPr>
                      <a:xfrm>
                        <a:off x="6705600" y="2133600"/>
                        <a:ext cx="4724400" cy="2647950"/>
                      </a:xfrm>
                      <a:prstGeom prst="rect">
                        <a:avLst/>
                      </a:prstGeom>
                      <a:noFill/>
                      <a:ln w="38100">
                        <a:noFill/>
                        <a:miter/>
                      </a:ln>
                    </p:spPr>
                  </p:pic>
                </p:oleObj>
              </mc:Fallback>
            </mc:AlternateContent>
          </a:graphicData>
        </a:graphic>
      </p:graphicFrame>
      <p:sp>
        <p:nvSpPr>
          <p:cNvPr id="9220" name="Text Box 8"/>
          <p:cNvSpPr txBox="1"/>
          <p:nvPr/>
        </p:nvSpPr>
        <p:spPr>
          <a:xfrm>
            <a:off x="1981200" y="457200"/>
            <a:ext cx="8001000" cy="645160"/>
          </a:xfrm>
          <a:prstGeom prst="rect">
            <a:avLst/>
          </a:prstGeom>
          <a:noFill/>
          <a:ln w="12700">
            <a:noFill/>
          </a:ln>
        </p:spPr>
        <p:txBody>
          <a:bodyPr>
            <a:spAutoFit/>
          </a:bodyPr>
          <a:lstStyle/>
          <a:p>
            <a:pPr>
              <a:spcBef>
                <a:spcPct val="50000"/>
              </a:spcBef>
            </a:pPr>
            <a:r>
              <a:rPr lang="en-US" altLang="zh-CN" sz="3600">
                <a:solidFill>
                  <a:srgbClr val="000000"/>
                </a:solidFill>
                <a:latin typeface="宋体" panose="02010600030101010101" pitchFamily="2" charset="-122"/>
              </a:rPr>
              <a:t>7.2.1 </a:t>
            </a:r>
            <a:r>
              <a:rPr lang="zh-CN" altLang="en-US" sz="3600">
                <a:solidFill>
                  <a:srgbClr val="000000"/>
                </a:solidFill>
                <a:latin typeface="宋体" panose="02010600030101010101" pitchFamily="2" charset="-122"/>
              </a:rPr>
              <a:t>竞争</a:t>
            </a:r>
            <a:r>
              <a:rPr lang="zh-CN" altLang="en-US" sz="3600">
                <a:latin typeface="Times New Roman" panose="02020603050405020304" pitchFamily="18" charset="0"/>
              </a:rPr>
              <a:t> （</a:t>
            </a:r>
            <a:r>
              <a:rPr lang="en-US" altLang="zh-CN" sz="3600">
                <a:latin typeface="Times New Roman" panose="02020603050405020304" pitchFamily="18" charset="0"/>
              </a:rPr>
              <a:t>Interspecific competition)</a:t>
            </a:r>
          </a:p>
        </p:txBody>
      </p:sp>
      <p:pic>
        <p:nvPicPr>
          <p:cNvPr id="9221" name="Picture 9" descr="竞争"/>
          <p:cNvPicPr>
            <a:picLocks noChangeAspect="1"/>
          </p:cNvPicPr>
          <p:nvPr/>
        </p:nvPicPr>
        <p:blipFill>
          <a:blip r:embed="rId6"/>
          <a:stretch>
            <a:fillRect/>
          </a:stretch>
        </p:blipFill>
        <p:spPr>
          <a:xfrm>
            <a:off x="795973" y="1238250"/>
            <a:ext cx="4811712" cy="5006975"/>
          </a:xfrm>
          <a:prstGeom prst="rect">
            <a:avLst/>
          </a:prstGeom>
          <a:noFill/>
          <a:ln w="9525">
            <a:noFill/>
          </a:ln>
        </p:spPr>
      </p:pic>
      <p:sp>
        <p:nvSpPr>
          <p:cNvPr id="9222" name="Text Box 11"/>
          <p:cNvSpPr txBox="1"/>
          <p:nvPr/>
        </p:nvSpPr>
        <p:spPr>
          <a:xfrm>
            <a:off x="6202680" y="1600200"/>
            <a:ext cx="5043805" cy="4030980"/>
          </a:xfrm>
          <a:prstGeom prst="rect">
            <a:avLst/>
          </a:prstGeom>
          <a:noFill/>
          <a:ln w="12700">
            <a:noFill/>
          </a:ln>
        </p:spPr>
        <p:txBody>
          <a:bodyPr wrap="square">
            <a:spAutoFit/>
          </a:bodyPr>
          <a:lstStyle/>
          <a:p>
            <a:pPr algn="just">
              <a:spcBef>
                <a:spcPct val="50000"/>
              </a:spcBef>
            </a:pPr>
            <a:r>
              <a:rPr lang="zh-CN" altLang="en-US" sz="3200" b="1">
                <a:solidFill>
                  <a:srgbClr val="000000"/>
                </a:solidFill>
                <a:latin typeface="Times New Roman" panose="02020603050405020304" pitchFamily="18" charset="0"/>
              </a:rPr>
              <a:t>大草履虫与双小核草履虫对资源的竞争导致大草履虫灭绝。</a:t>
            </a:r>
            <a:endParaRPr lang="zh-CN" altLang="en-US" sz="3200" b="1">
              <a:latin typeface="Times New Roman" panose="02020603050405020304" pitchFamily="18" charset="0"/>
            </a:endParaRPr>
          </a:p>
          <a:p>
            <a:pPr algn="just">
              <a:spcBef>
                <a:spcPct val="50000"/>
              </a:spcBef>
            </a:pPr>
            <a:r>
              <a:rPr lang="zh-CN" altLang="en-US" sz="3200" b="1">
                <a:solidFill>
                  <a:srgbClr val="000000"/>
                </a:solidFill>
                <a:latin typeface="Times New Roman" panose="02020603050405020304" pitchFamily="18" charset="0"/>
              </a:rPr>
              <a:t>（双小核草履虫与袋状草履虫可达成共存，出现分化）</a:t>
            </a:r>
            <a:endParaRPr lang="zh-CN" altLang="en-US" sz="3200" b="1">
              <a:latin typeface="Times New Roman" panose="02020603050405020304" pitchFamily="18" charset="0"/>
            </a:endParaRPr>
          </a:p>
          <a:p>
            <a:pPr>
              <a:spcBef>
                <a:spcPct val="50000"/>
              </a:spcBef>
            </a:pPr>
            <a:endParaRPr lang="en-US" altLang="zh-CN" sz="3200" b="1">
              <a:latin typeface="Times New Roman" panose="02020603050405020304" pitchFamily="18" charset="0"/>
            </a:endParaRPr>
          </a:p>
        </p:txBody>
      </p:sp>
      <p:sp>
        <p:nvSpPr>
          <p:cNvPr id="9223" name="Text Box 12"/>
          <p:cNvSpPr txBox="1"/>
          <p:nvPr/>
        </p:nvSpPr>
        <p:spPr>
          <a:xfrm>
            <a:off x="4371975" y="2320290"/>
            <a:ext cx="838200" cy="398780"/>
          </a:xfrm>
          <a:prstGeom prst="rect">
            <a:avLst/>
          </a:prstGeom>
          <a:noFill/>
          <a:ln w="12700">
            <a:noFill/>
          </a:ln>
        </p:spPr>
        <p:txBody>
          <a:bodyPr>
            <a:spAutoFit/>
          </a:bodyPr>
          <a:lstStyle/>
          <a:p>
            <a:pPr>
              <a:spcBef>
                <a:spcPct val="50000"/>
              </a:spcBef>
            </a:pPr>
            <a:r>
              <a:rPr lang="zh-CN" altLang="en-US" sz="2000" b="1">
                <a:solidFill>
                  <a:srgbClr val="FF3300"/>
                </a:solidFill>
                <a:latin typeface="Times New Roman" panose="02020603050405020304" pitchFamily="18" charset="0"/>
              </a:rPr>
              <a:t>独养</a:t>
            </a:r>
          </a:p>
        </p:txBody>
      </p:sp>
      <p:sp>
        <p:nvSpPr>
          <p:cNvPr id="9224" name="Text Box 13"/>
          <p:cNvSpPr txBox="1"/>
          <p:nvPr/>
        </p:nvSpPr>
        <p:spPr>
          <a:xfrm>
            <a:off x="4439920" y="4911090"/>
            <a:ext cx="838200" cy="398780"/>
          </a:xfrm>
          <a:prstGeom prst="rect">
            <a:avLst/>
          </a:prstGeom>
          <a:noFill/>
          <a:ln w="12700">
            <a:noFill/>
          </a:ln>
        </p:spPr>
        <p:txBody>
          <a:bodyPr>
            <a:spAutoFit/>
          </a:bodyPr>
          <a:lstStyle/>
          <a:p>
            <a:pPr>
              <a:spcBef>
                <a:spcPct val="50000"/>
              </a:spcBef>
            </a:pPr>
            <a:r>
              <a:rPr lang="zh-CN" altLang="en-US" sz="2000" b="1">
                <a:solidFill>
                  <a:srgbClr val="FF3300"/>
                </a:solidFill>
                <a:latin typeface="Times New Roman" panose="02020603050405020304" pitchFamily="18" charset="0"/>
              </a:rPr>
              <a:t>混养</a:t>
            </a:r>
          </a:p>
        </p:txBody>
      </p:sp>
      <p:sp>
        <p:nvSpPr>
          <p:cNvPr id="9225" name="Text Box 14"/>
          <p:cNvSpPr txBox="1"/>
          <p:nvPr/>
        </p:nvSpPr>
        <p:spPr>
          <a:xfrm>
            <a:off x="2566988" y="6381750"/>
            <a:ext cx="3635375" cy="306705"/>
          </a:xfrm>
          <a:prstGeom prst="rect">
            <a:avLst/>
          </a:prstGeom>
          <a:noFill/>
          <a:ln w="12700">
            <a:noFill/>
          </a:ln>
        </p:spPr>
        <p:txBody>
          <a:bodyPr>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Mcfadden and Keeton, 1994</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p:nvPr/>
        </p:nvSpPr>
        <p:spPr>
          <a:xfrm>
            <a:off x="2743200" y="1371600"/>
            <a:ext cx="6858000" cy="368300"/>
          </a:xfrm>
          <a:prstGeom prst="rect">
            <a:avLst/>
          </a:prstGeom>
          <a:noFill/>
          <a:ln w="12700">
            <a:noFill/>
          </a:ln>
        </p:spPr>
        <p:txBody>
          <a:bodyPr>
            <a:spAutoFit/>
          </a:bodyPr>
          <a:lstStyle/>
          <a:p>
            <a:pPr>
              <a:spcBef>
                <a:spcPct val="50000"/>
              </a:spcBef>
            </a:pPr>
            <a:endParaRPr lang="zh-CN" altLang="zh-CN">
              <a:latin typeface="Times New Roman" panose="02020603050405020304" pitchFamily="18" charset="0"/>
            </a:endParaRPr>
          </a:p>
        </p:txBody>
      </p:sp>
      <p:pic>
        <p:nvPicPr>
          <p:cNvPr id="25603" name="Picture 3" descr="图6-10 副本"/>
          <p:cNvPicPr>
            <a:picLocks noChangeAspect="1"/>
          </p:cNvPicPr>
          <p:nvPr/>
        </p:nvPicPr>
        <p:blipFill>
          <a:blip r:embed="rId2"/>
          <a:stretch>
            <a:fillRect/>
          </a:stretch>
        </p:blipFill>
        <p:spPr>
          <a:xfrm>
            <a:off x="1466215" y="74930"/>
            <a:ext cx="9144000" cy="2555875"/>
          </a:xfrm>
          <a:prstGeom prst="rect">
            <a:avLst/>
          </a:prstGeom>
          <a:noFill/>
          <a:ln w="9525">
            <a:noFill/>
          </a:ln>
        </p:spPr>
      </p:pic>
      <p:sp>
        <p:nvSpPr>
          <p:cNvPr id="25604" name="Text Box 5"/>
          <p:cNvSpPr txBox="1"/>
          <p:nvPr/>
        </p:nvSpPr>
        <p:spPr>
          <a:xfrm>
            <a:off x="951865" y="2778760"/>
            <a:ext cx="10280650" cy="1076325"/>
          </a:xfrm>
          <a:prstGeom prst="rect">
            <a:avLst/>
          </a:prstGeom>
          <a:noFill/>
          <a:ln w="12700">
            <a:noFill/>
          </a:ln>
        </p:spPr>
        <p:txBody>
          <a:bodyPr wrap="square">
            <a:spAutoFit/>
          </a:bodyPr>
          <a:lstStyle/>
          <a:p>
            <a:pPr>
              <a:spcBef>
                <a:spcPct val="50000"/>
              </a:spcBef>
            </a:pPr>
            <a:r>
              <a:rPr lang="en-US" altLang="zh-CN" sz="3200" b="1">
                <a:latin typeface="Times New Roman" panose="02020603050405020304" pitchFamily="18" charset="0"/>
              </a:rPr>
              <a:t>7.2.1.1 Gause</a:t>
            </a:r>
            <a:r>
              <a:rPr lang="zh-CN" altLang="en-US" sz="3200" b="1">
                <a:latin typeface="Times New Roman" panose="02020603050405020304" pitchFamily="18" charset="0"/>
              </a:rPr>
              <a:t>假说：在一个稳定的环境内，两个以上受资源限制，具</a:t>
            </a:r>
            <a:r>
              <a:rPr lang="zh-CN" altLang="en-US" sz="3200" b="1">
                <a:solidFill>
                  <a:srgbClr val="FF0000"/>
                </a:solidFill>
                <a:latin typeface="Times New Roman" panose="02020603050405020304" pitchFamily="18" charset="0"/>
              </a:rPr>
              <a:t>相同资源利用方式</a:t>
            </a:r>
            <a:r>
              <a:rPr lang="zh-CN" altLang="en-US" sz="3200" b="1">
                <a:latin typeface="Times New Roman" panose="02020603050405020304" pitchFamily="18" charset="0"/>
              </a:rPr>
              <a:t>的物种，不能长期共存。</a:t>
            </a:r>
          </a:p>
        </p:txBody>
      </p:sp>
      <p:sp>
        <p:nvSpPr>
          <p:cNvPr id="25605" name="Text Box 6"/>
          <p:cNvSpPr txBox="1"/>
          <p:nvPr/>
        </p:nvSpPr>
        <p:spPr>
          <a:xfrm>
            <a:off x="951865" y="3855085"/>
            <a:ext cx="10372090" cy="1997075"/>
          </a:xfrm>
          <a:prstGeom prst="rect">
            <a:avLst/>
          </a:prstGeom>
          <a:noFill/>
          <a:ln w="12700">
            <a:noFill/>
          </a:ln>
        </p:spPr>
        <p:txBody>
          <a:bodyPr wrap="square">
            <a:noAutofit/>
          </a:bodyPr>
          <a:lstStyle/>
          <a:p>
            <a:pPr algn="just">
              <a:spcBef>
                <a:spcPct val="50000"/>
              </a:spcBef>
            </a:pPr>
            <a:r>
              <a:rPr lang="zh-CN" altLang="en-US" sz="3200" b="1">
                <a:solidFill>
                  <a:srgbClr val="FF0000"/>
                </a:solidFill>
                <a:latin typeface="Times New Roman" panose="02020603050405020304" pitchFamily="18" charset="0"/>
              </a:rPr>
              <a:t>竞争排斥原理</a:t>
            </a:r>
            <a:r>
              <a:rPr lang="zh-CN" altLang="en-US" sz="3200" b="1">
                <a:solidFill>
                  <a:srgbClr val="000000"/>
                </a:solidFill>
                <a:latin typeface="Times New Roman" panose="02020603050405020304" pitchFamily="18" charset="0"/>
              </a:rPr>
              <a:t>（</a:t>
            </a:r>
            <a:r>
              <a:rPr lang="en-US" altLang="zh-CN" sz="3200" b="1">
                <a:solidFill>
                  <a:srgbClr val="000000"/>
                </a:solidFill>
                <a:latin typeface="Times New Roman" panose="02020603050405020304" pitchFamily="18" charset="0"/>
              </a:rPr>
              <a:t>principle of competive exclusion</a:t>
            </a:r>
            <a:r>
              <a:rPr lang="zh-CN" altLang="en-US" sz="3200" b="1">
                <a:solidFill>
                  <a:srgbClr val="000000"/>
                </a:solidFill>
                <a:latin typeface="Times New Roman" panose="02020603050405020304" pitchFamily="18" charset="0"/>
              </a:rPr>
              <a:t>）：</a:t>
            </a:r>
            <a:r>
              <a:rPr lang="zh-CN" altLang="en-US" sz="3200" b="1">
                <a:solidFill>
                  <a:srgbClr val="FF0000"/>
                </a:solidFill>
                <a:latin typeface="Times New Roman" panose="02020603050405020304" pitchFamily="18" charset="0"/>
              </a:rPr>
              <a:t>生态位相同</a:t>
            </a:r>
            <a:r>
              <a:rPr lang="zh-CN" altLang="en-US" sz="3200" b="1">
                <a:solidFill>
                  <a:srgbClr val="000000"/>
                </a:solidFill>
                <a:latin typeface="Times New Roman" panose="02020603050405020304" pitchFamily="18" charset="0"/>
              </a:rPr>
              <a:t>的两个物种不可能在同一地区内共存，如果生活在同一地区内，由于剧烈竞争，它们之间必然出现栖息地、食性、活动时间或其它特征上的生态位分化。</a:t>
            </a:r>
            <a:endParaRPr lang="zh-CN" altLang="en-US" sz="3200">
              <a:latin typeface="Times New Roman" panose="02020603050405020304" pitchFamily="18" charset="0"/>
            </a:endParaRPr>
          </a:p>
          <a:p>
            <a:pPr>
              <a:spcBef>
                <a:spcPct val="50000"/>
              </a:spcBef>
            </a:pPr>
            <a:endParaRPr lang="en-US" altLang="zh-CN" sz="3200">
              <a:latin typeface="Times New Roman" panose="02020603050405020304" pitchFamily="18" charset="0"/>
            </a:endParaRPr>
          </a:p>
        </p:txBody>
      </p:sp>
      <p:sp>
        <p:nvSpPr>
          <p:cNvPr id="25606" name="Text Box 7"/>
          <p:cNvSpPr txBox="1"/>
          <p:nvPr/>
        </p:nvSpPr>
        <p:spPr>
          <a:xfrm>
            <a:off x="5735638" y="260350"/>
            <a:ext cx="1223962" cy="368300"/>
          </a:xfrm>
          <a:prstGeom prst="rect">
            <a:avLst/>
          </a:prstGeom>
          <a:noFill/>
          <a:ln w="12700">
            <a:noFill/>
          </a:ln>
        </p:spPr>
        <p:txBody>
          <a:bodyPr>
            <a:spAutoFit/>
          </a:bodyPr>
          <a:lstStyle/>
          <a:p>
            <a:pPr>
              <a:spcBef>
                <a:spcPct val="50000"/>
              </a:spcBef>
            </a:pPr>
            <a:r>
              <a:rPr lang="zh-CN" altLang="en-US" sz="1800" b="1">
                <a:latin typeface="Times New Roman" panose="02020603050405020304" pitchFamily="18" charset="0"/>
              </a:rPr>
              <a:t>星杆藻</a:t>
            </a:r>
          </a:p>
        </p:txBody>
      </p:sp>
      <p:sp>
        <p:nvSpPr>
          <p:cNvPr id="25607" name="Text Box 8"/>
          <p:cNvSpPr txBox="1"/>
          <p:nvPr/>
        </p:nvSpPr>
        <p:spPr>
          <a:xfrm>
            <a:off x="2927350" y="476250"/>
            <a:ext cx="1223963" cy="368300"/>
          </a:xfrm>
          <a:prstGeom prst="rect">
            <a:avLst/>
          </a:prstGeom>
          <a:noFill/>
          <a:ln w="12700">
            <a:noFill/>
          </a:ln>
        </p:spPr>
        <p:txBody>
          <a:bodyPr>
            <a:spAutoFit/>
          </a:bodyPr>
          <a:lstStyle/>
          <a:p>
            <a:pPr>
              <a:spcBef>
                <a:spcPct val="50000"/>
              </a:spcBef>
            </a:pPr>
            <a:r>
              <a:rPr lang="zh-CN" altLang="en-US" sz="1800" b="1">
                <a:latin typeface="Times New Roman" panose="02020603050405020304" pitchFamily="18" charset="0"/>
              </a:rPr>
              <a:t>针杆藻</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p:nvPr/>
        </p:nvSpPr>
        <p:spPr>
          <a:xfrm>
            <a:off x="817880" y="332105"/>
            <a:ext cx="10892155" cy="2861310"/>
          </a:xfrm>
          <a:prstGeom prst="rect">
            <a:avLst/>
          </a:prstGeom>
          <a:noFill/>
          <a:ln w="12700">
            <a:noFill/>
          </a:ln>
        </p:spPr>
        <p:txBody>
          <a:bodyPr wrap="square">
            <a:spAutoFit/>
          </a:bodyPr>
          <a:lstStyle/>
          <a:p>
            <a:pPr algn="just">
              <a:spcBef>
                <a:spcPct val="50000"/>
              </a:spcBef>
            </a:pPr>
            <a:r>
              <a:rPr lang="en-US" altLang="zh-CN" sz="3600" b="1">
                <a:latin typeface="Times New Roman" panose="02020603050405020304" pitchFamily="18" charset="0"/>
              </a:rPr>
              <a:t>7.2.1.2 </a:t>
            </a:r>
            <a:r>
              <a:rPr lang="zh-CN" altLang="en-US" sz="3600" b="1">
                <a:latin typeface="Times New Roman" panose="02020603050405020304" pitchFamily="18" charset="0"/>
              </a:rPr>
              <a:t>竞争类型及其一般特征</a:t>
            </a:r>
          </a:p>
          <a:p>
            <a:pPr>
              <a:spcBef>
                <a:spcPct val="50000"/>
              </a:spcBef>
            </a:pPr>
            <a:r>
              <a:rPr lang="en-US" altLang="zh-CN" sz="3600" b="1">
                <a:latin typeface="Times New Roman" panose="02020603050405020304" pitchFamily="18" charset="0"/>
              </a:rPr>
              <a:t>1 </a:t>
            </a:r>
            <a:r>
              <a:rPr lang="zh-CN" altLang="en-US" sz="3600" b="1">
                <a:latin typeface="Times New Roman" panose="02020603050405020304" pitchFamily="18" charset="0"/>
              </a:rPr>
              <a:t>竞争类型</a:t>
            </a:r>
          </a:p>
          <a:p>
            <a:pPr>
              <a:spcBef>
                <a:spcPct val="50000"/>
              </a:spcBef>
            </a:pPr>
            <a:r>
              <a:rPr lang="zh-CN" altLang="en-US" sz="3600" b="1">
                <a:latin typeface="Times New Roman" panose="02020603050405020304" pitchFamily="18" charset="0"/>
              </a:rPr>
              <a:t>（</a:t>
            </a:r>
            <a:r>
              <a:rPr lang="en-US" altLang="zh-CN" sz="3600" b="1">
                <a:latin typeface="Times New Roman" panose="02020603050405020304" pitchFamily="18" charset="0"/>
              </a:rPr>
              <a:t>1</a:t>
            </a:r>
            <a:r>
              <a:rPr lang="zh-CN" altLang="en-US" sz="3600" b="1">
                <a:latin typeface="Times New Roman" panose="02020603050405020304" pitchFamily="18" charset="0"/>
              </a:rPr>
              <a:t>）</a:t>
            </a:r>
            <a:r>
              <a:rPr lang="zh-CN" altLang="en-US" sz="3600" b="1">
                <a:solidFill>
                  <a:srgbClr val="FF0000"/>
                </a:solidFill>
                <a:latin typeface="Times New Roman" panose="02020603050405020304" pitchFamily="18" charset="0"/>
              </a:rPr>
              <a:t>资源利用性竞争</a:t>
            </a:r>
            <a:r>
              <a:rPr lang="zh-CN" altLang="en-US" sz="3600" b="1">
                <a:latin typeface="Times New Roman" panose="02020603050405020304" pitchFamily="18" charset="0"/>
              </a:rPr>
              <a:t>    仅通过损耗有限的资源进行竞争，而个体不直接相互作用。（</a:t>
            </a:r>
            <a:r>
              <a:rPr lang="zh-CN" altLang="en-US" sz="3600" b="1">
                <a:solidFill>
                  <a:srgbClr val="FF0000"/>
                </a:solidFill>
                <a:latin typeface="Times New Roman" panose="02020603050405020304" pitchFamily="18" charset="0"/>
              </a:rPr>
              <a:t>前面所举实例</a:t>
            </a:r>
            <a:r>
              <a:rPr lang="zh-CN" altLang="en-US" sz="3600" b="1">
                <a:latin typeface="Times New Roman" panose="02020603050405020304" pitchFamily="18" charset="0"/>
              </a:rPr>
              <a:t>）</a:t>
            </a:r>
          </a:p>
        </p:txBody>
      </p:sp>
      <p:pic>
        <p:nvPicPr>
          <p:cNvPr id="26627" name="Picture 3" descr="资源竞争"/>
          <p:cNvPicPr>
            <a:picLocks noChangeAspect="1"/>
          </p:cNvPicPr>
          <p:nvPr/>
        </p:nvPicPr>
        <p:blipFill>
          <a:blip r:embed="rId2"/>
          <a:stretch>
            <a:fillRect/>
          </a:stretch>
        </p:blipFill>
        <p:spPr>
          <a:xfrm>
            <a:off x="3340735" y="3286760"/>
            <a:ext cx="4086225" cy="2882900"/>
          </a:xfrm>
          <a:prstGeom prst="rect">
            <a:avLst/>
          </a:prstGeom>
          <a:noFill/>
          <a:ln w="9525">
            <a:noFill/>
          </a:ln>
        </p:spPr>
      </p:pic>
      <p:sp>
        <p:nvSpPr>
          <p:cNvPr id="26628" name="Text Box 4"/>
          <p:cNvSpPr txBox="1"/>
          <p:nvPr/>
        </p:nvSpPr>
        <p:spPr>
          <a:xfrm>
            <a:off x="3987800" y="6263005"/>
            <a:ext cx="2792730" cy="306705"/>
          </a:xfrm>
          <a:prstGeom prst="rect">
            <a:avLst/>
          </a:prstGeom>
          <a:noFill/>
          <a:ln w="12700">
            <a:noFill/>
          </a:ln>
        </p:spPr>
        <p:txBody>
          <a:bodyPr wrap="square">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Mcfadden and Keeton, 1994</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026" descr="竞争作用2"/>
          <p:cNvPicPr>
            <a:picLocks noChangeAspect="1"/>
          </p:cNvPicPr>
          <p:nvPr/>
        </p:nvPicPr>
        <p:blipFill>
          <a:blip r:embed="rId2"/>
          <a:srcRect t="1593"/>
          <a:stretch>
            <a:fillRect/>
          </a:stretch>
        </p:blipFill>
        <p:spPr>
          <a:xfrm>
            <a:off x="4477385" y="109220"/>
            <a:ext cx="5038725" cy="6748780"/>
          </a:xfrm>
          <a:prstGeom prst="rect">
            <a:avLst/>
          </a:prstGeom>
          <a:noFill/>
          <a:ln w="9525">
            <a:noFill/>
          </a:ln>
        </p:spPr>
      </p:pic>
      <p:sp>
        <p:nvSpPr>
          <p:cNvPr id="27651" name="Text Box 1027"/>
          <p:cNvSpPr txBox="1"/>
          <p:nvPr/>
        </p:nvSpPr>
        <p:spPr>
          <a:xfrm>
            <a:off x="501015" y="596265"/>
            <a:ext cx="3510280" cy="3007995"/>
          </a:xfrm>
          <a:prstGeom prst="rect">
            <a:avLst/>
          </a:prstGeom>
          <a:noFill/>
          <a:ln w="12700">
            <a:noFill/>
          </a:ln>
        </p:spPr>
        <p:txBody>
          <a:bodyPr wrap="square">
            <a:noAutofit/>
          </a:bodyPr>
          <a:lstStyle/>
          <a:p>
            <a:pPr>
              <a:spcBef>
                <a:spcPct val="50000"/>
              </a:spcBef>
            </a:pPr>
            <a:r>
              <a:rPr lang="zh-CN" altLang="en-US" sz="3200" b="1">
                <a:latin typeface="Times New Roman" panose="02020603050405020304" pitchFamily="18" charset="0"/>
              </a:rPr>
              <a:t>（</a:t>
            </a:r>
            <a:r>
              <a:rPr lang="en-US" altLang="zh-CN" sz="3200" b="1">
                <a:latin typeface="Times New Roman" panose="02020603050405020304" pitchFamily="18" charset="0"/>
              </a:rPr>
              <a:t>2</a:t>
            </a:r>
            <a:r>
              <a:rPr lang="zh-CN" altLang="en-US" sz="3200" b="1">
                <a:latin typeface="Times New Roman" panose="02020603050405020304" pitchFamily="18" charset="0"/>
              </a:rPr>
              <a:t>）</a:t>
            </a:r>
            <a:r>
              <a:rPr lang="zh-CN" altLang="en-US" sz="3200" b="1">
                <a:solidFill>
                  <a:srgbClr val="FF0000"/>
                </a:solidFill>
                <a:latin typeface="Times New Roman" panose="02020603050405020304" pitchFamily="18" charset="0"/>
              </a:rPr>
              <a:t>相互干扰性竞争</a:t>
            </a:r>
            <a:r>
              <a:rPr lang="en-US" altLang="zh-CN" sz="3200" b="1">
                <a:latin typeface="Times New Roman" panose="02020603050405020304" pitchFamily="18" charset="0"/>
              </a:rPr>
              <a:t>(interference competition)</a:t>
            </a:r>
            <a:r>
              <a:rPr lang="zh-CN" altLang="en-US" sz="3200" b="1">
                <a:latin typeface="Times New Roman" panose="02020603050405020304" pitchFamily="18" charset="0"/>
              </a:rPr>
              <a:t>：   通过竞争个体间</a:t>
            </a:r>
            <a:r>
              <a:rPr lang="zh-CN" altLang="en-US" sz="3200" b="1">
                <a:solidFill>
                  <a:srgbClr val="FF0000"/>
                </a:solidFill>
                <a:latin typeface="Times New Roman" panose="02020603050405020304" pitchFamily="18" charset="0"/>
              </a:rPr>
              <a:t>直接的相互</a:t>
            </a:r>
            <a:r>
              <a:rPr lang="zh-CN" altLang="en-US" sz="3200" b="1">
                <a:latin typeface="Times New Roman" panose="02020603050405020304" pitchFamily="18" charset="0"/>
              </a:rPr>
              <a:t>作用进行竞争。</a:t>
            </a:r>
          </a:p>
          <a:p>
            <a:pPr>
              <a:spcBef>
                <a:spcPct val="50000"/>
              </a:spcBef>
            </a:pPr>
            <a:endParaRPr lang="zh-CN" altLang="en-US" sz="2800" b="1">
              <a:latin typeface="Times New Roman" panose="02020603050405020304" pitchFamily="18" charset="0"/>
            </a:endParaRPr>
          </a:p>
          <a:p>
            <a:pPr>
              <a:spcBef>
                <a:spcPct val="50000"/>
              </a:spcBef>
            </a:pPr>
            <a:endParaRPr lang="en-US" altLang="zh-CN">
              <a:latin typeface="Times New Roman" panose="02020603050405020304" pitchFamily="18"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资源竞争"/>
          <p:cNvPicPr>
            <a:picLocks noChangeAspect="1"/>
          </p:cNvPicPr>
          <p:nvPr/>
        </p:nvPicPr>
        <p:blipFill>
          <a:blip r:embed="rId2"/>
          <a:srcRect t="5222"/>
          <a:stretch>
            <a:fillRect/>
          </a:stretch>
        </p:blipFill>
        <p:spPr>
          <a:xfrm>
            <a:off x="5066030" y="752475"/>
            <a:ext cx="6858000" cy="4909820"/>
          </a:xfrm>
          <a:prstGeom prst="rect">
            <a:avLst/>
          </a:prstGeom>
          <a:noFill/>
          <a:ln w="9525">
            <a:noFill/>
          </a:ln>
        </p:spPr>
      </p:pic>
      <p:sp>
        <p:nvSpPr>
          <p:cNvPr id="28675" name="Text Box 3"/>
          <p:cNvSpPr txBox="1"/>
          <p:nvPr/>
        </p:nvSpPr>
        <p:spPr>
          <a:xfrm>
            <a:off x="840105" y="228600"/>
            <a:ext cx="4042410" cy="5077460"/>
          </a:xfrm>
          <a:prstGeom prst="rect">
            <a:avLst/>
          </a:prstGeom>
          <a:noFill/>
          <a:ln w="12700">
            <a:noFill/>
          </a:ln>
        </p:spPr>
        <p:txBody>
          <a:bodyPr wrap="square">
            <a:spAutoFit/>
          </a:bodyPr>
          <a:lstStyle/>
          <a:p>
            <a:pPr>
              <a:spcBef>
                <a:spcPct val="50000"/>
              </a:spcBef>
            </a:pPr>
            <a:r>
              <a:rPr lang="en-US" altLang="zh-CN" sz="3600" b="1">
                <a:latin typeface="Times New Roman" panose="02020603050405020304" pitchFamily="18" charset="0"/>
              </a:rPr>
              <a:t>2 </a:t>
            </a:r>
            <a:r>
              <a:rPr lang="zh-CN" altLang="en-US" sz="3600" b="1">
                <a:latin typeface="Times New Roman" panose="02020603050405020304" pitchFamily="18" charset="0"/>
              </a:rPr>
              <a:t>竞争特点</a:t>
            </a:r>
            <a:r>
              <a:rPr lang="zh-CN" altLang="en-US" sz="3600" b="1">
                <a:latin typeface="Times New Roman" panose="02020603050405020304" pitchFamily="18" charset="0"/>
                <a:sym typeface="Wingdings" panose="05000000000000000000" pitchFamily="2" charset="2"/>
              </a:rPr>
              <a:t>   </a:t>
            </a:r>
          </a:p>
          <a:p>
            <a:pPr>
              <a:spcBef>
                <a:spcPct val="50000"/>
              </a:spcBef>
            </a:pPr>
            <a:r>
              <a:rPr lang="zh-CN" altLang="en-US" sz="3600" b="1">
                <a:latin typeface="Times New Roman" panose="02020603050405020304" pitchFamily="18" charset="0"/>
              </a:rPr>
              <a:t>（</a:t>
            </a:r>
            <a:r>
              <a:rPr lang="en-US" altLang="zh-CN" sz="3600" b="1">
                <a:latin typeface="Times New Roman" panose="02020603050405020304" pitchFamily="18" charset="0"/>
              </a:rPr>
              <a:t>1</a:t>
            </a:r>
            <a:r>
              <a:rPr lang="zh-CN" altLang="en-US" sz="3600" b="1">
                <a:latin typeface="Times New Roman" panose="02020603050405020304" pitchFamily="18" charset="0"/>
              </a:rPr>
              <a:t>）</a:t>
            </a:r>
            <a:r>
              <a:rPr lang="zh-CN" altLang="en-US" sz="3600" b="1">
                <a:solidFill>
                  <a:srgbClr val="FF0000"/>
                </a:solidFill>
                <a:latin typeface="Times New Roman" panose="02020603050405020304" pitchFamily="18" charset="0"/>
              </a:rPr>
              <a:t>竞争结果不对称</a:t>
            </a:r>
            <a:r>
              <a:rPr lang="zh-CN" altLang="en-US" sz="3600" b="1">
                <a:latin typeface="Times New Roman" panose="02020603050405020304" pitchFamily="18" charset="0"/>
              </a:rPr>
              <a:t>；</a:t>
            </a:r>
            <a:r>
              <a:rPr lang="en-US" altLang="zh-CN" sz="3600" b="1">
                <a:latin typeface="Times New Roman" panose="02020603050405020304" pitchFamily="18" charset="0"/>
              </a:rPr>
              <a:t>     </a:t>
            </a:r>
          </a:p>
          <a:p>
            <a:pPr>
              <a:spcBef>
                <a:spcPct val="50000"/>
              </a:spcBef>
            </a:pPr>
            <a:r>
              <a:rPr lang="zh-CN" altLang="en-US" sz="3600" b="1">
                <a:latin typeface="Times New Roman" panose="02020603050405020304" pitchFamily="18" charset="0"/>
              </a:rPr>
              <a:t>（</a:t>
            </a:r>
            <a:r>
              <a:rPr lang="en-US" altLang="zh-CN" sz="3600" b="1">
                <a:latin typeface="Times New Roman" panose="02020603050405020304" pitchFamily="18" charset="0"/>
              </a:rPr>
              <a:t>2</a:t>
            </a:r>
            <a:r>
              <a:rPr lang="zh-CN" altLang="en-US" sz="3600" b="1">
                <a:latin typeface="Times New Roman" panose="02020603050405020304" pitchFamily="18" charset="0"/>
              </a:rPr>
              <a:t>）</a:t>
            </a:r>
            <a:r>
              <a:rPr lang="en-US" altLang="zh-CN" sz="3600" b="1">
                <a:latin typeface="Times New Roman" panose="02020603050405020304" pitchFamily="18" charset="0"/>
              </a:rPr>
              <a:t>对一种资源的竞争，能影响对另一种资源的竞争结果。</a:t>
            </a:r>
            <a:r>
              <a:rPr lang="zh-CN" altLang="en-US" sz="3600" b="1">
                <a:latin typeface="Times New Roman" panose="02020603050405020304" pitchFamily="18" charset="0"/>
              </a:rPr>
              <a:t>（</a:t>
            </a:r>
            <a:r>
              <a:rPr lang="zh-CN" altLang="en-US" sz="3600" b="1">
                <a:solidFill>
                  <a:srgbClr val="FF0000"/>
                </a:solidFill>
                <a:latin typeface="Times New Roman" panose="02020603050405020304" pitchFamily="18" charset="0"/>
              </a:rPr>
              <a:t>设计实验！</a:t>
            </a:r>
            <a:r>
              <a:rPr lang="zh-CN" altLang="en-US" sz="3600" b="1">
                <a:latin typeface="Times New Roman" panose="02020603050405020304" pitchFamily="18" charset="0"/>
              </a:rPr>
              <a:t>）</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5955" y="193040"/>
            <a:ext cx="10671810" cy="6000750"/>
          </a:xfrm>
          <a:prstGeom prst="rect">
            <a:avLst/>
          </a:prstGeom>
        </p:spPr>
        <p:txBody>
          <a:bodyPr wrap="square">
            <a:spAutoFit/>
          </a:bodyPr>
          <a:lstStyle/>
          <a:p>
            <a:pPr algn="l"/>
            <a:r>
              <a:rPr lang="en-US" altLang="zh-CN" sz="3200">
                <a:solidFill>
                  <a:srgbClr val="FF0000"/>
                </a:solidFill>
                <a:latin typeface="汉仪君黑-55W" panose="00020600040101010101" charset="-122"/>
                <a:ea typeface="汉仪君黑-55W" panose="00020600040101010101" charset="-122"/>
                <a:sym typeface="汉仪君黑-55W" panose="00020600040101010101" charset="-122"/>
              </a:rPr>
              <a:t>      </a:t>
            </a:r>
            <a:r>
              <a:rPr lang="zh-CN" altLang="en-US" sz="3200">
                <a:solidFill>
                  <a:srgbClr val="FF0000"/>
                </a:solidFill>
                <a:latin typeface="汉仪君黑-55W" panose="00020600040101010101" charset="-122"/>
                <a:ea typeface="汉仪君黑-55W" panose="00020600040101010101" charset="-122"/>
                <a:sym typeface="汉仪君黑-55W" panose="00020600040101010101" charset="-122"/>
              </a:rPr>
              <a:t>似然竞争</a:t>
            </a:r>
            <a:r>
              <a:rPr lang="zh-CN" altLang="en-US" sz="3200">
                <a:latin typeface="汉仪君黑-55W" panose="00020600040101010101" charset="-122"/>
                <a:ea typeface="汉仪君黑-55W" panose="00020600040101010101" charset="-122"/>
                <a:sym typeface="汉仪君黑-55W" panose="00020600040101010101" charset="-122"/>
              </a:rPr>
              <a:t>（</a:t>
            </a:r>
            <a:r>
              <a:rPr lang="en-US" altLang="zh-CN" sz="3200">
                <a:latin typeface="汉仪君黑-55W" panose="00020600040101010101" charset="-122"/>
                <a:ea typeface="汉仪君黑-55W" panose="00020600040101010101" charset="-122"/>
                <a:sym typeface="汉仪君黑-55W" panose="00020600040101010101" charset="-122"/>
              </a:rPr>
              <a:t>Apparent competition</a:t>
            </a:r>
            <a:r>
              <a:rPr lang="zh-CN" altLang="en-US" sz="3200">
                <a:latin typeface="汉仪君黑-55W" panose="00020600040101010101" charset="-122"/>
                <a:ea typeface="汉仪君黑-55W" panose="00020600040101010101" charset="-122"/>
                <a:sym typeface="汉仪君黑-55W" panose="00020600040101010101" charset="-122"/>
              </a:rPr>
              <a:t>）是生态学中描述</a:t>
            </a:r>
            <a:r>
              <a:rPr lang="zh-CN" altLang="en-US" sz="3200">
                <a:solidFill>
                  <a:srgbClr val="FF0000"/>
                </a:solidFill>
                <a:latin typeface="汉仪君黑-55W" panose="00020600040101010101" charset="-122"/>
                <a:ea typeface="汉仪君黑-55W" panose="00020600040101010101" charset="-122"/>
                <a:sym typeface="汉仪君黑-55W" panose="00020600040101010101" charset="-122"/>
              </a:rPr>
              <a:t>两个物种通过共享捕食者</a:t>
            </a:r>
            <a:r>
              <a:rPr lang="zh-CN" altLang="en-US" sz="3200">
                <a:latin typeface="汉仪君黑-55W" panose="00020600040101010101" charset="-122"/>
                <a:ea typeface="汉仪君黑-55W" panose="00020600040101010101" charset="-122"/>
                <a:sym typeface="汉仪君黑-55W" panose="00020600040101010101" charset="-122"/>
              </a:rPr>
              <a:t>产生的间接竞争关系，由美国生态学家</a:t>
            </a:r>
            <a:r>
              <a:rPr lang="en-US" altLang="zh-CN" sz="3200">
                <a:latin typeface="汉仪君黑-55W" panose="00020600040101010101" charset="-122"/>
                <a:ea typeface="汉仪君黑-55W" panose="00020600040101010101" charset="-122"/>
                <a:sym typeface="汉仪君黑-55W" panose="00020600040101010101" charset="-122"/>
              </a:rPr>
              <a:t>Holt</a:t>
            </a:r>
            <a:r>
              <a:rPr lang="zh-CN" altLang="en-US" sz="3200">
                <a:latin typeface="汉仪君黑-55W" panose="00020600040101010101" charset="-122"/>
                <a:ea typeface="汉仪君黑-55W" panose="00020600040101010101" charset="-122"/>
                <a:sym typeface="汉仪君黑-55W" panose="00020600040101010101" charset="-122"/>
              </a:rPr>
              <a:t>于</a:t>
            </a:r>
            <a:r>
              <a:rPr lang="en-US" altLang="zh-CN" sz="3200">
                <a:latin typeface="汉仪君黑-55W" panose="00020600040101010101" charset="-122"/>
                <a:ea typeface="汉仪君黑-55W" panose="00020600040101010101" charset="-122"/>
                <a:sym typeface="汉仪君黑-55W" panose="00020600040101010101" charset="-122"/>
              </a:rPr>
              <a:t>1977</a:t>
            </a:r>
            <a:r>
              <a:rPr lang="zh-CN" altLang="en-US" sz="3200">
                <a:latin typeface="汉仪君黑-55W" panose="00020600040101010101" charset="-122"/>
                <a:ea typeface="汉仪君黑-55W" panose="00020600040101010101" charset="-122"/>
                <a:sym typeface="汉仪君黑-55W" panose="00020600040101010101" charset="-122"/>
              </a:rPr>
              <a:t>年提出</a:t>
            </a:r>
            <a:r>
              <a:rPr lang="en-US" altLang="zh-CN" sz="3200">
                <a:latin typeface="汉仪君黑-55W" panose="00020600040101010101" charset="-122"/>
                <a:ea typeface="汉仪君黑-55W" panose="00020600040101010101" charset="-122"/>
                <a:sym typeface="汉仪君黑-55W" panose="00020600040101010101" charset="-122"/>
              </a:rPr>
              <a:t>‌</a:t>
            </a:r>
            <a:r>
              <a:rPr lang="zh-CN" altLang="en-US" sz="3200">
                <a:latin typeface="汉仪君黑-55W" panose="00020600040101010101" charset="-122"/>
                <a:ea typeface="汉仪君黑-55W" panose="00020600040101010101" charset="-122"/>
                <a:sym typeface="汉仪君黑-55W" panose="00020600040101010101" charset="-122"/>
              </a:rPr>
              <a:t>。其核心机制是：当一个物种个体数量增加时，会促使捕食者种群扩张，从而增强对另一物种的捕食压力，这种</a:t>
            </a:r>
            <a:r>
              <a:rPr lang="zh-CN" altLang="en-US" sz="3200">
                <a:solidFill>
                  <a:srgbClr val="FF0000"/>
                </a:solidFill>
                <a:latin typeface="汉仪君黑-55W" panose="00020600040101010101" charset="-122"/>
                <a:ea typeface="汉仪君黑-55W" panose="00020600040101010101" charset="-122"/>
                <a:sym typeface="汉仪君黑-55W" panose="00020600040101010101" charset="-122"/>
              </a:rPr>
              <a:t>负相互作用</a:t>
            </a:r>
            <a:r>
              <a:rPr lang="zh-CN" altLang="en-US" sz="3200">
                <a:latin typeface="汉仪君黑-55W" panose="00020600040101010101" charset="-122"/>
                <a:ea typeface="汉仪君黑-55W" panose="00020600040101010101" charset="-122"/>
                <a:sym typeface="汉仪君黑-55W" panose="00020600040101010101" charset="-122"/>
              </a:rPr>
              <a:t>被称为似然竞争。</a:t>
            </a:r>
          </a:p>
          <a:p>
            <a:pPr algn="l"/>
            <a:r>
              <a:rPr lang="en-US" altLang="zh-CN" sz="3200">
                <a:latin typeface="汉仪君黑-55W" panose="00020600040101010101" charset="-122"/>
                <a:ea typeface="汉仪君黑-55W" panose="00020600040101010101" charset="-122"/>
                <a:sym typeface="汉仪君黑-55W" panose="00020600040101010101" charset="-122"/>
              </a:rPr>
              <a:t>      </a:t>
            </a:r>
            <a:r>
              <a:rPr lang="zh-CN" altLang="en-US" sz="3200">
                <a:latin typeface="汉仪君黑-55W" panose="00020600040101010101" charset="-122"/>
                <a:ea typeface="汉仪君黑-55W" panose="00020600040101010101" charset="-122"/>
                <a:sym typeface="汉仪君黑-55W" panose="00020600040101010101" charset="-122"/>
              </a:rPr>
              <a:t>核心特点：</a:t>
            </a:r>
          </a:p>
          <a:p>
            <a:pPr algn="l"/>
            <a:r>
              <a:rPr lang="en-US" altLang="zh-CN" sz="3200">
                <a:latin typeface="汉仪君黑-55W" panose="00020600040101010101" charset="-122"/>
                <a:ea typeface="汉仪君黑-55W" panose="00020600040101010101" charset="-122"/>
                <a:sym typeface="汉仪君黑-55W" panose="00020600040101010101" charset="-122"/>
              </a:rPr>
              <a:t>‌1.</a:t>
            </a:r>
            <a:r>
              <a:rPr lang="zh-CN" altLang="en-US" sz="3200">
                <a:solidFill>
                  <a:srgbClr val="FF0000"/>
                </a:solidFill>
                <a:latin typeface="汉仪君黑-55W" panose="00020600040101010101" charset="-122"/>
                <a:ea typeface="汉仪君黑-55W" panose="00020600040101010101" charset="-122"/>
                <a:sym typeface="汉仪君黑-55W" panose="00020600040101010101" charset="-122"/>
              </a:rPr>
              <a:t>间接性</a:t>
            </a:r>
            <a:r>
              <a:rPr lang="en-US" altLang="zh-CN" sz="3200">
                <a:latin typeface="汉仪君黑-55W" panose="00020600040101010101" charset="-122"/>
                <a:ea typeface="汉仪君黑-55W" panose="00020600040101010101" charset="-122"/>
                <a:sym typeface="汉仪君黑-55W" panose="00020600040101010101" charset="-122"/>
              </a:rPr>
              <a:t>‌</a:t>
            </a:r>
            <a:r>
              <a:rPr lang="zh-CN" altLang="en-US" sz="3200">
                <a:latin typeface="汉仪君黑-55W" panose="00020600040101010101" charset="-122"/>
                <a:ea typeface="汉仪君黑-55W" panose="00020600040101010101" charset="-122"/>
                <a:sym typeface="汉仪君黑-55W" panose="00020600040101010101" charset="-122"/>
              </a:rPr>
              <a:t>：通过捕食者作为中介传导竞争效应，与直接资</a:t>
            </a:r>
          </a:p>
          <a:p>
            <a:pPr algn="l"/>
            <a:r>
              <a:rPr lang="zh-CN" altLang="en-US" sz="3200">
                <a:latin typeface="汉仪君黑-55W" panose="00020600040101010101" charset="-122"/>
                <a:ea typeface="汉仪君黑-55W" panose="00020600040101010101" charset="-122"/>
                <a:sym typeface="汉仪君黑-55W" panose="00020600040101010101" charset="-122"/>
              </a:rPr>
              <a:t> </a:t>
            </a:r>
            <a:r>
              <a:rPr lang="en-US" altLang="zh-CN" sz="3200">
                <a:latin typeface="汉仪君黑-55W" panose="00020600040101010101" charset="-122"/>
                <a:ea typeface="汉仪君黑-55W" panose="00020600040101010101" charset="-122"/>
                <a:sym typeface="汉仪君黑-55W" panose="00020600040101010101" charset="-122"/>
              </a:rPr>
              <a:t>  </a:t>
            </a:r>
            <a:r>
              <a:rPr lang="zh-CN" altLang="en-US" sz="3200">
                <a:latin typeface="汉仪君黑-55W" panose="00020600040101010101" charset="-122"/>
                <a:ea typeface="汉仪君黑-55W" panose="00020600040101010101" charset="-122"/>
                <a:sym typeface="汉仪君黑-55W" panose="00020600040101010101" charset="-122"/>
              </a:rPr>
              <a:t>源竞争（如争夺食物、空间）不同</a:t>
            </a:r>
            <a:r>
              <a:rPr lang="en-US" altLang="zh-CN" sz="3200">
                <a:latin typeface="汉仪君黑-55W" panose="00020600040101010101" charset="-122"/>
                <a:ea typeface="汉仪君黑-55W" panose="00020600040101010101" charset="-122"/>
                <a:sym typeface="汉仪君黑-55W" panose="00020600040101010101" charset="-122"/>
              </a:rPr>
              <a:t>‌</a:t>
            </a:r>
            <a:r>
              <a:rPr lang="zh-CN" altLang="en-US" sz="3200">
                <a:latin typeface="汉仪君黑-55W" panose="00020600040101010101" charset="-122"/>
                <a:ea typeface="汉仪君黑-55W" panose="00020600040101010101" charset="-122"/>
                <a:sym typeface="汉仪君黑-55W" panose="00020600040101010101" charset="-122"/>
              </a:rPr>
              <a:t>；</a:t>
            </a:r>
          </a:p>
          <a:p>
            <a:pPr algn="l"/>
            <a:r>
              <a:rPr lang="en-US" altLang="zh-CN" sz="3200">
                <a:latin typeface="汉仪君黑-55W" panose="00020600040101010101" charset="-122"/>
                <a:ea typeface="汉仪君黑-55W" panose="00020600040101010101" charset="-122"/>
                <a:sym typeface="汉仪君黑-55W" panose="00020600040101010101" charset="-122"/>
              </a:rPr>
              <a:t>‌2.</a:t>
            </a:r>
            <a:r>
              <a:rPr lang="zh-CN" altLang="en-US" sz="3200">
                <a:solidFill>
                  <a:srgbClr val="FF0000"/>
                </a:solidFill>
                <a:latin typeface="汉仪君黑-55W" panose="00020600040101010101" charset="-122"/>
                <a:ea typeface="汉仪君黑-55W" panose="00020600040101010101" charset="-122"/>
                <a:sym typeface="汉仪君黑-55W" panose="00020600040101010101" charset="-122"/>
              </a:rPr>
              <a:t>非资源限制</a:t>
            </a:r>
            <a:r>
              <a:rPr lang="en-US" altLang="zh-CN" sz="3200">
                <a:latin typeface="汉仪君黑-55W" panose="00020600040101010101" charset="-122"/>
                <a:ea typeface="汉仪君黑-55W" panose="00020600040101010101" charset="-122"/>
                <a:sym typeface="汉仪君黑-55W" panose="00020600040101010101" charset="-122"/>
              </a:rPr>
              <a:t>‌</a:t>
            </a:r>
            <a:r>
              <a:rPr lang="zh-CN" altLang="en-US" sz="3200">
                <a:latin typeface="汉仪君黑-55W" panose="00020600040101010101" charset="-122"/>
                <a:ea typeface="汉仪君黑-55W" panose="00020600040101010101" charset="-122"/>
                <a:sym typeface="汉仪君黑-55W" panose="00020600040101010101" charset="-122"/>
              </a:rPr>
              <a:t>：竞争双方可能均不受资源短缺限制，相互</a:t>
            </a:r>
          </a:p>
          <a:p>
            <a:pPr algn="l"/>
            <a:r>
              <a:rPr lang="zh-CN" altLang="en-US" sz="3200">
                <a:latin typeface="汉仪君黑-55W" panose="00020600040101010101" charset="-122"/>
                <a:ea typeface="汉仪君黑-55W" panose="00020600040101010101" charset="-122"/>
                <a:sym typeface="汉仪君黑-55W" panose="00020600040101010101" charset="-122"/>
              </a:rPr>
              <a:t> </a:t>
            </a:r>
            <a:r>
              <a:rPr lang="en-US" altLang="zh-CN" sz="3200">
                <a:latin typeface="汉仪君黑-55W" panose="00020600040101010101" charset="-122"/>
                <a:ea typeface="汉仪君黑-55W" panose="00020600040101010101" charset="-122"/>
                <a:sym typeface="汉仪君黑-55W" panose="00020600040101010101" charset="-122"/>
              </a:rPr>
              <a:t>  </a:t>
            </a:r>
            <a:r>
              <a:rPr lang="zh-CN" altLang="en-US" sz="3200">
                <a:latin typeface="汉仪君黑-55W" panose="00020600040101010101" charset="-122"/>
                <a:ea typeface="汉仪君黑-55W" panose="00020600040101010101" charset="-122"/>
                <a:sym typeface="汉仪君黑-55W" panose="00020600040101010101" charset="-122"/>
              </a:rPr>
              <a:t>作用完全由捕食者动态驱动；</a:t>
            </a:r>
          </a:p>
          <a:p>
            <a:pPr algn="l"/>
            <a:r>
              <a:rPr lang="en-US" altLang="zh-CN" sz="3200">
                <a:latin typeface="汉仪君黑-55W" panose="00020600040101010101" charset="-122"/>
                <a:ea typeface="汉仪君黑-55W" panose="00020600040101010101" charset="-122"/>
                <a:sym typeface="汉仪君黑-55W" panose="00020600040101010101" charset="-122"/>
              </a:rPr>
              <a:t>‌3.</a:t>
            </a:r>
            <a:r>
              <a:rPr lang="zh-CN" altLang="en-US" sz="3200">
                <a:solidFill>
                  <a:srgbClr val="FF0000"/>
                </a:solidFill>
                <a:latin typeface="汉仪君黑-55W" panose="00020600040101010101" charset="-122"/>
                <a:ea typeface="汉仪君黑-55W" panose="00020600040101010101" charset="-122"/>
                <a:sym typeface="汉仪君黑-55W" panose="00020600040101010101" charset="-122"/>
              </a:rPr>
              <a:t>生态位分化</a:t>
            </a:r>
            <a:r>
              <a:rPr lang="en-US" altLang="zh-CN" sz="3200">
                <a:latin typeface="汉仪君黑-55W" panose="00020600040101010101" charset="-122"/>
                <a:ea typeface="汉仪君黑-55W" panose="00020600040101010101" charset="-122"/>
                <a:sym typeface="汉仪君黑-55W" panose="00020600040101010101" charset="-122"/>
              </a:rPr>
              <a:t>‌</a:t>
            </a:r>
            <a:r>
              <a:rPr lang="zh-CN" altLang="en-US" sz="3200">
                <a:latin typeface="汉仪君黑-55W" panose="00020600040101010101" charset="-122"/>
                <a:ea typeface="汉仪君黑-55W" panose="00020600040101010101" charset="-122"/>
                <a:sym typeface="汉仪君黑-55W" panose="00020600040101010101" charset="-122"/>
              </a:rPr>
              <a:t>：物种可通过差异化栖息地选择或行为模式</a:t>
            </a:r>
          </a:p>
          <a:p>
            <a:pPr algn="l"/>
            <a:r>
              <a:rPr lang="zh-CN" altLang="en-US" sz="3200">
                <a:latin typeface="汉仪君黑-55W" panose="00020600040101010101" charset="-122"/>
                <a:ea typeface="汉仪君黑-55W" panose="00020600040101010101" charset="-122"/>
                <a:sym typeface="汉仪君黑-55W" panose="00020600040101010101" charset="-122"/>
              </a:rPr>
              <a:t> </a:t>
            </a:r>
            <a:r>
              <a:rPr lang="en-US" altLang="zh-CN" sz="3200">
                <a:latin typeface="汉仪君黑-55W" panose="00020600040101010101" charset="-122"/>
                <a:ea typeface="汉仪君黑-55W" panose="00020600040101010101" charset="-122"/>
                <a:sym typeface="汉仪君黑-55W" panose="00020600040101010101" charset="-122"/>
              </a:rPr>
              <a:t>   </a:t>
            </a:r>
            <a:r>
              <a:rPr lang="zh-CN" altLang="en-US" sz="3200">
                <a:latin typeface="汉仪君黑-55W" panose="00020600040101010101" charset="-122"/>
                <a:ea typeface="汉仪君黑-55W" panose="00020600040101010101" charset="-122"/>
                <a:sym typeface="汉仪君黑-55W" panose="00020600040101010101" charset="-122"/>
              </a:rPr>
              <a:t>降低被捕食风险，促进共存</a:t>
            </a:r>
            <a:r>
              <a:rPr lang="en-US" altLang="zh-CN" sz="3200">
                <a:latin typeface="汉仪君黑-55W" panose="00020600040101010101" charset="-122"/>
                <a:ea typeface="汉仪君黑-55W" panose="00020600040101010101" charset="-122"/>
                <a:sym typeface="汉仪君黑-55W" panose="00020600040101010101" charset="-122"/>
              </a:rPr>
              <a:t>‌</a:t>
            </a:r>
            <a:r>
              <a:rPr lang="zh-CN" altLang="en-US" sz="3200">
                <a:latin typeface="汉仪君黑-55W" panose="00020600040101010101" charset="-122"/>
                <a:ea typeface="汉仪君黑-55W" panose="00020600040101010101" charset="-122"/>
                <a:sym typeface="汉仪君黑-55W" panose="00020600040101010101" charset="-122"/>
              </a:rPr>
              <a:t>。</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856740" y="1040765"/>
            <a:ext cx="8957945" cy="3049270"/>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p:nvPr/>
        </p:nvSpPr>
        <p:spPr>
          <a:xfrm>
            <a:off x="613410" y="158115"/>
            <a:ext cx="10760075" cy="6892925"/>
          </a:xfrm>
          <a:prstGeom prst="rect">
            <a:avLst/>
          </a:prstGeom>
          <a:noFill/>
          <a:ln w="12700">
            <a:noFill/>
          </a:ln>
        </p:spPr>
        <p:txBody>
          <a:bodyPr wrap="square">
            <a:spAutoFit/>
          </a:bodyPr>
          <a:lstStyle/>
          <a:p>
            <a:pPr>
              <a:spcBef>
                <a:spcPct val="50000"/>
              </a:spcBef>
            </a:pPr>
            <a:r>
              <a:rPr lang="en-US" altLang="zh-CN" sz="3600" b="1">
                <a:latin typeface="Times New Roman" panose="02020603050405020304" pitchFamily="18" charset="0"/>
              </a:rPr>
              <a:t>7.1.2.3 Lotka-Volterra </a:t>
            </a:r>
            <a:r>
              <a:rPr lang="zh-CN" altLang="en-US" sz="3600" b="1">
                <a:latin typeface="Times New Roman" panose="02020603050405020304" pitchFamily="18" charset="0"/>
              </a:rPr>
              <a:t>种间竞争模型</a:t>
            </a:r>
            <a:r>
              <a:rPr lang="zh-CN" altLang="en-US">
                <a:latin typeface="Times New Roman" panose="02020603050405020304" pitchFamily="18" charset="0"/>
              </a:rPr>
              <a:t> </a:t>
            </a:r>
          </a:p>
          <a:p>
            <a:pPr algn="just">
              <a:spcBef>
                <a:spcPct val="50000"/>
              </a:spcBef>
            </a:pPr>
            <a:r>
              <a:rPr lang="zh-CN" altLang="en-US" sz="2800" b="1">
                <a:latin typeface="Times New Roman" panose="02020603050405020304" pitchFamily="18" charset="0"/>
              </a:rPr>
              <a:t>设</a:t>
            </a:r>
            <a:r>
              <a:rPr lang="en-US" altLang="zh-CN" sz="2800" b="1">
                <a:latin typeface="Times New Roman" panose="02020603050405020304" pitchFamily="18" charset="0"/>
              </a:rPr>
              <a:t>N</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 </a:t>
            </a:r>
            <a:r>
              <a:rPr lang="zh-CN" altLang="en-US" sz="2800" b="1">
                <a:latin typeface="Times New Roman" panose="02020603050405020304" pitchFamily="18" charset="0"/>
              </a:rPr>
              <a:t>和</a:t>
            </a:r>
            <a:r>
              <a:rPr lang="en-US" altLang="zh-CN" sz="2800" b="1">
                <a:latin typeface="Times New Roman" panose="02020603050405020304" pitchFamily="18" charset="0"/>
              </a:rPr>
              <a:t>N</a:t>
            </a:r>
            <a:r>
              <a:rPr lang="en-US" altLang="zh-CN" sz="2800" b="1" baseline="-30000">
                <a:latin typeface="Times New Roman" panose="02020603050405020304" pitchFamily="18" charset="0"/>
              </a:rPr>
              <a:t>2</a:t>
            </a:r>
            <a:r>
              <a:rPr lang="zh-CN" altLang="en-US" sz="2800" b="1">
                <a:latin typeface="Times New Roman" panose="02020603050405020304" pitchFamily="18" charset="0"/>
              </a:rPr>
              <a:t>分别为两物种的种群数量， </a:t>
            </a:r>
            <a:r>
              <a:rPr lang="en-US" altLang="zh-CN" sz="2800" b="1">
                <a:latin typeface="Times New Roman" panose="02020603050405020304" pitchFamily="18" charset="0"/>
              </a:rPr>
              <a:t>K</a:t>
            </a:r>
            <a:r>
              <a:rPr lang="en-US" altLang="zh-CN" sz="2800" b="1" baseline="-30000">
                <a:latin typeface="Times New Roman" panose="02020603050405020304" pitchFamily="18" charset="0"/>
              </a:rPr>
              <a:t>1</a:t>
            </a:r>
            <a:r>
              <a:rPr lang="zh-CN" altLang="en-US" sz="2800" b="1">
                <a:latin typeface="Times New Roman" panose="02020603050405020304" pitchFamily="18" charset="0"/>
              </a:rPr>
              <a:t>、 </a:t>
            </a:r>
            <a:r>
              <a:rPr lang="en-US" altLang="zh-CN" sz="2800" b="1">
                <a:latin typeface="Times New Roman" panose="02020603050405020304" pitchFamily="18" charset="0"/>
              </a:rPr>
              <a:t>K</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 </a:t>
            </a:r>
            <a:r>
              <a:rPr lang="zh-CN" altLang="en-US" sz="2800" b="1">
                <a:latin typeface="Times New Roman" panose="02020603050405020304" pitchFamily="18" charset="0"/>
              </a:rPr>
              <a:t>、</a:t>
            </a:r>
            <a:r>
              <a:rPr lang="en-US" altLang="zh-CN" sz="2800" b="1">
                <a:latin typeface="Times New Roman" panose="02020603050405020304" pitchFamily="18" charset="0"/>
              </a:rPr>
              <a:t>r</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 </a:t>
            </a:r>
            <a:r>
              <a:rPr lang="zh-CN" altLang="en-US" sz="2800" b="1">
                <a:latin typeface="Times New Roman" panose="02020603050405020304" pitchFamily="18" charset="0"/>
              </a:rPr>
              <a:t>和</a:t>
            </a:r>
            <a:r>
              <a:rPr lang="en-US" altLang="zh-CN" sz="2800" b="1">
                <a:latin typeface="Times New Roman" panose="02020603050405020304" pitchFamily="18" charset="0"/>
              </a:rPr>
              <a:t>r</a:t>
            </a:r>
            <a:r>
              <a:rPr lang="en-US" altLang="zh-CN" sz="2800" b="1" baseline="-30000">
                <a:latin typeface="Times New Roman" panose="02020603050405020304" pitchFamily="18" charset="0"/>
              </a:rPr>
              <a:t>2</a:t>
            </a:r>
            <a:r>
              <a:rPr lang="zh-CN" altLang="en-US" sz="2800" b="1">
                <a:latin typeface="Times New Roman" panose="02020603050405020304" pitchFamily="18" charset="0"/>
              </a:rPr>
              <a:t>分别为这两物种种群的环境容纳量和种群增长率。按逻辑斯谛模型，</a:t>
            </a:r>
          </a:p>
          <a:p>
            <a:pPr>
              <a:spcBef>
                <a:spcPct val="50000"/>
              </a:spcBef>
            </a:pPr>
            <a:r>
              <a:rPr lang="zh-CN" altLang="en-US" sz="2800" b="1">
                <a:latin typeface="Times New Roman" panose="02020603050405020304" pitchFamily="18" charset="0"/>
              </a:rPr>
              <a:t>        </a:t>
            </a:r>
            <a:r>
              <a:rPr lang="en-US" altLang="zh-CN" sz="2800" b="1">
                <a:latin typeface="Times New Roman" panose="02020603050405020304" pitchFamily="18" charset="0"/>
              </a:rPr>
              <a:t>dN</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/dt = r</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N </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 (1-N</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/K</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 </a:t>
            </a:r>
            <a:r>
              <a:rPr lang="zh-CN" altLang="en-US" sz="2800" b="1">
                <a:latin typeface="Times New Roman" panose="02020603050405020304" pitchFamily="18" charset="0"/>
              </a:rPr>
              <a:t>； </a:t>
            </a:r>
            <a:r>
              <a:rPr lang="en-US" altLang="zh-CN" sz="2800" b="1">
                <a:latin typeface="Times New Roman" panose="02020603050405020304" pitchFamily="18" charset="0"/>
              </a:rPr>
              <a:t>dN</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/dt = r</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N </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 (1-N</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/K</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 </a:t>
            </a:r>
          </a:p>
          <a:p>
            <a:pPr algn="just">
              <a:spcBef>
                <a:spcPct val="50000"/>
              </a:spcBef>
            </a:pPr>
            <a:r>
              <a:rPr lang="zh-CN" altLang="en-US" sz="2800" b="1">
                <a:latin typeface="Times New Roman" panose="02020603050405020304" pitchFamily="18" charset="0"/>
              </a:rPr>
              <a:t>如前所述，</a:t>
            </a:r>
            <a:r>
              <a:rPr lang="en-US" altLang="zh-CN" sz="2800" b="1">
                <a:latin typeface="Times New Roman" panose="02020603050405020304" pitchFamily="18" charset="0"/>
              </a:rPr>
              <a:t>(1-N/K)</a:t>
            </a:r>
            <a:r>
              <a:rPr lang="zh-CN" altLang="en-US" sz="2800" b="1">
                <a:latin typeface="Times New Roman" panose="02020603050405020304" pitchFamily="18" charset="0"/>
              </a:rPr>
              <a:t>项可理解为尚未利用的‘剩余空间’项，而</a:t>
            </a:r>
            <a:r>
              <a:rPr lang="en-US" altLang="zh-CN" sz="2800" b="1">
                <a:latin typeface="Times New Roman" panose="02020603050405020304" pitchFamily="18" charset="0"/>
              </a:rPr>
              <a:t>N/K</a:t>
            </a:r>
            <a:r>
              <a:rPr lang="zh-CN" altLang="en-US" sz="2800" b="1">
                <a:latin typeface="Times New Roman" panose="02020603050405020304" pitchFamily="18" charset="0"/>
              </a:rPr>
              <a:t>是‘已利用空间项’。当两物种竞争或共同利用空间时，已利用空间项除</a:t>
            </a:r>
            <a:r>
              <a:rPr lang="en-US" altLang="zh-CN" sz="2800" b="1">
                <a:latin typeface="Times New Roman" panose="02020603050405020304" pitchFamily="18" charset="0"/>
              </a:rPr>
              <a:t>N </a:t>
            </a:r>
            <a:r>
              <a:rPr lang="en-US" altLang="zh-CN" sz="2800" b="1" baseline="-30000">
                <a:latin typeface="Times New Roman" panose="02020603050405020304" pitchFamily="18" charset="0"/>
              </a:rPr>
              <a:t>1</a:t>
            </a:r>
            <a:r>
              <a:rPr lang="zh-CN" altLang="en-US" sz="2800" b="1">
                <a:latin typeface="Times New Roman" panose="02020603050405020304" pitchFamily="18" charset="0"/>
              </a:rPr>
              <a:t>外还要加上</a:t>
            </a:r>
            <a:r>
              <a:rPr lang="en-US" altLang="zh-CN" sz="2800" b="1">
                <a:latin typeface="Times New Roman" panose="02020603050405020304" pitchFamily="18" charset="0"/>
              </a:rPr>
              <a:t>N </a:t>
            </a:r>
            <a:r>
              <a:rPr lang="en-US" altLang="zh-CN" sz="2800" b="1" baseline="-30000">
                <a:latin typeface="Times New Roman" panose="02020603050405020304" pitchFamily="18" charset="0"/>
              </a:rPr>
              <a:t>2</a:t>
            </a:r>
            <a:r>
              <a:rPr lang="zh-CN" altLang="en-US" sz="2800" b="1">
                <a:latin typeface="Times New Roman" panose="02020603050405020304" pitchFamily="18" charset="0"/>
              </a:rPr>
              <a:t>，即：</a:t>
            </a:r>
          </a:p>
          <a:p>
            <a:pPr algn="ctr">
              <a:spcBef>
                <a:spcPct val="50000"/>
              </a:spcBef>
            </a:pPr>
            <a:r>
              <a:rPr lang="en-US" altLang="zh-CN" sz="2800" b="1">
                <a:latin typeface="Times New Roman" panose="02020603050405020304" pitchFamily="18" charset="0"/>
              </a:rPr>
              <a:t>dN</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/dt = r</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N </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 (1-N</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/K</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a:t>
            </a:r>
            <a:r>
              <a:rPr lang="en-US" altLang="zh-CN" sz="2800" b="1">
                <a:latin typeface="宋体" panose="02010600030101010101" pitchFamily="2" charset="-122"/>
                <a:sym typeface="Symbol" panose="05050102010706020507" pitchFamily="18" charset="2"/>
              </a:rPr>
              <a:t></a:t>
            </a:r>
            <a:r>
              <a:rPr lang="en-US" altLang="zh-CN" sz="2800" b="1">
                <a:latin typeface="Times New Roman" panose="02020603050405020304" pitchFamily="18" charset="0"/>
              </a:rPr>
              <a:t>N</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a:t>
            </a:r>
            <a:r>
              <a:rPr lang="en-US" altLang="zh-CN" sz="2800" b="1">
                <a:solidFill>
                  <a:srgbClr val="FF0000"/>
                </a:solidFill>
                <a:latin typeface="Times New Roman" panose="02020603050405020304" pitchFamily="18" charset="0"/>
              </a:rPr>
              <a:t>K</a:t>
            </a:r>
            <a:r>
              <a:rPr lang="en-US" altLang="zh-CN" sz="2800" b="1" baseline="-30000">
                <a:solidFill>
                  <a:srgbClr val="FF0000"/>
                </a:solidFill>
                <a:latin typeface="Times New Roman" panose="02020603050405020304" pitchFamily="18" charset="0"/>
              </a:rPr>
              <a:t>1</a:t>
            </a:r>
            <a:r>
              <a:rPr lang="en-US" altLang="zh-CN" sz="2800" b="1">
                <a:latin typeface="Times New Roman" panose="02020603050405020304" pitchFamily="18" charset="0"/>
              </a:rPr>
              <a:t>)   (1)</a:t>
            </a:r>
          </a:p>
          <a:p>
            <a:pPr algn="just">
              <a:spcBef>
                <a:spcPct val="50000"/>
              </a:spcBef>
            </a:pPr>
            <a:r>
              <a:rPr lang="zh-CN" altLang="en-US" sz="2800" b="1">
                <a:latin typeface="Times New Roman" panose="02020603050405020304" pitchFamily="18" charset="0"/>
              </a:rPr>
              <a:t>其中</a:t>
            </a:r>
            <a:r>
              <a:rPr lang="zh-CN" altLang="en-US" sz="2800" b="1">
                <a:latin typeface="宋体" panose="02010600030101010101" pitchFamily="2" charset="-122"/>
                <a:sym typeface="Symbol" panose="05050102010706020507" pitchFamily="18" charset="2"/>
              </a:rPr>
              <a:t></a:t>
            </a:r>
            <a:r>
              <a:rPr lang="zh-CN" altLang="en-US" sz="2800" b="1">
                <a:latin typeface="Times New Roman" panose="02020603050405020304" pitchFamily="18" charset="0"/>
              </a:rPr>
              <a:t>为竞争系数，它表示每个</a:t>
            </a:r>
            <a:r>
              <a:rPr lang="en-US" altLang="zh-CN" sz="2800" b="1">
                <a:latin typeface="Times New Roman" panose="02020603050405020304" pitchFamily="18" charset="0"/>
              </a:rPr>
              <a:t>N</a:t>
            </a:r>
            <a:r>
              <a:rPr lang="en-US" altLang="zh-CN" sz="2800" b="1" baseline="-30000">
                <a:latin typeface="Times New Roman" panose="02020603050405020304" pitchFamily="18" charset="0"/>
              </a:rPr>
              <a:t>2</a:t>
            </a:r>
            <a:r>
              <a:rPr lang="zh-CN" altLang="en-US" sz="2800" b="1">
                <a:latin typeface="Times New Roman" panose="02020603050405020304" pitchFamily="18" charset="0"/>
              </a:rPr>
              <a:t>个体所占的空间相当于</a:t>
            </a:r>
            <a:r>
              <a:rPr lang="zh-CN" altLang="en-US" sz="2800" b="1">
                <a:latin typeface="宋体" panose="02010600030101010101" pitchFamily="2" charset="-122"/>
                <a:sym typeface="Symbol" panose="05050102010706020507" pitchFamily="18" charset="2"/>
              </a:rPr>
              <a:t></a:t>
            </a:r>
            <a:r>
              <a:rPr lang="zh-CN" altLang="en-US" sz="2800" b="1">
                <a:latin typeface="Times New Roman" panose="02020603050405020304" pitchFamily="18" charset="0"/>
              </a:rPr>
              <a:t>个</a:t>
            </a:r>
            <a:r>
              <a:rPr lang="en-US" altLang="zh-CN" sz="2800" b="1">
                <a:latin typeface="Times New Roman" panose="02020603050405020304" pitchFamily="18" charset="0"/>
              </a:rPr>
              <a:t>N</a:t>
            </a:r>
            <a:r>
              <a:rPr lang="en-US" altLang="zh-CN" sz="2800" b="1" baseline="-30000">
                <a:latin typeface="Times New Roman" panose="02020603050405020304" pitchFamily="18" charset="0"/>
              </a:rPr>
              <a:t>1</a:t>
            </a:r>
            <a:r>
              <a:rPr lang="zh-CN" altLang="en-US" sz="2800" b="1">
                <a:latin typeface="Times New Roman" panose="02020603050405020304" pitchFamily="18" charset="0"/>
              </a:rPr>
              <a:t>个体。同样，对于物种</a:t>
            </a:r>
            <a:r>
              <a:rPr lang="en-US" altLang="zh-CN" sz="2800" b="1">
                <a:latin typeface="Times New Roman" panose="02020603050405020304" pitchFamily="18" charset="0"/>
              </a:rPr>
              <a:t>2</a:t>
            </a:r>
            <a:r>
              <a:rPr lang="zh-CN" altLang="en-US" sz="2800" b="1">
                <a:latin typeface="Times New Roman" panose="02020603050405020304" pitchFamily="18" charset="0"/>
              </a:rPr>
              <a:t>：</a:t>
            </a:r>
          </a:p>
          <a:p>
            <a:pPr algn="ctr">
              <a:spcBef>
                <a:spcPct val="50000"/>
              </a:spcBef>
            </a:pPr>
            <a:r>
              <a:rPr lang="en-US" altLang="zh-CN" sz="2800" b="1">
                <a:latin typeface="Times New Roman" panose="02020603050405020304" pitchFamily="18" charset="0"/>
              </a:rPr>
              <a:t>dN</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/dt = r</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N </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 (1-N</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/K</a:t>
            </a:r>
            <a:r>
              <a:rPr lang="en-US" altLang="zh-CN" sz="2800" b="1" baseline="-30000">
                <a:latin typeface="Times New Roman" panose="02020603050405020304" pitchFamily="18" charset="0"/>
              </a:rPr>
              <a:t>2</a:t>
            </a:r>
            <a:r>
              <a:rPr lang="en-US" altLang="zh-CN" sz="2800" b="1">
                <a:latin typeface="Times New Roman" panose="02020603050405020304" pitchFamily="18" charset="0"/>
              </a:rPr>
              <a:t>-</a:t>
            </a:r>
            <a:r>
              <a:rPr lang="en-US" altLang="zh-CN" sz="2800" b="1">
                <a:latin typeface="宋体" panose="02010600030101010101" pitchFamily="2" charset="-122"/>
                <a:sym typeface="Symbol" panose="05050102010706020507" pitchFamily="18" charset="2"/>
              </a:rPr>
              <a:t></a:t>
            </a:r>
            <a:r>
              <a:rPr lang="en-US" altLang="zh-CN" sz="2800" b="1">
                <a:latin typeface="Times New Roman" panose="02020603050405020304" pitchFamily="18" charset="0"/>
              </a:rPr>
              <a:t>N</a:t>
            </a:r>
            <a:r>
              <a:rPr lang="en-US" altLang="zh-CN" sz="2800" b="1" baseline="-30000">
                <a:latin typeface="Times New Roman" panose="02020603050405020304" pitchFamily="18" charset="0"/>
              </a:rPr>
              <a:t>1</a:t>
            </a:r>
            <a:r>
              <a:rPr lang="en-US" altLang="zh-CN" sz="2800" b="1">
                <a:latin typeface="Times New Roman" panose="02020603050405020304" pitchFamily="18" charset="0"/>
              </a:rPr>
              <a:t>/</a:t>
            </a:r>
            <a:r>
              <a:rPr lang="en-US" altLang="zh-CN" sz="2800" b="1">
                <a:solidFill>
                  <a:srgbClr val="FF0000"/>
                </a:solidFill>
                <a:latin typeface="Times New Roman" panose="02020603050405020304" pitchFamily="18" charset="0"/>
              </a:rPr>
              <a:t>K</a:t>
            </a:r>
            <a:r>
              <a:rPr lang="en-US" altLang="zh-CN" sz="2800" b="1" baseline="-30000">
                <a:solidFill>
                  <a:srgbClr val="FF0000"/>
                </a:solidFill>
                <a:latin typeface="Times New Roman" panose="02020603050405020304" pitchFamily="18" charset="0"/>
              </a:rPr>
              <a:t>2</a:t>
            </a:r>
            <a:r>
              <a:rPr lang="en-US" altLang="zh-CN" sz="2800" b="1">
                <a:latin typeface="Times New Roman" panose="02020603050405020304" pitchFamily="18" charset="0"/>
              </a:rPr>
              <a:t>)  (2)</a:t>
            </a:r>
          </a:p>
          <a:p>
            <a:pPr>
              <a:spcBef>
                <a:spcPct val="50000"/>
              </a:spcBef>
            </a:pPr>
            <a:endParaRPr lang="en-US" altLang="zh-CN" sz="2800" b="1">
              <a:latin typeface="Times New Roman" panose="02020603050405020304" pitchFamily="18" charset="0"/>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p:nvPr/>
        </p:nvSpPr>
        <p:spPr>
          <a:xfrm>
            <a:off x="346710" y="609600"/>
            <a:ext cx="6522720" cy="1548130"/>
          </a:xfrm>
          <a:prstGeom prst="rect">
            <a:avLst/>
          </a:prstGeom>
          <a:noFill/>
          <a:ln w="12700">
            <a:noFill/>
          </a:ln>
        </p:spPr>
        <p:txBody>
          <a:bodyPr wrap="square">
            <a:noAutofit/>
          </a:bodyPr>
          <a:lstStyle/>
          <a:p>
            <a:pPr algn="l">
              <a:spcBef>
                <a:spcPct val="50000"/>
              </a:spcBef>
            </a:pPr>
            <a:r>
              <a:rPr lang="en-US" altLang="zh-CN" sz="3200" b="1">
                <a:latin typeface="Times New Roman" panose="02020603050405020304" pitchFamily="18" charset="0"/>
              </a:rPr>
              <a:t>dN</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/dt = r</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N </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 (1-N</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a:t>
            </a:r>
            <a:r>
              <a:rPr lang="en-US" altLang="zh-CN"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N</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   (1)</a:t>
            </a:r>
          </a:p>
          <a:p>
            <a:pPr algn="ctr">
              <a:spcBef>
                <a:spcPct val="50000"/>
              </a:spcBef>
            </a:pPr>
            <a:r>
              <a:rPr lang="en-US" altLang="zh-CN" sz="3200" b="1">
                <a:latin typeface="Times New Roman" panose="02020603050405020304" pitchFamily="18" charset="0"/>
              </a:rPr>
              <a:t>dN</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/dt = r</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N </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 (1-N</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a:t>
            </a:r>
            <a:r>
              <a:rPr lang="en-US" altLang="zh-CN"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N</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  (2) </a:t>
            </a:r>
          </a:p>
          <a:p>
            <a:pPr algn="ctr">
              <a:spcBef>
                <a:spcPct val="50000"/>
              </a:spcBef>
            </a:pPr>
            <a:endParaRPr lang="en-US" altLang="zh-CN" sz="3200" b="1">
              <a:latin typeface="Times New Roman" panose="02020603050405020304" pitchFamily="18" charset="0"/>
            </a:endParaRPr>
          </a:p>
        </p:txBody>
      </p:sp>
      <p:pic>
        <p:nvPicPr>
          <p:cNvPr id="30723" name="Picture 3" descr="图6-12 副本"/>
          <p:cNvPicPr>
            <a:picLocks noChangeAspect="1"/>
          </p:cNvPicPr>
          <p:nvPr/>
        </p:nvPicPr>
        <p:blipFill>
          <a:blip r:embed="rId2"/>
          <a:srcRect l="4227" r="6006"/>
          <a:stretch>
            <a:fillRect/>
          </a:stretch>
        </p:blipFill>
        <p:spPr>
          <a:xfrm>
            <a:off x="648335" y="2781935"/>
            <a:ext cx="5447665" cy="3319145"/>
          </a:xfrm>
          <a:prstGeom prst="rect">
            <a:avLst/>
          </a:prstGeom>
          <a:noFill/>
          <a:ln w="9525">
            <a:noFill/>
          </a:ln>
        </p:spPr>
      </p:pic>
      <p:sp>
        <p:nvSpPr>
          <p:cNvPr id="30724" name="Text Box 4"/>
          <p:cNvSpPr txBox="1"/>
          <p:nvPr/>
        </p:nvSpPr>
        <p:spPr>
          <a:xfrm>
            <a:off x="7022465" y="609600"/>
            <a:ext cx="5020945" cy="5783580"/>
          </a:xfrm>
          <a:prstGeom prst="rect">
            <a:avLst/>
          </a:prstGeom>
          <a:noFill/>
          <a:ln w="12700">
            <a:noFill/>
          </a:ln>
        </p:spPr>
        <p:txBody>
          <a:bodyPr>
            <a:noAutofit/>
          </a:bodyPr>
          <a:lstStyle/>
          <a:p>
            <a:pPr>
              <a:spcBef>
                <a:spcPct val="50000"/>
              </a:spcBef>
            </a:pPr>
            <a:r>
              <a:rPr lang="zh-CN" altLang="en-US" sz="3200" b="1">
                <a:latin typeface="Times New Roman" panose="02020603050405020304" pitchFamily="18" charset="0"/>
              </a:rPr>
              <a:t>（</a:t>
            </a:r>
            <a:r>
              <a:rPr lang="en-US" altLang="zh-CN" sz="3200" b="1">
                <a:latin typeface="Times New Roman" panose="02020603050405020304" pitchFamily="18" charset="0"/>
              </a:rPr>
              <a:t>a</a:t>
            </a:r>
            <a:r>
              <a:rPr lang="zh-CN" altLang="en-US" sz="3200" b="1">
                <a:latin typeface="Times New Roman" panose="02020603050405020304" pitchFamily="18" charset="0"/>
              </a:rPr>
              <a:t>）和（</a:t>
            </a:r>
            <a:r>
              <a:rPr lang="en-US" altLang="zh-CN" sz="3200" b="1">
                <a:latin typeface="Times New Roman" panose="02020603050405020304" pitchFamily="18" charset="0"/>
              </a:rPr>
              <a:t>b</a:t>
            </a:r>
            <a:r>
              <a:rPr lang="zh-CN" altLang="en-US" sz="3200" b="1">
                <a:latin typeface="Times New Roman" panose="02020603050405020304" pitchFamily="18" charset="0"/>
              </a:rPr>
              <a:t>）分别表示物种（</a:t>
            </a:r>
            <a:r>
              <a:rPr lang="en-US" altLang="zh-CN" sz="3200" b="1">
                <a:latin typeface="Times New Roman" panose="02020603050405020304" pitchFamily="18" charset="0"/>
              </a:rPr>
              <a:t>1</a:t>
            </a:r>
            <a:r>
              <a:rPr lang="zh-CN" altLang="en-US" sz="3200" b="1">
                <a:latin typeface="Times New Roman" panose="02020603050405020304" pitchFamily="18" charset="0"/>
              </a:rPr>
              <a:t>）和（</a:t>
            </a:r>
            <a:r>
              <a:rPr lang="en-US" altLang="zh-CN" sz="3200" b="1">
                <a:latin typeface="Times New Roman" panose="02020603050405020304" pitchFamily="18" charset="0"/>
              </a:rPr>
              <a:t>2</a:t>
            </a:r>
            <a:r>
              <a:rPr lang="zh-CN" altLang="en-US" sz="3200" b="1">
                <a:latin typeface="Times New Roman" panose="02020603050405020304" pitchFamily="18" charset="0"/>
              </a:rPr>
              <a:t>）处于平衡状态即</a:t>
            </a:r>
            <a:r>
              <a:rPr lang="en-US" altLang="zh-CN" sz="3200" b="1">
                <a:latin typeface="Times New Roman" panose="02020603050405020304" pitchFamily="18" charset="0"/>
              </a:rPr>
              <a:t>dN</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/dt =0</a:t>
            </a:r>
            <a:r>
              <a:rPr lang="zh-CN" altLang="en-US" sz="3200" b="1">
                <a:latin typeface="Times New Roman" panose="02020603050405020304" pitchFamily="18" charset="0"/>
              </a:rPr>
              <a:t>、</a:t>
            </a:r>
            <a:r>
              <a:rPr lang="en-US" altLang="zh-CN" sz="3200" b="1">
                <a:latin typeface="Times New Roman" panose="02020603050405020304" pitchFamily="18" charset="0"/>
              </a:rPr>
              <a:t>dN</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/dt=0</a:t>
            </a:r>
            <a:r>
              <a:rPr lang="zh-CN" altLang="en-US" sz="3200" b="1">
                <a:latin typeface="Times New Roman" panose="02020603050405020304" pitchFamily="18" charset="0"/>
              </a:rPr>
              <a:t>时的条件。在（</a:t>
            </a:r>
            <a:r>
              <a:rPr lang="en-US" altLang="zh-CN" sz="3200" b="1">
                <a:latin typeface="Times New Roman" panose="02020603050405020304" pitchFamily="18" charset="0"/>
              </a:rPr>
              <a:t>a</a:t>
            </a:r>
            <a:r>
              <a:rPr lang="zh-CN" altLang="en-US" sz="3200" b="1">
                <a:latin typeface="Times New Roman" panose="02020603050405020304" pitchFamily="18" charset="0"/>
              </a:rPr>
              <a:t>）图中，最极端的两种平衡是（</a:t>
            </a:r>
            <a:r>
              <a:rPr lang="en-US" altLang="zh-CN" sz="3200" b="1">
                <a:latin typeface="Times New Roman" panose="02020603050405020304" pitchFamily="18" charset="0"/>
              </a:rPr>
              <a:t>1</a:t>
            </a:r>
            <a:r>
              <a:rPr lang="zh-CN" altLang="en-US" sz="3200" b="1">
                <a:latin typeface="Times New Roman" panose="02020603050405020304" pitchFamily="18" charset="0"/>
              </a:rPr>
              <a:t>）全部空间被</a:t>
            </a:r>
            <a:r>
              <a:rPr lang="en-US" altLang="zh-CN" sz="3200" b="1">
                <a:latin typeface="Times New Roman" panose="02020603050405020304" pitchFamily="18" charset="0"/>
              </a:rPr>
              <a:t>N</a:t>
            </a:r>
            <a:r>
              <a:rPr lang="en-US" altLang="zh-CN" sz="3200" b="1" baseline="-30000">
                <a:latin typeface="Times New Roman" panose="02020603050405020304" pitchFamily="18" charset="0"/>
              </a:rPr>
              <a:t>1</a:t>
            </a:r>
            <a:r>
              <a:rPr lang="zh-CN" altLang="en-US" sz="3200" b="1">
                <a:latin typeface="Times New Roman" panose="02020603050405020304" pitchFamily="18" charset="0"/>
              </a:rPr>
              <a:t>所占，即</a:t>
            </a:r>
            <a:r>
              <a:rPr lang="en-US" altLang="zh-CN" sz="3200" b="1">
                <a:solidFill>
                  <a:srgbClr val="FF0000"/>
                </a:solidFill>
                <a:latin typeface="Times New Roman" panose="02020603050405020304" pitchFamily="18" charset="0"/>
              </a:rPr>
              <a:t>N</a:t>
            </a:r>
            <a:r>
              <a:rPr lang="en-US" altLang="zh-CN" sz="3200" b="1" baseline="-30000">
                <a:solidFill>
                  <a:srgbClr val="FF0000"/>
                </a:solidFill>
                <a:latin typeface="Times New Roman" panose="02020603050405020304" pitchFamily="18" charset="0"/>
              </a:rPr>
              <a:t>1</a:t>
            </a:r>
            <a:r>
              <a:rPr lang="en-US" altLang="zh-CN" sz="3200" b="1">
                <a:solidFill>
                  <a:srgbClr val="FF0000"/>
                </a:solidFill>
                <a:latin typeface="Times New Roman" panose="02020603050405020304" pitchFamily="18" charset="0"/>
              </a:rPr>
              <a:t>=K</a:t>
            </a:r>
            <a:r>
              <a:rPr lang="en-US" altLang="zh-CN" sz="3200" b="1" baseline="-30000">
                <a:solidFill>
                  <a:srgbClr val="FF0000"/>
                </a:solidFill>
                <a:latin typeface="Times New Roman" panose="02020603050405020304" pitchFamily="18" charset="0"/>
              </a:rPr>
              <a:t>1</a:t>
            </a:r>
            <a:r>
              <a:rPr lang="zh-CN" altLang="en-US" sz="3200" b="1">
                <a:solidFill>
                  <a:srgbClr val="FF0000"/>
                </a:solidFill>
                <a:latin typeface="Times New Roman" panose="02020603050405020304" pitchFamily="18" charset="0"/>
              </a:rPr>
              <a:t>，</a:t>
            </a:r>
            <a:r>
              <a:rPr lang="en-US" altLang="zh-CN" sz="3200" b="1">
                <a:solidFill>
                  <a:srgbClr val="FF0000"/>
                </a:solidFill>
                <a:latin typeface="Times New Roman" panose="02020603050405020304" pitchFamily="18" charset="0"/>
              </a:rPr>
              <a:t>N</a:t>
            </a:r>
            <a:r>
              <a:rPr lang="en-US" altLang="zh-CN" sz="3200" b="1" baseline="-30000">
                <a:solidFill>
                  <a:srgbClr val="FF0000"/>
                </a:solidFill>
                <a:latin typeface="Times New Roman" panose="02020603050405020304" pitchFamily="18" charset="0"/>
              </a:rPr>
              <a:t>2</a:t>
            </a:r>
            <a:r>
              <a:rPr lang="en-US" altLang="zh-CN" sz="3200" b="1">
                <a:solidFill>
                  <a:srgbClr val="FF0000"/>
                </a:solidFill>
                <a:latin typeface="Times New Roman" panose="02020603050405020304" pitchFamily="18" charset="0"/>
              </a:rPr>
              <a:t>=0</a:t>
            </a:r>
            <a:r>
              <a:rPr lang="zh-CN" altLang="en-US" sz="3200" b="1">
                <a:latin typeface="Times New Roman" panose="02020603050405020304" pitchFamily="18" charset="0"/>
              </a:rPr>
              <a:t>；（</a:t>
            </a:r>
            <a:r>
              <a:rPr lang="en-US" altLang="zh-CN" sz="3200" b="1">
                <a:latin typeface="Times New Roman" panose="02020603050405020304" pitchFamily="18" charset="0"/>
              </a:rPr>
              <a:t>2</a:t>
            </a:r>
            <a:r>
              <a:rPr lang="zh-CN" altLang="en-US" sz="3200" b="1">
                <a:latin typeface="Times New Roman" panose="02020603050405020304" pitchFamily="18" charset="0"/>
              </a:rPr>
              <a:t>） 全部空间被</a:t>
            </a:r>
            <a:r>
              <a:rPr lang="en-US" altLang="zh-CN" sz="3200" b="1">
                <a:latin typeface="Times New Roman" panose="02020603050405020304" pitchFamily="18" charset="0"/>
              </a:rPr>
              <a:t>N</a:t>
            </a:r>
            <a:r>
              <a:rPr lang="en-US" altLang="zh-CN" sz="3200" b="1" baseline="-30000">
                <a:latin typeface="Times New Roman" panose="02020603050405020304" pitchFamily="18" charset="0"/>
              </a:rPr>
              <a:t>2</a:t>
            </a:r>
            <a:r>
              <a:rPr lang="zh-CN" altLang="en-US" sz="3200" b="1">
                <a:latin typeface="Times New Roman" panose="02020603050405020304" pitchFamily="18" charset="0"/>
              </a:rPr>
              <a:t>所占，即</a:t>
            </a:r>
            <a:r>
              <a:rPr lang="en-US" altLang="zh-CN" sz="3200" b="1">
                <a:solidFill>
                  <a:srgbClr val="FF0000"/>
                </a:solidFill>
                <a:latin typeface="Times New Roman" panose="02020603050405020304" pitchFamily="18" charset="0"/>
              </a:rPr>
              <a:t>N</a:t>
            </a:r>
            <a:r>
              <a:rPr lang="en-US" altLang="zh-CN" sz="3200" b="1" baseline="-30000">
                <a:solidFill>
                  <a:srgbClr val="FF0000"/>
                </a:solidFill>
                <a:latin typeface="Times New Roman" panose="02020603050405020304" pitchFamily="18" charset="0"/>
              </a:rPr>
              <a:t>1</a:t>
            </a:r>
            <a:r>
              <a:rPr lang="en-US" altLang="zh-CN" sz="3200" b="1">
                <a:solidFill>
                  <a:srgbClr val="FF0000"/>
                </a:solidFill>
                <a:latin typeface="Times New Roman" panose="02020603050405020304" pitchFamily="18" charset="0"/>
              </a:rPr>
              <a:t>=0</a:t>
            </a:r>
            <a:r>
              <a:rPr lang="zh-CN" altLang="en-US" sz="3200" b="1">
                <a:solidFill>
                  <a:srgbClr val="FF0000"/>
                </a:solidFill>
                <a:latin typeface="Times New Roman" panose="02020603050405020304" pitchFamily="18" charset="0"/>
              </a:rPr>
              <a:t>，</a:t>
            </a:r>
            <a:r>
              <a:rPr lang="en-US" altLang="zh-CN" sz="3200" b="1">
                <a:solidFill>
                  <a:srgbClr val="FF0000"/>
                </a:solidFill>
                <a:latin typeface="Times New Roman" panose="02020603050405020304" pitchFamily="18" charset="0"/>
              </a:rPr>
              <a:t>N</a:t>
            </a:r>
            <a:r>
              <a:rPr lang="en-US" altLang="zh-CN" sz="3200" b="1" baseline="-30000">
                <a:solidFill>
                  <a:srgbClr val="FF0000"/>
                </a:solidFill>
                <a:latin typeface="Times New Roman" panose="02020603050405020304" pitchFamily="18" charset="0"/>
              </a:rPr>
              <a:t>2</a:t>
            </a:r>
            <a:r>
              <a:rPr lang="en-US" altLang="zh-CN" sz="3200" b="1">
                <a:solidFill>
                  <a:srgbClr val="FF0000"/>
                </a:solidFill>
                <a:latin typeface="Times New Roman" panose="02020603050405020304" pitchFamily="18" charset="0"/>
              </a:rPr>
              <a:t>=K</a:t>
            </a:r>
            <a:r>
              <a:rPr lang="en-US" altLang="zh-CN" sz="3200" b="1" baseline="-30000">
                <a:solidFill>
                  <a:srgbClr val="FF0000"/>
                </a:solidFill>
                <a:latin typeface="Times New Roman" panose="02020603050405020304" pitchFamily="18" charset="0"/>
              </a:rPr>
              <a:t>1</a:t>
            </a:r>
            <a:r>
              <a:rPr lang="en-US" altLang="zh-CN" sz="3200" b="1">
                <a:solidFill>
                  <a:srgbClr val="FF0000"/>
                </a:solidFill>
                <a:latin typeface="Times New Roman" panose="02020603050405020304" pitchFamily="18" charset="0"/>
              </a:rPr>
              <a:t>/</a:t>
            </a:r>
            <a:r>
              <a:rPr lang="en-US" altLang="zh-CN" sz="3200" b="1">
                <a:solidFill>
                  <a:srgbClr val="FF0000"/>
                </a:solidFill>
                <a:latin typeface="宋体" panose="02010600030101010101" pitchFamily="2" charset="-122"/>
                <a:sym typeface="Symbol" panose="05050102010706020507" pitchFamily="18" charset="2"/>
              </a:rPr>
              <a:t></a:t>
            </a:r>
            <a:r>
              <a:rPr lang="zh-CN" altLang="en-US" sz="3200" b="1">
                <a:latin typeface="Times New Roman" panose="02020603050405020304" pitchFamily="18" charset="0"/>
              </a:rPr>
              <a:t>。连接这两个端点，即代表了所有的平衡条件。 </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图6-13 副本"/>
          <p:cNvPicPr>
            <a:picLocks noChangeAspect="1"/>
          </p:cNvPicPr>
          <p:nvPr/>
        </p:nvPicPr>
        <p:blipFill>
          <a:blip r:embed="rId2"/>
          <a:stretch>
            <a:fillRect/>
          </a:stretch>
        </p:blipFill>
        <p:spPr>
          <a:xfrm>
            <a:off x="1071245" y="533400"/>
            <a:ext cx="6684645" cy="6064250"/>
          </a:xfrm>
          <a:prstGeom prst="rect">
            <a:avLst/>
          </a:prstGeom>
          <a:noFill/>
          <a:ln w="9525">
            <a:noFill/>
          </a:ln>
        </p:spPr>
      </p:pic>
      <p:sp>
        <p:nvSpPr>
          <p:cNvPr id="31747" name="Text Box 3"/>
          <p:cNvSpPr txBox="1"/>
          <p:nvPr/>
        </p:nvSpPr>
        <p:spPr>
          <a:xfrm>
            <a:off x="8382000" y="228600"/>
            <a:ext cx="3690620" cy="5432425"/>
          </a:xfrm>
          <a:prstGeom prst="rect">
            <a:avLst/>
          </a:prstGeom>
          <a:noFill/>
          <a:ln w="12700">
            <a:noFill/>
          </a:ln>
        </p:spPr>
        <p:txBody>
          <a:bodyPr>
            <a:noAutofit/>
          </a:bodyPr>
          <a:lstStyle/>
          <a:p>
            <a:pPr algn="just">
              <a:spcBef>
                <a:spcPct val="50000"/>
              </a:spcBef>
            </a:pPr>
            <a:r>
              <a:rPr lang="en-US" altLang="zh-CN" sz="3200" b="1">
                <a:latin typeface="Times New Roman" panose="02020603050405020304" pitchFamily="18" charset="0"/>
              </a:rPr>
              <a:t>Lotka Volterra</a:t>
            </a:r>
            <a:r>
              <a:rPr lang="zh-CN" altLang="en-US" sz="3200" b="1">
                <a:latin typeface="Times New Roman" panose="02020603050405020304" pitchFamily="18" charset="0"/>
              </a:rPr>
              <a:t>模型的行为所产生的四种可能结局</a:t>
            </a:r>
          </a:p>
          <a:p>
            <a:pPr>
              <a:spcBef>
                <a:spcPct val="50000"/>
              </a:spcBef>
            </a:pPr>
            <a:r>
              <a:rPr lang="en-US" altLang="zh-CN" sz="3200" b="1">
                <a:latin typeface="Times New Roman" panose="02020603050405020304" pitchFamily="18" charset="0"/>
              </a:rPr>
              <a:t>(a) N</a:t>
            </a:r>
            <a:r>
              <a:rPr lang="en-US" altLang="zh-CN" sz="3200" b="1" baseline="-30000">
                <a:latin typeface="Times New Roman" panose="02020603050405020304" pitchFamily="18" charset="0"/>
              </a:rPr>
              <a:t>1</a:t>
            </a:r>
            <a:r>
              <a:rPr lang="zh-CN" altLang="en-US" sz="3200" b="1">
                <a:latin typeface="Times New Roman" panose="02020603050405020304" pitchFamily="18" charset="0"/>
              </a:rPr>
              <a:t>取胜， </a:t>
            </a:r>
            <a:r>
              <a:rPr lang="en-US" altLang="zh-CN" sz="3200" b="1">
                <a:latin typeface="Times New Roman" panose="02020603050405020304" pitchFamily="18" charset="0"/>
              </a:rPr>
              <a:t>N</a:t>
            </a:r>
            <a:r>
              <a:rPr lang="en-US" altLang="zh-CN" sz="3200" b="1" baseline="-30000">
                <a:latin typeface="Times New Roman" panose="02020603050405020304" pitchFamily="18" charset="0"/>
              </a:rPr>
              <a:t>2</a:t>
            </a:r>
            <a:r>
              <a:rPr lang="zh-CN" altLang="en-US" sz="3200" b="1">
                <a:latin typeface="Times New Roman" panose="02020603050405020304" pitchFamily="18" charset="0"/>
              </a:rPr>
              <a:t>灭亡  </a:t>
            </a:r>
            <a:r>
              <a:rPr lang="en-US" altLang="zh-CN" sz="3200" b="1">
                <a:latin typeface="Times New Roman" panose="02020603050405020304" pitchFamily="18" charset="0"/>
              </a:rPr>
              <a:t>(b) N</a:t>
            </a:r>
            <a:r>
              <a:rPr lang="en-US" altLang="zh-CN" sz="3200" b="1" baseline="-30000">
                <a:latin typeface="Times New Roman" panose="02020603050405020304" pitchFamily="18" charset="0"/>
              </a:rPr>
              <a:t>2</a:t>
            </a:r>
            <a:r>
              <a:rPr lang="zh-CN" altLang="en-US" sz="3200" b="1">
                <a:latin typeface="Times New Roman" panose="02020603050405020304" pitchFamily="18" charset="0"/>
              </a:rPr>
              <a:t>取胜， </a:t>
            </a:r>
            <a:r>
              <a:rPr lang="en-US" altLang="zh-CN" sz="3200" b="1">
                <a:latin typeface="Times New Roman" panose="02020603050405020304" pitchFamily="18" charset="0"/>
              </a:rPr>
              <a:t>N</a:t>
            </a:r>
            <a:r>
              <a:rPr lang="en-US" altLang="zh-CN" sz="3200" b="1" baseline="-30000">
                <a:latin typeface="Times New Roman" panose="02020603050405020304" pitchFamily="18" charset="0"/>
              </a:rPr>
              <a:t>1</a:t>
            </a:r>
            <a:r>
              <a:rPr lang="zh-CN" altLang="en-US" sz="3200" b="1">
                <a:latin typeface="Times New Roman" panose="02020603050405020304" pitchFamily="18" charset="0"/>
              </a:rPr>
              <a:t>灭亡 </a:t>
            </a:r>
            <a:r>
              <a:rPr lang="en-US" altLang="zh-CN" sz="3200" b="1">
                <a:latin typeface="Times New Roman" panose="02020603050405020304" pitchFamily="18" charset="0"/>
              </a:rPr>
              <a:t>(c) </a:t>
            </a:r>
            <a:r>
              <a:rPr lang="zh-CN" altLang="en-US" sz="3200" b="1">
                <a:latin typeface="Times New Roman" panose="02020603050405020304" pitchFamily="18" charset="0"/>
              </a:rPr>
              <a:t>不稳定共存（两种都有可能取胜） </a:t>
            </a:r>
            <a:r>
              <a:rPr lang="en-US" altLang="zh-CN" sz="3200" b="1">
                <a:latin typeface="Times New Roman" panose="02020603050405020304" pitchFamily="18" charset="0"/>
              </a:rPr>
              <a:t>(d)</a:t>
            </a:r>
            <a:r>
              <a:rPr lang="zh-CN" altLang="en-US" sz="3200" b="1">
                <a:latin typeface="Times New Roman" panose="02020603050405020304" pitchFamily="18" charset="0"/>
              </a:rPr>
              <a:t>稳定的平衡（两种共存） </a:t>
            </a:r>
          </a:p>
        </p:txBody>
      </p:sp>
      <p:sp>
        <p:nvSpPr>
          <p:cNvPr id="31748" name="Text Box 4"/>
          <p:cNvSpPr txBox="1"/>
          <p:nvPr/>
        </p:nvSpPr>
        <p:spPr>
          <a:xfrm>
            <a:off x="1823085" y="228600"/>
            <a:ext cx="2743200" cy="398780"/>
          </a:xfrm>
          <a:prstGeom prst="rect">
            <a:avLst/>
          </a:prstGeom>
          <a:noFill/>
          <a:ln w="12700">
            <a:noFill/>
          </a:ln>
        </p:spPr>
        <p:txBody>
          <a:bodyPr>
            <a:spAutoFit/>
          </a:bodyPr>
          <a:lstStyle/>
          <a:p>
            <a:pPr>
              <a:spcBef>
                <a:spcPct val="50000"/>
              </a:spcBef>
            </a:pP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1 </a:t>
            </a:r>
            <a:r>
              <a:rPr lang="en-US" altLang="zh-CN" sz="2000" b="1">
                <a:solidFill>
                  <a:srgbClr val="FF3300"/>
                </a:solidFill>
                <a:latin typeface="宋体" panose="02010600030101010101" pitchFamily="2" charset="-122"/>
              </a:rPr>
              <a:t>&gt;</a:t>
            </a:r>
            <a:r>
              <a:rPr lang="en-US" altLang="zh-CN" sz="2000" b="1">
                <a:solidFill>
                  <a:srgbClr val="FF3300"/>
                </a:solidFill>
                <a:latin typeface="Times New Roman" panose="02020603050405020304" pitchFamily="18" charset="0"/>
              </a:rPr>
              <a:t> K</a:t>
            </a:r>
            <a:r>
              <a:rPr lang="en-US" altLang="zh-CN" sz="2000" b="1" baseline="-30000">
                <a:solidFill>
                  <a:srgbClr val="FF3300"/>
                </a:solidFill>
                <a:latin typeface="Times New Roman" panose="02020603050405020304" pitchFamily="18" charset="0"/>
              </a:rPr>
              <a:t>2</a:t>
            </a:r>
            <a:r>
              <a:rPr lang="en-US" altLang="zh-CN" sz="2000" b="1">
                <a:solidFill>
                  <a:srgbClr val="FF3300"/>
                </a:solidFill>
                <a:latin typeface="Times New Roman" panose="02020603050405020304" pitchFamily="18" charset="0"/>
              </a:rPr>
              <a:t>/</a:t>
            </a:r>
            <a:r>
              <a:rPr lang="en-US" altLang="zh-CN" sz="2000" b="1">
                <a:solidFill>
                  <a:srgbClr val="FF3300"/>
                </a:solidFill>
                <a:latin typeface="宋体" panose="02010600030101010101" pitchFamily="2" charset="-122"/>
                <a:sym typeface="Symbol" panose="05050102010706020507" pitchFamily="18" charset="2"/>
              </a:rPr>
              <a:t></a:t>
            </a:r>
            <a:r>
              <a:rPr lang="zh-CN" altLang="en-US" sz="2000" b="1">
                <a:solidFill>
                  <a:srgbClr val="FF3300"/>
                </a:solidFill>
                <a:latin typeface="宋体" panose="02010600030101010101" pitchFamily="2" charset="-122"/>
              </a:rPr>
              <a:t>，</a:t>
            </a:r>
            <a:r>
              <a:rPr lang="zh-CN" altLang="en-US" sz="2000" b="1">
                <a:solidFill>
                  <a:srgbClr val="FF3300"/>
                </a:solidFill>
                <a:latin typeface="Times New Roman" panose="02020603050405020304" pitchFamily="18" charset="0"/>
              </a:rPr>
              <a:t> </a:t>
            </a: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2 </a:t>
            </a:r>
            <a:r>
              <a:rPr lang="en-US" altLang="zh-CN" sz="2000" b="1">
                <a:solidFill>
                  <a:srgbClr val="FF3300"/>
                </a:solidFill>
                <a:latin typeface="宋体" panose="02010600030101010101" pitchFamily="2" charset="-122"/>
              </a:rPr>
              <a:t>&lt;</a:t>
            </a: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1</a:t>
            </a:r>
            <a:r>
              <a:rPr lang="en-US" altLang="zh-CN" sz="2000" b="1">
                <a:solidFill>
                  <a:srgbClr val="FF3300"/>
                </a:solidFill>
                <a:latin typeface="Times New Roman" panose="02020603050405020304" pitchFamily="18" charset="0"/>
              </a:rPr>
              <a:t>/</a:t>
            </a:r>
            <a:r>
              <a:rPr lang="en-US" altLang="zh-CN" sz="2000" b="1">
                <a:solidFill>
                  <a:srgbClr val="FF3300"/>
                </a:solidFill>
                <a:latin typeface="宋体" panose="02010600030101010101" pitchFamily="2" charset="-122"/>
                <a:sym typeface="Symbol" panose="05050102010706020507" pitchFamily="18" charset="2"/>
              </a:rPr>
              <a:t></a:t>
            </a:r>
            <a:r>
              <a:rPr lang="en-US" altLang="zh-CN" sz="2000" b="1">
                <a:latin typeface="Times New Roman" panose="02020603050405020304" pitchFamily="18" charset="0"/>
              </a:rPr>
              <a:t> </a:t>
            </a:r>
          </a:p>
        </p:txBody>
      </p:sp>
      <p:sp>
        <p:nvSpPr>
          <p:cNvPr id="31749" name="Text Box 6"/>
          <p:cNvSpPr txBox="1"/>
          <p:nvPr/>
        </p:nvSpPr>
        <p:spPr>
          <a:xfrm>
            <a:off x="5334000" y="152400"/>
            <a:ext cx="3048000" cy="398780"/>
          </a:xfrm>
          <a:prstGeom prst="rect">
            <a:avLst/>
          </a:prstGeom>
          <a:noFill/>
          <a:ln w="12700">
            <a:noFill/>
          </a:ln>
        </p:spPr>
        <p:txBody>
          <a:bodyPr>
            <a:spAutoFit/>
          </a:bodyPr>
          <a:lstStyle/>
          <a:p>
            <a:pPr>
              <a:spcBef>
                <a:spcPct val="50000"/>
              </a:spcBef>
            </a:pP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1 </a:t>
            </a:r>
            <a:r>
              <a:rPr lang="en-US" altLang="zh-CN" sz="2000" b="1">
                <a:solidFill>
                  <a:srgbClr val="FF3300"/>
                </a:solidFill>
                <a:latin typeface="宋体" panose="02010600030101010101" pitchFamily="2" charset="-122"/>
              </a:rPr>
              <a:t>&lt;</a:t>
            </a:r>
            <a:r>
              <a:rPr lang="en-US" altLang="zh-CN" sz="2000" b="1">
                <a:solidFill>
                  <a:srgbClr val="FF3300"/>
                </a:solidFill>
                <a:latin typeface="Times New Roman" panose="02020603050405020304" pitchFamily="18" charset="0"/>
              </a:rPr>
              <a:t> K</a:t>
            </a:r>
            <a:r>
              <a:rPr lang="en-US" altLang="zh-CN" sz="2000" b="1" baseline="-30000">
                <a:solidFill>
                  <a:srgbClr val="FF3300"/>
                </a:solidFill>
                <a:latin typeface="Times New Roman" panose="02020603050405020304" pitchFamily="18" charset="0"/>
              </a:rPr>
              <a:t>2</a:t>
            </a:r>
            <a:r>
              <a:rPr lang="en-US" altLang="zh-CN" sz="2000" b="1">
                <a:solidFill>
                  <a:srgbClr val="FF3300"/>
                </a:solidFill>
                <a:latin typeface="Times New Roman" panose="02020603050405020304" pitchFamily="18" charset="0"/>
              </a:rPr>
              <a:t>/</a:t>
            </a:r>
            <a:r>
              <a:rPr lang="en-US" altLang="zh-CN" sz="2000" b="1">
                <a:solidFill>
                  <a:srgbClr val="FF3300"/>
                </a:solidFill>
                <a:latin typeface="宋体" panose="02010600030101010101" pitchFamily="2" charset="-122"/>
                <a:sym typeface="Symbol" panose="05050102010706020507" pitchFamily="18" charset="2"/>
              </a:rPr>
              <a:t></a:t>
            </a:r>
            <a:r>
              <a:rPr lang="zh-CN" altLang="en-US" sz="2000" b="1">
                <a:solidFill>
                  <a:srgbClr val="FF3300"/>
                </a:solidFill>
                <a:latin typeface="宋体" panose="02010600030101010101" pitchFamily="2" charset="-122"/>
              </a:rPr>
              <a:t>，</a:t>
            </a:r>
            <a:r>
              <a:rPr lang="zh-CN" altLang="en-US" sz="2000" b="1">
                <a:solidFill>
                  <a:srgbClr val="FF3300"/>
                </a:solidFill>
                <a:latin typeface="Times New Roman" panose="02020603050405020304" pitchFamily="18" charset="0"/>
              </a:rPr>
              <a:t> </a:t>
            </a: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2 </a:t>
            </a:r>
            <a:r>
              <a:rPr lang="en-US" altLang="zh-CN" sz="2000" b="1">
                <a:solidFill>
                  <a:srgbClr val="FF3300"/>
                </a:solidFill>
                <a:latin typeface="宋体" panose="02010600030101010101" pitchFamily="2" charset="-122"/>
              </a:rPr>
              <a:t>&gt;</a:t>
            </a:r>
            <a:r>
              <a:rPr lang="en-US" altLang="zh-CN" sz="2000" b="1" baseline="-30000">
                <a:solidFill>
                  <a:srgbClr val="FF3300"/>
                </a:solidFill>
                <a:latin typeface="Times New Roman" panose="02020603050405020304" pitchFamily="18" charset="0"/>
              </a:rPr>
              <a:t> </a:t>
            </a: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1</a:t>
            </a:r>
            <a:r>
              <a:rPr lang="en-US" altLang="zh-CN" sz="2000" b="1">
                <a:solidFill>
                  <a:srgbClr val="FF3300"/>
                </a:solidFill>
                <a:latin typeface="Times New Roman" panose="02020603050405020304" pitchFamily="18" charset="0"/>
              </a:rPr>
              <a:t>/</a:t>
            </a:r>
            <a:r>
              <a:rPr lang="en-US" altLang="zh-CN" sz="2000" b="1">
                <a:solidFill>
                  <a:srgbClr val="FF3300"/>
                </a:solidFill>
                <a:latin typeface="宋体" panose="02010600030101010101" pitchFamily="2" charset="-122"/>
                <a:sym typeface="Symbol" panose="05050102010706020507" pitchFamily="18" charset="2"/>
              </a:rPr>
              <a:t></a:t>
            </a:r>
          </a:p>
        </p:txBody>
      </p:sp>
      <p:sp>
        <p:nvSpPr>
          <p:cNvPr id="31750" name="Text Box 7"/>
          <p:cNvSpPr txBox="1"/>
          <p:nvPr/>
        </p:nvSpPr>
        <p:spPr>
          <a:xfrm>
            <a:off x="1884680" y="6459220"/>
            <a:ext cx="2971800" cy="398780"/>
          </a:xfrm>
          <a:prstGeom prst="rect">
            <a:avLst/>
          </a:prstGeom>
          <a:noFill/>
          <a:ln w="12700">
            <a:noFill/>
          </a:ln>
        </p:spPr>
        <p:txBody>
          <a:bodyPr>
            <a:spAutoFit/>
          </a:bodyPr>
          <a:lstStyle/>
          <a:p>
            <a:pPr>
              <a:spcBef>
                <a:spcPct val="50000"/>
              </a:spcBef>
            </a:pP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1 </a:t>
            </a:r>
            <a:r>
              <a:rPr lang="en-US" altLang="zh-CN" sz="2000" b="1">
                <a:solidFill>
                  <a:srgbClr val="FF3300"/>
                </a:solidFill>
                <a:latin typeface="宋体" panose="02010600030101010101" pitchFamily="2" charset="-122"/>
              </a:rPr>
              <a:t>&gt;</a:t>
            </a:r>
            <a:r>
              <a:rPr lang="en-US" altLang="zh-CN" sz="2000" b="1">
                <a:solidFill>
                  <a:srgbClr val="FF3300"/>
                </a:solidFill>
                <a:latin typeface="Times New Roman" panose="02020603050405020304" pitchFamily="18" charset="0"/>
              </a:rPr>
              <a:t> K</a:t>
            </a:r>
            <a:r>
              <a:rPr lang="en-US" altLang="zh-CN" sz="2000" b="1" baseline="-30000">
                <a:solidFill>
                  <a:srgbClr val="FF3300"/>
                </a:solidFill>
                <a:latin typeface="Times New Roman" panose="02020603050405020304" pitchFamily="18" charset="0"/>
              </a:rPr>
              <a:t>2</a:t>
            </a:r>
            <a:r>
              <a:rPr lang="en-US" altLang="zh-CN" sz="2000" b="1">
                <a:solidFill>
                  <a:srgbClr val="FF3300"/>
                </a:solidFill>
                <a:latin typeface="Times New Roman" panose="02020603050405020304" pitchFamily="18" charset="0"/>
              </a:rPr>
              <a:t>/</a:t>
            </a:r>
            <a:r>
              <a:rPr lang="en-US" altLang="zh-CN" sz="2000" b="1">
                <a:solidFill>
                  <a:srgbClr val="FF3300"/>
                </a:solidFill>
                <a:latin typeface="宋体" panose="02010600030101010101" pitchFamily="2" charset="-122"/>
                <a:sym typeface="Symbol" panose="05050102010706020507" pitchFamily="18" charset="2"/>
              </a:rPr>
              <a:t></a:t>
            </a:r>
            <a:r>
              <a:rPr lang="zh-CN" altLang="en-US" sz="2000" b="1">
                <a:solidFill>
                  <a:srgbClr val="FF3300"/>
                </a:solidFill>
                <a:latin typeface="宋体" panose="02010600030101010101" pitchFamily="2" charset="-122"/>
              </a:rPr>
              <a:t>，</a:t>
            </a:r>
            <a:r>
              <a:rPr lang="zh-CN" altLang="en-US" sz="2000" b="1">
                <a:solidFill>
                  <a:srgbClr val="FF3300"/>
                </a:solidFill>
                <a:latin typeface="Times New Roman" panose="02020603050405020304" pitchFamily="18" charset="0"/>
              </a:rPr>
              <a:t> </a:t>
            </a: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2 </a:t>
            </a:r>
            <a:r>
              <a:rPr lang="en-US" altLang="zh-CN" sz="2000" b="1">
                <a:solidFill>
                  <a:srgbClr val="FF3300"/>
                </a:solidFill>
                <a:latin typeface="宋体" panose="02010600030101010101" pitchFamily="2" charset="-122"/>
              </a:rPr>
              <a:t>&gt;</a:t>
            </a: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1</a:t>
            </a:r>
            <a:r>
              <a:rPr lang="en-US" altLang="zh-CN" sz="2000" b="1">
                <a:solidFill>
                  <a:srgbClr val="FF3300"/>
                </a:solidFill>
                <a:latin typeface="Times New Roman" panose="02020603050405020304" pitchFamily="18" charset="0"/>
              </a:rPr>
              <a:t>/</a:t>
            </a:r>
            <a:r>
              <a:rPr lang="en-US" altLang="zh-CN" sz="2000" b="1">
                <a:solidFill>
                  <a:srgbClr val="FF3300"/>
                </a:solidFill>
                <a:latin typeface="宋体" panose="02010600030101010101" pitchFamily="2" charset="-122"/>
                <a:sym typeface="Symbol" panose="05050102010706020507" pitchFamily="18" charset="2"/>
              </a:rPr>
              <a:t></a:t>
            </a:r>
          </a:p>
        </p:txBody>
      </p:sp>
      <p:sp>
        <p:nvSpPr>
          <p:cNvPr id="31751" name="Text Box 8"/>
          <p:cNvSpPr txBox="1"/>
          <p:nvPr/>
        </p:nvSpPr>
        <p:spPr>
          <a:xfrm>
            <a:off x="5334000" y="6459220"/>
            <a:ext cx="2743200" cy="379095"/>
          </a:xfrm>
          <a:prstGeom prst="rect">
            <a:avLst/>
          </a:prstGeom>
          <a:noFill/>
          <a:ln w="12700">
            <a:noFill/>
          </a:ln>
        </p:spPr>
        <p:txBody>
          <a:bodyPr>
            <a:noAutofit/>
          </a:bodyPr>
          <a:lstStyle/>
          <a:p>
            <a:pPr>
              <a:spcBef>
                <a:spcPct val="50000"/>
              </a:spcBef>
            </a:pP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1 </a:t>
            </a:r>
            <a:r>
              <a:rPr lang="en-US" altLang="zh-CN" sz="2000" b="1">
                <a:solidFill>
                  <a:srgbClr val="FF3300"/>
                </a:solidFill>
                <a:latin typeface="宋体" panose="02010600030101010101" pitchFamily="2" charset="-122"/>
              </a:rPr>
              <a:t>&lt;</a:t>
            </a:r>
            <a:r>
              <a:rPr lang="en-US" altLang="zh-CN" sz="2000" b="1">
                <a:solidFill>
                  <a:srgbClr val="FF3300"/>
                </a:solidFill>
                <a:latin typeface="Times New Roman" panose="02020603050405020304" pitchFamily="18" charset="0"/>
              </a:rPr>
              <a:t> K</a:t>
            </a:r>
            <a:r>
              <a:rPr lang="en-US" altLang="zh-CN" sz="2000" b="1" baseline="-30000">
                <a:solidFill>
                  <a:srgbClr val="FF3300"/>
                </a:solidFill>
                <a:latin typeface="Times New Roman" panose="02020603050405020304" pitchFamily="18" charset="0"/>
              </a:rPr>
              <a:t>2</a:t>
            </a:r>
            <a:r>
              <a:rPr lang="en-US" altLang="zh-CN" sz="2000" b="1">
                <a:solidFill>
                  <a:srgbClr val="FF3300"/>
                </a:solidFill>
                <a:latin typeface="Times New Roman" panose="02020603050405020304" pitchFamily="18" charset="0"/>
              </a:rPr>
              <a:t>/</a:t>
            </a:r>
            <a:r>
              <a:rPr lang="en-US" altLang="zh-CN" sz="2000" b="1">
                <a:solidFill>
                  <a:srgbClr val="FF3300"/>
                </a:solidFill>
                <a:latin typeface="宋体" panose="02010600030101010101" pitchFamily="2" charset="-122"/>
                <a:sym typeface="Symbol" panose="05050102010706020507" pitchFamily="18" charset="2"/>
              </a:rPr>
              <a:t></a:t>
            </a:r>
            <a:r>
              <a:rPr lang="zh-CN" altLang="en-US" sz="2000" b="1">
                <a:solidFill>
                  <a:srgbClr val="FF3300"/>
                </a:solidFill>
                <a:latin typeface="宋体" panose="02010600030101010101" pitchFamily="2" charset="-122"/>
              </a:rPr>
              <a:t>，</a:t>
            </a:r>
            <a:r>
              <a:rPr lang="zh-CN" altLang="en-US" sz="2000" b="1">
                <a:solidFill>
                  <a:srgbClr val="FF3300"/>
                </a:solidFill>
                <a:latin typeface="Times New Roman" panose="02020603050405020304" pitchFamily="18" charset="0"/>
              </a:rPr>
              <a:t> </a:t>
            </a: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2 </a:t>
            </a:r>
            <a:r>
              <a:rPr lang="en-US" altLang="zh-CN" sz="2000" b="1">
                <a:solidFill>
                  <a:srgbClr val="FF3300"/>
                </a:solidFill>
                <a:latin typeface="宋体" panose="02010600030101010101" pitchFamily="2" charset="-122"/>
              </a:rPr>
              <a:t>&lt; </a:t>
            </a:r>
            <a:r>
              <a:rPr lang="en-US" altLang="zh-CN" sz="2000" b="1">
                <a:solidFill>
                  <a:srgbClr val="FF3300"/>
                </a:solidFill>
                <a:latin typeface="Times New Roman" panose="02020603050405020304" pitchFamily="18" charset="0"/>
              </a:rPr>
              <a:t>K</a:t>
            </a:r>
            <a:r>
              <a:rPr lang="en-US" altLang="zh-CN" sz="2000" b="1" baseline="-30000">
                <a:solidFill>
                  <a:srgbClr val="FF3300"/>
                </a:solidFill>
                <a:latin typeface="Times New Roman" panose="02020603050405020304" pitchFamily="18" charset="0"/>
              </a:rPr>
              <a:t>1</a:t>
            </a:r>
            <a:r>
              <a:rPr lang="en-US" altLang="zh-CN" sz="2000" b="1">
                <a:solidFill>
                  <a:srgbClr val="FF3300"/>
                </a:solidFill>
                <a:latin typeface="Times New Roman" panose="02020603050405020304" pitchFamily="18" charset="0"/>
              </a:rPr>
              <a:t>/</a:t>
            </a:r>
            <a:r>
              <a:rPr lang="en-US" altLang="zh-CN" sz="2000" b="1">
                <a:solidFill>
                  <a:srgbClr val="FF3300"/>
                </a:solidFill>
                <a:latin typeface="宋体" panose="02010600030101010101" pitchFamily="2" charset="-122"/>
                <a:sym typeface="Symbol" panose="05050102010706020507" pitchFamily="18" charset="2"/>
              </a:rPr>
              <a:t></a:t>
            </a:r>
          </a:p>
          <a:p>
            <a:pPr>
              <a:spcBef>
                <a:spcPct val="50000"/>
              </a:spcBef>
            </a:pPr>
            <a:endParaRPr lang="en-US" altLang="zh-CN">
              <a:latin typeface="Times New Roman" panose="02020603050405020304" pitchFamily="18" charset="0"/>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p:nvPr/>
        </p:nvSpPr>
        <p:spPr>
          <a:xfrm>
            <a:off x="2057400" y="457200"/>
            <a:ext cx="9456420" cy="5019040"/>
          </a:xfrm>
          <a:prstGeom prst="rect">
            <a:avLst/>
          </a:prstGeom>
          <a:noFill/>
          <a:ln w="12700">
            <a:noFill/>
          </a:ln>
        </p:spPr>
        <p:txBody>
          <a:bodyPr>
            <a:noAutofit/>
          </a:bodyPr>
          <a:lstStyle/>
          <a:p>
            <a:pPr algn="l">
              <a:spcBef>
                <a:spcPct val="50000"/>
              </a:spcBef>
            </a:pPr>
            <a:r>
              <a:rPr lang="en-US" altLang="zh-CN" sz="3200" b="1">
                <a:latin typeface="Times New Roman" panose="02020603050405020304" pitchFamily="18" charset="0"/>
              </a:rPr>
              <a:t>(</a:t>
            </a:r>
            <a:r>
              <a:rPr lang="en-US" altLang="zh-CN" sz="3200">
                <a:latin typeface="Times New Roman" panose="02020603050405020304" pitchFamily="18" charset="0"/>
              </a:rPr>
              <a:t>a</a:t>
            </a:r>
            <a:r>
              <a:rPr lang="en-US" altLang="zh-CN" sz="3200" b="1">
                <a:latin typeface="Times New Roman" panose="02020603050405020304" pitchFamily="18" charset="0"/>
              </a:rPr>
              <a:t>)</a:t>
            </a:r>
            <a:r>
              <a:rPr lang="zh-CN" altLang="en-US" sz="3200" b="1">
                <a:latin typeface="Times New Roman" panose="02020603050405020304" pitchFamily="18" charset="0"/>
              </a:rPr>
              <a:t>当</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1 </a:t>
            </a:r>
            <a:r>
              <a:rPr lang="en-US" altLang="zh-CN" sz="3200" b="1">
                <a:latin typeface="Times New Roman" panose="02020603050405020304" pitchFamily="18" charset="0"/>
              </a:rPr>
              <a:t>&gt; K</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a:t>
            </a:r>
            <a:r>
              <a:rPr lang="en-US" altLang="zh-CN" sz="3200" b="1">
                <a:latin typeface="宋体" panose="02010600030101010101" pitchFamily="2" charset="-122"/>
                <a:sym typeface="Symbol" panose="05050102010706020507" pitchFamily="18" charset="2"/>
              </a:rPr>
              <a:t></a:t>
            </a:r>
            <a:r>
              <a:rPr lang="zh-CN" altLang="en-US" sz="3200" b="1">
                <a:latin typeface="Times New Roman" panose="02020603050405020304" pitchFamily="18" charset="0"/>
              </a:rPr>
              <a:t>，</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2 </a:t>
            </a:r>
            <a:r>
              <a:rPr lang="en-US" altLang="zh-CN" sz="3200" b="1">
                <a:latin typeface="Times New Roman" panose="02020603050405020304" pitchFamily="18" charset="0"/>
              </a:rPr>
              <a:t>&lt;K</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a:t>
            </a:r>
            <a:r>
              <a:rPr lang="en-US" altLang="zh-CN" sz="3200" b="1">
                <a:latin typeface="宋体" panose="02010600030101010101" pitchFamily="2" charset="-122"/>
                <a:sym typeface="Symbol" panose="05050102010706020507" pitchFamily="18" charset="2"/>
              </a:rPr>
              <a:t></a:t>
            </a:r>
            <a:r>
              <a:rPr lang="en-US" altLang="zh-CN" sz="3200" b="1" baseline="-30000">
                <a:latin typeface="Times New Roman" panose="02020603050405020304" pitchFamily="18" charset="0"/>
              </a:rPr>
              <a:t> </a:t>
            </a:r>
            <a:r>
              <a:rPr lang="zh-CN" altLang="en-US" sz="3200" b="1">
                <a:latin typeface="Times New Roman" panose="02020603050405020304" pitchFamily="18" charset="0"/>
              </a:rPr>
              <a:t>时，</a:t>
            </a:r>
            <a:r>
              <a:rPr lang="en-US" altLang="zh-CN" sz="3200" b="1">
                <a:latin typeface="Times New Roman" panose="02020603050405020304" pitchFamily="18" charset="0"/>
              </a:rPr>
              <a:t>N</a:t>
            </a:r>
            <a:r>
              <a:rPr lang="en-US" altLang="zh-CN" sz="3200" b="1" baseline="-30000">
                <a:latin typeface="Times New Roman" panose="02020603050405020304" pitchFamily="18" charset="0"/>
              </a:rPr>
              <a:t>1</a:t>
            </a:r>
            <a:r>
              <a:rPr lang="zh-CN" altLang="en-US" sz="3200" b="1">
                <a:latin typeface="Times New Roman" panose="02020603050405020304" pitchFamily="18" charset="0"/>
              </a:rPr>
              <a:t>取胜，</a:t>
            </a:r>
            <a:r>
              <a:rPr lang="en-US" altLang="zh-CN" sz="3200" b="1">
                <a:latin typeface="Times New Roman" panose="02020603050405020304" pitchFamily="18" charset="0"/>
              </a:rPr>
              <a:t>N</a:t>
            </a:r>
            <a:r>
              <a:rPr lang="en-US" altLang="zh-CN" sz="3200" b="1" baseline="-30000">
                <a:latin typeface="Times New Roman" panose="02020603050405020304" pitchFamily="18" charset="0"/>
              </a:rPr>
              <a:t>2</a:t>
            </a:r>
            <a:r>
              <a:rPr lang="zh-CN" altLang="en-US" sz="3200" b="1">
                <a:latin typeface="Times New Roman" panose="02020603050405020304" pitchFamily="18" charset="0"/>
              </a:rPr>
              <a:t>被排除；</a:t>
            </a:r>
          </a:p>
          <a:p>
            <a:pPr algn="l">
              <a:spcBef>
                <a:spcPct val="50000"/>
              </a:spcBef>
            </a:pPr>
            <a:r>
              <a:rPr lang="en-US" altLang="zh-CN" sz="3200" b="1">
                <a:latin typeface="Times New Roman" panose="02020603050405020304" pitchFamily="18" charset="0"/>
              </a:rPr>
              <a:t>(b)</a:t>
            </a:r>
            <a:r>
              <a:rPr lang="zh-CN" altLang="en-US" sz="3200" b="1">
                <a:latin typeface="Times New Roman" panose="02020603050405020304" pitchFamily="18" charset="0"/>
              </a:rPr>
              <a:t>当</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2 </a:t>
            </a:r>
            <a:r>
              <a:rPr lang="en-US" altLang="zh-CN" sz="3200" b="1">
                <a:latin typeface="Times New Roman" panose="02020603050405020304" pitchFamily="18" charset="0"/>
              </a:rPr>
              <a:t>&gt;K</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a:t>
            </a:r>
            <a:r>
              <a:rPr lang="en-US" altLang="zh-CN" sz="3200" b="1">
                <a:latin typeface="宋体" panose="02010600030101010101" pitchFamily="2" charset="-122"/>
                <a:sym typeface="Symbol" panose="05050102010706020507" pitchFamily="18" charset="2"/>
              </a:rPr>
              <a:t></a:t>
            </a:r>
            <a:r>
              <a:rPr lang="zh-CN" altLang="en-US" sz="3200" b="1">
                <a:latin typeface="Times New Roman" panose="02020603050405020304" pitchFamily="18" charset="0"/>
              </a:rPr>
              <a:t>，</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&lt; K</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a:t>
            </a:r>
            <a:r>
              <a:rPr lang="en-US" altLang="zh-CN" sz="3200" b="1">
                <a:latin typeface="宋体" panose="02010600030101010101" pitchFamily="2" charset="-122"/>
                <a:sym typeface="Symbol" panose="05050102010706020507" pitchFamily="18" charset="2"/>
              </a:rPr>
              <a:t></a:t>
            </a:r>
            <a:r>
              <a:rPr lang="zh-CN" altLang="en-US" sz="3200" b="1">
                <a:latin typeface="Times New Roman" panose="02020603050405020304" pitchFamily="18" charset="0"/>
              </a:rPr>
              <a:t>时情况与上相反，</a:t>
            </a:r>
            <a:r>
              <a:rPr lang="en-US" altLang="zh-CN" sz="3200" b="1">
                <a:latin typeface="Times New Roman" panose="02020603050405020304" pitchFamily="18" charset="0"/>
              </a:rPr>
              <a:t>N</a:t>
            </a:r>
            <a:r>
              <a:rPr lang="en-US" altLang="zh-CN" sz="3200" b="1" baseline="-30000">
                <a:latin typeface="Times New Roman" panose="02020603050405020304" pitchFamily="18" charset="0"/>
              </a:rPr>
              <a:t>2</a:t>
            </a:r>
            <a:r>
              <a:rPr lang="zh-CN" altLang="en-US" sz="3200" b="1">
                <a:latin typeface="Times New Roman" panose="02020603050405020304" pitchFamily="18" charset="0"/>
              </a:rPr>
              <a:t>取</a:t>
            </a:r>
          </a:p>
          <a:p>
            <a:pPr algn="l">
              <a:spcBef>
                <a:spcPct val="50000"/>
              </a:spcBef>
            </a:pPr>
            <a:r>
              <a:rPr lang="zh-CN" altLang="en-US" sz="3200" b="1">
                <a:latin typeface="Times New Roman" panose="02020603050405020304" pitchFamily="18" charset="0"/>
              </a:rPr>
              <a:t> </a:t>
            </a:r>
            <a:r>
              <a:rPr lang="en-US" altLang="zh-CN" sz="3200" b="1">
                <a:latin typeface="Times New Roman" panose="02020603050405020304" pitchFamily="18" charset="0"/>
              </a:rPr>
              <a:t>    </a:t>
            </a:r>
            <a:r>
              <a:rPr lang="zh-CN" altLang="en-US" sz="3200" b="1">
                <a:latin typeface="Times New Roman" panose="02020603050405020304" pitchFamily="18" charset="0"/>
              </a:rPr>
              <a:t>胜，</a:t>
            </a:r>
            <a:r>
              <a:rPr lang="en-US" altLang="zh-CN" sz="3200" b="1">
                <a:latin typeface="Times New Roman" panose="02020603050405020304" pitchFamily="18" charset="0"/>
              </a:rPr>
              <a:t>N</a:t>
            </a:r>
            <a:r>
              <a:rPr lang="en-US" altLang="zh-CN" sz="3200" b="1" baseline="-30000">
                <a:latin typeface="Times New Roman" panose="02020603050405020304" pitchFamily="18" charset="0"/>
              </a:rPr>
              <a:t>1</a:t>
            </a:r>
            <a:r>
              <a:rPr lang="zh-CN" altLang="en-US" sz="3200" b="1">
                <a:latin typeface="Times New Roman" panose="02020603050405020304" pitchFamily="18" charset="0"/>
              </a:rPr>
              <a:t>被排除；</a:t>
            </a:r>
          </a:p>
          <a:p>
            <a:pPr algn="l">
              <a:spcBef>
                <a:spcPct val="50000"/>
              </a:spcBef>
            </a:pPr>
            <a:r>
              <a:rPr lang="en-US" altLang="zh-CN" sz="3200" b="1">
                <a:latin typeface="Times New Roman" panose="02020603050405020304" pitchFamily="18" charset="0"/>
              </a:rPr>
              <a:t>(c)</a:t>
            </a:r>
            <a:r>
              <a:rPr lang="zh-CN" altLang="en-US" sz="3200" b="1">
                <a:latin typeface="Times New Roman" panose="02020603050405020304" pitchFamily="18" charset="0"/>
              </a:rPr>
              <a:t>当</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1 </a:t>
            </a:r>
            <a:r>
              <a:rPr lang="en-US" altLang="zh-CN" sz="3200" b="1">
                <a:latin typeface="Times New Roman" panose="02020603050405020304" pitchFamily="18" charset="0"/>
              </a:rPr>
              <a:t>&gt; K</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a:t>
            </a:r>
            <a:r>
              <a:rPr lang="en-US" altLang="zh-CN" sz="3200" b="1">
                <a:latin typeface="宋体" panose="02010600030101010101" pitchFamily="2" charset="-122"/>
                <a:sym typeface="Symbol" panose="05050102010706020507" pitchFamily="18" charset="2"/>
              </a:rPr>
              <a:t></a:t>
            </a:r>
            <a:r>
              <a:rPr lang="zh-CN" altLang="en-US" sz="3200" b="1">
                <a:latin typeface="Times New Roman" panose="02020603050405020304" pitchFamily="18" charset="0"/>
              </a:rPr>
              <a:t>，</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2 </a:t>
            </a:r>
            <a:r>
              <a:rPr lang="en-US" altLang="zh-CN" sz="3200" b="1">
                <a:latin typeface="Times New Roman" panose="02020603050405020304" pitchFamily="18" charset="0"/>
              </a:rPr>
              <a:t>&gt;K</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a:t>
            </a:r>
            <a:r>
              <a:rPr lang="en-US" altLang="zh-CN" sz="3200" b="1">
                <a:latin typeface="宋体" panose="02010600030101010101" pitchFamily="2" charset="-122"/>
                <a:sym typeface="Symbol" panose="05050102010706020507" pitchFamily="18" charset="2"/>
              </a:rPr>
              <a:t></a:t>
            </a:r>
            <a:r>
              <a:rPr lang="en-US" altLang="zh-CN" sz="3200" b="1" baseline="-30000">
                <a:latin typeface="Times New Roman" panose="02020603050405020304" pitchFamily="18" charset="0"/>
              </a:rPr>
              <a:t> </a:t>
            </a:r>
            <a:r>
              <a:rPr lang="zh-CN" altLang="en-US" sz="3200" b="1">
                <a:latin typeface="Times New Roman" panose="02020603050405020304" pitchFamily="18" charset="0"/>
              </a:rPr>
              <a:t>时，两条对角线相交，出</a:t>
            </a:r>
          </a:p>
          <a:p>
            <a:pPr algn="l">
              <a:spcBef>
                <a:spcPct val="50000"/>
              </a:spcBef>
            </a:pPr>
            <a:r>
              <a:rPr lang="zh-CN" altLang="en-US" sz="3200" b="1">
                <a:latin typeface="Times New Roman" panose="02020603050405020304" pitchFamily="18" charset="0"/>
              </a:rPr>
              <a:t> </a:t>
            </a:r>
            <a:r>
              <a:rPr lang="en-US" altLang="zh-CN" sz="3200" b="1">
                <a:latin typeface="Times New Roman" panose="02020603050405020304" pitchFamily="18" charset="0"/>
              </a:rPr>
              <a:t>   </a:t>
            </a:r>
            <a:r>
              <a:rPr lang="zh-CN" altLang="en-US" sz="3200" b="1">
                <a:latin typeface="Times New Roman" panose="02020603050405020304" pitchFamily="18" charset="0"/>
              </a:rPr>
              <a:t>现平衡点，但平衡是不稳定的；</a:t>
            </a:r>
          </a:p>
          <a:p>
            <a:pPr algn="l">
              <a:spcBef>
                <a:spcPct val="50000"/>
              </a:spcBef>
            </a:pPr>
            <a:r>
              <a:rPr lang="en-US" altLang="zh-CN" sz="3200" b="1">
                <a:latin typeface="Times New Roman" panose="02020603050405020304" pitchFamily="18" charset="0"/>
              </a:rPr>
              <a:t>(d)</a:t>
            </a:r>
            <a:r>
              <a:rPr lang="en-US" altLang="zh-CN" sz="3200" b="1">
                <a:latin typeface="Times New Roman" panose="02020603050405020304" pitchFamily="18" charset="0"/>
                <a:cs typeface="Times New Roman" panose="02020603050405020304" pitchFamily="18" charset="0"/>
              </a:rPr>
              <a:t> </a:t>
            </a:r>
            <a:r>
              <a:rPr lang="zh-CN" altLang="en-US" sz="3200" b="1">
                <a:latin typeface="Times New Roman" panose="02020603050405020304" pitchFamily="18" charset="0"/>
              </a:rPr>
              <a:t>当</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&lt; K</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a:t>
            </a:r>
            <a:r>
              <a:rPr lang="en-US" altLang="zh-CN" sz="3200" b="1">
                <a:latin typeface="宋体" panose="02010600030101010101" pitchFamily="2" charset="-122"/>
                <a:sym typeface="Symbol" panose="05050102010706020507" pitchFamily="18" charset="2"/>
              </a:rPr>
              <a:t></a:t>
            </a:r>
            <a:r>
              <a:rPr lang="zh-CN" altLang="en-US" sz="3200" b="1">
                <a:latin typeface="Times New Roman" panose="02020603050405020304" pitchFamily="18" charset="0"/>
              </a:rPr>
              <a:t>，</a:t>
            </a:r>
            <a:r>
              <a:rPr lang="en-US" altLang="zh-CN" sz="3200" b="1">
                <a:latin typeface="Times New Roman" panose="02020603050405020304" pitchFamily="18" charset="0"/>
              </a:rPr>
              <a:t>K</a:t>
            </a:r>
            <a:r>
              <a:rPr lang="en-US" altLang="zh-CN" sz="3200" b="1" baseline="-30000">
                <a:latin typeface="Times New Roman" panose="02020603050405020304" pitchFamily="18" charset="0"/>
              </a:rPr>
              <a:t>2 </a:t>
            </a:r>
            <a:r>
              <a:rPr lang="en-US" altLang="zh-CN" sz="3200" b="1">
                <a:latin typeface="Times New Roman" panose="02020603050405020304" pitchFamily="18" charset="0"/>
              </a:rPr>
              <a:t>&lt;K</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a:t>
            </a:r>
            <a:r>
              <a:rPr lang="en-US" altLang="zh-CN" sz="3200" b="1">
                <a:latin typeface="宋体" panose="02010600030101010101" pitchFamily="2" charset="-122"/>
                <a:sym typeface="Symbol" panose="05050102010706020507" pitchFamily="18" charset="2"/>
              </a:rPr>
              <a:t></a:t>
            </a:r>
            <a:r>
              <a:rPr lang="en-US" altLang="zh-CN" sz="3200" b="1" baseline="-30000">
                <a:latin typeface="Times New Roman" panose="02020603050405020304" pitchFamily="18" charset="0"/>
              </a:rPr>
              <a:t> </a:t>
            </a:r>
            <a:r>
              <a:rPr lang="zh-CN" altLang="en-US" sz="3200" b="1">
                <a:latin typeface="Times New Roman" panose="02020603050405020304" pitchFamily="18" charset="0"/>
              </a:rPr>
              <a:t>时，两条对角线相交，出</a:t>
            </a:r>
            <a:r>
              <a:rPr lang="en-US" altLang="zh-CN" sz="3200" b="1">
                <a:latin typeface="Times New Roman" panose="02020603050405020304" pitchFamily="18" charset="0"/>
              </a:rPr>
              <a:t> </a:t>
            </a:r>
          </a:p>
          <a:p>
            <a:pPr algn="l">
              <a:spcBef>
                <a:spcPct val="50000"/>
              </a:spcBef>
            </a:pPr>
            <a:r>
              <a:rPr lang="en-US" altLang="zh-CN" sz="3200" b="1">
                <a:latin typeface="Times New Roman" panose="02020603050405020304" pitchFamily="18" charset="0"/>
              </a:rPr>
              <a:t>    </a:t>
            </a:r>
            <a:r>
              <a:rPr lang="zh-CN" altLang="en-US" sz="3200" b="1">
                <a:latin typeface="Times New Roman" panose="02020603050405020304" pitchFamily="18" charset="0"/>
              </a:rPr>
              <a:t>现平衡点，平衡点是稳定的。</a:t>
            </a:r>
          </a:p>
          <a:p>
            <a:pPr algn="ctr">
              <a:spcBef>
                <a:spcPct val="50000"/>
              </a:spcBef>
            </a:pPr>
            <a:endParaRPr lang="zh-CN" altLang="en-US" sz="3200" b="1">
              <a:latin typeface="Times New Roman" panose="02020603050405020304" pitchFamily="18" charset="0"/>
            </a:endParaRPr>
          </a:p>
          <a:p>
            <a:pPr>
              <a:spcBef>
                <a:spcPct val="50000"/>
              </a:spcBef>
            </a:pPr>
            <a:endParaRPr lang="en-US" altLang="zh-CN" sz="3200" b="1">
              <a:latin typeface="Times New Roman" panose="02020603050405020304" pitchFamily="18"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p:cNvSpPr txBox="1"/>
          <p:nvPr/>
        </p:nvSpPr>
        <p:spPr>
          <a:xfrm>
            <a:off x="2057400" y="457200"/>
            <a:ext cx="7924800" cy="368300"/>
          </a:xfrm>
          <a:prstGeom prst="rect">
            <a:avLst/>
          </a:prstGeom>
          <a:noFill/>
          <a:ln w="12700">
            <a:noFill/>
          </a:ln>
        </p:spPr>
        <p:txBody>
          <a:bodyPr>
            <a:spAutoFit/>
          </a:bodyPr>
          <a:lstStyle/>
          <a:p>
            <a:pPr>
              <a:spcBef>
                <a:spcPct val="50000"/>
              </a:spcBef>
            </a:pPr>
            <a:endParaRPr lang="zh-CN" altLang="zh-CN">
              <a:latin typeface="Times New Roman" panose="02020603050405020304" pitchFamily="18" charset="0"/>
            </a:endParaRPr>
          </a:p>
        </p:txBody>
      </p:sp>
      <p:graphicFrame>
        <p:nvGraphicFramePr>
          <p:cNvPr id="10242" name="Object 4"/>
          <p:cNvGraphicFramePr/>
          <p:nvPr/>
        </p:nvGraphicFramePr>
        <p:xfrm>
          <a:off x="2362200" y="685800"/>
          <a:ext cx="7353300" cy="5562600"/>
        </p:xfrm>
        <a:graphic>
          <a:graphicData uri="http://schemas.openxmlformats.org/presentationml/2006/ole">
            <mc:AlternateContent xmlns:mc="http://schemas.openxmlformats.org/markup-compatibility/2006">
              <mc:Choice xmlns:v="urn:schemas-microsoft-com:vml" Requires="v">
                <p:oleObj r:id="rId2" imgW="7353300" imgH="5562600" progId="Word.Document.8">
                  <p:embed/>
                </p:oleObj>
              </mc:Choice>
              <mc:Fallback>
                <p:oleObj r:id="rId2" imgW="7353300" imgH="5562600" progId="Word.Document.8">
                  <p:embed/>
                  <p:pic>
                    <p:nvPicPr>
                      <p:cNvPr id="10242" name="Object 4"/>
                      <p:cNvPicPr/>
                      <p:nvPr/>
                    </p:nvPicPr>
                    <p:blipFill>
                      <a:blip r:embed="rId3"/>
                      <a:stretch>
                        <a:fillRect/>
                      </a:stretch>
                    </p:blipFill>
                    <p:spPr>
                      <a:xfrm>
                        <a:off x="2362200" y="685800"/>
                        <a:ext cx="7353300" cy="5562600"/>
                      </a:xfrm>
                      <a:prstGeom prst="rect">
                        <a:avLst/>
                      </a:prstGeom>
                      <a:noFill/>
                      <a:ln w="38100">
                        <a:noFill/>
                        <a:miter/>
                      </a:ln>
                    </p:spPr>
                  </p:pic>
                </p:oleObj>
              </mc:Fallback>
            </mc:AlternateContent>
          </a:graphicData>
        </a:graphic>
      </p:graphicFrame>
      <p:sp>
        <p:nvSpPr>
          <p:cNvPr id="10244" name="Text Box 5"/>
          <p:cNvSpPr txBox="1"/>
          <p:nvPr/>
        </p:nvSpPr>
        <p:spPr>
          <a:xfrm>
            <a:off x="623570" y="359410"/>
            <a:ext cx="11108690" cy="2061210"/>
          </a:xfrm>
          <a:prstGeom prst="rect">
            <a:avLst/>
          </a:prstGeom>
          <a:noFill/>
          <a:ln w="12700">
            <a:noFill/>
          </a:ln>
        </p:spPr>
        <p:txBody>
          <a:bodyPr wrap="square">
            <a:spAutoFit/>
          </a:bodyPr>
          <a:lstStyle/>
          <a:p>
            <a:pPr>
              <a:spcBef>
                <a:spcPct val="50000"/>
              </a:spcBef>
            </a:pPr>
            <a:r>
              <a:rPr lang="en-US" altLang="zh-CN" sz="3200" b="1">
                <a:latin typeface="Times New Roman" panose="02020603050405020304" pitchFamily="18" charset="0"/>
              </a:rPr>
              <a:t>1/ K</a:t>
            </a:r>
            <a:r>
              <a:rPr lang="en-US" altLang="zh-CN" sz="3200" b="1" baseline="-30000">
                <a:latin typeface="Times New Roman" panose="02020603050405020304" pitchFamily="18" charset="0"/>
              </a:rPr>
              <a:t>1</a:t>
            </a:r>
            <a:r>
              <a:rPr lang="zh-CN" altLang="en-US" sz="3200" b="1">
                <a:latin typeface="Times New Roman" panose="02020603050405020304" pitchFamily="18" charset="0"/>
              </a:rPr>
              <a:t>和</a:t>
            </a:r>
            <a:r>
              <a:rPr lang="en-US" altLang="zh-CN" sz="3200" b="1">
                <a:latin typeface="Times New Roman" panose="02020603050405020304" pitchFamily="18" charset="0"/>
              </a:rPr>
              <a:t>1/ K</a:t>
            </a:r>
            <a:r>
              <a:rPr lang="en-US" altLang="zh-CN" sz="3200" b="1" baseline="-30000">
                <a:latin typeface="Times New Roman" panose="02020603050405020304" pitchFamily="18" charset="0"/>
              </a:rPr>
              <a:t>2</a:t>
            </a:r>
            <a:r>
              <a:rPr lang="zh-CN" altLang="en-US" sz="3200" b="1">
                <a:latin typeface="Times New Roman" panose="02020603050405020304" pitchFamily="18" charset="0"/>
              </a:rPr>
              <a:t>两个值，分别为种</a:t>
            </a:r>
            <a:r>
              <a:rPr lang="en-US" altLang="zh-CN" sz="3200" b="1">
                <a:latin typeface="Times New Roman" panose="02020603050405020304" pitchFamily="18" charset="0"/>
              </a:rPr>
              <a:t>1</a:t>
            </a:r>
            <a:r>
              <a:rPr lang="zh-CN" altLang="en-US" sz="3200" b="1">
                <a:latin typeface="Times New Roman" panose="02020603050405020304" pitchFamily="18" charset="0"/>
              </a:rPr>
              <a:t>和种</a:t>
            </a:r>
            <a:r>
              <a:rPr lang="en-US" altLang="zh-CN" sz="3200" b="1">
                <a:latin typeface="Times New Roman" panose="02020603050405020304" pitchFamily="18" charset="0"/>
              </a:rPr>
              <a:t>2</a:t>
            </a:r>
            <a:r>
              <a:rPr lang="zh-CN" altLang="en-US" sz="3200" b="1">
                <a:latin typeface="Times New Roman" panose="02020603050405020304" pitchFamily="18" charset="0"/>
              </a:rPr>
              <a:t>的种内竞争强度指标。</a:t>
            </a:r>
          </a:p>
          <a:p>
            <a:pPr>
              <a:spcBef>
                <a:spcPct val="50000"/>
              </a:spcBef>
            </a:pPr>
            <a:r>
              <a:rPr lang="zh-CN" altLang="en-US"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 K</a:t>
            </a:r>
            <a:r>
              <a:rPr lang="en-US" altLang="zh-CN" sz="3200" b="1" baseline="-30000">
                <a:latin typeface="Times New Roman" panose="02020603050405020304" pitchFamily="18" charset="0"/>
              </a:rPr>
              <a:t>2</a:t>
            </a:r>
            <a:r>
              <a:rPr lang="zh-CN" altLang="en-US" sz="3200" b="1">
                <a:latin typeface="Times New Roman" panose="02020603050405020304" pitchFamily="18" charset="0"/>
              </a:rPr>
              <a:t>：物种</a:t>
            </a:r>
            <a:r>
              <a:rPr lang="en-US" altLang="zh-CN" sz="3200" b="1">
                <a:latin typeface="Times New Roman" panose="02020603050405020304" pitchFamily="18" charset="0"/>
              </a:rPr>
              <a:t>1</a:t>
            </a:r>
            <a:r>
              <a:rPr lang="zh-CN" altLang="en-US" sz="3200" b="1">
                <a:latin typeface="Times New Roman" panose="02020603050405020304" pitchFamily="18" charset="0"/>
              </a:rPr>
              <a:t>对物种</a:t>
            </a:r>
            <a:r>
              <a:rPr lang="en-US" altLang="zh-CN" sz="3200" b="1">
                <a:latin typeface="Times New Roman" panose="02020603050405020304" pitchFamily="18" charset="0"/>
              </a:rPr>
              <a:t>2</a:t>
            </a:r>
            <a:r>
              <a:rPr lang="zh-CN" altLang="en-US" sz="3200" b="1">
                <a:latin typeface="Times New Roman" panose="02020603050405020304" pitchFamily="18" charset="0"/>
              </a:rPr>
              <a:t>的种间竞争强度。</a:t>
            </a:r>
          </a:p>
          <a:p>
            <a:pPr>
              <a:spcBef>
                <a:spcPct val="50000"/>
              </a:spcBef>
            </a:pPr>
            <a:r>
              <a:rPr lang="zh-CN" altLang="en-US"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 K</a:t>
            </a:r>
            <a:r>
              <a:rPr lang="en-US" altLang="zh-CN" sz="3200" b="1" baseline="-30000">
                <a:latin typeface="Times New Roman" panose="02020603050405020304" pitchFamily="18" charset="0"/>
              </a:rPr>
              <a:t>1</a:t>
            </a:r>
            <a:r>
              <a:rPr lang="zh-CN" altLang="en-US" sz="3200" b="1">
                <a:latin typeface="Times New Roman" panose="02020603050405020304" pitchFamily="18" charset="0"/>
              </a:rPr>
              <a:t>：物种</a:t>
            </a:r>
            <a:r>
              <a:rPr lang="en-US" altLang="zh-CN" sz="3200" b="1">
                <a:latin typeface="Times New Roman" panose="02020603050405020304" pitchFamily="18" charset="0"/>
              </a:rPr>
              <a:t>2</a:t>
            </a:r>
            <a:r>
              <a:rPr lang="zh-CN" altLang="en-US" sz="3200" b="1">
                <a:latin typeface="Times New Roman" panose="02020603050405020304" pitchFamily="18" charset="0"/>
              </a:rPr>
              <a:t>对物种</a:t>
            </a:r>
            <a:r>
              <a:rPr lang="en-US" altLang="zh-CN" sz="3200" b="1">
                <a:latin typeface="Times New Roman" panose="02020603050405020304" pitchFamily="18" charset="0"/>
              </a:rPr>
              <a:t>1</a:t>
            </a:r>
            <a:r>
              <a:rPr lang="zh-CN" altLang="en-US" sz="3200" b="1">
                <a:latin typeface="Times New Roman" panose="02020603050405020304" pitchFamily="18" charset="0"/>
              </a:rPr>
              <a:t>的种间竞争强度。</a:t>
            </a:r>
          </a:p>
        </p:txBody>
      </p:sp>
      <p:sp>
        <p:nvSpPr>
          <p:cNvPr id="10245" name="Text Box 6"/>
          <p:cNvSpPr txBox="1"/>
          <p:nvPr/>
        </p:nvSpPr>
        <p:spPr>
          <a:xfrm>
            <a:off x="1581150" y="2819400"/>
            <a:ext cx="6438900" cy="3264535"/>
          </a:xfrm>
          <a:prstGeom prst="rect">
            <a:avLst/>
          </a:prstGeom>
          <a:noFill/>
          <a:ln w="12700">
            <a:noFill/>
          </a:ln>
        </p:spPr>
        <p:txBody>
          <a:bodyPr>
            <a:noAutofit/>
          </a:bodyPr>
          <a:lstStyle/>
          <a:p>
            <a:pPr>
              <a:spcBef>
                <a:spcPct val="50000"/>
              </a:spcBef>
            </a:pPr>
            <a:r>
              <a:rPr lang="en-US" altLang="zh-CN" sz="3200" b="1">
                <a:latin typeface="Times New Roman" panose="02020603050405020304" pitchFamily="18" charset="0"/>
              </a:rPr>
              <a:t>(</a:t>
            </a:r>
            <a:r>
              <a:rPr lang="en-US" altLang="zh-CN" sz="3200">
                <a:latin typeface="Times New Roman" panose="02020603050405020304" pitchFamily="18" charset="0"/>
              </a:rPr>
              <a:t>a</a:t>
            </a:r>
            <a:r>
              <a:rPr lang="en-US" altLang="zh-CN" sz="3200" b="1">
                <a:latin typeface="Times New Roman" panose="02020603050405020304" pitchFamily="18" charset="0"/>
              </a:rPr>
              <a:t>)</a:t>
            </a:r>
            <a:r>
              <a:rPr lang="zh-CN" altLang="en-US" sz="3200" b="1">
                <a:latin typeface="Times New Roman" panose="02020603050405020304" pitchFamily="18" charset="0"/>
              </a:rPr>
              <a:t>当</a:t>
            </a:r>
            <a:r>
              <a:rPr lang="en-US" altLang="zh-CN" sz="3200" b="1">
                <a:latin typeface="Times New Roman" panose="02020603050405020304" pitchFamily="18" charset="0"/>
              </a:rPr>
              <a:t>1/K</a:t>
            </a:r>
            <a:r>
              <a:rPr lang="en-US" altLang="zh-CN" sz="3200" b="1" baseline="-30000">
                <a:latin typeface="Times New Roman" panose="02020603050405020304" pitchFamily="18" charset="0"/>
              </a:rPr>
              <a:t>1 </a:t>
            </a:r>
            <a:r>
              <a:rPr lang="en-US" altLang="zh-CN" sz="3200" b="1">
                <a:latin typeface="Times New Roman" panose="02020603050405020304" pitchFamily="18" charset="0"/>
              </a:rPr>
              <a:t>&lt;</a:t>
            </a:r>
            <a:r>
              <a:rPr lang="en-US" altLang="zh-CN" sz="3200" b="1" baseline="-30000">
                <a:latin typeface="Times New Roman" panose="02020603050405020304" pitchFamily="18" charset="0"/>
              </a:rPr>
              <a:t> </a:t>
            </a:r>
            <a:r>
              <a:rPr lang="en-US" altLang="zh-CN"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 /K</a:t>
            </a:r>
            <a:r>
              <a:rPr lang="en-US" altLang="zh-CN" sz="3200" b="1" baseline="-30000">
                <a:latin typeface="Times New Roman" panose="02020603050405020304" pitchFamily="18" charset="0"/>
              </a:rPr>
              <a:t>2</a:t>
            </a:r>
            <a:r>
              <a:rPr lang="zh-CN" altLang="en-US" sz="3200" b="1">
                <a:latin typeface="Times New Roman" panose="02020603050405020304" pitchFamily="18" charset="0"/>
              </a:rPr>
              <a:t>， </a:t>
            </a:r>
            <a:r>
              <a:rPr lang="en-US" altLang="zh-CN" sz="3200" b="1">
                <a:latin typeface="Times New Roman" panose="02020603050405020304" pitchFamily="18" charset="0"/>
              </a:rPr>
              <a:t>1/K</a:t>
            </a:r>
            <a:r>
              <a:rPr lang="en-US" altLang="zh-CN" sz="3200" b="1" baseline="-30000">
                <a:latin typeface="Times New Roman" panose="02020603050405020304" pitchFamily="18" charset="0"/>
              </a:rPr>
              <a:t>2 </a:t>
            </a:r>
            <a:r>
              <a:rPr lang="en-US" altLang="zh-CN" sz="3200" b="1">
                <a:latin typeface="Times New Roman" panose="02020603050405020304" pitchFamily="18" charset="0"/>
              </a:rPr>
              <a:t>&gt;</a:t>
            </a:r>
            <a:r>
              <a:rPr lang="en-US" altLang="zh-CN" sz="3200" b="1" baseline="-30000">
                <a:latin typeface="Times New Roman" panose="02020603050405020304" pitchFamily="18" charset="0"/>
              </a:rPr>
              <a:t> </a:t>
            </a:r>
            <a:r>
              <a:rPr lang="en-US" altLang="zh-CN"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 K</a:t>
            </a:r>
            <a:r>
              <a:rPr lang="en-US" altLang="zh-CN" sz="3200" b="1" baseline="-30000">
                <a:latin typeface="Times New Roman" panose="02020603050405020304" pitchFamily="18" charset="0"/>
              </a:rPr>
              <a:t>1</a:t>
            </a:r>
          </a:p>
          <a:p>
            <a:pPr>
              <a:spcBef>
                <a:spcPct val="50000"/>
              </a:spcBef>
            </a:pPr>
            <a:r>
              <a:rPr lang="en-US" altLang="zh-CN" sz="3200" b="1">
                <a:latin typeface="Times New Roman" panose="02020603050405020304" pitchFamily="18" charset="0"/>
              </a:rPr>
              <a:t>(</a:t>
            </a:r>
            <a:r>
              <a:rPr lang="en-US" altLang="zh-CN" sz="3200">
                <a:latin typeface="Times New Roman" panose="02020603050405020304" pitchFamily="18" charset="0"/>
              </a:rPr>
              <a:t>b</a:t>
            </a:r>
            <a:r>
              <a:rPr lang="en-US" altLang="zh-CN" sz="3200" b="1">
                <a:latin typeface="Times New Roman" panose="02020603050405020304" pitchFamily="18" charset="0"/>
              </a:rPr>
              <a:t>)</a:t>
            </a:r>
            <a:r>
              <a:rPr lang="zh-CN" altLang="en-US" sz="3200" b="1">
                <a:latin typeface="Times New Roman" panose="02020603050405020304" pitchFamily="18" charset="0"/>
              </a:rPr>
              <a:t>当</a:t>
            </a:r>
            <a:r>
              <a:rPr lang="en-US" altLang="zh-CN" sz="3200" b="1">
                <a:latin typeface="Times New Roman" panose="02020603050405020304" pitchFamily="18" charset="0"/>
              </a:rPr>
              <a:t>1/K</a:t>
            </a:r>
            <a:r>
              <a:rPr lang="en-US" altLang="zh-CN" sz="3200" b="1" baseline="-30000">
                <a:latin typeface="Times New Roman" panose="02020603050405020304" pitchFamily="18" charset="0"/>
              </a:rPr>
              <a:t>1 </a:t>
            </a:r>
            <a:r>
              <a:rPr lang="en-US" altLang="zh-CN" sz="3200" b="1">
                <a:latin typeface="Times New Roman" panose="02020603050405020304" pitchFamily="18" charset="0"/>
              </a:rPr>
              <a:t>&gt;</a:t>
            </a:r>
            <a:r>
              <a:rPr lang="en-US" altLang="zh-CN" sz="3200" b="1" baseline="-30000">
                <a:latin typeface="Times New Roman" panose="02020603050405020304" pitchFamily="18" charset="0"/>
              </a:rPr>
              <a:t> </a:t>
            </a:r>
            <a:r>
              <a:rPr lang="en-US" altLang="zh-CN"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 /K</a:t>
            </a:r>
            <a:r>
              <a:rPr lang="en-US" altLang="zh-CN" sz="3200" b="1" baseline="-30000">
                <a:latin typeface="Times New Roman" panose="02020603050405020304" pitchFamily="18" charset="0"/>
              </a:rPr>
              <a:t>2</a:t>
            </a:r>
            <a:r>
              <a:rPr lang="zh-CN" altLang="en-US" sz="3200" b="1">
                <a:latin typeface="Times New Roman" panose="02020603050405020304" pitchFamily="18" charset="0"/>
              </a:rPr>
              <a:t>， </a:t>
            </a:r>
            <a:r>
              <a:rPr lang="en-US" altLang="zh-CN" sz="3200" b="1">
                <a:latin typeface="Times New Roman" panose="02020603050405020304" pitchFamily="18" charset="0"/>
              </a:rPr>
              <a:t>1/K</a:t>
            </a:r>
            <a:r>
              <a:rPr lang="en-US" altLang="zh-CN" sz="3200" b="1" baseline="-30000">
                <a:latin typeface="Times New Roman" panose="02020603050405020304" pitchFamily="18" charset="0"/>
              </a:rPr>
              <a:t>2 </a:t>
            </a:r>
            <a:r>
              <a:rPr lang="en-US" altLang="zh-CN" sz="3200" b="1">
                <a:latin typeface="Times New Roman" panose="02020603050405020304" pitchFamily="18" charset="0"/>
              </a:rPr>
              <a:t>&lt;</a:t>
            </a:r>
            <a:r>
              <a:rPr lang="en-US" altLang="zh-CN" sz="3200" b="1" baseline="-30000">
                <a:latin typeface="Times New Roman" panose="02020603050405020304" pitchFamily="18" charset="0"/>
              </a:rPr>
              <a:t> </a:t>
            </a:r>
            <a:r>
              <a:rPr lang="en-US" altLang="zh-CN"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 K</a:t>
            </a:r>
            <a:r>
              <a:rPr lang="en-US" altLang="zh-CN" sz="3200" b="1" baseline="-30000">
                <a:latin typeface="Times New Roman" panose="02020603050405020304" pitchFamily="18" charset="0"/>
              </a:rPr>
              <a:t>1</a:t>
            </a:r>
          </a:p>
          <a:p>
            <a:pPr>
              <a:spcBef>
                <a:spcPct val="50000"/>
              </a:spcBef>
            </a:pPr>
            <a:r>
              <a:rPr lang="en-US" altLang="zh-CN" sz="3200" b="1">
                <a:latin typeface="Times New Roman" panose="02020603050405020304" pitchFamily="18" charset="0"/>
              </a:rPr>
              <a:t>(</a:t>
            </a:r>
            <a:r>
              <a:rPr lang="en-US" altLang="zh-CN" sz="3200">
                <a:latin typeface="Times New Roman" panose="02020603050405020304" pitchFamily="18" charset="0"/>
              </a:rPr>
              <a:t>c</a:t>
            </a:r>
            <a:r>
              <a:rPr lang="en-US" altLang="zh-CN" sz="3200" b="1">
                <a:latin typeface="Times New Roman" panose="02020603050405020304" pitchFamily="18" charset="0"/>
              </a:rPr>
              <a:t>)</a:t>
            </a:r>
            <a:r>
              <a:rPr lang="zh-CN" altLang="en-US" sz="3200" b="1">
                <a:latin typeface="Times New Roman" panose="02020603050405020304" pitchFamily="18" charset="0"/>
              </a:rPr>
              <a:t>当</a:t>
            </a:r>
            <a:r>
              <a:rPr lang="en-US" altLang="zh-CN" sz="3200" b="1">
                <a:latin typeface="Times New Roman" panose="02020603050405020304" pitchFamily="18" charset="0"/>
              </a:rPr>
              <a:t>1/K</a:t>
            </a:r>
            <a:r>
              <a:rPr lang="en-US" altLang="zh-CN" sz="3200" b="1" baseline="-30000">
                <a:latin typeface="Times New Roman" panose="02020603050405020304" pitchFamily="18" charset="0"/>
              </a:rPr>
              <a:t>1 </a:t>
            </a:r>
            <a:r>
              <a:rPr lang="en-US" altLang="zh-CN" sz="3200" b="1">
                <a:latin typeface="Times New Roman" panose="02020603050405020304" pitchFamily="18" charset="0"/>
              </a:rPr>
              <a:t>&lt;</a:t>
            </a:r>
            <a:r>
              <a:rPr lang="en-US" altLang="zh-CN" sz="3200" b="1" baseline="-30000">
                <a:latin typeface="Times New Roman" panose="02020603050405020304" pitchFamily="18" charset="0"/>
              </a:rPr>
              <a:t> </a:t>
            </a:r>
            <a:r>
              <a:rPr lang="en-US" altLang="zh-CN"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 /K</a:t>
            </a:r>
            <a:r>
              <a:rPr lang="en-US" altLang="zh-CN" sz="3200" b="1" baseline="-30000">
                <a:latin typeface="Times New Roman" panose="02020603050405020304" pitchFamily="18" charset="0"/>
              </a:rPr>
              <a:t>2</a:t>
            </a:r>
            <a:r>
              <a:rPr lang="zh-CN" altLang="en-US" sz="3200" b="1">
                <a:latin typeface="Times New Roman" panose="02020603050405020304" pitchFamily="18" charset="0"/>
              </a:rPr>
              <a:t>， </a:t>
            </a:r>
            <a:r>
              <a:rPr lang="en-US" altLang="zh-CN" sz="3200" b="1">
                <a:latin typeface="Times New Roman" panose="02020603050405020304" pitchFamily="18" charset="0"/>
              </a:rPr>
              <a:t>1/K</a:t>
            </a:r>
            <a:r>
              <a:rPr lang="en-US" altLang="zh-CN" sz="3200" b="1" baseline="-30000">
                <a:latin typeface="Times New Roman" panose="02020603050405020304" pitchFamily="18" charset="0"/>
              </a:rPr>
              <a:t>2 </a:t>
            </a:r>
            <a:r>
              <a:rPr lang="en-US" altLang="zh-CN" sz="3200" b="1">
                <a:latin typeface="Times New Roman" panose="02020603050405020304" pitchFamily="18" charset="0"/>
              </a:rPr>
              <a:t>&lt;</a:t>
            </a:r>
            <a:r>
              <a:rPr lang="en-US" altLang="zh-CN" sz="3200" b="1" baseline="-30000">
                <a:latin typeface="Times New Roman" panose="02020603050405020304" pitchFamily="18" charset="0"/>
              </a:rPr>
              <a:t> </a:t>
            </a:r>
            <a:r>
              <a:rPr lang="en-US" altLang="zh-CN"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 K</a:t>
            </a:r>
            <a:r>
              <a:rPr lang="en-US" altLang="zh-CN" sz="3200" b="1" baseline="-30000">
                <a:latin typeface="Times New Roman" panose="02020603050405020304" pitchFamily="18" charset="0"/>
              </a:rPr>
              <a:t>1</a:t>
            </a:r>
          </a:p>
          <a:p>
            <a:pPr>
              <a:spcBef>
                <a:spcPct val="50000"/>
              </a:spcBef>
            </a:pPr>
            <a:r>
              <a:rPr lang="en-US" altLang="zh-CN" sz="3200" b="1">
                <a:latin typeface="Times New Roman" panose="02020603050405020304" pitchFamily="18" charset="0"/>
              </a:rPr>
              <a:t>(</a:t>
            </a:r>
            <a:r>
              <a:rPr lang="en-US" altLang="zh-CN" sz="3200">
                <a:latin typeface="Times New Roman" panose="02020603050405020304" pitchFamily="18" charset="0"/>
              </a:rPr>
              <a:t>d</a:t>
            </a:r>
            <a:r>
              <a:rPr lang="en-US" altLang="zh-CN" sz="3200" b="1">
                <a:latin typeface="Times New Roman" panose="02020603050405020304" pitchFamily="18" charset="0"/>
              </a:rPr>
              <a:t>)</a:t>
            </a:r>
            <a:r>
              <a:rPr lang="zh-CN" altLang="en-US" sz="3200" b="1">
                <a:latin typeface="Times New Roman" panose="02020603050405020304" pitchFamily="18" charset="0"/>
              </a:rPr>
              <a:t>当</a:t>
            </a:r>
            <a:r>
              <a:rPr lang="en-US" altLang="zh-CN" sz="3200" b="1">
                <a:latin typeface="Times New Roman" panose="02020603050405020304" pitchFamily="18" charset="0"/>
              </a:rPr>
              <a:t>1/K</a:t>
            </a:r>
            <a:r>
              <a:rPr lang="en-US" altLang="zh-CN" sz="3200" b="1" baseline="-30000">
                <a:latin typeface="Times New Roman" panose="02020603050405020304" pitchFamily="18" charset="0"/>
              </a:rPr>
              <a:t>1 </a:t>
            </a:r>
            <a:r>
              <a:rPr lang="en-US" altLang="zh-CN" sz="3200" b="1">
                <a:latin typeface="Times New Roman" panose="02020603050405020304" pitchFamily="18" charset="0"/>
              </a:rPr>
              <a:t>&gt;</a:t>
            </a:r>
            <a:r>
              <a:rPr lang="en-US" altLang="zh-CN" sz="3200" b="1" baseline="-30000">
                <a:latin typeface="Times New Roman" panose="02020603050405020304" pitchFamily="18" charset="0"/>
              </a:rPr>
              <a:t> </a:t>
            </a:r>
            <a:r>
              <a:rPr lang="en-US" altLang="zh-CN"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 /K</a:t>
            </a:r>
            <a:r>
              <a:rPr lang="en-US" altLang="zh-CN" sz="3200" b="1" baseline="-30000">
                <a:latin typeface="Times New Roman" panose="02020603050405020304" pitchFamily="18" charset="0"/>
              </a:rPr>
              <a:t>2</a:t>
            </a:r>
            <a:r>
              <a:rPr lang="zh-CN" altLang="en-US" sz="3200" b="1">
                <a:latin typeface="Times New Roman" panose="02020603050405020304" pitchFamily="18" charset="0"/>
              </a:rPr>
              <a:t>， </a:t>
            </a:r>
            <a:r>
              <a:rPr lang="en-US" altLang="zh-CN" sz="3200" b="1">
                <a:latin typeface="Times New Roman" panose="02020603050405020304" pitchFamily="18" charset="0"/>
              </a:rPr>
              <a:t>1/K</a:t>
            </a:r>
            <a:r>
              <a:rPr lang="en-US" altLang="zh-CN" sz="3200" b="1" baseline="-30000">
                <a:latin typeface="Times New Roman" panose="02020603050405020304" pitchFamily="18" charset="0"/>
              </a:rPr>
              <a:t>2 </a:t>
            </a:r>
            <a:r>
              <a:rPr lang="en-US" altLang="zh-CN" sz="3200" b="1">
                <a:latin typeface="Times New Roman" panose="02020603050405020304" pitchFamily="18" charset="0"/>
              </a:rPr>
              <a:t>&gt;</a:t>
            </a:r>
            <a:r>
              <a:rPr lang="en-US" altLang="zh-CN" sz="3200" b="1" baseline="-30000">
                <a:latin typeface="Times New Roman" panose="02020603050405020304" pitchFamily="18" charset="0"/>
              </a:rPr>
              <a:t> </a:t>
            </a:r>
            <a:r>
              <a:rPr lang="en-US" altLang="zh-CN" sz="3200" b="1">
                <a:latin typeface="宋体" panose="02010600030101010101" pitchFamily="2" charset="-122"/>
                <a:sym typeface="Symbol" panose="05050102010706020507" pitchFamily="18" charset="2"/>
              </a:rPr>
              <a:t></a:t>
            </a:r>
            <a:r>
              <a:rPr lang="en-US" altLang="zh-CN" sz="3200" b="1">
                <a:latin typeface="Times New Roman" panose="02020603050405020304" pitchFamily="18" charset="0"/>
              </a:rPr>
              <a:t>/ K</a:t>
            </a:r>
            <a:r>
              <a:rPr lang="en-US" altLang="zh-CN" sz="3200" b="1" baseline="-30000">
                <a:latin typeface="Times New Roman" panose="02020603050405020304" pitchFamily="18" charset="0"/>
              </a:rPr>
              <a:t>1</a:t>
            </a:r>
          </a:p>
          <a:p>
            <a:pPr>
              <a:spcBef>
                <a:spcPct val="50000"/>
              </a:spcBef>
            </a:pPr>
            <a:endParaRPr lang="en-US" altLang="zh-CN" sz="2800" b="1" baseline="-30000">
              <a:latin typeface="Times New Roman" panose="02020603050405020304" pitchFamily="18" charset="0"/>
            </a:endParaRPr>
          </a:p>
          <a:p>
            <a:pPr>
              <a:spcBef>
                <a:spcPct val="50000"/>
              </a:spcBef>
            </a:pPr>
            <a:endParaRPr lang="en-US" altLang="zh-CN" sz="2800" b="1" baseline="-30000">
              <a:latin typeface="Times New Roman" panose="02020603050405020304" pitchFamily="18" charset="0"/>
            </a:endParaRPr>
          </a:p>
          <a:p>
            <a:pPr>
              <a:spcBef>
                <a:spcPct val="50000"/>
              </a:spcBef>
            </a:pPr>
            <a:endParaRPr lang="en-US" altLang="zh-CN" sz="2800" b="1" baseline="-30000">
              <a:latin typeface="Times New Roman" panose="02020603050405020304" pitchFamily="18" charset="0"/>
            </a:endParaRPr>
          </a:p>
          <a:p>
            <a:pPr>
              <a:spcBef>
                <a:spcPct val="50000"/>
              </a:spcBef>
            </a:pPr>
            <a:endParaRPr lang="en-US" altLang="zh-CN" sz="2800" b="1" baseline="-30000">
              <a:latin typeface="Times New Roman" panose="02020603050405020304" pitchFamily="18" charset="0"/>
            </a:endParaRPr>
          </a:p>
          <a:p>
            <a:pPr>
              <a:spcBef>
                <a:spcPct val="50000"/>
              </a:spcBef>
            </a:pPr>
            <a:endParaRPr lang="en-US" altLang="zh-CN" sz="2800" b="1">
              <a:latin typeface="Times New Roman" panose="02020603050405020304" pitchFamily="18"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ctrTitle"/>
          </p:nvPr>
        </p:nvSpPr>
        <p:spPr>
          <a:xfrm>
            <a:off x="1905000" y="422910"/>
            <a:ext cx="6718300" cy="643890"/>
          </a:xfrm>
        </p:spPr>
        <p:txBody>
          <a:bodyPr vert="horz" wrap="square" lIns="91440" tIns="45720" rIns="91440" bIns="45720" anchor="b" anchorCtr="0"/>
          <a:lstStyle/>
          <a:p>
            <a:pPr eaLnBrk="1" hangingPunct="1">
              <a:buClrTx/>
              <a:buSzTx/>
              <a:buFontTx/>
            </a:pPr>
            <a:r>
              <a:rPr kumimoji="1" lang="en-US" altLang="zh-CN" sz="3200" b="1">
                <a:latin typeface="+mj-lt"/>
                <a:ea typeface="+mj-ea"/>
                <a:cs typeface="+mj-cs"/>
              </a:rPr>
              <a:t>7.1.2.4  </a:t>
            </a:r>
            <a:r>
              <a:rPr kumimoji="1" lang="zh-CN" altLang="en-US" sz="3200" b="1">
                <a:solidFill>
                  <a:schemeClr val="tx1"/>
                </a:solidFill>
                <a:latin typeface="宋体" panose="02010600030101010101" pitchFamily="2" charset="-122"/>
                <a:ea typeface="+mj-ea"/>
                <a:cs typeface="+mj-cs"/>
              </a:rPr>
              <a:t>生态位（</a:t>
            </a:r>
            <a:r>
              <a:rPr kumimoji="1" lang="en-US" altLang="zh-CN" sz="3200" b="1">
                <a:solidFill>
                  <a:schemeClr val="tx1"/>
                </a:solidFill>
                <a:latin typeface="宋体" panose="02010600030101010101" pitchFamily="2" charset="-122"/>
                <a:ea typeface="+mj-ea"/>
                <a:cs typeface="+mj-cs"/>
              </a:rPr>
              <a:t>niche)</a:t>
            </a:r>
            <a:r>
              <a:rPr kumimoji="1" lang="zh-CN" altLang="en-US" sz="3200" b="1">
                <a:latin typeface="宋体" panose="02010600030101010101" pitchFamily="2" charset="-122"/>
                <a:ea typeface="+mj-ea"/>
                <a:cs typeface="+mj-cs"/>
              </a:rPr>
              <a:t>理论</a:t>
            </a:r>
          </a:p>
        </p:txBody>
      </p:sp>
      <p:sp>
        <p:nvSpPr>
          <p:cNvPr id="33795" name="Rectangle 3"/>
          <p:cNvSpPr>
            <a:spLocks noGrp="1"/>
          </p:cNvSpPr>
          <p:nvPr>
            <p:ph type="subTitle" idx="1"/>
          </p:nvPr>
        </p:nvSpPr>
        <p:spPr>
          <a:xfrm>
            <a:off x="871220" y="1383030"/>
            <a:ext cx="10532110" cy="2524760"/>
          </a:xfrm>
        </p:spPr>
        <p:txBody>
          <a:bodyPr vert="horz" wrap="square" lIns="91440" tIns="45720" rIns="91440" bIns="45720" anchor="t" anchorCtr="0">
            <a:noAutofit/>
          </a:bodyPr>
          <a:lstStyle/>
          <a:p>
            <a:pPr algn="just" eaLnBrk="1" hangingPunct="1">
              <a:buSzTx/>
            </a:pPr>
            <a:r>
              <a:rPr kumimoji="1" lang="en-US" altLang="zh-CN" sz="3200" b="1">
                <a:solidFill>
                  <a:srgbClr val="000000"/>
                </a:solidFill>
                <a:latin typeface="+mn-lt"/>
                <a:ea typeface="+mn-ea"/>
                <a:cs typeface="+mn-cs"/>
              </a:rPr>
              <a:t>1 </a:t>
            </a:r>
            <a:r>
              <a:rPr kumimoji="1" lang="zh-CN" altLang="en-US" sz="3200" b="1">
                <a:solidFill>
                  <a:srgbClr val="FF3300"/>
                </a:solidFill>
                <a:latin typeface="+mn-lt"/>
                <a:ea typeface="+mn-ea"/>
                <a:cs typeface="+mn-cs"/>
              </a:rPr>
              <a:t>生态位（</a:t>
            </a:r>
            <a:r>
              <a:rPr kumimoji="1" lang="en-US" altLang="zh-CN" sz="3200" b="1">
                <a:solidFill>
                  <a:srgbClr val="FF3300"/>
                </a:solidFill>
                <a:latin typeface="+mn-lt"/>
                <a:ea typeface="+mn-ea"/>
                <a:cs typeface="+mn-cs"/>
              </a:rPr>
              <a:t>niche</a:t>
            </a:r>
            <a:r>
              <a:rPr kumimoji="1" lang="zh-CN" altLang="en-US" sz="3200" b="1">
                <a:solidFill>
                  <a:srgbClr val="FF3300"/>
                </a:solidFill>
                <a:latin typeface="+mn-lt"/>
                <a:ea typeface="+mn-ea"/>
                <a:cs typeface="+mn-cs"/>
              </a:rPr>
              <a:t>）</a:t>
            </a:r>
            <a:r>
              <a:rPr kumimoji="1" lang="zh-CN" altLang="en-US" sz="3200" b="1">
                <a:solidFill>
                  <a:srgbClr val="000000"/>
                </a:solidFill>
                <a:latin typeface="+mn-lt"/>
                <a:ea typeface="+mn-ea"/>
                <a:cs typeface="+mn-cs"/>
              </a:rPr>
              <a:t>：指物种在</a:t>
            </a:r>
            <a:r>
              <a:rPr kumimoji="1" lang="zh-CN" altLang="en-US" sz="3200" b="1">
                <a:solidFill>
                  <a:srgbClr val="FF3300"/>
                </a:solidFill>
                <a:latin typeface="+mn-lt"/>
                <a:ea typeface="+mn-ea"/>
                <a:cs typeface="+mn-cs"/>
              </a:rPr>
              <a:t>生物群落</a:t>
            </a:r>
            <a:r>
              <a:rPr kumimoji="1" lang="zh-CN" altLang="en-US" sz="3200" b="1">
                <a:solidFill>
                  <a:srgbClr val="000000"/>
                </a:solidFill>
                <a:latin typeface="+mn-lt"/>
                <a:ea typeface="+mn-ea"/>
                <a:cs typeface="+mn-cs"/>
              </a:rPr>
              <a:t>或生态系统中</a:t>
            </a:r>
            <a:r>
              <a:rPr kumimoji="1" lang="zh-CN" altLang="en-US" sz="3200" b="1">
                <a:latin typeface="+mn-lt"/>
                <a:ea typeface="+mn-ea"/>
                <a:cs typeface="+mn-cs"/>
              </a:rPr>
              <a:t>占</a:t>
            </a:r>
          </a:p>
          <a:p>
            <a:pPr algn="just" eaLnBrk="1" hangingPunct="1">
              <a:buSzTx/>
            </a:pPr>
            <a:r>
              <a:rPr kumimoji="1" lang="zh-CN" altLang="en-US" sz="3200" b="1">
                <a:latin typeface="+mn-lt"/>
                <a:ea typeface="+mn-ea"/>
                <a:cs typeface="+mn-cs"/>
              </a:rPr>
              <a:t> </a:t>
            </a:r>
            <a:r>
              <a:rPr kumimoji="1" lang="en-US" altLang="zh-CN" sz="3200" b="1">
                <a:latin typeface="+mn-lt"/>
                <a:ea typeface="+mn-ea"/>
                <a:cs typeface="+mn-cs"/>
              </a:rPr>
              <a:t> </a:t>
            </a:r>
            <a:r>
              <a:rPr kumimoji="1" lang="zh-CN" altLang="en-US" sz="3200" b="1">
                <a:latin typeface="+mn-lt"/>
                <a:ea typeface="+mn-ea"/>
                <a:cs typeface="+mn-cs"/>
              </a:rPr>
              <a:t>据</a:t>
            </a:r>
            <a:r>
              <a:rPr kumimoji="1" lang="zh-CN" altLang="en-US" sz="3200" b="1">
                <a:solidFill>
                  <a:srgbClr val="000000"/>
                </a:solidFill>
                <a:latin typeface="+mn-lt"/>
                <a:ea typeface="+mn-ea"/>
                <a:cs typeface="+mn-cs"/>
              </a:rPr>
              <a:t>的</a:t>
            </a:r>
            <a:r>
              <a:rPr kumimoji="1" lang="zh-CN" altLang="en-US" sz="3200" b="1">
                <a:solidFill>
                  <a:srgbClr val="FF3300"/>
                </a:solidFill>
                <a:latin typeface="+mn-lt"/>
                <a:ea typeface="+mn-ea"/>
                <a:cs typeface="+mn-cs"/>
              </a:rPr>
              <a:t>地位和角色</a:t>
            </a:r>
            <a:r>
              <a:rPr kumimoji="1" lang="zh-CN" altLang="en-US" sz="3200" b="1">
                <a:solidFill>
                  <a:srgbClr val="000000"/>
                </a:solidFill>
                <a:latin typeface="+mn-lt"/>
                <a:ea typeface="+mn-ea"/>
                <a:cs typeface="+mn-cs"/>
              </a:rPr>
              <a:t>。</a:t>
            </a:r>
            <a:r>
              <a:rPr kumimoji="1" lang="zh-CN" altLang="en-US" sz="3200" b="1">
                <a:latin typeface="+mn-lt"/>
                <a:ea typeface="+mn-ea"/>
                <a:cs typeface="+mn-cs"/>
              </a:rPr>
              <a:t>包括有机体维持其种群所必需的各种</a:t>
            </a:r>
          </a:p>
          <a:p>
            <a:pPr algn="just" eaLnBrk="1" hangingPunct="1">
              <a:buSzTx/>
            </a:pPr>
            <a:r>
              <a:rPr kumimoji="1" lang="zh-CN" altLang="en-US" sz="3200" b="1">
                <a:latin typeface="+mn-lt"/>
                <a:ea typeface="+mn-ea"/>
                <a:cs typeface="+mn-cs"/>
              </a:rPr>
              <a:t> </a:t>
            </a:r>
            <a:r>
              <a:rPr kumimoji="1" lang="en-US" altLang="zh-CN" sz="3200" b="1">
                <a:latin typeface="+mn-lt"/>
                <a:ea typeface="+mn-ea"/>
                <a:cs typeface="+mn-cs"/>
              </a:rPr>
              <a:t> </a:t>
            </a:r>
            <a:r>
              <a:rPr kumimoji="1" lang="zh-CN" altLang="en-US" sz="3200" b="1">
                <a:latin typeface="+mn-lt"/>
                <a:ea typeface="+mn-ea"/>
                <a:cs typeface="+mn-cs"/>
              </a:rPr>
              <a:t>条件，其所</a:t>
            </a:r>
            <a:r>
              <a:rPr kumimoji="1" lang="zh-CN" altLang="en-US" sz="3200" b="1">
                <a:solidFill>
                  <a:srgbClr val="FF0000"/>
                </a:solidFill>
                <a:latin typeface="+mn-lt"/>
                <a:ea typeface="+mn-ea"/>
                <a:cs typeface="+mn-cs"/>
              </a:rPr>
              <a:t>利用的资源</a:t>
            </a:r>
            <a:r>
              <a:rPr kumimoji="1" lang="zh-CN" altLang="en-US" sz="3200" b="1">
                <a:latin typeface="+mn-lt"/>
                <a:ea typeface="+mn-ea"/>
                <a:cs typeface="+mn-cs"/>
              </a:rPr>
              <a:t>及其在</a:t>
            </a:r>
            <a:r>
              <a:rPr kumimoji="1" lang="zh-CN" altLang="en-US" sz="3200" b="1">
                <a:solidFill>
                  <a:srgbClr val="FF0000"/>
                </a:solidFill>
                <a:latin typeface="+mn-lt"/>
                <a:ea typeface="+mn-ea"/>
                <a:cs typeface="+mn-cs"/>
              </a:rPr>
              <a:t>环境中出现的时间</a:t>
            </a:r>
            <a:r>
              <a:rPr kumimoji="1" lang="zh-CN" altLang="en-US" sz="3200" b="1">
                <a:latin typeface="+mn-lt"/>
                <a:ea typeface="+mn-ea"/>
                <a:cs typeface="+mn-cs"/>
              </a:rPr>
              <a:t>。有机</a:t>
            </a:r>
          </a:p>
          <a:p>
            <a:pPr algn="just" eaLnBrk="1" hangingPunct="1">
              <a:buSzTx/>
            </a:pPr>
            <a:r>
              <a:rPr kumimoji="1" lang="zh-CN" altLang="en-US" sz="3200" b="1">
                <a:latin typeface="+mn-lt"/>
                <a:ea typeface="+mn-ea"/>
                <a:cs typeface="+mn-cs"/>
              </a:rPr>
              <a:t> </a:t>
            </a:r>
            <a:r>
              <a:rPr kumimoji="1" lang="en-US" altLang="zh-CN" sz="3200" b="1">
                <a:latin typeface="+mn-lt"/>
                <a:ea typeface="+mn-ea"/>
                <a:cs typeface="+mn-cs"/>
              </a:rPr>
              <a:t> </a:t>
            </a:r>
            <a:r>
              <a:rPr kumimoji="1" lang="zh-CN" altLang="en-US" sz="3200" b="1">
                <a:latin typeface="+mn-lt"/>
                <a:ea typeface="+mn-ea"/>
                <a:cs typeface="+mn-cs"/>
              </a:rPr>
              <a:t>体的生态位可能会随着其生长发育而</a:t>
            </a:r>
            <a:r>
              <a:rPr kumimoji="1" lang="zh-CN" altLang="en-US" sz="3200" b="1">
                <a:solidFill>
                  <a:srgbClr val="FF0000"/>
                </a:solidFill>
                <a:latin typeface="+mn-lt"/>
                <a:ea typeface="+mn-ea"/>
                <a:cs typeface="+mn-cs"/>
              </a:rPr>
              <a:t>发生改变</a:t>
            </a:r>
            <a:r>
              <a:rPr kumimoji="1" lang="zh-CN" altLang="en-US" sz="3200" b="1">
                <a:latin typeface="+mn-lt"/>
                <a:ea typeface="+mn-ea"/>
                <a:cs typeface="+mn-cs"/>
              </a:rPr>
              <a:t>。</a:t>
            </a:r>
            <a:endParaRPr kumimoji="1" lang="zh-CN" altLang="en-US" sz="3200" b="1">
              <a:latin typeface="+mn-lt"/>
              <a:ea typeface="幼圆" panose="02010509060101010101" pitchFamily="49" charset="-122"/>
              <a:cs typeface="+mn-cs"/>
            </a:endParaRPr>
          </a:p>
          <a:p>
            <a:pPr eaLnBrk="1" hangingPunct="1">
              <a:buSzTx/>
            </a:pPr>
            <a:endParaRPr kumimoji="1" lang="zh-CN" altLang="en-US" sz="3200" b="1">
              <a:latin typeface="+mn-lt"/>
              <a:ea typeface="幼圆" panose="02010509060101010101" pitchFamily="49" charset="-122"/>
              <a:cs typeface="+mn-cs"/>
            </a:endParaRPr>
          </a:p>
        </p:txBody>
      </p:sp>
      <p:sp>
        <p:nvSpPr>
          <p:cNvPr id="33796" name="Text Box 4"/>
          <p:cNvSpPr txBox="1"/>
          <p:nvPr/>
        </p:nvSpPr>
        <p:spPr>
          <a:xfrm>
            <a:off x="1266825" y="4019550"/>
            <a:ext cx="9658350" cy="1076325"/>
          </a:xfrm>
          <a:prstGeom prst="rect">
            <a:avLst/>
          </a:prstGeom>
          <a:noFill/>
          <a:ln w="9525">
            <a:noFill/>
          </a:ln>
        </p:spPr>
        <p:txBody>
          <a:bodyPr wrap="square">
            <a:spAutoFit/>
          </a:bodyPr>
          <a:lstStyle/>
          <a:p>
            <a:pPr eaLnBrk="1" hangingPunct="1">
              <a:spcBef>
                <a:spcPct val="50000"/>
              </a:spcBef>
            </a:pPr>
            <a:r>
              <a:rPr lang="zh-CN" altLang="en-US" sz="3200" b="1">
                <a:latin typeface="Times New Roman" panose="02020603050405020304" pitchFamily="18" charset="0"/>
              </a:rPr>
              <a:t>栖息地</a:t>
            </a:r>
            <a:r>
              <a:rPr lang="en-US" altLang="zh-CN" sz="3200" b="1">
                <a:latin typeface="Times New Roman" panose="02020603050405020304" pitchFamily="18" charset="0"/>
              </a:rPr>
              <a:t>(habitat): </a:t>
            </a:r>
            <a:r>
              <a:rPr lang="zh-CN" altLang="en-US" sz="3200" b="1">
                <a:latin typeface="Times New Roman" panose="02020603050405020304" pitchFamily="18" charset="0"/>
              </a:rPr>
              <a:t>有机体所处的物理环境。栖息地一般包括许多生态位并支持许多物种。</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p:nvPr/>
        </p:nvSpPr>
        <p:spPr>
          <a:xfrm>
            <a:off x="650240" y="185420"/>
            <a:ext cx="10749280" cy="3525520"/>
          </a:xfrm>
          <a:prstGeom prst="rect">
            <a:avLst/>
          </a:prstGeom>
          <a:noFill/>
          <a:ln w="9525">
            <a:noFill/>
          </a:ln>
        </p:spPr>
        <p:txBody>
          <a:bodyPr wrap="square">
            <a:noAutofit/>
          </a:bodyPr>
          <a:lstStyle/>
          <a:p>
            <a:pPr algn="just" eaLnBrk="1" hangingPunct="1">
              <a:spcBef>
                <a:spcPct val="50000"/>
              </a:spcBef>
            </a:pPr>
            <a:r>
              <a:rPr lang="zh-CN" altLang="en-US" sz="3200" b="1">
                <a:latin typeface="Times New Roman" panose="02020603050405020304" pitchFamily="18" charset="0"/>
              </a:rPr>
              <a:t>生态位空间</a:t>
            </a:r>
            <a:r>
              <a:rPr lang="en-US" altLang="zh-CN" sz="3200" b="1">
                <a:latin typeface="Times New Roman" panose="02020603050405020304" pitchFamily="18" charset="0"/>
              </a:rPr>
              <a:t>(niche space)</a:t>
            </a:r>
            <a:r>
              <a:rPr lang="en-US" altLang="zh-CN" b="1">
                <a:latin typeface="Times New Roman" panose="02020603050405020304" pitchFamily="18" charset="0"/>
              </a:rPr>
              <a:t>  </a:t>
            </a:r>
            <a:r>
              <a:rPr lang="en-US" altLang="zh-CN" sz="1800">
                <a:latin typeface="Times New Roman" panose="02020603050405020304" pitchFamily="18" charset="0"/>
              </a:rPr>
              <a:t>Hutchinson(1958) </a:t>
            </a:r>
            <a:r>
              <a:rPr lang="zh-CN" altLang="en-US" sz="1800">
                <a:latin typeface="Times New Roman" panose="02020603050405020304" pitchFamily="18" charset="0"/>
              </a:rPr>
              <a:t>提出</a:t>
            </a:r>
          </a:p>
          <a:p>
            <a:pPr eaLnBrk="1" hangingPunct="1">
              <a:spcBef>
                <a:spcPct val="50000"/>
              </a:spcBef>
            </a:pPr>
            <a:r>
              <a:rPr lang="zh-CN" altLang="en-US">
                <a:latin typeface="Times New Roman" panose="02020603050405020304" pitchFamily="18" charset="0"/>
              </a:rPr>
              <a:t>    </a:t>
            </a:r>
            <a:r>
              <a:rPr lang="en-US" altLang="zh-CN">
                <a:latin typeface="Times New Roman" panose="02020603050405020304" pitchFamily="18" charset="0"/>
              </a:rPr>
              <a:t>           </a:t>
            </a:r>
            <a:r>
              <a:rPr lang="zh-CN" altLang="en-US" sz="3200" b="1">
                <a:latin typeface="Times New Roman" panose="02020603050405020304" pitchFamily="18" charset="0"/>
              </a:rPr>
              <a:t>影响有机体的每个条件，和有机体能够利用的每个资源都可以被认为是一个轴或维（</a:t>
            </a:r>
            <a:r>
              <a:rPr lang="en-US" altLang="zh-CN" sz="3200" b="1">
                <a:latin typeface="Times New Roman" panose="02020603050405020304" pitchFamily="18" charset="0"/>
              </a:rPr>
              <a:t>dimension</a:t>
            </a:r>
            <a:r>
              <a:rPr lang="zh-CN" altLang="en-US" sz="3200" b="1">
                <a:latin typeface="Times New Roman" panose="02020603050405020304" pitchFamily="18" charset="0"/>
              </a:rPr>
              <a:t>），在此轴或维上，可以定义有机体将出现的一个范围。同时考虑一系列这样的维，就可以得到有机体生态位的一个增强了的定义图，称为</a:t>
            </a:r>
            <a:r>
              <a:rPr lang="zh-CN" altLang="en-US" sz="3200" b="1">
                <a:solidFill>
                  <a:srgbClr val="FF0000"/>
                </a:solidFill>
                <a:latin typeface="Times New Roman" panose="02020603050405020304" pitchFamily="18" charset="0"/>
              </a:rPr>
              <a:t>生态位空间</a:t>
            </a:r>
            <a:r>
              <a:rPr lang="zh-CN" altLang="en-US" sz="3200" b="1">
                <a:latin typeface="Times New Roman" panose="02020603050405020304" pitchFamily="18" charset="0"/>
              </a:rPr>
              <a:t>。</a:t>
            </a:r>
          </a:p>
          <a:p>
            <a:pPr eaLnBrk="1" hangingPunct="1">
              <a:spcBef>
                <a:spcPct val="50000"/>
              </a:spcBef>
            </a:pPr>
            <a:endParaRPr lang="zh-CN" altLang="en-US" b="1">
              <a:latin typeface="Times New Roman" panose="02020603050405020304" pitchFamily="18" charset="0"/>
            </a:endParaRPr>
          </a:p>
          <a:p>
            <a:pPr eaLnBrk="1" hangingPunct="1">
              <a:spcBef>
                <a:spcPct val="50000"/>
              </a:spcBef>
            </a:pPr>
            <a:endParaRPr lang="en-US" altLang="zh-CN" b="1">
              <a:latin typeface="Times New Roman" panose="02020603050405020304" pitchFamily="18" charset="0"/>
            </a:endParaRPr>
          </a:p>
        </p:txBody>
      </p:sp>
      <p:pic>
        <p:nvPicPr>
          <p:cNvPr id="34819" name="Picture 3" descr="生态位 副本"/>
          <p:cNvPicPr>
            <a:picLocks noChangeAspect="1"/>
          </p:cNvPicPr>
          <p:nvPr/>
        </p:nvPicPr>
        <p:blipFill>
          <a:blip r:embed="rId2"/>
          <a:srcRect l="2756" t="5492" b="8075"/>
          <a:stretch>
            <a:fillRect/>
          </a:stretch>
        </p:blipFill>
        <p:spPr>
          <a:xfrm>
            <a:off x="5594985" y="3298190"/>
            <a:ext cx="5557520" cy="2868295"/>
          </a:xfrm>
          <a:prstGeom prst="rect">
            <a:avLst/>
          </a:prstGeom>
          <a:noFill/>
          <a:ln w="9525">
            <a:noFill/>
          </a:ln>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Grp="1" noChangeAspect="1"/>
          </p:cNvPicPr>
          <p:nvPr>
            <p:ph/>
          </p:nvPr>
        </p:nvPicPr>
        <p:blipFill>
          <a:blip r:embed="rId2"/>
          <a:srcRect/>
          <a:stretch>
            <a:fillRect/>
          </a:stretch>
        </p:blipFill>
        <p:spPr>
          <a:xfrm>
            <a:off x="5963285" y="814070"/>
            <a:ext cx="5791200" cy="4054475"/>
          </a:xfrm>
        </p:spPr>
      </p:pic>
      <p:sp>
        <p:nvSpPr>
          <p:cNvPr id="35843" name="Text Box 3"/>
          <p:cNvSpPr txBox="1"/>
          <p:nvPr/>
        </p:nvSpPr>
        <p:spPr>
          <a:xfrm>
            <a:off x="7832090" y="4660900"/>
            <a:ext cx="2782570" cy="368300"/>
          </a:xfrm>
          <a:prstGeom prst="rect">
            <a:avLst/>
          </a:prstGeom>
          <a:solidFill>
            <a:srgbClr val="FFFFFF"/>
          </a:solidFill>
          <a:ln w="12700">
            <a:noFill/>
          </a:ln>
        </p:spPr>
        <p:txBody>
          <a:bodyPr wrap="square">
            <a:spAutoFit/>
          </a:bodyPr>
          <a:lstStyle/>
          <a:p>
            <a:pPr>
              <a:spcBef>
                <a:spcPct val="50000"/>
              </a:spcBef>
            </a:pPr>
            <a:r>
              <a:rPr lang="zh-CN" altLang="en-US">
                <a:latin typeface="Times New Roman" panose="02020603050405020304" pitchFamily="18" charset="0"/>
              </a:rPr>
              <a:t>灰蓝呐莺的觅食生态位</a:t>
            </a:r>
          </a:p>
        </p:txBody>
      </p:sp>
      <p:sp>
        <p:nvSpPr>
          <p:cNvPr id="35844" name="Text Box 4"/>
          <p:cNvSpPr txBox="1"/>
          <p:nvPr/>
        </p:nvSpPr>
        <p:spPr>
          <a:xfrm>
            <a:off x="786130" y="968375"/>
            <a:ext cx="5328920" cy="3692525"/>
          </a:xfrm>
          <a:prstGeom prst="rect">
            <a:avLst/>
          </a:prstGeom>
          <a:noFill/>
          <a:ln w="12700">
            <a:noFill/>
          </a:ln>
        </p:spPr>
        <p:txBody>
          <a:bodyPr wrap="square">
            <a:spAutoFit/>
          </a:bodyPr>
          <a:lstStyle/>
          <a:p>
            <a:pPr eaLnBrk="1" hangingPunct="1">
              <a:spcBef>
                <a:spcPct val="50000"/>
              </a:spcBef>
            </a:pPr>
            <a:r>
              <a:rPr lang="zh-CN" altLang="en-US" sz="3600" b="1">
                <a:solidFill>
                  <a:srgbClr val="FF0000"/>
                </a:solidFill>
                <a:latin typeface="Times New Roman" panose="02020603050405020304" pitchFamily="18" charset="0"/>
              </a:rPr>
              <a:t>基础生态位</a:t>
            </a:r>
            <a:r>
              <a:rPr lang="zh-CN" altLang="en-US" sz="3600" b="1">
                <a:latin typeface="Times New Roman" panose="02020603050405020304" pitchFamily="18" charset="0"/>
              </a:rPr>
              <a:t>：物种能够栖息的理论上的最大空间。</a:t>
            </a:r>
          </a:p>
          <a:p>
            <a:pPr eaLnBrk="1" hangingPunct="1">
              <a:spcBef>
                <a:spcPct val="50000"/>
              </a:spcBef>
            </a:pPr>
            <a:r>
              <a:rPr lang="zh-CN" altLang="en-US" sz="3600" b="1">
                <a:solidFill>
                  <a:srgbClr val="FF0000"/>
                </a:solidFill>
                <a:latin typeface="Times New Roman" panose="02020603050405020304" pitchFamily="18" charset="0"/>
              </a:rPr>
              <a:t>实际生态位</a:t>
            </a:r>
            <a:r>
              <a:rPr lang="zh-CN" altLang="en-US" sz="3600" b="1">
                <a:latin typeface="Times New Roman" panose="02020603050405020304" pitchFamily="18" charset="0"/>
              </a:rPr>
              <a:t>：物种能够占据的生态位空间。（由竞争和捕食胁迫造成，</a:t>
            </a:r>
            <a:r>
              <a:rPr lang="zh-CN" altLang="en-US" sz="3600" b="1">
                <a:solidFill>
                  <a:srgbClr val="FF0000"/>
                </a:solidFill>
                <a:latin typeface="Times New Roman" panose="02020603050405020304" pitchFamily="18" charset="0"/>
              </a:rPr>
              <a:t>互利共生可扩大实际生态位</a:t>
            </a:r>
            <a:r>
              <a:rPr lang="zh-CN" altLang="en-US" sz="3600" b="1">
                <a:latin typeface="Times New Roman" panose="02020603050405020304" pitchFamily="18" charset="0"/>
              </a:rPr>
              <a:t>）。</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5" descr="tu"/>
          <p:cNvPicPr>
            <a:picLocks noChangeAspect="1"/>
          </p:cNvPicPr>
          <p:nvPr/>
        </p:nvPicPr>
        <p:blipFill>
          <a:blip r:embed="rId2"/>
          <a:srcRect l="3664" t="3667" r="3723" b="8721"/>
          <a:stretch>
            <a:fillRect/>
          </a:stretch>
        </p:blipFill>
        <p:spPr>
          <a:xfrm>
            <a:off x="584835" y="2416175"/>
            <a:ext cx="6003290" cy="3291840"/>
          </a:xfrm>
          <a:prstGeom prst="rect">
            <a:avLst/>
          </a:prstGeom>
          <a:noFill/>
          <a:ln w="9525">
            <a:noFill/>
          </a:ln>
        </p:spPr>
      </p:pic>
      <p:sp>
        <p:nvSpPr>
          <p:cNvPr id="11268" name="Text Box 6"/>
          <p:cNvSpPr txBox="1"/>
          <p:nvPr/>
        </p:nvSpPr>
        <p:spPr>
          <a:xfrm>
            <a:off x="434340" y="285750"/>
            <a:ext cx="4417060" cy="645160"/>
          </a:xfrm>
          <a:prstGeom prst="rect">
            <a:avLst/>
          </a:prstGeom>
          <a:noFill/>
          <a:ln w="12700">
            <a:noFill/>
          </a:ln>
        </p:spPr>
        <p:txBody>
          <a:bodyPr wrap="square">
            <a:spAutoFit/>
          </a:bodyPr>
          <a:lstStyle/>
          <a:p>
            <a:pPr>
              <a:spcBef>
                <a:spcPct val="50000"/>
              </a:spcBef>
            </a:pPr>
            <a:r>
              <a:rPr lang="en-US" altLang="zh-CN" sz="3600" b="1">
                <a:latin typeface="Times New Roman" panose="02020603050405020304" pitchFamily="18" charset="0"/>
              </a:rPr>
              <a:t>2.</a:t>
            </a:r>
            <a:r>
              <a:rPr lang="zh-CN" altLang="en-US" sz="3600" b="1">
                <a:latin typeface="Times New Roman" panose="02020603050405020304" pitchFamily="18" charset="0"/>
              </a:rPr>
              <a:t>竞争与生态位分化</a:t>
            </a:r>
          </a:p>
        </p:txBody>
      </p:sp>
      <p:sp>
        <p:nvSpPr>
          <p:cNvPr id="11269" name="Text Box 7"/>
          <p:cNvSpPr txBox="1"/>
          <p:nvPr/>
        </p:nvSpPr>
        <p:spPr>
          <a:xfrm>
            <a:off x="434340" y="930910"/>
            <a:ext cx="10824210" cy="1076325"/>
          </a:xfrm>
          <a:prstGeom prst="rect">
            <a:avLst/>
          </a:prstGeom>
          <a:noFill/>
          <a:ln w="12700">
            <a:noFill/>
          </a:ln>
        </p:spPr>
        <p:txBody>
          <a:bodyPr wrap="square">
            <a:spAutoFit/>
          </a:bodyPr>
          <a:lstStyle/>
          <a:p>
            <a:pPr>
              <a:spcBef>
                <a:spcPct val="50000"/>
              </a:spcBef>
            </a:pPr>
            <a:r>
              <a:rPr lang="en-US" altLang="zh-CN" sz="3200" b="1">
                <a:latin typeface="Times New Roman" panose="02020603050405020304" pitchFamily="18" charset="0"/>
              </a:rPr>
              <a:t>        </a:t>
            </a:r>
            <a:r>
              <a:rPr lang="zh-CN" altLang="en-US" sz="3200" b="1">
                <a:latin typeface="Times New Roman" panose="02020603050405020304" pitchFamily="18" charset="0"/>
              </a:rPr>
              <a:t>物种在某一生态位纬度上的分布，称为</a:t>
            </a:r>
            <a:r>
              <a:rPr lang="zh-CN" altLang="en-US" sz="3200" b="1">
                <a:solidFill>
                  <a:srgbClr val="FF0000"/>
                </a:solidFill>
                <a:latin typeface="Times New Roman" panose="02020603050405020304" pitchFamily="18" charset="0"/>
              </a:rPr>
              <a:t>资源利用曲线</a:t>
            </a:r>
            <a:r>
              <a:rPr lang="zh-CN" altLang="en-US" sz="3200" b="1">
                <a:latin typeface="Times New Roman" panose="02020603050405020304" pitchFamily="18" charset="0"/>
              </a:rPr>
              <a:t>，表示物种具有的喜好位置及其散布在喜好位置周围的变异度。</a:t>
            </a:r>
          </a:p>
        </p:txBody>
      </p:sp>
      <p:sp>
        <p:nvSpPr>
          <p:cNvPr id="11270" name="Text Box 8"/>
          <p:cNvSpPr txBox="1"/>
          <p:nvPr/>
        </p:nvSpPr>
        <p:spPr>
          <a:xfrm>
            <a:off x="6892925" y="2278380"/>
            <a:ext cx="4864735" cy="1210310"/>
          </a:xfrm>
          <a:prstGeom prst="rect">
            <a:avLst/>
          </a:prstGeom>
          <a:noFill/>
          <a:ln w="12700">
            <a:noFill/>
          </a:ln>
        </p:spPr>
        <p:txBody>
          <a:bodyPr>
            <a:noAutofit/>
          </a:bodyPr>
          <a:lstStyle/>
          <a:p>
            <a:pPr>
              <a:spcBef>
                <a:spcPct val="50000"/>
              </a:spcBef>
            </a:pPr>
            <a:r>
              <a:rPr lang="en-US" altLang="zh-CN" sz="2800" b="1">
                <a:latin typeface="Times New Roman" panose="02020603050405020304" pitchFamily="18" charset="0"/>
              </a:rPr>
              <a:t>d </a:t>
            </a:r>
            <a:r>
              <a:rPr lang="zh-CN" altLang="en-US" sz="2800" b="1">
                <a:latin typeface="Times New Roman" panose="02020603050405020304" pitchFamily="18" charset="0"/>
              </a:rPr>
              <a:t>两物种在资源谱中喜好位置的距离</a:t>
            </a:r>
          </a:p>
        </p:txBody>
      </p:sp>
      <p:sp>
        <p:nvSpPr>
          <p:cNvPr id="11271" name="Text Box 9"/>
          <p:cNvSpPr txBox="1"/>
          <p:nvPr/>
        </p:nvSpPr>
        <p:spPr>
          <a:xfrm>
            <a:off x="6892925" y="3168015"/>
            <a:ext cx="4963160" cy="521970"/>
          </a:xfrm>
          <a:prstGeom prst="rect">
            <a:avLst/>
          </a:prstGeom>
          <a:noFill/>
          <a:ln w="12700">
            <a:noFill/>
          </a:ln>
        </p:spPr>
        <p:txBody>
          <a:bodyPr wrap="square">
            <a:spAutoFit/>
          </a:bodyPr>
          <a:lstStyle/>
          <a:p>
            <a:pPr>
              <a:spcBef>
                <a:spcPct val="50000"/>
              </a:spcBef>
            </a:pPr>
            <a:r>
              <a:rPr lang="en-US" altLang="zh-CN" sz="2800" b="1">
                <a:latin typeface="Times New Roman" panose="02020603050405020304" pitchFamily="18" charset="0"/>
              </a:rPr>
              <a:t>w</a:t>
            </a:r>
            <a:r>
              <a:rPr lang="zh-CN" altLang="en-US" sz="2800" b="1">
                <a:latin typeface="Times New Roman" panose="02020603050405020304" pitchFamily="18" charset="0"/>
              </a:rPr>
              <a:t>物种在喜好位置的变异度</a:t>
            </a:r>
          </a:p>
        </p:txBody>
      </p:sp>
      <p:sp>
        <p:nvSpPr>
          <p:cNvPr id="2" name="Text Box 9"/>
          <p:cNvSpPr txBox="1"/>
          <p:nvPr/>
        </p:nvSpPr>
        <p:spPr>
          <a:xfrm>
            <a:off x="6720840" y="3895090"/>
            <a:ext cx="4723130" cy="2245360"/>
          </a:xfrm>
          <a:prstGeom prst="rect">
            <a:avLst/>
          </a:prstGeom>
          <a:noFill/>
          <a:ln w="12700">
            <a:noFill/>
          </a:ln>
        </p:spPr>
        <p:txBody>
          <a:bodyPr wrap="square">
            <a:spAutoFit/>
          </a:bodyPr>
          <a:lstStyle/>
          <a:p>
            <a:pPr indent="0" fontAlgn="auto">
              <a:lnSpc>
                <a:spcPts val="3360"/>
              </a:lnSpc>
              <a:spcBef>
                <a:spcPts val="0"/>
              </a:spcBef>
            </a:pPr>
            <a:r>
              <a:rPr lang="en-US" altLang="zh-CN" sz="2800" b="1">
                <a:latin typeface="Times New Roman" panose="02020603050405020304" pitchFamily="18" charset="0"/>
              </a:rPr>
              <a:t>d&gt;w : </a:t>
            </a:r>
            <a:r>
              <a:rPr lang="zh-CN" altLang="en-US" sz="2800" b="1">
                <a:latin typeface="Times New Roman" panose="02020603050405020304" pitchFamily="18" charset="0"/>
              </a:rPr>
              <a:t>种间竞争小，种内竞争</a:t>
            </a:r>
          </a:p>
          <a:p>
            <a:pPr indent="0" fontAlgn="auto">
              <a:lnSpc>
                <a:spcPts val="3360"/>
              </a:lnSpc>
              <a:spcBef>
                <a:spcPts val="0"/>
              </a:spcBef>
            </a:pPr>
            <a:r>
              <a:rPr lang="zh-CN" altLang="en-US" sz="2800" b="1">
                <a:latin typeface="Times New Roman" panose="02020603050405020304" pitchFamily="18" charset="0"/>
              </a:rPr>
              <a:t> </a:t>
            </a:r>
            <a:r>
              <a:rPr lang="en-US" altLang="zh-CN" sz="2800" b="1">
                <a:latin typeface="Times New Roman" panose="02020603050405020304" pitchFamily="18" charset="0"/>
              </a:rPr>
              <a:t>    </a:t>
            </a:r>
            <a:r>
              <a:rPr lang="zh-CN" altLang="en-US" sz="2800" b="1">
                <a:latin typeface="Times New Roman" panose="02020603050405020304" pitchFamily="18" charset="0"/>
              </a:rPr>
              <a:t>强度大。</a:t>
            </a:r>
          </a:p>
          <a:p>
            <a:pPr indent="0" fontAlgn="auto">
              <a:lnSpc>
                <a:spcPts val="3360"/>
              </a:lnSpc>
              <a:spcBef>
                <a:spcPts val="0"/>
              </a:spcBef>
            </a:pPr>
            <a:r>
              <a:rPr lang="en-US" altLang="zh-CN" sz="2800" b="1">
                <a:latin typeface="Times New Roman" panose="02020603050405020304" pitchFamily="18" charset="0"/>
              </a:rPr>
              <a:t>w&gt;d: </a:t>
            </a:r>
            <a:r>
              <a:rPr lang="zh-CN" altLang="en-US" sz="2800" b="1">
                <a:latin typeface="Times New Roman" panose="02020603050405020304" pitchFamily="18" charset="0"/>
              </a:rPr>
              <a:t>种内竞争小，种间竞争</a:t>
            </a:r>
          </a:p>
          <a:p>
            <a:pPr indent="0" fontAlgn="auto">
              <a:lnSpc>
                <a:spcPts val="3360"/>
              </a:lnSpc>
              <a:spcBef>
                <a:spcPts val="0"/>
              </a:spcBef>
            </a:pPr>
            <a:r>
              <a:rPr lang="zh-CN" altLang="en-US" sz="2800" b="1">
                <a:latin typeface="Times New Roman" panose="02020603050405020304" pitchFamily="18" charset="0"/>
              </a:rPr>
              <a:t> </a:t>
            </a:r>
            <a:r>
              <a:rPr lang="en-US" altLang="zh-CN" sz="2800" b="1">
                <a:latin typeface="Times New Roman" panose="02020603050405020304" pitchFamily="18" charset="0"/>
              </a:rPr>
              <a:t>    </a:t>
            </a:r>
            <a:r>
              <a:rPr lang="zh-CN" altLang="en-US" sz="2800" b="1">
                <a:latin typeface="Times New Roman" panose="02020603050405020304" pitchFamily="18" charset="0"/>
              </a:rPr>
              <a:t>强度大。</a:t>
            </a:r>
          </a:p>
          <a:p>
            <a:pPr indent="0" fontAlgn="auto">
              <a:lnSpc>
                <a:spcPts val="3360"/>
              </a:lnSpc>
              <a:spcBef>
                <a:spcPts val="0"/>
              </a:spcBef>
            </a:pPr>
            <a:r>
              <a:rPr lang="en-US" altLang="zh-CN" sz="2800" b="1">
                <a:latin typeface="Times New Roman" panose="02020603050405020304" pitchFamily="18" charset="0"/>
                <a:sym typeface="+mn-ea"/>
              </a:rPr>
              <a:t>d=w</a:t>
            </a:r>
            <a:r>
              <a:rPr lang="zh-CN" altLang="en-US" sz="2800" b="1">
                <a:latin typeface="Times New Roman" panose="02020603050405020304" pitchFamily="18" charset="0"/>
                <a:sym typeface="+mn-ea"/>
              </a:rPr>
              <a:t>：</a:t>
            </a:r>
            <a:r>
              <a:rPr lang="zh-CN" altLang="en-US" sz="2800" b="1">
                <a:latin typeface="Times New Roman" panose="02020603050405020304" pitchFamily="18" charset="0"/>
              </a:rPr>
              <a:t>极限相似性</a:t>
            </a:r>
            <a:endParaRPr lang="en-US" altLang="zh-CN" sz="2800" b="1">
              <a:latin typeface="Times New Roman" panose="02020603050405020304" pitchFamily="18" charset="0"/>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p:nvPr/>
        </p:nvSpPr>
        <p:spPr>
          <a:xfrm>
            <a:off x="1249680" y="857250"/>
            <a:ext cx="10349865" cy="4569460"/>
          </a:xfrm>
          <a:prstGeom prst="rect">
            <a:avLst/>
          </a:prstGeom>
          <a:noFill/>
          <a:ln w="12700">
            <a:noFill/>
          </a:ln>
        </p:spPr>
        <p:txBody>
          <a:bodyPr>
            <a:noAutofit/>
          </a:bodyPr>
          <a:lstStyle/>
          <a:p>
            <a:pPr>
              <a:spcBef>
                <a:spcPct val="50000"/>
              </a:spcBef>
            </a:pPr>
            <a:r>
              <a:rPr lang="en-US" altLang="zh-CN" sz="3200">
                <a:latin typeface="Times New Roman" panose="02020603050405020304" pitchFamily="18" charset="0"/>
              </a:rPr>
              <a:t>3.</a:t>
            </a:r>
            <a:r>
              <a:rPr lang="zh-CN" altLang="en-US" sz="3200" b="1">
                <a:latin typeface="Times New Roman" panose="02020603050405020304" pitchFamily="18" charset="0"/>
              </a:rPr>
              <a:t>竞争释放和性状替换</a:t>
            </a:r>
          </a:p>
          <a:p>
            <a:pPr>
              <a:spcBef>
                <a:spcPct val="50000"/>
              </a:spcBef>
            </a:pPr>
            <a:r>
              <a:rPr lang="en-US" altLang="zh-CN" sz="3200" b="1">
                <a:latin typeface="Times New Roman" panose="02020603050405020304" pitchFamily="18" charset="0"/>
              </a:rPr>
              <a:t>       </a:t>
            </a:r>
            <a:r>
              <a:rPr lang="zh-CN" altLang="en-US" sz="3200" b="1">
                <a:latin typeface="Times New Roman" panose="02020603050405020304" pitchFamily="18" charset="0"/>
              </a:rPr>
              <a:t>竞争释放</a:t>
            </a:r>
            <a:r>
              <a:rPr lang="en-US" altLang="zh-CN" sz="3200" b="1">
                <a:latin typeface="Times New Roman" panose="02020603050405020304" pitchFamily="18" charset="0"/>
              </a:rPr>
              <a:t>(competitive release)</a:t>
            </a:r>
            <a:r>
              <a:rPr lang="zh-CN" altLang="en-US" sz="3200" b="1">
                <a:latin typeface="Times New Roman" panose="02020603050405020304" pitchFamily="18" charset="0"/>
              </a:rPr>
              <a:t>：</a:t>
            </a:r>
            <a:r>
              <a:rPr lang="zh-CN" altLang="en-US" sz="3200" b="1">
                <a:solidFill>
                  <a:srgbClr val="FF0000"/>
                </a:solidFill>
                <a:latin typeface="Times New Roman" panose="02020603050405020304" pitchFamily="18" charset="0"/>
              </a:rPr>
              <a:t>在缺乏竞争者时，物种扩张其实际生态位的现象</a:t>
            </a:r>
            <a:r>
              <a:rPr lang="zh-CN" altLang="en-US" sz="3200" b="1">
                <a:latin typeface="Times New Roman" panose="02020603050405020304" pitchFamily="18" charset="0"/>
              </a:rPr>
              <a:t>。</a:t>
            </a:r>
          </a:p>
          <a:p>
            <a:pPr algn="just">
              <a:spcBef>
                <a:spcPct val="50000"/>
              </a:spcBef>
            </a:pPr>
            <a:r>
              <a:rPr lang="en-US" altLang="zh-CN" sz="3200" b="1">
                <a:latin typeface="Times New Roman" panose="02020603050405020304" pitchFamily="18" charset="0"/>
              </a:rPr>
              <a:t>        </a:t>
            </a:r>
            <a:r>
              <a:rPr lang="zh-CN" altLang="en-US" sz="3200" b="1">
                <a:latin typeface="Times New Roman" panose="02020603050405020304" pitchFamily="18" charset="0"/>
              </a:rPr>
              <a:t>在新几内亚的大岛上，发现三种地鸽，每一种都处于不同的生境（沿岸灌木、次生林和雨林）。在只有一种地鸽的小岛上，该种地鸽使用所有三种生境。可以得出结论即</a:t>
            </a:r>
            <a:r>
              <a:rPr lang="zh-CN" altLang="en-US" sz="3200" b="1">
                <a:solidFill>
                  <a:srgbClr val="FF0000"/>
                </a:solidFill>
                <a:latin typeface="Times New Roman" panose="02020603050405020304" pitchFamily="18" charset="0"/>
              </a:rPr>
              <a:t>竞争导致</a:t>
            </a:r>
            <a:r>
              <a:rPr lang="zh-CN" altLang="en-US" sz="3200" b="1">
                <a:latin typeface="Times New Roman" panose="02020603050405020304" pitchFamily="18" charset="0"/>
              </a:rPr>
              <a:t>新几内亚岛上的</a:t>
            </a:r>
            <a:r>
              <a:rPr lang="zh-CN" altLang="en-US" sz="3200" b="1">
                <a:solidFill>
                  <a:srgbClr val="FF0000"/>
                </a:solidFill>
                <a:latin typeface="Times New Roman" panose="02020603050405020304" pitchFamily="18" charset="0"/>
              </a:rPr>
              <a:t>生态位分化</a:t>
            </a:r>
            <a:r>
              <a:rPr lang="zh-CN" altLang="en-US" sz="3200" b="1">
                <a:latin typeface="Times New Roman" panose="02020603050405020304" pitchFamily="18" charset="0"/>
              </a:rPr>
              <a:t>，但在小岛上发生竞争释放。</a:t>
            </a:r>
          </a:p>
          <a:p>
            <a:pPr>
              <a:spcBef>
                <a:spcPct val="50000"/>
              </a:spcBef>
            </a:pPr>
            <a:endParaRPr lang="zh-CN" altLang="en-US" sz="3200" b="1">
              <a:latin typeface="Times New Roman" panose="02020603050405020304" pitchFamily="18" charset="0"/>
            </a:endParaRPr>
          </a:p>
          <a:p>
            <a:pPr>
              <a:spcBef>
                <a:spcPct val="50000"/>
              </a:spcBef>
            </a:pPr>
            <a:endParaRPr lang="zh-CN" altLang="en-US" sz="2800" b="1">
              <a:latin typeface="Times New Roman" panose="02020603050405020304" pitchFamily="18" charset="0"/>
            </a:endParaRPr>
          </a:p>
          <a:p>
            <a:pPr>
              <a:spcBef>
                <a:spcPct val="50000"/>
              </a:spcBef>
            </a:pPr>
            <a:endParaRPr lang="en-US" altLang="zh-CN" sz="2800" b="1">
              <a:latin typeface="Times New Roman" panose="02020603050405020304" pitchFamily="18" charset="0"/>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Grp="1" noChangeAspect="1"/>
          </p:cNvPicPr>
          <p:nvPr>
            <p:ph/>
          </p:nvPr>
        </p:nvPicPr>
        <p:blipFill>
          <a:blip r:embed="rId2"/>
          <a:srcRect l="22271" t="4861" r="23229" b="2738"/>
          <a:stretch>
            <a:fillRect/>
          </a:stretch>
        </p:blipFill>
        <p:spPr>
          <a:xfrm>
            <a:off x="1112520" y="539750"/>
            <a:ext cx="4983480" cy="5914390"/>
          </a:xfrm>
        </p:spPr>
      </p:pic>
      <p:sp>
        <p:nvSpPr>
          <p:cNvPr id="37891" name="Text Box 3"/>
          <p:cNvSpPr txBox="1"/>
          <p:nvPr/>
        </p:nvSpPr>
        <p:spPr>
          <a:xfrm>
            <a:off x="6451600" y="1773555"/>
            <a:ext cx="4766310" cy="2427605"/>
          </a:xfrm>
          <a:prstGeom prst="rect">
            <a:avLst/>
          </a:prstGeom>
          <a:noFill/>
          <a:ln w="12700">
            <a:noFill/>
          </a:ln>
        </p:spPr>
        <p:txBody>
          <a:bodyPr wrap="square">
            <a:noAutofit/>
          </a:bodyPr>
          <a:lstStyle/>
          <a:p>
            <a:pPr>
              <a:spcBef>
                <a:spcPct val="50000"/>
              </a:spcBef>
            </a:pPr>
            <a:r>
              <a:rPr lang="zh-CN" altLang="en-US" sz="3600" b="1">
                <a:solidFill>
                  <a:srgbClr val="FF0000"/>
                </a:solidFill>
                <a:latin typeface="Times New Roman" panose="02020603050405020304" pitchFamily="18" charset="0"/>
              </a:rPr>
              <a:t>性状替换</a:t>
            </a:r>
            <a:r>
              <a:rPr lang="en-US" altLang="zh-CN" sz="3600" b="1">
                <a:latin typeface="Times New Roman" panose="02020603050405020304" pitchFamily="18" charset="0"/>
              </a:rPr>
              <a:t>(character displacement)</a:t>
            </a:r>
            <a:r>
              <a:rPr lang="zh-CN" altLang="en-US" sz="3600" b="1">
                <a:latin typeface="Times New Roman" panose="02020603050405020304" pitchFamily="18" charset="0"/>
              </a:rPr>
              <a:t>：生态位收缩导致形态性状发生变化的现象。</a:t>
            </a:r>
            <a:endParaRPr lang="zh-CN" altLang="en-US" sz="3200" b="1">
              <a:latin typeface="Times New Roman" panose="02020603050405020304" pitchFamily="18" charset="0"/>
            </a:endParaRPr>
          </a:p>
          <a:p>
            <a:pPr>
              <a:spcBef>
                <a:spcPct val="50000"/>
              </a:spcBef>
            </a:pPr>
            <a:endParaRPr lang="zh-CN" altLang="en-US" sz="3200" b="1">
              <a:latin typeface="Times New Roman" panose="02020603050405020304" pitchFamily="18" charset="0"/>
            </a:endParaRPr>
          </a:p>
          <a:p>
            <a:pPr>
              <a:spcBef>
                <a:spcPct val="50000"/>
              </a:spcBef>
            </a:pPr>
            <a:endParaRPr lang="en-US" altLang="zh-CN" sz="3200">
              <a:latin typeface="Times New Roman" panose="02020603050405020304" pitchFamily="18" charset="0"/>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3"/>
          <p:cNvSpPr txBox="1"/>
          <p:nvPr/>
        </p:nvSpPr>
        <p:spPr>
          <a:xfrm>
            <a:off x="909955" y="280035"/>
            <a:ext cx="10372090" cy="5652135"/>
          </a:xfrm>
          <a:prstGeom prst="rect">
            <a:avLst/>
          </a:prstGeom>
          <a:noFill/>
          <a:ln w="12700">
            <a:noFill/>
          </a:ln>
        </p:spPr>
        <p:txBody>
          <a:bodyPr>
            <a:noAutofit/>
          </a:bodyPr>
          <a:lstStyle/>
          <a:p>
            <a:pPr algn="just">
              <a:spcBef>
                <a:spcPct val="50000"/>
              </a:spcBef>
            </a:pPr>
            <a:r>
              <a:rPr lang="en-US" altLang="zh-CN" sz="2800" b="1">
                <a:latin typeface="Times New Roman" panose="02020603050405020304" pitchFamily="18" charset="0"/>
              </a:rPr>
              <a:t>              </a:t>
            </a:r>
            <a:r>
              <a:rPr lang="en-US" altLang="zh-CN" sz="3600" b="1">
                <a:latin typeface="Times New Roman" panose="02020603050405020304" pitchFamily="18" charset="0"/>
              </a:rPr>
              <a:t>  7.2.2</a:t>
            </a:r>
            <a:r>
              <a:rPr lang="en-US" altLang="zh-CN" sz="3600" b="1">
                <a:latin typeface="Times New Roman" panose="02020603050405020304" pitchFamily="18" charset="0"/>
                <a:cs typeface="Times New Roman" panose="02020603050405020304" pitchFamily="18" charset="0"/>
              </a:rPr>
              <a:t>    </a:t>
            </a:r>
            <a:r>
              <a:rPr lang="zh-CN" altLang="en-US" sz="3600" b="1">
                <a:latin typeface="Times New Roman" panose="02020603050405020304" pitchFamily="18" charset="0"/>
              </a:rPr>
              <a:t>捕食作用</a:t>
            </a:r>
            <a:endParaRPr lang="zh-CN" altLang="en-US" sz="3600">
              <a:latin typeface="Times New Roman" panose="02020603050405020304" pitchFamily="18" charset="0"/>
            </a:endParaRPr>
          </a:p>
          <a:p>
            <a:pPr algn="just">
              <a:spcBef>
                <a:spcPct val="50000"/>
              </a:spcBef>
            </a:pPr>
            <a:r>
              <a:rPr lang="zh-CN" altLang="en-US" sz="2800" b="1">
                <a:latin typeface="Times New Roman" panose="02020603050405020304" pitchFamily="18" charset="0"/>
              </a:rPr>
              <a:t> </a:t>
            </a:r>
            <a:r>
              <a:rPr lang="en-US" altLang="zh-CN" sz="2800" b="1">
                <a:latin typeface="Times New Roman" panose="02020603050405020304" pitchFamily="18" charset="0"/>
              </a:rPr>
              <a:t>          </a:t>
            </a:r>
            <a:r>
              <a:rPr lang="zh-CN" altLang="en-US" sz="3600" b="1">
                <a:latin typeface="Times New Roman" panose="02020603050405020304" pitchFamily="18" charset="0"/>
              </a:rPr>
              <a:t>捕食（</a:t>
            </a:r>
            <a:r>
              <a:rPr lang="en-US" altLang="zh-CN" sz="3600" b="1">
                <a:latin typeface="Times New Roman" panose="02020603050405020304" pitchFamily="18" charset="0"/>
              </a:rPr>
              <a:t>predation</a:t>
            </a:r>
            <a:r>
              <a:rPr lang="zh-CN" altLang="en-US" sz="3600" b="1">
                <a:latin typeface="Times New Roman" panose="02020603050405020304" pitchFamily="18" charset="0"/>
              </a:rPr>
              <a:t>）：一种生物摄取其它种生物个体的</a:t>
            </a:r>
            <a:r>
              <a:rPr lang="zh-CN" altLang="en-US" sz="3600" b="1">
                <a:solidFill>
                  <a:srgbClr val="FF0000"/>
                </a:solidFill>
                <a:latin typeface="Times New Roman" panose="02020603050405020304" pitchFamily="18" charset="0"/>
              </a:rPr>
              <a:t>全部或部分</a:t>
            </a:r>
            <a:r>
              <a:rPr lang="zh-CN" altLang="en-US" sz="3600" b="1">
                <a:latin typeface="Times New Roman" panose="02020603050405020304" pitchFamily="18" charset="0"/>
              </a:rPr>
              <a:t>为食。前者称为捕食者（</a:t>
            </a:r>
            <a:r>
              <a:rPr lang="en-US" altLang="zh-CN" sz="3600" b="1">
                <a:latin typeface="Times New Roman" panose="02020603050405020304" pitchFamily="18" charset="0"/>
              </a:rPr>
              <a:t>predator</a:t>
            </a:r>
            <a:r>
              <a:rPr lang="zh-CN" altLang="en-US" sz="3600" b="1">
                <a:latin typeface="Times New Roman" panose="02020603050405020304" pitchFamily="18" charset="0"/>
              </a:rPr>
              <a:t>），后者称为猎物或被食者（</a:t>
            </a:r>
            <a:r>
              <a:rPr lang="en-US" altLang="zh-CN" sz="3600" b="1">
                <a:latin typeface="Times New Roman" panose="02020603050405020304" pitchFamily="18" charset="0"/>
              </a:rPr>
              <a:t>prey</a:t>
            </a:r>
            <a:r>
              <a:rPr lang="zh-CN" altLang="en-US" sz="3600" b="1">
                <a:latin typeface="Times New Roman" panose="02020603050405020304" pitchFamily="18" charset="0"/>
              </a:rPr>
              <a:t>）。</a:t>
            </a:r>
          </a:p>
          <a:p>
            <a:pPr algn="just">
              <a:spcBef>
                <a:spcPct val="50000"/>
              </a:spcBef>
            </a:pPr>
            <a:r>
              <a:rPr lang="zh-CN" altLang="en-US" sz="3600" b="1">
                <a:latin typeface="Times New Roman" panose="02020603050405020304" pitchFamily="18" charset="0"/>
              </a:rPr>
              <a:t> </a:t>
            </a:r>
            <a:r>
              <a:rPr lang="en-US" altLang="zh-CN" sz="3600" b="1">
                <a:latin typeface="Times New Roman" panose="02020603050405020304" pitchFamily="18" charset="0"/>
              </a:rPr>
              <a:t>        </a:t>
            </a:r>
            <a:r>
              <a:rPr lang="zh-CN" altLang="en-US" sz="3600">
                <a:latin typeface="Times New Roman" panose="02020603050405020304" pitchFamily="18" charset="0"/>
              </a:rPr>
              <a:t>这一广泛的定义包括（</a:t>
            </a:r>
            <a:r>
              <a:rPr lang="en-US" altLang="zh-CN" sz="3600">
                <a:latin typeface="Times New Roman" panose="02020603050405020304" pitchFamily="18" charset="0"/>
              </a:rPr>
              <a:t>1</a:t>
            </a:r>
            <a:r>
              <a:rPr lang="zh-CN" altLang="en-US" sz="3600">
                <a:latin typeface="Times New Roman" panose="02020603050405020304" pitchFamily="18" charset="0"/>
              </a:rPr>
              <a:t>）</a:t>
            </a:r>
            <a:r>
              <a:rPr lang="zh-CN" altLang="en-US" sz="3600" b="1">
                <a:solidFill>
                  <a:srgbClr val="FF0000"/>
                </a:solidFill>
                <a:latin typeface="Times New Roman" panose="02020603050405020304" pitchFamily="18" charset="0"/>
              </a:rPr>
              <a:t>典型的捕食</a:t>
            </a:r>
            <a:r>
              <a:rPr lang="zh-CN" altLang="en-US" sz="3600">
                <a:latin typeface="Times New Roman" panose="02020603050405020304" pitchFamily="18" charset="0"/>
              </a:rPr>
              <a:t>：它们在袭击猎物后迅速杀死而食之；（</a:t>
            </a:r>
            <a:r>
              <a:rPr lang="en-US" altLang="zh-CN" sz="3600">
                <a:latin typeface="Times New Roman" panose="02020603050405020304" pitchFamily="18" charset="0"/>
              </a:rPr>
              <a:t>2</a:t>
            </a:r>
            <a:r>
              <a:rPr lang="zh-CN" altLang="en-US" sz="3600">
                <a:latin typeface="Times New Roman" panose="02020603050405020304" pitchFamily="18" charset="0"/>
              </a:rPr>
              <a:t>）</a:t>
            </a:r>
            <a:r>
              <a:rPr lang="zh-CN" altLang="en-US" sz="3600" b="1">
                <a:solidFill>
                  <a:srgbClr val="FF0000"/>
                </a:solidFill>
                <a:latin typeface="Times New Roman" panose="02020603050405020304" pitchFamily="18" charset="0"/>
              </a:rPr>
              <a:t>食草</a:t>
            </a:r>
            <a:r>
              <a:rPr lang="zh-CN" altLang="en-US" sz="3600">
                <a:latin typeface="Times New Roman" panose="02020603050405020304" pitchFamily="18" charset="0"/>
              </a:rPr>
              <a:t>：他们逐渐的杀死对象生物（或不杀死），且只消费对象个体的一部分；（</a:t>
            </a:r>
            <a:r>
              <a:rPr lang="en-US" altLang="zh-CN" sz="3600">
                <a:latin typeface="Times New Roman" panose="02020603050405020304" pitchFamily="18" charset="0"/>
              </a:rPr>
              <a:t>3</a:t>
            </a:r>
            <a:r>
              <a:rPr lang="zh-CN" altLang="en-US" sz="3600">
                <a:latin typeface="Times New Roman" panose="02020603050405020304" pitchFamily="18" charset="0"/>
              </a:rPr>
              <a:t>）</a:t>
            </a:r>
            <a:r>
              <a:rPr lang="zh-CN" altLang="en-US" sz="3600" b="1">
                <a:solidFill>
                  <a:srgbClr val="FF0000"/>
                </a:solidFill>
                <a:latin typeface="Times New Roman" panose="02020603050405020304" pitchFamily="18" charset="0"/>
              </a:rPr>
              <a:t>寄生</a:t>
            </a:r>
            <a:r>
              <a:rPr lang="zh-CN" altLang="en-US" sz="3600">
                <a:latin typeface="Times New Roman" panose="02020603050405020304" pitchFamily="18" charset="0"/>
              </a:rPr>
              <a:t>：一个种寄居在另一种的体内或体表，靠其体液、组织或消化物而生存。</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捕食者适应"/>
          <p:cNvPicPr>
            <a:picLocks noChangeAspect="1"/>
          </p:cNvPicPr>
          <p:nvPr/>
        </p:nvPicPr>
        <p:blipFill>
          <a:blip r:embed="rId2"/>
          <a:stretch>
            <a:fillRect/>
          </a:stretch>
        </p:blipFill>
        <p:spPr>
          <a:xfrm>
            <a:off x="544195" y="826770"/>
            <a:ext cx="8915400" cy="4602163"/>
          </a:xfrm>
          <a:prstGeom prst="rect">
            <a:avLst/>
          </a:prstGeom>
          <a:noFill/>
          <a:ln w="9525">
            <a:noFill/>
          </a:ln>
        </p:spPr>
      </p:pic>
      <p:sp>
        <p:nvSpPr>
          <p:cNvPr id="39939" name="Text Box 3"/>
          <p:cNvSpPr txBox="1"/>
          <p:nvPr/>
        </p:nvSpPr>
        <p:spPr>
          <a:xfrm>
            <a:off x="1905000" y="304800"/>
            <a:ext cx="8305800" cy="521970"/>
          </a:xfrm>
          <a:prstGeom prst="rect">
            <a:avLst/>
          </a:prstGeom>
          <a:noFill/>
          <a:ln w="12700">
            <a:noFill/>
          </a:ln>
        </p:spPr>
        <p:txBody>
          <a:bodyPr>
            <a:spAutoFit/>
          </a:bodyPr>
          <a:lstStyle/>
          <a:p>
            <a:pPr>
              <a:spcBef>
                <a:spcPct val="50000"/>
              </a:spcBef>
            </a:pPr>
            <a:r>
              <a:rPr lang="en-US" altLang="zh-CN" sz="2800" b="1">
                <a:latin typeface="Times New Roman" panose="02020603050405020304" pitchFamily="18" charset="0"/>
              </a:rPr>
              <a:t>7.2.2.1  </a:t>
            </a:r>
            <a:r>
              <a:rPr lang="zh-CN" altLang="en-US" sz="2800" b="1">
                <a:latin typeface="Times New Roman" panose="02020603050405020304" pitchFamily="18" charset="0"/>
              </a:rPr>
              <a:t>捕食者与猎物的协同进化</a:t>
            </a:r>
          </a:p>
        </p:txBody>
      </p:sp>
      <p:sp>
        <p:nvSpPr>
          <p:cNvPr id="39940" name="Text Box 4"/>
          <p:cNvSpPr txBox="1"/>
          <p:nvPr/>
        </p:nvSpPr>
        <p:spPr>
          <a:xfrm>
            <a:off x="687705" y="6021705"/>
            <a:ext cx="10816590" cy="583565"/>
          </a:xfrm>
          <a:prstGeom prst="rect">
            <a:avLst/>
          </a:prstGeom>
          <a:noFill/>
          <a:ln w="12700">
            <a:noFill/>
          </a:ln>
        </p:spPr>
        <p:txBody>
          <a:bodyPr wrap="square">
            <a:spAutoFit/>
          </a:bodyPr>
          <a:lstStyle/>
          <a:p>
            <a:pPr>
              <a:spcBef>
                <a:spcPct val="50000"/>
              </a:spcBef>
            </a:pPr>
            <a:r>
              <a:rPr lang="zh-CN" altLang="en-US" sz="3200" b="1">
                <a:latin typeface="Times New Roman" panose="02020603050405020304" pitchFamily="18" charset="0"/>
              </a:rPr>
              <a:t>捕食者的本领</a:t>
            </a:r>
            <a:r>
              <a:rPr lang="en-US" altLang="zh-CN" sz="3200" b="1">
                <a:latin typeface="Times New Roman" panose="02020603050405020304" pitchFamily="18" charset="0"/>
              </a:rPr>
              <a:t>: </a:t>
            </a:r>
            <a:r>
              <a:rPr lang="zh-CN" altLang="en-US" sz="3200" b="1">
                <a:latin typeface="Times New Roman" panose="02020603050405020304" pitchFamily="18" charset="0"/>
              </a:rPr>
              <a:t>快速奔跑、隐蔽色、利爪、毒牙、集体围猎</a:t>
            </a:r>
          </a:p>
        </p:txBody>
      </p:sp>
      <p:pic>
        <p:nvPicPr>
          <p:cNvPr id="39941" name="Picture 6" descr="it?u=3514100627,164437576">
            <a:hlinkClick r:id="rId3"/>
          </p:cNvPr>
          <p:cNvPicPr>
            <a:picLocks noChangeAspect="1"/>
          </p:cNvPicPr>
          <p:nvPr/>
        </p:nvPicPr>
        <p:blipFill>
          <a:blip r:embed="rId4"/>
          <a:stretch>
            <a:fillRect/>
          </a:stretch>
        </p:blipFill>
        <p:spPr>
          <a:xfrm>
            <a:off x="9882823" y="1129665"/>
            <a:ext cx="2160587" cy="1512888"/>
          </a:xfrm>
          <a:prstGeom prst="rect">
            <a:avLst/>
          </a:prstGeom>
          <a:noFill/>
          <a:ln w="9525">
            <a:noFill/>
          </a:ln>
        </p:spPr>
      </p:pic>
      <p:sp>
        <p:nvSpPr>
          <p:cNvPr id="39942" name="Text Box 7"/>
          <p:cNvSpPr txBox="1"/>
          <p:nvPr/>
        </p:nvSpPr>
        <p:spPr>
          <a:xfrm>
            <a:off x="4440238" y="5571808"/>
            <a:ext cx="3635375" cy="306705"/>
          </a:xfrm>
          <a:prstGeom prst="rect">
            <a:avLst/>
          </a:prstGeom>
          <a:noFill/>
          <a:ln w="12700">
            <a:noFill/>
          </a:ln>
        </p:spPr>
        <p:txBody>
          <a:bodyPr>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Mcfadden and Keeton, 1994</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猎物适应"/>
          <p:cNvPicPr>
            <a:picLocks noChangeAspect="1"/>
          </p:cNvPicPr>
          <p:nvPr/>
        </p:nvPicPr>
        <p:blipFill>
          <a:blip r:embed="rId2"/>
          <a:stretch>
            <a:fillRect/>
          </a:stretch>
        </p:blipFill>
        <p:spPr>
          <a:xfrm>
            <a:off x="2222500" y="112395"/>
            <a:ext cx="3873500" cy="6322695"/>
          </a:xfrm>
          <a:prstGeom prst="rect">
            <a:avLst/>
          </a:prstGeom>
          <a:noFill/>
          <a:ln w="9525">
            <a:noFill/>
          </a:ln>
        </p:spPr>
      </p:pic>
      <p:sp>
        <p:nvSpPr>
          <p:cNvPr id="40963" name="Text Box 3"/>
          <p:cNvSpPr txBox="1"/>
          <p:nvPr/>
        </p:nvSpPr>
        <p:spPr>
          <a:xfrm>
            <a:off x="6864985" y="497840"/>
            <a:ext cx="4439920" cy="2306955"/>
          </a:xfrm>
          <a:prstGeom prst="rect">
            <a:avLst/>
          </a:prstGeom>
          <a:noFill/>
          <a:ln w="12700">
            <a:noFill/>
          </a:ln>
        </p:spPr>
        <p:txBody>
          <a:bodyPr wrap="square">
            <a:spAutoFit/>
          </a:bodyPr>
          <a:lstStyle/>
          <a:p>
            <a:pPr>
              <a:spcBef>
                <a:spcPct val="50000"/>
              </a:spcBef>
            </a:pPr>
            <a:r>
              <a:rPr lang="zh-CN" altLang="en-US" sz="3600" b="1">
                <a:latin typeface="Times New Roman" panose="02020603050405020304" pitchFamily="18" charset="0"/>
              </a:rPr>
              <a:t>猎物的本领：</a:t>
            </a:r>
            <a:r>
              <a:rPr lang="zh-CN" altLang="en-US" sz="3600" b="1">
                <a:solidFill>
                  <a:srgbClr val="FF0000"/>
                </a:solidFill>
                <a:latin typeface="Times New Roman" panose="02020603050405020304" pitchFamily="18" charset="0"/>
              </a:rPr>
              <a:t>拟态</a:t>
            </a:r>
            <a:r>
              <a:rPr lang="zh-CN" altLang="en-US" sz="3600" b="1">
                <a:latin typeface="Times New Roman" panose="02020603050405020304" pitchFamily="18" charset="0"/>
              </a:rPr>
              <a:t>、</a:t>
            </a:r>
            <a:r>
              <a:rPr lang="zh-CN" altLang="en-US" sz="3600" b="1">
                <a:solidFill>
                  <a:srgbClr val="FF0000"/>
                </a:solidFill>
                <a:latin typeface="Times New Roman" panose="02020603050405020304" pitchFamily="18" charset="0"/>
              </a:rPr>
              <a:t>保护色</a:t>
            </a:r>
            <a:r>
              <a:rPr lang="zh-CN" altLang="en-US" sz="3600" b="1">
                <a:latin typeface="Times New Roman" panose="02020603050405020304" pitchFamily="18" charset="0"/>
              </a:rPr>
              <a:t>、</a:t>
            </a:r>
            <a:r>
              <a:rPr lang="zh-CN" altLang="en-US" sz="3600" b="1">
                <a:solidFill>
                  <a:srgbClr val="FF0000"/>
                </a:solidFill>
                <a:latin typeface="Times New Roman" panose="02020603050405020304" pitchFamily="18" charset="0"/>
              </a:rPr>
              <a:t>警戒色</a:t>
            </a:r>
            <a:r>
              <a:rPr lang="zh-CN" altLang="en-US" sz="3600" b="1">
                <a:latin typeface="Times New Roman" panose="02020603050405020304" pitchFamily="18" charset="0"/>
              </a:rPr>
              <a:t>、</a:t>
            </a:r>
            <a:r>
              <a:rPr lang="zh-CN" altLang="en-US" sz="3600" b="1">
                <a:solidFill>
                  <a:srgbClr val="FF0000"/>
                </a:solidFill>
                <a:latin typeface="Times New Roman" panose="02020603050405020304" pitchFamily="18" charset="0"/>
              </a:rPr>
              <a:t>假死</a:t>
            </a:r>
            <a:r>
              <a:rPr lang="zh-CN" altLang="en-US" sz="3600" b="1">
                <a:latin typeface="Times New Roman" panose="02020603050405020304" pitchFamily="18" charset="0"/>
              </a:rPr>
              <a:t>、</a:t>
            </a:r>
            <a:r>
              <a:rPr lang="zh-CN" altLang="en-US" sz="3600" b="1">
                <a:solidFill>
                  <a:srgbClr val="FF0000"/>
                </a:solidFill>
                <a:latin typeface="Times New Roman" panose="02020603050405020304" pitchFamily="18" charset="0"/>
              </a:rPr>
              <a:t>快跑</a:t>
            </a:r>
            <a:r>
              <a:rPr lang="zh-CN" altLang="en-US" sz="3600" b="1">
                <a:latin typeface="Times New Roman" panose="02020603050405020304" pitchFamily="18" charset="0"/>
              </a:rPr>
              <a:t>、</a:t>
            </a:r>
            <a:r>
              <a:rPr lang="zh-CN" altLang="en-US" sz="3600" b="1">
                <a:solidFill>
                  <a:srgbClr val="FF0000"/>
                </a:solidFill>
                <a:latin typeface="Times New Roman" panose="02020603050405020304" pitchFamily="18" charset="0"/>
              </a:rPr>
              <a:t>集体抵御</a:t>
            </a:r>
            <a:r>
              <a:rPr lang="zh-CN" altLang="en-US" sz="3600" b="1">
                <a:solidFill>
                  <a:schemeClr val="tx1"/>
                </a:solidFill>
                <a:latin typeface="Times New Roman" panose="02020603050405020304" pitchFamily="18" charset="0"/>
              </a:rPr>
              <a:t>及</a:t>
            </a:r>
            <a:r>
              <a:rPr lang="zh-CN" altLang="en-US" sz="3600" b="1">
                <a:solidFill>
                  <a:srgbClr val="FF0000"/>
                </a:solidFill>
                <a:latin typeface="Times New Roman" panose="02020603050405020304" pitchFamily="18" charset="0"/>
              </a:rPr>
              <a:t>报警鸣叫</a:t>
            </a:r>
            <a:r>
              <a:rPr lang="zh-CN" altLang="en-US" sz="3600" b="1">
                <a:solidFill>
                  <a:schemeClr val="tx1"/>
                </a:solidFill>
                <a:latin typeface="Times New Roman" panose="02020603050405020304" pitchFamily="18" charset="0"/>
              </a:rPr>
              <a:t>。</a:t>
            </a:r>
          </a:p>
        </p:txBody>
      </p:sp>
      <p:sp>
        <p:nvSpPr>
          <p:cNvPr id="40964" name="Text Box 4"/>
          <p:cNvSpPr txBox="1"/>
          <p:nvPr/>
        </p:nvSpPr>
        <p:spPr>
          <a:xfrm>
            <a:off x="2529205" y="6435090"/>
            <a:ext cx="2829560" cy="306705"/>
          </a:xfrm>
          <a:prstGeom prst="rect">
            <a:avLst/>
          </a:prstGeom>
          <a:noFill/>
          <a:ln w="12700">
            <a:noFill/>
          </a:ln>
        </p:spPr>
        <p:txBody>
          <a:bodyPr wrap="square">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Mcfadden and Keeton, 1994</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986" name="Picture 2" descr="拟态"/>
          <p:cNvPicPr>
            <a:picLocks noChangeAspect="1"/>
          </p:cNvPicPr>
          <p:nvPr/>
        </p:nvPicPr>
        <p:blipFill>
          <a:blip r:embed="rId2"/>
          <a:stretch>
            <a:fillRect/>
          </a:stretch>
        </p:blipFill>
        <p:spPr>
          <a:xfrm>
            <a:off x="1828800" y="685800"/>
            <a:ext cx="8534400" cy="4710113"/>
          </a:xfrm>
          <a:prstGeom prst="rect">
            <a:avLst/>
          </a:prstGeom>
          <a:noFill/>
          <a:ln w="9525">
            <a:noFill/>
          </a:ln>
        </p:spPr>
      </p:pic>
      <p:sp>
        <p:nvSpPr>
          <p:cNvPr id="41987" name="Text Box 4"/>
          <p:cNvSpPr txBox="1"/>
          <p:nvPr/>
        </p:nvSpPr>
        <p:spPr>
          <a:xfrm>
            <a:off x="3863975" y="5876925"/>
            <a:ext cx="3635375" cy="306705"/>
          </a:xfrm>
          <a:prstGeom prst="rect">
            <a:avLst/>
          </a:prstGeom>
          <a:noFill/>
          <a:ln w="12700">
            <a:noFill/>
          </a:ln>
        </p:spPr>
        <p:txBody>
          <a:bodyPr>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Mcfadden and Keeton, 1994</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3"/>
          <p:cNvSpPr txBox="1"/>
          <p:nvPr/>
        </p:nvSpPr>
        <p:spPr>
          <a:xfrm>
            <a:off x="1267460" y="631825"/>
            <a:ext cx="10227310" cy="4276725"/>
          </a:xfrm>
          <a:prstGeom prst="rect">
            <a:avLst/>
          </a:prstGeom>
          <a:noFill/>
          <a:ln w="12700">
            <a:noFill/>
          </a:ln>
        </p:spPr>
        <p:txBody>
          <a:bodyPr wrap="square">
            <a:spAutoFit/>
          </a:bodyPr>
          <a:lstStyle/>
          <a:p>
            <a:pPr>
              <a:spcBef>
                <a:spcPct val="50000"/>
              </a:spcBef>
            </a:pPr>
            <a:r>
              <a:rPr lang="zh-CN" altLang="en-US" sz="3200" b="1">
                <a:latin typeface="Times New Roman" panose="02020603050405020304" pitchFamily="18" charset="0"/>
              </a:rPr>
              <a:t>协同进化（</a:t>
            </a:r>
            <a:r>
              <a:rPr lang="en-US" altLang="zh-CN" sz="3200" b="1">
                <a:latin typeface="Times New Roman" panose="02020603050405020304" pitchFamily="18" charset="0"/>
              </a:rPr>
              <a:t>coevolution)</a:t>
            </a:r>
          </a:p>
          <a:p>
            <a:pPr>
              <a:spcBef>
                <a:spcPct val="50000"/>
              </a:spcBef>
            </a:pPr>
            <a:r>
              <a:rPr lang="en-US" altLang="zh-CN" sz="3200" b="1">
                <a:latin typeface="Times New Roman" panose="02020603050405020304" pitchFamily="18" charset="0"/>
              </a:rPr>
              <a:t>        </a:t>
            </a:r>
            <a:r>
              <a:rPr lang="zh-CN" altLang="en-US" sz="3200" b="1">
                <a:latin typeface="Times New Roman" panose="02020603050405020304" pitchFamily="18" charset="0"/>
              </a:rPr>
              <a:t>一个物种的性状作为对另一物种性状的反应而进化，而后一物种的这一性状本身又是作为对前一物种性状的反应而进化的。</a:t>
            </a:r>
          </a:p>
          <a:p>
            <a:pPr>
              <a:spcBef>
                <a:spcPct val="50000"/>
              </a:spcBef>
            </a:pPr>
            <a:r>
              <a:rPr lang="en-US" altLang="zh-CN" sz="3200" b="1">
                <a:latin typeface="Times New Roman" panose="02020603050405020304" pitchFamily="18" charset="0"/>
              </a:rPr>
              <a:t>        </a:t>
            </a:r>
            <a:r>
              <a:rPr lang="zh-CN" altLang="en-US" sz="3200" b="1">
                <a:latin typeface="Times New Roman" panose="02020603050405020304" pitchFamily="18" charset="0"/>
              </a:rPr>
              <a:t>捕食者与猎物协同进化的结果常常是使有害的“负作用”减弱。</a:t>
            </a:r>
          </a:p>
          <a:p>
            <a:pPr>
              <a:spcBef>
                <a:spcPct val="50000"/>
              </a:spcBef>
            </a:pPr>
            <a:r>
              <a:rPr lang="en-US" altLang="zh-CN" sz="3200" b="1">
                <a:latin typeface="Times New Roman" panose="02020603050405020304" pitchFamily="18" charset="0"/>
              </a:rPr>
              <a:t>        </a:t>
            </a:r>
            <a:r>
              <a:rPr lang="zh-CN" altLang="en-US" sz="3200" b="1">
                <a:latin typeface="Times New Roman" panose="02020603050405020304" pitchFamily="18" charset="0"/>
              </a:rPr>
              <a:t>精明的捕食者</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Grp="1" noChangeAspect="1"/>
          </p:cNvPicPr>
          <p:nvPr>
            <p:ph/>
          </p:nvPr>
        </p:nvPicPr>
        <p:blipFill>
          <a:blip r:embed="rId2"/>
          <a:srcRect l="11469" t="13408" r="10844" b="6920"/>
          <a:stretch>
            <a:fillRect/>
          </a:stretch>
        </p:blipFill>
        <p:spPr>
          <a:xfrm>
            <a:off x="7456170" y="1403350"/>
            <a:ext cx="4735830" cy="3399790"/>
          </a:xfrm>
        </p:spPr>
      </p:pic>
      <p:sp>
        <p:nvSpPr>
          <p:cNvPr id="44035" name="Text Box 3"/>
          <p:cNvSpPr txBox="1"/>
          <p:nvPr/>
        </p:nvSpPr>
        <p:spPr>
          <a:xfrm>
            <a:off x="323850" y="700405"/>
            <a:ext cx="7195820" cy="2959100"/>
          </a:xfrm>
          <a:prstGeom prst="rect">
            <a:avLst/>
          </a:prstGeom>
          <a:noFill/>
          <a:ln w="12700">
            <a:noFill/>
          </a:ln>
        </p:spPr>
        <p:txBody>
          <a:bodyPr wrap="square">
            <a:noAutofit/>
          </a:bodyPr>
          <a:lstStyle/>
          <a:p>
            <a:pPr>
              <a:spcBef>
                <a:spcPct val="50000"/>
              </a:spcBef>
            </a:pPr>
            <a:r>
              <a:rPr lang="en-US" altLang="zh-CN" sz="3200" b="1">
                <a:latin typeface="Times New Roman" panose="02020603050405020304" pitchFamily="18" charset="0"/>
              </a:rPr>
              <a:t>7.2.2.2</a:t>
            </a:r>
            <a:r>
              <a:rPr lang="zh-CN" altLang="en-US" sz="3200" b="1">
                <a:latin typeface="Times New Roman" panose="02020603050405020304" pitchFamily="18" charset="0"/>
              </a:rPr>
              <a:t>捕食者</a:t>
            </a:r>
            <a:r>
              <a:rPr lang="en-US" altLang="zh-CN" sz="3200" b="1">
                <a:latin typeface="Times New Roman" panose="02020603050405020304" pitchFamily="18" charset="0"/>
              </a:rPr>
              <a:t>-</a:t>
            </a:r>
            <a:r>
              <a:rPr lang="zh-CN" altLang="en-US" sz="3200" b="1">
                <a:latin typeface="Times New Roman" panose="02020603050405020304" pitchFamily="18" charset="0"/>
              </a:rPr>
              <a:t>猎物数量动态 （</a:t>
            </a:r>
            <a:r>
              <a:rPr lang="en-US" altLang="zh-CN" sz="3200" b="1">
                <a:latin typeface="Times New Roman" panose="02020603050405020304" pitchFamily="18" charset="0"/>
              </a:rPr>
              <a:t>p147</a:t>
            </a:r>
            <a:r>
              <a:rPr lang="zh-CN" altLang="en-US" sz="3200" b="1">
                <a:latin typeface="Times New Roman" panose="02020603050405020304" pitchFamily="18" charset="0"/>
              </a:rPr>
              <a:t>页）</a:t>
            </a:r>
          </a:p>
          <a:p>
            <a:pPr>
              <a:spcBef>
                <a:spcPct val="50000"/>
              </a:spcBef>
            </a:pPr>
            <a:r>
              <a:rPr lang="en-US" altLang="zh-CN" sz="3200" b="1">
                <a:latin typeface="Times New Roman" panose="02020603050405020304" pitchFamily="18" charset="0"/>
              </a:rPr>
              <a:t>Lotka-Volterra </a:t>
            </a:r>
            <a:r>
              <a:rPr lang="zh-CN" altLang="en-US" sz="3200" b="1">
                <a:latin typeface="Times New Roman" panose="02020603050405020304" pitchFamily="18" charset="0"/>
              </a:rPr>
              <a:t>捕食者</a:t>
            </a:r>
            <a:r>
              <a:rPr lang="en-US" altLang="zh-CN" sz="3200" b="1">
                <a:latin typeface="Times New Roman" panose="02020603050405020304" pitchFamily="18" charset="0"/>
              </a:rPr>
              <a:t>-</a:t>
            </a:r>
            <a:r>
              <a:rPr lang="zh-CN" altLang="en-US" sz="3200" b="1">
                <a:latin typeface="Times New Roman" panose="02020603050405020304" pitchFamily="18" charset="0"/>
              </a:rPr>
              <a:t>猎物模型 ：</a:t>
            </a:r>
          </a:p>
          <a:p>
            <a:pPr>
              <a:spcBef>
                <a:spcPct val="50000"/>
              </a:spcBef>
            </a:pPr>
            <a:r>
              <a:rPr lang="en-US" altLang="zh-CN" sz="3200" b="1">
                <a:latin typeface="Times New Roman" panose="02020603050405020304" pitchFamily="18" charset="0"/>
              </a:rPr>
              <a:t>dN/dt = r</a:t>
            </a:r>
            <a:r>
              <a:rPr lang="en-US" altLang="zh-CN" sz="3200" b="1" baseline="-30000">
                <a:latin typeface="Times New Roman" panose="02020603050405020304" pitchFamily="18" charset="0"/>
              </a:rPr>
              <a:t>1</a:t>
            </a:r>
            <a:r>
              <a:rPr lang="en-US" altLang="zh-CN" sz="3200" b="1">
                <a:latin typeface="Times New Roman" panose="02020603050405020304" pitchFamily="18" charset="0"/>
              </a:rPr>
              <a:t>N-</a:t>
            </a:r>
            <a:r>
              <a:rPr lang="en-US" altLang="zh-CN" sz="3200" b="1">
                <a:latin typeface="Times New Roman" panose="02020603050405020304" pitchFamily="18" charset="0"/>
                <a:sym typeface="Symbol" panose="05050102010706020507" pitchFamily="18" charset="2"/>
              </a:rPr>
              <a:t></a:t>
            </a:r>
            <a:r>
              <a:rPr lang="en-US" altLang="zh-CN" sz="3200" b="1">
                <a:latin typeface="Times New Roman" panose="02020603050405020304" pitchFamily="18" charset="0"/>
              </a:rPr>
              <a:t>PN        ① </a:t>
            </a:r>
            <a:r>
              <a:rPr lang="zh-CN" altLang="en-US" sz="3200" b="1">
                <a:latin typeface="Times New Roman" panose="02020603050405020304" pitchFamily="18" charset="0"/>
              </a:rPr>
              <a:t>猎物方程</a:t>
            </a:r>
          </a:p>
          <a:p>
            <a:pPr>
              <a:spcBef>
                <a:spcPct val="50000"/>
              </a:spcBef>
            </a:pPr>
            <a:r>
              <a:rPr lang="en-US" altLang="zh-CN" sz="3200" b="1">
                <a:latin typeface="Times New Roman" panose="02020603050405020304" pitchFamily="18" charset="0"/>
              </a:rPr>
              <a:t>dP/dt = -r</a:t>
            </a:r>
            <a:r>
              <a:rPr lang="en-US" altLang="zh-CN" sz="3200" b="1" baseline="-30000">
                <a:latin typeface="Times New Roman" panose="02020603050405020304" pitchFamily="18" charset="0"/>
              </a:rPr>
              <a:t>2</a:t>
            </a:r>
            <a:r>
              <a:rPr lang="en-US" altLang="zh-CN" sz="3200" b="1">
                <a:latin typeface="Times New Roman" panose="02020603050405020304" pitchFamily="18" charset="0"/>
              </a:rPr>
              <a:t>P + </a:t>
            </a:r>
            <a:r>
              <a:rPr lang="en-US" altLang="zh-CN" sz="3200" b="1">
                <a:latin typeface="Times New Roman" panose="02020603050405020304" pitchFamily="18" charset="0"/>
                <a:sym typeface="Symbol" panose="05050102010706020507" pitchFamily="18" charset="2"/>
              </a:rPr>
              <a:t></a:t>
            </a:r>
            <a:r>
              <a:rPr lang="en-US" altLang="zh-CN" sz="3200" b="1">
                <a:latin typeface="Times New Roman" panose="02020603050405020304" pitchFamily="18" charset="0"/>
              </a:rPr>
              <a:t> PN    ②</a:t>
            </a:r>
            <a:r>
              <a:rPr lang="zh-CN" altLang="en-US" sz="3200" b="1">
                <a:latin typeface="Times New Roman" panose="02020603050405020304" pitchFamily="18" charset="0"/>
              </a:rPr>
              <a:t>捕食者方程</a:t>
            </a:r>
          </a:p>
          <a:p>
            <a:pPr>
              <a:spcBef>
                <a:spcPct val="50000"/>
              </a:spcBef>
            </a:pPr>
            <a:endParaRPr lang="en-US" altLang="zh-CN" sz="3200">
              <a:latin typeface="Times New Roman" panose="02020603050405020304" pitchFamily="18" charset="0"/>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捕食振荡"/>
          <p:cNvPicPr>
            <a:picLocks noChangeAspect="1"/>
          </p:cNvPicPr>
          <p:nvPr/>
        </p:nvPicPr>
        <p:blipFill>
          <a:blip r:embed="rId2"/>
          <a:srcRect t="5360" b="8793"/>
          <a:stretch>
            <a:fillRect/>
          </a:stretch>
        </p:blipFill>
        <p:spPr>
          <a:xfrm>
            <a:off x="1998345" y="1080135"/>
            <a:ext cx="7848600" cy="3763010"/>
          </a:xfrm>
          <a:prstGeom prst="rect">
            <a:avLst/>
          </a:prstGeom>
          <a:noFill/>
          <a:ln w="9525">
            <a:noFill/>
          </a:ln>
        </p:spPr>
      </p:pic>
      <p:sp>
        <p:nvSpPr>
          <p:cNvPr id="45059" name="Text Box 3"/>
          <p:cNvSpPr txBox="1"/>
          <p:nvPr/>
        </p:nvSpPr>
        <p:spPr>
          <a:xfrm>
            <a:off x="3850005" y="5052060"/>
            <a:ext cx="4491355" cy="583565"/>
          </a:xfrm>
          <a:prstGeom prst="rect">
            <a:avLst/>
          </a:prstGeom>
          <a:noFill/>
          <a:ln w="12700">
            <a:noFill/>
          </a:ln>
        </p:spPr>
        <p:txBody>
          <a:bodyPr wrap="square">
            <a:spAutoFit/>
          </a:bodyPr>
          <a:lstStyle/>
          <a:p>
            <a:pPr>
              <a:spcBef>
                <a:spcPct val="50000"/>
              </a:spcBef>
            </a:pPr>
            <a:r>
              <a:rPr lang="zh-CN" altLang="en-US" sz="3200" b="1">
                <a:latin typeface="Times New Roman" panose="02020603050405020304" pitchFamily="18" charset="0"/>
              </a:rPr>
              <a:t>兔子与猞猁 的种群震荡</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p:nvPr/>
        </p:nvSpPr>
        <p:spPr>
          <a:xfrm>
            <a:off x="2362200" y="457200"/>
            <a:ext cx="6553200" cy="368300"/>
          </a:xfrm>
          <a:prstGeom prst="rect">
            <a:avLst/>
          </a:prstGeom>
          <a:noFill/>
          <a:ln w="12700">
            <a:noFill/>
          </a:ln>
        </p:spPr>
        <p:txBody>
          <a:bodyPr>
            <a:spAutoFit/>
          </a:bodyPr>
          <a:lstStyle/>
          <a:p>
            <a:pPr>
              <a:spcBef>
                <a:spcPct val="50000"/>
              </a:spcBef>
            </a:pPr>
            <a:endParaRPr lang="zh-CN" altLang="zh-CN" b="1">
              <a:latin typeface="Times New Roman" panose="02020603050405020304" pitchFamily="18" charset="0"/>
            </a:endParaRPr>
          </a:p>
        </p:txBody>
      </p:sp>
      <p:sp>
        <p:nvSpPr>
          <p:cNvPr id="46083" name="Text Box 3"/>
          <p:cNvSpPr txBox="1"/>
          <p:nvPr/>
        </p:nvSpPr>
        <p:spPr>
          <a:xfrm>
            <a:off x="678180" y="755015"/>
            <a:ext cx="10835640" cy="4461510"/>
          </a:xfrm>
          <a:prstGeom prst="rect">
            <a:avLst/>
          </a:prstGeom>
          <a:noFill/>
          <a:ln w="12700">
            <a:noFill/>
          </a:ln>
        </p:spPr>
        <p:txBody>
          <a:bodyPr wrap="square">
            <a:spAutoFit/>
          </a:bodyPr>
          <a:lstStyle/>
          <a:p>
            <a:pPr>
              <a:spcBef>
                <a:spcPct val="50000"/>
              </a:spcBef>
            </a:pPr>
            <a:r>
              <a:rPr lang="en-US" altLang="zh-CN" sz="3200">
                <a:latin typeface="Times New Roman" panose="02020603050405020304" pitchFamily="18" charset="0"/>
              </a:rPr>
              <a:t>7.2.2.3 </a:t>
            </a:r>
            <a:r>
              <a:rPr lang="zh-CN" altLang="en-US" sz="3200" b="1">
                <a:latin typeface="Times New Roman" panose="02020603050405020304" pitchFamily="18" charset="0"/>
              </a:rPr>
              <a:t>自然界中捕食者对猎物种群大小的影响 </a:t>
            </a:r>
          </a:p>
          <a:p>
            <a:pPr>
              <a:spcBef>
                <a:spcPct val="50000"/>
              </a:spcBef>
            </a:pPr>
            <a:r>
              <a:rPr lang="zh-CN" altLang="en-US" sz="2800" b="1">
                <a:latin typeface="Times New Roman" panose="02020603050405020304" pitchFamily="18" charset="0"/>
              </a:rPr>
              <a:t>（</a:t>
            </a:r>
            <a:r>
              <a:rPr lang="en-US" altLang="zh-CN" sz="2800" b="1">
                <a:latin typeface="Times New Roman" panose="02020603050405020304" pitchFamily="18" charset="0"/>
              </a:rPr>
              <a:t>1</a:t>
            </a:r>
            <a:r>
              <a:rPr lang="zh-CN" altLang="en-US" sz="2800" b="1">
                <a:latin typeface="Times New Roman" panose="02020603050405020304" pitchFamily="18" charset="0"/>
              </a:rPr>
              <a:t>）任一捕食者的作用，只占猎物种总死亡率的很小一部</a:t>
            </a:r>
            <a:r>
              <a:rPr lang="en-US" altLang="zh-CN" sz="2800" b="1">
                <a:latin typeface="Times New Roman" panose="02020603050405020304" pitchFamily="18" charset="0"/>
              </a:rPr>
              <a:t> </a:t>
            </a:r>
            <a:r>
              <a:rPr lang="zh-CN" altLang="en-US" sz="2800" b="1">
                <a:latin typeface="Times New Roman" panose="02020603050405020304" pitchFamily="18" charset="0"/>
              </a:rPr>
              <a:t>分，因</a:t>
            </a:r>
          </a:p>
          <a:p>
            <a:pPr>
              <a:spcBef>
                <a:spcPct val="50000"/>
              </a:spcBef>
            </a:pPr>
            <a:r>
              <a:rPr lang="zh-CN" altLang="en-US" sz="2800" b="1">
                <a:latin typeface="Times New Roman" panose="02020603050405020304" pitchFamily="18" charset="0"/>
              </a:rPr>
              <a:t> </a:t>
            </a:r>
            <a:r>
              <a:rPr lang="en-US" altLang="zh-CN" sz="2800" b="1">
                <a:latin typeface="Times New Roman" panose="02020603050405020304" pitchFamily="18" charset="0"/>
              </a:rPr>
              <a:t>         </a:t>
            </a:r>
            <a:r>
              <a:rPr lang="zh-CN" altLang="en-US" sz="2800" b="1">
                <a:latin typeface="Times New Roman" panose="02020603050405020304" pitchFamily="18" charset="0"/>
              </a:rPr>
              <a:t>此去除捕食者对猎物种仅有微弱影响。</a:t>
            </a:r>
          </a:p>
          <a:p>
            <a:pPr>
              <a:spcBef>
                <a:spcPct val="50000"/>
              </a:spcBef>
            </a:pPr>
            <a:r>
              <a:rPr lang="zh-CN" altLang="en-US" sz="2800" b="1">
                <a:latin typeface="Times New Roman" panose="02020603050405020304" pitchFamily="18" charset="0"/>
              </a:rPr>
              <a:t>（</a:t>
            </a:r>
            <a:r>
              <a:rPr lang="en-US" altLang="zh-CN" sz="2800" b="1">
                <a:latin typeface="Times New Roman" panose="02020603050405020304" pitchFamily="18" charset="0"/>
              </a:rPr>
              <a:t>2</a:t>
            </a:r>
            <a:r>
              <a:rPr lang="zh-CN" altLang="en-US" sz="2800" b="1">
                <a:latin typeface="Times New Roman" panose="02020603050405020304" pitchFamily="18" charset="0"/>
              </a:rPr>
              <a:t>）捕食者只是利用了对象种中超出环境所能支持的部分个体，所</a:t>
            </a:r>
          </a:p>
          <a:p>
            <a:pPr>
              <a:spcBef>
                <a:spcPct val="50000"/>
              </a:spcBef>
            </a:pPr>
            <a:r>
              <a:rPr lang="zh-CN" altLang="en-US" sz="2800" b="1">
                <a:latin typeface="Times New Roman" panose="02020603050405020304" pitchFamily="18" charset="0"/>
              </a:rPr>
              <a:t> </a:t>
            </a:r>
            <a:r>
              <a:rPr lang="en-US" altLang="zh-CN" sz="2800" b="1">
                <a:latin typeface="Times New Roman" panose="02020603050405020304" pitchFamily="18" charset="0"/>
              </a:rPr>
              <a:t>        </a:t>
            </a:r>
            <a:r>
              <a:rPr lang="zh-CN" altLang="en-US" sz="2800" b="1">
                <a:latin typeface="Times New Roman" panose="02020603050405020304" pitchFamily="18" charset="0"/>
              </a:rPr>
              <a:t>以对最终猎物种群大小没有影响。这时限制猎物种群的主要因</a:t>
            </a:r>
          </a:p>
          <a:p>
            <a:pPr>
              <a:spcBef>
                <a:spcPct val="50000"/>
              </a:spcBef>
            </a:pPr>
            <a:r>
              <a:rPr lang="zh-CN" altLang="en-US" sz="2800" b="1">
                <a:latin typeface="Times New Roman" panose="02020603050405020304" pitchFamily="18" charset="0"/>
              </a:rPr>
              <a:t> </a:t>
            </a:r>
            <a:r>
              <a:rPr lang="en-US" altLang="zh-CN" sz="2800" b="1">
                <a:latin typeface="Times New Roman" panose="02020603050405020304" pitchFamily="18" charset="0"/>
              </a:rPr>
              <a:t>        </a:t>
            </a:r>
            <a:r>
              <a:rPr lang="zh-CN" altLang="en-US" sz="2800" b="1">
                <a:latin typeface="Times New Roman" panose="02020603050405020304" pitchFamily="18" charset="0"/>
              </a:rPr>
              <a:t>素不是捕食者数量，而是其他因素 。</a:t>
            </a:r>
          </a:p>
          <a:p>
            <a:pPr>
              <a:spcBef>
                <a:spcPct val="50000"/>
              </a:spcBef>
            </a:pPr>
            <a:r>
              <a:rPr lang="zh-CN" altLang="en-US" sz="2800" b="1">
                <a:latin typeface="Times New Roman" panose="02020603050405020304" pitchFamily="18" charset="0"/>
              </a:rPr>
              <a:t>（</a:t>
            </a:r>
            <a:r>
              <a:rPr lang="en-US" altLang="zh-CN" sz="2800" b="1">
                <a:latin typeface="Times New Roman" panose="02020603050405020304" pitchFamily="18" charset="0"/>
              </a:rPr>
              <a:t>3</a:t>
            </a:r>
            <a:r>
              <a:rPr lang="zh-CN" altLang="en-US" sz="2800" b="1">
                <a:latin typeface="Times New Roman" panose="02020603050405020304" pitchFamily="18" charset="0"/>
              </a:rPr>
              <a:t>）影响显著</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Grp="1" noChangeAspect="1"/>
          </p:cNvPicPr>
          <p:nvPr>
            <p:ph/>
          </p:nvPr>
        </p:nvPicPr>
        <p:blipFill>
          <a:blip r:embed="rId2"/>
          <a:srcRect l="8112" t="18581" r="6678" b="8789"/>
          <a:stretch>
            <a:fillRect/>
          </a:stretch>
        </p:blipFill>
        <p:spPr>
          <a:xfrm>
            <a:off x="8492490" y="1558290"/>
            <a:ext cx="3281680" cy="2665730"/>
          </a:xfrm>
        </p:spPr>
      </p:pic>
      <p:sp>
        <p:nvSpPr>
          <p:cNvPr id="47107" name="Text Box 3"/>
          <p:cNvSpPr txBox="1"/>
          <p:nvPr/>
        </p:nvSpPr>
        <p:spPr>
          <a:xfrm>
            <a:off x="795655" y="357505"/>
            <a:ext cx="10520680" cy="2517775"/>
          </a:xfrm>
          <a:prstGeom prst="rect">
            <a:avLst/>
          </a:prstGeom>
          <a:noFill/>
          <a:ln w="12700">
            <a:noFill/>
          </a:ln>
        </p:spPr>
        <p:txBody>
          <a:bodyPr wrap="square">
            <a:noAutofit/>
          </a:bodyPr>
          <a:lstStyle/>
          <a:p>
            <a:pPr marL="457200" indent="-457200" algn="just">
              <a:spcBef>
                <a:spcPct val="50000"/>
              </a:spcBef>
            </a:pPr>
            <a:r>
              <a:rPr lang="en-US" altLang="zh-CN" sz="3200" b="1">
                <a:latin typeface="Times New Roman" panose="02020603050405020304" pitchFamily="18" charset="0"/>
              </a:rPr>
              <a:t>7.2.2.4</a:t>
            </a:r>
            <a:r>
              <a:rPr lang="en-US" altLang="zh-CN" sz="3200" b="1">
                <a:latin typeface="Times New Roman" panose="02020603050405020304" pitchFamily="18" charset="0"/>
                <a:cs typeface="Times New Roman" panose="02020603050405020304" pitchFamily="18" charset="0"/>
              </a:rPr>
              <a:t>    </a:t>
            </a:r>
            <a:r>
              <a:rPr lang="zh-CN" altLang="en-US" sz="3200" b="1">
                <a:latin typeface="Times New Roman" panose="02020603050405020304" pitchFamily="18" charset="0"/>
              </a:rPr>
              <a:t>食草作用</a:t>
            </a:r>
          </a:p>
          <a:p>
            <a:pPr marL="457200" indent="-457200" algn="l">
              <a:spcBef>
                <a:spcPct val="50000"/>
              </a:spcBef>
            </a:pPr>
            <a:r>
              <a:rPr lang="en-US" altLang="zh-CN" sz="2800" b="1">
                <a:latin typeface="Times New Roman" panose="02020603050405020304" pitchFamily="18" charset="0"/>
              </a:rPr>
              <a:t>      </a:t>
            </a:r>
            <a:r>
              <a:rPr lang="zh-CN" altLang="en-US" sz="2800" b="1">
                <a:latin typeface="Times New Roman" panose="02020603050405020304" pitchFamily="18" charset="0"/>
              </a:rPr>
              <a:t>食草的特点是植物不能逃避被食，而动物对植物的危害只是使</a:t>
            </a:r>
          </a:p>
          <a:p>
            <a:pPr marL="457200" indent="-457200" algn="l">
              <a:spcBef>
                <a:spcPct val="50000"/>
              </a:spcBef>
            </a:pPr>
            <a:r>
              <a:rPr lang="zh-CN" altLang="en-US" sz="2800" b="1">
                <a:latin typeface="Times New Roman" panose="02020603050405020304" pitchFamily="18" charset="0"/>
              </a:rPr>
              <a:t>部分机体受损害，留下的部分能够再生。</a:t>
            </a:r>
          </a:p>
          <a:p>
            <a:pPr marL="457200" indent="-457200" algn="just">
              <a:spcBef>
                <a:spcPct val="50000"/>
              </a:spcBef>
            </a:pPr>
            <a:endParaRPr lang="zh-CN" altLang="en-US" sz="2800" b="1">
              <a:latin typeface="Times New Roman" panose="02020603050405020304" pitchFamily="18" charset="0"/>
            </a:endParaRPr>
          </a:p>
          <a:p>
            <a:pPr marL="457200" indent="-457200">
              <a:spcBef>
                <a:spcPct val="50000"/>
              </a:spcBef>
            </a:pPr>
            <a:endParaRPr lang="en-US" altLang="zh-CN" b="1">
              <a:latin typeface="Times New Roman" panose="02020603050405020304" pitchFamily="18" charset="0"/>
            </a:endParaRPr>
          </a:p>
        </p:txBody>
      </p:sp>
      <p:sp>
        <p:nvSpPr>
          <p:cNvPr id="73732" name="Text Box 4"/>
          <p:cNvSpPr txBox="1"/>
          <p:nvPr/>
        </p:nvSpPr>
        <p:spPr>
          <a:xfrm>
            <a:off x="1061085" y="5497195"/>
            <a:ext cx="7783830" cy="583565"/>
          </a:xfrm>
          <a:prstGeom prst="rect">
            <a:avLst/>
          </a:prstGeom>
          <a:noFill/>
          <a:ln w="12700">
            <a:noFill/>
          </a:ln>
        </p:spPr>
        <p:txBody>
          <a:bodyPr wrap="square">
            <a:spAutoFit/>
          </a:bodyPr>
          <a:lstStyle/>
          <a:p>
            <a:pPr marL="457200" indent="-457200"/>
            <a:r>
              <a:rPr lang="en-US" altLang="zh-CN" sz="3200" b="1">
                <a:latin typeface="Times New Roman" panose="02020603050405020304" pitchFamily="18" charset="0"/>
              </a:rPr>
              <a:t>2 </a:t>
            </a:r>
            <a:r>
              <a:rPr lang="zh-CN" altLang="en-US" sz="3200" b="1">
                <a:latin typeface="Times New Roman" panose="02020603050405020304" pitchFamily="18" charset="0"/>
              </a:rPr>
              <a:t>植物的防卫反应：机械防御或化学防御</a:t>
            </a:r>
          </a:p>
        </p:txBody>
      </p:sp>
      <p:sp>
        <p:nvSpPr>
          <p:cNvPr id="47109" name="Text Box 5"/>
          <p:cNvSpPr txBox="1"/>
          <p:nvPr/>
        </p:nvSpPr>
        <p:spPr>
          <a:xfrm>
            <a:off x="1412558" y="2352358"/>
            <a:ext cx="4967287" cy="521970"/>
          </a:xfrm>
          <a:prstGeom prst="rect">
            <a:avLst/>
          </a:prstGeom>
          <a:noFill/>
          <a:ln w="12700">
            <a:noFill/>
          </a:ln>
        </p:spPr>
        <p:txBody>
          <a:bodyPr>
            <a:spAutoFit/>
          </a:bodyPr>
          <a:lstStyle/>
          <a:p>
            <a:pPr>
              <a:spcBef>
                <a:spcPct val="50000"/>
              </a:spcBef>
            </a:pPr>
            <a:r>
              <a:rPr lang="zh-CN" altLang="en-US" sz="2800" b="1">
                <a:latin typeface="Times New Roman" panose="02020603050405020304" pitchFamily="18" charset="0"/>
              </a:rPr>
              <a:t>植物与食草动物的协同进化</a:t>
            </a:r>
          </a:p>
        </p:txBody>
      </p:sp>
      <p:sp>
        <p:nvSpPr>
          <p:cNvPr id="73734" name="Text Box 6"/>
          <p:cNvSpPr txBox="1"/>
          <p:nvPr/>
        </p:nvSpPr>
        <p:spPr>
          <a:xfrm>
            <a:off x="989965" y="3177540"/>
            <a:ext cx="7163435" cy="1934845"/>
          </a:xfrm>
          <a:prstGeom prst="rect">
            <a:avLst/>
          </a:prstGeom>
          <a:noFill/>
          <a:ln w="12700">
            <a:noFill/>
          </a:ln>
        </p:spPr>
        <p:txBody>
          <a:bodyPr wrap="square">
            <a:noAutofit/>
          </a:bodyPr>
          <a:lstStyle/>
          <a:p>
            <a:r>
              <a:rPr lang="en-US" altLang="zh-CN" sz="3200" b="1">
                <a:latin typeface="Times New Roman" panose="02020603050405020304" pitchFamily="18" charset="0"/>
              </a:rPr>
              <a:t>1.</a:t>
            </a:r>
            <a:r>
              <a:rPr lang="zh-CN" altLang="en-US" sz="3200" b="1">
                <a:latin typeface="Times New Roman" panose="02020603050405020304" pitchFamily="18" charset="0"/>
              </a:rPr>
              <a:t>食草的危害与植物的补偿作用：</a:t>
            </a:r>
          </a:p>
          <a:p>
            <a:r>
              <a:rPr lang="zh-CN" altLang="en-US" sz="3200" b="1">
                <a:latin typeface="Times New Roman" panose="02020603050405020304" pitchFamily="18" charset="0"/>
              </a:rPr>
              <a:t>食草危害随损害部位、植物发育阶段不同而不同。植物具生长补偿作用，如提高单位叶面积光合率，落叶减少等。</a:t>
            </a:r>
          </a:p>
          <a:p>
            <a:pPr>
              <a:spcBef>
                <a:spcPct val="50000"/>
              </a:spcBef>
            </a:pPr>
            <a:endParaRPr lang="en-US" altLang="zh-CN" sz="3200" b="1">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4"/>
                                        </p:tgtEl>
                                        <p:attrNameLst>
                                          <p:attrName>style.visibility</p:attrName>
                                        </p:attrNameLst>
                                      </p:cBhvr>
                                      <p:to>
                                        <p:strVal val="visible"/>
                                      </p:to>
                                    </p:set>
                                    <p:animEffect transition="in" filter="blinds(horizontal)">
                                      <p:cBhvr>
                                        <p:cTn id="7" dur="500"/>
                                        <p:tgtEl>
                                          <p:spTgt spid="737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2"/>
                                        </p:tgtEl>
                                        <p:attrNameLst>
                                          <p:attrName>style.visibility</p:attrName>
                                        </p:attrNameLst>
                                      </p:cBhvr>
                                      <p:to>
                                        <p:strVal val="visible"/>
                                      </p:to>
                                    </p:set>
                                    <p:animEffect transition="in" filter="blinds(horizontal)">
                                      <p:cBhvr>
                                        <p:cTn id="12" dur="500"/>
                                        <p:tgtEl>
                                          <p:spTgt spid="73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p:bldP spid="7373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3"/>
          <p:cNvSpPr txBox="1"/>
          <p:nvPr/>
        </p:nvSpPr>
        <p:spPr>
          <a:xfrm>
            <a:off x="1414145" y="383540"/>
            <a:ext cx="6554470" cy="583565"/>
          </a:xfrm>
          <a:prstGeom prst="rect">
            <a:avLst/>
          </a:prstGeom>
          <a:noFill/>
          <a:ln w="12700">
            <a:noFill/>
          </a:ln>
        </p:spPr>
        <p:txBody>
          <a:bodyPr wrap="square">
            <a:spAutoFit/>
          </a:bodyPr>
          <a:lstStyle/>
          <a:p>
            <a:pPr>
              <a:spcBef>
                <a:spcPct val="50000"/>
              </a:spcBef>
            </a:pPr>
            <a:r>
              <a:rPr lang="en-US" altLang="zh-CN" sz="3200" b="1">
                <a:latin typeface="Times New Roman" panose="02020603050405020304" pitchFamily="18" charset="0"/>
              </a:rPr>
              <a:t>3   </a:t>
            </a:r>
            <a:r>
              <a:rPr lang="zh-CN" altLang="en-US" sz="3200" b="1">
                <a:latin typeface="Times New Roman" panose="02020603050405020304" pitchFamily="18" charset="0"/>
              </a:rPr>
              <a:t>植物与食草动物种群的数量关系</a:t>
            </a:r>
          </a:p>
        </p:txBody>
      </p:sp>
      <p:pic>
        <p:nvPicPr>
          <p:cNvPr id="48131" name="Picture 5" descr="放牧系统 副本"/>
          <p:cNvPicPr>
            <a:picLocks noChangeAspect="1"/>
          </p:cNvPicPr>
          <p:nvPr/>
        </p:nvPicPr>
        <p:blipFill>
          <a:blip r:embed="rId2"/>
          <a:srcRect l="3626" t="4354" r="2047" b="5028"/>
          <a:stretch>
            <a:fillRect/>
          </a:stretch>
        </p:blipFill>
        <p:spPr>
          <a:xfrm>
            <a:off x="1644650" y="1296035"/>
            <a:ext cx="8194040" cy="4097020"/>
          </a:xfrm>
          <a:prstGeom prst="rect">
            <a:avLst/>
          </a:prstGeom>
          <a:noFill/>
          <a:ln w="9525">
            <a:noFill/>
          </a:ln>
        </p:spPr>
      </p:pic>
      <p:sp>
        <p:nvSpPr>
          <p:cNvPr id="48132" name="Text Box 6"/>
          <p:cNvSpPr txBox="1"/>
          <p:nvPr/>
        </p:nvSpPr>
        <p:spPr>
          <a:xfrm>
            <a:off x="2212975" y="5721985"/>
            <a:ext cx="7056438" cy="521970"/>
          </a:xfrm>
          <a:prstGeom prst="rect">
            <a:avLst/>
          </a:prstGeom>
          <a:noFill/>
          <a:ln w="12700">
            <a:noFill/>
          </a:ln>
        </p:spPr>
        <p:txBody>
          <a:bodyPr>
            <a:spAutoFit/>
          </a:bodyPr>
          <a:lstStyle/>
          <a:p>
            <a:pPr>
              <a:spcBef>
                <a:spcPct val="50000"/>
              </a:spcBef>
            </a:pPr>
            <a:r>
              <a:rPr lang="zh-CN" altLang="en-US" sz="2800" b="1">
                <a:latin typeface="Times New Roman" panose="02020603050405020304" pitchFamily="18" charset="0"/>
              </a:rPr>
              <a:t>放牧系统中食草作用与植物净生产力的关系</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9154" name="Picture 2"/>
          <p:cNvPicPr>
            <a:picLocks noGrp="1" noChangeAspect="1"/>
          </p:cNvPicPr>
          <p:nvPr>
            <p:ph/>
          </p:nvPr>
        </p:nvPicPr>
        <p:blipFill>
          <a:blip r:embed="rId2"/>
          <a:srcRect/>
          <a:stretch>
            <a:fillRect/>
          </a:stretch>
        </p:blipFill>
        <p:spPr>
          <a:xfrm>
            <a:off x="1524000" y="228600"/>
            <a:ext cx="9144000" cy="6400800"/>
          </a:xfrm>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p:nvPr/>
        </p:nvSpPr>
        <p:spPr>
          <a:xfrm>
            <a:off x="929640" y="356870"/>
            <a:ext cx="10552430" cy="6000750"/>
          </a:xfrm>
          <a:prstGeom prst="rect">
            <a:avLst/>
          </a:prstGeom>
          <a:noFill/>
          <a:ln w="12700">
            <a:noFill/>
          </a:ln>
        </p:spPr>
        <p:txBody>
          <a:bodyPr wrap="square">
            <a:spAutoFit/>
          </a:bodyPr>
          <a:lstStyle/>
          <a:p>
            <a:pPr algn="just">
              <a:spcBef>
                <a:spcPct val="50000"/>
              </a:spcBef>
            </a:pPr>
            <a:r>
              <a:rPr lang="en-US" altLang="zh-CN" sz="3200" b="1">
                <a:latin typeface="Times New Roman" panose="02020603050405020304" pitchFamily="18" charset="0"/>
              </a:rPr>
              <a:t>7.2.2.5</a:t>
            </a:r>
            <a:r>
              <a:rPr lang="en-US" altLang="zh-CN" sz="3200" b="1">
                <a:latin typeface="Times New Roman" panose="02020603050405020304" pitchFamily="18" charset="0"/>
                <a:cs typeface="Times New Roman" panose="02020603050405020304" pitchFamily="18" charset="0"/>
              </a:rPr>
              <a:t> </a:t>
            </a:r>
            <a:r>
              <a:rPr lang="en-US" altLang="zh-CN" sz="3200" b="1">
                <a:latin typeface="Times New Roman" panose="02020603050405020304" pitchFamily="18" charset="0"/>
              </a:rPr>
              <a:t> </a:t>
            </a:r>
            <a:r>
              <a:rPr lang="zh-CN" altLang="en-US" sz="3200" b="1">
                <a:latin typeface="Times New Roman" panose="02020603050405020304" pitchFamily="18" charset="0"/>
              </a:rPr>
              <a:t>寄生</a:t>
            </a:r>
          </a:p>
          <a:p>
            <a:pPr>
              <a:spcBef>
                <a:spcPct val="50000"/>
              </a:spcBef>
            </a:pPr>
            <a:r>
              <a:rPr lang="en-US" altLang="zh-CN" sz="3200" b="1">
                <a:latin typeface="Times New Roman" panose="02020603050405020304" pitchFamily="18" charset="0"/>
              </a:rPr>
              <a:t>        </a:t>
            </a:r>
            <a:r>
              <a:rPr lang="zh-CN" altLang="en-US" sz="3200" b="1">
                <a:latin typeface="Times New Roman" panose="02020603050405020304" pitchFamily="18" charset="0"/>
              </a:rPr>
              <a:t>寄生是指一个种（寄生物）寄居于另一个种（寄主）的体内或体表、靠寄主体液、组织或已消化物质获取营养而生存。</a:t>
            </a:r>
          </a:p>
          <a:p>
            <a:pPr>
              <a:spcBef>
                <a:spcPct val="50000"/>
              </a:spcBef>
            </a:pPr>
            <a:r>
              <a:rPr lang="en-US" altLang="zh-CN" sz="3200" b="1">
                <a:latin typeface="Times New Roman" panose="02020603050405020304" pitchFamily="18" charset="0"/>
              </a:rPr>
              <a:t>1.</a:t>
            </a:r>
            <a:r>
              <a:rPr lang="zh-CN" altLang="en-US" sz="3200" b="1">
                <a:latin typeface="Times New Roman" panose="02020603050405020304" pitchFamily="18" charset="0"/>
              </a:rPr>
              <a:t>微寄生物，在寄主体内或表面繁殖（病毒、细菌、真菌</a:t>
            </a:r>
          </a:p>
          <a:p>
            <a:pPr>
              <a:spcBef>
                <a:spcPct val="50000"/>
              </a:spcBef>
            </a:pPr>
            <a:r>
              <a:rPr lang="zh-CN" altLang="en-US" sz="3200" b="1">
                <a:latin typeface="Times New Roman" panose="02020603050405020304" pitchFamily="18" charset="0"/>
              </a:rPr>
              <a:t> </a:t>
            </a:r>
            <a:r>
              <a:rPr lang="en-US" altLang="zh-CN" sz="3200" b="1">
                <a:latin typeface="Times New Roman" panose="02020603050405020304" pitchFamily="18" charset="0"/>
              </a:rPr>
              <a:t>  </a:t>
            </a:r>
            <a:r>
              <a:rPr lang="zh-CN" altLang="en-US" sz="3200" b="1">
                <a:latin typeface="Times New Roman" panose="02020603050405020304" pitchFamily="18" charset="0"/>
              </a:rPr>
              <a:t>和原生动物 ）</a:t>
            </a:r>
          </a:p>
          <a:p>
            <a:pPr>
              <a:spcBef>
                <a:spcPct val="50000"/>
              </a:spcBef>
            </a:pPr>
            <a:r>
              <a:rPr lang="en-US" altLang="zh-CN" sz="3200" b="1">
                <a:latin typeface="Times New Roman" panose="02020603050405020304" pitchFamily="18" charset="0"/>
              </a:rPr>
              <a:t>2.</a:t>
            </a:r>
            <a:r>
              <a:rPr lang="zh-CN" altLang="en-US" sz="3200" b="1">
                <a:latin typeface="Times New Roman" panose="02020603050405020304" pitchFamily="18" charset="0"/>
              </a:rPr>
              <a:t>大寄生物，在寄主体内或表面生长，但不繁殖。（昆虫 ）</a:t>
            </a:r>
          </a:p>
          <a:p>
            <a:pPr>
              <a:spcBef>
                <a:spcPct val="50000"/>
              </a:spcBef>
            </a:pPr>
            <a:r>
              <a:rPr lang="en-US" altLang="zh-CN" sz="3200" b="1">
                <a:latin typeface="Times New Roman" panose="02020603050405020304" pitchFamily="18" charset="0"/>
              </a:rPr>
              <a:t>3.</a:t>
            </a:r>
            <a:r>
              <a:rPr lang="zh-CN" altLang="en-US" sz="3200" b="1">
                <a:latin typeface="Times New Roman" panose="02020603050405020304" pitchFamily="18" charset="0"/>
              </a:rPr>
              <a:t>拟寄生物（重寄生物）：在昆虫寄主身上或体内产卵，</a:t>
            </a:r>
          </a:p>
          <a:p>
            <a:pPr>
              <a:spcBef>
                <a:spcPct val="50000"/>
              </a:spcBef>
            </a:pPr>
            <a:r>
              <a:rPr lang="zh-CN" altLang="en-US" sz="3200" b="1">
                <a:latin typeface="Times New Roman" panose="02020603050405020304" pitchFamily="18" charset="0"/>
              </a:rPr>
              <a:t> </a:t>
            </a:r>
            <a:r>
              <a:rPr lang="en-US" altLang="zh-CN" sz="3200" b="1">
                <a:latin typeface="Times New Roman" panose="02020603050405020304" pitchFamily="18" charset="0"/>
              </a:rPr>
              <a:t>  </a:t>
            </a:r>
            <a:r>
              <a:rPr lang="zh-CN" altLang="en-US" sz="3200" b="1">
                <a:latin typeface="Times New Roman" panose="02020603050405020304" pitchFamily="18" charset="0"/>
              </a:rPr>
              <a:t>通常导致寄主死亡。</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p:nvPr/>
        </p:nvSpPr>
        <p:spPr>
          <a:xfrm>
            <a:off x="6096000" y="463550"/>
            <a:ext cx="5440680" cy="4831080"/>
          </a:xfrm>
          <a:prstGeom prst="rect">
            <a:avLst/>
          </a:prstGeom>
          <a:noFill/>
          <a:ln w="12700">
            <a:noFill/>
          </a:ln>
        </p:spPr>
        <p:txBody>
          <a:bodyPr wrap="square">
            <a:spAutoFit/>
          </a:bodyPr>
          <a:lstStyle/>
          <a:p>
            <a:pPr marL="457200" indent="-457200">
              <a:spcBef>
                <a:spcPct val="50000"/>
              </a:spcBef>
              <a:buAutoNum type="arabicPlain"/>
            </a:pPr>
            <a:r>
              <a:rPr lang="zh-CN" altLang="en-US" sz="2800" b="1">
                <a:latin typeface="Times New Roman" panose="02020603050405020304" pitchFamily="18" charset="0"/>
              </a:rPr>
              <a:t>寄生物与寄主的相互适应与协同进化</a:t>
            </a:r>
            <a:r>
              <a:rPr lang="zh-CN" altLang="en-US" sz="2800">
                <a:latin typeface="Times New Roman" panose="02020603050405020304" pitchFamily="18" charset="0"/>
              </a:rPr>
              <a:t> </a:t>
            </a:r>
          </a:p>
          <a:p>
            <a:pPr marL="457200" indent="-457200">
              <a:spcBef>
                <a:spcPct val="50000"/>
              </a:spcBef>
              <a:buNone/>
            </a:pPr>
            <a:r>
              <a:rPr lang="en-US" altLang="zh-CN" sz="2800" b="1">
                <a:latin typeface="Times New Roman" panose="02020603050405020304" pitchFamily="18" charset="0"/>
              </a:rPr>
              <a:t>     </a:t>
            </a:r>
            <a:r>
              <a:rPr lang="zh-CN" altLang="en-US" sz="2800" b="1">
                <a:latin typeface="Times New Roman" panose="02020603050405020304" pitchFamily="18" charset="0"/>
              </a:rPr>
              <a:t>寄生物：神经系统、感觉器官</a:t>
            </a:r>
          </a:p>
          <a:p>
            <a:pPr marL="457200" indent="-457200">
              <a:spcBef>
                <a:spcPct val="50000"/>
              </a:spcBef>
              <a:buNone/>
            </a:pPr>
            <a:r>
              <a:rPr lang="zh-CN" altLang="en-US" sz="2800" b="1">
                <a:latin typeface="Times New Roman" panose="02020603050405020304" pitchFamily="18" charset="0"/>
              </a:rPr>
              <a:t>退化，生殖系统发达，复杂的生</a:t>
            </a:r>
          </a:p>
          <a:p>
            <a:pPr marL="457200" indent="-457200">
              <a:spcBef>
                <a:spcPct val="50000"/>
              </a:spcBef>
              <a:buNone/>
            </a:pPr>
            <a:r>
              <a:rPr lang="zh-CN" altLang="en-US" sz="2800" b="1">
                <a:latin typeface="Times New Roman" panose="02020603050405020304" pitchFamily="18" charset="0"/>
              </a:rPr>
              <a:t>活史</a:t>
            </a:r>
          </a:p>
          <a:p>
            <a:pPr marL="457200" indent="-457200">
              <a:spcBef>
                <a:spcPct val="50000"/>
              </a:spcBef>
              <a:buNone/>
            </a:pPr>
            <a:r>
              <a:rPr lang="en-US" altLang="zh-CN" sz="2800" b="1">
                <a:latin typeface="Times New Roman" panose="02020603050405020304" pitchFamily="18" charset="0"/>
              </a:rPr>
              <a:t>      </a:t>
            </a:r>
            <a:r>
              <a:rPr lang="zh-CN" altLang="en-US" sz="2800" b="1">
                <a:latin typeface="Times New Roman" panose="02020603050405020304" pitchFamily="18" charset="0"/>
              </a:rPr>
              <a:t>寄主：产生免疫反应，动物的</a:t>
            </a:r>
          </a:p>
          <a:p>
            <a:pPr marL="457200" indent="-457200">
              <a:spcBef>
                <a:spcPct val="50000"/>
              </a:spcBef>
              <a:buNone/>
            </a:pPr>
            <a:r>
              <a:rPr lang="zh-CN" altLang="en-US" sz="2800" b="1">
                <a:latin typeface="Times New Roman" panose="02020603050405020304" pitchFamily="18" charset="0"/>
              </a:rPr>
              <a:t>整理行为、迁移。</a:t>
            </a:r>
          </a:p>
          <a:p>
            <a:pPr marL="457200" indent="-457200">
              <a:spcBef>
                <a:spcPct val="50000"/>
              </a:spcBef>
              <a:buNone/>
            </a:pPr>
            <a:r>
              <a:rPr lang="en-US" altLang="zh-CN" sz="2800" b="1">
                <a:latin typeface="Times New Roman" panose="02020603050405020304" pitchFamily="18" charset="0"/>
              </a:rPr>
              <a:t>      </a:t>
            </a:r>
            <a:r>
              <a:rPr lang="zh-CN" altLang="en-US" sz="2800" b="1">
                <a:latin typeface="Times New Roman" panose="02020603050405020304" pitchFamily="18" charset="0"/>
              </a:rPr>
              <a:t>进化结果：危害逐渐减弱</a:t>
            </a:r>
            <a:r>
              <a:rPr lang="zh-CN" altLang="en-US" b="1">
                <a:latin typeface="Times New Roman" panose="02020603050405020304" pitchFamily="18" charset="0"/>
              </a:rPr>
              <a:t>。</a:t>
            </a:r>
          </a:p>
        </p:txBody>
      </p:sp>
      <p:pic>
        <p:nvPicPr>
          <p:cNvPr id="51203" name="Picture 3" descr="图6-19 副本"/>
          <p:cNvPicPr>
            <a:picLocks noChangeAspect="1"/>
          </p:cNvPicPr>
          <p:nvPr/>
        </p:nvPicPr>
        <p:blipFill>
          <a:blip r:embed="rId2"/>
          <a:stretch>
            <a:fillRect/>
          </a:stretch>
        </p:blipFill>
        <p:spPr>
          <a:xfrm>
            <a:off x="880745" y="533400"/>
            <a:ext cx="4346575" cy="5272088"/>
          </a:xfrm>
          <a:prstGeom prst="rect">
            <a:avLst/>
          </a:prstGeom>
          <a:noFill/>
          <a:ln w="9525">
            <a:noFill/>
          </a:ln>
        </p:spPr>
      </p:pic>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1026"/>
          <p:cNvSpPr txBox="1"/>
          <p:nvPr/>
        </p:nvSpPr>
        <p:spPr>
          <a:xfrm>
            <a:off x="1770380" y="592455"/>
            <a:ext cx="5343525" cy="618490"/>
          </a:xfrm>
          <a:prstGeom prst="rect">
            <a:avLst/>
          </a:prstGeom>
          <a:noFill/>
          <a:ln w="12700">
            <a:noFill/>
          </a:ln>
        </p:spPr>
        <p:txBody>
          <a:bodyPr>
            <a:noAutofit/>
          </a:bodyPr>
          <a:lstStyle/>
          <a:p>
            <a:pPr>
              <a:spcBef>
                <a:spcPct val="50000"/>
              </a:spcBef>
            </a:pPr>
            <a:r>
              <a:rPr lang="zh-CN" altLang="en-US" sz="3200" b="1">
                <a:latin typeface="Times New Roman" panose="02020603050405020304" pitchFamily="18" charset="0"/>
              </a:rPr>
              <a:t>寄生物与寄主种群相互动态</a:t>
            </a:r>
            <a:r>
              <a:rPr lang="zh-CN" altLang="en-US" b="1">
                <a:latin typeface="Times New Roman" panose="02020603050405020304" pitchFamily="18" charset="0"/>
              </a:rPr>
              <a:t> </a:t>
            </a:r>
          </a:p>
          <a:p>
            <a:pPr>
              <a:spcBef>
                <a:spcPct val="50000"/>
              </a:spcBef>
            </a:pPr>
            <a:endParaRPr lang="en-US" altLang="zh-CN" b="1">
              <a:latin typeface="Times New Roman" panose="02020603050405020304" pitchFamily="18" charset="0"/>
            </a:endParaRPr>
          </a:p>
        </p:txBody>
      </p:sp>
      <p:pic>
        <p:nvPicPr>
          <p:cNvPr id="52227" name="Picture 1027" descr="图6-20 副本"/>
          <p:cNvPicPr>
            <a:picLocks noChangeAspect="1"/>
          </p:cNvPicPr>
          <p:nvPr/>
        </p:nvPicPr>
        <p:blipFill>
          <a:blip r:embed="rId2"/>
          <a:stretch>
            <a:fillRect/>
          </a:stretch>
        </p:blipFill>
        <p:spPr>
          <a:xfrm>
            <a:off x="2665095" y="1590675"/>
            <a:ext cx="6019800" cy="2979738"/>
          </a:xfrm>
          <a:prstGeom prst="rect">
            <a:avLst/>
          </a:prstGeom>
          <a:noFill/>
          <a:ln w="9525">
            <a:noFill/>
          </a:ln>
        </p:spPr>
      </p:pic>
      <p:sp>
        <p:nvSpPr>
          <p:cNvPr id="52228" name="Text Box 1028"/>
          <p:cNvSpPr txBox="1"/>
          <p:nvPr/>
        </p:nvSpPr>
        <p:spPr>
          <a:xfrm>
            <a:off x="2919730" y="4733290"/>
            <a:ext cx="6352540" cy="521970"/>
          </a:xfrm>
          <a:prstGeom prst="rect">
            <a:avLst/>
          </a:prstGeom>
          <a:noFill/>
          <a:ln w="12700">
            <a:noFill/>
          </a:ln>
        </p:spPr>
        <p:txBody>
          <a:bodyPr wrap="square">
            <a:spAutoFit/>
          </a:bodyPr>
          <a:lstStyle/>
          <a:p>
            <a:pPr>
              <a:spcBef>
                <a:spcPct val="50000"/>
              </a:spcBef>
            </a:pPr>
            <a:r>
              <a:rPr lang="en-US" altLang="zh-CN" sz="2800">
                <a:latin typeface="Times New Roman" panose="02020603050405020304" pitchFamily="18" charset="0"/>
              </a:rPr>
              <a:t>20</a:t>
            </a:r>
            <a:r>
              <a:rPr lang="zh-CN" altLang="en-US" sz="2800">
                <a:latin typeface="Times New Roman" panose="02020603050405020304" pitchFamily="18" charset="0"/>
              </a:rPr>
              <a:t>年间英格兰和威尔士麻疹传染力循环</a:t>
            </a:r>
            <a:r>
              <a:rPr lang="zh-CN" altLang="en-US">
                <a:latin typeface="Times New Roman" panose="02020603050405020304" pitchFamily="18" charset="0"/>
              </a:rPr>
              <a:t> </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3250" name="Picture 2" descr="寄生震荡"/>
          <p:cNvPicPr>
            <a:picLocks noChangeAspect="1"/>
          </p:cNvPicPr>
          <p:nvPr/>
        </p:nvPicPr>
        <p:blipFill>
          <a:blip r:embed="rId2"/>
          <a:stretch>
            <a:fillRect/>
          </a:stretch>
        </p:blipFill>
        <p:spPr>
          <a:xfrm>
            <a:off x="2362200" y="685800"/>
            <a:ext cx="7543800" cy="5386388"/>
          </a:xfrm>
          <a:prstGeom prst="rect">
            <a:avLst/>
          </a:prstGeom>
          <a:noFill/>
          <a:ln w="9525">
            <a:noFill/>
          </a:ln>
        </p:spPr>
      </p:pic>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p:nvPr/>
        </p:nvSpPr>
        <p:spPr>
          <a:xfrm>
            <a:off x="960755" y="514985"/>
            <a:ext cx="10220325" cy="1814830"/>
          </a:xfrm>
          <a:prstGeom prst="rect">
            <a:avLst/>
          </a:prstGeom>
          <a:noFill/>
          <a:ln w="12700">
            <a:noFill/>
          </a:ln>
        </p:spPr>
        <p:txBody>
          <a:bodyPr wrap="square">
            <a:spAutoFit/>
          </a:bodyPr>
          <a:lstStyle/>
          <a:p>
            <a:pPr>
              <a:spcBef>
                <a:spcPct val="50000"/>
              </a:spcBef>
            </a:pPr>
            <a:r>
              <a:rPr lang="zh-CN" altLang="en-US" sz="2800" b="1">
                <a:latin typeface="Times New Roman" panose="02020603050405020304" pitchFamily="18" charset="0"/>
              </a:rPr>
              <a:t>社会性寄生物：不摄取寄主组织，而是通过强迫其寄主动物为其</a:t>
            </a:r>
          </a:p>
          <a:p>
            <a:pPr>
              <a:spcBef>
                <a:spcPct val="50000"/>
              </a:spcBef>
            </a:pPr>
            <a:r>
              <a:rPr lang="zh-CN" altLang="en-US" sz="2800" b="1">
                <a:latin typeface="Times New Roman" panose="02020603050405020304" pitchFamily="18" charset="0"/>
              </a:rPr>
              <a:t> </a:t>
            </a:r>
            <a:r>
              <a:rPr lang="en-US" altLang="zh-CN" sz="2800" b="1">
                <a:latin typeface="Times New Roman" panose="02020603050405020304" pitchFamily="18" charset="0"/>
              </a:rPr>
              <a:t>       </a:t>
            </a:r>
            <a:r>
              <a:rPr lang="zh-CN" altLang="en-US" sz="2800" b="1">
                <a:solidFill>
                  <a:srgbClr val="FF0000"/>
                </a:solidFill>
                <a:latin typeface="Times New Roman" panose="02020603050405020304" pitchFamily="18" charset="0"/>
              </a:rPr>
              <a:t>提供食物</a:t>
            </a:r>
            <a:r>
              <a:rPr lang="zh-CN" altLang="en-US" sz="2800" b="1">
                <a:latin typeface="Times New Roman" panose="02020603050405020304" pitchFamily="18" charset="0"/>
              </a:rPr>
              <a:t>或</a:t>
            </a:r>
            <a:r>
              <a:rPr lang="zh-CN" altLang="en-US" sz="2800" b="1">
                <a:solidFill>
                  <a:srgbClr val="FF0000"/>
                </a:solidFill>
                <a:latin typeface="Times New Roman" panose="02020603050405020304" pitchFamily="18" charset="0"/>
              </a:rPr>
              <a:t>其他利益</a:t>
            </a:r>
            <a:r>
              <a:rPr lang="zh-CN" altLang="en-US" sz="2800" b="1">
                <a:latin typeface="Times New Roman" panose="02020603050405020304" pitchFamily="18" charset="0"/>
              </a:rPr>
              <a:t>而获利的寄生物。</a:t>
            </a:r>
          </a:p>
          <a:p>
            <a:pPr>
              <a:spcBef>
                <a:spcPct val="50000"/>
              </a:spcBef>
            </a:pPr>
            <a:r>
              <a:rPr lang="en-US" altLang="zh-CN" sz="2800" b="1">
                <a:latin typeface="Times New Roman" panose="02020603050405020304" pitchFamily="18" charset="0"/>
              </a:rPr>
              <a:t>      </a:t>
            </a:r>
            <a:r>
              <a:rPr lang="zh-CN" altLang="en-US" sz="2800" b="1">
                <a:latin typeface="Times New Roman" panose="02020603050405020304" pitchFamily="18" charset="0"/>
              </a:rPr>
              <a:t> 如鸟类的窝寄生 （种内窝寄生，鸭；种间窝寄生：杜鹃）</a:t>
            </a:r>
          </a:p>
        </p:txBody>
      </p:sp>
      <p:pic>
        <p:nvPicPr>
          <p:cNvPr id="54275" name="Picture 5" descr="u=3617215773,10896017&amp;fm=23&amp;gp=0"/>
          <p:cNvPicPr>
            <a:picLocks noChangeAspect="1"/>
          </p:cNvPicPr>
          <p:nvPr/>
        </p:nvPicPr>
        <p:blipFill>
          <a:blip r:embed="rId2"/>
          <a:stretch>
            <a:fillRect/>
          </a:stretch>
        </p:blipFill>
        <p:spPr>
          <a:xfrm>
            <a:off x="3903345" y="2899410"/>
            <a:ext cx="3333750" cy="2495550"/>
          </a:xfrm>
          <a:prstGeom prst="rect">
            <a:avLst/>
          </a:prstGeom>
          <a:noFill/>
          <a:ln w="9525">
            <a:noFill/>
          </a:ln>
        </p:spPr>
      </p:pic>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p:cNvGraphicFramePr/>
          <p:nvPr/>
        </p:nvGraphicFramePr>
        <p:xfrm>
          <a:off x="2590800" y="914400"/>
          <a:ext cx="6896100" cy="5524500"/>
        </p:xfrm>
        <a:graphic>
          <a:graphicData uri="http://schemas.openxmlformats.org/presentationml/2006/ole">
            <mc:AlternateContent xmlns:mc="http://schemas.openxmlformats.org/markup-compatibility/2006">
              <mc:Choice xmlns:v="urn:schemas-microsoft-com:vml" Requires="v">
                <p:oleObj r:id="rId2" imgW="6896100" imgH="5530850" progId="Word.Document.8">
                  <p:embed/>
                </p:oleObj>
              </mc:Choice>
              <mc:Fallback>
                <p:oleObj r:id="rId2" imgW="6896100" imgH="5530850" progId="Word.Document.8">
                  <p:embed/>
                  <p:pic>
                    <p:nvPicPr>
                      <p:cNvPr id="12290" name="Object 2"/>
                      <p:cNvPicPr/>
                      <p:nvPr/>
                    </p:nvPicPr>
                    <p:blipFill>
                      <a:blip r:embed="rId3"/>
                      <a:stretch>
                        <a:fillRect/>
                      </a:stretch>
                    </p:blipFill>
                    <p:spPr>
                      <a:xfrm>
                        <a:off x="2590800" y="914400"/>
                        <a:ext cx="6896100" cy="5524500"/>
                      </a:xfrm>
                      <a:prstGeom prst="rect">
                        <a:avLst/>
                      </a:prstGeom>
                      <a:noFill/>
                      <a:ln w="38100">
                        <a:noFill/>
                        <a:miter/>
                      </a:ln>
                    </p:spPr>
                  </p:pic>
                </p:oleObj>
              </mc:Fallback>
            </mc:AlternateContent>
          </a:graphicData>
        </a:graphic>
      </p:graphicFrame>
      <p:sp>
        <p:nvSpPr>
          <p:cNvPr id="12291" name="Text Box 3"/>
          <p:cNvSpPr txBox="1"/>
          <p:nvPr/>
        </p:nvSpPr>
        <p:spPr>
          <a:xfrm>
            <a:off x="1053465" y="215265"/>
            <a:ext cx="10498455" cy="2376805"/>
          </a:xfrm>
          <a:prstGeom prst="rect">
            <a:avLst/>
          </a:prstGeom>
          <a:noFill/>
          <a:ln w="12700">
            <a:noFill/>
          </a:ln>
        </p:spPr>
        <p:txBody>
          <a:bodyPr>
            <a:noAutofit/>
          </a:bodyPr>
          <a:lstStyle/>
          <a:p>
            <a:pPr algn="just">
              <a:spcBef>
                <a:spcPct val="50000"/>
              </a:spcBef>
            </a:pPr>
            <a:r>
              <a:rPr lang="en-US" altLang="zh-CN" sz="3200" b="1">
                <a:solidFill>
                  <a:srgbClr val="000000"/>
                </a:solidFill>
                <a:latin typeface="Times New Roman" panose="02020603050405020304" pitchFamily="18" charset="0"/>
                <a:cs typeface="Times New Roman" panose="02020603050405020304" pitchFamily="18" charset="0"/>
              </a:rPr>
              <a:t>7.2.2.6   </a:t>
            </a:r>
            <a:r>
              <a:rPr lang="zh-CN" altLang="en-US" sz="3200" b="1">
                <a:solidFill>
                  <a:srgbClr val="000000"/>
                </a:solidFill>
                <a:latin typeface="Times New Roman" panose="02020603050405020304" pitchFamily="18" charset="0"/>
              </a:rPr>
              <a:t>互利共生（</a:t>
            </a:r>
            <a:r>
              <a:rPr lang="en-US" altLang="zh-CN" sz="3200" b="1">
                <a:solidFill>
                  <a:srgbClr val="000000"/>
                </a:solidFill>
                <a:latin typeface="Times New Roman" panose="02020603050405020304" pitchFamily="18" charset="0"/>
              </a:rPr>
              <a:t>mutulism)</a:t>
            </a:r>
            <a:r>
              <a:rPr lang="zh-CN" altLang="en-US" sz="3200" b="1">
                <a:solidFill>
                  <a:srgbClr val="000000"/>
                </a:solidFill>
                <a:latin typeface="Times New Roman" panose="02020603050405020304" pitchFamily="18" charset="0"/>
              </a:rPr>
              <a:t>：</a:t>
            </a:r>
            <a:r>
              <a:rPr lang="zh-CN" altLang="en-US" sz="2800" b="1">
                <a:solidFill>
                  <a:srgbClr val="000000"/>
                </a:solidFill>
                <a:latin typeface="Times New Roman" panose="02020603050405020304" pitchFamily="18" charset="0"/>
              </a:rPr>
              <a:t>两种共同生活，互惠互利，</a:t>
            </a:r>
          </a:p>
          <a:p>
            <a:pPr algn="just">
              <a:spcBef>
                <a:spcPct val="50000"/>
              </a:spcBef>
            </a:pPr>
            <a:r>
              <a:rPr lang="zh-CN" altLang="en-US" sz="2800" b="1">
                <a:solidFill>
                  <a:srgbClr val="000000"/>
                </a:solidFill>
                <a:latin typeface="Times New Roman" panose="02020603050405020304" pitchFamily="18" charset="0"/>
              </a:rPr>
              <a:t> </a:t>
            </a: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可提高双方的适合度。</a:t>
            </a:r>
            <a:endParaRPr lang="zh-CN" altLang="en-US" sz="2800">
              <a:latin typeface="Times New Roman" panose="02020603050405020304" pitchFamily="18" charset="0"/>
            </a:endParaRPr>
          </a:p>
          <a:p>
            <a:pPr algn="just">
              <a:spcBef>
                <a:spcPct val="50000"/>
              </a:spcBef>
            </a:pPr>
            <a:r>
              <a:rPr lang="zh-CN" altLang="en-US" sz="2800" b="1">
                <a:solidFill>
                  <a:srgbClr val="000000"/>
                </a:solidFill>
                <a:latin typeface="Times New Roman" panose="02020603050405020304" pitchFamily="18" charset="0"/>
              </a:rPr>
              <a:t> </a:t>
            </a:r>
            <a:r>
              <a:rPr lang="en-US" altLang="zh-CN" sz="2800" b="1">
                <a:solidFill>
                  <a:srgbClr val="000000"/>
                </a:solidFill>
                <a:latin typeface="Times New Roman" panose="02020603050405020304" pitchFamily="18" charset="0"/>
              </a:rPr>
              <a:t>1.</a:t>
            </a:r>
            <a:r>
              <a:rPr lang="zh-CN" altLang="en-US" sz="2800" b="1">
                <a:solidFill>
                  <a:srgbClr val="000000"/>
                </a:solidFill>
                <a:latin typeface="Times New Roman" panose="02020603050405020304" pitchFamily="18" charset="0"/>
              </a:rPr>
              <a:t>体外互利共生：行为上互利共生（清洁鱼与顾客），花和传</a:t>
            </a:r>
          </a:p>
          <a:p>
            <a:pPr algn="just">
              <a:spcBef>
                <a:spcPct val="50000"/>
              </a:spcBef>
            </a:pPr>
            <a:r>
              <a:rPr lang="zh-CN" altLang="en-US" sz="2800" b="1">
                <a:solidFill>
                  <a:srgbClr val="000000"/>
                </a:solidFill>
                <a:latin typeface="Times New Roman" panose="02020603050405020304" pitchFamily="18" charset="0"/>
              </a:rPr>
              <a:t> </a:t>
            </a: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粉动物， 种植和饲养的互利共生。</a:t>
            </a:r>
            <a:endParaRPr lang="zh-CN" altLang="en-US" sz="2800">
              <a:latin typeface="Times New Roman" panose="02020603050405020304" pitchFamily="18" charset="0"/>
            </a:endParaRPr>
          </a:p>
          <a:p>
            <a:pPr algn="just">
              <a:spcBef>
                <a:spcPct val="50000"/>
              </a:spcBef>
            </a:pPr>
            <a:r>
              <a:rPr lang="zh-CN" altLang="en-US" sz="2800" b="1">
                <a:solidFill>
                  <a:srgbClr val="000000"/>
                </a:solidFill>
                <a:latin typeface="Times New Roman" panose="02020603050405020304" pitchFamily="18" charset="0"/>
              </a:rPr>
              <a:t>             </a:t>
            </a:r>
            <a:endParaRPr lang="zh-CN" altLang="en-US" sz="2800">
              <a:latin typeface="Times New Roman" panose="02020603050405020304" pitchFamily="18" charset="0"/>
            </a:endParaRPr>
          </a:p>
        </p:txBody>
      </p:sp>
      <p:pic>
        <p:nvPicPr>
          <p:cNvPr id="12292" name="Picture 5" descr="互利共生1"/>
          <p:cNvPicPr>
            <a:picLocks noChangeAspect="1"/>
          </p:cNvPicPr>
          <p:nvPr/>
        </p:nvPicPr>
        <p:blipFill>
          <a:blip r:embed="rId4"/>
          <a:stretch>
            <a:fillRect/>
          </a:stretch>
        </p:blipFill>
        <p:spPr>
          <a:xfrm>
            <a:off x="2001838" y="2736850"/>
            <a:ext cx="2297112" cy="3960813"/>
          </a:xfrm>
          <a:prstGeom prst="rect">
            <a:avLst/>
          </a:prstGeom>
          <a:noFill/>
          <a:ln w="9525">
            <a:noFill/>
          </a:ln>
        </p:spPr>
      </p:pic>
      <p:pic>
        <p:nvPicPr>
          <p:cNvPr id="12293" name="Picture 6" descr="互利共生2"/>
          <p:cNvPicPr>
            <a:picLocks noChangeAspect="1"/>
          </p:cNvPicPr>
          <p:nvPr/>
        </p:nvPicPr>
        <p:blipFill>
          <a:blip r:embed="rId5"/>
          <a:stretch>
            <a:fillRect/>
          </a:stretch>
        </p:blipFill>
        <p:spPr>
          <a:xfrm>
            <a:off x="4625658" y="2736850"/>
            <a:ext cx="2597150" cy="3816350"/>
          </a:xfrm>
          <a:prstGeom prst="rect">
            <a:avLst/>
          </a:prstGeom>
          <a:noFill/>
          <a:ln w="9525">
            <a:noFill/>
          </a:ln>
        </p:spPr>
      </p:pic>
      <p:pic>
        <p:nvPicPr>
          <p:cNvPr id="12294" name="Picture 8" descr="cr030924012">
            <a:hlinkClick r:id="rId6"/>
          </p:cNvPr>
          <p:cNvPicPr>
            <a:picLocks noChangeAspect="1"/>
          </p:cNvPicPr>
          <p:nvPr/>
        </p:nvPicPr>
        <p:blipFill>
          <a:blip r:embed="rId7"/>
          <a:stretch>
            <a:fillRect/>
          </a:stretch>
        </p:blipFill>
        <p:spPr>
          <a:xfrm>
            <a:off x="7667308" y="3655695"/>
            <a:ext cx="2700337" cy="1978025"/>
          </a:xfrm>
          <a:prstGeom prst="rect">
            <a:avLst/>
          </a:prstGeom>
          <a:noFill/>
          <a:ln w="9525">
            <a:noFill/>
          </a:ln>
        </p:spPr>
      </p:pic>
      <p:sp>
        <p:nvSpPr>
          <p:cNvPr id="12295" name="Text Box 9"/>
          <p:cNvSpPr txBox="1"/>
          <p:nvPr/>
        </p:nvSpPr>
        <p:spPr>
          <a:xfrm>
            <a:off x="3287713" y="6619875"/>
            <a:ext cx="3635375" cy="306705"/>
          </a:xfrm>
          <a:prstGeom prst="rect">
            <a:avLst/>
          </a:prstGeom>
          <a:noFill/>
          <a:ln w="12700">
            <a:noFill/>
          </a:ln>
        </p:spPr>
        <p:txBody>
          <a:bodyPr>
            <a:spAutoFit/>
          </a:bodyPr>
          <a:lstStyle/>
          <a:p>
            <a:pPr>
              <a:spcBef>
                <a:spcPct val="50000"/>
              </a:spcBef>
            </a:pPr>
            <a:r>
              <a:rPr lang="zh-CN" altLang="en-US" sz="1400">
                <a:latin typeface="Times New Roman" panose="02020603050405020304" pitchFamily="18" charset="0"/>
              </a:rPr>
              <a:t>引自：</a:t>
            </a:r>
            <a:r>
              <a:rPr lang="en-US" altLang="zh-CN" sz="1400">
                <a:latin typeface="Times New Roman" panose="02020603050405020304" pitchFamily="18" charset="0"/>
              </a:rPr>
              <a:t>Mcfadden and Keeton, 1994</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4"/>
          <p:cNvSpPr txBox="1"/>
          <p:nvPr/>
        </p:nvSpPr>
        <p:spPr>
          <a:xfrm>
            <a:off x="2080895" y="5289550"/>
            <a:ext cx="8229600" cy="521970"/>
          </a:xfrm>
          <a:prstGeom prst="rect">
            <a:avLst/>
          </a:prstGeom>
          <a:noFill/>
          <a:ln w="12700">
            <a:noFill/>
          </a:ln>
        </p:spPr>
        <p:txBody>
          <a:bodyPr>
            <a:spAutoFit/>
          </a:bodyPr>
          <a:lstStyle/>
          <a:p>
            <a:pPr>
              <a:spcBef>
                <a:spcPct val="50000"/>
              </a:spcBef>
            </a:pPr>
            <a:r>
              <a:rPr lang="zh-CN" altLang="en-US" sz="2800" b="1">
                <a:latin typeface="Times New Roman" panose="02020603050405020304" pitchFamily="18" charset="0"/>
              </a:rPr>
              <a:t>互利共生与进化：真核细胞的来源（线粒体等）</a:t>
            </a:r>
          </a:p>
        </p:txBody>
      </p:sp>
      <p:sp>
        <p:nvSpPr>
          <p:cNvPr id="55299" name="Text Box 5"/>
          <p:cNvSpPr txBox="1"/>
          <p:nvPr/>
        </p:nvSpPr>
        <p:spPr>
          <a:xfrm>
            <a:off x="781685" y="840105"/>
            <a:ext cx="10628630" cy="1754505"/>
          </a:xfrm>
          <a:prstGeom prst="rect">
            <a:avLst/>
          </a:prstGeom>
          <a:noFill/>
          <a:ln w="12700">
            <a:noFill/>
          </a:ln>
        </p:spPr>
        <p:txBody>
          <a:bodyPr wrap="square">
            <a:noAutofit/>
          </a:bodyPr>
          <a:lstStyle/>
          <a:p>
            <a:pPr indent="0">
              <a:buNone/>
            </a:pPr>
            <a:r>
              <a:rPr lang="en-US" altLang="zh-CN" sz="2800" b="1">
                <a:solidFill>
                  <a:srgbClr val="000000"/>
                </a:solidFill>
                <a:latin typeface="Times New Roman" panose="02020603050405020304" pitchFamily="18" charset="0"/>
              </a:rPr>
              <a:t>2.</a:t>
            </a:r>
            <a:r>
              <a:rPr lang="zh-CN" altLang="en-US" sz="2800" b="1">
                <a:solidFill>
                  <a:srgbClr val="000000"/>
                </a:solidFill>
                <a:latin typeface="Times New Roman" panose="02020603050405020304" pitchFamily="18" charset="0"/>
              </a:rPr>
              <a:t>细胞外互利共生：动物消化道中的互利共生（白蚁与肠道中共生</a:t>
            </a:r>
          </a:p>
          <a:p>
            <a:pPr indent="0">
              <a:buNone/>
            </a:pPr>
            <a:r>
              <a:rPr lang="zh-CN" altLang="en-US" sz="2800" b="1">
                <a:solidFill>
                  <a:srgbClr val="000000"/>
                </a:solidFill>
                <a:latin typeface="Times New Roman" panose="02020603050405020304" pitchFamily="18" charset="0"/>
              </a:rPr>
              <a:t> </a:t>
            </a: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鞭毛类，反刍动物与瘤胃中细菌），菌根（高等植物与真菌）。</a:t>
            </a:r>
          </a:p>
          <a:p>
            <a:pPr marL="457200" indent="-457200">
              <a:buNone/>
            </a:pPr>
            <a:r>
              <a:rPr lang="en-US" altLang="zh-CN" sz="2800" b="1">
                <a:solidFill>
                  <a:srgbClr val="000000"/>
                </a:solidFill>
                <a:latin typeface="Times New Roman" panose="02020603050405020304" pitchFamily="18" charset="0"/>
              </a:rPr>
              <a:t>3.</a:t>
            </a:r>
            <a:r>
              <a:rPr lang="zh-CN" altLang="en-US" sz="2800" b="1">
                <a:solidFill>
                  <a:srgbClr val="000000"/>
                </a:solidFill>
                <a:latin typeface="Times New Roman" panose="02020603050405020304" pitchFamily="18" charset="0"/>
              </a:rPr>
              <a:t>细胞内互利共生：蟑螂脂肪体中的共生细菌， 藻类与原生动物的互利共生。</a:t>
            </a:r>
            <a:endParaRPr lang="zh-CN" altLang="en-US" sz="2800">
              <a:latin typeface="Times New Roman" panose="02020603050405020304" pitchFamily="18" charset="0"/>
            </a:endParaRPr>
          </a:p>
          <a:p>
            <a:pPr marL="457200" indent="-457200">
              <a:spcBef>
                <a:spcPct val="50000"/>
              </a:spcBef>
              <a:buNone/>
            </a:pPr>
            <a:endParaRPr lang="en-US" altLang="zh-CN" sz="2800">
              <a:latin typeface="Times New Roman" panose="02020603050405020304" pitchFamily="18" charset="0"/>
            </a:endParaRPr>
          </a:p>
        </p:txBody>
      </p:sp>
      <p:pic>
        <p:nvPicPr>
          <p:cNvPr id="55300" name="Picture 7" descr="珊瑚体内共生藻"/>
          <p:cNvPicPr>
            <a:picLocks noChangeAspect="1"/>
          </p:cNvPicPr>
          <p:nvPr/>
        </p:nvPicPr>
        <p:blipFill>
          <a:blip r:embed="rId2"/>
          <a:stretch>
            <a:fillRect/>
          </a:stretch>
        </p:blipFill>
        <p:spPr>
          <a:xfrm>
            <a:off x="5808663" y="2594610"/>
            <a:ext cx="2736850" cy="2089150"/>
          </a:xfrm>
          <a:prstGeom prst="rect">
            <a:avLst/>
          </a:prstGeom>
          <a:noFill/>
          <a:ln w="9525">
            <a:noFill/>
          </a:ln>
        </p:spPr>
      </p:pic>
      <p:pic>
        <p:nvPicPr>
          <p:cNvPr id="55301" name="Picture 9" descr="u=4179404449,1830753148&amp;fm=52&amp;gp=0"/>
          <p:cNvPicPr>
            <a:picLocks noChangeAspect="1"/>
          </p:cNvPicPr>
          <p:nvPr/>
        </p:nvPicPr>
        <p:blipFill>
          <a:blip r:embed="rId3"/>
          <a:stretch>
            <a:fillRect/>
          </a:stretch>
        </p:blipFill>
        <p:spPr>
          <a:xfrm>
            <a:off x="3287713" y="2793048"/>
            <a:ext cx="1793875" cy="2303462"/>
          </a:xfrm>
          <a:prstGeom prst="rect">
            <a:avLst/>
          </a:prstGeom>
          <a:noFill/>
          <a:ln w="9525">
            <a:noFill/>
          </a:ln>
        </p:spPr>
      </p:pic>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p:nvPr/>
        </p:nvSpPr>
        <p:spPr>
          <a:xfrm>
            <a:off x="2351088" y="2708275"/>
            <a:ext cx="7632700" cy="2830195"/>
          </a:xfrm>
          <a:prstGeom prst="rect">
            <a:avLst/>
          </a:prstGeom>
          <a:noFill/>
          <a:ln w="12700">
            <a:noFill/>
          </a:ln>
        </p:spPr>
        <p:txBody>
          <a:bodyPr>
            <a:spAutoFit/>
          </a:bodyPr>
          <a:lstStyle/>
          <a:p>
            <a:endParaRPr lang="en-US" altLang="zh-CN" b="1">
              <a:solidFill>
                <a:srgbClr val="000000"/>
              </a:solidFill>
              <a:latin typeface="Times New Roman" panose="02020603050405020304" pitchFamily="18" charset="0"/>
            </a:endParaRPr>
          </a:p>
          <a:p>
            <a:endParaRPr lang="en-US" altLang="zh-CN" b="1">
              <a:solidFill>
                <a:srgbClr val="000000"/>
              </a:solidFill>
              <a:latin typeface="Times New Roman" panose="02020603050405020304" pitchFamily="18" charset="0"/>
            </a:endParaRPr>
          </a:p>
          <a:p>
            <a:endParaRPr lang="en-US" altLang="zh-CN" b="1">
              <a:solidFill>
                <a:srgbClr val="000000"/>
              </a:solidFill>
              <a:latin typeface="Times New Roman" panose="02020603050405020304" pitchFamily="18" charset="0"/>
            </a:endParaRPr>
          </a:p>
          <a:p>
            <a:endParaRPr lang="en-US" altLang="zh-CN" b="1">
              <a:solidFill>
                <a:srgbClr val="000000"/>
              </a:solidFill>
              <a:latin typeface="Times New Roman" panose="02020603050405020304" pitchFamily="18" charset="0"/>
            </a:endParaRPr>
          </a:p>
          <a:p>
            <a:endParaRPr lang="en-US" altLang="zh-CN" b="1">
              <a:solidFill>
                <a:srgbClr val="000000"/>
              </a:solidFill>
              <a:latin typeface="Times New Roman" panose="02020603050405020304" pitchFamily="18" charset="0"/>
            </a:endParaRPr>
          </a:p>
          <a:p>
            <a:endParaRPr lang="en-US" altLang="zh-CN" b="1">
              <a:solidFill>
                <a:srgbClr val="000000"/>
              </a:solidFill>
              <a:latin typeface="Times New Roman" panose="02020603050405020304" pitchFamily="18" charset="0"/>
            </a:endParaRPr>
          </a:p>
          <a:p>
            <a:r>
              <a:rPr lang="zh-CN" altLang="en-US" sz="2800" b="1">
                <a:solidFill>
                  <a:srgbClr val="000000"/>
                </a:solidFill>
                <a:latin typeface="Times New Roman" panose="02020603050405020304" pitchFamily="18" charset="0"/>
              </a:rPr>
              <a:t>兼性互利共生：不互相依赖共存的生物</a:t>
            </a:r>
            <a:endParaRPr lang="zh-CN" altLang="en-US" sz="2800">
              <a:latin typeface="Times New Roman" panose="02020603050405020304" pitchFamily="18" charset="0"/>
            </a:endParaRPr>
          </a:p>
          <a:p>
            <a:pPr>
              <a:spcBef>
                <a:spcPct val="50000"/>
              </a:spcBef>
            </a:pPr>
            <a:endParaRPr lang="en-US" altLang="zh-CN" sz="2800">
              <a:latin typeface="Times New Roman" panose="02020603050405020304" pitchFamily="18" charset="0"/>
            </a:endParaRPr>
          </a:p>
        </p:txBody>
      </p:sp>
      <p:sp>
        <p:nvSpPr>
          <p:cNvPr id="56323" name="Text Box 5"/>
          <p:cNvSpPr txBox="1"/>
          <p:nvPr/>
        </p:nvSpPr>
        <p:spPr>
          <a:xfrm>
            <a:off x="1644015" y="647700"/>
            <a:ext cx="8575675" cy="675005"/>
          </a:xfrm>
          <a:prstGeom prst="rect">
            <a:avLst/>
          </a:prstGeom>
          <a:noFill/>
          <a:ln w="12700">
            <a:noFill/>
          </a:ln>
        </p:spPr>
        <p:txBody>
          <a:bodyPr wrap="square">
            <a:noAutofit/>
          </a:bodyPr>
          <a:lstStyle/>
          <a:p>
            <a:r>
              <a:rPr lang="zh-CN" altLang="en-US" sz="2800" b="1">
                <a:solidFill>
                  <a:srgbClr val="000000"/>
                </a:solidFill>
                <a:latin typeface="Times New Roman" panose="02020603050405020304" pitchFamily="18" charset="0"/>
              </a:rPr>
              <a:t>专性互利共生：组成永久性成对组合的生物，如地衣。</a:t>
            </a:r>
          </a:p>
          <a:p>
            <a:r>
              <a:rPr lang="zh-CN" altLang="en-US" b="1">
                <a:solidFill>
                  <a:srgbClr val="000000"/>
                </a:solidFill>
                <a:latin typeface="Times New Roman" panose="02020603050405020304" pitchFamily="18" charset="0"/>
              </a:rPr>
              <a:t> </a:t>
            </a:r>
          </a:p>
          <a:p>
            <a:pPr>
              <a:spcBef>
                <a:spcPct val="50000"/>
              </a:spcBef>
            </a:pPr>
            <a:endParaRPr lang="en-US" altLang="zh-CN">
              <a:latin typeface="Times New Roman" panose="02020603050405020304" pitchFamily="18" charset="0"/>
            </a:endParaRPr>
          </a:p>
        </p:txBody>
      </p:sp>
      <p:pic>
        <p:nvPicPr>
          <p:cNvPr id="56324" name="Picture 8" descr="u=1002967911,3454410371&amp;fm=52&amp;gp=0"/>
          <p:cNvPicPr>
            <a:picLocks noChangeAspect="1"/>
          </p:cNvPicPr>
          <p:nvPr/>
        </p:nvPicPr>
        <p:blipFill>
          <a:blip r:embed="rId2"/>
          <a:stretch>
            <a:fillRect/>
          </a:stretch>
        </p:blipFill>
        <p:spPr>
          <a:xfrm>
            <a:off x="3343275" y="1540510"/>
            <a:ext cx="3455988" cy="2592388"/>
          </a:xfrm>
          <a:prstGeom prst="rect">
            <a:avLst/>
          </a:prstGeom>
          <a:noFill/>
          <a:ln w="9525">
            <a:noFill/>
          </a:ln>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8" name="椭圆 809987"/>
          <p:cNvSpPr/>
          <p:nvPr/>
        </p:nvSpPr>
        <p:spPr>
          <a:xfrm>
            <a:off x="4295775" y="115888"/>
            <a:ext cx="4032250" cy="719137"/>
          </a:xfrm>
          <a:prstGeom prst="ellipse">
            <a:avLst/>
          </a:prstGeom>
          <a:solidFill>
            <a:srgbClr val="FFFF66"/>
          </a:solidFill>
          <a:ln w="28575" cap="flat" cmpd="sng">
            <a:solidFill>
              <a:srgbClr val="CC00FF"/>
            </a:solidFill>
            <a:prstDash val="solid"/>
            <a:headEnd type="none" w="med" len="med"/>
            <a:tailEnd type="none" w="med" len="med"/>
          </a:ln>
        </p:spPr>
        <p:txBody>
          <a:bodyPr wrap="none" anchor="ctr" anchorCtr="0"/>
          <a:lstStyle/>
          <a:p>
            <a:pPr algn="ctr"/>
            <a:r>
              <a:rPr lang="zh-CN" altLang="en-US" sz="2800" b="1">
                <a:solidFill>
                  <a:srgbClr val="CC0000"/>
                </a:solidFill>
                <a:latin typeface="Arial" panose="020B0604020202020204" pitchFamily="34" charset="0"/>
                <a:ea typeface="黑体" panose="02010609060101010101" charset="-122"/>
              </a:rPr>
              <a:t>第三部分　群落生态学</a:t>
            </a:r>
          </a:p>
        </p:txBody>
      </p:sp>
      <p:sp>
        <p:nvSpPr>
          <p:cNvPr id="809989" name="文本框 809988"/>
          <p:cNvSpPr txBox="1"/>
          <p:nvPr/>
        </p:nvSpPr>
        <p:spPr>
          <a:xfrm>
            <a:off x="1588770" y="1052830"/>
            <a:ext cx="9014460" cy="4831080"/>
          </a:xfrm>
          <a:prstGeom prst="rect">
            <a:avLst/>
          </a:prstGeom>
          <a:noFill/>
          <a:ln w="38100" cap="flat" cmpd="sng">
            <a:solidFill>
              <a:srgbClr val="00FF00"/>
            </a:solidFill>
            <a:prstDash val="solid"/>
            <a:miter/>
            <a:headEnd type="none" w="med" len="med"/>
            <a:tailEnd type="none" w="med" len="med"/>
          </a:ln>
        </p:spPr>
        <p:txBody>
          <a:bodyPr wrap="square">
            <a:spAutoFit/>
          </a:bodyPr>
          <a:lstStyle/>
          <a:p>
            <a:r>
              <a:rPr lang="zh-CN" altLang="en-US" sz="2800" b="1">
                <a:solidFill>
                  <a:srgbClr val="CC0000"/>
                </a:solidFill>
                <a:latin typeface="Arial" panose="020B0604020202020204" pitchFamily="34" charset="0"/>
                <a:ea typeface="黑体" panose="02010609060101010101" charset="-122"/>
              </a:rPr>
              <a:t>群落生态学主要知识点：</a:t>
            </a:r>
          </a:p>
          <a:p>
            <a:r>
              <a:rPr lang="zh-CN" altLang="en-US" sz="2800" b="1">
                <a:solidFill>
                  <a:srgbClr val="CC3300"/>
                </a:solidFill>
                <a:latin typeface="Arial" panose="020B0604020202020204" pitchFamily="34" charset="0"/>
                <a:ea typeface="黑体" panose="02010609060101010101" charset="-122"/>
              </a:rPr>
              <a:t>群落概念和特征</a:t>
            </a:r>
          </a:p>
          <a:p>
            <a:r>
              <a:rPr lang="zh-CN" altLang="en-US" sz="2800" b="1">
                <a:solidFill>
                  <a:srgbClr val="CC3300"/>
                </a:solidFill>
                <a:latin typeface="Arial" panose="020B0604020202020204" pitchFamily="34" charset="0"/>
                <a:ea typeface="黑体" panose="02010609060101010101" charset="-122"/>
              </a:rPr>
              <a:t>群落的种类组成：</a:t>
            </a:r>
            <a:r>
              <a:rPr lang="zh-CN" altLang="en-US" sz="2800" b="1">
                <a:solidFill>
                  <a:srgbClr val="3333CC"/>
                </a:solidFill>
                <a:latin typeface="Arial" panose="020B0604020202020204" pitchFamily="34" charset="0"/>
                <a:ea typeface="黑体" panose="02010609060101010101" charset="-122"/>
              </a:rPr>
              <a:t>种类组成性质，数量特征，物种多</a:t>
            </a:r>
          </a:p>
          <a:p>
            <a:r>
              <a:rPr lang="zh-CN" altLang="en-US" sz="2800" b="1">
                <a:solidFill>
                  <a:srgbClr val="3333CC"/>
                </a:solidFill>
                <a:latin typeface="Arial" panose="020B0604020202020204" pitchFamily="34" charset="0"/>
                <a:ea typeface="黑体" panose="02010609060101010101" charset="-122"/>
              </a:rPr>
              <a:t>　　　　　　　　样性</a:t>
            </a:r>
          </a:p>
          <a:p>
            <a:r>
              <a:rPr lang="zh-CN" altLang="en-US" sz="2800" b="1">
                <a:solidFill>
                  <a:srgbClr val="CC3300"/>
                </a:solidFill>
                <a:latin typeface="Arial" panose="020B0604020202020204" pitchFamily="34" charset="0"/>
                <a:ea typeface="黑体" panose="02010609060101010101" charset="-122"/>
              </a:rPr>
              <a:t>种间关联：</a:t>
            </a:r>
            <a:r>
              <a:rPr lang="zh-CN" altLang="en-US" sz="2800" b="1">
                <a:solidFill>
                  <a:srgbClr val="3333CC"/>
                </a:solidFill>
                <a:latin typeface="Arial" panose="020B0604020202020204" pitchFamily="34" charset="0"/>
                <a:ea typeface="黑体" panose="02010609060101010101" charset="-122"/>
              </a:rPr>
              <a:t>概念及关联系数的测定</a:t>
            </a:r>
          </a:p>
          <a:p>
            <a:r>
              <a:rPr lang="zh-CN" altLang="en-US" sz="2800" b="1">
                <a:solidFill>
                  <a:srgbClr val="CC3300"/>
                </a:solidFill>
                <a:latin typeface="Arial" panose="020B0604020202020204" pitchFamily="34" charset="0"/>
                <a:ea typeface="黑体" panose="02010609060101010101" charset="-122"/>
              </a:rPr>
              <a:t>群落的结构</a:t>
            </a:r>
            <a:r>
              <a:rPr lang="zh-CN" altLang="en-US" sz="2800" b="1">
                <a:solidFill>
                  <a:srgbClr val="3333CC"/>
                </a:solidFill>
                <a:latin typeface="Arial" panose="020B0604020202020204" pitchFamily="34" charset="0"/>
                <a:ea typeface="黑体" panose="02010609060101010101" charset="-122"/>
              </a:rPr>
              <a:t>：层片，生活型，空间结构，时间结构</a:t>
            </a:r>
          </a:p>
          <a:p>
            <a:r>
              <a:rPr lang="zh-CN" altLang="en-US" sz="2800" b="1">
                <a:solidFill>
                  <a:srgbClr val="CC3300"/>
                </a:solidFill>
                <a:latin typeface="Arial" panose="020B0604020202020204" pitchFamily="34" charset="0"/>
                <a:ea typeface="黑体" panose="02010609060101010101" charset="-122"/>
              </a:rPr>
              <a:t>群落的演替：</a:t>
            </a:r>
            <a:r>
              <a:rPr lang="zh-CN" altLang="en-US" sz="2800" b="1">
                <a:solidFill>
                  <a:srgbClr val="3333CC"/>
                </a:solidFill>
                <a:latin typeface="Arial" panose="020B0604020202020204" pitchFamily="34" charset="0"/>
                <a:ea typeface="黑体" panose="02010609060101010101" charset="-122"/>
              </a:rPr>
              <a:t>概念，演替原因，演替类型，演替系　</a:t>
            </a:r>
          </a:p>
          <a:p>
            <a:r>
              <a:rPr lang="zh-CN" altLang="en-US" sz="2800" b="1">
                <a:solidFill>
                  <a:srgbClr val="3333CC"/>
                </a:solidFill>
                <a:latin typeface="Arial" panose="020B0604020202020204" pitchFamily="34" charset="0"/>
                <a:ea typeface="黑体" panose="02010609060101010101" charset="-122"/>
              </a:rPr>
              <a:t>　　　　　　列，演替方向，顶极群落（概念，顶极　</a:t>
            </a:r>
          </a:p>
          <a:p>
            <a:r>
              <a:rPr lang="zh-CN" altLang="en-US" sz="2800" b="1">
                <a:solidFill>
                  <a:srgbClr val="3333CC"/>
                </a:solidFill>
                <a:latin typeface="Arial" panose="020B0604020202020204" pitchFamily="34" charset="0"/>
                <a:ea typeface="黑体" panose="02010609060101010101" charset="-122"/>
              </a:rPr>
              <a:t>　　　　　　群落的主要学说，演替中群落和顶极群　</a:t>
            </a:r>
          </a:p>
          <a:p>
            <a:r>
              <a:rPr lang="zh-CN" altLang="en-US" sz="2800" b="1">
                <a:solidFill>
                  <a:srgbClr val="3333CC"/>
                </a:solidFill>
                <a:latin typeface="Arial" panose="020B0604020202020204" pitchFamily="34" charset="0"/>
                <a:ea typeface="黑体" panose="02010609060101010101" charset="-122"/>
              </a:rPr>
              <a:t>　　　　　　落的比较）</a:t>
            </a:r>
          </a:p>
          <a:p>
            <a:r>
              <a:rPr lang="zh-CN" altLang="en-US" sz="2800" b="1">
                <a:solidFill>
                  <a:srgbClr val="CC3300"/>
                </a:solidFill>
                <a:latin typeface="Arial" panose="020B0604020202020204" pitchFamily="34" charset="0"/>
                <a:ea typeface="黑体" panose="02010609060101010101" charset="-122"/>
              </a:rPr>
              <a:t>地球上的主要群落类型</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C7082B-4B33-F53B-161A-42C36FC7749C}"/>
              </a:ext>
            </a:extLst>
          </p:cNvPr>
          <p:cNvSpPr>
            <a:spLocks noGrp="1"/>
          </p:cNvSpPr>
          <p:nvPr>
            <p:ph type="ctrTitle"/>
          </p:nvPr>
        </p:nvSpPr>
        <p:spPr>
          <a:xfrm>
            <a:off x="730786" y="494402"/>
            <a:ext cx="2959865" cy="574235"/>
          </a:xfrm>
        </p:spPr>
        <p:txBody>
          <a:bodyPr>
            <a:noAutofit/>
          </a:bodyPr>
          <a:lstStyle/>
          <a:p>
            <a:r>
              <a:rPr lang="zh-CN" altLang="en-US" sz="4000">
                <a:solidFill>
                  <a:srgbClr val="FF0000"/>
                </a:solidFill>
              </a:rPr>
              <a:t>群落的概念</a:t>
            </a:r>
          </a:p>
        </p:txBody>
      </p:sp>
      <p:sp>
        <p:nvSpPr>
          <p:cNvPr id="3" name="副标题 2">
            <a:extLst>
              <a:ext uri="{FF2B5EF4-FFF2-40B4-BE49-F238E27FC236}">
                <a16:creationId xmlns:a16="http://schemas.microsoft.com/office/drawing/2014/main" id="{43228EC5-E008-9541-F5FD-3296718740F0}"/>
              </a:ext>
            </a:extLst>
          </p:cNvPr>
          <p:cNvSpPr>
            <a:spLocks noGrp="1"/>
          </p:cNvSpPr>
          <p:nvPr>
            <p:ph type="subTitle" idx="1"/>
          </p:nvPr>
        </p:nvSpPr>
        <p:spPr>
          <a:xfrm>
            <a:off x="1524000" y="1167788"/>
            <a:ext cx="9144000" cy="5195810"/>
          </a:xfrm>
        </p:spPr>
        <p:txBody>
          <a:bodyPr>
            <a:normAutofit/>
          </a:bodyPr>
          <a:lstStyle/>
          <a:p>
            <a:pPr algn="l"/>
            <a:r>
              <a:rPr lang="zh-CN" altLang="en-US" sz="3200">
                <a:solidFill>
                  <a:srgbClr val="FF0000"/>
                </a:solidFill>
              </a:rPr>
              <a:t>广义的群落</a:t>
            </a:r>
            <a:r>
              <a:rPr lang="zh-CN" altLang="en-US" sz="3200"/>
              <a:t>：</a:t>
            </a:r>
            <a:endParaRPr lang="en-US" altLang="zh-CN" sz="3200"/>
          </a:p>
          <a:p>
            <a:pPr algn="l"/>
            <a:r>
              <a:rPr lang="zh-CN" altLang="en-US" sz="3200"/>
              <a:t>指某一特定区域内，</a:t>
            </a:r>
            <a:r>
              <a:rPr lang="zh-CN" altLang="en-US" sz="3200" b="1"/>
              <a:t>所有物种的集合</a:t>
            </a:r>
            <a:r>
              <a:rPr lang="zh-CN" altLang="en-US" sz="3200"/>
              <a:t>，包括所有</a:t>
            </a:r>
            <a:r>
              <a:rPr lang="zh-CN" altLang="en-US" sz="3200" b="1"/>
              <a:t>植物、动物、微生物和真菌</a:t>
            </a:r>
            <a:r>
              <a:rPr lang="zh-CN" altLang="en-US" sz="3200"/>
              <a:t>。</a:t>
            </a:r>
            <a:endParaRPr lang="en-US" altLang="zh-CN" sz="3200"/>
          </a:p>
          <a:p>
            <a:pPr algn="l"/>
            <a:r>
              <a:rPr lang="zh-CN" altLang="en-US" sz="3200">
                <a:solidFill>
                  <a:srgbClr val="FF0000"/>
                </a:solidFill>
              </a:rPr>
              <a:t>狭义的群落</a:t>
            </a:r>
            <a:r>
              <a:rPr lang="zh-CN" altLang="en-US" sz="3200"/>
              <a:t>：</a:t>
            </a:r>
            <a:endParaRPr lang="en-US" altLang="zh-CN" sz="3200"/>
          </a:p>
          <a:p>
            <a:pPr algn="l"/>
            <a:r>
              <a:rPr lang="zh-CN" altLang="en-US" sz="3200"/>
              <a:t>指某一特定区域内，</a:t>
            </a:r>
            <a:r>
              <a:rPr lang="zh-CN" altLang="en-US" sz="3200" b="1"/>
              <a:t>仅某一类生物</a:t>
            </a:r>
            <a:r>
              <a:rPr lang="zh-CN" altLang="en-US" sz="3200"/>
              <a:t>（通常是主要或优势类群）的集合，以便于研究。</a:t>
            </a:r>
          </a:p>
        </p:txBody>
      </p:sp>
    </p:spTree>
    <p:extLst>
      <p:ext uri="{BB962C8B-B14F-4D97-AF65-F5344CB8AC3E}">
        <p14:creationId xmlns:p14="http://schemas.microsoft.com/office/powerpoint/2010/main" val="33558850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5" name="文本占位符 806914"/>
          <p:cNvSpPr>
            <a:spLocks noGrp="1"/>
          </p:cNvSpPr>
          <p:nvPr>
            <p:ph type="body" idx="1"/>
          </p:nvPr>
        </p:nvSpPr>
        <p:spPr>
          <a:xfrm>
            <a:off x="1631950" y="327978"/>
            <a:ext cx="8661400" cy="6408737"/>
          </a:xfrm>
          <a:ln w="28575">
            <a:solidFill>
              <a:srgbClr val="CC0000"/>
            </a:solidFill>
            <a:miter/>
          </a:ln>
        </p:spPr>
        <p:txBody>
          <a:bodyPr>
            <a:normAutofit fontScale="55000" lnSpcReduction="20000"/>
          </a:bodyPr>
          <a:lstStyle/>
          <a:p>
            <a:pPr>
              <a:lnSpc>
                <a:spcPct val="70000"/>
              </a:lnSpc>
            </a:pPr>
            <a:r>
              <a:rPr lang="zh-CN" altLang="en-US" sz="2400" b="1"/>
              <a:t>　　　　　　　</a:t>
            </a:r>
            <a:r>
              <a:rPr lang="zh-CN" altLang="en-US" sz="2800" b="1">
                <a:solidFill>
                  <a:srgbClr val="CC0000"/>
                </a:solidFill>
              </a:rPr>
              <a:t>　</a:t>
            </a:r>
          </a:p>
          <a:p>
            <a:pPr>
              <a:lnSpc>
                <a:spcPct val="70000"/>
              </a:lnSpc>
            </a:pPr>
            <a:r>
              <a:rPr lang="zh-CN" altLang="en-US" sz="3500" b="1">
                <a:solidFill>
                  <a:srgbClr val="CC0000"/>
                </a:solidFill>
              </a:rPr>
              <a:t>群落的特征</a:t>
            </a:r>
            <a:endParaRPr lang="zh-CN" altLang="en-US" sz="2800" b="1">
              <a:solidFill>
                <a:srgbClr val="CC0000"/>
              </a:solidFill>
            </a:endParaRPr>
          </a:p>
          <a:p>
            <a:pPr>
              <a:lnSpc>
                <a:spcPct val="70000"/>
              </a:lnSpc>
            </a:pPr>
            <a:r>
              <a:rPr lang="zh-CN" altLang="en-US" sz="2400" b="1"/>
              <a:t>　　</a:t>
            </a:r>
            <a:r>
              <a:rPr lang="zh-CN" altLang="en-US" sz="4500" b="1">
                <a:solidFill>
                  <a:srgbClr val="CC0000"/>
                </a:solidFill>
              </a:rPr>
              <a:t>⊕具有一定的种类组成</a:t>
            </a:r>
          </a:p>
          <a:p>
            <a:pPr>
              <a:lnSpc>
                <a:spcPct val="70000"/>
              </a:lnSpc>
            </a:pPr>
            <a:r>
              <a:rPr lang="zh-CN" altLang="en-US" sz="4500" b="1"/>
              <a:t>　　</a:t>
            </a:r>
            <a:r>
              <a:rPr lang="zh-CN" altLang="en-US" sz="4500" b="1">
                <a:solidFill>
                  <a:srgbClr val="3333CC"/>
                </a:solidFill>
              </a:rPr>
              <a:t>－－种类组成是区别不同群落的首要特征</a:t>
            </a:r>
          </a:p>
          <a:p>
            <a:pPr>
              <a:lnSpc>
                <a:spcPct val="70000"/>
              </a:lnSpc>
            </a:pPr>
            <a:r>
              <a:rPr lang="zh-CN" altLang="en-US" sz="4500" b="1"/>
              <a:t>　　</a:t>
            </a:r>
            <a:r>
              <a:rPr lang="zh-CN" altLang="en-US" sz="4500" b="1">
                <a:solidFill>
                  <a:srgbClr val="CC0000"/>
                </a:solidFill>
              </a:rPr>
              <a:t>⊕各物种不具有同等的群落学重要性</a:t>
            </a:r>
          </a:p>
          <a:p>
            <a:pPr>
              <a:lnSpc>
                <a:spcPct val="70000"/>
              </a:lnSpc>
            </a:pPr>
            <a:r>
              <a:rPr lang="zh-CN" altLang="en-US" sz="4500" b="1"/>
              <a:t>　　</a:t>
            </a:r>
            <a:r>
              <a:rPr lang="zh-CN" altLang="en-US" sz="4500" b="1">
                <a:solidFill>
                  <a:srgbClr val="3333CC"/>
                </a:solidFill>
              </a:rPr>
              <a:t>－－贡献不同，优势种，建群种，伴生种等</a:t>
            </a:r>
          </a:p>
          <a:p>
            <a:pPr>
              <a:lnSpc>
                <a:spcPct val="70000"/>
              </a:lnSpc>
            </a:pPr>
            <a:r>
              <a:rPr lang="zh-CN" altLang="en-US" sz="4500" b="1"/>
              <a:t>　　</a:t>
            </a:r>
            <a:r>
              <a:rPr lang="zh-CN" altLang="en-US" sz="4500" b="1">
                <a:solidFill>
                  <a:srgbClr val="CC0000"/>
                </a:solidFill>
              </a:rPr>
              <a:t>⊕各物种之间是相互联系的</a:t>
            </a:r>
          </a:p>
          <a:p>
            <a:pPr>
              <a:lnSpc>
                <a:spcPct val="70000"/>
              </a:lnSpc>
            </a:pPr>
            <a:r>
              <a:rPr lang="zh-CN" altLang="en-US" sz="4500" b="1"/>
              <a:t>　　</a:t>
            </a:r>
            <a:r>
              <a:rPr lang="zh-CN" altLang="en-US" sz="4500" b="1">
                <a:solidFill>
                  <a:srgbClr val="3333CC"/>
                </a:solidFill>
              </a:rPr>
              <a:t>－－不是各物种的简单集合</a:t>
            </a:r>
          </a:p>
          <a:p>
            <a:pPr>
              <a:lnSpc>
                <a:spcPct val="70000"/>
              </a:lnSpc>
            </a:pPr>
            <a:r>
              <a:rPr lang="zh-CN" altLang="en-US" sz="4500" b="1"/>
              <a:t>　　</a:t>
            </a:r>
            <a:r>
              <a:rPr lang="zh-CN" altLang="en-US" sz="4500" b="1">
                <a:solidFill>
                  <a:srgbClr val="CC0000"/>
                </a:solidFill>
              </a:rPr>
              <a:t>⊕形成群落环境</a:t>
            </a:r>
          </a:p>
          <a:p>
            <a:pPr>
              <a:lnSpc>
                <a:spcPct val="70000"/>
              </a:lnSpc>
            </a:pPr>
            <a:r>
              <a:rPr lang="zh-CN" altLang="en-US" sz="4500" b="1"/>
              <a:t>　　</a:t>
            </a:r>
            <a:r>
              <a:rPr lang="zh-CN" altLang="en-US" sz="4500" b="1">
                <a:solidFill>
                  <a:srgbClr val="3333CC"/>
                </a:solidFill>
              </a:rPr>
              <a:t>－－群落与环境不可分割</a:t>
            </a:r>
          </a:p>
          <a:p>
            <a:pPr>
              <a:lnSpc>
                <a:spcPct val="70000"/>
              </a:lnSpc>
            </a:pPr>
            <a:r>
              <a:rPr lang="zh-CN" altLang="en-US" sz="4500" b="1"/>
              <a:t>　　</a:t>
            </a:r>
            <a:r>
              <a:rPr lang="zh-CN" altLang="en-US" sz="4500" b="1">
                <a:solidFill>
                  <a:srgbClr val="CC0000"/>
                </a:solidFill>
              </a:rPr>
              <a:t>⊕具有一定的结构</a:t>
            </a:r>
          </a:p>
          <a:p>
            <a:pPr>
              <a:lnSpc>
                <a:spcPct val="70000"/>
              </a:lnSpc>
            </a:pPr>
            <a:r>
              <a:rPr lang="zh-CN" altLang="en-US" sz="4500" b="1"/>
              <a:t>　　</a:t>
            </a:r>
            <a:r>
              <a:rPr lang="zh-CN" altLang="en-US" sz="4500" b="1">
                <a:solidFill>
                  <a:srgbClr val="3333CC"/>
                </a:solidFill>
              </a:rPr>
              <a:t>－－时间结构，空间结构，营养结构</a:t>
            </a:r>
          </a:p>
          <a:p>
            <a:pPr>
              <a:lnSpc>
                <a:spcPct val="70000"/>
              </a:lnSpc>
            </a:pPr>
            <a:r>
              <a:rPr lang="zh-CN" altLang="en-US" sz="4500" b="1"/>
              <a:t>　　</a:t>
            </a:r>
            <a:r>
              <a:rPr lang="zh-CN" altLang="en-US" sz="4500" b="1">
                <a:solidFill>
                  <a:srgbClr val="CC0000"/>
                </a:solidFill>
              </a:rPr>
              <a:t>⊕具有一定的动态特征</a:t>
            </a:r>
          </a:p>
          <a:p>
            <a:pPr>
              <a:lnSpc>
                <a:spcPct val="70000"/>
              </a:lnSpc>
            </a:pPr>
            <a:r>
              <a:rPr lang="zh-CN" altLang="en-US" sz="4500" b="1"/>
              <a:t>　　</a:t>
            </a:r>
            <a:r>
              <a:rPr lang="zh-CN" altLang="en-US" sz="4500" b="1">
                <a:solidFill>
                  <a:srgbClr val="3333CC"/>
                </a:solidFill>
              </a:rPr>
              <a:t>－－生物群落有发生、发展、成熟、衰亡的过程</a:t>
            </a:r>
          </a:p>
          <a:p>
            <a:pPr>
              <a:lnSpc>
                <a:spcPct val="70000"/>
              </a:lnSpc>
            </a:pPr>
            <a:r>
              <a:rPr lang="zh-CN" altLang="en-US" sz="4500" b="1"/>
              <a:t>　　</a:t>
            </a:r>
            <a:r>
              <a:rPr lang="zh-CN" altLang="en-US" sz="4500" b="1">
                <a:solidFill>
                  <a:srgbClr val="CC0000"/>
                </a:solidFill>
              </a:rPr>
              <a:t>⊕具有一定的分布范围</a:t>
            </a:r>
          </a:p>
          <a:p>
            <a:pPr>
              <a:lnSpc>
                <a:spcPct val="70000"/>
              </a:lnSpc>
            </a:pPr>
            <a:r>
              <a:rPr lang="zh-CN" altLang="en-US" sz="4500" b="1"/>
              <a:t>　　</a:t>
            </a:r>
            <a:r>
              <a:rPr lang="zh-CN" altLang="en-US" sz="4500" b="1">
                <a:solidFill>
                  <a:srgbClr val="3333CC"/>
                </a:solidFill>
              </a:rPr>
              <a:t>－－生物群落有一定的分布规律，每个群落都分布在特　　</a:t>
            </a:r>
          </a:p>
          <a:p>
            <a:pPr>
              <a:lnSpc>
                <a:spcPct val="70000"/>
              </a:lnSpc>
            </a:pPr>
            <a:r>
              <a:rPr lang="zh-CN" altLang="en-US" sz="4500" b="1">
                <a:solidFill>
                  <a:srgbClr val="3333CC"/>
                </a:solidFill>
              </a:rPr>
              <a:t>　　定的地段或生境。</a:t>
            </a:r>
          </a:p>
          <a:p>
            <a:pPr>
              <a:lnSpc>
                <a:spcPct val="70000"/>
              </a:lnSpc>
            </a:pPr>
            <a:r>
              <a:rPr lang="zh-CN" altLang="en-US" sz="4500" b="1"/>
              <a:t>　　</a:t>
            </a:r>
            <a:r>
              <a:rPr lang="zh-CN" altLang="en-US" sz="4500" b="1">
                <a:solidFill>
                  <a:srgbClr val="CC0000"/>
                </a:solidFill>
              </a:rPr>
              <a:t>⊕具有边境的特征</a:t>
            </a:r>
          </a:p>
          <a:p>
            <a:pPr>
              <a:lnSpc>
                <a:spcPct val="70000"/>
              </a:lnSpc>
            </a:pPr>
            <a:r>
              <a:rPr lang="zh-CN" altLang="en-US" sz="4500" b="1"/>
              <a:t>　　</a:t>
            </a:r>
            <a:r>
              <a:rPr lang="zh-CN" altLang="en-US" sz="4500" b="1">
                <a:solidFill>
                  <a:srgbClr val="3333CC"/>
                </a:solidFill>
              </a:rPr>
              <a:t>－－有些边界明显，有些则模糊</a:t>
            </a:r>
          </a:p>
          <a:p>
            <a:pPr>
              <a:lnSpc>
                <a:spcPct val="70000"/>
              </a:lnSpc>
            </a:pPr>
            <a:r>
              <a:rPr lang="zh-CN" altLang="en-US" sz="4500" b="1"/>
              <a:t>　　</a:t>
            </a:r>
          </a:p>
          <a:p>
            <a:pPr>
              <a:lnSpc>
                <a:spcPct val="70000"/>
              </a:lnSpc>
            </a:pPr>
            <a:endParaRPr lang="zh-CN" altLang="en-US" sz="2400" b="1"/>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4" name="文本框 829443"/>
          <p:cNvSpPr txBox="1"/>
          <p:nvPr/>
        </p:nvSpPr>
        <p:spPr>
          <a:xfrm>
            <a:off x="1846898" y="2087563"/>
            <a:ext cx="459740" cy="1700530"/>
          </a:xfrm>
          <a:prstGeom prst="rect">
            <a:avLst/>
          </a:prstGeom>
          <a:solidFill>
            <a:srgbClr val="FFFF66"/>
          </a:solidFill>
          <a:ln w="38100" cap="flat" cmpd="sng">
            <a:solidFill>
              <a:srgbClr val="00FF00"/>
            </a:solidFill>
            <a:prstDash val="solid"/>
            <a:miter/>
            <a:headEnd type="none" w="med" len="med"/>
            <a:tailEnd type="none" w="med" len="med"/>
          </a:ln>
        </p:spPr>
        <p:txBody>
          <a:bodyPr vert="eaVert" wrap="none" anchor="t" anchorCtr="0">
            <a:spAutoFit/>
          </a:bodyPr>
          <a:lstStyle/>
          <a:p>
            <a:r>
              <a:rPr lang="zh-CN" altLang="en-US" b="1">
                <a:solidFill>
                  <a:srgbClr val="CC0000"/>
                </a:solidFill>
                <a:latin typeface="Arial" panose="020B0604020202020204" pitchFamily="34" charset="0"/>
                <a:ea typeface="黑体" panose="02010609060101010101" charset="-122"/>
              </a:rPr>
              <a:t>群落的种类组成</a:t>
            </a:r>
          </a:p>
        </p:txBody>
      </p:sp>
      <p:sp>
        <p:nvSpPr>
          <p:cNvPr id="829445" name="左大括号 829444"/>
          <p:cNvSpPr/>
          <p:nvPr/>
        </p:nvSpPr>
        <p:spPr>
          <a:xfrm>
            <a:off x="2566988" y="1341438"/>
            <a:ext cx="296862" cy="4895850"/>
          </a:xfrm>
          <a:prstGeom prst="leftBrace">
            <a:avLst>
              <a:gd name="adj1" fmla="val 1374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829446" name="文本框 829445"/>
          <p:cNvSpPr txBox="1"/>
          <p:nvPr/>
        </p:nvSpPr>
        <p:spPr>
          <a:xfrm>
            <a:off x="3000375" y="1125538"/>
            <a:ext cx="1102360" cy="645160"/>
          </a:xfrm>
          <a:prstGeom prst="rect">
            <a:avLst/>
          </a:prstGeom>
          <a:solidFill>
            <a:srgbClr val="FFFF66"/>
          </a:solidFill>
          <a:ln w="28575" cap="flat" cmpd="sng">
            <a:solidFill>
              <a:srgbClr val="3333CC"/>
            </a:solidFill>
            <a:prstDash val="solid"/>
            <a:miter/>
            <a:headEnd type="none" w="med" len="med"/>
            <a:tailEnd type="none" w="med" len="med"/>
          </a:ln>
        </p:spPr>
        <p:txBody>
          <a:bodyPr wrap="none" anchor="t" anchorCtr="0">
            <a:spAutoFit/>
          </a:bodyPr>
          <a:lstStyle/>
          <a:p>
            <a:r>
              <a:rPr lang="zh-CN" altLang="en-US" b="1">
                <a:solidFill>
                  <a:srgbClr val="CC0000"/>
                </a:solidFill>
                <a:latin typeface="Arial" panose="020B0604020202020204" pitchFamily="34" charset="0"/>
                <a:ea typeface="黑体" panose="02010609060101010101" charset="-122"/>
              </a:rPr>
              <a:t>种类组成</a:t>
            </a:r>
          </a:p>
          <a:p>
            <a:r>
              <a:rPr lang="zh-CN" altLang="en-US" b="1">
                <a:solidFill>
                  <a:srgbClr val="CC0000"/>
                </a:solidFill>
                <a:latin typeface="Arial" panose="020B0604020202020204" pitchFamily="34" charset="0"/>
                <a:ea typeface="黑体" panose="02010609060101010101" charset="-122"/>
              </a:rPr>
              <a:t>的性质</a:t>
            </a:r>
          </a:p>
        </p:txBody>
      </p:sp>
      <p:sp>
        <p:nvSpPr>
          <p:cNvPr id="829447" name="文本框 829446"/>
          <p:cNvSpPr txBox="1"/>
          <p:nvPr/>
        </p:nvSpPr>
        <p:spPr>
          <a:xfrm>
            <a:off x="2927350" y="3429000"/>
            <a:ext cx="1332230" cy="645160"/>
          </a:xfrm>
          <a:prstGeom prst="rect">
            <a:avLst/>
          </a:prstGeom>
          <a:solidFill>
            <a:srgbClr val="FFFF66"/>
          </a:solidFill>
          <a:ln w="28575" cap="flat" cmpd="sng">
            <a:solidFill>
              <a:srgbClr val="3333CC"/>
            </a:solidFill>
            <a:prstDash val="solid"/>
            <a:miter/>
            <a:headEnd type="none" w="med" len="med"/>
            <a:tailEnd type="none" w="med" len="med"/>
          </a:ln>
        </p:spPr>
        <p:txBody>
          <a:bodyPr wrap="none" anchor="t" anchorCtr="0">
            <a:spAutoFit/>
          </a:bodyPr>
          <a:lstStyle/>
          <a:p>
            <a:r>
              <a:rPr lang="zh-CN" altLang="en-US" b="1">
                <a:solidFill>
                  <a:srgbClr val="CC0000"/>
                </a:solidFill>
                <a:latin typeface="Arial" panose="020B0604020202020204" pitchFamily="34" charset="0"/>
                <a:ea typeface="黑体" panose="02010609060101010101" charset="-122"/>
              </a:rPr>
              <a:t>种类组成的</a:t>
            </a:r>
          </a:p>
          <a:p>
            <a:r>
              <a:rPr lang="zh-CN" altLang="en-US" b="1">
                <a:solidFill>
                  <a:srgbClr val="CC0000"/>
                </a:solidFill>
                <a:latin typeface="Arial" panose="020B0604020202020204" pitchFamily="34" charset="0"/>
                <a:ea typeface="黑体" panose="02010609060101010101" charset="-122"/>
              </a:rPr>
              <a:t>数量特征</a:t>
            </a:r>
          </a:p>
        </p:txBody>
      </p:sp>
      <p:sp>
        <p:nvSpPr>
          <p:cNvPr id="829448" name="文本框 829447"/>
          <p:cNvSpPr txBox="1"/>
          <p:nvPr/>
        </p:nvSpPr>
        <p:spPr>
          <a:xfrm>
            <a:off x="2927350" y="4941888"/>
            <a:ext cx="1332230" cy="645160"/>
          </a:xfrm>
          <a:prstGeom prst="rect">
            <a:avLst/>
          </a:prstGeom>
          <a:solidFill>
            <a:srgbClr val="FFFF66"/>
          </a:solidFill>
          <a:ln w="28575" cap="flat" cmpd="sng">
            <a:solidFill>
              <a:srgbClr val="3333CC"/>
            </a:solidFill>
            <a:prstDash val="solid"/>
            <a:miter/>
            <a:headEnd type="none" w="med" len="med"/>
            <a:tailEnd type="none" w="med" len="med"/>
          </a:ln>
        </p:spPr>
        <p:txBody>
          <a:bodyPr wrap="none" anchor="t" anchorCtr="0">
            <a:spAutoFit/>
          </a:bodyPr>
          <a:lstStyle/>
          <a:p>
            <a:r>
              <a:rPr lang="zh-CN" altLang="en-US" b="1">
                <a:solidFill>
                  <a:srgbClr val="CC0000"/>
                </a:solidFill>
                <a:latin typeface="Arial" panose="020B0604020202020204" pitchFamily="34" charset="0"/>
                <a:ea typeface="黑体" panose="02010609060101010101" charset="-122"/>
              </a:rPr>
              <a:t>群落的物种</a:t>
            </a:r>
          </a:p>
          <a:p>
            <a:r>
              <a:rPr lang="zh-CN" altLang="en-US" b="1">
                <a:solidFill>
                  <a:srgbClr val="CC0000"/>
                </a:solidFill>
                <a:latin typeface="Arial" panose="020B0604020202020204" pitchFamily="34" charset="0"/>
                <a:ea typeface="黑体" panose="02010609060101010101" charset="-122"/>
              </a:rPr>
              <a:t>多样性</a:t>
            </a:r>
          </a:p>
        </p:txBody>
      </p:sp>
      <p:sp>
        <p:nvSpPr>
          <p:cNvPr id="829449" name="左大括号 829448"/>
          <p:cNvSpPr/>
          <p:nvPr/>
        </p:nvSpPr>
        <p:spPr>
          <a:xfrm>
            <a:off x="4438650" y="620713"/>
            <a:ext cx="295275" cy="2160587"/>
          </a:xfrm>
          <a:prstGeom prst="leftBrace">
            <a:avLst>
              <a:gd name="adj1" fmla="val 6097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829450" name="文本框 829449"/>
          <p:cNvSpPr txBox="1"/>
          <p:nvPr/>
        </p:nvSpPr>
        <p:spPr>
          <a:xfrm>
            <a:off x="5175885" y="333375"/>
            <a:ext cx="3672840" cy="953135"/>
          </a:xfrm>
          <a:prstGeom prst="rect">
            <a:avLst/>
          </a:prstGeom>
          <a:solidFill>
            <a:srgbClr val="00FFCC"/>
          </a:solidFill>
          <a:ln w="9525">
            <a:noFill/>
          </a:ln>
        </p:spPr>
        <p:txBody>
          <a:bodyPr wrap="square" anchor="t" anchorCtr="0">
            <a:spAutoFit/>
          </a:bodyPr>
          <a:lstStyle/>
          <a:p>
            <a:r>
              <a:rPr lang="zh-CN" altLang="en-US" sz="2800" b="1">
                <a:solidFill>
                  <a:srgbClr val="CC0000"/>
                </a:solidFill>
                <a:latin typeface="Arial" panose="020B0604020202020204" pitchFamily="34" charset="0"/>
                <a:ea typeface="黑体" panose="02010609060101010101" charset="-122"/>
              </a:rPr>
              <a:t>群落最小面积的确定</a:t>
            </a:r>
          </a:p>
          <a:p>
            <a:r>
              <a:rPr lang="zh-CN" altLang="en-US" sz="2800" b="1">
                <a:solidFill>
                  <a:srgbClr val="CC0000"/>
                </a:solidFill>
                <a:latin typeface="Arial" panose="020B0604020202020204" pitchFamily="34" charset="0"/>
                <a:ea typeface="黑体" panose="02010609060101010101" charset="-122"/>
              </a:rPr>
              <a:t>种－面积曲线的绘制</a:t>
            </a:r>
          </a:p>
        </p:txBody>
      </p:sp>
      <p:sp>
        <p:nvSpPr>
          <p:cNvPr id="829451" name="文本框 829450"/>
          <p:cNvSpPr txBox="1"/>
          <p:nvPr/>
        </p:nvSpPr>
        <p:spPr>
          <a:xfrm>
            <a:off x="5175885" y="1397635"/>
            <a:ext cx="4895850" cy="1383665"/>
          </a:xfrm>
          <a:prstGeom prst="rect">
            <a:avLst/>
          </a:prstGeom>
          <a:solidFill>
            <a:srgbClr val="00FFCC"/>
          </a:solidFill>
          <a:ln w="9525">
            <a:noFill/>
          </a:ln>
        </p:spPr>
        <p:txBody>
          <a:bodyPr>
            <a:spAutoFit/>
          </a:bodyPr>
          <a:lstStyle/>
          <a:p>
            <a:r>
              <a:rPr lang="zh-CN" altLang="en-US" sz="2800" b="1">
                <a:solidFill>
                  <a:srgbClr val="CC0000"/>
                </a:solidFill>
                <a:latin typeface="Arial" panose="020B0604020202020204" pitchFamily="34" charset="0"/>
                <a:ea typeface="黑体" panose="02010609060101010101" charset="-122"/>
              </a:rPr>
              <a:t>常见植物群落成员的类型：</a:t>
            </a:r>
          </a:p>
          <a:p>
            <a:r>
              <a:rPr lang="zh-CN" altLang="en-US" sz="2800" b="1">
                <a:solidFill>
                  <a:srgbClr val="CC0000"/>
                </a:solidFill>
                <a:latin typeface="Arial" panose="020B0604020202020204" pitchFamily="34" charset="0"/>
                <a:ea typeface="黑体" panose="02010609060101010101" charset="-122"/>
              </a:rPr>
              <a:t>优势种和建群种，亚优势种，</a:t>
            </a:r>
          </a:p>
          <a:p>
            <a:r>
              <a:rPr lang="zh-CN" altLang="en-US" sz="2800" b="1">
                <a:solidFill>
                  <a:srgbClr val="CC0000"/>
                </a:solidFill>
                <a:latin typeface="Arial" panose="020B0604020202020204" pitchFamily="34" charset="0"/>
                <a:ea typeface="黑体" panose="02010609060101010101" charset="-122"/>
              </a:rPr>
              <a:t>伴生种，偶见种（罕见种）</a:t>
            </a:r>
          </a:p>
        </p:txBody>
      </p:sp>
      <p:sp>
        <p:nvSpPr>
          <p:cNvPr id="829453" name="文本框 829452"/>
          <p:cNvSpPr txBox="1"/>
          <p:nvPr/>
        </p:nvSpPr>
        <p:spPr>
          <a:xfrm>
            <a:off x="5427663" y="3232150"/>
            <a:ext cx="309880" cy="368300"/>
          </a:xfrm>
          <a:prstGeom prst="rect">
            <a:avLst/>
          </a:prstGeom>
          <a:noFill/>
          <a:ln w="9525">
            <a:noFill/>
          </a:ln>
        </p:spPr>
        <p:txBody>
          <a:bodyPr wrap="none" anchor="t" anchorCtr="0">
            <a:spAutoFit/>
          </a:bodyPr>
          <a:lstStyle/>
          <a:p>
            <a:endParaRPr lang="zh-CN" altLang="en-US">
              <a:latin typeface="Arial" panose="020B0604020202020204" pitchFamily="34" charset="0"/>
            </a:endParaRPr>
          </a:p>
        </p:txBody>
      </p:sp>
      <p:sp>
        <p:nvSpPr>
          <p:cNvPr id="829454" name="文本框 829453"/>
          <p:cNvSpPr txBox="1"/>
          <p:nvPr/>
        </p:nvSpPr>
        <p:spPr>
          <a:xfrm>
            <a:off x="5175885" y="3430270"/>
            <a:ext cx="5447030" cy="953135"/>
          </a:xfrm>
          <a:prstGeom prst="rect">
            <a:avLst/>
          </a:prstGeom>
          <a:solidFill>
            <a:srgbClr val="00FFCC"/>
          </a:solidFill>
          <a:ln w="9525">
            <a:noFill/>
          </a:ln>
        </p:spPr>
        <p:txBody>
          <a:bodyPr wrap="square">
            <a:spAutoFit/>
          </a:bodyPr>
          <a:lstStyle/>
          <a:p>
            <a:r>
              <a:rPr lang="zh-CN" altLang="en-US" sz="2800" b="1">
                <a:solidFill>
                  <a:srgbClr val="CC0000"/>
                </a:solidFill>
                <a:latin typeface="Arial" panose="020B0604020202020204" pitchFamily="34" charset="0"/>
                <a:ea typeface="黑体" panose="02010609060101010101" charset="-122"/>
              </a:rPr>
              <a:t>多度　密度　相对密度</a:t>
            </a:r>
          </a:p>
          <a:p>
            <a:r>
              <a:rPr lang="zh-CN" altLang="en-US" sz="2800" b="1">
                <a:solidFill>
                  <a:srgbClr val="CC0000"/>
                </a:solidFill>
                <a:latin typeface="Arial" panose="020B0604020202020204" pitchFamily="34" charset="0"/>
                <a:ea typeface="黑体" panose="02010609060101010101" charset="-122"/>
              </a:rPr>
              <a:t>盖度　频度　高度　体积　重量　</a:t>
            </a:r>
          </a:p>
        </p:txBody>
      </p:sp>
      <p:sp>
        <p:nvSpPr>
          <p:cNvPr id="829456" name="文本框 829455"/>
          <p:cNvSpPr txBox="1"/>
          <p:nvPr/>
        </p:nvSpPr>
        <p:spPr>
          <a:xfrm>
            <a:off x="5175885" y="4680467"/>
            <a:ext cx="3757930" cy="1383665"/>
          </a:xfrm>
          <a:prstGeom prst="rect">
            <a:avLst/>
          </a:prstGeom>
          <a:solidFill>
            <a:srgbClr val="00FFCC"/>
          </a:solidFill>
          <a:ln w="9525">
            <a:noFill/>
          </a:ln>
        </p:spPr>
        <p:txBody>
          <a:bodyPr wrap="none" anchor="t" anchorCtr="0">
            <a:spAutoFit/>
          </a:bodyPr>
          <a:lstStyle/>
          <a:p>
            <a:r>
              <a:rPr lang="zh-CN" altLang="en-US" sz="2800" b="1">
                <a:solidFill>
                  <a:srgbClr val="CC0000"/>
                </a:solidFill>
                <a:latin typeface="Arial" panose="020B0604020202020204" pitchFamily="34" charset="0"/>
                <a:ea typeface="黑体" panose="02010609060101010101" charset="-122"/>
              </a:rPr>
              <a:t>物种多样性的涵义</a:t>
            </a:r>
          </a:p>
          <a:p>
            <a:r>
              <a:rPr lang="zh-CN" altLang="en-US" sz="2800" b="1">
                <a:solidFill>
                  <a:srgbClr val="CC0000"/>
                </a:solidFill>
                <a:latin typeface="Arial" panose="020B0604020202020204" pitchFamily="34" charset="0"/>
                <a:ea typeface="黑体" panose="02010609060101010101" charset="-122"/>
              </a:rPr>
              <a:t>物种多样性指数</a:t>
            </a:r>
          </a:p>
          <a:p>
            <a:r>
              <a:rPr lang="zh-CN" altLang="en-US" sz="2800" b="1">
                <a:solidFill>
                  <a:srgbClr val="CC0000"/>
                </a:solidFill>
                <a:latin typeface="Arial" panose="020B0604020202020204" pitchFamily="34" charset="0"/>
                <a:ea typeface="黑体" panose="02010609060101010101" charset="-122"/>
              </a:rPr>
              <a:t>物种多样性的分布规律</a:t>
            </a: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501" name="Picture 4" descr="未命名"/>
          <p:cNvPicPr>
            <a:picLocks noChangeAspect="1"/>
          </p:cNvPicPr>
          <p:nvPr/>
        </p:nvPicPr>
        <p:blipFill>
          <a:blip r:embed="rId2"/>
          <a:stretch>
            <a:fillRect/>
          </a:stretch>
        </p:blipFill>
        <p:spPr>
          <a:xfrm>
            <a:off x="4800600" y="1268413"/>
            <a:ext cx="5638800" cy="3008312"/>
          </a:xfrm>
          <a:prstGeom prst="rect">
            <a:avLst/>
          </a:prstGeom>
          <a:noFill/>
          <a:ln w="9525">
            <a:noFill/>
          </a:ln>
        </p:spPr>
      </p:pic>
      <p:sp>
        <p:nvSpPr>
          <p:cNvPr id="234502" name="矩形 234501"/>
          <p:cNvSpPr/>
          <p:nvPr/>
        </p:nvSpPr>
        <p:spPr>
          <a:xfrm>
            <a:off x="6775927" y="4652963"/>
            <a:ext cx="2137410" cy="368300"/>
          </a:xfrm>
          <a:prstGeom prst="rect">
            <a:avLst/>
          </a:prstGeom>
          <a:noFill/>
          <a:ln w="9525">
            <a:noFill/>
          </a:ln>
        </p:spPr>
        <p:txBody>
          <a:bodyPr wrap="none" anchor="t" anchorCtr="0">
            <a:spAutoFit/>
          </a:bodyPr>
          <a:lstStyle/>
          <a:p>
            <a:pPr algn="ctr"/>
            <a:r>
              <a:rPr lang="zh-CN" altLang="en-US" b="1">
                <a:solidFill>
                  <a:srgbClr val="CC0000"/>
                </a:solidFill>
                <a:latin typeface="黑体" panose="02010609060101010101" charset="-122"/>
                <a:ea typeface="黑体" panose="02010609060101010101" charset="-122"/>
              </a:rPr>
              <a:t>种</a:t>
            </a:r>
            <a:r>
              <a:rPr lang="en-US" altLang="zh-CN" b="1">
                <a:solidFill>
                  <a:srgbClr val="CC0000"/>
                </a:solidFill>
                <a:latin typeface="黑体" panose="02010609060101010101" charset="-122"/>
                <a:ea typeface="黑体" panose="02010609060101010101" charset="-122"/>
              </a:rPr>
              <a:t>-</a:t>
            </a:r>
            <a:r>
              <a:rPr lang="zh-CN" altLang="en-US" b="1">
                <a:solidFill>
                  <a:srgbClr val="CC0000"/>
                </a:solidFill>
                <a:latin typeface="黑体" panose="02010609060101010101" charset="-122"/>
                <a:ea typeface="黑体" panose="02010609060101010101" charset="-122"/>
              </a:rPr>
              <a:t>面积曲线示意图</a:t>
            </a:r>
          </a:p>
        </p:txBody>
      </p:sp>
      <p:sp>
        <p:nvSpPr>
          <p:cNvPr id="234503" name="矩形 234502"/>
          <p:cNvSpPr/>
          <p:nvPr/>
        </p:nvSpPr>
        <p:spPr>
          <a:xfrm>
            <a:off x="2598579" y="4437063"/>
            <a:ext cx="1332230" cy="368300"/>
          </a:xfrm>
          <a:prstGeom prst="rect">
            <a:avLst/>
          </a:prstGeom>
          <a:noFill/>
          <a:ln w="9525">
            <a:noFill/>
          </a:ln>
        </p:spPr>
        <p:txBody>
          <a:bodyPr wrap="none" anchor="t" anchorCtr="0">
            <a:spAutoFit/>
          </a:bodyPr>
          <a:lstStyle/>
          <a:p>
            <a:pPr algn="ctr"/>
            <a:r>
              <a:rPr lang="zh-CN" altLang="en-US" b="1">
                <a:solidFill>
                  <a:srgbClr val="CC0000"/>
                </a:solidFill>
                <a:latin typeface="Arial" panose="020B0604020202020204" pitchFamily="34" charset="0"/>
                <a:ea typeface="黑体" panose="02010609060101010101" charset="-122"/>
              </a:rPr>
              <a:t>巢氏取样法</a:t>
            </a:r>
          </a:p>
        </p:txBody>
      </p:sp>
      <p:pic>
        <p:nvPicPr>
          <p:cNvPr id="234505" name="图片 234504" descr="QQ截图20171027085716"/>
          <p:cNvPicPr>
            <a:picLocks noChangeAspect="1"/>
          </p:cNvPicPr>
          <p:nvPr/>
        </p:nvPicPr>
        <p:blipFill>
          <a:blip r:embed="rId3"/>
          <a:stretch>
            <a:fillRect/>
          </a:stretch>
        </p:blipFill>
        <p:spPr>
          <a:xfrm>
            <a:off x="1847850" y="1268413"/>
            <a:ext cx="2747963" cy="3024187"/>
          </a:xfrm>
          <a:prstGeom prst="rect">
            <a:avLst/>
          </a:prstGeom>
          <a:noFill/>
          <a:ln w="9525">
            <a:noFill/>
          </a:ln>
        </p:spPr>
      </p:pic>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5" name="文本占位符 499714"/>
          <p:cNvSpPr>
            <a:spLocks noGrp="1"/>
          </p:cNvSpPr>
          <p:nvPr>
            <p:ph type="body" idx="1"/>
          </p:nvPr>
        </p:nvSpPr>
        <p:spPr>
          <a:xfrm>
            <a:off x="1992313" y="908050"/>
            <a:ext cx="8229600" cy="5000625"/>
          </a:xfrm>
        </p:spPr>
        <p:txBody>
          <a:bodyPr/>
          <a:lstStyle/>
          <a:p>
            <a:pPr marL="0" indent="0">
              <a:buNone/>
            </a:pPr>
            <a:r>
              <a:rPr lang="en-US" altLang="zh-CN" sz="2800" b="1"/>
              <a:t>1.</a:t>
            </a:r>
            <a:r>
              <a:rPr lang="zh-CN" altLang="en-US" sz="2800" b="1"/>
              <a:t>下列关于生态型的叙述，正确的是</a:t>
            </a:r>
          </a:p>
          <a:p>
            <a:pPr marL="0" indent="0">
              <a:buNone/>
            </a:pPr>
            <a:r>
              <a:rPr lang="en-US" altLang="zh-CN" sz="2800" b="1">
                <a:latin typeface="黑体" panose="02010609060101010101" charset="-122"/>
              </a:rPr>
              <a:t>A.</a:t>
            </a:r>
            <a:r>
              <a:rPr lang="zh-CN" altLang="en-US" sz="2800" b="1">
                <a:latin typeface="黑体" panose="02010609060101010101" charset="-122"/>
              </a:rPr>
              <a:t>物种分布范围越广，其生态型就越丰富；</a:t>
            </a:r>
          </a:p>
          <a:p>
            <a:pPr marL="0" indent="0">
              <a:buNone/>
            </a:pPr>
            <a:r>
              <a:rPr lang="en-US" altLang="zh-CN" sz="2800" b="1">
                <a:latin typeface="黑体" panose="02010609060101010101" charset="-122"/>
              </a:rPr>
              <a:t>B.</a:t>
            </a:r>
            <a:r>
              <a:rPr lang="zh-CN" altLang="en-US" sz="2800" b="1">
                <a:latin typeface="黑体" panose="02010609060101010101" charset="-122"/>
              </a:rPr>
              <a:t>生态型产生的变异，可表现在形态上，也可不</a:t>
            </a:r>
          </a:p>
          <a:p>
            <a:pPr marL="0" indent="0">
              <a:buNone/>
            </a:pPr>
            <a:r>
              <a:rPr lang="zh-CN" altLang="en-US" sz="2800" b="1">
                <a:latin typeface="黑体" panose="02010609060101010101" charset="-122"/>
              </a:rPr>
              <a:t> 表现在形态上；</a:t>
            </a:r>
          </a:p>
          <a:p>
            <a:pPr marL="0" indent="0">
              <a:buNone/>
            </a:pPr>
            <a:r>
              <a:rPr lang="en-US" altLang="zh-CN" sz="2800" b="1">
                <a:latin typeface="黑体" panose="02010609060101010101" charset="-122"/>
              </a:rPr>
              <a:t>C.</a:t>
            </a:r>
            <a:r>
              <a:rPr lang="zh-CN" altLang="en-US" sz="2800" b="1">
                <a:latin typeface="黑体" panose="02010609060101010101" charset="-122"/>
              </a:rPr>
              <a:t>同物种内不同生态型的变异与特定的环境相联</a:t>
            </a:r>
          </a:p>
          <a:p>
            <a:pPr marL="0" indent="0">
              <a:buNone/>
            </a:pPr>
            <a:r>
              <a:rPr lang="zh-CN" altLang="en-US" sz="2800" b="1">
                <a:latin typeface="黑体" panose="02010609060101010101" charset="-122"/>
              </a:rPr>
              <a:t> 系；</a:t>
            </a:r>
          </a:p>
          <a:p>
            <a:pPr marL="0" indent="0">
              <a:buNone/>
            </a:pPr>
            <a:r>
              <a:rPr lang="en-US" altLang="zh-CN" sz="2800" b="1">
                <a:solidFill>
                  <a:schemeClr val="tx1"/>
                </a:solidFill>
                <a:latin typeface="黑体" panose="02010609060101010101" charset="-122"/>
              </a:rPr>
              <a:t>D.</a:t>
            </a:r>
            <a:r>
              <a:rPr lang="zh-CN" altLang="en-US" sz="2800" b="1">
                <a:solidFill>
                  <a:schemeClr val="tx1"/>
                </a:solidFill>
                <a:latin typeface="黑体" panose="02010609060101010101" charset="-122"/>
              </a:rPr>
              <a:t>同物种内不同</a:t>
            </a:r>
            <a:r>
              <a:rPr lang="zh-CN" altLang="en-US" sz="2800" b="1">
                <a:latin typeface="黑体" panose="02010609060101010101" charset="-122"/>
              </a:rPr>
              <a:t>生态型的变异是不可遗传的。</a:t>
            </a:r>
          </a:p>
        </p:txBody>
      </p:sp>
      <p:sp>
        <p:nvSpPr>
          <p:cNvPr id="2" name="文本框 1"/>
          <p:cNvSpPr txBox="1"/>
          <p:nvPr/>
        </p:nvSpPr>
        <p:spPr>
          <a:xfrm>
            <a:off x="9094470" y="908050"/>
            <a:ext cx="903605" cy="461665"/>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2400">
                <a:solidFill>
                  <a:srgbClr val="FF0000"/>
                </a:solidFill>
                <a:latin typeface="Arial" panose="020B0604020202020204" pitchFamily="34" charset="0"/>
                <a:ea typeface="微软雅黑" panose="020B0503020204020204" charset="-122"/>
              </a:rPr>
              <a:t>ABC</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1" name="文本占位符 514050"/>
          <p:cNvSpPr>
            <a:spLocks noGrp="1"/>
          </p:cNvSpPr>
          <p:nvPr>
            <p:ph type="body" idx="1"/>
          </p:nvPr>
        </p:nvSpPr>
        <p:spPr>
          <a:xfrm>
            <a:off x="1919288" y="981075"/>
            <a:ext cx="8497887" cy="4525963"/>
          </a:xfrm>
        </p:spPr>
        <p:txBody>
          <a:bodyPr/>
          <a:lstStyle/>
          <a:p>
            <a:pPr marL="0" indent="0">
              <a:buNone/>
            </a:pPr>
            <a:r>
              <a:rPr lang="en-US" altLang="zh-CN" b="1">
                <a:latin typeface="黑体" panose="02010609060101010101" charset="-122"/>
              </a:rPr>
              <a:t>2</a:t>
            </a:r>
            <a:r>
              <a:rPr lang="en-US" altLang="zh-CN" sz="2800" b="1">
                <a:latin typeface="黑体" panose="02010609060101010101" charset="-122"/>
              </a:rPr>
              <a:t>.</a:t>
            </a:r>
            <a:r>
              <a:rPr lang="zh-CN" altLang="en-US" sz="2800" b="1">
                <a:latin typeface="黑体" panose="02010609060101010101" charset="-122"/>
              </a:rPr>
              <a:t>下列关于生态型的说法，正确的是</a:t>
            </a:r>
          </a:p>
          <a:p>
            <a:pPr marL="0" indent="0">
              <a:buNone/>
            </a:pPr>
            <a:r>
              <a:rPr lang="zh-CN" altLang="en-US" sz="2800" b="1">
                <a:latin typeface="黑体" panose="02010609060101010101" charset="-122"/>
              </a:rPr>
              <a:t> </a:t>
            </a:r>
            <a:r>
              <a:rPr lang="en-US" altLang="zh-CN" sz="2800" b="1">
                <a:latin typeface="黑体" panose="02010609060101010101" charset="-122"/>
              </a:rPr>
              <a:t>A</a:t>
            </a:r>
            <a:r>
              <a:rPr lang="zh-CN" altLang="en-US" sz="2800" b="1">
                <a:latin typeface="黑体" panose="02010609060101010101" charset="-122"/>
              </a:rPr>
              <a:t>．生态型是一个物种对某一特定生境发生基因</a:t>
            </a:r>
          </a:p>
          <a:p>
            <a:pPr marL="0" indent="0">
              <a:buNone/>
            </a:pPr>
            <a:r>
              <a:rPr lang="zh-CN" altLang="en-US" sz="2800" b="1">
                <a:latin typeface="黑体" panose="02010609060101010101" charset="-122"/>
              </a:rPr>
              <a:t>　　型反应的产物</a:t>
            </a:r>
          </a:p>
          <a:p>
            <a:pPr marL="0" indent="0">
              <a:buNone/>
            </a:pPr>
            <a:r>
              <a:rPr lang="zh-CN" altLang="en-US" sz="2800" b="1">
                <a:latin typeface="黑体" panose="02010609060101010101" charset="-122"/>
              </a:rPr>
              <a:t> </a:t>
            </a:r>
            <a:r>
              <a:rPr lang="en-US" altLang="zh-CN" sz="2800" b="1">
                <a:latin typeface="黑体" panose="02010609060101010101" charset="-122"/>
              </a:rPr>
              <a:t>B</a:t>
            </a:r>
            <a:r>
              <a:rPr lang="zh-CN" altLang="en-US" sz="2800" b="1">
                <a:latin typeface="黑体" panose="02010609060101010101" charset="-122"/>
              </a:rPr>
              <a:t>．生态型是种内适应不同生态条件的遗传类群</a:t>
            </a:r>
          </a:p>
          <a:p>
            <a:pPr marL="0" indent="0">
              <a:buNone/>
            </a:pPr>
            <a:r>
              <a:rPr lang="zh-CN" altLang="en-US" sz="2800" b="1">
                <a:latin typeface="黑体" panose="02010609060101010101" charset="-122"/>
              </a:rPr>
              <a:t> </a:t>
            </a:r>
            <a:r>
              <a:rPr lang="en-US" altLang="zh-CN" sz="2800" b="1">
                <a:solidFill>
                  <a:schemeClr val="tx1"/>
                </a:solidFill>
                <a:latin typeface="黑体" panose="02010609060101010101" charset="-122"/>
              </a:rPr>
              <a:t>C</a:t>
            </a:r>
            <a:r>
              <a:rPr lang="zh-CN" altLang="en-US" sz="2800" b="1">
                <a:solidFill>
                  <a:schemeClr val="tx1"/>
                </a:solidFill>
                <a:latin typeface="黑体" panose="02010609060101010101" charset="-122"/>
              </a:rPr>
              <a:t>．生态型是种内的分异，在生物分类学上也叫</a:t>
            </a:r>
          </a:p>
          <a:p>
            <a:pPr marL="0" indent="0">
              <a:buNone/>
            </a:pPr>
            <a:r>
              <a:rPr lang="zh-CN" altLang="en-US" sz="2800" b="1">
                <a:solidFill>
                  <a:schemeClr val="tx1"/>
                </a:solidFill>
                <a:latin typeface="黑体" panose="02010609060101010101" charset="-122"/>
              </a:rPr>
              <a:t>　　亚种</a:t>
            </a:r>
            <a:endParaRPr lang="zh-CN" altLang="en-US" sz="2800" b="1">
              <a:latin typeface="黑体" panose="02010609060101010101" charset="-122"/>
            </a:endParaRPr>
          </a:p>
          <a:p>
            <a:pPr marL="0" indent="0">
              <a:buNone/>
            </a:pPr>
            <a:r>
              <a:rPr lang="zh-CN" altLang="en-US" sz="2800" b="1">
                <a:latin typeface="黑体" panose="02010609060101010101" charset="-122"/>
              </a:rPr>
              <a:t> </a:t>
            </a:r>
            <a:r>
              <a:rPr lang="en-US" altLang="zh-CN" sz="2800" b="1">
                <a:latin typeface="黑体" panose="02010609060101010101" charset="-122"/>
              </a:rPr>
              <a:t>D</a:t>
            </a:r>
            <a:r>
              <a:rPr lang="zh-CN" altLang="en-US" sz="2800" b="1">
                <a:latin typeface="黑体" panose="02010609060101010101" charset="-122"/>
              </a:rPr>
              <a:t>．生态型按生态主导因素的不同可有气候、土</a:t>
            </a:r>
          </a:p>
          <a:p>
            <a:pPr marL="0" indent="0">
              <a:buNone/>
            </a:pPr>
            <a:r>
              <a:rPr lang="zh-CN" altLang="en-US" sz="2800" b="1">
                <a:latin typeface="黑体" panose="02010609060101010101" charset="-122"/>
              </a:rPr>
              <a:t>　　壤生态型等</a:t>
            </a:r>
          </a:p>
          <a:p>
            <a:endParaRPr lang="zh-CN" altLang="en-US" b="1"/>
          </a:p>
        </p:txBody>
      </p:sp>
      <p:sp>
        <p:nvSpPr>
          <p:cNvPr id="2" name="文本框 1"/>
          <p:cNvSpPr txBox="1"/>
          <p:nvPr/>
        </p:nvSpPr>
        <p:spPr>
          <a:xfrm>
            <a:off x="9604375" y="908050"/>
            <a:ext cx="903605" cy="368300"/>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1800">
                <a:solidFill>
                  <a:srgbClr val="FF0000"/>
                </a:solidFill>
                <a:latin typeface="Arial" panose="020B0604020202020204" pitchFamily="34" charset="0"/>
                <a:ea typeface="微软雅黑" panose="020B0503020204020204" charset="-122"/>
              </a:rPr>
              <a:t>ABD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文本占位符 240642"/>
          <p:cNvSpPr>
            <a:spLocks noGrp="1"/>
          </p:cNvSpPr>
          <p:nvPr>
            <p:ph type="body" idx="1"/>
          </p:nvPr>
        </p:nvSpPr>
        <p:spPr>
          <a:xfrm>
            <a:off x="1992313" y="115888"/>
            <a:ext cx="8229600" cy="2808287"/>
          </a:xfrm>
          <a:solidFill>
            <a:srgbClr val="CCFF33"/>
          </a:solidFill>
          <a:ln w="28575">
            <a:solidFill>
              <a:srgbClr val="FF6600"/>
            </a:solidFill>
            <a:miter/>
          </a:ln>
        </p:spPr>
        <p:txBody>
          <a:bodyPr/>
          <a:lstStyle/>
          <a:p>
            <a:pPr eaLnBrk="1" hangingPunct="1">
              <a:spcBef>
                <a:spcPct val="0"/>
              </a:spcBef>
              <a:buFontTx/>
              <a:buNone/>
            </a:pPr>
            <a:r>
              <a:rPr lang="zh-CN" altLang="en-US" sz="2400" b="1">
                <a:solidFill>
                  <a:srgbClr val="CC0000"/>
                </a:solidFill>
                <a:latin typeface="黑体" panose="02010609060101010101" charset="-122"/>
              </a:rPr>
              <a:t>　　　　　　　　　群落的物种多样性</a:t>
            </a:r>
          </a:p>
          <a:p>
            <a:pPr eaLnBrk="1" hangingPunct="1">
              <a:spcBef>
                <a:spcPct val="0"/>
              </a:spcBef>
              <a:buFontTx/>
              <a:buNone/>
            </a:pPr>
            <a:r>
              <a:rPr lang="zh-CN" altLang="en-US" sz="2400" b="1">
                <a:solidFill>
                  <a:srgbClr val="CC0000"/>
                </a:solidFill>
                <a:latin typeface="黑体" panose="02010609060101010101" charset="-122"/>
              </a:rPr>
              <a:t>　物种多样性具有两种涵义：</a:t>
            </a:r>
          </a:p>
          <a:p>
            <a:r>
              <a:rPr lang="zh-CN" altLang="en-US" sz="2400" b="1">
                <a:solidFill>
                  <a:srgbClr val="CC0000"/>
                </a:solidFill>
                <a:latin typeface="黑体" panose="02010609060101010101" charset="-122"/>
              </a:rPr>
              <a:t>    其一是种的数目或丰富度，它是指一个群落或生境中数目的多寡；</a:t>
            </a:r>
          </a:p>
          <a:p>
            <a:r>
              <a:rPr lang="zh-CN" altLang="en-US" sz="2400" b="1">
                <a:solidFill>
                  <a:srgbClr val="CC0000"/>
                </a:solidFill>
                <a:latin typeface="黑体" panose="02010609060101010101" charset="-122"/>
              </a:rPr>
              <a:t>    其二是种的均匀度，它是指一个群落或生境中全部物种个体数目的分配状况，它反映的是各物种个体数目分配的均匀程度。</a:t>
            </a:r>
          </a:p>
          <a:p>
            <a:endParaRPr lang="zh-CN" altLang="en-US" sz="2400" b="1">
              <a:solidFill>
                <a:srgbClr val="CC0000"/>
              </a:solidFill>
              <a:latin typeface="黑体" panose="02010609060101010101" charset="-122"/>
            </a:endParaRPr>
          </a:p>
        </p:txBody>
      </p:sp>
      <p:pic>
        <p:nvPicPr>
          <p:cNvPr id="240646" name="图片 240645" descr="QQ截图20171020114436"/>
          <p:cNvPicPr>
            <a:picLocks noChangeAspect="1"/>
          </p:cNvPicPr>
          <p:nvPr/>
        </p:nvPicPr>
        <p:blipFill>
          <a:blip r:embed="rId2"/>
          <a:stretch>
            <a:fillRect/>
          </a:stretch>
        </p:blipFill>
        <p:spPr>
          <a:xfrm>
            <a:off x="1919288" y="2997200"/>
            <a:ext cx="8117078" cy="3614219"/>
          </a:xfrm>
          <a:prstGeom prst="rect">
            <a:avLst/>
          </a:prstGeom>
          <a:noFill/>
          <a:ln w="9525">
            <a:noFill/>
          </a:ln>
        </p:spPr>
      </p:pic>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文本占位符 230402"/>
          <p:cNvSpPr>
            <a:spLocks noGrp="1"/>
          </p:cNvSpPr>
          <p:nvPr>
            <p:ph type="body" idx="1"/>
          </p:nvPr>
        </p:nvSpPr>
        <p:spPr>
          <a:xfrm>
            <a:off x="4729124" y="2754217"/>
            <a:ext cx="9981281" cy="4208443"/>
          </a:xfrm>
        </p:spPr>
        <p:txBody>
          <a:bodyPr/>
          <a:lstStyle/>
          <a:p>
            <a:pPr marL="0" indent="0">
              <a:buNone/>
            </a:pPr>
            <a:r>
              <a:rPr lang="en-US" altLang="zh-CN" sz="2400" b="1"/>
              <a:t>2.</a:t>
            </a:r>
            <a:r>
              <a:rPr lang="zh-CN" altLang="en-US" sz="2400" b="1"/>
              <a:t>根据该表格的数据，下列叙述哪一项是正确的</a:t>
            </a:r>
          </a:p>
          <a:p>
            <a:pPr marL="0" indent="0">
              <a:buNone/>
            </a:pPr>
            <a:r>
              <a:rPr lang="en-US" altLang="zh-CN" sz="2400" b="1">
                <a:latin typeface="黑体" panose="02010609060101010101" charset="-122"/>
              </a:rPr>
              <a:t>A.</a:t>
            </a:r>
            <a:r>
              <a:rPr lang="zh-CN" altLang="en-US" sz="2400" b="1">
                <a:latin typeface="黑体" panose="02010609060101010101" charset="-122"/>
              </a:rPr>
              <a:t>该森林生态系统的物种多样性，砍伐后比砍伐</a:t>
            </a:r>
          </a:p>
          <a:p>
            <a:pPr marL="0" indent="0">
              <a:buNone/>
            </a:pPr>
            <a:r>
              <a:rPr lang="zh-CN" altLang="en-US" sz="2400" b="1">
                <a:latin typeface="黑体" panose="02010609060101010101" charset="-122"/>
              </a:rPr>
              <a:t>　前高；</a:t>
            </a:r>
          </a:p>
          <a:p>
            <a:pPr marL="0" indent="0">
              <a:buNone/>
            </a:pPr>
            <a:r>
              <a:rPr lang="en-US" altLang="zh-CN" sz="2400" b="1">
                <a:latin typeface="黑体" panose="02010609060101010101" charset="-122"/>
              </a:rPr>
              <a:t>B.</a:t>
            </a:r>
            <a:r>
              <a:rPr lang="zh-CN" altLang="en-US" sz="2400" b="1">
                <a:latin typeface="黑体" panose="02010609060101010101" charset="-122"/>
              </a:rPr>
              <a:t>此森林砍伐后，只需</a:t>
            </a:r>
            <a:r>
              <a:rPr lang="en-US" altLang="zh-CN" sz="2400" b="1">
                <a:latin typeface="黑体" panose="02010609060101010101" charset="-122"/>
              </a:rPr>
              <a:t>5</a:t>
            </a:r>
            <a:r>
              <a:rPr lang="zh-CN" altLang="en-US" sz="2400" b="1">
                <a:latin typeface="黑体" panose="02010609060101010101" charset="-122"/>
              </a:rPr>
              <a:t>到</a:t>
            </a:r>
            <a:r>
              <a:rPr lang="en-US" altLang="zh-CN" sz="2400" b="1">
                <a:latin typeface="黑体" panose="02010609060101010101" charset="-122"/>
              </a:rPr>
              <a:t>6</a:t>
            </a:r>
            <a:r>
              <a:rPr lang="zh-CN" altLang="en-US" sz="2400" b="1">
                <a:latin typeface="黑体" panose="02010609060101010101" charset="-122"/>
              </a:rPr>
              <a:t>年就能恢复为顶极群　</a:t>
            </a:r>
          </a:p>
          <a:p>
            <a:pPr marL="0" indent="0">
              <a:buNone/>
            </a:pPr>
            <a:r>
              <a:rPr lang="zh-CN" altLang="en-US" sz="2400" b="1">
                <a:latin typeface="黑体" panose="02010609060101010101" charset="-122"/>
              </a:rPr>
              <a:t>　落；</a:t>
            </a:r>
          </a:p>
          <a:p>
            <a:pPr marL="0" indent="0">
              <a:buNone/>
            </a:pPr>
            <a:r>
              <a:rPr lang="en-US" altLang="zh-CN" sz="2400" b="1">
                <a:solidFill>
                  <a:schemeClr val="tx1"/>
                </a:solidFill>
                <a:latin typeface="黑体" panose="02010609060101010101" charset="-122"/>
              </a:rPr>
              <a:t>C.</a:t>
            </a:r>
            <a:r>
              <a:rPr lang="zh-CN" altLang="en-US" sz="2400" b="1">
                <a:solidFill>
                  <a:schemeClr val="tx1"/>
                </a:solidFill>
                <a:latin typeface="黑体" panose="02010609060101010101" charset="-122"/>
              </a:rPr>
              <a:t>不论是砍伐</a:t>
            </a:r>
            <a:r>
              <a:rPr lang="zh-CN" altLang="en-US" sz="2400" b="1">
                <a:latin typeface="黑体" panose="02010609060101010101" charset="-122"/>
              </a:rPr>
              <a:t>前或砍伐后，鸟类的物种多样性都　</a:t>
            </a:r>
          </a:p>
          <a:p>
            <a:pPr marL="0" indent="0">
              <a:buNone/>
            </a:pPr>
            <a:r>
              <a:rPr lang="zh-CN" altLang="en-US" sz="2400" b="1">
                <a:latin typeface="黑体" panose="02010609060101010101" charset="-122"/>
              </a:rPr>
              <a:t>　比哺乳类高；</a:t>
            </a:r>
          </a:p>
          <a:p>
            <a:pPr marL="0" indent="0">
              <a:buNone/>
            </a:pPr>
            <a:r>
              <a:rPr lang="en-US" altLang="zh-CN" sz="2400" b="1">
                <a:latin typeface="黑体" panose="02010609060101010101" charset="-122"/>
              </a:rPr>
              <a:t>D.</a:t>
            </a:r>
            <a:r>
              <a:rPr lang="zh-CN" altLang="en-US" sz="2400" b="1">
                <a:latin typeface="黑体" panose="02010609060101010101" charset="-122"/>
              </a:rPr>
              <a:t>森林被砍伐后，此森林生态系统的优势种由哺　</a:t>
            </a:r>
          </a:p>
          <a:p>
            <a:pPr marL="0" indent="0">
              <a:buNone/>
            </a:pPr>
            <a:r>
              <a:rPr lang="zh-CN" altLang="en-US" sz="2400" b="1">
                <a:latin typeface="黑体" panose="02010609060101010101" charset="-122"/>
              </a:rPr>
              <a:t>　乳类变为鸟类。</a:t>
            </a:r>
          </a:p>
          <a:p>
            <a:endParaRPr lang="zh-CN" altLang="en-US" sz="2400" b="1">
              <a:latin typeface="黑体" panose="02010609060101010101" charset="-122"/>
            </a:endParaRPr>
          </a:p>
        </p:txBody>
      </p:sp>
      <p:sp>
        <p:nvSpPr>
          <p:cNvPr id="2" name="文本框 1"/>
          <p:cNvSpPr txBox="1"/>
          <p:nvPr/>
        </p:nvSpPr>
        <p:spPr>
          <a:xfrm>
            <a:off x="11288395" y="2754217"/>
            <a:ext cx="903605" cy="461665"/>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2400">
                <a:solidFill>
                  <a:srgbClr val="FF0000"/>
                </a:solidFill>
                <a:latin typeface="Arial" panose="020B0604020202020204" pitchFamily="34" charset="0"/>
                <a:ea typeface="微软雅黑" panose="020B0503020204020204" charset="-122"/>
              </a:rPr>
              <a:t>C</a:t>
            </a:r>
          </a:p>
        </p:txBody>
      </p:sp>
      <p:graphicFrame>
        <p:nvGraphicFramePr>
          <p:cNvPr id="5" name="内容占位符 231462">
            <a:extLst>
              <a:ext uri="{FF2B5EF4-FFF2-40B4-BE49-F238E27FC236}">
                <a16:creationId xmlns:a16="http://schemas.microsoft.com/office/drawing/2014/main" id="{7AE6338D-BD99-10BB-79D6-BD4DE5228A07}"/>
              </a:ext>
            </a:extLst>
          </p:cNvPr>
          <p:cNvGraphicFramePr>
            <a:graphicFrameLocks/>
          </p:cNvGraphicFramePr>
          <p:nvPr>
            <p:extLst>
              <p:ext uri="{D42A27DB-BD31-4B8C-83A1-F6EECF244321}">
                <p14:modId xmlns:p14="http://schemas.microsoft.com/office/powerpoint/2010/main" val="3965089388"/>
              </p:ext>
            </p:extLst>
          </p:nvPr>
        </p:nvGraphicFramePr>
        <p:xfrm>
          <a:off x="4729124" y="11017"/>
          <a:ext cx="6929609" cy="2743200"/>
        </p:xfrm>
        <a:graphic>
          <a:graphicData uri="http://schemas.openxmlformats.org/drawingml/2006/table">
            <a:tbl>
              <a:tblPr/>
              <a:tblGrid>
                <a:gridCol w="2181340">
                  <a:extLst>
                    <a:ext uri="{9D8B030D-6E8A-4147-A177-3AD203B41FA5}">
                      <a16:colId xmlns:a16="http://schemas.microsoft.com/office/drawing/2014/main" val="20000"/>
                    </a:ext>
                  </a:extLst>
                </a:gridCol>
                <a:gridCol w="2577947">
                  <a:extLst>
                    <a:ext uri="{9D8B030D-6E8A-4147-A177-3AD203B41FA5}">
                      <a16:colId xmlns:a16="http://schemas.microsoft.com/office/drawing/2014/main" val="20001"/>
                    </a:ext>
                  </a:extLst>
                </a:gridCol>
                <a:gridCol w="2170322">
                  <a:extLst>
                    <a:ext uri="{9D8B030D-6E8A-4147-A177-3AD203B41FA5}">
                      <a16:colId xmlns:a16="http://schemas.microsoft.com/office/drawing/2014/main" val="20002"/>
                    </a:ext>
                  </a:extLst>
                </a:gridCol>
              </a:tblGrid>
              <a:tr h="351058">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森林状态</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哺类物种数目</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鸟类物种数目</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150">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砍伐前</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en-US" altLang="zh-CN" sz="2400" b="1"/>
                        <a:t>45</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en-US" altLang="zh-CN" sz="2400" b="1"/>
                        <a:t>90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017">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刚砍伐不久</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en-US" altLang="zh-CN" sz="2400" b="1"/>
                        <a:t>35</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en-US" altLang="zh-CN" sz="2400" b="1"/>
                        <a:t>44</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8017">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砍伐后</a:t>
                      </a:r>
                      <a:r>
                        <a:rPr lang="en-US" altLang="zh-CN" sz="2400" b="1"/>
                        <a:t>2</a:t>
                      </a:r>
                      <a:r>
                        <a:rPr lang="zh-CN" altLang="en-US" sz="2400" b="1"/>
                        <a:t>年</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en-US" altLang="zh-CN" sz="2400" b="1"/>
                        <a:t>20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en-US" altLang="zh-CN" sz="2400" b="1"/>
                        <a:t>76</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8017">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砍伐后</a:t>
                      </a:r>
                      <a:r>
                        <a:rPr lang="en-US" altLang="zh-CN" sz="2400" b="1"/>
                        <a:t>4</a:t>
                      </a:r>
                      <a:r>
                        <a:rPr lang="zh-CN" altLang="en-US" sz="2400" b="1"/>
                        <a:t>年</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en-US" altLang="zh-CN" sz="2400" b="1"/>
                        <a:t>34</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en-US" altLang="zh-CN" sz="2400" b="1"/>
                        <a:t>78</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8017">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砍伐后</a:t>
                      </a:r>
                      <a:r>
                        <a:rPr lang="en-US" altLang="zh-CN" sz="2400" b="1"/>
                        <a:t>6</a:t>
                      </a:r>
                      <a:r>
                        <a:rPr lang="zh-CN" altLang="en-US" sz="2400" b="1"/>
                        <a:t>年</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en-US" altLang="zh-CN" sz="2400" b="1"/>
                        <a:t>28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en-US" altLang="zh-CN" sz="2400" b="1"/>
                        <a:t>80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 name="文本框 8">
            <a:extLst>
              <a:ext uri="{FF2B5EF4-FFF2-40B4-BE49-F238E27FC236}">
                <a16:creationId xmlns:a16="http://schemas.microsoft.com/office/drawing/2014/main" id="{33275A39-F4FE-5ACB-2D35-1A3E4C110D65}"/>
              </a:ext>
            </a:extLst>
          </p:cNvPr>
          <p:cNvSpPr txBox="1"/>
          <p:nvPr/>
        </p:nvSpPr>
        <p:spPr>
          <a:xfrm>
            <a:off x="0" y="261719"/>
            <a:ext cx="4729124" cy="1815882"/>
          </a:xfrm>
          <a:prstGeom prst="rect">
            <a:avLst/>
          </a:prstGeom>
          <a:noFill/>
        </p:spPr>
        <p:txBody>
          <a:bodyPr wrap="square">
            <a:spAutoFit/>
          </a:bodyPr>
          <a:lstStyle/>
          <a:p>
            <a:pPr>
              <a:buClrTx/>
              <a:buSzTx/>
              <a:buFont typeface="Arial" panose="020B0604020202020204" pitchFamily="34" charset="0"/>
            </a:pPr>
            <a:r>
              <a:rPr lang="zh-CN" altLang="en-US" sz="2800" b="1"/>
              <a:t>下表为某个森林被砍伐前、后哺乳类和鸟类物种数目的统计结果，请根据该表的数据回答下列问题：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1" name="文本占位符 570370"/>
          <p:cNvSpPr>
            <a:spLocks noGrp="1"/>
          </p:cNvSpPr>
          <p:nvPr>
            <p:ph type="body" idx="1"/>
          </p:nvPr>
        </p:nvSpPr>
        <p:spPr>
          <a:xfrm>
            <a:off x="1992313" y="1052513"/>
            <a:ext cx="8496300" cy="4525962"/>
          </a:xfrm>
        </p:spPr>
        <p:txBody>
          <a:bodyPr/>
          <a:lstStyle/>
          <a:p>
            <a:pPr marL="0" indent="0">
              <a:buNone/>
            </a:pPr>
            <a:r>
              <a:rPr lang="en-US" altLang="zh-CN" sz="2800" b="1"/>
              <a:t>4.</a:t>
            </a:r>
            <a:r>
              <a:rPr lang="zh-CN" altLang="en-US" sz="2800" b="1"/>
              <a:t>提高群落多样性的捕食者是： </a:t>
            </a:r>
          </a:p>
          <a:p>
            <a:pPr marL="0" indent="0">
              <a:buNone/>
            </a:pPr>
            <a:r>
              <a:rPr lang="en-US" altLang="zh-CN" sz="2800" b="1">
                <a:latin typeface="黑体" panose="02010609060101010101" charset="-122"/>
              </a:rPr>
              <a:t>A.</a:t>
            </a:r>
            <a:r>
              <a:rPr lang="zh-CN" altLang="en-US" sz="2800" b="1">
                <a:latin typeface="黑体" panose="02010609060101010101" charset="-122"/>
              </a:rPr>
              <a:t>泛化捕食者</a:t>
            </a:r>
            <a:r>
              <a:rPr lang="en-US" altLang="zh-CN" sz="2800" b="1">
                <a:latin typeface="黑体" panose="02010609060101010101" charset="-122"/>
              </a:rPr>
              <a:t>;</a:t>
            </a:r>
          </a:p>
          <a:p>
            <a:pPr marL="0" indent="0">
              <a:buNone/>
            </a:pPr>
            <a:r>
              <a:rPr lang="en-US" altLang="zh-CN" sz="2800" b="1">
                <a:solidFill>
                  <a:schemeClr val="tx1"/>
                </a:solidFill>
                <a:latin typeface="黑体" panose="02010609060101010101" charset="-122"/>
              </a:rPr>
              <a:t>B.</a:t>
            </a:r>
            <a:r>
              <a:rPr lang="zh-CN" altLang="en-US" sz="2800" b="1">
                <a:solidFill>
                  <a:schemeClr val="tx1"/>
                </a:solidFill>
                <a:latin typeface="黑体" panose="02010609060101010101" charset="-122"/>
              </a:rPr>
              <a:t>选择竞争优势种的捕食者</a:t>
            </a:r>
            <a:r>
              <a:rPr lang="en-US" altLang="zh-CN" sz="2800" b="1">
                <a:solidFill>
                  <a:schemeClr val="tx1"/>
                </a:solidFill>
                <a:latin typeface="黑体" panose="02010609060101010101" charset="-122"/>
              </a:rPr>
              <a:t>;</a:t>
            </a:r>
          </a:p>
          <a:p>
            <a:pPr marL="0" indent="0">
              <a:buNone/>
            </a:pPr>
            <a:r>
              <a:rPr lang="en-US" altLang="zh-CN" sz="2800" b="1">
                <a:solidFill>
                  <a:schemeClr val="tx1"/>
                </a:solidFill>
                <a:latin typeface="黑体" panose="02010609060101010101" charset="-122"/>
              </a:rPr>
              <a:t>C.</a:t>
            </a:r>
            <a:r>
              <a:rPr lang="zh-CN" altLang="en-US" sz="2800" b="1">
                <a:solidFill>
                  <a:schemeClr val="tx1"/>
                </a:solidFill>
                <a:latin typeface="黑体" panose="02010609060101010101" charset="-122"/>
              </a:rPr>
              <a:t>选择竞争劣势种的捕食者。</a:t>
            </a:r>
          </a:p>
          <a:p>
            <a:pPr marL="0" indent="0">
              <a:buNone/>
            </a:pPr>
            <a:r>
              <a:rPr lang="en-US" altLang="zh-CN" sz="2800" b="1">
                <a:solidFill>
                  <a:schemeClr val="tx1"/>
                </a:solidFill>
                <a:latin typeface="黑体" panose="02010609060101010101" charset="-122"/>
              </a:rPr>
              <a:t>D.</a:t>
            </a:r>
            <a:r>
              <a:rPr lang="zh-CN" altLang="en-US" sz="2800" b="1">
                <a:solidFill>
                  <a:schemeClr val="tx1"/>
                </a:solidFill>
              </a:rPr>
              <a:t>捕食压力的加强，将有竞争能力的物种吃掉者。</a:t>
            </a:r>
          </a:p>
        </p:txBody>
      </p:sp>
      <p:sp>
        <p:nvSpPr>
          <p:cNvPr id="2" name="文本框 1"/>
          <p:cNvSpPr txBox="1"/>
          <p:nvPr/>
        </p:nvSpPr>
        <p:spPr>
          <a:xfrm>
            <a:off x="9094470" y="908050"/>
            <a:ext cx="903605" cy="368300"/>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1800">
                <a:solidFill>
                  <a:srgbClr val="FF0000"/>
                </a:solidFill>
                <a:latin typeface="Arial" panose="020B0604020202020204" pitchFamily="34" charset="0"/>
                <a:ea typeface="微软雅黑" panose="020B0503020204020204" charset="-122"/>
              </a:rPr>
              <a:t>BD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1" name="文本占位符 841730"/>
          <p:cNvSpPr>
            <a:spLocks noGrp="1"/>
          </p:cNvSpPr>
          <p:nvPr>
            <p:ph type="body" idx="1"/>
          </p:nvPr>
        </p:nvSpPr>
        <p:spPr>
          <a:xfrm>
            <a:off x="1847850" y="908050"/>
            <a:ext cx="8569325" cy="5184775"/>
          </a:xfrm>
        </p:spPr>
        <p:txBody>
          <a:bodyPr/>
          <a:lstStyle/>
          <a:p>
            <a:pPr marL="0" indent="0">
              <a:lnSpc>
                <a:spcPct val="90000"/>
              </a:lnSpc>
              <a:buNone/>
            </a:pPr>
            <a:r>
              <a:rPr lang="en-US" altLang="zh-CN" sz="2800" b="1"/>
              <a:t>5.</a:t>
            </a:r>
            <a:r>
              <a:rPr lang="zh-CN" altLang="en-US" sz="2800" b="1"/>
              <a:t>河口沙滩的无脊椎动物种类不多，但常见成群活动，但是在岩石滩，出没的无脊椎动物与沙滩上见到的，不但种类不一样，而且物种更具多样性，但除了少数几种外，大多数动物的数量都不多。根据上述叙述，下列哪一选项的推论是最合理的：</a:t>
            </a:r>
          </a:p>
          <a:p>
            <a:pPr marL="0" indent="0">
              <a:lnSpc>
                <a:spcPct val="90000"/>
              </a:lnSpc>
              <a:buNone/>
            </a:pPr>
            <a:r>
              <a:rPr lang="en-US" altLang="zh-CN" sz="2800" b="1">
                <a:latin typeface="黑体" panose="02010609060101010101" charset="-122"/>
              </a:rPr>
              <a:t>A.</a:t>
            </a:r>
            <a:r>
              <a:rPr lang="zh-CN" altLang="en-US" sz="2800" b="1">
                <a:latin typeface="黑体" panose="02010609060101010101" charset="-122"/>
              </a:rPr>
              <a:t>沙滩营养物质丰富，可以养活较多动物；</a:t>
            </a:r>
          </a:p>
          <a:p>
            <a:pPr marL="0" indent="0">
              <a:lnSpc>
                <a:spcPct val="90000"/>
              </a:lnSpc>
              <a:buNone/>
            </a:pPr>
            <a:r>
              <a:rPr lang="en-US" altLang="zh-CN" sz="2800" b="1">
                <a:latin typeface="黑体" panose="02010609060101010101" charset="-122"/>
              </a:rPr>
              <a:t>B.</a:t>
            </a:r>
            <a:r>
              <a:rPr lang="zh-CN" altLang="en-US" sz="2800" b="1">
                <a:latin typeface="黑体" panose="02010609060101010101" charset="-122"/>
              </a:rPr>
              <a:t>动物在岩石滩环境觅食不易，所以数量较少；</a:t>
            </a:r>
          </a:p>
          <a:p>
            <a:pPr marL="0" indent="0">
              <a:lnSpc>
                <a:spcPct val="90000"/>
              </a:lnSpc>
              <a:buNone/>
            </a:pPr>
            <a:r>
              <a:rPr lang="en-US" altLang="zh-CN" sz="2800" b="1">
                <a:latin typeface="黑体" panose="02010609060101010101" charset="-122"/>
              </a:rPr>
              <a:t>C.</a:t>
            </a:r>
            <a:r>
              <a:rPr lang="zh-CN" altLang="en-US" sz="2800" b="1">
                <a:latin typeface="黑体" panose="02010609060101010101" charset="-122"/>
              </a:rPr>
              <a:t>岩石环境由于较为隐蔽，所以观察到的生物数</a:t>
            </a:r>
          </a:p>
          <a:p>
            <a:pPr marL="0" indent="0">
              <a:lnSpc>
                <a:spcPct val="90000"/>
              </a:lnSpc>
              <a:buNone/>
            </a:pPr>
            <a:r>
              <a:rPr lang="zh-CN" altLang="en-US" sz="2800" b="1">
                <a:latin typeface="黑体" panose="02010609060101010101" charset="-122"/>
              </a:rPr>
              <a:t>　量较少；</a:t>
            </a:r>
          </a:p>
          <a:p>
            <a:pPr marL="0" indent="0">
              <a:lnSpc>
                <a:spcPct val="90000"/>
              </a:lnSpc>
              <a:buNone/>
            </a:pPr>
            <a:r>
              <a:rPr lang="en-US" altLang="zh-CN" sz="2800" b="1">
                <a:solidFill>
                  <a:schemeClr val="tx1"/>
                </a:solidFill>
                <a:latin typeface="黑体" panose="02010609060101010101" charset="-122"/>
              </a:rPr>
              <a:t>D.</a:t>
            </a:r>
            <a:r>
              <a:rPr lang="zh-CN" altLang="en-US" sz="2800" b="1">
                <a:solidFill>
                  <a:schemeClr val="tx1"/>
                </a:solidFill>
                <a:latin typeface="黑体" panose="02010609060101010101" charset="-122"/>
              </a:rPr>
              <a:t>沙</a:t>
            </a:r>
            <a:r>
              <a:rPr lang="zh-CN" altLang="en-US" sz="2800" b="1">
                <a:latin typeface="黑体" panose="02010609060101010101" charset="-122"/>
              </a:rPr>
              <a:t>滩环境单纯，生物竞争激烈，所以生存的生</a:t>
            </a:r>
          </a:p>
          <a:p>
            <a:pPr marL="0" indent="0">
              <a:lnSpc>
                <a:spcPct val="90000"/>
              </a:lnSpc>
              <a:buNone/>
            </a:pPr>
            <a:r>
              <a:rPr lang="zh-CN" altLang="en-US" sz="2800" b="1">
                <a:latin typeface="黑体" panose="02010609060101010101" charset="-122"/>
              </a:rPr>
              <a:t>　物种类较少。</a:t>
            </a:r>
          </a:p>
          <a:p>
            <a:pPr>
              <a:lnSpc>
                <a:spcPct val="90000"/>
              </a:lnSpc>
            </a:pPr>
            <a:endParaRPr lang="zh-CN" altLang="en-US" sz="2800"/>
          </a:p>
        </p:txBody>
      </p:sp>
      <p:sp>
        <p:nvSpPr>
          <p:cNvPr id="2" name="文本框 1"/>
          <p:cNvSpPr txBox="1"/>
          <p:nvPr/>
        </p:nvSpPr>
        <p:spPr>
          <a:xfrm>
            <a:off x="10417175" y="1152687"/>
            <a:ext cx="903605" cy="461665"/>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2400">
                <a:solidFill>
                  <a:srgbClr val="FF0000"/>
                </a:solidFill>
                <a:latin typeface="Arial" panose="020B0604020202020204" pitchFamily="34" charset="0"/>
                <a:ea typeface="微软雅黑" panose="020B0503020204020204" charset="-122"/>
              </a:rPr>
              <a:t>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文本占位符 228354"/>
          <p:cNvSpPr>
            <a:spLocks noGrp="1"/>
          </p:cNvSpPr>
          <p:nvPr>
            <p:ph type="body" idx="1"/>
          </p:nvPr>
        </p:nvSpPr>
        <p:spPr>
          <a:xfrm>
            <a:off x="1992313" y="1125538"/>
            <a:ext cx="8229600" cy="4525962"/>
          </a:xfrm>
        </p:spPr>
        <p:txBody>
          <a:bodyPr/>
          <a:lstStyle/>
          <a:p>
            <a:pPr marL="0" indent="0">
              <a:lnSpc>
                <a:spcPct val="90000"/>
              </a:lnSpc>
              <a:buNone/>
            </a:pPr>
            <a:r>
              <a:rPr lang="en-US" altLang="zh-CN" sz="2800" b="1">
                <a:latin typeface="黑体" panose="02010609060101010101" charset="-122"/>
              </a:rPr>
              <a:t>6.</a:t>
            </a:r>
            <a:r>
              <a:rPr lang="zh-CN" altLang="en-US" sz="2800" b="1">
                <a:latin typeface="黑体" panose="02010609060101010101" charset="-122"/>
              </a:rPr>
              <a:t>关于生态系统从幼年期到成熟期的发育过程，下列选项正确的是：</a:t>
            </a:r>
          </a:p>
          <a:p>
            <a:pPr marL="0" indent="0">
              <a:lnSpc>
                <a:spcPct val="90000"/>
              </a:lnSpc>
              <a:buNone/>
            </a:pPr>
            <a:r>
              <a:rPr lang="zh-CN" altLang="en-US" sz="2800" b="1">
                <a:latin typeface="黑体" panose="02010609060101010101" charset="-122"/>
              </a:rPr>
              <a:t> </a:t>
            </a:r>
            <a:r>
              <a:rPr lang="en-US" altLang="zh-CN" sz="2800" b="1">
                <a:latin typeface="黑体" panose="02010609060101010101" charset="-122"/>
              </a:rPr>
              <a:t>A.</a:t>
            </a:r>
            <a:r>
              <a:rPr lang="zh-CN" altLang="en-US" sz="2800" b="1">
                <a:latin typeface="黑体" panose="02010609060101010101" charset="-122"/>
              </a:rPr>
              <a:t>群落多样性增加，某一物种占绝对优势的情</a:t>
            </a:r>
          </a:p>
          <a:p>
            <a:pPr marL="0" indent="0">
              <a:lnSpc>
                <a:spcPct val="90000"/>
              </a:lnSpc>
              <a:buNone/>
            </a:pPr>
            <a:r>
              <a:rPr lang="zh-CN" altLang="en-US" sz="2800" b="1">
                <a:latin typeface="黑体" panose="02010609060101010101" charset="-122"/>
              </a:rPr>
              <a:t>　况减少</a:t>
            </a:r>
          </a:p>
          <a:p>
            <a:pPr marL="0" indent="0">
              <a:lnSpc>
                <a:spcPct val="90000"/>
              </a:lnSpc>
              <a:buNone/>
            </a:pPr>
            <a:r>
              <a:rPr lang="zh-CN" altLang="en-US" sz="2800" b="1">
                <a:latin typeface="黑体" panose="02010609060101010101" charset="-122"/>
              </a:rPr>
              <a:t> </a:t>
            </a:r>
            <a:r>
              <a:rPr lang="en-US" altLang="zh-CN" sz="2800" b="1">
                <a:latin typeface="黑体" panose="02010609060101010101" charset="-122"/>
              </a:rPr>
              <a:t>B.</a:t>
            </a:r>
            <a:r>
              <a:rPr lang="zh-CN" altLang="en-US" sz="2800" b="1">
                <a:latin typeface="黑体" panose="02010609060101010101" charset="-122"/>
              </a:rPr>
              <a:t>物种均匀性增大，食物联系趋于复杂</a:t>
            </a:r>
          </a:p>
          <a:p>
            <a:pPr marL="0" indent="0">
              <a:lnSpc>
                <a:spcPct val="90000"/>
              </a:lnSpc>
              <a:buNone/>
            </a:pPr>
            <a:r>
              <a:rPr lang="zh-CN" altLang="en-US" sz="2800" b="1">
                <a:latin typeface="黑体" panose="02010609060101010101" charset="-122"/>
              </a:rPr>
              <a:t> </a:t>
            </a:r>
            <a:r>
              <a:rPr lang="en-US" altLang="zh-CN" sz="2800" b="1">
                <a:latin typeface="黑体" panose="02010609060101010101" charset="-122"/>
              </a:rPr>
              <a:t>C.</a:t>
            </a:r>
            <a:r>
              <a:rPr lang="zh-CN" altLang="en-US" sz="2800" b="1">
                <a:latin typeface="黑体" panose="02010609060101010101" charset="-122"/>
              </a:rPr>
              <a:t>幼年期的生态系统生产量明显超过呼吸量，</a:t>
            </a:r>
          </a:p>
          <a:p>
            <a:pPr marL="0" indent="0">
              <a:lnSpc>
                <a:spcPct val="90000"/>
              </a:lnSpc>
              <a:buNone/>
            </a:pPr>
            <a:r>
              <a:rPr lang="zh-CN" altLang="en-US" sz="2800" b="1">
                <a:latin typeface="黑体" panose="02010609060101010101" charset="-122"/>
              </a:rPr>
              <a:t>　呈积累状态</a:t>
            </a:r>
          </a:p>
          <a:p>
            <a:pPr marL="0" indent="0">
              <a:lnSpc>
                <a:spcPct val="90000"/>
              </a:lnSpc>
              <a:buNone/>
            </a:pPr>
            <a:r>
              <a:rPr lang="zh-CN" altLang="en-US" sz="2800" b="1">
                <a:latin typeface="黑体" panose="02010609060101010101" charset="-122"/>
              </a:rPr>
              <a:t> </a:t>
            </a:r>
            <a:r>
              <a:rPr lang="en-US" altLang="zh-CN" sz="2800" b="1">
                <a:solidFill>
                  <a:schemeClr val="tx1"/>
                </a:solidFill>
                <a:latin typeface="黑体" panose="02010609060101010101" charset="-122"/>
              </a:rPr>
              <a:t>D.</a:t>
            </a:r>
            <a:r>
              <a:rPr lang="zh-CN" altLang="en-US" sz="2800" b="1">
                <a:solidFill>
                  <a:schemeClr val="tx1"/>
                </a:solidFill>
                <a:latin typeface="黑体" panose="02010609060101010101" charset="-122"/>
              </a:rPr>
              <a:t>总生产量与现存量之比呈现幼期低而成熟期</a:t>
            </a:r>
          </a:p>
          <a:p>
            <a:pPr marL="0" indent="0">
              <a:lnSpc>
                <a:spcPct val="90000"/>
              </a:lnSpc>
              <a:buNone/>
            </a:pPr>
            <a:r>
              <a:rPr lang="zh-CN" altLang="en-US" sz="2800" b="1">
                <a:solidFill>
                  <a:schemeClr val="tx1"/>
                </a:solidFill>
                <a:latin typeface="黑体" panose="02010609060101010101" charset="-122"/>
              </a:rPr>
              <a:t>　高的趋势</a:t>
            </a:r>
          </a:p>
        </p:txBody>
      </p:sp>
      <p:sp>
        <p:nvSpPr>
          <p:cNvPr id="2" name="文本框 1"/>
          <p:cNvSpPr txBox="1"/>
          <p:nvPr/>
        </p:nvSpPr>
        <p:spPr>
          <a:xfrm>
            <a:off x="10222230" y="1181735"/>
            <a:ext cx="903605" cy="461665"/>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2400">
                <a:solidFill>
                  <a:srgbClr val="FF0000"/>
                </a:solidFill>
                <a:latin typeface="Arial" panose="020B0604020202020204" pitchFamily="34" charset="0"/>
                <a:ea typeface="微软雅黑" panose="020B0503020204020204" charset="-122"/>
              </a:rPr>
              <a:t>ABC</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9" name="文本占位符 224258"/>
          <p:cNvSpPr>
            <a:spLocks noGrp="1"/>
          </p:cNvSpPr>
          <p:nvPr>
            <p:ph type="body" idx="1"/>
          </p:nvPr>
        </p:nvSpPr>
        <p:spPr>
          <a:xfrm>
            <a:off x="1981200" y="333375"/>
            <a:ext cx="8507413" cy="5792788"/>
          </a:xfrm>
        </p:spPr>
        <p:txBody>
          <a:bodyPr/>
          <a:lstStyle/>
          <a:p>
            <a:pPr marL="0" indent="0">
              <a:buNone/>
            </a:pPr>
            <a:r>
              <a:rPr lang="en-US" altLang="zh-CN" sz="2800" b="1"/>
              <a:t>7.</a:t>
            </a:r>
            <a:r>
              <a:rPr lang="zh-CN" altLang="en-US" sz="2800" b="1"/>
              <a:t>下列哪些项是符合维持生物多样性原则的</a:t>
            </a:r>
          </a:p>
          <a:p>
            <a:pPr marL="0" indent="0">
              <a:buNone/>
            </a:pPr>
            <a:r>
              <a:rPr lang="en-US" altLang="zh-CN" sz="2800" b="1">
                <a:solidFill>
                  <a:schemeClr val="tx1"/>
                </a:solidFill>
              </a:rPr>
              <a:t>A.</a:t>
            </a:r>
            <a:r>
              <a:rPr lang="zh-CN" altLang="en-US" sz="2800" b="1">
                <a:solidFill>
                  <a:schemeClr val="tx1"/>
                </a:solidFill>
              </a:rPr>
              <a:t>野狼会捕</a:t>
            </a:r>
            <a:r>
              <a:rPr lang="zh-CN" altLang="en-US" sz="2800" b="1"/>
              <a:t>食食草动物，为保护食草动物，应将</a:t>
            </a:r>
          </a:p>
          <a:p>
            <a:pPr marL="0" indent="0">
              <a:buNone/>
            </a:pPr>
            <a:r>
              <a:rPr lang="zh-CN" altLang="en-US" sz="2800" b="1"/>
              <a:t>　野狼消灭</a:t>
            </a:r>
          </a:p>
          <a:p>
            <a:pPr marL="0" indent="0">
              <a:buNone/>
            </a:pPr>
            <a:r>
              <a:rPr lang="en-US" altLang="zh-CN" sz="2800" b="1"/>
              <a:t>B.</a:t>
            </a:r>
            <a:r>
              <a:rPr lang="zh-CN" altLang="en-US" sz="2800" b="1"/>
              <a:t>草原生态系统常发生由闪电所引起的火灾，这</a:t>
            </a:r>
          </a:p>
          <a:p>
            <a:pPr marL="0" indent="0">
              <a:buNone/>
            </a:pPr>
            <a:r>
              <a:rPr lang="zh-CN" altLang="en-US" sz="2800" b="1"/>
              <a:t>　是草原生态系统的一种自然现象，故不宜扑灭</a:t>
            </a:r>
          </a:p>
          <a:p>
            <a:pPr marL="0" indent="0">
              <a:buNone/>
            </a:pPr>
            <a:r>
              <a:rPr lang="en-US" altLang="zh-CN" sz="2800" b="1"/>
              <a:t>C.</a:t>
            </a:r>
            <a:r>
              <a:rPr lang="zh-CN" altLang="en-US" sz="2800" b="1"/>
              <a:t>将外来种宠物放生，可能导致它们与原生物种竞</a:t>
            </a:r>
          </a:p>
          <a:p>
            <a:pPr marL="0" indent="0">
              <a:buNone/>
            </a:pPr>
            <a:r>
              <a:rPr lang="zh-CN" altLang="en-US" sz="2800" b="1"/>
              <a:t>　争生存资源，应当避免放生行为发生</a:t>
            </a:r>
          </a:p>
          <a:p>
            <a:pPr marL="0" indent="0">
              <a:buNone/>
            </a:pPr>
            <a:r>
              <a:rPr lang="en-US" altLang="zh-CN" sz="2800" b="1"/>
              <a:t>D.</a:t>
            </a:r>
            <a:r>
              <a:rPr lang="zh-CN" altLang="en-US" sz="2800" b="1"/>
              <a:t>虽然大瓶螺在我国已造成严重危害，但在引进其</a:t>
            </a:r>
          </a:p>
          <a:p>
            <a:pPr marL="0" indent="0">
              <a:buNone/>
            </a:pPr>
            <a:r>
              <a:rPr lang="zh-CN" altLang="en-US" sz="2800" b="1"/>
              <a:t>　鸟类天敌时仍要非常慎重</a:t>
            </a:r>
          </a:p>
        </p:txBody>
      </p:sp>
      <p:sp>
        <p:nvSpPr>
          <p:cNvPr id="2" name="文本框 1"/>
          <p:cNvSpPr txBox="1"/>
          <p:nvPr/>
        </p:nvSpPr>
        <p:spPr>
          <a:xfrm>
            <a:off x="10105390" y="434340"/>
            <a:ext cx="903605" cy="368300"/>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1800">
                <a:solidFill>
                  <a:srgbClr val="FF0000"/>
                </a:solidFill>
                <a:latin typeface="Arial" panose="020B0604020202020204" pitchFamily="34" charset="0"/>
                <a:ea typeface="微软雅黑" panose="020B0503020204020204" charset="-122"/>
              </a:rPr>
              <a:t>BCD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3" name="文本占位符 373762"/>
          <p:cNvSpPr>
            <a:spLocks noGrp="1"/>
          </p:cNvSpPr>
          <p:nvPr>
            <p:ph type="body" idx="1"/>
          </p:nvPr>
        </p:nvSpPr>
        <p:spPr>
          <a:xfrm>
            <a:off x="1703388" y="188913"/>
            <a:ext cx="8229600" cy="4525962"/>
          </a:xfrm>
        </p:spPr>
        <p:txBody>
          <a:bodyPr/>
          <a:lstStyle/>
          <a:p>
            <a:pPr marL="0" indent="0">
              <a:buNone/>
            </a:pPr>
            <a:r>
              <a:rPr lang="en-US" altLang="zh-CN" sz="2400" b="1">
                <a:latin typeface="黑体" panose="02010609060101010101" charset="-122"/>
              </a:rPr>
              <a:t>8.</a:t>
            </a:r>
            <a:r>
              <a:rPr lang="zh-CN" altLang="en-US" sz="2400" b="1">
                <a:latin typeface="黑体" panose="02010609060101010101" charset="-122"/>
              </a:rPr>
              <a:t>下图是对长期封育草地进行干扰后，物种多样性（左图）和丰富度（右图）发生的变化情况，根据该图，下列选项正确的是： </a:t>
            </a:r>
          </a:p>
          <a:p>
            <a:endParaRPr lang="zh-CN" altLang="en-US" sz="2400" b="1">
              <a:latin typeface="黑体" panose="02010609060101010101" charset="-122"/>
            </a:endParaRPr>
          </a:p>
        </p:txBody>
      </p:sp>
      <p:pic>
        <p:nvPicPr>
          <p:cNvPr id="373764" name="图片 373763" descr="QQ截图20170203135213"/>
          <p:cNvPicPr>
            <a:picLocks noChangeAspect="1"/>
          </p:cNvPicPr>
          <p:nvPr/>
        </p:nvPicPr>
        <p:blipFill>
          <a:blip r:embed="rId2"/>
          <a:stretch>
            <a:fillRect/>
          </a:stretch>
        </p:blipFill>
        <p:spPr>
          <a:xfrm>
            <a:off x="2063750" y="1412875"/>
            <a:ext cx="8351838" cy="2349500"/>
          </a:xfrm>
          <a:prstGeom prst="rect">
            <a:avLst/>
          </a:prstGeom>
          <a:noFill/>
          <a:ln w="9525">
            <a:noFill/>
          </a:ln>
        </p:spPr>
      </p:pic>
      <p:sp>
        <p:nvSpPr>
          <p:cNvPr id="373765" name="矩形 373764"/>
          <p:cNvSpPr/>
          <p:nvPr/>
        </p:nvSpPr>
        <p:spPr>
          <a:xfrm>
            <a:off x="1703388" y="3919538"/>
            <a:ext cx="8569325" cy="2676525"/>
          </a:xfrm>
          <a:prstGeom prst="rect">
            <a:avLst/>
          </a:prstGeom>
          <a:noFill/>
          <a:ln w="9525">
            <a:noFill/>
          </a:ln>
        </p:spPr>
        <p:txBody>
          <a:bodyPr anchor="ctr" anchorCtr="0">
            <a:spAutoFit/>
          </a:bodyPr>
          <a:lstStyle/>
          <a:p>
            <a:pPr indent="152400"/>
            <a:r>
              <a:rPr lang="en-US" altLang="zh-CN" sz="2400" b="1">
                <a:solidFill>
                  <a:schemeClr val="tx1"/>
                </a:solidFill>
                <a:latin typeface="黑体" panose="02010609060101010101" charset="-122"/>
                <a:ea typeface="黑体" panose="02010609060101010101" charset="-122"/>
              </a:rPr>
              <a:t>A.</a:t>
            </a:r>
            <a:r>
              <a:rPr lang="zh-CN" altLang="en-US" sz="2400" b="1">
                <a:solidFill>
                  <a:schemeClr val="tx1"/>
                </a:solidFill>
                <a:latin typeface="黑体" panose="02010609060101010101" charset="-122"/>
                <a:ea typeface="黑体" panose="02010609060101010101" charset="-122"/>
              </a:rPr>
              <a:t>对长期封育草地进行干扰后</a:t>
            </a:r>
            <a:r>
              <a:rPr lang="en-US" altLang="zh-CN" sz="2400" b="1">
                <a:solidFill>
                  <a:schemeClr val="tx1"/>
                </a:solidFill>
                <a:latin typeface="黑体" panose="02010609060101010101" charset="-122"/>
                <a:ea typeface="黑体" panose="02010609060101010101" charset="-122"/>
              </a:rPr>
              <a:t>, </a:t>
            </a:r>
            <a:r>
              <a:rPr lang="zh-CN" altLang="en-US" sz="2400" b="1">
                <a:solidFill>
                  <a:schemeClr val="tx1"/>
                </a:solidFill>
                <a:latin typeface="黑体" panose="02010609060101010101" charset="-122"/>
                <a:ea typeface="黑体" panose="02010609060101010101" charset="-122"/>
              </a:rPr>
              <a:t>物种多样性和丰富度均发生</a:t>
            </a:r>
            <a:r>
              <a:rPr lang="en-US" altLang="zh-CN" sz="2400" b="1">
                <a:solidFill>
                  <a:schemeClr val="tx1"/>
                </a:solidFill>
                <a:latin typeface="黑体" panose="02010609060101010101" charset="-122"/>
                <a:ea typeface="黑体" panose="02010609060101010101" charset="-122"/>
              </a:rPr>
              <a:t>  </a:t>
            </a:r>
          </a:p>
          <a:p>
            <a:pPr indent="152400"/>
            <a:r>
              <a:rPr lang="en-US" altLang="zh-CN" sz="2400" b="1">
                <a:solidFill>
                  <a:schemeClr val="tx1"/>
                </a:solidFill>
                <a:latin typeface="黑体" panose="02010609060101010101" charset="-122"/>
                <a:ea typeface="黑体" panose="02010609060101010101" charset="-122"/>
              </a:rPr>
              <a:t>  </a:t>
            </a:r>
            <a:r>
              <a:rPr lang="zh-CN" altLang="en-US" sz="2400" b="1">
                <a:solidFill>
                  <a:schemeClr val="tx1"/>
                </a:solidFill>
                <a:latin typeface="黑体" panose="02010609060101010101" charset="-122"/>
                <a:ea typeface="黑体" panose="02010609060101010101" charset="-122"/>
              </a:rPr>
              <a:t>了显著变化</a:t>
            </a:r>
          </a:p>
          <a:p>
            <a:pPr indent="152400"/>
            <a:r>
              <a:rPr lang="en-US" altLang="zh-CN" sz="2400" b="1">
                <a:solidFill>
                  <a:schemeClr val="tx1"/>
                </a:solidFill>
                <a:latin typeface="黑体" panose="02010609060101010101" charset="-122"/>
                <a:ea typeface="黑体" panose="02010609060101010101" charset="-122"/>
              </a:rPr>
              <a:t>B.</a:t>
            </a:r>
            <a:r>
              <a:rPr lang="zh-CN" altLang="en-US" sz="2400" b="1">
                <a:solidFill>
                  <a:schemeClr val="tx1"/>
                </a:solidFill>
                <a:latin typeface="黑体" panose="02010609060101010101" charset="-122"/>
                <a:ea typeface="黑体" panose="02010609060101010101" charset="-122"/>
              </a:rPr>
              <a:t>放牧使多样性指数增加了，而火烧和施肥使多样性指数降</a:t>
            </a:r>
            <a:r>
              <a:rPr lang="en-US" altLang="zh-CN" sz="2400" b="1">
                <a:solidFill>
                  <a:schemeClr val="tx1"/>
                </a:solidFill>
                <a:latin typeface="黑体" panose="02010609060101010101" charset="-122"/>
                <a:ea typeface="黑体" panose="02010609060101010101" charset="-122"/>
              </a:rPr>
              <a:t>   </a:t>
            </a:r>
          </a:p>
          <a:p>
            <a:pPr indent="152400"/>
            <a:r>
              <a:rPr lang="en-US" altLang="zh-CN" sz="2400" b="1">
                <a:solidFill>
                  <a:schemeClr val="tx1"/>
                </a:solidFill>
                <a:latin typeface="黑体" panose="02010609060101010101" charset="-122"/>
                <a:ea typeface="黑体" panose="02010609060101010101" charset="-122"/>
              </a:rPr>
              <a:t>  </a:t>
            </a:r>
            <a:r>
              <a:rPr lang="zh-CN" altLang="en-US" sz="2400" b="1">
                <a:solidFill>
                  <a:schemeClr val="tx1"/>
                </a:solidFill>
                <a:latin typeface="黑体" panose="02010609060101010101" charset="-122"/>
                <a:ea typeface="黑体" panose="02010609060101010101" charset="-122"/>
              </a:rPr>
              <a:t>低了</a:t>
            </a:r>
          </a:p>
          <a:p>
            <a:pPr indent="152400"/>
            <a:r>
              <a:rPr lang="en-US" altLang="zh-CN" sz="2400" b="1">
                <a:solidFill>
                  <a:schemeClr val="tx1"/>
                </a:solidFill>
                <a:latin typeface="黑体" panose="02010609060101010101" charset="-122"/>
                <a:ea typeface="黑体" panose="02010609060101010101" charset="-122"/>
              </a:rPr>
              <a:t>C.</a:t>
            </a:r>
            <a:r>
              <a:rPr lang="zh-CN" altLang="en-US" sz="2400" b="1">
                <a:solidFill>
                  <a:schemeClr val="tx1"/>
                </a:solidFill>
                <a:latin typeface="黑体" panose="02010609060101010101" charset="-122"/>
                <a:ea typeface="黑体" panose="02010609060101010101" charset="-122"/>
              </a:rPr>
              <a:t>对封育草地进行放牧、火烧和施肥后</a:t>
            </a:r>
            <a:r>
              <a:rPr lang="en-US" altLang="zh-CN" sz="2400" b="1">
                <a:solidFill>
                  <a:schemeClr val="tx1"/>
                </a:solidFill>
                <a:latin typeface="黑体" panose="02010609060101010101" charset="-122"/>
                <a:ea typeface="黑体" panose="02010609060101010101" charset="-122"/>
              </a:rPr>
              <a:t>, </a:t>
            </a:r>
            <a:r>
              <a:rPr lang="zh-CN" altLang="en-US" sz="2400" b="1">
                <a:solidFill>
                  <a:schemeClr val="tx1"/>
                </a:solidFill>
                <a:latin typeface="黑体" panose="02010609060101010101" charset="-122"/>
                <a:ea typeface="黑体" panose="02010609060101010101" charset="-122"/>
              </a:rPr>
              <a:t>丰富度指数均呈现</a:t>
            </a:r>
          </a:p>
          <a:p>
            <a:pPr indent="152400"/>
            <a:r>
              <a:rPr lang="zh-CN" altLang="en-US" sz="2400" b="1">
                <a:solidFill>
                  <a:schemeClr val="tx1"/>
                </a:solidFill>
                <a:latin typeface="黑体" panose="02010609060101010101" charset="-122"/>
                <a:ea typeface="黑体" panose="02010609060101010101" charset="-122"/>
              </a:rPr>
              <a:t> </a:t>
            </a:r>
            <a:r>
              <a:rPr lang="en-US" altLang="zh-CN" sz="2400" b="1">
                <a:solidFill>
                  <a:schemeClr val="tx1"/>
                </a:solidFill>
                <a:latin typeface="黑体" panose="02010609060101010101" charset="-122"/>
                <a:ea typeface="黑体" panose="02010609060101010101" charset="-122"/>
              </a:rPr>
              <a:t> </a:t>
            </a:r>
            <a:r>
              <a:rPr lang="zh-CN" altLang="en-US" sz="2400" b="1">
                <a:solidFill>
                  <a:schemeClr val="tx1"/>
                </a:solidFill>
                <a:latin typeface="黑体" panose="02010609060101010101" charset="-122"/>
                <a:ea typeface="黑体" panose="02010609060101010101" charset="-122"/>
              </a:rPr>
              <a:t>不同程度的增加</a:t>
            </a:r>
          </a:p>
          <a:p>
            <a:pPr indent="152400"/>
            <a:r>
              <a:rPr lang="en-US" altLang="zh-CN" sz="2400" b="1">
                <a:solidFill>
                  <a:schemeClr val="tx1"/>
                </a:solidFill>
                <a:latin typeface="黑体" panose="02010609060101010101" charset="-122"/>
                <a:ea typeface="黑体" panose="02010609060101010101" charset="-122"/>
              </a:rPr>
              <a:t>D.</a:t>
            </a:r>
            <a:r>
              <a:rPr lang="zh-CN" altLang="en-US" sz="2400" b="1">
                <a:solidFill>
                  <a:schemeClr val="tx1"/>
                </a:solidFill>
                <a:latin typeface="黑体" panose="02010609060101010101" charset="-122"/>
                <a:ea typeface="黑体" panose="02010609060101010101" charset="-122"/>
              </a:rPr>
              <a:t>放牧使多样性指数和丰富</a:t>
            </a:r>
            <a:r>
              <a:rPr lang="zh-CN" altLang="en-US" sz="2400" b="1">
                <a:latin typeface="黑体" panose="02010609060101010101" charset="-122"/>
                <a:ea typeface="黑体" panose="02010609060101010101" charset="-122"/>
              </a:rPr>
              <a:t>度指数呈现增加趋势</a:t>
            </a:r>
          </a:p>
        </p:txBody>
      </p:sp>
      <p:sp>
        <p:nvSpPr>
          <p:cNvPr id="2" name="文本框 1"/>
          <p:cNvSpPr txBox="1"/>
          <p:nvPr/>
        </p:nvSpPr>
        <p:spPr>
          <a:xfrm>
            <a:off x="9998075" y="653414"/>
            <a:ext cx="1240539" cy="523220"/>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2800">
                <a:solidFill>
                  <a:srgbClr val="FF0000"/>
                </a:solidFill>
                <a:latin typeface="Arial" panose="020B0604020202020204" pitchFamily="34" charset="0"/>
                <a:ea typeface="微软雅黑" panose="020B0503020204020204" charset="-122"/>
              </a:rPr>
              <a:t>ABCD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7" name="文本占位符 210946"/>
          <p:cNvSpPr>
            <a:spLocks noGrp="1"/>
          </p:cNvSpPr>
          <p:nvPr>
            <p:ph type="body" idx="1"/>
          </p:nvPr>
        </p:nvSpPr>
        <p:spPr>
          <a:xfrm>
            <a:off x="1981200" y="1052513"/>
            <a:ext cx="8229600" cy="5073650"/>
          </a:xfrm>
        </p:spPr>
        <p:txBody>
          <a:bodyPr/>
          <a:lstStyle/>
          <a:p>
            <a:pPr eaLnBrk="1" hangingPunct="1"/>
            <a:r>
              <a:rPr lang="zh-CN" altLang="en-US" sz="2800" b="1">
                <a:latin typeface="黑体" panose="02010609060101010101" charset="-122"/>
              </a:rPr>
              <a:t>物种多样性在空间上的变化规律</a:t>
            </a:r>
          </a:p>
          <a:p>
            <a:pPr eaLnBrk="1" hangingPunct="1"/>
            <a:r>
              <a:rPr lang="en-US" altLang="zh-CN" sz="2800" b="1">
                <a:solidFill>
                  <a:srgbClr val="CC0000"/>
                </a:solidFill>
                <a:latin typeface="黑体" panose="02010609060101010101" charset="-122"/>
              </a:rPr>
              <a:t>1.</a:t>
            </a:r>
            <a:r>
              <a:rPr lang="zh-CN" altLang="en-US" sz="2800" b="1">
                <a:solidFill>
                  <a:srgbClr val="CC0000"/>
                </a:solidFill>
                <a:latin typeface="黑体" panose="02010609060101010101" charset="-122"/>
              </a:rPr>
              <a:t>多样性随纬度的变化：</a:t>
            </a:r>
            <a:r>
              <a:rPr lang="zh-CN" altLang="en-US" sz="2800" b="1">
                <a:latin typeface="黑体" panose="02010609060101010101" charset="-122"/>
              </a:rPr>
              <a:t>物种多样性有随纬度增高而逐渐降低的趋势。</a:t>
            </a:r>
          </a:p>
          <a:p>
            <a:pPr eaLnBrk="1" hangingPunct="1"/>
            <a:r>
              <a:rPr lang="en-US" altLang="zh-CN" sz="2800" b="1">
                <a:solidFill>
                  <a:srgbClr val="CC0000"/>
                </a:solidFill>
                <a:latin typeface="黑体" panose="02010609060101010101" charset="-122"/>
              </a:rPr>
              <a:t>2.</a:t>
            </a:r>
            <a:r>
              <a:rPr lang="zh-CN" altLang="en-US" sz="2800" b="1">
                <a:solidFill>
                  <a:srgbClr val="CC0000"/>
                </a:solidFill>
                <a:latin typeface="黑体" panose="02010609060101010101" charset="-122"/>
              </a:rPr>
              <a:t>多样性随海拔的变化：</a:t>
            </a:r>
            <a:r>
              <a:rPr lang="zh-CN" altLang="en-US" sz="2800" b="1">
                <a:latin typeface="黑体" panose="02010609060101010101" charset="-122"/>
              </a:rPr>
              <a:t>物种多样性随海拔升高而逐渐降低。</a:t>
            </a:r>
          </a:p>
          <a:p>
            <a:pPr eaLnBrk="1" hangingPunct="1"/>
            <a:r>
              <a:rPr lang="en-US" altLang="zh-CN" sz="2800" b="1">
                <a:solidFill>
                  <a:srgbClr val="CC0000"/>
                </a:solidFill>
                <a:latin typeface="黑体" panose="02010609060101010101" charset="-122"/>
              </a:rPr>
              <a:t>3.</a:t>
            </a:r>
            <a:r>
              <a:rPr lang="zh-CN" altLang="en-US" sz="2800" b="1">
                <a:solidFill>
                  <a:srgbClr val="CC0000"/>
                </a:solidFill>
                <a:latin typeface="黑体" panose="02010609060101010101" charset="-122"/>
              </a:rPr>
              <a:t>物种多样性有随深度增加而降低的趋势。</a:t>
            </a:r>
            <a:r>
              <a:rPr lang="zh-CN" altLang="en-US" sz="2800" b="1">
                <a:latin typeface="黑体" panose="02010609060101010101" charset="-122"/>
              </a:rPr>
              <a:t>一般规律：物种多样性总的趋势是随热量分布的变化而变化。 </a:t>
            </a:r>
          </a:p>
          <a:p>
            <a:pPr eaLnBrk="1" hangingPunct="1"/>
            <a:endParaRPr lang="zh-CN" altLang="en-US" sz="2800" b="1">
              <a:solidFill>
                <a:srgbClr val="FF0066"/>
              </a:solidFill>
              <a:latin typeface="黑体" panose="02010609060101010101" charset="-122"/>
            </a:endParaRPr>
          </a:p>
          <a:p>
            <a:endParaRPr lang="zh-CN" altLang="en-US" sz="2800" b="1">
              <a:latin typeface="黑体" panose="02010609060101010101" charset="-122"/>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838" name="图片 248837" descr="QQ截图20171018094018"/>
          <p:cNvPicPr>
            <a:picLocks noChangeAspect="1"/>
          </p:cNvPicPr>
          <p:nvPr/>
        </p:nvPicPr>
        <p:blipFill>
          <a:blip r:embed="rId2"/>
          <a:stretch>
            <a:fillRect/>
          </a:stretch>
        </p:blipFill>
        <p:spPr>
          <a:xfrm>
            <a:off x="2566988" y="1268413"/>
            <a:ext cx="5834062" cy="3465512"/>
          </a:xfrm>
          <a:prstGeom prst="rect">
            <a:avLst/>
          </a:prstGeom>
          <a:noFill/>
          <a:ln w="9525">
            <a:noFill/>
          </a:ln>
        </p:spPr>
      </p:pic>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1" name="文本占位符 247810"/>
          <p:cNvSpPr>
            <a:spLocks noGrp="1"/>
          </p:cNvSpPr>
          <p:nvPr>
            <p:ph type="body" idx="1"/>
          </p:nvPr>
        </p:nvSpPr>
        <p:spPr>
          <a:xfrm>
            <a:off x="915384" y="618712"/>
            <a:ext cx="10361232" cy="5145088"/>
          </a:xfrm>
        </p:spPr>
        <p:txBody>
          <a:bodyPr>
            <a:normAutofit lnSpcReduction="10000"/>
          </a:bodyPr>
          <a:lstStyle/>
          <a:p>
            <a:pPr marL="0" indent="0" eaLnBrk="1" hangingPunct="1">
              <a:lnSpc>
                <a:spcPct val="90000"/>
              </a:lnSpc>
              <a:buNone/>
            </a:pPr>
            <a:r>
              <a:rPr lang="zh-CN" altLang="en-US" sz="3200" b="1">
                <a:solidFill>
                  <a:srgbClr val="CC0000"/>
                </a:solidFill>
                <a:latin typeface="黑体" panose="02010609060101010101" charset="-122"/>
              </a:rPr>
              <a:t>岛屿与物种丰富度</a:t>
            </a:r>
            <a:endParaRPr lang="en-US" altLang="zh-CN" sz="3200" b="1">
              <a:solidFill>
                <a:srgbClr val="CC0000"/>
              </a:solidFill>
              <a:latin typeface="黑体" panose="02010609060101010101" charset="-122"/>
            </a:endParaRPr>
          </a:p>
          <a:p>
            <a:pPr marL="0" indent="0">
              <a:buNone/>
            </a:pPr>
            <a:endParaRPr lang="zh-CN" altLang="en-US" sz="2800" b="1">
              <a:solidFill>
                <a:srgbClr val="CC0000"/>
              </a:solidFill>
              <a:latin typeface="黑体" panose="02010609060101010101" charset="-122"/>
            </a:endParaRPr>
          </a:p>
          <a:p>
            <a:pPr marL="0" indent="0">
              <a:buNone/>
            </a:pPr>
            <a:r>
              <a:rPr lang="en-US" altLang="zh-CN" b="1">
                <a:solidFill>
                  <a:srgbClr val="FF0000"/>
                </a:solidFill>
                <a:latin typeface="黑体" panose="02010609060101010101" charset="-122"/>
              </a:rPr>
              <a:t>1.</a:t>
            </a:r>
            <a:r>
              <a:rPr lang="zh-CN" altLang="en-US" sz="2800" b="1">
                <a:solidFill>
                  <a:srgbClr val="CC0000"/>
                </a:solidFill>
                <a:latin typeface="黑体" panose="02010609060101010101" charset="-122"/>
              </a:rPr>
              <a:t>面积效应：</a:t>
            </a:r>
          </a:p>
          <a:p>
            <a:pPr marL="0" indent="0">
              <a:buNone/>
            </a:pPr>
            <a:r>
              <a:rPr lang="zh-CN" altLang="en-US" sz="2800" b="1">
                <a:latin typeface="黑体" panose="02010609060101010101" charset="-122"/>
              </a:rPr>
              <a:t>　岛屿面积越大，其群落中可能包含的物种数越多；其多样性随面积增大而增加。</a:t>
            </a:r>
            <a:endParaRPr lang="en-US" altLang="zh-CN" sz="2800" b="1">
              <a:latin typeface="黑体" panose="02010609060101010101" charset="-122"/>
            </a:endParaRPr>
          </a:p>
          <a:p>
            <a:pPr marL="0" indent="0">
              <a:buNone/>
            </a:pPr>
            <a:r>
              <a:rPr lang="en-US" altLang="zh-CN" sz="2800" b="1">
                <a:latin typeface="黑体" panose="02010609060101010101" charset="-122"/>
              </a:rPr>
              <a:t>  </a:t>
            </a:r>
            <a:r>
              <a:rPr lang="zh-CN" altLang="en-US" sz="2800" b="1">
                <a:latin typeface="黑体" panose="02010609060101010101" charset="-122"/>
              </a:rPr>
              <a:t>小岛上物种灭绝率要比大岛快。</a:t>
            </a:r>
            <a:endParaRPr lang="en-US" altLang="zh-CN" sz="2800" b="1">
              <a:latin typeface="黑体" panose="02010609060101010101" charset="-122"/>
            </a:endParaRPr>
          </a:p>
          <a:p>
            <a:pPr marL="0" indent="0">
              <a:buNone/>
            </a:pPr>
            <a:r>
              <a:rPr lang="en-US" altLang="zh-CN" sz="2800" b="1">
                <a:latin typeface="黑体" panose="02010609060101010101" charset="-122"/>
              </a:rPr>
              <a:t>  </a:t>
            </a:r>
            <a:r>
              <a:rPr lang="zh-CN" altLang="en-US" sz="2800" b="1">
                <a:latin typeface="黑体" panose="02010609060101010101" charset="-122"/>
              </a:rPr>
              <a:t>物种数越多灭绝率越高。</a:t>
            </a:r>
            <a:endParaRPr lang="en-US" altLang="zh-CN" sz="2800" b="1">
              <a:latin typeface="黑体" panose="02010609060101010101" charset="-122"/>
            </a:endParaRPr>
          </a:p>
          <a:p>
            <a:pPr marL="0" indent="0">
              <a:buNone/>
            </a:pPr>
            <a:r>
              <a:rPr lang="en-US" altLang="zh-CN" sz="2800" b="1">
                <a:latin typeface="黑体" panose="02010609060101010101" charset="-122"/>
              </a:rPr>
              <a:t>  </a:t>
            </a:r>
            <a:r>
              <a:rPr lang="zh-CN" altLang="en-US" sz="2800" b="1">
                <a:latin typeface="黑体" panose="02010609060101010101" charset="-122"/>
              </a:rPr>
              <a:t>小岛的物种周转率比大岛高，周转率和面积呈负相关。</a:t>
            </a:r>
            <a:endParaRPr lang="en-US" altLang="zh-CN" sz="2800" b="1">
              <a:solidFill>
                <a:srgbClr val="CC0000"/>
              </a:solidFill>
            </a:endParaRPr>
          </a:p>
          <a:p>
            <a:pPr marL="0" indent="0" eaLnBrk="1" hangingPunct="1">
              <a:lnSpc>
                <a:spcPct val="90000"/>
              </a:lnSpc>
              <a:buNone/>
            </a:pPr>
            <a:r>
              <a:rPr lang="en-US" altLang="zh-CN" sz="2800" b="1">
                <a:solidFill>
                  <a:srgbClr val="CC0000"/>
                </a:solidFill>
              </a:rPr>
              <a:t>2.</a:t>
            </a:r>
            <a:r>
              <a:rPr lang="zh-CN" altLang="en-US" sz="2800" b="1">
                <a:solidFill>
                  <a:srgbClr val="CC0000"/>
                </a:solidFill>
              </a:rPr>
              <a:t>距离效应：</a:t>
            </a:r>
            <a:endParaRPr lang="en-US" altLang="zh-CN" sz="2800" b="1">
              <a:solidFill>
                <a:srgbClr val="CC0000"/>
              </a:solidFill>
            </a:endParaRPr>
          </a:p>
          <a:p>
            <a:pPr marL="0" indent="0">
              <a:buNone/>
            </a:pPr>
            <a:r>
              <a:rPr lang="zh-CN" altLang="en-US" sz="2800" b="1"/>
              <a:t>  岛屿距大陆距离越远，使其物种丰富度降低的效应就越   明显，原因是迁入慢。</a:t>
            </a:r>
            <a:endParaRPr lang="en-US" altLang="zh-CN" sz="2800" b="1"/>
          </a:p>
          <a:p>
            <a:pPr eaLnBrk="1" hangingPunct="1">
              <a:lnSpc>
                <a:spcPct val="90000"/>
              </a:lnSpc>
            </a:pPr>
            <a:endParaRPr lang="zh-CN" altLang="en-US" sz="2800" b="1"/>
          </a:p>
          <a:p>
            <a:pPr eaLnBrk="1" hangingPunct="1">
              <a:lnSpc>
                <a:spcPct val="90000"/>
              </a:lnSpc>
              <a:buNone/>
            </a:pPr>
            <a:endParaRPr lang="zh-CN" altLang="en-US" sz="2800" b="1">
              <a:latin typeface="黑体" panose="02010609060101010101" charset="-122"/>
            </a:endParaRPr>
          </a:p>
          <a:p>
            <a:pPr>
              <a:lnSpc>
                <a:spcPct val="90000"/>
              </a:lnSpc>
            </a:pPr>
            <a:endParaRPr lang="zh-CN" altLang="en-US" sz="2800" b="1">
              <a:latin typeface="黑体" panose="02010609060101010101" charset="-122"/>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1" name="文本占位符 549890"/>
          <p:cNvSpPr>
            <a:spLocks noGrp="1"/>
          </p:cNvSpPr>
          <p:nvPr>
            <p:ph type="body" idx="1"/>
          </p:nvPr>
        </p:nvSpPr>
        <p:spPr>
          <a:xfrm>
            <a:off x="1919288" y="404813"/>
            <a:ext cx="8497887" cy="5329237"/>
          </a:xfrm>
        </p:spPr>
        <p:txBody>
          <a:bodyPr/>
          <a:lstStyle/>
          <a:p>
            <a:pPr marL="0" indent="0">
              <a:buNone/>
            </a:pPr>
            <a:r>
              <a:rPr lang="en-US" altLang="zh-CN" sz="2800" b="1">
                <a:latin typeface="黑体" panose="02010609060101010101" charset="-122"/>
              </a:rPr>
              <a:t>9.</a:t>
            </a:r>
            <a:r>
              <a:rPr lang="zh-CN" altLang="en-US" sz="2800" b="1">
                <a:latin typeface="黑体" panose="02010609060101010101" charset="-122"/>
              </a:rPr>
              <a:t>在四个面积不同，距大陆距离不同的海岛中，海岛的物种数量和周转率如何？下列选项正确的是：</a:t>
            </a:r>
          </a:p>
          <a:p>
            <a:pPr marL="0" indent="0">
              <a:buNone/>
            </a:pPr>
            <a:r>
              <a:rPr lang="en-US" altLang="zh-CN" sz="2800" b="1">
                <a:latin typeface="黑体" panose="02010609060101010101" charset="-122"/>
              </a:rPr>
              <a:t>A.</a:t>
            </a:r>
            <a:r>
              <a:rPr lang="zh-CN" altLang="en-US" sz="2800" b="1">
                <a:latin typeface="黑体" panose="02010609060101010101" charset="-122"/>
              </a:rPr>
              <a:t>物种最多，周转率中等的岛屿是面积大、距大</a:t>
            </a:r>
          </a:p>
          <a:p>
            <a:pPr marL="0" indent="0">
              <a:buNone/>
            </a:pPr>
            <a:r>
              <a:rPr lang="zh-CN" altLang="en-US" sz="2800" b="1">
                <a:latin typeface="黑体" panose="02010609060101010101" charset="-122"/>
              </a:rPr>
              <a:t>　陆近的岛屿           </a:t>
            </a:r>
          </a:p>
          <a:p>
            <a:pPr marL="0" indent="0">
              <a:buNone/>
            </a:pPr>
            <a:r>
              <a:rPr lang="en-US" altLang="zh-CN" sz="2800" b="1">
                <a:latin typeface="黑体" panose="02010609060101010101" charset="-122"/>
              </a:rPr>
              <a:t>B.</a:t>
            </a:r>
            <a:r>
              <a:rPr lang="zh-CN" altLang="en-US" sz="2800" b="1">
                <a:latin typeface="黑体" panose="02010609060101010101" charset="-122"/>
              </a:rPr>
              <a:t>物种数量中等，周转率低的岛屿是面积大、距</a:t>
            </a:r>
          </a:p>
          <a:p>
            <a:pPr marL="0" indent="0">
              <a:buNone/>
            </a:pPr>
            <a:r>
              <a:rPr lang="zh-CN" altLang="en-US" sz="2800" b="1">
                <a:latin typeface="黑体" panose="02010609060101010101" charset="-122"/>
              </a:rPr>
              <a:t>　大陆远的岛屿</a:t>
            </a:r>
          </a:p>
          <a:p>
            <a:pPr marL="0" indent="0">
              <a:buNone/>
            </a:pPr>
            <a:r>
              <a:rPr lang="en-US" altLang="zh-CN" sz="2800" b="1">
                <a:latin typeface="黑体" panose="02010609060101010101" charset="-122"/>
              </a:rPr>
              <a:t>C.</a:t>
            </a:r>
            <a:r>
              <a:rPr lang="zh-CN" altLang="en-US" sz="2800" b="1">
                <a:latin typeface="黑体" panose="02010609060101010101" charset="-122"/>
              </a:rPr>
              <a:t>物种数量</a:t>
            </a:r>
            <a:r>
              <a:rPr lang="zh-CN" altLang="en-US" b="1">
                <a:latin typeface="黑体" panose="02010609060101010101" charset="-122"/>
              </a:rPr>
              <a:t>中等</a:t>
            </a:r>
            <a:r>
              <a:rPr lang="zh-CN" altLang="en-US" sz="2800" b="1">
                <a:latin typeface="黑体" panose="02010609060101010101" charset="-122"/>
              </a:rPr>
              <a:t>，周转率中等的岛屿是面积大、</a:t>
            </a:r>
          </a:p>
          <a:p>
            <a:pPr marL="0" indent="0">
              <a:buNone/>
            </a:pPr>
            <a:r>
              <a:rPr lang="zh-CN" altLang="en-US" sz="2800" b="1">
                <a:latin typeface="黑体" panose="02010609060101010101" charset="-122"/>
              </a:rPr>
              <a:t>　距大陆远的岛屿       </a:t>
            </a:r>
          </a:p>
          <a:p>
            <a:pPr marL="0" indent="0">
              <a:buNone/>
            </a:pPr>
            <a:r>
              <a:rPr lang="en-US" altLang="zh-CN" sz="2800" b="1">
                <a:latin typeface="黑体" panose="02010609060101010101" charset="-122"/>
              </a:rPr>
              <a:t>D.</a:t>
            </a:r>
            <a:r>
              <a:rPr lang="zh-CN" altLang="en-US" sz="2800" b="1">
                <a:latin typeface="黑体" panose="02010609060101010101" charset="-122"/>
              </a:rPr>
              <a:t>物种数量中等，周转率高的岛屿是面积大，距</a:t>
            </a:r>
          </a:p>
          <a:p>
            <a:pPr marL="0" indent="0">
              <a:buNone/>
            </a:pPr>
            <a:r>
              <a:rPr lang="zh-CN" altLang="en-US" sz="2800" b="1">
                <a:latin typeface="黑体" panose="02010609060101010101" charset="-122"/>
              </a:rPr>
              <a:t>　大陆近的岛屿 </a:t>
            </a:r>
          </a:p>
        </p:txBody>
      </p:sp>
      <p:sp>
        <p:nvSpPr>
          <p:cNvPr id="2" name="文本框 1"/>
          <p:cNvSpPr txBox="1"/>
          <p:nvPr/>
        </p:nvSpPr>
        <p:spPr>
          <a:xfrm>
            <a:off x="10478770" y="908050"/>
            <a:ext cx="903605" cy="584775"/>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3200">
                <a:solidFill>
                  <a:srgbClr val="FF0000"/>
                </a:solidFill>
                <a:latin typeface="Arial" panose="020B0604020202020204" pitchFamily="34" charset="0"/>
                <a:ea typeface="微软雅黑" panose="020B0503020204020204" charset="-122"/>
              </a:rPr>
              <a:t>C</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5" name="文本占位符 714754"/>
          <p:cNvSpPr>
            <a:spLocks noGrp="1"/>
          </p:cNvSpPr>
          <p:nvPr>
            <p:ph type="body" idx="1"/>
          </p:nvPr>
        </p:nvSpPr>
        <p:spPr>
          <a:xfrm>
            <a:off x="1079754" y="633413"/>
            <a:ext cx="9673590" cy="5073650"/>
          </a:xfrm>
        </p:spPr>
        <p:txBody>
          <a:bodyPr/>
          <a:lstStyle/>
          <a:p>
            <a:pPr marL="0" indent="0">
              <a:buNone/>
            </a:pPr>
            <a:r>
              <a:rPr lang="zh-CN" altLang="en-US" sz="3200" b="1">
                <a:solidFill>
                  <a:srgbClr val="CC0000"/>
                </a:solidFill>
                <a:latin typeface="黑体" panose="02010609060101010101" charset="-122"/>
              </a:rPr>
              <a:t>种间关联</a:t>
            </a:r>
            <a:endParaRPr lang="en-US" altLang="zh-CN" sz="3200" b="1">
              <a:solidFill>
                <a:srgbClr val="CC0000"/>
              </a:solidFill>
              <a:latin typeface="黑体" panose="02010609060101010101" charset="-122"/>
            </a:endParaRPr>
          </a:p>
          <a:p>
            <a:pPr marL="0" indent="0">
              <a:buNone/>
            </a:pPr>
            <a:endParaRPr lang="zh-CN" altLang="en-US" sz="3200" b="1">
              <a:solidFill>
                <a:srgbClr val="CC0000"/>
              </a:solidFill>
              <a:latin typeface="黑体" panose="02010609060101010101" charset="-122"/>
            </a:endParaRPr>
          </a:p>
          <a:p>
            <a:pPr marL="0" indent="0">
              <a:buNone/>
            </a:pPr>
            <a:r>
              <a:rPr lang="zh-CN" altLang="en-US" sz="2800" b="1">
                <a:latin typeface="黑体" panose="02010609060101010101" charset="-122"/>
              </a:rPr>
              <a:t>在一个群落里，有的种倾向于生长在一起，有的则倾向于相互排斥。如果两种一起出现的次数高于期望值，它们就为正关联，如果他们共同出现的次数少于期望值，则可认为它们为负关联，如果两种一起出现的次数近似于期望值，它们就为无关联。</a:t>
            </a:r>
          </a:p>
          <a:p>
            <a:pPr marL="0" indent="0">
              <a:buNone/>
            </a:pPr>
            <a:r>
              <a:rPr lang="zh-CN" altLang="en-US" sz="2800" b="1"/>
              <a:t>正关联可能是因一个种依赖于另一个种而存在，或两者受生物的和非生物的环境因子影响而生长在一起。负关联则是由于空间排挤、竞争或他感作用，或不同的环境要求。</a:t>
            </a:r>
            <a:endParaRPr lang="en-US" altLang="zh-CN" sz="2800" b="1"/>
          </a:p>
          <a:p>
            <a:pPr marL="0" indent="0">
              <a:buNone/>
            </a:pPr>
            <a:endParaRPr lang="zh-CN" altLang="en-US"/>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81" name="文本框 715780"/>
          <p:cNvSpPr txBox="1"/>
          <p:nvPr/>
        </p:nvSpPr>
        <p:spPr>
          <a:xfrm>
            <a:off x="2855913" y="476250"/>
            <a:ext cx="6032500" cy="368300"/>
          </a:xfrm>
          <a:prstGeom prst="rect">
            <a:avLst/>
          </a:prstGeom>
          <a:solidFill>
            <a:srgbClr val="FFFF00"/>
          </a:solidFill>
          <a:ln w="9525">
            <a:noFill/>
          </a:ln>
        </p:spPr>
        <p:txBody>
          <a:bodyPr>
            <a:spAutoFit/>
          </a:bodyPr>
          <a:lstStyle/>
          <a:p>
            <a:pPr algn="ctr">
              <a:spcBef>
                <a:spcPct val="50000"/>
              </a:spcBef>
            </a:pPr>
            <a:r>
              <a:rPr lang="zh-CN" altLang="en-US" b="1">
                <a:solidFill>
                  <a:srgbClr val="FF0000"/>
                </a:solidFill>
                <a:latin typeface="Arial" panose="020B0604020202020204" pitchFamily="34" charset="0"/>
                <a:ea typeface="黑体" panose="02010609060101010101" charset="-122"/>
              </a:rPr>
              <a:t>关联系数的测定（</a:t>
            </a:r>
            <a:r>
              <a:rPr lang="en-US" altLang="zh-CN" b="1">
                <a:solidFill>
                  <a:srgbClr val="FF0000"/>
                </a:solidFill>
                <a:latin typeface="Arial" panose="020B0604020202020204" pitchFamily="34" charset="0"/>
                <a:ea typeface="黑体" panose="02010609060101010101" charset="-122"/>
              </a:rPr>
              <a:t>2</a:t>
            </a:r>
            <a:r>
              <a:rPr lang="zh-CN" altLang="en-US" b="1">
                <a:solidFill>
                  <a:srgbClr val="FF0000"/>
                </a:solidFill>
                <a:latin typeface="Arial" panose="020B0604020202020204" pitchFamily="34" charset="0"/>
                <a:ea typeface="黑体" panose="02010609060101010101" charset="-122"/>
              </a:rPr>
              <a:t>Ｘ</a:t>
            </a:r>
            <a:r>
              <a:rPr lang="en-US" altLang="zh-CN" b="1">
                <a:solidFill>
                  <a:srgbClr val="FF0000"/>
                </a:solidFill>
                <a:latin typeface="Arial" panose="020B0604020202020204" pitchFamily="34" charset="0"/>
                <a:ea typeface="黑体" panose="02010609060101010101" charset="-122"/>
              </a:rPr>
              <a:t>2</a:t>
            </a:r>
            <a:r>
              <a:rPr lang="zh-CN" altLang="en-US" b="1">
                <a:solidFill>
                  <a:srgbClr val="FF0000"/>
                </a:solidFill>
                <a:latin typeface="Arial" panose="020B0604020202020204" pitchFamily="34" charset="0"/>
                <a:ea typeface="黑体" panose="02010609060101010101" charset="-122"/>
              </a:rPr>
              <a:t>列联表）</a:t>
            </a:r>
          </a:p>
        </p:txBody>
      </p:sp>
      <p:pic>
        <p:nvPicPr>
          <p:cNvPr id="715782" name="图片 715781" descr="QQ截图20170927110655"/>
          <p:cNvPicPr>
            <a:picLocks noChangeAspect="1"/>
          </p:cNvPicPr>
          <p:nvPr/>
        </p:nvPicPr>
        <p:blipFill>
          <a:blip r:embed="rId2"/>
          <a:stretch>
            <a:fillRect/>
          </a:stretch>
        </p:blipFill>
        <p:spPr>
          <a:xfrm>
            <a:off x="2135188" y="1196975"/>
            <a:ext cx="7696200" cy="5200650"/>
          </a:xfrm>
          <a:prstGeom prst="rect">
            <a:avLst/>
          </a:prstGeom>
          <a:noFill/>
          <a:ln w="9525">
            <a:noFill/>
          </a:ln>
        </p:spPr>
      </p:pic>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3" name="文本占位符 276482"/>
          <p:cNvSpPr>
            <a:spLocks noGrp="1"/>
          </p:cNvSpPr>
          <p:nvPr>
            <p:ph type="body" idx="1"/>
          </p:nvPr>
        </p:nvSpPr>
        <p:spPr>
          <a:xfrm>
            <a:off x="1080897" y="461454"/>
            <a:ext cx="9774174" cy="6264275"/>
          </a:xfrm>
        </p:spPr>
        <p:txBody>
          <a:bodyPr/>
          <a:lstStyle/>
          <a:p>
            <a:pPr marL="0" indent="0" eaLnBrk="1" hangingPunct="1">
              <a:lnSpc>
                <a:spcPct val="130000"/>
              </a:lnSpc>
              <a:buNone/>
            </a:pPr>
            <a:r>
              <a:rPr lang="zh-CN" altLang="en-US" sz="2800" b="1">
                <a:solidFill>
                  <a:srgbClr val="CC0000"/>
                </a:solidFill>
                <a:latin typeface="黑体" panose="02010609060101010101" charset="-122"/>
              </a:rPr>
              <a:t>群落交错区：</a:t>
            </a:r>
            <a:r>
              <a:rPr lang="zh-CN" altLang="en-US" sz="2800" b="1">
                <a:latin typeface="黑体" panose="02010609060101010101" charset="-122"/>
              </a:rPr>
              <a:t>又称生态交错区或生态过渡带，是两个或多个群落之间（或生态地带之间）的过渡区域。有三个明显特征：</a:t>
            </a:r>
            <a:endParaRPr lang="zh-CN" altLang="en-US" sz="2800" b="1">
              <a:solidFill>
                <a:srgbClr val="FF3300"/>
              </a:solidFill>
              <a:latin typeface="黑体" panose="02010609060101010101" charset="-122"/>
            </a:endParaRPr>
          </a:p>
          <a:p>
            <a:pPr marL="0" indent="0">
              <a:lnSpc>
                <a:spcPct val="130000"/>
              </a:lnSpc>
              <a:buNone/>
            </a:pPr>
            <a:r>
              <a:rPr lang="zh-CN" altLang="en-US" sz="2800" b="1">
                <a:latin typeface="黑体" panose="02010609060101010101" charset="-122"/>
                <a:sym typeface="Wingdings" panose="05000000000000000000" pitchFamily="2" charset="2"/>
              </a:rPr>
              <a:t>    </a:t>
            </a:r>
            <a:r>
              <a:rPr lang="en-US" altLang="zh-CN" sz="2800" b="1">
                <a:latin typeface="黑体" panose="02010609060101010101" charset="-122"/>
                <a:sym typeface="Wingdings" panose="05000000000000000000" pitchFamily="2" charset="2"/>
              </a:rPr>
              <a:t>(1) </a:t>
            </a:r>
            <a:r>
              <a:rPr lang="zh-CN" altLang="en-US" sz="2800" b="1">
                <a:latin typeface="黑体" panose="02010609060101010101" charset="-122"/>
                <a:sym typeface="Wingdings" panose="05000000000000000000" pitchFamily="2" charset="2"/>
              </a:rPr>
              <a:t>生物多样性较高的区域；</a:t>
            </a:r>
          </a:p>
          <a:p>
            <a:pPr marL="0" indent="0">
              <a:lnSpc>
                <a:spcPct val="130000"/>
              </a:lnSpc>
              <a:buNone/>
            </a:pPr>
            <a:r>
              <a:rPr lang="zh-CN" altLang="en-US" sz="2800" b="1">
                <a:latin typeface="黑体" panose="02010609060101010101" charset="-122"/>
                <a:sym typeface="Wingdings" panose="05000000000000000000" pitchFamily="2" charset="2"/>
              </a:rPr>
              <a:t>    </a:t>
            </a:r>
            <a:r>
              <a:rPr lang="en-US" altLang="zh-CN" sz="2800" b="1">
                <a:latin typeface="黑体" panose="02010609060101010101" charset="-122"/>
                <a:sym typeface="Wingdings" panose="05000000000000000000" pitchFamily="2" charset="2"/>
              </a:rPr>
              <a:t>(2) </a:t>
            </a:r>
            <a:r>
              <a:rPr lang="zh-CN" altLang="en-US" sz="2800" b="1">
                <a:latin typeface="黑体" panose="02010609060101010101" charset="-122"/>
                <a:sym typeface="Wingdings" panose="05000000000000000000" pitchFamily="2" charset="2"/>
              </a:rPr>
              <a:t>这里的生态环境抗干扰弱，对外力的阻抗相对较低，界面区生态环境一旦被破坏，恢复原状的可能性很小；</a:t>
            </a:r>
          </a:p>
          <a:p>
            <a:pPr marL="0" indent="0">
              <a:lnSpc>
                <a:spcPct val="130000"/>
              </a:lnSpc>
              <a:buNone/>
            </a:pPr>
            <a:r>
              <a:rPr lang="zh-CN" altLang="en-US" sz="2800" b="1">
                <a:latin typeface="黑体" panose="02010609060101010101" charset="-122"/>
                <a:sym typeface="Wingdings" panose="05000000000000000000" pitchFamily="2" charset="2"/>
              </a:rPr>
              <a:t>    </a:t>
            </a:r>
            <a:r>
              <a:rPr lang="en-US" altLang="zh-CN" sz="2800" b="1">
                <a:latin typeface="黑体" panose="02010609060101010101" charset="-122"/>
                <a:sym typeface="Wingdings" panose="05000000000000000000" pitchFamily="2" charset="2"/>
              </a:rPr>
              <a:t>(3) </a:t>
            </a:r>
            <a:r>
              <a:rPr lang="zh-CN" altLang="en-US" sz="2800" b="1">
                <a:latin typeface="黑体" panose="02010609060101010101" charset="-122"/>
                <a:sym typeface="Wingdings" panose="05000000000000000000" pitchFamily="2" charset="2"/>
              </a:rPr>
              <a:t>这里的生态环境的变化速度快，空间迁移能力强，因而也造成生态环境恢复的困难。</a:t>
            </a:r>
          </a:p>
          <a:p>
            <a:pPr marL="0" indent="0">
              <a:lnSpc>
                <a:spcPct val="130000"/>
              </a:lnSpc>
              <a:buNone/>
            </a:pPr>
            <a:r>
              <a:rPr lang="zh-CN" altLang="en-US" sz="2800" b="1">
                <a:solidFill>
                  <a:srgbClr val="FF0000"/>
                </a:solidFill>
                <a:latin typeface="黑体" panose="02010609060101010101" charset="-122"/>
              </a:rPr>
              <a:t>　</a:t>
            </a:r>
            <a:r>
              <a:rPr lang="zh-CN" altLang="en-US" sz="2800" b="1">
                <a:solidFill>
                  <a:srgbClr val="CC0000"/>
                </a:solidFill>
                <a:latin typeface="黑体" panose="02010609060101010101" charset="-122"/>
              </a:rPr>
              <a:t>　</a:t>
            </a:r>
            <a:endParaRPr lang="zh-CN" altLang="en-US" sz="2800" b="1">
              <a:latin typeface="黑体" panose="02010609060101010101" charset="-122"/>
            </a:endParaRPr>
          </a:p>
          <a:p>
            <a:pPr marL="0" indent="0">
              <a:lnSpc>
                <a:spcPct val="80000"/>
              </a:lnSpc>
              <a:buNone/>
            </a:pPr>
            <a:endParaRPr lang="zh-CN" altLang="en-US" sz="2400" b="1"/>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7" name="文本占位符 251906"/>
          <p:cNvSpPr>
            <a:spLocks noGrp="1"/>
          </p:cNvSpPr>
          <p:nvPr>
            <p:ph type="body" idx="1"/>
          </p:nvPr>
        </p:nvSpPr>
        <p:spPr>
          <a:xfrm>
            <a:off x="1041336" y="567881"/>
            <a:ext cx="9273095" cy="5040312"/>
          </a:xfrm>
        </p:spPr>
        <p:txBody>
          <a:bodyPr/>
          <a:lstStyle/>
          <a:p>
            <a:pPr marL="0" indent="0">
              <a:buNone/>
            </a:pPr>
            <a:r>
              <a:rPr lang="zh-CN" altLang="en-US" sz="3200" b="1">
                <a:solidFill>
                  <a:srgbClr val="CC0000"/>
                </a:solidFill>
                <a:latin typeface="黑体" panose="02010609060101010101" charset="-122"/>
              </a:rPr>
              <a:t>群落的结构和动态</a:t>
            </a:r>
            <a:endParaRPr lang="en-US" altLang="zh-CN" sz="3200" b="1">
              <a:solidFill>
                <a:srgbClr val="CC0000"/>
              </a:solidFill>
              <a:latin typeface="黑体" panose="02010609060101010101" charset="-122"/>
            </a:endParaRPr>
          </a:p>
          <a:p>
            <a:pPr marL="0" indent="0">
              <a:buNone/>
            </a:pPr>
            <a:endParaRPr lang="en-US" altLang="zh-CN" sz="2800" b="1">
              <a:solidFill>
                <a:srgbClr val="CC0000"/>
              </a:solidFill>
              <a:latin typeface="黑体" panose="02010609060101010101" charset="-122"/>
            </a:endParaRPr>
          </a:p>
          <a:p>
            <a:pPr marL="0" indent="0">
              <a:buNone/>
            </a:pPr>
            <a:r>
              <a:rPr lang="zh-CN" altLang="en-US" sz="2800" b="1">
                <a:latin typeface="黑体" panose="02010609060101010101" charset="-122"/>
              </a:rPr>
              <a:t>时间结构：季节性变化，昼夜变化，年变化</a:t>
            </a:r>
            <a:endParaRPr lang="en-US" altLang="zh-CN" sz="2800" b="1">
              <a:latin typeface="黑体" panose="02010609060101010101" charset="-122"/>
            </a:endParaRPr>
          </a:p>
          <a:p>
            <a:pPr marL="0" indent="0">
              <a:buNone/>
            </a:pPr>
            <a:r>
              <a:rPr lang="zh-CN" altLang="en-US" sz="2800" b="1">
                <a:latin typeface="黑体" panose="02010609060101010101" charset="-122"/>
              </a:rPr>
              <a:t>空间结构：垂直结构，水平结构。</a:t>
            </a:r>
            <a:endParaRPr lang="en-US" altLang="zh-CN" sz="2800" b="1">
              <a:latin typeface="黑体" panose="02010609060101010101" charset="-122"/>
            </a:endParaRPr>
          </a:p>
          <a:p>
            <a:pPr marL="0" indent="0">
              <a:buNone/>
            </a:pPr>
            <a:r>
              <a:rPr lang="zh-CN" altLang="en-US" sz="2800" b="1">
                <a:latin typeface="黑体" panose="02010609060101010101" charset="-122"/>
              </a:rPr>
              <a:t>群落动态：生物群落的动态至少应包括三方的内容：</a:t>
            </a:r>
          </a:p>
          <a:p>
            <a:pPr marL="0" indent="0" eaLnBrk="1" hangingPunct="1">
              <a:buNone/>
            </a:pPr>
            <a:r>
              <a:rPr lang="en-US" altLang="zh-CN" sz="2800" b="1">
                <a:latin typeface="黑体" panose="02010609060101010101" charset="-122"/>
              </a:rPr>
              <a:t>1.</a:t>
            </a:r>
            <a:r>
              <a:rPr lang="zh-CN" altLang="en-US" sz="2800" b="1">
                <a:latin typeface="黑体" panose="02010609060101010101" charset="-122"/>
              </a:rPr>
              <a:t>群落的内部动态</a:t>
            </a:r>
            <a:r>
              <a:rPr lang="en-US" altLang="zh-CN" sz="2800" b="1">
                <a:latin typeface="黑体" panose="02010609060101010101" charset="-122"/>
              </a:rPr>
              <a:t>(</a:t>
            </a:r>
            <a:r>
              <a:rPr lang="zh-CN" altLang="en-US" sz="2800" b="1">
                <a:latin typeface="黑体" panose="02010609060101010101" charset="-122"/>
              </a:rPr>
              <a:t>包括季节变化与年际间变化</a:t>
            </a:r>
            <a:r>
              <a:rPr lang="en-US" altLang="zh-CN" sz="2800" b="1">
                <a:latin typeface="黑体" panose="02010609060101010101" charset="-122"/>
              </a:rPr>
              <a:t>)</a:t>
            </a:r>
            <a:r>
              <a:rPr lang="zh-CN" altLang="en-US" sz="2800" b="1">
                <a:latin typeface="黑体" panose="02010609060101010101" charset="-122"/>
              </a:rPr>
              <a:t>；</a:t>
            </a:r>
          </a:p>
          <a:p>
            <a:pPr marL="0" indent="0" eaLnBrk="1" hangingPunct="1">
              <a:buNone/>
            </a:pPr>
            <a:r>
              <a:rPr lang="en-US" altLang="zh-CN" sz="2800" b="1">
                <a:solidFill>
                  <a:srgbClr val="CC0000"/>
                </a:solidFill>
                <a:latin typeface="黑体" panose="02010609060101010101" charset="-122"/>
              </a:rPr>
              <a:t>2.</a:t>
            </a:r>
            <a:r>
              <a:rPr lang="zh-CN" altLang="en-US" sz="2800" b="1">
                <a:solidFill>
                  <a:srgbClr val="CC0000"/>
                </a:solidFill>
                <a:latin typeface="黑体" panose="02010609060101010101" charset="-122"/>
              </a:rPr>
              <a:t>群落的演替；</a:t>
            </a:r>
          </a:p>
          <a:p>
            <a:pPr marL="0" indent="0" eaLnBrk="1" hangingPunct="1">
              <a:buNone/>
            </a:pPr>
            <a:r>
              <a:rPr lang="en-US" altLang="zh-CN" sz="2800" b="1">
                <a:latin typeface="黑体" panose="02010609060101010101" charset="-122"/>
              </a:rPr>
              <a:t>3.</a:t>
            </a:r>
            <a:r>
              <a:rPr lang="zh-CN" altLang="en-US" sz="2800" b="1">
                <a:latin typeface="黑体" panose="02010609060101010101" charset="-122"/>
              </a:rPr>
              <a:t>地球上生物群落进化。</a:t>
            </a:r>
          </a:p>
          <a:p>
            <a:pPr marL="0" indent="0" eaLnBrk="1" hangingPunct="1">
              <a:buNone/>
            </a:pPr>
            <a:endParaRPr lang="en-US" altLang="zh-CN" sz="2800" b="1">
              <a:latin typeface="黑体" panose="02010609060101010101" charset="-122"/>
            </a:endParaRPr>
          </a:p>
          <a:p>
            <a:pPr marL="0" indent="0" eaLnBrk="1" hangingPunct="1">
              <a:buNone/>
            </a:pPr>
            <a:endParaRPr lang="en-US" altLang="zh-CN" sz="2800" b="1">
              <a:latin typeface="黑体" panose="02010609060101010101" charset="-122"/>
            </a:endParaRPr>
          </a:p>
          <a:p>
            <a:pPr marL="0" indent="0">
              <a:buNone/>
            </a:pPr>
            <a:endParaRPr lang="zh-CN" altLang="en-US" sz="2800" b="1">
              <a:latin typeface="黑体" panose="02010609060101010101" charset="-122"/>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2" name="文本占位符 811011"/>
          <p:cNvSpPr>
            <a:spLocks noGrp="1"/>
          </p:cNvSpPr>
          <p:nvPr>
            <p:ph type="body" idx="1"/>
          </p:nvPr>
        </p:nvSpPr>
        <p:spPr>
          <a:xfrm>
            <a:off x="1046416" y="578993"/>
            <a:ext cx="10172320" cy="2249170"/>
          </a:xfrm>
        </p:spPr>
        <p:txBody>
          <a:bodyPr/>
          <a:lstStyle/>
          <a:p>
            <a:pPr marL="0" indent="0">
              <a:buNone/>
            </a:pPr>
            <a:r>
              <a:rPr lang="zh-CN" altLang="en-US" sz="3200" b="1">
                <a:solidFill>
                  <a:srgbClr val="FF0000"/>
                </a:solidFill>
              </a:rPr>
              <a:t>群落的结构单元</a:t>
            </a:r>
            <a:endParaRPr lang="en-US" altLang="zh-CN" sz="3200" b="1">
              <a:solidFill>
                <a:srgbClr val="FF0000"/>
              </a:solidFill>
            </a:endParaRPr>
          </a:p>
          <a:p>
            <a:pPr marL="0" indent="0">
              <a:buNone/>
            </a:pPr>
            <a:endParaRPr lang="zh-CN" altLang="en-US" sz="3200" b="1">
              <a:solidFill>
                <a:srgbClr val="FF0000"/>
              </a:solidFill>
            </a:endParaRPr>
          </a:p>
          <a:p>
            <a:pPr marL="0" indent="0">
              <a:buNone/>
            </a:pPr>
            <a:r>
              <a:rPr lang="zh-CN" altLang="en-US" b="1"/>
              <a:t>群落空间结构取决于两个要素，即群落中各物种的</a:t>
            </a:r>
            <a:r>
              <a:rPr lang="zh-CN" altLang="en-US" b="1">
                <a:solidFill>
                  <a:srgbClr val="FF0000"/>
                </a:solidFill>
              </a:rPr>
              <a:t>生活型</a:t>
            </a:r>
            <a:r>
              <a:rPr lang="zh-CN" altLang="en-US" b="1"/>
              <a:t>及相同生活型的物种所组成的</a:t>
            </a:r>
            <a:r>
              <a:rPr lang="zh-CN" altLang="en-US" b="1">
                <a:solidFill>
                  <a:srgbClr val="FF0000"/>
                </a:solidFill>
              </a:rPr>
              <a:t>层片</a:t>
            </a:r>
            <a:r>
              <a:rPr lang="zh-CN" altLang="en-US" b="1"/>
              <a:t>，它们可看作群落的结构单元。</a:t>
            </a:r>
          </a:p>
          <a:p>
            <a:endParaRPr lang="zh-CN" altLang="en-US" sz="3200"/>
          </a:p>
        </p:txBody>
      </p:sp>
      <p:sp>
        <p:nvSpPr>
          <p:cNvPr id="812036" name="文本占位符 812035"/>
          <p:cNvSpPr txBox="1">
            <a:spLocks/>
          </p:cNvSpPr>
          <p:nvPr/>
        </p:nvSpPr>
        <p:spPr>
          <a:xfrm>
            <a:off x="1031748" y="2697798"/>
            <a:ext cx="10361676" cy="2495994"/>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zh-CN" altLang="en-US" b="1">
                <a:solidFill>
                  <a:srgbClr val="FF0000"/>
                </a:solidFill>
                <a:latin typeface="黑体" panose="02010609060101010101" charset="-122"/>
              </a:rPr>
              <a:t>生活型</a:t>
            </a:r>
            <a:r>
              <a:rPr lang="zh-CN" altLang="en-US">
                <a:solidFill>
                  <a:srgbClr val="FF0000"/>
                </a:solidFill>
                <a:latin typeface="黑体" panose="02010609060101010101" charset="-122"/>
              </a:rPr>
              <a:t>：</a:t>
            </a:r>
            <a:r>
              <a:rPr lang="zh-CN" altLang="en-US" b="1">
                <a:latin typeface="黑体" panose="02010609060101010101" charset="-122"/>
              </a:rPr>
              <a:t>是生物对外界环境适应的外部表现形式，同一生活型的生物，不但体态相似，而且在适应特点上也是相似的。对植物而言，其生活型是植物对综合环境条件的长期适应，而在外貌上反映出来的植物类型。它的形成是植物对相同环境趋同适应的结果。 </a:t>
            </a: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60" name="文本占位符 813059"/>
          <p:cNvSpPr>
            <a:spLocks noGrp="1"/>
          </p:cNvSpPr>
          <p:nvPr>
            <p:ph type="body" idx="1"/>
          </p:nvPr>
        </p:nvSpPr>
        <p:spPr>
          <a:xfrm>
            <a:off x="887730" y="578549"/>
            <a:ext cx="10981182" cy="5832475"/>
          </a:xfrm>
        </p:spPr>
        <p:txBody>
          <a:bodyPr/>
          <a:lstStyle/>
          <a:p>
            <a:pPr marL="0" indent="0">
              <a:buNone/>
            </a:pPr>
            <a:r>
              <a:rPr lang="zh-CN" altLang="en-US" sz="2800" b="1">
                <a:latin typeface="黑体" panose="02010609060101010101" charset="-122"/>
              </a:rPr>
              <a:t>按休眠芽或复苏芽所处的位置高低和保护方式，把高等植物划分为五个生活型 ：</a:t>
            </a:r>
          </a:p>
          <a:p>
            <a:pPr marL="0" indent="0">
              <a:buNone/>
            </a:pPr>
            <a:r>
              <a:rPr lang="zh-CN" altLang="en-US" sz="2800" b="1">
                <a:solidFill>
                  <a:srgbClr val="FF0000"/>
                </a:solidFill>
                <a:latin typeface="黑体" panose="02010609060101010101" charset="-122"/>
              </a:rPr>
              <a:t>①高位芽植物：</a:t>
            </a:r>
            <a:r>
              <a:rPr lang="zh-CN" altLang="en-US" sz="2800" b="1">
                <a:latin typeface="黑体" panose="02010609060101010101" charset="-122"/>
              </a:rPr>
              <a:t>休眠芽位于距地面</a:t>
            </a:r>
            <a:r>
              <a:rPr lang="en-US" altLang="zh-CN" sz="2800" b="1">
                <a:latin typeface="黑体" panose="02010609060101010101" charset="-122"/>
              </a:rPr>
              <a:t>25㎝</a:t>
            </a:r>
            <a:r>
              <a:rPr lang="zh-CN" altLang="en-US" sz="2800" b="1">
                <a:latin typeface="黑体" panose="02010609060101010101" charset="-122"/>
              </a:rPr>
              <a:t>以上，又可根据高度分为四个亚类，即大高位芽植物（高度﹥</a:t>
            </a:r>
            <a:r>
              <a:rPr lang="en-US" altLang="zh-CN" sz="2800" b="1">
                <a:latin typeface="黑体" panose="02010609060101010101" charset="-122"/>
              </a:rPr>
              <a:t>30</a:t>
            </a:r>
            <a:r>
              <a:rPr lang="zh-CN" altLang="en-US" sz="2800" b="1">
                <a:latin typeface="黑体" panose="02010609060101010101" charset="-122"/>
              </a:rPr>
              <a:t>米），中高位芽植物（</a:t>
            </a:r>
            <a:r>
              <a:rPr lang="en-US" altLang="zh-CN" sz="2800" b="1">
                <a:latin typeface="黑体" panose="02010609060101010101" charset="-122"/>
              </a:rPr>
              <a:t>8-30</a:t>
            </a:r>
            <a:r>
              <a:rPr lang="zh-CN" altLang="en-US" sz="2800" b="1">
                <a:latin typeface="黑体" panose="02010609060101010101" charset="-122"/>
              </a:rPr>
              <a:t>米），小高位芽植物（</a:t>
            </a:r>
            <a:r>
              <a:rPr lang="en-US" altLang="zh-CN" sz="2800" b="1">
                <a:latin typeface="黑体" panose="02010609060101010101" charset="-122"/>
              </a:rPr>
              <a:t>2-8</a:t>
            </a:r>
            <a:r>
              <a:rPr lang="zh-CN" altLang="en-US" sz="2800" b="1">
                <a:latin typeface="黑体" panose="02010609060101010101" charset="-122"/>
              </a:rPr>
              <a:t>米）与矮高位芽植物（</a:t>
            </a:r>
            <a:r>
              <a:rPr lang="en-US" altLang="zh-CN" sz="2800" b="1">
                <a:latin typeface="黑体" panose="02010609060101010101" charset="-122"/>
              </a:rPr>
              <a:t>25</a:t>
            </a:r>
            <a:r>
              <a:rPr lang="zh-CN" altLang="en-US" sz="2800" b="1">
                <a:latin typeface="黑体" panose="02010609060101010101" charset="-122"/>
              </a:rPr>
              <a:t>厘米～</a:t>
            </a:r>
            <a:r>
              <a:rPr lang="en-US" altLang="zh-CN" sz="2800" b="1">
                <a:latin typeface="黑体" panose="02010609060101010101" charset="-122"/>
              </a:rPr>
              <a:t>2</a:t>
            </a:r>
            <a:r>
              <a:rPr lang="zh-CN" altLang="en-US" sz="2800" b="1">
                <a:latin typeface="黑体" panose="02010609060101010101" charset="-122"/>
              </a:rPr>
              <a:t>米）。</a:t>
            </a:r>
          </a:p>
          <a:p>
            <a:pPr marL="0" indent="0">
              <a:buNone/>
            </a:pPr>
            <a:r>
              <a:rPr lang="zh-CN" altLang="en-US" sz="2800" b="1">
                <a:solidFill>
                  <a:srgbClr val="FF0000"/>
                </a:solidFill>
                <a:latin typeface="黑体" panose="02010609060101010101" charset="-122"/>
              </a:rPr>
              <a:t>②地上芽植物：</a:t>
            </a:r>
            <a:r>
              <a:rPr lang="zh-CN" altLang="en-US" sz="2800" b="1">
                <a:latin typeface="黑体" panose="02010609060101010101" charset="-122"/>
              </a:rPr>
              <a:t>更新芽位于土壤表面之上，</a:t>
            </a:r>
            <a:r>
              <a:rPr lang="en-US" altLang="zh-CN" sz="2800" b="1">
                <a:latin typeface="黑体" panose="02010609060101010101" charset="-122"/>
              </a:rPr>
              <a:t>25㎝</a:t>
            </a:r>
            <a:r>
              <a:rPr lang="zh-CN" altLang="en-US" sz="2800" b="1">
                <a:latin typeface="黑体" panose="02010609060101010101" charset="-122"/>
              </a:rPr>
              <a:t>之下，多为半灌木或草本植物。</a:t>
            </a:r>
          </a:p>
          <a:p>
            <a:pPr marL="0" indent="0">
              <a:buNone/>
            </a:pPr>
            <a:endParaRPr lang="zh-CN" altLang="en-US" sz="2800" b="1">
              <a:latin typeface="黑体" panose="02010609060101010101" charset="-122"/>
            </a:endParaRPr>
          </a:p>
          <a:p>
            <a:pPr marL="0" indent="0">
              <a:buNone/>
            </a:pPr>
            <a:endParaRPr lang="zh-CN" altLang="en-US" sz="2800" b="1">
              <a:latin typeface="黑体" panose="02010609060101010101" charset="-122"/>
            </a:endParaRPr>
          </a:p>
          <a:p>
            <a:pPr marL="0" indent="0">
              <a:buNone/>
            </a:pPr>
            <a:endParaRPr lang="zh-CN" altLang="en-US" sz="2800">
              <a:solidFill>
                <a:schemeClr val="tx1"/>
              </a:solidFill>
            </a:endParaRPr>
          </a:p>
        </p:txBody>
      </p:sp>
      <p:sp>
        <p:nvSpPr>
          <p:cNvPr id="814084" name="矩形 814083"/>
          <p:cNvSpPr/>
          <p:nvPr/>
        </p:nvSpPr>
        <p:spPr>
          <a:xfrm>
            <a:off x="887730" y="3596259"/>
            <a:ext cx="10889742" cy="3323987"/>
          </a:xfrm>
          <a:prstGeom prst="rect">
            <a:avLst/>
          </a:prstGeom>
          <a:noFill/>
          <a:ln w="9525">
            <a:noFill/>
          </a:ln>
        </p:spPr>
        <p:txBody>
          <a:bodyPr wrap="square">
            <a:spAutoFit/>
          </a:bodyPr>
          <a:lstStyle/>
          <a:p>
            <a:r>
              <a:rPr lang="zh-CN" altLang="en-US" sz="2800" b="1">
                <a:solidFill>
                  <a:srgbClr val="FF0000"/>
                </a:solidFill>
                <a:latin typeface="黑体" panose="02010609060101010101" charset="-122"/>
                <a:ea typeface="黑体" panose="02010609060101010101" charset="-122"/>
              </a:rPr>
              <a:t>③地面芽植物</a:t>
            </a:r>
            <a:r>
              <a:rPr lang="zh-CN" altLang="en-US" sz="2800" b="1">
                <a:solidFill>
                  <a:srgbClr val="CC0000"/>
                </a:solidFill>
                <a:latin typeface="黑体" panose="02010609060101010101" charset="-122"/>
                <a:ea typeface="黑体" panose="02010609060101010101" charset="-122"/>
              </a:rPr>
              <a:t>：</a:t>
            </a:r>
            <a:r>
              <a:rPr lang="zh-CN" altLang="en-US" sz="2800" b="1">
                <a:latin typeface="黑体" panose="02010609060101010101" charset="-122"/>
                <a:ea typeface="黑体" panose="02010609060101010101" charset="-122"/>
              </a:rPr>
              <a:t>更新芽位于近地面土层内，冬季地上部分全部枯死，多为多年生草本植物。</a:t>
            </a:r>
          </a:p>
          <a:p>
            <a:r>
              <a:rPr lang="zh-CN" altLang="en-US" sz="2800" b="1">
                <a:solidFill>
                  <a:srgbClr val="FF0000"/>
                </a:solidFill>
                <a:latin typeface="黑体" panose="02010609060101010101" charset="-122"/>
                <a:ea typeface="黑体" panose="02010609060101010101" charset="-122"/>
              </a:rPr>
              <a:t>④地下芽植物，</a:t>
            </a:r>
            <a:r>
              <a:rPr lang="zh-CN" altLang="en-US" sz="2800" b="1">
                <a:latin typeface="黑体" panose="02010609060101010101" charset="-122"/>
                <a:ea typeface="黑体" panose="02010609060101010101" charset="-122"/>
              </a:rPr>
              <a:t>又称隐芽植物：更新芽位于较深土层中或水中，多为鳞茎类、块茎类和根茎类多年生草本植物或水生植物。</a:t>
            </a:r>
          </a:p>
          <a:p>
            <a:r>
              <a:rPr lang="zh-CN" altLang="en-US" sz="2800" b="1">
                <a:solidFill>
                  <a:srgbClr val="FF0000"/>
                </a:solidFill>
                <a:latin typeface="黑体" panose="02010609060101010101" charset="-122"/>
                <a:ea typeface="黑体" panose="02010609060101010101" charset="-122"/>
              </a:rPr>
              <a:t>⑤一年生植物：</a:t>
            </a:r>
            <a:r>
              <a:rPr lang="zh-CN" altLang="en-US" sz="2800" b="1">
                <a:latin typeface="黑体" panose="02010609060101010101" charset="-122"/>
                <a:ea typeface="黑体" panose="02010609060101010101" charset="-122"/>
              </a:rPr>
              <a:t>是只能在良好季节中生长的植物，以种子度过不良季节。</a:t>
            </a:r>
          </a:p>
          <a:p>
            <a:pPr eaLnBrk="0" hangingPunct="0">
              <a:spcBef>
                <a:spcPct val="50000"/>
              </a:spcBef>
              <a:buFont typeface="Arial" panose="020B0604020202020204" pitchFamily="34" charset="0"/>
              <a:buChar char="•"/>
            </a:pPr>
            <a:endParaRPr lang="zh-CN" altLang="en-US" sz="2800">
              <a:solidFill>
                <a:schemeClr val="tx2"/>
              </a:solidFill>
              <a:latin typeface="黑体" panose="02010609060101010101" charset="-122"/>
              <a:ea typeface="黑体" panose="02010609060101010101" charset="-122"/>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5108" name="图片 815107" descr="QQ截图20171016162200"/>
          <p:cNvPicPr>
            <a:picLocks noChangeAspect="1"/>
          </p:cNvPicPr>
          <p:nvPr/>
        </p:nvPicPr>
        <p:blipFill>
          <a:blip r:embed="rId2"/>
          <a:stretch>
            <a:fillRect/>
          </a:stretch>
        </p:blipFill>
        <p:spPr>
          <a:xfrm>
            <a:off x="1919288" y="476250"/>
            <a:ext cx="8137525" cy="5711825"/>
          </a:xfrm>
          <a:prstGeom prst="rect">
            <a:avLst/>
          </a:prstGeom>
          <a:noFill/>
          <a:ln w="9525">
            <a:noFill/>
          </a:ln>
        </p:spPr>
      </p:pic>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2" name="矩形 816131"/>
          <p:cNvSpPr/>
          <p:nvPr/>
        </p:nvSpPr>
        <p:spPr>
          <a:xfrm>
            <a:off x="950595" y="881380"/>
            <a:ext cx="11093450" cy="4295775"/>
          </a:xfrm>
          <a:prstGeom prst="rect">
            <a:avLst/>
          </a:prstGeom>
          <a:noFill/>
          <a:ln w="9525">
            <a:noFill/>
          </a:ln>
        </p:spPr>
        <p:txBody>
          <a:bodyPr wrap="square">
            <a:noAutofit/>
          </a:bodyPr>
          <a:lstStyle/>
          <a:p>
            <a:r>
              <a:rPr lang="zh-CN" altLang="en-US" sz="3200">
                <a:solidFill>
                  <a:srgbClr val="FF0000"/>
                </a:solidFill>
                <a:latin typeface="Arial" panose="020B0604020202020204" pitchFamily="34" charset="0"/>
                <a:ea typeface="黑体" panose="02010609060101010101" charset="-122"/>
              </a:rPr>
              <a:t>生活型谱与植物气候型特点</a:t>
            </a:r>
            <a:endParaRPr lang="en-US" altLang="zh-CN" sz="3200">
              <a:solidFill>
                <a:srgbClr val="FF0000"/>
              </a:solidFill>
              <a:latin typeface="Arial" panose="020B0604020202020204" pitchFamily="34" charset="0"/>
              <a:ea typeface="黑体" panose="02010609060101010101" charset="-122"/>
            </a:endParaRPr>
          </a:p>
          <a:p>
            <a:endParaRPr lang="zh-CN" altLang="en-US" sz="2800" b="1">
              <a:solidFill>
                <a:srgbClr val="FF0000"/>
              </a:solidFill>
              <a:latin typeface="Arial" panose="020B0604020202020204" pitchFamily="34" charset="0"/>
              <a:ea typeface="黑体" panose="02010609060101010101" charset="-122"/>
            </a:endParaRPr>
          </a:p>
          <a:p>
            <a:r>
              <a:rPr lang="zh-CN" altLang="en-US" sz="2800">
                <a:latin typeface="Arial" panose="020B0604020202020204" pitchFamily="34" charset="0"/>
                <a:ea typeface="黑体" panose="02010609060101010101" charset="-122"/>
              </a:rPr>
              <a:t>高位芽植物占优势：温暖、潮湿气候，如热带雨林</a:t>
            </a:r>
          </a:p>
          <a:p>
            <a:r>
              <a:rPr lang="zh-CN" altLang="en-US" sz="2800">
                <a:latin typeface="Arial" panose="020B0604020202020204" pitchFamily="34" charset="0"/>
                <a:ea typeface="黑体" panose="02010609060101010101" charset="-122"/>
              </a:rPr>
              <a:t>地上芽植物占优势：反映寒带和高山气候特点</a:t>
            </a:r>
          </a:p>
          <a:p>
            <a:r>
              <a:rPr lang="zh-CN" altLang="en-US" sz="2800">
                <a:latin typeface="Arial" panose="020B0604020202020204" pitchFamily="34" charset="0"/>
                <a:ea typeface="黑体" panose="02010609060101010101" charset="-122"/>
              </a:rPr>
              <a:t>地面芽植物占优势：较长的寒季，如温带森林</a:t>
            </a:r>
          </a:p>
          <a:p>
            <a:r>
              <a:rPr lang="zh-CN" altLang="en-US" sz="2800">
                <a:latin typeface="Arial" panose="020B0604020202020204" pitchFamily="34" charset="0"/>
                <a:ea typeface="黑体" panose="02010609060101010101" charset="-122"/>
              </a:rPr>
              <a:t>一年生植物占优势：干旱的荒漠和草原，如东北温带草原、热带亚热带沙漠等</a:t>
            </a:r>
          </a:p>
          <a:p>
            <a:pPr eaLnBrk="0" hangingPunct="0">
              <a:spcBef>
                <a:spcPct val="50000"/>
              </a:spcBef>
              <a:buFont typeface="Arial" panose="020B0604020202020204" pitchFamily="34" charset="0"/>
              <a:buChar char="•"/>
            </a:pPr>
            <a:endParaRPr lang="zh-CN" altLang="en-US" sz="3600" b="1">
              <a:solidFill>
                <a:srgbClr val="0000CC"/>
              </a:solidFill>
              <a:latin typeface="Franklin Gothic Book"/>
              <a:ea typeface="黑体" panose="02010609060101010101" charset="-122"/>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7" name="文本占位符 820226"/>
          <p:cNvSpPr>
            <a:spLocks noGrp="1"/>
          </p:cNvSpPr>
          <p:nvPr>
            <p:ph type="body" idx="1"/>
          </p:nvPr>
        </p:nvSpPr>
        <p:spPr>
          <a:xfrm>
            <a:off x="1363504" y="736251"/>
            <a:ext cx="9464992" cy="4525962"/>
          </a:xfrm>
        </p:spPr>
        <p:txBody>
          <a:bodyPr/>
          <a:lstStyle/>
          <a:p>
            <a:pPr marL="0" indent="0">
              <a:lnSpc>
                <a:spcPct val="90000"/>
              </a:lnSpc>
              <a:buNone/>
            </a:pPr>
            <a:r>
              <a:rPr lang="zh-CN" altLang="en-US" b="1">
                <a:solidFill>
                  <a:srgbClr val="CC0000"/>
                </a:solidFill>
              </a:rPr>
              <a:t>☆层片</a:t>
            </a:r>
          </a:p>
          <a:p>
            <a:pPr marL="0" indent="0">
              <a:lnSpc>
                <a:spcPct val="125000"/>
              </a:lnSpc>
              <a:buNone/>
            </a:pPr>
            <a:r>
              <a:rPr lang="zh-CN" altLang="en-US" b="1"/>
              <a:t>　　层片，也是群落结构的基本单位之一。层片是指由相同生活型或相似生态需求的物种所组成的机能群落。一般将层片区分为三级：一级层片是一个群落中一个种的各个体的总体；二级层片是一个群落中属于同一生活型的不同种的个体的总体；三级层片是不同生活型类群的不同种的个体的总体。</a:t>
            </a:r>
          </a:p>
          <a:p>
            <a:pPr marL="0" indent="0">
              <a:lnSpc>
                <a:spcPct val="125000"/>
              </a:lnSpc>
              <a:buNone/>
            </a:pPr>
            <a:r>
              <a:rPr lang="zh-CN" altLang="en-US" b="1"/>
              <a:t>　　很明显，一级层片指的是种群，二级层片就是通常所理解的层片的概念，第三级层片指的是植物群落。</a:t>
            </a:r>
          </a:p>
          <a:p>
            <a:pPr>
              <a:lnSpc>
                <a:spcPct val="90000"/>
              </a:lnSpc>
            </a:pPr>
            <a:endParaRPr lang="zh-CN" altLang="en-US" sz="2400"/>
          </a:p>
          <a:p>
            <a:pPr>
              <a:lnSpc>
                <a:spcPct val="90000"/>
              </a:lnSpc>
            </a:pPr>
            <a:endParaRPr lang="zh-CN" altLang="en-US" sz="2000"/>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5" name="文本占位符 822274"/>
          <p:cNvSpPr>
            <a:spLocks noGrp="1"/>
          </p:cNvSpPr>
          <p:nvPr>
            <p:ph type="body" idx="1"/>
          </p:nvPr>
        </p:nvSpPr>
        <p:spPr>
          <a:xfrm>
            <a:off x="871855" y="880745"/>
            <a:ext cx="10690225" cy="4525645"/>
          </a:xfrm>
        </p:spPr>
        <p:txBody>
          <a:bodyPr>
            <a:normAutofit/>
          </a:bodyPr>
          <a:lstStyle/>
          <a:p>
            <a:r>
              <a:rPr lang="zh-CN" altLang="en-US" sz="3600" b="1">
                <a:solidFill>
                  <a:srgbClr val="CC0000"/>
                </a:solidFill>
                <a:latin typeface="黑体" panose="02010609060101010101" charset="-122"/>
              </a:rPr>
              <a:t>群落的垂直结构成因：</a:t>
            </a:r>
            <a:endParaRPr lang="en-US" altLang="zh-CN" sz="3600" b="1">
              <a:solidFill>
                <a:srgbClr val="CC0000"/>
              </a:solidFill>
              <a:latin typeface="黑体" panose="02010609060101010101" charset="-122"/>
            </a:endParaRPr>
          </a:p>
          <a:p>
            <a:r>
              <a:rPr lang="en-US" altLang="zh-CN" sz="3600" b="1">
                <a:latin typeface="黑体" panose="02010609060101010101" charset="-122"/>
              </a:rPr>
              <a:t>1</a:t>
            </a:r>
            <a:r>
              <a:rPr lang="zh-CN" altLang="en-US" sz="3600" b="1">
                <a:latin typeface="黑体" panose="02010609060101010101" charset="-122"/>
              </a:rPr>
              <a:t>、森林植物的垂直分布主要与光照有关；森林动　　</a:t>
            </a:r>
          </a:p>
          <a:p>
            <a:r>
              <a:rPr lang="zh-CN" altLang="en-US" sz="3600" b="1">
                <a:latin typeface="黑体" panose="02010609060101010101" charset="-122"/>
              </a:rPr>
              <a:t>　</a:t>
            </a:r>
            <a:r>
              <a:rPr lang="en-US" altLang="zh-CN" sz="3600" b="1">
                <a:latin typeface="黑体" panose="02010609060101010101" charset="-122"/>
              </a:rPr>
              <a:t> </a:t>
            </a:r>
            <a:r>
              <a:rPr lang="zh-CN" altLang="en-US" sz="3600" b="1">
                <a:latin typeface="黑体" panose="02010609060101010101" charset="-122"/>
              </a:rPr>
              <a:t>物的垂直分布主要与食物有关。</a:t>
            </a:r>
            <a:r>
              <a:rPr lang="en-US" altLang="zh-CN" sz="3600" b="1">
                <a:latin typeface="黑体" panose="02010609060101010101" charset="-122"/>
              </a:rPr>
              <a:t> </a:t>
            </a:r>
            <a:br>
              <a:rPr lang="en-US" altLang="zh-CN" sz="3600" b="1">
                <a:latin typeface="黑体" panose="02010609060101010101" charset="-122"/>
              </a:rPr>
            </a:br>
            <a:r>
              <a:rPr lang="en-US" altLang="zh-CN" sz="3600" b="1">
                <a:latin typeface="黑体" panose="02010609060101010101" charset="-122"/>
              </a:rPr>
              <a:t>2</a:t>
            </a:r>
            <a:r>
              <a:rPr lang="zh-CN" altLang="en-US" sz="3600" b="1">
                <a:latin typeface="黑体" panose="02010609060101010101" charset="-122"/>
              </a:rPr>
              <a:t>、水生动物的分层与阳光、温度、食物和含氧量</a:t>
            </a:r>
          </a:p>
          <a:p>
            <a:r>
              <a:rPr lang="zh-CN" altLang="en-US" sz="3600" b="1">
                <a:latin typeface="黑体" panose="02010609060101010101" charset="-122"/>
              </a:rPr>
              <a:t>　</a:t>
            </a:r>
            <a:r>
              <a:rPr lang="en-US" altLang="zh-CN" sz="3600" b="1">
                <a:latin typeface="黑体" panose="02010609060101010101" charset="-122"/>
              </a:rPr>
              <a:t> </a:t>
            </a:r>
            <a:r>
              <a:rPr lang="zh-CN" altLang="en-US" sz="3600" b="1">
                <a:latin typeface="黑体" panose="02010609060101010101" charset="-122"/>
              </a:rPr>
              <a:t>等有关。</a:t>
            </a:r>
            <a:br>
              <a:rPr lang="en-US" altLang="zh-CN" sz="3600" b="1">
                <a:latin typeface="黑体" panose="02010609060101010101" charset="-122"/>
              </a:rPr>
            </a:br>
            <a:r>
              <a:rPr lang="en-US" altLang="zh-CN" sz="3600" b="1">
                <a:latin typeface="黑体" panose="02010609060101010101" charset="-122"/>
              </a:rPr>
              <a:t>3</a:t>
            </a:r>
            <a:r>
              <a:rPr lang="zh-CN" altLang="en-US" sz="3600" b="1">
                <a:latin typeface="黑体" panose="02010609060101010101" charset="-122"/>
              </a:rPr>
              <a:t>、高山植物的垂直分布主要与温度有关。</a:t>
            </a:r>
            <a:r>
              <a:rPr lang="en-US" altLang="zh-CN" sz="3600" b="1">
                <a:latin typeface="黑体" panose="02010609060101010101" charset="-122"/>
              </a:rPr>
              <a:t> </a:t>
            </a:r>
          </a:p>
          <a:p>
            <a:endParaRPr lang="en-US" altLang="zh-CN" sz="3600" b="1">
              <a:solidFill>
                <a:srgbClr val="FF0000"/>
              </a:solidFill>
              <a:latin typeface="黑体" panose="02010609060101010101" charset="-122"/>
            </a:endParaRPr>
          </a:p>
          <a:p>
            <a:endParaRPr lang="zh-CN" altLang="en-US" sz="2800"/>
          </a:p>
          <a:p>
            <a:endParaRPr lang="zh-CN" altLang="en-US" sz="2800"/>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3300" name="图片 823299" descr="QQ截图20171108164200"/>
          <p:cNvPicPr>
            <a:picLocks noChangeAspect="1"/>
          </p:cNvPicPr>
          <p:nvPr/>
        </p:nvPicPr>
        <p:blipFill>
          <a:blip r:embed="rId2"/>
          <a:stretch>
            <a:fillRect/>
          </a:stretch>
        </p:blipFill>
        <p:spPr>
          <a:xfrm>
            <a:off x="2351088" y="620713"/>
            <a:ext cx="7543800" cy="5657850"/>
          </a:xfrm>
          <a:prstGeom prst="rect">
            <a:avLst/>
          </a:prstGeom>
          <a:noFill/>
          <a:ln w="9525">
            <a:noFill/>
          </a:ln>
        </p:spPr>
      </p:pic>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9317" name="图片 269316" descr="QQ截图20170930153332"/>
          <p:cNvPicPr>
            <a:picLocks noChangeAspect="1"/>
          </p:cNvPicPr>
          <p:nvPr/>
        </p:nvPicPr>
        <p:blipFill>
          <a:blip r:embed="rId2"/>
          <a:stretch>
            <a:fillRect/>
          </a:stretch>
        </p:blipFill>
        <p:spPr>
          <a:xfrm>
            <a:off x="910985" y="668184"/>
            <a:ext cx="10171543" cy="5613743"/>
          </a:xfrm>
          <a:prstGeom prst="rect">
            <a:avLst/>
          </a:prstGeom>
          <a:noFill/>
          <a:ln w="9525">
            <a:noFill/>
          </a:ln>
        </p:spPr>
      </p:pic>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5461" name="图片 275460" descr="QQ截图20170930162043"/>
          <p:cNvPicPr>
            <a:picLocks noChangeAspect="1"/>
          </p:cNvPicPr>
          <p:nvPr/>
        </p:nvPicPr>
        <p:blipFill>
          <a:blip r:embed="rId2"/>
          <a:stretch>
            <a:fillRect/>
          </a:stretch>
        </p:blipFill>
        <p:spPr>
          <a:xfrm>
            <a:off x="1042416" y="294009"/>
            <a:ext cx="10104120" cy="6555778"/>
          </a:xfrm>
          <a:prstGeom prst="rect">
            <a:avLst/>
          </a:prstGeom>
          <a:noFill/>
          <a:ln w="9525">
            <a:noFill/>
          </a:ln>
        </p:spPr>
      </p:pic>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7" name="矩形 274436"/>
          <p:cNvSpPr/>
          <p:nvPr/>
        </p:nvSpPr>
        <p:spPr>
          <a:xfrm>
            <a:off x="1910080" y="6021388"/>
            <a:ext cx="8143240" cy="460375"/>
          </a:xfrm>
          <a:prstGeom prst="rect">
            <a:avLst/>
          </a:prstGeom>
          <a:noFill/>
          <a:ln w="9525">
            <a:noFill/>
          </a:ln>
        </p:spPr>
        <p:txBody>
          <a:bodyPr wrap="none" anchor="t" anchorCtr="0">
            <a:spAutoFit/>
          </a:bodyPr>
          <a:lstStyle/>
          <a:p>
            <a:pPr algn="ctr"/>
            <a:r>
              <a:rPr lang="zh-CN" altLang="en-US" sz="2400" b="1">
                <a:solidFill>
                  <a:srgbClr val="CC0000"/>
                </a:solidFill>
                <a:latin typeface="黑体" panose="02010609060101010101" charset="-122"/>
                <a:ea typeface="黑体" panose="02010609060101010101" charset="-122"/>
              </a:rPr>
              <a:t>对角线左侧为自养演替（</a:t>
            </a:r>
            <a:r>
              <a:rPr lang="en-US" altLang="zh-CN" sz="2400" b="1">
                <a:solidFill>
                  <a:srgbClr val="CC0000"/>
                </a:solidFill>
                <a:latin typeface="黑体" panose="02010609060101010101" charset="-122"/>
                <a:ea typeface="黑体" panose="02010609060101010101" charset="-122"/>
              </a:rPr>
              <a:t>P</a:t>
            </a:r>
            <a:r>
              <a:rPr lang="zh-CN" altLang="en-US" sz="2400" b="1">
                <a:solidFill>
                  <a:srgbClr val="CC0000"/>
                </a:solidFill>
                <a:latin typeface="黑体" panose="02010609060101010101" charset="-122"/>
                <a:ea typeface="黑体" panose="02010609060101010101" charset="-122"/>
              </a:rPr>
              <a:t>＞</a:t>
            </a:r>
            <a:r>
              <a:rPr lang="en-US" altLang="zh-CN" sz="2400" b="1">
                <a:solidFill>
                  <a:srgbClr val="CC0000"/>
                </a:solidFill>
                <a:latin typeface="黑体" panose="02010609060101010101" charset="-122"/>
                <a:ea typeface="黑体" panose="02010609060101010101" charset="-122"/>
              </a:rPr>
              <a:t>R</a:t>
            </a:r>
            <a:r>
              <a:rPr lang="zh-CN" altLang="en-US" sz="2400" b="1">
                <a:solidFill>
                  <a:srgbClr val="CC0000"/>
                </a:solidFill>
                <a:latin typeface="黑体" panose="02010609060101010101" charset="-122"/>
                <a:ea typeface="黑体" panose="02010609060101010101" charset="-122"/>
              </a:rPr>
              <a:t>），右侧为异养演替（</a:t>
            </a:r>
            <a:r>
              <a:rPr lang="en-US" altLang="zh-CN" sz="2400" b="1">
                <a:solidFill>
                  <a:srgbClr val="CC0000"/>
                </a:solidFill>
                <a:latin typeface="黑体" panose="02010609060101010101" charset="-122"/>
                <a:ea typeface="黑体" panose="02010609060101010101" charset="-122"/>
              </a:rPr>
              <a:t>P</a:t>
            </a:r>
            <a:r>
              <a:rPr lang="en-US" altLang="en-US" sz="2400" b="1">
                <a:solidFill>
                  <a:srgbClr val="CC0000"/>
                </a:solidFill>
                <a:latin typeface="黑体" panose="02010609060101010101" charset="-122"/>
                <a:ea typeface="黑体" panose="02010609060101010101" charset="-122"/>
              </a:rPr>
              <a:t>＜</a:t>
            </a:r>
            <a:r>
              <a:rPr lang="en-US" altLang="zh-CN" sz="2400" b="1">
                <a:solidFill>
                  <a:srgbClr val="CC0000"/>
                </a:solidFill>
                <a:latin typeface="黑体" panose="02010609060101010101" charset="-122"/>
                <a:ea typeface="黑体" panose="02010609060101010101" charset="-122"/>
              </a:rPr>
              <a:t>R</a:t>
            </a:r>
            <a:r>
              <a:rPr lang="zh-CN" altLang="en-US" sz="2400" b="1">
                <a:solidFill>
                  <a:srgbClr val="CC0000"/>
                </a:solidFill>
                <a:latin typeface="黑体" panose="02010609060101010101" charset="-122"/>
                <a:ea typeface="黑体" panose="02010609060101010101" charset="-122"/>
              </a:rPr>
              <a:t>）</a:t>
            </a:r>
          </a:p>
        </p:txBody>
      </p:sp>
      <p:pic>
        <p:nvPicPr>
          <p:cNvPr id="274439" name="图片 274438" descr="QQ截图20170718204716"/>
          <p:cNvPicPr>
            <a:picLocks noChangeAspect="1"/>
          </p:cNvPicPr>
          <p:nvPr/>
        </p:nvPicPr>
        <p:blipFill>
          <a:blip r:embed="rId2"/>
          <a:stretch>
            <a:fillRect/>
          </a:stretch>
        </p:blipFill>
        <p:spPr>
          <a:xfrm>
            <a:off x="2340863" y="118872"/>
            <a:ext cx="6698971" cy="6016752"/>
          </a:xfrm>
          <a:prstGeom prst="rect">
            <a:avLst/>
          </a:prstGeom>
          <a:noFill/>
          <a:ln w="9525">
            <a:noFill/>
          </a:ln>
        </p:spPr>
      </p:pic>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1" name="文本占位符 273410"/>
          <p:cNvSpPr>
            <a:spLocks noGrp="1"/>
          </p:cNvSpPr>
          <p:nvPr>
            <p:ph type="body" idx="1"/>
          </p:nvPr>
        </p:nvSpPr>
        <p:spPr>
          <a:xfrm>
            <a:off x="1271016" y="260350"/>
            <a:ext cx="9683496" cy="6264275"/>
          </a:xfrm>
        </p:spPr>
        <p:txBody>
          <a:bodyPr/>
          <a:lstStyle/>
          <a:p>
            <a:pPr algn="ctr" eaLnBrk="1" hangingPunct="1">
              <a:buNone/>
            </a:pPr>
            <a:r>
              <a:rPr lang="zh-CN" altLang="en-US" sz="3600" b="1">
                <a:solidFill>
                  <a:srgbClr val="CC0000"/>
                </a:solidFill>
                <a:latin typeface="黑体" panose="02010609060101010101" charset="-122"/>
              </a:rPr>
              <a:t>演替方向</a:t>
            </a:r>
            <a:endParaRPr lang="zh-CN" altLang="en-US" sz="2800" b="1">
              <a:solidFill>
                <a:srgbClr val="CC0000"/>
              </a:solidFill>
              <a:latin typeface="黑体" panose="02010609060101010101" charset="-122"/>
            </a:endParaRPr>
          </a:p>
          <a:p>
            <a:pPr eaLnBrk="1" hangingPunct="1">
              <a:buNone/>
            </a:pPr>
            <a:r>
              <a:rPr lang="zh-CN" altLang="en-US" sz="2800" b="1">
                <a:latin typeface="黑体" panose="02010609060101010101" charset="-122"/>
              </a:rPr>
              <a:t>      生物群落的演替，若按其演替方向，可分为</a:t>
            </a:r>
            <a:r>
              <a:rPr lang="zh-CN" altLang="en-US" sz="2800" b="1">
                <a:highlight>
                  <a:srgbClr val="FFFF00"/>
                </a:highlight>
                <a:latin typeface="黑体" panose="02010609060101010101" charset="-122"/>
              </a:rPr>
              <a:t>进展演替</a:t>
            </a:r>
            <a:r>
              <a:rPr lang="zh-CN" altLang="en-US" sz="2800" b="1">
                <a:latin typeface="黑体" panose="02010609060101010101" charset="-122"/>
              </a:rPr>
              <a:t>和</a:t>
            </a:r>
            <a:r>
              <a:rPr lang="zh-CN" altLang="en-US" sz="2800" b="1">
                <a:highlight>
                  <a:srgbClr val="FFFF00"/>
                </a:highlight>
                <a:latin typeface="黑体" panose="02010609060101010101" charset="-122"/>
              </a:rPr>
              <a:t>逆行演替</a:t>
            </a:r>
            <a:r>
              <a:rPr lang="zh-CN" altLang="en-US" sz="2800" b="1">
                <a:latin typeface="黑体" panose="02010609060101010101" charset="-122"/>
              </a:rPr>
              <a:t>。</a:t>
            </a:r>
          </a:p>
          <a:p>
            <a:pPr eaLnBrk="1" hangingPunct="1">
              <a:lnSpc>
                <a:spcPct val="120000"/>
              </a:lnSpc>
              <a:buNone/>
            </a:pPr>
            <a:r>
              <a:rPr lang="zh-CN" altLang="en-US" sz="2800" b="1">
                <a:solidFill>
                  <a:srgbClr val="FF0000"/>
                </a:solidFill>
                <a:latin typeface="黑体" panose="02010609060101010101" charset="-122"/>
              </a:rPr>
              <a:t>　　进展演替</a:t>
            </a:r>
            <a:r>
              <a:rPr lang="zh-CN" altLang="en-US" sz="2800" b="1">
                <a:latin typeface="黑体" panose="02010609060101010101" charset="-122"/>
              </a:rPr>
              <a:t>是指随着演替的进行，生物群落的结构和种类成分由简单到复杂；群落对环境的利用由不充分到充分；群落生产力由低到逐步提高；群落逐渐发展为中生化；生物群落对外界环境的改造逐渐强烈。</a:t>
            </a:r>
            <a:r>
              <a:rPr lang="zh-CN" altLang="en-US" sz="2800" b="1">
                <a:highlight>
                  <a:srgbClr val="FFFF00"/>
                </a:highlight>
                <a:latin typeface="黑体" panose="02010609060101010101" charset="-122"/>
              </a:rPr>
              <a:t>（废话）</a:t>
            </a:r>
          </a:p>
          <a:p>
            <a:pPr eaLnBrk="1" hangingPunct="1">
              <a:lnSpc>
                <a:spcPct val="120000"/>
              </a:lnSpc>
              <a:buNone/>
            </a:pPr>
            <a:r>
              <a:rPr lang="zh-CN" altLang="en-US" sz="2800" b="1">
                <a:solidFill>
                  <a:srgbClr val="FF0000"/>
                </a:solidFill>
                <a:latin typeface="黑体" panose="02010609060101010101" charset="-122"/>
              </a:rPr>
              <a:t>　</a:t>
            </a:r>
            <a:r>
              <a:rPr lang="zh-CN" altLang="en-US" sz="2800" b="1">
                <a:solidFill>
                  <a:srgbClr val="CC0000"/>
                </a:solidFill>
                <a:latin typeface="黑体" panose="02010609060101010101" charset="-122"/>
              </a:rPr>
              <a:t>　逆行演替</a:t>
            </a:r>
            <a:r>
              <a:rPr lang="zh-CN" altLang="en-US" sz="2800" b="1">
                <a:latin typeface="黑体" panose="02010609060101010101" charset="-122"/>
              </a:rPr>
              <a:t>的进程则与进展演替相反，它导致生物群落结构简单化；不能充分利用环境，生产力逐步下降，不能充分利用地面，群落</a:t>
            </a:r>
            <a:r>
              <a:rPr lang="zh-CN" altLang="en-US" sz="2800" b="1">
                <a:highlight>
                  <a:srgbClr val="FFFF00"/>
                </a:highlight>
                <a:latin typeface="黑体" panose="02010609060101010101" charset="-122"/>
              </a:rPr>
              <a:t>旱生化或湿生化</a:t>
            </a:r>
            <a:r>
              <a:rPr lang="zh-CN" altLang="en-US" sz="2800" b="1">
                <a:latin typeface="黑体" panose="02010609060101010101" charset="-122"/>
              </a:rPr>
              <a:t>，对外界环境的改造</a:t>
            </a:r>
            <a:r>
              <a:rPr lang="zh-CN" altLang="en-US" sz="2800" b="1">
                <a:highlight>
                  <a:srgbClr val="FFFF00"/>
                </a:highlight>
                <a:latin typeface="黑体" panose="02010609060101010101" charset="-122"/>
              </a:rPr>
              <a:t>轻微</a:t>
            </a:r>
            <a:r>
              <a:rPr lang="zh-CN" altLang="en-US" sz="2800" b="1">
                <a:latin typeface="黑体" panose="02010609060101010101" charset="-122"/>
              </a:rPr>
              <a:t>。</a:t>
            </a:r>
          </a:p>
          <a:p>
            <a:pPr eaLnBrk="1" hangingPunct="1">
              <a:lnSpc>
                <a:spcPct val="120000"/>
              </a:lnSpc>
            </a:pPr>
            <a:endParaRPr lang="en-US" altLang="zh-CN" sz="2800" b="1">
              <a:latin typeface="黑体" panose="02010609060101010101" charset="-122"/>
            </a:endParaRPr>
          </a:p>
          <a:p>
            <a:endParaRPr lang="zh-CN" altLang="en-US" sz="2800">
              <a:latin typeface="黑体" panose="02010609060101010101" charset="-122"/>
            </a:endParaRP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2820" name="图片 802819" descr="QQ截图20171109220632"/>
          <p:cNvPicPr>
            <a:picLocks noChangeAspect="1"/>
          </p:cNvPicPr>
          <p:nvPr/>
        </p:nvPicPr>
        <p:blipFill>
          <a:blip r:embed="rId2"/>
          <a:stretch>
            <a:fillRect/>
          </a:stretch>
        </p:blipFill>
        <p:spPr>
          <a:xfrm>
            <a:off x="256032" y="365760"/>
            <a:ext cx="11530584" cy="5760719"/>
          </a:xfrm>
          <a:prstGeom prst="rect">
            <a:avLst/>
          </a:prstGeom>
          <a:noFill/>
          <a:ln w="9525">
            <a:noFill/>
          </a:ln>
        </p:spPr>
      </p:pic>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2389" name="图片 272388" descr="QQ截图20171027102847"/>
          <p:cNvPicPr>
            <a:picLocks noChangeAspect="1"/>
          </p:cNvPicPr>
          <p:nvPr/>
        </p:nvPicPr>
        <p:blipFill>
          <a:blip r:embed="rId2"/>
          <a:stretch>
            <a:fillRect/>
          </a:stretch>
        </p:blipFill>
        <p:spPr>
          <a:xfrm>
            <a:off x="1992313" y="260350"/>
            <a:ext cx="7991475" cy="6227763"/>
          </a:xfrm>
          <a:prstGeom prst="rect">
            <a:avLst/>
          </a:prstGeom>
          <a:noFill/>
          <a:ln w="9525">
            <a:noFill/>
          </a:ln>
        </p:spPr>
      </p:pic>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9" name="文本占位符 270338"/>
          <p:cNvSpPr>
            <a:spLocks noGrp="1"/>
          </p:cNvSpPr>
          <p:nvPr>
            <p:ph type="body" idx="1"/>
          </p:nvPr>
        </p:nvSpPr>
        <p:spPr>
          <a:xfrm>
            <a:off x="1383596" y="732576"/>
            <a:ext cx="9885418" cy="4525962"/>
          </a:xfrm>
        </p:spPr>
        <p:txBody>
          <a:bodyPr/>
          <a:lstStyle/>
          <a:p>
            <a:pPr marL="0" indent="0" eaLnBrk="1" hangingPunct="1">
              <a:lnSpc>
                <a:spcPct val="100000"/>
              </a:lnSpc>
              <a:buNone/>
            </a:pPr>
            <a:r>
              <a:rPr lang="en-US" altLang="zh-CN" sz="2800" b="1">
                <a:latin typeface="黑体" panose="02010609060101010101" charset="-122"/>
              </a:rPr>
              <a:t>10.</a:t>
            </a:r>
            <a:r>
              <a:rPr lang="zh-CN" altLang="en-US" sz="2800" b="1">
                <a:latin typeface="黑体" panose="02010609060101010101" charset="-122"/>
              </a:rPr>
              <a:t>下列有关演替的说法中哪些是正确的？</a:t>
            </a:r>
            <a:br>
              <a:rPr lang="zh-CN" altLang="en-US" sz="2800" b="1">
                <a:latin typeface="黑体" panose="02010609060101010101" charset="-122"/>
              </a:rPr>
            </a:br>
            <a:r>
              <a:rPr lang="en-US" altLang="zh-CN" sz="2800" b="1">
                <a:solidFill>
                  <a:schemeClr val="tx1"/>
                </a:solidFill>
                <a:latin typeface="黑体" panose="02010609060101010101" charset="-122"/>
              </a:rPr>
              <a:t>A. </a:t>
            </a:r>
            <a:r>
              <a:rPr lang="zh-CN" altLang="en-US" sz="2800" b="1">
                <a:solidFill>
                  <a:schemeClr val="tx1"/>
                </a:solidFill>
                <a:latin typeface="黑体" panose="02010609060101010101" charset="-122"/>
              </a:rPr>
              <a:t>次生演替进展的较快，而原生演替进行得十分缓慢</a:t>
            </a:r>
            <a:br>
              <a:rPr lang="zh-CN" altLang="en-US" sz="2800" b="1">
                <a:solidFill>
                  <a:schemeClr val="tx1"/>
                </a:solidFill>
                <a:latin typeface="黑体" panose="02010609060101010101" charset="-122"/>
              </a:rPr>
            </a:br>
            <a:r>
              <a:rPr lang="en-US" altLang="zh-CN" sz="2800" b="1">
                <a:solidFill>
                  <a:schemeClr val="tx1"/>
                </a:solidFill>
                <a:latin typeface="黑体" panose="02010609060101010101" charset="-122"/>
              </a:rPr>
              <a:t>B.</a:t>
            </a:r>
            <a:r>
              <a:rPr lang="zh-CN" altLang="en-US" sz="2800" b="1">
                <a:solidFill>
                  <a:schemeClr val="tx1"/>
                </a:solidFill>
                <a:latin typeface="黑体" panose="02010609060101010101" charset="-122"/>
              </a:rPr>
              <a:t>外因性演替是由于外界气候条件变化引起的，而内因性演替时外界气候条件完全不变</a:t>
            </a:r>
            <a:br>
              <a:rPr lang="zh-CN" altLang="en-US" sz="2800" b="1">
                <a:solidFill>
                  <a:schemeClr val="tx1"/>
                </a:solidFill>
                <a:latin typeface="黑体" panose="02010609060101010101" charset="-122"/>
              </a:rPr>
            </a:br>
            <a:r>
              <a:rPr lang="en-US" altLang="zh-CN" sz="2800" b="1">
                <a:solidFill>
                  <a:schemeClr val="tx1"/>
                </a:solidFill>
                <a:latin typeface="黑体" panose="02010609060101010101" charset="-122"/>
              </a:rPr>
              <a:t>C.</a:t>
            </a:r>
            <a:r>
              <a:rPr lang="zh-CN" altLang="en-US" sz="2800" b="1">
                <a:solidFill>
                  <a:schemeClr val="tx1"/>
                </a:solidFill>
                <a:latin typeface="黑体" panose="02010609060101010101" charset="-122"/>
              </a:rPr>
              <a:t>地质演替是以地质年代来计的，而生态演替一般不过数百年</a:t>
            </a:r>
            <a:br>
              <a:rPr lang="zh-CN" altLang="en-US" sz="2800" b="1">
                <a:solidFill>
                  <a:schemeClr val="tx1"/>
                </a:solidFill>
                <a:latin typeface="黑体" panose="02010609060101010101" charset="-122"/>
              </a:rPr>
            </a:br>
            <a:r>
              <a:rPr lang="en-US" altLang="zh-CN" sz="2800" b="1">
                <a:solidFill>
                  <a:schemeClr val="tx1"/>
                </a:solidFill>
                <a:latin typeface="黑体" panose="02010609060101010101" charset="-122"/>
              </a:rPr>
              <a:t>D.</a:t>
            </a:r>
            <a:r>
              <a:rPr lang="zh-CN" altLang="en-US" sz="2800" b="1">
                <a:solidFill>
                  <a:schemeClr val="tx1"/>
                </a:solidFill>
                <a:latin typeface="黑体" panose="02010609060101010101" charset="-122"/>
              </a:rPr>
              <a:t>群落中生产量大于群落总呼吸量时，演替属于自养性的，反之则为异养性的</a:t>
            </a:r>
            <a:br>
              <a:rPr lang="zh-CN" altLang="en-US" sz="2800" b="1">
                <a:solidFill>
                  <a:srgbClr val="CC0000"/>
                </a:solidFill>
                <a:latin typeface="黑体" panose="02010609060101010101" charset="-122"/>
              </a:rPr>
            </a:br>
            <a:br>
              <a:rPr lang="zh-CN" altLang="en-US" sz="2800" b="1">
                <a:solidFill>
                  <a:srgbClr val="CC0000"/>
                </a:solidFill>
                <a:latin typeface="黑体" panose="02010609060101010101" charset="-122"/>
              </a:rPr>
            </a:br>
            <a:r>
              <a:rPr lang="zh-CN" altLang="en-US" sz="2800" b="1">
                <a:solidFill>
                  <a:srgbClr val="CC0000"/>
                </a:solidFill>
                <a:latin typeface="黑体" panose="02010609060101010101" charset="-122"/>
              </a:rPr>
              <a:t> （</a:t>
            </a:r>
            <a:r>
              <a:rPr lang="en-US" altLang="zh-CN" sz="2800" b="1">
                <a:solidFill>
                  <a:srgbClr val="CC0000"/>
                </a:solidFill>
                <a:latin typeface="黑体" panose="02010609060101010101" charset="-122"/>
              </a:rPr>
              <a:t>2014</a:t>
            </a:r>
            <a:r>
              <a:rPr lang="zh-CN" altLang="en-US" sz="2800" b="1">
                <a:solidFill>
                  <a:srgbClr val="CC0000"/>
                </a:solidFill>
                <a:latin typeface="黑体" panose="02010609060101010101" charset="-122"/>
              </a:rPr>
              <a:t>年全国联赛试题） 　</a:t>
            </a:r>
          </a:p>
          <a:p>
            <a:pPr marL="0" indent="0">
              <a:lnSpc>
                <a:spcPct val="80000"/>
              </a:lnSpc>
              <a:buNone/>
            </a:pPr>
            <a:endParaRPr lang="zh-CN" altLang="en-US" sz="2800" b="1">
              <a:solidFill>
                <a:srgbClr val="CC0000"/>
              </a:solidFill>
              <a:latin typeface="黑体" panose="02010609060101010101" charset="-122"/>
            </a:endParaRPr>
          </a:p>
        </p:txBody>
      </p:sp>
      <p:sp>
        <p:nvSpPr>
          <p:cNvPr id="2" name="文本框 1"/>
          <p:cNvSpPr txBox="1"/>
          <p:nvPr/>
        </p:nvSpPr>
        <p:spPr>
          <a:xfrm>
            <a:off x="9915779" y="1022350"/>
            <a:ext cx="1243765" cy="523220"/>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US" altLang="zh-CN" sz="2800">
                <a:solidFill>
                  <a:srgbClr val="FF0000"/>
                </a:solidFill>
                <a:latin typeface="Arial" panose="020B0604020202020204" pitchFamily="34" charset="0"/>
                <a:ea typeface="微软雅黑" panose="020B0503020204020204" charset="-122"/>
              </a:rPr>
              <a:t>ACD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7509" name="图片 277508" descr="QQ截图20171116114712"/>
          <p:cNvPicPr>
            <a:picLocks noChangeAspect="1"/>
          </p:cNvPicPr>
          <p:nvPr/>
        </p:nvPicPr>
        <p:blipFill>
          <a:blip r:embed="rId2"/>
          <a:stretch>
            <a:fillRect/>
          </a:stretch>
        </p:blipFill>
        <p:spPr>
          <a:xfrm>
            <a:off x="1508760" y="1066609"/>
            <a:ext cx="8650224" cy="4505325"/>
          </a:xfrm>
          <a:prstGeom prst="rect">
            <a:avLst/>
          </a:prstGeom>
          <a:noFill/>
          <a:ln w="9525">
            <a:noFill/>
          </a:ln>
        </p:spPr>
      </p:pic>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24" name="图片 286723" descr="QQ截图20170306092619"/>
          <p:cNvPicPr>
            <a:picLocks noChangeAspect="1"/>
          </p:cNvPicPr>
          <p:nvPr/>
        </p:nvPicPr>
        <p:blipFill>
          <a:blip r:embed="rId2"/>
          <a:stretch>
            <a:fillRect/>
          </a:stretch>
        </p:blipFill>
        <p:spPr>
          <a:xfrm>
            <a:off x="1252728" y="177927"/>
            <a:ext cx="9674352" cy="6488049"/>
          </a:xfrm>
          <a:prstGeom prst="rect">
            <a:avLst/>
          </a:prstGeom>
          <a:noFill/>
          <a:ln w="9525">
            <a:noFill/>
          </a:ln>
        </p:spPr>
      </p:pic>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5701" name="图片 285700" descr="QQ截图20170306093116"/>
          <p:cNvPicPr>
            <a:picLocks noChangeAspect="1"/>
          </p:cNvPicPr>
          <p:nvPr/>
        </p:nvPicPr>
        <p:blipFill>
          <a:blip r:embed="rId2"/>
          <a:stretch>
            <a:fillRect/>
          </a:stretch>
        </p:blipFill>
        <p:spPr>
          <a:xfrm>
            <a:off x="1133856" y="188913"/>
            <a:ext cx="9857232" cy="6029007"/>
          </a:xfrm>
          <a:prstGeom prst="rect">
            <a:avLst/>
          </a:prstGeom>
          <a:noFill/>
          <a:ln w="9525">
            <a:noFill/>
          </a:ln>
        </p:spPr>
      </p:pic>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4676" name="图片 284675" descr="QQ截图20170306092726"/>
          <p:cNvPicPr>
            <a:picLocks noChangeAspect="1"/>
          </p:cNvPicPr>
          <p:nvPr/>
        </p:nvPicPr>
        <p:blipFill>
          <a:blip r:embed="rId2"/>
          <a:stretch>
            <a:fillRect/>
          </a:stretch>
        </p:blipFill>
        <p:spPr>
          <a:xfrm>
            <a:off x="1631950" y="260350"/>
            <a:ext cx="8924925" cy="6324600"/>
          </a:xfrm>
          <a:prstGeom prst="rect">
            <a:avLst/>
          </a:prstGeom>
          <a:noFill/>
          <a:ln w="9525">
            <a:noFill/>
          </a:ln>
        </p:spPr>
      </p:pic>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82" name="矩形 408581"/>
          <p:cNvSpPr/>
          <p:nvPr/>
        </p:nvSpPr>
        <p:spPr>
          <a:xfrm>
            <a:off x="2776823" y="199600"/>
            <a:ext cx="6157456" cy="523220"/>
          </a:xfrm>
          <a:prstGeom prst="rect">
            <a:avLst/>
          </a:prstGeom>
          <a:noFill/>
          <a:ln w="9525">
            <a:noFill/>
          </a:ln>
        </p:spPr>
        <p:txBody>
          <a:bodyPr wrap="none" anchor="t" anchorCtr="0">
            <a:spAutoFit/>
          </a:bodyPr>
          <a:lstStyle/>
          <a:p>
            <a:pPr algn="ctr" eaLnBrk="0" hangingPunct="0">
              <a:spcBef>
                <a:spcPct val="20000"/>
              </a:spcBef>
            </a:pPr>
            <a:r>
              <a:rPr lang="zh-CN" altLang="en-US" sz="2800" b="1">
                <a:solidFill>
                  <a:srgbClr val="CC0000"/>
                </a:solidFill>
                <a:latin typeface="Arial" panose="020B0604020202020204" pitchFamily="34" charset="0"/>
                <a:ea typeface="黑体" panose="02010609060101010101" charset="-122"/>
              </a:rPr>
              <a:t>演替早期和晚期阶段植物的一般特性</a:t>
            </a:r>
          </a:p>
        </p:txBody>
      </p:sp>
      <p:graphicFrame>
        <p:nvGraphicFramePr>
          <p:cNvPr id="408627" name="内容占位符 408626"/>
          <p:cNvGraphicFramePr>
            <a:graphicFrameLocks noGrp="1"/>
          </p:cNvGraphicFramePr>
          <p:nvPr>
            <p:ph/>
            <p:extLst>
              <p:ext uri="{D42A27DB-BD31-4B8C-83A1-F6EECF244321}">
                <p14:modId xmlns:p14="http://schemas.microsoft.com/office/powerpoint/2010/main" val="2922872309"/>
              </p:ext>
            </p:extLst>
          </p:nvPr>
        </p:nvGraphicFramePr>
        <p:xfrm>
          <a:off x="2279650" y="981075"/>
          <a:ext cx="7667625" cy="5528945"/>
        </p:xfrm>
        <a:graphic>
          <a:graphicData uri="http://schemas.openxmlformats.org/drawingml/2006/table">
            <a:tbl>
              <a:tblPr/>
              <a:tblGrid>
                <a:gridCol w="165608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gridCol w="2734945">
                  <a:extLst>
                    <a:ext uri="{9D8B030D-6E8A-4147-A177-3AD203B41FA5}">
                      <a16:colId xmlns:a16="http://schemas.microsoft.com/office/drawing/2014/main" val="20002"/>
                    </a:ext>
                  </a:extLst>
                </a:gridCol>
              </a:tblGrid>
              <a:tr h="457200">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特征</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早期</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晚期</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种子数量</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多</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少</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种子大小</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小</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大</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74065">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传播</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靠风力，附着在动物上</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重力，动物取食</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2960">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highlight>
                            <a:srgbClr val="FFFF00"/>
                          </a:highlight>
                        </a:rPr>
                        <a:t>种子生活力</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highlight>
                            <a:srgbClr val="FFFF00"/>
                          </a:highlight>
                        </a:rPr>
                        <a:t>长，潜伏在土壤中</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highlight>
                            <a:srgbClr val="FFFF00"/>
                          </a:highlight>
                        </a:rPr>
                        <a:t>短</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22960">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highlight>
                            <a:srgbClr val="FFFF00"/>
                          </a:highlight>
                        </a:rPr>
                        <a:t>根∕茎干比</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highlight>
                            <a:srgbClr val="FFFF00"/>
                          </a:highlight>
                        </a:rPr>
                        <a:t>低</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highlight>
                            <a:srgbClr val="FFFF00"/>
                          </a:highlight>
                        </a:rPr>
                        <a:t>高</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0">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生长率</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迅速</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缓慢</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822960">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成熟个体大小</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小</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大</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7200">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耐阴性</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低</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2"/>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2"/>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2"/>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2"/>
                          </a:solidFill>
                          <a:latin typeface="+mn-lt"/>
                          <a:ea typeface="+mn-ea"/>
                          <a:cs typeface="+mn-cs"/>
                        </a:defRPr>
                      </a:lvl5pPr>
                    </a:lstStyle>
                    <a:p>
                      <a:pPr marL="0" lvl="0" indent="0" algn="ctr">
                        <a:buNone/>
                      </a:pPr>
                      <a:r>
                        <a:rPr lang="zh-CN" altLang="en-US" sz="2400" b="1"/>
                        <a:t>高</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文本占位符 278530"/>
          <p:cNvSpPr>
            <a:spLocks noGrp="1"/>
          </p:cNvSpPr>
          <p:nvPr>
            <p:ph type="body" idx="1"/>
          </p:nvPr>
        </p:nvSpPr>
        <p:spPr>
          <a:xfrm>
            <a:off x="519447" y="313274"/>
            <a:ext cx="8229600" cy="5145088"/>
          </a:xfrm>
        </p:spPr>
        <p:txBody>
          <a:bodyPr/>
          <a:lstStyle/>
          <a:p>
            <a:pPr marL="0" indent="0">
              <a:buNone/>
            </a:pPr>
            <a:r>
              <a:rPr lang="zh-CN" altLang="en-US" sz="3600" b="1">
                <a:solidFill>
                  <a:srgbClr val="CC0000"/>
                </a:solidFill>
              </a:rPr>
              <a:t>群落的分类和主要植被类型</a:t>
            </a:r>
          </a:p>
          <a:p>
            <a:pPr marL="0" indent="0">
              <a:buNone/>
            </a:pPr>
            <a:endParaRPr lang="zh-CN" altLang="en-US" sz="2800" b="1">
              <a:solidFill>
                <a:srgbClr val="CC0000"/>
              </a:solidFill>
            </a:endParaRPr>
          </a:p>
        </p:txBody>
      </p:sp>
      <p:sp>
        <p:nvSpPr>
          <p:cNvPr id="278532" name="矩形 278531"/>
          <p:cNvSpPr/>
          <p:nvPr/>
        </p:nvSpPr>
        <p:spPr>
          <a:xfrm>
            <a:off x="231819" y="923500"/>
            <a:ext cx="5239555" cy="4881336"/>
          </a:xfrm>
          <a:prstGeom prst="rect">
            <a:avLst/>
          </a:prstGeom>
          <a:noFill/>
          <a:ln w="9525">
            <a:noFill/>
          </a:ln>
        </p:spPr>
        <p:txBody>
          <a:bodyPr wrap="square">
            <a:spAutoFit/>
          </a:bodyPr>
          <a:lstStyle/>
          <a:p>
            <a:pPr algn="ctr"/>
            <a:r>
              <a:rPr lang="zh-CN" altLang="en-US" sz="2800" b="1">
                <a:latin typeface="黑体" panose="02010609060101010101" charset="-122"/>
                <a:ea typeface="黑体" panose="02010609060101010101" charset="-122"/>
              </a:rPr>
              <a:t>中国植被分类系统（</a:t>
            </a:r>
            <a:r>
              <a:rPr lang="zh-CN" altLang="en-US" sz="2800" b="1">
                <a:solidFill>
                  <a:srgbClr val="FF0000"/>
                </a:solidFill>
                <a:highlight>
                  <a:srgbClr val="FFFF00"/>
                </a:highlight>
                <a:latin typeface="黑体" panose="02010609060101010101" charset="-122"/>
                <a:ea typeface="黑体" panose="02010609060101010101" charset="-122"/>
              </a:rPr>
              <a:t>废话</a:t>
            </a:r>
            <a:r>
              <a:rPr lang="zh-CN" altLang="en-US" sz="2800" b="1">
                <a:latin typeface="黑体" panose="02010609060101010101" charset="-122"/>
                <a:ea typeface="黑体" panose="02010609060101010101" charset="-122"/>
              </a:rPr>
              <a:t>）</a:t>
            </a:r>
          </a:p>
          <a:p>
            <a:pPr algn="ctr"/>
            <a:r>
              <a:rPr lang="zh-CN" altLang="en-US" sz="2800" b="1">
                <a:latin typeface="黑体" panose="02010609060101010101" charset="-122"/>
                <a:ea typeface="黑体" panose="02010609060101010101" charset="-122"/>
              </a:rPr>
              <a:t>植被型组 </a:t>
            </a:r>
          </a:p>
          <a:p>
            <a:pPr algn="ctr"/>
            <a:r>
              <a:rPr lang="zh-CN" altLang="en-US" sz="2800" b="1">
                <a:latin typeface="黑体" panose="02010609060101010101" charset="-122"/>
                <a:ea typeface="黑体" panose="02010609060101010101" charset="-122"/>
              </a:rPr>
              <a:t>  </a:t>
            </a:r>
            <a:r>
              <a:rPr lang="zh-CN" altLang="en-US" sz="2800" b="1">
                <a:solidFill>
                  <a:srgbClr val="CC0000"/>
                </a:solidFill>
                <a:latin typeface="黑体" panose="02010609060101010101" charset="-122"/>
                <a:ea typeface="黑体" panose="02010609060101010101" charset="-122"/>
              </a:rPr>
              <a:t>植被型 </a:t>
            </a:r>
          </a:p>
          <a:p>
            <a:pPr algn="ctr"/>
            <a:r>
              <a:rPr lang="zh-CN" altLang="en-US" sz="2800" b="1">
                <a:latin typeface="黑体" panose="02010609060101010101" charset="-122"/>
                <a:ea typeface="黑体" panose="02010609060101010101" charset="-122"/>
              </a:rPr>
              <a:t>　　植被亚型 </a:t>
            </a:r>
          </a:p>
          <a:p>
            <a:pPr algn="ctr"/>
            <a:r>
              <a:rPr lang="zh-CN" altLang="en-US" sz="2800" b="1">
                <a:latin typeface="黑体" panose="02010609060101010101" charset="-122"/>
                <a:ea typeface="黑体" panose="02010609060101010101" charset="-122"/>
              </a:rPr>
              <a:t>　　　群系组 </a:t>
            </a:r>
          </a:p>
          <a:p>
            <a:pPr algn="ctr"/>
            <a:r>
              <a:rPr lang="zh-CN" altLang="en-US" sz="2800" b="1">
                <a:latin typeface="黑体" panose="02010609060101010101" charset="-122"/>
                <a:ea typeface="黑体" panose="02010609060101010101" charset="-122"/>
              </a:rPr>
              <a:t>　　　　</a:t>
            </a:r>
            <a:r>
              <a:rPr lang="zh-CN" altLang="en-US" sz="2800" b="1">
                <a:solidFill>
                  <a:srgbClr val="CC0000"/>
                </a:solidFill>
                <a:latin typeface="黑体" panose="02010609060101010101" charset="-122"/>
                <a:ea typeface="黑体" panose="02010609060101010101" charset="-122"/>
              </a:rPr>
              <a:t>群系 　</a:t>
            </a:r>
          </a:p>
          <a:p>
            <a:pPr algn="ctr"/>
            <a:r>
              <a:rPr lang="zh-CN" altLang="en-US" sz="2800" b="1">
                <a:latin typeface="黑体" panose="02010609060101010101" charset="-122"/>
                <a:ea typeface="黑体" panose="02010609060101010101" charset="-122"/>
              </a:rPr>
              <a:t>　　　　　亚群系 　</a:t>
            </a:r>
          </a:p>
          <a:p>
            <a:pPr algn="ctr"/>
            <a:r>
              <a:rPr lang="zh-CN" altLang="en-US" sz="2800" b="1">
                <a:latin typeface="黑体" panose="02010609060101010101" charset="-122"/>
                <a:ea typeface="黑体" panose="02010609060101010101" charset="-122"/>
              </a:rPr>
              <a:t>　　　　　　群丛组 </a:t>
            </a:r>
          </a:p>
          <a:p>
            <a:pPr algn="ctr"/>
            <a:r>
              <a:rPr lang="zh-CN" altLang="en-US" sz="2800" b="1">
                <a:latin typeface="黑体" panose="02010609060101010101" charset="-122"/>
                <a:ea typeface="黑体" panose="02010609060101010101" charset="-122"/>
              </a:rPr>
              <a:t>                </a:t>
            </a:r>
            <a:r>
              <a:rPr lang="zh-CN" altLang="en-US" sz="2800" b="1">
                <a:solidFill>
                  <a:srgbClr val="CC0000"/>
                </a:solidFill>
                <a:latin typeface="黑体" panose="02010609060101010101" charset="-122"/>
                <a:ea typeface="黑体" panose="02010609060101010101" charset="-122"/>
              </a:rPr>
              <a:t>群丛 </a:t>
            </a:r>
          </a:p>
          <a:p>
            <a:pPr algn="ctr"/>
            <a:r>
              <a:rPr lang="zh-CN" altLang="en-US" sz="2800" b="1">
                <a:latin typeface="黑体" panose="02010609060101010101" charset="-122"/>
                <a:ea typeface="黑体" panose="02010609060101010101" charset="-122"/>
              </a:rPr>
              <a:t>                      亚群丛 </a:t>
            </a:r>
          </a:p>
          <a:p>
            <a:pPr algn="ctr">
              <a:lnSpc>
                <a:spcPct val="80000"/>
              </a:lnSpc>
              <a:spcBef>
                <a:spcPct val="50000"/>
              </a:spcBef>
              <a:buChar char="•"/>
            </a:pPr>
            <a:endParaRPr lang="en-US" altLang="zh-CN" sz="2400" b="1">
              <a:latin typeface="黑体" panose="02010609060101010101" charset="-122"/>
              <a:ea typeface="黑体" panose="02010609060101010101" charset="-122"/>
            </a:endParaRP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5" name="文本占位符 289794"/>
          <p:cNvSpPr>
            <a:spLocks noGrp="1"/>
          </p:cNvSpPr>
          <p:nvPr>
            <p:ph type="body" idx="1"/>
          </p:nvPr>
        </p:nvSpPr>
        <p:spPr>
          <a:xfrm>
            <a:off x="639841" y="456329"/>
            <a:ext cx="11041108" cy="5761037"/>
          </a:xfrm>
        </p:spPr>
        <p:txBody>
          <a:bodyPr/>
          <a:lstStyle/>
          <a:p>
            <a:pPr marL="0" indent="0">
              <a:lnSpc>
                <a:spcPct val="80000"/>
              </a:lnSpc>
              <a:buNone/>
            </a:pPr>
            <a:r>
              <a:rPr lang="zh-CN" altLang="en-US" sz="3600" b="1">
                <a:latin typeface="黑体" panose="02010609060101010101" charset="-122"/>
              </a:rPr>
              <a:t>陆地生态系统水平分布的基本规律</a:t>
            </a:r>
            <a:endParaRPr lang="en-US" altLang="zh-CN" sz="3600" b="1">
              <a:latin typeface="黑体" panose="02010609060101010101" charset="-122"/>
            </a:endParaRPr>
          </a:p>
          <a:p>
            <a:pPr marL="0" indent="0">
              <a:lnSpc>
                <a:spcPct val="80000"/>
              </a:lnSpc>
              <a:buNone/>
            </a:pPr>
            <a:endParaRPr lang="zh-CN" altLang="en-US" sz="2800" b="1">
              <a:latin typeface="黑体" panose="02010609060101010101" charset="-122"/>
            </a:endParaRPr>
          </a:p>
          <a:p>
            <a:pPr marL="0" indent="0">
              <a:lnSpc>
                <a:spcPct val="80000"/>
              </a:lnSpc>
              <a:buNone/>
            </a:pPr>
            <a:r>
              <a:rPr lang="zh-CN" altLang="en-US" sz="2800" b="1">
                <a:solidFill>
                  <a:srgbClr val="CC0000"/>
                </a:solidFill>
                <a:latin typeface="黑体" panose="02010609060101010101" charset="-122"/>
              </a:rPr>
              <a:t>植被分布的水平地带性：</a:t>
            </a:r>
            <a:r>
              <a:rPr lang="zh-CN" altLang="en-US" b="1">
                <a:latin typeface="黑体" panose="02010609060101010101" charset="-122"/>
              </a:rPr>
              <a:t>地球表面的水热条件等环境要素，沿纬度或经度方向发生递变，从而引起植被也沿</a:t>
            </a:r>
            <a:r>
              <a:rPr lang="zh-CN" altLang="en-US" b="1">
                <a:highlight>
                  <a:srgbClr val="FFFF00"/>
                </a:highlight>
                <a:latin typeface="黑体" panose="02010609060101010101" charset="-122"/>
              </a:rPr>
              <a:t>纬度</a:t>
            </a:r>
            <a:r>
              <a:rPr lang="zh-CN" altLang="en-US" b="1">
                <a:latin typeface="黑体" panose="02010609060101010101" charset="-122"/>
              </a:rPr>
              <a:t>或</a:t>
            </a:r>
            <a:r>
              <a:rPr lang="zh-CN" altLang="en-US" b="1">
                <a:highlight>
                  <a:srgbClr val="FFFF00"/>
                </a:highlight>
                <a:latin typeface="黑体" panose="02010609060101010101" charset="-122"/>
              </a:rPr>
              <a:t>经度</a:t>
            </a:r>
            <a:r>
              <a:rPr lang="zh-CN" altLang="en-US" b="1">
                <a:latin typeface="黑体" panose="02010609060101010101" charset="-122"/>
              </a:rPr>
              <a:t>方向呈水平更替的现象。</a:t>
            </a:r>
            <a:r>
              <a:rPr lang="en-US" altLang="zh-CN" b="1">
                <a:latin typeface="黑体" panose="02010609060101010101" charset="-122"/>
              </a:rPr>
              <a:t>( </a:t>
            </a:r>
            <a:r>
              <a:rPr lang="zh-CN" altLang="en-US" b="1">
                <a:latin typeface="黑体" panose="02010609060101010101" charset="-122"/>
              </a:rPr>
              <a:t>实际上就是</a:t>
            </a:r>
            <a:r>
              <a:rPr lang="zh-CN" altLang="en-US" b="1">
                <a:highlight>
                  <a:srgbClr val="FFFF00"/>
                </a:highlight>
                <a:latin typeface="黑体" panose="02010609060101010101" charset="-122"/>
              </a:rPr>
              <a:t>梯度变化</a:t>
            </a:r>
            <a:r>
              <a:rPr lang="zh-CN" altLang="en-US" b="1">
                <a:latin typeface="黑体" panose="02010609060101010101" charset="-122"/>
              </a:rPr>
              <a:t>，上述真是</a:t>
            </a:r>
            <a:r>
              <a:rPr lang="zh-CN" altLang="en-US" b="1">
                <a:highlight>
                  <a:srgbClr val="FFFF00"/>
                </a:highlight>
                <a:latin typeface="黑体" panose="02010609060101010101" charset="-122"/>
              </a:rPr>
              <a:t>废话</a:t>
            </a:r>
            <a:r>
              <a:rPr lang="zh-CN" altLang="en-US" b="1">
                <a:latin typeface="黑体" panose="02010609060101010101" charset="-122"/>
              </a:rPr>
              <a:t>）</a:t>
            </a:r>
            <a:endParaRPr lang="en-US" altLang="zh-CN" b="1">
              <a:latin typeface="黑体" panose="02010609060101010101" charset="-122"/>
            </a:endParaRPr>
          </a:p>
          <a:p>
            <a:pPr marL="0" indent="0">
              <a:lnSpc>
                <a:spcPct val="80000"/>
              </a:lnSpc>
              <a:buNone/>
            </a:pPr>
            <a:r>
              <a:rPr lang="zh-CN" altLang="en-US" sz="2800" b="1">
                <a:highlight>
                  <a:srgbClr val="FFFF00"/>
                </a:highlight>
                <a:latin typeface="黑体" panose="02010609060101010101" charset="-122"/>
              </a:rPr>
              <a:t>南北</a:t>
            </a:r>
            <a:r>
              <a:rPr lang="zh-CN" altLang="en-US" sz="2800" b="1">
                <a:latin typeface="黑体" panose="02010609060101010101" charset="-122"/>
              </a:rPr>
              <a:t>分布为：</a:t>
            </a:r>
            <a:r>
              <a:rPr lang="zh-CN" altLang="en-US" sz="2800" b="1">
                <a:solidFill>
                  <a:srgbClr val="CC0000"/>
                </a:solidFill>
                <a:latin typeface="黑体" panose="02010609060101010101" charset="-122"/>
              </a:rPr>
              <a:t>热带雨林、亚热带常绿阔叶林、温带夏绿阔叶林、寒温带针叶林、寒带冻原和极地荒漠。（初中地理，此处不懂就问真是</a:t>
            </a:r>
            <a:r>
              <a:rPr lang="zh-CN" altLang="en-US" sz="2800" b="1">
                <a:solidFill>
                  <a:srgbClr val="CC0000"/>
                </a:solidFill>
                <a:highlight>
                  <a:srgbClr val="FFFF00"/>
                </a:highlight>
                <a:latin typeface="黑体" panose="02010609060101010101" charset="-122"/>
              </a:rPr>
              <a:t>错误</a:t>
            </a:r>
            <a:r>
              <a:rPr lang="zh-CN" altLang="en-US" sz="2800" b="1">
                <a:solidFill>
                  <a:srgbClr val="CC0000"/>
                </a:solidFill>
                <a:latin typeface="黑体" panose="02010609060101010101" charset="-122"/>
              </a:rPr>
              <a:t>的）</a:t>
            </a:r>
          </a:p>
          <a:p>
            <a:pPr marL="0" indent="0" eaLnBrk="1" hangingPunct="1">
              <a:lnSpc>
                <a:spcPct val="80000"/>
              </a:lnSpc>
              <a:buNone/>
            </a:pPr>
            <a:endParaRPr lang="en-US" altLang="zh-CN" sz="2800" b="1">
              <a:solidFill>
                <a:srgbClr val="CC0000"/>
              </a:solidFill>
              <a:latin typeface="黑体" panose="02010609060101010101" charset="-122"/>
            </a:endParaRPr>
          </a:p>
          <a:p>
            <a:pPr marL="0" indent="0">
              <a:lnSpc>
                <a:spcPct val="80000"/>
              </a:lnSpc>
              <a:buNone/>
            </a:pPr>
            <a:endParaRPr lang="zh-CN" altLang="en-US" sz="2800" b="1">
              <a:solidFill>
                <a:srgbClr val="CC0000"/>
              </a:solidFill>
              <a:latin typeface="黑体" panose="02010609060101010101" charset="-122"/>
            </a:endParaRP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1" name="文本占位符 293890"/>
          <p:cNvSpPr>
            <a:spLocks noGrp="1"/>
          </p:cNvSpPr>
          <p:nvPr>
            <p:ph type="body" idx="1"/>
          </p:nvPr>
        </p:nvSpPr>
        <p:spPr>
          <a:xfrm>
            <a:off x="938011" y="382812"/>
            <a:ext cx="10137820" cy="5073650"/>
          </a:xfrm>
        </p:spPr>
        <p:txBody>
          <a:bodyPr/>
          <a:lstStyle/>
          <a:p>
            <a:pPr marL="0" indent="0">
              <a:buNone/>
            </a:pPr>
            <a:r>
              <a:rPr lang="zh-CN" altLang="en-US" sz="3600" b="1">
                <a:solidFill>
                  <a:srgbClr val="CC0000"/>
                </a:solidFill>
                <a:latin typeface="黑体" panose="02010609060101010101" charset="-122"/>
              </a:rPr>
              <a:t>基本规律</a:t>
            </a:r>
            <a:endParaRPr lang="en-US" altLang="zh-CN" sz="3600" b="1">
              <a:solidFill>
                <a:srgbClr val="CC0000"/>
              </a:solidFill>
              <a:latin typeface="黑体" panose="02010609060101010101" charset="-122"/>
            </a:endParaRPr>
          </a:p>
          <a:p>
            <a:pPr marL="0" indent="0">
              <a:buNone/>
            </a:pPr>
            <a:r>
              <a:rPr lang="zh-CN" altLang="en-US" b="1">
                <a:solidFill>
                  <a:srgbClr val="CC0000"/>
                </a:solidFill>
                <a:latin typeface="黑体" panose="02010609060101010101" charset="-122"/>
              </a:rPr>
              <a:t>纬向地带性</a:t>
            </a:r>
            <a:r>
              <a:rPr lang="zh-CN" altLang="en-US" b="1">
                <a:solidFill>
                  <a:srgbClr val="CC0000"/>
                </a:solidFill>
                <a:latin typeface="黑体" panose="02010609060101010101" charset="-122"/>
                <a:sym typeface="Wingdings" pitchFamily="2" charset="2"/>
              </a:rPr>
              <a:t>：</a:t>
            </a:r>
            <a:r>
              <a:rPr lang="zh-CN" altLang="en-US" b="1">
                <a:latin typeface="黑体" panose="02010609060101010101" charset="-122"/>
              </a:rPr>
              <a:t>纬度方向有规律地更替的植被分布，称为</a:t>
            </a:r>
            <a:r>
              <a:rPr lang="zh-CN" altLang="en-US" b="1">
                <a:solidFill>
                  <a:srgbClr val="CC0000"/>
                </a:solidFill>
                <a:latin typeface="黑体" panose="02010609060101010101" charset="-122"/>
              </a:rPr>
              <a:t>植被分布的纬向地带性。</a:t>
            </a:r>
            <a:r>
              <a:rPr lang="zh-CN" altLang="en-US" b="1">
                <a:solidFill>
                  <a:srgbClr val="CC0000"/>
                </a:solidFill>
                <a:highlight>
                  <a:srgbClr val="FFFF00"/>
                </a:highlight>
                <a:latin typeface="黑体" panose="02010609060101010101" charset="-122"/>
              </a:rPr>
              <a:t>（温度和光照强度）</a:t>
            </a:r>
            <a:endParaRPr lang="en-US" altLang="zh-CN" b="1">
              <a:solidFill>
                <a:srgbClr val="CC0000"/>
              </a:solidFill>
              <a:highlight>
                <a:srgbClr val="FFFF00"/>
              </a:highlight>
              <a:latin typeface="黑体" panose="02010609060101010101" charset="-122"/>
            </a:endParaRPr>
          </a:p>
          <a:p>
            <a:pPr marL="0" indent="0">
              <a:buNone/>
            </a:pPr>
            <a:endParaRPr lang="en-US" altLang="zh-CN" sz="2800" b="1">
              <a:solidFill>
                <a:srgbClr val="CC0000"/>
              </a:solidFill>
              <a:highlight>
                <a:srgbClr val="FFFF00"/>
              </a:highlight>
              <a:latin typeface="黑体" panose="02010609060101010101" charset="-122"/>
            </a:endParaRPr>
          </a:p>
          <a:p>
            <a:pPr marL="0" indent="0">
              <a:buNone/>
            </a:pPr>
            <a:r>
              <a:rPr lang="zh-CN" altLang="en-US" sz="2800" b="1">
                <a:solidFill>
                  <a:srgbClr val="CC0000"/>
                </a:solidFill>
                <a:latin typeface="黑体" panose="02010609060101010101" charset="-122"/>
              </a:rPr>
              <a:t>经向地带性：</a:t>
            </a:r>
            <a:r>
              <a:rPr lang="zh-CN" altLang="en-US" sz="2800" b="1">
                <a:latin typeface="黑体" panose="02010609060101010101" charset="-122"/>
              </a:rPr>
              <a:t>以</a:t>
            </a:r>
            <a:r>
              <a:rPr lang="zh-CN" altLang="en-US" sz="2800" b="1">
                <a:highlight>
                  <a:srgbClr val="FFFF00"/>
                </a:highlight>
                <a:latin typeface="黑体" panose="02010609060101010101" charset="-122"/>
              </a:rPr>
              <a:t>水分</a:t>
            </a:r>
            <a:r>
              <a:rPr lang="zh-CN" altLang="en-US" sz="2800" b="1">
                <a:latin typeface="黑体" panose="02010609060101010101" charset="-122"/>
              </a:rPr>
              <a:t>条件为主导因素，引起植物分布由沿海向内陆发生更替，这种分布格式，称为</a:t>
            </a:r>
            <a:r>
              <a:rPr lang="zh-CN" altLang="en-US" sz="2800" b="1">
                <a:solidFill>
                  <a:srgbClr val="CC0000"/>
                </a:solidFill>
                <a:latin typeface="黑体" panose="02010609060101010101" charset="-122"/>
              </a:rPr>
              <a:t>经向地带性。（说白了就是</a:t>
            </a:r>
            <a:r>
              <a:rPr lang="zh-CN" altLang="en-US" sz="2800" b="1">
                <a:solidFill>
                  <a:srgbClr val="CC0000"/>
                </a:solidFill>
                <a:highlight>
                  <a:srgbClr val="FFFF00"/>
                </a:highlight>
                <a:latin typeface="黑体" panose="02010609060101010101" charset="-122"/>
              </a:rPr>
              <a:t>湿度</a:t>
            </a:r>
            <a:r>
              <a:rPr lang="zh-CN" altLang="en-US" sz="2800" b="1">
                <a:solidFill>
                  <a:srgbClr val="CC0000"/>
                </a:solidFill>
                <a:latin typeface="黑体" panose="02010609060101010101" charset="-122"/>
              </a:rPr>
              <a:t>介导的多样性）</a:t>
            </a:r>
          </a:p>
          <a:p>
            <a:pPr marL="0" indent="0" eaLnBrk="1" hangingPunct="1">
              <a:buNone/>
            </a:pPr>
            <a:endParaRPr lang="zh-CN" altLang="en-US" sz="2800" b="1">
              <a:latin typeface="黑体" panose="02010609060101010101" charset="-122"/>
            </a:endParaRPr>
          </a:p>
          <a:p>
            <a:pPr marL="0" indent="0" eaLnBrk="1" hangingPunct="1">
              <a:buNone/>
            </a:pPr>
            <a:r>
              <a:rPr lang="zh-CN" altLang="en-US" sz="2800" b="1">
                <a:solidFill>
                  <a:srgbClr val="CC0000"/>
                </a:solidFill>
                <a:latin typeface="黑体" panose="02010609060101010101" charset="-122"/>
              </a:rPr>
              <a:t>垂直地带性：</a:t>
            </a:r>
            <a:r>
              <a:rPr lang="zh-CN" altLang="en-US" sz="2800" b="1">
                <a:latin typeface="黑体" panose="02010609060101010101" charset="-122"/>
              </a:rPr>
              <a:t>植被带大致与山坡等高线平行，并且具有一定的垂直厚</a:t>
            </a:r>
            <a:r>
              <a:rPr lang="en-US" altLang="zh-CN" sz="2800" b="1">
                <a:latin typeface="黑体" panose="02010609060101010101" charset="-122"/>
              </a:rPr>
              <a:t>(</a:t>
            </a:r>
            <a:r>
              <a:rPr lang="zh-CN" altLang="en-US" sz="2800" b="1">
                <a:latin typeface="黑体" panose="02010609060101010101" charset="-122"/>
              </a:rPr>
              <a:t>宽</a:t>
            </a:r>
            <a:r>
              <a:rPr lang="en-US" altLang="zh-CN" sz="2800" b="1">
                <a:latin typeface="黑体" panose="02010609060101010101" charset="-122"/>
              </a:rPr>
              <a:t>)</a:t>
            </a:r>
            <a:r>
              <a:rPr lang="zh-CN" altLang="en-US" sz="2800" b="1">
                <a:latin typeface="黑体" panose="02010609060101010101" charset="-122"/>
              </a:rPr>
              <a:t>度，称之为</a:t>
            </a:r>
            <a:r>
              <a:rPr lang="zh-CN" altLang="en-US" sz="2800" b="1">
                <a:solidFill>
                  <a:srgbClr val="CC0000"/>
                </a:solidFill>
                <a:latin typeface="黑体" panose="02010609060101010101" charset="-122"/>
              </a:rPr>
              <a:t>植被垂直带性。（</a:t>
            </a:r>
            <a:r>
              <a:rPr lang="zh-CN" altLang="en-US" sz="2800" b="1">
                <a:solidFill>
                  <a:srgbClr val="CC0000"/>
                </a:solidFill>
                <a:highlight>
                  <a:srgbClr val="FFFF00"/>
                </a:highlight>
                <a:latin typeface="黑体" panose="02010609060101010101" charset="-122"/>
              </a:rPr>
              <a:t>陆地垂直多样性</a:t>
            </a:r>
            <a:r>
              <a:rPr lang="zh-CN" altLang="en-US" sz="2800" b="1">
                <a:solidFill>
                  <a:srgbClr val="CC0000"/>
                </a:solidFill>
                <a:latin typeface="黑体" panose="02010609060101010101" charset="-122"/>
              </a:rPr>
              <a:t>大于</a:t>
            </a:r>
            <a:r>
              <a:rPr lang="zh-CN" altLang="en-US" sz="2800" b="1">
                <a:solidFill>
                  <a:srgbClr val="CC0000"/>
                </a:solidFill>
                <a:highlight>
                  <a:srgbClr val="FFFF00"/>
                </a:highlight>
                <a:latin typeface="黑体" panose="02010609060101010101" charset="-122"/>
              </a:rPr>
              <a:t>海洋垂直多样性</a:t>
            </a:r>
            <a:r>
              <a:rPr lang="zh-CN" altLang="en-US" sz="2800" b="1">
                <a:solidFill>
                  <a:srgbClr val="CC0000"/>
                </a:solidFill>
                <a:latin typeface="黑体" panose="02010609060101010101" charset="-122"/>
              </a:rPr>
              <a:t>）</a:t>
            </a:r>
          </a:p>
          <a:p>
            <a:endParaRPr lang="zh-CN" altLang="en-US" sz="2800" b="1">
              <a:solidFill>
                <a:srgbClr val="CC0000"/>
              </a:solidFill>
              <a:latin typeface="黑体" panose="02010609060101010101" charset="-122"/>
            </a:endParaRP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7" name="文本占位符 292866"/>
          <p:cNvSpPr>
            <a:spLocks noGrp="1"/>
          </p:cNvSpPr>
          <p:nvPr>
            <p:ph type="body" idx="1"/>
          </p:nvPr>
        </p:nvSpPr>
        <p:spPr>
          <a:xfrm>
            <a:off x="695795" y="408570"/>
            <a:ext cx="8229600" cy="5073650"/>
          </a:xfrm>
        </p:spPr>
        <p:txBody>
          <a:bodyPr/>
          <a:lstStyle/>
          <a:p>
            <a:pPr marL="0" indent="0">
              <a:buNone/>
            </a:pPr>
            <a:r>
              <a:rPr lang="zh-CN" altLang="en-US" sz="3600" b="1">
                <a:solidFill>
                  <a:srgbClr val="CC0000"/>
                </a:solidFill>
              </a:rPr>
              <a:t>地球的主要植物群落类型</a:t>
            </a:r>
            <a:endParaRPr lang="zh-CN" altLang="en-US" sz="2800" b="1">
              <a:solidFill>
                <a:srgbClr val="CC0000"/>
              </a:solidFill>
            </a:endParaRPr>
          </a:p>
          <a:p>
            <a:pPr marL="0" indent="0">
              <a:buNone/>
            </a:pPr>
            <a:r>
              <a:rPr lang="zh-CN" altLang="en-US" sz="2800" b="1">
                <a:solidFill>
                  <a:srgbClr val="CC0000"/>
                </a:solidFill>
              </a:rPr>
              <a:t>热带雨林</a:t>
            </a:r>
          </a:p>
        </p:txBody>
      </p:sp>
      <p:sp>
        <p:nvSpPr>
          <p:cNvPr id="292868" name="矩形 292867"/>
          <p:cNvSpPr/>
          <p:nvPr/>
        </p:nvSpPr>
        <p:spPr>
          <a:xfrm>
            <a:off x="695795" y="1697127"/>
            <a:ext cx="9864882" cy="3107690"/>
          </a:xfrm>
          <a:prstGeom prst="rect">
            <a:avLst/>
          </a:prstGeom>
          <a:noFill/>
          <a:ln w="9525">
            <a:noFill/>
          </a:ln>
        </p:spPr>
        <p:txBody>
          <a:bodyPr wrap="square">
            <a:spAutoFit/>
          </a:bodyPr>
          <a:lstStyle/>
          <a:p>
            <a:r>
              <a:rPr lang="en-US" altLang="zh-CN" sz="2800" b="1">
                <a:solidFill>
                  <a:srgbClr val="CC0000"/>
                </a:solidFill>
                <a:latin typeface="黑体" panose="02010609060101010101" charset="-122"/>
                <a:ea typeface="黑体" panose="02010609060101010101" charset="-122"/>
              </a:rPr>
              <a:t>1. </a:t>
            </a:r>
            <a:r>
              <a:rPr lang="zh-CN" altLang="en-US" sz="2800" b="1">
                <a:solidFill>
                  <a:srgbClr val="CC0000"/>
                </a:solidFill>
                <a:latin typeface="黑体" panose="02010609060101010101" charset="-122"/>
                <a:ea typeface="黑体" panose="02010609060101010101" charset="-122"/>
              </a:rPr>
              <a:t>分布：</a:t>
            </a:r>
            <a:r>
              <a:rPr lang="zh-CN" altLang="en-US" sz="2800" b="1">
                <a:latin typeface="黑体" panose="02010609060101010101" charset="-122"/>
                <a:ea typeface="黑体" panose="02010609060101010101" charset="-122"/>
              </a:rPr>
              <a:t> 一般是指耐阴、喜雨、喜高温、结构层次不明显、层外植物丰富的乔木植物群落。主要分布于赤道南北纬</a:t>
            </a:r>
            <a:r>
              <a:rPr lang="en-US" altLang="zh-CN" sz="2800" b="1">
                <a:latin typeface="黑体" panose="02010609060101010101" charset="-122"/>
                <a:ea typeface="黑体" panose="02010609060101010101" charset="-122"/>
              </a:rPr>
              <a:t>5-10</a:t>
            </a:r>
            <a:r>
              <a:rPr lang="en-US" altLang="zh-CN" sz="2800" b="1" baseline="30000">
                <a:latin typeface="黑体" panose="02010609060101010101" charset="-122"/>
                <a:ea typeface="黑体" panose="02010609060101010101" charset="-122"/>
              </a:rPr>
              <a:t>o</a:t>
            </a:r>
            <a:r>
              <a:rPr lang="zh-CN" altLang="en-US" sz="2800" b="1">
                <a:latin typeface="黑体" panose="02010609060101010101" charset="-122"/>
                <a:ea typeface="黑体" panose="02010609060101010101" charset="-122"/>
              </a:rPr>
              <a:t>以内的热带气候地区。（废话）</a:t>
            </a:r>
          </a:p>
          <a:p>
            <a:pPr algn="ctr"/>
            <a:endParaRPr lang="zh-CN" altLang="en-US" sz="2800" b="1">
              <a:latin typeface="黑体" panose="02010609060101010101" charset="-122"/>
              <a:ea typeface="黑体" panose="02010609060101010101" charset="-122"/>
            </a:endParaRPr>
          </a:p>
          <a:p>
            <a:r>
              <a:rPr lang="en-US" altLang="zh-CN" sz="2800" b="1">
                <a:solidFill>
                  <a:srgbClr val="CC0000"/>
                </a:solidFill>
                <a:latin typeface="黑体" panose="02010609060101010101" charset="-122"/>
                <a:ea typeface="黑体" panose="02010609060101010101" charset="-122"/>
              </a:rPr>
              <a:t>2.</a:t>
            </a:r>
            <a:r>
              <a:rPr lang="zh-CN" altLang="en-US" sz="2800" b="1">
                <a:solidFill>
                  <a:srgbClr val="CC0000"/>
                </a:solidFill>
                <a:latin typeface="黑体" panose="02010609060101010101" charset="-122"/>
                <a:ea typeface="黑体" panose="02010609060101010101" charset="-122"/>
              </a:rPr>
              <a:t>气候特点：</a:t>
            </a:r>
            <a:r>
              <a:rPr lang="zh-CN" altLang="en-US" sz="2800" b="1">
                <a:latin typeface="黑体" panose="02010609060101010101" charset="-122"/>
                <a:ea typeface="黑体" panose="02010609060101010101" charset="-122"/>
              </a:rPr>
              <a:t>终年高温多雨。年平均气温</a:t>
            </a:r>
            <a:r>
              <a:rPr lang="en-US" altLang="zh-CN" sz="2800" b="1">
                <a:latin typeface="黑体" panose="02010609060101010101" charset="-122"/>
                <a:ea typeface="黑体" panose="02010609060101010101" charset="-122"/>
              </a:rPr>
              <a:t>26℃</a:t>
            </a:r>
            <a:r>
              <a:rPr lang="zh-CN" altLang="en-US" sz="2800" b="1">
                <a:latin typeface="黑体" panose="02010609060101010101" charset="-122"/>
                <a:ea typeface="黑体" panose="02010609060101010101" charset="-122"/>
              </a:rPr>
              <a:t>以上。年降雨</a:t>
            </a:r>
            <a:r>
              <a:rPr lang="en-US" altLang="zh-CN" sz="2800" b="1">
                <a:latin typeface="黑体" panose="02010609060101010101" charset="-122"/>
                <a:ea typeface="黑体" panose="02010609060101010101" charset="-122"/>
              </a:rPr>
              <a:t>2500-4500</a:t>
            </a:r>
            <a:r>
              <a:rPr lang="zh-CN" altLang="en-US" sz="2800" b="1">
                <a:latin typeface="黑体" panose="02010609060101010101" charset="-122"/>
                <a:ea typeface="黑体" panose="02010609060101010101" charset="-122"/>
              </a:rPr>
              <a:t>毫米，全年均匀分布，无明显旱季。这里也</a:t>
            </a:r>
            <a:r>
              <a:rPr lang="zh-CN" altLang="en-US" sz="2800" b="1">
                <a:highlight>
                  <a:srgbClr val="FFFF00"/>
                </a:highlight>
                <a:latin typeface="黑体" panose="02010609060101010101" charset="-122"/>
                <a:ea typeface="黑体" panose="02010609060101010101" charset="-122"/>
              </a:rPr>
              <a:t>无明显的季节变化</a:t>
            </a:r>
            <a:r>
              <a:rPr lang="zh-CN" altLang="en-US" sz="2800" b="1">
                <a:latin typeface="黑体" panose="02010609060101010101" charset="-122"/>
                <a:ea typeface="黑体" panose="02010609060101010101" charset="-122"/>
              </a:rPr>
              <a:t>。</a:t>
            </a: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3" name="文本占位符 291842"/>
          <p:cNvSpPr>
            <a:spLocks noGrp="1"/>
          </p:cNvSpPr>
          <p:nvPr>
            <p:ph type="body" idx="1"/>
          </p:nvPr>
        </p:nvSpPr>
        <p:spPr>
          <a:xfrm>
            <a:off x="582403" y="375191"/>
            <a:ext cx="8229600" cy="5073650"/>
          </a:xfrm>
        </p:spPr>
        <p:txBody>
          <a:bodyPr>
            <a:normAutofit fontScale="90000" lnSpcReduction="10000"/>
          </a:bodyPr>
          <a:lstStyle/>
          <a:p>
            <a:pPr marL="0" indent="0" eaLnBrk="1" hangingPunct="1">
              <a:lnSpc>
                <a:spcPct val="90000"/>
              </a:lnSpc>
              <a:buNone/>
            </a:pPr>
            <a:r>
              <a:rPr lang="zh-CN" altLang="en-US" sz="4000" b="1">
                <a:solidFill>
                  <a:srgbClr val="CC0000"/>
                </a:solidFill>
                <a:latin typeface="黑体" panose="02010609060101010101" charset="-122"/>
              </a:rPr>
              <a:t>植被特点</a:t>
            </a:r>
          </a:p>
          <a:p>
            <a:pPr marL="1428750" lvl="2" indent="-514350">
              <a:buFont typeface="+mj-ea"/>
              <a:buAutoNum type="circleNumDbPlain"/>
            </a:pPr>
            <a:endParaRPr lang="en-US" altLang="zh-CN" sz="2800" b="1">
              <a:latin typeface="黑体" panose="02010609060101010101" charset="-122"/>
            </a:endParaRPr>
          </a:p>
          <a:p>
            <a:pPr marL="1428750" lvl="2" indent="-514350">
              <a:buFont typeface="+mj-ea"/>
              <a:buAutoNum type="circleNumDbPlain"/>
            </a:pPr>
            <a:r>
              <a:rPr lang="zh-CN" altLang="en-US" sz="2800" b="1">
                <a:latin typeface="黑体" panose="02010609060101010101" charset="-122"/>
              </a:rPr>
              <a:t>种类组成特别丰富，大部分是高大乔木。</a:t>
            </a:r>
          </a:p>
          <a:p>
            <a:pPr marL="1428750" lvl="2" indent="-514350">
              <a:buFont typeface="+mj-ea"/>
              <a:buAutoNum type="circleNumDbPlain"/>
            </a:pPr>
            <a:r>
              <a:rPr lang="zh-CN" altLang="en-US" sz="2800" b="1">
                <a:latin typeface="黑体" panose="02010609060101010101" charset="-122"/>
              </a:rPr>
              <a:t>群落结构复杂，</a:t>
            </a:r>
            <a:r>
              <a:rPr lang="zh-CN" altLang="en-US" sz="2800" b="1">
                <a:highlight>
                  <a:srgbClr val="FFFF00"/>
                </a:highlight>
                <a:latin typeface="黑体" panose="02010609060101010101" charset="-122"/>
              </a:rPr>
              <a:t>树冠不齐</a:t>
            </a:r>
            <a:r>
              <a:rPr lang="zh-CN" altLang="en-US" sz="2800" b="1">
                <a:latin typeface="黑体" panose="02010609060101010101" charset="-122"/>
              </a:rPr>
              <a:t>，</a:t>
            </a:r>
            <a:r>
              <a:rPr lang="zh-CN" altLang="en-US" sz="2800" b="1">
                <a:highlight>
                  <a:srgbClr val="FFFF00"/>
                </a:highlight>
                <a:latin typeface="黑体" panose="02010609060101010101" charset="-122"/>
              </a:rPr>
              <a:t>分层不明显。</a:t>
            </a:r>
          </a:p>
          <a:p>
            <a:pPr marL="1428750" lvl="2" indent="-514350">
              <a:buFont typeface="+mj-ea"/>
              <a:buAutoNum type="circleNumDbPlain"/>
            </a:pPr>
            <a:r>
              <a:rPr lang="zh-CN" altLang="en-US" sz="2800" b="1">
                <a:latin typeface="黑体" panose="02010609060101010101" charset="-122"/>
              </a:rPr>
              <a:t>藤本植物及附生植物极丰富，在阴暗的林下地表草本层并不茂密。在明亮地带草本较茂盛。</a:t>
            </a:r>
          </a:p>
          <a:p>
            <a:pPr marL="1428750" lvl="2" indent="-514350">
              <a:buFont typeface="+mj-ea"/>
              <a:buAutoNum type="circleNumDbPlain"/>
            </a:pPr>
            <a:r>
              <a:rPr lang="zh-CN" altLang="en-US" sz="2800" b="1">
                <a:latin typeface="黑体" panose="02010609060101010101" charset="-122"/>
              </a:rPr>
              <a:t>树干高大挺直，分枝小，树皮光滑，常具板状根和支柱根。</a:t>
            </a:r>
          </a:p>
          <a:p>
            <a:pPr marL="1428750" lvl="2" indent="-514350">
              <a:buFont typeface="+mj-ea"/>
              <a:buAutoNum type="circleNumDbPlain"/>
            </a:pPr>
            <a:r>
              <a:rPr lang="zh-CN" altLang="en-US" sz="2800" b="1">
                <a:highlight>
                  <a:srgbClr val="FFFF00"/>
                </a:highlight>
                <a:latin typeface="黑体" panose="02010609060101010101" charset="-122"/>
              </a:rPr>
              <a:t>茎花现象</a:t>
            </a:r>
            <a:r>
              <a:rPr lang="en-US" altLang="zh-CN" sz="2800" b="1">
                <a:highlight>
                  <a:srgbClr val="FFFF00"/>
                </a:highlight>
                <a:latin typeface="黑体" panose="02010609060101010101" charset="-122"/>
              </a:rPr>
              <a:t>(</a:t>
            </a:r>
            <a:r>
              <a:rPr lang="zh-CN" altLang="en-US" sz="2800" b="1">
                <a:highlight>
                  <a:srgbClr val="FFFF00"/>
                </a:highlight>
                <a:latin typeface="黑体" panose="02010609060101010101" charset="-122"/>
              </a:rPr>
              <a:t>即花生在无叶木质茎上</a:t>
            </a:r>
            <a:r>
              <a:rPr lang="en-US" altLang="zh-CN" sz="2800" b="1">
                <a:highlight>
                  <a:srgbClr val="FFFF00"/>
                </a:highlight>
                <a:latin typeface="黑体" panose="02010609060101010101" charset="-122"/>
              </a:rPr>
              <a:t>)</a:t>
            </a:r>
            <a:r>
              <a:rPr lang="zh-CN" altLang="en-US" sz="2800" b="1">
                <a:highlight>
                  <a:srgbClr val="FFFF00"/>
                </a:highlight>
                <a:latin typeface="黑体" panose="02010609060101010101" charset="-122"/>
              </a:rPr>
              <a:t>很常见</a:t>
            </a:r>
            <a:r>
              <a:rPr lang="zh-CN" altLang="en-US" sz="2800" b="1">
                <a:latin typeface="黑体" panose="02010609060101010101" charset="-122"/>
              </a:rPr>
              <a:t>。</a:t>
            </a:r>
          </a:p>
          <a:p>
            <a:pPr marL="1428750" lvl="2" indent="-514350">
              <a:buFont typeface="+mj-ea"/>
              <a:buAutoNum type="circleNumDbPlain"/>
            </a:pPr>
            <a:r>
              <a:rPr lang="zh-CN" altLang="en-US" sz="2800" b="1">
                <a:latin typeface="黑体" panose="02010609060101010101" charset="-122"/>
              </a:rPr>
              <a:t>寄生植物很普遍，高等有花的寄生植物常发育于乔木的根茎上。</a:t>
            </a:r>
          </a:p>
          <a:p>
            <a:pPr marL="1428750" lvl="2" indent="-514350">
              <a:buFont typeface="+mj-ea"/>
              <a:buAutoNum type="circleNumDbPlain"/>
            </a:pPr>
            <a:r>
              <a:rPr lang="zh-CN" altLang="en-US" sz="2800" b="1">
                <a:latin typeface="黑体" panose="02010609060101010101" charset="-122"/>
              </a:rPr>
              <a:t>热带雨林的植物终年生长发育。由于它们没有共同的休眠期，所以一年到都有植物开花结果。</a:t>
            </a:r>
          </a:p>
          <a:p>
            <a:pPr marL="1428750" lvl="2" indent="-514350">
              <a:buFont typeface="+mj-ea"/>
              <a:buAutoNum type="circleNumDbPlain"/>
            </a:pPr>
            <a:r>
              <a:rPr lang="zh-CN" altLang="en-US" sz="2800" b="1">
                <a:latin typeface="黑体" panose="02010609060101010101" charset="-122"/>
              </a:rPr>
              <a:t>热带雨林是地球上动物种类最丰富的地区</a:t>
            </a:r>
          </a:p>
          <a:p>
            <a:pPr eaLnBrk="1" hangingPunct="1">
              <a:lnSpc>
                <a:spcPct val="90000"/>
              </a:lnSpc>
              <a:buNone/>
            </a:pPr>
            <a:endParaRPr lang="zh-CN" altLang="en-US" sz="2800" b="1">
              <a:latin typeface="黑体" panose="02010609060101010101" charset="-122"/>
            </a:endParaRPr>
          </a:p>
          <a:p>
            <a:pPr>
              <a:lnSpc>
                <a:spcPct val="90000"/>
              </a:lnSpc>
            </a:pPr>
            <a:endParaRPr lang="zh-CN" altLang="en-US" sz="2800" b="1">
              <a:latin typeface="黑体" panose="02010609060101010101" charset="-122"/>
            </a:endParaRPr>
          </a:p>
        </p:txBody>
      </p:sp>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square">
        <a:spAutoFit/>
      </a:bodyPr>
      <a:lstStyle>
        <a:defPPr algn="l">
          <a:defRPr lang="en-US" altLang="zh-CN" sz="1800">
            <a:latin typeface="汉仪君黑-55W" panose="00020600040101010101" charset="-122"/>
            <a:ea typeface="汉仪君黑-55W" panose="00020600040101010101" charset="-122"/>
            <a:sym typeface="汉仪君黑-55W" panose="00020600040101010101"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128</Slides>
  <Notes>0</Notes>
  <HiddenSlides>5</HiddenSlides>
  <ScaleCrop>false</ScaleCrop>
  <HeadingPairs>
    <vt:vector size="4" baseType="variant">
      <vt:variant>
        <vt:lpstr>Theme</vt:lpstr>
      </vt:variant>
      <vt:variant>
        <vt:i4>1</vt:i4>
      </vt:variant>
      <vt:variant>
        <vt:lpstr>Slide Titles</vt:lpstr>
      </vt:variant>
      <vt:variant>
        <vt:i4>128</vt:i4>
      </vt:variant>
    </vt:vector>
  </HeadingPairs>
  <TitlesOfParts>
    <vt:vector size="129" baseType="lpstr">
      <vt:lpstr>Office 主题​​</vt:lpstr>
      <vt:lpstr>5  生物种及其变异与进化</vt:lpstr>
      <vt:lpstr>PowerPoint Presentation</vt:lpstr>
      <vt:lpstr>PowerPoint Presentation</vt:lpstr>
      <vt:lpstr>PowerPoint Presentation</vt:lpstr>
      <vt:lpstr>PowerPoint Presentation</vt:lpstr>
      <vt:lpstr>PowerPoint Presentation</vt:lpstr>
      <vt:lpstr>6  生活史对策</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  种内与种间关系</vt:lpstr>
      <vt:lpstr>7  种内与种间关系</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7.1.2.4  生态位（niche)理论</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群落的概念</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 Lopez</dc:creator>
  <cp:revision>1</cp:revision>
  <dcterms:created xsi:type="dcterms:W3CDTF">2025-09-30T07:42:00Z</dcterms:created>
  <dcterms:modified xsi:type="dcterms:W3CDTF">2025-10-03T02:32:45Z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3936C147E14543E2AF570D7A3DB0DA94_13</vt:lpwstr>
  </property>
  <property fmtid="{D5CDD505-2E9C-101B-9397-08002B2CF9AE}" pid="3" name="KSOProductBuildVer">
    <vt:lpwstr>2052-12.1.0.22529</vt:lpwstr>
  </property>
</Properties>
</file>