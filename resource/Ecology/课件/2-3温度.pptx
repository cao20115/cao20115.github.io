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425" r:id="rId16"/>
    <p:sldId id="327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331" r:id="rId39"/>
    <p:sldId id="335" r:id="rId40"/>
    <p:sldId id="334" r:id="rId41"/>
    <p:sldId id="1066" r:id="rId42"/>
    <p:sldId id="799" r:id="rId43"/>
    <p:sldId id="830" r:id="rId44"/>
    <p:sldId id="831" r:id="rId45"/>
    <p:sldId id="333" r:id="rId46"/>
    <p:sldId id="332" r:id="rId47"/>
    <p:sldId id="1067" r:id="rId48"/>
    <p:sldId id="605" r:id="rId49"/>
    <p:sldId id="329" r:id="rId50"/>
    <p:sldId id="1020" r:id="rId51"/>
    <p:sldId id="1034" r:id="rId52"/>
    <p:sldId id="558" r:id="rId53"/>
    <p:sldId id="783" r:id="rId54"/>
    <p:sldId id="732" r:id="rId55"/>
    <p:sldId id="298" r:id="rId56"/>
    <p:sldId id="373" r:id="rId57"/>
    <p:sldId id="967" r:id="rId5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FF3B78-E0D3-CB42-A443-593472780436}" v="43" dt="2025-09-18T07:39:23.04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7"/>
    <p:restoredTop sz="94690"/>
  </p:normalViewPr>
  <p:slideViewPr>
    <p:cSldViewPr>
      <p:cViewPr varScale="1">
        <p:scale>
          <a:sx n="136" d="100"/>
          <a:sy n="136" d="100"/>
        </p:scale>
        <p:origin x="216" y="15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邦 肖" userId="38982054f6b45302" providerId="LiveId" clId="{95A0DA5A-AD6B-579F-A03E-EEED9F52BEEA}"/>
    <pc:docChg chg="custSel modSld">
      <pc:chgData name="邦 肖" userId="38982054f6b45302" providerId="LiveId" clId="{95A0DA5A-AD6B-579F-A03E-EEED9F52BEEA}" dt="2025-09-18T07:40:17.919" v="97" actId="478"/>
      <pc:docMkLst>
        <pc:docMk/>
      </pc:docMkLst>
      <pc:sldChg chg="addSp delSp modSp mod delAnim modAnim">
        <pc:chgData name="邦 肖" userId="38982054f6b45302" providerId="LiveId" clId="{95A0DA5A-AD6B-579F-A03E-EEED9F52BEEA}" dt="2025-09-18T07:40:14.299" v="96" actId="478"/>
        <pc:sldMkLst>
          <pc:docMk/>
          <pc:sldMk cId="0" sldId="298"/>
        </pc:sldMkLst>
        <pc:spChg chg="del">
          <ac:chgData name="邦 肖" userId="38982054f6b45302" providerId="LiveId" clId="{95A0DA5A-AD6B-579F-A03E-EEED9F52BEEA}" dt="2025-09-18T07:40:14.299" v="96" actId="478"/>
          <ac:spMkLst>
            <pc:docMk/>
            <pc:sldMk cId="0" sldId="298"/>
            <ac:spMk id="2" creationId="{BF3C7A84-BF88-2C22-65E4-5917BBA6891F}"/>
          </ac:spMkLst>
        </pc:spChg>
        <pc:spChg chg="add mod">
          <ac:chgData name="邦 肖" userId="38982054f6b45302" providerId="LiveId" clId="{95A0DA5A-AD6B-579F-A03E-EEED9F52BEEA}" dt="2025-09-18T07:36:29.867" v="26" actId="1076"/>
          <ac:spMkLst>
            <pc:docMk/>
            <pc:sldMk cId="0" sldId="298"/>
            <ac:spMk id="3" creationId="{ADFFB9D7-7743-4E1B-CCCE-11C94FCCA7DD}"/>
          </ac:spMkLst>
        </pc:spChg>
      </pc:sldChg>
      <pc:sldChg chg="addSp delSp modSp mod delAnim modAnim">
        <pc:chgData name="邦 肖" userId="38982054f6b45302" providerId="LiveId" clId="{95A0DA5A-AD6B-579F-A03E-EEED9F52BEEA}" dt="2025-09-18T07:40:02.479" v="90" actId="478"/>
        <pc:sldMkLst>
          <pc:docMk/>
          <pc:sldMk cId="0" sldId="329"/>
        </pc:sldMkLst>
        <pc:spChg chg="del">
          <ac:chgData name="邦 肖" userId="38982054f6b45302" providerId="LiveId" clId="{95A0DA5A-AD6B-579F-A03E-EEED9F52BEEA}" dt="2025-09-18T07:40:02.479" v="90" actId="478"/>
          <ac:spMkLst>
            <pc:docMk/>
            <pc:sldMk cId="0" sldId="329"/>
            <ac:spMk id="2" creationId="{B521CF77-6F30-4C52-F5C5-FD3B2B21DCFA}"/>
          </ac:spMkLst>
        </pc:spChg>
        <pc:spChg chg="add mod">
          <ac:chgData name="邦 肖" userId="38982054f6b45302" providerId="LiveId" clId="{95A0DA5A-AD6B-579F-A03E-EEED9F52BEEA}" dt="2025-09-18T07:37:20.175" v="40" actId="1076"/>
          <ac:spMkLst>
            <pc:docMk/>
            <pc:sldMk cId="0" sldId="329"/>
            <ac:spMk id="3" creationId="{864B68B0-5B29-B708-DB3A-E7CF5F518884}"/>
          </ac:spMkLst>
        </pc:spChg>
      </pc:sldChg>
      <pc:sldChg chg="addSp delSp modSp mod delAnim modAnim">
        <pc:chgData name="邦 肖" userId="38982054f6b45302" providerId="LiveId" clId="{95A0DA5A-AD6B-579F-A03E-EEED9F52BEEA}" dt="2025-09-18T07:38:45.610" v="69" actId="1076"/>
        <pc:sldMkLst>
          <pc:docMk/>
          <pc:sldMk cId="0" sldId="331"/>
        </pc:sldMkLst>
        <pc:spChg chg="del">
          <ac:chgData name="邦 肖" userId="38982054f6b45302" providerId="LiveId" clId="{95A0DA5A-AD6B-579F-A03E-EEED9F52BEEA}" dt="2025-09-18T07:35:33.268" v="4" actId="478"/>
          <ac:spMkLst>
            <pc:docMk/>
            <pc:sldMk cId="0" sldId="331"/>
            <ac:spMk id="2" creationId="{482E01E8-455F-AD46-C9BD-F99FDC2FBDB7}"/>
          </ac:spMkLst>
        </pc:spChg>
        <pc:spChg chg="add mod">
          <ac:chgData name="邦 肖" userId="38982054f6b45302" providerId="LiveId" clId="{95A0DA5A-AD6B-579F-A03E-EEED9F52BEEA}" dt="2025-09-18T07:38:45.610" v="69" actId="1076"/>
          <ac:spMkLst>
            <pc:docMk/>
            <pc:sldMk cId="0" sldId="331"/>
            <ac:spMk id="3" creationId="{BADF0726-456E-93D6-E926-DFD99DF3E7D0}"/>
          </ac:spMkLst>
        </pc:spChg>
      </pc:sldChg>
      <pc:sldChg chg="addSp delSp modSp mod delAnim modAnim">
        <pc:chgData name="邦 肖" userId="38982054f6b45302" providerId="LiveId" clId="{95A0DA5A-AD6B-579F-A03E-EEED9F52BEEA}" dt="2025-09-18T07:39:39.143" v="77" actId="478"/>
        <pc:sldMkLst>
          <pc:docMk/>
          <pc:sldMk cId="0" sldId="332"/>
        </pc:sldMkLst>
        <pc:spChg chg="del">
          <ac:chgData name="邦 肖" userId="38982054f6b45302" providerId="LiveId" clId="{95A0DA5A-AD6B-579F-A03E-EEED9F52BEEA}" dt="2025-09-18T07:39:39.143" v="77" actId="478"/>
          <ac:spMkLst>
            <pc:docMk/>
            <pc:sldMk cId="0" sldId="332"/>
            <ac:spMk id="2" creationId="{666E047F-E14F-0687-897D-8B720A9C5CE2}"/>
          </ac:spMkLst>
        </pc:spChg>
        <pc:spChg chg="add mod">
          <ac:chgData name="邦 肖" userId="38982054f6b45302" providerId="LiveId" clId="{95A0DA5A-AD6B-579F-A03E-EEED9F52BEEA}" dt="2025-09-18T07:37:39.527" v="47" actId="1076"/>
          <ac:spMkLst>
            <pc:docMk/>
            <pc:sldMk cId="0" sldId="332"/>
            <ac:spMk id="3" creationId="{441B84B1-35CF-938A-8BE4-2D5AB0C413FE}"/>
          </ac:spMkLst>
        </pc:spChg>
      </pc:sldChg>
      <pc:sldChg chg="addSp delSp modSp mod delAnim modAnim">
        <pc:chgData name="邦 肖" userId="38982054f6b45302" providerId="LiveId" clId="{95A0DA5A-AD6B-579F-A03E-EEED9F52BEEA}" dt="2025-09-18T07:39:21.128" v="71" actId="478"/>
        <pc:sldMkLst>
          <pc:docMk/>
          <pc:sldMk cId="0" sldId="334"/>
        </pc:sldMkLst>
        <pc:spChg chg="del">
          <ac:chgData name="邦 肖" userId="38982054f6b45302" providerId="LiveId" clId="{95A0DA5A-AD6B-579F-A03E-EEED9F52BEEA}" dt="2025-09-18T07:39:21.128" v="71" actId="478"/>
          <ac:spMkLst>
            <pc:docMk/>
            <pc:sldMk cId="0" sldId="334"/>
            <ac:spMk id="2" creationId="{6C344FDD-18FB-2A87-3538-2DF6A975B191}"/>
          </ac:spMkLst>
        </pc:spChg>
        <pc:spChg chg="add mod">
          <ac:chgData name="邦 肖" userId="38982054f6b45302" providerId="LiveId" clId="{95A0DA5A-AD6B-579F-A03E-EEED9F52BEEA}" dt="2025-09-18T07:38:25.640" v="66" actId="20577"/>
          <ac:spMkLst>
            <pc:docMk/>
            <pc:sldMk cId="0" sldId="334"/>
            <ac:spMk id="3" creationId="{65CF5D76-D41F-1C48-35A2-D4255851C333}"/>
          </ac:spMkLst>
        </pc:spChg>
      </pc:sldChg>
      <pc:sldChg chg="addSp delSp modSp mod delAnim modAnim">
        <pc:chgData name="邦 肖" userId="38982054f6b45302" providerId="LiveId" clId="{95A0DA5A-AD6B-579F-A03E-EEED9F52BEEA}" dt="2025-09-18T07:39:00.653" v="70" actId="478"/>
        <pc:sldMkLst>
          <pc:docMk/>
          <pc:sldMk cId="0" sldId="335"/>
        </pc:sldMkLst>
        <pc:spChg chg="del">
          <ac:chgData name="邦 肖" userId="38982054f6b45302" providerId="LiveId" clId="{95A0DA5A-AD6B-579F-A03E-EEED9F52BEEA}" dt="2025-09-18T07:39:00.653" v="70" actId="478"/>
          <ac:spMkLst>
            <pc:docMk/>
            <pc:sldMk cId="0" sldId="335"/>
            <ac:spMk id="2" creationId="{3D80B521-C397-B6B5-1833-9CF91D57AF19}"/>
          </ac:spMkLst>
        </pc:spChg>
        <pc:spChg chg="add mod">
          <ac:chgData name="邦 肖" userId="38982054f6b45302" providerId="LiveId" clId="{95A0DA5A-AD6B-579F-A03E-EEED9F52BEEA}" dt="2025-09-18T07:38:36.986" v="68" actId="1076"/>
          <ac:spMkLst>
            <pc:docMk/>
            <pc:sldMk cId="0" sldId="335"/>
            <ac:spMk id="3" creationId="{87B4A4E8-4B2A-E593-0C49-20256C938D17}"/>
          </ac:spMkLst>
        </pc:spChg>
      </pc:sldChg>
      <pc:sldChg chg="addSp delSp modSp mod delAnim modAnim">
        <pc:chgData name="邦 肖" userId="38982054f6b45302" providerId="LiveId" clId="{95A0DA5A-AD6B-579F-A03E-EEED9F52BEEA}" dt="2025-09-18T07:40:17.919" v="97" actId="478"/>
        <pc:sldMkLst>
          <pc:docMk/>
          <pc:sldMk cId="0" sldId="373"/>
        </pc:sldMkLst>
        <pc:spChg chg="del">
          <ac:chgData name="邦 肖" userId="38982054f6b45302" providerId="LiveId" clId="{95A0DA5A-AD6B-579F-A03E-EEED9F52BEEA}" dt="2025-09-18T07:40:17.919" v="97" actId="478"/>
          <ac:spMkLst>
            <pc:docMk/>
            <pc:sldMk cId="0" sldId="373"/>
            <ac:spMk id="2" creationId="{C9F6AFDE-4AD9-634F-8CB0-23D165B3BFE1}"/>
          </ac:spMkLst>
        </pc:spChg>
        <pc:spChg chg="del">
          <ac:chgData name="邦 肖" userId="38982054f6b45302" providerId="LiveId" clId="{95A0DA5A-AD6B-579F-A03E-EEED9F52BEEA}" dt="2025-09-18T07:40:17.919" v="97" actId="478"/>
          <ac:spMkLst>
            <pc:docMk/>
            <pc:sldMk cId="0" sldId="373"/>
            <ac:spMk id="4" creationId="{E148054A-C0AF-3AF3-ADA8-48BF6CD2CD78}"/>
          </ac:spMkLst>
        </pc:spChg>
        <pc:spChg chg="del">
          <ac:chgData name="邦 肖" userId="38982054f6b45302" providerId="LiveId" clId="{95A0DA5A-AD6B-579F-A03E-EEED9F52BEEA}" dt="2025-09-18T07:40:17.919" v="97" actId="478"/>
          <ac:spMkLst>
            <pc:docMk/>
            <pc:sldMk cId="0" sldId="373"/>
            <ac:spMk id="5" creationId="{71DF7CE4-A820-1D8D-9584-DFF2D31D907A}"/>
          </ac:spMkLst>
        </pc:spChg>
        <pc:spChg chg="add mod">
          <ac:chgData name="邦 肖" userId="38982054f6b45302" providerId="LiveId" clId="{95A0DA5A-AD6B-579F-A03E-EEED9F52BEEA}" dt="2025-09-18T07:36:21.258" v="24" actId="20577"/>
          <ac:spMkLst>
            <pc:docMk/>
            <pc:sldMk cId="0" sldId="373"/>
            <ac:spMk id="6" creationId="{90FF194C-9132-3D4C-7999-21ECCBF2192A}"/>
          </ac:spMkLst>
        </pc:spChg>
      </pc:sldChg>
      <pc:sldChg chg="addSp delSp modSp mod delAnim modAnim">
        <pc:chgData name="邦 肖" userId="38982054f6b45302" providerId="LiveId" clId="{95A0DA5A-AD6B-579F-A03E-EEED9F52BEEA}" dt="2025-09-18T07:40:08.230" v="93" actId="478"/>
        <pc:sldMkLst>
          <pc:docMk/>
          <pc:sldMk cId="0" sldId="558"/>
        </pc:sldMkLst>
        <pc:spChg chg="del">
          <ac:chgData name="邦 肖" userId="38982054f6b45302" providerId="LiveId" clId="{95A0DA5A-AD6B-579F-A03E-EEED9F52BEEA}" dt="2025-09-18T07:40:08.230" v="93" actId="478"/>
          <ac:spMkLst>
            <pc:docMk/>
            <pc:sldMk cId="0" sldId="558"/>
            <ac:spMk id="2" creationId="{F3A248F2-67E1-6E8B-6803-310027CFDF64}"/>
          </ac:spMkLst>
        </pc:spChg>
        <pc:spChg chg="add mod">
          <ac:chgData name="邦 肖" userId="38982054f6b45302" providerId="LiveId" clId="{95A0DA5A-AD6B-579F-A03E-EEED9F52BEEA}" dt="2025-09-18T07:36:57.923" v="34" actId="1076"/>
          <ac:spMkLst>
            <pc:docMk/>
            <pc:sldMk cId="0" sldId="558"/>
            <ac:spMk id="3" creationId="{BA8F810E-DB07-2A43-B786-E2C37551E0E2}"/>
          </ac:spMkLst>
        </pc:spChg>
      </pc:sldChg>
      <pc:sldChg chg="addSp delSp modSp mod delAnim modAnim">
        <pc:chgData name="邦 肖" userId="38982054f6b45302" providerId="LiveId" clId="{95A0DA5A-AD6B-579F-A03E-EEED9F52BEEA}" dt="2025-09-18T07:40:00.844" v="89" actId="478"/>
        <pc:sldMkLst>
          <pc:docMk/>
          <pc:sldMk cId="0" sldId="605"/>
        </pc:sldMkLst>
        <pc:spChg chg="del">
          <ac:chgData name="邦 肖" userId="38982054f6b45302" providerId="LiveId" clId="{95A0DA5A-AD6B-579F-A03E-EEED9F52BEEA}" dt="2025-09-18T07:40:00.844" v="89" actId="478"/>
          <ac:spMkLst>
            <pc:docMk/>
            <pc:sldMk cId="0" sldId="605"/>
            <ac:spMk id="2" creationId="{7F8B566D-9DD5-3D73-B57D-5C8D4EC9C214}"/>
          </ac:spMkLst>
        </pc:spChg>
        <pc:spChg chg="add mod">
          <ac:chgData name="邦 肖" userId="38982054f6b45302" providerId="LiveId" clId="{95A0DA5A-AD6B-579F-A03E-EEED9F52BEEA}" dt="2025-09-18T07:37:26.066" v="42" actId="1076"/>
          <ac:spMkLst>
            <pc:docMk/>
            <pc:sldMk cId="0" sldId="605"/>
            <ac:spMk id="3" creationId="{DF8E8D7C-D8A2-C8A5-04B1-C6CB98A0EA0D}"/>
          </ac:spMkLst>
        </pc:spChg>
      </pc:sldChg>
      <pc:sldChg chg="addSp delSp modSp mod delAnim modAnim">
        <pc:chgData name="邦 肖" userId="38982054f6b45302" providerId="LiveId" clId="{95A0DA5A-AD6B-579F-A03E-EEED9F52BEEA}" dt="2025-09-18T07:40:12.738" v="95" actId="478"/>
        <pc:sldMkLst>
          <pc:docMk/>
          <pc:sldMk cId="0" sldId="732"/>
        </pc:sldMkLst>
        <pc:spChg chg="del">
          <ac:chgData name="邦 肖" userId="38982054f6b45302" providerId="LiveId" clId="{95A0DA5A-AD6B-579F-A03E-EEED9F52BEEA}" dt="2025-09-18T07:40:12.738" v="95" actId="478"/>
          <ac:spMkLst>
            <pc:docMk/>
            <pc:sldMk cId="0" sldId="732"/>
            <ac:spMk id="2" creationId="{264D464E-F559-6C0F-8342-5159514C0A3C}"/>
          </ac:spMkLst>
        </pc:spChg>
        <pc:spChg chg="del">
          <ac:chgData name="邦 肖" userId="38982054f6b45302" providerId="LiveId" clId="{95A0DA5A-AD6B-579F-A03E-EEED9F52BEEA}" dt="2025-09-18T07:40:12.738" v="95" actId="478"/>
          <ac:spMkLst>
            <pc:docMk/>
            <pc:sldMk cId="0" sldId="732"/>
            <ac:spMk id="3" creationId="{57226EE8-1559-1FEA-F242-596E6167B184}"/>
          </ac:spMkLst>
        </pc:spChg>
        <pc:spChg chg="del">
          <ac:chgData name="邦 肖" userId="38982054f6b45302" providerId="LiveId" clId="{95A0DA5A-AD6B-579F-A03E-EEED9F52BEEA}" dt="2025-09-18T07:40:12.738" v="95" actId="478"/>
          <ac:spMkLst>
            <pc:docMk/>
            <pc:sldMk cId="0" sldId="732"/>
            <ac:spMk id="4" creationId="{F9400C59-C7BF-69D0-8571-6F220EC84A11}"/>
          </ac:spMkLst>
        </pc:spChg>
        <pc:spChg chg="add mod">
          <ac:chgData name="邦 肖" userId="38982054f6b45302" providerId="LiveId" clId="{95A0DA5A-AD6B-579F-A03E-EEED9F52BEEA}" dt="2025-09-18T07:36:45.220" v="31" actId="1076"/>
          <ac:spMkLst>
            <pc:docMk/>
            <pc:sldMk cId="0" sldId="732"/>
            <ac:spMk id="5" creationId="{AF4B826C-CED4-7528-9544-C09DD363DD16}"/>
          </ac:spMkLst>
        </pc:spChg>
      </pc:sldChg>
      <pc:sldChg chg="addSp delSp modSp mod delAnim modAnim">
        <pc:chgData name="邦 肖" userId="38982054f6b45302" providerId="LiveId" clId="{95A0DA5A-AD6B-579F-A03E-EEED9F52BEEA}" dt="2025-09-18T07:40:09.941" v="94" actId="478"/>
        <pc:sldMkLst>
          <pc:docMk/>
          <pc:sldMk cId="0" sldId="783"/>
        </pc:sldMkLst>
        <pc:spChg chg="del">
          <ac:chgData name="邦 肖" userId="38982054f6b45302" providerId="LiveId" clId="{95A0DA5A-AD6B-579F-A03E-EEED9F52BEEA}" dt="2025-09-18T07:40:09.941" v="94" actId="478"/>
          <ac:spMkLst>
            <pc:docMk/>
            <pc:sldMk cId="0" sldId="783"/>
            <ac:spMk id="2" creationId="{163F4D44-048B-3EEE-01DD-FD9CE500094F}"/>
          </ac:spMkLst>
        </pc:spChg>
        <pc:spChg chg="add mod">
          <ac:chgData name="邦 肖" userId="38982054f6b45302" providerId="LiveId" clId="{95A0DA5A-AD6B-579F-A03E-EEED9F52BEEA}" dt="2025-09-18T07:36:51.085" v="32" actId="1076"/>
          <ac:spMkLst>
            <pc:docMk/>
            <pc:sldMk cId="0" sldId="783"/>
            <ac:spMk id="3" creationId="{D5B6BD7D-E343-5906-C52E-BD64F61DB91B}"/>
          </ac:spMkLst>
        </pc:spChg>
      </pc:sldChg>
      <pc:sldChg chg="addSp delSp modSp mod delAnim modAnim">
        <pc:chgData name="邦 肖" userId="38982054f6b45302" providerId="LiveId" clId="{95A0DA5A-AD6B-579F-A03E-EEED9F52BEEA}" dt="2025-09-18T07:39:28.178" v="74" actId="478"/>
        <pc:sldMkLst>
          <pc:docMk/>
          <pc:sldMk cId="0" sldId="799"/>
        </pc:sldMkLst>
        <pc:spChg chg="add mod">
          <ac:chgData name="邦 肖" userId="38982054f6b45302" providerId="LiveId" clId="{95A0DA5A-AD6B-579F-A03E-EEED9F52BEEA}" dt="2025-09-18T07:38:12.621" v="63" actId="1036"/>
          <ac:spMkLst>
            <pc:docMk/>
            <pc:sldMk cId="0" sldId="799"/>
            <ac:spMk id="2" creationId="{FC2C3F7E-B976-34E0-BEA0-6362070CC9D7}"/>
          </ac:spMkLst>
        </pc:spChg>
        <pc:spChg chg="del">
          <ac:chgData name="邦 肖" userId="38982054f6b45302" providerId="LiveId" clId="{95A0DA5A-AD6B-579F-A03E-EEED9F52BEEA}" dt="2025-09-18T07:39:28.178" v="74" actId="478"/>
          <ac:spMkLst>
            <pc:docMk/>
            <pc:sldMk cId="0" sldId="799"/>
            <ac:spMk id="4" creationId="{229C52B2-EA8C-CFE4-7188-7A2FB03B7DB8}"/>
          </ac:spMkLst>
        </pc:spChg>
      </pc:sldChg>
      <pc:sldChg chg="addSp delSp modSp mod delAnim modAnim">
        <pc:chgData name="邦 肖" userId="38982054f6b45302" providerId="LiveId" clId="{95A0DA5A-AD6B-579F-A03E-EEED9F52BEEA}" dt="2025-09-18T07:39:30.895" v="75" actId="478"/>
        <pc:sldMkLst>
          <pc:docMk/>
          <pc:sldMk cId="0" sldId="830"/>
        </pc:sldMkLst>
        <pc:spChg chg="del">
          <ac:chgData name="邦 肖" userId="38982054f6b45302" providerId="LiveId" clId="{95A0DA5A-AD6B-579F-A03E-EEED9F52BEEA}" dt="2025-09-18T07:39:30.895" v="75" actId="478"/>
          <ac:spMkLst>
            <pc:docMk/>
            <pc:sldMk cId="0" sldId="830"/>
            <ac:spMk id="2" creationId="{D75E5CA3-40B4-6127-174D-6382E9BEB55D}"/>
          </ac:spMkLst>
        </pc:spChg>
        <pc:spChg chg="add mod">
          <ac:chgData name="邦 肖" userId="38982054f6b45302" providerId="LiveId" clId="{95A0DA5A-AD6B-579F-A03E-EEED9F52BEEA}" dt="2025-09-18T07:38:04.218" v="55" actId="1076"/>
          <ac:spMkLst>
            <pc:docMk/>
            <pc:sldMk cId="0" sldId="830"/>
            <ac:spMk id="3" creationId="{6B7D148C-DBE9-D7A1-C087-877F6C4CBC66}"/>
          </ac:spMkLst>
        </pc:spChg>
      </pc:sldChg>
      <pc:sldChg chg="addSp delSp modSp mod delAnim modAnim">
        <pc:chgData name="邦 肖" userId="38982054f6b45302" providerId="LiveId" clId="{95A0DA5A-AD6B-579F-A03E-EEED9F52BEEA}" dt="2025-09-18T07:39:33.163" v="76" actId="478"/>
        <pc:sldMkLst>
          <pc:docMk/>
          <pc:sldMk cId="0" sldId="831"/>
        </pc:sldMkLst>
        <pc:spChg chg="del">
          <ac:chgData name="邦 肖" userId="38982054f6b45302" providerId="LiveId" clId="{95A0DA5A-AD6B-579F-A03E-EEED9F52BEEA}" dt="2025-09-18T07:39:33.163" v="76" actId="478"/>
          <ac:spMkLst>
            <pc:docMk/>
            <pc:sldMk cId="0" sldId="831"/>
            <ac:spMk id="2" creationId="{225D3217-53A4-4E15-EB5A-AC505DAB4F97}"/>
          </ac:spMkLst>
        </pc:spChg>
        <pc:spChg chg="del">
          <ac:chgData name="邦 肖" userId="38982054f6b45302" providerId="LiveId" clId="{95A0DA5A-AD6B-579F-A03E-EEED9F52BEEA}" dt="2025-09-18T07:39:33.163" v="76" actId="478"/>
          <ac:spMkLst>
            <pc:docMk/>
            <pc:sldMk cId="0" sldId="831"/>
            <ac:spMk id="3" creationId="{C98D93A4-6C08-68BB-0829-0D0A22DCC212}"/>
          </ac:spMkLst>
        </pc:spChg>
        <pc:spChg chg="add mod">
          <ac:chgData name="邦 肖" userId="38982054f6b45302" providerId="LiveId" clId="{95A0DA5A-AD6B-579F-A03E-EEED9F52BEEA}" dt="2025-09-18T07:37:58.151" v="54" actId="1076"/>
          <ac:spMkLst>
            <pc:docMk/>
            <pc:sldMk cId="0" sldId="831"/>
            <ac:spMk id="4" creationId="{A62A29D2-2395-C523-3279-35223D3E1F64}"/>
          </ac:spMkLst>
        </pc:spChg>
        <pc:spChg chg="del">
          <ac:chgData name="邦 肖" userId="38982054f6b45302" providerId="LiveId" clId="{95A0DA5A-AD6B-579F-A03E-EEED9F52BEEA}" dt="2025-09-18T07:39:33.163" v="76" actId="478"/>
          <ac:spMkLst>
            <pc:docMk/>
            <pc:sldMk cId="0" sldId="831"/>
            <ac:spMk id="5" creationId="{2C0431A8-DFDF-70E0-40ED-F987898DA473}"/>
          </ac:spMkLst>
        </pc:spChg>
      </pc:sldChg>
      <pc:sldChg chg="addSp delSp modSp mod delAnim modAnim">
        <pc:chgData name="邦 肖" userId="38982054f6b45302" providerId="LiveId" clId="{95A0DA5A-AD6B-579F-A03E-EEED9F52BEEA}" dt="2025-09-18T07:40:04.172" v="91" actId="478"/>
        <pc:sldMkLst>
          <pc:docMk/>
          <pc:sldMk cId="0" sldId="1020"/>
        </pc:sldMkLst>
        <pc:spChg chg="del">
          <ac:chgData name="邦 肖" userId="38982054f6b45302" providerId="LiveId" clId="{95A0DA5A-AD6B-579F-A03E-EEED9F52BEEA}" dt="2025-09-18T07:40:04.172" v="91" actId="478"/>
          <ac:spMkLst>
            <pc:docMk/>
            <pc:sldMk cId="0" sldId="1020"/>
            <ac:spMk id="2" creationId="{2CB3117A-0638-FFFC-C28F-99FC7FCD262D}"/>
          </ac:spMkLst>
        </pc:spChg>
        <pc:spChg chg="add mod">
          <ac:chgData name="邦 肖" userId="38982054f6b45302" providerId="LiveId" clId="{95A0DA5A-AD6B-579F-A03E-EEED9F52BEEA}" dt="2025-09-18T07:37:12.699" v="38" actId="1076"/>
          <ac:spMkLst>
            <pc:docMk/>
            <pc:sldMk cId="0" sldId="1020"/>
            <ac:spMk id="3" creationId="{03AB3E7B-86AA-1F49-95D5-3E91C377B000}"/>
          </ac:spMkLst>
        </pc:spChg>
      </pc:sldChg>
      <pc:sldChg chg="addSp delSp modSp mod delAnim modAnim">
        <pc:chgData name="邦 肖" userId="38982054f6b45302" providerId="LiveId" clId="{95A0DA5A-AD6B-579F-A03E-EEED9F52BEEA}" dt="2025-09-18T07:40:05.887" v="92" actId="478"/>
        <pc:sldMkLst>
          <pc:docMk/>
          <pc:sldMk cId="0" sldId="1034"/>
        </pc:sldMkLst>
        <pc:spChg chg="del">
          <ac:chgData name="邦 肖" userId="38982054f6b45302" providerId="LiveId" clId="{95A0DA5A-AD6B-579F-A03E-EEED9F52BEEA}" dt="2025-09-18T07:40:05.887" v="92" actId="478"/>
          <ac:spMkLst>
            <pc:docMk/>
            <pc:sldMk cId="0" sldId="1034"/>
            <ac:spMk id="2" creationId="{63BB92FD-4D23-7F6F-0EAF-EC9C078A3190}"/>
          </ac:spMkLst>
        </pc:spChg>
        <pc:spChg chg="del">
          <ac:chgData name="邦 肖" userId="38982054f6b45302" providerId="LiveId" clId="{95A0DA5A-AD6B-579F-A03E-EEED9F52BEEA}" dt="2025-09-18T07:40:05.887" v="92" actId="478"/>
          <ac:spMkLst>
            <pc:docMk/>
            <pc:sldMk cId="0" sldId="1034"/>
            <ac:spMk id="3" creationId="{6EB2B3A6-8AA6-EA69-F88D-D8323E90FDD4}"/>
          </ac:spMkLst>
        </pc:spChg>
        <pc:spChg chg="del">
          <ac:chgData name="邦 肖" userId="38982054f6b45302" providerId="LiveId" clId="{95A0DA5A-AD6B-579F-A03E-EEED9F52BEEA}" dt="2025-09-18T07:40:05.887" v="92" actId="478"/>
          <ac:spMkLst>
            <pc:docMk/>
            <pc:sldMk cId="0" sldId="1034"/>
            <ac:spMk id="4" creationId="{719BF8EB-2AC7-B123-9283-8FBC11A8A7FE}"/>
          </ac:spMkLst>
        </pc:spChg>
        <pc:spChg chg="add mod">
          <ac:chgData name="邦 肖" userId="38982054f6b45302" providerId="LiveId" clId="{95A0DA5A-AD6B-579F-A03E-EEED9F52BEEA}" dt="2025-09-18T07:37:07.938" v="37" actId="20577"/>
          <ac:spMkLst>
            <pc:docMk/>
            <pc:sldMk cId="0" sldId="1034"/>
            <ac:spMk id="5" creationId="{7AEDDC21-5A2E-2410-FE51-E516D3E91F45}"/>
          </ac:spMkLst>
        </pc:spChg>
      </pc:sldChg>
      <pc:sldChg chg="addSp delSp modSp mod delAnim modAnim">
        <pc:chgData name="邦 肖" userId="38982054f6b45302" providerId="LiveId" clId="{95A0DA5A-AD6B-579F-A03E-EEED9F52BEEA}" dt="2025-09-18T07:39:24.400" v="73" actId="478"/>
        <pc:sldMkLst>
          <pc:docMk/>
          <pc:sldMk cId="0" sldId="1066"/>
        </pc:sldMkLst>
        <pc:spChg chg="del mod">
          <ac:chgData name="邦 肖" userId="38982054f6b45302" providerId="LiveId" clId="{95A0DA5A-AD6B-579F-A03E-EEED9F52BEEA}" dt="2025-09-18T07:39:24.400" v="73" actId="478"/>
          <ac:spMkLst>
            <pc:docMk/>
            <pc:sldMk cId="0" sldId="1066"/>
            <ac:spMk id="2" creationId="{F6875D2F-7E0A-F7E0-0200-1DD1BEC22C66}"/>
          </ac:spMkLst>
        </pc:spChg>
        <pc:spChg chg="add mod">
          <ac:chgData name="邦 肖" userId="38982054f6b45302" providerId="LiveId" clId="{95A0DA5A-AD6B-579F-A03E-EEED9F52BEEA}" dt="2025-09-18T07:38:20.166" v="65" actId="20577"/>
          <ac:spMkLst>
            <pc:docMk/>
            <pc:sldMk cId="0" sldId="1066"/>
            <ac:spMk id="3" creationId="{6DCB8C29-5AE4-E44D-37CD-9BA47AF54EF7}"/>
          </ac:spMkLst>
        </pc:spChg>
      </pc:sldChg>
      <pc:sldChg chg="addSp delSp modSp mod delAnim modAnim">
        <pc:chgData name="邦 肖" userId="38982054f6b45302" providerId="LiveId" clId="{95A0DA5A-AD6B-579F-A03E-EEED9F52BEEA}" dt="2025-09-18T07:39:55.973" v="88" actId="20577"/>
        <pc:sldMkLst>
          <pc:docMk/>
          <pc:sldMk cId="0" sldId="1067"/>
        </pc:sldMkLst>
        <pc:spChg chg="del">
          <ac:chgData name="邦 肖" userId="38982054f6b45302" providerId="LiveId" clId="{95A0DA5A-AD6B-579F-A03E-EEED9F52BEEA}" dt="2025-09-18T07:39:41.997" v="78" actId="478"/>
          <ac:spMkLst>
            <pc:docMk/>
            <pc:sldMk cId="0" sldId="1067"/>
            <ac:spMk id="2" creationId="{04A27639-FCF1-FA5F-CC0F-D2B8B4B3A854}"/>
          </ac:spMkLst>
        </pc:spChg>
        <pc:spChg chg="del">
          <ac:chgData name="邦 肖" userId="38982054f6b45302" providerId="LiveId" clId="{95A0DA5A-AD6B-579F-A03E-EEED9F52BEEA}" dt="2025-09-18T07:39:41.997" v="78" actId="478"/>
          <ac:spMkLst>
            <pc:docMk/>
            <pc:sldMk cId="0" sldId="1067"/>
            <ac:spMk id="3" creationId="{D6B52D08-F10A-E782-D024-643DC0858F72}"/>
          </ac:spMkLst>
        </pc:spChg>
        <pc:spChg chg="del">
          <ac:chgData name="邦 肖" userId="38982054f6b45302" providerId="LiveId" clId="{95A0DA5A-AD6B-579F-A03E-EEED9F52BEEA}" dt="2025-09-18T07:39:41.997" v="78" actId="478"/>
          <ac:spMkLst>
            <pc:docMk/>
            <pc:sldMk cId="0" sldId="1067"/>
            <ac:spMk id="4" creationId="{763933FC-3ED0-EAE8-FA5C-B8D19A57FC8A}"/>
          </ac:spMkLst>
        </pc:spChg>
        <pc:spChg chg="add mod">
          <ac:chgData name="邦 肖" userId="38982054f6b45302" providerId="LiveId" clId="{95A0DA5A-AD6B-579F-A03E-EEED9F52BEEA}" dt="2025-09-18T07:37:32.832" v="45" actId="1076"/>
          <ac:spMkLst>
            <pc:docMk/>
            <pc:sldMk cId="0" sldId="1067"/>
            <ac:spMk id="5" creationId="{7277CB2D-43DC-8395-8886-83BA2C92B00A}"/>
          </ac:spMkLst>
        </pc:spChg>
        <pc:spChg chg="mod">
          <ac:chgData name="邦 肖" userId="38982054f6b45302" providerId="LiveId" clId="{95A0DA5A-AD6B-579F-A03E-EEED9F52BEEA}" dt="2025-09-18T07:39:55.973" v="88" actId="20577"/>
          <ac:spMkLst>
            <pc:docMk/>
            <pc:sldMk cId="0" sldId="1067"/>
            <ac:spMk id="889859" creationId="{BE4D3FD4-12A2-8ACC-2EB4-83A3815B485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7659" y="367029"/>
            <a:ext cx="490029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8680" y="1446529"/>
            <a:ext cx="7406639" cy="2341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Microsoft JhengHei"/>
                <a:cs typeface="Microsoft JhengHe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://image.baidu.com/i?ct=503316480&amp;z=0&amp;tn=baiduimagedetail&amp;word=%B1%F9%D1%A9%D4%D6%BA%A6&amp;in=13797&amp;cl=2&amp;cm=1&amp;sc=0&amp;lm=-1&amp;pn=8&amp;rn=1&amp;di=98714241&amp;ln=38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://www.p2pmovie.cn/movie/diary/cbf001diary.asp?id=19" TargetMode="Externa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http://image.baidu.com/i?ct=503316480&amp;z=0&amp;tn=baiduimagedetail&amp;word=%C3%DE%BB%A8&amp;in=20032&amp;cl=2&amp;cm=1&amp;sc=0&amp;lm=-1&amp;pn=0&amp;rn=1&amp;di=1381882616&amp;ln=2000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hyperlink" Target="http://image.baidu.com/i?ct=503316480&amp;z=0&amp;tn=baiduimagedetail&amp;word=%D2%AC%D7%D3&amp;in=11133&amp;cl=2&amp;cm=1&amp;sc=0&amp;lm=-1&amp;pn=2&amp;rn=1&amp;di=2306113460&amp;ln=2000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hyperlink" Target="http://image.baidu.com/i?ct=503316480&amp;z=0&amp;tn=baiduimagedetail&amp;word=%CC%F0%B2%CB&amp;in=25418&amp;cl=2&amp;cm=1&amp;sc=0&amp;lm=-1&amp;pn=2&amp;rn=1&amp;di=1274592056&amp;ln=2000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hyperlink" Target="http://image.baidu.com/i?ct=503316480&amp;z=0&amp;tn=baiduimagedetail&amp;word=%B6%AC%D0%A1%C2%F3&amp;in=1056&amp;cl=2&amp;cm=1&amp;sc=0&amp;lm=-1&amp;pn=33&amp;rn=1&amp;di=2630239888&amp;ln=529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hyperlink" Target="http://images.google.cn/imgres?imgurl=http%3A//wangsj.cjcu.edu.tw/Travel/20040823/DSC_9671.JPG&amp;imgrefurl=http%3A//wangsj.cjcu.edu.tw/Travel/20040823_HouHun.htm&amp;h=532&amp;w=800&amp;sz=119&amp;hl=zh-CN&amp;start=3&amp;tbnid=UgZUmIgYkOIfZM%3A&amp;tbnh=95&amp;tbnw=143&amp;prev=/images%3Fq%3D%25E9%25AB%2598%25E5%25B1%25B1%25E6%25A4%258D%25E7%2589%25A9%26gbv%3D2%26complete%3D1%26hl%3Dzh-CN%26newwindow%3D1%26sa%3D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hyperlink" Target="http://images.google.cn/imgres?imgurl=http%3A//www.oursci.org/magazine/200208/28-07.jpg&amp;imgrefurl=http%3A//www.oursci.org/magazine/200208/020828.htm&amp;h=696&amp;w=606&amp;sz=101&amp;hl=zh-CN&amp;start=13&amp;tbnid=OpZN2wL9H1Rr5M%3A&amp;tbnh=139&amp;tbnw=121&amp;prev=/images%3Fq%3D%25E9%25AB%2598%25E5%25B1%25B1%25E6%25A4%258D%25E7%2589%25A9%26gbv%3D2%26complete%3D1%26hl%3Dzh-CN%26newwindow%3D1%26sa%3DG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hyperlink" Target="http://images.google.cn/imgres?imgurl=http%3A//218.57.137.138/sdms/serverimages/smallviewpic/smallviewpic1114669284454.jpg&amp;imgrefurl=http%3A//www.rzta.gov.cn/gb/guide2/destination/view3.php%3Fcityid%3D01013701100%26id%3D0101370011201030007&amp;h=494&amp;w=500&amp;sz=177&amp;hl=zh-CN&amp;start=11&amp;tbnid=jXPEx3YNcENO-M%3A&amp;tbnh=128&amp;tbnw=130&amp;prev=/images%3Fq%3D%25E4%25B8%259C%25E5%258C%2597%25E8%2599%258E%26gbv%3D2%26complete%3D1%26hl%3Dzh-CN%26newwindow%3D1%26sa%3D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hyperlink" Target="http://images.google.cn/imgres?imgurl=http%3A//image2.sina.com.cn/IT/d/2006-03-23/U1231P2T1D875754F9DT20060323160539.jpg&amp;imgrefurl=http%3A//tech.sina.com.cn/d/2006-03-23/1605875754.shtml&amp;h=346&amp;w=500&amp;sz=38&amp;hl=zh-CN&amp;start=7&amp;tbnid=QAtBfB3OXmhD0M%3A&amp;tbnh=90&amp;tbnw=130&amp;prev=/images%3Fq%3D%25E5%258D%258E%25E5%258D%2597%25E8%2599%258E%26gbv%3D2%26complete%3D1%26hl%3Dzh-CN%26newwindow%3D1%26sa%3DG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n/imgres?imgurl=http%3A//www.tsinghuaschool-sz.com/cn/service/guide/112802.jpg&amp;imgrefurl=http%3A//www.tsinghuaschool-sz.com/cn/service/guide/guide20061128.htm&amp;h=173&amp;w=230&amp;sz=39&amp;hl=zh-CN&amp;start=14&amp;tbnid=jlGCt2t8L4lJEM%3A&amp;tbnh=81&amp;tbnw=108&amp;prev=/images%3Fq%3D%25E5%2586%25AC%25E7%259C%25A0%25E7%259A%2584%25E5%258A%25A8%25E7%2589%25A9%26gbv%3D2%26complete%3D1%26hl%3Dzh-CN%26newwindow%3D1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hyperlink" Target="http://images.google.cn/imgres?imgurl=http%3A//stuweb.whes.tpc.edu.tw/~951008/images/10.jpg&amp;imgrefurl=http%3A//stuweb.whes.tpc.edu.tw/~951008/photo.html&amp;h=452&amp;w=600&amp;sz=92&amp;hl=zh-CN&amp;start=10&amp;tbnid=W_79UYtHzFrgsM%3A&amp;tbnh=102&amp;tbnw=135&amp;prev=/images%3Fq%3D%25E5%2586%25AC%25E7%259C%25A0%25E7%259A%2584%25E5%258A%25A8%25E7%2589%25A9%26gbv%3D2%26complete%3D1%26hl%3Dzh-CN%26newwindow%3D1" TargetMode="External"/><Relationship Id="rId4" Type="http://schemas.openxmlformats.org/officeDocument/2006/relationships/image" Target="../media/image33.jp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5420" y="2997200"/>
            <a:ext cx="4895850" cy="261747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54529" y="34290"/>
            <a:ext cx="49663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6850" algn="l"/>
              </a:tabLst>
            </a:pPr>
            <a:r>
              <a:rPr spc="265" dirty="0"/>
              <a:t>第</a:t>
            </a:r>
            <a:r>
              <a:rPr spc="254" dirty="0"/>
              <a:t>二</a:t>
            </a:r>
            <a:r>
              <a:rPr spc="-50" dirty="0"/>
              <a:t>节</a:t>
            </a:r>
            <a:r>
              <a:rPr dirty="0"/>
              <a:t>	</a:t>
            </a:r>
            <a:r>
              <a:rPr spc="265" dirty="0"/>
              <a:t>生物</a:t>
            </a:r>
            <a:r>
              <a:rPr spc="254" dirty="0"/>
              <a:t>与</a:t>
            </a:r>
            <a:r>
              <a:rPr spc="265" dirty="0"/>
              <a:t>温度的关</a:t>
            </a:r>
            <a:r>
              <a:rPr spc="-50" dirty="0"/>
              <a:t>系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69" y="535940"/>
            <a:ext cx="8582660" cy="611378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1600"/>
              </a:spcBef>
              <a:tabLst>
                <a:tab pos="978535" algn="l"/>
              </a:tabLst>
            </a:pPr>
            <a:r>
              <a:rPr sz="2400" b="1" spc="-30" dirty="0">
                <a:latin typeface="Microsoft JhengHei"/>
                <a:cs typeface="Microsoft JhengHei"/>
              </a:rPr>
              <a:t>— .</a:t>
            </a:r>
            <a:r>
              <a:rPr sz="2400" b="1" dirty="0">
                <a:latin typeface="Microsoft JhengHei"/>
                <a:cs typeface="Microsoft JhengHei"/>
              </a:rPr>
              <a:t>	</a:t>
            </a:r>
            <a:r>
              <a:rPr sz="2400" b="1" spc="160" dirty="0">
                <a:latin typeface="Microsoft JhengHei"/>
                <a:cs typeface="Microsoft JhengHei"/>
              </a:rPr>
              <a:t>地球上温度的分布</a:t>
            </a:r>
            <a:endParaRPr sz="2400">
              <a:latin typeface="Microsoft JhengHei"/>
              <a:cs typeface="Microsoft JhengHei"/>
            </a:endParaRPr>
          </a:p>
          <a:p>
            <a:pPr marL="12700" marR="5080" indent="646430">
              <a:lnSpc>
                <a:spcPct val="100000"/>
              </a:lnSpc>
              <a:spcBef>
                <a:spcPts val="1500"/>
              </a:spcBef>
            </a:pPr>
            <a:r>
              <a:rPr sz="2400" b="1" spc="195" dirty="0">
                <a:latin typeface="Microsoft JhengHei"/>
                <a:cs typeface="Microsoft JhengHei"/>
              </a:rPr>
              <a:t>太阳辐射是地球表面的热源。大气温度主要取决于</a:t>
            </a:r>
            <a:r>
              <a:rPr sz="2400" b="1" spc="70" dirty="0">
                <a:solidFill>
                  <a:srgbClr val="CC3300"/>
                </a:solidFill>
                <a:latin typeface="Microsoft JhengHei"/>
                <a:cs typeface="Microsoft JhengHei"/>
              </a:rPr>
              <a:t>太阳</a:t>
            </a:r>
            <a:r>
              <a:rPr sz="2400" b="1" spc="200" dirty="0">
                <a:solidFill>
                  <a:srgbClr val="CC3300"/>
                </a:solidFill>
                <a:latin typeface="Microsoft JhengHei"/>
                <a:cs typeface="Microsoft JhengHei"/>
              </a:rPr>
              <a:t>辐射</a:t>
            </a:r>
            <a:r>
              <a:rPr sz="2400" b="1" spc="195" dirty="0">
                <a:latin typeface="Microsoft JhengHei"/>
                <a:cs typeface="Microsoft JhengHei"/>
              </a:rPr>
              <a:t>量和</a:t>
            </a:r>
            <a:r>
              <a:rPr sz="2400" b="1" spc="195" dirty="0">
                <a:solidFill>
                  <a:srgbClr val="CC3300"/>
                </a:solidFill>
                <a:latin typeface="Microsoft JhengHei"/>
                <a:cs typeface="Microsoft JhengHei"/>
              </a:rPr>
              <a:t>地球表面水陆分布</a:t>
            </a:r>
            <a:r>
              <a:rPr sz="2400" b="1" spc="-50" dirty="0">
                <a:latin typeface="Microsoft JhengHei"/>
                <a:cs typeface="Microsoft JhengHei"/>
              </a:rPr>
              <a:t>。</a:t>
            </a:r>
            <a:endParaRPr sz="2400">
              <a:latin typeface="Microsoft JhengHei"/>
              <a:cs typeface="Microsoft JhengHei"/>
            </a:endParaRPr>
          </a:p>
          <a:p>
            <a:pPr marL="114300">
              <a:lnSpc>
                <a:spcPct val="100000"/>
              </a:lnSpc>
              <a:spcBef>
                <a:spcPts val="1500"/>
              </a:spcBef>
              <a:tabLst>
                <a:tab pos="1043305" algn="l"/>
              </a:tabLst>
            </a:pPr>
            <a:r>
              <a:rPr sz="2400" b="1" dirty="0">
                <a:latin typeface="Microsoft JhengHei"/>
                <a:cs typeface="Microsoft JhengHei"/>
              </a:rPr>
              <a:t>(</a:t>
            </a:r>
            <a:r>
              <a:rPr sz="2400" b="1" spc="200" dirty="0">
                <a:latin typeface="Microsoft JhengHei"/>
                <a:cs typeface="Microsoft JhengHei"/>
              </a:rPr>
              <a:t> </a:t>
            </a:r>
            <a:r>
              <a:rPr sz="2400" b="1" dirty="0">
                <a:latin typeface="Microsoft JhengHei"/>
                <a:cs typeface="Microsoft JhengHei"/>
              </a:rPr>
              <a:t>一</a:t>
            </a:r>
            <a:r>
              <a:rPr sz="2400" b="1" spc="200" dirty="0">
                <a:latin typeface="Microsoft JhengHei"/>
                <a:cs typeface="Microsoft JhengHei"/>
              </a:rPr>
              <a:t> </a:t>
            </a:r>
            <a:r>
              <a:rPr sz="2400" b="1" spc="-60" dirty="0">
                <a:latin typeface="Microsoft JhengHei"/>
                <a:cs typeface="Microsoft JhengHei"/>
              </a:rPr>
              <a:t>)</a:t>
            </a:r>
            <a:r>
              <a:rPr sz="2400" b="1" dirty="0">
                <a:latin typeface="Microsoft JhengHei"/>
                <a:cs typeface="Microsoft JhengHei"/>
              </a:rPr>
              <a:t>	</a:t>
            </a:r>
            <a:r>
              <a:rPr sz="2400" b="1" spc="204" dirty="0">
                <a:latin typeface="Microsoft JhengHei"/>
                <a:cs typeface="Microsoft JhengHei"/>
              </a:rPr>
              <a:t>地</a:t>
            </a:r>
            <a:r>
              <a:rPr sz="2400" b="1" spc="195" dirty="0">
                <a:latin typeface="Microsoft JhengHei"/>
                <a:cs typeface="Microsoft JhengHei"/>
              </a:rPr>
              <a:t>表</a:t>
            </a:r>
            <a:r>
              <a:rPr sz="2400" b="1" spc="204" dirty="0">
                <a:latin typeface="Microsoft JhengHei"/>
                <a:cs typeface="Microsoft JhengHei"/>
              </a:rPr>
              <a:t>大</a:t>
            </a:r>
            <a:r>
              <a:rPr sz="2400" b="1" spc="195" dirty="0">
                <a:latin typeface="Microsoft JhengHei"/>
                <a:cs typeface="Microsoft JhengHei"/>
              </a:rPr>
              <a:t>气温</a:t>
            </a:r>
            <a:r>
              <a:rPr sz="2400" b="1" spc="204" dirty="0">
                <a:latin typeface="Microsoft JhengHei"/>
                <a:cs typeface="Microsoft JhengHei"/>
              </a:rPr>
              <a:t>度</a:t>
            </a:r>
            <a:r>
              <a:rPr sz="2400" b="1" spc="195" dirty="0">
                <a:latin typeface="Microsoft JhengHei"/>
                <a:cs typeface="Microsoft JhengHei"/>
              </a:rPr>
              <a:t>的分</a:t>
            </a:r>
            <a:r>
              <a:rPr sz="2400" b="1" spc="204" dirty="0">
                <a:latin typeface="Microsoft JhengHei"/>
                <a:cs typeface="Microsoft JhengHei"/>
              </a:rPr>
              <a:t>布</a:t>
            </a:r>
            <a:r>
              <a:rPr sz="2400" b="1" spc="195" dirty="0">
                <a:latin typeface="Microsoft JhengHei"/>
                <a:cs typeface="Microsoft JhengHei"/>
              </a:rPr>
              <a:t>与</a:t>
            </a:r>
            <a:r>
              <a:rPr sz="2400" b="1" spc="204" dirty="0">
                <a:latin typeface="Microsoft JhengHei"/>
                <a:cs typeface="Microsoft JhengHei"/>
              </a:rPr>
              <a:t>变</a:t>
            </a:r>
            <a:r>
              <a:rPr sz="2400" b="1" spc="-50" dirty="0">
                <a:latin typeface="Microsoft JhengHei"/>
                <a:cs typeface="Microsoft JhengHei"/>
              </a:rPr>
              <a:t>化</a:t>
            </a:r>
            <a:endParaRPr sz="2400">
              <a:latin typeface="Microsoft JhengHei"/>
              <a:cs typeface="Microsoft JhengHei"/>
            </a:endParaRPr>
          </a:p>
          <a:p>
            <a:pPr marL="262890" marR="4882515">
              <a:lnSpc>
                <a:spcPct val="100000"/>
              </a:lnSpc>
              <a:spcBef>
                <a:spcPts val="3120"/>
              </a:spcBef>
              <a:tabLst>
                <a:tab pos="3057525" algn="l"/>
              </a:tabLst>
            </a:pPr>
            <a:r>
              <a:rPr sz="2400" b="1" spc="204" dirty="0">
                <a:latin typeface="Microsoft JhengHei"/>
                <a:cs typeface="Microsoft JhengHei"/>
              </a:rPr>
              <a:t>低</a:t>
            </a:r>
            <a:r>
              <a:rPr sz="2400" b="1" spc="195" dirty="0">
                <a:latin typeface="Microsoft JhengHei"/>
                <a:cs typeface="Microsoft JhengHei"/>
              </a:rPr>
              <a:t>纬</a:t>
            </a:r>
            <a:r>
              <a:rPr sz="2400" b="1" spc="204" dirty="0">
                <a:latin typeface="Microsoft JhengHei"/>
                <a:cs typeface="Microsoft JhengHei"/>
              </a:rPr>
              <a:t>度</a:t>
            </a:r>
            <a:r>
              <a:rPr sz="2400" b="1" spc="195" dirty="0">
                <a:latin typeface="Microsoft JhengHei"/>
                <a:cs typeface="Microsoft JhengHei"/>
              </a:rPr>
              <a:t>太阳</a:t>
            </a:r>
            <a:r>
              <a:rPr sz="2400" b="1" spc="204" dirty="0">
                <a:latin typeface="Microsoft JhengHei"/>
                <a:cs typeface="Microsoft JhengHei"/>
              </a:rPr>
              <a:t>辐</a:t>
            </a:r>
            <a:r>
              <a:rPr sz="2400" b="1" spc="195" dirty="0">
                <a:latin typeface="Microsoft JhengHei"/>
                <a:cs typeface="Microsoft JhengHei"/>
              </a:rPr>
              <a:t>射</a:t>
            </a:r>
            <a:r>
              <a:rPr sz="2400" b="1" spc="204" dirty="0">
                <a:latin typeface="Microsoft JhengHei"/>
                <a:cs typeface="Microsoft JhengHei"/>
              </a:rPr>
              <a:t>量</a:t>
            </a:r>
            <a:r>
              <a:rPr sz="2400" b="1" dirty="0">
                <a:latin typeface="Microsoft JhengHei"/>
                <a:cs typeface="Microsoft JhengHei"/>
              </a:rPr>
              <a:t>大</a:t>
            </a:r>
            <a:r>
              <a:rPr sz="2400" b="1" spc="190" dirty="0">
                <a:latin typeface="Microsoft JhengHei"/>
                <a:cs typeface="Microsoft JhengHei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,</a:t>
            </a:r>
            <a:r>
              <a:rPr sz="2400" b="1" spc="204" dirty="0">
                <a:latin typeface="Microsoft JhengHei"/>
                <a:cs typeface="Microsoft JhengHei"/>
              </a:rPr>
              <a:t>气</a:t>
            </a:r>
            <a:r>
              <a:rPr sz="2400" b="1" spc="195" dirty="0">
                <a:latin typeface="Microsoft JhengHei"/>
                <a:cs typeface="Microsoft JhengHei"/>
              </a:rPr>
              <a:t>温</a:t>
            </a:r>
            <a:r>
              <a:rPr sz="2400" b="1" spc="204" dirty="0">
                <a:latin typeface="Microsoft JhengHei"/>
                <a:cs typeface="Microsoft JhengHei"/>
              </a:rPr>
              <a:t>高</a:t>
            </a:r>
            <a:r>
              <a:rPr sz="2400" b="1" spc="195" dirty="0">
                <a:latin typeface="Microsoft JhengHei"/>
                <a:cs typeface="Microsoft JhengHei"/>
              </a:rPr>
              <a:t>。随</a:t>
            </a:r>
            <a:r>
              <a:rPr sz="2400" b="1" spc="204" dirty="0">
                <a:latin typeface="Microsoft JhengHei"/>
                <a:cs typeface="Microsoft JhengHei"/>
              </a:rPr>
              <a:t>纬</a:t>
            </a:r>
            <a:r>
              <a:rPr sz="2400" b="1" spc="195" dirty="0">
                <a:latin typeface="Microsoft JhengHei"/>
                <a:cs typeface="Microsoft JhengHei"/>
              </a:rPr>
              <a:t>度</a:t>
            </a:r>
            <a:r>
              <a:rPr sz="2400" b="1" spc="204" dirty="0">
                <a:latin typeface="Microsoft JhengHei"/>
                <a:cs typeface="Microsoft JhengHei"/>
              </a:rPr>
              <a:t>增</a:t>
            </a:r>
            <a:r>
              <a:rPr sz="2400" b="1" spc="195" dirty="0">
                <a:latin typeface="Microsoft JhengHei"/>
                <a:cs typeface="Microsoft JhengHei"/>
              </a:rPr>
              <a:t>加</a:t>
            </a:r>
            <a:r>
              <a:rPr sz="2400" b="1" spc="-50" dirty="0">
                <a:latin typeface="Microsoft JhengHei"/>
                <a:cs typeface="Microsoft JhengHei"/>
              </a:rPr>
              <a:t>，</a:t>
            </a:r>
            <a:r>
              <a:rPr sz="2400" b="1" spc="204" dirty="0">
                <a:latin typeface="Microsoft JhengHei"/>
                <a:cs typeface="Microsoft JhengHei"/>
              </a:rPr>
              <a:t>太</a:t>
            </a:r>
            <a:r>
              <a:rPr sz="2400" b="1" spc="195" dirty="0">
                <a:latin typeface="Microsoft JhengHei"/>
                <a:cs typeface="Microsoft JhengHei"/>
              </a:rPr>
              <a:t>阳</a:t>
            </a:r>
            <a:r>
              <a:rPr sz="2400" b="1" spc="204" dirty="0">
                <a:latin typeface="Microsoft JhengHei"/>
                <a:cs typeface="Microsoft JhengHei"/>
              </a:rPr>
              <a:t>辐</a:t>
            </a:r>
            <a:r>
              <a:rPr sz="2400" b="1" spc="195" dirty="0">
                <a:latin typeface="Microsoft JhengHei"/>
                <a:cs typeface="Microsoft JhengHei"/>
              </a:rPr>
              <a:t>射量</a:t>
            </a:r>
            <a:r>
              <a:rPr sz="2400" b="1" spc="204" dirty="0">
                <a:latin typeface="Microsoft JhengHei"/>
                <a:cs typeface="Microsoft JhengHei"/>
              </a:rPr>
              <a:t>减</a:t>
            </a:r>
            <a:r>
              <a:rPr sz="2400" b="1" dirty="0">
                <a:latin typeface="Microsoft JhengHei"/>
                <a:cs typeface="Microsoft JhengHei"/>
              </a:rPr>
              <a:t>少</a:t>
            </a:r>
            <a:r>
              <a:rPr sz="2400" b="1" spc="190" dirty="0">
                <a:latin typeface="Microsoft JhengHei"/>
                <a:cs typeface="Microsoft JhengHei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,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195" dirty="0">
                <a:latin typeface="Microsoft JhengHei"/>
                <a:cs typeface="Microsoft JhengHei"/>
              </a:rPr>
              <a:t>（</a:t>
            </a:r>
            <a:r>
              <a:rPr sz="2400" b="1" spc="-50" dirty="0">
                <a:latin typeface="Microsoft JhengHei"/>
                <a:cs typeface="Microsoft JhengHei"/>
              </a:rPr>
              <a:t>极</a:t>
            </a:r>
            <a:r>
              <a:rPr sz="2400" b="1" spc="204" dirty="0">
                <a:latin typeface="Microsoft JhengHei"/>
                <a:cs typeface="Microsoft JhengHei"/>
              </a:rPr>
              <a:t>地</a:t>
            </a:r>
            <a:r>
              <a:rPr sz="2400" b="1" spc="195" dirty="0">
                <a:latin typeface="Microsoft JhengHei"/>
                <a:cs typeface="Microsoft JhengHei"/>
              </a:rPr>
              <a:t>只</a:t>
            </a:r>
            <a:r>
              <a:rPr sz="2400" b="1" spc="204" dirty="0">
                <a:latin typeface="Microsoft JhengHei"/>
                <a:cs typeface="Microsoft JhengHei"/>
              </a:rPr>
              <a:t>有</a:t>
            </a:r>
            <a:r>
              <a:rPr sz="2400" b="1" spc="195" dirty="0">
                <a:latin typeface="Microsoft JhengHei"/>
                <a:cs typeface="Microsoft JhengHei"/>
              </a:rPr>
              <a:t>赤道</a:t>
            </a:r>
            <a:r>
              <a:rPr sz="2400" b="1" dirty="0">
                <a:latin typeface="Microsoft JhengHei"/>
                <a:cs typeface="Microsoft JhengHei"/>
              </a:rPr>
              <a:t>的 </a:t>
            </a:r>
            <a:r>
              <a:rPr sz="2400" b="1" dirty="0">
                <a:latin typeface="Times New Roman"/>
                <a:cs typeface="Times New Roman"/>
              </a:rPr>
              <a:t>40%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70" dirty="0">
                <a:latin typeface="Microsoft JhengHei"/>
                <a:cs typeface="Microsoft JhengHei"/>
              </a:rPr>
              <a:t>），</a:t>
            </a:r>
            <a:r>
              <a:rPr sz="2400" b="1" spc="204" dirty="0">
                <a:latin typeface="Microsoft JhengHei"/>
                <a:cs typeface="Microsoft JhengHei"/>
              </a:rPr>
              <a:t>地</a:t>
            </a:r>
            <a:r>
              <a:rPr sz="2400" b="1" spc="195" dirty="0">
                <a:latin typeface="Microsoft JhengHei"/>
                <a:cs typeface="Microsoft JhengHei"/>
              </a:rPr>
              <a:t>表</a:t>
            </a:r>
            <a:r>
              <a:rPr sz="2400" b="1" spc="204" dirty="0">
                <a:latin typeface="Microsoft JhengHei"/>
                <a:cs typeface="Microsoft JhengHei"/>
              </a:rPr>
              <a:t>气</a:t>
            </a:r>
            <a:r>
              <a:rPr sz="2400" b="1" spc="195" dirty="0">
                <a:latin typeface="Microsoft JhengHei"/>
                <a:cs typeface="Microsoft JhengHei"/>
              </a:rPr>
              <a:t>温下</a:t>
            </a:r>
            <a:r>
              <a:rPr sz="2400" b="1" spc="204" dirty="0">
                <a:latin typeface="Microsoft JhengHei"/>
                <a:cs typeface="Microsoft JhengHei"/>
              </a:rPr>
              <a:t>降</a:t>
            </a:r>
            <a:r>
              <a:rPr sz="2400" b="1" spc="195" dirty="0">
                <a:latin typeface="Microsoft JhengHei"/>
                <a:cs typeface="Microsoft JhengHei"/>
              </a:rPr>
              <a:t>。</a:t>
            </a:r>
            <a:r>
              <a:rPr sz="2400" b="1" spc="204" dirty="0">
                <a:latin typeface="Microsoft JhengHei"/>
                <a:cs typeface="Microsoft JhengHei"/>
              </a:rPr>
              <a:t>大</a:t>
            </a:r>
            <a:r>
              <a:rPr sz="2400" b="1" spc="195" dirty="0">
                <a:latin typeface="Microsoft JhengHei"/>
                <a:cs typeface="Microsoft JhengHei"/>
              </a:rPr>
              <a:t>约</a:t>
            </a:r>
            <a:r>
              <a:rPr sz="2400" b="1" spc="-50" dirty="0">
                <a:latin typeface="Microsoft JhengHei"/>
                <a:cs typeface="Microsoft JhengHei"/>
              </a:rPr>
              <a:t>纬</a:t>
            </a:r>
            <a:r>
              <a:rPr sz="2400" b="1" spc="204" dirty="0">
                <a:latin typeface="Microsoft JhengHei"/>
                <a:cs typeface="Microsoft JhengHei"/>
              </a:rPr>
              <a:t>度</a:t>
            </a:r>
            <a:r>
              <a:rPr sz="2400" b="1" spc="195" dirty="0">
                <a:latin typeface="Microsoft JhengHei"/>
                <a:cs typeface="Microsoft JhengHei"/>
              </a:rPr>
              <a:t>每</a:t>
            </a:r>
            <a:r>
              <a:rPr sz="2400" b="1" spc="204" dirty="0">
                <a:latin typeface="Microsoft JhengHei"/>
                <a:cs typeface="Microsoft JhengHei"/>
              </a:rPr>
              <a:t>增</a:t>
            </a:r>
            <a:r>
              <a:rPr sz="2400" b="1" dirty="0">
                <a:latin typeface="Microsoft JhengHei"/>
                <a:cs typeface="Microsoft JhengHei"/>
              </a:rPr>
              <a:t>加 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204" dirty="0">
                <a:latin typeface="Microsoft JhengHei"/>
                <a:cs typeface="Microsoft JhengHei"/>
              </a:rPr>
              <a:t>度</a:t>
            </a:r>
            <a:r>
              <a:rPr sz="2400" b="1" spc="195" dirty="0">
                <a:latin typeface="Microsoft JhengHei"/>
                <a:cs typeface="Microsoft JhengHei"/>
              </a:rPr>
              <a:t>，年</a:t>
            </a:r>
            <a:r>
              <a:rPr sz="2400" b="1" spc="204" dirty="0">
                <a:latin typeface="Microsoft JhengHei"/>
                <a:cs typeface="Microsoft JhengHei"/>
              </a:rPr>
              <a:t>平</a:t>
            </a:r>
            <a:r>
              <a:rPr sz="2400" b="1" spc="-50" dirty="0">
                <a:latin typeface="Microsoft JhengHei"/>
                <a:cs typeface="Microsoft JhengHei"/>
              </a:rPr>
              <a:t>均</a:t>
            </a:r>
            <a:r>
              <a:rPr sz="2400" b="1" spc="204" dirty="0">
                <a:latin typeface="Microsoft JhengHei"/>
                <a:cs typeface="Microsoft JhengHei"/>
              </a:rPr>
              <a:t>温</a:t>
            </a:r>
            <a:r>
              <a:rPr sz="2400" b="1" spc="195" dirty="0">
                <a:latin typeface="Microsoft JhengHei"/>
                <a:cs typeface="Microsoft JhengHei"/>
              </a:rPr>
              <a:t>度</a:t>
            </a:r>
            <a:r>
              <a:rPr sz="2400" b="1" spc="204" dirty="0">
                <a:latin typeface="Microsoft JhengHei"/>
                <a:cs typeface="Microsoft JhengHei"/>
              </a:rPr>
              <a:t>降</a:t>
            </a:r>
            <a:r>
              <a:rPr sz="2400" b="1" dirty="0">
                <a:latin typeface="Microsoft JhengHei"/>
                <a:cs typeface="Microsoft JhengHei"/>
              </a:rPr>
              <a:t>低</a:t>
            </a:r>
            <a:r>
              <a:rPr sz="2400" b="1" spc="160" dirty="0">
                <a:latin typeface="Microsoft JhengHei"/>
                <a:cs typeface="Microsoft JhengHei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0.5℃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195" dirty="0">
                <a:latin typeface="Microsoft JhengHei"/>
                <a:cs typeface="Microsoft JhengHei"/>
              </a:rPr>
              <a:t>。因</a:t>
            </a:r>
            <a:r>
              <a:rPr sz="2400" b="1" spc="-50" dirty="0">
                <a:latin typeface="Microsoft JhengHei"/>
                <a:cs typeface="Microsoft JhengHei"/>
              </a:rPr>
              <a:t>此</a:t>
            </a:r>
            <a:endParaRPr sz="2400">
              <a:latin typeface="Microsoft JhengHei"/>
              <a:cs typeface="Microsoft JhengHei"/>
            </a:endParaRPr>
          </a:p>
          <a:p>
            <a:pPr marL="262890" marR="5032375" algn="just">
              <a:lnSpc>
                <a:spcPct val="100000"/>
              </a:lnSpc>
            </a:pPr>
            <a:r>
              <a:rPr sz="2400" b="1" spc="95" dirty="0">
                <a:latin typeface="Microsoft JhengHei"/>
                <a:cs typeface="Microsoft JhengHei"/>
              </a:rPr>
              <a:t>， 从赤道到北极形成了</a:t>
            </a:r>
            <a:r>
              <a:rPr sz="2400" b="1" spc="175" dirty="0">
                <a:latin typeface="Microsoft JhengHei"/>
                <a:cs typeface="Microsoft JhengHei"/>
              </a:rPr>
              <a:t>热带、亚热带、温带和</a:t>
            </a:r>
            <a:r>
              <a:rPr sz="2400" b="1" spc="130" dirty="0">
                <a:latin typeface="Microsoft JhengHei"/>
                <a:cs typeface="Microsoft JhengHei"/>
              </a:rPr>
              <a:t>寒带。</a:t>
            </a:r>
            <a:endParaRPr sz="24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2440" y="367029"/>
            <a:ext cx="56724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3384" algn="l"/>
              </a:tabLst>
            </a:pPr>
            <a:r>
              <a:rPr spc="-50" dirty="0">
                <a:latin typeface="Times New Roman"/>
                <a:cs typeface="Times New Roman"/>
              </a:rPr>
              <a:t>1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225" dirty="0"/>
              <a:t>影响温度空间分布的因素：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440" y="1076959"/>
            <a:ext cx="8028940" cy="5146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700">
              <a:lnSpc>
                <a:spcPct val="100000"/>
              </a:lnSpc>
              <a:spcBef>
                <a:spcPts val="100"/>
              </a:spcBef>
              <a:tabLst>
                <a:tab pos="2663825" algn="l"/>
              </a:tabLst>
            </a:pPr>
            <a:r>
              <a:rPr sz="2800" b="1" dirty="0">
                <a:latin typeface="Microsoft JhengHei"/>
                <a:cs typeface="Microsoft JhengHei"/>
              </a:rPr>
              <a:t>（</a:t>
            </a:r>
            <a:r>
              <a:rPr sz="2800" b="1" spc="190" dirty="0">
                <a:latin typeface="Microsoft JhengHei"/>
                <a:cs typeface="Microsoft JhengHei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215" dirty="0">
                <a:latin typeface="Microsoft JhengHei"/>
                <a:cs typeface="Microsoft JhengHei"/>
              </a:rPr>
              <a:t>）</a:t>
            </a:r>
            <a:r>
              <a:rPr sz="2800" b="1" spc="225" dirty="0">
                <a:latin typeface="Microsoft JhengHei"/>
                <a:cs typeface="Microsoft JhengHei"/>
              </a:rPr>
              <a:t>海</a:t>
            </a:r>
            <a:r>
              <a:rPr sz="2800" b="1" spc="215" dirty="0">
                <a:latin typeface="Microsoft JhengHei"/>
                <a:cs typeface="Microsoft JhengHei"/>
              </a:rPr>
              <a:t>洋</a:t>
            </a:r>
            <a:r>
              <a:rPr sz="2800" b="1" spc="-50" dirty="0">
                <a:latin typeface="Microsoft JhengHei"/>
                <a:cs typeface="Microsoft JhengHei"/>
              </a:rPr>
              <a:t>：</a:t>
            </a:r>
            <a:r>
              <a:rPr sz="2800" b="1" dirty="0">
                <a:latin typeface="Microsoft JhengHei"/>
                <a:cs typeface="Microsoft JhengHei"/>
              </a:rPr>
              <a:t>	</a:t>
            </a:r>
            <a:r>
              <a:rPr sz="2800" b="1" spc="215" dirty="0">
                <a:latin typeface="Microsoft JhengHei"/>
                <a:cs typeface="Microsoft JhengHei"/>
              </a:rPr>
              <a:t>由</a:t>
            </a:r>
            <a:r>
              <a:rPr sz="2800" b="1" spc="225" dirty="0">
                <a:latin typeface="Microsoft JhengHei"/>
                <a:cs typeface="Microsoft JhengHei"/>
              </a:rPr>
              <a:t>于</a:t>
            </a:r>
            <a:r>
              <a:rPr sz="2800" b="1" spc="215" dirty="0">
                <a:latin typeface="Microsoft JhengHei"/>
                <a:cs typeface="Microsoft JhengHei"/>
              </a:rPr>
              <a:t>水的</a:t>
            </a:r>
            <a:r>
              <a:rPr sz="2800" b="1" spc="225" dirty="0">
                <a:latin typeface="Microsoft JhengHei"/>
                <a:cs typeface="Microsoft JhengHei"/>
              </a:rPr>
              <a:t>比</a:t>
            </a:r>
            <a:r>
              <a:rPr sz="2800" b="1" spc="215" dirty="0">
                <a:latin typeface="Microsoft JhengHei"/>
                <a:cs typeface="Microsoft JhengHei"/>
              </a:rPr>
              <a:t>热</a:t>
            </a:r>
            <a:r>
              <a:rPr sz="2800" b="1" spc="225" dirty="0">
                <a:latin typeface="Microsoft JhengHei"/>
                <a:cs typeface="Microsoft JhengHei"/>
              </a:rPr>
              <a:t>大</a:t>
            </a:r>
            <a:r>
              <a:rPr sz="2800" b="1" spc="215" dirty="0">
                <a:latin typeface="Microsoft JhengHei"/>
                <a:cs typeface="Microsoft JhengHei"/>
              </a:rPr>
              <a:t>于空</a:t>
            </a:r>
            <a:r>
              <a:rPr sz="2800" b="1" spc="225" dirty="0">
                <a:latin typeface="Microsoft JhengHei"/>
                <a:cs typeface="Microsoft JhengHei"/>
              </a:rPr>
              <a:t>气</a:t>
            </a:r>
            <a:r>
              <a:rPr sz="2800" b="1" spc="215" dirty="0">
                <a:latin typeface="Microsoft JhengHei"/>
                <a:cs typeface="Microsoft JhengHei"/>
              </a:rPr>
              <a:t>，</a:t>
            </a:r>
            <a:r>
              <a:rPr sz="2800" b="1" spc="225" dirty="0">
                <a:latin typeface="Microsoft JhengHei"/>
                <a:cs typeface="Microsoft JhengHei"/>
              </a:rPr>
              <a:t>海</a:t>
            </a:r>
            <a:r>
              <a:rPr sz="2800" b="1" spc="215" dirty="0">
                <a:latin typeface="Microsoft JhengHei"/>
                <a:cs typeface="Microsoft JhengHei"/>
              </a:rPr>
              <a:t>洋</a:t>
            </a:r>
            <a:r>
              <a:rPr sz="2800" b="1" spc="-50" dirty="0">
                <a:latin typeface="Microsoft JhengHei"/>
                <a:cs typeface="Microsoft JhengHei"/>
              </a:rPr>
              <a:t>可</a:t>
            </a:r>
            <a:r>
              <a:rPr sz="2800" b="1" spc="215" dirty="0">
                <a:latin typeface="Microsoft JhengHei"/>
                <a:cs typeface="Microsoft JhengHei"/>
              </a:rPr>
              <a:t>调</a:t>
            </a:r>
            <a:r>
              <a:rPr sz="2800" b="1" spc="225" dirty="0">
                <a:latin typeface="Microsoft JhengHei"/>
                <a:cs typeface="Microsoft JhengHei"/>
              </a:rPr>
              <a:t>节</a:t>
            </a:r>
            <a:r>
              <a:rPr sz="2800" b="1" spc="215" dirty="0">
                <a:latin typeface="Microsoft JhengHei"/>
                <a:cs typeface="Microsoft JhengHei"/>
              </a:rPr>
              <a:t>海岸</a:t>
            </a:r>
            <a:r>
              <a:rPr sz="2800" b="1" spc="225" dirty="0">
                <a:latin typeface="Microsoft JhengHei"/>
                <a:cs typeface="Microsoft JhengHei"/>
              </a:rPr>
              <a:t>区</a:t>
            </a:r>
            <a:r>
              <a:rPr sz="2800" b="1" spc="215" dirty="0">
                <a:latin typeface="Microsoft JhengHei"/>
                <a:cs typeface="Microsoft JhengHei"/>
              </a:rPr>
              <a:t>域</a:t>
            </a:r>
            <a:r>
              <a:rPr sz="2800" b="1" spc="225" dirty="0">
                <a:latin typeface="Microsoft JhengHei"/>
                <a:cs typeface="Microsoft JhengHei"/>
              </a:rPr>
              <a:t>温</a:t>
            </a:r>
            <a:r>
              <a:rPr sz="2800" b="1" spc="215" dirty="0">
                <a:latin typeface="Microsoft JhengHei"/>
                <a:cs typeface="Microsoft JhengHei"/>
              </a:rPr>
              <a:t>度，</a:t>
            </a:r>
            <a:r>
              <a:rPr sz="2800" b="1" spc="225" dirty="0">
                <a:latin typeface="Microsoft JhengHei"/>
                <a:cs typeface="Microsoft JhengHei"/>
              </a:rPr>
              <a:t>使</a:t>
            </a:r>
            <a:r>
              <a:rPr sz="2800" b="1" spc="215" dirty="0">
                <a:latin typeface="Microsoft JhengHei"/>
                <a:cs typeface="Microsoft JhengHei"/>
              </a:rPr>
              <a:t>同</a:t>
            </a:r>
            <a:r>
              <a:rPr sz="2800" b="1" spc="225" dirty="0">
                <a:latin typeface="Microsoft JhengHei"/>
                <a:cs typeface="Microsoft JhengHei"/>
              </a:rPr>
              <a:t>一</a:t>
            </a:r>
            <a:r>
              <a:rPr sz="2800" b="1" spc="215" dirty="0">
                <a:latin typeface="Microsoft JhengHei"/>
                <a:cs typeface="Microsoft JhengHei"/>
              </a:rPr>
              <a:t>纬度</a:t>
            </a:r>
            <a:r>
              <a:rPr sz="2800" b="1" spc="225" dirty="0">
                <a:latin typeface="Microsoft JhengHei"/>
                <a:cs typeface="Microsoft JhengHei"/>
              </a:rPr>
              <a:t>不</a:t>
            </a:r>
            <a:r>
              <a:rPr sz="2800" b="1" spc="215" dirty="0">
                <a:latin typeface="Microsoft JhengHei"/>
                <a:cs typeface="Microsoft JhengHei"/>
              </a:rPr>
              <a:t>同</a:t>
            </a:r>
            <a:r>
              <a:rPr sz="2800" b="1" spc="225" dirty="0">
                <a:latin typeface="Microsoft JhengHei"/>
                <a:cs typeface="Microsoft JhengHei"/>
              </a:rPr>
              <a:t>地</a:t>
            </a:r>
            <a:r>
              <a:rPr sz="2800" b="1" spc="215" dirty="0">
                <a:latin typeface="Microsoft JhengHei"/>
                <a:cs typeface="Microsoft JhengHei"/>
              </a:rPr>
              <a:t>区的</a:t>
            </a:r>
            <a:r>
              <a:rPr sz="2800" b="1" spc="-50" dirty="0">
                <a:latin typeface="Microsoft JhengHei"/>
                <a:cs typeface="Microsoft JhengHei"/>
              </a:rPr>
              <a:t>温</a:t>
            </a:r>
            <a:r>
              <a:rPr sz="2800" b="1" spc="215" dirty="0">
                <a:latin typeface="Microsoft JhengHei"/>
                <a:cs typeface="Microsoft JhengHei"/>
              </a:rPr>
              <a:t>度</a:t>
            </a:r>
            <a:r>
              <a:rPr sz="2800" b="1" spc="225" dirty="0">
                <a:latin typeface="Microsoft JhengHei"/>
                <a:cs typeface="Microsoft JhengHei"/>
              </a:rPr>
              <a:t>有</a:t>
            </a:r>
            <a:r>
              <a:rPr sz="2800" b="1" spc="215" dirty="0">
                <a:latin typeface="Microsoft JhengHei"/>
                <a:cs typeface="Microsoft JhengHei"/>
              </a:rPr>
              <a:t>很大</a:t>
            </a:r>
            <a:r>
              <a:rPr sz="2800" b="1" spc="225" dirty="0">
                <a:latin typeface="Microsoft JhengHei"/>
                <a:cs typeface="Microsoft JhengHei"/>
              </a:rPr>
              <a:t>差</a:t>
            </a:r>
            <a:r>
              <a:rPr sz="2800" b="1" spc="215" dirty="0">
                <a:latin typeface="Microsoft JhengHei"/>
                <a:cs typeface="Microsoft JhengHei"/>
              </a:rPr>
              <a:t>异</a:t>
            </a:r>
            <a:r>
              <a:rPr sz="2800" b="1" spc="-50" dirty="0">
                <a:latin typeface="Microsoft JhengHei"/>
                <a:cs typeface="Microsoft JhengHei"/>
              </a:rPr>
              <a:t>。</a:t>
            </a:r>
            <a:endParaRPr sz="2800" dirty="0">
              <a:latin typeface="Microsoft JhengHei"/>
              <a:cs typeface="Microsoft JhengHei"/>
            </a:endParaRPr>
          </a:p>
          <a:p>
            <a:pPr marL="12700" marR="8890" indent="294640">
              <a:lnSpc>
                <a:spcPct val="100000"/>
              </a:lnSpc>
              <a:spcBef>
                <a:spcPts val="1739"/>
              </a:spcBef>
              <a:tabLst>
                <a:tab pos="3046730" algn="l"/>
              </a:tabLst>
            </a:pPr>
            <a:r>
              <a:rPr sz="2800" b="1" dirty="0">
                <a:latin typeface="Microsoft JhengHei"/>
                <a:cs typeface="Microsoft JhengHei"/>
              </a:rPr>
              <a:t>（</a:t>
            </a:r>
            <a:r>
              <a:rPr sz="2800" b="1" spc="200" dirty="0">
                <a:latin typeface="Microsoft JhengHei"/>
                <a:cs typeface="Microsoft JhengHei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225" dirty="0">
                <a:latin typeface="Microsoft JhengHei"/>
                <a:cs typeface="Microsoft JhengHei"/>
              </a:rPr>
              <a:t>）</a:t>
            </a:r>
            <a:r>
              <a:rPr sz="2800" b="1" spc="215" dirty="0">
                <a:latin typeface="Microsoft JhengHei"/>
                <a:cs typeface="Microsoft JhengHei"/>
              </a:rPr>
              <a:t>山脉</a:t>
            </a:r>
            <a:r>
              <a:rPr sz="2800" b="1" spc="-50" dirty="0">
                <a:latin typeface="Microsoft JhengHei"/>
                <a:cs typeface="Microsoft JhengHei"/>
              </a:rPr>
              <a:t>：</a:t>
            </a:r>
            <a:r>
              <a:rPr sz="2800" b="1" dirty="0">
                <a:latin typeface="Microsoft JhengHei"/>
                <a:cs typeface="Microsoft JhengHei"/>
              </a:rPr>
              <a:t>	</a:t>
            </a:r>
            <a:r>
              <a:rPr sz="2800" b="1" spc="225" dirty="0">
                <a:latin typeface="Microsoft JhengHei"/>
                <a:cs typeface="Microsoft JhengHei"/>
              </a:rPr>
              <a:t>地</a:t>
            </a:r>
            <a:r>
              <a:rPr sz="2800" b="1" spc="215" dirty="0">
                <a:latin typeface="Microsoft JhengHei"/>
                <a:cs typeface="Microsoft JhengHei"/>
              </a:rPr>
              <a:t>表</a:t>
            </a:r>
            <a:r>
              <a:rPr sz="2800" b="1" spc="225" dirty="0">
                <a:latin typeface="Microsoft JhengHei"/>
                <a:cs typeface="Microsoft JhengHei"/>
              </a:rPr>
              <a:t>温</a:t>
            </a:r>
            <a:r>
              <a:rPr sz="2800" b="1" spc="215" dirty="0">
                <a:latin typeface="Microsoft JhengHei"/>
                <a:cs typeface="Microsoft JhengHei"/>
              </a:rPr>
              <a:t>度</a:t>
            </a:r>
            <a:r>
              <a:rPr sz="2800" b="1" spc="245" dirty="0">
                <a:latin typeface="Microsoft JhengHei"/>
                <a:cs typeface="Microsoft JhengHei"/>
              </a:rPr>
              <a:t>受</a:t>
            </a:r>
            <a:r>
              <a:rPr sz="2800" b="1" spc="225" dirty="0">
                <a:solidFill>
                  <a:srgbClr val="CC3300"/>
                </a:solidFill>
                <a:latin typeface="Microsoft JhengHei"/>
                <a:cs typeface="Microsoft JhengHei"/>
              </a:rPr>
              <a:t>山</a:t>
            </a:r>
            <a:r>
              <a:rPr sz="2800" b="1" spc="215" dirty="0">
                <a:solidFill>
                  <a:srgbClr val="CC3300"/>
                </a:solidFill>
                <a:latin typeface="Microsoft JhengHei"/>
                <a:cs typeface="Microsoft JhengHei"/>
              </a:rPr>
              <a:t>脉走</a:t>
            </a:r>
            <a:r>
              <a:rPr sz="2800" b="1" spc="225" dirty="0">
                <a:solidFill>
                  <a:srgbClr val="CC3300"/>
                </a:solidFill>
                <a:latin typeface="Microsoft JhengHei"/>
                <a:cs typeface="Microsoft JhengHei"/>
              </a:rPr>
              <a:t>向</a:t>
            </a:r>
            <a:r>
              <a:rPr sz="2800" b="1" spc="215" dirty="0">
                <a:solidFill>
                  <a:srgbClr val="CC3300"/>
                </a:solidFill>
                <a:latin typeface="Microsoft JhengHei"/>
                <a:cs typeface="Microsoft JhengHei"/>
              </a:rPr>
              <a:t>、</a:t>
            </a:r>
            <a:r>
              <a:rPr sz="2800" b="1" spc="225" dirty="0">
                <a:solidFill>
                  <a:srgbClr val="CC3300"/>
                </a:solidFill>
                <a:latin typeface="Microsoft JhengHei"/>
                <a:cs typeface="Microsoft JhengHei"/>
              </a:rPr>
              <a:t>地</a:t>
            </a:r>
            <a:r>
              <a:rPr sz="2800" b="1" spc="215" dirty="0">
                <a:solidFill>
                  <a:srgbClr val="CC3300"/>
                </a:solidFill>
                <a:latin typeface="Microsoft JhengHei"/>
                <a:cs typeface="Microsoft JhengHei"/>
              </a:rPr>
              <a:t>形</a:t>
            </a:r>
            <a:r>
              <a:rPr sz="2800" b="1" spc="-50" dirty="0">
                <a:solidFill>
                  <a:srgbClr val="CC3300"/>
                </a:solidFill>
                <a:latin typeface="Microsoft JhengHei"/>
                <a:cs typeface="Microsoft JhengHei"/>
              </a:rPr>
              <a:t>变</a:t>
            </a:r>
            <a:r>
              <a:rPr sz="2800" b="1" spc="220" dirty="0">
                <a:solidFill>
                  <a:srgbClr val="CC3300"/>
                </a:solidFill>
                <a:latin typeface="Microsoft JhengHei"/>
                <a:cs typeface="Microsoft JhengHei"/>
              </a:rPr>
              <a:t>化</a:t>
            </a:r>
            <a:r>
              <a:rPr sz="2800" b="1" spc="229" dirty="0">
                <a:latin typeface="Microsoft JhengHei"/>
                <a:cs typeface="Microsoft JhengHei"/>
              </a:rPr>
              <a:t>及</a:t>
            </a:r>
            <a:r>
              <a:rPr sz="2800" b="1" spc="215" dirty="0">
                <a:solidFill>
                  <a:srgbClr val="CC3300"/>
                </a:solidFill>
                <a:latin typeface="Microsoft JhengHei"/>
                <a:cs typeface="Microsoft JhengHei"/>
              </a:rPr>
              <a:t>海</a:t>
            </a:r>
            <a:r>
              <a:rPr sz="2800" b="1" spc="225" dirty="0">
                <a:solidFill>
                  <a:srgbClr val="CC3300"/>
                </a:solidFill>
                <a:latin typeface="Microsoft JhengHei"/>
                <a:cs typeface="Microsoft JhengHei"/>
              </a:rPr>
              <a:t>拔</a:t>
            </a:r>
            <a:r>
              <a:rPr sz="2800" b="1" spc="215" dirty="0">
                <a:solidFill>
                  <a:srgbClr val="CC3300"/>
                </a:solidFill>
                <a:latin typeface="Microsoft JhengHei"/>
                <a:cs typeface="Microsoft JhengHei"/>
              </a:rPr>
              <a:t>高</a:t>
            </a:r>
            <a:r>
              <a:rPr sz="2800" b="1" spc="225" dirty="0">
                <a:solidFill>
                  <a:srgbClr val="CC3300"/>
                </a:solidFill>
                <a:latin typeface="Microsoft JhengHei"/>
                <a:cs typeface="Microsoft JhengHei"/>
              </a:rPr>
              <a:t>度</a:t>
            </a:r>
            <a:r>
              <a:rPr sz="2800" b="1" spc="225" dirty="0">
                <a:latin typeface="Microsoft JhengHei"/>
                <a:cs typeface="Microsoft JhengHei"/>
              </a:rPr>
              <a:t>的</a:t>
            </a:r>
            <a:r>
              <a:rPr sz="2800" b="1" spc="215" dirty="0">
                <a:latin typeface="Microsoft JhengHei"/>
                <a:cs typeface="Microsoft JhengHei"/>
              </a:rPr>
              <a:t>影响</a:t>
            </a:r>
            <a:r>
              <a:rPr sz="2800" b="1" spc="-50" dirty="0">
                <a:latin typeface="Microsoft JhengHei"/>
                <a:cs typeface="Microsoft JhengHei"/>
              </a:rPr>
              <a:t>。</a:t>
            </a:r>
            <a:endParaRPr sz="2800" dirty="0">
              <a:latin typeface="Microsoft JhengHei"/>
              <a:cs typeface="Microsoft JhengHei"/>
            </a:endParaRPr>
          </a:p>
          <a:p>
            <a:pPr marL="12700" marR="103505">
              <a:lnSpc>
                <a:spcPct val="100000"/>
              </a:lnSpc>
              <a:spcBef>
                <a:spcPts val="1500"/>
              </a:spcBef>
            </a:pPr>
            <a:r>
              <a:rPr sz="2400" b="1" spc="200" dirty="0">
                <a:solidFill>
                  <a:srgbClr val="CC3300"/>
                </a:solidFill>
                <a:latin typeface="Microsoft JhengHei"/>
                <a:cs typeface="Microsoft JhengHei"/>
              </a:rPr>
              <a:t>东西走向</a:t>
            </a:r>
            <a:r>
              <a:rPr sz="2400" b="1" spc="135" dirty="0">
                <a:latin typeface="Microsoft JhengHei"/>
                <a:cs typeface="Microsoft JhengHei"/>
              </a:rPr>
              <a:t>的山脉，对南北暖冷气流常具阻挡作用， 使山</a:t>
            </a:r>
            <a:r>
              <a:rPr sz="2400" b="1" spc="175" dirty="0">
                <a:latin typeface="Microsoft JhengHei"/>
                <a:cs typeface="Microsoft JhengHei"/>
              </a:rPr>
              <a:t>坡两侧温度明显不同。如秦岭山脉。</a:t>
            </a:r>
            <a:endParaRPr sz="2400" dirty="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1500"/>
              </a:spcBef>
              <a:tabLst>
                <a:tab pos="2955925" algn="l"/>
                <a:tab pos="5018405" algn="l"/>
                <a:tab pos="7379334" algn="l"/>
              </a:tabLst>
            </a:pPr>
            <a:r>
              <a:rPr sz="2400" b="1" spc="195" dirty="0">
                <a:solidFill>
                  <a:srgbClr val="CC3300"/>
                </a:solidFill>
                <a:latin typeface="Microsoft JhengHei"/>
                <a:cs typeface="Microsoft JhengHei"/>
              </a:rPr>
              <a:t>封</a:t>
            </a:r>
            <a:r>
              <a:rPr sz="2400" b="1" spc="204" dirty="0">
                <a:solidFill>
                  <a:srgbClr val="CC3300"/>
                </a:solidFill>
                <a:latin typeface="Microsoft JhengHei"/>
                <a:cs typeface="Microsoft JhengHei"/>
              </a:rPr>
              <a:t>闭</a:t>
            </a:r>
            <a:r>
              <a:rPr sz="2400" b="1" spc="195" dirty="0">
                <a:solidFill>
                  <a:srgbClr val="CC3300"/>
                </a:solidFill>
                <a:latin typeface="Microsoft JhengHei"/>
                <a:cs typeface="Microsoft JhengHei"/>
              </a:rPr>
              <a:t>山</a:t>
            </a:r>
            <a:r>
              <a:rPr sz="2400" b="1" spc="204" dirty="0">
                <a:solidFill>
                  <a:srgbClr val="CC3300"/>
                </a:solidFill>
                <a:latin typeface="Microsoft JhengHei"/>
                <a:cs typeface="Microsoft JhengHei"/>
              </a:rPr>
              <a:t>谷</a:t>
            </a:r>
            <a:r>
              <a:rPr sz="2400" b="1" spc="195" dirty="0">
                <a:solidFill>
                  <a:srgbClr val="CC3300"/>
                </a:solidFill>
                <a:latin typeface="Microsoft JhengHei"/>
                <a:cs typeface="Microsoft JhengHei"/>
              </a:rPr>
              <a:t>与盆</a:t>
            </a:r>
            <a:r>
              <a:rPr sz="2400" b="1" spc="225" dirty="0">
                <a:solidFill>
                  <a:srgbClr val="CC3300"/>
                </a:solidFill>
                <a:latin typeface="Microsoft JhengHei"/>
                <a:cs typeface="Microsoft JhengHei"/>
              </a:rPr>
              <a:t>地</a:t>
            </a:r>
            <a:r>
              <a:rPr sz="2400" b="1" spc="195" dirty="0">
                <a:latin typeface="Microsoft JhengHei"/>
                <a:cs typeface="Microsoft JhengHei"/>
              </a:rPr>
              <a:t>，白</a:t>
            </a:r>
            <a:r>
              <a:rPr sz="2400" b="1" spc="204" dirty="0">
                <a:latin typeface="Microsoft JhengHei"/>
                <a:cs typeface="Microsoft JhengHei"/>
              </a:rPr>
              <a:t>天</a:t>
            </a:r>
            <a:r>
              <a:rPr sz="2400" b="1" spc="195" dirty="0">
                <a:latin typeface="Microsoft JhengHei"/>
                <a:cs typeface="Microsoft JhengHei"/>
              </a:rPr>
              <a:t>受热</a:t>
            </a:r>
            <a:r>
              <a:rPr sz="2400" b="1" spc="204" dirty="0">
                <a:latin typeface="Microsoft JhengHei"/>
                <a:cs typeface="Microsoft JhengHei"/>
              </a:rPr>
              <a:t>强</a:t>
            </a:r>
            <a:r>
              <a:rPr sz="2400" b="1" dirty="0">
                <a:latin typeface="Microsoft JhengHei"/>
                <a:cs typeface="Microsoft JhengHei"/>
              </a:rPr>
              <a:t>烈</a:t>
            </a:r>
            <a:r>
              <a:rPr sz="2400" b="1" spc="195" dirty="0">
                <a:latin typeface="Microsoft JhengHei"/>
                <a:cs typeface="Microsoft JhengHei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,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204" dirty="0">
                <a:latin typeface="Microsoft JhengHei"/>
                <a:cs typeface="Microsoft JhengHei"/>
              </a:rPr>
              <a:t>地</a:t>
            </a:r>
            <a:r>
              <a:rPr sz="2400" b="1" spc="195" dirty="0">
                <a:latin typeface="Microsoft JhengHei"/>
                <a:cs typeface="Microsoft JhengHei"/>
              </a:rPr>
              <a:t>面温</a:t>
            </a:r>
            <a:r>
              <a:rPr sz="2400" b="1" spc="204" dirty="0">
                <a:latin typeface="Microsoft JhengHei"/>
                <a:cs typeface="Microsoft JhengHei"/>
              </a:rPr>
              <a:t>度</a:t>
            </a:r>
            <a:r>
              <a:rPr sz="2400" b="1" spc="195" dirty="0">
                <a:latin typeface="Microsoft JhengHei"/>
                <a:cs typeface="Microsoft JhengHei"/>
              </a:rPr>
              <a:t>增</a:t>
            </a:r>
            <a:r>
              <a:rPr sz="2400" b="1" dirty="0">
                <a:latin typeface="Microsoft JhengHei"/>
                <a:cs typeface="Microsoft JhengHei"/>
              </a:rPr>
              <a:t>高</a:t>
            </a:r>
            <a:r>
              <a:rPr sz="2400" b="1" spc="190" dirty="0">
                <a:latin typeface="Microsoft JhengHei"/>
                <a:cs typeface="Microsoft JhengHei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,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204" dirty="0">
                <a:latin typeface="Microsoft JhengHei"/>
                <a:cs typeface="Microsoft JhengHei"/>
              </a:rPr>
              <a:t>夜</a:t>
            </a:r>
            <a:r>
              <a:rPr sz="2400" b="1" spc="-50" dirty="0">
                <a:latin typeface="Microsoft JhengHei"/>
                <a:cs typeface="Microsoft JhengHei"/>
              </a:rPr>
              <a:t>晚</a:t>
            </a:r>
            <a:r>
              <a:rPr sz="2400" b="1" spc="195" dirty="0">
                <a:latin typeface="Microsoft JhengHei"/>
                <a:cs typeface="Microsoft JhengHei"/>
              </a:rPr>
              <a:t>冷</a:t>
            </a:r>
            <a:r>
              <a:rPr sz="2400" b="1" spc="204" dirty="0">
                <a:latin typeface="Microsoft JhengHei"/>
                <a:cs typeface="Microsoft JhengHei"/>
              </a:rPr>
              <a:t>空</a:t>
            </a:r>
            <a:r>
              <a:rPr sz="2400" b="1" spc="195" dirty="0">
                <a:latin typeface="Microsoft JhengHei"/>
                <a:cs typeface="Microsoft JhengHei"/>
              </a:rPr>
              <a:t>气</a:t>
            </a:r>
            <a:r>
              <a:rPr sz="2400" b="1" spc="204" dirty="0">
                <a:latin typeface="Microsoft JhengHei"/>
                <a:cs typeface="Microsoft JhengHei"/>
              </a:rPr>
              <a:t>沿</a:t>
            </a:r>
            <a:r>
              <a:rPr sz="2400" b="1" spc="195" dirty="0">
                <a:latin typeface="Microsoft JhengHei"/>
                <a:cs typeface="Microsoft JhengHei"/>
              </a:rPr>
              <a:t>山坡</a:t>
            </a:r>
            <a:r>
              <a:rPr sz="2400" b="1" spc="204" dirty="0">
                <a:latin typeface="Microsoft JhengHei"/>
                <a:cs typeface="Microsoft JhengHei"/>
              </a:rPr>
              <a:t>下</a:t>
            </a:r>
            <a:r>
              <a:rPr sz="2400" b="1" dirty="0">
                <a:latin typeface="Microsoft JhengHei"/>
                <a:cs typeface="Microsoft JhengHei"/>
              </a:rPr>
              <a:t>沉</a:t>
            </a:r>
            <a:r>
              <a:rPr sz="2400" b="1" spc="195" dirty="0">
                <a:latin typeface="Microsoft JhengHei"/>
                <a:cs typeface="Microsoft JhengHei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,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204" dirty="0">
                <a:latin typeface="Microsoft JhengHei"/>
                <a:cs typeface="Microsoft JhengHei"/>
              </a:rPr>
              <a:t>形</a:t>
            </a:r>
            <a:r>
              <a:rPr sz="2400" b="1" spc="195" dirty="0">
                <a:latin typeface="Microsoft JhengHei"/>
                <a:cs typeface="Microsoft JhengHei"/>
              </a:rPr>
              <a:t>成逆</a:t>
            </a:r>
            <a:r>
              <a:rPr sz="2400" b="1" spc="204" dirty="0">
                <a:latin typeface="Microsoft JhengHei"/>
                <a:cs typeface="Microsoft JhengHei"/>
              </a:rPr>
              <a:t>温</a:t>
            </a:r>
            <a:r>
              <a:rPr sz="2400" b="1" spc="195" dirty="0">
                <a:latin typeface="Microsoft JhengHei"/>
                <a:cs typeface="Microsoft JhengHei"/>
              </a:rPr>
              <a:t>现象</a:t>
            </a:r>
            <a:r>
              <a:rPr sz="2400" b="1" spc="204" dirty="0">
                <a:latin typeface="Microsoft JhengHei"/>
                <a:cs typeface="Microsoft JhengHei"/>
              </a:rPr>
              <a:t>。</a:t>
            </a:r>
            <a:r>
              <a:rPr sz="2400" b="1" spc="195" dirty="0">
                <a:latin typeface="Microsoft JhengHei"/>
                <a:cs typeface="Microsoft JhengHei"/>
              </a:rPr>
              <a:t>昼</a:t>
            </a:r>
            <a:r>
              <a:rPr sz="2400" b="1" spc="204" dirty="0">
                <a:latin typeface="Microsoft JhengHei"/>
                <a:cs typeface="Microsoft JhengHei"/>
              </a:rPr>
              <a:t>夜</a:t>
            </a:r>
            <a:r>
              <a:rPr sz="2400" b="1" spc="195" dirty="0">
                <a:latin typeface="Microsoft JhengHei"/>
                <a:cs typeface="Microsoft JhengHei"/>
              </a:rPr>
              <a:t>温差</a:t>
            </a:r>
            <a:r>
              <a:rPr sz="2400" b="1" spc="204" dirty="0">
                <a:latin typeface="Microsoft JhengHei"/>
                <a:cs typeface="Microsoft JhengHei"/>
              </a:rPr>
              <a:t>极</a:t>
            </a:r>
            <a:r>
              <a:rPr sz="2400" b="1" spc="195" dirty="0">
                <a:latin typeface="Microsoft JhengHei"/>
                <a:cs typeface="Microsoft JhengHei"/>
              </a:rPr>
              <a:t>大</a:t>
            </a:r>
            <a:r>
              <a:rPr sz="2400" b="1" spc="-50" dirty="0">
                <a:latin typeface="Microsoft JhengHei"/>
                <a:cs typeface="Microsoft JhengHei"/>
              </a:rPr>
              <a:t>。</a:t>
            </a:r>
            <a:endParaRPr sz="2400" dirty="0">
              <a:latin typeface="Microsoft JhengHei"/>
              <a:cs typeface="Microsoft JhengHei"/>
            </a:endParaRPr>
          </a:p>
          <a:p>
            <a:pPr marL="12700" marR="202565">
              <a:lnSpc>
                <a:spcPct val="100000"/>
              </a:lnSpc>
              <a:spcBef>
                <a:spcPts val="1500"/>
              </a:spcBef>
              <a:tabLst>
                <a:tab pos="2165985" algn="l"/>
                <a:tab pos="5541645" algn="l"/>
              </a:tabLst>
            </a:pPr>
            <a:r>
              <a:rPr sz="2400" b="1" spc="195" dirty="0">
                <a:solidFill>
                  <a:srgbClr val="CC3300"/>
                </a:solidFill>
                <a:latin typeface="Microsoft JhengHei"/>
                <a:cs typeface="Microsoft JhengHei"/>
              </a:rPr>
              <a:t>气</a:t>
            </a:r>
            <a:r>
              <a:rPr sz="2400" b="1" spc="204" dirty="0">
                <a:solidFill>
                  <a:srgbClr val="CC3300"/>
                </a:solidFill>
                <a:latin typeface="Microsoft JhengHei"/>
                <a:cs typeface="Microsoft JhengHei"/>
              </a:rPr>
              <a:t>温</a:t>
            </a:r>
            <a:r>
              <a:rPr sz="2400" b="1" spc="195" dirty="0">
                <a:solidFill>
                  <a:srgbClr val="CC3300"/>
                </a:solidFill>
                <a:latin typeface="Microsoft JhengHei"/>
                <a:cs typeface="Microsoft JhengHei"/>
              </a:rPr>
              <a:t>随</a:t>
            </a:r>
            <a:r>
              <a:rPr sz="2400" b="1" spc="204" dirty="0">
                <a:solidFill>
                  <a:srgbClr val="CC3300"/>
                </a:solidFill>
                <a:latin typeface="Microsoft JhengHei"/>
                <a:cs typeface="Microsoft JhengHei"/>
              </a:rPr>
              <a:t>海</a:t>
            </a:r>
            <a:r>
              <a:rPr sz="2400" b="1" spc="195" dirty="0">
                <a:solidFill>
                  <a:srgbClr val="CC3300"/>
                </a:solidFill>
                <a:latin typeface="Microsoft JhengHei"/>
                <a:cs typeface="Microsoft JhengHei"/>
              </a:rPr>
              <a:t>拔升</a:t>
            </a:r>
            <a:r>
              <a:rPr sz="2400" b="1" spc="204" dirty="0">
                <a:solidFill>
                  <a:srgbClr val="CC3300"/>
                </a:solidFill>
                <a:latin typeface="Microsoft JhengHei"/>
                <a:cs typeface="Microsoft JhengHei"/>
              </a:rPr>
              <a:t>高</a:t>
            </a:r>
            <a:r>
              <a:rPr sz="2400" b="1" spc="195" dirty="0">
                <a:solidFill>
                  <a:srgbClr val="CC3300"/>
                </a:solidFill>
                <a:latin typeface="Microsoft JhengHei"/>
                <a:cs typeface="Microsoft JhengHei"/>
              </a:rPr>
              <a:t>而</a:t>
            </a:r>
            <a:r>
              <a:rPr sz="2400" b="1" spc="204" dirty="0">
                <a:solidFill>
                  <a:srgbClr val="CC3300"/>
                </a:solidFill>
                <a:latin typeface="Microsoft JhengHei"/>
                <a:cs typeface="Microsoft JhengHei"/>
              </a:rPr>
              <a:t>降</a:t>
            </a:r>
            <a:r>
              <a:rPr sz="2400" b="1" spc="220" dirty="0">
                <a:solidFill>
                  <a:srgbClr val="CC3300"/>
                </a:solidFill>
                <a:latin typeface="Microsoft JhengHei"/>
                <a:cs typeface="Microsoft JhengHei"/>
              </a:rPr>
              <a:t>低</a:t>
            </a:r>
            <a:r>
              <a:rPr sz="2400" b="1" spc="195" dirty="0">
                <a:latin typeface="Microsoft JhengHei"/>
                <a:cs typeface="Microsoft JhengHei"/>
              </a:rPr>
              <a:t>，在</a:t>
            </a:r>
            <a:r>
              <a:rPr sz="2400" b="1" spc="204" dirty="0">
                <a:latin typeface="Microsoft JhengHei"/>
                <a:cs typeface="Microsoft JhengHei"/>
              </a:rPr>
              <a:t>干</a:t>
            </a:r>
            <a:r>
              <a:rPr sz="2400" b="1" spc="195" dirty="0">
                <a:latin typeface="Microsoft JhengHei"/>
                <a:cs typeface="Microsoft JhengHei"/>
              </a:rPr>
              <a:t>燥</a:t>
            </a:r>
            <a:r>
              <a:rPr sz="2400" b="1" spc="204" dirty="0">
                <a:latin typeface="Microsoft JhengHei"/>
                <a:cs typeface="Microsoft JhengHei"/>
              </a:rPr>
              <a:t>空</a:t>
            </a:r>
            <a:r>
              <a:rPr sz="2400" b="1" spc="195" dirty="0">
                <a:latin typeface="Microsoft JhengHei"/>
                <a:cs typeface="Microsoft JhengHei"/>
              </a:rPr>
              <a:t>气中</a:t>
            </a:r>
            <a:r>
              <a:rPr sz="2400" b="1" spc="204" dirty="0">
                <a:latin typeface="Microsoft JhengHei"/>
                <a:cs typeface="Microsoft JhengHei"/>
              </a:rPr>
              <a:t>海</a:t>
            </a:r>
            <a:r>
              <a:rPr sz="2400" b="1" spc="195" dirty="0">
                <a:latin typeface="Microsoft JhengHei"/>
                <a:cs typeface="Microsoft JhengHei"/>
              </a:rPr>
              <a:t>拔</a:t>
            </a:r>
            <a:r>
              <a:rPr sz="2400" b="1" spc="204" dirty="0">
                <a:latin typeface="Microsoft JhengHei"/>
                <a:cs typeface="Microsoft JhengHei"/>
              </a:rPr>
              <a:t>每</a:t>
            </a:r>
            <a:r>
              <a:rPr sz="2400" b="1" spc="195" dirty="0">
                <a:latin typeface="Microsoft JhengHei"/>
                <a:cs typeface="Microsoft JhengHei"/>
              </a:rPr>
              <a:t>升</a:t>
            </a:r>
            <a:r>
              <a:rPr sz="2400" b="1" dirty="0">
                <a:latin typeface="Microsoft JhengHei"/>
                <a:cs typeface="Microsoft JhengHei"/>
              </a:rPr>
              <a:t>高</a:t>
            </a:r>
            <a:r>
              <a:rPr sz="2400" b="1" spc="204" dirty="0">
                <a:latin typeface="Microsoft JhengHei"/>
                <a:cs typeface="Microsoft JhengHei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100 </a:t>
            </a:r>
            <a:r>
              <a:rPr sz="2400" b="1" dirty="0">
                <a:latin typeface="Times New Roman"/>
                <a:cs typeface="Times New Roman"/>
              </a:rPr>
              <a:t>m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spc="195" dirty="0">
                <a:latin typeface="Microsoft JhengHei"/>
                <a:cs typeface="Microsoft JhengHei"/>
              </a:rPr>
              <a:t>，气</a:t>
            </a:r>
            <a:r>
              <a:rPr sz="2400" b="1" spc="204" dirty="0">
                <a:latin typeface="Microsoft JhengHei"/>
                <a:cs typeface="Microsoft JhengHei"/>
              </a:rPr>
              <a:t>温</a:t>
            </a:r>
            <a:r>
              <a:rPr sz="2400" b="1" spc="195" dirty="0">
                <a:latin typeface="Microsoft JhengHei"/>
                <a:cs typeface="Microsoft JhengHei"/>
              </a:rPr>
              <a:t>下</a:t>
            </a:r>
            <a:r>
              <a:rPr sz="2400" b="1" spc="-50" dirty="0">
                <a:latin typeface="Microsoft JhengHei"/>
                <a:cs typeface="Microsoft JhengHei"/>
              </a:rPr>
              <a:t>降</a:t>
            </a:r>
            <a:r>
              <a:rPr sz="2400" b="1" dirty="0">
                <a:latin typeface="Microsoft JhengHei"/>
                <a:cs typeface="Microsoft JhengHei"/>
              </a:rPr>
              <a:t>	</a:t>
            </a:r>
            <a:r>
              <a:rPr sz="2400" b="1" dirty="0">
                <a:latin typeface="Times New Roman"/>
                <a:cs typeface="Times New Roman"/>
              </a:rPr>
              <a:t>1℃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Microsoft JhengHei"/>
                <a:cs typeface="Microsoft JhengHei"/>
              </a:rPr>
              <a:t>，</a:t>
            </a:r>
            <a:r>
              <a:rPr sz="2400" b="1" spc="-395" dirty="0">
                <a:latin typeface="Microsoft JhengHei"/>
                <a:cs typeface="Microsoft JhengHei"/>
              </a:rPr>
              <a:t> </a:t>
            </a:r>
            <a:r>
              <a:rPr sz="2400" b="1" spc="195" dirty="0">
                <a:latin typeface="Microsoft JhengHei"/>
                <a:cs typeface="Microsoft JhengHei"/>
              </a:rPr>
              <a:t>潮</a:t>
            </a:r>
            <a:r>
              <a:rPr sz="2400" b="1" spc="204" dirty="0">
                <a:latin typeface="Microsoft JhengHei"/>
                <a:cs typeface="Microsoft JhengHei"/>
              </a:rPr>
              <a:t>湿</a:t>
            </a:r>
            <a:r>
              <a:rPr sz="2400" b="1" spc="195" dirty="0">
                <a:latin typeface="Microsoft JhengHei"/>
                <a:cs typeface="Microsoft JhengHei"/>
              </a:rPr>
              <a:t>空气</a:t>
            </a:r>
            <a:r>
              <a:rPr sz="2400" b="1" spc="204" dirty="0">
                <a:latin typeface="Microsoft JhengHei"/>
                <a:cs typeface="Microsoft JhengHei"/>
              </a:rPr>
              <a:t>中</a:t>
            </a:r>
            <a:r>
              <a:rPr sz="2400" b="1" spc="195" dirty="0">
                <a:latin typeface="Microsoft JhengHei"/>
                <a:cs typeface="Microsoft JhengHei"/>
              </a:rPr>
              <a:t>下</a:t>
            </a:r>
            <a:r>
              <a:rPr sz="2400" b="1" spc="-50" dirty="0">
                <a:latin typeface="Microsoft JhengHei"/>
                <a:cs typeface="Microsoft JhengHei"/>
              </a:rPr>
              <a:t>降</a:t>
            </a:r>
            <a:r>
              <a:rPr sz="2400" b="1" dirty="0">
                <a:latin typeface="Microsoft JhengHei"/>
                <a:cs typeface="Microsoft JhengHei"/>
              </a:rPr>
              <a:t>	</a:t>
            </a:r>
            <a:r>
              <a:rPr sz="2400" b="1" dirty="0">
                <a:latin typeface="Times New Roman"/>
                <a:cs typeface="Times New Roman"/>
              </a:rPr>
              <a:t>0.6℃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Microsoft JhengHei"/>
                <a:cs typeface="Microsoft JhengHei"/>
              </a:rPr>
              <a:t>。</a:t>
            </a:r>
            <a:endParaRPr sz="2400" dirty="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6100" y="367029"/>
            <a:ext cx="357441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255" algn="l"/>
              </a:tabLst>
            </a:pPr>
            <a:r>
              <a:rPr spc="-50" dirty="0">
                <a:latin typeface="Times New Roman"/>
                <a:cs typeface="Times New Roman"/>
              </a:rPr>
              <a:t>2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210" dirty="0"/>
              <a:t>温度的时间变化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440" y="1153159"/>
            <a:ext cx="8514715" cy="4602480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sz="2800" b="1" spc="215" dirty="0">
                <a:latin typeface="Microsoft JhengHei"/>
                <a:cs typeface="Microsoft JhengHei"/>
              </a:rPr>
              <a:t>温度的时间变化指日变化和年变化</a:t>
            </a:r>
            <a:r>
              <a:rPr sz="2400" b="1" spc="-50" dirty="0">
                <a:latin typeface="Microsoft JhengHei"/>
                <a:cs typeface="Microsoft JhengHei"/>
              </a:rPr>
              <a:t>。</a:t>
            </a:r>
            <a:endParaRPr sz="2400">
              <a:latin typeface="Microsoft JhengHei"/>
              <a:cs typeface="Microsoft JhengHei"/>
            </a:endParaRPr>
          </a:p>
          <a:p>
            <a:pPr marL="12700" marR="617220">
              <a:lnSpc>
                <a:spcPct val="99900"/>
              </a:lnSpc>
              <a:spcBef>
                <a:spcPts val="1750"/>
              </a:spcBef>
            </a:pPr>
            <a:r>
              <a:rPr sz="2800" b="1" spc="140" dirty="0">
                <a:latin typeface="Microsoft JhengHei"/>
                <a:cs typeface="Microsoft JhengHei"/>
              </a:rPr>
              <a:t>日变化：于 </a:t>
            </a:r>
            <a:r>
              <a:rPr sz="2800" b="1" spc="-20" dirty="0">
                <a:latin typeface="Times New Roman"/>
                <a:cs typeface="Times New Roman"/>
              </a:rPr>
              <a:t>13-</a:t>
            </a:r>
            <a:r>
              <a:rPr sz="2800" b="1" dirty="0">
                <a:latin typeface="Times New Roman"/>
                <a:cs typeface="Times New Roman"/>
              </a:rPr>
              <a:t>14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190" dirty="0">
                <a:latin typeface="Microsoft JhengHei"/>
                <a:cs typeface="Microsoft JhengHei"/>
              </a:rPr>
              <a:t>时气温达到最高，于凌晨日出</a:t>
            </a:r>
            <a:r>
              <a:rPr sz="2800" b="1" spc="215" dirty="0">
                <a:latin typeface="Microsoft JhengHei"/>
                <a:cs typeface="Microsoft JhengHei"/>
              </a:rPr>
              <a:t>前降至最低。最高和最低气温之差称</a:t>
            </a:r>
            <a:r>
              <a:rPr sz="2800" b="1" spc="220" dirty="0">
                <a:solidFill>
                  <a:srgbClr val="CC3300"/>
                </a:solidFill>
                <a:latin typeface="Microsoft JhengHei"/>
                <a:cs typeface="Microsoft JhengHei"/>
              </a:rPr>
              <a:t>日较差</a:t>
            </a:r>
            <a:r>
              <a:rPr sz="2800" b="1" spc="-50" dirty="0">
                <a:latin typeface="Microsoft JhengHei"/>
                <a:cs typeface="Microsoft JhengHei"/>
              </a:rPr>
              <a:t>。</a:t>
            </a:r>
            <a:r>
              <a:rPr sz="2800" b="1" spc="200" dirty="0">
                <a:latin typeface="Microsoft JhengHei"/>
                <a:cs typeface="Microsoft JhengHei"/>
              </a:rPr>
              <a:t>日较差受纬度、海拔高度、地形、及地面性质</a:t>
            </a:r>
            <a:r>
              <a:rPr sz="2800" b="1" spc="170" dirty="0">
                <a:latin typeface="Microsoft JhengHei"/>
                <a:cs typeface="Microsoft JhengHei"/>
              </a:rPr>
              <a:t>等因素影响。</a:t>
            </a:r>
            <a:endParaRPr sz="2800">
              <a:latin typeface="Microsoft JhengHei"/>
              <a:cs typeface="Microsoft JhengHei"/>
            </a:endParaRPr>
          </a:p>
          <a:p>
            <a:pPr marL="84455">
              <a:lnSpc>
                <a:spcPct val="100000"/>
              </a:lnSpc>
              <a:spcBef>
                <a:spcPts val="2310"/>
              </a:spcBef>
            </a:pPr>
            <a:r>
              <a:rPr sz="2800" b="1" spc="200" dirty="0">
                <a:latin typeface="Microsoft JhengHei"/>
                <a:cs typeface="Microsoft JhengHei"/>
              </a:rPr>
              <a:t>四季变化：一年内最热月和最冷月的平均温度之差</a:t>
            </a:r>
            <a:endParaRPr sz="2800">
              <a:latin typeface="Microsoft JhengHei"/>
              <a:cs typeface="Microsoft JhengHei"/>
            </a:endParaRPr>
          </a:p>
          <a:p>
            <a:pPr marL="84455" marR="5080" algn="just">
              <a:lnSpc>
                <a:spcPct val="100000"/>
              </a:lnSpc>
            </a:pPr>
            <a:r>
              <a:rPr sz="2800" b="1" spc="220" dirty="0">
                <a:latin typeface="Microsoft JhengHei"/>
                <a:cs typeface="Microsoft JhengHei"/>
              </a:rPr>
              <a:t>，称</a:t>
            </a:r>
            <a:r>
              <a:rPr sz="2800" b="1" spc="220" dirty="0">
                <a:solidFill>
                  <a:srgbClr val="CC3300"/>
                </a:solidFill>
                <a:latin typeface="Microsoft JhengHei"/>
                <a:cs typeface="Microsoft JhengHei"/>
              </a:rPr>
              <a:t>年较差</a:t>
            </a:r>
            <a:r>
              <a:rPr sz="2800" b="1" spc="195" dirty="0">
                <a:latin typeface="Microsoft JhengHei"/>
                <a:cs typeface="Microsoft JhengHei"/>
              </a:rPr>
              <a:t>。年较差受纬度、海陆位置及地形等众</a:t>
            </a:r>
            <a:r>
              <a:rPr sz="2800" b="1" spc="200" dirty="0">
                <a:latin typeface="Microsoft JhengHei"/>
                <a:cs typeface="Microsoft JhengHei"/>
              </a:rPr>
              <a:t>多因素的影响。一般来说，大陆性气候越明显的地方气温年较差越大，纬度越高气温年较差越大。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262890"/>
            <a:ext cx="43535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4655" algn="l"/>
              </a:tabLst>
            </a:pPr>
            <a:r>
              <a:rPr spc="-50" dirty="0">
                <a:latin typeface="Times New Roman"/>
                <a:cs typeface="Times New Roman"/>
              </a:rPr>
              <a:t>3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220" dirty="0"/>
              <a:t>土壤和水体温度变化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939800"/>
            <a:ext cx="7611745" cy="2776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Microsoft JhengHei"/>
                <a:cs typeface="Microsoft JhengHei"/>
              </a:rPr>
              <a:t>（</a:t>
            </a:r>
            <a:r>
              <a:rPr sz="2400" b="1" spc="190" dirty="0">
                <a:latin typeface="Microsoft JhengHei"/>
                <a:cs typeface="Microsoft JhengHei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spc="195" dirty="0">
                <a:latin typeface="Microsoft JhengHei"/>
                <a:cs typeface="Microsoft JhengHei"/>
              </a:rPr>
              <a:t>）</a:t>
            </a:r>
            <a:r>
              <a:rPr sz="2400" b="1" spc="85" dirty="0">
                <a:latin typeface="Microsoft JhengHei"/>
                <a:cs typeface="Microsoft JhengHei"/>
              </a:rPr>
              <a:t>土壤： 不同性质的土壤， 热容量和热导率不同</a:t>
            </a:r>
            <a:endParaRPr sz="2400">
              <a:latin typeface="Microsoft JhengHei"/>
              <a:cs typeface="Microsoft JhengHei"/>
            </a:endParaRPr>
          </a:p>
          <a:p>
            <a:pPr marL="12700" marR="16510">
              <a:lnSpc>
                <a:spcPct val="100000"/>
              </a:lnSpc>
            </a:pPr>
            <a:r>
              <a:rPr sz="2400" b="1" spc="120" dirty="0">
                <a:latin typeface="Microsoft JhengHei"/>
                <a:cs typeface="Microsoft JhengHei"/>
              </a:rPr>
              <a:t>， 随气温变化温度变化模式也不同。随土壤深度，土</a:t>
            </a:r>
            <a:r>
              <a:rPr sz="2400" b="1" spc="175" dirty="0">
                <a:latin typeface="Microsoft JhengHei"/>
                <a:cs typeface="Microsoft JhengHei"/>
              </a:rPr>
              <a:t>壤最高温和最低温出现时间后延。</a:t>
            </a:r>
            <a:endParaRPr sz="2400">
              <a:latin typeface="Microsoft JhengHei"/>
              <a:cs typeface="Microsoft JhengHei"/>
            </a:endParaRPr>
          </a:p>
          <a:p>
            <a:pPr marL="12700" marR="5080" algn="just">
              <a:lnSpc>
                <a:spcPct val="100000"/>
              </a:lnSpc>
              <a:spcBef>
                <a:spcPts val="1500"/>
              </a:spcBef>
            </a:pPr>
            <a:r>
              <a:rPr sz="2400" b="1" dirty="0">
                <a:latin typeface="Microsoft JhengHei"/>
                <a:cs typeface="Microsoft JhengHei"/>
              </a:rPr>
              <a:t>（</a:t>
            </a:r>
            <a:r>
              <a:rPr sz="2400" b="1" spc="190" dirty="0">
                <a:latin typeface="Microsoft JhengHei"/>
                <a:cs typeface="Microsoft JhengHei"/>
              </a:rPr>
              <a:t> </a:t>
            </a:r>
            <a:r>
              <a:rPr sz="2400" b="1" spc="-100" dirty="0">
                <a:latin typeface="Microsoft JhengHei"/>
                <a:cs typeface="Microsoft JhengHei"/>
              </a:rPr>
              <a:t>2</a:t>
            </a:r>
            <a:r>
              <a:rPr sz="2400" b="1" spc="180" dirty="0">
                <a:latin typeface="Microsoft JhengHei"/>
                <a:cs typeface="Microsoft JhengHei"/>
              </a:rPr>
              <a:t> </a:t>
            </a:r>
            <a:r>
              <a:rPr sz="2400" b="1" spc="195" dirty="0">
                <a:latin typeface="Microsoft JhengHei"/>
                <a:cs typeface="Microsoft JhengHei"/>
              </a:rPr>
              <a:t>）</a:t>
            </a:r>
            <a:r>
              <a:rPr sz="2400" b="1" spc="60" dirty="0">
                <a:latin typeface="Microsoft JhengHei"/>
                <a:cs typeface="Microsoft JhengHei"/>
              </a:rPr>
              <a:t>水： 水热容大， 温度变化小于气温， 随深度增</a:t>
            </a:r>
            <a:r>
              <a:rPr sz="2400" b="1" spc="185" dirty="0">
                <a:latin typeface="Microsoft JhengHei"/>
                <a:cs typeface="Microsoft JhengHei"/>
              </a:rPr>
              <a:t>加，变化幅度更小。温带深水湖泊，由于水温的季节</a:t>
            </a:r>
            <a:r>
              <a:rPr sz="2400" b="1" dirty="0">
                <a:latin typeface="Microsoft JhengHei"/>
                <a:cs typeface="Microsoft JhengHei"/>
              </a:rPr>
              <a:t>变化， </a:t>
            </a:r>
            <a:r>
              <a:rPr sz="2400" b="1" spc="200" dirty="0">
                <a:solidFill>
                  <a:srgbClr val="CC3300"/>
                </a:solidFill>
                <a:latin typeface="Microsoft JhengHei"/>
                <a:cs typeface="Microsoft JhengHei"/>
              </a:rPr>
              <a:t>春秋季</a:t>
            </a:r>
            <a:r>
              <a:rPr sz="2400" b="1" spc="120" dirty="0">
                <a:latin typeface="Microsoft JhengHei"/>
                <a:cs typeface="Microsoft JhengHei"/>
              </a:rPr>
              <a:t>水体出现垂直混合， 使</a:t>
            </a:r>
            <a:r>
              <a:rPr sz="2400" b="1" spc="165" dirty="0">
                <a:solidFill>
                  <a:srgbClr val="CC3300"/>
                </a:solidFill>
                <a:latin typeface="Microsoft JhengHei"/>
                <a:cs typeface="Microsoft JhengHei"/>
              </a:rPr>
              <a:t>初级生产力升高</a:t>
            </a:r>
            <a:endParaRPr sz="24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latin typeface="Microsoft JhengHei"/>
                <a:cs typeface="Microsoft JhengHei"/>
              </a:rPr>
              <a:t>。</a:t>
            </a:r>
            <a:endParaRPr sz="2400">
              <a:latin typeface="Microsoft JhengHei"/>
              <a:cs typeface="Microsoft JhengHe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59" y="3500120"/>
            <a:ext cx="8459470" cy="28765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30120" y="525779"/>
            <a:ext cx="4322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3285" algn="l"/>
              </a:tabLst>
            </a:pPr>
            <a:r>
              <a:rPr sz="3600" spc="-50" dirty="0"/>
              <a:t>贰</a:t>
            </a:r>
            <a:r>
              <a:rPr sz="3600" dirty="0"/>
              <a:t>	</a:t>
            </a:r>
            <a:r>
              <a:rPr sz="3600" spc="295" dirty="0"/>
              <a:t>温度的生态作</a:t>
            </a:r>
            <a:r>
              <a:rPr sz="3600" spc="-50" dirty="0"/>
              <a:t>用</a:t>
            </a:r>
            <a:endParaRPr sz="3600" dirty="0"/>
          </a:p>
        </p:txBody>
      </p:sp>
      <p:sp>
        <p:nvSpPr>
          <p:cNvPr id="4" name="object 4"/>
          <p:cNvSpPr txBox="1"/>
          <p:nvPr/>
        </p:nvSpPr>
        <p:spPr>
          <a:xfrm>
            <a:off x="401320" y="2209800"/>
            <a:ext cx="7898130" cy="302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marR="99695" indent="-439420">
              <a:lnSpc>
                <a:spcPct val="100000"/>
              </a:lnSpc>
              <a:spcBef>
                <a:spcPts val="100"/>
              </a:spcBef>
              <a:buFont typeface="Times New Roman"/>
              <a:buAutoNum type="arabicPlain"/>
              <a:tabLst>
                <a:tab pos="621665" algn="l"/>
              </a:tabLst>
            </a:pPr>
            <a:r>
              <a:rPr sz="2800" b="1" spc="200" dirty="0">
                <a:latin typeface="Microsoft JhengHei"/>
                <a:cs typeface="Microsoft JhengHei"/>
              </a:rPr>
              <a:t>生物体内的生化反应过程必须在一定温度范	</a:t>
            </a:r>
            <a:r>
              <a:rPr sz="2800" b="1" spc="180" dirty="0">
                <a:latin typeface="Microsoft JhengHei"/>
                <a:cs typeface="Microsoft JhengHei"/>
              </a:rPr>
              <a:t>围内才能正常进行</a:t>
            </a:r>
            <a:endParaRPr sz="2800">
              <a:latin typeface="Microsoft JhengHei"/>
              <a:cs typeface="Microsoft JhengHei"/>
            </a:endParaRPr>
          </a:p>
          <a:p>
            <a:pPr>
              <a:lnSpc>
                <a:spcPct val="100000"/>
              </a:lnSpc>
              <a:spcBef>
                <a:spcPts val="1710"/>
              </a:spcBef>
              <a:buFont typeface="Times New Roman"/>
              <a:buAutoNum type="arabicPlain"/>
            </a:pPr>
            <a:endParaRPr sz="2800">
              <a:latin typeface="Microsoft JhengHei"/>
              <a:cs typeface="Microsoft JhengHei"/>
            </a:endParaRPr>
          </a:p>
          <a:p>
            <a:pPr marL="452755" marR="5080" indent="-440690">
              <a:lnSpc>
                <a:spcPct val="100000"/>
              </a:lnSpc>
              <a:buFont typeface="Times New Roman"/>
              <a:buAutoNum type="arabicPlain"/>
              <a:tabLst>
                <a:tab pos="621665" algn="l"/>
              </a:tabLst>
            </a:pPr>
            <a:r>
              <a:rPr sz="2800" b="1" spc="200" dirty="0">
                <a:latin typeface="Microsoft JhengHei"/>
                <a:cs typeface="Microsoft JhengHei"/>
              </a:rPr>
              <a:t>环境中温度的改变会引起其它生态因子的改	变，如湿度、降水、风、水中溶氧含量等的	</a:t>
            </a:r>
            <a:r>
              <a:rPr sz="2800" b="1" spc="190" dirty="0">
                <a:latin typeface="Microsoft JhengHei"/>
                <a:cs typeface="Microsoft JhengHei"/>
              </a:rPr>
              <a:t>改变，从而间接影响生物。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0730" y="655320"/>
            <a:ext cx="55416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3265" algn="l"/>
              </a:tabLst>
            </a:pPr>
            <a:r>
              <a:rPr spc="-50" dirty="0"/>
              <a:t>三</a:t>
            </a:r>
            <a:r>
              <a:rPr dirty="0"/>
              <a:t>	</a:t>
            </a:r>
            <a:r>
              <a:rPr spc="265" dirty="0"/>
              <a:t>极</a:t>
            </a:r>
            <a:r>
              <a:rPr spc="254" dirty="0"/>
              <a:t>端</a:t>
            </a:r>
            <a:r>
              <a:rPr spc="265" dirty="0"/>
              <a:t>温度对生</a:t>
            </a:r>
            <a:r>
              <a:rPr spc="254" dirty="0"/>
              <a:t>物</a:t>
            </a:r>
            <a:r>
              <a:rPr spc="265" dirty="0"/>
              <a:t>的影响</a:t>
            </a:r>
            <a:r>
              <a:rPr spc="-50" dirty="0"/>
              <a:t>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0730" y="1697990"/>
            <a:ext cx="6901180" cy="4531360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0"/>
              </a:spcBef>
              <a:tabLst>
                <a:tab pos="363855" algn="l"/>
              </a:tabLst>
            </a:pPr>
            <a:r>
              <a:rPr sz="2800" b="1" spc="-50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190" dirty="0">
                <a:latin typeface="Microsoft JhengHei"/>
                <a:cs typeface="Microsoft JhengHei"/>
              </a:rPr>
              <a:t>极端低温对生物的影响：</a:t>
            </a:r>
            <a:endParaRPr sz="2800">
              <a:latin typeface="Microsoft JhengHei"/>
              <a:cs typeface="Microsoft JhengHei"/>
            </a:endParaRPr>
          </a:p>
          <a:p>
            <a:pPr marL="12700" marR="5080" indent="378460">
              <a:lnSpc>
                <a:spcPct val="100000"/>
              </a:lnSpc>
              <a:spcBef>
                <a:spcPts val="1750"/>
              </a:spcBef>
              <a:tabLst>
                <a:tab pos="969010" algn="l"/>
                <a:tab pos="5378450" algn="l"/>
              </a:tabLst>
            </a:pPr>
            <a:r>
              <a:rPr sz="2800" b="1" spc="225" dirty="0">
                <a:latin typeface="Microsoft JhengHei"/>
                <a:cs typeface="Microsoft JhengHei"/>
              </a:rPr>
              <a:t>冷</a:t>
            </a:r>
            <a:r>
              <a:rPr sz="2800" b="1" spc="215" dirty="0">
                <a:latin typeface="Microsoft JhengHei"/>
                <a:cs typeface="Microsoft JhengHei"/>
              </a:rPr>
              <a:t>害：</a:t>
            </a:r>
            <a:r>
              <a:rPr sz="2800" b="1" spc="225" dirty="0">
                <a:latin typeface="Microsoft JhengHei"/>
                <a:cs typeface="Microsoft JhengHei"/>
              </a:rPr>
              <a:t>温</a:t>
            </a:r>
            <a:r>
              <a:rPr sz="2800" b="1" spc="215" dirty="0">
                <a:latin typeface="Microsoft JhengHei"/>
                <a:cs typeface="Microsoft JhengHei"/>
              </a:rPr>
              <a:t>度</a:t>
            </a:r>
            <a:r>
              <a:rPr sz="2800" b="1" spc="225" dirty="0">
                <a:latin typeface="Microsoft JhengHei"/>
                <a:cs typeface="Microsoft JhengHei"/>
              </a:rPr>
              <a:t>在</a:t>
            </a:r>
            <a:r>
              <a:rPr sz="2800" b="1" spc="215" dirty="0">
                <a:latin typeface="Microsoft JhengHei"/>
                <a:cs typeface="Microsoft JhengHei"/>
              </a:rPr>
              <a:t>冰点</a:t>
            </a:r>
            <a:r>
              <a:rPr sz="2800" b="1" spc="225" dirty="0">
                <a:latin typeface="Microsoft JhengHei"/>
                <a:cs typeface="Microsoft JhengHei"/>
              </a:rPr>
              <a:t>以</a:t>
            </a:r>
            <a:r>
              <a:rPr sz="2800" b="1" spc="215" dirty="0">
                <a:latin typeface="Microsoft JhengHei"/>
                <a:cs typeface="Microsoft JhengHei"/>
              </a:rPr>
              <a:t>上</a:t>
            </a:r>
            <a:r>
              <a:rPr sz="2800" b="1" spc="225" dirty="0">
                <a:latin typeface="Microsoft JhengHei"/>
                <a:cs typeface="Microsoft JhengHei"/>
              </a:rPr>
              <a:t>，</a:t>
            </a:r>
            <a:r>
              <a:rPr sz="2800" b="1" spc="215" dirty="0">
                <a:latin typeface="Microsoft JhengHei"/>
                <a:cs typeface="Microsoft JhengHei"/>
              </a:rPr>
              <a:t>但低</a:t>
            </a:r>
            <a:r>
              <a:rPr sz="2800" b="1" spc="225" dirty="0">
                <a:latin typeface="Microsoft JhengHei"/>
                <a:cs typeface="Microsoft JhengHei"/>
              </a:rPr>
              <a:t>于</a:t>
            </a:r>
            <a:r>
              <a:rPr sz="2800" b="1" spc="215" dirty="0">
                <a:latin typeface="Microsoft JhengHei"/>
                <a:cs typeface="Microsoft JhengHei"/>
              </a:rPr>
              <a:t>喜</a:t>
            </a:r>
            <a:r>
              <a:rPr sz="2800" b="1" spc="225" dirty="0">
                <a:latin typeface="Microsoft JhengHei"/>
                <a:cs typeface="Microsoft JhengHei"/>
              </a:rPr>
              <a:t>温</a:t>
            </a:r>
            <a:r>
              <a:rPr sz="2800" b="1" spc="-50" dirty="0">
                <a:latin typeface="Microsoft JhengHei"/>
                <a:cs typeface="Microsoft JhengHei"/>
              </a:rPr>
              <a:t>生</a:t>
            </a:r>
            <a:r>
              <a:rPr sz="2800" b="1" spc="225" dirty="0">
                <a:latin typeface="Microsoft JhengHei"/>
                <a:cs typeface="Microsoft JhengHei"/>
              </a:rPr>
              <a:t>物</a:t>
            </a:r>
            <a:r>
              <a:rPr sz="2800" b="1" spc="-50" dirty="0">
                <a:latin typeface="Microsoft JhengHei"/>
                <a:cs typeface="Microsoft JhengHei"/>
              </a:rPr>
              <a:t>对</a:t>
            </a:r>
            <a:r>
              <a:rPr sz="2800" b="1" dirty="0">
                <a:latin typeface="Microsoft JhengHei"/>
                <a:cs typeface="Microsoft JhengHei"/>
              </a:rPr>
              <a:t>	</a:t>
            </a:r>
            <a:r>
              <a:rPr sz="2800" b="1" spc="215" dirty="0">
                <a:latin typeface="Microsoft JhengHei"/>
                <a:cs typeface="Microsoft JhengHei"/>
              </a:rPr>
              <a:t>温</a:t>
            </a:r>
            <a:r>
              <a:rPr sz="2800" b="1" spc="225" dirty="0">
                <a:latin typeface="Microsoft JhengHei"/>
                <a:cs typeface="Microsoft JhengHei"/>
              </a:rPr>
              <a:t>度</a:t>
            </a:r>
            <a:r>
              <a:rPr sz="2800" b="1" spc="215" dirty="0">
                <a:latin typeface="Microsoft JhengHei"/>
                <a:cs typeface="Microsoft JhengHei"/>
              </a:rPr>
              <a:t>的</a:t>
            </a:r>
            <a:r>
              <a:rPr sz="2800" b="1" spc="225" dirty="0">
                <a:latin typeface="Microsoft JhengHei"/>
                <a:cs typeface="Microsoft JhengHei"/>
              </a:rPr>
              <a:t>耐</a:t>
            </a:r>
            <a:r>
              <a:rPr sz="2800" b="1" spc="215" dirty="0">
                <a:latin typeface="Microsoft JhengHei"/>
                <a:cs typeface="Microsoft JhengHei"/>
              </a:rPr>
              <a:t>受下</a:t>
            </a:r>
            <a:r>
              <a:rPr sz="2800" b="1" spc="225" dirty="0">
                <a:latin typeface="Microsoft JhengHei"/>
                <a:cs typeface="Microsoft JhengHei"/>
              </a:rPr>
              <a:t>限</a:t>
            </a:r>
            <a:r>
              <a:rPr sz="2800" b="1" spc="215" dirty="0">
                <a:latin typeface="Microsoft JhengHei"/>
                <a:cs typeface="Microsoft JhengHei"/>
              </a:rPr>
              <a:t>而</a:t>
            </a:r>
            <a:r>
              <a:rPr sz="2800" b="1" spc="225" dirty="0">
                <a:latin typeface="Microsoft JhengHei"/>
                <a:cs typeface="Microsoft JhengHei"/>
              </a:rPr>
              <a:t>使</a:t>
            </a:r>
            <a:r>
              <a:rPr sz="2800" b="1" spc="215" dirty="0">
                <a:latin typeface="Microsoft JhengHei"/>
                <a:cs typeface="Microsoft JhengHei"/>
              </a:rPr>
              <a:t>生</a:t>
            </a:r>
            <a:r>
              <a:rPr sz="2800" b="1" spc="-50" dirty="0">
                <a:latin typeface="Microsoft JhengHei"/>
                <a:cs typeface="Microsoft JhengHei"/>
              </a:rPr>
              <a:t>物</a:t>
            </a:r>
            <a:r>
              <a:rPr sz="2800" b="1" dirty="0">
                <a:latin typeface="Microsoft JhengHei"/>
                <a:cs typeface="Microsoft JhengHei"/>
              </a:rPr>
              <a:t>	</a:t>
            </a:r>
            <a:r>
              <a:rPr sz="2800" b="1" spc="225" dirty="0">
                <a:latin typeface="Microsoft JhengHei"/>
                <a:cs typeface="Microsoft JhengHei"/>
              </a:rPr>
              <a:t>受</a:t>
            </a:r>
            <a:r>
              <a:rPr sz="2800" b="1" spc="215" dirty="0">
                <a:latin typeface="Microsoft JhengHei"/>
                <a:cs typeface="Microsoft JhengHei"/>
              </a:rPr>
              <a:t>害</a:t>
            </a:r>
            <a:r>
              <a:rPr sz="2800" b="1" spc="225" dirty="0">
                <a:latin typeface="Microsoft JhengHei"/>
                <a:cs typeface="Microsoft JhengHei"/>
              </a:rPr>
              <a:t>或</a:t>
            </a:r>
            <a:r>
              <a:rPr sz="2800" b="1" spc="-50" dirty="0">
                <a:latin typeface="Microsoft JhengHei"/>
                <a:cs typeface="Microsoft JhengHei"/>
              </a:rPr>
              <a:t>死</a:t>
            </a:r>
            <a:r>
              <a:rPr sz="2800" b="1" spc="225" dirty="0">
                <a:latin typeface="Microsoft JhengHei"/>
                <a:cs typeface="Microsoft JhengHei"/>
              </a:rPr>
              <a:t>亡</a:t>
            </a:r>
            <a:r>
              <a:rPr sz="2800" b="1" spc="220" dirty="0">
                <a:latin typeface="Microsoft JhengHei"/>
                <a:cs typeface="Microsoft JhengHei"/>
              </a:rPr>
              <a:t>。</a:t>
            </a:r>
            <a:r>
              <a:rPr sz="2800" dirty="0">
                <a:latin typeface="SimSun"/>
                <a:cs typeface="SimSun"/>
              </a:rPr>
              <a:t>它可</a:t>
            </a:r>
            <a:r>
              <a:rPr sz="2800" spc="-15" dirty="0">
                <a:latin typeface="SimSun"/>
                <a:cs typeface="SimSun"/>
              </a:rPr>
              <a:t>能</a:t>
            </a:r>
            <a:r>
              <a:rPr sz="2800" dirty="0">
                <a:latin typeface="SimSun"/>
                <a:cs typeface="SimSun"/>
              </a:rPr>
              <a:t>是</a:t>
            </a:r>
            <a:r>
              <a:rPr sz="2800" spc="-15" dirty="0">
                <a:latin typeface="SimSun"/>
                <a:cs typeface="SimSun"/>
              </a:rPr>
              <a:t>通</a:t>
            </a:r>
            <a:r>
              <a:rPr sz="2800" dirty="0">
                <a:latin typeface="SimSun"/>
                <a:cs typeface="SimSun"/>
              </a:rPr>
              <a:t>过破</a:t>
            </a:r>
            <a:r>
              <a:rPr sz="2800" spc="-10" dirty="0">
                <a:latin typeface="SimSun"/>
                <a:cs typeface="SimSun"/>
              </a:rPr>
              <a:t>坏</a:t>
            </a:r>
            <a:r>
              <a:rPr sz="2800" dirty="0">
                <a:latin typeface="SimSun"/>
                <a:cs typeface="SimSun"/>
              </a:rPr>
              <a:t>了</a:t>
            </a:r>
            <a:r>
              <a:rPr sz="2800" spc="-15" dirty="0">
                <a:latin typeface="SimSun"/>
                <a:cs typeface="SimSun"/>
              </a:rPr>
              <a:t>膜</a:t>
            </a:r>
            <a:r>
              <a:rPr sz="2800" dirty="0">
                <a:latin typeface="SimSun"/>
                <a:cs typeface="SimSun"/>
              </a:rPr>
              <a:t>结</a:t>
            </a:r>
            <a:r>
              <a:rPr sz="2800" spc="-15" dirty="0">
                <a:latin typeface="SimSun"/>
                <a:cs typeface="SimSun"/>
              </a:rPr>
              <a:t>构</a:t>
            </a:r>
            <a:r>
              <a:rPr sz="2800" dirty="0">
                <a:latin typeface="SimSun"/>
                <a:cs typeface="SimSun"/>
              </a:rPr>
              <a:t>造成的</a:t>
            </a:r>
            <a:r>
              <a:rPr sz="2800" spc="-15" dirty="0">
                <a:latin typeface="SimSun"/>
                <a:cs typeface="SimSun"/>
              </a:rPr>
              <a:t>，</a:t>
            </a:r>
            <a:r>
              <a:rPr sz="2800" spc="-50" dirty="0">
                <a:latin typeface="SimSun"/>
                <a:cs typeface="SimSun"/>
              </a:rPr>
              <a:t>它</a:t>
            </a:r>
            <a:r>
              <a:rPr sz="2800" dirty="0">
                <a:latin typeface="SimSun"/>
                <a:cs typeface="SimSun"/>
              </a:rPr>
              <a:t>是喜</a:t>
            </a:r>
            <a:r>
              <a:rPr sz="2800" spc="-15" dirty="0">
                <a:latin typeface="SimSun"/>
                <a:cs typeface="SimSun"/>
              </a:rPr>
              <a:t>温</a:t>
            </a:r>
            <a:r>
              <a:rPr sz="2800" dirty="0">
                <a:latin typeface="SimSun"/>
                <a:cs typeface="SimSun"/>
              </a:rPr>
              <a:t>生</a:t>
            </a:r>
            <a:r>
              <a:rPr sz="2800" spc="-15" dirty="0">
                <a:latin typeface="SimSun"/>
                <a:cs typeface="SimSun"/>
              </a:rPr>
              <a:t>物</a:t>
            </a:r>
            <a:r>
              <a:rPr sz="2800" dirty="0">
                <a:latin typeface="SimSun"/>
                <a:cs typeface="SimSun"/>
              </a:rPr>
              <a:t>向北</a:t>
            </a:r>
            <a:r>
              <a:rPr sz="2800" spc="-15" dirty="0">
                <a:latin typeface="SimSun"/>
                <a:cs typeface="SimSun"/>
              </a:rPr>
              <a:t>方</a:t>
            </a:r>
            <a:r>
              <a:rPr sz="2800" dirty="0">
                <a:latin typeface="SimSun"/>
                <a:cs typeface="SimSun"/>
              </a:rPr>
              <a:t>引种</a:t>
            </a:r>
            <a:r>
              <a:rPr sz="2800" spc="-10" dirty="0">
                <a:latin typeface="SimSun"/>
                <a:cs typeface="SimSun"/>
              </a:rPr>
              <a:t>和</a:t>
            </a:r>
            <a:r>
              <a:rPr sz="2800" dirty="0">
                <a:latin typeface="SimSun"/>
                <a:cs typeface="SimSun"/>
              </a:rPr>
              <a:t>扩</a:t>
            </a:r>
            <a:r>
              <a:rPr sz="2800" spc="-10" dirty="0">
                <a:latin typeface="SimSun"/>
                <a:cs typeface="SimSun"/>
              </a:rPr>
              <a:t>张</a:t>
            </a:r>
            <a:r>
              <a:rPr sz="2800" dirty="0">
                <a:latin typeface="SimSun"/>
                <a:cs typeface="SimSun"/>
              </a:rPr>
              <a:t>分布</a:t>
            </a:r>
            <a:r>
              <a:rPr sz="2800" spc="-15" dirty="0">
                <a:latin typeface="SimSun"/>
                <a:cs typeface="SimSun"/>
              </a:rPr>
              <a:t>区</a:t>
            </a:r>
            <a:r>
              <a:rPr sz="2800" dirty="0">
                <a:latin typeface="SimSun"/>
                <a:cs typeface="SimSun"/>
              </a:rPr>
              <a:t>的</a:t>
            </a:r>
            <a:r>
              <a:rPr sz="2800" spc="-15" dirty="0">
                <a:latin typeface="SimSun"/>
                <a:cs typeface="SimSun"/>
              </a:rPr>
              <a:t>主</a:t>
            </a:r>
            <a:r>
              <a:rPr sz="2800" spc="-50" dirty="0">
                <a:latin typeface="SimSun"/>
                <a:cs typeface="SimSun"/>
              </a:rPr>
              <a:t>要</a:t>
            </a:r>
            <a:r>
              <a:rPr sz="2800" dirty="0">
                <a:latin typeface="SimSun"/>
                <a:cs typeface="SimSun"/>
              </a:rPr>
              <a:t>障碍</a:t>
            </a:r>
            <a:r>
              <a:rPr sz="2800" spc="-50" dirty="0">
                <a:latin typeface="SimSun"/>
                <a:cs typeface="SimSun"/>
              </a:rPr>
              <a:t>。</a:t>
            </a:r>
            <a:endParaRPr sz="2800">
              <a:latin typeface="SimSun"/>
              <a:cs typeface="SimSun"/>
            </a:endParaRPr>
          </a:p>
          <a:p>
            <a:pPr marL="12700" marR="5080" indent="378460">
              <a:lnSpc>
                <a:spcPct val="100000"/>
              </a:lnSpc>
              <a:spcBef>
                <a:spcPts val="1740"/>
              </a:spcBef>
            </a:pPr>
            <a:r>
              <a:rPr sz="2800" b="1" spc="200" dirty="0">
                <a:latin typeface="Microsoft JhengHei"/>
                <a:cs typeface="Microsoft JhengHei"/>
              </a:rPr>
              <a:t>冻害：冰点以下低温使生物体内形成冰晶，蛋白质失活变性造成生物受害或死</a:t>
            </a:r>
            <a:r>
              <a:rPr sz="2800" b="1" spc="110" dirty="0">
                <a:latin typeface="Microsoft JhengHei"/>
                <a:cs typeface="Microsoft JhengHei"/>
              </a:rPr>
              <a:t>亡。</a:t>
            </a:r>
            <a:endParaRPr sz="2800">
              <a:latin typeface="Microsoft JhengHei"/>
              <a:cs typeface="Microsoft JhengHei"/>
            </a:endParaRPr>
          </a:p>
        </p:txBody>
      </p:sp>
      <p:pic>
        <p:nvPicPr>
          <p:cNvPr id="5" name="object 5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8079" y="0"/>
            <a:ext cx="2915920" cy="21805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85" dirty="0"/>
              <a:t>生物对冻害的适应 </a:t>
            </a:r>
            <a:r>
              <a:rPr sz="2800" spc="-50" dirty="0"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0" y="0"/>
            <a:ext cx="2514600" cy="18859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28620" y="3214370"/>
            <a:ext cx="4320539" cy="323976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6540" y="1016000"/>
            <a:ext cx="8271509" cy="1691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0"/>
              </a:spcBef>
            </a:pPr>
            <a:r>
              <a:rPr sz="2800" b="1" spc="220" dirty="0">
                <a:solidFill>
                  <a:srgbClr val="CC3300"/>
                </a:solidFill>
                <a:latin typeface="Microsoft JhengHei"/>
                <a:cs typeface="Microsoft JhengHei"/>
              </a:rPr>
              <a:t>耐受冻结</a:t>
            </a:r>
            <a:r>
              <a:rPr sz="2800" b="1" spc="220" dirty="0">
                <a:latin typeface="Microsoft JhengHei"/>
                <a:cs typeface="Microsoft JhengHei"/>
              </a:rPr>
              <a:t>与</a:t>
            </a:r>
            <a:r>
              <a:rPr sz="2800" b="1" spc="150" dirty="0">
                <a:solidFill>
                  <a:srgbClr val="CC3300"/>
                </a:solidFill>
                <a:latin typeface="Microsoft JhengHei"/>
                <a:cs typeface="Microsoft JhengHei"/>
              </a:rPr>
              <a:t>超冷现象</a:t>
            </a:r>
            <a:endParaRPr sz="280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4000"/>
              </a:spcBef>
              <a:tabLst>
                <a:tab pos="4317365" algn="l"/>
              </a:tabLst>
            </a:pPr>
            <a:r>
              <a:rPr sz="2400" b="1" spc="195" dirty="0">
                <a:latin typeface="Microsoft JhengHei"/>
                <a:cs typeface="Microsoft JhengHei"/>
              </a:rPr>
              <a:t>耐</a:t>
            </a:r>
            <a:r>
              <a:rPr sz="2400" b="1" spc="200" dirty="0">
                <a:latin typeface="Microsoft JhengHei"/>
                <a:cs typeface="Microsoft JhengHei"/>
              </a:rPr>
              <a:t>受</a:t>
            </a:r>
            <a:r>
              <a:rPr sz="2400" b="1" spc="204" dirty="0">
                <a:latin typeface="Microsoft JhengHei"/>
                <a:cs typeface="Microsoft JhengHei"/>
              </a:rPr>
              <a:t>冻</a:t>
            </a:r>
            <a:r>
              <a:rPr sz="2400" b="1" spc="200" dirty="0">
                <a:latin typeface="Microsoft JhengHei"/>
                <a:cs typeface="Microsoft JhengHei"/>
              </a:rPr>
              <a:t>结</a:t>
            </a:r>
            <a:r>
              <a:rPr sz="2400" b="1" dirty="0">
                <a:latin typeface="Microsoft JhengHei"/>
                <a:cs typeface="Microsoft JhengHei"/>
              </a:rPr>
              <a:t>（</a:t>
            </a:r>
            <a:r>
              <a:rPr sz="2400" b="1" spc="150" dirty="0">
                <a:latin typeface="Microsoft JhengHei"/>
                <a:cs typeface="Microsoft JhengHei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freezing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tolerance)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200" dirty="0">
                <a:latin typeface="Microsoft JhengHei"/>
                <a:cs typeface="Microsoft JhengHei"/>
              </a:rPr>
              <a:t>少</a:t>
            </a:r>
            <a:r>
              <a:rPr sz="2400" b="1" spc="195" dirty="0">
                <a:latin typeface="Microsoft JhengHei"/>
                <a:cs typeface="Microsoft JhengHei"/>
              </a:rPr>
              <a:t>数</a:t>
            </a:r>
            <a:r>
              <a:rPr sz="2400" b="1" spc="210" dirty="0">
                <a:latin typeface="Microsoft JhengHei"/>
                <a:cs typeface="Microsoft JhengHei"/>
              </a:rPr>
              <a:t>动</a:t>
            </a:r>
            <a:r>
              <a:rPr sz="2400" b="1" spc="195" dirty="0">
                <a:latin typeface="Microsoft JhengHei"/>
                <a:cs typeface="Microsoft JhengHei"/>
              </a:rPr>
              <a:t>物</a:t>
            </a:r>
            <a:r>
              <a:rPr sz="2400" b="1" spc="210" dirty="0">
                <a:latin typeface="Microsoft JhengHei"/>
                <a:cs typeface="Microsoft JhengHei"/>
              </a:rPr>
              <a:t>能</a:t>
            </a:r>
            <a:r>
              <a:rPr sz="2400" b="1" spc="200" dirty="0">
                <a:latin typeface="Microsoft JhengHei"/>
                <a:cs typeface="Microsoft JhengHei"/>
              </a:rPr>
              <a:t>够</a:t>
            </a:r>
            <a:r>
              <a:rPr sz="2400" b="1" spc="195" dirty="0">
                <a:latin typeface="Microsoft JhengHei"/>
                <a:cs typeface="Microsoft JhengHei"/>
              </a:rPr>
              <a:t>耐</a:t>
            </a:r>
            <a:r>
              <a:rPr sz="2400" b="1" spc="204" dirty="0">
                <a:latin typeface="Microsoft JhengHei"/>
                <a:cs typeface="Microsoft JhengHei"/>
              </a:rPr>
              <a:t>受</a:t>
            </a:r>
            <a:r>
              <a:rPr sz="2400" b="1" spc="195" dirty="0">
                <a:latin typeface="Microsoft JhengHei"/>
                <a:cs typeface="Microsoft JhengHei"/>
              </a:rPr>
              <a:t>一</a:t>
            </a:r>
            <a:r>
              <a:rPr sz="2400" b="1" spc="204" dirty="0">
                <a:latin typeface="Microsoft JhengHei"/>
                <a:cs typeface="Microsoft JhengHei"/>
              </a:rPr>
              <a:t>定</a:t>
            </a:r>
            <a:r>
              <a:rPr sz="2400" b="1" spc="195" dirty="0">
                <a:latin typeface="Microsoft JhengHei"/>
                <a:cs typeface="Microsoft JhengHei"/>
              </a:rPr>
              <a:t>程</a:t>
            </a:r>
            <a:r>
              <a:rPr sz="2400" b="1" spc="-50" dirty="0">
                <a:latin typeface="Microsoft JhengHei"/>
                <a:cs typeface="Microsoft JhengHei"/>
              </a:rPr>
              <a:t>度</a:t>
            </a:r>
            <a:r>
              <a:rPr sz="2400" b="1" spc="200" dirty="0">
                <a:latin typeface="Microsoft JhengHei"/>
                <a:cs typeface="Microsoft JhengHei"/>
              </a:rPr>
              <a:t>的身</a:t>
            </a:r>
            <a:r>
              <a:rPr sz="2400" b="1" spc="210" dirty="0">
                <a:latin typeface="Microsoft JhengHei"/>
                <a:cs typeface="Microsoft JhengHei"/>
              </a:rPr>
              <a:t>体</a:t>
            </a:r>
            <a:r>
              <a:rPr sz="2400" b="1" spc="195" dirty="0">
                <a:latin typeface="Microsoft JhengHei"/>
                <a:cs typeface="Microsoft JhengHei"/>
              </a:rPr>
              <a:t>冻</a:t>
            </a:r>
            <a:r>
              <a:rPr sz="2400" b="1" spc="210" dirty="0">
                <a:latin typeface="Microsoft JhengHei"/>
                <a:cs typeface="Microsoft JhengHei"/>
              </a:rPr>
              <a:t>结</a:t>
            </a:r>
            <a:r>
              <a:rPr sz="2400" b="1" spc="195" dirty="0">
                <a:latin typeface="Microsoft JhengHei"/>
                <a:cs typeface="Microsoft JhengHei"/>
              </a:rPr>
              <a:t>，</a:t>
            </a:r>
            <a:r>
              <a:rPr sz="2400" b="1" spc="200" dirty="0">
                <a:latin typeface="Microsoft JhengHei"/>
                <a:cs typeface="Microsoft JhengHei"/>
              </a:rPr>
              <a:t>而</a:t>
            </a:r>
            <a:r>
              <a:rPr sz="2400" b="1" spc="204" dirty="0">
                <a:latin typeface="Microsoft JhengHei"/>
                <a:cs typeface="Microsoft JhengHei"/>
              </a:rPr>
              <a:t>避</a:t>
            </a:r>
            <a:r>
              <a:rPr sz="2400" b="1" spc="200" dirty="0">
                <a:latin typeface="Microsoft JhengHei"/>
                <a:cs typeface="Microsoft JhengHei"/>
              </a:rPr>
              <a:t>免</a:t>
            </a:r>
            <a:r>
              <a:rPr sz="2400" b="1" spc="204" dirty="0">
                <a:latin typeface="Microsoft JhengHei"/>
                <a:cs typeface="Microsoft JhengHei"/>
              </a:rPr>
              <a:t>低</a:t>
            </a:r>
            <a:r>
              <a:rPr sz="2400" b="1" spc="200" dirty="0">
                <a:latin typeface="Microsoft JhengHei"/>
                <a:cs typeface="Microsoft JhengHei"/>
              </a:rPr>
              <a:t>温</a:t>
            </a:r>
            <a:r>
              <a:rPr sz="2400" b="1" spc="210" dirty="0">
                <a:latin typeface="Microsoft JhengHei"/>
                <a:cs typeface="Microsoft JhengHei"/>
              </a:rPr>
              <a:t>伤</a:t>
            </a:r>
            <a:r>
              <a:rPr sz="2400" b="1" spc="200" dirty="0">
                <a:latin typeface="Microsoft JhengHei"/>
                <a:cs typeface="Microsoft JhengHei"/>
              </a:rPr>
              <a:t>害</a:t>
            </a:r>
            <a:r>
              <a:rPr sz="2400" dirty="0">
                <a:latin typeface="SimSun"/>
                <a:cs typeface="SimSun"/>
              </a:rPr>
              <a:t>。如潮间带贝类</a:t>
            </a:r>
            <a:r>
              <a:rPr sz="2400" spc="-50" dirty="0">
                <a:latin typeface="SimSun"/>
                <a:cs typeface="SimSun"/>
              </a:rPr>
              <a:t>。</a:t>
            </a:r>
            <a:endParaRPr sz="24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990600"/>
            <a:ext cx="748538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27855" algn="l"/>
              </a:tabLst>
            </a:pPr>
            <a:r>
              <a:rPr sz="2800" spc="220" dirty="0"/>
              <a:t>超</a:t>
            </a:r>
            <a:r>
              <a:rPr sz="2800" spc="225" dirty="0"/>
              <a:t>冷</a:t>
            </a:r>
            <a:r>
              <a:rPr sz="2800" spc="215" dirty="0"/>
              <a:t>现象</a:t>
            </a:r>
            <a:r>
              <a:rPr sz="2800" dirty="0"/>
              <a:t>（</a:t>
            </a:r>
            <a:r>
              <a:rPr sz="2800" spc="130" dirty="0"/>
              <a:t> </a:t>
            </a:r>
            <a:r>
              <a:rPr sz="2800" dirty="0">
                <a:latin typeface="Times New Roman"/>
                <a:cs typeface="Times New Roman"/>
              </a:rPr>
              <a:t>supercooling)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b="0" spc="-50" dirty="0">
                <a:latin typeface="Times New Roman"/>
                <a:cs typeface="Times New Roman"/>
              </a:rPr>
              <a:t>:</a:t>
            </a:r>
            <a:r>
              <a:rPr sz="2800" b="0" dirty="0">
                <a:latin typeface="Times New Roman"/>
                <a:cs typeface="Times New Roman"/>
              </a:rPr>
              <a:t>	</a:t>
            </a:r>
            <a:r>
              <a:rPr sz="2800" spc="229" dirty="0"/>
              <a:t>动</a:t>
            </a:r>
            <a:r>
              <a:rPr sz="2800" spc="215" dirty="0"/>
              <a:t>物</a:t>
            </a:r>
            <a:r>
              <a:rPr sz="2800" spc="220" dirty="0"/>
              <a:t>（</a:t>
            </a:r>
            <a:r>
              <a:rPr sz="2800" spc="225" dirty="0"/>
              <a:t>昆</a:t>
            </a:r>
            <a:r>
              <a:rPr sz="2800" spc="220" dirty="0"/>
              <a:t>虫</a:t>
            </a:r>
            <a:r>
              <a:rPr sz="2800" spc="225" dirty="0"/>
              <a:t>）</a:t>
            </a:r>
            <a:r>
              <a:rPr sz="2800" spc="220" dirty="0"/>
              <a:t>体</a:t>
            </a:r>
            <a:r>
              <a:rPr sz="2800" spc="-50" dirty="0"/>
              <a:t>液</a:t>
            </a:r>
            <a:endParaRPr sz="2800" dirty="0">
              <a:latin typeface="Times New Roman"/>
              <a:cs typeface="Times New Roman"/>
            </a:endParaRPr>
          </a:p>
          <a:p>
            <a:pPr marL="12700" marR="965835">
              <a:lnSpc>
                <a:spcPct val="100000"/>
              </a:lnSpc>
            </a:pPr>
            <a:r>
              <a:rPr sz="2800" spc="195" dirty="0"/>
              <a:t>温度下降到冰点以下而不结冰的现象。</a:t>
            </a:r>
            <a:r>
              <a:rPr sz="2800" b="0" spc="-20" dirty="0">
                <a:latin typeface="SimSun"/>
                <a:cs typeface="SimSun"/>
              </a:rPr>
              <a:t>如小叶蜂，极地鱼类等。</a:t>
            </a:r>
            <a:endParaRPr sz="2800" dirty="0">
              <a:latin typeface="SimSun"/>
              <a:cs typeface="SimSu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9750" y="1496494"/>
            <a:ext cx="8604250" cy="5394960"/>
            <a:chOff x="539750" y="1051560"/>
            <a:chExt cx="8604250" cy="53949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200" y="1051560"/>
              <a:ext cx="2590800" cy="19431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750" y="2059940"/>
              <a:ext cx="6337300" cy="43865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3269" y="1219200"/>
            <a:ext cx="7278370" cy="2481580"/>
          </a:xfrm>
          <a:prstGeom prst="rect">
            <a:avLst/>
          </a:prstGeom>
        </p:spPr>
        <p:txBody>
          <a:bodyPr vert="horz" wrap="square" lIns="0" tIns="265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90"/>
              </a:spcBef>
              <a:tabLst>
                <a:tab pos="413384" algn="l"/>
              </a:tabLst>
            </a:pPr>
            <a:r>
              <a:rPr sz="3200" b="1" spc="-50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sz="3200" b="1" dirty="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sz="3200" b="1" spc="225" dirty="0">
                <a:solidFill>
                  <a:srgbClr val="FFFF00"/>
                </a:solidFill>
                <a:latin typeface="Microsoft JhengHei"/>
                <a:cs typeface="Microsoft JhengHei"/>
              </a:rPr>
              <a:t>极端高温对生物的影响：</a:t>
            </a:r>
            <a:endParaRPr sz="3200" dirty="0">
              <a:latin typeface="Microsoft JhengHei"/>
              <a:cs typeface="Microsoft JhengHei"/>
            </a:endParaRPr>
          </a:p>
          <a:p>
            <a:pPr marL="12700" marR="5080" indent="680720">
              <a:lnSpc>
                <a:spcPct val="100000"/>
              </a:lnSpc>
              <a:spcBef>
                <a:spcPts val="1990"/>
              </a:spcBef>
            </a:pPr>
            <a:r>
              <a:rPr sz="3200" b="1" spc="235" dirty="0">
                <a:solidFill>
                  <a:srgbClr val="FFFF00"/>
                </a:solidFill>
                <a:latin typeface="Microsoft JhengHei"/>
                <a:cs typeface="Microsoft JhengHei"/>
              </a:rPr>
              <a:t>高温可能导致动植物的机体脱水，</a:t>
            </a:r>
            <a:r>
              <a:rPr sz="3200" b="1" spc="170" dirty="0">
                <a:solidFill>
                  <a:srgbClr val="FFFF00"/>
                </a:solidFill>
                <a:latin typeface="Microsoft JhengHei"/>
                <a:cs typeface="Microsoft JhengHei"/>
              </a:rPr>
              <a:t>蛋白质凝固变形， 酶失活或者代谢的</a:t>
            </a:r>
            <a:r>
              <a:rPr sz="3200" b="1" spc="229" dirty="0">
                <a:solidFill>
                  <a:srgbClr val="FFFF00"/>
                </a:solidFill>
                <a:latin typeface="Microsoft JhengHei"/>
                <a:cs typeface="Microsoft JhengHei"/>
              </a:rPr>
              <a:t>组分不平衡，最终导致细胞死亡。</a:t>
            </a:r>
            <a:endParaRPr sz="3200" dirty="0">
              <a:latin typeface="Microsoft JhengHei"/>
              <a:cs typeface="Microsoft JhengHei"/>
            </a:endParaRPr>
          </a:p>
        </p:txBody>
      </p:sp>
      <p:pic>
        <p:nvPicPr>
          <p:cNvPr id="4" name="object 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4200" y="684530"/>
            <a:ext cx="1463040" cy="14643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5169" y="1024890"/>
            <a:ext cx="750697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574040" algn="l"/>
              </a:tabLst>
            </a:pPr>
            <a:r>
              <a:rPr spc="-50" dirty="0"/>
              <a:t>四</a:t>
            </a:r>
            <a:r>
              <a:rPr dirty="0"/>
              <a:t>	</a:t>
            </a:r>
            <a:r>
              <a:rPr spc="265" dirty="0"/>
              <a:t>温度对</a:t>
            </a:r>
            <a:r>
              <a:rPr spc="254" dirty="0"/>
              <a:t>生</a:t>
            </a:r>
            <a:r>
              <a:rPr spc="295" dirty="0"/>
              <a:t>物</a:t>
            </a:r>
            <a:r>
              <a:rPr sz="2400" dirty="0"/>
              <a:t>（</a:t>
            </a:r>
            <a:r>
              <a:rPr sz="2400" spc="-390" dirty="0"/>
              <a:t> </a:t>
            </a:r>
            <a:r>
              <a:rPr sz="2400" spc="200" dirty="0"/>
              <a:t>植</a:t>
            </a:r>
            <a:r>
              <a:rPr sz="2400" spc="195" dirty="0"/>
              <a:t>物</a:t>
            </a:r>
            <a:r>
              <a:rPr sz="2400" spc="204" dirty="0"/>
              <a:t>和</a:t>
            </a:r>
            <a:r>
              <a:rPr sz="2400" spc="195" dirty="0"/>
              <a:t>变</a:t>
            </a:r>
            <a:r>
              <a:rPr sz="2400" spc="204" dirty="0"/>
              <a:t>温</a:t>
            </a:r>
            <a:r>
              <a:rPr sz="2400" spc="210" dirty="0"/>
              <a:t>动</a:t>
            </a:r>
            <a:r>
              <a:rPr sz="2400" spc="195" dirty="0"/>
              <a:t>物</a:t>
            </a:r>
            <a:r>
              <a:rPr sz="2400" dirty="0"/>
              <a:t>）</a:t>
            </a:r>
            <a:r>
              <a:rPr sz="2400" spc="-390" dirty="0"/>
              <a:t> </a:t>
            </a:r>
            <a:r>
              <a:rPr spc="260" dirty="0"/>
              <a:t>生</a:t>
            </a:r>
            <a:r>
              <a:rPr spc="270" dirty="0"/>
              <a:t>长、</a:t>
            </a:r>
            <a:r>
              <a:rPr spc="-50" dirty="0"/>
              <a:t>发</a:t>
            </a:r>
            <a:endParaRPr sz="2400"/>
          </a:p>
          <a:p>
            <a:pPr marL="455930" algn="ctr">
              <a:lnSpc>
                <a:spcPct val="100000"/>
              </a:lnSpc>
            </a:pPr>
            <a:r>
              <a:rPr spc="220" dirty="0"/>
              <a:t>育和繁殖的影响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0069" y="1998979"/>
            <a:ext cx="7819390" cy="2886710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850"/>
              </a:spcBef>
              <a:tabLst>
                <a:tab pos="520065" algn="l"/>
              </a:tabLst>
            </a:pPr>
            <a:r>
              <a:rPr sz="2800" b="1" spc="-50" dirty="0">
                <a:latin typeface="Microsoft JhengHei"/>
                <a:cs typeface="Microsoft JhengHei"/>
              </a:rPr>
              <a:t>1</a:t>
            </a:r>
            <a:r>
              <a:rPr sz="2800" b="1" dirty="0">
                <a:latin typeface="Microsoft JhengHei"/>
                <a:cs typeface="Microsoft JhengHei"/>
              </a:rPr>
              <a:t>	</a:t>
            </a:r>
            <a:r>
              <a:rPr sz="2800" b="1" spc="175" dirty="0">
                <a:latin typeface="Microsoft JhengHei"/>
                <a:cs typeface="Microsoft JhengHei"/>
              </a:rPr>
              <a:t>酶反应速度：</a:t>
            </a:r>
            <a:endParaRPr sz="2800">
              <a:latin typeface="Microsoft JhengHei"/>
              <a:cs typeface="Microsoft JhengHei"/>
            </a:endParaRPr>
          </a:p>
          <a:p>
            <a:pPr marL="520065" marR="284480" indent="-308610">
              <a:lnSpc>
                <a:spcPct val="100000"/>
              </a:lnSpc>
              <a:spcBef>
                <a:spcPts val="1500"/>
              </a:spcBef>
              <a:tabLst>
                <a:tab pos="5819775" algn="l"/>
              </a:tabLst>
            </a:pPr>
            <a:r>
              <a:rPr sz="2400" dirty="0">
                <a:latin typeface="SimSun"/>
                <a:cs typeface="SimSun"/>
              </a:rPr>
              <a:t>外温动物及植物的代谢速度随温度变化而变化。其代</a:t>
            </a:r>
            <a:r>
              <a:rPr sz="2400" spc="-50" dirty="0">
                <a:latin typeface="SimSun"/>
                <a:cs typeface="SimSun"/>
              </a:rPr>
              <a:t>谢</a:t>
            </a:r>
            <a:r>
              <a:rPr sz="2400" dirty="0">
                <a:latin typeface="SimSun"/>
                <a:cs typeface="SimSun"/>
              </a:rPr>
              <a:t>速度随温度增加通常用</a:t>
            </a:r>
            <a:r>
              <a:rPr sz="2800" b="1" spc="215" dirty="0">
                <a:solidFill>
                  <a:srgbClr val="CC3300"/>
                </a:solidFill>
                <a:latin typeface="Microsoft JhengHei"/>
                <a:cs typeface="Microsoft JhengHei"/>
              </a:rPr>
              <a:t>温</a:t>
            </a:r>
            <a:r>
              <a:rPr sz="2800" b="1" spc="225" dirty="0">
                <a:solidFill>
                  <a:srgbClr val="CC3300"/>
                </a:solidFill>
                <a:latin typeface="Microsoft JhengHei"/>
                <a:cs typeface="Microsoft JhengHei"/>
              </a:rPr>
              <a:t>度</a:t>
            </a:r>
            <a:r>
              <a:rPr sz="2800" b="1" spc="220" dirty="0">
                <a:solidFill>
                  <a:srgbClr val="CC3300"/>
                </a:solidFill>
                <a:latin typeface="Microsoft JhengHei"/>
                <a:cs typeface="Microsoft JhengHei"/>
              </a:rPr>
              <a:t>系</a:t>
            </a:r>
            <a:r>
              <a:rPr sz="2800" b="1" dirty="0">
                <a:solidFill>
                  <a:srgbClr val="CC3300"/>
                </a:solidFill>
                <a:latin typeface="Microsoft JhengHei"/>
                <a:cs typeface="Microsoft JhengHei"/>
              </a:rPr>
              <a:t>数</a:t>
            </a:r>
            <a:r>
              <a:rPr sz="2800" b="1" spc="190" dirty="0">
                <a:solidFill>
                  <a:srgbClr val="CC3300"/>
                </a:solidFill>
                <a:latin typeface="Microsoft JhengHei"/>
                <a:cs typeface="Microsoft JhengHei"/>
              </a:rPr>
              <a:t> </a:t>
            </a:r>
            <a:r>
              <a:rPr sz="2800" b="1" spc="-25" dirty="0">
                <a:solidFill>
                  <a:srgbClr val="CC3300"/>
                </a:solidFill>
                <a:latin typeface="Times New Roman"/>
                <a:cs typeface="Times New Roman"/>
              </a:rPr>
              <a:t>Q</a:t>
            </a:r>
            <a:r>
              <a:rPr sz="2400" b="1" spc="-37" baseline="-29513" dirty="0">
                <a:solidFill>
                  <a:srgbClr val="CC3300"/>
                </a:solidFill>
                <a:latin typeface="Times New Roman"/>
                <a:cs typeface="Times New Roman"/>
              </a:rPr>
              <a:t>10</a:t>
            </a:r>
            <a:r>
              <a:rPr sz="2400" b="1" baseline="-29513" dirty="0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SimSun"/>
                <a:cs typeface="SimSun"/>
              </a:rPr>
              <a:t>来</a:t>
            </a:r>
            <a:r>
              <a:rPr sz="2400" spc="-10" dirty="0">
                <a:latin typeface="SimSun"/>
                <a:cs typeface="SimSun"/>
              </a:rPr>
              <a:t>描述</a:t>
            </a:r>
            <a:r>
              <a:rPr sz="2400" spc="-50" dirty="0">
                <a:latin typeface="SimSun"/>
                <a:cs typeface="SimSun"/>
              </a:rPr>
              <a:t>：</a:t>
            </a:r>
            <a:endParaRPr sz="2400">
              <a:latin typeface="SimSun"/>
              <a:cs typeface="SimSun"/>
            </a:endParaRPr>
          </a:p>
          <a:p>
            <a:pPr marL="520065" marR="68580" indent="-457200">
              <a:lnSpc>
                <a:spcPct val="118200"/>
              </a:lnSpc>
              <a:spcBef>
                <a:spcPts val="1735"/>
              </a:spcBef>
              <a:tabLst>
                <a:tab pos="1354455" algn="l"/>
                <a:tab pos="5883275" algn="l"/>
              </a:tabLst>
            </a:pPr>
            <a:r>
              <a:rPr sz="2400" dirty="0">
                <a:latin typeface="SimSun"/>
                <a:cs typeface="SimSun"/>
              </a:rPr>
              <a:t>公式</a:t>
            </a:r>
            <a:r>
              <a:rPr sz="2400" spc="-50" dirty="0">
                <a:latin typeface="SimSun"/>
                <a:cs typeface="SimSun"/>
              </a:rPr>
              <a:t>：</a:t>
            </a:r>
            <a:r>
              <a:rPr sz="2400" dirty="0">
                <a:latin typeface="SimSun"/>
                <a:cs typeface="SimSun"/>
              </a:rPr>
              <a:t>	</a:t>
            </a:r>
            <a:r>
              <a:rPr sz="2800" b="1" dirty="0">
                <a:latin typeface="Times New Roman"/>
                <a:cs typeface="Times New Roman"/>
              </a:rPr>
              <a:t>Q</a:t>
            </a:r>
            <a:r>
              <a:rPr sz="2400" b="1" baseline="-29513" dirty="0">
                <a:latin typeface="Times New Roman"/>
                <a:cs typeface="Times New Roman"/>
              </a:rPr>
              <a:t>10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T℃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215" dirty="0">
                <a:latin typeface="Microsoft JhengHei"/>
                <a:cs typeface="Microsoft JhengHei"/>
              </a:rPr>
              <a:t>体温</a:t>
            </a:r>
            <a:r>
              <a:rPr sz="2800" b="1" spc="225" dirty="0">
                <a:latin typeface="Microsoft JhengHei"/>
                <a:cs typeface="Microsoft JhengHei"/>
              </a:rPr>
              <a:t>时的代</a:t>
            </a:r>
            <a:r>
              <a:rPr sz="2800" b="1" spc="220" dirty="0">
                <a:latin typeface="Microsoft JhengHei"/>
                <a:cs typeface="Microsoft JhengHei"/>
              </a:rPr>
              <a:t>谢</a:t>
            </a:r>
            <a:r>
              <a:rPr sz="2800" b="1" dirty="0">
                <a:latin typeface="Microsoft JhengHei"/>
                <a:cs typeface="Microsoft JhengHei"/>
              </a:rPr>
              <a:t>率</a:t>
            </a:r>
            <a:r>
              <a:rPr sz="2800" b="1" spc="200" dirty="0">
                <a:latin typeface="Microsoft JhengHei"/>
                <a:cs typeface="Microsoft JhengHei"/>
              </a:rPr>
              <a:t> </a:t>
            </a:r>
            <a:r>
              <a:rPr sz="2800" b="1" spc="-50" dirty="0">
                <a:latin typeface="Times New Roman"/>
                <a:cs typeface="Times New Roman"/>
              </a:rPr>
              <a:t>/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20" dirty="0">
                <a:latin typeface="Times New Roman"/>
                <a:cs typeface="Times New Roman"/>
              </a:rPr>
              <a:t>(T-</a:t>
            </a:r>
            <a:r>
              <a:rPr sz="2800" b="1" dirty="0">
                <a:latin typeface="Times New Roman"/>
                <a:cs typeface="Times New Roman"/>
              </a:rPr>
              <a:t>10)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℃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Microsoft JhengHei"/>
                <a:cs typeface="Microsoft JhengHei"/>
              </a:rPr>
              <a:t>体</a:t>
            </a:r>
            <a:r>
              <a:rPr sz="2800" b="1" spc="215" dirty="0">
                <a:latin typeface="Microsoft JhengHei"/>
                <a:cs typeface="Microsoft JhengHei"/>
              </a:rPr>
              <a:t>温</a:t>
            </a:r>
            <a:r>
              <a:rPr sz="2800" b="1" spc="225" dirty="0">
                <a:latin typeface="Microsoft JhengHei"/>
                <a:cs typeface="Microsoft JhengHei"/>
              </a:rPr>
              <a:t>时</a:t>
            </a:r>
            <a:r>
              <a:rPr sz="2800" b="1" spc="220" dirty="0">
                <a:latin typeface="Microsoft JhengHei"/>
                <a:cs typeface="Microsoft JhengHei"/>
              </a:rPr>
              <a:t>的</a:t>
            </a:r>
            <a:r>
              <a:rPr sz="2800" b="1" spc="215" dirty="0">
                <a:latin typeface="Microsoft JhengHei"/>
                <a:cs typeface="Microsoft JhengHei"/>
              </a:rPr>
              <a:t>代</a:t>
            </a:r>
            <a:r>
              <a:rPr sz="2800" b="1" spc="229" dirty="0">
                <a:latin typeface="Microsoft JhengHei"/>
                <a:cs typeface="Microsoft JhengHei"/>
              </a:rPr>
              <a:t>谢</a:t>
            </a:r>
            <a:r>
              <a:rPr sz="2800" b="1" spc="-50" dirty="0">
                <a:latin typeface="Microsoft JhengHei"/>
                <a:cs typeface="Microsoft JhengHei"/>
              </a:rPr>
              <a:t>率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14850" y="5081270"/>
            <a:ext cx="38379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185" dirty="0">
                <a:latin typeface="Microsoft JhengHei"/>
                <a:cs typeface="Microsoft JhengHei"/>
              </a:rPr>
              <a:t>，变温动物与植物代谢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0869" y="5081270"/>
            <a:ext cx="3691254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93745" algn="l"/>
              </a:tabLst>
            </a:pPr>
            <a:r>
              <a:rPr sz="2800" b="1" spc="220" dirty="0">
                <a:latin typeface="Microsoft JhengHei"/>
                <a:cs typeface="Microsoft JhengHei"/>
              </a:rPr>
              <a:t>即</a:t>
            </a:r>
            <a:r>
              <a:rPr sz="2800" b="1" spc="225" dirty="0">
                <a:latin typeface="Microsoft JhengHei"/>
                <a:cs typeface="Microsoft JhengHei"/>
              </a:rPr>
              <a:t>：</a:t>
            </a:r>
            <a:r>
              <a:rPr sz="2800" b="1" spc="215" dirty="0">
                <a:latin typeface="Microsoft JhengHei"/>
                <a:cs typeface="Microsoft JhengHei"/>
              </a:rPr>
              <a:t>温度</a:t>
            </a:r>
            <a:r>
              <a:rPr sz="2800" b="1" spc="225" dirty="0">
                <a:latin typeface="Microsoft JhengHei"/>
                <a:cs typeface="Microsoft JhengHei"/>
              </a:rPr>
              <a:t>每</a:t>
            </a:r>
            <a:r>
              <a:rPr sz="2800" b="1" spc="215" dirty="0">
                <a:latin typeface="Microsoft JhengHei"/>
                <a:cs typeface="Microsoft JhengHei"/>
              </a:rPr>
              <a:t>升</a:t>
            </a:r>
            <a:r>
              <a:rPr sz="2800" b="1" dirty="0">
                <a:latin typeface="Microsoft JhengHei"/>
                <a:cs typeface="Microsoft JhengHei"/>
              </a:rPr>
              <a:t>高</a:t>
            </a:r>
            <a:r>
              <a:rPr sz="2800" b="1" spc="210" dirty="0">
                <a:latin typeface="Microsoft JhengHei"/>
                <a:cs typeface="Microsoft JhengHei"/>
              </a:rPr>
              <a:t> </a:t>
            </a:r>
            <a:r>
              <a:rPr sz="2800" b="1" spc="-25" dirty="0">
                <a:latin typeface="Times New Roman"/>
                <a:cs typeface="Times New Roman"/>
              </a:rPr>
              <a:t>10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-50" dirty="0">
                <a:latin typeface="Times New Roman"/>
                <a:cs typeface="Times New Roman"/>
              </a:rPr>
              <a:t>℃</a:t>
            </a:r>
            <a:endParaRPr sz="280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sz="2800" b="1" spc="160" dirty="0">
                <a:latin typeface="Microsoft JhengHei"/>
                <a:cs typeface="Microsoft JhengHei"/>
              </a:rPr>
              <a:t>率的变化。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909570" y="2066474"/>
            <a:ext cx="3289300" cy="2552700"/>
            <a:chOff x="2909570" y="2066474"/>
            <a:chExt cx="3289300" cy="2552700"/>
          </a:xfrm>
        </p:grpSpPr>
        <p:sp>
          <p:nvSpPr>
            <p:cNvPr id="3" name="object 3"/>
            <p:cNvSpPr/>
            <p:nvPr/>
          </p:nvSpPr>
          <p:spPr>
            <a:xfrm>
              <a:off x="2909570" y="2071369"/>
              <a:ext cx="3284220" cy="2547620"/>
            </a:xfrm>
            <a:custGeom>
              <a:avLst/>
              <a:gdLst/>
              <a:ahLst/>
              <a:cxnLst/>
              <a:rect l="l" t="t" r="r" b="b"/>
              <a:pathLst>
                <a:path w="3284220" h="2547620">
                  <a:moveTo>
                    <a:pt x="48260" y="2523490"/>
                  </a:moveTo>
                  <a:lnTo>
                    <a:pt x="48260" y="2499360"/>
                  </a:lnTo>
                </a:path>
                <a:path w="3284220" h="2547620">
                  <a:moveTo>
                    <a:pt x="453390" y="2547619"/>
                  </a:moveTo>
                  <a:lnTo>
                    <a:pt x="453390" y="2499360"/>
                  </a:lnTo>
                </a:path>
                <a:path w="3284220" h="2547620">
                  <a:moveTo>
                    <a:pt x="857250" y="2523490"/>
                  </a:moveTo>
                  <a:lnTo>
                    <a:pt x="857250" y="2499360"/>
                  </a:lnTo>
                </a:path>
                <a:path w="3284220" h="2547620">
                  <a:moveTo>
                    <a:pt x="1261109" y="2547619"/>
                  </a:moveTo>
                  <a:lnTo>
                    <a:pt x="1261109" y="2499360"/>
                  </a:lnTo>
                </a:path>
                <a:path w="3284220" h="2547620">
                  <a:moveTo>
                    <a:pt x="1666240" y="2523490"/>
                  </a:moveTo>
                  <a:lnTo>
                    <a:pt x="1666240" y="2499360"/>
                  </a:lnTo>
                </a:path>
                <a:path w="3284220" h="2547620">
                  <a:moveTo>
                    <a:pt x="2071370" y="2547619"/>
                  </a:moveTo>
                  <a:lnTo>
                    <a:pt x="2071370" y="2499360"/>
                  </a:lnTo>
                </a:path>
                <a:path w="3284220" h="2547620">
                  <a:moveTo>
                    <a:pt x="2476500" y="2523490"/>
                  </a:moveTo>
                  <a:lnTo>
                    <a:pt x="2476500" y="2499360"/>
                  </a:lnTo>
                </a:path>
                <a:path w="3284220" h="2547620">
                  <a:moveTo>
                    <a:pt x="2879090" y="2547619"/>
                  </a:moveTo>
                  <a:lnTo>
                    <a:pt x="2879090" y="2499360"/>
                  </a:lnTo>
                </a:path>
                <a:path w="3284220" h="2547620">
                  <a:moveTo>
                    <a:pt x="3284220" y="2523490"/>
                  </a:moveTo>
                  <a:lnTo>
                    <a:pt x="3284220" y="2499360"/>
                  </a:lnTo>
                </a:path>
                <a:path w="3284220" h="2547620">
                  <a:moveTo>
                    <a:pt x="48260" y="2499360"/>
                  </a:moveTo>
                  <a:lnTo>
                    <a:pt x="3284220" y="2499360"/>
                  </a:lnTo>
                </a:path>
                <a:path w="3284220" h="2547620">
                  <a:moveTo>
                    <a:pt x="0" y="2499360"/>
                  </a:moveTo>
                  <a:lnTo>
                    <a:pt x="48260" y="2499360"/>
                  </a:lnTo>
                </a:path>
                <a:path w="3284220" h="2547620">
                  <a:moveTo>
                    <a:pt x="24130" y="2250440"/>
                  </a:moveTo>
                  <a:lnTo>
                    <a:pt x="48260" y="2250440"/>
                  </a:lnTo>
                </a:path>
                <a:path w="3284220" h="2547620">
                  <a:moveTo>
                    <a:pt x="0" y="2000249"/>
                  </a:moveTo>
                  <a:lnTo>
                    <a:pt x="48260" y="2000249"/>
                  </a:lnTo>
                </a:path>
                <a:path w="3284220" h="2547620">
                  <a:moveTo>
                    <a:pt x="24130" y="1750059"/>
                  </a:moveTo>
                  <a:lnTo>
                    <a:pt x="48260" y="1750059"/>
                  </a:lnTo>
                </a:path>
                <a:path w="3284220" h="2547620">
                  <a:moveTo>
                    <a:pt x="0" y="1499869"/>
                  </a:moveTo>
                  <a:lnTo>
                    <a:pt x="48260" y="1499869"/>
                  </a:lnTo>
                </a:path>
                <a:path w="3284220" h="2547620">
                  <a:moveTo>
                    <a:pt x="24130" y="1250950"/>
                  </a:moveTo>
                  <a:lnTo>
                    <a:pt x="48260" y="1250950"/>
                  </a:lnTo>
                </a:path>
                <a:path w="3284220" h="2547620">
                  <a:moveTo>
                    <a:pt x="0" y="1000759"/>
                  </a:moveTo>
                  <a:lnTo>
                    <a:pt x="48260" y="1000759"/>
                  </a:lnTo>
                </a:path>
                <a:path w="3284220" h="2547620">
                  <a:moveTo>
                    <a:pt x="24130" y="750569"/>
                  </a:moveTo>
                  <a:lnTo>
                    <a:pt x="48260" y="750569"/>
                  </a:lnTo>
                </a:path>
                <a:path w="3284220" h="2547620">
                  <a:moveTo>
                    <a:pt x="0" y="500379"/>
                  </a:moveTo>
                  <a:lnTo>
                    <a:pt x="48260" y="500379"/>
                  </a:lnTo>
                </a:path>
                <a:path w="3284220" h="2547620">
                  <a:moveTo>
                    <a:pt x="24130" y="251459"/>
                  </a:moveTo>
                  <a:lnTo>
                    <a:pt x="48260" y="251459"/>
                  </a:lnTo>
                </a:path>
                <a:path w="3284220" h="2547620">
                  <a:moveTo>
                    <a:pt x="0" y="0"/>
                  </a:moveTo>
                  <a:lnTo>
                    <a:pt x="48260" y="0"/>
                  </a:lnTo>
                </a:path>
                <a:path w="3284220" h="2547620">
                  <a:moveTo>
                    <a:pt x="48260" y="2499360"/>
                  </a:moveTo>
                  <a:lnTo>
                    <a:pt x="48260" y="0"/>
                  </a:lnTo>
                </a:path>
              </a:pathLst>
            </a:custGeom>
            <a:ln w="97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33090" y="4071619"/>
              <a:ext cx="52069" cy="50800"/>
            </a:xfrm>
            <a:custGeom>
              <a:avLst/>
              <a:gdLst/>
              <a:ahLst/>
              <a:cxnLst/>
              <a:rect l="l" t="t" r="r" b="b"/>
              <a:pathLst>
                <a:path w="52069" h="50800">
                  <a:moveTo>
                    <a:pt x="30480" y="0"/>
                  </a:moveTo>
                  <a:lnTo>
                    <a:pt x="20320" y="0"/>
                  </a:lnTo>
                  <a:lnTo>
                    <a:pt x="12700" y="2539"/>
                  </a:lnTo>
                  <a:lnTo>
                    <a:pt x="8890" y="5079"/>
                  </a:lnTo>
                  <a:lnTo>
                    <a:pt x="5080" y="8889"/>
                  </a:lnTo>
                  <a:lnTo>
                    <a:pt x="3810" y="12699"/>
                  </a:lnTo>
                  <a:lnTo>
                    <a:pt x="1270" y="16509"/>
                  </a:lnTo>
                  <a:lnTo>
                    <a:pt x="0" y="20319"/>
                  </a:lnTo>
                  <a:lnTo>
                    <a:pt x="0" y="30479"/>
                  </a:lnTo>
                  <a:lnTo>
                    <a:pt x="1270" y="34289"/>
                  </a:lnTo>
                  <a:lnTo>
                    <a:pt x="3810" y="38099"/>
                  </a:lnTo>
                  <a:lnTo>
                    <a:pt x="5080" y="41909"/>
                  </a:lnTo>
                  <a:lnTo>
                    <a:pt x="8890" y="45719"/>
                  </a:lnTo>
                  <a:lnTo>
                    <a:pt x="12700" y="48259"/>
                  </a:lnTo>
                  <a:lnTo>
                    <a:pt x="20320" y="50799"/>
                  </a:lnTo>
                  <a:lnTo>
                    <a:pt x="30480" y="50799"/>
                  </a:lnTo>
                  <a:lnTo>
                    <a:pt x="52070" y="30479"/>
                  </a:lnTo>
                  <a:lnTo>
                    <a:pt x="52070" y="25399"/>
                  </a:lnTo>
                  <a:lnTo>
                    <a:pt x="52070" y="20319"/>
                  </a:lnTo>
                  <a:lnTo>
                    <a:pt x="50800" y="16509"/>
                  </a:lnTo>
                  <a:lnTo>
                    <a:pt x="45720" y="8889"/>
                  </a:lnTo>
                  <a:lnTo>
                    <a:pt x="41910" y="5079"/>
                  </a:lnTo>
                  <a:lnTo>
                    <a:pt x="38100" y="2539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133090" y="4071619"/>
              <a:ext cx="49530" cy="49530"/>
            </a:xfrm>
            <a:custGeom>
              <a:avLst/>
              <a:gdLst/>
              <a:ahLst/>
              <a:cxnLst/>
              <a:rect l="l" t="t" r="r" b="b"/>
              <a:pathLst>
                <a:path w="49530" h="49529">
                  <a:moveTo>
                    <a:pt x="49530" y="25399"/>
                  </a:moveTo>
                  <a:lnTo>
                    <a:pt x="49530" y="22859"/>
                  </a:lnTo>
                  <a:lnTo>
                    <a:pt x="49530" y="20319"/>
                  </a:lnTo>
                  <a:lnTo>
                    <a:pt x="49530" y="17779"/>
                  </a:lnTo>
                  <a:lnTo>
                    <a:pt x="48260" y="15239"/>
                  </a:lnTo>
                  <a:lnTo>
                    <a:pt x="46990" y="13969"/>
                  </a:lnTo>
                  <a:lnTo>
                    <a:pt x="46990" y="12699"/>
                  </a:lnTo>
                  <a:lnTo>
                    <a:pt x="46990" y="11429"/>
                  </a:lnTo>
                  <a:lnTo>
                    <a:pt x="45720" y="10159"/>
                  </a:lnTo>
                  <a:lnTo>
                    <a:pt x="44450" y="8889"/>
                  </a:lnTo>
                  <a:lnTo>
                    <a:pt x="43180" y="7619"/>
                  </a:lnTo>
                  <a:lnTo>
                    <a:pt x="41910" y="6349"/>
                  </a:lnTo>
                  <a:lnTo>
                    <a:pt x="40640" y="5079"/>
                  </a:lnTo>
                  <a:lnTo>
                    <a:pt x="39370" y="3809"/>
                  </a:lnTo>
                  <a:lnTo>
                    <a:pt x="38100" y="3809"/>
                  </a:lnTo>
                  <a:lnTo>
                    <a:pt x="36830" y="2539"/>
                  </a:lnTo>
                  <a:lnTo>
                    <a:pt x="35560" y="2539"/>
                  </a:lnTo>
                  <a:lnTo>
                    <a:pt x="34290" y="1269"/>
                  </a:lnTo>
                  <a:lnTo>
                    <a:pt x="33020" y="1269"/>
                  </a:lnTo>
                  <a:lnTo>
                    <a:pt x="31750" y="0"/>
                  </a:lnTo>
                  <a:lnTo>
                    <a:pt x="30480" y="0"/>
                  </a:lnTo>
                  <a:lnTo>
                    <a:pt x="17780" y="0"/>
                  </a:lnTo>
                  <a:lnTo>
                    <a:pt x="17780" y="1269"/>
                  </a:lnTo>
                  <a:lnTo>
                    <a:pt x="16510" y="1269"/>
                  </a:lnTo>
                  <a:lnTo>
                    <a:pt x="15240" y="1269"/>
                  </a:lnTo>
                  <a:lnTo>
                    <a:pt x="13970" y="2539"/>
                  </a:lnTo>
                  <a:lnTo>
                    <a:pt x="12700" y="2539"/>
                  </a:lnTo>
                  <a:lnTo>
                    <a:pt x="11430" y="3809"/>
                  </a:lnTo>
                  <a:lnTo>
                    <a:pt x="10160" y="3809"/>
                  </a:lnTo>
                  <a:lnTo>
                    <a:pt x="8890" y="5079"/>
                  </a:lnTo>
                  <a:lnTo>
                    <a:pt x="8890" y="6349"/>
                  </a:lnTo>
                  <a:lnTo>
                    <a:pt x="7620" y="6349"/>
                  </a:lnTo>
                  <a:lnTo>
                    <a:pt x="6350" y="7619"/>
                  </a:lnTo>
                  <a:lnTo>
                    <a:pt x="6350" y="8889"/>
                  </a:lnTo>
                  <a:lnTo>
                    <a:pt x="5080" y="8889"/>
                  </a:lnTo>
                  <a:lnTo>
                    <a:pt x="3810" y="10159"/>
                  </a:lnTo>
                  <a:lnTo>
                    <a:pt x="3810" y="11429"/>
                  </a:lnTo>
                  <a:lnTo>
                    <a:pt x="2540" y="12699"/>
                  </a:lnTo>
                  <a:lnTo>
                    <a:pt x="2540" y="13969"/>
                  </a:lnTo>
                  <a:lnTo>
                    <a:pt x="1270" y="15239"/>
                  </a:lnTo>
                  <a:lnTo>
                    <a:pt x="1270" y="17779"/>
                  </a:lnTo>
                  <a:lnTo>
                    <a:pt x="0" y="17779"/>
                  </a:lnTo>
                  <a:lnTo>
                    <a:pt x="0" y="20319"/>
                  </a:lnTo>
                  <a:lnTo>
                    <a:pt x="0" y="22859"/>
                  </a:lnTo>
                  <a:lnTo>
                    <a:pt x="0" y="25399"/>
                  </a:lnTo>
                  <a:lnTo>
                    <a:pt x="0" y="27939"/>
                  </a:lnTo>
                  <a:lnTo>
                    <a:pt x="0" y="30479"/>
                  </a:lnTo>
                  <a:lnTo>
                    <a:pt x="1270" y="31749"/>
                  </a:lnTo>
                  <a:lnTo>
                    <a:pt x="1270" y="33019"/>
                  </a:lnTo>
                  <a:lnTo>
                    <a:pt x="1270" y="34289"/>
                  </a:lnTo>
                  <a:lnTo>
                    <a:pt x="2540" y="35559"/>
                  </a:lnTo>
                  <a:lnTo>
                    <a:pt x="2540" y="36829"/>
                  </a:lnTo>
                  <a:lnTo>
                    <a:pt x="3810" y="38099"/>
                  </a:lnTo>
                  <a:lnTo>
                    <a:pt x="3810" y="39369"/>
                  </a:lnTo>
                  <a:lnTo>
                    <a:pt x="5080" y="40639"/>
                  </a:lnTo>
                  <a:lnTo>
                    <a:pt x="6350" y="40639"/>
                  </a:lnTo>
                  <a:lnTo>
                    <a:pt x="6350" y="41909"/>
                  </a:lnTo>
                  <a:lnTo>
                    <a:pt x="7620" y="43179"/>
                  </a:lnTo>
                  <a:lnTo>
                    <a:pt x="8890" y="44449"/>
                  </a:lnTo>
                  <a:lnTo>
                    <a:pt x="10160" y="45719"/>
                  </a:lnTo>
                  <a:lnTo>
                    <a:pt x="11430" y="45719"/>
                  </a:lnTo>
                  <a:lnTo>
                    <a:pt x="12700" y="46989"/>
                  </a:lnTo>
                  <a:lnTo>
                    <a:pt x="13970" y="46989"/>
                  </a:lnTo>
                  <a:lnTo>
                    <a:pt x="15240" y="48259"/>
                  </a:lnTo>
                  <a:lnTo>
                    <a:pt x="16510" y="48259"/>
                  </a:lnTo>
                  <a:lnTo>
                    <a:pt x="17780" y="49529"/>
                  </a:lnTo>
                  <a:lnTo>
                    <a:pt x="17780" y="49529"/>
                  </a:lnTo>
                  <a:lnTo>
                    <a:pt x="20320" y="49529"/>
                  </a:lnTo>
                  <a:lnTo>
                    <a:pt x="22860" y="49529"/>
                  </a:lnTo>
                  <a:lnTo>
                    <a:pt x="25400" y="49529"/>
                  </a:lnTo>
                  <a:lnTo>
                    <a:pt x="33020" y="49529"/>
                  </a:lnTo>
                  <a:lnTo>
                    <a:pt x="33020" y="48259"/>
                  </a:lnTo>
                  <a:lnTo>
                    <a:pt x="34290" y="48259"/>
                  </a:lnTo>
                  <a:lnTo>
                    <a:pt x="35560" y="46989"/>
                  </a:lnTo>
                  <a:lnTo>
                    <a:pt x="36830" y="46989"/>
                  </a:lnTo>
                  <a:lnTo>
                    <a:pt x="38100" y="45719"/>
                  </a:lnTo>
                  <a:lnTo>
                    <a:pt x="39370" y="45719"/>
                  </a:lnTo>
                  <a:lnTo>
                    <a:pt x="40640" y="44449"/>
                  </a:lnTo>
                  <a:lnTo>
                    <a:pt x="41910" y="44449"/>
                  </a:lnTo>
                  <a:lnTo>
                    <a:pt x="41910" y="43179"/>
                  </a:lnTo>
                  <a:lnTo>
                    <a:pt x="43180" y="41909"/>
                  </a:lnTo>
                  <a:lnTo>
                    <a:pt x="44450" y="40639"/>
                  </a:lnTo>
                  <a:lnTo>
                    <a:pt x="45720" y="39369"/>
                  </a:lnTo>
                  <a:lnTo>
                    <a:pt x="46990" y="38099"/>
                  </a:lnTo>
                  <a:lnTo>
                    <a:pt x="46990" y="36829"/>
                  </a:lnTo>
                  <a:lnTo>
                    <a:pt x="46990" y="35559"/>
                  </a:lnTo>
                  <a:lnTo>
                    <a:pt x="48260" y="34289"/>
                  </a:lnTo>
                  <a:lnTo>
                    <a:pt x="48260" y="33019"/>
                  </a:lnTo>
                  <a:lnTo>
                    <a:pt x="49530" y="31749"/>
                  </a:lnTo>
                  <a:lnTo>
                    <a:pt x="49530" y="30479"/>
                  </a:lnTo>
                  <a:lnTo>
                    <a:pt x="49530" y="27939"/>
                  </a:lnTo>
                  <a:lnTo>
                    <a:pt x="49530" y="25399"/>
                  </a:lnTo>
                  <a:close/>
                </a:path>
              </a:pathLst>
            </a:custGeom>
            <a:ln w="4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40150" y="3870959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70" h="52070">
                  <a:moveTo>
                    <a:pt x="31750" y="0"/>
                  </a:moveTo>
                  <a:lnTo>
                    <a:pt x="21589" y="0"/>
                  </a:lnTo>
                  <a:lnTo>
                    <a:pt x="17779" y="1269"/>
                  </a:lnTo>
                  <a:lnTo>
                    <a:pt x="6350" y="8889"/>
                  </a:lnTo>
                  <a:lnTo>
                    <a:pt x="1270" y="16509"/>
                  </a:lnTo>
                  <a:lnTo>
                    <a:pt x="0" y="21589"/>
                  </a:lnTo>
                  <a:lnTo>
                    <a:pt x="0" y="30479"/>
                  </a:lnTo>
                  <a:lnTo>
                    <a:pt x="1270" y="34289"/>
                  </a:lnTo>
                  <a:lnTo>
                    <a:pt x="3810" y="38100"/>
                  </a:lnTo>
                  <a:lnTo>
                    <a:pt x="6350" y="43179"/>
                  </a:lnTo>
                  <a:lnTo>
                    <a:pt x="17779" y="50800"/>
                  </a:lnTo>
                  <a:lnTo>
                    <a:pt x="21589" y="52069"/>
                  </a:lnTo>
                  <a:lnTo>
                    <a:pt x="31750" y="52069"/>
                  </a:lnTo>
                  <a:lnTo>
                    <a:pt x="35560" y="50800"/>
                  </a:lnTo>
                  <a:lnTo>
                    <a:pt x="46989" y="43179"/>
                  </a:lnTo>
                  <a:lnTo>
                    <a:pt x="48260" y="38100"/>
                  </a:lnTo>
                  <a:lnTo>
                    <a:pt x="50800" y="34289"/>
                  </a:lnTo>
                  <a:lnTo>
                    <a:pt x="52070" y="30479"/>
                  </a:lnTo>
                  <a:lnTo>
                    <a:pt x="52070" y="25400"/>
                  </a:lnTo>
                  <a:lnTo>
                    <a:pt x="52070" y="21589"/>
                  </a:lnTo>
                  <a:lnTo>
                    <a:pt x="50800" y="16509"/>
                  </a:lnTo>
                  <a:lnTo>
                    <a:pt x="48260" y="12700"/>
                  </a:lnTo>
                  <a:lnTo>
                    <a:pt x="46989" y="8889"/>
                  </a:lnTo>
                  <a:lnTo>
                    <a:pt x="35560" y="1269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40150" y="3870959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50800" y="25400"/>
                  </a:lnTo>
                  <a:lnTo>
                    <a:pt x="50800" y="19050"/>
                  </a:lnTo>
                  <a:lnTo>
                    <a:pt x="49529" y="17779"/>
                  </a:lnTo>
                  <a:lnTo>
                    <a:pt x="49529" y="16509"/>
                  </a:lnTo>
                  <a:lnTo>
                    <a:pt x="49529" y="15239"/>
                  </a:lnTo>
                  <a:lnTo>
                    <a:pt x="48260" y="13969"/>
                  </a:lnTo>
                  <a:lnTo>
                    <a:pt x="48260" y="12700"/>
                  </a:lnTo>
                  <a:lnTo>
                    <a:pt x="46989" y="11429"/>
                  </a:lnTo>
                  <a:lnTo>
                    <a:pt x="45720" y="10159"/>
                  </a:lnTo>
                  <a:lnTo>
                    <a:pt x="44450" y="8889"/>
                  </a:lnTo>
                  <a:lnTo>
                    <a:pt x="44450" y="7619"/>
                  </a:lnTo>
                  <a:lnTo>
                    <a:pt x="43179" y="6350"/>
                  </a:lnTo>
                  <a:lnTo>
                    <a:pt x="41910" y="6350"/>
                  </a:lnTo>
                  <a:lnTo>
                    <a:pt x="41910" y="5079"/>
                  </a:lnTo>
                  <a:lnTo>
                    <a:pt x="40639" y="3809"/>
                  </a:lnTo>
                  <a:lnTo>
                    <a:pt x="39370" y="3809"/>
                  </a:lnTo>
                  <a:lnTo>
                    <a:pt x="38100" y="2539"/>
                  </a:lnTo>
                  <a:lnTo>
                    <a:pt x="36829" y="2539"/>
                  </a:lnTo>
                  <a:lnTo>
                    <a:pt x="35560" y="2539"/>
                  </a:lnTo>
                  <a:lnTo>
                    <a:pt x="34289" y="1269"/>
                  </a:lnTo>
                  <a:lnTo>
                    <a:pt x="33020" y="1269"/>
                  </a:lnTo>
                  <a:lnTo>
                    <a:pt x="31750" y="1269"/>
                  </a:lnTo>
                  <a:lnTo>
                    <a:pt x="30479" y="0"/>
                  </a:lnTo>
                  <a:lnTo>
                    <a:pt x="20320" y="0"/>
                  </a:lnTo>
                  <a:lnTo>
                    <a:pt x="19050" y="1269"/>
                  </a:lnTo>
                  <a:lnTo>
                    <a:pt x="17779" y="1269"/>
                  </a:lnTo>
                  <a:lnTo>
                    <a:pt x="16510" y="2539"/>
                  </a:lnTo>
                  <a:lnTo>
                    <a:pt x="15239" y="2539"/>
                  </a:lnTo>
                  <a:lnTo>
                    <a:pt x="13970" y="2539"/>
                  </a:lnTo>
                  <a:lnTo>
                    <a:pt x="12700" y="3809"/>
                  </a:lnTo>
                  <a:lnTo>
                    <a:pt x="11429" y="3809"/>
                  </a:lnTo>
                  <a:lnTo>
                    <a:pt x="10160" y="5079"/>
                  </a:lnTo>
                  <a:lnTo>
                    <a:pt x="8889" y="6350"/>
                  </a:lnTo>
                  <a:lnTo>
                    <a:pt x="7620" y="7619"/>
                  </a:lnTo>
                  <a:lnTo>
                    <a:pt x="6350" y="8889"/>
                  </a:lnTo>
                  <a:lnTo>
                    <a:pt x="6350" y="10159"/>
                  </a:lnTo>
                  <a:lnTo>
                    <a:pt x="5079" y="11429"/>
                  </a:lnTo>
                  <a:lnTo>
                    <a:pt x="3810" y="12700"/>
                  </a:lnTo>
                  <a:lnTo>
                    <a:pt x="2539" y="13969"/>
                  </a:lnTo>
                  <a:lnTo>
                    <a:pt x="2539" y="15239"/>
                  </a:lnTo>
                  <a:lnTo>
                    <a:pt x="2539" y="16509"/>
                  </a:lnTo>
                  <a:lnTo>
                    <a:pt x="1270" y="17779"/>
                  </a:lnTo>
                  <a:lnTo>
                    <a:pt x="1270" y="19050"/>
                  </a:lnTo>
                  <a:lnTo>
                    <a:pt x="1270" y="20319"/>
                  </a:lnTo>
                  <a:lnTo>
                    <a:pt x="1270" y="21589"/>
                  </a:lnTo>
                  <a:lnTo>
                    <a:pt x="0" y="22859"/>
                  </a:lnTo>
                  <a:lnTo>
                    <a:pt x="0" y="25400"/>
                  </a:lnTo>
                  <a:lnTo>
                    <a:pt x="0" y="27939"/>
                  </a:lnTo>
                  <a:lnTo>
                    <a:pt x="1270" y="29209"/>
                  </a:lnTo>
                  <a:lnTo>
                    <a:pt x="1270" y="30479"/>
                  </a:lnTo>
                  <a:lnTo>
                    <a:pt x="1270" y="31750"/>
                  </a:lnTo>
                  <a:lnTo>
                    <a:pt x="1270" y="33019"/>
                  </a:lnTo>
                  <a:lnTo>
                    <a:pt x="2539" y="34289"/>
                  </a:lnTo>
                  <a:lnTo>
                    <a:pt x="2539" y="35559"/>
                  </a:lnTo>
                  <a:lnTo>
                    <a:pt x="3810" y="38100"/>
                  </a:lnTo>
                  <a:lnTo>
                    <a:pt x="5079" y="38100"/>
                  </a:lnTo>
                  <a:lnTo>
                    <a:pt x="5079" y="39369"/>
                  </a:lnTo>
                  <a:lnTo>
                    <a:pt x="6350" y="40639"/>
                  </a:lnTo>
                  <a:lnTo>
                    <a:pt x="6350" y="41909"/>
                  </a:lnTo>
                  <a:lnTo>
                    <a:pt x="7620" y="43179"/>
                  </a:lnTo>
                  <a:lnTo>
                    <a:pt x="8889" y="43179"/>
                  </a:lnTo>
                  <a:lnTo>
                    <a:pt x="8889" y="44450"/>
                  </a:lnTo>
                  <a:lnTo>
                    <a:pt x="10160" y="45719"/>
                  </a:lnTo>
                  <a:lnTo>
                    <a:pt x="11429" y="45719"/>
                  </a:lnTo>
                  <a:lnTo>
                    <a:pt x="12700" y="46989"/>
                  </a:lnTo>
                  <a:lnTo>
                    <a:pt x="13970" y="46989"/>
                  </a:lnTo>
                  <a:lnTo>
                    <a:pt x="15239" y="48259"/>
                  </a:lnTo>
                  <a:lnTo>
                    <a:pt x="16510" y="48259"/>
                  </a:lnTo>
                  <a:lnTo>
                    <a:pt x="17779" y="48259"/>
                  </a:lnTo>
                  <a:lnTo>
                    <a:pt x="17779" y="49529"/>
                  </a:lnTo>
                  <a:lnTo>
                    <a:pt x="19050" y="49529"/>
                  </a:lnTo>
                  <a:lnTo>
                    <a:pt x="20320" y="49529"/>
                  </a:lnTo>
                  <a:lnTo>
                    <a:pt x="21589" y="49529"/>
                  </a:lnTo>
                  <a:lnTo>
                    <a:pt x="22860" y="49529"/>
                  </a:lnTo>
                  <a:lnTo>
                    <a:pt x="24129" y="49529"/>
                  </a:lnTo>
                  <a:lnTo>
                    <a:pt x="25400" y="50800"/>
                  </a:lnTo>
                  <a:lnTo>
                    <a:pt x="26670" y="49529"/>
                  </a:lnTo>
                  <a:lnTo>
                    <a:pt x="27939" y="49529"/>
                  </a:lnTo>
                  <a:lnTo>
                    <a:pt x="29210" y="49529"/>
                  </a:lnTo>
                  <a:lnTo>
                    <a:pt x="30479" y="49529"/>
                  </a:lnTo>
                  <a:lnTo>
                    <a:pt x="31750" y="49529"/>
                  </a:lnTo>
                  <a:lnTo>
                    <a:pt x="33020" y="49529"/>
                  </a:lnTo>
                  <a:lnTo>
                    <a:pt x="34289" y="48259"/>
                  </a:lnTo>
                  <a:lnTo>
                    <a:pt x="35560" y="48259"/>
                  </a:lnTo>
                  <a:lnTo>
                    <a:pt x="36829" y="48259"/>
                  </a:lnTo>
                  <a:lnTo>
                    <a:pt x="38100" y="46989"/>
                  </a:lnTo>
                  <a:lnTo>
                    <a:pt x="39370" y="46989"/>
                  </a:lnTo>
                  <a:lnTo>
                    <a:pt x="40639" y="45719"/>
                  </a:lnTo>
                  <a:lnTo>
                    <a:pt x="41910" y="45719"/>
                  </a:lnTo>
                  <a:lnTo>
                    <a:pt x="41910" y="44450"/>
                  </a:lnTo>
                  <a:lnTo>
                    <a:pt x="43179" y="43179"/>
                  </a:lnTo>
                  <a:lnTo>
                    <a:pt x="44450" y="43179"/>
                  </a:lnTo>
                  <a:lnTo>
                    <a:pt x="44450" y="41909"/>
                  </a:lnTo>
                  <a:lnTo>
                    <a:pt x="45720" y="40639"/>
                  </a:lnTo>
                  <a:lnTo>
                    <a:pt x="46989" y="39369"/>
                  </a:lnTo>
                  <a:lnTo>
                    <a:pt x="46989" y="38100"/>
                  </a:lnTo>
                  <a:lnTo>
                    <a:pt x="48260" y="38100"/>
                  </a:lnTo>
                  <a:lnTo>
                    <a:pt x="48260" y="35559"/>
                  </a:lnTo>
                  <a:lnTo>
                    <a:pt x="49529" y="35559"/>
                  </a:lnTo>
                  <a:lnTo>
                    <a:pt x="49529" y="34289"/>
                  </a:lnTo>
                  <a:lnTo>
                    <a:pt x="49529" y="33019"/>
                  </a:lnTo>
                  <a:lnTo>
                    <a:pt x="50800" y="31750"/>
                  </a:lnTo>
                  <a:lnTo>
                    <a:pt x="50800" y="30479"/>
                  </a:lnTo>
                  <a:lnTo>
                    <a:pt x="50800" y="29209"/>
                  </a:lnTo>
                  <a:lnTo>
                    <a:pt x="50800" y="27939"/>
                  </a:lnTo>
                  <a:lnTo>
                    <a:pt x="50800" y="26669"/>
                  </a:lnTo>
                  <a:lnTo>
                    <a:pt x="50800" y="25400"/>
                  </a:lnTo>
                  <a:close/>
                </a:path>
              </a:pathLst>
            </a:custGeom>
            <a:ln w="4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44010" y="3796029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70" h="52070">
                  <a:moveTo>
                    <a:pt x="30479" y="0"/>
                  </a:moveTo>
                  <a:lnTo>
                    <a:pt x="21589" y="0"/>
                  </a:lnTo>
                  <a:lnTo>
                    <a:pt x="17779" y="1270"/>
                  </a:lnTo>
                  <a:lnTo>
                    <a:pt x="12700" y="3810"/>
                  </a:lnTo>
                  <a:lnTo>
                    <a:pt x="8889" y="6350"/>
                  </a:lnTo>
                  <a:lnTo>
                    <a:pt x="1269" y="17780"/>
                  </a:lnTo>
                  <a:lnTo>
                    <a:pt x="0" y="21590"/>
                  </a:lnTo>
                  <a:lnTo>
                    <a:pt x="0" y="31750"/>
                  </a:lnTo>
                  <a:lnTo>
                    <a:pt x="1269" y="35560"/>
                  </a:lnTo>
                  <a:lnTo>
                    <a:pt x="8889" y="46990"/>
                  </a:lnTo>
                  <a:lnTo>
                    <a:pt x="12700" y="48260"/>
                  </a:lnTo>
                  <a:lnTo>
                    <a:pt x="17779" y="50800"/>
                  </a:lnTo>
                  <a:lnTo>
                    <a:pt x="21589" y="52070"/>
                  </a:lnTo>
                  <a:lnTo>
                    <a:pt x="30479" y="52070"/>
                  </a:lnTo>
                  <a:lnTo>
                    <a:pt x="34289" y="50800"/>
                  </a:lnTo>
                  <a:lnTo>
                    <a:pt x="39369" y="48260"/>
                  </a:lnTo>
                  <a:lnTo>
                    <a:pt x="43179" y="46990"/>
                  </a:lnTo>
                  <a:lnTo>
                    <a:pt x="50800" y="35560"/>
                  </a:lnTo>
                  <a:lnTo>
                    <a:pt x="52069" y="31750"/>
                  </a:lnTo>
                  <a:lnTo>
                    <a:pt x="52069" y="26670"/>
                  </a:lnTo>
                  <a:lnTo>
                    <a:pt x="52069" y="21590"/>
                  </a:lnTo>
                  <a:lnTo>
                    <a:pt x="50800" y="17780"/>
                  </a:lnTo>
                  <a:lnTo>
                    <a:pt x="43179" y="6350"/>
                  </a:lnTo>
                  <a:lnTo>
                    <a:pt x="39369" y="3810"/>
                  </a:lnTo>
                  <a:lnTo>
                    <a:pt x="34289" y="1270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44010" y="3796029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50800" y="24130"/>
                  </a:lnTo>
                  <a:lnTo>
                    <a:pt x="50800" y="22860"/>
                  </a:lnTo>
                  <a:lnTo>
                    <a:pt x="50800" y="21590"/>
                  </a:lnTo>
                  <a:lnTo>
                    <a:pt x="50800" y="20320"/>
                  </a:lnTo>
                  <a:lnTo>
                    <a:pt x="49529" y="19050"/>
                  </a:lnTo>
                  <a:lnTo>
                    <a:pt x="49529" y="16510"/>
                  </a:lnTo>
                  <a:lnTo>
                    <a:pt x="48260" y="16510"/>
                  </a:lnTo>
                  <a:lnTo>
                    <a:pt x="48260" y="15240"/>
                  </a:lnTo>
                  <a:lnTo>
                    <a:pt x="46989" y="13970"/>
                  </a:lnTo>
                  <a:lnTo>
                    <a:pt x="46989" y="12700"/>
                  </a:lnTo>
                  <a:lnTo>
                    <a:pt x="45719" y="11430"/>
                  </a:lnTo>
                  <a:lnTo>
                    <a:pt x="45719" y="10160"/>
                  </a:lnTo>
                  <a:lnTo>
                    <a:pt x="44450" y="10160"/>
                  </a:lnTo>
                  <a:lnTo>
                    <a:pt x="44450" y="8890"/>
                  </a:lnTo>
                  <a:lnTo>
                    <a:pt x="43179" y="7620"/>
                  </a:lnTo>
                  <a:lnTo>
                    <a:pt x="41910" y="6350"/>
                  </a:lnTo>
                  <a:lnTo>
                    <a:pt x="40639" y="6350"/>
                  </a:lnTo>
                  <a:lnTo>
                    <a:pt x="39369" y="5080"/>
                  </a:lnTo>
                  <a:lnTo>
                    <a:pt x="38100" y="3810"/>
                  </a:lnTo>
                  <a:lnTo>
                    <a:pt x="36829" y="3810"/>
                  </a:lnTo>
                  <a:lnTo>
                    <a:pt x="35560" y="2540"/>
                  </a:lnTo>
                  <a:lnTo>
                    <a:pt x="34289" y="2540"/>
                  </a:lnTo>
                  <a:lnTo>
                    <a:pt x="33019" y="2540"/>
                  </a:lnTo>
                  <a:lnTo>
                    <a:pt x="31750" y="1270"/>
                  </a:lnTo>
                  <a:lnTo>
                    <a:pt x="30479" y="1270"/>
                  </a:lnTo>
                  <a:lnTo>
                    <a:pt x="29210" y="1270"/>
                  </a:lnTo>
                  <a:lnTo>
                    <a:pt x="27939" y="1270"/>
                  </a:lnTo>
                  <a:lnTo>
                    <a:pt x="26669" y="1270"/>
                  </a:lnTo>
                  <a:lnTo>
                    <a:pt x="25400" y="0"/>
                  </a:lnTo>
                  <a:lnTo>
                    <a:pt x="24129" y="1270"/>
                  </a:lnTo>
                  <a:lnTo>
                    <a:pt x="22860" y="1270"/>
                  </a:lnTo>
                  <a:lnTo>
                    <a:pt x="21589" y="1270"/>
                  </a:lnTo>
                  <a:lnTo>
                    <a:pt x="20319" y="1270"/>
                  </a:lnTo>
                  <a:lnTo>
                    <a:pt x="19050" y="1270"/>
                  </a:lnTo>
                  <a:lnTo>
                    <a:pt x="17779" y="2540"/>
                  </a:lnTo>
                  <a:lnTo>
                    <a:pt x="16510" y="2540"/>
                  </a:lnTo>
                  <a:lnTo>
                    <a:pt x="15239" y="2540"/>
                  </a:lnTo>
                  <a:lnTo>
                    <a:pt x="13969" y="3810"/>
                  </a:lnTo>
                  <a:lnTo>
                    <a:pt x="12700" y="3810"/>
                  </a:lnTo>
                  <a:lnTo>
                    <a:pt x="12700" y="5080"/>
                  </a:lnTo>
                  <a:lnTo>
                    <a:pt x="11429" y="5080"/>
                  </a:lnTo>
                  <a:lnTo>
                    <a:pt x="10160" y="6350"/>
                  </a:lnTo>
                  <a:lnTo>
                    <a:pt x="8889" y="6350"/>
                  </a:lnTo>
                  <a:lnTo>
                    <a:pt x="7619" y="7620"/>
                  </a:lnTo>
                  <a:lnTo>
                    <a:pt x="7619" y="8890"/>
                  </a:lnTo>
                  <a:lnTo>
                    <a:pt x="6350" y="10160"/>
                  </a:lnTo>
                  <a:lnTo>
                    <a:pt x="5079" y="10160"/>
                  </a:lnTo>
                  <a:lnTo>
                    <a:pt x="5079" y="11430"/>
                  </a:lnTo>
                  <a:lnTo>
                    <a:pt x="3810" y="12700"/>
                  </a:lnTo>
                  <a:lnTo>
                    <a:pt x="3810" y="13970"/>
                  </a:lnTo>
                  <a:lnTo>
                    <a:pt x="2539" y="15240"/>
                  </a:lnTo>
                  <a:lnTo>
                    <a:pt x="2539" y="16510"/>
                  </a:lnTo>
                  <a:lnTo>
                    <a:pt x="1269" y="16510"/>
                  </a:lnTo>
                  <a:lnTo>
                    <a:pt x="1269" y="19050"/>
                  </a:lnTo>
                  <a:lnTo>
                    <a:pt x="1269" y="20320"/>
                  </a:lnTo>
                  <a:lnTo>
                    <a:pt x="1269" y="21590"/>
                  </a:lnTo>
                  <a:lnTo>
                    <a:pt x="0" y="22860"/>
                  </a:lnTo>
                  <a:lnTo>
                    <a:pt x="0" y="25400"/>
                  </a:lnTo>
                  <a:lnTo>
                    <a:pt x="0" y="29210"/>
                  </a:lnTo>
                  <a:lnTo>
                    <a:pt x="1269" y="29210"/>
                  </a:lnTo>
                  <a:lnTo>
                    <a:pt x="1269" y="31750"/>
                  </a:lnTo>
                  <a:lnTo>
                    <a:pt x="1269" y="33020"/>
                  </a:lnTo>
                  <a:lnTo>
                    <a:pt x="1269" y="34290"/>
                  </a:lnTo>
                  <a:lnTo>
                    <a:pt x="2539" y="35560"/>
                  </a:lnTo>
                  <a:lnTo>
                    <a:pt x="2539" y="36830"/>
                  </a:lnTo>
                  <a:lnTo>
                    <a:pt x="3810" y="38100"/>
                  </a:lnTo>
                  <a:lnTo>
                    <a:pt x="3810" y="39370"/>
                  </a:lnTo>
                  <a:lnTo>
                    <a:pt x="5079" y="40640"/>
                  </a:lnTo>
                  <a:lnTo>
                    <a:pt x="6350" y="41910"/>
                  </a:lnTo>
                  <a:lnTo>
                    <a:pt x="7619" y="43180"/>
                  </a:lnTo>
                  <a:lnTo>
                    <a:pt x="7619" y="44450"/>
                  </a:lnTo>
                  <a:lnTo>
                    <a:pt x="8889" y="45720"/>
                  </a:lnTo>
                  <a:lnTo>
                    <a:pt x="10160" y="45720"/>
                  </a:lnTo>
                  <a:lnTo>
                    <a:pt x="11429" y="46990"/>
                  </a:lnTo>
                  <a:lnTo>
                    <a:pt x="12700" y="46990"/>
                  </a:lnTo>
                  <a:lnTo>
                    <a:pt x="12700" y="48260"/>
                  </a:lnTo>
                  <a:lnTo>
                    <a:pt x="13969" y="48260"/>
                  </a:lnTo>
                  <a:lnTo>
                    <a:pt x="15239" y="49530"/>
                  </a:lnTo>
                  <a:lnTo>
                    <a:pt x="16510" y="49530"/>
                  </a:lnTo>
                  <a:lnTo>
                    <a:pt x="17779" y="49530"/>
                  </a:lnTo>
                  <a:lnTo>
                    <a:pt x="19050" y="50800"/>
                  </a:lnTo>
                  <a:lnTo>
                    <a:pt x="20319" y="50800"/>
                  </a:lnTo>
                  <a:lnTo>
                    <a:pt x="21589" y="50800"/>
                  </a:lnTo>
                  <a:lnTo>
                    <a:pt x="25400" y="50800"/>
                  </a:lnTo>
                  <a:lnTo>
                    <a:pt x="31750" y="50800"/>
                  </a:lnTo>
                  <a:lnTo>
                    <a:pt x="33019" y="49530"/>
                  </a:lnTo>
                  <a:lnTo>
                    <a:pt x="34289" y="49530"/>
                  </a:lnTo>
                  <a:lnTo>
                    <a:pt x="35560" y="49530"/>
                  </a:lnTo>
                  <a:lnTo>
                    <a:pt x="36829" y="48260"/>
                  </a:lnTo>
                  <a:lnTo>
                    <a:pt x="38100" y="48260"/>
                  </a:lnTo>
                  <a:lnTo>
                    <a:pt x="39369" y="46990"/>
                  </a:lnTo>
                  <a:lnTo>
                    <a:pt x="40639" y="45720"/>
                  </a:lnTo>
                  <a:lnTo>
                    <a:pt x="41910" y="45720"/>
                  </a:lnTo>
                  <a:lnTo>
                    <a:pt x="43179" y="44450"/>
                  </a:lnTo>
                  <a:lnTo>
                    <a:pt x="44450" y="43180"/>
                  </a:lnTo>
                  <a:lnTo>
                    <a:pt x="44450" y="41910"/>
                  </a:lnTo>
                  <a:lnTo>
                    <a:pt x="45719" y="40640"/>
                  </a:lnTo>
                  <a:lnTo>
                    <a:pt x="46989" y="39370"/>
                  </a:lnTo>
                  <a:lnTo>
                    <a:pt x="46989" y="38100"/>
                  </a:lnTo>
                  <a:lnTo>
                    <a:pt x="48260" y="36830"/>
                  </a:lnTo>
                  <a:lnTo>
                    <a:pt x="48260" y="35560"/>
                  </a:lnTo>
                  <a:lnTo>
                    <a:pt x="49529" y="34290"/>
                  </a:lnTo>
                  <a:lnTo>
                    <a:pt x="49529" y="33020"/>
                  </a:lnTo>
                  <a:lnTo>
                    <a:pt x="49529" y="31750"/>
                  </a:lnTo>
                  <a:lnTo>
                    <a:pt x="50800" y="31750"/>
                  </a:lnTo>
                  <a:lnTo>
                    <a:pt x="50800" y="29210"/>
                  </a:lnTo>
                  <a:lnTo>
                    <a:pt x="50800" y="26670"/>
                  </a:lnTo>
                  <a:lnTo>
                    <a:pt x="50800" y="25400"/>
                  </a:lnTo>
                  <a:close/>
                </a:path>
              </a:pathLst>
            </a:custGeom>
            <a:ln w="4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49140" y="3643629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70" h="52070">
                  <a:moveTo>
                    <a:pt x="30480" y="0"/>
                  </a:moveTo>
                  <a:lnTo>
                    <a:pt x="21589" y="0"/>
                  </a:lnTo>
                  <a:lnTo>
                    <a:pt x="16510" y="1270"/>
                  </a:lnTo>
                  <a:lnTo>
                    <a:pt x="0" y="21590"/>
                  </a:lnTo>
                  <a:lnTo>
                    <a:pt x="0" y="30480"/>
                  </a:lnTo>
                  <a:lnTo>
                    <a:pt x="1270" y="35560"/>
                  </a:lnTo>
                  <a:lnTo>
                    <a:pt x="8889" y="46990"/>
                  </a:lnTo>
                  <a:lnTo>
                    <a:pt x="12700" y="48260"/>
                  </a:lnTo>
                  <a:lnTo>
                    <a:pt x="16510" y="50800"/>
                  </a:lnTo>
                  <a:lnTo>
                    <a:pt x="21589" y="52070"/>
                  </a:lnTo>
                  <a:lnTo>
                    <a:pt x="30480" y="52070"/>
                  </a:lnTo>
                  <a:lnTo>
                    <a:pt x="34289" y="50800"/>
                  </a:lnTo>
                  <a:lnTo>
                    <a:pt x="38100" y="48260"/>
                  </a:lnTo>
                  <a:lnTo>
                    <a:pt x="43180" y="46990"/>
                  </a:lnTo>
                  <a:lnTo>
                    <a:pt x="50800" y="35560"/>
                  </a:lnTo>
                  <a:lnTo>
                    <a:pt x="52070" y="30480"/>
                  </a:lnTo>
                  <a:lnTo>
                    <a:pt x="52070" y="26670"/>
                  </a:lnTo>
                  <a:lnTo>
                    <a:pt x="52070" y="21590"/>
                  </a:lnTo>
                  <a:lnTo>
                    <a:pt x="38100" y="3810"/>
                  </a:lnTo>
                  <a:lnTo>
                    <a:pt x="34289" y="1270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49140" y="3643629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50800" y="25400"/>
                  </a:moveTo>
                  <a:lnTo>
                    <a:pt x="50800" y="24130"/>
                  </a:lnTo>
                  <a:lnTo>
                    <a:pt x="50800" y="22860"/>
                  </a:lnTo>
                  <a:lnTo>
                    <a:pt x="50800" y="21590"/>
                  </a:lnTo>
                  <a:lnTo>
                    <a:pt x="49530" y="20320"/>
                  </a:lnTo>
                  <a:lnTo>
                    <a:pt x="49530" y="19050"/>
                  </a:lnTo>
                  <a:lnTo>
                    <a:pt x="49530" y="17780"/>
                  </a:lnTo>
                  <a:lnTo>
                    <a:pt x="48260" y="16510"/>
                  </a:lnTo>
                  <a:lnTo>
                    <a:pt x="48260" y="15240"/>
                  </a:lnTo>
                  <a:lnTo>
                    <a:pt x="46989" y="12700"/>
                  </a:lnTo>
                  <a:lnTo>
                    <a:pt x="45720" y="11430"/>
                  </a:lnTo>
                  <a:lnTo>
                    <a:pt x="45720" y="10160"/>
                  </a:lnTo>
                  <a:lnTo>
                    <a:pt x="44450" y="8890"/>
                  </a:lnTo>
                  <a:lnTo>
                    <a:pt x="43180" y="7620"/>
                  </a:lnTo>
                  <a:lnTo>
                    <a:pt x="41910" y="6350"/>
                  </a:lnTo>
                  <a:lnTo>
                    <a:pt x="40639" y="5080"/>
                  </a:lnTo>
                  <a:lnTo>
                    <a:pt x="39370" y="5080"/>
                  </a:lnTo>
                  <a:lnTo>
                    <a:pt x="38100" y="3810"/>
                  </a:lnTo>
                  <a:lnTo>
                    <a:pt x="35560" y="2540"/>
                  </a:lnTo>
                  <a:lnTo>
                    <a:pt x="34289" y="2540"/>
                  </a:lnTo>
                  <a:lnTo>
                    <a:pt x="33020" y="1270"/>
                  </a:lnTo>
                  <a:lnTo>
                    <a:pt x="26670" y="1270"/>
                  </a:lnTo>
                  <a:lnTo>
                    <a:pt x="25400" y="0"/>
                  </a:lnTo>
                  <a:lnTo>
                    <a:pt x="24130" y="1270"/>
                  </a:lnTo>
                  <a:lnTo>
                    <a:pt x="22860" y="1270"/>
                  </a:lnTo>
                  <a:lnTo>
                    <a:pt x="21589" y="1270"/>
                  </a:lnTo>
                  <a:lnTo>
                    <a:pt x="20320" y="1270"/>
                  </a:lnTo>
                  <a:lnTo>
                    <a:pt x="19050" y="1270"/>
                  </a:lnTo>
                  <a:lnTo>
                    <a:pt x="17780" y="1270"/>
                  </a:lnTo>
                  <a:lnTo>
                    <a:pt x="16510" y="2540"/>
                  </a:lnTo>
                  <a:lnTo>
                    <a:pt x="15239" y="2540"/>
                  </a:lnTo>
                  <a:lnTo>
                    <a:pt x="13970" y="2540"/>
                  </a:lnTo>
                  <a:lnTo>
                    <a:pt x="12700" y="3810"/>
                  </a:lnTo>
                  <a:lnTo>
                    <a:pt x="11430" y="3810"/>
                  </a:lnTo>
                  <a:lnTo>
                    <a:pt x="11430" y="5080"/>
                  </a:lnTo>
                  <a:lnTo>
                    <a:pt x="10160" y="5080"/>
                  </a:lnTo>
                  <a:lnTo>
                    <a:pt x="8889" y="6350"/>
                  </a:lnTo>
                  <a:lnTo>
                    <a:pt x="7620" y="7620"/>
                  </a:lnTo>
                  <a:lnTo>
                    <a:pt x="6350" y="8890"/>
                  </a:lnTo>
                  <a:lnTo>
                    <a:pt x="5080" y="10160"/>
                  </a:lnTo>
                  <a:lnTo>
                    <a:pt x="5080" y="11430"/>
                  </a:lnTo>
                  <a:lnTo>
                    <a:pt x="3810" y="12700"/>
                  </a:lnTo>
                  <a:lnTo>
                    <a:pt x="2539" y="12700"/>
                  </a:lnTo>
                  <a:lnTo>
                    <a:pt x="2539" y="15240"/>
                  </a:lnTo>
                  <a:lnTo>
                    <a:pt x="1270" y="16510"/>
                  </a:lnTo>
                  <a:lnTo>
                    <a:pt x="1270" y="17780"/>
                  </a:lnTo>
                  <a:lnTo>
                    <a:pt x="1270" y="19050"/>
                  </a:lnTo>
                  <a:lnTo>
                    <a:pt x="0" y="20320"/>
                  </a:lnTo>
                  <a:lnTo>
                    <a:pt x="0" y="21590"/>
                  </a:lnTo>
                  <a:lnTo>
                    <a:pt x="0" y="22860"/>
                  </a:lnTo>
                  <a:lnTo>
                    <a:pt x="0" y="25400"/>
                  </a:lnTo>
                  <a:lnTo>
                    <a:pt x="0" y="30480"/>
                  </a:lnTo>
                  <a:lnTo>
                    <a:pt x="1270" y="31750"/>
                  </a:lnTo>
                  <a:lnTo>
                    <a:pt x="1270" y="33020"/>
                  </a:lnTo>
                  <a:lnTo>
                    <a:pt x="1270" y="34290"/>
                  </a:lnTo>
                  <a:lnTo>
                    <a:pt x="2539" y="35560"/>
                  </a:lnTo>
                  <a:lnTo>
                    <a:pt x="2539" y="36830"/>
                  </a:lnTo>
                  <a:lnTo>
                    <a:pt x="2539" y="38100"/>
                  </a:lnTo>
                  <a:lnTo>
                    <a:pt x="3810" y="39370"/>
                  </a:lnTo>
                  <a:lnTo>
                    <a:pt x="5080" y="39370"/>
                  </a:lnTo>
                  <a:lnTo>
                    <a:pt x="5080" y="40640"/>
                  </a:lnTo>
                  <a:lnTo>
                    <a:pt x="6350" y="41910"/>
                  </a:lnTo>
                  <a:lnTo>
                    <a:pt x="7620" y="43180"/>
                  </a:lnTo>
                  <a:lnTo>
                    <a:pt x="7620" y="44450"/>
                  </a:lnTo>
                  <a:lnTo>
                    <a:pt x="8889" y="44450"/>
                  </a:lnTo>
                  <a:lnTo>
                    <a:pt x="10160" y="45720"/>
                  </a:lnTo>
                  <a:lnTo>
                    <a:pt x="11430" y="46990"/>
                  </a:lnTo>
                  <a:lnTo>
                    <a:pt x="12700" y="48260"/>
                  </a:lnTo>
                  <a:lnTo>
                    <a:pt x="13970" y="48260"/>
                  </a:lnTo>
                  <a:lnTo>
                    <a:pt x="15239" y="48260"/>
                  </a:lnTo>
                  <a:lnTo>
                    <a:pt x="16510" y="49530"/>
                  </a:lnTo>
                  <a:lnTo>
                    <a:pt x="17780" y="49530"/>
                  </a:lnTo>
                  <a:lnTo>
                    <a:pt x="19050" y="49530"/>
                  </a:lnTo>
                  <a:lnTo>
                    <a:pt x="20320" y="50800"/>
                  </a:lnTo>
                  <a:lnTo>
                    <a:pt x="21589" y="50800"/>
                  </a:lnTo>
                  <a:lnTo>
                    <a:pt x="25400" y="50800"/>
                  </a:lnTo>
                  <a:lnTo>
                    <a:pt x="30480" y="50800"/>
                  </a:lnTo>
                  <a:lnTo>
                    <a:pt x="31750" y="49530"/>
                  </a:lnTo>
                  <a:lnTo>
                    <a:pt x="33020" y="49530"/>
                  </a:lnTo>
                  <a:lnTo>
                    <a:pt x="34289" y="49530"/>
                  </a:lnTo>
                  <a:lnTo>
                    <a:pt x="35560" y="48260"/>
                  </a:lnTo>
                  <a:lnTo>
                    <a:pt x="38100" y="48260"/>
                  </a:lnTo>
                  <a:lnTo>
                    <a:pt x="38100" y="46990"/>
                  </a:lnTo>
                  <a:lnTo>
                    <a:pt x="39370" y="46990"/>
                  </a:lnTo>
                  <a:lnTo>
                    <a:pt x="40639" y="45720"/>
                  </a:lnTo>
                  <a:lnTo>
                    <a:pt x="41910" y="44450"/>
                  </a:lnTo>
                  <a:lnTo>
                    <a:pt x="43180" y="44450"/>
                  </a:lnTo>
                  <a:lnTo>
                    <a:pt x="43180" y="43180"/>
                  </a:lnTo>
                  <a:lnTo>
                    <a:pt x="44450" y="41910"/>
                  </a:lnTo>
                  <a:lnTo>
                    <a:pt x="45720" y="40640"/>
                  </a:lnTo>
                  <a:lnTo>
                    <a:pt x="45720" y="39370"/>
                  </a:lnTo>
                  <a:lnTo>
                    <a:pt x="46989" y="39370"/>
                  </a:lnTo>
                  <a:lnTo>
                    <a:pt x="46989" y="38100"/>
                  </a:lnTo>
                  <a:lnTo>
                    <a:pt x="48260" y="36830"/>
                  </a:lnTo>
                  <a:lnTo>
                    <a:pt x="48260" y="35560"/>
                  </a:lnTo>
                  <a:lnTo>
                    <a:pt x="48260" y="34290"/>
                  </a:lnTo>
                  <a:lnTo>
                    <a:pt x="49530" y="33020"/>
                  </a:lnTo>
                  <a:lnTo>
                    <a:pt x="49530" y="31750"/>
                  </a:lnTo>
                  <a:lnTo>
                    <a:pt x="49530" y="30480"/>
                  </a:lnTo>
                  <a:lnTo>
                    <a:pt x="50800" y="29210"/>
                  </a:lnTo>
                  <a:lnTo>
                    <a:pt x="50800" y="27940"/>
                  </a:lnTo>
                  <a:lnTo>
                    <a:pt x="50800" y="26670"/>
                  </a:lnTo>
                  <a:lnTo>
                    <a:pt x="50800" y="25400"/>
                  </a:lnTo>
                  <a:close/>
                </a:path>
              </a:pathLst>
            </a:custGeom>
            <a:ln w="4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54270" y="3234689"/>
              <a:ext cx="52069" cy="52069"/>
            </a:xfrm>
            <a:custGeom>
              <a:avLst/>
              <a:gdLst/>
              <a:ahLst/>
              <a:cxnLst/>
              <a:rect l="l" t="t" r="r" b="b"/>
              <a:pathLst>
                <a:path w="52070" h="52070">
                  <a:moveTo>
                    <a:pt x="30479" y="0"/>
                  </a:moveTo>
                  <a:lnTo>
                    <a:pt x="20319" y="0"/>
                  </a:lnTo>
                  <a:lnTo>
                    <a:pt x="16509" y="1270"/>
                  </a:lnTo>
                  <a:lnTo>
                    <a:pt x="5079" y="8889"/>
                  </a:lnTo>
                  <a:lnTo>
                    <a:pt x="3809" y="13970"/>
                  </a:lnTo>
                  <a:lnTo>
                    <a:pt x="1269" y="17780"/>
                  </a:lnTo>
                  <a:lnTo>
                    <a:pt x="0" y="21589"/>
                  </a:lnTo>
                  <a:lnTo>
                    <a:pt x="0" y="31750"/>
                  </a:lnTo>
                  <a:lnTo>
                    <a:pt x="1269" y="35560"/>
                  </a:lnTo>
                  <a:lnTo>
                    <a:pt x="3809" y="39370"/>
                  </a:lnTo>
                  <a:lnTo>
                    <a:pt x="5079" y="43180"/>
                  </a:lnTo>
                  <a:lnTo>
                    <a:pt x="16509" y="50800"/>
                  </a:lnTo>
                  <a:lnTo>
                    <a:pt x="20319" y="52070"/>
                  </a:lnTo>
                  <a:lnTo>
                    <a:pt x="30479" y="52070"/>
                  </a:lnTo>
                  <a:lnTo>
                    <a:pt x="34289" y="50800"/>
                  </a:lnTo>
                  <a:lnTo>
                    <a:pt x="38100" y="48260"/>
                  </a:lnTo>
                  <a:lnTo>
                    <a:pt x="43179" y="45720"/>
                  </a:lnTo>
                  <a:lnTo>
                    <a:pt x="45719" y="43180"/>
                  </a:lnTo>
                  <a:lnTo>
                    <a:pt x="50800" y="35560"/>
                  </a:lnTo>
                  <a:lnTo>
                    <a:pt x="52069" y="31750"/>
                  </a:lnTo>
                  <a:lnTo>
                    <a:pt x="52069" y="26670"/>
                  </a:lnTo>
                  <a:lnTo>
                    <a:pt x="52069" y="21589"/>
                  </a:lnTo>
                  <a:lnTo>
                    <a:pt x="50800" y="17780"/>
                  </a:lnTo>
                  <a:lnTo>
                    <a:pt x="48259" y="13970"/>
                  </a:lnTo>
                  <a:lnTo>
                    <a:pt x="45719" y="8889"/>
                  </a:lnTo>
                  <a:lnTo>
                    <a:pt x="43179" y="6350"/>
                  </a:lnTo>
                  <a:lnTo>
                    <a:pt x="38100" y="3810"/>
                  </a:lnTo>
                  <a:lnTo>
                    <a:pt x="34289" y="1270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54270" y="3234689"/>
              <a:ext cx="49530" cy="50800"/>
            </a:xfrm>
            <a:custGeom>
              <a:avLst/>
              <a:gdLst/>
              <a:ahLst/>
              <a:cxnLst/>
              <a:rect l="l" t="t" r="r" b="b"/>
              <a:pathLst>
                <a:path w="49529" h="50800">
                  <a:moveTo>
                    <a:pt x="49529" y="25400"/>
                  </a:moveTo>
                  <a:lnTo>
                    <a:pt x="49529" y="25400"/>
                  </a:lnTo>
                  <a:lnTo>
                    <a:pt x="49529" y="17780"/>
                  </a:lnTo>
                  <a:lnTo>
                    <a:pt x="48259" y="16510"/>
                  </a:lnTo>
                  <a:lnTo>
                    <a:pt x="48259" y="15239"/>
                  </a:lnTo>
                  <a:lnTo>
                    <a:pt x="46989" y="15239"/>
                  </a:lnTo>
                  <a:lnTo>
                    <a:pt x="46989" y="13970"/>
                  </a:lnTo>
                  <a:lnTo>
                    <a:pt x="46989" y="12700"/>
                  </a:lnTo>
                  <a:lnTo>
                    <a:pt x="45719" y="11430"/>
                  </a:lnTo>
                  <a:lnTo>
                    <a:pt x="44450" y="10160"/>
                  </a:lnTo>
                  <a:lnTo>
                    <a:pt x="44450" y="8889"/>
                  </a:lnTo>
                  <a:lnTo>
                    <a:pt x="43179" y="8889"/>
                  </a:lnTo>
                  <a:lnTo>
                    <a:pt x="41909" y="7620"/>
                  </a:lnTo>
                  <a:lnTo>
                    <a:pt x="41909" y="6350"/>
                  </a:lnTo>
                  <a:lnTo>
                    <a:pt x="40639" y="5080"/>
                  </a:lnTo>
                  <a:lnTo>
                    <a:pt x="39369" y="5080"/>
                  </a:lnTo>
                  <a:lnTo>
                    <a:pt x="38100" y="3810"/>
                  </a:lnTo>
                  <a:lnTo>
                    <a:pt x="36829" y="3810"/>
                  </a:lnTo>
                  <a:lnTo>
                    <a:pt x="35559" y="2539"/>
                  </a:lnTo>
                  <a:lnTo>
                    <a:pt x="34289" y="2539"/>
                  </a:lnTo>
                  <a:lnTo>
                    <a:pt x="33019" y="1270"/>
                  </a:lnTo>
                  <a:lnTo>
                    <a:pt x="31750" y="1270"/>
                  </a:lnTo>
                  <a:lnTo>
                    <a:pt x="30479" y="1270"/>
                  </a:lnTo>
                  <a:lnTo>
                    <a:pt x="29209" y="1270"/>
                  </a:lnTo>
                  <a:lnTo>
                    <a:pt x="27939" y="0"/>
                  </a:lnTo>
                  <a:lnTo>
                    <a:pt x="22859" y="0"/>
                  </a:lnTo>
                  <a:lnTo>
                    <a:pt x="21589" y="1270"/>
                  </a:lnTo>
                  <a:lnTo>
                    <a:pt x="20319" y="1270"/>
                  </a:lnTo>
                  <a:lnTo>
                    <a:pt x="19050" y="1270"/>
                  </a:lnTo>
                  <a:lnTo>
                    <a:pt x="17779" y="1270"/>
                  </a:lnTo>
                  <a:lnTo>
                    <a:pt x="16509" y="2539"/>
                  </a:lnTo>
                  <a:lnTo>
                    <a:pt x="15239" y="2539"/>
                  </a:lnTo>
                  <a:lnTo>
                    <a:pt x="13969" y="2539"/>
                  </a:lnTo>
                  <a:lnTo>
                    <a:pt x="12700" y="3810"/>
                  </a:lnTo>
                  <a:lnTo>
                    <a:pt x="11429" y="3810"/>
                  </a:lnTo>
                  <a:lnTo>
                    <a:pt x="10159" y="5080"/>
                  </a:lnTo>
                  <a:lnTo>
                    <a:pt x="8889" y="5080"/>
                  </a:lnTo>
                  <a:lnTo>
                    <a:pt x="8889" y="6350"/>
                  </a:lnTo>
                  <a:lnTo>
                    <a:pt x="7619" y="7620"/>
                  </a:lnTo>
                  <a:lnTo>
                    <a:pt x="6350" y="8889"/>
                  </a:lnTo>
                  <a:lnTo>
                    <a:pt x="5079" y="10160"/>
                  </a:lnTo>
                  <a:lnTo>
                    <a:pt x="3809" y="11430"/>
                  </a:lnTo>
                  <a:lnTo>
                    <a:pt x="3809" y="12700"/>
                  </a:lnTo>
                  <a:lnTo>
                    <a:pt x="2539" y="13970"/>
                  </a:lnTo>
                  <a:lnTo>
                    <a:pt x="2539" y="15239"/>
                  </a:lnTo>
                  <a:lnTo>
                    <a:pt x="1269" y="15239"/>
                  </a:lnTo>
                  <a:lnTo>
                    <a:pt x="1269" y="16510"/>
                  </a:lnTo>
                  <a:lnTo>
                    <a:pt x="1269" y="17780"/>
                  </a:lnTo>
                  <a:lnTo>
                    <a:pt x="0" y="19050"/>
                  </a:lnTo>
                  <a:lnTo>
                    <a:pt x="0" y="25400"/>
                  </a:lnTo>
                  <a:lnTo>
                    <a:pt x="0" y="31750"/>
                  </a:lnTo>
                  <a:lnTo>
                    <a:pt x="1269" y="33020"/>
                  </a:lnTo>
                  <a:lnTo>
                    <a:pt x="1269" y="34289"/>
                  </a:lnTo>
                  <a:lnTo>
                    <a:pt x="1269" y="35560"/>
                  </a:lnTo>
                  <a:lnTo>
                    <a:pt x="2539" y="36830"/>
                  </a:lnTo>
                  <a:lnTo>
                    <a:pt x="2539" y="38100"/>
                  </a:lnTo>
                  <a:lnTo>
                    <a:pt x="3809" y="39370"/>
                  </a:lnTo>
                  <a:lnTo>
                    <a:pt x="3809" y="40639"/>
                  </a:lnTo>
                  <a:lnTo>
                    <a:pt x="5079" y="41910"/>
                  </a:lnTo>
                  <a:lnTo>
                    <a:pt x="6350" y="41910"/>
                  </a:lnTo>
                  <a:lnTo>
                    <a:pt x="6350" y="43180"/>
                  </a:lnTo>
                  <a:lnTo>
                    <a:pt x="7619" y="44450"/>
                  </a:lnTo>
                  <a:lnTo>
                    <a:pt x="8889" y="44450"/>
                  </a:lnTo>
                  <a:lnTo>
                    <a:pt x="8889" y="45720"/>
                  </a:lnTo>
                  <a:lnTo>
                    <a:pt x="10159" y="45720"/>
                  </a:lnTo>
                  <a:lnTo>
                    <a:pt x="11429" y="46989"/>
                  </a:lnTo>
                  <a:lnTo>
                    <a:pt x="12700" y="48260"/>
                  </a:lnTo>
                  <a:lnTo>
                    <a:pt x="13969" y="48260"/>
                  </a:lnTo>
                  <a:lnTo>
                    <a:pt x="15239" y="48260"/>
                  </a:lnTo>
                  <a:lnTo>
                    <a:pt x="16509" y="49530"/>
                  </a:lnTo>
                  <a:lnTo>
                    <a:pt x="17779" y="49530"/>
                  </a:lnTo>
                  <a:lnTo>
                    <a:pt x="19050" y="50800"/>
                  </a:lnTo>
                  <a:lnTo>
                    <a:pt x="20319" y="50800"/>
                  </a:lnTo>
                  <a:lnTo>
                    <a:pt x="21589" y="50800"/>
                  </a:lnTo>
                  <a:lnTo>
                    <a:pt x="25400" y="50800"/>
                  </a:lnTo>
                  <a:lnTo>
                    <a:pt x="31750" y="50800"/>
                  </a:lnTo>
                  <a:lnTo>
                    <a:pt x="33019" y="49530"/>
                  </a:lnTo>
                  <a:lnTo>
                    <a:pt x="34289" y="49530"/>
                  </a:lnTo>
                  <a:lnTo>
                    <a:pt x="35559" y="48260"/>
                  </a:lnTo>
                  <a:lnTo>
                    <a:pt x="36829" y="48260"/>
                  </a:lnTo>
                  <a:lnTo>
                    <a:pt x="38100" y="46989"/>
                  </a:lnTo>
                  <a:lnTo>
                    <a:pt x="39369" y="45720"/>
                  </a:lnTo>
                  <a:lnTo>
                    <a:pt x="40639" y="45720"/>
                  </a:lnTo>
                  <a:lnTo>
                    <a:pt x="41909" y="44450"/>
                  </a:lnTo>
                  <a:lnTo>
                    <a:pt x="43179" y="43180"/>
                  </a:lnTo>
                  <a:lnTo>
                    <a:pt x="44450" y="41910"/>
                  </a:lnTo>
                  <a:lnTo>
                    <a:pt x="45719" y="40639"/>
                  </a:lnTo>
                  <a:lnTo>
                    <a:pt x="46989" y="39370"/>
                  </a:lnTo>
                  <a:lnTo>
                    <a:pt x="46989" y="38100"/>
                  </a:lnTo>
                  <a:lnTo>
                    <a:pt x="46989" y="36830"/>
                  </a:lnTo>
                  <a:lnTo>
                    <a:pt x="48259" y="35560"/>
                  </a:lnTo>
                  <a:lnTo>
                    <a:pt x="48259" y="34289"/>
                  </a:lnTo>
                  <a:lnTo>
                    <a:pt x="49529" y="33020"/>
                  </a:lnTo>
                  <a:lnTo>
                    <a:pt x="49529" y="31750"/>
                  </a:lnTo>
                  <a:lnTo>
                    <a:pt x="49529" y="30480"/>
                  </a:lnTo>
                  <a:lnTo>
                    <a:pt x="49529" y="29210"/>
                  </a:lnTo>
                  <a:lnTo>
                    <a:pt x="49529" y="27939"/>
                  </a:lnTo>
                  <a:lnTo>
                    <a:pt x="49529" y="26670"/>
                  </a:lnTo>
                  <a:lnTo>
                    <a:pt x="49529" y="25400"/>
                  </a:lnTo>
                  <a:close/>
                </a:path>
              </a:pathLst>
            </a:custGeom>
            <a:ln w="4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60060" y="2881629"/>
              <a:ext cx="52069" cy="50800"/>
            </a:xfrm>
            <a:custGeom>
              <a:avLst/>
              <a:gdLst/>
              <a:ahLst/>
              <a:cxnLst/>
              <a:rect l="l" t="t" r="r" b="b"/>
              <a:pathLst>
                <a:path w="52070" h="50800">
                  <a:moveTo>
                    <a:pt x="35560" y="0"/>
                  </a:moveTo>
                  <a:lnTo>
                    <a:pt x="17779" y="0"/>
                  </a:lnTo>
                  <a:lnTo>
                    <a:pt x="13969" y="2540"/>
                  </a:lnTo>
                  <a:lnTo>
                    <a:pt x="8889" y="5080"/>
                  </a:lnTo>
                  <a:lnTo>
                    <a:pt x="6350" y="7620"/>
                  </a:lnTo>
                  <a:lnTo>
                    <a:pt x="3810" y="12700"/>
                  </a:lnTo>
                  <a:lnTo>
                    <a:pt x="1269" y="16510"/>
                  </a:lnTo>
                  <a:lnTo>
                    <a:pt x="0" y="20320"/>
                  </a:lnTo>
                  <a:lnTo>
                    <a:pt x="0" y="30480"/>
                  </a:lnTo>
                  <a:lnTo>
                    <a:pt x="1269" y="34290"/>
                  </a:lnTo>
                  <a:lnTo>
                    <a:pt x="8889" y="45720"/>
                  </a:lnTo>
                  <a:lnTo>
                    <a:pt x="13969" y="48260"/>
                  </a:lnTo>
                  <a:lnTo>
                    <a:pt x="21589" y="50800"/>
                  </a:lnTo>
                  <a:lnTo>
                    <a:pt x="30479" y="50800"/>
                  </a:lnTo>
                  <a:lnTo>
                    <a:pt x="52069" y="30480"/>
                  </a:lnTo>
                  <a:lnTo>
                    <a:pt x="52069" y="25400"/>
                  </a:lnTo>
                  <a:lnTo>
                    <a:pt x="52069" y="20320"/>
                  </a:lnTo>
                  <a:lnTo>
                    <a:pt x="49529" y="12700"/>
                  </a:lnTo>
                  <a:lnTo>
                    <a:pt x="46989" y="7620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11500" y="2362199"/>
              <a:ext cx="2523490" cy="1854200"/>
            </a:xfrm>
            <a:custGeom>
              <a:avLst/>
              <a:gdLst/>
              <a:ahLst/>
              <a:cxnLst/>
              <a:rect l="l" t="t" r="r" b="b"/>
              <a:pathLst>
                <a:path w="2523490" h="1854200">
                  <a:moveTo>
                    <a:pt x="2499360" y="543560"/>
                  </a:moveTo>
                  <a:lnTo>
                    <a:pt x="2499360" y="543560"/>
                  </a:lnTo>
                  <a:lnTo>
                    <a:pt x="2499360" y="537210"/>
                  </a:lnTo>
                  <a:lnTo>
                    <a:pt x="2498090" y="535939"/>
                  </a:lnTo>
                  <a:lnTo>
                    <a:pt x="2498090" y="534670"/>
                  </a:lnTo>
                  <a:lnTo>
                    <a:pt x="2498090" y="533400"/>
                  </a:lnTo>
                  <a:lnTo>
                    <a:pt x="2496820" y="533400"/>
                  </a:lnTo>
                  <a:lnTo>
                    <a:pt x="2496820" y="532129"/>
                  </a:lnTo>
                  <a:lnTo>
                    <a:pt x="2495550" y="530860"/>
                  </a:lnTo>
                  <a:lnTo>
                    <a:pt x="2495550" y="529589"/>
                  </a:lnTo>
                  <a:lnTo>
                    <a:pt x="2494279" y="528320"/>
                  </a:lnTo>
                  <a:lnTo>
                    <a:pt x="2493010" y="527050"/>
                  </a:lnTo>
                  <a:lnTo>
                    <a:pt x="2491740" y="525779"/>
                  </a:lnTo>
                  <a:lnTo>
                    <a:pt x="2490470" y="524510"/>
                  </a:lnTo>
                  <a:lnTo>
                    <a:pt x="2489200" y="524510"/>
                  </a:lnTo>
                  <a:lnTo>
                    <a:pt x="2489200" y="523239"/>
                  </a:lnTo>
                  <a:lnTo>
                    <a:pt x="2487929" y="521970"/>
                  </a:lnTo>
                  <a:lnTo>
                    <a:pt x="2486660" y="521970"/>
                  </a:lnTo>
                  <a:lnTo>
                    <a:pt x="2485390" y="521970"/>
                  </a:lnTo>
                  <a:lnTo>
                    <a:pt x="2484120" y="520700"/>
                  </a:lnTo>
                  <a:lnTo>
                    <a:pt x="2482850" y="520700"/>
                  </a:lnTo>
                  <a:lnTo>
                    <a:pt x="2481579" y="519429"/>
                  </a:lnTo>
                  <a:lnTo>
                    <a:pt x="2466340" y="519429"/>
                  </a:lnTo>
                  <a:lnTo>
                    <a:pt x="2465070" y="520700"/>
                  </a:lnTo>
                  <a:lnTo>
                    <a:pt x="2463800" y="521970"/>
                  </a:lnTo>
                  <a:lnTo>
                    <a:pt x="2462529" y="521970"/>
                  </a:lnTo>
                  <a:lnTo>
                    <a:pt x="2461260" y="521970"/>
                  </a:lnTo>
                  <a:lnTo>
                    <a:pt x="2459990" y="523239"/>
                  </a:lnTo>
                  <a:lnTo>
                    <a:pt x="2458720" y="524510"/>
                  </a:lnTo>
                  <a:lnTo>
                    <a:pt x="2457450" y="524510"/>
                  </a:lnTo>
                  <a:lnTo>
                    <a:pt x="2457450" y="525779"/>
                  </a:lnTo>
                  <a:lnTo>
                    <a:pt x="2456179" y="527050"/>
                  </a:lnTo>
                  <a:lnTo>
                    <a:pt x="2454910" y="527050"/>
                  </a:lnTo>
                  <a:lnTo>
                    <a:pt x="2454910" y="528320"/>
                  </a:lnTo>
                  <a:lnTo>
                    <a:pt x="2453640" y="529589"/>
                  </a:lnTo>
                  <a:lnTo>
                    <a:pt x="2453640" y="530860"/>
                  </a:lnTo>
                  <a:lnTo>
                    <a:pt x="2452370" y="532129"/>
                  </a:lnTo>
                  <a:lnTo>
                    <a:pt x="2451100" y="533400"/>
                  </a:lnTo>
                  <a:lnTo>
                    <a:pt x="2451100" y="534670"/>
                  </a:lnTo>
                  <a:lnTo>
                    <a:pt x="2451100" y="535939"/>
                  </a:lnTo>
                  <a:lnTo>
                    <a:pt x="2449829" y="537210"/>
                  </a:lnTo>
                  <a:lnTo>
                    <a:pt x="2449829" y="538479"/>
                  </a:lnTo>
                  <a:lnTo>
                    <a:pt x="2449829" y="539750"/>
                  </a:lnTo>
                  <a:lnTo>
                    <a:pt x="2449829" y="541020"/>
                  </a:lnTo>
                  <a:lnTo>
                    <a:pt x="2448560" y="542289"/>
                  </a:lnTo>
                  <a:lnTo>
                    <a:pt x="2448560" y="543560"/>
                  </a:lnTo>
                  <a:lnTo>
                    <a:pt x="2448560" y="544829"/>
                  </a:lnTo>
                  <a:lnTo>
                    <a:pt x="2449829" y="546100"/>
                  </a:lnTo>
                  <a:lnTo>
                    <a:pt x="2449829" y="547370"/>
                  </a:lnTo>
                  <a:lnTo>
                    <a:pt x="2449829" y="548639"/>
                  </a:lnTo>
                  <a:lnTo>
                    <a:pt x="2449829" y="549910"/>
                  </a:lnTo>
                  <a:lnTo>
                    <a:pt x="2451100" y="551179"/>
                  </a:lnTo>
                  <a:lnTo>
                    <a:pt x="2451100" y="552450"/>
                  </a:lnTo>
                  <a:lnTo>
                    <a:pt x="2451100" y="553720"/>
                  </a:lnTo>
                  <a:lnTo>
                    <a:pt x="2451100" y="554989"/>
                  </a:lnTo>
                  <a:lnTo>
                    <a:pt x="2452370" y="556260"/>
                  </a:lnTo>
                  <a:lnTo>
                    <a:pt x="2453640" y="557529"/>
                  </a:lnTo>
                  <a:lnTo>
                    <a:pt x="2453640" y="558800"/>
                  </a:lnTo>
                  <a:lnTo>
                    <a:pt x="2454910" y="560070"/>
                  </a:lnTo>
                  <a:lnTo>
                    <a:pt x="2456179" y="561339"/>
                  </a:lnTo>
                  <a:lnTo>
                    <a:pt x="2457450" y="562610"/>
                  </a:lnTo>
                  <a:lnTo>
                    <a:pt x="2458720" y="563879"/>
                  </a:lnTo>
                  <a:lnTo>
                    <a:pt x="2459990" y="565150"/>
                  </a:lnTo>
                  <a:lnTo>
                    <a:pt x="2461260" y="565150"/>
                  </a:lnTo>
                  <a:lnTo>
                    <a:pt x="2462529" y="566420"/>
                  </a:lnTo>
                  <a:lnTo>
                    <a:pt x="2463800" y="566420"/>
                  </a:lnTo>
                  <a:lnTo>
                    <a:pt x="2465070" y="567689"/>
                  </a:lnTo>
                  <a:lnTo>
                    <a:pt x="2466340" y="567689"/>
                  </a:lnTo>
                  <a:lnTo>
                    <a:pt x="2467610" y="568960"/>
                  </a:lnTo>
                  <a:lnTo>
                    <a:pt x="2473960" y="568960"/>
                  </a:lnTo>
                  <a:lnTo>
                    <a:pt x="2477770" y="568960"/>
                  </a:lnTo>
                  <a:lnTo>
                    <a:pt x="2480310" y="568960"/>
                  </a:lnTo>
                  <a:lnTo>
                    <a:pt x="2481579" y="567689"/>
                  </a:lnTo>
                  <a:lnTo>
                    <a:pt x="2482850" y="567689"/>
                  </a:lnTo>
                  <a:lnTo>
                    <a:pt x="2484120" y="567689"/>
                  </a:lnTo>
                  <a:lnTo>
                    <a:pt x="2485390" y="566420"/>
                  </a:lnTo>
                  <a:lnTo>
                    <a:pt x="2486660" y="566420"/>
                  </a:lnTo>
                  <a:lnTo>
                    <a:pt x="2487929" y="565150"/>
                  </a:lnTo>
                  <a:lnTo>
                    <a:pt x="2489200" y="565150"/>
                  </a:lnTo>
                  <a:lnTo>
                    <a:pt x="2489200" y="563879"/>
                  </a:lnTo>
                  <a:lnTo>
                    <a:pt x="2490470" y="562610"/>
                  </a:lnTo>
                  <a:lnTo>
                    <a:pt x="2491740" y="562610"/>
                  </a:lnTo>
                  <a:lnTo>
                    <a:pt x="2493010" y="561339"/>
                  </a:lnTo>
                  <a:lnTo>
                    <a:pt x="2493010" y="560070"/>
                  </a:lnTo>
                  <a:lnTo>
                    <a:pt x="2494279" y="560070"/>
                  </a:lnTo>
                  <a:lnTo>
                    <a:pt x="2495550" y="558800"/>
                  </a:lnTo>
                  <a:lnTo>
                    <a:pt x="2495550" y="557529"/>
                  </a:lnTo>
                  <a:lnTo>
                    <a:pt x="2496820" y="556260"/>
                  </a:lnTo>
                  <a:lnTo>
                    <a:pt x="2496820" y="554989"/>
                  </a:lnTo>
                  <a:lnTo>
                    <a:pt x="2498090" y="553720"/>
                  </a:lnTo>
                  <a:lnTo>
                    <a:pt x="2498090" y="552450"/>
                  </a:lnTo>
                  <a:lnTo>
                    <a:pt x="2498090" y="551179"/>
                  </a:lnTo>
                  <a:lnTo>
                    <a:pt x="2499360" y="549910"/>
                  </a:lnTo>
                  <a:lnTo>
                    <a:pt x="2499360" y="548639"/>
                  </a:lnTo>
                  <a:lnTo>
                    <a:pt x="2499360" y="547370"/>
                  </a:lnTo>
                  <a:lnTo>
                    <a:pt x="2499360" y="546100"/>
                  </a:lnTo>
                  <a:lnTo>
                    <a:pt x="2499360" y="544829"/>
                  </a:lnTo>
                  <a:lnTo>
                    <a:pt x="2499360" y="543560"/>
                  </a:lnTo>
                  <a:close/>
                </a:path>
                <a:path w="2523490" h="1854200">
                  <a:moveTo>
                    <a:pt x="48260" y="1617980"/>
                  </a:moveTo>
                  <a:lnTo>
                    <a:pt x="48260" y="1710689"/>
                  </a:lnTo>
                </a:path>
                <a:path w="2523490" h="1854200">
                  <a:moveTo>
                    <a:pt x="0" y="1617980"/>
                  </a:moveTo>
                  <a:lnTo>
                    <a:pt x="95250" y="1617980"/>
                  </a:lnTo>
                </a:path>
                <a:path w="2523490" h="1854200">
                  <a:moveTo>
                    <a:pt x="48260" y="1854200"/>
                  </a:moveTo>
                  <a:lnTo>
                    <a:pt x="48260" y="1761489"/>
                  </a:lnTo>
                </a:path>
                <a:path w="2523490" h="1854200">
                  <a:moveTo>
                    <a:pt x="0" y="1854200"/>
                  </a:moveTo>
                  <a:lnTo>
                    <a:pt x="95250" y="1854200"/>
                  </a:lnTo>
                </a:path>
                <a:path w="2523490" h="1854200">
                  <a:moveTo>
                    <a:pt x="655320" y="1277620"/>
                  </a:moveTo>
                  <a:lnTo>
                    <a:pt x="655320" y="1510030"/>
                  </a:lnTo>
                </a:path>
                <a:path w="2523490" h="1854200">
                  <a:moveTo>
                    <a:pt x="608329" y="1277620"/>
                  </a:moveTo>
                  <a:lnTo>
                    <a:pt x="703579" y="1277620"/>
                  </a:lnTo>
                </a:path>
                <a:path w="2523490" h="1854200">
                  <a:moveTo>
                    <a:pt x="655320" y="1794510"/>
                  </a:moveTo>
                  <a:lnTo>
                    <a:pt x="655320" y="1560830"/>
                  </a:lnTo>
                </a:path>
                <a:path w="2523490" h="1854200">
                  <a:moveTo>
                    <a:pt x="608329" y="1794510"/>
                  </a:moveTo>
                  <a:lnTo>
                    <a:pt x="703579" y="1794510"/>
                  </a:lnTo>
                </a:path>
                <a:path w="2523490" h="1854200">
                  <a:moveTo>
                    <a:pt x="1059179" y="1245870"/>
                  </a:moveTo>
                  <a:lnTo>
                    <a:pt x="1059179" y="1436370"/>
                  </a:lnTo>
                </a:path>
                <a:path w="2523490" h="1854200">
                  <a:moveTo>
                    <a:pt x="1012189" y="1245870"/>
                  </a:moveTo>
                  <a:lnTo>
                    <a:pt x="1107439" y="1245870"/>
                  </a:lnTo>
                </a:path>
                <a:path w="2523490" h="1854200">
                  <a:moveTo>
                    <a:pt x="1059179" y="1677670"/>
                  </a:moveTo>
                  <a:lnTo>
                    <a:pt x="1059179" y="1485900"/>
                  </a:lnTo>
                </a:path>
                <a:path w="2523490" h="1854200">
                  <a:moveTo>
                    <a:pt x="1012189" y="1677670"/>
                  </a:moveTo>
                  <a:lnTo>
                    <a:pt x="1107439" y="1677670"/>
                  </a:lnTo>
                </a:path>
                <a:path w="2523490" h="1854200">
                  <a:moveTo>
                    <a:pt x="1464310" y="1136650"/>
                  </a:moveTo>
                  <a:lnTo>
                    <a:pt x="1464310" y="1282700"/>
                  </a:lnTo>
                </a:path>
                <a:path w="2523490" h="1854200">
                  <a:moveTo>
                    <a:pt x="1416050" y="1136650"/>
                  </a:moveTo>
                  <a:lnTo>
                    <a:pt x="1512570" y="1136650"/>
                  </a:lnTo>
                </a:path>
                <a:path w="2523490" h="1854200">
                  <a:moveTo>
                    <a:pt x="1464310" y="1482089"/>
                  </a:moveTo>
                  <a:lnTo>
                    <a:pt x="1464310" y="1333500"/>
                  </a:lnTo>
                </a:path>
                <a:path w="2523490" h="1854200">
                  <a:moveTo>
                    <a:pt x="1416050" y="1482089"/>
                  </a:moveTo>
                  <a:lnTo>
                    <a:pt x="1512570" y="1482089"/>
                  </a:lnTo>
                </a:path>
                <a:path w="2523490" h="1854200">
                  <a:moveTo>
                    <a:pt x="1869439" y="298450"/>
                  </a:moveTo>
                  <a:lnTo>
                    <a:pt x="1869439" y="875029"/>
                  </a:lnTo>
                </a:path>
                <a:path w="2523490" h="1854200">
                  <a:moveTo>
                    <a:pt x="1821179" y="298450"/>
                  </a:moveTo>
                  <a:lnTo>
                    <a:pt x="1916429" y="298450"/>
                  </a:lnTo>
                </a:path>
                <a:path w="2523490" h="1854200">
                  <a:moveTo>
                    <a:pt x="1869439" y="1501139"/>
                  </a:moveTo>
                  <a:lnTo>
                    <a:pt x="1869439" y="924560"/>
                  </a:lnTo>
                </a:path>
                <a:path w="2523490" h="1854200">
                  <a:moveTo>
                    <a:pt x="1821179" y="1501139"/>
                  </a:moveTo>
                  <a:lnTo>
                    <a:pt x="1916429" y="1501139"/>
                  </a:lnTo>
                </a:path>
                <a:path w="2523490" h="1854200">
                  <a:moveTo>
                    <a:pt x="2475229" y="0"/>
                  </a:moveTo>
                  <a:lnTo>
                    <a:pt x="2475229" y="520700"/>
                  </a:lnTo>
                </a:path>
                <a:path w="2523490" h="1854200">
                  <a:moveTo>
                    <a:pt x="2428240" y="0"/>
                  </a:moveTo>
                  <a:lnTo>
                    <a:pt x="2523490" y="0"/>
                  </a:lnTo>
                </a:path>
                <a:path w="2523490" h="1854200">
                  <a:moveTo>
                    <a:pt x="2475229" y="1092200"/>
                  </a:moveTo>
                  <a:lnTo>
                    <a:pt x="2475229" y="570229"/>
                  </a:lnTo>
                </a:path>
                <a:path w="2523490" h="1854200">
                  <a:moveTo>
                    <a:pt x="2428240" y="1092200"/>
                  </a:moveTo>
                  <a:lnTo>
                    <a:pt x="2523490" y="1092200"/>
                  </a:lnTo>
                </a:path>
                <a:path w="2523490" h="1854200">
                  <a:moveTo>
                    <a:pt x="48260" y="1739900"/>
                  </a:moveTo>
                  <a:lnTo>
                    <a:pt x="176529" y="1709420"/>
                  </a:lnTo>
                  <a:lnTo>
                    <a:pt x="304800" y="1675130"/>
                  </a:lnTo>
                  <a:lnTo>
                    <a:pt x="431800" y="1640839"/>
                  </a:lnTo>
                  <a:lnTo>
                    <a:pt x="558800" y="1602739"/>
                  </a:lnTo>
                  <a:lnTo>
                    <a:pt x="687070" y="1560830"/>
                  </a:lnTo>
                  <a:lnTo>
                    <a:pt x="814070" y="1517650"/>
                  </a:lnTo>
                  <a:lnTo>
                    <a:pt x="943610" y="1469389"/>
                  </a:lnTo>
                  <a:lnTo>
                    <a:pt x="1070610" y="1417320"/>
                  </a:lnTo>
                  <a:lnTo>
                    <a:pt x="1197610" y="1362710"/>
                  </a:lnTo>
                  <a:lnTo>
                    <a:pt x="1325879" y="1303020"/>
                  </a:lnTo>
                  <a:lnTo>
                    <a:pt x="1452879" y="1239520"/>
                  </a:lnTo>
                  <a:lnTo>
                    <a:pt x="1582420" y="1170939"/>
                  </a:lnTo>
                  <a:lnTo>
                    <a:pt x="1709420" y="1097279"/>
                  </a:lnTo>
                  <a:lnTo>
                    <a:pt x="1837689" y="1018539"/>
                  </a:lnTo>
                  <a:lnTo>
                    <a:pt x="1964689" y="933450"/>
                  </a:lnTo>
                  <a:lnTo>
                    <a:pt x="2091689" y="840739"/>
                  </a:lnTo>
                  <a:lnTo>
                    <a:pt x="2221229" y="742950"/>
                  </a:lnTo>
                  <a:lnTo>
                    <a:pt x="2348229" y="636270"/>
                  </a:lnTo>
                  <a:lnTo>
                    <a:pt x="2475229" y="523239"/>
                  </a:lnTo>
                </a:path>
              </a:pathLst>
            </a:custGeom>
            <a:ln w="41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811779" y="4474464"/>
            <a:ext cx="5280025" cy="97155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750" spc="-50" dirty="0">
                <a:latin typeface="Arial MT"/>
                <a:cs typeface="Arial MT"/>
              </a:rPr>
              <a:t>0</a:t>
            </a:r>
            <a:endParaRPr sz="750">
              <a:latin typeface="Arial MT"/>
              <a:cs typeface="Arial MT"/>
            </a:endParaRPr>
          </a:p>
          <a:p>
            <a:pPr marL="497840">
              <a:lnSpc>
                <a:spcPct val="100000"/>
              </a:lnSpc>
              <a:spcBef>
                <a:spcPts val="120"/>
              </a:spcBef>
              <a:tabLst>
                <a:tab pos="1304925" algn="l"/>
                <a:tab pos="2115185" algn="l"/>
                <a:tab pos="2922905" algn="l"/>
              </a:tabLst>
            </a:pPr>
            <a:r>
              <a:rPr sz="750" spc="-25" dirty="0">
                <a:latin typeface="Arial MT"/>
                <a:cs typeface="Arial MT"/>
              </a:rPr>
              <a:t>24</a:t>
            </a:r>
            <a:r>
              <a:rPr sz="750" dirty="0">
                <a:latin typeface="Arial MT"/>
                <a:cs typeface="Arial MT"/>
              </a:rPr>
              <a:t>	</a:t>
            </a:r>
            <a:r>
              <a:rPr sz="750" spc="-25" dirty="0">
                <a:latin typeface="Arial MT"/>
                <a:cs typeface="Arial MT"/>
              </a:rPr>
              <a:t>28</a:t>
            </a:r>
            <a:r>
              <a:rPr sz="750" dirty="0">
                <a:latin typeface="Arial MT"/>
                <a:cs typeface="Arial MT"/>
              </a:rPr>
              <a:t>	</a:t>
            </a:r>
            <a:r>
              <a:rPr sz="750" spc="-25" dirty="0">
                <a:latin typeface="Arial MT"/>
                <a:cs typeface="Arial MT"/>
              </a:rPr>
              <a:t>32</a:t>
            </a:r>
            <a:r>
              <a:rPr sz="750" dirty="0">
                <a:latin typeface="Arial MT"/>
                <a:cs typeface="Arial MT"/>
              </a:rPr>
              <a:t>	</a:t>
            </a:r>
            <a:r>
              <a:rPr sz="750" spc="-25" dirty="0">
                <a:latin typeface="Arial MT"/>
                <a:cs typeface="Arial MT"/>
              </a:rPr>
              <a:t>36</a:t>
            </a:r>
            <a:endParaRPr sz="750">
              <a:latin typeface="Arial MT"/>
              <a:cs typeface="Arial MT"/>
            </a:endParaRPr>
          </a:p>
          <a:p>
            <a:pPr marL="1167765">
              <a:lnSpc>
                <a:spcPts val="1330"/>
              </a:lnSpc>
              <a:spcBef>
                <a:spcPts val="409"/>
              </a:spcBef>
            </a:pPr>
            <a:r>
              <a:rPr sz="1150" dirty="0">
                <a:latin typeface="Arial MT"/>
                <a:cs typeface="Arial MT"/>
              </a:rPr>
              <a:t>Temperature</a:t>
            </a:r>
            <a:r>
              <a:rPr sz="1150" spc="165" dirty="0">
                <a:latin typeface="Arial MT"/>
                <a:cs typeface="Arial MT"/>
              </a:rPr>
              <a:t> </a:t>
            </a:r>
            <a:r>
              <a:rPr sz="1150" spc="50" dirty="0">
                <a:latin typeface="Arial MT"/>
                <a:cs typeface="Arial MT"/>
              </a:rPr>
              <a:t>(</a:t>
            </a:r>
            <a:r>
              <a:rPr sz="1150" spc="50" dirty="0">
                <a:latin typeface="Tahoma"/>
                <a:cs typeface="Tahoma"/>
              </a:rPr>
              <a:t>℃</a:t>
            </a:r>
            <a:r>
              <a:rPr sz="1150" spc="50" dirty="0">
                <a:latin typeface="Arial MT"/>
                <a:cs typeface="Arial MT"/>
              </a:rPr>
              <a:t>)</a:t>
            </a:r>
            <a:endParaRPr sz="1150">
              <a:latin typeface="Arial MT"/>
              <a:cs typeface="Arial MT"/>
            </a:endParaRPr>
          </a:p>
          <a:p>
            <a:pPr marL="201930" marR="5080">
              <a:lnSpc>
                <a:spcPts val="1860"/>
              </a:lnSpc>
              <a:spcBef>
                <a:spcPts val="15"/>
              </a:spcBef>
            </a:pPr>
            <a:r>
              <a:rPr sz="1550" spc="-20" dirty="0">
                <a:latin typeface="Times New Roman"/>
                <a:cs typeface="Times New Roman"/>
              </a:rPr>
              <a:t>Figure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8.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Specific</a:t>
            </a:r>
            <a:r>
              <a:rPr sz="1550" spc="-60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oxygen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-30" dirty="0">
                <a:latin typeface="Times New Roman"/>
                <a:cs typeface="Times New Roman"/>
              </a:rPr>
              <a:t>consumption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of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resting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spc="-40" dirty="0">
                <a:latin typeface="Times New Roman"/>
                <a:cs typeface="Times New Roman"/>
              </a:rPr>
              <a:t>20-</a:t>
            </a:r>
            <a:r>
              <a:rPr sz="1550" dirty="0">
                <a:latin typeface="Times New Roman"/>
                <a:cs typeface="Times New Roman"/>
              </a:rPr>
              <a:t>60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g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juvenile </a:t>
            </a:r>
            <a:r>
              <a:rPr sz="1550" spc="-25" dirty="0">
                <a:latin typeface="Times New Roman"/>
                <a:cs typeface="Times New Roman"/>
              </a:rPr>
              <a:t>soft-</a:t>
            </a:r>
            <a:r>
              <a:rPr sz="1550" spc="-20" dirty="0">
                <a:latin typeface="Times New Roman"/>
                <a:cs typeface="Times New Roman"/>
              </a:rPr>
              <a:t>shelled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turtle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in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air,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Times New Roman"/>
                <a:cs typeface="Times New Roman"/>
              </a:rPr>
              <a:t>related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to</a:t>
            </a:r>
            <a:r>
              <a:rPr sz="1550" spc="-6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Times New Roman"/>
                <a:cs typeface="Times New Roman"/>
              </a:rPr>
              <a:t>temperature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05100" y="3989070"/>
            <a:ext cx="18542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-25" dirty="0">
                <a:latin typeface="Arial MT"/>
                <a:cs typeface="Arial MT"/>
              </a:rPr>
              <a:t>100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05100" y="3488689"/>
            <a:ext cx="18542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-25" dirty="0">
                <a:latin typeface="Arial MT"/>
                <a:cs typeface="Arial MT"/>
              </a:rPr>
              <a:t>200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05100" y="2988309"/>
            <a:ext cx="18542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-25" dirty="0">
                <a:latin typeface="Arial MT"/>
                <a:cs typeface="Arial MT"/>
              </a:rPr>
              <a:t>300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05100" y="2489200"/>
            <a:ext cx="18542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-25" dirty="0">
                <a:latin typeface="Arial MT"/>
                <a:cs typeface="Arial MT"/>
              </a:rPr>
              <a:t>400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05100" y="1988820"/>
            <a:ext cx="185420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spc="-25" dirty="0">
                <a:latin typeface="Arial MT"/>
                <a:cs typeface="Arial MT"/>
              </a:rPr>
              <a:t>500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61583" y="2244178"/>
            <a:ext cx="183515" cy="2608580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45" dirty="0">
                <a:latin typeface="Arial MT"/>
                <a:cs typeface="Arial MT"/>
              </a:rPr>
              <a:t>Standard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spc="20" dirty="0">
                <a:latin typeface="Arial MT"/>
                <a:cs typeface="Arial MT"/>
              </a:rPr>
              <a:t>respiration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spc="20" dirty="0">
                <a:latin typeface="Arial MT"/>
                <a:cs typeface="Arial MT"/>
              </a:rPr>
              <a:t>rate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[mlO2/(kg.h)]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44570" y="1351280"/>
            <a:ext cx="1722120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450" spc="-10" dirty="0">
                <a:latin typeface="Times New Roman"/>
                <a:cs typeface="Times New Roman"/>
              </a:rPr>
              <a:t>Y=8.2217</a:t>
            </a:r>
            <a:r>
              <a:rPr sz="2175" spc="-15" baseline="-9578" dirty="0">
                <a:latin typeface="SimSun"/>
                <a:cs typeface="SimSun"/>
              </a:rPr>
              <a:t>×</a:t>
            </a:r>
            <a:r>
              <a:rPr sz="1450" spc="-10" dirty="0">
                <a:latin typeface="Times New Roman"/>
                <a:cs typeface="Times New Roman"/>
              </a:rPr>
              <a:t>10</a:t>
            </a:r>
            <a:r>
              <a:rPr sz="1425" spc="-15" baseline="38011" dirty="0">
                <a:latin typeface="Times New Roman"/>
                <a:cs typeface="Times New Roman"/>
              </a:rPr>
              <a:t>0.04589T</a:t>
            </a:r>
            <a:endParaRPr sz="1425" baseline="38011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10529" y="1351280"/>
            <a:ext cx="1541145" cy="248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450" dirty="0">
                <a:latin typeface="Times New Roman"/>
                <a:cs typeface="Times New Roman"/>
              </a:rPr>
              <a:t>R</a:t>
            </a:r>
            <a:r>
              <a:rPr sz="1425" baseline="38011" dirty="0">
                <a:latin typeface="Times New Roman"/>
                <a:cs typeface="Times New Roman"/>
              </a:rPr>
              <a:t>2</a:t>
            </a:r>
            <a:r>
              <a:rPr sz="1450" dirty="0">
                <a:latin typeface="Times New Roman"/>
                <a:cs typeface="Times New Roman"/>
              </a:rPr>
              <a:t>=0</a:t>
            </a:r>
            <a:r>
              <a:rPr sz="1450" dirty="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sz="1450" dirty="0">
                <a:latin typeface="Times New Roman"/>
                <a:cs typeface="Times New Roman"/>
              </a:rPr>
              <a:t>982,</a:t>
            </a:r>
            <a:r>
              <a:rPr sz="1450" spc="190" dirty="0">
                <a:latin typeface="Times New Roman"/>
                <a:cs typeface="Times New Roman"/>
              </a:rPr>
              <a:t> </a:t>
            </a:r>
            <a:r>
              <a:rPr sz="1450" spc="-10" dirty="0">
                <a:latin typeface="Times New Roman"/>
                <a:cs typeface="Times New Roman"/>
              </a:rPr>
              <a:t>P&lt;0.001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51129"/>
            <a:ext cx="2324100" cy="1770380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6452870" y="2659380"/>
            <a:ext cx="2175510" cy="106553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sz="2000" dirty="0">
                <a:latin typeface="Times New Roman"/>
                <a:cs typeface="Times New Roman"/>
              </a:rPr>
              <a:t>23-30 </a:t>
            </a:r>
            <a:r>
              <a:rPr sz="2000" spc="-175" dirty="0">
                <a:latin typeface="SimSun"/>
                <a:cs typeface="SimSun"/>
              </a:rPr>
              <a:t>度下 </a:t>
            </a:r>
            <a:r>
              <a:rPr sz="2000" spc="-10" dirty="0">
                <a:latin typeface="Times New Roman"/>
                <a:cs typeface="Times New Roman"/>
              </a:rPr>
              <a:t>Q</a:t>
            </a:r>
            <a:r>
              <a:rPr sz="1725" spc="-15" baseline="-24154" dirty="0">
                <a:latin typeface="Times New Roman"/>
                <a:cs typeface="Times New Roman"/>
              </a:rPr>
              <a:t>10</a:t>
            </a:r>
            <a:r>
              <a:rPr sz="2000" spc="-10" dirty="0">
                <a:latin typeface="Times New Roman"/>
                <a:cs typeface="Times New Roman"/>
              </a:rPr>
              <a:t>=2.5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2000" spc="-260" dirty="0">
                <a:latin typeface="SimSun"/>
                <a:cs typeface="SimSun"/>
              </a:rPr>
              <a:t>， </a:t>
            </a:r>
            <a:r>
              <a:rPr sz="2000" dirty="0">
                <a:latin typeface="Times New Roman"/>
                <a:cs typeface="Times New Roman"/>
              </a:rPr>
              <a:t>30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30" dirty="0">
                <a:latin typeface="SimSun"/>
                <a:cs typeface="SimSun"/>
              </a:rPr>
              <a:t>度以上 </a:t>
            </a:r>
            <a:r>
              <a:rPr sz="2000" dirty="0">
                <a:latin typeface="Times New Roman"/>
                <a:cs typeface="Times New Roman"/>
              </a:rPr>
              <a:t>Q</a:t>
            </a:r>
            <a:r>
              <a:rPr sz="1725" baseline="-24154" dirty="0">
                <a:latin typeface="Times New Roman"/>
                <a:cs typeface="Times New Roman"/>
              </a:rPr>
              <a:t>10</a:t>
            </a:r>
            <a:r>
              <a:rPr sz="1725" spc="254" baseline="-24154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SimSun"/>
                <a:cs typeface="SimSun"/>
              </a:rPr>
              <a:t>为</a:t>
            </a:r>
            <a:endParaRPr sz="2000">
              <a:latin typeface="SimSun"/>
              <a:cs typeface="SimSun"/>
            </a:endParaRPr>
          </a:p>
          <a:p>
            <a:pPr marL="38100">
              <a:lnSpc>
                <a:spcPct val="100000"/>
              </a:lnSpc>
              <a:spcBef>
                <a:spcPts val="330"/>
              </a:spcBef>
            </a:pPr>
            <a:r>
              <a:rPr sz="2000" dirty="0">
                <a:latin typeface="Times New Roman"/>
                <a:cs typeface="Times New Roman"/>
              </a:rPr>
              <a:t>3.4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SimSun"/>
                <a:cs typeface="SimSun"/>
              </a:rPr>
              <a:t>。</a:t>
            </a:r>
            <a:endParaRPr sz="2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6070" y="339090"/>
            <a:ext cx="26530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3855" algn="l"/>
              </a:tabLst>
            </a:pPr>
            <a:r>
              <a:rPr sz="2800" spc="-50" dirty="0">
                <a:latin typeface="Times New Roman"/>
                <a:cs typeface="Times New Roman"/>
              </a:rPr>
              <a:t>2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170" dirty="0"/>
              <a:t>发育和生长：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6070" y="988059"/>
            <a:ext cx="8453755" cy="877569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3350"/>
              </a:lnSpc>
              <a:spcBef>
                <a:spcPts val="210"/>
              </a:spcBef>
              <a:tabLst>
                <a:tab pos="7966075" algn="l"/>
              </a:tabLst>
            </a:pPr>
            <a:r>
              <a:rPr sz="2800" b="1" dirty="0">
                <a:latin typeface="Microsoft JhengHei"/>
                <a:cs typeface="Microsoft JhengHei"/>
              </a:rPr>
              <a:t>（</a:t>
            </a:r>
            <a:r>
              <a:rPr sz="2800" b="1" spc="190" dirty="0">
                <a:latin typeface="Microsoft JhengHei"/>
                <a:cs typeface="Microsoft JhengHei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220" dirty="0">
                <a:latin typeface="Microsoft JhengHei"/>
                <a:cs typeface="Microsoft JhengHei"/>
              </a:rPr>
              <a:t>）</a:t>
            </a:r>
            <a:r>
              <a:rPr sz="2800" b="1" spc="225" dirty="0">
                <a:latin typeface="Microsoft JhengHei"/>
                <a:cs typeface="Microsoft JhengHei"/>
              </a:rPr>
              <a:t>发</a:t>
            </a:r>
            <a:r>
              <a:rPr sz="2800" b="1" spc="215" dirty="0">
                <a:latin typeface="Microsoft JhengHei"/>
                <a:cs typeface="Microsoft JhengHei"/>
              </a:rPr>
              <a:t>育</a:t>
            </a:r>
            <a:r>
              <a:rPr sz="2800" b="1" spc="220" dirty="0">
                <a:latin typeface="Microsoft JhengHei"/>
                <a:cs typeface="Microsoft JhengHei"/>
              </a:rPr>
              <a:t>阈</a:t>
            </a:r>
            <a:r>
              <a:rPr sz="2800" b="1" spc="225" dirty="0">
                <a:latin typeface="Microsoft JhengHei"/>
                <a:cs typeface="Microsoft JhengHei"/>
              </a:rPr>
              <a:t>温</a:t>
            </a:r>
            <a:r>
              <a:rPr sz="2800" b="1" spc="215" dirty="0">
                <a:latin typeface="Microsoft JhengHei"/>
                <a:cs typeface="Microsoft JhengHei"/>
              </a:rPr>
              <a:t>度</a:t>
            </a:r>
            <a:r>
              <a:rPr sz="2800" b="1" spc="229" dirty="0">
                <a:latin typeface="Microsoft JhengHei"/>
                <a:cs typeface="Microsoft JhengHei"/>
              </a:rPr>
              <a:t>或</a:t>
            </a:r>
            <a:r>
              <a:rPr sz="2800" b="1" spc="215" dirty="0">
                <a:solidFill>
                  <a:srgbClr val="CC3300"/>
                </a:solidFill>
                <a:latin typeface="Microsoft JhengHei"/>
                <a:cs typeface="Microsoft JhengHei"/>
              </a:rPr>
              <a:t>生</a:t>
            </a:r>
            <a:r>
              <a:rPr sz="2800" b="1" spc="229" dirty="0">
                <a:solidFill>
                  <a:srgbClr val="CC3300"/>
                </a:solidFill>
                <a:latin typeface="Microsoft JhengHei"/>
                <a:cs typeface="Microsoft JhengHei"/>
              </a:rPr>
              <a:t>物</a:t>
            </a:r>
            <a:r>
              <a:rPr sz="2800" b="1" spc="215" dirty="0">
                <a:solidFill>
                  <a:srgbClr val="CC3300"/>
                </a:solidFill>
                <a:latin typeface="Microsoft JhengHei"/>
                <a:cs typeface="Microsoft JhengHei"/>
              </a:rPr>
              <a:t>学</a:t>
            </a:r>
            <a:r>
              <a:rPr sz="2800" b="1" spc="220" dirty="0">
                <a:solidFill>
                  <a:srgbClr val="CC3300"/>
                </a:solidFill>
                <a:latin typeface="Microsoft JhengHei"/>
                <a:cs typeface="Microsoft JhengHei"/>
              </a:rPr>
              <a:t>零</a:t>
            </a:r>
            <a:r>
              <a:rPr sz="2800" b="1" spc="225" dirty="0">
                <a:solidFill>
                  <a:srgbClr val="CC3300"/>
                </a:solidFill>
                <a:latin typeface="Microsoft JhengHei"/>
                <a:cs typeface="Microsoft JhengHei"/>
              </a:rPr>
              <a:t>度</a:t>
            </a:r>
            <a:r>
              <a:rPr sz="2800" b="1" dirty="0">
                <a:solidFill>
                  <a:srgbClr val="CC3300"/>
                </a:solidFill>
                <a:latin typeface="Microsoft JhengHei"/>
                <a:cs typeface="Microsoft JhengHei"/>
              </a:rPr>
              <a:t>（</a:t>
            </a:r>
            <a:r>
              <a:rPr sz="2800" b="1" spc="190" dirty="0">
                <a:solidFill>
                  <a:srgbClr val="CC3300"/>
                </a:solidFill>
                <a:latin typeface="Microsoft JhengHei"/>
                <a:cs typeface="Microsoft JhengHei"/>
              </a:rPr>
              <a:t> </a:t>
            </a:r>
            <a:r>
              <a:rPr sz="2800" b="1" spc="-10" dirty="0">
                <a:solidFill>
                  <a:srgbClr val="CC3300"/>
                </a:solidFill>
                <a:latin typeface="Times New Roman"/>
                <a:cs typeface="Times New Roman"/>
              </a:rPr>
              <a:t>biological</a:t>
            </a:r>
            <a:r>
              <a:rPr sz="2800" b="1" dirty="0">
                <a:solidFill>
                  <a:srgbClr val="CC3300"/>
                </a:solidFill>
                <a:latin typeface="Times New Roman"/>
                <a:cs typeface="Times New Roman"/>
              </a:rPr>
              <a:t>	</a:t>
            </a:r>
            <a:r>
              <a:rPr sz="2800" b="1" spc="-25" dirty="0">
                <a:solidFill>
                  <a:srgbClr val="CC3300"/>
                </a:solidFill>
                <a:latin typeface="Times New Roman"/>
                <a:cs typeface="Times New Roman"/>
              </a:rPr>
              <a:t>zer </a:t>
            </a:r>
            <a:r>
              <a:rPr sz="2800" b="1" dirty="0">
                <a:solidFill>
                  <a:srgbClr val="CC3300"/>
                </a:solidFill>
                <a:latin typeface="Times New Roman"/>
                <a:cs typeface="Times New Roman"/>
              </a:rPr>
              <a:t>o</a:t>
            </a:r>
            <a:r>
              <a:rPr sz="2800" b="1" spc="-3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2800" b="1" spc="220" dirty="0">
                <a:solidFill>
                  <a:srgbClr val="CC3300"/>
                </a:solidFill>
                <a:latin typeface="Microsoft JhengHei"/>
                <a:cs typeface="Microsoft JhengHei"/>
              </a:rPr>
              <a:t>）</a:t>
            </a:r>
            <a:r>
              <a:rPr sz="2800" b="1" spc="220" dirty="0">
                <a:latin typeface="Microsoft JhengHei"/>
                <a:cs typeface="Microsoft JhengHei"/>
              </a:rPr>
              <a:t>：</a:t>
            </a:r>
            <a:r>
              <a:rPr sz="2800" b="1" spc="225" dirty="0">
                <a:latin typeface="Microsoft JhengHei"/>
                <a:cs typeface="Microsoft JhengHei"/>
              </a:rPr>
              <a:t>生</a:t>
            </a:r>
            <a:r>
              <a:rPr sz="2800" b="1" spc="220" dirty="0">
                <a:latin typeface="Microsoft JhengHei"/>
                <a:cs typeface="Microsoft JhengHei"/>
              </a:rPr>
              <a:t>物</a:t>
            </a:r>
            <a:r>
              <a:rPr sz="2800" b="1" spc="215" dirty="0">
                <a:latin typeface="Microsoft JhengHei"/>
                <a:cs typeface="Microsoft JhengHei"/>
              </a:rPr>
              <a:t>开</a:t>
            </a:r>
            <a:r>
              <a:rPr sz="2800" b="1" spc="229" dirty="0">
                <a:latin typeface="Microsoft JhengHei"/>
                <a:cs typeface="Microsoft JhengHei"/>
              </a:rPr>
              <a:t>始</a:t>
            </a:r>
            <a:r>
              <a:rPr sz="2800" b="1" spc="220" dirty="0">
                <a:latin typeface="Microsoft JhengHei"/>
                <a:cs typeface="Microsoft JhengHei"/>
              </a:rPr>
              <a:t>生</a:t>
            </a:r>
            <a:r>
              <a:rPr sz="2800" b="1" spc="225" dirty="0">
                <a:latin typeface="Microsoft JhengHei"/>
                <a:cs typeface="Microsoft JhengHei"/>
              </a:rPr>
              <a:t>长</a:t>
            </a:r>
            <a:r>
              <a:rPr sz="2800" b="1" spc="215" dirty="0">
                <a:latin typeface="Microsoft JhengHei"/>
                <a:cs typeface="Microsoft JhengHei"/>
              </a:rPr>
              <a:t>发</a:t>
            </a:r>
            <a:r>
              <a:rPr sz="2800" b="1" spc="220" dirty="0">
                <a:latin typeface="Microsoft JhengHei"/>
                <a:cs typeface="Microsoft JhengHei"/>
              </a:rPr>
              <a:t>育</a:t>
            </a:r>
            <a:r>
              <a:rPr sz="2800" b="1" spc="225" dirty="0">
                <a:latin typeface="Microsoft JhengHei"/>
                <a:cs typeface="Microsoft JhengHei"/>
              </a:rPr>
              <a:t>的</a:t>
            </a:r>
            <a:r>
              <a:rPr sz="2800" b="1" spc="215" dirty="0">
                <a:latin typeface="Microsoft JhengHei"/>
                <a:cs typeface="Microsoft JhengHei"/>
              </a:rPr>
              <a:t>温</a:t>
            </a:r>
            <a:r>
              <a:rPr sz="2800" b="1" spc="225" dirty="0">
                <a:latin typeface="Microsoft JhengHei"/>
                <a:cs typeface="Microsoft JhengHei"/>
              </a:rPr>
              <a:t>度</a:t>
            </a:r>
            <a:r>
              <a:rPr sz="2800" b="1" spc="-50" dirty="0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2133600"/>
            <a:ext cx="4648200" cy="415544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859269" y="4809490"/>
            <a:ext cx="1826260" cy="125476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783590" algn="just">
              <a:lnSpc>
                <a:spcPct val="101099"/>
              </a:lnSpc>
              <a:spcBef>
                <a:spcPts val="70"/>
              </a:spcBef>
            </a:pPr>
            <a:r>
              <a:rPr sz="2000" dirty="0">
                <a:latin typeface="SimSun"/>
                <a:cs typeface="SimSun"/>
              </a:rPr>
              <a:t>菜白蝶在</a:t>
            </a:r>
            <a:r>
              <a:rPr sz="2000" spc="-130" dirty="0">
                <a:latin typeface="SimSun"/>
                <a:cs typeface="SimSun"/>
              </a:rPr>
              <a:t>温度阀 </a:t>
            </a:r>
            <a:r>
              <a:rPr sz="2000" spc="5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200" dirty="0">
                <a:latin typeface="Times New Roman"/>
                <a:cs typeface="Times New Roman"/>
              </a:rPr>
              <a:t> ℃ </a:t>
            </a:r>
            <a:r>
              <a:rPr sz="2000" dirty="0">
                <a:latin typeface="SimSun"/>
                <a:cs typeface="SimSun"/>
              </a:rPr>
              <a:t>以上，从卵到蛹的发育</a:t>
            </a:r>
            <a:endParaRPr sz="2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8609" y="0"/>
            <a:ext cx="3755390" cy="41833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1320" y="510540"/>
            <a:ext cx="43522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00"/>
                </a:solidFill>
              </a:rPr>
              <a:t>（</a:t>
            </a:r>
            <a:r>
              <a:rPr spc="229" dirty="0">
                <a:solidFill>
                  <a:srgbClr val="FFFF00"/>
                </a:solidFill>
              </a:rPr>
              <a:t> </a:t>
            </a:r>
            <a:r>
              <a:rPr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spc="-4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pc="265" dirty="0">
                <a:solidFill>
                  <a:srgbClr val="FFFF00"/>
                </a:solidFill>
              </a:rPr>
              <a:t>）</a:t>
            </a:r>
            <a:r>
              <a:rPr spc="215" dirty="0">
                <a:solidFill>
                  <a:srgbClr val="FFFF00"/>
                </a:solidFill>
              </a:rPr>
              <a:t>有效积温法则：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7659" y="1375409"/>
            <a:ext cx="7912100" cy="502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310254" algn="just">
              <a:lnSpc>
                <a:spcPct val="100000"/>
              </a:lnSpc>
              <a:spcBef>
                <a:spcPts val="100"/>
              </a:spcBef>
            </a:pPr>
            <a:r>
              <a:rPr sz="2800" b="1" spc="215" dirty="0">
                <a:solidFill>
                  <a:srgbClr val="CC3300"/>
                </a:solidFill>
                <a:latin typeface="Microsoft JhengHei"/>
                <a:cs typeface="Microsoft JhengHei"/>
              </a:rPr>
              <a:t>植物和变温动物</a:t>
            </a:r>
            <a:r>
              <a:rPr sz="2800" b="1" spc="160" dirty="0">
                <a:solidFill>
                  <a:srgbClr val="FFFF00"/>
                </a:solidFill>
                <a:latin typeface="Microsoft JhengHei"/>
                <a:cs typeface="Microsoft JhengHei"/>
              </a:rPr>
              <a:t>在生长发育</a:t>
            </a:r>
            <a:r>
              <a:rPr sz="2800" b="1" spc="190" dirty="0">
                <a:solidFill>
                  <a:srgbClr val="FFFF00"/>
                </a:solidFill>
                <a:latin typeface="Microsoft JhengHei"/>
                <a:cs typeface="Microsoft JhengHei"/>
              </a:rPr>
              <a:t>过程中必须从环境中摄取一定的热量才能完成某一阶段的发育，这个发育阶段所需</a:t>
            </a:r>
            <a:r>
              <a:rPr sz="2800" b="1" spc="220" dirty="0">
                <a:solidFill>
                  <a:srgbClr val="FFFF00"/>
                </a:solidFill>
                <a:latin typeface="Microsoft JhengHei"/>
                <a:cs typeface="Microsoft JhengHei"/>
              </a:rPr>
              <a:t>要的</a:t>
            </a:r>
            <a:r>
              <a:rPr sz="2800" b="1" spc="220" dirty="0">
                <a:solidFill>
                  <a:srgbClr val="CC3300"/>
                </a:solidFill>
                <a:latin typeface="Microsoft JhengHei"/>
                <a:cs typeface="Microsoft JhengHei"/>
              </a:rPr>
              <a:t>总热量</a:t>
            </a:r>
            <a:r>
              <a:rPr sz="2800" b="1" spc="175" dirty="0">
                <a:solidFill>
                  <a:srgbClr val="FFFF00"/>
                </a:solidFill>
                <a:latin typeface="Microsoft JhengHei"/>
                <a:cs typeface="Microsoft JhengHei"/>
              </a:rPr>
              <a:t>是一常数，称为</a:t>
            </a:r>
            <a:r>
              <a:rPr sz="2800" b="1" spc="190" dirty="0">
                <a:solidFill>
                  <a:srgbClr val="FFFF00"/>
                </a:solidFill>
                <a:latin typeface="Microsoft JhengHei"/>
                <a:cs typeface="Microsoft JhengHei"/>
              </a:rPr>
              <a:t>有效积温。该规律称为有效</a:t>
            </a:r>
            <a:r>
              <a:rPr sz="2800" b="1" spc="155" dirty="0">
                <a:solidFill>
                  <a:srgbClr val="FFFF00"/>
                </a:solidFill>
                <a:latin typeface="Microsoft JhengHei"/>
                <a:cs typeface="Microsoft JhengHei"/>
              </a:rPr>
              <a:t>积温法则</a:t>
            </a:r>
            <a:endParaRPr sz="2800">
              <a:latin typeface="Microsoft JhengHei"/>
              <a:cs typeface="Microsoft JhengHei"/>
            </a:endParaRPr>
          </a:p>
          <a:p>
            <a:pPr marL="302260">
              <a:lnSpc>
                <a:spcPct val="100000"/>
              </a:lnSpc>
              <a:spcBef>
                <a:spcPts val="2560"/>
              </a:spcBef>
            </a:pPr>
            <a:r>
              <a:rPr sz="2800" b="1" spc="185" dirty="0">
                <a:solidFill>
                  <a:srgbClr val="FFFF00"/>
                </a:solidFill>
                <a:latin typeface="Microsoft JhengHei"/>
                <a:cs typeface="Microsoft JhengHei"/>
              </a:rPr>
              <a:t>有效积温法则的公式：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sz="2800" b="1" spc="-15" dirty="0">
                <a:solidFill>
                  <a:srgbClr val="FFFF00"/>
                </a:solidFill>
                <a:latin typeface="Times New Roman"/>
                <a:cs typeface="Times New Roman"/>
              </a:rPr>
              <a:t> =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sz="2800" b="1" spc="-20" dirty="0">
                <a:solidFill>
                  <a:srgbClr val="FFFF00"/>
                </a:solidFill>
                <a:latin typeface="Times New Roman"/>
                <a:cs typeface="Times New Roman"/>
              </a:rPr>
              <a:t> (T-</a:t>
            </a:r>
            <a:r>
              <a:rPr sz="2800" b="1" spc="-25" dirty="0">
                <a:solidFill>
                  <a:srgbClr val="FFFF00"/>
                </a:solidFill>
                <a:latin typeface="Times New Roman"/>
                <a:cs typeface="Times New Roman"/>
              </a:rPr>
              <a:t>C)</a:t>
            </a:r>
            <a:endParaRPr sz="2800">
              <a:latin typeface="Times New Roman"/>
              <a:cs typeface="Times New Roman"/>
            </a:endParaRPr>
          </a:p>
          <a:p>
            <a:pPr marL="86360" marR="5080">
              <a:lnSpc>
                <a:spcPct val="100000"/>
              </a:lnSpc>
              <a:spcBef>
                <a:spcPts val="3210"/>
              </a:spcBef>
            </a:pP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K</a:t>
            </a:r>
            <a:r>
              <a:rPr sz="2800" b="1" spc="-6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150" dirty="0">
                <a:solidFill>
                  <a:srgbClr val="FFFF00"/>
                </a:solidFill>
                <a:latin typeface="Microsoft JhengHei"/>
                <a:cs typeface="Microsoft JhengHei"/>
              </a:rPr>
              <a:t>：有效积温，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N</a:t>
            </a:r>
            <a:r>
              <a:rPr sz="2800" b="1" spc="-25" dirty="0">
                <a:solidFill>
                  <a:srgbClr val="FFFF00"/>
                </a:solidFill>
                <a:latin typeface="Times New Roman"/>
                <a:cs typeface="Times New Roman"/>
              </a:rPr>
              <a:t>: </a:t>
            </a:r>
            <a:r>
              <a:rPr sz="2800" b="1" spc="140" dirty="0">
                <a:solidFill>
                  <a:srgbClr val="FFFF00"/>
                </a:solidFill>
                <a:latin typeface="Microsoft JhengHei"/>
                <a:cs typeface="Microsoft JhengHei"/>
              </a:rPr>
              <a:t>发育历期，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sz="2800" b="1" spc="-6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170" dirty="0">
                <a:solidFill>
                  <a:srgbClr val="FFFF00"/>
                </a:solidFill>
                <a:latin typeface="Microsoft JhengHei"/>
                <a:cs typeface="Microsoft JhengHei"/>
              </a:rPr>
              <a:t>：发育期间平</a:t>
            </a:r>
            <a:r>
              <a:rPr sz="2800" b="1" spc="175" dirty="0">
                <a:solidFill>
                  <a:srgbClr val="FFFF00"/>
                </a:solidFill>
                <a:latin typeface="Microsoft JhengHei"/>
                <a:cs typeface="Microsoft JhengHei"/>
              </a:rPr>
              <a:t>均环境温度， </a:t>
            </a:r>
            <a:r>
              <a:rPr sz="2800" b="1" dirty="0">
                <a:solidFill>
                  <a:srgbClr val="FFFF00"/>
                </a:solidFill>
                <a:latin typeface="Times New Roman"/>
                <a:cs typeface="Times New Roman"/>
              </a:rPr>
              <a:t>C</a:t>
            </a:r>
            <a:r>
              <a:rPr sz="2800" b="1" spc="-4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800" b="1" spc="180" dirty="0">
                <a:solidFill>
                  <a:srgbClr val="FFFF00"/>
                </a:solidFill>
                <a:latin typeface="Microsoft JhengHei"/>
                <a:cs typeface="Microsoft JhengHei"/>
              </a:rPr>
              <a:t>：生物学零度。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2440" y="1159509"/>
            <a:ext cx="7340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5" dirty="0">
                <a:latin typeface="SimSun"/>
                <a:cs typeface="SimSun"/>
              </a:rPr>
              <a:t>不同物种，完成发育所需积温不同。</a:t>
            </a:r>
            <a:endParaRPr sz="3600">
              <a:latin typeface="SimSun"/>
              <a:cs typeface="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440" y="1962150"/>
            <a:ext cx="8213090" cy="197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SimSun"/>
                <a:cs typeface="SimSun"/>
              </a:rPr>
              <a:t>一般起源于或适于高纬度地区种植的植物，所需有效积温较少，反之则较多。例如，麦子</a:t>
            </a:r>
            <a:r>
              <a:rPr sz="3200" spc="-120" dirty="0">
                <a:latin typeface="SimSun"/>
                <a:cs typeface="SimSun"/>
              </a:rPr>
              <a:t>需要有效积温 </a:t>
            </a:r>
            <a:r>
              <a:rPr sz="3200" dirty="0">
                <a:latin typeface="Times New Roman"/>
                <a:cs typeface="Times New Roman"/>
              </a:rPr>
              <a:t>1000~1600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imSun"/>
                <a:cs typeface="SimSun"/>
              </a:rPr>
              <a:t>日度，棉花、玉</a:t>
            </a:r>
            <a:r>
              <a:rPr sz="3200" spc="-280" dirty="0">
                <a:latin typeface="SimSun"/>
                <a:cs typeface="SimSun"/>
              </a:rPr>
              <a:t>米为 </a:t>
            </a:r>
            <a:r>
              <a:rPr sz="3200" spc="5" dirty="0">
                <a:latin typeface="Times New Roman"/>
                <a:cs typeface="Times New Roman"/>
              </a:rPr>
              <a:t>2000~4000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20" dirty="0">
                <a:latin typeface="SimSun"/>
                <a:cs typeface="SimSun"/>
              </a:rPr>
              <a:t>日度，椰子约 </a:t>
            </a:r>
            <a:r>
              <a:rPr sz="3200" dirty="0">
                <a:latin typeface="Times New Roman"/>
                <a:cs typeface="Times New Roman"/>
              </a:rPr>
              <a:t>5</a:t>
            </a:r>
            <a:r>
              <a:rPr sz="3200" spc="15" dirty="0">
                <a:latin typeface="Times New Roman"/>
                <a:cs typeface="Times New Roman"/>
              </a:rPr>
              <a:t>00</a:t>
            </a:r>
            <a:r>
              <a:rPr sz="3200" dirty="0">
                <a:latin typeface="Times New Roman"/>
                <a:cs typeface="Times New Roman"/>
              </a:rPr>
              <a:t>0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imSun"/>
                <a:cs typeface="SimSun"/>
              </a:rPr>
              <a:t>日度。</a:t>
            </a:r>
            <a:endParaRPr sz="3200">
              <a:latin typeface="SimSun"/>
              <a:cs typeface="SimSun"/>
            </a:endParaRPr>
          </a:p>
        </p:txBody>
      </p:sp>
      <p:pic>
        <p:nvPicPr>
          <p:cNvPr id="5" name="object 5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450" y="4220209"/>
            <a:ext cx="3313429" cy="2480310"/>
          </a:xfrm>
          <a:prstGeom prst="rect">
            <a:avLst/>
          </a:prstGeom>
        </p:spPr>
      </p:pic>
      <p:pic>
        <p:nvPicPr>
          <p:cNvPr id="6" name="object 6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19700" y="4508500"/>
            <a:ext cx="3097529" cy="23444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3" name="Rectangle 3">
            <a:extLst>
              <a:ext uri="{FF2B5EF4-FFF2-40B4-BE49-F238E27FC236}">
                <a16:creationId xmlns:a16="http://schemas.microsoft.com/office/drawing/2014/main" id="{7F4BDABE-5CC0-C241-2946-5CAE8E310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8" y="404813"/>
            <a:ext cx="8496300" cy="59372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>
                <a:solidFill>
                  <a:srgbClr val="CC0000"/>
                </a:solidFill>
                <a:latin typeface="黑体" panose="02010609060101010101" pitchFamily="49" charset="-122"/>
              </a:rPr>
              <a:t>　　　　　如何计算有效积温</a:t>
            </a:r>
          </a:p>
          <a:p>
            <a:pPr>
              <a:lnSpc>
                <a:spcPct val="90000"/>
              </a:lnSpc>
            </a:pPr>
            <a:r>
              <a:rPr lang="zh-CN" altLang="en-US" sz="2800" b="1">
                <a:latin typeface="黑体" panose="02010609060101010101" pitchFamily="49" charset="-122"/>
              </a:rPr>
              <a:t>如果能在两种温度（Ｔ</a:t>
            </a:r>
            <a:r>
              <a:rPr lang="en-US" altLang="zh-CN" sz="2800" b="1" baseline="-25000">
                <a:latin typeface="黑体" panose="02010609060101010101" pitchFamily="49" charset="-122"/>
              </a:rPr>
              <a:t>1</a:t>
            </a:r>
            <a:r>
              <a:rPr lang="zh-CN" altLang="en-US" sz="2800" b="1" baseline="-25000">
                <a:latin typeface="黑体" panose="02010609060101010101" pitchFamily="49" charset="-122"/>
              </a:rPr>
              <a:t>　</a:t>
            </a:r>
            <a:r>
              <a:rPr lang="zh-CN" altLang="en-US" sz="2800" b="1">
                <a:latin typeface="黑体" panose="02010609060101010101" pitchFamily="49" charset="-122"/>
              </a:rPr>
              <a:t>，Ｔ</a:t>
            </a:r>
            <a:r>
              <a:rPr lang="en-US" altLang="zh-CN" sz="2800" b="1" baseline="-25000">
                <a:latin typeface="黑体" panose="02010609060101010101" pitchFamily="49" charset="-122"/>
              </a:rPr>
              <a:t>2</a:t>
            </a:r>
            <a:r>
              <a:rPr lang="zh-CN" altLang="en-US" sz="2800" b="1">
                <a:latin typeface="黑体" panose="02010609060101010101" pitchFamily="49" charset="-122"/>
              </a:rPr>
              <a:t>）的实验中，分别观察记录两个相应的发育历期（Ｎ</a:t>
            </a:r>
            <a:r>
              <a:rPr lang="en-US" altLang="zh-CN" sz="2800" b="1" baseline="-25000">
                <a:latin typeface="黑体" panose="02010609060101010101" pitchFamily="49" charset="-122"/>
              </a:rPr>
              <a:t>1</a:t>
            </a:r>
            <a:r>
              <a:rPr lang="zh-CN" altLang="en-US" sz="2800" b="1">
                <a:latin typeface="黑体" panose="02010609060101010101" pitchFamily="49" charset="-122"/>
              </a:rPr>
              <a:t>，Ｎ</a:t>
            </a:r>
            <a:r>
              <a:rPr lang="en-US" altLang="zh-CN" sz="2800" b="1" baseline="-25000">
                <a:latin typeface="黑体" panose="02010609060101010101" pitchFamily="49" charset="-122"/>
              </a:rPr>
              <a:t>2</a:t>
            </a:r>
            <a:r>
              <a:rPr lang="zh-CN" altLang="en-US" sz="2800" b="1">
                <a:latin typeface="黑体" panose="02010609060101010101" pitchFamily="49" charset="-122"/>
              </a:rPr>
              <a:t>），就可以求出热常数（Ｋ）和发育起点温度。</a:t>
            </a:r>
          </a:p>
          <a:p>
            <a:pPr>
              <a:lnSpc>
                <a:spcPct val="90000"/>
              </a:lnSpc>
            </a:pPr>
            <a:r>
              <a:rPr lang="zh-CN" altLang="en-US" sz="2800" b="1">
                <a:latin typeface="黑体" panose="02010609060101010101" pitchFamily="49" charset="-122"/>
              </a:rPr>
              <a:t>例如：</a:t>
            </a:r>
          </a:p>
          <a:p>
            <a:pPr>
              <a:lnSpc>
                <a:spcPct val="90000"/>
              </a:lnSpc>
            </a:pPr>
            <a:r>
              <a:rPr lang="zh-CN" altLang="en-US" sz="2800" b="1">
                <a:latin typeface="黑体" panose="02010609060101010101" pitchFamily="49" charset="-122"/>
              </a:rPr>
              <a:t>地中海果蝇在</a:t>
            </a:r>
            <a:r>
              <a:rPr lang="en-US" altLang="zh-CN" sz="2800" b="1">
                <a:latin typeface="黑体" panose="02010609060101010101" pitchFamily="49" charset="-122"/>
              </a:rPr>
              <a:t>26℃</a:t>
            </a:r>
            <a:r>
              <a:rPr lang="zh-CN" altLang="en-US" sz="2800" b="1">
                <a:latin typeface="黑体" panose="02010609060101010101" pitchFamily="49" charset="-122"/>
              </a:rPr>
              <a:t>下发育需</a:t>
            </a:r>
            <a:r>
              <a:rPr lang="en-US" altLang="zh-CN" sz="2800" b="1">
                <a:latin typeface="黑体" panose="02010609060101010101" pitchFamily="49" charset="-122"/>
              </a:rPr>
              <a:t>20</a:t>
            </a:r>
            <a:r>
              <a:rPr lang="zh-CN" altLang="en-US" sz="2800" b="1">
                <a:latin typeface="黑体" panose="02010609060101010101" pitchFamily="49" charset="-122"/>
              </a:rPr>
              <a:t>天，</a:t>
            </a:r>
            <a:r>
              <a:rPr lang="en-US" altLang="zh-CN" sz="2800" b="1">
                <a:latin typeface="黑体" panose="02010609060101010101" pitchFamily="49" charset="-122"/>
              </a:rPr>
              <a:t>19.5℃</a:t>
            </a:r>
            <a:r>
              <a:rPr lang="zh-CN" altLang="en-US" sz="2800" b="1">
                <a:latin typeface="黑体" panose="02010609060101010101" pitchFamily="49" charset="-122"/>
              </a:rPr>
              <a:t>下需</a:t>
            </a:r>
            <a:r>
              <a:rPr lang="en-US" altLang="zh-CN" sz="2800" b="1">
                <a:latin typeface="黑体" panose="02010609060101010101" pitchFamily="49" charset="-122"/>
              </a:rPr>
              <a:t>41.7</a:t>
            </a:r>
            <a:r>
              <a:rPr lang="zh-CN" altLang="en-US" sz="2800" b="1">
                <a:latin typeface="黑体" panose="02010609060101010101" pitchFamily="49" charset="-122"/>
              </a:rPr>
              <a:t>天。根据Ｋ是一个常数的原理：</a:t>
            </a:r>
          </a:p>
          <a:p>
            <a:pPr>
              <a:lnSpc>
                <a:spcPct val="90000"/>
              </a:lnSpc>
            </a:pPr>
            <a:r>
              <a:rPr lang="zh-CN" altLang="en-US" sz="2800" b="1">
                <a:latin typeface="黑体" panose="02010609060101010101" pitchFamily="49" charset="-122"/>
              </a:rPr>
              <a:t>　Ｎ</a:t>
            </a:r>
            <a:r>
              <a:rPr lang="en-US" altLang="zh-CN" sz="2800" b="1" baseline="-25000">
                <a:latin typeface="黑体" panose="02010609060101010101" pitchFamily="49" charset="-122"/>
              </a:rPr>
              <a:t>1</a:t>
            </a:r>
            <a:r>
              <a:rPr lang="zh-CN" altLang="en-US" sz="2800" b="1">
                <a:latin typeface="黑体" panose="02010609060101010101" pitchFamily="49" charset="-122"/>
              </a:rPr>
              <a:t>（Ｔ</a:t>
            </a:r>
            <a:r>
              <a:rPr lang="en-US" altLang="zh-CN" sz="2800" b="1" baseline="-25000">
                <a:latin typeface="黑体" panose="02010609060101010101" pitchFamily="49" charset="-122"/>
              </a:rPr>
              <a:t>1</a:t>
            </a:r>
            <a:r>
              <a:rPr lang="zh-CN" altLang="en-US" sz="2800" b="1">
                <a:latin typeface="黑体" panose="02010609060101010101" pitchFamily="49" charset="-122"/>
              </a:rPr>
              <a:t>－Ｃ）</a:t>
            </a:r>
            <a:r>
              <a:rPr lang="en-US" altLang="zh-CN" sz="2800" b="1">
                <a:latin typeface="黑体" panose="02010609060101010101" pitchFamily="49" charset="-122"/>
              </a:rPr>
              <a:t>=</a:t>
            </a:r>
            <a:r>
              <a:rPr lang="zh-CN" altLang="en-US" sz="2800" b="1">
                <a:latin typeface="黑体" panose="02010609060101010101" pitchFamily="49" charset="-122"/>
              </a:rPr>
              <a:t>Ｎ</a:t>
            </a:r>
            <a:r>
              <a:rPr lang="en-US" altLang="zh-CN" sz="2800" b="1" baseline="-25000">
                <a:latin typeface="黑体" panose="02010609060101010101" pitchFamily="49" charset="-122"/>
              </a:rPr>
              <a:t>2</a:t>
            </a:r>
            <a:r>
              <a:rPr lang="en-US" altLang="zh-CN" sz="2800" b="1">
                <a:latin typeface="黑体" panose="02010609060101010101" pitchFamily="49" charset="-122"/>
              </a:rPr>
              <a:t>(</a:t>
            </a:r>
            <a:r>
              <a:rPr lang="zh-CN" altLang="en-US" sz="2800" b="1">
                <a:latin typeface="黑体" panose="02010609060101010101" pitchFamily="49" charset="-122"/>
              </a:rPr>
              <a:t>Ｔ</a:t>
            </a:r>
            <a:r>
              <a:rPr lang="en-US" altLang="zh-CN" sz="2800" b="1" baseline="-25000">
                <a:latin typeface="黑体" panose="02010609060101010101" pitchFamily="49" charset="-122"/>
              </a:rPr>
              <a:t>2</a:t>
            </a:r>
            <a:r>
              <a:rPr lang="en-US" altLang="zh-CN" sz="2800" b="1">
                <a:latin typeface="黑体" panose="02010609060101010101" pitchFamily="49" charset="-122"/>
              </a:rPr>
              <a:t>－</a:t>
            </a:r>
            <a:r>
              <a:rPr lang="zh-CN" altLang="en-US" sz="2800" b="1">
                <a:latin typeface="黑体" panose="02010609060101010101" pitchFamily="49" charset="-122"/>
              </a:rPr>
              <a:t>Ｃ</a:t>
            </a:r>
            <a:r>
              <a:rPr lang="en-US" altLang="zh-CN" sz="2800" b="1">
                <a:latin typeface="黑体" panose="02010609060101010101" pitchFamily="49" charset="-122"/>
              </a:rPr>
              <a:t>)</a:t>
            </a:r>
            <a:r>
              <a:rPr lang="zh-CN" altLang="en-US" sz="2800" b="1">
                <a:latin typeface="黑体" panose="02010609060101010101" pitchFamily="49" charset="-122"/>
              </a:rPr>
              <a:t>所以</a:t>
            </a:r>
            <a:endParaRPr lang="en-US" altLang="zh-CN" sz="2800" b="1">
              <a:latin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b="1">
                <a:latin typeface="黑体" panose="02010609060101010101" pitchFamily="49" charset="-122"/>
              </a:rPr>
              <a:t>　Ｃ＝（Ｎ</a:t>
            </a:r>
            <a:r>
              <a:rPr lang="en-US" altLang="zh-CN" sz="2800" b="1" baseline="-25000">
                <a:latin typeface="黑体" panose="02010609060101010101" pitchFamily="49" charset="-122"/>
              </a:rPr>
              <a:t>2</a:t>
            </a:r>
            <a:r>
              <a:rPr lang="zh-CN" altLang="en-US" sz="2800" b="1">
                <a:latin typeface="黑体" panose="02010609060101010101" pitchFamily="49" charset="-122"/>
              </a:rPr>
              <a:t>Ｔ</a:t>
            </a:r>
            <a:r>
              <a:rPr lang="en-US" altLang="zh-CN" sz="2800" b="1" baseline="-25000">
                <a:latin typeface="黑体" panose="02010609060101010101" pitchFamily="49" charset="-122"/>
              </a:rPr>
              <a:t>2</a:t>
            </a:r>
            <a:r>
              <a:rPr lang="zh-CN" altLang="en-US" sz="2800" b="1">
                <a:latin typeface="黑体" panose="02010609060101010101" pitchFamily="49" charset="-122"/>
              </a:rPr>
              <a:t>－Ｎ</a:t>
            </a:r>
            <a:r>
              <a:rPr lang="en-US" altLang="zh-CN" sz="2800" b="1" baseline="-25000">
                <a:latin typeface="黑体" panose="02010609060101010101" pitchFamily="49" charset="-122"/>
              </a:rPr>
              <a:t>1</a:t>
            </a:r>
            <a:r>
              <a:rPr lang="zh-CN" altLang="en-US" sz="2800" b="1">
                <a:latin typeface="黑体" panose="02010609060101010101" pitchFamily="49" charset="-122"/>
              </a:rPr>
              <a:t>Ｔ</a:t>
            </a:r>
            <a:r>
              <a:rPr lang="en-US" altLang="zh-CN" sz="2800" b="1" baseline="-25000">
                <a:latin typeface="黑体" panose="02010609060101010101" pitchFamily="49" charset="-122"/>
              </a:rPr>
              <a:t>1</a:t>
            </a:r>
            <a:r>
              <a:rPr lang="zh-CN" altLang="en-US" sz="2800" b="1">
                <a:latin typeface="黑体" panose="02010609060101010101" pitchFamily="49" charset="-122"/>
              </a:rPr>
              <a:t>）</a:t>
            </a:r>
            <a:r>
              <a:rPr lang="en-US" altLang="zh-CN" sz="2800" b="1">
                <a:latin typeface="黑体" panose="02010609060101010101" pitchFamily="49" charset="-122"/>
              </a:rPr>
              <a:t>/(N</a:t>
            </a:r>
            <a:r>
              <a:rPr lang="en-US" altLang="zh-CN" sz="2800" b="1" baseline="-25000">
                <a:latin typeface="黑体" panose="02010609060101010101" pitchFamily="49" charset="-122"/>
              </a:rPr>
              <a:t>2</a:t>
            </a:r>
            <a:r>
              <a:rPr lang="en-US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>
                <a:latin typeface="黑体" panose="02010609060101010101" pitchFamily="49" charset="-122"/>
              </a:rPr>
              <a:t>N</a:t>
            </a:r>
            <a:r>
              <a:rPr lang="en-US" altLang="zh-CN" sz="2800" b="1" baseline="-25000">
                <a:latin typeface="黑体" panose="02010609060101010101" pitchFamily="49" charset="-122"/>
              </a:rPr>
              <a:t>1</a:t>
            </a:r>
            <a:r>
              <a:rPr lang="en-US" altLang="zh-CN" sz="2800" b="1">
                <a:latin typeface="黑体" panose="02010609060101010101" pitchFamily="49" charset="-122"/>
              </a:rPr>
              <a:t>)=13.5</a:t>
            </a:r>
          </a:p>
          <a:p>
            <a:pPr>
              <a:lnSpc>
                <a:spcPct val="90000"/>
              </a:lnSpc>
            </a:pPr>
            <a:r>
              <a:rPr lang="zh-CN" altLang="en-US" sz="2800" b="1">
                <a:latin typeface="黑体" panose="02010609060101010101" pitchFamily="49" charset="-122"/>
              </a:rPr>
              <a:t> </a:t>
            </a:r>
            <a:r>
              <a:rPr lang="en-US" altLang="zh-CN" sz="2800" b="1">
                <a:latin typeface="黑体" panose="02010609060101010101" pitchFamily="49" charset="-122"/>
              </a:rPr>
              <a:t>K=N(T</a:t>
            </a:r>
            <a:r>
              <a:rPr lang="en-US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>
                <a:latin typeface="黑体" panose="02010609060101010101" pitchFamily="49" charset="-122"/>
              </a:rPr>
              <a:t>C)=250</a:t>
            </a:r>
          </a:p>
          <a:p>
            <a:pPr>
              <a:lnSpc>
                <a:spcPct val="90000"/>
              </a:lnSpc>
            </a:pPr>
            <a:r>
              <a:rPr lang="zh-CN" altLang="en-US" sz="2800" b="1">
                <a:latin typeface="黑体" panose="02010609060101010101" pitchFamily="49" charset="-122"/>
              </a:rPr>
              <a:t>这就是说地中海果蝇的发育起点温度是</a:t>
            </a:r>
            <a:r>
              <a:rPr lang="en-US" altLang="zh-CN" sz="2800" b="1">
                <a:latin typeface="黑体" panose="02010609060101010101" pitchFamily="49" charset="-122"/>
              </a:rPr>
              <a:t>13.5</a:t>
            </a:r>
            <a:r>
              <a:rPr lang="zh-CN" altLang="en-US" sz="2800" b="1">
                <a:latin typeface="黑体" panose="02010609060101010101" pitchFamily="49" charset="-122"/>
              </a:rPr>
              <a:t>℃，完成一个世代发育所需要的有效积温为</a:t>
            </a:r>
            <a:r>
              <a:rPr lang="en-US" altLang="zh-CN" sz="2800" b="1">
                <a:latin typeface="黑体" panose="02010609060101010101" pitchFamily="49" charset="-122"/>
              </a:rPr>
              <a:t>250</a:t>
            </a:r>
            <a:r>
              <a:rPr lang="zh-CN" altLang="en-US" sz="2800" b="1">
                <a:latin typeface="黑体" panose="02010609060101010101" pitchFamily="49" charset="-122"/>
              </a:rPr>
              <a:t>日度。　</a:t>
            </a:r>
          </a:p>
          <a:p>
            <a:pPr>
              <a:lnSpc>
                <a:spcPct val="90000"/>
              </a:lnSpc>
            </a:pPr>
            <a:endParaRPr lang="zh-CN" altLang="en-US" sz="2800" b="1" baseline="-25000"/>
          </a:p>
          <a:p>
            <a:pPr>
              <a:lnSpc>
                <a:spcPct val="90000"/>
              </a:lnSpc>
            </a:pPr>
            <a:r>
              <a:rPr lang="zh-CN" altLang="en-US" sz="2800" b="1" baseline="-25000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3">
            <a:extLst>
              <a:ext uri="{FF2B5EF4-FFF2-40B4-BE49-F238E27FC236}">
                <a16:creationId xmlns:a16="http://schemas.microsoft.com/office/drawing/2014/main" id="{5A169B6F-9C15-5082-69F1-4C1EE543C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60350"/>
            <a:ext cx="8229600" cy="6264275"/>
          </a:xfrm>
        </p:spPr>
        <p:txBody>
          <a:bodyPr/>
          <a:lstStyle/>
          <a:p>
            <a:r>
              <a:rPr lang="zh-CN" altLang="en-US" sz="2400" b="1" dirty="0">
                <a:solidFill>
                  <a:srgbClr val="CC0000"/>
                </a:solidFill>
              </a:rPr>
              <a:t>　　　　　　　　</a:t>
            </a:r>
            <a:r>
              <a:rPr lang="zh-CN" altLang="en-US" sz="2800" b="1" dirty="0">
                <a:solidFill>
                  <a:srgbClr val="CC0000"/>
                </a:solidFill>
              </a:rPr>
              <a:t>有效积温的应用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CC0000"/>
                </a:solidFill>
              </a:rPr>
              <a:t>１</a:t>
            </a:r>
            <a:r>
              <a:rPr lang="en-US" altLang="zh-CN" sz="2800" b="1" dirty="0">
                <a:solidFill>
                  <a:srgbClr val="CC0000"/>
                </a:solidFill>
              </a:rPr>
              <a:t>.</a:t>
            </a:r>
            <a:r>
              <a:rPr lang="zh-CN" altLang="en-US" sz="2800" b="1" dirty="0">
                <a:solidFill>
                  <a:srgbClr val="CC0000"/>
                </a:solidFill>
              </a:rPr>
              <a:t>推测一种昆虫的地理分布界限和和在不同地区可能发生的世代数。</a:t>
            </a:r>
          </a:p>
          <a:p>
            <a:r>
              <a:rPr lang="zh-CN" altLang="en-US" sz="2800" b="1" dirty="0"/>
              <a:t>　确定一种昆虫发生一个世代所需的有效积温　　　</a:t>
            </a:r>
          </a:p>
          <a:p>
            <a:pPr>
              <a:buFont typeface="Arial" panose="020B0604020202020204" pitchFamily="34" charset="0"/>
              <a:buNone/>
            </a:pPr>
            <a:r>
              <a:rPr lang="zh-CN" altLang="en-US" sz="2800" b="1" dirty="0"/>
              <a:t>　（Ｋ），根据气象资料，计算出某地对这种昆虫全年有效积温的总和（Ｋ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），两者相比，便可以推测该地区一年内可能发生的世代数（Ｎ）。</a:t>
            </a:r>
          </a:p>
          <a:p>
            <a:r>
              <a:rPr lang="zh-CN" altLang="en-US" sz="2800" b="1" dirty="0"/>
              <a:t>例如，如果Ｎ﹤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，意味着该地区全年有效积温总和不能满足该虫完成一个世代的积温，即该虫在一年内不能完成一个世代。如果这种昆虫是一年发生多代（不是多年发生一代）的昆虫，也将会成为地理分布的限制。</a:t>
            </a:r>
          </a:p>
          <a:p>
            <a:r>
              <a:rPr lang="zh-CN" altLang="en-US" sz="2800" b="1" dirty="0"/>
              <a:t>如果Ｎ＝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，该虫在该地区一年可发生两代，</a:t>
            </a:r>
          </a:p>
          <a:p>
            <a:endParaRPr lang="zh-CN" altLang="en-US" sz="28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4830" y="219709"/>
            <a:ext cx="59842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35" dirty="0"/>
              <a:t>有效积温法则在农业上的应用 </a:t>
            </a:r>
            <a:r>
              <a:rPr spc="-50" dirty="0"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830" y="1195070"/>
            <a:ext cx="8027670" cy="529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54"/>
              </a:lnSpc>
              <a:spcBef>
                <a:spcPts val="100"/>
              </a:spcBef>
            </a:pPr>
            <a:r>
              <a:rPr sz="2800" b="1" dirty="0">
                <a:latin typeface="Microsoft JhengHei"/>
                <a:cs typeface="Microsoft JhengHei"/>
              </a:rPr>
              <a:t>（</a:t>
            </a:r>
            <a:r>
              <a:rPr sz="2800" b="1" spc="200" dirty="0">
                <a:latin typeface="Microsoft JhengHei"/>
                <a:cs typeface="Microsoft JhengHei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225" dirty="0">
                <a:latin typeface="Microsoft JhengHei"/>
                <a:cs typeface="Microsoft JhengHei"/>
              </a:rPr>
              <a:t>）</a:t>
            </a:r>
            <a:r>
              <a:rPr sz="2800" b="1" spc="195" dirty="0">
                <a:latin typeface="Microsoft JhengHei"/>
                <a:cs typeface="Microsoft JhengHei"/>
              </a:rPr>
              <a:t>可预测某地区害虫发生的世代数；</a:t>
            </a:r>
            <a:endParaRPr sz="2800">
              <a:latin typeface="Microsoft JhengHei"/>
              <a:cs typeface="Microsoft JhengHei"/>
            </a:endParaRPr>
          </a:p>
          <a:p>
            <a:pPr marL="469900" marR="5080" indent="-457200">
              <a:lnSpc>
                <a:spcPts val="3360"/>
              </a:lnSpc>
              <a:spcBef>
                <a:spcPts val="105"/>
              </a:spcBef>
            </a:pPr>
            <a:r>
              <a:rPr sz="2800" b="1" dirty="0">
                <a:latin typeface="Microsoft JhengHei"/>
                <a:cs typeface="Microsoft JhengHei"/>
              </a:rPr>
              <a:t>（ 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spc="215" dirty="0">
                <a:latin typeface="Microsoft JhengHei"/>
                <a:cs typeface="Microsoft JhengHei"/>
              </a:rPr>
              <a:t>）</a:t>
            </a:r>
            <a:r>
              <a:rPr sz="2800" b="1" spc="200" dirty="0">
                <a:latin typeface="Microsoft JhengHei"/>
                <a:cs typeface="Microsoft JhengHei"/>
              </a:rPr>
              <a:t>可作为农业规划、引种、作物布局、预测</a:t>
            </a:r>
            <a:r>
              <a:rPr sz="2800" b="1" spc="180" dirty="0">
                <a:latin typeface="Microsoft JhengHei"/>
                <a:cs typeface="Microsoft JhengHei"/>
              </a:rPr>
              <a:t>农时的重要依据；</a:t>
            </a:r>
            <a:endParaRPr sz="2800">
              <a:latin typeface="Microsoft JhengHei"/>
              <a:cs typeface="Microsoft JhengHei"/>
            </a:endParaRPr>
          </a:p>
          <a:p>
            <a:pPr marL="215900">
              <a:lnSpc>
                <a:spcPts val="3250"/>
              </a:lnSpc>
            </a:pPr>
            <a:r>
              <a:rPr sz="2800" b="1" dirty="0">
                <a:latin typeface="Microsoft JhengHei"/>
                <a:cs typeface="Microsoft JhengHei"/>
              </a:rPr>
              <a:t>（</a:t>
            </a:r>
            <a:r>
              <a:rPr sz="2800" b="1" spc="200" dirty="0">
                <a:latin typeface="Microsoft JhengHei"/>
                <a:cs typeface="Microsoft JhengHei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3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220" dirty="0">
                <a:latin typeface="Microsoft JhengHei"/>
                <a:cs typeface="Microsoft JhengHei"/>
              </a:rPr>
              <a:t>）</a:t>
            </a:r>
            <a:r>
              <a:rPr sz="2800" b="1" spc="190" dirty="0">
                <a:latin typeface="Microsoft JhengHei"/>
                <a:cs typeface="Microsoft JhengHei"/>
              </a:rPr>
              <a:t>预测生物地理分布北界；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sz="2800" b="1" dirty="0">
                <a:latin typeface="Microsoft JhengHei"/>
                <a:cs typeface="Microsoft JhengHei"/>
              </a:rPr>
              <a:t>（</a:t>
            </a:r>
            <a:r>
              <a:rPr sz="2800" b="1" spc="200" dirty="0">
                <a:latin typeface="Microsoft JhengHei"/>
                <a:cs typeface="Microsoft JhengHei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4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229" dirty="0">
                <a:latin typeface="Microsoft JhengHei"/>
                <a:cs typeface="Microsoft JhengHei"/>
              </a:rPr>
              <a:t>）</a:t>
            </a:r>
            <a:r>
              <a:rPr sz="2800" b="1" spc="190" dirty="0">
                <a:latin typeface="Microsoft JhengHei"/>
                <a:cs typeface="Microsoft JhengHei"/>
              </a:rPr>
              <a:t>预测害虫来年发生程度 </a:t>
            </a:r>
            <a:r>
              <a:rPr sz="2800" b="1" spc="-50" dirty="0"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marL="469900" marR="62865" indent="-279400">
              <a:lnSpc>
                <a:spcPct val="100000"/>
              </a:lnSpc>
            </a:pPr>
            <a:r>
              <a:rPr sz="2800" b="1" dirty="0">
                <a:latin typeface="Times New Roman"/>
                <a:cs typeface="Times New Roman"/>
              </a:rPr>
              <a:t>(5</a:t>
            </a:r>
            <a:r>
              <a:rPr sz="2800" b="1" spc="-75" dirty="0">
                <a:latin typeface="Times New Roman"/>
                <a:cs typeface="Times New Roman"/>
              </a:rPr>
              <a:t>) </a:t>
            </a:r>
            <a:r>
              <a:rPr sz="2800" b="1" spc="200" dirty="0">
                <a:latin typeface="Microsoft JhengHei"/>
                <a:cs typeface="Microsoft JhengHei"/>
              </a:rPr>
              <a:t>利用天敌昆虫进行害虫防治时，可以用来计</a:t>
            </a:r>
            <a:r>
              <a:rPr sz="2800" b="1" spc="195" dirty="0">
                <a:latin typeface="Microsoft JhengHei"/>
                <a:cs typeface="Microsoft JhengHei"/>
              </a:rPr>
              <a:t>算天敌昆虫合适的释放时间</a:t>
            </a:r>
            <a:endParaRPr sz="2800">
              <a:latin typeface="Microsoft JhengHei"/>
              <a:cs typeface="Microsoft JhengHei"/>
            </a:endParaRPr>
          </a:p>
          <a:p>
            <a:pPr marL="228600" marR="906144" algn="just">
              <a:lnSpc>
                <a:spcPct val="100000"/>
              </a:lnSpc>
              <a:spcBef>
                <a:spcPts val="4550"/>
              </a:spcBef>
            </a:pPr>
            <a:r>
              <a:rPr sz="2800" b="1" spc="200" dirty="0">
                <a:latin typeface="Microsoft JhengHei"/>
                <a:cs typeface="Microsoft JhengHei"/>
              </a:rPr>
              <a:t>局限性：发育速率与温度并不都是直线关系；发育还受其它生态因子影响；发育起点温度通常在恒温下获得，而自然界是变</a:t>
            </a:r>
            <a:r>
              <a:rPr sz="2800" b="1" spc="130" dirty="0">
                <a:latin typeface="Microsoft JhengHei"/>
                <a:cs typeface="Microsoft JhengHei"/>
              </a:rPr>
              <a:t>温的。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1320" y="20754"/>
            <a:ext cx="8117840" cy="1982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1510" marR="5080" indent="-638810" eaLnBrk="0" hangingPunct="0">
              <a:tabLst>
                <a:tab pos="503555" algn="l"/>
                <a:tab pos="2398395" algn="l"/>
                <a:tab pos="6058535" algn="l"/>
              </a:tabLst>
            </a:pPr>
            <a:r>
              <a:rPr spc="-50" dirty="0"/>
              <a:t>3</a:t>
            </a:r>
            <a:r>
              <a:rPr dirty="0"/>
              <a:t>	</a:t>
            </a:r>
            <a:r>
              <a:rPr spc="265" dirty="0"/>
              <a:t>春化</a:t>
            </a:r>
            <a:r>
              <a:rPr spc="254" dirty="0"/>
              <a:t>作</a:t>
            </a:r>
            <a:r>
              <a:rPr spc="-50" dirty="0"/>
              <a:t>用</a:t>
            </a:r>
            <a:r>
              <a:rPr dirty="0"/>
              <a:t>	（</a:t>
            </a:r>
            <a:r>
              <a:rPr spc="240" dirty="0"/>
              <a:t> </a:t>
            </a:r>
            <a:r>
              <a:rPr spc="190" dirty="0"/>
              <a:t>Vernalization</a:t>
            </a:r>
            <a:r>
              <a:rPr dirty="0"/>
              <a:t>	</a:t>
            </a:r>
            <a:r>
              <a:rPr spc="285" dirty="0"/>
              <a:t>effect) </a:t>
            </a:r>
            <a:r>
              <a:rPr spc="265" dirty="0"/>
              <a:t>低温</a:t>
            </a:r>
            <a:r>
              <a:rPr spc="275" dirty="0"/>
              <a:t>作</a:t>
            </a:r>
            <a:r>
              <a:rPr spc="270" dirty="0"/>
              <a:t>为</a:t>
            </a:r>
            <a:r>
              <a:rPr spc="260" dirty="0"/>
              <a:t>一</a:t>
            </a:r>
            <a:r>
              <a:rPr spc="265" dirty="0"/>
              <a:t>种刺</a:t>
            </a:r>
            <a:r>
              <a:rPr spc="275" dirty="0"/>
              <a:t>激</a:t>
            </a:r>
            <a:r>
              <a:rPr spc="265" dirty="0"/>
              <a:t>物</a:t>
            </a:r>
            <a:r>
              <a:rPr spc="254" dirty="0"/>
              <a:t>起</a:t>
            </a:r>
            <a:r>
              <a:rPr spc="265" dirty="0"/>
              <a:t>作用</a:t>
            </a:r>
            <a:r>
              <a:rPr dirty="0"/>
              <a:t>，</a:t>
            </a:r>
            <a:r>
              <a:rPr spc="-515" dirty="0"/>
              <a:t> </a:t>
            </a:r>
            <a:r>
              <a:rPr spc="270" dirty="0"/>
              <a:t>诱</a:t>
            </a:r>
            <a:r>
              <a:rPr spc="265" dirty="0"/>
              <a:t>导</a:t>
            </a:r>
            <a:r>
              <a:rPr spc="260" dirty="0"/>
              <a:t>或</a:t>
            </a:r>
            <a:r>
              <a:rPr spc="-50" dirty="0"/>
              <a:t>促</a:t>
            </a:r>
          </a:p>
          <a:p>
            <a:pPr marL="12700" marR="205104" eaLnBrk="0" hangingPunct="0">
              <a:lnSpc>
                <a:spcPct val="100000"/>
              </a:lnSpc>
            </a:pPr>
            <a:r>
              <a:rPr spc="235" dirty="0"/>
              <a:t>进植物的发育和开花。这种经过低温诱导</a:t>
            </a:r>
            <a:r>
              <a:rPr spc="240" dirty="0"/>
              <a:t>的植物的发育或繁殖，称为春化作用。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1320" y="1981200"/>
            <a:ext cx="8061959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800" b="1" spc="200" dirty="0">
                <a:latin typeface="Microsoft JhengHei"/>
                <a:cs typeface="Microsoft JhengHei"/>
              </a:rPr>
              <a:t>例如，如冬小麦的种子经历了预寒冷后可缩短萌发到开花的时间。甜菜不经过春化作用则无法开</a:t>
            </a:r>
            <a:r>
              <a:rPr sz="2800" b="1" spc="85" dirty="0">
                <a:latin typeface="Microsoft JhengHei"/>
                <a:cs typeface="Microsoft JhengHei"/>
              </a:rPr>
              <a:t>花。</a:t>
            </a:r>
            <a:endParaRPr sz="2800" dirty="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</a:pPr>
            <a:r>
              <a:rPr sz="2800" b="1" spc="200" dirty="0" err="1">
                <a:latin typeface="Microsoft JhengHei"/>
                <a:cs typeface="Microsoft JhengHei"/>
              </a:rPr>
              <a:t>种子萌发时感受低温的部位是胚，营养体时期的</a:t>
            </a:r>
            <a:r>
              <a:rPr sz="2800" b="1" spc="220" dirty="0" err="1">
                <a:latin typeface="Microsoft JhengHei"/>
                <a:cs typeface="Microsoft JhengHei"/>
              </a:rPr>
              <a:t>感</a:t>
            </a:r>
            <a:r>
              <a:rPr sz="2800" b="1" spc="175" dirty="0" err="1">
                <a:latin typeface="Microsoft JhengHei"/>
                <a:cs typeface="Microsoft JhengHei"/>
                <a:hlinkClick r:id="rId2"/>
              </a:rPr>
              <a:t>受部位为</a:t>
            </a:r>
            <a:r>
              <a:rPr lang="zh-CN" altLang="en-US" sz="2800" b="1" spc="175" dirty="0">
                <a:latin typeface="Microsoft JhengHei"/>
                <a:cs typeface="Microsoft JhengHei"/>
                <a:hlinkClick r:id="rId2"/>
              </a:rPr>
              <a:t>茎</a:t>
            </a:r>
            <a:r>
              <a:rPr sz="2800" b="1" spc="175" dirty="0">
                <a:latin typeface="Microsoft JhengHei"/>
                <a:cs typeface="Microsoft JhengHei"/>
                <a:hlinkClick r:id="rId2"/>
              </a:rPr>
              <a:t>尖。</a:t>
            </a:r>
            <a:endParaRPr sz="2800" dirty="0">
              <a:latin typeface="Microsoft JhengHei"/>
              <a:cs typeface="Microsoft JhengHei"/>
            </a:endParaRPr>
          </a:p>
        </p:txBody>
      </p:sp>
      <p:pic>
        <p:nvPicPr>
          <p:cNvPr id="5" name="object 5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869" y="4364990"/>
            <a:ext cx="3313429" cy="2480310"/>
          </a:xfrm>
          <a:prstGeom prst="rect">
            <a:avLst/>
          </a:prstGeom>
        </p:spPr>
      </p:pic>
      <p:pic>
        <p:nvPicPr>
          <p:cNvPr id="6" name="object 6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43120" y="4497070"/>
            <a:ext cx="3529329" cy="23609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6255" algn="l"/>
              </a:tabLst>
            </a:pPr>
            <a:r>
              <a:rPr b="0" spc="-50" dirty="0">
                <a:latin typeface="Times New Roman"/>
                <a:cs typeface="Times New Roman"/>
              </a:rPr>
              <a:t>4</a:t>
            </a:r>
            <a:r>
              <a:rPr b="0" dirty="0">
                <a:latin typeface="Times New Roman"/>
                <a:cs typeface="Times New Roman"/>
              </a:rPr>
              <a:t>	</a:t>
            </a:r>
            <a:r>
              <a:rPr spc="225" dirty="0"/>
              <a:t>温度对动物繁殖的影响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5898" y="4006850"/>
            <a:ext cx="7257659" cy="24966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3390" y="1772920"/>
            <a:ext cx="1944370" cy="147192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1320" y="1230629"/>
            <a:ext cx="579247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180" dirty="0">
                <a:latin typeface="Microsoft JhengHei"/>
                <a:cs typeface="Microsoft JhengHei"/>
              </a:rPr>
              <a:t>温度会影响昆虫的产卵量、交配和卵的</a:t>
            </a:r>
            <a:endParaRPr sz="24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sz="2400" b="1" spc="180" dirty="0">
                <a:latin typeface="Microsoft JhengHei"/>
                <a:cs typeface="Microsoft JhengHei"/>
              </a:rPr>
              <a:t>孵化率，如水稻害虫三化螟在温度 </a:t>
            </a:r>
            <a:r>
              <a:rPr sz="2400" b="1" dirty="0">
                <a:latin typeface="Times New Roman"/>
                <a:cs typeface="Times New Roman"/>
              </a:rPr>
              <a:t>29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Microsoft JhengHei"/>
                <a:cs typeface="Microsoft JhengHei"/>
              </a:rPr>
              <a:t>度</a:t>
            </a:r>
            <a:endParaRPr sz="2400" dirty="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</a:pPr>
            <a:r>
              <a:rPr sz="2400" b="1" spc="90" dirty="0">
                <a:latin typeface="Microsoft JhengHei"/>
                <a:cs typeface="Microsoft JhengHei"/>
              </a:rPr>
              <a:t>、湿度 </a:t>
            </a:r>
            <a:r>
              <a:rPr sz="2400" b="1" dirty="0">
                <a:latin typeface="Times New Roman"/>
                <a:cs typeface="Times New Roman"/>
              </a:rPr>
              <a:t>90%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spc="160" dirty="0">
                <a:latin typeface="Microsoft JhengHei"/>
                <a:cs typeface="Microsoft JhengHei"/>
              </a:rPr>
              <a:t>时产卵最多。麦二叉蚜在 </a:t>
            </a:r>
            <a:r>
              <a:rPr sz="2400" b="1" spc="-25" dirty="0">
                <a:latin typeface="Times New Roman"/>
                <a:cs typeface="Times New Roman"/>
              </a:rPr>
              <a:t>25</a:t>
            </a:r>
            <a:r>
              <a:rPr sz="2400" b="1" spc="180" dirty="0">
                <a:latin typeface="Microsoft JhengHei"/>
                <a:cs typeface="Microsoft JhengHei"/>
              </a:rPr>
              <a:t>度下孵出幼虫最多。温度可影响鱼类的最小性成熟年龄、繁殖期、孵化率等。</a:t>
            </a:r>
            <a:endParaRPr sz="2400" dirty="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27659" y="1038224"/>
            <a:ext cx="8690610" cy="5661660"/>
          </a:xfrm>
          <a:prstGeom prst="rect">
            <a:avLst/>
          </a:prstGeom>
        </p:spPr>
        <p:txBody>
          <a:bodyPr vert="horz" wrap="square" lIns="0" tIns="266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0"/>
              </a:spcBef>
              <a:tabLst>
                <a:tab pos="1602105" algn="l"/>
                <a:tab pos="4824095" algn="l"/>
              </a:tabLst>
            </a:pPr>
            <a:r>
              <a:rPr sz="3200" b="1" spc="265" dirty="0">
                <a:latin typeface="Microsoft JhengHei"/>
                <a:cs typeface="Microsoft JhengHei"/>
              </a:rPr>
              <a:t>（一</a:t>
            </a:r>
            <a:r>
              <a:rPr sz="3200" b="1" spc="-50" dirty="0">
                <a:latin typeface="Microsoft JhengHei"/>
                <a:cs typeface="Microsoft JhengHei"/>
              </a:rPr>
              <a:t>）</a:t>
            </a:r>
            <a:r>
              <a:rPr sz="3200" b="1" dirty="0">
                <a:latin typeface="Microsoft JhengHei"/>
                <a:cs typeface="Microsoft JhengHei"/>
              </a:rPr>
              <a:t>	</a:t>
            </a:r>
            <a:r>
              <a:rPr sz="3200" b="1" spc="265" dirty="0">
                <a:latin typeface="Microsoft JhengHei"/>
                <a:cs typeface="Microsoft JhengHei"/>
              </a:rPr>
              <a:t>温度</a:t>
            </a:r>
            <a:r>
              <a:rPr sz="3200" b="1" spc="300" dirty="0">
                <a:latin typeface="Microsoft JhengHei"/>
                <a:cs typeface="Microsoft JhengHei"/>
              </a:rPr>
              <a:t>与</a:t>
            </a:r>
            <a:r>
              <a:rPr sz="3200" b="1" spc="260" dirty="0">
                <a:latin typeface="Microsoft JhengHei"/>
                <a:cs typeface="Microsoft JhengHei"/>
              </a:rPr>
              <a:t>动</a:t>
            </a:r>
            <a:r>
              <a:rPr sz="3200" b="1" spc="270" dirty="0">
                <a:latin typeface="Microsoft JhengHei"/>
                <a:cs typeface="Microsoft JhengHei"/>
              </a:rPr>
              <a:t>物</a:t>
            </a:r>
            <a:r>
              <a:rPr sz="3200" b="1" spc="265" dirty="0">
                <a:latin typeface="Microsoft JhengHei"/>
                <a:cs typeface="Microsoft JhengHei"/>
              </a:rPr>
              <a:t>类</a:t>
            </a:r>
            <a:r>
              <a:rPr sz="3200" b="1" spc="-50" dirty="0">
                <a:latin typeface="Microsoft JhengHei"/>
                <a:cs typeface="Microsoft JhengHei"/>
              </a:rPr>
              <a:t>型</a:t>
            </a:r>
            <a:r>
              <a:rPr sz="3200" b="1" dirty="0">
                <a:latin typeface="Microsoft JhengHei"/>
                <a:cs typeface="Microsoft JhengHei"/>
              </a:rPr>
              <a:t>	</a:t>
            </a:r>
            <a:r>
              <a:rPr sz="3200" b="1" spc="-50" dirty="0">
                <a:latin typeface="Microsoft JhengHei"/>
                <a:cs typeface="Microsoft JhengHei"/>
              </a:rPr>
              <a:t>：</a:t>
            </a:r>
            <a:endParaRPr sz="3200" dirty="0">
              <a:latin typeface="Microsoft JhengHei"/>
              <a:cs typeface="Microsoft JhengHei"/>
            </a:endParaRPr>
          </a:p>
          <a:p>
            <a:pPr marL="12700" marR="200660">
              <a:lnSpc>
                <a:spcPct val="100000"/>
              </a:lnSpc>
              <a:spcBef>
                <a:spcPts val="2000"/>
              </a:spcBef>
              <a:tabLst>
                <a:tab pos="6313805" algn="l"/>
              </a:tabLst>
            </a:pPr>
            <a:r>
              <a:rPr sz="3200" b="1" spc="265" dirty="0">
                <a:latin typeface="Microsoft JhengHei"/>
                <a:cs typeface="Microsoft JhengHei"/>
              </a:rPr>
              <a:t>根</a:t>
            </a:r>
            <a:r>
              <a:rPr sz="3200" b="1" spc="270" dirty="0">
                <a:latin typeface="Microsoft JhengHei"/>
                <a:cs typeface="Microsoft JhengHei"/>
              </a:rPr>
              <a:t>据</a:t>
            </a:r>
            <a:r>
              <a:rPr sz="3200" b="1" spc="260" dirty="0">
                <a:latin typeface="Microsoft JhengHei"/>
                <a:cs typeface="Microsoft JhengHei"/>
              </a:rPr>
              <a:t>有</a:t>
            </a:r>
            <a:r>
              <a:rPr sz="3200" b="1" spc="270" dirty="0">
                <a:latin typeface="Microsoft JhengHei"/>
                <a:cs typeface="Microsoft JhengHei"/>
              </a:rPr>
              <a:t>机</a:t>
            </a:r>
            <a:r>
              <a:rPr sz="3200" b="1" spc="265" dirty="0">
                <a:latin typeface="Microsoft JhengHei"/>
                <a:cs typeface="Microsoft JhengHei"/>
              </a:rPr>
              <a:t>体和环</a:t>
            </a:r>
            <a:r>
              <a:rPr sz="3200" b="1" spc="254" dirty="0">
                <a:latin typeface="Microsoft JhengHei"/>
                <a:cs typeface="Microsoft JhengHei"/>
              </a:rPr>
              <a:t>境</a:t>
            </a:r>
            <a:r>
              <a:rPr sz="3200" b="1" spc="265" dirty="0">
                <a:latin typeface="Microsoft JhengHei"/>
                <a:cs typeface="Microsoft JhengHei"/>
              </a:rPr>
              <a:t>温度</a:t>
            </a:r>
            <a:r>
              <a:rPr sz="3200" b="1" spc="295" dirty="0">
                <a:latin typeface="Microsoft JhengHei"/>
                <a:cs typeface="Microsoft JhengHei"/>
              </a:rPr>
              <a:t>的</a:t>
            </a:r>
            <a:r>
              <a:rPr sz="3200" b="1" spc="265" dirty="0">
                <a:latin typeface="Microsoft JhengHei"/>
                <a:cs typeface="Microsoft JhengHei"/>
              </a:rPr>
              <a:t>相</a:t>
            </a:r>
            <a:r>
              <a:rPr sz="3200" b="1" spc="270" dirty="0">
                <a:latin typeface="Microsoft JhengHei"/>
                <a:cs typeface="Microsoft JhengHei"/>
              </a:rPr>
              <a:t>互</a:t>
            </a:r>
            <a:r>
              <a:rPr sz="3200" b="1" spc="254" dirty="0">
                <a:latin typeface="Microsoft JhengHei"/>
                <a:cs typeface="Microsoft JhengHei"/>
              </a:rPr>
              <a:t>关</a:t>
            </a:r>
            <a:r>
              <a:rPr sz="3200" b="1" spc="265" dirty="0">
                <a:latin typeface="Microsoft JhengHei"/>
                <a:cs typeface="Microsoft JhengHei"/>
              </a:rPr>
              <a:t>系</a:t>
            </a:r>
            <a:r>
              <a:rPr sz="3200" b="1" dirty="0">
                <a:latin typeface="Microsoft JhengHei"/>
                <a:cs typeface="Microsoft JhengHei"/>
              </a:rPr>
              <a:t>，</a:t>
            </a:r>
            <a:r>
              <a:rPr sz="3200" b="1" spc="-525" dirty="0">
                <a:latin typeface="Microsoft JhengHei"/>
                <a:cs typeface="Microsoft JhengHei"/>
              </a:rPr>
              <a:t> </a:t>
            </a:r>
            <a:r>
              <a:rPr sz="3200" b="1" spc="270" dirty="0">
                <a:latin typeface="Microsoft JhengHei"/>
                <a:cs typeface="Microsoft JhengHei"/>
              </a:rPr>
              <a:t>动</a:t>
            </a:r>
            <a:r>
              <a:rPr sz="3200" b="1" spc="265" dirty="0">
                <a:latin typeface="Microsoft JhengHei"/>
                <a:cs typeface="Microsoft JhengHei"/>
              </a:rPr>
              <a:t>物</a:t>
            </a:r>
            <a:r>
              <a:rPr sz="3200" b="1" spc="-50" dirty="0">
                <a:latin typeface="Microsoft JhengHei"/>
                <a:cs typeface="Microsoft JhengHei"/>
              </a:rPr>
              <a:t>可</a:t>
            </a:r>
            <a:r>
              <a:rPr sz="3200" b="1" spc="270" dirty="0">
                <a:latin typeface="Microsoft JhengHei"/>
                <a:cs typeface="Microsoft JhengHei"/>
              </a:rPr>
              <a:t>划分</a:t>
            </a:r>
            <a:r>
              <a:rPr sz="3200" b="1" spc="260" dirty="0">
                <a:latin typeface="Microsoft JhengHei"/>
                <a:cs typeface="Microsoft JhengHei"/>
              </a:rPr>
              <a:t>为</a:t>
            </a:r>
            <a:r>
              <a:rPr sz="3200" b="1" spc="265" dirty="0">
                <a:latin typeface="Microsoft JhengHei"/>
                <a:cs typeface="Microsoft JhengHei"/>
              </a:rPr>
              <a:t>：</a:t>
            </a:r>
            <a:r>
              <a:rPr sz="3200" b="1" spc="270" dirty="0">
                <a:latin typeface="Microsoft JhengHei"/>
                <a:cs typeface="Microsoft JhengHei"/>
              </a:rPr>
              <a:t>温</a:t>
            </a:r>
            <a:r>
              <a:rPr sz="3200" b="1" spc="265" dirty="0">
                <a:latin typeface="Microsoft JhengHei"/>
                <a:cs typeface="Microsoft JhengHei"/>
              </a:rPr>
              <a:t>血</a:t>
            </a:r>
            <a:r>
              <a:rPr sz="3200" b="1" spc="270" dirty="0">
                <a:latin typeface="Microsoft JhengHei"/>
                <a:cs typeface="Microsoft JhengHei"/>
              </a:rPr>
              <a:t>动</a:t>
            </a:r>
            <a:r>
              <a:rPr sz="3200" b="1" spc="254" dirty="0">
                <a:latin typeface="Microsoft JhengHei"/>
                <a:cs typeface="Microsoft JhengHei"/>
              </a:rPr>
              <a:t>物</a:t>
            </a:r>
            <a:r>
              <a:rPr sz="3200" b="1" spc="265" dirty="0">
                <a:latin typeface="Microsoft JhengHei"/>
                <a:cs typeface="Microsoft JhengHei"/>
              </a:rPr>
              <a:t>和</a:t>
            </a:r>
            <a:r>
              <a:rPr sz="3200" b="1" spc="275" dirty="0">
                <a:latin typeface="Microsoft JhengHei"/>
                <a:cs typeface="Microsoft JhengHei"/>
              </a:rPr>
              <a:t>冷</a:t>
            </a:r>
            <a:r>
              <a:rPr sz="3200" b="1" spc="265" dirty="0">
                <a:latin typeface="Microsoft JhengHei"/>
                <a:cs typeface="Microsoft JhengHei"/>
              </a:rPr>
              <a:t>血</a:t>
            </a:r>
            <a:r>
              <a:rPr sz="3200" b="1" spc="270" dirty="0">
                <a:latin typeface="Microsoft JhengHei"/>
                <a:cs typeface="Microsoft JhengHei"/>
              </a:rPr>
              <a:t>动物</a:t>
            </a:r>
            <a:r>
              <a:rPr sz="3200" b="1" spc="-50" dirty="0">
                <a:latin typeface="Microsoft JhengHei"/>
                <a:cs typeface="Microsoft JhengHei"/>
              </a:rPr>
              <a:t>；</a:t>
            </a:r>
            <a:r>
              <a:rPr sz="3200" b="1" dirty="0">
                <a:latin typeface="Microsoft JhengHei"/>
                <a:cs typeface="Microsoft JhengHei"/>
              </a:rPr>
              <a:t>	</a:t>
            </a:r>
            <a:r>
              <a:rPr sz="3200" b="1" spc="265" dirty="0">
                <a:latin typeface="Microsoft JhengHei"/>
                <a:cs typeface="Microsoft JhengHei"/>
              </a:rPr>
              <a:t>或</a:t>
            </a:r>
            <a:r>
              <a:rPr sz="3200" b="1" spc="275" dirty="0">
                <a:latin typeface="Microsoft JhengHei"/>
                <a:cs typeface="Microsoft JhengHei"/>
              </a:rPr>
              <a:t>分</a:t>
            </a:r>
            <a:r>
              <a:rPr sz="3200" b="1" spc="270" dirty="0">
                <a:latin typeface="Microsoft JhengHei"/>
                <a:cs typeface="Microsoft JhengHei"/>
              </a:rPr>
              <a:t>为</a:t>
            </a:r>
            <a:r>
              <a:rPr sz="3200" b="1" spc="254" dirty="0">
                <a:latin typeface="Microsoft JhengHei"/>
                <a:cs typeface="Microsoft JhengHei"/>
              </a:rPr>
              <a:t>常</a:t>
            </a:r>
            <a:r>
              <a:rPr sz="3200" b="1" spc="-50" dirty="0">
                <a:latin typeface="Microsoft JhengHei"/>
                <a:cs typeface="Microsoft JhengHei"/>
              </a:rPr>
              <a:t>温</a:t>
            </a:r>
            <a:r>
              <a:rPr sz="3200" b="1" spc="270" dirty="0">
                <a:latin typeface="Microsoft JhengHei"/>
                <a:cs typeface="Microsoft JhengHei"/>
              </a:rPr>
              <a:t>动</a:t>
            </a:r>
            <a:r>
              <a:rPr sz="3200" b="1" spc="265" dirty="0">
                <a:latin typeface="Microsoft JhengHei"/>
                <a:cs typeface="Microsoft JhengHei"/>
              </a:rPr>
              <a:t>物</a:t>
            </a:r>
            <a:r>
              <a:rPr sz="3200" b="1" dirty="0">
                <a:latin typeface="Microsoft JhengHei"/>
                <a:cs typeface="Microsoft JhengHei"/>
              </a:rPr>
              <a:t>（</a:t>
            </a:r>
            <a:r>
              <a:rPr sz="3200" b="1" spc="190" dirty="0">
                <a:latin typeface="Microsoft JhengHei"/>
                <a:cs typeface="Microsoft JhengHei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homeothermic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spc="260" dirty="0">
                <a:latin typeface="Microsoft JhengHei"/>
                <a:cs typeface="Microsoft JhengHei"/>
              </a:rPr>
              <a:t>）</a:t>
            </a:r>
            <a:r>
              <a:rPr sz="3200" b="1" spc="265" dirty="0">
                <a:latin typeface="Microsoft JhengHei"/>
                <a:cs typeface="Microsoft JhengHei"/>
              </a:rPr>
              <a:t>和变</a:t>
            </a:r>
            <a:r>
              <a:rPr sz="3200" b="1" spc="275" dirty="0">
                <a:latin typeface="Microsoft JhengHei"/>
                <a:cs typeface="Microsoft JhengHei"/>
              </a:rPr>
              <a:t>温</a:t>
            </a:r>
            <a:r>
              <a:rPr sz="3200" b="1" spc="260" dirty="0">
                <a:latin typeface="Microsoft JhengHei"/>
                <a:cs typeface="Microsoft JhengHei"/>
              </a:rPr>
              <a:t>动</a:t>
            </a:r>
            <a:r>
              <a:rPr sz="3200" b="1" spc="-50" dirty="0">
                <a:latin typeface="Microsoft JhengHei"/>
                <a:cs typeface="Microsoft JhengHei"/>
              </a:rPr>
              <a:t>物</a:t>
            </a:r>
            <a:endParaRPr sz="3200" dirty="0">
              <a:latin typeface="Microsoft JhengHei"/>
              <a:cs typeface="Microsoft JhengHei"/>
            </a:endParaRPr>
          </a:p>
          <a:p>
            <a:pPr marL="12700">
              <a:lnSpc>
                <a:spcPts val="3835"/>
              </a:lnSpc>
            </a:pPr>
            <a:r>
              <a:rPr sz="3200" b="1" dirty="0">
                <a:latin typeface="Microsoft JhengHei"/>
                <a:cs typeface="Microsoft JhengHei"/>
              </a:rPr>
              <a:t>(</a:t>
            </a:r>
            <a:r>
              <a:rPr sz="3200" b="1" dirty="0">
                <a:latin typeface="Times New Roman"/>
                <a:cs typeface="Times New Roman"/>
              </a:rPr>
              <a:t>poikilothermic</a:t>
            </a:r>
            <a:r>
              <a:rPr sz="3200" b="1" spc="135" dirty="0">
                <a:latin typeface="Times New Roman"/>
                <a:cs typeface="Times New Roman"/>
              </a:rPr>
              <a:t>) </a:t>
            </a:r>
            <a:r>
              <a:rPr sz="3200" b="1" spc="229" dirty="0">
                <a:latin typeface="Microsoft JhengHei"/>
                <a:cs typeface="Microsoft JhengHei"/>
              </a:rPr>
              <a:t>。根据有机体热能的主要来源</a:t>
            </a:r>
            <a:endParaRPr sz="3200" dirty="0">
              <a:latin typeface="Microsoft JhengHei"/>
              <a:cs typeface="Microsoft JhengHei"/>
            </a:endParaRPr>
          </a:p>
          <a:p>
            <a:pPr marL="12700" marR="405130">
              <a:lnSpc>
                <a:spcPts val="3840"/>
              </a:lnSpc>
              <a:spcBef>
                <a:spcPts val="120"/>
              </a:spcBef>
            </a:pPr>
            <a:r>
              <a:rPr sz="3200" b="1" spc="185" dirty="0">
                <a:latin typeface="Microsoft JhengHei"/>
                <a:cs typeface="Microsoft JhengHei"/>
              </a:rPr>
              <a:t>，还可分为外温动物 (</a:t>
            </a:r>
            <a:r>
              <a:rPr sz="3200" b="1" dirty="0">
                <a:latin typeface="Times New Roman"/>
                <a:cs typeface="Times New Roman"/>
              </a:rPr>
              <a:t>ectothermic) </a:t>
            </a:r>
            <a:r>
              <a:rPr sz="3200" b="1" spc="185" dirty="0">
                <a:latin typeface="Microsoft JhengHei"/>
                <a:cs typeface="Microsoft JhengHei"/>
              </a:rPr>
              <a:t>和内温动</a:t>
            </a:r>
            <a:r>
              <a:rPr sz="3200" b="1" spc="110" dirty="0">
                <a:latin typeface="Microsoft JhengHei"/>
                <a:cs typeface="Microsoft JhengHei"/>
              </a:rPr>
              <a:t>物 (</a:t>
            </a:r>
            <a:r>
              <a:rPr sz="3200" b="1" dirty="0">
                <a:latin typeface="Times New Roman"/>
                <a:cs typeface="Times New Roman"/>
              </a:rPr>
              <a:t>endothermic</a:t>
            </a:r>
            <a:r>
              <a:rPr sz="3200" b="1" spc="114" dirty="0">
                <a:latin typeface="Times New Roman"/>
                <a:cs typeface="Times New Roman"/>
              </a:rPr>
              <a:t> </a:t>
            </a:r>
            <a:r>
              <a:rPr sz="3200" spc="20" dirty="0">
                <a:latin typeface="Times New Roman"/>
                <a:cs typeface="Times New Roman"/>
              </a:rPr>
              <a:t>) </a:t>
            </a:r>
            <a:r>
              <a:rPr sz="3200" b="1" spc="-50" dirty="0">
                <a:latin typeface="Microsoft JhengHei"/>
                <a:cs typeface="Microsoft JhengHei"/>
              </a:rPr>
              <a:t>。</a:t>
            </a:r>
            <a:endParaRPr sz="32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sz="3200" b="1" spc="180" dirty="0">
                <a:latin typeface="Microsoft JhengHei"/>
                <a:cs typeface="Microsoft JhengHei"/>
              </a:rPr>
              <a:t>异温动物 (</a:t>
            </a:r>
            <a:r>
              <a:rPr sz="3200" b="1" dirty="0">
                <a:latin typeface="Times New Roman"/>
                <a:cs typeface="Times New Roman"/>
              </a:rPr>
              <a:t>heterothermy</a:t>
            </a:r>
            <a:r>
              <a:rPr sz="3200" b="1" spc="110" dirty="0">
                <a:latin typeface="Times New Roman"/>
                <a:cs typeface="Times New Roman"/>
              </a:rPr>
              <a:t> </a:t>
            </a:r>
            <a:r>
              <a:rPr sz="3200" spc="20" dirty="0">
                <a:latin typeface="Times New Roman"/>
                <a:cs typeface="Times New Roman"/>
              </a:rPr>
              <a:t>) </a:t>
            </a:r>
            <a:r>
              <a:rPr sz="3200" b="1" spc="220" dirty="0">
                <a:latin typeface="Microsoft JhengHei"/>
                <a:cs typeface="Microsoft JhengHei"/>
              </a:rPr>
              <a:t>：常温动物中具有</a:t>
            </a:r>
            <a:endParaRPr sz="3200" dirty="0">
              <a:latin typeface="Microsoft JhengHei"/>
              <a:cs typeface="Microsoft JhengHei"/>
            </a:endParaRPr>
          </a:p>
          <a:p>
            <a:pPr marL="12700" marR="775970">
              <a:lnSpc>
                <a:spcPts val="3829"/>
              </a:lnSpc>
              <a:spcBef>
                <a:spcPts val="110"/>
              </a:spcBef>
            </a:pPr>
            <a:r>
              <a:rPr sz="3200" b="1" spc="235" dirty="0">
                <a:latin typeface="Microsoft JhengHei"/>
                <a:cs typeface="Microsoft JhengHei"/>
              </a:rPr>
              <a:t>休眠习性，在冬眠过程中体温降低的动物</a:t>
            </a:r>
            <a:r>
              <a:rPr sz="3200" b="1" spc="-50" dirty="0">
                <a:latin typeface="Microsoft JhengHei"/>
                <a:cs typeface="Microsoft JhengHei"/>
              </a:rPr>
              <a:t> </a:t>
            </a:r>
            <a:r>
              <a:rPr sz="3200" b="1" spc="180" dirty="0">
                <a:latin typeface="Microsoft JhengHei"/>
                <a:cs typeface="Microsoft JhengHei"/>
              </a:rPr>
              <a:t>( 熊</a:t>
            </a:r>
            <a:r>
              <a:rPr sz="3200" b="1" spc="254" dirty="0">
                <a:latin typeface="Microsoft JhengHei"/>
                <a:cs typeface="Microsoft JhengHei"/>
              </a:rPr>
              <a:t>）</a:t>
            </a:r>
            <a:r>
              <a:rPr sz="3200" b="1" spc="-50" dirty="0">
                <a:latin typeface="Microsoft JhengHei"/>
                <a:cs typeface="Microsoft JhengHei"/>
              </a:rPr>
              <a:t>。</a:t>
            </a:r>
            <a:endParaRPr sz="3200" dirty="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88340" y="367029"/>
            <a:ext cx="40906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7375" algn="l"/>
              </a:tabLst>
            </a:pPr>
            <a:r>
              <a:rPr spc="-50" dirty="0"/>
              <a:t>五</a:t>
            </a:r>
            <a:r>
              <a:rPr dirty="0"/>
              <a:t>	</a:t>
            </a:r>
            <a:r>
              <a:rPr spc="265" dirty="0"/>
              <a:t>生物对温</a:t>
            </a:r>
            <a:r>
              <a:rPr spc="254" dirty="0"/>
              <a:t>度</a:t>
            </a:r>
            <a:r>
              <a:rPr spc="295" dirty="0"/>
              <a:t>的</a:t>
            </a:r>
            <a:r>
              <a:rPr spc="270" dirty="0"/>
              <a:t>适</a:t>
            </a:r>
            <a:r>
              <a:rPr spc="-50" dirty="0"/>
              <a:t>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330" y="0"/>
            <a:ext cx="5617210" cy="6858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54519" y="1159509"/>
            <a:ext cx="196723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3600" spc="204" dirty="0">
                <a:solidFill>
                  <a:srgbClr val="FFFF00"/>
                </a:solidFill>
              </a:rPr>
              <a:t>影响生物体温的因</a:t>
            </a:r>
            <a:r>
              <a:rPr sz="3600" spc="-50" dirty="0">
                <a:solidFill>
                  <a:srgbClr val="FFFF00"/>
                </a:solidFill>
              </a:rPr>
              <a:t>素</a:t>
            </a:r>
            <a:endParaRPr sz="3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8329" y="275964"/>
            <a:ext cx="3759200" cy="64880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5800" y="377190"/>
            <a:ext cx="991869" cy="2806700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400" b="1" spc="-50" dirty="0">
                <a:latin typeface="Microsoft JhengHei"/>
                <a:cs typeface="Microsoft JhengHei"/>
              </a:rPr>
              <a:t>猫</a:t>
            </a:r>
            <a:endParaRPr sz="2400">
              <a:latin typeface="Microsoft JhengHei"/>
              <a:cs typeface="Microsoft JhengHei"/>
            </a:endParaRPr>
          </a:p>
          <a:p>
            <a:pPr marL="12700" marR="5080" algn="just">
              <a:lnSpc>
                <a:spcPct val="152100"/>
              </a:lnSpc>
            </a:pPr>
            <a:r>
              <a:rPr sz="2400" b="1" spc="114" dirty="0">
                <a:latin typeface="Microsoft JhengHei"/>
                <a:cs typeface="Microsoft JhengHei"/>
              </a:rPr>
              <a:t>有袋类鸭嘴兽针鼹鼠</a:t>
            </a:r>
            <a:r>
              <a:rPr sz="2400" b="1" spc="75" dirty="0">
                <a:latin typeface="Microsoft JhengHei"/>
                <a:cs typeface="Microsoft JhengHei"/>
              </a:rPr>
              <a:t>蜥蜴</a:t>
            </a:r>
            <a:endParaRPr sz="24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1869" y="339090"/>
            <a:ext cx="52387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6850" algn="l"/>
              </a:tabLst>
            </a:pPr>
            <a:r>
              <a:rPr spc="265" dirty="0"/>
              <a:t>（二</a:t>
            </a:r>
            <a:r>
              <a:rPr spc="-50" dirty="0"/>
              <a:t>）</a:t>
            </a:r>
            <a:r>
              <a:rPr dirty="0"/>
              <a:t>	</a:t>
            </a:r>
            <a:r>
              <a:rPr spc="265" dirty="0"/>
              <a:t>生物</a:t>
            </a:r>
            <a:r>
              <a:rPr spc="254" dirty="0"/>
              <a:t>对</a:t>
            </a:r>
            <a:r>
              <a:rPr spc="265" dirty="0"/>
              <a:t>低温</a:t>
            </a:r>
            <a:r>
              <a:rPr spc="305" dirty="0"/>
              <a:t>的</a:t>
            </a:r>
            <a:r>
              <a:rPr spc="270" dirty="0"/>
              <a:t>适</a:t>
            </a:r>
            <a:r>
              <a:rPr dirty="0"/>
              <a:t>应</a:t>
            </a:r>
            <a:r>
              <a:rPr spc="229" dirty="0"/>
              <a:t> </a:t>
            </a:r>
            <a:r>
              <a:rPr spc="-50" dirty="0">
                <a:latin typeface="Times New Roman"/>
                <a:cs typeface="Times New Roman"/>
              </a:rPr>
              <a:t>:</a:t>
            </a:r>
          </a:p>
        </p:txBody>
      </p:sp>
      <p:pic>
        <p:nvPicPr>
          <p:cNvPr id="4" name="object 4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6330" y="4220209"/>
            <a:ext cx="3600450" cy="2392680"/>
          </a:xfrm>
          <a:prstGeom prst="rect">
            <a:avLst/>
          </a:prstGeom>
        </p:spPr>
      </p:pic>
      <p:pic>
        <p:nvPicPr>
          <p:cNvPr id="5" name="object 5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23890" y="4005579"/>
            <a:ext cx="2482850" cy="285242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3119" y="937259"/>
            <a:ext cx="7310120" cy="339979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710"/>
              </a:spcBef>
              <a:tabLst>
                <a:tab pos="578485" algn="l"/>
              </a:tabLst>
            </a:pPr>
            <a:r>
              <a:rPr sz="2800" b="1" spc="-50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180" dirty="0">
                <a:latin typeface="Microsoft JhengHei"/>
                <a:cs typeface="Microsoft JhengHei"/>
              </a:rPr>
              <a:t>植物对低温的适应</a:t>
            </a:r>
            <a:endParaRPr sz="2800">
              <a:latin typeface="Microsoft JhengHei"/>
              <a:cs typeface="Microsoft JhengHei"/>
            </a:endParaRPr>
          </a:p>
          <a:p>
            <a:pPr marL="156210" marR="267970">
              <a:lnSpc>
                <a:spcPct val="99900"/>
              </a:lnSpc>
              <a:spcBef>
                <a:spcPts val="610"/>
              </a:spcBef>
              <a:tabLst>
                <a:tab pos="1685289" algn="l"/>
              </a:tabLst>
            </a:pPr>
            <a:r>
              <a:rPr sz="2800" b="1" dirty="0">
                <a:latin typeface="Microsoft JhengHei"/>
                <a:cs typeface="Microsoft JhengHei"/>
              </a:rPr>
              <a:t>（</a:t>
            </a:r>
            <a:r>
              <a:rPr sz="2800" b="1" spc="200" dirty="0">
                <a:latin typeface="Microsoft JhengHei"/>
                <a:cs typeface="Microsoft JhengHei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Microsoft JhengHei"/>
                <a:cs typeface="Microsoft JhengHei"/>
              </a:rPr>
              <a:t>）	</a:t>
            </a:r>
            <a:r>
              <a:rPr sz="2800" b="1" spc="195" dirty="0">
                <a:latin typeface="Microsoft JhengHei"/>
                <a:cs typeface="Microsoft JhengHei"/>
              </a:rPr>
              <a:t>形态适应：芽和叶片受到油脂类</a:t>
            </a:r>
            <a:r>
              <a:rPr sz="2800" b="1" spc="200" dirty="0">
                <a:latin typeface="Microsoft JhengHei"/>
                <a:cs typeface="Microsoft JhengHei"/>
              </a:rPr>
              <a:t>物质保护、表面有蜡粉和密毛、植株矮</a:t>
            </a:r>
            <a:r>
              <a:rPr sz="2800" b="1" spc="195" dirty="0">
                <a:latin typeface="Microsoft JhengHei"/>
                <a:cs typeface="Microsoft JhengHei"/>
              </a:rPr>
              <a:t>小，常呈垫状或莲花状。</a:t>
            </a:r>
            <a:endParaRPr sz="2800">
              <a:latin typeface="Microsoft JhengHei"/>
              <a:cs typeface="Microsoft JhengHei"/>
            </a:endParaRPr>
          </a:p>
          <a:p>
            <a:pPr marL="12700" marR="5080" indent="201930" algn="just">
              <a:lnSpc>
                <a:spcPct val="100000"/>
              </a:lnSpc>
              <a:spcBef>
                <a:spcPts val="1839"/>
              </a:spcBef>
            </a:pPr>
            <a:r>
              <a:rPr sz="2800" b="1" dirty="0">
                <a:latin typeface="Microsoft JhengHei"/>
                <a:cs typeface="Microsoft JhengHei"/>
              </a:rPr>
              <a:t>（ 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Microsoft JhengHei"/>
                <a:cs typeface="Microsoft JhengHei"/>
              </a:rPr>
              <a:t>）</a:t>
            </a:r>
            <a:r>
              <a:rPr sz="2800" b="1" spc="195" dirty="0">
                <a:latin typeface="Microsoft JhengHei"/>
                <a:cs typeface="Microsoft JhengHei"/>
              </a:rPr>
              <a:t> 生理适应：减少细胞中水分，增加</a:t>
            </a:r>
            <a:r>
              <a:rPr sz="2800" b="1" spc="200" dirty="0">
                <a:latin typeface="Microsoft JhengHei"/>
                <a:cs typeface="Microsoft JhengHei"/>
              </a:rPr>
              <a:t>糖类、脂肪和色素等物质以降低冰点、增加</a:t>
            </a:r>
            <a:r>
              <a:rPr sz="2800" b="1" spc="160" dirty="0">
                <a:latin typeface="Microsoft JhengHei"/>
                <a:cs typeface="Microsoft JhengHei"/>
              </a:rPr>
              <a:t>抗寒能力。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4689" y="294640"/>
            <a:ext cx="5392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4184" algn="l"/>
              </a:tabLst>
            </a:pPr>
            <a:r>
              <a:rPr sz="3600" spc="-50" dirty="0">
                <a:latin typeface="Times New Roman"/>
                <a:cs typeface="Times New Roman"/>
              </a:rPr>
              <a:t>2</a:t>
            </a:r>
            <a:r>
              <a:rPr sz="3600" dirty="0">
                <a:latin typeface="Times New Roman"/>
                <a:cs typeface="Times New Roman"/>
              </a:rPr>
              <a:t>	</a:t>
            </a:r>
            <a:r>
              <a:rPr sz="3600" spc="260" dirty="0"/>
              <a:t>内温动物对低温的适应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2669" y="4076700"/>
            <a:ext cx="2592070" cy="2552700"/>
          </a:xfrm>
          <a:prstGeom prst="rect">
            <a:avLst/>
          </a:prstGeom>
        </p:spPr>
      </p:pic>
      <p:pic>
        <p:nvPicPr>
          <p:cNvPr id="4" name="object 4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0" y="4076700"/>
            <a:ext cx="3600450" cy="24917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dirty="0"/>
              <a:t>（</a:t>
            </a:r>
            <a:r>
              <a:rPr spc="229" dirty="0"/>
              <a:t> </a:t>
            </a:r>
            <a:r>
              <a:rPr dirty="0">
                <a:latin typeface="Times New Roman"/>
                <a:cs typeface="Times New Roman"/>
              </a:rPr>
              <a:t>1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265" dirty="0"/>
              <a:t>）</a:t>
            </a:r>
            <a:r>
              <a:rPr spc="190" dirty="0"/>
              <a:t>形态适应</a:t>
            </a:r>
          </a:p>
          <a:p>
            <a:pPr marL="47625" marR="5080">
              <a:lnSpc>
                <a:spcPct val="100000"/>
              </a:lnSpc>
              <a:tabLst>
                <a:tab pos="541655" algn="l"/>
                <a:tab pos="3361054" algn="l"/>
              </a:tabLst>
            </a:pPr>
            <a:r>
              <a:rPr spc="-50" dirty="0">
                <a:latin typeface="Times New Roman"/>
                <a:cs typeface="Times New Roman"/>
              </a:rPr>
              <a:t>A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254" dirty="0"/>
              <a:t>贝</a:t>
            </a:r>
            <a:r>
              <a:rPr spc="265" dirty="0"/>
              <a:t>格曼规</a:t>
            </a:r>
            <a:r>
              <a:rPr spc="285" dirty="0"/>
              <a:t>律</a:t>
            </a:r>
            <a:r>
              <a:rPr dirty="0"/>
              <a:t>（ </a:t>
            </a:r>
            <a:r>
              <a:rPr dirty="0">
                <a:latin typeface="Times New Roman"/>
                <a:cs typeface="Times New Roman"/>
              </a:rPr>
              <a:t>Bergmann’s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rule)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260" dirty="0"/>
              <a:t>：</a:t>
            </a:r>
            <a:r>
              <a:rPr spc="-50" dirty="0">
                <a:solidFill>
                  <a:srgbClr val="CC3300"/>
                </a:solidFill>
              </a:rPr>
              <a:t>高</a:t>
            </a:r>
            <a:r>
              <a:rPr spc="265" dirty="0">
                <a:solidFill>
                  <a:srgbClr val="CC3300"/>
                </a:solidFill>
              </a:rPr>
              <a:t>纬度</a:t>
            </a:r>
            <a:r>
              <a:rPr spc="254" dirty="0">
                <a:solidFill>
                  <a:srgbClr val="CC3300"/>
                </a:solidFill>
              </a:rPr>
              <a:t>地</a:t>
            </a:r>
            <a:r>
              <a:rPr spc="280" dirty="0">
                <a:solidFill>
                  <a:srgbClr val="CC3300"/>
                </a:solidFill>
              </a:rPr>
              <a:t>区</a:t>
            </a:r>
            <a:r>
              <a:rPr spc="270" dirty="0"/>
              <a:t>的</a:t>
            </a:r>
            <a:r>
              <a:rPr spc="270" dirty="0">
                <a:solidFill>
                  <a:srgbClr val="CC3300"/>
                </a:solidFill>
              </a:rPr>
              <a:t>恒温</a:t>
            </a:r>
            <a:r>
              <a:rPr spc="260" dirty="0">
                <a:solidFill>
                  <a:srgbClr val="CC3300"/>
                </a:solidFill>
              </a:rPr>
              <a:t>动</a:t>
            </a:r>
            <a:r>
              <a:rPr spc="270" dirty="0">
                <a:solidFill>
                  <a:srgbClr val="CC3300"/>
                </a:solidFill>
              </a:rPr>
              <a:t>物</a:t>
            </a:r>
            <a:r>
              <a:rPr spc="270" dirty="0"/>
              <a:t>个</a:t>
            </a:r>
            <a:r>
              <a:rPr spc="265" dirty="0"/>
              <a:t>体比</a:t>
            </a:r>
            <a:r>
              <a:rPr spc="254" dirty="0"/>
              <a:t>低</a:t>
            </a:r>
            <a:r>
              <a:rPr spc="265" dirty="0"/>
              <a:t>纬</a:t>
            </a:r>
            <a:r>
              <a:rPr spc="285" dirty="0"/>
              <a:t>度</a:t>
            </a:r>
            <a:r>
              <a:rPr spc="-50" dirty="0">
                <a:solidFill>
                  <a:srgbClr val="CC3300"/>
                </a:solidFill>
              </a:rPr>
              <a:t>同</a:t>
            </a:r>
            <a:r>
              <a:rPr spc="270" dirty="0">
                <a:solidFill>
                  <a:srgbClr val="CC3300"/>
                </a:solidFill>
              </a:rPr>
              <a:t>类</a:t>
            </a:r>
            <a:r>
              <a:rPr spc="260" dirty="0"/>
              <a:t>个</a:t>
            </a:r>
            <a:r>
              <a:rPr spc="265" dirty="0"/>
              <a:t>体大</a:t>
            </a:r>
            <a:r>
              <a:rPr spc="275" dirty="0"/>
              <a:t>。</a:t>
            </a:r>
            <a:r>
              <a:rPr sz="2400" b="0" dirty="0">
                <a:latin typeface="SimSun"/>
                <a:cs typeface="SimSun"/>
              </a:rPr>
              <a:t>例如东北虎的颅骨长</a:t>
            </a:r>
            <a:r>
              <a:rPr sz="2400" b="0" spc="-630" dirty="0">
                <a:latin typeface="SimSun"/>
                <a:cs typeface="SimSun"/>
              </a:rPr>
              <a:t> </a:t>
            </a:r>
            <a:r>
              <a:rPr sz="2400" b="0" spc="-10" dirty="0">
                <a:latin typeface="Times New Roman"/>
                <a:cs typeface="Times New Roman"/>
              </a:rPr>
              <a:t>331-</a:t>
            </a:r>
            <a:r>
              <a:rPr sz="2400" b="0" dirty="0">
                <a:latin typeface="Times New Roman"/>
                <a:cs typeface="Times New Roman"/>
              </a:rPr>
              <a:t>345</a:t>
            </a:r>
            <a:r>
              <a:rPr sz="2400" b="0" spc="-55" dirty="0">
                <a:latin typeface="Times New Roman"/>
                <a:cs typeface="Times New Roman"/>
              </a:rPr>
              <a:t> </a:t>
            </a:r>
            <a:r>
              <a:rPr sz="2400" b="0" dirty="0">
                <a:latin typeface="Times New Roman"/>
                <a:cs typeface="Times New Roman"/>
              </a:rPr>
              <a:t>mm</a:t>
            </a:r>
            <a:r>
              <a:rPr sz="2400" b="0" spc="-40" dirty="0">
                <a:latin typeface="Times New Roman"/>
                <a:cs typeface="Times New Roman"/>
              </a:rPr>
              <a:t> </a:t>
            </a:r>
            <a:r>
              <a:rPr sz="2400" b="0" dirty="0">
                <a:latin typeface="SimSun"/>
                <a:cs typeface="SimSun"/>
              </a:rPr>
              <a:t>，</a:t>
            </a:r>
            <a:r>
              <a:rPr sz="2400" b="0" spc="-600" dirty="0">
                <a:latin typeface="SimSun"/>
                <a:cs typeface="SimSun"/>
              </a:rPr>
              <a:t> </a:t>
            </a:r>
            <a:r>
              <a:rPr sz="2400" b="0" spc="-50" dirty="0">
                <a:latin typeface="SimSun"/>
                <a:cs typeface="SimSun"/>
              </a:rPr>
              <a:t>而</a:t>
            </a:r>
            <a:r>
              <a:rPr sz="2400" b="0" dirty="0">
                <a:latin typeface="SimSun"/>
                <a:cs typeface="SimSun"/>
              </a:rPr>
              <a:t>华南虎的仅</a:t>
            </a:r>
            <a:r>
              <a:rPr sz="2400" b="0" spc="-615" dirty="0">
                <a:latin typeface="SimSun"/>
                <a:cs typeface="SimSun"/>
              </a:rPr>
              <a:t> </a:t>
            </a:r>
            <a:r>
              <a:rPr sz="2400" b="0" spc="-10" dirty="0">
                <a:latin typeface="Times New Roman"/>
                <a:cs typeface="Times New Roman"/>
              </a:rPr>
              <a:t>283-</a:t>
            </a:r>
            <a:r>
              <a:rPr sz="2400" b="0" dirty="0">
                <a:latin typeface="Times New Roman"/>
                <a:cs typeface="Times New Roman"/>
              </a:rPr>
              <a:t>318</a:t>
            </a:r>
            <a:r>
              <a:rPr sz="2400" b="0" spc="20" dirty="0">
                <a:latin typeface="Times New Roman"/>
                <a:cs typeface="Times New Roman"/>
              </a:rPr>
              <a:t> </a:t>
            </a:r>
            <a:r>
              <a:rPr sz="2400" b="0" spc="-25" dirty="0">
                <a:latin typeface="Times New Roman"/>
                <a:cs typeface="Times New Roman"/>
              </a:rPr>
              <a:t>mm</a:t>
            </a:r>
            <a:r>
              <a:rPr sz="2400" b="0" dirty="0">
                <a:latin typeface="Times New Roman"/>
                <a:cs typeface="Times New Roman"/>
              </a:rPr>
              <a:t>	</a:t>
            </a:r>
            <a:r>
              <a:rPr sz="2400" b="0" dirty="0">
                <a:latin typeface="SimSun"/>
                <a:cs typeface="SimSun"/>
              </a:rPr>
              <a:t>长</a:t>
            </a:r>
            <a:r>
              <a:rPr sz="2400" b="0" spc="-50" dirty="0">
                <a:latin typeface="SimSun"/>
                <a:cs typeface="SimSun"/>
              </a:rPr>
              <a:t>。</a:t>
            </a:r>
            <a:endParaRPr sz="24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0730" y="798829"/>
            <a:ext cx="706882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B </a:t>
            </a:r>
            <a:r>
              <a:rPr spc="265" dirty="0"/>
              <a:t>阿伦规律：</a:t>
            </a:r>
            <a:r>
              <a:rPr spc="265" dirty="0">
                <a:solidFill>
                  <a:srgbClr val="CC3300"/>
                </a:solidFill>
              </a:rPr>
              <a:t>高纬度地区</a:t>
            </a:r>
            <a:r>
              <a:rPr spc="270" dirty="0"/>
              <a:t>的</a:t>
            </a:r>
            <a:r>
              <a:rPr spc="185" dirty="0">
                <a:solidFill>
                  <a:srgbClr val="CC3300"/>
                </a:solidFill>
              </a:rPr>
              <a:t>恒温动物</a:t>
            </a:r>
            <a:r>
              <a:rPr spc="270" dirty="0"/>
              <a:t>个体</a:t>
            </a:r>
            <a:r>
              <a:rPr spc="265" dirty="0">
                <a:solidFill>
                  <a:srgbClr val="CC3300"/>
                </a:solidFill>
              </a:rPr>
              <a:t>身体突出部分</a:t>
            </a:r>
            <a:r>
              <a:rPr spc="225" dirty="0"/>
              <a:t>，如四肢、尾巴和</a:t>
            </a:r>
            <a:r>
              <a:rPr spc="265" dirty="0"/>
              <a:t>外耳有</a:t>
            </a:r>
            <a:r>
              <a:rPr spc="265" dirty="0">
                <a:solidFill>
                  <a:srgbClr val="CC3300"/>
                </a:solidFill>
              </a:rPr>
              <a:t>变小变短</a:t>
            </a:r>
            <a:r>
              <a:rPr spc="180" dirty="0"/>
              <a:t>的趋势。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4103" y="3357879"/>
            <a:ext cx="5499556" cy="183928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7659" y="941070"/>
            <a:ext cx="7973059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C </a:t>
            </a:r>
            <a:r>
              <a:rPr spc="235" dirty="0"/>
              <a:t>寒冷地区的内温动物在冬季增加了羽、毛的密度、提高了羽、毛的质量，增加了</a:t>
            </a:r>
            <a:r>
              <a:rPr spc="265" dirty="0"/>
              <a:t>皮下脂肪的厚度</a:t>
            </a:r>
            <a:r>
              <a:rPr b="0" spc="-50" dirty="0">
                <a:latin typeface="SimSun"/>
                <a:cs typeface="SimSun"/>
              </a:rPr>
              <a:t>。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1459" y="2997200"/>
            <a:ext cx="8636000" cy="2514600"/>
            <a:chOff x="251459" y="2997200"/>
            <a:chExt cx="8636000" cy="25146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459" y="2997200"/>
              <a:ext cx="6096000" cy="25146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72859" y="3429000"/>
              <a:ext cx="2514599" cy="18224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2270" y="262890"/>
            <a:ext cx="56730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（</a:t>
            </a:r>
            <a:r>
              <a:rPr spc="229" dirty="0"/>
              <a:t> </a:t>
            </a:r>
            <a:r>
              <a:rPr dirty="0">
                <a:latin typeface="Times New Roman"/>
                <a:cs typeface="Times New Roman"/>
              </a:rPr>
              <a:t>2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265" dirty="0"/>
              <a:t>）</a:t>
            </a:r>
            <a:r>
              <a:rPr spc="225" dirty="0"/>
              <a:t>内温动物的生理适应：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2270" y="971550"/>
            <a:ext cx="6957059" cy="5553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2595" algn="l"/>
              </a:tabLst>
            </a:pPr>
            <a:r>
              <a:rPr sz="2800" b="1" spc="-50" dirty="0">
                <a:latin typeface="Times New Roman"/>
                <a:cs typeface="Times New Roman"/>
              </a:rPr>
              <a:t>A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195" dirty="0">
                <a:latin typeface="Microsoft JhengHei"/>
                <a:cs typeface="Microsoft JhengHei"/>
              </a:rPr>
              <a:t>增加产热：颤抖性产热与非颤抖性产热</a:t>
            </a:r>
            <a:endParaRPr sz="2800">
              <a:latin typeface="Microsoft JhengHei"/>
              <a:cs typeface="Microsoft JhengHei"/>
            </a:endParaRPr>
          </a:p>
          <a:p>
            <a:pPr marL="174625" marR="2741930">
              <a:lnSpc>
                <a:spcPct val="100000"/>
              </a:lnSpc>
              <a:spcBef>
                <a:spcPts val="3219"/>
              </a:spcBef>
            </a:pPr>
            <a:r>
              <a:rPr sz="2800" b="1" spc="215" dirty="0">
                <a:latin typeface="Microsoft JhengHei"/>
                <a:cs typeface="Microsoft JhengHei"/>
              </a:rPr>
              <a:t>颤抖性产热</a:t>
            </a:r>
            <a:r>
              <a:rPr sz="2800" b="1" dirty="0">
                <a:latin typeface="Microsoft JhengHei"/>
                <a:cs typeface="Microsoft JhengHei"/>
              </a:rPr>
              <a:t>（ </a:t>
            </a:r>
            <a:r>
              <a:rPr sz="2800" b="1" dirty="0">
                <a:latin typeface="Times New Roman"/>
                <a:cs typeface="Times New Roman"/>
              </a:rPr>
              <a:t>ST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b="1" spc="220" dirty="0">
                <a:latin typeface="Microsoft JhengHei"/>
                <a:cs typeface="Microsoft JhengHei"/>
              </a:rPr>
              <a:t>）</a:t>
            </a:r>
            <a:r>
              <a:rPr sz="2800" b="1" spc="85" dirty="0">
                <a:latin typeface="Microsoft JhengHei"/>
                <a:cs typeface="Microsoft JhengHei"/>
              </a:rPr>
              <a:t>：产</a:t>
            </a:r>
            <a:r>
              <a:rPr sz="2800" b="1" spc="185" dirty="0">
                <a:latin typeface="Microsoft JhengHei"/>
                <a:cs typeface="Microsoft JhengHei"/>
              </a:rPr>
              <a:t>生在骨骼肌中，由肌原纤维非自主的有节律的收缩，由高级神经中枢</a:t>
            </a:r>
            <a:r>
              <a:rPr sz="2800" b="1" spc="130" dirty="0">
                <a:latin typeface="Microsoft JhengHei"/>
                <a:cs typeface="Microsoft JhengHei"/>
              </a:rPr>
              <a:t>控制。</a:t>
            </a:r>
            <a:endParaRPr sz="2800">
              <a:latin typeface="Microsoft JhengHei"/>
              <a:cs typeface="Microsoft JhengHei"/>
            </a:endParaRPr>
          </a:p>
          <a:p>
            <a:pPr marL="377825">
              <a:lnSpc>
                <a:spcPct val="100000"/>
              </a:lnSpc>
              <a:spcBef>
                <a:spcPts val="3359"/>
              </a:spcBef>
            </a:pPr>
            <a:r>
              <a:rPr sz="2800" b="1" spc="215" dirty="0">
                <a:latin typeface="Microsoft JhengHei"/>
                <a:cs typeface="Microsoft JhengHei"/>
              </a:rPr>
              <a:t>非颤抖性产热</a:t>
            </a:r>
            <a:r>
              <a:rPr sz="2800" b="1" dirty="0">
                <a:latin typeface="Microsoft JhengHei"/>
                <a:cs typeface="Microsoft JhengHei"/>
              </a:rPr>
              <a:t>（</a:t>
            </a:r>
            <a:r>
              <a:rPr sz="2800" b="1" spc="170" dirty="0">
                <a:latin typeface="Microsoft JhengHei"/>
                <a:cs typeface="Microsoft JhengHei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NST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50" dirty="0">
                <a:latin typeface="Microsoft JhengHei"/>
                <a:cs typeface="Microsoft JhengHei"/>
              </a:rPr>
              <a:t>）</a:t>
            </a:r>
            <a:endParaRPr sz="2800">
              <a:latin typeface="Microsoft JhengHei"/>
              <a:cs typeface="Microsoft JhengHei"/>
            </a:endParaRPr>
          </a:p>
          <a:p>
            <a:pPr marL="174625" marR="2961005">
              <a:lnSpc>
                <a:spcPct val="100000"/>
              </a:lnSpc>
            </a:pPr>
            <a:r>
              <a:rPr sz="2800" b="1" spc="185" dirty="0">
                <a:latin typeface="Microsoft JhengHei"/>
                <a:cs typeface="Microsoft JhengHei"/>
              </a:rPr>
              <a:t>：不涉及肌肉活动而释</a:t>
            </a:r>
            <a:r>
              <a:rPr sz="2800" b="1" spc="190" dirty="0">
                <a:latin typeface="Microsoft JhengHei"/>
                <a:cs typeface="Microsoft JhengHei"/>
              </a:rPr>
              <a:t>放化学能的产热机制 </a:t>
            </a:r>
            <a:r>
              <a:rPr sz="2800" b="1" spc="-5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174625" marR="2954655">
              <a:lnSpc>
                <a:spcPts val="3360"/>
              </a:lnSpc>
              <a:spcBef>
                <a:spcPts val="90"/>
              </a:spcBef>
            </a:pPr>
            <a:r>
              <a:rPr sz="2800" b="1" dirty="0">
                <a:latin typeface="Times New Roman"/>
                <a:cs typeface="Times New Roman"/>
              </a:rPr>
              <a:t>NST</a:t>
            </a:r>
            <a:r>
              <a:rPr sz="2800" b="1" spc="-170" dirty="0">
                <a:latin typeface="Times New Roman"/>
                <a:cs typeface="Times New Roman"/>
              </a:rPr>
              <a:t> </a:t>
            </a:r>
            <a:r>
              <a:rPr sz="2800" b="1" spc="180" dirty="0">
                <a:latin typeface="Microsoft JhengHei"/>
                <a:cs typeface="Microsoft JhengHei"/>
              </a:rPr>
              <a:t>主要发生在褐色脂</a:t>
            </a:r>
            <a:r>
              <a:rPr sz="2800" b="1" spc="220" dirty="0">
                <a:latin typeface="Microsoft JhengHei"/>
                <a:cs typeface="Microsoft JhengHei"/>
              </a:rPr>
              <a:t>肪组织</a:t>
            </a:r>
            <a:r>
              <a:rPr sz="2800" b="1" dirty="0">
                <a:latin typeface="Microsoft JhengHei"/>
                <a:cs typeface="Microsoft JhengHei"/>
              </a:rPr>
              <a:t>（</a:t>
            </a:r>
            <a:r>
              <a:rPr sz="2800" b="1" spc="190" dirty="0">
                <a:latin typeface="Microsoft JhengHei"/>
                <a:cs typeface="Microsoft JhengHei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BAT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spc="225" dirty="0">
                <a:latin typeface="Microsoft JhengHei"/>
                <a:cs typeface="Microsoft JhengHei"/>
              </a:rPr>
              <a:t>）</a:t>
            </a:r>
            <a:r>
              <a:rPr sz="2800" b="1" spc="90" dirty="0">
                <a:latin typeface="Microsoft JhengHei"/>
                <a:cs typeface="Microsoft JhengHei"/>
              </a:rPr>
              <a:t>中 </a:t>
            </a:r>
            <a:r>
              <a:rPr sz="2800" b="1" spc="-5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7400" y="1844039"/>
            <a:ext cx="2940050" cy="410591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6079" y="2133600"/>
            <a:ext cx="3992990" cy="36626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4239" y="2310129"/>
            <a:ext cx="3175000" cy="4053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106805" algn="l"/>
                <a:tab pos="1179195" algn="l"/>
                <a:tab pos="1203325" algn="l"/>
              </a:tabLst>
            </a:pPr>
            <a:r>
              <a:rPr sz="2400" b="1" dirty="0">
                <a:latin typeface="Microsoft JhengHei"/>
                <a:cs typeface="Microsoft JhengHei"/>
              </a:rPr>
              <a:t>图</a:t>
            </a:r>
            <a:r>
              <a:rPr sz="2400" b="1" spc="180" dirty="0">
                <a:latin typeface="Microsoft JhengHei"/>
                <a:cs typeface="Microsoft JhengHei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2-</a:t>
            </a:r>
            <a:r>
              <a:rPr sz="2400" b="1" spc="-25" dirty="0">
                <a:latin typeface="Times New Roman"/>
                <a:cs typeface="Times New Roman"/>
              </a:rPr>
              <a:t>20</a:t>
            </a:r>
            <a:r>
              <a:rPr sz="2400" b="1" dirty="0">
                <a:latin typeface="Times New Roman"/>
                <a:cs typeface="Times New Roman"/>
              </a:rPr>
              <a:t>			</a:t>
            </a:r>
            <a:r>
              <a:rPr sz="2400" b="1" spc="204" dirty="0">
                <a:latin typeface="Microsoft JhengHei"/>
                <a:cs typeface="Microsoft JhengHei"/>
              </a:rPr>
              <a:t>在</a:t>
            </a:r>
            <a:r>
              <a:rPr sz="2400" b="1" spc="195" dirty="0">
                <a:latin typeface="Microsoft JhengHei"/>
                <a:cs typeface="Microsoft JhengHei"/>
              </a:rPr>
              <a:t>冰上</a:t>
            </a:r>
            <a:r>
              <a:rPr sz="2400" b="1" dirty="0">
                <a:latin typeface="Microsoft JhengHei"/>
                <a:cs typeface="Microsoft JhengHei"/>
              </a:rPr>
              <a:t>，</a:t>
            </a:r>
            <a:r>
              <a:rPr sz="2400" b="1" spc="-385" dirty="0">
                <a:latin typeface="Microsoft JhengHei"/>
                <a:cs typeface="Microsoft JhengHei"/>
              </a:rPr>
              <a:t> </a:t>
            </a:r>
            <a:r>
              <a:rPr sz="2400" b="1" spc="200" dirty="0">
                <a:latin typeface="Microsoft JhengHei"/>
                <a:cs typeface="Microsoft JhengHei"/>
              </a:rPr>
              <a:t>鸟</a:t>
            </a:r>
            <a:r>
              <a:rPr sz="2400" b="1" spc="-50" dirty="0">
                <a:latin typeface="Microsoft JhengHei"/>
                <a:cs typeface="Microsoft JhengHei"/>
              </a:rPr>
              <a:t>的</a:t>
            </a:r>
            <a:r>
              <a:rPr sz="2400" b="1" spc="200" dirty="0">
                <a:latin typeface="Microsoft JhengHei"/>
                <a:cs typeface="Microsoft JhengHei"/>
              </a:rPr>
              <a:t>脚</a:t>
            </a:r>
            <a:r>
              <a:rPr sz="2400" b="1" spc="210" dirty="0">
                <a:latin typeface="Microsoft JhengHei"/>
                <a:cs typeface="Microsoft JhengHei"/>
              </a:rPr>
              <a:t>和</a:t>
            </a:r>
            <a:r>
              <a:rPr sz="2400" b="1" spc="-50" dirty="0">
                <a:latin typeface="Microsoft JhengHei"/>
                <a:cs typeface="Microsoft JhengHei"/>
              </a:rPr>
              <a:t>腿</a:t>
            </a:r>
            <a:r>
              <a:rPr sz="2400" b="1" dirty="0">
                <a:latin typeface="Microsoft JhengHei"/>
                <a:cs typeface="Microsoft JhengHei"/>
              </a:rPr>
              <a:t>	</a:t>
            </a:r>
            <a:r>
              <a:rPr sz="2400" b="1" spc="200" dirty="0">
                <a:latin typeface="Microsoft JhengHei"/>
                <a:cs typeface="Microsoft JhengHei"/>
              </a:rPr>
              <a:t>皮肤</a:t>
            </a:r>
            <a:r>
              <a:rPr sz="2400" b="1" spc="204" dirty="0">
                <a:latin typeface="Microsoft JhengHei"/>
                <a:cs typeface="Microsoft JhengHei"/>
              </a:rPr>
              <a:t>温</a:t>
            </a:r>
            <a:r>
              <a:rPr sz="2400" b="1" spc="195" dirty="0">
                <a:latin typeface="Microsoft JhengHei"/>
                <a:cs typeface="Microsoft JhengHei"/>
              </a:rPr>
              <a:t>度</a:t>
            </a:r>
            <a:r>
              <a:rPr sz="2400" b="1" spc="210" dirty="0">
                <a:latin typeface="Microsoft JhengHei"/>
                <a:cs typeface="Microsoft JhengHei"/>
              </a:rPr>
              <a:t>。</a:t>
            </a:r>
            <a:r>
              <a:rPr sz="2400" b="1" spc="-50" dirty="0">
                <a:latin typeface="Microsoft JhengHei"/>
                <a:cs typeface="Microsoft JhengHei"/>
              </a:rPr>
              <a:t>血</a:t>
            </a:r>
            <a:r>
              <a:rPr sz="2400" b="1" spc="200" dirty="0">
                <a:latin typeface="Microsoft JhengHei"/>
                <a:cs typeface="Microsoft JhengHei"/>
              </a:rPr>
              <a:t>管</a:t>
            </a:r>
            <a:r>
              <a:rPr sz="2400" b="1" spc="210" dirty="0">
                <a:latin typeface="Microsoft JhengHei"/>
                <a:cs typeface="Microsoft JhengHei"/>
              </a:rPr>
              <a:t>的</a:t>
            </a:r>
            <a:r>
              <a:rPr sz="2400" b="1" spc="195" dirty="0">
                <a:latin typeface="Microsoft JhengHei"/>
                <a:cs typeface="Microsoft JhengHei"/>
              </a:rPr>
              <a:t>解</a:t>
            </a:r>
            <a:r>
              <a:rPr sz="2400" b="1" spc="210" dirty="0">
                <a:latin typeface="Microsoft JhengHei"/>
                <a:cs typeface="Microsoft JhengHei"/>
              </a:rPr>
              <a:t>剖</a:t>
            </a:r>
            <a:r>
              <a:rPr sz="2400" b="1" spc="195" dirty="0">
                <a:latin typeface="Microsoft JhengHei"/>
                <a:cs typeface="Microsoft JhengHei"/>
              </a:rPr>
              <a:t>结</a:t>
            </a:r>
            <a:r>
              <a:rPr sz="2400" b="1" spc="200" dirty="0">
                <a:latin typeface="Microsoft JhengHei"/>
                <a:cs typeface="Microsoft JhengHei"/>
              </a:rPr>
              <a:t>构</a:t>
            </a:r>
            <a:r>
              <a:rPr sz="2400" b="1" spc="210" dirty="0">
                <a:latin typeface="Microsoft JhengHei"/>
                <a:cs typeface="Microsoft JhengHei"/>
              </a:rPr>
              <a:t>使</a:t>
            </a:r>
            <a:r>
              <a:rPr sz="2400" b="1" spc="200" dirty="0">
                <a:latin typeface="Microsoft JhengHei"/>
                <a:cs typeface="Microsoft JhengHei"/>
              </a:rPr>
              <a:t>动</a:t>
            </a:r>
            <a:r>
              <a:rPr sz="2400" b="1" spc="-50" dirty="0">
                <a:latin typeface="Microsoft JhengHei"/>
                <a:cs typeface="Microsoft JhengHei"/>
              </a:rPr>
              <a:t>脉</a:t>
            </a:r>
            <a:r>
              <a:rPr sz="2400" b="1" spc="200" dirty="0">
                <a:latin typeface="Microsoft JhengHei"/>
                <a:cs typeface="Microsoft JhengHei"/>
              </a:rPr>
              <a:t>血</a:t>
            </a:r>
            <a:r>
              <a:rPr sz="2400" b="1" spc="210" dirty="0">
                <a:latin typeface="Microsoft JhengHei"/>
                <a:cs typeface="Microsoft JhengHei"/>
              </a:rPr>
              <a:t>管</a:t>
            </a:r>
            <a:r>
              <a:rPr sz="2400" b="1" dirty="0">
                <a:latin typeface="Microsoft JhengHei"/>
                <a:cs typeface="Microsoft JhengHei"/>
              </a:rPr>
              <a:t>（ </a:t>
            </a:r>
            <a:r>
              <a:rPr sz="2400" b="1" dirty="0">
                <a:latin typeface="Times New Roman"/>
                <a:cs typeface="Times New Roman"/>
              </a:rPr>
              <a:t>A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Microsoft JhengHei"/>
                <a:cs typeface="Microsoft JhengHei"/>
              </a:rPr>
              <a:t>）</a:t>
            </a:r>
            <a:r>
              <a:rPr sz="2400" b="1" spc="-395" dirty="0">
                <a:latin typeface="Microsoft JhengHei"/>
                <a:cs typeface="Microsoft JhengHei"/>
              </a:rPr>
              <a:t> </a:t>
            </a:r>
            <a:r>
              <a:rPr sz="2400" b="1" spc="200" dirty="0">
                <a:latin typeface="Microsoft JhengHei"/>
                <a:cs typeface="Microsoft JhengHei"/>
              </a:rPr>
              <a:t>和</a:t>
            </a:r>
            <a:r>
              <a:rPr sz="2400" b="1" spc="210" dirty="0">
                <a:latin typeface="Microsoft JhengHei"/>
                <a:cs typeface="Microsoft JhengHei"/>
              </a:rPr>
              <a:t>静</a:t>
            </a:r>
            <a:r>
              <a:rPr sz="2400" b="1" spc="200" dirty="0">
                <a:latin typeface="Microsoft JhengHei"/>
                <a:cs typeface="Microsoft JhengHei"/>
              </a:rPr>
              <a:t>脉</a:t>
            </a:r>
            <a:r>
              <a:rPr sz="2400" b="1" spc="-50" dirty="0">
                <a:latin typeface="Microsoft JhengHei"/>
                <a:cs typeface="Microsoft JhengHei"/>
              </a:rPr>
              <a:t>血</a:t>
            </a:r>
            <a:r>
              <a:rPr sz="2400" b="1" spc="200" dirty="0">
                <a:latin typeface="Microsoft JhengHei"/>
                <a:cs typeface="Microsoft JhengHei"/>
              </a:rPr>
              <a:t>管</a:t>
            </a:r>
            <a:r>
              <a:rPr sz="2400" b="1" dirty="0">
                <a:latin typeface="Microsoft JhengHei"/>
                <a:cs typeface="Microsoft JhengHei"/>
              </a:rPr>
              <a:t>（ </a:t>
            </a:r>
            <a:r>
              <a:rPr lang="en-US" sz="2400" b="1" dirty="0">
                <a:latin typeface="Times New Roman"/>
                <a:cs typeface="Times New Roman"/>
              </a:rPr>
              <a:t>V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195" dirty="0">
                <a:latin typeface="Microsoft JhengHei"/>
                <a:cs typeface="Microsoft JhengHei"/>
              </a:rPr>
              <a:t>）间</a:t>
            </a:r>
            <a:r>
              <a:rPr sz="2400" b="1" spc="204" dirty="0">
                <a:latin typeface="Microsoft JhengHei"/>
                <a:cs typeface="Microsoft JhengHei"/>
              </a:rPr>
              <a:t>有</a:t>
            </a:r>
            <a:r>
              <a:rPr sz="2400" b="1" spc="195" dirty="0">
                <a:latin typeface="Microsoft JhengHei"/>
                <a:cs typeface="Microsoft JhengHei"/>
              </a:rPr>
              <a:t>逆流</a:t>
            </a:r>
            <a:r>
              <a:rPr sz="2400" b="1" spc="-50" dirty="0">
                <a:latin typeface="Microsoft JhengHei"/>
                <a:cs typeface="Microsoft JhengHei"/>
              </a:rPr>
              <a:t>热</a:t>
            </a:r>
            <a:r>
              <a:rPr sz="2400" b="1" spc="200" dirty="0">
                <a:latin typeface="Microsoft JhengHei"/>
                <a:cs typeface="Microsoft JhengHei"/>
              </a:rPr>
              <a:t>交</a:t>
            </a:r>
            <a:r>
              <a:rPr sz="2400" b="1" spc="210" dirty="0">
                <a:latin typeface="Microsoft JhengHei"/>
                <a:cs typeface="Microsoft JhengHei"/>
              </a:rPr>
              <a:t>换</a:t>
            </a:r>
            <a:r>
              <a:rPr sz="2400" b="1" spc="200" dirty="0">
                <a:latin typeface="Microsoft JhengHei"/>
                <a:cs typeface="Microsoft JhengHei"/>
              </a:rPr>
              <a:t>。</a:t>
            </a:r>
            <a:r>
              <a:rPr sz="2400" b="1" spc="204" dirty="0">
                <a:latin typeface="Microsoft JhengHei"/>
                <a:cs typeface="Microsoft JhengHei"/>
              </a:rPr>
              <a:t>箭</a:t>
            </a:r>
            <a:r>
              <a:rPr sz="2400" b="1" spc="200" dirty="0">
                <a:latin typeface="Microsoft JhengHei"/>
                <a:cs typeface="Microsoft JhengHei"/>
              </a:rPr>
              <a:t>头</a:t>
            </a:r>
            <a:r>
              <a:rPr sz="2400" b="1" spc="195" dirty="0">
                <a:latin typeface="Microsoft JhengHei"/>
                <a:cs typeface="Microsoft JhengHei"/>
              </a:rPr>
              <a:t>表</a:t>
            </a:r>
            <a:r>
              <a:rPr sz="2400" b="1" spc="210" dirty="0">
                <a:latin typeface="Microsoft JhengHei"/>
                <a:cs typeface="Microsoft JhengHei"/>
              </a:rPr>
              <a:t>明</a:t>
            </a:r>
            <a:r>
              <a:rPr sz="2400" b="1" spc="200" dirty="0">
                <a:latin typeface="Microsoft JhengHei"/>
                <a:cs typeface="Microsoft JhengHei"/>
              </a:rPr>
              <a:t>血</a:t>
            </a:r>
            <a:r>
              <a:rPr sz="2400" b="1" spc="-50" dirty="0">
                <a:latin typeface="Microsoft JhengHei"/>
                <a:cs typeface="Microsoft JhengHei"/>
              </a:rPr>
              <a:t>流</a:t>
            </a:r>
            <a:r>
              <a:rPr sz="2400" b="1" spc="195" dirty="0">
                <a:latin typeface="Microsoft JhengHei"/>
                <a:cs typeface="Microsoft JhengHei"/>
              </a:rPr>
              <a:t>方</a:t>
            </a:r>
            <a:r>
              <a:rPr sz="2400" b="1" spc="204" dirty="0">
                <a:latin typeface="Microsoft JhengHei"/>
                <a:cs typeface="Microsoft JhengHei"/>
              </a:rPr>
              <a:t>向</a:t>
            </a:r>
            <a:r>
              <a:rPr sz="2400" b="1" spc="200" dirty="0">
                <a:latin typeface="Microsoft JhengHei"/>
                <a:cs typeface="Microsoft JhengHei"/>
              </a:rPr>
              <a:t>，</a:t>
            </a:r>
            <a:r>
              <a:rPr sz="2400" b="1" spc="204" dirty="0">
                <a:latin typeface="Microsoft JhengHei"/>
                <a:cs typeface="Microsoft JhengHei"/>
              </a:rPr>
              <a:t>横</a:t>
            </a:r>
            <a:r>
              <a:rPr sz="2400" b="1" spc="195" dirty="0">
                <a:latin typeface="Microsoft JhengHei"/>
                <a:cs typeface="Microsoft JhengHei"/>
              </a:rPr>
              <a:t>箭</a:t>
            </a:r>
            <a:r>
              <a:rPr sz="2400" b="1" spc="200" dirty="0">
                <a:latin typeface="Microsoft JhengHei"/>
                <a:cs typeface="Microsoft JhengHei"/>
              </a:rPr>
              <a:t>头</a:t>
            </a:r>
            <a:r>
              <a:rPr sz="2400" b="1" spc="204" dirty="0">
                <a:latin typeface="Microsoft JhengHei"/>
                <a:cs typeface="Microsoft JhengHei"/>
              </a:rPr>
              <a:t>指</a:t>
            </a:r>
            <a:r>
              <a:rPr sz="2400" b="1" spc="200" dirty="0">
                <a:latin typeface="Microsoft JhengHei"/>
                <a:cs typeface="Microsoft JhengHei"/>
              </a:rPr>
              <a:t>热</a:t>
            </a:r>
            <a:r>
              <a:rPr sz="2400" b="1" spc="-50" dirty="0">
                <a:latin typeface="Microsoft JhengHei"/>
                <a:cs typeface="Microsoft JhengHei"/>
              </a:rPr>
              <a:t>传</a:t>
            </a:r>
            <a:r>
              <a:rPr sz="2400" b="1" spc="200" dirty="0">
                <a:latin typeface="Microsoft JhengHei"/>
                <a:cs typeface="Microsoft JhengHei"/>
              </a:rPr>
              <a:t>递</a:t>
            </a:r>
            <a:r>
              <a:rPr sz="2400" b="1" spc="204" dirty="0">
                <a:latin typeface="Microsoft JhengHei"/>
                <a:cs typeface="Microsoft JhengHei"/>
              </a:rPr>
              <a:t>。</a:t>
            </a:r>
            <a:r>
              <a:rPr sz="2400" b="1" spc="-50" dirty="0">
                <a:latin typeface="Microsoft JhengHei"/>
                <a:cs typeface="Microsoft JhengHei"/>
              </a:rPr>
              <a:t>在</a:t>
            </a:r>
            <a:r>
              <a:rPr sz="2400" b="1" dirty="0">
                <a:latin typeface="Microsoft JhengHei"/>
                <a:cs typeface="Microsoft JhengHei"/>
              </a:rPr>
              <a:t>		</a:t>
            </a:r>
            <a:r>
              <a:rPr sz="2400" b="1" dirty="0">
                <a:latin typeface="Times New Roman"/>
                <a:cs typeface="Times New Roman"/>
              </a:rPr>
              <a:t>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204" dirty="0">
                <a:latin typeface="Microsoft JhengHei"/>
                <a:cs typeface="Microsoft JhengHei"/>
              </a:rPr>
              <a:t>点</a:t>
            </a:r>
            <a:r>
              <a:rPr sz="2400" b="1" spc="195" dirty="0">
                <a:latin typeface="Microsoft JhengHei"/>
                <a:cs typeface="Microsoft JhengHei"/>
              </a:rPr>
              <a:t>以下</a:t>
            </a:r>
            <a:r>
              <a:rPr sz="2400" b="1" spc="204" dirty="0">
                <a:latin typeface="Microsoft JhengHei"/>
                <a:cs typeface="Microsoft JhengHei"/>
              </a:rPr>
              <a:t>的</a:t>
            </a:r>
            <a:r>
              <a:rPr sz="2400" b="1" spc="-50" dirty="0">
                <a:latin typeface="Microsoft JhengHei"/>
                <a:cs typeface="Microsoft JhengHei"/>
              </a:rPr>
              <a:t>分</a:t>
            </a:r>
            <a:r>
              <a:rPr sz="2400" b="1" spc="200" dirty="0">
                <a:latin typeface="Microsoft JhengHei"/>
                <a:cs typeface="Microsoft JhengHei"/>
              </a:rPr>
              <a:t>支</a:t>
            </a:r>
            <a:r>
              <a:rPr sz="2400" b="1" spc="210" dirty="0">
                <a:latin typeface="Microsoft JhengHei"/>
                <a:cs typeface="Microsoft JhengHei"/>
              </a:rPr>
              <a:t>血</a:t>
            </a:r>
            <a:r>
              <a:rPr sz="2400" b="1" spc="200" dirty="0">
                <a:latin typeface="Microsoft JhengHei"/>
                <a:cs typeface="Microsoft JhengHei"/>
              </a:rPr>
              <a:t>管</a:t>
            </a:r>
            <a:r>
              <a:rPr sz="2400" b="1" spc="210" dirty="0">
                <a:latin typeface="Microsoft JhengHei"/>
                <a:cs typeface="Microsoft JhengHei"/>
              </a:rPr>
              <a:t>可</a:t>
            </a:r>
            <a:r>
              <a:rPr sz="2400" b="1" spc="200" dirty="0">
                <a:latin typeface="Microsoft JhengHei"/>
                <a:cs typeface="Microsoft JhengHei"/>
              </a:rPr>
              <a:t>收缩</a:t>
            </a:r>
            <a:r>
              <a:rPr sz="2400" b="1" dirty="0">
                <a:latin typeface="Microsoft JhengHei"/>
                <a:cs typeface="Microsoft JhengHei"/>
              </a:rPr>
              <a:t>，</a:t>
            </a:r>
            <a:r>
              <a:rPr sz="2400" b="1" spc="-395" dirty="0">
                <a:latin typeface="Microsoft JhengHei"/>
                <a:cs typeface="Microsoft JhengHei"/>
              </a:rPr>
              <a:t> </a:t>
            </a:r>
            <a:r>
              <a:rPr sz="2400" b="1" spc="195" dirty="0">
                <a:latin typeface="Microsoft JhengHei"/>
                <a:cs typeface="Microsoft JhengHei"/>
              </a:rPr>
              <a:t>从</a:t>
            </a:r>
            <a:r>
              <a:rPr sz="2400" b="1" spc="-50" dirty="0">
                <a:latin typeface="Microsoft JhengHei"/>
                <a:cs typeface="Microsoft JhengHei"/>
              </a:rPr>
              <a:t>而</a:t>
            </a:r>
            <a:r>
              <a:rPr sz="2400" b="1" spc="195" dirty="0">
                <a:latin typeface="Microsoft JhengHei"/>
                <a:cs typeface="Microsoft JhengHei"/>
              </a:rPr>
              <a:t>减</a:t>
            </a:r>
            <a:r>
              <a:rPr sz="2400" b="1" spc="210" dirty="0">
                <a:latin typeface="Microsoft JhengHei"/>
                <a:cs typeface="Microsoft JhengHei"/>
              </a:rPr>
              <a:t>少</a:t>
            </a:r>
            <a:r>
              <a:rPr sz="2400" b="1" spc="200" dirty="0">
                <a:latin typeface="Microsoft JhengHei"/>
                <a:cs typeface="Microsoft JhengHei"/>
              </a:rPr>
              <a:t>血</a:t>
            </a:r>
            <a:r>
              <a:rPr sz="2400" b="1" spc="204" dirty="0">
                <a:latin typeface="Microsoft JhengHei"/>
                <a:cs typeface="Microsoft JhengHei"/>
              </a:rPr>
              <a:t>流</a:t>
            </a:r>
            <a:r>
              <a:rPr sz="2400" b="1" spc="195" dirty="0">
                <a:latin typeface="Microsoft JhengHei"/>
                <a:cs typeface="Microsoft JhengHei"/>
              </a:rPr>
              <a:t>和</a:t>
            </a:r>
            <a:r>
              <a:rPr sz="2400" b="1" spc="200" dirty="0">
                <a:latin typeface="Microsoft JhengHei"/>
                <a:cs typeface="Microsoft JhengHei"/>
              </a:rPr>
              <a:t>热</a:t>
            </a:r>
            <a:r>
              <a:rPr sz="2400" b="1" spc="210" dirty="0">
                <a:latin typeface="Microsoft JhengHei"/>
                <a:cs typeface="Microsoft JhengHei"/>
              </a:rPr>
              <a:t>丢</a:t>
            </a:r>
            <a:r>
              <a:rPr sz="2400" b="1" spc="-50" dirty="0">
                <a:latin typeface="Microsoft JhengHei"/>
                <a:cs typeface="Microsoft JhengHei"/>
              </a:rPr>
              <a:t>失</a:t>
            </a:r>
            <a:endParaRPr sz="2400" dirty="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600" b="1" spc="125" dirty="0">
                <a:latin typeface="Microsoft JhengHei"/>
                <a:cs typeface="Microsoft JhengHei"/>
              </a:rPr>
              <a:t>（</a:t>
            </a:r>
            <a:r>
              <a:rPr sz="1600" b="1" spc="70" dirty="0">
                <a:latin typeface="Microsoft JhengHei"/>
                <a:cs typeface="Microsoft JhengHei"/>
              </a:rPr>
              <a:t>引自 </a:t>
            </a:r>
            <a:r>
              <a:rPr sz="1600" b="1" dirty="0">
                <a:latin typeface="Times New Roman"/>
                <a:cs typeface="Times New Roman"/>
              </a:rPr>
              <a:t>Ricklefs</a:t>
            </a:r>
            <a:r>
              <a:rPr sz="1600" b="1" spc="-30" dirty="0">
                <a:latin typeface="Times New Roman"/>
                <a:cs typeface="Times New Roman"/>
              </a:rPr>
              <a:t> </a:t>
            </a:r>
            <a:r>
              <a:rPr sz="1600" b="1" i="1" dirty="0">
                <a:latin typeface="Times New Roman"/>
                <a:cs typeface="Times New Roman"/>
              </a:rPr>
              <a:t>et</a:t>
            </a:r>
            <a:r>
              <a:rPr sz="1600" b="1" i="1" spc="-25" dirty="0">
                <a:latin typeface="Times New Roman"/>
                <a:cs typeface="Times New Roman"/>
              </a:rPr>
              <a:t> </a:t>
            </a:r>
            <a:r>
              <a:rPr sz="1600" b="1" i="1" dirty="0">
                <a:latin typeface="Times New Roman"/>
                <a:cs typeface="Times New Roman"/>
              </a:rPr>
              <a:t>al.</a:t>
            </a:r>
            <a:r>
              <a:rPr sz="1600" b="1" spc="-20" dirty="0">
                <a:latin typeface="Times New Roman"/>
                <a:cs typeface="Times New Roman"/>
              </a:rPr>
              <a:t>, </a:t>
            </a:r>
            <a:r>
              <a:rPr sz="1600" b="1" dirty="0">
                <a:latin typeface="Times New Roman"/>
                <a:cs typeface="Times New Roman"/>
              </a:rPr>
              <a:t>2000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50" dirty="0">
                <a:latin typeface="Microsoft JhengHei"/>
                <a:cs typeface="Microsoft JhengHei"/>
              </a:rPr>
              <a:t>）</a:t>
            </a:r>
            <a:endParaRPr sz="1600" dirty="0">
              <a:latin typeface="Microsoft JhengHei"/>
              <a:cs typeface="Microsoft JhengHe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77900" y="582929"/>
            <a:ext cx="6550659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Times New Roman"/>
                <a:cs typeface="Times New Roman"/>
              </a:rPr>
              <a:t>B </a:t>
            </a:r>
            <a:r>
              <a:rPr sz="2800" spc="195" dirty="0"/>
              <a:t>逆流热交换机制：肢体中动静脉血管的几何排列，增加了逆流热交换。动物</a:t>
            </a:r>
            <a:r>
              <a:rPr sz="2800" spc="185" dirty="0"/>
              <a:t>体温呈现空间异温性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97170" y="1517650"/>
            <a:ext cx="327406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52145" algn="l"/>
                <a:tab pos="2446655" algn="l"/>
              </a:tabLst>
            </a:pPr>
            <a:r>
              <a:rPr sz="3200" b="1" spc="-25" dirty="0">
                <a:latin typeface="Times New Roman"/>
                <a:cs typeface="Times New Roman"/>
              </a:rPr>
              <a:t>C</a:t>
            </a:r>
            <a:r>
              <a:rPr sz="3200" b="1" dirty="0">
                <a:latin typeface="Times New Roman"/>
                <a:cs typeface="Times New Roman"/>
              </a:rPr>
              <a:t>	</a:t>
            </a:r>
            <a:r>
              <a:rPr sz="3200" b="1" spc="254" dirty="0">
                <a:latin typeface="Microsoft JhengHei"/>
                <a:cs typeface="Microsoft JhengHei"/>
              </a:rPr>
              <a:t>局</a:t>
            </a:r>
            <a:r>
              <a:rPr sz="3200" b="1" spc="270" dirty="0">
                <a:latin typeface="Microsoft JhengHei"/>
                <a:cs typeface="Microsoft JhengHei"/>
              </a:rPr>
              <a:t>部</a:t>
            </a:r>
            <a:r>
              <a:rPr sz="3200" b="1" spc="265" dirty="0">
                <a:latin typeface="Microsoft JhengHei"/>
                <a:cs typeface="Microsoft JhengHei"/>
              </a:rPr>
              <a:t>异温</a:t>
            </a:r>
            <a:r>
              <a:rPr sz="3200" b="1" spc="275" dirty="0">
                <a:latin typeface="Microsoft JhengHei"/>
                <a:cs typeface="Microsoft JhengHei"/>
              </a:rPr>
              <a:t>性</a:t>
            </a:r>
            <a:r>
              <a:rPr sz="3200" dirty="0">
                <a:latin typeface="SimSun"/>
                <a:cs typeface="SimSun"/>
              </a:rPr>
              <a:t>：肢体</a:t>
            </a:r>
            <a:r>
              <a:rPr sz="3200" spc="10" dirty="0">
                <a:latin typeface="SimSun"/>
                <a:cs typeface="SimSun"/>
              </a:rPr>
              <a:t>末</a:t>
            </a:r>
            <a:r>
              <a:rPr sz="3200" dirty="0">
                <a:latin typeface="SimSun"/>
                <a:cs typeface="SimSun"/>
              </a:rPr>
              <a:t>端</a:t>
            </a:r>
            <a:r>
              <a:rPr sz="3200" spc="5" dirty="0">
                <a:latin typeface="SimSun"/>
                <a:cs typeface="SimSun"/>
              </a:rPr>
              <a:t>温</a:t>
            </a:r>
            <a:r>
              <a:rPr sz="3200" dirty="0">
                <a:latin typeface="SimSun"/>
                <a:cs typeface="SimSun"/>
              </a:rPr>
              <a:t>度比核心</a:t>
            </a:r>
            <a:r>
              <a:rPr sz="3200" spc="5" dirty="0">
                <a:latin typeface="SimSun"/>
                <a:cs typeface="SimSun"/>
              </a:rPr>
              <a:t>温</a:t>
            </a:r>
            <a:r>
              <a:rPr sz="3200" dirty="0">
                <a:latin typeface="SimSun"/>
                <a:cs typeface="SimSun"/>
              </a:rPr>
              <a:t>度</a:t>
            </a:r>
            <a:r>
              <a:rPr sz="3200" spc="5" dirty="0">
                <a:latin typeface="SimSun"/>
                <a:cs typeface="SimSun"/>
              </a:rPr>
              <a:t>低</a:t>
            </a:r>
            <a:r>
              <a:rPr sz="3200" dirty="0">
                <a:latin typeface="SimSun"/>
                <a:cs typeface="SimSun"/>
              </a:rPr>
              <a:t>，减少了</a:t>
            </a:r>
            <a:r>
              <a:rPr sz="3200" spc="5" dirty="0">
                <a:latin typeface="SimSun"/>
                <a:cs typeface="SimSun"/>
              </a:rPr>
              <a:t>体</a:t>
            </a:r>
            <a:r>
              <a:rPr sz="3200" dirty="0">
                <a:latin typeface="SimSun"/>
                <a:cs typeface="SimSun"/>
              </a:rPr>
              <a:t>表热	</a:t>
            </a:r>
            <a:r>
              <a:rPr sz="3200" spc="10" dirty="0">
                <a:latin typeface="SimSun"/>
                <a:cs typeface="SimSun"/>
              </a:rPr>
              <a:t>散</a:t>
            </a:r>
            <a:r>
              <a:rPr sz="3200" dirty="0">
                <a:latin typeface="SimSun"/>
                <a:cs typeface="SimSun"/>
              </a:rPr>
              <a:t>失</a:t>
            </a:r>
            <a:endParaRPr sz="32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</a:pPr>
            <a:r>
              <a:rPr sz="3200" spc="-50" dirty="0">
                <a:latin typeface="SimSun"/>
                <a:cs typeface="SimSun"/>
              </a:rPr>
              <a:t>。</a:t>
            </a:r>
            <a:endParaRPr sz="3200">
              <a:latin typeface="SimSun"/>
              <a:cs typeface="SimSu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70" y="191145"/>
            <a:ext cx="4597400" cy="644414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1725" y="185557"/>
            <a:ext cx="4627364" cy="41469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1479" y="224815"/>
            <a:ext cx="331660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2620" algn="l"/>
              </a:tabLst>
            </a:pPr>
            <a:r>
              <a:rPr sz="2800" spc="-50" dirty="0">
                <a:latin typeface="Times New Roman"/>
                <a:cs typeface="Times New Roman"/>
              </a:rPr>
              <a:t>D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175" dirty="0"/>
              <a:t>热中性区：适应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7397" y="651281"/>
            <a:ext cx="3068955" cy="2158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spc="180" dirty="0">
                <a:latin typeface="Microsoft JhengHei"/>
                <a:cs typeface="Microsoft JhengHei"/>
              </a:rPr>
              <a:t>低温的内温动物热中性区宽，下临界点温度低、下临界点温度以下曲线斜</a:t>
            </a:r>
            <a:r>
              <a:rPr sz="2800" b="1" spc="215" dirty="0">
                <a:latin typeface="Microsoft JhengHei"/>
                <a:cs typeface="Microsoft JhengHei"/>
              </a:rPr>
              <a:t>率小</a:t>
            </a:r>
            <a:r>
              <a:rPr sz="2800" b="1" spc="225" dirty="0">
                <a:latin typeface="Microsoft JhengHei"/>
                <a:cs typeface="Microsoft JhengHei"/>
              </a:rPr>
              <a:t>（</a:t>
            </a:r>
            <a:r>
              <a:rPr sz="2800" b="1" spc="215" dirty="0">
                <a:latin typeface="Microsoft JhengHei"/>
                <a:cs typeface="Microsoft JhengHei"/>
              </a:rPr>
              <a:t>增加产热</a:t>
            </a:r>
            <a:r>
              <a:rPr sz="2800" b="1" spc="-50" dirty="0">
                <a:latin typeface="Microsoft JhengHei"/>
                <a:cs typeface="Microsoft JhengHei"/>
              </a:rPr>
              <a:t>）</a:t>
            </a:r>
            <a:endParaRPr sz="2800">
              <a:latin typeface="Microsoft JhengHei"/>
              <a:cs typeface="Microsoft Jheng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7369" y="3190748"/>
            <a:ext cx="355600" cy="49022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r>
              <a:rPr sz="2800" b="1" spc="-50" dirty="0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630" y="2971800"/>
            <a:ext cx="3053195" cy="379367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216213" y="4313961"/>
            <a:ext cx="4634230" cy="232854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680085" indent="4445">
              <a:lnSpc>
                <a:spcPct val="77500"/>
              </a:lnSpc>
              <a:spcBef>
                <a:spcPts val="745"/>
              </a:spcBef>
            </a:pPr>
            <a:r>
              <a:rPr sz="2400" b="1" spc="195" dirty="0">
                <a:latin typeface="Microsoft JhengHei"/>
                <a:cs typeface="Microsoft JhengHei"/>
              </a:rPr>
              <a:t>热中性区</a:t>
            </a:r>
            <a:r>
              <a:rPr sz="2400" b="1" dirty="0">
                <a:latin typeface="Microsoft JhengHei"/>
                <a:cs typeface="Microsoft JhengHei"/>
              </a:rPr>
              <a:t>（</a:t>
            </a:r>
            <a:r>
              <a:rPr sz="2400" b="1" spc="100" dirty="0">
                <a:latin typeface="Microsoft JhengHei"/>
                <a:cs typeface="Microsoft JhengHei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Thermal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Neutral Zone):</a:t>
            </a:r>
            <a:endParaRPr sz="2400">
              <a:latin typeface="Times New Roman"/>
              <a:cs typeface="Times New Roman"/>
            </a:endParaRPr>
          </a:p>
          <a:p>
            <a:pPr marL="17145" marR="5080" algn="just">
              <a:lnSpc>
                <a:spcPct val="100000"/>
              </a:lnSpc>
              <a:spcBef>
                <a:spcPts val="1500"/>
              </a:spcBef>
            </a:pPr>
            <a:r>
              <a:rPr sz="2400" b="1" spc="125" dirty="0">
                <a:latin typeface="Microsoft JhengHei"/>
                <a:cs typeface="Microsoft JhengHei"/>
              </a:rPr>
              <a:t>在某一环境温度范围内， 动物代</a:t>
            </a:r>
            <a:r>
              <a:rPr sz="2400" b="1" spc="114" dirty="0">
                <a:latin typeface="Microsoft JhengHei"/>
                <a:cs typeface="Microsoft JhengHei"/>
              </a:rPr>
              <a:t>谢率最低， 耗氧量不随环境温度而改变， 这个最低代谢区的环境</a:t>
            </a:r>
            <a:r>
              <a:rPr sz="2400" b="1" spc="170" dirty="0">
                <a:latin typeface="Microsoft JhengHei"/>
                <a:cs typeface="Microsoft JhengHei"/>
              </a:rPr>
              <a:t>温度称热中性区。</a:t>
            </a:r>
            <a:endParaRPr sz="24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4830" y="367029"/>
            <a:ext cx="44259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3234" algn="l"/>
              </a:tabLst>
            </a:pPr>
            <a:r>
              <a:rPr spc="-50" dirty="0">
                <a:latin typeface="Times New Roman"/>
                <a:cs typeface="Times New Roman"/>
              </a:rPr>
              <a:t>E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120" dirty="0"/>
              <a:t>适应性低体温， 冬眠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100" y="3318509"/>
            <a:ext cx="600456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739775" algn="l"/>
              </a:tabLst>
            </a:pPr>
            <a:r>
              <a:rPr sz="3200" b="1" spc="-25" dirty="0">
                <a:latin typeface="Times New Roman"/>
                <a:cs typeface="Times New Roman"/>
              </a:rPr>
              <a:t>(5)</a:t>
            </a:r>
            <a:r>
              <a:rPr sz="3200" b="1" dirty="0">
                <a:latin typeface="Times New Roman"/>
                <a:cs typeface="Times New Roman"/>
              </a:rPr>
              <a:t>	</a:t>
            </a:r>
            <a:r>
              <a:rPr sz="3200" b="1" spc="140" dirty="0">
                <a:latin typeface="Microsoft JhengHei"/>
                <a:cs typeface="Microsoft JhengHei"/>
              </a:rPr>
              <a:t>动物的行为适应： 迁徙、集</a:t>
            </a:r>
            <a:r>
              <a:rPr sz="3200" b="1" spc="185" dirty="0">
                <a:latin typeface="Microsoft JhengHei"/>
                <a:cs typeface="Microsoft JhengHei"/>
              </a:rPr>
              <a:t>群、穴居</a:t>
            </a:r>
            <a:endParaRPr sz="3200">
              <a:latin typeface="Microsoft JhengHei"/>
              <a:cs typeface="Microsoft JhengHe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7900" y="4025900"/>
            <a:ext cx="3671570" cy="2832100"/>
          </a:xfrm>
          <a:prstGeom prst="rect">
            <a:avLst/>
          </a:prstGeom>
        </p:spPr>
      </p:pic>
      <p:pic>
        <p:nvPicPr>
          <p:cNvPr id="5" name="object 5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8569" y="1125219"/>
            <a:ext cx="2807970" cy="2106929"/>
          </a:xfrm>
          <a:prstGeom prst="rect">
            <a:avLst/>
          </a:prstGeom>
        </p:spPr>
      </p:pic>
      <p:pic>
        <p:nvPicPr>
          <p:cNvPr id="6" name="object 6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09259" y="764540"/>
            <a:ext cx="2807969" cy="212216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970" y="4005579"/>
            <a:ext cx="3816350" cy="256667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2440" y="207010"/>
            <a:ext cx="6388100" cy="117602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93495">
              <a:lnSpc>
                <a:spcPct val="100000"/>
              </a:lnSpc>
              <a:spcBef>
                <a:spcPts val="790"/>
              </a:spcBef>
              <a:tabLst>
                <a:tab pos="2883535" algn="l"/>
              </a:tabLst>
            </a:pPr>
            <a:r>
              <a:rPr spc="254" dirty="0"/>
              <a:t>（</a:t>
            </a:r>
            <a:r>
              <a:rPr spc="265" dirty="0"/>
              <a:t>三</a:t>
            </a:r>
            <a:r>
              <a:rPr spc="-50" dirty="0"/>
              <a:t>）</a:t>
            </a:r>
            <a:r>
              <a:rPr dirty="0"/>
              <a:t>	</a:t>
            </a:r>
            <a:r>
              <a:rPr spc="254" dirty="0"/>
              <a:t>生</a:t>
            </a:r>
            <a:r>
              <a:rPr spc="265" dirty="0"/>
              <a:t>物对高温</a:t>
            </a:r>
            <a:r>
              <a:rPr spc="300" dirty="0"/>
              <a:t>的</a:t>
            </a:r>
            <a:r>
              <a:rPr spc="270" dirty="0"/>
              <a:t>适</a:t>
            </a:r>
            <a:r>
              <a:rPr spc="-50" dirty="0"/>
              <a:t>应</a:t>
            </a:r>
          </a:p>
          <a:p>
            <a:pPr marL="12700">
              <a:lnSpc>
                <a:spcPct val="100000"/>
              </a:lnSpc>
              <a:spcBef>
                <a:spcPts val="690"/>
              </a:spcBef>
              <a:tabLst>
                <a:tab pos="414655" algn="l"/>
              </a:tabLst>
            </a:pPr>
            <a:r>
              <a:rPr spc="-50" dirty="0">
                <a:latin typeface="Times New Roman"/>
                <a:cs typeface="Times New Roman"/>
              </a:rPr>
              <a:t>1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215" dirty="0"/>
              <a:t>植物的高温适应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440" y="1357629"/>
            <a:ext cx="8061959" cy="554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Microsoft JhengHei"/>
                <a:cs typeface="Microsoft JhengHei"/>
              </a:rPr>
              <a:t>（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220" dirty="0">
                <a:latin typeface="Microsoft JhengHei"/>
                <a:cs typeface="Microsoft JhengHei"/>
              </a:rPr>
              <a:t>）</a:t>
            </a:r>
            <a:r>
              <a:rPr sz="2800" b="1" spc="200" dirty="0">
                <a:latin typeface="Microsoft JhengHei"/>
                <a:cs typeface="Microsoft JhengHei"/>
              </a:rPr>
              <a:t>植物的形态适应：生有密绒毛和鳞片；体色呈白、银白，叶片发光；叶片垂直主轴排列，使叶缘向光；在高温条件下叶片对折；树干和根茎生有厚的木栓层，具绝热和保护作用。</a:t>
            </a:r>
            <a:endParaRPr sz="2800">
              <a:latin typeface="Microsoft JhengHei"/>
              <a:cs typeface="Microsoft JhengHei"/>
            </a:endParaRPr>
          </a:p>
          <a:p>
            <a:pPr marL="4405630">
              <a:lnSpc>
                <a:spcPct val="100000"/>
              </a:lnSpc>
              <a:spcBef>
                <a:spcPts val="3140"/>
              </a:spcBef>
            </a:pPr>
            <a:r>
              <a:rPr sz="2800" b="1" dirty="0">
                <a:latin typeface="Microsoft JhengHei"/>
                <a:cs typeface="Microsoft JhengHei"/>
              </a:rPr>
              <a:t>（</a:t>
            </a:r>
            <a:r>
              <a:rPr sz="2800" b="1" spc="190" dirty="0">
                <a:latin typeface="Microsoft JhengHei"/>
                <a:cs typeface="Microsoft JhengHei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220" dirty="0">
                <a:latin typeface="Microsoft JhengHei"/>
                <a:cs typeface="Microsoft JhengHei"/>
              </a:rPr>
              <a:t>）</a:t>
            </a:r>
            <a:r>
              <a:rPr sz="2800" b="1" spc="170" dirty="0">
                <a:latin typeface="Microsoft JhengHei"/>
                <a:cs typeface="Microsoft JhengHei"/>
              </a:rPr>
              <a:t>植物的生理适</a:t>
            </a:r>
            <a:endParaRPr sz="2800">
              <a:latin typeface="Microsoft JhengHei"/>
              <a:cs typeface="Microsoft JhengHei"/>
            </a:endParaRPr>
          </a:p>
          <a:p>
            <a:pPr marL="4405630">
              <a:lnSpc>
                <a:spcPts val="3354"/>
              </a:lnSpc>
            </a:pPr>
            <a:r>
              <a:rPr sz="2800" b="1" spc="185" dirty="0">
                <a:latin typeface="Microsoft JhengHei"/>
                <a:cs typeface="Microsoft JhengHei"/>
              </a:rPr>
              <a:t>应：降低细胞含水量</a:t>
            </a:r>
            <a:endParaRPr sz="2800">
              <a:latin typeface="Microsoft JhengHei"/>
              <a:cs typeface="Microsoft JhengHei"/>
            </a:endParaRPr>
          </a:p>
          <a:p>
            <a:pPr marL="4405630">
              <a:lnSpc>
                <a:spcPts val="3354"/>
              </a:lnSpc>
            </a:pPr>
            <a:r>
              <a:rPr sz="2800" b="1" spc="190" dirty="0">
                <a:latin typeface="Microsoft JhengHei"/>
                <a:cs typeface="Microsoft JhengHei"/>
              </a:rPr>
              <a:t>，增加糖或盐的浓度</a:t>
            </a:r>
            <a:endParaRPr sz="2800">
              <a:latin typeface="Microsoft JhengHei"/>
              <a:cs typeface="Microsoft JhengHei"/>
            </a:endParaRPr>
          </a:p>
          <a:p>
            <a:pPr marL="4405630" marR="220979" algn="just">
              <a:lnSpc>
                <a:spcPct val="100000"/>
              </a:lnSpc>
            </a:pPr>
            <a:r>
              <a:rPr sz="2800" b="1" spc="185" dirty="0">
                <a:latin typeface="Microsoft JhengHei"/>
                <a:cs typeface="Microsoft JhengHei"/>
              </a:rPr>
              <a:t>，这有利于减慢代谢率，增加原生质的抗凝结能力；靠旺盛的蒸腾作用避免植物体</a:t>
            </a:r>
            <a:r>
              <a:rPr sz="2800" b="1" spc="130" dirty="0">
                <a:latin typeface="Microsoft JhengHei"/>
                <a:cs typeface="Microsoft JhengHei"/>
              </a:rPr>
              <a:t>过热。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2440" y="222250"/>
            <a:ext cx="34213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3855" algn="l"/>
              </a:tabLst>
            </a:pPr>
            <a:r>
              <a:rPr sz="2800" spc="-50" dirty="0">
                <a:latin typeface="Times New Roman"/>
                <a:cs typeface="Times New Roman"/>
              </a:rPr>
              <a:t>2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180" dirty="0"/>
              <a:t>动物的高温适应：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2440" y="648969"/>
            <a:ext cx="7731759" cy="3059430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sz="2800" b="1" dirty="0">
                <a:latin typeface="Microsoft JhengHei"/>
                <a:cs typeface="Microsoft JhengHei"/>
              </a:rPr>
              <a:t>（</a:t>
            </a:r>
            <a:r>
              <a:rPr sz="2800" b="1" spc="190" dirty="0">
                <a:latin typeface="Microsoft JhengHei"/>
                <a:cs typeface="Microsoft JhengHei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215" dirty="0">
                <a:latin typeface="Microsoft JhengHei"/>
                <a:cs typeface="Microsoft JhengHei"/>
              </a:rPr>
              <a:t>）</a:t>
            </a:r>
            <a:r>
              <a:rPr sz="2800" b="1" spc="150" dirty="0">
                <a:latin typeface="Microsoft JhengHei"/>
                <a:cs typeface="Microsoft JhengHei"/>
              </a:rPr>
              <a:t>形态适应</a:t>
            </a:r>
            <a:endParaRPr sz="2800">
              <a:latin typeface="Microsoft JhengHei"/>
              <a:cs typeface="Microsoft JhengHei"/>
            </a:endParaRPr>
          </a:p>
          <a:p>
            <a:pPr marL="469900" marR="5080" indent="228600">
              <a:lnSpc>
                <a:spcPct val="100000"/>
              </a:lnSpc>
              <a:spcBef>
                <a:spcPts val="1500"/>
              </a:spcBef>
            </a:pPr>
            <a:r>
              <a:rPr sz="2400" b="1" spc="125" dirty="0">
                <a:latin typeface="Microsoft JhengHei"/>
                <a:cs typeface="Microsoft JhengHei"/>
              </a:rPr>
              <a:t>皮毛在高温下起隔热作用； 夏季毛色变浅，具光</a:t>
            </a:r>
            <a:r>
              <a:rPr sz="2400" b="1" spc="90" dirty="0">
                <a:latin typeface="Microsoft JhengHei"/>
                <a:cs typeface="Microsoft JhengHei"/>
              </a:rPr>
              <a:t>泽； 有些可利用热窗散热； 多数哺乳动物的精巢持</a:t>
            </a:r>
            <a:r>
              <a:rPr sz="2400" b="1" spc="180" dirty="0">
                <a:latin typeface="Microsoft JhengHei"/>
                <a:cs typeface="Microsoft JhengHei"/>
              </a:rPr>
              <a:t>久的或季节性的下降到腹腔外，比体核温低几度。有蹄动物的颈动脉在脑下部形成复杂的小动脉网，包围在从较冷的鼻区过来的静脉血管外面，通过逆流热交换而降温，使脑血液温度比总动脉血低 </a:t>
            </a:r>
            <a:r>
              <a:rPr sz="2400" b="1" spc="-25" dirty="0">
                <a:latin typeface="Times New Roman"/>
                <a:cs typeface="Times New Roman"/>
              </a:rPr>
              <a:t>3℃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3751300"/>
            <a:ext cx="3886200" cy="28003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750" y="4005579"/>
            <a:ext cx="3352800" cy="25349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2270" y="567690"/>
            <a:ext cx="642366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（ </a:t>
            </a:r>
            <a:r>
              <a:rPr sz="2800" dirty="0">
                <a:latin typeface="Times New Roman"/>
                <a:cs typeface="Times New Roman"/>
              </a:rPr>
              <a:t>2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225" dirty="0"/>
              <a:t>）</a:t>
            </a:r>
            <a:r>
              <a:rPr sz="2800" spc="195" dirty="0"/>
              <a:t>生理适应：放松恒温性，使体温</a:t>
            </a:r>
            <a:r>
              <a:rPr sz="2800" spc="185" dirty="0"/>
              <a:t>有较大幅度的波动。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270" y="2929890"/>
            <a:ext cx="2301240" cy="2379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99900"/>
              </a:lnSpc>
              <a:spcBef>
                <a:spcPts val="100"/>
              </a:spcBef>
            </a:pPr>
            <a:r>
              <a:rPr sz="2800" b="1" dirty="0">
                <a:latin typeface="Microsoft JhengHei"/>
                <a:cs typeface="Microsoft JhengHei"/>
              </a:rPr>
              <a:t>（ </a:t>
            </a:r>
            <a:r>
              <a:rPr sz="2800" b="1" dirty="0">
                <a:latin typeface="Times New Roman"/>
                <a:cs typeface="Times New Roman"/>
              </a:rPr>
              <a:t>5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215" dirty="0">
                <a:latin typeface="Microsoft JhengHei"/>
                <a:cs typeface="Microsoft JhengHei"/>
              </a:rPr>
              <a:t>）</a:t>
            </a:r>
            <a:r>
              <a:rPr sz="2800" b="1" spc="130" dirty="0">
                <a:latin typeface="Microsoft JhengHei"/>
                <a:cs typeface="Microsoft JhengHei"/>
              </a:rPr>
              <a:t>行为适</a:t>
            </a:r>
            <a:r>
              <a:rPr sz="2800" b="1" spc="170" dirty="0">
                <a:latin typeface="Microsoft JhengHei"/>
                <a:cs typeface="Microsoft JhengHei"/>
              </a:rPr>
              <a:t>应：穴居；昼</a:t>
            </a:r>
            <a:r>
              <a:rPr sz="2800" b="1" spc="150" dirty="0">
                <a:latin typeface="Microsoft JhengHei"/>
                <a:cs typeface="Microsoft JhengHei"/>
              </a:rPr>
              <a:t>伏夜出；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sz="2800" b="1" spc="175" dirty="0">
                <a:latin typeface="Microsoft JhengHei"/>
                <a:cs typeface="Microsoft JhengHei"/>
              </a:rPr>
              <a:t>夏眠或夏季滞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sz="2800" b="1" spc="-50" dirty="0">
                <a:latin typeface="Microsoft JhengHei"/>
                <a:cs typeface="Microsoft JhengHei"/>
              </a:rPr>
              <a:t>育</a:t>
            </a:r>
            <a:endParaRPr sz="2800">
              <a:latin typeface="Microsoft JhengHei"/>
              <a:cs typeface="Microsoft JhengHe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3120" y="1125219"/>
            <a:ext cx="4191000" cy="28295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4200" y="4024629"/>
            <a:ext cx="2482850" cy="283337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097270" y="5063490"/>
            <a:ext cx="19164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165" dirty="0">
                <a:latin typeface="Microsoft JhengHei"/>
                <a:cs typeface="Microsoft JhengHei"/>
              </a:rPr>
              <a:t>夏眠的肺鱼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7069" y="643890"/>
            <a:ext cx="62928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66850" algn="l"/>
              </a:tabLst>
            </a:pPr>
            <a:r>
              <a:rPr spc="254" dirty="0"/>
              <a:t>（</a:t>
            </a:r>
            <a:r>
              <a:rPr spc="265" dirty="0"/>
              <a:t>四</a:t>
            </a:r>
            <a:r>
              <a:rPr spc="-50" dirty="0"/>
              <a:t>）</a:t>
            </a:r>
            <a:r>
              <a:rPr dirty="0"/>
              <a:t>	</a:t>
            </a:r>
            <a:r>
              <a:rPr spc="265" dirty="0"/>
              <a:t>生物</a:t>
            </a:r>
            <a:r>
              <a:rPr spc="285" dirty="0"/>
              <a:t>对</a:t>
            </a:r>
            <a:r>
              <a:rPr spc="270" dirty="0"/>
              <a:t>周期</a:t>
            </a:r>
            <a:r>
              <a:rPr spc="265" dirty="0"/>
              <a:t>性变温</a:t>
            </a:r>
            <a:r>
              <a:rPr spc="270" dirty="0"/>
              <a:t>的适</a:t>
            </a:r>
            <a:r>
              <a:rPr spc="-50" dirty="0"/>
              <a:t>应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7069" y="2094229"/>
            <a:ext cx="7741920" cy="3455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0375" indent="-447675">
              <a:lnSpc>
                <a:spcPct val="100000"/>
              </a:lnSpc>
              <a:spcBef>
                <a:spcPts val="100"/>
              </a:spcBef>
              <a:buSzPct val="85714"/>
              <a:buFont typeface="Times New Roman"/>
              <a:buAutoNum type="arabicPlain"/>
              <a:tabLst>
                <a:tab pos="460375" algn="l"/>
              </a:tabLst>
            </a:pPr>
            <a:r>
              <a:rPr sz="2800" b="1" spc="200" dirty="0">
                <a:latin typeface="Microsoft JhengHei"/>
                <a:cs typeface="Microsoft JhengHei"/>
              </a:rPr>
              <a:t>许多生物在昼夜变温环境中比在恒温环境中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</a:pPr>
            <a:r>
              <a:rPr sz="2800" b="1" spc="185" dirty="0">
                <a:latin typeface="Microsoft JhengHei"/>
                <a:cs typeface="Microsoft JhengHei"/>
              </a:rPr>
              <a:t>发育更好。如黑蝗</a:t>
            </a:r>
            <a:endParaRPr sz="2800">
              <a:latin typeface="Microsoft JhengHei"/>
              <a:cs typeface="Microsoft JhengHei"/>
            </a:endParaRPr>
          </a:p>
          <a:p>
            <a:pPr marL="12700" marR="5080" indent="448309" algn="just">
              <a:lnSpc>
                <a:spcPct val="100000"/>
              </a:lnSpc>
              <a:spcBef>
                <a:spcPts val="1750"/>
              </a:spcBef>
              <a:buFont typeface="Times New Roman"/>
              <a:buAutoNum type="arabicPlain" startAt="2"/>
              <a:tabLst>
                <a:tab pos="461009" algn="l"/>
              </a:tabLst>
            </a:pPr>
            <a:r>
              <a:rPr sz="2800" b="1" spc="200" dirty="0">
                <a:latin typeface="Microsoft JhengHei"/>
                <a:cs typeface="Microsoft JhengHei"/>
              </a:rPr>
              <a:t>大多数植物种子，在昼夜变温中萌发率高，有些需光萌发的种子，经变温处理后，在暗处</a:t>
            </a:r>
            <a:r>
              <a:rPr sz="2800" b="1" spc="160" dirty="0">
                <a:latin typeface="Microsoft JhengHei"/>
                <a:cs typeface="Microsoft JhengHei"/>
              </a:rPr>
              <a:t>也能萌发。</a:t>
            </a:r>
            <a:endParaRPr sz="2800">
              <a:latin typeface="Microsoft JhengHei"/>
              <a:cs typeface="Microsoft JhengHei"/>
            </a:endParaRPr>
          </a:p>
          <a:p>
            <a:pPr marL="460375" indent="-447675">
              <a:lnSpc>
                <a:spcPts val="3354"/>
              </a:lnSpc>
              <a:spcBef>
                <a:spcPts val="1750"/>
              </a:spcBef>
              <a:buFont typeface="Times New Roman"/>
              <a:buAutoNum type="arabicPlain" startAt="2"/>
              <a:tabLst>
                <a:tab pos="460375" algn="l"/>
              </a:tabLst>
            </a:pPr>
            <a:r>
              <a:rPr sz="2800" b="1" spc="200" dirty="0">
                <a:latin typeface="Microsoft JhengHei"/>
                <a:cs typeface="Microsoft JhengHei"/>
              </a:rPr>
              <a:t>植物在昼夜变温中，生长、开花结实及产品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ts val="3354"/>
              </a:lnSpc>
            </a:pPr>
            <a:r>
              <a:rPr sz="2800" b="1" spc="175" dirty="0">
                <a:latin typeface="Microsoft JhengHei"/>
                <a:cs typeface="Microsoft JhengHei"/>
              </a:rPr>
              <a:t>质量均有提高。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4830" y="228600"/>
            <a:ext cx="39217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9155" algn="l"/>
              </a:tabLst>
            </a:pPr>
            <a:r>
              <a:rPr spc="-50" dirty="0"/>
              <a:t>六</a:t>
            </a:r>
            <a:r>
              <a:rPr dirty="0"/>
              <a:t>	</a:t>
            </a:r>
            <a:r>
              <a:rPr spc="254" dirty="0"/>
              <a:t>温</a:t>
            </a:r>
            <a:r>
              <a:rPr spc="265" dirty="0"/>
              <a:t>度与</a:t>
            </a:r>
            <a:r>
              <a:rPr spc="295" dirty="0"/>
              <a:t>物</a:t>
            </a:r>
            <a:r>
              <a:rPr spc="270" dirty="0"/>
              <a:t>种</a:t>
            </a:r>
            <a:r>
              <a:rPr spc="254" dirty="0"/>
              <a:t>分</a:t>
            </a:r>
            <a:r>
              <a:rPr spc="-50" dirty="0"/>
              <a:t>布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8620" y="838200"/>
            <a:ext cx="8662035" cy="5656677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790"/>
              </a:spcBef>
              <a:tabLst>
                <a:tab pos="600075" algn="l"/>
              </a:tabLst>
            </a:pPr>
            <a:r>
              <a:rPr sz="2800" b="1" spc="-50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	</a:t>
            </a:r>
            <a:r>
              <a:rPr sz="2800" b="1" spc="200" dirty="0" err="1">
                <a:latin typeface="Microsoft JhengHei"/>
                <a:cs typeface="Microsoft JhengHei"/>
              </a:rPr>
              <a:t>对变温动物和植物的分布，有低温限制与高温限</a:t>
            </a:r>
            <a:r>
              <a:rPr lang="en-US" sz="2800" b="1" spc="200" dirty="0" err="1">
                <a:latin typeface="Microsoft JhengHei"/>
                <a:cs typeface="Microsoft JhengHei"/>
              </a:rPr>
              <a:t>制</a:t>
            </a:r>
            <a:endParaRPr lang="en-US" sz="2800" b="1" spc="200" dirty="0">
              <a:latin typeface="Microsoft JhengHei"/>
              <a:cs typeface="Microsoft JhengHei"/>
            </a:endParaRPr>
          </a:p>
          <a:p>
            <a:pPr marL="168275">
              <a:lnSpc>
                <a:spcPct val="100000"/>
              </a:lnSpc>
              <a:spcBef>
                <a:spcPts val="790"/>
              </a:spcBef>
              <a:tabLst>
                <a:tab pos="600075" algn="l"/>
              </a:tabLst>
            </a:pPr>
            <a:r>
              <a:rPr lang="zh-CN" altLang="en-US" sz="2800" b="1" spc="200" dirty="0">
                <a:latin typeface="Microsoft JhengHei"/>
                <a:cs typeface="Microsoft JhengHei"/>
              </a:rPr>
              <a:t>（</a:t>
            </a:r>
            <a:r>
              <a:rPr lang="en-US" altLang="zh-CN" sz="2800" b="1" spc="200" dirty="0">
                <a:latin typeface="Microsoft JhengHei"/>
                <a:cs typeface="Microsoft JhengHei"/>
              </a:rPr>
              <a:t>1</a:t>
            </a:r>
            <a:r>
              <a:rPr lang="zh-CN" altLang="en-US" sz="2800" b="1" spc="200" dirty="0">
                <a:latin typeface="Microsoft JhengHei"/>
                <a:cs typeface="Microsoft JhengHei"/>
              </a:rPr>
              <a:t>）</a:t>
            </a:r>
            <a:r>
              <a:rPr sz="2800" b="1" spc="200" dirty="0" err="1">
                <a:latin typeface="Microsoft JhengHei"/>
                <a:cs typeface="Microsoft JhengHei"/>
              </a:rPr>
              <a:t>低温限制：低温限制生物向高纬度和高海</a:t>
            </a:r>
            <a:r>
              <a:rPr sz="2800" b="1" spc="170" dirty="0" err="1">
                <a:latin typeface="Microsoft JhengHei"/>
                <a:cs typeface="Microsoft JhengHei"/>
              </a:rPr>
              <a:t>拔地区分布</a:t>
            </a:r>
            <a:r>
              <a:rPr sz="2800" b="1" spc="170" dirty="0">
                <a:latin typeface="Microsoft JhengHei"/>
                <a:cs typeface="Microsoft JhengHei"/>
              </a:rPr>
              <a:t>。</a:t>
            </a:r>
            <a:endParaRPr sz="2800" dirty="0">
              <a:latin typeface="Microsoft JhengHei"/>
              <a:cs typeface="Microsoft JhengHei"/>
            </a:endParaRPr>
          </a:p>
          <a:p>
            <a:pPr marL="96520" marR="321945" algn="just">
              <a:lnSpc>
                <a:spcPct val="100000"/>
              </a:lnSpc>
            </a:pPr>
            <a:r>
              <a:rPr sz="2400" spc="-30" dirty="0">
                <a:latin typeface="SimSun"/>
                <a:cs typeface="SimSun"/>
              </a:rPr>
              <a:t>如橡胶、椰子只能生长在热带。玉米分布在气温 </a:t>
            </a:r>
            <a:r>
              <a:rPr sz="2400" spc="-20" dirty="0">
                <a:latin typeface="Times New Roman"/>
                <a:cs typeface="Times New Roman"/>
              </a:rPr>
              <a:t>15</a:t>
            </a:r>
            <a:r>
              <a:rPr sz="2400" spc="-25" dirty="0">
                <a:latin typeface="Times New Roman"/>
                <a:cs typeface="Times New Roman"/>
              </a:rPr>
              <a:t>℃ </a:t>
            </a:r>
            <a:r>
              <a:rPr sz="2400" dirty="0">
                <a:latin typeface="SimSun"/>
                <a:cs typeface="SimSun"/>
              </a:rPr>
              <a:t>以上的</a:t>
            </a:r>
            <a:r>
              <a:rPr sz="2400" spc="-90" dirty="0">
                <a:latin typeface="SimSun"/>
                <a:cs typeface="SimSun"/>
              </a:rPr>
              <a:t>天数必需超过 </a:t>
            </a:r>
            <a:r>
              <a:rPr sz="2400" dirty="0">
                <a:latin typeface="Times New Roman"/>
                <a:cs typeface="Times New Roman"/>
              </a:rPr>
              <a:t>70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SimSun"/>
                <a:cs typeface="SimSun"/>
              </a:rPr>
              <a:t>天的地区。野生茜草分布的北界是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imSun"/>
                <a:cs typeface="SimSun"/>
              </a:rPr>
              <a:t>月等温</a:t>
            </a:r>
            <a:r>
              <a:rPr sz="2400" spc="-210" dirty="0">
                <a:latin typeface="SimSun"/>
                <a:cs typeface="SimSun"/>
              </a:rPr>
              <a:t>线为 </a:t>
            </a:r>
            <a:r>
              <a:rPr sz="2400" spc="-10" dirty="0">
                <a:latin typeface="Times New Roman"/>
                <a:cs typeface="Times New Roman"/>
              </a:rPr>
              <a:t>4.5</a:t>
            </a:r>
            <a:r>
              <a:rPr sz="2400" spc="-15" dirty="0">
                <a:latin typeface="Times New Roman"/>
                <a:cs typeface="Times New Roman"/>
              </a:rPr>
              <a:t>℃ </a:t>
            </a:r>
            <a:r>
              <a:rPr sz="2400" spc="-40" dirty="0">
                <a:latin typeface="SimSun"/>
                <a:cs typeface="SimSun"/>
              </a:rPr>
              <a:t>的地区。东亚飞蝗的北界为等温线 </a:t>
            </a:r>
            <a:r>
              <a:rPr sz="2400" spc="-5" dirty="0">
                <a:latin typeface="Times New Roman"/>
                <a:cs typeface="Times New Roman"/>
              </a:rPr>
              <a:t>13.6</a:t>
            </a:r>
            <a:r>
              <a:rPr sz="2400" spc="-10" dirty="0">
                <a:latin typeface="Times New Roman"/>
                <a:cs typeface="Times New Roman"/>
              </a:rPr>
              <a:t>℃ </a:t>
            </a:r>
            <a:r>
              <a:rPr sz="2400" spc="-5" dirty="0">
                <a:latin typeface="SimSun"/>
                <a:cs typeface="SimSun"/>
              </a:rPr>
              <a:t>的地区。</a:t>
            </a:r>
            <a:endParaRPr sz="2400" dirty="0">
              <a:latin typeface="SimSun"/>
              <a:cs typeface="SimSun"/>
            </a:endParaRPr>
          </a:p>
          <a:p>
            <a:pPr marL="25400" marR="942975">
              <a:lnSpc>
                <a:spcPct val="100000"/>
              </a:lnSpc>
              <a:spcBef>
                <a:spcPts val="2220"/>
              </a:spcBef>
            </a:pPr>
            <a:r>
              <a:rPr sz="2800" b="1" dirty="0">
                <a:latin typeface="Microsoft JhengHei"/>
                <a:cs typeface="Microsoft JhengHei"/>
              </a:rPr>
              <a:t>（</a:t>
            </a:r>
            <a:r>
              <a:rPr sz="2800" b="1" spc="130" dirty="0">
                <a:latin typeface="Microsoft JhengHei"/>
                <a:cs typeface="Microsoft JhengHei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225" dirty="0">
                <a:latin typeface="Microsoft JhengHei"/>
                <a:cs typeface="Microsoft JhengHei"/>
              </a:rPr>
              <a:t>）</a:t>
            </a:r>
            <a:r>
              <a:rPr sz="2800" b="1" spc="220" dirty="0">
                <a:latin typeface="Microsoft JhengHei"/>
                <a:cs typeface="Microsoft JhengHei"/>
              </a:rPr>
              <a:t>高温限制</a:t>
            </a:r>
            <a:r>
              <a:rPr sz="2800" spc="-310" dirty="0">
                <a:latin typeface="SimSun"/>
                <a:cs typeface="SimSun"/>
              </a:rPr>
              <a:t>： </a:t>
            </a:r>
            <a:r>
              <a:rPr sz="2800" b="1" spc="190" dirty="0">
                <a:latin typeface="Microsoft JhengHei"/>
                <a:cs typeface="Microsoft JhengHei"/>
              </a:rPr>
              <a:t>高温限制生物向低纬度和低</a:t>
            </a:r>
            <a:r>
              <a:rPr sz="2800" b="1" spc="175" dirty="0">
                <a:latin typeface="Microsoft JhengHei"/>
                <a:cs typeface="Microsoft JhengHei"/>
              </a:rPr>
              <a:t>海拔地区分布。</a:t>
            </a:r>
            <a:endParaRPr sz="2800" dirty="0">
              <a:latin typeface="Microsoft JhengHei"/>
              <a:cs typeface="Microsoft JhengHei"/>
            </a:endParaRPr>
          </a:p>
          <a:p>
            <a:pPr marL="25400">
              <a:lnSpc>
                <a:spcPct val="100000"/>
              </a:lnSpc>
            </a:pPr>
            <a:r>
              <a:rPr sz="2400" spc="-5" dirty="0">
                <a:latin typeface="SimSun"/>
                <a:cs typeface="SimSun"/>
              </a:rPr>
              <a:t>如春化作用限制苹果，梨、桃在热带地区栽种。在长江流</a:t>
            </a:r>
            <a:endParaRPr sz="2400" dirty="0">
              <a:latin typeface="SimSun"/>
              <a:cs typeface="SimSun"/>
            </a:endParaRPr>
          </a:p>
          <a:p>
            <a:pPr marL="25400">
              <a:lnSpc>
                <a:spcPct val="100000"/>
              </a:lnSpc>
              <a:tabLst>
                <a:tab pos="6209665" algn="l"/>
              </a:tabLst>
            </a:pPr>
            <a:r>
              <a:rPr sz="2400" dirty="0">
                <a:latin typeface="SimSun"/>
                <a:cs typeface="SimSun"/>
              </a:rPr>
              <a:t>域地区，黄山松只能生长在海拔</a:t>
            </a:r>
            <a:r>
              <a:rPr sz="2400" spc="-630" dirty="0">
                <a:latin typeface="SimSun"/>
                <a:cs typeface="SimSu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1000~1200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SimSun"/>
                <a:cs typeface="SimSun"/>
              </a:rPr>
              <a:t>以</a:t>
            </a:r>
            <a:r>
              <a:rPr sz="2400" spc="-10" dirty="0">
                <a:latin typeface="SimSun"/>
                <a:cs typeface="SimSun"/>
              </a:rPr>
              <a:t>上</a:t>
            </a:r>
            <a:r>
              <a:rPr sz="2400" dirty="0">
                <a:latin typeface="SimSun"/>
                <a:cs typeface="SimSun"/>
              </a:rPr>
              <a:t>的高</a:t>
            </a:r>
            <a:r>
              <a:rPr sz="2400" spc="-10" dirty="0">
                <a:latin typeface="SimSun"/>
                <a:cs typeface="SimSun"/>
              </a:rPr>
              <a:t>山</a:t>
            </a:r>
            <a:r>
              <a:rPr sz="2400" spc="-50" dirty="0">
                <a:latin typeface="SimSun"/>
                <a:cs typeface="SimSun"/>
              </a:rPr>
              <a:t>。</a:t>
            </a:r>
            <a:endParaRPr sz="2400" dirty="0">
              <a:latin typeface="SimSun"/>
              <a:cs typeface="SimSun"/>
            </a:endParaRPr>
          </a:p>
          <a:p>
            <a:pPr marL="25400" marR="1002030">
              <a:lnSpc>
                <a:spcPct val="100000"/>
              </a:lnSpc>
            </a:pPr>
            <a:r>
              <a:rPr sz="2400" spc="-65" dirty="0">
                <a:latin typeface="SimSun"/>
                <a:cs typeface="SimSun"/>
              </a:rPr>
              <a:t>菜粉蝶的分布南限是 </a:t>
            </a:r>
            <a:r>
              <a:rPr sz="2400" dirty="0">
                <a:latin typeface="Times New Roman"/>
                <a:cs typeface="Times New Roman"/>
              </a:rPr>
              <a:t>26</a:t>
            </a:r>
            <a:r>
              <a:rPr sz="2400" spc="-65" dirty="0">
                <a:latin typeface="Times New Roman"/>
                <a:cs typeface="Times New Roman"/>
              </a:rPr>
              <a:t>℃ </a:t>
            </a:r>
            <a:r>
              <a:rPr sz="2400" spc="-65" dirty="0">
                <a:latin typeface="SimSun"/>
                <a:cs typeface="SimSun"/>
              </a:rPr>
              <a:t>，因为夏季气温超过 </a:t>
            </a:r>
            <a:r>
              <a:rPr sz="2400" dirty="0">
                <a:latin typeface="Times New Roman"/>
                <a:cs typeface="Times New Roman"/>
              </a:rPr>
              <a:t>26</a:t>
            </a:r>
            <a:r>
              <a:rPr sz="2400" spc="-25" dirty="0">
                <a:latin typeface="Times New Roman"/>
                <a:cs typeface="Times New Roman"/>
              </a:rPr>
              <a:t>℃ </a:t>
            </a:r>
            <a:r>
              <a:rPr sz="2400" spc="-25" dirty="0">
                <a:latin typeface="SimSun"/>
                <a:cs typeface="SimSun"/>
              </a:rPr>
              <a:t>时，</a:t>
            </a:r>
            <a:r>
              <a:rPr sz="2400" spc="-5" dirty="0">
                <a:latin typeface="SimSun"/>
                <a:cs typeface="SimSun"/>
              </a:rPr>
              <a:t>其卵和幼虫全部死亡。</a:t>
            </a:r>
            <a:endParaRPr sz="2400" dirty="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069" y="567690"/>
            <a:ext cx="62115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800" spc="-50" dirty="0"/>
              <a:t>2</a:t>
            </a:r>
            <a:r>
              <a:rPr sz="2800" dirty="0"/>
              <a:t>	</a:t>
            </a:r>
            <a:r>
              <a:rPr sz="2800" spc="195" dirty="0"/>
              <a:t>温度变化也可能和其它的环境因素或资源紧密联系影响生物分布。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068069" y="1643379"/>
            <a:ext cx="621538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800" b="1" spc="-50" dirty="0">
                <a:solidFill>
                  <a:srgbClr val="CC3300"/>
                </a:solidFill>
                <a:latin typeface="Microsoft JhengHei"/>
                <a:cs typeface="Microsoft JhengHei"/>
              </a:rPr>
              <a:t>3</a:t>
            </a:r>
            <a:r>
              <a:rPr sz="2800" b="1" dirty="0">
                <a:solidFill>
                  <a:srgbClr val="CC3300"/>
                </a:solidFill>
                <a:latin typeface="Microsoft JhengHei"/>
                <a:cs typeface="Microsoft JhengHei"/>
              </a:rPr>
              <a:t>	</a:t>
            </a:r>
            <a:r>
              <a:rPr sz="2800" b="1" spc="220" dirty="0">
                <a:solidFill>
                  <a:srgbClr val="CC3300"/>
                </a:solidFill>
                <a:latin typeface="Microsoft JhengHei"/>
                <a:cs typeface="Microsoft JhengHei"/>
              </a:rPr>
              <a:t>温度</a:t>
            </a:r>
            <a:r>
              <a:rPr sz="2800" b="1" spc="220" dirty="0">
                <a:latin typeface="Microsoft JhengHei"/>
                <a:cs typeface="Microsoft JhengHei"/>
              </a:rPr>
              <a:t>和</a:t>
            </a:r>
            <a:r>
              <a:rPr sz="2800" b="1" spc="220" dirty="0">
                <a:solidFill>
                  <a:srgbClr val="CC3300"/>
                </a:solidFill>
                <a:latin typeface="Microsoft JhengHei"/>
                <a:cs typeface="Microsoft JhengHei"/>
              </a:rPr>
              <a:t>降水</a:t>
            </a:r>
            <a:r>
              <a:rPr sz="2800" b="1" spc="215" dirty="0">
                <a:latin typeface="Microsoft JhengHei"/>
                <a:cs typeface="Microsoft JhengHei"/>
              </a:rPr>
              <a:t>是影响地球</a:t>
            </a:r>
            <a:r>
              <a:rPr sz="2800" b="1" spc="160" dirty="0">
                <a:solidFill>
                  <a:srgbClr val="CC3300"/>
                </a:solidFill>
                <a:latin typeface="Microsoft JhengHei"/>
                <a:cs typeface="Microsoft JhengHei"/>
              </a:rPr>
              <a:t>生物群落分</a:t>
            </a:r>
            <a:r>
              <a:rPr sz="2800" b="1" spc="220" dirty="0">
                <a:solidFill>
                  <a:srgbClr val="CC3300"/>
                </a:solidFill>
                <a:latin typeface="Microsoft JhengHei"/>
                <a:cs typeface="Microsoft JhengHei"/>
              </a:rPr>
              <a:t>布</a:t>
            </a:r>
            <a:r>
              <a:rPr sz="2800" b="1" spc="215" dirty="0">
                <a:latin typeface="Microsoft JhengHei"/>
                <a:cs typeface="Microsoft JhengHei"/>
              </a:rPr>
              <a:t>的两个最重要因子</a:t>
            </a:r>
            <a:r>
              <a:rPr sz="2800" spc="-50" dirty="0">
                <a:latin typeface="SimSun"/>
                <a:cs typeface="SimSun"/>
              </a:rPr>
              <a:t>。</a:t>
            </a:r>
            <a:endParaRPr sz="2800">
              <a:latin typeface="SimSun"/>
              <a:cs typeface="SimSu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8130" y="2708910"/>
            <a:ext cx="5029200" cy="35966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58000" y="3229176"/>
            <a:ext cx="2101850" cy="24878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135" dirty="0">
                <a:latin typeface="Microsoft JhengHei"/>
                <a:cs typeface="Microsoft JhengHei"/>
              </a:rPr>
              <a:t>东非比霸鹟的冬</a:t>
            </a:r>
            <a:r>
              <a:rPr sz="2000" b="1" spc="130" dirty="0">
                <a:latin typeface="Microsoft JhengHei"/>
                <a:cs typeface="Microsoft JhengHei"/>
              </a:rPr>
              <a:t>季分布图。粗黑</a:t>
            </a:r>
            <a:r>
              <a:rPr sz="2000" b="1" spc="140" dirty="0">
                <a:latin typeface="Microsoft JhengHei"/>
                <a:cs typeface="Microsoft JhengHei"/>
              </a:rPr>
              <a:t>线为月平均最低 </a:t>
            </a:r>
            <a:r>
              <a:rPr sz="2000" b="1" spc="-50" dirty="0">
                <a:latin typeface="Times New Roman"/>
                <a:cs typeface="Times New Roman"/>
              </a:rPr>
              <a:t>- </a:t>
            </a:r>
            <a:r>
              <a:rPr sz="2000" b="1" dirty="0">
                <a:latin typeface="Times New Roman"/>
                <a:cs typeface="Times New Roman"/>
              </a:rPr>
              <a:t>4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120" dirty="0" err="1">
                <a:latin typeface="Microsoft JhengHei"/>
                <a:cs typeface="Microsoft JhengHei"/>
              </a:rPr>
              <a:t>度等温线</a:t>
            </a:r>
            <a:r>
              <a:rPr sz="2000" b="1" spc="120" dirty="0">
                <a:latin typeface="Microsoft JhengHei"/>
                <a:cs typeface="Microsoft JhengHei"/>
              </a:rPr>
              <a:t>。</a:t>
            </a:r>
            <a:endParaRPr lang="en-US" sz="2000" b="1" spc="120" dirty="0">
              <a:latin typeface="Microsoft JhengHei"/>
              <a:cs typeface="Microsoft JhengHei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zh-CN" altLang="en-US" sz="2000" b="1" spc="120" dirty="0">
                <a:latin typeface="Microsoft JhengHei"/>
                <a:cs typeface="Microsoft JhengHei"/>
              </a:rPr>
              <a:t>并非与降水直接相关，二是与食物分布相关，受降水的间接影响</a:t>
            </a:r>
            <a:endParaRPr sz="2000" dirty="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>
            <a:extLst>
              <a:ext uri="{FF2B5EF4-FFF2-40B4-BE49-F238E27FC236}">
                <a16:creationId xmlns:a16="http://schemas.microsoft.com/office/drawing/2014/main" id="{911974BF-27E8-A237-A5E1-A3334EAFB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3375"/>
            <a:ext cx="8507413" cy="5792788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latin typeface="黑体" panose="02010609060101010101" pitchFamily="49" charset="-122"/>
              </a:rPr>
              <a:t>动物的生长和发育是需要一定温度的，下列哪个说法是正确的：</a:t>
            </a:r>
          </a:p>
          <a:p>
            <a:pPr eaLnBrk="1" hangingPunct="1"/>
            <a:r>
              <a:rPr lang="zh-CN" altLang="en-US" sz="2800" b="1" dirty="0">
                <a:latin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</a:rPr>
              <a:t>A.</a:t>
            </a:r>
            <a:r>
              <a:rPr lang="zh-CN" altLang="en-US" sz="2800" b="1" dirty="0">
                <a:latin typeface="黑体" panose="02010609060101010101" pitchFamily="49" charset="-122"/>
              </a:rPr>
              <a:t>外界温度的高低直接决定了动物机体的体</a:t>
            </a:r>
          </a:p>
          <a:p>
            <a:pPr eaLnBrk="1" hangingPunct="1"/>
            <a:r>
              <a:rPr lang="zh-CN" altLang="en-US" sz="2800" b="1" dirty="0">
                <a:latin typeface="黑体" panose="02010609060101010101" pitchFamily="49" charset="-122"/>
              </a:rPr>
              <a:t>　 温，进而影响其生长发育；</a:t>
            </a:r>
          </a:p>
          <a:p>
            <a:pPr eaLnBrk="1" hangingPunct="1"/>
            <a:r>
              <a:rPr lang="zh-CN" altLang="en-US" sz="2800" dirty="0">
                <a:latin typeface="黑体" panose="02010609060101010101" pitchFamily="49" charset="-122"/>
              </a:rPr>
              <a:t> </a:t>
            </a:r>
            <a:r>
              <a:rPr lang="en-US" altLang="zh-CN" sz="2800" dirty="0">
                <a:latin typeface="黑体" panose="02010609060101010101" pitchFamily="49" charset="-122"/>
              </a:rPr>
              <a:t>B.</a:t>
            </a:r>
            <a:r>
              <a:rPr lang="zh-CN" altLang="en-US" sz="2800" dirty="0">
                <a:latin typeface="黑体" panose="02010609060101010101" pitchFamily="49" charset="-122"/>
              </a:rPr>
              <a:t>当外界温度</a:t>
            </a:r>
            <a:r>
              <a:rPr lang="zh-CN" altLang="en-US" sz="2800" b="1" dirty="0">
                <a:latin typeface="黑体" panose="02010609060101010101" pitchFamily="49" charset="-122"/>
              </a:rPr>
              <a:t>低于某温度时，昆虫就停止生</a:t>
            </a:r>
          </a:p>
          <a:p>
            <a:pPr eaLnBrk="1" hangingPunct="1"/>
            <a:r>
              <a:rPr lang="zh-CN" altLang="en-US" sz="2800" b="1" dirty="0">
                <a:latin typeface="黑体" panose="02010609060101010101" pitchFamily="49" charset="-122"/>
              </a:rPr>
              <a:t>　 长发育，这一温度阈值称为发育起点温度；</a:t>
            </a:r>
          </a:p>
          <a:p>
            <a:pPr eaLnBrk="1" hangingPunct="1"/>
            <a:r>
              <a:rPr lang="zh-CN" altLang="en-US" sz="2800" b="1" dirty="0">
                <a:latin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</a:rPr>
              <a:t>C.</a:t>
            </a:r>
            <a:r>
              <a:rPr lang="zh-CN" altLang="en-US" sz="2800" b="1" dirty="0">
                <a:latin typeface="黑体" panose="02010609060101010101" pitchFamily="49" charset="-122"/>
              </a:rPr>
              <a:t>动物的发育速度总是随温度的增高而加快的；</a:t>
            </a:r>
          </a:p>
          <a:p>
            <a:pPr eaLnBrk="1" hangingPunct="1"/>
            <a:r>
              <a:rPr lang="zh-CN" altLang="en-US" sz="2800" b="1" dirty="0">
                <a:latin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</a:rPr>
              <a:t>D.</a:t>
            </a:r>
            <a:r>
              <a:rPr lang="zh-CN" altLang="en-US" sz="2800" b="1" dirty="0">
                <a:latin typeface="黑体" panose="02010609060101010101" pitchFamily="49" charset="-122"/>
              </a:rPr>
              <a:t>昆虫发育的有效积温是发育历期乘以发育期</a:t>
            </a:r>
          </a:p>
          <a:p>
            <a:pPr eaLnBrk="1" hangingPunct="1"/>
            <a:r>
              <a:rPr lang="zh-CN" altLang="en-US" sz="2800" b="1" dirty="0">
                <a:latin typeface="黑体" panose="02010609060101010101" pitchFamily="49" charset="-122"/>
              </a:rPr>
              <a:t>　　　的平均温度，然后求和。</a:t>
            </a:r>
          </a:p>
          <a:p>
            <a:pPr eaLnBrk="1" hangingPunct="1"/>
            <a:r>
              <a:rPr lang="zh-CN" altLang="en-US" sz="2800" b="1" dirty="0">
                <a:solidFill>
                  <a:srgbClr val="CC0000"/>
                </a:solidFill>
                <a:latin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CC0000"/>
                </a:solidFill>
                <a:latin typeface="黑体" panose="02010609060101010101" pitchFamily="49" charset="-122"/>
              </a:rPr>
              <a:t>2012</a:t>
            </a:r>
            <a:r>
              <a:rPr lang="zh-CN" altLang="en-US" sz="2800" b="1" dirty="0">
                <a:solidFill>
                  <a:srgbClr val="CC0000"/>
                </a:solidFill>
                <a:latin typeface="黑体" panose="02010609060101010101" pitchFamily="49" charset="-122"/>
              </a:rPr>
              <a:t>年全国联赛试题）</a:t>
            </a:r>
          </a:p>
          <a:p>
            <a:pPr eaLnBrk="1" hangingPunct="1"/>
            <a:endParaRPr lang="zh-CN" altLang="en-US" sz="2800" b="1" dirty="0">
              <a:solidFill>
                <a:srgbClr val="CC0000"/>
              </a:solidFill>
              <a:latin typeface="黑体" panose="02010609060101010101" pitchFamily="49" charset="-122"/>
            </a:endParaRPr>
          </a:p>
          <a:p>
            <a:pPr eaLnBrk="1" hangingPunct="1"/>
            <a:endParaRPr lang="zh-CN" altLang="en-US" sz="2800" b="1" dirty="0">
              <a:solidFill>
                <a:srgbClr val="CC0000"/>
              </a:solidFill>
              <a:latin typeface="黑体" panose="02010609060101010101" pitchFamily="49" charset="-122"/>
            </a:endParaRPr>
          </a:p>
          <a:p>
            <a:endParaRPr lang="zh-CN" altLang="en-US" sz="2800" dirty="0">
              <a:latin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DF0726-456E-93D6-E926-DFD99DF3E7D0}"/>
              </a:ext>
            </a:extLst>
          </p:cNvPr>
          <p:cNvSpPr txBox="1"/>
          <p:nvPr/>
        </p:nvSpPr>
        <p:spPr>
          <a:xfrm>
            <a:off x="2362200" y="731837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>
            <a:extLst>
              <a:ext uri="{FF2B5EF4-FFF2-40B4-BE49-F238E27FC236}">
                <a16:creationId xmlns:a16="http://schemas.microsoft.com/office/drawing/2014/main" id="{89E787FF-28E5-28DD-DA03-B27210361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8" y="1052513"/>
            <a:ext cx="8229600" cy="3877985"/>
          </a:xfrm>
        </p:spPr>
        <p:txBody>
          <a:bodyPr/>
          <a:lstStyle/>
          <a:p>
            <a:r>
              <a:rPr lang="en-US" altLang="zh-CN" sz="2800" b="1" dirty="0">
                <a:latin typeface="黑体" panose="02010609060101010101" pitchFamily="49" charset="-122"/>
              </a:rPr>
              <a:t>6</a:t>
            </a:r>
            <a:r>
              <a:rPr lang="zh-CN" altLang="en-US" sz="2800" b="1" dirty="0">
                <a:latin typeface="黑体" panose="02010609060101010101" pitchFamily="49" charset="-122"/>
              </a:rPr>
              <a:t>月</a:t>
            </a:r>
            <a:r>
              <a:rPr lang="en-US" altLang="zh-CN" sz="2800" b="1" dirty="0">
                <a:latin typeface="黑体" panose="02010609060101010101" pitchFamily="49" charset="-122"/>
              </a:rPr>
              <a:t>5</a:t>
            </a:r>
            <a:r>
              <a:rPr lang="zh-CN" altLang="en-US" sz="2800" b="1" dirty="0">
                <a:latin typeface="黑体" panose="02010609060101010101" pitchFamily="49" charset="-122"/>
              </a:rPr>
              <a:t>日在库存的粮食中发现</a:t>
            </a:r>
            <a:r>
              <a:rPr lang="en-US" altLang="zh-CN" sz="2800" b="1" dirty="0">
                <a:latin typeface="黑体" panose="02010609060101010101" pitchFamily="49" charset="-122"/>
              </a:rPr>
              <a:t>2</a:t>
            </a:r>
            <a:r>
              <a:rPr lang="zh-CN" altLang="en-US" sz="2800" b="1" dirty="0">
                <a:latin typeface="黑体" panose="02010609060101010101" pitchFamily="49" charset="-122"/>
              </a:rPr>
              <a:t>只（雌雄各</a:t>
            </a:r>
            <a:r>
              <a:rPr lang="en-US" altLang="zh-CN" sz="2800" b="1" dirty="0">
                <a:latin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</a:rPr>
              <a:t>）刚羽化爬出粮粒的玉米象成虫，当时仓内平均温度为</a:t>
            </a:r>
            <a:r>
              <a:rPr lang="en-US" altLang="zh-CN" sz="2800" b="1" dirty="0">
                <a:latin typeface="黑体" panose="02010609060101010101" pitchFamily="49" charset="-122"/>
              </a:rPr>
              <a:t>19.0℃</a:t>
            </a:r>
            <a:r>
              <a:rPr lang="zh-CN" altLang="en-US" sz="2800" b="1" dirty="0">
                <a:latin typeface="黑体" panose="02010609060101010101" pitchFamily="49" charset="-122"/>
              </a:rPr>
              <a:t>，利用有效积温法则可知玉米象的发育起点温度为</a:t>
            </a:r>
            <a:r>
              <a:rPr lang="en-US" altLang="zh-CN" sz="2800" b="1" dirty="0">
                <a:latin typeface="黑体" panose="02010609060101010101" pitchFamily="49" charset="-122"/>
              </a:rPr>
              <a:t>13.8℃</a:t>
            </a:r>
            <a:r>
              <a:rPr lang="zh-CN" altLang="en-US" sz="2800" b="1" dirty="0">
                <a:latin typeface="黑体" panose="02010609060101010101" pitchFamily="49" charset="-122"/>
              </a:rPr>
              <a:t>，有效积温为</a:t>
            </a:r>
            <a:r>
              <a:rPr lang="en-US" altLang="zh-CN" sz="2800" b="1" dirty="0">
                <a:latin typeface="黑体" panose="02010609060101010101" pitchFamily="49" charset="-122"/>
              </a:rPr>
              <a:t>462.4</a:t>
            </a:r>
            <a:r>
              <a:rPr lang="zh-CN" altLang="en-US" sz="2800" b="1" dirty="0">
                <a:latin typeface="黑体" panose="02010609060101010101" pitchFamily="49" charset="-122"/>
              </a:rPr>
              <a:t>日度。根据玉米象的生物学特性，上例中发现的玉米象成虫必须到当年什么时间才能出现下一代成虫。</a:t>
            </a:r>
          </a:p>
          <a:p>
            <a:r>
              <a:rPr lang="zh-CN" altLang="en-US" sz="2800" b="1" dirty="0">
                <a:latin typeface="黑体" panose="02010609060101010101" pitchFamily="49" charset="-122"/>
              </a:rPr>
              <a:t>　</a:t>
            </a:r>
            <a:r>
              <a:rPr lang="en-US" altLang="zh-CN" sz="2800" b="1" dirty="0">
                <a:latin typeface="黑体" panose="02010609060101010101" pitchFamily="49" charset="-122"/>
              </a:rPr>
              <a:t>A.8</a:t>
            </a:r>
            <a:r>
              <a:rPr lang="zh-CN" altLang="en-US" sz="2800" b="1" dirty="0">
                <a:latin typeface="黑体" panose="02010609060101010101" pitchFamily="49" charset="-122"/>
              </a:rPr>
              <a:t>月下旬； </a:t>
            </a:r>
            <a:r>
              <a:rPr lang="en-US" altLang="zh-CN" sz="2800" dirty="0">
                <a:latin typeface="黑体" panose="02010609060101010101" pitchFamily="49" charset="-122"/>
              </a:rPr>
              <a:t>B.9</a:t>
            </a:r>
            <a:r>
              <a:rPr lang="zh-CN" altLang="en-US" sz="2800" dirty="0">
                <a:latin typeface="黑体" panose="02010609060101010101" pitchFamily="49" charset="-122"/>
              </a:rPr>
              <a:t>月上旬；</a:t>
            </a:r>
          </a:p>
          <a:p>
            <a:r>
              <a:rPr lang="zh-CN" altLang="en-US" sz="2800" b="1" dirty="0">
                <a:latin typeface="黑体" panose="02010609060101010101" pitchFamily="49" charset="-122"/>
              </a:rPr>
              <a:t>　</a:t>
            </a:r>
            <a:r>
              <a:rPr lang="en-US" altLang="zh-CN" sz="2800" b="1" dirty="0">
                <a:latin typeface="黑体" panose="02010609060101010101" pitchFamily="49" charset="-122"/>
              </a:rPr>
              <a:t>C.9</a:t>
            </a:r>
            <a:r>
              <a:rPr lang="zh-CN" altLang="en-US" sz="2800" b="1" dirty="0">
                <a:latin typeface="黑体" panose="02010609060101010101" pitchFamily="49" charset="-122"/>
              </a:rPr>
              <a:t>月中旬； </a:t>
            </a:r>
            <a:r>
              <a:rPr lang="en-US" altLang="zh-CN" sz="2800" b="1" dirty="0">
                <a:latin typeface="黑体" panose="02010609060101010101" pitchFamily="49" charset="-122"/>
              </a:rPr>
              <a:t>D.9</a:t>
            </a:r>
            <a:r>
              <a:rPr lang="zh-CN" altLang="en-US" sz="2800" b="1" dirty="0">
                <a:latin typeface="黑体" panose="02010609060101010101" pitchFamily="49" charset="-122"/>
              </a:rPr>
              <a:t>月</a:t>
            </a:r>
            <a:r>
              <a:rPr lang="en-US" altLang="zh-CN" sz="2800" b="1" dirty="0">
                <a:latin typeface="黑体" panose="02010609060101010101" pitchFamily="49" charset="-122"/>
              </a:rPr>
              <a:t>20</a:t>
            </a:r>
            <a:r>
              <a:rPr lang="zh-CN" altLang="en-US" sz="2800" b="1" dirty="0">
                <a:latin typeface="黑体" panose="02010609060101010101" pitchFamily="49" charset="-122"/>
              </a:rPr>
              <a:t>日左右。</a:t>
            </a:r>
          </a:p>
          <a:p>
            <a:endParaRPr lang="zh-CN" altLang="en-US" sz="2800" b="1" dirty="0">
              <a:latin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B4A4E8-4B2A-E593-0C49-20256C938D17}"/>
              </a:ext>
            </a:extLst>
          </p:cNvPr>
          <p:cNvSpPr txBox="1"/>
          <p:nvPr/>
        </p:nvSpPr>
        <p:spPr>
          <a:xfrm>
            <a:off x="5791200" y="3165017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>
            <a:extLst>
              <a:ext uri="{FF2B5EF4-FFF2-40B4-BE49-F238E27FC236}">
                <a16:creationId xmlns:a16="http://schemas.microsoft.com/office/drawing/2014/main" id="{A79E0A20-F062-4757-8392-D9393E81E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476250"/>
            <a:ext cx="8229600" cy="4308872"/>
          </a:xfrm>
        </p:spPr>
        <p:txBody>
          <a:bodyPr/>
          <a:lstStyle/>
          <a:p>
            <a:r>
              <a:rPr lang="zh-CN" altLang="en-US" sz="2800" b="1" dirty="0">
                <a:latin typeface="黑体" panose="02010609060101010101" pitchFamily="49" charset="-122"/>
              </a:rPr>
              <a:t>有些植物的种子成熟后，即使有适合萌发的条件也不能萌发。例如有些植物的种子秋天成熟后，要经过一段时间的低温才能萌发，这类植物最有可能是自然分布在哪里的植物？</a:t>
            </a:r>
            <a:r>
              <a:rPr lang="zh-CN" altLang="en-US" sz="2800" b="1" u="sng" dirty="0">
                <a:latin typeface="黑体" panose="02010609060101010101" pitchFamily="49" charset="-122"/>
              </a:rPr>
              <a:t>     </a:t>
            </a:r>
            <a:endParaRPr lang="zh-CN" altLang="en-US" sz="2800" b="1" dirty="0">
              <a:latin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A.</a:t>
            </a:r>
            <a:r>
              <a:rPr lang="zh-CN" altLang="en-US" sz="2800" b="1" dirty="0">
                <a:latin typeface="黑体" panose="02010609060101010101" pitchFamily="49" charset="-122"/>
              </a:rPr>
              <a:t>低纬度地区；    　</a:t>
            </a:r>
            <a:r>
              <a:rPr lang="en-US" altLang="zh-CN" sz="2800" b="1" dirty="0">
                <a:latin typeface="黑体" panose="02010609060101010101" pitchFamily="49" charset="-122"/>
              </a:rPr>
              <a:t>B.</a:t>
            </a:r>
            <a:r>
              <a:rPr lang="zh-CN" altLang="en-US" sz="2800" b="1" dirty="0">
                <a:latin typeface="黑体" panose="02010609060101010101" pitchFamily="49" charset="-122"/>
              </a:rPr>
              <a:t>低海拔地区；    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C.</a:t>
            </a:r>
            <a:r>
              <a:rPr lang="zh-CN" altLang="en-US" sz="2800" b="1" dirty="0">
                <a:latin typeface="黑体" panose="02010609060101010101" pitchFamily="49" charset="-122"/>
              </a:rPr>
              <a:t>低降水量地区</a:t>
            </a:r>
            <a:r>
              <a:rPr lang="zh-CN" altLang="en-US" sz="2800" dirty="0">
                <a:latin typeface="黑体" panose="02010609060101010101" pitchFamily="49" charset="-122"/>
              </a:rPr>
              <a:t>；    </a:t>
            </a:r>
            <a:r>
              <a:rPr lang="en-US" altLang="zh-CN" sz="2800" dirty="0">
                <a:latin typeface="黑体" panose="02010609060101010101" pitchFamily="49" charset="-122"/>
              </a:rPr>
              <a:t>D.</a:t>
            </a:r>
            <a:r>
              <a:rPr lang="zh-CN" altLang="en-US" sz="2800" dirty="0">
                <a:latin typeface="黑体" panose="02010609060101010101" pitchFamily="49" charset="-122"/>
              </a:rPr>
              <a:t>高纬度地区。</a:t>
            </a:r>
          </a:p>
          <a:p>
            <a:endParaRPr lang="zh-CN" altLang="en-US" sz="2800" b="1" dirty="0"/>
          </a:p>
          <a:p>
            <a:r>
              <a:rPr lang="zh-CN" altLang="en-US" sz="2800" b="1" dirty="0"/>
              <a:t> </a:t>
            </a:r>
            <a:endParaRPr lang="zh-CN" altLang="en-US" sz="2800" b="1" dirty="0">
              <a:latin typeface="黑体" panose="02010609060101010101" pitchFamily="49" charset="-122"/>
            </a:endParaRPr>
          </a:p>
          <a:p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</a:endParaRPr>
          </a:p>
          <a:p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CF5D76-D41F-1C48-35A2-D4255851C333}"/>
              </a:ext>
            </a:extLst>
          </p:cNvPr>
          <p:cNvSpPr txBox="1"/>
          <p:nvPr/>
        </p:nvSpPr>
        <p:spPr>
          <a:xfrm>
            <a:off x="7692899" y="1495167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835" name="Rectangle 3">
            <a:extLst>
              <a:ext uri="{FF2B5EF4-FFF2-40B4-BE49-F238E27FC236}">
                <a16:creationId xmlns:a16="http://schemas.microsoft.com/office/drawing/2014/main" id="{0507B116-FB54-5718-3041-1D008F8D2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8" y="981075"/>
            <a:ext cx="8229600" cy="2954655"/>
          </a:xfrm>
        </p:spPr>
        <p:txBody>
          <a:bodyPr/>
          <a:lstStyle/>
          <a:p>
            <a:r>
              <a:rPr lang="zh-CN" altLang="en-US" b="1" dirty="0"/>
              <a:t>气候变暖可能最有利于下列何种生物分布范围的扩展：</a:t>
            </a:r>
          </a:p>
          <a:p>
            <a:r>
              <a:rPr lang="en-US" altLang="zh-CN" b="1" dirty="0">
                <a:latin typeface="黑体" panose="02010609060101010101" pitchFamily="49" charset="-122"/>
              </a:rPr>
              <a:t>A.</a:t>
            </a:r>
            <a:r>
              <a:rPr lang="zh-CN" altLang="en-US" b="1" dirty="0">
                <a:latin typeface="黑体" panose="02010609060101010101" pitchFamily="49" charset="-122"/>
              </a:rPr>
              <a:t>冷杉；</a:t>
            </a:r>
            <a:r>
              <a:rPr lang="en-US" altLang="zh-CN" sz="2800" dirty="0">
                <a:latin typeface="黑体" panose="02010609060101010101" pitchFamily="49" charset="-122"/>
              </a:rPr>
              <a:t>B.</a:t>
            </a:r>
            <a:r>
              <a:rPr lang="zh-CN" altLang="en-US" sz="2800" dirty="0">
                <a:latin typeface="黑体" panose="02010609060101010101" pitchFamily="49" charset="-122"/>
              </a:rPr>
              <a:t>凤蝶；</a:t>
            </a:r>
          </a:p>
          <a:p>
            <a:r>
              <a:rPr lang="en-US" altLang="zh-CN" b="1" dirty="0">
                <a:latin typeface="黑体" panose="02010609060101010101" pitchFamily="49" charset="-122"/>
              </a:rPr>
              <a:t>C.</a:t>
            </a:r>
            <a:r>
              <a:rPr lang="zh-CN" altLang="en-US" b="1" dirty="0">
                <a:latin typeface="黑体" panose="02010609060101010101" pitchFamily="49" charset="-122"/>
              </a:rPr>
              <a:t>田鼠；</a:t>
            </a:r>
            <a:r>
              <a:rPr lang="en-US" altLang="zh-CN" b="1" dirty="0">
                <a:latin typeface="黑体" panose="02010609060101010101" pitchFamily="49" charset="-122"/>
              </a:rPr>
              <a:t>D.</a:t>
            </a:r>
            <a:r>
              <a:rPr lang="zh-CN" altLang="en-US" b="1" dirty="0">
                <a:latin typeface="黑体" panose="02010609060101010101" pitchFamily="49" charset="-122"/>
              </a:rPr>
              <a:t>毛杜鹃。</a:t>
            </a:r>
          </a:p>
          <a:p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CB8C29-5AE4-E44D-37CD-9BA47AF54EF7}"/>
              </a:ext>
            </a:extLst>
          </p:cNvPr>
          <p:cNvSpPr txBox="1"/>
          <p:nvPr/>
        </p:nvSpPr>
        <p:spPr>
          <a:xfrm>
            <a:off x="2399430" y="1457980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3" name="Rectangle 3">
            <a:extLst>
              <a:ext uri="{FF2B5EF4-FFF2-40B4-BE49-F238E27FC236}">
                <a16:creationId xmlns:a16="http://schemas.microsoft.com/office/drawing/2014/main" id="{486A4874-D44D-40C0-1912-F36ED7448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08050"/>
            <a:ext cx="8229600" cy="3877985"/>
          </a:xfrm>
        </p:spPr>
        <p:txBody>
          <a:bodyPr/>
          <a:lstStyle/>
          <a:p>
            <a:r>
              <a:rPr lang="zh-CN" altLang="en-US" sz="2800" b="1" dirty="0">
                <a:latin typeface="黑体" panose="02010609060101010101" pitchFamily="49" charset="-122"/>
              </a:rPr>
              <a:t>某水稻品种的全生育期有效积温为</a:t>
            </a:r>
            <a:r>
              <a:rPr lang="en-US" altLang="zh-CN" sz="2800" b="1" dirty="0">
                <a:latin typeface="黑体" panose="02010609060101010101" pitchFamily="49" charset="-122"/>
              </a:rPr>
              <a:t>1976</a:t>
            </a:r>
            <a:r>
              <a:rPr lang="zh-CN" altLang="en-US" sz="2800" b="1" dirty="0">
                <a:latin typeface="黑体" panose="02010609060101010101" pitchFamily="49" charset="-122"/>
              </a:rPr>
              <a:t>日度，而某地</a:t>
            </a:r>
            <a:r>
              <a:rPr lang="en-US" altLang="zh-CN" sz="2800" b="1" dirty="0">
                <a:latin typeface="黑体" panose="02010609060101010101" pitchFamily="49" charset="-122"/>
              </a:rPr>
              <a:t>6</a:t>
            </a:r>
            <a:r>
              <a:rPr lang="zh-CN" altLang="en-US" sz="2800" b="1" dirty="0">
                <a:latin typeface="黑体" panose="02010609060101010101" pitchFamily="49" charset="-122"/>
              </a:rPr>
              <a:t>月中旬以后的有效积温大于</a:t>
            </a:r>
            <a:r>
              <a:rPr lang="en-US" altLang="zh-CN" sz="2800" b="1" dirty="0">
                <a:latin typeface="黑体" panose="02010609060101010101" pitchFamily="49" charset="-122"/>
              </a:rPr>
              <a:t>2100 </a:t>
            </a:r>
            <a:r>
              <a:rPr lang="zh-CN" altLang="en-US" sz="2800" b="1" dirty="0">
                <a:latin typeface="黑体" panose="02010609060101010101" pitchFamily="49" charset="-122"/>
              </a:rPr>
              <a:t>日度。据此以下推论何者是不正确的：</a:t>
            </a:r>
          </a:p>
          <a:p>
            <a:r>
              <a:rPr lang="en-US" altLang="zh-CN" sz="2800" dirty="0">
                <a:latin typeface="黑体" panose="02010609060101010101" pitchFamily="49" charset="-122"/>
              </a:rPr>
              <a:t>A.</a:t>
            </a:r>
            <a:r>
              <a:rPr lang="zh-CN" altLang="en-US" sz="2800" dirty="0">
                <a:latin typeface="黑体" panose="02010609060101010101" pitchFamily="49" charset="-122"/>
              </a:rPr>
              <a:t>在该地</a:t>
            </a:r>
            <a:r>
              <a:rPr lang="zh-CN" altLang="en-US" sz="2800" b="1" dirty="0">
                <a:latin typeface="黑体" panose="02010609060101010101" pitchFamily="49" charset="-122"/>
              </a:rPr>
              <a:t>该水稻品种只能作为单季稻种植；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B.</a:t>
            </a:r>
            <a:r>
              <a:rPr lang="zh-CN" altLang="en-US" sz="2800" b="1" dirty="0">
                <a:latin typeface="黑体" panose="02010609060101010101" pitchFamily="49" charset="-122"/>
              </a:rPr>
              <a:t>在该地该水稻品种可以作为双季稻种植；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C.</a:t>
            </a:r>
            <a:r>
              <a:rPr lang="zh-CN" altLang="en-US" sz="2800" b="1" dirty="0">
                <a:latin typeface="黑体" panose="02010609060101010101" pitchFamily="49" charset="-122"/>
              </a:rPr>
              <a:t>只要依据作物的总积温和当地有效积温等资料，就可以估算出某种作物适合单季或双季作物；</a:t>
            </a:r>
            <a:endParaRPr lang="en-US" altLang="zh-CN" sz="2800" b="1" dirty="0">
              <a:latin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D.</a:t>
            </a:r>
            <a:r>
              <a:rPr lang="zh-CN" altLang="en-US" sz="2800" b="1" dirty="0">
                <a:latin typeface="黑体" panose="02010609060101010101" pitchFamily="49" charset="-122"/>
              </a:rPr>
              <a:t>如果该地区的有效积温一年等于</a:t>
            </a:r>
            <a:r>
              <a:rPr lang="en-US" altLang="zh-CN" sz="2800" b="1" dirty="0">
                <a:latin typeface="黑体" panose="02010609060101010101" pitchFamily="49" charset="-122"/>
              </a:rPr>
              <a:t>2100</a:t>
            </a:r>
            <a:r>
              <a:rPr lang="zh-CN" altLang="en-US" sz="2800" b="1" dirty="0">
                <a:latin typeface="黑体" panose="02010609060101010101" pitchFamily="49" charset="-122"/>
              </a:rPr>
              <a:t>日度，则</a:t>
            </a:r>
          </a:p>
          <a:p>
            <a:r>
              <a:rPr lang="zh-CN" altLang="en-US" sz="2800" b="1" dirty="0">
                <a:latin typeface="黑体" panose="02010609060101010101" pitchFamily="49" charset="-122"/>
              </a:rPr>
              <a:t>　该地区该品种水稻只能作为单季稻种植。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C2C3F7E-B976-34E0-BEA0-6362070CC9D7}"/>
              </a:ext>
            </a:extLst>
          </p:cNvPr>
          <p:cNvSpPr txBox="1"/>
          <p:nvPr/>
        </p:nvSpPr>
        <p:spPr>
          <a:xfrm>
            <a:off x="4387365" y="1762780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1" name="Rectangle 3">
            <a:extLst>
              <a:ext uri="{FF2B5EF4-FFF2-40B4-BE49-F238E27FC236}">
                <a16:creationId xmlns:a16="http://schemas.microsoft.com/office/drawing/2014/main" id="{DC36CB8F-D546-6FE1-AFA2-A15D5FD7D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750" y="981075"/>
            <a:ext cx="8229600" cy="3877985"/>
          </a:xfrm>
        </p:spPr>
        <p:txBody>
          <a:bodyPr/>
          <a:lstStyle/>
          <a:p>
            <a:r>
              <a:rPr lang="zh-CN" altLang="en-US" sz="2800" b="1" dirty="0">
                <a:latin typeface="黑体" panose="02010609060101010101" pitchFamily="49" charset="-122"/>
              </a:rPr>
              <a:t>在温带地区，大多数植物春季发芽、生长，夏季开花，秋季成熟，冬季落叶和休眠。这种物候特征与温度的影响有关，主要是：</a:t>
            </a:r>
            <a:r>
              <a:rPr lang="zh-CN" altLang="en-US" sz="2800" b="1" u="sng" dirty="0">
                <a:latin typeface="黑体" panose="02010609060101010101" pitchFamily="49" charset="-122"/>
              </a:rPr>
              <a:t>      </a:t>
            </a:r>
            <a:endParaRPr lang="zh-CN" altLang="en-US" sz="2800" b="1" dirty="0">
              <a:latin typeface="黑体" panose="02010609060101010101" pitchFamily="49" charset="-122"/>
            </a:endParaRPr>
          </a:p>
          <a:p>
            <a:r>
              <a:rPr lang="en-US" altLang="zh-CN" sz="2800" dirty="0">
                <a:latin typeface="黑体" panose="02010609060101010101" pitchFamily="49" charset="-122"/>
              </a:rPr>
              <a:t>A.</a:t>
            </a:r>
            <a:r>
              <a:rPr lang="zh-CN" altLang="en-US" sz="2800" dirty="0">
                <a:latin typeface="黑体" panose="02010609060101010101" pitchFamily="49" charset="-122"/>
              </a:rPr>
              <a:t>节律性变温</a:t>
            </a:r>
            <a:r>
              <a:rPr lang="zh-CN" altLang="en-US" sz="2800" b="1" dirty="0">
                <a:latin typeface="黑体" panose="02010609060101010101" pitchFamily="49" charset="-122"/>
              </a:rPr>
              <a:t>的影响；      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B.</a:t>
            </a:r>
            <a:r>
              <a:rPr lang="zh-CN" altLang="en-US" sz="2800" b="1" dirty="0">
                <a:latin typeface="黑体" panose="02010609060101010101" pitchFamily="49" charset="-122"/>
              </a:rPr>
              <a:t>极端高低温度的影响；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C.</a:t>
            </a:r>
            <a:r>
              <a:rPr lang="zh-CN" altLang="en-US" sz="2800" b="1" dirty="0">
                <a:latin typeface="黑体" panose="02010609060101010101" pitchFamily="49" charset="-122"/>
              </a:rPr>
              <a:t>温度升降速度的影响；    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D.</a:t>
            </a:r>
            <a:r>
              <a:rPr lang="zh-CN" altLang="en-US" sz="2800" b="1" dirty="0">
                <a:latin typeface="黑体" panose="02010609060101010101" pitchFamily="49" charset="-122"/>
              </a:rPr>
              <a:t>高低温度持续时间的影响。</a:t>
            </a:r>
          </a:p>
          <a:p>
            <a:endParaRPr lang="zh-CN" altLang="en-US" sz="2800" b="1" dirty="0">
              <a:latin typeface="黑体" panose="02010609060101010101" pitchFamily="49" charset="-122"/>
            </a:endParaRPr>
          </a:p>
          <a:p>
            <a:endParaRPr lang="zh-CN" altLang="en-US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7D148C-DBE9-D7A1-C087-877F6C4CBC66}"/>
              </a:ext>
            </a:extLst>
          </p:cNvPr>
          <p:cNvSpPr txBox="1"/>
          <p:nvPr/>
        </p:nvSpPr>
        <p:spPr>
          <a:xfrm>
            <a:off x="4684402" y="1762780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5" name="Rectangle 3">
            <a:extLst>
              <a:ext uri="{FF2B5EF4-FFF2-40B4-BE49-F238E27FC236}">
                <a16:creationId xmlns:a16="http://schemas.microsoft.com/office/drawing/2014/main" id="{13B308CA-6A79-14AF-2484-0E60FA92D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052513"/>
            <a:ext cx="8229600" cy="413651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b="1" dirty="0">
                <a:latin typeface="黑体" panose="02010609060101010101" pitchFamily="49" charset="-122"/>
              </a:rPr>
              <a:t>以下关于动物对温度适应的说法，不正确的是： （多选，</a:t>
            </a:r>
            <a:r>
              <a:rPr lang="en-US" altLang="zh-CN" sz="2800" b="1" dirty="0">
                <a:latin typeface="黑体" panose="02010609060101010101" pitchFamily="49" charset="-122"/>
              </a:rPr>
              <a:t>2 </a:t>
            </a:r>
            <a:r>
              <a:rPr lang="zh-CN" altLang="en-US" sz="2800" b="1" dirty="0">
                <a:latin typeface="黑体" panose="02010609060101010101" pitchFamily="49" charset="-122"/>
              </a:rPr>
              <a:t>分）</a:t>
            </a:r>
          </a:p>
          <a:p>
            <a:pPr>
              <a:lnSpc>
                <a:spcPct val="80000"/>
              </a:lnSpc>
            </a:pPr>
            <a:r>
              <a:rPr lang="en-US" altLang="zh-CN" sz="2800" b="1" dirty="0">
                <a:latin typeface="黑体" panose="02010609060101010101" pitchFamily="49" charset="-122"/>
              </a:rPr>
              <a:t>A.</a:t>
            </a:r>
            <a:r>
              <a:rPr lang="zh-CN" altLang="en-US" sz="2800" b="1" dirty="0">
                <a:latin typeface="黑体" panose="02010609060101010101" pitchFamily="49" charset="-122"/>
              </a:rPr>
              <a:t>总体而言，变温动物的平均寿命随温度的增加而缩短</a:t>
            </a:r>
          </a:p>
          <a:p>
            <a:pPr>
              <a:lnSpc>
                <a:spcPct val="80000"/>
              </a:lnSpc>
            </a:pPr>
            <a:r>
              <a:rPr lang="en-US" altLang="zh-CN" sz="2800" dirty="0">
                <a:latin typeface="黑体" panose="02010609060101010101" pitchFamily="49" charset="-122"/>
              </a:rPr>
              <a:t>B.</a:t>
            </a:r>
            <a:r>
              <a:rPr lang="zh-CN" altLang="en-US" sz="2800" dirty="0">
                <a:latin typeface="黑体" panose="02010609060101010101" pitchFamily="49" charset="-122"/>
              </a:rPr>
              <a:t>哺乳动物在低温下均会保持相对恒定的体温，两栖类的体温会随环境温度的降低而变化</a:t>
            </a:r>
          </a:p>
          <a:p>
            <a:pPr>
              <a:lnSpc>
                <a:spcPct val="80000"/>
              </a:lnSpc>
            </a:pPr>
            <a:r>
              <a:rPr lang="en-US" altLang="zh-CN" sz="2800" dirty="0">
                <a:latin typeface="黑体" panose="02010609060101010101" pitchFamily="49" charset="-122"/>
              </a:rPr>
              <a:t>C.</a:t>
            </a:r>
            <a:r>
              <a:rPr lang="zh-CN" altLang="en-US" sz="2800" dirty="0">
                <a:latin typeface="黑体" panose="02010609060101010101" pitchFamily="49" charset="-122"/>
              </a:rPr>
              <a:t>在温暖地区，蚜虫完成发育的时间比寒冷的地区长</a:t>
            </a:r>
          </a:p>
          <a:p>
            <a:pPr>
              <a:lnSpc>
                <a:spcPct val="80000"/>
              </a:lnSpc>
            </a:pPr>
            <a:r>
              <a:rPr lang="en-US" altLang="zh-CN" sz="2800" dirty="0">
                <a:latin typeface="黑体" panose="02010609060101010101" pitchFamily="49" charset="-122"/>
              </a:rPr>
              <a:t>D.</a:t>
            </a:r>
            <a:r>
              <a:rPr lang="zh-CN" altLang="en-US" sz="2800" dirty="0">
                <a:latin typeface="黑体" panose="02010609060101010101" pitchFamily="49" charset="-122"/>
              </a:rPr>
              <a:t>温度是动物分布的限制因子之一，最主要的是某地区的平均温度</a:t>
            </a:r>
          </a:p>
          <a:p>
            <a:pPr>
              <a:lnSpc>
                <a:spcPct val="8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2017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年全国联赛试题）</a:t>
            </a:r>
          </a:p>
          <a:p>
            <a:pPr>
              <a:lnSpc>
                <a:spcPct val="80000"/>
              </a:lnSpc>
            </a:pP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2A29D2-2395-C523-3279-35223D3E1F64}"/>
              </a:ext>
            </a:extLst>
          </p:cNvPr>
          <p:cNvSpPr txBox="1"/>
          <p:nvPr/>
        </p:nvSpPr>
        <p:spPr>
          <a:xfrm>
            <a:off x="7900086" y="914400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BCD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>
            <a:extLst>
              <a:ext uri="{FF2B5EF4-FFF2-40B4-BE49-F238E27FC236}">
                <a16:creationId xmlns:a16="http://schemas.microsoft.com/office/drawing/2014/main" id="{5D7AAEAD-2462-71C6-B64B-1175AADB2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750" y="836613"/>
            <a:ext cx="8229600" cy="5170646"/>
          </a:xfrm>
        </p:spPr>
        <p:txBody>
          <a:bodyPr/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极端温度对动植物的伤害（高温和低温）</a:t>
            </a:r>
          </a:p>
          <a:p>
            <a:r>
              <a:rPr lang="zh-CN" altLang="en-US" sz="2800" b="1" dirty="0">
                <a:latin typeface="黑体" panose="02010609060101010101" pitchFamily="49" charset="-122"/>
              </a:rPr>
              <a:t>动植物对极端温度的适应性</a:t>
            </a:r>
          </a:p>
          <a:p>
            <a:r>
              <a:rPr lang="zh-CN" altLang="en-US" sz="2800" b="1" dirty="0">
                <a:latin typeface="黑体" panose="02010609060101010101" pitchFamily="49" charset="-122"/>
              </a:rPr>
              <a:t>　形态学，生理学，行为学</a:t>
            </a:r>
          </a:p>
          <a:p>
            <a:r>
              <a:rPr lang="zh-CN" altLang="en-US" sz="2800" b="1" dirty="0">
                <a:latin typeface="黑体" panose="02010609060101010101" pitchFamily="49" charset="-122"/>
              </a:rPr>
              <a:t>　有关法则：贝格曼法则，阿伦法则</a:t>
            </a:r>
          </a:p>
          <a:p>
            <a:r>
              <a:rPr lang="zh-CN" altLang="en-US" sz="2800" b="1" dirty="0">
                <a:latin typeface="黑体" panose="02010609060101010101" pitchFamily="49" charset="-122"/>
              </a:rPr>
              <a:t>            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约丹法则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</a:rPr>
              <a:t>)</a:t>
            </a:r>
          </a:p>
          <a:p>
            <a:r>
              <a:rPr lang="en-US" altLang="zh-CN" sz="2800" dirty="0"/>
              <a:t>"</a:t>
            </a:r>
            <a:r>
              <a:rPr lang="zh-CN" altLang="en-US" sz="2800" dirty="0"/>
              <a:t>约丹法则</a:t>
            </a:r>
            <a:r>
              <a:rPr lang="en-US" altLang="zh-CN" sz="2800" dirty="0"/>
              <a:t>" </a:t>
            </a:r>
            <a:r>
              <a:rPr lang="zh-CN" altLang="en-US" sz="2800" dirty="0"/>
              <a:t>指的是</a:t>
            </a:r>
            <a:r>
              <a:rPr lang="zh-CN" altLang="en-US" sz="2800" dirty="0">
                <a:solidFill>
                  <a:srgbClr val="FF0000"/>
                </a:solidFill>
              </a:rPr>
              <a:t>鱼类脊椎骨数量与环境温度</a:t>
            </a:r>
            <a:r>
              <a:rPr lang="zh-CN" altLang="en-US" sz="2800" dirty="0"/>
              <a:t>的关系定律。在较低温度的水域中生活的鱼类，其脊椎骨的数量通常比生活在温暖水域中的同种鱼类要多，这是因为低温会减缓鱼类的生长和发育速度，延长其达到性成熟的时间，从而导致脊椎骨增多。﻿</a:t>
            </a:r>
          </a:p>
          <a:p>
            <a:br>
              <a:rPr lang="zh-CN" altLang="en-US" sz="2800" dirty="0"/>
            </a:b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>
            <a:extLst>
              <a:ext uri="{FF2B5EF4-FFF2-40B4-BE49-F238E27FC236}">
                <a16:creationId xmlns:a16="http://schemas.microsoft.com/office/drawing/2014/main" id="{7348EF57-C342-B776-8025-4335E15E5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765175"/>
            <a:ext cx="8424862" cy="4493538"/>
          </a:xfrm>
        </p:spPr>
        <p:txBody>
          <a:bodyPr/>
          <a:lstStyle/>
          <a:p>
            <a:r>
              <a:rPr lang="en-US" altLang="zh-CN" sz="2800" b="1" dirty="0">
                <a:latin typeface="黑体" panose="02010609060101010101" pitchFamily="49" charset="-122"/>
              </a:rPr>
              <a:t>79.</a:t>
            </a:r>
            <a:r>
              <a:rPr lang="zh-CN" altLang="en-US" sz="2800" b="1" dirty="0">
                <a:latin typeface="黑体" panose="02010609060101010101" pitchFamily="49" charset="-122"/>
              </a:rPr>
              <a:t>有一种动物，相对其他地区的同属物种，体形较大，四肢和尾巴较短，耳较小。请问这种动物最可能来自哪个生态系统：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A</a:t>
            </a:r>
            <a:r>
              <a:rPr lang="zh-CN" altLang="en-US" sz="2800" b="1" dirty="0">
                <a:latin typeface="黑体" panose="02010609060101010101" pitchFamily="49" charset="-122"/>
              </a:rPr>
              <a:t>．热带雨林；</a:t>
            </a:r>
            <a:r>
              <a:rPr lang="en-US" altLang="zh-CN" sz="2800" b="1" dirty="0">
                <a:latin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</a:rPr>
              <a:t>　</a:t>
            </a:r>
            <a:r>
              <a:rPr lang="en-US" altLang="zh-CN" sz="2800" b="1" dirty="0">
                <a:latin typeface="黑体" panose="02010609060101010101" pitchFamily="49" charset="-122"/>
              </a:rPr>
              <a:t>B</a:t>
            </a:r>
            <a:r>
              <a:rPr lang="zh-CN" altLang="en-US" sz="2800" b="1" dirty="0">
                <a:latin typeface="黑体" panose="02010609060101010101" pitchFamily="49" charset="-122"/>
              </a:rPr>
              <a:t>．北温带沙漠； </a:t>
            </a:r>
            <a:endParaRPr lang="en-US" altLang="zh-CN" sz="2800" b="1" dirty="0">
              <a:latin typeface="黑体" panose="02010609060101010101" pitchFamily="49" charset="-122"/>
            </a:endParaRP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C.</a:t>
            </a:r>
            <a:r>
              <a:rPr lang="zh-CN" altLang="en-US" sz="2800" b="1" dirty="0">
                <a:latin typeface="黑体" panose="02010609060101010101" pitchFamily="49" charset="-122"/>
              </a:rPr>
              <a:t>热带草原； </a:t>
            </a:r>
            <a:r>
              <a:rPr lang="en-US" altLang="zh-CN" sz="2800" b="1" dirty="0">
                <a:latin typeface="黑体" panose="02010609060101010101" pitchFamily="49" charset="-122"/>
              </a:rPr>
              <a:t>  </a:t>
            </a:r>
            <a:r>
              <a:rPr lang="en-US" altLang="zh-CN" sz="2800" dirty="0">
                <a:latin typeface="黑体" panose="02010609060101010101" pitchFamily="49" charset="-122"/>
              </a:rPr>
              <a:t> D.</a:t>
            </a:r>
            <a:r>
              <a:rPr lang="zh-CN" altLang="en-US" sz="2800" dirty="0">
                <a:latin typeface="黑体" panose="02010609060101010101" pitchFamily="49" charset="-122"/>
              </a:rPr>
              <a:t>冻原。</a:t>
            </a:r>
          </a:p>
          <a:p>
            <a:r>
              <a:rPr lang="zh-CN" altLang="en-US" sz="2800" b="1" dirty="0">
                <a:solidFill>
                  <a:srgbClr val="CC0000"/>
                </a:solidFill>
                <a:latin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CC0000"/>
                </a:solidFill>
                <a:latin typeface="黑体" panose="02010609060101010101" pitchFamily="49" charset="-122"/>
              </a:rPr>
              <a:t>2015</a:t>
            </a:r>
            <a:r>
              <a:rPr lang="zh-CN" altLang="en-US" sz="2800" b="1" dirty="0">
                <a:solidFill>
                  <a:srgbClr val="CC0000"/>
                </a:solidFill>
                <a:latin typeface="黑体" panose="02010609060101010101" pitchFamily="49" charset="-122"/>
              </a:rPr>
              <a:t>年全国联赛试题）</a:t>
            </a:r>
          </a:p>
          <a:p>
            <a:pPr eaLnBrk="1" hangingPunct="1"/>
            <a:endParaRPr lang="zh-CN" altLang="en-US" sz="2800" b="1" dirty="0">
              <a:latin typeface="黑体" panose="02010609060101010101" pitchFamily="49" charset="-122"/>
            </a:endParaRPr>
          </a:p>
          <a:p>
            <a:pPr eaLnBrk="1" hangingPunct="1"/>
            <a:r>
              <a:rPr lang="zh-CN" altLang="en-US" b="1" dirty="0">
                <a:latin typeface="黑体" panose="02010609060101010101" pitchFamily="49" charset="-122"/>
              </a:rPr>
              <a:t> </a:t>
            </a:r>
            <a:endParaRPr lang="zh-CN" altLang="en-US" b="1" dirty="0">
              <a:solidFill>
                <a:srgbClr val="CC0000"/>
              </a:solidFill>
              <a:latin typeface="黑体" panose="02010609060101010101" pitchFamily="49" charset="-122"/>
            </a:endParaRPr>
          </a:p>
          <a:p>
            <a:endParaRPr lang="zh-CN" altLang="en-US" b="1" dirty="0">
              <a:solidFill>
                <a:srgbClr val="CC0000"/>
              </a:solidFill>
              <a:latin typeface="黑体" panose="02010609060101010101" pitchFamily="49" charset="-122"/>
            </a:endParaRPr>
          </a:p>
          <a:p>
            <a:endParaRPr lang="zh-CN" altLang="en-US" b="1" dirty="0">
              <a:latin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1B84B1-35CF-938A-8BE4-2D5AB0C413FE}"/>
              </a:ext>
            </a:extLst>
          </p:cNvPr>
          <p:cNvSpPr txBox="1"/>
          <p:nvPr/>
        </p:nvSpPr>
        <p:spPr>
          <a:xfrm>
            <a:off x="3505200" y="1599287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9" name="Rectangle 3">
            <a:extLst>
              <a:ext uri="{FF2B5EF4-FFF2-40B4-BE49-F238E27FC236}">
                <a16:creationId xmlns:a16="http://schemas.microsoft.com/office/drawing/2014/main" id="{BE4D3FD4-12A2-8ACC-2EB4-83A3815B4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850" y="981075"/>
            <a:ext cx="8229600" cy="3508653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latin typeface="黑体" panose="02010609060101010101" pitchFamily="49" charset="-122"/>
              </a:rPr>
              <a:t>高温对生物的影响包括下列哪些项</a:t>
            </a:r>
            <a:r>
              <a:rPr lang="en-US" altLang="zh-CN" sz="2800" b="1" dirty="0">
                <a:latin typeface="黑体" panose="02010609060101010101" pitchFamily="49" charset="-122"/>
              </a:rPr>
              <a:t>?    </a:t>
            </a:r>
          </a:p>
          <a:p>
            <a:r>
              <a:rPr lang="en-US" altLang="zh-CN" sz="2800" dirty="0">
                <a:latin typeface="黑体" panose="02010609060101010101" pitchFamily="49" charset="-122"/>
              </a:rPr>
              <a:t>A</a:t>
            </a:r>
            <a:r>
              <a:rPr lang="zh-CN" altLang="en-US" sz="2800" dirty="0">
                <a:latin typeface="黑体" panose="02010609060101010101" pitchFamily="49" charset="-122"/>
              </a:rPr>
              <a:t>．减弱光合作用，加强呼吸作用；    </a:t>
            </a:r>
            <a:endParaRPr lang="en-US" altLang="zh-CN" sz="2800" dirty="0">
              <a:latin typeface="黑体" panose="02010609060101010101" pitchFamily="49" charset="-122"/>
            </a:endParaRPr>
          </a:p>
          <a:p>
            <a:r>
              <a:rPr lang="en-US" altLang="zh-CN" sz="2800" dirty="0">
                <a:latin typeface="黑体" panose="02010609060101010101" pitchFamily="49" charset="-122"/>
              </a:rPr>
              <a:t>B</a:t>
            </a:r>
            <a:r>
              <a:rPr lang="zh-CN" altLang="en-US" sz="2800" dirty="0">
                <a:latin typeface="黑体" panose="02010609060101010101" pitchFamily="49" charset="-122"/>
              </a:rPr>
              <a:t>．破坏植物的水分平衡；</a:t>
            </a:r>
          </a:p>
          <a:p>
            <a:r>
              <a:rPr lang="en-US" altLang="zh-CN" sz="2800" dirty="0">
                <a:latin typeface="黑体" panose="02010609060101010101" pitchFamily="49" charset="-122"/>
              </a:rPr>
              <a:t>C</a:t>
            </a:r>
            <a:r>
              <a:rPr lang="zh-CN" altLang="en-US" sz="2800" dirty="0">
                <a:latin typeface="黑体" panose="02010609060101010101" pitchFamily="49" charset="-122"/>
              </a:rPr>
              <a:t>．破坏酶的活性及使蛋白质变性；   </a:t>
            </a:r>
            <a:endParaRPr lang="zh-CN" altLang="zh-CN" sz="2800" dirty="0">
              <a:latin typeface="黑体" panose="02010609060101010101" pitchFamily="49" charset="-122"/>
            </a:endParaRPr>
          </a:p>
          <a:p>
            <a:r>
              <a:rPr lang="en-US" altLang="zh-CN" sz="2800" dirty="0">
                <a:latin typeface="黑体" panose="02010609060101010101" pitchFamily="49" charset="-122"/>
              </a:rPr>
              <a:t>D</a:t>
            </a:r>
            <a:r>
              <a:rPr lang="zh-CN" altLang="en-US" sz="2800" dirty="0">
                <a:latin typeface="黑体" panose="02010609060101010101" pitchFamily="49" charset="-122"/>
              </a:rPr>
              <a:t>．使原生质膜破裂。</a:t>
            </a:r>
          </a:p>
          <a:p>
            <a:pPr eaLnBrk="1" hangingPunct="1"/>
            <a:r>
              <a:rPr lang="zh-CN" altLang="en-US" sz="2800" b="1" dirty="0">
                <a:latin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CC0000"/>
                </a:solidFill>
                <a:latin typeface="黑体" panose="02010609060101010101" pitchFamily="49" charset="-122"/>
              </a:rPr>
              <a:t>（</a:t>
            </a:r>
            <a:r>
              <a:rPr lang="en-US" altLang="zh-CN" sz="2800" b="1" dirty="0">
                <a:solidFill>
                  <a:srgbClr val="CC0000"/>
                </a:solidFill>
                <a:latin typeface="黑体" panose="02010609060101010101" pitchFamily="49" charset="-122"/>
              </a:rPr>
              <a:t>2011</a:t>
            </a:r>
            <a:r>
              <a:rPr lang="zh-CN" altLang="en-US" sz="2800" b="1" dirty="0">
                <a:solidFill>
                  <a:srgbClr val="CC0000"/>
                </a:solidFill>
                <a:latin typeface="黑体" panose="02010609060101010101" pitchFamily="49" charset="-122"/>
              </a:rPr>
              <a:t>年全国联赛试题）</a:t>
            </a:r>
            <a:endParaRPr lang="zh-CN" altLang="zh-CN" sz="2800" b="1" dirty="0">
              <a:solidFill>
                <a:srgbClr val="CC0000"/>
              </a:solidFill>
              <a:latin typeface="黑体" panose="02010609060101010101" pitchFamily="49" charset="-122"/>
            </a:endParaRPr>
          </a:p>
          <a:p>
            <a:endParaRPr lang="zh-CN" altLang="en-US" sz="2800" b="1" dirty="0">
              <a:solidFill>
                <a:srgbClr val="CC0000"/>
              </a:solidFill>
              <a:latin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77CB2D-43DC-8395-8886-83BA2C92B00A}"/>
              </a:ext>
            </a:extLst>
          </p:cNvPr>
          <p:cNvSpPr txBox="1"/>
          <p:nvPr/>
        </p:nvSpPr>
        <p:spPr>
          <a:xfrm>
            <a:off x="5943600" y="946940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ABC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1" name="Rectangle 3">
            <a:extLst>
              <a:ext uri="{FF2B5EF4-FFF2-40B4-BE49-F238E27FC236}">
                <a16:creationId xmlns:a16="http://schemas.microsoft.com/office/drawing/2014/main" id="{A0B2D73F-572A-CAD8-39E5-A9980621E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8" y="333375"/>
            <a:ext cx="8229600" cy="2277547"/>
          </a:xfrm>
        </p:spPr>
        <p:txBody>
          <a:bodyPr/>
          <a:lstStyle/>
          <a:p>
            <a:r>
              <a:rPr lang="zh-CN" altLang="en-US" dirty="0"/>
              <a:t> </a:t>
            </a:r>
            <a:r>
              <a:rPr lang="zh-CN" altLang="en-US" sz="2800" b="1" dirty="0">
                <a:latin typeface="黑体" panose="02010609060101010101" pitchFamily="49" charset="-122"/>
              </a:rPr>
              <a:t>下列哪一项不属于温度的生态效应：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A</a:t>
            </a:r>
            <a:r>
              <a:rPr lang="zh-CN" altLang="en-US" sz="2800" b="1" dirty="0">
                <a:latin typeface="黑体" panose="02010609060101010101" pitchFamily="49" charset="-122"/>
              </a:rPr>
              <a:t>．冬眠的蛇相互缠绕；              </a:t>
            </a:r>
          </a:p>
          <a:p>
            <a:r>
              <a:rPr lang="en-US" altLang="zh-CN" sz="2800" dirty="0">
                <a:latin typeface="黑体" panose="02010609060101010101" pitchFamily="49" charset="-122"/>
              </a:rPr>
              <a:t>B</a:t>
            </a:r>
            <a:r>
              <a:rPr lang="zh-CN" altLang="en-US" sz="2800" dirty="0">
                <a:latin typeface="黑体" panose="02010609060101010101" pitchFamily="49" charset="-122"/>
              </a:rPr>
              <a:t>．石莼分布</a:t>
            </a:r>
            <a:r>
              <a:rPr lang="zh-CN" altLang="en-US" sz="2800" b="1" dirty="0">
                <a:latin typeface="黑体" panose="02010609060101010101" pitchFamily="49" charset="-122"/>
              </a:rPr>
              <a:t>于近海水的表层；    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C. </a:t>
            </a:r>
            <a:r>
              <a:rPr lang="zh-CN" altLang="en-US" sz="2800" b="1" dirty="0">
                <a:latin typeface="黑体" panose="02010609060101010101" pitchFamily="49" charset="-122"/>
              </a:rPr>
              <a:t>厄尔尼诺现象使某种生物冬季发情； 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D. </a:t>
            </a:r>
            <a:r>
              <a:rPr lang="zh-CN" altLang="en-US" sz="2800" b="1" dirty="0">
                <a:latin typeface="黑体" panose="02010609060101010101" pitchFamily="49" charset="-122"/>
              </a:rPr>
              <a:t>北极狐的耳朵比非洲狐的短</a:t>
            </a:r>
            <a:r>
              <a:rPr lang="zh-CN" altLang="en-US" b="1" dirty="0"/>
              <a:t>。</a:t>
            </a:r>
            <a:r>
              <a:rPr lang="zh-CN" altLang="en-US" sz="2800" b="1" dirty="0">
                <a:latin typeface="黑体" panose="02010609060101010101" pitchFamily="49" charset="-122"/>
              </a:rPr>
              <a:t>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8E8D7C-D8A2-C8A5-04B1-C6CB98A0EA0D}"/>
              </a:ext>
            </a:extLst>
          </p:cNvPr>
          <p:cNvSpPr txBox="1"/>
          <p:nvPr/>
        </p:nvSpPr>
        <p:spPr>
          <a:xfrm>
            <a:off x="6019800" y="354585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22790666-83A4-85AF-5A17-6F57231E1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825" y="333375"/>
            <a:ext cx="8229600" cy="4525963"/>
          </a:xfrm>
        </p:spPr>
        <p:txBody>
          <a:bodyPr/>
          <a:lstStyle/>
          <a:p>
            <a:r>
              <a:rPr lang="en-US" altLang="zh-CN"/>
              <a:t>2.</a:t>
            </a:r>
          </a:p>
        </p:txBody>
      </p:sp>
      <p:sp>
        <p:nvSpPr>
          <p:cNvPr id="79876" name="Rectangle 4">
            <a:extLst>
              <a:ext uri="{FF2B5EF4-FFF2-40B4-BE49-F238E27FC236}">
                <a16:creationId xmlns:a16="http://schemas.microsoft.com/office/drawing/2014/main" id="{2D58069D-D81D-8DD6-3647-6635B03B8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052513"/>
            <a:ext cx="8207375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43. 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全球气候变暖可以对动物生理及生态产生很大的影响，已知的最明显的直接效应是：</a:t>
            </a:r>
          </a:p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　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A.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影响鸟类生殖节律；</a:t>
            </a:r>
            <a:b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</a:b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　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B.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影响哺乳动物共生菌组成；</a:t>
            </a:r>
          </a:p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　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C.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促进动物分布区向北扩展；</a:t>
            </a:r>
          </a:p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　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D.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影响到昆虫的生殖和发生。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zh-CN" altLang="en-US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（</a:t>
            </a:r>
            <a:r>
              <a:rPr lang="en-US" altLang="zh-CN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2014</a:t>
            </a:r>
            <a:r>
              <a:rPr lang="zh-CN" altLang="en-US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年全国联赛试题）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lang="zh-CN" altLang="en-US" b="1" dirty="0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4B68B0-5B29-B708-DB3A-E7CF5F518884}"/>
              </a:ext>
            </a:extLst>
          </p:cNvPr>
          <p:cNvSpPr txBox="1"/>
          <p:nvPr/>
        </p:nvSpPr>
        <p:spPr>
          <a:xfrm>
            <a:off x="7467600" y="1524000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11" name="Rectangle 3">
            <a:extLst>
              <a:ext uri="{FF2B5EF4-FFF2-40B4-BE49-F238E27FC236}">
                <a16:creationId xmlns:a16="http://schemas.microsoft.com/office/drawing/2014/main" id="{26F163D8-A564-B01B-4249-D3A3D9D28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3939540"/>
          </a:xfrm>
        </p:spPr>
        <p:txBody>
          <a:bodyPr/>
          <a:lstStyle/>
          <a:p>
            <a:r>
              <a:rPr lang="zh-CN" altLang="en-US" sz="2800" b="1" dirty="0"/>
              <a:t>有一种树蛙是蛙类中最耐寒的，也是最勤奋的一种。当所有蛙类都冬眠去了，这种蛙却反其道而行之，开始它们一年中最忙碌的时刻。这段文字的叙述，与下列进化观点中哪一项最为接近：</a:t>
            </a:r>
          </a:p>
          <a:p>
            <a:r>
              <a:rPr lang="en-US" altLang="zh-CN" sz="2800" dirty="0">
                <a:latin typeface="黑体" panose="02010609060101010101" pitchFamily="49" charset="-122"/>
              </a:rPr>
              <a:t>A.</a:t>
            </a:r>
            <a:r>
              <a:rPr lang="zh-CN" altLang="en-US" sz="2800" dirty="0">
                <a:latin typeface="黑体" panose="02010609060101010101" pitchFamily="49" charset="-122"/>
              </a:rPr>
              <a:t>适应淘汰</a:t>
            </a:r>
            <a:r>
              <a:rPr lang="zh-CN" altLang="en-US" sz="2800" b="1" dirty="0">
                <a:latin typeface="黑体" panose="02010609060101010101" pitchFamily="49" charset="-122"/>
              </a:rPr>
              <a:t>；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B.</a:t>
            </a:r>
            <a:r>
              <a:rPr lang="zh-CN" altLang="en-US" sz="2800" b="1" dirty="0">
                <a:latin typeface="黑体" panose="02010609060101010101" pitchFamily="49" charset="-122"/>
              </a:rPr>
              <a:t>地理隔离；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C.</a:t>
            </a:r>
            <a:r>
              <a:rPr lang="zh-CN" altLang="en-US" sz="2800" b="1" dirty="0">
                <a:latin typeface="黑体" panose="02010609060101010101" pitchFamily="49" charset="-122"/>
              </a:rPr>
              <a:t>生殖隔离；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D.</a:t>
            </a:r>
            <a:r>
              <a:rPr lang="zh-CN" altLang="en-US" sz="2800" b="1" dirty="0">
                <a:latin typeface="黑体" panose="02010609060101010101" pitchFamily="49" charset="-122"/>
              </a:rPr>
              <a:t>过度繁殖。</a:t>
            </a: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AB3E7B-86AA-1F49-95D5-3E91C377B000}"/>
              </a:ext>
            </a:extLst>
          </p:cNvPr>
          <p:cNvSpPr txBox="1"/>
          <p:nvPr/>
        </p:nvSpPr>
        <p:spPr>
          <a:xfrm>
            <a:off x="6096000" y="2362200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972" name="Picture 4">
            <a:extLst>
              <a:ext uri="{FF2B5EF4-FFF2-40B4-BE49-F238E27FC236}">
                <a16:creationId xmlns:a16="http://schemas.microsoft.com/office/drawing/2014/main" id="{5DD7D84B-84AB-8A7F-C249-03F3588BA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2781300"/>
            <a:ext cx="3846513" cy="262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1973" name="Text Box 5">
            <a:extLst>
              <a:ext uri="{FF2B5EF4-FFF2-40B4-BE49-F238E27FC236}">
                <a16:creationId xmlns:a16="http://schemas.microsoft.com/office/drawing/2014/main" id="{D351E889-50DE-4732-FBC9-48AD68A91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25538"/>
            <a:ext cx="8713788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甲、乙、丙三种荧火虫对环境温度适应能力不相同。它们的分布区域的温度、湿度范围如图所示，请根据</a:t>
            </a:r>
          </a:p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此图分析下列哪些选项叙述是合理的：</a:t>
            </a:r>
          </a:p>
        </p:txBody>
      </p:sp>
      <p:sp>
        <p:nvSpPr>
          <p:cNvPr id="851974" name="Text Box 6">
            <a:extLst>
              <a:ext uri="{FF2B5EF4-FFF2-40B4-BE49-F238E27FC236}">
                <a16:creationId xmlns:a16="http://schemas.microsoft.com/office/drawing/2014/main" id="{7429E169-906E-D730-DD5E-68F69BD02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597" y="2565400"/>
            <a:ext cx="4918075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A.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甲能适应的温度较丙为高；</a:t>
            </a:r>
          </a:p>
          <a:p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B.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乙能适应的温度较甲为广；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C.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丙能适应的湿度较乙为广；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D.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甲能适应的湿度较丙为窄；</a:t>
            </a: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E.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这三种萤火虫有可能同时分</a:t>
            </a:r>
          </a:p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　布于温、湿度范围很窄的同　</a:t>
            </a:r>
          </a:p>
          <a:p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+mn-ea"/>
              </a:rPr>
              <a:t>　一栖息地。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EDDC21-5A2E-2410-FE51-E516D3E91F45}"/>
              </a:ext>
            </a:extLst>
          </p:cNvPr>
          <p:cNvSpPr txBox="1"/>
          <p:nvPr/>
        </p:nvSpPr>
        <p:spPr>
          <a:xfrm>
            <a:off x="6324600" y="2014747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ABC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3" name="Rectangle 3">
            <a:extLst>
              <a:ext uri="{FF2B5EF4-FFF2-40B4-BE49-F238E27FC236}">
                <a16:creationId xmlns:a16="http://schemas.microsoft.com/office/drawing/2014/main" id="{55E5AD72-F756-58AD-7B8A-EB5AF2E75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908050"/>
            <a:ext cx="8229600" cy="3016210"/>
          </a:xfrm>
        </p:spPr>
        <p:txBody>
          <a:bodyPr/>
          <a:lstStyle/>
          <a:p>
            <a:r>
              <a:rPr lang="zh-CN" altLang="en-US" sz="2800" b="1" dirty="0"/>
              <a:t>下列何种生物在全球气候变暖的趋势下灭绝的机率最高：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A.</a:t>
            </a:r>
            <a:r>
              <a:rPr lang="zh-CN" altLang="en-US" sz="2800" b="1" dirty="0">
                <a:latin typeface="黑体" panose="02010609060101010101" pitchFamily="49" charset="-122"/>
              </a:rPr>
              <a:t>昆虫；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B.</a:t>
            </a:r>
            <a:r>
              <a:rPr lang="zh-CN" altLang="en-US" sz="2800" b="1" dirty="0">
                <a:latin typeface="黑体" panose="02010609060101010101" pitchFamily="49" charset="-122"/>
              </a:rPr>
              <a:t>体型大的动物；</a:t>
            </a:r>
          </a:p>
          <a:p>
            <a:r>
              <a:rPr lang="en-US" altLang="zh-CN" sz="2800" dirty="0">
                <a:latin typeface="黑体" panose="02010609060101010101" pitchFamily="49" charset="-122"/>
              </a:rPr>
              <a:t>C.</a:t>
            </a:r>
            <a:r>
              <a:rPr lang="zh-CN" altLang="en-US" sz="2800" dirty="0">
                <a:latin typeface="黑体" panose="02010609060101010101" pitchFamily="49" charset="-122"/>
              </a:rPr>
              <a:t>食性专一的动物</a:t>
            </a:r>
            <a:r>
              <a:rPr lang="zh-CN" altLang="en-US" sz="2800" b="1" dirty="0">
                <a:latin typeface="黑体" panose="02010609060101010101" pitchFamily="49" charset="-122"/>
              </a:rPr>
              <a:t>；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D.</a:t>
            </a:r>
            <a:r>
              <a:rPr lang="zh-CN" altLang="en-US" sz="2800" b="1" dirty="0">
                <a:latin typeface="黑体" panose="02010609060101010101" pitchFamily="49" charset="-122"/>
              </a:rPr>
              <a:t>水生植物。</a:t>
            </a:r>
          </a:p>
          <a:p>
            <a:endParaRPr lang="zh-CN" altLang="en-US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8F810E-DB07-2A43-B786-E2C37551E0E2}"/>
              </a:ext>
            </a:extLst>
          </p:cNvPr>
          <p:cNvSpPr txBox="1"/>
          <p:nvPr/>
        </p:nvSpPr>
        <p:spPr>
          <a:xfrm>
            <a:off x="1295400" y="1295400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3" name="Rectangle 3">
            <a:extLst>
              <a:ext uri="{FF2B5EF4-FFF2-40B4-BE49-F238E27FC236}">
                <a16:creationId xmlns:a16="http://schemas.microsoft.com/office/drawing/2014/main" id="{36FEA45B-C59D-D315-2EE9-4C8D0B506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81075"/>
            <a:ext cx="8229600" cy="3508653"/>
          </a:xfrm>
        </p:spPr>
        <p:txBody>
          <a:bodyPr/>
          <a:lstStyle/>
          <a:p>
            <a:r>
              <a:rPr lang="zh-CN" altLang="en-US" sz="2800" b="1" dirty="0"/>
              <a:t>在温带地区，大多数植物春季发芽、生长，夏季开花，秋季成熟，冬季落叶和休眠。这种物候特征与温度的影响有关，主要是：</a:t>
            </a:r>
            <a:r>
              <a:rPr lang="zh-CN" altLang="en-US" sz="2800" b="1" u="sng" dirty="0"/>
              <a:t>      </a:t>
            </a:r>
            <a:endParaRPr lang="zh-CN" altLang="en-US" sz="2800" b="1" dirty="0"/>
          </a:p>
          <a:p>
            <a:r>
              <a:rPr lang="en-US" altLang="zh-CN" sz="2800" dirty="0">
                <a:latin typeface="黑体" panose="02010609060101010101" pitchFamily="49" charset="-122"/>
              </a:rPr>
              <a:t>A.</a:t>
            </a:r>
            <a:r>
              <a:rPr lang="zh-CN" altLang="en-US" sz="2800" dirty="0">
                <a:latin typeface="黑体" panose="02010609060101010101" pitchFamily="49" charset="-122"/>
              </a:rPr>
              <a:t>节律</a:t>
            </a:r>
            <a:r>
              <a:rPr lang="zh-CN" altLang="en-US" sz="2800" b="1" dirty="0"/>
              <a:t>性变温的影响；      </a:t>
            </a:r>
          </a:p>
          <a:p>
            <a:r>
              <a:rPr lang="en-US" altLang="zh-CN" sz="2800" b="1" dirty="0"/>
              <a:t>B.</a:t>
            </a:r>
            <a:r>
              <a:rPr lang="zh-CN" altLang="en-US" sz="2800" b="1" dirty="0"/>
              <a:t>极端高低温度的影响；</a:t>
            </a:r>
          </a:p>
          <a:p>
            <a:r>
              <a:rPr lang="en-US" altLang="zh-CN" sz="2800" b="1" dirty="0"/>
              <a:t>C.</a:t>
            </a:r>
            <a:r>
              <a:rPr lang="zh-CN" altLang="en-US" sz="2800" b="1" dirty="0"/>
              <a:t>温度升降速度的影响；    </a:t>
            </a:r>
          </a:p>
          <a:p>
            <a:r>
              <a:rPr lang="en-US" altLang="zh-CN" sz="2800" b="1" dirty="0"/>
              <a:t>D.</a:t>
            </a:r>
            <a:r>
              <a:rPr lang="zh-CN" altLang="en-US" sz="2800" b="1" dirty="0"/>
              <a:t>高低温度持续时间的影响。</a:t>
            </a:r>
          </a:p>
          <a:p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B6BD7D-E343-5906-C52E-BD64F61DB91B}"/>
              </a:ext>
            </a:extLst>
          </p:cNvPr>
          <p:cNvSpPr txBox="1"/>
          <p:nvPr/>
        </p:nvSpPr>
        <p:spPr>
          <a:xfrm>
            <a:off x="4724400" y="1828800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099" name="Rectangle 3">
            <a:extLst>
              <a:ext uri="{FF2B5EF4-FFF2-40B4-BE49-F238E27FC236}">
                <a16:creationId xmlns:a16="http://schemas.microsoft.com/office/drawing/2014/main" id="{623E31AE-52D4-62BD-1F7E-8A61C72D0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52513"/>
            <a:ext cx="8229600" cy="31023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>
                <a:latin typeface="黑体" panose="02010609060101010101" pitchFamily="49" charset="-122"/>
              </a:rPr>
              <a:t>对于动物耐寒性，下面哪一叙述是对的：</a:t>
            </a:r>
            <a:endParaRPr lang="en-US" altLang="zh-CN" sz="2800" b="1" dirty="0">
              <a:latin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黑体" panose="02010609060101010101" pitchFamily="49" charset="-122"/>
              </a:rPr>
              <a:t>A.</a:t>
            </a:r>
            <a:r>
              <a:rPr lang="zh-CN" altLang="en-US" sz="2800" dirty="0">
                <a:latin typeface="黑体" panose="02010609060101010101" pitchFamily="49" charset="-122"/>
              </a:rPr>
              <a:t>同一种恒温动物，体型大的更耐寒；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黑体" panose="02010609060101010101" pitchFamily="49" charset="-122"/>
              </a:rPr>
              <a:t>B.</a:t>
            </a:r>
            <a:r>
              <a:rPr lang="zh-CN" altLang="en-US" sz="2800" dirty="0">
                <a:latin typeface="黑体" panose="02010609060101010101" pitchFamily="49" charset="-122"/>
              </a:rPr>
              <a:t>通过在低温下进行驯化，可以提高动物的耐寒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黑体" panose="02010609060101010101" pitchFamily="49" charset="-122"/>
              </a:rPr>
              <a:t>  性；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黑体" panose="02010609060101010101" pitchFamily="49" charset="-122"/>
              </a:rPr>
              <a:t>C.</a:t>
            </a:r>
            <a:r>
              <a:rPr lang="zh-CN" altLang="en-US" sz="2800" dirty="0">
                <a:latin typeface="黑体" panose="02010609060101010101" pitchFamily="49" charset="-122"/>
              </a:rPr>
              <a:t>由于昆虫的耐寒性有季节性的变化，因此春寒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黑体" panose="02010609060101010101" pitchFamily="49" charset="-122"/>
              </a:rPr>
              <a:t>  能减少春夏之际的害虫危害；</a:t>
            </a:r>
          </a:p>
          <a:p>
            <a:pPr>
              <a:lnSpc>
                <a:spcPct val="90000"/>
              </a:lnSpc>
            </a:pPr>
            <a:r>
              <a:rPr lang="en-US" altLang="zh-CN" sz="2800" b="1" dirty="0">
                <a:latin typeface="黑体" panose="02010609060101010101" pitchFamily="49" charset="-122"/>
              </a:rPr>
              <a:t>D.</a:t>
            </a:r>
            <a:r>
              <a:rPr lang="zh-CN" altLang="en-US" sz="2800" b="1" dirty="0">
                <a:latin typeface="黑体" panose="02010609060101010101" pitchFamily="49" charset="-122"/>
              </a:rPr>
              <a:t>变温动物忍受体温下降的能力较弱，不能允许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黑体" panose="02010609060101010101" pitchFamily="49" charset="-122"/>
              </a:rPr>
              <a:t>  其体温有较大辐度的下降</a:t>
            </a:r>
            <a:r>
              <a:rPr lang="zh-CN" altLang="en-US" sz="2800" b="1" dirty="0"/>
              <a:t>。</a:t>
            </a:r>
            <a:endParaRPr lang="en-US" altLang="zh-CN" sz="28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4B826C-CED4-7528-9544-C09DD363DD16}"/>
              </a:ext>
            </a:extLst>
          </p:cNvPr>
          <p:cNvSpPr txBox="1"/>
          <p:nvPr/>
        </p:nvSpPr>
        <p:spPr>
          <a:xfrm>
            <a:off x="6781800" y="992024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ABC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>
            <a:extLst>
              <a:ext uri="{FF2B5EF4-FFF2-40B4-BE49-F238E27FC236}">
                <a16:creationId xmlns:a16="http://schemas.microsoft.com/office/drawing/2014/main" id="{7FD3FD01-EC38-0586-1902-9EB1F2C9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1125538"/>
            <a:ext cx="8229600" cy="2585323"/>
          </a:xfrm>
        </p:spPr>
        <p:txBody>
          <a:bodyPr/>
          <a:lstStyle/>
          <a:p>
            <a:r>
              <a:rPr lang="zh-CN" altLang="en-US" sz="2800" b="1" dirty="0"/>
              <a:t>温度对卵的孵化影响很大，请问在下面哪种情况下卵的孵化期最短？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A</a:t>
            </a:r>
            <a:r>
              <a:rPr lang="zh-CN" altLang="en-US" sz="2800" b="1" dirty="0">
                <a:latin typeface="黑体" panose="02010609060101010101" pitchFamily="49" charset="-122"/>
              </a:rPr>
              <a:t>．在适温范围的下限温度；		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B</a:t>
            </a:r>
            <a:r>
              <a:rPr lang="zh-CN" altLang="en-US" sz="2800" b="1" dirty="0">
                <a:latin typeface="黑体" panose="02010609060101010101" pitchFamily="49" charset="-122"/>
              </a:rPr>
              <a:t>．在适温范围的上限温度；</a:t>
            </a:r>
          </a:p>
          <a:p>
            <a:r>
              <a:rPr lang="en-US" altLang="zh-CN" sz="2800" b="1" dirty="0">
                <a:latin typeface="黑体" panose="02010609060101010101" pitchFamily="49" charset="-122"/>
              </a:rPr>
              <a:t>C</a:t>
            </a:r>
            <a:r>
              <a:rPr lang="zh-CN" altLang="en-US" sz="2800" b="1" dirty="0">
                <a:latin typeface="黑体" panose="02010609060101010101" pitchFamily="49" charset="-122"/>
              </a:rPr>
              <a:t>．一直保持在最适温度；		</a:t>
            </a:r>
          </a:p>
          <a:p>
            <a:r>
              <a:rPr lang="en-US" altLang="zh-CN" sz="2800" dirty="0">
                <a:latin typeface="黑体" panose="02010609060101010101" pitchFamily="49" charset="-122"/>
              </a:rPr>
              <a:t>D</a:t>
            </a:r>
            <a:r>
              <a:rPr lang="zh-CN" altLang="en-US" sz="2800" dirty="0">
                <a:latin typeface="黑体" panose="02010609060101010101" pitchFamily="49" charset="-122"/>
              </a:rPr>
              <a:t>．在适温范围</a:t>
            </a:r>
            <a:r>
              <a:rPr lang="zh-CN" altLang="en-US" sz="2800" b="1" dirty="0">
                <a:latin typeface="黑体" panose="02010609060101010101" pitchFamily="49" charset="-122"/>
              </a:rPr>
              <a:t>内温度有些波动。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FFB9D7-7743-4E1B-CCCE-11C94FCCA7DD}"/>
              </a:ext>
            </a:extLst>
          </p:cNvPr>
          <p:cNvSpPr txBox="1"/>
          <p:nvPr/>
        </p:nvSpPr>
        <p:spPr>
          <a:xfrm>
            <a:off x="3643999" y="1524000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Rectangle 3">
            <a:extLst>
              <a:ext uri="{FF2B5EF4-FFF2-40B4-BE49-F238E27FC236}">
                <a16:creationId xmlns:a16="http://schemas.microsoft.com/office/drawing/2014/main" id="{DC1BBFFA-F66A-A215-13EB-6048571F1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549275"/>
            <a:ext cx="8229600" cy="29915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latin typeface="黑体" panose="02010609060101010101" pitchFamily="49" charset="-122"/>
              </a:rPr>
              <a:t>下列叙述正确的是：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黑体" panose="02010609060101010101" pitchFamily="49" charset="-122"/>
              </a:rPr>
              <a:t>A.</a:t>
            </a:r>
            <a:r>
              <a:rPr lang="zh-CN" altLang="en-US" sz="2400" dirty="0">
                <a:latin typeface="黑体" panose="02010609060101010101" pitchFamily="49" charset="-122"/>
              </a:rPr>
              <a:t>在其他因素相同的条件下，在北美温带内每向北移动纬度</a:t>
            </a:r>
            <a:r>
              <a:rPr lang="en-US" altLang="zh-CN" sz="2400" dirty="0">
                <a:latin typeface="黑体" panose="02010609060101010101" pitchFamily="49" charset="-122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</a:rPr>
              <a:t>度，向东移动经度</a:t>
            </a:r>
            <a:r>
              <a:rPr lang="en-US" altLang="zh-CN" sz="2400" dirty="0">
                <a:latin typeface="黑体" panose="02010609060101010101" pitchFamily="49" charset="-122"/>
              </a:rPr>
              <a:t>5</a:t>
            </a:r>
            <a:r>
              <a:rPr lang="zh-CN" altLang="en-US" sz="2400" dirty="0">
                <a:latin typeface="黑体" panose="02010609060101010101" pitchFamily="49" charset="-122"/>
              </a:rPr>
              <a:t>度</a:t>
            </a:r>
            <a:r>
              <a:rPr lang="en-US" altLang="zh-CN" sz="2400" dirty="0">
                <a:latin typeface="黑体" panose="02010609060101010101" pitchFamily="49" charset="-122"/>
              </a:rPr>
              <a:t>,</a:t>
            </a:r>
            <a:r>
              <a:rPr lang="zh-CN" altLang="en-US" sz="2400" dirty="0">
                <a:latin typeface="黑体" panose="02010609060101010101" pitchFamily="49" charset="-122"/>
              </a:rPr>
              <a:t>植物的开花日期在春季要延　后</a:t>
            </a:r>
            <a:r>
              <a:rPr lang="en-US" altLang="zh-CN" sz="2400" dirty="0">
                <a:latin typeface="黑体" panose="02010609060101010101" pitchFamily="49" charset="-122"/>
              </a:rPr>
              <a:t>4</a:t>
            </a:r>
            <a:r>
              <a:rPr lang="zh-CN" altLang="en-US" sz="2400" dirty="0">
                <a:latin typeface="黑体" panose="02010609060101010101" pitchFamily="49" charset="-122"/>
              </a:rPr>
              <a:t>天；</a:t>
            </a:r>
            <a:endParaRPr lang="en-US" altLang="zh-CN" sz="2400" dirty="0">
              <a:latin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黑体" panose="02010609060101010101" pitchFamily="49" charset="-122"/>
              </a:rPr>
              <a:t>B.</a:t>
            </a:r>
            <a:r>
              <a:rPr lang="zh-CN" altLang="en-US" sz="2400" dirty="0">
                <a:latin typeface="黑体" panose="02010609060101010101" pitchFamily="49" charset="-122"/>
              </a:rPr>
              <a:t>在其他因素相同的条件下</a:t>
            </a:r>
            <a:r>
              <a:rPr lang="en-US" altLang="zh-CN" sz="2400" dirty="0">
                <a:latin typeface="黑体" panose="02010609060101010101" pitchFamily="49" charset="-122"/>
              </a:rPr>
              <a:t>,</a:t>
            </a:r>
            <a:r>
              <a:rPr lang="zh-CN" altLang="en-US" sz="2400" dirty="0">
                <a:latin typeface="黑体" panose="02010609060101010101" pitchFamily="49" charset="-122"/>
              </a:rPr>
              <a:t>在北美温带内，海拔高度上升</a:t>
            </a:r>
            <a:r>
              <a:rPr lang="en-US" altLang="zh-CN" sz="2400" dirty="0">
                <a:latin typeface="黑体" panose="02010609060101010101" pitchFamily="49" charset="-122"/>
              </a:rPr>
              <a:t>400</a:t>
            </a:r>
            <a:r>
              <a:rPr lang="zh-CN" altLang="en-US" sz="2400" dirty="0">
                <a:latin typeface="黑体" panose="02010609060101010101" pitchFamily="49" charset="-122"/>
              </a:rPr>
              <a:t>英尺，昆虫的活动日期在春季要延后</a:t>
            </a:r>
            <a:r>
              <a:rPr lang="en-US" altLang="zh-CN" sz="2400" dirty="0">
                <a:latin typeface="黑体" panose="02010609060101010101" pitchFamily="49" charset="-122"/>
              </a:rPr>
              <a:t>4</a:t>
            </a:r>
            <a:r>
              <a:rPr lang="zh-CN" altLang="en-US" sz="2400" dirty="0">
                <a:latin typeface="黑体" panose="02010609060101010101" pitchFamily="49" charset="-122"/>
              </a:rPr>
              <a:t>天； 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黑体" panose="02010609060101010101" pitchFamily="49" charset="-122"/>
              </a:rPr>
              <a:t>C.</a:t>
            </a:r>
            <a:r>
              <a:rPr lang="zh-CN" altLang="en-US" sz="2400" dirty="0">
                <a:latin typeface="黑体" panose="02010609060101010101" pitchFamily="49" charset="-122"/>
              </a:rPr>
              <a:t>在其他因素相同的条件下，在北美温带内每向北移动纬度</a:t>
            </a:r>
            <a:r>
              <a:rPr lang="en-US" altLang="zh-CN" sz="2400" dirty="0">
                <a:latin typeface="黑体" panose="02010609060101010101" pitchFamily="49" charset="-122"/>
              </a:rPr>
              <a:t>1</a:t>
            </a:r>
            <a:r>
              <a:rPr lang="zh-CN" altLang="en-US" sz="2400" dirty="0">
                <a:latin typeface="黑体" panose="02010609060101010101" pitchFamily="49" charset="-122"/>
              </a:rPr>
              <a:t>度，向东移动经度</a:t>
            </a:r>
            <a:r>
              <a:rPr lang="en-US" altLang="zh-CN" sz="2400" dirty="0">
                <a:latin typeface="黑体" panose="02010609060101010101" pitchFamily="49" charset="-122"/>
              </a:rPr>
              <a:t>5</a:t>
            </a:r>
            <a:r>
              <a:rPr lang="zh-CN" altLang="en-US" sz="2400" dirty="0">
                <a:latin typeface="黑体" panose="02010609060101010101" pitchFamily="49" charset="-122"/>
              </a:rPr>
              <a:t>度，植物的开花日期在秋季要提前</a:t>
            </a:r>
            <a:r>
              <a:rPr lang="en-US" altLang="zh-CN" sz="2400" dirty="0">
                <a:latin typeface="黑体" panose="02010609060101010101" pitchFamily="49" charset="-122"/>
              </a:rPr>
              <a:t>4</a:t>
            </a:r>
            <a:r>
              <a:rPr lang="zh-CN" altLang="en-US" sz="2400" dirty="0">
                <a:latin typeface="黑体" panose="02010609060101010101" pitchFamily="49" charset="-122"/>
              </a:rPr>
              <a:t>天； </a:t>
            </a:r>
            <a:endParaRPr lang="en-US" altLang="zh-CN" sz="2400" dirty="0">
              <a:latin typeface="黑体" panose="02010609060101010101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黑体" panose="02010609060101010101" pitchFamily="49" charset="-122"/>
              </a:rPr>
              <a:t>D .</a:t>
            </a:r>
            <a:r>
              <a:rPr lang="zh-CN" altLang="en-US" sz="2400" dirty="0">
                <a:latin typeface="黑体" panose="02010609060101010101" pitchFamily="49" charset="-122"/>
              </a:rPr>
              <a:t>植物的开花、昆虫的活动日期的变化和纬度、经度、海拔高度没有关系。　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617D83-A9A4-D963-74F6-FF5265612D0E}"/>
              </a:ext>
            </a:extLst>
          </p:cNvPr>
          <p:cNvSpPr txBox="1"/>
          <p:nvPr/>
        </p:nvSpPr>
        <p:spPr>
          <a:xfrm>
            <a:off x="26756" y="3708283"/>
            <a:ext cx="8793715" cy="2757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CC0000"/>
                </a:solidFill>
                <a:latin typeface="黑体" panose="02010609060101010101" pitchFamily="49" charset="-122"/>
              </a:rPr>
              <a:t>　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+mn-ea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+mn-ea"/>
              </a:rPr>
              <a:t>霍普金斯定律）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+mn-ea"/>
              </a:rPr>
              <a:t>向北纬每增加</a:t>
            </a: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+mn-ea"/>
              </a:rPr>
              <a:t>1°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+mn-ea"/>
              </a:rPr>
              <a:t>，物候期（如开花、昆虫出活动等）推迟 约</a:t>
            </a: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+mn-ea"/>
              </a:rPr>
              <a:t>4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+mn-ea"/>
              </a:rPr>
              <a:t>天；海拔每升高</a:t>
            </a: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+mn-ea"/>
              </a:rPr>
              <a:t>100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+mn-ea"/>
              </a:rPr>
              <a:t>米，物候期推迟 约</a:t>
            </a: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+mn-ea"/>
              </a:rPr>
              <a:t>4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+mn-ea"/>
              </a:rPr>
              <a:t>天；</a:t>
            </a:r>
          </a:p>
          <a:p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+mn-ea"/>
              </a:rPr>
              <a:t>向西经度每增加</a:t>
            </a: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+mn-ea"/>
              </a:rPr>
              <a:t>5°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+mn-ea"/>
              </a:rPr>
              <a:t>（在北半球中纬度地区），物候期推迟约</a:t>
            </a:r>
            <a:r>
              <a:rPr lang="en-US" altLang="zh-CN" sz="2400" b="1" dirty="0">
                <a:solidFill>
                  <a:schemeClr val="tx2"/>
                </a:solidFill>
                <a:latin typeface="黑体" panose="02010609060101010101" pitchFamily="49" charset="-122"/>
                <a:ea typeface="+mn-ea"/>
              </a:rPr>
              <a:t>4</a:t>
            </a:r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+mn-ea"/>
              </a:rPr>
              <a:t>天。</a:t>
            </a:r>
            <a:endParaRPr lang="en-US" altLang="zh-CN" sz="2400" b="1" dirty="0">
              <a:solidFill>
                <a:schemeClr val="tx2"/>
              </a:solidFill>
              <a:latin typeface="黑体" panose="02010609060101010101" pitchFamily="49" charset="-122"/>
              <a:ea typeface="+mn-ea"/>
            </a:endParaRPr>
          </a:p>
          <a:p>
            <a:r>
              <a:rPr lang="zh-CN" altLang="en-US" sz="2400" b="1" dirty="0">
                <a:solidFill>
                  <a:schemeClr val="tx2"/>
                </a:solidFill>
                <a:latin typeface="黑体" panose="02010609060101010101" pitchFamily="49" charset="-122"/>
                <a:ea typeface="+mn-ea"/>
              </a:rPr>
              <a:t>温度降低或春天到来的延迟，会让植物、昆虫等生物的季节性活动相应推迟。</a:t>
            </a:r>
          </a:p>
          <a:p>
            <a:pPr>
              <a:lnSpc>
                <a:spcPct val="90000"/>
              </a:lnSpc>
            </a:pPr>
            <a:endParaRPr lang="zh-CN" altLang="en-US" sz="2800" b="1" dirty="0">
              <a:solidFill>
                <a:srgbClr val="CC0000"/>
              </a:solidFill>
              <a:latin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FF194C-9132-3D4C-7999-21ECCBF2192A}"/>
              </a:ext>
            </a:extLst>
          </p:cNvPr>
          <p:cNvSpPr txBox="1"/>
          <p:nvPr/>
        </p:nvSpPr>
        <p:spPr>
          <a:xfrm>
            <a:off x="3339507" y="392039"/>
            <a:ext cx="939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ABC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7225" name="Picture 9">
            <a:extLst>
              <a:ext uri="{FF2B5EF4-FFF2-40B4-BE49-F238E27FC236}">
                <a16:creationId xmlns:a16="http://schemas.microsoft.com/office/drawing/2014/main" id="{1666D009-AF26-E66D-D1CC-2F9A6DB9E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404813"/>
            <a:ext cx="7458075" cy="561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3119</Words>
  <Application>Microsoft Macintosh PowerPoint</Application>
  <PresentationFormat>全屏显示(4:3)</PresentationFormat>
  <Paragraphs>298</Paragraphs>
  <Slides>57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5" baseType="lpstr">
      <vt:lpstr>黑体</vt:lpstr>
      <vt:lpstr>SimSun</vt:lpstr>
      <vt:lpstr>Arial MT</vt:lpstr>
      <vt:lpstr>Microsoft JhengHei</vt:lpstr>
      <vt:lpstr>Arial</vt:lpstr>
      <vt:lpstr>Tahoma</vt:lpstr>
      <vt:lpstr>Times New Roman</vt:lpstr>
      <vt:lpstr>Office Theme</vt:lpstr>
      <vt:lpstr>第二节 生物与温度的关系</vt:lpstr>
      <vt:lpstr>1 影响温度空间分布的因素：</vt:lpstr>
      <vt:lpstr>2 温度的时间变化</vt:lpstr>
      <vt:lpstr>3 土壤和水体温度变化</vt:lpstr>
      <vt:lpstr>贰 温度的生态作用</vt:lpstr>
      <vt:lpstr>三 极端温度对生物的影响：</vt:lpstr>
      <vt:lpstr>生物对冻害的适应 :</vt:lpstr>
      <vt:lpstr>超冷现象（ supercooling) : 动物（昆虫）体液 温度下降到冰点以下而不结冰的现象。如小叶蜂，极地鱼类等。</vt:lpstr>
      <vt:lpstr>PowerPoint 演示文稿</vt:lpstr>
      <vt:lpstr>四 温度对生物（ 植物和变温动物） 生长、发 育和繁殖的影响</vt:lpstr>
      <vt:lpstr>PowerPoint 演示文稿</vt:lpstr>
      <vt:lpstr>2 发育和生长：</vt:lpstr>
      <vt:lpstr>（ 2 ）有效积温法则：</vt:lpstr>
      <vt:lpstr>不同物种，完成发育所需积温不同。</vt:lpstr>
      <vt:lpstr>PowerPoint 演示文稿</vt:lpstr>
      <vt:lpstr>PowerPoint 演示文稿</vt:lpstr>
      <vt:lpstr>有效积温法则在农业上的应用 :</vt:lpstr>
      <vt:lpstr>3 春化作用 （ Vernalization effect) 低温作为一种刺激物起作用， 诱导或促 进植物的发育和开花。这种经过低温诱导的植物的发育或繁殖，称为春化作用。</vt:lpstr>
      <vt:lpstr>4 温度对动物繁殖的影响</vt:lpstr>
      <vt:lpstr>五 生物对温度的适应</vt:lpstr>
      <vt:lpstr>影响生物体温的因素</vt:lpstr>
      <vt:lpstr>PowerPoint 演示文稿</vt:lpstr>
      <vt:lpstr>（二） 生物对低温的适应 :</vt:lpstr>
      <vt:lpstr>2 内温动物对低温的适应</vt:lpstr>
      <vt:lpstr>B 阿伦规律：高纬度地区的恒温动物个体身体突出部分，如四肢、尾巴和外耳有变小变短的趋势。</vt:lpstr>
      <vt:lpstr>C 寒冷地区的内温动物在冬季增加了羽、毛的密度、提高了羽、毛的质量，增加了皮下脂肪的厚度。</vt:lpstr>
      <vt:lpstr>（ 2 ）内温动物的生理适应：</vt:lpstr>
      <vt:lpstr>B 逆流热交换机制：肢体中动静脉血管的几何排列，增加了逆流热交换。动物体温呈现空间异温性</vt:lpstr>
      <vt:lpstr>PowerPoint 演示文稿</vt:lpstr>
      <vt:lpstr>D 热中性区：适应</vt:lpstr>
      <vt:lpstr>E 适应性低体温， 冬眠</vt:lpstr>
      <vt:lpstr>（三） 生物对高温的适应 1 植物的高温适应</vt:lpstr>
      <vt:lpstr>2 动物的高温适应：</vt:lpstr>
      <vt:lpstr>（ 2 ）生理适应：放松恒温性，使体温有较大幅度的波动。</vt:lpstr>
      <vt:lpstr>（四） 生物对周期性变温的适应</vt:lpstr>
      <vt:lpstr>六 温度与物种分布</vt:lpstr>
      <vt:lpstr>2 温度变化也可能和其它的环境因素或资源紧密联系影响生物分布。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Bai</dc:creator>
  <cp:lastModifiedBy>邦 肖</cp:lastModifiedBy>
  <cp:revision>1</cp:revision>
  <dcterms:created xsi:type="dcterms:W3CDTF">2025-09-12T22:39:06Z</dcterms:created>
  <dcterms:modified xsi:type="dcterms:W3CDTF">2025-09-18T07:40:21Z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2018-04-26T00:00:00Z</vt:filetime>
  </property>
  <property fmtid="{D5CDD505-2E9C-101B-9397-08002B2CF9AE}" pid="3" name="Creator">
    <vt:lpwstr>Impress</vt:lpwstr>
  </property>
  <property fmtid="{D5CDD505-2E9C-101B-9397-08002B2CF9AE}" pid="4" name="LastSaved">
    <vt:filetime>2025-09-12T00:00:00Z</vt:filetime>
  </property>
  <property fmtid="{D5CDD505-2E9C-101B-9397-08002B2CF9AE}" pid="5" name="Producer">
    <vt:lpwstr>OpenOffice 4.1.3</vt:lpwstr>
  </property>
</Properties>
</file>