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  <p:sldMasterId id="2147483696" r:id="rId2"/>
    <p:sldMasterId id="2147483709" r:id="rId3"/>
  </p:sldMasterIdLst>
  <p:notesMasterIdLst>
    <p:notesMasterId r:id="rId66"/>
  </p:notesMasterIdLst>
  <p:handoutMasterIdLst>
    <p:handoutMasterId r:id="rId67"/>
  </p:handoutMasterIdLst>
  <p:sldIdLst>
    <p:sldId id="1205" r:id="rId4"/>
    <p:sldId id="624" r:id="rId5"/>
    <p:sldId id="657" r:id="rId6"/>
    <p:sldId id="845" r:id="rId7"/>
    <p:sldId id="916" r:id="rId8"/>
    <p:sldId id="880" r:id="rId9"/>
    <p:sldId id="917" r:id="rId10"/>
    <p:sldId id="918" r:id="rId11"/>
    <p:sldId id="920" r:id="rId12"/>
    <p:sldId id="919" r:id="rId13"/>
    <p:sldId id="1228" r:id="rId14"/>
    <p:sldId id="1229" r:id="rId15"/>
    <p:sldId id="943" r:id="rId16"/>
    <p:sldId id="944" r:id="rId17"/>
    <p:sldId id="1230" r:id="rId18"/>
    <p:sldId id="928" r:id="rId19"/>
    <p:sldId id="931" r:id="rId20"/>
    <p:sldId id="929" r:id="rId21"/>
    <p:sldId id="932" r:id="rId22"/>
    <p:sldId id="933" r:id="rId23"/>
    <p:sldId id="925" r:id="rId24"/>
    <p:sldId id="934" r:id="rId25"/>
    <p:sldId id="937" r:id="rId26"/>
    <p:sldId id="938" r:id="rId27"/>
    <p:sldId id="939" r:id="rId28"/>
    <p:sldId id="941" r:id="rId29"/>
    <p:sldId id="1231" r:id="rId30"/>
    <p:sldId id="1232" r:id="rId31"/>
    <p:sldId id="945" r:id="rId32"/>
    <p:sldId id="946" r:id="rId33"/>
    <p:sldId id="947" r:id="rId34"/>
    <p:sldId id="1094" r:id="rId35"/>
    <p:sldId id="949" r:id="rId36"/>
    <p:sldId id="948" r:id="rId37"/>
    <p:sldId id="950" r:id="rId38"/>
    <p:sldId id="954" r:id="rId39"/>
    <p:sldId id="952" r:id="rId40"/>
    <p:sldId id="1233" r:id="rId41"/>
    <p:sldId id="953" r:id="rId42"/>
    <p:sldId id="1166" r:id="rId43"/>
    <p:sldId id="1234" r:id="rId44"/>
    <p:sldId id="955" r:id="rId45"/>
    <p:sldId id="956" r:id="rId46"/>
    <p:sldId id="1119" r:id="rId47"/>
    <p:sldId id="1029" r:id="rId48"/>
    <p:sldId id="957" r:id="rId49"/>
    <p:sldId id="958" r:id="rId50"/>
    <p:sldId id="1235" r:id="rId51"/>
    <p:sldId id="959" r:id="rId52"/>
    <p:sldId id="960" r:id="rId53"/>
    <p:sldId id="1227" r:id="rId54"/>
    <p:sldId id="1122" r:id="rId55"/>
    <p:sldId id="961" r:id="rId56"/>
    <p:sldId id="962" r:id="rId57"/>
    <p:sldId id="1117" r:id="rId58"/>
    <p:sldId id="1123" r:id="rId59"/>
    <p:sldId id="1152" r:id="rId60"/>
    <p:sldId id="966" r:id="rId61"/>
    <p:sldId id="968" r:id="rId62"/>
    <p:sldId id="1161" r:id="rId63"/>
    <p:sldId id="969" r:id="rId64"/>
    <p:sldId id="1149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15620"/>
    <p:restoredTop sz="82996" autoAdjust="0"/>
  </p:normalViewPr>
  <p:slideViewPr>
    <p:cSldViewPr snapToGrid="0">
      <p:cViewPr varScale="1">
        <p:scale>
          <a:sx n="55" d="100"/>
          <a:sy n="55" d="100"/>
        </p:scale>
        <p:origin x="-1476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DD6F7-F09E-4907-BF79-6C84CA457639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9383A-97AB-4E9F-ADB2-1ECE650A7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70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D—</a:t>
            </a:r>
            <a:r>
              <a:rPr lang="zh-CN" altLang="en-US" dirty="0" smtClean="0"/>
              <a:t>果糖与</a:t>
            </a:r>
            <a:r>
              <a:rPr lang="en-US" altLang="zh-CN" dirty="0" smtClean="0"/>
              <a:t>L—</a:t>
            </a:r>
            <a:r>
              <a:rPr lang="zh-CN" altLang="en-US" dirty="0" smtClean="0"/>
              <a:t>果糖为对映异构体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9383A-97AB-4E9F-ADB2-1ECE650A7D9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456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麦芽糖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19383A-97AB-4E9F-ADB2-1ECE650A7D9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336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05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047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28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07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236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85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587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489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020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005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604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807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09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524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925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528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3667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059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3112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474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3087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7641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041007"/>
      </p:ext>
    </p:extLst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2023/10/31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215665"/>
      </p:ext>
    </p:extLst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2023/10/31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900465"/>
      </p:ext>
    </p:extLst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2023/10/31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936256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2023/10/31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421963"/>
      </p:ext>
    </p:extLst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2023/10/31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335763"/>
      </p:ext>
    </p:extLst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855678"/>
      </p:ext>
    </p:extLst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B8FAA213-99BB-9E32-7754-2B97098F3E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3672" t="65924" r="-370" b="23585"/>
          <a:stretch>
            <a:fillRect/>
          </a:stretch>
        </p:blipFill>
        <p:spPr>
          <a:xfrm>
            <a:off x="-2890383" y="0"/>
            <a:ext cx="15138000" cy="884397"/>
          </a:xfrm>
          <a:prstGeom prst="rect">
            <a:avLst/>
          </a:prstGeom>
          <a:ln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FD373CAA-6FF8-097F-97F7-833DD07F9326}"/>
              </a:ext>
            </a:extLst>
          </p:cNvPr>
          <p:cNvSpPr/>
          <p:nvPr userDrawn="1"/>
        </p:nvSpPr>
        <p:spPr>
          <a:xfrm>
            <a:off x="-6263" y="-3362"/>
            <a:ext cx="12211251" cy="884397"/>
          </a:xfrm>
          <a:prstGeom prst="rect">
            <a:avLst/>
          </a:prstGeom>
          <a:solidFill>
            <a:schemeClr val="tx1">
              <a:lumMod val="85000"/>
              <a:lumOff val="1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622390949"/>
      </p:ext>
    </p:extLst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2023/10/31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884907"/>
      </p:ext>
    </p:extLst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2023/10/31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91170"/>
      </p:ext>
    </p:extLst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2023/10/31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270340"/>
      </p:ext>
    </p:extLst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2023/10/31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362244"/>
      </p:ext>
    </p:extLst>
  </p:cSld>
  <p:clrMapOvr>
    <a:masterClrMapping/>
  </p:clrMapOvr>
  <p:transition>
    <p:random/>
  </p:transition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954774"/>
      </p:ext>
    </p:extLst>
  </p:cSld>
  <p:clrMapOvr>
    <a:masterClrMapping/>
  </p:clrMapOvr>
  <p:transition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6213CF-E4AC-42A5-87B3-6EAB735E29C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9303134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01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01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4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5.xml"/><Relationship Id="rId5" Type="http://schemas.microsoft.com/office/2007/relationships/hdphoto" Target="../media/hdphoto5.wdp"/><Relationship Id="rId4" Type="http://schemas.openxmlformats.org/officeDocument/2006/relationships/image" Target="../media/image19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0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0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MolMotion"/>
          <p:cNvPicPr>
            <a:picLocks noChangeAspect="1"/>
          </p:cNvPicPr>
          <p:nvPr/>
        </p:nvPicPr>
        <p:blipFill>
          <a:blip r:embed="rId3"/>
          <a:srcRect l="8759"/>
          <a:stretch>
            <a:fillRect/>
          </a:stretch>
        </p:blipFill>
        <p:spPr>
          <a:xfrm>
            <a:off x="0" y="0"/>
            <a:ext cx="8264504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08945" y="2635546"/>
            <a:ext cx="291713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章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糖类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2E777626-4C38-6E58-001E-16365D002D72}"/>
              </a:ext>
            </a:extLst>
          </p:cNvPr>
          <p:cNvSpPr txBox="1"/>
          <p:nvPr/>
        </p:nvSpPr>
        <p:spPr>
          <a:xfrm>
            <a:off x="4856954" y="11273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本章内容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089431A4-A416-E61C-24FB-2439CFFFFAB9}"/>
              </a:ext>
            </a:extLst>
          </p:cNvPr>
          <p:cNvSpPr txBox="1">
            <a:spLocks/>
          </p:cNvSpPr>
          <p:nvPr/>
        </p:nvSpPr>
        <p:spPr>
          <a:xfrm>
            <a:off x="7611939" y="1817481"/>
            <a:ext cx="5682615" cy="378587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14.1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引言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14.2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单糖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14.3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寡糖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14.4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多糖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14.5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糖缀和物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92C0213C-4B68-1217-A4F8-FA63C6077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28" y="1379538"/>
            <a:ext cx="6568962" cy="438284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E7FAFCB7-606E-D836-65BD-442F8F58803B}"/>
              </a:ext>
            </a:extLst>
          </p:cNvPr>
          <p:cNvSpPr txBox="1"/>
          <p:nvPr/>
        </p:nvSpPr>
        <p:spPr>
          <a:xfrm>
            <a:off x="2159333" y="5813073"/>
            <a:ext cx="3977148" cy="50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Comic Sans MS" panose="030F0702030302020204" charset="0"/>
                <a:cs typeface="Comic Sans MS" panose="030F0702030302020204" charset="0"/>
              </a:rPr>
              <a:t>The Discovery of Honey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2173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14.1</a:t>
              </a: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6238240" y="273748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85846" y="-124893"/>
            <a:ext cx="428835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</a:t>
            </a:r>
            <a:r>
              <a:rPr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糖的化学本质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71959" y="1081527"/>
            <a:ext cx="11499743" cy="29854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：也称为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碳水化合物（Carbohydrates）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，是指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多羟基醛或多羟基酮，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以及它们的缩合物和某些衍生物。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含有醛基的糖称为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醛糖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，含有酮基的糖称为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酮糖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根据聚合度的不同，糖类可以分为单糖、寡糖、多糖、糖缀合物。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68675" y="4042410"/>
            <a:ext cx="5454650" cy="11350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Carbon （碳）+ hydrate （水合物）</a:t>
            </a: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通式C</a:t>
            </a:r>
            <a:r>
              <a:rPr lang="zh-CN" altLang="en-US" sz="2400" b="1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(H2O)</a:t>
            </a:r>
            <a:r>
              <a:rPr lang="zh-CN" altLang="en-US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，碳水化合物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815322" y="5295353"/>
            <a:ext cx="7645042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鼠李糖及岩藻糖（</a:t>
            </a:r>
            <a:r>
              <a:rPr lang="en-US" altLang="zh-CN" sz="2800" b="1" i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C</a:t>
            </a:r>
            <a:r>
              <a:rPr lang="en-US" altLang="zh-CN" sz="2800" b="1" i="1" baseline="-25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6</a:t>
            </a:r>
            <a:r>
              <a:rPr lang="en-US" altLang="zh-CN" sz="2800" b="1" i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H</a:t>
            </a:r>
            <a:r>
              <a:rPr lang="en-US" altLang="zh-CN" sz="2800" b="1" i="1" baseline="-25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12</a:t>
            </a:r>
            <a:r>
              <a:rPr lang="en-US" altLang="zh-CN" sz="2800" b="1" i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O</a:t>
            </a:r>
            <a:r>
              <a:rPr lang="en-US" altLang="zh-CN" sz="2800" b="1" i="1" baseline="-25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5</a:t>
            </a:r>
            <a:r>
              <a:rPr lang="en-US" altLang="zh-CN" sz="2800" b="1" i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)</a:t>
            </a:r>
            <a:r>
              <a:rPr lang="zh-CN" altLang="en-US" sz="2800" b="1" i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、脱氧核糖（</a:t>
            </a:r>
            <a:r>
              <a:rPr lang="en-US" altLang="zh-CN" sz="2800" b="1" i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C</a:t>
            </a:r>
            <a:r>
              <a:rPr lang="en-US" altLang="zh-CN" sz="2800" b="1" i="1" baseline="-25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5</a:t>
            </a:r>
            <a:r>
              <a:rPr lang="en-US" altLang="zh-CN" sz="2800" b="1" i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H</a:t>
            </a:r>
            <a:r>
              <a:rPr lang="en-US" altLang="zh-CN" sz="2800" b="1" i="1" baseline="-25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10</a:t>
            </a:r>
            <a:r>
              <a:rPr lang="en-US" altLang="zh-CN" sz="2800" b="1" i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O</a:t>
            </a:r>
            <a:r>
              <a:rPr lang="en-US" altLang="zh-CN" sz="2800" b="1" i="1" baseline="-25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4</a:t>
            </a:r>
            <a:r>
              <a:rPr lang="en-US" altLang="zh-CN" sz="2800" b="1" i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)</a:t>
            </a:r>
            <a:endParaRPr lang="zh-CN" altLang="en-US" sz="2800" i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03898" y="-66620"/>
            <a:ext cx="326243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糖的功能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979421" y="1958341"/>
            <a:ext cx="864171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主要能量来源和能量储存；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其他生物大分子前体；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细胞结构组分；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参与细胞之间分子识别，信号传导。</a:t>
            </a: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69211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14.2</a:t>
              </a: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351655" y="273748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499706" y="-132881"/>
            <a:ext cx="531427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一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单糖的概念及分类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" y="1611240"/>
            <a:ext cx="12192000" cy="29854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单糖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Monosaccharides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已不能再水解成更简单的糖单位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3~7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en-US" sz="28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根据碳原子的数目</a:t>
            </a:r>
            <a:r>
              <a:rPr sz="2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，分为</a:t>
            </a:r>
            <a:r>
              <a:rPr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丙糖、丁糖、戊糖、己糖和庚糖</a:t>
            </a:r>
            <a:r>
              <a:rPr sz="2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根据化学结构，丙糖以外的单糖可看成是由丙糖衍生而来的，其中</a:t>
            </a:r>
            <a:r>
              <a:rPr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醛糖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衍生于</a:t>
            </a:r>
            <a:r>
              <a:rPr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甘油醛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酮糖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衍生于</a:t>
            </a:r>
            <a:r>
              <a:rPr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二羟丙酮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11030" y="-85572"/>
            <a:ext cx="531427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单糖的结构和性质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942081" y="2644775"/>
            <a:ext cx="5812155" cy="148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单糖的开链结构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单糖的环状结构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41" y="3205601"/>
            <a:ext cx="6764030" cy="365239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14688" y="-88145"/>
            <a:ext cx="531427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（一）单糖的开链结构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905062"/>
            <a:ext cx="12192000" cy="2432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最简单的单糖是丙糖，包括</a:t>
            </a:r>
            <a:r>
              <a:rPr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甘油醛</a:t>
            </a:r>
            <a:r>
              <a:rPr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二羟丙酮</a:t>
            </a:r>
            <a:r>
              <a:rPr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 algn="just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甘油醛含有1个</a:t>
            </a:r>
            <a:r>
              <a:rPr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手性C原子</a:t>
            </a:r>
            <a:r>
              <a:rPr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，因此具有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旋光</a:t>
            </a:r>
            <a:r>
              <a:rPr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异构体</a:t>
            </a:r>
            <a:r>
              <a:rPr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 algn="just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在甘油醛的Fischer投影结构式中，醛基在最上方，</a:t>
            </a:r>
            <a:r>
              <a:rPr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羟基位于左侧</a:t>
            </a:r>
            <a:r>
              <a:rPr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的甘油醛定为</a:t>
            </a:r>
            <a:r>
              <a:rPr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L-型</a:t>
            </a:r>
            <a:r>
              <a:rPr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，羟基位于右侧的甘油醛定为D-型。</a:t>
            </a:r>
          </a:p>
        </p:txBody>
      </p:sp>
      <p:sp>
        <p:nvSpPr>
          <p:cNvPr id="8" name="矩形 7"/>
          <p:cNvSpPr/>
          <p:nvPr/>
        </p:nvSpPr>
        <p:spPr>
          <a:xfrm>
            <a:off x="1197662" y="4497816"/>
            <a:ext cx="517525" cy="3175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868304" y="4497816"/>
            <a:ext cx="517525" cy="3175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8072945" y="3803400"/>
            <a:ext cx="374151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注意：</a:t>
            </a:r>
            <a:r>
              <a:rPr lang="en-US" altLang="zh-CN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zh-CN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型和</a:t>
            </a:r>
            <a:r>
              <a:rPr lang="en-US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lang="zh-CN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型并不能告诉我们一种单糖本身的旋光方向。</a:t>
            </a:r>
            <a:endParaRPr lang="zh-CN" altLang="en-US" sz="2800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277" y="1906292"/>
            <a:ext cx="7062488" cy="469516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8488" y="884516"/>
            <a:ext cx="11918197" cy="1212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342900" indent="-342900" algn="just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dirty="0">
                <a:sym typeface="+mn-ea"/>
              </a:rPr>
              <a:t>在单糖的Fischer投影结构中，将</a:t>
            </a:r>
            <a:r>
              <a:rPr dirty="0">
                <a:solidFill>
                  <a:srgbClr val="FF0000"/>
                </a:solidFill>
                <a:sym typeface="+mn-ea"/>
              </a:rPr>
              <a:t>距离羰基最远的手性C原子</a:t>
            </a:r>
            <a:r>
              <a:rPr dirty="0">
                <a:sym typeface="+mn-ea"/>
              </a:rPr>
              <a:t>与甘油醛上的手性C原子进行比较，与D-型甘油醛一致是D-型单糖，反之L-单糖。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58711" y="-102817"/>
            <a:ext cx="531427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（一）单糖的开链结构</a:t>
            </a:r>
          </a:p>
        </p:txBody>
      </p:sp>
      <p:sp>
        <p:nvSpPr>
          <p:cNvPr id="3" name="矩形 2"/>
          <p:cNvSpPr/>
          <p:nvPr/>
        </p:nvSpPr>
        <p:spPr>
          <a:xfrm>
            <a:off x="3517020" y="4732587"/>
            <a:ext cx="773793" cy="460737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390730" y="4732587"/>
            <a:ext cx="773793" cy="460737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026924" y="5873596"/>
            <a:ext cx="1644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果糖</a:t>
            </a:r>
          </a:p>
        </p:txBody>
      </p:sp>
      <p:sp>
        <p:nvSpPr>
          <p:cNvPr id="5" name="矩形 4"/>
          <p:cNvSpPr/>
          <p:nvPr/>
        </p:nvSpPr>
        <p:spPr>
          <a:xfrm>
            <a:off x="4445534" y="3280519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对映异构体</a:t>
            </a:r>
            <a:endParaRPr lang="zh-CN" altLang="en-US" sz="24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3454400" y="201478"/>
            <a:ext cx="4895851" cy="623888"/>
          </a:xfrm>
          <a:solidFill>
            <a:srgbClr val="99CCFF"/>
          </a:solidFill>
        </p:spPr>
        <p:txBody>
          <a:bodyPr lIns="90488" tIns="44450" rIns="90488" bIns="44450"/>
          <a:lstStyle/>
          <a:p>
            <a:r>
              <a:rPr lang="zh-CN" altLang="en-US" sz="3200" b="1" dirty="0" smtClean="0">
                <a:solidFill>
                  <a:schemeClr val="tx1"/>
                </a:solidFill>
                <a:ea typeface="楷体" pitchFamily="49" charset="-122"/>
              </a:rPr>
              <a:t>更多的立体化学</a:t>
            </a:r>
            <a:endParaRPr lang="en-US" altLang="zh-CN" sz="3200" b="1" dirty="0" smtClean="0">
              <a:solidFill>
                <a:schemeClr val="tx1"/>
              </a:solidFill>
              <a:ea typeface="楷体" pitchFamily="49" charset="-122"/>
            </a:endParaRP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341438"/>
            <a:ext cx="12191999" cy="3401044"/>
          </a:xfrm>
          <a:noFill/>
        </p:spPr>
        <p:txBody>
          <a:bodyPr lIns="90488" tIns="44450" rIns="90488" bIns="44450">
            <a:no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«"/>
            </a:pPr>
            <a:r>
              <a:rPr lang="zh-CN" altLang="zh-CN" sz="3200" b="1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在各种旋光异构体之中，互为镜像的一对异构体称为</a:t>
            </a:r>
            <a:r>
              <a:rPr lang="zh-CN" altLang="zh-CN" sz="32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对映异构体</a:t>
            </a:r>
            <a:r>
              <a:rPr lang="zh-CN" altLang="zh-CN" sz="3200" b="1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；</a:t>
            </a:r>
            <a:endParaRPr lang="en-US" altLang="zh-CN" sz="3200" b="1" dirty="0" smtClean="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buClr>
                <a:srgbClr val="FF3300"/>
              </a:buClr>
              <a:buFont typeface="Wingdings" pitchFamily="2" charset="2"/>
              <a:buChar char="«"/>
            </a:pPr>
            <a:r>
              <a:rPr lang="zh-CN" altLang="zh-CN" sz="3200" b="1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一个或一个以上的手性</a:t>
            </a:r>
            <a:r>
              <a:rPr lang="en-US" altLang="zh-CN" sz="3200" b="1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C</a:t>
            </a:r>
            <a:r>
              <a:rPr lang="zh-CN" altLang="zh-CN" sz="3200" b="1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原子构型相反，但并不呈镜像关系的一对异构体称为</a:t>
            </a:r>
            <a:r>
              <a:rPr lang="zh-CN" altLang="zh-CN" sz="32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非对映异构体</a:t>
            </a:r>
            <a:r>
              <a:rPr lang="zh-CN" altLang="zh-CN" sz="3200" b="1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；</a:t>
            </a:r>
            <a:endParaRPr lang="en-US" altLang="zh-CN" sz="3200" b="1" dirty="0" smtClean="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buClr>
                <a:srgbClr val="FF3300"/>
              </a:buClr>
              <a:buFont typeface="Wingdings" pitchFamily="2" charset="2"/>
              <a:buChar char="«"/>
            </a:pPr>
            <a:r>
              <a:rPr lang="zh-CN" altLang="zh-CN" sz="3200" b="1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只有一个手性</a:t>
            </a:r>
            <a:r>
              <a:rPr lang="en-US" altLang="zh-CN" sz="3200" b="1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C</a:t>
            </a:r>
            <a:r>
              <a:rPr lang="zh-CN" altLang="zh-CN" sz="3200" b="1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原子的构型不同的一对异构体称为</a:t>
            </a:r>
            <a:r>
              <a:rPr lang="zh-CN" altLang="zh-CN" sz="32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差向异构体</a:t>
            </a:r>
            <a:r>
              <a:rPr lang="zh-CN" altLang="en-US" sz="3200" b="1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。</a:t>
            </a:r>
            <a:endParaRPr lang="en-US" altLang="zh-CN" sz="3200" b="1" dirty="0" smtClean="0">
              <a:solidFill>
                <a:schemeClr val="accent2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0503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6" descr="15-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017" y="43934"/>
            <a:ext cx="8337863" cy="6632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6003634" y="43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071869" y="5989443"/>
            <a:ext cx="3443817" cy="52322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葡萄糖的差向异构体</a:t>
            </a:r>
            <a:endParaRPr lang="zh-CN" altLang="en-US" sz="2800" b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83948" y="413266"/>
            <a:ext cx="638655" cy="5127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004841" y="2627453"/>
            <a:ext cx="763929" cy="4745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004841" y="3796496"/>
            <a:ext cx="763929" cy="43983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481823" y="5150734"/>
            <a:ext cx="740780" cy="486137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449675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366" y="0"/>
            <a:ext cx="7113905" cy="65100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99590" y="66676"/>
            <a:ext cx="17767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D-醛糖家系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33876" y="2554606"/>
            <a:ext cx="723275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赤藓糖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802881" y="2576831"/>
            <a:ext cx="543739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苏糖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853056" y="4116706"/>
            <a:ext cx="543739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核糖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479926" y="3803016"/>
            <a:ext cx="902811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阿拉伯糖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285866" y="4036696"/>
            <a:ext cx="543739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木糖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736206" y="4028441"/>
            <a:ext cx="723275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来苏糖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108325" y="6443981"/>
            <a:ext cx="7910830" cy="3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阿洛糖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阿卓糖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葡萄糖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甘露糖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古洛糖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艾杜糖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半乳糖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塔洛糖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973446" y="886461"/>
            <a:ext cx="723275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甘油醛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QQ截图20210601110959"/>
          <p:cNvPicPr>
            <a:picLocks noChangeAspect="1"/>
          </p:cNvPicPr>
          <p:nvPr/>
        </p:nvPicPr>
        <p:blipFill>
          <a:blip r:embed="rId2"/>
          <a:srcRect t="1294" b="1695"/>
          <a:stretch>
            <a:fillRect/>
          </a:stretch>
        </p:blipFill>
        <p:spPr>
          <a:xfrm>
            <a:off x="4013201" y="177800"/>
            <a:ext cx="5200039" cy="630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62176" y="462281"/>
            <a:ext cx="1794081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D-酮糖家系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517766" y="141606"/>
            <a:ext cx="902811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二羟丙酮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12991" y="1655446"/>
            <a:ext cx="902811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赤藓酮糖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48481" y="3686176"/>
            <a:ext cx="723275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核酮糖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566151" y="3344546"/>
            <a:ext cx="723275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木酮糖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479290" y="6443981"/>
            <a:ext cx="4719562" cy="377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阿洛酮糖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果糖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山梨糖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塔格糖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22601" y="765176"/>
            <a:ext cx="5281084" cy="576263"/>
          </a:xfrm>
          <a:solidFill>
            <a:srgbClr val="99CCFF"/>
          </a:solidFill>
        </p:spPr>
        <p:txBody>
          <a:bodyPr/>
          <a:lstStyle/>
          <a:p>
            <a:r>
              <a:rPr lang="zh-CN" altLang="en-US" sz="3200" b="1" smtClean="0">
                <a:solidFill>
                  <a:schemeClr val="tx1"/>
                </a:solidFill>
                <a:ea typeface="楷体" pitchFamily="49" charset="-122"/>
              </a:rPr>
              <a:t>需要熟悉结构的单糖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02785" y="1628775"/>
            <a:ext cx="9120716" cy="3887788"/>
          </a:xfrm>
        </p:spPr>
        <p:txBody>
          <a:bodyPr>
            <a:norm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«"/>
            </a:pPr>
            <a:r>
              <a:rPr lang="zh-CN" altLang="en-US" b="1" dirty="0" smtClean="0">
                <a:solidFill>
                  <a:schemeClr val="hlink"/>
                </a:solidFill>
                <a:latin typeface="楷体" pitchFamily="49" charset="-122"/>
                <a:ea typeface="楷体" pitchFamily="49" charset="-122"/>
              </a:rPr>
              <a:t>葡萄糖</a:t>
            </a:r>
            <a:r>
              <a:rPr lang="zh-CN" altLang="en-US" b="1" dirty="0" smtClean="0">
                <a:solidFill>
                  <a:schemeClr val="accent2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是一种标准的六碳糖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>
              <a:buClr>
                <a:srgbClr val="FF3300"/>
              </a:buClr>
              <a:buFont typeface="Wingdings" pitchFamily="2" charset="2"/>
              <a:buChar char="«"/>
            </a:pPr>
            <a:r>
              <a:rPr lang="zh-CN" altLang="en-US" b="1" dirty="0" smtClean="0">
                <a:solidFill>
                  <a:schemeClr val="hlink"/>
                </a:solidFill>
                <a:latin typeface="楷体" pitchFamily="49" charset="-122"/>
                <a:ea typeface="楷体" pitchFamily="49" charset="-122"/>
              </a:rPr>
              <a:t>半乳糖</a:t>
            </a:r>
            <a:r>
              <a:rPr lang="zh-CN" altLang="en-US" b="1" dirty="0" smtClean="0">
                <a:solidFill>
                  <a:srgbClr val="0F0F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是葡萄糖的差向异构体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>
              <a:buClr>
                <a:srgbClr val="FF3300"/>
              </a:buClr>
              <a:buFont typeface="Wingdings" pitchFamily="2" charset="2"/>
              <a:buChar char="«"/>
            </a:pPr>
            <a:r>
              <a:rPr lang="zh-CN" altLang="en-US" b="1" dirty="0" smtClean="0">
                <a:solidFill>
                  <a:schemeClr val="hlink"/>
                </a:solidFill>
                <a:latin typeface="楷体" pitchFamily="49" charset="-122"/>
                <a:ea typeface="楷体" pitchFamily="49" charset="-122"/>
              </a:rPr>
              <a:t>甘露糖</a:t>
            </a:r>
            <a:r>
              <a:rPr lang="zh-CN" altLang="en-US" dirty="0" smtClean="0">
                <a:solidFill>
                  <a:srgbClr val="0F0F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是葡萄糖的差向异构体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>
              <a:buClr>
                <a:srgbClr val="FF3300"/>
              </a:buClr>
              <a:buFont typeface="Wingdings" pitchFamily="2" charset="2"/>
              <a:buChar char="«"/>
            </a:pPr>
            <a:r>
              <a:rPr lang="zh-CN" altLang="en-US" b="1" dirty="0" smtClean="0">
                <a:solidFill>
                  <a:schemeClr val="hlink"/>
                </a:solidFill>
                <a:latin typeface="楷体" pitchFamily="49" charset="-122"/>
                <a:ea typeface="楷体" pitchFamily="49" charset="-122"/>
              </a:rPr>
              <a:t>核糖：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是一种标准的五碳糖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>
              <a:buClr>
                <a:srgbClr val="FF3300"/>
              </a:buClr>
              <a:buFont typeface="Wingdings" pitchFamily="2" charset="2"/>
              <a:buChar char="«"/>
            </a:pPr>
            <a:r>
              <a:rPr lang="zh-CN" altLang="en-US" b="1" dirty="0" smtClean="0">
                <a:solidFill>
                  <a:schemeClr val="hlink"/>
                </a:solidFill>
                <a:latin typeface="楷体" pitchFamily="49" charset="-122"/>
                <a:ea typeface="楷体" pitchFamily="49" charset="-122"/>
              </a:rPr>
              <a:t>阿拉伯糖：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是核糖的差向异构体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>
              <a:buClr>
                <a:srgbClr val="FF3300"/>
              </a:buClr>
              <a:buFont typeface="Wingdings" pitchFamily="2" charset="2"/>
              <a:buChar char="«"/>
            </a:pPr>
            <a:r>
              <a:rPr lang="zh-CN" altLang="en-US" b="1" dirty="0" smtClean="0">
                <a:solidFill>
                  <a:schemeClr val="hlink"/>
                </a:solidFill>
                <a:latin typeface="楷体" pitchFamily="49" charset="-122"/>
                <a:ea typeface="楷体" pitchFamily="49" charset="-122"/>
              </a:rPr>
              <a:t>木糖：</a:t>
            </a:r>
            <a:r>
              <a:rPr lang="zh-CN" altLang="en-US" dirty="0" smtClean="0">
                <a:solidFill>
                  <a:srgbClr val="0F0FFF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dirty="0" smtClean="0">
                <a:solidFill>
                  <a:srgbClr val="0F0FFF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是核糖的差向异构体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>
              <a:buClr>
                <a:srgbClr val="FF3300"/>
              </a:buClr>
              <a:buFont typeface="Wingdings" pitchFamily="2" charset="2"/>
              <a:buChar char="«"/>
            </a:pPr>
            <a:r>
              <a:rPr lang="zh-CN" altLang="en-US" b="1" dirty="0" smtClean="0">
                <a:solidFill>
                  <a:schemeClr val="hlink"/>
                </a:solidFill>
                <a:latin typeface="楷体" pitchFamily="49" charset="-122"/>
                <a:ea typeface="楷体" pitchFamily="49" charset="-122"/>
              </a:rPr>
              <a:t>果糖：</a:t>
            </a:r>
            <a:r>
              <a:rPr lang="en-US" altLang="zh-CN" dirty="0" smtClean="0">
                <a:solidFill>
                  <a:srgbClr val="0F0FFF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是葡萄糖的酮糖形式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8335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19559" y="-125796"/>
            <a:ext cx="531427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（二）单糖的环状结构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9966" y="804850"/>
            <a:ext cx="11882034" cy="11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醛或酮基碳亲电（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electrophilic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），醇基氧亲核（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neuleophilic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）。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醇容易与醛反应生成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半缩醛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，醇容易与酮反应生成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半缩酮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9" name="Picture 7" descr="15-4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460" y="2010649"/>
            <a:ext cx="8710421" cy="463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02136" y="-172638"/>
            <a:ext cx="531427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（二）单糖的环状结构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3985" y="1301977"/>
            <a:ext cx="681641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直链的单糖分子（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＞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），可能形成环状结构；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羰基C成为一个新的手性中心，从而产生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α和β两种异构体。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这种异构体称为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异头体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(anomers)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，新出现的手性C称为异头体C。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254" y="-42997"/>
            <a:ext cx="5137745" cy="69009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48114" y="-89491"/>
            <a:ext cx="526297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（二）单糖的环状结构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" y="1065530"/>
            <a:ext cx="705425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半缩醛羟基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编号最高的手性C原子上的羟基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具有相同取向的异头体称为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α异头体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，反之就称为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β异头体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zh-CN" altLang="en-US" sz="28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半缩醛</a:t>
            </a:r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羟基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与末尾基团（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-CH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OH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异侧为α异头体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；同侧为β异头体。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由于β异头体比α异头体稳定，因此在葡萄糖溶液之中，β-D-葡萄糖要比α-D-葡萄糖多。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254" y="-42997"/>
            <a:ext cx="5137745" cy="69009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5765" y="-86295"/>
            <a:ext cx="531427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（二）单糖的环状结构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03569" y="2861473"/>
            <a:ext cx="2320925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吡喃葡萄糖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呋喃果糖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127" y="0"/>
            <a:ext cx="5566251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790" y="2773297"/>
            <a:ext cx="6983217" cy="408470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737004" y="-79872"/>
            <a:ext cx="428835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（三）单糖的构象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902281"/>
            <a:ext cx="12191999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葡萄糖的吡喃环和环己烷环相似，也有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椅式构象和船式构象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，其中椅式构象使各单键的扭张强度降低到最小因而较稳定。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在两种椅式结构之中，I型上的-OH和-CH</a:t>
            </a:r>
            <a:r>
              <a:rPr lang="zh-CN" altLang="en-US" sz="28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OH这两种较大的基团均为平伏键，所以在热力学上I型比II型稳定。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639202" y="4997184"/>
            <a:ext cx="6213560" cy="50488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I型椅式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(β)              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            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型椅式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(β)  </a:t>
            </a:r>
            <a:endParaRPr lang="zh-CN" altLang="en-US" sz="20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58348" y="-126254"/>
            <a:ext cx="531427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（四）单糖的物理性质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2214458"/>
            <a:ext cx="121920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室温下的纯单糖为无色晶体，溶于水，微溶于乙醇，具甜味，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天然糖中果糖最甜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除二羟丙酮，其他所有单糖都有手性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所以都有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旋光性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175027" y="-113760"/>
            <a:ext cx="531427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（五）单糖的化学性质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1816735"/>
            <a:ext cx="12192000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单糖是多羟基醛或多羟基酮，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具有醇和醛、酮的某些性质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。成酯、成醚、还原、氧化等。分子内羟基和羰基的相互影响，还具有一些特殊的性质。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单糖在水溶液中是以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链式和环式平衡存在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的，单糖的反应有的以环状结构进行，有的则以链式结构进行。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2209800" y="3657601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385647" y="-61605"/>
            <a:ext cx="167225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+mn-ea"/>
              </a:rPr>
              <a:t>1.</a:t>
            </a:r>
            <a:r>
              <a:rPr lang="zh-CN" altLang="en-US" dirty="0">
                <a:sym typeface="+mn-ea"/>
              </a:rPr>
              <a:t>变旋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2209800" y="3657601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76365" y="1168371"/>
            <a:ext cx="115156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一种糖的两种异头物，在水溶液中互变，达到平衡，从而导致旋光度改变的现象。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原因：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开链式和环式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互变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7651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64" y="3429000"/>
            <a:ext cx="10890353" cy="29339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  <p:bldP spid="4" grpId="0"/>
      <p:bldP spid="4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09800" y="-105319"/>
            <a:ext cx="167225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+mn-ea"/>
              </a:rPr>
              <a:t>2.</a:t>
            </a:r>
            <a:r>
              <a:rPr lang="zh-CN" altLang="en-US" dirty="0">
                <a:sym typeface="+mn-ea"/>
              </a:rPr>
              <a:t>异构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2209800" y="3657601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97569" y="2598977"/>
            <a:ext cx="2268570" cy="66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碱性条件下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833" y="0"/>
            <a:ext cx="7735167" cy="6780908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77" y="3368234"/>
            <a:ext cx="10960624" cy="350146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50105" y="-110625"/>
            <a:ext cx="167225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+mn-ea"/>
              </a:rPr>
              <a:t>3.</a:t>
            </a:r>
            <a:r>
              <a:rPr lang="zh-CN" altLang="en-US" dirty="0">
                <a:sym typeface="+mn-ea"/>
              </a:rPr>
              <a:t>氧化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2209800" y="3657601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844788"/>
            <a:ext cx="12192000" cy="2838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醛糖含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游离醛基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，具有较好的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还原性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碱性溶液中重金属离子，如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Fehling试剂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Benedict试剂Cu</a:t>
            </a:r>
            <a:r>
              <a:rPr lang="en-US" altLang="zh-CN" sz="28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2+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能使醛糖的醛基氧化成羧基，产物称为醛糖酸(aldonic acid) ,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</a:t>
            </a:r>
            <a:r>
              <a:rPr lang="en-US" altLang="zh-CN" sz="28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2+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被还原。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u="sng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zh-CN" altLang="en-US" sz="28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的醛糖都是还原糖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许多酮糖也是还原糖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，例如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果糖（在碱性溶液中能异构化为醛糖）。 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537498" y="-70083"/>
            <a:ext cx="167225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+mn-ea"/>
              </a:rPr>
              <a:t>3.</a:t>
            </a:r>
            <a:r>
              <a:rPr lang="zh-CN" altLang="en-US" dirty="0">
                <a:sym typeface="+mn-ea"/>
              </a:rPr>
              <a:t>还原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2209800" y="3657601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" y="2211985"/>
            <a:ext cx="51882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单糖的羰基在适当的条件下，例如用硼氢化钠处理醛糖或酮糖，则被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还原成多元醇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(polyol)，称糖醇(aidtol)。</a:t>
            </a:r>
          </a:p>
        </p:txBody>
      </p:sp>
      <p:pic>
        <p:nvPicPr>
          <p:cNvPr id="2867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227" y="1555651"/>
            <a:ext cx="6818376" cy="4203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6" descr="15-10+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618" y="0"/>
            <a:ext cx="5889557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1" name="Picture 7" descr="15-10++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662" y="3016250"/>
            <a:ext cx="8639829" cy="29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Text Box 8"/>
          <p:cNvSpPr txBox="1">
            <a:spLocks noChangeArrowheads="1"/>
          </p:cNvSpPr>
          <p:nvPr/>
        </p:nvSpPr>
        <p:spPr bwMode="auto">
          <a:xfrm>
            <a:off x="4078818" y="6237288"/>
            <a:ext cx="3168649" cy="461962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 b="1">
                <a:solidFill>
                  <a:schemeClr val="accent2"/>
                </a:solidFill>
                <a:latin typeface="Arial" charset="0"/>
                <a:ea typeface="宋体" charset="-122"/>
              </a:defRPr>
            </a:lvl1pPr>
            <a:lvl2pPr marL="742950" indent="-285750" algn="ctr">
              <a:defRPr sz="2400" b="1">
                <a:solidFill>
                  <a:schemeClr val="accent2"/>
                </a:solidFill>
                <a:latin typeface="Arial" charset="0"/>
                <a:ea typeface="宋体" charset="-122"/>
              </a:defRPr>
            </a:lvl2pPr>
            <a:lvl3pPr marL="1143000" indent="-228600" algn="ctr">
              <a:defRPr sz="2400" b="1">
                <a:solidFill>
                  <a:schemeClr val="accent2"/>
                </a:solidFill>
                <a:latin typeface="Arial" charset="0"/>
                <a:ea typeface="宋体" charset="-122"/>
              </a:defRPr>
            </a:lvl3pPr>
            <a:lvl4pPr marL="1600200" indent="-228600" algn="ctr">
              <a:defRPr sz="2400" b="1">
                <a:solidFill>
                  <a:schemeClr val="accent2"/>
                </a:solidFill>
                <a:latin typeface="Arial" charset="0"/>
                <a:ea typeface="宋体" charset="-122"/>
              </a:defRPr>
            </a:lvl4pPr>
            <a:lvl5pPr marL="2057400" indent="-228600" algn="ctr">
              <a:defRPr sz="2400" b="1">
                <a:solidFill>
                  <a:schemeClr val="accent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成脎与成苷反应</a:t>
            </a:r>
          </a:p>
        </p:txBody>
      </p:sp>
    </p:spTree>
    <p:extLst>
      <p:ext uri="{BB962C8B-B14F-4D97-AF65-F5344CB8AC3E}">
        <p14:creationId xmlns:p14="http://schemas.microsoft.com/office/powerpoint/2010/main" val="77515590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47940" y="291056"/>
            <a:ext cx="4125384" cy="576263"/>
          </a:xfrm>
          <a:solidFill>
            <a:srgbClr val="99CCFF"/>
          </a:solidFill>
        </p:spPr>
        <p:txBody>
          <a:bodyPr/>
          <a:lstStyle/>
          <a:p>
            <a:pPr algn="ctr"/>
            <a:r>
              <a:rPr lang="zh-CN" altLang="en-US" sz="3200" b="1" dirty="0" smtClean="0">
                <a:ea typeface="楷体" pitchFamily="49" charset="-122"/>
              </a:rPr>
              <a:t>糖类的呈色反应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03590"/>
            <a:ext cx="12192000" cy="417671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Clr>
                <a:srgbClr val="FF0000"/>
              </a:buClr>
              <a:buFont typeface="Wingdings" pitchFamily="2" charset="2"/>
              <a:buChar char="«"/>
            </a:pPr>
            <a:r>
              <a:rPr lang="en-US" altLang="zh-CN" b="1" dirty="0" err="1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Molish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反应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。糖类化合物与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α-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萘酚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乙醇在试管中混合，摇匀后沿管壁滴加浓硫酸，在两液面交界处出现紫红色环，此反应称为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Molish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反应。使用此反应，可以将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糖类与非糖类化合物区分开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>
              <a:lnSpc>
                <a:spcPct val="110000"/>
              </a:lnSpc>
              <a:buClr>
                <a:srgbClr val="FF0000"/>
              </a:buClr>
              <a:buFont typeface="Wingdings" pitchFamily="2" charset="2"/>
              <a:buChar char="«"/>
            </a:pPr>
            <a:r>
              <a:rPr lang="en-US" altLang="zh-CN" b="1" dirty="0" err="1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Seliwanoff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反应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。糖类化合物与浓酸作用后再与间苯二酚反应，若是酮糖就显鲜红色，若是醛糖就显淡红色，这种反应称为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Seliwanoff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反应。根据此反应可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鉴别酮糖和醛糖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>
              <a:lnSpc>
                <a:spcPct val="110000"/>
              </a:lnSpc>
              <a:buClr>
                <a:srgbClr val="FF0000"/>
              </a:buClr>
              <a:buFont typeface="Wingdings" pitchFamily="2" charset="2"/>
              <a:buChar char="«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间苯三酚反应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。戊糖与间苯三酚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浓盐酸反应生成朱红色物质，其他单糖与间苯三酚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浓盐酸生成黄色物质；此外，戊糖还可以和甲基间苯二酚即地衣酚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浓盐酸反应，生成蓝绿色物质。利用这两个反应可以将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戊糖和其他单糖区分开来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49392324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02214" y="2385504"/>
            <a:ext cx="2668560" cy="16564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三、单糖的衍生物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3831663" y="3368947"/>
            <a:ext cx="812842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664" y="0"/>
            <a:ext cx="8309930" cy="678891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58690" y="234387"/>
            <a:ext cx="1007691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葡萄糖家族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954542" y="3890717"/>
            <a:ext cx="961982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葡萄糖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-6p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39616" y="1749497"/>
            <a:ext cx="1061868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β-D-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葡萄胺</a:t>
            </a:r>
            <a:endParaRPr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63208" y="2307272"/>
            <a:ext cx="1666279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乙酰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-β-D-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葡萄胺</a:t>
            </a:r>
            <a:endParaRPr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06909" y="3902261"/>
            <a:ext cx="682632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胞壁酸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499912" y="3924174"/>
            <a:ext cx="1215934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乙酰胞壁酸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785389" y="1904023"/>
            <a:ext cx="1224398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β-D-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半乳糖胺</a:t>
            </a:r>
            <a:endParaRPr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351103" y="1891195"/>
            <a:ext cx="1224398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β-D-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甘露糖胺</a:t>
            </a:r>
            <a:endParaRPr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091223" y="3903465"/>
            <a:ext cx="1022930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β-L-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海藻糖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552571" y="3883587"/>
            <a:ext cx="1022930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β-L-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鼠李糖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031228" y="4622146"/>
            <a:ext cx="1224398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β-D-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葡糖醛酸</a:t>
            </a:r>
            <a:endParaRPr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565066" y="4729212"/>
            <a:ext cx="1061868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β-D-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葡糖酸</a:t>
            </a:r>
            <a:endParaRPr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36374" y="4729212"/>
            <a:ext cx="1044936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D-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葡糖内酯</a:t>
            </a:r>
            <a:endParaRPr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552571" y="6283240"/>
            <a:ext cx="682632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唾液酸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69211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14.3</a:t>
              </a: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351655" y="273748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寡糖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73021" y="-101600"/>
            <a:ext cx="6763518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一、寡糖 Oligosaccharides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2247900" y="3984626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1469007"/>
            <a:ext cx="121920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也称为低聚糖，由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2～10个单糖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分子缩合并以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糖苷键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相连。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具有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游离异头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体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，称为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还原端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，异头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体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参与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形成糖苷键的一端称为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非还原端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在书写寡糖的序列时，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非还原端写在左边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，还原端写在右边，需要标明各单糖单位的名称、构型、相互间的连接方式和异头体的构型。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90800" y="-91190"/>
            <a:ext cx="6431697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（一）</a:t>
            </a:r>
            <a:r>
              <a:rPr lang="zh-CN" altLang="en-US" dirty="0" smtClean="0">
                <a:sym typeface="+mn-ea"/>
              </a:rPr>
              <a:t>二糖</a:t>
            </a:r>
            <a:r>
              <a:rPr lang="en-US" altLang="zh-CN" dirty="0" smtClean="0">
                <a:sym typeface="+mn-ea"/>
              </a:rPr>
              <a:t> </a:t>
            </a:r>
            <a:r>
              <a:rPr lang="zh-CN" altLang="en-US" dirty="0" smtClean="0">
                <a:sym typeface="+mn-ea"/>
              </a:rPr>
              <a:t>Disaccharides</a:t>
            </a:r>
            <a:endParaRPr lang="zh-CN" altLang="en-US" dirty="0">
              <a:sym typeface="+mn-ea"/>
            </a:endParaRPr>
          </a:p>
        </p:txBody>
      </p:sp>
      <p:sp>
        <p:nvSpPr>
          <p:cNvPr id="990215" name="Rectangle 7"/>
          <p:cNvSpPr/>
          <p:nvPr/>
        </p:nvSpPr>
        <p:spPr>
          <a:xfrm>
            <a:off x="2247900" y="3984626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" y="1242695"/>
            <a:ext cx="4672330" cy="546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二糖是最简单的寡糖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；一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个糖的半缩醛羟基，与一个糖的羟基，形成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糖苷键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具有游离异头碳（不参与糖苷键）的链末端通常称为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还原端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770" y="815725"/>
            <a:ext cx="6050725" cy="560106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032504" y="3832861"/>
            <a:ext cx="1210588" cy="418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游离半缩醛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63930" y="6207691"/>
            <a:ext cx="3974165" cy="418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α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-D-吡喃葡萄糖基-(1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4)-D-吡喃葡萄糖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707646" y="-100282"/>
            <a:ext cx="377539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（二）常见二糖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3493603" y="4350000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6203729"/>
            <a:ext cx="1219200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</a:t>
            </a:r>
            <a:r>
              <a:rPr lang="zh-CN" altLang="en-US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游离异头碳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属于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还原糖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；非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还原二糖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中的异头碳都参与糖苷键的形成，如</a:t>
            </a:r>
            <a:r>
              <a:rPr lang="zh-CN" altLang="en-US" sz="20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庶糖(a</a:t>
            </a:r>
            <a:r>
              <a:rPr lang="en-US" altLang="zh-CN" sz="20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1-β2</a:t>
            </a:r>
            <a:r>
              <a:rPr lang="zh-CN" altLang="en-US" sz="20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1871" r="1187"/>
          <a:stretch>
            <a:fillRect/>
          </a:stretch>
        </p:blipFill>
        <p:spPr>
          <a:xfrm>
            <a:off x="46493" y="914401"/>
            <a:ext cx="12109064" cy="52273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文本框 20"/>
          <p:cNvSpPr txBox="1"/>
          <p:nvPr/>
        </p:nvSpPr>
        <p:spPr>
          <a:xfrm>
            <a:off x="3093493" y="3205287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乳糖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483039" y="320528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麦芽糖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24754" y="5577301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蔗糖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483039" y="5577301"/>
            <a:ext cx="1415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纤维二糖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776228" y="4039607"/>
            <a:ext cx="1415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异麦芽糖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5" name="Rectangle 7"/>
          <p:cNvSpPr/>
          <p:nvPr/>
        </p:nvSpPr>
        <p:spPr>
          <a:xfrm>
            <a:off x="2247900" y="3984626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94667" y="-103928"/>
            <a:ext cx="326243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一、常见二糖</a:t>
            </a:r>
          </a:p>
        </p:txBody>
      </p:sp>
      <p:pic>
        <p:nvPicPr>
          <p:cNvPr id="4" name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6" y="1394848"/>
            <a:ext cx="12100594" cy="409155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69211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14.4</a:t>
              </a: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351655" y="273748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957831" y="-97319"/>
            <a:ext cx="646433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一、多糖 Polysaccharides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416" y="1176462"/>
            <a:ext cx="5769736" cy="52243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90215" name="Rectangle 7"/>
          <p:cNvSpPr/>
          <p:nvPr/>
        </p:nvSpPr>
        <p:spPr>
          <a:xfrm>
            <a:off x="2247900" y="3984626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1228998"/>
            <a:ext cx="565688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：存储、结构、信息识别；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分类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：同多糖与杂多糖；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淀粉和糖原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是储存分子；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几丁质和纤维素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是结构分子；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细胞表面多糖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是信息分子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特点：</a:t>
            </a:r>
            <a:r>
              <a:rPr lang="zh-CN" altLang="en-US" sz="28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多糖</a:t>
            </a:r>
            <a:r>
              <a:rPr lang="zh-CN" altLang="en-US" sz="28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无变旋现象和还原性，无甜味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52446" y="-72824"/>
            <a:ext cx="649248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二、常见多糖的结构和性质 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2247900" y="3984626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pic>
        <p:nvPicPr>
          <p:cNvPr id="38915" name="Picture 1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6" y="989074"/>
            <a:ext cx="11962028" cy="51625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ChangeArrowheads="1"/>
          </p:cNvSpPr>
          <p:nvPr/>
        </p:nvSpPr>
        <p:spPr bwMode="auto">
          <a:xfrm>
            <a:off x="6003634" y="16981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endParaRPr lang="zh-CN" altLang="en-US"/>
          </a:p>
        </p:txBody>
      </p:sp>
      <p:pic>
        <p:nvPicPr>
          <p:cNvPr id="4096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510" y="0"/>
            <a:ext cx="8851645" cy="6315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Rectangle 8"/>
          <p:cNvSpPr>
            <a:spLocks noChangeArrowheads="1"/>
          </p:cNvSpPr>
          <p:nvPr/>
        </p:nvSpPr>
        <p:spPr bwMode="auto">
          <a:xfrm>
            <a:off x="4105564" y="6396008"/>
            <a:ext cx="4493538" cy="461665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糖原、支链淀粉和纤维素的结构</a:t>
            </a:r>
            <a:endParaRPr lang="zh-CN" altLang="en-US" sz="2400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010790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2788"/>
          <a:stretch/>
        </p:blipFill>
        <p:spPr>
          <a:xfrm>
            <a:off x="4111167" y="1795195"/>
            <a:ext cx="7979081" cy="4104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23379" y="-141556"/>
            <a:ext cx="4518416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（一</a:t>
            </a:r>
            <a:r>
              <a:rPr lang="zh-CN" altLang="en-US">
                <a:sym typeface="+mn-ea"/>
              </a:rPr>
              <a:t>）淀粉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Starch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55726" y="1214138"/>
            <a:ext cx="1415772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直链淀粉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46379" y="5629053"/>
            <a:ext cx="1455848" cy="46358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α-1,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糖苷键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01752" y="1287025"/>
            <a:ext cx="3880526" cy="50130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直链淀粉是一种线性多糖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，含有由α-1,4糖苷键连接的∼100个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葡萄糖单位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。直链淀粉可以通过分子内氢键形成稳定的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左旋螺旋结构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。螺旋的每一圈都包含6个葡萄糖分子，这使得葡萄糖聚合物可以有效地堆积在淀粉颗粒中。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" y="1837045"/>
            <a:ext cx="12205095" cy="41110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08046" y="-108708"/>
            <a:ext cx="4518416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（一</a:t>
            </a:r>
            <a:r>
              <a:rPr lang="zh-CN" altLang="en-US">
                <a:sym typeface="+mn-ea"/>
              </a:rPr>
              <a:t>）淀粉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Starch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41539" y="1056007"/>
            <a:ext cx="3057247" cy="66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支链淀粉（糖原）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07167" y="3382506"/>
            <a:ext cx="1455848" cy="46358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α-1,6糖苷键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289905" y="1891163"/>
            <a:ext cx="1455848" cy="46358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α-1,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糖苷键</a:t>
            </a:r>
            <a:endParaRPr lang="zh-CN" alt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ChangeArrowheads="1"/>
          </p:cNvSpPr>
          <p:nvPr/>
        </p:nvSpPr>
        <p:spPr bwMode="auto">
          <a:xfrm>
            <a:off x="6003634" y="16600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endParaRPr lang="zh-CN" altLang="en-US"/>
          </a:p>
        </p:txBody>
      </p:sp>
      <p:pic>
        <p:nvPicPr>
          <p:cNvPr id="43012" name="Picture 7" descr="15-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17" y="-1"/>
            <a:ext cx="11563062" cy="6571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8947823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66780" y="-139786"/>
            <a:ext cx="4518416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（一</a:t>
            </a:r>
            <a:r>
              <a:rPr lang="zh-CN" altLang="en-US">
                <a:sym typeface="+mn-ea"/>
              </a:rPr>
              <a:t>）淀粉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Starch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2247900" y="3984626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" y="2121537"/>
            <a:ext cx="6096001" cy="26015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直连淀粉可形成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左手螺旋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糖单位），碘能够插入到疏水螺旋的中间从而产生</a:t>
            </a:r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蓝色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。支链淀粉与碘反应产生的是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紫红色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363" y="947979"/>
            <a:ext cx="3301228" cy="575834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65476" y="-85456"/>
            <a:ext cx="5461047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（二</a:t>
            </a:r>
            <a:r>
              <a:rPr lang="zh-CN" altLang="en-US">
                <a:sym typeface="+mn-ea"/>
              </a:rPr>
              <a:t>）糖原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Glycogen 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2247900" y="3984626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47" y="913986"/>
            <a:ext cx="6571504" cy="5683935"/>
          </a:xfrm>
          <a:prstGeom prst="rect">
            <a:avLst/>
          </a:prstGeom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7435706" y="1665849"/>
            <a:ext cx="4756294" cy="44319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动物体内的葡萄糖储存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糖原占肝脏质量的 10% 和肌肉质量的 1-2%；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 8-12 个残基产生一个分支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α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(1,6)；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像支链淀粉一样，糖原与碘一起呈红紫色。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5" name="Rectangle 7"/>
          <p:cNvSpPr/>
          <p:nvPr/>
        </p:nvSpPr>
        <p:spPr>
          <a:xfrm>
            <a:off x="2247900" y="3984626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406" y="185981"/>
            <a:ext cx="6923084" cy="632298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03135" y="389890"/>
            <a:ext cx="1107996" cy="4589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支链淀粉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656804" y="6297715"/>
            <a:ext cx="646331" cy="4589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糖原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715090" y="2469515"/>
            <a:ext cx="1601721" cy="418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15-30</a:t>
            </a:r>
            <a:r>
              <a:rPr lang="zh-CN" altLang="en-US" sz="16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葡糖单位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453406" y="6034320"/>
            <a:ext cx="1636987" cy="458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8-12</a:t>
            </a:r>
            <a:r>
              <a:rPr lang="zh-CN" altLang="en-US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葡糖单位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687039" y="4674455"/>
            <a:ext cx="877163" cy="458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糖原素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31845" y="-95462"/>
            <a:ext cx="573426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（三）纤维素 Cellulose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2247900" y="3984626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sp>
        <p:nvSpPr>
          <p:cNvPr id="46084" name="Rectangle 8"/>
          <p:cNvSpPr/>
          <p:nvPr/>
        </p:nvSpPr>
        <p:spPr>
          <a:xfrm>
            <a:off x="0" y="1604231"/>
            <a:ext cx="4668520" cy="452431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纤维素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是地球上最丰富的天然聚合物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葡萄糖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β-1,4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糖苷键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连接，二糖单位为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纤维二糖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，线性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无分支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，每一条纤维素链除了有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链内氢键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以外，还与周围的纤维素链形成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链间氢键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，这就赋予纤维素一定的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强度 ；不溶于水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520" y="1498048"/>
            <a:ext cx="7523480" cy="427990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941548" y="-98894"/>
            <a:ext cx="629531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（四）右旋</a:t>
            </a:r>
            <a:r>
              <a:rPr lang="zh-CN" altLang="en-US">
                <a:sym typeface="+mn-ea"/>
              </a:rPr>
              <a:t>糖酐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Dextran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 </a:t>
            </a:r>
          </a:p>
        </p:txBody>
      </p:sp>
      <p:sp>
        <p:nvSpPr>
          <p:cNvPr id="990215" name="Rectangle 7"/>
          <p:cNvSpPr/>
          <p:nvPr/>
        </p:nvSpPr>
        <p:spPr>
          <a:xfrm>
            <a:off x="2247900" y="3984626"/>
            <a:ext cx="769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9583" y="1304476"/>
            <a:ext cx="5624747" cy="46129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是一种主要以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α-1,6糖苷键相连的分支多糖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，通常存在于酵母和细菌中，其重复的二糖单位主要是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异麦芽糖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，分支点可能是1→2,1→3或1→4糖苷键。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细菌产生的右旋糖酐是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牙菌斑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或菌斑的重要成分。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细菌产生的右旋糖酐经常在实验室中被用作层析柱的支持介质。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205" y="2084801"/>
            <a:ext cx="5977496" cy="2845007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196802" y="-67678"/>
            <a:ext cx="5093061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（五</a:t>
            </a:r>
            <a:r>
              <a:rPr lang="zh-CN" altLang="en-US">
                <a:sym typeface="+mn-ea"/>
              </a:rPr>
              <a:t>）几丁质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Chitin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36036" y="870804"/>
            <a:ext cx="8961866" cy="22430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几丁质，甲壳类、昆虫和蜘蛛的外骨骼，以及真菌的细胞壁；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类似于纤维素，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贮存量占第二位；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β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-D-乙酰氨基葡萄糖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的聚合物，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β（1→4）糖苷键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纤维素链是平行的，几丁质可以平行或反平行。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374" y="3113854"/>
            <a:ext cx="9693190" cy="3596913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-37235"/>
            <a:ext cx="3775393" cy="101566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（六）</a:t>
            </a:r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糖胺聚糖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2" name="Picture 4" descr="15-14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8427"/>
            <a:ext cx="12030944" cy="517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4193447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-37235"/>
            <a:ext cx="3775393" cy="101566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（六）</a:t>
            </a:r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糖胺聚糖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102359"/>
            <a:ext cx="5348551" cy="44319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也叫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粘多糖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，主要参与细胞外功能；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由多个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二糖单位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组成的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无分支的杂多糖；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单糖单元之一是氨基糖，单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至少一个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糖单元带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负电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硫酸酯或羧酸基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通常与核心蛋白以共价键相连构成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蛋白聚糖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776456" y="1"/>
            <a:ext cx="6415544" cy="6858000"/>
            <a:chOff x="5506278" y="939169"/>
            <a:chExt cx="5698242" cy="591883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6278" y="939169"/>
              <a:ext cx="5698242" cy="5918831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6659825" y="2409194"/>
              <a:ext cx="1075236" cy="3609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硫酸软骨素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758470" y="3873893"/>
              <a:ext cx="1075236" cy="3609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硫酸软骨素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659825" y="5758021"/>
              <a:ext cx="1075236" cy="3609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硫酸皮肤素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526047" y="5814640"/>
              <a:ext cx="1075236" cy="3609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硫酸角质素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526047" y="3882691"/>
              <a:ext cx="892992" cy="3609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透明质酸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885119" y="2409193"/>
              <a:ext cx="528506" cy="3609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肝素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353" y="2258625"/>
            <a:ext cx="9674606" cy="318139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153353" y="1367155"/>
            <a:ext cx="4028440" cy="662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糖胺聚糖的结构和性质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09190" y="-107675"/>
            <a:ext cx="931876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（六）糖胺聚糖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Glycosaminoglycans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44896" y="-103000"/>
            <a:ext cx="931876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（六）糖胺聚糖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Glycosaminoglycans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3884" t="59423" r="345" b="-412"/>
          <a:stretch>
            <a:fillRect/>
          </a:stretch>
        </p:blipFill>
        <p:spPr>
          <a:xfrm>
            <a:off x="1702436" y="1146810"/>
            <a:ext cx="4932045" cy="18300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79650" y="2875915"/>
            <a:ext cx="4397358" cy="45890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硫酸角质素异常，导致角膜结构病变。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025" y="3431540"/>
            <a:ext cx="1988820" cy="26289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170046" y="3869691"/>
            <a:ext cx="213423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多发性遗传性外骨骼的骨变形特征，硫酸肝素合成异常。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634480" y="1146811"/>
            <a:ext cx="4932044" cy="5166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糖胺聚糖在生物学中具有重要作用，特别是在关节和组织之间的间质液中，由于其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吸水性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，它们有助于维持水合环境（水环境）。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此外，糖胺聚糖在促进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组织结构的组织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方面具有功能性作用。 例如，硫酸角质素聚合物在角膜中发挥作用，以维持胶原原纤维的最佳排列，以使光线通过角膜。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46860" y="-112347"/>
            <a:ext cx="931876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（六）糖胺聚糖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Glycosaminoglycans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220" y="981075"/>
            <a:ext cx="5386070" cy="53860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938136" y="1315086"/>
            <a:ext cx="1826141" cy="760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有效吗？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930" y="2209802"/>
            <a:ext cx="3126435" cy="427011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69211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14.5</a:t>
              </a: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351655" y="273748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糖缀合物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395259" y="-137795"/>
            <a:ext cx="238879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糖缀合物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715895" y="2336801"/>
            <a:ext cx="7833360" cy="13858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指糖与非糖物质以共价键相连的复合物。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86736" y="3164206"/>
            <a:ext cx="3293745" cy="1341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70000"/>
              </a:lnSpc>
              <a:spcBef>
                <a:spcPts val="600"/>
              </a:spcBef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糖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蛋白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，蛋白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聚糖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70000"/>
              </a:lnSpc>
              <a:spcBef>
                <a:spcPts val="600"/>
              </a:spcBef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糖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72210" y="953217"/>
            <a:ext cx="9488392" cy="16890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蛋白质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是结构和功能的中心。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糖蛋白中的糖对蛋白质的稳定性和溶解性有影响，参与多种生物功能：分子识别，信号转导，多肽折叠，蛋白质翻译后的分拣和定向。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56427" y="4935358"/>
            <a:ext cx="1519968" cy="295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α-N-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乙酰氨基半乳糖胺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998" y="2881133"/>
            <a:ext cx="6704965" cy="36118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图片 9" descr="QQ截图202106030710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022" y="2890658"/>
            <a:ext cx="1584960" cy="35356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773561" y="-109874"/>
            <a:ext cx="647741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一</a:t>
            </a:r>
            <a:r>
              <a:rPr lang="zh-CN" altLang="en-US">
                <a:sym typeface="+mn-ea"/>
              </a:rPr>
              <a:t>、糖蛋白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Glycoproteins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17948" y="2689999"/>
            <a:ext cx="1765227" cy="38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糖基</a:t>
            </a:r>
            <a:r>
              <a:rPr lang="en-US" altLang="zh-CN" sz="1400" b="1" dirty="0">
                <a:solidFill>
                  <a:srgbClr val="FF0000"/>
                </a:solidFill>
              </a:rPr>
              <a:t>                          </a:t>
            </a:r>
            <a:r>
              <a:rPr lang="zh-CN" altLang="en-US" sz="1400" b="1" dirty="0">
                <a:solidFill>
                  <a:srgbClr val="FF0000"/>
                </a:solidFill>
              </a:rPr>
              <a:t>肽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90948" y="4480064"/>
            <a:ext cx="1765227" cy="38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糖基</a:t>
            </a:r>
            <a:r>
              <a:rPr lang="en-US" altLang="zh-CN" sz="1400" b="1" dirty="0">
                <a:solidFill>
                  <a:srgbClr val="FF0000"/>
                </a:solidFill>
              </a:rPr>
              <a:t>                          </a:t>
            </a:r>
            <a:r>
              <a:rPr lang="zh-CN" altLang="en-US" sz="1400" b="1" dirty="0">
                <a:solidFill>
                  <a:srgbClr val="FF0000"/>
                </a:solidFill>
              </a:rPr>
              <a:t>肽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390298" y="3730763"/>
            <a:ext cx="569387" cy="295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半乳糖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390298" y="3249433"/>
            <a:ext cx="569387" cy="295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甘露糖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390298" y="2863988"/>
            <a:ext cx="569387" cy="295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葡萄糖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390297" y="4312423"/>
            <a:ext cx="441146" cy="295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果糖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754662" y="4920753"/>
            <a:ext cx="1375698" cy="295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乙酰氨基半乳糖胺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754663" y="5375413"/>
            <a:ext cx="1247457" cy="295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乙酰氨基葡糖胺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754662" y="5707519"/>
            <a:ext cx="2540000" cy="4648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N-乙酰神经氨酸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8754662" y="6270763"/>
            <a:ext cx="2540000" cy="2959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N-乙酰胞壁酸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83426" y="-73478"/>
            <a:ext cx="647741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一、糖蛋白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Glycoproteins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285" y="914400"/>
            <a:ext cx="6080760" cy="59436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372736" y="860425"/>
            <a:ext cx="1980029" cy="66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生物学功能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708900" y="1509396"/>
            <a:ext cx="3103880" cy="16890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糖蛋白在细胞信号转导和病原体识别中起着重要的作用。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3234" r="3526" b="2627"/>
          <a:stretch>
            <a:fillRect/>
          </a:stretch>
        </p:blipFill>
        <p:spPr>
          <a:xfrm>
            <a:off x="1858645" y="1052546"/>
            <a:ext cx="7939405" cy="42322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l="55820" t="11503" b="45269"/>
          <a:stretch>
            <a:fillRect/>
          </a:stretch>
        </p:blipFill>
        <p:spPr>
          <a:xfrm>
            <a:off x="7656795" y="4614934"/>
            <a:ext cx="2265680" cy="17754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5299" name="Rectangle 6"/>
          <p:cNvSpPr/>
          <p:nvPr/>
        </p:nvSpPr>
        <p:spPr>
          <a:xfrm>
            <a:off x="2011510" y="5720507"/>
            <a:ext cx="5186036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血型在红细胞表面寡糖链的差别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405170" y="-57649"/>
            <a:ext cx="544572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ABO血型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（参考学习）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226867" y="4859976"/>
            <a:ext cx="569387" cy="295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半乳糖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165907" y="5298126"/>
            <a:ext cx="1247457" cy="295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乙酰氨基葡糖胺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177336" y="5711511"/>
            <a:ext cx="1375698" cy="295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乙酰氨基半乳糖胺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409746" y="6094416"/>
            <a:ext cx="441146" cy="295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果糖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54325" y="-120861"/>
            <a:ext cx="708334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</a:t>
            </a:r>
            <a:r>
              <a:rPr lang="zh-CN" altLang="en-US">
                <a:sym typeface="+mn-ea"/>
              </a:rPr>
              <a:t>、蛋白聚糖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proteoglycans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71897" y="1085665"/>
            <a:ext cx="9237096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是结构和功能的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，主要由无分支的糖胺聚糖组成。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lum bright="-6000" contrast="-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24040" y="1838130"/>
            <a:ext cx="8532810" cy="368207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94807" y="-131973"/>
            <a:ext cx="660238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三</a:t>
            </a:r>
            <a:r>
              <a:rPr lang="zh-CN" altLang="en-US">
                <a:sym typeface="+mn-ea"/>
              </a:rPr>
              <a:t>、肽聚糖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peptidoglycan</a:t>
            </a:r>
          </a:p>
        </p:txBody>
      </p:sp>
      <p:pic>
        <p:nvPicPr>
          <p:cNvPr id="3" name="图片 2" descr="QQ截图202105300933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5202"/>
            <a:ext cx="8039428" cy="597279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28932" y="4764167"/>
            <a:ext cx="7422416" cy="216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乙酰葡糖胺，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乙酰胞壁酸，短肽构成。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细菌细胞壁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的主要成分，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许多酶和抗生素的靶点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，溶菌酶，青霉素，头孢菌素等。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28840" y="4340140"/>
            <a:ext cx="1210588" cy="4240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五甘氨酸桥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793918" y="3659586"/>
            <a:ext cx="595035" cy="4240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肽链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75321" y="-69450"/>
            <a:ext cx="2749471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四、脂多糖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3537"/>
          <a:stretch>
            <a:fillRect/>
          </a:stretch>
        </p:blipFill>
        <p:spPr>
          <a:xfrm>
            <a:off x="6840639" y="0"/>
            <a:ext cx="5351362" cy="673793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4643" y="1581123"/>
            <a:ext cx="5841357" cy="3658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脂多糖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革兰氏阴性菌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如大肠杆菌和鼠伤寒沙门氏菌外膜成分。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是脊椎动物免疫系统在应对细菌感染时产生的抗体的主要目标。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某些细菌的脂多糖的脂质 A 部分称为内毒素；引起的中毒性休克综合征。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70445" y="-83058"/>
            <a:ext cx="736611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革兰氏阳性和阴性菌（供参考）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b="34272"/>
          <a:stretch>
            <a:fillRect/>
          </a:stretch>
        </p:blipFill>
        <p:spPr>
          <a:xfrm>
            <a:off x="2339340" y="905924"/>
            <a:ext cx="8228330" cy="37801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203785" y="852793"/>
            <a:ext cx="4644220" cy="418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阳性菌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                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阴性菌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92275" y="1870711"/>
            <a:ext cx="1261884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肽聚糖层（厚）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555382" y="4055642"/>
            <a:ext cx="1261884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肽聚糖层（薄）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909051" y="1502411"/>
            <a:ext cx="646331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脂多糖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06557" y="4587250"/>
            <a:ext cx="10455966" cy="227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a. 革兰氏阳性细菌，如粪肠球菌，缺乏外膜，并有一个厚厚的肽聚糖层，上面点缀着带负电荷的聚合物脂磷壁酸。 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b. 革兰氏阴性菌，如大肠杆菌，包含外层膜和围绕一层薄肽聚糖层的内膜。这两层膜之间的空间被称为周质。革兰氏阴性菌表面的脂多糖通过与免疫细胞表面的凝集素蛋白结合，在动物体内诱导强烈的炎症反应。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55895" y="1152526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脂胞壁酸质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55470" y="3790315"/>
            <a:ext cx="2540000" cy="3810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细胞质膜</a:t>
            </a:r>
            <a:endParaRPr lang="zh-CN" alt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082800" y="1397001"/>
            <a:ext cx="77800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透明质酸盐、硫酸软骨素和硫酸角酸酯的什么特性，使它们成为软骨的理想成分？</a:t>
            </a:r>
          </a:p>
          <a:p>
            <a:pPr>
              <a:lnSpc>
                <a:spcPct val="150000"/>
              </a:lnSpc>
            </a:pPr>
            <a:endParaRPr lang="zh-CN" altLang="en-US" sz="2400" b="1" dirty="0">
              <a:latin typeface="Comic Sans MS" panose="030F0702030302020204" charset="0"/>
              <a:ea typeface="微软雅黑" panose="020B0503020204020204" pitchFamily="34" charset="-122"/>
              <a:cs typeface="Comic Sans MS" panose="030F070203030202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85365" y="3246867"/>
            <a:ext cx="757745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因为这些糖胺聚糖富含羟基、胺基团和阴离子功能(羧酸盐、硫酸盐)，它们与水相互作用强烈。由这些糖胺聚糖形成的高度水合的蛋白聚糖在正常的身体运动中，会在关节受到的压力下可逆脱水。这种脱水对关节有缓冲作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当压力解除时，糖胺聚糖由于对水的亲和力而自动再水合。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723130" y="-87630"/>
            <a:ext cx="187583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思考题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</TotalTime>
  <Words>2484</Words>
  <Application>Microsoft Office PowerPoint</Application>
  <PresentationFormat>自定义</PresentationFormat>
  <Paragraphs>283</Paragraphs>
  <Slides>62</Slides>
  <Notes>10</Notes>
  <HiddenSlides>0</HiddenSlides>
  <MMClips>0</MMClips>
  <ScaleCrop>false</ScaleCrop>
  <HeadingPairs>
    <vt:vector size="4" baseType="variant">
      <vt:variant>
        <vt:lpstr>主题</vt:lpstr>
      </vt:variant>
      <vt:variant>
        <vt:i4>3</vt:i4>
      </vt:variant>
      <vt:variant>
        <vt:lpstr>幻灯片标题</vt:lpstr>
      </vt:variant>
      <vt:variant>
        <vt:i4>62</vt:i4>
      </vt:variant>
    </vt:vector>
  </HeadingPairs>
  <TitlesOfParts>
    <vt:vector size="65" baseType="lpstr">
      <vt:lpstr>Office 主题​​</vt:lpstr>
      <vt:lpstr>2_Office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更多的立体化学</vt:lpstr>
      <vt:lpstr>PowerPoint 演示文稿</vt:lpstr>
      <vt:lpstr>PowerPoint 演示文稿</vt:lpstr>
      <vt:lpstr>PowerPoint 演示文稿</vt:lpstr>
      <vt:lpstr>需要熟悉结构的单糖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糖类的呈色反应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aging00</dc:creator>
  <cp:lastModifiedBy>lenovo</cp:lastModifiedBy>
  <cp:revision>816</cp:revision>
  <dcterms:created xsi:type="dcterms:W3CDTF">2021-04-13T08:56:00Z</dcterms:created>
  <dcterms:modified xsi:type="dcterms:W3CDTF">2023-10-31T14:28:36Z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57CBEB9832164ED789EE312EFDE435A9</vt:lpwstr>
  </property>
  <property fmtid="{D5CDD505-2E9C-101B-9397-08002B2CF9AE}" pid="3" name="KSOProductBuildVer">
    <vt:lpwstr>2052-11.1.0.11365</vt:lpwstr>
  </property>
</Properties>
</file>