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5" r:id="rId3"/>
  </p:sldMasterIdLst>
  <p:notesMasterIdLst>
    <p:notesMasterId r:id="rId62"/>
  </p:notesMasterIdLst>
  <p:handoutMasterIdLst>
    <p:handoutMasterId r:id="rId63"/>
  </p:handoutMasterIdLst>
  <p:sldIdLst>
    <p:sldId id="1205" r:id="rId4"/>
    <p:sldId id="857" r:id="rId5"/>
    <p:sldId id="858" r:id="rId6"/>
    <p:sldId id="1206" r:id="rId7"/>
    <p:sldId id="859" r:id="rId8"/>
    <p:sldId id="1208" r:id="rId9"/>
    <p:sldId id="860" r:id="rId10"/>
    <p:sldId id="1209" r:id="rId11"/>
    <p:sldId id="1210" r:id="rId12"/>
    <p:sldId id="861" r:id="rId13"/>
    <p:sldId id="1211" r:id="rId14"/>
    <p:sldId id="1212" r:id="rId15"/>
    <p:sldId id="1213" r:id="rId16"/>
    <p:sldId id="1214" r:id="rId17"/>
    <p:sldId id="287" r:id="rId18"/>
    <p:sldId id="332" r:id="rId19"/>
    <p:sldId id="1215" r:id="rId20"/>
    <p:sldId id="1216" r:id="rId21"/>
    <p:sldId id="862" r:id="rId22"/>
    <p:sldId id="1218" r:id="rId23"/>
    <p:sldId id="1217" r:id="rId24"/>
    <p:sldId id="873" r:id="rId25"/>
    <p:sldId id="863" r:id="rId26"/>
    <p:sldId id="1220" r:id="rId27"/>
    <p:sldId id="866" r:id="rId28"/>
    <p:sldId id="1221" r:id="rId29"/>
    <p:sldId id="867" r:id="rId30"/>
    <p:sldId id="868" r:id="rId31"/>
    <p:sldId id="1223" r:id="rId32"/>
    <p:sldId id="870" r:id="rId33"/>
    <p:sldId id="365" r:id="rId34"/>
    <p:sldId id="1230" r:id="rId35"/>
    <p:sldId id="1224" r:id="rId36"/>
    <p:sldId id="874" r:id="rId37"/>
    <p:sldId id="1234" r:id="rId38"/>
    <p:sldId id="875" r:id="rId39"/>
    <p:sldId id="1232" r:id="rId40"/>
    <p:sldId id="876" r:id="rId41"/>
    <p:sldId id="1225" r:id="rId42"/>
    <p:sldId id="864" r:id="rId43"/>
    <p:sldId id="955" r:id="rId44"/>
    <p:sldId id="963" r:id="rId45"/>
    <p:sldId id="865" r:id="rId46"/>
    <p:sldId id="877" r:id="rId47"/>
    <p:sldId id="1231" r:id="rId48"/>
    <p:sldId id="294" r:id="rId49"/>
    <p:sldId id="1233" r:id="rId50"/>
    <p:sldId id="1229" r:id="rId51"/>
    <p:sldId id="878" r:id="rId52"/>
    <p:sldId id="1226" r:id="rId53"/>
    <p:sldId id="1227" r:id="rId54"/>
    <p:sldId id="1228" r:id="rId55"/>
    <p:sldId id="975" r:id="rId56"/>
    <p:sldId id="1235" r:id="rId57"/>
    <p:sldId id="964" r:id="rId58"/>
    <p:sldId id="967" r:id="rId59"/>
    <p:sldId id="965" r:id="rId60"/>
    <p:sldId id="966" r:id="rId61"/>
  </p:sldIdLst>
  <p:sldSz cx="12192000" cy="6858000"/>
  <p:notesSz cx="6858000" cy="9144000"/>
  <p:custDataLst>
    <p:tags r:id="rId64"/>
  </p:custDataLst>
  <p:defaultTextStyle>
    <a:defPPr>
      <a:defRPr lang="zh-CN"/>
    </a:defPPr>
    <a:lvl1pPr marL="0" lvl="0"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7200" b="0" i="0" u="none" kern="1200" baseline="0">
        <a:solidFill>
          <a:schemeClr val="accent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37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D60093"/>
    <a:srgbClr val="FF5050"/>
    <a:srgbClr val="66FFFF"/>
    <a:srgbClr val="99FF33"/>
    <a:srgbClr val="FFCCFF"/>
    <a:srgbClr val="33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63" autoAdjust="0"/>
    <p:restoredTop sz="93521"/>
  </p:normalViewPr>
  <p:slideViewPr>
    <p:cSldViewPr showGuides="1">
      <p:cViewPr>
        <p:scale>
          <a:sx n="100" d="100"/>
          <a:sy n="100" d="100"/>
        </p:scale>
        <p:origin x="1116" y="210"/>
      </p:cViewPr>
      <p:guideLst>
        <p:guide orient="horz" pos="2205"/>
        <p:guide pos="3713"/>
      </p:guideLst>
    </p:cSldViewPr>
  </p:slideViewPr>
  <p:outlineViewPr>
    <p:cViewPr>
      <p:scale>
        <a:sx n="33" d="100"/>
        <a:sy n="33" d="100"/>
      </p:scale>
      <p:origin x="0" y="0"/>
    </p:cViewPr>
  </p:outlineViewPr>
  <p:notesTextViewPr>
    <p:cViewPr>
      <p:scale>
        <a:sx n="50" d="100"/>
        <a:sy n="50" d="100"/>
      </p:scale>
      <p:origin x="0" y="0"/>
    </p:cViewPr>
  </p:notesTextViewPr>
  <p:sorterViewPr showFormatting="0">
    <p:cViewPr>
      <p:scale>
        <a:sx n="66" d="100"/>
        <a:sy n="66" d="100"/>
      </p:scale>
      <p:origin x="0" y="324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gs" Target="tags/tag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buFontTx/>
              <a:buNone/>
              <a:defRPr kumimoji="0" sz="120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8294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0" sz="120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8294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buFontTx/>
              <a:buNone/>
              <a:defRPr kumimoji="0" sz="120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8294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solidFill>
                  <a:schemeClr val="tx1"/>
                </a:solidFill>
                <a:latin typeface="Arial" panose="020B0604020202020204" pitchFamily="34" charset="0"/>
              </a:rPr>
              <a:t>‹#›</a:t>
            </a:fld>
            <a:endParaRPr lang="en-US" altLang="zh-CN"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buFontTx/>
              <a:buNone/>
              <a:defRPr kumimoji="0" sz="1200">
                <a:solidFill>
                  <a:schemeClr val="tx1"/>
                </a:solidFill>
                <a:latin typeface="Arial" panose="020B0604020202020204" pitchFamily="34" charset="0"/>
                <a:ea typeface="微软雅黑" panose="020B0503020204020204"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cs typeface="+mn-cs"/>
            </a:endParaRPr>
          </a:p>
        </p:txBody>
      </p:sp>
      <p:sp>
        <p:nvSpPr>
          <p:cNvPr id="7475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0" sz="1200">
                <a:solidFill>
                  <a:schemeClr val="tx1"/>
                </a:solidFill>
                <a:latin typeface="Arial" panose="020B0604020202020204" pitchFamily="34" charset="0"/>
                <a:ea typeface="微软雅黑" panose="020B0503020204020204"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cs typeface="+mn-cs"/>
            </a:endParaRPr>
          </a:p>
        </p:txBody>
      </p:sp>
      <p:sp>
        <p:nvSpPr>
          <p:cNvPr id="17412" name="Rectangle 4"/>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7475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7475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buFontTx/>
              <a:buNone/>
              <a:defRPr kumimoji="0" sz="1200">
                <a:solidFill>
                  <a:schemeClr val="tx1"/>
                </a:solidFill>
                <a:latin typeface="Arial" panose="020B0604020202020204" pitchFamily="34" charset="0"/>
                <a:ea typeface="微软雅黑" panose="020B0503020204020204"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cs typeface="+mn-cs"/>
            </a:endParaRPr>
          </a:p>
        </p:txBody>
      </p:sp>
      <p:sp>
        <p:nvSpPr>
          <p:cNvPr id="7475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solidFill>
                  <a:schemeClr val="tx1"/>
                </a:solidFill>
                <a:latin typeface="Arial" panose="020B0604020202020204" pitchFamily="34" charset="0"/>
              </a:rPr>
              <a:t>‹#›</a:t>
            </a:fld>
            <a:endParaRPr lang="en-US" altLang="zh-CN" sz="120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93700" y="690563"/>
            <a:ext cx="6146800" cy="3457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2466" name="幻灯片图像占位符 559105"/>
          <p:cNvSpPr>
            <a:spLocks noGrp="1" noRot="1" noChangeAspect="1" noTextEdit="1"/>
          </p:cNvSpPr>
          <p:nvPr>
            <p:ph type="sldImg"/>
          </p:nvPr>
        </p:nvSpPr>
        <p:spPr>
          <a:xfrm>
            <a:off x="379413" y="684213"/>
            <a:ext cx="6096000" cy="3429000"/>
          </a:xfrm>
        </p:spPr>
      </p:sp>
      <p:sp>
        <p:nvSpPr>
          <p:cNvPr id="559107" name="文本占位符 559106"/>
          <p:cNvSpPr>
            <a:spLocks noGrp="1"/>
          </p:cNvSpPr>
          <p:nvPr>
            <p:ph type="body" idx="1"/>
          </p:nvPr>
        </p:nvSpPr>
        <p:spPr>
          <a:xfrm>
            <a:off x="912813" y="4341813"/>
            <a:ext cx="5029200" cy="4114800"/>
          </a:xfrm>
        </p:spPr>
        <p:txBody>
          <a:bodyPr wrap="square" lIns="91440" tIns="45720" rIns="91440" bIns="45720" numCol="1" anchor="t" anchorCtr="0" compatLnSpc="1"/>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英国科学家</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Walker</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通过</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x</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光衍射获得高分辩率的牛心线粒体</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ATP</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酶晶体的三维结构， 证明在</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ATP</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酶合成</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ATP</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的催化循环中三个</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β</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亚基的确有不同构象， 从而有力地支持了</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Boyer</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的假说。</a:t>
            </a:r>
            <a:endParaRPr kumimoji="0" lang="zh-CN" altLang="en-US" sz="12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Boyer</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和</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Walker</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共同获得</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1997</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年诺贝尔化学奖。</a:t>
            </a: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2466" name="幻灯片图像占位符 559105"/>
          <p:cNvSpPr>
            <a:spLocks noGrp="1" noRot="1" noChangeAspect="1" noTextEdit="1"/>
          </p:cNvSpPr>
          <p:nvPr>
            <p:ph type="sldImg"/>
          </p:nvPr>
        </p:nvSpPr>
        <p:spPr>
          <a:xfrm>
            <a:off x="379413" y="684213"/>
            <a:ext cx="6096000" cy="3429000"/>
          </a:xfrm>
        </p:spPr>
      </p:sp>
      <p:sp>
        <p:nvSpPr>
          <p:cNvPr id="559107" name="文本占位符 559106"/>
          <p:cNvSpPr>
            <a:spLocks noGrp="1"/>
          </p:cNvSpPr>
          <p:nvPr>
            <p:ph type="body" idx="1"/>
          </p:nvPr>
        </p:nvSpPr>
        <p:spPr>
          <a:xfrm>
            <a:off x="912813" y="4341813"/>
            <a:ext cx="5029200" cy="4114800"/>
          </a:xfrm>
        </p:spPr>
        <p:txBody>
          <a:bodyPr wrap="square" lIns="91440" tIns="45720" rIns="91440" bIns="45720" numCol="1" anchor="t" anchorCtr="0" compatLnSpc="1"/>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英国科学家</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Walker</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通过</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x</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光衍射获得高分辩率的牛心线粒体</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ATP</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酶晶体的三维结构， 证明在</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ATP</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酶合成</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ATP</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的催化循环中三个</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β</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亚基的确有不同构象， 从而有力地支持了</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Boyer</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的假说。</a:t>
            </a:r>
            <a:endParaRPr kumimoji="0" lang="zh-CN" altLang="en-US" sz="12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Boyer</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和</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Walker</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共同获得</a:t>
            </a:r>
            <a:r>
              <a:rPr kumimoji="0" lang="en-US" altLang="zh-CN"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1997</a:t>
            </a:r>
            <a:r>
              <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年诺贝尔化学奖。</a:t>
            </a: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2466" name="幻灯片图像占位符 559105"/>
          <p:cNvSpPr>
            <a:spLocks noGrp="1" noRot="1" noChangeAspect="1" noTextEdit="1"/>
          </p:cNvSpPr>
          <p:nvPr>
            <p:ph type="sldImg"/>
          </p:nvPr>
        </p:nvSpPr>
        <p:spPr>
          <a:xfrm>
            <a:off x="379413" y="684213"/>
            <a:ext cx="6096000" cy="3429000"/>
          </a:xfrm>
        </p:spPr>
      </p:sp>
      <p:sp>
        <p:nvSpPr>
          <p:cNvPr id="559107" name="文本占位符 559106"/>
          <p:cNvSpPr>
            <a:spLocks noGrp="1"/>
          </p:cNvSpPr>
          <p:nvPr>
            <p:ph type="body" idx="1"/>
          </p:nvPr>
        </p:nvSpPr>
        <p:spPr>
          <a:xfrm>
            <a:off x="912813" y="4341813"/>
            <a:ext cx="5029200" cy="4114800"/>
          </a:xfrm>
        </p:spPr>
        <p:txBody>
          <a:bodyPr wrap="square" lIns="91440" tIns="45720" rIns="91440" bIns="45720" numCol="1" anchor="t" anchorCtr="0" compatLnSpc="1"/>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2466" name="幻灯片图像占位符 559105"/>
          <p:cNvSpPr>
            <a:spLocks noGrp="1" noRot="1" noChangeAspect="1" noTextEdit="1"/>
          </p:cNvSpPr>
          <p:nvPr>
            <p:ph type="sldImg"/>
          </p:nvPr>
        </p:nvSpPr>
        <p:spPr>
          <a:xfrm>
            <a:off x="379413" y="684213"/>
            <a:ext cx="6096000" cy="3429000"/>
          </a:xfrm>
        </p:spPr>
      </p:sp>
      <p:sp>
        <p:nvSpPr>
          <p:cNvPr id="559107" name="文本占位符 559106"/>
          <p:cNvSpPr>
            <a:spLocks noGrp="1"/>
          </p:cNvSpPr>
          <p:nvPr>
            <p:ph type="body" idx="1"/>
          </p:nvPr>
        </p:nvSpPr>
        <p:spPr>
          <a:xfrm>
            <a:off x="912813" y="4341813"/>
            <a:ext cx="5029200" cy="4114800"/>
          </a:xfrm>
        </p:spPr>
        <p:txBody>
          <a:bodyPr wrap="square" lIns="91440" tIns="45720" rIns="91440" bIns="45720" numCol="1" anchor="t" anchorCtr="0" compatLnSpc="1"/>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2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1E310902-04CB-478F-A403-E087BA228A17}"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753512C0-8857-4C80-BA64-9FD486087770}"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E2F3AFE7-4F35-4402-AE37-AB93C0E7E1F2}"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4E8E43B-2140-443F-9C56-B41DE3B66C3E}"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EDA0B38-86A3-4560-A701-EA4E50AFBB83}"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fld id="{FFA5628C-D78B-41C9-9D8F-C77D5166E781}"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FBB25DD8-AAA4-4F23-82C5-1CF5C62FA133}"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E0B221F0-D374-4BD8-BED1-CBCC4C27BA81}"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5CC297AD-DA19-4468-948F-CF915C052A8C}"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3D0A14C5-A59F-4D3A-A8B7-41C193D96919}"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lgn="r" eaLnBrk="1" hangingPunct="1">
              <a:buNone/>
            </a:pPr>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DAF40204-C27B-4469-93BA-34A6CDDFD500}"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zh-CN" smtClean="0"/>
              <a:t>‹#›</a:t>
            </a:fld>
            <a:endParaRPr lang="en-US" altLang="zh-CN" dirty="0">
              <a:latin typeface="Times New Roman" panose="02020603050405020304" pitchFamily="18" charset="0"/>
            </a:endParaRPr>
          </a:p>
        </p:txBody>
      </p:sp>
    </p:spTree>
  </p:cSld>
  <p:clrMapOvr>
    <a:masterClrMapping/>
  </p:clrMapOvr>
  <p:transition>
    <p:random/>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文本占位符 2"/>
          <p:cNvSpPr>
            <a:spLocks noGrp="1"/>
          </p:cNvSpPr>
          <p:nvPr>
            <p:ph type="body" sz="half" idx="1"/>
          </p:nvPr>
        </p:nvSpPr>
        <p:spPr>
          <a:xfrm>
            <a:off x="838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Rectangle 4"/>
          <p:cNvSpPr>
            <a:spLocks noGrp="1" noChangeArrowheads="1"/>
          </p:cNvSpPr>
          <p:nvPr>
            <p:ph type="dt" sz="half" idx="1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a:defRPr/>
            </a:pPr>
            <a:fld id="{61B9C50D-03EF-40B2-AEC4-CA8FE14A4A93}"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9"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ea typeface="微软雅黑" panose="020B0503020204020204" charset="-122"/>
              </a:defRPr>
            </a:lvl1pPr>
          </a:lstStyle>
          <a:p>
            <a:pPr>
              <a:defRPr/>
            </a:pPr>
            <a:endParaRPr lang="en-US" altLang="zh-CN"/>
          </a:p>
        </p:txBody>
      </p:sp>
      <p:sp>
        <p:nvSpPr>
          <p:cNvPr id="10"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Rectangle 4"/>
          <p:cNvSpPr>
            <a:spLocks noGrp="1" noChangeArrowheads="1"/>
          </p:cNvSpPr>
          <p:nvPr>
            <p:ph type="dt" sz="half" idx="2"/>
          </p:nvPr>
        </p:nvSpPr>
        <p:spPr bwMode="auto">
          <a:xfrm>
            <a:off x="609600" y="6245225"/>
            <a:ext cx="2844800" cy="476250"/>
          </a:xfrm>
          <a:prstGeom prst="rect">
            <a:avLst/>
          </a:prstGeom>
          <a:ln>
            <a:miter lim="800000"/>
          </a:ln>
        </p:spPr>
        <p:txBody>
          <a:bodyPr vert="horz" wrap="square" lIns="91440" tIns="45720" rIns="91440" bIns="45720" numCol="1" anchor="t" anchorCtr="0" compatLnSpc="1"/>
          <a:lstStyle>
            <a:lvl1pPr>
              <a:defRPr/>
            </a:lvl1pPr>
          </a:lstStyle>
          <a:p>
            <a:pPr>
              <a:defRPr/>
            </a:pPr>
            <a:fld id="{A29B3683-532F-4D27-84FF-17AAFDD1DC0C}"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9"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ea typeface="微软雅黑" panose="020B0503020204020204" charset="-122"/>
              </a:defRPr>
            </a:lvl1pPr>
          </a:lstStyle>
          <a:p>
            <a:pPr>
              <a:defRPr/>
            </a:pPr>
            <a:endParaRPr lang="en-US" altLang="zh-CN"/>
          </a:p>
        </p:txBody>
      </p:sp>
      <p:sp>
        <p:nvSpPr>
          <p:cNvPr id="10" name="Rectangle 6"/>
          <p:cNvSpPr>
            <a:spLocks noGrp="1" noChangeArrowheads="1"/>
          </p:cNvSpPr>
          <p:nvPr>
            <p:ph type="sldNum" sz="quarter" idx="4"/>
          </p:nvPr>
        </p:nvSpPr>
        <p:spPr bwMode="auto">
          <a:xfrm>
            <a:off x="8737600" y="6245225"/>
            <a:ext cx="2844800" cy="476250"/>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rcRect l="-23672" t="65924" r="-370" b="23585"/>
          <a:stretch>
            <a:fillRect/>
          </a:stretch>
        </p:blipFill>
        <p:spPr>
          <a:xfrm>
            <a:off x="-2890383" y="0"/>
            <a:ext cx="15138000" cy="884397"/>
          </a:xfrm>
          <a:prstGeom prst="rect">
            <a:avLst/>
          </a:prstGeom>
          <a:ln>
            <a:noFill/>
          </a:ln>
        </p:spPr>
      </p:pic>
      <p:sp>
        <p:nvSpPr>
          <p:cNvPr id="6" name="矩形 5"/>
          <p:cNvSpPr/>
          <p:nvPr userDrawn="1"/>
        </p:nvSpPr>
        <p:spPr>
          <a:xfrm>
            <a:off x="-6263" y="-3362"/>
            <a:ext cx="12211251" cy="884397"/>
          </a:xfrm>
          <a:prstGeom prst="rect">
            <a:avLst/>
          </a:prstGeom>
          <a:solidFill>
            <a:schemeClr val="tx1">
              <a:lumMod val="85000"/>
              <a:lumOff val="1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cSld>
  <p:clrMapOvr>
    <a:masterClrMapping/>
  </p:clrMapOvr>
  <p:transition>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2023/11/29</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AF40204-C27B-4469-93BA-34A6CDDFD500}" type="datetime1">
              <a:rPr lang="zh-CN" altLang="en-US" smtClean="0">
                <a:ea typeface="微软雅黑" panose="020B0503020204020204" charset="-122"/>
              </a:rPr>
              <a:t>2023/11/29</a:t>
            </a:fld>
            <a:endParaRPr lang="en-US" altLang="zh-CN">
              <a:ea typeface="微软雅黑" panose="020B0503020204020204" charset="-122"/>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lvl="0" eaLnBrk="1" hangingPunct="1">
              <a:buNone/>
            </a:pPr>
            <a:fld id="{9A0DB2DC-4C9A-4742-B13C-FB6460FD3503}" type="slidenum">
              <a:rPr lang="en-US" altLang="zh-CN" smtClean="0"/>
              <a:t>‹#›</a:t>
            </a:fld>
            <a:endParaRPr lang="en-US" altLang="zh-CN"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2023/11/29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2023/11/29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3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34.xml"/><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2.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2.xml"/><Relationship Id="rId5" Type="http://schemas.openxmlformats.org/officeDocument/2006/relationships/image" Target="../media/image41.png"/><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MolMotion"/>
          <p:cNvPicPr>
            <a:picLocks noChangeAspect="1"/>
          </p:cNvPicPr>
          <p:nvPr/>
        </p:nvPicPr>
        <p:blipFill>
          <a:blip r:embed="rId3"/>
          <a:srcRect l="8759"/>
          <a:stretch>
            <a:fillRect/>
          </a:stretch>
        </p:blipFill>
        <p:spPr>
          <a:xfrm>
            <a:off x="0" y="0"/>
            <a:ext cx="8264504" cy="6858000"/>
          </a:xfrm>
          <a:prstGeom prst="rect">
            <a:avLst/>
          </a:prstGeom>
        </p:spPr>
      </p:pic>
      <p:sp>
        <p:nvSpPr>
          <p:cNvPr id="6" name="文本框 5"/>
          <p:cNvSpPr txBox="1"/>
          <p:nvPr/>
        </p:nvSpPr>
        <p:spPr>
          <a:xfrm>
            <a:off x="8328248" y="2636912"/>
            <a:ext cx="3895767" cy="1261884"/>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第</a:t>
            </a:r>
            <a:r>
              <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8</a:t>
            </a: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章</a:t>
            </a:r>
            <a:endPar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rPr>
              <a:t>氧化磷酸化作用</a:t>
            </a:r>
          </a:p>
        </p:txBody>
      </p:sp>
      <p:sp>
        <p:nvSpPr>
          <p:cNvPr id="2" name="文本框 1"/>
          <p:cNvSpPr txBox="1"/>
          <p:nvPr/>
        </p:nvSpPr>
        <p:spPr>
          <a:xfrm>
            <a:off x="3611880" y="7033895"/>
            <a:ext cx="4064000" cy="1198880"/>
          </a:xfrm>
          <a:prstGeom prst="rect">
            <a:avLst/>
          </a:prstGeom>
          <a:noFill/>
        </p:spPr>
        <p:txBody>
          <a:bodyPr wrap="square" rtlCol="0">
            <a:spAutoFit/>
          </a:bodyPr>
          <a:lstStyle/>
          <a:p>
            <a:endParaRPr lang="zh-CN" altLang="en-US"/>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charset="-122"/>
              </a:endParaRPr>
            </a:p>
          </p:txBody>
        </p:sp>
        <p:sp>
          <p:nvSpPr>
            <p:cNvPr id="19" name="文本框 18"/>
            <p:cNvSpPr txBox="1"/>
            <p:nvPr/>
          </p:nvSpPr>
          <p:spPr>
            <a:xfrm>
              <a:off x="702100" y="334468"/>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ea typeface="微软雅黑" panose="020B0503020204020204" charset="-122"/>
                  <a:cs typeface="微软雅黑" panose="020B0503020204020204" charset="-122"/>
                </a:rPr>
                <a:t>1</a:t>
              </a:r>
            </a:p>
          </p:txBody>
        </p:sp>
      </p:grpSp>
      <p:sp>
        <p:nvSpPr>
          <p:cNvPr id="20" name="TextBox 48"/>
          <p:cNvSpPr txBox="1"/>
          <p:nvPr/>
        </p:nvSpPr>
        <p:spPr>
          <a:xfrm>
            <a:off x="5638800" y="2807336"/>
            <a:ext cx="6250940" cy="807085"/>
          </a:xfrm>
          <a:prstGeom prst="rect">
            <a:avLst/>
          </a:prstGeom>
          <a:noFill/>
        </p:spPr>
        <p:txBody>
          <a:bodyPr wrap="square" lIns="68584" tIns="34291" rIns="68584" bIns="34291" rtlCol="0">
            <a:spAutoFit/>
          </a:bodyPr>
          <a:lstStyle/>
          <a:p>
            <a:r>
              <a:rPr lang="zh-CN" altLang="en-US" sz="4800" b="1">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概述</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511824" y="-99392"/>
            <a:ext cx="2236510" cy="906915"/>
          </a:xfrm>
          <a:prstGeom prst="rect">
            <a:avLst/>
          </a:prstGeom>
          <a:noFill/>
        </p:spPr>
        <p:txBody>
          <a:bodyPr wrap="none" rtlCol="0" anchor="t">
            <a:spAutoFit/>
          </a:bodyPr>
          <a:lstStyle/>
          <a:p>
            <a:pPr>
              <a:lnSpc>
                <a:spcPct val="150000"/>
              </a:lnSpc>
            </a:pPr>
            <a:r>
              <a:rPr lang="zh-CN" alt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一、概貌</a:t>
            </a:r>
          </a:p>
        </p:txBody>
      </p:sp>
      <p:pic>
        <p:nvPicPr>
          <p:cNvPr id="3" name="图片 2"/>
          <p:cNvPicPr>
            <a:picLocks noChangeAspect="1"/>
          </p:cNvPicPr>
          <p:nvPr/>
        </p:nvPicPr>
        <p:blipFill>
          <a:blip r:embed="rId2"/>
          <a:stretch>
            <a:fillRect/>
          </a:stretch>
        </p:blipFill>
        <p:spPr>
          <a:xfrm>
            <a:off x="1194711" y="906922"/>
            <a:ext cx="9802577" cy="5981083"/>
          </a:xfrm>
          <a:prstGeom prst="rect">
            <a:avLst/>
          </a:prstGeom>
        </p:spPr>
      </p:pic>
      <p:sp>
        <p:nvSpPr>
          <p:cNvPr id="6" name="圆角矩形 5"/>
          <p:cNvSpPr/>
          <p:nvPr/>
        </p:nvSpPr>
        <p:spPr>
          <a:xfrm>
            <a:off x="6023992" y="2848656"/>
            <a:ext cx="4834885" cy="4068445"/>
          </a:xfrm>
          <a:prstGeom prst="roundRect">
            <a:avLst/>
          </a:prstGeom>
          <a:noFill/>
          <a:ln w="28575" cap="flat" cmpd="sng" algn="ctr">
            <a:solidFill>
              <a:srgbClr val="0000FF"/>
            </a:solidFill>
            <a:prstDash val="dash"/>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algn="ctr" eaLnBrk="1" hangingPunct="1"/>
            <a:endParaRPr kumimoji="1" lang="zh-CN" altLang="en-US">
              <a:ea typeface="微软雅黑" panose="020B0503020204020204" charset="-122"/>
            </a:endParaRPr>
          </a:p>
        </p:txBody>
      </p:sp>
      <p:sp>
        <p:nvSpPr>
          <p:cNvPr id="2" name="文本框 1"/>
          <p:cNvSpPr txBox="1"/>
          <p:nvPr/>
        </p:nvSpPr>
        <p:spPr>
          <a:xfrm>
            <a:off x="6836350" y="2376532"/>
            <a:ext cx="3685624" cy="461665"/>
          </a:xfrm>
          <a:prstGeom prst="rect">
            <a:avLst/>
          </a:prstGeom>
          <a:noFill/>
        </p:spPr>
        <p:txBody>
          <a:bodyPr wrap="none" rtlCol="0">
            <a:spAutoFit/>
          </a:bodyPr>
          <a:lstStyle/>
          <a:p>
            <a:r>
              <a:rPr lang="zh-CN" altLang="en-US" sz="2400" b="1" dirty="0">
                <a:solidFill>
                  <a:srgbClr val="FF0000"/>
                </a:solidFill>
                <a:latin typeface="微软雅黑" panose="020B0503020204020204" charset="-122"/>
                <a:ea typeface="微软雅黑" panose="020B0503020204020204" charset="-122"/>
              </a:rPr>
              <a:t>电子传递        氧化磷酸化</a:t>
            </a:r>
          </a:p>
        </p:txBody>
      </p:sp>
      <p:sp>
        <p:nvSpPr>
          <p:cNvPr id="4" name="文本框 3"/>
          <p:cNvSpPr txBox="1"/>
          <p:nvPr/>
        </p:nvSpPr>
        <p:spPr>
          <a:xfrm>
            <a:off x="241565" y="980728"/>
            <a:ext cx="1723549" cy="3046988"/>
          </a:xfrm>
          <a:prstGeom prst="rect">
            <a:avLst/>
          </a:prstGeom>
          <a:noFill/>
        </p:spPr>
        <p:txBody>
          <a:bodyPr wrap="none" rtlCol="0">
            <a:spAutoFit/>
          </a:bodyPr>
          <a:lstStyle/>
          <a:p>
            <a:r>
              <a:rPr lang="zh-CN" altLang="en-US" sz="2400" b="1" dirty="0">
                <a:solidFill>
                  <a:srgbClr val="FF0000"/>
                </a:solidFill>
                <a:latin typeface="微软雅黑" panose="020B0503020204020204" charset="-122"/>
                <a:ea typeface="微软雅黑" panose="020B0503020204020204" charset="-122"/>
              </a:rPr>
              <a:t>糖酵解      </a:t>
            </a:r>
            <a:endParaRPr lang="en-US" altLang="zh-CN" sz="2400" b="1" dirty="0">
              <a:solidFill>
                <a:srgbClr val="FF0000"/>
              </a:solidFill>
              <a:latin typeface="微软雅黑" panose="020B0503020204020204" charset="-122"/>
              <a:ea typeface="微软雅黑" panose="020B0503020204020204" charset="-122"/>
            </a:endParaRPr>
          </a:p>
          <a:p>
            <a:endParaRPr lang="en-US" altLang="zh-CN" sz="2400" b="1" dirty="0">
              <a:solidFill>
                <a:srgbClr val="FF0000"/>
              </a:solidFill>
              <a:latin typeface="微软雅黑" panose="020B0503020204020204" charset="-122"/>
              <a:ea typeface="微软雅黑" panose="020B0503020204020204" charset="-122"/>
            </a:endParaRPr>
          </a:p>
          <a:p>
            <a:endParaRPr lang="en-US" altLang="zh-CN" sz="2400" b="1" dirty="0">
              <a:solidFill>
                <a:srgbClr val="FF0000"/>
              </a:solidFill>
              <a:latin typeface="微软雅黑" panose="020B0503020204020204" charset="-122"/>
              <a:ea typeface="微软雅黑" panose="020B0503020204020204" charset="-122"/>
            </a:endParaRPr>
          </a:p>
          <a:p>
            <a:endParaRPr lang="en-US" altLang="zh-CN" sz="2400" b="1" dirty="0">
              <a:solidFill>
                <a:srgbClr val="FF0000"/>
              </a:solidFill>
              <a:latin typeface="微软雅黑" panose="020B0503020204020204" charset="-122"/>
              <a:ea typeface="微软雅黑" panose="020B0503020204020204" charset="-122"/>
            </a:endParaRPr>
          </a:p>
          <a:p>
            <a:endParaRPr lang="en-US" altLang="zh-CN" sz="2400" b="1" dirty="0">
              <a:solidFill>
                <a:srgbClr val="FF0000"/>
              </a:solidFill>
              <a:latin typeface="微软雅黑" panose="020B0503020204020204" charset="-122"/>
              <a:ea typeface="微软雅黑" panose="020B0503020204020204" charset="-122"/>
            </a:endParaRPr>
          </a:p>
          <a:p>
            <a:endParaRPr lang="en-US" altLang="zh-CN" sz="2400" b="1" dirty="0">
              <a:solidFill>
                <a:srgbClr val="FF0000"/>
              </a:solidFill>
              <a:latin typeface="微软雅黑" panose="020B0503020204020204" charset="-122"/>
              <a:ea typeface="微软雅黑" panose="020B0503020204020204" charset="-122"/>
            </a:endParaRPr>
          </a:p>
          <a:p>
            <a:endParaRPr lang="en-US" altLang="zh-CN" sz="2400" b="1" dirty="0">
              <a:solidFill>
                <a:srgbClr val="FF0000"/>
              </a:solidFill>
              <a:latin typeface="微软雅黑" panose="020B0503020204020204" charset="-122"/>
              <a:ea typeface="微软雅黑" panose="020B0503020204020204" charset="-122"/>
            </a:endParaRPr>
          </a:p>
          <a:p>
            <a:r>
              <a:rPr lang="zh-CN" altLang="en-US" sz="2400" b="1" dirty="0">
                <a:solidFill>
                  <a:srgbClr val="FF0000"/>
                </a:solidFill>
                <a:latin typeface="微软雅黑" panose="020B0503020204020204" charset="-122"/>
                <a:ea typeface="微软雅黑" panose="020B0503020204020204" charset="-122"/>
              </a:rPr>
              <a:t>柠檬酸循环</a:t>
            </a: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81222" y="1340768"/>
            <a:ext cx="9721080" cy="4339650"/>
          </a:xfrm>
          <a:prstGeom prst="rect">
            <a:avLst/>
          </a:prstGeom>
          <a:noFill/>
        </p:spPr>
        <p:txBody>
          <a:bodyPr wrap="square" rtlCol="0">
            <a:spAutoFit/>
          </a:bodyPr>
          <a:lstStyle/>
          <a:p>
            <a:pPr marL="342900" indent="-342900" eaLnBrk="1" hangingPunct="1">
              <a:lnSpc>
                <a:spcPct val="150000"/>
              </a:lnSpc>
              <a:spcBef>
                <a:spcPts val="1200"/>
              </a:spcBef>
              <a:buClr>
                <a:srgbClr val="000000"/>
              </a:buClr>
              <a:buFont typeface="Arial" panose="020B0604020202020204" pitchFamily="34" charset="0"/>
              <a:buChar char="•"/>
            </a:pPr>
            <a:r>
              <a:rPr lang="zh-CN" altLang="en-US" sz="2800" dirty="0">
                <a:solidFill>
                  <a:schemeClr val="tx1"/>
                </a:solidFill>
                <a:latin typeface="微软雅黑" panose="020B0503020204020204" charset="-122"/>
                <a:ea typeface="微软雅黑" panose="020B0503020204020204" charset="-122"/>
                <a:cs typeface="微软雅黑" panose="020B0503020204020204" charset="-122"/>
                <a:sym typeface="+mn-ea"/>
              </a:rPr>
              <a:t>生物体内发生的氧化反应通称为</a:t>
            </a:r>
            <a:r>
              <a:rPr lang="zh-CN" altLang="en-US" sz="2800" b="1" dirty="0">
                <a:solidFill>
                  <a:srgbClr val="FF0000"/>
                </a:solidFill>
                <a:latin typeface="微软雅黑" panose="020B0503020204020204" charset="-122"/>
                <a:ea typeface="微软雅黑" panose="020B0503020204020204" charset="-122"/>
                <a:cs typeface="微软雅黑" panose="020B0503020204020204" charset="-122"/>
                <a:sym typeface="+mn-ea"/>
              </a:rPr>
              <a:t>生物氧化</a:t>
            </a:r>
            <a:r>
              <a:rPr lang="zh-CN" altLang="en-US" sz="2800" dirty="0">
                <a:solidFill>
                  <a:schemeClr val="tx1"/>
                </a:solidFill>
                <a:latin typeface="微软雅黑" panose="020B0503020204020204" charset="-122"/>
                <a:ea typeface="微软雅黑" panose="020B0503020204020204" charset="-122"/>
                <a:cs typeface="微软雅黑" panose="020B0503020204020204" charset="-122"/>
                <a:sym typeface="+mn-ea"/>
              </a:rPr>
              <a:t>。</a:t>
            </a:r>
            <a:endParaRPr lang="en-US" altLang="zh-CN" sz="2800"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eaLnBrk="1" hangingPunct="1">
              <a:lnSpc>
                <a:spcPct val="150000"/>
              </a:lnSpc>
              <a:spcBef>
                <a:spcPts val="1200"/>
              </a:spcBef>
              <a:buClr>
                <a:srgbClr val="000000"/>
              </a:buClr>
              <a:buFont typeface="Arial" panose="020B0604020202020204" pitchFamily="34" charset="0"/>
              <a:buChar char="•"/>
            </a:pP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sym typeface="+mn-ea"/>
              </a:rPr>
              <a:t>共同点</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1</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）反应的本质都是</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sym typeface="+mn-ea"/>
              </a:rPr>
              <a:t>脱氢、失电子</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sym typeface="+mn-ea"/>
              </a:rPr>
              <a:t>或</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sym typeface="+mn-ea"/>
              </a:rPr>
              <a:t>加氧</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2</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）被氧化的物质相同，终产物和释放的能量也相同。</a:t>
            </a:r>
            <a:endParaRPr lang="en-US" altLang="zh-CN" sz="2400"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eaLnBrk="1" hangingPunct="1">
              <a:lnSpc>
                <a:spcPct val="150000"/>
              </a:lnSpc>
              <a:spcBef>
                <a:spcPts val="1200"/>
              </a:spcBef>
              <a:buClr>
                <a:srgbClr val="000000"/>
              </a:buClr>
              <a:buFont typeface="Arial" panose="020B0604020202020204" pitchFamily="34" charset="0"/>
              <a:buChar char="•"/>
            </a:pP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sym typeface="+mn-ea"/>
              </a:rPr>
              <a:t>差异</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1</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）生物氧化的主要方式为</a:t>
            </a:r>
            <a:r>
              <a:rPr lang="zh-CN" altLang="en-US" sz="2400" dirty="0">
                <a:solidFill>
                  <a:srgbClr val="FF0000"/>
                </a:solidFill>
                <a:latin typeface="微软雅黑" panose="020B0503020204020204" charset="-122"/>
                <a:ea typeface="微软雅黑" panose="020B0503020204020204" charset="-122"/>
                <a:cs typeface="微软雅黑" panose="020B0503020204020204" charset="-122"/>
                <a:sym typeface="+mn-ea"/>
              </a:rPr>
              <a:t>脱氢</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2</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）生物氧化在酶的催化下进行，因此条件比较温和；（</a:t>
            </a: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3</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）生物氧化是在一系列酶、辅酶和电子传递体的作用下逐步进行的，每一步释放一部分能量。</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spcBef>
                <a:spcPts val="1200"/>
              </a:spcBef>
            </a:pP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3071664" y="-99392"/>
            <a:ext cx="6340197"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二、生物氧化与非生物氧化</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charset="-122"/>
              </a:endParaRPr>
            </a:p>
          </p:txBody>
        </p:sp>
        <p:sp>
          <p:nvSpPr>
            <p:cNvPr id="19" name="文本框 18"/>
            <p:cNvSpPr txBox="1"/>
            <p:nvPr/>
          </p:nvSpPr>
          <p:spPr>
            <a:xfrm>
              <a:off x="798444" y="334468"/>
              <a:ext cx="82086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ea typeface="微软雅黑" panose="020B0503020204020204" charset="-122"/>
                  <a:cs typeface="微软雅黑" panose="020B0503020204020204" charset="-122"/>
                </a:rPr>
                <a:t>2</a:t>
              </a:r>
            </a:p>
          </p:txBody>
        </p:sp>
      </p:grpSp>
      <p:sp>
        <p:nvSpPr>
          <p:cNvPr id="20" name="TextBox 48"/>
          <p:cNvSpPr txBox="1"/>
          <p:nvPr/>
        </p:nvSpPr>
        <p:spPr>
          <a:xfrm>
            <a:off x="4203700" y="2807336"/>
            <a:ext cx="6250940" cy="807085"/>
          </a:xfrm>
          <a:prstGeom prst="rect">
            <a:avLst/>
          </a:prstGeom>
          <a:noFill/>
        </p:spPr>
        <p:txBody>
          <a:bodyPr wrap="square" lIns="68584" tIns="34291" rIns="68584" bIns="34291" rtlCol="0">
            <a:spAutoFit/>
          </a:bodyPr>
          <a:lstStyle/>
          <a:p>
            <a:r>
              <a:rPr lang="zh-CN" altLang="en-US" sz="4800" b="1">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电子传递链及电子传递</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23392" y="1052736"/>
            <a:ext cx="11089232" cy="5165725"/>
          </a:xfrm>
          <a:prstGeom prst="rect">
            <a:avLst/>
          </a:prstGeom>
          <a:noFill/>
          <a:ln w="9525">
            <a:noFill/>
          </a:ln>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35000"/>
              </a:spcBef>
              <a:buClr>
                <a:schemeClr val="hlink"/>
              </a:buClr>
              <a:buNone/>
              <a:defRPr/>
            </a:pPr>
            <a:endParaRPr lang="zh-CN" altLang="en-US" sz="3600" b="1" noProof="1">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endParaRPr>
          </a:p>
          <a:p>
            <a:pPr>
              <a:lnSpc>
                <a:spcPct val="150000"/>
              </a:lnSpc>
              <a:spcBef>
                <a:spcPct val="35000"/>
              </a:spcBef>
              <a:buClr>
                <a:schemeClr val="tx1"/>
              </a:buClr>
              <a:defRPr/>
            </a:pPr>
            <a:r>
              <a:rPr lang="zh-CN" altLang="en-US" sz="2800" b="1" noProof="1">
                <a:latin typeface="微软雅黑" panose="020B0503020204020204" charset="-122"/>
                <a:ea typeface="微软雅黑" panose="020B0503020204020204" charset="-122"/>
                <a:cs typeface="微软雅黑" panose="020B0503020204020204" charset="-122"/>
              </a:rPr>
              <a:t>呼吸链</a:t>
            </a:r>
            <a:r>
              <a:rPr lang="en-US" altLang="en-US" sz="2800" b="1" noProof="1">
                <a:latin typeface="微软雅黑" panose="020B0503020204020204" charset="-122"/>
                <a:ea typeface="微软雅黑" panose="020B0503020204020204" charset="-122"/>
                <a:cs typeface="微软雅黑" panose="020B0503020204020204" charset="-122"/>
              </a:rPr>
              <a:t>(respiratory chain) </a:t>
            </a:r>
            <a:r>
              <a:rPr lang="zh-CN" altLang="en-US" sz="2800" b="1" noProof="1">
                <a:latin typeface="微软雅黑" panose="020B0503020204020204" charset="-122"/>
                <a:ea typeface="微软雅黑" panose="020B0503020204020204" charset="-122"/>
                <a:cs typeface="微软雅黑" panose="020B0503020204020204" charset="-122"/>
              </a:rPr>
              <a:t>又叫电子传递体系或电子传递链</a:t>
            </a:r>
            <a:r>
              <a:rPr lang="en-US" altLang="en-US" sz="2800" b="1" noProof="1">
                <a:latin typeface="微软雅黑" panose="020B0503020204020204" charset="-122"/>
                <a:ea typeface="微软雅黑" panose="020B0503020204020204" charset="-122"/>
                <a:cs typeface="微软雅黑" panose="020B0503020204020204" charset="-122"/>
              </a:rPr>
              <a:t>(electron transport chain) :</a:t>
            </a:r>
          </a:p>
          <a:p>
            <a:pPr>
              <a:lnSpc>
                <a:spcPct val="150000"/>
              </a:lnSpc>
              <a:spcBef>
                <a:spcPct val="35000"/>
              </a:spcBef>
              <a:buClr>
                <a:srgbClr val="333300"/>
              </a:buClr>
              <a:buFont typeface="Arial" panose="020B0604020202020204" pitchFamily="34" charset="0"/>
              <a:buChar char="•"/>
              <a:defRPr/>
            </a:pPr>
            <a:r>
              <a:rPr lang="zh-CN" altLang="en-US" sz="2400" noProof="1">
                <a:latin typeface="微软雅黑" panose="020B0503020204020204" charset="-122"/>
                <a:ea typeface="微软雅黑" panose="020B0503020204020204" charset="-122"/>
                <a:cs typeface="微软雅黑" panose="020B0503020204020204" charset="-122"/>
              </a:rPr>
              <a:t> 电子从</a:t>
            </a:r>
            <a:r>
              <a:rPr lang="en-US" altLang="zh-CN" sz="2400" noProof="1">
                <a:latin typeface="微软雅黑" panose="020B0503020204020204" charset="-122"/>
                <a:ea typeface="微软雅黑" panose="020B0503020204020204" charset="-122"/>
                <a:cs typeface="微软雅黑" panose="020B0503020204020204" charset="-122"/>
              </a:rPr>
              <a:t>NADH</a:t>
            </a:r>
            <a:r>
              <a:rPr lang="zh-CN" altLang="en-US" sz="2400" noProof="1">
                <a:latin typeface="微软雅黑" panose="020B0503020204020204" charset="-122"/>
                <a:ea typeface="微软雅黑" panose="020B0503020204020204" charset="-122"/>
                <a:cs typeface="微软雅黑" panose="020B0503020204020204" charset="-122"/>
              </a:rPr>
              <a:t>、</a:t>
            </a:r>
            <a:r>
              <a:rPr lang="en-US" altLang="zh-CN" sz="2400" noProof="1">
                <a:latin typeface="微软雅黑" panose="020B0503020204020204" charset="-122"/>
                <a:ea typeface="微软雅黑" panose="020B0503020204020204" charset="-122"/>
                <a:cs typeface="微软雅黑" panose="020B0503020204020204" charset="-122"/>
              </a:rPr>
              <a:t>FADH</a:t>
            </a:r>
            <a:r>
              <a:rPr lang="en-US" altLang="zh-CN" sz="2400" baseline="-25000" noProof="1">
                <a:latin typeface="微软雅黑" panose="020B0503020204020204" charset="-122"/>
                <a:ea typeface="微软雅黑" panose="020B0503020204020204" charset="-122"/>
                <a:cs typeface="微软雅黑" panose="020B0503020204020204" charset="-122"/>
              </a:rPr>
              <a:t>2</a:t>
            </a:r>
            <a:r>
              <a:rPr lang="zh-CN" altLang="en-US" sz="2400" noProof="1">
                <a:latin typeface="微软雅黑" panose="020B0503020204020204" charset="-122"/>
                <a:ea typeface="微软雅黑" panose="020B0503020204020204" charset="-122"/>
                <a:cs typeface="微软雅黑" panose="020B0503020204020204" charset="-122"/>
              </a:rPr>
              <a:t>传递到</a:t>
            </a:r>
            <a:r>
              <a:rPr lang="en-US" altLang="zh-CN" sz="2400" noProof="1">
                <a:latin typeface="微软雅黑" panose="020B0503020204020204" charset="-122"/>
                <a:ea typeface="微软雅黑" panose="020B0503020204020204" charset="-122"/>
                <a:cs typeface="微软雅黑" panose="020B0503020204020204" charset="-122"/>
              </a:rPr>
              <a:t>O</a:t>
            </a:r>
            <a:r>
              <a:rPr lang="en-US" altLang="zh-CN" sz="2400" baseline="-25000" noProof="1">
                <a:latin typeface="微软雅黑" panose="020B0503020204020204" charset="-122"/>
                <a:ea typeface="微软雅黑" panose="020B0503020204020204" charset="-122"/>
                <a:cs typeface="微软雅黑" panose="020B0503020204020204" charset="-122"/>
              </a:rPr>
              <a:t>2</a:t>
            </a:r>
            <a:r>
              <a:rPr lang="zh-CN" altLang="en-US" sz="2400" noProof="1">
                <a:latin typeface="微软雅黑" panose="020B0503020204020204" charset="-122"/>
                <a:ea typeface="微软雅黑" panose="020B0503020204020204" charset="-122"/>
                <a:cs typeface="微软雅黑" panose="020B0503020204020204" charset="-122"/>
              </a:rPr>
              <a:t>，所经过的一系列电子载体。</a:t>
            </a:r>
            <a:endParaRPr lang="en-US" altLang="zh-CN" sz="2400" noProof="1">
              <a:latin typeface="微软雅黑" panose="020B0503020204020204" charset="-122"/>
              <a:ea typeface="微软雅黑" panose="020B0503020204020204" charset="-122"/>
              <a:cs typeface="微软雅黑" panose="020B0503020204020204" charset="-122"/>
            </a:endParaRPr>
          </a:p>
          <a:p>
            <a:pPr>
              <a:lnSpc>
                <a:spcPct val="150000"/>
              </a:lnSpc>
              <a:spcBef>
                <a:spcPct val="35000"/>
              </a:spcBef>
              <a:buClr>
                <a:srgbClr val="333300"/>
              </a:buClr>
              <a:buFont typeface="Arial" panose="020B0604020202020204" pitchFamily="34" charset="0"/>
              <a:buChar char="•"/>
              <a:defRPr/>
            </a:pPr>
            <a:r>
              <a:rPr lang="zh-CN" altLang="en-US" sz="2400" noProof="1">
                <a:latin typeface="微软雅黑" panose="020B0503020204020204" charset="-122"/>
                <a:ea typeface="微软雅黑" panose="020B0503020204020204" charset="-122"/>
                <a:cs typeface="微软雅黑" panose="020B0503020204020204" charset="-122"/>
              </a:rPr>
              <a:t>在</a:t>
            </a:r>
            <a:r>
              <a:rPr lang="zh-CN" altLang="en-US" sz="2400" u="sng" noProof="1">
                <a:latin typeface="微软雅黑" panose="020B0503020204020204" charset="-122"/>
                <a:ea typeface="微软雅黑" panose="020B0503020204020204" charset="-122"/>
                <a:cs typeface="微软雅黑" panose="020B0503020204020204" charset="-122"/>
              </a:rPr>
              <a:t>真核</a:t>
            </a:r>
            <a:r>
              <a:rPr lang="zh-CN" altLang="en-US" sz="2400" noProof="1">
                <a:latin typeface="微软雅黑" panose="020B0503020204020204" charset="-122"/>
                <a:ea typeface="微软雅黑" panose="020B0503020204020204" charset="-122"/>
                <a:cs typeface="微软雅黑" panose="020B0503020204020204" charset="-122"/>
              </a:rPr>
              <a:t>生物细胞内，它位于</a:t>
            </a:r>
            <a:r>
              <a:rPr lang="zh-CN" altLang="en-US" sz="2400" u="sng" noProof="1">
                <a:latin typeface="微软雅黑" panose="020B0503020204020204" charset="-122"/>
                <a:ea typeface="微软雅黑" panose="020B0503020204020204" charset="-122"/>
                <a:cs typeface="微软雅黑" panose="020B0503020204020204" charset="-122"/>
              </a:rPr>
              <a:t>线粒体内膜</a:t>
            </a:r>
            <a:r>
              <a:rPr lang="zh-CN" altLang="en-US" sz="2400" noProof="1">
                <a:latin typeface="微软雅黑" panose="020B0503020204020204" charset="-122"/>
                <a:ea typeface="微软雅黑" panose="020B0503020204020204" charset="-122"/>
                <a:cs typeface="微软雅黑" panose="020B0503020204020204" charset="-122"/>
              </a:rPr>
              <a:t>上；</a:t>
            </a:r>
            <a:r>
              <a:rPr lang="zh-CN" altLang="en-US" sz="2400" u="sng" noProof="1">
                <a:latin typeface="微软雅黑" panose="020B0503020204020204" charset="-122"/>
                <a:ea typeface="微软雅黑" panose="020B0503020204020204" charset="-122"/>
                <a:cs typeface="微软雅黑" panose="020B0503020204020204" charset="-122"/>
              </a:rPr>
              <a:t>原核</a:t>
            </a:r>
            <a:r>
              <a:rPr lang="zh-CN" altLang="en-US" sz="2400" noProof="1">
                <a:latin typeface="微软雅黑" panose="020B0503020204020204" charset="-122"/>
                <a:ea typeface="微软雅黑" panose="020B0503020204020204" charset="-122"/>
                <a:cs typeface="微软雅黑" panose="020B0503020204020204" charset="-122"/>
              </a:rPr>
              <a:t>生物中，它位于</a:t>
            </a:r>
            <a:r>
              <a:rPr lang="zh-CN" altLang="en-US" sz="2400" u="sng" noProof="1">
                <a:latin typeface="微软雅黑" panose="020B0503020204020204" charset="-122"/>
                <a:ea typeface="微软雅黑" panose="020B0503020204020204" charset="-122"/>
                <a:cs typeface="微软雅黑" panose="020B0503020204020204" charset="-122"/>
              </a:rPr>
              <a:t>细胞膜</a:t>
            </a:r>
            <a:r>
              <a:rPr lang="zh-CN" altLang="en-US" sz="2400" noProof="1">
                <a:latin typeface="微软雅黑" panose="020B0503020204020204" charset="-122"/>
                <a:ea typeface="微软雅黑" panose="020B0503020204020204" charset="-122"/>
                <a:cs typeface="微软雅黑" panose="020B0503020204020204" charset="-122"/>
              </a:rPr>
              <a:t>上。</a:t>
            </a:r>
          </a:p>
          <a:p>
            <a:pPr>
              <a:lnSpc>
                <a:spcPct val="150000"/>
              </a:lnSpc>
              <a:spcBef>
                <a:spcPct val="35000"/>
              </a:spcBef>
              <a:buClr>
                <a:schemeClr val="hlink"/>
              </a:buClr>
              <a:buNone/>
              <a:defRPr/>
            </a:pPr>
            <a:endParaRPr lang="zh-CN" altLang="en-US" sz="2400" noProof="1">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719736" y="-99392"/>
            <a:ext cx="3775393"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一、呼吸链概念</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575720" y="-89173"/>
            <a:ext cx="4288353"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二、氧化还原电势</a:t>
            </a:r>
          </a:p>
        </p:txBody>
      </p:sp>
      <p:sp>
        <p:nvSpPr>
          <p:cNvPr id="22531" name="矩形 3"/>
          <p:cNvSpPr/>
          <p:nvPr/>
        </p:nvSpPr>
        <p:spPr>
          <a:xfrm>
            <a:off x="335360" y="2133600"/>
            <a:ext cx="4464496" cy="34163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spcBef>
                <a:spcPct val="0"/>
              </a:spcBef>
            </a:pPr>
            <a:r>
              <a:rPr lang="zh-CN" altLang="en-US" sz="2400" b="1" dirty="0">
                <a:latin typeface="微软雅黑" panose="020B0503020204020204" charset="-122"/>
                <a:ea typeface="微软雅黑" panose="020B0503020204020204" charset="-122"/>
                <a:cs typeface="微软雅黑" panose="020B0503020204020204" charset="-122"/>
              </a:rPr>
              <a:t>定义</a:t>
            </a:r>
            <a:r>
              <a:rPr lang="zh-CN" altLang="en-US" sz="2400" dirty="0">
                <a:latin typeface="微软雅黑" panose="020B0503020204020204" charset="-122"/>
                <a:ea typeface="微软雅黑" panose="020B0503020204020204" charset="-122"/>
                <a:cs typeface="微软雅黑" panose="020B0503020204020204" charset="-122"/>
              </a:rPr>
              <a:t>：物质对电子的亲和力指标（</a:t>
            </a:r>
            <a:r>
              <a:rPr lang="en-US" altLang="zh-CN" sz="2400" i="1" dirty="0">
                <a:latin typeface="微软雅黑" panose="020B0503020204020204" charset="-122"/>
                <a:ea typeface="微软雅黑" panose="020B0503020204020204" charset="-122"/>
                <a:cs typeface="微软雅黑" panose="020B0503020204020204" charset="-122"/>
              </a:rPr>
              <a:t>E</a:t>
            </a:r>
            <a:r>
              <a:rPr lang="zh-CN" altLang="en-US" sz="2400" dirty="0">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标准氧化还原电势</a:t>
            </a:r>
            <a:r>
              <a:rPr lang="zh-CN" altLang="en-US" sz="2400" dirty="0">
                <a:latin typeface="微软雅黑" panose="020B0503020204020204" charset="-122"/>
                <a:ea typeface="微软雅黑" panose="020B0503020204020204" charset="-122"/>
                <a:cs typeface="微软雅黑" panose="020B0503020204020204" charset="-122"/>
              </a:rPr>
              <a:t>简称：</a:t>
            </a:r>
            <a:r>
              <a:rPr lang="en-US" altLang="zh-CN" sz="2400" i="1" dirty="0">
                <a:latin typeface="微软雅黑" panose="020B0503020204020204" charset="-122"/>
                <a:ea typeface="微软雅黑" panose="020B0503020204020204" charset="-122"/>
                <a:cs typeface="微软雅黑" panose="020B0503020204020204" charset="-122"/>
              </a:rPr>
              <a:t>E</a:t>
            </a:r>
            <a:r>
              <a:rPr lang="zh-CN" altLang="en-US" sz="2400" i="1" baseline="30000" dirty="0">
                <a:latin typeface="微软雅黑" panose="020B0503020204020204" charset="-122"/>
                <a:ea typeface="微软雅黑" panose="020B0503020204020204" charset="-122"/>
                <a:cs typeface="微软雅黑" panose="020B0503020204020204" charset="-122"/>
              </a:rPr>
              <a:t>。</a:t>
            </a:r>
            <a:r>
              <a:rPr lang="en-US" altLang="zh-CN" sz="2400" i="1" dirty="0">
                <a:latin typeface="微软雅黑" panose="020B0503020204020204" charset="-122"/>
                <a:ea typeface="微软雅黑" panose="020B0503020204020204" charset="-122"/>
                <a:cs typeface="微软雅黑" panose="020B0503020204020204" charset="-122"/>
              </a:rPr>
              <a:t>'</a:t>
            </a:r>
          </a:p>
          <a:p>
            <a:pPr>
              <a:spcBef>
                <a:spcPct val="0"/>
              </a:spcBef>
            </a:pPr>
            <a:endParaRPr lang="en-US" altLang="zh-CN" sz="2400" dirty="0">
              <a:latin typeface="微软雅黑" panose="020B0503020204020204" charset="-122"/>
              <a:ea typeface="微软雅黑" panose="020B0503020204020204" charset="-122"/>
              <a:cs typeface="微软雅黑" panose="020B0503020204020204" charset="-122"/>
            </a:endParaRPr>
          </a:p>
          <a:p>
            <a:pPr>
              <a:spcBef>
                <a:spcPct val="0"/>
              </a:spcBef>
            </a:pPr>
            <a:r>
              <a:rPr lang="zh-CN" altLang="en-US" sz="2400" dirty="0">
                <a:latin typeface="微软雅黑" panose="020B0503020204020204" charset="-122"/>
                <a:ea typeface="微软雅黑" panose="020B0503020204020204" charset="-122"/>
                <a:cs typeface="微软雅黑" panose="020B0503020204020204" charset="-122"/>
              </a:rPr>
              <a:t>其值越大，越易得到电子，从而被还原。</a:t>
            </a:r>
            <a:endParaRPr lang="en-US" altLang="zh-CN" sz="2400" dirty="0">
              <a:latin typeface="微软雅黑" panose="020B0503020204020204" charset="-122"/>
              <a:ea typeface="微软雅黑" panose="020B0503020204020204" charset="-122"/>
              <a:cs typeface="微软雅黑" panose="020B0503020204020204" charset="-122"/>
            </a:endParaRPr>
          </a:p>
          <a:p>
            <a:pPr>
              <a:spcBef>
                <a:spcPct val="0"/>
              </a:spcBef>
            </a:pPr>
            <a:endParaRPr lang="en-US" altLang="zh-CN" sz="2400" dirty="0">
              <a:latin typeface="微软雅黑" panose="020B0503020204020204" charset="-122"/>
              <a:ea typeface="微软雅黑" panose="020B0503020204020204" charset="-122"/>
              <a:cs typeface="微软雅黑" panose="020B0503020204020204" charset="-122"/>
            </a:endParaRPr>
          </a:p>
          <a:p>
            <a:pPr>
              <a:spcBef>
                <a:spcPct val="0"/>
              </a:spcBef>
            </a:pPr>
            <a:r>
              <a:rPr lang="zh-CN" altLang="en-US" sz="2400" dirty="0">
                <a:latin typeface="微软雅黑" panose="020B0503020204020204" charset="-122"/>
                <a:ea typeface="微软雅黑" panose="020B0503020204020204" charset="-122"/>
                <a:cs typeface="微软雅黑" panose="020B0503020204020204" charset="-122"/>
              </a:rPr>
              <a:t>电子倾向于从</a:t>
            </a:r>
            <a:r>
              <a:rPr lang="en-US" altLang="zh-CN" sz="2400" i="1" dirty="0">
                <a:latin typeface="微软雅黑" panose="020B0503020204020204" charset="-122"/>
                <a:ea typeface="微软雅黑" panose="020B0503020204020204" charset="-122"/>
                <a:cs typeface="微软雅黑" panose="020B0503020204020204" charset="-122"/>
              </a:rPr>
              <a:t>E</a:t>
            </a:r>
            <a:r>
              <a:rPr lang="zh-CN" altLang="en-US" sz="2400" i="1" baseline="30000" dirty="0">
                <a:latin typeface="微软雅黑" panose="020B0503020204020204" charset="-122"/>
                <a:ea typeface="微软雅黑" panose="020B0503020204020204" charset="-122"/>
                <a:cs typeface="微软雅黑" panose="020B0503020204020204" charset="-122"/>
              </a:rPr>
              <a:t>。</a:t>
            </a:r>
            <a:r>
              <a:rPr lang="en-US" altLang="zh-CN" sz="2400" i="1" dirty="0">
                <a:latin typeface="微软雅黑" panose="020B0503020204020204" charset="-122"/>
                <a:ea typeface="微软雅黑" panose="020B0503020204020204" charset="-122"/>
                <a:cs typeface="微软雅黑" panose="020B0503020204020204" charset="-122"/>
              </a:rPr>
              <a:t>'</a:t>
            </a:r>
            <a:r>
              <a:rPr lang="zh-CN" altLang="en-US" sz="2400" dirty="0">
                <a:latin typeface="微软雅黑" panose="020B0503020204020204" charset="-122"/>
                <a:ea typeface="微软雅黑" panose="020B0503020204020204" charset="-122"/>
                <a:cs typeface="微软雅黑" panose="020B0503020204020204" charset="-122"/>
              </a:rPr>
              <a:t>值小的物质，流向</a:t>
            </a:r>
            <a:r>
              <a:rPr lang="en-US" altLang="zh-CN" sz="2400" i="1" dirty="0">
                <a:latin typeface="微软雅黑" panose="020B0503020204020204" charset="-122"/>
                <a:ea typeface="微软雅黑" panose="020B0503020204020204" charset="-122"/>
                <a:cs typeface="微软雅黑" panose="020B0503020204020204" charset="-122"/>
              </a:rPr>
              <a:t>E</a:t>
            </a:r>
            <a:r>
              <a:rPr lang="zh-CN" altLang="en-US" sz="2400" i="1" baseline="30000" dirty="0">
                <a:latin typeface="微软雅黑" panose="020B0503020204020204" charset="-122"/>
                <a:ea typeface="微软雅黑" panose="020B0503020204020204" charset="-122"/>
                <a:cs typeface="微软雅黑" panose="020B0503020204020204" charset="-122"/>
              </a:rPr>
              <a:t>。</a:t>
            </a:r>
            <a:r>
              <a:rPr lang="en-US" altLang="zh-CN" sz="2400" i="1" dirty="0">
                <a:latin typeface="微软雅黑" panose="020B0503020204020204" charset="-122"/>
                <a:ea typeface="微软雅黑" panose="020B0503020204020204" charset="-122"/>
                <a:cs typeface="微软雅黑" panose="020B0503020204020204" charset="-122"/>
              </a:rPr>
              <a:t>'</a:t>
            </a:r>
            <a:r>
              <a:rPr lang="zh-CN" altLang="en-US" sz="2400" dirty="0">
                <a:latin typeface="微软雅黑" panose="020B0503020204020204" charset="-122"/>
                <a:ea typeface="微软雅黑" panose="020B0503020204020204" charset="-122"/>
                <a:cs typeface="微软雅黑" panose="020B0503020204020204" charset="-122"/>
              </a:rPr>
              <a:t>值大的物质。</a:t>
            </a:r>
          </a:p>
        </p:txBody>
      </p:sp>
      <p:pic>
        <p:nvPicPr>
          <p:cNvPr id="22532" name="图片 1"/>
          <p:cNvPicPr>
            <a:picLocks noChangeAspect="1"/>
          </p:cNvPicPr>
          <p:nvPr/>
        </p:nvPicPr>
        <p:blipFill>
          <a:blip r:embed="rId2"/>
          <a:stretch>
            <a:fillRect/>
          </a:stretch>
        </p:blipFill>
        <p:spPr>
          <a:xfrm>
            <a:off x="5159896" y="1196752"/>
            <a:ext cx="6810560" cy="5310517"/>
          </a:xfrm>
          <a:prstGeom prst="rect">
            <a:avLst/>
          </a:prstGeom>
          <a:noFill/>
          <a:ln w="9525" cap="flat" cmpd="sng">
            <a:solidFill>
              <a:schemeClr val="tx1"/>
            </a:solidFill>
            <a:prstDash val="solid"/>
            <a:miter/>
            <a:headEnd type="none" w="med" len="med"/>
            <a:tailEnd type="none" w="med" len="med"/>
          </a:ln>
        </p:spPr>
      </p:pic>
      <p:sp>
        <p:nvSpPr>
          <p:cNvPr id="22533" name="矩形 5"/>
          <p:cNvSpPr/>
          <p:nvPr/>
        </p:nvSpPr>
        <p:spPr>
          <a:xfrm>
            <a:off x="325479" y="1340239"/>
            <a:ext cx="7272337" cy="52197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spcBef>
                <a:spcPct val="0"/>
              </a:spcBef>
            </a:pPr>
            <a:r>
              <a:rPr lang="zh-CN" altLang="en-US" sz="2800" b="1" dirty="0">
                <a:latin typeface="微软雅黑" panose="020B0503020204020204" charset="-122"/>
                <a:ea typeface="微软雅黑" panose="020B0503020204020204" charset="-122"/>
              </a:rPr>
              <a:t>什么决定电子传递的方向？</a:t>
            </a: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5"/>
          <p:cNvGraphicFramePr>
            <a:graphicFrameLocks noGrp="1"/>
          </p:cNvGraphicFramePr>
          <p:nvPr>
            <p:custDataLst>
              <p:tags r:id="rId1"/>
            </p:custDataLst>
          </p:nvPr>
        </p:nvGraphicFramePr>
        <p:xfrm>
          <a:off x="3935413" y="4720909"/>
          <a:ext cx="6546850" cy="2079038"/>
        </p:xfrm>
        <a:graphic>
          <a:graphicData uri="http://schemas.openxmlformats.org/drawingml/2006/table">
            <a:tbl>
              <a:tblPr/>
              <a:tblGrid>
                <a:gridCol w="1462087">
                  <a:extLst>
                    <a:ext uri="{9D8B030D-6E8A-4147-A177-3AD203B41FA5}">
                      <a16:colId xmlns:a16="http://schemas.microsoft.com/office/drawing/2014/main" val="20000"/>
                    </a:ext>
                  </a:extLst>
                </a:gridCol>
                <a:gridCol w="2541588">
                  <a:extLst>
                    <a:ext uri="{9D8B030D-6E8A-4147-A177-3AD203B41FA5}">
                      <a16:colId xmlns:a16="http://schemas.microsoft.com/office/drawing/2014/main" val="20001"/>
                    </a:ext>
                  </a:extLst>
                </a:gridCol>
                <a:gridCol w="2543175">
                  <a:extLst>
                    <a:ext uri="{9D8B030D-6E8A-4147-A177-3AD203B41FA5}">
                      <a16:colId xmlns:a16="http://schemas.microsoft.com/office/drawing/2014/main" val="20002"/>
                    </a:ext>
                  </a:extLst>
                </a:gridCol>
              </a:tblGrid>
              <a:tr h="39636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rgbClr val="FF0000"/>
                          </a:solidFill>
                          <a:effectLst/>
                          <a:latin typeface="微软雅黑" panose="020B0503020204020204" charset="-122"/>
                          <a:ea typeface="微软雅黑" panose="020B0503020204020204" charset="-122"/>
                        </a:rPr>
                        <a:t>复合体</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rgbClr val="FF0000"/>
                          </a:solidFill>
                          <a:effectLst/>
                          <a:latin typeface="微软雅黑" panose="020B0503020204020204" charset="-122"/>
                          <a:ea typeface="微软雅黑" panose="020B0503020204020204" charset="-122"/>
                        </a:rPr>
                        <a:t>酶</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rgbClr val="FF0000"/>
                          </a:solidFill>
                          <a:effectLst/>
                          <a:latin typeface="微软雅黑" panose="020B0503020204020204" charset="-122"/>
                          <a:ea typeface="微软雅黑" panose="020B0503020204020204" charset="-122"/>
                        </a:rPr>
                        <a:t>辅基</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938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algn="ctr" defTabSz="914400" rtl="0" eaLnBrk="0" fontAlgn="base" latinLnBrk="0" hangingPunct="0">
                        <a:lnSpc>
                          <a:spcPct val="100000"/>
                        </a:lnSpc>
                        <a:spcBef>
                          <a:spcPct val="20000"/>
                        </a:spcBef>
                        <a:buClrTx/>
                        <a:buSzTx/>
                        <a:buFontTx/>
                        <a:buNone/>
                      </a:pPr>
                      <a:r>
                        <a:rPr kumimoji="0" lang="zh-CN" altLang="en-US" sz="2000" b="1" i="0" u="none" strike="noStrike" cap="none" normalizeH="0" baseline="0" noProof="1">
                          <a:latin typeface="Comic Sans MS" panose="030F0702030302020204" charset="0"/>
                          <a:ea typeface="微软雅黑" panose="020B0503020204020204" charset="-122"/>
                          <a:cs typeface="Comic Sans MS" panose="030F0702030302020204" charset="0"/>
                        </a:rPr>
                        <a:t>Ⅰ</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R="0" lvl="0" indent="0" algn="l" defTabSz="914400" rtl="0" eaLnBrk="0" fontAlgn="base" latinLnBrk="0" hangingPunct="0">
                        <a:lnSpc>
                          <a:spcPct val="100000"/>
                        </a:lnSpc>
                        <a:buClrTx/>
                        <a:buSzTx/>
                        <a:buNone/>
                      </a:pPr>
                      <a:r>
                        <a:rPr kumimoji="0" lang="zh-CN" altLang="en-US" sz="1600" b="0" i="0" u="none" strike="noStrike" cap="none" normalizeH="0" baseline="0" noProof="1">
                          <a:latin typeface="Comic Sans MS" panose="030F0702030302020204" charset="0"/>
                          <a:ea typeface="微软雅黑" panose="020B0503020204020204" charset="-122"/>
                          <a:cs typeface="Comic Sans MS" panose="030F0702030302020204" charset="0"/>
                        </a:rPr>
                        <a:t>NADH-Q还原酶</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algn="ctr" defTabSz="914400" rtl="0" eaLnBrk="0" fontAlgn="base" latinLnBrk="0" hangingPunct="0">
                        <a:lnSpc>
                          <a:spcPct val="100000"/>
                        </a:lnSpc>
                        <a:spcBef>
                          <a:spcPct val="20000"/>
                        </a:spcBef>
                        <a:buClrTx/>
                        <a:buSzTx/>
                        <a:buFontTx/>
                        <a:buNone/>
                      </a:pPr>
                      <a:r>
                        <a:rPr kumimoji="0" lang="zh-CN" altLang="en-US" sz="1600" b="0" i="0" u="none" strike="noStrike" cap="none" normalizeH="0" baseline="0" noProof="1">
                          <a:solidFill>
                            <a:schemeClr val="tx1"/>
                          </a:solidFill>
                          <a:latin typeface="Comic Sans MS" panose="030F0702030302020204" charset="0"/>
                          <a:ea typeface="微软雅黑" panose="020B0503020204020204" charset="-122"/>
                          <a:cs typeface="Comic Sans MS" panose="030F0702030302020204" charset="0"/>
                          <a:sym typeface="Arial" panose="020B0604020202020204" pitchFamily="34" charset="0"/>
                        </a:rPr>
                        <a:t>FMN，Fe-S</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37159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algn="ctr" defTabSz="914400" rtl="0" eaLnBrk="0" fontAlgn="base" latinLnBrk="0" hangingPunct="0">
                        <a:lnSpc>
                          <a:spcPct val="100000"/>
                        </a:lnSpc>
                        <a:spcBef>
                          <a:spcPct val="20000"/>
                        </a:spcBef>
                        <a:buClrTx/>
                        <a:buSzTx/>
                        <a:buFontTx/>
                        <a:buNone/>
                      </a:pPr>
                      <a:r>
                        <a:rPr kumimoji="0" lang="zh-CN" altLang="en-US" sz="2000" b="1" i="0" u="none" strike="noStrike" cap="none" normalizeH="0" baseline="0" noProof="1">
                          <a:latin typeface="Comic Sans MS" panose="030F0702030302020204" charset="0"/>
                          <a:ea typeface="微软雅黑" panose="020B0503020204020204" charset="-122"/>
                          <a:cs typeface="Comic Sans MS" panose="030F0702030302020204" charset="0"/>
                        </a:rPr>
                        <a:t>Ⅱ</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R="0" lvl="0" indent="0" algn="l" defTabSz="914400" rtl="0" eaLnBrk="0" fontAlgn="base" latinLnBrk="0" hangingPunct="0">
                        <a:lnSpc>
                          <a:spcPct val="100000"/>
                        </a:lnSpc>
                        <a:buClrTx/>
                        <a:buSzTx/>
                        <a:buNone/>
                      </a:pPr>
                      <a:r>
                        <a:rPr kumimoji="0" lang="zh-CN" altLang="en-US" sz="1600" b="0" i="0" u="none" strike="noStrike" cap="none" normalizeH="0" baseline="0" noProof="1">
                          <a:latin typeface="Comic Sans MS" panose="030F0702030302020204" charset="0"/>
                          <a:ea typeface="微软雅黑" panose="020B0503020204020204" charset="-122"/>
                          <a:cs typeface="Comic Sans MS" panose="030F0702030302020204" charset="0"/>
                        </a:rPr>
                        <a:t>琥珀酸-Q还原酶</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algn="ctr" defTabSz="914400" rtl="0" eaLnBrk="0" fontAlgn="base" latinLnBrk="0" hangingPunct="0">
                        <a:lnSpc>
                          <a:spcPct val="100000"/>
                        </a:lnSpc>
                        <a:spcBef>
                          <a:spcPct val="20000"/>
                        </a:spcBef>
                        <a:buClrTx/>
                        <a:buSzTx/>
                        <a:buFontTx/>
                        <a:buNone/>
                      </a:pPr>
                      <a:r>
                        <a:rPr kumimoji="0" lang="zh-CN" altLang="en-US" sz="1600" b="0" i="0" u="none" strike="noStrike" cap="none" normalizeH="0" baseline="0" noProof="1">
                          <a:solidFill>
                            <a:schemeClr val="tx1"/>
                          </a:solidFill>
                          <a:latin typeface="Comic Sans MS" panose="030F0702030302020204" charset="0"/>
                          <a:ea typeface="微软雅黑" panose="020B0503020204020204" charset="-122"/>
                          <a:cs typeface="Comic Sans MS" panose="030F0702030302020204" charset="0"/>
                          <a:sym typeface="Arial" panose="020B0604020202020204" pitchFamily="34" charset="0"/>
                        </a:rPr>
                        <a:t>FAD， Fe-S，Cytb560</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37159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algn="ctr" defTabSz="914400" rtl="0" eaLnBrk="0" fontAlgn="base" latinLnBrk="0" hangingPunct="0">
                        <a:lnSpc>
                          <a:spcPct val="100000"/>
                        </a:lnSpc>
                        <a:spcBef>
                          <a:spcPct val="20000"/>
                        </a:spcBef>
                        <a:buClrTx/>
                        <a:buSzTx/>
                        <a:buFontTx/>
                        <a:buNone/>
                      </a:pPr>
                      <a:r>
                        <a:rPr kumimoji="0" lang="zh-CN" altLang="en-US" sz="2000" b="1" i="0" u="none" strike="noStrike" cap="none" normalizeH="0" baseline="0" noProof="1">
                          <a:latin typeface="Comic Sans MS" panose="030F0702030302020204" charset="0"/>
                          <a:ea typeface="微软雅黑" panose="020B0503020204020204" charset="-122"/>
                          <a:cs typeface="Comic Sans MS" panose="030F0702030302020204" charset="0"/>
                        </a:rPr>
                        <a:t>Ⅲ</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R="0" lvl="0" indent="0" algn="l" defTabSz="914400" rtl="0" eaLnBrk="0" fontAlgn="base" latinLnBrk="0" hangingPunct="0">
                        <a:lnSpc>
                          <a:spcPct val="100000"/>
                        </a:lnSpc>
                        <a:buClrTx/>
                        <a:buSzTx/>
                        <a:buNone/>
                      </a:pPr>
                      <a:r>
                        <a:rPr kumimoji="0" lang="zh-CN" altLang="en-US" sz="1600" b="0" i="0" u="none" strike="noStrike" cap="none" normalizeH="0" baseline="0" noProof="1">
                          <a:latin typeface="Comic Sans MS" panose="030F0702030302020204" charset="0"/>
                          <a:ea typeface="微软雅黑" panose="020B0503020204020204" charset="-122"/>
                          <a:cs typeface="Comic Sans MS" panose="030F0702030302020204" charset="0"/>
                        </a:rPr>
                        <a:t>Q-CytC还原酶</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algn="ctr" defTabSz="914400" rtl="0" eaLnBrk="0" fontAlgn="base" latinLnBrk="0" hangingPunct="0">
                        <a:lnSpc>
                          <a:spcPct val="100000"/>
                        </a:lnSpc>
                        <a:spcBef>
                          <a:spcPct val="20000"/>
                        </a:spcBef>
                        <a:buClrTx/>
                        <a:buSzTx/>
                        <a:buFontTx/>
                        <a:buNone/>
                      </a:pPr>
                      <a:r>
                        <a:rPr kumimoji="0" lang="zh-CN" altLang="en-US" sz="1600" b="0" i="0" u="none" strike="noStrike" cap="none" normalizeH="0" baseline="0" noProof="1">
                          <a:solidFill>
                            <a:schemeClr val="tx1"/>
                          </a:solidFill>
                          <a:latin typeface="Comic Sans MS" panose="030F0702030302020204" charset="0"/>
                          <a:ea typeface="微软雅黑" panose="020B0503020204020204" charset="-122"/>
                          <a:cs typeface="Comic Sans MS" panose="030F0702030302020204" charset="0"/>
                          <a:sym typeface="Arial" panose="020B0604020202020204" pitchFamily="34" charset="0"/>
                        </a:rPr>
                        <a:t> 铁卟啉，Fe-S</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37159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algn="ctr" defTabSz="914400" rtl="0" eaLnBrk="0" fontAlgn="base" latinLnBrk="0" hangingPunct="0">
                        <a:lnSpc>
                          <a:spcPct val="100000"/>
                        </a:lnSpc>
                        <a:spcBef>
                          <a:spcPct val="20000"/>
                        </a:spcBef>
                        <a:buClrTx/>
                        <a:buSzTx/>
                        <a:buFontTx/>
                        <a:buNone/>
                      </a:pPr>
                      <a:r>
                        <a:rPr kumimoji="0" lang="zh-CN" altLang="en-US" sz="2000" b="1" i="0" u="none" strike="noStrike" cap="none" normalizeH="0" baseline="0" noProof="1">
                          <a:latin typeface="Comic Sans MS" panose="030F0702030302020204" charset="0"/>
                          <a:ea typeface="微软雅黑" panose="020B0503020204020204" charset="-122"/>
                          <a:cs typeface="Comic Sans MS" panose="030F0702030302020204" charset="0"/>
                        </a:rPr>
                        <a:t>Ⅳ</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R="0" lvl="0" indent="0" algn="l" defTabSz="914400" rtl="0" eaLnBrk="0" fontAlgn="base" latinLnBrk="0" hangingPunct="0">
                        <a:lnSpc>
                          <a:spcPct val="100000"/>
                        </a:lnSpc>
                        <a:buClrTx/>
                        <a:buSzTx/>
                        <a:buNone/>
                      </a:pPr>
                      <a:r>
                        <a:rPr kumimoji="0" lang="zh-CN" altLang="en-US" sz="1600" b="0" i="0" u="none" strike="noStrike" cap="none" normalizeH="0" baseline="0" noProof="1">
                          <a:latin typeface="Comic Sans MS" panose="030F0702030302020204" charset="0"/>
                          <a:ea typeface="微软雅黑" panose="020B0503020204020204" charset="-122"/>
                          <a:cs typeface="Comic Sans MS" panose="030F0702030302020204" charset="0"/>
                        </a:rPr>
                        <a:t>CytC 氧化酶</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algn="ctr" defTabSz="914400" rtl="0" eaLnBrk="0" fontAlgn="base" latinLnBrk="0" hangingPunct="0">
                        <a:lnSpc>
                          <a:spcPct val="100000"/>
                        </a:lnSpc>
                        <a:spcBef>
                          <a:spcPct val="20000"/>
                        </a:spcBef>
                        <a:buClrTx/>
                        <a:buSzTx/>
                        <a:buFontTx/>
                        <a:buNone/>
                      </a:pPr>
                      <a:r>
                        <a:rPr kumimoji="0" lang="zh-CN" altLang="en-US" sz="1600" b="0" i="0" u="none" strike="noStrike" cap="none" normalizeH="0" baseline="0" noProof="1">
                          <a:solidFill>
                            <a:schemeClr val="tx1"/>
                          </a:solidFill>
                          <a:latin typeface="Comic Sans MS" panose="030F0702030302020204" charset="0"/>
                          <a:ea typeface="微软雅黑" panose="020B0503020204020204" charset="-122"/>
                          <a:cs typeface="Comic Sans MS" panose="030F0702030302020204" charset="0"/>
                          <a:sym typeface="Arial" panose="020B0604020202020204" pitchFamily="34" charset="0"/>
                        </a:rPr>
                        <a:t>铁卟啉，Cu</a:t>
                      </a: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bl>
          </a:graphicData>
        </a:graphic>
      </p:graphicFrame>
      <p:sp>
        <p:nvSpPr>
          <p:cNvPr id="3" name="文本框 8"/>
          <p:cNvSpPr txBox="1"/>
          <p:nvPr/>
        </p:nvSpPr>
        <p:spPr>
          <a:xfrm>
            <a:off x="1631951" y="4868863"/>
            <a:ext cx="1966913" cy="1689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lnSpc>
                <a:spcPct val="150000"/>
              </a:lnSpc>
              <a:spcBef>
                <a:spcPct val="0"/>
              </a:spcBef>
            </a:pPr>
            <a:r>
              <a:rPr lang="en-US" altLang="zh-CN" sz="2400" b="1" dirty="0">
                <a:latin typeface="微软雅黑" panose="020B0503020204020204" charset="-122"/>
                <a:ea typeface="微软雅黑" panose="020B0503020204020204" charset="-122"/>
                <a:cs typeface="微软雅黑" panose="020B0503020204020204" charset="-122"/>
              </a:rPr>
              <a:t>4</a:t>
            </a:r>
            <a:r>
              <a:rPr lang="zh-CN" altLang="en-US" sz="2400" b="1" dirty="0">
                <a:latin typeface="微软雅黑" panose="020B0503020204020204" charset="-122"/>
                <a:ea typeface="微软雅黑" panose="020B0503020204020204" charset="-122"/>
                <a:cs typeface="微软雅黑" panose="020B0503020204020204" charset="-122"/>
              </a:rPr>
              <a:t>个复合体</a:t>
            </a:r>
            <a:endParaRPr lang="en-US" altLang="zh-CN" sz="2400" b="1" dirty="0">
              <a:latin typeface="微软雅黑" panose="020B0503020204020204" charset="-122"/>
              <a:ea typeface="微软雅黑" panose="020B0503020204020204" charset="-122"/>
              <a:cs typeface="微软雅黑" panose="020B0503020204020204" charset="-122"/>
            </a:endParaRPr>
          </a:p>
          <a:p>
            <a:pPr>
              <a:lnSpc>
                <a:spcPct val="150000"/>
              </a:lnSpc>
              <a:spcBef>
                <a:spcPct val="0"/>
              </a:spcBef>
            </a:pPr>
            <a:r>
              <a:rPr lang="zh-CN" altLang="en-US" sz="2400" b="1" dirty="0">
                <a:latin typeface="微软雅黑" panose="020B0503020204020204" charset="-122"/>
                <a:ea typeface="微软雅黑" panose="020B0503020204020204" charset="-122"/>
                <a:cs typeface="微软雅黑" panose="020B0503020204020204" charset="-122"/>
              </a:rPr>
              <a:t>辅酶</a:t>
            </a:r>
            <a:r>
              <a:rPr lang="en-US" altLang="zh-CN" sz="2400" b="1" dirty="0">
                <a:latin typeface="微软雅黑" panose="020B0503020204020204" charset="-122"/>
                <a:ea typeface="微软雅黑" panose="020B0503020204020204" charset="-122"/>
                <a:cs typeface="微软雅黑" panose="020B0503020204020204" charset="-122"/>
              </a:rPr>
              <a:t>Q</a:t>
            </a:r>
          </a:p>
          <a:p>
            <a:pPr>
              <a:lnSpc>
                <a:spcPct val="150000"/>
              </a:lnSpc>
              <a:spcBef>
                <a:spcPct val="0"/>
              </a:spcBef>
            </a:pPr>
            <a:r>
              <a:rPr lang="zh-CN" altLang="en-US" sz="2400" b="1" dirty="0">
                <a:latin typeface="微软雅黑" panose="020B0503020204020204" charset="-122"/>
                <a:ea typeface="微软雅黑" panose="020B0503020204020204" charset="-122"/>
                <a:cs typeface="微软雅黑" panose="020B0503020204020204" charset="-122"/>
              </a:rPr>
              <a:t>细胞色素</a:t>
            </a:r>
            <a:r>
              <a:rPr lang="en-US" altLang="zh-CN" sz="2400" b="1" dirty="0">
                <a:latin typeface="微软雅黑" panose="020B0503020204020204" charset="-122"/>
                <a:ea typeface="微软雅黑" panose="020B0503020204020204" charset="-122"/>
                <a:cs typeface="微软雅黑" panose="020B0503020204020204" charset="-122"/>
              </a:rPr>
              <a:t>C</a:t>
            </a:r>
            <a:endParaRPr lang="zh-CN" altLang="en-US" sz="2400" b="1" dirty="0">
              <a:latin typeface="微软雅黑" panose="020B0503020204020204" charset="-122"/>
              <a:ea typeface="微软雅黑" panose="020B0503020204020204" charset="-122"/>
              <a:cs typeface="微软雅黑" panose="020B0503020204020204" charset="-122"/>
            </a:endParaRPr>
          </a:p>
        </p:txBody>
      </p:sp>
      <p:pic>
        <p:nvPicPr>
          <p:cNvPr id="4" name="图片 1"/>
          <p:cNvPicPr>
            <a:picLocks noChangeAspect="1"/>
          </p:cNvPicPr>
          <p:nvPr/>
        </p:nvPicPr>
        <p:blipFill>
          <a:blip r:embed="rId3"/>
          <a:stretch>
            <a:fillRect/>
          </a:stretch>
        </p:blipFill>
        <p:spPr>
          <a:xfrm>
            <a:off x="1549400" y="908050"/>
            <a:ext cx="9118600" cy="3884930"/>
          </a:xfrm>
          <a:prstGeom prst="rect">
            <a:avLst/>
          </a:prstGeom>
          <a:noFill/>
          <a:ln w="9525">
            <a:noFill/>
          </a:ln>
        </p:spPr>
      </p:pic>
      <p:sp>
        <p:nvSpPr>
          <p:cNvPr id="6" name="文本框 5"/>
          <p:cNvSpPr txBox="1"/>
          <p:nvPr/>
        </p:nvSpPr>
        <p:spPr>
          <a:xfrm>
            <a:off x="3947410" y="-46644"/>
            <a:ext cx="3775393"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三、呼吸链组成</a:t>
            </a: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18146"/>
          <p:cNvSpPr txBox="1">
            <a:spLocks noRot="1"/>
          </p:cNvSpPr>
          <p:nvPr/>
        </p:nvSpPr>
        <p:spPr>
          <a:xfrm>
            <a:off x="1127448" y="1628800"/>
            <a:ext cx="9793088" cy="5041900"/>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30000"/>
              </a:lnSpc>
              <a:spcBef>
                <a:spcPct val="40000"/>
              </a:spcBef>
              <a:spcAft>
                <a:spcPts val="0"/>
              </a:spcAft>
            </a:pPr>
            <a:r>
              <a:rPr lang="zh-CN" altLang="en-US" b="1" dirty="0">
                <a:latin typeface="微软雅黑" panose="020B0503020204020204" charset="-122"/>
                <a:cs typeface="微软雅黑" panose="020B0503020204020204" charset="-122"/>
              </a:rPr>
              <a:t>辅酶</a:t>
            </a:r>
            <a:r>
              <a:rPr lang="en-US" altLang="zh-CN" b="1" dirty="0">
                <a:latin typeface="微软雅黑" panose="020B0503020204020204" charset="-122"/>
                <a:cs typeface="微软雅黑" panose="020B0503020204020204" charset="-122"/>
              </a:rPr>
              <a:t>I(II)</a:t>
            </a:r>
            <a:r>
              <a:rPr lang="zh-CN" altLang="zh-CN" dirty="0">
                <a:latin typeface="微软雅黑" panose="020B0503020204020204" charset="-122"/>
                <a:cs typeface="微软雅黑" panose="020B0503020204020204" charset="-122"/>
              </a:rPr>
              <a:t>：</a:t>
            </a:r>
            <a:r>
              <a:rPr lang="en-US" altLang="zh-CN" dirty="0">
                <a:latin typeface="微软雅黑" panose="020B0503020204020204" charset="-122"/>
                <a:cs typeface="微软雅黑" panose="020B0503020204020204" charset="-122"/>
              </a:rPr>
              <a:t>N</a:t>
            </a:r>
            <a:r>
              <a:rPr lang="zh-CN" altLang="en-US" dirty="0">
                <a:latin typeface="微软雅黑" panose="020B0503020204020204" charset="-122"/>
                <a:cs typeface="微软雅黑" panose="020B0503020204020204" charset="-122"/>
              </a:rPr>
              <a:t>AD</a:t>
            </a:r>
            <a:r>
              <a:rPr lang="zh-CN" altLang="en-US" baseline="30000" dirty="0">
                <a:latin typeface="微软雅黑" panose="020B0503020204020204" charset="-122"/>
                <a:cs typeface="微软雅黑" panose="020B0503020204020204" charset="-122"/>
              </a:rPr>
              <a:t>+</a:t>
            </a:r>
            <a:r>
              <a:rPr lang="zh-CN" altLang="en-US" dirty="0">
                <a:latin typeface="微软雅黑" panose="020B0503020204020204" charset="-122"/>
                <a:cs typeface="微软雅黑" panose="020B0503020204020204" charset="-122"/>
              </a:rPr>
              <a:t>(NADP</a:t>
            </a:r>
            <a:r>
              <a:rPr lang="zh-CN" altLang="en-US" baseline="30000" dirty="0">
                <a:latin typeface="微软雅黑" panose="020B0503020204020204" charset="-122"/>
                <a:cs typeface="微软雅黑" panose="020B0503020204020204" charset="-122"/>
              </a:rPr>
              <a:t>+</a:t>
            </a:r>
            <a:r>
              <a:rPr lang="zh-CN" altLang="en-US" dirty="0">
                <a:latin typeface="微软雅黑" panose="020B0503020204020204" charset="-122"/>
                <a:cs typeface="微软雅黑" panose="020B0503020204020204" charset="-122"/>
              </a:rPr>
              <a:t>)烟酰胺腺嘌呤核苷酸：脱氢酶的辅酶，每次接受一个H。</a:t>
            </a:r>
            <a:endParaRPr lang="en-US" altLang="zh-CN" dirty="0">
              <a:latin typeface="微软雅黑" panose="020B0503020204020204" charset="-122"/>
              <a:cs typeface="微软雅黑" panose="020B0503020204020204" charset="-122"/>
            </a:endParaRPr>
          </a:p>
          <a:p>
            <a:pPr fontAlgn="auto">
              <a:lnSpc>
                <a:spcPct val="130000"/>
              </a:lnSpc>
              <a:spcBef>
                <a:spcPct val="40000"/>
              </a:spcBef>
              <a:spcAft>
                <a:spcPts val="0"/>
              </a:spcAft>
            </a:pPr>
            <a:r>
              <a:rPr lang="zh-CN" altLang="en-US" b="1" dirty="0">
                <a:latin typeface="微软雅黑" panose="020B0503020204020204" charset="-122"/>
                <a:cs typeface="微软雅黑" panose="020B0503020204020204" charset="-122"/>
              </a:rPr>
              <a:t>FMN</a:t>
            </a:r>
            <a:r>
              <a:rPr lang="zh-CN" altLang="en-US" b="1" baseline="30000" dirty="0">
                <a:latin typeface="微软雅黑" panose="020B0503020204020204" charset="-122"/>
                <a:cs typeface="微软雅黑" panose="020B0503020204020204" charset="-122"/>
              </a:rPr>
              <a:t>2+</a:t>
            </a:r>
            <a:r>
              <a:rPr lang="zh-CN" altLang="en-US" b="1" dirty="0">
                <a:latin typeface="微软雅黑" panose="020B0503020204020204" charset="-122"/>
                <a:cs typeface="微软雅黑" panose="020B0503020204020204" charset="-122"/>
              </a:rPr>
              <a:t>(FAD</a:t>
            </a:r>
            <a:r>
              <a:rPr lang="zh-CN" altLang="en-US" b="1" baseline="30000" dirty="0">
                <a:latin typeface="微软雅黑" panose="020B0503020204020204" charset="-122"/>
                <a:cs typeface="微软雅黑" panose="020B0503020204020204" charset="-122"/>
              </a:rPr>
              <a:t>2+</a:t>
            </a:r>
            <a:r>
              <a:rPr lang="zh-CN" altLang="en-US" b="1" dirty="0">
                <a:latin typeface="微软雅黑" panose="020B0503020204020204" charset="-122"/>
                <a:cs typeface="微软雅黑" panose="020B0503020204020204" charset="-122"/>
              </a:rPr>
              <a:t>)</a:t>
            </a:r>
            <a:r>
              <a:rPr lang="zh-CN" altLang="en-US" dirty="0">
                <a:latin typeface="微软雅黑" panose="020B0503020204020204" charset="-122"/>
                <a:cs typeface="微软雅黑" panose="020B0503020204020204" charset="-122"/>
              </a:rPr>
              <a:t>：黄素单核苷酸（黄素腺嘌呤二核苷酸）：脱氢酶的辅酶，每次接受一对H。</a:t>
            </a:r>
          </a:p>
          <a:p>
            <a:pPr fontAlgn="auto">
              <a:lnSpc>
                <a:spcPct val="130000"/>
              </a:lnSpc>
              <a:spcBef>
                <a:spcPct val="40000"/>
              </a:spcBef>
              <a:spcAft>
                <a:spcPts val="0"/>
              </a:spcAft>
            </a:pPr>
            <a:r>
              <a:rPr lang="zh-CN" altLang="en-US" b="1" dirty="0">
                <a:latin typeface="微软雅黑" panose="020B0503020204020204" charset="-122"/>
                <a:cs typeface="微软雅黑" panose="020B0503020204020204" charset="-122"/>
              </a:rPr>
              <a:t>辅酶Q（ CoQ ）</a:t>
            </a:r>
            <a:r>
              <a:rPr lang="zh-CN" altLang="en-US" dirty="0">
                <a:latin typeface="微软雅黑" panose="020B0503020204020204" charset="-122"/>
                <a:cs typeface="微软雅黑" panose="020B0503020204020204" charset="-122"/>
              </a:rPr>
              <a:t>：脂溶性的醌类化合物，每次接受一对H。</a:t>
            </a:r>
          </a:p>
        </p:txBody>
      </p:sp>
      <p:sp>
        <p:nvSpPr>
          <p:cNvPr id="4" name="文本框 3"/>
          <p:cNvSpPr txBox="1"/>
          <p:nvPr/>
        </p:nvSpPr>
        <p:spPr>
          <a:xfrm>
            <a:off x="4007768" y="-99392"/>
            <a:ext cx="3304110"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（—）递氢体</a:t>
            </a: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143672" y="-22696"/>
            <a:ext cx="5559535"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1、NAD+（NADP+）</a:t>
            </a:r>
          </a:p>
        </p:txBody>
      </p:sp>
      <p:pic>
        <p:nvPicPr>
          <p:cNvPr id="30723" name="图片 2"/>
          <p:cNvPicPr>
            <a:picLocks noChangeAspect="1"/>
          </p:cNvPicPr>
          <p:nvPr/>
        </p:nvPicPr>
        <p:blipFill>
          <a:blip r:embed="rId2"/>
          <a:stretch>
            <a:fillRect/>
          </a:stretch>
        </p:blipFill>
        <p:spPr>
          <a:xfrm>
            <a:off x="983432" y="1046377"/>
            <a:ext cx="9781058" cy="4885644"/>
          </a:xfrm>
          <a:prstGeom prst="rect">
            <a:avLst/>
          </a:prstGeom>
          <a:noFill/>
          <a:ln w="9525">
            <a:noFill/>
          </a:ln>
        </p:spPr>
      </p:pic>
      <p:sp>
        <p:nvSpPr>
          <p:cNvPr id="30724" name="矩形 3"/>
          <p:cNvSpPr/>
          <p:nvPr/>
        </p:nvSpPr>
        <p:spPr>
          <a:xfrm>
            <a:off x="4492237" y="5783111"/>
            <a:ext cx="7116762" cy="132343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nSpc>
                <a:spcPct val="150000"/>
              </a:lnSpc>
              <a:spcBef>
                <a:spcPct val="0"/>
              </a:spcBef>
              <a:buNone/>
            </a:pPr>
            <a:r>
              <a:rPr lang="zh-CN" altLang="en-US" sz="2000" b="1" dirty="0">
                <a:solidFill>
                  <a:srgbClr val="333333"/>
                </a:solidFill>
                <a:latin typeface="微软雅黑" panose="020B0503020204020204" charset="-122"/>
                <a:ea typeface="微软雅黑" panose="020B0503020204020204" charset="-122"/>
                <a:cs typeface="微软雅黑" panose="020B0503020204020204" charset="-122"/>
              </a:rPr>
              <a:t>烟酰胺腺嘌呤二核苷酸：</a:t>
            </a:r>
            <a:r>
              <a:rPr lang="en-US" altLang="zh-CN" sz="2000" b="1" dirty="0">
                <a:solidFill>
                  <a:srgbClr val="333333"/>
                </a:solidFill>
                <a:latin typeface="微软雅黑" panose="020B0503020204020204" charset="-122"/>
                <a:ea typeface="微软雅黑" panose="020B0503020204020204" charset="-122"/>
                <a:cs typeface="微软雅黑" panose="020B0503020204020204" charset="-122"/>
              </a:rPr>
              <a:t>NADH</a:t>
            </a:r>
          </a:p>
          <a:p>
            <a:pPr marL="0" indent="0">
              <a:lnSpc>
                <a:spcPct val="150000"/>
              </a:lnSpc>
              <a:spcBef>
                <a:spcPct val="0"/>
              </a:spcBef>
              <a:buNone/>
            </a:pPr>
            <a:r>
              <a:rPr lang="zh-CN" altLang="en-US" sz="2000" b="1" dirty="0">
                <a:solidFill>
                  <a:srgbClr val="333333"/>
                </a:solidFill>
                <a:latin typeface="微软雅黑" panose="020B0503020204020204" charset="-122"/>
                <a:ea typeface="微软雅黑" panose="020B0503020204020204" charset="-122"/>
                <a:cs typeface="微软雅黑" panose="020B0503020204020204" charset="-122"/>
              </a:rPr>
              <a:t>烟酰胺腺嘌呤二核苷酸磷酸</a:t>
            </a:r>
            <a:r>
              <a:rPr lang="en-US" altLang="zh-CN" sz="2000" b="1" dirty="0">
                <a:solidFill>
                  <a:srgbClr val="333333"/>
                </a:solidFill>
                <a:latin typeface="微软雅黑" panose="020B0503020204020204" charset="-122"/>
                <a:ea typeface="微软雅黑" panose="020B0503020204020204" charset="-122"/>
                <a:cs typeface="微软雅黑" panose="020B0503020204020204" charset="-122"/>
              </a:rPr>
              <a:t>:NADPH</a:t>
            </a:r>
            <a:endPar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endParaRPr>
          </a:p>
          <a:p>
            <a:pPr marL="0" indent="0">
              <a:spcBef>
                <a:spcPct val="0"/>
              </a:spcBef>
              <a:buNone/>
            </a:pPr>
            <a:endPar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QQ截图20220509075259"/>
          <p:cNvPicPr>
            <a:picLocks noChangeAspect="1"/>
          </p:cNvPicPr>
          <p:nvPr/>
        </p:nvPicPr>
        <p:blipFill>
          <a:blip r:embed="rId2"/>
          <a:stretch>
            <a:fillRect/>
          </a:stretch>
        </p:blipFill>
        <p:spPr>
          <a:xfrm>
            <a:off x="1559496" y="1043597"/>
            <a:ext cx="9145964" cy="5697771"/>
          </a:xfrm>
          <a:prstGeom prst="rect">
            <a:avLst/>
          </a:prstGeom>
        </p:spPr>
      </p:pic>
      <p:sp>
        <p:nvSpPr>
          <p:cNvPr id="3" name="矩形 5"/>
          <p:cNvSpPr/>
          <p:nvPr/>
        </p:nvSpPr>
        <p:spPr>
          <a:xfrm>
            <a:off x="2927648" y="1268760"/>
            <a:ext cx="716280" cy="30670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400" b="1" dirty="0">
                <a:solidFill>
                  <a:srgbClr val="FF0000"/>
                </a:solidFill>
                <a:latin typeface="微软雅黑" panose="020B0503020204020204" charset="-122"/>
                <a:ea typeface="微软雅黑" panose="020B0503020204020204" charset="-122"/>
              </a:rPr>
              <a:t>异咯嗪</a:t>
            </a:r>
          </a:p>
        </p:txBody>
      </p:sp>
      <p:sp>
        <p:nvSpPr>
          <p:cNvPr id="4" name="矩形 6"/>
          <p:cNvSpPr/>
          <p:nvPr/>
        </p:nvSpPr>
        <p:spPr>
          <a:xfrm>
            <a:off x="6096000" y="4221088"/>
            <a:ext cx="2569344" cy="92333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ct val="0"/>
              </a:spcBef>
              <a:buNone/>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黄素腺嘌呤二核苷酸</a:t>
            </a: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(FAD),</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黄素单核苷酸</a:t>
            </a: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(FMN)</a:t>
            </a:r>
          </a:p>
        </p:txBody>
      </p:sp>
      <p:sp>
        <p:nvSpPr>
          <p:cNvPr id="6" name="文本框 5"/>
          <p:cNvSpPr txBox="1"/>
          <p:nvPr/>
        </p:nvSpPr>
        <p:spPr>
          <a:xfrm>
            <a:off x="4151784" y="-99392"/>
            <a:ext cx="3710952"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2、FAD(FMN)</a:t>
            </a: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767408" y="1124744"/>
            <a:ext cx="4464496" cy="5245995"/>
          </a:xfrm>
          <a:prstGeom prst="rect">
            <a:avLst/>
          </a:prstGeom>
          <a:noFill/>
          <a:ln w="9525" cap="flat" cmpd="sng">
            <a:solidFill>
              <a:schemeClr val="tx1"/>
            </a:solidFill>
            <a:prstDash val="solid"/>
            <a:miter/>
            <a:headEnd type="none" w="med" len="med"/>
            <a:tailEnd type="none" w="med" len="med"/>
          </a:ln>
        </p:spPr>
      </p:pic>
      <p:sp>
        <p:nvSpPr>
          <p:cNvPr id="3" name="文本占位符 527362"/>
          <p:cNvSpPr txBox="1">
            <a:spLocks noChangeArrowheads="1"/>
          </p:cNvSpPr>
          <p:nvPr/>
        </p:nvSpPr>
        <p:spPr bwMode="auto">
          <a:xfrm>
            <a:off x="5640040" y="1988840"/>
            <a:ext cx="5760640" cy="216217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gn="just">
              <a:lnSpc>
                <a:spcPct val="140000"/>
              </a:lnSpc>
              <a:spcBef>
                <a:spcPct val="0"/>
              </a:spcBef>
              <a:defRPr/>
            </a:pPr>
            <a:r>
              <a:rPr lang="zh-CN" altLang="en-US" sz="2400" b="1" kern="0" dirty="0">
                <a:latin typeface="微软雅黑" panose="020B0503020204020204" charset="-122"/>
                <a:ea typeface="微软雅黑" panose="020B0503020204020204" charset="-122"/>
                <a:cs typeface="微软雅黑" panose="020B0503020204020204" charset="-122"/>
              </a:rPr>
              <a:t>辅酶Q</a:t>
            </a:r>
            <a:r>
              <a:rPr lang="zh-CN" altLang="en-US" sz="2400" kern="0" dirty="0">
                <a:latin typeface="微软雅黑" panose="020B0503020204020204" charset="-122"/>
                <a:ea typeface="微软雅黑" panose="020B0503020204020204" charset="-122"/>
                <a:cs typeface="微软雅黑" panose="020B0503020204020204" charset="-122"/>
              </a:rPr>
              <a:t>（Coenzyme Q ）又称泛醌，有时简称为Q或UQ，它是电子传递链中</a:t>
            </a:r>
            <a:r>
              <a:rPr lang="zh-CN" altLang="en-US" sz="2400" u="sng" kern="0" dirty="0">
                <a:latin typeface="微软雅黑" panose="020B0503020204020204" charset="-122"/>
                <a:ea typeface="微软雅黑" panose="020B0503020204020204" charset="-122"/>
                <a:cs typeface="微软雅黑" panose="020B0503020204020204" charset="-122"/>
              </a:rPr>
              <a:t>唯一的非蛋白电子载体</a:t>
            </a:r>
            <a:r>
              <a:rPr lang="zh-CN" altLang="en-US" sz="2400" kern="0" dirty="0">
                <a:latin typeface="微软雅黑" panose="020B0503020204020204" charset="-122"/>
                <a:ea typeface="微软雅黑" panose="020B0503020204020204" charset="-122"/>
                <a:cs typeface="微软雅黑" panose="020B0503020204020204" charset="-122"/>
              </a:rPr>
              <a:t>。</a:t>
            </a:r>
          </a:p>
          <a:p>
            <a:pPr algn="just">
              <a:lnSpc>
                <a:spcPct val="140000"/>
              </a:lnSpc>
              <a:spcBef>
                <a:spcPct val="0"/>
              </a:spcBef>
              <a:defRPr/>
            </a:pPr>
            <a:r>
              <a:rPr lang="zh-CN" altLang="en-US" sz="2400" kern="0" dirty="0">
                <a:latin typeface="微软雅黑" panose="020B0503020204020204" charset="-122"/>
                <a:ea typeface="微软雅黑" panose="020B0503020204020204" charset="-122"/>
                <a:cs typeface="微软雅黑" panose="020B0503020204020204" charset="-122"/>
              </a:rPr>
              <a:t>为一种</a:t>
            </a:r>
            <a:r>
              <a:rPr lang="zh-CN" altLang="en-US" sz="2400" u="sng" kern="0" dirty="0">
                <a:latin typeface="微软雅黑" panose="020B0503020204020204" charset="-122"/>
                <a:ea typeface="微软雅黑" panose="020B0503020204020204" charset="-122"/>
                <a:cs typeface="微软雅黑" panose="020B0503020204020204" charset="-122"/>
              </a:rPr>
              <a:t>脂溶性</a:t>
            </a:r>
            <a:r>
              <a:rPr lang="zh-CN" altLang="en-US" sz="2400" kern="0" dirty="0">
                <a:latin typeface="微软雅黑" panose="020B0503020204020204" charset="-122"/>
                <a:ea typeface="微软雅黑" panose="020B0503020204020204" charset="-122"/>
                <a:cs typeface="微软雅黑" panose="020B0503020204020204" charset="-122"/>
              </a:rPr>
              <a:t>醌类化合物</a:t>
            </a:r>
          </a:p>
          <a:p>
            <a:pPr algn="just">
              <a:lnSpc>
                <a:spcPct val="140000"/>
              </a:lnSpc>
              <a:spcBef>
                <a:spcPct val="0"/>
              </a:spcBef>
              <a:defRPr/>
            </a:pPr>
            <a:r>
              <a:rPr lang="zh-CN" altLang="en-US" sz="2400" kern="0" dirty="0">
                <a:latin typeface="微软雅黑" panose="020B0503020204020204" charset="-122"/>
                <a:ea typeface="微软雅黑" panose="020B0503020204020204" charset="-122"/>
                <a:cs typeface="微软雅黑" panose="020B0503020204020204" charset="-122"/>
              </a:rPr>
              <a:t>由于其脂溶性强，</a:t>
            </a:r>
            <a:r>
              <a:rPr lang="zh-CN" altLang="en-US" sz="2400" u="sng" kern="0" dirty="0">
                <a:solidFill>
                  <a:srgbClr val="FF0000"/>
                </a:solidFill>
                <a:latin typeface="微软雅黑" panose="020B0503020204020204" charset="-122"/>
                <a:ea typeface="微软雅黑" panose="020B0503020204020204" charset="-122"/>
                <a:cs typeface="微软雅黑" panose="020B0503020204020204" charset="-122"/>
              </a:rPr>
              <a:t>可以在线粒体内膜中扩散</a:t>
            </a:r>
            <a:r>
              <a:rPr lang="zh-CN" altLang="en-US" sz="2400" kern="0" dirty="0">
                <a:latin typeface="微软雅黑" panose="020B0503020204020204" charset="-122"/>
                <a:ea typeface="微软雅黑" panose="020B0503020204020204" charset="-122"/>
                <a:cs typeface="微软雅黑" panose="020B0503020204020204" charset="-122"/>
              </a:rPr>
              <a:t>。</a:t>
            </a:r>
          </a:p>
        </p:txBody>
      </p:sp>
      <p:sp>
        <p:nvSpPr>
          <p:cNvPr id="5" name="文本框 4"/>
          <p:cNvSpPr txBox="1"/>
          <p:nvPr/>
        </p:nvSpPr>
        <p:spPr>
          <a:xfrm>
            <a:off x="4223792" y="-99392"/>
            <a:ext cx="2459328"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3、辅酶Q</a:t>
            </a:r>
            <a:endParaRPr dirty="0">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19170"/>
          <p:cNvSpPr txBox="1">
            <a:spLocks noRot="1"/>
          </p:cNvSpPr>
          <p:nvPr/>
        </p:nvSpPr>
        <p:spPr>
          <a:xfrm>
            <a:off x="767408" y="1556792"/>
            <a:ext cx="11017224" cy="4351338"/>
          </a:xfrm>
          <a:prstGeom prst="rect">
            <a:avLst/>
          </a:prstGeom>
        </p:spPr>
        <p:txBody>
          <a:bodyPr vert="horz" wrap="square" lIns="91440" tIns="45720" rIns="91440" bIns="45720" numCol="1" rtlCol="0" anchor="t" anchorCtr="0" compatLnSpc="1">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30000"/>
              </a:lnSpc>
              <a:spcBef>
                <a:spcPct val="35000"/>
              </a:spcBef>
              <a:spcAft>
                <a:spcPts val="0"/>
              </a:spcAft>
              <a:defRPr/>
            </a:pPr>
            <a:r>
              <a:rPr lang="zh-CN" altLang="en-US" b="1" noProof="1">
                <a:latin typeface="Times New Roman" panose="02020603050405020304" pitchFamily="18" charset="0"/>
                <a:ea typeface="微软雅黑" panose="020B0503020204020204" charset="-122"/>
                <a:cs typeface="Times New Roman" panose="02020603050405020304" pitchFamily="18" charset="0"/>
              </a:rPr>
              <a:t>铁硫蛋白类</a:t>
            </a:r>
            <a:r>
              <a:rPr lang="zh-CN" altLang="en-US" noProof="1">
                <a:latin typeface="Times New Roman" panose="02020603050405020304" pitchFamily="18" charset="0"/>
                <a:ea typeface="微软雅黑" panose="020B0503020204020204" charset="-122"/>
                <a:cs typeface="Times New Roman" panose="02020603050405020304" pitchFamily="18" charset="0"/>
              </a:rPr>
              <a:t>：存在于线粒体上，常与细胞色素和黄酶化合存在。</a:t>
            </a:r>
            <a:r>
              <a:rPr lang="zh-CN" altLang="en-US" u="sng" noProof="1">
                <a:solidFill>
                  <a:srgbClr val="FF0000"/>
                </a:solidFill>
                <a:latin typeface="Times New Roman" panose="02020603050405020304" pitchFamily="18" charset="0"/>
                <a:ea typeface="微软雅黑" panose="020B0503020204020204" charset="-122"/>
                <a:cs typeface="Times New Roman" panose="02020603050405020304" pitchFamily="18" charset="0"/>
              </a:rPr>
              <a:t>借助铁的价位改变</a:t>
            </a:r>
            <a:r>
              <a:rPr lang="zh-CN" altLang="en-US" noProof="1">
                <a:latin typeface="Times New Roman" panose="02020603050405020304" pitchFamily="18" charset="0"/>
                <a:ea typeface="微软雅黑" panose="020B0503020204020204" charset="-122"/>
                <a:cs typeface="Times New Roman" panose="02020603050405020304" pitchFamily="18" charset="0"/>
              </a:rPr>
              <a:t>，起</a:t>
            </a:r>
            <a:r>
              <a:rPr lang="zh-CN" altLang="en-US" u="sng" noProof="1">
                <a:solidFill>
                  <a:srgbClr val="FF0000"/>
                </a:solidFill>
                <a:latin typeface="Times New Roman" panose="02020603050405020304" pitchFamily="18" charset="0"/>
                <a:ea typeface="微软雅黑" panose="020B0503020204020204" charset="-122"/>
                <a:cs typeface="Times New Roman" panose="02020603050405020304" pitchFamily="18" charset="0"/>
              </a:rPr>
              <a:t>电子的传递</a:t>
            </a:r>
            <a:r>
              <a:rPr lang="zh-CN" altLang="en-US" noProof="1">
                <a:latin typeface="Times New Roman" panose="02020603050405020304" pitchFamily="18" charset="0"/>
                <a:ea typeface="微软雅黑" panose="020B0503020204020204" charset="-122"/>
                <a:cs typeface="Times New Roman" panose="02020603050405020304" pitchFamily="18" charset="0"/>
              </a:rPr>
              <a:t>作用。</a:t>
            </a:r>
          </a:p>
          <a:p>
            <a:pPr fontAlgn="auto">
              <a:lnSpc>
                <a:spcPct val="130000"/>
              </a:lnSpc>
              <a:spcBef>
                <a:spcPct val="35000"/>
              </a:spcBef>
              <a:spcAft>
                <a:spcPts val="0"/>
              </a:spcAft>
              <a:defRPr/>
            </a:pPr>
            <a:r>
              <a:rPr lang="zh-CN" altLang="en-US" b="1" noProof="1">
                <a:latin typeface="Times New Roman" panose="02020603050405020304" pitchFamily="18" charset="0"/>
                <a:ea typeface="微软雅黑" panose="020B0503020204020204" charset="-122"/>
                <a:cs typeface="Times New Roman" panose="02020603050405020304" pitchFamily="18" charset="0"/>
              </a:rPr>
              <a:t>细胞色素类</a:t>
            </a:r>
            <a:r>
              <a:rPr lang="zh-CN" altLang="en-US" noProof="1">
                <a:latin typeface="Times New Roman" panose="02020603050405020304" pitchFamily="18" charset="0"/>
                <a:ea typeface="微软雅黑" panose="020B0503020204020204" charset="-122"/>
                <a:cs typeface="Times New Roman" panose="02020603050405020304" pitchFamily="18" charset="0"/>
              </a:rPr>
              <a:t>（</a:t>
            </a:r>
            <a:r>
              <a:rPr lang="en-US" altLang="x-none" noProof="1">
                <a:latin typeface="Times New Roman" panose="02020603050405020304" pitchFamily="18" charset="0"/>
                <a:ea typeface="微软雅黑" panose="020B0503020204020204" charset="-122"/>
                <a:cs typeface="Times New Roman" panose="02020603050405020304" pitchFamily="18" charset="0"/>
              </a:rPr>
              <a:t>cytochromes)</a:t>
            </a:r>
            <a:r>
              <a:rPr lang="zh-CN" altLang="en-US" noProof="1">
                <a:latin typeface="Times New Roman" panose="02020603050405020304" pitchFamily="18" charset="0"/>
                <a:ea typeface="微软雅黑" panose="020B0503020204020204" charset="-122"/>
                <a:cs typeface="Times New Roman" panose="02020603050405020304" pitchFamily="18" charset="0"/>
              </a:rPr>
              <a:t>：含有卟啉环的结合蛋白。</a:t>
            </a:r>
            <a:r>
              <a:rPr lang="en-US" altLang="x-none" noProof="1">
                <a:latin typeface="Times New Roman" panose="02020603050405020304" pitchFamily="18" charset="0"/>
                <a:ea typeface="微软雅黑" panose="020B0503020204020204" charset="-122"/>
                <a:cs typeface="Times New Roman" panose="02020603050405020304" pitchFamily="18" charset="0"/>
              </a:rPr>
              <a:t>Cytb,Cytc,Cytc</a:t>
            </a:r>
            <a:r>
              <a:rPr lang="en-US" altLang="x-none" baseline="-25000" noProof="1">
                <a:latin typeface="Times New Roman" panose="02020603050405020304" pitchFamily="18" charset="0"/>
                <a:ea typeface="微软雅黑" panose="020B0503020204020204" charset="-122"/>
                <a:cs typeface="Times New Roman" panose="02020603050405020304" pitchFamily="18" charset="0"/>
              </a:rPr>
              <a:t>1</a:t>
            </a:r>
            <a:r>
              <a:rPr lang="en-US" altLang="x-none" noProof="1">
                <a:latin typeface="Times New Roman" panose="02020603050405020304" pitchFamily="18" charset="0"/>
                <a:ea typeface="微软雅黑" panose="020B0503020204020204" charset="-122"/>
                <a:cs typeface="Times New Roman" panose="02020603050405020304" pitchFamily="18" charset="0"/>
              </a:rPr>
              <a:t>,Cyta</a:t>
            </a:r>
            <a:r>
              <a:rPr lang="en-US" altLang="x-none" baseline="-25000" noProof="1">
                <a:latin typeface="Times New Roman" panose="02020603050405020304" pitchFamily="18" charset="0"/>
                <a:ea typeface="微软雅黑" panose="020B0503020204020204" charset="-122"/>
                <a:cs typeface="Times New Roman" panose="02020603050405020304" pitchFamily="18" charset="0"/>
              </a:rPr>
              <a:t>1</a:t>
            </a:r>
            <a:r>
              <a:rPr lang="en-US" altLang="x-none" noProof="1">
                <a:latin typeface="Times New Roman" panose="02020603050405020304" pitchFamily="18" charset="0"/>
                <a:ea typeface="微软雅黑" panose="020B0503020204020204" charset="-122"/>
                <a:cs typeface="Times New Roman" panose="02020603050405020304" pitchFamily="18" charset="0"/>
              </a:rPr>
              <a:t>a</a:t>
            </a:r>
            <a:r>
              <a:rPr lang="en-US" altLang="x-none" baseline="-25000" noProof="1">
                <a:latin typeface="Times New Roman" panose="02020603050405020304" pitchFamily="18" charset="0"/>
                <a:ea typeface="微软雅黑" panose="020B0503020204020204" charset="-122"/>
                <a:cs typeface="Times New Roman" panose="02020603050405020304" pitchFamily="18" charset="0"/>
              </a:rPr>
              <a:t>3</a:t>
            </a:r>
            <a:endParaRPr lang="zh-CN" altLang="en-US" noProof="1">
              <a:latin typeface="Times New Roman" panose="02020603050405020304" pitchFamily="18" charset="0"/>
              <a:ea typeface="微软雅黑" panose="020B0503020204020204" charset="-122"/>
              <a:cs typeface="Times New Roman" panose="02020603050405020304" pitchFamily="18" charset="0"/>
            </a:endParaRPr>
          </a:p>
          <a:p>
            <a:pPr fontAlgn="auto">
              <a:spcAft>
                <a:spcPts val="0"/>
              </a:spcAft>
              <a:defRPr/>
            </a:pPr>
            <a:endParaRPr lang="zh-CN" altLang="en-US" noProof="1">
              <a:latin typeface="微软雅黑" panose="020B0503020204020204" charset="-122"/>
              <a:cs typeface="微软雅黑" panose="020B0503020204020204" charset="-122"/>
            </a:endParaRPr>
          </a:p>
        </p:txBody>
      </p:sp>
      <p:sp>
        <p:nvSpPr>
          <p:cNvPr id="4" name="文本框 3"/>
          <p:cNvSpPr txBox="1"/>
          <p:nvPr/>
        </p:nvSpPr>
        <p:spPr>
          <a:xfrm>
            <a:off x="3863752" y="-27384"/>
            <a:ext cx="3775393"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（二）递电子体</a:t>
            </a:r>
            <a:endParaRPr dirty="0">
              <a:sym typeface="+mn-ea"/>
            </a:endParaRP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525313"/>
          <p:cNvSpPr txBox="1"/>
          <p:nvPr/>
        </p:nvSpPr>
        <p:spPr>
          <a:xfrm>
            <a:off x="0" y="891382"/>
            <a:ext cx="12192000" cy="4608512"/>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15000"/>
              </a:lnSpc>
              <a:spcAft>
                <a:spcPts val="0"/>
              </a:spcAft>
            </a:pPr>
            <a:r>
              <a:rPr lang="zh-CN" altLang="en-US" sz="2400" dirty="0">
                <a:latin typeface="微软雅黑" panose="020B0503020204020204" charset="-122"/>
                <a:ea typeface="微软雅黑" panose="020B0503020204020204" charset="-122"/>
                <a:cs typeface="微软雅黑" panose="020B0503020204020204" charset="-122"/>
              </a:rPr>
              <a:t>铁硫蛋白</a:t>
            </a:r>
            <a:r>
              <a:rPr lang="en-US" altLang="zh-CN" sz="2400" dirty="0">
                <a:latin typeface="微软雅黑" panose="020B0503020204020204" charset="-122"/>
                <a:ea typeface="微软雅黑" panose="020B0503020204020204" charset="-122"/>
                <a:cs typeface="微软雅黑" panose="020B0503020204020204" charset="-122"/>
              </a:rPr>
              <a:t>(</a:t>
            </a:r>
            <a:r>
              <a:rPr lang="zh-CN" altLang="en-US" sz="2400" dirty="0">
                <a:latin typeface="微软雅黑" panose="020B0503020204020204" charset="-122"/>
                <a:ea typeface="微软雅黑" panose="020B0503020204020204" charset="-122"/>
                <a:cs typeface="微软雅黑" panose="020B0503020204020204" charset="-122"/>
              </a:rPr>
              <a:t>简写为</a:t>
            </a:r>
            <a:r>
              <a:rPr lang="en-US" altLang="zh-CN" sz="2400" dirty="0">
                <a:latin typeface="微软雅黑" panose="020B0503020204020204" charset="-122"/>
                <a:ea typeface="微软雅黑" panose="020B0503020204020204" charset="-122"/>
                <a:cs typeface="微软雅黑" panose="020B0503020204020204" charset="-122"/>
              </a:rPr>
              <a:t>Fe-S)</a:t>
            </a:r>
            <a:r>
              <a:rPr lang="zh-CN" altLang="en-US" sz="2400" dirty="0">
                <a:latin typeface="微软雅黑" panose="020B0503020204020204" charset="-122"/>
                <a:ea typeface="微软雅黑" panose="020B0503020204020204" charset="-122"/>
                <a:cs typeface="微软雅黑" panose="020B0503020204020204" charset="-122"/>
              </a:rPr>
              <a:t>的分子中含非卟啉铁与对酸不稳定的硫，是一种与电子传递有关的蛋白质。</a:t>
            </a:r>
          </a:p>
          <a:p>
            <a:pPr fontAlgn="auto">
              <a:lnSpc>
                <a:spcPct val="115000"/>
              </a:lnSpc>
              <a:spcAft>
                <a:spcPts val="0"/>
              </a:spcAft>
            </a:pPr>
            <a:r>
              <a:rPr lang="zh-CN" altLang="en-US" sz="2400" dirty="0">
                <a:solidFill>
                  <a:srgbClr val="FF3300"/>
                </a:solidFill>
                <a:latin typeface="微软雅黑" panose="020B0503020204020204" charset="-122"/>
                <a:ea typeface="微软雅黑" panose="020B0503020204020204" charset="-122"/>
                <a:cs typeface="微软雅黑" panose="020B0503020204020204" charset="-122"/>
              </a:rPr>
              <a:t>铁硫蛋白通过</a:t>
            </a:r>
            <a:r>
              <a:rPr lang="en-US" altLang="zh-CN" sz="2400" dirty="0">
                <a:solidFill>
                  <a:srgbClr val="FF3300"/>
                </a:solidFill>
                <a:latin typeface="微软雅黑" panose="020B0503020204020204" charset="-122"/>
                <a:ea typeface="微软雅黑" panose="020B0503020204020204" charset="-122"/>
                <a:cs typeface="微软雅黑" panose="020B0503020204020204" charset="-122"/>
              </a:rPr>
              <a:t>Fe</a:t>
            </a:r>
            <a:r>
              <a:rPr lang="en-US" altLang="zh-CN" sz="2400" baseline="30000" dirty="0">
                <a:solidFill>
                  <a:srgbClr val="FF3300"/>
                </a:solidFill>
                <a:latin typeface="微软雅黑" panose="020B0503020204020204" charset="-122"/>
                <a:ea typeface="微软雅黑" panose="020B0503020204020204" charset="-122"/>
                <a:cs typeface="微软雅黑" panose="020B0503020204020204" charset="-122"/>
              </a:rPr>
              <a:t>3+</a:t>
            </a:r>
            <a:r>
              <a:rPr lang="en-US" altLang="zh-CN" sz="2400" dirty="0">
                <a:solidFill>
                  <a:srgbClr val="FF3300"/>
                </a:solidFill>
                <a:latin typeface="微软雅黑" panose="020B0503020204020204" charset="-122"/>
                <a:ea typeface="微软雅黑" panose="020B0503020204020204" charset="-122"/>
                <a:cs typeface="微软雅黑" panose="020B0503020204020204" charset="-122"/>
              </a:rPr>
              <a:t> </a:t>
            </a:r>
            <a:r>
              <a:rPr lang="en-US" altLang="zh-CN" sz="2400" dirty="0">
                <a:solidFill>
                  <a:srgbClr val="FF3300"/>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en-US" altLang="zh-CN" sz="2400" dirty="0">
                <a:solidFill>
                  <a:srgbClr val="FF3300"/>
                </a:solidFill>
                <a:latin typeface="微软雅黑" panose="020B0503020204020204" charset="-122"/>
                <a:ea typeface="微软雅黑" panose="020B0503020204020204" charset="-122"/>
                <a:cs typeface="微软雅黑" panose="020B0503020204020204" charset="-122"/>
              </a:rPr>
              <a:t> Fe</a:t>
            </a:r>
            <a:r>
              <a:rPr lang="en-US" altLang="zh-CN" sz="2400" baseline="30000" dirty="0">
                <a:solidFill>
                  <a:srgbClr val="FF3300"/>
                </a:solidFill>
                <a:latin typeface="微软雅黑" panose="020B0503020204020204" charset="-122"/>
                <a:ea typeface="微软雅黑" panose="020B0503020204020204" charset="-122"/>
                <a:cs typeface="微软雅黑" panose="020B0503020204020204" charset="-122"/>
              </a:rPr>
              <a:t>2+</a:t>
            </a:r>
            <a:r>
              <a:rPr lang="en-US" altLang="zh-CN" sz="2400" dirty="0">
                <a:solidFill>
                  <a:srgbClr val="FF3300"/>
                </a:solidFill>
                <a:latin typeface="微软雅黑" panose="020B0503020204020204" charset="-122"/>
                <a:ea typeface="微软雅黑" panose="020B0503020204020204" charset="-122"/>
                <a:cs typeface="微软雅黑" panose="020B0503020204020204" charset="-122"/>
              </a:rPr>
              <a:t> </a:t>
            </a:r>
            <a:r>
              <a:rPr lang="zh-CN" altLang="en-US" sz="2400" dirty="0">
                <a:solidFill>
                  <a:srgbClr val="FF3300"/>
                </a:solidFill>
                <a:latin typeface="微软雅黑" panose="020B0503020204020204" charset="-122"/>
                <a:ea typeface="微软雅黑" panose="020B0503020204020204" charset="-122"/>
                <a:cs typeface="微软雅黑" panose="020B0503020204020204" charset="-122"/>
              </a:rPr>
              <a:t>变化起传递电子的作用。</a:t>
            </a:r>
            <a:endParaRPr lang="zh-CN" altLang="en-US" sz="2400" dirty="0">
              <a:latin typeface="微软雅黑" panose="020B0503020204020204" charset="-122"/>
              <a:ea typeface="微软雅黑" panose="020B0503020204020204" charset="-122"/>
              <a:cs typeface="微软雅黑" panose="020B0503020204020204" charset="-122"/>
            </a:endParaRPr>
          </a:p>
          <a:p>
            <a:pPr fontAlgn="auto">
              <a:lnSpc>
                <a:spcPct val="115000"/>
              </a:lnSpc>
              <a:spcAft>
                <a:spcPts val="0"/>
              </a:spcAft>
            </a:pPr>
            <a:r>
              <a:rPr lang="zh-CN" altLang="en-US" sz="2400" dirty="0">
                <a:latin typeface="微软雅黑" panose="020B0503020204020204" charset="-122"/>
                <a:ea typeface="微软雅黑" panose="020B0503020204020204" charset="-122"/>
                <a:cs typeface="微软雅黑" panose="020B0503020204020204" charset="-122"/>
              </a:rPr>
              <a:t>铁硫蛋白在线粒体内膜上常和</a:t>
            </a:r>
            <a:r>
              <a:rPr lang="zh-CN" altLang="en-US" sz="2400" b="1" dirty="0">
                <a:latin typeface="微软雅黑" panose="020B0503020204020204" charset="-122"/>
                <a:ea typeface="微软雅黑" panose="020B0503020204020204" charset="-122"/>
                <a:cs typeface="微软雅黑" panose="020B0503020204020204" charset="-122"/>
              </a:rPr>
              <a:t>黄素酶</a:t>
            </a:r>
            <a:r>
              <a:rPr lang="zh-CN" altLang="en-US" sz="2400" dirty="0">
                <a:latin typeface="微软雅黑" panose="020B0503020204020204" charset="-122"/>
                <a:ea typeface="微软雅黑" panose="020B0503020204020204" charset="-122"/>
                <a:cs typeface="微软雅黑" panose="020B0503020204020204" charset="-122"/>
              </a:rPr>
              <a:t>或</a:t>
            </a:r>
            <a:r>
              <a:rPr lang="zh-CN" altLang="en-US" sz="2400" b="1" dirty="0">
                <a:latin typeface="微软雅黑" panose="020B0503020204020204" charset="-122"/>
                <a:ea typeface="微软雅黑" panose="020B0503020204020204" charset="-122"/>
                <a:cs typeface="微软雅黑" panose="020B0503020204020204" charset="-122"/>
              </a:rPr>
              <a:t>细胞色素</a:t>
            </a:r>
            <a:r>
              <a:rPr lang="zh-CN" altLang="en-US" sz="2400" dirty="0">
                <a:latin typeface="微软雅黑" panose="020B0503020204020204" charset="-122"/>
                <a:ea typeface="微软雅黑" panose="020B0503020204020204" charset="-122"/>
                <a:cs typeface="微软雅黑" panose="020B0503020204020204" charset="-122"/>
              </a:rPr>
              <a:t>结合而成的复合物存在。</a:t>
            </a:r>
          </a:p>
        </p:txBody>
      </p:sp>
      <p:sp>
        <p:nvSpPr>
          <p:cNvPr id="4" name="文本框 3"/>
          <p:cNvSpPr txBox="1"/>
          <p:nvPr/>
        </p:nvSpPr>
        <p:spPr>
          <a:xfrm>
            <a:off x="2566988" y="601663"/>
            <a:ext cx="184150" cy="579438"/>
          </a:xfrm>
          <a:prstGeom prst="rect">
            <a:avLst/>
          </a:prstGeom>
          <a:noFill/>
          <a:ln w="9525">
            <a:noFill/>
          </a:ln>
        </p:spPr>
        <p:txBody>
          <a:bodyPr wrap="none">
            <a:spAutoFit/>
          </a:bodyPr>
          <a:lstStyle/>
          <a:p>
            <a:pPr eaLnBrk="1" hangingPunct="1">
              <a:defRPr/>
            </a:pPr>
            <a:endParaRPr lang="zh-CN" altLang="en-US" sz="3200" b="1" noProof="1">
              <a:solidFill>
                <a:srgbClr val="FFFF66"/>
              </a:solidFill>
              <a:effectLst>
                <a:outerShdw blurRad="38100" dist="38100" dir="2700000">
                  <a:srgbClr val="C0C0C0"/>
                </a:outerShdw>
              </a:effectLst>
              <a:latin typeface="Verdana" panose="020B0604030504040204" pitchFamily="34" charset="0"/>
              <a:ea typeface="楷体_GB2312" pitchFamily="49" charset="-122"/>
            </a:endParaRPr>
          </a:p>
        </p:txBody>
      </p:sp>
      <p:sp>
        <p:nvSpPr>
          <p:cNvPr id="6" name="文本框 5"/>
          <p:cNvSpPr txBox="1"/>
          <p:nvPr/>
        </p:nvSpPr>
        <p:spPr>
          <a:xfrm>
            <a:off x="4223792" y="-47554"/>
            <a:ext cx="3363421"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1. 铁硫蛋白类</a:t>
            </a:r>
          </a:p>
        </p:txBody>
      </p:sp>
      <p:pic>
        <p:nvPicPr>
          <p:cNvPr id="5" name="Picture 6" descr="20-3">
            <a:extLst>
              <a:ext uri="{FF2B5EF4-FFF2-40B4-BE49-F238E27FC236}">
                <a16:creationId xmlns:a16="http://schemas.microsoft.com/office/drawing/2014/main" id="{3EB11AD0-9067-852A-7A9B-55958437487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298322" y="2948242"/>
            <a:ext cx="9214359" cy="333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a:extLst>
              <a:ext uri="{FF2B5EF4-FFF2-40B4-BE49-F238E27FC236}">
                <a16:creationId xmlns:a16="http://schemas.microsoft.com/office/drawing/2014/main" id="{53DA497D-A956-64C5-211D-BD083CEB2AA1}"/>
              </a:ext>
            </a:extLst>
          </p:cNvPr>
          <p:cNvSpPr>
            <a:spLocks noChangeArrowheads="1"/>
          </p:cNvSpPr>
          <p:nvPr/>
        </p:nvSpPr>
        <p:spPr bwMode="auto">
          <a:xfrm>
            <a:off x="4511824" y="6165304"/>
            <a:ext cx="2348720" cy="523220"/>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ea typeface="楷体" panose="02010609060101010101" pitchFamily="49" charset="-122"/>
                <a:cs typeface="Times New Roman" panose="02020603050405020304" pitchFamily="18" charset="0"/>
              </a:rPr>
              <a:t>三类铁硫蛋白</a:t>
            </a:r>
            <a:endParaRPr lang="zh-CN" altLang="en-US" sz="2800" dirty="0">
              <a:latin typeface="Arial" panose="020B0604020202020204" pitchFamily="34" charset="0"/>
              <a:ea typeface="楷体" panose="02010609060101010101" pitchFamily="49"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
            <a:extLst>
              <a:ext uri="{FF2B5EF4-FFF2-40B4-BE49-F238E27FC236}">
                <a16:creationId xmlns:a16="http://schemas.microsoft.com/office/drawing/2014/main" id="{7E2424C0-8617-AAF0-EB54-6928AC0E8D8B}"/>
              </a:ext>
            </a:extLst>
          </p:cNvPr>
          <p:cNvSpPr>
            <a:spLocks noChangeArrowheads="1"/>
          </p:cNvSpPr>
          <p:nvPr/>
        </p:nvSpPr>
        <p:spPr bwMode="auto">
          <a:xfrm>
            <a:off x="1524000" y="962026"/>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4339" name="Rectangle 11">
            <a:extLst>
              <a:ext uri="{FF2B5EF4-FFF2-40B4-BE49-F238E27FC236}">
                <a16:creationId xmlns:a16="http://schemas.microsoft.com/office/drawing/2014/main" id="{E026F8AD-0E85-CF90-9CFF-3DDCAAB7EF89}"/>
              </a:ext>
            </a:extLst>
          </p:cNvPr>
          <p:cNvSpPr>
            <a:spLocks noChangeArrowheads="1"/>
          </p:cNvSpPr>
          <p:nvPr/>
        </p:nvSpPr>
        <p:spPr bwMode="auto">
          <a:xfrm>
            <a:off x="4560964" y="5739331"/>
            <a:ext cx="3070071" cy="523220"/>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ea typeface="楷体" panose="02010609060101010101" pitchFamily="49" charset="-122"/>
                <a:cs typeface="Times New Roman" panose="02020603050405020304" pitchFamily="18" charset="0"/>
              </a:rPr>
              <a:t>细胞色素的光吸收</a:t>
            </a:r>
            <a:endParaRPr lang="zh-CN" altLang="en-US" sz="2800" dirty="0">
              <a:latin typeface="Arial" panose="020B0604020202020204" pitchFamily="34" charset="0"/>
              <a:ea typeface="楷体" panose="02010609060101010101" pitchFamily="49" charset="-122"/>
              <a:cs typeface="Times New Roman" panose="02020603050405020304" pitchFamily="18" charset="0"/>
            </a:endParaRPr>
          </a:p>
        </p:txBody>
      </p:sp>
      <p:pic>
        <p:nvPicPr>
          <p:cNvPr id="14340" name="Picture 6">
            <a:extLst>
              <a:ext uri="{FF2B5EF4-FFF2-40B4-BE49-F238E27FC236}">
                <a16:creationId xmlns:a16="http://schemas.microsoft.com/office/drawing/2014/main" id="{592FC84C-7809-5AC0-B5AE-AEBDA48E27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50" y="1208800"/>
            <a:ext cx="11751698" cy="4124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DDB333DA-155E-DEF5-345E-3CEFA21E17D8}"/>
              </a:ext>
            </a:extLst>
          </p:cNvPr>
          <p:cNvSpPr txBox="1"/>
          <p:nvPr/>
        </p:nvSpPr>
        <p:spPr>
          <a:xfrm>
            <a:off x="4223792" y="-104318"/>
            <a:ext cx="3363421"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2. 细胞色素类</a:t>
            </a: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D6CE765D-63A5-CCEC-0D04-77D6D9098BD1}"/>
              </a:ext>
            </a:extLst>
          </p:cNvPr>
          <p:cNvSpPr>
            <a:spLocks noChangeArrowheads="1"/>
          </p:cNvSpPr>
          <p:nvPr/>
        </p:nvSpPr>
        <p:spPr bwMode="auto">
          <a:xfrm>
            <a:off x="1524000" y="-390525"/>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5363" name="Rectangle 8">
            <a:extLst>
              <a:ext uri="{FF2B5EF4-FFF2-40B4-BE49-F238E27FC236}">
                <a16:creationId xmlns:a16="http://schemas.microsoft.com/office/drawing/2014/main" id="{B462A908-A4B8-A045-796C-41081CF54DFA}"/>
              </a:ext>
            </a:extLst>
          </p:cNvPr>
          <p:cNvSpPr>
            <a:spLocks noChangeArrowheads="1"/>
          </p:cNvSpPr>
          <p:nvPr/>
        </p:nvSpPr>
        <p:spPr bwMode="auto">
          <a:xfrm>
            <a:off x="4225937" y="6085157"/>
            <a:ext cx="3740126" cy="46166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dirty="0">
                <a:ea typeface="楷体" panose="02010609060101010101" pitchFamily="49" charset="-122"/>
                <a:cs typeface="Times New Roman" panose="02020603050405020304" pitchFamily="18" charset="0"/>
              </a:rPr>
              <a:t>血红素</a:t>
            </a:r>
            <a:r>
              <a:rPr lang="en-US" altLang="zh-CN" sz="2400" b="1" dirty="0">
                <a:ea typeface="楷体" panose="02010609060101010101" pitchFamily="49" charset="-122"/>
                <a:cs typeface="Times New Roman" panose="02020603050405020304" pitchFamily="18" charset="0"/>
              </a:rPr>
              <a:t>a</a:t>
            </a:r>
            <a:r>
              <a:rPr lang="zh-CN" altLang="en-US" sz="2400" b="1" dirty="0">
                <a:ea typeface="楷体" panose="02010609060101010101" pitchFamily="49" charset="-122"/>
                <a:cs typeface="Times New Roman" panose="02020603050405020304" pitchFamily="18" charset="0"/>
              </a:rPr>
              <a:t>、</a:t>
            </a:r>
            <a:r>
              <a:rPr lang="en-US" altLang="zh-CN" sz="2400" b="1" dirty="0">
                <a:ea typeface="楷体" panose="02010609060101010101" pitchFamily="49" charset="-122"/>
                <a:cs typeface="Times New Roman" panose="02020603050405020304" pitchFamily="18" charset="0"/>
              </a:rPr>
              <a:t>b</a:t>
            </a:r>
            <a:r>
              <a:rPr lang="zh-CN" altLang="en-US" sz="2400" b="1" dirty="0">
                <a:ea typeface="楷体" panose="02010609060101010101" pitchFamily="49" charset="-122"/>
                <a:cs typeface="Times New Roman" panose="02020603050405020304" pitchFamily="18" charset="0"/>
              </a:rPr>
              <a:t>和</a:t>
            </a:r>
            <a:r>
              <a:rPr lang="en-US" altLang="zh-CN" sz="2400" b="1" dirty="0">
                <a:ea typeface="楷体" panose="02010609060101010101" pitchFamily="49" charset="-122"/>
                <a:cs typeface="Times New Roman" panose="02020603050405020304" pitchFamily="18" charset="0"/>
              </a:rPr>
              <a:t>c</a:t>
            </a:r>
            <a:r>
              <a:rPr lang="zh-CN" altLang="en-US" sz="2400" b="1" dirty="0">
                <a:ea typeface="楷体" panose="02010609060101010101" pitchFamily="49" charset="-122"/>
                <a:cs typeface="Times New Roman" panose="02020603050405020304" pitchFamily="18" charset="0"/>
              </a:rPr>
              <a:t>的化学结构</a:t>
            </a:r>
            <a:endParaRPr lang="zh-CN" altLang="en-US" sz="2400" dirty="0">
              <a:ea typeface="楷体" panose="02010609060101010101" pitchFamily="49" charset="-122"/>
              <a:cs typeface="Times New Roman" panose="02020603050405020304" pitchFamily="18" charset="0"/>
            </a:endParaRPr>
          </a:p>
        </p:txBody>
      </p:sp>
      <p:pic>
        <p:nvPicPr>
          <p:cNvPr id="15364" name="Picture 6">
            <a:extLst>
              <a:ext uri="{FF2B5EF4-FFF2-40B4-BE49-F238E27FC236}">
                <a16:creationId xmlns:a16="http://schemas.microsoft.com/office/drawing/2014/main" id="{4878449E-429F-50C2-0B50-AD188455A5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408" y="980728"/>
            <a:ext cx="11228455"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A48A46D8-8218-1DB0-6B2D-93E10D6694E7}"/>
              </a:ext>
            </a:extLst>
          </p:cNvPr>
          <p:cNvSpPr txBox="1"/>
          <p:nvPr/>
        </p:nvSpPr>
        <p:spPr>
          <a:xfrm>
            <a:off x="4223792" y="-104318"/>
            <a:ext cx="3363421"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2. 细胞色素类</a:t>
            </a: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30433"/>
          <p:cNvSpPr txBox="1"/>
          <p:nvPr/>
        </p:nvSpPr>
        <p:spPr>
          <a:xfrm>
            <a:off x="94779" y="1623466"/>
            <a:ext cx="7032104" cy="4525962"/>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50000"/>
              </a:lnSpc>
              <a:spcAft>
                <a:spcPts val="0"/>
              </a:spcAft>
              <a:buFontTx/>
              <a:buChar char="•"/>
            </a:pPr>
            <a:r>
              <a:rPr lang="zh-CN" altLang="en-US" sz="2400" dirty="0">
                <a:latin typeface="微软雅黑" panose="020B0503020204020204" charset="-122"/>
                <a:ea typeface="微软雅黑" panose="020B0503020204020204" charset="-122"/>
              </a:rPr>
              <a:t>简写为cyt. 是</a:t>
            </a:r>
            <a:r>
              <a:rPr lang="zh-CN" altLang="en-US" sz="2400" u="sng" dirty="0">
                <a:solidFill>
                  <a:srgbClr val="FF0000"/>
                </a:solidFill>
                <a:latin typeface="微软雅黑" panose="020B0503020204020204" charset="-122"/>
                <a:ea typeface="微软雅黑" panose="020B0503020204020204" charset="-122"/>
              </a:rPr>
              <a:t>含铁的电子传递体</a:t>
            </a:r>
            <a:r>
              <a:rPr lang="zh-CN" altLang="en-US" sz="2400" u="sng" dirty="0">
                <a:latin typeface="微软雅黑" panose="020B0503020204020204" charset="-122"/>
                <a:ea typeface="微软雅黑" panose="020B0503020204020204" charset="-122"/>
              </a:rPr>
              <a:t>；</a:t>
            </a:r>
          </a:p>
          <a:p>
            <a:pPr algn="just" fontAlgn="auto">
              <a:lnSpc>
                <a:spcPct val="150000"/>
              </a:lnSpc>
              <a:spcAft>
                <a:spcPts val="0"/>
              </a:spcAft>
              <a:buFontTx/>
              <a:buChar char="•"/>
            </a:pPr>
            <a:r>
              <a:rPr lang="zh-CN" altLang="en-US" sz="2400" dirty="0">
                <a:latin typeface="微软雅黑" panose="020B0503020204020204" charset="-122"/>
                <a:ea typeface="微软雅黑" panose="020B0503020204020204" charset="-122"/>
              </a:rPr>
              <a:t>是</a:t>
            </a:r>
            <a:r>
              <a:rPr lang="zh-CN" altLang="en-US" sz="2400" u="sng" dirty="0">
                <a:solidFill>
                  <a:srgbClr val="FF0000"/>
                </a:solidFill>
                <a:latin typeface="微软雅黑" panose="020B0503020204020204" charset="-122"/>
                <a:ea typeface="微软雅黑" panose="020B0503020204020204" charset="-122"/>
              </a:rPr>
              <a:t>以铁卟啉（血红素）为辅基</a:t>
            </a:r>
            <a:r>
              <a:rPr lang="zh-CN" altLang="en-US" sz="2400" dirty="0">
                <a:latin typeface="微软雅黑" panose="020B0503020204020204" charset="-122"/>
                <a:ea typeface="微软雅黑" panose="020B0503020204020204" charset="-122"/>
              </a:rPr>
              <a:t>的色素蛋白；</a:t>
            </a:r>
          </a:p>
          <a:p>
            <a:pPr algn="just" fontAlgn="auto">
              <a:lnSpc>
                <a:spcPct val="150000"/>
              </a:lnSpc>
              <a:spcAft>
                <a:spcPts val="0"/>
              </a:spcAft>
              <a:buFontTx/>
              <a:buChar char="•"/>
            </a:pPr>
            <a:r>
              <a:rPr lang="zh-CN" altLang="en-US" sz="2400" dirty="0">
                <a:latin typeface="微软雅黑" panose="020B0503020204020204" charset="-122"/>
                <a:ea typeface="微软雅黑" panose="020B0503020204020204" charset="-122"/>
              </a:rPr>
              <a:t>主要含有细胞色素a,a</a:t>
            </a:r>
            <a:r>
              <a:rPr lang="zh-CN" altLang="en-US" sz="2400" baseline="-25000" dirty="0">
                <a:latin typeface="微软雅黑" panose="020B0503020204020204" charset="-122"/>
                <a:ea typeface="微软雅黑" panose="020B0503020204020204" charset="-122"/>
              </a:rPr>
              <a:t>3</a:t>
            </a:r>
            <a:r>
              <a:rPr lang="zh-CN" altLang="en-US" sz="2400" dirty="0">
                <a:latin typeface="微软雅黑" panose="020B0503020204020204" charset="-122"/>
                <a:ea typeface="微软雅黑" panose="020B0503020204020204" charset="-122"/>
              </a:rPr>
              <a:t>, b, c 和c</a:t>
            </a:r>
            <a:r>
              <a:rPr lang="zh-CN" altLang="en-US" sz="2400" baseline="-25000" dirty="0">
                <a:latin typeface="微软雅黑" panose="020B0503020204020204" charset="-122"/>
                <a:ea typeface="微软雅黑" panose="020B0503020204020204" charset="-122"/>
              </a:rPr>
              <a:t>1</a:t>
            </a:r>
            <a:r>
              <a:rPr lang="zh-CN" altLang="en-US" sz="2400" dirty="0">
                <a:latin typeface="微软雅黑" panose="020B0503020204020204" charset="-122"/>
                <a:ea typeface="微软雅黑" panose="020B0503020204020204" charset="-122"/>
              </a:rPr>
              <a:t>等；</a:t>
            </a:r>
          </a:p>
          <a:p>
            <a:pPr algn="just" fontAlgn="auto">
              <a:lnSpc>
                <a:spcPct val="150000"/>
              </a:lnSpc>
              <a:spcAft>
                <a:spcPts val="0"/>
              </a:spcAft>
              <a:buFontTx/>
              <a:buChar char="•"/>
            </a:pPr>
            <a:r>
              <a:rPr lang="zh-CN" altLang="en-US" sz="2400" dirty="0">
                <a:latin typeface="微软雅黑" panose="020B0503020204020204" charset="-122"/>
                <a:ea typeface="微软雅黑" panose="020B0503020204020204" charset="-122"/>
              </a:rPr>
              <a:t>c的辅基和蛋白质以</a:t>
            </a:r>
            <a:r>
              <a:rPr lang="zh-CN" altLang="en-US" sz="2400" u="sng" dirty="0">
                <a:solidFill>
                  <a:srgbClr val="FF0000"/>
                </a:solidFill>
                <a:latin typeface="微软雅黑" panose="020B0503020204020204" charset="-122"/>
                <a:ea typeface="微软雅黑" panose="020B0503020204020204" charset="-122"/>
              </a:rPr>
              <a:t>硫醚键共价结合</a:t>
            </a:r>
            <a:r>
              <a:rPr lang="zh-CN" altLang="en-US" sz="2400" u="sng"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在复合体Ⅲ和Ⅳ之间传递电子。它处于线粒体内膜外侧，是电子传递链中</a:t>
            </a:r>
            <a:r>
              <a:rPr lang="zh-CN" altLang="en-US" sz="2400" u="sng" dirty="0">
                <a:solidFill>
                  <a:srgbClr val="FF0000"/>
                </a:solidFill>
                <a:latin typeface="微软雅黑" panose="020B0503020204020204" charset="-122"/>
                <a:ea typeface="微软雅黑" panose="020B0503020204020204" charset="-122"/>
              </a:rPr>
              <a:t>唯一的外周蛋白质</a:t>
            </a:r>
            <a:r>
              <a:rPr lang="zh-CN" altLang="en-US" sz="2400" dirty="0">
                <a:latin typeface="微软雅黑" panose="020B0503020204020204" charset="-122"/>
                <a:ea typeface="微软雅黑" panose="020B0503020204020204" charset="-122"/>
              </a:rPr>
              <a:t>。</a:t>
            </a:r>
          </a:p>
        </p:txBody>
      </p:sp>
      <p:pic>
        <p:nvPicPr>
          <p:cNvPr id="3" name="内容占位符 530436"/>
          <p:cNvPicPr>
            <a:picLocks noChangeAspect="1"/>
          </p:cNvPicPr>
          <p:nvPr/>
        </p:nvPicPr>
        <p:blipFill>
          <a:blip r:embed="rId2"/>
          <a:stretch>
            <a:fillRect/>
          </a:stretch>
        </p:blipFill>
        <p:spPr>
          <a:xfrm>
            <a:off x="7320136" y="940507"/>
            <a:ext cx="4383418" cy="3352589"/>
          </a:xfrm>
          <a:prstGeom prst="rect">
            <a:avLst/>
          </a:prstGeom>
          <a:ln>
            <a:solidFill>
              <a:schemeClr val="tx1">
                <a:alpha val="100000"/>
              </a:schemeClr>
            </a:solidFill>
            <a:miter lim="800000"/>
            <a:headEnd/>
            <a:tailEnd/>
          </a:ln>
        </p:spPr>
      </p:pic>
      <p:sp>
        <p:nvSpPr>
          <p:cNvPr id="4" name="矩形 530435"/>
          <p:cNvSpPr/>
          <p:nvPr/>
        </p:nvSpPr>
        <p:spPr>
          <a:xfrm>
            <a:off x="2424113" y="693739"/>
            <a:ext cx="184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endParaRPr lang="zh-CN" altLang="en-US" sz="4000" b="1" dirty="0">
              <a:solidFill>
                <a:srgbClr val="CCFF99"/>
              </a:solidFill>
              <a:latin typeface="Verdana" panose="020B0604030504040204" pitchFamily="34" charset="0"/>
            </a:endParaRPr>
          </a:p>
        </p:txBody>
      </p:sp>
      <p:sp>
        <p:nvSpPr>
          <p:cNvPr id="5" name="文本框 4"/>
          <p:cNvSpPr txBox="1"/>
          <p:nvPr/>
        </p:nvSpPr>
        <p:spPr>
          <a:xfrm>
            <a:off x="7155929" y="4293096"/>
            <a:ext cx="4819824" cy="22518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50000"/>
              </a:lnSpc>
              <a:spcBef>
                <a:spcPct val="0"/>
              </a:spcBef>
            </a:pPr>
            <a:r>
              <a:rPr lang="zh-CN" altLang="en-US" sz="2400" dirty="0">
                <a:solidFill>
                  <a:srgbClr val="FF3300"/>
                </a:solidFill>
              </a:rPr>
              <a:t>典型的呼吸链： </a:t>
            </a:r>
            <a:r>
              <a:rPr lang="en-US" altLang="zh-CN" sz="2400" dirty="0"/>
              <a:t>b——c</a:t>
            </a:r>
            <a:r>
              <a:rPr lang="en-US" altLang="zh-CN" sz="2400" baseline="-25000" dirty="0"/>
              <a:t>1</a:t>
            </a:r>
            <a:r>
              <a:rPr lang="en-US" altLang="zh-CN" sz="2400" dirty="0"/>
              <a:t>——c——aa</a:t>
            </a:r>
            <a:r>
              <a:rPr lang="en-US" altLang="zh-CN" sz="2400" baseline="-25000" dirty="0"/>
              <a:t>3</a:t>
            </a:r>
            <a:r>
              <a:rPr lang="en-US" altLang="zh-CN" sz="2400" dirty="0"/>
              <a:t>——O</a:t>
            </a:r>
            <a:r>
              <a:rPr lang="en-US" altLang="zh-CN" sz="2400" baseline="-25000" dirty="0"/>
              <a:t>2 </a:t>
            </a:r>
            <a:endParaRPr lang="en-US" altLang="zh-CN" sz="2400" baseline="-25000" dirty="0">
              <a:solidFill>
                <a:srgbClr val="FF3300"/>
              </a:solidFill>
            </a:endParaRPr>
          </a:p>
          <a:p>
            <a:pPr lvl="0" eaLnBrk="1" hangingPunct="1">
              <a:lnSpc>
                <a:spcPct val="150000"/>
              </a:lnSpc>
              <a:spcBef>
                <a:spcPct val="0"/>
              </a:spcBef>
            </a:pPr>
            <a:r>
              <a:rPr lang="zh-CN" altLang="en-US" sz="2400" dirty="0">
                <a:solidFill>
                  <a:srgbClr val="FF3300"/>
                </a:solidFill>
              </a:rPr>
              <a:t>细胞色素主要是通过</a:t>
            </a:r>
            <a:r>
              <a:rPr lang="en-US" altLang="zh-CN" sz="2400" dirty="0">
                <a:solidFill>
                  <a:srgbClr val="FF3300"/>
                </a:solidFill>
              </a:rPr>
              <a:t>Fe</a:t>
            </a:r>
            <a:r>
              <a:rPr lang="en-US" altLang="zh-CN" sz="2400" baseline="30000" dirty="0">
                <a:solidFill>
                  <a:srgbClr val="FF3300"/>
                </a:solidFill>
              </a:rPr>
              <a:t>3+</a:t>
            </a:r>
            <a:r>
              <a:rPr lang="en-US" altLang="zh-CN" sz="2400" dirty="0">
                <a:solidFill>
                  <a:srgbClr val="FF3300"/>
                </a:solidFill>
              </a:rPr>
              <a:t> </a:t>
            </a:r>
            <a:r>
              <a:rPr lang="en-US" altLang="zh-CN" sz="2400" dirty="0">
                <a:solidFill>
                  <a:srgbClr val="FF3300"/>
                </a:solidFill>
                <a:sym typeface="Symbol" panose="05050102010706020507" pitchFamily="18" charset="2"/>
              </a:rPr>
              <a:t></a:t>
            </a:r>
            <a:r>
              <a:rPr lang="en-US" altLang="zh-CN" sz="2400" dirty="0">
                <a:solidFill>
                  <a:srgbClr val="FF3300"/>
                </a:solidFill>
              </a:rPr>
              <a:t> Fe</a:t>
            </a:r>
            <a:r>
              <a:rPr lang="en-US" altLang="zh-CN" sz="2400" baseline="30000" dirty="0">
                <a:solidFill>
                  <a:srgbClr val="FF3300"/>
                </a:solidFill>
              </a:rPr>
              <a:t>2+</a:t>
            </a:r>
            <a:r>
              <a:rPr lang="en-US" altLang="zh-CN" sz="2400" dirty="0">
                <a:solidFill>
                  <a:srgbClr val="FF3300"/>
                </a:solidFill>
              </a:rPr>
              <a:t> </a:t>
            </a:r>
            <a:r>
              <a:rPr lang="zh-CN" altLang="en-US" sz="2400" dirty="0">
                <a:solidFill>
                  <a:srgbClr val="FF3300"/>
                </a:solidFill>
              </a:rPr>
              <a:t>的互变起传递电子的作用的。</a:t>
            </a:r>
          </a:p>
        </p:txBody>
      </p:sp>
      <p:sp>
        <p:nvSpPr>
          <p:cNvPr id="7" name="文本框 6"/>
          <p:cNvSpPr txBox="1"/>
          <p:nvPr/>
        </p:nvSpPr>
        <p:spPr>
          <a:xfrm>
            <a:off x="4223792" y="-104318"/>
            <a:ext cx="3363421"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2. 细胞色素类</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p:cTn id="13"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p:cTn id="19"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p:cTn id="25"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2">
                                            <p:txEl>
                                              <p:pRg st="3" end="3"/>
                                            </p:txEl>
                                          </p:spTgt>
                                        </p:tgtEl>
                                        <p:attrNameLst>
                                          <p:attrName>ppt_h</p:attrName>
                                        </p:attrNameLst>
                                      </p:cBhvr>
                                      <p:tavLst>
                                        <p:tav tm="0">
                                          <p:val>
                                            <p:strVal val="#ppt_h"/>
                                          </p:val>
                                        </p:tav>
                                        <p:tav tm="100000">
                                          <p:val>
                                            <p:strVal val="#ppt_h"/>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2">
                                            <p:txEl>
                                              <p:charRg st="18" end="37"/>
                                            </p:txEl>
                                          </p:spTgt>
                                        </p:tgtEl>
                                        <p:attrNameLst>
                                          <p:attrName>style.visibility</p:attrName>
                                        </p:attrNameLst>
                                      </p:cBhvr>
                                      <p:to>
                                        <p:strVal val="visible"/>
                                      </p:to>
                                    </p:set>
                                    <p:anim calcmode="lin" valueType="num">
                                      <p:cBhvr additive="base">
                                        <p:cTn id="30" dur="500" fill="hold"/>
                                        <p:tgtEl>
                                          <p:spTgt spid="2">
                                            <p:txEl>
                                              <p:charRg st="18" end="37"/>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
                                            <p:txEl>
                                              <p:charRg st="18" end="37"/>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2">
                                            <p:txEl>
                                              <p:charRg st="37" end="68"/>
                                            </p:txEl>
                                          </p:spTgt>
                                        </p:tgtEl>
                                        <p:attrNameLst>
                                          <p:attrName>style.visibility</p:attrName>
                                        </p:attrNameLst>
                                      </p:cBhvr>
                                      <p:to>
                                        <p:strVal val="visible"/>
                                      </p:to>
                                    </p:set>
                                    <p:anim calcmode="lin" valueType="num">
                                      <p:cBhvr additive="base">
                                        <p:cTn id="34" dur="500" fill="hold"/>
                                        <p:tgtEl>
                                          <p:spTgt spid="2">
                                            <p:txEl>
                                              <p:charRg st="37" end="68"/>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
                                            <p:txEl>
                                              <p:charRg st="37" end="68"/>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
                                            <p:txEl>
                                              <p:charRg st="68" end="123"/>
                                            </p:txEl>
                                          </p:spTgt>
                                        </p:tgtEl>
                                        <p:attrNameLst>
                                          <p:attrName>style.visibility</p:attrName>
                                        </p:attrNameLst>
                                      </p:cBhvr>
                                      <p:to>
                                        <p:strVal val="visible"/>
                                      </p:to>
                                    </p:set>
                                    <p:anim calcmode="lin" valueType="num">
                                      <p:cBhvr additive="base">
                                        <p:cTn id="40" dur="500" fill="hold"/>
                                        <p:tgtEl>
                                          <p:spTgt spid="2">
                                            <p:txEl>
                                              <p:charRg st="68" end="12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
                                            <p:txEl>
                                              <p:charRg st="68" end="123"/>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500" fill="hold"/>
                                        <p:tgtEl>
                                          <p:spTgt spid="5"/>
                                        </p:tgtEl>
                                        <p:attrNameLst>
                                          <p:attrName>ppt_x</p:attrName>
                                        </p:attrNameLst>
                                      </p:cBhvr>
                                      <p:tavLst>
                                        <p:tav tm="0">
                                          <p:val>
                                            <p:strVal val="#ppt_x"/>
                                          </p:val>
                                        </p:tav>
                                        <p:tav tm="100000">
                                          <p:val>
                                            <p:strVal val="#ppt_x"/>
                                          </p:val>
                                        </p:tav>
                                      </p:tavLst>
                                    </p:anim>
                                    <p:anim calcmode="lin" valueType="num">
                                      <p:cBhvr additive="base">
                                        <p:cTn id="4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ldLvl="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22242"/>
          <p:cNvSpPr txBox="1"/>
          <p:nvPr/>
        </p:nvSpPr>
        <p:spPr>
          <a:xfrm>
            <a:off x="0" y="1028218"/>
            <a:ext cx="5159896" cy="2112749"/>
          </a:xfrm>
          <a:prstGeom prst="rect">
            <a:avLst/>
          </a:prstGeom>
        </p:spPr>
        <p:txBody>
          <a:bodyPr vert="horz" wrap="square"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0000"/>
              </a:lnSpc>
              <a:spcBef>
                <a:spcPct val="30000"/>
              </a:spcBef>
              <a:spcAft>
                <a:spcPts val="0"/>
              </a:spcAft>
              <a:buFontTx/>
              <a:buChar char="•"/>
            </a:pPr>
            <a:r>
              <a:rPr lang="zh-CN" altLang="en-US" b="1" dirty="0">
                <a:latin typeface="微软雅黑" panose="020B0503020204020204" charset="-122"/>
                <a:ea typeface="微软雅黑" panose="020B0503020204020204" charset="-122"/>
              </a:rPr>
              <a:t>复合体</a:t>
            </a:r>
            <a:r>
              <a:rPr lang="en-US" altLang="zh-CN" b="1" dirty="0">
                <a:latin typeface="微软雅黑" panose="020B0503020204020204" charset="-122"/>
                <a:ea typeface="微软雅黑" panose="020B0503020204020204" charset="-122"/>
              </a:rPr>
              <a:t>Ⅰ</a:t>
            </a:r>
            <a:r>
              <a:rPr lang="zh-CN" altLang="en-US" b="1" dirty="0">
                <a:latin typeface="微软雅黑" panose="020B0503020204020204" charset="-122"/>
                <a:ea typeface="微软雅黑" panose="020B0503020204020204" charset="-122"/>
              </a:rPr>
              <a:t>是一个大的蛋白质复合体，包括以</a:t>
            </a:r>
            <a:r>
              <a:rPr lang="en-US" altLang="zh-CN" b="1" dirty="0">
                <a:solidFill>
                  <a:schemeClr val="hlink"/>
                </a:solidFill>
                <a:latin typeface="微软雅黑" panose="020B0503020204020204" charset="-122"/>
                <a:ea typeface="微软雅黑" panose="020B0503020204020204" charset="-122"/>
              </a:rPr>
              <a:t>FMN</a:t>
            </a:r>
            <a:r>
              <a:rPr lang="zh-CN" altLang="en-US" b="1" dirty="0">
                <a:latin typeface="微软雅黑" panose="020B0503020204020204" charset="-122"/>
                <a:ea typeface="微软雅黑" panose="020B0503020204020204" charset="-122"/>
              </a:rPr>
              <a:t>为辅基的黄素蛋白和以</a:t>
            </a:r>
            <a:r>
              <a:rPr lang="zh-CN" altLang="en-US" b="1" dirty="0">
                <a:solidFill>
                  <a:schemeClr val="hlink"/>
                </a:solidFill>
                <a:latin typeface="微软雅黑" panose="020B0503020204020204" charset="-122"/>
                <a:ea typeface="微软雅黑" panose="020B0503020204020204" charset="-122"/>
              </a:rPr>
              <a:t>铁硫中心</a:t>
            </a:r>
            <a:r>
              <a:rPr lang="zh-CN" altLang="en-US" b="1" dirty="0">
                <a:latin typeface="微软雅黑" panose="020B0503020204020204" charset="-122"/>
                <a:ea typeface="微软雅黑" panose="020B0503020204020204" charset="-122"/>
              </a:rPr>
              <a:t>为辅基的铁硫蛋白。</a:t>
            </a:r>
          </a:p>
        </p:txBody>
      </p:sp>
      <p:sp>
        <p:nvSpPr>
          <p:cNvPr id="3" name="文本框 2"/>
          <p:cNvSpPr txBox="1"/>
          <p:nvPr/>
        </p:nvSpPr>
        <p:spPr>
          <a:xfrm>
            <a:off x="0" y="3316033"/>
            <a:ext cx="5085892" cy="2935547"/>
          </a:xfrm>
          <a:prstGeom prst="rect">
            <a:avLst/>
          </a:prstGeom>
          <a:noFill/>
          <a:ln w="9525" cap="flat" cmpd="sng">
            <a:solidFill>
              <a:srgbClr val="000000">
                <a:alpha val="0"/>
              </a:srgbClr>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20000"/>
              </a:lnSpc>
              <a:spcBef>
                <a:spcPct val="30000"/>
              </a:spcBef>
            </a:pPr>
            <a:r>
              <a:rPr lang="zh-CN" altLang="en-US" sz="2400" dirty="0">
                <a:latin typeface="微软雅黑" panose="020B0503020204020204" charset="-122"/>
                <a:ea typeface="微软雅黑" panose="020B0503020204020204" charset="-122"/>
                <a:cs typeface="+mj-ea"/>
              </a:rPr>
              <a:t>催化</a:t>
            </a:r>
            <a:r>
              <a:rPr lang="en-US" altLang="zh-CN" sz="2400" dirty="0">
                <a:latin typeface="微软雅黑" panose="020B0503020204020204" charset="-122"/>
                <a:ea typeface="微软雅黑" panose="020B0503020204020204" charset="-122"/>
                <a:cs typeface="+mj-ea"/>
              </a:rPr>
              <a:t>NADH</a:t>
            </a:r>
            <a:r>
              <a:rPr lang="zh-CN" altLang="en-US" sz="2400" dirty="0">
                <a:latin typeface="微软雅黑" panose="020B0503020204020204" charset="-122"/>
                <a:ea typeface="微软雅黑" panose="020B0503020204020204" charset="-122"/>
                <a:cs typeface="+mj-ea"/>
              </a:rPr>
              <a:t>氧化，从中获得</a:t>
            </a:r>
            <a:r>
              <a:rPr lang="en-US" altLang="zh-CN" sz="2400" dirty="0">
                <a:latin typeface="微软雅黑" panose="020B0503020204020204" charset="-122"/>
                <a:ea typeface="微软雅黑" panose="020B0503020204020204" charset="-122"/>
                <a:cs typeface="+mj-ea"/>
              </a:rPr>
              <a:t>2</a:t>
            </a:r>
            <a:r>
              <a:rPr lang="zh-CN" altLang="en-US" sz="2400" dirty="0">
                <a:latin typeface="微软雅黑" panose="020B0503020204020204" charset="-122"/>
                <a:ea typeface="微软雅黑" panose="020B0503020204020204" charset="-122"/>
                <a:cs typeface="+mj-ea"/>
              </a:rPr>
              <a:t>个高能电子</a:t>
            </a:r>
            <a:r>
              <a:rPr lang="en-US" altLang="zh-CN" sz="2400" dirty="0">
                <a:latin typeface="微软雅黑" panose="020B0503020204020204" charset="-122"/>
                <a:ea typeface="微软雅黑" panose="020B0503020204020204" charset="-122"/>
                <a:cs typeface="+mj-ea"/>
              </a:rPr>
              <a:t>→</a:t>
            </a:r>
            <a:r>
              <a:rPr lang="zh-CN" altLang="en-US" sz="2400" dirty="0">
                <a:latin typeface="微软雅黑" panose="020B0503020204020204" charset="-122"/>
                <a:ea typeface="微软雅黑" panose="020B0503020204020204" charset="-122"/>
                <a:cs typeface="+mj-ea"/>
              </a:rPr>
              <a:t>辅酶</a:t>
            </a:r>
            <a:r>
              <a:rPr lang="en-US" altLang="zh-CN" sz="2400" dirty="0">
                <a:latin typeface="微软雅黑" panose="020B0503020204020204" charset="-122"/>
                <a:ea typeface="微软雅黑" panose="020B0503020204020204" charset="-122"/>
                <a:cs typeface="+mj-ea"/>
              </a:rPr>
              <a:t>Q</a:t>
            </a:r>
            <a:r>
              <a:rPr lang="zh-CN" altLang="en-US" sz="2400" dirty="0">
                <a:latin typeface="微软雅黑" panose="020B0503020204020204" charset="-122"/>
                <a:ea typeface="微软雅黑" panose="020B0503020204020204" charset="-122"/>
                <a:cs typeface="+mj-ea"/>
              </a:rPr>
              <a:t>；</a:t>
            </a:r>
          </a:p>
          <a:p>
            <a:pPr lvl="0" eaLnBrk="1" hangingPunct="1">
              <a:lnSpc>
                <a:spcPct val="120000"/>
              </a:lnSpc>
              <a:spcBef>
                <a:spcPct val="30000"/>
              </a:spcBef>
            </a:pPr>
            <a:r>
              <a:rPr lang="zh-CN" altLang="en-US" sz="2400" dirty="0">
                <a:latin typeface="微软雅黑" panose="020B0503020204020204" charset="-122"/>
                <a:ea typeface="微软雅黑" panose="020B0503020204020204" charset="-122"/>
                <a:cs typeface="+mj-ea"/>
              </a:rPr>
              <a:t>由辅基</a:t>
            </a:r>
            <a:r>
              <a:rPr lang="en-US" altLang="zh-CN" sz="2400" dirty="0">
                <a:latin typeface="微软雅黑" panose="020B0503020204020204" charset="-122"/>
                <a:ea typeface="微软雅黑" panose="020B0503020204020204" charset="-122"/>
                <a:cs typeface="+mj-ea"/>
              </a:rPr>
              <a:t>FMN</a:t>
            </a:r>
            <a:r>
              <a:rPr lang="zh-CN" altLang="en-US" sz="2400" dirty="0">
                <a:latin typeface="微软雅黑" panose="020B0503020204020204" charset="-122"/>
                <a:ea typeface="微软雅黑" panose="020B0503020204020204" charset="-122"/>
                <a:cs typeface="+mj-ea"/>
              </a:rPr>
              <a:t>和（</a:t>
            </a:r>
            <a:r>
              <a:rPr lang="en-US" altLang="zh-CN" sz="2400" dirty="0">
                <a:latin typeface="微软雅黑" panose="020B0503020204020204" charset="-122"/>
                <a:ea typeface="微软雅黑" panose="020B0503020204020204" charset="-122"/>
                <a:cs typeface="+mj-ea"/>
              </a:rPr>
              <a:t>Fe-S</a:t>
            </a:r>
            <a:r>
              <a:rPr lang="zh-CN" altLang="en-US" sz="2400" dirty="0">
                <a:latin typeface="微软雅黑" panose="020B0503020204020204" charset="-122"/>
                <a:ea typeface="微软雅黑" panose="020B0503020204020204" charset="-122"/>
                <a:cs typeface="+mj-ea"/>
              </a:rPr>
              <a:t>）负责传递电子；</a:t>
            </a:r>
            <a:endParaRPr lang="en-US" altLang="zh-CN" sz="2400" dirty="0">
              <a:latin typeface="微软雅黑" panose="020B0503020204020204" charset="-122"/>
              <a:ea typeface="微软雅黑" panose="020B0503020204020204" charset="-122"/>
              <a:cs typeface="+mj-ea"/>
            </a:endParaRPr>
          </a:p>
          <a:p>
            <a:pPr lvl="0" eaLnBrk="1" hangingPunct="1">
              <a:lnSpc>
                <a:spcPct val="120000"/>
              </a:lnSpc>
              <a:spcBef>
                <a:spcPct val="30000"/>
              </a:spcBef>
            </a:pPr>
            <a:r>
              <a:rPr lang="zh-CN" altLang="en-US" sz="2400" dirty="0">
                <a:latin typeface="微软雅黑" panose="020B0503020204020204" charset="-122"/>
                <a:ea typeface="微软雅黑" panose="020B0503020204020204" charset="-122"/>
                <a:cs typeface="+mj-ea"/>
              </a:rPr>
              <a:t>每传递</a:t>
            </a:r>
            <a:r>
              <a:rPr lang="en-US" altLang="zh-CN" sz="2400" dirty="0">
                <a:latin typeface="微软雅黑" panose="020B0503020204020204" charset="-122"/>
                <a:ea typeface="微软雅黑" panose="020B0503020204020204" charset="-122"/>
                <a:cs typeface="+mj-ea"/>
              </a:rPr>
              <a:t>2</a:t>
            </a:r>
            <a:r>
              <a:rPr lang="zh-CN" altLang="en-US" sz="2400" dirty="0">
                <a:latin typeface="微软雅黑" panose="020B0503020204020204" charset="-122"/>
                <a:ea typeface="微软雅黑" panose="020B0503020204020204" charset="-122"/>
                <a:cs typeface="+mj-ea"/>
              </a:rPr>
              <a:t>个电子，可驱动</a:t>
            </a:r>
            <a:r>
              <a:rPr lang="en-US" altLang="zh-CN" sz="2400" b="1" dirty="0">
                <a:solidFill>
                  <a:srgbClr val="FF0000"/>
                </a:solidFill>
                <a:latin typeface="微软雅黑" panose="020B0503020204020204" charset="-122"/>
                <a:ea typeface="微软雅黑" panose="020B0503020204020204" charset="-122"/>
                <a:cs typeface="+mj-ea"/>
              </a:rPr>
              <a:t>4</a:t>
            </a:r>
            <a:r>
              <a:rPr lang="zh-CN" altLang="en-US" sz="2400" b="1" dirty="0">
                <a:solidFill>
                  <a:srgbClr val="FF0000"/>
                </a:solidFill>
                <a:latin typeface="微软雅黑" panose="020B0503020204020204" charset="-122"/>
                <a:ea typeface="微软雅黑" panose="020B0503020204020204" charset="-122"/>
                <a:cs typeface="+mj-ea"/>
              </a:rPr>
              <a:t>个</a:t>
            </a:r>
            <a:r>
              <a:rPr lang="en-US" altLang="zh-CN" sz="2400" b="1" dirty="0">
                <a:solidFill>
                  <a:srgbClr val="FF0000"/>
                </a:solidFill>
                <a:latin typeface="微软雅黑" panose="020B0503020204020204" charset="-122"/>
                <a:ea typeface="微软雅黑" panose="020B0503020204020204" charset="-122"/>
                <a:cs typeface="+mj-ea"/>
              </a:rPr>
              <a:t>H</a:t>
            </a:r>
            <a:r>
              <a:rPr lang="en-US" altLang="zh-CN" sz="2400" b="1" baseline="30000" dirty="0">
                <a:solidFill>
                  <a:srgbClr val="FF0000"/>
                </a:solidFill>
                <a:latin typeface="微软雅黑" panose="020B0503020204020204" charset="-122"/>
                <a:ea typeface="微软雅黑" panose="020B0503020204020204" charset="-122"/>
                <a:cs typeface="+mj-ea"/>
              </a:rPr>
              <a:t>+</a:t>
            </a:r>
            <a:r>
              <a:rPr lang="zh-CN" altLang="en-US" sz="2400" dirty="0">
                <a:latin typeface="微软雅黑" panose="020B0503020204020204" charset="-122"/>
                <a:ea typeface="微软雅黑" panose="020B0503020204020204" charset="-122"/>
                <a:cs typeface="+mj-ea"/>
              </a:rPr>
              <a:t>从膜内侧运到膜外侧。</a:t>
            </a:r>
          </a:p>
        </p:txBody>
      </p:sp>
      <p:sp>
        <p:nvSpPr>
          <p:cNvPr id="5" name="文本框 4"/>
          <p:cNvSpPr txBox="1"/>
          <p:nvPr/>
        </p:nvSpPr>
        <p:spPr>
          <a:xfrm>
            <a:off x="2135560" y="-99392"/>
            <a:ext cx="8119530"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（三）复合体Ⅰ：NADH-Q还原酶</a:t>
            </a:r>
          </a:p>
        </p:txBody>
      </p:sp>
      <p:pic>
        <p:nvPicPr>
          <p:cNvPr id="6" name="图片 5"/>
          <p:cNvPicPr>
            <a:picLocks noChangeAspect="1"/>
          </p:cNvPicPr>
          <p:nvPr/>
        </p:nvPicPr>
        <p:blipFill>
          <a:blip r:embed="rId2"/>
          <a:stretch>
            <a:fillRect/>
          </a:stretch>
        </p:blipFill>
        <p:spPr>
          <a:xfrm>
            <a:off x="5085892" y="1031092"/>
            <a:ext cx="7032104" cy="5414605"/>
          </a:xfrm>
          <a:prstGeom prst="rect">
            <a:avLst/>
          </a:prstGeom>
          <a:ln>
            <a:solidFill>
              <a:schemeClr val="tx1"/>
            </a:solid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207568" y="-113800"/>
            <a:ext cx="8299067" cy="183024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（四）复合体Ⅱ：琥珀酸－Q还原酶</a:t>
            </a:r>
            <a:br>
              <a:rPr lang="zh-CN" altLang="en-US" dirty="0">
                <a:sym typeface="+mn-ea"/>
              </a:rPr>
            </a:br>
            <a:endParaRPr lang="zh-CN" altLang="en-US" dirty="0">
              <a:sym typeface="+mn-ea"/>
            </a:endParaRPr>
          </a:p>
        </p:txBody>
      </p:sp>
      <p:pic>
        <p:nvPicPr>
          <p:cNvPr id="3" name="图片 2"/>
          <p:cNvPicPr>
            <a:picLocks noChangeAspect="1"/>
          </p:cNvPicPr>
          <p:nvPr/>
        </p:nvPicPr>
        <p:blipFill>
          <a:blip r:embed="rId2"/>
          <a:stretch>
            <a:fillRect/>
          </a:stretch>
        </p:blipFill>
        <p:spPr>
          <a:xfrm>
            <a:off x="5375920" y="1556720"/>
            <a:ext cx="6281277" cy="4499957"/>
          </a:xfrm>
          <a:prstGeom prst="rect">
            <a:avLst/>
          </a:prstGeom>
          <a:ln>
            <a:solidFill>
              <a:schemeClr val="tx1"/>
            </a:solidFill>
          </a:ln>
        </p:spPr>
      </p:pic>
      <p:sp>
        <p:nvSpPr>
          <p:cNvPr id="2" name="文本框 1"/>
          <p:cNvSpPr txBox="1"/>
          <p:nvPr/>
        </p:nvSpPr>
        <p:spPr>
          <a:xfrm>
            <a:off x="119336" y="1945124"/>
            <a:ext cx="5119618" cy="2782300"/>
          </a:xfrm>
          <a:prstGeom prst="rect">
            <a:avLst/>
          </a:prstGeom>
          <a:noFill/>
        </p:spPr>
        <p:txBody>
          <a:bodyPr wrap="square" rtlCol="0">
            <a:spAutoFit/>
          </a:bodyPr>
          <a:lstStyle/>
          <a:p>
            <a:pPr marL="342900" indent="-342900">
              <a:lnSpc>
                <a:spcPct val="130000"/>
              </a:lnSpc>
              <a:spcBef>
                <a:spcPts val="1200"/>
              </a:spcBef>
              <a:buClrTx/>
              <a:buSzTx/>
              <a:buFont typeface="Arial" panose="020B0604020202020204" pitchFamily="34" charset="0"/>
              <a:buChar char="•"/>
            </a:pPr>
            <a:r>
              <a:rPr lang="zh-CN" altLang="en-US" sz="2400" dirty="0">
                <a:solidFill>
                  <a:schemeClr val="tx1"/>
                </a:solidFill>
                <a:latin typeface="微软雅黑" panose="020B0503020204020204" charset="-122"/>
                <a:ea typeface="微软雅黑" panose="020B0503020204020204" charset="-122"/>
              </a:rPr>
              <a:t>以</a:t>
            </a:r>
            <a:r>
              <a:rPr lang="en-US" altLang="zh-CN" sz="2400" b="1" dirty="0">
                <a:solidFill>
                  <a:schemeClr val="tx1"/>
                </a:solidFill>
                <a:latin typeface="微软雅黑" panose="020B0503020204020204" charset="-122"/>
                <a:ea typeface="微软雅黑" panose="020B0503020204020204" charset="-122"/>
              </a:rPr>
              <a:t>FAD</a:t>
            </a:r>
            <a:r>
              <a:rPr lang="zh-CN" altLang="en-US" sz="2400" dirty="0">
                <a:solidFill>
                  <a:schemeClr val="tx1"/>
                </a:solidFill>
                <a:latin typeface="微软雅黑" panose="020B0503020204020204" charset="-122"/>
                <a:ea typeface="微软雅黑" panose="020B0503020204020204" charset="-122"/>
              </a:rPr>
              <a:t>和</a:t>
            </a:r>
            <a:r>
              <a:rPr lang="en-US" altLang="zh-CN" sz="2400" b="1" dirty="0">
                <a:solidFill>
                  <a:schemeClr val="tx1"/>
                </a:solidFill>
                <a:latin typeface="微软雅黑" panose="020B0503020204020204" charset="-122"/>
                <a:ea typeface="微软雅黑" panose="020B0503020204020204" charset="-122"/>
              </a:rPr>
              <a:t>Fe-S</a:t>
            </a:r>
            <a:r>
              <a:rPr lang="zh-CN" altLang="en-US" sz="2400" dirty="0">
                <a:solidFill>
                  <a:schemeClr val="tx1"/>
                </a:solidFill>
                <a:latin typeface="微软雅黑" panose="020B0503020204020204" charset="-122"/>
                <a:ea typeface="微软雅黑" panose="020B0503020204020204" charset="-122"/>
              </a:rPr>
              <a:t>中心为辅基。</a:t>
            </a:r>
            <a:endParaRPr lang="en-US" altLang="zh-CN" sz="2400" dirty="0">
              <a:solidFill>
                <a:schemeClr val="tx1"/>
              </a:solidFill>
              <a:latin typeface="微软雅黑" panose="020B0503020204020204" charset="-122"/>
              <a:ea typeface="微软雅黑" panose="020B0503020204020204" charset="-122"/>
            </a:endParaRPr>
          </a:p>
          <a:p>
            <a:pPr marL="342900" indent="-342900">
              <a:lnSpc>
                <a:spcPct val="130000"/>
              </a:lnSpc>
              <a:spcBef>
                <a:spcPts val="1200"/>
              </a:spcBef>
              <a:buClrTx/>
              <a:buSzTx/>
              <a:buFont typeface="Arial" panose="020B0604020202020204" pitchFamily="34" charset="0"/>
              <a:buChar char="•"/>
            </a:pPr>
            <a:r>
              <a:rPr lang="zh-CN" altLang="en-US" sz="2400" dirty="0">
                <a:solidFill>
                  <a:schemeClr val="tx1"/>
                </a:solidFill>
                <a:latin typeface="微软雅黑" panose="020B0503020204020204" charset="-122"/>
                <a:ea typeface="微软雅黑" panose="020B0503020204020204" charset="-122"/>
              </a:rPr>
              <a:t>电子传递：FADH</a:t>
            </a:r>
            <a:r>
              <a:rPr lang="zh-CN" altLang="en-US" sz="2400" baseline="-25000" dirty="0">
                <a:solidFill>
                  <a:schemeClr val="tx1"/>
                </a:solidFill>
                <a:latin typeface="微软雅黑" panose="020B0503020204020204" charset="-122"/>
                <a:ea typeface="微软雅黑" panose="020B0503020204020204" charset="-122"/>
              </a:rPr>
              <a:t>2</a:t>
            </a:r>
            <a:r>
              <a:rPr lang="zh-CN" altLang="en-US" sz="2400" dirty="0">
                <a:solidFill>
                  <a:schemeClr val="tx1"/>
                </a:solidFill>
                <a:latin typeface="微软雅黑" panose="020B0503020204020204" charset="-122"/>
                <a:ea typeface="微软雅黑" panose="020B0503020204020204" charset="-122"/>
              </a:rPr>
              <a:t> → Fe-S  → CoQ</a:t>
            </a:r>
            <a:endParaRPr lang="en-US" altLang="zh-CN" sz="2400" dirty="0">
              <a:solidFill>
                <a:schemeClr val="tx1"/>
              </a:solidFill>
              <a:latin typeface="微软雅黑" panose="020B0503020204020204" charset="-122"/>
              <a:ea typeface="微软雅黑" panose="020B0503020204020204" charset="-122"/>
            </a:endParaRPr>
          </a:p>
          <a:p>
            <a:pPr marL="342900" indent="-342900">
              <a:lnSpc>
                <a:spcPct val="130000"/>
              </a:lnSpc>
              <a:spcBef>
                <a:spcPts val="1200"/>
              </a:spcBef>
              <a:buClrTx/>
              <a:buSzTx/>
              <a:buFont typeface="Arial" panose="020B0604020202020204" pitchFamily="34" charset="0"/>
              <a:buChar char="•"/>
            </a:pPr>
            <a:r>
              <a:rPr lang="zh-CN" altLang="en-US" sz="2400" dirty="0">
                <a:solidFill>
                  <a:srgbClr val="FF0000"/>
                </a:solidFill>
                <a:latin typeface="微软雅黑" panose="020B0503020204020204" charset="-122"/>
                <a:ea typeface="微软雅黑" panose="020B0503020204020204" charset="-122"/>
              </a:rPr>
              <a:t>无</a:t>
            </a:r>
            <a:r>
              <a:rPr lang="en-US" altLang="zh-CN" sz="2400" dirty="0">
                <a:solidFill>
                  <a:srgbClr val="FF0000"/>
                </a:solidFill>
                <a:latin typeface="微软雅黑" panose="020B0503020204020204" charset="-122"/>
                <a:ea typeface="微软雅黑" panose="020B0503020204020204" charset="-122"/>
              </a:rPr>
              <a:t>H</a:t>
            </a:r>
            <a:r>
              <a:rPr lang="en-US" altLang="zh-CN" sz="2400" baseline="30000" dirty="0">
                <a:solidFill>
                  <a:srgbClr val="FF0000"/>
                </a:solidFill>
                <a:latin typeface="微软雅黑" panose="020B0503020204020204" charset="-122"/>
                <a:ea typeface="微软雅黑" panose="020B0503020204020204" charset="-122"/>
              </a:rPr>
              <a:t>+</a:t>
            </a:r>
            <a:r>
              <a:rPr lang="zh-CN" altLang="en-US" sz="2400" dirty="0">
                <a:solidFill>
                  <a:srgbClr val="FF0000"/>
                </a:solidFill>
                <a:latin typeface="微软雅黑" panose="020B0503020204020204" charset="-122"/>
                <a:ea typeface="微软雅黑" panose="020B0503020204020204" charset="-122"/>
              </a:rPr>
              <a:t>跨膜转运。</a:t>
            </a:r>
          </a:p>
          <a:p>
            <a:pPr marL="342900" indent="-342900">
              <a:spcBef>
                <a:spcPts val="1200"/>
              </a:spcBef>
              <a:buFont typeface="Arial" panose="020B0604020202020204" pitchFamily="34" charset="0"/>
              <a:buChar char="•"/>
            </a:pPr>
            <a:endParaRPr lang="zh-CN" altLang="en-US" sz="2000" dirty="0"/>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29410"/>
          <p:cNvSpPr txBox="1"/>
          <p:nvPr/>
        </p:nvSpPr>
        <p:spPr>
          <a:xfrm>
            <a:off x="191344" y="1412776"/>
            <a:ext cx="5519936" cy="4792662"/>
          </a:xfrm>
          <a:prstGeom prst="rect">
            <a:avLst/>
          </a:prstGeom>
        </p:spPr>
        <p:txBody>
          <a:bodyPr vert="horz" wrap="square" lIns="91440" tIns="45720" rIns="91440" bIns="45720"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05000"/>
              </a:lnSpc>
              <a:spcBef>
                <a:spcPct val="30000"/>
              </a:spcBef>
              <a:spcAft>
                <a:spcPts val="0"/>
              </a:spcAft>
              <a:buFontTx/>
              <a:buChar char="•"/>
            </a:pPr>
            <a:r>
              <a:rPr lang="zh-CN" altLang="en-US" sz="2400" dirty="0">
                <a:latin typeface="微软雅黑" panose="020B0503020204020204" charset="-122"/>
                <a:ea typeface="微软雅黑" panose="020B0503020204020204" charset="-122"/>
              </a:rPr>
              <a:t>简写为</a:t>
            </a:r>
            <a:r>
              <a:rPr lang="en-US" altLang="zh-CN" sz="2400" dirty="0">
                <a:latin typeface="微软雅黑" panose="020B0503020204020204" charset="-122"/>
                <a:ea typeface="微软雅黑" panose="020B0503020204020204" charset="-122"/>
              </a:rPr>
              <a:t>QH</a:t>
            </a:r>
            <a:r>
              <a:rPr lang="en-US" altLang="zh-CN" sz="2400" baseline="-25000" dirty="0">
                <a:latin typeface="微软雅黑" panose="020B0503020204020204" charset="-122"/>
                <a:ea typeface="微软雅黑" panose="020B0503020204020204" charset="-122"/>
              </a:rPr>
              <a:t>2</a:t>
            </a:r>
            <a:r>
              <a:rPr lang="en-US" altLang="zh-CN" sz="2400" dirty="0">
                <a:latin typeface="微软雅黑" panose="020B0503020204020204" charset="-122"/>
                <a:ea typeface="微软雅黑" panose="020B0503020204020204" charset="-122"/>
              </a:rPr>
              <a:t>-cyt.c</a:t>
            </a:r>
            <a:r>
              <a:rPr lang="zh-CN" altLang="en-US" sz="2400" dirty="0">
                <a:latin typeface="微软雅黑" panose="020B0503020204020204" charset="-122"/>
                <a:ea typeface="微软雅黑" panose="020B0503020204020204" charset="-122"/>
              </a:rPr>
              <a:t>还原酶；</a:t>
            </a:r>
          </a:p>
          <a:p>
            <a:pPr algn="just" fontAlgn="auto">
              <a:lnSpc>
                <a:spcPct val="105000"/>
              </a:lnSpc>
              <a:spcBef>
                <a:spcPct val="30000"/>
              </a:spcBef>
              <a:spcAft>
                <a:spcPts val="0"/>
              </a:spcAft>
              <a:buFontTx/>
              <a:buChar char="•"/>
            </a:pPr>
            <a:r>
              <a:rPr lang="zh-CN" altLang="en-US" sz="2400" dirty="0">
                <a:latin typeface="微软雅黑" panose="020B0503020204020204" charset="-122"/>
                <a:ea typeface="微软雅黑" panose="020B0503020204020204" charset="-122"/>
              </a:rPr>
              <a:t>是一种跨膜蛋白复合物；包括</a:t>
            </a:r>
            <a:r>
              <a:rPr lang="zh-CN" altLang="en-US" sz="2400" b="1" dirty="0">
                <a:latin typeface="微软雅黑" panose="020B0503020204020204" charset="-122"/>
                <a:ea typeface="微软雅黑" panose="020B0503020204020204" charset="-122"/>
              </a:rPr>
              <a:t>细胞色素</a:t>
            </a:r>
            <a:r>
              <a:rPr lang="en-US" altLang="zh-CN" sz="2400" b="1" dirty="0">
                <a:latin typeface="微软雅黑" panose="020B0503020204020204" charset="-122"/>
                <a:ea typeface="微软雅黑" panose="020B0503020204020204" charset="-122"/>
              </a:rPr>
              <a:t>b</a:t>
            </a:r>
            <a:r>
              <a:rPr lang="zh-CN" altLang="en-US" sz="2400" b="1" dirty="0">
                <a:latin typeface="微软雅黑" panose="020B0503020204020204" charset="-122"/>
                <a:ea typeface="微软雅黑" panose="020B0503020204020204" charset="-122"/>
              </a:rPr>
              <a:t>和</a:t>
            </a:r>
            <a:r>
              <a:rPr lang="en-US" altLang="zh-CN" sz="2400" b="1" dirty="0">
                <a:latin typeface="微软雅黑" panose="020B0503020204020204" charset="-122"/>
                <a:ea typeface="微软雅黑" panose="020B0503020204020204" charset="-122"/>
              </a:rPr>
              <a:t>c</a:t>
            </a:r>
            <a:r>
              <a:rPr lang="en-US" altLang="zh-CN" sz="2400" b="1" baseline="-25000" dirty="0">
                <a:latin typeface="微软雅黑" panose="020B0503020204020204" charset="-122"/>
                <a:ea typeface="微软雅黑" panose="020B0503020204020204" charset="-122"/>
              </a:rPr>
              <a:t>1</a:t>
            </a:r>
            <a:r>
              <a:rPr lang="zh-CN" altLang="en-US" sz="2400" dirty="0">
                <a:latin typeface="微软雅黑" panose="020B0503020204020204" charset="-122"/>
                <a:ea typeface="微软雅黑" panose="020B0503020204020204" charset="-122"/>
              </a:rPr>
              <a:t>，以及铁硫蛋白（</a:t>
            </a:r>
            <a:r>
              <a:rPr lang="en-US" altLang="zh-CN" sz="2400" b="1" dirty="0">
                <a:latin typeface="微软雅黑" panose="020B0503020204020204" charset="-122"/>
                <a:ea typeface="微软雅黑" panose="020B0503020204020204" charset="-122"/>
              </a:rPr>
              <a:t>2Fe-2S</a:t>
            </a:r>
            <a:r>
              <a:rPr lang="zh-CN" altLang="en-US" sz="2400" dirty="0">
                <a:latin typeface="微软雅黑" panose="020B0503020204020204" charset="-122"/>
                <a:ea typeface="微软雅黑" panose="020B0503020204020204" charset="-122"/>
              </a:rPr>
              <a:t>）。</a:t>
            </a:r>
          </a:p>
          <a:p>
            <a:pPr fontAlgn="auto">
              <a:lnSpc>
                <a:spcPct val="125000"/>
              </a:lnSpc>
              <a:spcBef>
                <a:spcPct val="30000"/>
              </a:spcBef>
              <a:spcAft>
                <a:spcPts val="0"/>
              </a:spcAft>
            </a:pPr>
            <a:r>
              <a:rPr lang="zh-CN" altLang="en-US" sz="2400" dirty="0">
                <a:latin typeface="微软雅黑" panose="020B0503020204020204" charset="-122"/>
                <a:ea typeface="微软雅黑" panose="020B0503020204020204" charset="-122"/>
                <a:sym typeface="+mn-ea"/>
              </a:rPr>
              <a:t>电子传递：</a:t>
            </a:r>
            <a:r>
              <a:rPr lang="en-US" altLang="zh-CN" sz="2400" dirty="0" err="1">
                <a:latin typeface="微软雅黑" panose="020B0503020204020204" charset="-122"/>
                <a:ea typeface="微软雅黑" panose="020B0503020204020204" charset="-122"/>
                <a:sym typeface="+mn-ea"/>
              </a:rPr>
              <a:t>CoQ→Cytc</a:t>
            </a:r>
            <a:r>
              <a:rPr lang="zh-CN" altLang="en-US" sz="2400" dirty="0">
                <a:latin typeface="微软雅黑" panose="020B0503020204020204" charset="-122"/>
                <a:ea typeface="微软雅黑" panose="020B0503020204020204" charset="-122"/>
                <a:sym typeface="+mn-ea"/>
              </a:rPr>
              <a:t>。</a:t>
            </a:r>
          </a:p>
          <a:p>
            <a:pPr fontAlgn="auto">
              <a:lnSpc>
                <a:spcPct val="125000"/>
              </a:lnSpc>
              <a:spcBef>
                <a:spcPct val="30000"/>
              </a:spcBef>
              <a:spcAft>
                <a:spcPts val="0"/>
              </a:spcAft>
            </a:pPr>
            <a:r>
              <a:rPr lang="zh-CN" altLang="en-US" sz="2400" dirty="0">
                <a:latin typeface="微软雅黑" panose="020B0503020204020204" charset="-122"/>
                <a:ea typeface="微软雅黑" panose="020B0503020204020204" charset="-122"/>
                <a:sym typeface="+mn-ea"/>
              </a:rPr>
              <a:t>催化还原型</a:t>
            </a:r>
            <a:r>
              <a:rPr lang="en-US" altLang="zh-CN" sz="2400" dirty="0">
                <a:latin typeface="微软雅黑" panose="020B0503020204020204" charset="-122"/>
                <a:ea typeface="微软雅黑" panose="020B0503020204020204" charset="-122"/>
                <a:sym typeface="+mn-ea"/>
              </a:rPr>
              <a:t>QH</a:t>
            </a:r>
            <a:r>
              <a:rPr lang="en-US" altLang="zh-CN" sz="2400" baseline="-25000" dirty="0">
                <a:latin typeface="微软雅黑" panose="020B0503020204020204" charset="-122"/>
                <a:ea typeface="微软雅黑" panose="020B0503020204020204" charset="-122"/>
                <a:sym typeface="+mn-ea"/>
              </a:rPr>
              <a:t>2</a:t>
            </a:r>
            <a:r>
              <a:rPr lang="zh-CN" altLang="en-US" sz="2400" dirty="0">
                <a:latin typeface="微软雅黑" panose="020B0503020204020204" charset="-122"/>
                <a:ea typeface="微软雅黑" panose="020B0503020204020204" charset="-122"/>
                <a:sym typeface="+mn-ea"/>
              </a:rPr>
              <a:t>的氧化和细胞色素</a:t>
            </a:r>
            <a:r>
              <a:rPr lang="en-US" altLang="zh-CN" sz="2400" dirty="0">
                <a:latin typeface="微软雅黑" panose="020B0503020204020204" charset="-122"/>
                <a:ea typeface="微软雅黑" panose="020B0503020204020204" charset="-122"/>
                <a:sym typeface="+mn-ea"/>
              </a:rPr>
              <a:t>c</a:t>
            </a:r>
            <a:r>
              <a:rPr lang="zh-CN" altLang="en-US" sz="2400" dirty="0">
                <a:latin typeface="微软雅黑" panose="020B0503020204020204" charset="-122"/>
                <a:ea typeface="微软雅黑" panose="020B0503020204020204" charset="-122"/>
                <a:sym typeface="+mn-ea"/>
              </a:rPr>
              <a:t>（</a:t>
            </a:r>
            <a:r>
              <a:rPr lang="en-US" altLang="zh-CN" sz="2400" dirty="0" err="1">
                <a:latin typeface="微软雅黑" panose="020B0503020204020204" charset="-122"/>
                <a:ea typeface="微软雅黑" panose="020B0503020204020204" charset="-122"/>
                <a:sym typeface="+mn-ea"/>
              </a:rPr>
              <a:t>cyt.c</a:t>
            </a:r>
            <a:r>
              <a:rPr lang="zh-CN" altLang="en-US" sz="2400" dirty="0">
                <a:latin typeface="微软雅黑" panose="020B0503020204020204" charset="-122"/>
                <a:ea typeface="微软雅黑" panose="020B0503020204020204" charset="-122"/>
                <a:sym typeface="+mn-ea"/>
              </a:rPr>
              <a:t>）的还原；</a:t>
            </a:r>
            <a:endParaRPr lang="zh-CN" altLang="en-US" sz="2400" dirty="0">
              <a:latin typeface="微软雅黑" panose="020B0503020204020204" charset="-122"/>
              <a:ea typeface="微软雅黑" panose="020B0503020204020204" charset="-122"/>
            </a:endParaRPr>
          </a:p>
          <a:p>
            <a:pPr fontAlgn="auto">
              <a:lnSpc>
                <a:spcPct val="125000"/>
              </a:lnSpc>
              <a:spcBef>
                <a:spcPct val="30000"/>
              </a:spcBef>
              <a:spcAft>
                <a:spcPts val="0"/>
              </a:spcAft>
            </a:pPr>
            <a:r>
              <a:rPr lang="zh-CN" altLang="en-US" sz="2400" dirty="0">
                <a:latin typeface="微软雅黑" panose="020B0503020204020204" charset="-122"/>
                <a:ea typeface="微软雅黑" panose="020B0503020204020204" charset="-122"/>
                <a:sym typeface="+mn-ea"/>
              </a:rPr>
              <a:t>通过</a:t>
            </a:r>
            <a:r>
              <a:rPr lang="en-US" altLang="zh-CN" sz="2400" dirty="0">
                <a:solidFill>
                  <a:srgbClr val="FF0000"/>
                </a:solidFill>
                <a:latin typeface="微软雅黑" panose="020B0503020204020204" charset="-122"/>
                <a:ea typeface="微软雅黑" panose="020B0503020204020204" charset="-122"/>
                <a:sym typeface="+mn-ea"/>
              </a:rPr>
              <a:t>Fe</a:t>
            </a:r>
            <a:r>
              <a:rPr lang="en-US" altLang="zh-CN" sz="2400" baseline="30000" dirty="0">
                <a:solidFill>
                  <a:srgbClr val="FF0000"/>
                </a:solidFill>
                <a:latin typeface="微软雅黑" panose="020B0503020204020204" charset="-122"/>
                <a:ea typeface="微软雅黑" panose="020B0503020204020204" charset="-122"/>
                <a:sym typeface="+mn-ea"/>
              </a:rPr>
              <a:t>3+</a:t>
            </a:r>
            <a:r>
              <a:rPr lang="zh-CN" altLang="en-US" sz="2400" dirty="0">
                <a:solidFill>
                  <a:srgbClr val="FF0000"/>
                </a:solidFill>
                <a:latin typeface="微软雅黑" panose="020B0503020204020204" charset="-122"/>
                <a:ea typeface="微软雅黑" panose="020B0503020204020204" charset="-122"/>
                <a:sym typeface="+mn-ea"/>
              </a:rPr>
              <a:t> </a:t>
            </a:r>
            <a:r>
              <a:rPr lang="zh-CN" altLang="en-US" sz="2400" dirty="0">
                <a:solidFill>
                  <a:srgbClr val="FF0000"/>
                </a:solidFill>
                <a:latin typeface="微软雅黑" panose="020B0503020204020204" charset="-122"/>
                <a:ea typeface="微软雅黑" panose="020B0503020204020204" charset="-122"/>
                <a:sym typeface="Symbol" panose="05050102010706020507" pitchFamily="18" charset="2"/>
              </a:rPr>
              <a:t></a:t>
            </a:r>
            <a:r>
              <a:rPr lang="zh-CN" altLang="en-US" sz="2400" dirty="0">
                <a:solidFill>
                  <a:srgbClr val="FF0000"/>
                </a:solidFill>
                <a:latin typeface="微软雅黑" panose="020B0503020204020204" charset="-122"/>
                <a:ea typeface="微软雅黑" panose="020B0503020204020204" charset="-122"/>
                <a:sym typeface="+mn-ea"/>
              </a:rPr>
              <a:t> </a:t>
            </a:r>
            <a:r>
              <a:rPr lang="en-US" altLang="zh-CN" sz="2400" dirty="0">
                <a:solidFill>
                  <a:srgbClr val="FF0000"/>
                </a:solidFill>
                <a:latin typeface="微软雅黑" panose="020B0503020204020204" charset="-122"/>
                <a:ea typeface="微软雅黑" panose="020B0503020204020204" charset="-122"/>
                <a:sym typeface="+mn-ea"/>
              </a:rPr>
              <a:t>Fe</a:t>
            </a:r>
            <a:r>
              <a:rPr lang="en-US" altLang="zh-CN" sz="2400" baseline="30000" dirty="0">
                <a:solidFill>
                  <a:srgbClr val="FF0000"/>
                </a:solidFill>
                <a:latin typeface="微软雅黑" panose="020B0503020204020204" charset="-122"/>
                <a:ea typeface="微软雅黑" panose="020B0503020204020204" charset="-122"/>
                <a:sym typeface="+mn-ea"/>
              </a:rPr>
              <a:t>2+</a:t>
            </a:r>
            <a:r>
              <a:rPr lang="zh-CN" altLang="en-US" sz="2400" dirty="0">
                <a:latin typeface="微软雅黑" panose="020B0503020204020204" charset="-122"/>
                <a:ea typeface="微软雅黑" panose="020B0503020204020204" charset="-122"/>
                <a:sym typeface="+mn-ea"/>
              </a:rPr>
              <a:t> 互变起传递电子的作用；</a:t>
            </a:r>
            <a:endParaRPr lang="zh-CN" altLang="en-US" sz="2400" dirty="0">
              <a:latin typeface="微软雅黑" panose="020B0503020204020204" charset="-122"/>
              <a:ea typeface="微软雅黑" panose="020B0503020204020204" charset="-122"/>
            </a:endParaRPr>
          </a:p>
          <a:p>
            <a:pPr fontAlgn="auto">
              <a:lnSpc>
                <a:spcPct val="125000"/>
              </a:lnSpc>
              <a:spcBef>
                <a:spcPct val="30000"/>
              </a:spcBef>
              <a:spcAft>
                <a:spcPts val="0"/>
              </a:spcAft>
            </a:pPr>
            <a:r>
              <a:rPr lang="zh-CN" altLang="en-US" sz="2400" dirty="0">
                <a:latin typeface="微软雅黑" panose="020B0503020204020204" charset="-122"/>
                <a:ea typeface="微软雅黑" panose="020B0503020204020204" charset="-122"/>
                <a:cs typeface="+mj-ea"/>
                <a:sym typeface="+mn-ea"/>
              </a:rPr>
              <a:t>每传递</a:t>
            </a:r>
            <a:r>
              <a:rPr lang="en-US" altLang="zh-CN" sz="2400" dirty="0">
                <a:latin typeface="微软雅黑" panose="020B0503020204020204" charset="-122"/>
                <a:ea typeface="微软雅黑" panose="020B0503020204020204" charset="-122"/>
                <a:cs typeface="+mj-ea"/>
                <a:sym typeface="+mn-ea"/>
              </a:rPr>
              <a:t>2</a:t>
            </a:r>
            <a:r>
              <a:rPr lang="zh-CN" altLang="en-US" sz="2400" dirty="0">
                <a:latin typeface="微软雅黑" panose="020B0503020204020204" charset="-122"/>
                <a:ea typeface="微软雅黑" panose="020B0503020204020204" charset="-122"/>
                <a:cs typeface="+mj-ea"/>
                <a:sym typeface="+mn-ea"/>
              </a:rPr>
              <a:t>个电子，可驱动</a:t>
            </a:r>
            <a:r>
              <a:rPr lang="en-US" altLang="zh-CN" sz="2400" b="1" dirty="0">
                <a:solidFill>
                  <a:srgbClr val="FF0000"/>
                </a:solidFill>
                <a:latin typeface="微软雅黑" panose="020B0503020204020204" charset="-122"/>
                <a:ea typeface="微软雅黑" panose="020B0503020204020204" charset="-122"/>
                <a:cs typeface="+mj-ea"/>
                <a:sym typeface="+mn-ea"/>
              </a:rPr>
              <a:t>4</a:t>
            </a:r>
            <a:r>
              <a:rPr lang="zh-CN" altLang="en-US" sz="2400" b="1" dirty="0">
                <a:solidFill>
                  <a:srgbClr val="FF0000"/>
                </a:solidFill>
                <a:latin typeface="微软雅黑" panose="020B0503020204020204" charset="-122"/>
                <a:ea typeface="微软雅黑" panose="020B0503020204020204" charset="-122"/>
                <a:cs typeface="+mj-ea"/>
                <a:sym typeface="+mn-ea"/>
              </a:rPr>
              <a:t>个</a:t>
            </a:r>
            <a:r>
              <a:rPr lang="en-US" altLang="zh-CN" sz="2400" b="1" dirty="0">
                <a:solidFill>
                  <a:srgbClr val="FF0000"/>
                </a:solidFill>
                <a:latin typeface="微软雅黑" panose="020B0503020204020204" charset="-122"/>
                <a:ea typeface="微软雅黑" panose="020B0503020204020204" charset="-122"/>
                <a:cs typeface="+mj-ea"/>
                <a:sym typeface="+mn-ea"/>
              </a:rPr>
              <a:t>H</a:t>
            </a:r>
            <a:r>
              <a:rPr lang="en-US" altLang="zh-CN" sz="2400" b="1" baseline="30000" dirty="0">
                <a:solidFill>
                  <a:srgbClr val="FF0000"/>
                </a:solidFill>
                <a:latin typeface="微软雅黑" panose="020B0503020204020204" charset="-122"/>
                <a:ea typeface="微软雅黑" panose="020B0503020204020204" charset="-122"/>
                <a:cs typeface="+mj-ea"/>
                <a:sym typeface="+mn-ea"/>
              </a:rPr>
              <a:t>+</a:t>
            </a:r>
            <a:r>
              <a:rPr lang="zh-CN" altLang="en-US" sz="2400" dirty="0">
                <a:latin typeface="微软雅黑" panose="020B0503020204020204" charset="-122"/>
                <a:ea typeface="微软雅黑" panose="020B0503020204020204" charset="-122"/>
                <a:cs typeface="+mj-ea"/>
                <a:sym typeface="+mn-ea"/>
              </a:rPr>
              <a:t>从膜内侧运到膜外侧。</a:t>
            </a:r>
          </a:p>
        </p:txBody>
      </p:sp>
      <p:sp>
        <p:nvSpPr>
          <p:cNvPr id="4" name="文本框 3"/>
          <p:cNvSpPr txBox="1"/>
          <p:nvPr/>
        </p:nvSpPr>
        <p:spPr>
          <a:xfrm>
            <a:off x="1415480" y="-99392"/>
            <a:ext cx="9815508"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（五）复合物III：辅酶Q-细胞色素c还原酶</a:t>
            </a:r>
          </a:p>
        </p:txBody>
      </p:sp>
      <p:pic>
        <p:nvPicPr>
          <p:cNvPr id="5" name="图片 4"/>
          <p:cNvPicPr>
            <a:picLocks noChangeAspect="1"/>
          </p:cNvPicPr>
          <p:nvPr/>
        </p:nvPicPr>
        <p:blipFill>
          <a:blip r:embed="rId2"/>
          <a:stretch>
            <a:fillRect/>
          </a:stretch>
        </p:blipFill>
        <p:spPr>
          <a:xfrm>
            <a:off x="6088961" y="1628800"/>
            <a:ext cx="5862274" cy="4237535"/>
          </a:xfrm>
          <a:prstGeom prst="rect">
            <a:avLst/>
          </a:prstGeom>
          <a:ln>
            <a:solidFill>
              <a:schemeClr val="tx1"/>
            </a:solidFill>
          </a:ln>
        </p:spPr>
      </p:pic>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531457"/>
          <p:cNvSpPr txBox="1"/>
          <p:nvPr/>
        </p:nvSpPr>
        <p:spPr>
          <a:xfrm>
            <a:off x="190730" y="1484784"/>
            <a:ext cx="5929678" cy="3209925"/>
          </a:xfrm>
          <a:prstGeom prst="rect">
            <a:avLst/>
          </a:prstGeom>
        </p:spPr>
        <p:txBody>
          <a:bodyPr vert="horz" wrap="square"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50000"/>
              </a:lnSpc>
              <a:spcAft>
                <a:spcPts val="0"/>
              </a:spcAft>
              <a:buClr>
                <a:schemeClr val="tx2"/>
              </a:buClr>
            </a:pPr>
            <a:r>
              <a:rPr lang="zh-CN" altLang="en-US" sz="2400" dirty="0">
                <a:latin typeface="微软雅黑" panose="020B0503020204020204" charset="-122"/>
                <a:ea typeface="微软雅黑" panose="020B0503020204020204" charset="-122"/>
              </a:rPr>
              <a:t>也叫</a:t>
            </a:r>
            <a:r>
              <a:rPr lang="zh-CN" altLang="en-US" sz="2400" b="1" dirty="0">
                <a:latin typeface="微软雅黑" panose="020B0503020204020204" charset="-122"/>
                <a:ea typeface="微软雅黑" panose="020B0503020204020204" charset="-122"/>
              </a:rPr>
              <a:t>末端氧化酶</a:t>
            </a:r>
            <a:r>
              <a:rPr lang="zh-CN" altLang="en-US" sz="2400" dirty="0">
                <a:latin typeface="微软雅黑" panose="020B0503020204020204" charset="-122"/>
                <a:ea typeface="微软雅黑" panose="020B0503020204020204" charset="-122"/>
              </a:rPr>
              <a:t>，由 cyta和a</a:t>
            </a:r>
            <a:r>
              <a:rPr lang="zh-CN" altLang="en-US" sz="2400" baseline="-25000" dirty="0">
                <a:latin typeface="微软雅黑" panose="020B0503020204020204" charset="-122"/>
                <a:ea typeface="微软雅黑" panose="020B0503020204020204" charset="-122"/>
              </a:rPr>
              <a:t>3 </a:t>
            </a:r>
            <a:r>
              <a:rPr lang="zh-CN" altLang="en-US" sz="2400" dirty="0">
                <a:latin typeface="微软雅黑" panose="020B0503020204020204" charset="-122"/>
                <a:ea typeface="微软雅黑" panose="020B0503020204020204" charset="-122"/>
              </a:rPr>
              <a:t>组成，除了含有铁卟啉外还含有</a:t>
            </a:r>
            <a:r>
              <a:rPr lang="zh-CN" altLang="en-US" sz="2400" b="1" dirty="0">
                <a:latin typeface="微软雅黑" panose="020B0503020204020204" charset="-122"/>
                <a:ea typeface="微软雅黑" panose="020B0503020204020204" charset="-122"/>
              </a:rPr>
              <a:t>铜原子</a:t>
            </a:r>
            <a:r>
              <a:rPr lang="zh-CN" altLang="en-US" sz="2400" dirty="0">
                <a:latin typeface="微软雅黑" panose="020B0503020204020204" charset="-122"/>
                <a:ea typeface="微软雅黑" panose="020B0503020204020204" charset="-122"/>
              </a:rPr>
              <a:t>。</a:t>
            </a:r>
          </a:p>
          <a:p>
            <a:pPr fontAlgn="auto">
              <a:lnSpc>
                <a:spcPct val="150000"/>
              </a:lnSpc>
              <a:spcAft>
                <a:spcPts val="0"/>
              </a:spcAft>
              <a:buClr>
                <a:schemeClr val="tx2"/>
              </a:buClr>
            </a:pPr>
            <a:r>
              <a:rPr lang="zh-CN" altLang="en-US" sz="2400" dirty="0">
                <a:latin typeface="微软雅黑" panose="020B0503020204020204" charset="-122"/>
                <a:ea typeface="微软雅黑" panose="020B0503020204020204" charset="-122"/>
              </a:rPr>
              <a:t>催化电子从</a:t>
            </a:r>
            <a:r>
              <a:rPr lang="en-US" altLang="zh-CN" sz="2400" dirty="0">
                <a:latin typeface="微软雅黑" panose="020B0503020204020204" charset="-122"/>
                <a:ea typeface="微软雅黑" panose="020B0503020204020204" charset="-122"/>
              </a:rPr>
              <a:t>C</a:t>
            </a:r>
            <a:r>
              <a:rPr lang="zh-CN" altLang="en-US" sz="2400" dirty="0">
                <a:latin typeface="微软雅黑" panose="020B0503020204020204" charset="-122"/>
                <a:ea typeface="微软雅黑" panose="020B0503020204020204" charset="-122"/>
              </a:rPr>
              <a:t>ytc</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O</a:t>
            </a:r>
            <a:r>
              <a:rPr lang="zh-CN" altLang="en-US" sz="2400" baseline="-25000" dirty="0">
                <a:latin typeface="微软雅黑" panose="020B0503020204020204" charset="-122"/>
                <a:ea typeface="微软雅黑" panose="020B0503020204020204" charset="-122"/>
              </a:rPr>
              <a:t>2</a:t>
            </a:r>
            <a:r>
              <a:rPr lang="zh-CN" altLang="en-US" sz="2400" dirty="0">
                <a:latin typeface="微软雅黑" panose="020B0503020204020204" charset="-122"/>
                <a:ea typeface="微软雅黑" panose="020B0503020204020204" charset="-122"/>
              </a:rPr>
              <a:t>形成水。</a:t>
            </a:r>
          </a:p>
          <a:p>
            <a:pPr fontAlgn="auto">
              <a:lnSpc>
                <a:spcPct val="150000"/>
              </a:lnSpc>
              <a:spcAft>
                <a:spcPts val="0"/>
              </a:spcAft>
            </a:pPr>
            <a:r>
              <a:rPr lang="zh-CN" altLang="en-US" sz="2400" dirty="0">
                <a:solidFill>
                  <a:srgbClr val="FF0000"/>
                </a:solidFill>
                <a:latin typeface="微软雅黑" panose="020B0503020204020204" charset="-122"/>
                <a:ea typeface="微软雅黑" panose="020B0503020204020204" charset="-122"/>
              </a:rPr>
              <a:t>Cu</a:t>
            </a:r>
            <a:r>
              <a:rPr lang="zh-CN" altLang="en-US" sz="2400" baseline="30000" dirty="0">
                <a:solidFill>
                  <a:srgbClr val="FF0000"/>
                </a:solidFill>
                <a:latin typeface="微软雅黑" panose="020B0503020204020204" charset="-122"/>
                <a:ea typeface="微软雅黑" panose="020B0503020204020204" charset="-122"/>
              </a:rPr>
              <a:t>+</a:t>
            </a:r>
            <a:r>
              <a:rPr lang="zh-CN" altLang="en-US" sz="2400" dirty="0">
                <a:solidFill>
                  <a:srgbClr val="FF0000"/>
                </a:solidFill>
                <a:latin typeface="微软雅黑" panose="020B0503020204020204" charset="-122"/>
                <a:ea typeface="微软雅黑" panose="020B0503020204020204" charset="-122"/>
              </a:rPr>
              <a:t> </a:t>
            </a:r>
            <a:r>
              <a:rPr lang="zh-CN" altLang="en-US" sz="2400" dirty="0">
                <a:solidFill>
                  <a:srgbClr val="FF0000"/>
                </a:solidFill>
                <a:latin typeface="微软雅黑" panose="020B0503020204020204" charset="-122"/>
                <a:ea typeface="微软雅黑" panose="020B0503020204020204" charset="-122"/>
                <a:sym typeface="Symbol" panose="05050102010706020507" pitchFamily="18" charset="2"/>
              </a:rPr>
              <a:t></a:t>
            </a:r>
            <a:r>
              <a:rPr lang="zh-CN" altLang="en-US" sz="2400" dirty="0">
                <a:solidFill>
                  <a:srgbClr val="FF0000"/>
                </a:solidFill>
                <a:latin typeface="微软雅黑" panose="020B0503020204020204" charset="-122"/>
                <a:ea typeface="微软雅黑" panose="020B0503020204020204" charset="-122"/>
              </a:rPr>
              <a:t> Cu</a:t>
            </a:r>
            <a:r>
              <a:rPr lang="zh-CN" altLang="en-US" sz="2400" baseline="30000" dirty="0">
                <a:solidFill>
                  <a:srgbClr val="FF0000"/>
                </a:solidFill>
                <a:latin typeface="微软雅黑" panose="020B0503020204020204" charset="-122"/>
                <a:ea typeface="微软雅黑" panose="020B0503020204020204" charset="-122"/>
              </a:rPr>
              <a:t>2+</a:t>
            </a:r>
            <a:r>
              <a:rPr lang="zh-CN" altLang="en-US" sz="2400" dirty="0">
                <a:solidFill>
                  <a:srgbClr val="FF0000"/>
                </a:solidFill>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的互变，将cyt.c所携带的电子传递给O</a:t>
            </a:r>
            <a:r>
              <a:rPr lang="zh-CN" altLang="en-US" sz="2400" baseline="-25000" dirty="0">
                <a:latin typeface="微软雅黑" panose="020B0503020204020204" charset="-122"/>
                <a:ea typeface="微软雅黑" panose="020B0503020204020204" charset="-122"/>
              </a:rPr>
              <a:t>2</a:t>
            </a:r>
            <a:r>
              <a:rPr lang="zh-CN" altLang="en-US" sz="2400" dirty="0">
                <a:latin typeface="微软雅黑" panose="020B0503020204020204" charset="-122"/>
                <a:ea typeface="微软雅黑" panose="020B0503020204020204" charset="-122"/>
              </a:rPr>
              <a:t>。</a:t>
            </a:r>
          </a:p>
          <a:p>
            <a:pPr fontAlgn="auto">
              <a:lnSpc>
                <a:spcPct val="150000"/>
              </a:lnSpc>
              <a:spcAft>
                <a:spcPts val="0"/>
              </a:spcAft>
            </a:pPr>
            <a:r>
              <a:rPr lang="zh-CN" altLang="en-US" sz="2400" dirty="0">
                <a:latin typeface="微软雅黑" panose="020B0503020204020204" charset="-122"/>
                <a:ea typeface="微软雅黑" panose="020B0503020204020204" charset="-122"/>
                <a:sym typeface="+mn-ea"/>
              </a:rPr>
              <a:t>每传递</a:t>
            </a:r>
            <a:r>
              <a:rPr lang="en-US" altLang="zh-CN" sz="2400" dirty="0">
                <a:latin typeface="微软雅黑" panose="020B0503020204020204" charset="-122"/>
                <a:ea typeface="微软雅黑" panose="020B0503020204020204" charset="-122"/>
                <a:sym typeface="+mn-ea"/>
              </a:rPr>
              <a:t>2</a:t>
            </a:r>
            <a:r>
              <a:rPr lang="zh-CN" altLang="en-US" sz="2400" dirty="0">
                <a:latin typeface="微软雅黑" panose="020B0503020204020204" charset="-122"/>
                <a:ea typeface="微软雅黑" panose="020B0503020204020204" charset="-122"/>
                <a:sym typeface="+mn-ea"/>
              </a:rPr>
              <a:t>个电子，可以运出</a:t>
            </a:r>
            <a:r>
              <a:rPr lang="en-US" altLang="zh-CN" sz="2400" b="1" dirty="0">
                <a:solidFill>
                  <a:srgbClr val="FF0000"/>
                </a:solidFill>
                <a:latin typeface="微软雅黑" panose="020B0503020204020204" charset="-122"/>
                <a:ea typeface="微软雅黑" panose="020B0503020204020204" charset="-122"/>
                <a:sym typeface="+mn-ea"/>
              </a:rPr>
              <a:t>2</a:t>
            </a:r>
            <a:r>
              <a:rPr lang="zh-CN" altLang="en-US" sz="2400" b="1" dirty="0">
                <a:solidFill>
                  <a:srgbClr val="FF0000"/>
                </a:solidFill>
                <a:latin typeface="微软雅黑" panose="020B0503020204020204" charset="-122"/>
                <a:ea typeface="微软雅黑" panose="020B0503020204020204" charset="-122"/>
                <a:sym typeface="+mn-ea"/>
              </a:rPr>
              <a:t>个</a:t>
            </a:r>
            <a:r>
              <a:rPr lang="en-US" altLang="zh-CN" sz="2400" b="1" dirty="0">
                <a:solidFill>
                  <a:srgbClr val="FF0000"/>
                </a:solidFill>
                <a:latin typeface="微软雅黑" panose="020B0503020204020204" charset="-122"/>
                <a:ea typeface="微软雅黑" panose="020B0503020204020204" charset="-122"/>
                <a:sym typeface="+mn-ea"/>
              </a:rPr>
              <a:t>H</a:t>
            </a:r>
            <a:r>
              <a:rPr lang="en-US" altLang="zh-CN" sz="2400" b="1" baseline="30000" dirty="0">
                <a:solidFill>
                  <a:srgbClr val="FF0000"/>
                </a:solidFill>
                <a:latin typeface="微软雅黑" panose="020B0503020204020204" charset="-122"/>
                <a:ea typeface="微软雅黑" panose="020B0503020204020204" charset="-122"/>
                <a:sym typeface="+mn-ea"/>
              </a:rPr>
              <a:t>+</a:t>
            </a:r>
            <a:r>
              <a:rPr lang="zh-CN" altLang="en-US" sz="2400" dirty="0">
                <a:latin typeface="微软雅黑" panose="020B0503020204020204" charset="-122"/>
                <a:ea typeface="微软雅黑" panose="020B0503020204020204" charset="-122"/>
                <a:sym typeface="+mn-ea"/>
              </a:rPr>
              <a:t>。</a:t>
            </a:r>
            <a:endParaRPr lang="en-US" altLang="zh-CN" sz="2400" dirty="0">
              <a:latin typeface="微软雅黑" panose="020B0503020204020204" charset="-122"/>
              <a:ea typeface="微软雅黑" panose="020B0503020204020204" charset="-122"/>
            </a:endParaRPr>
          </a:p>
          <a:p>
            <a:pPr marL="0" indent="0" fontAlgn="auto">
              <a:spcAft>
                <a:spcPts val="0"/>
              </a:spcAft>
              <a:buFont typeface="Arial" panose="020B0604020202020204" pitchFamily="34" charset="0"/>
              <a:buNone/>
            </a:pPr>
            <a:endParaRPr lang="zh-CN" altLang="en-US" sz="2400" dirty="0">
              <a:latin typeface="微软雅黑" panose="020B0503020204020204" charset="-122"/>
              <a:ea typeface="微软雅黑" panose="020B0503020204020204" charset="-122"/>
            </a:endParaRPr>
          </a:p>
          <a:p>
            <a:pPr fontAlgn="auto">
              <a:spcAft>
                <a:spcPts val="0"/>
              </a:spcAft>
            </a:pPr>
            <a:endParaRPr lang="zh-CN" altLang="en-US" sz="2400" dirty="0">
              <a:latin typeface="微软雅黑" panose="020B0503020204020204" charset="-122"/>
              <a:ea typeface="微软雅黑" panose="020B0503020204020204" charset="-122"/>
            </a:endParaRPr>
          </a:p>
        </p:txBody>
      </p:sp>
      <p:sp>
        <p:nvSpPr>
          <p:cNvPr id="3" name="矩形 3"/>
          <p:cNvSpPr/>
          <p:nvPr/>
        </p:nvSpPr>
        <p:spPr>
          <a:xfrm>
            <a:off x="659396" y="6130663"/>
            <a:ext cx="10873208"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2400" b="1" dirty="0">
                <a:latin typeface="微软雅黑" panose="020B0503020204020204" charset="-122"/>
                <a:ea typeface="微软雅黑" panose="020B0503020204020204" charset="-122"/>
              </a:rPr>
              <a:t>Cyt.c → Cu</a:t>
            </a:r>
            <a:r>
              <a:rPr lang="en-US" altLang="zh-CN" sz="2400" b="1" baseline="-25000" dirty="0">
                <a:latin typeface="微软雅黑" panose="020B0503020204020204" charset="-122"/>
                <a:ea typeface="微软雅黑" panose="020B0503020204020204" charset="-122"/>
              </a:rPr>
              <a:t>A </a:t>
            </a:r>
            <a:r>
              <a:rPr lang="en-US" altLang="zh-CN" sz="2400" b="1" dirty="0">
                <a:latin typeface="微软雅黑" panose="020B0503020204020204" charset="-122"/>
                <a:ea typeface="微软雅黑" panose="020B0503020204020204" charset="-122"/>
              </a:rPr>
              <a:t>→ Cyta → Cyt.a</a:t>
            </a:r>
            <a:r>
              <a:rPr lang="en-US" altLang="zh-CN" sz="2400" b="1" baseline="-25000" dirty="0">
                <a:latin typeface="微软雅黑" panose="020B0503020204020204" charset="-122"/>
                <a:ea typeface="微软雅黑" panose="020B0503020204020204" charset="-122"/>
              </a:rPr>
              <a:t>3</a:t>
            </a:r>
            <a:r>
              <a:rPr lang="en-US" altLang="zh-CN" sz="2400" b="1" dirty="0">
                <a:latin typeface="微软雅黑" panose="020B0503020204020204" charset="-122"/>
                <a:ea typeface="微软雅黑" panose="020B0503020204020204" charset="-122"/>
              </a:rPr>
              <a:t>- Cu</a:t>
            </a:r>
            <a:r>
              <a:rPr lang="en-US" altLang="zh-CN" sz="2400" b="1" baseline="-25000" dirty="0">
                <a:latin typeface="微软雅黑" panose="020B0503020204020204" charset="-122"/>
                <a:ea typeface="微软雅黑" panose="020B0503020204020204" charset="-122"/>
              </a:rPr>
              <a:t>B</a:t>
            </a:r>
            <a:r>
              <a:rPr lang="en-US" altLang="zh-CN" sz="2400" b="1" dirty="0">
                <a:latin typeface="微软雅黑" panose="020B0503020204020204" charset="-122"/>
                <a:ea typeface="微软雅黑" panose="020B0503020204020204" charset="-122"/>
              </a:rPr>
              <a:t>→ O</a:t>
            </a:r>
            <a:r>
              <a:rPr lang="en-US" altLang="zh-CN" sz="2400" b="1" baseline="-25000" dirty="0">
                <a:latin typeface="微软雅黑" panose="020B0503020204020204" charset="-122"/>
                <a:ea typeface="微软雅黑" panose="020B0503020204020204" charset="-122"/>
              </a:rPr>
              <a:t>2 </a:t>
            </a:r>
            <a:r>
              <a:rPr lang="en-US" altLang="zh-CN" sz="2400" b="1" dirty="0">
                <a:latin typeface="微软雅黑" panose="020B0503020204020204" charset="-122"/>
                <a:ea typeface="微软雅黑" panose="020B0503020204020204" charset="-122"/>
              </a:rPr>
              <a:t>(Cyt.a</a:t>
            </a:r>
            <a:r>
              <a:rPr lang="en-US" altLang="zh-CN" sz="2400" b="1" baseline="-25000" dirty="0">
                <a:latin typeface="微软雅黑" panose="020B0503020204020204" charset="-122"/>
                <a:ea typeface="微软雅黑" panose="020B0503020204020204" charset="-122"/>
              </a:rPr>
              <a:t>3</a:t>
            </a:r>
            <a:r>
              <a:rPr lang="en-US" altLang="zh-CN" sz="2400" b="1" dirty="0">
                <a:latin typeface="微软雅黑" panose="020B0503020204020204" charset="-122"/>
                <a:ea typeface="微软雅黑" panose="020B0503020204020204" charset="-122"/>
              </a:rPr>
              <a:t>- Cu</a:t>
            </a:r>
            <a:r>
              <a:rPr lang="en-US" altLang="zh-CN" sz="2400" b="1" baseline="-25000" dirty="0">
                <a:latin typeface="微软雅黑" panose="020B0503020204020204" charset="-122"/>
                <a:ea typeface="微软雅黑" panose="020B0503020204020204" charset="-122"/>
              </a:rPr>
              <a:t>B</a:t>
            </a:r>
            <a:r>
              <a:rPr lang="zh-CN" altLang="en-US" sz="2400" b="1" dirty="0">
                <a:latin typeface="微软雅黑" panose="020B0503020204020204" charset="-122"/>
                <a:ea typeface="微软雅黑" panose="020B0503020204020204" charset="-122"/>
              </a:rPr>
              <a:t>上有</a:t>
            </a:r>
            <a:r>
              <a:rPr lang="zh-CN" altLang="en-US" sz="2400" b="1" baseline="-250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O</a:t>
            </a:r>
            <a:r>
              <a:rPr lang="en-US" altLang="zh-CN" sz="2400" b="1" baseline="-25000"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结合位点</a:t>
            </a:r>
            <a:r>
              <a:rPr lang="en-US" altLang="zh-CN" sz="2400" b="1" dirty="0">
                <a:latin typeface="微软雅黑" panose="020B0503020204020204" charset="-122"/>
                <a:ea typeface="微软雅黑" panose="020B0503020204020204" charset="-122"/>
              </a:rPr>
              <a:t>)</a:t>
            </a:r>
          </a:p>
        </p:txBody>
      </p:sp>
      <p:sp>
        <p:nvSpPr>
          <p:cNvPr id="5" name="文本框 4"/>
          <p:cNvSpPr txBox="1"/>
          <p:nvPr/>
        </p:nvSpPr>
        <p:spPr>
          <a:xfrm>
            <a:off x="1703512" y="-116468"/>
            <a:ext cx="8475397"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（六）复合体Ⅳ——细胞色素氧化酶</a:t>
            </a:r>
            <a:endParaRPr dirty="0">
              <a:sym typeface="+mn-ea"/>
            </a:endParaRPr>
          </a:p>
        </p:txBody>
      </p:sp>
      <p:pic>
        <p:nvPicPr>
          <p:cNvPr id="6" name="图片 5"/>
          <p:cNvPicPr>
            <a:picLocks noChangeAspect="1"/>
          </p:cNvPicPr>
          <p:nvPr/>
        </p:nvPicPr>
        <p:blipFill>
          <a:blip r:embed="rId2"/>
          <a:stretch>
            <a:fillRect/>
          </a:stretch>
        </p:blipFill>
        <p:spPr>
          <a:xfrm>
            <a:off x="6600800" y="1106994"/>
            <a:ext cx="5400470" cy="4937955"/>
          </a:xfrm>
          <a:prstGeom prst="rect">
            <a:avLst/>
          </a:prstGeom>
          <a:ln>
            <a:solidFill>
              <a:schemeClr val="tx1"/>
            </a:solidFill>
          </a:ln>
        </p:spPr>
      </p:pic>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847528" y="-99392"/>
            <a:ext cx="7136890"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a:sym typeface="+mn-ea"/>
              </a:rPr>
              <a:t>质子（</a:t>
            </a:r>
            <a:r>
              <a:rPr lang="en-US" altLang="zh-CN">
                <a:sym typeface="+mn-ea"/>
              </a:rPr>
              <a:t>H</a:t>
            </a:r>
            <a:r>
              <a:rPr lang="en-US" altLang="zh-CN" dirty="0">
                <a:sym typeface="+mn-ea"/>
              </a:rPr>
              <a:t>+</a:t>
            </a:r>
            <a:r>
              <a:rPr lang="zh-CN" altLang="en-US" dirty="0">
                <a:sym typeface="+mn-ea"/>
              </a:rPr>
              <a:t>）转移的机制</a:t>
            </a:r>
          </a:p>
        </p:txBody>
      </p:sp>
      <p:sp>
        <p:nvSpPr>
          <p:cNvPr id="59395" name="文本框 1"/>
          <p:cNvSpPr txBox="1"/>
          <p:nvPr/>
        </p:nvSpPr>
        <p:spPr>
          <a:xfrm>
            <a:off x="562360" y="1382055"/>
            <a:ext cx="11438295" cy="148265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lnSpc>
                <a:spcPct val="150000"/>
              </a:lnSpc>
              <a:spcBef>
                <a:spcPct val="0"/>
              </a:spcBef>
            </a:pPr>
            <a:r>
              <a:rPr lang="en-US" altLang="zh-CN" b="1" dirty="0">
                <a:latin typeface="微软雅黑" panose="020B0503020204020204" charset="-122"/>
                <a:ea typeface="微软雅黑" panose="020B0503020204020204" charset="-122"/>
              </a:rPr>
              <a:t>H</a:t>
            </a:r>
            <a:r>
              <a:rPr lang="en-US" altLang="zh-CN" b="1" baseline="30000" dirty="0">
                <a:latin typeface="微软雅黑" panose="020B0503020204020204" charset="-122"/>
                <a:ea typeface="微软雅黑" panose="020B0503020204020204" charset="-122"/>
              </a:rPr>
              <a:t>+</a:t>
            </a:r>
            <a:r>
              <a:rPr lang="zh-CN" altLang="en-US" b="1" dirty="0">
                <a:latin typeface="微软雅黑" panose="020B0503020204020204" charset="-122"/>
                <a:ea typeface="微软雅黑" panose="020B0503020204020204" charset="-122"/>
              </a:rPr>
              <a:t>是如何通过电子传递链转移出线粒体内膜的，还没有公认的机制。</a:t>
            </a:r>
          </a:p>
        </p:txBody>
      </p:sp>
      <p:sp>
        <p:nvSpPr>
          <p:cNvPr id="59396" name="矩形 2"/>
          <p:cNvSpPr/>
          <p:nvPr/>
        </p:nvSpPr>
        <p:spPr>
          <a:xfrm>
            <a:off x="551384" y="3429000"/>
            <a:ext cx="11449272" cy="168905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457200" indent="-457200">
              <a:lnSpc>
                <a:spcPct val="150000"/>
              </a:lnSpc>
              <a:spcBef>
                <a:spcPct val="0"/>
              </a:spcBef>
            </a:pPr>
            <a:r>
              <a:rPr lang="zh-CN" altLang="en-US" sz="2400" dirty="0">
                <a:latin typeface="微软雅黑" panose="020B0503020204020204" charset="-122"/>
                <a:ea typeface="微软雅黑" panose="020B0503020204020204" charset="-122"/>
              </a:rPr>
              <a:t>氧化还原回路机制：各氧化还原中心（</a:t>
            </a:r>
            <a:r>
              <a:rPr lang="en-US" altLang="zh-CN" sz="2400" dirty="0">
                <a:latin typeface="微软雅黑" panose="020B0503020204020204" charset="-122"/>
                <a:ea typeface="微软雅黑" panose="020B0503020204020204" charset="-122"/>
              </a:rPr>
              <a:t>FMN</a:t>
            </a:r>
            <a:r>
              <a:rPr lang="zh-CN" altLang="en-US" sz="2400" dirty="0">
                <a:latin typeface="微软雅黑" panose="020B0503020204020204" charset="-122"/>
                <a:ea typeface="微软雅黑" panose="020B0503020204020204" charset="-122"/>
              </a:rPr>
              <a:t>，辅酶</a:t>
            </a:r>
            <a:r>
              <a:rPr lang="en-US" altLang="zh-CN" sz="2400" dirty="0">
                <a:latin typeface="微软雅黑" panose="020B0503020204020204" charset="-122"/>
                <a:ea typeface="微软雅黑" panose="020B0503020204020204" charset="-122"/>
              </a:rPr>
              <a:t>Q</a:t>
            </a:r>
            <a:r>
              <a:rPr lang="zh-CN" altLang="en-US" sz="2400" dirty="0">
                <a:latin typeface="微软雅黑" panose="020B0503020204020204" charset="-122"/>
                <a:ea typeface="微软雅黑" panose="020B0503020204020204" charset="-122"/>
              </a:rPr>
              <a:t>、细胞色素</a:t>
            </a:r>
            <a:r>
              <a:rPr lang="en-US" altLang="zh-CN" sz="2400" dirty="0">
                <a:latin typeface="微软雅黑" panose="020B0503020204020204" charset="-122"/>
                <a:ea typeface="微软雅黑" panose="020B0503020204020204" charset="-122"/>
              </a:rPr>
              <a:t>C</a:t>
            </a:r>
            <a:r>
              <a:rPr lang="zh-CN" altLang="en-US" sz="2400" dirty="0">
                <a:latin typeface="微软雅黑" panose="020B0503020204020204" charset="-122"/>
                <a:ea typeface="微软雅黑" panose="020B0503020204020204" charset="-122"/>
              </a:rPr>
              <a:t>，铁硫中心）既能使电子转移，也能使质子转移。</a:t>
            </a:r>
          </a:p>
          <a:p>
            <a:pPr marL="457200" indent="-457200">
              <a:lnSpc>
                <a:spcPct val="150000"/>
              </a:lnSpc>
              <a:spcBef>
                <a:spcPct val="0"/>
              </a:spcBef>
            </a:pPr>
            <a:r>
              <a:rPr lang="zh-CN" altLang="en-US" sz="2400" dirty="0">
                <a:latin typeface="微软雅黑" panose="020B0503020204020204" charset="-122"/>
                <a:ea typeface="微软雅黑" panose="020B0503020204020204" charset="-122"/>
              </a:rPr>
              <a:t>质子泵机制：电子传递致复合体构象变化，发挥质子泵的作用。</a:t>
            </a: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575720" y="-99392"/>
            <a:ext cx="4288353"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zh-CN" altLang="en-US" dirty="0">
                <a:sym typeface="+mn-ea"/>
              </a:rPr>
              <a:t>（七）复合体小结</a:t>
            </a:r>
          </a:p>
        </p:txBody>
      </p:sp>
      <p:pic>
        <p:nvPicPr>
          <p:cNvPr id="23555" name="Picture 49"/>
          <p:cNvPicPr>
            <a:picLocks noChangeAspect="1"/>
          </p:cNvPicPr>
          <p:nvPr/>
        </p:nvPicPr>
        <p:blipFill>
          <a:blip r:embed="rId2"/>
          <a:stretch>
            <a:fillRect/>
          </a:stretch>
        </p:blipFill>
        <p:spPr>
          <a:xfrm>
            <a:off x="0" y="1268760"/>
            <a:ext cx="12198684" cy="4608512"/>
          </a:xfrm>
          <a:prstGeom prst="rect">
            <a:avLst/>
          </a:prstGeom>
          <a:noFill/>
          <a:ln w="9525">
            <a:noFill/>
          </a:ln>
        </p:spPr>
      </p:pic>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1344" y="951078"/>
            <a:ext cx="11809312" cy="1135054"/>
          </a:xfrm>
          <a:prstGeom prst="rect">
            <a:avLst/>
          </a:prstGeom>
          <a:solidFill>
            <a:schemeClr val="bg1"/>
          </a:solidFill>
          <a:ln w="9525">
            <a:noFill/>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spcBef>
                <a:spcPct val="0"/>
              </a:spcBef>
              <a:defRPr/>
            </a:pPr>
            <a:r>
              <a:rPr lang="zh-CN" altLang="en-US" sz="2400" b="1" noProof="1">
                <a:latin typeface="微软雅黑" panose="020B0503020204020204" charset="-122"/>
                <a:ea typeface="微软雅黑" panose="020B0503020204020204" charset="-122"/>
                <a:cs typeface="微软雅黑" panose="020B0503020204020204" charset="-122"/>
              </a:rPr>
              <a:t>磷氧比：</a:t>
            </a:r>
            <a:r>
              <a:rPr lang="zh-CN" altLang="en-US" sz="2400" noProof="1">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指</a:t>
            </a:r>
            <a:r>
              <a:rPr lang="zh-CN" altLang="en-US" sz="2400" noProof="1">
                <a:latin typeface="微软雅黑" panose="020B0503020204020204" charset="-122"/>
                <a:ea typeface="微软雅黑" panose="020B0503020204020204" charset="-122"/>
                <a:cs typeface="微软雅黑" panose="020B0503020204020204" charset="-122"/>
              </a:rPr>
              <a:t>呼吸过程中每消耗一个氧原子所生成的</a:t>
            </a:r>
            <a:r>
              <a:rPr lang="en-US" altLang="zh-CN" sz="2400" noProof="1">
                <a:latin typeface="微软雅黑" panose="020B0503020204020204" charset="-122"/>
                <a:ea typeface="微软雅黑" panose="020B0503020204020204" charset="-122"/>
                <a:cs typeface="微软雅黑" panose="020B0503020204020204" charset="-122"/>
              </a:rPr>
              <a:t>ATP</a:t>
            </a:r>
            <a:r>
              <a:rPr lang="zh-CN" altLang="en-US" sz="2400" noProof="1">
                <a:latin typeface="微软雅黑" panose="020B0503020204020204" charset="-122"/>
                <a:ea typeface="微软雅黑" panose="020B0503020204020204" charset="-122"/>
                <a:cs typeface="微软雅黑" panose="020B0503020204020204" charset="-122"/>
              </a:rPr>
              <a:t>分子数。即每两个电子经呼吸链传给氧的过程中，消耗的磷原子数与消耗的氧原子数之比（ </a:t>
            </a:r>
            <a:r>
              <a:rPr lang="en-US" altLang="zh-CN" sz="1800" noProof="1">
                <a:ea typeface="微软雅黑" panose="020B0503020204020204" charset="-122"/>
                <a:cs typeface="微软雅黑" panose="020B0503020204020204" charset="-122"/>
              </a:rPr>
              <a:t>P/O</a:t>
            </a:r>
            <a:r>
              <a:rPr lang="zh-CN" altLang="en-US" sz="1800" noProof="1">
                <a:ea typeface="微软雅黑" panose="020B0503020204020204" charset="-122"/>
                <a:cs typeface="微软雅黑" panose="020B0503020204020204" charset="-122"/>
              </a:rPr>
              <a:t>比</a:t>
            </a:r>
            <a:r>
              <a:rPr lang="zh-CN" altLang="en-US" sz="2400" noProof="1">
                <a:latin typeface="微软雅黑" panose="020B0503020204020204" charset="-122"/>
                <a:ea typeface="微软雅黑" panose="020B0503020204020204" charset="-122"/>
                <a:cs typeface="微软雅黑" panose="020B0503020204020204" charset="-122"/>
              </a:rPr>
              <a:t>）。</a:t>
            </a:r>
          </a:p>
        </p:txBody>
      </p:sp>
      <p:grpSp>
        <p:nvGrpSpPr>
          <p:cNvPr id="3" name="组合 546819"/>
          <p:cNvGrpSpPr/>
          <p:nvPr/>
        </p:nvGrpSpPr>
        <p:grpSpPr>
          <a:xfrm>
            <a:off x="1703512" y="2492896"/>
            <a:ext cx="8281988" cy="3621088"/>
            <a:chOff x="-56" y="0"/>
            <a:chExt cx="5217" cy="2281"/>
          </a:xfrm>
        </p:grpSpPr>
        <p:grpSp>
          <p:nvGrpSpPr>
            <p:cNvPr id="4" name="组合 546820"/>
            <p:cNvGrpSpPr/>
            <p:nvPr/>
          </p:nvGrpSpPr>
          <p:grpSpPr>
            <a:xfrm>
              <a:off x="-56" y="0"/>
              <a:ext cx="5096" cy="2281"/>
              <a:chOff x="-56" y="0"/>
              <a:chExt cx="5096" cy="2580"/>
            </a:xfrm>
          </p:grpSpPr>
          <p:sp>
            <p:nvSpPr>
              <p:cNvPr id="11" name="文本框 546821"/>
              <p:cNvSpPr txBox="1"/>
              <p:nvPr/>
            </p:nvSpPr>
            <p:spPr>
              <a:xfrm>
                <a:off x="-56" y="468"/>
                <a:ext cx="892" cy="37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en-US" altLang="zh-CN" sz="2800" b="1" dirty="0">
                    <a:latin typeface="微软雅黑" panose="020B0503020204020204" charset="-122"/>
                  </a:rPr>
                  <a:t>NADH</a:t>
                </a:r>
              </a:p>
            </p:txBody>
          </p:sp>
          <p:sp>
            <p:nvSpPr>
              <p:cNvPr id="12" name="文本框 546822"/>
              <p:cNvSpPr txBox="1"/>
              <p:nvPr/>
            </p:nvSpPr>
            <p:spPr>
              <a:xfrm>
                <a:off x="0" y="1847"/>
                <a:ext cx="960" cy="37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en-US" altLang="zh-CN" sz="2800" b="1" dirty="0">
                    <a:latin typeface="微软雅黑" panose="020B0503020204020204" charset="-122"/>
                  </a:rPr>
                  <a:t>FADH</a:t>
                </a:r>
                <a:r>
                  <a:rPr lang="en-US" altLang="zh-CN" sz="2800" b="1" baseline="-25000" dirty="0">
                    <a:latin typeface="微软雅黑" panose="020B0503020204020204" charset="-122"/>
                  </a:rPr>
                  <a:t>2</a:t>
                </a:r>
              </a:p>
            </p:txBody>
          </p:sp>
          <p:sp>
            <p:nvSpPr>
              <p:cNvPr id="13" name="直接连接符 546823"/>
              <p:cNvSpPr/>
              <p:nvPr/>
            </p:nvSpPr>
            <p:spPr>
              <a:xfrm>
                <a:off x="720" y="660"/>
                <a:ext cx="3360" cy="0"/>
              </a:xfrm>
              <a:prstGeom prst="line">
                <a:avLst/>
              </a:prstGeom>
              <a:ln w="25400" cap="flat" cmpd="sng">
                <a:solidFill>
                  <a:srgbClr val="008000"/>
                </a:solidFill>
                <a:prstDash val="solid"/>
                <a:headEnd type="none" w="med" len="med"/>
                <a:tailEnd type="triangle" w="med" len="med"/>
              </a:ln>
            </p:spPr>
          </p:sp>
          <p:sp>
            <p:nvSpPr>
              <p:cNvPr id="14" name="左弧形箭头 546824"/>
              <p:cNvSpPr/>
              <p:nvPr/>
            </p:nvSpPr>
            <p:spPr>
              <a:xfrm>
                <a:off x="4080" y="468"/>
                <a:ext cx="240" cy="384"/>
              </a:xfrm>
              <a:prstGeom prst="curvedRightArrow">
                <a:avLst>
                  <a:gd name="adj1" fmla="val 12163"/>
                  <a:gd name="adj2" fmla="val 44163"/>
                  <a:gd name="adj3" fmla="val 33328"/>
                </a:avLst>
              </a:prstGeom>
              <a:solidFill>
                <a:srgbClr val="33CCCC"/>
              </a:solidFill>
              <a:ln w="9525" cap="flat" cmpd="sng">
                <a:solidFill>
                  <a:srgbClr val="0000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7200" dirty="0">
                  <a:solidFill>
                    <a:schemeClr val="accent2"/>
                  </a:solidFill>
                  <a:latin typeface="Times New Roman" panose="02020603050405020304" pitchFamily="18" charset="0"/>
                </a:endParaRPr>
              </a:p>
            </p:txBody>
          </p:sp>
          <p:sp>
            <p:nvSpPr>
              <p:cNvPr id="15" name="文本框 546825"/>
              <p:cNvSpPr txBox="1"/>
              <p:nvPr/>
            </p:nvSpPr>
            <p:spPr>
              <a:xfrm>
                <a:off x="4320" y="660"/>
                <a:ext cx="576" cy="3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1800" b="1" dirty="0">
                    <a:solidFill>
                      <a:srgbClr val="0000CC"/>
                    </a:solidFill>
                    <a:latin typeface="微软雅黑" panose="020B0503020204020204" charset="-122"/>
                  </a:rPr>
                  <a:t>H</a:t>
                </a:r>
                <a:r>
                  <a:rPr lang="en-US" altLang="zh-CN" sz="1800" b="1" baseline="-25000" dirty="0">
                    <a:solidFill>
                      <a:srgbClr val="0000CC"/>
                    </a:solidFill>
                    <a:latin typeface="微软雅黑" panose="020B0503020204020204" charset="-122"/>
                  </a:rPr>
                  <a:t>2</a:t>
                </a:r>
                <a:r>
                  <a:rPr lang="en-US" altLang="zh-CN" sz="1800" b="1" dirty="0">
                    <a:solidFill>
                      <a:srgbClr val="0000CC"/>
                    </a:solidFill>
                    <a:latin typeface="微软雅黑" panose="020B0503020204020204" charset="-122"/>
                  </a:rPr>
                  <a:t>O</a:t>
                </a:r>
              </a:p>
            </p:txBody>
          </p:sp>
          <p:sp>
            <p:nvSpPr>
              <p:cNvPr id="16" name="直接连接符 546826"/>
              <p:cNvSpPr/>
              <p:nvPr/>
            </p:nvSpPr>
            <p:spPr>
              <a:xfrm>
                <a:off x="864" y="2052"/>
                <a:ext cx="3360" cy="0"/>
              </a:xfrm>
              <a:prstGeom prst="line">
                <a:avLst/>
              </a:prstGeom>
              <a:ln w="25400" cap="flat" cmpd="sng">
                <a:solidFill>
                  <a:srgbClr val="008000"/>
                </a:solidFill>
                <a:prstDash val="solid"/>
                <a:headEnd type="none" w="med" len="med"/>
                <a:tailEnd type="triangle" w="med" len="med"/>
              </a:ln>
            </p:spPr>
          </p:sp>
          <p:sp>
            <p:nvSpPr>
              <p:cNvPr id="17" name="左弧形箭头 546827"/>
              <p:cNvSpPr/>
              <p:nvPr/>
            </p:nvSpPr>
            <p:spPr>
              <a:xfrm>
                <a:off x="4224" y="1860"/>
                <a:ext cx="240" cy="384"/>
              </a:xfrm>
              <a:prstGeom prst="curvedRightArrow">
                <a:avLst>
                  <a:gd name="adj1" fmla="val 12163"/>
                  <a:gd name="adj2" fmla="val 44163"/>
                  <a:gd name="adj3" fmla="val 33328"/>
                </a:avLst>
              </a:prstGeom>
              <a:solidFill>
                <a:srgbClr val="33CCCC"/>
              </a:solidFill>
              <a:ln w="9525" cap="flat" cmpd="sng">
                <a:solidFill>
                  <a:srgbClr val="0000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7200" dirty="0">
                  <a:solidFill>
                    <a:schemeClr val="accent2"/>
                  </a:solidFill>
                  <a:latin typeface="Times New Roman" panose="02020603050405020304" pitchFamily="18" charset="0"/>
                </a:endParaRPr>
              </a:p>
            </p:txBody>
          </p:sp>
          <p:sp>
            <p:nvSpPr>
              <p:cNvPr id="18" name="文本框 546828"/>
              <p:cNvSpPr txBox="1"/>
              <p:nvPr/>
            </p:nvSpPr>
            <p:spPr>
              <a:xfrm>
                <a:off x="4464" y="2052"/>
                <a:ext cx="576" cy="3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1800" b="1" dirty="0">
                    <a:solidFill>
                      <a:srgbClr val="0000CC"/>
                    </a:solidFill>
                    <a:latin typeface="微软雅黑" panose="020B0503020204020204" charset="-122"/>
                  </a:rPr>
                  <a:t>H</a:t>
                </a:r>
                <a:r>
                  <a:rPr lang="en-US" altLang="zh-CN" sz="1800" b="1" baseline="-25000" dirty="0">
                    <a:solidFill>
                      <a:srgbClr val="0000CC"/>
                    </a:solidFill>
                    <a:latin typeface="微软雅黑" panose="020B0503020204020204" charset="-122"/>
                  </a:rPr>
                  <a:t>2</a:t>
                </a:r>
                <a:r>
                  <a:rPr lang="en-US" altLang="zh-CN" sz="1800" b="1" dirty="0">
                    <a:solidFill>
                      <a:srgbClr val="0000CC"/>
                    </a:solidFill>
                    <a:latin typeface="微软雅黑" panose="020B0503020204020204" charset="-122"/>
                  </a:rPr>
                  <a:t>O</a:t>
                </a:r>
              </a:p>
            </p:txBody>
          </p:sp>
          <p:sp>
            <p:nvSpPr>
              <p:cNvPr id="19" name="文本框 546829"/>
              <p:cNvSpPr txBox="1"/>
              <p:nvPr/>
            </p:nvSpPr>
            <p:spPr>
              <a:xfrm>
                <a:off x="0" y="0"/>
                <a:ext cx="3216" cy="32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zh-CN" altLang="en-US" sz="2400" b="1" dirty="0">
                    <a:latin typeface="微软雅黑" panose="020B0503020204020204" charset="-122"/>
                    <a:ea typeface="微软雅黑" panose="020B0503020204020204" charset="-122"/>
                  </a:rPr>
                  <a:t>实测得NADH呼吸链： P/O～3</a:t>
                </a:r>
              </a:p>
            </p:txBody>
          </p:sp>
          <p:grpSp>
            <p:nvGrpSpPr>
              <p:cNvPr id="20" name="组合 546830"/>
              <p:cNvGrpSpPr/>
              <p:nvPr/>
            </p:nvGrpSpPr>
            <p:grpSpPr>
              <a:xfrm>
                <a:off x="528" y="660"/>
                <a:ext cx="1200" cy="532"/>
                <a:chOff x="0" y="0"/>
                <a:chExt cx="1200" cy="532"/>
              </a:xfrm>
            </p:grpSpPr>
            <p:sp>
              <p:nvSpPr>
                <p:cNvPr id="42" name="文本框 546831"/>
                <p:cNvSpPr txBox="1"/>
                <p:nvPr/>
              </p:nvSpPr>
              <p:spPr>
                <a:xfrm>
                  <a:off x="0" y="192"/>
                  <a:ext cx="1200" cy="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2000" b="1" dirty="0">
                      <a:solidFill>
                        <a:srgbClr val="0000CC"/>
                      </a:solidFill>
                      <a:latin typeface="微软雅黑" panose="020B0503020204020204" charset="-122"/>
                    </a:rPr>
                    <a:t>ADP+</a:t>
                  </a:r>
                  <a:r>
                    <a:rPr lang="en-US" altLang="zh-CN" sz="2000" b="1" dirty="0">
                      <a:solidFill>
                        <a:schemeClr val="tx2"/>
                      </a:solidFill>
                      <a:latin typeface="微软雅黑" panose="020B0503020204020204" charset="-122"/>
                    </a:rPr>
                    <a:t>Pi</a:t>
                  </a:r>
                  <a:r>
                    <a:rPr lang="en-US" altLang="zh-CN" sz="2000" b="1" dirty="0">
                      <a:solidFill>
                        <a:srgbClr val="0000CC"/>
                      </a:solidFill>
                      <a:latin typeface="微软雅黑" panose="020B0503020204020204" charset="-122"/>
                    </a:rPr>
                    <a:t>   ATP</a:t>
                  </a:r>
                </a:p>
              </p:txBody>
            </p:sp>
            <p:sp>
              <p:nvSpPr>
                <p:cNvPr id="43" name="上弧形箭头 546832"/>
                <p:cNvSpPr/>
                <p:nvPr/>
              </p:nvSpPr>
              <p:spPr>
                <a:xfrm>
                  <a:off x="336" y="0"/>
                  <a:ext cx="576" cy="288"/>
                </a:xfrm>
                <a:prstGeom prst="curvedDownArrow">
                  <a:avLst>
                    <a:gd name="adj1" fmla="val 10000"/>
                    <a:gd name="adj2" fmla="val 50000"/>
                    <a:gd name="adj3" fmla="val 33328"/>
                  </a:avLst>
                </a:prstGeom>
                <a:solidFill>
                  <a:schemeClr val="accent1"/>
                </a:solidFill>
                <a:ln w="9525" cap="flat" cmpd="sng">
                  <a:solidFill>
                    <a:srgbClr val="00808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7200" dirty="0">
                    <a:solidFill>
                      <a:schemeClr val="accent2"/>
                    </a:solidFill>
                    <a:latin typeface="Times New Roman" panose="02020603050405020304" pitchFamily="18" charset="0"/>
                  </a:endParaRPr>
                </a:p>
              </p:txBody>
            </p:sp>
          </p:grpSp>
          <p:sp>
            <p:nvSpPr>
              <p:cNvPr id="21" name="文本框 546833"/>
              <p:cNvSpPr txBox="1"/>
              <p:nvPr/>
            </p:nvSpPr>
            <p:spPr>
              <a:xfrm>
                <a:off x="48" y="1431"/>
                <a:ext cx="3216" cy="3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zh-CN" altLang="en-US" sz="2400" b="1" dirty="0">
                    <a:latin typeface="微软雅黑" panose="020B0503020204020204" charset="-122"/>
                    <a:ea typeface="微软雅黑" panose="020B0503020204020204" charset="-122"/>
                  </a:rPr>
                  <a:t>实测得FADH</a:t>
                </a:r>
                <a:r>
                  <a:rPr lang="zh-CN" altLang="en-US" sz="2400" b="1" baseline="-25000"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呼吸链： P/O～2</a:t>
                </a:r>
              </a:p>
            </p:txBody>
          </p:sp>
          <p:grpSp>
            <p:nvGrpSpPr>
              <p:cNvPr id="22" name="组合 546834"/>
              <p:cNvGrpSpPr/>
              <p:nvPr/>
            </p:nvGrpSpPr>
            <p:grpSpPr>
              <a:xfrm>
                <a:off x="4320" y="144"/>
                <a:ext cx="720" cy="488"/>
                <a:chOff x="0" y="0"/>
                <a:chExt cx="720" cy="488"/>
              </a:xfrm>
            </p:grpSpPr>
            <p:sp>
              <p:nvSpPr>
                <p:cNvPr id="37" name="文本框 546835"/>
                <p:cNvSpPr txBox="1"/>
                <p:nvPr/>
              </p:nvSpPr>
              <p:spPr>
                <a:xfrm>
                  <a:off x="144" y="0"/>
                  <a:ext cx="576" cy="3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1800" b="1" dirty="0">
                      <a:solidFill>
                        <a:srgbClr val="990000"/>
                      </a:solidFill>
                      <a:latin typeface="微软雅黑" panose="020B0503020204020204" charset="-122"/>
                    </a:rPr>
                    <a:t>O</a:t>
                  </a:r>
                  <a:r>
                    <a:rPr lang="en-US" altLang="zh-CN" sz="1800" b="1" baseline="-25000" dirty="0">
                      <a:solidFill>
                        <a:srgbClr val="990000"/>
                      </a:solidFill>
                      <a:latin typeface="微软雅黑" panose="020B0503020204020204" charset="-122"/>
                    </a:rPr>
                    <a:t>2</a:t>
                  </a:r>
                </a:p>
              </p:txBody>
            </p:sp>
            <p:grpSp>
              <p:nvGrpSpPr>
                <p:cNvPr id="38" name="组合 546836"/>
                <p:cNvGrpSpPr/>
                <p:nvPr/>
              </p:nvGrpSpPr>
              <p:grpSpPr>
                <a:xfrm>
                  <a:off x="0" y="0"/>
                  <a:ext cx="256" cy="488"/>
                  <a:chOff x="0" y="0"/>
                  <a:chExt cx="240" cy="457"/>
                </a:xfrm>
              </p:grpSpPr>
              <p:sp>
                <p:nvSpPr>
                  <p:cNvPr id="39" name="文本框 546837"/>
                  <p:cNvSpPr txBox="1"/>
                  <p:nvPr/>
                </p:nvSpPr>
                <p:spPr>
                  <a:xfrm>
                    <a:off x="0" y="0"/>
                    <a:ext cx="144" cy="26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en-US" altLang="zh-CN" sz="2000" b="1" dirty="0">
                        <a:solidFill>
                          <a:srgbClr val="990000"/>
                        </a:solidFill>
                      </a:rPr>
                      <a:t>1</a:t>
                    </a:r>
                  </a:p>
                </p:txBody>
              </p:sp>
              <p:sp>
                <p:nvSpPr>
                  <p:cNvPr id="40" name="直接连接符 546838"/>
                  <p:cNvSpPr/>
                  <p:nvPr/>
                </p:nvSpPr>
                <p:spPr>
                  <a:xfrm>
                    <a:off x="0" y="240"/>
                    <a:ext cx="144" cy="0"/>
                  </a:xfrm>
                  <a:prstGeom prst="line">
                    <a:avLst/>
                  </a:prstGeom>
                  <a:ln w="28575" cap="flat" cmpd="sng">
                    <a:solidFill>
                      <a:schemeClr val="tx1"/>
                    </a:solidFill>
                    <a:prstDash val="solid"/>
                    <a:headEnd type="none" w="med" len="med"/>
                    <a:tailEnd type="none" w="med" len="med"/>
                  </a:ln>
                </p:spPr>
              </p:sp>
              <p:sp>
                <p:nvSpPr>
                  <p:cNvPr id="41" name="文本框 546839"/>
                  <p:cNvSpPr txBox="1"/>
                  <p:nvPr/>
                </p:nvSpPr>
                <p:spPr>
                  <a:xfrm>
                    <a:off x="0" y="192"/>
                    <a:ext cx="240" cy="2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en-US" altLang="zh-CN" sz="2000" b="1" dirty="0">
                        <a:solidFill>
                          <a:srgbClr val="990000"/>
                        </a:solidFill>
                      </a:rPr>
                      <a:t>2</a:t>
                    </a:r>
                  </a:p>
                </p:txBody>
              </p:sp>
            </p:grpSp>
          </p:grpSp>
          <p:sp>
            <p:nvSpPr>
              <p:cNvPr id="23" name="文本框 546840"/>
              <p:cNvSpPr txBox="1"/>
              <p:nvPr/>
            </p:nvSpPr>
            <p:spPr>
              <a:xfrm>
                <a:off x="2256" y="384"/>
                <a:ext cx="384" cy="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en-US" altLang="zh-CN" sz="1800" b="1" dirty="0">
                    <a:solidFill>
                      <a:schemeClr val="hlink"/>
                    </a:solidFill>
                  </a:rPr>
                  <a:t>2e</a:t>
                </a:r>
                <a:r>
                  <a:rPr lang="en-US" altLang="zh-CN" sz="1800" b="1" baseline="30000" dirty="0">
                    <a:solidFill>
                      <a:schemeClr val="hlink"/>
                    </a:solidFill>
                  </a:rPr>
                  <a:t>-</a:t>
                </a:r>
              </a:p>
            </p:txBody>
          </p:sp>
          <p:sp>
            <p:nvSpPr>
              <p:cNvPr id="24" name="文本框 546841"/>
              <p:cNvSpPr txBox="1"/>
              <p:nvPr/>
            </p:nvSpPr>
            <p:spPr>
              <a:xfrm>
                <a:off x="2304" y="1776"/>
                <a:ext cx="384" cy="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en-US" altLang="zh-CN" sz="1800" b="1" dirty="0">
                    <a:solidFill>
                      <a:schemeClr val="hlink"/>
                    </a:solidFill>
                  </a:rPr>
                  <a:t>2e</a:t>
                </a:r>
                <a:r>
                  <a:rPr lang="en-US" altLang="zh-CN" sz="1800" b="1" baseline="30000" dirty="0">
                    <a:solidFill>
                      <a:schemeClr val="hlink"/>
                    </a:solidFill>
                  </a:rPr>
                  <a:t>-</a:t>
                </a:r>
              </a:p>
            </p:txBody>
          </p:sp>
          <p:grpSp>
            <p:nvGrpSpPr>
              <p:cNvPr id="25" name="组合 546842"/>
              <p:cNvGrpSpPr/>
              <p:nvPr/>
            </p:nvGrpSpPr>
            <p:grpSpPr>
              <a:xfrm>
                <a:off x="912" y="2048"/>
                <a:ext cx="1200" cy="532"/>
                <a:chOff x="0" y="0"/>
                <a:chExt cx="1200" cy="532"/>
              </a:xfrm>
            </p:grpSpPr>
            <p:sp>
              <p:nvSpPr>
                <p:cNvPr id="35" name="文本框 546843"/>
                <p:cNvSpPr txBox="1"/>
                <p:nvPr/>
              </p:nvSpPr>
              <p:spPr>
                <a:xfrm>
                  <a:off x="0" y="192"/>
                  <a:ext cx="1200" cy="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2000" b="1" dirty="0">
                      <a:solidFill>
                        <a:srgbClr val="0000CC"/>
                      </a:solidFill>
                      <a:latin typeface="微软雅黑" panose="020B0503020204020204" charset="-122"/>
                    </a:rPr>
                    <a:t>ADP+</a:t>
                  </a:r>
                  <a:r>
                    <a:rPr lang="en-US" altLang="zh-CN" sz="2000" b="1" dirty="0">
                      <a:solidFill>
                        <a:schemeClr val="tx2"/>
                      </a:solidFill>
                      <a:latin typeface="微软雅黑" panose="020B0503020204020204" charset="-122"/>
                    </a:rPr>
                    <a:t>Pi</a:t>
                  </a:r>
                  <a:r>
                    <a:rPr lang="en-US" altLang="zh-CN" sz="2000" b="1" dirty="0">
                      <a:solidFill>
                        <a:srgbClr val="0000CC"/>
                      </a:solidFill>
                      <a:latin typeface="微软雅黑" panose="020B0503020204020204" charset="-122"/>
                    </a:rPr>
                    <a:t>   ATP</a:t>
                  </a:r>
                </a:p>
              </p:txBody>
            </p:sp>
            <p:sp>
              <p:nvSpPr>
                <p:cNvPr id="36" name="上弧形箭头 546844"/>
                <p:cNvSpPr/>
                <p:nvPr/>
              </p:nvSpPr>
              <p:spPr>
                <a:xfrm>
                  <a:off x="336" y="0"/>
                  <a:ext cx="576" cy="288"/>
                </a:xfrm>
                <a:prstGeom prst="curvedDownArrow">
                  <a:avLst>
                    <a:gd name="adj1" fmla="val 10000"/>
                    <a:gd name="adj2" fmla="val 50000"/>
                    <a:gd name="adj3" fmla="val 33328"/>
                  </a:avLst>
                </a:prstGeom>
                <a:solidFill>
                  <a:schemeClr val="accent1"/>
                </a:solidFill>
                <a:ln w="9525" cap="flat" cmpd="sng">
                  <a:solidFill>
                    <a:srgbClr val="00808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7200" dirty="0">
                    <a:solidFill>
                      <a:schemeClr val="accent2"/>
                    </a:solidFill>
                    <a:latin typeface="Times New Roman" panose="02020603050405020304" pitchFamily="18" charset="0"/>
                  </a:endParaRPr>
                </a:p>
              </p:txBody>
            </p:sp>
          </p:grpSp>
          <p:grpSp>
            <p:nvGrpSpPr>
              <p:cNvPr id="26" name="组合 546845"/>
              <p:cNvGrpSpPr/>
              <p:nvPr/>
            </p:nvGrpSpPr>
            <p:grpSpPr>
              <a:xfrm>
                <a:off x="1728" y="656"/>
                <a:ext cx="1200" cy="532"/>
                <a:chOff x="0" y="0"/>
                <a:chExt cx="1200" cy="532"/>
              </a:xfrm>
            </p:grpSpPr>
            <p:sp>
              <p:nvSpPr>
                <p:cNvPr id="33" name="文本框 546846"/>
                <p:cNvSpPr txBox="1"/>
                <p:nvPr/>
              </p:nvSpPr>
              <p:spPr>
                <a:xfrm>
                  <a:off x="0" y="192"/>
                  <a:ext cx="1200" cy="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2000" b="1" dirty="0">
                      <a:solidFill>
                        <a:srgbClr val="0000CC"/>
                      </a:solidFill>
                      <a:latin typeface="微软雅黑" panose="020B0503020204020204" charset="-122"/>
                    </a:rPr>
                    <a:t>ADP+</a:t>
                  </a:r>
                  <a:r>
                    <a:rPr lang="en-US" altLang="zh-CN" sz="2000" b="1" dirty="0">
                      <a:solidFill>
                        <a:schemeClr val="tx2"/>
                      </a:solidFill>
                      <a:latin typeface="微软雅黑" panose="020B0503020204020204" charset="-122"/>
                    </a:rPr>
                    <a:t>Pi</a:t>
                  </a:r>
                  <a:r>
                    <a:rPr lang="en-US" altLang="zh-CN" sz="2000" b="1" dirty="0">
                      <a:solidFill>
                        <a:srgbClr val="0000CC"/>
                      </a:solidFill>
                      <a:latin typeface="微软雅黑" panose="020B0503020204020204" charset="-122"/>
                    </a:rPr>
                    <a:t>   ATP</a:t>
                  </a:r>
                </a:p>
              </p:txBody>
            </p:sp>
            <p:sp>
              <p:nvSpPr>
                <p:cNvPr id="34" name="上弧形箭头 546847"/>
                <p:cNvSpPr/>
                <p:nvPr/>
              </p:nvSpPr>
              <p:spPr>
                <a:xfrm>
                  <a:off x="336" y="0"/>
                  <a:ext cx="576" cy="288"/>
                </a:xfrm>
                <a:prstGeom prst="curvedDownArrow">
                  <a:avLst>
                    <a:gd name="adj1" fmla="val 10000"/>
                    <a:gd name="adj2" fmla="val 50000"/>
                    <a:gd name="adj3" fmla="val 33328"/>
                  </a:avLst>
                </a:prstGeom>
                <a:solidFill>
                  <a:schemeClr val="accent1"/>
                </a:solidFill>
                <a:ln w="9525" cap="flat" cmpd="sng">
                  <a:solidFill>
                    <a:srgbClr val="00808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7200" dirty="0">
                    <a:solidFill>
                      <a:schemeClr val="accent2"/>
                    </a:solidFill>
                    <a:latin typeface="Times New Roman" panose="02020603050405020304" pitchFamily="18" charset="0"/>
                  </a:endParaRPr>
                </a:p>
              </p:txBody>
            </p:sp>
          </p:grpSp>
          <p:grpSp>
            <p:nvGrpSpPr>
              <p:cNvPr id="27" name="组合 546848"/>
              <p:cNvGrpSpPr/>
              <p:nvPr/>
            </p:nvGrpSpPr>
            <p:grpSpPr>
              <a:xfrm>
                <a:off x="2928" y="656"/>
                <a:ext cx="1200" cy="532"/>
                <a:chOff x="0" y="0"/>
                <a:chExt cx="1200" cy="532"/>
              </a:xfrm>
            </p:grpSpPr>
            <p:sp>
              <p:nvSpPr>
                <p:cNvPr id="31" name="文本框 546849"/>
                <p:cNvSpPr txBox="1"/>
                <p:nvPr/>
              </p:nvSpPr>
              <p:spPr>
                <a:xfrm>
                  <a:off x="0" y="192"/>
                  <a:ext cx="1200" cy="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2000" b="1" dirty="0">
                      <a:solidFill>
                        <a:srgbClr val="0000CC"/>
                      </a:solidFill>
                      <a:latin typeface="微软雅黑" panose="020B0503020204020204" charset="-122"/>
                    </a:rPr>
                    <a:t>ADP+</a:t>
                  </a:r>
                  <a:r>
                    <a:rPr lang="en-US" altLang="zh-CN" sz="2000" b="1" dirty="0">
                      <a:solidFill>
                        <a:schemeClr val="tx2"/>
                      </a:solidFill>
                      <a:latin typeface="微软雅黑" panose="020B0503020204020204" charset="-122"/>
                    </a:rPr>
                    <a:t>Pi</a:t>
                  </a:r>
                  <a:r>
                    <a:rPr lang="en-US" altLang="zh-CN" sz="2000" b="1" dirty="0">
                      <a:solidFill>
                        <a:srgbClr val="0000CC"/>
                      </a:solidFill>
                      <a:latin typeface="微软雅黑" panose="020B0503020204020204" charset="-122"/>
                    </a:rPr>
                    <a:t>   ATP</a:t>
                  </a:r>
                </a:p>
              </p:txBody>
            </p:sp>
            <p:sp>
              <p:nvSpPr>
                <p:cNvPr id="32" name="上弧形箭头 546850"/>
                <p:cNvSpPr/>
                <p:nvPr/>
              </p:nvSpPr>
              <p:spPr>
                <a:xfrm>
                  <a:off x="336" y="0"/>
                  <a:ext cx="576" cy="288"/>
                </a:xfrm>
                <a:prstGeom prst="curvedDownArrow">
                  <a:avLst>
                    <a:gd name="adj1" fmla="val 10000"/>
                    <a:gd name="adj2" fmla="val 50000"/>
                    <a:gd name="adj3" fmla="val 33328"/>
                  </a:avLst>
                </a:prstGeom>
                <a:solidFill>
                  <a:schemeClr val="accent1"/>
                </a:solidFill>
                <a:ln w="9525" cap="flat" cmpd="sng">
                  <a:solidFill>
                    <a:srgbClr val="00808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7200" dirty="0">
                    <a:solidFill>
                      <a:schemeClr val="accent2"/>
                    </a:solidFill>
                    <a:latin typeface="Times New Roman" panose="02020603050405020304" pitchFamily="18" charset="0"/>
                  </a:endParaRPr>
                </a:p>
              </p:txBody>
            </p:sp>
          </p:grpSp>
          <p:grpSp>
            <p:nvGrpSpPr>
              <p:cNvPr id="28" name="组合 546851"/>
              <p:cNvGrpSpPr/>
              <p:nvPr/>
            </p:nvGrpSpPr>
            <p:grpSpPr>
              <a:xfrm>
                <a:off x="2352" y="2048"/>
                <a:ext cx="1200" cy="532"/>
                <a:chOff x="0" y="0"/>
                <a:chExt cx="1200" cy="532"/>
              </a:xfrm>
            </p:grpSpPr>
            <p:sp>
              <p:nvSpPr>
                <p:cNvPr id="29" name="文本框 546852"/>
                <p:cNvSpPr txBox="1"/>
                <p:nvPr/>
              </p:nvSpPr>
              <p:spPr>
                <a:xfrm>
                  <a:off x="0" y="192"/>
                  <a:ext cx="1200" cy="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2000" b="1" dirty="0">
                      <a:solidFill>
                        <a:srgbClr val="0000CC"/>
                      </a:solidFill>
                      <a:latin typeface="微软雅黑" panose="020B0503020204020204" charset="-122"/>
                    </a:rPr>
                    <a:t>ADP+</a:t>
                  </a:r>
                  <a:r>
                    <a:rPr lang="en-US" altLang="zh-CN" sz="2000" b="1" dirty="0">
                      <a:solidFill>
                        <a:schemeClr val="tx2"/>
                      </a:solidFill>
                      <a:latin typeface="微软雅黑" panose="020B0503020204020204" charset="-122"/>
                    </a:rPr>
                    <a:t>Pi</a:t>
                  </a:r>
                  <a:r>
                    <a:rPr lang="en-US" altLang="zh-CN" sz="2000" b="1" dirty="0">
                      <a:solidFill>
                        <a:srgbClr val="0000CC"/>
                      </a:solidFill>
                      <a:latin typeface="微软雅黑" panose="020B0503020204020204" charset="-122"/>
                    </a:rPr>
                    <a:t>   ATP</a:t>
                  </a:r>
                </a:p>
              </p:txBody>
            </p:sp>
            <p:sp>
              <p:nvSpPr>
                <p:cNvPr id="30" name="上弧形箭头 546853"/>
                <p:cNvSpPr/>
                <p:nvPr/>
              </p:nvSpPr>
              <p:spPr>
                <a:xfrm>
                  <a:off x="336" y="0"/>
                  <a:ext cx="576" cy="288"/>
                </a:xfrm>
                <a:prstGeom prst="curvedDownArrow">
                  <a:avLst>
                    <a:gd name="adj1" fmla="val 10000"/>
                    <a:gd name="adj2" fmla="val 50000"/>
                    <a:gd name="adj3" fmla="val 33328"/>
                  </a:avLst>
                </a:prstGeom>
                <a:solidFill>
                  <a:schemeClr val="accent1"/>
                </a:solidFill>
                <a:ln w="9525" cap="flat" cmpd="sng">
                  <a:solidFill>
                    <a:srgbClr val="00808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None/>
                  </a:pPr>
                  <a:endParaRPr lang="zh-CN" altLang="en-US" sz="7200" dirty="0">
                    <a:solidFill>
                      <a:schemeClr val="accent2"/>
                    </a:solidFill>
                    <a:latin typeface="Times New Roman" panose="02020603050405020304" pitchFamily="18" charset="0"/>
                  </a:endParaRPr>
                </a:p>
              </p:txBody>
            </p:sp>
          </p:grpSp>
        </p:grpSp>
        <p:grpSp>
          <p:nvGrpSpPr>
            <p:cNvPr id="5" name="组合 546854"/>
            <p:cNvGrpSpPr/>
            <p:nvPr/>
          </p:nvGrpSpPr>
          <p:grpSpPr>
            <a:xfrm>
              <a:off x="4435" y="1406"/>
              <a:ext cx="726" cy="455"/>
              <a:chOff x="-6" y="0"/>
              <a:chExt cx="726" cy="455"/>
            </a:xfrm>
          </p:grpSpPr>
          <p:sp>
            <p:nvSpPr>
              <p:cNvPr id="6" name="文本框 546855"/>
              <p:cNvSpPr txBox="1"/>
              <p:nvPr/>
            </p:nvSpPr>
            <p:spPr>
              <a:xfrm>
                <a:off x="144" y="0"/>
                <a:ext cx="576" cy="27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50000"/>
                  </a:spcBef>
                  <a:buNone/>
                </a:pPr>
                <a:r>
                  <a:rPr lang="en-US" altLang="zh-CN" sz="1800" b="1" dirty="0">
                    <a:solidFill>
                      <a:srgbClr val="990000"/>
                    </a:solidFill>
                    <a:latin typeface="微软雅黑" panose="020B0503020204020204" charset="-122"/>
                  </a:rPr>
                  <a:t>O</a:t>
                </a:r>
                <a:r>
                  <a:rPr lang="en-US" altLang="zh-CN" sz="1800" b="1" baseline="-25000" dirty="0">
                    <a:solidFill>
                      <a:srgbClr val="990000"/>
                    </a:solidFill>
                    <a:latin typeface="微软雅黑" panose="020B0503020204020204" charset="-122"/>
                  </a:rPr>
                  <a:t>2</a:t>
                </a:r>
              </a:p>
            </p:txBody>
          </p:sp>
          <p:grpSp>
            <p:nvGrpSpPr>
              <p:cNvPr id="7" name="组合 546856"/>
              <p:cNvGrpSpPr/>
              <p:nvPr/>
            </p:nvGrpSpPr>
            <p:grpSpPr>
              <a:xfrm>
                <a:off x="-6" y="0"/>
                <a:ext cx="257" cy="455"/>
                <a:chOff x="-6" y="0"/>
                <a:chExt cx="240" cy="426"/>
              </a:xfrm>
            </p:grpSpPr>
            <p:sp>
              <p:nvSpPr>
                <p:cNvPr id="8" name="文本框 546857"/>
                <p:cNvSpPr txBox="1"/>
                <p:nvPr/>
              </p:nvSpPr>
              <p:spPr>
                <a:xfrm>
                  <a:off x="0" y="0"/>
                  <a:ext cx="144" cy="23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en-US" altLang="zh-CN" sz="2000" b="1" dirty="0">
                      <a:solidFill>
                        <a:srgbClr val="990000"/>
                      </a:solidFill>
                    </a:rPr>
                    <a:t>1</a:t>
                  </a:r>
                </a:p>
              </p:txBody>
            </p:sp>
            <p:sp>
              <p:nvSpPr>
                <p:cNvPr id="9" name="直接连接符 546858"/>
                <p:cNvSpPr/>
                <p:nvPr/>
              </p:nvSpPr>
              <p:spPr>
                <a:xfrm>
                  <a:off x="0" y="240"/>
                  <a:ext cx="144" cy="0"/>
                </a:xfrm>
                <a:prstGeom prst="line">
                  <a:avLst/>
                </a:prstGeom>
                <a:ln w="28575" cap="flat" cmpd="sng">
                  <a:solidFill>
                    <a:schemeClr val="tx1"/>
                  </a:solidFill>
                  <a:prstDash val="solid"/>
                  <a:headEnd type="none" w="med" len="med"/>
                  <a:tailEnd type="none" w="med" len="med"/>
                </a:ln>
              </p:spPr>
            </p:sp>
            <p:sp>
              <p:nvSpPr>
                <p:cNvPr id="10" name="文本框 546859"/>
                <p:cNvSpPr txBox="1"/>
                <p:nvPr/>
              </p:nvSpPr>
              <p:spPr>
                <a:xfrm>
                  <a:off x="-6" y="192"/>
                  <a:ext cx="240" cy="23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en-US" altLang="zh-CN" sz="2000" b="1" dirty="0">
                      <a:solidFill>
                        <a:srgbClr val="990000"/>
                      </a:solidFill>
                    </a:rPr>
                    <a:t>2</a:t>
                  </a:r>
                </a:p>
              </p:txBody>
            </p:sp>
          </p:grpSp>
        </p:grpSp>
      </p:grpSp>
      <p:sp>
        <p:nvSpPr>
          <p:cNvPr id="44" name="文本框 43"/>
          <p:cNvSpPr txBox="1"/>
          <p:nvPr/>
        </p:nvSpPr>
        <p:spPr>
          <a:xfrm>
            <a:off x="6472997" y="2493213"/>
            <a:ext cx="8651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2400" b="1" dirty="0">
                <a:solidFill>
                  <a:srgbClr val="FF0000"/>
                </a:solidFill>
              </a:rPr>
              <a:t>2.5</a:t>
            </a:r>
          </a:p>
        </p:txBody>
      </p:sp>
      <p:sp>
        <p:nvSpPr>
          <p:cNvPr id="45" name="文本框 44"/>
          <p:cNvSpPr txBox="1"/>
          <p:nvPr/>
        </p:nvSpPr>
        <p:spPr>
          <a:xfrm>
            <a:off x="6566026" y="4498226"/>
            <a:ext cx="8651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2400" b="1" dirty="0">
                <a:solidFill>
                  <a:srgbClr val="FF0000"/>
                </a:solidFill>
              </a:rPr>
              <a:t>1.5</a:t>
            </a:r>
          </a:p>
        </p:txBody>
      </p:sp>
      <p:sp>
        <p:nvSpPr>
          <p:cNvPr id="47" name="文本框 46"/>
          <p:cNvSpPr txBox="1"/>
          <p:nvPr/>
        </p:nvSpPr>
        <p:spPr>
          <a:xfrm>
            <a:off x="2859255" y="-50883"/>
            <a:ext cx="4200189"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2、P/O比</a:t>
            </a:r>
            <a:endParaRPr dirty="0">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additive="base">
                                        <p:cTn id="13" dur="500" fill="hold"/>
                                        <p:tgtEl>
                                          <p:spTgt spid="45"/>
                                        </p:tgtEl>
                                        <p:attrNameLst>
                                          <p:attrName>ppt_x</p:attrName>
                                        </p:attrNameLst>
                                      </p:cBhvr>
                                      <p:tavLst>
                                        <p:tav tm="0">
                                          <p:val>
                                            <p:strVal val="#ppt_x"/>
                                          </p:val>
                                        </p:tav>
                                        <p:tav tm="100000">
                                          <p:val>
                                            <p:strVal val="#ppt_x"/>
                                          </p:val>
                                        </p:tav>
                                      </p:tavLst>
                                    </p:anim>
                                    <p:anim calcmode="lin" valueType="num">
                                      <p:cBhvr additive="base">
                                        <p:cTn id="1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cs typeface="微软雅黑" panose="020B0503020204020204" charset="-122"/>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微软雅黑" panose="020B0503020204020204" charset="-122"/>
              </a:endParaRPr>
            </a:p>
          </p:txBody>
        </p:sp>
        <p:sp>
          <p:nvSpPr>
            <p:cNvPr id="19" name="文本框 18"/>
            <p:cNvSpPr txBox="1"/>
            <p:nvPr/>
          </p:nvSpPr>
          <p:spPr>
            <a:xfrm>
              <a:off x="725229" y="304998"/>
              <a:ext cx="582817"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ea typeface="微软雅黑" panose="020B0503020204020204" charset="-122"/>
                  <a:cs typeface="微软雅黑" panose="020B0503020204020204" charset="-122"/>
                </a:rPr>
                <a:t>2</a:t>
              </a:r>
            </a:p>
          </p:txBody>
        </p:sp>
      </p:grpSp>
      <p:sp>
        <p:nvSpPr>
          <p:cNvPr id="20" name="TextBox 48"/>
          <p:cNvSpPr txBox="1"/>
          <p:nvPr/>
        </p:nvSpPr>
        <p:spPr>
          <a:xfrm>
            <a:off x="5136515" y="2807336"/>
            <a:ext cx="6250940" cy="807085"/>
          </a:xfrm>
          <a:prstGeom prst="rect">
            <a:avLst/>
          </a:prstGeom>
          <a:noFill/>
        </p:spPr>
        <p:txBody>
          <a:bodyPr wrap="square" lIns="68584" tIns="34291" rIns="68584" bIns="34291" rtlCol="0">
            <a:spAutoFit/>
          </a:bodyPr>
          <a:lstStyle/>
          <a:p>
            <a:r>
              <a:rPr lang="zh-CN" altLang="en-US" sz="4800" b="1">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氧化磷酸化</a:t>
            </a: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文本框 47"/>
          <p:cNvSpPr txBox="1"/>
          <p:nvPr/>
        </p:nvSpPr>
        <p:spPr>
          <a:xfrm>
            <a:off x="2855596" y="3717291"/>
            <a:ext cx="5292725" cy="250530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30000"/>
              </a:lnSpc>
              <a:spcBef>
                <a:spcPct val="0"/>
              </a:spcBef>
              <a:buNone/>
            </a:pPr>
            <a:r>
              <a:rPr lang="zh-CN" altLang="en-US" b="1" dirty="0">
                <a:solidFill>
                  <a:schemeClr val="tx2"/>
                </a:solidFill>
                <a:latin typeface="微软雅黑" panose="020B0503020204020204" charset="-122"/>
                <a:ea typeface="微软雅黑" panose="020B0503020204020204" charset="-122"/>
              </a:rPr>
              <a:t>           化学偶联假说</a:t>
            </a:r>
          </a:p>
          <a:p>
            <a:pPr marL="0" indent="0" eaLnBrk="1" hangingPunct="1">
              <a:lnSpc>
                <a:spcPct val="130000"/>
              </a:lnSpc>
              <a:spcBef>
                <a:spcPct val="0"/>
              </a:spcBef>
              <a:buNone/>
            </a:pPr>
            <a:r>
              <a:rPr lang="zh-CN" altLang="en-US" b="1" dirty="0">
                <a:solidFill>
                  <a:schemeClr val="tx2"/>
                </a:solidFill>
                <a:latin typeface="微软雅黑" panose="020B0503020204020204" charset="-122"/>
                <a:ea typeface="微软雅黑" panose="020B0503020204020204" charset="-122"/>
              </a:rPr>
              <a:t>           构象偶联假说</a:t>
            </a:r>
          </a:p>
          <a:p>
            <a:pPr marL="0" indent="0" eaLnBrk="1" hangingPunct="1">
              <a:lnSpc>
                <a:spcPct val="130000"/>
              </a:lnSpc>
              <a:spcBef>
                <a:spcPct val="0"/>
              </a:spcBef>
              <a:buNone/>
            </a:pPr>
            <a:r>
              <a:rPr lang="zh-CN" altLang="en-US" b="1" dirty="0">
                <a:solidFill>
                  <a:schemeClr val="tx2"/>
                </a:solidFill>
                <a:latin typeface="微软雅黑" panose="020B0503020204020204" charset="-122"/>
                <a:ea typeface="微软雅黑" panose="020B0503020204020204" charset="-122"/>
              </a:rPr>
              <a:t>           </a:t>
            </a:r>
            <a:r>
              <a:rPr lang="zh-CN" altLang="en-US" b="1" u="sng" dirty="0">
                <a:solidFill>
                  <a:schemeClr val="hlink"/>
                </a:solidFill>
                <a:latin typeface="微软雅黑" panose="020B0503020204020204" charset="-122"/>
                <a:ea typeface="微软雅黑" panose="020B0503020204020204" charset="-122"/>
              </a:rPr>
              <a:t>化学渗透假说</a:t>
            </a:r>
          </a:p>
          <a:p>
            <a:pPr marL="0" indent="0" eaLnBrk="1" hangingPunct="1">
              <a:spcBef>
                <a:spcPct val="0"/>
              </a:spcBef>
              <a:buNone/>
            </a:pPr>
            <a:endParaRPr lang="zh-CN" altLang="en-US" b="1" u="sng" dirty="0">
              <a:solidFill>
                <a:schemeClr val="hlink"/>
              </a:solidFill>
              <a:latin typeface="微软雅黑" panose="020B0503020204020204" charset="-122"/>
              <a:ea typeface="微软雅黑" panose="020B0503020204020204" charset="-122"/>
            </a:endParaRPr>
          </a:p>
        </p:txBody>
      </p:sp>
      <p:sp>
        <p:nvSpPr>
          <p:cNvPr id="49" name="云形标注 550915"/>
          <p:cNvSpPr/>
          <p:nvPr/>
        </p:nvSpPr>
        <p:spPr>
          <a:xfrm>
            <a:off x="5738494" y="1484630"/>
            <a:ext cx="4749993" cy="2133600"/>
          </a:xfrm>
          <a:prstGeom prst="cloudCallout">
            <a:avLst>
              <a:gd name="adj1" fmla="val -78204"/>
              <a:gd name="adj2" fmla="val -38838"/>
            </a:avLst>
          </a:prstGeom>
          <a:noFill/>
          <a:ln w="9525" cap="flat" cmpd="sng">
            <a:solidFill>
              <a:srgbClr val="80008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lnSpc>
                <a:spcPct val="130000"/>
              </a:lnSpc>
              <a:spcBef>
                <a:spcPct val="0"/>
              </a:spcBef>
              <a:buNone/>
            </a:pPr>
            <a:r>
              <a:rPr lang="zh-CN" altLang="en-US" b="1" dirty="0">
                <a:solidFill>
                  <a:schemeClr val="hlink"/>
                </a:solidFill>
                <a:latin typeface="微软雅黑" panose="020B0503020204020204" charset="-122"/>
                <a:ea typeface="微软雅黑" panose="020B0503020204020204" charset="-122"/>
              </a:rPr>
              <a:t>电子传递如何促使</a:t>
            </a:r>
            <a:r>
              <a:rPr lang="en-US" altLang="zh-CN" b="1" dirty="0">
                <a:solidFill>
                  <a:schemeClr val="hlink"/>
                </a:solidFill>
                <a:latin typeface="微软雅黑" panose="020B0503020204020204" charset="-122"/>
                <a:ea typeface="微软雅黑" panose="020B0503020204020204" charset="-122"/>
              </a:rPr>
              <a:t>ADP</a:t>
            </a:r>
            <a:r>
              <a:rPr lang="zh-CN" altLang="en-US" b="1" dirty="0">
                <a:solidFill>
                  <a:schemeClr val="hlink"/>
                </a:solidFill>
                <a:latin typeface="微软雅黑" panose="020B0503020204020204" charset="-122"/>
                <a:ea typeface="微软雅黑" panose="020B0503020204020204" charset="-122"/>
              </a:rPr>
              <a:t>磷酸化？</a:t>
            </a:r>
          </a:p>
        </p:txBody>
      </p:sp>
      <p:sp>
        <p:nvSpPr>
          <p:cNvPr id="51" name="文本框 50"/>
          <p:cNvSpPr txBox="1"/>
          <p:nvPr/>
        </p:nvSpPr>
        <p:spPr>
          <a:xfrm>
            <a:off x="1631504" y="-99392"/>
            <a:ext cx="6989414"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一、氧化磷酸化的机理</a:t>
            </a:r>
            <a:endParaRPr dirty="0">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linds(horizontal)">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checkerboard(across)">
                                      <p:cBhvr>
                                        <p:cTn id="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文本框 551937"/>
          <p:cNvSpPr txBox="1"/>
          <p:nvPr/>
        </p:nvSpPr>
        <p:spPr>
          <a:xfrm>
            <a:off x="1847850" y="1484314"/>
            <a:ext cx="5257800" cy="35299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30000"/>
              </a:lnSpc>
              <a:spcBef>
                <a:spcPct val="0"/>
              </a:spcBef>
              <a:buNone/>
            </a:pPr>
            <a:r>
              <a:rPr lang="zh-CN" altLang="en-US" sz="2800" dirty="0">
                <a:latin typeface="微软雅黑" panose="020B0503020204020204" charset="-122"/>
                <a:ea typeface="微软雅黑" panose="020B0503020204020204" charset="-122"/>
              </a:rPr>
              <a:t>     </a:t>
            </a:r>
          </a:p>
          <a:p>
            <a:pPr lvl="0" eaLnBrk="1" hangingPunct="1">
              <a:lnSpc>
                <a:spcPct val="130000"/>
              </a:lnSpc>
              <a:spcBef>
                <a:spcPct val="0"/>
              </a:spcBef>
              <a:buClr>
                <a:srgbClr val="333300"/>
              </a:buClr>
              <a:buFont typeface="Arial" panose="020B0604020202020204" pitchFamily="34" charset="0"/>
              <a:buChar char="•"/>
            </a:pPr>
            <a:r>
              <a:rPr lang="zh-CN" altLang="en-US" sz="2800" dirty="0">
                <a:latin typeface="微软雅黑" panose="020B0503020204020204" charset="-122"/>
                <a:ea typeface="微软雅黑" panose="020B0503020204020204" charset="-122"/>
              </a:rPr>
              <a:t>电子传递过程中将产生一种活泼的</a:t>
            </a:r>
            <a:r>
              <a:rPr lang="zh-CN" altLang="en-US" sz="2800" dirty="0">
                <a:solidFill>
                  <a:srgbClr val="FF0000"/>
                </a:solidFill>
                <a:latin typeface="微软雅黑" panose="020B0503020204020204" charset="-122"/>
                <a:ea typeface="微软雅黑" panose="020B0503020204020204" charset="-122"/>
              </a:rPr>
              <a:t>高能共价中间物</a:t>
            </a:r>
            <a:r>
              <a:rPr lang="zh-CN" altLang="en-US" sz="2800" dirty="0">
                <a:latin typeface="微软雅黑" panose="020B0503020204020204" charset="-122"/>
                <a:ea typeface="微软雅黑" panose="020B0503020204020204" charset="-122"/>
              </a:rPr>
              <a:t>，通过此中间物进一步氧化产生能量来驱动ATP的合成。 </a:t>
            </a:r>
          </a:p>
          <a:p>
            <a:pPr lvl="0" eaLnBrk="1" hangingPunct="1">
              <a:lnSpc>
                <a:spcPct val="130000"/>
              </a:lnSpc>
              <a:spcBef>
                <a:spcPct val="0"/>
              </a:spcBef>
              <a:buClr>
                <a:srgbClr val="333300"/>
              </a:buClr>
              <a:buFont typeface="Arial" panose="020B0604020202020204" pitchFamily="34" charset="0"/>
              <a:buChar char="•"/>
            </a:pPr>
            <a:r>
              <a:rPr lang="zh-CN" altLang="en-US" sz="2800" dirty="0">
                <a:latin typeface="Tahoma" panose="020B0604030504040204" pitchFamily="34" charset="0"/>
                <a:ea typeface="微软雅黑" panose="020B0503020204020204" charset="-122"/>
                <a:sym typeface="+mn-ea"/>
              </a:rPr>
              <a:t>依据：底物水平磷酸化。</a:t>
            </a:r>
            <a:r>
              <a:rPr lang="zh-CN" altLang="en-US" sz="2800" dirty="0">
                <a:latin typeface="微软雅黑" panose="020B0503020204020204" charset="-122"/>
                <a:ea typeface="微软雅黑" panose="020B0503020204020204" charset="-122"/>
              </a:rPr>
              <a:t>  </a:t>
            </a:r>
            <a:r>
              <a:rPr lang="zh-CN" altLang="en-US" b="1" dirty="0">
                <a:latin typeface="微软雅黑" panose="020B0503020204020204" charset="-122"/>
                <a:ea typeface="微软雅黑" panose="020B0503020204020204" charset="-122"/>
              </a:rPr>
              <a:t>  </a:t>
            </a:r>
            <a:endParaRPr lang="en-US" altLang="zh-CN" b="1" dirty="0">
              <a:latin typeface="微软雅黑" panose="020B0503020204020204" charset="-122"/>
              <a:ea typeface="微软雅黑" panose="020B0503020204020204" charset="-122"/>
            </a:endParaRPr>
          </a:p>
        </p:txBody>
      </p:sp>
      <p:grpSp>
        <p:nvGrpSpPr>
          <p:cNvPr id="2" name="组合 551939"/>
          <p:cNvGrpSpPr/>
          <p:nvPr/>
        </p:nvGrpSpPr>
        <p:grpSpPr>
          <a:xfrm>
            <a:off x="7464108" y="1556385"/>
            <a:ext cx="2798762" cy="3889376"/>
            <a:chOff x="164" y="96"/>
            <a:chExt cx="1763" cy="2450"/>
          </a:xfrm>
        </p:grpSpPr>
        <p:pic>
          <p:nvPicPr>
            <p:cNvPr id="3" name="图片 551940" descr="quarve"/>
            <p:cNvPicPr>
              <a:picLocks noChangeAspect="1"/>
            </p:cNvPicPr>
            <p:nvPr/>
          </p:nvPicPr>
          <p:blipFill>
            <a:blip r:embed="rId2">
              <a:lum bright="29999" contrast="18000"/>
            </a:blip>
            <a:srcRect l="7495" t="3576" r="12058" b="17315"/>
            <a:stretch>
              <a:fillRect/>
            </a:stretch>
          </p:blipFill>
          <p:spPr>
            <a:xfrm>
              <a:off x="164" y="96"/>
              <a:ext cx="1763" cy="2133"/>
            </a:xfrm>
            <a:prstGeom prst="rect">
              <a:avLst/>
            </a:prstGeom>
            <a:noFill/>
            <a:ln w="9525">
              <a:noFill/>
            </a:ln>
          </p:spPr>
        </p:pic>
        <p:sp>
          <p:nvSpPr>
            <p:cNvPr id="4" name="文本框 551941"/>
            <p:cNvSpPr txBox="1"/>
            <p:nvPr/>
          </p:nvSpPr>
          <p:spPr>
            <a:xfrm>
              <a:off x="175" y="2216"/>
              <a:ext cx="1646"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2800" dirty="0">
                  <a:latin typeface="Comic Sans MS" panose="030F0702030302020204" charset="0"/>
                  <a:cs typeface="Comic Sans MS" panose="030F0702030302020204" charset="0"/>
                </a:rPr>
                <a:t>Edward Slater</a:t>
              </a:r>
            </a:p>
          </p:txBody>
        </p:sp>
      </p:grpSp>
      <p:sp>
        <p:nvSpPr>
          <p:cNvPr id="7" name="文本框 6"/>
          <p:cNvSpPr txBox="1"/>
          <p:nvPr/>
        </p:nvSpPr>
        <p:spPr>
          <a:xfrm>
            <a:off x="1199456" y="-99392"/>
            <a:ext cx="8252580"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（一）化学偶联假说：1953</a:t>
            </a:r>
            <a:endParaRPr dirty="0">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1938"/>
                                        </p:tgtEl>
                                        <p:attrNameLst>
                                          <p:attrName>style.visibility</p:attrName>
                                        </p:attrNameLst>
                                      </p:cBhvr>
                                      <p:to>
                                        <p:strVal val="visible"/>
                                      </p:to>
                                    </p:set>
                                    <p:anim calcmode="lin" valueType="num">
                                      <p:cBhvr additive="base">
                                        <p:cTn id="7" dur="500" fill="hold"/>
                                        <p:tgtEl>
                                          <p:spTgt spid="551938"/>
                                        </p:tgtEl>
                                        <p:attrNameLst>
                                          <p:attrName>ppt_x</p:attrName>
                                        </p:attrNameLst>
                                      </p:cBhvr>
                                      <p:tavLst>
                                        <p:tav tm="0">
                                          <p:val>
                                            <p:strVal val="0-#ppt_w/2"/>
                                          </p:val>
                                        </p:tav>
                                        <p:tav tm="100000">
                                          <p:val>
                                            <p:strVal val="#ppt_x"/>
                                          </p:val>
                                        </p:tav>
                                      </p:tavLst>
                                    </p:anim>
                                    <p:anim calcmode="lin" valueType="num">
                                      <p:cBhvr additive="base">
                                        <p:cTn id="8" dur="500" fill="hold"/>
                                        <p:tgtEl>
                                          <p:spTgt spid="5519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487488" y="-99392"/>
            <a:ext cx="8100294"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（二）构象偶联假说：1964</a:t>
            </a:r>
          </a:p>
        </p:txBody>
      </p:sp>
      <p:sp>
        <p:nvSpPr>
          <p:cNvPr id="52226" name="文本框 555009"/>
          <p:cNvSpPr txBox="1"/>
          <p:nvPr/>
        </p:nvSpPr>
        <p:spPr>
          <a:xfrm>
            <a:off x="983432" y="1772816"/>
            <a:ext cx="6480720" cy="350493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50000"/>
              </a:lnSpc>
              <a:spcBef>
                <a:spcPts val="1200"/>
              </a:spcBef>
            </a:pPr>
            <a:r>
              <a:rPr lang="zh-CN" altLang="en-US" sz="2400" dirty="0">
                <a:latin typeface="微软雅黑" panose="020B0503020204020204" charset="-122"/>
                <a:ea typeface="微软雅黑" panose="020B0503020204020204" charset="-122"/>
                <a:cs typeface="微软雅黑" panose="020B0503020204020204" charset="-122"/>
              </a:rPr>
              <a:t>认为电子传递过程中，线粒体内膜上的蛋白质组分发生了</a:t>
            </a:r>
            <a:r>
              <a:rPr lang="zh-CN" altLang="en-US" sz="2400" dirty="0">
                <a:solidFill>
                  <a:srgbClr val="FF0000"/>
                </a:solidFill>
                <a:latin typeface="微软雅黑" panose="020B0503020204020204" charset="-122"/>
                <a:ea typeface="微软雅黑" panose="020B0503020204020204" charset="-122"/>
                <a:cs typeface="微软雅黑" panose="020B0503020204020204" charset="-122"/>
              </a:rPr>
              <a:t>构象</a:t>
            </a:r>
            <a:r>
              <a:rPr lang="zh-CN" altLang="en-US" sz="2400" dirty="0">
                <a:latin typeface="微软雅黑" panose="020B0503020204020204" charset="-122"/>
                <a:ea typeface="微软雅黑" panose="020B0503020204020204" charset="-122"/>
                <a:cs typeface="微软雅黑" panose="020B0503020204020204" charset="-122"/>
              </a:rPr>
              <a:t>变化，转变成一种</a:t>
            </a:r>
            <a:r>
              <a:rPr lang="zh-CN" altLang="en-US" sz="2400" dirty="0">
                <a:solidFill>
                  <a:srgbClr val="FF0000"/>
                </a:solidFill>
                <a:latin typeface="微软雅黑" panose="020B0503020204020204" charset="-122"/>
                <a:ea typeface="微软雅黑" panose="020B0503020204020204" charset="-122"/>
                <a:cs typeface="微软雅黑" panose="020B0503020204020204" charset="-122"/>
              </a:rPr>
              <a:t>高能形态</a:t>
            </a:r>
            <a:r>
              <a:rPr lang="zh-CN" altLang="en-US" sz="2400" dirty="0">
                <a:latin typeface="微软雅黑" panose="020B0503020204020204" charset="-122"/>
                <a:ea typeface="微软雅黑" panose="020B0503020204020204" charset="-122"/>
                <a:cs typeface="微软雅黑" panose="020B0503020204020204" charset="-122"/>
              </a:rPr>
              <a:t>。这种高能形态通过将能量转移到</a:t>
            </a:r>
            <a:r>
              <a:rPr lang="en-US" altLang="zh-CN" sz="2400" dirty="0">
                <a:latin typeface="微软雅黑" panose="020B0503020204020204" charset="-122"/>
                <a:ea typeface="微软雅黑" panose="020B0503020204020204" charset="-122"/>
                <a:cs typeface="微软雅黑" panose="020B0503020204020204" charset="-122"/>
              </a:rPr>
              <a:t>ADP</a:t>
            </a:r>
            <a:r>
              <a:rPr lang="zh-CN" altLang="en-US" sz="2400" dirty="0">
                <a:latin typeface="微软雅黑" panose="020B0503020204020204" charset="-122"/>
                <a:ea typeface="微软雅黑" panose="020B0503020204020204" charset="-122"/>
                <a:cs typeface="微软雅黑" panose="020B0503020204020204" charset="-122"/>
              </a:rPr>
              <a:t>合成</a:t>
            </a:r>
            <a:r>
              <a:rPr lang="en-US" altLang="zh-CN" sz="2400" dirty="0">
                <a:latin typeface="微软雅黑" panose="020B0503020204020204" charset="-122"/>
                <a:ea typeface="微软雅黑" panose="020B0503020204020204" charset="-122"/>
                <a:cs typeface="微软雅黑" panose="020B0503020204020204" charset="-122"/>
              </a:rPr>
              <a:t>ATP</a:t>
            </a:r>
            <a:r>
              <a:rPr lang="zh-CN" altLang="en-US" sz="2400" dirty="0">
                <a:latin typeface="微软雅黑" panose="020B0503020204020204" charset="-122"/>
                <a:ea typeface="微软雅黑" panose="020B0503020204020204" charset="-122"/>
                <a:cs typeface="微软雅黑" panose="020B0503020204020204" charset="-122"/>
              </a:rPr>
              <a:t>后，又得以恢复其原来的构象。  </a:t>
            </a:r>
          </a:p>
          <a:p>
            <a:pPr lvl="0" eaLnBrk="1" hangingPunct="1">
              <a:lnSpc>
                <a:spcPct val="150000"/>
              </a:lnSpc>
              <a:spcBef>
                <a:spcPts val="1200"/>
              </a:spcBef>
            </a:pPr>
            <a:r>
              <a:rPr lang="zh-CN" altLang="en-US" sz="2400" dirty="0">
                <a:latin typeface="微软雅黑" panose="020B0503020204020204" charset="-122"/>
                <a:ea typeface="微软雅黑" panose="020B0503020204020204" charset="-122"/>
                <a:cs typeface="微软雅黑" panose="020B0503020204020204" charset="-122"/>
              </a:rPr>
              <a:t>未找到有力证据，但</a:t>
            </a:r>
            <a:r>
              <a:rPr lang="en-US" altLang="zh-CN" sz="2400" dirty="0">
                <a:latin typeface="微软雅黑" panose="020B0503020204020204" charset="-122"/>
                <a:ea typeface="微软雅黑" panose="020B0503020204020204" charset="-122"/>
                <a:cs typeface="微软雅黑" panose="020B0503020204020204" charset="-122"/>
              </a:rPr>
              <a:t>ATP</a:t>
            </a:r>
            <a:r>
              <a:rPr lang="zh-CN" altLang="en-US" sz="2400" dirty="0">
                <a:latin typeface="微软雅黑" panose="020B0503020204020204" charset="-122"/>
                <a:ea typeface="微软雅黑" panose="020B0503020204020204" charset="-122"/>
                <a:cs typeface="微软雅黑" panose="020B0503020204020204" charset="-122"/>
              </a:rPr>
              <a:t>合成过程中，存在不同形式的构象偶联现象。</a:t>
            </a:r>
          </a:p>
        </p:txBody>
      </p:sp>
      <p:grpSp>
        <p:nvGrpSpPr>
          <p:cNvPr id="52228" name="组合 555011"/>
          <p:cNvGrpSpPr/>
          <p:nvPr/>
        </p:nvGrpSpPr>
        <p:grpSpPr>
          <a:xfrm>
            <a:off x="8184232" y="1628800"/>
            <a:ext cx="3240360" cy="3905043"/>
            <a:chOff x="0" y="0"/>
            <a:chExt cx="1670" cy="2338"/>
          </a:xfrm>
        </p:grpSpPr>
        <p:pic>
          <p:nvPicPr>
            <p:cNvPr id="52229" name="图片 555012"/>
            <p:cNvPicPr>
              <a:picLocks noChangeAspect="1"/>
            </p:cNvPicPr>
            <p:nvPr/>
          </p:nvPicPr>
          <p:blipFill>
            <a:blip r:embed="rId2"/>
            <a:stretch>
              <a:fillRect/>
            </a:stretch>
          </p:blipFill>
          <p:spPr>
            <a:xfrm>
              <a:off x="0" y="0"/>
              <a:ext cx="1670" cy="2084"/>
            </a:xfrm>
            <a:prstGeom prst="rect">
              <a:avLst/>
            </a:prstGeom>
            <a:noFill/>
            <a:ln w="9525">
              <a:noFill/>
            </a:ln>
          </p:spPr>
        </p:pic>
        <p:sp>
          <p:nvSpPr>
            <p:cNvPr id="52230" name="矩形 555013"/>
            <p:cNvSpPr/>
            <p:nvPr/>
          </p:nvSpPr>
          <p:spPr>
            <a:xfrm>
              <a:off x="362" y="2086"/>
              <a:ext cx="897" cy="25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None/>
              </a:pPr>
              <a:r>
                <a:rPr lang="en-US" altLang="zh-CN" sz="2000" dirty="0">
                  <a:latin typeface="Comic Sans MS" panose="030F0702030302020204" charset="0"/>
                  <a:cs typeface="Comic Sans MS" panose="030F0702030302020204" charset="0"/>
                </a:rPr>
                <a:t>Paul Boyer</a:t>
              </a:r>
            </a:p>
          </p:txBody>
        </p:sp>
      </p:gr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23560" y="4725035"/>
            <a:ext cx="1198880" cy="398780"/>
          </a:xfrm>
          <a:prstGeom prst="rect">
            <a:avLst/>
          </a:prstGeom>
          <a:noFill/>
        </p:spPr>
        <p:txBody>
          <a:bodyPr wrap="none" rtlCol="0">
            <a:spAutoFit/>
          </a:bodyPr>
          <a:lstStyle/>
          <a:p>
            <a:r>
              <a:rPr lang="zh-CN" altLang="en-US" sz="2000" b="1">
                <a:solidFill>
                  <a:srgbClr val="FF0000"/>
                </a:solidFill>
                <a:latin typeface="微软雅黑" panose="020B0503020204020204" charset="-122"/>
                <a:ea typeface="微软雅黑" panose="020B0503020204020204" charset="-122"/>
              </a:rPr>
              <a:t>线粒体内</a:t>
            </a:r>
          </a:p>
        </p:txBody>
      </p:sp>
      <p:pic>
        <p:nvPicPr>
          <p:cNvPr id="4" name="图片 3"/>
          <p:cNvPicPr>
            <a:picLocks noChangeAspect="1"/>
          </p:cNvPicPr>
          <p:nvPr/>
        </p:nvPicPr>
        <p:blipFill>
          <a:blip r:embed="rId2"/>
          <a:stretch>
            <a:fillRect/>
          </a:stretch>
        </p:blipFill>
        <p:spPr>
          <a:xfrm>
            <a:off x="1559560" y="2924810"/>
            <a:ext cx="6537960" cy="3649980"/>
          </a:xfrm>
          <a:prstGeom prst="rect">
            <a:avLst/>
          </a:prstGeom>
        </p:spPr>
      </p:pic>
      <p:sp>
        <p:nvSpPr>
          <p:cNvPr id="5" name="文本框 4"/>
          <p:cNvSpPr txBox="1"/>
          <p:nvPr/>
        </p:nvSpPr>
        <p:spPr>
          <a:xfrm>
            <a:off x="2135505" y="3068955"/>
            <a:ext cx="944880" cy="398780"/>
          </a:xfrm>
          <a:prstGeom prst="rect">
            <a:avLst/>
          </a:prstGeom>
          <a:noFill/>
        </p:spPr>
        <p:txBody>
          <a:bodyPr wrap="none" rtlCol="0">
            <a:spAutoFit/>
          </a:bodyPr>
          <a:lstStyle/>
          <a:p>
            <a:r>
              <a:rPr lang="zh-CN" altLang="en-US" sz="2000" b="1">
                <a:solidFill>
                  <a:srgbClr val="FF0000"/>
                </a:solidFill>
                <a:latin typeface="微软雅黑" panose="020B0503020204020204" charset="-122"/>
                <a:ea typeface="微软雅黑" panose="020B0503020204020204" charset="-122"/>
              </a:rPr>
              <a:t>细胞质</a:t>
            </a:r>
          </a:p>
        </p:txBody>
      </p:sp>
      <p:sp>
        <p:nvSpPr>
          <p:cNvPr id="6" name="文本框 5"/>
          <p:cNvSpPr txBox="1"/>
          <p:nvPr/>
        </p:nvSpPr>
        <p:spPr>
          <a:xfrm>
            <a:off x="4733925" y="6045835"/>
            <a:ext cx="1198880" cy="398780"/>
          </a:xfrm>
          <a:prstGeom prst="rect">
            <a:avLst/>
          </a:prstGeom>
          <a:noFill/>
        </p:spPr>
        <p:txBody>
          <a:bodyPr wrap="none" rtlCol="0">
            <a:spAutoFit/>
          </a:bodyPr>
          <a:lstStyle/>
          <a:p>
            <a:r>
              <a:rPr lang="zh-CN" altLang="en-US" sz="2000" b="1">
                <a:solidFill>
                  <a:srgbClr val="FF0000"/>
                </a:solidFill>
                <a:latin typeface="微软雅黑" panose="020B0503020204020204" charset="-122"/>
                <a:ea typeface="微软雅黑" panose="020B0503020204020204" charset="-122"/>
              </a:rPr>
              <a:t>线粒体内</a:t>
            </a:r>
          </a:p>
        </p:txBody>
      </p:sp>
      <p:sp>
        <p:nvSpPr>
          <p:cNvPr id="7" name="文本框 6"/>
          <p:cNvSpPr txBox="1"/>
          <p:nvPr/>
        </p:nvSpPr>
        <p:spPr>
          <a:xfrm>
            <a:off x="4944110" y="4004945"/>
            <a:ext cx="1452880" cy="398780"/>
          </a:xfrm>
          <a:prstGeom prst="rect">
            <a:avLst/>
          </a:prstGeom>
          <a:noFill/>
        </p:spPr>
        <p:txBody>
          <a:bodyPr wrap="none" rtlCol="0">
            <a:spAutoFit/>
          </a:bodyPr>
          <a:lstStyle/>
          <a:p>
            <a:r>
              <a:rPr lang="zh-CN" altLang="en-US" sz="2000" b="1">
                <a:solidFill>
                  <a:srgbClr val="FF0000"/>
                </a:solidFill>
                <a:latin typeface="微软雅黑" panose="020B0503020204020204" charset="-122"/>
                <a:ea typeface="微软雅黑" panose="020B0503020204020204" charset="-122"/>
              </a:rPr>
              <a:t>线粒体膜腔</a:t>
            </a:r>
          </a:p>
        </p:txBody>
      </p:sp>
      <p:sp>
        <p:nvSpPr>
          <p:cNvPr id="8" name="文本框 7"/>
          <p:cNvSpPr txBox="1"/>
          <p:nvPr/>
        </p:nvSpPr>
        <p:spPr>
          <a:xfrm>
            <a:off x="875420" y="925486"/>
            <a:ext cx="10441160" cy="179061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60000"/>
              </a:lnSpc>
              <a:spcBef>
                <a:spcPct val="0"/>
              </a:spcBef>
              <a:buClr>
                <a:srgbClr val="333300"/>
              </a:buClr>
              <a:buFont typeface="Arial" panose="020B0604020202020204" pitchFamily="34" charset="0"/>
              <a:buChar char="•"/>
            </a:pPr>
            <a:r>
              <a:rPr lang="zh-CN" altLang="en-US" sz="2400" dirty="0">
                <a:latin typeface="微软雅黑" panose="020B0503020204020204" charset="-122"/>
                <a:ea typeface="微软雅黑" panose="020B0503020204020204" charset="-122"/>
                <a:sym typeface="+mn-ea"/>
              </a:rPr>
              <a:t>化学渗透学说（</a:t>
            </a:r>
            <a:r>
              <a:rPr lang="zh-CN" altLang="en-US" sz="2400" dirty="0">
                <a:latin typeface="微软雅黑" panose="020B0503020204020204" charset="-122"/>
                <a:ea typeface="微软雅黑" panose="020B0503020204020204" charset="-122"/>
              </a:rPr>
              <a:t>chemiosmotic theory）：认为电子传递释放的自由能驱动</a:t>
            </a:r>
            <a:r>
              <a:rPr lang="en-US" altLang="zh-CN" sz="2400" dirty="0">
                <a:latin typeface="微软雅黑" panose="020B0503020204020204" charset="-122"/>
                <a:ea typeface="微软雅黑" panose="020B0503020204020204" charset="-122"/>
              </a:rPr>
              <a:t>H</a:t>
            </a:r>
            <a:r>
              <a:rPr lang="en-US" altLang="zh-CN" sz="2400" baseline="300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从线粒体基质跨过内膜进入膜间隙，从而形成跨线粒体内膜的</a:t>
            </a:r>
            <a:r>
              <a:rPr lang="en-US" altLang="zh-CN" sz="2400" dirty="0">
                <a:solidFill>
                  <a:srgbClr val="FF0000"/>
                </a:solidFill>
                <a:latin typeface="微软雅黑" panose="020B0503020204020204" charset="-122"/>
                <a:ea typeface="微软雅黑" panose="020B0503020204020204" charset="-122"/>
              </a:rPr>
              <a:t>H</a:t>
            </a:r>
            <a:r>
              <a:rPr lang="en-US" altLang="zh-CN" sz="2400" baseline="30000" dirty="0">
                <a:solidFill>
                  <a:srgbClr val="FF0000"/>
                </a:solidFill>
                <a:latin typeface="微软雅黑" panose="020B0503020204020204" charset="-122"/>
                <a:ea typeface="微软雅黑" panose="020B0503020204020204" charset="-122"/>
              </a:rPr>
              <a:t>+</a:t>
            </a:r>
            <a:r>
              <a:rPr lang="zh-CN" altLang="en-US" sz="2400" dirty="0">
                <a:solidFill>
                  <a:srgbClr val="FF0000"/>
                </a:solidFill>
                <a:latin typeface="微软雅黑" panose="020B0503020204020204" charset="-122"/>
                <a:ea typeface="微软雅黑" panose="020B0503020204020204" charset="-122"/>
              </a:rPr>
              <a:t>电化学梯度</a:t>
            </a:r>
            <a:r>
              <a:rPr lang="zh-CN" altLang="en-US" sz="2400" dirty="0">
                <a:latin typeface="微软雅黑" panose="020B0503020204020204" charset="-122"/>
                <a:ea typeface="微软雅黑" panose="020B0503020204020204" charset="-122"/>
              </a:rPr>
              <a:t>，这个梯度的电化学电势驱动</a:t>
            </a:r>
            <a:r>
              <a:rPr lang="en-US" altLang="zh-CN" sz="2400" dirty="0">
                <a:latin typeface="微软雅黑" panose="020B0503020204020204" charset="-122"/>
                <a:ea typeface="微软雅黑" panose="020B0503020204020204" charset="-122"/>
              </a:rPr>
              <a:t>ATP</a:t>
            </a:r>
            <a:r>
              <a:rPr lang="zh-CN" altLang="en-US" sz="2400" dirty="0">
                <a:latin typeface="微软雅黑" panose="020B0503020204020204" charset="-122"/>
                <a:ea typeface="微软雅黑" panose="020B0503020204020204" charset="-122"/>
              </a:rPr>
              <a:t>的合成。</a:t>
            </a:r>
          </a:p>
        </p:txBody>
      </p:sp>
      <p:pic>
        <p:nvPicPr>
          <p:cNvPr id="9" name="图片 8"/>
          <p:cNvPicPr>
            <a:picLocks noChangeAspect="1"/>
          </p:cNvPicPr>
          <p:nvPr/>
        </p:nvPicPr>
        <p:blipFill>
          <a:blip r:embed="rId3"/>
          <a:stretch>
            <a:fillRect/>
          </a:stretch>
        </p:blipFill>
        <p:spPr>
          <a:xfrm>
            <a:off x="8183880" y="2996565"/>
            <a:ext cx="2080260" cy="2194560"/>
          </a:xfrm>
          <a:prstGeom prst="rect">
            <a:avLst/>
          </a:prstGeom>
        </p:spPr>
      </p:pic>
      <p:sp>
        <p:nvSpPr>
          <p:cNvPr id="10" name="文本框 9"/>
          <p:cNvSpPr txBox="1"/>
          <p:nvPr/>
        </p:nvSpPr>
        <p:spPr>
          <a:xfrm>
            <a:off x="8259446" y="5300980"/>
            <a:ext cx="2241319" cy="707886"/>
          </a:xfrm>
          <a:prstGeom prst="rect">
            <a:avLst/>
          </a:prstGeom>
          <a:noFill/>
        </p:spPr>
        <p:txBody>
          <a:bodyPr wrap="none" rtlCol="0" anchor="t">
            <a:spAutoFit/>
          </a:bodyPr>
          <a:lstStyle/>
          <a:p>
            <a:pPr eaLnBrk="1" hangingPunct="1"/>
            <a:r>
              <a:rPr lang="en-US" altLang="zh-CN" sz="2000" dirty="0">
                <a:solidFill>
                  <a:schemeClr val="tx1"/>
                </a:solidFill>
                <a:latin typeface="Comic Sans MS" panose="030F0702030302020204" charset="0"/>
                <a:cs typeface="Comic Sans MS" panose="030F0702030302020204" charset="0"/>
                <a:sym typeface="+mn-ea"/>
              </a:rPr>
              <a:t>Peter Mitchell</a:t>
            </a:r>
          </a:p>
          <a:p>
            <a:pPr eaLnBrk="1" hangingPunct="1"/>
            <a:r>
              <a:rPr lang="en-US" altLang="zh-CN" sz="2000" dirty="0">
                <a:solidFill>
                  <a:schemeClr val="tx1"/>
                </a:solidFill>
                <a:latin typeface="Comic Sans MS" panose="030F0702030302020204" charset="0"/>
                <a:cs typeface="Comic Sans MS" panose="030F0702030302020204" charset="0"/>
                <a:sym typeface="+mn-ea"/>
              </a:rPr>
              <a:t>1978 Nobel prize</a:t>
            </a:r>
          </a:p>
        </p:txBody>
      </p:sp>
      <p:sp>
        <p:nvSpPr>
          <p:cNvPr id="11" name="文本框 10"/>
          <p:cNvSpPr txBox="1"/>
          <p:nvPr/>
        </p:nvSpPr>
        <p:spPr>
          <a:xfrm>
            <a:off x="1271464" y="-118381"/>
            <a:ext cx="8252580"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（三）化学渗透学说：1961</a:t>
            </a:r>
            <a:endParaRPr dirty="0">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415480" y="-99392"/>
            <a:ext cx="7085594"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化学渗透假说的要点</a:t>
            </a:r>
          </a:p>
        </p:txBody>
      </p:sp>
      <p:sp>
        <p:nvSpPr>
          <p:cNvPr id="55298" name="文本占位符 565249"/>
          <p:cNvSpPr>
            <a:spLocks noGrp="1"/>
          </p:cNvSpPr>
          <p:nvPr>
            <p:ph idx="4294967295"/>
          </p:nvPr>
        </p:nvSpPr>
        <p:spPr>
          <a:xfrm>
            <a:off x="623392" y="1412776"/>
            <a:ext cx="10776520" cy="5616575"/>
          </a:xfrm>
        </p:spPr>
        <p:txBody>
          <a:bodyPr vert="horz" wrap="square" lIns="91440" tIns="45720" rIns="91440" bIns="45720" anchor="t" anchorCtr="0"/>
          <a:lstStyle/>
          <a:p>
            <a:pPr algn="just">
              <a:lnSpc>
                <a:spcPct val="150000"/>
              </a:lnSpc>
              <a:buClrTx/>
              <a:buSzTx/>
              <a:buFontTx/>
              <a:buChar char="•"/>
            </a:pPr>
            <a:r>
              <a:rPr lang="zh-CN" altLang="en-US" sz="2400" dirty="0">
                <a:latin typeface="微软雅黑" panose="020B0503020204020204" charset="-122"/>
                <a:ea typeface="微软雅黑" panose="020B0503020204020204" charset="-122"/>
              </a:rPr>
              <a:t>线粒体内膜的电子传递链是一个</a:t>
            </a:r>
            <a:r>
              <a:rPr lang="zh-CN" altLang="en-US" sz="2400" u="sng" dirty="0">
                <a:latin typeface="微软雅黑" panose="020B0503020204020204" charset="-122"/>
                <a:ea typeface="微软雅黑" panose="020B0503020204020204" charset="-122"/>
              </a:rPr>
              <a:t>质子泵</a:t>
            </a:r>
            <a:r>
              <a:rPr lang="zh-CN" altLang="en-US" sz="2400" dirty="0">
                <a:latin typeface="微软雅黑" panose="020B0503020204020204" charset="-122"/>
                <a:ea typeface="微软雅黑" panose="020B0503020204020204" charset="-122"/>
              </a:rPr>
              <a:t>；</a:t>
            </a:r>
          </a:p>
          <a:p>
            <a:pPr algn="just">
              <a:lnSpc>
                <a:spcPct val="150000"/>
              </a:lnSpc>
            </a:pPr>
            <a:r>
              <a:rPr lang="zh-CN" altLang="en-US" sz="2400" dirty="0">
                <a:latin typeface="微软雅黑" panose="020B0503020204020204" charset="-122"/>
                <a:ea typeface="微软雅黑" panose="020B0503020204020204" charset="-122"/>
              </a:rPr>
              <a:t>在电子传递链中，电子由高能状态传递到低能状态时释放出来的能量，用于驱动膜内侧的</a:t>
            </a:r>
            <a:r>
              <a:rPr lang="en-US" altLang="zh-CN" sz="2400" dirty="0">
                <a:latin typeface="微软雅黑" panose="020B0503020204020204" charset="-122"/>
                <a:ea typeface="微软雅黑" panose="020B0503020204020204" charset="-122"/>
              </a:rPr>
              <a:t>H</a:t>
            </a:r>
            <a:r>
              <a:rPr lang="en-US" altLang="zh-CN" sz="2400" baseline="300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迁移到膜外侧，线粒体内膜对</a:t>
            </a:r>
            <a:r>
              <a:rPr lang="en-US" altLang="zh-CN" sz="2400" dirty="0">
                <a:latin typeface="微软雅黑" panose="020B0503020204020204" charset="-122"/>
                <a:ea typeface="微软雅黑" panose="020B0503020204020204" charset="-122"/>
              </a:rPr>
              <a:t>H</a:t>
            </a:r>
            <a:r>
              <a:rPr lang="en-US" altLang="zh-CN" sz="2400" baseline="300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是不通透的，这样，在膜的内侧与外侧就产生了跨膜</a:t>
            </a:r>
            <a:r>
              <a:rPr lang="zh-CN" altLang="en-US" sz="2400" u="sng" dirty="0">
                <a:solidFill>
                  <a:srgbClr val="FF0000"/>
                </a:solidFill>
                <a:latin typeface="微软雅黑" panose="020B0503020204020204" charset="-122"/>
                <a:ea typeface="微软雅黑" panose="020B0503020204020204" charset="-122"/>
              </a:rPr>
              <a:t>质子梯度 </a:t>
            </a:r>
            <a:r>
              <a:rPr lang="en-US" altLang="zh-CN" sz="2400" u="sng" dirty="0">
                <a:solidFill>
                  <a:srgbClr val="FF0000"/>
                </a:solidFill>
                <a:latin typeface="微软雅黑" panose="020B0503020204020204" charset="-122"/>
                <a:ea typeface="微软雅黑" panose="020B0503020204020204" charset="-122"/>
              </a:rPr>
              <a:t>(</a:t>
            </a:r>
            <a:r>
              <a:rPr lang="en-US" altLang="zh-CN" sz="2400" u="sng" dirty="0">
                <a:solidFill>
                  <a:srgbClr val="FF0000"/>
                </a:solidFill>
                <a:latin typeface="微软雅黑" panose="020B0503020204020204" charset="-122"/>
                <a:ea typeface="微软雅黑" panose="020B0503020204020204" charset="-122"/>
                <a:sym typeface="Symbol" panose="05050102010706020507" pitchFamily="18" charset="2"/>
              </a:rPr>
              <a:t></a:t>
            </a:r>
            <a:r>
              <a:rPr lang="en-US" altLang="zh-CN" sz="2400" u="sng" dirty="0">
                <a:solidFill>
                  <a:srgbClr val="FF0000"/>
                </a:solidFill>
                <a:latin typeface="微软雅黑" panose="020B0503020204020204" charset="-122"/>
                <a:ea typeface="微软雅黑" panose="020B0503020204020204" charset="-122"/>
              </a:rPr>
              <a:t>pH) </a:t>
            </a:r>
            <a:r>
              <a:rPr lang="zh-CN" altLang="en-US" sz="2400" u="sng" dirty="0">
                <a:solidFill>
                  <a:srgbClr val="FF0000"/>
                </a:solidFill>
                <a:latin typeface="微软雅黑" panose="020B0503020204020204" charset="-122"/>
                <a:ea typeface="微软雅黑" panose="020B0503020204020204" charset="-122"/>
              </a:rPr>
              <a:t>和电位梯度（</a:t>
            </a:r>
            <a:r>
              <a:rPr lang="zh-CN" altLang="en-US" sz="2400" u="sng" dirty="0">
                <a:solidFill>
                  <a:srgbClr val="FF0000"/>
                </a:solidFill>
                <a:latin typeface="微软雅黑" panose="020B0503020204020204" charset="-122"/>
                <a:ea typeface="微软雅黑" panose="020B0503020204020204" charset="-122"/>
                <a:sym typeface="Symbol" panose="05050102010706020507" pitchFamily="18" charset="2"/>
              </a:rPr>
              <a:t></a:t>
            </a:r>
            <a:r>
              <a:rPr lang="zh-CN" altLang="en-US" sz="2400" dirty="0">
                <a:solidFill>
                  <a:srgbClr val="FF0000"/>
                </a:solidFill>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a:t>
            </a:r>
          </a:p>
          <a:p>
            <a:pPr algn="just">
              <a:lnSpc>
                <a:spcPct val="150000"/>
              </a:lnSpc>
            </a:pPr>
            <a:r>
              <a:rPr lang="zh-CN" altLang="en-US" sz="2400" dirty="0">
                <a:latin typeface="微软雅黑" panose="020B0503020204020204" charset="-122"/>
                <a:ea typeface="微软雅黑" panose="020B0503020204020204" charset="-122"/>
              </a:rPr>
              <a:t>在膜内外势能差（pH 和</a:t>
            </a:r>
            <a:r>
              <a:rPr lang="zh-CN" altLang="en-US" sz="2400" dirty="0">
                <a:latin typeface="微软雅黑" panose="020B0503020204020204" charset="-122"/>
                <a:ea typeface="微软雅黑" panose="020B0503020204020204" charset="-122"/>
                <a:sym typeface="Symbol" panose="05050102010706020507" pitchFamily="18" charset="2"/>
              </a:rPr>
              <a:t></a:t>
            </a:r>
            <a:r>
              <a:rPr lang="zh-CN" altLang="en-US" sz="2400" dirty="0">
                <a:latin typeface="微软雅黑" panose="020B0503020204020204" charset="-122"/>
                <a:ea typeface="微软雅黑" panose="020B0503020204020204" charset="-122"/>
              </a:rPr>
              <a:t>）的驱动下，膜外高能质子沿着一个特殊通道（ATP酶的组成部分），跨膜回到膜内侧。</a:t>
            </a:r>
            <a:r>
              <a:rPr lang="zh-CN" altLang="en-US" sz="2400" u="sng" dirty="0">
                <a:solidFill>
                  <a:srgbClr val="FF0000"/>
                </a:solidFill>
                <a:latin typeface="微软雅黑" panose="020B0503020204020204" charset="-122"/>
                <a:ea typeface="微软雅黑" panose="020B0503020204020204" charset="-122"/>
              </a:rPr>
              <a:t>质子跨膜过程中释放的能量，直接驱动ADP和磷酸合成ATP</a:t>
            </a:r>
            <a:r>
              <a:rPr lang="zh-CN" altLang="en-US" sz="2400" dirty="0">
                <a:latin typeface="微软雅黑" panose="020B0503020204020204" charset="-122"/>
                <a:ea typeface="微软雅黑" panose="020B0503020204020204" charset="-122"/>
              </a:rPr>
              <a:t>。</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24C18C7-E4E5-50ED-21D9-75E474F45012}"/>
              </a:ext>
            </a:extLst>
          </p:cNvPr>
          <p:cNvSpPr>
            <a:spLocks noGrp="1" noChangeArrowheads="1"/>
          </p:cNvSpPr>
          <p:nvPr>
            <p:ph type="title" idx="4294967295"/>
          </p:nvPr>
        </p:nvSpPr>
        <p:spPr>
          <a:xfrm>
            <a:off x="2669421" y="0"/>
            <a:ext cx="6853158" cy="906915"/>
          </a:xfrm>
          <a:noFill/>
        </p:spPr>
        <p:txBody>
          <a:bodyPr wrap="none" rtlCol="0" anchor="t">
            <a:spAutoFit/>
          </a:bodyPr>
          <a:lstStyle/>
          <a:p>
            <a:pPr eaLnBrk="0" fontAlgn="base" hangingPunct="0">
              <a:lnSpc>
                <a:spcPct val="150000"/>
              </a:lnSpc>
              <a:spcAft>
                <a:spcPct val="0"/>
              </a:spcAft>
            </a:pPr>
            <a:r>
              <a:rPr lang="zh-CN" altLang="en-US" sz="4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支持化学渗透学说的主要证据</a:t>
            </a:r>
          </a:p>
        </p:txBody>
      </p:sp>
      <p:sp>
        <p:nvSpPr>
          <p:cNvPr id="37891" name="Rectangle 3">
            <a:extLst>
              <a:ext uri="{FF2B5EF4-FFF2-40B4-BE49-F238E27FC236}">
                <a16:creationId xmlns:a16="http://schemas.microsoft.com/office/drawing/2014/main" id="{F17FF6DE-CB0F-B909-DC17-AF988D45A36C}"/>
              </a:ext>
            </a:extLst>
          </p:cNvPr>
          <p:cNvSpPr>
            <a:spLocks noGrp="1" noChangeArrowheads="1"/>
          </p:cNvSpPr>
          <p:nvPr>
            <p:ph type="body" idx="4294967295"/>
          </p:nvPr>
        </p:nvSpPr>
        <p:spPr>
          <a:xfrm>
            <a:off x="695400" y="1340768"/>
            <a:ext cx="10801200" cy="5256584"/>
          </a:xfrm>
        </p:spPr>
        <p:txBody>
          <a:bodyPr>
            <a:normAutofit/>
          </a:bodyPr>
          <a:lstStyle/>
          <a:p>
            <a:pPr marL="609600" indent="-609600">
              <a:lnSpc>
                <a:spcPct val="80000"/>
              </a:lnSpc>
              <a:buClr>
                <a:srgbClr val="FF0000"/>
              </a:buClr>
              <a:buFontTx/>
              <a:buAutoNum type="arabicPeriod"/>
            </a:pPr>
            <a:r>
              <a:rPr lang="zh-CN" altLang="en-US" sz="3200" dirty="0">
                <a:ea typeface="楷体" panose="02010609060101010101" pitchFamily="49" charset="-122"/>
              </a:rPr>
              <a:t>氧化磷酸化的进行需要完整的线粒体内膜的存在。</a:t>
            </a:r>
            <a:endParaRPr lang="en-US" altLang="zh-CN" sz="3200" dirty="0">
              <a:ea typeface="楷体" panose="02010609060101010101" pitchFamily="49" charset="-122"/>
              <a:cs typeface="Times New Roman" panose="02020603050405020304" pitchFamily="18" charset="0"/>
            </a:endParaRPr>
          </a:p>
          <a:p>
            <a:pPr marL="609600" indent="-609600">
              <a:lnSpc>
                <a:spcPct val="80000"/>
              </a:lnSpc>
              <a:buClr>
                <a:srgbClr val="FF0000"/>
              </a:buClr>
              <a:buFontTx/>
              <a:buAutoNum type="arabicPeriod"/>
            </a:pPr>
            <a:r>
              <a:rPr lang="zh-CN" altLang="en-US" sz="3200" dirty="0">
                <a:ea typeface="楷体" panose="02010609060101010101" pitchFamily="49" charset="-122"/>
              </a:rPr>
              <a:t>使用精确的</a:t>
            </a:r>
            <a:r>
              <a:rPr lang="en-US" altLang="zh-CN" sz="3200" dirty="0">
                <a:ea typeface="楷体" panose="02010609060101010101" pitchFamily="49" charset="-122"/>
              </a:rPr>
              <a:t>pH</a:t>
            </a:r>
            <a:r>
              <a:rPr lang="zh-CN" altLang="en-US" sz="3200" dirty="0">
                <a:ea typeface="楷体" panose="02010609060101010101" pitchFamily="49" charset="-122"/>
              </a:rPr>
              <a:t>计可以检测到跨线粒体内膜的质子梯度存在。据测定，一个呼吸活跃的线粒体的膜间隙的</a:t>
            </a:r>
            <a:r>
              <a:rPr lang="en-US" altLang="zh-CN" sz="3200" dirty="0">
                <a:ea typeface="楷体" panose="02010609060101010101" pitchFamily="49" charset="-122"/>
              </a:rPr>
              <a:t>pH</a:t>
            </a:r>
            <a:r>
              <a:rPr lang="zh-CN" altLang="en-US" sz="3200" dirty="0">
                <a:ea typeface="楷体" panose="02010609060101010101" pitchFamily="49" charset="-122"/>
              </a:rPr>
              <a:t>要比其基质的</a:t>
            </a:r>
            <a:r>
              <a:rPr lang="en-US" altLang="zh-CN" sz="3200" dirty="0">
                <a:ea typeface="楷体" panose="02010609060101010101" pitchFamily="49" charset="-122"/>
              </a:rPr>
              <a:t>pH</a:t>
            </a:r>
            <a:r>
              <a:rPr lang="zh-CN" altLang="en-US" sz="3200" dirty="0">
                <a:ea typeface="楷体" panose="02010609060101010101" pitchFamily="49" charset="-122"/>
              </a:rPr>
              <a:t>低</a:t>
            </a:r>
            <a:r>
              <a:rPr lang="en-US" altLang="zh-CN" sz="3200" dirty="0">
                <a:ea typeface="楷体" panose="02010609060101010101" pitchFamily="49" charset="-122"/>
              </a:rPr>
              <a:t>0.75</a:t>
            </a:r>
            <a:r>
              <a:rPr lang="zh-CN" altLang="en-US" sz="3200" dirty="0">
                <a:ea typeface="楷体" panose="02010609060101010101" pitchFamily="49" charset="-122"/>
              </a:rPr>
              <a:t>个单位。</a:t>
            </a:r>
            <a:endParaRPr lang="en-US" altLang="zh-CN" sz="3200" dirty="0">
              <a:ea typeface="楷体" panose="02010609060101010101" pitchFamily="49" charset="-122"/>
            </a:endParaRPr>
          </a:p>
          <a:p>
            <a:pPr marL="609600" indent="-609600">
              <a:lnSpc>
                <a:spcPct val="80000"/>
              </a:lnSpc>
              <a:buClr>
                <a:srgbClr val="FF0000"/>
              </a:buClr>
              <a:buFontTx/>
              <a:buAutoNum type="arabicPeriod"/>
            </a:pPr>
            <a:r>
              <a:rPr lang="zh-CN" altLang="en-US" sz="3200" dirty="0">
                <a:ea typeface="楷体" panose="02010609060101010101" pitchFamily="49" charset="-122"/>
              </a:rPr>
              <a:t>破坏质子驱动力的化学试剂能够抑制</a:t>
            </a:r>
            <a:r>
              <a:rPr lang="en-US" altLang="zh-CN" sz="3200" dirty="0">
                <a:ea typeface="楷体" panose="02010609060101010101" pitchFamily="49" charset="-122"/>
              </a:rPr>
              <a:t>ATP</a:t>
            </a:r>
            <a:r>
              <a:rPr lang="zh-CN" altLang="en-US" sz="3200" dirty="0">
                <a:ea typeface="楷体" panose="02010609060101010101" pitchFamily="49" charset="-122"/>
              </a:rPr>
              <a:t>的合成。</a:t>
            </a:r>
            <a:endParaRPr lang="en-US" altLang="zh-CN" sz="3200" dirty="0">
              <a:ea typeface="楷体" panose="02010609060101010101" pitchFamily="49" charset="-122"/>
            </a:endParaRPr>
          </a:p>
          <a:p>
            <a:pPr marL="609600" indent="-609600">
              <a:lnSpc>
                <a:spcPct val="80000"/>
              </a:lnSpc>
              <a:buClr>
                <a:srgbClr val="FF0000"/>
              </a:buClr>
              <a:buFontTx/>
              <a:buAutoNum type="arabicPeriod"/>
            </a:pPr>
            <a:r>
              <a:rPr lang="zh-CN" altLang="en-US" sz="3200" dirty="0">
                <a:ea typeface="楷体" panose="02010609060101010101" pitchFamily="49" charset="-122"/>
              </a:rPr>
              <a:t>从线粒体内膜纯化得到一种酶能够直接利用质子梯度合成</a:t>
            </a:r>
            <a:r>
              <a:rPr lang="en-US" altLang="zh-CN" sz="3200" dirty="0">
                <a:ea typeface="楷体" panose="02010609060101010101" pitchFamily="49" charset="-122"/>
              </a:rPr>
              <a:t>ATP</a:t>
            </a:r>
            <a:r>
              <a:rPr lang="zh-CN" altLang="en-US" sz="3200" dirty="0">
                <a:ea typeface="楷体" panose="02010609060101010101" pitchFamily="49" charset="-122"/>
              </a:rPr>
              <a:t>，此酶称为</a:t>
            </a:r>
            <a:r>
              <a:rPr lang="en-US" altLang="zh-CN" sz="3200" dirty="0">
                <a:ea typeface="楷体" panose="02010609060101010101" pitchFamily="49" charset="-122"/>
              </a:rPr>
              <a:t>F</a:t>
            </a:r>
            <a:r>
              <a:rPr lang="en-US" altLang="zh-CN" sz="3200" baseline="-25000" dirty="0">
                <a:ea typeface="楷体" panose="02010609060101010101" pitchFamily="49" charset="-122"/>
              </a:rPr>
              <a:t>1</a:t>
            </a:r>
            <a:r>
              <a:rPr lang="en-US" altLang="zh-CN" sz="3200" dirty="0">
                <a:ea typeface="楷体" panose="02010609060101010101" pitchFamily="49" charset="-122"/>
              </a:rPr>
              <a:t>F</a:t>
            </a:r>
            <a:r>
              <a:rPr lang="en-US" altLang="zh-CN" sz="3200" baseline="-25000" dirty="0">
                <a:ea typeface="楷体" panose="02010609060101010101" pitchFamily="49" charset="-122"/>
              </a:rPr>
              <a:t>0</a:t>
            </a:r>
            <a:r>
              <a:rPr lang="en-US" altLang="zh-CN" sz="3200" dirty="0">
                <a:ea typeface="楷体" panose="02010609060101010101" pitchFamily="49" charset="-122"/>
              </a:rPr>
              <a:t>-ATP</a:t>
            </a:r>
            <a:r>
              <a:rPr lang="zh-CN" altLang="en-US" sz="3200" dirty="0">
                <a:ea typeface="楷体" panose="02010609060101010101" pitchFamily="49" charset="-122"/>
              </a:rPr>
              <a:t>合酶。</a:t>
            </a:r>
            <a:endParaRPr lang="en-US" altLang="zh-CN" sz="3200" dirty="0">
              <a:ea typeface="楷体" panose="02010609060101010101" pitchFamily="49" charset="-122"/>
            </a:endParaRPr>
          </a:p>
          <a:p>
            <a:pPr marL="609600" indent="-609600">
              <a:lnSpc>
                <a:spcPct val="80000"/>
              </a:lnSpc>
              <a:buClr>
                <a:srgbClr val="FF0000"/>
              </a:buClr>
              <a:buFontTx/>
              <a:buAutoNum type="arabicPeriod"/>
            </a:pPr>
            <a:r>
              <a:rPr lang="zh-CN" altLang="en-US" sz="3200" dirty="0">
                <a:ea typeface="楷体" panose="02010609060101010101" pitchFamily="49" charset="-122"/>
              </a:rPr>
              <a:t>人工建立的跨线粒体内膜的质子梯度也可驱动</a:t>
            </a:r>
            <a:r>
              <a:rPr lang="en-US" altLang="zh-CN" sz="3200" dirty="0">
                <a:ea typeface="楷体" panose="02010609060101010101" pitchFamily="49" charset="-122"/>
              </a:rPr>
              <a:t>ATP</a:t>
            </a:r>
            <a:r>
              <a:rPr lang="zh-CN" altLang="en-US" sz="3200" dirty="0">
                <a:ea typeface="楷体" panose="02010609060101010101" pitchFamily="49" charset="-122"/>
              </a:rPr>
              <a:t>的合成</a:t>
            </a:r>
            <a:r>
              <a:rPr lang="en-US" altLang="zh-CN" sz="3200" dirty="0">
                <a:ea typeface="楷体" panose="02010609060101010101" pitchFamily="49" charset="-122"/>
              </a:rPr>
              <a:t> </a:t>
            </a: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CC30397A-2993-F5D9-8FB8-BC5DCEE89B93}"/>
              </a:ext>
            </a:extLst>
          </p:cNvPr>
          <p:cNvSpPr>
            <a:spLocks noChangeArrowheads="1"/>
          </p:cNvSpPr>
          <p:nvPr/>
        </p:nvSpPr>
        <p:spPr bwMode="auto">
          <a:xfrm>
            <a:off x="2566913" y="6021288"/>
            <a:ext cx="3322637" cy="58102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a:ea typeface="楷体" panose="02010609060101010101" pitchFamily="49" charset="-122"/>
                <a:cs typeface="Times New Roman" panose="02020603050405020304" pitchFamily="18" charset="0"/>
              </a:rPr>
              <a:t>通过改变离体线粒体的悬液的</a:t>
            </a:r>
            <a:r>
              <a:rPr lang="en-US" altLang="zh-CN" sz="1600" b="1">
                <a:ea typeface="楷体" panose="02010609060101010101" pitchFamily="49" charset="-122"/>
                <a:cs typeface="Times New Roman" panose="02020603050405020304" pitchFamily="18" charset="0"/>
              </a:rPr>
              <a:t>pH</a:t>
            </a:r>
            <a:r>
              <a:rPr lang="zh-CN" altLang="en-US" sz="1600" b="1">
                <a:ea typeface="楷体" panose="02010609060101010101" pitchFamily="49" charset="-122"/>
                <a:cs typeface="Times New Roman" panose="02020603050405020304" pitchFamily="18" charset="0"/>
              </a:rPr>
              <a:t>而</a:t>
            </a:r>
            <a:endParaRPr lang="en-US" altLang="zh-CN" sz="1600" b="1">
              <a:ea typeface="楷体" panose="02010609060101010101" pitchFamily="49" charset="-122"/>
              <a:cs typeface="Times New Roman" panose="02020603050405020304" pitchFamily="18" charset="0"/>
            </a:endParaRPr>
          </a:p>
          <a:p>
            <a:pPr eaLnBrk="1" hangingPunct="1">
              <a:spcBef>
                <a:spcPct val="0"/>
              </a:spcBef>
              <a:buFontTx/>
              <a:buNone/>
            </a:pPr>
            <a:r>
              <a:rPr lang="zh-CN" altLang="en-US" sz="1600" b="1">
                <a:ea typeface="楷体" panose="02010609060101010101" pitchFamily="49" charset="-122"/>
                <a:cs typeface="Times New Roman" panose="02020603050405020304" pitchFamily="18" charset="0"/>
              </a:rPr>
              <a:t>建立的</a:t>
            </a:r>
            <a:r>
              <a:rPr lang="en-US" altLang="zh-CN" sz="1600" b="1">
                <a:ea typeface="楷体" panose="02010609060101010101" pitchFamily="49" charset="-122"/>
                <a:cs typeface="Times New Roman" panose="02020603050405020304" pitchFamily="18" charset="0"/>
              </a:rPr>
              <a:t>pH</a:t>
            </a:r>
            <a:r>
              <a:rPr lang="zh-CN" altLang="en-US" sz="1600" b="1">
                <a:ea typeface="楷体" panose="02010609060101010101" pitchFamily="49" charset="-122"/>
                <a:cs typeface="Times New Roman" panose="02020603050405020304" pitchFamily="18" charset="0"/>
              </a:rPr>
              <a:t>梯度可以驱动</a:t>
            </a:r>
            <a:r>
              <a:rPr lang="en-US" altLang="zh-CN" sz="1600" b="1">
                <a:ea typeface="楷体" panose="02010609060101010101" pitchFamily="49" charset="-122"/>
                <a:cs typeface="Times New Roman" panose="02020603050405020304" pitchFamily="18" charset="0"/>
              </a:rPr>
              <a:t>ATP</a:t>
            </a:r>
            <a:r>
              <a:rPr lang="zh-CN" altLang="en-US" sz="1600" b="1">
                <a:ea typeface="楷体" panose="02010609060101010101" pitchFamily="49" charset="-122"/>
                <a:cs typeface="Times New Roman" panose="02020603050405020304" pitchFamily="18" charset="0"/>
              </a:rPr>
              <a:t>合成</a:t>
            </a:r>
            <a:endParaRPr lang="zh-CN" altLang="en-US" sz="1600">
              <a:ea typeface="楷体" panose="02010609060101010101" pitchFamily="49" charset="-122"/>
              <a:cs typeface="Times New Roman" panose="02020603050405020304" pitchFamily="18" charset="0"/>
            </a:endParaRPr>
          </a:p>
        </p:txBody>
      </p:sp>
      <p:pic>
        <p:nvPicPr>
          <p:cNvPr id="3" name="Picture 6" descr="20-11">
            <a:extLst>
              <a:ext uri="{FF2B5EF4-FFF2-40B4-BE49-F238E27FC236}">
                <a16:creationId xmlns:a16="http://schemas.microsoft.com/office/drawing/2014/main" id="{AD44E8B6-A9FE-9B15-0926-27EBC38958B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852574" y="0"/>
            <a:ext cx="8636039" cy="5876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a:extLst>
              <a:ext uri="{FF2B5EF4-FFF2-40B4-BE49-F238E27FC236}">
                <a16:creationId xmlns:a16="http://schemas.microsoft.com/office/drawing/2014/main" id="{B3236EAC-1D15-01EC-148E-F67A3D0BD769}"/>
              </a:ext>
            </a:extLst>
          </p:cNvPr>
          <p:cNvSpPr>
            <a:spLocks noChangeArrowheads="1"/>
          </p:cNvSpPr>
          <p:nvPr/>
        </p:nvSpPr>
        <p:spPr bwMode="auto">
          <a:xfrm>
            <a:off x="6888088" y="6021288"/>
            <a:ext cx="3024187" cy="58102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a:ea typeface="楷体" panose="02010609060101010101" pitchFamily="49" charset="-122"/>
                <a:cs typeface="Times New Roman" panose="02020603050405020304" pitchFamily="18" charset="0"/>
              </a:rPr>
              <a:t>由菌紫质创造的质子梯度可被牛</a:t>
            </a:r>
            <a:r>
              <a:rPr lang="en-US" altLang="zh-CN" sz="1600" b="1">
                <a:ea typeface="楷体" panose="02010609060101010101" pitchFamily="49" charset="-122"/>
                <a:cs typeface="Times New Roman" panose="02020603050405020304" pitchFamily="18" charset="0"/>
              </a:rPr>
              <a:t>F</a:t>
            </a:r>
            <a:r>
              <a:rPr lang="en-US" altLang="zh-CN" sz="1600" b="1" baseline="-25000">
                <a:ea typeface="楷体" panose="02010609060101010101" pitchFamily="49" charset="-122"/>
                <a:cs typeface="Times New Roman" panose="02020603050405020304" pitchFamily="18" charset="0"/>
              </a:rPr>
              <a:t>1</a:t>
            </a:r>
            <a:r>
              <a:rPr lang="en-US" altLang="zh-CN" sz="1600" b="1">
                <a:ea typeface="楷体" panose="02010609060101010101" pitchFamily="49" charset="-122"/>
                <a:cs typeface="Times New Roman" panose="02020603050405020304" pitchFamily="18" charset="0"/>
              </a:rPr>
              <a:t>F</a:t>
            </a:r>
            <a:r>
              <a:rPr lang="en-US" altLang="zh-CN" sz="1600" b="1" baseline="-25000">
                <a:ea typeface="楷体" panose="02010609060101010101" pitchFamily="49" charset="-122"/>
                <a:cs typeface="Times New Roman" panose="02020603050405020304" pitchFamily="18" charset="0"/>
              </a:rPr>
              <a:t>0</a:t>
            </a:r>
            <a:r>
              <a:rPr lang="en-US" altLang="zh-CN" sz="1600" b="1">
                <a:ea typeface="楷体" panose="02010609060101010101" pitchFamily="49" charset="-122"/>
                <a:cs typeface="Times New Roman" panose="02020603050405020304" pitchFamily="18" charset="0"/>
              </a:rPr>
              <a:t>-ATP</a:t>
            </a:r>
            <a:r>
              <a:rPr lang="zh-CN" altLang="en-US" sz="1600" b="1">
                <a:ea typeface="楷体" panose="02010609060101010101" pitchFamily="49" charset="-122"/>
                <a:cs typeface="Times New Roman" panose="02020603050405020304" pitchFamily="18" charset="0"/>
              </a:rPr>
              <a:t>合酶用于合成</a:t>
            </a:r>
            <a:r>
              <a:rPr lang="en-US" altLang="zh-CN" sz="1600" b="1">
                <a:ea typeface="楷体" panose="02010609060101010101" pitchFamily="49" charset="-122"/>
                <a:cs typeface="Times New Roman" panose="02020603050405020304" pitchFamily="18" charset="0"/>
              </a:rPr>
              <a:t>ATP</a:t>
            </a:r>
          </a:p>
        </p:txBody>
      </p:sp>
    </p:spTree>
    <p:extLst>
      <p:ext uri="{BB962C8B-B14F-4D97-AF65-F5344CB8AC3E}">
        <p14:creationId xmlns:p14="http://schemas.microsoft.com/office/powerpoint/2010/main" val="453733590"/>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888088" y="1916832"/>
            <a:ext cx="4608508" cy="324787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50000"/>
              </a:lnSpc>
              <a:spcBef>
                <a:spcPct val="0"/>
              </a:spcBef>
              <a:buClr>
                <a:srgbClr val="333300"/>
              </a:buClr>
              <a:buFont typeface="Arial" panose="020B0604020202020204" pitchFamily="34" charset="0"/>
              <a:buChar char="•"/>
            </a:pPr>
            <a:r>
              <a:rPr lang="en-US" altLang="zh-CN" sz="2800" dirty="0">
                <a:latin typeface="微软雅黑" panose="020B0503020204020204" charset="-122"/>
                <a:ea typeface="微软雅黑" panose="020B0503020204020204" charset="-122"/>
              </a:rPr>
              <a:t>Skou</a:t>
            </a:r>
            <a:r>
              <a:rPr lang="zh-CN" altLang="en-US" sz="2800" dirty="0">
                <a:latin typeface="微软雅黑" panose="020B0503020204020204" charset="-122"/>
                <a:ea typeface="微软雅黑" panose="020B0503020204020204" charset="-122"/>
              </a:rPr>
              <a:t>发现</a:t>
            </a:r>
            <a:r>
              <a:rPr lang="en-US" altLang="zh-CN" sz="2800" dirty="0">
                <a:latin typeface="微软雅黑" panose="020B0503020204020204" charset="-122"/>
                <a:ea typeface="微软雅黑" panose="020B0503020204020204" charset="-122"/>
                <a:sym typeface="+mn-ea"/>
              </a:rPr>
              <a:t>ATP</a:t>
            </a:r>
            <a:r>
              <a:rPr lang="zh-CN" altLang="en-US" sz="2800" dirty="0">
                <a:latin typeface="微软雅黑" panose="020B0503020204020204" charset="-122"/>
                <a:ea typeface="微软雅黑" panose="020B0503020204020204" charset="-122"/>
                <a:sym typeface="+mn-ea"/>
              </a:rPr>
              <a:t>酶。</a:t>
            </a:r>
            <a:endParaRPr lang="en-US" altLang="zh-CN" sz="2800" dirty="0">
              <a:latin typeface="微软雅黑" panose="020B0503020204020204" charset="-122"/>
              <a:ea typeface="微软雅黑" panose="020B0503020204020204" charset="-122"/>
            </a:endParaRPr>
          </a:p>
          <a:p>
            <a:pPr lvl="0" eaLnBrk="1" hangingPunct="1">
              <a:lnSpc>
                <a:spcPct val="150000"/>
              </a:lnSpc>
              <a:spcBef>
                <a:spcPct val="0"/>
              </a:spcBef>
              <a:buClr>
                <a:srgbClr val="333300"/>
              </a:buClr>
              <a:buFont typeface="Arial" panose="020B0604020202020204" pitchFamily="34" charset="0"/>
              <a:buChar char="•"/>
            </a:pPr>
            <a:r>
              <a:rPr lang="en-US" altLang="zh-CN" sz="2800" dirty="0">
                <a:latin typeface="微软雅黑" panose="020B0503020204020204" charset="-122"/>
                <a:ea typeface="微软雅黑" panose="020B0503020204020204" charset="-122"/>
              </a:rPr>
              <a:t>Boyer</a:t>
            </a:r>
            <a:r>
              <a:rPr lang="zh-CN" altLang="en-US" sz="2800" dirty="0">
                <a:latin typeface="微软雅黑" panose="020B0503020204020204" charset="-122"/>
                <a:ea typeface="微软雅黑" panose="020B0503020204020204" charset="-122"/>
              </a:rPr>
              <a:t>提出</a:t>
            </a:r>
            <a:r>
              <a:rPr lang="zh-CN" altLang="en-US" sz="2800" dirty="0">
                <a:latin typeface="微软雅黑" panose="020B0503020204020204" charset="-122"/>
                <a:ea typeface="微软雅黑" panose="020B0503020204020204" charset="-122"/>
                <a:hlinkClick r:id="rId2" action="ppaction://hlinksldjump"/>
              </a:rPr>
              <a:t>旋转催化</a:t>
            </a:r>
            <a:r>
              <a:rPr lang="zh-CN" altLang="en-US" sz="2800" dirty="0">
                <a:latin typeface="微软雅黑" panose="020B0503020204020204" charset="-122"/>
                <a:ea typeface="微软雅黑" panose="020B0503020204020204" charset="-122"/>
              </a:rPr>
              <a:t>假说解释</a:t>
            </a:r>
            <a:r>
              <a:rPr lang="en-US" altLang="zh-CN" sz="2800" dirty="0">
                <a:latin typeface="微软雅黑" panose="020B0503020204020204" charset="-122"/>
                <a:ea typeface="微软雅黑" panose="020B0503020204020204" charset="-122"/>
              </a:rPr>
              <a:t>ATP</a:t>
            </a:r>
            <a:r>
              <a:rPr lang="zh-CN" altLang="en-US" sz="2800" dirty="0">
                <a:latin typeface="微软雅黑" panose="020B0503020204020204" charset="-122"/>
                <a:ea typeface="微软雅黑" panose="020B0503020204020204" charset="-122"/>
              </a:rPr>
              <a:t>酶作用机理。</a:t>
            </a:r>
          </a:p>
          <a:p>
            <a:pPr lvl="0" eaLnBrk="1" hangingPunct="1">
              <a:lnSpc>
                <a:spcPct val="150000"/>
              </a:lnSpc>
              <a:spcBef>
                <a:spcPct val="0"/>
              </a:spcBef>
              <a:buClr>
                <a:srgbClr val="333300"/>
              </a:buClr>
              <a:buFont typeface="Arial" panose="020B0604020202020204" pitchFamily="34" charset="0"/>
              <a:buChar char="•"/>
            </a:pPr>
            <a:r>
              <a:rPr lang="en-US" altLang="zh-CN" sz="2800" dirty="0">
                <a:latin typeface="微软雅黑" panose="020B0503020204020204" charset="-122"/>
                <a:ea typeface="微软雅黑" panose="020B0503020204020204" charset="-122"/>
              </a:rPr>
              <a:t>Walker</a:t>
            </a:r>
            <a:r>
              <a:rPr lang="zh-CN" altLang="en-US" sz="2800" dirty="0">
                <a:latin typeface="微软雅黑" panose="020B0503020204020204" charset="-122"/>
                <a:ea typeface="微软雅黑" panose="020B0503020204020204" charset="-122"/>
              </a:rPr>
              <a:t>获得</a:t>
            </a:r>
            <a:r>
              <a:rPr lang="en-US" altLang="zh-CN" sz="2800" dirty="0">
                <a:solidFill>
                  <a:schemeClr val="hlink"/>
                </a:solidFill>
                <a:latin typeface="微软雅黑" panose="020B0503020204020204" charset="-122"/>
                <a:ea typeface="微软雅黑" panose="020B0503020204020204" charset="-122"/>
              </a:rPr>
              <a:t>F1</a:t>
            </a:r>
            <a:r>
              <a:rPr lang="zh-CN" altLang="en-US" sz="2800" dirty="0">
                <a:solidFill>
                  <a:schemeClr val="hlink"/>
                </a:solidFill>
                <a:latin typeface="微软雅黑" panose="020B0503020204020204" charset="-122"/>
                <a:ea typeface="微软雅黑" panose="020B0503020204020204" charset="-122"/>
              </a:rPr>
              <a:t>的</a:t>
            </a:r>
            <a:r>
              <a:rPr lang="zh-CN" altLang="en-US" sz="2800" dirty="0">
                <a:latin typeface="微软雅黑" panose="020B0503020204020204" charset="-122"/>
                <a:ea typeface="微软雅黑" panose="020B0503020204020204" charset="-122"/>
              </a:rPr>
              <a:t>晶体结构支持了</a:t>
            </a:r>
            <a:r>
              <a:rPr lang="en-US" altLang="zh-CN" sz="2800" dirty="0">
                <a:latin typeface="微软雅黑" panose="020B0503020204020204" charset="-122"/>
                <a:ea typeface="微软雅黑" panose="020B0503020204020204" charset="-122"/>
              </a:rPr>
              <a:t>Boyer</a:t>
            </a:r>
            <a:r>
              <a:rPr lang="zh-CN" altLang="en-US" sz="2800" dirty="0">
                <a:latin typeface="微软雅黑" panose="020B0503020204020204" charset="-122"/>
                <a:ea typeface="微软雅黑" panose="020B0503020204020204" charset="-122"/>
              </a:rPr>
              <a:t>的假说。</a:t>
            </a:r>
          </a:p>
        </p:txBody>
      </p:sp>
      <p:sp>
        <p:nvSpPr>
          <p:cNvPr id="5" name="文本框 4"/>
          <p:cNvSpPr txBox="1"/>
          <p:nvPr/>
        </p:nvSpPr>
        <p:spPr>
          <a:xfrm>
            <a:off x="728031" y="-99392"/>
            <a:ext cx="9764211" cy="906915"/>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（四）质子流如何驱动AＴP合成？</a:t>
            </a:r>
            <a:endParaRPr dirty="0">
              <a:sym typeface="+mn-ea"/>
            </a:endParaRPr>
          </a:p>
        </p:txBody>
      </p:sp>
      <p:pic>
        <p:nvPicPr>
          <p:cNvPr id="7" name="图片 6"/>
          <p:cNvPicPr>
            <a:picLocks noChangeAspect="1"/>
          </p:cNvPicPr>
          <p:nvPr/>
        </p:nvPicPr>
        <p:blipFill>
          <a:blip r:embed="rId3"/>
          <a:stretch>
            <a:fillRect/>
          </a:stretch>
        </p:blipFill>
        <p:spPr>
          <a:xfrm>
            <a:off x="695404" y="1844824"/>
            <a:ext cx="6089963" cy="3664138"/>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783632" y="-99392"/>
            <a:ext cx="4346062" cy="825419"/>
          </a:xfrm>
          <a:prstGeom prst="rect">
            <a:avLst/>
          </a:prstGeom>
          <a:noFill/>
        </p:spPr>
        <p:txBody>
          <a:bodyPr wrap="none" rtlCol="0" anchor="t">
            <a:spAutoFit/>
          </a:bodyPr>
          <a:lstStyle>
            <a:defPPr>
              <a:defRPr lang="zh-CN"/>
            </a:defPPr>
            <a:lvl1pPr>
              <a:lnSpc>
                <a:spcPct val="150000"/>
              </a:lnSpc>
              <a:defRPr sz="4000" b="1">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1、AＴP合酶</a:t>
            </a:r>
            <a:endParaRPr dirty="0">
              <a:sym typeface="+mn-ea"/>
            </a:endParaRPr>
          </a:p>
        </p:txBody>
      </p:sp>
      <p:sp>
        <p:nvSpPr>
          <p:cNvPr id="556042" name="矩形 556041"/>
          <p:cNvSpPr/>
          <p:nvPr/>
        </p:nvSpPr>
        <p:spPr>
          <a:xfrm>
            <a:off x="312958" y="1916832"/>
            <a:ext cx="5350994" cy="390151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50000"/>
              </a:lnSpc>
              <a:spcBef>
                <a:spcPct val="0"/>
              </a:spcBef>
            </a:pPr>
            <a:r>
              <a:rPr sz="2800" dirty="0">
                <a:latin typeface="微软雅黑" panose="020B0503020204020204" charset="-122"/>
                <a:ea typeface="微软雅黑" panose="020B0503020204020204" charset="-122"/>
              </a:rPr>
              <a:t>两个部分: F1和F0 （后者因为受寡霉素的抑制而得名）</a:t>
            </a:r>
            <a:r>
              <a:rPr lang="zh-CN" altLang="en-US" sz="2800" dirty="0">
                <a:latin typeface="微软雅黑" panose="020B0503020204020204" charset="-122"/>
                <a:ea typeface="微软雅黑" panose="020B0503020204020204" charset="-122"/>
              </a:rPr>
              <a:t>；</a:t>
            </a:r>
            <a:r>
              <a:rPr sz="2800" dirty="0">
                <a:latin typeface="微软雅黑" panose="020B0503020204020204" charset="-122"/>
                <a:ea typeface="微软雅黑" panose="020B0503020204020204" charset="-122"/>
              </a:rPr>
              <a:t> </a:t>
            </a:r>
          </a:p>
          <a:p>
            <a:pPr lvl="0" eaLnBrk="1" hangingPunct="1">
              <a:lnSpc>
                <a:spcPct val="150000"/>
              </a:lnSpc>
              <a:spcBef>
                <a:spcPct val="0"/>
              </a:spcBef>
            </a:pPr>
            <a:r>
              <a:rPr sz="2800" dirty="0">
                <a:latin typeface="微软雅黑" panose="020B0503020204020204" charset="-122"/>
                <a:ea typeface="微软雅黑" panose="020B0503020204020204" charset="-122"/>
              </a:rPr>
              <a:t>F1  催化单元——由5种亚基组成（</a:t>
            </a:r>
            <a:r>
              <a:rPr lang="en-US" altLang="zh-CN" sz="2800" b="1" i="1" dirty="0">
                <a:effectLst>
                  <a:outerShdw blurRad="38100" dist="38100" dir="2700000" algn="tl">
                    <a:srgbClr val="C0C0C0"/>
                  </a:outerShdw>
                </a:effectLst>
                <a:latin typeface="Symbol" panose="05050102010706020507" pitchFamily="18" charset="2"/>
                <a:cs typeface="Times New Roman" panose="02020603050405020304" pitchFamily="18" charset="0"/>
                <a:sym typeface="+mn-ea"/>
              </a:rPr>
              <a:t>a</a:t>
            </a:r>
            <a:r>
              <a:rPr lang="en-US" altLang="zh-CN" sz="2800" b="1" i="1" baseline="-30000" dirty="0">
                <a:effectLst>
                  <a:outerShdw blurRad="38100" dist="38100" dir="2700000" algn="tl">
                    <a:srgbClr val="C0C0C0"/>
                  </a:outerShdw>
                </a:effectLst>
                <a:latin typeface="Symbol" panose="05050102010706020507" pitchFamily="18" charset="2"/>
                <a:cs typeface="Times New Roman" panose="02020603050405020304" pitchFamily="18" charset="0"/>
                <a:sym typeface="+mn-ea"/>
              </a:rPr>
              <a:t>3</a:t>
            </a:r>
            <a:r>
              <a:rPr lang="en-US" altLang="zh-CN" sz="2800" b="1" i="1" dirty="0">
                <a:effectLst>
                  <a:outerShdw blurRad="38100" dist="38100" dir="2700000" algn="tl">
                    <a:srgbClr val="C0C0C0"/>
                  </a:outerShdw>
                </a:effectLst>
                <a:latin typeface="Symbol" panose="05050102010706020507" pitchFamily="18" charset="2"/>
                <a:cs typeface="Times New Roman" panose="02020603050405020304" pitchFamily="18" charset="0"/>
                <a:sym typeface="+mn-ea"/>
              </a:rPr>
              <a:t>b</a:t>
            </a:r>
            <a:r>
              <a:rPr lang="en-US" altLang="zh-CN" sz="2800" b="1" i="1" baseline="-30000" dirty="0">
                <a:effectLst>
                  <a:outerShdw blurRad="38100" dist="38100" dir="2700000" algn="tl">
                    <a:srgbClr val="C0C0C0"/>
                  </a:outerShdw>
                </a:effectLst>
                <a:latin typeface="Symbol" panose="05050102010706020507" pitchFamily="18" charset="2"/>
                <a:cs typeface="Times New Roman" panose="02020603050405020304" pitchFamily="18" charset="0"/>
                <a:sym typeface="+mn-ea"/>
              </a:rPr>
              <a:t>3</a:t>
            </a:r>
            <a:r>
              <a:rPr lang="en-US" altLang="zh-CN" sz="2800" b="1" i="1" dirty="0">
                <a:effectLst>
                  <a:outerShdw blurRad="38100" dist="38100" dir="2700000" algn="tl">
                    <a:srgbClr val="C0C0C0"/>
                  </a:outerShdw>
                </a:effectLst>
                <a:latin typeface="Symbol" panose="05050102010706020507" pitchFamily="18" charset="2"/>
                <a:cs typeface="Times New Roman" panose="02020603050405020304" pitchFamily="18" charset="0"/>
                <a:sym typeface="+mn-ea"/>
              </a:rPr>
              <a:t>gde</a:t>
            </a:r>
            <a:r>
              <a:rPr sz="2800" dirty="0">
                <a:latin typeface="微软雅黑" panose="020B0503020204020204" charset="-122"/>
                <a:ea typeface="微软雅黑" panose="020B0503020204020204" charset="-122"/>
              </a:rPr>
              <a:t>）</a:t>
            </a:r>
            <a:r>
              <a:rPr lang="zh-CN" altLang="en-US" sz="2800" dirty="0">
                <a:latin typeface="微软雅黑" panose="020B0503020204020204" charset="-122"/>
                <a:ea typeface="微软雅黑" panose="020B0503020204020204" charset="-122"/>
              </a:rPr>
              <a:t>；</a:t>
            </a:r>
            <a:endParaRPr sz="2800" dirty="0">
              <a:latin typeface="微软雅黑" panose="020B0503020204020204" charset="-122"/>
              <a:ea typeface="微软雅黑" panose="020B0503020204020204" charset="-122"/>
            </a:endParaRPr>
          </a:p>
          <a:p>
            <a:pPr lvl="0" eaLnBrk="1" hangingPunct="1">
              <a:lnSpc>
                <a:spcPct val="150000"/>
              </a:lnSpc>
              <a:spcBef>
                <a:spcPct val="0"/>
              </a:spcBef>
            </a:pPr>
            <a:r>
              <a:rPr sz="2800" dirty="0">
                <a:latin typeface="微软雅黑" panose="020B0503020204020204" charset="-122"/>
                <a:ea typeface="微软雅黑" panose="020B0503020204020204" charset="-122"/>
              </a:rPr>
              <a:t>Fo  膜整合单元——质子通道（</a:t>
            </a:r>
            <a:r>
              <a:rPr lang="en-US" altLang="zh-CN" sz="2800" b="1" i="1" dirty="0">
                <a:effectLst>
                  <a:outerShdw blurRad="38100" dist="38100" dir="2700000" algn="tl">
                    <a:srgbClr val="C0C0C0"/>
                  </a:outerShdw>
                </a:effectLst>
                <a:sym typeface="+mn-ea"/>
              </a:rPr>
              <a:t>ab</a:t>
            </a:r>
            <a:r>
              <a:rPr lang="en-US" altLang="zh-CN" sz="2800" b="1" i="1" baseline="-25000" dirty="0">
                <a:effectLst>
                  <a:outerShdw blurRad="38100" dist="38100" dir="2700000" algn="tl">
                    <a:srgbClr val="C0C0C0"/>
                  </a:outerShdw>
                </a:effectLst>
                <a:sym typeface="+mn-ea"/>
              </a:rPr>
              <a:t>2</a:t>
            </a:r>
            <a:r>
              <a:rPr lang="en-US" altLang="zh-CN" sz="2800" b="1" i="1" dirty="0">
                <a:effectLst>
                  <a:outerShdw blurRad="38100" dist="38100" dir="2700000" algn="tl">
                    <a:srgbClr val="C0C0C0"/>
                  </a:outerShdw>
                </a:effectLst>
                <a:sym typeface="+mn-ea"/>
              </a:rPr>
              <a:t>c</a:t>
            </a:r>
            <a:r>
              <a:rPr lang="en-US" altLang="zh-CN" sz="2800" b="1" i="1" baseline="-25000" dirty="0">
                <a:effectLst>
                  <a:outerShdw blurRad="38100" dist="38100" dir="2700000" algn="tl">
                    <a:srgbClr val="C0C0C0"/>
                  </a:outerShdw>
                </a:effectLst>
                <a:sym typeface="+mn-ea"/>
              </a:rPr>
              <a:t>10</a:t>
            </a:r>
            <a:r>
              <a:rPr sz="2800" dirty="0">
                <a:latin typeface="微软雅黑" panose="020B0503020204020204" charset="-122"/>
                <a:ea typeface="微软雅黑" panose="020B0503020204020204" charset="-122"/>
              </a:rPr>
              <a:t>）</a:t>
            </a:r>
            <a:r>
              <a:rPr lang="zh-CN" altLang="en-US" sz="2800" dirty="0">
                <a:latin typeface="微软雅黑" panose="020B0503020204020204" charset="-122"/>
                <a:ea typeface="微软雅黑" panose="020B0503020204020204" charset="-122"/>
              </a:rPr>
              <a:t>。</a:t>
            </a:r>
          </a:p>
        </p:txBody>
      </p:sp>
      <p:pic>
        <p:nvPicPr>
          <p:cNvPr id="2" name="图片 1"/>
          <p:cNvPicPr>
            <a:picLocks noChangeAspect="1"/>
          </p:cNvPicPr>
          <p:nvPr/>
        </p:nvPicPr>
        <p:blipFill>
          <a:blip r:embed="rId3"/>
          <a:stretch>
            <a:fillRect/>
          </a:stretch>
        </p:blipFill>
        <p:spPr>
          <a:xfrm>
            <a:off x="5879976" y="908720"/>
            <a:ext cx="5040560" cy="5837083"/>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56042"/>
                                        </p:tgtEl>
                                        <p:attrNameLst>
                                          <p:attrName>style.visibility</p:attrName>
                                        </p:attrNameLst>
                                      </p:cBhvr>
                                      <p:to>
                                        <p:strVal val="visible"/>
                                      </p:to>
                                    </p:set>
                                    <p:animEffect transition="in" filter="barn(outHorizontal)">
                                      <p:cBhvr>
                                        <p:cTn id="7" dur="500"/>
                                        <p:tgtEl>
                                          <p:spTgt spid="556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4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7B5218D-0155-45BD-51E7-CE6BE972A762}"/>
              </a:ext>
            </a:extLst>
          </p:cNvPr>
          <p:cNvPicPr>
            <a:picLocks noChangeAspect="1"/>
          </p:cNvPicPr>
          <p:nvPr/>
        </p:nvPicPr>
        <p:blipFill>
          <a:blip r:embed="rId2"/>
          <a:stretch>
            <a:fillRect/>
          </a:stretch>
        </p:blipFill>
        <p:spPr>
          <a:xfrm>
            <a:off x="619125" y="252412"/>
            <a:ext cx="10953750" cy="6353175"/>
          </a:xfrm>
          <a:prstGeom prst="rect">
            <a:avLst/>
          </a:prstGeom>
        </p:spPr>
      </p:pic>
    </p:spTree>
    <p:extLst>
      <p:ext uri="{BB962C8B-B14F-4D97-AF65-F5344CB8AC3E}">
        <p14:creationId xmlns:p14="http://schemas.microsoft.com/office/powerpoint/2010/main" val="2249920353"/>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351584" y="-102338"/>
            <a:ext cx="5614037" cy="906915"/>
          </a:xfrm>
          <a:prstGeom prst="rect">
            <a:avLst/>
          </a:prstGeom>
          <a:noFill/>
        </p:spPr>
        <p:txBody>
          <a:bodyPr wrap="none" rtlCol="0" anchor="t">
            <a:spAutoFit/>
          </a:bodyPr>
          <a:lstStyle/>
          <a:p>
            <a:pPr>
              <a:lnSpc>
                <a:spcPct val="150000"/>
              </a:lnSpc>
            </a:pPr>
            <a:r>
              <a:rPr 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2、旋转催化假说</a:t>
            </a:r>
          </a:p>
        </p:txBody>
      </p:sp>
      <p:pic>
        <p:nvPicPr>
          <p:cNvPr id="4" name="图片 3"/>
          <p:cNvPicPr>
            <a:picLocks noChangeAspect="1"/>
          </p:cNvPicPr>
          <p:nvPr/>
        </p:nvPicPr>
        <p:blipFill>
          <a:blip r:embed="rId3"/>
          <a:stretch>
            <a:fillRect/>
          </a:stretch>
        </p:blipFill>
        <p:spPr>
          <a:xfrm>
            <a:off x="6599555" y="2062480"/>
            <a:ext cx="2148840" cy="1706880"/>
          </a:xfrm>
          <a:prstGeom prst="rect">
            <a:avLst/>
          </a:prstGeom>
        </p:spPr>
      </p:pic>
      <p:sp>
        <p:nvSpPr>
          <p:cNvPr id="560130" name="矩形 560129"/>
          <p:cNvSpPr/>
          <p:nvPr/>
        </p:nvSpPr>
        <p:spPr>
          <a:xfrm>
            <a:off x="1920081" y="4943476"/>
            <a:ext cx="8351838" cy="16890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a:lnSpc>
                <a:spcPct val="150000"/>
              </a:lnSpc>
              <a:spcBef>
                <a:spcPct val="0"/>
              </a:spcBef>
              <a:buClr>
                <a:srgbClr val="333300"/>
              </a:buClr>
              <a:buFont typeface="Arial" panose="020B0604020202020204" pitchFamily="34" charset="0"/>
              <a:buChar char="•"/>
            </a:pPr>
            <a:r>
              <a:rPr lang="zh-CN" altLang="en-US" sz="2400" dirty="0">
                <a:latin typeface="微软雅黑" panose="020B0503020204020204" charset="-122"/>
                <a:ea typeface="微软雅黑" panose="020B0503020204020204" charset="-122"/>
              </a:rPr>
              <a:t>“</a:t>
            </a:r>
            <a:r>
              <a:rPr lang="en-US" altLang="zh-CN" sz="2400" dirty="0">
                <a:latin typeface="微软雅黑" panose="020B0503020204020204" charset="-122"/>
                <a:ea typeface="微软雅黑" panose="020B0503020204020204" charset="-122"/>
              </a:rPr>
              <a:t>O ”</a:t>
            </a:r>
            <a:r>
              <a:rPr lang="zh-CN" altLang="en-US" sz="2400" dirty="0">
                <a:latin typeface="微软雅黑" panose="020B0503020204020204" charset="-122"/>
                <a:ea typeface="微软雅黑" panose="020B0503020204020204" charset="-122"/>
              </a:rPr>
              <a:t>状态：有利于</a:t>
            </a:r>
            <a:r>
              <a:rPr lang="en-US" altLang="zh-CN" sz="2400" dirty="0">
                <a:latin typeface="微软雅黑" panose="020B0503020204020204" charset="-122"/>
                <a:ea typeface="微软雅黑" panose="020B0503020204020204" charset="-122"/>
              </a:rPr>
              <a:t>ATP</a:t>
            </a:r>
            <a:r>
              <a:rPr lang="zh-CN" altLang="en-US" sz="2400" dirty="0">
                <a:latin typeface="微软雅黑" panose="020B0503020204020204" charset="-122"/>
                <a:ea typeface="微软雅黑" panose="020B0503020204020204" charset="-122"/>
              </a:rPr>
              <a:t>释放的构象 </a:t>
            </a:r>
          </a:p>
          <a:p>
            <a:pPr lvl="0">
              <a:lnSpc>
                <a:spcPct val="150000"/>
              </a:lnSpc>
              <a:spcBef>
                <a:spcPct val="0"/>
              </a:spcBef>
              <a:buClr>
                <a:srgbClr val="333300"/>
              </a:buClr>
              <a:buFont typeface="Arial" panose="020B0604020202020204" pitchFamily="34" charset="0"/>
              <a:buChar char="•"/>
            </a:pPr>
            <a:r>
              <a:rPr lang="zh-CN" altLang="en-US" sz="2400" dirty="0">
                <a:latin typeface="微软雅黑" panose="020B0503020204020204" charset="-122"/>
                <a:ea typeface="微软雅黑" panose="020B0503020204020204" charset="-122"/>
              </a:rPr>
              <a:t>“Ｌ”状态：松弛结合</a:t>
            </a:r>
            <a:r>
              <a:rPr lang="en-US" altLang="zh-CN" sz="2400" dirty="0">
                <a:latin typeface="微软雅黑" panose="020B0503020204020204" charset="-122"/>
                <a:ea typeface="微软雅黑" panose="020B0503020204020204" charset="-122"/>
              </a:rPr>
              <a:t>ADP</a:t>
            </a:r>
            <a:r>
              <a:rPr lang="zh-CN" altLang="en-US" sz="2400" dirty="0">
                <a:latin typeface="微软雅黑" panose="020B0503020204020204" charset="-122"/>
                <a:ea typeface="微软雅黑" panose="020B0503020204020204" charset="-122"/>
              </a:rPr>
              <a:t>和</a:t>
            </a:r>
            <a:r>
              <a:rPr lang="en-US" altLang="zh-CN" sz="2400" dirty="0">
                <a:latin typeface="微软雅黑" panose="020B0503020204020204" charset="-122"/>
                <a:ea typeface="微软雅黑" panose="020B0503020204020204" charset="-122"/>
              </a:rPr>
              <a:t>Pi</a:t>
            </a:r>
          </a:p>
          <a:p>
            <a:pPr lvl="0">
              <a:lnSpc>
                <a:spcPct val="150000"/>
              </a:lnSpc>
              <a:spcBef>
                <a:spcPct val="0"/>
              </a:spcBef>
              <a:buClr>
                <a:srgbClr val="333300"/>
              </a:buClr>
              <a:buFont typeface="Arial" panose="020B0604020202020204" pitchFamily="34" charset="0"/>
              <a:buChar char="•"/>
            </a:pP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Ｔ”状态：催化ＡＤＰ→ＡＴＰ，紧密结合</a:t>
            </a:r>
            <a:r>
              <a:rPr lang="en-US" altLang="zh-CN" sz="2400" dirty="0">
                <a:latin typeface="微软雅黑" panose="020B0503020204020204" charset="-122"/>
                <a:ea typeface="微软雅黑" panose="020B0503020204020204" charset="-122"/>
              </a:rPr>
              <a:t>A</a:t>
            </a:r>
            <a:r>
              <a:rPr lang="zh-CN" altLang="en-US" sz="2400" dirty="0">
                <a:latin typeface="微软雅黑" panose="020B0503020204020204" charset="-122"/>
                <a:ea typeface="微软雅黑" panose="020B0503020204020204" charset="-122"/>
              </a:rPr>
              <a:t>Ｔ</a:t>
            </a:r>
            <a:r>
              <a:rPr lang="en-US" altLang="zh-CN" sz="2400" dirty="0">
                <a:latin typeface="微软雅黑" panose="020B0503020204020204" charset="-122"/>
                <a:ea typeface="微软雅黑" panose="020B0503020204020204" charset="-122"/>
              </a:rPr>
              <a:t>P</a:t>
            </a:r>
          </a:p>
        </p:txBody>
      </p:sp>
      <p:sp>
        <p:nvSpPr>
          <p:cNvPr id="560134" name="矩形标注 560133"/>
          <p:cNvSpPr/>
          <p:nvPr/>
        </p:nvSpPr>
        <p:spPr>
          <a:xfrm>
            <a:off x="7104380" y="1275715"/>
            <a:ext cx="2286000" cy="638810"/>
          </a:xfrm>
          <a:prstGeom prst="wedgeRectCallout">
            <a:avLst>
              <a:gd name="adj1" fmla="val -34028"/>
              <a:gd name="adj2" fmla="val 94699"/>
            </a:avLst>
          </a:prstGeom>
          <a:solidFill>
            <a:schemeClr val="accent5"/>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a:spcBef>
                <a:spcPct val="0"/>
              </a:spcBef>
              <a:buNone/>
            </a:pPr>
            <a:r>
              <a:rPr lang="zh-CN" altLang="en-US" sz="2000" b="1" dirty="0">
                <a:latin typeface="微软雅黑" panose="020B0503020204020204" charset="-122"/>
                <a:ea typeface="微软雅黑" panose="020B0503020204020204" charset="-122"/>
                <a:cs typeface="微软雅黑" panose="020B0503020204020204" charset="-122"/>
              </a:rPr>
              <a:t>有与</a:t>
            </a:r>
            <a:r>
              <a:rPr lang="en-US" altLang="zh-CN" sz="2000" b="1" dirty="0">
                <a:latin typeface="微软雅黑" panose="020B0503020204020204" charset="-122"/>
                <a:ea typeface="微软雅黑" panose="020B0503020204020204" charset="-122"/>
                <a:cs typeface="微软雅黑" panose="020B0503020204020204" charset="-122"/>
              </a:rPr>
              <a:t>ADP</a:t>
            </a:r>
            <a:r>
              <a:rPr lang="zh-CN" altLang="en-US" sz="2000" b="1" dirty="0">
                <a:latin typeface="微软雅黑" panose="020B0503020204020204" charset="-122"/>
                <a:ea typeface="微软雅黑" panose="020B0503020204020204" charset="-122"/>
                <a:cs typeface="微软雅黑" panose="020B0503020204020204" charset="-122"/>
              </a:rPr>
              <a:t>与</a:t>
            </a:r>
            <a:r>
              <a:rPr lang="en-US" altLang="zh-CN" sz="2000" b="1" dirty="0">
                <a:latin typeface="微软雅黑" panose="020B0503020204020204" charset="-122"/>
                <a:ea typeface="微软雅黑" panose="020B0503020204020204" charset="-122"/>
                <a:cs typeface="微软雅黑" panose="020B0503020204020204" charset="-122"/>
              </a:rPr>
              <a:t>Pi</a:t>
            </a:r>
            <a:r>
              <a:rPr lang="zh-CN" altLang="en-US" sz="2000" b="1" dirty="0">
                <a:latin typeface="微软雅黑" panose="020B0503020204020204" charset="-122"/>
                <a:ea typeface="微软雅黑" panose="020B0503020204020204" charset="-122"/>
                <a:cs typeface="微软雅黑" panose="020B0503020204020204" charset="-122"/>
              </a:rPr>
              <a:t>结合的构象</a:t>
            </a:r>
          </a:p>
        </p:txBody>
      </p:sp>
      <p:sp>
        <p:nvSpPr>
          <p:cNvPr id="560135" name="矩形标注 560134"/>
          <p:cNvSpPr/>
          <p:nvPr/>
        </p:nvSpPr>
        <p:spPr>
          <a:xfrm>
            <a:off x="9048750" y="3844925"/>
            <a:ext cx="1375410" cy="1082040"/>
          </a:xfrm>
          <a:prstGeom prst="wedgeRectCallout">
            <a:avLst>
              <a:gd name="adj1" fmla="val -102380"/>
              <a:gd name="adj2" fmla="val -59560"/>
            </a:avLst>
          </a:prstGeom>
          <a:solidFill>
            <a:schemeClr val="accent5"/>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a:spcBef>
                <a:spcPct val="0"/>
              </a:spcBef>
              <a:buNone/>
            </a:pPr>
            <a:r>
              <a:rPr lang="zh-CN" altLang="en-US" sz="2000" b="1" dirty="0">
                <a:latin typeface="微软雅黑" panose="020B0503020204020204" charset="-122"/>
                <a:ea typeface="微软雅黑" panose="020B0503020204020204" charset="-122"/>
                <a:cs typeface="微软雅黑" panose="020B0503020204020204" charset="-122"/>
              </a:rPr>
              <a:t>有与</a:t>
            </a:r>
            <a:r>
              <a:rPr lang="en-US" altLang="zh-CN" sz="2000" b="1" dirty="0">
                <a:latin typeface="微软雅黑" panose="020B0503020204020204" charset="-122"/>
                <a:ea typeface="微软雅黑" panose="020B0503020204020204" charset="-122"/>
                <a:cs typeface="微软雅黑" panose="020B0503020204020204" charset="-122"/>
              </a:rPr>
              <a:t>ATP</a:t>
            </a:r>
            <a:r>
              <a:rPr lang="zh-CN" altLang="en-US" sz="2000" b="1" dirty="0">
                <a:latin typeface="微软雅黑" panose="020B0503020204020204" charset="-122"/>
                <a:ea typeface="微软雅黑" panose="020B0503020204020204" charset="-122"/>
                <a:cs typeface="微软雅黑" panose="020B0503020204020204" charset="-122"/>
              </a:rPr>
              <a:t>生成的构象</a:t>
            </a:r>
          </a:p>
        </p:txBody>
      </p:sp>
      <p:sp>
        <p:nvSpPr>
          <p:cNvPr id="560136" name="矩形标注 560135"/>
          <p:cNvSpPr/>
          <p:nvPr/>
        </p:nvSpPr>
        <p:spPr>
          <a:xfrm>
            <a:off x="5304156" y="4049395"/>
            <a:ext cx="2160905" cy="673100"/>
          </a:xfrm>
          <a:prstGeom prst="wedgeRectCallout">
            <a:avLst>
              <a:gd name="adj1" fmla="val 23551"/>
              <a:gd name="adj2" fmla="val -133037"/>
            </a:avLst>
          </a:prstGeom>
          <a:solidFill>
            <a:schemeClr val="accent5"/>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a:spcBef>
                <a:spcPct val="0"/>
              </a:spcBef>
              <a:buNone/>
            </a:pPr>
            <a:r>
              <a:rPr lang="zh-CN" altLang="en-US" sz="2000" b="1" dirty="0">
                <a:latin typeface="微软雅黑" panose="020B0503020204020204" charset="-122"/>
                <a:ea typeface="微软雅黑" panose="020B0503020204020204" charset="-122"/>
              </a:rPr>
              <a:t>无核苷酸结合的开放状态</a:t>
            </a:r>
          </a:p>
        </p:txBody>
      </p:sp>
      <p:pic>
        <p:nvPicPr>
          <p:cNvPr id="3" name="图片 2"/>
          <p:cNvPicPr>
            <a:picLocks noChangeAspect="1"/>
          </p:cNvPicPr>
          <p:nvPr/>
        </p:nvPicPr>
        <p:blipFill>
          <a:blip r:embed="rId4"/>
          <a:stretch>
            <a:fillRect/>
          </a:stretch>
        </p:blipFill>
        <p:spPr>
          <a:xfrm>
            <a:off x="1404068" y="902686"/>
            <a:ext cx="3602907" cy="4172234"/>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0136"/>
                                        </p:tgtEl>
                                        <p:attrNameLst>
                                          <p:attrName>style.visibility</p:attrName>
                                        </p:attrNameLst>
                                      </p:cBhvr>
                                      <p:to>
                                        <p:strVal val="visible"/>
                                      </p:to>
                                    </p:set>
                                    <p:animEffect transition="in" filter="dissolve">
                                      <p:cBhvr>
                                        <p:cTn id="7" dur="500"/>
                                        <p:tgtEl>
                                          <p:spTgt spid="5601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60134"/>
                                        </p:tgtEl>
                                        <p:attrNameLst>
                                          <p:attrName>style.visibility</p:attrName>
                                        </p:attrNameLst>
                                      </p:cBhvr>
                                      <p:to>
                                        <p:strVal val="visible"/>
                                      </p:to>
                                    </p:set>
                                    <p:animEffect transition="in" filter="blinds(horizontal)">
                                      <p:cBhvr>
                                        <p:cTn id="12" dur="500"/>
                                        <p:tgtEl>
                                          <p:spTgt spid="56013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60135"/>
                                        </p:tgtEl>
                                        <p:attrNameLst>
                                          <p:attrName>style.visibility</p:attrName>
                                        </p:attrNameLst>
                                      </p:cBhvr>
                                      <p:to>
                                        <p:strVal val="visible"/>
                                      </p:to>
                                    </p:set>
                                    <p:animEffect transition="in" filter="checkerboard(across)">
                                      <p:cBhvr>
                                        <p:cTn id="17" dur="500"/>
                                        <p:tgtEl>
                                          <p:spTgt spid="56013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60130"/>
                                        </p:tgtEl>
                                        <p:attrNameLst>
                                          <p:attrName>style.visibility</p:attrName>
                                        </p:attrNameLst>
                                      </p:cBhvr>
                                      <p:to>
                                        <p:strVal val="visible"/>
                                      </p:to>
                                    </p:set>
                                    <p:animEffect transition="in" filter="blinds(horizontal)">
                                      <p:cBhvr>
                                        <p:cTn id="22" dur="500"/>
                                        <p:tgtEl>
                                          <p:spTgt spid="560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0" grpId="0"/>
      <p:bldP spid="560134" grpId="0" bldLvl="0" animBg="1"/>
      <p:bldP spid="560135" grpId="0" bldLvl="0" animBg="1"/>
      <p:bldP spid="560136"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878F053-94F5-28F7-87FA-63B7D6AA3918}"/>
              </a:ext>
            </a:extLst>
          </p:cNvPr>
          <p:cNvPicPr>
            <a:picLocks noChangeAspect="1"/>
          </p:cNvPicPr>
          <p:nvPr/>
        </p:nvPicPr>
        <p:blipFill>
          <a:blip r:embed="rId2"/>
          <a:stretch>
            <a:fillRect/>
          </a:stretch>
        </p:blipFill>
        <p:spPr>
          <a:xfrm>
            <a:off x="335360" y="0"/>
            <a:ext cx="5517407" cy="6858000"/>
          </a:xfrm>
          <a:prstGeom prst="rect">
            <a:avLst/>
          </a:prstGeom>
        </p:spPr>
      </p:pic>
      <p:sp>
        <p:nvSpPr>
          <p:cNvPr id="13" name="文本框 12">
            <a:extLst>
              <a:ext uri="{FF2B5EF4-FFF2-40B4-BE49-F238E27FC236}">
                <a16:creationId xmlns:a16="http://schemas.microsoft.com/office/drawing/2014/main" id="{BD8A1355-74F7-BF45-EB82-F8C72F05DCA0}"/>
              </a:ext>
            </a:extLst>
          </p:cNvPr>
          <p:cNvSpPr txBox="1"/>
          <p:nvPr/>
        </p:nvSpPr>
        <p:spPr>
          <a:xfrm>
            <a:off x="5951984" y="692696"/>
            <a:ext cx="6240016" cy="5262979"/>
          </a:xfrm>
          <a:prstGeom prst="rect">
            <a:avLst/>
          </a:prstGeom>
          <a:noFill/>
        </p:spPr>
        <p:txBody>
          <a:bodyPr wrap="square">
            <a:spAutoFit/>
          </a:bodyPr>
          <a:lstStyle/>
          <a:p>
            <a:r>
              <a:rPr lang="en-US" altLang="zh-CN" sz="2400" dirty="0">
                <a:solidFill>
                  <a:schemeClr val="tx1"/>
                </a:solidFill>
                <a:latin typeface="微软雅黑" panose="020B0503020204020204" pitchFamily="34" charset="-122"/>
                <a:ea typeface="微软雅黑" panose="020B0503020204020204" pitchFamily="34" charset="-122"/>
              </a:rPr>
              <a:t>① F1</a:t>
            </a:r>
            <a:r>
              <a:rPr lang="zh-CN" altLang="en-US" sz="2400" dirty="0">
                <a:solidFill>
                  <a:schemeClr val="tx1"/>
                </a:solidFill>
                <a:latin typeface="微软雅黑" panose="020B0503020204020204" pitchFamily="34" charset="-122"/>
                <a:ea typeface="微软雅黑" panose="020B0503020204020204" pitchFamily="34" charset="-122"/>
              </a:rPr>
              <a:t>的亚基具三种构象</a:t>
            </a:r>
            <a:endParaRPr lang="en-US" altLang="zh-CN" sz="2400" dirty="0">
              <a:solidFill>
                <a:schemeClr val="tx1"/>
              </a:solidFill>
              <a:latin typeface="微软雅黑" panose="020B0503020204020204" pitchFamily="34" charset="-122"/>
              <a:ea typeface="微软雅黑" panose="020B0503020204020204" pitchFamily="34" charset="-122"/>
            </a:endParaRPr>
          </a:p>
          <a:p>
            <a:endParaRPr lang="en-US" altLang="zh-CN" sz="2400" dirty="0">
              <a:solidFill>
                <a:schemeClr val="tx1"/>
              </a:solidFill>
              <a:latin typeface="微软雅黑" panose="020B0503020204020204" pitchFamily="34" charset="-122"/>
              <a:ea typeface="微软雅黑" panose="020B0503020204020204" pitchFamily="34" charset="-122"/>
            </a:endParaRPr>
          </a:p>
          <a:p>
            <a:r>
              <a:rPr lang="en-US" altLang="zh-CN" sz="2400" dirty="0">
                <a:solidFill>
                  <a:schemeClr val="tx1"/>
                </a:solidFill>
                <a:latin typeface="微软雅黑" panose="020B0503020204020204" pitchFamily="34" charset="-122"/>
                <a:ea typeface="微软雅黑" panose="020B0503020204020204" pitchFamily="34" charset="-122"/>
              </a:rPr>
              <a:t>② </a:t>
            </a:r>
            <a:r>
              <a:rPr lang="zh-CN" altLang="en-US" sz="2400" dirty="0">
                <a:solidFill>
                  <a:schemeClr val="tx1"/>
                </a:solidFill>
                <a:latin typeface="微软雅黑" panose="020B0503020204020204" pitchFamily="34" charset="-122"/>
                <a:ea typeface="微软雅黑" panose="020B0503020204020204" pitchFamily="34" charset="-122"/>
              </a:rPr>
              <a:t>在任何给定时间下，三个</a:t>
            </a:r>
            <a:r>
              <a:rPr lang="en-US" altLang="zh-CN" sz="2400" dirty="0">
                <a:solidFill>
                  <a:schemeClr val="tx1"/>
                </a:solidFill>
                <a:latin typeface="微软雅黑" panose="020B0503020204020204" pitchFamily="34" charset="-122"/>
                <a:ea typeface="微软雅黑" panose="020B0503020204020204" pitchFamily="34" charset="-122"/>
              </a:rPr>
              <a:t>β</a:t>
            </a:r>
            <a:r>
              <a:rPr lang="zh-CN" altLang="en-US" sz="2400" dirty="0">
                <a:solidFill>
                  <a:schemeClr val="tx1"/>
                </a:solidFill>
                <a:latin typeface="微软雅黑" panose="020B0503020204020204" pitchFamily="34" charset="-122"/>
                <a:ea typeface="微软雅黑" panose="020B0503020204020204" pitchFamily="34" charset="-122"/>
              </a:rPr>
              <a:t>亚基</a:t>
            </a:r>
          </a:p>
          <a:p>
            <a:r>
              <a:rPr lang="zh-CN" altLang="en-US" sz="2400" dirty="0">
                <a:solidFill>
                  <a:schemeClr val="tx1"/>
                </a:solidFill>
                <a:latin typeface="微软雅黑" panose="020B0503020204020204" pitchFamily="34" charset="-122"/>
                <a:ea typeface="微软雅黑" panose="020B0503020204020204" pitchFamily="34" charset="-122"/>
              </a:rPr>
              <a:t>分别具有不同的构象（</a:t>
            </a:r>
            <a:r>
              <a:rPr lang="en-US" altLang="zh-CN" sz="2400" dirty="0">
                <a:solidFill>
                  <a:schemeClr val="tx1"/>
                </a:solidFill>
                <a:latin typeface="微软雅黑" panose="020B0503020204020204" pitchFamily="34" charset="-122"/>
                <a:ea typeface="微软雅黑" panose="020B0503020204020204" pitchFamily="34" charset="-122"/>
              </a:rPr>
              <a:t>O-L-T</a:t>
            </a:r>
            <a:r>
              <a:rPr lang="zh-CN" altLang="en-US" sz="2400" dirty="0">
                <a:solidFill>
                  <a:schemeClr val="tx1"/>
                </a:solidFill>
                <a:latin typeface="微软雅黑" panose="020B0503020204020204" pitchFamily="34" charset="-122"/>
                <a:ea typeface="微软雅黑" panose="020B0503020204020204" pitchFamily="34" charset="-122"/>
              </a:rPr>
              <a:t>）</a:t>
            </a:r>
            <a:endParaRPr lang="en-US" altLang="zh-CN" sz="2400" dirty="0">
              <a:solidFill>
                <a:schemeClr val="tx1"/>
              </a:solidFill>
              <a:latin typeface="微软雅黑" panose="020B0503020204020204" pitchFamily="34" charset="-122"/>
              <a:ea typeface="微软雅黑" panose="020B0503020204020204" pitchFamily="34" charset="-122"/>
            </a:endParaRPr>
          </a:p>
          <a:p>
            <a:endParaRPr lang="zh-CN" altLang="en-US" sz="2400" dirty="0">
              <a:solidFill>
                <a:schemeClr val="tx1"/>
              </a:solidFill>
              <a:latin typeface="微软雅黑" panose="020B0503020204020204" pitchFamily="34" charset="-122"/>
              <a:ea typeface="微软雅黑" panose="020B0503020204020204" pitchFamily="34" charset="-122"/>
            </a:endParaRPr>
          </a:p>
          <a:p>
            <a:r>
              <a:rPr lang="zh-CN" altLang="en-US" sz="2400" dirty="0">
                <a:solidFill>
                  <a:schemeClr val="tx1"/>
                </a:solidFill>
                <a:latin typeface="微软雅黑" panose="020B0503020204020204" pitchFamily="34" charset="-122"/>
                <a:ea typeface="微软雅黑" panose="020B0503020204020204" pitchFamily="34" charset="-122"/>
              </a:rPr>
              <a:t>③质子动力导致中央轴</a:t>
            </a:r>
            <a:r>
              <a:rPr lang="en-US" altLang="zh-CN" sz="2400" dirty="0">
                <a:solidFill>
                  <a:schemeClr val="tx1"/>
                </a:solidFill>
                <a:latin typeface="微软雅黑" panose="020B0503020204020204" pitchFamily="34" charset="-122"/>
                <a:ea typeface="微软雅黑" panose="020B0503020204020204" pitchFamily="34" charset="-122"/>
              </a:rPr>
              <a:t>γ</a:t>
            </a:r>
            <a:r>
              <a:rPr lang="zh-CN" altLang="en-US" sz="2400" dirty="0">
                <a:solidFill>
                  <a:schemeClr val="tx1"/>
                </a:solidFill>
                <a:latin typeface="微软雅黑" panose="020B0503020204020204" pitchFamily="34" charset="-122"/>
                <a:ea typeface="微软雅黑" panose="020B0503020204020204" pitchFamily="34" charset="-122"/>
              </a:rPr>
              <a:t>亚基的转动，</a:t>
            </a:r>
          </a:p>
          <a:p>
            <a:r>
              <a:rPr lang="zh-CN" altLang="en-US" sz="2400" dirty="0">
                <a:solidFill>
                  <a:schemeClr val="tx1"/>
                </a:solidFill>
                <a:latin typeface="微软雅黑" panose="020B0503020204020204" pitchFamily="34" charset="-122"/>
                <a:ea typeface="微软雅黑" panose="020B0503020204020204" pitchFamily="34" charset="-122"/>
              </a:rPr>
              <a:t>连续与</a:t>
            </a:r>
            <a:r>
              <a:rPr lang="en-US" altLang="zh-CN" sz="2400" dirty="0">
                <a:solidFill>
                  <a:schemeClr val="tx1"/>
                </a:solidFill>
                <a:latin typeface="微软雅黑" panose="020B0503020204020204" pitchFamily="34" charset="-122"/>
                <a:ea typeface="微软雅黑" panose="020B0503020204020204" pitchFamily="34" charset="-122"/>
              </a:rPr>
              <a:t>αβ</a:t>
            </a:r>
            <a:r>
              <a:rPr lang="zh-CN" altLang="en-US" sz="2400" dirty="0">
                <a:solidFill>
                  <a:schemeClr val="tx1"/>
                </a:solidFill>
                <a:latin typeface="微软雅黑" panose="020B0503020204020204" pitchFamily="34" charset="-122"/>
                <a:ea typeface="微软雅黑" panose="020B0503020204020204" pitchFamily="34" charset="-122"/>
              </a:rPr>
              <a:t>亚基相接触</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rPr>
              <a:t>导致</a:t>
            </a:r>
            <a:r>
              <a:rPr lang="en-US" altLang="zh-CN" sz="2400" dirty="0">
                <a:solidFill>
                  <a:schemeClr val="tx1"/>
                </a:solidFill>
                <a:latin typeface="微软雅黑" panose="020B0503020204020204" pitchFamily="34" charset="-122"/>
                <a:ea typeface="微软雅黑" panose="020B0503020204020204" pitchFamily="34" charset="-122"/>
              </a:rPr>
              <a:t>3</a:t>
            </a:r>
            <a:r>
              <a:rPr lang="zh-CN" altLang="en-US" sz="2400" dirty="0">
                <a:solidFill>
                  <a:schemeClr val="tx1"/>
                </a:solidFill>
                <a:latin typeface="微软雅黑" panose="020B0503020204020204" pitchFamily="34" charset="-122"/>
                <a:ea typeface="微软雅黑" panose="020B0503020204020204" pitchFamily="34" charset="-122"/>
              </a:rPr>
              <a:t>个</a:t>
            </a:r>
            <a:r>
              <a:rPr lang="en-US" altLang="zh-CN" sz="2400" dirty="0">
                <a:solidFill>
                  <a:schemeClr val="tx1"/>
                </a:solidFill>
                <a:latin typeface="微软雅黑" panose="020B0503020204020204" pitchFamily="34" charset="-122"/>
                <a:ea typeface="微软雅黑" panose="020B0503020204020204" pitchFamily="34" charset="-122"/>
              </a:rPr>
              <a:t>β</a:t>
            </a:r>
            <a:r>
              <a:rPr lang="zh-CN" altLang="en-US" sz="2400" dirty="0">
                <a:solidFill>
                  <a:schemeClr val="tx1"/>
                </a:solidFill>
                <a:latin typeface="微软雅黑" panose="020B0503020204020204" pitchFamily="34" charset="-122"/>
                <a:ea typeface="微软雅黑" panose="020B0503020204020204" pitchFamily="34" charset="-122"/>
              </a:rPr>
              <a:t>亚基</a:t>
            </a:r>
          </a:p>
          <a:p>
            <a:r>
              <a:rPr lang="zh-CN" altLang="en-US" sz="2400" dirty="0">
                <a:solidFill>
                  <a:schemeClr val="tx1"/>
                </a:solidFill>
                <a:latin typeface="微软雅黑" panose="020B0503020204020204" pitchFamily="34" charset="-122"/>
                <a:ea typeface="微软雅黑" panose="020B0503020204020204" pitchFamily="34" charset="-122"/>
              </a:rPr>
              <a:t>的构象发生协同变化</a:t>
            </a:r>
            <a:r>
              <a:rPr lang="en-US" altLang="zh-CN" sz="2400" dirty="0">
                <a:solidFill>
                  <a:schemeClr val="tx1"/>
                </a:solidFill>
                <a:latin typeface="微软雅黑" panose="020B0503020204020204" pitchFamily="34" charset="-122"/>
                <a:ea typeface="微软雅黑" panose="020B0503020204020204" pitchFamily="34" charset="-122"/>
              </a:rPr>
              <a:t>:</a:t>
            </a:r>
          </a:p>
          <a:p>
            <a:r>
              <a:rPr lang="en-US" altLang="zh-CN" sz="2400" dirty="0">
                <a:solidFill>
                  <a:schemeClr val="tx1"/>
                </a:solidFill>
                <a:latin typeface="微软雅黑" panose="020B0503020204020204" pitchFamily="34" charset="-122"/>
                <a:ea typeface="微软雅黑" panose="020B0503020204020204" pitchFamily="34" charset="-122"/>
              </a:rPr>
              <a:t> T</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O</a:t>
            </a:r>
            <a:r>
              <a:rPr lang="zh-CN" altLang="en-US" sz="2400" dirty="0">
                <a:solidFill>
                  <a:schemeClr val="tx1"/>
                </a:solidFill>
                <a:latin typeface="微软雅黑" panose="020B0503020204020204" pitchFamily="34" charset="-122"/>
                <a:ea typeface="微软雅黑" panose="020B0503020204020204" pitchFamily="34" charset="-122"/>
              </a:rPr>
              <a:t>，释放</a:t>
            </a:r>
            <a:r>
              <a:rPr lang="en-US" altLang="zh-CN" sz="2400" dirty="0">
                <a:solidFill>
                  <a:schemeClr val="tx1"/>
                </a:solidFill>
                <a:latin typeface="微软雅黑" panose="020B0503020204020204" pitchFamily="34" charset="-122"/>
                <a:ea typeface="微软雅黑" panose="020B0503020204020204" pitchFamily="34" charset="-122"/>
              </a:rPr>
              <a:t>ATP</a:t>
            </a:r>
          </a:p>
          <a:p>
            <a:r>
              <a:rPr lang="en-US" altLang="zh-CN" sz="2400" dirty="0">
                <a:solidFill>
                  <a:schemeClr val="tx1"/>
                </a:solidFill>
                <a:latin typeface="微软雅黑" panose="020B0503020204020204" pitchFamily="34" charset="-122"/>
                <a:ea typeface="微软雅黑" panose="020B0503020204020204" pitchFamily="34" charset="-122"/>
              </a:rPr>
              <a:t> L</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T</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ADP+Pi</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rPr>
              <a:t>缩合成</a:t>
            </a:r>
            <a:r>
              <a:rPr lang="en-US" altLang="zh-CN" sz="2400" dirty="0">
                <a:solidFill>
                  <a:schemeClr val="tx1"/>
                </a:solidFill>
                <a:latin typeface="微软雅黑" panose="020B0503020204020204" pitchFamily="34" charset="-122"/>
                <a:ea typeface="微软雅黑" panose="020B0503020204020204" pitchFamily="34" charset="-122"/>
              </a:rPr>
              <a:t>ATP</a:t>
            </a:r>
          </a:p>
          <a:p>
            <a:r>
              <a:rPr lang="en-US" altLang="zh-CN" sz="2400" dirty="0">
                <a:solidFill>
                  <a:schemeClr val="tx1"/>
                </a:solidFill>
                <a:latin typeface="微软雅黑" panose="020B0503020204020204" pitchFamily="34" charset="-122"/>
                <a:ea typeface="微软雅黑" panose="020B0503020204020204" pitchFamily="34" charset="-122"/>
              </a:rPr>
              <a:t> O</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L</a:t>
            </a:r>
            <a:r>
              <a:rPr lang="zh-CN" altLang="en-US" sz="2400" dirty="0">
                <a:solidFill>
                  <a:schemeClr val="tx1"/>
                </a:solidFill>
                <a:latin typeface="微软雅黑" panose="020B0503020204020204" pitchFamily="34" charset="-122"/>
                <a:ea typeface="微软雅黑" panose="020B0503020204020204" pitchFamily="34" charset="-122"/>
              </a:rPr>
              <a:t>，结合</a:t>
            </a:r>
            <a:r>
              <a:rPr lang="en-US" altLang="zh-CN" sz="2400" dirty="0" err="1">
                <a:solidFill>
                  <a:schemeClr val="tx1"/>
                </a:solidFill>
                <a:latin typeface="微软雅黑" panose="020B0503020204020204" pitchFamily="34" charset="-122"/>
                <a:ea typeface="微软雅黑" panose="020B0503020204020204" pitchFamily="34" charset="-122"/>
              </a:rPr>
              <a:t>ADP+Pi</a:t>
            </a:r>
            <a:endParaRPr lang="en-US" altLang="zh-CN" sz="2400" dirty="0">
              <a:solidFill>
                <a:schemeClr val="tx1"/>
              </a:solidFill>
              <a:latin typeface="微软雅黑" panose="020B0503020204020204" pitchFamily="34" charset="-122"/>
              <a:ea typeface="微软雅黑" panose="020B0503020204020204" pitchFamily="34" charset="-122"/>
            </a:endParaRPr>
          </a:p>
          <a:p>
            <a:endParaRPr lang="en-US" altLang="zh-CN" sz="2400" dirty="0">
              <a:solidFill>
                <a:schemeClr val="tx1"/>
              </a:solidFill>
              <a:latin typeface="微软雅黑" panose="020B0503020204020204" pitchFamily="34" charset="-122"/>
              <a:ea typeface="微软雅黑" panose="020B0503020204020204" pitchFamily="34" charset="-122"/>
            </a:endParaRPr>
          </a:p>
          <a:p>
            <a:r>
              <a:rPr lang="zh-CN" altLang="en-US" sz="2400" dirty="0">
                <a:solidFill>
                  <a:schemeClr val="tx1"/>
                </a:solidFill>
                <a:latin typeface="微软雅黑" panose="020B0503020204020204" pitchFamily="34" charset="-122"/>
                <a:ea typeface="微软雅黑" panose="020B0503020204020204" pitchFamily="34" charset="-122"/>
              </a:rPr>
              <a:t>④ </a:t>
            </a:r>
            <a:r>
              <a:rPr lang="en-US" altLang="zh-CN" sz="2400" dirty="0">
                <a:solidFill>
                  <a:schemeClr val="tx1"/>
                </a:solidFill>
                <a:latin typeface="微软雅黑" panose="020B0503020204020204" pitchFamily="34" charset="-122"/>
                <a:ea typeface="微软雅黑" panose="020B0503020204020204" pitchFamily="34" charset="-122"/>
              </a:rPr>
              <a:t>ATP</a:t>
            </a:r>
            <a:r>
              <a:rPr lang="zh-CN" altLang="en-US" sz="2400" dirty="0">
                <a:solidFill>
                  <a:schemeClr val="tx1"/>
                </a:solidFill>
                <a:latin typeface="微软雅黑" panose="020B0503020204020204" pitchFamily="34" charset="-122"/>
                <a:ea typeface="微软雅黑" panose="020B0503020204020204" pitchFamily="34" charset="-122"/>
              </a:rPr>
              <a:t>从</a:t>
            </a:r>
            <a:r>
              <a:rPr lang="en-US" altLang="zh-CN" sz="2400" dirty="0">
                <a:solidFill>
                  <a:schemeClr val="tx1"/>
                </a:solidFill>
                <a:latin typeface="微软雅黑" panose="020B0503020204020204" pitchFamily="34" charset="-122"/>
                <a:ea typeface="微软雅黑" panose="020B0503020204020204" pitchFamily="34" charset="-122"/>
              </a:rPr>
              <a:t>O</a:t>
            </a:r>
            <a:r>
              <a:rPr lang="zh-CN" altLang="en-US" sz="2400" dirty="0">
                <a:solidFill>
                  <a:schemeClr val="tx1"/>
                </a:solidFill>
                <a:latin typeface="微软雅黑" panose="020B0503020204020204" pitchFamily="34" charset="-122"/>
                <a:ea typeface="微软雅黑" panose="020B0503020204020204" pitchFamily="34" charset="-122"/>
              </a:rPr>
              <a:t>构象的释放必须与</a:t>
            </a:r>
          </a:p>
          <a:p>
            <a:r>
              <a:rPr lang="en-US" altLang="zh-CN" sz="2400" dirty="0" err="1">
                <a:solidFill>
                  <a:schemeClr val="tx1"/>
                </a:solidFill>
                <a:latin typeface="微软雅黑" panose="020B0503020204020204" pitchFamily="34" charset="-122"/>
                <a:ea typeface="微软雅黑" panose="020B0503020204020204" pitchFamily="34" charset="-122"/>
              </a:rPr>
              <a:t>ADP+Pi</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rPr>
              <a:t>结合到</a:t>
            </a:r>
            <a:r>
              <a:rPr lang="en-US" altLang="zh-CN" sz="2400" dirty="0">
                <a:solidFill>
                  <a:schemeClr val="tx1"/>
                </a:solidFill>
                <a:latin typeface="微软雅黑" panose="020B0503020204020204" pitchFamily="34" charset="-122"/>
                <a:ea typeface="微软雅黑" panose="020B0503020204020204" pitchFamily="34" charset="-122"/>
              </a:rPr>
              <a:t>L</a:t>
            </a:r>
            <a:r>
              <a:rPr lang="zh-CN" altLang="en-US" sz="2400" dirty="0">
                <a:solidFill>
                  <a:schemeClr val="tx1"/>
                </a:solidFill>
                <a:latin typeface="微软雅黑" panose="020B0503020204020204" pitchFamily="34" charset="-122"/>
                <a:ea typeface="微软雅黑" panose="020B0503020204020204" pitchFamily="34" charset="-122"/>
              </a:rPr>
              <a:t>构象同时进行。</a:t>
            </a:r>
          </a:p>
        </p:txBody>
      </p:sp>
    </p:spTree>
    <p:extLst>
      <p:ext uri="{BB962C8B-B14F-4D97-AF65-F5344CB8AC3E}">
        <p14:creationId xmlns:p14="http://schemas.microsoft.com/office/powerpoint/2010/main" val="1298750911"/>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545953" y="-99392"/>
            <a:ext cx="7502375"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二 、氧化磷酸化的抑制剂</a:t>
            </a:r>
          </a:p>
        </p:txBody>
      </p:sp>
      <p:sp>
        <p:nvSpPr>
          <p:cNvPr id="572418" name="矩形 572417"/>
          <p:cNvSpPr/>
          <p:nvPr/>
        </p:nvSpPr>
        <p:spPr>
          <a:xfrm>
            <a:off x="2321878" y="2276475"/>
            <a:ext cx="7632700" cy="503238"/>
          </a:xfrm>
          <a:prstGeom prst="rect">
            <a:avLst/>
          </a:prstGeom>
          <a:noFill/>
          <a:ln w="9525">
            <a:noFill/>
          </a:ln>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None/>
              <a:defRPr/>
            </a:pPr>
            <a:endParaRPr lang="zh-CN" altLang="en-US" sz="4400" b="1" noProof="1">
              <a:solidFill>
                <a:srgbClr val="FF0000"/>
              </a:solidFill>
              <a:effectLst>
                <a:outerShdw blurRad="38100" dist="38100" dir="2700000" algn="tl">
                  <a:srgbClr val="C0C0C0"/>
                </a:outerShdw>
              </a:effectLst>
              <a:ea typeface="微软雅黑" panose="020B0503020204020204" charset="-122"/>
            </a:endParaRPr>
          </a:p>
        </p:txBody>
      </p:sp>
      <p:sp>
        <p:nvSpPr>
          <p:cNvPr id="68611" name="矩形 572418"/>
          <p:cNvSpPr/>
          <p:nvPr/>
        </p:nvSpPr>
        <p:spPr>
          <a:xfrm>
            <a:off x="4008121" y="1844359"/>
            <a:ext cx="5040207" cy="356171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25000"/>
              </a:lnSpc>
              <a:buClr>
                <a:srgbClr val="333300"/>
              </a:buClr>
              <a:buSzPct val="90000"/>
              <a:buFont typeface="Arial" panose="020B0604020202020204" pitchFamily="34" charset="0"/>
              <a:buChar char="•"/>
            </a:pPr>
            <a:r>
              <a:rPr lang="zh-CN" altLang="en-US" b="1" dirty="0"/>
              <a:t>呼吸链阻断剂</a:t>
            </a:r>
          </a:p>
          <a:p>
            <a:pPr lvl="0" eaLnBrk="1" hangingPunct="1">
              <a:lnSpc>
                <a:spcPct val="125000"/>
              </a:lnSpc>
              <a:buClr>
                <a:srgbClr val="333300"/>
              </a:buClr>
              <a:buSzPct val="90000"/>
              <a:buFont typeface="Arial" panose="020B0604020202020204" pitchFamily="34" charset="0"/>
              <a:buChar char="•"/>
            </a:pPr>
            <a:r>
              <a:rPr lang="zh-CN" altLang="en-US" b="1" dirty="0"/>
              <a:t>解偶联剂</a:t>
            </a:r>
          </a:p>
          <a:p>
            <a:pPr lvl="0" eaLnBrk="1" hangingPunct="1">
              <a:lnSpc>
                <a:spcPct val="125000"/>
              </a:lnSpc>
              <a:buClr>
                <a:srgbClr val="333300"/>
              </a:buClr>
              <a:buSzPct val="90000"/>
              <a:buFont typeface="Arial" panose="020B0604020202020204" pitchFamily="34" charset="0"/>
              <a:buChar char="•"/>
            </a:pPr>
            <a:r>
              <a:rPr lang="zh-CN" altLang="en-US" b="1" dirty="0"/>
              <a:t>质子通道阻断剂</a:t>
            </a:r>
          </a:p>
          <a:p>
            <a:pPr lvl="0" eaLnBrk="1" hangingPunct="1">
              <a:lnSpc>
                <a:spcPct val="125000"/>
              </a:lnSpc>
              <a:buClr>
                <a:srgbClr val="333300"/>
              </a:buClr>
              <a:buSzPct val="90000"/>
              <a:buFont typeface="Arial" panose="020B0604020202020204" pitchFamily="34" charset="0"/>
              <a:buChar char="•"/>
            </a:pPr>
            <a:r>
              <a:rPr lang="zh-CN" altLang="en-US" b="1" dirty="0">
                <a:sym typeface="+mn-ea"/>
              </a:rPr>
              <a:t>离子载体抑制剂</a:t>
            </a:r>
            <a:endParaRPr lang="zh-CN" altLang="en-US" b="1" dirty="0"/>
          </a:p>
          <a:p>
            <a:pPr lvl="0" eaLnBrk="1" hangingPunct="1">
              <a:lnSpc>
                <a:spcPct val="125000"/>
              </a:lnSpc>
              <a:buClr>
                <a:srgbClr val="333300"/>
              </a:buClr>
              <a:buSzPct val="90000"/>
              <a:buFont typeface="Arial" panose="020B0604020202020204" pitchFamily="34" charset="0"/>
              <a:buChar char="•"/>
            </a:pPr>
            <a:endParaRPr lang="zh-CN" altLang="en-US" b="1" dirty="0"/>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矩形 572417"/>
          <p:cNvSpPr/>
          <p:nvPr/>
        </p:nvSpPr>
        <p:spPr>
          <a:xfrm>
            <a:off x="2321878" y="2276475"/>
            <a:ext cx="7632700" cy="503238"/>
          </a:xfrm>
          <a:prstGeom prst="rect">
            <a:avLst/>
          </a:prstGeom>
          <a:noFill/>
          <a:ln w="9525">
            <a:noFill/>
          </a:ln>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None/>
              <a:defRPr/>
            </a:pPr>
            <a:endParaRPr lang="zh-CN" altLang="en-US" sz="4400" b="1" noProof="1">
              <a:solidFill>
                <a:srgbClr val="FF0000"/>
              </a:solidFill>
              <a:effectLst>
                <a:outerShdw blurRad="38100" dist="38100" dir="2700000" algn="tl">
                  <a:srgbClr val="C0C0C0"/>
                </a:outerShdw>
              </a:effectLst>
              <a:ea typeface="微软雅黑" panose="020B0503020204020204" charset="-122"/>
            </a:endParaRPr>
          </a:p>
        </p:txBody>
      </p:sp>
      <p:sp>
        <p:nvSpPr>
          <p:cNvPr id="3" name="文本框 2"/>
          <p:cNvSpPr txBox="1"/>
          <p:nvPr/>
        </p:nvSpPr>
        <p:spPr>
          <a:xfrm>
            <a:off x="1559560" y="-99695"/>
            <a:ext cx="5856090" cy="825419"/>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（一）呼吸链阻断剂</a:t>
            </a:r>
            <a:endParaRPr dirty="0">
              <a:sym typeface="+mn-ea"/>
            </a:endParaRPr>
          </a:p>
        </p:txBody>
      </p:sp>
      <p:pic>
        <p:nvPicPr>
          <p:cNvPr id="4" name="图片 3"/>
          <p:cNvPicPr>
            <a:picLocks noChangeAspect="1"/>
          </p:cNvPicPr>
          <p:nvPr/>
        </p:nvPicPr>
        <p:blipFill>
          <a:blip r:embed="rId3"/>
          <a:stretch>
            <a:fillRect/>
          </a:stretch>
        </p:blipFill>
        <p:spPr>
          <a:xfrm>
            <a:off x="1631316" y="3115946"/>
            <a:ext cx="8731885" cy="3244215"/>
          </a:xfrm>
          <a:prstGeom prst="rect">
            <a:avLst/>
          </a:prstGeom>
        </p:spPr>
      </p:pic>
      <p:sp>
        <p:nvSpPr>
          <p:cNvPr id="5" name="文本框 4"/>
          <p:cNvSpPr txBox="1"/>
          <p:nvPr/>
        </p:nvSpPr>
        <p:spPr>
          <a:xfrm>
            <a:off x="1847850" y="980441"/>
            <a:ext cx="6316980" cy="2306955"/>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zh-CN" altLang="en-US" sz="2400" dirty="0">
                <a:solidFill>
                  <a:schemeClr val="tx1"/>
                </a:solidFill>
                <a:latin typeface="微软雅黑" panose="020B0503020204020204" charset="-122"/>
                <a:ea typeface="微软雅黑" panose="020B0503020204020204" charset="-122"/>
                <a:sym typeface="+mn-ea"/>
              </a:rPr>
              <a:t>鱼藤酮、安密妥、杀蝶素</a:t>
            </a:r>
            <a:r>
              <a:rPr lang="en-US" altLang="zh-CN" sz="2400" dirty="0">
                <a:solidFill>
                  <a:schemeClr val="tx1"/>
                </a:solidFill>
                <a:latin typeface="微软雅黑" panose="020B0503020204020204" charset="-122"/>
                <a:ea typeface="微软雅黑" panose="020B0503020204020204" charset="-122"/>
                <a:sym typeface="+mn-ea"/>
              </a:rPr>
              <a:t>A</a:t>
            </a:r>
            <a:r>
              <a:rPr lang="zh-CN" altLang="en-US" sz="2400" dirty="0">
                <a:solidFill>
                  <a:schemeClr val="tx1"/>
                </a:solidFill>
                <a:latin typeface="微软雅黑" panose="020B0503020204020204" charset="-122"/>
                <a:ea typeface="微软雅黑" panose="020B0503020204020204" charset="-122"/>
                <a:sym typeface="+mn-ea"/>
              </a:rPr>
              <a:t>；</a:t>
            </a:r>
          </a:p>
          <a:p>
            <a:pPr marL="342900" indent="-342900">
              <a:lnSpc>
                <a:spcPct val="150000"/>
              </a:lnSpc>
              <a:buFont typeface="Arial" panose="020B0604020202020204" pitchFamily="34" charset="0"/>
              <a:buChar char="•"/>
            </a:pPr>
            <a:r>
              <a:rPr lang="zh-CN" altLang="en-US" sz="2400" dirty="0">
                <a:solidFill>
                  <a:schemeClr val="tx1"/>
                </a:solidFill>
                <a:latin typeface="微软雅黑" panose="020B0503020204020204" charset="-122"/>
                <a:ea typeface="微软雅黑" panose="020B0503020204020204" charset="-122"/>
                <a:sym typeface="+mn-ea"/>
              </a:rPr>
              <a:t>抗霉素</a:t>
            </a:r>
            <a:r>
              <a:rPr lang="en-US" altLang="zh-CN" sz="2400" dirty="0">
                <a:solidFill>
                  <a:schemeClr val="tx1"/>
                </a:solidFill>
                <a:latin typeface="微软雅黑" panose="020B0503020204020204" charset="-122"/>
                <a:ea typeface="微软雅黑" panose="020B0503020204020204" charset="-122"/>
                <a:sym typeface="+mn-ea"/>
              </a:rPr>
              <a:t>A</a:t>
            </a:r>
            <a:r>
              <a:rPr lang="zh-CN" altLang="en-US" sz="2400" dirty="0">
                <a:solidFill>
                  <a:schemeClr val="tx1"/>
                </a:solidFill>
                <a:latin typeface="微软雅黑" panose="020B0503020204020204" charset="-122"/>
                <a:ea typeface="微软雅黑" panose="020B0503020204020204" charset="-122"/>
                <a:sym typeface="+mn-ea"/>
              </a:rPr>
              <a:t>、噻唑、柱黄素；</a:t>
            </a:r>
            <a:endParaRPr lang="en-US" altLang="zh-CN" sz="2400" dirty="0">
              <a:solidFill>
                <a:schemeClr val="tx1"/>
              </a:solidFill>
              <a:latin typeface="微软雅黑" panose="020B0503020204020204" charset="-122"/>
              <a:ea typeface="微软雅黑" panose="020B0503020204020204" charset="-122"/>
              <a:sym typeface="+mn-ea"/>
            </a:endParaRPr>
          </a:p>
          <a:p>
            <a:pPr marL="342900" indent="-342900">
              <a:lnSpc>
                <a:spcPct val="150000"/>
              </a:lnSpc>
              <a:buFont typeface="Arial" panose="020B0604020202020204" pitchFamily="34" charset="0"/>
              <a:buChar char="•"/>
            </a:pPr>
            <a:r>
              <a:rPr lang="zh-CN" altLang="en-US" sz="2400" dirty="0">
                <a:solidFill>
                  <a:schemeClr val="tx1"/>
                </a:solidFill>
                <a:latin typeface="微软雅黑" panose="020B0503020204020204" charset="-122"/>
                <a:ea typeface="微软雅黑" panose="020B0503020204020204" charset="-122"/>
                <a:sym typeface="+mn-ea"/>
              </a:rPr>
              <a:t>氰化物、一氧化碳、硫化氢、叠氮化合物。</a:t>
            </a:r>
            <a:endParaRPr lang="zh-CN" altLang="en-US" sz="2400" dirty="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endParaRPr lang="zh-CN" altLang="en-US" sz="2400" dirty="0">
              <a:solidFill>
                <a:schemeClr val="tx1"/>
              </a:solidFill>
              <a:latin typeface="微软雅黑" panose="020B0503020204020204" charset="-122"/>
              <a:ea typeface="微软雅黑" panose="020B0503020204020204" charset="-122"/>
            </a:endParaRPr>
          </a:p>
        </p:txBody>
      </p:sp>
      <p:sp>
        <p:nvSpPr>
          <p:cNvPr id="7" name="文本框 6"/>
          <p:cNvSpPr txBox="1"/>
          <p:nvPr/>
        </p:nvSpPr>
        <p:spPr>
          <a:xfrm>
            <a:off x="3216275" y="3790950"/>
            <a:ext cx="640080" cy="275590"/>
          </a:xfrm>
          <a:prstGeom prst="rect">
            <a:avLst/>
          </a:prstGeom>
          <a:noFill/>
        </p:spPr>
        <p:txBody>
          <a:bodyPr wrap="none" rtlCol="0">
            <a:spAutoFit/>
          </a:bodyPr>
          <a:lstStyle/>
          <a:p>
            <a:pPr algn="l"/>
            <a:r>
              <a:rPr lang="zh-CN" altLang="en-US" sz="1200" b="1" dirty="0">
                <a:solidFill>
                  <a:srgbClr val="FF0000"/>
                </a:solidFill>
                <a:latin typeface="微软雅黑" panose="020B0503020204020204" charset="-122"/>
                <a:ea typeface="微软雅黑" panose="020B0503020204020204" charset="-122"/>
                <a:sym typeface="+mn-ea"/>
              </a:rPr>
              <a:t>鱼藤酮</a:t>
            </a:r>
          </a:p>
        </p:txBody>
      </p:sp>
      <p:sp>
        <p:nvSpPr>
          <p:cNvPr id="8" name="文本框 7"/>
          <p:cNvSpPr txBox="1"/>
          <p:nvPr/>
        </p:nvSpPr>
        <p:spPr>
          <a:xfrm>
            <a:off x="3215640" y="4078605"/>
            <a:ext cx="640080" cy="275590"/>
          </a:xfrm>
          <a:prstGeom prst="rect">
            <a:avLst/>
          </a:prstGeom>
          <a:noFill/>
        </p:spPr>
        <p:txBody>
          <a:bodyPr wrap="none" rtlCol="0">
            <a:spAutoFit/>
          </a:bodyPr>
          <a:lstStyle/>
          <a:p>
            <a:pPr algn="l"/>
            <a:r>
              <a:rPr lang="zh-CN" altLang="en-US" sz="1200" b="1" dirty="0">
                <a:solidFill>
                  <a:srgbClr val="FF0000"/>
                </a:solidFill>
                <a:latin typeface="微软雅黑" panose="020B0503020204020204" charset="-122"/>
                <a:ea typeface="微软雅黑" panose="020B0503020204020204" charset="-122"/>
                <a:sym typeface="+mn-ea"/>
              </a:rPr>
              <a:t>安密妥</a:t>
            </a:r>
          </a:p>
        </p:txBody>
      </p:sp>
      <p:sp>
        <p:nvSpPr>
          <p:cNvPr id="10" name="文本框 9"/>
          <p:cNvSpPr txBox="1"/>
          <p:nvPr/>
        </p:nvSpPr>
        <p:spPr>
          <a:xfrm>
            <a:off x="3215640" y="4333240"/>
            <a:ext cx="640080" cy="275590"/>
          </a:xfrm>
          <a:prstGeom prst="rect">
            <a:avLst/>
          </a:prstGeom>
          <a:noFill/>
        </p:spPr>
        <p:txBody>
          <a:bodyPr wrap="none" rtlCol="0">
            <a:spAutoFit/>
          </a:bodyPr>
          <a:lstStyle/>
          <a:p>
            <a:pPr algn="l"/>
            <a:r>
              <a:rPr lang="zh-CN" altLang="en-US" sz="1200" b="1" dirty="0">
                <a:solidFill>
                  <a:srgbClr val="FF0000"/>
                </a:solidFill>
                <a:latin typeface="微软雅黑" panose="020B0503020204020204" charset="-122"/>
                <a:ea typeface="微软雅黑" panose="020B0503020204020204" charset="-122"/>
                <a:sym typeface="+mn-ea"/>
              </a:rPr>
              <a:t>杀蝶素</a:t>
            </a:r>
          </a:p>
        </p:txBody>
      </p:sp>
      <p:sp>
        <p:nvSpPr>
          <p:cNvPr id="11" name="文本框 10"/>
          <p:cNvSpPr txBox="1"/>
          <p:nvPr/>
        </p:nvSpPr>
        <p:spPr>
          <a:xfrm>
            <a:off x="3935730" y="3606165"/>
            <a:ext cx="754380" cy="645160"/>
          </a:xfrm>
          <a:prstGeom prst="rect">
            <a:avLst/>
          </a:prstGeom>
          <a:noFill/>
        </p:spPr>
        <p:txBody>
          <a:bodyPr wrap="none" rtlCol="0">
            <a:spAutoFit/>
          </a:bodyPr>
          <a:lstStyle/>
          <a:p>
            <a:pPr algn="l"/>
            <a:r>
              <a:rPr lang="zh-CN" altLang="en-US" sz="1200" b="1" dirty="0">
                <a:solidFill>
                  <a:srgbClr val="FF0000"/>
                </a:solidFill>
                <a:latin typeface="微软雅黑" panose="020B0503020204020204" charset="-122"/>
                <a:ea typeface="微软雅黑" panose="020B0503020204020204" charset="-122"/>
                <a:sym typeface="+mn-ea"/>
              </a:rPr>
              <a:t>抗霉素</a:t>
            </a:r>
            <a:r>
              <a:rPr lang="en-US" altLang="zh-CN" sz="1200" b="1" dirty="0">
                <a:solidFill>
                  <a:srgbClr val="FF0000"/>
                </a:solidFill>
                <a:latin typeface="微软雅黑" panose="020B0503020204020204" charset="-122"/>
                <a:ea typeface="微软雅黑" panose="020B0503020204020204" charset="-122"/>
                <a:sym typeface="+mn-ea"/>
              </a:rPr>
              <a:t>A</a:t>
            </a:r>
          </a:p>
          <a:p>
            <a:pPr algn="l"/>
            <a:r>
              <a:rPr lang="zh-CN" altLang="en-US" sz="1200" b="1" dirty="0">
                <a:solidFill>
                  <a:srgbClr val="FF0000"/>
                </a:solidFill>
                <a:latin typeface="微软雅黑" panose="020B0503020204020204" charset="-122"/>
                <a:ea typeface="微软雅黑" panose="020B0503020204020204" charset="-122"/>
                <a:sym typeface="+mn-ea"/>
              </a:rPr>
              <a:t>噻唑</a:t>
            </a:r>
          </a:p>
          <a:p>
            <a:pPr algn="l"/>
            <a:r>
              <a:rPr lang="zh-CN" altLang="en-US" sz="1200" b="1" dirty="0">
                <a:solidFill>
                  <a:srgbClr val="FF0000"/>
                </a:solidFill>
                <a:latin typeface="微软雅黑" panose="020B0503020204020204" charset="-122"/>
                <a:ea typeface="微软雅黑" panose="020B0503020204020204" charset="-122"/>
                <a:sym typeface="+mn-ea"/>
              </a:rPr>
              <a:t>柱黄素</a:t>
            </a:r>
          </a:p>
        </p:txBody>
      </p:sp>
      <p:sp>
        <p:nvSpPr>
          <p:cNvPr id="12" name="文本框 11"/>
          <p:cNvSpPr txBox="1"/>
          <p:nvPr/>
        </p:nvSpPr>
        <p:spPr>
          <a:xfrm>
            <a:off x="6600190" y="3502660"/>
            <a:ext cx="640080" cy="645160"/>
          </a:xfrm>
          <a:prstGeom prst="rect">
            <a:avLst/>
          </a:prstGeom>
          <a:noFill/>
        </p:spPr>
        <p:txBody>
          <a:bodyPr wrap="none" rtlCol="0">
            <a:spAutoFit/>
          </a:bodyPr>
          <a:lstStyle/>
          <a:p>
            <a:pPr algn="l"/>
            <a:r>
              <a:rPr lang="zh-CN" altLang="en-US" sz="1200" b="1" dirty="0">
                <a:solidFill>
                  <a:srgbClr val="FF0000"/>
                </a:solidFill>
                <a:latin typeface="微软雅黑" panose="020B0503020204020204" charset="-122"/>
                <a:ea typeface="微软雅黑" panose="020B0503020204020204" charset="-122"/>
                <a:sym typeface="+mn-ea"/>
              </a:rPr>
              <a:t>叠氮</a:t>
            </a:r>
            <a:endParaRPr lang="en-US" altLang="zh-CN" sz="1200" b="1" dirty="0">
              <a:solidFill>
                <a:srgbClr val="FF0000"/>
              </a:solidFill>
              <a:latin typeface="微软雅黑" panose="020B0503020204020204" charset="-122"/>
              <a:ea typeface="微软雅黑" panose="020B0503020204020204" charset="-122"/>
              <a:sym typeface="+mn-ea"/>
            </a:endParaRPr>
          </a:p>
          <a:p>
            <a:pPr algn="l"/>
            <a:r>
              <a:rPr lang="zh-CN" altLang="en-US" sz="1200" b="1" dirty="0">
                <a:solidFill>
                  <a:srgbClr val="FF0000"/>
                </a:solidFill>
                <a:latin typeface="微软雅黑" panose="020B0503020204020204" charset="-122"/>
                <a:ea typeface="微软雅黑" panose="020B0503020204020204" charset="-122"/>
                <a:sym typeface="+mn-ea"/>
              </a:rPr>
              <a:t>氰化物</a:t>
            </a:r>
          </a:p>
          <a:p>
            <a:pPr algn="l"/>
            <a:r>
              <a:rPr lang="en-US" altLang="zh-CN" sz="1200" b="1" dirty="0">
                <a:solidFill>
                  <a:srgbClr val="FF0000"/>
                </a:solidFill>
                <a:latin typeface="微软雅黑" panose="020B0503020204020204" charset="-122"/>
                <a:ea typeface="微软雅黑" panose="020B0503020204020204" charset="-122"/>
                <a:sym typeface="+mn-ea"/>
              </a:rPr>
              <a:t>CO</a:t>
            </a: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631317" y="3567572"/>
            <a:ext cx="8569140" cy="3183749"/>
          </a:xfrm>
          <a:prstGeom prst="rect">
            <a:avLst/>
          </a:prstGeom>
        </p:spPr>
      </p:pic>
      <p:sp>
        <p:nvSpPr>
          <p:cNvPr id="2" name="文本框 1"/>
          <p:cNvSpPr txBox="1"/>
          <p:nvPr/>
        </p:nvSpPr>
        <p:spPr>
          <a:xfrm>
            <a:off x="2207568" y="-109329"/>
            <a:ext cx="5450531"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（二）解偶联剂</a:t>
            </a:r>
            <a:endParaRPr dirty="0">
              <a:sym typeface="+mn-ea"/>
            </a:endParaRPr>
          </a:p>
        </p:txBody>
      </p:sp>
      <p:sp>
        <p:nvSpPr>
          <p:cNvPr id="4" name="文本框 3"/>
          <p:cNvSpPr txBox="1"/>
          <p:nvPr/>
        </p:nvSpPr>
        <p:spPr>
          <a:xfrm>
            <a:off x="363554" y="858052"/>
            <a:ext cx="11833060" cy="22430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sz="2400" dirty="0">
                <a:solidFill>
                  <a:schemeClr val="tx1"/>
                </a:solidFill>
                <a:latin typeface="微软雅黑" panose="020B0503020204020204" charset="-122"/>
                <a:ea typeface="微软雅黑" panose="020B0503020204020204" charset="-122"/>
                <a:sym typeface="+mn-ea"/>
              </a:rPr>
              <a:t>只抑制ATP的形成过程，不抑制电子传递，使电子传递所产生的自由能都变为热能。</a:t>
            </a:r>
          </a:p>
          <a:p>
            <a:pPr marL="342900" indent="-342900">
              <a:lnSpc>
                <a:spcPct val="150000"/>
              </a:lnSpc>
              <a:buFont typeface="Arial" panose="020B0604020202020204" pitchFamily="34" charset="0"/>
              <a:buChar char="•"/>
            </a:pPr>
            <a:r>
              <a:rPr sz="2400" b="1" dirty="0">
                <a:solidFill>
                  <a:schemeClr val="tx1"/>
                </a:solidFill>
                <a:latin typeface="微软雅黑" panose="020B0503020204020204" charset="-122"/>
                <a:ea typeface="微软雅黑" panose="020B0503020204020204" charset="-122"/>
                <a:sym typeface="+mn-ea"/>
              </a:rPr>
              <a:t>机制</a:t>
            </a:r>
            <a:r>
              <a:rPr sz="2400" dirty="0">
                <a:solidFill>
                  <a:schemeClr val="tx1"/>
                </a:solidFill>
                <a:latin typeface="微软雅黑" panose="020B0503020204020204" charset="-122"/>
                <a:ea typeface="微软雅黑" panose="020B0503020204020204" charset="-122"/>
                <a:sym typeface="+mn-ea"/>
              </a:rPr>
              <a:t>：解偶联剂将H</a:t>
            </a:r>
            <a:r>
              <a:rPr sz="2400" baseline="30000" dirty="0">
                <a:solidFill>
                  <a:schemeClr val="tx1"/>
                </a:solidFill>
                <a:latin typeface="微软雅黑" panose="020B0503020204020204" charset="-122"/>
                <a:ea typeface="微软雅黑" panose="020B0503020204020204" charset="-122"/>
                <a:sym typeface="+mn-ea"/>
              </a:rPr>
              <a:t>+</a:t>
            </a:r>
            <a:r>
              <a:rPr sz="2400" dirty="0">
                <a:solidFill>
                  <a:schemeClr val="tx1"/>
                </a:solidFill>
                <a:latin typeface="微软雅黑" panose="020B0503020204020204" charset="-122"/>
                <a:ea typeface="微软雅黑" panose="020B0503020204020204" charset="-122"/>
                <a:sym typeface="+mn-ea"/>
              </a:rPr>
              <a:t>带到H</a:t>
            </a:r>
            <a:r>
              <a:rPr sz="2400" baseline="30000" dirty="0">
                <a:solidFill>
                  <a:schemeClr val="tx1"/>
                </a:solidFill>
                <a:latin typeface="微软雅黑" panose="020B0503020204020204" charset="-122"/>
                <a:ea typeface="微软雅黑" panose="020B0503020204020204" charset="-122"/>
                <a:sym typeface="+mn-ea"/>
              </a:rPr>
              <a:t>+</a:t>
            </a:r>
            <a:r>
              <a:rPr sz="2400" dirty="0">
                <a:solidFill>
                  <a:schemeClr val="tx1"/>
                </a:solidFill>
                <a:latin typeface="微软雅黑" panose="020B0503020204020204" charset="-122"/>
                <a:ea typeface="微软雅黑" panose="020B0503020204020204" charset="-122"/>
                <a:sym typeface="+mn-ea"/>
              </a:rPr>
              <a:t>浓度低的膜内侧，破坏了跨膜H</a:t>
            </a:r>
            <a:r>
              <a:rPr sz="2400" baseline="30000" dirty="0">
                <a:solidFill>
                  <a:schemeClr val="tx1"/>
                </a:solidFill>
                <a:latin typeface="微软雅黑" panose="020B0503020204020204" charset="-122"/>
                <a:ea typeface="微软雅黑" panose="020B0503020204020204" charset="-122"/>
                <a:sym typeface="+mn-ea"/>
              </a:rPr>
              <a:t>+</a:t>
            </a:r>
            <a:r>
              <a:rPr sz="2400" dirty="0">
                <a:solidFill>
                  <a:schemeClr val="tx1"/>
                </a:solidFill>
                <a:latin typeface="微软雅黑" panose="020B0503020204020204" charset="-122"/>
                <a:ea typeface="微软雅黑" panose="020B0503020204020204" charset="-122"/>
                <a:sym typeface="+mn-ea"/>
              </a:rPr>
              <a:t>梯度，使H</a:t>
            </a:r>
            <a:r>
              <a:rPr sz="2400" baseline="30000" dirty="0">
                <a:solidFill>
                  <a:schemeClr val="tx1"/>
                </a:solidFill>
                <a:latin typeface="微软雅黑" panose="020B0503020204020204" charset="-122"/>
                <a:ea typeface="微软雅黑" panose="020B0503020204020204" charset="-122"/>
                <a:sym typeface="+mn-ea"/>
              </a:rPr>
              <a:t>+</a:t>
            </a:r>
            <a:r>
              <a:rPr sz="2400" dirty="0">
                <a:solidFill>
                  <a:schemeClr val="tx1"/>
                </a:solidFill>
                <a:latin typeface="微软雅黑" panose="020B0503020204020204" charset="-122"/>
                <a:ea typeface="微软雅黑" panose="020B0503020204020204" charset="-122"/>
                <a:sym typeface="+mn-ea"/>
              </a:rPr>
              <a:t>不经F</a:t>
            </a:r>
            <a:r>
              <a:rPr sz="2400" baseline="-25000" dirty="0">
                <a:solidFill>
                  <a:schemeClr val="tx1"/>
                </a:solidFill>
                <a:latin typeface="微软雅黑" panose="020B0503020204020204" charset="-122"/>
                <a:ea typeface="微软雅黑" panose="020B0503020204020204" charset="-122"/>
                <a:sym typeface="+mn-ea"/>
              </a:rPr>
              <a:t>o</a:t>
            </a:r>
            <a:r>
              <a:rPr sz="2400" dirty="0">
                <a:solidFill>
                  <a:schemeClr val="tx1"/>
                </a:solidFill>
                <a:latin typeface="微软雅黑" panose="020B0503020204020204" charset="-122"/>
                <a:ea typeface="微软雅黑" panose="020B0503020204020204" charset="-122"/>
                <a:sym typeface="+mn-ea"/>
              </a:rPr>
              <a:t>回流，破坏电化学梯度，因而不能形成ATP。</a:t>
            </a:r>
          </a:p>
          <a:p>
            <a:pPr marL="342900" indent="-342900">
              <a:lnSpc>
                <a:spcPct val="150000"/>
              </a:lnSpc>
              <a:buFont typeface="Arial" panose="020B0604020202020204" pitchFamily="34" charset="0"/>
              <a:buChar char="•"/>
            </a:pPr>
            <a:r>
              <a:rPr sz="2400" b="1" dirty="0">
                <a:solidFill>
                  <a:schemeClr val="tx1"/>
                </a:solidFill>
                <a:latin typeface="微软雅黑" panose="020B0503020204020204" charset="-122"/>
                <a:ea typeface="微软雅黑" panose="020B0503020204020204" charset="-122"/>
                <a:sym typeface="+mn-ea"/>
              </a:rPr>
              <a:t>例</a:t>
            </a:r>
            <a:r>
              <a:rPr sz="2400" dirty="0">
                <a:solidFill>
                  <a:schemeClr val="tx1"/>
                </a:solidFill>
                <a:latin typeface="微软雅黑" panose="020B0503020204020204" charset="-122"/>
                <a:ea typeface="微软雅黑" panose="020B0503020204020204" charset="-122"/>
                <a:sym typeface="+mn-ea"/>
              </a:rPr>
              <a:t>：</a:t>
            </a:r>
            <a:r>
              <a:rPr sz="2400" dirty="0">
                <a:solidFill>
                  <a:srgbClr val="FF0000"/>
                </a:solidFill>
                <a:latin typeface="微软雅黑" panose="020B0503020204020204" charset="-122"/>
                <a:ea typeface="微软雅黑" panose="020B0503020204020204" charset="-122"/>
                <a:sym typeface="+mn-ea"/>
              </a:rPr>
              <a:t>2,4-二硝基苯酚</a:t>
            </a:r>
            <a:r>
              <a:rPr lang="zh-CN" altLang="en-US" sz="2400" dirty="0">
                <a:solidFill>
                  <a:srgbClr val="FF0000"/>
                </a:solidFill>
                <a:latin typeface="微软雅黑" panose="020B0503020204020204" charset="-122"/>
                <a:ea typeface="微软雅黑" panose="020B0503020204020204" charset="-122"/>
                <a:sym typeface="+mn-ea"/>
              </a:rPr>
              <a:t>（</a:t>
            </a:r>
            <a:r>
              <a:rPr lang="en-US" altLang="zh-CN" sz="2400" dirty="0">
                <a:solidFill>
                  <a:srgbClr val="FF0000"/>
                </a:solidFill>
                <a:latin typeface="微软雅黑" panose="020B0503020204020204" charset="-122"/>
                <a:ea typeface="微软雅黑" panose="020B0503020204020204" charset="-122"/>
                <a:sym typeface="+mn-ea"/>
              </a:rPr>
              <a:t>DNP</a:t>
            </a:r>
            <a:r>
              <a:rPr lang="zh-CN" altLang="en-US" sz="2400" dirty="0">
                <a:solidFill>
                  <a:srgbClr val="FF0000"/>
                </a:solidFill>
                <a:latin typeface="微软雅黑" panose="020B0503020204020204" charset="-122"/>
                <a:ea typeface="微软雅黑" panose="020B0503020204020204" charset="-122"/>
                <a:sym typeface="+mn-ea"/>
              </a:rPr>
              <a:t>）、解偶联蛋白等。</a:t>
            </a:r>
          </a:p>
        </p:txBody>
      </p:sp>
      <p:sp>
        <p:nvSpPr>
          <p:cNvPr id="12" name="文本框 11"/>
          <p:cNvSpPr txBox="1"/>
          <p:nvPr/>
        </p:nvSpPr>
        <p:spPr>
          <a:xfrm>
            <a:off x="7104380" y="3507106"/>
            <a:ext cx="1419860" cy="306705"/>
          </a:xfrm>
          <a:prstGeom prst="rect">
            <a:avLst/>
          </a:prstGeom>
          <a:noFill/>
        </p:spPr>
        <p:txBody>
          <a:bodyPr wrap="none" rtlCol="0">
            <a:spAutoFit/>
          </a:bodyPr>
          <a:lstStyle/>
          <a:p>
            <a:pPr algn="l"/>
            <a:r>
              <a:rPr lang="zh-CN" altLang="en-US" sz="1400" b="1" dirty="0">
                <a:solidFill>
                  <a:srgbClr val="FF0000"/>
                </a:solidFill>
                <a:latin typeface="微软雅黑" panose="020B0503020204020204" charset="-122"/>
                <a:ea typeface="微软雅黑" panose="020B0503020204020204" charset="-122"/>
                <a:sym typeface="+mn-ea"/>
              </a:rPr>
              <a:t>2,4-二硝基苯酚</a:t>
            </a:r>
          </a:p>
        </p:txBody>
      </p:sp>
      <p:cxnSp>
        <p:nvCxnSpPr>
          <p:cNvPr id="9" name="直接箭头连接符 8"/>
          <p:cNvCxnSpPr/>
          <p:nvPr/>
        </p:nvCxnSpPr>
        <p:spPr>
          <a:xfrm>
            <a:off x="7440295" y="3805556"/>
            <a:ext cx="24130" cy="487045"/>
          </a:xfrm>
          <a:prstGeom prst="straightConnector1">
            <a:avLst/>
          </a:prstGeom>
          <a:solidFill>
            <a:schemeClr val="accent1"/>
          </a:solidFill>
          <a:ln w="9525" cap="flat" cmpd="sng" algn="ctr">
            <a:noFill/>
            <a:prstDash val="solid"/>
            <a:round/>
            <a:headEnd type="none" w="med" len="med"/>
            <a:tailEnd type="arrow" w="med" len="med"/>
          </a:ln>
        </p:spPr>
      </p:cxnSp>
      <p:cxnSp>
        <p:nvCxnSpPr>
          <p:cNvPr id="10" name="直接箭头连接符 9"/>
          <p:cNvCxnSpPr/>
          <p:nvPr/>
        </p:nvCxnSpPr>
        <p:spPr>
          <a:xfrm flipH="1">
            <a:off x="7464426" y="3789045"/>
            <a:ext cx="144145" cy="647700"/>
          </a:xfrm>
          <a:prstGeom prst="straightConnector1">
            <a:avLst/>
          </a:prstGeom>
          <a:solidFill>
            <a:schemeClr val="accent1"/>
          </a:solidFill>
          <a:ln w="9525" cap="flat" cmpd="sng" algn="ctr">
            <a:solidFill>
              <a:srgbClr val="FF0000"/>
            </a:solidFill>
            <a:prstDash val="solid"/>
            <a:round/>
            <a:headEnd type="none" w="med" len="med"/>
            <a:tailEnd type="arrow" w="med" len="med"/>
          </a:ln>
        </p:spPr>
      </p:cxn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5560" y="-80711"/>
            <a:ext cx="5450531"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（二）解偶联剂</a:t>
            </a:r>
            <a:endParaRPr dirty="0">
              <a:sym typeface="+mn-ea"/>
            </a:endParaRPr>
          </a:p>
        </p:txBody>
      </p:sp>
      <p:sp>
        <p:nvSpPr>
          <p:cNvPr id="4" name="文本框 3"/>
          <p:cNvSpPr txBox="1"/>
          <p:nvPr/>
        </p:nvSpPr>
        <p:spPr>
          <a:xfrm>
            <a:off x="1303120" y="6126101"/>
            <a:ext cx="10369152" cy="58105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chemeClr val="tx1"/>
                </a:solidFill>
                <a:latin typeface="微软雅黑" panose="020B0503020204020204" charset="-122"/>
                <a:ea typeface="微软雅黑" panose="020B0503020204020204" charset="-122"/>
                <a:sym typeface="+mn-ea"/>
              </a:rPr>
              <a:t>解耦剂：</a:t>
            </a:r>
            <a:r>
              <a:rPr lang="en-US" sz="2400" dirty="0">
                <a:solidFill>
                  <a:srgbClr val="FF0000"/>
                </a:solidFill>
                <a:latin typeface="微软雅黑" panose="020B0503020204020204" charset="-122"/>
                <a:ea typeface="微软雅黑" panose="020B0503020204020204" charset="-122"/>
                <a:sym typeface="+mn-ea"/>
              </a:rPr>
              <a:t>2</a:t>
            </a:r>
            <a:r>
              <a:rPr sz="2400" dirty="0">
                <a:solidFill>
                  <a:srgbClr val="FF0000"/>
                </a:solidFill>
                <a:latin typeface="微软雅黑" panose="020B0503020204020204" charset="-122"/>
                <a:ea typeface="微软雅黑" panose="020B0503020204020204" charset="-122"/>
                <a:sym typeface="+mn-ea"/>
              </a:rPr>
              <a:t>，4-二硝基苯酚</a:t>
            </a:r>
            <a:r>
              <a:rPr sz="2400" dirty="0">
                <a:solidFill>
                  <a:schemeClr val="tx1"/>
                </a:solidFill>
                <a:latin typeface="微软雅黑" panose="020B0503020204020204" charset="-122"/>
                <a:ea typeface="微软雅黑" panose="020B0503020204020204" charset="-122"/>
                <a:sym typeface="+mn-ea"/>
              </a:rPr>
              <a:t>，它携带质子穿过细胞膜以响应电化学梯度。</a:t>
            </a:r>
          </a:p>
        </p:txBody>
      </p:sp>
      <p:grpSp>
        <p:nvGrpSpPr>
          <p:cNvPr id="6" name="组合 5">
            <a:extLst>
              <a:ext uri="{FF2B5EF4-FFF2-40B4-BE49-F238E27FC236}">
                <a16:creationId xmlns:a16="http://schemas.microsoft.com/office/drawing/2014/main" id="{76B41110-3454-56A3-5718-15DD989CBF53}"/>
              </a:ext>
            </a:extLst>
          </p:cNvPr>
          <p:cNvGrpSpPr/>
          <p:nvPr/>
        </p:nvGrpSpPr>
        <p:grpSpPr>
          <a:xfrm>
            <a:off x="2996968" y="1005522"/>
            <a:ext cx="6771440" cy="5231790"/>
            <a:chOff x="5111679" y="1196752"/>
            <a:chExt cx="6198063" cy="4846955"/>
          </a:xfrm>
        </p:grpSpPr>
        <p:cxnSp>
          <p:nvCxnSpPr>
            <p:cNvPr id="9" name="直接箭头连接符 8"/>
            <p:cNvCxnSpPr/>
            <p:nvPr/>
          </p:nvCxnSpPr>
          <p:spPr>
            <a:xfrm>
              <a:off x="6999995" y="3827558"/>
              <a:ext cx="24130" cy="487045"/>
            </a:xfrm>
            <a:prstGeom prst="straightConnector1">
              <a:avLst/>
            </a:prstGeom>
            <a:solidFill>
              <a:schemeClr val="accent1"/>
            </a:solidFill>
            <a:ln w="9525" cap="flat" cmpd="sng" algn="ctr">
              <a:noFill/>
              <a:prstDash val="solid"/>
              <a:round/>
              <a:headEnd type="none" w="med" len="med"/>
              <a:tailEnd type="arrow" w="med" len="med"/>
            </a:ln>
          </p:spPr>
        </p:cxnSp>
        <p:pic>
          <p:nvPicPr>
            <p:cNvPr id="5" name="图片 4"/>
            <p:cNvPicPr>
              <a:picLocks noChangeAspect="1"/>
            </p:cNvPicPr>
            <p:nvPr/>
          </p:nvPicPr>
          <p:blipFill>
            <a:blip r:embed="rId2"/>
            <a:srcRect l="3144"/>
            <a:stretch>
              <a:fillRect/>
            </a:stretch>
          </p:blipFill>
          <p:spPr>
            <a:xfrm>
              <a:off x="5303912" y="1196752"/>
              <a:ext cx="6005830" cy="4846955"/>
            </a:xfrm>
            <a:prstGeom prst="rect">
              <a:avLst/>
            </a:prstGeom>
          </p:spPr>
        </p:pic>
        <p:sp>
          <p:nvSpPr>
            <p:cNvPr id="3" name="文本框 2"/>
            <p:cNvSpPr txBox="1"/>
            <p:nvPr/>
          </p:nvSpPr>
          <p:spPr>
            <a:xfrm>
              <a:off x="5143255" y="2529828"/>
              <a:ext cx="589280" cy="337185"/>
            </a:xfrm>
            <a:prstGeom prst="rect">
              <a:avLst/>
            </a:prstGeom>
            <a:noFill/>
          </p:spPr>
          <p:txBody>
            <a:bodyPr wrap="none" rtlCol="0" anchor="t">
              <a:spAutoFit/>
            </a:bodyPr>
            <a:lstStyle/>
            <a:p>
              <a:r>
                <a:rPr lang="zh-CN" altLang="zh-CN" sz="1600" b="1" dirty="0">
                  <a:solidFill>
                    <a:schemeClr val="tx1"/>
                  </a:solidFill>
                  <a:latin typeface="微软雅黑" panose="020B0503020204020204" charset="-122"/>
                  <a:ea typeface="微软雅黑" panose="020B0503020204020204" charset="-122"/>
                  <a:sym typeface="+mn-ea"/>
                </a:rPr>
                <a:t>膜间</a:t>
              </a:r>
            </a:p>
          </p:txBody>
        </p:sp>
        <p:sp>
          <p:nvSpPr>
            <p:cNvPr id="7" name="文本框 6"/>
            <p:cNvSpPr txBox="1"/>
            <p:nvPr/>
          </p:nvSpPr>
          <p:spPr>
            <a:xfrm>
              <a:off x="5111679" y="4684826"/>
              <a:ext cx="995680" cy="337185"/>
            </a:xfrm>
            <a:prstGeom prst="rect">
              <a:avLst/>
            </a:prstGeom>
            <a:noFill/>
          </p:spPr>
          <p:txBody>
            <a:bodyPr wrap="none" rtlCol="0" anchor="t">
              <a:spAutoFit/>
            </a:bodyPr>
            <a:lstStyle/>
            <a:p>
              <a:r>
                <a:rPr lang="zh-CN" altLang="zh-CN" sz="1600" b="1" dirty="0">
                  <a:solidFill>
                    <a:schemeClr val="tx1"/>
                  </a:solidFill>
                  <a:latin typeface="微软雅黑" panose="020B0503020204020204" charset="-122"/>
                  <a:ea typeface="微软雅黑" panose="020B0503020204020204" charset="-122"/>
                  <a:sym typeface="+mn-ea"/>
                </a:rPr>
                <a:t>线粒体内</a:t>
              </a:r>
            </a:p>
          </p:txBody>
        </p:sp>
      </p:gr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35560" y="-64748"/>
            <a:ext cx="5450531"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（二）解偶联剂</a:t>
            </a:r>
            <a:endParaRPr dirty="0">
              <a:sym typeface="+mn-ea"/>
            </a:endParaRPr>
          </a:p>
        </p:txBody>
      </p:sp>
      <p:cxnSp>
        <p:nvCxnSpPr>
          <p:cNvPr id="9" name="直接箭头连接符 8"/>
          <p:cNvCxnSpPr/>
          <p:nvPr/>
        </p:nvCxnSpPr>
        <p:spPr>
          <a:xfrm>
            <a:off x="7440295" y="3805556"/>
            <a:ext cx="24130" cy="487045"/>
          </a:xfrm>
          <a:prstGeom prst="straightConnector1">
            <a:avLst/>
          </a:prstGeom>
          <a:solidFill>
            <a:schemeClr val="accent1"/>
          </a:solidFill>
          <a:ln w="9525" cap="flat" cmpd="sng" algn="ctr">
            <a:noFill/>
            <a:prstDash val="solid"/>
            <a:round/>
            <a:headEnd type="none" w="med" len="med"/>
            <a:tailEnd type="arrow" w="med" len="med"/>
          </a:ln>
        </p:spPr>
      </p:cxnSp>
      <p:sp>
        <p:nvSpPr>
          <p:cNvPr id="3" name="文本框 2"/>
          <p:cNvSpPr txBox="1"/>
          <p:nvPr/>
        </p:nvSpPr>
        <p:spPr>
          <a:xfrm>
            <a:off x="695400" y="5178815"/>
            <a:ext cx="11017224"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400" dirty="0">
                <a:solidFill>
                  <a:srgbClr val="FF0000"/>
                </a:solidFill>
                <a:latin typeface="微软雅黑" panose="020B0503020204020204" charset="-122"/>
                <a:ea typeface="微软雅黑" panose="020B0503020204020204" charset="-122"/>
                <a:cs typeface="微软雅黑" panose="020B0503020204020204" charset="-122"/>
              </a:rPr>
              <a:t>UCP1</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是棕色脂肪组织线粒体中的</a:t>
            </a:r>
            <a:r>
              <a:rPr lang="zh-CN" altLang="en-US" sz="2400" dirty="0">
                <a:solidFill>
                  <a:srgbClr val="FF0000"/>
                </a:solidFill>
                <a:latin typeface="微软雅黑" panose="020B0503020204020204" charset="-122"/>
                <a:ea typeface="微软雅黑" panose="020B0503020204020204" charset="-122"/>
                <a:cs typeface="微软雅黑" panose="020B0503020204020204" charset="-122"/>
              </a:rPr>
              <a:t>解偶联蛋白</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，通过为质子重新进入线粒体基质提供了另一种途径，使质子泵送产生的能量，以</a:t>
            </a:r>
            <a:r>
              <a:rPr lang="zh-CN" altLang="en-US" sz="2400" dirty="0">
                <a:solidFill>
                  <a:srgbClr val="FF0000"/>
                </a:solidFill>
                <a:latin typeface="微软雅黑" panose="020B0503020204020204" charset="-122"/>
                <a:ea typeface="微软雅黑" panose="020B0503020204020204" charset="-122"/>
                <a:cs typeface="微软雅黑" panose="020B0503020204020204" charset="-122"/>
              </a:rPr>
              <a:t>热量的形式消散</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a:t>
            </a:r>
          </a:p>
        </p:txBody>
      </p:sp>
      <p:grpSp>
        <p:nvGrpSpPr>
          <p:cNvPr id="6" name="组合 5">
            <a:extLst>
              <a:ext uri="{FF2B5EF4-FFF2-40B4-BE49-F238E27FC236}">
                <a16:creationId xmlns:a16="http://schemas.microsoft.com/office/drawing/2014/main" id="{D4B77D40-A357-EB0D-3F2F-551454476DC4}"/>
              </a:ext>
            </a:extLst>
          </p:cNvPr>
          <p:cNvGrpSpPr/>
          <p:nvPr/>
        </p:nvGrpSpPr>
        <p:grpSpPr>
          <a:xfrm>
            <a:off x="1991544" y="908720"/>
            <a:ext cx="7488832" cy="4176464"/>
            <a:chOff x="4957445" y="1712454"/>
            <a:chExt cx="6793869" cy="3925528"/>
          </a:xfrm>
        </p:grpSpPr>
        <p:pic>
          <p:nvPicPr>
            <p:cNvPr id="7" name="图片 6"/>
            <p:cNvPicPr>
              <a:picLocks noChangeAspect="1"/>
            </p:cNvPicPr>
            <p:nvPr/>
          </p:nvPicPr>
          <p:blipFill>
            <a:blip r:embed="rId2"/>
            <a:stretch>
              <a:fillRect/>
            </a:stretch>
          </p:blipFill>
          <p:spPr>
            <a:xfrm>
              <a:off x="4957445" y="1712454"/>
              <a:ext cx="6793869" cy="3756936"/>
            </a:xfrm>
            <a:prstGeom prst="rect">
              <a:avLst/>
            </a:prstGeom>
          </p:spPr>
        </p:pic>
        <p:sp>
          <p:nvSpPr>
            <p:cNvPr id="4" name="文本框 3"/>
            <p:cNvSpPr txBox="1"/>
            <p:nvPr/>
          </p:nvSpPr>
          <p:spPr>
            <a:xfrm>
              <a:off x="7130497" y="1800459"/>
              <a:ext cx="589280" cy="337185"/>
            </a:xfrm>
            <a:prstGeom prst="rect">
              <a:avLst/>
            </a:prstGeom>
            <a:noFill/>
          </p:spPr>
          <p:txBody>
            <a:bodyPr wrap="none" rtlCol="0" anchor="t">
              <a:spAutoFit/>
            </a:bodyPr>
            <a:lstStyle/>
            <a:p>
              <a:r>
                <a:rPr lang="zh-CN" altLang="zh-CN" sz="1600" b="1" dirty="0">
                  <a:solidFill>
                    <a:schemeClr val="tx1"/>
                  </a:solidFill>
                  <a:latin typeface="微软雅黑" panose="020B0503020204020204" charset="-122"/>
                  <a:ea typeface="微软雅黑" panose="020B0503020204020204" charset="-122"/>
                  <a:sym typeface="+mn-ea"/>
                </a:rPr>
                <a:t>膜间</a:t>
              </a:r>
            </a:p>
          </p:txBody>
        </p:sp>
        <p:sp>
          <p:nvSpPr>
            <p:cNvPr id="5" name="文本框 4"/>
            <p:cNvSpPr txBox="1"/>
            <p:nvPr/>
          </p:nvSpPr>
          <p:spPr>
            <a:xfrm>
              <a:off x="6816080" y="5300797"/>
              <a:ext cx="995680" cy="337185"/>
            </a:xfrm>
            <a:prstGeom prst="rect">
              <a:avLst/>
            </a:prstGeom>
            <a:noFill/>
          </p:spPr>
          <p:txBody>
            <a:bodyPr wrap="none" rtlCol="0" anchor="t">
              <a:spAutoFit/>
            </a:bodyPr>
            <a:lstStyle/>
            <a:p>
              <a:r>
                <a:rPr lang="zh-CN" altLang="zh-CN" sz="1600" b="1" dirty="0">
                  <a:solidFill>
                    <a:schemeClr val="tx1"/>
                  </a:solidFill>
                  <a:latin typeface="微软雅黑" panose="020B0503020204020204" charset="-122"/>
                  <a:ea typeface="微软雅黑" panose="020B0503020204020204" charset="-122"/>
                  <a:sym typeface="+mn-ea"/>
                </a:rPr>
                <a:t>线粒体内</a:t>
              </a:r>
            </a:p>
          </p:txBody>
        </p:sp>
      </p:gr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730057" y="3387726"/>
            <a:ext cx="8731885" cy="3244215"/>
          </a:xfrm>
          <a:prstGeom prst="rect">
            <a:avLst/>
          </a:prstGeom>
        </p:spPr>
      </p:pic>
      <p:sp>
        <p:nvSpPr>
          <p:cNvPr id="2" name="文本框 1"/>
          <p:cNvSpPr txBox="1"/>
          <p:nvPr/>
        </p:nvSpPr>
        <p:spPr>
          <a:xfrm>
            <a:off x="1559561" y="-71755"/>
            <a:ext cx="6317755" cy="825419"/>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（三）质子通道阻断剂</a:t>
            </a:r>
          </a:p>
        </p:txBody>
      </p:sp>
      <p:sp>
        <p:nvSpPr>
          <p:cNvPr id="4" name="文本框 3"/>
          <p:cNvSpPr txBox="1"/>
          <p:nvPr/>
        </p:nvSpPr>
        <p:spPr>
          <a:xfrm>
            <a:off x="623392" y="908720"/>
            <a:ext cx="11305255" cy="22430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sz="2400" dirty="0">
                <a:solidFill>
                  <a:schemeClr val="tx1"/>
                </a:solidFill>
                <a:latin typeface="微软雅黑" panose="020B0503020204020204" charset="-122"/>
                <a:ea typeface="微软雅黑" panose="020B0503020204020204" charset="-122"/>
                <a:sym typeface="+mn-ea"/>
              </a:rPr>
              <a:t>直接作用于ATP合酶复合体而抑制ATP合成的一类化合物。</a:t>
            </a:r>
          </a:p>
          <a:p>
            <a:pPr marL="342900" indent="-342900">
              <a:lnSpc>
                <a:spcPct val="150000"/>
              </a:lnSpc>
              <a:buFont typeface="Arial" panose="020B0604020202020204" pitchFamily="34" charset="0"/>
              <a:buChar char="•"/>
            </a:pPr>
            <a:r>
              <a:rPr sz="2400" b="1" dirty="0">
                <a:solidFill>
                  <a:schemeClr val="tx1"/>
                </a:solidFill>
                <a:latin typeface="微软雅黑" panose="020B0503020204020204" charset="-122"/>
                <a:ea typeface="微软雅黑" panose="020B0503020204020204" charset="-122"/>
                <a:sym typeface="+mn-ea"/>
              </a:rPr>
              <a:t>间接抑制电子传递</a:t>
            </a:r>
            <a:r>
              <a:rPr lang="zh-CN" altLang="en-US" sz="2400" dirty="0">
                <a:solidFill>
                  <a:schemeClr val="tx1"/>
                </a:solidFill>
                <a:latin typeface="微软雅黑" panose="020B0503020204020204" charset="-122"/>
                <a:ea typeface="微软雅黑" panose="020B0503020204020204" charset="-122"/>
                <a:sym typeface="+mn-ea"/>
              </a:rPr>
              <a:t>。</a:t>
            </a:r>
            <a:endParaRPr sz="2400" dirty="0">
              <a:solidFill>
                <a:schemeClr val="tx1"/>
              </a:solidFill>
              <a:latin typeface="微软雅黑" panose="020B0503020204020204" charset="-122"/>
              <a:ea typeface="微软雅黑" panose="020B0503020204020204" charset="-122"/>
              <a:sym typeface="+mn-ea"/>
            </a:endParaRPr>
          </a:p>
          <a:p>
            <a:pPr marL="342900" indent="-342900">
              <a:lnSpc>
                <a:spcPct val="150000"/>
              </a:lnSpc>
              <a:buFont typeface="Arial" panose="020B0604020202020204" pitchFamily="34" charset="0"/>
              <a:buChar char="•"/>
            </a:pPr>
            <a:r>
              <a:rPr sz="2400" dirty="0">
                <a:solidFill>
                  <a:srgbClr val="FF0000"/>
                </a:solidFill>
                <a:latin typeface="微软雅黑" panose="020B0503020204020204" charset="-122"/>
                <a:ea typeface="微软雅黑" panose="020B0503020204020204" charset="-122"/>
                <a:sym typeface="+mn-ea"/>
              </a:rPr>
              <a:t>寡霉素</a:t>
            </a:r>
            <a:r>
              <a:rPr lang="zh-CN" altLang="en-US" sz="2400" dirty="0">
                <a:solidFill>
                  <a:schemeClr val="tx1"/>
                </a:solidFill>
                <a:latin typeface="微软雅黑" panose="020B0503020204020204" charset="-122"/>
                <a:ea typeface="微软雅黑" panose="020B0503020204020204" charset="-122"/>
                <a:sym typeface="+mn-ea"/>
              </a:rPr>
              <a:t>：</a:t>
            </a:r>
            <a:r>
              <a:rPr sz="2400" dirty="0">
                <a:solidFill>
                  <a:schemeClr val="tx1"/>
                </a:solidFill>
                <a:latin typeface="微软雅黑" panose="020B0503020204020204" charset="-122"/>
                <a:ea typeface="微软雅黑" panose="020B0503020204020204" charset="-122"/>
                <a:sym typeface="+mn-ea"/>
              </a:rPr>
              <a:t>与ATP合酶的F</a:t>
            </a:r>
            <a:r>
              <a:rPr sz="2400" baseline="-25000" dirty="0">
                <a:solidFill>
                  <a:schemeClr val="tx1"/>
                </a:solidFill>
                <a:latin typeface="微软雅黑" panose="020B0503020204020204" charset="-122"/>
                <a:ea typeface="微软雅黑" panose="020B0503020204020204" charset="-122"/>
                <a:sym typeface="+mn-ea"/>
              </a:rPr>
              <a:t>0</a:t>
            </a:r>
            <a:r>
              <a:rPr sz="2400" dirty="0">
                <a:solidFill>
                  <a:schemeClr val="tx1"/>
                </a:solidFill>
                <a:latin typeface="微软雅黑" panose="020B0503020204020204" charset="-122"/>
                <a:ea typeface="微软雅黑" panose="020B0503020204020204" charset="-122"/>
                <a:sym typeface="+mn-ea"/>
              </a:rPr>
              <a:t>部位结合，破坏H</a:t>
            </a:r>
            <a:r>
              <a:rPr sz="2400" baseline="30000" dirty="0">
                <a:solidFill>
                  <a:schemeClr val="tx1"/>
                </a:solidFill>
                <a:latin typeface="微软雅黑" panose="020B0503020204020204" charset="-122"/>
                <a:ea typeface="微软雅黑" panose="020B0503020204020204" charset="-122"/>
                <a:sym typeface="+mn-ea"/>
              </a:rPr>
              <a:t>+</a:t>
            </a:r>
            <a:r>
              <a:rPr sz="2400" dirty="0">
                <a:solidFill>
                  <a:schemeClr val="tx1"/>
                </a:solidFill>
                <a:latin typeface="微软雅黑" panose="020B0503020204020204" charset="-122"/>
                <a:ea typeface="微软雅黑" panose="020B0503020204020204" charset="-122"/>
                <a:sym typeface="+mn-ea"/>
              </a:rPr>
              <a:t>回流，影响呼吸链质子泵的功能，抑制电子传递。</a:t>
            </a:r>
          </a:p>
        </p:txBody>
      </p:sp>
      <p:sp>
        <p:nvSpPr>
          <p:cNvPr id="12" name="文本框 11"/>
          <p:cNvSpPr txBox="1"/>
          <p:nvPr/>
        </p:nvSpPr>
        <p:spPr>
          <a:xfrm>
            <a:off x="7752080" y="3387726"/>
            <a:ext cx="894080" cy="306705"/>
          </a:xfrm>
          <a:prstGeom prst="rect">
            <a:avLst/>
          </a:prstGeom>
          <a:noFill/>
        </p:spPr>
        <p:txBody>
          <a:bodyPr wrap="none" rtlCol="0">
            <a:spAutoFit/>
          </a:bodyPr>
          <a:lstStyle/>
          <a:p>
            <a:pPr algn="l"/>
            <a:r>
              <a:rPr lang="zh-CN" altLang="en-US" sz="1400" b="1" dirty="0">
                <a:solidFill>
                  <a:srgbClr val="FF0000"/>
                </a:solidFill>
                <a:latin typeface="微软雅黑" panose="020B0503020204020204" charset="-122"/>
                <a:ea typeface="微软雅黑" panose="020B0503020204020204" charset="-122"/>
                <a:sym typeface="+mn-ea"/>
              </a:rPr>
              <a:t>寡霉素等</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576513"/>
          <p:cNvSpPr/>
          <p:nvPr/>
        </p:nvSpPr>
        <p:spPr>
          <a:xfrm>
            <a:off x="767408" y="1412776"/>
            <a:ext cx="10225136" cy="2363724"/>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algn="l" eaLnBrk="1" hangingPunct="1">
              <a:lnSpc>
                <a:spcPct val="145000"/>
              </a:lnSpc>
              <a:spcBef>
                <a:spcPct val="45000"/>
              </a:spcBef>
              <a:buClrTx/>
              <a:buSzTx/>
              <a:buFontTx/>
              <a:buChar char="•"/>
            </a:pPr>
            <a:r>
              <a:rPr lang="zh-CN" altLang="en-US" sz="2400" dirty="0">
                <a:latin typeface="微软雅黑" panose="020B0503020204020204" charset="-122"/>
                <a:ea typeface="微软雅黑" panose="020B0503020204020204" charset="-122"/>
                <a:sym typeface="Arial" panose="020B0604020202020204" pitchFamily="34" charset="0"/>
              </a:rPr>
              <a:t>是一类脂溶性物质，能与H</a:t>
            </a:r>
            <a:r>
              <a:rPr lang="zh-CN" altLang="en-US" sz="2400" baseline="30000" dirty="0">
                <a:latin typeface="微软雅黑" panose="020B0503020204020204" charset="-122"/>
                <a:ea typeface="微软雅黑" panose="020B0503020204020204" charset="-122"/>
                <a:sym typeface="Arial" panose="020B0604020202020204" pitchFamily="34" charset="0"/>
              </a:rPr>
              <a:t>+</a:t>
            </a:r>
            <a:r>
              <a:rPr lang="zh-CN" altLang="en-US" sz="2400" dirty="0">
                <a:latin typeface="微软雅黑" panose="020B0503020204020204" charset="-122"/>
                <a:ea typeface="微软雅黑" panose="020B0503020204020204" charset="-122"/>
                <a:sym typeface="Arial" panose="020B0604020202020204" pitchFamily="34" charset="0"/>
              </a:rPr>
              <a:t>以外的其他一价阳离子结合，并作为它们的载体使它们能过穿过膜，消除跨膜的电位梯度，使ATP不能合成，</a:t>
            </a:r>
            <a:endParaRPr lang="zh-CN" altLang="en-US" sz="2400" dirty="0">
              <a:latin typeface="微软雅黑" panose="020B0503020204020204" charset="-122"/>
              <a:ea typeface="微软雅黑" panose="020B0503020204020204" charset="-122"/>
            </a:endParaRPr>
          </a:p>
          <a:p>
            <a:pPr lvl="0" eaLnBrk="1" hangingPunct="1">
              <a:lnSpc>
                <a:spcPct val="145000"/>
              </a:lnSpc>
              <a:spcBef>
                <a:spcPct val="45000"/>
              </a:spcBef>
            </a:pPr>
            <a:r>
              <a:rPr lang="zh-CN" altLang="en-US" sz="2400" dirty="0">
                <a:solidFill>
                  <a:srgbClr val="FF0000"/>
                </a:solidFill>
                <a:latin typeface="微软雅黑" panose="020B0503020204020204" charset="-122"/>
                <a:ea typeface="微软雅黑" panose="020B0503020204020204" charset="-122"/>
              </a:rPr>
              <a:t>缬氨霉素</a:t>
            </a:r>
            <a:r>
              <a:rPr lang="zh-CN" altLang="en-US" sz="2400" dirty="0">
                <a:latin typeface="微软雅黑" panose="020B0503020204020204" charset="-122"/>
                <a:ea typeface="微软雅黑" panose="020B0503020204020204" charset="-122"/>
              </a:rPr>
              <a:t>结合</a:t>
            </a:r>
            <a:r>
              <a:rPr lang="en-US" altLang="zh-CN" sz="2400" dirty="0">
                <a:latin typeface="微软雅黑" panose="020B0503020204020204" charset="-122"/>
                <a:ea typeface="微软雅黑" panose="020B0503020204020204" charset="-122"/>
              </a:rPr>
              <a:t>K</a:t>
            </a:r>
            <a:r>
              <a:rPr lang="zh-CN" altLang="en-US" sz="2400" baseline="30000" dirty="0">
                <a:latin typeface="微软雅黑" panose="020B0503020204020204" charset="-122"/>
                <a:ea typeface="微软雅黑" panose="020B0503020204020204" charset="-122"/>
              </a:rPr>
              <a:t>＋，</a:t>
            </a:r>
            <a:r>
              <a:rPr lang="zh-CN" altLang="en-US" sz="2400" dirty="0">
                <a:solidFill>
                  <a:srgbClr val="FF0000"/>
                </a:solidFill>
                <a:latin typeface="微软雅黑" panose="020B0503020204020204" charset="-122"/>
                <a:ea typeface="微软雅黑" panose="020B0503020204020204" charset="-122"/>
              </a:rPr>
              <a:t>短杆菌肽</a:t>
            </a:r>
            <a:r>
              <a:rPr lang="zh-CN" altLang="en-US" sz="2400" dirty="0">
                <a:latin typeface="微软雅黑" panose="020B0503020204020204" charset="-122"/>
                <a:ea typeface="微软雅黑" panose="020B0503020204020204" charset="-122"/>
              </a:rPr>
              <a:t>结合</a:t>
            </a:r>
            <a:r>
              <a:rPr lang="en-US" altLang="zh-CN" sz="2400" dirty="0">
                <a:latin typeface="微软雅黑" panose="020B0503020204020204" charset="-122"/>
                <a:ea typeface="微软雅黑" panose="020B0503020204020204" charset="-122"/>
              </a:rPr>
              <a:t>K</a:t>
            </a:r>
            <a:r>
              <a:rPr lang="zh-CN" altLang="en-US" sz="2400" baseline="30000" dirty="0">
                <a:latin typeface="微软雅黑" panose="020B0503020204020204" charset="-122"/>
                <a:ea typeface="微软雅黑" panose="020B0503020204020204" charset="-122"/>
              </a:rPr>
              <a:t>＋ 、</a:t>
            </a:r>
            <a:r>
              <a:rPr lang="en-US" altLang="zh-CN" sz="2400" dirty="0">
                <a:latin typeface="微软雅黑" panose="020B0503020204020204" charset="-122"/>
                <a:ea typeface="微软雅黑" panose="020B0503020204020204" charset="-122"/>
              </a:rPr>
              <a:t>Na</a:t>
            </a:r>
            <a:r>
              <a:rPr lang="zh-CN" altLang="en-US" sz="2400" baseline="300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破坏了膜两侧的</a:t>
            </a:r>
            <a:r>
              <a:rPr lang="zh-CN" altLang="en-US" sz="2400" dirty="0">
                <a:solidFill>
                  <a:srgbClr val="FF0000"/>
                </a:solidFill>
                <a:latin typeface="微软雅黑" panose="020B0503020204020204" charset="-122"/>
                <a:ea typeface="微软雅黑" panose="020B0503020204020204" charset="-122"/>
              </a:rPr>
              <a:t>电位梯度</a:t>
            </a:r>
            <a:r>
              <a:rPr lang="zh-CN" altLang="en-US" sz="2400" dirty="0">
                <a:latin typeface="微软雅黑" panose="020B0503020204020204" charset="-122"/>
                <a:ea typeface="微软雅黑" panose="020B0503020204020204" charset="-122"/>
              </a:rPr>
              <a:t>。</a:t>
            </a:r>
          </a:p>
          <a:p>
            <a:pPr lvl="0" eaLnBrk="1" hangingPunct="1">
              <a:lnSpc>
                <a:spcPct val="145000"/>
              </a:lnSpc>
              <a:spcBef>
                <a:spcPct val="45000"/>
              </a:spcBef>
              <a:buNone/>
            </a:pPr>
            <a:r>
              <a:rPr lang="zh-CN" altLang="en-US" sz="2800" b="1" baseline="30000" dirty="0">
                <a:latin typeface="微软雅黑" panose="020B0503020204020204" charset="-122"/>
                <a:ea typeface="微软雅黑" panose="020B0503020204020204" charset="-122"/>
              </a:rPr>
              <a:t>   </a:t>
            </a:r>
          </a:p>
        </p:txBody>
      </p:sp>
      <p:sp>
        <p:nvSpPr>
          <p:cNvPr id="5" name="文本框 4"/>
          <p:cNvSpPr txBox="1"/>
          <p:nvPr/>
        </p:nvSpPr>
        <p:spPr>
          <a:xfrm>
            <a:off x="1559561" y="-71755"/>
            <a:ext cx="6989414" cy="906915"/>
          </a:xfrm>
          <a:prstGeom prst="rect">
            <a:avLst/>
          </a:prstGeom>
          <a:noFill/>
        </p:spPr>
        <p:txBody>
          <a:bodyPr wrap="none" rtlCol="0" anchor="t">
            <a:spAutoFit/>
          </a:bodyPr>
          <a:lstStyle/>
          <a:p>
            <a:pPr>
              <a:lnSpc>
                <a:spcPct val="150000"/>
              </a:lnSpc>
            </a:pPr>
            <a:r>
              <a:rPr 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（四）离子载体抑制剂</a:t>
            </a: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3">
            <a:extLst>
              <a:ext uri="{FF2B5EF4-FFF2-40B4-BE49-F238E27FC236}">
                <a16:creationId xmlns:a16="http://schemas.microsoft.com/office/drawing/2014/main" id="{F50E126B-32CD-ABF6-E517-502541AACA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688" y="620688"/>
            <a:ext cx="11712624" cy="606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5">
            <a:extLst>
              <a:ext uri="{FF2B5EF4-FFF2-40B4-BE49-F238E27FC236}">
                <a16:creationId xmlns:a16="http://schemas.microsoft.com/office/drawing/2014/main" id="{ED78A823-BD74-3DF1-0E5F-878CC9861E82}"/>
              </a:ext>
            </a:extLst>
          </p:cNvPr>
          <p:cNvSpPr>
            <a:spLocks noChangeArrowheads="1"/>
          </p:cNvSpPr>
          <p:nvPr/>
        </p:nvSpPr>
        <p:spPr bwMode="auto">
          <a:xfrm>
            <a:off x="4380626" y="62692"/>
            <a:ext cx="3430747" cy="523220"/>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ea typeface="楷体" panose="02010609060101010101" pitchFamily="49" charset="-122"/>
                <a:cs typeface="Times New Roman" panose="02020603050405020304" pitchFamily="18" charset="0"/>
              </a:rPr>
              <a:t>氧化磷酸化的抑制剂</a:t>
            </a:r>
            <a:endParaRPr lang="zh-CN" altLang="en-US" sz="2800" dirty="0">
              <a:latin typeface="Arial" panose="020B0604020202020204" pitchFamily="34"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08848739"/>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E6D3F6D7-E2B4-2C2D-26D3-04F7FA9D477E}"/>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9395" name="Rectangle 3">
            <a:extLst>
              <a:ext uri="{FF2B5EF4-FFF2-40B4-BE49-F238E27FC236}">
                <a16:creationId xmlns:a16="http://schemas.microsoft.com/office/drawing/2014/main" id="{C409C7D9-9A3F-C119-0DC7-D0F38BC32F3E}"/>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59396" name="Rectangle 4">
            <a:extLst>
              <a:ext uri="{FF2B5EF4-FFF2-40B4-BE49-F238E27FC236}">
                <a16:creationId xmlns:a16="http://schemas.microsoft.com/office/drawing/2014/main" id="{8393A008-3B6E-B7BD-4058-A0C148A792D8}"/>
              </a:ext>
            </a:extLst>
          </p:cNvPr>
          <p:cNvSpPr>
            <a:spLocks noGrp="1" noChangeArrowheads="1"/>
          </p:cNvSpPr>
          <p:nvPr>
            <p:ph type="title" idx="4294967295"/>
          </p:nvPr>
        </p:nvSpPr>
        <p:spPr>
          <a:xfrm>
            <a:off x="4367808" y="170731"/>
            <a:ext cx="4104828" cy="576263"/>
          </a:xfrm>
          <a:solidFill>
            <a:srgbClr val="99CCFF"/>
          </a:solid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Autofit/>
          </a:bodyPr>
          <a:lstStyle/>
          <a:p>
            <a:pPr eaLnBrk="1" hangingPunct="1"/>
            <a:r>
              <a:rPr lang="en-US" altLang="zh-CN" sz="4000" b="1" dirty="0">
                <a:ea typeface="楷体" panose="02010609060101010101" pitchFamily="49" charset="-122"/>
                <a:cs typeface="Times New Roman" panose="02020603050405020304" pitchFamily="18" charset="0"/>
              </a:rPr>
              <a:t>ATP-ADP </a:t>
            </a:r>
            <a:r>
              <a:rPr lang="zh-CN" altLang="en-US" sz="4000" b="1" dirty="0">
                <a:ea typeface="楷体" panose="02010609060101010101" pitchFamily="49" charset="-122"/>
                <a:cs typeface="Times New Roman" panose="02020603050405020304" pitchFamily="18" charset="0"/>
              </a:rPr>
              <a:t>转位酶</a:t>
            </a:r>
          </a:p>
        </p:txBody>
      </p:sp>
      <p:sp>
        <p:nvSpPr>
          <p:cNvPr id="55301" name="Rectangle 5">
            <a:extLst>
              <a:ext uri="{FF2B5EF4-FFF2-40B4-BE49-F238E27FC236}">
                <a16:creationId xmlns:a16="http://schemas.microsoft.com/office/drawing/2014/main" id="{D9A1CBBC-7CEA-49E5-F81F-C270A3C0451A}"/>
              </a:ext>
            </a:extLst>
          </p:cNvPr>
          <p:cNvSpPr>
            <a:spLocks noGrp="1" noChangeArrowheads="1"/>
          </p:cNvSpPr>
          <p:nvPr>
            <p:ph type="body" idx="4294967295"/>
          </p:nvPr>
        </p:nvSpPr>
        <p:spPr>
          <a:xfrm>
            <a:off x="407368" y="1059297"/>
            <a:ext cx="11377264" cy="4876800"/>
          </a:xfrm>
        </p:spPr>
        <p:txBody>
          <a:bodyPr vert="horz" lIns="90488" tIns="44450" rIns="90488" bIns="44450" rtlCol="0">
            <a:noAutofit/>
          </a:bodyPr>
          <a:lstStyle/>
          <a:p>
            <a:pPr algn="ctr" eaLnBrk="1" hangingPunct="1">
              <a:buFontTx/>
              <a:buNone/>
            </a:pPr>
            <a:r>
              <a:rPr lang="en-US" altLang="zh-CN" sz="3600" b="1" i="1" dirty="0">
                <a:solidFill>
                  <a:srgbClr val="FF0000"/>
                </a:solidFill>
                <a:ea typeface="楷体" panose="02010609060101010101" pitchFamily="49" charset="-122"/>
                <a:cs typeface="Times New Roman" panose="02020603050405020304" pitchFamily="18" charset="0"/>
              </a:rPr>
              <a:t>ATP</a:t>
            </a:r>
            <a:r>
              <a:rPr lang="zh-CN" altLang="en-US" sz="3600" b="1" i="1" dirty="0">
                <a:solidFill>
                  <a:srgbClr val="FF0000"/>
                </a:solidFill>
                <a:ea typeface="楷体" panose="02010609060101010101" pitchFamily="49" charset="-122"/>
                <a:cs typeface="Times New Roman" panose="02020603050405020304" pitchFamily="18" charset="0"/>
              </a:rPr>
              <a:t>必须运输出线粒体</a:t>
            </a:r>
            <a:r>
              <a:rPr lang="en-US" altLang="zh-CN" sz="3600" dirty="0">
                <a:ea typeface="楷体" panose="02010609060101010101" pitchFamily="49" charset="-122"/>
                <a:cs typeface="Times New Roman" panose="02020603050405020304" pitchFamily="18" charset="0"/>
              </a:rPr>
              <a:t> </a:t>
            </a:r>
          </a:p>
          <a:p>
            <a:pPr eaLnBrk="1" hangingPunct="1">
              <a:buClr>
                <a:srgbClr val="FF0000"/>
              </a:buClr>
              <a:buFont typeface="Wingdings" panose="05000000000000000000" pitchFamily="2" charset="2"/>
              <a:buChar char="«"/>
            </a:pPr>
            <a:r>
              <a:rPr lang="en-US" altLang="zh-CN" sz="3600" dirty="0">
                <a:ea typeface="楷体" panose="02010609060101010101" pitchFamily="49" charset="-122"/>
                <a:cs typeface="Times New Roman" panose="02020603050405020304" pitchFamily="18" charset="0"/>
              </a:rPr>
              <a:t>ATP </a:t>
            </a:r>
            <a:r>
              <a:rPr lang="zh-CN" altLang="en-US" sz="3600" dirty="0">
                <a:ea typeface="楷体" panose="02010609060101010101" pitchFamily="49" charset="-122"/>
                <a:cs typeface="Times New Roman" panose="02020603050405020304" pitchFamily="18" charset="0"/>
              </a:rPr>
              <a:t>离开</a:t>
            </a:r>
            <a:r>
              <a:rPr lang="en-US" altLang="zh-CN" sz="3600" dirty="0">
                <a:ea typeface="楷体" panose="02010609060101010101" pitchFamily="49" charset="-122"/>
                <a:cs typeface="Times New Roman" panose="02020603050405020304" pitchFamily="18" charset="0"/>
              </a:rPr>
              <a:t>, ADP</a:t>
            </a:r>
            <a:r>
              <a:rPr lang="zh-CN" altLang="en-US" sz="3600" dirty="0">
                <a:ea typeface="楷体" panose="02010609060101010101" pitchFamily="49" charset="-122"/>
                <a:cs typeface="Times New Roman" panose="02020603050405020304" pitchFamily="18" charset="0"/>
              </a:rPr>
              <a:t>进入线粒体</a:t>
            </a:r>
            <a:r>
              <a:rPr lang="en-US" altLang="zh-CN" sz="3600" dirty="0">
                <a:ea typeface="楷体" panose="02010609060101010101" pitchFamily="49" charset="-122"/>
                <a:cs typeface="Times New Roman" panose="02020603050405020304" pitchFamily="18" charset="0"/>
              </a:rPr>
              <a:t>- </a:t>
            </a:r>
            <a:r>
              <a:rPr lang="zh-CN" altLang="en-US" sz="3600" dirty="0">
                <a:ea typeface="楷体" panose="02010609060101010101" pitchFamily="49" charset="-122"/>
                <a:cs typeface="Times New Roman" panose="02020603050405020304" pitchFamily="18" charset="0"/>
              </a:rPr>
              <a:t>通过一种</a:t>
            </a:r>
            <a:r>
              <a:rPr lang="zh-CN" altLang="en-US" sz="3600" dirty="0">
                <a:latin typeface="Arial" panose="020B0604020202020204" pitchFamily="34" charset="0"/>
                <a:ea typeface="楷体" panose="02010609060101010101" pitchFamily="49" charset="-122"/>
                <a:cs typeface="Times New Roman" panose="02020603050405020304" pitchFamily="18" charset="0"/>
              </a:rPr>
              <a:t>“</a:t>
            </a:r>
            <a:r>
              <a:rPr lang="zh-CN" altLang="en-US" sz="3600" dirty="0">
                <a:ea typeface="楷体" panose="02010609060101010101" pitchFamily="49" charset="-122"/>
                <a:cs typeface="Times New Roman" panose="02020603050405020304" pitchFamily="18" charset="0"/>
              </a:rPr>
              <a:t>转位酶</a:t>
            </a:r>
            <a:r>
              <a:rPr lang="en-US" altLang="zh-CN" sz="3600" dirty="0">
                <a:ea typeface="楷体" panose="02010609060101010101" pitchFamily="49" charset="-122"/>
                <a:cs typeface="Times New Roman" panose="02020603050405020304" pitchFamily="18" charset="0"/>
              </a:rPr>
              <a:t>" </a:t>
            </a:r>
          </a:p>
          <a:p>
            <a:pPr eaLnBrk="1" hangingPunct="1">
              <a:buClr>
                <a:srgbClr val="FF0000"/>
              </a:buClr>
              <a:buFont typeface="Wingdings" panose="05000000000000000000" pitchFamily="2" charset="2"/>
              <a:buChar char="«"/>
            </a:pPr>
            <a:r>
              <a:rPr lang="zh-CN" altLang="en-US" sz="3600" dirty="0">
                <a:ea typeface="楷体" panose="02010609060101010101" pitchFamily="49" charset="-122"/>
                <a:cs typeface="Times New Roman" panose="02020603050405020304" pitchFamily="18" charset="0"/>
              </a:rPr>
              <a:t>然而</a:t>
            </a:r>
            <a:r>
              <a:rPr lang="en-US" altLang="zh-CN" sz="3600" dirty="0">
                <a:ea typeface="楷体" panose="02010609060101010101" pitchFamily="49" charset="-122"/>
                <a:cs typeface="Times New Roman" panose="02020603050405020304" pitchFamily="18" charset="0"/>
              </a:rPr>
              <a:t>ATP</a:t>
            </a:r>
            <a:r>
              <a:rPr lang="zh-CN" altLang="en-US" sz="3600" dirty="0">
                <a:ea typeface="楷体" panose="02010609060101010101" pitchFamily="49" charset="-122"/>
                <a:cs typeface="Times New Roman" panose="02020603050405020304" pitchFamily="18" charset="0"/>
              </a:rPr>
              <a:t>出去和</a:t>
            </a:r>
            <a:r>
              <a:rPr lang="en-US" altLang="zh-CN" sz="3600" dirty="0">
                <a:ea typeface="楷体" panose="02010609060101010101" pitchFamily="49" charset="-122"/>
                <a:cs typeface="Times New Roman" panose="02020603050405020304" pitchFamily="18" charset="0"/>
              </a:rPr>
              <a:t>ADP</a:t>
            </a:r>
            <a:r>
              <a:rPr lang="zh-CN" altLang="en-US" sz="3600" dirty="0">
                <a:ea typeface="楷体" panose="02010609060101010101" pitchFamily="49" charset="-122"/>
                <a:cs typeface="Times New Roman" panose="02020603050405020304" pitchFamily="18" charset="0"/>
              </a:rPr>
              <a:t>进入有</a:t>
            </a:r>
            <a:r>
              <a:rPr lang="en-US" altLang="zh-CN" sz="3600" dirty="0">
                <a:ea typeface="楷体" panose="02010609060101010101" pitchFamily="49" charset="-122"/>
                <a:cs typeface="Times New Roman" panose="02020603050405020304" pitchFamily="18" charset="0"/>
              </a:rPr>
              <a:t>1</a:t>
            </a:r>
            <a:r>
              <a:rPr lang="zh-CN" altLang="en-US" sz="3600" dirty="0">
                <a:ea typeface="楷体" panose="02010609060101010101" pitchFamily="49" charset="-122"/>
                <a:cs typeface="Times New Roman" panose="02020603050405020304" pitchFamily="18" charset="0"/>
              </a:rPr>
              <a:t>个负电荷的净转移</a:t>
            </a:r>
            <a:r>
              <a:rPr lang="en-US" altLang="zh-CN" sz="3600" dirty="0">
                <a:latin typeface="Arial" panose="020B0604020202020204" pitchFamily="34" charset="0"/>
                <a:ea typeface="楷体" panose="02010609060101010101" pitchFamily="49" charset="-122"/>
                <a:cs typeface="Times New Roman" panose="02020603050405020304" pitchFamily="18" charset="0"/>
              </a:rPr>
              <a:t>——</a:t>
            </a:r>
            <a:r>
              <a:rPr lang="zh-CN" altLang="en-US" sz="3600" dirty="0">
                <a:ea typeface="楷体" panose="02010609060101010101" pitchFamily="49" charset="-122"/>
                <a:cs typeface="Times New Roman" panose="02020603050405020304" pitchFamily="18" charset="0"/>
              </a:rPr>
              <a:t>相当于有</a:t>
            </a:r>
            <a:r>
              <a:rPr lang="en-US" altLang="zh-CN" sz="3600" dirty="0">
                <a:ea typeface="楷体" panose="02010609060101010101" pitchFamily="49" charset="-122"/>
                <a:cs typeface="Times New Roman" panose="02020603050405020304" pitchFamily="18" charset="0"/>
              </a:rPr>
              <a:t>1</a:t>
            </a:r>
            <a:r>
              <a:rPr lang="zh-CN" altLang="en-US" sz="3600" dirty="0">
                <a:ea typeface="楷体" panose="02010609060101010101" pitchFamily="49" charset="-122"/>
                <a:cs typeface="Times New Roman" panose="02020603050405020304" pitchFamily="18" charset="0"/>
              </a:rPr>
              <a:t>个质子进入基质。</a:t>
            </a:r>
            <a:r>
              <a:rPr lang="en-US" altLang="zh-CN" sz="3600" dirty="0">
                <a:ea typeface="楷体" panose="02010609060101010101" pitchFamily="49" charset="-122"/>
                <a:cs typeface="Times New Roman" panose="02020603050405020304" pitchFamily="18" charset="0"/>
              </a:rPr>
              <a:t> </a:t>
            </a:r>
          </a:p>
          <a:p>
            <a:pPr eaLnBrk="1" hangingPunct="1">
              <a:buClr>
                <a:srgbClr val="FF0000"/>
              </a:buClr>
              <a:buFont typeface="Wingdings" panose="05000000000000000000" pitchFamily="2" charset="2"/>
              <a:buChar char="«"/>
            </a:pPr>
            <a:r>
              <a:rPr lang="zh-CN" altLang="en-US" sz="3600" dirty="0">
                <a:ea typeface="楷体" panose="02010609060101010101" pitchFamily="49" charset="-122"/>
                <a:cs typeface="Times New Roman" panose="02020603050405020304" pitchFamily="18" charset="0"/>
              </a:rPr>
              <a:t>所以每</a:t>
            </a:r>
            <a:r>
              <a:rPr lang="en-US" altLang="zh-CN" sz="3600" dirty="0">
                <a:ea typeface="楷体" panose="02010609060101010101" pitchFamily="49" charset="-122"/>
                <a:cs typeface="Times New Roman" panose="02020603050405020304" pitchFamily="18" charset="0"/>
              </a:rPr>
              <a:t>1</a:t>
            </a:r>
            <a:r>
              <a:rPr lang="zh-CN" altLang="en-US" sz="3600" dirty="0">
                <a:ea typeface="楷体" panose="02010609060101010101" pitchFamily="49" charset="-122"/>
                <a:cs typeface="Times New Roman" panose="02020603050405020304" pitchFamily="18" charset="0"/>
              </a:rPr>
              <a:t>个</a:t>
            </a:r>
            <a:r>
              <a:rPr lang="en-US" altLang="zh-CN" sz="3600" dirty="0">
                <a:ea typeface="楷体" panose="02010609060101010101" pitchFamily="49" charset="-122"/>
                <a:cs typeface="Times New Roman" panose="02020603050405020304" pitchFamily="18" charset="0"/>
              </a:rPr>
              <a:t>ATP</a:t>
            </a:r>
            <a:r>
              <a:rPr lang="zh-CN" altLang="en-US" sz="3600" dirty="0">
                <a:ea typeface="楷体" panose="02010609060101010101" pitchFamily="49" charset="-122"/>
                <a:cs typeface="Times New Roman" panose="02020603050405020304" pitchFamily="18" charset="0"/>
              </a:rPr>
              <a:t>的输出消耗</a:t>
            </a:r>
            <a:r>
              <a:rPr lang="en-US" altLang="zh-CN" sz="3600" dirty="0">
                <a:ea typeface="楷体" panose="02010609060101010101" pitchFamily="49" charset="-122"/>
                <a:cs typeface="Times New Roman" panose="02020603050405020304" pitchFamily="18" charset="0"/>
              </a:rPr>
              <a:t>1</a:t>
            </a:r>
            <a:r>
              <a:rPr lang="zh-CN" altLang="en-US" sz="3600" dirty="0">
                <a:ea typeface="楷体" panose="02010609060101010101" pitchFamily="49" charset="-122"/>
                <a:cs typeface="Times New Roman" panose="02020603050405020304" pitchFamily="18" charset="0"/>
              </a:rPr>
              <a:t>个</a:t>
            </a:r>
            <a:r>
              <a:rPr lang="en-US" altLang="zh-CN" sz="3600" dirty="0">
                <a:ea typeface="楷体" panose="02010609060101010101" pitchFamily="49" charset="-122"/>
                <a:cs typeface="Times New Roman" panose="02020603050405020304" pitchFamily="18" charset="0"/>
              </a:rPr>
              <a:t>H</a:t>
            </a:r>
            <a:r>
              <a:rPr lang="en-US" altLang="zh-CN" sz="3600" baseline="30000" dirty="0">
                <a:ea typeface="楷体" panose="02010609060101010101" pitchFamily="49" charset="-122"/>
                <a:cs typeface="Times New Roman" panose="02020603050405020304" pitchFamily="18" charset="0"/>
              </a:rPr>
              <a:t>+</a:t>
            </a:r>
            <a:r>
              <a:rPr lang="en-US" altLang="zh-CN" sz="3600" dirty="0">
                <a:ea typeface="楷体" panose="02010609060101010101" pitchFamily="49" charset="-122"/>
                <a:cs typeface="Times New Roman" panose="02020603050405020304" pitchFamily="18" charset="0"/>
              </a:rPr>
              <a:t> </a:t>
            </a:r>
          </a:p>
          <a:p>
            <a:pPr eaLnBrk="1" hangingPunct="1">
              <a:buClr>
                <a:srgbClr val="FF0000"/>
              </a:buClr>
              <a:buFont typeface="Wingdings" panose="05000000000000000000" pitchFamily="2" charset="2"/>
              <a:buChar char="«"/>
            </a:pPr>
            <a:r>
              <a:rPr lang="en-US" altLang="zh-CN" sz="3600" dirty="0">
                <a:ea typeface="楷体" panose="02010609060101010101" pitchFamily="49" charset="-122"/>
                <a:cs typeface="Times New Roman" panose="02020603050405020304" pitchFamily="18" charset="0"/>
              </a:rPr>
              <a:t>1</a:t>
            </a:r>
            <a:r>
              <a:rPr lang="zh-CN" altLang="en-US" sz="3600" dirty="0">
                <a:ea typeface="楷体" panose="02010609060101010101" pitchFamily="49" charset="-122"/>
                <a:cs typeface="Times New Roman" panose="02020603050405020304" pitchFamily="18" charset="0"/>
              </a:rPr>
              <a:t>个</a:t>
            </a:r>
            <a:r>
              <a:rPr lang="en-US" altLang="zh-CN" sz="3600" dirty="0">
                <a:ea typeface="楷体" panose="02010609060101010101" pitchFamily="49" charset="-122"/>
                <a:cs typeface="Times New Roman" panose="02020603050405020304" pitchFamily="18" charset="0"/>
              </a:rPr>
              <a:t>ATP</a:t>
            </a:r>
            <a:r>
              <a:rPr lang="zh-CN" altLang="en-US" sz="3600" dirty="0">
                <a:ea typeface="楷体" panose="02010609060101010101" pitchFamily="49" charset="-122"/>
                <a:cs typeface="Times New Roman" panose="02020603050405020304" pitchFamily="18" charset="0"/>
              </a:rPr>
              <a:t>合成大概需要消耗</a:t>
            </a:r>
            <a:r>
              <a:rPr lang="en-US" altLang="zh-CN" sz="3600" dirty="0">
                <a:ea typeface="楷体" panose="02010609060101010101" pitchFamily="49" charset="-122"/>
                <a:cs typeface="Times New Roman" panose="02020603050405020304" pitchFamily="18" charset="0"/>
              </a:rPr>
              <a:t>3 H</a:t>
            </a:r>
            <a:r>
              <a:rPr lang="en-US" altLang="zh-CN" sz="3600" baseline="30000" dirty="0">
                <a:ea typeface="楷体" panose="02010609060101010101" pitchFamily="49" charset="-122"/>
                <a:cs typeface="Times New Roman" panose="02020603050405020304" pitchFamily="18" charset="0"/>
              </a:rPr>
              <a:t>+</a:t>
            </a:r>
            <a:r>
              <a:rPr lang="en-US" altLang="zh-CN" sz="3600" dirty="0">
                <a:ea typeface="楷体" panose="02010609060101010101" pitchFamily="49" charset="-122"/>
                <a:cs typeface="Times New Roman" panose="02020603050405020304" pitchFamily="18" charset="0"/>
              </a:rPr>
              <a:t> </a:t>
            </a:r>
          </a:p>
          <a:p>
            <a:pPr eaLnBrk="1" hangingPunct="1">
              <a:buClr>
                <a:srgbClr val="FF0000"/>
              </a:buClr>
              <a:buFont typeface="Wingdings" panose="05000000000000000000" pitchFamily="2" charset="2"/>
              <a:buChar char="«"/>
            </a:pPr>
            <a:r>
              <a:rPr lang="zh-CN" altLang="en-US" sz="3600" dirty="0">
                <a:ea typeface="楷体" panose="02010609060101010101" pitchFamily="49" charset="-122"/>
                <a:cs typeface="Times New Roman" panose="02020603050405020304" pitchFamily="18" charset="0"/>
              </a:rPr>
              <a:t>于是，合成及加上输出</a:t>
            </a:r>
            <a:r>
              <a:rPr lang="en-US" altLang="zh-CN" sz="3600" dirty="0">
                <a:ea typeface="楷体" panose="02010609060101010101" pitchFamily="49" charset="-122"/>
                <a:cs typeface="Times New Roman" panose="02020603050405020304" pitchFamily="18" charset="0"/>
              </a:rPr>
              <a:t> </a:t>
            </a:r>
            <a:r>
              <a:rPr lang="en-US" altLang="zh-CN" sz="3600" b="1" dirty="0">
                <a:solidFill>
                  <a:srgbClr val="FF0000"/>
                </a:solidFill>
                <a:ea typeface="楷体" panose="02010609060101010101" pitchFamily="49" charset="-122"/>
                <a:cs typeface="Times New Roman" panose="02020603050405020304" pitchFamily="18" charset="0"/>
              </a:rPr>
              <a:t>1 ATP = 4H</a:t>
            </a:r>
            <a:r>
              <a:rPr lang="en-US" altLang="zh-CN" sz="3600" b="1" baseline="30000" dirty="0">
                <a:solidFill>
                  <a:srgbClr val="FF0000"/>
                </a:solidFill>
                <a:ea typeface="楷体" panose="02010609060101010101" pitchFamily="49" charset="-122"/>
                <a:cs typeface="Times New Roman" panose="02020603050405020304" pitchFamily="18" charset="0"/>
              </a:rPr>
              <a:t>+</a:t>
            </a:r>
            <a:r>
              <a:rPr lang="en-US" altLang="zh-CN" sz="3600" dirty="0">
                <a:ea typeface="楷体" panose="02010609060101010101" pitchFamily="49" charset="-122"/>
                <a:cs typeface="Times New Roman" panose="02020603050405020304" pitchFamily="18" charset="0"/>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55301">
                                            <p:txEl>
                                              <p:pRg st="0" end="0"/>
                                            </p:txEl>
                                          </p:spTgt>
                                        </p:tgtEl>
                                        <p:attrNameLst>
                                          <p:attrName>style.visibility</p:attrName>
                                        </p:attrNameLst>
                                      </p:cBhvr>
                                      <p:to>
                                        <p:strVal val="visible"/>
                                      </p:to>
                                    </p:set>
                                    <p:animEffect transition="in" filter="box(out)">
                                      <p:cBhvr>
                                        <p:cTn id="7" dur="500"/>
                                        <p:tgtEl>
                                          <p:spTgt spid="5530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55301">
                                            <p:txEl>
                                              <p:pRg st="1" end="1"/>
                                            </p:txEl>
                                          </p:spTgt>
                                        </p:tgtEl>
                                        <p:attrNameLst>
                                          <p:attrName>style.visibility</p:attrName>
                                        </p:attrNameLst>
                                      </p:cBhvr>
                                      <p:to>
                                        <p:strVal val="visible"/>
                                      </p:to>
                                    </p:set>
                                    <p:animEffect transition="in" filter="box(out)">
                                      <p:cBhvr>
                                        <p:cTn id="12" dur="500"/>
                                        <p:tgtEl>
                                          <p:spTgt spid="5530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55301">
                                            <p:txEl>
                                              <p:pRg st="2" end="2"/>
                                            </p:txEl>
                                          </p:spTgt>
                                        </p:tgtEl>
                                        <p:attrNameLst>
                                          <p:attrName>style.visibility</p:attrName>
                                        </p:attrNameLst>
                                      </p:cBhvr>
                                      <p:to>
                                        <p:strVal val="visible"/>
                                      </p:to>
                                    </p:set>
                                    <p:animEffect transition="in" filter="box(out)">
                                      <p:cBhvr>
                                        <p:cTn id="17" dur="500"/>
                                        <p:tgtEl>
                                          <p:spTgt spid="5530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55301">
                                            <p:txEl>
                                              <p:pRg st="3" end="3"/>
                                            </p:txEl>
                                          </p:spTgt>
                                        </p:tgtEl>
                                        <p:attrNameLst>
                                          <p:attrName>style.visibility</p:attrName>
                                        </p:attrNameLst>
                                      </p:cBhvr>
                                      <p:to>
                                        <p:strVal val="visible"/>
                                      </p:to>
                                    </p:set>
                                    <p:animEffect transition="in" filter="box(out)">
                                      <p:cBhvr>
                                        <p:cTn id="22" dur="500"/>
                                        <p:tgtEl>
                                          <p:spTgt spid="5530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55301">
                                            <p:txEl>
                                              <p:pRg st="4" end="4"/>
                                            </p:txEl>
                                          </p:spTgt>
                                        </p:tgtEl>
                                        <p:attrNameLst>
                                          <p:attrName>style.visibility</p:attrName>
                                        </p:attrNameLst>
                                      </p:cBhvr>
                                      <p:to>
                                        <p:strVal val="visible"/>
                                      </p:to>
                                    </p:set>
                                    <p:animEffect transition="in" filter="box(out)">
                                      <p:cBhvr>
                                        <p:cTn id="27" dur="500"/>
                                        <p:tgtEl>
                                          <p:spTgt spid="5530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55301">
                                            <p:txEl>
                                              <p:pRg st="5" end="5"/>
                                            </p:txEl>
                                          </p:spTgt>
                                        </p:tgtEl>
                                        <p:attrNameLst>
                                          <p:attrName>style.visibility</p:attrName>
                                        </p:attrNameLst>
                                      </p:cBhvr>
                                      <p:to>
                                        <p:strVal val="visible"/>
                                      </p:to>
                                    </p:set>
                                    <p:animEffect transition="in" filter="box(out)">
                                      <p:cBhvr>
                                        <p:cTn id="32" dur="500"/>
                                        <p:tgtEl>
                                          <p:spTgt spid="5530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693D7E3-95A6-064C-0F3A-81EB4CFF76AB}"/>
              </a:ext>
            </a:extLst>
          </p:cNvPr>
          <p:cNvPicPr>
            <a:picLocks noChangeAspect="1"/>
          </p:cNvPicPr>
          <p:nvPr/>
        </p:nvPicPr>
        <p:blipFill>
          <a:blip r:embed="rId2"/>
          <a:stretch>
            <a:fillRect/>
          </a:stretch>
        </p:blipFill>
        <p:spPr>
          <a:xfrm>
            <a:off x="119336" y="0"/>
            <a:ext cx="6288871" cy="6858000"/>
          </a:xfrm>
          <a:prstGeom prst="rect">
            <a:avLst/>
          </a:prstGeom>
        </p:spPr>
      </p:pic>
      <p:pic>
        <p:nvPicPr>
          <p:cNvPr id="5" name="图片 4">
            <a:extLst>
              <a:ext uri="{FF2B5EF4-FFF2-40B4-BE49-F238E27FC236}">
                <a16:creationId xmlns:a16="http://schemas.microsoft.com/office/drawing/2014/main" id="{545FDED5-4A9E-2F5B-43E7-03F12E5EC965}"/>
              </a:ext>
            </a:extLst>
          </p:cNvPr>
          <p:cNvPicPr>
            <a:picLocks noChangeAspect="1"/>
          </p:cNvPicPr>
          <p:nvPr/>
        </p:nvPicPr>
        <p:blipFill>
          <a:blip r:embed="rId3"/>
          <a:stretch>
            <a:fillRect/>
          </a:stretch>
        </p:blipFill>
        <p:spPr>
          <a:xfrm>
            <a:off x="6601197" y="332656"/>
            <a:ext cx="5600700" cy="5734050"/>
          </a:xfrm>
          <a:prstGeom prst="rect">
            <a:avLst/>
          </a:prstGeom>
        </p:spPr>
      </p:pic>
    </p:spTree>
    <p:extLst>
      <p:ext uri="{BB962C8B-B14F-4D97-AF65-F5344CB8AC3E}">
        <p14:creationId xmlns:p14="http://schemas.microsoft.com/office/powerpoint/2010/main" val="40908949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矩形 576513"/>
          <p:cNvSpPr/>
          <p:nvPr/>
        </p:nvSpPr>
        <p:spPr>
          <a:xfrm>
            <a:off x="1703512" y="1700808"/>
            <a:ext cx="8351838" cy="293306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457200" indent="-457200" eaLnBrk="1" hangingPunct="1">
              <a:lnSpc>
                <a:spcPct val="165000"/>
              </a:lnSpc>
              <a:spcBef>
                <a:spcPct val="0"/>
              </a:spcBef>
            </a:pPr>
            <a:r>
              <a:rPr lang="zh-CN" altLang="en-US" sz="2800" dirty="0">
                <a:latin typeface="微软雅黑" panose="020B0503020204020204" charset="-122"/>
                <a:ea typeface="微软雅黑" panose="020B0503020204020204" charset="-122"/>
                <a:sym typeface="+mn-ea"/>
              </a:rPr>
              <a:t>胞质中生成的</a:t>
            </a:r>
            <a:r>
              <a:rPr lang="en-US" altLang="zh-CN" sz="2800" dirty="0">
                <a:latin typeface="微软雅黑" panose="020B0503020204020204" charset="-122"/>
                <a:ea typeface="微软雅黑" panose="020B0503020204020204" charset="-122"/>
                <a:sym typeface="+mn-ea"/>
              </a:rPr>
              <a:t>NADH</a:t>
            </a:r>
            <a:r>
              <a:rPr lang="zh-CN" altLang="en-US" sz="2800" dirty="0">
                <a:latin typeface="微软雅黑" panose="020B0503020204020204" charset="-122"/>
                <a:ea typeface="微软雅黑" panose="020B0503020204020204" charset="-122"/>
                <a:sym typeface="+mn-ea"/>
              </a:rPr>
              <a:t>不能自由通过线粒体内膜。</a:t>
            </a:r>
            <a:endParaRPr lang="en-US" altLang="zh-CN" sz="2800" dirty="0">
              <a:latin typeface="微软雅黑" panose="020B0503020204020204" charset="-122"/>
              <a:ea typeface="微软雅黑" panose="020B0503020204020204" charset="-122"/>
            </a:endParaRPr>
          </a:p>
          <a:p>
            <a:pPr marL="457200" indent="-457200" eaLnBrk="1" hangingPunct="1">
              <a:lnSpc>
                <a:spcPct val="165000"/>
              </a:lnSpc>
              <a:spcBef>
                <a:spcPct val="0"/>
              </a:spcBef>
            </a:pPr>
            <a:r>
              <a:rPr lang="zh-CN" altLang="en-US" sz="2800" dirty="0">
                <a:latin typeface="微软雅黑" panose="020B0503020204020204" charset="-122"/>
                <a:ea typeface="微软雅黑" panose="020B0503020204020204" charset="-122"/>
                <a:sym typeface="+mn-ea"/>
              </a:rPr>
              <a:t>转运胞液</a:t>
            </a:r>
            <a:r>
              <a:rPr lang="en-US" altLang="zh-CN" sz="2800" dirty="0">
                <a:latin typeface="微软雅黑" panose="020B0503020204020204" charset="-122"/>
                <a:ea typeface="微软雅黑" panose="020B0503020204020204" charset="-122"/>
                <a:sym typeface="+mn-ea"/>
              </a:rPr>
              <a:t>NADH</a:t>
            </a:r>
            <a:r>
              <a:rPr lang="zh-CN" altLang="en-US" sz="2800" dirty="0">
                <a:latin typeface="微软雅黑" panose="020B0503020204020204" charset="-122"/>
                <a:ea typeface="微软雅黑" panose="020B0503020204020204" charset="-122"/>
                <a:sym typeface="+mn-ea"/>
              </a:rPr>
              <a:t>的机制主要有：</a:t>
            </a:r>
            <a:endParaRPr lang="zh-CN" altLang="en-US" sz="2800" dirty="0">
              <a:latin typeface="微软雅黑" panose="020B0503020204020204" charset="-122"/>
              <a:ea typeface="微软雅黑" panose="020B0503020204020204" charset="-122"/>
            </a:endParaRPr>
          </a:p>
          <a:p>
            <a:pPr marL="971550" lvl="1" indent="-514350" eaLnBrk="1" hangingPunct="1">
              <a:lnSpc>
                <a:spcPct val="165000"/>
              </a:lnSpc>
              <a:spcBef>
                <a:spcPct val="0"/>
              </a:spcBef>
              <a:buClr>
                <a:srgbClr val="333300"/>
              </a:buClr>
              <a:buFont typeface="+mj-ea"/>
              <a:buAutoNum type="circleNumDbPlain"/>
            </a:pPr>
            <a:r>
              <a:rPr lang="zh-CN" altLang="en-US" b="1" dirty="0">
                <a:latin typeface="微软雅黑" panose="020B0503020204020204" charset="-122"/>
                <a:ea typeface="微软雅黑" panose="020B0503020204020204" charset="-122"/>
                <a:sym typeface="+mn-ea"/>
              </a:rPr>
              <a:t>甘油－3</a:t>
            </a:r>
            <a:r>
              <a:rPr lang="zh-CN" altLang="en-US" b="1" dirty="0">
                <a:latin typeface="微软雅黑" panose="020B0503020204020204" charset="-122"/>
                <a:ea typeface="微软雅黑" panose="020B0503020204020204" charset="-122"/>
                <a:sym typeface="Symbol" panose="05050102010706020507" pitchFamily="18" charset="2"/>
              </a:rPr>
              <a:t>-</a:t>
            </a:r>
            <a:r>
              <a:rPr lang="zh-CN" altLang="en-US" b="1" dirty="0">
                <a:latin typeface="微软雅黑" panose="020B0503020204020204" charset="-122"/>
                <a:ea typeface="微软雅黑" panose="020B0503020204020204" charset="-122"/>
                <a:sym typeface="+mn-ea"/>
              </a:rPr>
              <a:t>磷酸穿梭</a:t>
            </a:r>
            <a:endParaRPr lang="zh-CN" altLang="en-US" b="1" dirty="0">
              <a:latin typeface="微软雅黑" panose="020B0503020204020204" charset="-122"/>
              <a:ea typeface="微软雅黑" panose="020B0503020204020204" charset="-122"/>
            </a:endParaRPr>
          </a:p>
          <a:p>
            <a:pPr marL="971550" lvl="1" indent="-514350" eaLnBrk="1" hangingPunct="1">
              <a:lnSpc>
                <a:spcPct val="165000"/>
              </a:lnSpc>
              <a:spcBef>
                <a:spcPct val="0"/>
              </a:spcBef>
              <a:buClr>
                <a:srgbClr val="333300"/>
              </a:buClr>
              <a:buFont typeface="+mj-ea"/>
              <a:buAutoNum type="circleNumDbPlain"/>
            </a:pPr>
            <a:r>
              <a:rPr lang="zh-CN" altLang="en-US" b="1" dirty="0">
                <a:latin typeface="微软雅黑" panose="020B0503020204020204" charset="-122"/>
                <a:ea typeface="微软雅黑" panose="020B0503020204020204" charset="-122"/>
                <a:sym typeface="+mn-ea"/>
              </a:rPr>
              <a:t>苹果酸-天冬氨酸穿梭 </a:t>
            </a:r>
            <a:r>
              <a:rPr lang="zh-CN" altLang="en-US" b="1" baseline="30000" dirty="0">
                <a:latin typeface="微软雅黑" panose="020B0503020204020204" charset="-122"/>
                <a:ea typeface="微软雅黑" panose="020B0503020204020204" charset="-122"/>
              </a:rPr>
              <a:t>   </a:t>
            </a:r>
          </a:p>
        </p:txBody>
      </p:sp>
      <p:sp>
        <p:nvSpPr>
          <p:cNvPr id="2" name="文本框 1"/>
          <p:cNvSpPr txBox="1"/>
          <p:nvPr/>
        </p:nvSpPr>
        <p:spPr>
          <a:xfrm>
            <a:off x="-1032792" y="-99392"/>
            <a:ext cx="12740988"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三、胞质中NADH的跨膜运转：线粒体穿梭系统</a:t>
            </a: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98882" y="-78413"/>
            <a:ext cx="7845417"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1、甘油－3-磷酸穿梭机制</a:t>
            </a:r>
          </a:p>
        </p:txBody>
      </p:sp>
      <p:pic>
        <p:nvPicPr>
          <p:cNvPr id="4" name="图片 3"/>
          <p:cNvPicPr>
            <a:picLocks noChangeAspect="1"/>
          </p:cNvPicPr>
          <p:nvPr/>
        </p:nvPicPr>
        <p:blipFill>
          <a:blip r:embed="rId2"/>
          <a:stretch>
            <a:fillRect/>
          </a:stretch>
        </p:blipFill>
        <p:spPr>
          <a:xfrm>
            <a:off x="2063750" y="980440"/>
            <a:ext cx="6335380" cy="5760928"/>
          </a:xfrm>
          <a:prstGeom prst="rect">
            <a:avLst/>
          </a:prstGeom>
        </p:spPr>
      </p:pic>
      <p:sp>
        <p:nvSpPr>
          <p:cNvPr id="5" name="文本框 4"/>
          <p:cNvSpPr txBox="1"/>
          <p:nvPr/>
        </p:nvSpPr>
        <p:spPr>
          <a:xfrm>
            <a:off x="8408036" y="2185671"/>
            <a:ext cx="2014334" cy="2862322"/>
          </a:xfrm>
          <a:prstGeom prst="rect">
            <a:avLst/>
          </a:prstGeom>
          <a:noFill/>
        </p:spPr>
        <p:txBody>
          <a:bodyPr wrap="none" rtlCol="0">
            <a:spAutoFit/>
          </a:bodyPr>
          <a:lstStyle/>
          <a:p>
            <a:r>
              <a:rPr lang="en-US" altLang="zh-CN" sz="2000" b="1">
                <a:solidFill>
                  <a:schemeClr val="tx1"/>
                </a:solidFill>
              </a:rPr>
              <a:t>NADH</a:t>
            </a:r>
          </a:p>
          <a:p>
            <a:endParaRPr lang="en-US" altLang="zh-CN" sz="2000" b="1">
              <a:solidFill>
                <a:schemeClr val="tx1"/>
              </a:solidFill>
            </a:endParaRPr>
          </a:p>
          <a:p>
            <a:endParaRPr lang="en-US" altLang="zh-CN" sz="2000" b="1">
              <a:solidFill>
                <a:schemeClr val="tx1"/>
              </a:solidFill>
            </a:endParaRPr>
          </a:p>
          <a:p>
            <a:endParaRPr lang="en-US" altLang="zh-CN" sz="2000" b="1">
              <a:solidFill>
                <a:schemeClr val="tx1"/>
              </a:solidFill>
            </a:endParaRPr>
          </a:p>
          <a:p>
            <a:endParaRPr lang="en-US" altLang="zh-CN" sz="2000" b="1">
              <a:solidFill>
                <a:schemeClr val="tx1"/>
              </a:solidFill>
            </a:endParaRPr>
          </a:p>
          <a:p>
            <a:endParaRPr lang="en-US" altLang="zh-CN" sz="2000" b="1">
              <a:solidFill>
                <a:schemeClr val="tx1"/>
              </a:solidFill>
            </a:endParaRPr>
          </a:p>
          <a:p>
            <a:endParaRPr lang="en-US" altLang="zh-CN" sz="2000" b="1">
              <a:solidFill>
                <a:schemeClr val="tx1"/>
              </a:solidFill>
            </a:endParaRPr>
          </a:p>
          <a:p>
            <a:r>
              <a:rPr lang="en-US" altLang="zh-CN" sz="2000" b="1">
                <a:solidFill>
                  <a:schemeClr val="tx1"/>
                </a:solidFill>
              </a:rPr>
              <a:t>FADH</a:t>
            </a:r>
            <a:r>
              <a:rPr lang="en-US" altLang="zh-CN" sz="2000" b="1" baseline="-25000">
                <a:solidFill>
                  <a:schemeClr val="tx1"/>
                </a:solidFill>
              </a:rPr>
              <a:t>2</a:t>
            </a:r>
            <a:r>
              <a:rPr lang="en-US" altLang="zh-CN" sz="2000" b="1">
                <a:solidFill>
                  <a:schemeClr val="tx1"/>
                </a:solidFill>
              </a:rPr>
              <a:t>(1.5 ATP)</a:t>
            </a:r>
          </a:p>
          <a:p>
            <a:endParaRPr lang="en-US" altLang="zh-CN" sz="2000" b="1">
              <a:solidFill>
                <a:schemeClr val="tx1"/>
              </a:solidFill>
            </a:endParaRPr>
          </a:p>
        </p:txBody>
      </p:sp>
      <p:cxnSp>
        <p:nvCxnSpPr>
          <p:cNvPr id="8" name="直接箭头连接符 7"/>
          <p:cNvCxnSpPr/>
          <p:nvPr/>
        </p:nvCxnSpPr>
        <p:spPr>
          <a:xfrm>
            <a:off x="9754871" y="2660650"/>
            <a:ext cx="13335" cy="1200150"/>
          </a:xfrm>
          <a:prstGeom prst="straightConnector1">
            <a:avLst/>
          </a:prstGeom>
          <a:solidFill>
            <a:schemeClr val="accent1"/>
          </a:solidFill>
          <a:ln w="9525" cap="flat" cmpd="sng" algn="ctr">
            <a:noFill/>
            <a:prstDash val="solid"/>
            <a:round/>
            <a:headEnd type="none" w="med" len="med"/>
            <a:tailEnd type="arrow" w="med" len="med"/>
          </a:ln>
        </p:spPr>
      </p:cxnSp>
      <p:cxnSp>
        <p:nvCxnSpPr>
          <p:cNvPr id="10" name="直接箭头连接符 9"/>
          <p:cNvCxnSpPr/>
          <p:nvPr/>
        </p:nvCxnSpPr>
        <p:spPr>
          <a:xfrm>
            <a:off x="10136506" y="2016125"/>
            <a:ext cx="64135" cy="1268730"/>
          </a:xfrm>
          <a:prstGeom prst="straightConnector1">
            <a:avLst/>
          </a:prstGeom>
          <a:solidFill>
            <a:schemeClr val="accent1"/>
          </a:solidFill>
          <a:ln w="9525" cap="flat" cmpd="sng" algn="ctr">
            <a:noFill/>
            <a:prstDash val="solid"/>
            <a:round/>
            <a:headEnd type="none" w="med" len="med"/>
            <a:tailEnd type="arrow" w="med" len="med"/>
          </a:ln>
        </p:spPr>
      </p:cxnSp>
      <p:cxnSp>
        <p:nvCxnSpPr>
          <p:cNvPr id="11" name="直接箭头连接符 10"/>
          <p:cNvCxnSpPr/>
          <p:nvPr/>
        </p:nvCxnSpPr>
        <p:spPr>
          <a:xfrm>
            <a:off x="8904605" y="2816860"/>
            <a:ext cx="0" cy="1224280"/>
          </a:xfrm>
          <a:prstGeom prst="straightConnector1">
            <a:avLst/>
          </a:prstGeom>
          <a:solidFill>
            <a:schemeClr val="accent1"/>
          </a:solidFill>
          <a:ln w="19050" cap="flat" cmpd="sng" algn="ctr">
            <a:solidFill>
              <a:schemeClr val="tx1"/>
            </a:solidFill>
            <a:prstDash val="dash"/>
            <a:round/>
            <a:headEnd type="none" w="med" len="med"/>
            <a:tailEnd type="arrow" w="med" len="med"/>
          </a:ln>
        </p:spPr>
      </p:cxnSp>
      <p:sp>
        <p:nvSpPr>
          <p:cNvPr id="3" name="文本框 2"/>
          <p:cNvSpPr txBox="1"/>
          <p:nvPr/>
        </p:nvSpPr>
        <p:spPr>
          <a:xfrm>
            <a:off x="6168391" y="1628775"/>
            <a:ext cx="1271502" cy="307777"/>
          </a:xfrm>
          <a:prstGeom prst="rect">
            <a:avLst/>
          </a:prstGeom>
          <a:noFill/>
        </p:spPr>
        <p:txBody>
          <a:bodyPr wrap="none" rtlCol="0">
            <a:spAutoFit/>
          </a:bodyPr>
          <a:lstStyle/>
          <a:p>
            <a:pPr algn="l"/>
            <a:r>
              <a:rPr lang="zh-CN" altLang="en-US" sz="1400" b="1" dirty="0">
                <a:solidFill>
                  <a:srgbClr val="FF0000"/>
                </a:solidFill>
                <a:latin typeface="微软雅黑" panose="020B0503020204020204" charset="-122"/>
                <a:ea typeface="微软雅黑" panose="020B0503020204020204" charset="-122"/>
                <a:cs typeface="微软雅黑" panose="020B0503020204020204" charset="-122"/>
                <a:sym typeface="+mn-ea"/>
              </a:rPr>
              <a:t>甘油－3-磷酸</a:t>
            </a:r>
          </a:p>
        </p:txBody>
      </p:sp>
      <p:sp>
        <p:nvSpPr>
          <p:cNvPr id="7" name="文本框 6"/>
          <p:cNvSpPr txBox="1"/>
          <p:nvPr/>
        </p:nvSpPr>
        <p:spPr>
          <a:xfrm>
            <a:off x="2351405" y="1124585"/>
            <a:ext cx="1261884" cy="307777"/>
          </a:xfrm>
          <a:prstGeom prst="rect">
            <a:avLst/>
          </a:prstGeom>
          <a:noFill/>
        </p:spPr>
        <p:txBody>
          <a:bodyPr wrap="none" rtlCol="0">
            <a:spAutoFit/>
          </a:bodyPr>
          <a:lstStyle/>
          <a:p>
            <a:pPr algn="l"/>
            <a:r>
              <a:rPr lang="zh-CN" altLang="en-US" sz="1400" b="1" dirty="0">
                <a:solidFill>
                  <a:srgbClr val="FF0000"/>
                </a:solidFill>
                <a:latin typeface="微软雅黑" panose="020B0503020204020204" charset="-122"/>
                <a:ea typeface="微软雅黑" panose="020B0503020204020204" charset="-122"/>
                <a:cs typeface="微软雅黑" panose="020B0503020204020204" charset="-122"/>
                <a:sym typeface="+mn-ea"/>
              </a:rPr>
              <a:t>磷酸二羟丙酮</a:t>
            </a:r>
          </a:p>
        </p:txBody>
      </p:sp>
      <p:sp>
        <p:nvSpPr>
          <p:cNvPr id="9" name="文本框 8"/>
          <p:cNvSpPr txBox="1"/>
          <p:nvPr/>
        </p:nvSpPr>
        <p:spPr>
          <a:xfrm>
            <a:off x="5663952" y="4509120"/>
            <a:ext cx="1271502" cy="307777"/>
          </a:xfrm>
          <a:prstGeom prst="rect">
            <a:avLst/>
          </a:prstGeom>
          <a:noFill/>
        </p:spPr>
        <p:txBody>
          <a:bodyPr wrap="none" rtlCol="0">
            <a:spAutoFit/>
          </a:bodyPr>
          <a:lstStyle/>
          <a:p>
            <a:pPr algn="l"/>
            <a:r>
              <a:rPr lang="zh-CN" altLang="en-US" sz="1400" b="1" dirty="0">
                <a:solidFill>
                  <a:srgbClr val="FF0000"/>
                </a:solidFill>
                <a:latin typeface="微软雅黑" panose="020B0503020204020204" charset="-122"/>
                <a:ea typeface="微软雅黑" panose="020B0503020204020204" charset="-122"/>
                <a:cs typeface="微软雅黑" panose="020B0503020204020204" charset="-122"/>
                <a:sym typeface="+mn-ea"/>
              </a:rPr>
              <a:t>甘油－3-磷酸</a:t>
            </a:r>
          </a:p>
        </p:txBody>
      </p:sp>
      <p:sp>
        <p:nvSpPr>
          <p:cNvPr id="12" name="文本框 11"/>
          <p:cNvSpPr txBox="1"/>
          <p:nvPr/>
        </p:nvSpPr>
        <p:spPr>
          <a:xfrm>
            <a:off x="2711624" y="4600377"/>
            <a:ext cx="1261884" cy="307777"/>
          </a:xfrm>
          <a:prstGeom prst="rect">
            <a:avLst/>
          </a:prstGeom>
          <a:noFill/>
        </p:spPr>
        <p:txBody>
          <a:bodyPr wrap="none" rtlCol="0">
            <a:spAutoFit/>
          </a:bodyPr>
          <a:lstStyle/>
          <a:p>
            <a:pPr algn="l"/>
            <a:r>
              <a:rPr lang="zh-CN" altLang="en-US" sz="1400" b="1" dirty="0">
                <a:solidFill>
                  <a:srgbClr val="FF0000"/>
                </a:solidFill>
                <a:latin typeface="微软雅黑" panose="020B0503020204020204" charset="-122"/>
                <a:ea typeface="微软雅黑" panose="020B0503020204020204" charset="-122"/>
                <a:cs typeface="微软雅黑" panose="020B0503020204020204" charset="-122"/>
                <a:sym typeface="+mn-ea"/>
              </a:rPr>
              <a:t>磷酸二羟丙酮</a:t>
            </a: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2423160" y="1052830"/>
            <a:ext cx="6029960" cy="5401310"/>
          </a:xfrm>
          <a:prstGeom prst="rect">
            <a:avLst/>
          </a:prstGeom>
        </p:spPr>
      </p:pic>
      <p:sp>
        <p:nvSpPr>
          <p:cNvPr id="15" name="文本框 14"/>
          <p:cNvSpPr txBox="1"/>
          <p:nvPr/>
        </p:nvSpPr>
        <p:spPr>
          <a:xfrm>
            <a:off x="1343472" y="-80413"/>
            <a:ext cx="8555547"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en-US" dirty="0">
                <a:sym typeface="+mn-ea"/>
              </a:rPr>
              <a:t>           </a:t>
            </a:r>
            <a:r>
              <a:rPr lang="zh-CN" altLang="en-US" dirty="0">
                <a:sym typeface="+mn-ea"/>
              </a:rPr>
              <a:t>2、苹果酸-天冬氨酸穿梭机制</a:t>
            </a:r>
          </a:p>
        </p:txBody>
      </p:sp>
      <p:sp>
        <p:nvSpPr>
          <p:cNvPr id="16" name="文本框 15"/>
          <p:cNvSpPr txBox="1"/>
          <p:nvPr/>
        </p:nvSpPr>
        <p:spPr>
          <a:xfrm>
            <a:off x="8688706" y="2276476"/>
            <a:ext cx="2274597" cy="3416320"/>
          </a:xfrm>
          <a:prstGeom prst="rect">
            <a:avLst/>
          </a:prstGeom>
          <a:noFill/>
        </p:spPr>
        <p:txBody>
          <a:bodyPr wrap="none" rtlCol="0">
            <a:spAutoFit/>
          </a:bodyPr>
          <a:lstStyle/>
          <a:p>
            <a:r>
              <a:rPr lang="en-US" altLang="zh-CN" sz="2400" b="1">
                <a:solidFill>
                  <a:schemeClr val="tx1"/>
                </a:solidFill>
              </a:rPr>
              <a:t>NADH</a:t>
            </a:r>
          </a:p>
          <a:p>
            <a:endParaRPr lang="en-US" altLang="zh-CN" sz="2400" b="1">
              <a:solidFill>
                <a:schemeClr val="tx1"/>
              </a:solidFill>
            </a:endParaRPr>
          </a:p>
          <a:p>
            <a:endParaRPr lang="en-US" altLang="zh-CN" sz="2400" b="1">
              <a:solidFill>
                <a:schemeClr val="tx1"/>
              </a:solidFill>
            </a:endParaRPr>
          </a:p>
          <a:p>
            <a:endParaRPr lang="en-US" altLang="zh-CN" sz="2400" b="1">
              <a:solidFill>
                <a:schemeClr val="tx1"/>
              </a:solidFill>
            </a:endParaRPr>
          </a:p>
          <a:p>
            <a:endParaRPr lang="en-US" altLang="zh-CN" sz="2400" b="1">
              <a:solidFill>
                <a:schemeClr val="tx1"/>
              </a:solidFill>
            </a:endParaRPr>
          </a:p>
          <a:p>
            <a:endParaRPr lang="en-US" altLang="zh-CN" sz="2400" b="1">
              <a:solidFill>
                <a:schemeClr val="tx1"/>
              </a:solidFill>
            </a:endParaRPr>
          </a:p>
          <a:p>
            <a:endParaRPr lang="en-US" altLang="zh-CN" sz="2400" b="1">
              <a:solidFill>
                <a:schemeClr val="tx1"/>
              </a:solidFill>
            </a:endParaRPr>
          </a:p>
          <a:p>
            <a:r>
              <a:rPr lang="en-US" altLang="zh-CN" sz="2400" b="1">
                <a:solidFill>
                  <a:schemeClr val="tx1"/>
                </a:solidFill>
              </a:rPr>
              <a:t>NADH(2.5ATP)</a:t>
            </a:r>
          </a:p>
          <a:p>
            <a:endParaRPr lang="en-US" altLang="zh-CN" sz="2400" b="1">
              <a:solidFill>
                <a:schemeClr val="tx1"/>
              </a:solidFill>
            </a:endParaRPr>
          </a:p>
        </p:txBody>
      </p:sp>
      <p:cxnSp>
        <p:nvCxnSpPr>
          <p:cNvPr id="17" name="直接箭头连接符 16"/>
          <p:cNvCxnSpPr/>
          <p:nvPr/>
        </p:nvCxnSpPr>
        <p:spPr>
          <a:xfrm>
            <a:off x="9120505" y="2780665"/>
            <a:ext cx="0" cy="1224280"/>
          </a:xfrm>
          <a:prstGeom prst="straightConnector1">
            <a:avLst/>
          </a:prstGeom>
          <a:solidFill>
            <a:schemeClr val="accent1"/>
          </a:solidFill>
          <a:ln w="19050" cap="flat" cmpd="sng" algn="ctr">
            <a:solidFill>
              <a:schemeClr val="tx1"/>
            </a:solidFill>
            <a:prstDash val="dash"/>
            <a:round/>
            <a:headEnd type="none" w="med" len="med"/>
            <a:tailEnd type="arrow" w="med" len="med"/>
          </a:ln>
        </p:spPr>
      </p:cxnSp>
      <p:sp>
        <p:nvSpPr>
          <p:cNvPr id="18" name="文本框 17"/>
          <p:cNvSpPr txBox="1"/>
          <p:nvPr/>
        </p:nvSpPr>
        <p:spPr>
          <a:xfrm>
            <a:off x="7248525" y="1772920"/>
            <a:ext cx="800219" cy="338554"/>
          </a:xfrm>
          <a:prstGeom prst="rect">
            <a:avLst/>
          </a:prstGeom>
          <a:noFill/>
        </p:spPr>
        <p:txBody>
          <a:bodyPr wrap="none" rtlCol="0">
            <a:spAutoFit/>
          </a:bodyPr>
          <a:lstStyle/>
          <a:p>
            <a:pPr algn="l"/>
            <a:r>
              <a:rPr lang="zh-CN" altLang="en-US" sz="1600" b="1" dirty="0">
                <a:solidFill>
                  <a:srgbClr val="FF0000"/>
                </a:solidFill>
                <a:latin typeface="微软雅黑" panose="020B0503020204020204" charset="-122"/>
                <a:ea typeface="微软雅黑" panose="020B0503020204020204" charset="-122"/>
                <a:cs typeface="微软雅黑" panose="020B0503020204020204" charset="-122"/>
                <a:sym typeface="+mn-ea"/>
              </a:rPr>
              <a:t>苹果酸</a:t>
            </a:r>
          </a:p>
        </p:txBody>
      </p:sp>
      <p:sp>
        <p:nvSpPr>
          <p:cNvPr id="19" name="文本框 18"/>
          <p:cNvSpPr txBox="1"/>
          <p:nvPr/>
        </p:nvSpPr>
        <p:spPr>
          <a:xfrm>
            <a:off x="5015865" y="2132965"/>
            <a:ext cx="1005403" cy="338554"/>
          </a:xfrm>
          <a:prstGeom prst="rect">
            <a:avLst/>
          </a:prstGeom>
          <a:noFill/>
        </p:spPr>
        <p:txBody>
          <a:bodyPr wrap="none" rtlCol="0">
            <a:spAutoFit/>
          </a:bodyPr>
          <a:lstStyle/>
          <a:p>
            <a:pPr algn="l"/>
            <a:r>
              <a:rPr lang="zh-CN" altLang="en-US" sz="1600" b="1" dirty="0">
                <a:solidFill>
                  <a:srgbClr val="FF0000"/>
                </a:solidFill>
                <a:latin typeface="微软雅黑" panose="020B0503020204020204" charset="-122"/>
                <a:ea typeface="微软雅黑" panose="020B0503020204020204" charset="-122"/>
                <a:cs typeface="微软雅黑" panose="020B0503020204020204" charset="-122"/>
                <a:sym typeface="+mn-ea"/>
              </a:rPr>
              <a:t>草酰乙酸</a:t>
            </a:r>
          </a:p>
        </p:txBody>
      </p:sp>
      <p:sp>
        <p:nvSpPr>
          <p:cNvPr id="20" name="文本框 19"/>
          <p:cNvSpPr txBox="1"/>
          <p:nvPr/>
        </p:nvSpPr>
        <p:spPr>
          <a:xfrm>
            <a:off x="2639695" y="1772920"/>
            <a:ext cx="1005403" cy="338554"/>
          </a:xfrm>
          <a:prstGeom prst="rect">
            <a:avLst/>
          </a:prstGeom>
          <a:noFill/>
        </p:spPr>
        <p:txBody>
          <a:bodyPr wrap="none" rtlCol="0">
            <a:spAutoFit/>
          </a:bodyPr>
          <a:lstStyle/>
          <a:p>
            <a:pPr algn="l"/>
            <a:r>
              <a:rPr lang="zh-CN" altLang="en-US" sz="1600" b="1" dirty="0">
                <a:solidFill>
                  <a:srgbClr val="FF0000"/>
                </a:solidFill>
                <a:latin typeface="微软雅黑" panose="020B0503020204020204" charset="-122"/>
                <a:ea typeface="微软雅黑" panose="020B0503020204020204" charset="-122"/>
                <a:cs typeface="微软雅黑" panose="020B0503020204020204" charset="-122"/>
                <a:sym typeface="+mn-ea"/>
              </a:rPr>
              <a:t>天冬氨酸</a:t>
            </a:r>
          </a:p>
        </p:txBody>
      </p:sp>
      <p:sp>
        <p:nvSpPr>
          <p:cNvPr id="21" name="文本框 20"/>
          <p:cNvSpPr txBox="1"/>
          <p:nvPr/>
        </p:nvSpPr>
        <p:spPr>
          <a:xfrm>
            <a:off x="7031990" y="6236970"/>
            <a:ext cx="1210588" cy="338554"/>
          </a:xfrm>
          <a:prstGeom prst="rect">
            <a:avLst/>
          </a:prstGeom>
          <a:noFill/>
        </p:spPr>
        <p:txBody>
          <a:bodyPr wrap="none" rtlCol="0">
            <a:spAutoFit/>
          </a:bodyPr>
          <a:lstStyle/>
          <a:p>
            <a:pPr algn="l"/>
            <a:r>
              <a:rPr lang="zh-CN" altLang="en-US" sz="1600" b="1" dirty="0">
                <a:solidFill>
                  <a:srgbClr val="FF0000"/>
                </a:solidFill>
                <a:latin typeface="微软雅黑" panose="020B0503020204020204" charset="-122"/>
                <a:ea typeface="微软雅黑" panose="020B0503020204020204" charset="-122"/>
                <a:cs typeface="微软雅黑" panose="020B0503020204020204" charset="-122"/>
                <a:sym typeface="+mn-ea"/>
              </a:rPr>
              <a:t>电子传递链</a:t>
            </a:r>
          </a:p>
        </p:txBody>
      </p:sp>
      <p:sp>
        <p:nvSpPr>
          <p:cNvPr id="22" name="文本框 21"/>
          <p:cNvSpPr txBox="1"/>
          <p:nvPr/>
        </p:nvSpPr>
        <p:spPr>
          <a:xfrm>
            <a:off x="7336790" y="5085080"/>
            <a:ext cx="800219" cy="338554"/>
          </a:xfrm>
          <a:prstGeom prst="rect">
            <a:avLst/>
          </a:prstGeom>
          <a:noFill/>
        </p:spPr>
        <p:txBody>
          <a:bodyPr wrap="none" rtlCol="0">
            <a:spAutoFit/>
          </a:bodyPr>
          <a:lstStyle/>
          <a:p>
            <a:pPr algn="l"/>
            <a:r>
              <a:rPr lang="zh-CN" altLang="en-US" sz="1600" b="1" dirty="0">
                <a:solidFill>
                  <a:srgbClr val="FF0000"/>
                </a:solidFill>
                <a:latin typeface="微软雅黑" panose="020B0503020204020204" charset="-122"/>
                <a:ea typeface="微软雅黑" panose="020B0503020204020204" charset="-122"/>
                <a:cs typeface="微软雅黑" panose="020B0503020204020204" charset="-122"/>
                <a:sym typeface="+mn-ea"/>
              </a:rPr>
              <a:t>苹果酸</a:t>
            </a:r>
          </a:p>
        </p:txBody>
      </p:sp>
      <p:sp>
        <p:nvSpPr>
          <p:cNvPr id="23" name="文本框 22"/>
          <p:cNvSpPr txBox="1"/>
          <p:nvPr/>
        </p:nvSpPr>
        <p:spPr>
          <a:xfrm>
            <a:off x="5231765" y="5084445"/>
            <a:ext cx="1005403" cy="338554"/>
          </a:xfrm>
          <a:prstGeom prst="rect">
            <a:avLst/>
          </a:prstGeom>
          <a:noFill/>
        </p:spPr>
        <p:txBody>
          <a:bodyPr wrap="none" rtlCol="0">
            <a:spAutoFit/>
          </a:bodyPr>
          <a:lstStyle/>
          <a:p>
            <a:pPr algn="l"/>
            <a:r>
              <a:rPr lang="zh-CN" altLang="en-US" sz="1600" b="1" dirty="0">
                <a:solidFill>
                  <a:srgbClr val="FF0000"/>
                </a:solidFill>
                <a:latin typeface="微软雅黑" panose="020B0503020204020204" charset="-122"/>
                <a:ea typeface="微软雅黑" panose="020B0503020204020204" charset="-122"/>
                <a:cs typeface="微软雅黑" panose="020B0503020204020204" charset="-122"/>
                <a:sym typeface="+mn-ea"/>
              </a:rPr>
              <a:t>草酰乙酸</a:t>
            </a:r>
          </a:p>
        </p:txBody>
      </p:sp>
      <p:sp>
        <p:nvSpPr>
          <p:cNvPr id="24" name="文本框 23"/>
          <p:cNvSpPr txBox="1"/>
          <p:nvPr/>
        </p:nvSpPr>
        <p:spPr>
          <a:xfrm>
            <a:off x="2783840" y="5085080"/>
            <a:ext cx="1005403" cy="338554"/>
          </a:xfrm>
          <a:prstGeom prst="rect">
            <a:avLst/>
          </a:prstGeom>
          <a:noFill/>
        </p:spPr>
        <p:txBody>
          <a:bodyPr wrap="none" rtlCol="0">
            <a:spAutoFit/>
          </a:bodyPr>
          <a:lstStyle/>
          <a:p>
            <a:pPr algn="l"/>
            <a:r>
              <a:rPr lang="zh-CN" altLang="en-US" sz="1600" b="1" dirty="0">
                <a:solidFill>
                  <a:srgbClr val="FF0000"/>
                </a:solidFill>
                <a:latin typeface="微软雅黑" panose="020B0503020204020204" charset="-122"/>
                <a:ea typeface="微软雅黑" panose="020B0503020204020204" charset="-122"/>
                <a:cs typeface="微软雅黑" panose="020B0503020204020204" charset="-122"/>
                <a:sym typeface="+mn-ea"/>
              </a:rPr>
              <a:t>天冬氨酸</a:t>
            </a: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279576" y="-104450"/>
            <a:ext cx="7344959"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r>
              <a:rPr lang="zh-CN" altLang="en-US" dirty="0"/>
              <a:t>一个葡萄糖彻底氧化</a:t>
            </a:r>
            <a:r>
              <a:rPr lang="zh-CN" altLang="en-US"/>
              <a:t>生产的</a:t>
            </a:r>
            <a:r>
              <a:rPr lang="en-US" altLang="zh-CN" dirty="0"/>
              <a:t>ATP</a:t>
            </a:r>
          </a:p>
        </p:txBody>
      </p:sp>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432" y="1205589"/>
            <a:ext cx="9516036" cy="4887707"/>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983432" y="2766060"/>
            <a:ext cx="9011732" cy="311737"/>
          </a:xfrm>
          <a:prstGeom prst="rect">
            <a:avLst/>
          </a:prstGeom>
          <a:noFill/>
          <a:ln w="28575" cap="flat" cmpd="sng" algn="ctr">
            <a:solidFill>
              <a:srgbClr val="FF0000"/>
            </a:solidFill>
            <a:prstDash val="dash"/>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algn="ctr" eaLnBrk="1" hangingPunct="1"/>
            <a:endParaRPr kumimoji="1" lang="zh-CN" altLang="en-US"/>
          </a:p>
        </p:txBody>
      </p:sp>
      <p:sp>
        <p:nvSpPr>
          <p:cNvPr id="5" name="文本框 4"/>
          <p:cNvSpPr txBox="1"/>
          <p:nvPr/>
        </p:nvSpPr>
        <p:spPr>
          <a:xfrm>
            <a:off x="2279576" y="6093296"/>
            <a:ext cx="7625806"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糖酵解产生的</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NADH</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通过不同的穿梭系统进入线粒体</a:t>
            </a: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578561"/>
          <p:cNvSpPr/>
          <p:nvPr/>
        </p:nvSpPr>
        <p:spPr>
          <a:xfrm>
            <a:off x="2351088" y="1916114"/>
            <a:ext cx="7777162" cy="59792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1828800" lvl="4" indent="0" eaLnBrk="1" hangingPunct="1">
              <a:lnSpc>
                <a:spcPct val="130000"/>
              </a:lnSpc>
              <a:spcBef>
                <a:spcPct val="0"/>
              </a:spcBef>
              <a:buNone/>
            </a:pPr>
            <a:endParaRPr lang="zh-CN" altLang="en-US" sz="2800" b="1" dirty="0">
              <a:latin typeface="楷体_GB2312" pitchFamily="49" charset="-122"/>
              <a:ea typeface="楷体_GB2312" pitchFamily="49" charset="-122"/>
            </a:endParaRPr>
          </a:p>
        </p:txBody>
      </p:sp>
      <p:sp>
        <p:nvSpPr>
          <p:cNvPr id="3" name="文本框 6"/>
          <p:cNvSpPr txBox="1"/>
          <p:nvPr/>
        </p:nvSpPr>
        <p:spPr>
          <a:xfrm>
            <a:off x="2711624" y="1196752"/>
            <a:ext cx="2326278"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spcBef>
                <a:spcPct val="0"/>
              </a:spcBef>
            </a:pPr>
            <a:r>
              <a:rPr lang="zh-CN" altLang="en-US" sz="2800" b="1" dirty="0">
                <a:latin typeface="Times New Roman" panose="02020603050405020304" pitchFamily="18" charset="0"/>
              </a:rPr>
              <a:t>自由基产生</a:t>
            </a:r>
          </a:p>
        </p:txBody>
      </p:sp>
      <p:sp>
        <p:nvSpPr>
          <p:cNvPr id="4" name="文本框 10"/>
          <p:cNvSpPr txBox="1"/>
          <p:nvPr/>
        </p:nvSpPr>
        <p:spPr>
          <a:xfrm>
            <a:off x="2670349" y="3389089"/>
            <a:ext cx="2326278"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spcBef>
                <a:spcPct val="0"/>
              </a:spcBef>
            </a:pPr>
            <a:r>
              <a:rPr lang="zh-CN" altLang="en-US" sz="2800" b="1" dirty="0">
                <a:latin typeface="Times New Roman" panose="02020603050405020304" pitchFamily="18" charset="0"/>
              </a:rPr>
              <a:t>自由基清除</a:t>
            </a:r>
          </a:p>
        </p:txBody>
      </p:sp>
      <p:sp>
        <p:nvSpPr>
          <p:cNvPr id="5" name="文本框 7"/>
          <p:cNvSpPr txBox="1"/>
          <p:nvPr/>
        </p:nvSpPr>
        <p:spPr>
          <a:xfrm>
            <a:off x="3096834" y="3939362"/>
            <a:ext cx="7031416" cy="2323713"/>
          </a:xfrm>
          <a:prstGeom prst="rect">
            <a:avLst/>
          </a:prstGeom>
          <a:solidFill>
            <a:schemeClr val="accent2">
              <a:lumMod val="20000"/>
              <a:lumOff val="80000"/>
            </a:schemeClr>
          </a:solid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spcBef>
                <a:spcPts val="600"/>
              </a:spcBef>
              <a:buNone/>
            </a:pPr>
            <a:endParaRPr lang="en-US" altLang="zh-CN" sz="2000" dirty="0">
              <a:latin typeface="Times New Roman" panose="02020603050405020304" pitchFamily="18" charset="0"/>
            </a:endParaRPr>
          </a:p>
          <a:p>
            <a:pPr marL="0" indent="0">
              <a:spcBef>
                <a:spcPts val="600"/>
              </a:spcBef>
              <a:buNone/>
            </a:pPr>
            <a:r>
              <a:rPr lang="zh-CN" altLang="en-US" sz="2000" dirty="0">
                <a:latin typeface="Times New Roman" panose="02020603050405020304" pitchFamily="18" charset="0"/>
              </a:rPr>
              <a:t>超氧化物歧化酶：</a:t>
            </a:r>
            <a:endParaRPr lang="en-US" altLang="zh-CN" sz="2000" dirty="0">
              <a:latin typeface="Times New Roman" panose="02020603050405020304" pitchFamily="18" charset="0"/>
            </a:endParaRPr>
          </a:p>
          <a:p>
            <a:pPr marL="0" indent="0">
              <a:spcBef>
                <a:spcPct val="0"/>
              </a:spcBef>
              <a:buNone/>
            </a:pPr>
            <a:endParaRPr lang="en-US" altLang="zh-CN" sz="2000" dirty="0">
              <a:latin typeface="Times New Roman" panose="02020603050405020304" pitchFamily="18" charset="0"/>
            </a:endParaRPr>
          </a:p>
          <a:p>
            <a:pPr marL="0" indent="0">
              <a:spcBef>
                <a:spcPct val="0"/>
              </a:spcBef>
              <a:buNone/>
            </a:pPr>
            <a:r>
              <a:rPr lang="zh-CN" altLang="en-US" sz="2000" dirty="0">
                <a:latin typeface="Times New Roman" panose="02020603050405020304" pitchFamily="18" charset="0"/>
              </a:rPr>
              <a:t>过氧化氢酶：</a:t>
            </a:r>
            <a:endParaRPr lang="en-US" altLang="zh-CN" sz="2000" dirty="0">
              <a:latin typeface="Times New Roman" panose="02020603050405020304" pitchFamily="18" charset="0"/>
            </a:endParaRPr>
          </a:p>
          <a:p>
            <a:pPr marL="0" indent="0">
              <a:spcBef>
                <a:spcPct val="0"/>
              </a:spcBef>
              <a:buNone/>
            </a:pPr>
            <a:endParaRPr lang="en-US" altLang="zh-CN" sz="2000" dirty="0">
              <a:latin typeface="Times New Roman" panose="02020603050405020304" pitchFamily="18" charset="0"/>
            </a:endParaRPr>
          </a:p>
          <a:p>
            <a:pPr marL="0" indent="0">
              <a:spcBef>
                <a:spcPct val="0"/>
              </a:spcBef>
              <a:buNone/>
            </a:pPr>
            <a:r>
              <a:rPr lang="zh-CN" altLang="en-US" sz="2000" dirty="0">
                <a:latin typeface="Times New Roman" panose="02020603050405020304" pitchFamily="18" charset="0"/>
              </a:rPr>
              <a:t>过氧化物酶（谷胱甘肽过氧化物酶）：</a:t>
            </a:r>
            <a:endParaRPr lang="en-US" altLang="zh-CN" sz="2000" dirty="0">
              <a:latin typeface="Times New Roman" panose="02020603050405020304" pitchFamily="18" charset="0"/>
            </a:endParaRPr>
          </a:p>
          <a:p>
            <a:pPr marL="0" indent="0">
              <a:spcBef>
                <a:spcPct val="0"/>
              </a:spcBef>
              <a:buNone/>
            </a:pPr>
            <a:endParaRPr lang="zh-CN" altLang="en-US" sz="2000" dirty="0">
              <a:latin typeface="Times New Roman" panose="02020603050405020304" pitchFamily="18" charset="0"/>
            </a:endParaRPr>
          </a:p>
        </p:txBody>
      </p:sp>
      <p:pic>
        <p:nvPicPr>
          <p:cNvPr id="6" name="图片 3"/>
          <p:cNvPicPr>
            <a:picLocks noChangeAspect="1"/>
          </p:cNvPicPr>
          <p:nvPr/>
        </p:nvPicPr>
        <p:blipFill>
          <a:blip r:embed="rId2"/>
          <a:stretch>
            <a:fillRect/>
          </a:stretch>
        </p:blipFill>
        <p:spPr>
          <a:xfrm>
            <a:off x="5159896" y="4302400"/>
            <a:ext cx="2941637" cy="403225"/>
          </a:xfrm>
          <a:prstGeom prst="rect">
            <a:avLst/>
          </a:prstGeom>
          <a:noFill/>
          <a:ln w="9525">
            <a:noFill/>
          </a:ln>
        </p:spPr>
      </p:pic>
      <p:pic>
        <p:nvPicPr>
          <p:cNvPr id="7" name="图片 4"/>
          <p:cNvPicPr>
            <a:picLocks noChangeAspect="1"/>
          </p:cNvPicPr>
          <p:nvPr/>
        </p:nvPicPr>
        <p:blipFill>
          <a:blip r:embed="rId3"/>
          <a:stretch>
            <a:fillRect/>
          </a:stretch>
        </p:blipFill>
        <p:spPr>
          <a:xfrm>
            <a:off x="4653931" y="4924755"/>
            <a:ext cx="1927225" cy="373063"/>
          </a:xfrm>
          <a:prstGeom prst="rect">
            <a:avLst/>
          </a:prstGeom>
          <a:noFill/>
          <a:ln w="9525">
            <a:noFill/>
          </a:ln>
        </p:spPr>
      </p:pic>
      <p:pic>
        <p:nvPicPr>
          <p:cNvPr id="8" name="图片 5"/>
          <p:cNvPicPr>
            <a:picLocks noChangeAspect="1"/>
          </p:cNvPicPr>
          <p:nvPr/>
        </p:nvPicPr>
        <p:blipFill>
          <a:blip r:embed="rId4"/>
          <a:stretch>
            <a:fillRect/>
          </a:stretch>
        </p:blipFill>
        <p:spPr>
          <a:xfrm>
            <a:off x="7392144" y="5589240"/>
            <a:ext cx="2582863" cy="312738"/>
          </a:xfrm>
          <a:prstGeom prst="rect">
            <a:avLst/>
          </a:prstGeom>
          <a:noFill/>
          <a:ln w="9525">
            <a:noFill/>
          </a:ln>
        </p:spPr>
      </p:pic>
      <p:pic>
        <p:nvPicPr>
          <p:cNvPr id="9" name="图片 16"/>
          <p:cNvPicPr>
            <a:picLocks noChangeAspect="1"/>
          </p:cNvPicPr>
          <p:nvPr/>
        </p:nvPicPr>
        <p:blipFill>
          <a:blip r:embed="rId5">
            <a:duotone>
              <a:prstClr val="black"/>
              <a:schemeClr val="accent6">
                <a:tint val="45000"/>
                <a:satMod val="400000"/>
              </a:schemeClr>
            </a:duotone>
          </a:blip>
          <a:stretch>
            <a:fillRect/>
          </a:stretch>
        </p:blipFill>
        <p:spPr>
          <a:xfrm>
            <a:off x="3068813" y="1898427"/>
            <a:ext cx="3170237" cy="1404937"/>
          </a:xfrm>
          <a:prstGeom prst="rect">
            <a:avLst/>
          </a:prstGeom>
          <a:solidFill>
            <a:schemeClr val="tx1"/>
          </a:solidFill>
          <a:ln w="9525" cap="flat" cmpd="sng">
            <a:solidFill>
              <a:schemeClr val="tx1"/>
            </a:solidFill>
            <a:prstDash val="solid"/>
            <a:miter/>
            <a:headEnd type="none" w="med" len="med"/>
            <a:tailEnd type="none" w="med" len="med"/>
          </a:ln>
        </p:spPr>
      </p:pic>
      <p:sp>
        <p:nvSpPr>
          <p:cNvPr id="11" name="文本框 10"/>
          <p:cNvSpPr txBox="1"/>
          <p:nvPr/>
        </p:nvSpPr>
        <p:spPr>
          <a:xfrm>
            <a:off x="1799675" y="-108532"/>
            <a:ext cx="6476453"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vl2pPr marL="742950" indent="-285750">
              <a:spcBef>
                <a:spcPct val="20000"/>
              </a:spcBef>
              <a:buChar char="–"/>
              <a:defRPr sz="2800">
                <a:solidFill>
                  <a:schemeClr val="tx1"/>
                </a:solidFill>
                <a:latin typeface="+mn-lt"/>
                <a:ea typeface="+mn-ea"/>
              </a:defRPr>
            </a:lvl2pPr>
            <a:lvl3pPr marL="1143000" indent="-228600">
              <a:spcBef>
                <a:spcPct val="20000"/>
              </a:spcBef>
              <a:buChar char="•"/>
              <a:defRPr sz="2400">
                <a:solidFill>
                  <a:schemeClr val="tx1"/>
                </a:solidFill>
                <a:latin typeface="+mn-lt"/>
                <a:ea typeface="+mn-ea"/>
              </a:defRPr>
            </a:lvl3pPr>
            <a:lvl4pPr marL="1600200" indent="-228600">
              <a:spcBef>
                <a:spcPct val="20000"/>
              </a:spcBef>
              <a:buChar char="–"/>
              <a:defRPr sz="2000">
                <a:solidFill>
                  <a:schemeClr val="tx1"/>
                </a:solidFill>
                <a:latin typeface="+mn-lt"/>
                <a:ea typeface="+mn-ea"/>
              </a:defRPr>
            </a:lvl4pPr>
            <a:lvl5pPr marL="2057400" indent="-228600">
              <a:spcBef>
                <a:spcPct val="20000"/>
              </a:spcBef>
              <a:buChar char="»"/>
              <a:defRPr sz="2000">
                <a:solidFill>
                  <a:schemeClr val="tx1"/>
                </a:solidFill>
                <a:latin typeface="+mn-lt"/>
                <a:ea typeface="+mn-ea"/>
              </a:defRPr>
            </a:lvl5pPr>
          </a:lstStyle>
          <a:p>
            <a:r>
              <a:rPr lang="en-US" dirty="0">
                <a:sym typeface="+mn-ea"/>
              </a:rPr>
              <a:t>           </a:t>
            </a:r>
            <a:r>
              <a:rPr lang="zh-CN" altLang="en-US" dirty="0">
                <a:sym typeface="+mn-ea"/>
              </a:rPr>
              <a:t>四、氧的不完全还原</a:t>
            </a: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063552" y="-99392"/>
            <a:ext cx="6476453"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vl2pPr marL="742950" indent="-285750">
              <a:spcBef>
                <a:spcPct val="20000"/>
              </a:spcBef>
              <a:buChar char="–"/>
              <a:defRPr sz="2800">
                <a:solidFill>
                  <a:schemeClr val="tx1"/>
                </a:solidFill>
                <a:latin typeface="+mn-lt"/>
                <a:ea typeface="+mn-ea"/>
              </a:defRPr>
            </a:lvl2pPr>
            <a:lvl3pPr marL="1143000" indent="-228600">
              <a:spcBef>
                <a:spcPct val="20000"/>
              </a:spcBef>
              <a:buChar char="•"/>
              <a:defRPr sz="2400">
                <a:solidFill>
                  <a:schemeClr val="tx1"/>
                </a:solidFill>
                <a:latin typeface="+mn-lt"/>
                <a:ea typeface="+mn-ea"/>
              </a:defRPr>
            </a:lvl3pPr>
            <a:lvl4pPr marL="1600200" indent="-228600">
              <a:spcBef>
                <a:spcPct val="20000"/>
              </a:spcBef>
              <a:buChar char="–"/>
              <a:defRPr sz="2000">
                <a:solidFill>
                  <a:schemeClr val="tx1"/>
                </a:solidFill>
                <a:latin typeface="+mn-lt"/>
                <a:ea typeface="+mn-ea"/>
              </a:defRPr>
            </a:lvl4pPr>
            <a:lvl5pPr marL="2057400" indent="-228600">
              <a:spcBef>
                <a:spcPct val="20000"/>
              </a:spcBef>
              <a:buChar char="»"/>
              <a:defRPr sz="2000">
                <a:solidFill>
                  <a:schemeClr val="tx1"/>
                </a:solidFill>
                <a:latin typeface="+mn-lt"/>
                <a:ea typeface="+mn-ea"/>
              </a:defRPr>
            </a:lvl5pPr>
          </a:lstStyle>
          <a:p>
            <a:r>
              <a:rPr lang="en-US" dirty="0">
                <a:sym typeface="+mn-ea"/>
              </a:rPr>
              <a:t>           </a:t>
            </a:r>
            <a:r>
              <a:rPr lang="zh-CN" altLang="en-US" dirty="0">
                <a:sym typeface="+mn-ea"/>
              </a:rPr>
              <a:t>四、氧的不完全还原</a:t>
            </a:r>
          </a:p>
        </p:txBody>
      </p:sp>
      <p:pic>
        <p:nvPicPr>
          <p:cNvPr id="2" name="图片 1"/>
          <p:cNvPicPr>
            <a:picLocks noChangeAspect="1"/>
          </p:cNvPicPr>
          <p:nvPr/>
        </p:nvPicPr>
        <p:blipFill>
          <a:blip r:embed="rId2"/>
          <a:srcRect l="3423"/>
          <a:stretch>
            <a:fillRect/>
          </a:stretch>
        </p:blipFill>
        <p:spPr>
          <a:xfrm>
            <a:off x="4744338" y="1119316"/>
            <a:ext cx="6645710" cy="5500559"/>
          </a:xfrm>
          <a:prstGeom prst="rect">
            <a:avLst/>
          </a:prstGeom>
          <a:ln>
            <a:solidFill>
              <a:schemeClr val="tx1"/>
            </a:solidFill>
          </a:ln>
        </p:spPr>
      </p:pic>
      <p:sp>
        <p:nvSpPr>
          <p:cNvPr id="3" name="文本框 2"/>
          <p:cNvSpPr txBox="1"/>
          <p:nvPr/>
        </p:nvSpPr>
        <p:spPr>
          <a:xfrm>
            <a:off x="8945245" y="3140710"/>
            <a:ext cx="1249680" cy="275590"/>
          </a:xfrm>
          <a:prstGeom prst="rect">
            <a:avLst/>
          </a:prstGeom>
          <a:noFill/>
        </p:spPr>
        <p:txBody>
          <a:bodyPr wrap="none" rtlCol="0" anchor="t">
            <a:spAutoFit/>
          </a:bodyPr>
          <a:lstStyle/>
          <a:p>
            <a:r>
              <a:rPr lang="zh-CN" altLang="en-US" sz="1200" b="1" dirty="0">
                <a:solidFill>
                  <a:srgbClr val="FF0000"/>
                </a:solidFill>
                <a:latin typeface="微软雅黑" panose="020B0503020204020204" charset="-122"/>
                <a:ea typeface="微软雅黑" panose="020B0503020204020204" charset="-122"/>
                <a:sym typeface="+mn-ea"/>
              </a:rPr>
              <a:t>超氧化物歧化酶</a:t>
            </a:r>
          </a:p>
        </p:txBody>
      </p:sp>
      <p:sp>
        <p:nvSpPr>
          <p:cNvPr id="4" name="文本框 3"/>
          <p:cNvSpPr txBox="1"/>
          <p:nvPr/>
        </p:nvSpPr>
        <p:spPr>
          <a:xfrm>
            <a:off x="9912424" y="4221088"/>
            <a:ext cx="1366520" cy="460375"/>
          </a:xfrm>
          <a:prstGeom prst="rect">
            <a:avLst/>
          </a:prstGeom>
          <a:noFill/>
        </p:spPr>
        <p:txBody>
          <a:bodyPr wrap="square" rtlCol="0" anchor="t">
            <a:spAutoFit/>
          </a:bodyPr>
          <a:lstStyle/>
          <a:p>
            <a:pPr lvl="0" algn="l">
              <a:buClrTx/>
              <a:buSzTx/>
              <a:buFontTx/>
            </a:pPr>
            <a:r>
              <a:rPr lang="zh-CN" altLang="en-US" sz="1200" b="1" dirty="0">
                <a:solidFill>
                  <a:srgbClr val="FF0000"/>
                </a:solidFill>
                <a:latin typeface="微软雅黑" panose="020B0503020204020204" charset="-122"/>
                <a:ea typeface="微软雅黑" panose="020B0503020204020204" charset="-122"/>
                <a:sym typeface="+mn-ea"/>
              </a:rPr>
              <a:t>谷胱甘肽过氧化物酶</a:t>
            </a:r>
          </a:p>
        </p:txBody>
      </p:sp>
      <p:sp>
        <p:nvSpPr>
          <p:cNvPr id="6" name="文本框 5"/>
          <p:cNvSpPr txBox="1"/>
          <p:nvPr/>
        </p:nvSpPr>
        <p:spPr>
          <a:xfrm>
            <a:off x="0" y="1988840"/>
            <a:ext cx="4633234" cy="2797048"/>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400" dirty="0">
                <a:solidFill>
                  <a:schemeClr val="tx1"/>
                </a:solidFill>
                <a:latin typeface="微软雅黑" panose="020B0503020204020204" charset="-122"/>
                <a:ea typeface="微软雅黑" panose="020B0503020204020204" charset="-122"/>
                <a:sym typeface="+mn-ea"/>
              </a:rPr>
              <a:t>在缺氧细胞中，电子链的</a:t>
            </a:r>
            <a:r>
              <a:rPr lang="zh-CN" altLang="en-US" sz="2400" u="sng" dirty="0">
                <a:solidFill>
                  <a:schemeClr val="tx1"/>
                </a:solidFill>
                <a:latin typeface="微软雅黑" panose="020B0503020204020204" charset="-122"/>
                <a:ea typeface="微软雅黑" panose="020B0503020204020204" charset="-122"/>
                <a:sym typeface="+mn-ea"/>
              </a:rPr>
              <a:t>电子输入与电子向分子氧的转移</a:t>
            </a:r>
            <a:r>
              <a:rPr lang="zh-CN" altLang="en-US" sz="2400" dirty="0">
                <a:solidFill>
                  <a:schemeClr val="tx1"/>
                </a:solidFill>
                <a:latin typeface="微软雅黑" panose="020B0503020204020204" charset="-122"/>
                <a:ea typeface="微软雅黑" panose="020B0503020204020204" charset="-122"/>
                <a:sym typeface="+mn-ea"/>
              </a:rPr>
              <a:t>之间，存在不平衡，导致</a:t>
            </a:r>
            <a:r>
              <a:rPr lang="zh-CN" altLang="en-US" sz="2400" u="sng" dirty="0">
                <a:solidFill>
                  <a:srgbClr val="FF0000"/>
                </a:solidFill>
                <a:latin typeface="微软雅黑" panose="020B0503020204020204" charset="-122"/>
                <a:ea typeface="微软雅黑" panose="020B0503020204020204" charset="-122"/>
                <a:sym typeface="+mn-ea"/>
              </a:rPr>
              <a:t>活性氧自由基</a:t>
            </a:r>
            <a:r>
              <a:rPr lang="zh-CN" altLang="en-US" sz="2400" dirty="0">
                <a:solidFill>
                  <a:schemeClr val="tx1"/>
                </a:solidFill>
                <a:latin typeface="微软雅黑" panose="020B0503020204020204" charset="-122"/>
                <a:ea typeface="微软雅黑" panose="020B0503020204020204" charset="-122"/>
                <a:sym typeface="+mn-ea"/>
              </a:rPr>
              <a:t>的形成增加。</a:t>
            </a:r>
          </a:p>
          <a:p>
            <a:pPr marL="342900" indent="-342900">
              <a:lnSpc>
                <a:spcPct val="150000"/>
              </a:lnSpc>
              <a:buFont typeface="Arial" panose="020B0604020202020204" pitchFamily="34" charset="0"/>
              <a:buChar char="•"/>
            </a:pPr>
            <a:r>
              <a:rPr lang="zh-CN" altLang="en-US" sz="2400" dirty="0">
                <a:solidFill>
                  <a:schemeClr val="tx1"/>
                </a:solidFill>
                <a:latin typeface="微软雅黑" panose="020B0503020204020204" charset="-122"/>
                <a:ea typeface="微软雅黑" panose="020B0503020204020204" charset="-122"/>
                <a:sym typeface="+mn-ea"/>
              </a:rPr>
              <a:t>有酶的防御系统。</a:t>
            </a:r>
          </a:p>
        </p:txBody>
      </p:sp>
      <p:sp>
        <p:nvSpPr>
          <p:cNvPr id="8" name="文本框 7"/>
          <p:cNvSpPr txBox="1"/>
          <p:nvPr/>
        </p:nvSpPr>
        <p:spPr>
          <a:xfrm>
            <a:off x="6543040" y="3731801"/>
            <a:ext cx="2540000" cy="275590"/>
          </a:xfrm>
          <a:prstGeom prst="rect">
            <a:avLst/>
          </a:prstGeom>
          <a:noFill/>
        </p:spPr>
        <p:txBody>
          <a:bodyPr wrap="square" rtlCol="0" anchor="t">
            <a:spAutoFit/>
          </a:bodyPr>
          <a:lstStyle/>
          <a:p>
            <a:pPr algn="l">
              <a:buClrTx/>
              <a:buSzTx/>
              <a:buFontTx/>
            </a:pPr>
            <a:r>
              <a:rPr lang="zh-CN" altLang="en-US" sz="1200" b="1" dirty="0">
                <a:solidFill>
                  <a:srgbClr val="FF0000"/>
                </a:solidFill>
                <a:latin typeface="微软雅黑" panose="020B0503020204020204" charset="-122"/>
                <a:ea typeface="微软雅黑" panose="020B0503020204020204" charset="-122"/>
                <a:sym typeface="+mn-ea"/>
              </a:rPr>
              <a:t> 谷胱甘肽还原酶</a:t>
            </a: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1861409"/>
      </p:ext>
    </p:ext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578561"/>
          <p:cNvSpPr/>
          <p:nvPr/>
        </p:nvSpPr>
        <p:spPr>
          <a:xfrm>
            <a:off x="2351088" y="1916114"/>
            <a:ext cx="7777162" cy="59792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1828800" lvl="4" indent="0" eaLnBrk="1" hangingPunct="1">
              <a:lnSpc>
                <a:spcPct val="130000"/>
              </a:lnSpc>
              <a:spcBef>
                <a:spcPct val="0"/>
              </a:spcBef>
              <a:buNone/>
            </a:pPr>
            <a:endParaRPr lang="zh-CN" altLang="en-US" sz="2800" b="1" dirty="0">
              <a:latin typeface="楷体_GB2312" pitchFamily="49" charset="-122"/>
              <a:ea typeface="楷体_GB2312" pitchFamily="49" charset="-122"/>
            </a:endParaRPr>
          </a:p>
        </p:txBody>
      </p:sp>
      <p:sp>
        <p:nvSpPr>
          <p:cNvPr id="7" name="文本框 6"/>
          <p:cNvSpPr txBox="1"/>
          <p:nvPr/>
        </p:nvSpPr>
        <p:spPr>
          <a:xfrm>
            <a:off x="2135560" y="-99392"/>
            <a:ext cx="6837128" cy="906915"/>
          </a:xfrm>
          <a:prstGeom prst="rect">
            <a:avLst/>
          </a:prstGeom>
          <a:noFill/>
        </p:spPr>
        <p:txBody>
          <a:bodyPr wrap="none" rtlCol="0" anchor="t">
            <a:spAutoFit/>
          </a:bodyPr>
          <a:lstStyle>
            <a:defPPr>
              <a:defRPr lang="zh-CN"/>
            </a:defPPr>
            <a:lvl1pPr>
              <a:lnSpc>
                <a:spcPct val="150000"/>
              </a:lnSpc>
              <a:defRPr sz="4000" b="1">
                <a:solidFill>
                  <a:schemeClr val="bg1"/>
                </a:solidFill>
                <a:latin typeface="微软雅黑" panose="020B0503020204020204" charset="-122"/>
                <a:ea typeface="微软雅黑" panose="020B0503020204020204" charset="-122"/>
                <a:cs typeface="微软雅黑" panose="020B0503020204020204" charset="-122"/>
              </a:defRPr>
            </a:lvl1pPr>
            <a:lvl2pPr marL="742950" indent="-285750">
              <a:spcBef>
                <a:spcPct val="20000"/>
              </a:spcBef>
              <a:buChar char="–"/>
              <a:defRPr sz="2800">
                <a:solidFill>
                  <a:schemeClr val="tx1"/>
                </a:solidFill>
                <a:latin typeface="+mn-lt"/>
                <a:ea typeface="+mn-ea"/>
              </a:defRPr>
            </a:lvl2pPr>
            <a:lvl3pPr marL="1143000" indent="-228600">
              <a:spcBef>
                <a:spcPct val="20000"/>
              </a:spcBef>
              <a:buChar char="•"/>
              <a:defRPr sz="2400">
                <a:solidFill>
                  <a:schemeClr val="tx1"/>
                </a:solidFill>
                <a:latin typeface="+mn-lt"/>
                <a:ea typeface="+mn-ea"/>
              </a:defRPr>
            </a:lvl3pPr>
            <a:lvl4pPr marL="1600200" indent="-228600">
              <a:spcBef>
                <a:spcPct val="20000"/>
              </a:spcBef>
              <a:buChar char="–"/>
              <a:defRPr sz="2000">
                <a:solidFill>
                  <a:schemeClr val="tx1"/>
                </a:solidFill>
                <a:latin typeface="+mn-lt"/>
                <a:ea typeface="+mn-ea"/>
              </a:defRPr>
            </a:lvl4pPr>
            <a:lvl5pPr marL="2057400" indent="-228600">
              <a:spcBef>
                <a:spcPct val="20000"/>
              </a:spcBef>
              <a:buChar char="»"/>
              <a:defRPr sz="2000">
                <a:solidFill>
                  <a:schemeClr val="tx1"/>
                </a:solidFill>
                <a:latin typeface="+mn-lt"/>
                <a:ea typeface="+mn-ea"/>
              </a:defRPr>
            </a:lvl5pPr>
          </a:lstStyle>
          <a:p>
            <a:r>
              <a:rPr lang="en-US" dirty="0">
                <a:sym typeface="+mn-ea"/>
              </a:rPr>
              <a:t>          </a:t>
            </a:r>
            <a:r>
              <a:rPr lang="zh-CN" altLang="en-US" dirty="0">
                <a:sym typeface="+mn-ea"/>
              </a:rPr>
              <a:t>五、氧化磷酸化的调控</a:t>
            </a:r>
          </a:p>
        </p:txBody>
      </p:sp>
      <p:sp>
        <p:nvSpPr>
          <p:cNvPr id="72706" name="矩形 576513"/>
          <p:cNvSpPr/>
          <p:nvPr/>
        </p:nvSpPr>
        <p:spPr>
          <a:xfrm>
            <a:off x="335360" y="1412776"/>
            <a:ext cx="11377264" cy="4888389"/>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457200" indent="-457200" eaLnBrk="1" hangingPunct="1">
              <a:lnSpc>
                <a:spcPct val="165000"/>
              </a:lnSpc>
              <a:spcBef>
                <a:spcPct val="0"/>
              </a:spcBef>
            </a:pPr>
            <a:r>
              <a:rPr sz="2400" dirty="0">
                <a:latin typeface="微软雅黑" panose="020B0503020204020204" charset="-122"/>
                <a:ea typeface="微软雅黑" panose="020B0503020204020204" charset="-122"/>
                <a:sym typeface="+mn-ea"/>
              </a:rPr>
              <a:t>氧化磷酸化受细胞</a:t>
            </a:r>
            <a:r>
              <a:rPr sz="2400" dirty="0">
                <a:solidFill>
                  <a:srgbClr val="FF0000"/>
                </a:solidFill>
                <a:latin typeface="微软雅黑" panose="020B0503020204020204" charset="-122"/>
                <a:ea typeface="微软雅黑" panose="020B0503020204020204" charset="-122"/>
                <a:sym typeface="+mn-ea"/>
              </a:rPr>
              <a:t>能量需求</a:t>
            </a:r>
            <a:r>
              <a:rPr sz="2400" dirty="0">
                <a:latin typeface="微软雅黑" panose="020B0503020204020204" charset="-122"/>
                <a:ea typeface="微软雅黑" panose="020B0503020204020204" charset="-122"/>
                <a:sym typeface="+mn-ea"/>
              </a:rPr>
              <a:t>的调节。[ATP]/([ADP][Pi])是衡量细胞能量状态的指标。ATP和ADP浓度通过对呼吸、糖酵解和柠檬酸循环的一系列协调控制来设定通过呼吸链的电子转移速率。</a:t>
            </a:r>
          </a:p>
          <a:p>
            <a:pPr marL="457200" indent="-457200" eaLnBrk="1" hangingPunct="1">
              <a:lnSpc>
                <a:spcPct val="165000"/>
              </a:lnSpc>
              <a:spcBef>
                <a:spcPct val="0"/>
              </a:spcBef>
            </a:pPr>
            <a:r>
              <a:rPr sz="2400" dirty="0">
                <a:latin typeface="微软雅黑" panose="020B0503020204020204" charset="-122"/>
                <a:ea typeface="微软雅黑" panose="020B0503020204020204" charset="-122"/>
                <a:sym typeface="+mn-ea"/>
              </a:rPr>
              <a:t>在</a:t>
            </a:r>
            <a:r>
              <a:rPr sz="2400" dirty="0">
                <a:solidFill>
                  <a:srgbClr val="FF0000"/>
                </a:solidFill>
                <a:latin typeface="微软雅黑" panose="020B0503020204020204" charset="-122"/>
                <a:ea typeface="微软雅黑" panose="020B0503020204020204" charset="-122"/>
                <a:sym typeface="+mn-ea"/>
              </a:rPr>
              <a:t>缺氧</a:t>
            </a:r>
            <a:r>
              <a:rPr sz="2400" dirty="0">
                <a:latin typeface="微软雅黑" panose="020B0503020204020204" charset="-122"/>
                <a:ea typeface="微软雅黑" panose="020B0503020204020204" charset="-122"/>
                <a:sym typeface="+mn-ea"/>
              </a:rPr>
              <a:t>细胞中，一种蛋白质</a:t>
            </a:r>
            <a:r>
              <a:rPr lang="en-US" sz="2400" dirty="0">
                <a:latin typeface="微软雅黑" panose="020B0503020204020204" charset="-122"/>
                <a:ea typeface="微软雅黑" panose="020B0503020204020204" charset="-122"/>
                <a:sym typeface="+mn-ea"/>
              </a:rPr>
              <a:t>(</a:t>
            </a:r>
            <a:r>
              <a:rPr lang="en-US" sz="2400" dirty="0">
                <a:solidFill>
                  <a:srgbClr val="FF0000"/>
                </a:solidFill>
                <a:latin typeface="微软雅黑" panose="020B0503020204020204" charset="-122"/>
                <a:ea typeface="微软雅黑" panose="020B0503020204020204" charset="-122"/>
                <a:sym typeface="+mn-ea"/>
              </a:rPr>
              <a:t>IP1</a:t>
            </a:r>
            <a:r>
              <a:rPr lang="en-US" sz="2400" dirty="0">
                <a:latin typeface="微软雅黑" panose="020B0503020204020204" charset="-122"/>
                <a:ea typeface="微软雅黑" panose="020B0503020204020204" charset="-122"/>
                <a:sym typeface="+mn-ea"/>
              </a:rPr>
              <a:t>)</a:t>
            </a:r>
            <a:r>
              <a:rPr sz="2400" dirty="0">
                <a:latin typeface="微软雅黑" panose="020B0503020204020204" charset="-122"/>
                <a:ea typeface="微软雅黑" panose="020B0503020204020204" charset="-122"/>
                <a:sym typeface="+mn-ea"/>
              </a:rPr>
              <a:t>抑制剂通过ATP合酶的反向活性</a:t>
            </a:r>
            <a:r>
              <a:rPr sz="2400" dirty="0">
                <a:solidFill>
                  <a:srgbClr val="FF0000"/>
                </a:solidFill>
                <a:latin typeface="微软雅黑" panose="020B0503020204020204" charset="-122"/>
                <a:ea typeface="微软雅黑" panose="020B0503020204020204" charset="-122"/>
                <a:sym typeface="+mn-ea"/>
              </a:rPr>
              <a:t>阻断ATP水解</a:t>
            </a:r>
            <a:r>
              <a:rPr sz="2400" dirty="0">
                <a:latin typeface="微软雅黑" panose="020B0503020204020204" charset="-122"/>
                <a:ea typeface="微软雅黑" panose="020B0503020204020204" charset="-122"/>
                <a:sym typeface="+mn-ea"/>
              </a:rPr>
              <a:t>，防止[ATP]的急剧下降。</a:t>
            </a:r>
          </a:p>
          <a:p>
            <a:pPr marL="457200" indent="-457200" eaLnBrk="1" hangingPunct="1">
              <a:lnSpc>
                <a:spcPct val="165000"/>
              </a:lnSpc>
              <a:spcBef>
                <a:spcPct val="0"/>
              </a:spcBef>
            </a:pPr>
            <a:r>
              <a:rPr sz="2400" dirty="0">
                <a:latin typeface="微软雅黑" panose="020B0503020204020204" charset="-122"/>
                <a:ea typeface="微软雅黑" panose="020B0503020204020204" charset="-122"/>
                <a:sym typeface="+mn-ea"/>
              </a:rPr>
              <a:t>由 </a:t>
            </a:r>
            <a:r>
              <a:rPr sz="2400" dirty="0">
                <a:solidFill>
                  <a:srgbClr val="FF0000"/>
                </a:solidFill>
                <a:latin typeface="微软雅黑" panose="020B0503020204020204" charset="-122"/>
                <a:ea typeface="微软雅黑" panose="020B0503020204020204" charset="-122"/>
                <a:sym typeface="+mn-ea"/>
              </a:rPr>
              <a:t>缺氧诱导因子</a:t>
            </a:r>
            <a:r>
              <a:rPr lang="en-US" sz="2400" dirty="0">
                <a:solidFill>
                  <a:srgbClr val="FF0000"/>
                </a:solidFill>
                <a:latin typeface="微软雅黑" panose="020B0503020204020204" charset="-122"/>
                <a:ea typeface="微软雅黑" panose="020B0503020204020204" charset="-122"/>
                <a:sym typeface="+mn-ea"/>
              </a:rPr>
              <a:t>(</a:t>
            </a:r>
            <a:r>
              <a:rPr sz="2400" dirty="0">
                <a:solidFill>
                  <a:srgbClr val="FF0000"/>
                </a:solidFill>
                <a:latin typeface="微软雅黑" panose="020B0503020204020204" charset="-122"/>
                <a:ea typeface="微软雅黑" panose="020B0503020204020204" charset="-122"/>
                <a:sym typeface="+mn-ea"/>
              </a:rPr>
              <a:t>HIF-1</a:t>
            </a:r>
            <a:r>
              <a:rPr lang="en-US" sz="2400" dirty="0">
                <a:solidFill>
                  <a:srgbClr val="FF0000"/>
                </a:solidFill>
                <a:latin typeface="微软雅黑" panose="020B0503020204020204" charset="-122"/>
                <a:ea typeface="微软雅黑" panose="020B0503020204020204" charset="-122"/>
                <a:sym typeface="+mn-ea"/>
              </a:rPr>
              <a:t>)</a:t>
            </a:r>
            <a:r>
              <a:rPr sz="2400" dirty="0">
                <a:latin typeface="微软雅黑" panose="020B0503020204020204" charset="-122"/>
                <a:ea typeface="微软雅黑" panose="020B0503020204020204" charset="-122"/>
                <a:sym typeface="+mn-ea"/>
              </a:rPr>
              <a:t>介导的</a:t>
            </a:r>
            <a:r>
              <a:rPr sz="2400" dirty="0">
                <a:solidFill>
                  <a:srgbClr val="FF0000"/>
                </a:solidFill>
                <a:latin typeface="微软雅黑" panose="020B0503020204020204" charset="-122"/>
                <a:ea typeface="微软雅黑" panose="020B0503020204020204" charset="-122"/>
                <a:sym typeface="+mn-ea"/>
              </a:rPr>
              <a:t>缺氧适应</a:t>
            </a:r>
            <a:r>
              <a:rPr sz="2400" dirty="0">
                <a:latin typeface="微软雅黑" panose="020B0503020204020204" charset="-122"/>
                <a:ea typeface="微软雅黑" panose="020B0503020204020204" charset="-122"/>
                <a:sym typeface="+mn-ea"/>
              </a:rPr>
              <a:t>性反应，缓慢的电子转移到呼吸链，并使复合物IV在低氧条件下更有效地发挥作用。</a:t>
            </a:r>
          </a:p>
          <a:p>
            <a:pPr marL="457200" indent="-457200" eaLnBrk="1" hangingPunct="1">
              <a:lnSpc>
                <a:spcPct val="165000"/>
              </a:lnSpc>
              <a:spcBef>
                <a:spcPct val="0"/>
              </a:spcBef>
            </a:pPr>
            <a:endParaRPr sz="2400" dirty="0">
              <a:latin typeface="微软雅黑" panose="020B0503020204020204" charset="-122"/>
              <a:ea typeface="微软雅黑" panose="020B0503020204020204" charset="-122"/>
              <a:sym typeface="+mn-ea"/>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578561"/>
          <p:cNvSpPr/>
          <p:nvPr/>
        </p:nvSpPr>
        <p:spPr>
          <a:xfrm>
            <a:off x="2351088" y="1916114"/>
            <a:ext cx="7777162" cy="59792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1828800" lvl="4" indent="0" eaLnBrk="1" hangingPunct="1">
              <a:lnSpc>
                <a:spcPct val="130000"/>
              </a:lnSpc>
              <a:spcBef>
                <a:spcPct val="0"/>
              </a:spcBef>
              <a:buNone/>
            </a:pPr>
            <a:endParaRPr lang="zh-CN" altLang="en-US" sz="2800" b="1" dirty="0">
              <a:latin typeface="楷体_GB2312" pitchFamily="49" charset="-122"/>
              <a:ea typeface="楷体_GB2312" pitchFamily="49" charset="-122"/>
            </a:endParaRPr>
          </a:p>
        </p:txBody>
      </p:sp>
      <p:sp>
        <p:nvSpPr>
          <p:cNvPr id="9" name="文本框 8"/>
          <p:cNvSpPr txBox="1"/>
          <p:nvPr/>
        </p:nvSpPr>
        <p:spPr>
          <a:xfrm>
            <a:off x="1705207" y="2328762"/>
            <a:ext cx="3343910" cy="1120371"/>
          </a:xfrm>
          <a:prstGeom prst="rect">
            <a:avLst/>
          </a:prstGeom>
          <a:noFill/>
        </p:spPr>
        <p:txBody>
          <a:bodyPr wrap="square" rtlCol="0" anchor="t">
            <a:spAutoFit/>
          </a:bodyPr>
          <a:lstStyle/>
          <a:p>
            <a:pPr lvl="1" algn="just" eaLnBrk="1" hangingPunct="1">
              <a:lnSpc>
                <a:spcPct val="125000"/>
              </a:lnSpc>
              <a:spcBef>
                <a:spcPts val="1200"/>
              </a:spcBef>
              <a:buFont typeface="Arial" panose="020B0604020202020204" pitchFamily="34" charset="0"/>
            </a:pPr>
            <a:r>
              <a:rPr lang="en-US" sz="2800" b="1" dirty="0">
                <a:solidFill>
                  <a:schemeClr val="tx1"/>
                </a:solidFill>
                <a:latin typeface="微软雅黑" panose="020B0503020204020204" charset="-122"/>
                <a:ea typeface="微软雅黑" panose="020B0503020204020204" charset="-122"/>
              </a:rPr>
              <a:t>ATP</a:t>
            </a:r>
            <a:r>
              <a:rPr sz="2800" b="1" dirty="0">
                <a:solidFill>
                  <a:schemeClr val="tx1"/>
                </a:solidFill>
                <a:latin typeface="微软雅黑" panose="020B0503020204020204" charset="-122"/>
                <a:ea typeface="微软雅黑" panose="020B0503020204020204" charset="-122"/>
              </a:rPr>
              <a:t>的产生途径是协调调控的</a:t>
            </a:r>
          </a:p>
        </p:txBody>
      </p:sp>
      <p:pic>
        <p:nvPicPr>
          <p:cNvPr id="2" name="图片 1"/>
          <p:cNvPicPr>
            <a:picLocks noChangeAspect="1"/>
          </p:cNvPicPr>
          <p:nvPr/>
        </p:nvPicPr>
        <p:blipFill rotWithShape="1">
          <a:blip r:embed="rId2"/>
          <a:srcRect l="3228"/>
          <a:stretch>
            <a:fillRect/>
          </a:stretch>
        </p:blipFill>
        <p:spPr>
          <a:xfrm rot="5400000">
            <a:off x="4184185" y="1153595"/>
            <a:ext cx="6776453" cy="4537000"/>
          </a:xfrm>
          <a:prstGeom prst="rect">
            <a:avLst/>
          </a:prstGeom>
        </p:spPr>
      </p:pic>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578561"/>
          <p:cNvSpPr/>
          <p:nvPr/>
        </p:nvSpPr>
        <p:spPr>
          <a:xfrm>
            <a:off x="2351088" y="1916114"/>
            <a:ext cx="7777162" cy="59792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1828800" lvl="4" indent="0" eaLnBrk="1" hangingPunct="1">
              <a:lnSpc>
                <a:spcPct val="130000"/>
              </a:lnSpc>
              <a:spcBef>
                <a:spcPct val="0"/>
              </a:spcBef>
              <a:buNone/>
            </a:pPr>
            <a:endParaRPr lang="zh-CN" altLang="en-US" sz="2800" b="1" dirty="0">
              <a:latin typeface="楷体_GB2312" pitchFamily="49" charset="-122"/>
              <a:ea typeface="楷体_GB2312" pitchFamily="49" charset="-122"/>
            </a:endParaRPr>
          </a:p>
        </p:txBody>
      </p:sp>
      <p:pic>
        <p:nvPicPr>
          <p:cNvPr id="2" name="图片 1"/>
          <p:cNvPicPr>
            <a:picLocks noChangeAspect="1"/>
          </p:cNvPicPr>
          <p:nvPr/>
        </p:nvPicPr>
        <p:blipFill>
          <a:blip r:embed="rId2"/>
          <a:stretch>
            <a:fillRect/>
          </a:stretch>
        </p:blipFill>
        <p:spPr>
          <a:xfrm>
            <a:off x="1919605" y="1268730"/>
            <a:ext cx="7658100" cy="3268980"/>
          </a:xfrm>
          <a:prstGeom prst="rect">
            <a:avLst/>
          </a:prstGeom>
        </p:spPr>
      </p:pic>
      <p:sp>
        <p:nvSpPr>
          <p:cNvPr id="3" name="文本框 2"/>
          <p:cNvSpPr txBox="1"/>
          <p:nvPr/>
        </p:nvSpPr>
        <p:spPr>
          <a:xfrm>
            <a:off x="2135506" y="4652645"/>
            <a:ext cx="7746365" cy="1938020"/>
          </a:xfrm>
          <a:prstGeom prst="rect">
            <a:avLst/>
          </a:prstGeom>
          <a:noFill/>
        </p:spPr>
        <p:txBody>
          <a:bodyPr wrap="square" rtlCol="0" anchor="t">
            <a:spAutoFit/>
          </a:bodyPr>
          <a:lstStyle/>
          <a:p>
            <a:pPr>
              <a:lnSpc>
                <a:spcPct val="150000"/>
              </a:lnSpc>
            </a:pP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rPr>
              <a:t>IF1</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仅以其二聚体形式具有抑制作用，在pH低于6.5时更易形成。在缺氧的细胞中，ATP的主要来源是糖酵解，因此形成的丙酮酸或乳酸降低了细胞质和线粒体基质中的pH值。这有利于IF1二聚化，导致</a:t>
            </a: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抑制ATP合酶的ATP酶活性</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，从而</a:t>
            </a: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防止ATP的浪费水解</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p>
        </p:txBody>
      </p:sp>
      <p:sp>
        <p:nvSpPr>
          <p:cNvPr id="4" name="文本框 3"/>
          <p:cNvSpPr txBox="1"/>
          <p:nvPr/>
        </p:nvSpPr>
        <p:spPr>
          <a:xfrm>
            <a:off x="3287688" y="116632"/>
            <a:ext cx="5760640" cy="707886"/>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nchor="t">
            <a:spAutoFit/>
          </a:bodyPr>
          <a:lstStyle/>
          <a:p>
            <a:pPr algn="l">
              <a:lnSpc>
                <a:spcPct val="100000"/>
              </a:lnSpc>
              <a:buClrTx/>
              <a:buSzTx/>
              <a:buFont typeface="微软雅黑" panose="020B0503020204020204" charset="-122"/>
            </a:pPr>
            <a:r>
              <a:rPr lang="zh-CN" altLang="en-US" sz="4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IF1防止缺氧时ATP水解</a:t>
            </a: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578561"/>
          <p:cNvSpPr/>
          <p:nvPr/>
        </p:nvSpPr>
        <p:spPr>
          <a:xfrm>
            <a:off x="2351088" y="1916114"/>
            <a:ext cx="7777162" cy="59792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1828800" lvl="4" indent="0" eaLnBrk="1" hangingPunct="1">
              <a:lnSpc>
                <a:spcPct val="130000"/>
              </a:lnSpc>
              <a:spcBef>
                <a:spcPct val="0"/>
              </a:spcBef>
              <a:buNone/>
            </a:pPr>
            <a:endParaRPr lang="zh-CN" altLang="en-US" sz="2800" b="1" dirty="0">
              <a:latin typeface="楷体_GB2312" pitchFamily="49" charset="-122"/>
              <a:ea typeface="楷体_GB2312" pitchFamily="49" charset="-122"/>
            </a:endParaRPr>
          </a:p>
        </p:txBody>
      </p:sp>
      <p:pic>
        <p:nvPicPr>
          <p:cNvPr id="8" name="图片 7" descr="QQ截图20220505093219"/>
          <p:cNvPicPr>
            <a:picLocks noChangeAspect="1"/>
          </p:cNvPicPr>
          <p:nvPr/>
        </p:nvPicPr>
        <p:blipFill>
          <a:blip r:embed="rId2"/>
          <a:stretch>
            <a:fillRect/>
          </a:stretch>
        </p:blipFill>
        <p:spPr>
          <a:xfrm>
            <a:off x="6207433" y="144780"/>
            <a:ext cx="5570220" cy="6568440"/>
          </a:xfrm>
          <a:prstGeom prst="rect">
            <a:avLst/>
          </a:prstGeom>
          <a:ln>
            <a:solidFill>
              <a:schemeClr val="tx1"/>
            </a:solidFill>
          </a:ln>
        </p:spPr>
      </p:pic>
      <p:sp>
        <p:nvSpPr>
          <p:cNvPr id="9" name="文本框 8"/>
          <p:cNvSpPr txBox="1"/>
          <p:nvPr/>
        </p:nvSpPr>
        <p:spPr>
          <a:xfrm>
            <a:off x="412528" y="620688"/>
            <a:ext cx="5681653" cy="5166927"/>
          </a:xfrm>
          <a:prstGeom prst="rect">
            <a:avLst/>
          </a:prstGeom>
          <a:noFill/>
        </p:spPr>
        <p:txBody>
          <a:bodyPr wrap="square" rtlCol="0" anchor="t">
            <a:spAutoFit/>
          </a:bodyPr>
          <a:lstStyle/>
          <a:p>
            <a:pPr marL="342900" indent="-342900" algn="just" eaLnBrk="1" hangingPunct="1">
              <a:lnSpc>
                <a:spcPct val="150000"/>
              </a:lnSpc>
              <a:spcBef>
                <a:spcPts val="1200"/>
              </a:spcBef>
              <a:buFont typeface="Arial" panose="020B0604020202020204" pitchFamily="34" charset="0"/>
              <a:buChar char="•"/>
            </a:pPr>
            <a:r>
              <a:rPr sz="2400" dirty="0">
                <a:solidFill>
                  <a:schemeClr val="tx1"/>
                </a:solidFill>
                <a:latin typeface="微软雅黑" panose="020B0503020204020204" charset="-122"/>
                <a:ea typeface="微软雅黑" panose="020B0503020204020204" charset="-122"/>
              </a:rPr>
              <a:t>在低氧（缺氧）条件下，</a:t>
            </a:r>
            <a:r>
              <a:rPr sz="2400" b="1" dirty="0">
                <a:solidFill>
                  <a:srgbClr val="FF0000"/>
                </a:solidFill>
                <a:latin typeface="微软雅黑" panose="020B0503020204020204" charset="-122"/>
                <a:ea typeface="微软雅黑" panose="020B0503020204020204" charset="-122"/>
              </a:rPr>
              <a:t>HIF-1</a:t>
            </a:r>
            <a:r>
              <a:rPr sz="2400" dirty="0">
                <a:solidFill>
                  <a:schemeClr val="tx1"/>
                </a:solidFill>
                <a:latin typeface="微软雅黑" panose="020B0503020204020204" charset="-122"/>
                <a:ea typeface="微软雅黑" panose="020B0503020204020204" charset="-122"/>
              </a:rPr>
              <a:t>的合成量更大，作为转录因子，增加葡萄糖转运体、糖酵解酶、丙酮酸脱氢酶激酶(PDH激酶)、</a:t>
            </a:r>
            <a:r>
              <a:rPr sz="2400" dirty="0" err="1">
                <a:solidFill>
                  <a:schemeClr val="tx1"/>
                </a:solidFill>
                <a:latin typeface="微软雅黑" panose="020B0503020204020204" charset="-122"/>
                <a:ea typeface="微软雅黑" panose="020B0503020204020204" charset="-122"/>
              </a:rPr>
              <a:t>乳酸脱氢酶</a:t>
            </a:r>
            <a:r>
              <a:rPr sz="2400" dirty="0">
                <a:solidFill>
                  <a:schemeClr val="tx1"/>
                </a:solidFill>
                <a:latin typeface="微软雅黑" panose="020B0503020204020204" charset="-122"/>
                <a:ea typeface="微软雅黑" panose="020B0503020204020204" charset="-122"/>
              </a:rPr>
              <a:t>、</a:t>
            </a:r>
            <a:r>
              <a:rPr lang="zh-CN" altLang="en-US" sz="2400" dirty="0">
                <a:solidFill>
                  <a:schemeClr val="tx1"/>
                </a:solidFill>
                <a:latin typeface="微软雅黑" panose="020B0503020204020204" charset="-122"/>
                <a:ea typeface="微软雅黑" panose="020B0503020204020204" charset="-122"/>
              </a:rPr>
              <a:t>细胞色素氧化酶亚基</a:t>
            </a:r>
            <a:r>
              <a:rPr lang="en-US" altLang="zh-CN" sz="2400" dirty="0">
                <a:solidFill>
                  <a:srgbClr val="FF0000"/>
                </a:solidFill>
                <a:latin typeface="微软雅黑" panose="020B0503020204020204" charset="-122"/>
                <a:ea typeface="微软雅黑" panose="020B0503020204020204" charset="-122"/>
              </a:rPr>
              <a:t>COX4-2</a:t>
            </a:r>
            <a:r>
              <a:rPr lang="zh-CN" altLang="en-US" sz="2400" dirty="0">
                <a:solidFill>
                  <a:schemeClr val="tx1"/>
                </a:solidFill>
                <a:latin typeface="微软雅黑" panose="020B0503020204020204" charset="-122"/>
                <a:ea typeface="微软雅黑" panose="020B0503020204020204" charset="-122"/>
              </a:rPr>
              <a:t>、</a:t>
            </a:r>
            <a:r>
              <a:rPr sz="2400" dirty="0">
                <a:solidFill>
                  <a:schemeClr val="tx1"/>
                </a:solidFill>
                <a:latin typeface="微软雅黑" panose="020B0503020204020204" charset="-122"/>
                <a:ea typeface="微软雅黑" panose="020B0503020204020204" charset="-122"/>
              </a:rPr>
              <a:t>降解细胞色素氧化酶亚基COX4-1。</a:t>
            </a:r>
          </a:p>
          <a:p>
            <a:pPr marL="342900" indent="-342900" algn="just" eaLnBrk="1" hangingPunct="1">
              <a:lnSpc>
                <a:spcPct val="150000"/>
              </a:lnSpc>
              <a:spcBef>
                <a:spcPts val="1200"/>
              </a:spcBef>
              <a:buFont typeface="Arial" panose="020B0604020202020204" pitchFamily="34" charset="0"/>
              <a:buChar char="•"/>
            </a:pPr>
            <a:r>
              <a:rPr sz="2400" b="1" dirty="0">
                <a:solidFill>
                  <a:schemeClr val="tx1"/>
                </a:solidFill>
                <a:latin typeface="微软雅黑" panose="020B0503020204020204" charset="-122"/>
                <a:ea typeface="微软雅黑" panose="020B0503020204020204" charset="-122"/>
              </a:rPr>
              <a:t>这些变化通过减少NADH和FADH2的供应，使复合物IV的细胞色素氧化酶更有效，从而对抗ROS的形成。</a:t>
            </a:r>
          </a:p>
        </p:txBody>
      </p:sp>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Q4ODQwNThiYTg4YTBlNDhkZDRmNGNiNWM5NWE1YzAifQ=="/>
  <p:tag name="KSO_WPP_MARK_KEY" val="3aceff29-555b-435e-8678-900de6a23103"/>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e0ad417e-909d-462f-8e90-aa9f47d04ebd}"/>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2813</Words>
  <Application>Microsoft Office PowerPoint</Application>
  <PresentationFormat>宽屏</PresentationFormat>
  <Paragraphs>313</Paragraphs>
  <Slides>58</Slides>
  <Notes>8</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58</vt:i4>
      </vt:variant>
    </vt:vector>
  </HeadingPairs>
  <TitlesOfParts>
    <vt:vector size="74" baseType="lpstr">
      <vt:lpstr>等线</vt:lpstr>
      <vt:lpstr>楷体_GB2312</vt:lpstr>
      <vt:lpstr>微软雅黑</vt:lpstr>
      <vt:lpstr>Arial</vt:lpstr>
      <vt:lpstr>Calibri</vt:lpstr>
      <vt:lpstr>Calibri Light</vt:lpstr>
      <vt:lpstr>Comic Sans MS</vt:lpstr>
      <vt:lpstr>Impact</vt:lpstr>
      <vt:lpstr>Symbol</vt:lpstr>
      <vt:lpstr>Tahoma</vt:lpstr>
      <vt:lpstr>Times New Roman</vt:lpstr>
      <vt:lpstr>Verdana</vt:lpstr>
      <vt:lpstr>Wingdings</vt:lpstr>
      <vt:lpstr>1_Office 主题​​</vt:lpstr>
      <vt:lpstr>3_Office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支持化学渗透学说的主要证据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ATP-ADP 转位酶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PCR</dc:title>
  <dc:creator>biochem</dc:creator>
  <cp:lastModifiedBy>Admin</cp:lastModifiedBy>
  <cp:revision>585</cp:revision>
  <dcterms:created xsi:type="dcterms:W3CDTF">2005-04-16T03:30:00Z</dcterms:created>
  <dcterms:modified xsi:type="dcterms:W3CDTF">2023-11-29T02:17:41Z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31D68069DE244FFBBE4ACD626BFC5455</vt:lpwstr>
  </property>
</Properties>
</file>