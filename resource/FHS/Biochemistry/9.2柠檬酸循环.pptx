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4.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3" r:id="rId3"/>
  </p:sldMasterIdLst>
  <p:notesMasterIdLst>
    <p:notesMasterId r:id="rId46"/>
  </p:notesMasterIdLst>
  <p:sldIdLst>
    <p:sldId id="1205" r:id="rId4"/>
    <p:sldId id="624" r:id="rId5"/>
    <p:sldId id="853" r:id="rId6"/>
    <p:sldId id="866" r:id="rId7"/>
    <p:sldId id="855" r:id="rId8"/>
    <p:sldId id="297" r:id="rId9"/>
    <p:sldId id="300" r:id="rId10"/>
    <p:sldId id="301" r:id="rId11"/>
    <p:sldId id="303" r:id="rId12"/>
    <p:sldId id="302" r:id="rId13"/>
    <p:sldId id="1206" r:id="rId14"/>
    <p:sldId id="311" r:id="rId15"/>
    <p:sldId id="857" r:id="rId16"/>
    <p:sldId id="312" r:id="rId17"/>
    <p:sldId id="306" r:id="rId18"/>
    <p:sldId id="858" r:id="rId19"/>
    <p:sldId id="859" r:id="rId20"/>
    <p:sldId id="860" r:id="rId21"/>
    <p:sldId id="861" r:id="rId22"/>
    <p:sldId id="317" r:id="rId23"/>
    <p:sldId id="336" r:id="rId24"/>
    <p:sldId id="322" r:id="rId25"/>
    <p:sldId id="947" r:id="rId26"/>
    <p:sldId id="862" r:id="rId27"/>
    <p:sldId id="863" r:id="rId28"/>
    <p:sldId id="864" r:id="rId29"/>
    <p:sldId id="335" r:id="rId30"/>
    <p:sldId id="865" r:id="rId31"/>
    <p:sldId id="867" r:id="rId32"/>
    <p:sldId id="868" r:id="rId33"/>
    <p:sldId id="328" r:id="rId34"/>
    <p:sldId id="869" r:id="rId35"/>
    <p:sldId id="327" r:id="rId36"/>
    <p:sldId id="870" r:id="rId37"/>
    <p:sldId id="759" r:id="rId38"/>
    <p:sldId id="329" r:id="rId39"/>
    <p:sldId id="340" r:id="rId40"/>
    <p:sldId id="871" r:id="rId41"/>
    <p:sldId id="804" r:id="rId42"/>
    <p:sldId id="872" r:id="rId43"/>
    <p:sldId id="792" r:id="rId44"/>
    <p:sldId id="331" r:id="rId45"/>
  </p:sldIdLst>
  <p:sldSz cx="12192000" cy="6858000"/>
  <p:notesSz cx="6858000" cy="9144000"/>
  <p:custDataLst>
    <p:tags r:id="rId4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18" autoAdjust="0"/>
    <p:restoredTop sz="85500" autoAdjust="0"/>
  </p:normalViewPr>
  <p:slideViewPr>
    <p:cSldViewPr snapToGrid="0">
      <p:cViewPr varScale="1">
        <p:scale>
          <a:sx n="97" d="100"/>
          <a:sy n="97" d="100"/>
        </p:scale>
        <p:origin x="149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FFC624-3304-4032-AB51-94E4957ED63E}" type="datetimeFigureOut">
              <a:rPr lang="zh-CN" altLang="en-US" smtClean="0"/>
              <a:t>2023/11/30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1E137A-795C-4A5E-85B1-35886D89CBB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93700" y="690563"/>
            <a:ext cx="6146800" cy="3457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7519383A-97AB-4E9F-ADB2-1ECE650A7D9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7519383A-97AB-4E9F-ADB2-1ECE650A7D9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8</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9</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10</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12</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14</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15</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16</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18</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19</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20</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21</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22</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23</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24</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25</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草酸：乙二酸</a:t>
            </a:r>
          </a:p>
        </p:txBody>
      </p:sp>
      <p:sp>
        <p:nvSpPr>
          <p:cNvPr id="4" name="灯片编号占位符 3"/>
          <p:cNvSpPr>
            <a:spLocks noGrp="1"/>
          </p:cNvSpPr>
          <p:nvPr>
            <p:ph type="sldNum" sz="quarter" idx="5"/>
          </p:nvPr>
        </p:nvSpPr>
        <p:spPr/>
        <p:txBody>
          <a:bodyPr/>
          <a:lstStyle/>
          <a:p>
            <a:fld id="{701E137A-795C-4A5E-85B1-35886D89CBBA}" type="slidenum">
              <a:rPr lang="zh-CN" altLang="en-US" smtClean="0"/>
              <a:t>26</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27</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28</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30</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31</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33</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36</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B982646-E8B8-874C-7910-89D0FC41DFFC}"/>
              </a:ext>
            </a:extLst>
          </p:cNvPr>
          <p:cNvSpPr>
            <a:spLocks noGrp="1" noRot="1" noChangeAspect="1" noChangeArrowheads="1" noTextEdit="1"/>
          </p:cNvSpPr>
          <p:nvPr>
            <p:ph type="sldImg"/>
          </p:nvPr>
        </p:nvSpPr>
        <p:spPr>
          <a:xfrm>
            <a:off x="139700" y="768350"/>
            <a:ext cx="6819900" cy="3836988"/>
          </a:xfrm>
          <a:ln/>
        </p:spPr>
      </p:sp>
      <p:sp>
        <p:nvSpPr>
          <p:cNvPr id="38915" name="Rectangle 3">
            <a:extLst>
              <a:ext uri="{FF2B5EF4-FFF2-40B4-BE49-F238E27FC236}">
                <a16:creationId xmlns:a16="http://schemas.microsoft.com/office/drawing/2014/main" id="{016A480C-F12F-5F8F-25EF-6018E3C97F8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kumimoji="0" lang="en-US" altLang="zh-CN">
              <a:latin typeface="Times New Roman" panose="02020603050405020304" pitchFamily="18" charset="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40</a:t>
            </a:fld>
            <a:endParaRPr lang="zh-CN" altLang="en-US"/>
          </a:p>
        </p:txBody>
      </p:sp>
    </p:spTree>
    <p:extLst>
      <p:ext uri="{BB962C8B-B14F-4D97-AF65-F5344CB8AC3E}">
        <p14:creationId xmlns:p14="http://schemas.microsoft.com/office/powerpoint/2010/main" val="24850086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41</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1E137A-795C-4A5E-85B1-35886D89CBBA}" type="slidenum">
              <a:rPr lang="zh-CN" altLang="en-US" smtClean="0"/>
              <a:t>42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AD0CDE-B7E1-4379-B40F-63C167A24A75}" type="datetimeFigureOut">
              <a:rPr lang="zh-CN" altLang="en-US" smtClean="0"/>
              <a:t>2023/11/30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FF4A223-635D-4F5E-9A36-F955EA90776F}"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AD0CDE-B7E1-4379-B40F-63C167A24A75}" type="datetimeFigureOut">
              <a:rPr lang="zh-CN" altLang="en-US" smtClean="0"/>
              <a:t>2023/11/30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FF4A223-635D-4F5E-9A36-F955EA90776F}"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7AD0CDE-B7E1-4379-B40F-63C167A24A75}" type="datetimeFigureOut">
              <a:rPr lang="zh-CN" altLang="en-US" smtClean="0"/>
              <a:t>2023/11/30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FF4A223-635D-4F5E-9A36-F955EA90776F}"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7AD0CDE-B7E1-4379-B40F-63C167A24A75}" type="datetimeFigureOut">
              <a:rPr lang="zh-CN" altLang="en-US" smtClean="0"/>
              <a:t>2023/11/30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FF4A223-635D-4F5E-9A36-F955EA90776F}"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7AD0CDE-B7E1-4379-B40F-63C167A24A75}" type="datetimeFigureOut">
              <a:rPr lang="zh-CN" altLang="en-US" smtClean="0"/>
              <a:t>2023/11/30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FF4A223-635D-4F5E-9A36-F955EA90776F}"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AD0CDE-B7E1-4379-B40F-63C167A24A75}" type="datetimeFigureOut">
              <a:rPr lang="zh-CN" altLang="en-US" smtClean="0"/>
              <a:t>2023/11/30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FF4A223-635D-4F5E-9A36-F955EA90776F}"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AD0CDE-B7E1-4379-B40F-63C167A24A75}" type="datetimeFigureOut">
              <a:rPr lang="zh-CN" altLang="en-US" smtClean="0"/>
              <a:t>2023/11/30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FF4A223-635D-4F5E-9A36-F955EA90776F}"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AD0CDE-B7E1-4379-B40F-63C167A24A75}" type="datetimeFigureOut">
              <a:rPr lang="zh-CN" altLang="en-US" smtClean="0"/>
              <a:t>2023/11/30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FF4A223-635D-4F5E-9A36-F955EA90776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AD0CDE-B7E1-4379-B40F-63C167A24A75}" type="datetimeFigureOut">
              <a:rPr lang="zh-CN" altLang="en-US" smtClean="0"/>
              <a:t>2023/11/30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FF4A223-635D-4F5E-9A36-F955EA90776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AD0CDE-B7E1-4379-B40F-63C167A24A75}" type="datetimeFigureOut">
              <a:rPr lang="zh-CN" altLang="en-US" smtClean="0"/>
              <a:t>2023/11/30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FF4A223-635D-4F5E-9A36-F955EA90776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AD0CDE-B7E1-4379-B40F-63C167A24A75}" type="datetimeFigureOut">
              <a:rPr lang="zh-CN" altLang="en-US" smtClean="0"/>
              <a:t>2023/11/30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FF4A223-635D-4F5E-9A36-F955EA90776F}"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B31228C-2A41-49A9-870A-621E113E584C}" type="datetimeFigureOut">
              <a:rPr lang="zh-CN" altLang="en-US" smtClean="0"/>
              <a:t>2023/11/30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B31228C-2A41-49A9-870A-621E113E584C}" type="datetimeFigureOut">
              <a:rPr lang="zh-CN" altLang="en-US" smtClean="0"/>
              <a:t>2023/11/30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31228C-2A41-49A9-870A-621E113E584C}" type="datetimeFigureOut">
              <a:rPr lang="zh-CN" altLang="en-US" smtClean="0"/>
              <a:t>2023/11/30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2023/11/30</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2023/11/30</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2023/11/30</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2023/11/30</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fld id="{F1D968E2-24A8-46F5-BB3F-C7A9E32908A9}" type="datetime1">
              <a:rPr lang="zh-CN" altLang="en-US" smtClean="0"/>
              <a:t>2023/11/30</a:t>
            </a:fld>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Tree>
  </p:cSld>
  <p:clrMapOvr>
    <a:masterClrMapping/>
  </p:clrMapOvr>
  <p:transition>
    <p:rand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a:extLst>
              <a:ext uri="{BEBA8EAE-BF5A-486C-A8C5-ECC9F3942E4B}">
                <a14:imgProps xmlns:a14="http://schemas.microsoft.com/office/drawing/2010/main">
                  <a14:imgLayer r:embed="rId3">
                    <a14:imgEffect>
                      <a14:colorTemperature colorTemp="4700"/>
                    </a14:imgEffect>
                    <a14:imgEffect>
                      <a14:saturation sat="33000"/>
                    </a14:imgEffect>
                  </a14:imgLayer>
                </a14:imgProps>
              </a:ext>
              <a:ext uri="{28A0092B-C50C-407E-A947-70E740481C1C}">
                <a14:useLocalDpi xmlns:a14="http://schemas.microsoft.com/office/drawing/2010/main" val="0"/>
              </a:ext>
            </a:extLst>
          </a:blip>
          <a:srcRect l="-23672" t="65924" r="-370" b="23585"/>
          <a:stretch>
            <a:fillRect/>
          </a:stretch>
        </p:blipFill>
        <p:spPr>
          <a:xfrm>
            <a:off x="-2890383" y="0"/>
            <a:ext cx="15138000" cy="884397"/>
          </a:xfrm>
          <a:prstGeom prst="rect">
            <a:avLst/>
          </a:prstGeom>
          <a:ln>
            <a:noFill/>
          </a:ln>
        </p:spPr>
      </p:pic>
      <p:sp>
        <p:nvSpPr>
          <p:cNvPr id="6" name="矩形 5"/>
          <p:cNvSpPr/>
          <p:nvPr userDrawn="1"/>
        </p:nvSpPr>
        <p:spPr>
          <a:xfrm>
            <a:off x="-6263" y="-3362"/>
            <a:ext cx="12211251" cy="884397"/>
          </a:xfrm>
          <a:prstGeom prst="rect">
            <a:avLst/>
          </a:prstGeom>
          <a:solidFill>
            <a:schemeClr val="tx1">
              <a:lumMod val="85000"/>
              <a:lumOff val="1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Tree>
  </p:cSld>
  <p:clrMapOvr>
    <a:masterClrMapping/>
  </p:clrMapOvr>
  <p:transition>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2023/11/30</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2023/11/30</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2023/11/30</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2023/11/30</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AD0CDE-B7E1-4379-B40F-63C167A24A75}" type="datetimeFigureOut">
              <a:rPr lang="zh-CN" altLang="en-US" smtClean="0"/>
              <a:t>2023/11/30</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F4A223-635D-4F5E-9A36-F955EA90776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t>2023/11/30</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t>2023/11/30</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30.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0.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3.xml"/><Relationship Id="rId1" Type="http://schemas.openxmlformats.org/officeDocument/2006/relationships/tags" Target="../tags/tag4.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30.xml"/><Relationship Id="rId4" Type="http://schemas.microsoft.com/office/2007/relationships/hdphoto" Target="../media/hdphoto2.wdp"/></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3.xml"/><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0.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30.xml"/><Relationship Id="rId4" Type="http://schemas.microsoft.com/office/2007/relationships/hdphoto" Target="../media/hdphoto3.wdp"/></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MolMotion"/>
          <p:cNvPicPr>
            <a:picLocks noChangeAspect="1"/>
          </p:cNvPicPr>
          <p:nvPr/>
        </p:nvPicPr>
        <p:blipFill>
          <a:blip r:embed="rId3"/>
          <a:srcRect l="8759"/>
          <a:stretch>
            <a:fillRect/>
          </a:stretch>
        </p:blipFill>
        <p:spPr>
          <a:xfrm>
            <a:off x="0" y="0"/>
            <a:ext cx="8264504" cy="6858000"/>
          </a:xfrm>
          <a:prstGeom prst="rect">
            <a:avLst/>
          </a:prstGeom>
        </p:spPr>
      </p:pic>
      <p:sp>
        <p:nvSpPr>
          <p:cNvPr id="6" name="文本框 5"/>
          <p:cNvSpPr txBox="1"/>
          <p:nvPr/>
        </p:nvSpPr>
        <p:spPr>
          <a:xfrm>
            <a:off x="8608945" y="2635546"/>
            <a:ext cx="2917135" cy="1261884"/>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第</a:t>
            </a:r>
            <a:r>
              <a:rPr kumimoji="0" lang="en-US" altLang="zh-CN"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9</a:t>
            </a:r>
            <a:r>
              <a:rPr kumimoji="0" lang="zh-CN" altLang="en-US"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章</a:t>
            </a:r>
            <a:endParaRPr kumimoji="0" lang="en-US" altLang="zh-CN"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ctr" defTabSz="3429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柠檬酸循环</a:t>
            </a: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56954" y="112730"/>
            <a:ext cx="2236510" cy="707886"/>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本节内容</a:t>
            </a:r>
          </a:p>
        </p:txBody>
      </p:sp>
      <p:sp>
        <p:nvSpPr>
          <p:cNvPr id="3" name="Rectangle 3"/>
          <p:cNvSpPr txBox="1"/>
          <p:nvPr/>
        </p:nvSpPr>
        <p:spPr>
          <a:xfrm>
            <a:off x="3795377" y="1024555"/>
            <a:ext cx="7063105" cy="5720715"/>
          </a:xfrm>
          <a:prstGeom prst="rect">
            <a:avLst/>
          </a:prstGeom>
        </p:spPr>
        <p:txBody>
          <a:bodyPr vert="horz" wrap="square"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有氧氧化的概貌</a:t>
            </a:r>
          </a:p>
          <a:p>
            <a:pPr marL="0" indent="0">
              <a:lnSpc>
                <a:spcPct val="130000"/>
              </a:lnSpc>
              <a:buNone/>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丙酮酸进入柠檬酸循环的准备阶段</a:t>
            </a:r>
          </a:p>
          <a:p>
            <a:pPr marL="0" indent="0">
              <a:lnSpc>
                <a:spcPct val="130000"/>
              </a:lnSpc>
              <a:buNone/>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3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柠檬酸循环的全貌</a:t>
            </a:r>
          </a:p>
          <a:p>
            <a:pPr marL="0" indent="0">
              <a:lnSpc>
                <a:spcPct val="130000"/>
              </a:lnSpc>
              <a:buNone/>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4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柠檬酸循环的各个反应步骤</a:t>
            </a:r>
          </a:p>
          <a:p>
            <a:pPr marL="0" indent="0">
              <a:lnSpc>
                <a:spcPct val="130000"/>
              </a:lnSpc>
              <a:buNone/>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5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柠檬酸循环的化学总结算</a:t>
            </a:r>
          </a:p>
          <a:p>
            <a:pPr marL="0" indent="0">
              <a:lnSpc>
                <a:spcPct val="130000"/>
              </a:lnSpc>
              <a:buNone/>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6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柠檬酸循环的调节</a:t>
            </a:r>
          </a:p>
          <a:p>
            <a:pPr marL="0" indent="0">
              <a:lnSpc>
                <a:spcPct val="130000"/>
              </a:lnSpc>
              <a:buNone/>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7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柠檬酸循环的双重作用</a:t>
            </a:r>
          </a:p>
          <a:p>
            <a:pPr marL="0" indent="0">
              <a:lnSpc>
                <a:spcPct val="130000"/>
              </a:lnSpc>
              <a:buNone/>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8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乙醛酸途径</a:t>
            </a: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5588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cs typeface="微软雅黑" panose="020B0503020204020204" pitchFamily="34" charset="-122"/>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微软雅黑" panose="020B0503020204020204" pitchFamily="34" charset="-122"/>
              </a:endParaRPr>
            </a:p>
          </p:txBody>
        </p:sp>
        <p:sp>
          <p:nvSpPr>
            <p:cNvPr id="19" name="文本框 18"/>
            <p:cNvSpPr txBox="1"/>
            <p:nvPr/>
          </p:nvSpPr>
          <p:spPr>
            <a:xfrm>
              <a:off x="702100" y="349278"/>
              <a:ext cx="1338788" cy="466581"/>
            </a:xfrm>
            <a:prstGeom prst="rect">
              <a:avLst/>
            </a:prstGeom>
            <a:noFill/>
          </p:spPr>
          <p:txBody>
            <a:bodyPr wrap="square" lIns="68580" tIns="34290" rIns="68580" bIns="34290" rtlCol="0">
              <a:spAutoFit/>
            </a:bodyPr>
            <a:lstStyle/>
            <a:p>
              <a:r>
                <a:rPr lang="en-US" altLang="zh-CN" sz="6600" dirty="0">
                  <a:solidFill>
                    <a:schemeClr val="bg1">
                      <a:lumMod val="95000"/>
                    </a:schemeClr>
                  </a:solidFill>
                  <a:latin typeface="Impact" panose="020B0806030902050204" pitchFamily="34" charset="0"/>
                  <a:cs typeface="微软雅黑" panose="020B0503020204020204" pitchFamily="34" charset="-122"/>
                </a:rPr>
                <a:t>1</a:t>
              </a:r>
            </a:p>
          </p:txBody>
        </p:sp>
      </p:grpSp>
      <p:sp>
        <p:nvSpPr>
          <p:cNvPr id="20" name="TextBox 48"/>
          <p:cNvSpPr txBox="1"/>
          <p:nvPr/>
        </p:nvSpPr>
        <p:spPr>
          <a:xfrm>
            <a:off x="4874260" y="2771776"/>
            <a:ext cx="6250940" cy="807085"/>
          </a:xfrm>
          <a:prstGeom prst="rect">
            <a:avLst/>
          </a:prstGeom>
          <a:noFill/>
        </p:spPr>
        <p:txBody>
          <a:bodyPr wrap="square" lIns="68584" tIns="34291" rIns="68584" bIns="34291" rtlCol="0">
            <a:spAutoFit/>
          </a:bodyPr>
          <a:lstStyle/>
          <a:p>
            <a:r>
              <a:rPr sz="48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有氧氧化的概貌</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423002" y="-124358"/>
            <a:ext cx="1210588" cy="906915"/>
          </a:xfrm>
          <a:prstGeom prst="rect">
            <a:avLst/>
          </a:prstGeom>
          <a:noFill/>
        </p:spPr>
        <p:txBody>
          <a:bodyPr wrap="none" rtlCol="0" anchor="t">
            <a:spAutoFit/>
          </a:bodyPr>
          <a:lstStyle/>
          <a:p>
            <a:pPr>
              <a:lnSpc>
                <a:spcPct val="150000"/>
              </a:lnSpc>
            </a:pPr>
            <a:r>
              <a:rPr lang="zh-CN" altLang="en-US" sz="4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概貌</a:t>
            </a:r>
            <a:endParaRPr lang="zh-CN" altLang="en-US" sz="4000" b="1" dirty="0">
              <a:solidFill>
                <a:schemeClr val="bg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descr="图片1"/>
          <p:cNvPicPr>
            <a:picLocks noChangeAspect="1"/>
          </p:cNvPicPr>
          <p:nvPr>
            <p:custDataLst>
              <p:tags r:id="rId1"/>
            </p:custDataLst>
          </p:nvPr>
        </p:nvPicPr>
        <p:blipFill>
          <a:blip r:embed="rId3"/>
          <a:stretch>
            <a:fillRect/>
          </a:stretch>
        </p:blipFill>
        <p:spPr>
          <a:xfrm>
            <a:off x="1528445" y="953771"/>
            <a:ext cx="9144000" cy="5786755"/>
          </a:xfrm>
          <a:prstGeom prst="rect">
            <a:avLst/>
          </a:prstGeom>
        </p:spPr>
      </p:pic>
      <p:sp>
        <p:nvSpPr>
          <p:cNvPr id="6" name="文本框 5"/>
          <p:cNvSpPr txBox="1"/>
          <p:nvPr/>
        </p:nvSpPr>
        <p:spPr>
          <a:xfrm>
            <a:off x="6106160" y="1130301"/>
            <a:ext cx="4566285" cy="1383665"/>
          </a:xfrm>
          <a:prstGeom prst="rect">
            <a:avLst/>
          </a:prstGeom>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糖酵解产生的丙酮酸，</a:t>
            </a: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转变成乙酰</a:t>
            </a:r>
            <a:r>
              <a:rPr lang="en-US" altLang="zh-CN" sz="1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CoA</a:t>
            </a:r>
            <a:r>
              <a:rPr lang="zh-CN" altLang="en-US" sz="1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，进入</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三羧酸循环中被氧化分解，产生</a:t>
            </a:r>
            <a:r>
              <a:rPr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CO</a:t>
            </a:r>
            <a:r>
              <a:rPr lang="en-US" altLang="zh-CN" sz="1400" b="1" baseline="-25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，释放电子以</a:t>
            </a:r>
            <a:r>
              <a:rPr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NADH</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FADH2</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储存。</a:t>
            </a: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电子通过电子传递链传递给</a:t>
            </a:r>
            <a:r>
              <a:rPr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O</a:t>
            </a:r>
            <a:r>
              <a:rPr lang="en-US" altLang="zh-CN" sz="1400" b="1" baseline="-25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（产生</a:t>
            </a:r>
            <a:r>
              <a:rPr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H</a:t>
            </a:r>
            <a:r>
              <a:rPr lang="en-US" altLang="zh-CN" sz="1400" b="1" baseline="30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梯度），在氧化磷酸化中驱动ATP的合成。</a:t>
            </a: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1" y="6985"/>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cs typeface="微软雅黑" panose="020B0503020204020204" pitchFamily="34" charset="-122"/>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微软雅黑" panose="020B0503020204020204" pitchFamily="34" charset="-122"/>
              </a:endParaRPr>
            </a:p>
          </p:txBody>
        </p:sp>
        <p:sp>
          <p:nvSpPr>
            <p:cNvPr id="19" name="文本框 18"/>
            <p:cNvSpPr txBox="1"/>
            <p:nvPr/>
          </p:nvSpPr>
          <p:spPr>
            <a:xfrm>
              <a:off x="743647" y="299147"/>
              <a:ext cx="1338788" cy="466581"/>
            </a:xfrm>
            <a:prstGeom prst="rect">
              <a:avLst/>
            </a:prstGeom>
            <a:noFill/>
          </p:spPr>
          <p:txBody>
            <a:bodyPr wrap="square" lIns="68580" tIns="34290" rIns="68580" bIns="34290" rtlCol="0">
              <a:spAutoFit/>
            </a:bodyPr>
            <a:lstStyle/>
            <a:p>
              <a:r>
                <a:rPr lang="en-US" altLang="zh-CN" sz="6600" dirty="0">
                  <a:solidFill>
                    <a:schemeClr val="bg1">
                      <a:lumMod val="95000"/>
                    </a:schemeClr>
                  </a:solidFill>
                  <a:latin typeface="Impact" panose="020B0806030902050204" pitchFamily="34" charset="0"/>
                  <a:cs typeface="微软雅黑" panose="020B0503020204020204" pitchFamily="34" charset="-122"/>
                </a:rPr>
                <a:t>2</a:t>
              </a:r>
            </a:p>
          </p:txBody>
        </p:sp>
      </p:grpSp>
      <p:sp>
        <p:nvSpPr>
          <p:cNvPr id="20" name="TextBox 48"/>
          <p:cNvSpPr txBox="1"/>
          <p:nvPr/>
        </p:nvSpPr>
        <p:spPr>
          <a:xfrm>
            <a:off x="3950970" y="2878456"/>
            <a:ext cx="7148830" cy="591185"/>
          </a:xfrm>
          <a:prstGeom prst="rect">
            <a:avLst/>
          </a:prstGeom>
          <a:noFill/>
        </p:spPr>
        <p:txBody>
          <a:bodyPr wrap="square" lIns="68584" tIns="34291" rIns="68584" bIns="34291" rtlCol="0">
            <a:spAutoFit/>
          </a:bodyPr>
          <a:lstStyle/>
          <a:p>
            <a:r>
              <a:rPr sz="34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丙酮酸进入柠檬酸循环的准备阶段</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420098" y="1156023"/>
            <a:ext cx="9429212" cy="4169510"/>
          </a:xfrm>
          <a:prstGeom prst="rect">
            <a:avLst/>
          </a:prstGeom>
        </p:spPr>
      </p:pic>
      <p:sp>
        <p:nvSpPr>
          <p:cNvPr id="5" name="文本框 4"/>
          <p:cNvSpPr txBox="1"/>
          <p:nvPr/>
        </p:nvSpPr>
        <p:spPr>
          <a:xfrm>
            <a:off x="4945118" y="3772649"/>
            <a:ext cx="2468880" cy="398780"/>
          </a:xfrm>
          <a:prstGeom prst="rect">
            <a:avLst/>
          </a:prstGeom>
          <a:noFill/>
          <a:ln>
            <a:solidFill>
              <a:schemeClr val="bg1"/>
            </a:solidFill>
          </a:ln>
        </p:spPr>
        <p:txBody>
          <a:bodyPr wrap="non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丙酮酸脱氢酶复合体</a:t>
            </a:r>
          </a:p>
        </p:txBody>
      </p:sp>
      <p:cxnSp>
        <p:nvCxnSpPr>
          <p:cNvPr id="7" name="直接箭头连接符 6"/>
          <p:cNvCxnSpPr/>
          <p:nvPr/>
        </p:nvCxnSpPr>
        <p:spPr>
          <a:xfrm flipH="1" flipV="1">
            <a:off x="9535049" y="2852124"/>
            <a:ext cx="187037" cy="1039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9694003" y="2892047"/>
            <a:ext cx="1467068" cy="400110"/>
          </a:xfrm>
          <a:prstGeom prst="rect">
            <a:avLst/>
          </a:prstGeom>
          <a:noFill/>
          <a:ln>
            <a:solidFill>
              <a:schemeClr val="bg1"/>
            </a:solidFill>
          </a:ln>
        </p:spPr>
        <p:txBody>
          <a:bodyPr wrap="non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高能硫酯键</a:t>
            </a:r>
          </a:p>
        </p:txBody>
      </p:sp>
      <p:sp>
        <p:nvSpPr>
          <p:cNvPr id="9" name="矩形 8"/>
          <p:cNvSpPr/>
          <p:nvPr/>
        </p:nvSpPr>
        <p:spPr>
          <a:xfrm>
            <a:off x="1645304" y="5221332"/>
            <a:ext cx="6070893" cy="1135054"/>
          </a:xfrm>
          <a:prstGeom prst="rect">
            <a:avLst/>
          </a:prstGeom>
          <a:ln>
            <a:noFill/>
          </a:ln>
        </p:spPr>
        <p:txBody>
          <a:bodyPr wrap="none">
            <a:spAutoFit/>
          </a:bodyPr>
          <a:lstStyle/>
          <a:p>
            <a:pPr marL="342900" indent="-342900" algn="just">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在线粒体内（真核细胞），</a:t>
            </a:r>
            <a:r>
              <a:rPr lang="zh-CN" altLang="en-US" sz="2400" b="1" dirty="0">
                <a:latin typeface="微软雅黑" panose="020B0503020204020204" pitchFamily="34" charset="-122"/>
                <a:ea typeface="微软雅黑" panose="020B0503020204020204" pitchFamily="34" charset="-122"/>
              </a:rPr>
              <a:t>不可逆反应</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四步反应，三个酶，五种辅基。</a:t>
            </a:r>
          </a:p>
        </p:txBody>
      </p:sp>
      <p:sp>
        <p:nvSpPr>
          <p:cNvPr id="11" name="椭圆 10"/>
          <p:cNvSpPr/>
          <p:nvPr/>
        </p:nvSpPr>
        <p:spPr>
          <a:xfrm>
            <a:off x="8054333" y="4838215"/>
            <a:ext cx="2717569" cy="527241"/>
          </a:xfrm>
          <a:prstGeom prst="ellipse">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 name="文本框 3"/>
          <p:cNvSpPr txBox="1"/>
          <p:nvPr/>
        </p:nvSpPr>
        <p:spPr>
          <a:xfrm>
            <a:off x="2106969" y="-95945"/>
            <a:ext cx="8145178" cy="906915"/>
          </a:xfrm>
          <a:prstGeom prst="rect">
            <a:avLst/>
          </a:prstGeom>
          <a:noFill/>
        </p:spPr>
        <p:txBody>
          <a:bodyPr wrap="none" rtlCol="0" anchor="t">
            <a:spAutoFit/>
          </a:bodyPr>
          <a:lstStyle/>
          <a:p>
            <a:pPr>
              <a:lnSpc>
                <a:spcPct val="150000"/>
              </a:lnSpc>
            </a:pPr>
            <a:r>
              <a:rPr lang="zh-CN" altLang="en-US" sz="4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一</a:t>
            </a:r>
            <a:r>
              <a:rPr lang="zh-CN" altLang="en-US" sz="4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en-US" sz="4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准备阶段：丙酮酸→乙酰-CoA</a:t>
            </a:r>
            <a:endParaRPr lang="zh-CN" altLang="en-US" sz="4000" b="1" dirty="0">
              <a:solidFill>
                <a:schemeClr val="bg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765800" y="1406341"/>
            <a:ext cx="5447474" cy="5653342"/>
          </a:xfrm>
          <a:prstGeom prst="rect">
            <a:avLst/>
          </a:prstGeom>
          <a:ln>
            <a:noFill/>
          </a:ln>
        </p:spPr>
        <p:txBody>
          <a:bodyPr wrap="square">
            <a:spAutoFit/>
          </a:bodyPr>
          <a:lstStyle/>
          <a:p>
            <a:pPr>
              <a:spcBef>
                <a:spcPts val="600"/>
              </a:spcBef>
              <a:spcAft>
                <a:spcPts val="600"/>
              </a:spcAft>
            </a:pPr>
            <a:r>
              <a:rPr lang="zh-CN" altLang="en-US" sz="2800" b="1" dirty="0">
                <a:solidFill>
                  <a:srgbClr val="FF0000"/>
                </a:solidFill>
                <a:latin typeface="Comic Sans MS" panose="030F0702030302020204" charset="0"/>
                <a:ea typeface="微软雅黑" panose="020B0503020204020204" pitchFamily="34" charset="-122"/>
                <a:cs typeface="Comic Sans MS" panose="030F0702030302020204" charset="0"/>
              </a:rPr>
              <a:t>三种酶：</a:t>
            </a:r>
            <a:endParaRPr lang="en-US" altLang="zh-CN" sz="2800" b="1" dirty="0">
              <a:solidFill>
                <a:srgbClr val="FF0000"/>
              </a:solidFill>
              <a:latin typeface="Comic Sans MS" panose="030F0702030302020204" charset="0"/>
              <a:ea typeface="微软雅黑" panose="020B0503020204020204" pitchFamily="34" charset="-122"/>
              <a:cs typeface="Comic Sans MS" panose="030F0702030302020204" charset="0"/>
            </a:endParaRPr>
          </a:p>
          <a:p>
            <a:pPr>
              <a:spcBef>
                <a:spcPts val="600"/>
              </a:spcBef>
              <a:spcAft>
                <a:spcPts val="600"/>
              </a:spcAft>
            </a:pPr>
            <a:r>
              <a:rPr lang="zh-CN" altLang="en-US" sz="2400" dirty="0">
                <a:solidFill>
                  <a:srgbClr val="FF0000"/>
                </a:solidFill>
                <a:latin typeface="Comic Sans MS" panose="030F0702030302020204" charset="0"/>
                <a:ea typeface="微软雅黑" panose="020B0503020204020204" pitchFamily="34" charset="-122"/>
                <a:cs typeface="Comic Sans MS" panose="030F0702030302020204" charset="0"/>
              </a:rPr>
              <a:t>E1</a:t>
            </a:r>
            <a:r>
              <a:rPr lang="zh-CN" altLang="en-US" sz="2400" dirty="0">
                <a:latin typeface="Comic Sans MS" panose="030F0702030302020204" charset="0"/>
                <a:ea typeface="微软雅黑" panose="020B0503020204020204" pitchFamily="34" charset="-122"/>
                <a:cs typeface="Comic Sans MS" panose="030F0702030302020204" charset="0"/>
              </a:rPr>
              <a:t>：pyruvate dehydrogenase（丙酮酸脱氢酶）</a:t>
            </a:r>
          </a:p>
          <a:p>
            <a:pPr>
              <a:spcBef>
                <a:spcPts val="600"/>
              </a:spcBef>
              <a:spcAft>
                <a:spcPts val="600"/>
              </a:spcAft>
            </a:pPr>
            <a:r>
              <a:rPr lang="zh-CN" altLang="en-US" sz="2400" dirty="0">
                <a:solidFill>
                  <a:srgbClr val="FF0000"/>
                </a:solidFill>
                <a:latin typeface="Comic Sans MS" panose="030F0702030302020204" charset="0"/>
                <a:ea typeface="微软雅黑" panose="020B0503020204020204" pitchFamily="34" charset="-122"/>
                <a:cs typeface="Comic Sans MS" panose="030F0702030302020204" charset="0"/>
              </a:rPr>
              <a:t>E2</a:t>
            </a:r>
            <a:r>
              <a:rPr lang="zh-CN" altLang="en-US" sz="2400" dirty="0">
                <a:latin typeface="Comic Sans MS" panose="030F0702030302020204" charset="0"/>
                <a:ea typeface="微软雅黑" panose="020B0503020204020204" pitchFamily="34" charset="-122"/>
                <a:cs typeface="Comic Sans MS" panose="030F0702030302020204" charset="0"/>
              </a:rPr>
              <a:t>：dihydrolipoyl transacetylase（二氢硫辛酰转乙酰基酶）</a:t>
            </a:r>
            <a:endParaRPr lang="en-US" altLang="zh-CN" sz="2400" dirty="0">
              <a:latin typeface="Comic Sans MS" panose="030F0702030302020204" charset="0"/>
              <a:ea typeface="微软雅黑" panose="020B0503020204020204" pitchFamily="34" charset="-122"/>
              <a:cs typeface="Comic Sans MS" panose="030F0702030302020204" charset="0"/>
            </a:endParaRPr>
          </a:p>
          <a:p>
            <a:pPr>
              <a:spcBef>
                <a:spcPts val="600"/>
              </a:spcBef>
              <a:spcAft>
                <a:spcPts val="600"/>
              </a:spcAft>
            </a:pPr>
            <a:r>
              <a:rPr lang="zh-CN" altLang="en-US" sz="2400" dirty="0">
                <a:solidFill>
                  <a:srgbClr val="FF0000"/>
                </a:solidFill>
                <a:latin typeface="Comic Sans MS" panose="030F0702030302020204" charset="0"/>
                <a:ea typeface="微软雅黑" panose="020B0503020204020204" pitchFamily="34" charset="-122"/>
                <a:cs typeface="Comic Sans MS" panose="030F0702030302020204" charset="0"/>
              </a:rPr>
              <a:t>E3</a:t>
            </a:r>
            <a:r>
              <a:rPr lang="zh-CN" altLang="en-US" sz="2400" dirty="0">
                <a:latin typeface="Comic Sans MS" panose="030F0702030302020204" charset="0"/>
                <a:ea typeface="微软雅黑" panose="020B0503020204020204" pitchFamily="34" charset="-122"/>
                <a:cs typeface="Comic Sans MS" panose="030F0702030302020204" charset="0"/>
              </a:rPr>
              <a:t>：dihydrolipoyl dehydrogenase（二氢硫锌酰脱氢酶）</a:t>
            </a:r>
            <a:endParaRPr lang="en-US" altLang="zh-CN" sz="2400" dirty="0">
              <a:latin typeface="Comic Sans MS" panose="030F0702030302020204" charset="0"/>
              <a:ea typeface="微软雅黑" panose="020B0503020204020204" pitchFamily="34" charset="-122"/>
              <a:cs typeface="Comic Sans MS" panose="030F0702030302020204" charset="0"/>
            </a:endParaRPr>
          </a:p>
          <a:p>
            <a:pPr>
              <a:spcBef>
                <a:spcPts val="600"/>
              </a:spcBef>
              <a:spcAft>
                <a:spcPts val="600"/>
              </a:spcAft>
            </a:pPr>
            <a:r>
              <a:rPr lang="zh-CN" altLang="en-US" sz="2800" b="1" dirty="0">
                <a:solidFill>
                  <a:srgbClr val="FF0000"/>
                </a:solidFill>
                <a:latin typeface="Comic Sans MS" panose="030F0702030302020204" charset="0"/>
                <a:ea typeface="微软雅黑" panose="020B0503020204020204" pitchFamily="34" charset="-122"/>
                <a:cs typeface="Comic Sans MS" panose="030F0702030302020204" charset="0"/>
              </a:rPr>
              <a:t>五种辅基：</a:t>
            </a:r>
            <a:endParaRPr lang="en-US" altLang="zh-CN" sz="2800" b="1" dirty="0">
              <a:solidFill>
                <a:srgbClr val="FF0000"/>
              </a:solidFill>
              <a:latin typeface="Comic Sans MS" panose="030F0702030302020204" charset="0"/>
              <a:ea typeface="微软雅黑" panose="020B0503020204020204" pitchFamily="34" charset="-122"/>
              <a:cs typeface="Comic Sans MS" panose="030F0702030302020204" charset="0"/>
            </a:endParaRPr>
          </a:p>
          <a:p>
            <a:pPr>
              <a:spcBef>
                <a:spcPts val="600"/>
              </a:spcBef>
              <a:spcAft>
                <a:spcPts val="600"/>
              </a:spcAft>
            </a:pPr>
            <a:r>
              <a:rPr lang="en-US" altLang="zh-CN" sz="2400" dirty="0">
                <a:latin typeface="Comic Sans MS" panose="030F0702030302020204" charset="0"/>
                <a:ea typeface="微软雅黑" panose="020B0503020204020204" pitchFamily="34" charset="-122"/>
                <a:cs typeface="Comic Sans MS" panose="030F0702030302020204" charset="0"/>
              </a:rPr>
              <a:t>TPP</a:t>
            </a:r>
            <a:r>
              <a:rPr lang="zh-CN" altLang="en-US" sz="2400" dirty="0">
                <a:latin typeface="Comic Sans MS" panose="030F0702030302020204" charset="0"/>
                <a:ea typeface="微软雅黑" panose="020B0503020204020204" pitchFamily="34" charset="-122"/>
                <a:cs typeface="Comic Sans MS" panose="030F0702030302020204" charset="0"/>
              </a:rPr>
              <a:t>（焦磷酸硫胺素）、硫辛酸、</a:t>
            </a:r>
            <a:r>
              <a:rPr lang="en-US" altLang="zh-CN" sz="2400" dirty="0">
                <a:latin typeface="Comic Sans MS" panose="030F0702030302020204" charset="0"/>
                <a:ea typeface="微软雅黑" panose="020B0503020204020204" pitchFamily="34" charset="-122"/>
                <a:cs typeface="Comic Sans MS" panose="030F0702030302020204" charset="0"/>
              </a:rPr>
              <a:t>CoA-SH</a:t>
            </a:r>
            <a:r>
              <a:rPr lang="zh-CN" altLang="en-US" sz="2400" dirty="0">
                <a:latin typeface="Comic Sans MS" panose="030F0702030302020204" charset="0"/>
                <a:ea typeface="微软雅黑" panose="020B0503020204020204" pitchFamily="34" charset="-122"/>
                <a:cs typeface="Comic Sans MS" panose="030F0702030302020204" charset="0"/>
              </a:rPr>
              <a:t>、</a:t>
            </a:r>
            <a:r>
              <a:rPr lang="en-US" altLang="zh-CN" sz="2400" dirty="0">
                <a:latin typeface="Comic Sans MS" panose="030F0702030302020204" charset="0"/>
                <a:ea typeface="微软雅黑" panose="020B0503020204020204" pitchFamily="34" charset="-122"/>
                <a:cs typeface="Comic Sans MS" panose="030F0702030302020204" charset="0"/>
              </a:rPr>
              <a:t>FAD</a:t>
            </a:r>
            <a:r>
              <a:rPr lang="zh-CN" altLang="en-US" sz="2400" dirty="0">
                <a:latin typeface="Comic Sans MS" panose="030F0702030302020204" charset="0"/>
                <a:ea typeface="微软雅黑" panose="020B0503020204020204" pitchFamily="34" charset="-122"/>
                <a:cs typeface="Comic Sans MS" panose="030F0702030302020204" charset="0"/>
              </a:rPr>
              <a:t>、</a:t>
            </a:r>
            <a:r>
              <a:rPr lang="en-US" altLang="zh-CN" sz="2400" dirty="0">
                <a:latin typeface="Comic Sans MS" panose="030F0702030302020204" charset="0"/>
                <a:ea typeface="微软雅黑" panose="020B0503020204020204" pitchFamily="34" charset="-122"/>
                <a:cs typeface="Comic Sans MS" panose="030F0702030302020204" charset="0"/>
              </a:rPr>
              <a:t>NAD</a:t>
            </a:r>
            <a:r>
              <a:rPr lang="en-US" altLang="zh-CN" sz="2400" baseline="30000" dirty="0">
                <a:latin typeface="Comic Sans MS" panose="030F0702030302020204" charset="0"/>
                <a:ea typeface="微软雅黑" panose="020B0503020204020204" pitchFamily="34" charset="-122"/>
                <a:cs typeface="Comic Sans MS" panose="030F0702030302020204" charset="0"/>
              </a:rPr>
              <a:t>+</a:t>
            </a:r>
            <a:endParaRPr lang="en-US" altLang="zh-CN" sz="4000" b="1" dirty="0">
              <a:solidFill>
                <a:srgbClr val="5043FF"/>
              </a:solidFill>
              <a:latin typeface="Comic Sans MS" panose="030F0702030302020204" charset="0"/>
              <a:ea typeface="微软雅黑" panose="020B0503020204020204" pitchFamily="34" charset="-122"/>
              <a:cs typeface="Comic Sans MS" panose="030F0702030302020204" charset="0"/>
            </a:endParaRPr>
          </a:p>
          <a:p>
            <a:pPr>
              <a:lnSpc>
                <a:spcPct val="150000"/>
              </a:lnSpc>
              <a:spcBef>
                <a:spcPts val="600"/>
              </a:spcBef>
              <a:spcAft>
                <a:spcPts val="600"/>
              </a:spcAft>
            </a:pPr>
            <a:endParaRPr lang="en-US" altLang="zh-CN" sz="4000" b="1" dirty="0">
              <a:solidFill>
                <a:srgbClr val="5043FF"/>
              </a:solidFill>
              <a:latin typeface="Comic Sans MS" panose="030F0702030302020204" charset="0"/>
              <a:ea typeface="微软雅黑" panose="020B0503020204020204" pitchFamily="34" charset="-122"/>
              <a:cs typeface="Comic Sans MS" panose="030F0702030302020204" charset="0"/>
            </a:endParaRPr>
          </a:p>
        </p:txBody>
      </p:sp>
      <p:sp>
        <p:nvSpPr>
          <p:cNvPr id="10" name="矩形: 圆角 9"/>
          <p:cNvSpPr/>
          <p:nvPr/>
        </p:nvSpPr>
        <p:spPr>
          <a:xfrm>
            <a:off x="1693537" y="5336683"/>
            <a:ext cx="734473" cy="69004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6" name="矩形 15"/>
          <p:cNvSpPr/>
          <p:nvPr/>
        </p:nvSpPr>
        <p:spPr>
          <a:xfrm>
            <a:off x="1687912" y="5264382"/>
            <a:ext cx="2926080" cy="460375"/>
          </a:xfrm>
          <a:prstGeom prst="rect">
            <a:avLst/>
          </a:prstGeom>
          <a:ln>
            <a:noFill/>
          </a:ln>
        </p:spPr>
        <p:txBody>
          <a:bodyPr wrap="none">
            <a:spAutoFit/>
          </a:bodyPr>
          <a:lstStyle/>
          <a:p>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丙酮酸脱氢酶复合体</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3959" y="1576116"/>
            <a:ext cx="4160881" cy="3688400"/>
          </a:xfrm>
          <a:prstGeom prst="rect">
            <a:avLst/>
          </a:prstGeom>
        </p:spPr>
      </p:pic>
      <p:sp>
        <p:nvSpPr>
          <p:cNvPr id="41" name="文本框 40"/>
          <p:cNvSpPr txBox="1"/>
          <p:nvPr/>
        </p:nvSpPr>
        <p:spPr>
          <a:xfrm>
            <a:off x="2127463" y="-75643"/>
            <a:ext cx="8145178" cy="906915"/>
          </a:xfrm>
          <a:prstGeom prst="rect">
            <a:avLst/>
          </a:prstGeom>
          <a:noFill/>
        </p:spPr>
        <p:txBody>
          <a:bodyPr wrap="none" rtlCol="0" anchor="t">
            <a:spAutoFit/>
          </a:bodyPr>
          <a:lstStyle>
            <a:defPPr>
              <a:defRPr lang="en-US"/>
            </a:defPPr>
            <a:lvl1pPr>
              <a:lnSpc>
                <a:spcPct val="150000"/>
              </a:lnSpc>
              <a:defRPr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sym typeface="+mn-ea"/>
              </a:rPr>
              <a:t>一</a:t>
            </a:r>
            <a:r>
              <a:rPr lang="zh-CN" altLang="en-US" dirty="0">
                <a:sym typeface="微软雅黑" panose="020B0503020204020204" pitchFamily="34" charset="-122"/>
              </a:rPr>
              <a:t>、</a:t>
            </a:r>
            <a:r>
              <a:rPr lang="zh-CN" altLang="en-US" dirty="0">
                <a:sym typeface="+mn-ea"/>
              </a:rPr>
              <a:t>准备阶段：丙酮酸→乙酰-CoA</a:t>
            </a:r>
          </a:p>
        </p:txBody>
      </p: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p:cNvSpPr/>
          <p:nvPr/>
        </p:nvSpPr>
        <p:spPr>
          <a:xfrm>
            <a:off x="1809107" y="4838843"/>
            <a:ext cx="734473" cy="69004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6" name="矩形 25"/>
          <p:cNvSpPr>
            <a:spLocks noChangeArrowheads="1"/>
          </p:cNvSpPr>
          <p:nvPr/>
        </p:nvSpPr>
        <p:spPr bwMode="auto">
          <a:xfrm>
            <a:off x="1041400" y="975069"/>
            <a:ext cx="3278333" cy="523220"/>
          </a:xfrm>
          <a:prstGeom prst="rect">
            <a:avLst/>
          </a:prstGeom>
          <a:solidFill>
            <a:schemeClr val="accent6">
              <a:lumMod val="20000"/>
              <a:lumOff val="80000"/>
            </a:schemeClr>
          </a:solidFill>
          <a:ln w="9525">
            <a:noFill/>
            <a:miter lim="800000"/>
          </a:ln>
        </p:spPr>
        <p:txBody>
          <a:bodyPr wrap="square">
            <a:spAutoFit/>
          </a:bodyPr>
          <a:lstStyle>
            <a:lvl1pPr algn="ctr">
              <a:defRPr sz="7200">
                <a:solidFill>
                  <a:schemeClr val="accent2"/>
                </a:solidFill>
                <a:latin typeface="Times New Roman" panose="02020603050405020304" pitchFamily="18" charset="0"/>
                <a:ea typeface="宋体" panose="02010600030101010101" pitchFamily="2" charset="-122"/>
              </a:defRPr>
            </a:lvl1pPr>
            <a:lvl2pPr algn="ctr">
              <a:defRPr sz="7200">
                <a:solidFill>
                  <a:schemeClr val="accent2"/>
                </a:solidFill>
                <a:latin typeface="Times New Roman" panose="02020603050405020304" pitchFamily="18" charset="0"/>
                <a:ea typeface="宋体" panose="02010600030101010101" pitchFamily="2" charset="-122"/>
              </a:defRPr>
            </a:lvl2pPr>
            <a:lvl3pPr algn="ctr">
              <a:defRPr sz="7200">
                <a:solidFill>
                  <a:schemeClr val="accent2"/>
                </a:solidFill>
                <a:latin typeface="Times New Roman" panose="02020603050405020304" pitchFamily="18" charset="0"/>
                <a:ea typeface="宋体" panose="02010600030101010101" pitchFamily="2" charset="-122"/>
              </a:defRPr>
            </a:lvl3pPr>
            <a:lvl4pPr algn="ctr">
              <a:defRPr sz="7200">
                <a:solidFill>
                  <a:schemeClr val="accent2"/>
                </a:solidFill>
                <a:latin typeface="Times New Roman" panose="02020603050405020304" pitchFamily="18" charset="0"/>
                <a:ea typeface="宋体" panose="02010600030101010101" pitchFamily="2" charset="-122"/>
              </a:defRPr>
            </a:lvl4pPr>
            <a:lvl5pPr algn="ctr">
              <a:defRPr sz="7200">
                <a:solidFill>
                  <a:schemeClr val="accent2"/>
                </a:solidFill>
                <a:latin typeface="Times New Roman" panose="02020603050405020304" pitchFamily="18" charset="0"/>
                <a:ea typeface="宋体" panose="02010600030101010101" pitchFamily="2" charset="-122"/>
              </a:defRPr>
            </a:lvl5pPr>
            <a:lvl6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6pPr>
            <a:lvl7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7pPr>
            <a:lvl8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8pPr>
            <a:lvl9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9pPr>
          </a:lstStyle>
          <a:p>
            <a:pPr algn="l">
              <a:spcBef>
                <a:spcPts val="600"/>
              </a:spcBef>
              <a:spcAft>
                <a:spcPts val="600"/>
              </a:spcAft>
            </a:pPr>
            <a:r>
              <a:rPr lang="en-US" altLang="zh-CN" sz="28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E1</a:t>
            </a:r>
            <a:r>
              <a:rPr lang="zh-CN" altLang="en-US" sz="28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的辅基：</a:t>
            </a:r>
            <a:r>
              <a:rPr lang="en-US" altLang="zh-CN" sz="28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TPP</a:t>
            </a:r>
          </a:p>
        </p:txBody>
      </p:sp>
      <p:pic>
        <p:nvPicPr>
          <p:cNvPr id="9" name="图片 8"/>
          <p:cNvPicPr>
            <a:picLocks noChangeAspect="1"/>
          </p:cNvPicPr>
          <p:nvPr/>
        </p:nvPicPr>
        <p:blipFill>
          <a:blip r:embed="rId3"/>
          <a:stretch>
            <a:fillRect/>
          </a:stretch>
        </p:blipFill>
        <p:spPr>
          <a:xfrm>
            <a:off x="1041400" y="1581633"/>
            <a:ext cx="3744315" cy="4586791"/>
          </a:xfrm>
          <a:prstGeom prst="rect">
            <a:avLst/>
          </a:prstGeom>
          <a:ln>
            <a:solidFill>
              <a:schemeClr val="tx1"/>
            </a:solidFill>
          </a:ln>
        </p:spPr>
      </p:pic>
      <p:pic>
        <p:nvPicPr>
          <p:cNvPr id="2" name="图片 1"/>
          <p:cNvPicPr>
            <a:picLocks noChangeAspect="1"/>
          </p:cNvPicPr>
          <p:nvPr/>
        </p:nvPicPr>
        <p:blipFill>
          <a:blip r:embed="rId4"/>
          <a:stretch>
            <a:fillRect/>
          </a:stretch>
        </p:blipFill>
        <p:spPr>
          <a:xfrm>
            <a:off x="4875782" y="1062536"/>
            <a:ext cx="6351018" cy="3179100"/>
          </a:xfrm>
          <a:prstGeom prst="rect">
            <a:avLst/>
          </a:prstGeom>
        </p:spPr>
      </p:pic>
      <p:sp>
        <p:nvSpPr>
          <p:cNvPr id="14" name="矩形 13"/>
          <p:cNvSpPr/>
          <p:nvPr/>
        </p:nvSpPr>
        <p:spPr>
          <a:xfrm>
            <a:off x="1809106" y="2635380"/>
            <a:ext cx="1569660" cy="369332"/>
          </a:xfrm>
          <a:prstGeom prst="rect">
            <a:avLst/>
          </a:prstGeom>
          <a:ln>
            <a:solidFill>
              <a:schemeClr val="bg1"/>
            </a:solidFill>
          </a:ln>
        </p:spPr>
        <p:txBody>
          <a:bodyPr wrap="none">
            <a:spAutoFit/>
          </a:bodyPr>
          <a:lstStyle/>
          <a:p>
            <a:r>
              <a:rPr lang="zh-CN" altLang="en-US" b="1" dirty="0">
                <a:latin typeface="微软雅黑" panose="020B0503020204020204" pitchFamily="34" charset="-122"/>
                <a:ea typeface="微软雅黑" panose="020B0503020204020204" pitchFamily="34" charset="-122"/>
              </a:rPr>
              <a:t>焦磷酸硫胺素</a:t>
            </a:r>
          </a:p>
        </p:txBody>
      </p:sp>
      <p:sp>
        <p:nvSpPr>
          <p:cNvPr id="3" name="矩形 2"/>
          <p:cNvSpPr/>
          <p:nvPr/>
        </p:nvSpPr>
        <p:spPr>
          <a:xfrm>
            <a:off x="5388379" y="4407242"/>
            <a:ext cx="5525154" cy="2243050"/>
          </a:xfrm>
          <a:prstGeom prst="rect">
            <a:avLst/>
          </a:prstGeom>
        </p:spPr>
        <p:txBody>
          <a:bodyPr wrap="square">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也称为维生素</a:t>
            </a:r>
            <a:r>
              <a:rPr lang="en-US" altLang="zh-CN" sz="2400" dirty="0">
                <a:latin typeface="微软雅黑" panose="020B0503020204020204" pitchFamily="34" charset="-122"/>
                <a:ea typeface="微软雅黑" panose="020B0503020204020204" pitchFamily="34" charset="-122"/>
              </a:rPr>
              <a:t>B1</a:t>
            </a:r>
            <a:r>
              <a:rPr lang="zh-CN" altLang="en-US" sz="2400" dirty="0">
                <a:latin typeface="微软雅黑" panose="020B0503020204020204" pitchFamily="34" charset="-122"/>
                <a:ea typeface="微软雅黑" panose="020B0503020204020204" pitchFamily="34" charset="-122"/>
              </a:rPr>
              <a:t>，噻唑环（蓝色）是活性中心。 氮硫之间的碳原子有很强的酸性，易解离产生碳负离子，对丙酮酸的羰基进行</a:t>
            </a:r>
            <a:r>
              <a:rPr lang="zh-CN" altLang="en-US" sz="2400" dirty="0">
                <a:solidFill>
                  <a:srgbClr val="FF0000"/>
                </a:solidFill>
                <a:latin typeface="微软雅黑" panose="020B0503020204020204" pitchFamily="34" charset="-122"/>
                <a:ea typeface="微软雅黑" panose="020B0503020204020204" pitchFamily="34" charset="-122"/>
              </a:rPr>
              <a:t>亲核</a:t>
            </a:r>
            <a:r>
              <a:rPr lang="zh-CN" altLang="en-US" sz="2400" dirty="0">
                <a:latin typeface="微软雅黑" panose="020B0503020204020204" pitchFamily="34" charset="-122"/>
                <a:ea typeface="微软雅黑" panose="020B0503020204020204" pitchFamily="34" charset="-122"/>
              </a:rPr>
              <a:t>攻击。</a:t>
            </a:r>
          </a:p>
        </p:txBody>
      </p:sp>
      <p:sp>
        <p:nvSpPr>
          <p:cNvPr id="6" name="矩形 5"/>
          <p:cNvSpPr/>
          <p:nvPr/>
        </p:nvSpPr>
        <p:spPr>
          <a:xfrm>
            <a:off x="9633315" y="3590387"/>
            <a:ext cx="1287532" cy="338554"/>
          </a:xfrm>
          <a:prstGeom prst="rect">
            <a:avLst/>
          </a:prstGeom>
        </p:spPr>
        <p:txBody>
          <a:bodyPr wrap="non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羟乙基</a:t>
            </a:r>
            <a:r>
              <a:rPr lang="en-US" altLang="zh-CN" sz="1600" b="1" dirty="0">
                <a:solidFill>
                  <a:srgbClr val="FF0000"/>
                </a:solidFill>
                <a:latin typeface="微软雅黑" panose="020B0503020204020204" pitchFamily="34" charset="-122"/>
                <a:ea typeface="微软雅黑" panose="020B0503020204020204" pitchFamily="34" charset="-122"/>
              </a:rPr>
              <a:t>-TPP</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15" name="矩形 14"/>
          <p:cNvSpPr/>
          <p:nvPr/>
        </p:nvSpPr>
        <p:spPr>
          <a:xfrm>
            <a:off x="5961999" y="3930748"/>
            <a:ext cx="800219" cy="338554"/>
          </a:xfrm>
          <a:prstGeom prst="rect">
            <a:avLst/>
          </a:prstGeom>
        </p:spPr>
        <p:txBody>
          <a:bodyPr wrap="non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丙酮酸</a:t>
            </a:r>
          </a:p>
        </p:txBody>
      </p:sp>
      <p:sp>
        <p:nvSpPr>
          <p:cNvPr id="7" name="文本框 6"/>
          <p:cNvSpPr txBox="1"/>
          <p:nvPr/>
        </p:nvSpPr>
        <p:spPr>
          <a:xfrm>
            <a:off x="1809106" y="6251768"/>
            <a:ext cx="2468880" cy="39878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作用</a:t>
            </a:r>
            <a:r>
              <a:rPr lang="zh-CN" altLang="en-US" sz="2000" dirty="0">
                <a:latin typeface="微软雅黑" panose="020B0503020204020204" pitchFamily="34" charset="-122"/>
                <a:ea typeface="微软雅黑" panose="020B0503020204020204" pitchFamily="34" charset="-122"/>
              </a:rPr>
              <a:t>：将丙酮酸</a:t>
            </a:r>
            <a:r>
              <a:rPr lang="zh-CN" altLang="en-US" sz="2000" dirty="0">
                <a:solidFill>
                  <a:srgbClr val="FF0000"/>
                </a:solidFill>
                <a:latin typeface="微软雅黑" panose="020B0503020204020204" pitchFamily="34" charset="-122"/>
                <a:ea typeface="微软雅黑" panose="020B0503020204020204" pitchFamily="34" charset="-122"/>
              </a:rPr>
              <a:t>脱羧</a:t>
            </a:r>
          </a:p>
        </p:txBody>
      </p:sp>
      <p:sp>
        <p:nvSpPr>
          <p:cNvPr id="41" name="文本框 40"/>
          <p:cNvSpPr txBox="1"/>
          <p:nvPr/>
        </p:nvSpPr>
        <p:spPr>
          <a:xfrm>
            <a:off x="2172976" y="-117925"/>
            <a:ext cx="8145178" cy="906915"/>
          </a:xfrm>
          <a:prstGeom prst="rect">
            <a:avLst/>
          </a:prstGeom>
          <a:noFill/>
        </p:spPr>
        <p:txBody>
          <a:bodyPr wrap="none" rtlCol="0" anchor="t">
            <a:spAutoFit/>
          </a:bodyPr>
          <a:lstStyle/>
          <a:p>
            <a:pPr>
              <a:lnSpc>
                <a:spcPct val="150000"/>
              </a:lnSpc>
            </a:pPr>
            <a:r>
              <a:rPr lang="zh-CN" altLang="en-US" sz="4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一</a:t>
            </a:r>
            <a:r>
              <a:rPr lang="zh-CN" altLang="en-US" sz="4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en-US" sz="4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准备阶段：丙酮酸→乙酰-CoA</a:t>
            </a:r>
            <a:endParaRPr lang="zh-CN" altLang="en-US" sz="4000" b="1" dirty="0">
              <a:solidFill>
                <a:schemeClr val="bg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p:cNvSpPr/>
          <p:nvPr/>
        </p:nvSpPr>
        <p:spPr>
          <a:xfrm>
            <a:off x="1969127" y="4998863"/>
            <a:ext cx="734473" cy="69004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26" name="矩形 25"/>
          <p:cNvSpPr>
            <a:spLocks noChangeArrowheads="1"/>
          </p:cNvSpPr>
          <p:nvPr/>
        </p:nvSpPr>
        <p:spPr bwMode="auto">
          <a:xfrm>
            <a:off x="315795" y="2359830"/>
            <a:ext cx="3629003" cy="523220"/>
          </a:xfrm>
          <a:prstGeom prst="rect">
            <a:avLst/>
          </a:prstGeom>
          <a:solidFill>
            <a:schemeClr val="accent6">
              <a:lumMod val="20000"/>
              <a:lumOff val="80000"/>
            </a:schemeClr>
          </a:solidFill>
          <a:ln w="9525">
            <a:solidFill>
              <a:srgbClr val="000000">
                <a:alpha val="0"/>
              </a:srgbClr>
            </a:solidFill>
            <a:miter lim="800000"/>
          </a:ln>
        </p:spPr>
        <p:txBody>
          <a:bodyPr wrap="square">
            <a:spAutoFit/>
          </a:bodyPr>
          <a:lstStyle>
            <a:lvl1pPr algn="ctr">
              <a:defRPr sz="7200">
                <a:solidFill>
                  <a:schemeClr val="accent2"/>
                </a:solidFill>
                <a:latin typeface="Times New Roman" panose="02020603050405020304" pitchFamily="18" charset="0"/>
                <a:ea typeface="宋体" panose="02010600030101010101" pitchFamily="2" charset="-122"/>
              </a:defRPr>
            </a:lvl1pPr>
            <a:lvl2pPr algn="ctr">
              <a:defRPr sz="7200">
                <a:solidFill>
                  <a:schemeClr val="accent2"/>
                </a:solidFill>
                <a:latin typeface="Times New Roman" panose="02020603050405020304" pitchFamily="18" charset="0"/>
                <a:ea typeface="宋体" panose="02010600030101010101" pitchFamily="2" charset="-122"/>
              </a:defRPr>
            </a:lvl2pPr>
            <a:lvl3pPr algn="ctr">
              <a:defRPr sz="7200">
                <a:solidFill>
                  <a:schemeClr val="accent2"/>
                </a:solidFill>
                <a:latin typeface="Times New Roman" panose="02020603050405020304" pitchFamily="18" charset="0"/>
                <a:ea typeface="宋体" panose="02010600030101010101" pitchFamily="2" charset="-122"/>
              </a:defRPr>
            </a:lvl3pPr>
            <a:lvl4pPr algn="ctr">
              <a:defRPr sz="7200">
                <a:solidFill>
                  <a:schemeClr val="accent2"/>
                </a:solidFill>
                <a:latin typeface="Times New Roman" panose="02020603050405020304" pitchFamily="18" charset="0"/>
                <a:ea typeface="宋体" panose="02010600030101010101" pitchFamily="2" charset="-122"/>
              </a:defRPr>
            </a:lvl4pPr>
            <a:lvl5pPr algn="ctr">
              <a:defRPr sz="7200">
                <a:solidFill>
                  <a:schemeClr val="accent2"/>
                </a:solidFill>
                <a:latin typeface="Times New Roman" panose="02020603050405020304" pitchFamily="18" charset="0"/>
                <a:ea typeface="宋体" panose="02010600030101010101" pitchFamily="2" charset="-122"/>
              </a:defRPr>
            </a:lvl5pPr>
            <a:lvl6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6pPr>
            <a:lvl7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7pPr>
            <a:lvl8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8pPr>
            <a:lvl9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9pPr>
          </a:lstStyle>
          <a:p>
            <a:pPr>
              <a:spcBef>
                <a:spcPts val="600"/>
              </a:spcBef>
              <a:spcAft>
                <a:spcPts val="600"/>
              </a:spcAft>
            </a:pPr>
            <a:r>
              <a:rPr lang="en-US" altLang="zh-CN" sz="28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E2的辅基：硫辛酸</a:t>
            </a:r>
            <a:endParaRPr lang="en-US" altLang="zh-CN" sz="3600" b="1" dirty="0">
              <a:solidFill>
                <a:schemeClr val="tx1"/>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5185996" y="990928"/>
            <a:ext cx="6019788" cy="5681949"/>
          </a:xfrm>
          <a:prstGeom prst="rect">
            <a:avLst/>
          </a:prstGeom>
        </p:spPr>
      </p:pic>
      <p:sp>
        <p:nvSpPr>
          <p:cNvPr id="14" name="矩形 13"/>
          <p:cNvSpPr/>
          <p:nvPr/>
        </p:nvSpPr>
        <p:spPr>
          <a:xfrm>
            <a:off x="4982978" y="3218525"/>
            <a:ext cx="800219" cy="338554"/>
          </a:xfrm>
          <a:prstGeom prst="rect">
            <a:avLst/>
          </a:prstGeom>
        </p:spPr>
        <p:txBody>
          <a:bodyPr wrap="non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硫辛酸</a:t>
            </a:r>
          </a:p>
        </p:txBody>
      </p:sp>
      <p:sp>
        <p:nvSpPr>
          <p:cNvPr id="19" name="矩形 18"/>
          <p:cNvSpPr/>
          <p:nvPr/>
        </p:nvSpPr>
        <p:spPr>
          <a:xfrm>
            <a:off x="4131014" y="4233480"/>
            <a:ext cx="1864613" cy="338554"/>
          </a:xfrm>
          <a:prstGeom prst="rect">
            <a:avLst/>
          </a:prstGeom>
        </p:spPr>
        <p:txBody>
          <a:bodyPr wrap="none">
            <a:spAutoFit/>
          </a:bodyPr>
          <a:lstStyle/>
          <a:p>
            <a:r>
              <a:rPr lang="en-US" altLang="zh-CN" sz="1600" b="1" dirty="0">
                <a:solidFill>
                  <a:srgbClr val="FF0000"/>
                </a:solidFill>
                <a:latin typeface="微软雅黑" panose="020B0503020204020204" pitchFamily="34" charset="-122"/>
                <a:ea typeface="微软雅黑" panose="020B0503020204020204" pitchFamily="34" charset="-122"/>
              </a:rPr>
              <a:t>E2</a:t>
            </a:r>
            <a:r>
              <a:rPr lang="zh-CN" altLang="en-US" sz="1600" b="1" dirty="0">
                <a:solidFill>
                  <a:srgbClr val="FF0000"/>
                </a:solidFill>
                <a:latin typeface="微软雅黑" panose="020B0503020204020204" pitchFamily="34" charset="-122"/>
                <a:ea typeface="微软雅黑" panose="020B0503020204020204" pitchFamily="34" charset="-122"/>
              </a:rPr>
              <a:t>上的赖氨酸残基</a:t>
            </a:r>
          </a:p>
        </p:txBody>
      </p:sp>
      <p:sp>
        <p:nvSpPr>
          <p:cNvPr id="3" name="矩形 2"/>
          <p:cNvSpPr/>
          <p:nvPr/>
        </p:nvSpPr>
        <p:spPr>
          <a:xfrm>
            <a:off x="7912037" y="5288798"/>
            <a:ext cx="3054041" cy="400110"/>
          </a:xfrm>
          <a:prstGeom prst="rect">
            <a:avLst/>
          </a:prstGeom>
        </p:spPr>
        <p:txBody>
          <a:bodyPr wrap="non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二氢硫辛酰转乙酰基酶</a:t>
            </a:r>
            <a:r>
              <a:rPr lang="en-US" altLang="zh-CN" sz="2000" b="1" dirty="0">
                <a:solidFill>
                  <a:srgbClr val="FF0000"/>
                </a:solidFill>
                <a:latin typeface="微软雅黑" panose="020B0503020204020204" pitchFamily="34" charset="-122"/>
                <a:ea typeface="微软雅黑" panose="020B0503020204020204" pitchFamily="34" charset="-122"/>
              </a:rPr>
              <a:t>E2</a:t>
            </a:r>
          </a:p>
        </p:txBody>
      </p:sp>
      <p:sp>
        <p:nvSpPr>
          <p:cNvPr id="23" name="矩形 22"/>
          <p:cNvSpPr/>
          <p:nvPr/>
        </p:nvSpPr>
        <p:spPr>
          <a:xfrm>
            <a:off x="6370811" y="893271"/>
            <a:ext cx="800219" cy="338554"/>
          </a:xfrm>
          <a:prstGeom prst="rect">
            <a:avLst/>
          </a:prstGeom>
        </p:spPr>
        <p:txBody>
          <a:bodyPr wrap="non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氧化型</a:t>
            </a:r>
          </a:p>
        </p:txBody>
      </p:sp>
      <p:sp>
        <p:nvSpPr>
          <p:cNvPr id="24" name="矩形 23"/>
          <p:cNvSpPr/>
          <p:nvPr/>
        </p:nvSpPr>
        <p:spPr>
          <a:xfrm>
            <a:off x="7319630" y="893270"/>
            <a:ext cx="800219" cy="338554"/>
          </a:xfrm>
          <a:prstGeom prst="rect">
            <a:avLst/>
          </a:prstGeom>
        </p:spPr>
        <p:txBody>
          <a:bodyPr wrap="non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还原型</a:t>
            </a:r>
          </a:p>
        </p:txBody>
      </p:sp>
      <p:sp>
        <p:nvSpPr>
          <p:cNvPr id="25" name="矩形 24"/>
          <p:cNvSpPr/>
          <p:nvPr/>
        </p:nvSpPr>
        <p:spPr>
          <a:xfrm>
            <a:off x="10165859" y="893598"/>
            <a:ext cx="800219" cy="338554"/>
          </a:xfrm>
          <a:prstGeom prst="rect">
            <a:avLst/>
          </a:prstGeom>
        </p:spPr>
        <p:txBody>
          <a:bodyPr wrap="non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乙酰化</a:t>
            </a:r>
          </a:p>
        </p:txBody>
      </p:sp>
      <p:sp>
        <p:nvSpPr>
          <p:cNvPr id="27" name="文本框 26"/>
          <p:cNvSpPr txBox="1"/>
          <p:nvPr/>
        </p:nvSpPr>
        <p:spPr>
          <a:xfrm>
            <a:off x="589534" y="3571760"/>
            <a:ext cx="3355264" cy="830997"/>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作用：</a:t>
            </a:r>
            <a:r>
              <a:rPr lang="zh-CN" altLang="en-US" sz="2400" dirty="0">
                <a:latin typeface="微软雅黑" panose="020B0503020204020204" pitchFamily="34" charset="-122"/>
                <a:ea typeface="微软雅黑" panose="020B0503020204020204" pitchFamily="34" charset="-122"/>
              </a:rPr>
              <a:t>将羟乙基</a:t>
            </a:r>
            <a:r>
              <a:rPr lang="zh-CN" altLang="en-US" sz="2400" dirty="0">
                <a:solidFill>
                  <a:srgbClr val="FF0000"/>
                </a:solidFill>
                <a:latin typeface="微软雅黑" panose="020B0503020204020204" pitchFamily="34" charset="-122"/>
                <a:ea typeface="微软雅黑" panose="020B0503020204020204" pitchFamily="34" charset="-122"/>
              </a:rPr>
              <a:t>氧化为乙酰基。</a:t>
            </a:r>
          </a:p>
        </p:txBody>
      </p:sp>
      <p:sp>
        <p:nvSpPr>
          <p:cNvPr id="41" name="文本框 40"/>
          <p:cNvSpPr txBox="1"/>
          <p:nvPr/>
        </p:nvSpPr>
        <p:spPr>
          <a:xfrm>
            <a:off x="2144396" y="-82237"/>
            <a:ext cx="8145178"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一</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准备阶段：丙酮酸→乙酰-CoA</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553416" y="1276173"/>
            <a:ext cx="11438644" cy="4927600"/>
          </a:xfrm>
          <a:prstGeom prst="rect">
            <a:avLst/>
          </a:prstGeom>
        </p:spPr>
      </p:pic>
      <p:sp>
        <p:nvSpPr>
          <p:cNvPr id="10" name="矩形: 圆角 9"/>
          <p:cNvSpPr/>
          <p:nvPr/>
        </p:nvSpPr>
        <p:spPr>
          <a:xfrm>
            <a:off x="1040268" y="4773465"/>
            <a:ext cx="934666" cy="944518"/>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26" name="矩形 25"/>
          <p:cNvSpPr>
            <a:spLocks noChangeArrowheads="1"/>
          </p:cNvSpPr>
          <p:nvPr/>
        </p:nvSpPr>
        <p:spPr bwMode="auto">
          <a:xfrm>
            <a:off x="4199495" y="1413342"/>
            <a:ext cx="3393129" cy="523220"/>
          </a:xfrm>
          <a:prstGeom prst="rect">
            <a:avLst/>
          </a:prstGeom>
          <a:solidFill>
            <a:schemeClr val="accent6">
              <a:lumMod val="20000"/>
              <a:lumOff val="80000"/>
            </a:schemeClr>
          </a:solidFill>
          <a:ln w="9525">
            <a:noFill/>
            <a:miter lim="800000"/>
          </a:ln>
        </p:spPr>
        <p:txBody>
          <a:bodyPr wrap="square">
            <a:spAutoFit/>
          </a:bodyPr>
          <a:lstStyle>
            <a:lvl1pPr algn="ctr">
              <a:defRPr sz="7200">
                <a:solidFill>
                  <a:schemeClr val="accent2"/>
                </a:solidFill>
                <a:latin typeface="Times New Roman" panose="02020603050405020304" pitchFamily="18" charset="0"/>
                <a:ea typeface="宋体" panose="02010600030101010101" pitchFamily="2" charset="-122"/>
              </a:defRPr>
            </a:lvl1pPr>
            <a:lvl2pPr algn="ctr">
              <a:defRPr sz="7200">
                <a:solidFill>
                  <a:schemeClr val="accent2"/>
                </a:solidFill>
                <a:latin typeface="Times New Roman" panose="02020603050405020304" pitchFamily="18" charset="0"/>
                <a:ea typeface="宋体" panose="02010600030101010101" pitchFamily="2" charset="-122"/>
              </a:defRPr>
            </a:lvl2pPr>
            <a:lvl3pPr algn="ctr">
              <a:defRPr sz="7200">
                <a:solidFill>
                  <a:schemeClr val="accent2"/>
                </a:solidFill>
                <a:latin typeface="Times New Roman" panose="02020603050405020304" pitchFamily="18" charset="0"/>
                <a:ea typeface="宋体" panose="02010600030101010101" pitchFamily="2" charset="-122"/>
              </a:defRPr>
            </a:lvl3pPr>
            <a:lvl4pPr algn="ctr">
              <a:defRPr sz="7200">
                <a:solidFill>
                  <a:schemeClr val="accent2"/>
                </a:solidFill>
                <a:latin typeface="Times New Roman" panose="02020603050405020304" pitchFamily="18" charset="0"/>
                <a:ea typeface="宋体" panose="02010600030101010101" pitchFamily="2" charset="-122"/>
              </a:defRPr>
            </a:lvl4pPr>
            <a:lvl5pPr algn="ctr">
              <a:defRPr sz="7200">
                <a:solidFill>
                  <a:schemeClr val="accent2"/>
                </a:solidFill>
                <a:latin typeface="Times New Roman" panose="02020603050405020304" pitchFamily="18" charset="0"/>
                <a:ea typeface="宋体" panose="02010600030101010101" pitchFamily="2" charset="-122"/>
              </a:defRPr>
            </a:lvl5pPr>
            <a:lvl6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6pPr>
            <a:lvl7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7pPr>
            <a:lvl8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8pPr>
            <a:lvl9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9pPr>
          </a:lstStyle>
          <a:p>
            <a:pPr>
              <a:spcBef>
                <a:spcPts val="600"/>
              </a:spcBef>
              <a:spcAft>
                <a:spcPts val="600"/>
              </a:spcAft>
            </a:pPr>
            <a:r>
              <a:rPr lang="en-US" altLang="zh-CN" sz="2800" b="1" dirty="0">
                <a:solidFill>
                  <a:schemeClr val="tx1"/>
                </a:solidFill>
                <a:latin typeface="微软雅黑" panose="020B0503020204020204" pitchFamily="34" charset="-122"/>
                <a:ea typeface="微软雅黑" panose="020B0503020204020204" pitchFamily="34" charset="-122"/>
              </a:rPr>
              <a:t>E2</a:t>
            </a:r>
            <a:r>
              <a:rPr lang="zh-CN" altLang="en-US" sz="2800" b="1" dirty="0">
                <a:solidFill>
                  <a:schemeClr val="tx1"/>
                </a:solidFill>
                <a:latin typeface="微软雅黑" panose="020B0503020204020204" pitchFamily="34" charset="-122"/>
                <a:ea typeface="微软雅黑" panose="020B0503020204020204" pitchFamily="34" charset="-122"/>
              </a:rPr>
              <a:t>的辅基：辅酶</a:t>
            </a:r>
            <a:r>
              <a:rPr lang="en-US" altLang="zh-CN" sz="2800" b="1" dirty="0">
                <a:solidFill>
                  <a:schemeClr val="tx1"/>
                </a:solidFill>
                <a:latin typeface="微软雅黑" panose="020B0503020204020204" pitchFamily="34" charset="-122"/>
                <a:ea typeface="微软雅黑" panose="020B0503020204020204" pitchFamily="34" charset="-122"/>
              </a:rPr>
              <a:t>A</a:t>
            </a:r>
          </a:p>
        </p:txBody>
      </p:sp>
      <p:sp>
        <p:nvSpPr>
          <p:cNvPr id="5" name="矩形 4"/>
          <p:cNvSpPr/>
          <p:nvPr/>
        </p:nvSpPr>
        <p:spPr>
          <a:xfrm>
            <a:off x="866696" y="1276173"/>
            <a:ext cx="1570266" cy="369332"/>
          </a:xfrm>
          <a:prstGeom prst="rect">
            <a:avLst/>
          </a:prstGeom>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活性巯基</a:t>
            </a:r>
          </a:p>
        </p:txBody>
      </p:sp>
      <p:sp>
        <p:nvSpPr>
          <p:cNvPr id="6" name="矩形 5"/>
          <p:cNvSpPr/>
          <p:nvPr/>
        </p:nvSpPr>
        <p:spPr>
          <a:xfrm>
            <a:off x="1201594" y="4181765"/>
            <a:ext cx="1570266" cy="369332"/>
          </a:xfrm>
          <a:prstGeom prst="rect">
            <a:avLst/>
          </a:prstGeom>
        </p:spPr>
        <p:txBody>
          <a:bodyPr wrap="square">
            <a:spAutoFit/>
          </a:bodyPr>
          <a:lstStyle/>
          <a:p>
            <a:r>
              <a:rPr lang="en-US" altLang="zh-CN" b="1" dirty="0">
                <a:solidFill>
                  <a:srgbClr val="FF0000"/>
                </a:solidFill>
                <a:latin typeface="微软雅黑" panose="020B0503020204020204" pitchFamily="34" charset="-122"/>
                <a:ea typeface="微软雅黑" panose="020B0503020204020204" pitchFamily="34" charset="-122"/>
              </a:rPr>
              <a:t>β-</a:t>
            </a:r>
            <a:r>
              <a:rPr lang="zh-CN" altLang="en-US" b="1" dirty="0">
                <a:solidFill>
                  <a:srgbClr val="FF0000"/>
                </a:solidFill>
                <a:latin typeface="微软雅黑" panose="020B0503020204020204" pitchFamily="34" charset="-122"/>
                <a:ea typeface="微软雅黑" panose="020B0503020204020204" pitchFamily="34" charset="-122"/>
              </a:rPr>
              <a:t>巯基乙胺</a:t>
            </a:r>
          </a:p>
        </p:txBody>
      </p:sp>
      <p:sp>
        <p:nvSpPr>
          <p:cNvPr id="15" name="矩形 14"/>
          <p:cNvSpPr/>
          <p:nvPr/>
        </p:nvSpPr>
        <p:spPr>
          <a:xfrm>
            <a:off x="4536685" y="4301742"/>
            <a:ext cx="934666" cy="369332"/>
          </a:xfrm>
          <a:prstGeom prst="rect">
            <a:avLst/>
          </a:prstGeom>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泛酸</a:t>
            </a:r>
          </a:p>
        </p:txBody>
      </p:sp>
      <p:sp>
        <p:nvSpPr>
          <p:cNvPr id="16" name="矩形 15"/>
          <p:cNvSpPr/>
          <p:nvPr/>
        </p:nvSpPr>
        <p:spPr>
          <a:xfrm>
            <a:off x="9147465" y="5869813"/>
            <a:ext cx="1557661" cy="369332"/>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solidFill>
                  <a:srgbClr val="FF0000"/>
                </a:solidFill>
                <a:latin typeface="微软雅黑" panose="020B0503020204020204" pitchFamily="34" charset="-122"/>
                <a:ea typeface="微软雅黑" panose="020B0503020204020204" pitchFamily="34" charset="-122"/>
              </a:rPr>
              <a:t>3-</a:t>
            </a:r>
            <a:r>
              <a:rPr lang="zh-CN" altLang="en-US" b="1" dirty="0">
                <a:solidFill>
                  <a:srgbClr val="FF0000"/>
                </a:solidFill>
                <a:latin typeface="微软雅黑" panose="020B0503020204020204" pitchFamily="34" charset="-122"/>
                <a:ea typeface="微软雅黑" panose="020B0503020204020204" pitchFamily="34" charset="-122"/>
              </a:rPr>
              <a:t>磷酸</a:t>
            </a:r>
            <a:r>
              <a:rPr lang="en-US" altLang="zh-CN" b="1" dirty="0">
                <a:solidFill>
                  <a:srgbClr val="FF0000"/>
                </a:solidFill>
                <a:latin typeface="微软雅黑" panose="020B0503020204020204" pitchFamily="34" charset="-122"/>
                <a:ea typeface="微软雅黑" panose="020B0503020204020204" pitchFamily="34" charset="-122"/>
              </a:rPr>
              <a:t>ADP</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17" name="矩形 16"/>
          <p:cNvSpPr/>
          <p:nvPr/>
        </p:nvSpPr>
        <p:spPr>
          <a:xfrm>
            <a:off x="10145387" y="4578741"/>
            <a:ext cx="1397940" cy="369332"/>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b="1" dirty="0">
                <a:solidFill>
                  <a:srgbClr val="FF0000"/>
                </a:solidFill>
                <a:latin typeface="微软雅黑" panose="020B0503020204020204" pitchFamily="34" charset="-122"/>
                <a:ea typeface="微软雅黑" panose="020B0503020204020204" pitchFamily="34" charset="-122"/>
              </a:rPr>
              <a:t>戊糖</a:t>
            </a:r>
            <a:r>
              <a:rPr lang="en-US" altLang="zh-CN" b="1" dirty="0">
                <a:solidFill>
                  <a:srgbClr val="FF0000"/>
                </a:solidFill>
                <a:latin typeface="微软雅黑" panose="020B0503020204020204" pitchFamily="34" charset="-122"/>
                <a:ea typeface="微软雅黑" panose="020B0503020204020204" pitchFamily="34" charset="-122"/>
              </a:rPr>
              <a:t>-3</a:t>
            </a:r>
            <a:r>
              <a:rPr lang="zh-CN" altLang="en-US" b="1" dirty="0">
                <a:solidFill>
                  <a:srgbClr val="FF0000"/>
                </a:solidFill>
                <a:latin typeface="微软雅黑" panose="020B0503020204020204" pitchFamily="34" charset="-122"/>
                <a:ea typeface="微软雅黑" panose="020B0503020204020204" pitchFamily="34" charset="-122"/>
              </a:rPr>
              <a:t>磷酸</a:t>
            </a:r>
          </a:p>
        </p:txBody>
      </p:sp>
      <p:sp>
        <p:nvSpPr>
          <p:cNvPr id="18" name="矩形 17"/>
          <p:cNvSpPr/>
          <p:nvPr/>
        </p:nvSpPr>
        <p:spPr>
          <a:xfrm>
            <a:off x="10832127" y="3307433"/>
            <a:ext cx="1005861" cy="369332"/>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b="1" dirty="0">
                <a:solidFill>
                  <a:srgbClr val="FF0000"/>
                </a:solidFill>
                <a:latin typeface="微软雅黑" panose="020B0503020204020204" pitchFamily="34" charset="-122"/>
                <a:ea typeface="微软雅黑" panose="020B0503020204020204" pitchFamily="34" charset="-122"/>
              </a:rPr>
              <a:t>腺嘌呤</a:t>
            </a:r>
          </a:p>
        </p:txBody>
      </p:sp>
      <p:sp>
        <p:nvSpPr>
          <p:cNvPr id="19" name="文本框 18"/>
          <p:cNvSpPr txBox="1"/>
          <p:nvPr/>
        </p:nvSpPr>
        <p:spPr>
          <a:xfrm>
            <a:off x="3493817" y="6092725"/>
            <a:ext cx="4708565"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作用：将乙酰基</a:t>
            </a:r>
            <a:r>
              <a:rPr lang="zh-CN" altLang="en-US" sz="2400" b="1" dirty="0">
                <a:solidFill>
                  <a:srgbClr val="FF0000"/>
                </a:solidFill>
                <a:latin typeface="微软雅黑" panose="020B0503020204020204" pitchFamily="34" charset="-122"/>
                <a:ea typeface="微软雅黑" panose="020B0503020204020204" pitchFamily="34" charset="-122"/>
              </a:rPr>
              <a:t>形成乙酰辅酶</a:t>
            </a:r>
            <a:r>
              <a:rPr lang="en-US" altLang="zh-CN" sz="2400" b="1" dirty="0">
                <a:solidFill>
                  <a:srgbClr val="FF0000"/>
                </a:solidFill>
                <a:latin typeface="微软雅黑" panose="020B0503020204020204" pitchFamily="34" charset="-122"/>
                <a:ea typeface="微软雅黑" panose="020B0503020204020204" pitchFamily="34" charset="-122"/>
              </a:rPr>
              <a:t>A</a:t>
            </a:r>
          </a:p>
        </p:txBody>
      </p:sp>
      <p:sp>
        <p:nvSpPr>
          <p:cNvPr id="41" name="文本框 40"/>
          <p:cNvSpPr txBox="1"/>
          <p:nvPr/>
        </p:nvSpPr>
        <p:spPr>
          <a:xfrm>
            <a:off x="2200149" y="-32548"/>
            <a:ext cx="8145178"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一</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准备阶段：丙酮酸→乙酰-CoA</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EB3A9A4-23B8-B347-3D27-654320E320D8}"/>
              </a:ext>
            </a:extLst>
          </p:cNvPr>
          <p:cNvSpPr/>
          <p:nvPr/>
        </p:nvSpPr>
        <p:spPr>
          <a:xfrm>
            <a:off x="719367" y="6357961"/>
            <a:ext cx="10753265" cy="461665"/>
          </a:xfrm>
          <a:prstGeom prst="rect">
            <a:avLst/>
          </a:prstGeom>
          <a:ln>
            <a:solidFill>
              <a:schemeClr val="tx1"/>
            </a:solidFill>
          </a:ln>
        </p:spPr>
        <p:txBody>
          <a:bodyPr wrap="none">
            <a:spAutoFit/>
          </a:bodyPr>
          <a:lstStyle/>
          <a:p>
            <a:r>
              <a:rPr lang="zh-CN" altLang="en-US" sz="24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E1</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丙酮酸脱氢酶</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E2</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二氢硫辛酰转乙酰基酶</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E3</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二氢硫锌酰脱氢酶</a:t>
            </a:r>
            <a:endParaRPr lang="zh-CN" altLang="en-US" sz="2400" b="1"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C25B00BA-F6F3-B7CB-AE64-3BA557087CFA}"/>
              </a:ext>
            </a:extLst>
          </p:cNvPr>
          <p:cNvGrpSpPr/>
          <p:nvPr/>
        </p:nvGrpSpPr>
        <p:grpSpPr>
          <a:xfrm>
            <a:off x="719367" y="0"/>
            <a:ext cx="10913834" cy="6357961"/>
            <a:chOff x="1440419" y="1097441"/>
            <a:chExt cx="9013115" cy="4818074"/>
          </a:xfrm>
        </p:grpSpPr>
        <p:pic>
          <p:nvPicPr>
            <p:cNvPr id="4" name="图片 3">
              <a:extLst>
                <a:ext uri="{FF2B5EF4-FFF2-40B4-BE49-F238E27FC236}">
                  <a16:creationId xmlns:a16="http://schemas.microsoft.com/office/drawing/2014/main" id="{CD81CB1F-6D71-4C6A-2F95-8331BEAF33B1}"/>
                </a:ext>
              </a:extLst>
            </p:cNvPr>
            <p:cNvPicPr>
              <a:picLocks noChangeAspect="1"/>
            </p:cNvPicPr>
            <p:nvPr/>
          </p:nvPicPr>
          <p:blipFill rotWithShape="1">
            <a:blip r:embed="rId2">
              <a:extLst>
                <a:ext uri="{28A0092B-C50C-407E-A947-70E740481C1C}">
                  <a14:useLocalDpi xmlns:a14="http://schemas.microsoft.com/office/drawing/2010/main" val="0"/>
                </a:ext>
              </a:extLst>
            </a:blip>
            <a:srcRect t="1832"/>
            <a:stretch/>
          </p:blipFill>
          <p:spPr>
            <a:xfrm>
              <a:off x="1440419" y="1097441"/>
              <a:ext cx="9013115" cy="4818074"/>
            </a:xfrm>
            <a:prstGeom prst="rect">
              <a:avLst/>
            </a:prstGeom>
            <a:ln>
              <a:noFill/>
            </a:ln>
          </p:spPr>
        </p:pic>
        <p:sp>
          <p:nvSpPr>
            <p:cNvPr id="5" name="文本框 4">
              <a:extLst>
                <a:ext uri="{FF2B5EF4-FFF2-40B4-BE49-F238E27FC236}">
                  <a16:creationId xmlns:a16="http://schemas.microsoft.com/office/drawing/2014/main" id="{8BC7ABEF-787A-A0AE-B13C-7037F541A269}"/>
                </a:ext>
              </a:extLst>
            </p:cNvPr>
            <p:cNvSpPr txBox="1"/>
            <p:nvPr/>
          </p:nvSpPr>
          <p:spPr>
            <a:xfrm>
              <a:off x="5783339" y="3396330"/>
              <a:ext cx="800219" cy="276999"/>
            </a:xfrm>
            <a:prstGeom prst="rect">
              <a:avLst/>
            </a:prstGeom>
            <a:noFill/>
          </p:spPr>
          <p:txBody>
            <a:bodyPr wrap="none" rtlCol="0">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硫锌酰按</a:t>
              </a:r>
            </a:p>
          </p:txBody>
        </p:sp>
        <p:sp>
          <p:nvSpPr>
            <p:cNvPr id="6" name="文本框 5">
              <a:extLst>
                <a:ext uri="{FF2B5EF4-FFF2-40B4-BE49-F238E27FC236}">
                  <a16:creationId xmlns:a16="http://schemas.microsoft.com/office/drawing/2014/main" id="{AF744181-87F0-15B8-001F-8A4E676FB65D}"/>
                </a:ext>
              </a:extLst>
            </p:cNvPr>
            <p:cNvSpPr txBox="1"/>
            <p:nvPr/>
          </p:nvSpPr>
          <p:spPr>
            <a:xfrm>
              <a:off x="5645439" y="5413701"/>
              <a:ext cx="1415772" cy="276999"/>
            </a:xfrm>
            <a:prstGeom prst="rect">
              <a:avLst/>
            </a:prstGeom>
            <a:noFill/>
          </p:spPr>
          <p:txBody>
            <a:bodyPr wrap="none" rtlCol="0">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乙酰二氢硫锌酰按</a:t>
              </a:r>
            </a:p>
          </p:txBody>
        </p:sp>
        <p:sp>
          <p:nvSpPr>
            <p:cNvPr id="7" name="文本框 6">
              <a:extLst>
                <a:ext uri="{FF2B5EF4-FFF2-40B4-BE49-F238E27FC236}">
                  <a16:creationId xmlns:a16="http://schemas.microsoft.com/office/drawing/2014/main" id="{17A1C741-3D81-6BFF-F52F-C0B7620BCDA6}"/>
                </a:ext>
              </a:extLst>
            </p:cNvPr>
            <p:cNvSpPr txBox="1"/>
            <p:nvPr/>
          </p:nvSpPr>
          <p:spPr>
            <a:xfrm>
              <a:off x="3764513" y="3446152"/>
              <a:ext cx="1011815" cy="276999"/>
            </a:xfrm>
            <a:prstGeom prst="rect">
              <a:avLst/>
            </a:prstGeom>
            <a:noFill/>
          </p:spPr>
          <p:txBody>
            <a:bodyPr wrap="none" rtlCol="0">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羟乙基</a:t>
              </a:r>
              <a:r>
                <a:rPr lang="en-US" altLang="zh-CN" sz="1200" b="1" dirty="0">
                  <a:solidFill>
                    <a:srgbClr val="FF0000"/>
                  </a:solidFill>
                  <a:latin typeface="微软雅黑" panose="020B0503020204020204" pitchFamily="34" charset="-122"/>
                  <a:ea typeface="微软雅黑" panose="020B0503020204020204" pitchFamily="34" charset="-122"/>
                </a:rPr>
                <a:t>-TPP</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19F31A03-3C8A-0BD2-2063-0A19153E7CA7}"/>
                </a:ext>
              </a:extLst>
            </p:cNvPr>
            <p:cNvSpPr txBox="1"/>
            <p:nvPr/>
          </p:nvSpPr>
          <p:spPr>
            <a:xfrm>
              <a:off x="1939522" y="4772625"/>
              <a:ext cx="646331" cy="276999"/>
            </a:xfrm>
            <a:prstGeom prst="rect">
              <a:avLst/>
            </a:prstGeom>
            <a:noFill/>
          </p:spPr>
          <p:txBody>
            <a:bodyPr wrap="none" rtlCol="0">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丙酮酸</a:t>
              </a:r>
            </a:p>
          </p:txBody>
        </p:sp>
        <p:sp>
          <p:nvSpPr>
            <p:cNvPr id="9" name="文本框 8">
              <a:extLst>
                <a:ext uri="{FF2B5EF4-FFF2-40B4-BE49-F238E27FC236}">
                  <a16:creationId xmlns:a16="http://schemas.microsoft.com/office/drawing/2014/main" id="{A4AE5191-522C-653E-9728-35F02CF7AB47}"/>
                </a:ext>
              </a:extLst>
            </p:cNvPr>
            <p:cNvSpPr txBox="1"/>
            <p:nvPr/>
          </p:nvSpPr>
          <p:spPr>
            <a:xfrm>
              <a:off x="8499647" y="5217551"/>
              <a:ext cx="915635" cy="276999"/>
            </a:xfrm>
            <a:prstGeom prst="rect">
              <a:avLst/>
            </a:prstGeom>
            <a:noFill/>
          </p:spPr>
          <p:txBody>
            <a:bodyPr wrap="none" rtlCol="0">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乙酰辅酶</a:t>
              </a:r>
              <a:r>
                <a:rPr lang="en-US" altLang="zh-CN" sz="1200" b="1" dirty="0">
                  <a:solidFill>
                    <a:srgbClr val="FF0000"/>
                  </a:solidFill>
                  <a:latin typeface="微软雅黑" panose="020B0503020204020204" pitchFamily="34" charset="-122"/>
                  <a:ea typeface="微软雅黑" panose="020B0503020204020204" pitchFamily="34" charset="-122"/>
                </a:rPr>
                <a:t>A</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3CEC5426-25BC-636E-F95C-0DA013120A39}"/>
                </a:ext>
              </a:extLst>
            </p:cNvPr>
            <p:cNvSpPr txBox="1"/>
            <p:nvPr/>
          </p:nvSpPr>
          <p:spPr>
            <a:xfrm>
              <a:off x="4184499" y="3835558"/>
              <a:ext cx="591829" cy="523220"/>
            </a:xfrm>
            <a:prstGeom prst="rect">
              <a:avLst/>
            </a:prstGeom>
            <a:solidFill>
              <a:schemeClr val="tx1"/>
            </a:solidFill>
          </p:spPr>
          <p:txBody>
            <a:bodyPr wrap="none" rtlCol="0">
              <a:spAutoFit/>
            </a:bodyPr>
            <a:lstStyle/>
            <a:p>
              <a:r>
                <a:rPr lang="en-US" altLang="zh-CN" sz="2800" dirty="0">
                  <a:solidFill>
                    <a:srgbClr val="FF0000"/>
                  </a:solidFill>
                  <a:latin typeface="微软雅黑" panose="020B0503020204020204" pitchFamily="34" charset="-122"/>
                  <a:ea typeface="微软雅黑" panose="020B0503020204020204" pitchFamily="34" charset="-122"/>
                </a:rPr>
                <a:t>E1</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A5B0A24-97BC-6538-DDE5-B80D9DE3A167}"/>
                </a:ext>
              </a:extLst>
            </p:cNvPr>
            <p:cNvSpPr txBox="1"/>
            <p:nvPr/>
          </p:nvSpPr>
          <p:spPr>
            <a:xfrm>
              <a:off x="6090198" y="3785736"/>
              <a:ext cx="591829" cy="523220"/>
            </a:xfrm>
            <a:prstGeom prst="rect">
              <a:avLst/>
            </a:prstGeom>
            <a:solidFill>
              <a:schemeClr val="tx1"/>
            </a:solidFill>
          </p:spPr>
          <p:txBody>
            <a:bodyPr wrap="none" rtlCol="0">
              <a:spAutoFit/>
            </a:bodyPr>
            <a:lstStyle/>
            <a:p>
              <a:r>
                <a:rPr lang="en-US" altLang="zh-CN" sz="2800" dirty="0">
                  <a:solidFill>
                    <a:srgbClr val="FF0000"/>
                  </a:solidFill>
                  <a:latin typeface="微软雅黑" panose="020B0503020204020204" pitchFamily="34" charset="-122"/>
                  <a:ea typeface="微软雅黑" panose="020B0503020204020204" pitchFamily="34" charset="-122"/>
                </a:rPr>
                <a:t>E2</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F5CF8025-0E6C-015F-8859-49267CF91084}"/>
                </a:ext>
              </a:extLst>
            </p:cNvPr>
            <p:cNvSpPr txBox="1"/>
            <p:nvPr/>
          </p:nvSpPr>
          <p:spPr>
            <a:xfrm>
              <a:off x="7516518" y="2273458"/>
              <a:ext cx="591829" cy="523220"/>
            </a:xfrm>
            <a:prstGeom prst="rect">
              <a:avLst/>
            </a:prstGeom>
            <a:solidFill>
              <a:schemeClr val="tx1"/>
            </a:solidFill>
          </p:spPr>
          <p:txBody>
            <a:bodyPr wrap="none" rtlCol="0">
              <a:spAutoFit/>
            </a:bodyPr>
            <a:lstStyle/>
            <a:p>
              <a:r>
                <a:rPr lang="en-US" altLang="zh-CN" sz="2800" dirty="0">
                  <a:solidFill>
                    <a:srgbClr val="FF0000"/>
                  </a:solidFill>
                  <a:latin typeface="微软雅黑" panose="020B0503020204020204" pitchFamily="34" charset="-122"/>
                  <a:ea typeface="微软雅黑" panose="020B0503020204020204" pitchFamily="34" charset="-122"/>
                </a:rPr>
                <a:t>E3</a:t>
              </a:r>
              <a:endParaRPr lang="zh-CN" altLang="en-US" sz="2800" dirty="0">
                <a:solidFill>
                  <a:srgbClr val="FF0000"/>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783253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261499" y="935567"/>
            <a:ext cx="6682384" cy="5922433"/>
          </a:xfrm>
          <a:prstGeom prst="rect">
            <a:avLst/>
          </a:prstGeom>
        </p:spPr>
      </p:pic>
      <p:sp>
        <p:nvSpPr>
          <p:cNvPr id="7" name="矩形 6"/>
          <p:cNvSpPr>
            <a:spLocks noChangeArrowheads="1"/>
          </p:cNvSpPr>
          <p:nvPr/>
        </p:nvSpPr>
        <p:spPr bwMode="auto">
          <a:xfrm>
            <a:off x="248117" y="1841606"/>
            <a:ext cx="4615983" cy="3061736"/>
          </a:xfrm>
          <a:prstGeom prst="rect">
            <a:avLst/>
          </a:prstGeom>
          <a:ln>
            <a:solidFill>
              <a:srgbClr val="000000">
                <a:alpha val="0"/>
              </a:srgbClr>
            </a:solidFill>
          </a:ln>
          <a:extLst>
            <a:ext uri="{909E8E84-426E-40DD-AFC4-6F175D3DCCD1}">
              <a14:hiddenFill xmlns:a14="http://schemas.microsoft.com/office/drawing/2010/main">
                <a:solidFill>
                  <a:srgbClr val="FFFFFF"/>
                </a:solidFill>
              </a14:hiddenFill>
            </a:ext>
          </a:extLst>
        </p:spPr>
        <p:style>
          <a:lnRef idx="2">
            <a:schemeClr val="dk1"/>
          </a:lnRef>
          <a:fillRef idx="1">
            <a:schemeClr val="lt1"/>
          </a:fillRef>
          <a:effectRef idx="0">
            <a:schemeClr val="dk1"/>
          </a:effectRef>
          <a:fontRef idx="minor">
            <a:schemeClr val="dk1"/>
          </a:fontRef>
        </p:style>
        <p:txBody>
          <a:bodyPr wrap="square">
            <a:spAutoFit/>
          </a:bodyPr>
          <a:lstStyle>
            <a:lvl1pPr algn="ctr">
              <a:defRPr sz="7200">
                <a:solidFill>
                  <a:schemeClr val="accent2"/>
                </a:solidFill>
                <a:latin typeface="Times New Roman" panose="02020603050405020304" pitchFamily="18" charset="0"/>
                <a:ea typeface="宋体" panose="02010600030101010101" pitchFamily="2" charset="-122"/>
              </a:defRPr>
            </a:lvl1pPr>
            <a:lvl2pPr algn="ctr">
              <a:defRPr sz="7200">
                <a:solidFill>
                  <a:schemeClr val="accent2"/>
                </a:solidFill>
                <a:latin typeface="Times New Roman" panose="02020603050405020304" pitchFamily="18" charset="0"/>
                <a:ea typeface="宋体" panose="02010600030101010101" pitchFamily="2" charset="-122"/>
              </a:defRPr>
            </a:lvl2pPr>
            <a:lvl3pPr algn="ctr">
              <a:defRPr sz="7200">
                <a:solidFill>
                  <a:schemeClr val="accent2"/>
                </a:solidFill>
                <a:latin typeface="Times New Roman" panose="02020603050405020304" pitchFamily="18" charset="0"/>
                <a:ea typeface="宋体" panose="02010600030101010101" pitchFamily="2" charset="-122"/>
              </a:defRPr>
            </a:lvl3pPr>
            <a:lvl4pPr algn="ctr">
              <a:defRPr sz="7200">
                <a:solidFill>
                  <a:schemeClr val="accent2"/>
                </a:solidFill>
                <a:latin typeface="Times New Roman" panose="02020603050405020304" pitchFamily="18" charset="0"/>
                <a:ea typeface="宋体" panose="02010600030101010101" pitchFamily="2" charset="-122"/>
              </a:defRPr>
            </a:lvl4pPr>
            <a:lvl5pPr algn="ctr">
              <a:defRPr sz="7200">
                <a:solidFill>
                  <a:schemeClr val="accent2"/>
                </a:solidFill>
                <a:latin typeface="Times New Roman" panose="02020603050405020304" pitchFamily="18" charset="0"/>
                <a:ea typeface="宋体" panose="02010600030101010101" pitchFamily="2" charset="-122"/>
              </a:defRPr>
            </a:lvl5pPr>
            <a:lvl6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6pPr>
            <a:lvl7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7pPr>
            <a:lvl8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8pPr>
            <a:lvl9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9pPr>
          </a:lstStyle>
          <a:p>
            <a:pPr marL="342900" indent="-342900" algn="l">
              <a:lnSpc>
                <a:spcPct val="110000"/>
              </a:lnSpc>
              <a:spcBef>
                <a:spcPts val="600"/>
              </a:spcBef>
              <a:spcAft>
                <a:spcPts val="600"/>
              </a:spcAft>
              <a:buFont typeface="Arial" panose="020B0604020202020204" pitchFamily="34" charset="0"/>
              <a:buChar char="•"/>
            </a:pPr>
            <a:r>
              <a:rPr lang="zh-CN" altLang="en-US" sz="2400" b="1" dirty="0">
                <a:solidFill>
                  <a:srgbClr val="FF0000"/>
                </a:solidFill>
                <a:latin typeface="微软雅黑" panose="020B0503020204020204" pitchFamily="34" charset="-122"/>
                <a:ea typeface="微软雅黑" panose="020B0503020204020204" pitchFamily="34" charset="-122"/>
              </a:rPr>
              <a:t>变构调节</a:t>
            </a:r>
            <a:r>
              <a:rPr lang="zh-CN" altLang="en-US" sz="2400" b="1"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乙酰</a:t>
            </a:r>
            <a:r>
              <a:rPr lang="en-US" altLang="zh-CN" sz="2400" dirty="0">
                <a:solidFill>
                  <a:schemeClr val="tx1"/>
                </a:solidFill>
                <a:latin typeface="微软雅黑" panose="020B0503020204020204" pitchFamily="34" charset="-122"/>
                <a:ea typeface="微软雅黑" panose="020B0503020204020204" pitchFamily="34" charset="-122"/>
              </a:rPr>
              <a:t>-CoA</a:t>
            </a:r>
            <a:r>
              <a:rPr lang="zh-CN" altLang="en-US" sz="2400" dirty="0">
                <a:solidFill>
                  <a:schemeClr val="tx1"/>
                </a:solidFill>
                <a:latin typeface="微软雅黑" panose="020B0503020204020204" pitchFamily="34" charset="-122"/>
                <a:ea typeface="微软雅黑" panose="020B0503020204020204" pitchFamily="34" charset="-122"/>
              </a:rPr>
              <a:t>抑制</a:t>
            </a:r>
            <a:r>
              <a:rPr lang="en-US" altLang="zh-CN" sz="2400" dirty="0">
                <a:solidFill>
                  <a:schemeClr val="tx1"/>
                </a:solidFill>
                <a:latin typeface="微软雅黑" panose="020B0503020204020204" pitchFamily="34" charset="-122"/>
                <a:ea typeface="微软雅黑" panose="020B0503020204020204" pitchFamily="34" charset="-122"/>
              </a:rPr>
              <a:t>E</a:t>
            </a:r>
            <a:r>
              <a:rPr lang="en-US" altLang="zh-CN" sz="2400" baseline="-25000" dirty="0">
                <a:solidFill>
                  <a:schemeClr val="tx1"/>
                </a:solidFill>
                <a:latin typeface="微软雅黑" panose="020B0503020204020204" pitchFamily="34" charset="-122"/>
                <a:ea typeface="微软雅黑" panose="020B0503020204020204" pitchFamily="34" charset="-122"/>
              </a:rPr>
              <a:t>2</a:t>
            </a:r>
            <a:r>
              <a:rPr lang="en-US" altLang="zh-CN" sz="2400" dirty="0">
                <a:solidFill>
                  <a:schemeClr val="tx1"/>
                </a:solidFill>
                <a:latin typeface="微软雅黑" panose="020B0503020204020204" pitchFamily="34" charset="-122"/>
                <a:ea typeface="微软雅黑" panose="020B0503020204020204" pitchFamily="34" charset="-122"/>
              </a:rPr>
              <a:t>,   NADH</a:t>
            </a:r>
            <a:r>
              <a:rPr lang="zh-CN" altLang="en-US" sz="2400" dirty="0">
                <a:solidFill>
                  <a:schemeClr val="tx1"/>
                </a:solidFill>
                <a:latin typeface="微软雅黑" panose="020B0503020204020204" pitchFamily="34" charset="-122"/>
                <a:ea typeface="微软雅黑" panose="020B0503020204020204" pitchFamily="34" charset="-122"/>
              </a:rPr>
              <a:t>抑制</a:t>
            </a:r>
            <a:r>
              <a:rPr lang="en-US" altLang="zh-CN" sz="2400" dirty="0">
                <a:solidFill>
                  <a:schemeClr val="tx1"/>
                </a:solidFill>
                <a:latin typeface="微软雅黑" panose="020B0503020204020204" pitchFamily="34" charset="-122"/>
                <a:ea typeface="微软雅黑" panose="020B0503020204020204" pitchFamily="34" charset="-122"/>
              </a:rPr>
              <a:t>E</a:t>
            </a:r>
            <a:r>
              <a:rPr lang="en-US" altLang="zh-CN" sz="2400" baseline="-25000" dirty="0">
                <a:solidFill>
                  <a:schemeClr val="tx1"/>
                </a:solidFill>
                <a:latin typeface="微软雅黑" panose="020B0503020204020204" pitchFamily="34" charset="-122"/>
                <a:ea typeface="微软雅黑" panose="020B0503020204020204" pitchFamily="34" charset="-122"/>
              </a:rPr>
              <a:t>3</a:t>
            </a:r>
            <a:r>
              <a:rPr lang="zh-CN" altLang="en-US" sz="2400" baseline="-25000" dirty="0">
                <a:solidFill>
                  <a:schemeClr val="tx1"/>
                </a:solidFill>
                <a:latin typeface="微软雅黑" panose="020B0503020204020204" pitchFamily="34" charset="-122"/>
                <a:ea typeface="微软雅黑" panose="020B0503020204020204" pitchFamily="34" charset="-122"/>
              </a:rPr>
              <a:t>。</a:t>
            </a:r>
            <a:endParaRPr lang="en-US" altLang="zh-CN" sz="2400" baseline="-25000" dirty="0">
              <a:solidFill>
                <a:schemeClr val="tx1"/>
              </a:solidFill>
              <a:latin typeface="微软雅黑" panose="020B0503020204020204" pitchFamily="34" charset="-122"/>
              <a:ea typeface="微软雅黑" panose="020B0503020204020204" pitchFamily="34" charset="-122"/>
            </a:endParaRPr>
          </a:p>
          <a:p>
            <a:pPr marL="342900" indent="-342900" algn="l">
              <a:lnSpc>
                <a:spcPct val="110000"/>
              </a:lnSpc>
              <a:spcBef>
                <a:spcPts val="600"/>
              </a:spcBef>
              <a:spcAft>
                <a:spcPts val="600"/>
              </a:spcAft>
              <a:buFont typeface="Arial" panose="020B0604020202020204" pitchFamily="34" charset="0"/>
              <a:buChar char="•"/>
            </a:pPr>
            <a:r>
              <a:rPr lang="zh-CN" altLang="en-US" sz="2400" b="1" dirty="0">
                <a:solidFill>
                  <a:srgbClr val="FF0000"/>
                </a:solidFill>
                <a:latin typeface="微软雅黑" panose="020B0503020204020204" pitchFamily="34" charset="-122"/>
                <a:ea typeface="微软雅黑" panose="020B0503020204020204" pitchFamily="34" charset="-122"/>
              </a:rPr>
              <a:t>共价修饰调节</a:t>
            </a:r>
            <a:r>
              <a:rPr lang="zh-CN" altLang="en-US" sz="2400" b="1"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丙酮酸脱氢酶</a:t>
            </a:r>
            <a:r>
              <a:rPr lang="zh-CN" altLang="en-US" sz="2400" dirty="0">
                <a:solidFill>
                  <a:srgbClr val="FF0000"/>
                </a:solidFill>
                <a:latin typeface="微软雅黑" panose="020B0503020204020204" pitchFamily="34" charset="-122"/>
                <a:ea typeface="微软雅黑" panose="020B0503020204020204" pitchFamily="34" charset="-122"/>
              </a:rPr>
              <a:t>激酶</a:t>
            </a:r>
            <a:r>
              <a:rPr lang="zh-CN" altLang="en-US" sz="2400" dirty="0">
                <a:solidFill>
                  <a:schemeClr val="tx1"/>
                </a:solidFill>
                <a:latin typeface="微软雅黑" panose="020B0503020204020204" pitchFamily="34" charset="-122"/>
                <a:ea typeface="微软雅黑" panose="020B0503020204020204" pitchFamily="34" charset="-122"/>
              </a:rPr>
              <a:t>，使</a:t>
            </a:r>
            <a:r>
              <a:rPr lang="en-US" altLang="zh-CN" sz="2400" dirty="0">
                <a:solidFill>
                  <a:schemeClr val="tx1"/>
                </a:solidFill>
                <a:latin typeface="微软雅黑" panose="020B0503020204020204" pitchFamily="34" charset="-122"/>
                <a:ea typeface="微软雅黑" panose="020B0503020204020204" pitchFamily="34" charset="-122"/>
              </a:rPr>
              <a:t>E</a:t>
            </a:r>
            <a:r>
              <a:rPr lang="en-US" altLang="zh-CN" sz="2400" baseline="-25000" dirty="0">
                <a:solidFill>
                  <a:schemeClr val="tx1"/>
                </a:solidFill>
                <a:latin typeface="微软雅黑" panose="020B0503020204020204" pitchFamily="34" charset="-122"/>
                <a:ea typeface="微软雅黑" panose="020B0503020204020204" pitchFamily="34" charset="-122"/>
              </a:rPr>
              <a:t>1</a:t>
            </a:r>
            <a:r>
              <a:rPr lang="zh-CN" altLang="en-US" sz="2400" dirty="0">
                <a:solidFill>
                  <a:schemeClr val="tx1"/>
                </a:solidFill>
                <a:latin typeface="微软雅黑" panose="020B0503020204020204" pitchFamily="34" charset="-122"/>
                <a:ea typeface="微软雅黑" panose="020B0503020204020204" pitchFamily="34" charset="-122"/>
              </a:rPr>
              <a:t>磷酸化失活。</a:t>
            </a:r>
            <a:r>
              <a:rPr lang="zh-CN" altLang="en-US" sz="2400" dirty="0">
                <a:solidFill>
                  <a:schemeClr val="tx1"/>
                </a:solidFill>
                <a:latin typeface="微软雅黑" panose="020B0503020204020204" pitchFamily="34" charset="-122"/>
                <a:ea typeface="微软雅黑" panose="020B0503020204020204" pitchFamily="34" charset="-122"/>
                <a:sym typeface="+mn-ea"/>
              </a:rPr>
              <a:t>丙酮酸脱氢酶</a:t>
            </a:r>
            <a:r>
              <a:rPr lang="zh-CN" altLang="en-US" sz="2400" dirty="0">
                <a:solidFill>
                  <a:srgbClr val="FF0000"/>
                </a:solidFill>
                <a:latin typeface="微软雅黑" panose="020B0503020204020204" pitchFamily="34" charset="-122"/>
                <a:ea typeface="微软雅黑" panose="020B0503020204020204" pitchFamily="34" charset="-122"/>
                <a:sym typeface="+mn-ea"/>
              </a:rPr>
              <a:t>磷酸酶</a:t>
            </a:r>
            <a:r>
              <a:rPr lang="zh-CN" altLang="en-US" sz="2400" dirty="0">
                <a:solidFill>
                  <a:schemeClr val="tx1"/>
                </a:solidFill>
                <a:latin typeface="微软雅黑" panose="020B0503020204020204" pitchFamily="34" charset="-122"/>
                <a:ea typeface="微软雅黑" panose="020B0503020204020204" pitchFamily="34" charset="-122"/>
                <a:sym typeface="+mn-ea"/>
              </a:rPr>
              <a:t>，使</a:t>
            </a:r>
            <a:r>
              <a:rPr lang="en-US" altLang="zh-CN" sz="2400" dirty="0">
                <a:solidFill>
                  <a:schemeClr val="tx1"/>
                </a:solidFill>
                <a:latin typeface="微软雅黑" panose="020B0503020204020204" pitchFamily="34" charset="-122"/>
                <a:ea typeface="微软雅黑" panose="020B0503020204020204" pitchFamily="34" charset="-122"/>
                <a:sym typeface="+mn-ea"/>
              </a:rPr>
              <a:t>E</a:t>
            </a:r>
            <a:r>
              <a:rPr lang="en-US" altLang="zh-CN" sz="2400" baseline="-25000" dirty="0">
                <a:solidFill>
                  <a:schemeClr val="tx1"/>
                </a:solidFill>
                <a:latin typeface="微软雅黑" panose="020B0503020204020204" pitchFamily="34" charset="-122"/>
                <a:ea typeface="微软雅黑" panose="020B0503020204020204" pitchFamily="34" charset="-122"/>
                <a:sym typeface="+mn-ea"/>
              </a:rPr>
              <a:t>1</a:t>
            </a:r>
            <a:r>
              <a:rPr lang="zh-CN" altLang="en-US" sz="2400" dirty="0">
                <a:solidFill>
                  <a:schemeClr val="tx1"/>
                </a:solidFill>
                <a:latin typeface="微软雅黑" panose="020B0503020204020204" pitchFamily="34" charset="-122"/>
                <a:ea typeface="微软雅黑" panose="020B0503020204020204" pitchFamily="34" charset="-122"/>
                <a:sym typeface="+mn-ea"/>
              </a:rPr>
              <a:t>去磷酸化激活。</a:t>
            </a:r>
            <a:r>
              <a:rPr lang="zh-CN" altLang="en-US" sz="2400" dirty="0">
                <a:solidFill>
                  <a:schemeClr val="tx1"/>
                </a:solidFill>
                <a:latin typeface="微软雅黑" panose="020B0503020204020204" pitchFamily="34" charset="-122"/>
                <a:ea typeface="微软雅黑" panose="020B0503020204020204" pitchFamily="34" charset="-122"/>
              </a:rPr>
              <a:t>胰岛素和</a:t>
            </a:r>
            <a:r>
              <a:rPr lang="en-US" altLang="zh-CN" sz="2400" dirty="0">
                <a:solidFill>
                  <a:srgbClr val="FF0000"/>
                </a:solidFill>
                <a:latin typeface="微软雅黑" panose="020B0503020204020204" pitchFamily="34" charset="-122"/>
                <a:ea typeface="微软雅黑" panose="020B0503020204020204" pitchFamily="34" charset="-122"/>
              </a:rPr>
              <a:t>Ca</a:t>
            </a:r>
            <a:r>
              <a:rPr lang="en-US" altLang="zh-CN" sz="2400" baseline="30000" dirty="0">
                <a:solidFill>
                  <a:srgbClr val="FF0000"/>
                </a:solidFill>
                <a:latin typeface="微软雅黑" panose="020B0503020204020204" pitchFamily="34" charset="-122"/>
                <a:ea typeface="微软雅黑" panose="020B0503020204020204" pitchFamily="34" charset="-122"/>
              </a:rPr>
              <a:t>2+</a:t>
            </a:r>
            <a:r>
              <a:rPr lang="zh-CN" altLang="en-US" sz="2400" dirty="0">
                <a:solidFill>
                  <a:schemeClr val="tx1"/>
                </a:solidFill>
                <a:latin typeface="微软雅黑" panose="020B0503020204020204" pitchFamily="34" charset="-122"/>
                <a:ea typeface="微软雅黑" panose="020B0503020204020204" pitchFamily="34" charset="-122"/>
              </a:rPr>
              <a:t>促进其失去磷酸化，使其活性增加。</a:t>
            </a:r>
          </a:p>
        </p:txBody>
      </p:sp>
      <p:sp>
        <p:nvSpPr>
          <p:cNvPr id="41" name="文本框 40"/>
          <p:cNvSpPr txBox="1"/>
          <p:nvPr/>
        </p:nvSpPr>
        <p:spPr>
          <a:xfrm>
            <a:off x="2412940" y="-110913"/>
            <a:ext cx="7366119"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二、</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丙酮酸脱氢酶复合体的调节</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2794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cs typeface="微软雅黑" panose="020B0503020204020204" pitchFamily="34" charset="-122"/>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微软雅黑" panose="020B0503020204020204" pitchFamily="34" charset="-122"/>
              </a:endParaRPr>
            </a:p>
          </p:txBody>
        </p:sp>
        <p:sp>
          <p:nvSpPr>
            <p:cNvPr id="19" name="文本框 18"/>
            <p:cNvSpPr txBox="1"/>
            <p:nvPr/>
          </p:nvSpPr>
          <p:spPr>
            <a:xfrm>
              <a:off x="751687" y="334468"/>
              <a:ext cx="1338788" cy="466581"/>
            </a:xfrm>
            <a:prstGeom prst="rect">
              <a:avLst/>
            </a:prstGeom>
            <a:noFill/>
          </p:spPr>
          <p:txBody>
            <a:bodyPr wrap="square" lIns="68580" tIns="34290" rIns="68580" bIns="34290" rtlCol="0">
              <a:spAutoFit/>
            </a:bodyPr>
            <a:lstStyle/>
            <a:p>
              <a:r>
                <a:rPr lang="en-US" altLang="zh-CN" sz="6600" dirty="0">
                  <a:solidFill>
                    <a:schemeClr val="bg1">
                      <a:lumMod val="95000"/>
                    </a:schemeClr>
                  </a:solidFill>
                  <a:latin typeface="Impact" panose="020B0806030902050204" pitchFamily="34" charset="0"/>
                  <a:cs typeface="微软雅黑" panose="020B0503020204020204" pitchFamily="34" charset="-122"/>
                </a:rPr>
                <a:t>3</a:t>
              </a:r>
            </a:p>
          </p:txBody>
        </p:sp>
      </p:grpSp>
      <p:sp>
        <p:nvSpPr>
          <p:cNvPr id="20" name="TextBox 48"/>
          <p:cNvSpPr txBox="1"/>
          <p:nvPr/>
        </p:nvSpPr>
        <p:spPr>
          <a:xfrm>
            <a:off x="4603115" y="2737486"/>
            <a:ext cx="6250940" cy="807085"/>
          </a:xfrm>
          <a:prstGeom prst="rect">
            <a:avLst/>
          </a:prstGeom>
          <a:noFill/>
        </p:spPr>
        <p:txBody>
          <a:bodyPr wrap="square" lIns="68584" tIns="34291" rIns="68584" bIns="34291" rtlCol="0">
            <a:spAutoFit/>
          </a:bodyPr>
          <a:lstStyle/>
          <a:p>
            <a:r>
              <a:rPr sz="48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柠檬酸循环的全貌</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330754"/>
          <p:cNvSpPr txBox="1">
            <a:spLocks noChangeArrowheads="1"/>
          </p:cNvSpPr>
          <p:nvPr/>
        </p:nvSpPr>
        <p:spPr>
          <a:xfrm>
            <a:off x="1914267" y="2467569"/>
            <a:ext cx="8175307" cy="304292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Tx/>
              <a:buNone/>
            </a:pPr>
            <a:endParaRPr lang="zh-CN" altLang="en-US" sz="1400" b="1" dirty="0">
              <a:latin typeface="微软雅黑" panose="020B0503020204020204" pitchFamily="34" charset="-122"/>
              <a:ea typeface="微软雅黑" panose="020B0503020204020204" pitchFamily="34" charset="-122"/>
            </a:endParaRPr>
          </a:p>
          <a:p>
            <a:pPr>
              <a:buFontTx/>
              <a:buNone/>
            </a:pPr>
            <a:endParaRPr lang="zh-CN" altLang="en-US" sz="1400" b="1" dirty="0">
              <a:latin typeface="微软雅黑" panose="020B0503020204020204" pitchFamily="34" charset="-122"/>
              <a:ea typeface="微软雅黑" panose="020B0503020204020204" pitchFamily="34" charset="-122"/>
            </a:endParaRPr>
          </a:p>
        </p:txBody>
      </p:sp>
      <p:sp>
        <p:nvSpPr>
          <p:cNvPr id="3" name="矩形 2"/>
          <p:cNvSpPr/>
          <p:nvPr/>
        </p:nvSpPr>
        <p:spPr>
          <a:xfrm>
            <a:off x="5050215" y="1329652"/>
            <a:ext cx="6667500" cy="4666790"/>
          </a:xfrm>
          <a:prstGeom prst="rect">
            <a:avLst/>
          </a:prstGeom>
        </p:spPr>
        <p:txBody>
          <a:bodyPr wrap="square">
            <a:spAutoFit/>
          </a:bodyPr>
          <a:lstStyle/>
          <a:p>
            <a:pPr marL="171450" indent="-171450">
              <a:lnSpc>
                <a:spcPct val="150000"/>
              </a:lnSpc>
              <a:spcBef>
                <a:spcPts val="600"/>
              </a:spcBef>
              <a:buFont typeface="Arial" panose="020B0604020202020204" pitchFamily="34" charset="0"/>
              <a:buChar char="•"/>
            </a:pPr>
            <a:endParaRPr lang="zh-CN" altLang="en-US" sz="1100" b="1" dirty="0">
              <a:latin typeface="微软雅黑" panose="020B0503020204020204" pitchFamily="34" charset="-122"/>
              <a:ea typeface="微软雅黑" panose="020B0503020204020204" pitchFamily="34" charset="-122"/>
            </a:endParaRPr>
          </a:p>
          <a:p>
            <a:pPr marL="285750" indent="-285750">
              <a:lnSpc>
                <a:spcPct val="150000"/>
              </a:lnSpc>
              <a:spcBef>
                <a:spcPts val="6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柠檬酸循环</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Citrate Cycle</a:t>
            </a:r>
            <a:r>
              <a:rPr lang="zh-CN" altLang="en-US" sz="2800" b="1" dirty="0">
                <a:latin typeface="微软雅黑" panose="020B0503020204020204" pitchFamily="34" charset="-122"/>
                <a:ea typeface="微软雅黑" panose="020B0503020204020204" pitchFamily="34" charset="-122"/>
              </a:rPr>
              <a:t>，三羧酸循环</a:t>
            </a:r>
            <a:r>
              <a:rPr lang="en-US" altLang="zh-CN" sz="2800" b="1" dirty="0">
                <a:latin typeface="微软雅黑" panose="020B0503020204020204" pitchFamily="34" charset="-122"/>
                <a:ea typeface="微软雅黑" panose="020B0503020204020204" pitchFamily="34" charset="-122"/>
              </a:rPr>
              <a:t>tricarboxylic acid cycle</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TCA</a:t>
            </a:r>
            <a:r>
              <a:rPr lang="zh-CN" altLang="en-US" sz="2800" b="1" dirty="0">
                <a:latin typeface="微软雅黑" panose="020B0503020204020204" pitchFamily="34" charset="-122"/>
                <a:ea typeface="微软雅黑" panose="020B0503020204020204" pitchFamily="34" charset="-122"/>
              </a:rPr>
              <a:t>循环，</a:t>
            </a:r>
            <a:r>
              <a:rPr lang="en-US" altLang="zh-CN" sz="2800" b="1" dirty="0">
                <a:latin typeface="微软雅黑" panose="020B0503020204020204" pitchFamily="34" charset="-122"/>
                <a:ea typeface="微软雅黑" panose="020B0503020204020204" pitchFamily="34" charset="-122"/>
              </a:rPr>
              <a:t>Krebs</a:t>
            </a:r>
            <a:r>
              <a:rPr lang="zh-CN" altLang="en-US" sz="2800" b="1" dirty="0">
                <a:latin typeface="微软雅黑" panose="020B0503020204020204" pitchFamily="34" charset="-122"/>
                <a:ea typeface="微软雅黑" panose="020B0503020204020204" pitchFamily="34" charset="-122"/>
              </a:rPr>
              <a:t>循环）</a:t>
            </a:r>
          </a:p>
          <a:p>
            <a:pPr marL="285750" indent="-285750">
              <a:lnSpc>
                <a:spcPct val="150000"/>
              </a:lnSpc>
              <a:spcBef>
                <a:spcPts val="6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在</a:t>
            </a:r>
            <a:r>
              <a:rPr lang="zh-CN" altLang="en-US" sz="2400" dirty="0">
                <a:solidFill>
                  <a:srgbClr val="FF0000"/>
                </a:solidFill>
                <a:latin typeface="微软雅黑" panose="020B0503020204020204" pitchFamily="34" charset="-122"/>
                <a:ea typeface="微软雅黑" panose="020B0503020204020204" pitchFamily="34" charset="-122"/>
              </a:rPr>
              <a:t>有氧</a:t>
            </a:r>
            <a:r>
              <a:rPr lang="zh-CN" altLang="en-US" sz="2400" dirty="0">
                <a:latin typeface="微软雅黑" panose="020B0503020204020204" pitchFamily="34" charset="-122"/>
                <a:ea typeface="微软雅黑" panose="020B0503020204020204" pitchFamily="34" charset="-122"/>
              </a:rPr>
              <a:t>条件下，乙酰辅酶</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与草酰乙酸合成柠檬酸开始经过一系列过程最终氧化分解生成草酰乙酸、</a:t>
            </a:r>
            <a:r>
              <a:rPr lang="en-US" altLang="zh-CN" sz="2400" dirty="0">
                <a:latin typeface="微软雅黑" panose="020B0503020204020204" pitchFamily="34" charset="-122"/>
                <a:ea typeface="微软雅黑" panose="020B0503020204020204" pitchFamily="34" charset="-122"/>
              </a:rPr>
              <a:t>CO</a:t>
            </a:r>
            <a:r>
              <a:rPr lang="en-US" altLang="zh-CN" sz="2400" baseline="-300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和水，同时释放能量的过程。</a:t>
            </a:r>
            <a:endParaRPr lang="zh-CN" altLang="en-US" sz="1050" dirty="0">
              <a:latin typeface="微软雅黑" panose="020B0503020204020204" pitchFamily="34" charset="-122"/>
              <a:ea typeface="微软雅黑" panose="020B0503020204020204" pitchFamily="34" charset="-122"/>
            </a:endParaRPr>
          </a:p>
          <a:p>
            <a:pPr marL="285750" indent="-285750">
              <a:lnSpc>
                <a:spcPct val="150000"/>
              </a:lnSpc>
              <a:spcBef>
                <a:spcPts val="6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由英国生化学家</a:t>
            </a:r>
            <a:r>
              <a:rPr lang="en-US" altLang="zh-CN" sz="2400" b="1" dirty="0">
                <a:latin typeface="微软雅黑" panose="020B0503020204020204" pitchFamily="34" charset="-122"/>
                <a:ea typeface="微软雅黑" panose="020B0503020204020204" pitchFamily="34" charset="-122"/>
              </a:rPr>
              <a:t>Hans Krebs</a:t>
            </a:r>
            <a:r>
              <a:rPr lang="zh-CN" altLang="en-US" sz="2400" dirty="0">
                <a:latin typeface="微软雅黑" panose="020B0503020204020204" pitchFamily="34" charset="-122"/>
                <a:ea typeface="微软雅黑" panose="020B0503020204020204" pitchFamily="34" charset="-122"/>
              </a:rPr>
              <a:t>发现。</a:t>
            </a:r>
          </a:p>
        </p:txBody>
      </p:sp>
      <p:sp>
        <p:nvSpPr>
          <p:cNvPr id="41" name="文本框 40"/>
          <p:cNvSpPr txBox="1"/>
          <p:nvPr/>
        </p:nvSpPr>
        <p:spPr>
          <a:xfrm>
            <a:off x="4556955" y="-67887"/>
            <a:ext cx="2236510"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一、</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概念</a:t>
            </a:r>
            <a:endPar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nvPicPr>
        <p:blipFill>
          <a:blip r:embed="rId3"/>
          <a:stretch>
            <a:fillRect/>
          </a:stretch>
        </p:blipFill>
        <p:spPr>
          <a:xfrm>
            <a:off x="1452181" y="1589893"/>
            <a:ext cx="3104774" cy="4146309"/>
          </a:xfrm>
          <a:prstGeom prst="rect">
            <a:avLst/>
          </a:prstGeom>
        </p:spPr>
      </p:pic>
      <p:sp>
        <p:nvSpPr>
          <p:cNvPr id="4" name="文本框 3"/>
          <p:cNvSpPr txBox="1"/>
          <p:nvPr/>
        </p:nvSpPr>
        <p:spPr>
          <a:xfrm>
            <a:off x="1711740" y="5736202"/>
            <a:ext cx="2585655" cy="702949"/>
          </a:xfrm>
          <a:prstGeom prst="rect">
            <a:avLst/>
          </a:prstGeom>
          <a:noFill/>
        </p:spPr>
        <p:txBody>
          <a:bodyPr wrap="square" rtlCol="0" anchor="t">
            <a:spAutoFit/>
          </a:bodyPr>
          <a:lstStyle/>
          <a:p>
            <a:pPr>
              <a:lnSpc>
                <a:spcPct val="150000"/>
              </a:lnSpc>
            </a:pPr>
            <a:r>
              <a:rPr lang="zh-CN" altLang="en-US" sz="1400" dirty="0">
                <a:latin typeface="Comic Sans MS" panose="030F0702030302020204" charset="0"/>
                <a:cs typeface="Comic Sans MS" panose="030F0702030302020204" charset="0"/>
              </a:rPr>
              <a:t>1953 Nobel Prize in Physiology or Medicine</a:t>
            </a:r>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37056" y="2099733"/>
            <a:ext cx="4247481" cy="3308598"/>
          </a:xfrm>
          <a:prstGeom prst="rect">
            <a:avLst/>
          </a:prstGeom>
        </p:spPr>
        <p:txBody>
          <a:bodyPr wrap="square">
            <a:spAutoFit/>
          </a:bodyPr>
          <a:lstStyle/>
          <a:p>
            <a:pPr marL="285750" indent="-285750">
              <a:lnSpc>
                <a:spcPct val="150000"/>
              </a:lnSpc>
              <a:spcBef>
                <a:spcPts val="600"/>
              </a:spcBef>
              <a:spcAft>
                <a:spcPts val="600"/>
              </a:spcAft>
              <a:buFont typeface="Arial" panose="020B0604020202020204" pitchFamily="34" charset="0"/>
              <a:buChar char="•"/>
            </a:pPr>
            <a:r>
              <a:rPr lang="en-US" altLang="zh-CN" sz="2800" b="1" u="sng" dirty="0">
                <a:latin typeface="微软雅黑" panose="020B0503020204020204" pitchFamily="34" charset="-122"/>
                <a:ea typeface="微软雅黑" panose="020B0503020204020204" pitchFamily="34" charset="-122"/>
              </a:rPr>
              <a:t>8</a:t>
            </a:r>
            <a:r>
              <a:rPr lang="zh-CN" altLang="en-US" sz="2800" b="1" u="sng" dirty="0">
                <a:latin typeface="微软雅黑" panose="020B0503020204020204" pitchFamily="34" charset="-122"/>
                <a:ea typeface="微软雅黑" panose="020B0503020204020204" pitchFamily="34" charset="-122"/>
              </a:rPr>
              <a:t>步反应：</a:t>
            </a:r>
            <a:endParaRPr lang="en-US" altLang="zh-CN" sz="2800" b="1" u="sng" dirty="0">
              <a:latin typeface="微软雅黑" panose="020B0503020204020204" pitchFamily="34" charset="-122"/>
              <a:ea typeface="微软雅黑" panose="020B0503020204020204" pitchFamily="34" charset="-122"/>
            </a:endParaRPr>
          </a:p>
          <a:p>
            <a:pPr marL="285750" indent="-285750">
              <a:lnSpc>
                <a:spcPct val="150000"/>
              </a:lnSpc>
              <a:spcBef>
                <a:spcPts val="600"/>
              </a:spcBef>
              <a:spcAft>
                <a:spcPts val="600"/>
              </a:spcAft>
              <a:buFont typeface="Arial" panose="020B0604020202020204" pitchFamily="34" charset="0"/>
              <a:buChar char="•"/>
            </a:pP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步不可逆反应</a:t>
            </a:r>
            <a:r>
              <a:rPr lang="en-US" altLang="zh-CN" sz="2400" b="1" dirty="0">
                <a:latin typeface="微软雅黑" panose="020B0503020204020204" pitchFamily="34" charset="-122"/>
                <a:ea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rPr>
              <a:t>1</a:t>
            </a:r>
            <a:r>
              <a:rPr lang="zh-CN" altLang="en-US" sz="24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rPr>
              <a:t>3</a:t>
            </a:r>
            <a:r>
              <a:rPr lang="zh-CN" altLang="en-US" sz="24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rPr>
              <a:t>4</a:t>
            </a:r>
            <a:r>
              <a:rPr lang="en-US" altLang="zh-CN" sz="2400" b="1" dirty="0">
                <a:latin typeface="微软雅黑" panose="020B0503020204020204" pitchFamily="34" charset="-122"/>
                <a:ea typeface="微软雅黑" panose="020B0503020204020204" pitchFamily="34" charset="-122"/>
              </a:rPr>
              <a:t>);</a:t>
            </a:r>
          </a:p>
          <a:p>
            <a:pPr marL="285750" indent="-285750">
              <a:lnSpc>
                <a:spcPct val="150000"/>
              </a:lnSpc>
              <a:spcBef>
                <a:spcPts val="600"/>
              </a:spcBef>
              <a:spcAft>
                <a:spcPts val="600"/>
              </a:spcAft>
              <a:buFont typeface="Arial" panose="020B0604020202020204" pitchFamily="34" charset="0"/>
              <a:buChar char="•"/>
            </a:pPr>
            <a:r>
              <a:rPr lang="en-US" altLang="zh-CN" sz="2400" b="1" dirty="0">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次脱氢（</a:t>
            </a:r>
            <a:r>
              <a:rPr lang="en-US" altLang="zh-CN" sz="2400" b="1" dirty="0">
                <a:solidFill>
                  <a:srgbClr val="FF0000"/>
                </a:solidFill>
                <a:latin typeface="微软雅黑" panose="020B0503020204020204" pitchFamily="34" charset="-122"/>
                <a:ea typeface="微软雅黑" panose="020B0503020204020204" pitchFamily="34" charset="-122"/>
              </a:rPr>
              <a:t>3</a:t>
            </a:r>
            <a:r>
              <a:rPr lang="zh-CN" altLang="en-US" sz="24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rPr>
              <a:t>4</a:t>
            </a:r>
            <a:r>
              <a:rPr lang="zh-CN" altLang="en-US" sz="24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rPr>
              <a:t>6</a:t>
            </a:r>
            <a:r>
              <a:rPr lang="zh-CN" altLang="en-US" sz="24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rPr>
              <a:t>8</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a:t>
            </a:r>
          </a:p>
          <a:p>
            <a:pPr marL="285750" indent="-285750">
              <a:lnSpc>
                <a:spcPct val="150000"/>
              </a:lnSpc>
              <a:spcBef>
                <a:spcPts val="600"/>
              </a:spcBef>
              <a:spcAft>
                <a:spcPts val="600"/>
              </a:spcAft>
              <a:buFont typeface="Arial" panose="020B0604020202020204" pitchFamily="34" charset="0"/>
              <a:buChar char="•"/>
            </a:pP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次脱羧（</a:t>
            </a:r>
            <a:r>
              <a:rPr lang="en-US" altLang="zh-CN" sz="2400" b="1" dirty="0">
                <a:solidFill>
                  <a:srgbClr val="FF0000"/>
                </a:solidFill>
                <a:latin typeface="微软雅黑" panose="020B0503020204020204" pitchFamily="34" charset="-122"/>
                <a:ea typeface="微软雅黑" panose="020B0503020204020204" pitchFamily="34" charset="-122"/>
              </a:rPr>
              <a:t>3</a:t>
            </a:r>
            <a:r>
              <a:rPr lang="zh-CN" altLang="en-US" sz="24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endParaRPr lang="en-US" altLang="zh-CN" sz="2400" b="1"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2648027" y="-42756"/>
            <a:ext cx="2236510"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二</a:t>
            </a: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全貌</a:t>
            </a:r>
          </a:p>
        </p:txBody>
      </p:sp>
      <p:grpSp>
        <p:nvGrpSpPr>
          <p:cNvPr id="2" name="组合 1">
            <a:extLst>
              <a:ext uri="{FF2B5EF4-FFF2-40B4-BE49-F238E27FC236}">
                <a16:creationId xmlns:a16="http://schemas.microsoft.com/office/drawing/2014/main" id="{038BE5A7-08ED-21E5-EE54-5C6733C730E8}"/>
              </a:ext>
            </a:extLst>
          </p:cNvPr>
          <p:cNvGrpSpPr/>
          <p:nvPr/>
        </p:nvGrpSpPr>
        <p:grpSpPr>
          <a:xfrm>
            <a:off x="6096000" y="0"/>
            <a:ext cx="6096000" cy="6858000"/>
            <a:chOff x="4977767" y="933189"/>
            <a:chExt cx="5231190" cy="5854113"/>
          </a:xfrm>
        </p:grpSpPr>
        <p:pic>
          <p:nvPicPr>
            <p:cNvPr id="4099" name="Picture 1027"/>
            <p:cNvPicPr>
              <a:picLocks noChangeAspect="1"/>
            </p:cNvPicPr>
            <p:nvPr/>
          </p:nvPicPr>
          <p:blipFill>
            <a:blip r:embed="rId3"/>
            <a:stretch>
              <a:fillRect/>
            </a:stretch>
          </p:blipFill>
          <p:spPr>
            <a:xfrm>
              <a:off x="4977767" y="933189"/>
              <a:ext cx="5231190" cy="5854113"/>
            </a:xfrm>
            <a:prstGeom prst="rect">
              <a:avLst/>
            </a:prstGeom>
            <a:noFill/>
            <a:ln w="9525">
              <a:solidFill>
                <a:schemeClr val="tx1"/>
              </a:solidFill>
            </a:ln>
          </p:spPr>
        </p:pic>
        <p:sp>
          <p:nvSpPr>
            <p:cNvPr id="4" name="文本框 3"/>
            <p:cNvSpPr txBox="1"/>
            <p:nvPr/>
          </p:nvSpPr>
          <p:spPr>
            <a:xfrm>
              <a:off x="6619240" y="3150023"/>
              <a:ext cx="411480" cy="368300"/>
            </a:xfrm>
            <a:prstGeom prst="rect">
              <a:avLst/>
            </a:prstGeom>
            <a:noFill/>
          </p:spPr>
          <p:txBody>
            <a:bodyPr wrap="none" rtlCol="0" anchor="t">
              <a:spAutoFit/>
            </a:bodyPr>
            <a:lstStyle/>
            <a:p>
              <a:r>
                <a:rPr lang="zh-CN" altLang="en-US">
                  <a:latin typeface="Calibri" panose="020F0502020204030204" charset="0"/>
                </a:rPr>
                <a:t>②</a:t>
              </a:r>
            </a:p>
          </p:txBody>
        </p:sp>
        <p:sp>
          <p:nvSpPr>
            <p:cNvPr id="5" name="文本框 4"/>
            <p:cNvSpPr txBox="1"/>
            <p:nvPr/>
          </p:nvSpPr>
          <p:spPr>
            <a:xfrm>
              <a:off x="7863840" y="1436793"/>
              <a:ext cx="301686" cy="369332"/>
            </a:xfrm>
            <a:prstGeom prst="rect">
              <a:avLst/>
            </a:prstGeom>
            <a:noFill/>
          </p:spPr>
          <p:txBody>
            <a:bodyPr wrap="none" rtlCol="0">
              <a:spAutoFit/>
            </a:bodyPr>
            <a:lstStyle/>
            <a:p>
              <a:r>
                <a:rPr lang="en-US" altLang="zh-CN" b="1">
                  <a:solidFill>
                    <a:srgbClr val="FF0000"/>
                  </a:solidFill>
                </a:rPr>
                <a:t>1</a:t>
              </a:r>
            </a:p>
          </p:txBody>
        </p:sp>
        <p:sp>
          <p:nvSpPr>
            <p:cNvPr id="6" name="文本框 5"/>
            <p:cNvSpPr txBox="1"/>
            <p:nvPr/>
          </p:nvSpPr>
          <p:spPr>
            <a:xfrm>
              <a:off x="9462770" y="2099733"/>
              <a:ext cx="301686" cy="369332"/>
            </a:xfrm>
            <a:prstGeom prst="rect">
              <a:avLst/>
            </a:prstGeom>
            <a:noFill/>
          </p:spPr>
          <p:txBody>
            <a:bodyPr wrap="none" rtlCol="0">
              <a:spAutoFit/>
            </a:bodyPr>
            <a:lstStyle/>
            <a:p>
              <a:r>
                <a:rPr lang="en-US" altLang="zh-CN" b="1">
                  <a:solidFill>
                    <a:srgbClr val="FF0000"/>
                  </a:solidFill>
                </a:rPr>
                <a:t>2</a:t>
              </a:r>
            </a:p>
          </p:txBody>
        </p:sp>
        <p:sp>
          <p:nvSpPr>
            <p:cNvPr id="7" name="文本框 6"/>
            <p:cNvSpPr txBox="1"/>
            <p:nvPr/>
          </p:nvSpPr>
          <p:spPr>
            <a:xfrm>
              <a:off x="9907270" y="3752638"/>
              <a:ext cx="301686" cy="369332"/>
            </a:xfrm>
            <a:prstGeom prst="rect">
              <a:avLst/>
            </a:prstGeom>
            <a:noFill/>
          </p:spPr>
          <p:txBody>
            <a:bodyPr wrap="none" rtlCol="0">
              <a:spAutoFit/>
            </a:bodyPr>
            <a:lstStyle/>
            <a:p>
              <a:r>
                <a:rPr lang="en-US" altLang="zh-CN" b="1">
                  <a:solidFill>
                    <a:srgbClr val="FF0000"/>
                  </a:solidFill>
                </a:rPr>
                <a:t>3</a:t>
              </a:r>
            </a:p>
          </p:txBody>
        </p:sp>
        <p:sp>
          <p:nvSpPr>
            <p:cNvPr id="8" name="文本框 7"/>
            <p:cNvSpPr txBox="1"/>
            <p:nvPr/>
          </p:nvSpPr>
          <p:spPr>
            <a:xfrm>
              <a:off x="9907270" y="5887508"/>
              <a:ext cx="301686" cy="369332"/>
            </a:xfrm>
            <a:prstGeom prst="rect">
              <a:avLst/>
            </a:prstGeom>
            <a:noFill/>
          </p:spPr>
          <p:txBody>
            <a:bodyPr wrap="none" rtlCol="0">
              <a:spAutoFit/>
            </a:bodyPr>
            <a:lstStyle/>
            <a:p>
              <a:r>
                <a:rPr lang="en-US" altLang="zh-CN" b="1">
                  <a:solidFill>
                    <a:srgbClr val="FF0000"/>
                  </a:solidFill>
                </a:rPr>
                <a:t>4</a:t>
              </a:r>
            </a:p>
          </p:txBody>
        </p:sp>
        <p:sp>
          <p:nvSpPr>
            <p:cNvPr id="9" name="文本框 8"/>
            <p:cNvSpPr txBox="1"/>
            <p:nvPr/>
          </p:nvSpPr>
          <p:spPr>
            <a:xfrm>
              <a:off x="6910070" y="6192308"/>
              <a:ext cx="301686" cy="369332"/>
            </a:xfrm>
            <a:prstGeom prst="rect">
              <a:avLst/>
            </a:prstGeom>
            <a:noFill/>
          </p:spPr>
          <p:txBody>
            <a:bodyPr wrap="none" rtlCol="0">
              <a:spAutoFit/>
            </a:bodyPr>
            <a:lstStyle/>
            <a:p>
              <a:r>
                <a:rPr lang="en-US" altLang="zh-CN" b="1">
                  <a:solidFill>
                    <a:srgbClr val="FF0000"/>
                  </a:solidFill>
                </a:rPr>
                <a:t>5</a:t>
              </a:r>
            </a:p>
          </p:txBody>
        </p:sp>
        <p:sp>
          <p:nvSpPr>
            <p:cNvPr id="10" name="文本框 9"/>
            <p:cNvSpPr txBox="1"/>
            <p:nvPr/>
          </p:nvSpPr>
          <p:spPr>
            <a:xfrm>
              <a:off x="5556250" y="5206153"/>
              <a:ext cx="301686" cy="369332"/>
            </a:xfrm>
            <a:prstGeom prst="rect">
              <a:avLst/>
            </a:prstGeom>
            <a:noFill/>
          </p:spPr>
          <p:txBody>
            <a:bodyPr wrap="none" rtlCol="0">
              <a:spAutoFit/>
            </a:bodyPr>
            <a:lstStyle/>
            <a:p>
              <a:r>
                <a:rPr lang="en-US" altLang="zh-CN" b="1">
                  <a:solidFill>
                    <a:srgbClr val="FF0000"/>
                  </a:solidFill>
                </a:rPr>
                <a:t>6</a:t>
              </a:r>
            </a:p>
          </p:txBody>
        </p:sp>
        <p:sp>
          <p:nvSpPr>
            <p:cNvPr id="11" name="文本框 10"/>
            <p:cNvSpPr txBox="1"/>
            <p:nvPr/>
          </p:nvSpPr>
          <p:spPr>
            <a:xfrm>
              <a:off x="5047615" y="3919008"/>
              <a:ext cx="301686" cy="369332"/>
            </a:xfrm>
            <a:prstGeom prst="rect">
              <a:avLst/>
            </a:prstGeom>
            <a:noFill/>
          </p:spPr>
          <p:txBody>
            <a:bodyPr wrap="none" rtlCol="0">
              <a:spAutoFit/>
            </a:bodyPr>
            <a:lstStyle/>
            <a:p>
              <a:r>
                <a:rPr lang="en-US" altLang="zh-CN" b="1">
                  <a:solidFill>
                    <a:srgbClr val="FF0000"/>
                  </a:solidFill>
                </a:rPr>
                <a:t>7</a:t>
              </a:r>
            </a:p>
          </p:txBody>
        </p:sp>
        <p:sp>
          <p:nvSpPr>
            <p:cNvPr id="12" name="文本框 11"/>
            <p:cNvSpPr txBox="1"/>
            <p:nvPr/>
          </p:nvSpPr>
          <p:spPr>
            <a:xfrm>
              <a:off x="5692775" y="1827953"/>
              <a:ext cx="301686" cy="369332"/>
            </a:xfrm>
            <a:prstGeom prst="rect">
              <a:avLst/>
            </a:prstGeom>
            <a:noFill/>
          </p:spPr>
          <p:txBody>
            <a:bodyPr wrap="none" rtlCol="0">
              <a:spAutoFit/>
            </a:bodyPr>
            <a:lstStyle/>
            <a:p>
              <a:r>
                <a:rPr lang="en-US" altLang="zh-CN" b="1">
                  <a:solidFill>
                    <a:srgbClr val="FF0000"/>
                  </a:solidFill>
                </a:rPr>
                <a:t>8</a:t>
              </a:r>
            </a:p>
          </p:txBody>
        </p:sp>
      </p:gr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4"/>
          <a:stretch>
            <a:fillRect/>
          </a:stretch>
        </p:blipFill>
        <p:spPr>
          <a:xfrm>
            <a:off x="2192867" y="0"/>
            <a:ext cx="7433672"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30798" y="-5588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cs typeface="微软雅黑" panose="020B0503020204020204" pitchFamily="34" charset="-122"/>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微软雅黑" panose="020B0503020204020204" pitchFamily="34" charset="-122"/>
              </a:endParaRPr>
            </a:p>
          </p:txBody>
        </p:sp>
        <p:sp>
          <p:nvSpPr>
            <p:cNvPr id="19" name="文本框 18"/>
            <p:cNvSpPr txBox="1"/>
            <p:nvPr/>
          </p:nvSpPr>
          <p:spPr>
            <a:xfrm>
              <a:off x="780957" y="334468"/>
              <a:ext cx="1338788" cy="466581"/>
            </a:xfrm>
            <a:prstGeom prst="rect">
              <a:avLst/>
            </a:prstGeom>
            <a:noFill/>
          </p:spPr>
          <p:txBody>
            <a:bodyPr wrap="square" lIns="68580" tIns="34290" rIns="68580" bIns="34290" rtlCol="0">
              <a:spAutoFit/>
            </a:bodyPr>
            <a:lstStyle/>
            <a:p>
              <a:r>
                <a:rPr lang="en-US" altLang="zh-CN" sz="6600" dirty="0">
                  <a:solidFill>
                    <a:schemeClr val="bg1">
                      <a:lumMod val="95000"/>
                    </a:schemeClr>
                  </a:solidFill>
                  <a:latin typeface="Impact" panose="020B0806030902050204" pitchFamily="34" charset="0"/>
                  <a:cs typeface="微软雅黑" panose="020B0503020204020204" pitchFamily="34" charset="-122"/>
                </a:rPr>
                <a:t>4</a:t>
              </a:r>
            </a:p>
          </p:txBody>
        </p:sp>
      </p:grpSp>
      <p:sp>
        <p:nvSpPr>
          <p:cNvPr id="20" name="TextBox 48"/>
          <p:cNvSpPr txBox="1"/>
          <p:nvPr/>
        </p:nvSpPr>
        <p:spPr>
          <a:xfrm>
            <a:off x="4178300" y="2799716"/>
            <a:ext cx="6250940" cy="683895"/>
          </a:xfrm>
          <a:prstGeom prst="rect">
            <a:avLst/>
          </a:prstGeom>
          <a:noFill/>
        </p:spPr>
        <p:txBody>
          <a:bodyPr wrap="square" lIns="68584" tIns="34291" rIns="68584" bIns="34291" rtlCol="0">
            <a:spAutoFit/>
          </a:bodyPr>
          <a:lstStyle/>
          <a:p>
            <a:r>
              <a:rPr sz="40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柠檬酸循环的各个反应步骤</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3609647" y="-99484"/>
            <a:ext cx="4801314" cy="1830245"/>
          </a:xfrm>
          <a:prstGeom prst="rect">
            <a:avLst/>
          </a:prstGeom>
          <a:noFill/>
        </p:spPr>
        <p:txBody>
          <a:bodyPr wrap="none" rtlCol="0" anchor="t">
            <a:spAutoFit/>
          </a:bodyPr>
          <a:lstStyle>
            <a:defPPr>
              <a:defRPr lang="en-US"/>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sym typeface="+mn-ea"/>
              </a:rPr>
              <a:t>第一步：合成柠檬酸</a:t>
            </a:r>
            <a:endParaRPr lang="en-US" altLang="zh-CN" dirty="0"/>
          </a:p>
          <a:p>
            <a:endParaRPr lang="zh-CN" altLang="en-US" dirty="0">
              <a:sym typeface="微软雅黑" panose="020B0503020204020204" pitchFamily="34" charset="-122"/>
            </a:endParaRPr>
          </a:p>
        </p:txBody>
      </p:sp>
      <p:pic>
        <p:nvPicPr>
          <p:cNvPr id="2" name="图片 1"/>
          <p:cNvPicPr>
            <a:picLocks noChangeAspect="1"/>
          </p:cNvPicPr>
          <p:nvPr/>
        </p:nvPicPr>
        <p:blipFill rotWithShape="1">
          <a:blip r:embed="rId3"/>
          <a:srcRect t="10124"/>
          <a:stretch>
            <a:fillRect/>
          </a:stretch>
        </p:blipFill>
        <p:spPr>
          <a:xfrm>
            <a:off x="736355" y="1235743"/>
            <a:ext cx="10286022" cy="3006090"/>
          </a:xfrm>
          <a:prstGeom prst="rect">
            <a:avLst/>
          </a:prstGeom>
        </p:spPr>
      </p:pic>
      <p:sp>
        <p:nvSpPr>
          <p:cNvPr id="4" name="文本框 3"/>
          <p:cNvSpPr txBox="1"/>
          <p:nvPr/>
        </p:nvSpPr>
        <p:spPr>
          <a:xfrm>
            <a:off x="1038685" y="4297227"/>
            <a:ext cx="9557425"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草酰乙酸               乙酰辅酶</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A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柠檬酸</a:t>
            </a:r>
          </a:p>
        </p:txBody>
      </p:sp>
      <p:sp>
        <p:nvSpPr>
          <p:cNvPr id="5" name="文本框 4"/>
          <p:cNvSpPr txBox="1"/>
          <p:nvPr/>
        </p:nvSpPr>
        <p:spPr>
          <a:xfrm>
            <a:off x="6724650" y="3065988"/>
            <a:ext cx="1198880" cy="583565"/>
          </a:xfrm>
          <a:prstGeom prst="rect">
            <a:avLst/>
          </a:prstGeom>
          <a:noFill/>
        </p:spPr>
        <p:txBody>
          <a:bodyPr wrap="none" rtlCol="0">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柠檬酸合酶</a:t>
            </a:r>
            <a:endParaRPr lang="en-US" altLang="zh-CN" sz="1600" b="1" dirty="0">
              <a:solidFill>
                <a:srgbClr val="FF0000"/>
              </a:solidFill>
              <a:latin typeface="微软雅黑" panose="020B0503020204020204" pitchFamily="34" charset="-122"/>
              <a:ea typeface="微软雅黑" panose="020B0503020204020204" pitchFamily="34" charset="-122"/>
            </a:endParaRPr>
          </a:p>
          <a:p>
            <a:r>
              <a:rPr lang="zh-CN" altLang="en-US" sz="1600" b="1" dirty="0">
                <a:solidFill>
                  <a:srgbClr val="FF0000"/>
                </a:solidFill>
                <a:latin typeface="微软雅黑" panose="020B0503020204020204" pitchFamily="34" charset="-122"/>
                <a:ea typeface="微软雅黑" panose="020B0503020204020204" pitchFamily="34" charset="-122"/>
              </a:rPr>
              <a:t>（关键酶）</a:t>
            </a:r>
          </a:p>
        </p:txBody>
      </p:sp>
      <p:sp>
        <p:nvSpPr>
          <p:cNvPr id="9" name="文本框 8"/>
          <p:cNvSpPr txBox="1"/>
          <p:nvPr/>
        </p:nvSpPr>
        <p:spPr>
          <a:xfrm>
            <a:off x="7195225" y="5497537"/>
            <a:ext cx="1215736" cy="461665"/>
          </a:xfrm>
          <a:prstGeom prst="rect">
            <a:avLst/>
          </a:prstGeom>
          <a:noFill/>
        </p:spPr>
        <p:txBody>
          <a:bodyPr wrap="squar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不可逆</a:t>
            </a:r>
          </a:p>
        </p:txBody>
      </p:sp>
      <p:sp>
        <p:nvSpPr>
          <p:cNvPr id="3" name="文本框 2"/>
          <p:cNvSpPr txBox="1"/>
          <p:nvPr/>
        </p:nvSpPr>
        <p:spPr>
          <a:xfrm>
            <a:off x="6559550" y="5108439"/>
            <a:ext cx="4462827" cy="461665"/>
          </a:xfrm>
          <a:prstGeom prst="rect">
            <a:avLst/>
          </a:prstGeom>
          <a:noFill/>
        </p:spPr>
        <p:txBody>
          <a:bodyPr wrap="square" rtlCol="0" anchor="t">
            <a:spAutoFit/>
          </a:bodyPr>
          <a:lstStyle/>
          <a:p>
            <a:r>
              <a:rPr lang="zh-CN" altLang="en-US" sz="2400"/>
              <a:t>ΔG°′ = –31.4 kJ/mol</a:t>
            </a:r>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3080463" y="-64714"/>
            <a:ext cx="6340197" cy="183024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第二步：柠檬酸→异柠檬酸</a:t>
            </a:r>
          </a:p>
          <a:p>
            <a:pPr>
              <a:lnSpc>
                <a:spcPct val="150000"/>
              </a:lnSpc>
            </a:pPr>
            <a:endPar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3" name="图片 2"/>
          <p:cNvPicPr>
            <a:picLocks noChangeAspect="1"/>
          </p:cNvPicPr>
          <p:nvPr/>
        </p:nvPicPr>
        <p:blipFill rotWithShape="1">
          <a:blip r:embed="rId3"/>
          <a:srcRect t="10033"/>
          <a:stretch>
            <a:fillRect/>
          </a:stretch>
        </p:blipFill>
        <p:spPr>
          <a:xfrm>
            <a:off x="404839" y="1244598"/>
            <a:ext cx="11052035" cy="3460327"/>
          </a:xfrm>
          <a:prstGeom prst="rect">
            <a:avLst/>
          </a:prstGeom>
        </p:spPr>
      </p:pic>
      <p:sp>
        <p:nvSpPr>
          <p:cNvPr id="6" name="文本框 5"/>
          <p:cNvSpPr txBox="1"/>
          <p:nvPr/>
        </p:nvSpPr>
        <p:spPr>
          <a:xfrm>
            <a:off x="1488441" y="4704925"/>
            <a:ext cx="9348892"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柠檬酸                                          顺乌头酸                                     异柠檬酸</a:t>
            </a:r>
          </a:p>
        </p:txBody>
      </p:sp>
      <p:sp>
        <p:nvSpPr>
          <p:cNvPr id="4" name="矩形 3"/>
          <p:cNvSpPr/>
          <p:nvPr/>
        </p:nvSpPr>
        <p:spPr>
          <a:xfrm>
            <a:off x="3454612" y="3207674"/>
            <a:ext cx="1097280" cy="368300"/>
          </a:xfrm>
          <a:prstGeom prst="rect">
            <a:avLst/>
          </a:prstGeom>
        </p:spPr>
        <p:txBody>
          <a:bodyPr wrap="none">
            <a:spAutoFit/>
          </a:bodyPr>
          <a:lstStyle/>
          <a:p>
            <a:r>
              <a:rPr lang="zh-CN" altLang="en-US" b="1" dirty="0">
                <a:solidFill>
                  <a:srgbClr val="FF0000"/>
                </a:solidFill>
                <a:latin typeface="微软雅黑" panose="020B0503020204020204" pitchFamily="34" charset="-122"/>
                <a:ea typeface="微软雅黑" panose="020B0503020204020204" pitchFamily="34" charset="-122"/>
              </a:rPr>
              <a:t>乌头酸酶</a:t>
            </a:r>
          </a:p>
        </p:txBody>
      </p:sp>
      <p:sp>
        <p:nvSpPr>
          <p:cNvPr id="11" name="矩形 10"/>
          <p:cNvSpPr/>
          <p:nvPr/>
        </p:nvSpPr>
        <p:spPr>
          <a:xfrm>
            <a:off x="7356108" y="3223642"/>
            <a:ext cx="1097280" cy="368300"/>
          </a:xfrm>
          <a:prstGeom prst="rect">
            <a:avLst/>
          </a:prstGeom>
        </p:spPr>
        <p:txBody>
          <a:bodyPr wrap="none">
            <a:spAutoFit/>
          </a:bodyPr>
          <a:lstStyle/>
          <a:p>
            <a:r>
              <a:rPr lang="zh-CN" altLang="en-US" b="1" dirty="0">
                <a:solidFill>
                  <a:srgbClr val="FF0000"/>
                </a:solidFill>
                <a:latin typeface="微软雅黑" panose="020B0503020204020204" pitchFamily="34" charset="-122"/>
                <a:ea typeface="微软雅黑" panose="020B0503020204020204" pitchFamily="34" charset="-122"/>
              </a:rPr>
              <a:t>乌头酸酶</a:t>
            </a:r>
          </a:p>
        </p:txBody>
      </p:sp>
      <p:sp>
        <p:nvSpPr>
          <p:cNvPr id="5" name="文本框 4"/>
          <p:cNvSpPr txBox="1"/>
          <p:nvPr/>
        </p:nvSpPr>
        <p:spPr>
          <a:xfrm>
            <a:off x="3381220" y="5817908"/>
            <a:ext cx="4474302" cy="461665"/>
          </a:xfrm>
          <a:prstGeom prst="rect">
            <a:avLst/>
          </a:prstGeom>
          <a:noFill/>
        </p:spPr>
        <p:txBody>
          <a:bodyPr wrap="none" rtlCol="0">
            <a:spAutoFit/>
          </a:bodyPr>
          <a:lstStyle/>
          <a:p>
            <a:pPr marL="285750" indent="-285750">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叔醇→仲醇，易于进一步氧化</a:t>
            </a:r>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88247" y="1133684"/>
            <a:ext cx="10647505" cy="3082173"/>
          </a:xfrm>
          <a:prstGeom prst="rect">
            <a:avLst/>
          </a:prstGeom>
        </p:spPr>
      </p:pic>
      <p:sp>
        <p:nvSpPr>
          <p:cNvPr id="6" name="文本框 5"/>
          <p:cNvSpPr txBox="1"/>
          <p:nvPr/>
        </p:nvSpPr>
        <p:spPr>
          <a:xfrm>
            <a:off x="930848" y="4157830"/>
            <a:ext cx="10537252"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异柠檬酸                                  草酰琥珀酸                            </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α-</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酮戊二酸</a:t>
            </a:r>
          </a:p>
        </p:txBody>
      </p:sp>
      <p:sp>
        <p:nvSpPr>
          <p:cNvPr id="10" name="矩形 9"/>
          <p:cNvSpPr/>
          <p:nvPr/>
        </p:nvSpPr>
        <p:spPr>
          <a:xfrm>
            <a:off x="3152776" y="3129270"/>
            <a:ext cx="1783080" cy="368300"/>
          </a:xfrm>
          <a:prstGeom prst="rect">
            <a:avLst/>
          </a:prstGeom>
        </p:spPr>
        <p:txBody>
          <a:bodyPr wrap="none">
            <a:spAutoFit/>
          </a:bodyPr>
          <a:lstStyle/>
          <a:p>
            <a:r>
              <a:rPr lang="zh-CN" altLang="en-US" b="1" dirty="0">
                <a:solidFill>
                  <a:srgbClr val="FF0000"/>
                </a:solidFill>
                <a:latin typeface="微软雅黑" panose="020B0503020204020204" pitchFamily="34" charset="-122"/>
                <a:ea typeface="微软雅黑" panose="020B0503020204020204" pitchFamily="34" charset="-122"/>
              </a:rPr>
              <a:t>异柠檬酸脱氢酶</a:t>
            </a:r>
          </a:p>
        </p:txBody>
      </p:sp>
      <p:sp>
        <p:nvSpPr>
          <p:cNvPr id="11" name="椭圆 10"/>
          <p:cNvSpPr/>
          <p:nvPr/>
        </p:nvSpPr>
        <p:spPr>
          <a:xfrm>
            <a:off x="3928796" y="1754985"/>
            <a:ext cx="902207" cy="369332"/>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41" name="文本框 40"/>
          <p:cNvSpPr txBox="1"/>
          <p:nvPr/>
        </p:nvSpPr>
        <p:spPr>
          <a:xfrm>
            <a:off x="3499910" y="-78803"/>
            <a:ext cx="5630067" cy="2753574"/>
          </a:xfrm>
          <a:prstGeom prst="rect">
            <a:avLst/>
          </a:prstGeom>
          <a:noFill/>
        </p:spPr>
        <p:txBody>
          <a:bodyPr wrap="none" rtlCol="0" anchor="t">
            <a:spAutoFit/>
          </a:bodyPr>
          <a:lstStyle>
            <a:defPPr>
              <a:defRPr lang="en-US"/>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sym typeface="+mn-ea"/>
              </a:rPr>
              <a:t>第三步：氧化脱羧（</a:t>
            </a:r>
            <a:r>
              <a:rPr lang="en-US" altLang="zh-CN" dirty="0">
                <a:sym typeface="+mn-ea"/>
              </a:rPr>
              <a:t>1</a:t>
            </a:r>
            <a:r>
              <a:rPr lang="zh-CN" altLang="en-US" dirty="0">
                <a:sym typeface="+mn-ea"/>
              </a:rPr>
              <a:t>）</a:t>
            </a:r>
            <a:endParaRPr lang="en-US" altLang="zh-CN" dirty="0"/>
          </a:p>
          <a:p>
            <a:endParaRPr lang="zh-CN" altLang="en-US" dirty="0">
              <a:sym typeface="+mn-ea"/>
            </a:endParaRPr>
          </a:p>
          <a:p>
            <a:endParaRPr lang="zh-CN" altLang="en-US" dirty="0">
              <a:sym typeface="微软雅黑" panose="020B0503020204020204" pitchFamily="34" charset="-122"/>
            </a:endParaRPr>
          </a:p>
        </p:txBody>
      </p:sp>
      <p:sp>
        <p:nvSpPr>
          <p:cNvPr id="3" name="文本框 2"/>
          <p:cNvSpPr txBox="1"/>
          <p:nvPr/>
        </p:nvSpPr>
        <p:spPr>
          <a:xfrm>
            <a:off x="8455324" y="5097400"/>
            <a:ext cx="3228675" cy="461665"/>
          </a:xfrm>
          <a:prstGeom prst="rect">
            <a:avLst/>
          </a:prstGeom>
          <a:noFill/>
        </p:spPr>
        <p:txBody>
          <a:bodyPr wrap="square" rtlCol="0" anchor="t">
            <a:spAutoFit/>
          </a:bodyPr>
          <a:lstStyle/>
          <a:p>
            <a:r>
              <a:rPr lang="zh-CN" altLang="en-US" sz="2400" b="1" dirty="0"/>
              <a:t>ΔG °′ = –20.9 kJ/mol</a:t>
            </a:r>
          </a:p>
        </p:txBody>
      </p:sp>
      <p:sp>
        <p:nvSpPr>
          <p:cNvPr id="5" name="文本框 4"/>
          <p:cNvSpPr txBox="1"/>
          <p:nvPr/>
        </p:nvSpPr>
        <p:spPr>
          <a:xfrm>
            <a:off x="2110625" y="4768997"/>
            <a:ext cx="2385589" cy="1282787"/>
          </a:xfrm>
          <a:prstGeom prst="rect">
            <a:avLst/>
          </a:prstGeom>
          <a:noFill/>
        </p:spPr>
        <p:txBody>
          <a:bodyPr wrap="none" rtlCol="0">
            <a:spAutoFit/>
          </a:bodyPr>
          <a:lstStyle/>
          <a:p>
            <a:pPr marL="285750" indent="-285750">
              <a:lnSpc>
                <a:spcPct val="110000"/>
              </a:lnSpc>
              <a:buFont typeface="Arial" panose="020B0604020202020204" pitchFamily="34" charset="0"/>
              <a:buChar char="•"/>
            </a:pPr>
            <a:r>
              <a:rPr lang="en-US" altLang="zh-CN" sz="2400" b="1" dirty="0">
                <a:latin typeface="微软雅黑" panose="020B0503020204020204" pitchFamily="34" charset="-122"/>
                <a:ea typeface="微软雅黑" panose="020B0503020204020204" pitchFamily="34" charset="-122"/>
              </a:rPr>
              <a:t>6C→ 5C;</a:t>
            </a:r>
          </a:p>
          <a:p>
            <a:pPr marL="285750" indent="-285750">
              <a:lnSpc>
                <a:spcPct val="110000"/>
              </a:lnSpc>
              <a:buFont typeface="Arial" panose="020B0604020202020204" pitchFamily="34" charset="0"/>
              <a:buChar char="•"/>
            </a:pPr>
            <a:r>
              <a:rPr lang="zh-CN" altLang="en-US" sz="2400" b="1" dirty="0">
                <a:solidFill>
                  <a:srgbClr val="FF0000"/>
                </a:solidFill>
                <a:latin typeface="微软雅黑" panose="020B0503020204020204" pitchFamily="34" charset="-122"/>
                <a:ea typeface="微软雅黑" panose="020B0503020204020204" pitchFamily="34" charset="-122"/>
              </a:rPr>
              <a:t>不可逆</a:t>
            </a:r>
            <a:r>
              <a:rPr lang="zh-CN" altLang="en-US" sz="2400" b="1" dirty="0">
                <a:latin typeface="微软雅黑" panose="020B0503020204020204" pitchFamily="34" charset="-122"/>
                <a:ea typeface="微软雅黑" panose="020B0503020204020204" pitchFamily="34" charset="-122"/>
              </a:rPr>
              <a:t>；</a:t>
            </a:r>
          </a:p>
          <a:p>
            <a:pPr marL="285750" indent="-285750">
              <a:lnSpc>
                <a:spcPct val="110000"/>
              </a:lnSpc>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产生</a:t>
            </a:r>
            <a:r>
              <a:rPr lang="en-US" altLang="zh-CN" sz="2400" b="1" dirty="0">
                <a:latin typeface="微软雅黑" panose="020B0503020204020204" pitchFamily="34" charset="-122"/>
                <a:ea typeface="微软雅黑" panose="020B0503020204020204" pitchFamily="34" charset="-122"/>
              </a:rPr>
              <a:t>NADH</a:t>
            </a:r>
            <a:r>
              <a:rPr lang="zh-CN" altLang="en-US" sz="2400" b="1" dirty="0">
                <a:latin typeface="微软雅黑" panose="020B0503020204020204" pitchFamily="34" charset="-122"/>
                <a:ea typeface="微软雅黑" panose="020B0503020204020204" pitchFamily="34" charset="-122"/>
              </a:rPr>
              <a:t>。</a:t>
            </a:r>
          </a:p>
        </p:txBody>
      </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795611" y="1204539"/>
            <a:ext cx="10600778" cy="3028794"/>
          </a:xfrm>
          <a:prstGeom prst="rect">
            <a:avLst/>
          </a:prstGeom>
        </p:spPr>
      </p:pic>
      <p:sp>
        <p:nvSpPr>
          <p:cNvPr id="6" name="文本框 5"/>
          <p:cNvSpPr txBox="1"/>
          <p:nvPr/>
        </p:nvSpPr>
        <p:spPr>
          <a:xfrm>
            <a:off x="1131102" y="4207354"/>
            <a:ext cx="10427970" cy="400110"/>
          </a:xfrm>
          <a:prstGeom prst="rect">
            <a:avLst/>
          </a:prstGeom>
          <a:noFill/>
        </p:spPr>
        <p:txBody>
          <a:bodyPr wrap="square" rtlCol="0">
            <a:spAutoFit/>
          </a:bodyPr>
          <a:lstStyle/>
          <a:p>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α-</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酮戊二酸                                                          </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琥珀酰</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-CoA</a:t>
            </a:r>
          </a:p>
        </p:txBody>
      </p:sp>
      <p:sp>
        <p:nvSpPr>
          <p:cNvPr id="7" name="矩形 6"/>
          <p:cNvSpPr/>
          <p:nvPr/>
        </p:nvSpPr>
        <p:spPr>
          <a:xfrm>
            <a:off x="4362341" y="3254952"/>
            <a:ext cx="2821606" cy="369332"/>
          </a:xfrm>
          <a:prstGeom prst="rect">
            <a:avLst/>
          </a:prstGeom>
        </p:spPr>
        <p:txBody>
          <a:bodyPr wrap="none">
            <a:spAutoFit/>
          </a:bodyPr>
          <a:lstStyle/>
          <a:p>
            <a:r>
              <a:rPr lang="el-GR"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α-</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酮戊二酸脱氢酶复合体 </a:t>
            </a:r>
            <a:endPar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矩形 3"/>
          <p:cNvSpPr/>
          <p:nvPr/>
        </p:nvSpPr>
        <p:spPr>
          <a:xfrm>
            <a:off x="3764449" y="4502950"/>
            <a:ext cx="6707927" cy="1966051"/>
          </a:xfrm>
          <a:prstGeom prst="rect">
            <a:avLst/>
          </a:prstGeom>
        </p:spPr>
        <p:txBody>
          <a:bodyPr wrap="square">
            <a:spAutoFit/>
          </a:bodyPr>
          <a:lstStyle/>
          <a:p>
            <a:pPr marL="285750" indent="-285750">
              <a:lnSpc>
                <a:spcPct val="130000"/>
              </a:lnSpc>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酶</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：机理类似于丙酮酸脱氢酶复合体；</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产生高能硫酯键；</a:t>
            </a:r>
          </a:p>
          <a:p>
            <a:pPr marL="285750" indent="-285750">
              <a:lnSpc>
                <a:spcPct val="13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5C→ 4C</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p>
          <a:p>
            <a:pPr marL="285750" indent="-285750">
              <a:lnSpc>
                <a:spcPct val="130000"/>
              </a:lnSpc>
              <a:buFont typeface="Arial" panose="020B0604020202020204" pitchFamily="34" charset="0"/>
              <a:buChar char="•"/>
            </a:pP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不可逆</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12" name="椭圆 11"/>
          <p:cNvSpPr/>
          <p:nvPr/>
        </p:nvSpPr>
        <p:spPr>
          <a:xfrm>
            <a:off x="7840687" y="1615516"/>
            <a:ext cx="1469463" cy="513249"/>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3" name="文本框 2"/>
          <p:cNvSpPr txBox="1"/>
          <p:nvPr/>
        </p:nvSpPr>
        <p:spPr>
          <a:xfrm>
            <a:off x="6326635" y="5773605"/>
            <a:ext cx="3220720" cy="461665"/>
          </a:xfrm>
          <a:prstGeom prst="rect">
            <a:avLst/>
          </a:prstGeom>
          <a:noFill/>
        </p:spPr>
        <p:txBody>
          <a:bodyPr wrap="square" rtlCol="0" anchor="t">
            <a:spAutoFit/>
          </a:bodyPr>
          <a:lstStyle/>
          <a:p>
            <a:r>
              <a:rPr lang="zh-CN" altLang="en-US" sz="2400" b="1" dirty="0"/>
              <a:t>ΔG °′ = –33.5 kJ/mol</a:t>
            </a:r>
          </a:p>
        </p:txBody>
      </p:sp>
      <p:sp>
        <p:nvSpPr>
          <p:cNvPr id="5" name="文本框 4"/>
          <p:cNvSpPr txBox="1"/>
          <p:nvPr/>
        </p:nvSpPr>
        <p:spPr>
          <a:xfrm>
            <a:off x="3364441" y="-64459"/>
            <a:ext cx="5630067" cy="906915"/>
          </a:xfrm>
          <a:prstGeom prst="rect">
            <a:avLst/>
          </a:prstGeom>
          <a:noFill/>
        </p:spPr>
        <p:txBody>
          <a:bodyPr wrap="none" rtlCol="0" anchor="t">
            <a:spAutoFit/>
          </a:bodyPr>
          <a:lstStyle>
            <a:defPPr>
              <a:defRPr lang="en-US"/>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sym typeface="+mn-ea"/>
              </a:rPr>
              <a:t>第四步：氧化脱羧（</a:t>
            </a:r>
            <a:r>
              <a:rPr lang="en-US" altLang="zh-CN" dirty="0">
                <a:sym typeface="+mn-ea"/>
              </a:rPr>
              <a:t>2</a:t>
            </a:r>
            <a:r>
              <a:rPr lang="zh-CN" altLang="en-US" dirty="0">
                <a:sym typeface="+mn-ea"/>
              </a:rPr>
              <a:t>）</a:t>
            </a:r>
            <a:endParaRPr lang="zh-CN" altLang="en-US" dirty="0">
              <a:sym typeface="微软雅黑" panose="020B0503020204020204" pitchFamily="34" charset="-122"/>
            </a:endParaRP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796101" y="1233877"/>
            <a:ext cx="8697588" cy="3696474"/>
          </a:xfrm>
          <a:prstGeom prst="rect">
            <a:avLst/>
          </a:prstGeom>
        </p:spPr>
      </p:pic>
      <p:sp>
        <p:nvSpPr>
          <p:cNvPr id="4" name="矩形 3"/>
          <p:cNvSpPr/>
          <p:nvPr/>
        </p:nvSpPr>
        <p:spPr>
          <a:xfrm>
            <a:off x="2143796" y="4735301"/>
            <a:ext cx="8105104"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琥珀酰</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-CoA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琥珀酸</a:t>
            </a:r>
          </a:p>
        </p:txBody>
      </p:sp>
      <p:sp>
        <p:nvSpPr>
          <p:cNvPr id="5" name="矩形 4"/>
          <p:cNvSpPr/>
          <p:nvPr/>
        </p:nvSpPr>
        <p:spPr>
          <a:xfrm>
            <a:off x="4864653" y="3455670"/>
            <a:ext cx="2446504" cy="400110"/>
          </a:xfrm>
          <a:prstGeom prst="rect">
            <a:avLst/>
          </a:prstGeom>
        </p:spPr>
        <p:txBody>
          <a:bodyPr wrap="none">
            <a:spAutoFit/>
          </a:bodyPr>
          <a:lstStyle/>
          <a:p>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琥珀酰</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-CoA</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合成酶 </a:t>
            </a:r>
            <a:endPar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椭圆 5"/>
          <p:cNvSpPr/>
          <p:nvPr/>
        </p:nvSpPr>
        <p:spPr>
          <a:xfrm>
            <a:off x="6623665" y="1902765"/>
            <a:ext cx="2130868" cy="642606"/>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3" name="文本框 2"/>
          <p:cNvSpPr txBox="1"/>
          <p:nvPr/>
        </p:nvSpPr>
        <p:spPr>
          <a:xfrm>
            <a:off x="4731152" y="5444258"/>
            <a:ext cx="4381714" cy="581057"/>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sz="2400" b="1" dirty="0" err="1">
                <a:latin typeface="微软雅黑" panose="020B0503020204020204" pitchFamily="34" charset="-122"/>
                <a:ea typeface="微软雅黑" panose="020B0503020204020204" pitchFamily="34" charset="-122"/>
                <a:cs typeface="微软雅黑" panose="020B0503020204020204" pitchFamily="34" charset="-122"/>
                <a:sym typeface="+mn-ea"/>
              </a:rPr>
              <a:t>底物水平磷酸化</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p:cNvSpPr txBox="1"/>
          <p:nvPr/>
        </p:nvSpPr>
        <p:spPr>
          <a:xfrm>
            <a:off x="3120470" y="-39079"/>
            <a:ext cx="5212080" cy="2584450"/>
          </a:xfrm>
          <a:prstGeom prst="rect">
            <a:avLst/>
          </a:prstGeom>
          <a:noFill/>
        </p:spPr>
        <p:txBody>
          <a:bodyPr wrap="none" rtlCol="0" anchor="t">
            <a:spAutoFit/>
          </a:bodyPr>
          <a:lstStyle>
            <a:defPPr>
              <a:defRPr lang="en-US"/>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dirty="0">
                <a:sym typeface="+mn-ea"/>
              </a:rPr>
              <a:t>第五步：底物水平磷酸化</a:t>
            </a:r>
          </a:p>
          <a:p>
            <a:endParaRPr lang="zh-CN" altLang="en-US" dirty="0">
              <a:sym typeface="+mn-ea"/>
            </a:endParaRPr>
          </a:p>
          <a:p>
            <a:endParaRPr lang="zh-CN" altLang="en-US" dirty="0">
              <a:sym typeface="微软雅黑" panose="020B0503020204020204" pitchFamily="34" charset="-122"/>
            </a:endParaRPr>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873375" y="-109008"/>
            <a:ext cx="5827236" cy="2845907"/>
          </a:xfrm>
          <a:prstGeom prst="rect">
            <a:avLst/>
          </a:prstGeom>
          <a:noFill/>
        </p:spPr>
        <p:txBody>
          <a:bodyPr wrap="none" rtlCol="0" anchor="t">
            <a:spAutoFit/>
          </a:bodyPr>
          <a:lstStyle/>
          <a:p>
            <a:pPr>
              <a:lnSpc>
                <a:spcPct val="150000"/>
              </a:lnSpc>
            </a:pP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第五步：底物水平磷酸化</a:t>
            </a:r>
          </a:p>
          <a:p>
            <a:pPr>
              <a:lnSpc>
                <a:spcPct val="150000"/>
              </a:lnSpc>
            </a:pPr>
            <a:endParaRPr lang="zh-CN" altLang="en-US" sz="4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a:p>
            <a:pPr>
              <a:lnSpc>
                <a:spcPct val="150000"/>
              </a:lnSpc>
            </a:pP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8" name="图片 7"/>
          <p:cNvPicPr>
            <a:picLocks noChangeAspect="1"/>
          </p:cNvPicPr>
          <p:nvPr>
            <p:custDataLst>
              <p:tags r:id="rId1"/>
            </p:custDataLst>
          </p:nvPr>
        </p:nvPicPr>
        <p:blipFill>
          <a:blip r:embed="rId4"/>
          <a:stretch>
            <a:fillRect/>
          </a:stretch>
        </p:blipFill>
        <p:spPr>
          <a:xfrm>
            <a:off x="1277620" y="0"/>
            <a:ext cx="9220200" cy="6858000"/>
          </a:xfrm>
          <a:prstGeom prst="rect">
            <a:avLst/>
          </a:prstGeom>
        </p:spPr>
      </p:pic>
      <p:sp>
        <p:nvSpPr>
          <p:cNvPr id="2" name="矩形 1"/>
          <p:cNvSpPr/>
          <p:nvPr/>
        </p:nvSpPr>
        <p:spPr>
          <a:xfrm>
            <a:off x="3340489" y="76677"/>
            <a:ext cx="2446504" cy="400110"/>
          </a:xfrm>
          <a:prstGeom prst="rect">
            <a:avLst/>
          </a:prstGeom>
        </p:spPr>
        <p:txBody>
          <a:bodyPr wrap="none">
            <a:spAutoFit/>
          </a:bodyPr>
          <a:lstStyle/>
          <a:p>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琥珀酰</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-CoA</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合成酶 </a:t>
            </a:r>
            <a:endPar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3221435" y="2352671"/>
            <a:ext cx="6097190" cy="307777"/>
          </a:xfrm>
          <a:prstGeom prst="rect">
            <a:avLst/>
          </a:prstGeom>
          <a:noFill/>
        </p:spPr>
        <p:txBody>
          <a:bodyPr wrap="square">
            <a:spAutoFit/>
          </a:bodyPr>
          <a:lstStyle/>
          <a:p>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琥珀酰</a:t>
            </a:r>
            <a:r>
              <a:rPr lang="en-US" altLang="zh-CN"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-CoA</a:t>
            </a:r>
            <a:endParaRPr lang="zh-CN" altLang="en-US" sz="1400" dirty="0"/>
          </a:p>
        </p:txBody>
      </p:sp>
      <p:sp>
        <p:nvSpPr>
          <p:cNvPr id="5" name="文本框 4"/>
          <p:cNvSpPr txBox="1"/>
          <p:nvPr/>
        </p:nvSpPr>
        <p:spPr>
          <a:xfrm>
            <a:off x="9143405" y="2144279"/>
            <a:ext cx="6097190" cy="307777"/>
          </a:xfrm>
          <a:prstGeom prst="rect">
            <a:avLst/>
          </a:prstGeom>
          <a:noFill/>
        </p:spPr>
        <p:txBody>
          <a:bodyPr wrap="square">
            <a:spAutoFit/>
          </a:bodyPr>
          <a:lstStyle/>
          <a:p>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琥珀酸磷酸盐</a:t>
            </a:r>
            <a:endParaRPr lang="zh-CN" altLang="en-US" sz="1400" dirty="0"/>
          </a:p>
        </p:txBody>
      </p:sp>
      <p:sp>
        <p:nvSpPr>
          <p:cNvPr id="9" name="文本框 8"/>
          <p:cNvSpPr txBox="1"/>
          <p:nvPr/>
        </p:nvSpPr>
        <p:spPr>
          <a:xfrm>
            <a:off x="9595713" y="3794760"/>
            <a:ext cx="7618780" cy="307777"/>
          </a:xfrm>
          <a:prstGeom prst="rect">
            <a:avLst/>
          </a:prstGeom>
          <a:noFill/>
        </p:spPr>
        <p:txBody>
          <a:bodyPr wrap="square">
            <a:spAutoFit/>
          </a:bodyPr>
          <a:lstStyle/>
          <a:p>
            <a:r>
              <a:rPr lang="zh-CN" altLang="en-US" sz="1400" b="1" dirty="0">
                <a:solidFill>
                  <a:srgbClr val="FF0000"/>
                </a:solidFill>
                <a:latin typeface="微软雅黑" panose="020B0503020204020204" pitchFamily="34" charset="-122"/>
                <a:ea typeface="微软雅黑" panose="020B0503020204020204" pitchFamily="34" charset="-122"/>
              </a:rPr>
              <a:t>琥珀酸</a:t>
            </a: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371846" y="-107047"/>
            <a:ext cx="7879080" cy="906915"/>
          </a:xfrm>
          <a:prstGeom prst="rect">
            <a:avLst/>
          </a:prstGeom>
          <a:noFill/>
        </p:spPr>
        <p:txBody>
          <a:bodyPr wrap="none" rtlCol="0" anchor="t">
            <a:spAutoFit/>
          </a:bodyPr>
          <a:lstStyle/>
          <a:p>
            <a:pPr>
              <a:lnSpc>
                <a:spcPct val="150000"/>
              </a:lnSpc>
            </a:pPr>
            <a:r>
              <a:rPr sz="4000" b="1" dirty="0" err="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第六、七、八步：草酰乙酸再生成</a:t>
            </a:r>
            <a:endPar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8" name="图片 7"/>
          <p:cNvPicPr>
            <a:picLocks noChangeAspect="1"/>
          </p:cNvPicPr>
          <p:nvPr/>
        </p:nvPicPr>
        <p:blipFill>
          <a:blip r:embed="rId3"/>
          <a:stretch>
            <a:fillRect/>
          </a:stretch>
        </p:blipFill>
        <p:spPr>
          <a:xfrm>
            <a:off x="830309" y="2059513"/>
            <a:ext cx="9797626" cy="3168964"/>
          </a:xfrm>
          <a:prstGeom prst="rect">
            <a:avLst/>
          </a:prstGeom>
        </p:spPr>
      </p:pic>
      <p:sp>
        <p:nvSpPr>
          <p:cNvPr id="9" name="矩形 8"/>
          <p:cNvSpPr/>
          <p:nvPr/>
        </p:nvSpPr>
        <p:spPr>
          <a:xfrm>
            <a:off x="1144347" y="5460460"/>
            <a:ext cx="9374682"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琥珀酸                                                                             延胡索酸</a:t>
            </a:r>
          </a:p>
        </p:txBody>
      </p:sp>
      <p:sp>
        <p:nvSpPr>
          <p:cNvPr id="10" name="矩形 9"/>
          <p:cNvSpPr/>
          <p:nvPr/>
        </p:nvSpPr>
        <p:spPr>
          <a:xfrm>
            <a:off x="4909073" y="3962076"/>
            <a:ext cx="1723549" cy="400110"/>
          </a:xfrm>
          <a:prstGeom prst="rect">
            <a:avLst/>
          </a:prstGeom>
        </p:spPr>
        <p:txBody>
          <a:bodyPr wrap="non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琥珀酸脱氢酶</a:t>
            </a:r>
          </a:p>
        </p:txBody>
      </p:sp>
      <p:sp>
        <p:nvSpPr>
          <p:cNvPr id="11" name="椭圆 10"/>
          <p:cNvSpPr/>
          <p:nvPr/>
        </p:nvSpPr>
        <p:spPr>
          <a:xfrm>
            <a:off x="5454916" y="2445551"/>
            <a:ext cx="1589351" cy="650234"/>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文本框 11"/>
          <p:cNvSpPr txBox="1"/>
          <p:nvPr/>
        </p:nvSpPr>
        <p:spPr>
          <a:xfrm>
            <a:off x="932875" y="1169148"/>
            <a:ext cx="1620957" cy="523220"/>
          </a:xfrm>
          <a:prstGeom prst="rect">
            <a:avLst/>
          </a:prstGeom>
          <a:noFill/>
        </p:spPr>
        <p:txBody>
          <a:bodyPr wrap="none" rtlCol="0" anchor="t">
            <a:spAutoFit/>
          </a:bodyPr>
          <a:lstStyle/>
          <a:p>
            <a:r>
              <a:rPr lang="zh-CN" altLang="en-US" sz="2800" b="1" dirty="0">
                <a:solidFill>
                  <a:srgbClr val="FF0000"/>
                </a:solidFill>
                <a:latin typeface="微软雅黑" panose="020B0503020204020204" pitchFamily="34" charset="-122"/>
                <a:ea typeface="微软雅黑" panose="020B0503020204020204" pitchFamily="34" charset="-122"/>
                <a:sym typeface="+mn-ea"/>
              </a:rPr>
              <a:t>第六步：</a:t>
            </a:r>
          </a:p>
        </p:txBody>
      </p:sp>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0084" y="1948943"/>
            <a:ext cx="8840049" cy="4160023"/>
          </a:xfrm>
          <a:prstGeom prst="rect">
            <a:avLst/>
          </a:prstGeom>
        </p:spPr>
      </p:pic>
      <p:sp>
        <p:nvSpPr>
          <p:cNvPr id="4" name="文本框 3"/>
          <p:cNvSpPr txBox="1"/>
          <p:nvPr/>
        </p:nvSpPr>
        <p:spPr>
          <a:xfrm>
            <a:off x="1065287" y="1147808"/>
            <a:ext cx="1620957" cy="523220"/>
          </a:xfrm>
          <a:prstGeom prst="rect">
            <a:avLst/>
          </a:prstGeom>
          <a:noFill/>
        </p:spPr>
        <p:txBody>
          <a:bodyPr wrap="none" rtlCol="0">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第七步：</a:t>
            </a:r>
          </a:p>
        </p:txBody>
      </p:sp>
      <p:sp>
        <p:nvSpPr>
          <p:cNvPr id="2" name="矩形 1"/>
          <p:cNvSpPr/>
          <p:nvPr/>
        </p:nvSpPr>
        <p:spPr>
          <a:xfrm>
            <a:off x="1875766" y="5508116"/>
            <a:ext cx="7638630"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延胡索酸                                                          苹果酸</a:t>
            </a:r>
          </a:p>
        </p:txBody>
      </p:sp>
      <p:sp>
        <p:nvSpPr>
          <p:cNvPr id="3" name="矩形 2"/>
          <p:cNvSpPr/>
          <p:nvPr/>
        </p:nvSpPr>
        <p:spPr>
          <a:xfrm>
            <a:off x="4888872" y="4028955"/>
            <a:ext cx="1467068" cy="400110"/>
          </a:xfrm>
          <a:prstGeom prst="rect">
            <a:avLst/>
          </a:prstGeom>
        </p:spPr>
        <p:txBody>
          <a:bodyPr wrap="non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延胡索酸酶</a:t>
            </a:r>
          </a:p>
        </p:txBody>
      </p:sp>
      <p:sp>
        <p:nvSpPr>
          <p:cNvPr id="6" name="文本框 5"/>
          <p:cNvSpPr txBox="1"/>
          <p:nvPr/>
        </p:nvSpPr>
        <p:spPr>
          <a:xfrm>
            <a:off x="2371846" y="-107047"/>
            <a:ext cx="7879080" cy="906915"/>
          </a:xfrm>
          <a:prstGeom prst="rect">
            <a:avLst/>
          </a:prstGeom>
          <a:noFill/>
        </p:spPr>
        <p:txBody>
          <a:bodyPr wrap="none" rtlCol="0" anchor="t">
            <a:spAutoFit/>
          </a:bodyPr>
          <a:lstStyle/>
          <a:p>
            <a:pPr>
              <a:lnSpc>
                <a:spcPct val="150000"/>
              </a:lnSpc>
            </a:pPr>
            <a:r>
              <a:rPr sz="4000" b="1" dirty="0" err="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第六、七、八步：草酰乙酸再生成</a:t>
            </a:r>
            <a:endPar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713740" y="1858211"/>
            <a:ext cx="10140356" cy="3543522"/>
          </a:xfrm>
          <a:prstGeom prst="rect">
            <a:avLst/>
          </a:prstGeom>
        </p:spPr>
      </p:pic>
      <p:sp>
        <p:nvSpPr>
          <p:cNvPr id="6" name="文本框 5"/>
          <p:cNvSpPr txBox="1"/>
          <p:nvPr/>
        </p:nvSpPr>
        <p:spPr>
          <a:xfrm>
            <a:off x="713740" y="1241858"/>
            <a:ext cx="1620957" cy="523220"/>
          </a:xfrm>
          <a:prstGeom prst="rect">
            <a:avLst/>
          </a:prstGeom>
          <a:noFill/>
        </p:spPr>
        <p:txBody>
          <a:bodyPr wrap="none" rtlCol="0">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第八步：</a:t>
            </a:r>
          </a:p>
        </p:txBody>
      </p:sp>
      <p:sp>
        <p:nvSpPr>
          <p:cNvPr id="8" name="矩形 7"/>
          <p:cNvSpPr/>
          <p:nvPr/>
        </p:nvSpPr>
        <p:spPr>
          <a:xfrm>
            <a:off x="1690489" y="5033201"/>
            <a:ext cx="8278228"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苹果酸                                                                 草酰乙酸</a:t>
            </a:r>
          </a:p>
        </p:txBody>
      </p:sp>
      <p:sp>
        <p:nvSpPr>
          <p:cNvPr id="10" name="矩形 9"/>
          <p:cNvSpPr/>
          <p:nvPr/>
        </p:nvSpPr>
        <p:spPr>
          <a:xfrm>
            <a:off x="5136945" y="4185893"/>
            <a:ext cx="1723549" cy="400110"/>
          </a:xfrm>
          <a:prstGeom prst="rect">
            <a:avLst/>
          </a:prstGeom>
        </p:spPr>
        <p:txBody>
          <a:bodyPr wrap="non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苹果酸脱氢酶</a:t>
            </a:r>
          </a:p>
        </p:txBody>
      </p:sp>
      <p:sp>
        <p:nvSpPr>
          <p:cNvPr id="2" name="文本框 1"/>
          <p:cNvSpPr txBox="1"/>
          <p:nvPr/>
        </p:nvSpPr>
        <p:spPr>
          <a:xfrm>
            <a:off x="2371846" y="-107047"/>
            <a:ext cx="7879080" cy="906915"/>
          </a:xfrm>
          <a:prstGeom prst="rect">
            <a:avLst/>
          </a:prstGeom>
          <a:noFill/>
        </p:spPr>
        <p:txBody>
          <a:bodyPr wrap="none" rtlCol="0" anchor="t">
            <a:spAutoFit/>
          </a:bodyPr>
          <a:lstStyle/>
          <a:p>
            <a:pPr>
              <a:lnSpc>
                <a:spcPct val="150000"/>
              </a:lnSpc>
            </a:pPr>
            <a:r>
              <a:rPr sz="4000" b="1" dirty="0" err="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第六、七、八步：草酰乙酸再生成</a:t>
            </a:r>
            <a:endPar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1027"/>
          <p:cNvPicPr>
            <a:picLocks noChangeAspect="1"/>
          </p:cNvPicPr>
          <p:nvPr/>
        </p:nvPicPr>
        <p:blipFill>
          <a:blip r:embed="rId3"/>
          <a:stretch>
            <a:fillRect/>
          </a:stretch>
        </p:blipFill>
        <p:spPr>
          <a:xfrm>
            <a:off x="6073905" y="0"/>
            <a:ext cx="6128256" cy="6858000"/>
          </a:xfrm>
          <a:prstGeom prst="rect">
            <a:avLst/>
          </a:prstGeom>
          <a:noFill/>
          <a:ln w="9525">
            <a:noFill/>
          </a:ln>
        </p:spPr>
      </p:pic>
      <p:sp>
        <p:nvSpPr>
          <p:cNvPr id="3" name="文本框 2"/>
          <p:cNvSpPr txBox="1"/>
          <p:nvPr/>
        </p:nvSpPr>
        <p:spPr>
          <a:xfrm>
            <a:off x="2959946" y="-139912"/>
            <a:ext cx="1210588"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小结</a:t>
            </a:r>
            <a:endPar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 name="文本框 3"/>
          <p:cNvSpPr txBox="1"/>
          <p:nvPr/>
        </p:nvSpPr>
        <p:spPr>
          <a:xfrm>
            <a:off x="0" y="1260051"/>
            <a:ext cx="5951985" cy="3908249"/>
          </a:xfrm>
          <a:prstGeom prst="rect">
            <a:avLst/>
          </a:prstGeom>
          <a:noFill/>
        </p:spPr>
        <p:txBody>
          <a:bodyPr wrap="square" rtlCol="0" anchor="t">
            <a:spAutoFit/>
          </a:bodyPr>
          <a:lstStyle/>
          <a:p>
            <a:pPr marL="285750" indent="-285750">
              <a:lnSpc>
                <a:spcPct val="150000"/>
              </a:lnSpc>
              <a:buClr>
                <a:srgbClr val="000000"/>
              </a:buClr>
              <a:buFont typeface="Arial" panose="020B0604020202020204" pitchFamily="34" charset="0"/>
              <a:buChar char="•"/>
            </a:pPr>
            <a:r>
              <a:rPr lang="zh-CN" altLang="en-US" sz="2400" b="1" dirty="0">
                <a:latin typeface="Comic Sans MS" panose="030F0702030302020204" charset="0"/>
                <a:ea typeface="微软雅黑" panose="020B0503020204020204" pitchFamily="34" charset="-122"/>
                <a:cs typeface="Comic Sans MS" panose="030F0702030302020204" charset="0"/>
                <a:sym typeface="+mn-ea"/>
              </a:rPr>
              <a:t>TCA循环中</a:t>
            </a:r>
            <a:r>
              <a:rPr lang="en-US" altLang="zh-CN" sz="2400" b="1" dirty="0">
                <a:latin typeface="Comic Sans MS" panose="030F0702030302020204" charset="0"/>
                <a:ea typeface="微软雅黑" panose="020B0503020204020204" pitchFamily="34" charset="-122"/>
                <a:cs typeface="Comic Sans MS" panose="030F0702030302020204" charset="0"/>
                <a:sym typeface="+mn-ea"/>
              </a:rPr>
              <a:t>C</a:t>
            </a:r>
            <a:r>
              <a:rPr lang="zh-CN" altLang="en-US" sz="2400" b="1" dirty="0">
                <a:latin typeface="Comic Sans MS" panose="030F0702030302020204" charset="0"/>
                <a:ea typeface="微软雅黑" panose="020B0503020204020204" pitchFamily="34" charset="-122"/>
                <a:cs typeface="Comic Sans MS" panose="030F0702030302020204" charset="0"/>
                <a:sym typeface="+mn-ea"/>
              </a:rPr>
              <a:t>的命运：</a:t>
            </a:r>
            <a:r>
              <a:rPr lang="zh-CN" altLang="en-US" sz="2400" dirty="0">
                <a:latin typeface="Comic Sans MS" panose="030F0702030302020204" charset="0"/>
                <a:ea typeface="微软雅黑" panose="020B0503020204020204" pitchFamily="34" charset="-122"/>
                <a:cs typeface="Comic Sans MS" panose="030F0702030302020204" charset="0"/>
                <a:sym typeface="+mn-ea"/>
              </a:rPr>
              <a:t>乙酰</a:t>
            </a:r>
            <a:r>
              <a:rPr lang="en-US" altLang="zh-CN" sz="2400" dirty="0">
                <a:latin typeface="Comic Sans MS" panose="030F0702030302020204" charset="0"/>
                <a:ea typeface="微软雅黑" panose="020B0503020204020204" pitchFamily="34" charset="-122"/>
                <a:cs typeface="Comic Sans MS" panose="030F0702030302020204" charset="0"/>
                <a:sym typeface="+mn-ea"/>
              </a:rPr>
              <a:t>CoA</a:t>
            </a:r>
            <a:r>
              <a:rPr lang="zh-CN" altLang="en-US" sz="2400" dirty="0">
                <a:latin typeface="Comic Sans MS" panose="030F0702030302020204" charset="0"/>
                <a:ea typeface="微软雅黑" panose="020B0503020204020204" pitchFamily="34" charset="-122"/>
                <a:cs typeface="Comic Sans MS" panose="030F0702030302020204" charset="0"/>
                <a:sym typeface="+mn-ea"/>
              </a:rPr>
              <a:t>的羰基</a:t>
            </a:r>
            <a:r>
              <a:rPr lang="en-US" altLang="zh-CN" sz="2400" dirty="0">
                <a:latin typeface="Comic Sans MS" panose="030F0702030302020204" charset="0"/>
                <a:ea typeface="微软雅黑" panose="020B0503020204020204" pitchFamily="34" charset="-122"/>
                <a:cs typeface="Comic Sans MS" panose="030F0702030302020204" charset="0"/>
                <a:sym typeface="+mn-ea"/>
              </a:rPr>
              <a:t>C</a:t>
            </a:r>
            <a:r>
              <a:rPr lang="zh-CN" altLang="en-US" sz="2400" dirty="0">
                <a:latin typeface="Comic Sans MS" panose="030F0702030302020204" charset="0"/>
                <a:ea typeface="微软雅黑" panose="020B0503020204020204" pitchFamily="34" charset="-122"/>
                <a:cs typeface="Comic Sans MS" panose="030F0702030302020204" charset="0"/>
                <a:sym typeface="+mn-ea"/>
              </a:rPr>
              <a:t>只有在第</a:t>
            </a:r>
            <a:r>
              <a:rPr lang="en-US" altLang="zh-CN" sz="2400" dirty="0">
                <a:latin typeface="Comic Sans MS" panose="030F0702030302020204" charset="0"/>
                <a:ea typeface="微软雅黑" panose="020B0503020204020204" pitchFamily="34" charset="-122"/>
                <a:cs typeface="Comic Sans MS" panose="030F0702030302020204" charset="0"/>
                <a:sym typeface="+mn-ea"/>
              </a:rPr>
              <a:t>2</a:t>
            </a:r>
            <a:r>
              <a:rPr lang="zh-CN" altLang="en-US" sz="2400" dirty="0">
                <a:latin typeface="Comic Sans MS" panose="030F0702030302020204" charset="0"/>
                <a:ea typeface="微软雅黑" panose="020B0503020204020204" pitchFamily="34" charset="-122"/>
                <a:cs typeface="Comic Sans MS" panose="030F0702030302020204" charset="0"/>
                <a:sym typeface="+mn-ea"/>
              </a:rPr>
              <a:t>轮循环转变成</a:t>
            </a:r>
            <a:r>
              <a:rPr lang="en-US" altLang="zh-CN" sz="2400" dirty="0">
                <a:latin typeface="Comic Sans MS" panose="030F0702030302020204" charset="0"/>
                <a:ea typeface="微软雅黑" panose="020B0503020204020204" pitchFamily="34" charset="-122"/>
                <a:cs typeface="Comic Sans MS" panose="030F0702030302020204" charset="0"/>
                <a:sym typeface="+mn-ea"/>
              </a:rPr>
              <a:t>CO</a:t>
            </a:r>
            <a:r>
              <a:rPr lang="en-US" altLang="zh-CN" sz="2400" baseline="-25000" dirty="0">
                <a:latin typeface="Comic Sans MS" panose="030F0702030302020204" charset="0"/>
                <a:ea typeface="微软雅黑" panose="020B0503020204020204" pitchFamily="34" charset="-122"/>
                <a:cs typeface="Comic Sans MS" panose="030F0702030302020204" charset="0"/>
                <a:sym typeface="+mn-ea"/>
              </a:rPr>
              <a:t>2</a:t>
            </a:r>
            <a:r>
              <a:rPr lang="en-US" altLang="zh-CN" sz="2400" dirty="0">
                <a:latin typeface="Comic Sans MS" panose="030F0702030302020204" charset="0"/>
                <a:ea typeface="微软雅黑" panose="020B0503020204020204" pitchFamily="34" charset="-122"/>
                <a:cs typeface="Comic Sans MS" panose="030F0702030302020204" charset="0"/>
                <a:sym typeface="+mn-ea"/>
              </a:rPr>
              <a:t> </a:t>
            </a:r>
            <a:r>
              <a:rPr lang="zh-CN" altLang="en-US" sz="2400" dirty="0">
                <a:latin typeface="Comic Sans MS" panose="030F0702030302020204" charset="0"/>
                <a:ea typeface="微软雅黑" panose="020B0503020204020204" pitchFamily="34" charset="-122"/>
                <a:cs typeface="Comic Sans MS" panose="030F0702030302020204" charset="0"/>
                <a:sym typeface="+mn-ea"/>
              </a:rPr>
              <a:t>，乙酰</a:t>
            </a:r>
            <a:r>
              <a:rPr lang="en-US" altLang="zh-CN" sz="2400" dirty="0">
                <a:latin typeface="Comic Sans MS" panose="030F0702030302020204" charset="0"/>
                <a:ea typeface="微软雅黑" panose="020B0503020204020204" pitchFamily="34" charset="-122"/>
                <a:cs typeface="Comic Sans MS" panose="030F0702030302020204" charset="0"/>
                <a:sym typeface="+mn-ea"/>
              </a:rPr>
              <a:t>CoA</a:t>
            </a:r>
            <a:r>
              <a:rPr lang="zh-CN" altLang="en-US" sz="2400" dirty="0">
                <a:latin typeface="Comic Sans MS" panose="030F0702030302020204" charset="0"/>
                <a:ea typeface="微软雅黑" panose="020B0503020204020204" pitchFamily="34" charset="-122"/>
                <a:cs typeface="Comic Sans MS" panose="030F0702030302020204" charset="0"/>
                <a:sym typeface="+mn-ea"/>
              </a:rPr>
              <a:t>的甲基</a:t>
            </a:r>
            <a:r>
              <a:rPr lang="en-US" altLang="zh-CN" sz="2400" dirty="0">
                <a:latin typeface="Comic Sans MS" panose="030F0702030302020204" charset="0"/>
                <a:ea typeface="微软雅黑" panose="020B0503020204020204" pitchFamily="34" charset="-122"/>
                <a:cs typeface="Comic Sans MS" panose="030F0702030302020204" charset="0"/>
                <a:sym typeface="+mn-ea"/>
              </a:rPr>
              <a:t>C</a:t>
            </a:r>
            <a:r>
              <a:rPr lang="zh-CN" altLang="en-US" sz="2400" dirty="0">
                <a:latin typeface="Comic Sans MS" panose="030F0702030302020204" charset="0"/>
                <a:ea typeface="微软雅黑" panose="020B0503020204020204" pitchFamily="34" charset="-122"/>
                <a:cs typeface="Comic Sans MS" panose="030F0702030302020204" charset="0"/>
                <a:sym typeface="+mn-ea"/>
              </a:rPr>
              <a:t>能完全留在两轮循环中，但是以后每一轮循环有一半离开。</a:t>
            </a:r>
            <a:endParaRPr lang="zh-CN" altLang="en-US" sz="2400" b="1" dirty="0">
              <a:latin typeface="Comic Sans MS" panose="030F0702030302020204" charset="0"/>
              <a:ea typeface="微软雅黑" panose="020B0503020204020204" pitchFamily="34" charset="-122"/>
              <a:cs typeface="Comic Sans MS" panose="030F0702030302020204" charset="0"/>
            </a:endParaRPr>
          </a:p>
          <a:p>
            <a:pPr marL="285750" indent="-285750">
              <a:lnSpc>
                <a:spcPct val="150000"/>
              </a:lnSpc>
              <a:buFont typeface="Arial" panose="020B0604020202020204" pitchFamily="34" charset="0"/>
              <a:buChar char="•"/>
            </a:pPr>
            <a:r>
              <a:rPr lang="en-US" altLang="zh-CN" sz="2400" b="1" dirty="0">
                <a:latin typeface="Comic Sans MS" panose="030F0702030302020204" charset="0"/>
                <a:ea typeface="微软雅黑" panose="020B0503020204020204" pitchFamily="34" charset="-122"/>
                <a:cs typeface="Comic Sans MS" panose="030F0702030302020204" charset="0"/>
                <a:sym typeface="+mn-ea"/>
              </a:rPr>
              <a:t>1 </a:t>
            </a:r>
            <a:r>
              <a:rPr lang="zh-CN" altLang="en-US" sz="2400" b="1" dirty="0">
                <a:latin typeface="Comic Sans MS" panose="030F0702030302020204" charset="0"/>
                <a:ea typeface="微软雅黑" panose="020B0503020204020204" pitchFamily="34" charset="-122"/>
                <a:cs typeface="Comic Sans MS" panose="030F0702030302020204" charset="0"/>
                <a:sym typeface="+mn-ea"/>
              </a:rPr>
              <a:t>乙酰</a:t>
            </a:r>
            <a:r>
              <a:rPr lang="en-US" altLang="zh-CN" sz="2400" b="1" dirty="0">
                <a:latin typeface="Comic Sans MS" panose="030F0702030302020204" charset="0"/>
                <a:ea typeface="微软雅黑" panose="020B0503020204020204" pitchFamily="34" charset="-122"/>
                <a:cs typeface="Comic Sans MS" panose="030F0702030302020204" charset="0"/>
                <a:sym typeface="+mn-ea"/>
              </a:rPr>
              <a:t>-CoA</a:t>
            </a:r>
            <a:r>
              <a:rPr lang="zh-CN" altLang="en-US" sz="2400" b="1" dirty="0">
                <a:latin typeface="Comic Sans MS" panose="030F0702030302020204" charset="0"/>
                <a:ea typeface="微软雅黑" panose="020B0503020204020204" pitchFamily="34" charset="-122"/>
                <a:cs typeface="Comic Sans MS" panose="030F0702030302020204" charset="0"/>
                <a:sym typeface="+mn-ea"/>
              </a:rPr>
              <a:t>通过三羧酸循环产生：</a:t>
            </a:r>
            <a:r>
              <a:rPr lang="en-US" altLang="zh-CN" sz="2400" dirty="0">
                <a:solidFill>
                  <a:srgbClr val="FF0000"/>
                </a:solidFill>
                <a:latin typeface="Comic Sans MS" panose="030F0702030302020204" charset="0"/>
                <a:ea typeface="微软雅黑" panose="020B0503020204020204" pitchFamily="34" charset="-122"/>
                <a:cs typeface="Comic Sans MS" panose="030F0702030302020204" charset="0"/>
                <a:sym typeface="+mn-ea"/>
              </a:rPr>
              <a:t>2CO</a:t>
            </a:r>
            <a:r>
              <a:rPr lang="en-US" altLang="zh-CN" sz="2400" baseline="-25000" dirty="0">
                <a:solidFill>
                  <a:srgbClr val="FF0000"/>
                </a:solidFill>
                <a:latin typeface="Comic Sans MS" panose="030F0702030302020204" charset="0"/>
                <a:ea typeface="微软雅黑" panose="020B0503020204020204" pitchFamily="34" charset="-122"/>
                <a:cs typeface="Comic Sans MS" panose="030F0702030302020204" charset="0"/>
                <a:sym typeface="+mn-ea"/>
              </a:rPr>
              <a:t>2</a:t>
            </a:r>
            <a:r>
              <a:rPr lang="en-US" altLang="zh-CN" sz="2400" dirty="0">
                <a:solidFill>
                  <a:srgbClr val="FF0000"/>
                </a:solidFill>
                <a:latin typeface="Comic Sans MS" panose="030F0702030302020204" charset="0"/>
                <a:ea typeface="微软雅黑" panose="020B0503020204020204" pitchFamily="34" charset="-122"/>
                <a:cs typeface="Comic Sans MS" panose="030F0702030302020204" charset="0"/>
                <a:sym typeface="+mn-ea"/>
              </a:rPr>
              <a:t>, 1 ATP, 3NADH</a:t>
            </a:r>
            <a:r>
              <a:rPr lang="zh-CN" altLang="en-US" sz="2400" dirty="0">
                <a:solidFill>
                  <a:srgbClr val="FF0000"/>
                </a:solidFill>
                <a:latin typeface="Comic Sans MS" panose="030F0702030302020204" charset="0"/>
                <a:ea typeface="微软雅黑" panose="020B0503020204020204" pitchFamily="34" charset="-122"/>
                <a:cs typeface="Comic Sans MS" panose="030F0702030302020204" charset="0"/>
                <a:sym typeface="+mn-ea"/>
              </a:rPr>
              <a:t>，</a:t>
            </a:r>
            <a:r>
              <a:rPr lang="en-US" altLang="zh-CN" sz="2400" dirty="0">
                <a:solidFill>
                  <a:srgbClr val="FF0000"/>
                </a:solidFill>
                <a:latin typeface="Comic Sans MS" panose="030F0702030302020204" charset="0"/>
                <a:ea typeface="微软雅黑" panose="020B0503020204020204" pitchFamily="34" charset="-122"/>
                <a:cs typeface="Comic Sans MS" panose="030F0702030302020204" charset="0"/>
                <a:sym typeface="+mn-ea"/>
              </a:rPr>
              <a:t>1FADH</a:t>
            </a:r>
            <a:r>
              <a:rPr lang="en-US" altLang="zh-CN" sz="2400" baseline="-25000" dirty="0">
                <a:solidFill>
                  <a:srgbClr val="FF0000"/>
                </a:solidFill>
                <a:latin typeface="Comic Sans MS" panose="030F0702030302020204" charset="0"/>
                <a:ea typeface="微软雅黑" panose="020B0503020204020204" pitchFamily="34" charset="-122"/>
                <a:cs typeface="Comic Sans MS" panose="030F0702030302020204" charset="0"/>
                <a:sym typeface="+mn-ea"/>
              </a:rPr>
              <a:t>2</a:t>
            </a:r>
            <a:endParaRPr lang="en-US" altLang="zh-CN" sz="2400" b="1" baseline="-25000" dirty="0">
              <a:solidFill>
                <a:srgbClr val="FF0000"/>
              </a:solidFill>
              <a:latin typeface="Comic Sans MS" panose="030F0702030302020204" charset="0"/>
              <a:ea typeface="微软雅黑" panose="020B0503020204020204" pitchFamily="34" charset="-122"/>
              <a:cs typeface="Comic Sans MS" panose="030F0702030302020204" charset="0"/>
            </a:endParaRPr>
          </a:p>
          <a:p>
            <a:pPr marL="285750" indent="-285750">
              <a:lnSpc>
                <a:spcPct val="150000"/>
              </a:lnSpc>
              <a:buFont typeface="Arial" panose="020B0604020202020204" pitchFamily="34" charset="0"/>
              <a:buChar char="•"/>
            </a:pPr>
            <a:r>
              <a:rPr lang="zh-CN" altLang="en-US" sz="2400" b="1" dirty="0">
                <a:latin typeface="Comic Sans MS" panose="030F0702030302020204" charset="0"/>
                <a:ea typeface="微软雅黑" panose="020B0503020204020204" pitchFamily="34" charset="-122"/>
                <a:cs typeface="Comic Sans MS" panose="030F0702030302020204" charset="0"/>
                <a:sym typeface="+mn-ea"/>
              </a:rPr>
              <a:t>需要</a:t>
            </a:r>
            <a:r>
              <a:rPr lang="en-US" altLang="zh-CN" sz="2400" b="1" dirty="0">
                <a:latin typeface="Comic Sans MS" panose="030F0702030302020204" charset="0"/>
                <a:ea typeface="微软雅黑" panose="020B0503020204020204" pitchFamily="34" charset="-122"/>
                <a:cs typeface="Comic Sans MS" panose="030F0702030302020204" charset="0"/>
                <a:sym typeface="+mn-ea"/>
              </a:rPr>
              <a:t>O</a:t>
            </a:r>
            <a:r>
              <a:rPr lang="en-US" altLang="zh-CN" sz="2400" b="1" baseline="-25000" dirty="0">
                <a:latin typeface="Comic Sans MS" panose="030F0702030302020204" charset="0"/>
                <a:ea typeface="微软雅黑" panose="020B0503020204020204" pitchFamily="34" charset="-122"/>
                <a:cs typeface="Comic Sans MS" panose="030F0702030302020204" charset="0"/>
                <a:sym typeface="+mn-ea"/>
              </a:rPr>
              <a:t>2</a:t>
            </a:r>
            <a:r>
              <a:rPr lang="zh-CN" altLang="en-US" sz="2400" b="1" baseline="-25000" dirty="0">
                <a:latin typeface="Comic Sans MS" panose="030F0702030302020204" charset="0"/>
                <a:ea typeface="微软雅黑" panose="020B0503020204020204" pitchFamily="34" charset="-122"/>
                <a:cs typeface="Comic Sans MS" panose="030F0702030302020204" charset="0"/>
                <a:sym typeface="+mn-ea"/>
              </a:rPr>
              <a:t>，</a:t>
            </a:r>
            <a:r>
              <a:rPr lang="zh-CN" altLang="en-US" sz="2400" b="1" dirty="0">
                <a:latin typeface="Comic Sans MS" panose="030F0702030302020204" charset="0"/>
                <a:ea typeface="微软雅黑" panose="020B0503020204020204" pitchFamily="34" charset="-122"/>
                <a:cs typeface="Comic Sans MS" panose="030F0702030302020204" charset="0"/>
                <a:sym typeface="+mn-ea"/>
              </a:rPr>
              <a:t>但不直接参与。</a:t>
            </a:r>
          </a:p>
        </p:txBody>
      </p:sp>
      <p:sp>
        <p:nvSpPr>
          <p:cNvPr id="5" name="文本框 4">
            <a:extLst>
              <a:ext uri="{FF2B5EF4-FFF2-40B4-BE49-F238E27FC236}">
                <a16:creationId xmlns:a16="http://schemas.microsoft.com/office/drawing/2014/main" id="{EE77B021-EFF3-F17D-BB42-0487D97CB77B}"/>
              </a:ext>
            </a:extLst>
          </p:cNvPr>
          <p:cNvSpPr txBox="1"/>
          <p:nvPr/>
        </p:nvSpPr>
        <p:spPr>
          <a:xfrm>
            <a:off x="385518" y="5916331"/>
            <a:ext cx="7570032" cy="369332"/>
          </a:xfrm>
          <a:prstGeom prst="rect">
            <a:avLst/>
          </a:prstGeom>
          <a:noFill/>
        </p:spPr>
        <p:txBody>
          <a:bodyPr wrap="square">
            <a:spAutoFit/>
          </a:bodyPr>
          <a:lstStyle/>
          <a:p>
            <a:r>
              <a:rPr kumimoji="0" lang="zh-CN" altLang="en-US" sz="1800" b="1" i="1" dirty="0">
                <a:solidFill>
                  <a:srgbClr val="FF0000"/>
                </a:solidFill>
                <a:ea typeface="楷体" panose="02010609060101010101" pitchFamily="49" charset="-122"/>
                <a:cs typeface="Times New Roman" panose="02020603050405020304" pitchFamily="18" charset="0"/>
              </a:rPr>
              <a:t>吵， 您顺意吵，（吵得）铜壶呼盐瓶！</a:t>
            </a:r>
            <a:endParaRPr lang="zh-CN" altLang="en-US" dirty="0"/>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158105" y="-122978"/>
            <a:ext cx="1210588" cy="2753574"/>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小结</a:t>
            </a:r>
            <a:endPar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endPar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endPar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2" name="图片 1"/>
          <p:cNvPicPr>
            <a:picLocks noChangeAspect="1"/>
          </p:cNvPicPr>
          <p:nvPr/>
        </p:nvPicPr>
        <p:blipFill rotWithShape="1">
          <a:blip r:embed="rId3"/>
          <a:srcRect l="1364" t="7822" r="-1364" b="6983"/>
          <a:stretch>
            <a:fillRect/>
          </a:stretch>
        </p:blipFill>
        <p:spPr>
          <a:xfrm>
            <a:off x="322050" y="901699"/>
            <a:ext cx="11547899" cy="5872522"/>
          </a:xfrm>
          <a:prstGeom prst="rect">
            <a:avLst/>
          </a:prstGeom>
        </p:spPr>
      </p:pic>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2794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cs typeface="微软雅黑" panose="020B0503020204020204" pitchFamily="34" charset="-122"/>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微软雅黑" panose="020B0503020204020204" pitchFamily="34" charset="-122"/>
              </a:endParaRPr>
            </a:p>
          </p:txBody>
        </p:sp>
        <p:sp>
          <p:nvSpPr>
            <p:cNvPr id="19" name="文本框 18"/>
            <p:cNvSpPr txBox="1"/>
            <p:nvPr/>
          </p:nvSpPr>
          <p:spPr>
            <a:xfrm>
              <a:off x="743647" y="334468"/>
              <a:ext cx="1338788" cy="466581"/>
            </a:xfrm>
            <a:prstGeom prst="rect">
              <a:avLst/>
            </a:prstGeom>
            <a:noFill/>
          </p:spPr>
          <p:txBody>
            <a:bodyPr wrap="square" lIns="68580" tIns="34290" rIns="68580" bIns="34290" rtlCol="0">
              <a:spAutoFit/>
            </a:bodyPr>
            <a:lstStyle/>
            <a:p>
              <a:r>
                <a:rPr lang="en-US" altLang="zh-CN" sz="6600" dirty="0">
                  <a:solidFill>
                    <a:schemeClr val="bg1">
                      <a:lumMod val="95000"/>
                    </a:schemeClr>
                  </a:solidFill>
                  <a:latin typeface="Impact" panose="020B0806030902050204" pitchFamily="34" charset="0"/>
                  <a:cs typeface="微软雅黑" panose="020B0503020204020204" pitchFamily="34" charset="-122"/>
                </a:rPr>
                <a:t>5</a:t>
              </a:r>
            </a:p>
          </p:txBody>
        </p:sp>
      </p:grpSp>
      <p:sp>
        <p:nvSpPr>
          <p:cNvPr id="20" name="TextBox 48"/>
          <p:cNvSpPr txBox="1"/>
          <p:nvPr/>
        </p:nvSpPr>
        <p:spPr>
          <a:xfrm>
            <a:off x="4702810" y="2737485"/>
            <a:ext cx="5689887" cy="622300"/>
          </a:xfrm>
          <a:prstGeom prst="rect">
            <a:avLst/>
          </a:prstGeom>
          <a:noFill/>
        </p:spPr>
        <p:txBody>
          <a:bodyPr wrap="square" lIns="68584" tIns="34291" rIns="68584" bIns="34291" rtlCol="0">
            <a:spAutoFit/>
          </a:bodyPr>
          <a:lstStyle/>
          <a:p>
            <a:r>
              <a:rPr sz="3600"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r>
              <a:rPr sz="3600" b="1"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柠檬酸循环的化学总结算</a:t>
            </a:r>
            <a:endParaRPr sz="3600"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77961" y="0"/>
            <a:ext cx="10022903" cy="825419"/>
          </a:xfrm>
          <a:prstGeom prst="rect">
            <a:avLst/>
          </a:prstGeom>
          <a:noFill/>
        </p:spPr>
        <p:txBody>
          <a:bodyPr wrap="square" rtlCol="0" anchor="t">
            <a:spAutoFit/>
          </a:bodyPr>
          <a:lstStyle/>
          <a:p>
            <a:pPr>
              <a:lnSpc>
                <a:spcPct val="150000"/>
              </a:lnSpc>
            </a:pPr>
            <a: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分子葡萄糖彻底氧化分解所释放的能量</a:t>
            </a:r>
          </a:p>
        </p:txBody>
      </p:sp>
      <p:pic>
        <p:nvPicPr>
          <p:cNvPr id="4" name="图片 3"/>
          <p:cNvPicPr>
            <a:picLocks noChangeAspect="1"/>
          </p:cNvPicPr>
          <p:nvPr/>
        </p:nvPicPr>
        <p:blipFill>
          <a:blip r:embed="rId3"/>
          <a:stretch>
            <a:fillRect/>
          </a:stretch>
        </p:blipFill>
        <p:spPr>
          <a:xfrm>
            <a:off x="3025987" y="905797"/>
            <a:ext cx="5474546" cy="5726778"/>
          </a:xfrm>
          <a:prstGeom prst="rect">
            <a:avLst/>
          </a:prstGeom>
        </p:spPr>
      </p:pic>
      <p:sp>
        <p:nvSpPr>
          <p:cNvPr id="6" name="文本框 5"/>
          <p:cNvSpPr txBox="1"/>
          <p:nvPr/>
        </p:nvSpPr>
        <p:spPr>
          <a:xfrm>
            <a:off x="8422349" y="3393209"/>
            <a:ext cx="3478516" cy="707886"/>
          </a:xfrm>
          <a:prstGeom prst="rect">
            <a:avLst/>
          </a:prstGeom>
          <a:noFill/>
        </p:spPr>
        <p:txBody>
          <a:bodyPr wrap="none" rtlCol="0">
            <a:spAutoFit/>
          </a:bodyPr>
          <a:lstStyle/>
          <a:p>
            <a:pPr algn="l"/>
            <a:r>
              <a:rPr lang="en-US" altLang="zh-CN" sz="4000" b="1" dirty="0">
                <a:solidFill>
                  <a:srgbClr val="FF0000"/>
                </a:solidFill>
                <a:latin typeface="微软雅黑" panose="020B0503020204020204" pitchFamily="34" charset="-122"/>
                <a:ea typeface="微软雅黑" panose="020B0503020204020204" pitchFamily="34" charset="-122"/>
                <a:sym typeface="+mn-ea"/>
              </a:rPr>
              <a:t>32</a:t>
            </a:r>
            <a:r>
              <a:rPr lang="zh-CN" altLang="en-US" sz="4000" b="1" dirty="0">
                <a:solidFill>
                  <a:srgbClr val="FF0000"/>
                </a:solidFill>
                <a:latin typeface="微软雅黑" panose="020B0503020204020204" pitchFamily="34" charset="-122"/>
                <a:ea typeface="微软雅黑" panose="020B0503020204020204" pitchFamily="34" charset="-122"/>
                <a:sym typeface="+mn-ea"/>
              </a:rPr>
              <a:t>或</a:t>
            </a:r>
            <a:r>
              <a:rPr lang="en-US" altLang="zh-CN" sz="4000" b="1" dirty="0">
                <a:solidFill>
                  <a:srgbClr val="FF0000"/>
                </a:solidFill>
                <a:latin typeface="微软雅黑" panose="020B0503020204020204" pitchFamily="34" charset="-122"/>
                <a:ea typeface="微软雅黑" panose="020B0503020204020204" pitchFamily="34" charset="-122"/>
                <a:sym typeface="+mn-ea"/>
              </a:rPr>
              <a:t>30</a:t>
            </a:r>
            <a:r>
              <a:rPr lang="zh-CN" altLang="en-US" sz="4000" b="1" dirty="0">
                <a:solidFill>
                  <a:srgbClr val="FF0000"/>
                </a:solidFill>
                <a:latin typeface="微软雅黑" panose="020B0503020204020204" pitchFamily="34" charset="-122"/>
                <a:ea typeface="微软雅黑" panose="020B0503020204020204" pitchFamily="34" charset="-122"/>
                <a:sym typeface="+mn-ea"/>
              </a:rPr>
              <a:t>个</a:t>
            </a:r>
            <a:r>
              <a:rPr lang="en-US" altLang="zh-CN" sz="4000" b="1" dirty="0">
                <a:solidFill>
                  <a:srgbClr val="FF0000"/>
                </a:solidFill>
                <a:latin typeface="微软雅黑" panose="020B0503020204020204" pitchFamily="34" charset="-122"/>
                <a:ea typeface="微软雅黑" panose="020B0503020204020204" pitchFamily="34" charset="-122"/>
                <a:sym typeface="+mn-ea"/>
              </a:rPr>
              <a:t>ATP</a:t>
            </a:r>
            <a:endParaRPr lang="zh-CN" altLang="en-US" sz="4000" dirty="0">
              <a:solidFill>
                <a:srgbClr val="FF0000"/>
              </a:solidFill>
            </a:endParaRPr>
          </a:p>
        </p:txBody>
      </p:sp>
      <p:sp>
        <p:nvSpPr>
          <p:cNvPr id="7" name="文本框 6"/>
          <p:cNvSpPr txBox="1"/>
          <p:nvPr/>
        </p:nvSpPr>
        <p:spPr>
          <a:xfrm>
            <a:off x="8071932" y="1709204"/>
            <a:ext cx="700833" cy="400110"/>
          </a:xfrm>
          <a:prstGeom prst="rect">
            <a:avLst/>
          </a:prstGeom>
          <a:noFill/>
        </p:spPr>
        <p:txBody>
          <a:bodyPr wrap="none" rtlCol="0">
            <a:spAutoFit/>
          </a:bodyPr>
          <a:lstStyle/>
          <a:p>
            <a:r>
              <a:rPr lang="en-US" altLang="zh-CN" sz="2000" b="1" dirty="0"/>
              <a:t>3</a:t>
            </a:r>
            <a:r>
              <a:rPr lang="zh-CN" altLang="en-US" sz="2000" b="1" dirty="0"/>
              <a:t>或</a:t>
            </a:r>
            <a:r>
              <a:rPr lang="en-US" altLang="zh-CN" sz="2000" b="1" dirty="0"/>
              <a:t>5</a:t>
            </a: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715" y="1078442"/>
            <a:ext cx="10296336" cy="5288491"/>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2127039" y="0"/>
            <a:ext cx="8318303" cy="2487412"/>
          </a:xfrm>
          <a:prstGeom prst="rect">
            <a:avLst/>
          </a:prstGeom>
          <a:noFill/>
        </p:spPr>
        <p:txBody>
          <a:bodyPr wrap="none" rtlCol="0" anchor="t">
            <a:spAutoFit/>
          </a:bodyPr>
          <a:lstStyle/>
          <a:p>
            <a:pPr>
              <a:lnSpc>
                <a:spcPct val="150000"/>
              </a:lnSpc>
            </a:pP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分子葡萄糖彻底氧化分解所释放的能量</a:t>
            </a:r>
          </a:p>
          <a:p>
            <a:pPr>
              <a:lnSpc>
                <a:spcPct val="150000"/>
              </a:lnSpc>
            </a:pP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5588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cs typeface="微软雅黑" panose="020B0503020204020204" pitchFamily="34" charset="-122"/>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微软雅黑" panose="020B0503020204020204" pitchFamily="34" charset="-122"/>
              </a:endParaRPr>
            </a:p>
          </p:txBody>
        </p:sp>
        <p:sp>
          <p:nvSpPr>
            <p:cNvPr id="19" name="文本框 18"/>
            <p:cNvSpPr txBox="1"/>
            <p:nvPr/>
          </p:nvSpPr>
          <p:spPr>
            <a:xfrm>
              <a:off x="799908" y="334468"/>
              <a:ext cx="1338788" cy="466581"/>
            </a:xfrm>
            <a:prstGeom prst="rect">
              <a:avLst/>
            </a:prstGeom>
            <a:noFill/>
          </p:spPr>
          <p:txBody>
            <a:bodyPr wrap="square" lIns="68580" tIns="34290" rIns="68580" bIns="34290" rtlCol="0">
              <a:spAutoFit/>
            </a:bodyPr>
            <a:lstStyle/>
            <a:p>
              <a:r>
                <a:rPr lang="en-US" altLang="zh-CN" sz="6600" dirty="0">
                  <a:solidFill>
                    <a:schemeClr val="bg1">
                      <a:lumMod val="95000"/>
                    </a:schemeClr>
                  </a:solidFill>
                  <a:latin typeface="Impact" panose="020B0806030902050204" pitchFamily="34" charset="0"/>
                  <a:cs typeface="微软雅黑" panose="020B0503020204020204" pitchFamily="34" charset="-122"/>
                </a:rPr>
                <a:t>6</a:t>
              </a:r>
            </a:p>
          </p:txBody>
        </p:sp>
      </p:grpSp>
      <p:sp>
        <p:nvSpPr>
          <p:cNvPr id="20" name="TextBox 48"/>
          <p:cNvSpPr txBox="1"/>
          <p:nvPr/>
        </p:nvSpPr>
        <p:spPr>
          <a:xfrm>
            <a:off x="4702810" y="2737485"/>
            <a:ext cx="6250940" cy="622300"/>
          </a:xfrm>
          <a:prstGeom prst="rect">
            <a:avLst/>
          </a:prstGeom>
          <a:noFill/>
        </p:spPr>
        <p:txBody>
          <a:bodyPr wrap="square" lIns="68584" tIns="34291" rIns="68584" bIns="34291" rtlCol="0">
            <a:spAutoFit/>
          </a:bodyPr>
          <a:lstStyle/>
          <a:p>
            <a:r>
              <a:rPr sz="36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柠檬酸循环的调节</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25883" y="1036362"/>
            <a:ext cx="5656663" cy="5450723"/>
          </a:xfrm>
          <a:prstGeom prst="rect">
            <a:avLst/>
          </a:prstGeom>
          <a:noFill/>
        </p:spPr>
        <p:txBody>
          <a:bodyPr wrap="square" rtlCol="0" anchor="t">
            <a:spAutoFit/>
          </a:bodyPr>
          <a:lstStyle/>
          <a:p>
            <a:pPr marL="171450" indent="-171450">
              <a:lnSpc>
                <a:spcPct val="150000"/>
              </a:lnSpc>
              <a:spcBef>
                <a:spcPts val="600"/>
              </a:spcBef>
              <a:buClr>
                <a:srgbClr val="000000"/>
              </a:buClr>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集中在</a:t>
            </a:r>
            <a:r>
              <a:rPr lang="zh-CN" altLang="en-US" sz="2400" b="1" u="sng" dirty="0">
                <a:latin typeface="微软雅黑" panose="020B0503020204020204" pitchFamily="34" charset="-122"/>
                <a:ea typeface="微软雅黑" panose="020B0503020204020204" pitchFamily="34" charset="-122"/>
                <a:cs typeface="微软雅黑" panose="020B0503020204020204" pitchFamily="34" charset="-122"/>
                <a:sym typeface="+mn-ea"/>
              </a:rPr>
              <a:t>柠檬酸合酶、异柠檬酸脱氢酶和</a:t>
            </a:r>
            <a:r>
              <a:rPr lang="en-US" altLang="zh-CN" sz="2400" b="1" u="sng" dirty="0">
                <a:latin typeface="微软雅黑" panose="020B0503020204020204" pitchFamily="34" charset="-122"/>
                <a:ea typeface="微软雅黑" panose="020B0503020204020204" pitchFamily="34" charset="-122"/>
                <a:cs typeface="微软雅黑" panose="020B0503020204020204" pitchFamily="34" charset="-122"/>
                <a:sym typeface="+mn-ea"/>
              </a:rPr>
              <a:t>α-</a:t>
            </a:r>
            <a:r>
              <a:rPr lang="zh-CN" altLang="en-US" sz="2400" b="1" u="sng" dirty="0">
                <a:latin typeface="微软雅黑" panose="020B0503020204020204" pitchFamily="34" charset="-122"/>
                <a:ea typeface="微软雅黑" panose="020B0503020204020204" pitchFamily="34" charset="-122"/>
                <a:cs typeface="微软雅黑" panose="020B0503020204020204" pitchFamily="34" charset="-122"/>
                <a:sym typeface="+mn-ea"/>
              </a:rPr>
              <a:t>酮戊二酸脱氢酶</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，其中最重要的调控位点是</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异柠檬酸脱氢酶</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，其次是</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α-</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酮戊二酸脱氢酶，对柠檬酸合酶的调控多见于原核生物。</a:t>
            </a:r>
          </a:p>
          <a:p>
            <a:pPr marL="171450" indent="-171450">
              <a:lnSpc>
                <a:spcPct val="150000"/>
              </a:lnSpc>
              <a:spcBef>
                <a:spcPts val="600"/>
              </a:spcBef>
              <a:buClr>
                <a:srgbClr val="000000"/>
              </a:buClr>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还可以通过控制乙酰</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-CoA</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的形成，来控制</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TCA</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循环，而这必然牵涉到细胞内参与乙酰</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-CoA</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合成的酶，如</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丙酮酸脱氢酶系</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参与脂肪酸</a:t>
            </a:r>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β-</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氧化的酶</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nSpc>
                <a:spcPct val="80000"/>
              </a:lnSpc>
              <a:buClr>
                <a:srgbClr val="FF0000"/>
              </a:buCl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2473254" y="-167726"/>
            <a:ext cx="5110023" cy="906915"/>
          </a:xfrm>
          <a:prstGeom prst="rect">
            <a:avLst/>
          </a:prstGeom>
          <a:noFill/>
        </p:spPr>
        <p:txBody>
          <a:bodyPr wrap="square" rtlCol="0" anchor="t">
            <a:spAutoFit/>
          </a:bodyPr>
          <a:lstStyle/>
          <a:p>
            <a:pPr>
              <a:lnSpc>
                <a:spcPct val="150000"/>
              </a:lnSpc>
            </a:pPr>
            <a:r>
              <a:rPr 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TCA</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的调控</a:t>
            </a:r>
          </a:p>
        </p:txBody>
      </p:sp>
      <p:pic>
        <p:nvPicPr>
          <p:cNvPr id="9" name="Picture 5"/>
          <p:cNvPicPr>
            <a:picLocks noChangeAspect="1"/>
          </p:cNvPicPr>
          <p:nvPr/>
        </p:nvPicPr>
        <p:blipFill>
          <a:blip r:embed="rId3">
            <a:lum bright="6000" contrast="6000"/>
            <a:extLst>
              <a:ext uri="{BEBA8EAE-BF5A-486C-A8C5-ECC9F3942E4B}">
                <a14:imgProps xmlns:a14="http://schemas.microsoft.com/office/drawing/2010/main">
                  <a14:imgLayer r:embed="rId4">
                    <a14:imgEffect>
                      <a14:colorTemperature colorTemp="7200"/>
                    </a14:imgEffect>
                  </a14:imgLayer>
                </a14:imgProps>
              </a:ext>
            </a:extLst>
          </a:blip>
          <a:stretch>
            <a:fillRect/>
          </a:stretch>
        </p:blipFill>
        <p:spPr>
          <a:xfrm>
            <a:off x="5882546" y="0"/>
            <a:ext cx="6339181" cy="6784258"/>
          </a:xfrm>
          <a:prstGeom prst="rect">
            <a:avLst/>
          </a:prstGeom>
          <a:noFill/>
          <a:ln w="9525">
            <a:noFill/>
          </a:ln>
        </p:spPr>
      </p:pic>
      <p:sp>
        <p:nvSpPr>
          <p:cNvPr id="10" name="文本框 2"/>
          <p:cNvSpPr txBox="1"/>
          <p:nvPr/>
        </p:nvSpPr>
        <p:spPr>
          <a:xfrm>
            <a:off x="8993264" y="2668282"/>
            <a:ext cx="298450" cy="368300"/>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a:solidFill>
                  <a:srgbClr val="FF0000"/>
                </a:solidFill>
              </a:rPr>
              <a:t>1</a:t>
            </a:r>
          </a:p>
        </p:txBody>
      </p:sp>
      <p:sp>
        <p:nvSpPr>
          <p:cNvPr id="11" name="文本框 4"/>
          <p:cNvSpPr txBox="1"/>
          <p:nvPr/>
        </p:nvSpPr>
        <p:spPr>
          <a:xfrm>
            <a:off x="10044824" y="3965587"/>
            <a:ext cx="298450" cy="368300"/>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a:solidFill>
                  <a:srgbClr val="FF0000"/>
                </a:solidFill>
              </a:rPr>
              <a:t>3</a:t>
            </a:r>
          </a:p>
        </p:txBody>
      </p:sp>
      <p:sp>
        <p:nvSpPr>
          <p:cNvPr id="12" name="文本框 5"/>
          <p:cNvSpPr txBox="1"/>
          <p:nvPr/>
        </p:nvSpPr>
        <p:spPr>
          <a:xfrm>
            <a:off x="9746374" y="5144782"/>
            <a:ext cx="298450" cy="368300"/>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solidFill>
                  <a:srgbClr val="FF0000"/>
                </a:solidFill>
              </a:rPr>
              <a:t>4</a:t>
            </a:r>
          </a:p>
        </p:txBody>
      </p:sp>
    </p:spTree>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2794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cs typeface="微软雅黑" panose="020B0503020204020204" pitchFamily="34" charset="-122"/>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微软雅黑" panose="020B0503020204020204" pitchFamily="34" charset="-122"/>
              </a:endParaRPr>
            </a:p>
          </p:txBody>
        </p:sp>
        <p:sp>
          <p:nvSpPr>
            <p:cNvPr id="19" name="文本框 18"/>
            <p:cNvSpPr txBox="1"/>
            <p:nvPr/>
          </p:nvSpPr>
          <p:spPr>
            <a:xfrm>
              <a:off x="799908" y="334468"/>
              <a:ext cx="1338788" cy="466581"/>
            </a:xfrm>
            <a:prstGeom prst="rect">
              <a:avLst/>
            </a:prstGeom>
            <a:noFill/>
          </p:spPr>
          <p:txBody>
            <a:bodyPr wrap="square" lIns="68580" tIns="34290" rIns="68580" bIns="34290" rtlCol="0">
              <a:spAutoFit/>
            </a:bodyPr>
            <a:lstStyle/>
            <a:p>
              <a:r>
                <a:rPr lang="en-US" altLang="zh-CN" sz="6600" dirty="0">
                  <a:solidFill>
                    <a:schemeClr val="bg1">
                      <a:lumMod val="95000"/>
                    </a:schemeClr>
                  </a:solidFill>
                  <a:latin typeface="Impact" panose="020B0806030902050204" pitchFamily="34" charset="0"/>
                  <a:cs typeface="微软雅黑" panose="020B0503020204020204" pitchFamily="34" charset="-122"/>
                </a:rPr>
                <a:t>7</a:t>
              </a:r>
            </a:p>
          </p:txBody>
        </p:sp>
      </p:grpSp>
      <p:sp>
        <p:nvSpPr>
          <p:cNvPr id="20" name="TextBox 48"/>
          <p:cNvSpPr txBox="1"/>
          <p:nvPr/>
        </p:nvSpPr>
        <p:spPr>
          <a:xfrm>
            <a:off x="4702810" y="2737485"/>
            <a:ext cx="6250940" cy="622300"/>
          </a:xfrm>
          <a:prstGeom prst="rect">
            <a:avLst/>
          </a:prstGeom>
          <a:noFill/>
        </p:spPr>
        <p:txBody>
          <a:bodyPr wrap="square" lIns="68584" tIns="34291" rIns="68584" bIns="34291" rtlCol="0">
            <a:spAutoFit/>
          </a:bodyPr>
          <a:lstStyle/>
          <a:p>
            <a:r>
              <a:rPr sz="36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柠檬酸循环的双重作用</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7" name="文本占位符 359426"/>
          <p:cNvSpPr>
            <a:spLocks noGrp="1" noChangeArrowheads="1"/>
          </p:cNvSpPr>
          <p:nvPr>
            <p:ph idx="4294967295"/>
          </p:nvPr>
        </p:nvSpPr>
        <p:spPr>
          <a:xfrm>
            <a:off x="176981" y="1544996"/>
            <a:ext cx="7246374" cy="4111625"/>
          </a:xfrm>
        </p:spPr>
        <p:txBody>
          <a:bodyPr>
            <a:normAutofit/>
          </a:bodyPr>
          <a:lstStyle/>
          <a:p>
            <a:pPr>
              <a:lnSpc>
                <a:spcPct val="90000"/>
              </a:lnSpc>
              <a:spcBef>
                <a:spcPct val="30000"/>
              </a:spcBef>
              <a:spcAft>
                <a:spcPct val="10000"/>
              </a:spcAft>
            </a:pPr>
            <a:r>
              <a:rPr lang="zh-CN" altLang="en-US" b="1" dirty="0">
                <a:solidFill>
                  <a:srgbClr val="333300"/>
                </a:solidFill>
                <a:latin typeface="微软雅黑" panose="020B0503020204020204" pitchFamily="34" charset="-122"/>
                <a:ea typeface="微软雅黑" panose="020B0503020204020204" pitchFamily="34" charset="-122"/>
              </a:rPr>
              <a:t>主要：供能</a:t>
            </a:r>
            <a:endParaRPr lang="zh-CN" altLang="en-US" dirty="0">
              <a:solidFill>
                <a:srgbClr val="333300"/>
              </a:solidFill>
              <a:latin typeface="微软雅黑" panose="020B0503020204020204" pitchFamily="34" charset="-122"/>
              <a:ea typeface="微软雅黑" panose="020B0503020204020204" pitchFamily="34" charset="-122"/>
            </a:endParaRPr>
          </a:p>
          <a:p>
            <a:pPr marL="0" indent="0">
              <a:spcBef>
                <a:spcPct val="30000"/>
              </a:spcBef>
              <a:spcAft>
                <a:spcPct val="10000"/>
              </a:spcAft>
              <a:buNone/>
            </a:pPr>
            <a:r>
              <a:rPr lang="zh-CN" altLang="en-US" dirty="0">
                <a:solidFill>
                  <a:srgbClr val="333300"/>
                </a:solidFill>
                <a:latin typeface="微软雅黑" panose="020B0503020204020204" pitchFamily="34" charset="-122"/>
                <a:ea typeface="微软雅黑" panose="020B0503020204020204" pitchFamily="34" charset="-122"/>
              </a:rPr>
              <a:t>为生物合成提供中间物。</a:t>
            </a:r>
          </a:p>
          <a:p>
            <a:pPr marL="0" indent="0">
              <a:spcBef>
                <a:spcPct val="30000"/>
              </a:spcBef>
              <a:spcAft>
                <a:spcPct val="10000"/>
              </a:spcAft>
              <a:buNone/>
            </a:pPr>
            <a:r>
              <a:rPr lang="zh-CN" altLang="en-US" dirty="0">
                <a:solidFill>
                  <a:srgbClr val="333300"/>
                </a:solidFill>
                <a:latin typeface="微软雅黑" panose="020B0503020204020204" pitchFamily="34" charset="-122"/>
                <a:ea typeface="微软雅黑" panose="020B0503020204020204" pitchFamily="34" charset="-122"/>
              </a:rPr>
              <a:t>三大营养物质的最终代谢通路。</a:t>
            </a:r>
          </a:p>
          <a:p>
            <a:pPr marL="0" indent="0">
              <a:spcBef>
                <a:spcPct val="30000"/>
              </a:spcBef>
              <a:spcAft>
                <a:spcPct val="10000"/>
              </a:spcAft>
              <a:buNone/>
            </a:pPr>
            <a:r>
              <a:rPr lang="zh-CN" altLang="en-US" dirty="0">
                <a:solidFill>
                  <a:srgbClr val="333300"/>
                </a:solidFill>
                <a:latin typeface="微软雅黑" panose="020B0503020204020204" pitchFamily="34" charset="-122"/>
                <a:ea typeface="微软雅黑" panose="020B0503020204020204" pitchFamily="34" charset="-122"/>
              </a:rPr>
              <a:t>是</a:t>
            </a:r>
            <a:r>
              <a:rPr lang="en-US" altLang="zh-CN" dirty="0">
                <a:solidFill>
                  <a:srgbClr val="333300"/>
                </a:solidFill>
                <a:latin typeface="微软雅黑" panose="020B0503020204020204" pitchFamily="34" charset="-122"/>
                <a:ea typeface="微软雅黑" panose="020B0503020204020204" pitchFamily="34" charset="-122"/>
              </a:rPr>
              <a:t>CO</a:t>
            </a:r>
            <a:r>
              <a:rPr lang="en-US" altLang="zh-CN" baseline="-25000" dirty="0">
                <a:solidFill>
                  <a:srgbClr val="333300"/>
                </a:solidFill>
                <a:latin typeface="微软雅黑" panose="020B0503020204020204" pitchFamily="34" charset="-122"/>
                <a:ea typeface="微软雅黑" panose="020B0503020204020204" pitchFamily="34" charset="-122"/>
              </a:rPr>
              <a:t>2</a:t>
            </a:r>
            <a:r>
              <a:rPr lang="zh-CN" altLang="en-US" dirty="0">
                <a:solidFill>
                  <a:srgbClr val="333300"/>
                </a:solidFill>
                <a:latin typeface="微软雅黑" panose="020B0503020204020204" pitchFamily="34" charset="-122"/>
                <a:ea typeface="微软雅黑" panose="020B0503020204020204" pitchFamily="34" charset="-122"/>
              </a:rPr>
              <a:t>的重要来源之一。</a:t>
            </a:r>
          </a:p>
          <a:p>
            <a:pPr>
              <a:lnSpc>
                <a:spcPct val="90000"/>
              </a:lnSpc>
              <a:buFontTx/>
              <a:buNone/>
            </a:pPr>
            <a:endParaRPr lang="zh-CN" altLang="en-US" dirty="0">
              <a:solidFill>
                <a:srgbClr val="333300"/>
              </a:solidFill>
              <a:latin typeface="微软雅黑" panose="020B0503020204020204" pitchFamily="34" charset="-122"/>
              <a:ea typeface="微软雅黑" panose="020B0503020204020204" pitchFamily="34" charset="-122"/>
            </a:endParaRPr>
          </a:p>
          <a:p>
            <a:pPr>
              <a:lnSpc>
                <a:spcPct val="90000"/>
              </a:lnSpc>
              <a:buFontTx/>
              <a:buNone/>
            </a:pPr>
            <a:r>
              <a:rPr lang="zh-CN" altLang="en-US" dirty="0">
                <a:solidFill>
                  <a:srgbClr val="FF0000"/>
                </a:solidFill>
                <a:latin typeface="微软雅黑" panose="020B0503020204020204" pitchFamily="34" charset="-122"/>
                <a:ea typeface="微软雅黑" panose="020B0503020204020204" pitchFamily="34" charset="-122"/>
              </a:rPr>
              <a:t>两用代谢途径</a:t>
            </a:r>
            <a:r>
              <a:rPr lang="zh-CN" altLang="en-US" sz="2000" dirty="0">
                <a:solidFill>
                  <a:srgbClr val="FF0000"/>
                </a:solidFill>
                <a:latin typeface="微软雅黑" panose="020B0503020204020204" pitchFamily="34" charset="-122"/>
                <a:ea typeface="微软雅黑" panose="020B0503020204020204" pitchFamily="34" charset="-122"/>
              </a:rPr>
              <a:t>    </a:t>
            </a:r>
            <a:r>
              <a:rPr lang="zh-CN" altLang="en-US" sz="1800" dirty="0">
                <a:solidFill>
                  <a:srgbClr val="FF0000"/>
                </a:solidFill>
                <a:latin typeface="微软雅黑" panose="020B0503020204020204" pitchFamily="34" charset="-122"/>
                <a:ea typeface="微软雅黑" panose="020B0503020204020204" pitchFamily="34" charset="-122"/>
              </a:rPr>
              <a:t> </a:t>
            </a:r>
          </a:p>
        </p:txBody>
      </p:sp>
      <p:sp>
        <p:nvSpPr>
          <p:cNvPr id="2" name="文本框 1"/>
          <p:cNvSpPr txBox="1"/>
          <p:nvPr/>
        </p:nvSpPr>
        <p:spPr>
          <a:xfrm>
            <a:off x="176981" y="-134417"/>
            <a:ext cx="5314275" cy="906915"/>
          </a:xfrm>
          <a:prstGeom prst="rect">
            <a:avLst/>
          </a:prstGeom>
          <a:noFill/>
        </p:spPr>
        <p:txBody>
          <a:bodyPr wrap="none" rtlCol="0" anchor="t">
            <a:spAutoFit/>
          </a:bodyPr>
          <a:lstStyle/>
          <a:p>
            <a:pPr>
              <a:lnSpc>
                <a:spcPct val="150000"/>
              </a:lnSpc>
            </a:pP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柠檬酸循环的双重作用</a:t>
            </a:r>
            <a:endPar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 name="图片 3">
            <a:extLst>
              <a:ext uri="{FF2B5EF4-FFF2-40B4-BE49-F238E27FC236}">
                <a16:creationId xmlns:a16="http://schemas.microsoft.com/office/drawing/2014/main" id="{C1F3C718-3B48-E6CF-341A-11816103696D}"/>
              </a:ext>
            </a:extLst>
          </p:cNvPr>
          <p:cNvPicPr>
            <a:picLocks noChangeAspect="1"/>
          </p:cNvPicPr>
          <p:nvPr/>
        </p:nvPicPr>
        <p:blipFill>
          <a:blip r:embed="rId2"/>
          <a:stretch>
            <a:fillRect/>
          </a:stretch>
        </p:blipFill>
        <p:spPr>
          <a:xfrm>
            <a:off x="5805237" y="0"/>
            <a:ext cx="6386763" cy="6858000"/>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94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94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94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942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94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7"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218119"/>
          <p:cNvSpPr>
            <a:spLocks noChangeArrowheads="1"/>
          </p:cNvSpPr>
          <p:nvPr/>
        </p:nvSpPr>
        <p:spPr bwMode="auto">
          <a:xfrm>
            <a:off x="264938" y="1710218"/>
            <a:ext cx="1442720" cy="461665"/>
          </a:xfrm>
          <a:prstGeom prst="rect">
            <a:avLst/>
          </a:prstGeom>
          <a:solidFill>
            <a:schemeClr val="accent3">
              <a:lumMod val="20000"/>
              <a:lumOff val="80000"/>
            </a:schemeClr>
          </a:solidFill>
          <a:ln w="9525">
            <a:noFill/>
            <a:miter lim="800000"/>
          </a:ln>
        </p:spPr>
        <p:txBody>
          <a:bodyPr wrap="square">
            <a:spAutoFit/>
          </a:bodyPr>
          <a:lstStyle>
            <a:lvl1pPr algn="ctr">
              <a:defRPr sz="7200">
                <a:solidFill>
                  <a:schemeClr val="accent2"/>
                </a:solidFill>
                <a:latin typeface="Times New Roman" panose="02020603050405020304" pitchFamily="18" charset="0"/>
                <a:ea typeface="宋体" panose="02010600030101010101" pitchFamily="2" charset="-122"/>
              </a:defRPr>
            </a:lvl1pPr>
            <a:lvl2pPr algn="ctr">
              <a:defRPr sz="7200">
                <a:solidFill>
                  <a:schemeClr val="accent2"/>
                </a:solidFill>
                <a:latin typeface="Times New Roman" panose="02020603050405020304" pitchFamily="18" charset="0"/>
                <a:ea typeface="宋体" panose="02010600030101010101" pitchFamily="2" charset="-122"/>
              </a:defRPr>
            </a:lvl2pPr>
            <a:lvl3pPr algn="ctr">
              <a:defRPr sz="7200">
                <a:solidFill>
                  <a:schemeClr val="accent2"/>
                </a:solidFill>
                <a:latin typeface="Times New Roman" panose="02020603050405020304" pitchFamily="18" charset="0"/>
                <a:ea typeface="宋体" panose="02010600030101010101" pitchFamily="2" charset="-122"/>
              </a:defRPr>
            </a:lvl3pPr>
            <a:lvl4pPr algn="ctr">
              <a:defRPr sz="7200">
                <a:solidFill>
                  <a:schemeClr val="accent2"/>
                </a:solidFill>
                <a:latin typeface="Times New Roman" panose="02020603050405020304" pitchFamily="18" charset="0"/>
                <a:ea typeface="宋体" panose="02010600030101010101" pitchFamily="2" charset="-122"/>
              </a:defRPr>
            </a:lvl4pPr>
            <a:lvl5pPr algn="ctr">
              <a:defRPr sz="7200">
                <a:solidFill>
                  <a:schemeClr val="accent2"/>
                </a:solidFill>
                <a:latin typeface="Times New Roman" panose="02020603050405020304" pitchFamily="18" charset="0"/>
                <a:ea typeface="宋体" panose="02010600030101010101" pitchFamily="2" charset="-122"/>
              </a:defRPr>
            </a:lvl5pPr>
            <a:lvl6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6pPr>
            <a:lvl7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7pPr>
            <a:lvl8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8pPr>
            <a:lvl9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9pPr>
          </a:lstStyle>
          <a:p>
            <a:pPr algn="l"/>
            <a:r>
              <a:rPr lang="zh-CN" altLang="en-US" sz="2400" b="1" dirty="0">
                <a:solidFill>
                  <a:schemeClr val="tx1"/>
                </a:solidFill>
                <a:latin typeface="微软雅黑" panose="020B0503020204020204" pitchFamily="34" charset="-122"/>
                <a:ea typeface="微软雅黑" panose="020B0503020204020204" pitchFamily="34" charset="-122"/>
              </a:rPr>
              <a:t>添补反应</a:t>
            </a:r>
            <a:endParaRPr lang="en-US" altLang="zh-CN" sz="2400" b="1" dirty="0">
              <a:solidFill>
                <a:schemeClr val="tx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9948" y="0"/>
            <a:ext cx="8672052" cy="6867210"/>
          </a:xfrm>
          <a:prstGeom prst="rect">
            <a:avLst/>
          </a:prstGeom>
          <a:ln>
            <a:noFill/>
          </a:ln>
        </p:spPr>
      </p:pic>
      <p:sp>
        <p:nvSpPr>
          <p:cNvPr id="11" name="弧形 10"/>
          <p:cNvSpPr/>
          <p:nvPr/>
        </p:nvSpPr>
        <p:spPr>
          <a:xfrm>
            <a:off x="6112096" y="1409883"/>
            <a:ext cx="1158240" cy="762000"/>
          </a:xfrm>
          <a:prstGeom prst="arc">
            <a:avLst>
              <a:gd name="adj1" fmla="val 11390856"/>
              <a:gd name="adj2" fmla="val 475109"/>
            </a:avLst>
          </a:prstGeom>
          <a:ln w="19050">
            <a:solidFill>
              <a:schemeClr val="tx1"/>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 name="直接箭头连接符 12"/>
          <p:cNvCxnSpPr/>
          <p:nvPr/>
        </p:nvCxnSpPr>
        <p:spPr>
          <a:xfrm flipH="1">
            <a:off x="8385810" y="2097405"/>
            <a:ext cx="551180" cy="584200"/>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a:off x="9003959" y="3690965"/>
            <a:ext cx="477520" cy="0"/>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98324" y="2373747"/>
            <a:ext cx="3110544" cy="1005788"/>
          </a:xfrm>
          <a:prstGeom prst="rect">
            <a:avLst/>
          </a:prstGeom>
          <a:noFill/>
        </p:spPr>
        <p:txBody>
          <a:bodyPr wrap="square" rtlCol="0">
            <a:spAutoFit/>
          </a:bodyPr>
          <a:lstStyle/>
          <a:p>
            <a:pPr>
              <a:lnSpc>
                <a:spcPct val="130000"/>
              </a:lnSpc>
              <a:spcBef>
                <a:spcPts val="1200"/>
              </a:spcBef>
              <a:spcAft>
                <a:spcPct val="10000"/>
              </a:spcAft>
            </a:pPr>
            <a:r>
              <a:rPr lang="zh-CN" altLang="en-US" sz="2400" dirty="0">
                <a:solidFill>
                  <a:srgbClr val="333300"/>
                </a:solidFill>
                <a:latin typeface="微软雅黑" panose="020B0503020204020204" pitchFamily="34" charset="-122"/>
                <a:ea typeface="微软雅黑" panose="020B0503020204020204" pitchFamily="34" charset="-122"/>
              </a:rPr>
              <a:t>为生物合成提供前体，</a:t>
            </a:r>
            <a:r>
              <a:rPr lang="zh-CN" altLang="en-US" sz="2400" dirty="0">
                <a:latin typeface="微软雅黑" panose="020B0503020204020204" pitchFamily="34" charset="-122"/>
                <a:ea typeface="微软雅黑" panose="020B0503020204020204" pitchFamily="34" charset="-122"/>
              </a:rPr>
              <a:t>所以需添补中间产物。</a:t>
            </a:r>
            <a:endParaRPr lang="en-US" altLang="zh-CN" sz="2400" dirty="0">
              <a:latin typeface="微软雅黑" panose="020B0503020204020204" pitchFamily="34" charset="-122"/>
              <a:ea typeface="微软雅黑" panose="020B0503020204020204" pitchFamily="34" charset="-122"/>
            </a:endParaRPr>
          </a:p>
        </p:txBody>
      </p:sp>
      <p:cxnSp>
        <p:nvCxnSpPr>
          <p:cNvPr id="10" name="直接箭头连接符 9"/>
          <p:cNvCxnSpPr/>
          <p:nvPr/>
        </p:nvCxnSpPr>
        <p:spPr>
          <a:xfrm flipV="1">
            <a:off x="5607365" y="3219567"/>
            <a:ext cx="397368" cy="419329"/>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88496" y="202983"/>
            <a:ext cx="3262432" cy="581057"/>
          </a:xfrm>
          <a:prstGeom prst="rect">
            <a:avLst/>
          </a:prstGeom>
          <a:noFill/>
        </p:spPr>
        <p:txBody>
          <a:bodyPr wrap="none" rtlCol="0" anchor="t">
            <a:spAutoFit/>
          </a:bodyPr>
          <a:lstStyle/>
          <a:p>
            <a:pPr>
              <a:lnSpc>
                <a:spcPct val="150000"/>
              </a:lnSpc>
            </a:pPr>
            <a:r>
              <a:rPr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柠檬酸循环的双重作用</a:t>
            </a:r>
            <a:endParaRPr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60" name="Rectangle 4">
            <a:extLst>
              <a:ext uri="{FF2B5EF4-FFF2-40B4-BE49-F238E27FC236}">
                <a16:creationId xmlns:a16="http://schemas.microsoft.com/office/drawing/2014/main" id="{1C8CD02D-2AD3-BB0F-75BB-CD151F416647}"/>
              </a:ext>
            </a:extLst>
          </p:cNvPr>
          <p:cNvSpPr>
            <a:spLocks noChangeArrowheads="1"/>
          </p:cNvSpPr>
          <p:nvPr/>
        </p:nvSpPr>
        <p:spPr bwMode="auto">
          <a:xfrm>
            <a:off x="1524001" y="1021834"/>
            <a:ext cx="184731" cy="369332"/>
          </a:xfrm>
          <a:prstGeom prst="rect">
            <a:avLst/>
          </a:prstGeom>
          <a:noFill/>
          <a:ln>
            <a:noFill/>
          </a:ln>
          <a:effectLst/>
          <a:extLst>
            <a:ext uri="{909E8E84-426E-40dd-AFC4-6F175D3DCCD1}"/>
            <a:ext uri="{91240B29-F687-4f45-9708-019B960494DF}"/>
            <a:ext uri="{AF507438-7753-43e0-B8FC-AC1667EBCBE1}"/>
          </a:extLst>
        </p:spPr>
        <p:txBody>
          <a:bodyPr wrap="none" anchor="ctr">
            <a:spAutoFit/>
          </a:bodyPr>
          <a:lstStyle/>
          <a:p>
            <a:pPr>
              <a:defRPr/>
            </a:pPr>
            <a:endParaRPr lang="zh-CN" altLang="en-US">
              <a:effectLst>
                <a:outerShdw blurRad="38100" dist="38100" dir="2700000" algn="tl">
                  <a:srgbClr val="000000">
                    <a:alpha val="43137"/>
                  </a:srgbClr>
                </a:outerShdw>
              </a:effectLst>
              <a:latin typeface="Times" charset="0"/>
              <a:ea typeface="宋体" charset="0"/>
            </a:endParaRPr>
          </a:p>
        </p:txBody>
      </p:sp>
      <p:sp>
        <p:nvSpPr>
          <p:cNvPr id="37891" name="Rectangle 5">
            <a:extLst>
              <a:ext uri="{FF2B5EF4-FFF2-40B4-BE49-F238E27FC236}">
                <a16:creationId xmlns:a16="http://schemas.microsoft.com/office/drawing/2014/main" id="{9064CE2E-E6D2-EEF1-4F39-C86023C9F86F}"/>
              </a:ext>
            </a:extLst>
          </p:cNvPr>
          <p:cNvSpPr>
            <a:spLocks noChangeArrowheads="1"/>
          </p:cNvSpPr>
          <p:nvPr/>
        </p:nvSpPr>
        <p:spPr bwMode="auto">
          <a:xfrm>
            <a:off x="4943475" y="6461125"/>
            <a:ext cx="2520950" cy="396875"/>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000" b="1" dirty="0">
                <a:ea typeface="楷体" panose="02010609060101010101" pitchFamily="49" charset="-122"/>
              </a:rPr>
              <a:t>草酰乙酸的回补反应</a:t>
            </a:r>
            <a:endParaRPr kumimoji="0" lang="zh-CN" altLang="en-US" sz="2000" dirty="0">
              <a:ea typeface="楷体" panose="02010609060101010101" pitchFamily="49" charset="-122"/>
            </a:endParaRPr>
          </a:p>
        </p:txBody>
      </p:sp>
      <p:pic>
        <p:nvPicPr>
          <p:cNvPr id="37892" name="Picture 7" descr="23-8">
            <a:extLst>
              <a:ext uri="{FF2B5EF4-FFF2-40B4-BE49-F238E27FC236}">
                <a16:creationId xmlns:a16="http://schemas.microsoft.com/office/drawing/2014/main" id="{3B2E021E-BBD8-4A04-CAFF-9DCB890905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530" y="0"/>
            <a:ext cx="6980693" cy="646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5588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cs typeface="微软雅黑" panose="020B0503020204020204" pitchFamily="34" charset="-122"/>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微软雅黑" panose="020B0503020204020204" pitchFamily="34" charset="-122"/>
              </a:endParaRPr>
            </a:p>
          </p:txBody>
        </p:sp>
        <p:sp>
          <p:nvSpPr>
            <p:cNvPr id="19" name="文本框 18"/>
            <p:cNvSpPr txBox="1"/>
            <p:nvPr/>
          </p:nvSpPr>
          <p:spPr>
            <a:xfrm>
              <a:off x="799908" y="334468"/>
              <a:ext cx="1338788" cy="466581"/>
            </a:xfrm>
            <a:prstGeom prst="rect">
              <a:avLst/>
            </a:prstGeom>
            <a:noFill/>
          </p:spPr>
          <p:txBody>
            <a:bodyPr wrap="square" lIns="68580" tIns="34290" rIns="68580" bIns="34290" rtlCol="0">
              <a:spAutoFit/>
            </a:bodyPr>
            <a:lstStyle/>
            <a:p>
              <a:r>
                <a:rPr lang="en-US" altLang="zh-CN" sz="6600" dirty="0">
                  <a:solidFill>
                    <a:schemeClr val="bg1">
                      <a:lumMod val="95000"/>
                    </a:schemeClr>
                  </a:solidFill>
                  <a:latin typeface="Impact" panose="020B0806030902050204" pitchFamily="34" charset="0"/>
                  <a:cs typeface="微软雅黑" panose="020B0503020204020204" pitchFamily="34" charset="-122"/>
                </a:rPr>
                <a:t>8</a:t>
              </a:r>
            </a:p>
          </p:txBody>
        </p:sp>
      </p:grpSp>
      <p:sp>
        <p:nvSpPr>
          <p:cNvPr id="20" name="TextBox 48"/>
          <p:cNvSpPr txBox="1"/>
          <p:nvPr/>
        </p:nvSpPr>
        <p:spPr>
          <a:xfrm>
            <a:off x="4702810" y="2737486"/>
            <a:ext cx="6250940" cy="807085"/>
          </a:xfrm>
          <a:prstGeom prst="rect">
            <a:avLst/>
          </a:prstGeom>
          <a:noFill/>
        </p:spPr>
        <p:txBody>
          <a:bodyPr wrap="square" lIns="68584" tIns="34291" rIns="68584" bIns="34291" rtlCol="0">
            <a:spAutoFit/>
          </a:bodyPr>
          <a:lstStyle/>
          <a:p>
            <a:r>
              <a:rPr sz="48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乙醛酸途径</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7554" name="文本框 407553"/>
          <p:cNvSpPr txBox="1">
            <a:spLocks noChangeArrowheads="1"/>
          </p:cNvSpPr>
          <p:nvPr/>
        </p:nvSpPr>
        <p:spPr bwMode="auto">
          <a:xfrm>
            <a:off x="7398597" y="4814147"/>
            <a:ext cx="1291590" cy="521970"/>
          </a:xfrm>
          <a:prstGeom prst="rect">
            <a:avLst/>
          </a:prstGeom>
          <a:solidFill>
            <a:schemeClr val="bg2">
              <a:lumMod val="90000"/>
            </a:schemeClr>
          </a:solidFill>
          <a:ln>
            <a:noFill/>
          </a:ln>
        </p:spPr>
        <p:txBody>
          <a:bodyPr wrap="square">
            <a:spAutoFit/>
          </a:bodyPr>
          <a:lstStyle>
            <a:lvl1pPr algn="ctr">
              <a:defRPr sz="7200">
                <a:solidFill>
                  <a:schemeClr val="accent2"/>
                </a:solidFill>
                <a:latin typeface="Times New Roman" panose="02020603050405020304" pitchFamily="18" charset="0"/>
                <a:ea typeface="宋体" panose="02010600030101010101" pitchFamily="2" charset="-122"/>
              </a:defRPr>
            </a:lvl1pPr>
            <a:lvl2pPr algn="ctr">
              <a:defRPr sz="7200">
                <a:solidFill>
                  <a:schemeClr val="accent2"/>
                </a:solidFill>
                <a:latin typeface="Times New Roman" panose="02020603050405020304" pitchFamily="18" charset="0"/>
                <a:ea typeface="宋体" panose="02010600030101010101" pitchFamily="2" charset="-122"/>
              </a:defRPr>
            </a:lvl2pPr>
            <a:lvl3pPr algn="ctr">
              <a:defRPr sz="7200">
                <a:solidFill>
                  <a:schemeClr val="accent2"/>
                </a:solidFill>
                <a:latin typeface="Times New Roman" panose="02020603050405020304" pitchFamily="18" charset="0"/>
                <a:ea typeface="宋体" panose="02010600030101010101" pitchFamily="2" charset="-122"/>
              </a:defRPr>
            </a:lvl3pPr>
            <a:lvl4pPr algn="ctr">
              <a:defRPr sz="7200">
                <a:solidFill>
                  <a:schemeClr val="accent2"/>
                </a:solidFill>
                <a:latin typeface="Times New Roman" panose="02020603050405020304" pitchFamily="18" charset="0"/>
                <a:ea typeface="宋体" panose="02010600030101010101" pitchFamily="2" charset="-122"/>
              </a:defRPr>
            </a:lvl4pPr>
            <a:lvl5pPr algn="ctr">
              <a:defRPr sz="7200">
                <a:solidFill>
                  <a:schemeClr val="accent2"/>
                </a:solidFill>
                <a:latin typeface="Times New Roman" panose="02020603050405020304" pitchFamily="18" charset="0"/>
                <a:ea typeface="宋体" panose="02010600030101010101" pitchFamily="2" charset="-122"/>
              </a:defRPr>
            </a:lvl5pPr>
            <a:lvl6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6pPr>
            <a:lvl7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7pPr>
            <a:lvl8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8pPr>
            <a:lvl9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9pPr>
          </a:lstStyle>
          <a:p>
            <a:pPr lvl="0" algn="ctr">
              <a:spcBef>
                <a:spcPct val="50000"/>
              </a:spcBef>
              <a:buClrTx/>
              <a:buSzTx/>
              <a:buFontTx/>
            </a:pPr>
            <a:r>
              <a:rPr lang="zh-CN" altLang="en-US" sz="2800" b="1">
                <a:solidFill>
                  <a:srgbClr val="0000CC"/>
                </a:solidFill>
                <a:latin typeface="微软雅黑" panose="020B0503020204020204" pitchFamily="34" charset="-122"/>
                <a:ea typeface="微软雅黑" panose="020B0503020204020204" pitchFamily="34" charset="-122"/>
                <a:sym typeface="+mn-ea"/>
              </a:rPr>
              <a:t>糖异生</a:t>
            </a:r>
          </a:p>
        </p:txBody>
      </p:sp>
      <p:sp>
        <p:nvSpPr>
          <p:cNvPr id="407555" name="文本框 407554"/>
          <p:cNvSpPr txBox="1"/>
          <p:nvPr/>
        </p:nvSpPr>
        <p:spPr>
          <a:xfrm>
            <a:off x="2750397" y="1232747"/>
            <a:ext cx="2362200" cy="1079500"/>
          </a:xfrm>
          <a:prstGeom prst="rect">
            <a:avLst/>
          </a:prstGeom>
          <a:solidFill>
            <a:schemeClr val="accent5">
              <a:lumMod val="20000"/>
              <a:lumOff val="80000"/>
            </a:schemeClr>
          </a:solidFill>
          <a:ln w="12700" cap="flat" cmpd="sng">
            <a:solidFill>
              <a:srgbClr val="FFFF66"/>
            </a:solidFill>
            <a:prstDash val="solid"/>
            <a:miter/>
            <a:headEnd type="none" w="med" len="med"/>
            <a:tailEnd type="none" w="med" len="med"/>
          </a:ln>
        </p:spPr>
        <p:txBody>
          <a:bodyPr>
            <a:spAutoFit/>
          </a:bodyPr>
          <a:lstStyle/>
          <a:p>
            <a:pPr algn="ctr">
              <a:spcBef>
                <a:spcPct val="50000"/>
              </a:spcBef>
            </a:pPr>
            <a:r>
              <a:rPr lang="zh-CN" altLang="en-US" sz="3200" b="1" noProof="1">
                <a:solidFill>
                  <a:schemeClr val="accent6"/>
                </a:solidFill>
                <a:effectLst>
                  <a:outerShdw blurRad="38100" dist="38100" dir="2700000">
                    <a:srgbClr val="000000"/>
                  </a:outerShdw>
                </a:effectLst>
                <a:latin typeface="微软雅黑" panose="020B0503020204020204" pitchFamily="34" charset="-122"/>
                <a:ea typeface="微软雅黑" panose="020B0503020204020204" pitchFamily="34" charset="-122"/>
                <a:cs typeface="+mn-ea"/>
              </a:rPr>
              <a:t>油类植物种子中的油</a:t>
            </a:r>
          </a:p>
        </p:txBody>
      </p:sp>
      <p:sp>
        <p:nvSpPr>
          <p:cNvPr id="407556" name="文本框 407555"/>
          <p:cNvSpPr txBox="1">
            <a:spLocks noChangeArrowheads="1"/>
          </p:cNvSpPr>
          <p:nvPr/>
        </p:nvSpPr>
        <p:spPr bwMode="auto">
          <a:xfrm>
            <a:off x="5284683" y="1232747"/>
            <a:ext cx="1255395" cy="521970"/>
          </a:xfrm>
          <a:prstGeom prst="rect">
            <a:avLst/>
          </a:prstGeom>
          <a:solidFill>
            <a:schemeClr val="bg2">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sz="7200">
                <a:solidFill>
                  <a:schemeClr val="accent2"/>
                </a:solidFill>
                <a:latin typeface="Times New Roman" panose="02020603050405020304" pitchFamily="18" charset="0"/>
                <a:ea typeface="宋体" panose="02010600030101010101" pitchFamily="2" charset="-122"/>
              </a:defRPr>
            </a:lvl1pPr>
            <a:lvl2pPr algn="ctr">
              <a:defRPr sz="7200">
                <a:solidFill>
                  <a:schemeClr val="accent2"/>
                </a:solidFill>
                <a:latin typeface="Times New Roman" panose="02020603050405020304" pitchFamily="18" charset="0"/>
                <a:ea typeface="宋体" panose="02010600030101010101" pitchFamily="2" charset="-122"/>
              </a:defRPr>
            </a:lvl2pPr>
            <a:lvl3pPr algn="ctr">
              <a:defRPr sz="7200">
                <a:solidFill>
                  <a:schemeClr val="accent2"/>
                </a:solidFill>
                <a:latin typeface="Times New Roman" panose="02020603050405020304" pitchFamily="18" charset="0"/>
                <a:ea typeface="宋体" panose="02010600030101010101" pitchFamily="2" charset="-122"/>
              </a:defRPr>
            </a:lvl3pPr>
            <a:lvl4pPr algn="ctr">
              <a:defRPr sz="7200">
                <a:solidFill>
                  <a:schemeClr val="accent2"/>
                </a:solidFill>
                <a:latin typeface="Times New Roman" panose="02020603050405020304" pitchFamily="18" charset="0"/>
                <a:ea typeface="宋体" panose="02010600030101010101" pitchFamily="2" charset="-122"/>
              </a:defRPr>
            </a:lvl4pPr>
            <a:lvl5pPr algn="ctr">
              <a:defRPr sz="7200">
                <a:solidFill>
                  <a:schemeClr val="accent2"/>
                </a:solidFill>
                <a:latin typeface="Times New Roman" panose="02020603050405020304" pitchFamily="18" charset="0"/>
                <a:ea typeface="宋体" panose="02010600030101010101" pitchFamily="2" charset="-122"/>
              </a:defRPr>
            </a:lvl5pPr>
            <a:lvl6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6pPr>
            <a:lvl7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7pPr>
            <a:lvl8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8pPr>
            <a:lvl9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b="1">
                <a:solidFill>
                  <a:srgbClr val="0000CC"/>
                </a:solidFill>
                <a:latin typeface="微软雅黑" panose="020B0503020204020204" pitchFamily="34" charset="-122"/>
                <a:ea typeface="微软雅黑" panose="020B0503020204020204" pitchFamily="34" charset="-122"/>
              </a:rPr>
              <a:t>脂代谢</a:t>
            </a:r>
          </a:p>
        </p:txBody>
      </p:sp>
      <p:sp>
        <p:nvSpPr>
          <p:cNvPr id="407557" name="文本框 407556"/>
          <p:cNvSpPr txBox="1"/>
          <p:nvPr/>
        </p:nvSpPr>
        <p:spPr>
          <a:xfrm>
            <a:off x="6788998" y="6109548"/>
            <a:ext cx="671513" cy="583565"/>
          </a:xfrm>
          <a:prstGeom prst="rect">
            <a:avLst/>
          </a:prstGeom>
          <a:solidFill>
            <a:schemeClr val="accent5">
              <a:lumMod val="20000"/>
              <a:lumOff val="80000"/>
            </a:schemeClr>
          </a:solidFill>
          <a:ln w="12700" cap="flat" cmpd="sng">
            <a:solidFill>
              <a:srgbClr val="FFFF66"/>
            </a:solidFill>
            <a:prstDash val="solid"/>
            <a:miter/>
            <a:headEnd type="none" w="med" len="med"/>
            <a:tailEnd type="none" w="med" len="med"/>
          </a:ln>
        </p:spPr>
        <p:txBody>
          <a:bodyPr wrap="square">
            <a:spAutoFit/>
          </a:bodyPr>
          <a:lstStyle/>
          <a:p>
            <a:pPr lvl="0" algn="l">
              <a:spcBef>
                <a:spcPct val="50000"/>
              </a:spcBef>
              <a:buClrTx/>
              <a:buSzTx/>
              <a:buFontTx/>
            </a:pPr>
            <a:r>
              <a:rPr lang="zh-CN" altLang="en-US" sz="3200" b="1">
                <a:solidFill>
                  <a:schemeClr val="accent6"/>
                </a:solidFill>
                <a:effectLst>
                  <a:outerShdw blurRad="38100" dist="38100" dir="2700000">
                    <a:srgbClr val="000000"/>
                  </a:outerShdw>
                </a:effectLst>
                <a:latin typeface="微软雅黑" panose="020B0503020204020204" pitchFamily="34" charset="-122"/>
                <a:ea typeface="微软雅黑" panose="020B0503020204020204" pitchFamily="34" charset="-122"/>
                <a:cs typeface="+mn-ea"/>
                <a:sym typeface="+mn-ea"/>
              </a:rPr>
              <a:t>糖</a:t>
            </a:r>
          </a:p>
        </p:txBody>
      </p:sp>
      <p:sp>
        <p:nvSpPr>
          <p:cNvPr id="407558" name="文本框 407557"/>
          <p:cNvSpPr txBox="1"/>
          <p:nvPr/>
        </p:nvSpPr>
        <p:spPr>
          <a:xfrm>
            <a:off x="7460827" y="2847552"/>
            <a:ext cx="2895600" cy="579438"/>
          </a:xfrm>
          <a:prstGeom prst="rect">
            <a:avLst/>
          </a:prstGeom>
          <a:noFill/>
          <a:ln w="9525">
            <a:noFill/>
          </a:ln>
        </p:spPr>
        <p:txBody>
          <a:bodyPr>
            <a:spAutoFit/>
          </a:bodyPr>
          <a:lstStyle/>
          <a:p>
            <a:pPr>
              <a:spcBef>
                <a:spcPct val="50000"/>
              </a:spcBef>
            </a:pPr>
            <a:r>
              <a:rPr lang="zh-CN" altLang="en-US" sz="3200" b="1" noProof="1">
                <a:solidFill>
                  <a:srgbClr val="FF0000"/>
                </a:solidFill>
                <a:effectLst>
                  <a:outerShdw blurRad="38100" dist="38100" dir="2700000">
                    <a:srgbClr val="C0C0C0"/>
                  </a:outerShdw>
                </a:effectLst>
                <a:latin typeface="微软雅黑" panose="020B0503020204020204" pitchFamily="34" charset="-122"/>
                <a:ea typeface="微软雅黑" panose="020B0503020204020204" pitchFamily="34" charset="-122"/>
                <a:cs typeface="+mn-ea"/>
              </a:rPr>
              <a:t>乙醛酸循环</a:t>
            </a:r>
            <a:endParaRPr lang="zh-CN" altLang="en-US" sz="3200" b="1" noProof="1">
              <a:solidFill>
                <a:srgbClr val="FF0000"/>
              </a:solidFill>
              <a:effectLst>
                <a:outerShdw blurRad="38100" dist="38100" dir="2700000">
                  <a:srgbClr val="C0C0C0"/>
                </a:outerShdw>
              </a:effectLst>
              <a:latin typeface="微软雅黑" panose="020B0503020204020204" pitchFamily="34" charset="-122"/>
              <a:ea typeface="微软雅黑" panose="020B0503020204020204" pitchFamily="34" charset="-122"/>
            </a:endParaRPr>
          </a:p>
        </p:txBody>
      </p:sp>
      <p:sp>
        <p:nvSpPr>
          <p:cNvPr id="407559" name="右箭头 407558"/>
          <p:cNvSpPr>
            <a:spLocks noChangeArrowheads="1"/>
          </p:cNvSpPr>
          <p:nvPr/>
        </p:nvSpPr>
        <p:spPr bwMode="auto">
          <a:xfrm>
            <a:off x="5188797" y="1795357"/>
            <a:ext cx="1447800" cy="427990"/>
          </a:xfrm>
          <a:prstGeom prst="rightArrow">
            <a:avLst>
              <a:gd name="adj1" fmla="val 50000"/>
              <a:gd name="adj2" fmla="val 67845"/>
            </a:avLst>
          </a:prstGeom>
          <a:solidFill>
            <a:schemeClr val="accent6">
              <a:lumMod val="60000"/>
              <a:lumOff val="40000"/>
            </a:schemeClr>
          </a:solidFill>
          <a:ln w="9525">
            <a:solidFill>
              <a:schemeClr val="tx1"/>
            </a:solidFill>
            <a:miter lim="800000"/>
          </a:ln>
        </p:spPr>
        <p:txBody>
          <a:bodyPr/>
          <a:lstStyle>
            <a:lvl1pPr algn="ctr">
              <a:defRPr sz="7200">
                <a:solidFill>
                  <a:schemeClr val="accent2"/>
                </a:solidFill>
                <a:latin typeface="Times New Roman" panose="02020603050405020304" pitchFamily="18" charset="0"/>
                <a:ea typeface="宋体" panose="02010600030101010101" pitchFamily="2" charset="-122"/>
              </a:defRPr>
            </a:lvl1pPr>
            <a:lvl2pPr algn="ctr">
              <a:defRPr sz="7200">
                <a:solidFill>
                  <a:schemeClr val="accent2"/>
                </a:solidFill>
                <a:latin typeface="Times New Roman" panose="02020603050405020304" pitchFamily="18" charset="0"/>
                <a:ea typeface="宋体" panose="02010600030101010101" pitchFamily="2" charset="-122"/>
              </a:defRPr>
            </a:lvl2pPr>
            <a:lvl3pPr algn="ctr">
              <a:defRPr sz="7200">
                <a:solidFill>
                  <a:schemeClr val="accent2"/>
                </a:solidFill>
                <a:latin typeface="Times New Roman" panose="02020603050405020304" pitchFamily="18" charset="0"/>
                <a:ea typeface="宋体" panose="02010600030101010101" pitchFamily="2" charset="-122"/>
              </a:defRPr>
            </a:lvl3pPr>
            <a:lvl4pPr algn="ctr">
              <a:defRPr sz="7200">
                <a:solidFill>
                  <a:schemeClr val="accent2"/>
                </a:solidFill>
                <a:latin typeface="Times New Roman" panose="02020603050405020304" pitchFamily="18" charset="0"/>
                <a:ea typeface="宋体" panose="02010600030101010101" pitchFamily="2" charset="-122"/>
              </a:defRPr>
            </a:lvl4pPr>
            <a:lvl5pPr algn="ctr">
              <a:defRPr sz="7200">
                <a:solidFill>
                  <a:schemeClr val="accent2"/>
                </a:solidFill>
                <a:latin typeface="Times New Roman" panose="02020603050405020304" pitchFamily="18" charset="0"/>
                <a:ea typeface="宋体" panose="02010600030101010101" pitchFamily="2" charset="-122"/>
              </a:defRPr>
            </a:lvl5pPr>
            <a:lvl6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6pPr>
            <a:lvl7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7pPr>
            <a:lvl8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8pPr>
            <a:lvl9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9pPr>
          </a:lstStyle>
          <a:p>
            <a:endParaRPr lang="zh-CN" altLang="en-US">
              <a:latin typeface="微软雅黑" panose="020B0503020204020204" pitchFamily="34" charset="-122"/>
              <a:ea typeface="微软雅黑" panose="020B0503020204020204" pitchFamily="34" charset="-122"/>
            </a:endParaRPr>
          </a:p>
        </p:txBody>
      </p:sp>
      <p:sp>
        <p:nvSpPr>
          <p:cNvPr id="407560" name="文本框 407559"/>
          <p:cNvSpPr txBox="1"/>
          <p:nvPr/>
        </p:nvSpPr>
        <p:spPr>
          <a:xfrm>
            <a:off x="6355927" y="4070563"/>
            <a:ext cx="1757680" cy="583565"/>
          </a:xfrm>
          <a:prstGeom prst="rect">
            <a:avLst/>
          </a:prstGeom>
        </p:spPr>
        <p:txBody>
          <a:bodyPr vert="horz" wrap="square" lIns="91440" tIns="45720" rIns="91440" bIns="45720" rtlCol="0">
            <a:normAutofit/>
          </a:bodyPr>
          <a:lstStyle/>
          <a:p>
            <a:pPr marL="228600" indent="-228600" defTabSz="914400">
              <a:lnSpc>
                <a:spcPct val="90000"/>
              </a:lnSpc>
              <a:spcBef>
                <a:spcPct val="50000"/>
              </a:spcBef>
              <a:buClr>
                <a:schemeClr val="bg1"/>
              </a:buClr>
            </a:pPr>
            <a:r>
              <a:rPr lang="zh-CN" altLang="en-US" sz="2800" b="1">
                <a:effectLst>
                  <a:outerShdw blurRad="38100" dist="38100" dir="2700000" algn="tl">
                    <a:srgbClr val="C0C0C0"/>
                  </a:outerShdw>
                </a:effectLst>
                <a:latin typeface="微软雅黑" panose="020B0503020204020204" pitchFamily="34" charset="-122"/>
                <a:ea typeface="微软雅黑" panose="020B0503020204020204" pitchFamily="34" charset="-122"/>
                <a:sym typeface="+mn-ea"/>
              </a:rPr>
              <a:t>草酰乙酸</a:t>
            </a:r>
          </a:p>
        </p:txBody>
      </p:sp>
      <p:sp>
        <p:nvSpPr>
          <p:cNvPr id="407562" name="文本占位符 407561"/>
          <p:cNvSpPr txBox="1">
            <a:spLocks noGrp="1"/>
          </p:cNvSpPr>
          <p:nvPr>
            <p:ph idx="4294967295"/>
          </p:nvPr>
        </p:nvSpPr>
        <p:spPr>
          <a:xfrm>
            <a:off x="6697771" y="1778847"/>
            <a:ext cx="1752600" cy="533400"/>
          </a:xfrm>
        </p:spPr>
        <p:txBody>
          <a:bodyPr>
            <a:normAutofit/>
          </a:bodyPr>
          <a:lstStyle/>
          <a:p>
            <a:pPr>
              <a:spcBef>
                <a:spcPct val="50000"/>
              </a:spcBef>
              <a:buClr>
                <a:schemeClr val="bg1"/>
              </a:buClr>
              <a:buFontTx/>
              <a:buNone/>
            </a:pPr>
            <a:r>
              <a:rPr lang="zh-CN" altLang="en-US" b="1" dirty="0">
                <a:effectLst>
                  <a:outerShdw blurRad="38100" dist="38100" dir="2700000" algn="tl">
                    <a:srgbClr val="C0C0C0"/>
                  </a:outerShdw>
                </a:effectLst>
                <a:latin typeface="微软雅黑" panose="020B0503020204020204" pitchFamily="34" charset="-122"/>
                <a:ea typeface="微软雅黑" panose="020B0503020204020204" pitchFamily="34" charset="-122"/>
              </a:rPr>
              <a:t>乙酰</a:t>
            </a:r>
            <a:r>
              <a:rPr lang="en-US" altLang="zh-CN" b="1" dirty="0">
                <a:effectLst>
                  <a:outerShdw blurRad="38100" dist="38100" dir="2700000" algn="tl">
                    <a:srgbClr val="C0C0C0"/>
                  </a:outerShdw>
                </a:effectLst>
                <a:latin typeface="微软雅黑" panose="020B0503020204020204" pitchFamily="34" charset="-122"/>
                <a:ea typeface="微软雅黑" panose="020B0503020204020204" pitchFamily="34" charset="-122"/>
              </a:rPr>
              <a:t>CoA</a:t>
            </a:r>
          </a:p>
        </p:txBody>
      </p:sp>
      <p:sp>
        <p:nvSpPr>
          <p:cNvPr id="407563" name="下箭头 407562"/>
          <p:cNvSpPr>
            <a:spLocks noChangeArrowheads="1"/>
          </p:cNvSpPr>
          <p:nvPr/>
        </p:nvSpPr>
        <p:spPr bwMode="auto">
          <a:xfrm>
            <a:off x="6915997" y="2223347"/>
            <a:ext cx="482600" cy="1828800"/>
          </a:xfrm>
          <a:prstGeom prst="downArrow">
            <a:avLst>
              <a:gd name="adj1" fmla="val 50000"/>
              <a:gd name="adj2" fmla="val 75000"/>
            </a:avLst>
          </a:prstGeom>
          <a:solidFill>
            <a:schemeClr val="accent6">
              <a:lumMod val="60000"/>
              <a:lumOff val="40000"/>
            </a:schemeClr>
          </a:solidFill>
          <a:ln w="9525">
            <a:solidFill>
              <a:schemeClr val="tx1"/>
            </a:solidFill>
            <a:miter lim="800000"/>
          </a:ln>
        </p:spPr>
        <p:txBody>
          <a:bodyPr>
            <a:noAutofit/>
          </a:bodyPr>
          <a:lstStyle>
            <a:lvl1pPr algn="ctr">
              <a:defRPr sz="7200">
                <a:solidFill>
                  <a:schemeClr val="accent2"/>
                </a:solidFill>
                <a:latin typeface="Times New Roman" panose="02020603050405020304" pitchFamily="18" charset="0"/>
                <a:ea typeface="宋体" panose="02010600030101010101" pitchFamily="2" charset="-122"/>
              </a:defRPr>
            </a:lvl1pPr>
            <a:lvl2pPr algn="ctr">
              <a:defRPr sz="7200">
                <a:solidFill>
                  <a:schemeClr val="accent2"/>
                </a:solidFill>
                <a:latin typeface="Times New Roman" panose="02020603050405020304" pitchFamily="18" charset="0"/>
                <a:ea typeface="宋体" panose="02010600030101010101" pitchFamily="2" charset="-122"/>
              </a:defRPr>
            </a:lvl2pPr>
            <a:lvl3pPr algn="ctr">
              <a:defRPr sz="7200">
                <a:solidFill>
                  <a:schemeClr val="accent2"/>
                </a:solidFill>
                <a:latin typeface="Times New Roman" panose="02020603050405020304" pitchFamily="18" charset="0"/>
                <a:ea typeface="宋体" panose="02010600030101010101" pitchFamily="2" charset="-122"/>
              </a:defRPr>
            </a:lvl3pPr>
            <a:lvl4pPr algn="ctr">
              <a:defRPr sz="7200">
                <a:solidFill>
                  <a:schemeClr val="accent2"/>
                </a:solidFill>
                <a:latin typeface="Times New Roman" panose="02020603050405020304" pitchFamily="18" charset="0"/>
                <a:ea typeface="宋体" panose="02010600030101010101" pitchFamily="2" charset="-122"/>
              </a:defRPr>
            </a:lvl4pPr>
            <a:lvl5pPr algn="ctr">
              <a:defRPr sz="7200">
                <a:solidFill>
                  <a:schemeClr val="accent2"/>
                </a:solidFill>
                <a:latin typeface="Times New Roman" panose="02020603050405020304" pitchFamily="18" charset="0"/>
                <a:ea typeface="宋体" panose="02010600030101010101" pitchFamily="2" charset="-122"/>
              </a:defRPr>
            </a:lvl5pPr>
            <a:lvl6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6pPr>
            <a:lvl7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7pPr>
            <a:lvl8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8pPr>
            <a:lvl9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9pPr>
          </a:lstStyle>
          <a:p>
            <a:pPr lvl="0" algn="ctr">
              <a:buClrTx/>
              <a:buSzTx/>
              <a:buFontTx/>
            </a:pPr>
            <a:endParaRPr lang="zh-CN" altLang="en-US">
              <a:latin typeface="微软雅黑" panose="020B0503020204020204" pitchFamily="34" charset="-122"/>
              <a:ea typeface="微软雅黑" panose="020B0503020204020204" pitchFamily="34" charset="-122"/>
              <a:sym typeface="+mn-ea"/>
            </a:endParaRPr>
          </a:p>
        </p:txBody>
      </p:sp>
      <p:sp>
        <p:nvSpPr>
          <p:cNvPr id="407564" name="下箭头 407563"/>
          <p:cNvSpPr>
            <a:spLocks noChangeArrowheads="1"/>
          </p:cNvSpPr>
          <p:nvPr/>
        </p:nvSpPr>
        <p:spPr bwMode="auto">
          <a:xfrm>
            <a:off x="6861387" y="4585547"/>
            <a:ext cx="537210" cy="1524000"/>
          </a:xfrm>
          <a:prstGeom prst="downArrow">
            <a:avLst>
              <a:gd name="adj1" fmla="val 50000"/>
              <a:gd name="adj2" fmla="val 62500"/>
            </a:avLst>
          </a:prstGeom>
          <a:solidFill>
            <a:schemeClr val="accent6">
              <a:lumMod val="60000"/>
              <a:lumOff val="40000"/>
            </a:schemeClr>
          </a:solidFill>
          <a:ln w="9525">
            <a:solidFill>
              <a:schemeClr val="tx1"/>
            </a:solidFill>
            <a:miter lim="800000"/>
          </a:ln>
        </p:spPr>
        <p:txBody>
          <a:bodyPr>
            <a:noAutofit/>
          </a:bodyPr>
          <a:lstStyle>
            <a:lvl1pPr algn="ctr">
              <a:defRPr sz="7200">
                <a:solidFill>
                  <a:schemeClr val="accent2"/>
                </a:solidFill>
                <a:latin typeface="Times New Roman" panose="02020603050405020304" pitchFamily="18" charset="0"/>
                <a:ea typeface="宋体" panose="02010600030101010101" pitchFamily="2" charset="-122"/>
              </a:defRPr>
            </a:lvl1pPr>
            <a:lvl2pPr algn="ctr">
              <a:defRPr sz="7200">
                <a:solidFill>
                  <a:schemeClr val="accent2"/>
                </a:solidFill>
                <a:latin typeface="Times New Roman" panose="02020603050405020304" pitchFamily="18" charset="0"/>
                <a:ea typeface="宋体" panose="02010600030101010101" pitchFamily="2" charset="-122"/>
              </a:defRPr>
            </a:lvl2pPr>
            <a:lvl3pPr algn="ctr">
              <a:defRPr sz="7200">
                <a:solidFill>
                  <a:schemeClr val="accent2"/>
                </a:solidFill>
                <a:latin typeface="Times New Roman" panose="02020603050405020304" pitchFamily="18" charset="0"/>
                <a:ea typeface="宋体" panose="02010600030101010101" pitchFamily="2" charset="-122"/>
              </a:defRPr>
            </a:lvl3pPr>
            <a:lvl4pPr algn="ctr">
              <a:defRPr sz="7200">
                <a:solidFill>
                  <a:schemeClr val="accent2"/>
                </a:solidFill>
                <a:latin typeface="Times New Roman" panose="02020603050405020304" pitchFamily="18" charset="0"/>
                <a:ea typeface="宋体" panose="02010600030101010101" pitchFamily="2" charset="-122"/>
              </a:defRPr>
            </a:lvl4pPr>
            <a:lvl5pPr algn="ctr">
              <a:defRPr sz="7200">
                <a:solidFill>
                  <a:schemeClr val="accent2"/>
                </a:solidFill>
                <a:latin typeface="Times New Roman" panose="02020603050405020304" pitchFamily="18" charset="0"/>
                <a:ea typeface="宋体" panose="02010600030101010101" pitchFamily="2" charset="-122"/>
              </a:defRPr>
            </a:lvl5pPr>
            <a:lvl6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6pPr>
            <a:lvl7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7pPr>
            <a:lvl8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8pPr>
            <a:lvl9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9pPr>
          </a:lstStyle>
          <a:p>
            <a:pPr lvl="0" algn="ctr">
              <a:buClrTx/>
              <a:buSzTx/>
              <a:buFontTx/>
            </a:pPr>
            <a:endParaRPr lang="zh-CN" altLang="en-US">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4649126" y="-51859"/>
            <a:ext cx="2749471" cy="183024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乙醛酸循环</a:t>
            </a:r>
          </a:p>
          <a:p>
            <a:pPr>
              <a:lnSpc>
                <a:spcPct val="150000"/>
              </a:lnSpc>
            </a:pPr>
            <a:endPar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3011" name="Picture 3"/>
          <p:cNvPicPr>
            <a:picLocks noChangeAspect="1"/>
          </p:cNvPicPr>
          <p:nvPr/>
        </p:nvPicPr>
        <p:blipFill>
          <a:blip r:embed="rId2"/>
          <a:stretch>
            <a:fillRect/>
          </a:stretch>
        </p:blipFill>
        <p:spPr>
          <a:xfrm>
            <a:off x="1754717" y="2847553"/>
            <a:ext cx="4231640" cy="3066415"/>
          </a:xfrm>
          <a:prstGeom prst="rect">
            <a:avLst/>
          </a:prstGeom>
          <a:noFill/>
          <a:ln w="9525">
            <a:solidFill>
              <a:schemeClr val="tx1"/>
            </a:solid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75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7" presetClass="entr" presetSubtype="8" fill="hold" nodeType="clickEffect">
                                  <p:stCondLst>
                                    <p:cond delay="0"/>
                                  </p:stCondLst>
                                  <p:childTnLst>
                                    <p:set>
                                      <p:cBhvr>
                                        <p:cTn id="10" dur="1" fill="hold">
                                          <p:stCondLst>
                                            <p:cond delay="0"/>
                                          </p:stCondLst>
                                        </p:cTn>
                                        <p:tgtEl>
                                          <p:spTgt spid="407559"/>
                                        </p:tgtEl>
                                        <p:attrNameLst>
                                          <p:attrName>style.visibility</p:attrName>
                                        </p:attrNameLst>
                                      </p:cBhvr>
                                      <p:to>
                                        <p:strVal val="visible"/>
                                      </p:to>
                                    </p:set>
                                    <p:anim calcmode="lin" valueType="num">
                                      <p:cBhvr>
                                        <p:cTn id="11" dur="500" fill="hold"/>
                                        <p:tgtEl>
                                          <p:spTgt spid="407559"/>
                                        </p:tgtEl>
                                        <p:attrNameLst>
                                          <p:attrName>ppt_x</p:attrName>
                                        </p:attrNameLst>
                                      </p:cBhvr>
                                      <p:tavLst>
                                        <p:tav tm="0">
                                          <p:val>
                                            <p:strVal val="#ppt_x-#ppt_w/2"/>
                                          </p:val>
                                        </p:tav>
                                        <p:tav tm="100000">
                                          <p:val>
                                            <p:strVal val="#ppt_x"/>
                                          </p:val>
                                        </p:tav>
                                      </p:tavLst>
                                    </p:anim>
                                    <p:anim calcmode="lin" valueType="num">
                                      <p:cBhvr>
                                        <p:cTn id="12" dur="500" fill="hold"/>
                                        <p:tgtEl>
                                          <p:spTgt spid="407559"/>
                                        </p:tgtEl>
                                        <p:attrNameLst>
                                          <p:attrName>ppt_y</p:attrName>
                                        </p:attrNameLst>
                                      </p:cBhvr>
                                      <p:tavLst>
                                        <p:tav tm="0">
                                          <p:val>
                                            <p:strVal val="#ppt_y"/>
                                          </p:val>
                                        </p:tav>
                                        <p:tav tm="100000">
                                          <p:val>
                                            <p:strVal val="#ppt_y"/>
                                          </p:val>
                                        </p:tav>
                                      </p:tavLst>
                                    </p:anim>
                                    <p:anim calcmode="lin" valueType="num">
                                      <p:cBhvr>
                                        <p:cTn id="13" dur="500" fill="hold"/>
                                        <p:tgtEl>
                                          <p:spTgt spid="407559"/>
                                        </p:tgtEl>
                                        <p:attrNameLst>
                                          <p:attrName>ppt_w</p:attrName>
                                        </p:attrNameLst>
                                      </p:cBhvr>
                                      <p:tavLst>
                                        <p:tav tm="0">
                                          <p:val>
                                            <p:fltVal val="0"/>
                                          </p:val>
                                        </p:tav>
                                        <p:tav tm="100000">
                                          <p:val>
                                            <p:strVal val="#ppt_w"/>
                                          </p:val>
                                        </p:tav>
                                      </p:tavLst>
                                    </p:anim>
                                    <p:anim calcmode="lin" valueType="num">
                                      <p:cBhvr>
                                        <p:cTn id="14" dur="500" fill="hold"/>
                                        <p:tgtEl>
                                          <p:spTgt spid="407559"/>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075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0756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7" presetClass="entr" presetSubtype="1" fill="hold" nodeType="clickEffect">
                                  <p:stCondLst>
                                    <p:cond delay="0"/>
                                  </p:stCondLst>
                                  <p:childTnLst>
                                    <p:set>
                                      <p:cBhvr>
                                        <p:cTn id="26" dur="1" fill="hold">
                                          <p:stCondLst>
                                            <p:cond delay="0"/>
                                          </p:stCondLst>
                                        </p:cTn>
                                        <p:tgtEl>
                                          <p:spTgt spid="407563"/>
                                        </p:tgtEl>
                                        <p:attrNameLst>
                                          <p:attrName>style.visibility</p:attrName>
                                        </p:attrNameLst>
                                      </p:cBhvr>
                                      <p:to>
                                        <p:strVal val="visible"/>
                                      </p:to>
                                    </p:set>
                                    <p:anim calcmode="lin" valueType="num">
                                      <p:cBhvr>
                                        <p:cTn id="27" dur="500" fill="hold"/>
                                        <p:tgtEl>
                                          <p:spTgt spid="407563"/>
                                        </p:tgtEl>
                                        <p:attrNameLst>
                                          <p:attrName>ppt_x</p:attrName>
                                        </p:attrNameLst>
                                      </p:cBhvr>
                                      <p:tavLst>
                                        <p:tav tm="0">
                                          <p:val>
                                            <p:strVal val="#ppt_x"/>
                                          </p:val>
                                        </p:tav>
                                        <p:tav tm="100000">
                                          <p:val>
                                            <p:strVal val="#ppt_x"/>
                                          </p:val>
                                        </p:tav>
                                      </p:tavLst>
                                    </p:anim>
                                    <p:anim calcmode="lin" valueType="num">
                                      <p:cBhvr>
                                        <p:cTn id="28" dur="500" fill="hold"/>
                                        <p:tgtEl>
                                          <p:spTgt spid="407563"/>
                                        </p:tgtEl>
                                        <p:attrNameLst>
                                          <p:attrName>ppt_y</p:attrName>
                                        </p:attrNameLst>
                                      </p:cBhvr>
                                      <p:tavLst>
                                        <p:tav tm="0">
                                          <p:val>
                                            <p:strVal val="#ppt_y-#ppt_h/2"/>
                                          </p:val>
                                        </p:tav>
                                        <p:tav tm="100000">
                                          <p:val>
                                            <p:strVal val="#ppt_y"/>
                                          </p:val>
                                        </p:tav>
                                      </p:tavLst>
                                    </p:anim>
                                    <p:anim calcmode="lin" valueType="num">
                                      <p:cBhvr>
                                        <p:cTn id="29" dur="500" fill="hold"/>
                                        <p:tgtEl>
                                          <p:spTgt spid="407563"/>
                                        </p:tgtEl>
                                        <p:attrNameLst>
                                          <p:attrName>ppt_w</p:attrName>
                                        </p:attrNameLst>
                                      </p:cBhvr>
                                      <p:tavLst>
                                        <p:tav tm="0">
                                          <p:val>
                                            <p:strVal val="#ppt_w"/>
                                          </p:val>
                                        </p:tav>
                                        <p:tav tm="100000">
                                          <p:val>
                                            <p:strVal val="#ppt_w"/>
                                          </p:val>
                                        </p:tav>
                                      </p:tavLst>
                                    </p:anim>
                                    <p:anim calcmode="lin" valueType="num">
                                      <p:cBhvr>
                                        <p:cTn id="30" dur="500" fill="hold"/>
                                        <p:tgtEl>
                                          <p:spTgt spid="407563"/>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40755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407560">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7" presetClass="entr" presetSubtype="1" fill="hold" nodeType="clickEffect">
                                  <p:stCondLst>
                                    <p:cond delay="0"/>
                                  </p:stCondLst>
                                  <p:childTnLst>
                                    <p:set>
                                      <p:cBhvr>
                                        <p:cTn id="42" dur="1" fill="hold">
                                          <p:stCondLst>
                                            <p:cond delay="0"/>
                                          </p:stCondLst>
                                        </p:cTn>
                                        <p:tgtEl>
                                          <p:spTgt spid="407564"/>
                                        </p:tgtEl>
                                        <p:attrNameLst>
                                          <p:attrName>style.visibility</p:attrName>
                                        </p:attrNameLst>
                                      </p:cBhvr>
                                      <p:to>
                                        <p:strVal val="visible"/>
                                      </p:to>
                                    </p:set>
                                    <p:anim calcmode="lin" valueType="num">
                                      <p:cBhvr>
                                        <p:cTn id="43" dur="500" fill="hold"/>
                                        <p:tgtEl>
                                          <p:spTgt spid="407564"/>
                                        </p:tgtEl>
                                        <p:attrNameLst>
                                          <p:attrName>ppt_x</p:attrName>
                                        </p:attrNameLst>
                                      </p:cBhvr>
                                      <p:tavLst>
                                        <p:tav tm="0">
                                          <p:val>
                                            <p:strVal val="#ppt_x"/>
                                          </p:val>
                                        </p:tav>
                                        <p:tav tm="100000">
                                          <p:val>
                                            <p:strVal val="#ppt_x"/>
                                          </p:val>
                                        </p:tav>
                                      </p:tavLst>
                                    </p:anim>
                                    <p:anim calcmode="lin" valueType="num">
                                      <p:cBhvr>
                                        <p:cTn id="44" dur="500" fill="hold"/>
                                        <p:tgtEl>
                                          <p:spTgt spid="407564"/>
                                        </p:tgtEl>
                                        <p:attrNameLst>
                                          <p:attrName>ppt_y</p:attrName>
                                        </p:attrNameLst>
                                      </p:cBhvr>
                                      <p:tavLst>
                                        <p:tav tm="0">
                                          <p:val>
                                            <p:strVal val="#ppt_y-#ppt_h/2"/>
                                          </p:val>
                                        </p:tav>
                                        <p:tav tm="100000">
                                          <p:val>
                                            <p:strVal val="#ppt_y"/>
                                          </p:val>
                                        </p:tav>
                                      </p:tavLst>
                                    </p:anim>
                                    <p:anim calcmode="lin" valueType="num">
                                      <p:cBhvr>
                                        <p:cTn id="45" dur="500" fill="hold"/>
                                        <p:tgtEl>
                                          <p:spTgt spid="407564"/>
                                        </p:tgtEl>
                                        <p:attrNameLst>
                                          <p:attrName>ppt_w</p:attrName>
                                        </p:attrNameLst>
                                      </p:cBhvr>
                                      <p:tavLst>
                                        <p:tav tm="0">
                                          <p:val>
                                            <p:strVal val="#ppt_w"/>
                                          </p:val>
                                        </p:tav>
                                        <p:tav tm="100000">
                                          <p:val>
                                            <p:strVal val="#ppt_w"/>
                                          </p:val>
                                        </p:tav>
                                      </p:tavLst>
                                    </p:anim>
                                    <p:anim calcmode="lin" valueType="num">
                                      <p:cBhvr>
                                        <p:cTn id="46" dur="500" fill="hold"/>
                                        <p:tgtEl>
                                          <p:spTgt spid="407564"/>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40755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4075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4" grpId="0" bldLvl="0" animBg="1"/>
      <p:bldP spid="407555" grpId="0" bldLvl="0" animBg="1"/>
      <p:bldP spid="407556" grpId="0" bldLvl="0" animBg="1"/>
      <p:bldP spid="407557" grpId="0" bldLvl="0" animBg="1"/>
      <p:bldP spid="407558" grpId="0" build="p"/>
      <p:bldP spid="407560" grpId="0" build="p"/>
      <p:bldP spid="407562" grpId="0" build="p"/>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文本框 2"/>
          <p:cNvSpPr txBox="1"/>
          <p:nvPr/>
        </p:nvSpPr>
        <p:spPr>
          <a:xfrm>
            <a:off x="1667628" y="-87206"/>
            <a:ext cx="2749471" cy="183024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乙醛酸循环</a:t>
            </a:r>
          </a:p>
          <a:p>
            <a:pPr>
              <a:lnSpc>
                <a:spcPct val="150000"/>
              </a:lnSpc>
            </a:pPr>
            <a:endPar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0963" name="Rectangle 5"/>
          <p:cNvSpPr/>
          <p:nvPr/>
        </p:nvSpPr>
        <p:spPr>
          <a:xfrm>
            <a:off x="1111924" y="2204226"/>
            <a:ext cx="2850476" cy="1308884"/>
          </a:xfrm>
          <a:prstGeom prst="rect">
            <a:avLst/>
          </a:prstGeom>
          <a:noFill/>
          <a:ln w="12700">
            <a:noFill/>
          </a:ln>
          <a:extLst>
            <a:ext uri="{909E8E84-426E-40DD-AFC4-6F175D3DCCD1}">
              <a14:hiddenFill xmlns:a14="http://schemas.microsoft.com/office/drawing/2010/main">
                <a:solidFill>
                  <a:schemeClr val="accent5">
                    <a:lumMod val="20000"/>
                    <a:lumOff val="80000"/>
                  </a:schemeClr>
                </a:solidFill>
              </a14:hiddenFill>
            </a:ext>
          </a:extLst>
        </p:spPr>
        <p:txBody>
          <a:bodyPr wrap="square" anchor="ctr" anchorCtr="0">
            <a:spAutoFit/>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stStyle>
          <a:p>
            <a:pPr marL="0" indent="0">
              <a:lnSpc>
                <a:spcPct val="150000"/>
              </a:lnSpc>
              <a:spcBef>
                <a:spcPct val="0"/>
              </a:spcBef>
              <a:buNone/>
            </a:pPr>
            <a:r>
              <a:rPr lang="zh-CN" altLang="en-US" sz="2800" b="1" dirty="0">
                <a:latin typeface="微软雅黑" panose="020B0503020204020204" pitchFamily="34" charset="-122"/>
                <a:ea typeface="微软雅黑" panose="020B0503020204020204" pitchFamily="34" charset="-122"/>
              </a:rPr>
              <a:t>乙醛酸循环与三羧酸循环的比较</a:t>
            </a:r>
          </a:p>
        </p:txBody>
      </p:sp>
      <p:pic>
        <p:nvPicPr>
          <p:cNvPr id="2" name="Picture 7" descr="23-7">
            <a:extLst>
              <a:ext uri="{FF2B5EF4-FFF2-40B4-BE49-F238E27FC236}">
                <a16:creationId xmlns:a16="http://schemas.microsoft.com/office/drawing/2014/main" id="{D85B4DFA-37B7-EBE3-5105-643BA0C88427}"/>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5034197" y="0"/>
            <a:ext cx="715780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998322" y="4296947"/>
            <a:ext cx="9974478" cy="1499898"/>
          </a:xfrm>
          <a:prstGeom prst="rect">
            <a:avLst/>
          </a:prstGeom>
        </p:spPr>
        <p:txBody>
          <a:bodyPr wrap="square">
            <a:spAutoFit/>
          </a:bodyPr>
          <a:lstStyle/>
          <a:p>
            <a:pPr marL="285750" indent="-285750">
              <a:lnSpc>
                <a:spcPct val="150000"/>
              </a:lnSpc>
              <a:spcBef>
                <a:spcPts val="600"/>
              </a:spcBef>
              <a:buFont typeface="Arial" panose="020B0604020202020204" pitchFamily="34" charset="0"/>
              <a:buChar char="•"/>
            </a:pPr>
            <a:r>
              <a:rPr lang="zh-CN" altLang="en-US" sz="2000" i="1" dirty="0">
                <a:latin typeface="微软雅黑" panose="020B0503020204020204" pitchFamily="34" charset="-122"/>
                <a:ea typeface="微软雅黑" panose="020B0503020204020204" pitchFamily="34" charset="-122"/>
              </a:rPr>
              <a:t>种子在发芽过程中，细胞中出现许多乙醛酸体，贮藏脂肪，首先水解为甘油和脂肪酸，然后脂肪酸在乙醛酸体内氧化分解为乙酰</a:t>
            </a:r>
            <a:r>
              <a:rPr lang="en-US" altLang="zh-CN" sz="2000" i="1" dirty="0">
                <a:latin typeface="微软雅黑" panose="020B0503020204020204" pitchFamily="34" charset="-122"/>
                <a:ea typeface="微软雅黑" panose="020B0503020204020204" pitchFamily="34" charset="-122"/>
              </a:rPr>
              <a:t>CoA</a:t>
            </a:r>
            <a:r>
              <a:rPr lang="zh-CN" altLang="en-US" sz="2000" i="1" dirty="0">
                <a:latin typeface="微软雅黑" panose="020B0503020204020204" pitchFamily="34" charset="-122"/>
                <a:ea typeface="微软雅黑" panose="020B0503020204020204" pitchFamily="34" charset="-122"/>
              </a:rPr>
              <a:t>，并通过</a:t>
            </a:r>
            <a:r>
              <a:rPr lang="zh-CN" altLang="en-US" sz="2000" i="1" dirty="0">
                <a:solidFill>
                  <a:srgbClr val="FF0000"/>
                </a:solidFill>
                <a:latin typeface="微软雅黑" panose="020B0503020204020204" pitchFamily="34" charset="-122"/>
                <a:ea typeface="微软雅黑" panose="020B0503020204020204" pitchFamily="34" charset="-122"/>
              </a:rPr>
              <a:t>乙醛酸循环</a:t>
            </a:r>
            <a:r>
              <a:rPr lang="zh-CN" altLang="en-US" sz="2000" i="1" dirty="0">
                <a:latin typeface="微软雅黑" panose="020B0503020204020204" pitchFamily="34" charset="-122"/>
                <a:ea typeface="微软雅黑" panose="020B0503020204020204" pitchFamily="34" charset="-122"/>
              </a:rPr>
              <a:t>转化为糖 。</a:t>
            </a:r>
            <a:endParaRPr lang="en-US" altLang="zh-CN" sz="2000" i="1" dirty="0">
              <a:latin typeface="微软雅黑" panose="020B0503020204020204" pitchFamily="34" charset="-122"/>
              <a:ea typeface="微软雅黑" panose="020B0503020204020204" pitchFamily="34" charset="-122"/>
            </a:endParaRPr>
          </a:p>
          <a:p>
            <a:pPr marL="285750" indent="-285750">
              <a:lnSpc>
                <a:spcPct val="150000"/>
              </a:lnSpc>
              <a:spcBef>
                <a:spcPts val="600"/>
              </a:spcBef>
              <a:buFont typeface="Arial" panose="020B0604020202020204" pitchFamily="34" charset="0"/>
              <a:buChar char="•"/>
            </a:pPr>
            <a:r>
              <a:rPr lang="zh-CN" altLang="en-US" sz="2000" i="1" dirty="0">
                <a:latin typeface="微软雅黑" panose="020B0503020204020204" pitchFamily="34" charset="-122"/>
                <a:ea typeface="微软雅黑" panose="020B0503020204020204" pitchFamily="34" charset="-122"/>
              </a:rPr>
              <a:t>以乙酸为主要食物的细菌，物质循环中的重要一环。</a:t>
            </a:r>
          </a:p>
        </p:txBody>
      </p:sp>
      <p:sp>
        <p:nvSpPr>
          <p:cNvPr id="2" name="矩形 1"/>
          <p:cNvSpPr/>
          <p:nvPr/>
        </p:nvSpPr>
        <p:spPr>
          <a:xfrm>
            <a:off x="998322" y="993427"/>
            <a:ext cx="10863211" cy="3104824"/>
          </a:xfrm>
          <a:prstGeom prst="rect">
            <a:avLst/>
          </a:prstGeom>
        </p:spPr>
        <p:txBody>
          <a:bodyPr wrap="square">
            <a:spAutoFit/>
          </a:bodyPr>
          <a:lstStyle/>
          <a:p>
            <a:pPr marL="457200" indent="-457200">
              <a:lnSpc>
                <a:spcPct val="150000"/>
              </a:lnSpc>
              <a:spcBef>
                <a:spcPts val="600"/>
              </a:spcBef>
              <a:buFont typeface="Arial" panose="020B0604020202020204" pitchFamily="34" charset="0"/>
              <a:buChar char="•"/>
            </a:pPr>
            <a:r>
              <a:rPr sz="2400" b="1" dirty="0">
                <a:latin typeface="微软雅黑" panose="020B0503020204020204" pitchFamily="34" charset="-122"/>
                <a:ea typeface="微软雅黑" panose="020B0503020204020204" pitchFamily="34" charset="-122"/>
              </a:rPr>
              <a:t>植物和微生物的三羧酸循环的变化形式</a:t>
            </a:r>
            <a:r>
              <a:rPr lang="zh-CN" altLang="en-US" sz="2400" b="1" dirty="0">
                <a:latin typeface="微软雅黑" panose="020B0503020204020204" pitchFamily="34" charset="-122"/>
                <a:ea typeface="微软雅黑" panose="020B0503020204020204" pitchFamily="34" charset="-122"/>
              </a:rPr>
              <a:t>。</a:t>
            </a:r>
            <a:endParaRPr sz="2400" b="1" dirty="0">
              <a:latin typeface="微软雅黑" panose="020B0503020204020204" pitchFamily="34" charset="-122"/>
              <a:ea typeface="微软雅黑" panose="020B0503020204020204" pitchFamily="34" charset="-122"/>
            </a:endParaRPr>
          </a:p>
          <a:p>
            <a:pPr marL="457200" indent="-457200">
              <a:lnSpc>
                <a:spcPct val="150000"/>
              </a:lnSpc>
              <a:spcBef>
                <a:spcPts val="600"/>
              </a:spcBef>
              <a:buFont typeface="Arial" panose="020B0604020202020204" pitchFamily="34" charset="0"/>
              <a:buChar char="•"/>
            </a:pPr>
            <a:r>
              <a:rPr sz="2400" b="1" dirty="0" err="1">
                <a:latin typeface="微软雅黑" panose="020B0503020204020204" pitchFamily="34" charset="-122"/>
                <a:ea typeface="微软雅黑" panose="020B0503020204020204" pitchFamily="34" charset="-122"/>
              </a:rPr>
              <a:t>在每一轮循环中有</a:t>
            </a:r>
            <a:r>
              <a:rPr sz="2400" b="1" dirty="0" err="1">
                <a:solidFill>
                  <a:srgbClr val="FF0000"/>
                </a:solidFill>
                <a:latin typeface="微软雅黑" panose="020B0503020204020204" pitchFamily="34" charset="-122"/>
                <a:ea typeface="微软雅黑" panose="020B0503020204020204" pitchFamily="34" charset="-122"/>
              </a:rPr>
              <a:t>两分子乙酰-CoA进入</a:t>
            </a:r>
            <a:r>
              <a:rPr lang="zh-CN" altLang="en-US" sz="2400" b="1" dirty="0">
                <a:latin typeface="微软雅黑" panose="020B0503020204020204" pitchFamily="34" charset="-122"/>
                <a:ea typeface="微软雅黑" panose="020B0503020204020204" pitchFamily="34" charset="-122"/>
              </a:rPr>
              <a:t>。</a:t>
            </a:r>
            <a:endParaRPr sz="2400" b="1" dirty="0">
              <a:latin typeface="微软雅黑" panose="020B0503020204020204" pitchFamily="34" charset="-122"/>
              <a:ea typeface="微软雅黑" panose="020B0503020204020204" pitchFamily="34" charset="-122"/>
            </a:endParaRPr>
          </a:p>
          <a:p>
            <a:pPr marL="457200" indent="-457200">
              <a:lnSpc>
                <a:spcPct val="150000"/>
              </a:lnSpc>
              <a:spcBef>
                <a:spcPts val="600"/>
              </a:spcBef>
              <a:buFont typeface="Arial" panose="020B0604020202020204" pitchFamily="34" charset="0"/>
              <a:buChar char="•"/>
            </a:pPr>
            <a:r>
              <a:rPr sz="2400" b="1" dirty="0">
                <a:latin typeface="微软雅黑" panose="020B0503020204020204" pitchFamily="34" charset="-122"/>
                <a:ea typeface="微软雅黑" panose="020B0503020204020204" pitchFamily="34" charset="-122"/>
              </a:rPr>
              <a:t>只产生NADH，但不产生FADH</a:t>
            </a:r>
            <a:r>
              <a:rPr sz="2400" b="1" baseline="-25000"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a:t>
            </a:r>
            <a:endParaRPr sz="2400" b="1" dirty="0">
              <a:latin typeface="微软雅黑" panose="020B0503020204020204" pitchFamily="34" charset="-122"/>
              <a:ea typeface="微软雅黑" panose="020B0503020204020204" pitchFamily="34" charset="-122"/>
            </a:endParaRPr>
          </a:p>
          <a:p>
            <a:pPr marL="457200" indent="-457200">
              <a:lnSpc>
                <a:spcPct val="150000"/>
              </a:lnSpc>
              <a:spcBef>
                <a:spcPts val="600"/>
              </a:spcBef>
              <a:buFont typeface="Arial" panose="020B0604020202020204" pitchFamily="34" charset="0"/>
              <a:buChar char="•"/>
            </a:pPr>
            <a:r>
              <a:rPr sz="2400" b="1" dirty="0">
                <a:latin typeface="微软雅黑" panose="020B0503020204020204" pitchFamily="34" charset="-122"/>
                <a:ea typeface="微软雅黑" panose="020B0503020204020204" pitchFamily="34" charset="-122"/>
              </a:rPr>
              <a:t>无底物水平磷酸化反应，因此不产生ATP</a:t>
            </a:r>
            <a:r>
              <a:rPr lang="zh-CN" altLang="en-US" sz="2400" b="1" dirty="0">
                <a:latin typeface="微软雅黑" panose="020B0503020204020204" pitchFamily="34" charset="-122"/>
                <a:ea typeface="微软雅黑" panose="020B0503020204020204" pitchFamily="34" charset="-122"/>
              </a:rPr>
              <a:t>。</a:t>
            </a:r>
            <a:endParaRPr sz="2400" b="1" dirty="0">
              <a:latin typeface="微软雅黑" panose="020B0503020204020204" pitchFamily="34" charset="-122"/>
              <a:ea typeface="微软雅黑" panose="020B0503020204020204" pitchFamily="34" charset="-122"/>
            </a:endParaRPr>
          </a:p>
          <a:p>
            <a:pPr marL="457200" indent="-457200">
              <a:lnSpc>
                <a:spcPct val="150000"/>
              </a:lnSpc>
              <a:spcBef>
                <a:spcPts val="600"/>
              </a:spcBef>
              <a:buFont typeface="Arial" panose="020B0604020202020204" pitchFamily="34" charset="0"/>
              <a:buChar char="•"/>
            </a:pPr>
            <a:r>
              <a:rPr sz="2400" b="1" dirty="0">
                <a:latin typeface="微软雅黑" panose="020B0503020204020204" pitchFamily="34" charset="-122"/>
                <a:ea typeface="微软雅黑" panose="020B0503020204020204" pitchFamily="34" charset="-122"/>
              </a:rPr>
              <a:t>不生成CO</a:t>
            </a:r>
            <a:r>
              <a:rPr sz="2400" b="1" baseline="-25000" dirty="0">
                <a:latin typeface="微软雅黑" panose="020B0503020204020204" pitchFamily="34" charset="-122"/>
                <a:ea typeface="微软雅黑" panose="020B0503020204020204" pitchFamily="34" charset="-122"/>
              </a:rPr>
              <a:t>2</a:t>
            </a:r>
            <a:r>
              <a:rPr sz="2400" b="1" dirty="0">
                <a:latin typeface="微软雅黑" panose="020B0503020204020204" pitchFamily="34" charset="-122"/>
                <a:ea typeface="微软雅黑" panose="020B0503020204020204" pitchFamily="34" charset="-122"/>
              </a:rPr>
              <a:t>，无碳单位损失，</a:t>
            </a:r>
            <a:r>
              <a:rPr sz="2400" b="1" dirty="0">
                <a:solidFill>
                  <a:srgbClr val="FF0000"/>
                </a:solidFill>
                <a:latin typeface="微软雅黑" panose="020B0503020204020204" pitchFamily="34" charset="-122"/>
                <a:ea typeface="微软雅黑" panose="020B0503020204020204" pitchFamily="34" charset="-122"/>
              </a:rPr>
              <a:t>净合成糖异生的前体</a:t>
            </a:r>
            <a:r>
              <a:rPr lang="zh-CN" altLang="en-US" sz="2400" b="1" dirty="0">
                <a:solidFill>
                  <a:srgbClr val="FF0000"/>
                </a:solidFill>
                <a:latin typeface="微软雅黑" panose="020B0503020204020204" pitchFamily="34" charset="-122"/>
                <a:ea typeface="微软雅黑" panose="020B0503020204020204" pitchFamily="34" charset="-122"/>
              </a:rPr>
              <a:t>：</a:t>
            </a:r>
            <a:r>
              <a:rPr sz="2400" b="1" dirty="0">
                <a:solidFill>
                  <a:srgbClr val="FF0000"/>
                </a:solidFill>
                <a:latin typeface="微软雅黑" panose="020B0503020204020204" pitchFamily="34" charset="-122"/>
                <a:ea typeface="微软雅黑" panose="020B0503020204020204" pitchFamily="34" charset="-122"/>
              </a:rPr>
              <a:t>苹果酸</a:t>
            </a:r>
            <a:r>
              <a:rPr lang="zh-CN" altLang="en-US" sz="2400" b="1" dirty="0">
                <a:solidFill>
                  <a:srgbClr val="FF0000"/>
                </a:solidFill>
                <a:latin typeface="微软雅黑" panose="020B0503020204020204" pitchFamily="34" charset="-122"/>
                <a:ea typeface="微软雅黑" panose="020B0503020204020204" pitchFamily="34" charset="-122"/>
              </a:rPr>
              <a:t>（草酰乙酸）。</a:t>
            </a:r>
          </a:p>
        </p:txBody>
      </p:sp>
      <p:sp>
        <p:nvSpPr>
          <p:cNvPr id="3" name="文本框 2"/>
          <p:cNvSpPr txBox="1"/>
          <p:nvPr/>
        </p:nvSpPr>
        <p:spPr>
          <a:xfrm>
            <a:off x="4721264" y="-112184"/>
            <a:ext cx="2749471"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乙醛酸循环</a:t>
            </a:r>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784474" y="0"/>
            <a:ext cx="7197725" cy="684784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Q4ODQwNThiYTg4YTBlNDhkZDRmNGNiNWM5NWE1YzAifQ=="/>
  <p:tag name="KSO_WPP_MARK_KEY" val="a28f3503-03a7-4fdb-9f67-fe0599fd76b3"/>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113,&quot;width&quot;:14400}"/>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864,&quot;width&quot;:10692}"/>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256,&quot;width&quot;:1110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128</TotalTime>
  <Words>1240</Words>
  <Application>Microsoft Office PowerPoint</Application>
  <PresentationFormat>宽屏</PresentationFormat>
  <Paragraphs>220</Paragraphs>
  <Slides>42</Slides>
  <Notes>37</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42</vt:i4>
      </vt:variant>
    </vt:vector>
  </HeadingPairs>
  <TitlesOfParts>
    <vt:vector size="54" baseType="lpstr">
      <vt:lpstr>等线</vt:lpstr>
      <vt:lpstr>微软雅黑</vt:lpstr>
      <vt:lpstr>Arial</vt:lpstr>
      <vt:lpstr>Calibri</vt:lpstr>
      <vt:lpstr>Calibri Light</vt:lpstr>
      <vt:lpstr>Comic Sans MS</vt:lpstr>
      <vt:lpstr>Impact</vt:lpstr>
      <vt:lpstr>Times</vt:lpstr>
      <vt:lpstr>Times New Roman</vt:lpstr>
      <vt:lpstr>Office 主题​​</vt:lpstr>
      <vt:lpstr>2_Office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aging00</dc:creator>
  <cp:lastModifiedBy>Admin</cp:lastModifiedBy>
  <cp:revision>194</cp:revision>
  <dcterms:created xsi:type="dcterms:W3CDTF">2020-09-21T10:52:00Z</dcterms:created>
  <dcterms:modified xsi:type="dcterms:W3CDTF">2023-11-30T07:00:06Z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3137B9D5F7FF41B397C7D30E00C007BB</vt:lpwstr>
  </property>
  <property fmtid="{D5CDD505-2E9C-101B-9397-08002B2CF9AE}" pid="3" name="KSOProductBuildVer">
    <vt:lpwstr>2052-11.1.0.14036</vt:lpwstr>
  </property>
</Properties>
</file>