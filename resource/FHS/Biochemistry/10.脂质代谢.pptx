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2.xml" ContentType="application/vnd.openxmlformats-officedocument.presentationml.tag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3.xml" ContentType="application/vnd.openxmlformats-officedocument.presentationml.tags+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4.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handoutMasterIdLst>
    <p:handoutMasterId r:id="rId47"/>
  </p:handoutMasterIdLst>
  <p:sldIdLst>
    <p:sldId id="1205" r:id="rId2"/>
    <p:sldId id="974" r:id="rId3"/>
    <p:sldId id="272" r:id="rId4"/>
    <p:sldId id="273" r:id="rId5"/>
    <p:sldId id="725" r:id="rId6"/>
    <p:sldId id="726" r:id="rId7"/>
    <p:sldId id="1210" r:id="rId8"/>
    <p:sldId id="728" r:id="rId9"/>
    <p:sldId id="731" r:id="rId10"/>
    <p:sldId id="730" r:id="rId11"/>
    <p:sldId id="732" r:id="rId12"/>
    <p:sldId id="1212" r:id="rId13"/>
    <p:sldId id="849" r:id="rId14"/>
    <p:sldId id="741" r:id="rId15"/>
    <p:sldId id="745" r:id="rId16"/>
    <p:sldId id="736" r:id="rId17"/>
    <p:sldId id="1213" r:id="rId18"/>
    <p:sldId id="737" r:id="rId19"/>
    <p:sldId id="735" r:id="rId20"/>
    <p:sldId id="1106" r:id="rId21"/>
    <p:sldId id="742" r:id="rId22"/>
    <p:sldId id="743" r:id="rId23"/>
    <p:sldId id="744" r:id="rId24"/>
    <p:sldId id="1157" r:id="rId25"/>
    <p:sldId id="746" r:id="rId26"/>
    <p:sldId id="753" r:id="rId27"/>
    <p:sldId id="754" r:id="rId28"/>
    <p:sldId id="1159" r:id="rId29"/>
    <p:sldId id="755" r:id="rId30"/>
    <p:sldId id="908" r:id="rId31"/>
    <p:sldId id="748" r:id="rId32"/>
    <p:sldId id="809" r:id="rId33"/>
    <p:sldId id="756" r:id="rId34"/>
    <p:sldId id="749" r:id="rId35"/>
    <p:sldId id="1211" r:id="rId36"/>
    <p:sldId id="759" r:id="rId37"/>
    <p:sldId id="760" r:id="rId38"/>
    <p:sldId id="1208" r:id="rId39"/>
    <p:sldId id="763" r:id="rId40"/>
    <p:sldId id="967" r:id="rId41"/>
    <p:sldId id="787" r:id="rId42"/>
    <p:sldId id="789" r:id="rId43"/>
    <p:sldId id="791" r:id="rId44"/>
    <p:sldId id="792" r:id="rId45"/>
  </p:sldIdLst>
  <p:sldSz cx="12192000" cy="6858000"/>
  <p:notesSz cx="6858000" cy="9144000"/>
  <p:custDataLst>
    <p:tags r:id="rId4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7C80"/>
    <a:srgbClr val="FF6600"/>
    <a:srgbClr val="EB35CD"/>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24" autoAdjust="0"/>
    <p:restoredTop sz="86737" autoAdjust="0"/>
  </p:normalViewPr>
  <p:slideViewPr>
    <p:cSldViewPr snapToGrid="0">
      <p:cViewPr varScale="1">
        <p:scale>
          <a:sx n="46" d="100"/>
          <a:sy n="46" d="100"/>
        </p:scale>
        <p:origin x="-88" y="-248"/>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2023/12/4</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35458640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5297C9-CFD7-48A2-BD37-04FEFC5AB813}" type="datetimeFigureOut">
              <a:rPr lang="zh-CN" altLang="en-US" smtClean="0"/>
              <a:t>2023/12/4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25EA7C-94DB-41DF-9028-4D76D3917941}" type="slidenum">
              <a:rPr lang="zh-CN" altLang="en-US" smtClean="0"/>
              <a:t>‹#›</a:t>
            </a:fld>
            <a:endParaRPr lang="zh-CN" altLang="en-US"/>
          </a:p>
        </p:txBody>
      </p:sp>
    </p:spTree>
    <p:extLst>
      <p:ext uri="{BB962C8B-B14F-4D97-AF65-F5344CB8AC3E}">
        <p14:creationId xmlns:p14="http://schemas.microsoft.com/office/powerpoint/2010/main" val="1350413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93700" y="690563"/>
            <a:ext cx="6146800" cy="3457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defRPr/>
            </a:pPr>
            <a:fld id="{7519383A-97AB-4E9F-ADB2-1ECE650A7D90}" type="slidenum">
              <a:rPr kumimoji="0" lang="zh-CN" altLang="en-US" sz="1200" b="0" i="0" u="none" strike="noStrike" kern="1200" cap="none" spc="0" normalizeH="0" baseline="0" noProof="0" smtClean="0">
                <a:ln>
                  <a:noFill/>
                </a:ln>
                <a:solidFill>
                  <a:prstClr val="black"/>
                </a:solidFill>
                <a:effectLst/>
                <a:uLnTx/>
                <a:uFillTx/>
                <a:latin typeface="等线" panose="02010600030101010101" pitchFamily="2" charset="-122"/>
                <a:ea typeface="等线" panose="02010600030101010101" pitchFamily="2" charset="-122"/>
                <a:cs typeface="+mn-cs"/>
              </a:rPr>
              <a:t>1</a:t>
            </a:fld>
            <a:endParaRPr kumimoji="0" lang="zh-CN" altLang="en-US" sz="1200" b="0" i="0" u="none" strike="noStrike" kern="1200" cap="none" spc="0" normalizeH="0" baseline="0" noProof="0">
              <a:ln>
                <a:noFill/>
              </a:ln>
              <a:solidFill>
                <a:prstClr val="black"/>
              </a:solidFill>
              <a:effectLst/>
              <a:uLnTx/>
              <a:uFillTx/>
              <a:latin typeface="等线" panose="02010600030101010101" pitchFamily="2" charset="-122"/>
              <a:ea typeface="等线" panose="02010600030101010101" pitchFamily="2"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a:solidFill>
                  <a:schemeClr val="tx1"/>
                </a:solidFill>
                <a:latin typeface="华文楷体" panose="02010600040101010101" pitchFamily="2" charset="-122"/>
                <a:ea typeface="华文楷体" panose="02010600040101010101" pitchFamily="2" charset="-122"/>
              </a:rPr>
              <a:t>脂肪酸通过清蛋白运输：</a:t>
            </a:r>
            <a:r>
              <a:rPr lang="en-US" altLang="zh-CN" sz="1200" b="1" dirty="0">
                <a:solidFill>
                  <a:schemeClr val="tx1"/>
                </a:solidFill>
                <a:latin typeface="华文楷体" panose="02010600040101010101" pitchFamily="2" charset="-122"/>
                <a:ea typeface="华文楷体" panose="02010600040101010101" pitchFamily="2" charset="-122"/>
              </a:rPr>
              <a:t>serum albumin</a:t>
            </a: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a:solidFill>
                  <a:schemeClr val="tx1"/>
                </a:solidFill>
                <a:latin typeface="华文楷体" panose="02010600040101010101" pitchFamily="2" charset="-122"/>
                <a:ea typeface="华文楷体" panose="02010600040101010101" pitchFamily="2" charset="-122"/>
              </a:rPr>
              <a:t>占脂肪</a:t>
            </a:r>
            <a:r>
              <a:rPr lang="en-US" altLang="zh-CN" sz="1200" b="1" dirty="0">
                <a:solidFill>
                  <a:schemeClr val="tx1"/>
                </a:solidFill>
                <a:latin typeface="华文楷体" panose="02010600040101010101" pitchFamily="2" charset="-122"/>
                <a:ea typeface="华文楷体" panose="02010600040101010101" pitchFamily="2" charset="-122"/>
              </a:rPr>
              <a:t>5</a:t>
            </a:r>
            <a:r>
              <a:rPr lang="zh-CN" altLang="en-US" sz="1200" b="1" dirty="0">
                <a:solidFill>
                  <a:schemeClr val="tx1"/>
                </a:solidFill>
                <a:latin typeface="华文楷体" panose="02010600040101010101" pitchFamily="2" charset="-122"/>
                <a:ea typeface="华文楷体" panose="02010600040101010101" pitchFamily="2" charset="-122"/>
              </a:rPr>
              <a:t>％的能量</a:t>
            </a:r>
            <a:r>
              <a:rPr lang="en-US" altLang="zh-CN" sz="1200" b="1" dirty="0">
                <a:solidFill>
                  <a:schemeClr val="tx1"/>
                </a:solidFill>
                <a:latin typeface="华文楷体" panose="02010600040101010101" pitchFamily="2" charset="-122"/>
                <a:ea typeface="华文楷体" panose="02010600040101010101" pitchFamily="2" charset="-122"/>
              </a:rPr>
              <a:t>;16.5</a:t>
            </a:r>
            <a:r>
              <a:rPr lang="zh-CN" altLang="en-US" sz="1200" b="1" dirty="0">
                <a:solidFill>
                  <a:schemeClr val="tx1"/>
                </a:solidFill>
                <a:latin typeface="华文楷体" panose="02010600040101010101" pitchFamily="2" charset="-122"/>
                <a:ea typeface="华文楷体" panose="02010600040101010101" pitchFamily="2" charset="-122"/>
              </a:rPr>
              <a:t>或</a:t>
            </a:r>
            <a:r>
              <a:rPr lang="en-US" altLang="zh-CN" sz="1200" b="1" dirty="0">
                <a:solidFill>
                  <a:schemeClr val="tx1"/>
                </a:solidFill>
                <a:latin typeface="华文楷体" panose="02010600040101010101" pitchFamily="2" charset="-122"/>
                <a:ea typeface="华文楷体" panose="02010600040101010101" pitchFamily="2" charset="-122"/>
              </a:rPr>
              <a:t>18.5</a:t>
            </a: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1" dirty="0">
                <a:solidFill>
                  <a:schemeClr val="tx1"/>
                </a:solidFill>
                <a:latin typeface="华文楷体" panose="02010600040101010101" pitchFamily="2" charset="-122"/>
                <a:ea typeface="华文楷体" panose="02010600040101010101" pitchFamily="2" charset="-122"/>
              </a:rPr>
              <a:t>1P-G</a:t>
            </a:r>
            <a:r>
              <a:rPr lang="zh-CN" altLang="en-US" sz="1200" b="1" dirty="0">
                <a:solidFill>
                  <a:schemeClr val="tx1"/>
                </a:solidFill>
                <a:latin typeface="华文楷体" panose="02010600040101010101" pitchFamily="2" charset="-122"/>
                <a:ea typeface="华文楷体" panose="02010600040101010101" pitchFamily="2" charset="-122"/>
              </a:rPr>
              <a:t>活化</a:t>
            </a:r>
            <a:r>
              <a:rPr lang="en-US" altLang="zh-CN" sz="1200" b="1" dirty="0">
                <a:solidFill>
                  <a:schemeClr val="tx1"/>
                </a:solidFill>
                <a:latin typeface="华文楷体" panose="02010600040101010101" pitchFamily="2" charset="-122"/>
                <a:ea typeface="华文楷体" panose="02010600040101010101" pitchFamily="2" charset="-122"/>
              </a:rPr>
              <a:t>UDP-G</a:t>
            </a:r>
            <a:r>
              <a:rPr lang="zh-CN" altLang="en-US" sz="1200" b="1" dirty="0">
                <a:solidFill>
                  <a:schemeClr val="tx1"/>
                </a:solidFill>
                <a:latin typeface="华文楷体" panose="02010600040101010101" pitchFamily="2" charset="-122"/>
                <a:ea typeface="华文楷体" panose="02010600040101010101" pitchFamily="2" charset="-122"/>
              </a:rPr>
              <a:t>，</a:t>
            </a:r>
            <a:r>
              <a:rPr lang="en-US" altLang="zh-CN" sz="1200" b="1" dirty="0">
                <a:solidFill>
                  <a:schemeClr val="tx1"/>
                </a:solidFill>
                <a:latin typeface="华文楷体" panose="02010600040101010101" pitchFamily="2" charset="-122"/>
                <a:ea typeface="华文楷体" panose="02010600040101010101" pitchFamily="2" charset="-122"/>
              </a:rPr>
              <a:t>PPi</a:t>
            </a:r>
            <a:r>
              <a:rPr lang="zh-CN" altLang="en-US" sz="1200" b="1" dirty="0">
                <a:solidFill>
                  <a:schemeClr val="tx1"/>
                </a:solidFill>
                <a:latin typeface="华文楷体" panose="02010600040101010101" pitchFamily="2" charset="-122"/>
                <a:ea typeface="华文楷体" panose="02010600040101010101" pitchFamily="2" charset="-122"/>
              </a:rPr>
              <a:t>水解</a:t>
            </a:r>
          </a:p>
        </p:txBody>
      </p:sp>
      <p:sp>
        <p:nvSpPr>
          <p:cNvPr id="4" name="灯片编号占位符 3"/>
          <p:cNvSpPr>
            <a:spLocks noGrp="1"/>
          </p:cNvSpPr>
          <p:nvPr>
            <p:ph type="sldNum" sz="quarter" idx="5"/>
          </p:nvPr>
        </p:nvSpPr>
        <p:spPr/>
        <p:txBody>
          <a:bodyPr/>
          <a:lstStyle/>
          <a:p>
            <a:fld id="{A725EA7C-94DB-41DF-9028-4D76D3917941}" type="slidenum">
              <a:rPr lang="zh-CN" altLang="en-US" smtClean="0"/>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1" dirty="0">
                <a:solidFill>
                  <a:schemeClr val="tx1"/>
                </a:solidFill>
                <a:latin typeface="华文楷体" panose="02010600040101010101" pitchFamily="2" charset="-122"/>
                <a:ea typeface="华文楷体" panose="02010600040101010101" pitchFamily="2" charset="-122"/>
              </a:rPr>
              <a:t>16</a:t>
            </a: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a:solidFill>
                  <a:srgbClr val="FF6600"/>
                </a:solidFill>
                <a:ea typeface="楷体_GB2312" panose="02010609030101010101" pitchFamily="49" charset="-122"/>
              </a:rPr>
              <a:t>实验前提：</a:t>
            </a:r>
            <a:r>
              <a:rPr lang="zh-CN" altLang="en-US" sz="1200" b="1" dirty="0">
                <a:solidFill>
                  <a:schemeClr val="tx1"/>
                </a:solidFill>
                <a:ea typeface="楷体_GB2312" panose="02010609030101010101" pitchFamily="49" charset="-122"/>
              </a:rPr>
              <a:t>已知动物体缺乏降解苯环的能力。</a:t>
            </a:r>
            <a:r>
              <a:rPr lang="zh-CN" altLang="en-US" dirty="0">
                <a:effectLst/>
              </a:rPr>
              <a:t>苯甲酸和苯乙酸在肝脏中与甘氨酸结合转变为水溶性较强的马尿酸和苯乙尿酸，便于从尿中排出。</a:t>
            </a:r>
            <a:endParaRPr lang="zh-CN" altLang="en-US" sz="1200" b="1" dirty="0">
              <a:solidFill>
                <a:schemeClr val="tx1"/>
              </a:solidFill>
              <a:ea typeface="楷体_GB2312" panose="02010609030101010101" pitchFamily="49"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smtClean="0">
                <a:latin typeface="华文楷体" pitchFamily="2" charset="-122"/>
                <a:ea typeface="华文楷体" pitchFamily="2" charset="-122"/>
              </a:rPr>
              <a:t>加水：反应高度立体专一性，被水化的双键只能是反式，而生成的产物只会是</a:t>
            </a:r>
            <a:r>
              <a:rPr lang="en-US" altLang="zh-CN" sz="1200" dirty="0" smtClean="0">
                <a:latin typeface="华文楷体" pitchFamily="2" charset="-122"/>
                <a:ea typeface="华文楷体" pitchFamily="2" charset="-122"/>
              </a:rPr>
              <a:t>L-</a:t>
            </a:r>
            <a:r>
              <a:rPr lang="zh-CN" altLang="en-US" sz="1200" dirty="0" smtClean="0">
                <a:latin typeface="华文楷体" pitchFamily="2" charset="-122"/>
                <a:ea typeface="华文楷体" pitchFamily="2" charset="-122"/>
              </a:rPr>
              <a:t>羟脂酰</a:t>
            </a:r>
            <a:r>
              <a:rPr lang="en-US" altLang="zh-CN" sz="1200" dirty="0" smtClean="0">
                <a:latin typeface="华文楷体" pitchFamily="2" charset="-122"/>
                <a:ea typeface="华文楷体" pitchFamily="2" charset="-122"/>
              </a:rPr>
              <a:t>-CoA</a:t>
            </a:r>
            <a:r>
              <a:rPr lang="zh-CN" altLang="en-US" sz="1200" dirty="0" smtClean="0">
                <a:latin typeface="华文楷体" pitchFamily="2" charset="-122"/>
                <a:ea typeface="华文楷体" pitchFamily="2" charset="-122"/>
              </a:rPr>
              <a:t>，而且羟基一定加在</a:t>
            </a:r>
            <a:r>
              <a:rPr lang="en-US" altLang="zh-CN" sz="1200" dirty="0" smtClean="0"/>
              <a:t>β-</a:t>
            </a:r>
            <a:r>
              <a:rPr lang="zh-CN" altLang="en-US" sz="1200" dirty="0" smtClean="0">
                <a:latin typeface="华文楷体" pitchFamily="2" charset="-122"/>
                <a:ea typeface="华文楷体" pitchFamily="2" charset="-122"/>
              </a:rPr>
              <a:t>碳原子上</a:t>
            </a:r>
            <a:r>
              <a:rPr lang="zh-CN" altLang="en-US" sz="1200" dirty="0" smtClean="0"/>
              <a:t>。</a:t>
            </a:r>
            <a:r>
              <a:rPr lang="zh-CN" altLang="en-US" dirty="0" smtClean="0"/>
              <a:t> </a:t>
            </a: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xfrm>
            <a:off x="382588" y="685800"/>
            <a:ext cx="6094412" cy="3429000"/>
          </a:xfrm>
          <a:ln/>
        </p:spPr>
      </p:sp>
      <p:sp>
        <p:nvSpPr>
          <p:cNvPr id="2662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200" dirty="0" smtClean="0">
                <a:ea typeface="华文楷体" pitchFamily="2" charset="-122"/>
              </a:rPr>
              <a:t>脱氢反应是高度立体专一性的，产物是</a:t>
            </a:r>
            <a:r>
              <a:rPr lang="en-US" altLang="zh-CN" sz="1200" dirty="0" smtClean="0">
                <a:ea typeface="华文楷体" pitchFamily="2" charset="-122"/>
              </a:rPr>
              <a:t>Δ2-</a:t>
            </a:r>
            <a:r>
              <a:rPr lang="zh-CN" altLang="en-US" sz="1200" dirty="0" smtClean="0">
                <a:ea typeface="华文楷体" pitchFamily="2" charset="-122"/>
              </a:rPr>
              <a:t>反烯脂酰</a:t>
            </a:r>
            <a:r>
              <a:rPr lang="en-US" altLang="zh-CN" sz="1200" dirty="0" smtClean="0">
                <a:ea typeface="华文楷体" pitchFamily="2" charset="-122"/>
              </a:rPr>
              <a:t>-CoA</a:t>
            </a:r>
            <a:r>
              <a:rPr lang="zh-CN" altLang="en-US" sz="1200" dirty="0" smtClean="0">
                <a:ea typeface="华文楷体" pitchFamily="2" charset="-122"/>
              </a:rPr>
              <a:t>和</a:t>
            </a:r>
            <a:r>
              <a:rPr lang="en-US" altLang="zh-CN" sz="1200" dirty="0" smtClean="0">
                <a:ea typeface="华文楷体" pitchFamily="2" charset="-122"/>
              </a:rPr>
              <a:t>FADH</a:t>
            </a:r>
            <a:r>
              <a:rPr lang="en-US" altLang="zh-CN" sz="1200" baseline="-25000" dirty="0" smtClean="0">
                <a:ea typeface="华文楷体" pitchFamily="2" charset="-122"/>
              </a:rPr>
              <a:t>2</a:t>
            </a:r>
            <a:r>
              <a:rPr lang="zh-CN" altLang="en-US" sz="1200" dirty="0" smtClean="0">
                <a:ea typeface="华文楷体" pitchFamily="2" charset="-122"/>
              </a:rPr>
              <a:t>。</a:t>
            </a:r>
          </a:p>
          <a:p>
            <a:pPr eaLnBrk="1" hangingPunct="1"/>
            <a:endParaRPr lang="zh-CN" altLang="en-US" dirty="0" smtClean="0">
              <a:latin typeface="Times New Roman" pitchFamily="18" charset="0"/>
              <a:ea typeface="宋体"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a:solidFill>
                  <a:schemeClr val="tx1"/>
                </a:solidFill>
                <a:latin typeface="华文楷体" panose="02010600040101010101" pitchFamily="2" charset="-122"/>
                <a:ea typeface="华文楷体" panose="02010600040101010101" pitchFamily="2" charset="-122"/>
              </a:rPr>
              <a:t>电子链产生</a:t>
            </a:r>
            <a:r>
              <a:rPr lang="en-US" altLang="zh-CN" sz="1200" b="1" dirty="0">
                <a:solidFill>
                  <a:schemeClr val="tx1"/>
                </a:solidFill>
                <a:latin typeface="华文楷体" panose="02010600040101010101" pitchFamily="2" charset="-122"/>
                <a:ea typeface="华文楷体" panose="02010600040101010101" pitchFamily="2" charset="-122"/>
              </a:rPr>
              <a:t>ATP,</a:t>
            </a:r>
            <a:r>
              <a:rPr lang="zh-CN" altLang="en-US" sz="1200" b="1" dirty="0">
                <a:solidFill>
                  <a:schemeClr val="tx1"/>
                </a:solidFill>
                <a:latin typeface="华文楷体" panose="02010600040101010101" pitchFamily="2" charset="-122"/>
                <a:ea typeface="华文楷体" panose="02010600040101010101" pitchFamily="2" charset="-122"/>
              </a:rPr>
              <a:t>还有生物水（骆驼储水</a:t>
            </a:r>
            <a:r>
              <a:rPr lang="en-US" altLang="zh-CN" sz="1200" b="1" dirty="0">
                <a:solidFill>
                  <a:schemeClr val="tx1"/>
                </a:solidFill>
                <a:latin typeface="华文楷体" panose="02010600040101010101" pitchFamily="2" charset="-122"/>
                <a:ea typeface="华文楷体" panose="02010600040101010101" pitchFamily="2" charset="-122"/>
              </a:rPr>
              <a:t>)</a:t>
            </a:r>
          </a:p>
        </p:txBody>
      </p:sp>
      <p:sp>
        <p:nvSpPr>
          <p:cNvPr id="4" name="灯片编号占位符 3"/>
          <p:cNvSpPr>
            <a:spLocks noGrp="1"/>
          </p:cNvSpPr>
          <p:nvPr>
            <p:ph type="sldNum" sz="quarter" idx="5"/>
          </p:nvPr>
        </p:nvSpPr>
        <p:spPr/>
        <p:txBody>
          <a:bodyPr/>
          <a:lstStyle/>
          <a:p>
            <a:fld id="{A725EA7C-94DB-41DF-9028-4D76D3917941}" type="slidenum">
              <a:rPr lang="zh-CN" altLang="en-US" smtClean="0"/>
              <a:t>13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1" dirty="0" smtClean="0">
                <a:solidFill>
                  <a:schemeClr val="tx1"/>
                </a:solidFill>
                <a:latin typeface="华文楷体" panose="02010600040101010101" pitchFamily="2" charset="-122"/>
                <a:ea typeface="华文楷体" panose="02010600040101010101" pitchFamily="2" charset="-122"/>
              </a:rPr>
              <a:t>16</a:t>
            </a: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14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1" dirty="0">
                <a:solidFill>
                  <a:schemeClr val="tx1"/>
                </a:solidFill>
                <a:latin typeface="微软雅黑" panose="020B0503020204020204" pitchFamily="34" charset="-122"/>
                <a:ea typeface="微软雅黑" panose="020B0503020204020204" pitchFamily="34" charset="-122"/>
              </a:rPr>
              <a:t>3</a:t>
            </a:r>
            <a:r>
              <a:rPr lang="zh-CN" altLang="en-US" sz="1200" b="1" dirty="0">
                <a:solidFill>
                  <a:schemeClr val="tx1"/>
                </a:solidFill>
                <a:latin typeface="微软雅黑" panose="020B0503020204020204" pitchFamily="34" charset="-122"/>
                <a:ea typeface="微软雅黑" panose="020B0503020204020204" pitchFamily="34" charset="-122"/>
              </a:rPr>
              <a:t>碳变</a:t>
            </a:r>
            <a:r>
              <a:rPr lang="en-US" altLang="zh-CN" sz="1200" b="1" dirty="0">
                <a:solidFill>
                  <a:schemeClr val="tx1"/>
                </a:solidFill>
                <a:latin typeface="微软雅黑" panose="020B0503020204020204" pitchFamily="34" charset="-122"/>
                <a:ea typeface="微软雅黑" panose="020B0503020204020204" pitchFamily="34" charset="-122"/>
              </a:rPr>
              <a:t>TCA</a:t>
            </a:r>
            <a:r>
              <a:rPr lang="zh-CN" altLang="en-US" sz="1200" b="1" dirty="0">
                <a:solidFill>
                  <a:schemeClr val="tx1"/>
                </a:solidFill>
                <a:latin typeface="微软雅黑" panose="020B0503020204020204" pitchFamily="34" charset="-122"/>
                <a:ea typeface="微软雅黑" panose="020B0503020204020204" pitchFamily="34" charset="-122"/>
              </a:rPr>
              <a:t>中的</a:t>
            </a:r>
            <a:r>
              <a:rPr lang="en-US" altLang="zh-CN" sz="1200" b="1" dirty="0">
                <a:solidFill>
                  <a:schemeClr val="tx1"/>
                </a:solidFill>
                <a:latin typeface="微软雅黑" panose="020B0503020204020204" pitchFamily="34" charset="-122"/>
                <a:ea typeface="微软雅黑" panose="020B0503020204020204" pitchFamily="34" charset="-122"/>
              </a:rPr>
              <a:t>4</a:t>
            </a:r>
            <a:r>
              <a:rPr lang="zh-CN" altLang="en-US" sz="1200" b="1" dirty="0">
                <a:solidFill>
                  <a:schemeClr val="tx1"/>
                </a:solidFill>
                <a:latin typeface="微软雅黑" panose="020B0503020204020204" pitchFamily="34" charset="-122"/>
                <a:ea typeface="微软雅黑" panose="020B0503020204020204" pitchFamily="34" charset="-122"/>
              </a:rPr>
              <a:t>碳；糖异生：丙酮酸变草酰乙酸，生物素，</a:t>
            </a:r>
            <a:r>
              <a:rPr lang="en-US" altLang="zh-CN" sz="1200" b="1" dirty="0">
                <a:solidFill>
                  <a:schemeClr val="tx1"/>
                </a:solidFill>
                <a:latin typeface="微软雅黑" panose="020B0503020204020204" pitchFamily="34" charset="-122"/>
                <a:ea typeface="微软雅黑" panose="020B0503020204020204" pitchFamily="34" charset="-122"/>
              </a:rPr>
              <a:t>ATP</a:t>
            </a:r>
            <a:r>
              <a:rPr lang="zh-CN" altLang="en-US" sz="1200" b="1" dirty="0">
                <a:solidFill>
                  <a:schemeClr val="tx1"/>
                </a:solidFill>
                <a:latin typeface="微软雅黑" panose="020B0503020204020204" pitchFamily="34" charset="-122"/>
                <a:ea typeface="微软雅黑" panose="020B0503020204020204" pitchFamily="34" charset="-122"/>
              </a:rPr>
              <a:t>；</a:t>
            </a:r>
            <a:r>
              <a:rPr lang="en-US" altLang="zh-CN" sz="1200" b="1" dirty="0">
                <a:solidFill>
                  <a:schemeClr val="tx1"/>
                </a:solidFill>
                <a:latin typeface="微软雅黑" panose="020B0503020204020204" pitchFamily="34" charset="-122"/>
                <a:ea typeface="微软雅黑" panose="020B0503020204020204" pitchFamily="34" charset="-122"/>
              </a:rPr>
              <a:t>2</a:t>
            </a:r>
            <a:r>
              <a:rPr lang="zh-CN" altLang="en-US" sz="1200" b="1" dirty="0">
                <a:solidFill>
                  <a:schemeClr val="tx1"/>
                </a:solidFill>
                <a:latin typeface="微软雅黑" panose="020B0503020204020204" pitchFamily="34" charset="-122"/>
                <a:ea typeface="微软雅黑" panose="020B0503020204020204" pitchFamily="34" charset="-122"/>
              </a:rPr>
              <a:t>号碳活性最大，接收碳；素食主义者缺</a:t>
            </a:r>
            <a:r>
              <a:rPr lang="en-US" altLang="zh-CN" sz="1200" b="1" dirty="0">
                <a:solidFill>
                  <a:schemeClr val="tx1"/>
                </a:solidFill>
                <a:latin typeface="微软雅黑" panose="020B0503020204020204" pitchFamily="34" charset="-122"/>
                <a:ea typeface="微软雅黑" panose="020B0503020204020204" pitchFamily="34" charset="-122"/>
              </a:rPr>
              <a:t>B12</a:t>
            </a:r>
            <a:endParaRPr lang="zh-CN" altLang="en-US" sz="1200" b="1" dirty="0">
              <a:solidFill>
                <a:schemeClr val="tx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1" dirty="0">
                <a:solidFill>
                  <a:schemeClr val="tx1"/>
                </a:solidFill>
                <a:latin typeface="华文楷体" panose="02010600040101010101" pitchFamily="2" charset="-122"/>
                <a:ea typeface="华文楷体" panose="02010600040101010101" pitchFamily="2" charset="-122"/>
              </a:rPr>
              <a:t>16</a:t>
            </a: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3885873" y="0"/>
            <a:ext cx="2972127" cy="457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9939" name="Rectangle 3"/>
          <p:cNvSpPr>
            <a:spLocks noChangeArrowheads="1"/>
          </p:cNvSpPr>
          <p:nvPr/>
        </p:nvSpPr>
        <p:spPr bwMode="auto">
          <a:xfrm>
            <a:off x="3885873" y="8686948"/>
            <a:ext cx="2972127" cy="457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nchor="b"/>
          <a:lstStyle/>
          <a:p>
            <a:pPr algn="r"/>
            <a:r>
              <a:rPr lang="en-US" altLang="zh-CN" sz="1200">
                <a:latin typeface="Times New Roman" pitchFamily="18" charset="0"/>
                <a:ea typeface="宋体" pitchFamily="2" charset="-122"/>
              </a:rPr>
              <a:t>15</a:t>
            </a:r>
          </a:p>
        </p:txBody>
      </p:sp>
      <p:sp>
        <p:nvSpPr>
          <p:cNvPr id="39940" name="Rectangle 4"/>
          <p:cNvSpPr>
            <a:spLocks noChangeArrowheads="1"/>
          </p:cNvSpPr>
          <p:nvPr/>
        </p:nvSpPr>
        <p:spPr bwMode="auto">
          <a:xfrm>
            <a:off x="1" y="8686948"/>
            <a:ext cx="2972128" cy="457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9941" name="Rectangle 5"/>
          <p:cNvSpPr>
            <a:spLocks noChangeArrowheads="1"/>
          </p:cNvSpPr>
          <p:nvPr/>
        </p:nvSpPr>
        <p:spPr bwMode="auto">
          <a:xfrm>
            <a:off x="1" y="0"/>
            <a:ext cx="2972128" cy="457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9942" name="Rectangle 6"/>
          <p:cNvSpPr>
            <a:spLocks noGrp="1" noRot="1" noChangeAspect="1" noChangeArrowheads="1" noTextEdit="1"/>
          </p:cNvSpPr>
          <p:nvPr>
            <p:ph type="sldImg"/>
          </p:nvPr>
        </p:nvSpPr>
        <p:spPr>
          <a:xfrm>
            <a:off x="393700" y="692150"/>
            <a:ext cx="6070600" cy="3416300"/>
          </a:xfrm>
          <a:ln cap="flat"/>
        </p:spPr>
      </p:sp>
      <p:sp>
        <p:nvSpPr>
          <p:cNvPr id="39943" name="Rectangle 7"/>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New Roman" pitchFamily="18" charset="0"/>
              <a:ea typeface="宋体"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18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19</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20</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a:solidFill>
                  <a:schemeClr val="tx1"/>
                </a:solidFill>
                <a:latin typeface="华文楷体" panose="02010600040101010101" pitchFamily="2" charset="-122"/>
                <a:ea typeface="华文楷体" panose="02010600040101010101" pitchFamily="2" charset="-122"/>
              </a:rPr>
              <a:t>前两步和胆固醇合成一样，后者不是在线粒体，在胞质；丙酮产生很少（无酶催化，不能被利用）；长时间节食减肥（酮症，酸中毒）</a:t>
            </a:r>
          </a:p>
        </p:txBody>
      </p:sp>
      <p:sp>
        <p:nvSpPr>
          <p:cNvPr id="4" name="灯片编号占位符 3"/>
          <p:cNvSpPr>
            <a:spLocks noGrp="1"/>
          </p:cNvSpPr>
          <p:nvPr>
            <p:ph type="sldNum" sz="quarter" idx="5"/>
          </p:nvPr>
        </p:nvSpPr>
        <p:spPr/>
        <p:txBody>
          <a:bodyPr/>
          <a:lstStyle/>
          <a:p>
            <a:fld id="{A725EA7C-94DB-41DF-9028-4D76D3917941}" type="slidenum">
              <a:rPr lang="zh-CN" altLang="en-US" smtClean="0"/>
              <a:t>21</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a:solidFill>
                  <a:schemeClr val="tx1"/>
                </a:solidFill>
                <a:latin typeface="华文楷体" panose="02010600040101010101" pitchFamily="2" charset="-122"/>
                <a:ea typeface="华文楷体" panose="02010600040101010101" pitchFamily="2" charset="-122"/>
              </a:rPr>
              <a:t>肝细胞无法利用：无</a:t>
            </a:r>
            <a:r>
              <a:rPr lang="en-US" altLang="zh-CN" sz="1200" b="1" dirty="0">
                <a:solidFill>
                  <a:srgbClr val="EB35CD"/>
                </a:solidFill>
                <a:latin typeface="微软雅黑" panose="020B0503020204020204" pitchFamily="34" charset="-122"/>
                <a:ea typeface="微软雅黑" panose="020B0503020204020204" pitchFamily="34" charset="-122"/>
              </a:rPr>
              <a:t>β-</a:t>
            </a:r>
            <a:r>
              <a:rPr lang="zh-CN" altLang="en-US" sz="1200" b="1" dirty="0">
                <a:solidFill>
                  <a:srgbClr val="EB35CD"/>
                </a:solidFill>
                <a:latin typeface="微软雅黑" panose="020B0503020204020204" pitchFamily="34" charset="-122"/>
                <a:ea typeface="微软雅黑" panose="020B0503020204020204" pitchFamily="34" charset="-122"/>
              </a:rPr>
              <a:t>酮酰</a:t>
            </a:r>
            <a:r>
              <a:rPr lang="en-US" altLang="zh-CN" sz="1200" b="1" dirty="0">
                <a:solidFill>
                  <a:srgbClr val="EB35CD"/>
                </a:solidFill>
                <a:latin typeface="微软雅黑" panose="020B0503020204020204" pitchFamily="34" charset="-122"/>
                <a:ea typeface="微软雅黑" panose="020B0503020204020204" pitchFamily="34" charset="-122"/>
              </a:rPr>
              <a:t>CoA</a:t>
            </a:r>
            <a:r>
              <a:rPr lang="zh-CN" altLang="en-US" sz="1200" b="1" dirty="0">
                <a:solidFill>
                  <a:srgbClr val="EB35CD"/>
                </a:solidFill>
                <a:latin typeface="微软雅黑" panose="020B0503020204020204" pitchFamily="34" charset="-122"/>
                <a:ea typeface="微软雅黑" panose="020B0503020204020204" pitchFamily="34" charset="-122"/>
              </a:rPr>
              <a:t>转移酶；脑细胞有；不能过度依赖酮体利用，</a:t>
            </a:r>
            <a:r>
              <a:rPr lang="zh-CN" altLang="en-US" sz="1200" b="1" dirty="0">
                <a:solidFill>
                  <a:schemeClr val="tx1"/>
                </a:solidFill>
                <a:latin typeface="华文楷体" panose="02010600040101010101" pitchFamily="2" charset="-122"/>
                <a:ea typeface="华文楷体" panose="02010600040101010101" pitchFamily="2" charset="-122"/>
              </a:rPr>
              <a:t>长时间节食减肥（酮症，酸中毒）</a:t>
            </a:r>
            <a:endParaRPr lang="zh-CN" altLang="en-US" sz="1200" b="1" dirty="0">
              <a:solidFill>
                <a:srgbClr val="EB35CD"/>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22</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a:lnSpc>
                <a:spcPct val="150000"/>
              </a:lnSpc>
              <a:spcBef>
                <a:spcPts val="600"/>
              </a:spcBef>
            </a:pPr>
            <a:r>
              <a:rPr lang="zh-CN" altLang="en-US" dirty="0">
                <a:latin typeface="Times New Roman" panose="02020603050405020304" pitchFamily="18" charset="0"/>
                <a:cs typeface="Times New Roman" panose="02020603050405020304" pitchFamily="18" charset="0"/>
              </a:rPr>
              <a:t>The pathway of fatty acid synthesis differs from that of fatty acid oxidation. This situation is typically the case of opposing biosynthetic and degradative pathways because it permits them both to be thermodynamically favorable and independently regulated under similar physiological conditions. </a:t>
            </a:r>
          </a:p>
        </p:txBody>
      </p:sp>
      <p:sp>
        <p:nvSpPr>
          <p:cNvPr id="4" name="灯片编号占位符 3"/>
          <p:cNvSpPr>
            <a:spLocks noGrp="1"/>
          </p:cNvSpPr>
          <p:nvPr>
            <p:ph type="sldNum" sz="quarter" idx="5"/>
          </p:nvPr>
        </p:nvSpPr>
        <p:spPr/>
        <p:txBody>
          <a:bodyPr/>
          <a:lstStyle/>
          <a:p>
            <a:fld id="{A725EA7C-94DB-41DF-9028-4D76D3917941}" type="slidenum">
              <a:rPr lang="zh-CN" altLang="en-US" smtClean="0"/>
              <a:t>23</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24</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25</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1" dirty="0">
                <a:solidFill>
                  <a:schemeClr val="tx1"/>
                </a:solidFill>
                <a:latin typeface="华文楷体" panose="02010600040101010101" pitchFamily="2" charset="-122"/>
                <a:ea typeface="华文楷体" panose="02010600040101010101" pitchFamily="2" charset="-122"/>
              </a:rPr>
              <a:t>16</a:t>
            </a: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26</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1" dirty="0">
                <a:solidFill>
                  <a:schemeClr val="tx1"/>
                </a:solidFill>
                <a:latin typeface="华文楷体" panose="02010600040101010101" pitchFamily="2" charset="-122"/>
                <a:ea typeface="华文楷体" panose="02010600040101010101" pitchFamily="2" charset="-122"/>
              </a:rPr>
              <a:t>16</a:t>
            </a: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27</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1" dirty="0">
                <a:solidFill>
                  <a:schemeClr val="tx1"/>
                </a:solidFill>
                <a:latin typeface="华文楷体" panose="02010600040101010101" pitchFamily="2" charset="-122"/>
                <a:ea typeface="华文楷体" panose="02010600040101010101" pitchFamily="2" charset="-122"/>
              </a:rPr>
              <a:t>16</a:t>
            </a: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28</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29</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a:solidFill>
                  <a:schemeClr val="tx1"/>
                </a:solidFill>
                <a:latin typeface="华文楷体" panose="02010600040101010101" pitchFamily="2" charset="-122"/>
                <a:ea typeface="华文楷体" panose="02010600040101010101" pitchFamily="2" charset="-122"/>
              </a:rPr>
              <a:t>第一轮反应结束后，乙酰</a:t>
            </a:r>
            <a:r>
              <a:rPr lang="en-US" altLang="zh-CN" sz="1200" b="1" dirty="0">
                <a:solidFill>
                  <a:schemeClr val="tx1"/>
                </a:solidFill>
                <a:latin typeface="华文楷体" panose="02010600040101010101" pitchFamily="2" charset="-122"/>
                <a:ea typeface="华文楷体" panose="02010600040101010101" pitchFamily="2" charset="-122"/>
              </a:rPr>
              <a:t>CoA</a:t>
            </a:r>
            <a:r>
              <a:rPr lang="zh-CN" altLang="en-US" sz="1200" b="1" dirty="0">
                <a:solidFill>
                  <a:schemeClr val="tx1"/>
                </a:solidFill>
                <a:latin typeface="华文楷体" panose="02010600040101010101" pitchFamily="2" charset="-122"/>
                <a:ea typeface="华文楷体" panose="02010600040101010101" pitchFamily="2" charset="-122"/>
              </a:rPr>
              <a:t>的两个</a:t>
            </a:r>
            <a:r>
              <a:rPr lang="en-US" altLang="zh-CN" sz="1200" b="1" dirty="0">
                <a:solidFill>
                  <a:schemeClr val="tx1"/>
                </a:solidFill>
                <a:latin typeface="华文楷体" panose="02010600040101010101" pitchFamily="2" charset="-122"/>
                <a:ea typeface="华文楷体" panose="02010600040101010101" pitchFamily="2" charset="-122"/>
              </a:rPr>
              <a:t>C</a:t>
            </a:r>
            <a:r>
              <a:rPr lang="zh-CN" altLang="en-US" sz="1200" b="1" dirty="0">
                <a:solidFill>
                  <a:schemeClr val="tx1"/>
                </a:solidFill>
                <a:latin typeface="华文楷体" panose="02010600040101010101" pitchFamily="2" charset="-122"/>
                <a:ea typeface="华文楷体" panose="02010600040101010101" pitchFamily="2" charset="-122"/>
              </a:rPr>
              <a:t>转移到丙二酸单酰基上，形成</a:t>
            </a:r>
            <a:r>
              <a:rPr lang="en-US" altLang="zh-CN" sz="1200" b="1" dirty="0">
                <a:solidFill>
                  <a:schemeClr val="tx1"/>
                </a:solidFill>
                <a:latin typeface="华文楷体" panose="02010600040101010101" pitchFamily="2" charset="-122"/>
                <a:ea typeface="华文楷体" panose="02010600040101010101" pitchFamily="2" charset="-122"/>
              </a:rPr>
              <a:t>4</a:t>
            </a:r>
            <a:r>
              <a:rPr lang="zh-CN" altLang="en-US" sz="1200" b="1" dirty="0">
                <a:solidFill>
                  <a:schemeClr val="tx1"/>
                </a:solidFill>
                <a:latin typeface="华文楷体" panose="02010600040101010101" pitchFamily="2" charset="-122"/>
                <a:ea typeface="华文楷体" panose="02010600040101010101" pitchFamily="2" charset="-122"/>
              </a:rPr>
              <a:t>碳链，</a:t>
            </a:r>
            <a:r>
              <a:rPr lang="en-US" altLang="zh-CN" sz="1200" b="1" dirty="0">
                <a:solidFill>
                  <a:schemeClr val="tx1"/>
                </a:solidFill>
                <a:latin typeface="华文楷体" panose="02010600040101010101" pitchFamily="2" charset="-122"/>
                <a:ea typeface="华文楷体" panose="02010600040101010101" pitchFamily="2" charset="-122"/>
              </a:rPr>
              <a:t>4</a:t>
            </a:r>
            <a:r>
              <a:rPr lang="zh-CN" altLang="en-US" sz="1200" b="1" dirty="0">
                <a:solidFill>
                  <a:schemeClr val="tx1"/>
                </a:solidFill>
                <a:latin typeface="华文楷体" panose="02010600040101010101" pitchFamily="2" charset="-122"/>
                <a:ea typeface="华文楷体" panose="02010600040101010101" pitchFamily="2" charset="-122"/>
              </a:rPr>
              <a:t>碳链移位到合酶上，空出</a:t>
            </a:r>
            <a:r>
              <a:rPr lang="en-US" altLang="zh-CN" sz="1200" b="1" dirty="0">
                <a:solidFill>
                  <a:schemeClr val="tx1"/>
                </a:solidFill>
                <a:latin typeface="华文楷体" panose="02010600040101010101" pitchFamily="2" charset="-122"/>
                <a:ea typeface="华文楷体" panose="02010600040101010101" pitchFamily="2" charset="-122"/>
              </a:rPr>
              <a:t>ACP</a:t>
            </a:r>
            <a:r>
              <a:rPr lang="zh-CN" altLang="en-US" sz="1200" b="1" dirty="0">
                <a:solidFill>
                  <a:schemeClr val="tx1"/>
                </a:solidFill>
                <a:latin typeface="华文楷体" panose="02010600040101010101" pitchFamily="2" charset="-122"/>
                <a:ea typeface="华文楷体" panose="02010600040101010101" pitchFamily="2" charset="-122"/>
              </a:rPr>
              <a:t>接受下一个</a:t>
            </a:r>
            <a:r>
              <a:rPr lang="zh-CN" altLang="en-US" sz="1200" dirty="0">
                <a:latin typeface="微软雅黑" panose="020B0503020204020204" pitchFamily="34" charset="-122"/>
                <a:ea typeface="微软雅黑" panose="020B0503020204020204" pitchFamily="34" charset="-122"/>
              </a:rPr>
              <a:t>丙二酸单酰</a:t>
            </a:r>
            <a:r>
              <a:rPr lang="en-US" altLang="zh-CN" sz="1200" dirty="0">
                <a:latin typeface="微软雅黑" panose="020B0503020204020204" pitchFamily="34" charset="-122"/>
                <a:ea typeface="微软雅黑" panose="020B0503020204020204" pitchFamily="34" charset="-122"/>
              </a:rPr>
              <a:t>CoA</a:t>
            </a:r>
            <a:r>
              <a:rPr lang="zh-CN" altLang="en-US" sz="1200" dirty="0">
                <a:latin typeface="微软雅黑" panose="020B0503020204020204" pitchFamily="34" charset="-122"/>
                <a:ea typeface="微软雅黑" panose="020B0503020204020204" pitchFamily="34" charset="-122"/>
              </a:rPr>
              <a:t>。</a:t>
            </a: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30</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a:solidFill>
                  <a:schemeClr val="tx1"/>
                </a:solidFill>
                <a:latin typeface="华文楷体" panose="02010600040101010101" pitchFamily="2" charset="-122"/>
                <a:ea typeface="华文楷体" panose="02010600040101010101" pitchFamily="2" charset="-122"/>
              </a:rPr>
              <a:t>第一轮反应结束后，乙酰</a:t>
            </a:r>
            <a:r>
              <a:rPr lang="en-US" altLang="zh-CN" sz="1200" b="1" dirty="0">
                <a:solidFill>
                  <a:schemeClr val="tx1"/>
                </a:solidFill>
                <a:latin typeface="华文楷体" panose="02010600040101010101" pitchFamily="2" charset="-122"/>
                <a:ea typeface="华文楷体" panose="02010600040101010101" pitchFamily="2" charset="-122"/>
              </a:rPr>
              <a:t>CoA</a:t>
            </a:r>
            <a:r>
              <a:rPr lang="zh-CN" altLang="en-US" sz="1200" b="1" dirty="0">
                <a:solidFill>
                  <a:schemeClr val="tx1"/>
                </a:solidFill>
                <a:latin typeface="华文楷体" panose="02010600040101010101" pitchFamily="2" charset="-122"/>
                <a:ea typeface="华文楷体" panose="02010600040101010101" pitchFamily="2" charset="-122"/>
              </a:rPr>
              <a:t>的两个</a:t>
            </a:r>
            <a:r>
              <a:rPr lang="en-US" altLang="zh-CN" sz="1200" b="1" dirty="0">
                <a:solidFill>
                  <a:schemeClr val="tx1"/>
                </a:solidFill>
                <a:latin typeface="华文楷体" panose="02010600040101010101" pitchFamily="2" charset="-122"/>
                <a:ea typeface="华文楷体" panose="02010600040101010101" pitchFamily="2" charset="-122"/>
              </a:rPr>
              <a:t>C</a:t>
            </a:r>
            <a:r>
              <a:rPr lang="zh-CN" altLang="en-US" sz="1200" b="1" dirty="0">
                <a:solidFill>
                  <a:schemeClr val="tx1"/>
                </a:solidFill>
                <a:latin typeface="华文楷体" panose="02010600040101010101" pitchFamily="2" charset="-122"/>
                <a:ea typeface="华文楷体" panose="02010600040101010101" pitchFamily="2" charset="-122"/>
              </a:rPr>
              <a:t>转移到丙二酸单酰基上，形成</a:t>
            </a:r>
            <a:r>
              <a:rPr lang="en-US" altLang="zh-CN" sz="1200" b="1" dirty="0">
                <a:solidFill>
                  <a:schemeClr val="tx1"/>
                </a:solidFill>
                <a:latin typeface="华文楷体" panose="02010600040101010101" pitchFamily="2" charset="-122"/>
                <a:ea typeface="华文楷体" panose="02010600040101010101" pitchFamily="2" charset="-122"/>
              </a:rPr>
              <a:t>4</a:t>
            </a:r>
            <a:r>
              <a:rPr lang="zh-CN" altLang="en-US" sz="1200" b="1" dirty="0">
                <a:solidFill>
                  <a:schemeClr val="tx1"/>
                </a:solidFill>
                <a:latin typeface="华文楷体" panose="02010600040101010101" pitchFamily="2" charset="-122"/>
                <a:ea typeface="华文楷体" panose="02010600040101010101" pitchFamily="2" charset="-122"/>
              </a:rPr>
              <a:t>碳链，</a:t>
            </a:r>
            <a:r>
              <a:rPr lang="en-US" altLang="zh-CN" sz="1200" b="1" dirty="0">
                <a:solidFill>
                  <a:schemeClr val="tx1"/>
                </a:solidFill>
                <a:latin typeface="华文楷体" panose="02010600040101010101" pitchFamily="2" charset="-122"/>
                <a:ea typeface="华文楷体" panose="02010600040101010101" pitchFamily="2" charset="-122"/>
              </a:rPr>
              <a:t>4</a:t>
            </a:r>
            <a:r>
              <a:rPr lang="zh-CN" altLang="en-US" sz="1200" b="1" dirty="0">
                <a:solidFill>
                  <a:schemeClr val="tx1"/>
                </a:solidFill>
                <a:latin typeface="华文楷体" panose="02010600040101010101" pitchFamily="2" charset="-122"/>
                <a:ea typeface="华文楷体" panose="02010600040101010101" pitchFamily="2" charset="-122"/>
              </a:rPr>
              <a:t>碳链移位到合酶上，空出</a:t>
            </a:r>
            <a:r>
              <a:rPr lang="en-US" altLang="zh-CN" sz="1200" b="1" dirty="0">
                <a:solidFill>
                  <a:schemeClr val="tx1"/>
                </a:solidFill>
                <a:latin typeface="华文楷体" panose="02010600040101010101" pitchFamily="2" charset="-122"/>
                <a:ea typeface="华文楷体" panose="02010600040101010101" pitchFamily="2" charset="-122"/>
              </a:rPr>
              <a:t>ACP</a:t>
            </a:r>
            <a:r>
              <a:rPr lang="zh-CN" altLang="en-US" sz="1200" b="1" dirty="0">
                <a:solidFill>
                  <a:schemeClr val="tx1"/>
                </a:solidFill>
                <a:latin typeface="华文楷体" panose="02010600040101010101" pitchFamily="2" charset="-122"/>
                <a:ea typeface="华文楷体" panose="02010600040101010101" pitchFamily="2" charset="-122"/>
              </a:rPr>
              <a:t>接受下一个</a:t>
            </a:r>
            <a:r>
              <a:rPr lang="zh-CN" altLang="en-US" sz="1200" dirty="0">
                <a:latin typeface="微软雅黑" panose="020B0503020204020204" pitchFamily="34" charset="-122"/>
                <a:ea typeface="微软雅黑" panose="020B0503020204020204" pitchFamily="34" charset="-122"/>
              </a:rPr>
              <a:t>丙二酸单酰</a:t>
            </a:r>
            <a:r>
              <a:rPr lang="en-US" altLang="zh-CN" sz="1200" dirty="0">
                <a:latin typeface="微软雅黑" panose="020B0503020204020204" pitchFamily="34" charset="-122"/>
                <a:ea typeface="微软雅黑" panose="020B0503020204020204" pitchFamily="34" charset="-122"/>
              </a:rPr>
              <a:t>CoA</a:t>
            </a:r>
            <a:r>
              <a:rPr lang="zh-CN" altLang="en-US" sz="1200" dirty="0">
                <a:latin typeface="微软雅黑" panose="020B0503020204020204" pitchFamily="34" charset="-122"/>
                <a:ea typeface="微软雅黑" panose="020B0503020204020204" pitchFamily="34" charset="-122"/>
              </a:rPr>
              <a:t>。</a:t>
            </a: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31</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a:solidFill>
                  <a:schemeClr val="tx1"/>
                </a:solidFill>
                <a:latin typeface="华文楷体" panose="02010600040101010101" pitchFamily="2" charset="-122"/>
                <a:ea typeface="华文楷体" panose="02010600040101010101" pitchFamily="2" charset="-122"/>
              </a:rPr>
              <a:t>第一轮反应结束后，乙酰</a:t>
            </a:r>
            <a:r>
              <a:rPr lang="en-US" altLang="zh-CN" sz="1200" b="1" dirty="0">
                <a:solidFill>
                  <a:schemeClr val="tx1"/>
                </a:solidFill>
                <a:latin typeface="华文楷体" panose="02010600040101010101" pitchFamily="2" charset="-122"/>
                <a:ea typeface="华文楷体" panose="02010600040101010101" pitchFamily="2" charset="-122"/>
              </a:rPr>
              <a:t>CoA</a:t>
            </a:r>
            <a:r>
              <a:rPr lang="zh-CN" altLang="en-US" sz="1200" b="1" dirty="0">
                <a:solidFill>
                  <a:schemeClr val="tx1"/>
                </a:solidFill>
                <a:latin typeface="华文楷体" panose="02010600040101010101" pitchFamily="2" charset="-122"/>
                <a:ea typeface="华文楷体" panose="02010600040101010101" pitchFamily="2" charset="-122"/>
              </a:rPr>
              <a:t>的两个</a:t>
            </a:r>
            <a:r>
              <a:rPr lang="en-US" altLang="zh-CN" sz="1200" b="1" dirty="0">
                <a:solidFill>
                  <a:schemeClr val="tx1"/>
                </a:solidFill>
                <a:latin typeface="华文楷体" panose="02010600040101010101" pitchFamily="2" charset="-122"/>
                <a:ea typeface="华文楷体" panose="02010600040101010101" pitchFamily="2" charset="-122"/>
              </a:rPr>
              <a:t>C</a:t>
            </a:r>
            <a:r>
              <a:rPr lang="zh-CN" altLang="en-US" sz="1200" b="1" dirty="0">
                <a:solidFill>
                  <a:schemeClr val="tx1"/>
                </a:solidFill>
                <a:latin typeface="华文楷体" panose="02010600040101010101" pitchFamily="2" charset="-122"/>
                <a:ea typeface="华文楷体" panose="02010600040101010101" pitchFamily="2" charset="-122"/>
              </a:rPr>
              <a:t>转移到丙二酸单酰基上，形成</a:t>
            </a:r>
            <a:r>
              <a:rPr lang="en-US" altLang="zh-CN" sz="1200" b="1" dirty="0">
                <a:solidFill>
                  <a:schemeClr val="tx1"/>
                </a:solidFill>
                <a:latin typeface="华文楷体" panose="02010600040101010101" pitchFamily="2" charset="-122"/>
                <a:ea typeface="华文楷体" panose="02010600040101010101" pitchFamily="2" charset="-122"/>
              </a:rPr>
              <a:t>4</a:t>
            </a:r>
            <a:r>
              <a:rPr lang="zh-CN" altLang="en-US" sz="1200" b="1" dirty="0">
                <a:solidFill>
                  <a:schemeClr val="tx1"/>
                </a:solidFill>
                <a:latin typeface="华文楷体" panose="02010600040101010101" pitchFamily="2" charset="-122"/>
                <a:ea typeface="华文楷体" panose="02010600040101010101" pitchFamily="2" charset="-122"/>
              </a:rPr>
              <a:t>碳链，</a:t>
            </a:r>
            <a:r>
              <a:rPr lang="en-US" altLang="zh-CN" sz="1200" b="1" dirty="0">
                <a:solidFill>
                  <a:schemeClr val="tx1"/>
                </a:solidFill>
                <a:latin typeface="华文楷体" panose="02010600040101010101" pitchFamily="2" charset="-122"/>
                <a:ea typeface="华文楷体" panose="02010600040101010101" pitchFamily="2" charset="-122"/>
              </a:rPr>
              <a:t>4</a:t>
            </a:r>
            <a:r>
              <a:rPr lang="zh-CN" altLang="en-US" sz="1200" b="1" dirty="0">
                <a:solidFill>
                  <a:schemeClr val="tx1"/>
                </a:solidFill>
                <a:latin typeface="华文楷体" panose="02010600040101010101" pitchFamily="2" charset="-122"/>
                <a:ea typeface="华文楷体" panose="02010600040101010101" pitchFamily="2" charset="-122"/>
              </a:rPr>
              <a:t>碳链移位到合酶上，空出</a:t>
            </a:r>
            <a:r>
              <a:rPr lang="en-US" altLang="zh-CN" sz="1200" b="1" dirty="0">
                <a:solidFill>
                  <a:schemeClr val="tx1"/>
                </a:solidFill>
                <a:latin typeface="华文楷体" panose="02010600040101010101" pitchFamily="2" charset="-122"/>
                <a:ea typeface="华文楷体" panose="02010600040101010101" pitchFamily="2" charset="-122"/>
              </a:rPr>
              <a:t>ACP</a:t>
            </a:r>
            <a:r>
              <a:rPr lang="zh-CN" altLang="en-US" sz="1200" b="1" dirty="0">
                <a:solidFill>
                  <a:schemeClr val="tx1"/>
                </a:solidFill>
                <a:latin typeface="华文楷体" panose="02010600040101010101" pitchFamily="2" charset="-122"/>
                <a:ea typeface="华文楷体" panose="02010600040101010101" pitchFamily="2" charset="-122"/>
              </a:rPr>
              <a:t>接受下一个</a:t>
            </a:r>
            <a:r>
              <a:rPr lang="zh-CN" altLang="en-US" sz="1200" dirty="0">
                <a:latin typeface="微软雅黑" panose="020B0503020204020204" pitchFamily="34" charset="-122"/>
                <a:ea typeface="微软雅黑" panose="020B0503020204020204" pitchFamily="34" charset="-122"/>
              </a:rPr>
              <a:t>丙二酸单酰</a:t>
            </a:r>
            <a:r>
              <a:rPr lang="en-US" altLang="zh-CN" sz="1200" dirty="0">
                <a:latin typeface="微软雅黑" panose="020B0503020204020204" pitchFamily="34" charset="-122"/>
                <a:ea typeface="微软雅黑" panose="020B0503020204020204" pitchFamily="34" charset="-122"/>
              </a:rPr>
              <a:t>CoA</a:t>
            </a:r>
            <a:r>
              <a:rPr lang="zh-CN" altLang="en-US" sz="1200" dirty="0">
                <a:latin typeface="微软雅黑" panose="020B0503020204020204" pitchFamily="34" charset="-122"/>
                <a:ea typeface="微软雅黑" panose="020B0503020204020204" pitchFamily="34" charset="-122"/>
              </a:rPr>
              <a:t>。</a:t>
            </a: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32</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200" b="1" dirty="0">
                <a:solidFill>
                  <a:schemeClr val="tx1"/>
                </a:solidFill>
                <a:latin typeface="华文楷体" panose="02010600040101010101" pitchFamily="2" charset="-122"/>
                <a:ea typeface="华文楷体" panose="02010600040101010101" pitchFamily="2" charset="-122"/>
              </a:rPr>
              <a:t>16</a:t>
            </a: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33</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b="1" dirty="0">
                <a:solidFill>
                  <a:schemeClr val="tx1"/>
                </a:solidFill>
                <a:latin typeface="华文楷体" panose="02010600040101010101" pitchFamily="2" charset="-122"/>
                <a:ea typeface="华文楷体" panose="02010600040101010101" pitchFamily="2" charset="-122"/>
              </a:rPr>
              <a:t>动物体中，脂肪酸合成停在</a:t>
            </a:r>
            <a:r>
              <a:rPr lang="en-US" altLang="zh-CN" sz="1200" b="1" dirty="0">
                <a:solidFill>
                  <a:schemeClr val="tx1"/>
                </a:solidFill>
                <a:latin typeface="华文楷体" panose="02010600040101010101" pitchFamily="2" charset="-122"/>
                <a:ea typeface="华文楷体" panose="02010600040101010101" pitchFamily="2" charset="-122"/>
              </a:rPr>
              <a:t>16</a:t>
            </a:r>
            <a:r>
              <a:rPr lang="zh-CN" altLang="en-US" sz="1200" b="1" dirty="0">
                <a:solidFill>
                  <a:schemeClr val="tx1"/>
                </a:solidFill>
                <a:latin typeface="华文楷体" panose="02010600040101010101" pitchFamily="2" charset="-122"/>
                <a:ea typeface="华文楷体" panose="02010600040101010101" pitchFamily="2" charset="-122"/>
              </a:rPr>
              <a:t>碳脂肪酸（软脂酸）。</a:t>
            </a:r>
            <a:r>
              <a:rPr lang="zh-CN" altLang="en-US" sz="1200" b="0" dirty="0">
                <a:solidFill>
                  <a:srgbClr val="CC0066"/>
                </a:solidFill>
                <a:latin typeface="黑体" panose="02010609060101010101" pitchFamily="49" charset="-122"/>
                <a:ea typeface="黑体" panose="02010609060101010101" pitchFamily="49" charset="-122"/>
              </a:rPr>
              <a:t>△编码体系</a:t>
            </a:r>
            <a:r>
              <a:rPr lang="en-US" altLang="zh-CN" sz="1200" b="0" dirty="0">
                <a:solidFill>
                  <a:srgbClr val="CC0066"/>
                </a:solidFill>
                <a:latin typeface="黑体" panose="02010609060101010101" pitchFamily="49" charset="-122"/>
                <a:ea typeface="黑体" panose="02010609060101010101" pitchFamily="49" charset="-122"/>
              </a:rPr>
              <a:t>:</a:t>
            </a:r>
            <a:r>
              <a:rPr lang="zh-CN" altLang="en-US" sz="1200" b="0" dirty="0">
                <a:latin typeface="黑体" panose="02010609060101010101" pitchFamily="49" charset="-122"/>
                <a:ea typeface="黑体" panose="02010609060101010101" pitchFamily="49" charset="-122"/>
              </a:rPr>
              <a:t>  从脂酸的羧基碳起计算</a:t>
            </a: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34</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36</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37</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38</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40</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41</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42</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43</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200" b="1" dirty="0">
              <a:solidFill>
                <a:schemeClr val="tx1"/>
              </a:solidFill>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5"/>
          </p:nvPr>
        </p:nvSpPr>
        <p:spPr/>
        <p:txBody>
          <a:bodyPr/>
          <a:lstStyle/>
          <a:p>
            <a:fld id="{A725EA7C-94DB-41DF-9028-4D76D3917941}" type="slidenum">
              <a:rPr lang="zh-CN" altLang="en-US" smtClean="0"/>
              <a:t>44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2023/12/4</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2023/12/4</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2023/12/4</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a:defRPr/>
            </a:pPr>
            <a:fld id="{F1D968E2-24A8-46F5-BB3F-C7A9E32908A9}" type="datetime1">
              <a:rPr lang="zh-CN" altLang="en-US" smtClean="0"/>
              <a:t>2023/12/4</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a:defRPr/>
            </a:pPr>
            <a:fld id="{F1D968E2-24A8-46F5-BB3F-C7A9E32908A9}" type="datetime1">
              <a:rPr lang="zh-CN" altLang="en-US" smtClean="0"/>
              <a:t>2023/12/4</a:t>
            </a:fld>
            <a:endParaRPr lang="en-US" altLang="zh-CN"/>
          </a:p>
        </p:txBody>
      </p:sp>
      <p:sp>
        <p:nvSpPr>
          <p:cNvPr id="8" name="Footer Placeholder 7"/>
          <p:cNvSpPr>
            <a:spLocks noGrp="1"/>
          </p:cNvSpPr>
          <p:nvPr>
            <p:ph type="ftr" sz="quarter" idx="11"/>
          </p:nvPr>
        </p:nvSpPr>
        <p:spPr/>
        <p:txBody>
          <a:bodyPr/>
          <a:lstStyle/>
          <a:p>
            <a:pPr>
              <a:defRPr/>
            </a:pPr>
            <a:endParaRPr lang="en-US" altLang="zh-CN"/>
          </a:p>
        </p:txBody>
      </p:sp>
      <p:sp>
        <p:nvSpPr>
          <p:cNvPr id="9" name="Slide Number Placeholder 8"/>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F1D968E2-24A8-46F5-BB3F-C7A9E32908A9}" type="datetime1">
              <a:rPr lang="zh-CN" altLang="en-US" smtClean="0"/>
              <a:t>2023/12/4</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F1D968E2-24A8-46F5-BB3F-C7A9E32908A9}" type="datetime1">
              <a:rPr lang="zh-CN" altLang="en-US" smtClean="0"/>
              <a:t>2023/12/4</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2023/12/4</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F1D968E2-24A8-46F5-BB3F-C7A9E32908A9}" type="datetime1">
              <a:rPr lang="zh-CN" altLang="en-US" smtClean="0"/>
              <a:t>2023/12/4</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lvl="0" eaLnBrk="1" fontAlgn="base" hangingPunct="1">
              <a:buNone/>
            </a:pPr>
            <a:fld id="{9A0DB2DC-4C9A-4742-B13C-FB6460FD3503}"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latin typeface="Arial" panose="020B0604020202020204" pitchFamily="34" charset="0"/>
            </a:endParaRPr>
          </a:p>
        </p:txBody>
      </p:sp>
    </p:spTree>
  </p:cSld>
  <p:clrMapOvr>
    <a:masterClrMapping/>
  </p:clrMapOvr>
  <p:transition>
    <p:random/>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31228C-2A41-49A9-870A-621E113E584C}" type="datetimeFigureOut">
              <a:rPr lang="zh-CN" altLang="en-US" smtClean="0"/>
              <a:t>2023/12/4</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AC413C-B4C7-4D74-84B1-3A5243B271C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2000"/>
                                        <p:tgtEl>
                                          <p:spTgt spid="3">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20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2000"/>
                                        <p:tgtEl>
                                          <p:spTgt spid="3">
                                            <p:txEl>
                                              <p:pRg st="2" end="2"/>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2000"/>
                                        <p:tgtEl>
                                          <p:spTgt spid="3">
                                            <p:txEl>
                                              <p:pRg st="3" end="3"/>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tags" Target="../tags/tag3.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7.xml"/><Relationship Id="rId1" Type="http://schemas.openxmlformats.org/officeDocument/2006/relationships/tags" Target="../tags/tag4.xml"/><Relationship Id="rId4" Type="http://schemas.openxmlformats.org/officeDocument/2006/relationships/image" Target="../media/image39.png"/></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MolMotion"/>
          <p:cNvPicPr>
            <a:picLocks noChangeAspect="1"/>
          </p:cNvPicPr>
          <p:nvPr/>
        </p:nvPicPr>
        <p:blipFill>
          <a:blip r:embed="rId3"/>
          <a:srcRect l="8759"/>
          <a:stretch>
            <a:fillRect/>
          </a:stretch>
        </p:blipFill>
        <p:spPr>
          <a:xfrm>
            <a:off x="0" y="0"/>
            <a:ext cx="8264504" cy="6858000"/>
          </a:xfrm>
          <a:prstGeom prst="rect">
            <a:avLst/>
          </a:prstGeom>
        </p:spPr>
      </p:pic>
      <p:sp>
        <p:nvSpPr>
          <p:cNvPr id="6" name="文本框 5"/>
          <p:cNvSpPr txBox="1"/>
          <p:nvPr/>
        </p:nvSpPr>
        <p:spPr>
          <a:xfrm>
            <a:off x="8608945" y="2635546"/>
            <a:ext cx="2917135" cy="1261884"/>
          </a:xfrm>
          <a:prstGeom prst="rect">
            <a:avLst/>
          </a:prstGeom>
          <a:noFill/>
        </p:spPr>
        <p:txBody>
          <a:bodyPr wrap="square" rtlCol="0">
            <a:spAutoFit/>
          </a:bodyPr>
          <a:lstStyle/>
          <a:p>
            <a:pPr marL="0" marR="0" lvl="0" indent="0" algn="ctr" defTabSz="3429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第</a:t>
            </a:r>
            <a:r>
              <a:rPr kumimoji="0" lang="en-US" altLang="zh-CN" sz="3600" b="1"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10</a:t>
            </a:r>
            <a:r>
              <a:rPr kumimoji="0" lang="zh-CN" altLang="en-US" sz="3600" b="1" i="0" u="none" strike="noStrike" kern="1200" cap="none" spc="0" normalizeH="0" baseline="0" noProof="0" dirty="0" smtClean="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章</a:t>
            </a:r>
            <a:endParaRPr kumimoji="0" lang="en-US" altLang="zh-CN" sz="3600" b="1"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ctr" defTabSz="342900" rtl="0" eaLnBrk="1" fontAlgn="auto" latinLnBrk="0" hangingPunct="1">
              <a:lnSpc>
                <a:spcPct val="100000"/>
              </a:lnSpc>
              <a:spcBef>
                <a:spcPts val="0"/>
              </a:spcBef>
              <a:spcAft>
                <a:spcPts val="0"/>
              </a:spcAft>
              <a:buClrTx/>
              <a:buSzTx/>
              <a:buFontTx/>
              <a:buNone/>
              <a:defRPr/>
            </a:pPr>
            <a:r>
              <a:rPr lang="zh-CN" altLang="en-US" sz="4000" b="1" dirty="0">
                <a:solidFill>
                  <a:prstClr val="black"/>
                </a:solidFill>
                <a:latin typeface="微软雅黑" panose="020B0503020204020204" pitchFamily="34" charset="-122"/>
                <a:ea typeface="微软雅黑" panose="020B0503020204020204" pitchFamily="34" charset="-122"/>
                <a:cs typeface="Times New Roman" panose="02020603050405020304" pitchFamily="18" charset="0"/>
              </a:rPr>
              <a:t>脂质的代谢</a:t>
            </a:r>
            <a:endParaRPr kumimoji="0" lang="zh-CN" altLang="en-US" sz="40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1668780" y="22860"/>
            <a:ext cx="8763000" cy="6240780"/>
          </a:xfrm>
          <a:prstGeom prst="rect">
            <a:avLst/>
          </a:prstGeom>
        </p:spPr>
      </p:pic>
      <p:sp>
        <p:nvSpPr>
          <p:cNvPr id="6" name="Text Box 2"/>
          <p:cNvSpPr txBox="1">
            <a:spLocks noChangeArrowheads="1"/>
          </p:cNvSpPr>
          <p:nvPr/>
        </p:nvSpPr>
        <p:spPr bwMode="auto">
          <a:xfrm>
            <a:off x="4442461" y="173356"/>
            <a:ext cx="3568065" cy="460375"/>
          </a:xfrm>
          <a:prstGeom prst="rect">
            <a:avLst/>
          </a:prstGeom>
          <a:solidFill>
            <a:schemeClr val="accent6">
              <a:lumMod val="60000"/>
              <a:lumOff val="40000"/>
            </a:schemeClr>
          </a:solidFill>
          <a:extLst>
            <a:ext uri="{91240B29-F687-4F45-9708-019B960494DF}">
              <a14:hiddenLine xmlns:a14="http://schemas.microsoft.com/office/drawing/2010/main" w="9525">
                <a:solidFill>
                  <a:srgbClr val="000000"/>
                </a:solidFill>
                <a:miter lim="800000"/>
                <a:headEnd/>
                <a:tailEnd/>
              </a14:hiddenLine>
            </a:ext>
          </a:extLst>
        </p:spPr>
        <p:style>
          <a:lnRef idx="2">
            <a:schemeClr val="dk1"/>
          </a:lnRef>
          <a:fillRef idx="1">
            <a:schemeClr val="lt1"/>
          </a:fillRef>
          <a:effectRef idx="0">
            <a:schemeClr val="dk1"/>
          </a:effectRef>
          <a:fontRef idx="minor">
            <a:schemeClr val="dk1"/>
          </a:fontRef>
        </p:style>
        <p:txBody>
          <a:bodyPr wrap="square">
            <a:spAutoFit/>
          </a:bodyPr>
          <a:lstStyle>
            <a:lvl1pPr indent="7175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0" eaLnBrk="1" hangingPunct="1">
              <a:spcBef>
                <a:spcPts val="600"/>
              </a:spcBef>
            </a:pPr>
            <a:r>
              <a:rPr lang="zh-CN" altLang="en-US" sz="2400" b="1" dirty="0">
                <a:latin typeface="微软雅黑" panose="020B0503020204020204" pitchFamily="34" charset="-122"/>
                <a:ea typeface="微软雅黑" panose="020B0503020204020204" pitchFamily="34" charset="-122"/>
              </a:rPr>
              <a:t>脂质的消化、吸收、转运</a:t>
            </a:r>
          </a:p>
        </p:txBody>
      </p:sp>
      <p:sp>
        <p:nvSpPr>
          <p:cNvPr id="2" name="文本框 1"/>
          <p:cNvSpPr txBox="1"/>
          <p:nvPr/>
        </p:nvSpPr>
        <p:spPr>
          <a:xfrm>
            <a:off x="1946275" y="1022986"/>
            <a:ext cx="1249680" cy="306705"/>
          </a:xfrm>
          <a:prstGeom prst="rect">
            <a:avLst/>
          </a:prstGeom>
          <a:noFill/>
          <a:ln>
            <a:noFill/>
          </a:ln>
        </p:spPr>
        <p:txBody>
          <a:bodyPr wrap="none" rtlCol="0">
            <a:spAutoFit/>
          </a:bodyPr>
          <a:lstStyle/>
          <a:p>
            <a:pPr algn="l"/>
            <a:r>
              <a:rPr lang="zh-CN" altLang="en-US" sz="1400" b="1" dirty="0">
                <a:solidFill>
                  <a:srgbClr val="FF0000"/>
                </a:solidFill>
                <a:latin typeface="微软雅黑" panose="020B0503020204020204" pitchFamily="34" charset="-122"/>
                <a:ea typeface="微软雅黑" panose="020B0503020204020204" pitchFamily="34" charset="-122"/>
              </a:rPr>
              <a:t>脂肪食物摄取</a:t>
            </a:r>
          </a:p>
        </p:txBody>
      </p:sp>
      <p:sp>
        <p:nvSpPr>
          <p:cNvPr id="3" name="文本框 2"/>
          <p:cNvSpPr txBox="1"/>
          <p:nvPr/>
        </p:nvSpPr>
        <p:spPr>
          <a:xfrm>
            <a:off x="3103245" y="2418716"/>
            <a:ext cx="538480" cy="306705"/>
          </a:xfrm>
          <a:prstGeom prst="rect">
            <a:avLst/>
          </a:prstGeom>
          <a:noFill/>
          <a:ln>
            <a:noFill/>
          </a:ln>
        </p:spPr>
        <p:txBody>
          <a:bodyPr wrap="none" rtlCol="0">
            <a:spAutoFit/>
          </a:bodyPr>
          <a:lstStyle/>
          <a:p>
            <a:pPr algn="l"/>
            <a:r>
              <a:rPr lang="zh-CN" altLang="en-US" sz="1400" b="1" dirty="0">
                <a:solidFill>
                  <a:srgbClr val="FF0000"/>
                </a:solidFill>
                <a:latin typeface="微软雅黑" panose="020B0503020204020204" pitchFamily="34" charset="-122"/>
                <a:ea typeface="微软雅黑" panose="020B0503020204020204" pitchFamily="34" charset="-122"/>
              </a:rPr>
              <a:t>胆囊</a:t>
            </a:r>
          </a:p>
        </p:txBody>
      </p:sp>
      <p:sp>
        <p:nvSpPr>
          <p:cNvPr id="4" name="文本框 3"/>
          <p:cNvSpPr txBox="1"/>
          <p:nvPr/>
        </p:nvSpPr>
        <p:spPr>
          <a:xfrm>
            <a:off x="5193665" y="3427731"/>
            <a:ext cx="538480" cy="306705"/>
          </a:xfrm>
          <a:prstGeom prst="rect">
            <a:avLst/>
          </a:prstGeom>
          <a:noFill/>
          <a:ln>
            <a:noFill/>
          </a:ln>
        </p:spPr>
        <p:txBody>
          <a:bodyPr wrap="none" rtlCol="0">
            <a:spAutoFit/>
          </a:bodyPr>
          <a:lstStyle/>
          <a:p>
            <a:pPr algn="l"/>
            <a:r>
              <a:rPr lang="zh-CN" altLang="en-US" sz="1400" b="1" dirty="0">
                <a:solidFill>
                  <a:srgbClr val="FF0000"/>
                </a:solidFill>
                <a:latin typeface="微软雅黑" panose="020B0503020204020204" pitchFamily="34" charset="-122"/>
                <a:ea typeface="微软雅黑" panose="020B0503020204020204" pitchFamily="34" charset="-122"/>
              </a:rPr>
              <a:t>小肠</a:t>
            </a:r>
          </a:p>
        </p:txBody>
      </p:sp>
      <p:sp>
        <p:nvSpPr>
          <p:cNvPr id="5" name="文本框 4"/>
          <p:cNvSpPr txBox="1"/>
          <p:nvPr/>
        </p:nvSpPr>
        <p:spPr>
          <a:xfrm>
            <a:off x="5732145" y="4121785"/>
            <a:ext cx="862330" cy="521970"/>
          </a:xfrm>
          <a:prstGeom prst="rect">
            <a:avLst/>
          </a:prstGeom>
          <a:noFill/>
          <a:ln>
            <a:noFill/>
          </a:ln>
        </p:spPr>
        <p:txBody>
          <a:bodyPr wrap="square" rtlCol="0">
            <a:spAutoFit/>
          </a:bodyPr>
          <a:lstStyle/>
          <a:p>
            <a:pPr algn="l"/>
            <a:r>
              <a:rPr lang="zh-CN" altLang="en-US" sz="1400" b="1" dirty="0">
                <a:solidFill>
                  <a:srgbClr val="FF0000"/>
                </a:solidFill>
                <a:latin typeface="微软雅黑" panose="020B0503020204020204" pitchFamily="34" charset="-122"/>
                <a:ea typeface="微软雅黑" panose="020B0503020204020204" pitchFamily="34" charset="-122"/>
              </a:rPr>
              <a:t>小肠粘膜细胞</a:t>
            </a:r>
          </a:p>
        </p:txBody>
      </p:sp>
      <p:sp>
        <p:nvSpPr>
          <p:cNvPr id="9" name="文本框 8"/>
          <p:cNvSpPr txBox="1"/>
          <p:nvPr/>
        </p:nvSpPr>
        <p:spPr>
          <a:xfrm>
            <a:off x="6594475" y="1607820"/>
            <a:ext cx="626745" cy="521970"/>
          </a:xfrm>
          <a:prstGeom prst="rect">
            <a:avLst/>
          </a:prstGeom>
          <a:noFill/>
          <a:ln>
            <a:noFill/>
          </a:ln>
        </p:spPr>
        <p:txBody>
          <a:bodyPr wrap="square" rtlCol="0">
            <a:spAutoFit/>
          </a:bodyPr>
          <a:lstStyle/>
          <a:p>
            <a:pPr algn="l"/>
            <a:r>
              <a:rPr lang="zh-CN" altLang="en-US" sz="1400" b="1" dirty="0">
                <a:solidFill>
                  <a:srgbClr val="FF0000"/>
                </a:solidFill>
                <a:latin typeface="微软雅黑" panose="020B0503020204020204" pitchFamily="34" charset="-122"/>
                <a:ea typeface="微软雅黑" panose="020B0503020204020204" pitchFamily="34" charset="-122"/>
              </a:rPr>
              <a:t>毛细血管</a:t>
            </a:r>
          </a:p>
        </p:txBody>
      </p:sp>
      <p:sp>
        <p:nvSpPr>
          <p:cNvPr id="10" name="文本框 9"/>
          <p:cNvSpPr txBox="1"/>
          <p:nvPr/>
        </p:nvSpPr>
        <p:spPr>
          <a:xfrm>
            <a:off x="8256270" y="3726816"/>
            <a:ext cx="1614170" cy="306705"/>
          </a:xfrm>
          <a:prstGeom prst="rect">
            <a:avLst/>
          </a:prstGeom>
          <a:noFill/>
          <a:ln>
            <a:noFill/>
          </a:ln>
        </p:spPr>
        <p:txBody>
          <a:bodyPr wrap="square" rtlCol="0">
            <a:spAutoFit/>
          </a:bodyPr>
          <a:lstStyle/>
          <a:p>
            <a:pPr algn="l"/>
            <a:r>
              <a:rPr lang="zh-CN" altLang="en-US" sz="1400" b="1" dirty="0">
                <a:solidFill>
                  <a:srgbClr val="FF0000"/>
                </a:solidFill>
                <a:latin typeface="微软雅黑" panose="020B0503020204020204" pitchFamily="34" charset="-122"/>
                <a:ea typeface="微软雅黑" panose="020B0503020204020204" pitchFamily="34" charset="-122"/>
              </a:rPr>
              <a:t>脂蛋白脂肪酶</a:t>
            </a:r>
          </a:p>
        </p:txBody>
      </p:sp>
      <p:sp>
        <p:nvSpPr>
          <p:cNvPr id="11" name="文本框 10"/>
          <p:cNvSpPr txBox="1"/>
          <p:nvPr/>
        </p:nvSpPr>
        <p:spPr>
          <a:xfrm>
            <a:off x="5732145" y="5095876"/>
            <a:ext cx="1614170" cy="306705"/>
          </a:xfrm>
          <a:prstGeom prst="rect">
            <a:avLst/>
          </a:prstGeom>
          <a:noFill/>
          <a:ln>
            <a:noFill/>
          </a:ln>
        </p:spPr>
        <p:txBody>
          <a:bodyPr wrap="square" rtlCol="0">
            <a:spAutoFit/>
          </a:bodyPr>
          <a:lstStyle/>
          <a:p>
            <a:pPr algn="l"/>
            <a:r>
              <a:rPr lang="zh-CN" altLang="en-US" sz="1400" b="1" dirty="0">
                <a:solidFill>
                  <a:srgbClr val="FF0000"/>
                </a:solidFill>
                <a:latin typeface="微软雅黑" panose="020B0503020204020204" pitchFamily="34" charset="-122"/>
                <a:ea typeface="微软雅黑" panose="020B0503020204020204" pitchFamily="34" charset="-122"/>
              </a:rPr>
              <a:t>乳糜微粒</a:t>
            </a:r>
          </a:p>
        </p:txBody>
      </p:sp>
      <p:sp>
        <p:nvSpPr>
          <p:cNvPr id="15" name="文本框 14"/>
          <p:cNvSpPr txBox="1"/>
          <p:nvPr/>
        </p:nvSpPr>
        <p:spPr>
          <a:xfrm>
            <a:off x="7346315" y="1130301"/>
            <a:ext cx="1926590" cy="306705"/>
          </a:xfrm>
          <a:prstGeom prst="rect">
            <a:avLst/>
          </a:prstGeom>
          <a:noFill/>
          <a:ln>
            <a:noFill/>
          </a:ln>
        </p:spPr>
        <p:txBody>
          <a:bodyPr wrap="square" rtlCol="0">
            <a:spAutoFit/>
          </a:bodyPr>
          <a:lstStyle/>
          <a:p>
            <a:pPr algn="l"/>
            <a:r>
              <a:rPr lang="zh-CN" altLang="en-US" sz="1400" b="1" dirty="0">
                <a:solidFill>
                  <a:srgbClr val="FF0000"/>
                </a:solidFill>
                <a:latin typeface="微软雅黑" panose="020B0503020204020204" pitchFamily="34" charset="-122"/>
                <a:ea typeface="微软雅黑" panose="020B0503020204020204" pitchFamily="34" charset="-122"/>
              </a:rPr>
              <a:t>肌肉细胞或脂肪细胞</a:t>
            </a:r>
          </a:p>
        </p:txBody>
      </p:sp>
      <p:sp>
        <p:nvSpPr>
          <p:cNvPr id="16" name="文本框 15"/>
          <p:cNvSpPr txBox="1"/>
          <p:nvPr/>
        </p:nvSpPr>
        <p:spPr>
          <a:xfrm>
            <a:off x="213635" y="3544930"/>
            <a:ext cx="1856823" cy="830997"/>
          </a:xfrm>
          <a:prstGeom prst="rect">
            <a:avLst/>
          </a:prstGeom>
          <a:noFill/>
          <a:ln>
            <a:noFill/>
          </a:ln>
        </p:spPr>
        <p:txBody>
          <a:bodyPr wrap="square" rtlCol="0">
            <a:spAutoFit/>
          </a:bodyPr>
          <a:lstStyle/>
          <a:p>
            <a:pPr algn="l"/>
            <a:r>
              <a:rPr lang="en-US" altLang="zh-CN" sz="1600" b="1" dirty="0">
                <a:latin typeface="微软雅黑" panose="020B0503020204020204" pitchFamily="34" charset="-122"/>
                <a:ea typeface="微软雅黑" panose="020B0503020204020204" pitchFamily="34" charset="-122"/>
              </a:rPr>
              <a:t>1.</a:t>
            </a:r>
            <a:r>
              <a:rPr lang="zh-CN" altLang="en-US" sz="1600" b="1" dirty="0">
                <a:latin typeface="微软雅黑" panose="020B0503020204020204" pitchFamily="34" charset="-122"/>
                <a:ea typeface="微软雅黑" panose="020B0503020204020204" pitchFamily="34" charset="-122"/>
              </a:rPr>
              <a:t>胆盐可乳化小肠内的膳食脂肪，形成脂微团。</a:t>
            </a:r>
          </a:p>
        </p:txBody>
      </p:sp>
      <p:sp>
        <p:nvSpPr>
          <p:cNvPr id="19" name="文本框 18"/>
          <p:cNvSpPr txBox="1"/>
          <p:nvPr/>
        </p:nvSpPr>
        <p:spPr>
          <a:xfrm>
            <a:off x="337820" y="4956840"/>
            <a:ext cx="1608455" cy="584775"/>
          </a:xfrm>
          <a:prstGeom prst="rect">
            <a:avLst/>
          </a:prstGeom>
          <a:noFill/>
          <a:ln>
            <a:noFill/>
          </a:ln>
        </p:spPr>
        <p:txBody>
          <a:bodyPr wrap="square" rtlCol="0" anchor="t">
            <a:spAutoFit/>
          </a:bodyPr>
          <a:lstStyle/>
          <a:p>
            <a:pPr algn="l"/>
            <a:r>
              <a:rPr lang="en-US" altLang="zh-CN" sz="1600" b="1" dirty="0">
                <a:latin typeface="微软雅黑" panose="020B0503020204020204" pitchFamily="34" charset="-122"/>
                <a:ea typeface="微软雅黑" panose="020B0503020204020204" pitchFamily="34" charset="-122"/>
              </a:rPr>
              <a:t>2.</a:t>
            </a:r>
            <a:r>
              <a:rPr lang="zh-CN" altLang="en-US" sz="1600" b="1" dirty="0">
                <a:latin typeface="微软雅黑" panose="020B0503020204020204" pitchFamily="34" charset="-122"/>
                <a:ea typeface="微软雅黑" panose="020B0503020204020204" pitchFamily="34" charset="-122"/>
              </a:rPr>
              <a:t>肠道脂肪酶降解三酰甘油。</a:t>
            </a:r>
          </a:p>
        </p:txBody>
      </p:sp>
      <p:sp>
        <p:nvSpPr>
          <p:cNvPr id="20" name="文本框 19"/>
          <p:cNvSpPr txBox="1"/>
          <p:nvPr/>
        </p:nvSpPr>
        <p:spPr>
          <a:xfrm>
            <a:off x="914401" y="5621112"/>
            <a:ext cx="3200400" cy="584775"/>
          </a:xfrm>
          <a:prstGeom prst="rect">
            <a:avLst/>
          </a:prstGeom>
          <a:noFill/>
          <a:ln>
            <a:noFill/>
          </a:ln>
        </p:spPr>
        <p:txBody>
          <a:bodyPr wrap="square" rtlCol="0" anchor="t">
            <a:spAutoFit/>
          </a:bodyPr>
          <a:lstStyle/>
          <a:p>
            <a:pPr algn="l"/>
            <a:r>
              <a:rPr lang="en-US" altLang="zh-CN" sz="1600" b="1" dirty="0">
                <a:latin typeface="微软雅黑" panose="020B0503020204020204" pitchFamily="34" charset="-122"/>
                <a:ea typeface="微软雅黑" panose="020B0503020204020204" pitchFamily="34" charset="-122"/>
              </a:rPr>
              <a:t>3.</a:t>
            </a:r>
            <a:r>
              <a:rPr lang="zh-CN" altLang="en-US" sz="1600" b="1" dirty="0">
                <a:latin typeface="微软雅黑" panose="020B0503020204020204" pitchFamily="34" charset="-122"/>
                <a:ea typeface="微软雅黑" panose="020B0503020204020204" pitchFamily="34" charset="-122"/>
              </a:rPr>
              <a:t>脂肪酸和其他消化产物被肠道黏膜吸收并转化为三酰甘油。</a:t>
            </a:r>
          </a:p>
        </p:txBody>
      </p:sp>
      <p:sp>
        <p:nvSpPr>
          <p:cNvPr id="21" name="文本框 20"/>
          <p:cNvSpPr txBox="1"/>
          <p:nvPr/>
        </p:nvSpPr>
        <p:spPr>
          <a:xfrm>
            <a:off x="6242049" y="6172201"/>
            <a:ext cx="2821305" cy="584775"/>
          </a:xfrm>
          <a:prstGeom prst="rect">
            <a:avLst/>
          </a:prstGeom>
          <a:noFill/>
          <a:ln>
            <a:noFill/>
          </a:ln>
        </p:spPr>
        <p:txBody>
          <a:bodyPr wrap="square" rtlCol="0" anchor="t">
            <a:spAutoFit/>
          </a:bodyPr>
          <a:lstStyle/>
          <a:p>
            <a:pPr algn="l"/>
            <a:r>
              <a:rPr lang="en-US" altLang="zh-CN" sz="1600" b="1" dirty="0">
                <a:latin typeface="微软雅黑" panose="020B0503020204020204" pitchFamily="34" charset="-122"/>
                <a:ea typeface="微软雅黑" panose="020B0503020204020204" pitchFamily="34" charset="-122"/>
              </a:rPr>
              <a:t>4.</a:t>
            </a:r>
            <a:r>
              <a:rPr lang="zh-CN" altLang="en-US" sz="1600" b="1" dirty="0">
                <a:latin typeface="微软雅黑" panose="020B0503020204020204" pitchFamily="34" charset="-122"/>
                <a:ea typeface="微软雅黑" panose="020B0503020204020204" pitchFamily="34" charset="-122"/>
              </a:rPr>
              <a:t>三酰甘油与胆固醇和载脂蛋白混合成乳糜微粒。</a:t>
            </a:r>
          </a:p>
        </p:txBody>
      </p:sp>
      <p:sp>
        <p:nvSpPr>
          <p:cNvPr id="22" name="文本框 21"/>
          <p:cNvSpPr txBox="1"/>
          <p:nvPr/>
        </p:nvSpPr>
        <p:spPr>
          <a:xfrm>
            <a:off x="9776142" y="4976800"/>
            <a:ext cx="2191703" cy="584775"/>
          </a:xfrm>
          <a:prstGeom prst="rect">
            <a:avLst/>
          </a:prstGeom>
          <a:noFill/>
          <a:ln>
            <a:noFill/>
          </a:ln>
        </p:spPr>
        <p:txBody>
          <a:bodyPr wrap="square" rtlCol="0" anchor="t">
            <a:spAutoFit/>
          </a:bodyPr>
          <a:lstStyle/>
          <a:p>
            <a:pPr algn="l"/>
            <a:r>
              <a:rPr lang="en-US" altLang="zh-CN" sz="1600" b="1" dirty="0">
                <a:latin typeface="微软雅黑" panose="020B0503020204020204" pitchFamily="34" charset="-122"/>
                <a:ea typeface="微软雅黑" panose="020B0503020204020204" pitchFamily="34" charset="-122"/>
              </a:rPr>
              <a:t>5.</a:t>
            </a:r>
            <a:r>
              <a:rPr lang="zh-CN" altLang="en-US" sz="1600" b="1" dirty="0">
                <a:latin typeface="微软雅黑" panose="020B0503020204020204" pitchFamily="34" charset="-122"/>
                <a:ea typeface="微软雅黑" panose="020B0503020204020204" pitchFamily="34" charset="-122"/>
              </a:rPr>
              <a:t>乳糜微粒通过淋巴系统和血液进入组织。</a:t>
            </a:r>
          </a:p>
        </p:txBody>
      </p:sp>
      <p:sp>
        <p:nvSpPr>
          <p:cNvPr id="24" name="文本框 23"/>
          <p:cNvSpPr txBox="1"/>
          <p:nvPr/>
        </p:nvSpPr>
        <p:spPr>
          <a:xfrm>
            <a:off x="9697733" y="3144520"/>
            <a:ext cx="2540000" cy="338554"/>
          </a:xfrm>
          <a:prstGeom prst="rect">
            <a:avLst/>
          </a:prstGeom>
          <a:noFill/>
          <a:ln>
            <a:noFill/>
          </a:ln>
        </p:spPr>
        <p:txBody>
          <a:bodyPr wrap="square" rtlCol="0" anchor="t">
            <a:spAutoFit/>
          </a:bodyPr>
          <a:lstStyle/>
          <a:p>
            <a:pPr algn="l"/>
            <a:r>
              <a:rPr lang="en-US" altLang="zh-CN" sz="1600" b="1" dirty="0">
                <a:latin typeface="微软雅黑" panose="020B0503020204020204" pitchFamily="34" charset="-122"/>
                <a:ea typeface="微软雅黑" panose="020B0503020204020204" pitchFamily="34" charset="-122"/>
              </a:rPr>
              <a:t>7.</a:t>
            </a:r>
            <a:r>
              <a:rPr lang="zh-CN" altLang="en-US" sz="1600" b="1" dirty="0">
                <a:latin typeface="微软雅黑" panose="020B0503020204020204" pitchFamily="34" charset="-122"/>
                <a:ea typeface="微软雅黑" panose="020B0503020204020204" pitchFamily="34" charset="-122"/>
              </a:rPr>
              <a:t>脂肪酸进入细胞。</a:t>
            </a:r>
          </a:p>
        </p:txBody>
      </p:sp>
      <p:sp>
        <p:nvSpPr>
          <p:cNvPr id="25" name="文本框 24"/>
          <p:cNvSpPr txBox="1"/>
          <p:nvPr/>
        </p:nvSpPr>
        <p:spPr>
          <a:xfrm>
            <a:off x="10243818" y="1807912"/>
            <a:ext cx="1854765" cy="830997"/>
          </a:xfrm>
          <a:prstGeom prst="rect">
            <a:avLst/>
          </a:prstGeom>
          <a:noFill/>
          <a:ln>
            <a:noFill/>
          </a:ln>
        </p:spPr>
        <p:txBody>
          <a:bodyPr wrap="square" rtlCol="0" anchor="t">
            <a:spAutoFit/>
          </a:bodyPr>
          <a:lstStyle/>
          <a:p>
            <a:pPr algn="l"/>
            <a:r>
              <a:rPr lang="en-US" altLang="zh-CN" sz="1600" b="1" dirty="0">
                <a:latin typeface="微软雅黑" panose="020B0503020204020204" pitchFamily="34" charset="-122"/>
                <a:ea typeface="微软雅黑" panose="020B0503020204020204" pitchFamily="34" charset="-122"/>
              </a:rPr>
              <a:t>8.</a:t>
            </a:r>
            <a:r>
              <a:rPr lang="zh-CN" altLang="en-US" sz="1600" b="1" dirty="0">
                <a:latin typeface="微软雅黑" panose="020B0503020204020204" pitchFamily="34" charset="-122"/>
                <a:ea typeface="微软雅黑" panose="020B0503020204020204" pitchFamily="34" charset="-122"/>
              </a:rPr>
              <a:t>脂肪酸被氧化为燃料或重新酯化以供储存。</a:t>
            </a:r>
          </a:p>
        </p:txBody>
      </p:sp>
      <p:sp>
        <p:nvSpPr>
          <p:cNvPr id="7" name="文本框 6"/>
          <p:cNvSpPr txBox="1"/>
          <p:nvPr/>
        </p:nvSpPr>
        <p:spPr>
          <a:xfrm>
            <a:off x="10091943" y="3879810"/>
            <a:ext cx="2006641" cy="830997"/>
          </a:xfrm>
          <a:prstGeom prst="rect">
            <a:avLst/>
          </a:prstGeom>
          <a:noFill/>
        </p:spPr>
        <p:txBody>
          <a:bodyPr wrap="square" rtlCol="0" anchor="t">
            <a:spAutoFit/>
          </a:bodyPr>
          <a:lstStyle/>
          <a:p>
            <a:pPr algn="l">
              <a:buClrTx/>
              <a:buSzTx/>
              <a:buFontTx/>
            </a:pPr>
            <a:r>
              <a:rPr lang="en-US" altLang="zh-CN" sz="1600" b="1" dirty="0">
                <a:latin typeface="微软雅黑" panose="020B0503020204020204" pitchFamily="34" charset="-122"/>
                <a:ea typeface="微软雅黑" panose="020B0503020204020204" pitchFamily="34" charset="-122"/>
              </a:rPr>
              <a:t>6.</a:t>
            </a:r>
            <a:r>
              <a:rPr lang="zh-CN" altLang="en-US" sz="1600" b="1" dirty="0">
                <a:latin typeface="微软雅黑" panose="020B0503020204020204" pitchFamily="34" charset="-122"/>
                <a:ea typeface="微软雅黑" panose="020B0503020204020204" pitchFamily="34" charset="-122"/>
              </a:rPr>
              <a:t>毛细血管中，脂蛋白脂肪</a:t>
            </a:r>
            <a:r>
              <a:rPr lang="zh-CN" altLang="en-US" sz="1600" b="1" dirty="0" smtClean="0">
                <a:latin typeface="微软雅黑" panose="020B0503020204020204" pitchFamily="34" charset="-122"/>
                <a:ea typeface="微软雅黑" panose="020B0503020204020204" pitchFamily="34" charset="-122"/>
              </a:rPr>
              <a:t>酶转化</a:t>
            </a:r>
            <a:r>
              <a:rPr lang="zh-CN" altLang="en-US" sz="1600" b="1" dirty="0">
                <a:latin typeface="微软雅黑" panose="020B0503020204020204" pitchFamily="34" charset="-122"/>
                <a:ea typeface="微软雅黑" panose="020B0503020204020204" pitchFamily="34" charset="-122"/>
              </a:rPr>
              <a:t>脂肪成脂肪酸和甘油。</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p:cNvSpPr txBox="1"/>
          <p:nvPr/>
        </p:nvSpPr>
        <p:spPr>
          <a:xfrm>
            <a:off x="0" y="990307"/>
            <a:ext cx="12192000" cy="4832092"/>
          </a:xfrm>
          <a:prstGeom prst="rect">
            <a:avLst/>
          </a:prstGeom>
          <a:noFill/>
          <a:ln>
            <a:noFill/>
          </a:ln>
        </p:spPr>
        <p:txBody>
          <a:bodyPr wrap="square" rtlCol="0" anchor="t">
            <a:spAutoFit/>
          </a:bodyPr>
          <a:lstStyle/>
          <a:p>
            <a:pPr marL="342900" indent="-342900">
              <a:spcBef>
                <a:spcPts val="600"/>
              </a:spcBef>
              <a:buFont typeface="Arial" panose="020B0604020202020204" pitchFamily="34" charset="0"/>
              <a:buChar char="•"/>
            </a:pPr>
            <a:r>
              <a:rPr lang="zh-CN" altLang="en-US" sz="2400" dirty="0">
                <a:ea typeface="微软雅黑" panose="020B0503020204020204" pitchFamily="34" charset="-122"/>
              </a:rPr>
              <a:t>其组成脂肪酸的长烷基链本质上是碳氢化合物，</a:t>
            </a:r>
            <a:r>
              <a:rPr lang="zh-CN" altLang="en-US" sz="2400" dirty="0">
                <a:solidFill>
                  <a:srgbClr val="FF0000"/>
                </a:solidFill>
                <a:ea typeface="微软雅黑" panose="020B0503020204020204" pitchFamily="34" charset="-122"/>
              </a:rPr>
              <a:t>高度还原</a:t>
            </a:r>
            <a:r>
              <a:rPr lang="zh-CN" altLang="en-US" sz="2400" dirty="0">
                <a:ea typeface="微软雅黑" panose="020B0503020204020204" pitchFamily="34" charset="-122"/>
              </a:rPr>
              <a:t>，具有完全氧化能量(~38kJ/g)，是相同重量碳水化合物或蛋白质的两倍多。</a:t>
            </a:r>
          </a:p>
          <a:p>
            <a:pPr marL="342900" indent="-342900">
              <a:spcBef>
                <a:spcPts val="600"/>
              </a:spcBef>
              <a:buFont typeface="Arial" panose="020B0604020202020204" pitchFamily="34" charset="0"/>
              <a:buChar char="•"/>
            </a:pPr>
            <a:r>
              <a:rPr lang="zh-CN" altLang="en-US" sz="2400" dirty="0">
                <a:ea typeface="微软雅黑" panose="020B0503020204020204" pitchFamily="34" charset="-122"/>
              </a:rPr>
              <a:t>脂肪在水中的</a:t>
            </a:r>
            <a:r>
              <a:rPr lang="zh-CN" altLang="en-US" sz="2400" dirty="0">
                <a:solidFill>
                  <a:srgbClr val="FF0000"/>
                </a:solidFill>
                <a:ea typeface="微软雅黑" panose="020B0503020204020204" pitchFamily="34" charset="-122"/>
              </a:rPr>
              <a:t>极端不溶</a:t>
            </a:r>
            <a:r>
              <a:rPr lang="zh-CN" altLang="en-US" sz="2400" dirty="0">
                <a:ea typeface="微软雅黑" panose="020B0503020204020204" pitchFamily="34" charset="-122"/>
              </a:rPr>
              <a:t>，以</a:t>
            </a:r>
            <a:r>
              <a:rPr lang="zh-CN" altLang="en-US" sz="2400" dirty="0">
                <a:ea typeface="微软雅黑" panose="020B0503020204020204" pitchFamily="34" charset="-122"/>
                <a:sym typeface="+mn-ea"/>
              </a:rPr>
              <a:t>脂滴形式</a:t>
            </a:r>
            <a:r>
              <a:rPr lang="zh-CN" altLang="en-US" sz="2400" dirty="0">
                <a:ea typeface="微软雅黑" panose="020B0503020204020204" pitchFamily="34" charset="-122"/>
              </a:rPr>
              <a:t>聚集在</a:t>
            </a:r>
            <a:r>
              <a:rPr lang="zh-CN" altLang="en-US" sz="2400" dirty="0">
                <a:ea typeface="微软雅黑" panose="020B0503020204020204" pitchFamily="34" charset="-122"/>
                <a:sym typeface="+mn-ea"/>
              </a:rPr>
              <a:t>细胞</a:t>
            </a:r>
            <a:r>
              <a:rPr lang="zh-CN" altLang="en-US" sz="2400" dirty="0">
                <a:ea typeface="微软雅黑" panose="020B0503020204020204" pitchFamily="34" charset="-122"/>
              </a:rPr>
              <a:t>，不会提高细胞质的</a:t>
            </a:r>
            <a:r>
              <a:rPr lang="zh-CN" altLang="en-US" sz="2400" dirty="0">
                <a:solidFill>
                  <a:srgbClr val="FF0000"/>
                </a:solidFill>
                <a:ea typeface="微软雅黑" panose="020B0503020204020204" pitchFamily="34" charset="-122"/>
              </a:rPr>
              <a:t>渗透压</a:t>
            </a:r>
            <a:r>
              <a:rPr lang="zh-CN" altLang="en-US" sz="2400" dirty="0">
                <a:ea typeface="微软雅黑" panose="020B0503020204020204" pitchFamily="34" charset="-122"/>
              </a:rPr>
              <a:t>，而且它们不溶剂化。（相比之下，在储存多糖中，溶剂化的水可以占储存分子总重量的三分之二。）</a:t>
            </a:r>
          </a:p>
          <a:p>
            <a:pPr marL="342900" indent="-342900">
              <a:spcBef>
                <a:spcPts val="600"/>
              </a:spcBef>
              <a:buFont typeface="Arial" panose="020B0604020202020204" pitchFamily="34" charset="0"/>
              <a:buChar char="•"/>
            </a:pPr>
            <a:r>
              <a:rPr lang="zh-CN" altLang="en-US" sz="2400" dirty="0">
                <a:ea typeface="微软雅黑" panose="020B0503020204020204" pitchFamily="34" charset="-122"/>
              </a:rPr>
              <a:t>具有相对的</a:t>
            </a:r>
            <a:r>
              <a:rPr lang="zh-CN" altLang="en-US" sz="2400" dirty="0">
                <a:solidFill>
                  <a:srgbClr val="FF0000"/>
                </a:solidFill>
                <a:ea typeface="微软雅黑" panose="020B0503020204020204" pitchFamily="34" charset="-122"/>
              </a:rPr>
              <a:t>化学惰性</a:t>
            </a:r>
            <a:r>
              <a:rPr lang="zh-CN" altLang="en-US" sz="2400" dirty="0">
                <a:ea typeface="微软雅黑" panose="020B0503020204020204" pitchFamily="34" charset="-122"/>
              </a:rPr>
              <a:t>，可以大量储存在细胞中，而不会与其他细胞成分发生不希望的化学反应。</a:t>
            </a:r>
          </a:p>
          <a:p>
            <a:pPr marL="342900" indent="-342900">
              <a:spcBef>
                <a:spcPts val="600"/>
              </a:spcBef>
              <a:buFont typeface="Arial" panose="020B0604020202020204" pitchFamily="34" charset="0"/>
              <a:buChar char="•"/>
            </a:pPr>
            <a:r>
              <a:rPr lang="zh-CN" altLang="en-US" sz="2400" dirty="0">
                <a:ea typeface="微软雅黑" panose="020B0503020204020204" pitchFamily="34" charset="-122"/>
              </a:rPr>
              <a:t>然而，不溶于水，摄入的脂肪必须乳化，才能被肠道中的水溶性酶消化，而被肠道吸收或从储存组织中动员起来的</a:t>
            </a:r>
            <a:r>
              <a:rPr lang="zh-CN" altLang="en-US" sz="2400" dirty="0">
                <a:ea typeface="微软雅黑" panose="020B0503020204020204" pitchFamily="34" charset="-122"/>
                <a:sym typeface="+mn-ea"/>
              </a:rPr>
              <a:t>脂肪</a:t>
            </a:r>
            <a:r>
              <a:rPr lang="zh-CN" altLang="en-US" sz="2400" dirty="0">
                <a:ea typeface="微软雅黑" panose="020B0503020204020204" pitchFamily="34" charset="-122"/>
              </a:rPr>
              <a:t>必须在血液中与蛋白质结合，以抵消它们的不溶性（</a:t>
            </a:r>
            <a:r>
              <a:rPr lang="zh-CN" altLang="en-US" sz="2400" dirty="0">
                <a:solidFill>
                  <a:srgbClr val="FF0000"/>
                </a:solidFill>
                <a:ea typeface="微软雅黑" panose="020B0503020204020204" pitchFamily="34" charset="-122"/>
              </a:rPr>
              <a:t>动员难</a:t>
            </a:r>
            <a:r>
              <a:rPr lang="zh-CN" altLang="en-US" sz="2400" dirty="0">
                <a:ea typeface="微软雅黑" panose="020B0503020204020204" pitchFamily="34" charset="-122"/>
              </a:rPr>
              <a:t>）。</a:t>
            </a:r>
          </a:p>
          <a:p>
            <a:pPr marL="342900" indent="-342900">
              <a:spcBef>
                <a:spcPts val="600"/>
              </a:spcBef>
              <a:buFont typeface="Arial" panose="020B0604020202020204" pitchFamily="34" charset="0"/>
              <a:buChar char="•"/>
            </a:pPr>
            <a:r>
              <a:rPr lang="zh-CN" altLang="en-US" sz="2400" dirty="0">
                <a:ea typeface="微软雅黑" panose="020B0503020204020204" pitchFamily="34" charset="-122"/>
              </a:rPr>
              <a:t>此外，为了克服脂肪酸中C-C键的相对稳定性，C-1上的羧基</a:t>
            </a:r>
            <a:r>
              <a:rPr lang="zh-CN" altLang="en-US" sz="2400" dirty="0">
                <a:solidFill>
                  <a:srgbClr val="FF0000"/>
                </a:solidFill>
                <a:ea typeface="微软雅黑" panose="020B0503020204020204" pitchFamily="34" charset="-122"/>
              </a:rPr>
              <a:t>通过结合辅酶</a:t>
            </a:r>
            <a:r>
              <a:rPr lang="en-US" altLang="zh-CN" sz="2400" dirty="0">
                <a:solidFill>
                  <a:srgbClr val="FF0000"/>
                </a:solidFill>
                <a:ea typeface="微软雅黑" panose="020B0503020204020204" pitchFamily="34" charset="-122"/>
              </a:rPr>
              <a:t>A</a:t>
            </a:r>
            <a:r>
              <a:rPr lang="zh-CN" altLang="en-US" sz="2400" dirty="0">
                <a:solidFill>
                  <a:srgbClr val="FF0000"/>
                </a:solidFill>
                <a:ea typeface="微软雅黑" panose="020B0503020204020204" pitchFamily="34" charset="-122"/>
              </a:rPr>
              <a:t>来激活</a:t>
            </a:r>
            <a:r>
              <a:rPr lang="zh-CN" altLang="en-US" sz="2400" dirty="0">
                <a:ea typeface="微软雅黑" panose="020B0503020204020204" pitchFamily="34" charset="-122"/>
              </a:rPr>
              <a:t>，这使得脂肪酸酰基在C-3或β位置的逐步氧化，因此被称为</a:t>
            </a:r>
            <a:r>
              <a:rPr lang="zh-CN" altLang="en-US" sz="2400" dirty="0">
                <a:solidFill>
                  <a:srgbClr val="FF0000"/>
                </a:solidFill>
                <a:ea typeface="微软雅黑" panose="020B0503020204020204" pitchFamily="34" charset="-122"/>
              </a:rPr>
              <a:t>β氧化</a:t>
            </a:r>
            <a:r>
              <a:rPr lang="zh-CN" altLang="en-US" sz="2400" dirty="0">
                <a:ea typeface="微软雅黑" panose="020B0503020204020204" pitchFamily="34" charset="-122"/>
              </a:rPr>
              <a:t>。</a:t>
            </a:r>
          </a:p>
        </p:txBody>
      </p:sp>
      <p:sp>
        <p:nvSpPr>
          <p:cNvPr id="3" name="文本框 2"/>
          <p:cNvSpPr txBox="1"/>
          <p:nvPr/>
        </p:nvSpPr>
        <p:spPr>
          <a:xfrm>
            <a:off x="2538680" y="-68580"/>
            <a:ext cx="7566660" cy="860748"/>
          </a:xfrm>
          <a:prstGeom prst="rect">
            <a:avLst/>
          </a:prstGeom>
          <a:noFill/>
        </p:spPr>
        <p:txBody>
          <a:bodyPr wrap="square">
            <a:spAutoFit/>
          </a:bodyPr>
          <a:lstStyle/>
          <a:p>
            <a:pPr>
              <a:lnSpc>
                <a:spcPct val="140000"/>
              </a:lnSpc>
            </a:pPr>
            <a:r>
              <a:rPr lang="zh-CN" altLang="en-US" sz="4000" b="1" dirty="0">
                <a:latin typeface="微软雅黑" panose="020B0503020204020204" pitchFamily="34" charset="-122"/>
                <a:ea typeface="微软雅黑" panose="020B0503020204020204" pitchFamily="34" charset="-122"/>
              </a:rPr>
              <a:t>脂肪作为能量储存物质的特点</a:t>
            </a:r>
            <a:endParaRPr lang="zh-CN" altLang="en-US" sz="3600" b="1" dirty="0">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2072858" y="-15968"/>
            <a:ext cx="8785641" cy="830227"/>
          </a:xfrm>
          <a:prstGeom prst="rect">
            <a:avLst/>
          </a:prstGeom>
        </p:spPr>
        <p:txBody>
          <a:bodyPr wrap="square">
            <a:spAutoFit/>
          </a:bodyPr>
          <a:lstStyle/>
          <a:p>
            <a:pPr>
              <a:lnSpc>
                <a:spcPct val="150000"/>
              </a:lnSpc>
            </a:pPr>
            <a:r>
              <a:rPr lang="zh-CN" altLang="en-US" sz="3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一、脂肪动员（</a:t>
            </a:r>
            <a:r>
              <a:rPr lang="en-US" altLang="zh-CN" sz="3600" b="1" dirty="0">
                <a:effectLst>
                  <a:outerShdw blurRad="38100" dist="38100" dir="2700000" algn="tl">
                    <a:srgbClr val="000000">
                      <a:alpha val="43137"/>
                    </a:srgbClr>
                  </a:outerShdw>
                </a:effectLst>
                <a:latin typeface="Comic Sans MS" panose="030F0702030302020204" charset="0"/>
                <a:ea typeface="微软雅黑" panose="020B0503020204020204" pitchFamily="34" charset="-122"/>
                <a:cs typeface="Comic Sans MS" panose="030F0702030302020204" charset="0"/>
              </a:rPr>
              <a:t>Mobilization of fat</a:t>
            </a:r>
            <a:r>
              <a:rPr lang="zh-CN" altLang="en-US" sz="3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endParaRPr lang="en-US" altLang="zh-CN" sz="3600"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37" name="矩形 36"/>
          <p:cNvSpPr/>
          <p:nvPr/>
        </p:nvSpPr>
        <p:spPr>
          <a:xfrm>
            <a:off x="556260" y="1501214"/>
            <a:ext cx="4204970" cy="4540538"/>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储存在脂肪细胞中的脂肪，被肪脂酶逐步水解为</a:t>
            </a:r>
            <a:r>
              <a:rPr lang="zh-CN" altLang="en-US" sz="2800" u="sng" dirty="0">
                <a:solidFill>
                  <a:srgbClr val="FF0000"/>
                </a:solidFill>
                <a:latin typeface="微软雅黑" panose="020B0503020204020204" pitchFamily="34" charset="-122"/>
                <a:ea typeface="微软雅黑" panose="020B0503020204020204" pitchFamily="34" charset="-122"/>
              </a:rPr>
              <a:t>脂肪酸及甘油</a:t>
            </a:r>
            <a:r>
              <a:rPr lang="zh-CN" altLang="en-US" sz="2800" dirty="0">
                <a:latin typeface="微软雅黑" panose="020B0503020204020204" pitchFamily="34" charset="-122"/>
                <a:ea typeface="微软雅黑" panose="020B0503020204020204" pitchFamily="34" charset="-122"/>
              </a:rPr>
              <a:t>，并释放入血，</a:t>
            </a:r>
            <a:r>
              <a:rPr lang="zh-CN" altLang="en-US" sz="2800" u="sng" dirty="0">
                <a:solidFill>
                  <a:srgbClr val="FF0000"/>
                </a:solidFill>
                <a:latin typeface="微软雅黑" panose="020B0503020204020204" pitchFamily="34" charset="-122"/>
                <a:ea typeface="微软雅黑" panose="020B0503020204020204" pitchFamily="34" charset="-122"/>
              </a:rPr>
              <a:t>血清白蛋白</a:t>
            </a:r>
            <a:r>
              <a:rPr lang="zh-CN" altLang="en-US" sz="2800" u="sng" dirty="0">
                <a:solidFill>
                  <a:srgbClr val="FF0000"/>
                </a:solidFill>
                <a:latin typeface="微软雅黑" panose="020B0503020204020204" pitchFamily="34" charset="-122"/>
                <a:ea typeface="微软雅黑" panose="020B0503020204020204" pitchFamily="34" charset="-122"/>
                <a:sym typeface="+mn-ea"/>
              </a:rPr>
              <a:t>（</a:t>
            </a:r>
            <a:r>
              <a:rPr lang="zh-CN" altLang="en-US" sz="2800" u="sng" dirty="0">
                <a:solidFill>
                  <a:srgbClr val="FF0000"/>
                </a:solidFill>
                <a:latin typeface="Comic Sans MS" panose="030F0702030302020204" charset="0"/>
                <a:ea typeface="微软雅黑" panose="020B0503020204020204" pitchFamily="34" charset="-122"/>
                <a:cs typeface="Comic Sans MS" panose="030F0702030302020204" charset="0"/>
                <a:sym typeface="+mn-ea"/>
              </a:rPr>
              <a:t>Serum albumin</a:t>
            </a:r>
            <a:r>
              <a:rPr lang="zh-CN" altLang="en-US" sz="2800" u="sng" dirty="0">
                <a:solidFill>
                  <a:srgbClr val="FF0000"/>
                </a:solidFill>
                <a:latin typeface="微软雅黑" panose="020B0503020204020204" pitchFamily="34" charset="-122"/>
                <a:ea typeface="微软雅黑" panose="020B0503020204020204" pitchFamily="34" charset="-122"/>
                <a:sym typeface="+mn-ea"/>
              </a:rPr>
              <a:t>）</a:t>
            </a:r>
            <a:r>
              <a:rPr lang="zh-CN" altLang="en-US" sz="2800" u="sng" dirty="0">
                <a:solidFill>
                  <a:srgbClr val="FF0000"/>
                </a:solidFill>
                <a:latin typeface="微软雅黑" panose="020B0503020204020204" pitchFamily="34" charset="-122"/>
                <a:ea typeface="微软雅黑" panose="020B0503020204020204" pitchFamily="34" charset="-122"/>
              </a:rPr>
              <a:t>协脂肪酸运输</a:t>
            </a:r>
            <a:r>
              <a:rPr lang="zh-CN" altLang="en-US" sz="2800" dirty="0">
                <a:latin typeface="微软雅黑" panose="020B0503020204020204" pitchFamily="34" charset="-122"/>
                <a:ea typeface="微软雅黑" panose="020B0503020204020204" pitchFamily="34" charset="-122"/>
              </a:rPr>
              <a:t>，供其他组织氧化利用的过程。</a:t>
            </a:r>
          </a:p>
        </p:txBody>
      </p:sp>
      <p:pic>
        <p:nvPicPr>
          <p:cNvPr id="2" name="图片 1" descr="图片1"/>
          <p:cNvPicPr>
            <a:picLocks noChangeAspect="1"/>
          </p:cNvPicPr>
          <p:nvPr/>
        </p:nvPicPr>
        <p:blipFill>
          <a:blip r:embed="rId3"/>
          <a:stretch>
            <a:fillRect/>
          </a:stretch>
        </p:blipFill>
        <p:spPr>
          <a:xfrm>
            <a:off x="4761230" y="1360505"/>
            <a:ext cx="7270749" cy="5014895"/>
          </a:xfrm>
          <a:prstGeom prst="rect">
            <a:avLst/>
          </a:prstGeom>
        </p:spPr>
      </p:pic>
    </p:spTree>
  </p:cSld>
  <p:clrMapOvr>
    <a:masterClrMapping/>
  </p:clrMapOvr>
  <p:transition>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5426565" y="943435"/>
            <a:ext cx="6453013" cy="5604685"/>
          </a:xfrm>
          <a:prstGeom prst="rect">
            <a:avLst/>
          </a:prstGeom>
          <a:ln>
            <a:solidFill>
              <a:schemeClr val="tx1"/>
            </a:solidFill>
          </a:ln>
        </p:spPr>
      </p:pic>
      <p:sp>
        <p:nvSpPr>
          <p:cNvPr id="3" name="文本框 2"/>
          <p:cNvSpPr txBox="1"/>
          <p:nvPr/>
        </p:nvSpPr>
        <p:spPr>
          <a:xfrm>
            <a:off x="385196" y="957968"/>
            <a:ext cx="3947160" cy="523220"/>
          </a:xfrm>
          <a:prstGeom prst="rect">
            <a:avLst/>
          </a:prstGeom>
          <a:noFill/>
        </p:spPr>
        <p:txBody>
          <a:bodyPr wrap="square" rtlCol="0">
            <a:spAutoFit/>
          </a:bodyPr>
          <a:lstStyle/>
          <a:p>
            <a:pPr marL="285750" indent="-285750">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脂肪动员的激素调控</a:t>
            </a:r>
          </a:p>
        </p:txBody>
      </p:sp>
      <p:sp>
        <p:nvSpPr>
          <p:cNvPr id="4" name="矩形 3"/>
          <p:cNvSpPr/>
          <p:nvPr/>
        </p:nvSpPr>
        <p:spPr>
          <a:xfrm>
            <a:off x="184935" y="1456035"/>
            <a:ext cx="5137078" cy="5324022"/>
          </a:xfrm>
          <a:prstGeom prst="rect">
            <a:avLst/>
          </a:prstGeom>
        </p:spPr>
        <p:txBody>
          <a:bodyPr wrap="square">
            <a:spAutoFit/>
          </a:bodyPr>
          <a:lstStyle/>
          <a:p>
            <a:pPr marL="285750" indent="-285750">
              <a:lnSpc>
                <a:spcPct val="150000"/>
              </a:lnSpc>
              <a:spcBef>
                <a:spcPts val="600"/>
              </a:spcBef>
              <a:buFont typeface="Arial" panose="020B0604020202020204" pitchFamily="34" charset="0"/>
              <a:buChar char="•"/>
            </a:pPr>
            <a:r>
              <a:rPr lang="zh-CN" altLang="en-US" sz="2400" b="1" dirty="0">
                <a:solidFill>
                  <a:srgbClr val="FF0000"/>
                </a:solidFill>
                <a:latin typeface="Comic Sans MS" panose="030F0702030302020204" charset="0"/>
                <a:ea typeface="微软雅黑" panose="020B0503020204020204" pitchFamily="34" charset="-122"/>
                <a:cs typeface="Comic Sans MS" panose="030F0702030302020204" charset="0"/>
              </a:rPr>
              <a:t>HSL</a:t>
            </a:r>
            <a:r>
              <a:rPr lang="zh-CN" altLang="en-US" sz="2400" dirty="0">
                <a:latin typeface="Comic Sans MS" panose="030F0702030302020204" charset="0"/>
                <a:ea typeface="微软雅黑" panose="020B0503020204020204" pitchFamily="34" charset="-122"/>
                <a:cs typeface="Comic Sans MS" panose="030F0702030302020204" charset="0"/>
              </a:rPr>
              <a:t>： hormone-sensitive triglyceride lipase , 激素敏感性脂肪酶（</a:t>
            </a:r>
            <a:r>
              <a:rPr lang="zh-CN" altLang="en-US" sz="2400" b="1" dirty="0">
                <a:solidFill>
                  <a:srgbClr val="FF0000"/>
                </a:solidFill>
                <a:latin typeface="Comic Sans MS" panose="030F0702030302020204" charset="0"/>
                <a:ea typeface="微软雅黑" panose="020B0503020204020204" pitchFamily="34" charset="-122"/>
                <a:cs typeface="Comic Sans MS" panose="030F0702030302020204" charset="0"/>
              </a:rPr>
              <a:t>关键酶</a:t>
            </a:r>
            <a:r>
              <a:rPr lang="zh-CN" altLang="en-US" sz="2400" dirty="0">
                <a:latin typeface="Comic Sans MS" panose="030F0702030302020204" charset="0"/>
                <a:ea typeface="微软雅黑" panose="020B0503020204020204" pitchFamily="34" charset="-122"/>
                <a:cs typeface="Comic Sans MS" panose="030F0702030302020204" charset="0"/>
              </a:rPr>
              <a:t>）</a:t>
            </a:r>
          </a:p>
          <a:p>
            <a:pPr marL="285750" indent="-285750">
              <a:lnSpc>
                <a:spcPct val="150000"/>
              </a:lnSpc>
              <a:spcBef>
                <a:spcPts val="600"/>
              </a:spcBef>
              <a:buFont typeface="Arial" panose="020B0604020202020204" pitchFamily="34" charset="0"/>
              <a:buChar char="•"/>
            </a:pPr>
            <a:r>
              <a:rPr lang="zh-CN" altLang="en-US" sz="2400" b="1" dirty="0">
                <a:latin typeface="Comic Sans MS" panose="030F0702030302020204" charset="0"/>
                <a:ea typeface="微软雅黑" panose="020B0503020204020204" pitchFamily="34" charset="-122"/>
                <a:cs typeface="Comic Sans MS" panose="030F0702030302020204" charset="0"/>
              </a:rPr>
              <a:t>AC</a:t>
            </a:r>
            <a:r>
              <a:rPr lang="zh-CN" altLang="en-US" sz="2400" dirty="0">
                <a:latin typeface="Comic Sans MS" panose="030F0702030302020204" charset="0"/>
                <a:ea typeface="微软雅黑" panose="020B0503020204020204" pitchFamily="34" charset="-122"/>
                <a:cs typeface="Comic Sans MS" panose="030F0702030302020204" charset="0"/>
              </a:rPr>
              <a:t>： adenylate cyclase，腺苷酸环化酶</a:t>
            </a:r>
          </a:p>
          <a:p>
            <a:pPr marL="285750" indent="-285750">
              <a:lnSpc>
                <a:spcPct val="150000"/>
              </a:lnSpc>
              <a:spcBef>
                <a:spcPts val="600"/>
              </a:spcBef>
              <a:buFont typeface="Arial" panose="020B0604020202020204" pitchFamily="34" charset="0"/>
              <a:buChar char="•"/>
            </a:pPr>
            <a:r>
              <a:rPr lang="zh-CN" altLang="en-US" sz="2400" b="1" dirty="0">
                <a:latin typeface="Comic Sans MS" panose="030F0702030302020204" charset="0"/>
                <a:ea typeface="微软雅黑" panose="020B0503020204020204" pitchFamily="34" charset="-122"/>
                <a:cs typeface="Comic Sans MS" panose="030F0702030302020204" charset="0"/>
              </a:rPr>
              <a:t>PKA</a:t>
            </a:r>
            <a:r>
              <a:rPr lang="zh-CN" altLang="en-US" sz="2400" dirty="0">
                <a:latin typeface="Comic Sans MS" panose="030F0702030302020204" charset="0"/>
                <a:ea typeface="微软雅黑" panose="020B0503020204020204" pitchFamily="34" charset="-122"/>
                <a:cs typeface="Comic Sans MS" panose="030F0702030302020204" charset="0"/>
              </a:rPr>
              <a:t>: protein kinase A </a:t>
            </a:r>
            <a:endParaRPr lang="en-US" altLang="zh-CN" sz="2400" dirty="0">
              <a:latin typeface="Comic Sans MS" panose="030F0702030302020204" charset="0"/>
              <a:ea typeface="微软雅黑" panose="020B0503020204020204" pitchFamily="34" charset="-122"/>
              <a:cs typeface="Comic Sans MS" panose="030F0702030302020204" charset="0"/>
            </a:endParaRPr>
          </a:p>
          <a:p>
            <a:pPr marL="285750" indent="-285750">
              <a:lnSpc>
                <a:spcPct val="150000"/>
              </a:lnSpc>
              <a:spcBef>
                <a:spcPts val="600"/>
              </a:spcBef>
              <a:buFont typeface="Arial" panose="020B0604020202020204" pitchFamily="34" charset="0"/>
              <a:buChar char="•"/>
            </a:pPr>
            <a:r>
              <a:rPr lang="zh-CN" altLang="en-US" sz="2400" b="1" dirty="0">
                <a:latin typeface="Comic Sans MS" panose="030F0702030302020204" charset="0"/>
                <a:ea typeface="微软雅黑" panose="020B0503020204020204" pitchFamily="34" charset="-122"/>
                <a:cs typeface="Comic Sans MS" panose="030F0702030302020204" charset="0"/>
              </a:rPr>
              <a:t>脂解激素</a:t>
            </a:r>
            <a:r>
              <a:rPr lang="zh-CN" altLang="en-US" sz="2400" dirty="0">
                <a:latin typeface="Comic Sans MS" panose="030F0702030302020204" charset="0"/>
                <a:ea typeface="微软雅黑" panose="020B0503020204020204" pitchFamily="34" charset="-122"/>
                <a:cs typeface="Comic Sans MS" panose="030F0702030302020204" charset="0"/>
              </a:rPr>
              <a:t>：肾上腺素、去甲肾上腺素、胰高血糖素。</a:t>
            </a:r>
            <a:endParaRPr lang="en-US" altLang="zh-CN" sz="2400" dirty="0">
              <a:latin typeface="Comic Sans MS" panose="030F0702030302020204" charset="0"/>
              <a:ea typeface="微软雅黑" panose="020B0503020204020204" pitchFamily="34" charset="-122"/>
              <a:cs typeface="Comic Sans MS" panose="030F0702030302020204" charset="0"/>
            </a:endParaRPr>
          </a:p>
          <a:p>
            <a:pPr marL="285750" indent="-285750">
              <a:lnSpc>
                <a:spcPct val="150000"/>
              </a:lnSpc>
              <a:spcBef>
                <a:spcPts val="600"/>
              </a:spcBef>
              <a:buFont typeface="Arial" panose="020B0604020202020204" pitchFamily="34" charset="0"/>
              <a:buChar char="•"/>
            </a:pPr>
            <a:r>
              <a:rPr lang="zh-CN" altLang="en-US" sz="2400" b="1" dirty="0">
                <a:latin typeface="Comic Sans MS" panose="030F0702030302020204" charset="0"/>
                <a:ea typeface="微软雅黑" panose="020B0503020204020204" pitchFamily="34" charset="-122"/>
                <a:cs typeface="Comic Sans MS" panose="030F0702030302020204" charset="0"/>
              </a:rPr>
              <a:t>抗脂解素</a:t>
            </a:r>
            <a:r>
              <a:rPr lang="zh-CN" altLang="en-US" sz="2400" dirty="0">
                <a:latin typeface="Comic Sans MS" panose="030F0702030302020204" charset="0"/>
                <a:ea typeface="微软雅黑" panose="020B0503020204020204" pitchFamily="34" charset="-122"/>
                <a:cs typeface="Comic Sans MS" panose="030F0702030302020204" charset="0"/>
              </a:rPr>
              <a:t>：胰岛素、前列腺素</a:t>
            </a:r>
            <a:r>
              <a:rPr lang="en-US" altLang="zh-CN" sz="2400" dirty="0">
                <a:latin typeface="Comic Sans MS" panose="030F0702030302020204" charset="0"/>
                <a:ea typeface="微软雅黑" panose="020B0503020204020204" pitchFamily="34" charset="-122"/>
                <a:cs typeface="Comic Sans MS" panose="030F0702030302020204" charset="0"/>
              </a:rPr>
              <a:t>E2</a:t>
            </a:r>
            <a:r>
              <a:rPr lang="zh-CN" altLang="en-US" sz="2400" dirty="0">
                <a:latin typeface="Comic Sans MS" panose="030F0702030302020204" charset="0"/>
                <a:ea typeface="微软雅黑" panose="020B0503020204020204" pitchFamily="34" charset="-122"/>
                <a:cs typeface="Comic Sans MS" panose="030F0702030302020204" charset="0"/>
              </a:rPr>
              <a:t>等</a:t>
            </a:r>
          </a:p>
        </p:txBody>
      </p:sp>
      <p:sp>
        <p:nvSpPr>
          <p:cNvPr id="2" name="矩形 1"/>
          <p:cNvSpPr/>
          <p:nvPr/>
        </p:nvSpPr>
        <p:spPr>
          <a:xfrm>
            <a:off x="2072858" y="-15968"/>
            <a:ext cx="8785641" cy="646331"/>
          </a:xfrm>
          <a:prstGeom prst="rect">
            <a:avLst/>
          </a:prstGeom>
        </p:spPr>
        <p:txBody>
          <a:bodyPr wrap="square">
            <a:spAutoFit/>
          </a:bodyPr>
          <a:lstStyle/>
          <a:p>
            <a:r>
              <a:rPr lang="zh-CN" altLang="en-US" sz="3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一、脂肪动员（</a:t>
            </a:r>
            <a:r>
              <a:rPr lang="en-US" altLang="zh-CN" sz="3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Mobilization of fat</a:t>
            </a:r>
            <a:r>
              <a:rPr lang="zh-CN" altLang="en-US" sz="3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endParaRPr lang="en-US" altLang="zh-CN" sz="3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descr="QQ截图20211028203519"/>
          <p:cNvPicPr>
            <a:picLocks noChangeAspect="1"/>
          </p:cNvPicPr>
          <p:nvPr/>
        </p:nvPicPr>
        <p:blipFill>
          <a:blip r:embed="rId3"/>
          <a:stretch>
            <a:fillRect/>
          </a:stretch>
        </p:blipFill>
        <p:spPr>
          <a:xfrm>
            <a:off x="18706" y="826315"/>
            <a:ext cx="4734559" cy="5948914"/>
          </a:xfrm>
          <a:prstGeom prst="rect">
            <a:avLst/>
          </a:prstGeom>
        </p:spPr>
      </p:pic>
      <p:sp>
        <p:nvSpPr>
          <p:cNvPr id="3" name="文本框 2"/>
          <p:cNvSpPr txBox="1"/>
          <p:nvPr/>
        </p:nvSpPr>
        <p:spPr>
          <a:xfrm>
            <a:off x="3494930" y="49587"/>
            <a:ext cx="4864210" cy="646331"/>
          </a:xfrm>
          <a:prstGeom prst="rect">
            <a:avLst/>
          </a:prstGeom>
        </p:spPr>
        <p:txBody>
          <a:bodyPr wrap="square">
            <a:spAutoFit/>
          </a:bodyPr>
          <a:lstStyle>
            <a:defPPr>
              <a:defRPr lang="en-US"/>
            </a:defPPr>
            <a:lvl1pPr>
              <a:lnSpc>
                <a:spcPct val="150000"/>
              </a:lnSpc>
              <a:defRPr sz="36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a:lnSpc>
                <a:spcPct val="100000"/>
              </a:lnSpc>
            </a:pPr>
            <a:r>
              <a:rPr lang="zh-CN" altLang="en-US" dirty="0"/>
              <a:t>二、甘油的氧化分解</a:t>
            </a:r>
          </a:p>
        </p:txBody>
      </p:sp>
      <p:sp>
        <p:nvSpPr>
          <p:cNvPr id="8" name="矩形 7"/>
          <p:cNvSpPr/>
          <p:nvPr/>
        </p:nvSpPr>
        <p:spPr>
          <a:xfrm>
            <a:off x="4860134" y="1015595"/>
            <a:ext cx="4079239" cy="1200329"/>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rPr>
              <a:t>进入糖异生途径：葡萄糖</a:t>
            </a:r>
          </a:p>
          <a:p>
            <a:pPr marL="285750" indent="-285750">
              <a:lnSpc>
                <a:spcPct val="150000"/>
              </a:lnSpc>
              <a:buFont typeface="Arial" panose="020B0604020202020204" pitchFamily="34" charset="0"/>
              <a:buChar char="•"/>
            </a:pPr>
            <a:r>
              <a:rPr lang="zh-CN" altLang="en-US" sz="2400" b="1" dirty="0" smtClean="0">
                <a:latin typeface="微软雅黑" panose="020B0503020204020204" pitchFamily="34" charset="-122"/>
                <a:ea typeface="微软雅黑" panose="020B0503020204020204" pitchFamily="34" charset="-122"/>
              </a:rPr>
              <a:t>进入</a:t>
            </a:r>
            <a:r>
              <a:rPr lang="zh-CN" altLang="en-US" sz="2400" b="1" dirty="0">
                <a:latin typeface="微软雅黑" panose="020B0503020204020204" pitchFamily="34" charset="-122"/>
                <a:ea typeface="微软雅黑" panose="020B0503020204020204" pitchFamily="34" charset="-122"/>
              </a:rPr>
              <a:t>糖酵解途径：</a:t>
            </a:r>
            <a:r>
              <a:rPr lang="en-US" altLang="zh-CN" sz="2400" b="1" dirty="0" smtClean="0">
                <a:latin typeface="微软雅黑" panose="020B0503020204020204" pitchFamily="34" charset="-122"/>
                <a:ea typeface="微软雅黑" panose="020B0503020204020204" pitchFamily="34" charset="-122"/>
              </a:rPr>
              <a:t>ATP</a:t>
            </a:r>
            <a:endParaRPr lang="en-US" altLang="zh-CN" sz="2400" b="1" dirty="0">
              <a:latin typeface="微软雅黑" panose="020B0503020204020204" pitchFamily="34" charset="-122"/>
              <a:ea typeface="微软雅黑" panose="020B0503020204020204" pitchFamily="34" charset="-122"/>
            </a:endParaRPr>
          </a:p>
        </p:txBody>
      </p:sp>
      <p:sp>
        <p:nvSpPr>
          <p:cNvPr id="2" name="文本框 1"/>
          <p:cNvSpPr txBox="1"/>
          <p:nvPr/>
        </p:nvSpPr>
        <p:spPr>
          <a:xfrm>
            <a:off x="3241917" y="1675455"/>
            <a:ext cx="646331" cy="369332"/>
          </a:xfrm>
          <a:prstGeom prst="rect">
            <a:avLst/>
          </a:prstGeom>
          <a:noFill/>
          <a:ln>
            <a:solidFill>
              <a:schemeClr val="tx1"/>
            </a:solidFill>
          </a:ln>
        </p:spPr>
        <p:txBody>
          <a:bodyPr wrap="none" rtlCol="0">
            <a:spAutoFit/>
          </a:bodyPr>
          <a:lstStyle/>
          <a:p>
            <a:r>
              <a:rPr lang="zh-CN" altLang="en-US" b="1" dirty="0">
                <a:latin typeface="微软雅黑" panose="020B0503020204020204" pitchFamily="34" charset="-122"/>
                <a:ea typeface="微软雅黑" panose="020B0503020204020204" pitchFamily="34" charset="-122"/>
              </a:rPr>
              <a:t>甘油</a:t>
            </a:r>
          </a:p>
        </p:txBody>
      </p:sp>
      <p:sp>
        <p:nvSpPr>
          <p:cNvPr id="4" name="矩形 3"/>
          <p:cNvSpPr/>
          <p:nvPr/>
        </p:nvSpPr>
        <p:spPr>
          <a:xfrm>
            <a:off x="3136312" y="4016692"/>
            <a:ext cx="1351652" cy="369332"/>
          </a:xfrm>
          <a:prstGeom prst="rect">
            <a:avLst/>
          </a:prstGeom>
          <a:ln>
            <a:solidFill>
              <a:schemeClr val="tx1"/>
            </a:solidFill>
          </a:ln>
        </p:spPr>
        <p:txBody>
          <a:bodyPr wrap="none">
            <a:spAutoFit/>
          </a:bodyPr>
          <a:lstStyle/>
          <a:p>
            <a:r>
              <a:rPr lang="en-US" altLang="zh-CN" b="1" dirty="0">
                <a:latin typeface="微软雅黑" panose="020B0503020204020204" pitchFamily="34" charset="-122"/>
                <a:ea typeface="微软雅黑" panose="020B0503020204020204" pitchFamily="34" charset="-122"/>
              </a:rPr>
              <a:t>3-</a:t>
            </a:r>
            <a:r>
              <a:rPr lang="zh-CN" altLang="en-US" b="1" dirty="0">
                <a:latin typeface="微软雅黑" panose="020B0503020204020204" pitchFamily="34" charset="-122"/>
                <a:ea typeface="微软雅黑" panose="020B0503020204020204" pitchFamily="34" charset="-122"/>
              </a:rPr>
              <a:t>磷酸甘油</a:t>
            </a:r>
          </a:p>
        </p:txBody>
      </p:sp>
      <p:sp>
        <p:nvSpPr>
          <p:cNvPr id="10" name="矩形 9"/>
          <p:cNvSpPr/>
          <p:nvPr/>
        </p:nvSpPr>
        <p:spPr>
          <a:xfrm>
            <a:off x="3136312" y="5473786"/>
            <a:ext cx="1569660" cy="369332"/>
          </a:xfrm>
          <a:prstGeom prst="rect">
            <a:avLst/>
          </a:prstGeom>
          <a:ln>
            <a:solidFill>
              <a:srgbClr val="FF0000"/>
            </a:solidFill>
          </a:ln>
        </p:spPr>
        <p:txBody>
          <a:bodyPr wrap="none">
            <a:spAutoFit/>
          </a:bodyPr>
          <a:lstStyle/>
          <a:p>
            <a:r>
              <a:rPr lang="zh-CN" altLang="en-US" b="1" dirty="0">
                <a:solidFill>
                  <a:srgbClr val="FF0000"/>
                </a:solidFill>
                <a:latin typeface="微软雅黑" panose="020B0503020204020204" pitchFamily="34" charset="-122"/>
                <a:ea typeface="微软雅黑" panose="020B0503020204020204" pitchFamily="34" charset="-122"/>
              </a:rPr>
              <a:t>磷酸二羟丙酮</a:t>
            </a:r>
          </a:p>
        </p:txBody>
      </p:sp>
      <p:sp>
        <p:nvSpPr>
          <p:cNvPr id="5" name="文本框 4"/>
          <p:cNvSpPr txBox="1"/>
          <p:nvPr/>
        </p:nvSpPr>
        <p:spPr>
          <a:xfrm>
            <a:off x="260276" y="2629952"/>
            <a:ext cx="1107996" cy="369332"/>
          </a:xfrm>
          <a:prstGeom prst="rect">
            <a:avLst/>
          </a:prstGeom>
          <a:noFill/>
        </p:spPr>
        <p:txBody>
          <a:bodyPr wrap="none" rtlCol="0">
            <a:spAutoFit/>
          </a:bodyPr>
          <a:lstStyle/>
          <a:p>
            <a:r>
              <a:rPr lang="zh-CN" altLang="en-US" b="1" dirty="0">
                <a:solidFill>
                  <a:srgbClr val="FF0000"/>
                </a:solidFill>
                <a:latin typeface="微软雅黑" panose="020B0503020204020204" pitchFamily="34" charset="-122"/>
                <a:ea typeface="微软雅黑" panose="020B0503020204020204" pitchFamily="34" charset="-122"/>
              </a:rPr>
              <a:t>甘油激酶</a:t>
            </a:r>
          </a:p>
        </p:txBody>
      </p:sp>
      <p:sp>
        <p:nvSpPr>
          <p:cNvPr id="6" name="矩形 5"/>
          <p:cNvSpPr/>
          <p:nvPr/>
        </p:nvSpPr>
        <p:spPr>
          <a:xfrm>
            <a:off x="138448" y="5012121"/>
            <a:ext cx="1351652" cy="646331"/>
          </a:xfrm>
          <a:prstGeom prst="rect">
            <a:avLst/>
          </a:prstGeom>
        </p:spPr>
        <p:txBody>
          <a:bodyPr wrap="none">
            <a:spAutoFit/>
          </a:bodyPr>
          <a:lstStyle/>
          <a:p>
            <a:r>
              <a:rPr lang="en-US" altLang="zh-CN" b="1" dirty="0">
                <a:solidFill>
                  <a:srgbClr val="FF0000"/>
                </a:solidFill>
                <a:latin typeface="微软雅黑" panose="020B0503020204020204" pitchFamily="34" charset="-122"/>
                <a:ea typeface="微软雅黑" panose="020B0503020204020204" pitchFamily="34" charset="-122"/>
              </a:rPr>
              <a:t>3-</a:t>
            </a:r>
            <a:r>
              <a:rPr lang="zh-CN" altLang="en-US" b="1" dirty="0">
                <a:solidFill>
                  <a:srgbClr val="FF0000"/>
                </a:solidFill>
                <a:latin typeface="微软雅黑" panose="020B0503020204020204" pitchFamily="34" charset="-122"/>
                <a:ea typeface="微软雅黑" panose="020B0503020204020204" pitchFamily="34" charset="-122"/>
              </a:rPr>
              <a:t>磷酸甘油</a:t>
            </a:r>
            <a:endParaRPr lang="en-US" altLang="zh-CN" b="1" dirty="0">
              <a:solidFill>
                <a:srgbClr val="FF0000"/>
              </a:solidFill>
              <a:latin typeface="微软雅黑" panose="020B0503020204020204" pitchFamily="34" charset="-122"/>
              <a:ea typeface="微软雅黑" panose="020B0503020204020204" pitchFamily="34" charset="-122"/>
            </a:endParaRPr>
          </a:p>
          <a:p>
            <a:r>
              <a:rPr lang="zh-CN" altLang="en-US" b="1" dirty="0">
                <a:solidFill>
                  <a:srgbClr val="FF0000"/>
                </a:solidFill>
                <a:latin typeface="微软雅黑" panose="020B0503020204020204" pitchFamily="34" charset="-122"/>
                <a:ea typeface="微软雅黑" panose="020B0503020204020204" pitchFamily="34" charset="-122"/>
              </a:rPr>
              <a:t>脱氢酶</a:t>
            </a:r>
          </a:p>
        </p:txBody>
      </p:sp>
      <p:sp>
        <p:nvSpPr>
          <p:cNvPr id="15" name="文本框 765953"/>
          <p:cNvSpPr txBox="1"/>
          <p:nvPr/>
        </p:nvSpPr>
        <p:spPr>
          <a:xfrm>
            <a:off x="5012534" y="2368967"/>
            <a:ext cx="4589780" cy="521970"/>
          </a:xfrm>
          <a:prstGeom prst="rect">
            <a:avLst/>
          </a:prstGeom>
          <a:solidFill>
            <a:schemeClr val="accent3">
              <a:lumMod val="60000"/>
              <a:lumOff val="40000"/>
            </a:schemeClr>
          </a:solidFill>
        </p:spPr>
        <p:style>
          <a:lnRef idx="2">
            <a:schemeClr val="dk1"/>
          </a:lnRef>
          <a:fillRef idx="1">
            <a:schemeClr val="lt1"/>
          </a:fillRef>
          <a:effectRef idx="0">
            <a:schemeClr val="dk1"/>
          </a:effectRef>
          <a:fontRef idx="minor">
            <a:schemeClr val="dk1"/>
          </a:fontRef>
        </p:style>
        <p:txBody>
          <a:bodyPr wrap="square">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algn="ctr" eaLnBrk="1" hangingPunct="1">
              <a:spcBef>
                <a:spcPct val="50000"/>
              </a:spcBef>
              <a:buNone/>
            </a:pPr>
            <a:r>
              <a:rPr lang="zh-CN" altLang="en-US" sz="2800" b="1" dirty="0">
                <a:latin typeface="微软雅黑" panose="020B0503020204020204" pitchFamily="34" charset="-122"/>
                <a:ea typeface="微软雅黑" panose="020B0503020204020204" pitchFamily="34" charset="-122"/>
              </a:rPr>
              <a:t>甘油氧化分解产生能量情况</a:t>
            </a:r>
          </a:p>
        </p:txBody>
      </p:sp>
      <p:sp>
        <p:nvSpPr>
          <p:cNvPr id="16" name="文本框 765954"/>
          <p:cNvSpPr txBox="1"/>
          <p:nvPr/>
        </p:nvSpPr>
        <p:spPr>
          <a:xfrm>
            <a:off x="5012534" y="3340397"/>
            <a:ext cx="8534400" cy="4603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50000"/>
              </a:spcBef>
              <a:buNone/>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消耗：活化                                </a:t>
            </a:r>
            <a:r>
              <a:rPr lang="en-US" altLang="zh-CN" sz="24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-1ATP</a:t>
            </a:r>
          </a:p>
        </p:txBody>
      </p:sp>
      <p:sp>
        <p:nvSpPr>
          <p:cNvPr id="17" name="文本框 765955"/>
          <p:cNvSpPr txBox="1"/>
          <p:nvPr/>
        </p:nvSpPr>
        <p:spPr>
          <a:xfrm>
            <a:off x="5012534" y="4273211"/>
            <a:ext cx="8458200" cy="101473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50000"/>
              </a:spcBef>
              <a:buNone/>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生成：</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1.5</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或</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2.5+ 1.5</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或</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2.5+2+2.5+10      </a:t>
            </a:r>
          </a:p>
          <a:p>
            <a:pPr marL="0" indent="0" eaLnBrk="1" hangingPunct="1">
              <a:spcBef>
                <a:spcPct val="50000"/>
              </a:spcBef>
              <a:buNone/>
            </a:pP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17.5</a:t>
            </a:r>
            <a:r>
              <a:rPr lang="zh-CN" altLang="en-US" sz="24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或</a:t>
            </a:r>
            <a:r>
              <a:rPr lang="en-US" altLang="zh-CN" sz="2400" b="1" dirty="0">
                <a:solidFill>
                  <a:srgbClr val="0000FF"/>
                </a:solidFill>
                <a:latin typeface="微软雅黑" panose="020B0503020204020204" pitchFamily="34" charset="-122"/>
                <a:ea typeface="微软雅黑" panose="020B0503020204020204" pitchFamily="34" charset="-122"/>
                <a:cs typeface="微软雅黑" panose="020B0503020204020204" pitchFamily="34" charset="-122"/>
              </a:rPr>
              <a:t>19.5ATP</a:t>
            </a:r>
          </a:p>
        </p:txBody>
      </p:sp>
      <p:sp>
        <p:nvSpPr>
          <p:cNvPr id="18" name="文本框 765956"/>
          <p:cNvSpPr txBox="1"/>
          <p:nvPr/>
        </p:nvSpPr>
        <p:spPr>
          <a:xfrm>
            <a:off x="5012534" y="5342683"/>
            <a:ext cx="8686800" cy="4603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stStyle>
          <a:p>
            <a:pPr marL="0" indent="0" eaLnBrk="1" hangingPunct="1">
              <a:spcBef>
                <a:spcPct val="50000"/>
              </a:spcBef>
              <a:buNone/>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净生成：                               </a:t>
            </a:r>
            <a:r>
              <a:rPr lang="zh-CN" altLang="en-US" sz="2400" b="1" dirty="0" smtClean="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400" b="1" dirty="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16.5</a:t>
            </a:r>
            <a:r>
              <a:rPr lang="zh-CN" altLang="en-US"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或</a:t>
            </a:r>
            <a:r>
              <a:rPr lang="en-US" altLang="zh-CN" sz="2400"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18.5ATP</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0-#ppt_w/2"/>
                                          </p:val>
                                        </p:tav>
                                        <p:tav tm="100000">
                                          <p:val>
                                            <p:strVal val="#ppt_x"/>
                                          </p:val>
                                        </p:tav>
                                      </p:tavLst>
                                    </p:anim>
                                    <p:anim calcmode="lin" valueType="num">
                                      <p:cBhvr additive="base">
                                        <p:cTn id="8"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blinds(horizontal)">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checkerboard(across)">
                                      <p:cBhvr>
                                        <p:cTn id="18" dur="500"/>
                                        <p:tgtEl>
                                          <p:spTgt spid="17"/>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blinds(horizontal)">
                                      <p:cBhvr>
                                        <p:cTn id="2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16" grpId="0"/>
      <p:bldP spid="17" grpId="0"/>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3587101" y="114802"/>
            <a:ext cx="6096161" cy="646331"/>
          </a:xfrm>
        </p:spPr>
        <p:txBody>
          <a:bodyPr wrap="square">
            <a:spAutoFit/>
          </a:bodyPr>
          <a:lstStyle/>
          <a:p>
            <a:pPr defTabSz="457200">
              <a:lnSpc>
                <a:spcPct val="100000"/>
              </a:lnSpc>
            </a:pPr>
            <a:r>
              <a:rPr lang="zh-CN" altLang="en-US" sz="3600" b="1"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三、脂肪酸</a:t>
            </a:r>
            <a:r>
              <a:rPr lang="zh-CN" altLang="en-US" sz="3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的分解代谢</a:t>
            </a:r>
          </a:p>
        </p:txBody>
      </p:sp>
      <p:sp>
        <p:nvSpPr>
          <p:cNvPr id="6147" name="Rectangle 3"/>
          <p:cNvSpPr>
            <a:spLocks noGrp="1" noChangeArrowheads="1"/>
          </p:cNvSpPr>
          <p:nvPr>
            <p:ph type="body" idx="4294967295"/>
          </p:nvPr>
        </p:nvSpPr>
        <p:spPr>
          <a:xfrm>
            <a:off x="117230" y="828554"/>
            <a:ext cx="11992708" cy="1126462"/>
          </a:xfrm>
          <a:noFill/>
          <a:ln>
            <a:noFill/>
          </a:ln>
        </p:spPr>
        <p:txBody>
          <a:bodyPr wrap="square" rtlCol="0" anchor="t">
            <a:spAutoFit/>
          </a:bodyPr>
          <a:lstStyle/>
          <a:p>
            <a:pPr defTabSz="457200">
              <a:lnSpc>
                <a:spcPct val="120000"/>
              </a:lnSpc>
              <a:spcBef>
                <a:spcPts val="0"/>
              </a:spcBef>
            </a:pPr>
            <a:r>
              <a:rPr lang="zh-CN" altLang="en-US" dirty="0">
                <a:ea typeface="微软雅黑" panose="020B0503020204020204" pitchFamily="34" charset="-122"/>
              </a:rPr>
              <a:t>脂肪酸的分解是以氧化的形式进行的，而氧化的方式有</a:t>
            </a:r>
            <a:r>
              <a:rPr lang="en-US" altLang="zh-CN" dirty="0">
                <a:ea typeface="微软雅黑" panose="020B0503020204020204" pitchFamily="34" charset="-122"/>
              </a:rPr>
              <a:t>α-</a:t>
            </a:r>
            <a:r>
              <a:rPr lang="zh-CN" altLang="en-US" dirty="0">
                <a:ea typeface="微软雅黑" panose="020B0503020204020204" pitchFamily="34" charset="-122"/>
              </a:rPr>
              <a:t>氧化、</a:t>
            </a:r>
            <a:r>
              <a:rPr lang="en-US" altLang="zh-CN" dirty="0">
                <a:ea typeface="微软雅黑" panose="020B0503020204020204" pitchFamily="34" charset="-122"/>
              </a:rPr>
              <a:t>β-</a:t>
            </a:r>
            <a:r>
              <a:rPr lang="zh-CN" altLang="en-US" dirty="0">
                <a:ea typeface="微软雅黑" panose="020B0503020204020204" pitchFamily="34" charset="-122"/>
              </a:rPr>
              <a:t>氧化和</a:t>
            </a:r>
            <a:r>
              <a:rPr lang="en-US" altLang="zh-CN" dirty="0">
                <a:ea typeface="微软雅黑" panose="020B0503020204020204" pitchFamily="34" charset="-122"/>
              </a:rPr>
              <a:t>ω-</a:t>
            </a:r>
            <a:r>
              <a:rPr lang="zh-CN" altLang="en-US" dirty="0">
                <a:ea typeface="微软雅黑" panose="020B0503020204020204" pitchFamily="34" charset="-122"/>
              </a:rPr>
              <a:t>氧化，其中</a:t>
            </a:r>
            <a:r>
              <a:rPr lang="en-US" altLang="zh-CN" dirty="0">
                <a:ea typeface="微软雅黑" panose="020B0503020204020204" pitchFamily="34" charset="-122"/>
              </a:rPr>
              <a:t>β-</a:t>
            </a:r>
            <a:r>
              <a:rPr lang="zh-CN" altLang="en-US" dirty="0">
                <a:ea typeface="微软雅黑" panose="020B0503020204020204" pitchFamily="34" charset="-122"/>
              </a:rPr>
              <a:t>氧化是主要的方式。 </a:t>
            </a:r>
          </a:p>
        </p:txBody>
      </p:sp>
      <p:sp>
        <p:nvSpPr>
          <p:cNvPr id="4" name="Rectangle 2"/>
          <p:cNvSpPr txBox="1">
            <a:spLocks noChangeArrowheads="1"/>
          </p:cNvSpPr>
          <p:nvPr/>
        </p:nvSpPr>
        <p:spPr>
          <a:xfrm>
            <a:off x="3584983" y="2176965"/>
            <a:ext cx="4705351" cy="6463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457200">
              <a:lnSpc>
                <a:spcPct val="100000"/>
              </a:lnSpc>
            </a:pPr>
            <a:r>
              <a:rPr lang="en-US" altLang="zh-CN" sz="3600" b="1"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β-</a:t>
            </a:r>
            <a:r>
              <a:rPr lang="zh-CN" altLang="en-US" sz="3600" b="1" dirty="0" smtClean="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氧化的反应历程</a:t>
            </a:r>
            <a:endParaRPr lang="zh-CN" altLang="en-US" sz="3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endParaRPr>
          </a:p>
        </p:txBody>
      </p:sp>
      <p:sp>
        <p:nvSpPr>
          <p:cNvPr id="5" name="Rectangle 3"/>
          <p:cNvSpPr txBox="1">
            <a:spLocks noChangeArrowheads="1"/>
          </p:cNvSpPr>
          <p:nvPr/>
        </p:nvSpPr>
        <p:spPr>
          <a:xfrm>
            <a:off x="240324" y="3044826"/>
            <a:ext cx="10515600" cy="2160591"/>
          </a:xfrm>
          <a:prstGeom prst="rect">
            <a:avLst/>
          </a:prstGeom>
          <a:noFill/>
          <a:ln>
            <a:noFill/>
          </a:ln>
        </p:spPr>
        <p:txBody>
          <a:bodyPr vert="horz" wrap="square" lIns="91440" tIns="45720" rIns="91440" bIns="45720" rtlCol="0" anchor="t">
            <a:spAutoFit/>
          </a:bodyPr>
          <a:lstStyle>
            <a:lvl1pPr marL="228600" indent="-228600">
              <a:lnSpc>
                <a:spcPct val="120000"/>
              </a:lnSpc>
              <a:spcBef>
                <a:spcPts val="0"/>
              </a:spcBef>
              <a:buFont typeface="Arial" panose="020B0604020202020204" pitchFamily="34" charset="0"/>
              <a:buChar char="•"/>
              <a:defRPr sz="2800">
                <a:ea typeface="微软雅黑" panose="020B0503020204020204" pitchFamily="34" charset="-122"/>
              </a:defRPr>
            </a:lvl1pPr>
            <a:lvl2pPr marL="685800" indent="-228600" defTabSz="914400">
              <a:lnSpc>
                <a:spcPct val="90000"/>
              </a:lnSpc>
              <a:spcBef>
                <a:spcPts val="500"/>
              </a:spcBef>
              <a:buFont typeface="Arial" panose="020B0604020202020204" pitchFamily="34" charset="0"/>
              <a:buChar char="•"/>
              <a:defRPr sz="2400"/>
            </a:lvl2pPr>
            <a:lvl3pPr marL="1143000" indent="-228600" defTabSz="914400">
              <a:lnSpc>
                <a:spcPct val="90000"/>
              </a:lnSpc>
              <a:spcBef>
                <a:spcPts val="500"/>
              </a:spcBef>
              <a:buFont typeface="Arial" panose="020B0604020202020204" pitchFamily="34" charset="0"/>
              <a:buChar char="•"/>
              <a:defRPr sz="2000"/>
            </a:lvl3pPr>
            <a:lvl4pPr marL="1600200" indent="-228600" defTabSz="914400">
              <a:lnSpc>
                <a:spcPct val="90000"/>
              </a:lnSpc>
              <a:spcBef>
                <a:spcPts val="500"/>
              </a:spcBef>
              <a:buFont typeface="Arial" panose="020B0604020202020204" pitchFamily="34" charset="0"/>
              <a:buChar char="•"/>
            </a:lvl4pPr>
            <a:lvl5pPr marL="2057400" indent="-228600" defTabSz="914400">
              <a:lnSpc>
                <a:spcPct val="90000"/>
              </a:lnSpc>
              <a:spcBef>
                <a:spcPts val="500"/>
              </a:spcBef>
              <a:buFont typeface="Arial" panose="020B0604020202020204" pitchFamily="34" charset="0"/>
              <a:buChar char="•"/>
            </a:lvl5pPr>
            <a:lvl6pPr marL="2514600" indent="-228600" defTabSz="914400">
              <a:lnSpc>
                <a:spcPct val="90000"/>
              </a:lnSpc>
              <a:spcBef>
                <a:spcPts val="500"/>
              </a:spcBef>
              <a:buFont typeface="Arial" panose="020B0604020202020204" pitchFamily="34" charset="0"/>
              <a:buChar char="•"/>
            </a:lvl6pPr>
            <a:lvl7pPr marL="2971800" indent="-228600" defTabSz="914400">
              <a:lnSpc>
                <a:spcPct val="90000"/>
              </a:lnSpc>
              <a:spcBef>
                <a:spcPts val="500"/>
              </a:spcBef>
              <a:buFont typeface="Arial" panose="020B0604020202020204" pitchFamily="34" charset="0"/>
              <a:buChar char="•"/>
            </a:lvl7pPr>
            <a:lvl8pPr marL="3429000" indent="-228600" defTabSz="914400">
              <a:lnSpc>
                <a:spcPct val="90000"/>
              </a:lnSpc>
              <a:spcBef>
                <a:spcPts val="500"/>
              </a:spcBef>
              <a:buFont typeface="Arial" panose="020B0604020202020204" pitchFamily="34" charset="0"/>
              <a:buChar char="•"/>
            </a:lvl8pPr>
            <a:lvl9pPr marL="3886200" indent="-228600" defTabSz="914400">
              <a:lnSpc>
                <a:spcPct val="90000"/>
              </a:lnSpc>
              <a:spcBef>
                <a:spcPts val="500"/>
              </a:spcBef>
              <a:buFont typeface="Arial" panose="020B0604020202020204" pitchFamily="34" charset="0"/>
              <a:buChar char="•"/>
            </a:lvl9pPr>
          </a:lstStyle>
          <a:p>
            <a:r>
              <a:rPr lang="zh-CN" altLang="en-US" dirty="0"/>
              <a:t>脂肪酸的活化</a:t>
            </a:r>
          </a:p>
          <a:p>
            <a:r>
              <a:rPr lang="zh-CN" altLang="en-US" dirty="0"/>
              <a:t>脂酰</a:t>
            </a:r>
            <a:r>
              <a:rPr lang="en-US" altLang="zh-CN" dirty="0"/>
              <a:t>-CoA</a:t>
            </a:r>
            <a:r>
              <a:rPr lang="zh-CN" altLang="en-US" dirty="0"/>
              <a:t>的转运</a:t>
            </a:r>
          </a:p>
          <a:p>
            <a:r>
              <a:rPr lang="zh-CN" altLang="en-US" dirty="0"/>
              <a:t>四步反应的重复循环</a:t>
            </a:r>
          </a:p>
          <a:p>
            <a:endParaRPr lang="zh-CN" altLang="en-US" dirty="0"/>
          </a:p>
        </p:txBody>
      </p:sp>
    </p:spTree>
    <p:extLst>
      <p:ext uri="{BB962C8B-B14F-4D97-AF65-F5344CB8AC3E}">
        <p14:creationId xmlns:p14="http://schemas.microsoft.com/office/powerpoint/2010/main" val="201313400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403518" y="11954"/>
            <a:ext cx="7952606" cy="6846046"/>
            <a:chOff x="4592298" y="1026475"/>
            <a:chExt cx="6551295" cy="5494704"/>
          </a:xfrm>
        </p:grpSpPr>
        <p:pic>
          <p:nvPicPr>
            <p:cNvPr id="7" name="图片 6" descr="QQ截图20220514102643"/>
            <p:cNvPicPr>
              <a:picLocks noChangeAspect="1"/>
            </p:cNvPicPr>
            <p:nvPr/>
          </p:nvPicPr>
          <p:blipFill>
            <a:blip r:embed="rId3"/>
            <a:stretch>
              <a:fillRect/>
            </a:stretch>
          </p:blipFill>
          <p:spPr>
            <a:xfrm>
              <a:off x="4592298" y="1026475"/>
              <a:ext cx="6551295" cy="5494704"/>
            </a:xfrm>
            <a:prstGeom prst="rect">
              <a:avLst/>
            </a:prstGeom>
            <a:ln>
              <a:solidFill>
                <a:schemeClr val="tx1"/>
              </a:solidFill>
            </a:ln>
          </p:spPr>
        </p:pic>
        <p:sp>
          <p:nvSpPr>
            <p:cNvPr id="2" name="文本框 1"/>
            <p:cNvSpPr txBox="1"/>
            <p:nvPr/>
          </p:nvSpPr>
          <p:spPr>
            <a:xfrm>
              <a:off x="9695392" y="3542885"/>
              <a:ext cx="1160895" cy="307777"/>
            </a:xfrm>
            <a:prstGeom prst="rect">
              <a:avLst/>
            </a:prstGeom>
            <a:noFill/>
            <a:ln>
              <a:solidFill>
                <a:schemeClr val="tx1"/>
              </a:solidFill>
            </a:ln>
          </p:spPr>
          <p:txBody>
            <a:bodyPr wrap="none" rtlCol="0">
              <a:spAutoFit/>
            </a:bodyPr>
            <a:lstStyle/>
            <a:p>
              <a:r>
                <a:rPr lang="zh-CN" altLang="en-US" sz="1400" b="1" dirty="0">
                  <a:latin typeface="微软雅黑" panose="020B0503020204020204" pitchFamily="34" charset="-122"/>
                  <a:ea typeface="微软雅黑" panose="020B0503020204020204" pitchFamily="34" charset="-122"/>
                </a:rPr>
                <a:t>脂酰</a:t>
              </a:r>
              <a:r>
                <a:rPr lang="en-US" altLang="zh-CN" sz="1400" b="1" dirty="0">
                  <a:latin typeface="微软雅黑" panose="020B0503020204020204" pitchFamily="34" charset="-122"/>
                  <a:ea typeface="微软雅黑" panose="020B0503020204020204" pitchFamily="34" charset="-122"/>
                </a:rPr>
                <a:t>-</a:t>
              </a:r>
              <a:r>
                <a:rPr lang="zh-CN" altLang="en-US" sz="1400" b="1" dirty="0">
                  <a:latin typeface="微软雅黑" panose="020B0503020204020204" pitchFamily="34" charset="-122"/>
                  <a:ea typeface="微软雅黑" panose="020B0503020204020204" pitchFamily="34" charset="-122"/>
                </a:rPr>
                <a:t>腺苷酸</a:t>
              </a:r>
            </a:p>
          </p:txBody>
        </p:sp>
        <p:sp>
          <p:nvSpPr>
            <p:cNvPr id="10" name="文本框 9"/>
            <p:cNvSpPr txBox="1"/>
            <p:nvPr/>
          </p:nvSpPr>
          <p:spPr>
            <a:xfrm>
              <a:off x="9220206" y="2104842"/>
              <a:ext cx="723275" cy="307777"/>
            </a:xfrm>
            <a:prstGeom prst="rect">
              <a:avLst/>
            </a:prstGeom>
            <a:noFill/>
            <a:ln>
              <a:solidFill>
                <a:schemeClr val="tx1"/>
              </a:solidFill>
            </a:ln>
          </p:spPr>
          <p:txBody>
            <a:bodyPr wrap="none" rtlCol="0">
              <a:spAutoFit/>
            </a:bodyPr>
            <a:lstStyle/>
            <a:p>
              <a:r>
                <a:rPr lang="zh-CN" altLang="en-US" sz="1400" b="1" dirty="0">
                  <a:latin typeface="微软雅黑" panose="020B0503020204020204" pitchFamily="34" charset="-122"/>
                  <a:ea typeface="微软雅黑" panose="020B0503020204020204" pitchFamily="34" charset="-122"/>
                </a:rPr>
                <a:t>脂肪酸</a:t>
              </a:r>
            </a:p>
          </p:txBody>
        </p:sp>
        <p:sp>
          <p:nvSpPr>
            <p:cNvPr id="5" name="矩形 4"/>
            <p:cNvSpPr/>
            <p:nvPr/>
          </p:nvSpPr>
          <p:spPr>
            <a:xfrm>
              <a:off x="9520767" y="5385981"/>
              <a:ext cx="994118" cy="338554"/>
            </a:xfrm>
            <a:prstGeom prst="rect">
              <a:avLst/>
            </a:prstGeom>
            <a:ln>
              <a:solidFill>
                <a:srgbClr val="FF0000"/>
              </a:solidFill>
            </a:ln>
          </p:spPr>
          <p:txBody>
            <a:bodyPr wrap="non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脂酰</a:t>
              </a:r>
              <a:r>
                <a:rPr lang="en-US" altLang="zh-CN" sz="1600" b="1" dirty="0">
                  <a:solidFill>
                    <a:srgbClr val="FF0000"/>
                  </a:solidFill>
                  <a:latin typeface="微软雅黑" panose="020B0503020204020204" pitchFamily="34" charset="-122"/>
                  <a:ea typeface="微软雅黑" panose="020B0503020204020204" pitchFamily="34" charset="-122"/>
                </a:rPr>
                <a:t>C</a:t>
              </a:r>
              <a:r>
                <a:rPr lang="en-US" altLang="zh-CN" sz="1600" b="1" baseline="-10000" dirty="0">
                  <a:solidFill>
                    <a:srgbClr val="FF0000"/>
                  </a:solidFill>
                  <a:latin typeface="微软雅黑" panose="020B0503020204020204" pitchFamily="34" charset="-122"/>
                  <a:ea typeface="微软雅黑" panose="020B0503020204020204" pitchFamily="34" charset="-122"/>
                </a:rPr>
                <a:t>O</a:t>
              </a:r>
              <a:r>
                <a:rPr lang="en-US" altLang="zh-CN" sz="1600" b="1" dirty="0">
                  <a:solidFill>
                    <a:srgbClr val="FF0000"/>
                  </a:solidFill>
                  <a:latin typeface="微软雅黑" panose="020B0503020204020204" pitchFamily="34" charset="-122"/>
                  <a:ea typeface="微软雅黑" panose="020B0503020204020204" pitchFamily="34" charset="-122"/>
                </a:rPr>
                <a:t>A</a:t>
              </a:r>
              <a:endParaRPr lang="zh-CN" altLang="en-US" sz="1600" b="1" dirty="0">
                <a:latin typeface="微软雅黑" panose="020B0503020204020204" pitchFamily="34" charset="-122"/>
                <a:ea typeface="微软雅黑" panose="020B0503020204020204" pitchFamily="34" charset="-122"/>
              </a:endParaRPr>
            </a:p>
          </p:txBody>
        </p:sp>
        <p:sp>
          <p:nvSpPr>
            <p:cNvPr id="15" name="文本框 14"/>
            <p:cNvSpPr txBox="1"/>
            <p:nvPr/>
          </p:nvSpPr>
          <p:spPr>
            <a:xfrm>
              <a:off x="4920077" y="3199024"/>
              <a:ext cx="595828" cy="247025"/>
            </a:xfrm>
            <a:prstGeom prst="rect">
              <a:avLst/>
            </a:prstGeom>
            <a:noFill/>
            <a:ln>
              <a:solidFill>
                <a:schemeClr val="tx1"/>
              </a:solidFill>
            </a:ln>
          </p:spPr>
          <p:txBody>
            <a:bodyPr wrap="none" rtlCol="0">
              <a:spAutoFit/>
            </a:bodyPr>
            <a:lstStyle/>
            <a:p>
              <a:r>
                <a:rPr lang="zh-CN" altLang="en-US" sz="1400" b="1" dirty="0">
                  <a:latin typeface="微软雅黑" panose="020B0503020204020204" pitchFamily="34" charset="-122"/>
                  <a:ea typeface="微软雅黑" panose="020B0503020204020204" pitchFamily="34" charset="-122"/>
                </a:rPr>
                <a:t>焦</a:t>
              </a:r>
              <a:r>
                <a:rPr lang="zh-CN" altLang="en-US" sz="1400" b="1" dirty="0" smtClean="0">
                  <a:latin typeface="微软雅黑" panose="020B0503020204020204" pitchFamily="34" charset="-122"/>
                  <a:ea typeface="微软雅黑" panose="020B0503020204020204" pitchFamily="34" charset="-122"/>
                </a:rPr>
                <a:t>磷酸</a:t>
              </a:r>
              <a:endParaRPr lang="zh-CN" altLang="en-US" sz="14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6047976" y="2859960"/>
              <a:ext cx="1253458" cy="271727"/>
            </a:xfrm>
            <a:prstGeom prst="rect">
              <a:avLst/>
            </a:prstGeom>
            <a:noFill/>
          </p:spPr>
          <p:txBody>
            <a:bodyPr wrap="none" rtlCol="0">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脂酰</a:t>
              </a:r>
              <a:r>
                <a:rPr lang="en-US" altLang="zh-CN" sz="1600" b="1" dirty="0">
                  <a:solidFill>
                    <a:srgbClr val="FF0000"/>
                  </a:solidFill>
                  <a:latin typeface="微软雅黑" panose="020B0503020204020204" pitchFamily="34" charset="-122"/>
                  <a:ea typeface="微软雅黑" panose="020B0503020204020204" pitchFamily="34" charset="-122"/>
                </a:rPr>
                <a:t>-CoA</a:t>
              </a:r>
              <a:r>
                <a:rPr lang="zh-CN" altLang="en-US" sz="1600" b="1" dirty="0">
                  <a:solidFill>
                    <a:srgbClr val="FF0000"/>
                  </a:solidFill>
                  <a:latin typeface="微软雅黑" panose="020B0503020204020204" pitchFamily="34" charset="-122"/>
                  <a:ea typeface="微软雅黑" panose="020B0503020204020204" pitchFamily="34" charset="-122"/>
                </a:rPr>
                <a:t>合酶</a:t>
              </a:r>
            </a:p>
          </p:txBody>
        </p:sp>
        <p:sp>
          <p:nvSpPr>
            <p:cNvPr id="16" name="文本框 15"/>
            <p:cNvSpPr txBox="1"/>
            <p:nvPr/>
          </p:nvSpPr>
          <p:spPr>
            <a:xfrm>
              <a:off x="5582368" y="4771618"/>
              <a:ext cx="1166302" cy="271727"/>
            </a:xfrm>
            <a:prstGeom prst="rect">
              <a:avLst/>
            </a:prstGeom>
            <a:noFill/>
          </p:spPr>
          <p:txBody>
            <a:bodyPr wrap="none" rtlCol="0">
              <a:spAutoFit/>
            </a:bodyPr>
            <a:lstStyle>
              <a:defPPr>
                <a:defRPr lang="en-US"/>
              </a:defPPr>
              <a:lvl1pPr>
                <a:defRPr sz="1600" b="1">
                  <a:solidFill>
                    <a:srgbClr val="FF0000"/>
                  </a:solidFill>
                  <a:latin typeface="微软雅黑" panose="020B0503020204020204" pitchFamily="34" charset="-122"/>
                  <a:ea typeface="微软雅黑" panose="020B0503020204020204" pitchFamily="34" charset="-122"/>
                </a:defRPr>
              </a:lvl1pPr>
            </a:lstStyle>
            <a:p>
              <a:r>
                <a:rPr lang="zh-CN" altLang="en-US" dirty="0"/>
                <a:t>无机焦磷酸酶</a:t>
              </a:r>
            </a:p>
          </p:txBody>
        </p:sp>
      </p:grpSp>
      <p:sp>
        <p:nvSpPr>
          <p:cNvPr id="3" name="文本框 2"/>
          <p:cNvSpPr txBox="1"/>
          <p:nvPr/>
        </p:nvSpPr>
        <p:spPr>
          <a:xfrm>
            <a:off x="153428" y="108528"/>
            <a:ext cx="7783438" cy="646331"/>
          </a:xfrm>
          <a:prstGeom prst="rect">
            <a:avLst/>
          </a:prstGeom>
        </p:spPr>
        <p:txBody>
          <a:bodyPr wrap="square">
            <a:spAutoFit/>
          </a:bodyPr>
          <a:lstStyle>
            <a:defPPr>
              <a:defRPr lang="en-US"/>
            </a:defPPr>
            <a:lvl1pPr>
              <a:lnSpc>
                <a:spcPct val="100000"/>
              </a:lnSpc>
              <a:defRPr sz="36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脂肪酸</a:t>
            </a:r>
            <a:r>
              <a:rPr lang="zh-CN" altLang="en-US" dirty="0" smtClean="0"/>
              <a:t>活化</a:t>
            </a:r>
            <a:r>
              <a:rPr lang="en-US" altLang="zh-CN" dirty="0" smtClean="0"/>
              <a:t>——</a:t>
            </a:r>
            <a:r>
              <a:rPr lang="zh-CN" altLang="en-US" dirty="0" smtClean="0">
                <a:solidFill>
                  <a:srgbClr val="FF0000"/>
                </a:solidFill>
                <a:latin typeface="Comic Sans MS" panose="030F0702030302020204" charset="0"/>
                <a:ea typeface="黑体" panose="02010609060101010101" pitchFamily="49" charset="-122"/>
                <a:cs typeface="Comic Sans MS" panose="030F0702030302020204" charset="0"/>
              </a:rPr>
              <a:t>脂</a:t>
            </a:r>
            <a:r>
              <a:rPr lang="zh-CN" altLang="en-US" dirty="0">
                <a:solidFill>
                  <a:srgbClr val="FF0000"/>
                </a:solidFill>
                <a:latin typeface="Comic Sans MS" panose="030F0702030302020204" charset="0"/>
                <a:ea typeface="黑体" panose="02010609060101010101" pitchFamily="49" charset="-122"/>
                <a:cs typeface="Comic Sans MS" panose="030F0702030302020204" charset="0"/>
              </a:rPr>
              <a:t>酰</a:t>
            </a:r>
            <a:r>
              <a:rPr lang="en-US" altLang="zh-CN" dirty="0">
                <a:solidFill>
                  <a:srgbClr val="FF0000"/>
                </a:solidFill>
                <a:latin typeface="Comic Sans MS" panose="030F0702030302020204" charset="0"/>
                <a:ea typeface="黑体" panose="02010609060101010101" pitchFamily="49" charset="-122"/>
                <a:cs typeface="Comic Sans MS" panose="030F0702030302020204" charset="0"/>
              </a:rPr>
              <a:t>C</a:t>
            </a:r>
            <a:r>
              <a:rPr lang="en-US" altLang="zh-CN" baseline="-10000" dirty="0">
                <a:solidFill>
                  <a:srgbClr val="FF0000"/>
                </a:solidFill>
                <a:latin typeface="Comic Sans MS" panose="030F0702030302020204" charset="0"/>
                <a:ea typeface="黑体" panose="02010609060101010101" pitchFamily="49" charset="-122"/>
                <a:cs typeface="Comic Sans MS" panose="030F0702030302020204" charset="0"/>
              </a:rPr>
              <a:t>O</a:t>
            </a:r>
            <a:r>
              <a:rPr lang="en-US" altLang="zh-CN" dirty="0">
                <a:solidFill>
                  <a:srgbClr val="FF0000"/>
                </a:solidFill>
                <a:latin typeface="Comic Sans MS" panose="030F0702030302020204" charset="0"/>
                <a:ea typeface="黑体" panose="02010609060101010101" pitchFamily="49" charset="-122"/>
                <a:cs typeface="Comic Sans MS" panose="030F0702030302020204" charset="0"/>
              </a:rPr>
              <a:t>A</a:t>
            </a:r>
            <a:r>
              <a:rPr lang="zh-CN" altLang="en-US" dirty="0">
                <a:solidFill>
                  <a:srgbClr val="FF0000"/>
                </a:solidFill>
                <a:latin typeface="Comic Sans MS" panose="030F0702030302020204" charset="0"/>
                <a:ea typeface="黑体" panose="02010609060101010101" pitchFamily="49" charset="-122"/>
                <a:cs typeface="Comic Sans MS" panose="030F0702030302020204" charset="0"/>
              </a:rPr>
              <a:t>的</a:t>
            </a:r>
            <a:r>
              <a:rPr lang="zh-CN" altLang="en-US" dirty="0" smtClean="0">
                <a:solidFill>
                  <a:srgbClr val="FF0000"/>
                </a:solidFill>
                <a:latin typeface="Comic Sans MS" panose="030F0702030302020204" charset="0"/>
                <a:ea typeface="黑体" panose="02010609060101010101" pitchFamily="49" charset="-122"/>
                <a:cs typeface="Comic Sans MS" panose="030F0702030302020204" charset="0"/>
              </a:rPr>
              <a:t>生成</a:t>
            </a:r>
            <a:endParaRPr lang="en-US" altLang="zh-CN" dirty="0"/>
          </a:p>
        </p:txBody>
      </p:sp>
      <p:sp>
        <p:nvSpPr>
          <p:cNvPr id="4" name="矩形 3"/>
          <p:cNvSpPr/>
          <p:nvPr/>
        </p:nvSpPr>
        <p:spPr>
          <a:xfrm>
            <a:off x="165426" y="1248673"/>
            <a:ext cx="3879721" cy="2282035"/>
          </a:xfrm>
          <a:prstGeom prst="rect">
            <a:avLst/>
          </a:prstGeom>
        </p:spPr>
        <p:txBody>
          <a:bodyPr wrap="square">
            <a:spAutoFit/>
          </a:bodyPr>
          <a:lstStyle/>
          <a:p>
            <a:pPr marL="285750" indent="-285750">
              <a:lnSpc>
                <a:spcPct val="130000"/>
              </a:lnSpc>
              <a:spcBef>
                <a:spcPts val="600"/>
              </a:spcBef>
              <a:buFont typeface="Arial" panose="020B0604020202020204" pitchFamily="34" charset="0"/>
              <a:buChar char="•"/>
            </a:pPr>
            <a:r>
              <a:rPr lang="zh-CN" altLang="en-US" sz="2800" dirty="0" smtClean="0">
                <a:latin typeface="Comic Sans MS" panose="030F0702030302020204" charset="0"/>
                <a:ea typeface="微软雅黑" panose="020B0503020204020204" pitchFamily="34" charset="-122"/>
                <a:cs typeface="Comic Sans MS" panose="030F0702030302020204" charset="0"/>
              </a:rPr>
              <a:t>组织</a:t>
            </a:r>
            <a:r>
              <a:rPr lang="zh-CN" altLang="en-US" sz="2800" dirty="0">
                <a:latin typeface="Comic Sans MS" panose="030F0702030302020204" charset="0"/>
                <a:ea typeface="微软雅黑" panose="020B0503020204020204" pitchFamily="34" charset="-122"/>
                <a:cs typeface="Comic Sans MS" panose="030F0702030302020204" charset="0"/>
              </a:rPr>
              <a:t>定位：除脑组织外，大多数组织均可进行， 其中肝、肌肉最活跃（胞质）。</a:t>
            </a:r>
          </a:p>
        </p:txBody>
      </p:sp>
    </p:spTree>
  </p:cSld>
  <p:clrMapOvr>
    <a:masterClrMapping/>
  </p:clrMapOvr>
  <p:transition>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371476" y="5776943"/>
            <a:ext cx="8786380" cy="830997"/>
          </a:xfrm>
          <a:prstGeom prst="rect">
            <a:avLst/>
          </a:prstGeom>
        </p:spPr>
        <p:txBody>
          <a:bodyPr wrap="none">
            <a:spAutoFit/>
          </a:bodyPr>
          <a:lstStyle/>
          <a:p>
            <a:pPr marL="285750" indent="-285750">
              <a:buFont typeface="Arial" panose="020B0604020202020204" pitchFamily="34" charset="0"/>
              <a:buChar char="•"/>
            </a:pPr>
            <a:r>
              <a:rPr lang="zh-CN" altLang="en-US" sz="2400" dirty="0">
                <a:latin typeface="Comic Sans MS" panose="030F0702030302020204" charset="0"/>
                <a:ea typeface="微软雅黑" panose="020B0503020204020204" pitchFamily="34" charset="-122"/>
                <a:cs typeface="Comic Sans MS" panose="030F0702030302020204" charset="0"/>
              </a:rPr>
              <a:t>长链脂酰</a:t>
            </a:r>
            <a:r>
              <a:rPr lang="en-US" altLang="zh-CN" sz="2400" dirty="0">
                <a:latin typeface="Comic Sans MS" panose="030F0702030302020204" charset="0"/>
                <a:ea typeface="微软雅黑" panose="020B0503020204020204" pitchFamily="34" charset="-122"/>
                <a:cs typeface="Comic Sans MS" panose="030F0702030302020204" charset="0"/>
              </a:rPr>
              <a:t>CoA</a:t>
            </a:r>
            <a:r>
              <a:rPr lang="zh-CN" altLang="en-US" sz="2400" dirty="0">
                <a:latin typeface="Comic Sans MS" panose="030F0702030302020204" charset="0"/>
                <a:ea typeface="微软雅黑" panose="020B0503020204020204" pitchFamily="34" charset="-122"/>
                <a:cs typeface="Comic Sans MS" panose="030F0702030302020204" charset="0"/>
              </a:rPr>
              <a:t>（</a:t>
            </a:r>
            <a:r>
              <a:rPr lang="en-US" altLang="zh-CN" sz="2400" dirty="0">
                <a:latin typeface="Comic Sans MS" panose="030F0702030302020204" charset="0"/>
                <a:ea typeface="微软雅黑" panose="020B0503020204020204" pitchFamily="34" charset="-122"/>
                <a:cs typeface="Comic Sans MS" panose="030F0702030302020204" charset="0"/>
              </a:rPr>
              <a:t>10</a:t>
            </a:r>
            <a:r>
              <a:rPr lang="zh-CN" altLang="en-US" sz="2400" dirty="0">
                <a:latin typeface="Comic Sans MS" panose="030F0702030302020204" charset="0"/>
                <a:ea typeface="微软雅黑" panose="020B0503020204020204" pitchFamily="34" charset="-122"/>
                <a:cs typeface="Comic Sans MS" panose="030F0702030302020204" charset="0"/>
              </a:rPr>
              <a:t>碳以上）；</a:t>
            </a:r>
            <a:endParaRPr lang="en-US" altLang="zh-CN" sz="2400" dirty="0">
              <a:latin typeface="Comic Sans MS" panose="030F0702030302020204" charset="0"/>
              <a:ea typeface="微软雅黑" panose="020B0503020204020204" pitchFamily="34" charset="-122"/>
              <a:cs typeface="Comic Sans MS" panose="030F0702030302020204" charset="0"/>
            </a:endParaRPr>
          </a:p>
          <a:p>
            <a:pPr marL="285750" indent="-285750">
              <a:buFont typeface="Arial" panose="020B0604020202020204" pitchFamily="34" charset="0"/>
              <a:buChar char="•"/>
            </a:pPr>
            <a:r>
              <a:rPr lang="zh-CN" altLang="en-US" sz="2400" dirty="0">
                <a:latin typeface="Comic Sans MS" panose="030F0702030302020204" charset="0"/>
                <a:ea typeface="微软雅黑" panose="020B0503020204020204" pitchFamily="34" charset="-122"/>
                <a:cs typeface="Comic Sans MS" panose="030F0702030302020204" charset="0"/>
              </a:rPr>
              <a:t>限速步骤：</a:t>
            </a:r>
            <a:r>
              <a:rPr lang="zh-CN" altLang="en-US" sz="2400" dirty="0">
                <a:solidFill>
                  <a:srgbClr val="FF0000"/>
                </a:solidFill>
                <a:latin typeface="Comic Sans MS" panose="030F0702030302020204" charset="0"/>
                <a:ea typeface="微软雅黑" panose="020B0503020204020204" pitchFamily="34" charset="-122"/>
                <a:cs typeface="Comic Sans MS" panose="030F0702030302020204" charset="0"/>
                <a:sym typeface="+mn-ea"/>
              </a:rPr>
              <a:t>肉碱脂酰移位酶</a:t>
            </a:r>
            <a:r>
              <a:rPr lang="en-US" altLang="zh-CN" sz="2400" dirty="0">
                <a:solidFill>
                  <a:srgbClr val="FF0000"/>
                </a:solidFill>
                <a:latin typeface="Comic Sans MS" panose="030F0702030302020204" charset="0"/>
                <a:ea typeface="微软雅黑" panose="020B0503020204020204" pitchFamily="34" charset="-122"/>
                <a:cs typeface="Comic Sans MS" panose="030F0702030302020204" charset="0"/>
                <a:sym typeface="+mn-ea"/>
              </a:rPr>
              <a:t>I</a:t>
            </a:r>
            <a:r>
              <a:rPr lang="en-US" altLang="zh-CN" sz="2400" dirty="0">
                <a:solidFill>
                  <a:srgbClr val="FF0000"/>
                </a:solidFill>
                <a:latin typeface="Comic Sans MS" panose="030F0702030302020204" charset="0"/>
                <a:ea typeface="微软雅黑" panose="020B0503020204020204" pitchFamily="34" charset="-122"/>
                <a:cs typeface="Comic Sans MS" panose="030F0702030302020204" charset="0"/>
              </a:rPr>
              <a:t>(Carnitine acyltransferase I)</a:t>
            </a:r>
            <a:r>
              <a:rPr lang="zh-CN" altLang="en-US" sz="2400" dirty="0">
                <a:latin typeface="Comic Sans MS" panose="030F0702030302020204" charset="0"/>
                <a:ea typeface="微软雅黑" panose="020B0503020204020204" pitchFamily="34" charset="-122"/>
                <a:cs typeface="Comic Sans MS" panose="030F0702030302020204" charset="0"/>
              </a:rPr>
              <a:t>。</a:t>
            </a:r>
            <a:endParaRPr lang="en-US" altLang="zh-CN" sz="2400" dirty="0">
              <a:latin typeface="Comic Sans MS" panose="030F0702030302020204" charset="0"/>
              <a:ea typeface="微软雅黑" panose="020B0503020204020204" pitchFamily="34" charset="-122"/>
              <a:cs typeface="Comic Sans MS" panose="030F0702030302020204" charset="0"/>
            </a:endParaRPr>
          </a:p>
        </p:txBody>
      </p:sp>
      <p:grpSp>
        <p:nvGrpSpPr>
          <p:cNvPr id="12" name="组合 11"/>
          <p:cNvGrpSpPr/>
          <p:nvPr/>
        </p:nvGrpSpPr>
        <p:grpSpPr>
          <a:xfrm>
            <a:off x="8254910" y="651857"/>
            <a:ext cx="3481323" cy="5472205"/>
            <a:chOff x="8627110" y="1260547"/>
            <a:chExt cx="2922269" cy="4614475"/>
          </a:xfrm>
        </p:grpSpPr>
        <p:pic>
          <p:nvPicPr>
            <p:cNvPr id="20" name="图片 19"/>
            <p:cNvPicPr>
              <a:picLocks noChangeAspect="1"/>
            </p:cNvPicPr>
            <p:nvPr/>
          </p:nvPicPr>
          <p:blipFill>
            <a:blip r:embed="rId3"/>
            <a:stretch>
              <a:fillRect/>
            </a:stretch>
          </p:blipFill>
          <p:spPr>
            <a:xfrm>
              <a:off x="8627110" y="1260547"/>
              <a:ext cx="2922269" cy="4614475"/>
            </a:xfrm>
            <a:prstGeom prst="rect">
              <a:avLst/>
            </a:prstGeom>
          </p:spPr>
        </p:pic>
        <p:sp>
          <p:nvSpPr>
            <p:cNvPr id="21" name="文本框 20"/>
            <p:cNvSpPr txBox="1"/>
            <p:nvPr/>
          </p:nvSpPr>
          <p:spPr>
            <a:xfrm>
              <a:off x="10957561" y="3292194"/>
              <a:ext cx="525145" cy="285488"/>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肉碱</a:t>
              </a:r>
            </a:p>
          </p:txBody>
        </p:sp>
        <p:sp>
          <p:nvSpPr>
            <p:cNvPr id="22" name="文本框 21"/>
            <p:cNvSpPr txBox="1"/>
            <p:nvPr/>
          </p:nvSpPr>
          <p:spPr>
            <a:xfrm>
              <a:off x="9740390" y="5321863"/>
              <a:ext cx="1027430" cy="285488"/>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脂酰肉碱</a:t>
              </a:r>
            </a:p>
          </p:txBody>
        </p:sp>
        <p:sp>
          <p:nvSpPr>
            <p:cNvPr id="23" name="文本框 22"/>
            <p:cNvSpPr txBox="1"/>
            <p:nvPr/>
          </p:nvSpPr>
          <p:spPr>
            <a:xfrm>
              <a:off x="9148776" y="3291205"/>
              <a:ext cx="1253875" cy="285488"/>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脂酰</a:t>
              </a:r>
              <a:r>
                <a:rPr lang="en-US" altLang="zh-CN" sz="1600" b="1" dirty="0">
                  <a:latin typeface="微软雅黑" panose="020B0503020204020204" pitchFamily="34" charset="-122"/>
                  <a:ea typeface="微软雅黑" panose="020B0503020204020204" pitchFamily="34" charset="-122"/>
                </a:rPr>
                <a:t>-CoA</a:t>
              </a:r>
              <a:endParaRPr lang="zh-CN" altLang="en-US" sz="1600" b="1" dirty="0">
                <a:latin typeface="微软雅黑" panose="020B0503020204020204" pitchFamily="34" charset="-122"/>
                <a:ea typeface="微软雅黑" panose="020B0503020204020204" pitchFamily="34" charset="-122"/>
              </a:endParaRPr>
            </a:p>
          </p:txBody>
        </p:sp>
      </p:grpSp>
      <p:pic>
        <p:nvPicPr>
          <p:cNvPr id="5" name="图片 4"/>
          <p:cNvPicPr>
            <a:picLocks noChangeAspect="1"/>
          </p:cNvPicPr>
          <p:nvPr/>
        </p:nvPicPr>
        <p:blipFill>
          <a:blip r:embed="rId4"/>
          <a:srcRect t="-2528" b="-6723"/>
          <a:stretch>
            <a:fillRect/>
          </a:stretch>
        </p:blipFill>
        <p:spPr>
          <a:xfrm>
            <a:off x="35561" y="915739"/>
            <a:ext cx="8416777" cy="4762983"/>
          </a:xfrm>
          <a:prstGeom prst="rect">
            <a:avLst/>
          </a:prstGeom>
          <a:ln>
            <a:solidFill>
              <a:schemeClr val="tx1"/>
            </a:solidFill>
          </a:ln>
        </p:spPr>
      </p:pic>
      <p:sp>
        <p:nvSpPr>
          <p:cNvPr id="2" name="文本框 1"/>
          <p:cNvSpPr txBox="1"/>
          <p:nvPr/>
        </p:nvSpPr>
        <p:spPr>
          <a:xfrm>
            <a:off x="2967791" y="949489"/>
            <a:ext cx="2552316" cy="348909"/>
          </a:xfrm>
          <a:prstGeom prst="rect">
            <a:avLst/>
          </a:prstGeom>
          <a:noFill/>
          <a:ln>
            <a:noFill/>
          </a:ln>
        </p:spPr>
        <p:txBody>
          <a:bodyPr wrap="none" rtlCol="0">
            <a:spAutoFit/>
          </a:bodyPr>
          <a:lstStyle/>
          <a:p>
            <a:pPr algn="l"/>
            <a:r>
              <a:rPr lang="zh-CN" altLang="en-US" sz="1400" b="1" dirty="0">
                <a:latin typeface="微软雅黑" panose="020B0503020204020204" pitchFamily="34" charset="-122"/>
                <a:ea typeface="微软雅黑" panose="020B0503020204020204" pitchFamily="34" charset="-122"/>
              </a:rPr>
              <a:t>线粒体外膜</a:t>
            </a:r>
            <a:r>
              <a:rPr lang="en-US" altLang="zh-CN" sz="1400" b="1" dirty="0">
                <a:latin typeface="微软雅黑" panose="020B0503020204020204" pitchFamily="34" charset="-122"/>
                <a:ea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rPr>
              <a:t>内膜</a:t>
            </a:r>
          </a:p>
        </p:txBody>
      </p:sp>
      <p:sp>
        <p:nvSpPr>
          <p:cNvPr id="6" name="文本框 5"/>
          <p:cNvSpPr txBox="1"/>
          <p:nvPr/>
        </p:nvSpPr>
        <p:spPr>
          <a:xfrm>
            <a:off x="3706510" y="2410811"/>
            <a:ext cx="800219" cy="338554"/>
          </a:xfrm>
          <a:prstGeom prst="rect">
            <a:avLst/>
          </a:prstGeom>
          <a:noFill/>
          <a:ln>
            <a:noFill/>
          </a:ln>
        </p:spPr>
        <p:txBody>
          <a:bodyPr wrap="none" rtlCol="0">
            <a:spAutoFit/>
          </a:bodyPr>
          <a:lstStyle/>
          <a:p>
            <a:pPr algn="l"/>
            <a:r>
              <a:rPr lang="zh-CN" altLang="en-US" sz="1600" b="1" dirty="0">
                <a:latin typeface="微软雅黑" panose="020B0503020204020204" pitchFamily="34" charset="-122"/>
                <a:ea typeface="微软雅黑" panose="020B0503020204020204" pitchFamily="34" charset="-122"/>
              </a:rPr>
              <a:t>膜间隙</a:t>
            </a:r>
          </a:p>
        </p:txBody>
      </p:sp>
      <p:sp>
        <p:nvSpPr>
          <p:cNvPr id="7" name="文本框 6"/>
          <p:cNvSpPr txBox="1"/>
          <p:nvPr/>
        </p:nvSpPr>
        <p:spPr>
          <a:xfrm>
            <a:off x="1847529" y="2943163"/>
            <a:ext cx="880369" cy="307777"/>
          </a:xfrm>
          <a:prstGeom prst="rect">
            <a:avLst/>
          </a:prstGeom>
          <a:noFill/>
          <a:ln>
            <a:noFill/>
          </a:ln>
        </p:spPr>
        <p:txBody>
          <a:bodyPr wrap="none" rtlCol="0" anchor="t">
            <a:spAutoFit/>
          </a:bodyPr>
          <a:lstStyle/>
          <a:p>
            <a:pPr algn="l"/>
            <a:r>
              <a:rPr lang="zh-CN" altLang="en-US" sz="1400" b="1" dirty="0">
                <a:solidFill>
                  <a:srgbClr val="FF0000"/>
                </a:solidFill>
                <a:latin typeface="Comic Sans MS" panose="030F0702030302020204" charset="0"/>
                <a:ea typeface="微软雅黑" panose="020B0503020204020204" pitchFamily="34" charset="-122"/>
                <a:cs typeface="Comic Sans MS" panose="030F0702030302020204" charset="0"/>
                <a:sym typeface="+mn-ea"/>
              </a:rPr>
              <a:t>脂酰</a:t>
            </a:r>
            <a:r>
              <a:rPr lang="en-US" altLang="zh-CN" sz="1400" b="1" dirty="0">
                <a:solidFill>
                  <a:srgbClr val="FF0000"/>
                </a:solidFill>
                <a:latin typeface="Comic Sans MS" panose="030F0702030302020204" charset="0"/>
                <a:ea typeface="微软雅黑" panose="020B0503020204020204" pitchFamily="34" charset="-122"/>
                <a:cs typeface="Comic Sans MS" panose="030F0702030302020204" charset="0"/>
                <a:sym typeface="+mn-ea"/>
              </a:rPr>
              <a:t>CoA</a:t>
            </a:r>
          </a:p>
        </p:txBody>
      </p:sp>
      <p:sp>
        <p:nvSpPr>
          <p:cNvPr id="9" name="文本框 8"/>
          <p:cNvSpPr txBox="1"/>
          <p:nvPr/>
        </p:nvSpPr>
        <p:spPr>
          <a:xfrm>
            <a:off x="3046230" y="3042255"/>
            <a:ext cx="543739" cy="307777"/>
          </a:xfrm>
          <a:prstGeom prst="rect">
            <a:avLst/>
          </a:prstGeom>
          <a:noFill/>
          <a:ln>
            <a:noFill/>
          </a:ln>
        </p:spPr>
        <p:txBody>
          <a:bodyPr wrap="none" rtlCol="0" anchor="t">
            <a:spAutoFit/>
          </a:bodyPr>
          <a:lstStyle/>
          <a:p>
            <a:pPr algn="l"/>
            <a:r>
              <a:rPr lang="zh-CN" altLang="en-US" sz="1400" b="1" dirty="0">
                <a:solidFill>
                  <a:srgbClr val="FF0000"/>
                </a:solidFill>
                <a:latin typeface="Comic Sans MS" panose="030F0702030302020204" charset="0"/>
                <a:ea typeface="微软雅黑" panose="020B0503020204020204" pitchFamily="34" charset="-122"/>
                <a:cs typeface="Comic Sans MS" panose="030F0702030302020204" charset="0"/>
                <a:sym typeface="+mn-ea"/>
              </a:rPr>
              <a:t>肉碱</a:t>
            </a:r>
          </a:p>
        </p:txBody>
      </p:sp>
      <p:sp>
        <p:nvSpPr>
          <p:cNvPr id="11" name="文本框 10"/>
          <p:cNvSpPr txBox="1"/>
          <p:nvPr/>
        </p:nvSpPr>
        <p:spPr>
          <a:xfrm>
            <a:off x="2822317" y="4156395"/>
            <a:ext cx="902811" cy="307777"/>
          </a:xfrm>
          <a:prstGeom prst="rect">
            <a:avLst/>
          </a:prstGeom>
          <a:noFill/>
          <a:ln>
            <a:noFill/>
          </a:ln>
        </p:spPr>
        <p:txBody>
          <a:bodyPr wrap="none" rtlCol="0" anchor="t">
            <a:spAutoFit/>
          </a:bodyPr>
          <a:lstStyle/>
          <a:p>
            <a:pPr algn="l"/>
            <a:r>
              <a:rPr lang="zh-CN" altLang="en-US" sz="1400" b="1" dirty="0">
                <a:solidFill>
                  <a:srgbClr val="FF0000"/>
                </a:solidFill>
                <a:latin typeface="Comic Sans MS" panose="030F0702030302020204" charset="0"/>
                <a:ea typeface="微软雅黑" panose="020B0503020204020204" pitchFamily="34" charset="-122"/>
                <a:cs typeface="Comic Sans MS" panose="030F0702030302020204" charset="0"/>
                <a:sym typeface="+mn-ea"/>
              </a:rPr>
              <a:t>脂酰肉碱</a:t>
            </a:r>
          </a:p>
        </p:txBody>
      </p:sp>
      <p:sp>
        <p:nvSpPr>
          <p:cNvPr id="18" name="文本框 17"/>
          <p:cNvSpPr txBox="1"/>
          <p:nvPr/>
        </p:nvSpPr>
        <p:spPr>
          <a:xfrm>
            <a:off x="6402170" y="1937825"/>
            <a:ext cx="1636987" cy="307777"/>
          </a:xfrm>
          <a:prstGeom prst="rect">
            <a:avLst/>
          </a:prstGeom>
          <a:noFill/>
          <a:ln>
            <a:noFill/>
          </a:ln>
        </p:spPr>
        <p:txBody>
          <a:bodyPr wrap="none" rtlCol="0" anchor="t">
            <a:spAutoFit/>
          </a:bodyPr>
          <a:lstStyle/>
          <a:p>
            <a:pPr algn="l"/>
            <a:r>
              <a:rPr lang="zh-CN" altLang="en-US" sz="1400" b="1" dirty="0">
                <a:solidFill>
                  <a:srgbClr val="FF0000"/>
                </a:solidFill>
                <a:latin typeface="Comic Sans MS" panose="030F0702030302020204" charset="0"/>
                <a:ea typeface="微软雅黑" panose="020B0503020204020204" pitchFamily="34" charset="-122"/>
                <a:cs typeface="Comic Sans MS" panose="030F0702030302020204" charset="0"/>
                <a:sym typeface="+mn-ea"/>
              </a:rPr>
              <a:t>肉碱脂酰移位酶</a:t>
            </a:r>
            <a:r>
              <a:rPr lang="en-US" altLang="zh-CN" sz="1400" b="1" dirty="0">
                <a:solidFill>
                  <a:srgbClr val="FF0000"/>
                </a:solidFill>
                <a:latin typeface="Comic Sans MS" panose="030F0702030302020204" charset="0"/>
                <a:ea typeface="微软雅黑" panose="020B0503020204020204" pitchFamily="34" charset="-122"/>
                <a:cs typeface="Comic Sans MS" panose="030F0702030302020204" charset="0"/>
                <a:sym typeface="+mn-ea"/>
              </a:rPr>
              <a:t>II</a:t>
            </a:r>
          </a:p>
        </p:txBody>
      </p:sp>
      <p:sp>
        <p:nvSpPr>
          <p:cNvPr id="19" name="文本框 18"/>
          <p:cNvSpPr txBox="1"/>
          <p:nvPr/>
        </p:nvSpPr>
        <p:spPr>
          <a:xfrm>
            <a:off x="1188694" y="5160306"/>
            <a:ext cx="1539204" cy="307777"/>
          </a:xfrm>
          <a:prstGeom prst="rect">
            <a:avLst/>
          </a:prstGeom>
          <a:noFill/>
          <a:ln>
            <a:noFill/>
          </a:ln>
        </p:spPr>
        <p:txBody>
          <a:bodyPr wrap="none" rtlCol="0" anchor="t">
            <a:spAutoFit/>
          </a:bodyPr>
          <a:lstStyle/>
          <a:p>
            <a:pPr algn="l"/>
            <a:r>
              <a:rPr lang="zh-CN" altLang="en-US" sz="1400" b="1" dirty="0">
                <a:solidFill>
                  <a:srgbClr val="FF0000"/>
                </a:solidFill>
                <a:latin typeface="Comic Sans MS" panose="030F0702030302020204" charset="0"/>
                <a:ea typeface="微软雅黑" panose="020B0503020204020204" pitchFamily="34" charset="-122"/>
                <a:cs typeface="Comic Sans MS" panose="030F0702030302020204" charset="0"/>
                <a:sym typeface="+mn-ea"/>
              </a:rPr>
              <a:t>肉碱脂酰移位酶</a:t>
            </a:r>
            <a:r>
              <a:rPr lang="en-US" altLang="zh-CN" sz="1400" b="1" dirty="0">
                <a:solidFill>
                  <a:srgbClr val="FF0000"/>
                </a:solidFill>
                <a:latin typeface="Comic Sans MS" panose="030F0702030302020204" charset="0"/>
                <a:ea typeface="微软雅黑" panose="020B0503020204020204" pitchFamily="34" charset="-122"/>
                <a:cs typeface="Comic Sans MS" panose="030F0702030302020204" charset="0"/>
                <a:sym typeface="+mn-ea"/>
              </a:rPr>
              <a:t>I</a:t>
            </a:r>
          </a:p>
        </p:txBody>
      </p:sp>
      <p:sp>
        <p:nvSpPr>
          <p:cNvPr id="8" name="文本框 7"/>
          <p:cNvSpPr txBox="1"/>
          <p:nvPr/>
        </p:nvSpPr>
        <p:spPr>
          <a:xfrm>
            <a:off x="7158788" y="3435229"/>
            <a:ext cx="880369" cy="307777"/>
          </a:xfrm>
          <a:prstGeom prst="rect">
            <a:avLst/>
          </a:prstGeom>
          <a:noFill/>
          <a:ln>
            <a:noFill/>
          </a:ln>
        </p:spPr>
        <p:txBody>
          <a:bodyPr wrap="none" rtlCol="0" anchor="t">
            <a:spAutoFit/>
          </a:bodyPr>
          <a:lstStyle/>
          <a:p>
            <a:pPr algn="l"/>
            <a:r>
              <a:rPr lang="zh-CN" altLang="en-US" sz="1400" b="1" dirty="0">
                <a:solidFill>
                  <a:srgbClr val="FF0000"/>
                </a:solidFill>
                <a:latin typeface="Comic Sans MS" panose="030F0702030302020204" charset="0"/>
                <a:ea typeface="微软雅黑" panose="020B0503020204020204" pitchFamily="34" charset="-122"/>
                <a:cs typeface="Comic Sans MS" panose="030F0702030302020204" charset="0"/>
                <a:sym typeface="+mn-ea"/>
              </a:rPr>
              <a:t>脂酰</a:t>
            </a:r>
            <a:r>
              <a:rPr lang="en-US" altLang="zh-CN" sz="1400" b="1" dirty="0">
                <a:solidFill>
                  <a:srgbClr val="FF0000"/>
                </a:solidFill>
                <a:latin typeface="Comic Sans MS" panose="030F0702030302020204" charset="0"/>
                <a:ea typeface="微软雅黑" panose="020B0503020204020204" pitchFamily="34" charset="-122"/>
                <a:cs typeface="Comic Sans MS" panose="030F0702030302020204" charset="0"/>
                <a:sym typeface="+mn-ea"/>
              </a:rPr>
              <a:t>CoA</a:t>
            </a:r>
          </a:p>
        </p:txBody>
      </p:sp>
      <p:sp>
        <p:nvSpPr>
          <p:cNvPr id="15" name="文本框 14"/>
          <p:cNvSpPr txBox="1"/>
          <p:nvPr/>
        </p:nvSpPr>
        <p:spPr>
          <a:xfrm>
            <a:off x="6062837" y="3196143"/>
            <a:ext cx="543739" cy="307777"/>
          </a:xfrm>
          <a:prstGeom prst="rect">
            <a:avLst/>
          </a:prstGeom>
          <a:noFill/>
          <a:ln>
            <a:noFill/>
          </a:ln>
        </p:spPr>
        <p:txBody>
          <a:bodyPr wrap="none" rtlCol="0" anchor="t">
            <a:spAutoFit/>
          </a:bodyPr>
          <a:lstStyle/>
          <a:p>
            <a:pPr algn="l"/>
            <a:r>
              <a:rPr lang="zh-CN" altLang="en-US" sz="1400" b="1" dirty="0">
                <a:solidFill>
                  <a:srgbClr val="FF0000"/>
                </a:solidFill>
                <a:latin typeface="Comic Sans MS" panose="030F0702030302020204" charset="0"/>
                <a:ea typeface="微软雅黑" panose="020B0503020204020204" pitchFamily="34" charset="-122"/>
                <a:cs typeface="Comic Sans MS" panose="030F0702030302020204" charset="0"/>
                <a:sym typeface="+mn-ea"/>
              </a:rPr>
              <a:t>肉碱</a:t>
            </a:r>
          </a:p>
        </p:txBody>
      </p:sp>
      <p:sp>
        <p:nvSpPr>
          <p:cNvPr id="16" name="文本框 15"/>
          <p:cNvSpPr txBox="1"/>
          <p:nvPr/>
        </p:nvSpPr>
        <p:spPr>
          <a:xfrm>
            <a:off x="6334707" y="4516127"/>
            <a:ext cx="1023112" cy="307777"/>
          </a:xfrm>
          <a:prstGeom prst="rect">
            <a:avLst/>
          </a:prstGeom>
          <a:noFill/>
          <a:ln>
            <a:noFill/>
          </a:ln>
        </p:spPr>
        <p:txBody>
          <a:bodyPr wrap="square" rtlCol="0" anchor="t">
            <a:spAutoFit/>
          </a:bodyPr>
          <a:lstStyle/>
          <a:p>
            <a:pPr algn="l"/>
            <a:r>
              <a:rPr lang="zh-CN" altLang="en-US" sz="1400" b="1" dirty="0">
                <a:solidFill>
                  <a:srgbClr val="FF0000"/>
                </a:solidFill>
                <a:latin typeface="Comic Sans MS" panose="030F0702030302020204" charset="0"/>
                <a:ea typeface="微软雅黑" panose="020B0503020204020204" pitchFamily="34" charset="-122"/>
                <a:cs typeface="Comic Sans MS" panose="030F0702030302020204" charset="0"/>
                <a:sym typeface="+mn-ea"/>
              </a:rPr>
              <a:t>脂酰肉碱</a:t>
            </a:r>
          </a:p>
        </p:txBody>
      </p:sp>
      <p:sp>
        <p:nvSpPr>
          <p:cNvPr id="17" name="文本框 16"/>
          <p:cNvSpPr txBox="1"/>
          <p:nvPr/>
        </p:nvSpPr>
        <p:spPr>
          <a:xfrm>
            <a:off x="3424555" y="108528"/>
            <a:ext cx="5503710" cy="646331"/>
          </a:xfrm>
          <a:prstGeom prst="rect">
            <a:avLst/>
          </a:prstGeom>
        </p:spPr>
        <p:txBody>
          <a:bodyPr wrap="square">
            <a:spAutoFit/>
          </a:bodyPr>
          <a:lstStyle>
            <a:defPPr>
              <a:defRPr lang="en-US"/>
            </a:defPPr>
            <a:lvl1pPr>
              <a:lnSpc>
                <a:spcPct val="100000"/>
              </a:lnSpc>
              <a:defRPr sz="36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脂酰</a:t>
            </a:r>
            <a:r>
              <a:rPr lang="en-US" altLang="zh-CN" dirty="0"/>
              <a:t>CoA</a:t>
            </a:r>
            <a:r>
              <a:rPr lang="zh-CN" altLang="en-US" dirty="0"/>
              <a:t>转入</a:t>
            </a:r>
            <a:r>
              <a:rPr lang="zh-CN" altLang="en-US" dirty="0" smtClean="0">
                <a:solidFill>
                  <a:srgbClr val="FF0000"/>
                </a:solidFill>
              </a:rPr>
              <a:t>线粒体</a:t>
            </a:r>
            <a:endParaRPr lang="zh-CN" altLang="en-US" dirty="0">
              <a:solidFill>
                <a:srgbClr val="FF0000"/>
              </a:solidFill>
            </a:endParaRPr>
          </a:p>
        </p:txBody>
      </p:sp>
    </p:spTree>
  </p:cSld>
  <p:clrMapOvr>
    <a:masterClrMapping/>
  </p:clrMapOvr>
  <p:transition>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18519" y="61467"/>
            <a:ext cx="5738174" cy="523220"/>
          </a:xfrm>
          <a:prstGeom prst="rect">
            <a:avLst/>
          </a:prstGeom>
        </p:spPr>
        <p:txBody>
          <a:bodyPr wrap="none">
            <a:spAutoFit/>
          </a:bodyPr>
          <a:lstStyle/>
          <a:p>
            <a:pPr marL="285750" indent="-285750">
              <a:buFont typeface="Arial" panose="020B0604020202020204" pitchFamily="34" charset="0"/>
              <a:buChar char="•"/>
            </a:pPr>
            <a:r>
              <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rPr>
              <a:t>脂肪酸氧化的经典研究：</a:t>
            </a:r>
            <a:r>
              <a:rPr lang="en-US" altLang="zh-CN" sz="2800" b="1" dirty="0" err="1">
                <a:latin typeface="Times New Roman" panose="02020603050405020304" pitchFamily="18" charset="0"/>
                <a:ea typeface="微软雅黑" panose="020B0503020204020204" pitchFamily="34" charset="-122"/>
                <a:cs typeface="Times New Roman" panose="02020603050405020304" pitchFamily="18" charset="0"/>
              </a:rPr>
              <a:t>F.Knoop</a:t>
            </a:r>
            <a:endParaRPr lang="zh-CN" altLang="en-US" sz="2800" b="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p:cNvSpPr txBox="1"/>
          <p:nvPr/>
        </p:nvSpPr>
        <p:spPr>
          <a:xfrm>
            <a:off x="1168170" y="5395173"/>
            <a:ext cx="6505307" cy="941155"/>
          </a:xfrm>
          <a:prstGeom prst="rect">
            <a:avLst/>
          </a:prstGeom>
          <a:noFill/>
        </p:spPr>
        <p:txBody>
          <a:bodyPr wrap="none" rtlCol="0">
            <a:spAutoFit/>
          </a:bodyPr>
          <a:lstStyle/>
          <a:p>
            <a:pPr marL="285750" indent="-285750">
              <a:lnSpc>
                <a:spcPct val="12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每次降解</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个碳单元；</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2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从羧基端</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β</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碳原子开始，释下一个乙酸单元。</a:t>
            </a:r>
          </a:p>
        </p:txBody>
      </p:sp>
      <p:pic>
        <p:nvPicPr>
          <p:cNvPr id="2" name="图片 1"/>
          <p:cNvPicPr>
            <a:picLocks noChangeAspect="1"/>
          </p:cNvPicPr>
          <p:nvPr/>
        </p:nvPicPr>
        <p:blipFill rotWithShape="1">
          <a:blip r:embed="rId3"/>
          <a:srcRect t="-5232" b="-11547"/>
          <a:stretch>
            <a:fillRect/>
          </a:stretch>
        </p:blipFill>
        <p:spPr>
          <a:xfrm>
            <a:off x="516038" y="571203"/>
            <a:ext cx="10682169" cy="4698675"/>
          </a:xfrm>
          <a:prstGeom prst="rect">
            <a:avLst/>
          </a:prstGeom>
          <a:ln>
            <a:solidFill>
              <a:schemeClr val="tx1"/>
            </a:solidFill>
          </a:ln>
        </p:spPr>
      </p:pic>
      <p:sp>
        <p:nvSpPr>
          <p:cNvPr id="6" name="文本框 5"/>
          <p:cNvSpPr txBox="1"/>
          <p:nvPr/>
        </p:nvSpPr>
        <p:spPr>
          <a:xfrm>
            <a:off x="2125346" y="722958"/>
            <a:ext cx="8207586"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脂肪酸喂食                        </a:t>
            </a:r>
            <a:r>
              <a:rPr lang="zh-CN" altLang="en-US" b="1" dirty="0" smtClean="0">
                <a:latin typeface="微软雅黑" panose="020B0503020204020204" pitchFamily="34" charset="-122"/>
                <a:ea typeface="微软雅黑" panose="020B0503020204020204" pitchFamily="34" charset="-122"/>
              </a:rPr>
              <a:t>         分解</a:t>
            </a:r>
            <a:r>
              <a:rPr lang="zh-CN" altLang="en-US" b="1" dirty="0">
                <a:latin typeface="微软雅黑" panose="020B0503020204020204" pitchFamily="34" charset="-122"/>
                <a:ea typeface="微软雅黑" panose="020B0503020204020204" pitchFamily="34" charset="-122"/>
              </a:rPr>
              <a:t>产物              </a:t>
            </a:r>
            <a:r>
              <a:rPr lang="zh-CN" altLang="en-US" b="1" dirty="0" smtClean="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排泄物                            </a:t>
            </a:r>
          </a:p>
        </p:txBody>
      </p:sp>
      <p:sp>
        <p:nvSpPr>
          <p:cNvPr id="8" name="文本框 7"/>
          <p:cNvSpPr txBox="1"/>
          <p:nvPr/>
        </p:nvSpPr>
        <p:spPr>
          <a:xfrm>
            <a:off x="1621026" y="2912185"/>
            <a:ext cx="8472191" cy="338554"/>
          </a:xfrm>
          <a:prstGeom prst="rect">
            <a:avLst/>
          </a:prstGeom>
          <a:noFill/>
        </p:spPr>
        <p:txBody>
          <a:bodyPr wrap="none" rtlCol="0">
            <a:spAutoFit/>
          </a:bodyPr>
          <a:lstStyle/>
          <a:p>
            <a:r>
              <a:rPr lang="zh-CN" altLang="en-US" sz="1600" b="1" dirty="0">
                <a:latin typeface="微软雅黑" panose="020B0503020204020204" pitchFamily="34" charset="-122"/>
                <a:ea typeface="微软雅黑" panose="020B0503020204020204" pitchFamily="34" charset="-122"/>
              </a:rPr>
              <a:t>奇链脂肪酸                                                  苯甲酸                  </a:t>
            </a:r>
            <a:r>
              <a:rPr lang="zh-CN" altLang="en-US" sz="1600" b="1" dirty="0" smtClean="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马尿酸</a:t>
            </a:r>
          </a:p>
        </p:txBody>
      </p:sp>
      <p:sp>
        <p:nvSpPr>
          <p:cNvPr id="15" name="文本框 14"/>
          <p:cNvSpPr txBox="1"/>
          <p:nvPr/>
        </p:nvSpPr>
        <p:spPr>
          <a:xfrm>
            <a:off x="1710615" y="4692887"/>
            <a:ext cx="8622317" cy="584775"/>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偶链脂肪酸                                                  苯乙酸                                       苯乙酰甘氨酸</a:t>
            </a:r>
          </a:p>
          <a:p>
            <a:endParaRPr lang="zh-CN" altLang="en-US" sz="1600" b="1" dirty="0">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 y="784906"/>
            <a:ext cx="6679358" cy="1794337"/>
          </a:xfrm>
          <a:prstGeom prst="rect">
            <a:avLst/>
          </a:prstGeom>
          <a:noFill/>
        </p:spPr>
        <p:txBody>
          <a:bodyPr wrap="square" rtlCol="0">
            <a:spAutoFit/>
          </a:bodyPr>
          <a:lstStyle/>
          <a:p>
            <a:pPr marL="342900" indent="-342900">
              <a:lnSpc>
                <a:spcPct val="110000"/>
              </a:lnSpc>
              <a:spcBef>
                <a:spcPts val="600"/>
              </a:spcBef>
              <a:buFont typeface="Arial" pitchFamily="34" charset="0"/>
              <a:buChar char="•"/>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线粒体基质：逐步氧化降解，此氧化过程发生在脂酰基的</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ß-</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碳</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原子上，称为脂酰基的</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ß-</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氧化</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10000"/>
              </a:lnSpc>
              <a:spcBef>
                <a:spcPts val="600"/>
              </a:spcBef>
              <a:buFont typeface="Arial" pitchFamily="34" charset="0"/>
              <a:buChar char="•"/>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7</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个循环</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每</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脱下</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个碳</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原子，产生</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个乙酰</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CoA</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个</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FADH</a:t>
            </a:r>
            <a:r>
              <a:rPr lang="en-US" altLang="zh-CN" sz="24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个</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NADH </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步反应）</a:t>
            </a:r>
            <a:r>
              <a:rPr lang="zh-CN" altLang="en-US" sz="2400" dirty="0" smtClean="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6" name="图片 5"/>
          <p:cNvPicPr>
            <a:picLocks noChangeAspect="1"/>
          </p:cNvPicPr>
          <p:nvPr/>
        </p:nvPicPr>
        <p:blipFill rotWithShape="1">
          <a:blip r:embed="rId3"/>
          <a:srcRect l="2243" r="1"/>
          <a:stretch>
            <a:fillRect/>
          </a:stretch>
        </p:blipFill>
        <p:spPr>
          <a:xfrm>
            <a:off x="7090255" y="17282"/>
            <a:ext cx="4531903" cy="6840718"/>
          </a:xfrm>
          <a:prstGeom prst="rect">
            <a:avLst/>
          </a:prstGeom>
          <a:ln>
            <a:solidFill>
              <a:schemeClr val="tx1"/>
            </a:solidFill>
          </a:ln>
        </p:spPr>
      </p:pic>
      <p:sp>
        <p:nvSpPr>
          <p:cNvPr id="7" name="文本框 6"/>
          <p:cNvSpPr txBox="1"/>
          <p:nvPr/>
        </p:nvSpPr>
        <p:spPr>
          <a:xfrm>
            <a:off x="9910449" y="947240"/>
            <a:ext cx="631368" cy="366416"/>
          </a:xfrm>
          <a:prstGeom prst="rect">
            <a:avLst/>
          </a:prstGeom>
          <a:noFill/>
        </p:spPr>
        <p:txBody>
          <a:bodyPr wrap="none" rtlCol="0">
            <a:spAutoFit/>
          </a:bodyPr>
          <a:lstStyle/>
          <a:p>
            <a:r>
              <a:rPr lang="zh-CN" altLang="en-US"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脱氢</a:t>
            </a:r>
          </a:p>
        </p:txBody>
      </p:sp>
      <p:sp>
        <p:nvSpPr>
          <p:cNvPr id="11" name="文本框 10"/>
          <p:cNvSpPr txBox="1"/>
          <p:nvPr/>
        </p:nvSpPr>
        <p:spPr>
          <a:xfrm>
            <a:off x="9910449" y="2479052"/>
            <a:ext cx="631368" cy="366416"/>
          </a:xfrm>
          <a:prstGeom prst="rect">
            <a:avLst/>
          </a:prstGeom>
          <a:noFill/>
        </p:spPr>
        <p:txBody>
          <a:bodyPr wrap="none" rtlCol="0">
            <a:spAutoFit/>
          </a:bodyPr>
          <a:lstStyle/>
          <a:p>
            <a:r>
              <a:rPr lang="zh-CN" altLang="en-US"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加水</a:t>
            </a:r>
          </a:p>
        </p:txBody>
      </p:sp>
      <p:sp>
        <p:nvSpPr>
          <p:cNvPr id="15" name="文本框 14"/>
          <p:cNvSpPr txBox="1"/>
          <p:nvPr/>
        </p:nvSpPr>
        <p:spPr>
          <a:xfrm>
            <a:off x="9910449" y="3827656"/>
            <a:ext cx="631368" cy="366416"/>
          </a:xfrm>
          <a:prstGeom prst="rect">
            <a:avLst/>
          </a:prstGeom>
          <a:noFill/>
        </p:spPr>
        <p:txBody>
          <a:bodyPr wrap="none" rtlCol="0">
            <a:spAutoFit/>
          </a:bodyPr>
          <a:lstStyle/>
          <a:p>
            <a:r>
              <a:rPr lang="zh-CN" altLang="en-US"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脱氢</a:t>
            </a:r>
          </a:p>
        </p:txBody>
      </p:sp>
      <p:sp>
        <p:nvSpPr>
          <p:cNvPr id="16" name="文本框 15"/>
          <p:cNvSpPr txBox="1"/>
          <p:nvPr/>
        </p:nvSpPr>
        <p:spPr>
          <a:xfrm>
            <a:off x="9910448" y="5291204"/>
            <a:ext cx="631368" cy="366416"/>
          </a:xfrm>
          <a:prstGeom prst="rect">
            <a:avLst/>
          </a:prstGeom>
          <a:noFill/>
        </p:spPr>
        <p:txBody>
          <a:bodyPr wrap="none" rtlCol="0">
            <a:spAutoFit/>
          </a:bodyPr>
          <a:lstStyle/>
          <a:p>
            <a:r>
              <a:rPr lang="zh-CN" altLang="en-US" sz="14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硫解</a:t>
            </a:r>
          </a:p>
        </p:txBody>
      </p:sp>
      <p:sp>
        <p:nvSpPr>
          <p:cNvPr id="8" name="矩形 7"/>
          <p:cNvSpPr/>
          <p:nvPr/>
        </p:nvSpPr>
        <p:spPr>
          <a:xfrm>
            <a:off x="7516307" y="727598"/>
            <a:ext cx="1753535" cy="307777"/>
          </a:xfrm>
          <a:prstGeom prst="rect">
            <a:avLst/>
          </a:prstGeom>
        </p:spPr>
        <p:txBody>
          <a:bodyPr wrap="square">
            <a:spAutoFit/>
          </a:bodyPr>
          <a:lstStyle/>
          <a:p>
            <a:r>
              <a:rPr lang="zh-CN" altLang="en-US" sz="1400" b="1"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脂酰</a:t>
            </a:r>
            <a:r>
              <a:rPr lang="zh-CN" altLang="en-US" sz="1400" b="1" dirty="0"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CoA   脱氢酶   </a:t>
            </a:r>
            <a:endParaRPr lang="zh-CN" altLang="en-US" sz="1400" b="1"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矩形 16"/>
          <p:cNvSpPr/>
          <p:nvPr/>
        </p:nvSpPr>
        <p:spPr>
          <a:xfrm>
            <a:off x="7095468" y="2222835"/>
            <a:ext cx="2186456" cy="307777"/>
          </a:xfrm>
          <a:prstGeom prst="rect">
            <a:avLst/>
          </a:prstGeom>
        </p:spPr>
        <p:txBody>
          <a:bodyPr wrap="square">
            <a:spAutoFit/>
          </a:bodyPr>
          <a:lstStyle/>
          <a:p>
            <a:r>
              <a:rPr lang="en-US" altLang="zh-CN" sz="1400" b="1"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Δ2-</a:t>
            </a:r>
            <a:r>
              <a:rPr lang="zh-CN" altLang="en-US" sz="1400" b="1"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烯脂酰</a:t>
            </a:r>
            <a:r>
              <a:rPr lang="en-US" altLang="zh-CN" sz="1400" b="1" dirty="0"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CoA    </a:t>
            </a:r>
            <a:r>
              <a:rPr lang="zh-CN" altLang="en-US" sz="1400" b="1" dirty="0"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水化</a:t>
            </a:r>
            <a:r>
              <a:rPr lang="zh-CN" altLang="en-US" sz="1400" b="1"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酶</a:t>
            </a:r>
          </a:p>
        </p:txBody>
      </p:sp>
      <p:sp>
        <p:nvSpPr>
          <p:cNvPr id="9" name="矩形 8"/>
          <p:cNvSpPr/>
          <p:nvPr/>
        </p:nvSpPr>
        <p:spPr>
          <a:xfrm>
            <a:off x="7035493" y="3721517"/>
            <a:ext cx="2237542" cy="307777"/>
          </a:xfrm>
          <a:prstGeom prst="rect">
            <a:avLst/>
          </a:prstGeom>
          <a:ln>
            <a:noFill/>
          </a:ln>
        </p:spPr>
        <p:txBody>
          <a:bodyPr wrap="square">
            <a:spAutoFit/>
          </a:bodyPr>
          <a:lstStyle/>
          <a:p>
            <a:r>
              <a:rPr lang="en-US" altLang="zh-CN" sz="1400" b="1"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L-β</a:t>
            </a:r>
            <a:r>
              <a:rPr lang="zh-CN" altLang="en-US" sz="1400" b="1"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羟脂酰</a:t>
            </a:r>
            <a:r>
              <a:rPr lang="en-US" altLang="zh-CN" sz="1400" b="1" dirty="0"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CoA   </a:t>
            </a:r>
            <a:r>
              <a:rPr lang="zh-CN" altLang="en-US" sz="1400" b="1" dirty="0"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脱氢酶</a:t>
            </a:r>
            <a:endParaRPr lang="zh-CN" altLang="en-US" sz="1400" b="1"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6882435" y="4982440"/>
            <a:ext cx="2242646" cy="307777"/>
          </a:xfrm>
          <a:prstGeom prst="rect">
            <a:avLst/>
          </a:prstGeom>
        </p:spPr>
        <p:txBody>
          <a:bodyPr wrap="square">
            <a:spAutoFit/>
          </a:bodyPr>
          <a:lstStyle/>
          <a:p>
            <a:r>
              <a:rPr lang="en-US" altLang="zh-CN" sz="1400" b="1"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β-</a:t>
            </a:r>
            <a:r>
              <a:rPr lang="zh-CN" altLang="en-US" sz="1400" b="1"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酮脂酰</a:t>
            </a:r>
            <a:r>
              <a:rPr lang="en-US" altLang="zh-CN" sz="1400" b="1" dirty="0"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CoA    </a:t>
            </a:r>
            <a:r>
              <a:rPr lang="zh-CN" altLang="en-US" sz="1400" b="1" dirty="0" smtClean="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rPr>
              <a:t>硫解酶</a:t>
            </a:r>
            <a:endParaRPr lang="zh-CN" altLang="en-US" sz="1400" b="1" dirty="0">
              <a:solidFill>
                <a:srgbClr val="00B0F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矩形 1"/>
          <p:cNvSpPr/>
          <p:nvPr/>
        </p:nvSpPr>
        <p:spPr>
          <a:xfrm>
            <a:off x="10517569" y="6074603"/>
            <a:ext cx="918015" cy="329774"/>
          </a:xfrm>
          <a:prstGeom prst="rect">
            <a:avLst/>
          </a:prstGeom>
          <a:ln>
            <a:solidFill>
              <a:schemeClr val="tx1"/>
            </a:solidFill>
          </a:ln>
        </p:spPr>
        <p:txBody>
          <a:bodyPr wrap="none">
            <a:spAutoFit/>
          </a:bodyPr>
          <a:lstStyle/>
          <a:p>
            <a:r>
              <a:rPr lang="zh-CN" altLang="en-US" sz="12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乙酰</a:t>
            </a:r>
            <a:r>
              <a:rPr lang="en-US" altLang="zh-CN" sz="12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CoA</a:t>
            </a:r>
            <a:endParaRPr lang="zh-CN" altLang="en-US" sz="1200" b="1" dirty="0">
              <a:solidFill>
                <a:srgbClr val="FF0000"/>
              </a:solidFill>
              <a:latin typeface="Times New Roman" panose="02020603050405020304" pitchFamily="18" charset="0"/>
              <a:cs typeface="Times New Roman" panose="02020603050405020304" pitchFamily="18" charset="0"/>
            </a:endParaRPr>
          </a:p>
        </p:txBody>
      </p:sp>
      <p:sp>
        <p:nvSpPr>
          <p:cNvPr id="18" name="矩形 17"/>
          <p:cNvSpPr/>
          <p:nvPr/>
        </p:nvSpPr>
        <p:spPr>
          <a:xfrm>
            <a:off x="10636802" y="727598"/>
            <a:ext cx="918015" cy="329774"/>
          </a:xfrm>
          <a:prstGeom prst="rect">
            <a:avLst/>
          </a:prstGeom>
          <a:ln>
            <a:solidFill>
              <a:schemeClr val="tx1"/>
            </a:solidFill>
          </a:ln>
        </p:spPr>
        <p:txBody>
          <a:bodyPr wrap="none">
            <a:spAutoFit/>
          </a:bodyPr>
          <a:lstStyle/>
          <a:p>
            <a:r>
              <a:rPr lang="zh-CN" altLang="en-US" sz="12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脂酰</a:t>
            </a:r>
            <a:r>
              <a:rPr lang="en-US" altLang="zh-CN" sz="12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CoA</a:t>
            </a:r>
            <a:endParaRPr lang="zh-CN" altLang="en-US" sz="1200" b="1" dirty="0">
              <a:solidFill>
                <a:srgbClr val="FF0000"/>
              </a:solidFill>
              <a:latin typeface="Times New Roman" panose="02020603050405020304" pitchFamily="18" charset="0"/>
              <a:cs typeface="Times New Roman" panose="02020603050405020304" pitchFamily="18" charset="0"/>
            </a:endParaRPr>
          </a:p>
        </p:txBody>
      </p:sp>
      <p:sp>
        <p:nvSpPr>
          <p:cNvPr id="20" name="矩形 19"/>
          <p:cNvSpPr/>
          <p:nvPr/>
        </p:nvSpPr>
        <p:spPr>
          <a:xfrm>
            <a:off x="7553828" y="6052121"/>
            <a:ext cx="918014" cy="329774"/>
          </a:xfrm>
          <a:prstGeom prst="rect">
            <a:avLst/>
          </a:prstGeom>
          <a:ln>
            <a:solidFill>
              <a:schemeClr val="tx1"/>
            </a:solidFill>
          </a:ln>
        </p:spPr>
        <p:txBody>
          <a:bodyPr wrap="square">
            <a:spAutoFit/>
          </a:bodyPr>
          <a:lstStyle/>
          <a:p>
            <a:r>
              <a:rPr lang="zh-CN" altLang="en-US" sz="12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脂酰</a:t>
            </a:r>
            <a:r>
              <a:rPr lang="en-US" altLang="zh-CN" sz="12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CoA</a:t>
            </a:r>
            <a:endParaRPr lang="zh-CN" altLang="en-US" sz="1200" b="1" dirty="0">
              <a:solidFill>
                <a:srgbClr val="FF0000"/>
              </a:solidFill>
              <a:latin typeface="Times New Roman" panose="02020603050405020304" pitchFamily="18" charset="0"/>
              <a:cs typeface="Times New Roman" panose="02020603050405020304" pitchFamily="18" charset="0"/>
            </a:endParaRPr>
          </a:p>
        </p:txBody>
      </p:sp>
      <p:sp>
        <p:nvSpPr>
          <p:cNvPr id="19" name="文本框 18"/>
          <p:cNvSpPr txBox="1"/>
          <p:nvPr/>
        </p:nvSpPr>
        <p:spPr>
          <a:xfrm>
            <a:off x="8716588" y="1854911"/>
            <a:ext cx="425444" cy="291809"/>
          </a:xfrm>
          <a:prstGeom prst="rect">
            <a:avLst/>
          </a:prstGeom>
          <a:noFill/>
          <a:ln>
            <a:noFill/>
          </a:ln>
        </p:spPr>
        <p:txBody>
          <a:bodyPr wrap="square" rtlCol="0">
            <a:spAutoFit/>
          </a:bodyPr>
          <a:lstStyle/>
          <a:p>
            <a:pPr algn="l"/>
            <a:r>
              <a:rPr lang="en-US" altLang="zh-CN" sz="1000" b="1" dirty="0">
                <a:solidFill>
                  <a:srgbClr val="FF0000"/>
                </a:solidFill>
                <a:latin typeface="微软雅黑" panose="020B0503020204020204" pitchFamily="34" charset="-122"/>
                <a:ea typeface="微软雅黑" panose="020B0503020204020204" pitchFamily="34" charset="-122"/>
              </a:rPr>
              <a:t>β</a:t>
            </a:r>
          </a:p>
        </p:txBody>
      </p:sp>
      <p:sp>
        <p:nvSpPr>
          <p:cNvPr id="21" name="文本框 20"/>
          <p:cNvSpPr txBox="1"/>
          <p:nvPr/>
        </p:nvSpPr>
        <p:spPr>
          <a:xfrm>
            <a:off x="8504973" y="3312444"/>
            <a:ext cx="425444" cy="291809"/>
          </a:xfrm>
          <a:prstGeom prst="rect">
            <a:avLst/>
          </a:prstGeom>
          <a:noFill/>
          <a:ln>
            <a:noFill/>
          </a:ln>
        </p:spPr>
        <p:txBody>
          <a:bodyPr wrap="square" rtlCol="0">
            <a:spAutoFit/>
          </a:bodyPr>
          <a:lstStyle/>
          <a:p>
            <a:pPr algn="l"/>
            <a:r>
              <a:rPr lang="en-US" altLang="zh-CN" sz="1000" b="1" dirty="0">
                <a:solidFill>
                  <a:srgbClr val="FF0000"/>
                </a:solidFill>
                <a:latin typeface="微软雅黑" panose="020B0503020204020204" pitchFamily="34" charset="-122"/>
                <a:ea typeface="微软雅黑" panose="020B0503020204020204" pitchFamily="34" charset="-122"/>
              </a:rPr>
              <a:t>β</a:t>
            </a:r>
          </a:p>
        </p:txBody>
      </p:sp>
      <p:sp>
        <p:nvSpPr>
          <p:cNvPr id="22" name="文本框 21"/>
          <p:cNvSpPr txBox="1"/>
          <p:nvPr/>
        </p:nvSpPr>
        <p:spPr>
          <a:xfrm>
            <a:off x="8595665" y="4351164"/>
            <a:ext cx="425444" cy="291809"/>
          </a:xfrm>
          <a:prstGeom prst="rect">
            <a:avLst/>
          </a:prstGeom>
          <a:noFill/>
          <a:ln>
            <a:noFill/>
          </a:ln>
        </p:spPr>
        <p:txBody>
          <a:bodyPr wrap="square" rtlCol="0">
            <a:spAutoFit/>
          </a:bodyPr>
          <a:lstStyle/>
          <a:p>
            <a:pPr algn="l"/>
            <a:r>
              <a:rPr lang="en-US" altLang="zh-CN" sz="1000" b="1" dirty="0">
                <a:solidFill>
                  <a:srgbClr val="FF0000"/>
                </a:solidFill>
                <a:latin typeface="微软雅黑" panose="020B0503020204020204" pitchFamily="34" charset="-122"/>
                <a:ea typeface="微软雅黑" panose="020B0503020204020204" pitchFamily="34" charset="-122"/>
              </a:rPr>
              <a:t>β</a:t>
            </a:r>
          </a:p>
        </p:txBody>
      </p:sp>
      <p:sp>
        <p:nvSpPr>
          <p:cNvPr id="23" name="文本框 22"/>
          <p:cNvSpPr txBox="1"/>
          <p:nvPr/>
        </p:nvSpPr>
        <p:spPr>
          <a:xfrm>
            <a:off x="8432714" y="5645405"/>
            <a:ext cx="425444" cy="291809"/>
          </a:xfrm>
          <a:prstGeom prst="rect">
            <a:avLst/>
          </a:prstGeom>
          <a:noFill/>
          <a:ln>
            <a:noFill/>
          </a:ln>
        </p:spPr>
        <p:txBody>
          <a:bodyPr wrap="square" rtlCol="0">
            <a:spAutoFit/>
          </a:bodyPr>
          <a:lstStyle/>
          <a:p>
            <a:pPr algn="l"/>
            <a:r>
              <a:rPr lang="en-US" altLang="zh-CN" sz="1000" b="1" dirty="0">
                <a:solidFill>
                  <a:srgbClr val="FF0000"/>
                </a:solidFill>
                <a:latin typeface="微软雅黑" panose="020B0503020204020204" pitchFamily="34" charset="-122"/>
                <a:ea typeface="微软雅黑" panose="020B0503020204020204" pitchFamily="34" charset="-122"/>
              </a:rPr>
              <a:t>β</a:t>
            </a:r>
          </a:p>
        </p:txBody>
      </p:sp>
      <p:sp>
        <p:nvSpPr>
          <p:cNvPr id="24" name="文本框 23"/>
          <p:cNvSpPr txBox="1"/>
          <p:nvPr/>
        </p:nvSpPr>
        <p:spPr>
          <a:xfrm>
            <a:off x="563885" y="0"/>
            <a:ext cx="5503710" cy="646331"/>
          </a:xfrm>
          <a:prstGeom prst="rect">
            <a:avLst/>
          </a:prstGeom>
        </p:spPr>
        <p:txBody>
          <a:bodyPr wrap="square">
            <a:spAutoFit/>
          </a:bodyPr>
          <a:lstStyle>
            <a:defPPr>
              <a:defRPr lang="en-US"/>
            </a:defPPr>
            <a:lvl1pPr>
              <a:lnSpc>
                <a:spcPct val="100000"/>
              </a:lnSpc>
              <a:defRPr sz="36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en-US" altLang="zh-CN" dirty="0">
                <a:solidFill>
                  <a:srgbClr val="FF0000"/>
                </a:solidFill>
                <a:latin typeface="Times New Roman" panose="02020603050405020304" pitchFamily="18" charset="0"/>
                <a:cs typeface="Times New Roman" panose="02020603050405020304" pitchFamily="18" charset="0"/>
              </a:rPr>
              <a:t>β-</a:t>
            </a:r>
            <a:r>
              <a:rPr lang="zh-CN" altLang="en-US" dirty="0">
                <a:solidFill>
                  <a:srgbClr val="FF0000"/>
                </a:solidFill>
                <a:latin typeface="Times New Roman" panose="02020603050405020304" pitchFamily="18" charset="0"/>
                <a:cs typeface="Times New Roman" panose="02020603050405020304" pitchFamily="18" charset="0"/>
              </a:rPr>
              <a:t>氧化</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16</a:t>
            </a:r>
            <a:r>
              <a:rPr lang="zh-CN" altLang="en-US" dirty="0">
                <a:latin typeface="Times New Roman" panose="02020603050405020304" pitchFamily="18" charset="0"/>
                <a:cs typeface="Times New Roman" panose="02020603050405020304" pitchFamily="18" charset="0"/>
              </a:rPr>
              <a:t>碳软脂酸为</a:t>
            </a:r>
            <a:r>
              <a:rPr lang="zh-CN" altLang="en-US" dirty="0" smtClean="0">
                <a:latin typeface="Times New Roman" panose="02020603050405020304" pitchFamily="18" charset="0"/>
                <a:cs typeface="Times New Roman" panose="02020603050405020304" pitchFamily="18" charset="0"/>
              </a:rPr>
              <a:t>例）</a:t>
            </a:r>
          </a:p>
        </p:txBody>
      </p:sp>
      <p:sp>
        <p:nvSpPr>
          <p:cNvPr id="25" name="矩形 24"/>
          <p:cNvSpPr/>
          <p:nvPr/>
        </p:nvSpPr>
        <p:spPr>
          <a:xfrm>
            <a:off x="74800" y="3716161"/>
            <a:ext cx="7581900" cy="1948226"/>
          </a:xfrm>
          <a:prstGeom prst="rect">
            <a:avLst/>
          </a:prstGeom>
          <a:noFill/>
        </p:spPr>
        <p:txBody>
          <a:bodyPr wrap="square" rtlCol="0">
            <a:spAutoFit/>
          </a:bodyPr>
          <a:lstStyle/>
          <a:p>
            <a:pPr marL="342900" indent="-342900">
              <a:lnSpc>
                <a:spcPct val="110000"/>
              </a:lnSpc>
              <a:spcBef>
                <a:spcPts val="600"/>
              </a:spcBef>
              <a:buFont typeface="Arial" pitchFamily="34" charset="0"/>
              <a:buChar char="•"/>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脂肪酸活化：消耗</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个高能磷酸键（</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-2ATP</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24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10000"/>
              </a:lnSpc>
              <a:spcBef>
                <a:spcPts val="600"/>
              </a:spcBef>
              <a:buFont typeface="Arial" pitchFamily="34" charset="0"/>
              <a:buChar char="•"/>
            </a:pPr>
            <a:r>
              <a:rPr lang="el-GR" altLang="zh-CN" sz="2400" dirty="0">
                <a:latin typeface="Times New Roman" panose="02020603050405020304" pitchFamily="18" charset="0"/>
                <a:ea typeface="微软雅黑" panose="020B0503020204020204" pitchFamily="34" charset="-122"/>
                <a:cs typeface="Times New Roman" panose="02020603050405020304" pitchFamily="18" charset="0"/>
              </a:rPr>
              <a:t>β-</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氧化7 轮循环：8乙酰CoA</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7NADH+7FADH</a:t>
            </a:r>
            <a:r>
              <a:rPr lang="zh-CN" altLang="en-US" sz="2400" baseline="-25000" dirty="0">
                <a:latin typeface="Times New Roman" panose="02020603050405020304" pitchFamily="18" charset="0"/>
                <a:ea typeface="微软雅黑" panose="020B0503020204020204" pitchFamily="34" charset="-122"/>
                <a:cs typeface="Times New Roman" panose="02020603050405020304" pitchFamily="18" charset="0"/>
              </a:rPr>
              <a:t>2</a:t>
            </a:r>
          </a:p>
          <a:p>
            <a:pPr marL="342900" indent="-342900">
              <a:lnSpc>
                <a:spcPct val="110000"/>
              </a:lnSpc>
              <a:spcBef>
                <a:spcPts val="600"/>
              </a:spcBef>
              <a:buFont typeface="Arial" pitchFamily="34" charset="0"/>
              <a:buChar char="•"/>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能量计算： 8×10 + 7×2.5 + 7×1.5 = 108</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ATP</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a:p>
            <a:pPr marL="342900" indent="-342900">
              <a:lnSpc>
                <a:spcPct val="110000"/>
              </a:lnSpc>
              <a:spcBef>
                <a:spcPts val="600"/>
              </a:spcBef>
              <a:buFont typeface="Arial" pitchFamily="34" charset="0"/>
              <a:buChar char="•"/>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净生成 108 – 2 = </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106 </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ATP</a:t>
            </a:r>
          </a:p>
        </p:txBody>
      </p:sp>
      <p:sp>
        <p:nvSpPr>
          <p:cNvPr id="12" name="矩形 11"/>
          <p:cNvSpPr/>
          <p:nvPr/>
        </p:nvSpPr>
        <p:spPr>
          <a:xfrm>
            <a:off x="356937" y="2936022"/>
            <a:ext cx="1980029" cy="523220"/>
          </a:xfrm>
          <a:prstGeom prst="rect">
            <a:avLst/>
          </a:prstGeom>
        </p:spPr>
        <p:txBody>
          <a:bodyPr wrap="none">
            <a:spAutoFit/>
          </a:bodyPr>
          <a:lstStyle/>
          <a:p>
            <a:pPr lvl="0" defTabSz="914400">
              <a:defRPr/>
            </a:pPr>
            <a:r>
              <a:rPr lang="zh-CN" altLang="en-US" sz="2800" b="1" dirty="0">
                <a:solidFill>
                  <a:srgbClr val="FF0000"/>
                </a:solidFill>
                <a:latin typeface="华文楷体" panose="02010600040101010101" pitchFamily="2" charset="-122"/>
                <a:ea typeface="华文楷体" panose="02010600040101010101" pitchFamily="2" charset="-122"/>
              </a:rPr>
              <a:t>能量</a:t>
            </a:r>
            <a:r>
              <a:rPr lang="zh-CN" altLang="en-US" sz="2800" b="1" dirty="0" smtClean="0">
                <a:solidFill>
                  <a:srgbClr val="FF0000"/>
                </a:solidFill>
                <a:latin typeface="华文楷体" panose="02010600040101010101" pitchFamily="2" charset="-122"/>
                <a:ea typeface="华文楷体" panose="02010600040101010101" pitchFamily="2" charset="-122"/>
              </a:rPr>
              <a:t>计算：</a:t>
            </a:r>
            <a:endParaRPr lang="zh-CN" altLang="en-US" sz="2800" b="1"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6"/>
          <p:cNvSpPr>
            <a:spLocks noChangeArrowheads="1"/>
          </p:cNvSpPr>
          <p:nvPr/>
        </p:nvSpPr>
        <p:spPr bwMode="auto">
          <a:xfrm>
            <a:off x="0" y="1717159"/>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25603" name="Rectangle 7"/>
          <p:cNvSpPr>
            <a:spLocks noChangeArrowheads="1"/>
          </p:cNvSpPr>
          <p:nvPr/>
        </p:nvSpPr>
        <p:spPr bwMode="auto">
          <a:xfrm>
            <a:off x="3983567" y="6021389"/>
            <a:ext cx="5710767" cy="396875"/>
          </a:xfrm>
          <a:prstGeom prst="rect">
            <a:avLst/>
          </a:prstGeom>
          <a:solidFill>
            <a:srgbClr val="99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txBody>
          <a:bodyPr anchor="ctr">
            <a:spAutoFit/>
          </a:bodyPr>
          <a:lstStyle/>
          <a:p>
            <a:pPr algn="ctr"/>
            <a:r>
              <a:rPr lang="zh-CN" altLang="en-US" sz="2000" b="1">
                <a:latin typeface="华文楷体" pitchFamily="2" charset="-122"/>
                <a:cs typeface="Times New Roman" pitchFamily="18" charset="0"/>
              </a:rPr>
              <a:t>脂酰</a:t>
            </a:r>
            <a:r>
              <a:rPr lang="en-US" altLang="zh-CN" sz="2000" b="1">
                <a:latin typeface="华文楷体" pitchFamily="2" charset="-122"/>
                <a:cs typeface="Times New Roman" pitchFamily="18" charset="0"/>
              </a:rPr>
              <a:t>-CoA</a:t>
            </a:r>
            <a:r>
              <a:rPr lang="zh-CN" altLang="en-US" sz="2000" b="1">
                <a:latin typeface="华文楷体" pitchFamily="2" charset="-122"/>
                <a:cs typeface="Times New Roman" pitchFamily="18" charset="0"/>
              </a:rPr>
              <a:t>脱氢酶与呼吸链之间的联系</a:t>
            </a:r>
            <a:endParaRPr lang="zh-CN" altLang="en-US" sz="2000">
              <a:latin typeface="华文楷体" pitchFamily="2" charset="-122"/>
              <a:cs typeface="Times New Roman" pitchFamily="18" charset="0"/>
            </a:endParaRPr>
          </a:p>
        </p:txBody>
      </p:sp>
      <p:pic>
        <p:nvPicPr>
          <p:cNvPr id="25604" name="Picture 9" descr="29-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5430" y="412596"/>
            <a:ext cx="9655498" cy="5346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84046438"/>
      </p:ext>
    </p:extLst>
  </p:cSld>
  <p:clrMapOvr>
    <a:masterClrMapping/>
  </p:clrMapOvr>
  <p:transition>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503518" y="251983"/>
            <a:ext cx="7859844" cy="461665"/>
          </a:xfrm>
          <a:prstGeom prst="rect">
            <a:avLst/>
          </a:prstGeom>
        </p:spPr>
        <p:txBody>
          <a:bodyPr wrap="none">
            <a:spAutoFit/>
          </a:bodyPr>
          <a:lstStyle/>
          <a:p>
            <a:pPr marL="285750" indent="-285750">
              <a:buFont typeface="Arial" panose="020B0604020202020204" pitchFamily="34" charset="0"/>
              <a:buChar char="•"/>
            </a:pPr>
            <a:r>
              <a:rPr sz="2400" b="1" dirty="0">
                <a:latin typeface="微软雅黑" panose="020B0503020204020204" pitchFamily="34" charset="-122"/>
                <a:ea typeface="微软雅黑" panose="020B0503020204020204" pitchFamily="34" charset="-122"/>
                <a:cs typeface="Times New Roman" panose="02020603050405020304" pitchFamily="18" charset="0"/>
              </a:rPr>
              <a:t>脂肪酸氧化产生的水</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a:t>
            </a:r>
            <a:r>
              <a:rPr sz="2400" b="1" dirty="0">
                <a:latin typeface="微软雅黑" panose="020B0503020204020204" pitchFamily="34" charset="-122"/>
                <a:ea typeface="微软雅黑" panose="020B0503020204020204" pitchFamily="34" charset="-122"/>
                <a:cs typeface="Times New Roman" panose="02020603050405020304" pitchFamily="18" charset="0"/>
              </a:rPr>
              <a:t>是动物缺水时的一种生存机制</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a:t>
            </a:r>
          </a:p>
        </p:txBody>
      </p:sp>
      <p:pic>
        <p:nvPicPr>
          <p:cNvPr id="6" name="图片 5"/>
          <p:cNvPicPr>
            <a:picLocks noChangeAspect="1"/>
          </p:cNvPicPr>
          <p:nvPr/>
        </p:nvPicPr>
        <p:blipFill>
          <a:blip r:embed="rId3"/>
          <a:stretch>
            <a:fillRect/>
          </a:stretch>
        </p:blipFill>
        <p:spPr>
          <a:xfrm>
            <a:off x="760210" y="1276159"/>
            <a:ext cx="11059045" cy="4194810"/>
          </a:xfrm>
          <a:prstGeom prst="rect">
            <a:avLst/>
          </a:prstGeom>
        </p:spPr>
      </p:pic>
    </p:spTree>
  </p:cSld>
  <p:clrMapOvr>
    <a:masterClrMapping/>
  </p:clrMapOvr>
  <p:transition>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3">
            <a:lum bright="6000"/>
          </a:blip>
          <a:srcRect l="6661" r="4019"/>
          <a:stretch>
            <a:fillRect/>
          </a:stretch>
        </p:blipFill>
        <p:spPr>
          <a:xfrm>
            <a:off x="2654624" y="3131069"/>
            <a:ext cx="7652751" cy="2718887"/>
          </a:xfrm>
          <a:prstGeom prst="rect">
            <a:avLst/>
          </a:prstGeom>
          <a:ln>
            <a:solidFill>
              <a:schemeClr val="tx1"/>
            </a:solidFill>
          </a:ln>
        </p:spPr>
      </p:pic>
      <p:pic>
        <p:nvPicPr>
          <p:cNvPr id="9" name="图片 8"/>
          <p:cNvPicPr>
            <a:picLocks noChangeAspect="1"/>
          </p:cNvPicPr>
          <p:nvPr/>
        </p:nvPicPr>
        <p:blipFill rotWithShape="1">
          <a:blip r:embed="rId4"/>
          <a:srcRect b="-35329"/>
          <a:stretch>
            <a:fillRect/>
          </a:stretch>
        </p:blipFill>
        <p:spPr>
          <a:xfrm>
            <a:off x="2218053" y="1058018"/>
            <a:ext cx="9449920" cy="1579304"/>
          </a:xfrm>
          <a:prstGeom prst="rect">
            <a:avLst/>
          </a:prstGeom>
          <a:ln>
            <a:solidFill>
              <a:schemeClr val="tx1"/>
            </a:solidFill>
          </a:ln>
        </p:spPr>
      </p:pic>
      <p:sp>
        <p:nvSpPr>
          <p:cNvPr id="10" name="文本框 9"/>
          <p:cNvSpPr txBox="1"/>
          <p:nvPr/>
        </p:nvSpPr>
        <p:spPr>
          <a:xfrm>
            <a:off x="421161" y="4271339"/>
            <a:ext cx="1960880" cy="39878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不饱和脂肪酸：</a:t>
            </a:r>
          </a:p>
        </p:txBody>
      </p:sp>
      <p:sp>
        <p:nvSpPr>
          <p:cNvPr id="15" name="文本框 14"/>
          <p:cNvSpPr txBox="1"/>
          <p:nvPr/>
        </p:nvSpPr>
        <p:spPr>
          <a:xfrm>
            <a:off x="351089" y="1448890"/>
            <a:ext cx="1960880" cy="398780"/>
          </a:xfrm>
          <a:prstGeom prst="rect">
            <a:avLst/>
          </a:prstGeom>
          <a:noFill/>
        </p:spPr>
        <p:txBody>
          <a:bodyPr wrap="none" rtlCol="0">
            <a:spAutoFit/>
          </a:bodyPr>
          <a:lstStyle/>
          <a:p>
            <a:r>
              <a:rPr lang="zh-CN" altLang="en-US" sz="2000" b="1" dirty="0">
                <a:latin typeface="微软雅黑" panose="020B0503020204020204" pitchFamily="34" charset="-122"/>
                <a:ea typeface="微软雅黑" panose="020B0503020204020204" pitchFamily="34" charset="-122"/>
              </a:rPr>
              <a:t>奇数碳脂肪酸：</a:t>
            </a:r>
          </a:p>
        </p:txBody>
      </p:sp>
      <p:sp>
        <p:nvSpPr>
          <p:cNvPr id="17" name="文本框 16"/>
          <p:cNvSpPr txBox="1"/>
          <p:nvPr/>
        </p:nvSpPr>
        <p:spPr>
          <a:xfrm>
            <a:off x="2792039" y="4221794"/>
            <a:ext cx="595035" cy="338554"/>
          </a:xfrm>
          <a:prstGeom prst="rect">
            <a:avLst/>
          </a:prstGeom>
          <a:noFill/>
          <a:ln>
            <a:solidFill>
              <a:schemeClr val="tx1"/>
            </a:solidFill>
          </a:ln>
        </p:spPr>
        <p:txBody>
          <a:bodyPr wrap="none" rtlCol="0">
            <a:spAutoFit/>
          </a:bodyPr>
          <a:lstStyle/>
          <a:p>
            <a:r>
              <a:rPr lang="zh-CN" altLang="en-US" sz="1600" b="1" dirty="0">
                <a:latin typeface="微软雅黑" panose="020B0503020204020204" pitchFamily="34" charset="-122"/>
                <a:ea typeface="微软雅黑" panose="020B0503020204020204" pitchFamily="34" charset="-122"/>
              </a:rPr>
              <a:t>油酸</a:t>
            </a:r>
          </a:p>
        </p:txBody>
      </p:sp>
      <p:sp>
        <p:nvSpPr>
          <p:cNvPr id="18" name="文本框 17"/>
          <p:cNvSpPr txBox="1"/>
          <p:nvPr/>
        </p:nvSpPr>
        <p:spPr>
          <a:xfrm>
            <a:off x="2689325" y="4961459"/>
            <a:ext cx="800219" cy="338554"/>
          </a:xfrm>
          <a:prstGeom prst="rect">
            <a:avLst/>
          </a:prstGeom>
          <a:noFill/>
          <a:ln>
            <a:solidFill>
              <a:schemeClr val="tx1"/>
            </a:solidFill>
          </a:ln>
        </p:spPr>
        <p:txBody>
          <a:bodyPr wrap="none" rtlCol="0">
            <a:spAutoFit/>
          </a:bodyPr>
          <a:lstStyle/>
          <a:p>
            <a:r>
              <a:rPr lang="zh-CN" altLang="en-US" sz="1600" b="1" dirty="0">
                <a:latin typeface="微软雅黑" panose="020B0503020204020204" pitchFamily="34" charset="-122"/>
                <a:ea typeface="微软雅黑" panose="020B0503020204020204" pitchFamily="34" charset="-122"/>
              </a:rPr>
              <a:t>亚油酸</a:t>
            </a:r>
          </a:p>
        </p:txBody>
      </p:sp>
      <p:sp>
        <p:nvSpPr>
          <p:cNvPr id="2" name="文本框 1"/>
          <p:cNvSpPr txBox="1"/>
          <p:nvPr/>
        </p:nvSpPr>
        <p:spPr>
          <a:xfrm>
            <a:off x="8113101" y="2167977"/>
            <a:ext cx="3172663" cy="369332"/>
          </a:xfrm>
          <a:prstGeom prst="rect">
            <a:avLst/>
          </a:prstGeom>
          <a:noFill/>
        </p:spPr>
        <p:txBody>
          <a:bodyPr wrap="none" rtlCol="0">
            <a:spAutoFit/>
          </a:bodyPr>
          <a:lstStyle/>
          <a:p>
            <a:r>
              <a:rPr lang="zh-CN" altLang="en-US" b="1" dirty="0">
                <a:solidFill>
                  <a:srgbClr val="FF0000"/>
                </a:solidFill>
                <a:latin typeface="微软雅黑" panose="020B0503020204020204" pitchFamily="34" charset="-122"/>
                <a:ea typeface="微软雅黑" panose="020B0503020204020204" pitchFamily="34" charset="-122"/>
              </a:rPr>
              <a:t>丙酰</a:t>
            </a:r>
            <a:r>
              <a:rPr lang="en-US" altLang="zh-CN" b="1" dirty="0">
                <a:solidFill>
                  <a:srgbClr val="FF0000"/>
                </a:solidFill>
                <a:latin typeface="微软雅黑" panose="020B0503020204020204" pitchFamily="34" charset="-122"/>
                <a:ea typeface="微软雅黑" panose="020B0503020204020204" pitchFamily="34" charset="-122"/>
              </a:rPr>
              <a:t>CoA </a:t>
            </a:r>
            <a:r>
              <a:rPr lang="en-US" altLang="zh-CN" b="1" dirty="0">
                <a:latin typeface="微软雅黑" panose="020B0503020204020204" pitchFamily="34" charset="-122"/>
                <a:ea typeface="微软雅黑" panose="020B0503020204020204" pitchFamily="34" charset="-122"/>
              </a:rPr>
              <a:t>     </a:t>
            </a:r>
            <a:r>
              <a:rPr lang="en-US" altLang="zh-CN" b="1" dirty="0" smtClean="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乙酰</a:t>
            </a:r>
            <a:r>
              <a:rPr lang="en-US" altLang="zh-CN" b="1" dirty="0">
                <a:latin typeface="微软雅黑" panose="020B0503020204020204" pitchFamily="34" charset="-122"/>
                <a:ea typeface="微软雅黑" panose="020B0503020204020204" pitchFamily="34" charset="-122"/>
              </a:rPr>
              <a:t>CoA</a:t>
            </a:r>
            <a:endParaRPr lang="zh-CN" altLang="en-US"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241675" y="108527"/>
            <a:ext cx="7172860" cy="646331"/>
          </a:xfrm>
          <a:prstGeom prst="rect">
            <a:avLst/>
          </a:prstGeom>
        </p:spPr>
        <p:txBody>
          <a:bodyPr wrap="square">
            <a:spAutoFit/>
          </a:bodyPr>
          <a:lstStyle>
            <a:defPPr>
              <a:defRPr lang="en-US"/>
            </a:defPPr>
            <a:lvl1pPr>
              <a:lnSpc>
                <a:spcPct val="100000"/>
              </a:lnSpc>
              <a:defRPr sz="36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cs typeface="Times New Roman" panose="02020603050405020304" pitchFamily="18" charset="0"/>
                <a:sym typeface="+mn-ea"/>
              </a:rPr>
              <a:t>奇数</a:t>
            </a:r>
            <a:r>
              <a:rPr lang="zh-CN" altLang="en-US" dirty="0">
                <a:cs typeface="Times New Roman" panose="02020603050405020304" pitchFamily="18" charset="0"/>
              </a:rPr>
              <a:t>及</a:t>
            </a:r>
            <a:r>
              <a:rPr lang="zh-CN" altLang="en-US" dirty="0">
                <a:cs typeface="Times New Roman" panose="02020603050405020304" pitchFamily="18" charset="0"/>
                <a:sym typeface="+mn-ea"/>
              </a:rPr>
              <a:t>不饱和</a:t>
            </a:r>
            <a:r>
              <a:rPr lang="zh-CN" altLang="en-US" dirty="0">
                <a:cs typeface="Times New Roman" panose="02020603050405020304" pitchFamily="18" charset="0"/>
              </a:rPr>
              <a:t>脂肪酸的氧</a:t>
            </a:r>
            <a:r>
              <a:rPr lang="zh-CN" altLang="en-US" dirty="0" smtClean="0">
                <a:cs typeface="Times New Roman" panose="02020603050405020304" pitchFamily="18" charset="0"/>
              </a:rPr>
              <a:t>化</a:t>
            </a:r>
            <a:endParaRPr lang="zh-CN" altLang="en-US" dirty="0">
              <a:cs typeface="Times New Roman" panose="02020603050405020304" pitchFamily="18" charset="0"/>
            </a:endParaRPr>
          </a:p>
        </p:txBody>
      </p:sp>
    </p:spTree>
  </p:cSld>
  <p:clrMapOvr>
    <a:masterClrMapping/>
  </p:clrMapOvr>
  <p:transition>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a:srcRect t="1" b="-4628"/>
          <a:stretch>
            <a:fillRect/>
          </a:stretch>
        </p:blipFill>
        <p:spPr>
          <a:xfrm>
            <a:off x="5306471" y="109896"/>
            <a:ext cx="4237505" cy="6666909"/>
          </a:xfrm>
          <a:prstGeom prst="rect">
            <a:avLst/>
          </a:prstGeom>
          <a:ln>
            <a:noFill/>
          </a:ln>
        </p:spPr>
      </p:pic>
      <p:sp>
        <p:nvSpPr>
          <p:cNvPr id="5" name="文本框 4"/>
          <p:cNvSpPr txBox="1"/>
          <p:nvPr/>
        </p:nvSpPr>
        <p:spPr>
          <a:xfrm>
            <a:off x="7109053" y="473419"/>
            <a:ext cx="1111202" cy="338554"/>
          </a:xfrm>
          <a:prstGeom prst="rect">
            <a:avLst/>
          </a:prstGeom>
          <a:noFill/>
          <a:ln>
            <a:solidFill>
              <a:schemeClr val="tx1"/>
            </a:solidFill>
          </a:ln>
        </p:spPr>
        <p:txBody>
          <a:bodyPr wrap="none" rtlCol="0">
            <a:spAutoFit/>
          </a:bodyPr>
          <a:lstStyle/>
          <a:p>
            <a:r>
              <a:rPr lang="zh-CN" altLang="en-US" sz="1600" b="1" dirty="0">
                <a:latin typeface="微软雅黑" panose="020B0503020204020204" pitchFamily="34" charset="-122"/>
                <a:ea typeface="微软雅黑" panose="020B0503020204020204" pitchFamily="34" charset="-122"/>
              </a:rPr>
              <a:t>丙酰</a:t>
            </a:r>
            <a:r>
              <a:rPr lang="en-US" altLang="zh-CN" sz="1600" b="1" dirty="0">
                <a:latin typeface="微软雅黑" panose="020B0503020204020204" pitchFamily="34" charset="-122"/>
                <a:ea typeface="微软雅黑" panose="020B0503020204020204" pitchFamily="34" charset="-122"/>
              </a:rPr>
              <a:t>-CoA</a:t>
            </a:r>
            <a:endParaRPr lang="zh-CN" altLang="en-US" sz="16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7109054" y="2930108"/>
            <a:ext cx="1978427" cy="338554"/>
          </a:xfrm>
          <a:prstGeom prst="rect">
            <a:avLst/>
          </a:prstGeom>
          <a:noFill/>
          <a:ln>
            <a:solidFill>
              <a:schemeClr val="tx1"/>
            </a:solidFill>
          </a:ln>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D-</a:t>
            </a:r>
            <a:r>
              <a:rPr lang="zh-CN" altLang="en-US" sz="1600" b="1" dirty="0">
                <a:latin typeface="微软雅黑" panose="020B0503020204020204" pitchFamily="34" charset="-122"/>
                <a:ea typeface="微软雅黑" panose="020B0503020204020204" pitchFamily="34" charset="-122"/>
              </a:rPr>
              <a:t>甲基丙二酰</a:t>
            </a:r>
            <a:r>
              <a:rPr lang="en-US" altLang="zh-CN" sz="1600" b="1" dirty="0">
                <a:latin typeface="微软雅黑" panose="020B0503020204020204" pitchFamily="34" charset="-122"/>
                <a:ea typeface="微软雅黑" panose="020B0503020204020204" pitchFamily="34" charset="-122"/>
              </a:rPr>
              <a:t>-CoA</a:t>
            </a:r>
            <a:endParaRPr lang="zh-CN" altLang="en-US" sz="16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5306471" y="6365656"/>
            <a:ext cx="1928733" cy="338554"/>
          </a:xfrm>
          <a:prstGeom prst="rect">
            <a:avLst/>
          </a:prstGeom>
          <a:noFill/>
          <a:ln>
            <a:solidFill>
              <a:schemeClr val="tx1"/>
            </a:solidFill>
          </a:ln>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L-</a:t>
            </a:r>
            <a:r>
              <a:rPr lang="zh-CN" altLang="en-US" sz="1600" b="1" dirty="0">
                <a:latin typeface="微软雅黑" panose="020B0503020204020204" pitchFamily="34" charset="-122"/>
                <a:ea typeface="微软雅黑" panose="020B0503020204020204" pitchFamily="34" charset="-122"/>
              </a:rPr>
              <a:t>甲基丙二酰</a:t>
            </a:r>
            <a:r>
              <a:rPr lang="en-US" altLang="zh-CN" sz="1600" b="1" dirty="0">
                <a:latin typeface="微软雅黑" panose="020B0503020204020204" pitchFamily="34" charset="-122"/>
                <a:ea typeface="微软雅黑" panose="020B0503020204020204" pitchFamily="34" charset="-122"/>
              </a:rPr>
              <a:t>-CoA</a:t>
            </a:r>
            <a:endParaRPr lang="zh-CN" altLang="en-US" sz="1600" b="1"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8135286" y="6365656"/>
            <a:ext cx="1316386" cy="338554"/>
          </a:xfrm>
          <a:prstGeom prst="rect">
            <a:avLst/>
          </a:prstGeom>
          <a:noFill/>
          <a:ln>
            <a:solidFill>
              <a:schemeClr val="tx1"/>
            </a:solidFill>
          </a:ln>
        </p:spPr>
        <p:txBody>
          <a:bodyPr wrap="none" rtlCol="0">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琥珀酰</a:t>
            </a:r>
            <a:r>
              <a:rPr lang="en-US" altLang="zh-CN" sz="1600" b="1" dirty="0">
                <a:solidFill>
                  <a:srgbClr val="FF0000"/>
                </a:solidFill>
                <a:latin typeface="微软雅黑" panose="020B0503020204020204" pitchFamily="34" charset="-122"/>
                <a:ea typeface="微软雅黑" panose="020B0503020204020204" pitchFamily="34" charset="-122"/>
              </a:rPr>
              <a:t>-CoA</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11" name="矩形 10"/>
          <p:cNvSpPr/>
          <p:nvPr/>
        </p:nvSpPr>
        <p:spPr>
          <a:xfrm>
            <a:off x="5605523" y="2188530"/>
            <a:ext cx="889987" cy="338554"/>
          </a:xfrm>
          <a:prstGeom prst="rect">
            <a:avLst/>
          </a:prstGeom>
        </p:spPr>
        <p:txBody>
          <a:bodyPr wrap="none">
            <a:spAutoFit/>
          </a:bodyPr>
          <a:lstStyle/>
          <a:p>
            <a:r>
              <a:rPr lang="en-US" altLang="zh-CN" sz="1600" b="1" dirty="0">
                <a:solidFill>
                  <a:srgbClr val="00B0F0"/>
                </a:solidFill>
                <a:latin typeface="微软雅黑" panose="020B0503020204020204" pitchFamily="34" charset="-122"/>
                <a:ea typeface="微软雅黑" panose="020B0503020204020204" pitchFamily="34" charset="-122"/>
              </a:rPr>
              <a:t>-</a:t>
            </a:r>
            <a:r>
              <a:rPr lang="zh-CN" altLang="en-US" sz="1600" b="1" dirty="0">
                <a:solidFill>
                  <a:srgbClr val="00B0F0"/>
                </a:solidFill>
                <a:latin typeface="微软雅黑" panose="020B0503020204020204" pitchFamily="34" charset="-122"/>
                <a:ea typeface="微软雅黑" panose="020B0503020204020204" pitchFamily="34" charset="-122"/>
              </a:rPr>
              <a:t>羧化酶</a:t>
            </a:r>
            <a:endParaRPr lang="zh-CN" altLang="en-US" sz="1600" dirty="0"/>
          </a:p>
        </p:txBody>
      </p:sp>
      <p:sp>
        <p:nvSpPr>
          <p:cNvPr id="12" name="矩形 11"/>
          <p:cNvSpPr/>
          <p:nvPr/>
        </p:nvSpPr>
        <p:spPr>
          <a:xfrm>
            <a:off x="5522253" y="4492980"/>
            <a:ext cx="889987" cy="338554"/>
          </a:xfrm>
          <a:prstGeom prst="rect">
            <a:avLst/>
          </a:prstGeom>
        </p:spPr>
        <p:txBody>
          <a:bodyPr wrap="none">
            <a:spAutoFit/>
          </a:bodyPr>
          <a:lstStyle/>
          <a:p>
            <a:r>
              <a:rPr lang="en-US" altLang="zh-CN" sz="1600" b="1" dirty="0">
                <a:solidFill>
                  <a:srgbClr val="00B0F0"/>
                </a:solidFill>
                <a:latin typeface="微软雅黑" panose="020B0503020204020204" pitchFamily="34" charset="-122"/>
                <a:ea typeface="微软雅黑" panose="020B0503020204020204" pitchFamily="34" charset="-122"/>
              </a:rPr>
              <a:t>-</a:t>
            </a:r>
            <a:r>
              <a:rPr lang="zh-CN" altLang="en-US" sz="1600" b="1" dirty="0">
                <a:solidFill>
                  <a:srgbClr val="00B0F0"/>
                </a:solidFill>
                <a:latin typeface="微软雅黑" panose="020B0503020204020204" pitchFamily="34" charset="-122"/>
                <a:ea typeface="微软雅黑" panose="020B0503020204020204" pitchFamily="34" charset="-122"/>
              </a:rPr>
              <a:t>消旋酶</a:t>
            </a:r>
            <a:endParaRPr lang="zh-CN" altLang="en-US" sz="1600" dirty="0"/>
          </a:p>
        </p:txBody>
      </p:sp>
      <p:sp>
        <p:nvSpPr>
          <p:cNvPr id="13" name="矩形 12"/>
          <p:cNvSpPr/>
          <p:nvPr/>
        </p:nvSpPr>
        <p:spPr>
          <a:xfrm>
            <a:off x="7152997" y="6031136"/>
            <a:ext cx="889987" cy="338554"/>
          </a:xfrm>
          <a:prstGeom prst="rect">
            <a:avLst/>
          </a:prstGeom>
        </p:spPr>
        <p:txBody>
          <a:bodyPr wrap="none">
            <a:spAutoFit/>
          </a:bodyPr>
          <a:lstStyle/>
          <a:p>
            <a:r>
              <a:rPr lang="en-US" altLang="zh-CN" sz="1600" b="1" dirty="0">
                <a:solidFill>
                  <a:srgbClr val="00B0F0"/>
                </a:solidFill>
                <a:latin typeface="微软雅黑" panose="020B0503020204020204" pitchFamily="34" charset="-122"/>
                <a:ea typeface="微软雅黑" panose="020B0503020204020204" pitchFamily="34" charset="-122"/>
              </a:rPr>
              <a:t>-</a:t>
            </a:r>
            <a:r>
              <a:rPr lang="zh-CN" altLang="en-US" sz="1600" b="1" dirty="0">
                <a:solidFill>
                  <a:srgbClr val="00B0F0"/>
                </a:solidFill>
                <a:latin typeface="微软雅黑" panose="020B0503020204020204" pitchFamily="34" charset="-122"/>
                <a:ea typeface="微软雅黑" panose="020B0503020204020204" pitchFamily="34" charset="-122"/>
              </a:rPr>
              <a:t>变位酶</a:t>
            </a:r>
            <a:endParaRPr lang="zh-CN" altLang="en-US" sz="1600" dirty="0"/>
          </a:p>
        </p:txBody>
      </p:sp>
      <p:sp>
        <p:nvSpPr>
          <p:cNvPr id="16" name="矩形 15"/>
          <p:cNvSpPr/>
          <p:nvPr/>
        </p:nvSpPr>
        <p:spPr>
          <a:xfrm>
            <a:off x="1668490" y="1936734"/>
            <a:ext cx="2691295" cy="523220"/>
          </a:xfrm>
          <a:prstGeom prst="rect">
            <a:avLst/>
          </a:prstGeom>
          <a:solidFill>
            <a:schemeClr val="accent6">
              <a:lumMod val="40000"/>
              <a:lumOff val="60000"/>
            </a:schemeClr>
          </a:solidFill>
        </p:spPr>
        <p:txBody>
          <a:bodyPr wrap="square">
            <a:spAutoFit/>
          </a:bodyPr>
          <a:lstStyle/>
          <a:p>
            <a:r>
              <a:rPr lang="zh-CN" altLang="en-US" sz="2800" b="1" dirty="0">
                <a:latin typeface="微软雅黑" panose="020B0503020204020204" pitchFamily="34" charset="-122"/>
                <a:ea typeface="微软雅黑" panose="020B0503020204020204" pitchFamily="34" charset="-122"/>
              </a:rPr>
              <a:t>奇数碳脂肪酸</a:t>
            </a:r>
            <a:endParaRPr lang="zh-CN" altLang="en-US" sz="20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6786245" y="1998345"/>
            <a:ext cx="563880" cy="245110"/>
          </a:xfrm>
          <a:prstGeom prst="rect">
            <a:avLst/>
          </a:prstGeom>
          <a:noFill/>
          <a:ln>
            <a:noFill/>
          </a:ln>
        </p:spPr>
        <p:txBody>
          <a:bodyPr wrap="none" rtlCol="0">
            <a:spAutoFit/>
          </a:bodyPr>
          <a:lstStyle/>
          <a:p>
            <a:pPr algn="l"/>
            <a:r>
              <a:rPr lang="zh-CN" altLang="zh-CN" sz="1000" b="1" dirty="0">
                <a:solidFill>
                  <a:srgbClr val="FF0000"/>
                </a:solidFill>
                <a:latin typeface="微软雅黑" panose="020B0503020204020204" pitchFamily="34" charset="-122"/>
                <a:ea typeface="微软雅黑" panose="020B0503020204020204" pitchFamily="34" charset="-122"/>
              </a:rPr>
              <a:t>生物素</a:t>
            </a:r>
          </a:p>
        </p:txBody>
      </p:sp>
      <p:sp>
        <p:nvSpPr>
          <p:cNvPr id="4" name="文本框 3"/>
          <p:cNvSpPr txBox="1"/>
          <p:nvPr/>
        </p:nvSpPr>
        <p:spPr>
          <a:xfrm>
            <a:off x="7019290" y="5004435"/>
            <a:ext cx="563880" cy="245110"/>
          </a:xfrm>
          <a:prstGeom prst="rect">
            <a:avLst/>
          </a:prstGeom>
          <a:noFill/>
          <a:ln>
            <a:noFill/>
          </a:ln>
        </p:spPr>
        <p:txBody>
          <a:bodyPr wrap="none" rtlCol="0" anchor="t">
            <a:spAutoFit/>
          </a:bodyPr>
          <a:lstStyle/>
          <a:p>
            <a:pPr algn="l">
              <a:buClrTx/>
              <a:buSzTx/>
              <a:buFontTx/>
            </a:pPr>
            <a:r>
              <a:rPr lang="zh-CN" altLang="zh-CN" sz="1000" b="1" dirty="0">
                <a:solidFill>
                  <a:srgbClr val="FF0000"/>
                </a:solidFill>
                <a:latin typeface="微软雅黑" panose="020B0503020204020204" pitchFamily="34" charset="-122"/>
                <a:ea typeface="微软雅黑" panose="020B0503020204020204" pitchFamily="34" charset="-122"/>
                <a:sym typeface="+mn-ea"/>
              </a:rPr>
              <a:t>钴胺素</a:t>
            </a:r>
            <a:endParaRPr lang="zh-CN" altLang="zh-CN" sz="1000" b="1" dirty="0">
              <a:solidFill>
                <a:srgbClr val="FF000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323494" y="2672996"/>
            <a:ext cx="3665472" cy="1135054"/>
          </a:xfrm>
          <a:prstGeom prst="rect">
            <a:avLst/>
          </a:prstGeom>
          <a:noFill/>
          <a:ln>
            <a:noFill/>
          </a:ln>
        </p:spPr>
        <p:txBody>
          <a:bodyPr wrap="square" rtlCol="0" anchor="t">
            <a:spAutoFit/>
          </a:bodyPr>
          <a:lstStyle/>
          <a:p>
            <a:pPr marL="285750" indent="-28575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丙酰CoA→琥珀酰-CoA；</a:t>
            </a:r>
          </a:p>
          <a:p>
            <a:pPr marL="285750" indent="-28575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再进入TCA。</a:t>
            </a:r>
          </a:p>
        </p:txBody>
      </p:sp>
    </p:spTree>
  </p:cSld>
  <p:clrMapOvr>
    <a:masterClrMapping/>
  </p:clrMapOvr>
  <p:transition>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4582712" y="88760"/>
            <a:ext cx="5892809" cy="6506190"/>
          </a:xfrm>
          <a:prstGeom prst="rect">
            <a:avLst/>
          </a:prstGeom>
        </p:spPr>
      </p:pic>
      <p:sp>
        <p:nvSpPr>
          <p:cNvPr id="3" name="文本框 2"/>
          <p:cNvSpPr txBox="1"/>
          <p:nvPr/>
        </p:nvSpPr>
        <p:spPr>
          <a:xfrm>
            <a:off x="8941960" y="1170745"/>
            <a:ext cx="1111202" cy="338554"/>
          </a:xfrm>
          <a:prstGeom prst="rect">
            <a:avLst/>
          </a:prstGeom>
          <a:noFill/>
          <a:ln>
            <a:solidFill>
              <a:srgbClr val="FF0000"/>
            </a:solidFill>
          </a:ln>
        </p:spPr>
        <p:txBody>
          <a:bodyPr wrap="none" rtlCol="0">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油酰</a:t>
            </a:r>
            <a:r>
              <a:rPr lang="en-US" altLang="zh-CN" sz="1600" b="1" dirty="0">
                <a:solidFill>
                  <a:srgbClr val="FF0000"/>
                </a:solidFill>
                <a:latin typeface="微软雅黑" panose="020B0503020204020204" pitchFamily="34" charset="-122"/>
                <a:ea typeface="微软雅黑" panose="020B0503020204020204" pitchFamily="34" charset="-122"/>
              </a:rPr>
              <a:t>-CoA</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9" name="矩形 8"/>
          <p:cNvSpPr/>
          <p:nvPr/>
        </p:nvSpPr>
        <p:spPr>
          <a:xfrm>
            <a:off x="4648885" y="3807048"/>
            <a:ext cx="2560316" cy="338554"/>
          </a:xfrm>
          <a:prstGeom prst="rect">
            <a:avLst/>
          </a:prstGeom>
        </p:spPr>
        <p:txBody>
          <a:bodyPr wrap="none">
            <a:spAutoFit/>
          </a:bodyPr>
          <a:lstStyle/>
          <a:p>
            <a:r>
              <a:rPr lang="en-US" altLang="zh-CN" sz="1600" b="1" dirty="0">
                <a:solidFill>
                  <a:srgbClr val="00B0F0"/>
                </a:solidFill>
                <a:latin typeface="微软雅黑" panose="020B0503020204020204" pitchFamily="34" charset="-122"/>
                <a:ea typeface="微软雅黑" panose="020B0503020204020204" pitchFamily="34" charset="-122"/>
              </a:rPr>
              <a:t>Δ</a:t>
            </a:r>
            <a:r>
              <a:rPr lang="en-US" altLang="zh-CN" sz="1600" b="1" baseline="30000" dirty="0">
                <a:solidFill>
                  <a:srgbClr val="00B0F0"/>
                </a:solidFill>
                <a:latin typeface="微软雅黑" panose="020B0503020204020204" pitchFamily="34" charset="-122"/>
                <a:ea typeface="微软雅黑" panose="020B0503020204020204" pitchFamily="34" charset="-122"/>
              </a:rPr>
              <a:t>3</a:t>
            </a:r>
            <a:r>
              <a:rPr lang="zh-CN" altLang="en-US" sz="1600" b="1" dirty="0">
                <a:solidFill>
                  <a:srgbClr val="00B0F0"/>
                </a:solidFill>
                <a:latin typeface="微软雅黑" panose="020B0503020204020204" pitchFamily="34" charset="-122"/>
                <a:ea typeface="微软雅黑" panose="020B0503020204020204" pitchFamily="34" charset="-122"/>
              </a:rPr>
              <a:t>、</a:t>
            </a:r>
            <a:r>
              <a:rPr lang="en-US" altLang="zh-CN" sz="1600" b="1" dirty="0">
                <a:solidFill>
                  <a:srgbClr val="00B0F0"/>
                </a:solidFill>
                <a:latin typeface="微软雅黑" panose="020B0503020204020204" pitchFamily="34" charset="-122"/>
                <a:ea typeface="微软雅黑" panose="020B0503020204020204" pitchFamily="34" charset="-122"/>
              </a:rPr>
              <a:t>Δ</a:t>
            </a:r>
            <a:r>
              <a:rPr lang="en-US" altLang="zh-CN" sz="1600" b="1" baseline="30000" dirty="0">
                <a:solidFill>
                  <a:srgbClr val="00B0F0"/>
                </a:solidFill>
                <a:latin typeface="微软雅黑" panose="020B0503020204020204" pitchFamily="34" charset="-122"/>
                <a:ea typeface="微软雅黑" panose="020B0503020204020204" pitchFamily="34" charset="-122"/>
              </a:rPr>
              <a:t>2</a:t>
            </a:r>
            <a:r>
              <a:rPr lang="en-US" altLang="zh-CN" sz="1600" b="1" dirty="0">
                <a:solidFill>
                  <a:srgbClr val="00B0F0"/>
                </a:solidFill>
                <a:latin typeface="微软雅黑" panose="020B0503020204020204" pitchFamily="34" charset="-122"/>
                <a:ea typeface="微软雅黑" panose="020B0503020204020204" pitchFamily="34" charset="-122"/>
              </a:rPr>
              <a:t>-</a:t>
            </a:r>
            <a:r>
              <a:rPr lang="zh-CN" altLang="en-US" sz="1600" b="1" dirty="0">
                <a:solidFill>
                  <a:srgbClr val="00B0F0"/>
                </a:solidFill>
                <a:latin typeface="微软雅黑" panose="020B0503020204020204" pitchFamily="34" charset="-122"/>
                <a:ea typeface="微软雅黑" panose="020B0503020204020204" pitchFamily="34" charset="-122"/>
              </a:rPr>
              <a:t>烯酰</a:t>
            </a:r>
            <a:r>
              <a:rPr lang="en-US" altLang="zh-CN" sz="1600" b="1" dirty="0">
                <a:solidFill>
                  <a:srgbClr val="00B0F0"/>
                </a:solidFill>
                <a:latin typeface="微软雅黑" panose="020B0503020204020204" pitchFamily="34" charset="-122"/>
                <a:ea typeface="微软雅黑" panose="020B0503020204020204" pitchFamily="34" charset="-122"/>
              </a:rPr>
              <a:t>-CoA </a:t>
            </a:r>
            <a:r>
              <a:rPr lang="zh-CN" altLang="en-US" sz="1600" b="1" dirty="0">
                <a:solidFill>
                  <a:srgbClr val="FF0000"/>
                </a:solidFill>
                <a:latin typeface="微软雅黑" panose="020B0503020204020204" pitchFamily="34" charset="-122"/>
                <a:ea typeface="微软雅黑" panose="020B0503020204020204" pitchFamily="34" charset="-122"/>
              </a:rPr>
              <a:t>异构酶</a:t>
            </a:r>
          </a:p>
        </p:txBody>
      </p:sp>
      <p:sp>
        <p:nvSpPr>
          <p:cNvPr id="17" name="矩形 16"/>
          <p:cNvSpPr/>
          <p:nvPr/>
        </p:nvSpPr>
        <p:spPr>
          <a:xfrm>
            <a:off x="1401339" y="2687655"/>
            <a:ext cx="2316480" cy="829945"/>
          </a:xfrm>
          <a:prstGeom prst="rect">
            <a:avLst/>
          </a:prstGeom>
          <a:solidFill>
            <a:schemeClr val="accent6">
              <a:lumMod val="40000"/>
              <a:lumOff val="60000"/>
            </a:schemeClr>
          </a:solidFill>
        </p:spPr>
        <p:txBody>
          <a:bodyPr wrap="none">
            <a:spAutoFit/>
          </a:bodyPr>
          <a:lstStyle/>
          <a:p>
            <a:r>
              <a:rPr lang="zh-CN" altLang="en-US" sz="2400" b="1" dirty="0">
                <a:latin typeface="微软雅黑" panose="020B0503020204020204" pitchFamily="34" charset="-122"/>
                <a:ea typeface="微软雅黑" panose="020B0503020204020204" pitchFamily="34" charset="-122"/>
              </a:rPr>
              <a:t>单不饱和脂肪酸</a:t>
            </a:r>
            <a:endParaRPr lang="en-US" altLang="zh-CN" sz="2400" b="1" dirty="0">
              <a:latin typeface="微软雅黑" panose="020B0503020204020204" pitchFamily="34" charset="-122"/>
              <a:ea typeface="微软雅黑" panose="020B0503020204020204" pitchFamily="34" charset="-122"/>
            </a:endParaRPr>
          </a:p>
          <a:p>
            <a:pPr>
              <a:lnSpc>
                <a:spcPct val="100000"/>
              </a:lnSpc>
            </a:pPr>
            <a:r>
              <a:rPr lang="zh-CN" altLang="en-US" sz="2400" b="1" dirty="0">
                <a:latin typeface="微软雅黑" panose="020B0503020204020204" pitchFamily="34" charset="-122"/>
                <a:ea typeface="微软雅黑" panose="020B0503020204020204" pitchFamily="34" charset="-122"/>
              </a:rPr>
              <a:t>   （油酸）</a:t>
            </a:r>
          </a:p>
        </p:txBody>
      </p:sp>
      <p:sp>
        <p:nvSpPr>
          <p:cNvPr id="18" name="文本框 17"/>
          <p:cNvSpPr txBox="1"/>
          <p:nvPr/>
        </p:nvSpPr>
        <p:spPr>
          <a:xfrm>
            <a:off x="8190912" y="3489466"/>
            <a:ext cx="2411238" cy="338554"/>
          </a:xfrm>
          <a:prstGeom prst="rect">
            <a:avLst/>
          </a:prstGeom>
          <a:noFill/>
          <a:ln>
            <a:solidFill>
              <a:srgbClr val="FF0000"/>
            </a:solidFill>
          </a:ln>
        </p:spPr>
        <p:txBody>
          <a:bodyPr wrap="none" rtlCol="0">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顺式</a:t>
            </a:r>
            <a:r>
              <a:rPr lang="en-US" altLang="zh-CN" sz="1600" b="1" dirty="0">
                <a:solidFill>
                  <a:srgbClr val="FF0000"/>
                </a:solidFill>
                <a:latin typeface="微软雅黑" panose="020B0503020204020204" pitchFamily="34" charset="-122"/>
                <a:ea typeface="微软雅黑" panose="020B0503020204020204" pitchFamily="34" charset="-122"/>
              </a:rPr>
              <a:t>-</a:t>
            </a:r>
            <a:r>
              <a:rPr lang="el-GR" altLang="zh-CN" sz="1600" b="1" dirty="0">
                <a:solidFill>
                  <a:srgbClr val="FF0000"/>
                </a:solidFill>
                <a:latin typeface="微软雅黑" panose="020B0503020204020204" pitchFamily="34" charset="-122"/>
                <a:ea typeface="微软雅黑" panose="020B0503020204020204" pitchFamily="34" charset="-122"/>
              </a:rPr>
              <a:t>Δ</a:t>
            </a:r>
            <a:r>
              <a:rPr lang="en-US" altLang="zh-CN" sz="1600" b="1" baseline="30000" dirty="0">
                <a:solidFill>
                  <a:srgbClr val="FF0000"/>
                </a:solidFill>
                <a:latin typeface="微软雅黑" panose="020B0503020204020204" pitchFamily="34" charset="-122"/>
                <a:ea typeface="微软雅黑" panose="020B0503020204020204" pitchFamily="34" charset="-122"/>
              </a:rPr>
              <a:t>3</a:t>
            </a:r>
            <a:r>
              <a:rPr lang="en-US" altLang="zh-CN" sz="1600" b="1" dirty="0">
                <a:solidFill>
                  <a:srgbClr val="FF0000"/>
                </a:solidFill>
                <a:latin typeface="微软雅黑" panose="020B0503020204020204" pitchFamily="34" charset="-122"/>
                <a:ea typeface="微软雅黑" panose="020B0503020204020204" pitchFamily="34" charset="-122"/>
              </a:rPr>
              <a:t>-</a:t>
            </a:r>
            <a:r>
              <a:rPr lang="zh-CN" altLang="en-US" sz="1600" b="1" dirty="0">
                <a:solidFill>
                  <a:srgbClr val="FF0000"/>
                </a:solidFill>
                <a:latin typeface="微软雅黑" panose="020B0503020204020204" pitchFamily="34" charset="-122"/>
                <a:ea typeface="微软雅黑" panose="020B0503020204020204" pitchFamily="34" charset="-122"/>
              </a:rPr>
              <a:t>十二烯酰</a:t>
            </a:r>
            <a:r>
              <a:rPr lang="en-US" altLang="zh-CN" sz="1600" b="1" dirty="0">
                <a:solidFill>
                  <a:srgbClr val="FF0000"/>
                </a:solidFill>
                <a:latin typeface="微软雅黑" panose="020B0503020204020204" pitchFamily="34" charset="-122"/>
                <a:ea typeface="微软雅黑" panose="020B0503020204020204" pitchFamily="34" charset="-122"/>
              </a:rPr>
              <a:t> -CoA</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8124969" y="5548757"/>
            <a:ext cx="2411238" cy="338554"/>
          </a:xfrm>
          <a:prstGeom prst="rect">
            <a:avLst/>
          </a:prstGeom>
          <a:noFill/>
          <a:ln>
            <a:solidFill>
              <a:srgbClr val="FF0000"/>
            </a:solidFill>
          </a:ln>
        </p:spPr>
        <p:txBody>
          <a:bodyPr wrap="none" rtlCol="0">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反式</a:t>
            </a:r>
            <a:r>
              <a:rPr lang="en-US" altLang="zh-CN" sz="1600" b="1" dirty="0">
                <a:solidFill>
                  <a:srgbClr val="FF0000"/>
                </a:solidFill>
                <a:latin typeface="微软雅黑" panose="020B0503020204020204" pitchFamily="34" charset="-122"/>
                <a:ea typeface="微软雅黑" panose="020B0503020204020204" pitchFamily="34" charset="-122"/>
              </a:rPr>
              <a:t>-</a:t>
            </a:r>
            <a:r>
              <a:rPr lang="el-GR" altLang="zh-CN" sz="1600" b="1" dirty="0">
                <a:solidFill>
                  <a:srgbClr val="FF0000"/>
                </a:solidFill>
                <a:latin typeface="微软雅黑" panose="020B0503020204020204" pitchFamily="34" charset="-122"/>
                <a:ea typeface="微软雅黑" panose="020B0503020204020204" pitchFamily="34" charset="-122"/>
              </a:rPr>
              <a:t>Δ</a:t>
            </a:r>
            <a:r>
              <a:rPr lang="en-US" altLang="zh-CN" sz="1600" b="1" baseline="30000" dirty="0">
                <a:solidFill>
                  <a:srgbClr val="FF0000"/>
                </a:solidFill>
                <a:latin typeface="微软雅黑" panose="020B0503020204020204" pitchFamily="34" charset="-122"/>
                <a:ea typeface="微软雅黑" panose="020B0503020204020204" pitchFamily="34" charset="-122"/>
              </a:rPr>
              <a:t>2</a:t>
            </a:r>
            <a:r>
              <a:rPr lang="en-US" altLang="zh-CN" sz="1600" b="1" dirty="0">
                <a:solidFill>
                  <a:srgbClr val="FF0000"/>
                </a:solidFill>
                <a:latin typeface="微软雅黑" panose="020B0503020204020204" pitchFamily="34" charset="-122"/>
                <a:ea typeface="微软雅黑" panose="020B0503020204020204" pitchFamily="34" charset="-122"/>
              </a:rPr>
              <a:t>-</a:t>
            </a:r>
            <a:r>
              <a:rPr lang="zh-CN" altLang="en-US" sz="1600" b="1" dirty="0">
                <a:solidFill>
                  <a:srgbClr val="FF0000"/>
                </a:solidFill>
                <a:latin typeface="微软雅黑" panose="020B0503020204020204" pitchFamily="34" charset="-122"/>
                <a:ea typeface="微软雅黑" panose="020B0503020204020204" pitchFamily="34" charset="-122"/>
              </a:rPr>
              <a:t>十二烯酰</a:t>
            </a:r>
            <a:r>
              <a:rPr lang="en-US" altLang="zh-CN" sz="1600" b="1" dirty="0">
                <a:solidFill>
                  <a:srgbClr val="FF0000"/>
                </a:solidFill>
                <a:latin typeface="微软雅黑" panose="020B0503020204020204" pitchFamily="34" charset="-122"/>
                <a:ea typeface="微软雅黑" panose="020B0503020204020204" pitchFamily="34" charset="-122"/>
              </a:rPr>
              <a:t> -CoA</a:t>
            </a:r>
            <a:endParaRPr lang="zh-CN" altLang="en-US" sz="1600" b="1" dirty="0">
              <a:solidFill>
                <a:srgbClr val="FF0000"/>
              </a:solidFill>
              <a:latin typeface="微软雅黑" panose="020B0503020204020204" pitchFamily="34" charset="-122"/>
              <a:ea typeface="微软雅黑" panose="020B0503020204020204" pitchFamily="34" charset="-122"/>
            </a:endParaRPr>
          </a:p>
        </p:txBody>
      </p:sp>
      <p:sp>
        <p:nvSpPr>
          <p:cNvPr id="20" name="矩形 19"/>
          <p:cNvSpPr/>
          <p:nvPr/>
        </p:nvSpPr>
        <p:spPr>
          <a:xfrm>
            <a:off x="6330188" y="970690"/>
            <a:ext cx="731290" cy="338554"/>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β</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氧化</a:t>
            </a:r>
            <a:endParaRPr lang="zh-CN" altLang="en-US" sz="1600" dirty="0"/>
          </a:p>
        </p:txBody>
      </p:sp>
      <p:sp>
        <p:nvSpPr>
          <p:cNvPr id="21" name="矩形 20"/>
          <p:cNvSpPr/>
          <p:nvPr/>
        </p:nvSpPr>
        <p:spPr>
          <a:xfrm>
            <a:off x="6353645" y="5144122"/>
            <a:ext cx="731290" cy="338554"/>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β</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氧化</a:t>
            </a:r>
            <a:endParaRPr lang="zh-CN" altLang="en-US" sz="1600" dirty="0"/>
          </a:p>
        </p:txBody>
      </p:sp>
      <p:sp>
        <p:nvSpPr>
          <p:cNvPr id="4" name="文本框 3"/>
          <p:cNvSpPr txBox="1"/>
          <p:nvPr/>
        </p:nvSpPr>
        <p:spPr>
          <a:xfrm>
            <a:off x="7253079" y="2825629"/>
            <a:ext cx="276038" cy="276999"/>
          </a:xfrm>
          <a:prstGeom prst="rect">
            <a:avLst/>
          </a:prstGeom>
          <a:noFill/>
        </p:spPr>
        <p:txBody>
          <a:bodyPr wrap="none" rtlCol="0">
            <a:spAutoFit/>
          </a:bodyPr>
          <a:lstStyle/>
          <a:p>
            <a:r>
              <a:rPr lang="en-US" altLang="zh-CN" sz="1200" b="1" dirty="0"/>
              <a:t>α</a:t>
            </a:r>
            <a:endParaRPr lang="zh-CN" altLang="en-US" sz="1200" b="1" dirty="0"/>
          </a:p>
        </p:txBody>
      </p:sp>
      <p:sp>
        <p:nvSpPr>
          <p:cNvPr id="12" name="文本框 11"/>
          <p:cNvSpPr txBox="1"/>
          <p:nvPr/>
        </p:nvSpPr>
        <p:spPr>
          <a:xfrm>
            <a:off x="7084935" y="2619765"/>
            <a:ext cx="268022" cy="276999"/>
          </a:xfrm>
          <a:prstGeom prst="rect">
            <a:avLst/>
          </a:prstGeom>
          <a:noFill/>
        </p:spPr>
        <p:txBody>
          <a:bodyPr wrap="none" rtlCol="0">
            <a:spAutoFit/>
          </a:bodyPr>
          <a:lstStyle/>
          <a:p>
            <a:r>
              <a:rPr lang="en-US" altLang="zh-CN" sz="1200" b="1" dirty="0"/>
              <a:t>β</a:t>
            </a:r>
            <a:endParaRPr lang="zh-CN" altLang="en-US" sz="1200" b="1" dirty="0"/>
          </a:p>
        </p:txBody>
      </p:sp>
      <p:sp>
        <p:nvSpPr>
          <p:cNvPr id="13" name="文本框 12"/>
          <p:cNvSpPr txBox="1"/>
          <p:nvPr/>
        </p:nvSpPr>
        <p:spPr>
          <a:xfrm>
            <a:off x="7424333" y="4552305"/>
            <a:ext cx="276038" cy="276999"/>
          </a:xfrm>
          <a:prstGeom prst="rect">
            <a:avLst/>
          </a:prstGeom>
          <a:noFill/>
        </p:spPr>
        <p:txBody>
          <a:bodyPr wrap="none" rtlCol="0">
            <a:spAutoFit/>
          </a:bodyPr>
          <a:lstStyle/>
          <a:p>
            <a:r>
              <a:rPr lang="en-US" altLang="zh-CN" sz="1200" b="1" dirty="0"/>
              <a:t>α</a:t>
            </a:r>
            <a:endParaRPr lang="zh-CN" altLang="en-US" sz="1200" b="1" dirty="0"/>
          </a:p>
        </p:txBody>
      </p:sp>
      <p:sp>
        <p:nvSpPr>
          <p:cNvPr id="14" name="文本框 13"/>
          <p:cNvSpPr txBox="1"/>
          <p:nvPr/>
        </p:nvSpPr>
        <p:spPr>
          <a:xfrm>
            <a:off x="7237335" y="4421857"/>
            <a:ext cx="268022" cy="276999"/>
          </a:xfrm>
          <a:prstGeom prst="rect">
            <a:avLst/>
          </a:prstGeom>
          <a:noFill/>
        </p:spPr>
        <p:txBody>
          <a:bodyPr wrap="none" rtlCol="0">
            <a:spAutoFit/>
          </a:bodyPr>
          <a:lstStyle/>
          <a:p>
            <a:r>
              <a:rPr lang="en-US" altLang="zh-CN" sz="1200" b="1" dirty="0"/>
              <a:t>β</a:t>
            </a:r>
            <a:endParaRPr lang="zh-CN" altLang="en-US" sz="1200" b="1" dirty="0"/>
          </a:p>
        </p:txBody>
      </p:sp>
    </p:spTree>
  </p:cSld>
  <p:clrMapOvr>
    <a:masterClrMapping/>
  </p:clrMapOvr>
  <p:transition>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914400" y="6248400"/>
            <a:ext cx="254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8915" name="Rectangle 3"/>
          <p:cNvSpPr>
            <a:spLocks noChangeArrowheads="1"/>
          </p:cNvSpPr>
          <p:nvPr/>
        </p:nvSpPr>
        <p:spPr bwMode="auto">
          <a:xfrm>
            <a:off x="4165600" y="6248400"/>
            <a:ext cx="386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38916" name="Rectangle 4"/>
          <p:cNvSpPr>
            <a:spLocks noGrp="1" noChangeArrowheads="1"/>
          </p:cNvSpPr>
          <p:nvPr>
            <p:ph type="title" idx="4294967295"/>
          </p:nvPr>
        </p:nvSpPr>
        <p:spPr>
          <a:xfrm>
            <a:off x="3695701" y="506413"/>
            <a:ext cx="5568951" cy="690562"/>
          </a:xfrm>
          <a:solidFill>
            <a:srgbClr val="99CCFF"/>
          </a:solidFill>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pPr eaLnBrk="1" hangingPunct="1"/>
            <a:r>
              <a:rPr lang="zh-CN" altLang="en-US" sz="3200" b="1" i="1" smtClean="0">
                <a:solidFill>
                  <a:schemeClr val="tx1"/>
                </a:solidFill>
                <a:latin typeface="华文楷体" pitchFamily="2" charset="-122"/>
                <a:ea typeface="华文楷体" pitchFamily="2" charset="-122"/>
              </a:rPr>
              <a:t>不饱和脂肪酸的</a:t>
            </a:r>
            <a:r>
              <a:rPr lang="en-US" altLang="zh-CN" sz="3200" b="1" i="1" smtClean="0">
                <a:solidFill>
                  <a:schemeClr val="tx1"/>
                </a:solidFill>
                <a:latin typeface="华文楷体" pitchFamily="2" charset="-122"/>
                <a:ea typeface="华文楷体" pitchFamily="2" charset="-122"/>
              </a:rPr>
              <a:t>β-</a:t>
            </a:r>
            <a:r>
              <a:rPr lang="zh-CN" altLang="en-US" sz="3200" b="1" i="1" smtClean="0">
                <a:solidFill>
                  <a:schemeClr val="tx1"/>
                </a:solidFill>
                <a:latin typeface="华文楷体" pitchFamily="2" charset="-122"/>
                <a:ea typeface="华文楷体" pitchFamily="2" charset="-122"/>
              </a:rPr>
              <a:t>氧化</a:t>
            </a:r>
            <a:endParaRPr lang="en-US" altLang="zh-CN" sz="3200" b="1" i="1" smtClean="0">
              <a:solidFill>
                <a:schemeClr val="tx1"/>
              </a:solidFill>
              <a:latin typeface="华文楷体" pitchFamily="2" charset="-122"/>
              <a:ea typeface="华文楷体" pitchFamily="2" charset="-122"/>
            </a:endParaRPr>
          </a:p>
        </p:txBody>
      </p:sp>
      <p:sp>
        <p:nvSpPr>
          <p:cNvPr id="673797" name="Rectangle 5"/>
          <p:cNvSpPr>
            <a:spLocks noGrp="1" noChangeArrowheads="1"/>
          </p:cNvSpPr>
          <p:nvPr>
            <p:ph type="body" idx="4294967295"/>
          </p:nvPr>
        </p:nvSpPr>
        <p:spPr>
          <a:xfrm>
            <a:off x="429491" y="1700213"/>
            <a:ext cx="11499273" cy="3600450"/>
          </a:xfrm>
        </p:spPr>
        <p:txBody>
          <a:bodyPr lIns="90488" tIns="44450" rIns="90488" bIns="44450"/>
          <a:lstStyle/>
          <a:p>
            <a:pPr eaLnBrk="1" hangingPunct="1">
              <a:lnSpc>
                <a:spcPct val="90000"/>
              </a:lnSpc>
              <a:buClr>
                <a:srgbClr val="FF0000"/>
              </a:buClr>
              <a:buFont typeface="Wingdings" pitchFamily="2" charset="2"/>
              <a:buChar char="«"/>
            </a:pPr>
            <a:r>
              <a:rPr lang="zh-CN" altLang="en-US" sz="2800" dirty="0" smtClean="0">
                <a:latin typeface="华文楷体" pitchFamily="2" charset="-122"/>
                <a:ea typeface="华文楷体" pitchFamily="2" charset="-122"/>
              </a:rPr>
              <a:t>不饱和脂肪酸在进行氧化的时候所遇到的问题是如何处理它本来就有的位置不对的顺式双键，当顺式的双键进入</a:t>
            </a:r>
            <a:r>
              <a:rPr lang="en-US" altLang="zh-CN" sz="2800" dirty="0" smtClean="0">
                <a:latin typeface="华文楷体" pitchFamily="2" charset="-122"/>
                <a:ea typeface="华文楷体" pitchFamily="2" charset="-122"/>
              </a:rPr>
              <a:t>β</a:t>
            </a:r>
            <a:r>
              <a:rPr lang="zh-CN" altLang="en-US" sz="2800" dirty="0" smtClean="0">
                <a:latin typeface="华文楷体" pitchFamily="2" charset="-122"/>
                <a:ea typeface="华文楷体" pitchFamily="2" charset="-122"/>
              </a:rPr>
              <a:t>号位以后，将不能继续进行</a:t>
            </a:r>
            <a:r>
              <a:rPr lang="en-US" altLang="zh-CN" sz="2800" dirty="0" smtClean="0">
                <a:latin typeface="华文楷体" pitchFamily="2" charset="-122"/>
                <a:ea typeface="华文楷体" pitchFamily="2" charset="-122"/>
              </a:rPr>
              <a:t>β-</a:t>
            </a:r>
            <a:r>
              <a:rPr lang="zh-CN" altLang="en-US" sz="2800" dirty="0" smtClean="0">
                <a:latin typeface="华文楷体" pitchFamily="2" charset="-122"/>
                <a:ea typeface="华文楷体" pitchFamily="2" charset="-122"/>
              </a:rPr>
              <a:t>氧化。这时需要特殊的异构酶即烯脂酰</a:t>
            </a:r>
            <a:r>
              <a:rPr lang="en-US" altLang="zh-CN" sz="2800" dirty="0" smtClean="0">
                <a:latin typeface="华文楷体" pitchFamily="2" charset="-122"/>
                <a:ea typeface="华文楷体" pitchFamily="2" charset="-122"/>
              </a:rPr>
              <a:t>-CoA</a:t>
            </a:r>
            <a:r>
              <a:rPr lang="zh-CN" altLang="en-US" sz="2800" dirty="0" smtClean="0">
                <a:latin typeface="华文楷体" pitchFamily="2" charset="-122"/>
                <a:ea typeface="华文楷体" pitchFamily="2" charset="-122"/>
              </a:rPr>
              <a:t>异构酶来改变双键的位置和性质，使之转变为可被脂酰</a:t>
            </a:r>
            <a:r>
              <a:rPr lang="en-US" altLang="zh-CN" sz="2800" dirty="0" smtClean="0">
                <a:latin typeface="华文楷体" pitchFamily="2" charset="-122"/>
                <a:ea typeface="华文楷体" pitchFamily="2" charset="-122"/>
              </a:rPr>
              <a:t>-CoA</a:t>
            </a:r>
            <a:r>
              <a:rPr lang="zh-CN" altLang="en-US" sz="2800" dirty="0" smtClean="0">
                <a:latin typeface="华文楷体" pitchFamily="2" charset="-122"/>
                <a:ea typeface="华文楷体" pitchFamily="2" charset="-122"/>
              </a:rPr>
              <a:t>脱氢酶识别的</a:t>
            </a:r>
            <a:r>
              <a:rPr lang="en-US" altLang="zh-CN" sz="2800" dirty="0" smtClean="0">
                <a:latin typeface="华文楷体" pitchFamily="2" charset="-122"/>
                <a:ea typeface="华文楷体" pitchFamily="2" charset="-122"/>
              </a:rPr>
              <a:t>2</a:t>
            </a:r>
            <a:r>
              <a:rPr lang="zh-CN" altLang="en-US" sz="2800" dirty="0" smtClean="0">
                <a:latin typeface="华文楷体" pitchFamily="2" charset="-122"/>
                <a:ea typeface="华文楷体" pitchFamily="2" charset="-122"/>
              </a:rPr>
              <a:t>号位的反式双键，这样</a:t>
            </a:r>
            <a:r>
              <a:rPr lang="en-US" altLang="zh-CN" sz="2800" dirty="0" smtClean="0">
                <a:latin typeface="华文楷体" pitchFamily="2" charset="-122"/>
                <a:ea typeface="华文楷体" pitchFamily="2" charset="-122"/>
              </a:rPr>
              <a:t>β-</a:t>
            </a:r>
            <a:r>
              <a:rPr lang="zh-CN" altLang="en-US" sz="2800" dirty="0" smtClean="0">
                <a:latin typeface="华文楷体" pitchFamily="2" charset="-122"/>
                <a:ea typeface="华文楷体" pitchFamily="2" charset="-122"/>
              </a:rPr>
              <a:t>氧化又可以继续了。</a:t>
            </a:r>
            <a:endParaRPr lang="en-US" altLang="zh-CN" sz="2800" dirty="0" smtClean="0">
              <a:latin typeface="华文楷体" pitchFamily="2" charset="-122"/>
              <a:ea typeface="华文楷体" pitchFamily="2" charset="-122"/>
            </a:endParaRPr>
          </a:p>
        </p:txBody>
      </p:sp>
    </p:spTree>
    <p:extLst>
      <p:ext uri="{BB962C8B-B14F-4D97-AF65-F5344CB8AC3E}">
        <p14:creationId xmlns:p14="http://schemas.microsoft.com/office/powerpoint/2010/main" val="363544133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673797">
                                            <p:txEl>
                                              <p:pRg st="0" end="0"/>
                                            </p:txEl>
                                          </p:spTgt>
                                        </p:tgtEl>
                                        <p:attrNameLst>
                                          <p:attrName>style.visibility</p:attrName>
                                        </p:attrNameLst>
                                      </p:cBhvr>
                                      <p:to>
                                        <p:strVal val="visible"/>
                                      </p:to>
                                    </p:set>
                                    <p:animEffect transition="in" filter="box(out)">
                                      <p:cBhvr>
                                        <p:cTn id="7" dur="500"/>
                                        <p:tgtEl>
                                          <p:spTgt spid="67379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3797"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5689455" y="0"/>
            <a:ext cx="5912566" cy="6858000"/>
          </a:xfrm>
          <a:prstGeom prst="rect">
            <a:avLst/>
          </a:prstGeom>
          <a:ln>
            <a:noFill/>
          </a:ln>
        </p:spPr>
      </p:pic>
      <p:sp>
        <p:nvSpPr>
          <p:cNvPr id="8" name="矩形 7"/>
          <p:cNvSpPr/>
          <p:nvPr/>
        </p:nvSpPr>
        <p:spPr>
          <a:xfrm>
            <a:off x="4425488" y="1650231"/>
            <a:ext cx="2278045" cy="307777"/>
          </a:xfrm>
          <a:prstGeom prst="rect">
            <a:avLst/>
          </a:prstGeom>
        </p:spPr>
        <p:txBody>
          <a:bodyPr wrap="square">
            <a:spAutoFit/>
          </a:bodyPr>
          <a:lstStyle/>
          <a:p>
            <a:r>
              <a:rPr lang="en-US" altLang="zh-CN" sz="1400" b="1" dirty="0">
                <a:solidFill>
                  <a:srgbClr val="00B0F0"/>
                </a:solidFill>
                <a:latin typeface="微软雅黑" panose="020B0503020204020204" pitchFamily="34" charset="-122"/>
                <a:ea typeface="微软雅黑" panose="020B0503020204020204" pitchFamily="34" charset="-122"/>
              </a:rPr>
              <a:t>Δ</a:t>
            </a:r>
            <a:r>
              <a:rPr lang="en-US" altLang="zh-CN" sz="1400" b="1" baseline="30000" dirty="0">
                <a:solidFill>
                  <a:srgbClr val="00B0F0"/>
                </a:solidFill>
                <a:latin typeface="微软雅黑" panose="020B0503020204020204" pitchFamily="34" charset="-122"/>
                <a:ea typeface="微软雅黑" panose="020B0503020204020204" pitchFamily="34" charset="-122"/>
              </a:rPr>
              <a:t>3</a:t>
            </a:r>
            <a:r>
              <a:rPr lang="zh-CN" altLang="en-US" sz="1400" b="1" dirty="0">
                <a:solidFill>
                  <a:srgbClr val="00B0F0"/>
                </a:solidFill>
                <a:latin typeface="微软雅黑" panose="020B0503020204020204" pitchFamily="34" charset="-122"/>
                <a:ea typeface="微软雅黑" panose="020B0503020204020204" pitchFamily="34" charset="-122"/>
              </a:rPr>
              <a:t>，</a:t>
            </a:r>
            <a:r>
              <a:rPr lang="en-US" altLang="zh-CN" sz="1400" b="1" dirty="0">
                <a:solidFill>
                  <a:srgbClr val="00B0F0"/>
                </a:solidFill>
                <a:latin typeface="微软雅黑" panose="020B0503020204020204" pitchFamily="34" charset="-122"/>
                <a:ea typeface="微软雅黑" panose="020B0503020204020204" pitchFamily="34" charset="-122"/>
              </a:rPr>
              <a:t>Δ</a:t>
            </a:r>
            <a:r>
              <a:rPr lang="en-US" altLang="zh-CN" sz="1400" b="1" baseline="30000" dirty="0">
                <a:solidFill>
                  <a:srgbClr val="00B0F0"/>
                </a:solidFill>
                <a:latin typeface="微软雅黑" panose="020B0503020204020204" pitchFamily="34" charset="-122"/>
                <a:ea typeface="微软雅黑" panose="020B0503020204020204" pitchFamily="34" charset="-122"/>
              </a:rPr>
              <a:t>2</a:t>
            </a:r>
            <a:r>
              <a:rPr lang="en-US" altLang="zh-CN" sz="1400" b="1" dirty="0">
                <a:solidFill>
                  <a:srgbClr val="00B0F0"/>
                </a:solidFill>
                <a:latin typeface="微软雅黑" panose="020B0503020204020204" pitchFamily="34" charset="-122"/>
                <a:ea typeface="微软雅黑" panose="020B0503020204020204" pitchFamily="34" charset="-122"/>
              </a:rPr>
              <a:t>-</a:t>
            </a:r>
            <a:r>
              <a:rPr lang="zh-CN" altLang="en-US" sz="1400" b="1" dirty="0">
                <a:solidFill>
                  <a:srgbClr val="00B0F0"/>
                </a:solidFill>
                <a:latin typeface="微软雅黑" panose="020B0503020204020204" pitchFamily="34" charset="-122"/>
                <a:ea typeface="微软雅黑" panose="020B0503020204020204" pitchFamily="34" charset="-122"/>
              </a:rPr>
              <a:t>烯酰</a:t>
            </a:r>
            <a:r>
              <a:rPr lang="en-US" altLang="zh-CN" sz="1400" b="1" dirty="0">
                <a:solidFill>
                  <a:srgbClr val="00B0F0"/>
                </a:solidFill>
                <a:latin typeface="微软雅黑" panose="020B0503020204020204" pitchFamily="34" charset="-122"/>
                <a:ea typeface="微软雅黑" panose="020B0503020204020204" pitchFamily="34" charset="-122"/>
              </a:rPr>
              <a:t>-CoA</a:t>
            </a:r>
            <a:r>
              <a:rPr lang="en-US" altLang="zh-CN" sz="1400" b="1" dirty="0">
                <a:solidFill>
                  <a:srgbClr val="FF0000"/>
                </a:solidFill>
                <a:latin typeface="微软雅黑" panose="020B0503020204020204" pitchFamily="34" charset="-122"/>
                <a:ea typeface="微软雅黑" panose="020B0503020204020204" pitchFamily="34" charset="-122"/>
              </a:rPr>
              <a:t> </a:t>
            </a:r>
            <a:r>
              <a:rPr lang="zh-CN" altLang="en-US" sz="1400" b="1" dirty="0">
                <a:solidFill>
                  <a:srgbClr val="FF0000"/>
                </a:solidFill>
                <a:latin typeface="微软雅黑" panose="020B0503020204020204" pitchFamily="34" charset="-122"/>
                <a:ea typeface="微软雅黑" panose="020B0503020204020204" pitchFamily="34" charset="-122"/>
              </a:rPr>
              <a:t>异构酶</a:t>
            </a:r>
          </a:p>
        </p:txBody>
      </p:sp>
      <p:sp>
        <p:nvSpPr>
          <p:cNvPr id="9" name="矩形 8"/>
          <p:cNvSpPr/>
          <p:nvPr/>
        </p:nvSpPr>
        <p:spPr>
          <a:xfrm>
            <a:off x="4565608" y="4033616"/>
            <a:ext cx="2308666" cy="307777"/>
          </a:xfrm>
          <a:prstGeom prst="rect">
            <a:avLst/>
          </a:prstGeom>
        </p:spPr>
        <p:txBody>
          <a:bodyPr wrap="square">
            <a:spAutoFit/>
          </a:bodyPr>
          <a:lstStyle/>
          <a:p>
            <a:r>
              <a:rPr lang="en-US" altLang="zh-CN" sz="1400" b="1" dirty="0">
                <a:solidFill>
                  <a:srgbClr val="00B0F0"/>
                </a:solidFill>
                <a:latin typeface="微软雅黑" panose="020B0503020204020204" pitchFamily="34" charset="-122"/>
                <a:ea typeface="微软雅黑" panose="020B0503020204020204" pitchFamily="34" charset="-122"/>
              </a:rPr>
              <a:t>2</a:t>
            </a:r>
            <a:r>
              <a:rPr lang="zh-CN" altLang="en-US" sz="1400" b="1" dirty="0">
                <a:solidFill>
                  <a:srgbClr val="00B0F0"/>
                </a:solidFill>
                <a:latin typeface="微软雅黑" panose="020B0503020204020204" pitchFamily="34" charset="-122"/>
                <a:ea typeface="微软雅黑" panose="020B0503020204020204" pitchFamily="34" charset="-122"/>
              </a:rPr>
              <a:t>、</a:t>
            </a:r>
            <a:r>
              <a:rPr lang="en-US" altLang="zh-CN" sz="1400" b="1" dirty="0">
                <a:solidFill>
                  <a:srgbClr val="00B0F0"/>
                </a:solidFill>
                <a:latin typeface="微软雅黑" panose="020B0503020204020204" pitchFamily="34" charset="-122"/>
                <a:ea typeface="微软雅黑" panose="020B0503020204020204" pitchFamily="34" charset="-122"/>
              </a:rPr>
              <a:t>4</a:t>
            </a:r>
            <a:r>
              <a:rPr lang="zh-CN" altLang="en-US" sz="1400" b="1" dirty="0">
                <a:solidFill>
                  <a:srgbClr val="00B0F0"/>
                </a:solidFill>
                <a:latin typeface="微软雅黑" panose="020B0503020204020204" pitchFamily="34" charset="-122"/>
                <a:ea typeface="微软雅黑" panose="020B0503020204020204" pitchFamily="34" charset="-122"/>
              </a:rPr>
              <a:t>二烯酰</a:t>
            </a:r>
            <a:r>
              <a:rPr lang="en-US" altLang="zh-CN" sz="1400" b="1" dirty="0">
                <a:solidFill>
                  <a:srgbClr val="00B0F0"/>
                </a:solidFill>
                <a:latin typeface="微软雅黑" panose="020B0503020204020204" pitchFamily="34" charset="-122"/>
                <a:ea typeface="微软雅黑" panose="020B0503020204020204" pitchFamily="34" charset="-122"/>
              </a:rPr>
              <a:t>-CoA</a:t>
            </a:r>
            <a:r>
              <a:rPr lang="zh-CN" altLang="en-US" sz="1400" b="1" dirty="0">
                <a:solidFill>
                  <a:srgbClr val="FF0000"/>
                </a:solidFill>
                <a:latin typeface="微软雅黑" panose="020B0503020204020204" pitchFamily="34" charset="-122"/>
                <a:ea typeface="微软雅黑" panose="020B0503020204020204" pitchFamily="34" charset="-122"/>
              </a:rPr>
              <a:t>还原酶</a:t>
            </a:r>
          </a:p>
        </p:txBody>
      </p:sp>
      <p:sp>
        <p:nvSpPr>
          <p:cNvPr id="6" name="矩形 5"/>
          <p:cNvSpPr/>
          <p:nvPr/>
        </p:nvSpPr>
        <p:spPr>
          <a:xfrm>
            <a:off x="5463912" y="5226444"/>
            <a:ext cx="1587294" cy="307777"/>
          </a:xfrm>
          <a:prstGeom prst="rect">
            <a:avLst/>
          </a:prstGeom>
        </p:spPr>
        <p:txBody>
          <a:bodyPr wrap="none">
            <a:spAutoFit/>
          </a:bodyPr>
          <a:lstStyle/>
          <a:p>
            <a:r>
              <a:rPr lang="zh-CN" altLang="en-US" sz="1400" b="1" dirty="0">
                <a:solidFill>
                  <a:srgbClr val="00B0F0"/>
                </a:solidFill>
                <a:latin typeface="微软雅黑" panose="020B0503020204020204" pitchFamily="34" charset="-122"/>
                <a:ea typeface="微软雅黑" panose="020B0503020204020204" pitchFamily="34" charset="-122"/>
              </a:rPr>
              <a:t>烯酰</a:t>
            </a:r>
            <a:r>
              <a:rPr lang="en-US" altLang="zh-CN" sz="1400" b="1" dirty="0">
                <a:solidFill>
                  <a:srgbClr val="00B0F0"/>
                </a:solidFill>
                <a:latin typeface="微软雅黑" panose="020B0503020204020204" pitchFamily="34" charset="-122"/>
                <a:ea typeface="微软雅黑" panose="020B0503020204020204" pitchFamily="34" charset="-122"/>
              </a:rPr>
              <a:t>-CoA </a:t>
            </a:r>
            <a:r>
              <a:rPr lang="zh-CN" altLang="en-US" sz="1400" b="1" dirty="0">
                <a:solidFill>
                  <a:srgbClr val="FF0000"/>
                </a:solidFill>
                <a:latin typeface="微软雅黑" panose="020B0503020204020204" pitchFamily="34" charset="-122"/>
                <a:ea typeface="微软雅黑" panose="020B0503020204020204" pitchFamily="34" charset="-122"/>
              </a:rPr>
              <a:t>异构酶</a:t>
            </a:r>
          </a:p>
        </p:txBody>
      </p:sp>
      <p:sp>
        <p:nvSpPr>
          <p:cNvPr id="15" name="文本框 14"/>
          <p:cNvSpPr txBox="1"/>
          <p:nvPr/>
        </p:nvSpPr>
        <p:spPr>
          <a:xfrm>
            <a:off x="10498676" y="876134"/>
            <a:ext cx="1175322" cy="307777"/>
          </a:xfrm>
          <a:prstGeom prst="rect">
            <a:avLst/>
          </a:prstGeom>
          <a:noFill/>
          <a:ln>
            <a:solidFill>
              <a:srgbClr val="FF0000"/>
            </a:solidFill>
          </a:ln>
        </p:spPr>
        <p:txBody>
          <a:bodyPr wrap="none" rtlCol="0">
            <a:spAutoFit/>
          </a:bodyPr>
          <a:lstStyle/>
          <a:p>
            <a:r>
              <a:rPr lang="zh-CN" altLang="en-US" sz="1400" b="1" dirty="0">
                <a:solidFill>
                  <a:srgbClr val="FF0000"/>
                </a:solidFill>
                <a:latin typeface="微软雅黑" panose="020B0503020204020204" pitchFamily="34" charset="-122"/>
                <a:ea typeface="微软雅黑" panose="020B0503020204020204" pitchFamily="34" charset="-122"/>
              </a:rPr>
              <a:t>亚油酰</a:t>
            </a:r>
            <a:r>
              <a:rPr lang="en-US" altLang="zh-CN" sz="1400" b="1" dirty="0">
                <a:solidFill>
                  <a:srgbClr val="FF0000"/>
                </a:solidFill>
                <a:latin typeface="微软雅黑" panose="020B0503020204020204" pitchFamily="34" charset="-122"/>
                <a:ea typeface="微软雅黑" panose="020B0503020204020204" pitchFamily="34" charset="-122"/>
              </a:rPr>
              <a:t>-CoA</a:t>
            </a:r>
            <a:endParaRPr lang="zh-CN" altLang="en-US" sz="1400" b="1" dirty="0">
              <a:solidFill>
                <a:srgbClr val="FF0000"/>
              </a:solidFill>
              <a:latin typeface="微软雅黑" panose="020B0503020204020204" pitchFamily="34" charset="-122"/>
              <a:ea typeface="微软雅黑" panose="020B0503020204020204" pitchFamily="34" charset="-122"/>
            </a:endParaRPr>
          </a:p>
        </p:txBody>
      </p:sp>
      <p:sp>
        <p:nvSpPr>
          <p:cNvPr id="16" name="矩形 15"/>
          <p:cNvSpPr/>
          <p:nvPr/>
        </p:nvSpPr>
        <p:spPr>
          <a:xfrm>
            <a:off x="1053390" y="2839341"/>
            <a:ext cx="2838296" cy="954107"/>
          </a:xfrm>
          <a:prstGeom prst="rect">
            <a:avLst/>
          </a:prstGeom>
          <a:solidFill>
            <a:schemeClr val="accent6">
              <a:lumMod val="40000"/>
              <a:lumOff val="60000"/>
            </a:schemeClr>
          </a:solidFill>
        </p:spPr>
        <p:txBody>
          <a:bodyPr wrap="square">
            <a:spAutoFit/>
          </a:bodyPr>
          <a:lstStyle/>
          <a:p>
            <a:pPr lvl="0" algn="l">
              <a:buClrTx/>
              <a:buSzTx/>
              <a:buFont typeface="Arial" panose="020B0604020202020204" pitchFamily="34" charset="0"/>
            </a:pPr>
            <a:r>
              <a:rPr lang="zh-CN" altLang="en-US" sz="2800" b="1" dirty="0">
                <a:latin typeface="微软雅黑" panose="020B0503020204020204" pitchFamily="34" charset="-122"/>
                <a:ea typeface="微软雅黑" panose="020B0503020204020204" pitchFamily="34" charset="-122"/>
                <a:sym typeface="+mn-ea"/>
              </a:rPr>
              <a:t>多不饱和脂肪酸</a:t>
            </a:r>
          </a:p>
          <a:p>
            <a:pPr lvl="0" algn="l">
              <a:buClrTx/>
              <a:buSzTx/>
              <a:buFont typeface="Arial" panose="020B0604020202020204" pitchFamily="34" charset="0"/>
            </a:pPr>
            <a:r>
              <a:rPr lang="zh-CN" altLang="en-US" sz="2800" b="1" dirty="0">
                <a:latin typeface="微软雅黑" panose="020B0503020204020204" pitchFamily="34" charset="-122"/>
                <a:ea typeface="微软雅黑" panose="020B0503020204020204" pitchFamily="34" charset="-122"/>
                <a:sym typeface="+mn-ea"/>
              </a:rPr>
              <a:t>   （亚油酸）</a:t>
            </a:r>
          </a:p>
        </p:txBody>
      </p:sp>
      <p:sp>
        <p:nvSpPr>
          <p:cNvPr id="10" name="文本框 9"/>
          <p:cNvSpPr txBox="1"/>
          <p:nvPr/>
        </p:nvSpPr>
        <p:spPr>
          <a:xfrm>
            <a:off x="8319531" y="6035425"/>
            <a:ext cx="276038" cy="276999"/>
          </a:xfrm>
          <a:prstGeom prst="rect">
            <a:avLst/>
          </a:prstGeom>
          <a:noFill/>
        </p:spPr>
        <p:txBody>
          <a:bodyPr wrap="none" rtlCol="0">
            <a:spAutoFit/>
          </a:bodyPr>
          <a:lstStyle/>
          <a:p>
            <a:r>
              <a:rPr lang="en-US" altLang="zh-CN" sz="1200" b="1" dirty="0"/>
              <a:t>α</a:t>
            </a:r>
            <a:endParaRPr lang="zh-CN" altLang="en-US" sz="1200" b="1" dirty="0"/>
          </a:p>
        </p:txBody>
      </p:sp>
      <p:sp>
        <p:nvSpPr>
          <p:cNvPr id="12" name="文本框 11"/>
          <p:cNvSpPr txBox="1"/>
          <p:nvPr/>
        </p:nvSpPr>
        <p:spPr>
          <a:xfrm>
            <a:off x="7953046" y="5476165"/>
            <a:ext cx="268022" cy="276999"/>
          </a:xfrm>
          <a:prstGeom prst="rect">
            <a:avLst/>
          </a:prstGeom>
          <a:noFill/>
        </p:spPr>
        <p:txBody>
          <a:bodyPr wrap="none" rtlCol="0">
            <a:spAutoFit/>
          </a:bodyPr>
          <a:lstStyle/>
          <a:p>
            <a:r>
              <a:rPr lang="en-US" altLang="zh-CN" sz="1200" b="1" dirty="0"/>
              <a:t>β</a:t>
            </a:r>
            <a:endParaRPr lang="zh-CN" altLang="en-US" sz="1200" b="1" dirty="0"/>
          </a:p>
        </p:txBody>
      </p:sp>
      <p:sp>
        <p:nvSpPr>
          <p:cNvPr id="20" name="矩形 19"/>
          <p:cNvSpPr/>
          <p:nvPr/>
        </p:nvSpPr>
        <p:spPr>
          <a:xfrm>
            <a:off x="6076348" y="622679"/>
            <a:ext cx="731290" cy="338554"/>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β</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氧化</a:t>
            </a:r>
            <a:endParaRPr lang="zh-CN" altLang="en-US" sz="1600" dirty="0"/>
          </a:p>
        </p:txBody>
      </p:sp>
      <p:sp>
        <p:nvSpPr>
          <p:cNvPr id="2" name="矩形 1"/>
          <p:cNvSpPr/>
          <p:nvPr/>
        </p:nvSpPr>
        <p:spPr>
          <a:xfrm>
            <a:off x="6209434" y="6228957"/>
            <a:ext cx="731290" cy="338554"/>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cs typeface="Times New Roman" panose="02020603050405020304" pitchFamily="18" charset="0"/>
              </a:rPr>
              <a:t>β</a:t>
            </a:r>
            <a:r>
              <a:rPr lang="zh-CN" altLang="en-US" sz="1600" b="1" dirty="0">
                <a:latin typeface="微软雅黑" panose="020B0503020204020204" pitchFamily="34" charset="-122"/>
                <a:ea typeface="微软雅黑" panose="020B0503020204020204" pitchFamily="34" charset="-122"/>
                <a:cs typeface="Times New Roman" panose="02020603050405020304" pitchFamily="18" charset="0"/>
              </a:rPr>
              <a:t>氧化</a:t>
            </a:r>
            <a:endParaRPr lang="zh-CN" altLang="en-US" sz="1600" dirty="0"/>
          </a:p>
        </p:txBody>
      </p:sp>
    </p:spTree>
  </p:cSld>
  <p:clrMapOvr>
    <a:masterClrMapping/>
  </p:clrMapOvr>
  <p:transition>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p:cNvPicPr>
            <a:picLocks noChangeAspect="1"/>
          </p:cNvPicPr>
          <p:nvPr/>
        </p:nvPicPr>
        <p:blipFill>
          <a:blip r:embed="rId3">
            <a:lum bright="6000"/>
            <a:extLst>
              <a:ext uri="{28A0092B-C50C-407E-A947-70E740481C1C}">
                <a14:useLocalDpi xmlns:a14="http://schemas.microsoft.com/office/drawing/2010/main" val="0"/>
              </a:ext>
            </a:extLst>
          </a:blip>
          <a:stretch>
            <a:fillRect/>
          </a:stretch>
        </p:blipFill>
        <p:spPr>
          <a:xfrm>
            <a:off x="1088804" y="1357175"/>
            <a:ext cx="9571018" cy="3145155"/>
          </a:xfrm>
          <a:prstGeom prst="rect">
            <a:avLst/>
          </a:prstGeom>
        </p:spPr>
      </p:pic>
      <p:sp>
        <p:nvSpPr>
          <p:cNvPr id="2" name="文本框 1"/>
          <p:cNvSpPr txBox="1"/>
          <p:nvPr/>
        </p:nvSpPr>
        <p:spPr>
          <a:xfrm>
            <a:off x="3664040" y="293586"/>
            <a:ext cx="5503710" cy="646331"/>
          </a:xfrm>
          <a:prstGeom prst="rect">
            <a:avLst/>
          </a:prstGeom>
        </p:spPr>
        <p:txBody>
          <a:bodyPr wrap="square">
            <a:spAutoFit/>
          </a:bodyPr>
          <a:lstStyle>
            <a:defPPr>
              <a:defRPr lang="en-US"/>
            </a:defPPr>
            <a:lvl1pPr>
              <a:lnSpc>
                <a:spcPct val="100000"/>
              </a:lnSpc>
              <a:defRPr sz="36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cs typeface="Times New Roman" panose="02020603050405020304" pitchFamily="18" charset="0"/>
              </a:rPr>
              <a:t>乙酰</a:t>
            </a:r>
            <a:r>
              <a:rPr lang="en-US" altLang="zh-CN" dirty="0">
                <a:cs typeface="Times New Roman" panose="02020603050405020304" pitchFamily="18" charset="0"/>
              </a:rPr>
              <a:t>CoA</a:t>
            </a:r>
            <a:r>
              <a:rPr lang="zh-CN" altLang="en-US" dirty="0">
                <a:cs typeface="Times New Roman" panose="02020603050405020304" pitchFamily="18" charset="0"/>
              </a:rPr>
              <a:t>的</a:t>
            </a:r>
            <a:r>
              <a:rPr lang="zh-CN" altLang="en-US" dirty="0" smtClean="0">
                <a:cs typeface="Times New Roman" panose="02020603050405020304" pitchFamily="18" charset="0"/>
              </a:rPr>
              <a:t>去向</a:t>
            </a:r>
            <a:endParaRPr lang="zh-CN" altLang="en-US" dirty="0">
              <a:cs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1149" y="1123986"/>
            <a:ext cx="4471851" cy="2862322"/>
          </a:xfrm>
          <a:prstGeom prst="rect">
            <a:avLst/>
          </a:prstGeom>
          <a:noFill/>
          <a:ln>
            <a:noFill/>
          </a:ln>
        </p:spPr>
        <p:txBody>
          <a:bodyPr wrap="square" rtlCol="0" anchor="t">
            <a:spAutoFit/>
          </a:bodyPr>
          <a:lstStyle/>
          <a:p>
            <a:pPr marL="285750" indent="-285750">
              <a:lnSpc>
                <a:spcPct val="150000"/>
              </a:lnSpc>
              <a:spcBef>
                <a:spcPts val="600"/>
              </a:spcBef>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sym typeface="+mn-ea"/>
              </a:rPr>
              <a:t>严重</a:t>
            </a:r>
            <a:r>
              <a:rPr lang="zh-CN" altLang="en-US" sz="2400" dirty="0">
                <a:solidFill>
                  <a:srgbClr val="FF0000"/>
                </a:solidFill>
                <a:latin typeface="微软雅黑" panose="020B0503020204020204" pitchFamily="34" charset="-122"/>
                <a:ea typeface="微软雅黑" panose="020B0503020204020204" pitchFamily="34" charset="-122"/>
                <a:sym typeface="+mn-ea"/>
              </a:rPr>
              <a:t>饥饿</a:t>
            </a:r>
            <a:r>
              <a:rPr lang="zh-CN" altLang="en-US" sz="2400" dirty="0">
                <a:latin typeface="微软雅黑" panose="020B0503020204020204" pitchFamily="34" charset="-122"/>
                <a:ea typeface="微软雅黑" panose="020B0503020204020204" pitchFamily="34" charset="-122"/>
                <a:sym typeface="+mn-ea"/>
              </a:rPr>
              <a:t>，或糖尿病时，肝外组织缺乏葡萄糖供能，糖异生加速（主要在肝细胞），</a:t>
            </a:r>
            <a:r>
              <a:rPr lang="zh-CN" altLang="en-US" sz="2400" dirty="0">
                <a:solidFill>
                  <a:srgbClr val="FF0000"/>
                </a:solidFill>
                <a:latin typeface="微软雅黑" panose="020B0503020204020204" pitchFamily="34" charset="-122"/>
                <a:ea typeface="微软雅黑" panose="020B0503020204020204" pitchFamily="34" charset="-122"/>
                <a:sym typeface="+mn-ea"/>
              </a:rPr>
              <a:t>草酰乙酸供应耗尽</a:t>
            </a:r>
            <a:r>
              <a:rPr lang="zh-CN" altLang="en-US" sz="2400" dirty="0">
                <a:latin typeface="微软雅黑" panose="020B0503020204020204" pitchFamily="34" charset="-122"/>
                <a:ea typeface="微软雅黑" panose="020B0503020204020204" pitchFamily="34" charset="-122"/>
                <a:sym typeface="+mn-ea"/>
              </a:rPr>
              <a:t>，乙酰</a:t>
            </a:r>
            <a:r>
              <a:rPr lang="en-US" altLang="zh-CN" sz="2400" dirty="0">
                <a:latin typeface="微软雅黑" panose="020B0503020204020204" pitchFamily="34" charset="-122"/>
                <a:ea typeface="微软雅黑" panose="020B0503020204020204" pitchFamily="34" charset="-122"/>
                <a:sym typeface="+mn-ea"/>
              </a:rPr>
              <a:t>CoA</a:t>
            </a:r>
            <a:r>
              <a:rPr lang="zh-CN" altLang="en-US" sz="2400" dirty="0">
                <a:latin typeface="微软雅黑" panose="020B0503020204020204" pitchFamily="34" charset="-122"/>
                <a:ea typeface="微软雅黑" panose="020B0503020204020204" pitchFamily="34" charset="-122"/>
                <a:sym typeface="+mn-ea"/>
              </a:rPr>
              <a:t>无法进入柠檬酸循环。</a:t>
            </a:r>
            <a:endParaRPr lang="zh-CN" altLang="en-US" sz="2400" b="1" dirty="0">
              <a:latin typeface="微软雅黑" panose="020B0503020204020204" pitchFamily="34" charset="-122"/>
              <a:ea typeface="微软雅黑" panose="020B0503020204020204" pitchFamily="34" charset="-122"/>
              <a:sym typeface="+mn-ea"/>
            </a:endParaRPr>
          </a:p>
        </p:txBody>
      </p:sp>
      <p:pic>
        <p:nvPicPr>
          <p:cNvPr id="2" name="图片 1"/>
          <p:cNvPicPr>
            <a:picLocks noChangeAspect="1"/>
          </p:cNvPicPr>
          <p:nvPr/>
        </p:nvPicPr>
        <p:blipFill>
          <a:blip r:embed="rId3"/>
          <a:stretch>
            <a:fillRect/>
          </a:stretch>
        </p:blipFill>
        <p:spPr>
          <a:xfrm>
            <a:off x="5924283" y="714572"/>
            <a:ext cx="6220006" cy="5877714"/>
          </a:xfrm>
          <a:prstGeom prst="rect">
            <a:avLst/>
          </a:prstGeom>
          <a:ln>
            <a:solidFill>
              <a:schemeClr val="tx1"/>
            </a:solidFill>
          </a:ln>
        </p:spPr>
      </p:pic>
      <p:sp>
        <p:nvSpPr>
          <p:cNvPr id="4" name="文本框 3"/>
          <p:cNvSpPr txBox="1"/>
          <p:nvPr/>
        </p:nvSpPr>
        <p:spPr>
          <a:xfrm>
            <a:off x="7823899" y="1381140"/>
            <a:ext cx="796568" cy="342867"/>
          </a:xfrm>
          <a:prstGeom prst="rect">
            <a:avLst/>
          </a:prstGeom>
          <a:noFill/>
          <a:ln>
            <a:noFill/>
          </a:ln>
        </p:spPr>
        <p:txBody>
          <a:bodyPr wrap="none" rtlCol="0">
            <a:spAutoFit/>
          </a:bodyPr>
          <a:lstStyle/>
          <a:p>
            <a:pPr algn="l"/>
            <a:r>
              <a:rPr lang="zh-CN" altLang="en-US" sz="1400" b="1" dirty="0">
                <a:latin typeface="微软雅黑" panose="020B0503020204020204" pitchFamily="34" charset="-122"/>
                <a:ea typeface="微软雅黑" panose="020B0503020204020204" pitchFamily="34" charset="-122"/>
              </a:rPr>
              <a:t>肝细胞</a:t>
            </a:r>
          </a:p>
        </p:txBody>
      </p:sp>
      <p:sp>
        <p:nvSpPr>
          <p:cNvPr id="5" name="文本框 4"/>
          <p:cNvSpPr txBox="1"/>
          <p:nvPr/>
        </p:nvSpPr>
        <p:spPr>
          <a:xfrm>
            <a:off x="8763114" y="2409739"/>
            <a:ext cx="542344" cy="308083"/>
          </a:xfrm>
          <a:prstGeom prst="rect">
            <a:avLst/>
          </a:prstGeom>
          <a:noFill/>
          <a:ln>
            <a:noFill/>
          </a:ln>
        </p:spPr>
        <p:txBody>
          <a:bodyPr wrap="none" rtlCol="0">
            <a:spAutoFit/>
          </a:bodyPr>
          <a:lstStyle/>
          <a:p>
            <a:pPr algn="l"/>
            <a:r>
              <a:rPr lang="zh-CN" altLang="en-US" sz="1200" b="1" dirty="0">
                <a:solidFill>
                  <a:srgbClr val="FF0000"/>
                </a:solidFill>
                <a:latin typeface="微软雅黑" panose="020B0503020204020204" pitchFamily="34" charset="-122"/>
                <a:ea typeface="微软雅黑" panose="020B0503020204020204" pitchFamily="34" charset="-122"/>
              </a:rPr>
              <a:t>酮体</a:t>
            </a:r>
          </a:p>
        </p:txBody>
      </p:sp>
      <p:sp>
        <p:nvSpPr>
          <p:cNvPr id="6" name="文本框 5"/>
          <p:cNvSpPr txBox="1"/>
          <p:nvPr/>
        </p:nvSpPr>
        <p:spPr>
          <a:xfrm>
            <a:off x="6419313" y="4207127"/>
            <a:ext cx="711826" cy="308083"/>
          </a:xfrm>
          <a:prstGeom prst="rect">
            <a:avLst/>
          </a:prstGeom>
          <a:noFill/>
          <a:ln>
            <a:noFill/>
          </a:ln>
        </p:spPr>
        <p:txBody>
          <a:bodyPr wrap="none" rtlCol="0">
            <a:spAutoFit/>
          </a:bodyPr>
          <a:lstStyle/>
          <a:p>
            <a:pPr algn="l"/>
            <a:r>
              <a:rPr lang="zh-CN" altLang="en-US" sz="1200" b="1" dirty="0">
                <a:solidFill>
                  <a:srgbClr val="FF0000"/>
                </a:solidFill>
                <a:latin typeface="微软雅黑" panose="020B0503020204020204" pitchFamily="34" charset="-122"/>
                <a:ea typeface="微软雅黑" panose="020B0503020204020204" pitchFamily="34" charset="-122"/>
              </a:rPr>
              <a:t>脂肪酸</a:t>
            </a:r>
          </a:p>
        </p:txBody>
      </p:sp>
      <p:sp>
        <p:nvSpPr>
          <p:cNvPr id="7" name="文本框 6"/>
          <p:cNvSpPr txBox="1"/>
          <p:nvPr/>
        </p:nvSpPr>
        <p:spPr>
          <a:xfrm>
            <a:off x="6802767" y="4704745"/>
            <a:ext cx="881309" cy="308083"/>
          </a:xfrm>
          <a:prstGeom prst="rect">
            <a:avLst/>
          </a:prstGeom>
          <a:noFill/>
          <a:ln>
            <a:noFill/>
          </a:ln>
        </p:spPr>
        <p:txBody>
          <a:bodyPr wrap="none" rtlCol="0">
            <a:spAutoFit/>
          </a:bodyPr>
          <a:lstStyle/>
          <a:p>
            <a:pPr algn="l"/>
            <a:r>
              <a:rPr lang="zh-CN" altLang="en-US" sz="1200" b="1" dirty="0">
                <a:solidFill>
                  <a:srgbClr val="FF0000"/>
                </a:solidFill>
                <a:latin typeface="微软雅黑" panose="020B0503020204020204" pitchFamily="34" charset="-122"/>
                <a:ea typeface="微软雅黑" panose="020B0503020204020204" pitchFamily="34" charset="-122"/>
              </a:rPr>
              <a:t>草酰乙酸</a:t>
            </a:r>
          </a:p>
        </p:txBody>
      </p:sp>
      <p:sp>
        <p:nvSpPr>
          <p:cNvPr id="8" name="文本框 7"/>
          <p:cNvSpPr txBox="1"/>
          <p:nvPr/>
        </p:nvSpPr>
        <p:spPr>
          <a:xfrm>
            <a:off x="7756106" y="5413904"/>
            <a:ext cx="711826" cy="308083"/>
          </a:xfrm>
          <a:prstGeom prst="rect">
            <a:avLst/>
          </a:prstGeom>
          <a:noFill/>
          <a:ln>
            <a:noFill/>
          </a:ln>
        </p:spPr>
        <p:txBody>
          <a:bodyPr wrap="none" rtlCol="0">
            <a:spAutoFit/>
          </a:bodyPr>
          <a:lstStyle/>
          <a:p>
            <a:pPr algn="l"/>
            <a:r>
              <a:rPr lang="zh-CN" altLang="en-US" sz="1200" b="1" dirty="0">
                <a:latin typeface="微软雅黑" panose="020B0503020204020204" pitchFamily="34" charset="-122"/>
                <a:ea typeface="微软雅黑" panose="020B0503020204020204" pitchFamily="34" charset="-122"/>
              </a:rPr>
              <a:t>糖异生</a:t>
            </a:r>
          </a:p>
        </p:txBody>
      </p:sp>
      <p:sp>
        <p:nvSpPr>
          <p:cNvPr id="9" name="文本框 8"/>
          <p:cNvSpPr txBox="1"/>
          <p:nvPr/>
        </p:nvSpPr>
        <p:spPr>
          <a:xfrm>
            <a:off x="7551315" y="5926429"/>
            <a:ext cx="711826" cy="308083"/>
          </a:xfrm>
          <a:prstGeom prst="rect">
            <a:avLst/>
          </a:prstGeom>
          <a:noFill/>
          <a:ln>
            <a:noFill/>
          </a:ln>
        </p:spPr>
        <p:txBody>
          <a:bodyPr wrap="none" rtlCol="0">
            <a:spAutoFit/>
          </a:bodyPr>
          <a:lstStyle/>
          <a:p>
            <a:pPr algn="l"/>
            <a:r>
              <a:rPr lang="zh-CN" altLang="en-US" sz="1200" b="1" dirty="0">
                <a:solidFill>
                  <a:srgbClr val="FF0000"/>
                </a:solidFill>
                <a:latin typeface="微软雅黑" panose="020B0503020204020204" pitchFamily="34" charset="-122"/>
                <a:ea typeface="微软雅黑" panose="020B0503020204020204" pitchFamily="34" charset="-122"/>
              </a:rPr>
              <a:t>葡萄糖</a:t>
            </a:r>
          </a:p>
        </p:txBody>
      </p:sp>
      <p:sp>
        <p:nvSpPr>
          <p:cNvPr id="10" name="文本框 9"/>
          <p:cNvSpPr txBox="1"/>
          <p:nvPr/>
        </p:nvSpPr>
        <p:spPr>
          <a:xfrm>
            <a:off x="10227725" y="3653429"/>
            <a:ext cx="1785215" cy="583512"/>
          </a:xfrm>
          <a:prstGeom prst="rect">
            <a:avLst/>
          </a:prstGeom>
          <a:noFill/>
          <a:ln>
            <a:noFill/>
          </a:ln>
        </p:spPr>
        <p:txBody>
          <a:bodyPr wrap="none" rtlCol="0">
            <a:spAutoFit/>
          </a:bodyPr>
          <a:lstStyle/>
          <a:p>
            <a:pPr algn="l"/>
            <a:r>
              <a:rPr lang="zh-CN" altLang="en-US" sz="1400" b="1" dirty="0">
                <a:latin typeface="微软雅黑" panose="020B0503020204020204" pitchFamily="34" charset="-122"/>
                <a:ea typeface="微软雅黑" panose="020B0503020204020204" pitchFamily="34" charset="-122"/>
              </a:rPr>
              <a:t>转变为乙酰</a:t>
            </a:r>
            <a:r>
              <a:rPr lang="en-US" altLang="zh-CN" sz="1400" b="1" dirty="0">
                <a:latin typeface="微软雅黑" panose="020B0503020204020204" pitchFamily="34" charset="-122"/>
                <a:ea typeface="微软雅黑" panose="020B0503020204020204" pitchFamily="34" charset="-122"/>
              </a:rPr>
              <a:t>CoA</a:t>
            </a:r>
            <a:endParaRPr lang="zh-CN" altLang="en-US" sz="1400" b="1" dirty="0">
              <a:latin typeface="微软雅黑" panose="020B0503020204020204" pitchFamily="34" charset="-122"/>
              <a:ea typeface="微软雅黑" panose="020B0503020204020204" pitchFamily="34" charset="-122"/>
            </a:endParaRPr>
          </a:p>
          <a:p>
            <a:pPr algn="l"/>
            <a:r>
              <a:rPr lang="zh-CN" altLang="en-US" sz="1400" b="1" dirty="0">
                <a:latin typeface="微软雅黑" panose="020B0503020204020204" pitchFamily="34" charset="-122"/>
                <a:ea typeface="微软雅黑" panose="020B0503020204020204" pitchFamily="34" charset="-122"/>
              </a:rPr>
              <a:t>肌肉，肾，脑供能</a:t>
            </a:r>
          </a:p>
        </p:txBody>
      </p:sp>
      <p:sp>
        <p:nvSpPr>
          <p:cNvPr id="11" name="文本框 10"/>
          <p:cNvSpPr txBox="1"/>
          <p:nvPr/>
        </p:nvSpPr>
        <p:spPr>
          <a:xfrm>
            <a:off x="10425454" y="5012828"/>
            <a:ext cx="1389756" cy="583512"/>
          </a:xfrm>
          <a:prstGeom prst="rect">
            <a:avLst/>
          </a:prstGeom>
          <a:noFill/>
          <a:ln>
            <a:noFill/>
          </a:ln>
        </p:spPr>
        <p:txBody>
          <a:bodyPr wrap="none" rtlCol="0">
            <a:spAutoFit/>
          </a:bodyPr>
          <a:lstStyle/>
          <a:p>
            <a:pPr algn="l"/>
            <a:r>
              <a:rPr lang="zh-CN" altLang="en-US" sz="1400" b="1" dirty="0">
                <a:latin typeface="微软雅黑" panose="020B0503020204020204" pitchFamily="34" charset="-122"/>
                <a:ea typeface="微软雅黑" panose="020B0503020204020204" pitchFamily="34" charset="-122"/>
              </a:rPr>
              <a:t>葡萄糖输出，</a:t>
            </a:r>
          </a:p>
          <a:p>
            <a:pPr algn="l"/>
            <a:r>
              <a:rPr lang="zh-CN" altLang="en-US" sz="1400" b="1" dirty="0">
                <a:latin typeface="微软雅黑" panose="020B0503020204020204" pitchFamily="34" charset="-122"/>
                <a:ea typeface="微软雅黑" panose="020B0503020204020204" pitchFamily="34" charset="-122"/>
              </a:rPr>
              <a:t>脑等供能</a:t>
            </a:r>
          </a:p>
        </p:txBody>
      </p:sp>
      <p:sp>
        <p:nvSpPr>
          <p:cNvPr id="15" name="文本框 14"/>
          <p:cNvSpPr txBox="1"/>
          <p:nvPr/>
        </p:nvSpPr>
        <p:spPr>
          <a:xfrm>
            <a:off x="8678373" y="4601814"/>
            <a:ext cx="1050791" cy="308083"/>
          </a:xfrm>
          <a:prstGeom prst="rect">
            <a:avLst/>
          </a:prstGeom>
          <a:noFill/>
          <a:ln>
            <a:noFill/>
          </a:ln>
        </p:spPr>
        <p:txBody>
          <a:bodyPr wrap="none" rtlCol="0">
            <a:spAutoFit/>
          </a:bodyPr>
          <a:lstStyle/>
          <a:p>
            <a:pPr algn="l"/>
            <a:r>
              <a:rPr lang="zh-CN" altLang="en-US" sz="1200" b="1" dirty="0">
                <a:latin typeface="微软雅黑" panose="020B0503020204020204" pitchFamily="34" charset="-122"/>
                <a:ea typeface="微软雅黑" panose="020B0503020204020204" pitchFamily="34" charset="-122"/>
              </a:rPr>
              <a:t>柠檬酸循环</a:t>
            </a:r>
          </a:p>
        </p:txBody>
      </p:sp>
      <p:sp>
        <p:nvSpPr>
          <p:cNvPr id="17" name="文本框 16"/>
          <p:cNvSpPr txBox="1"/>
          <p:nvPr/>
        </p:nvSpPr>
        <p:spPr>
          <a:xfrm>
            <a:off x="8005386" y="3761329"/>
            <a:ext cx="2824708" cy="308083"/>
          </a:xfrm>
          <a:prstGeom prst="rect">
            <a:avLst/>
          </a:prstGeom>
          <a:noFill/>
          <a:ln>
            <a:noFill/>
          </a:ln>
        </p:spPr>
        <p:txBody>
          <a:bodyPr wrap="square" rtlCol="0" anchor="t">
            <a:spAutoFit/>
          </a:bodyPr>
          <a:lstStyle/>
          <a:p>
            <a:pPr algn="l"/>
            <a:r>
              <a:rPr lang="zh-CN" altLang="en-US" sz="1200" b="1" dirty="0">
                <a:solidFill>
                  <a:srgbClr val="FF0000"/>
                </a:solidFill>
                <a:latin typeface="微软雅黑" panose="020B0503020204020204" pitchFamily="34" charset="-122"/>
                <a:ea typeface="微软雅黑" panose="020B0503020204020204" pitchFamily="34" charset="-122"/>
              </a:rPr>
              <a:t>乙酰CoA</a:t>
            </a:r>
          </a:p>
        </p:txBody>
      </p:sp>
      <p:sp>
        <p:nvSpPr>
          <p:cNvPr id="18" name="文本框 17"/>
          <p:cNvSpPr txBox="1"/>
          <p:nvPr/>
        </p:nvSpPr>
        <p:spPr>
          <a:xfrm>
            <a:off x="6834545" y="786270"/>
            <a:ext cx="796568" cy="342867"/>
          </a:xfrm>
          <a:prstGeom prst="rect">
            <a:avLst/>
          </a:prstGeom>
          <a:noFill/>
          <a:ln>
            <a:noFill/>
          </a:ln>
        </p:spPr>
        <p:txBody>
          <a:bodyPr wrap="none" rtlCol="0" anchor="t">
            <a:spAutoFit/>
          </a:bodyPr>
          <a:lstStyle/>
          <a:p>
            <a:pPr algn="l"/>
            <a:r>
              <a:rPr lang="zh-CN" altLang="en-US" sz="1400" b="1" dirty="0">
                <a:latin typeface="微软雅黑" panose="020B0503020204020204" pitchFamily="34" charset="-122"/>
                <a:ea typeface="微软雅黑" panose="020B0503020204020204" pitchFamily="34" charset="-122"/>
              </a:rPr>
              <a:t>脂肪滴</a:t>
            </a:r>
          </a:p>
        </p:txBody>
      </p:sp>
      <p:sp>
        <p:nvSpPr>
          <p:cNvPr id="20" name="文本框 1"/>
          <p:cNvSpPr txBox="1"/>
          <p:nvPr/>
        </p:nvSpPr>
        <p:spPr>
          <a:xfrm>
            <a:off x="3116757" y="68241"/>
            <a:ext cx="5503710" cy="646331"/>
          </a:xfrm>
          <a:prstGeom prst="rect">
            <a:avLst/>
          </a:prstGeom>
        </p:spPr>
        <p:txBody>
          <a:bodyPr wrap="square">
            <a:spAutoFit/>
          </a:bodyPr>
          <a:lstStyle>
            <a:defPPr>
              <a:defRPr lang="en-US"/>
            </a:defPPr>
            <a:lvl1pPr>
              <a:lnSpc>
                <a:spcPct val="100000"/>
              </a:lnSpc>
              <a:defRPr sz="36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cs typeface="Times New Roman" panose="02020603050405020304" pitchFamily="18" charset="0"/>
              </a:rPr>
              <a:t>乙酰</a:t>
            </a:r>
            <a:r>
              <a:rPr lang="en-US" altLang="zh-CN" dirty="0">
                <a:cs typeface="Times New Roman" panose="02020603050405020304" pitchFamily="18" charset="0"/>
              </a:rPr>
              <a:t>CoA</a:t>
            </a:r>
            <a:r>
              <a:rPr lang="zh-CN" altLang="en-US" dirty="0">
                <a:cs typeface="Times New Roman" panose="02020603050405020304" pitchFamily="18" charset="0"/>
              </a:rPr>
              <a:t>的</a:t>
            </a:r>
            <a:r>
              <a:rPr lang="zh-CN" altLang="en-US" dirty="0" smtClean="0">
                <a:cs typeface="Times New Roman" panose="02020603050405020304" pitchFamily="18" charset="0"/>
              </a:rPr>
              <a:t>去向</a:t>
            </a:r>
            <a:endParaRPr lang="zh-CN" altLang="en-US" dirty="0">
              <a:cs typeface="Times New Roman" panose="02020603050405020304" pitchFamily="18" charset="0"/>
            </a:endParaRPr>
          </a:p>
        </p:txBody>
      </p:sp>
    </p:spTree>
  </p:cSld>
  <p:clrMapOvr>
    <a:masterClrMapping/>
  </p:clrMapOvr>
  <p:transition>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3"/>
          <a:srcRect/>
          <a:stretch>
            <a:fillRect/>
          </a:stretch>
        </p:blipFill>
        <p:spPr>
          <a:xfrm>
            <a:off x="4652964" y="0"/>
            <a:ext cx="5834735" cy="6858000"/>
          </a:xfrm>
          <a:prstGeom prst="rect">
            <a:avLst/>
          </a:prstGeom>
          <a:ln>
            <a:noFill/>
          </a:ln>
        </p:spPr>
      </p:pic>
      <p:sp>
        <p:nvSpPr>
          <p:cNvPr id="16" name="矩形 15"/>
          <p:cNvSpPr/>
          <p:nvPr/>
        </p:nvSpPr>
        <p:spPr>
          <a:xfrm>
            <a:off x="1218874" y="215994"/>
            <a:ext cx="1605280" cy="521970"/>
          </a:xfrm>
          <a:prstGeom prst="rect">
            <a:avLst/>
          </a:prstGeom>
          <a:solidFill>
            <a:schemeClr val="accent6">
              <a:lumMod val="60000"/>
              <a:lumOff val="40000"/>
            </a:schemeClr>
          </a:solidFill>
        </p:spPr>
        <p:txBody>
          <a:bodyPr wrap="none">
            <a:spAutoFit/>
          </a:bodyPr>
          <a:lstStyle/>
          <a:p>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酮体生成</a:t>
            </a:r>
          </a:p>
        </p:txBody>
      </p:sp>
      <p:sp>
        <p:nvSpPr>
          <p:cNvPr id="8" name="文本框 7"/>
          <p:cNvSpPr txBox="1"/>
          <p:nvPr/>
        </p:nvSpPr>
        <p:spPr>
          <a:xfrm>
            <a:off x="7394415" y="307702"/>
            <a:ext cx="1298753" cy="338554"/>
          </a:xfrm>
          <a:prstGeom prst="rect">
            <a:avLst/>
          </a:prstGeom>
          <a:noFill/>
          <a:ln>
            <a:solidFill>
              <a:schemeClr val="tx1"/>
            </a:solidFill>
          </a:ln>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2 </a:t>
            </a:r>
            <a:r>
              <a:rPr lang="zh-CN" altLang="en-US" sz="1600" b="1" dirty="0">
                <a:latin typeface="微软雅黑" panose="020B0503020204020204" pitchFamily="34" charset="-122"/>
                <a:ea typeface="微软雅黑" panose="020B0503020204020204" pitchFamily="34" charset="-122"/>
              </a:rPr>
              <a:t>乙酰</a:t>
            </a:r>
            <a:r>
              <a:rPr lang="en-US" altLang="zh-CN" sz="1600" b="1" dirty="0">
                <a:latin typeface="微软雅黑" panose="020B0503020204020204" pitchFamily="34" charset="-122"/>
                <a:ea typeface="微软雅黑" panose="020B0503020204020204" pitchFamily="34" charset="-122"/>
              </a:rPr>
              <a:t>-CoA</a:t>
            </a:r>
            <a:endParaRPr lang="zh-CN" altLang="en-US" sz="1600" b="1" dirty="0">
              <a:latin typeface="微软雅黑" panose="020B0503020204020204" pitchFamily="34" charset="-122"/>
              <a:ea typeface="微软雅黑" panose="020B0503020204020204" pitchFamily="34" charset="-122"/>
            </a:endParaRPr>
          </a:p>
        </p:txBody>
      </p:sp>
      <p:sp>
        <p:nvSpPr>
          <p:cNvPr id="3" name="矩形 2"/>
          <p:cNvSpPr/>
          <p:nvPr/>
        </p:nvSpPr>
        <p:spPr>
          <a:xfrm>
            <a:off x="7570330" y="1429776"/>
            <a:ext cx="1521570" cy="338554"/>
          </a:xfrm>
          <a:prstGeom prst="rect">
            <a:avLst/>
          </a:prstGeom>
          <a:ln>
            <a:solidFill>
              <a:schemeClr val="tx1"/>
            </a:solidFill>
          </a:ln>
        </p:spPr>
        <p:txBody>
          <a:bodyPr wrap="square">
            <a:spAutoFit/>
          </a:bodyPr>
          <a:lstStyle/>
          <a:p>
            <a:r>
              <a:rPr lang="zh-CN" altLang="en-US" sz="1600" b="1" dirty="0">
                <a:latin typeface="微软雅黑" panose="020B0503020204020204" pitchFamily="34" charset="-122"/>
                <a:ea typeface="微软雅黑" panose="020B0503020204020204" pitchFamily="34" charset="-122"/>
              </a:rPr>
              <a:t>乙酰乙酰</a:t>
            </a:r>
            <a:r>
              <a:rPr lang="en-US" altLang="zh-CN" sz="1600" b="1" dirty="0">
                <a:latin typeface="微软雅黑" panose="020B0503020204020204" pitchFamily="34" charset="-122"/>
                <a:ea typeface="微软雅黑" panose="020B0503020204020204" pitchFamily="34" charset="-122"/>
              </a:rPr>
              <a:t>-CoA</a:t>
            </a:r>
            <a:endParaRPr lang="zh-CN" altLang="en-US" sz="1600" b="1" dirty="0">
              <a:latin typeface="微软雅黑" panose="020B0503020204020204" pitchFamily="34" charset="-122"/>
              <a:ea typeface="微软雅黑" panose="020B0503020204020204" pitchFamily="34" charset="-122"/>
            </a:endParaRPr>
          </a:p>
        </p:txBody>
      </p:sp>
      <p:sp>
        <p:nvSpPr>
          <p:cNvPr id="15" name="矩形 14"/>
          <p:cNvSpPr/>
          <p:nvPr/>
        </p:nvSpPr>
        <p:spPr>
          <a:xfrm>
            <a:off x="7897117" y="2946655"/>
            <a:ext cx="2678938" cy="338554"/>
          </a:xfrm>
          <a:prstGeom prst="rect">
            <a:avLst/>
          </a:prstGeom>
          <a:ln>
            <a:solidFill>
              <a:schemeClr val="tx1"/>
            </a:solidFill>
          </a:ln>
        </p:spPr>
        <p:txBody>
          <a:bodyPr wrap="square">
            <a:spAutoFit/>
          </a:bodyPr>
          <a:lstStyle/>
          <a:p>
            <a:r>
              <a:rPr lang="en-US" altLang="zh-CN" sz="1600" b="1" dirty="0">
                <a:latin typeface="微软雅黑" panose="020B0503020204020204" pitchFamily="34" charset="-122"/>
                <a:ea typeface="微软雅黑" panose="020B0503020204020204" pitchFamily="34" charset="-122"/>
              </a:rPr>
              <a:t>β-</a:t>
            </a:r>
            <a:r>
              <a:rPr lang="zh-CN" altLang="en-US" sz="1600" b="1" dirty="0">
                <a:latin typeface="微软雅黑" panose="020B0503020204020204" pitchFamily="34" charset="-122"/>
                <a:ea typeface="微软雅黑" panose="020B0503020204020204" pitchFamily="34" charset="-122"/>
              </a:rPr>
              <a:t>羟基</a:t>
            </a:r>
            <a:r>
              <a:rPr lang="en-US" altLang="zh-CN" sz="1600" b="1" dirty="0">
                <a:latin typeface="微软雅黑" panose="020B0503020204020204" pitchFamily="34" charset="-122"/>
                <a:ea typeface="微软雅黑" panose="020B0503020204020204" pitchFamily="34" charset="-122"/>
              </a:rPr>
              <a:t>-β-</a:t>
            </a:r>
            <a:r>
              <a:rPr lang="zh-CN" altLang="en-US" sz="1600" b="1" dirty="0">
                <a:latin typeface="微软雅黑" panose="020B0503020204020204" pitchFamily="34" charset="-122"/>
                <a:ea typeface="微软雅黑" panose="020B0503020204020204" pitchFamily="34" charset="-122"/>
              </a:rPr>
              <a:t>甲基戊二酰</a:t>
            </a:r>
            <a:r>
              <a:rPr lang="en-US" altLang="zh-CN" sz="1600" b="1" dirty="0">
                <a:latin typeface="微软雅黑" panose="020B0503020204020204" pitchFamily="34" charset="-122"/>
                <a:ea typeface="微软雅黑" panose="020B0503020204020204" pitchFamily="34" charset="-122"/>
              </a:rPr>
              <a:t>-CoA</a:t>
            </a:r>
            <a:endParaRPr lang="zh-CN" altLang="en-US" sz="1600" b="1" dirty="0">
              <a:latin typeface="微软雅黑" panose="020B0503020204020204" pitchFamily="34" charset="-122"/>
              <a:ea typeface="微软雅黑" panose="020B0503020204020204" pitchFamily="34" charset="-122"/>
            </a:endParaRPr>
          </a:p>
        </p:txBody>
      </p:sp>
      <p:sp>
        <p:nvSpPr>
          <p:cNvPr id="6" name="矩形 5"/>
          <p:cNvSpPr/>
          <p:nvPr/>
        </p:nvSpPr>
        <p:spPr>
          <a:xfrm>
            <a:off x="6891714" y="4584581"/>
            <a:ext cx="1005403" cy="338554"/>
          </a:xfrm>
          <a:prstGeom prst="rect">
            <a:avLst/>
          </a:prstGeom>
          <a:ln>
            <a:solidFill>
              <a:srgbClr val="FF0000"/>
            </a:solidFill>
          </a:ln>
        </p:spPr>
        <p:txBody>
          <a:bodyPr wrap="non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乙酰乙酸</a:t>
            </a:r>
            <a:endParaRPr lang="zh-CN" altLang="en-US" sz="1600" dirty="0">
              <a:solidFill>
                <a:srgbClr val="FF0000"/>
              </a:solidFill>
            </a:endParaRPr>
          </a:p>
        </p:txBody>
      </p:sp>
      <p:sp>
        <p:nvSpPr>
          <p:cNvPr id="7" name="矩形 6"/>
          <p:cNvSpPr/>
          <p:nvPr/>
        </p:nvSpPr>
        <p:spPr>
          <a:xfrm>
            <a:off x="5546666" y="6227613"/>
            <a:ext cx="595035" cy="338554"/>
          </a:xfrm>
          <a:prstGeom prst="rect">
            <a:avLst/>
          </a:prstGeom>
          <a:ln>
            <a:solidFill>
              <a:srgbClr val="FF0000"/>
            </a:solidFill>
          </a:ln>
        </p:spPr>
        <p:txBody>
          <a:bodyPr wrap="none">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丙酮</a:t>
            </a:r>
          </a:p>
        </p:txBody>
      </p:sp>
      <p:sp>
        <p:nvSpPr>
          <p:cNvPr id="9" name="矩形 8"/>
          <p:cNvSpPr/>
          <p:nvPr/>
        </p:nvSpPr>
        <p:spPr>
          <a:xfrm>
            <a:off x="7821618" y="6270837"/>
            <a:ext cx="1130438" cy="369332"/>
          </a:xfrm>
          <a:prstGeom prst="rect">
            <a:avLst/>
          </a:prstGeom>
          <a:ln>
            <a:solidFill>
              <a:srgbClr val="FF0000"/>
            </a:solidFill>
          </a:ln>
        </p:spPr>
        <p:txBody>
          <a:bodyPr wrap="none">
            <a:spAutoFit/>
          </a:bodyPr>
          <a:lstStyle/>
          <a:p>
            <a:r>
              <a:rPr lang="en-US" altLang="zh-CN" b="1" dirty="0">
                <a:solidFill>
                  <a:srgbClr val="FF0000"/>
                </a:solidFill>
                <a:latin typeface="微软雅黑" panose="020B0503020204020204" pitchFamily="34" charset="-122"/>
                <a:ea typeface="微软雅黑" panose="020B0503020204020204" pitchFamily="34" charset="-122"/>
              </a:rPr>
              <a:t>β-</a:t>
            </a:r>
            <a:r>
              <a:rPr lang="zh-CN" altLang="en-US" b="1" dirty="0">
                <a:solidFill>
                  <a:srgbClr val="FF0000"/>
                </a:solidFill>
                <a:latin typeface="微软雅黑" panose="020B0503020204020204" pitchFamily="34" charset="-122"/>
                <a:ea typeface="微软雅黑" panose="020B0503020204020204" pitchFamily="34" charset="-122"/>
              </a:rPr>
              <a:t>羟丁酸</a:t>
            </a:r>
            <a:endParaRPr lang="zh-CN" altLang="en-US" dirty="0">
              <a:solidFill>
                <a:srgbClr val="FF0000"/>
              </a:solidFill>
            </a:endParaRPr>
          </a:p>
        </p:txBody>
      </p:sp>
      <p:sp>
        <p:nvSpPr>
          <p:cNvPr id="17" name="矩形 16"/>
          <p:cNvSpPr/>
          <p:nvPr/>
        </p:nvSpPr>
        <p:spPr>
          <a:xfrm>
            <a:off x="6534886" y="557530"/>
            <a:ext cx="713657" cy="276999"/>
          </a:xfrm>
          <a:prstGeom prst="rect">
            <a:avLst/>
          </a:prstGeom>
        </p:spPr>
        <p:txBody>
          <a:bodyPr wrap="none">
            <a:spAutoFit/>
          </a:bodyPr>
          <a:lstStyle/>
          <a:p>
            <a:r>
              <a:rPr lang="en-US" altLang="zh-CN" sz="1200" b="1" dirty="0">
                <a:solidFill>
                  <a:srgbClr val="EB35CD"/>
                </a:solidFill>
                <a:latin typeface="微软雅黑" panose="020B0503020204020204" pitchFamily="34" charset="-122"/>
                <a:ea typeface="微软雅黑" panose="020B0503020204020204" pitchFamily="34" charset="-122"/>
              </a:rPr>
              <a:t>-</a:t>
            </a:r>
            <a:r>
              <a:rPr lang="zh-CN" altLang="en-US" sz="1200" b="1" dirty="0">
                <a:solidFill>
                  <a:srgbClr val="EB35CD"/>
                </a:solidFill>
                <a:latin typeface="微软雅黑" panose="020B0503020204020204" pitchFamily="34" charset="-122"/>
                <a:ea typeface="微软雅黑" panose="020B0503020204020204" pitchFamily="34" charset="-122"/>
              </a:rPr>
              <a:t>硫解酶</a:t>
            </a:r>
            <a:endParaRPr lang="zh-CN" altLang="en-US" sz="1200" dirty="0">
              <a:solidFill>
                <a:srgbClr val="EB35CD"/>
              </a:solidFill>
            </a:endParaRPr>
          </a:p>
        </p:txBody>
      </p:sp>
      <p:sp>
        <p:nvSpPr>
          <p:cNvPr id="18" name="矩形 17"/>
          <p:cNvSpPr/>
          <p:nvPr/>
        </p:nvSpPr>
        <p:spPr>
          <a:xfrm>
            <a:off x="7093014" y="2337088"/>
            <a:ext cx="559769" cy="276999"/>
          </a:xfrm>
          <a:prstGeom prst="rect">
            <a:avLst/>
          </a:prstGeom>
        </p:spPr>
        <p:txBody>
          <a:bodyPr wrap="none">
            <a:spAutoFit/>
          </a:bodyPr>
          <a:lstStyle/>
          <a:p>
            <a:r>
              <a:rPr lang="en-US" altLang="zh-CN" sz="1200" b="1" dirty="0">
                <a:solidFill>
                  <a:srgbClr val="EB35CD"/>
                </a:solidFill>
                <a:latin typeface="微软雅黑" panose="020B0503020204020204" pitchFamily="34" charset="-122"/>
                <a:ea typeface="微软雅黑" panose="020B0503020204020204" pitchFamily="34" charset="-122"/>
              </a:rPr>
              <a:t>-</a:t>
            </a:r>
            <a:r>
              <a:rPr lang="zh-CN" altLang="en-US" sz="1200" b="1" dirty="0">
                <a:solidFill>
                  <a:srgbClr val="EB35CD"/>
                </a:solidFill>
                <a:latin typeface="微软雅黑" panose="020B0503020204020204" pitchFamily="34" charset="-122"/>
                <a:ea typeface="微软雅黑" panose="020B0503020204020204" pitchFamily="34" charset="-122"/>
              </a:rPr>
              <a:t>合酶</a:t>
            </a:r>
            <a:endParaRPr lang="zh-CN" altLang="en-US" sz="1200" dirty="0">
              <a:solidFill>
                <a:srgbClr val="EB35CD"/>
              </a:solidFill>
            </a:endParaRPr>
          </a:p>
        </p:txBody>
      </p:sp>
      <p:sp>
        <p:nvSpPr>
          <p:cNvPr id="20" name="矩形 19"/>
          <p:cNvSpPr/>
          <p:nvPr/>
        </p:nvSpPr>
        <p:spPr>
          <a:xfrm>
            <a:off x="7107962" y="3867223"/>
            <a:ext cx="713657" cy="276999"/>
          </a:xfrm>
          <a:prstGeom prst="rect">
            <a:avLst/>
          </a:prstGeom>
        </p:spPr>
        <p:txBody>
          <a:bodyPr wrap="none">
            <a:spAutoFit/>
          </a:bodyPr>
          <a:lstStyle/>
          <a:p>
            <a:r>
              <a:rPr lang="en-US" altLang="zh-CN" sz="1200" b="1" dirty="0">
                <a:solidFill>
                  <a:srgbClr val="EB35CD"/>
                </a:solidFill>
                <a:latin typeface="微软雅黑" panose="020B0503020204020204" pitchFamily="34" charset="-122"/>
                <a:ea typeface="微软雅黑" panose="020B0503020204020204" pitchFamily="34" charset="-122"/>
              </a:rPr>
              <a:t>-</a:t>
            </a:r>
            <a:r>
              <a:rPr lang="zh-CN" altLang="en-US" sz="1200" b="1" dirty="0">
                <a:solidFill>
                  <a:srgbClr val="EB35CD"/>
                </a:solidFill>
                <a:latin typeface="微软雅黑" panose="020B0503020204020204" pitchFamily="34" charset="-122"/>
                <a:ea typeface="微软雅黑" panose="020B0503020204020204" pitchFamily="34" charset="-122"/>
              </a:rPr>
              <a:t>裂解酶</a:t>
            </a:r>
            <a:endParaRPr lang="zh-CN" altLang="en-US" sz="1200" dirty="0">
              <a:solidFill>
                <a:srgbClr val="EB35CD"/>
              </a:solidFill>
            </a:endParaRPr>
          </a:p>
        </p:txBody>
      </p:sp>
      <p:sp>
        <p:nvSpPr>
          <p:cNvPr id="10" name="矩形 9"/>
          <p:cNvSpPr/>
          <p:nvPr/>
        </p:nvSpPr>
        <p:spPr>
          <a:xfrm>
            <a:off x="174791" y="1069218"/>
            <a:ext cx="4478173" cy="2385268"/>
          </a:xfrm>
          <a:prstGeom prst="rect">
            <a:avLst/>
          </a:prstGeom>
        </p:spPr>
        <p:txBody>
          <a:bodyPr wrap="square">
            <a:spAutoFit/>
          </a:bodyPr>
          <a:lstStyle/>
          <a:p>
            <a:pPr marL="285750" indent="-285750">
              <a:lnSpc>
                <a:spcPct val="150000"/>
              </a:lnSpc>
              <a:spcBef>
                <a:spcPts val="600"/>
              </a:spcBef>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rPr>
              <a:t>酮体：</a:t>
            </a:r>
            <a:r>
              <a:rPr lang="zh-CN" altLang="en-US" sz="2400" u="sng" dirty="0">
                <a:solidFill>
                  <a:srgbClr val="FF0000"/>
                </a:solidFill>
                <a:latin typeface="微软雅黑" panose="020B0503020204020204" pitchFamily="34" charset="-122"/>
                <a:ea typeface="微软雅黑" panose="020B0503020204020204" pitchFamily="34" charset="-122"/>
              </a:rPr>
              <a:t>乙酰乙酸</a:t>
            </a:r>
            <a:r>
              <a:rPr lang="zh-CN" altLang="en-US" sz="2400" dirty="0">
                <a:solidFill>
                  <a:srgbClr val="FF0000"/>
                </a:solidFill>
                <a:latin typeface="微软雅黑" panose="020B0503020204020204" pitchFamily="34" charset="-122"/>
                <a:ea typeface="微软雅黑" panose="020B0503020204020204" pitchFamily="34" charset="-122"/>
              </a:rPr>
              <a:t>、</a:t>
            </a:r>
            <a:r>
              <a:rPr lang="en-US" altLang="zh-CN" sz="2400" u="sng" dirty="0">
                <a:solidFill>
                  <a:srgbClr val="FF0000"/>
                </a:solidFill>
                <a:latin typeface="微软雅黑" panose="020B0503020204020204" pitchFamily="34" charset="-122"/>
                <a:ea typeface="微软雅黑" panose="020B0503020204020204" pitchFamily="34" charset="-122"/>
              </a:rPr>
              <a:t>β-</a:t>
            </a:r>
            <a:r>
              <a:rPr lang="zh-CN" altLang="en-US" sz="2400" u="sng" dirty="0">
                <a:solidFill>
                  <a:srgbClr val="FF0000"/>
                </a:solidFill>
                <a:latin typeface="微软雅黑" panose="020B0503020204020204" pitchFamily="34" charset="-122"/>
                <a:ea typeface="微软雅黑" panose="020B0503020204020204" pitchFamily="34" charset="-122"/>
              </a:rPr>
              <a:t>羟丁酸</a:t>
            </a:r>
            <a:r>
              <a:rPr lang="zh-CN" altLang="en-US" sz="2400" dirty="0">
                <a:solidFill>
                  <a:srgbClr val="FF0000"/>
                </a:solidFill>
                <a:latin typeface="微软雅黑" panose="020B0503020204020204" pitchFamily="34" charset="-122"/>
                <a:ea typeface="微软雅黑" panose="020B0503020204020204" pitchFamily="34" charset="-122"/>
              </a:rPr>
              <a:t>、</a:t>
            </a:r>
            <a:r>
              <a:rPr lang="zh-CN" altLang="en-US" sz="2400" u="sng" dirty="0">
                <a:solidFill>
                  <a:srgbClr val="FF0000"/>
                </a:solidFill>
                <a:latin typeface="微软雅黑" panose="020B0503020204020204" pitchFamily="34" charset="-122"/>
                <a:ea typeface="微软雅黑" panose="020B0503020204020204" pitchFamily="34" charset="-122"/>
              </a:rPr>
              <a:t>丙酮</a:t>
            </a:r>
            <a:r>
              <a:rPr lang="zh-CN" altLang="en-US" sz="2400" dirty="0">
                <a:latin typeface="微软雅黑" panose="020B0503020204020204" pitchFamily="34" charset="-122"/>
                <a:ea typeface="微软雅黑" panose="020B0503020204020204" pitchFamily="34" charset="-122"/>
              </a:rPr>
              <a:t>三种物质的合称。</a:t>
            </a: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spcBef>
                <a:spcPts val="600"/>
              </a:spcBef>
              <a:buFont typeface="Arial" panose="020B0604020202020204" pitchFamily="34" charset="0"/>
              <a:buChar char="•"/>
            </a:pPr>
            <a:r>
              <a:rPr lang="zh-CN" altLang="en-US" sz="2400" dirty="0">
                <a:solidFill>
                  <a:srgbClr val="FF0000"/>
                </a:solidFill>
                <a:latin typeface="微软雅黑" panose="020B0503020204020204" pitchFamily="34" charset="-122"/>
                <a:ea typeface="微软雅黑" panose="020B0503020204020204" pitchFamily="34" charset="-122"/>
              </a:rPr>
              <a:t>肝内合成（线粒体）</a:t>
            </a:r>
            <a:r>
              <a:rPr lang="zh-CN" altLang="en-US" sz="2400" dirty="0">
                <a:latin typeface="微软雅黑" panose="020B0503020204020204" pitchFamily="34" charset="-122"/>
                <a:ea typeface="微软雅黑" panose="020B0503020204020204" pitchFamily="34" charset="-122"/>
              </a:rPr>
              <a:t>，肝外组织分解供能（脑、肌肉）。</a:t>
            </a:r>
          </a:p>
        </p:txBody>
      </p:sp>
      <p:sp>
        <p:nvSpPr>
          <p:cNvPr id="21" name="矩形 20"/>
          <p:cNvSpPr/>
          <p:nvPr/>
        </p:nvSpPr>
        <p:spPr>
          <a:xfrm>
            <a:off x="7821619" y="5232580"/>
            <a:ext cx="713657" cy="276999"/>
          </a:xfrm>
          <a:prstGeom prst="rect">
            <a:avLst/>
          </a:prstGeom>
        </p:spPr>
        <p:txBody>
          <a:bodyPr wrap="none">
            <a:spAutoFit/>
          </a:bodyPr>
          <a:lstStyle/>
          <a:p>
            <a:r>
              <a:rPr lang="en-US" altLang="zh-CN" sz="1200" b="1" dirty="0">
                <a:solidFill>
                  <a:srgbClr val="EB35CD"/>
                </a:solidFill>
                <a:latin typeface="微软雅黑" panose="020B0503020204020204" pitchFamily="34" charset="-122"/>
                <a:ea typeface="微软雅黑" panose="020B0503020204020204" pitchFamily="34" charset="-122"/>
              </a:rPr>
              <a:t>-</a:t>
            </a:r>
            <a:r>
              <a:rPr lang="zh-CN" altLang="en-US" sz="1200" b="1" dirty="0">
                <a:solidFill>
                  <a:srgbClr val="EB35CD"/>
                </a:solidFill>
                <a:latin typeface="微软雅黑" panose="020B0503020204020204" pitchFamily="34" charset="-122"/>
                <a:ea typeface="微软雅黑" panose="020B0503020204020204" pitchFamily="34" charset="-122"/>
              </a:rPr>
              <a:t>脱氢酶</a:t>
            </a:r>
            <a:endParaRPr lang="zh-CN" altLang="en-US" sz="1200" dirty="0">
              <a:solidFill>
                <a:srgbClr val="EB35CD"/>
              </a:solidFill>
            </a:endParaRPr>
          </a:p>
        </p:txBody>
      </p:sp>
    </p:spTree>
  </p:cSld>
  <p:clrMapOvr>
    <a:masterClrMapping/>
  </p:clrMapOvr>
  <p:transition>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3"/>
          <a:srcRect r="-46632"/>
          <a:stretch>
            <a:fillRect/>
          </a:stretch>
        </p:blipFill>
        <p:spPr>
          <a:xfrm>
            <a:off x="4961018" y="153000"/>
            <a:ext cx="5389896" cy="6552000"/>
          </a:xfrm>
          <a:prstGeom prst="rect">
            <a:avLst/>
          </a:prstGeom>
          <a:ln>
            <a:noFill/>
          </a:ln>
        </p:spPr>
      </p:pic>
      <p:sp>
        <p:nvSpPr>
          <p:cNvPr id="16" name="矩形 15"/>
          <p:cNvSpPr/>
          <p:nvPr/>
        </p:nvSpPr>
        <p:spPr>
          <a:xfrm>
            <a:off x="1135815" y="208385"/>
            <a:ext cx="1605280" cy="521970"/>
          </a:xfrm>
          <a:prstGeom prst="rect">
            <a:avLst/>
          </a:prstGeom>
          <a:solidFill>
            <a:schemeClr val="accent6">
              <a:lumMod val="60000"/>
              <a:lumOff val="40000"/>
            </a:schemeClr>
          </a:solidFill>
        </p:spPr>
        <p:txBody>
          <a:bodyPr wrap="none">
            <a:spAutoFit/>
          </a:bodyPr>
          <a:lstStyle/>
          <a:p>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酮体利用</a:t>
            </a:r>
          </a:p>
        </p:txBody>
      </p:sp>
      <p:sp>
        <p:nvSpPr>
          <p:cNvPr id="8" name="文本框 7"/>
          <p:cNvSpPr txBox="1"/>
          <p:nvPr/>
        </p:nvSpPr>
        <p:spPr>
          <a:xfrm>
            <a:off x="8909727" y="6090367"/>
            <a:ext cx="1298753" cy="338554"/>
          </a:xfrm>
          <a:prstGeom prst="rect">
            <a:avLst/>
          </a:prstGeom>
          <a:noFill/>
          <a:ln>
            <a:solidFill>
              <a:schemeClr val="tx1"/>
            </a:solidFill>
          </a:ln>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2 </a:t>
            </a:r>
            <a:r>
              <a:rPr lang="zh-CN" altLang="en-US" sz="1600" b="1" dirty="0">
                <a:latin typeface="微软雅黑" panose="020B0503020204020204" pitchFamily="34" charset="-122"/>
                <a:ea typeface="微软雅黑" panose="020B0503020204020204" pitchFamily="34" charset="-122"/>
              </a:rPr>
              <a:t>乙酰</a:t>
            </a:r>
            <a:r>
              <a:rPr lang="en-US" altLang="zh-CN" sz="1600" b="1" dirty="0">
                <a:latin typeface="微软雅黑" panose="020B0503020204020204" pitchFamily="34" charset="-122"/>
                <a:ea typeface="微软雅黑" panose="020B0503020204020204" pitchFamily="34" charset="-122"/>
              </a:rPr>
              <a:t>-CoA</a:t>
            </a:r>
            <a:endParaRPr lang="zh-CN" altLang="en-US" sz="1600" b="1" dirty="0">
              <a:latin typeface="微软雅黑" panose="020B0503020204020204" pitchFamily="34" charset="-122"/>
              <a:ea typeface="微软雅黑" panose="020B0503020204020204" pitchFamily="34" charset="-122"/>
            </a:endParaRPr>
          </a:p>
        </p:txBody>
      </p:sp>
      <p:sp>
        <p:nvSpPr>
          <p:cNvPr id="3" name="矩形 2"/>
          <p:cNvSpPr/>
          <p:nvPr/>
        </p:nvSpPr>
        <p:spPr>
          <a:xfrm>
            <a:off x="9203077" y="2082266"/>
            <a:ext cx="1005403" cy="338554"/>
          </a:xfrm>
          <a:prstGeom prst="rect">
            <a:avLst/>
          </a:prstGeom>
          <a:ln>
            <a:solidFill>
              <a:schemeClr val="tx1"/>
            </a:solidFill>
          </a:ln>
        </p:spPr>
        <p:txBody>
          <a:bodyPr wrap="none">
            <a:spAutoFit/>
          </a:bodyPr>
          <a:lstStyle/>
          <a:p>
            <a:r>
              <a:rPr lang="zh-CN" altLang="en-US" sz="1600" b="1" dirty="0">
                <a:latin typeface="微软雅黑" panose="020B0503020204020204" pitchFamily="34" charset="-122"/>
                <a:ea typeface="微软雅黑" panose="020B0503020204020204" pitchFamily="34" charset="-122"/>
              </a:rPr>
              <a:t>乙酰乙酰</a:t>
            </a:r>
          </a:p>
        </p:txBody>
      </p:sp>
      <p:sp>
        <p:nvSpPr>
          <p:cNvPr id="9" name="矩形 8"/>
          <p:cNvSpPr/>
          <p:nvPr/>
        </p:nvSpPr>
        <p:spPr>
          <a:xfrm>
            <a:off x="9182237" y="585112"/>
            <a:ext cx="1026243" cy="338554"/>
          </a:xfrm>
          <a:prstGeom prst="rect">
            <a:avLst/>
          </a:prstGeom>
          <a:ln>
            <a:solidFill>
              <a:schemeClr val="tx1"/>
            </a:solidFill>
          </a:ln>
        </p:spPr>
        <p:txBody>
          <a:bodyPr wrap="none">
            <a:spAutoFit/>
          </a:bodyPr>
          <a:lstStyle/>
          <a:p>
            <a:r>
              <a:rPr lang="en-US" altLang="zh-CN" sz="1600" b="1" dirty="0">
                <a:latin typeface="微软雅黑" panose="020B0503020204020204" pitchFamily="34" charset="-122"/>
                <a:ea typeface="微软雅黑" panose="020B0503020204020204" pitchFamily="34" charset="-122"/>
              </a:rPr>
              <a:t>β-</a:t>
            </a:r>
            <a:r>
              <a:rPr lang="zh-CN" altLang="en-US" sz="1600" b="1" dirty="0">
                <a:latin typeface="微软雅黑" panose="020B0503020204020204" pitchFamily="34" charset="-122"/>
                <a:ea typeface="微软雅黑" panose="020B0503020204020204" pitchFamily="34" charset="-122"/>
              </a:rPr>
              <a:t>羟丁酸</a:t>
            </a:r>
            <a:endParaRPr lang="zh-CN" altLang="en-US" sz="1600" dirty="0"/>
          </a:p>
        </p:txBody>
      </p:sp>
      <p:sp>
        <p:nvSpPr>
          <p:cNvPr id="18" name="矩形 17"/>
          <p:cNvSpPr/>
          <p:nvPr/>
        </p:nvSpPr>
        <p:spPr>
          <a:xfrm>
            <a:off x="7221257" y="2359393"/>
            <a:ext cx="1345240" cy="276999"/>
          </a:xfrm>
          <a:prstGeom prst="rect">
            <a:avLst/>
          </a:prstGeom>
        </p:spPr>
        <p:txBody>
          <a:bodyPr wrap="none">
            <a:spAutoFit/>
          </a:bodyPr>
          <a:lstStyle/>
          <a:p>
            <a:r>
              <a:rPr lang="en-US" altLang="zh-CN" sz="1200" b="1" dirty="0">
                <a:solidFill>
                  <a:srgbClr val="EB35CD"/>
                </a:solidFill>
                <a:latin typeface="微软雅黑" panose="020B0503020204020204" pitchFamily="34" charset="-122"/>
                <a:ea typeface="微软雅黑" panose="020B0503020204020204" pitchFamily="34" charset="-122"/>
              </a:rPr>
              <a:t>β-</a:t>
            </a:r>
            <a:r>
              <a:rPr lang="zh-CN" altLang="en-US" sz="1200" b="1" dirty="0">
                <a:solidFill>
                  <a:srgbClr val="EB35CD"/>
                </a:solidFill>
                <a:latin typeface="微软雅黑" panose="020B0503020204020204" pitchFamily="34" charset="-122"/>
                <a:ea typeface="微软雅黑" panose="020B0503020204020204" pitchFamily="34" charset="-122"/>
              </a:rPr>
              <a:t>羟丁酸</a:t>
            </a:r>
            <a:r>
              <a:rPr lang="en-US" altLang="zh-CN" sz="1200" b="1" dirty="0">
                <a:solidFill>
                  <a:srgbClr val="EB35CD"/>
                </a:solidFill>
                <a:latin typeface="微软雅黑" panose="020B0503020204020204" pitchFamily="34" charset="-122"/>
                <a:ea typeface="微软雅黑" panose="020B0503020204020204" pitchFamily="34" charset="-122"/>
              </a:rPr>
              <a:t>-</a:t>
            </a:r>
            <a:r>
              <a:rPr lang="zh-CN" altLang="en-US" sz="1200" b="1" dirty="0">
                <a:solidFill>
                  <a:srgbClr val="EB35CD"/>
                </a:solidFill>
                <a:latin typeface="微软雅黑" panose="020B0503020204020204" pitchFamily="34" charset="-122"/>
                <a:ea typeface="微软雅黑" panose="020B0503020204020204" pitchFamily="34" charset="-122"/>
              </a:rPr>
              <a:t>脱氢酶</a:t>
            </a:r>
            <a:endParaRPr lang="zh-CN" altLang="en-US" sz="1200" dirty="0">
              <a:solidFill>
                <a:srgbClr val="EB35CD"/>
              </a:solidFill>
            </a:endParaRPr>
          </a:p>
        </p:txBody>
      </p:sp>
      <p:sp>
        <p:nvSpPr>
          <p:cNvPr id="20" name="矩形 19"/>
          <p:cNvSpPr/>
          <p:nvPr/>
        </p:nvSpPr>
        <p:spPr>
          <a:xfrm>
            <a:off x="7221257" y="3579659"/>
            <a:ext cx="1444626" cy="276999"/>
          </a:xfrm>
          <a:prstGeom prst="rect">
            <a:avLst/>
          </a:prstGeom>
        </p:spPr>
        <p:txBody>
          <a:bodyPr wrap="none">
            <a:spAutoFit/>
          </a:bodyPr>
          <a:lstStyle/>
          <a:p>
            <a:r>
              <a:rPr lang="en-US" altLang="zh-CN" sz="1200" b="1" dirty="0">
                <a:solidFill>
                  <a:srgbClr val="EB35CD"/>
                </a:solidFill>
                <a:latin typeface="微软雅黑" panose="020B0503020204020204" pitchFamily="34" charset="-122"/>
                <a:ea typeface="微软雅黑" panose="020B0503020204020204" pitchFamily="34" charset="-122"/>
              </a:rPr>
              <a:t>β-</a:t>
            </a:r>
            <a:r>
              <a:rPr lang="zh-CN" altLang="en-US" sz="1200" b="1" dirty="0">
                <a:solidFill>
                  <a:srgbClr val="EB35CD"/>
                </a:solidFill>
                <a:latin typeface="微软雅黑" panose="020B0503020204020204" pitchFamily="34" charset="-122"/>
                <a:ea typeface="微软雅黑" panose="020B0503020204020204" pitchFamily="34" charset="-122"/>
              </a:rPr>
              <a:t>酮酰</a:t>
            </a:r>
            <a:r>
              <a:rPr lang="en-US" altLang="zh-CN" sz="1200" b="1" dirty="0">
                <a:solidFill>
                  <a:srgbClr val="EB35CD"/>
                </a:solidFill>
                <a:latin typeface="微软雅黑" panose="020B0503020204020204" pitchFamily="34" charset="-122"/>
                <a:ea typeface="微软雅黑" panose="020B0503020204020204" pitchFamily="34" charset="-122"/>
              </a:rPr>
              <a:t>CoA</a:t>
            </a:r>
            <a:r>
              <a:rPr lang="zh-CN" altLang="en-US" sz="1200" b="1" dirty="0">
                <a:solidFill>
                  <a:srgbClr val="EB35CD"/>
                </a:solidFill>
                <a:latin typeface="微软雅黑" panose="020B0503020204020204" pitchFamily="34" charset="-122"/>
                <a:ea typeface="微软雅黑" panose="020B0503020204020204" pitchFamily="34" charset="-122"/>
              </a:rPr>
              <a:t>转移酶</a:t>
            </a:r>
          </a:p>
        </p:txBody>
      </p:sp>
      <p:sp>
        <p:nvSpPr>
          <p:cNvPr id="10" name="矩形 9"/>
          <p:cNvSpPr/>
          <p:nvPr/>
        </p:nvSpPr>
        <p:spPr>
          <a:xfrm>
            <a:off x="448413" y="1271852"/>
            <a:ext cx="4145358" cy="1831271"/>
          </a:xfrm>
          <a:prstGeom prst="rect">
            <a:avLst/>
          </a:prstGeom>
        </p:spPr>
        <p:txBody>
          <a:bodyPr wrap="square">
            <a:spAutoFit/>
          </a:bodyPr>
          <a:lstStyle/>
          <a:p>
            <a:pPr marL="285750" indent="-285750">
              <a:lnSpc>
                <a:spcPct val="150000"/>
              </a:lnSpc>
              <a:spcBef>
                <a:spcPts val="600"/>
              </a:spcBef>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肝外组织：</a:t>
            </a:r>
            <a:r>
              <a:rPr lang="en-US" altLang="zh-CN" sz="2400" dirty="0">
                <a:solidFill>
                  <a:srgbClr val="FF0000"/>
                </a:solidFill>
                <a:latin typeface="微软雅黑" panose="020B0503020204020204" pitchFamily="34" charset="-122"/>
                <a:ea typeface="微软雅黑" panose="020B0503020204020204" pitchFamily="34" charset="-122"/>
              </a:rPr>
              <a:t>β-</a:t>
            </a:r>
            <a:r>
              <a:rPr lang="zh-CN" altLang="en-US" sz="2400" dirty="0">
                <a:solidFill>
                  <a:srgbClr val="FF0000"/>
                </a:solidFill>
                <a:latin typeface="微软雅黑" panose="020B0503020204020204" pitchFamily="34" charset="-122"/>
                <a:ea typeface="微软雅黑" panose="020B0503020204020204" pitchFamily="34" charset="-122"/>
              </a:rPr>
              <a:t>羟丁酸，乙酰乙酸</a:t>
            </a:r>
            <a:r>
              <a:rPr lang="zh-CN" altLang="en-US" sz="2400" dirty="0">
                <a:latin typeface="微软雅黑" panose="020B0503020204020204" pitchFamily="34" charset="-122"/>
                <a:ea typeface="微软雅黑" panose="020B0503020204020204" pitchFamily="34" charset="-122"/>
              </a:rPr>
              <a:t>转化为乙酰</a:t>
            </a:r>
            <a:r>
              <a:rPr lang="en-US" altLang="zh-CN" sz="2400" dirty="0">
                <a:latin typeface="微软雅黑" panose="020B0503020204020204" pitchFamily="34" charset="-122"/>
                <a:ea typeface="微软雅黑" panose="020B0503020204020204" pitchFamily="34" charset="-122"/>
              </a:rPr>
              <a:t>CoA</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spcBef>
                <a:spcPts val="600"/>
              </a:spcBef>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乙酰</a:t>
            </a:r>
            <a:r>
              <a:rPr lang="en-US" altLang="zh-CN" sz="2400" dirty="0">
                <a:latin typeface="微软雅黑" panose="020B0503020204020204" pitchFamily="34" charset="-122"/>
                <a:ea typeface="微软雅黑" panose="020B0503020204020204" pitchFamily="34" charset="-122"/>
              </a:rPr>
              <a:t>CoA </a:t>
            </a:r>
            <a:r>
              <a:rPr lang="zh-CN" altLang="en-US" sz="2400" dirty="0">
                <a:latin typeface="微软雅黑" panose="020B0503020204020204" pitchFamily="34" charset="-122"/>
                <a:ea typeface="微软雅黑" panose="020B0503020204020204" pitchFamily="34" charset="-122"/>
              </a:rPr>
              <a:t>进入柠檬酸循环。</a:t>
            </a:r>
          </a:p>
        </p:txBody>
      </p:sp>
      <p:sp>
        <p:nvSpPr>
          <p:cNvPr id="19" name="矩形 18"/>
          <p:cNvSpPr/>
          <p:nvPr/>
        </p:nvSpPr>
        <p:spPr>
          <a:xfrm>
            <a:off x="7332801" y="5582840"/>
            <a:ext cx="646331" cy="276999"/>
          </a:xfrm>
          <a:prstGeom prst="rect">
            <a:avLst/>
          </a:prstGeom>
        </p:spPr>
        <p:txBody>
          <a:bodyPr wrap="none">
            <a:spAutoFit/>
          </a:bodyPr>
          <a:lstStyle/>
          <a:p>
            <a:r>
              <a:rPr lang="zh-CN" altLang="en-US" sz="1200" b="1" dirty="0">
                <a:solidFill>
                  <a:srgbClr val="EB35CD"/>
                </a:solidFill>
                <a:latin typeface="微软雅黑" panose="020B0503020204020204" pitchFamily="34" charset="-122"/>
                <a:ea typeface="微软雅黑" panose="020B0503020204020204" pitchFamily="34" charset="-122"/>
              </a:rPr>
              <a:t>硫解酶</a:t>
            </a:r>
          </a:p>
        </p:txBody>
      </p:sp>
      <p:sp>
        <p:nvSpPr>
          <p:cNvPr id="21" name="矩形 20"/>
          <p:cNvSpPr/>
          <p:nvPr/>
        </p:nvSpPr>
        <p:spPr>
          <a:xfrm>
            <a:off x="8686909" y="4288658"/>
            <a:ext cx="1521570" cy="338554"/>
          </a:xfrm>
          <a:prstGeom prst="rect">
            <a:avLst/>
          </a:prstGeom>
          <a:ln>
            <a:solidFill>
              <a:schemeClr val="tx1"/>
            </a:solidFill>
          </a:ln>
        </p:spPr>
        <p:txBody>
          <a:bodyPr wrap="none">
            <a:spAutoFit/>
          </a:bodyPr>
          <a:lstStyle/>
          <a:p>
            <a:r>
              <a:rPr lang="zh-CN" altLang="en-US" sz="1600" b="1" dirty="0">
                <a:latin typeface="微软雅黑" panose="020B0503020204020204" pitchFamily="34" charset="-122"/>
                <a:ea typeface="微软雅黑" panose="020B0503020204020204" pitchFamily="34" charset="-122"/>
              </a:rPr>
              <a:t>乙酰乙酰</a:t>
            </a:r>
            <a:r>
              <a:rPr lang="en-US" altLang="zh-CN" sz="1600" b="1" dirty="0">
                <a:latin typeface="微软雅黑" panose="020B0503020204020204" pitchFamily="34" charset="-122"/>
                <a:ea typeface="微软雅黑" panose="020B0503020204020204" pitchFamily="34" charset="-122"/>
              </a:rPr>
              <a:t>-CoA</a:t>
            </a:r>
            <a:endParaRPr lang="zh-CN" altLang="en-US" sz="16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5149549" y="3340368"/>
            <a:ext cx="1034257" cy="276999"/>
          </a:xfrm>
          <a:prstGeom prst="rect">
            <a:avLst/>
          </a:prstGeom>
          <a:noFill/>
        </p:spPr>
        <p:txBody>
          <a:bodyPr wrap="none" rtlCol="0">
            <a:spAutoFit/>
          </a:bodyPr>
          <a:lstStyle/>
          <a:p>
            <a:r>
              <a:rPr lang="zh-CN" altLang="en-US" sz="1200" b="1" dirty="0">
                <a:solidFill>
                  <a:srgbClr val="FF0000"/>
                </a:solidFill>
                <a:latin typeface="微软雅黑" panose="020B0503020204020204" pitchFamily="34" charset="-122"/>
                <a:ea typeface="微软雅黑" panose="020B0503020204020204" pitchFamily="34" charset="-122"/>
              </a:rPr>
              <a:t>琥珀酰</a:t>
            </a:r>
            <a:r>
              <a:rPr lang="en-US" altLang="zh-CN" sz="1200" b="1" dirty="0">
                <a:solidFill>
                  <a:srgbClr val="FF0000"/>
                </a:solidFill>
                <a:latin typeface="微软雅黑" panose="020B0503020204020204" pitchFamily="34" charset="-122"/>
                <a:ea typeface="微软雅黑" panose="020B0503020204020204" pitchFamily="34" charset="-122"/>
              </a:rPr>
              <a:t>-CoA</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sp>
        <p:nvSpPr>
          <p:cNvPr id="13" name="椭圆 12"/>
          <p:cNvSpPr/>
          <p:nvPr/>
        </p:nvSpPr>
        <p:spPr>
          <a:xfrm>
            <a:off x="7000890" y="3146547"/>
            <a:ext cx="1885361" cy="866223"/>
          </a:xfrm>
          <a:prstGeom prst="ellipse">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3382144" y="1180721"/>
            <a:ext cx="5444656" cy="2907665"/>
          </a:xfrm>
          <a:prstGeom prst="rect">
            <a:avLst/>
          </a:prstGeom>
          <a:noFill/>
        </p:spPr>
        <p:txBody>
          <a:bodyPr wrap="square" rtlCol="0">
            <a:spAutoFit/>
          </a:bodyPr>
          <a:lstStyle/>
          <a:p>
            <a:pPr>
              <a:lnSpc>
                <a:spcPct val="150000"/>
              </a:lnSpc>
              <a:spcBef>
                <a:spcPts val="600"/>
              </a:spcBef>
            </a:pPr>
            <a:r>
              <a:rPr lang="zh-CN" altLang="en-US" sz="2800" b="1" dirty="0">
                <a:latin typeface="微软雅黑" panose="020B0503020204020204" pitchFamily="34" charset="-122"/>
                <a:ea typeface="微软雅黑" panose="020B0503020204020204" pitchFamily="34" charset="-122"/>
              </a:rPr>
              <a:t>不是分解代谢的逆反应：</a:t>
            </a:r>
            <a:endParaRPr lang="en-US" altLang="zh-CN" sz="2800" b="1" dirty="0">
              <a:latin typeface="微软雅黑" panose="020B0503020204020204" pitchFamily="34" charset="-122"/>
              <a:ea typeface="微软雅黑" panose="020B0503020204020204" pitchFamily="34" charset="-122"/>
            </a:endParaRPr>
          </a:p>
          <a:p>
            <a:pPr marL="514350" indent="-514350">
              <a:lnSpc>
                <a:spcPct val="150000"/>
              </a:lnSpc>
              <a:spcBef>
                <a:spcPts val="600"/>
              </a:spcBef>
              <a:buFont typeface="+mj-ea"/>
              <a:buAutoNum type="circleNumDbPlain"/>
            </a:pPr>
            <a:r>
              <a:rPr lang="zh-CN" altLang="en-US" sz="2800" dirty="0">
                <a:latin typeface="微软雅黑" panose="020B0503020204020204" pitchFamily="34" charset="-122"/>
                <a:ea typeface="微软雅黑" panose="020B0503020204020204" pitchFamily="34" charset="-122"/>
              </a:rPr>
              <a:t>不同的场所</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胞质</a:t>
            </a:r>
            <a:r>
              <a:rPr lang="en-US" altLang="zh-CN" sz="2800" dirty="0">
                <a:latin typeface="微软雅黑" panose="020B0503020204020204" pitchFamily="34" charset="-122"/>
                <a:ea typeface="微软雅黑" panose="020B0503020204020204" pitchFamily="34" charset="-122"/>
              </a:rPr>
              <a:t>);</a:t>
            </a:r>
          </a:p>
          <a:p>
            <a:pPr marL="514350" indent="-514350">
              <a:lnSpc>
                <a:spcPct val="150000"/>
              </a:lnSpc>
              <a:spcBef>
                <a:spcPts val="600"/>
              </a:spcBef>
              <a:buFont typeface="+mj-ea"/>
              <a:buAutoNum type="circleNumDbPlain"/>
            </a:pPr>
            <a:r>
              <a:rPr lang="zh-CN" altLang="en-US" sz="2800" dirty="0">
                <a:latin typeface="微软雅黑" panose="020B0503020204020204" pitchFamily="34" charset="-122"/>
                <a:ea typeface="微软雅黑" panose="020B0503020204020204" pitchFamily="34" charset="-122"/>
              </a:rPr>
              <a:t>不同中间体碳单元；</a:t>
            </a:r>
            <a:endParaRPr lang="en-US" altLang="zh-CN" sz="2800" dirty="0">
              <a:latin typeface="微软雅黑" panose="020B0503020204020204" pitchFamily="34" charset="-122"/>
              <a:ea typeface="微软雅黑" panose="020B0503020204020204" pitchFamily="34" charset="-122"/>
            </a:endParaRPr>
          </a:p>
          <a:p>
            <a:pPr marL="514350" indent="-514350">
              <a:lnSpc>
                <a:spcPct val="150000"/>
              </a:lnSpc>
              <a:spcBef>
                <a:spcPts val="600"/>
              </a:spcBef>
              <a:buFont typeface="+mj-ea"/>
              <a:buAutoNum type="circleNumDbPlain"/>
            </a:pPr>
            <a:r>
              <a:rPr lang="zh-CN" altLang="en-US" sz="2800" dirty="0">
                <a:latin typeface="微软雅黑" panose="020B0503020204020204" pitchFamily="34" charset="-122"/>
                <a:ea typeface="微软雅黑" panose="020B0503020204020204" pitchFamily="34" charset="-122"/>
              </a:rPr>
              <a:t>不同的酶等。</a:t>
            </a:r>
            <a:endParaRPr lang="en-US" altLang="zh-CN" sz="28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4255770" y="89654"/>
            <a:ext cx="7566660" cy="646331"/>
          </a:xfrm>
          <a:prstGeom prst="rect">
            <a:avLst/>
          </a:prstGeom>
        </p:spPr>
        <p:txBody>
          <a:bodyPr wrap="square">
            <a:spAutoFit/>
          </a:bodyPr>
          <a:lstStyle>
            <a:defPPr>
              <a:defRPr lang="en-US"/>
            </a:defPPr>
            <a:lvl1pPr>
              <a:lnSpc>
                <a:spcPct val="100000"/>
              </a:lnSpc>
              <a:defRPr sz="36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脂肪酸的合成</a:t>
            </a:r>
          </a:p>
        </p:txBody>
      </p:sp>
    </p:spTree>
  </p:cSld>
  <p:clrMapOvr>
    <a:masterClrMapping/>
  </p:clrMapOvr>
  <p:transition>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rcRect t="405"/>
          <a:stretch>
            <a:fillRect/>
          </a:stretch>
        </p:blipFill>
        <p:spPr>
          <a:xfrm>
            <a:off x="2524125" y="149226"/>
            <a:ext cx="7688580" cy="6708775"/>
          </a:xfrm>
          <a:prstGeom prst="rect">
            <a:avLst/>
          </a:prstGeom>
        </p:spPr>
      </p:pic>
      <p:sp>
        <p:nvSpPr>
          <p:cNvPr id="61443" name="Rectangle 6"/>
          <p:cNvSpPr/>
          <p:nvPr/>
        </p:nvSpPr>
        <p:spPr>
          <a:xfrm>
            <a:off x="9171548" y="5754434"/>
            <a:ext cx="1818005" cy="706755"/>
          </a:xfrm>
          <a:prstGeom prst="rect">
            <a:avLst/>
          </a:prstGeom>
          <a:solidFill>
            <a:schemeClr val="accent6">
              <a:lumMod val="40000"/>
              <a:lumOff val="60000"/>
            </a:schemeClr>
          </a:solidFill>
          <a:ln w="12700">
            <a:noFill/>
          </a:ln>
        </p:spPr>
        <p:txBody>
          <a:bodyPr wrap="none" anchor="ctr" anchorCtr="0">
            <a:spAutoFit/>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indent="0" algn="ctr">
              <a:spcBef>
                <a:spcPct val="0"/>
              </a:spcBef>
              <a:buNone/>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柠檬酸</a:t>
            </a:r>
            <a:r>
              <a:rPr lang="en-US" altLang="zh-CN" sz="2000" b="1"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丙酮酸</a:t>
            </a:r>
          </a:p>
          <a:p>
            <a:pPr marL="0" indent="0" algn="ctr">
              <a:spcBef>
                <a:spcPct val="0"/>
              </a:spcBef>
              <a:buNone/>
            </a:pPr>
            <a:r>
              <a:rPr lang="zh-CN" altLang="en-US" sz="2000" b="1" dirty="0">
                <a:latin typeface="微软雅黑" panose="020B0503020204020204" pitchFamily="34" charset="-122"/>
                <a:ea typeface="微软雅黑" panose="020B0503020204020204" pitchFamily="34" charset="-122"/>
                <a:cs typeface="微软雅黑" panose="020B0503020204020204" pitchFamily="34" charset="-122"/>
              </a:rPr>
              <a:t>跨膜穿梭系统</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文本框 3"/>
          <p:cNvSpPr txBox="1"/>
          <p:nvPr/>
        </p:nvSpPr>
        <p:spPr>
          <a:xfrm>
            <a:off x="496888" y="3108960"/>
            <a:ext cx="2339102" cy="954107"/>
          </a:xfrm>
          <a:prstGeom prst="rect">
            <a:avLst/>
          </a:prstGeom>
          <a:solidFill>
            <a:schemeClr val="accent3">
              <a:lumMod val="60000"/>
              <a:lumOff val="40000"/>
            </a:schemeClr>
          </a:solidFill>
          <a:ln>
            <a:noFill/>
          </a:ln>
        </p:spPr>
        <p:txBody>
          <a:bodyPr wrap="none" rtlCol="0" anchor="t">
            <a:spAutoFit/>
          </a:bodyPr>
          <a:lstStyle/>
          <a:p>
            <a:pPr algn="l"/>
            <a:r>
              <a:rPr lang="zh-CN" altLang="en-US" sz="2800" b="1" dirty="0">
                <a:latin typeface="微软雅黑" panose="020B0503020204020204" pitchFamily="34" charset="-122"/>
                <a:ea typeface="微软雅黑" panose="020B0503020204020204" pitchFamily="34" charset="-122"/>
                <a:sym typeface="+mn-ea"/>
              </a:rPr>
              <a:t>乙酰</a:t>
            </a:r>
            <a:r>
              <a:rPr lang="en-US" altLang="zh-CN" sz="2800" b="1" dirty="0">
                <a:latin typeface="微软雅黑" panose="020B0503020204020204" pitchFamily="34" charset="-122"/>
                <a:ea typeface="微软雅黑" panose="020B0503020204020204" pitchFamily="34" charset="-122"/>
                <a:sym typeface="+mn-ea"/>
              </a:rPr>
              <a:t>CoA:</a:t>
            </a:r>
            <a:endParaRPr lang="zh-CN" altLang="en-US" sz="2800" b="1" dirty="0">
              <a:latin typeface="微软雅黑" panose="020B0503020204020204" pitchFamily="34" charset="-122"/>
              <a:ea typeface="微软雅黑" panose="020B0503020204020204" pitchFamily="34" charset="-122"/>
              <a:sym typeface="+mn-ea"/>
            </a:endParaRPr>
          </a:p>
          <a:p>
            <a:pPr algn="l"/>
            <a:r>
              <a:rPr lang="zh-CN" altLang="en-US" sz="2800" b="1" dirty="0">
                <a:latin typeface="微软雅黑" panose="020B0503020204020204" pitchFamily="34" charset="-122"/>
                <a:ea typeface="微软雅黑" panose="020B0503020204020204" pitchFamily="34" charset="-122"/>
                <a:sym typeface="+mn-ea"/>
              </a:rPr>
              <a:t>线粒体</a:t>
            </a:r>
            <a:r>
              <a:rPr lang="en-US" altLang="zh-CN" sz="2800" b="1" dirty="0">
                <a:latin typeface="微软雅黑" panose="020B0503020204020204" pitchFamily="34" charset="-122"/>
                <a:ea typeface="微软雅黑" panose="020B0503020204020204" pitchFamily="34" charset="-122"/>
                <a:sym typeface="+mn-ea"/>
              </a:rPr>
              <a:t>→</a:t>
            </a:r>
            <a:r>
              <a:rPr lang="zh-CN" altLang="en-US" sz="2800" b="1" dirty="0">
                <a:latin typeface="微软雅黑" panose="020B0503020204020204" pitchFamily="34" charset="-122"/>
                <a:ea typeface="微软雅黑" panose="020B0503020204020204" pitchFamily="34" charset="-122"/>
                <a:sym typeface="+mn-ea"/>
              </a:rPr>
              <a:t>胞质</a:t>
            </a:r>
          </a:p>
        </p:txBody>
      </p:sp>
      <p:sp>
        <p:nvSpPr>
          <p:cNvPr id="5" name="文本框 4"/>
          <p:cNvSpPr txBox="1"/>
          <p:nvPr/>
        </p:nvSpPr>
        <p:spPr>
          <a:xfrm>
            <a:off x="4826001" y="1582420"/>
            <a:ext cx="2994025" cy="275590"/>
          </a:xfrm>
          <a:prstGeom prst="rect">
            <a:avLst/>
          </a:prstGeom>
          <a:noFill/>
          <a:ln>
            <a:noFill/>
          </a:ln>
        </p:spPr>
        <p:txBody>
          <a:bodyPr wrap="square" rtlCol="0" anchor="t">
            <a:spAutoFit/>
          </a:bodyPr>
          <a:lstStyle/>
          <a:p>
            <a:pPr algn="l"/>
            <a:r>
              <a:rPr lang="zh-CN" altLang="zh-CN" sz="1200" b="1" dirty="0">
                <a:latin typeface="微软雅黑" panose="020B0503020204020204" pitchFamily="34" charset="-122"/>
                <a:ea typeface="微软雅黑" panose="020B0503020204020204" pitchFamily="34" charset="-122"/>
              </a:rPr>
              <a:t>柠檬酸</a:t>
            </a:r>
            <a:r>
              <a:rPr lang="en-US" altLang="zh-CN" sz="1200" b="1" dirty="0">
                <a:latin typeface="微软雅黑" panose="020B0503020204020204" pitchFamily="34" charset="-122"/>
                <a:ea typeface="微软雅黑" panose="020B0503020204020204" pitchFamily="34" charset="-122"/>
              </a:rPr>
              <a:t>                                      </a:t>
            </a:r>
            <a:r>
              <a:rPr lang="zh-CN" altLang="en-US" sz="1200" b="1" dirty="0">
                <a:latin typeface="微软雅黑" panose="020B0503020204020204" pitchFamily="34" charset="-122"/>
                <a:ea typeface="微软雅黑" panose="020B0503020204020204" pitchFamily="34" charset="-122"/>
              </a:rPr>
              <a:t>柠檬酸</a:t>
            </a:r>
          </a:p>
        </p:txBody>
      </p:sp>
      <p:sp>
        <p:nvSpPr>
          <p:cNvPr id="6" name="文本框 5"/>
          <p:cNvSpPr txBox="1"/>
          <p:nvPr/>
        </p:nvSpPr>
        <p:spPr>
          <a:xfrm>
            <a:off x="9380220" y="1185546"/>
            <a:ext cx="1071880" cy="306705"/>
          </a:xfrm>
          <a:prstGeom prst="rect">
            <a:avLst/>
          </a:prstGeom>
          <a:solidFill>
            <a:schemeClr val="accent6">
              <a:lumMod val="40000"/>
              <a:lumOff val="60000"/>
            </a:schemeClr>
          </a:solidFill>
        </p:spPr>
        <p:style>
          <a:lnRef idx="2">
            <a:schemeClr val="dk1"/>
          </a:lnRef>
          <a:fillRef idx="1">
            <a:schemeClr val="lt1"/>
          </a:fillRef>
          <a:effectRef idx="0">
            <a:schemeClr val="dk1"/>
          </a:effectRef>
          <a:fontRef idx="minor">
            <a:schemeClr val="dk1"/>
          </a:fontRef>
        </p:style>
        <p:txBody>
          <a:bodyPr wrap="none" rtlCol="0" anchor="t">
            <a:spAutoFit/>
          </a:bodyPr>
          <a:lstStyle/>
          <a:p>
            <a:pPr algn="l"/>
            <a:r>
              <a:rPr lang="zh-CN" altLang="en-US" sz="1400" b="1" dirty="0">
                <a:solidFill>
                  <a:srgbClr val="FF0000"/>
                </a:solidFill>
                <a:latin typeface="微软雅黑" panose="020B0503020204020204" pitchFamily="34" charset="-122"/>
                <a:ea typeface="微软雅黑" panose="020B0503020204020204" pitchFamily="34" charset="-122"/>
              </a:rPr>
              <a:t>脂肪酸合成</a:t>
            </a:r>
          </a:p>
        </p:txBody>
      </p:sp>
      <p:sp>
        <p:nvSpPr>
          <p:cNvPr id="7" name="文本框 6"/>
          <p:cNvSpPr txBox="1"/>
          <p:nvPr/>
        </p:nvSpPr>
        <p:spPr>
          <a:xfrm>
            <a:off x="9093201" y="2602866"/>
            <a:ext cx="923925" cy="306705"/>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vertOverflow="overflow" horzOverflow="overflow" vert="horz" wrap="square" numCol="1" spcCol="0" rtlCol="0" fromWordArt="0" anchor="t" anchorCtr="0" forceAA="0" compatLnSpc="1">
            <a:spAutoFit/>
          </a:bodyPr>
          <a:lstStyle/>
          <a:p>
            <a:pPr lvl="0" algn="l">
              <a:buClrTx/>
              <a:buSzTx/>
              <a:buFontTx/>
            </a:pPr>
            <a:r>
              <a:rPr lang="zh-CN" altLang="en-US" sz="1400" b="1" dirty="0">
                <a:solidFill>
                  <a:srgbClr val="FF0000"/>
                </a:solidFill>
                <a:latin typeface="微软雅黑" panose="020B0503020204020204" pitchFamily="34" charset="-122"/>
                <a:ea typeface="微软雅黑" panose="020B0503020204020204" pitchFamily="34" charset="-122"/>
                <a:sym typeface="+mn-ea"/>
              </a:rPr>
              <a:t>乙酰CoA</a:t>
            </a:r>
          </a:p>
        </p:txBody>
      </p:sp>
      <p:sp>
        <p:nvSpPr>
          <p:cNvPr id="8" name="文本框 7"/>
          <p:cNvSpPr txBox="1"/>
          <p:nvPr/>
        </p:nvSpPr>
        <p:spPr>
          <a:xfrm>
            <a:off x="4356735" y="2719070"/>
            <a:ext cx="792480" cy="275590"/>
          </a:xfrm>
          <a:prstGeom prst="rect">
            <a:avLst/>
          </a:prstGeom>
          <a:noFill/>
          <a:ln>
            <a:noFill/>
          </a:ln>
        </p:spPr>
        <p:txBody>
          <a:bodyPr wrap="none" rtlCol="0" anchor="t">
            <a:spAutoFit/>
          </a:bodyPr>
          <a:lstStyle/>
          <a:p>
            <a:pPr algn="l"/>
            <a:r>
              <a:rPr lang="zh-CN" altLang="en-US" sz="1200" b="1" dirty="0">
                <a:latin typeface="微软雅黑" panose="020B0503020204020204" pitchFamily="34" charset="-122"/>
                <a:ea typeface="微软雅黑" panose="020B0503020204020204" pitchFamily="34" charset="-122"/>
              </a:rPr>
              <a:t>草酰乙酸</a:t>
            </a:r>
          </a:p>
        </p:txBody>
      </p:sp>
      <p:sp>
        <p:nvSpPr>
          <p:cNvPr id="9" name="文本框 8"/>
          <p:cNvSpPr txBox="1"/>
          <p:nvPr/>
        </p:nvSpPr>
        <p:spPr>
          <a:xfrm>
            <a:off x="7063105" y="2763520"/>
            <a:ext cx="792480" cy="275590"/>
          </a:xfrm>
          <a:prstGeom prst="rect">
            <a:avLst/>
          </a:prstGeom>
          <a:noFill/>
          <a:ln>
            <a:noFill/>
          </a:ln>
        </p:spPr>
        <p:txBody>
          <a:bodyPr wrap="none" rtlCol="0" anchor="t">
            <a:spAutoFit/>
          </a:bodyPr>
          <a:lstStyle/>
          <a:p>
            <a:pPr algn="l"/>
            <a:r>
              <a:rPr lang="zh-CN" altLang="en-US" sz="1200" b="1" dirty="0">
                <a:latin typeface="微软雅黑" panose="020B0503020204020204" pitchFamily="34" charset="-122"/>
                <a:ea typeface="微软雅黑" panose="020B0503020204020204" pitchFamily="34" charset="-122"/>
              </a:rPr>
              <a:t>草酰乙酸</a:t>
            </a:r>
          </a:p>
        </p:txBody>
      </p:sp>
      <p:sp>
        <p:nvSpPr>
          <p:cNvPr id="10" name="文本框 9"/>
          <p:cNvSpPr txBox="1"/>
          <p:nvPr/>
        </p:nvSpPr>
        <p:spPr>
          <a:xfrm>
            <a:off x="4356735" y="3677920"/>
            <a:ext cx="640080" cy="275590"/>
          </a:xfrm>
          <a:prstGeom prst="rect">
            <a:avLst/>
          </a:prstGeom>
          <a:noFill/>
          <a:ln>
            <a:noFill/>
          </a:ln>
        </p:spPr>
        <p:txBody>
          <a:bodyPr wrap="none" rtlCol="0" anchor="t">
            <a:spAutoFit/>
          </a:bodyPr>
          <a:lstStyle/>
          <a:p>
            <a:pPr algn="l"/>
            <a:r>
              <a:rPr lang="zh-CN" altLang="en-US" sz="1200" b="1" dirty="0">
                <a:latin typeface="微软雅黑" panose="020B0503020204020204" pitchFamily="34" charset="-122"/>
                <a:ea typeface="微软雅黑" panose="020B0503020204020204" pitchFamily="34" charset="-122"/>
              </a:rPr>
              <a:t>苹果酸</a:t>
            </a:r>
          </a:p>
        </p:txBody>
      </p:sp>
      <p:sp>
        <p:nvSpPr>
          <p:cNvPr id="11" name="文本框 10"/>
          <p:cNvSpPr txBox="1"/>
          <p:nvPr/>
        </p:nvSpPr>
        <p:spPr>
          <a:xfrm>
            <a:off x="7344410" y="3648710"/>
            <a:ext cx="640080" cy="275590"/>
          </a:xfrm>
          <a:prstGeom prst="rect">
            <a:avLst/>
          </a:prstGeom>
          <a:noFill/>
          <a:ln>
            <a:noFill/>
          </a:ln>
        </p:spPr>
        <p:txBody>
          <a:bodyPr wrap="none" rtlCol="0" anchor="t">
            <a:spAutoFit/>
          </a:bodyPr>
          <a:lstStyle/>
          <a:p>
            <a:pPr algn="l"/>
            <a:r>
              <a:rPr lang="zh-CN" altLang="en-US" sz="1200" b="1" dirty="0">
                <a:latin typeface="微软雅黑" panose="020B0503020204020204" pitchFamily="34" charset="-122"/>
                <a:ea typeface="微软雅黑" panose="020B0503020204020204" pitchFamily="34" charset="-122"/>
              </a:rPr>
              <a:t>苹果酸</a:t>
            </a:r>
          </a:p>
        </p:txBody>
      </p:sp>
      <p:sp>
        <p:nvSpPr>
          <p:cNvPr id="12" name="文本框 11"/>
          <p:cNvSpPr txBox="1"/>
          <p:nvPr/>
        </p:nvSpPr>
        <p:spPr>
          <a:xfrm>
            <a:off x="7653020" y="5715000"/>
            <a:ext cx="640080" cy="275590"/>
          </a:xfrm>
          <a:prstGeom prst="rect">
            <a:avLst/>
          </a:prstGeom>
          <a:noFill/>
          <a:ln>
            <a:noFill/>
          </a:ln>
        </p:spPr>
        <p:txBody>
          <a:bodyPr wrap="none" rtlCol="0" anchor="t">
            <a:spAutoFit/>
          </a:bodyPr>
          <a:lstStyle/>
          <a:p>
            <a:pPr algn="l"/>
            <a:r>
              <a:rPr lang="zh-CN" altLang="en-US" sz="1200" b="1" dirty="0">
                <a:latin typeface="微软雅黑" panose="020B0503020204020204" pitchFamily="34" charset="-122"/>
                <a:ea typeface="微软雅黑" panose="020B0503020204020204" pitchFamily="34" charset="-122"/>
              </a:rPr>
              <a:t>丙酮酸</a:t>
            </a:r>
          </a:p>
        </p:txBody>
      </p:sp>
      <p:sp>
        <p:nvSpPr>
          <p:cNvPr id="13" name="文本框 12"/>
          <p:cNvSpPr txBox="1"/>
          <p:nvPr/>
        </p:nvSpPr>
        <p:spPr>
          <a:xfrm>
            <a:off x="3866515" y="5715000"/>
            <a:ext cx="640080" cy="275590"/>
          </a:xfrm>
          <a:prstGeom prst="rect">
            <a:avLst/>
          </a:prstGeom>
          <a:noFill/>
          <a:ln>
            <a:noFill/>
          </a:ln>
        </p:spPr>
        <p:txBody>
          <a:bodyPr wrap="none" rtlCol="0" anchor="t">
            <a:spAutoFit/>
          </a:bodyPr>
          <a:lstStyle/>
          <a:p>
            <a:pPr algn="l"/>
            <a:r>
              <a:rPr lang="zh-CN" altLang="en-US" sz="1200" b="1" dirty="0">
                <a:latin typeface="微软雅黑" panose="020B0503020204020204" pitchFamily="34" charset="-122"/>
                <a:ea typeface="微软雅黑" panose="020B0503020204020204" pitchFamily="34" charset="-122"/>
              </a:rPr>
              <a:t>丙酮酸</a:t>
            </a:r>
          </a:p>
        </p:txBody>
      </p:sp>
      <p:sp>
        <p:nvSpPr>
          <p:cNvPr id="14" name="文本框 13"/>
          <p:cNvSpPr txBox="1"/>
          <p:nvPr/>
        </p:nvSpPr>
        <p:spPr>
          <a:xfrm>
            <a:off x="3866515" y="149226"/>
            <a:ext cx="894080" cy="306705"/>
          </a:xfrm>
          <a:prstGeom prst="rect">
            <a:avLst/>
          </a:prstGeom>
          <a:solidFill>
            <a:schemeClr val="accent3">
              <a:lumMod val="60000"/>
              <a:lumOff val="40000"/>
            </a:schemeClr>
          </a:solidFill>
          <a:ln>
            <a:noFill/>
          </a:ln>
        </p:spPr>
        <p:txBody>
          <a:bodyPr wrap="none" rtlCol="0">
            <a:spAutoFit/>
          </a:bodyPr>
          <a:lstStyle/>
          <a:p>
            <a:pPr algn="l"/>
            <a:r>
              <a:rPr lang="zh-CN" altLang="en-US" sz="1400" b="1" dirty="0">
                <a:latin typeface="微软雅黑" panose="020B0503020204020204" pitchFamily="34" charset="-122"/>
                <a:ea typeface="微软雅黑" panose="020B0503020204020204" pitchFamily="34" charset="-122"/>
              </a:rPr>
              <a:t>线粒体内</a:t>
            </a:r>
          </a:p>
        </p:txBody>
      </p:sp>
      <p:sp>
        <p:nvSpPr>
          <p:cNvPr id="15" name="文本框 14"/>
          <p:cNvSpPr txBox="1"/>
          <p:nvPr/>
        </p:nvSpPr>
        <p:spPr>
          <a:xfrm>
            <a:off x="7864475" y="174626"/>
            <a:ext cx="716280" cy="306705"/>
          </a:xfrm>
          <a:prstGeom prst="rect">
            <a:avLst/>
          </a:prstGeom>
          <a:solidFill>
            <a:schemeClr val="accent3">
              <a:lumMod val="60000"/>
              <a:lumOff val="40000"/>
            </a:schemeClr>
          </a:solidFill>
          <a:ln>
            <a:noFill/>
          </a:ln>
        </p:spPr>
        <p:txBody>
          <a:bodyPr wrap="none" rtlCol="0">
            <a:spAutoFit/>
          </a:bodyPr>
          <a:lstStyle/>
          <a:p>
            <a:pPr algn="l"/>
            <a:r>
              <a:rPr lang="zh-CN" altLang="en-US" sz="1400" b="1" dirty="0">
                <a:latin typeface="微软雅黑" panose="020B0503020204020204" pitchFamily="34" charset="-122"/>
                <a:ea typeface="微软雅黑" panose="020B0503020204020204" pitchFamily="34" charset="-122"/>
              </a:rPr>
              <a:t>细胞质</a:t>
            </a:r>
          </a:p>
        </p:txBody>
      </p:sp>
      <p:sp>
        <p:nvSpPr>
          <p:cNvPr id="16" name="文本框 15"/>
          <p:cNvSpPr txBox="1"/>
          <p:nvPr/>
        </p:nvSpPr>
        <p:spPr>
          <a:xfrm>
            <a:off x="2894331" y="1764031"/>
            <a:ext cx="923925" cy="306705"/>
          </a:xfrm>
          <a:prstGeom prst="rect">
            <a:avLst/>
          </a:prstGeom>
          <a:solidFill>
            <a:schemeClr val="bg2"/>
          </a:solidFill>
        </p:spPr>
        <p:style>
          <a:lnRef idx="2">
            <a:schemeClr val="dk1"/>
          </a:lnRef>
          <a:fillRef idx="1">
            <a:schemeClr val="lt1"/>
          </a:fillRef>
          <a:effectRef idx="0">
            <a:schemeClr val="dk1"/>
          </a:effectRef>
          <a:fontRef idx="minor">
            <a:schemeClr val="dk1"/>
          </a:fontRef>
        </p:style>
        <p:txBody>
          <a:bodyPr wrap="square" rtlCol="0" anchor="t">
            <a:spAutoFit/>
          </a:bodyPr>
          <a:lstStyle/>
          <a:p>
            <a:pPr algn="l"/>
            <a:r>
              <a:rPr lang="zh-CN" altLang="en-US" sz="1400" b="1" dirty="0">
                <a:solidFill>
                  <a:srgbClr val="FF0000"/>
                </a:solidFill>
                <a:latin typeface="微软雅黑" panose="020B0503020204020204" pitchFamily="34" charset="-122"/>
                <a:ea typeface="微软雅黑" panose="020B0503020204020204" pitchFamily="34" charset="-122"/>
              </a:rPr>
              <a:t>乙酰CoA</a:t>
            </a:r>
          </a:p>
        </p:txBody>
      </p:sp>
      <p:sp>
        <p:nvSpPr>
          <p:cNvPr id="3" name="圆角矩形 2"/>
          <p:cNvSpPr/>
          <p:nvPr/>
        </p:nvSpPr>
        <p:spPr>
          <a:xfrm>
            <a:off x="8378826" y="4768215"/>
            <a:ext cx="1217295" cy="463550"/>
          </a:xfrm>
          <a:prstGeom prst="roundRect">
            <a:avLst/>
          </a:prstGeom>
          <a:noFill/>
          <a:ln w="12700">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箭头连接符 16"/>
          <p:cNvCxnSpPr/>
          <p:nvPr/>
        </p:nvCxnSpPr>
        <p:spPr>
          <a:xfrm flipV="1">
            <a:off x="9625331" y="1670686"/>
            <a:ext cx="715645" cy="3112135"/>
          </a:xfrm>
          <a:prstGeom prst="straightConnector1">
            <a:avLst/>
          </a:prstGeom>
          <a:ln>
            <a:solidFill>
              <a:srgbClr val="FF0000"/>
            </a:solidFill>
            <a:prstDash val="sysDot"/>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rcRect t="-25703"/>
          <a:stretch>
            <a:fillRect/>
          </a:stretch>
        </p:blipFill>
        <p:spPr>
          <a:xfrm rot="5400000">
            <a:off x="5020311" y="1386205"/>
            <a:ext cx="6735445" cy="4086860"/>
          </a:xfrm>
          <a:prstGeom prst="rect">
            <a:avLst/>
          </a:prstGeom>
          <a:ln>
            <a:noFill/>
          </a:ln>
        </p:spPr>
      </p:pic>
      <p:sp>
        <p:nvSpPr>
          <p:cNvPr id="8" name="矩形 7"/>
          <p:cNvSpPr/>
          <p:nvPr/>
        </p:nvSpPr>
        <p:spPr>
          <a:xfrm>
            <a:off x="1264920" y="635633"/>
            <a:ext cx="3874135" cy="583565"/>
          </a:xfrm>
          <a:prstGeom prst="rect">
            <a:avLst/>
          </a:prstGeom>
          <a:solidFill>
            <a:schemeClr val="accent6">
              <a:lumMod val="40000"/>
              <a:lumOff val="60000"/>
            </a:schemeClr>
          </a:solidFill>
        </p:spPr>
        <p:txBody>
          <a:bodyPr wrap="none">
            <a:spAutoFit/>
          </a:bodyPr>
          <a:lstStyle/>
          <a:p>
            <a:r>
              <a:rPr lang="zh-CN" altLang="en-US" sz="3200" b="1" u="sng" dirty="0">
                <a:latin typeface="微软雅黑" panose="020B0503020204020204" pitchFamily="34" charset="-122"/>
                <a:ea typeface="微软雅黑" panose="020B0503020204020204" pitchFamily="34" charset="-122"/>
              </a:rPr>
              <a:t>丙二酸单酰</a:t>
            </a:r>
            <a:r>
              <a:rPr lang="en-US" altLang="zh-CN" sz="3200" b="1" u="sng" dirty="0">
                <a:latin typeface="微软雅黑" panose="020B0503020204020204" pitchFamily="34" charset="-122"/>
                <a:ea typeface="微软雅黑" panose="020B0503020204020204" pitchFamily="34" charset="-122"/>
              </a:rPr>
              <a:t>CoA</a:t>
            </a:r>
            <a:r>
              <a:rPr lang="zh-CN" altLang="en-US" sz="3200" b="1" u="sng" dirty="0">
                <a:latin typeface="微软雅黑" panose="020B0503020204020204" pitchFamily="34" charset="-122"/>
                <a:ea typeface="微软雅黑" panose="020B0503020204020204" pitchFamily="34" charset="-122"/>
              </a:rPr>
              <a:t>合成</a:t>
            </a:r>
          </a:p>
        </p:txBody>
      </p:sp>
      <p:sp>
        <p:nvSpPr>
          <p:cNvPr id="9" name="矩形 8"/>
          <p:cNvSpPr/>
          <p:nvPr/>
        </p:nvSpPr>
        <p:spPr>
          <a:xfrm>
            <a:off x="983983" y="1625211"/>
            <a:ext cx="5138037" cy="2616101"/>
          </a:xfrm>
          <a:prstGeom prst="rect">
            <a:avLst/>
          </a:prstGeom>
        </p:spPr>
        <p:txBody>
          <a:bodyPr wrap="square">
            <a:spAutoFit/>
          </a:bodyPr>
          <a:lstStyle/>
          <a:p>
            <a:pPr marL="285750" indent="-285750">
              <a:lnSpc>
                <a:spcPct val="150000"/>
              </a:lnSpc>
              <a:spcBef>
                <a:spcPts val="1200"/>
              </a:spcBef>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乙酰</a:t>
            </a:r>
            <a:r>
              <a:rPr lang="en-US" altLang="zh-CN" sz="2400" dirty="0">
                <a:latin typeface="微软雅黑" panose="020B0503020204020204" pitchFamily="34" charset="-122"/>
                <a:ea typeface="微软雅黑" panose="020B0503020204020204" pitchFamily="34" charset="-122"/>
              </a:rPr>
              <a:t>CoA </a:t>
            </a:r>
            <a:r>
              <a:rPr lang="zh-CN" altLang="en-US" sz="2400" dirty="0">
                <a:latin typeface="微软雅黑" panose="020B0503020204020204" pitchFamily="34" charset="-122"/>
                <a:ea typeface="微软雅黑" panose="020B0503020204020204" pitchFamily="34" charset="-122"/>
              </a:rPr>
              <a:t>→ 丙二酸单酰</a:t>
            </a:r>
            <a:r>
              <a:rPr lang="en-US" altLang="zh-CN" sz="2400" dirty="0">
                <a:latin typeface="微软雅黑" panose="020B0503020204020204" pitchFamily="34" charset="-122"/>
                <a:ea typeface="微软雅黑" panose="020B0503020204020204" pitchFamily="34" charset="-122"/>
              </a:rPr>
              <a:t>CoA</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spcBef>
                <a:spcPts val="1200"/>
              </a:spcBef>
              <a:buFont typeface="Arial" panose="020B0604020202020204" pitchFamily="34" charset="0"/>
              <a:buChar char="•"/>
            </a:pPr>
            <a:r>
              <a:rPr lang="zh-CN" altLang="en-US" sz="2400" dirty="0">
                <a:solidFill>
                  <a:srgbClr val="FF0000"/>
                </a:solidFill>
                <a:latin typeface="微软雅黑" panose="020B0503020204020204" pitchFamily="34" charset="-122"/>
                <a:ea typeface="微软雅黑" panose="020B0503020204020204" pitchFamily="34" charset="-122"/>
              </a:rPr>
              <a:t>乙酰</a:t>
            </a:r>
            <a:r>
              <a:rPr lang="en-US" altLang="zh-CN" sz="2400" dirty="0">
                <a:solidFill>
                  <a:srgbClr val="FF0000"/>
                </a:solidFill>
                <a:latin typeface="微软雅黑" panose="020B0503020204020204" pitchFamily="34" charset="-122"/>
                <a:ea typeface="微软雅黑" panose="020B0503020204020204" pitchFamily="34" charset="-122"/>
              </a:rPr>
              <a:t>CoA </a:t>
            </a:r>
            <a:r>
              <a:rPr lang="zh-CN" altLang="en-US" sz="2400" dirty="0">
                <a:solidFill>
                  <a:srgbClr val="FF0000"/>
                </a:solidFill>
                <a:latin typeface="微软雅黑" panose="020B0503020204020204" pitchFamily="34" charset="-122"/>
                <a:ea typeface="微软雅黑" panose="020B0503020204020204" pitchFamily="34" charset="-122"/>
              </a:rPr>
              <a:t>羧化酶</a:t>
            </a:r>
            <a:r>
              <a:rPr lang="zh-CN" altLang="en-US" sz="2400" dirty="0">
                <a:latin typeface="微软雅黑" panose="020B0503020204020204" pitchFamily="34" charset="-122"/>
                <a:ea typeface="微软雅黑" panose="020B0503020204020204" pitchFamily="34" charset="-122"/>
              </a:rPr>
              <a:t>：</a:t>
            </a:r>
            <a:r>
              <a:rPr lang="zh-CN" altLang="en-US" sz="2400" u="sng" dirty="0">
                <a:latin typeface="微软雅黑" panose="020B0503020204020204" pitchFamily="34" charset="-122"/>
                <a:ea typeface="微软雅黑" panose="020B0503020204020204" pitchFamily="34" charset="-122"/>
              </a:rPr>
              <a:t>生物素羧化酶、转羧酶、生物素载体（多功能酶）</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a:p>
            <a:pPr marL="285750" indent="-285750">
              <a:lnSpc>
                <a:spcPct val="150000"/>
              </a:lnSpc>
              <a:spcBef>
                <a:spcPts val="1200"/>
              </a:spcBef>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消耗</a:t>
            </a:r>
            <a:r>
              <a:rPr lang="en-US" altLang="zh-CN" sz="2400" dirty="0">
                <a:solidFill>
                  <a:srgbClr val="FF0000"/>
                </a:solidFill>
                <a:latin typeface="微软雅黑" panose="020B0503020204020204" pitchFamily="34" charset="-122"/>
                <a:ea typeface="微软雅黑" panose="020B0503020204020204" pitchFamily="34" charset="-122"/>
              </a:rPr>
              <a:t>ATP</a:t>
            </a:r>
            <a:r>
              <a:rPr lang="zh-CN" altLang="en-US" sz="2400" dirty="0">
                <a:latin typeface="微软雅黑" panose="020B0503020204020204" pitchFamily="34" charset="-122"/>
                <a:ea typeface="微软雅黑" panose="020B0503020204020204" pitchFamily="34" charset="-122"/>
              </a:rPr>
              <a:t>。</a:t>
            </a:r>
          </a:p>
        </p:txBody>
      </p:sp>
      <p:sp>
        <p:nvSpPr>
          <p:cNvPr id="3" name="文本框 2"/>
          <p:cNvSpPr txBox="1"/>
          <p:nvPr/>
        </p:nvSpPr>
        <p:spPr>
          <a:xfrm>
            <a:off x="9116633" y="461119"/>
            <a:ext cx="723275" cy="307777"/>
          </a:xfrm>
          <a:prstGeom prst="rect">
            <a:avLst/>
          </a:prstGeom>
          <a:noFill/>
          <a:ln>
            <a:solidFill>
              <a:schemeClr val="tx1"/>
            </a:solidFill>
          </a:ln>
        </p:spPr>
        <p:txBody>
          <a:bodyPr wrap="none" rtlCol="0">
            <a:spAutoFit/>
          </a:bodyPr>
          <a:lstStyle/>
          <a:p>
            <a:r>
              <a:rPr lang="zh-CN" altLang="en-US" sz="1400" b="1" dirty="0">
                <a:latin typeface="微软雅黑" panose="020B0503020204020204" pitchFamily="34" charset="-122"/>
                <a:ea typeface="微软雅黑" panose="020B0503020204020204" pitchFamily="34" charset="-122"/>
              </a:rPr>
              <a:t>生物素</a:t>
            </a:r>
          </a:p>
        </p:txBody>
      </p:sp>
      <p:sp>
        <p:nvSpPr>
          <p:cNvPr id="10" name="文本框 9"/>
          <p:cNvSpPr txBox="1"/>
          <p:nvPr/>
        </p:nvSpPr>
        <p:spPr>
          <a:xfrm>
            <a:off x="9319129" y="2794763"/>
            <a:ext cx="944074" cy="307777"/>
          </a:xfrm>
          <a:prstGeom prst="rect">
            <a:avLst/>
          </a:prstGeom>
          <a:noFill/>
          <a:ln>
            <a:solidFill>
              <a:schemeClr val="tx1"/>
            </a:solidFill>
          </a:ln>
        </p:spPr>
        <p:txBody>
          <a:bodyPr wrap="square" rtlCol="0">
            <a:spAutoFit/>
          </a:bodyPr>
          <a:lstStyle/>
          <a:p>
            <a:r>
              <a:rPr lang="zh-CN" altLang="en-US" sz="1400" b="1" dirty="0">
                <a:solidFill>
                  <a:srgbClr val="FF0000"/>
                </a:solidFill>
                <a:latin typeface="微软雅黑" panose="020B0503020204020204" pitchFamily="34" charset="-122"/>
                <a:ea typeface="微软雅黑" panose="020B0503020204020204" pitchFamily="34" charset="-122"/>
              </a:rPr>
              <a:t>乙酰</a:t>
            </a:r>
            <a:r>
              <a:rPr lang="en-US" altLang="zh-CN" sz="1400" b="1" dirty="0">
                <a:solidFill>
                  <a:srgbClr val="FF0000"/>
                </a:solidFill>
                <a:latin typeface="微软雅黑" panose="020B0503020204020204" pitchFamily="34" charset="-122"/>
                <a:ea typeface="微软雅黑" panose="020B0503020204020204" pitchFamily="34" charset="-122"/>
              </a:rPr>
              <a:t>CoA</a:t>
            </a:r>
          </a:p>
        </p:txBody>
      </p:sp>
      <p:sp>
        <p:nvSpPr>
          <p:cNvPr id="4" name="矩形 3"/>
          <p:cNvSpPr/>
          <p:nvPr/>
        </p:nvSpPr>
        <p:spPr>
          <a:xfrm>
            <a:off x="8457084" y="6034079"/>
            <a:ext cx="1455848" cy="307777"/>
          </a:xfrm>
          <a:prstGeom prst="rect">
            <a:avLst/>
          </a:prstGeom>
          <a:ln>
            <a:solidFill>
              <a:schemeClr val="tx1"/>
            </a:solidFill>
          </a:ln>
        </p:spPr>
        <p:txBody>
          <a:bodyPr wrap="none">
            <a:spAutoFit/>
          </a:bodyPr>
          <a:lstStyle/>
          <a:p>
            <a:r>
              <a:rPr lang="zh-CN" altLang="en-US" sz="1400" b="1" dirty="0">
                <a:solidFill>
                  <a:srgbClr val="FF0000"/>
                </a:solidFill>
                <a:latin typeface="微软雅黑" panose="020B0503020204020204" pitchFamily="34" charset="-122"/>
                <a:ea typeface="微软雅黑" panose="020B0503020204020204" pitchFamily="34" charset="-122"/>
              </a:rPr>
              <a:t>丙二酸单酰</a:t>
            </a:r>
            <a:r>
              <a:rPr lang="en-US" altLang="zh-CN" sz="1400" b="1" dirty="0">
                <a:solidFill>
                  <a:srgbClr val="FF0000"/>
                </a:solidFill>
                <a:latin typeface="微软雅黑" panose="020B0503020204020204" pitchFamily="34" charset="-122"/>
                <a:ea typeface="微软雅黑" panose="020B0503020204020204" pitchFamily="34" charset="-122"/>
              </a:rPr>
              <a:t>CoA</a:t>
            </a:r>
            <a:endParaRPr lang="zh-CN" altLang="en-US" sz="1400" dirty="0">
              <a:solidFill>
                <a:srgbClr val="FF0000"/>
              </a:solidFill>
            </a:endParaRPr>
          </a:p>
        </p:txBody>
      </p:sp>
      <p:sp>
        <p:nvSpPr>
          <p:cNvPr id="5" name="矩形 4"/>
          <p:cNvSpPr/>
          <p:nvPr/>
        </p:nvSpPr>
        <p:spPr>
          <a:xfrm>
            <a:off x="6698547" y="2794763"/>
            <a:ext cx="1107996" cy="276999"/>
          </a:xfrm>
          <a:prstGeom prst="rect">
            <a:avLst/>
          </a:prstGeom>
        </p:spPr>
        <p:txBody>
          <a:bodyPr wrap="none">
            <a:spAutoFit/>
          </a:bodyPr>
          <a:lstStyle/>
          <a:p>
            <a:r>
              <a:rPr lang="zh-CN" altLang="en-US" sz="1200" b="1" dirty="0">
                <a:solidFill>
                  <a:srgbClr val="00B0F0"/>
                </a:solidFill>
                <a:latin typeface="微软雅黑" panose="020B0503020204020204" pitchFamily="34" charset="-122"/>
                <a:ea typeface="微软雅黑" panose="020B0503020204020204" pitchFamily="34" charset="-122"/>
              </a:rPr>
              <a:t>生物素羧化酶</a:t>
            </a:r>
            <a:endParaRPr lang="zh-CN" altLang="en-US" sz="1200" b="1" dirty="0">
              <a:solidFill>
                <a:srgbClr val="00B0F0"/>
              </a:solidFill>
            </a:endParaRPr>
          </a:p>
        </p:txBody>
      </p:sp>
      <p:sp>
        <p:nvSpPr>
          <p:cNvPr id="15" name="矩形 14"/>
          <p:cNvSpPr/>
          <p:nvPr/>
        </p:nvSpPr>
        <p:spPr>
          <a:xfrm>
            <a:off x="8543270" y="2113689"/>
            <a:ext cx="646331" cy="276999"/>
          </a:xfrm>
          <a:prstGeom prst="rect">
            <a:avLst/>
          </a:prstGeom>
        </p:spPr>
        <p:txBody>
          <a:bodyPr wrap="none">
            <a:spAutoFit/>
          </a:bodyPr>
          <a:lstStyle/>
          <a:p>
            <a:r>
              <a:rPr lang="zh-CN" altLang="en-US" sz="1200" b="1" dirty="0">
                <a:solidFill>
                  <a:srgbClr val="00B0F0"/>
                </a:solidFill>
                <a:latin typeface="微软雅黑" panose="020B0503020204020204" pitchFamily="34" charset="-122"/>
                <a:ea typeface="微软雅黑" panose="020B0503020204020204" pitchFamily="34" charset="-122"/>
              </a:rPr>
              <a:t>转羧酶</a:t>
            </a:r>
            <a:endParaRPr lang="zh-CN" altLang="en-US" sz="1200" b="1" dirty="0">
              <a:solidFill>
                <a:srgbClr val="00B0F0"/>
              </a:solidFill>
            </a:endParaRPr>
          </a:p>
        </p:txBody>
      </p:sp>
      <p:sp>
        <p:nvSpPr>
          <p:cNvPr id="6" name="矩形 5"/>
          <p:cNvSpPr/>
          <p:nvPr/>
        </p:nvSpPr>
        <p:spPr>
          <a:xfrm>
            <a:off x="7057790" y="952192"/>
            <a:ext cx="1027522" cy="276999"/>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4"/>
          <a:stretch>
            <a:fillRect/>
          </a:stretch>
        </p:blipFill>
        <p:spPr>
          <a:xfrm>
            <a:off x="3018155" y="5011421"/>
            <a:ext cx="2120900" cy="1141095"/>
          </a:xfrm>
          <a:prstGeom prst="rect">
            <a:avLst/>
          </a:prstGeom>
        </p:spPr>
      </p:pic>
      <p:sp>
        <p:nvSpPr>
          <p:cNvPr id="11" name="矩形 10"/>
          <p:cNvSpPr/>
          <p:nvPr/>
        </p:nvSpPr>
        <p:spPr>
          <a:xfrm>
            <a:off x="3280564" y="6152824"/>
            <a:ext cx="1455848" cy="307777"/>
          </a:xfrm>
          <a:prstGeom prst="rect">
            <a:avLst/>
          </a:prstGeom>
          <a:ln>
            <a:noFill/>
          </a:ln>
        </p:spPr>
        <p:txBody>
          <a:bodyPr wrap="none">
            <a:spAutoFit/>
          </a:bodyPr>
          <a:lstStyle/>
          <a:p>
            <a:r>
              <a:rPr lang="zh-CN" altLang="en-US" sz="1400" b="1" dirty="0">
                <a:solidFill>
                  <a:srgbClr val="FF0000"/>
                </a:solidFill>
                <a:latin typeface="微软雅黑" panose="020B0503020204020204" pitchFamily="34" charset="-122"/>
                <a:ea typeface="微软雅黑" panose="020B0503020204020204" pitchFamily="34" charset="-122"/>
              </a:rPr>
              <a:t>丙二酸单酰</a:t>
            </a:r>
            <a:r>
              <a:rPr lang="en-US" altLang="zh-CN" sz="1400" b="1" dirty="0">
                <a:solidFill>
                  <a:srgbClr val="FF0000"/>
                </a:solidFill>
                <a:latin typeface="微软雅黑" panose="020B0503020204020204" pitchFamily="34" charset="-122"/>
                <a:ea typeface="微软雅黑" panose="020B0503020204020204" pitchFamily="34" charset="-122"/>
              </a:rPr>
              <a:t>CoA</a:t>
            </a:r>
          </a:p>
        </p:txBody>
      </p:sp>
      <p:sp>
        <p:nvSpPr>
          <p:cNvPr id="12" name="圆角矩形 11"/>
          <p:cNvSpPr/>
          <p:nvPr/>
        </p:nvSpPr>
        <p:spPr>
          <a:xfrm>
            <a:off x="2683510" y="5011421"/>
            <a:ext cx="952500" cy="802005"/>
          </a:xfrm>
          <a:prstGeom prst="roundRect">
            <a:avLst>
              <a:gd name="adj" fmla="val 0"/>
            </a:avLst>
          </a:prstGeom>
          <a:noFill/>
          <a:ln w="38100">
            <a:solidFill>
              <a:srgbClr val="FF0000"/>
            </a:solidFill>
            <a:prstDash val="dash"/>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57481" y="730604"/>
            <a:ext cx="2214880" cy="583565"/>
          </a:xfrm>
          <a:prstGeom prst="rect">
            <a:avLst/>
          </a:prstGeom>
          <a:solidFill>
            <a:schemeClr val="accent6">
              <a:lumMod val="40000"/>
              <a:lumOff val="60000"/>
            </a:schemeClr>
          </a:solidFill>
        </p:spPr>
        <p:txBody>
          <a:bodyPr wrap="none" rtlCol="0">
            <a:spAutoFit/>
          </a:bodyPr>
          <a:lstStyle/>
          <a:p>
            <a:r>
              <a:rPr lang="zh-CN" altLang="en-US" sz="3200" b="1" dirty="0">
                <a:latin typeface="微软雅黑" panose="020B0503020204020204" pitchFamily="34" charset="-122"/>
                <a:ea typeface="微软雅黑" panose="020B0503020204020204" pitchFamily="34" charset="-122"/>
              </a:rPr>
              <a:t>脂肪酸合酶</a:t>
            </a:r>
          </a:p>
        </p:txBody>
      </p:sp>
      <p:sp>
        <p:nvSpPr>
          <p:cNvPr id="6" name="矩形 5"/>
          <p:cNvSpPr/>
          <p:nvPr/>
        </p:nvSpPr>
        <p:spPr>
          <a:xfrm>
            <a:off x="3558900" y="1836420"/>
            <a:ext cx="556181" cy="5184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419100" y="1460809"/>
            <a:ext cx="5208904" cy="1288943"/>
          </a:xfrm>
          <a:prstGeom prst="rect">
            <a:avLst/>
          </a:prstGeom>
        </p:spPr>
        <p:txBody>
          <a:bodyPr wrap="square">
            <a:spAutoFit/>
          </a:bodyPr>
          <a:lstStyle/>
          <a:p>
            <a:pPr marL="285750" indent="-285750">
              <a:lnSpc>
                <a:spcPct val="150000"/>
              </a:lnSpc>
              <a:spcBef>
                <a:spcPts val="1200"/>
              </a:spcBef>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rPr>
              <a:t>同源二聚体；</a:t>
            </a:r>
            <a:endParaRPr lang="en-US" altLang="zh-CN" sz="2400" b="1" dirty="0">
              <a:latin typeface="微软雅黑" panose="020B0503020204020204" pitchFamily="34" charset="-122"/>
              <a:ea typeface="微软雅黑" panose="020B0503020204020204" pitchFamily="34" charset="-122"/>
            </a:endParaRPr>
          </a:p>
          <a:p>
            <a:pPr marL="285750" indent="-285750">
              <a:lnSpc>
                <a:spcPct val="150000"/>
              </a:lnSpc>
              <a:spcBef>
                <a:spcPts val="1200"/>
              </a:spcBef>
              <a:buFont typeface="Arial" panose="020B0604020202020204" pitchFamily="34" charset="0"/>
              <a:buChar char="•"/>
            </a:pPr>
            <a:r>
              <a:rPr lang="en-US" altLang="zh-CN" sz="2400" b="1" dirty="0">
                <a:latin typeface="微软雅黑" panose="020B0503020204020204" pitchFamily="34" charset="-122"/>
                <a:ea typeface="微软雅黑" panose="020B0503020204020204" pitchFamily="34" charset="-122"/>
              </a:rPr>
              <a:t>7</a:t>
            </a:r>
            <a:r>
              <a:rPr lang="zh-CN" altLang="en-US" sz="2400" b="1" dirty="0">
                <a:latin typeface="微软雅黑" panose="020B0503020204020204" pitchFamily="34" charset="-122"/>
                <a:ea typeface="微软雅黑" panose="020B0503020204020204" pitchFamily="34" charset="-122"/>
              </a:rPr>
              <a:t>种酶活性和</a:t>
            </a:r>
            <a:r>
              <a:rPr lang="en-US" altLang="zh-CN" sz="2400" b="1" dirty="0">
                <a:latin typeface="微软雅黑" panose="020B0503020204020204" pitchFamily="34" charset="-122"/>
                <a:ea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rPr>
              <a:t>个</a:t>
            </a:r>
            <a:r>
              <a:rPr lang="zh-CN" altLang="en-US" sz="2400" b="1" u="sng" dirty="0">
                <a:latin typeface="微软雅黑" panose="020B0503020204020204" pitchFamily="34" charset="-122"/>
                <a:ea typeface="微软雅黑" panose="020B0503020204020204" pitchFamily="34" charset="-122"/>
              </a:rPr>
              <a:t>酰基载体蛋白</a:t>
            </a:r>
            <a:r>
              <a:rPr lang="en-US" altLang="zh-CN" sz="2400" b="1" u="sng" dirty="0">
                <a:latin typeface="微软雅黑" panose="020B0503020204020204" pitchFamily="34" charset="-122"/>
                <a:ea typeface="微软雅黑" panose="020B0503020204020204" pitchFamily="34" charset="-122"/>
              </a:rPr>
              <a:t>ACP</a:t>
            </a:r>
            <a:r>
              <a:rPr lang="zh-CN" altLang="en-US" sz="2400" b="1" dirty="0">
                <a:latin typeface="微软雅黑" panose="020B0503020204020204" pitchFamily="34" charset="-122"/>
                <a:ea typeface="微软雅黑" panose="020B0503020204020204" pitchFamily="34" charset="-122"/>
              </a:rPr>
              <a:t>。</a:t>
            </a:r>
          </a:p>
        </p:txBody>
      </p:sp>
      <p:sp>
        <p:nvSpPr>
          <p:cNvPr id="10" name="矩形 9"/>
          <p:cNvSpPr/>
          <p:nvPr/>
        </p:nvSpPr>
        <p:spPr>
          <a:xfrm>
            <a:off x="419100" y="2832602"/>
            <a:ext cx="5814060" cy="3631763"/>
          </a:xfrm>
          <a:prstGeom prst="rect">
            <a:avLst/>
          </a:prstGeom>
        </p:spPr>
        <p:txBody>
          <a:bodyPr wrap="square">
            <a:spAutoFit/>
          </a:bodyPr>
          <a:lstStyle/>
          <a:p>
            <a:pPr marL="285750" indent="-285750">
              <a:spcBef>
                <a:spcPts val="600"/>
              </a:spcBef>
              <a:buFont typeface="Arial" panose="020B0604020202020204" pitchFamily="34" charset="0"/>
              <a:buChar char="•"/>
            </a:pPr>
            <a:r>
              <a:rPr lang="en-US" altLang="zh-CN" sz="2000" b="1" dirty="0">
                <a:solidFill>
                  <a:srgbClr val="FF0000"/>
                </a:solidFill>
                <a:latin typeface="Times New Roman" panose="02020603050405020304" pitchFamily="18" charset="0"/>
                <a:cs typeface="Times New Roman" panose="02020603050405020304" pitchFamily="18" charset="0"/>
              </a:rPr>
              <a:t>MAT</a:t>
            </a:r>
            <a:r>
              <a:rPr lang="en-US" altLang="zh-CN" sz="2000" b="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malonyl/acetyl-CoA–ACP transferase(</a:t>
            </a:r>
            <a:r>
              <a:rPr lang="zh-CN" altLang="en-US" sz="2000" dirty="0">
                <a:latin typeface="Times New Roman" panose="02020603050405020304" pitchFamily="18" charset="0"/>
                <a:cs typeface="Times New Roman" panose="02020603050405020304" pitchFamily="18" charset="0"/>
              </a:rPr>
              <a:t>丙二酸单酰</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乙酰</a:t>
            </a:r>
            <a:r>
              <a:rPr lang="en-US" altLang="zh-CN" sz="2000" dirty="0">
                <a:latin typeface="Times New Roman" panose="02020603050405020304" pitchFamily="18" charset="0"/>
                <a:cs typeface="Times New Roman" panose="02020603050405020304" pitchFamily="18" charset="0"/>
              </a:rPr>
              <a:t>CoA-ACP</a:t>
            </a:r>
            <a:r>
              <a:rPr lang="zh-CN" altLang="en-US" sz="2000" dirty="0">
                <a:latin typeface="Times New Roman" panose="02020603050405020304" pitchFamily="18" charset="0"/>
                <a:cs typeface="Times New Roman" panose="02020603050405020304" pitchFamily="18" charset="0"/>
              </a:rPr>
              <a:t>转移酶</a:t>
            </a:r>
            <a:r>
              <a:rPr lang="en-US" altLang="zh-CN" sz="2000" dirty="0">
                <a:latin typeface="Times New Roman" panose="02020603050405020304" pitchFamily="18" charset="0"/>
                <a:cs typeface="Times New Roman" panose="02020603050405020304" pitchFamily="18" charset="0"/>
              </a:rPr>
              <a:t>);</a:t>
            </a:r>
          </a:p>
          <a:p>
            <a:pPr marL="285750" indent="-285750">
              <a:spcBef>
                <a:spcPts val="600"/>
              </a:spcBef>
              <a:buFont typeface="Arial" panose="020B0604020202020204" pitchFamily="34" charset="0"/>
              <a:buChar char="•"/>
            </a:pPr>
            <a:r>
              <a:rPr lang="en-US" altLang="zh-CN" sz="2000" b="1" dirty="0">
                <a:solidFill>
                  <a:srgbClr val="FF0000"/>
                </a:solidFill>
                <a:latin typeface="Times New Roman" panose="02020603050405020304" pitchFamily="18" charset="0"/>
                <a:cs typeface="Times New Roman" panose="02020603050405020304" pitchFamily="18" charset="0"/>
              </a:rPr>
              <a:t>KS</a:t>
            </a:r>
            <a:r>
              <a:rPr lang="en-US" altLang="zh-CN" sz="2000" dirty="0">
                <a:latin typeface="Times New Roman" panose="02020603050405020304" pitchFamily="18" charset="0"/>
                <a:cs typeface="Times New Roman" panose="02020603050405020304" pitchFamily="18" charset="0"/>
              </a:rPr>
              <a:t>:β-ketoacyl-ACP synthase (β-</a:t>
            </a:r>
            <a:r>
              <a:rPr lang="zh-CN" altLang="en-US" sz="2000" dirty="0">
                <a:latin typeface="Times New Roman" panose="02020603050405020304" pitchFamily="18" charset="0"/>
                <a:cs typeface="Times New Roman" panose="02020603050405020304" pitchFamily="18" charset="0"/>
              </a:rPr>
              <a:t>酮酰</a:t>
            </a:r>
            <a:r>
              <a:rPr lang="en-US" altLang="zh-CN" sz="2000" dirty="0">
                <a:latin typeface="Times New Roman" panose="02020603050405020304" pitchFamily="18" charset="0"/>
                <a:cs typeface="Times New Roman" panose="02020603050405020304" pitchFamily="18" charset="0"/>
              </a:rPr>
              <a:t>-ACP</a:t>
            </a:r>
            <a:r>
              <a:rPr lang="zh-CN" altLang="en-US" sz="2000" dirty="0">
                <a:latin typeface="Times New Roman" panose="02020603050405020304" pitchFamily="18" charset="0"/>
                <a:cs typeface="Times New Roman" panose="02020603050405020304" pitchFamily="18" charset="0"/>
              </a:rPr>
              <a:t>合酶</a:t>
            </a:r>
            <a:r>
              <a:rPr lang="en-US" altLang="zh-CN" sz="2000" dirty="0">
                <a:latin typeface="Times New Roman" panose="02020603050405020304" pitchFamily="18" charset="0"/>
                <a:cs typeface="Times New Roman" panose="02020603050405020304" pitchFamily="18" charset="0"/>
              </a:rPr>
              <a:t>);</a:t>
            </a:r>
          </a:p>
          <a:p>
            <a:pPr marL="285750" indent="-285750">
              <a:spcBef>
                <a:spcPts val="600"/>
              </a:spcBef>
              <a:buFont typeface="Arial" panose="020B0604020202020204" pitchFamily="34" charset="0"/>
              <a:buChar char="•"/>
            </a:pPr>
            <a:r>
              <a:rPr lang="en-US" altLang="zh-CN" sz="2000" b="1" dirty="0">
                <a:solidFill>
                  <a:srgbClr val="FF0000"/>
                </a:solidFill>
                <a:latin typeface="Times New Roman" panose="02020603050405020304" pitchFamily="18" charset="0"/>
                <a:cs typeface="Times New Roman" panose="02020603050405020304" pitchFamily="18" charset="0"/>
              </a:rPr>
              <a:t>ER</a:t>
            </a:r>
            <a:r>
              <a:rPr lang="en-US" altLang="zh-CN" sz="2000" dirty="0">
                <a:latin typeface="Times New Roman" panose="02020603050405020304" pitchFamily="18" charset="0"/>
                <a:cs typeface="Times New Roman" panose="02020603050405020304" pitchFamily="18" charset="0"/>
              </a:rPr>
              <a:t>: enoyl-ACP reductase (</a:t>
            </a:r>
            <a:r>
              <a:rPr lang="zh-CN" altLang="en-US" sz="2000" dirty="0">
                <a:latin typeface="Times New Roman" panose="02020603050405020304" pitchFamily="18" charset="0"/>
                <a:cs typeface="Times New Roman" panose="02020603050405020304" pitchFamily="18" charset="0"/>
              </a:rPr>
              <a:t>烯酰</a:t>
            </a:r>
            <a:r>
              <a:rPr lang="en-US" altLang="zh-CN" sz="2000" dirty="0">
                <a:latin typeface="Times New Roman" panose="02020603050405020304" pitchFamily="18" charset="0"/>
                <a:cs typeface="Times New Roman" panose="02020603050405020304" pitchFamily="18" charset="0"/>
              </a:rPr>
              <a:t>-ACP</a:t>
            </a:r>
            <a:r>
              <a:rPr lang="zh-CN" altLang="en-US" sz="2000" dirty="0">
                <a:latin typeface="Times New Roman" panose="02020603050405020304" pitchFamily="18" charset="0"/>
                <a:cs typeface="Times New Roman" panose="02020603050405020304" pitchFamily="18" charset="0"/>
              </a:rPr>
              <a:t>还原酶</a:t>
            </a:r>
            <a:r>
              <a:rPr lang="en-US" altLang="zh-CN" sz="2000" dirty="0">
                <a:latin typeface="Times New Roman" panose="02020603050405020304" pitchFamily="18" charset="0"/>
                <a:cs typeface="Times New Roman" panose="02020603050405020304" pitchFamily="18" charset="0"/>
              </a:rPr>
              <a:t>);</a:t>
            </a:r>
          </a:p>
          <a:p>
            <a:pPr marL="285750" indent="-285750">
              <a:spcBef>
                <a:spcPts val="600"/>
              </a:spcBef>
              <a:buFont typeface="Arial" panose="020B0604020202020204" pitchFamily="34" charset="0"/>
              <a:buChar char="•"/>
            </a:pPr>
            <a:r>
              <a:rPr lang="en-US" altLang="zh-CN" sz="2000" b="1" dirty="0">
                <a:solidFill>
                  <a:srgbClr val="FF0000"/>
                </a:solidFill>
                <a:latin typeface="Times New Roman" panose="02020603050405020304" pitchFamily="18" charset="0"/>
                <a:cs typeface="Times New Roman" panose="02020603050405020304" pitchFamily="18" charset="0"/>
              </a:rPr>
              <a:t>DH</a:t>
            </a:r>
            <a:r>
              <a:rPr lang="en-US" altLang="zh-CN" sz="2000" dirty="0">
                <a:latin typeface="Times New Roman" panose="02020603050405020304" pitchFamily="18" charset="0"/>
                <a:cs typeface="Times New Roman" panose="02020603050405020304" pitchFamily="18" charset="0"/>
              </a:rPr>
              <a:t>: β-</a:t>
            </a:r>
            <a:r>
              <a:rPr lang="en-US" altLang="zh-CN" sz="2000" dirty="0" err="1">
                <a:latin typeface="Times New Roman" panose="02020603050405020304" pitchFamily="18" charset="0"/>
                <a:cs typeface="Times New Roman" panose="02020603050405020304" pitchFamily="18" charset="0"/>
              </a:rPr>
              <a:t>hydroxyacyl</a:t>
            </a:r>
            <a:r>
              <a:rPr lang="en-US" altLang="zh-CN" sz="2000" dirty="0">
                <a:latin typeface="Times New Roman" panose="02020603050405020304" pitchFamily="18" charset="0"/>
                <a:cs typeface="Times New Roman" panose="02020603050405020304" pitchFamily="18" charset="0"/>
              </a:rPr>
              <a:t>-ACP dehydratase (</a:t>
            </a:r>
            <a:r>
              <a:rPr lang="zh-CN" altLang="en-US" sz="2000" dirty="0">
                <a:latin typeface="Times New Roman" panose="02020603050405020304" pitchFamily="18" charset="0"/>
                <a:cs typeface="Times New Roman" panose="02020603050405020304" pitchFamily="18" charset="0"/>
              </a:rPr>
              <a:t>羟酰</a:t>
            </a:r>
            <a:r>
              <a:rPr lang="en-US" altLang="zh-CN" sz="2000" dirty="0">
                <a:latin typeface="Times New Roman" panose="02020603050405020304" pitchFamily="18" charset="0"/>
                <a:cs typeface="Times New Roman" panose="02020603050405020304" pitchFamily="18" charset="0"/>
              </a:rPr>
              <a:t>-ACP</a:t>
            </a:r>
            <a:r>
              <a:rPr lang="zh-CN" altLang="en-US" sz="2000" dirty="0">
                <a:latin typeface="Times New Roman" panose="02020603050405020304" pitchFamily="18" charset="0"/>
                <a:cs typeface="Times New Roman" panose="02020603050405020304" pitchFamily="18" charset="0"/>
              </a:rPr>
              <a:t>脱水酶</a:t>
            </a:r>
            <a:r>
              <a:rPr lang="en-US" altLang="zh-CN" sz="2000" dirty="0">
                <a:latin typeface="Times New Roman" panose="02020603050405020304" pitchFamily="18" charset="0"/>
                <a:cs typeface="Times New Roman" panose="02020603050405020304" pitchFamily="18" charset="0"/>
              </a:rPr>
              <a:t>);</a:t>
            </a:r>
          </a:p>
          <a:p>
            <a:pPr marL="285750" indent="-285750">
              <a:spcBef>
                <a:spcPts val="600"/>
              </a:spcBef>
              <a:buFont typeface="Arial" panose="020B0604020202020204" pitchFamily="34" charset="0"/>
              <a:buChar char="•"/>
            </a:pPr>
            <a:r>
              <a:rPr lang="en-US" altLang="zh-CN" sz="2000" b="1" dirty="0">
                <a:solidFill>
                  <a:srgbClr val="FF0000"/>
                </a:solidFill>
                <a:latin typeface="Times New Roman" panose="02020603050405020304" pitchFamily="18" charset="0"/>
                <a:cs typeface="Times New Roman" panose="02020603050405020304" pitchFamily="18" charset="0"/>
              </a:rPr>
              <a:t>KR</a:t>
            </a:r>
            <a:r>
              <a:rPr lang="en-US" altLang="zh-CN" sz="2000" dirty="0">
                <a:latin typeface="Times New Roman" panose="02020603050405020304" pitchFamily="18" charset="0"/>
                <a:cs typeface="Times New Roman" panose="02020603050405020304" pitchFamily="18" charset="0"/>
              </a:rPr>
              <a:t>: β-ketoacyl-ACP reductase (β-</a:t>
            </a:r>
            <a:r>
              <a:rPr lang="zh-CN" altLang="en-US" sz="2000" dirty="0">
                <a:latin typeface="Times New Roman" panose="02020603050405020304" pitchFamily="18" charset="0"/>
                <a:cs typeface="Times New Roman" panose="02020603050405020304" pitchFamily="18" charset="0"/>
              </a:rPr>
              <a:t>酮酰</a:t>
            </a:r>
            <a:r>
              <a:rPr lang="en-US" altLang="zh-CN" sz="2000" dirty="0">
                <a:latin typeface="Times New Roman" panose="02020603050405020304" pitchFamily="18" charset="0"/>
                <a:cs typeface="Times New Roman" panose="02020603050405020304" pitchFamily="18" charset="0"/>
              </a:rPr>
              <a:t>-ACP</a:t>
            </a:r>
            <a:r>
              <a:rPr lang="zh-CN" altLang="en-US" sz="2000" dirty="0">
                <a:latin typeface="Times New Roman" panose="02020603050405020304" pitchFamily="18" charset="0"/>
                <a:cs typeface="Times New Roman" panose="02020603050405020304" pitchFamily="18" charset="0"/>
              </a:rPr>
              <a:t>还原酶</a:t>
            </a:r>
            <a:r>
              <a:rPr lang="en-US" altLang="zh-CN" sz="2000" dirty="0">
                <a:latin typeface="Times New Roman" panose="02020603050405020304" pitchFamily="18" charset="0"/>
                <a:cs typeface="Times New Roman" panose="02020603050405020304" pitchFamily="18" charset="0"/>
              </a:rPr>
              <a:t>);</a:t>
            </a:r>
          </a:p>
          <a:p>
            <a:pPr marL="285750" indent="-285750">
              <a:spcBef>
                <a:spcPts val="600"/>
              </a:spcBef>
              <a:buFont typeface="Arial" panose="020B0604020202020204" pitchFamily="34" charset="0"/>
              <a:buChar char="•"/>
            </a:pPr>
            <a:r>
              <a:rPr lang="en-US" altLang="zh-CN" sz="2000" b="1" dirty="0">
                <a:solidFill>
                  <a:srgbClr val="FF0000"/>
                </a:solidFill>
                <a:latin typeface="Times New Roman" panose="02020603050405020304" pitchFamily="18" charset="0"/>
                <a:cs typeface="Times New Roman" panose="02020603050405020304" pitchFamily="18" charset="0"/>
              </a:rPr>
              <a:t>TE</a:t>
            </a:r>
            <a:r>
              <a:rPr lang="en-US" altLang="zh-CN" sz="2000" dirty="0">
                <a:latin typeface="Times New Roman" panose="02020603050405020304" pitchFamily="18" charset="0"/>
                <a:cs typeface="Times New Roman" panose="02020603050405020304" pitchFamily="18" charset="0"/>
              </a:rPr>
              <a:t>: thioesterase(</a:t>
            </a:r>
            <a:r>
              <a:rPr lang="zh-CN" altLang="en-US" sz="2000" dirty="0">
                <a:latin typeface="Times New Roman" panose="02020603050405020304" pitchFamily="18" charset="0"/>
                <a:cs typeface="Times New Roman" panose="02020603050405020304" pitchFamily="18" charset="0"/>
              </a:rPr>
              <a:t>硫酯酶</a:t>
            </a:r>
            <a:r>
              <a:rPr lang="en-US" altLang="zh-CN" sz="2000" dirty="0">
                <a:latin typeface="Times New Roman" panose="02020603050405020304" pitchFamily="18" charset="0"/>
                <a:cs typeface="Times New Roman" panose="02020603050405020304" pitchFamily="18" charset="0"/>
              </a:rPr>
              <a:t>);</a:t>
            </a:r>
          </a:p>
          <a:p>
            <a:pPr marL="285750" indent="-285750">
              <a:spcBef>
                <a:spcPts val="600"/>
              </a:spcBef>
              <a:buFont typeface="Arial" panose="020B0604020202020204" pitchFamily="34" charset="0"/>
              <a:buChar char="•"/>
            </a:pPr>
            <a:endParaRPr lang="en-US" altLang="zh-CN" sz="2000" dirty="0">
              <a:latin typeface="Times New Roman" panose="02020603050405020304" pitchFamily="18" charset="0"/>
              <a:cs typeface="Times New Roman" panose="02020603050405020304" pitchFamily="18" charset="0"/>
            </a:endParaRPr>
          </a:p>
        </p:txBody>
      </p:sp>
      <p:pic>
        <p:nvPicPr>
          <p:cNvPr id="9" name="图片 8" descr="1"/>
          <p:cNvPicPr>
            <a:picLocks noChangeAspect="1"/>
          </p:cNvPicPr>
          <p:nvPr/>
        </p:nvPicPr>
        <p:blipFill>
          <a:blip r:embed="rId3"/>
          <a:srcRect l="3908" r="7638"/>
          <a:stretch>
            <a:fillRect/>
          </a:stretch>
        </p:blipFill>
        <p:spPr>
          <a:xfrm>
            <a:off x="6793584" y="1460809"/>
            <a:ext cx="5101235" cy="4579191"/>
          </a:xfrm>
          <a:prstGeom prst="rect">
            <a:avLst/>
          </a:prstGeom>
        </p:spPr>
      </p:pic>
      <p:sp>
        <p:nvSpPr>
          <p:cNvPr id="2" name="文本框 1"/>
          <p:cNvSpPr txBox="1"/>
          <p:nvPr/>
        </p:nvSpPr>
        <p:spPr>
          <a:xfrm>
            <a:off x="4255770" y="89654"/>
            <a:ext cx="7566660" cy="646331"/>
          </a:xfrm>
          <a:prstGeom prst="rect">
            <a:avLst/>
          </a:prstGeom>
        </p:spPr>
        <p:txBody>
          <a:bodyPr wrap="square">
            <a:spAutoFit/>
          </a:bodyPr>
          <a:lstStyle>
            <a:defPPr>
              <a:defRPr lang="en-US"/>
            </a:defPPr>
            <a:lvl1pPr>
              <a:lnSpc>
                <a:spcPct val="100000"/>
              </a:lnSpc>
              <a:defRPr sz="36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脂肪酸的合成</a:t>
            </a:r>
          </a:p>
        </p:txBody>
      </p:sp>
    </p:spTree>
  </p:cSld>
  <p:clrMapOvr>
    <a:masterClrMapping/>
  </p:clrMapOvr>
  <p:transition>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440156" y="788545"/>
            <a:ext cx="5217122" cy="1015663"/>
          </a:xfrm>
          <a:prstGeom prst="rect">
            <a:avLst/>
          </a:prstGeom>
          <a:noFill/>
        </p:spPr>
        <p:txBody>
          <a:bodyPr wrap="square" rtlCol="0">
            <a:spAutoFit/>
          </a:bodyPr>
          <a:lstStyle/>
          <a:p>
            <a:r>
              <a:rPr lang="en-US" altLang="zh-CN" sz="2800" b="1" dirty="0">
                <a:latin typeface="Times New Roman" panose="02020603050405020304" pitchFamily="18" charset="0"/>
                <a:ea typeface="微软雅黑" panose="020B0503020204020204" pitchFamily="34" charset="-122"/>
                <a:cs typeface="Times New Roman" panose="02020603050405020304" pitchFamily="18" charset="0"/>
              </a:rPr>
              <a:t>ACP: Acyl carrier protein </a:t>
            </a:r>
          </a:p>
          <a:p>
            <a:r>
              <a:rPr lang="zh-CN" altLang="en-US" sz="3200" b="1" dirty="0">
                <a:latin typeface="Times New Roman" panose="02020603050405020304" pitchFamily="18" charset="0"/>
                <a:ea typeface="微软雅黑" panose="020B0503020204020204" pitchFamily="34" charset="-122"/>
                <a:cs typeface="Times New Roman" panose="02020603050405020304" pitchFamily="18" charset="0"/>
              </a:rPr>
              <a:t>酰基载体蛋白</a:t>
            </a:r>
            <a:endParaRPr lang="en-US" altLang="zh-CN" sz="3200" b="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8" name="组合 7"/>
          <p:cNvGrpSpPr/>
          <p:nvPr/>
        </p:nvGrpSpPr>
        <p:grpSpPr>
          <a:xfrm>
            <a:off x="6229380" y="2374"/>
            <a:ext cx="4290633" cy="6664960"/>
            <a:chOff x="6118117" y="193040"/>
            <a:chExt cx="3736975" cy="5753100"/>
          </a:xfrm>
        </p:grpSpPr>
        <p:pic>
          <p:nvPicPr>
            <p:cNvPr id="7" name="图片 6"/>
            <p:cNvPicPr>
              <a:picLocks noChangeAspect="1"/>
            </p:cNvPicPr>
            <p:nvPr/>
          </p:nvPicPr>
          <p:blipFill>
            <a:blip r:embed="rId3"/>
            <a:stretch>
              <a:fillRect/>
            </a:stretch>
          </p:blipFill>
          <p:spPr>
            <a:xfrm>
              <a:off x="6118117" y="193040"/>
              <a:ext cx="3566160" cy="5753100"/>
            </a:xfrm>
            <a:prstGeom prst="rect">
              <a:avLst/>
            </a:prstGeom>
          </p:spPr>
        </p:pic>
        <p:sp>
          <p:nvSpPr>
            <p:cNvPr id="3" name="文本框 2"/>
            <p:cNvSpPr txBox="1"/>
            <p:nvPr/>
          </p:nvSpPr>
          <p:spPr>
            <a:xfrm>
              <a:off x="6697237" y="1187450"/>
              <a:ext cx="817880" cy="245110"/>
            </a:xfrm>
            <a:prstGeom prst="rect">
              <a:avLst/>
            </a:prstGeom>
            <a:noFill/>
            <a:ln>
              <a:noFill/>
            </a:ln>
          </p:spPr>
          <p:txBody>
            <a:bodyPr wrap="none" rtlCol="0">
              <a:spAutoFit/>
            </a:bodyPr>
            <a:lstStyle/>
            <a:p>
              <a:pPr algn="l"/>
              <a:r>
                <a:rPr lang="zh-CN" altLang="en-US" sz="1000" b="1" dirty="0">
                  <a:solidFill>
                    <a:srgbClr val="FF0000"/>
                  </a:solidFill>
                  <a:latin typeface="微软雅黑" panose="020B0503020204020204" pitchFamily="34" charset="-122"/>
                  <a:ea typeface="微软雅黑" panose="020B0503020204020204" pitchFamily="34" charset="-122"/>
                </a:rPr>
                <a:t>丝氨酸侧链</a:t>
              </a:r>
            </a:p>
          </p:txBody>
        </p:sp>
        <p:sp>
          <p:nvSpPr>
            <p:cNvPr id="5" name="文本框 4"/>
            <p:cNvSpPr txBox="1"/>
            <p:nvPr/>
          </p:nvSpPr>
          <p:spPr>
            <a:xfrm>
              <a:off x="6697237" y="3158490"/>
              <a:ext cx="436880" cy="245110"/>
            </a:xfrm>
            <a:prstGeom prst="rect">
              <a:avLst/>
            </a:prstGeom>
            <a:noFill/>
            <a:ln>
              <a:noFill/>
            </a:ln>
          </p:spPr>
          <p:txBody>
            <a:bodyPr wrap="none" rtlCol="0">
              <a:spAutoFit/>
            </a:bodyPr>
            <a:lstStyle/>
            <a:p>
              <a:pPr algn="l"/>
              <a:r>
                <a:rPr lang="zh-CN" altLang="en-US" sz="1000" b="1" dirty="0">
                  <a:solidFill>
                    <a:srgbClr val="FF0000"/>
                  </a:solidFill>
                  <a:latin typeface="微软雅黑" panose="020B0503020204020204" pitchFamily="34" charset="-122"/>
                  <a:ea typeface="微软雅黑" panose="020B0503020204020204" pitchFamily="34" charset="-122"/>
                </a:rPr>
                <a:t>泛酸</a:t>
              </a:r>
            </a:p>
          </p:txBody>
        </p:sp>
        <p:sp>
          <p:nvSpPr>
            <p:cNvPr id="6" name="文本框 5"/>
            <p:cNvSpPr txBox="1"/>
            <p:nvPr/>
          </p:nvSpPr>
          <p:spPr>
            <a:xfrm>
              <a:off x="7315092" y="4886325"/>
              <a:ext cx="2540000" cy="245110"/>
            </a:xfrm>
            <a:prstGeom prst="rect">
              <a:avLst/>
            </a:prstGeom>
            <a:noFill/>
            <a:ln>
              <a:noFill/>
            </a:ln>
          </p:spPr>
          <p:txBody>
            <a:bodyPr wrap="square" rtlCol="0" anchor="t">
              <a:spAutoFit/>
            </a:bodyPr>
            <a:lstStyle/>
            <a:p>
              <a:pPr algn="l"/>
              <a:r>
                <a:rPr lang="zh-CN" altLang="en-US" sz="1000" b="1" dirty="0">
                  <a:solidFill>
                    <a:srgbClr val="FF0000"/>
                  </a:solidFill>
                  <a:latin typeface="微软雅黑" panose="020B0503020204020204" pitchFamily="34" charset="-122"/>
                  <a:ea typeface="微软雅黑" panose="020B0503020204020204" pitchFamily="34" charset="-122"/>
                </a:rPr>
                <a:t>巯基乙胺</a:t>
              </a:r>
            </a:p>
          </p:txBody>
        </p:sp>
      </p:grpSp>
    </p:spTree>
  </p:cSld>
  <p:clrMapOvr>
    <a:masterClrMapping/>
  </p:clrMapOvr>
  <p:transition>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797968" y="1638293"/>
            <a:ext cx="2372765" cy="584775"/>
          </a:xfrm>
          <a:prstGeom prst="rect">
            <a:avLst/>
          </a:prstGeom>
          <a:noFill/>
        </p:spPr>
        <p:txBody>
          <a:bodyPr wrap="none" rtlCol="0">
            <a:spAutoFit/>
          </a:bodyPr>
          <a:lstStyle/>
          <a:p>
            <a:r>
              <a:rPr sz="3200" b="1" dirty="0">
                <a:latin typeface="Times New Roman" panose="02020603050405020304" pitchFamily="18" charset="0"/>
                <a:ea typeface="微软雅黑" panose="020B0503020204020204" pitchFamily="34" charset="-122"/>
                <a:cs typeface="Times New Roman" panose="02020603050405020304" pitchFamily="18" charset="0"/>
              </a:rPr>
              <a:t>辅酶A(CoA)</a:t>
            </a:r>
          </a:p>
        </p:txBody>
      </p:sp>
      <p:sp>
        <p:nvSpPr>
          <p:cNvPr id="6" name="矩形 5"/>
          <p:cNvSpPr/>
          <p:nvPr/>
        </p:nvSpPr>
        <p:spPr>
          <a:xfrm>
            <a:off x="4842236" y="1828800"/>
            <a:ext cx="556181" cy="51847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descr="QQ截图20220514101620"/>
          <p:cNvPicPr>
            <a:picLocks noChangeAspect="1"/>
          </p:cNvPicPr>
          <p:nvPr/>
        </p:nvPicPr>
        <p:blipFill>
          <a:blip r:embed="rId3"/>
          <a:stretch>
            <a:fillRect/>
          </a:stretch>
        </p:blipFill>
        <p:spPr>
          <a:xfrm>
            <a:off x="1797685" y="2346960"/>
            <a:ext cx="8336280" cy="3200400"/>
          </a:xfrm>
          <a:prstGeom prst="rect">
            <a:avLst/>
          </a:prstGeom>
          <a:ln>
            <a:solidFill>
              <a:schemeClr val="tx1"/>
            </a:solidFill>
          </a:ln>
        </p:spPr>
      </p:pic>
      <p:sp>
        <p:nvSpPr>
          <p:cNvPr id="2" name="文本框 1"/>
          <p:cNvSpPr txBox="1"/>
          <p:nvPr/>
        </p:nvSpPr>
        <p:spPr>
          <a:xfrm>
            <a:off x="5143500" y="4038600"/>
            <a:ext cx="436880" cy="245110"/>
          </a:xfrm>
          <a:prstGeom prst="rect">
            <a:avLst/>
          </a:prstGeom>
          <a:noFill/>
          <a:ln>
            <a:noFill/>
          </a:ln>
        </p:spPr>
        <p:txBody>
          <a:bodyPr wrap="none" rtlCol="0">
            <a:spAutoFit/>
          </a:bodyPr>
          <a:lstStyle/>
          <a:p>
            <a:pPr algn="l"/>
            <a:r>
              <a:rPr lang="zh-CN" altLang="en-US" sz="1000" b="1" dirty="0">
                <a:solidFill>
                  <a:srgbClr val="FF0000"/>
                </a:solidFill>
                <a:latin typeface="微软雅黑" panose="020B0503020204020204" pitchFamily="34" charset="-122"/>
                <a:ea typeface="微软雅黑" panose="020B0503020204020204" pitchFamily="34" charset="-122"/>
              </a:rPr>
              <a:t>泛酸</a:t>
            </a:r>
          </a:p>
        </p:txBody>
      </p:sp>
      <p:sp>
        <p:nvSpPr>
          <p:cNvPr id="3" name="文本框 2"/>
          <p:cNvSpPr txBox="1"/>
          <p:nvPr/>
        </p:nvSpPr>
        <p:spPr>
          <a:xfrm>
            <a:off x="2447290" y="4038600"/>
            <a:ext cx="2540000" cy="245110"/>
          </a:xfrm>
          <a:prstGeom prst="rect">
            <a:avLst/>
          </a:prstGeom>
          <a:noFill/>
          <a:ln>
            <a:noFill/>
          </a:ln>
        </p:spPr>
        <p:txBody>
          <a:bodyPr wrap="square" rtlCol="0" anchor="t">
            <a:spAutoFit/>
          </a:bodyPr>
          <a:lstStyle/>
          <a:p>
            <a:pPr algn="l"/>
            <a:r>
              <a:rPr lang="zh-CN" altLang="en-US" sz="1000" b="1" dirty="0">
                <a:solidFill>
                  <a:srgbClr val="FF0000"/>
                </a:solidFill>
                <a:latin typeface="微软雅黑" panose="020B0503020204020204" pitchFamily="34" charset="-122"/>
                <a:ea typeface="微软雅黑" panose="020B0503020204020204" pitchFamily="34" charset="-122"/>
              </a:rPr>
              <a:t>巯基乙胺</a:t>
            </a:r>
          </a:p>
        </p:txBody>
      </p:sp>
    </p:spTree>
  </p:cSld>
  <p:clrMapOvr>
    <a:masterClrMapping/>
  </p:clrMapOvr>
  <p:transition>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rcRect t="2105"/>
          <a:stretch>
            <a:fillRect/>
          </a:stretch>
        </p:blipFill>
        <p:spPr>
          <a:xfrm>
            <a:off x="7105778" y="63182"/>
            <a:ext cx="3547745" cy="6731635"/>
          </a:xfrm>
          <a:prstGeom prst="rect">
            <a:avLst/>
          </a:prstGeom>
          <a:ln>
            <a:solidFill>
              <a:schemeClr val="tx1"/>
            </a:solidFill>
          </a:ln>
        </p:spPr>
      </p:pic>
      <p:sp>
        <p:nvSpPr>
          <p:cNvPr id="4" name="文本框 3"/>
          <p:cNvSpPr txBox="1"/>
          <p:nvPr/>
        </p:nvSpPr>
        <p:spPr>
          <a:xfrm>
            <a:off x="388123" y="9285"/>
            <a:ext cx="6280306" cy="584775"/>
          </a:xfrm>
          <a:prstGeom prst="rect">
            <a:avLst/>
          </a:prstGeom>
          <a:solidFill>
            <a:schemeClr val="accent6">
              <a:lumMod val="40000"/>
              <a:lumOff val="60000"/>
            </a:schemeClr>
          </a:solidFill>
        </p:spPr>
        <p:txBody>
          <a:bodyPr wrap="square" rtlCol="0">
            <a:spAutoFit/>
          </a:bodyPr>
          <a:lstStyle/>
          <a:p>
            <a:r>
              <a:rPr lang="zh-CN" altLang="en-US" sz="3200" b="1" u="sng" dirty="0">
                <a:latin typeface="微软雅黑" panose="020B0503020204020204" pitchFamily="34" charset="-122"/>
                <a:ea typeface="微软雅黑" panose="020B0503020204020204" pitchFamily="34" charset="-122"/>
              </a:rPr>
              <a:t>脂肪酸合成</a:t>
            </a:r>
            <a:r>
              <a:rPr lang="zh-CN" altLang="en-US" sz="3200" b="1" u="sng" dirty="0" smtClean="0">
                <a:latin typeface="微软雅黑" panose="020B0503020204020204" pitchFamily="34" charset="-122"/>
                <a:ea typeface="微软雅黑" panose="020B0503020204020204" pitchFamily="34" charset="-122"/>
              </a:rPr>
              <a:t>步骤：</a:t>
            </a:r>
            <a:r>
              <a:rPr lang="zh-CN" altLang="en-US" sz="2400" dirty="0" smtClean="0">
                <a:latin typeface="微软雅黑" panose="020B0503020204020204" pitchFamily="34" charset="-122"/>
                <a:ea typeface="微软雅黑" panose="020B0503020204020204" pitchFamily="34" charset="-122"/>
              </a:rPr>
              <a:t>以</a:t>
            </a:r>
            <a:r>
              <a:rPr lang="en-US" altLang="zh-CN" sz="2400" dirty="0">
                <a:latin typeface="微软雅黑" panose="020B0503020204020204" pitchFamily="34" charset="-122"/>
                <a:ea typeface="微软雅黑" panose="020B0503020204020204" pitchFamily="34" charset="-122"/>
              </a:rPr>
              <a:t>16</a:t>
            </a:r>
            <a:r>
              <a:rPr lang="zh-CN" altLang="en-US" sz="2400" dirty="0">
                <a:latin typeface="微软雅黑" panose="020B0503020204020204" pitchFamily="34" charset="-122"/>
                <a:ea typeface="微软雅黑" panose="020B0503020204020204" pitchFamily="34" charset="-122"/>
              </a:rPr>
              <a:t>碳软脂酸为例</a:t>
            </a:r>
            <a:r>
              <a:rPr lang="zh-CN" altLang="en-US" sz="2400" dirty="0" smtClean="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p:txBody>
      </p:sp>
      <p:sp>
        <p:nvSpPr>
          <p:cNvPr id="3" name="矩形 2"/>
          <p:cNvSpPr/>
          <p:nvPr/>
        </p:nvSpPr>
        <p:spPr>
          <a:xfrm>
            <a:off x="254309" y="713075"/>
            <a:ext cx="6692663" cy="1554272"/>
          </a:xfrm>
          <a:prstGeom prst="rect">
            <a:avLst/>
          </a:prstGeom>
        </p:spPr>
        <p:txBody>
          <a:bodyPr wrap="square">
            <a:spAutoFit/>
          </a:bodyPr>
          <a:lstStyle/>
          <a:p>
            <a:pPr marL="285750" indent="-285750">
              <a:lnSpc>
                <a:spcPct val="150000"/>
              </a:lnSpc>
              <a:spcBef>
                <a:spcPts val="600"/>
              </a:spcBef>
              <a:buFont typeface="Arial" panose="020B0604020202020204" pitchFamily="34" charset="0"/>
              <a:buChar char="•"/>
            </a:pPr>
            <a:r>
              <a:rPr lang="zh-CN" altLang="en-US" sz="2000" dirty="0" smtClean="0">
                <a:latin typeface="微软雅黑" panose="020B0503020204020204" pitchFamily="34" charset="-122"/>
                <a:ea typeface="微软雅黑" panose="020B0503020204020204" pitchFamily="34" charset="-122"/>
              </a:rPr>
              <a:t>每</a:t>
            </a:r>
            <a:r>
              <a:rPr lang="zh-CN" altLang="en-US" sz="2000" dirty="0">
                <a:latin typeface="微软雅黑" panose="020B0503020204020204" pitchFamily="34" charset="-122"/>
                <a:ea typeface="微软雅黑" panose="020B0503020204020204" pitchFamily="34" charset="-122"/>
              </a:rPr>
              <a:t>轮</a:t>
            </a:r>
            <a:r>
              <a:rPr lang="en-US" altLang="zh-CN" sz="2000" dirty="0">
                <a:latin typeface="微软雅黑" panose="020B0503020204020204" pitchFamily="34" charset="-122"/>
                <a:ea typeface="微软雅黑" panose="020B0503020204020204" pitchFamily="34" charset="-122"/>
              </a:rPr>
              <a:t>7</a:t>
            </a:r>
            <a:r>
              <a:rPr lang="zh-CN" altLang="en-US" sz="2000" dirty="0">
                <a:latin typeface="微软雅黑" panose="020B0503020204020204" pitchFamily="34" charset="-122"/>
                <a:ea typeface="微软雅黑" panose="020B0503020204020204" pitchFamily="34" charset="-122"/>
              </a:rPr>
              <a:t>步反应：启动，装载，</a:t>
            </a:r>
            <a:r>
              <a:rPr lang="zh-CN" altLang="en-US" sz="2000" dirty="0">
                <a:solidFill>
                  <a:srgbClr val="FF0000"/>
                </a:solidFill>
                <a:latin typeface="微软雅黑" panose="020B0503020204020204" pitchFamily="34" charset="-122"/>
                <a:ea typeface="微软雅黑" panose="020B0503020204020204" pitchFamily="34" charset="-122"/>
              </a:rPr>
              <a:t>缩合，还原，脱水，还原</a:t>
            </a:r>
            <a:r>
              <a:rPr lang="zh-CN" altLang="en-US" sz="2000" dirty="0">
                <a:latin typeface="微软雅黑" panose="020B0503020204020204" pitchFamily="34" charset="-122"/>
                <a:ea typeface="微软雅黑" panose="020B0503020204020204" pitchFamily="34" charset="-122"/>
              </a:rPr>
              <a:t>，释放。</a:t>
            </a:r>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spcBef>
                <a:spcPts val="600"/>
              </a:spcBef>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消耗</a:t>
            </a:r>
            <a:r>
              <a:rPr lang="en-US" altLang="zh-CN" sz="2000" dirty="0">
                <a:latin typeface="微软雅黑" panose="020B0503020204020204" pitchFamily="34" charset="-122"/>
                <a:ea typeface="微软雅黑" panose="020B0503020204020204" pitchFamily="34" charset="-122"/>
              </a:rPr>
              <a:t>NADPH</a:t>
            </a:r>
            <a:r>
              <a:rPr lang="zh-CN" altLang="en-US" sz="2000" dirty="0">
                <a:latin typeface="微软雅黑" panose="020B0503020204020204" pitchFamily="34" charset="-122"/>
                <a:ea typeface="微软雅黑" panose="020B0503020204020204" pitchFamily="34" charset="-122"/>
              </a:rPr>
              <a:t>。</a:t>
            </a:r>
          </a:p>
        </p:txBody>
      </p:sp>
      <p:sp>
        <p:nvSpPr>
          <p:cNvPr id="5" name="矩形 4"/>
          <p:cNvSpPr/>
          <p:nvPr/>
        </p:nvSpPr>
        <p:spPr>
          <a:xfrm>
            <a:off x="9659080" y="288065"/>
            <a:ext cx="889987" cy="430887"/>
          </a:xfrm>
          <a:prstGeom prst="rect">
            <a:avLst/>
          </a:prstGeom>
        </p:spPr>
        <p:txBody>
          <a:bodyPr wrap="none">
            <a:spAutoFit/>
          </a:bodyPr>
          <a:lstStyle/>
          <a:p>
            <a:r>
              <a:rPr lang="zh-CN" altLang="en-US" sz="1100" b="1" dirty="0">
                <a:solidFill>
                  <a:srgbClr val="FF0000"/>
                </a:solidFill>
                <a:latin typeface="微软雅黑" panose="020B0503020204020204" pitchFamily="34" charset="-122"/>
                <a:ea typeface="微软雅黑" panose="020B0503020204020204" pitchFamily="34" charset="-122"/>
              </a:rPr>
              <a:t>启动，装载</a:t>
            </a:r>
            <a:endParaRPr lang="en-US" altLang="zh-CN" sz="1100" b="1" dirty="0">
              <a:solidFill>
                <a:srgbClr val="FF0000"/>
              </a:solidFill>
              <a:latin typeface="微软雅黑" panose="020B0503020204020204" pitchFamily="34" charset="-122"/>
              <a:ea typeface="微软雅黑" panose="020B0503020204020204" pitchFamily="34" charset="-122"/>
            </a:endParaRPr>
          </a:p>
          <a:p>
            <a:r>
              <a:rPr lang="zh-CN" altLang="en-US" sz="1100" b="1" dirty="0">
                <a:solidFill>
                  <a:srgbClr val="FF0000"/>
                </a:solidFill>
                <a:latin typeface="微软雅黑" panose="020B0503020204020204" pitchFamily="34" charset="-122"/>
                <a:ea typeface="微软雅黑" panose="020B0503020204020204" pitchFamily="34" charset="-122"/>
              </a:rPr>
              <a:t>（</a:t>
            </a:r>
            <a:r>
              <a:rPr lang="en-US" altLang="zh-CN" sz="1100" b="1" dirty="0">
                <a:solidFill>
                  <a:srgbClr val="FF0000"/>
                </a:solidFill>
                <a:latin typeface="微软雅黑" panose="020B0503020204020204" pitchFamily="34" charset="-122"/>
                <a:ea typeface="微软雅黑" panose="020B0503020204020204" pitchFamily="34" charset="-122"/>
              </a:rPr>
              <a:t>MAT</a:t>
            </a:r>
            <a:r>
              <a:rPr lang="zh-CN" altLang="en-US" sz="1100" b="1" dirty="0">
                <a:solidFill>
                  <a:srgbClr val="FF0000"/>
                </a:solidFill>
                <a:latin typeface="微软雅黑" panose="020B0503020204020204" pitchFamily="34" charset="-122"/>
                <a:ea typeface="微软雅黑" panose="020B0503020204020204" pitchFamily="34" charset="-122"/>
              </a:rPr>
              <a:t>）</a:t>
            </a:r>
            <a:endParaRPr lang="zh-CN" altLang="en-US" sz="1100" dirty="0">
              <a:solidFill>
                <a:srgbClr val="FF0000"/>
              </a:solidFill>
            </a:endParaRPr>
          </a:p>
        </p:txBody>
      </p:sp>
      <p:sp>
        <p:nvSpPr>
          <p:cNvPr id="6" name="矩形 5"/>
          <p:cNvSpPr/>
          <p:nvPr/>
        </p:nvSpPr>
        <p:spPr>
          <a:xfrm>
            <a:off x="7746872" y="1082721"/>
            <a:ext cx="1000595" cy="276999"/>
          </a:xfrm>
          <a:prstGeom prst="rect">
            <a:avLst/>
          </a:prstGeom>
        </p:spPr>
        <p:txBody>
          <a:bodyPr wrap="none">
            <a:spAutoFit/>
          </a:bodyPr>
          <a:lstStyle/>
          <a:p>
            <a:r>
              <a:rPr lang="zh-CN" altLang="en-US" sz="1200" b="1" dirty="0">
                <a:solidFill>
                  <a:srgbClr val="FF0000"/>
                </a:solidFill>
                <a:latin typeface="微软雅黑" panose="020B0503020204020204" pitchFamily="34" charset="-122"/>
                <a:ea typeface="微软雅黑" panose="020B0503020204020204" pitchFamily="34" charset="-122"/>
              </a:rPr>
              <a:t>缩合（</a:t>
            </a:r>
            <a:r>
              <a:rPr lang="en-US" altLang="zh-CN" sz="1200" b="1" dirty="0">
                <a:solidFill>
                  <a:srgbClr val="FF0000"/>
                </a:solidFill>
                <a:latin typeface="微软雅黑" panose="020B0503020204020204" pitchFamily="34" charset="-122"/>
                <a:ea typeface="微软雅黑" panose="020B0503020204020204" pitchFamily="34" charset="-122"/>
              </a:rPr>
              <a:t>KS</a:t>
            </a:r>
            <a:r>
              <a:rPr lang="zh-CN" altLang="en-US" sz="1200" b="1" dirty="0">
                <a:solidFill>
                  <a:srgbClr val="FF0000"/>
                </a:solidFill>
                <a:latin typeface="微软雅黑" panose="020B0503020204020204" pitchFamily="34" charset="-122"/>
                <a:ea typeface="微软雅黑" panose="020B0503020204020204" pitchFamily="34" charset="-122"/>
              </a:rPr>
              <a:t>）</a:t>
            </a:r>
            <a:endParaRPr lang="zh-CN" altLang="en-US" sz="1200" dirty="0"/>
          </a:p>
        </p:txBody>
      </p:sp>
      <p:sp>
        <p:nvSpPr>
          <p:cNvPr id="8" name="矩形 7"/>
          <p:cNvSpPr/>
          <p:nvPr/>
        </p:nvSpPr>
        <p:spPr>
          <a:xfrm>
            <a:off x="7931125" y="2316732"/>
            <a:ext cx="825867" cy="276999"/>
          </a:xfrm>
          <a:prstGeom prst="rect">
            <a:avLst/>
          </a:prstGeom>
        </p:spPr>
        <p:txBody>
          <a:bodyPr wrap="none">
            <a:spAutoFit/>
          </a:bodyPr>
          <a:lstStyle/>
          <a:p>
            <a:r>
              <a:rPr lang="zh-CN" altLang="en-US" sz="1200" b="1" dirty="0">
                <a:solidFill>
                  <a:srgbClr val="FF0000"/>
                </a:solidFill>
                <a:latin typeface="微软雅黑" panose="020B0503020204020204" pitchFamily="34" charset="-122"/>
                <a:ea typeface="微软雅黑" panose="020B0503020204020204" pitchFamily="34" charset="-122"/>
              </a:rPr>
              <a:t>还原</a:t>
            </a:r>
            <a:r>
              <a:rPr lang="en-US" altLang="zh-CN" sz="1200" b="1" dirty="0">
                <a:solidFill>
                  <a:srgbClr val="FF0000"/>
                </a:solidFill>
                <a:latin typeface="微软雅黑" panose="020B0503020204020204" pitchFamily="34" charset="-122"/>
                <a:ea typeface="微软雅黑" panose="020B0503020204020204" pitchFamily="34" charset="-122"/>
              </a:rPr>
              <a:t>(KR)</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sp>
        <p:nvSpPr>
          <p:cNvPr id="9" name="矩形 8"/>
          <p:cNvSpPr/>
          <p:nvPr/>
        </p:nvSpPr>
        <p:spPr>
          <a:xfrm>
            <a:off x="7941285" y="5541513"/>
            <a:ext cx="806631" cy="276999"/>
          </a:xfrm>
          <a:prstGeom prst="rect">
            <a:avLst/>
          </a:prstGeom>
        </p:spPr>
        <p:txBody>
          <a:bodyPr wrap="none">
            <a:spAutoFit/>
          </a:bodyPr>
          <a:lstStyle/>
          <a:p>
            <a:r>
              <a:rPr lang="zh-CN" altLang="en-US" sz="1200" b="1" dirty="0">
                <a:solidFill>
                  <a:srgbClr val="FF0000"/>
                </a:solidFill>
                <a:latin typeface="微软雅黑" panose="020B0503020204020204" pitchFamily="34" charset="-122"/>
                <a:ea typeface="微软雅黑" panose="020B0503020204020204" pitchFamily="34" charset="-122"/>
              </a:rPr>
              <a:t>还原</a:t>
            </a:r>
            <a:r>
              <a:rPr lang="en-US" altLang="zh-CN" sz="1200" b="1" dirty="0">
                <a:solidFill>
                  <a:srgbClr val="FF0000"/>
                </a:solidFill>
                <a:latin typeface="微软雅黑" panose="020B0503020204020204" pitchFamily="34" charset="-122"/>
                <a:ea typeface="微软雅黑" panose="020B0503020204020204" pitchFamily="34" charset="-122"/>
              </a:rPr>
              <a:t>(ER)</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sp>
        <p:nvSpPr>
          <p:cNvPr id="10" name="矩形 9"/>
          <p:cNvSpPr/>
          <p:nvPr/>
        </p:nvSpPr>
        <p:spPr>
          <a:xfrm>
            <a:off x="7817403" y="3928987"/>
            <a:ext cx="859531" cy="276999"/>
          </a:xfrm>
          <a:prstGeom prst="rect">
            <a:avLst/>
          </a:prstGeom>
        </p:spPr>
        <p:txBody>
          <a:bodyPr wrap="none">
            <a:spAutoFit/>
          </a:bodyPr>
          <a:lstStyle/>
          <a:p>
            <a:r>
              <a:rPr lang="zh-CN" altLang="en-US" sz="1200" b="1" dirty="0">
                <a:solidFill>
                  <a:srgbClr val="FF0000"/>
                </a:solidFill>
                <a:latin typeface="微软雅黑" panose="020B0503020204020204" pitchFamily="34" charset="-122"/>
                <a:ea typeface="微软雅黑" panose="020B0503020204020204" pitchFamily="34" charset="-122"/>
              </a:rPr>
              <a:t>脱水</a:t>
            </a:r>
            <a:r>
              <a:rPr lang="en-US" altLang="zh-CN" sz="1200" b="1" dirty="0">
                <a:solidFill>
                  <a:srgbClr val="FF0000"/>
                </a:solidFill>
                <a:latin typeface="微软雅黑" panose="020B0503020204020204" pitchFamily="34" charset="-122"/>
                <a:ea typeface="微软雅黑" panose="020B0503020204020204" pitchFamily="34" charset="-122"/>
              </a:rPr>
              <a:t>(DH)</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9216358" y="751557"/>
            <a:ext cx="397866" cy="246221"/>
          </a:xfrm>
          <a:prstGeom prst="rect">
            <a:avLst/>
          </a:prstGeom>
          <a:noFill/>
        </p:spPr>
        <p:txBody>
          <a:bodyPr wrap="none" rtlCol="0">
            <a:spAutoFit/>
          </a:bodyPr>
          <a:lstStyle/>
          <a:p>
            <a:r>
              <a:rPr lang="en-US" altLang="zh-CN" sz="1000" b="1" dirty="0">
                <a:solidFill>
                  <a:srgbClr val="FF0000"/>
                </a:solidFill>
              </a:rPr>
              <a:t>ACP</a:t>
            </a:r>
            <a:endParaRPr lang="zh-CN" altLang="en-US" sz="1000" b="1" dirty="0">
              <a:solidFill>
                <a:srgbClr val="FF0000"/>
              </a:solidFill>
            </a:endParaRPr>
          </a:p>
        </p:txBody>
      </p:sp>
      <p:sp>
        <p:nvSpPr>
          <p:cNvPr id="12" name="矩形 11"/>
          <p:cNvSpPr/>
          <p:nvPr/>
        </p:nvSpPr>
        <p:spPr>
          <a:xfrm>
            <a:off x="718452" y="2390104"/>
            <a:ext cx="5764376" cy="3631763"/>
          </a:xfrm>
          <a:prstGeom prst="rect">
            <a:avLst/>
          </a:prstGeom>
          <a:ln>
            <a:solidFill>
              <a:schemeClr val="tx1">
                <a:lumMod val="95000"/>
                <a:lumOff val="5000"/>
              </a:schemeClr>
            </a:solidFill>
            <a:prstDash val="dash"/>
          </a:ln>
        </p:spPr>
        <p:txBody>
          <a:bodyPr wrap="square">
            <a:spAutoFit/>
          </a:bodyPr>
          <a:lstStyle/>
          <a:p>
            <a:pPr marL="285750" indent="-285750">
              <a:spcBef>
                <a:spcPts val="600"/>
              </a:spcBef>
              <a:buFont typeface="Arial" panose="020B0604020202020204" pitchFamily="34" charset="0"/>
              <a:buChar char="•"/>
            </a:pPr>
            <a:r>
              <a:rPr lang="en-US" altLang="zh-CN" sz="2000" b="1" dirty="0">
                <a:solidFill>
                  <a:srgbClr val="FF0000"/>
                </a:solidFill>
                <a:latin typeface="Times New Roman" panose="02020603050405020304" pitchFamily="18" charset="0"/>
                <a:cs typeface="Times New Roman" panose="02020603050405020304" pitchFamily="18" charset="0"/>
              </a:rPr>
              <a:t>MAT</a:t>
            </a:r>
            <a:r>
              <a:rPr lang="en-US" altLang="zh-CN" sz="2000" b="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malonyl/acetyl-CoA–ACP transferase(</a:t>
            </a:r>
            <a:r>
              <a:rPr lang="zh-CN" altLang="en-US" sz="2000" dirty="0">
                <a:latin typeface="Times New Roman" panose="02020603050405020304" pitchFamily="18" charset="0"/>
                <a:cs typeface="Times New Roman" panose="02020603050405020304" pitchFamily="18" charset="0"/>
              </a:rPr>
              <a:t>丙二酰</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乙酰</a:t>
            </a:r>
            <a:r>
              <a:rPr lang="en-US" altLang="zh-CN" sz="2000" dirty="0">
                <a:latin typeface="Times New Roman" panose="02020603050405020304" pitchFamily="18" charset="0"/>
                <a:cs typeface="Times New Roman" panose="02020603050405020304" pitchFamily="18" charset="0"/>
              </a:rPr>
              <a:t>CoA-ACP</a:t>
            </a:r>
            <a:r>
              <a:rPr lang="zh-CN" altLang="en-US" sz="2000" dirty="0">
                <a:latin typeface="Times New Roman" panose="02020603050405020304" pitchFamily="18" charset="0"/>
                <a:cs typeface="Times New Roman" panose="02020603050405020304" pitchFamily="18" charset="0"/>
              </a:rPr>
              <a:t>转移酶</a:t>
            </a:r>
            <a:r>
              <a:rPr lang="en-US" altLang="zh-CN" sz="2000" dirty="0">
                <a:latin typeface="Times New Roman" panose="02020603050405020304" pitchFamily="18" charset="0"/>
                <a:cs typeface="Times New Roman" panose="02020603050405020304" pitchFamily="18" charset="0"/>
              </a:rPr>
              <a:t>);</a:t>
            </a:r>
          </a:p>
          <a:p>
            <a:pPr marL="285750" indent="-285750">
              <a:spcBef>
                <a:spcPts val="600"/>
              </a:spcBef>
              <a:buFont typeface="Arial" panose="020B0604020202020204" pitchFamily="34" charset="0"/>
              <a:buChar char="•"/>
            </a:pPr>
            <a:r>
              <a:rPr lang="en-US" altLang="zh-CN" sz="2000" b="1" dirty="0">
                <a:solidFill>
                  <a:srgbClr val="FF0000"/>
                </a:solidFill>
                <a:latin typeface="Times New Roman" panose="02020603050405020304" pitchFamily="18" charset="0"/>
                <a:cs typeface="Times New Roman" panose="02020603050405020304" pitchFamily="18" charset="0"/>
                <a:sym typeface="+mn-ea"/>
              </a:rPr>
              <a:t>KS</a:t>
            </a:r>
            <a:r>
              <a:rPr lang="en-US" altLang="zh-CN" sz="2000" dirty="0">
                <a:latin typeface="Times New Roman" panose="02020603050405020304" pitchFamily="18" charset="0"/>
                <a:cs typeface="Times New Roman" panose="02020603050405020304" pitchFamily="18" charset="0"/>
                <a:sym typeface="+mn-ea"/>
              </a:rPr>
              <a:t>:β-ketoacyl-ACP synthase (β-</a:t>
            </a:r>
            <a:r>
              <a:rPr lang="zh-CN" altLang="en-US" sz="2000" dirty="0">
                <a:latin typeface="Times New Roman" panose="02020603050405020304" pitchFamily="18" charset="0"/>
                <a:cs typeface="Times New Roman" panose="02020603050405020304" pitchFamily="18" charset="0"/>
                <a:sym typeface="+mn-ea"/>
              </a:rPr>
              <a:t>酮酰</a:t>
            </a:r>
            <a:r>
              <a:rPr lang="en-US" altLang="zh-CN" sz="2000" dirty="0">
                <a:latin typeface="Times New Roman" panose="02020603050405020304" pitchFamily="18" charset="0"/>
                <a:cs typeface="Times New Roman" panose="02020603050405020304" pitchFamily="18" charset="0"/>
                <a:sym typeface="+mn-ea"/>
              </a:rPr>
              <a:t>-ACP</a:t>
            </a:r>
            <a:r>
              <a:rPr lang="zh-CN" altLang="en-US" sz="2000" dirty="0">
                <a:latin typeface="Times New Roman" panose="02020603050405020304" pitchFamily="18" charset="0"/>
                <a:cs typeface="Times New Roman" panose="02020603050405020304" pitchFamily="18" charset="0"/>
                <a:sym typeface="+mn-ea"/>
              </a:rPr>
              <a:t>合酶</a:t>
            </a:r>
            <a:r>
              <a:rPr lang="en-US" altLang="zh-CN" sz="2000" dirty="0">
                <a:latin typeface="Times New Roman" panose="02020603050405020304" pitchFamily="18" charset="0"/>
                <a:cs typeface="Times New Roman" panose="02020603050405020304" pitchFamily="18" charset="0"/>
                <a:sym typeface="+mn-ea"/>
              </a:rPr>
              <a:t>);</a:t>
            </a:r>
          </a:p>
          <a:p>
            <a:pPr marL="285750" indent="-285750">
              <a:spcBef>
                <a:spcPts val="600"/>
              </a:spcBef>
              <a:buFont typeface="Arial" panose="020B0604020202020204" pitchFamily="34" charset="0"/>
              <a:buChar char="•"/>
            </a:pPr>
            <a:r>
              <a:rPr lang="en-US" altLang="zh-CN" sz="2000" b="1" dirty="0">
                <a:solidFill>
                  <a:srgbClr val="FF0000"/>
                </a:solidFill>
                <a:latin typeface="Times New Roman" panose="02020603050405020304" pitchFamily="18" charset="0"/>
                <a:cs typeface="Times New Roman" panose="02020603050405020304" pitchFamily="18" charset="0"/>
                <a:sym typeface="+mn-ea"/>
              </a:rPr>
              <a:t>KR</a:t>
            </a:r>
            <a:r>
              <a:rPr lang="en-US" altLang="zh-CN" sz="2000" dirty="0">
                <a:latin typeface="Times New Roman" panose="02020603050405020304" pitchFamily="18" charset="0"/>
                <a:cs typeface="Times New Roman" panose="02020603050405020304" pitchFamily="18" charset="0"/>
                <a:sym typeface="+mn-ea"/>
              </a:rPr>
              <a:t>: β-ketoacyl-ACP reductase (β-</a:t>
            </a:r>
            <a:r>
              <a:rPr lang="zh-CN" altLang="en-US" sz="2000" dirty="0">
                <a:latin typeface="Times New Roman" panose="02020603050405020304" pitchFamily="18" charset="0"/>
                <a:cs typeface="Times New Roman" panose="02020603050405020304" pitchFamily="18" charset="0"/>
                <a:sym typeface="+mn-ea"/>
              </a:rPr>
              <a:t>酮酰</a:t>
            </a:r>
            <a:r>
              <a:rPr lang="en-US" altLang="zh-CN" sz="2000" dirty="0">
                <a:latin typeface="Times New Roman" panose="02020603050405020304" pitchFamily="18" charset="0"/>
                <a:cs typeface="Times New Roman" panose="02020603050405020304" pitchFamily="18" charset="0"/>
                <a:sym typeface="+mn-ea"/>
              </a:rPr>
              <a:t>-ACP</a:t>
            </a:r>
            <a:r>
              <a:rPr lang="zh-CN" altLang="en-US" sz="2000" dirty="0">
                <a:latin typeface="Times New Roman" panose="02020603050405020304" pitchFamily="18" charset="0"/>
                <a:cs typeface="Times New Roman" panose="02020603050405020304" pitchFamily="18" charset="0"/>
                <a:sym typeface="+mn-ea"/>
              </a:rPr>
              <a:t>还原酶</a:t>
            </a:r>
            <a:r>
              <a:rPr lang="en-US" altLang="zh-CN" sz="2000" dirty="0">
                <a:latin typeface="Times New Roman" panose="02020603050405020304" pitchFamily="18" charset="0"/>
                <a:cs typeface="Times New Roman" panose="02020603050405020304" pitchFamily="18" charset="0"/>
                <a:sym typeface="+mn-ea"/>
              </a:rPr>
              <a:t>);</a:t>
            </a:r>
            <a:endParaRPr lang="en-US" altLang="zh-CN" sz="2000" dirty="0">
              <a:latin typeface="Times New Roman" panose="02020603050405020304" pitchFamily="18" charset="0"/>
              <a:cs typeface="Times New Roman" panose="02020603050405020304" pitchFamily="18" charset="0"/>
            </a:endParaRPr>
          </a:p>
          <a:p>
            <a:pPr marL="285750" indent="-285750">
              <a:spcBef>
                <a:spcPts val="600"/>
              </a:spcBef>
              <a:buFont typeface="Arial" panose="020B0604020202020204" pitchFamily="34" charset="0"/>
              <a:buChar char="•"/>
            </a:pPr>
            <a:r>
              <a:rPr lang="en-US" altLang="zh-CN" sz="2000" b="1" dirty="0">
                <a:solidFill>
                  <a:srgbClr val="FF0000"/>
                </a:solidFill>
                <a:latin typeface="Times New Roman" panose="02020603050405020304" pitchFamily="18" charset="0"/>
                <a:cs typeface="Times New Roman" panose="02020603050405020304" pitchFamily="18" charset="0"/>
              </a:rPr>
              <a:t>DH</a:t>
            </a:r>
            <a:r>
              <a:rPr lang="en-US" altLang="zh-CN" sz="2000" dirty="0">
                <a:latin typeface="Times New Roman" panose="02020603050405020304" pitchFamily="18" charset="0"/>
                <a:cs typeface="Times New Roman" panose="02020603050405020304" pitchFamily="18" charset="0"/>
              </a:rPr>
              <a:t>: β-</a:t>
            </a:r>
            <a:r>
              <a:rPr lang="en-US" altLang="zh-CN" sz="2000" dirty="0" err="1">
                <a:latin typeface="Times New Roman" panose="02020603050405020304" pitchFamily="18" charset="0"/>
                <a:cs typeface="Times New Roman" panose="02020603050405020304" pitchFamily="18" charset="0"/>
              </a:rPr>
              <a:t>hydroxyacyl</a:t>
            </a:r>
            <a:r>
              <a:rPr lang="en-US" altLang="zh-CN" sz="2000" dirty="0">
                <a:latin typeface="Times New Roman" panose="02020603050405020304" pitchFamily="18" charset="0"/>
                <a:cs typeface="Times New Roman" panose="02020603050405020304" pitchFamily="18" charset="0"/>
              </a:rPr>
              <a:t>-ACP dehydratase (</a:t>
            </a:r>
            <a:r>
              <a:rPr lang="zh-CN" altLang="en-US" sz="2000" dirty="0">
                <a:latin typeface="Times New Roman" panose="02020603050405020304" pitchFamily="18" charset="0"/>
                <a:cs typeface="Times New Roman" panose="02020603050405020304" pitchFamily="18" charset="0"/>
              </a:rPr>
              <a:t>羟酰</a:t>
            </a:r>
            <a:r>
              <a:rPr lang="en-US" altLang="zh-CN" sz="2000" dirty="0">
                <a:latin typeface="Times New Roman" panose="02020603050405020304" pitchFamily="18" charset="0"/>
                <a:cs typeface="Times New Roman" panose="02020603050405020304" pitchFamily="18" charset="0"/>
              </a:rPr>
              <a:t>-ACP</a:t>
            </a:r>
            <a:r>
              <a:rPr lang="zh-CN" altLang="en-US" sz="2000" dirty="0">
                <a:latin typeface="Times New Roman" panose="02020603050405020304" pitchFamily="18" charset="0"/>
                <a:cs typeface="Times New Roman" panose="02020603050405020304" pitchFamily="18" charset="0"/>
              </a:rPr>
              <a:t>脱水酶</a:t>
            </a:r>
            <a:r>
              <a:rPr lang="en-US" altLang="zh-CN" sz="2000" dirty="0">
                <a:latin typeface="Times New Roman" panose="02020603050405020304" pitchFamily="18" charset="0"/>
                <a:cs typeface="Times New Roman" panose="02020603050405020304" pitchFamily="18" charset="0"/>
              </a:rPr>
              <a:t>);</a:t>
            </a:r>
          </a:p>
          <a:p>
            <a:pPr marL="285750" indent="-285750">
              <a:spcBef>
                <a:spcPts val="600"/>
              </a:spcBef>
              <a:buFont typeface="Arial" panose="020B0604020202020204" pitchFamily="34" charset="0"/>
              <a:buChar char="•"/>
            </a:pPr>
            <a:r>
              <a:rPr lang="en-US" altLang="zh-CN" sz="2000" b="1" dirty="0">
                <a:solidFill>
                  <a:srgbClr val="FF0000"/>
                </a:solidFill>
                <a:latin typeface="Times New Roman" panose="02020603050405020304" pitchFamily="18" charset="0"/>
                <a:cs typeface="Times New Roman" panose="02020603050405020304" pitchFamily="18" charset="0"/>
              </a:rPr>
              <a:t>ER</a:t>
            </a:r>
            <a:r>
              <a:rPr lang="en-US" altLang="zh-CN" sz="2000" dirty="0">
                <a:latin typeface="Times New Roman" panose="02020603050405020304" pitchFamily="18" charset="0"/>
                <a:cs typeface="Times New Roman" panose="02020603050405020304" pitchFamily="18" charset="0"/>
              </a:rPr>
              <a:t>: enoyl-ACP reductase (</a:t>
            </a:r>
            <a:r>
              <a:rPr lang="zh-CN" altLang="en-US" sz="2000" dirty="0">
                <a:latin typeface="Times New Roman" panose="02020603050405020304" pitchFamily="18" charset="0"/>
                <a:cs typeface="Times New Roman" panose="02020603050405020304" pitchFamily="18" charset="0"/>
              </a:rPr>
              <a:t>烯酰</a:t>
            </a:r>
            <a:r>
              <a:rPr lang="en-US" altLang="zh-CN" sz="2000" dirty="0">
                <a:latin typeface="Times New Roman" panose="02020603050405020304" pitchFamily="18" charset="0"/>
                <a:cs typeface="Times New Roman" panose="02020603050405020304" pitchFamily="18" charset="0"/>
              </a:rPr>
              <a:t>-ACP</a:t>
            </a:r>
            <a:r>
              <a:rPr lang="zh-CN" altLang="en-US" sz="2000" dirty="0">
                <a:latin typeface="Times New Roman" panose="02020603050405020304" pitchFamily="18" charset="0"/>
                <a:cs typeface="Times New Roman" panose="02020603050405020304" pitchFamily="18" charset="0"/>
              </a:rPr>
              <a:t>还原酶</a:t>
            </a:r>
            <a:r>
              <a:rPr lang="en-US" altLang="zh-CN" sz="2000" dirty="0">
                <a:latin typeface="Times New Roman" panose="02020603050405020304" pitchFamily="18" charset="0"/>
                <a:cs typeface="Times New Roman" panose="02020603050405020304" pitchFamily="18" charset="0"/>
              </a:rPr>
              <a:t>);</a:t>
            </a:r>
          </a:p>
          <a:p>
            <a:pPr marL="285750" indent="-285750">
              <a:spcBef>
                <a:spcPts val="600"/>
              </a:spcBef>
              <a:buFont typeface="Arial" panose="020B0604020202020204" pitchFamily="34" charset="0"/>
              <a:buChar char="•"/>
            </a:pPr>
            <a:r>
              <a:rPr lang="en-US" altLang="zh-CN" sz="2000" b="1" dirty="0">
                <a:solidFill>
                  <a:srgbClr val="FF0000"/>
                </a:solidFill>
                <a:latin typeface="Times New Roman" panose="02020603050405020304" pitchFamily="18" charset="0"/>
                <a:cs typeface="Times New Roman" panose="02020603050405020304" pitchFamily="18" charset="0"/>
              </a:rPr>
              <a:t>TE</a:t>
            </a:r>
            <a:r>
              <a:rPr lang="en-US" altLang="zh-CN" sz="2000" dirty="0">
                <a:latin typeface="Times New Roman" panose="02020603050405020304" pitchFamily="18" charset="0"/>
                <a:cs typeface="Times New Roman" panose="02020603050405020304" pitchFamily="18" charset="0"/>
              </a:rPr>
              <a:t>: thioesterase(</a:t>
            </a:r>
            <a:r>
              <a:rPr lang="zh-CN" altLang="en-US" sz="2000" dirty="0">
                <a:latin typeface="Times New Roman" panose="02020603050405020304" pitchFamily="18" charset="0"/>
                <a:cs typeface="Times New Roman" panose="02020603050405020304" pitchFamily="18" charset="0"/>
              </a:rPr>
              <a:t>硫酯酶</a:t>
            </a:r>
            <a:r>
              <a:rPr lang="en-US" altLang="zh-CN" sz="2000" dirty="0">
                <a:latin typeface="Times New Roman" panose="02020603050405020304" pitchFamily="18" charset="0"/>
                <a:cs typeface="Times New Roman" panose="02020603050405020304" pitchFamily="18" charset="0"/>
              </a:rPr>
              <a:t>)</a:t>
            </a:r>
          </a:p>
          <a:p>
            <a:pPr marL="285750" indent="-285750">
              <a:spcBef>
                <a:spcPts val="600"/>
              </a:spcBef>
              <a:buFont typeface="Arial" panose="020B0604020202020204" pitchFamily="34" charset="0"/>
              <a:buChar char="•"/>
            </a:pPr>
            <a:endParaRPr lang="en-US" altLang="zh-CN" sz="2000" dirty="0">
              <a:latin typeface="Times New Roman" panose="02020603050405020304" pitchFamily="18" charset="0"/>
              <a:cs typeface="Times New Roman" panose="02020603050405020304" pitchFamily="18" charset="0"/>
            </a:endParaRPr>
          </a:p>
        </p:txBody>
      </p:sp>
      <p:sp>
        <p:nvSpPr>
          <p:cNvPr id="13" name="文本框 10"/>
          <p:cNvSpPr txBox="1"/>
          <p:nvPr/>
        </p:nvSpPr>
        <p:spPr>
          <a:xfrm>
            <a:off x="9252992" y="2055369"/>
            <a:ext cx="397866" cy="246221"/>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000" b="1" dirty="0">
                <a:solidFill>
                  <a:srgbClr val="FF0000"/>
                </a:solidFill>
              </a:rPr>
              <a:t>ACP</a:t>
            </a:r>
            <a:endParaRPr lang="zh-CN" altLang="en-US" sz="1000" b="1" dirty="0">
              <a:solidFill>
                <a:srgbClr val="FF0000"/>
              </a:solidFill>
            </a:endParaRPr>
          </a:p>
        </p:txBody>
      </p:sp>
      <p:sp>
        <p:nvSpPr>
          <p:cNvPr id="14" name="文本框 10"/>
          <p:cNvSpPr txBox="1"/>
          <p:nvPr/>
        </p:nvSpPr>
        <p:spPr>
          <a:xfrm>
            <a:off x="9261345" y="3659695"/>
            <a:ext cx="397866" cy="246221"/>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000" b="1" dirty="0">
                <a:solidFill>
                  <a:srgbClr val="FF0000"/>
                </a:solidFill>
              </a:rPr>
              <a:t>ACP</a:t>
            </a:r>
            <a:endParaRPr lang="zh-CN" altLang="en-US" sz="1000" b="1" dirty="0">
              <a:solidFill>
                <a:srgbClr val="FF0000"/>
              </a:solidFill>
            </a:endParaRPr>
          </a:p>
        </p:txBody>
      </p:sp>
      <p:sp>
        <p:nvSpPr>
          <p:cNvPr id="15" name="文本框 10"/>
          <p:cNvSpPr txBox="1"/>
          <p:nvPr/>
        </p:nvSpPr>
        <p:spPr>
          <a:xfrm>
            <a:off x="9244638" y="4921962"/>
            <a:ext cx="397866" cy="246221"/>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000" b="1" dirty="0">
                <a:solidFill>
                  <a:srgbClr val="FF0000"/>
                </a:solidFill>
              </a:rPr>
              <a:t>ACP</a:t>
            </a:r>
            <a:endParaRPr lang="zh-CN" altLang="en-US" sz="1000" b="1" dirty="0">
              <a:solidFill>
                <a:srgbClr val="FF0000"/>
              </a:solidFill>
            </a:endParaRPr>
          </a:p>
        </p:txBody>
      </p:sp>
      <p:sp>
        <p:nvSpPr>
          <p:cNvPr id="16" name="文本框 10"/>
          <p:cNvSpPr txBox="1"/>
          <p:nvPr/>
        </p:nvSpPr>
        <p:spPr>
          <a:xfrm>
            <a:off x="9254896" y="6514603"/>
            <a:ext cx="397866" cy="246221"/>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000" b="1" dirty="0">
                <a:solidFill>
                  <a:srgbClr val="FF0000"/>
                </a:solidFill>
              </a:rPr>
              <a:t>ACP</a:t>
            </a:r>
            <a:endParaRPr lang="zh-CN" altLang="en-US" sz="1000" b="1" dirty="0">
              <a:solidFill>
                <a:srgbClr val="FF0000"/>
              </a:solidFill>
            </a:endParaRPr>
          </a:p>
        </p:txBody>
      </p:sp>
    </p:spTree>
  </p:cSld>
  <p:clrMapOvr>
    <a:masterClrMapping/>
  </p:clrMapOvr>
  <p:transition>
    <p:rand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a:off x="3336291" y="132080"/>
            <a:ext cx="5211445" cy="6732270"/>
          </a:xfrm>
          <a:prstGeom prst="rect">
            <a:avLst/>
          </a:prstGeom>
        </p:spPr>
      </p:pic>
      <p:sp>
        <p:nvSpPr>
          <p:cNvPr id="6" name="文本框 5"/>
          <p:cNvSpPr txBox="1"/>
          <p:nvPr/>
        </p:nvSpPr>
        <p:spPr>
          <a:xfrm>
            <a:off x="6624320" y="277481"/>
            <a:ext cx="1808480" cy="583565"/>
          </a:xfrm>
          <a:prstGeom prst="rect">
            <a:avLst/>
          </a:prstGeom>
          <a:solidFill>
            <a:schemeClr val="accent6">
              <a:lumMod val="40000"/>
              <a:lumOff val="60000"/>
            </a:schemeClr>
          </a:solidFill>
        </p:spPr>
        <p:txBody>
          <a:bodyPr wrap="none" rtlCol="0">
            <a:spAutoFit/>
          </a:bodyPr>
          <a:lstStyle/>
          <a:p>
            <a:r>
              <a:rPr lang="zh-CN" altLang="en-US" sz="3200" b="1" u="sng" dirty="0">
                <a:latin typeface="微软雅黑" panose="020B0503020204020204" pitchFamily="34" charset="-122"/>
                <a:ea typeface="微软雅黑" panose="020B0503020204020204" pitchFamily="34" charset="-122"/>
              </a:rPr>
              <a:t>详细过程</a:t>
            </a:r>
          </a:p>
        </p:txBody>
      </p:sp>
      <p:sp>
        <p:nvSpPr>
          <p:cNvPr id="4" name="矩形 3"/>
          <p:cNvSpPr/>
          <p:nvPr/>
        </p:nvSpPr>
        <p:spPr>
          <a:xfrm>
            <a:off x="3455415" y="4626975"/>
            <a:ext cx="1000595" cy="276999"/>
          </a:xfrm>
          <a:prstGeom prst="rect">
            <a:avLst/>
          </a:prstGeom>
        </p:spPr>
        <p:txBody>
          <a:bodyPr wrap="none">
            <a:spAutoFit/>
          </a:bodyPr>
          <a:lstStyle/>
          <a:p>
            <a:r>
              <a:rPr lang="zh-CN" altLang="en-US" sz="1200" b="1" dirty="0">
                <a:solidFill>
                  <a:srgbClr val="FF0000"/>
                </a:solidFill>
                <a:latin typeface="微软雅黑" panose="020B0503020204020204" pitchFamily="34" charset="-122"/>
                <a:ea typeface="微软雅黑" panose="020B0503020204020204" pitchFamily="34" charset="-122"/>
              </a:rPr>
              <a:t>缩合（</a:t>
            </a:r>
            <a:r>
              <a:rPr lang="en-US" altLang="zh-CN" sz="1200" b="1" dirty="0">
                <a:solidFill>
                  <a:srgbClr val="FF0000"/>
                </a:solidFill>
                <a:latin typeface="微软雅黑" panose="020B0503020204020204" pitchFamily="34" charset="-122"/>
                <a:ea typeface="微软雅黑" panose="020B0503020204020204" pitchFamily="34" charset="-122"/>
              </a:rPr>
              <a:t>KS</a:t>
            </a:r>
            <a:r>
              <a:rPr lang="zh-CN" altLang="en-US" sz="1200" b="1" dirty="0">
                <a:solidFill>
                  <a:srgbClr val="FF0000"/>
                </a:solidFill>
                <a:latin typeface="微软雅黑" panose="020B0503020204020204" pitchFamily="34" charset="-122"/>
                <a:ea typeface="微软雅黑" panose="020B0503020204020204" pitchFamily="34" charset="-122"/>
              </a:rPr>
              <a:t>）</a:t>
            </a:r>
            <a:endParaRPr lang="zh-CN" altLang="en-US" sz="1200" dirty="0"/>
          </a:p>
        </p:txBody>
      </p:sp>
      <p:sp>
        <p:nvSpPr>
          <p:cNvPr id="5" name="矩形 4"/>
          <p:cNvSpPr/>
          <p:nvPr/>
        </p:nvSpPr>
        <p:spPr>
          <a:xfrm>
            <a:off x="3685388" y="6450901"/>
            <a:ext cx="825867" cy="276999"/>
          </a:xfrm>
          <a:prstGeom prst="rect">
            <a:avLst/>
          </a:prstGeom>
        </p:spPr>
        <p:txBody>
          <a:bodyPr wrap="none">
            <a:spAutoFit/>
          </a:bodyPr>
          <a:lstStyle/>
          <a:p>
            <a:r>
              <a:rPr lang="zh-CN" altLang="en-US" sz="1200" b="1" dirty="0">
                <a:solidFill>
                  <a:srgbClr val="FF0000"/>
                </a:solidFill>
                <a:latin typeface="微软雅黑" panose="020B0503020204020204" pitchFamily="34" charset="-122"/>
                <a:ea typeface="微软雅黑" panose="020B0503020204020204" pitchFamily="34" charset="-122"/>
              </a:rPr>
              <a:t>还原</a:t>
            </a:r>
            <a:r>
              <a:rPr lang="en-US" altLang="zh-CN" sz="1200" b="1" dirty="0">
                <a:solidFill>
                  <a:srgbClr val="FF0000"/>
                </a:solidFill>
                <a:latin typeface="微软雅黑" panose="020B0503020204020204" pitchFamily="34" charset="-122"/>
                <a:ea typeface="微软雅黑" panose="020B0503020204020204" pitchFamily="34" charset="-122"/>
              </a:rPr>
              <a:t>(KR)</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sp>
        <p:nvSpPr>
          <p:cNvPr id="13" name="矩形 12"/>
          <p:cNvSpPr/>
          <p:nvPr/>
        </p:nvSpPr>
        <p:spPr>
          <a:xfrm>
            <a:off x="8473288" y="4280087"/>
            <a:ext cx="806631" cy="276999"/>
          </a:xfrm>
          <a:prstGeom prst="rect">
            <a:avLst/>
          </a:prstGeom>
        </p:spPr>
        <p:txBody>
          <a:bodyPr wrap="none">
            <a:spAutoFit/>
          </a:bodyPr>
          <a:lstStyle/>
          <a:p>
            <a:r>
              <a:rPr lang="zh-CN" altLang="en-US" sz="1200" b="1" dirty="0">
                <a:solidFill>
                  <a:srgbClr val="FF0000"/>
                </a:solidFill>
                <a:latin typeface="微软雅黑" panose="020B0503020204020204" pitchFamily="34" charset="-122"/>
                <a:ea typeface="微软雅黑" panose="020B0503020204020204" pitchFamily="34" charset="-122"/>
              </a:rPr>
              <a:t>还原</a:t>
            </a:r>
            <a:r>
              <a:rPr lang="en-US" altLang="zh-CN" sz="1200" b="1" dirty="0">
                <a:solidFill>
                  <a:srgbClr val="FF0000"/>
                </a:solidFill>
                <a:latin typeface="微软雅黑" panose="020B0503020204020204" pitchFamily="34" charset="-122"/>
                <a:ea typeface="微软雅黑" panose="020B0503020204020204" pitchFamily="34" charset="-122"/>
              </a:rPr>
              <a:t>(ER)</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sp>
        <p:nvSpPr>
          <p:cNvPr id="14" name="矩形 13"/>
          <p:cNvSpPr/>
          <p:nvPr/>
        </p:nvSpPr>
        <p:spPr>
          <a:xfrm>
            <a:off x="7967771" y="6082591"/>
            <a:ext cx="859531" cy="276999"/>
          </a:xfrm>
          <a:prstGeom prst="rect">
            <a:avLst/>
          </a:prstGeom>
        </p:spPr>
        <p:txBody>
          <a:bodyPr wrap="none">
            <a:spAutoFit/>
          </a:bodyPr>
          <a:lstStyle/>
          <a:p>
            <a:r>
              <a:rPr lang="zh-CN" altLang="en-US" sz="1200" b="1" dirty="0">
                <a:solidFill>
                  <a:srgbClr val="FF0000"/>
                </a:solidFill>
                <a:latin typeface="微软雅黑" panose="020B0503020204020204" pitchFamily="34" charset="-122"/>
                <a:ea typeface="微软雅黑" panose="020B0503020204020204" pitchFamily="34" charset="-122"/>
              </a:rPr>
              <a:t>脱水</a:t>
            </a:r>
            <a:r>
              <a:rPr lang="en-US" altLang="zh-CN" sz="1200" b="1" dirty="0">
                <a:solidFill>
                  <a:srgbClr val="FF0000"/>
                </a:solidFill>
                <a:latin typeface="微软雅黑" panose="020B0503020204020204" pitchFamily="34" charset="-122"/>
                <a:ea typeface="微软雅黑" panose="020B0503020204020204" pitchFamily="34" charset="-122"/>
              </a:rPr>
              <a:t>(DH)</a:t>
            </a:r>
            <a:endParaRPr lang="zh-CN" altLang="en-US" sz="1200" b="1" dirty="0">
              <a:solidFill>
                <a:srgbClr val="FF0000"/>
              </a:solidFill>
              <a:latin typeface="微软雅黑" panose="020B0503020204020204" pitchFamily="34" charset="-122"/>
              <a:ea typeface="微软雅黑" panose="020B0503020204020204" pitchFamily="34" charset="-122"/>
            </a:endParaRPr>
          </a:p>
        </p:txBody>
      </p:sp>
      <p:sp>
        <p:nvSpPr>
          <p:cNvPr id="15" name="矩形 14"/>
          <p:cNvSpPr/>
          <p:nvPr/>
        </p:nvSpPr>
        <p:spPr>
          <a:xfrm>
            <a:off x="3455637" y="1498693"/>
            <a:ext cx="462280" cy="260350"/>
          </a:xfrm>
          <a:prstGeom prst="rect">
            <a:avLst/>
          </a:prstGeom>
        </p:spPr>
        <p:txBody>
          <a:bodyPr wrap="none">
            <a:spAutoFit/>
          </a:bodyPr>
          <a:lstStyle/>
          <a:p>
            <a:r>
              <a:rPr lang="zh-CN" altLang="en-US" sz="1100" b="1" dirty="0">
                <a:solidFill>
                  <a:srgbClr val="FF0000"/>
                </a:solidFill>
                <a:latin typeface="微软雅黑" panose="020B0503020204020204" pitchFamily="34" charset="-122"/>
                <a:ea typeface="微软雅黑" panose="020B0503020204020204" pitchFamily="34" charset="-122"/>
              </a:rPr>
              <a:t>启动</a:t>
            </a:r>
            <a:endParaRPr lang="zh-CN" altLang="en-US" sz="1100" dirty="0">
              <a:solidFill>
                <a:srgbClr val="FF0000"/>
              </a:solidFill>
            </a:endParaRPr>
          </a:p>
        </p:txBody>
      </p:sp>
      <p:sp>
        <p:nvSpPr>
          <p:cNvPr id="16" name="矩形 15"/>
          <p:cNvSpPr/>
          <p:nvPr/>
        </p:nvSpPr>
        <p:spPr>
          <a:xfrm>
            <a:off x="3685507" y="3069684"/>
            <a:ext cx="462280" cy="429895"/>
          </a:xfrm>
          <a:prstGeom prst="rect">
            <a:avLst/>
          </a:prstGeom>
        </p:spPr>
        <p:txBody>
          <a:bodyPr wrap="none">
            <a:spAutoFit/>
          </a:bodyPr>
          <a:lstStyle/>
          <a:p>
            <a:r>
              <a:rPr lang="zh-CN" altLang="en-US" sz="1100" b="1" dirty="0">
                <a:solidFill>
                  <a:srgbClr val="FF0000"/>
                </a:solidFill>
                <a:latin typeface="微软雅黑" panose="020B0503020204020204" pitchFamily="34" charset="-122"/>
                <a:ea typeface="微软雅黑" panose="020B0503020204020204" pitchFamily="34" charset="-122"/>
              </a:rPr>
              <a:t>装载</a:t>
            </a:r>
            <a:endParaRPr lang="en-US" altLang="zh-CN" sz="1100" b="1" dirty="0">
              <a:solidFill>
                <a:srgbClr val="FF0000"/>
              </a:solidFill>
              <a:latin typeface="微软雅黑" panose="020B0503020204020204" pitchFamily="34" charset="-122"/>
              <a:ea typeface="微软雅黑" panose="020B0503020204020204" pitchFamily="34" charset="-122"/>
            </a:endParaRPr>
          </a:p>
          <a:p>
            <a:endParaRPr lang="zh-CN" altLang="en-US" sz="1100" dirty="0">
              <a:solidFill>
                <a:srgbClr val="FF0000"/>
              </a:solidFill>
            </a:endParaRPr>
          </a:p>
        </p:txBody>
      </p:sp>
    </p:spTree>
  </p:cSld>
  <p:clrMapOvr>
    <a:masterClrMapping/>
  </p:clrMapOvr>
  <p:transition>
    <p:rand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1563096" y="1499616"/>
            <a:ext cx="8303535" cy="4652265"/>
          </a:xfrm>
          <a:prstGeom prst="rect">
            <a:avLst/>
          </a:prstGeom>
        </p:spPr>
      </p:pic>
      <p:sp>
        <p:nvSpPr>
          <p:cNvPr id="6" name="文本框 5"/>
          <p:cNvSpPr txBox="1"/>
          <p:nvPr/>
        </p:nvSpPr>
        <p:spPr>
          <a:xfrm>
            <a:off x="2996015" y="4996547"/>
            <a:ext cx="3027680" cy="583565"/>
          </a:xfrm>
          <a:prstGeom prst="rect">
            <a:avLst/>
          </a:prstGeom>
          <a:solidFill>
            <a:schemeClr val="accent6">
              <a:lumMod val="40000"/>
              <a:lumOff val="60000"/>
            </a:schemeClr>
          </a:solidFill>
        </p:spPr>
        <p:txBody>
          <a:bodyPr wrap="none" rtlCol="0">
            <a:spAutoFit/>
          </a:bodyPr>
          <a:lstStyle/>
          <a:p>
            <a:r>
              <a:rPr lang="zh-CN" altLang="en-US" sz="3200" b="1" u="sng" dirty="0">
                <a:latin typeface="微软雅黑" panose="020B0503020204020204" pitchFamily="34" charset="-122"/>
                <a:ea typeface="微软雅黑" panose="020B0503020204020204" pitchFamily="34" charset="-122"/>
              </a:rPr>
              <a:t>脂肪酸合成步骤</a:t>
            </a:r>
          </a:p>
        </p:txBody>
      </p:sp>
      <p:sp>
        <p:nvSpPr>
          <p:cNvPr id="7" name="矩形 6"/>
          <p:cNvSpPr/>
          <p:nvPr/>
        </p:nvSpPr>
        <p:spPr>
          <a:xfrm>
            <a:off x="8227969" y="4359339"/>
            <a:ext cx="1239442" cy="400110"/>
          </a:xfrm>
          <a:prstGeom prst="rect">
            <a:avLst/>
          </a:prstGeom>
        </p:spPr>
        <p:txBody>
          <a:bodyPr wrap="none">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释放</a:t>
            </a:r>
            <a:r>
              <a:rPr lang="en-US" altLang="zh-CN" sz="2000" b="1" dirty="0">
                <a:solidFill>
                  <a:srgbClr val="FF0000"/>
                </a:solidFill>
                <a:latin typeface="微软雅黑" panose="020B0503020204020204" pitchFamily="34" charset="-122"/>
                <a:ea typeface="微软雅黑" panose="020B0503020204020204" pitchFamily="34" charset="-122"/>
              </a:rPr>
              <a:t>(</a:t>
            </a:r>
            <a:r>
              <a:rPr lang="en-US" altLang="zh-CN" sz="2000" b="1" dirty="0">
                <a:solidFill>
                  <a:srgbClr val="FF0000"/>
                </a:solidFill>
                <a:latin typeface="Times New Roman" panose="02020603050405020304" pitchFamily="18" charset="0"/>
                <a:cs typeface="Times New Roman" panose="02020603050405020304" pitchFamily="18" charset="0"/>
              </a:rPr>
              <a:t>TE</a:t>
            </a:r>
            <a:r>
              <a:rPr lang="en-US" altLang="zh-CN" sz="2000" b="1" dirty="0">
                <a:solidFill>
                  <a:srgbClr val="FF0000"/>
                </a:solidFill>
                <a:latin typeface="微软雅黑" panose="020B0503020204020204" pitchFamily="34" charset="-122"/>
                <a:ea typeface="微软雅黑" panose="020B0503020204020204" pitchFamily="34" charset="-122"/>
              </a:rPr>
              <a:t>)</a:t>
            </a:r>
            <a:endParaRPr lang="zh-CN" altLang="en-US" sz="2000" b="1" dirty="0">
              <a:solidFill>
                <a:srgbClr val="FF0000"/>
              </a:solidFill>
              <a:latin typeface="微软雅黑" panose="020B0503020204020204" pitchFamily="34" charset="-122"/>
              <a:ea typeface="微软雅黑" panose="020B0503020204020204" pitchFamily="34" charset="-122"/>
            </a:endParaRPr>
          </a:p>
        </p:txBody>
      </p:sp>
      <p:sp>
        <p:nvSpPr>
          <p:cNvPr id="8" name="矩形 7"/>
          <p:cNvSpPr/>
          <p:nvPr/>
        </p:nvSpPr>
        <p:spPr>
          <a:xfrm>
            <a:off x="1180955" y="243528"/>
            <a:ext cx="9682117" cy="954107"/>
          </a:xfrm>
          <a:prstGeom prst="rect">
            <a:avLst/>
          </a:prstGeom>
        </p:spPr>
        <p:txBody>
          <a:bodyPr wrap="square">
            <a:spAutoFit/>
          </a:bodyPr>
          <a:lstStyle/>
          <a:p>
            <a:r>
              <a:rPr lang="en-US" altLang="zh-CN" sz="2800" b="1" dirty="0">
                <a:latin typeface="微软雅黑" panose="020B0503020204020204" pitchFamily="34" charset="-122"/>
                <a:ea typeface="微软雅黑" panose="020B0503020204020204" pitchFamily="34" charset="-122"/>
              </a:rPr>
              <a:t>7</a:t>
            </a:r>
            <a:r>
              <a:rPr lang="zh-CN" altLang="en-US" sz="2800" b="1" dirty="0">
                <a:latin typeface="微软雅黑" panose="020B0503020204020204" pitchFamily="34" charset="-122"/>
                <a:ea typeface="微软雅黑" panose="020B0503020204020204" pitchFamily="34" charset="-122"/>
              </a:rPr>
              <a:t>轮反应：</a:t>
            </a:r>
            <a:r>
              <a:rPr lang="zh-CN" altLang="en-US" sz="2800" dirty="0">
                <a:latin typeface="微软雅黑" panose="020B0503020204020204" pitchFamily="34" charset="-122"/>
                <a:ea typeface="微软雅黑" panose="020B0503020204020204" pitchFamily="34" charset="-122"/>
              </a:rPr>
              <a:t>每次消耗</a:t>
            </a:r>
            <a:r>
              <a:rPr lang="en-US" altLang="zh-CN" sz="2800" dirty="0">
                <a:latin typeface="微软雅黑" panose="020B0503020204020204" pitchFamily="34" charset="-122"/>
                <a:ea typeface="微软雅黑" panose="020B0503020204020204" pitchFamily="34" charset="-122"/>
              </a:rPr>
              <a:t>1</a:t>
            </a:r>
            <a:r>
              <a:rPr lang="zh-CN" altLang="en-US" sz="2800" dirty="0">
                <a:latin typeface="微软雅黑" panose="020B0503020204020204" pitchFamily="34" charset="-122"/>
                <a:ea typeface="微软雅黑" panose="020B0503020204020204" pitchFamily="34" charset="-122"/>
              </a:rPr>
              <a:t>个丙二酸单酰</a:t>
            </a:r>
            <a:r>
              <a:rPr lang="en-US" altLang="zh-CN" sz="2800" dirty="0">
                <a:latin typeface="微软雅黑" panose="020B0503020204020204" pitchFamily="34" charset="-122"/>
                <a:ea typeface="微软雅黑" panose="020B0503020204020204" pitchFamily="34" charset="-122"/>
              </a:rPr>
              <a:t>CoA</a:t>
            </a:r>
            <a:r>
              <a:rPr lang="zh-CN" altLang="en-US" sz="2800" dirty="0">
                <a:latin typeface="微软雅黑" panose="020B0503020204020204" pitchFamily="34" charset="-122"/>
                <a:ea typeface="微软雅黑" panose="020B0503020204020204" pitchFamily="34" charset="-122"/>
              </a:rPr>
              <a:t>，增加两个碳原子，最终释出软酯酸</a:t>
            </a:r>
            <a:r>
              <a:rPr lang="zh-CN" altLang="en-US" sz="2400" dirty="0">
                <a:latin typeface="微软雅黑" panose="020B0503020204020204" pitchFamily="34" charset="-122"/>
                <a:ea typeface="微软雅黑" panose="020B0503020204020204" pitchFamily="34" charset="-122"/>
              </a:rPr>
              <a:t>。</a:t>
            </a:r>
            <a:endParaRPr lang="zh-CN" altLang="en-US" sz="2400" dirty="0"/>
          </a:p>
        </p:txBody>
      </p:sp>
      <p:sp>
        <p:nvSpPr>
          <p:cNvPr id="9" name="文本框 8"/>
          <p:cNvSpPr txBox="1"/>
          <p:nvPr/>
        </p:nvSpPr>
        <p:spPr>
          <a:xfrm>
            <a:off x="2138714" y="2663064"/>
            <a:ext cx="482312" cy="307777"/>
          </a:xfrm>
          <a:prstGeom prst="rect">
            <a:avLst/>
          </a:prstGeom>
          <a:noFill/>
        </p:spPr>
        <p:txBody>
          <a:bodyPr wrap="none" rtlCol="0">
            <a:spAutoFit/>
          </a:bodyPr>
          <a:lstStyle/>
          <a:p>
            <a:r>
              <a:rPr lang="en-US" altLang="zh-CN" sz="1400" b="1" dirty="0">
                <a:solidFill>
                  <a:srgbClr val="FF0000"/>
                </a:solidFill>
              </a:rPr>
              <a:t>ACP</a:t>
            </a:r>
            <a:endParaRPr lang="zh-CN" altLang="en-US" sz="1400" b="1" dirty="0">
              <a:solidFill>
                <a:srgbClr val="FF0000"/>
              </a:solidFill>
            </a:endParaRPr>
          </a:p>
        </p:txBody>
      </p:sp>
      <p:sp>
        <p:nvSpPr>
          <p:cNvPr id="10" name="文本框 9"/>
          <p:cNvSpPr txBox="1"/>
          <p:nvPr/>
        </p:nvSpPr>
        <p:spPr>
          <a:xfrm>
            <a:off x="3760124" y="2786174"/>
            <a:ext cx="482312" cy="307777"/>
          </a:xfrm>
          <a:prstGeom prst="rect">
            <a:avLst/>
          </a:prstGeom>
          <a:noFill/>
        </p:spPr>
        <p:txBody>
          <a:bodyPr wrap="none" rtlCol="0">
            <a:spAutoFit/>
          </a:bodyPr>
          <a:lstStyle/>
          <a:p>
            <a:r>
              <a:rPr lang="en-US" altLang="zh-CN" sz="1400" b="1" dirty="0">
                <a:solidFill>
                  <a:srgbClr val="FF0000"/>
                </a:solidFill>
              </a:rPr>
              <a:t>ACP</a:t>
            </a:r>
            <a:endParaRPr lang="zh-CN" altLang="en-US" sz="1400" b="1" dirty="0">
              <a:solidFill>
                <a:srgbClr val="FF0000"/>
              </a:solidFill>
            </a:endParaRPr>
          </a:p>
        </p:txBody>
      </p:sp>
      <p:sp>
        <p:nvSpPr>
          <p:cNvPr id="11" name="文本框 10"/>
          <p:cNvSpPr txBox="1"/>
          <p:nvPr/>
        </p:nvSpPr>
        <p:spPr>
          <a:xfrm>
            <a:off x="7986813" y="3671859"/>
            <a:ext cx="482312" cy="307777"/>
          </a:xfrm>
          <a:prstGeom prst="rect">
            <a:avLst/>
          </a:prstGeom>
          <a:noFill/>
        </p:spPr>
        <p:txBody>
          <a:bodyPr wrap="none" rtlCol="0">
            <a:spAutoFit/>
          </a:bodyPr>
          <a:lstStyle/>
          <a:p>
            <a:r>
              <a:rPr lang="en-US" altLang="zh-CN" sz="1400" b="1" dirty="0">
                <a:solidFill>
                  <a:srgbClr val="FF0000"/>
                </a:solidFill>
              </a:rPr>
              <a:t>ACP</a:t>
            </a:r>
            <a:endParaRPr lang="zh-CN" altLang="en-US" sz="1400" b="1" dirty="0">
              <a:solidFill>
                <a:srgbClr val="FF0000"/>
              </a:solidFill>
            </a:endParaRPr>
          </a:p>
        </p:txBody>
      </p:sp>
      <p:sp>
        <p:nvSpPr>
          <p:cNvPr id="12" name="文本框 10"/>
          <p:cNvSpPr txBox="1"/>
          <p:nvPr/>
        </p:nvSpPr>
        <p:spPr>
          <a:xfrm>
            <a:off x="5417807" y="3235881"/>
            <a:ext cx="482312" cy="307777"/>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sz="1400" b="1" dirty="0">
                <a:solidFill>
                  <a:srgbClr val="FF0000"/>
                </a:solidFill>
              </a:rPr>
              <a:t>ACP</a:t>
            </a:r>
            <a:endParaRPr lang="zh-CN" altLang="en-US" sz="1400" b="1" dirty="0">
              <a:solidFill>
                <a:srgbClr val="FF0000"/>
              </a:solidFill>
            </a:endParaRPr>
          </a:p>
        </p:txBody>
      </p:sp>
    </p:spTree>
  </p:cSld>
  <p:clrMapOvr>
    <a:masterClrMapping/>
  </p:clrMapOvr>
  <p:transition>
    <p:rand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5"/>
          <p:cNvSpPr/>
          <p:nvPr/>
        </p:nvSpPr>
        <p:spPr>
          <a:xfrm>
            <a:off x="3963405" y="4749023"/>
            <a:ext cx="4119245" cy="460375"/>
          </a:xfrm>
          <a:prstGeom prst="rect">
            <a:avLst/>
          </a:prstGeom>
          <a:solidFill>
            <a:schemeClr val="accent6">
              <a:lumMod val="40000"/>
              <a:lumOff val="60000"/>
            </a:schemeClr>
          </a:solidFill>
          <a:ln w="12700">
            <a:noFill/>
          </a:ln>
        </p:spPr>
        <p:txBody>
          <a:bodyPr wrap="none" anchor="ctr" anchorCtr="0">
            <a:spAutoFit/>
          </a:bodyPr>
          <a:lst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stStyle>
          <a:p>
            <a:pPr marL="0" indent="0">
              <a:spcBef>
                <a:spcPct val="0"/>
              </a:spcBef>
              <a:buNone/>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合成</a:t>
            </a:r>
            <a:r>
              <a:rPr lang="en-US" altLang="zh-CN" sz="2400" b="1" dirty="0">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分子软脂酸的总反应式 </a:t>
            </a:r>
          </a:p>
        </p:txBody>
      </p:sp>
      <p:pic>
        <p:nvPicPr>
          <p:cNvPr id="4" name="Picture 8"/>
          <p:cNvPicPr>
            <a:picLocks noChangeAspect="1"/>
          </p:cNvPicPr>
          <p:nvPr/>
        </p:nvPicPr>
        <p:blipFill>
          <a:blip r:embed="rId3"/>
          <a:stretch>
            <a:fillRect/>
          </a:stretch>
        </p:blipFill>
        <p:spPr>
          <a:xfrm>
            <a:off x="1173504" y="315236"/>
            <a:ext cx="10167286" cy="4022406"/>
          </a:xfrm>
          <a:prstGeom prst="rect">
            <a:avLst/>
          </a:prstGeom>
          <a:noFill/>
          <a:ln w="9525">
            <a:solidFill>
              <a:schemeClr val="tx1"/>
            </a:solidFill>
          </a:ln>
        </p:spPr>
      </p:pic>
    </p:spTree>
  </p:cSld>
  <p:clrMapOvr>
    <a:masterClrMapping/>
  </p:clrMapOvr>
  <p:transition>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846849"/>
          <p:cNvSpPr txBox="1"/>
          <p:nvPr/>
        </p:nvSpPr>
        <p:spPr>
          <a:xfrm>
            <a:off x="2747644" y="237490"/>
            <a:ext cx="7021195" cy="646331"/>
          </a:xfrm>
          <a:prstGeom prst="rect">
            <a:avLst/>
          </a:prstGeom>
        </p:spPr>
        <p:txBody>
          <a:bodyPr wrap="square">
            <a:spAutoFit/>
          </a:bodyPr>
          <a:lstStyle>
            <a:defPPr>
              <a:defRPr lang="en-US"/>
            </a:defPPr>
            <a:lvl1pPr>
              <a:lnSpc>
                <a:spcPct val="100000"/>
              </a:lnSpc>
              <a:defRPr sz="36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noProof="1"/>
              <a:t>软脂酸分解与合成代谢的区别</a:t>
            </a:r>
          </a:p>
        </p:txBody>
      </p:sp>
      <p:graphicFrame>
        <p:nvGraphicFramePr>
          <p:cNvPr id="3" name="表格 6"/>
          <p:cNvGraphicFramePr>
            <a:graphicFrameLocks noGrp="1"/>
          </p:cNvGraphicFramePr>
          <p:nvPr>
            <p:custDataLst>
              <p:tags r:id="rId1"/>
            </p:custDataLst>
          </p:nvPr>
        </p:nvGraphicFramePr>
        <p:xfrm>
          <a:off x="1459864" y="1464946"/>
          <a:ext cx="9596754" cy="4501514"/>
        </p:xfrm>
        <a:graphic>
          <a:graphicData uri="http://schemas.openxmlformats.org/drawingml/2006/table">
            <a:tbl>
              <a:tblPr firstRow="1" bandRow="1">
                <a:tableStyleId>{5C22544A-7EE6-4342-B048-85BDC9FD1C3A}</a:tableStyleId>
              </a:tblPr>
              <a:tblGrid>
                <a:gridCol w="3198651"/>
                <a:gridCol w="3198651"/>
                <a:gridCol w="3199452"/>
              </a:tblGrid>
              <a:tr h="708084">
                <a:tc>
                  <a:txBody>
                    <a:bodyPr/>
                    <a:lstStyle/>
                    <a:p>
                      <a:pPr algn="ctr"/>
                      <a:r>
                        <a:rPr lang="zh-CN" altLang="en-US" sz="2800" b="1" dirty="0">
                          <a:latin typeface="微软雅黑" panose="020B0503020204020204" pitchFamily="34" charset="-122"/>
                          <a:ea typeface="微软雅黑" panose="020B0503020204020204" pitchFamily="34" charset="-122"/>
                        </a:rPr>
                        <a:t>区别点</a:t>
                      </a:r>
                    </a:p>
                  </a:txBody>
                  <a:tcPr/>
                </a:tc>
                <a:tc>
                  <a:txBody>
                    <a:bodyPr/>
                    <a:lstStyle/>
                    <a:p>
                      <a:pPr algn="ctr"/>
                      <a:r>
                        <a:rPr lang="zh-CN" altLang="en-US" sz="2800" b="1" dirty="0">
                          <a:latin typeface="微软雅黑" panose="020B0503020204020204" pitchFamily="34" charset="-122"/>
                          <a:ea typeface="微软雅黑" panose="020B0503020204020204" pitchFamily="34" charset="-122"/>
                        </a:rPr>
                        <a:t>合成</a:t>
                      </a:r>
                    </a:p>
                  </a:txBody>
                  <a:tcPr/>
                </a:tc>
                <a:tc>
                  <a:txBody>
                    <a:bodyPr/>
                    <a:lstStyle/>
                    <a:p>
                      <a:pPr algn="ctr"/>
                      <a:r>
                        <a:rPr lang="zh-CN" altLang="en-US" sz="2800" b="1" dirty="0">
                          <a:latin typeface="微软雅黑" panose="020B0503020204020204" pitchFamily="34" charset="-122"/>
                          <a:ea typeface="微软雅黑" panose="020B0503020204020204" pitchFamily="34" charset="-122"/>
                        </a:rPr>
                        <a:t>分解</a:t>
                      </a:r>
                    </a:p>
                  </a:txBody>
                  <a:tcPr/>
                </a:tc>
              </a:tr>
              <a:tr h="663181">
                <a:tc>
                  <a:txBody>
                    <a:bodyPr/>
                    <a:lstStyle/>
                    <a:p>
                      <a:pPr algn="ctr"/>
                      <a:r>
                        <a:rPr lang="zh-CN" altLang="en-US" sz="2400" b="1" dirty="0">
                          <a:solidFill>
                            <a:schemeClr val="tx1"/>
                          </a:solidFill>
                          <a:latin typeface="微软雅黑" panose="020B0503020204020204" pitchFamily="34" charset="-122"/>
                          <a:ea typeface="微软雅黑" panose="020B0503020204020204" pitchFamily="34" charset="-122"/>
                        </a:rPr>
                        <a:t>细胞中部位</a:t>
                      </a:r>
                    </a:p>
                  </a:txBody>
                  <a:tcPr/>
                </a:tc>
                <a:tc>
                  <a:txBody>
                    <a:bodyPr/>
                    <a:lstStyle/>
                    <a:p>
                      <a:pPr algn="ctr"/>
                      <a:r>
                        <a:rPr lang="zh-CN" altLang="en-US" sz="2400" b="1" dirty="0">
                          <a:solidFill>
                            <a:schemeClr val="tx1"/>
                          </a:solidFill>
                          <a:latin typeface="微软雅黑" panose="020B0503020204020204" pitchFamily="34" charset="-122"/>
                          <a:ea typeface="微软雅黑" panose="020B0503020204020204" pitchFamily="34" charset="-122"/>
                        </a:rPr>
                        <a:t>细胞质</a:t>
                      </a:r>
                    </a:p>
                  </a:txBody>
                  <a:tcPr/>
                </a:tc>
                <a:tc>
                  <a:txBody>
                    <a:bodyPr/>
                    <a:lstStyle/>
                    <a:p>
                      <a:pPr algn="ctr"/>
                      <a:r>
                        <a:rPr lang="zh-CN" altLang="en-US" sz="2400" b="1" dirty="0">
                          <a:solidFill>
                            <a:schemeClr val="tx1"/>
                          </a:solidFill>
                          <a:latin typeface="微软雅黑" panose="020B0503020204020204" pitchFamily="34" charset="-122"/>
                          <a:ea typeface="微软雅黑" panose="020B0503020204020204" pitchFamily="34" charset="-122"/>
                        </a:rPr>
                        <a:t>线粒体</a:t>
                      </a:r>
                    </a:p>
                  </a:txBody>
                  <a:tcPr/>
                </a:tc>
              </a:tr>
              <a:tr h="661454">
                <a:tc>
                  <a:txBody>
                    <a:bodyPr/>
                    <a:lstStyle/>
                    <a:p>
                      <a:pPr algn="ctr"/>
                      <a:r>
                        <a:rPr lang="zh-CN" altLang="en-US" sz="2400" b="1" dirty="0">
                          <a:solidFill>
                            <a:schemeClr val="tx1"/>
                          </a:solidFill>
                          <a:latin typeface="微软雅黑" panose="020B0503020204020204" pitchFamily="34" charset="-122"/>
                          <a:ea typeface="微软雅黑" panose="020B0503020204020204" pitchFamily="34" charset="-122"/>
                        </a:rPr>
                        <a:t>细胞定位</a:t>
                      </a:r>
                    </a:p>
                  </a:txBody>
                  <a:tcPr/>
                </a:tc>
                <a:tc>
                  <a:txBody>
                    <a:bodyPr/>
                    <a:lstStyle/>
                    <a:p>
                      <a:pPr algn="ctr"/>
                      <a:r>
                        <a:rPr lang="zh-CN" altLang="en-US" sz="2400" b="1" dirty="0">
                          <a:solidFill>
                            <a:schemeClr val="tx1"/>
                          </a:solidFill>
                          <a:latin typeface="微软雅黑" panose="020B0503020204020204" pitchFamily="34" charset="-122"/>
                          <a:ea typeface="微软雅黑" panose="020B0503020204020204" pitchFamily="34" charset="-122"/>
                        </a:rPr>
                        <a:t>肝，脂肪组织</a:t>
                      </a:r>
                    </a:p>
                  </a:txBody>
                  <a:tcPr/>
                </a:tc>
                <a:tc>
                  <a:txBody>
                    <a:bodyPr/>
                    <a:lstStyle/>
                    <a:p>
                      <a:pPr algn="ctr"/>
                      <a:r>
                        <a:rPr lang="zh-CN" altLang="en-US" sz="2400" b="1" dirty="0">
                          <a:solidFill>
                            <a:schemeClr val="tx1"/>
                          </a:solidFill>
                          <a:latin typeface="微软雅黑" panose="020B0503020204020204" pitchFamily="34" charset="-122"/>
                          <a:ea typeface="微软雅黑" panose="020B0503020204020204" pitchFamily="34" charset="-122"/>
                        </a:rPr>
                        <a:t>绝大部分组织</a:t>
                      </a:r>
                    </a:p>
                  </a:txBody>
                  <a:tcPr/>
                </a:tc>
              </a:tr>
              <a:tr h="663181">
                <a:tc>
                  <a:txBody>
                    <a:bodyPr/>
                    <a:lstStyle/>
                    <a:p>
                      <a:pPr algn="ctr"/>
                      <a:r>
                        <a:rPr lang="zh-CN" altLang="en-US" sz="2400" b="1" dirty="0">
                          <a:solidFill>
                            <a:schemeClr val="tx1"/>
                          </a:solidFill>
                          <a:latin typeface="微软雅黑" panose="020B0503020204020204" pitchFamily="34" charset="-122"/>
                          <a:ea typeface="微软雅黑" panose="020B0503020204020204" pitchFamily="34" charset="-122"/>
                        </a:rPr>
                        <a:t>碳单元</a:t>
                      </a:r>
                    </a:p>
                  </a:txBody>
                  <a:tcPr/>
                </a:tc>
                <a:tc>
                  <a:txBody>
                    <a:bodyPr/>
                    <a:lstStyle/>
                    <a:p>
                      <a:pPr algn="ctr"/>
                      <a:r>
                        <a:rPr lang="zh-CN" altLang="en-US" sz="2400" b="1" dirty="0">
                          <a:solidFill>
                            <a:schemeClr val="tx1"/>
                          </a:solidFill>
                          <a:latin typeface="微软雅黑" panose="020B0503020204020204" pitchFamily="34" charset="-122"/>
                          <a:ea typeface="微软雅黑" panose="020B0503020204020204" pitchFamily="34" charset="-122"/>
                        </a:rPr>
                        <a:t>丙二酸单酰</a:t>
                      </a:r>
                      <a:r>
                        <a:rPr lang="en-US" altLang="zh-CN" sz="2400" b="1" dirty="0">
                          <a:solidFill>
                            <a:schemeClr val="tx1"/>
                          </a:solidFill>
                          <a:latin typeface="微软雅黑" panose="020B0503020204020204" pitchFamily="34" charset="-122"/>
                          <a:ea typeface="微软雅黑" panose="020B0503020204020204" pitchFamily="34" charset="-122"/>
                        </a:rPr>
                        <a:t>CoA</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400" b="1" noProof="1">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宋体" panose="02010600030101010101" pitchFamily="2" charset="-122"/>
                        </a:rPr>
                        <a:t>乙酰</a:t>
                      </a:r>
                      <a:r>
                        <a:rPr lang="en-US" altLang="zh-CN" sz="2400" b="1" noProof="1">
                          <a:solidFill>
                            <a:schemeClr val="tx1"/>
                          </a:solidFill>
                          <a:effectLst>
                            <a:outerShdw blurRad="38100" dist="38100" dir="2700000" algn="tl">
                              <a:srgbClr val="C0C0C0"/>
                            </a:outerShdw>
                          </a:effectLst>
                          <a:latin typeface="微软雅黑" panose="020B0503020204020204" pitchFamily="34" charset="-122"/>
                          <a:ea typeface="微软雅黑" panose="020B0503020204020204" pitchFamily="34" charset="-122"/>
                          <a:cs typeface="宋体" panose="02010600030101010101" pitchFamily="2" charset="-122"/>
                        </a:rPr>
                        <a:t>CoA</a:t>
                      </a:r>
                    </a:p>
                  </a:txBody>
                  <a:tcPr/>
                </a:tc>
              </a:tr>
              <a:tr h="662318">
                <a:tc>
                  <a:txBody>
                    <a:bodyPr/>
                    <a:lstStyle/>
                    <a:p>
                      <a:pPr algn="ctr"/>
                      <a:r>
                        <a:rPr lang="zh-CN" altLang="en-US" sz="2400" b="1" dirty="0">
                          <a:solidFill>
                            <a:schemeClr val="tx1"/>
                          </a:solidFill>
                          <a:latin typeface="微软雅黑" panose="020B0503020204020204" pitchFamily="34" charset="-122"/>
                          <a:ea typeface="微软雅黑" panose="020B0503020204020204" pitchFamily="34" charset="-122"/>
                        </a:rPr>
                        <a:t>电子供体，受体</a:t>
                      </a:r>
                    </a:p>
                  </a:txBody>
                  <a:tcPr/>
                </a:tc>
                <a:tc>
                  <a:txBody>
                    <a:bodyPr/>
                    <a:lstStyle/>
                    <a:p>
                      <a:pPr algn="ctr"/>
                      <a:r>
                        <a:rPr lang="en-US" altLang="zh-CN" sz="2400" b="1" dirty="0">
                          <a:solidFill>
                            <a:schemeClr val="tx1"/>
                          </a:solidFill>
                          <a:latin typeface="微软雅黑" panose="020B0503020204020204" pitchFamily="34" charset="-122"/>
                          <a:ea typeface="微软雅黑" panose="020B0503020204020204" pitchFamily="34" charset="-122"/>
                        </a:rPr>
                        <a:t>NADPH</a:t>
                      </a:r>
                    </a:p>
                  </a:txBody>
                  <a:tcPr/>
                </a:tc>
                <a:tc>
                  <a:txBody>
                    <a:bodyPr/>
                    <a:lstStyle/>
                    <a:p>
                      <a:pPr algn="ctr"/>
                      <a:r>
                        <a:rPr lang="en-US" altLang="zh-CN" sz="2400" b="1" dirty="0">
                          <a:solidFill>
                            <a:schemeClr val="tx1"/>
                          </a:solidFill>
                          <a:latin typeface="微软雅黑" panose="020B0503020204020204" pitchFamily="34" charset="-122"/>
                          <a:ea typeface="微软雅黑" panose="020B0503020204020204" pitchFamily="34" charset="-122"/>
                        </a:rPr>
                        <a:t>FAD</a:t>
                      </a:r>
                      <a:r>
                        <a:rPr lang="zh-CN" altLang="en-US" sz="2400" b="1" dirty="0">
                          <a:solidFill>
                            <a:schemeClr val="tx1"/>
                          </a:solidFill>
                          <a:latin typeface="微软雅黑" panose="020B0503020204020204" pitchFamily="34" charset="-122"/>
                          <a:ea typeface="微软雅黑" panose="020B0503020204020204" pitchFamily="34" charset="-122"/>
                        </a:rPr>
                        <a:t>，</a:t>
                      </a:r>
                      <a:r>
                        <a:rPr lang="en-US" altLang="zh-CN" sz="2400" b="1" dirty="0">
                          <a:solidFill>
                            <a:schemeClr val="tx1"/>
                          </a:solidFill>
                          <a:latin typeface="微软雅黑" panose="020B0503020204020204" pitchFamily="34" charset="-122"/>
                          <a:ea typeface="微软雅黑" panose="020B0503020204020204" pitchFamily="34" charset="-122"/>
                        </a:rPr>
                        <a:t>NAD</a:t>
                      </a:r>
                      <a:r>
                        <a:rPr lang="zh-CN" altLang="en-US" sz="2400" b="1" dirty="0">
                          <a:solidFill>
                            <a:schemeClr val="tx1"/>
                          </a:solidFill>
                          <a:latin typeface="微软雅黑" panose="020B0503020204020204" pitchFamily="34" charset="-122"/>
                          <a:ea typeface="微软雅黑" panose="020B0503020204020204" pitchFamily="34" charset="-122"/>
                        </a:rPr>
                        <a:t>＋</a:t>
                      </a:r>
                    </a:p>
                  </a:txBody>
                  <a:tcPr/>
                </a:tc>
              </a:tr>
              <a:tr h="1143296">
                <a:tc>
                  <a:txBody>
                    <a:bodyPr/>
                    <a:lstStyle/>
                    <a:p>
                      <a:pPr algn="ctr"/>
                      <a:r>
                        <a:rPr lang="zh-CN" altLang="en-US" sz="2400" b="1" dirty="0">
                          <a:solidFill>
                            <a:schemeClr val="tx1"/>
                          </a:solidFill>
                          <a:latin typeface="微软雅黑" panose="020B0503020204020204" pitchFamily="34" charset="-122"/>
                          <a:ea typeface="微软雅黑" panose="020B0503020204020204" pitchFamily="34" charset="-122"/>
                        </a:rPr>
                        <a:t>能量变化</a:t>
                      </a:r>
                    </a:p>
                  </a:txBody>
                  <a:tcPr/>
                </a:tc>
                <a:tc>
                  <a:txBody>
                    <a:bodyPr/>
                    <a:lstStyle/>
                    <a:p>
                      <a:pPr algn="ctr"/>
                      <a:r>
                        <a:rPr lang="zh-CN" altLang="en-US" sz="2400" b="1" dirty="0">
                          <a:solidFill>
                            <a:schemeClr val="tx1"/>
                          </a:solidFill>
                          <a:latin typeface="微软雅黑" panose="020B0503020204020204" pitchFamily="34" charset="-122"/>
                          <a:ea typeface="微软雅黑" panose="020B0503020204020204" pitchFamily="34" charset="-122"/>
                        </a:rPr>
                        <a:t>消耗</a:t>
                      </a:r>
                      <a:r>
                        <a:rPr lang="en-US" altLang="zh-CN" sz="2400" b="1" dirty="0">
                          <a:solidFill>
                            <a:schemeClr val="tx1"/>
                          </a:solidFill>
                          <a:latin typeface="微软雅黑" panose="020B0503020204020204" pitchFamily="34" charset="-122"/>
                          <a:ea typeface="微软雅黑" panose="020B0503020204020204" pitchFamily="34" charset="-122"/>
                        </a:rPr>
                        <a:t>7</a:t>
                      </a:r>
                      <a:r>
                        <a:rPr lang="zh-CN" altLang="en-US" sz="2400" b="1" dirty="0">
                          <a:solidFill>
                            <a:schemeClr val="tx1"/>
                          </a:solidFill>
                          <a:latin typeface="微软雅黑" panose="020B0503020204020204" pitchFamily="34" charset="-122"/>
                          <a:ea typeface="微软雅黑" panose="020B0503020204020204" pitchFamily="34" charset="-122"/>
                        </a:rPr>
                        <a:t>个</a:t>
                      </a:r>
                      <a:r>
                        <a:rPr lang="en-US" altLang="zh-CN" sz="2400" b="1" dirty="0">
                          <a:solidFill>
                            <a:schemeClr val="tx1"/>
                          </a:solidFill>
                          <a:latin typeface="微软雅黑" panose="020B0503020204020204" pitchFamily="34" charset="-122"/>
                          <a:ea typeface="微软雅黑" panose="020B0503020204020204" pitchFamily="34" charset="-122"/>
                        </a:rPr>
                        <a:t>ATP</a:t>
                      </a:r>
                      <a:r>
                        <a:rPr lang="zh-CN" altLang="en-US" sz="2400" b="1" dirty="0">
                          <a:solidFill>
                            <a:schemeClr val="tx1"/>
                          </a:solidFill>
                          <a:latin typeface="微软雅黑" panose="020B0503020204020204" pitchFamily="34" charset="-122"/>
                          <a:ea typeface="微软雅黑" panose="020B0503020204020204" pitchFamily="34" charset="-122"/>
                        </a:rPr>
                        <a:t>及</a:t>
                      </a:r>
                      <a:r>
                        <a:rPr lang="en-US" altLang="zh-CN" sz="2400" b="1" dirty="0">
                          <a:solidFill>
                            <a:schemeClr val="tx1"/>
                          </a:solidFill>
                          <a:latin typeface="微软雅黑" panose="020B0503020204020204" pitchFamily="34" charset="-122"/>
                          <a:ea typeface="微软雅黑" panose="020B0503020204020204" pitchFamily="34" charset="-122"/>
                        </a:rPr>
                        <a:t>14</a:t>
                      </a:r>
                      <a:r>
                        <a:rPr lang="zh-CN" altLang="en-US" sz="2400" b="1" dirty="0">
                          <a:solidFill>
                            <a:schemeClr val="tx1"/>
                          </a:solidFill>
                          <a:latin typeface="微软雅黑" panose="020B0503020204020204" pitchFamily="34" charset="-122"/>
                          <a:ea typeface="微软雅黑" panose="020B0503020204020204" pitchFamily="34" charset="-122"/>
                        </a:rPr>
                        <a:t>个</a:t>
                      </a:r>
                      <a:r>
                        <a:rPr lang="en-US" altLang="zh-CN" sz="2400" b="1" dirty="0">
                          <a:solidFill>
                            <a:schemeClr val="tx1"/>
                          </a:solidFill>
                          <a:latin typeface="微软雅黑" panose="020B0503020204020204" pitchFamily="34" charset="-122"/>
                          <a:ea typeface="微软雅黑" panose="020B0503020204020204" pitchFamily="34" charset="-122"/>
                        </a:rPr>
                        <a:t>NADPH</a:t>
                      </a:r>
                    </a:p>
                  </a:txBody>
                  <a:tcPr/>
                </a:tc>
                <a:tc>
                  <a:txBody>
                    <a:bodyPr/>
                    <a:lstStyle/>
                    <a:p>
                      <a:pPr algn="ctr"/>
                      <a:r>
                        <a:rPr lang="zh-CN" altLang="en-US" sz="2400" b="1" dirty="0">
                          <a:solidFill>
                            <a:schemeClr val="tx1"/>
                          </a:solidFill>
                          <a:latin typeface="微软雅黑" panose="020B0503020204020204" pitchFamily="34" charset="-122"/>
                          <a:ea typeface="微软雅黑" panose="020B0503020204020204" pitchFamily="34" charset="-122"/>
                        </a:rPr>
                        <a:t>产生</a:t>
                      </a:r>
                      <a:r>
                        <a:rPr lang="en-US" altLang="zh-CN" sz="2400" b="1" dirty="0">
                          <a:solidFill>
                            <a:schemeClr val="tx1"/>
                          </a:solidFill>
                          <a:latin typeface="微软雅黑" panose="020B0503020204020204" pitchFamily="34" charset="-122"/>
                          <a:ea typeface="微软雅黑" panose="020B0503020204020204" pitchFamily="34" charset="-122"/>
                        </a:rPr>
                        <a:t>106</a:t>
                      </a:r>
                      <a:r>
                        <a:rPr lang="zh-CN" altLang="en-US" sz="2400" b="1" dirty="0">
                          <a:solidFill>
                            <a:schemeClr val="tx1"/>
                          </a:solidFill>
                          <a:latin typeface="微软雅黑" panose="020B0503020204020204" pitchFamily="34" charset="-122"/>
                          <a:ea typeface="微软雅黑" panose="020B0503020204020204" pitchFamily="34" charset="-122"/>
                        </a:rPr>
                        <a:t>个</a:t>
                      </a:r>
                      <a:r>
                        <a:rPr lang="en-US" altLang="zh-CN" sz="2400" b="1" dirty="0">
                          <a:solidFill>
                            <a:schemeClr val="tx1"/>
                          </a:solidFill>
                          <a:latin typeface="微软雅黑" panose="020B0503020204020204" pitchFamily="34" charset="-122"/>
                          <a:ea typeface="微软雅黑" panose="020B0503020204020204" pitchFamily="34" charset="-122"/>
                        </a:rPr>
                        <a:t>ATP</a:t>
                      </a:r>
                    </a:p>
                  </a:txBody>
                  <a:tcPr/>
                </a:tc>
              </a:tr>
            </a:tbl>
          </a:graphicData>
        </a:graphic>
      </p:graphicFrame>
    </p:spTree>
  </p:cSld>
  <p:clrMapOvr>
    <a:masterClrMapping/>
  </p:clrMapOvr>
  <p:transition>
    <p:rand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rot="16200000">
            <a:off x="6288633" y="1333500"/>
            <a:ext cx="6746240" cy="4191000"/>
          </a:xfrm>
          <a:prstGeom prst="rect">
            <a:avLst/>
          </a:prstGeom>
          <a:ln>
            <a:noFill/>
          </a:ln>
        </p:spPr>
      </p:pic>
      <p:sp>
        <p:nvSpPr>
          <p:cNvPr id="4" name="标题 846849"/>
          <p:cNvSpPr txBox="1"/>
          <p:nvPr/>
        </p:nvSpPr>
        <p:spPr>
          <a:xfrm>
            <a:off x="599847" y="365887"/>
            <a:ext cx="4564684" cy="538480"/>
          </a:xfrm>
          <a:prstGeom prst="rect">
            <a:avLst/>
          </a:prstGeom>
          <a:solidFill>
            <a:schemeClr val="accent6">
              <a:lumMod val="40000"/>
              <a:lumOff val="60000"/>
            </a:schemeClr>
          </a:solidFill>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defTabSz="457200">
              <a:lnSpc>
                <a:spcPct val="100000"/>
              </a:lnSpc>
              <a:buFont typeface="Arial" panose="020B0604020202020204" pitchFamily="34" charset="0"/>
            </a:pPr>
            <a:r>
              <a:rPr lang="zh-CN" altLang="en-US" sz="2800" b="1" dirty="0">
                <a:latin typeface="微软雅黑" panose="020B0503020204020204" pitchFamily="34" charset="-122"/>
                <a:ea typeface="微软雅黑" panose="020B0503020204020204" pitchFamily="34" charset="-122"/>
                <a:cs typeface="+mn-cs"/>
                <a:sym typeface="+mn-ea"/>
              </a:rPr>
              <a:t>软脂酸碳链的延长，去饱和</a:t>
            </a:r>
          </a:p>
        </p:txBody>
      </p:sp>
      <p:sp>
        <p:nvSpPr>
          <p:cNvPr id="3" name="文本框 2"/>
          <p:cNvSpPr txBox="1"/>
          <p:nvPr/>
        </p:nvSpPr>
        <p:spPr>
          <a:xfrm>
            <a:off x="499486" y="1154183"/>
            <a:ext cx="6725106" cy="2673937"/>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碳链延长：</a:t>
            </a:r>
            <a:endParaRPr lang="en-US" altLang="zh-CN" sz="2800" b="1"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线粒体</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：脂肪酸分解的逆反应，需</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NADPH</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微软雅黑" panose="020B0503020204020204" pitchFamily="34" charset="-122"/>
              </a:rPr>
              <a:t>内质网</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：与软脂酸合成最后一轮相同，只是</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CoA</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代替</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ACP(</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软脂酰</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CoA+</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丙二酸单酰</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CoA</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→硬脂酸</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，需</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NADPH</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6" name="文本框 5"/>
          <p:cNvSpPr txBox="1"/>
          <p:nvPr/>
        </p:nvSpPr>
        <p:spPr>
          <a:xfrm>
            <a:off x="599847" y="4213070"/>
            <a:ext cx="6970183" cy="2185214"/>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cs typeface="微软雅黑" panose="020B0503020204020204" pitchFamily="34" charset="-122"/>
              </a:rPr>
              <a:t>去饱和：</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脂酰</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CoA</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去饱和酶：</a:t>
            </a:r>
            <a:r>
              <a:rPr lang="el-GR" altLang="zh-CN" sz="2400" dirty="0">
                <a:latin typeface="微软雅黑" panose="020B0503020204020204" pitchFamily="34" charset="-122"/>
                <a:ea typeface="微软雅黑" panose="020B0503020204020204" pitchFamily="34" charset="-122"/>
                <a:cs typeface="微软雅黑" panose="020B0503020204020204" pitchFamily="34" charset="-122"/>
              </a:rPr>
              <a:t>Δ</a:t>
            </a:r>
            <a:r>
              <a:rPr lang="en-US" altLang="zh-CN" sz="2400" baseline="30000" dirty="0">
                <a:latin typeface="微软雅黑" panose="020B0503020204020204" pitchFamily="34" charset="-122"/>
                <a:ea typeface="微软雅黑" panose="020B0503020204020204" pitchFamily="34" charset="-122"/>
                <a:cs typeface="微软雅黑" panose="020B0503020204020204" pitchFamily="34" charset="-122"/>
              </a:rPr>
              <a:t>9</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(C9-C10)</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buFont typeface="Arial" panose="020B0604020202020204" pitchFamily="34" charset="0"/>
              <a:buChar char="•"/>
            </a:pP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哺乳动物不能在</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C10</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与末端</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CH</a:t>
            </a:r>
            <a:r>
              <a:rPr lang="en-US" altLang="zh-CN" sz="2400" baseline="-25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之间引入第二个双键</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（亚油酸等，</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必需脂肪酸</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p>
        </p:txBody>
      </p:sp>
      <p:sp>
        <p:nvSpPr>
          <p:cNvPr id="7" name="椭圆 6"/>
          <p:cNvSpPr/>
          <p:nvPr/>
        </p:nvSpPr>
        <p:spPr>
          <a:xfrm>
            <a:off x="8513673" y="2345055"/>
            <a:ext cx="1334770" cy="524510"/>
          </a:xfrm>
          <a:prstGeom prst="ellipse">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 name="文本框 7"/>
          <p:cNvSpPr txBox="1"/>
          <p:nvPr/>
        </p:nvSpPr>
        <p:spPr>
          <a:xfrm>
            <a:off x="8601303" y="55880"/>
            <a:ext cx="563880" cy="245110"/>
          </a:xfrm>
          <a:prstGeom prst="rect">
            <a:avLst/>
          </a:prstGeom>
          <a:noFill/>
          <a:ln>
            <a:noFill/>
          </a:ln>
        </p:spPr>
        <p:txBody>
          <a:bodyPr wrap="none" rtlCol="0">
            <a:spAutoFit/>
          </a:bodyPr>
          <a:lstStyle/>
          <a:p>
            <a:pPr algn="l"/>
            <a:r>
              <a:rPr lang="zh-CN" altLang="en-US" sz="1000" b="1" dirty="0">
                <a:latin typeface="微软雅黑" panose="020B0503020204020204" pitchFamily="34" charset="-122"/>
                <a:ea typeface="微软雅黑" panose="020B0503020204020204" pitchFamily="34" charset="-122"/>
              </a:rPr>
              <a:t>软脂酸</a:t>
            </a:r>
          </a:p>
        </p:txBody>
      </p:sp>
      <p:sp>
        <p:nvSpPr>
          <p:cNvPr id="9" name="文本框 8"/>
          <p:cNvSpPr txBox="1"/>
          <p:nvPr/>
        </p:nvSpPr>
        <p:spPr>
          <a:xfrm>
            <a:off x="8700998" y="906145"/>
            <a:ext cx="563880" cy="245110"/>
          </a:xfrm>
          <a:prstGeom prst="rect">
            <a:avLst/>
          </a:prstGeom>
          <a:noFill/>
          <a:ln>
            <a:noFill/>
          </a:ln>
        </p:spPr>
        <p:txBody>
          <a:bodyPr wrap="none" rtlCol="0">
            <a:spAutoFit/>
          </a:bodyPr>
          <a:lstStyle/>
          <a:p>
            <a:pPr algn="l"/>
            <a:r>
              <a:rPr lang="zh-CN" altLang="en-US" sz="1000" b="1" dirty="0">
                <a:latin typeface="微软雅黑" panose="020B0503020204020204" pitchFamily="34" charset="-122"/>
                <a:ea typeface="微软雅黑" panose="020B0503020204020204" pitchFamily="34" charset="-122"/>
              </a:rPr>
              <a:t>硬脂酸</a:t>
            </a:r>
          </a:p>
        </p:txBody>
      </p:sp>
      <p:sp>
        <p:nvSpPr>
          <p:cNvPr id="10" name="文本框 9"/>
          <p:cNvSpPr txBox="1"/>
          <p:nvPr/>
        </p:nvSpPr>
        <p:spPr>
          <a:xfrm>
            <a:off x="10953343" y="661035"/>
            <a:ext cx="690880" cy="245110"/>
          </a:xfrm>
          <a:prstGeom prst="rect">
            <a:avLst/>
          </a:prstGeom>
          <a:noFill/>
          <a:ln>
            <a:noFill/>
          </a:ln>
        </p:spPr>
        <p:txBody>
          <a:bodyPr wrap="none" rtlCol="0">
            <a:spAutoFit/>
          </a:bodyPr>
          <a:lstStyle/>
          <a:p>
            <a:pPr algn="l"/>
            <a:r>
              <a:rPr lang="zh-CN" altLang="en-US" sz="1000" b="1" dirty="0">
                <a:latin typeface="微软雅黑" panose="020B0503020204020204" pitchFamily="34" charset="-122"/>
                <a:ea typeface="微软雅黑" panose="020B0503020204020204" pitchFamily="34" charset="-122"/>
              </a:rPr>
              <a:t>棕榈油酸</a:t>
            </a:r>
          </a:p>
        </p:txBody>
      </p:sp>
      <p:sp>
        <p:nvSpPr>
          <p:cNvPr id="11" name="文本框 10"/>
          <p:cNvSpPr txBox="1"/>
          <p:nvPr/>
        </p:nvSpPr>
        <p:spPr>
          <a:xfrm>
            <a:off x="8962618" y="1776095"/>
            <a:ext cx="436880" cy="245110"/>
          </a:xfrm>
          <a:prstGeom prst="rect">
            <a:avLst/>
          </a:prstGeom>
          <a:noFill/>
          <a:ln>
            <a:noFill/>
          </a:ln>
        </p:spPr>
        <p:txBody>
          <a:bodyPr wrap="none" rtlCol="0">
            <a:spAutoFit/>
          </a:bodyPr>
          <a:lstStyle/>
          <a:p>
            <a:pPr algn="l"/>
            <a:r>
              <a:rPr lang="zh-CN" altLang="en-US" sz="1000" b="1" dirty="0">
                <a:latin typeface="微软雅黑" panose="020B0503020204020204" pitchFamily="34" charset="-122"/>
                <a:ea typeface="微软雅黑" panose="020B0503020204020204" pitchFamily="34" charset="-122"/>
              </a:rPr>
              <a:t>油酸</a:t>
            </a:r>
          </a:p>
        </p:txBody>
      </p:sp>
      <p:sp>
        <p:nvSpPr>
          <p:cNvPr id="12" name="文本框 11"/>
          <p:cNvSpPr txBox="1"/>
          <p:nvPr/>
        </p:nvSpPr>
        <p:spPr>
          <a:xfrm>
            <a:off x="9379813" y="3496310"/>
            <a:ext cx="640080" cy="275590"/>
          </a:xfrm>
          <a:prstGeom prst="rect">
            <a:avLst/>
          </a:prstGeom>
          <a:noFill/>
          <a:ln>
            <a:noFill/>
          </a:ln>
        </p:spPr>
        <p:txBody>
          <a:bodyPr wrap="none" rtlCol="0">
            <a:spAutoFit/>
          </a:bodyPr>
          <a:lstStyle/>
          <a:p>
            <a:pPr algn="l"/>
            <a:r>
              <a:rPr lang="zh-CN" altLang="en-US" sz="1200" b="1" dirty="0">
                <a:solidFill>
                  <a:srgbClr val="FF0000"/>
                </a:solidFill>
                <a:latin typeface="微软雅黑" panose="020B0503020204020204" pitchFamily="34" charset="-122"/>
                <a:ea typeface="微软雅黑" panose="020B0503020204020204" pitchFamily="34" charset="-122"/>
              </a:rPr>
              <a:t>亚油酸</a:t>
            </a:r>
          </a:p>
        </p:txBody>
      </p:sp>
      <p:sp>
        <p:nvSpPr>
          <p:cNvPr id="13" name="文本框 12"/>
          <p:cNvSpPr txBox="1"/>
          <p:nvPr/>
        </p:nvSpPr>
        <p:spPr>
          <a:xfrm>
            <a:off x="9379813" y="4154805"/>
            <a:ext cx="640080" cy="275590"/>
          </a:xfrm>
          <a:prstGeom prst="rect">
            <a:avLst/>
          </a:prstGeom>
          <a:noFill/>
          <a:ln>
            <a:noFill/>
          </a:ln>
        </p:spPr>
        <p:txBody>
          <a:bodyPr wrap="none" rtlCol="0">
            <a:spAutoFit/>
          </a:bodyPr>
          <a:lstStyle/>
          <a:p>
            <a:pPr algn="l"/>
            <a:r>
              <a:rPr lang="zh-CN" altLang="en-US" sz="1200" b="1" dirty="0">
                <a:solidFill>
                  <a:srgbClr val="FF0000"/>
                </a:solidFill>
                <a:latin typeface="微软雅黑" panose="020B0503020204020204" pitchFamily="34" charset="-122"/>
                <a:ea typeface="微软雅黑" panose="020B0503020204020204" pitchFamily="34" charset="-122"/>
              </a:rPr>
              <a:t>亚麻酸</a:t>
            </a:r>
          </a:p>
        </p:txBody>
      </p:sp>
      <p:sp>
        <p:nvSpPr>
          <p:cNvPr id="14" name="文本框 13"/>
          <p:cNvSpPr txBox="1"/>
          <p:nvPr/>
        </p:nvSpPr>
        <p:spPr>
          <a:xfrm>
            <a:off x="9814788" y="5273040"/>
            <a:ext cx="944880" cy="275590"/>
          </a:xfrm>
          <a:prstGeom prst="rect">
            <a:avLst/>
          </a:prstGeom>
          <a:noFill/>
          <a:ln>
            <a:noFill/>
          </a:ln>
        </p:spPr>
        <p:txBody>
          <a:bodyPr wrap="none" rtlCol="0">
            <a:spAutoFit/>
          </a:bodyPr>
          <a:lstStyle/>
          <a:p>
            <a:pPr algn="l"/>
            <a:r>
              <a:rPr lang="zh-CN" altLang="en-US" sz="1200" b="1" dirty="0">
                <a:solidFill>
                  <a:srgbClr val="FF0000"/>
                </a:solidFill>
                <a:latin typeface="微软雅黑" panose="020B0503020204020204" pitchFamily="34" charset="-122"/>
                <a:ea typeface="微软雅黑" panose="020B0503020204020204" pitchFamily="34" charset="-122"/>
              </a:rPr>
              <a:t>花生四烯酸</a:t>
            </a:r>
          </a:p>
        </p:txBody>
      </p:sp>
    </p:spTree>
  </p:cSld>
  <p:clrMapOvr>
    <a:masterClrMapping/>
  </p:clrMapOvr>
  <p:transition>
    <p:rand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8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11" y="0"/>
            <a:ext cx="11087735" cy="6864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203777"/>
      </p:ext>
    </p:extLst>
  </p:cSld>
  <p:clrMapOvr>
    <a:masterClrMapping/>
  </p:clrMapOvr>
  <p:transition>
    <p:rand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349947" y="1612190"/>
            <a:ext cx="3648710" cy="1308884"/>
          </a:xfrm>
          <a:prstGeom prst="rect">
            <a:avLst/>
          </a:prstGeom>
        </p:spPr>
        <p:txBody>
          <a:bodyPr wrap="square">
            <a:spAutoFit/>
          </a:bodyPr>
          <a:lstStyle/>
          <a:p>
            <a:pPr marL="457200" indent="-457200">
              <a:lnSpc>
                <a:spcPct val="150000"/>
              </a:lnSpc>
              <a:buFont typeface="Arial" panose="020B0604020202020204" pitchFamily="34" charset="0"/>
              <a:buChar char="•"/>
            </a:pPr>
            <a:r>
              <a:rPr lang="zh-CN" altLang="en-US" sz="2800" b="1" noProof="1">
                <a:latin typeface="微软雅黑" panose="020B0503020204020204" pitchFamily="34" charset="-122"/>
                <a:ea typeface="微软雅黑" panose="020B0503020204020204" pitchFamily="34" charset="-122"/>
              </a:rPr>
              <a:t>前体</a:t>
            </a:r>
            <a:r>
              <a:rPr lang="zh-CN" altLang="en-US" sz="2800" noProof="1">
                <a:latin typeface="微软雅黑" panose="020B0503020204020204" pitchFamily="34" charset="-122"/>
                <a:ea typeface="微软雅黑" panose="020B0503020204020204" pitchFamily="34" charset="-122"/>
              </a:rPr>
              <a:t>：</a:t>
            </a:r>
            <a:r>
              <a:rPr lang="zh-CN" altLang="en-US" sz="2800" noProof="1">
                <a:solidFill>
                  <a:srgbClr val="FF0000"/>
                </a:solidFill>
                <a:latin typeface="微软雅黑" panose="020B0503020204020204" pitchFamily="34" charset="-122"/>
                <a:ea typeface="微软雅黑" panose="020B0503020204020204" pitchFamily="34" charset="-122"/>
              </a:rPr>
              <a:t>3-磷酸甘油</a:t>
            </a:r>
            <a:r>
              <a:rPr lang="zh-CN" altLang="en-US" sz="2800" noProof="1">
                <a:latin typeface="微软雅黑" panose="020B0503020204020204" pitchFamily="34" charset="-122"/>
                <a:ea typeface="微软雅黑" panose="020B0503020204020204" pitchFamily="34" charset="-122"/>
              </a:rPr>
              <a:t>，脂酰CoA。</a:t>
            </a:r>
          </a:p>
        </p:txBody>
      </p:sp>
      <p:grpSp>
        <p:nvGrpSpPr>
          <p:cNvPr id="7" name="组合 6"/>
          <p:cNvGrpSpPr/>
          <p:nvPr/>
        </p:nvGrpSpPr>
        <p:grpSpPr>
          <a:xfrm>
            <a:off x="5125718" y="112645"/>
            <a:ext cx="6481278" cy="6684008"/>
            <a:chOff x="5326014" y="173992"/>
            <a:chExt cx="5774592" cy="5857237"/>
          </a:xfrm>
        </p:grpSpPr>
        <p:pic>
          <p:nvPicPr>
            <p:cNvPr id="2" name="图片 1"/>
            <p:cNvPicPr>
              <a:picLocks noChangeAspect="1"/>
            </p:cNvPicPr>
            <p:nvPr/>
          </p:nvPicPr>
          <p:blipFill>
            <a:blip r:embed="rId3"/>
            <a:stretch>
              <a:fillRect/>
            </a:stretch>
          </p:blipFill>
          <p:spPr>
            <a:xfrm>
              <a:off x="5648008" y="173992"/>
              <a:ext cx="5056504" cy="5857237"/>
            </a:xfrm>
            <a:prstGeom prst="rect">
              <a:avLst/>
            </a:prstGeom>
            <a:ln>
              <a:noFill/>
            </a:ln>
          </p:spPr>
        </p:pic>
        <p:sp>
          <p:nvSpPr>
            <p:cNvPr id="3" name="文本框 2"/>
            <p:cNvSpPr txBox="1"/>
            <p:nvPr/>
          </p:nvSpPr>
          <p:spPr>
            <a:xfrm>
              <a:off x="5659061" y="1899720"/>
              <a:ext cx="1398512" cy="323648"/>
            </a:xfrm>
            <a:prstGeom prst="rect">
              <a:avLst/>
            </a:prstGeom>
            <a:noFill/>
            <a:ln>
              <a:noFill/>
            </a:ln>
          </p:spPr>
          <p:txBody>
            <a:bodyPr wrap="none" rtlCol="0">
              <a:spAutoFit/>
            </a:bodyPr>
            <a:lstStyle/>
            <a:p>
              <a:pPr algn="l"/>
              <a:r>
                <a:rPr lang="zh-CN" altLang="en-US" b="1" dirty="0">
                  <a:latin typeface="微软雅黑" panose="020B0503020204020204" pitchFamily="34" charset="-122"/>
                  <a:ea typeface="微软雅黑" panose="020B0503020204020204" pitchFamily="34" charset="-122"/>
                </a:rPr>
                <a:t>磷酸二羟丙酮</a:t>
              </a:r>
            </a:p>
          </p:txBody>
        </p:sp>
        <p:sp>
          <p:nvSpPr>
            <p:cNvPr id="4" name="文本框 3"/>
            <p:cNvSpPr txBox="1"/>
            <p:nvPr/>
          </p:nvSpPr>
          <p:spPr>
            <a:xfrm>
              <a:off x="9337992" y="755015"/>
              <a:ext cx="538480" cy="306705"/>
            </a:xfrm>
            <a:prstGeom prst="rect">
              <a:avLst/>
            </a:prstGeom>
            <a:noFill/>
            <a:ln>
              <a:noFill/>
            </a:ln>
          </p:spPr>
          <p:txBody>
            <a:bodyPr wrap="none" rtlCol="0">
              <a:spAutoFit/>
            </a:bodyPr>
            <a:lstStyle/>
            <a:p>
              <a:pPr algn="l"/>
              <a:r>
                <a:rPr lang="zh-CN" altLang="en-US" sz="1400" b="1" dirty="0">
                  <a:latin typeface="微软雅黑" panose="020B0503020204020204" pitchFamily="34" charset="-122"/>
                  <a:ea typeface="微软雅黑" panose="020B0503020204020204" pitchFamily="34" charset="-122"/>
                </a:rPr>
                <a:t>甘油</a:t>
              </a:r>
            </a:p>
          </p:txBody>
        </p:sp>
        <p:sp>
          <p:nvSpPr>
            <p:cNvPr id="5" name="文本框 4"/>
            <p:cNvSpPr txBox="1"/>
            <p:nvPr/>
          </p:nvSpPr>
          <p:spPr>
            <a:xfrm>
              <a:off x="7635557" y="5310823"/>
              <a:ext cx="1081405" cy="306705"/>
            </a:xfrm>
            <a:prstGeom prst="rect">
              <a:avLst/>
            </a:prstGeom>
            <a:noFill/>
            <a:ln>
              <a:noFill/>
            </a:ln>
          </p:spPr>
          <p:txBody>
            <a:bodyPr wrap="none" rtlCol="0">
              <a:spAutoFit/>
            </a:bodyPr>
            <a:lstStyle/>
            <a:p>
              <a:pPr algn="l"/>
              <a:r>
                <a:rPr lang="zh-CN" altLang="en-US" sz="1400" b="1" dirty="0">
                  <a:solidFill>
                    <a:srgbClr val="FF0000"/>
                  </a:solidFill>
                  <a:latin typeface="微软雅黑" panose="020B0503020204020204" pitchFamily="34" charset="-122"/>
                  <a:ea typeface="微软雅黑" panose="020B0503020204020204" pitchFamily="34" charset="-122"/>
                  <a:sym typeface="+mn-ea"/>
                </a:rPr>
                <a:t>3-磷酸甘油</a:t>
              </a:r>
            </a:p>
          </p:txBody>
        </p:sp>
        <p:sp>
          <p:nvSpPr>
            <p:cNvPr id="6" name="文本框 5"/>
            <p:cNvSpPr txBox="1"/>
            <p:nvPr/>
          </p:nvSpPr>
          <p:spPr>
            <a:xfrm>
              <a:off x="5326014" y="3882846"/>
              <a:ext cx="938626" cy="323648"/>
            </a:xfrm>
            <a:prstGeom prst="rect">
              <a:avLst/>
            </a:prstGeom>
            <a:noFill/>
            <a:ln>
              <a:noFill/>
            </a:ln>
          </p:spPr>
          <p:txBody>
            <a:bodyPr wrap="none" rtlCol="0">
              <a:spAutoFit/>
            </a:bodyPr>
            <a:lstStyle/>
            <a:p>
              <a:pPr algn="l"/>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脱氢酶</a:t>
              </a:r>
            </a:p>
          </p:txBody>
        </p:sp>
        <p:sp>
          <p:nvSpPr>
            <p:cNvPr id="8" name="文本框 7"/>
            <p:cNvSpPr txBox="1"/>
            <p:nvPr/>
          </p:nvSpPr>
          <p:spPr>
            <a:xfrm>
              <a:off x="10367644" y="3729494"/>
              <a:ext cx="732962" cy="323648"/>
            </a:xfrm>
            <a:prstGeom prst="rect">
              <a:avLst/>
            </a:prstGeom>
            <a:noFill/>
            <a:ln>
              <a:noFill/>
            </a:ln>
          </p:spPr>
          <p:txBody>
            <a:bodyPr wrap="none" rtlCol="0">
              <a:spAutoFit/>
            </a:bodyPr>
            <a:lstStyle/>
            <a:p>
              <a:pPr algn="l"/>
              <a:r>
                <a:rPr lang="en-US" altLang="zh-CN"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激酶</a:t>
              </a:r>
            </a:p>
          </p:txBody>
        </p:sp>
      </p:grpSp>
      <p:sp>
        <p:nvSpPr>
          <p:cNvPr id="11" name="文本框 10"/>
          <p:cNvSpPr txBox="1"/>
          <p:nvPr/>
        </p:nvSpPr>
        <p:spPr>
          <a:xfrm>
            <a:off x="999893" y="100461"/>
            <a:ext cx="3884341" cy="646331"/>
          </a:xfrm>
          <a:prstGeom prst="rect">
            <a:avLst/>
          </a:prstGeom>
        </p:spPr>
        <p:txBody>
          <a:bodyPr wrap="square">
            <a:spAutoFit/>
          </a:bodyPr>
          <a:lstStyle>
            <a:defPPr>
              <a:defRPr lang="en-US"/>
            </a:defPPr>
            <a:lvl1pPr>
              <a:lnSpc>
                <a:spcPct val="100000"/>
              </a:lnSpc>
              <a:defRPr sz="36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甘油三酯合成</a:t>
            </a:r>
          </a:p>
        </p:txBody>
      </p:sp>
    </p:spTree>
  </p:cSld>
  <p:clrMapOvr>
    <a:masterClrMapping/>
  </p:clrMapOvr>
  <p:transition>
    <p:rand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3963670" y="5963921"/>
            <a:ext cx="2540000" cy="306705"/>
          </a:xfrm>
          <a:prstGeom prst="rect">
            <a:avLst/>
          </a:prstGeom>
          <a:noFill/>
          <a:ln>
            <a:noFill/>
          </a:ln>
        </p:spPr>
        <p:txBody>
          <a:bodyPr wrap="square" rtlCol="0" anchor="t">
            <a:spAutoFit/>
          </a:bodyPr>
          <a:lstStyle/>
          <a:p>
            <a:pPr algn="l">
              <a:buClrTx/>
              <a:buSzTx/>
              <a:buFontTx/>
            </a:pPr>
            <a:r>
              <a:rPr lang="zh-CN" altLang="en-US" sz="1400" b="1" dirty="0">
                <a:latin typeface="微软雅黑" panose="020B0503020204020204" pitchFamily="34" charset="-122"/>
                <a:ea typeface="微软雅黑" panose="020B0503020204020204" pitchFamily="34" charset="-122"/>
              </a:rPr>
              <a:t> </a:t>
            </a:r>
            <a:r>
              <a:rPr lang="zh-CN" altLang="en-US" sz="1200" b="1" dirty="0">
                <a:solidFill>
                  <a:srgbClr val="FF0000"/>
                </a:solidFill>
                <a:latin typeface="微软雅黑" panose="020B0503020204020204" pitchFamily="34" charset="-122"/>
                <a:ea typeface="微软雅黑" panose="020B0503020204020204" pitchFamily="34" charset="-122"/>
              </a:rPr>
              <a:t>磷脂酸</a:t>
            </a:r>
          </a:p>
        </p:txBody>
      </p:sp>
      <p:sp>
        <p:nvSpPr>
          <p:cNvPr id="11" name="文本框 10"/>
          <p:cNvSpPr txBox="1"/>
          <p:nvPr/>
        </p:nvSpPr>
        <p:spPr>
          <a:xfrm>
            <a:off x="8822690" y="878206"/>
            <a:ext cx="2540000" cy="306705"/>
          </a:xfrm>
          <a:prstGeom prst="rect">
            <a:avLst/>
          </a:prstGeom>
          <a:noFill/>
          <a:ln>
            <a:noFill/>
          </a:ln>
        </p:spPr>
        <p:txBody>
          <a:bodyPr wrap="square" rtlCol="0" anchor="t">
            <a:spAutoFit/>
          </a:bodyPr>
          <a:lstStyle/>
          <a:p>
            <a:pPr algn="l">
              <a:buClrTx/>
              <a:buSzTx/>
              <a:buFontTx/>
            </a:pPr>
            <a:r>
              <a:rPr lang="zh-CN" altLang="en-US" sz="1400" b="1" dirty="0">
                <a:latin typeface="微软雅黑" panose="020B0503020204020204" pitchFamily="34" charset="-122"/>
                <a:ea typeface="微软雅黑" panose="020B0503020204020204" pitchFamily="34" charset="-122"/>
              </a:rPr>
              <a:t> </a:t>
            </a:r>
            <a:r>
              <a:rPr lang="zh-CN" altLang="en-US" sz="1200" b="1" dirty="0">
                <a:solidFill>
                  <a:srgbClr val="FF0000"/>
                </a:solidFill>
                <a:latin typeface="微软雅黑" panose="020B0503020204020204" pitchFamily="34" charset="-122"/>
                <a:ea typeface="微软雅黑" panose="020B0503020204020204" pitchFamily="34" charset="-122"/>
              </a:rPr>
              <a:t>磷脂酸</a:t>
            </a:r>
          </a:p>
        </p:txBody>
      </p:sp>
      <p:grpSp>
        <p:nvGrpSpPr>
          <p:cNvPr id="13" name="组合 12"/>
          <p:cNvGrpSpPr/>
          <p:nvPr/>
        </p:nvGrpSpPr>
        <p:grpSpPr>
          <a:xfrm>
            <a:off x="1148576" y="0"/>
            <a:ext cx="4375926" cy="6858000"/>
            <a:chOff x="2049146" y="358775"/>
            <a:chExt cx="3475355" cy="5911850"/>
          </a:xfrm>
        </p:grpSpPr>
        <p:pic>
          <p:nvPicPr>
            <p:cNvPr id="3" name="图片 2" descr="QQ截图20211028202820"/>
            <p:cNvPicPr>
              <a:picLocks noChangeAspect="1"/>
            </p:cNvPicPr>
            <p:nvPr/>
          </p:nvPicPr>
          <p:blipFill>
            <a:blip r:embed="rId3"/>
            <a:stretch>
              <a:fillRect/>
            </a:stretch>
          </p:blipFill>
          <p:spPr>
            <a:xfrm>
              <a:off x="2049146" y="358775"/>
              <a:ext cx="3475355" cy="5911850"/>
            </a:xfrm>
            <a:prstGeom prst="rect">
              <a:avLst/>
            </a:prstGeom>
            <a:ln>
              <a:solidFill>
                <a:schemeClr val="tx1"/>
              </a:solidFill>
            </a:ln>
          </p:spPr>
        </p:pic>
        <p:sp>
          <p:nvSpPr>
            <p:cNvPr id="5" name="文本框 4"/>
            <p:cNvSpPr txBox="1"/>
            <p:nvPr/>
          </p:nvSpPr>
          <p:spPr>
            <a:xfrm>
              <a:off x="2049146" y="615951"/>
              <a:ext cx="1081405" cy="306705"/>
            </a:xfrm>
            <a:prstGeom prst="rect">
              <a:avLst/>
            </a:prstGeom>
            <a:noFill/>
            <a:ln>
              <a:noFill/>
            </a:ln>
          </p:spPr>
          <p:txBody>
            <a:bodyPr wrap="none" rtlCol="0">
              <a:spAutoFit/>
            </a:bodyPr>
            <a:lstStyle/>
            <a:p>
              <a:pPr algn="l"/>
              <a:r>
                <a:rPr lang="zh-CN" altLang="en-US" sz="1400" b="1" dirty="0">
                  <a:solidFill>
                    <a:srgbClr val="FF0000"/>
                  </a:solidFill>
                  <a:latin typeface="微软雅黑" panose="020B0503020204020204" pitchFamily="34" charset="-122"/>
                  <a:ea typeface="微软雅黑" panose="020B0503020204020204" pitchFamily="34" charset="-122"/>
                  <a:sym typeface="+mn-ea"/>
                </a:rPr>
                <a:t>3-磷酸甘油</a:t>
              </a:r>
            </a:p>
          </p:txBody>
        </p:sp>
        <p:sp>
          <p:nvSpPr>
            <p:cNvPr id="6" name="文本框 5"/>
            <p:cNvSpPr txBox="1"/>
            <p:nvPr/>
          </p:nvSpPr>
          <p:spPr>
            <a:xfrm>
              <a:off x="3531870" y="2030730"/>
              <a:ext cx="805180" cy="275590"/>
            </a:xfrm>
            <a:prstGeom prst="rect">
              <a:avLst/>
            </a:prstGeom>
            <a:noFill/>
            <a:ln>
              <a:noFill/>
            </a:ln>
          </p:spPr>
          <p:txBody>
            <a:bodyPr wrap="none" rtlCol="0" anchor="t">
              <a:spAutoFit/>
            </a:bodyPr>
            <a:lstStyle/>
            <a:p>
              <a:pPr algn="l"/>
              <a:r>
                <a:rPr lang="zh-CN" altLang="en-US" sz="1200" b="1" dirty="0">
                  <a:solidFill>
                    <a:srgbClr val="FF0000"/>
                  </a:solidFill>
                  <a:latin typeface="微软雅黑" panose="020B0503020204020204" pitchFamily="34" charset="-122"/>
                  <a:ea typeface="微软雅黑" panose="020B0503020204020204" pitchFamily="34" charset="-122"/>
                  <a:sym typeface="+mn-ea"/>
                </a:rPr>
                <a:t>脂酰CoA</a:t>
              </a:r>
            </a:p>
          </p:txBody>
        </p:sp>
        <p:sp>
          <p:nvSpPr>
            <p:cNvPr id="8" name="文本框 7"/>
            <p:cNvSpPr txBox="1"/>
            <p:nvPr/>
          </p:nvSpPr>
          <p:spPr>
            <a:xfrm>
              <a:off x="3531870" y="3765550"/>
              <a:ext cx="805180" cy="275590"/>
            </a:xfrm>
            <a:prstGeom prst="rect">
              <a:avLst/>
            </a:prstGeom>
            <a:noFill/>
            <a:ln>
              <a:noFill/>
            </a:ln>
          </p:spPr>
          <p:txBody>
            <a:bodyPr wrap="none" rtlCol="0" anchor="t">
              <a:spAutoFit/>
            </a:bodyPr>
            <a:lstStyle/>
            <a:p>
              <a:pPr algn="l"/>
              <a:r>
                <a:rPr lang="zh-CN" altLang="en-US" sz="1200" b="1" dirty="0">
                  <a:solidFill>
                    <a:srgbClr val="FF0000"/>
                  </a:solidFill>
                  <a:latin typeface="微软雅黑" panose="020B0503020204020204" pitchFamily="34" charset="-122"/>
                  <a:ea typeface="微软雅黑" panose="020B0503020204020204" pitchFamily="34" charset="-122"/>
                  <a:sym typeface="+mn-ea"/>
                </a:rPr>
                <a:t>脂酰CoA</a:t>
              </a:r>
            </a:p>
          </p:txBody>
        </p:sp>
        <p:sp>
          <p:nvSpPr>
            <p:cNvPr id="2" name="文本框 1"/>
            <p:cNvSpPr txBox="1"/>
            <p:nvPr/>
          </p:nvSpPr>
          <p:spPr>
            <a:xfrm>
              <a:off x="2418715" y="2898140"/>
              <a:ext cx="2540000" cy="275590"/>
            </a:xfrm>
            <a:prstGeom prst="rect">
              <a:avLst/>
            </a:prstGeom>
            <a:noFill/>
            <a:ln>
              <a:noFill/>
            </a:ln>
          </p:spPr>
          <p:txBody>
            <a:bodyPr wrap="square" rtlCol="0" anchor="t">
              <a:spAutoFit/>
            </a:bodyPr>
            <a:lstStyle/>
            <a:p>
              <a:pPr algn="l"/>
              <a:r>
                <a:rPr lang="zh-CN" altLang="en-US" sz="1200" b="1" dirty="0">
                  <a:latin typeface="微软雅黑" panose="020B0503020204020204" pitchFamily="34" charset="-122"/>
                  <a:ea typeface="微软雅黑" panose="020B0503020204020204" pitchFamily="34" charset="-122"/>
                </a:rPr>
                <a:t>酰基转移酶</a:t>
              </a:r>
            </a:p>
          </p:txBody>
        </p:sp>
        <p:sp>
          <p:nvSpPr>
            <p:cNvPr id="7" name="文本框 6"/>
            <p:cNvSpPr txBox="1"/>
            <p:nvPr/>
          </p:nvSpPr>
          <p:spPr>
            <a:xfrm>
              <a:off x="2418715" y="4632960"/>
              <a:ext cx="2540000" cy="275590"/>
            </a:xfrm>
            <a:prstGeom prst="rect">
              <a:avLst/>
            </a:prstGeom>
            <a:noFill/>
            <a:ln>
              <a:noFill/>
            </a:ln>
          </p:spPr>
          <p:txBody>
            <a:bodyPr wrap="square" rtlCol="0" anchor="t">
              <a:spAutoFit/>
            </a:bodyPr>
            <a:lstStyle/>
            <a:p>
              <a:pPr algn="l"/>
              <a:r>
                <a:rPr lang="zh-CN" altLang="en-US" sz="1200" b="1" dirty="0">
                  <a:latin typeface="微软雅黑" panose="020B0503020204020204" pitchFamily="34" charset="-122"/>
                  <a:ea typeface="微软雅黑" panose="020B0503020204020204" pitchFamily="34" charset="-122"/>
                </a:rPr>
                <a:t>酰基转移酶</a:t>
              </a:r>
            </a:p>
          </p:txBody>
        </p:sp>
      </p:grpSp>
      <p:grpSp>
        <p:nvGrpSpPr>
          <p:cNvPr id="14" name="组合 13"/>
          <p:cNvGrpSpPr/>
          <p:nvPr/>
        </p:nvGrpSpPr>
        <p:grpSpPr>
          <a:xfrm>
            <a:off x="5910146" y="0"/>
            <a:ext cx="5452544" cy="6857999"/>
            <a:chOff x="6282690" y="358775"/>
            <a:chExt cx="4825365" cy="5905500"/>
          </a:xfrm>
        </p:grpSpPr>
        <p:pic>
          <p:nvPicPr>
            <p:cNvPr id="4" name="图片 3"/>
            <p:cNvPicPr>
              <a:picLocks noChangeAspect="1"/>
            </p:cNvPicPr>
            <p:nvPr/>
          </p:nvPicPr>
          <p:blipFill>
            <a:blip r:embed="rId4"/>
            <a:stretch>
              <a:fillRect/>
            </a:stretch>
          </p:blipFill>
          <p:spPr>
            <a:xfrm>
              <a:off x="6282690" y="358775"/>
              <a:ext cx="3931920" cy="5905500"/>
            </a:xfrm>
            <a:prstGeom prst="rect">
              <a:avLst/>
            </a:prstGeom>
            <a:ln>
              <a:solidFill>
                <a:schemeClr val="tx1"/>
              </a:solidFill>
            </a:ln>
          </p:spPr>
        </p:pic>
        <p:sp>
          <p:nvSpPr>
            <p:cNvPr id="15" name="文本框 14"/>
            <p:cNvSpPr txBox="1"/>
            <p:nvPr/>
          </p:nvSpPr>
          <p:spPr>
            <a:xfrm>
              <a:off x="8568055" y="4702176"/>
              <a:ext cx="2540000" cy="306705"/>
            </a:xfrm>
            <a:prstGeom prst="rect">
              <a:avLst/>
            </a:prstGeom>
            <a:noFill/>
            <a:ln>
              <a:noFill/>
            </a:ln>
          </p:spPr>
          <p:txBody>
            <a:bodyPr wrap="square" rtlCol="0" anchor="t">
              <a:spAutoFit/>
            </a:bodyPr>
            <a:lstStyle/>
            <a:p>
              <a:pPr algn="l">
                <a:buClrTx/>
                <a:buSzTx/>
                <a:buFontTx/>
              </a:pPr>
              <a:r>
                <a:rPr lang="zh-CN" altLang="en-US" sz="1400" b="1" dirty="0">
                  <a:latin typeface="微软雅黑" panose="020B0503020204020204" pitchFamily="34" charset="-122"/>
                  <a:ea typeface="微软雅黑" panose="020B0503020204020204" pitchFamily="34" charset="-122"/>
                </a:rPr>
                <a:t> </a:t>
              </a:r>
              <a:r>
                <a:rPr lang="zh-CN" altLang="en-US" sz="1200" b="1" dirty="0">
                  <a:solidFill>
                    <a:srgbClr val="FF0000"/>
                  </a:solidFill>
                  <a:latin typeface="微软雅黑" panose="020B0503020204020204" pitchFamily="34" charset="-122"/>
                  <a:ea typeface="微软雅黑" panose="020B0503020204020204" pitchFamily="34" charset="-122"/>
                </a:rPr>
                <a:t>甘油磷脂</a:t>
              </a:r>
            </a:p>
          </p:txBody>
        </p:sp>
        <p:sp>
          <p:nvSpPr>
            <p:cNvPr id="16" name="文本框 15"/>
            <p:cNvSpPr txBox="1"/>
            <p:nvPr/>
          </p:nvSpPr>
          <p:spPr>
            <a:xfrm>
              <a:off x="7607935" y="5922011"/>
              <a:ext cx="977900" cy="306705"/>
            </a:xfrm>
            <a:prstGeom prst="rect">
              <a:avLst/>
            </a:prstGeom>
          </p:spPr>
          <p:style>
            <a:lnRef idx="2">
              <a:schemeClr val="dk1"/>
            </a:lnRef>
            <a:fillRef idx="1">
              <a:schemeClr val="lt1"/>
            </a:fillRef>
            <a:effectRef idx="0">
              <a:schemeClr val="dk1"/>
            </a:effectRef>
            <a:fontRef idx="minor">
              <a:schemeClr val="dk1"/>
            </a:fontRef>
          </p:style>
          <p:txBody>
            <a:bodyPr wrap="square" rtlCol="0" anchor="t">
              <a:spAutoFit/>
            </a:bodyPr>
            <a:lstStyle/>
            <a:p>
              <a:pPr algn="l">
                <a:buClrTx/>
                <a:buSzTx/>
                <a:buFontTx/>
              </a:pPr>
              <a:r>
                <a:rPr lang="zh-CN" altLang="en-US" sz="1400" b="1" dirty="0">
                  <a:latin typeface="微软雅黑" panose="020B0503020204020204" pitchFamily="34" charset="-122"/>
                  <a:ea typeface="微软雅黑" panose="020B0503020204020204" pitchFamily="34" charset="-122"/>
                </a:rPr>
                <a:t> </a:t>
              </a:r>
              <a:r>
                <a:rPr lang="zh-CN" altLang="en-US" sz="1200" b="1" dirty="0">
                  <a:solidFill>
                    <a:srgbClr val="FF0000"/>
                  </a:solidFill>
                  <a:latin typeface="微软雅黑" panose="020B0503020204020204" pitchFamily="34" charset="-122"/>
                  <a:ea typeface="微软雅黑" panose="020B0503020204020204" pitchFamily="34" charset="-122"/>
                </a:rPr>
                <a:t>甘油三脂</a:t>
              </a:r>
            </a:p>
          </p:txBody>
        </p:sp>
        <p:sp>
          <p:nvSpPr>
            <p:cNvPr id="10" name="文本框 9"/>
            <p:cNvSpPr txBox="1"/>
            <p:nvPr/>
          </p:nvSpPr>
          <p:spPr>
            <a:xfrm>
              <a:off x="6342380" y="4321176"/>
              <a:ext cx="678180" cy="460375"/>
            </a:xfrm>
            <a:prstGeom prst="rect">
              <a:avLst/>
            </a:prstGeom>
            <a:noFill/>
            <a:ln>
              <a:noFill/>
            </a:ln>
          </p:spPr>
          <p:txBody>
            <a:bodyPr wrap="square" rtlCol="0" anchor="t">
              <a:spAutoFit/>
            </a:bodyPr>
            <a:lstStyle/>
            <a:p>
              <a:pPr algn="l"/>
              <a:r>
                <a:rPr lang="zh-CN" altLang="en-US" sz="1200" b="1" dirty="0">
                  <a:latin typeface="微软雅黑" panose="020B0503020204020204" pitchFamily="34" charset="-122"/>
                  <a:ea typeface="微软雅黑" panose="020B0503020204020204" pitchFamily="34" charset="-122"/>
                </a:rPr>
                <a:t>酰基转移酶</a:t>
              </a:r>
            </a:p>
          </p:txBody>
        </p:sp>
        <p:sp>
          <p:nvSpPr>
            <p:cNvPr id="12" name="文本框 11"/>
            <p:cNvSpPr txBox="1"/>
            <p:nvPr/>
          </p:nvSpPr>
          <p:spPr>
            <a:xfrm>
              <a:off x="6282690" y="1724025"/>
              <a:ext cx="2540000" cy="275590"/>
            </a:xfrm>
            <a:prstGeom prst="rect">
              <a:avLst/>
            </a:prstGeom>
            <a:noFill/>
            <a:ln>
              <a:noFill/>
            </a:ln>
          </p:spPr>
          <p:txBody>
            <a:bodyPr wrap="square" rtlCol="0" anchor="t">
              <a:spAutoFit/>
            </a:bodyPr>
            <a:lstStyle/>
            <a:p>
              <a:pPr algn="l"/>
              <a:r>
                <a:rPr lang="zh-CN" altLang="en-US" sz="1200" b="1" dirty="0">
                  <a:latin typeface="微软雅黑" panose="020B0503020204020204" pitchFamily="34" charset="-122"/>
                  <a:ea typeface="微软雅黑" panose="020B0503020204020204" pitchFamily="34" charset="-122"/>
                </a:rPr>
                <a:t>磷脂酸磷酸酶（脂素）</a:t>
              </a:r>
            </a:p>
          </p:txBody>
        </p:sp>
      </p:grpSp>
    </p:spTree>
  </p:cSld>
  <p:clrMapOvr>
    <a:masterClrMapping/>
  </p:clrMapOvr>
  <p:transition>
    <p:rand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4543226" y="134040"/>
            <a:ext cx="3416320" cy="646331"/>
          </a:xfrm>
          <a:prstGeom prst="rect">
            <a:avLst/>
          </a:prstGeom>
        </p:spPr>
        <p:txBody>
          <a:bodyPr wrap="square">
            <a:spAutoFit/>
          </a:bodyPr>
          <a:lstStyle/>
          <a:p>
            <a:r>
              <a:rPr lang="zh-CN" altLang="en-US" sz="3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脂肪代谢的调控</a:t>
            </a:r>
          </a:p>
        </p:txBody>
      </p:sp>
      <p:sp>
        <p:nvSpPr>
          <p:cNvPr id="2" name="文本框 1"/>
          <p:cNvSpPr txBox="1"/>
          <p:nvPr/>
        </p:nvSpPr>
        <p:spPr>
          <a:xfrm>
            <a:off x="2263690" y="1036144"/>
            <a:ext cx="8681231" cy="4877435"/>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wrap="square" rtlCol="0">
            <a:spAutoFit/>
          </a:bodyPr>
          <a:lstStyle/>
          <a:p>
            <a:pPr>
              <a:lnSpc>
                <a:spcPct val="150000"/>
              </a:lnSpc>
              <a:spcBef>
                <a:spcPts val="600"/>
              </a:spcBef>
            </a:pPr>
            <a:r>
              <a:rPr lang="en-US" altLang="zh-CN" sz="3200" b="1" u="sng" dirty="0">
                <a:latin typeface="微软雅黑" panose="020B0503020204020204" pitchFamily="34" charset="-122"/>
                <a:ea typeface="微软雅黑" panose="020B0503020204020204" pitchFamily="34" charset="-122"/>
              </a:rPr>
              <a:t>3</a:t>
            </a:r>
            <a:r>
              <a:rPr lang="zh-CN" altLang="en-US" sz="3200" b="1" u="sng" dirty="0">
                <a:latin typeface="微软雅黑" panose="020B0503020204020204" pitchFamily="34" charset="-122"/>
                <a:ea typeface="微软雅黑" panose="020B0503020204020204" pitchFamily="34" charset="-122"/>
              </a:rPr>
              <a:t>个主要的调控代谢位点：</a:t>
            </a:r>
            <a:endParaRPr lang="en-US" altLang="zh-CN" sz="3200" b="1" u="sng" dirty="0">
              <a:latin typeface="微软雅黑" panose="020B0503020204020204" pitchFamily="34" charset="-122"/>
              <a:ea typeface="微软雅黑" panose="020B0503020204020204" pitchFamily="34" charset="-122"/>
            </a:endParaRPr>
          </a:p>
          <a:p>
            <a:pPr marL="285750" indent="-285750">
              <a:lnSpc>
                <a:spcPct val="150000"/>
              </a:lnSpc>
              <a:spcBef>
                <a:spcPts val="600"/>
              </a:spcBef>
              <a:buFont typeface="Arial" panose="020B0604020202020204" pitchFamily="34" charset="0"/>
              <a:buChar char="•"/>
            </a:pPr>
            <a:r>
              <a:rPr lang="zh-CN" altLang="en-US" sz="2800" b="1" dirty="0">
                <a:solidFill>
                  <a:srgbClr val="FF0000"/>
                </a:solidFill>
                <a:latin typeface="微软雅黑" panose="020B0503020204020204" pitchFamily="34" charset="-122"/>
                <a:ea typeface="微软雅黑" panose="020B0503020204020204" pitchFamily="34" charset="-122"/>
              </a:rPr>
              <a:t>脂肪动员</a:t>
            </a:r>
            <a:r>
              <a:rPr lang="zh-CN" altLang="en-US" sz="2800" dirty="0">
                <a:solidFill>
                  <a:srgbClr val="FF0000"/>
                </a:solidFill>
                <a:latin typeface="微软雅黑" panose="020B0503020204020204" pitchFamily="34" charset="-122"/>
                <a:ea typeface="微软雅黑" panose="020B0503020204020204" pitchFamily="34" charset="-122"/>
              </a:rPr>
              <a:t>：激素敏感性脂肪酶</a:t>
            </a:r>
            <a:r>
              <a:rPr lang="zh-CN" altLang="en-US" sz="2800" dirty="0" smtClean="0">
                <a:solidFill>
                  <a:srgbClr val="FF0000"/>
                </a:solidFill>
                <a:latin typeface="微软雅黑" panose="020B0503020204020204" pitchFamily="34" charset="-122"/>
                <a:ea typeface="微软雅黑" panose="020B0503020204020204" pitchFamily="34" charset="-122"/>
              </a:rPr>
              <a:t>；</a:t>
            </a:r>
            <a:endParaRPr lang="en-US" altLang="zh-CN" sz="2800" dirty="0">
              <a:solidFill>
                <a:srgbClr val="FF0000"/>
              </a:solidFill>
              <a:latin typeface="微软雅黑" panose="020B0503020204020204" pitchFamily="34" charset="-122"/>
              <a:ea typeface="微软雅黑" panose="020B0503020204020204" pitchFamily="34" charset="-122"/>
            </a:endParaRPr>
          </a:p>
          <a:p>
            <a:pPr marL="285750" indent="-285750">
              <a:lnSpc>
                <a:spcPct val="150000"/>
              </a:lnSpc>
              <a:spcBef>
                <a:spcPts val="600"/>
              </a:spcBef>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脂肪酸分解</a:t>
            </a:r>
            <a:r>
              <a:rPr lang="zh-CN" altLang="en-US" sz="2800" dirty="0">
                <a:latin typeface="微软雅黑" panose="020B0503020204020204" pitchFamily="34" charset="-122"/>
                <a:ea typeface="微软雅黑" panose="020B0503020204020204" pitchFamily="34" charset="-122"/>
              </a:rPr>
              <a:t>：肉碱脂酰转移酶</a:t>
            </a:r>
            <a:r>
              <a:rPr lang="en-US" altLang="zh-CN" sz="2800" dirty="0">
                <a:latin typeface="微软雅黑" panose="020B0503020204020204" pitchFamily="34" charset="-122"/>
                <a:ea typeface="微软雅黑" panose="020B0503020204020204" pitchFamily="34" charset="-122"/>
              </a:rPr>
              <a:t>I</a:t>
            </a:r>
            <a:r>
              <a:rPr lang="zh-CN" altLang="en-US" sz="2800" dirty="0">
                <a:latin typeface="微软雅黑" panose="020B0503020204020204" pitchFamily="34" charset="-122"/>
                <a:ea typeface="微软雅黑" panose="020B0503020204020204" pitchFamily="34" charset="-122"/>
              </a:rPr>
              <a:t>；</a:t>
            </a:r>
            <a:endParaRPr lang="en-US" altLang="zh-CN" sz="28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2800" b="1" dirty="0">
                <a:latin typeface="微软雅黑" panose="020B0503020204020204" pitchFamily="34" charset="-122"/>
                <a:ea typeface="微软雅黑" panose="020B0503020204020204" pitchFamily="34" charset="-122"/>
              </a:rPr>
              <a:t>脂肪酸合成</a:t>
            </a:r>
            <a:r>
              <a:rPr lang="zh-CN" altLang="en-US" sz="2800" dirty="0">
                <a:latin typeface="微软雅黑" panose="020B0503020204020204" pitchFamily="34" charset="-122"/>
                <a:ea typeface="微软雅黑" panose="020B0503020204020204" pitchFamily="34" charset="-122"/>
              </a:rPr>
              <a:t>：乙酰</a:t>
            </a:r>
            <a:r>
              <a:rPr lang="en-US" altLang="zh-CN" sz="2800" dirty="0">
                <a:latin typeface="微软雅黑" panose="020B0503020204020204" pitchFamily="34" charset="-122"/>
                <a:ea typeface="微软雅黑" panose="020B0503020204020204" pitchFamily="34" charset="-122"/>
              </a:rPr>
              <a:t>CoA</a:t>
            </a:r>
            <a:r>
              <a:rPr lang="zh-CN" altLang="en-US" sz="2800" dirty="0">
                <a:latin typeface="微软雅黑" panose="020B0503020204020204" pitchFamily="34" charset="-122"/>
                <a:ea typeface="微软雅黑" panose="020B0503020204020204" pitchFamily="34" charset="-122"/>
              </a:rPr>
              <a:t>羧化酶。</a:t>
            </a:r>
            <a:endParaRPr lang="en-US" altLang="zh-CN" sz="2800" dirty="0">
              <a:latin typeface="微软雅黑" panose="020B0503020204020204" pitchFamily="34" charset="-122"/>
              <a:ea typeface="微软雅黑" panose="020B0503020204020204" pitchFamily="34" charset="-122"/>
            </a:endParaRPr>
          </a:p>
          <a:p>
            <a:pPr>
              <a:lnSpc>
                <a:spcPct val="150000"/>
              </a:lnSpc>
              <a:spcBef>
                <a:spcPts val="600"/>
              </a:spcBef>
            </a:pPr>
            <a:r>
              <a:rPr lang="en-US" altLang="zh-CN" sz="2800" b="1" u="sng" dirty="0">
                <a:latin typeface="微软雅黑" panose="020B0503020204020204" pitchFamily="34" charset="-122"/>
                <a:ea typeface="微软雅黑" panose="020B0503020204020204" pitchFamily="34" charset="-122"/>
              </a:rPr>
              <a:t>2</a:t>
            </a:r>
            <a:r>
              <a:rPr lang="zh-CN" altLang="en-US" sz="2800" b="1" u="sng" dirty="0">
                <a:latin typeface="微软雅黑" panose="020B0503020204020204" pitchFamily="34" charset="-122"/>
                <a:ea typeface="微软雅黑" panose="020B0503020204020204" pitchFamily="34" charset="-122"/>
              </a:rPr>
              <a:t>个层面的调控</a:t>
            </a:r>
            <a:r>
              <a:rPr lang="en-US" altLang="zh-CN" sz="2800" b="1" u="sng" dirty="0">
                <a:latin typeface="微软雅黑" panose="020B0503020204020204" pitchFamily="34" charset="-122"/>
                <a:ea typeface="微软雅黑" panose="020B0503020204020204" pitchFamily="34" charset="-122"/>
              </a:rPr>
              <a:t>:</a:t>
            </a:r>
          </a:p>
          <a:p>
            <a:pPr marL="285750" indent="-285750">
              <a:lnSpc>
                <a:spcPct val="150000"/>
              </a:lnSpc>
              <a:spcBef>
                <a:spcPts val="600"/>
              </a:spcBef>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激素水平；</a:t>
            </a:r>
            <a:endParaRPr lang="en-US" altLang="zh-CN" sz="2800" dirty="0">
              <a:latin typeface="微软雅黑" panose="020B0503020204020204" pitchFamily="34" charset="-122"/>
              <a:ea typeface="微软雅黑" panose="020B0503020204020204" pitchFamily="34" charset="-122"/>
            </a:endParaRPr>
          </a:p>
          <a:p>
            <a:pPr marL="285750" indent="-285750">
              <a:lnSpc>
                <a:spcPct val="150000"/>
              </a:lnSpc>
              <a:spcBef>
                <a:spcPts val="600"/>
              </a:spcBef>
              <a:buFont typeface="Arial" panose="020B0604020202020204" pitchFamily="34" charset="0"/>
              <a:buChar char="•"/>
            </a:pPr>
            <a:r>
              <a:rPr lang="zh-CN" altLang="en-US" sz="2800" dirty="0">
                <a:latin typeface="微软雅黑" panose="020B0503020204020204" pitchFamily="34" charset="-122"/>
                <a:ea typeface="微软雅黑" panose="020B0503020204020204" pitchFamily="34" charset="-122"/>
              </a:rPr>
              <a:t>代谢物水平。</a:t>
            </a:r>
          </a:p>
        </p:txBody>
      </p:sp>
      <p:sp>
        <p:nvSpPr>
          <p:cNvPr id="3" name="文本框 2"/>
          <p:cNvSpPr txBox="1"/>
          <p:nvPr/>
        </p:nvSpPr>
        <p:spPr>
          <a:xfrm>
            <a:off x="10269220" y="466090"/>
            <a:ext cx="4064000" cy="368300"/>
          </a:xfrm>
          <a:prstGeom prst="rect">
            <a:avLst/>
          </a:prstGeom>
          <a:noFill/>
        </p:spPr>
        <p:txBody>
          <a:bodyPr wrap="square" rtlCol="0">
            <a:spAutoFit/>
          </a:bodyPr>
          <a:lstStyle/>
          <a:p>
            <a:endParaRPr lang="zh-CN" altLang="en-US"/>
          </a:p>
        </p:txBody>
      </p:sp>
    </p:spTree>
  </p:cSld>
  <p:clrMapOvr>
    <a:masterClrMapping/>
  </p:clrMapOvr>
  <p:transition>
    <p:rand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520767" y="617086"/>
            <a:ext cx="6127421" cy="1674626"/>
          </a:xfrm>
          <a:prstGeom prst="rect">
            <a:avLst/>
          </a:prstGeom>
        </p:spPr>
        <p:txBody>
          <a:bodyPr wrap="square">
            <a:spAutoFit/>
          </a:bodyPr>
          <a:lstStyle/>
          <a:p>
            <a:pPr>
              <a:lnSpc>
                <a:spcPct val="150000"/>
              </a:lnSpc>
              <a:spcBef>
                <a:spcPts val="600"/>
              </a:spcBef>
            </a:pPr>
            <a:r>
              <a:rPr lang="zh-CN" altLang="en-US" sz="2800" b="1" dirty="0">
                <a:latin typeface="微软雅黑" panose="020B0503020204020204" pitchFamily="34" charset="-122"/>
                <a:ea typeface="微软雅黑" panose="020B0503020204020204" pitchFamily="34" charset="-122"/>
                <a:cs typeface="Times New Roman" panose="02020603050405020304" pitchFamily="18" charset="0"/>
              </a:rPr>
              <a:t>代谢物的调节作用 </a:t>
            </a:r>
            <a:endParaRPr lang="en-US" altLang="zh-CN" sz="2800" b="1"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spcBef>
                <a:spcPts val="600"/>
              </a:spcBef>
              <a:buFont typeface="Arial" panose="020B0604020202020204" pitchFamily="34" charset="0"/>
              <a:buChar char="•"/>
            </a:pP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spcBef>
                <a:spcPts val="600"/>
              </a:spcBef>
              <a:buFont typeface="Arial" panose="020B0604020202020204" pitchFamily="34" charset="0"/>
              <a:buChar char="•"/>
            </a:pP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 name="矩形 1"/>
          <p:cNvSpPr/>
          <p:nvPr/>
        </p:nvSpPr>
        <p:spPr>
          <a:xfrm>
            <a:off x="2348494" y="1498596"/>
            <a:ext cx="6127421" cy="3707765"/>
          </a:xfrm>
          <a:prstGeom prst="rect">
            <a:avLst/>
          </a:prstGeom>
          <a:ln>
            <a:noFill/>
          </a:ln>
        </p:spPr>
        <p:txBody>
          <a:bodyPr wrap="square">
            <a:spAutoFit/>
          </a:bodyPr>
          <a:lstStyle/>
          <a:p>
            <a:pPr marL="285750" indent="-285750">
              <a:lnSpc>
                <a:spcPct val="150000"/>
              </a:lnSpc>
              <a:spcBef>
                <a:spcPts val="600"/>
              </a:spcBef>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乙酰</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CoA</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羧化酶（脂肪酸合成）：</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spcBef>
                <a:spcPts val="600"/>
              </a:spcBef>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抑制剂：软脂酰</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CoA</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及其他长链脂酰</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CoA </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  </a:t>
            </a:r>
          </a:p>
          <a:p>
            <a:pPr marL="285750" indent="-285750">
              <a:lnSpc>
                <a:spcPct val="150000"/>
              </a:lnSpc>
              <a:spcBef>
                <a:spcPts val="600"/>
              </a:spcBef>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激活剂：柠檬酸、异柠檬酸</a:t>
            </a:r>
          </a:p>
          <a:p>
            <a:pPr marL="285750" indent="-285750">
              <a:lnSpc>
                <a:spcPct val="150000"/>
              </a:lnSpc>
              <a:spcBef>
                <a:spcPts val="600"/>
              </a:spcBef>
              <a:buFont typeface="Arial" panose="020B0604020202020204" pitchFamily="34" charset="0"/>
              <a:buChar char="•"/>
            </a:pP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spcBef>
                <a:spcPts val="600"/>
              </a:spcBef>
              <a:buFont typeface="Arial" panose="020B0604020202020204" pitchFamily="34" charset="0"/>
              <a:buChar char="•"/>
            </a:pP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肉碱脂酰转移酶</a:t>
            </a:r>
            <a:r>
              <a:rPr lang="en-US" altLang="zh-CN" sz="2400" b="1" dirty="0">
                <a:latin typeface="微软雅黑" panose="020B0503020204020204" pitchFamily="34" charset="-122"/>
                <a:ea typeface="微软雅黑" panose="020B0503020204020204" pitchFamily="34" charset="-122"/>
                <a:cs typeface="Times New Roman" panose="02020603050405020304" pitchFamily="18" charset="0"/>
              </a:rPr>
              <a:t>I</a:t>
            </a:r>
            <a:r>
              <a:rPr lang="zh-CN" altLang="en-US" sz="2400" b="1" dirty="0">
                <a:latin typeface="微软雅黑" panose="020B0503020204020204" pitchFamily="34" charset="-122"/>
                <a:ea typeface="微软雅黑" panose="020B0503020204020204" pitchFamily="34" charset="-122"/>
                <a:cs typeface="Times New Roman" panose="02020603050405020304" pitchFamily="18" charset="0"/>
              </a:rPr>
              <a:t>（脂肪酸转运，分解）：</a:t>
            </a:r>
            <a:endParaRPr lang="en-US" altLang="zh-CN" sz="2400" b="1"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50000"/>
              </a:lnSpc>
              <a:spcBef>
                <a:spcPts val="600"/>
              </a:spcBef>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抑制剂：丙二酸单酰</a:t>
            </a:r>
            <a:r>
              <a:rPr lang="en-US" altLang="zh-CN" sz="2400" dirty="0">
                <a:latin typeface="微软雅黑" panose="020B0503020204020204" pitchFamily="34" charset="-122"/>
                <a:ea typeface="微软雅黑" panose="020B0503020204020204" pitchFamily="34" charset="-122"/>
              </a:rPr>
              <a:t>CoA</a:t>
            </a:r>
          </a:p>
        </p:txBody>
      </p:sp>
    </p:spTree>
  </p:cSld>
  <p:clrMapOvr>
    <a:masterClrMapping/>
  </p:clrMapOvr>
  <p:transition>
    <p:rand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77886" y="5469193"/>
            <a:ext cx="11737080" cy="923330"/>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These families are classified in terms of their </a:t>
            </a:r>
            <a:r>
              <a:rPr lang="zh-CN" altLang="en-US" b="1" dirty="0">
                <a:latin typeface="Times New Roman" panose="02020603050405020304" pitchFamily="18" charset="0"/>
                <a:ea typeface="微软雅黑" panose="020B0503020204020204" pitchFamily="34" charset="-122"/>
                <a:cs typeface="Times New Roman" panose="02020603050405020304" pitchFamily="18" charset="0"/>
              </a:rPr>
              <a:t>density</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 as determined by centrifugation</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a:t>
            </a:r>
          </a:p>
          <a:p>
            <a:pPr marL="285750" indent="-285750">
              <a:lnSpc>
                <a:spcPct val="150000"/>
              </a:lnSpc>
              <a:buFont typeface="Arial" panose="020B0604020202020204" pitchFamily="34" charset="0"/>
              <a:buChar char="•"/>
            </a:pP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Chylomicron:</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乳糜微粒</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VLDL:</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极低密度脂蛋白</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IDL:</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中低密度脂蛋白</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LDL:</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低密度脂蛋白</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 HDL:</a:t>
            </a:r>
            <a:r>
              <a:rPr lang="zh-CN" altLang="en-US" dirty="0">
                <a:latin typeface="Times New Roman" panose="02020603050405020304" pitchFamily="18" charset="0"/>
                <a:ea typeface="微软雅黑" panose="020B0503020204020204" pitchFamily="34" charset="-122"/>
                <a:cs typeface="Times New Roman" panose="02020603050405020304" pitchFamily="18" charset="0"/>
              </a:rPr>
              <a:t>高密度脂蛋白。</a:t>
            </a:r>
          </a:p>
        </p:txBody>
      </p:sp>
      <p:grpSp>
        <p:nvGrpSpPr>
          <p:cNvPr id="7" name="组合 6"/>
          <p:cNvGrpSpPr/>
          <p:nvPr/>
        </p:nvGrpSpPr>
        <p:grpSpPr>
          <a:xfrm>
            <a:off x="635379" y="560417"/>
            <a:ext cx="12507543" cy="4783002"/>
            <a:chOff x="1659074" y="1946874"/>
            <a:chExt cx="10012136" cy="3168000"/>
          </a:xfrm>
        </p:grpSpPr>
        <p:sp>
          <p:nvSpPr>
            <p:cNvPr id="16" name="文本框 857092"/>
            <p:cNvSpPr txBox="1">
              <a:spLocks noChangeArrowheads="1"/>
            </p:cNvSpPr>
            <p:nvPr/>
          </p:nvSpPr>
          <p:spPr bwMode="auto">
            <a:xfrm>
              <a:off x="5041810" y="3429003"/>
              <a:ext cx="6629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lgn="ctr">
                <a:defRPr sz="7200">
                  <a:solidFill>
                    <a:schemeClr val="accent2"/>
                  </a:solidFill>
                  <a:latin typeface="Times New Roman" panose="02020603050405020304" pitchFamily="18" charset="0"/>
                  <a:ea typeface="宋体" panose="02010600030101010101" pitchFamily="2" charset="-122"/>
                </a:defRPr>
              </a:lvl1pPr>
              <a:lvl2pPr algn="ctr">
                <a:defRPr sz="7200">
                  <a:solidFill>
                    <a:schemeClr val="accent2"/>
                  </a:solidFill>
                  <a:latin typeface="Times New Roman" panose="02020603050405020304" pitchFamily="18" charset="0"/>
                  <a:ea typeface="宋体" panose="02010600030101010101" pitchFamily="2" charset="-122"/>
                </a:defRPr>
              </a:lvl2pPr>
              <a:lvl3pPr algn="ctr">
                <a:defRPr sz="7200">
                  <a:solidFill>
                    <a:schemeClr val="accent2"/>
                  </a:solidFill>
                  <a:latin typeface="Times New Roman" panose="02020603050405020304" pitchFamily="18" charset="0"/>
                  <a:ea typeface="宋体" panose="02010600030101010101" pitchFamily="2" charset="-122"/>
                </a:defRPr>
              </a:lvl3pPr>
              <a:lvl4pPr algn="ctr">
                <a:defRPr sz="7200">
                  <a:solidFill>
                    <a:schemeClr val="accent2"/>
                  </a:solidFill>
                  <a:latin typeface="Times New Roman" panose="02020603050405020304" pitchFamily="18" charset="0"/>
                  <a:ea typeface="宋体" panose="02010600030101010101" pitchFamily="2" charset="-122"/>
                </a:defRPr>
              </a:lvl4pPr>
              <a:lvl5pPr algn="ctr">
                <a:defRPr sz="7200">
                  <a:solidFill>
                    <a:schemeClr val="accent2"/>
                  </a:solidFill>
                  <a:latin typeface="Times New Roman" panose="02020603050405020304" pitchFamily="18" charset="0"/>
                  <a:ea typeface="宋体" panose="02010600030101010101" pitchFamily="2" charset="-122"/>
                </a:defRPr>
              </a:lvl5pPr>
              <a:lvl6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6pPr>
              <a:lvl7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7pPr>
              <a:lvl8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8pPr>
              <a:lvl9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9pPr>
            </a:lstStyle>
            <a:p>
              <a:pPr marL="0" indent="0" algn="just">
                <a:spcBef>
                  <a:spcPct val="50000"/>
                </a:spcBef>
              </a:pPr>
              <a:endParaRPr lang="zh-CN" altLang="en-US" sz="2400" b="1" dirty="0">
                <a:solidFill>
                  <a:schemeClr val="tx1"/>
                </a:solidFill>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3"/>
            <a:stretch>
              <a:fillRect/>
            </a:stretch>
          </p:blipFill>
          <p:spPr>
            <a:xfrm>
              <a:off x="1659074" y="1946874"/>
              <a:ext cx="8873852" cy="3168000"/>
            </a:xfrm>
            <a:prstGeom prst="rect">
              <a:avLst/>
            </a:prstGeom>
            <a:ln>
              <a:solidFill>
                <a:schemeClr val="tx1"/>
              </a:solidFill>
            </a:ln>
          </p:spPr>
        </p:pic>
        <p:sp>
          <p:nvSpPr>
            <p:cNvPr id="2" name="矩形 1"/>
            <p:cNvSpPr/>
            <p:nvPr/>
          </p:nvSpPr>
          <p:spPr>
            <a:xfrm>
              <a:off x="1846336" y="2977719"/>
              <a:ext cx="8448528" cy="215615"/>
            </a:xfrm>
            <a:prstGeom prst="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474398" y="3002675"/>
              <a:ext cx="492443" cy="276999"/>
            </a:xfrm>
            <a:prstGeom prst="rect">
              <a:avLst/>
            </a:prstGeom>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1200" b="1" dirty="0">
                  <a:solidFill>
                    <a:srgbClr val="FF0000"/>
                  </a:solidFill>
                  <a:latin typeface="微软雅黑" panose="020B0503020204020204" pitchFamily="34" charset="-122"/>
                  <a:ea typeface="微软雅黑" panose="020B0503020204020204" pitchFamily="34" charset="-122"/>
                </a:rPr>
                <a:t>蛋白</a:t>
              </a:r>
            </a:p>
          </p:txBody>
        </p:sp>
        <p:sp>
          <p:nvSpPr>
            <p:cNvPr id="11" name="矩形 10"/>
            <p:cNvSpPr/>
            <p:nvPr/>
          </p:nvSpPr>
          <p:spPr>
            <a:xfrm>
              <a:off x="2865502" y="3159078"/>
              <a:ext cx="800219" cy="276999"/>
            </a:xfrm>
            <a:prstGeom prst="rect">
              <a:avLst/>
            </a:prstGeom>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1200" b="1" dirty="0">
                  <a:solidFill>
                    <a:srgbClr val="FF0000"/>
                  </a:solidFill>
                  <a:latin typeface="微软雅黑" panose="020B0503020204020204" pitchFamily="34" charset="-122"/>
                  <a:ea typeface="微软雅黑" panose="020B0503020204020204" pitchFamily="34" charset="-122"/>
                </a:rPr>
                <a:t>甘油三酯</a:t>
              </a:r>
            </a:p>
          </p:txBody>
        </p:sp>
        <p:sp>
          <p:nvSpPr>
            <p:cNvPr id="15" name="矩形 14"/>
            <p:cNvSpPr/>
            <p:nvPr/>
          </p:nvSpPr>
          <p:spPr>
            <a:xfrm>
              <a:off x="2927351" y="3371130"/>
              <a:ext cx="646331" cy="276999"/>
            </a:xfrm>
            <a:prstGeom prst="rect">
              <a:avLst/>
            </a:prstGeom>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1200" b="1" dirty="0">
                  <a:solidFill>
                    <a:srgbClr val="FF0000"/>
                  </a:solidFill>
                  <a:latin typeface="微软雅黑" panose="020B0503020204020204" pitchFamily="34" charset="-122"/>
                  <a:ea typeface="微软雅黑" panose="020B0503020204020204" pitchFamily="34" charset="-122"/>
                </a:rPr>
                <a:t>胆固醇</a:t>
              </a:r>
            </a:p>
          </p:txBody>
        </p:sp>
        <p:sp>
          <p:nvSpPr>
            <p:cNvPr id="17" name="矩形 16"/>
            <p:cNvSpPr/>
            <p:nvPr/>
          </p:nvSpPr>
          <p:spPr>
            <a:xfrm>
              <a:off x="3103308" y="3540975"/>
              <a:ext cx="800219" cy="276999"/>
            </a:xfrm>
            <a:prstGeom prst="rect">
              <a:avLst/>
            </a:prstGeom>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1200" b="1" dirty="0">
                  <a:solidFill>
                    <a:srgbClr val="FF0000"/>
                  </a:solidFill>
                  <a:latin typeface="微软雅黑" panose="020B0503020204020204" pitchFamily="34" charset="-122"/>
                  <a:ea typeface="微软雅黑" panose="020B0503020204020204" pitchFamily="34" charset="-122"/>
                </a:rPr>
                <a:t>胆固醇酯</a:t>
              </a:r>
            </a:p>
          </p:txBody>
        </p:sp>
        <p:sp>
          <p:nvSpPr>
            <p:cNvPr id="18" name="矩形 17"/>
            <p:cNvSpPr/>
            <p:nvPr/>
          </p:nvSpPr>
          <p:spPr>
            <a:xfrm>
              <a:off x="2865502" y="3754073"/>
              <a:ext cx="492443" cy="276999"/>
            </a:xfrm>
            <a:prstGeom prst="rect">
              <a:avLst/>
            </a:prstGeom>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1200" b="1" dirty="0">
                  <a:solidFill>
                    <a:srgbClr val="FF0000"/>
                  </a:solidFill>
                  <a:latin typeface="微软雅黑" panose="020B0503020204020204" pitchFamily="34" charset="-122"/>
                  <a:ea typeface="微软雅黑" panose="020B0503020204020204" pitchFamily="34" charset="-122"/>
                </a:rPr>
                <a:t>磷脂</a:t>
              </a:r>
            </a:p>
          </p:txBody>
        </p:sp>
        <p:sp>
          <p:nvSpPr>
            <p:cNvPr id="19" name="矩形 18"/>
            <p:cNvSpPr/>
            <p:nvPr/>
          </p:nvSpPr>
          <p:spPr>
            <a:xfrm>
              <a:off x="2839213" y="4082876"/>
              <a:ext cx="800219" cy="276999"/>
            </a:xfrm>
            <a:prstGeom prst="rect">
              <a:avLst/>
            </a:prstGeom>
          </p:spPr>
          <p:txBody>
            <a:bodyPr wrap="non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zh-CN" altLang="en-US" sz="1200" b="1" dirty="0">
                  <a:solidFill>
                    <a:srgbClr val="FF0000"/>
                  </a:solidFill>
                  <a:latin typeface="微软雅黑" panose="020B0503020204020204" pitchFamily="34" charset="-122"/>
                  <a:ea typeface="微软雅黑" panose="020B0503020204020204" pitchFamily="34" charset="-122"/>
                </a:rPr>
                <a:t>载脂蛋白</a:t>
              </a:r>
            </a:p>
          </p:txBody>
        </p:sp>
      </p:grpSp>
      <p:sp>
        <p:nvSpPr>
          <p:cNvPr id="6" name="文本框 5"/>
          <p:cNvSpPr txBox="1"/>
          <p:nvPr/>
        </p:nvSpPr>
        <p:spPr>
          <a:xfrm>
            <a:off x="4861222" y="-52020"/>
            <a:ext cx="3754506" cy="646331"/>
          </a:xfrm>
          <a:prstGeom prst="rect">
            <a:avLst/>
          </a:prstGeom>
        </p:spPr>
        <p:txBody>
          <a:bodyPr wrap="square">
            <a:spAutoFit/>
          </a:bodyPr>
          <a:lstStyle>
            <a:defPPr>
              <a:defRPr lang="en-US"/>
            </a:defPPr>
            <a:lvl1pPr>
              <a:lnSpc>
                <a:spcPct val="100000"/>
              </a:lnSpc>
              <a:defRPr sz="3600" b="1">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cs typeface="Times New Roman" panose="02020603050405020304" pitchFamily="18" charset="0"/>
              </a:rPr>
              <a:t>脂蛋白</a:t>
            </a:r>
            <a:r>
              <a:rPr lang="zh-CN" altLang="en-US" dirty="0" smtClean="0">
                <a:cs typeface="Times New Roman" panose="02020603050405020304" pitchFamily="18" charset="0"/>
              </a:rPr>
              <a:t>种类</a:t>
            </a:r>
            <a:endParaRPr lang="en-US" altLang="zh-CN" dirty="0">
              <a:cs typeface="Times New Roman" panose="02020603050405020304" pitchFamily="18" charset="0"/>
            </a:endParaRPr>
          </a:p>
        </p:txBody>
      </p:sp>
    </p:spTree>
  </p:cSld>
  <p:clrMapOvr>
    <a:masterClrMapping/>
  </p:clrMapOvr>
  <p:transition>
    <p:rand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857092"/>
          <p:cNvSpPr txBox="1">
            <a:spLocks noChangeArrowheads="1"/>
          </p:cNvSpPr>
          <p:nvPr/>
        </p:nvSpPr>
        <p:spPr bwMode="auto">
          <a:xfrm>
            <a:off x="5041810" y="3429003"/>
            <a:ext cx="6629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lgn="ctr">
              <a:defRPr sz="7200">
                <a:solidFill>
                  <a:schemeClr val="accent2"/>
                </a:solidFill>
                <a:latin typeface="Times New Roman" panose="02020603050405020304" pitchFamily="18" charset="0"/>
                <a:ea typeface="宋体" panose="02010600030101010101" pitchFamily="2" charset="-122"/>
              </a:defRPr>
            </a:lvl1pPr>
            <a:lvl2pPr algn="ctr">
              <a:defRPr sz="7200">
                <a:solidFill>
                  <a:schemeClr val="accent2"/>
                </a:solidFill>
                <a:latin typeface="Times New Roman" panose="02020603050405020304" pitchFamily="18" charset="0"/>
                <a:ea typeface="宋体" panose="02010600030101010101" pitchFamily="2" charset="-122"/>
              </a:defRPr>
            </a:lvl2pPr>
            <a:lvl3pPr algn="ctr">
              <a:defRPr sz="7200">
                <a:solidFill>
                  <a:schemeClr val="accent2"/>
                </a:solidFill>
                <a:latin typeface="Times New Roman" panose="02020603050405020304" pitchFamily="18" charset="0"/>
                <a:ea typeface="宋体" panose="02010600030101010101" pitchFamily="2" charset="-122"/>
              </a:defRPr>
            </a:lvl3pPr>
            <a:lvl4pPr algn="ctr">
              <a:defRPr sz="7200">
                <a:solidFill>
                  <a:schemeClr val="accent2"/>
                </a:solidFill>
                <a:latin typeface="Times New Roman" panose="02020603050405020304" pitchFamily="18" charset="0"/>
                <a:ea typeface="宋体" panose="02010600030101010101" pitchFamily="2" charset="-122"/>
              </a:defRPr>
            </a:lvl4pPr>
            <a:lvl5pPr algn="ctr">
              <a:defRPr sz="7200">
                <a:solidFill>
                  <a:schemeClr val="accent2"/>
                </a:solidFill>
                <a:latin typeface="Times New Roman" panose="02020603050405020304" pitchFamily="18" charset="0"/>
                <a:ea typeface="宋体" panose="02010600030101010101" pitchFamily="2" charset="-122"/>
              </a:defRPr>
            </a:lvl5pPr>
            <a:lvl6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6pPr>
            <a:lvl7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7pPr>
            <a:lvl8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8pPr>
            <a:lvl9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9pPr>
          </a:lstStyle>
          <a:p>
            <a:pPr marL="0" indent="0" algn="just">
              <a:spcBef>
                <a:spcPct val="50000"/>
              </a:spcBef>
            </a:pPr>
            <a:endParaRPr lang="zh-CN" altLang="en-US" sz="2400" b="1" dirty="0">
              <a:solidFill>
                <a:schemeClr val="tx1"/>
              </a:solidFill>
              <a:latin typeface="黑体" panose="02010609060101010101" pitchFamily="49" charset="-122"/>
              <a:ea typeface="黑体" panose="02010609060101010101" pitchFamily="49" charset="-122"/>
            </a:endParaRPr>
          </a:p>
        </p:txBody>
      </p:sp>
      <p:graphicFrame>
        <p:nvGraphicFramePr>
          <p:cNvPr id="63539" name="Group 51"/>
          <p:cNvGraphicFramePr>
            <a:graphicFrameLocks noGrp="1"/>
          </p:cNvGraphicFramePr>
          <p:nvPr>
            <p:custDataLst>
              <p:tags r:id="rId1"/>
            </p:custDataLst>
            <p:extLst>
              <p:ext uri="{D42A27DB-BD31-4B8C-83A1-F6EECF244321}">
                <p14:modId xmlns:p14="http://schemas.microsoft.com/office/powerpoint/2010/main" val="561103339"/>
              </p:ext>
            </p:extLst>
          </p:nvPr>
        </p:nvGraphicFramePr>
        <p:xfrm>
          <a:off x="66106" y="401443"/>
          <a:ext cx="12055270" cy="5731727"/>
        </p:xfrm>
        <a:graphic>
          <a:graphicData uri="http://schemas.openxmlformats.org/drawingml/2006/table">
            <a:tbl>
              <a:tblPr/>
              <a:tblGrid>
                <a:gridCol w="1042921"/>
                <a:gridCol w="1522661"/>
                <a:gridCol w="1632028"/>
                <a:gridCol w="1516291"/>
                <a:gridCol w="1262879"/>
                <a:gridCol w="1769702"/>
                <a:gridCol w="3308788"/>
              </a:tblGrid>
              <a:tr h="907633">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en-US"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种类</a:t>
                      </a:r>
                    </a:p>
                  </a:txBody>
                  <a:tcP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密度</a:t>
                      </a: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(kg/L)</a:t>
                      </a:r>
                    </a:p>
                  </a:txBody>
                  <a:tcP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直径</a:t>
                      </a: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(nm)</a:t>
                      </a:r>
                    </a:p>
                  </a:txBody>
                  <a:tcP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来源</a:t>
                      </a:r>
                    </a:p>
                  </a:txBody>
                  <a:tcP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主要</a:t>
                      </a: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成分</a:t>
                      </a:r>
                    </a:p>
                  </a:txBody>
                  <a:tcP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主要载</a:t>
                      </a: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脂蛋白</a:t>
                      </a:r>
                    </a:p>
                  </a:txBody>
                  <a:tcP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主要功能</a:t>
                      </a:r>
                    </a:p>
                  </a:txBody>
                  <a:tcPr horzOverflow="overflow">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23486">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CM</a:t>
                      </a:r>
                    </a:p>
                  </a:txBody>
                  <a:tcP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&lt;0.95</a:t>
                      </a:r>
                    </a:p>
                  </a:txBody>
                  <a:tcP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75</a:t>
                      </a:r>
                      <a:r>
                        <a:rPr kumimoji="0" lang="zh-CN" alt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1200</a:t>
                      </a:r>
                    </a:p>
                  </a:txBody>
                  <a:tcP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小肠</a:t>
                      </a:r>
                    </a:p>
                  </a:txBody>
                  <a:tcP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脂肪</a:t>
                      </a:r>
                    </a:p>
                  </a:txBody>
                  <a:tcP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it-IT"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a:t>
                      </a:r>
                      <a:r>
                        <a:rPr kumimoji="0" lang="it-IT" altLang="zh-CN" sz="2400" b="0" i="0" u="none" strike="noStrike" cap="none" normalizeH="0" baseline="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B-48</a:t>
                      </a:r>
                      <a:r>
                        <a:rPr kumimoji="0" lang="it-IT"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 C-I,II,III, E</a:t>
                      </a:r>
                    </a:p>
                  </a:txBody>
                  <a:tcP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运输</a:t>
                      </a:r>
                      <a:r>
                        <a:rPr kumimoji="0" lang="zh-CN" altLang="en-US" sz="2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食物中</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的脂肪和胆固醇</a:t>
                      </a:r>
                    </a:p>
                  </a:txBody>
                  <a:tcPr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noFill/>
                  </a:tcPr>
                </a:tc>
              </a:tr>
              <a:tr h="823486">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VLDL</a:t>
                      </a:r>
                    </a:p>
                  </a:txBody>
                  <a:tcP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0.95</a:t>
                      </a:r>
                      <a:r>
                        <a:rPr kumimoji="0" lang="zh-CN" alt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1.006</a:t>
                      </a:r>
                    </a:p>
                  </a:txBody>
                  <a:tcP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30</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80</a:t>
                      </a:r>
                    </a:p>
                  </a:txBody>
                  <a:tcP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肝</a:t>
                      </a:r>
                    </a:p>
                  </a:txBody>
                  <a:tcP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脂肪</a:t>
                      </a:r>
                    </a:p>
                  </a:txBody>
                  <a:tcP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B-100, </a:t>
                      </a:r>
                    </a:p>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C-I,II,III, E</a:t>
                      </a:r>
                    </a:p>
                  </a:txBody>
                  <a:tcP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运输</a:t>
                      </a:r>
                      <a:r>
                        <a:rPr kumimoji="0" lang="zh-CN" altLang="en-US" sz="2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内源的</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脂肪</a:t>
                      </a:r>
                    </a:p>
                  </a:txBody>
                  <a:tcPr horzOverflow="overflow">
                    <a:lnL>
                      <a:noFill/>
                    </a:lnL>
                    <a:lnR>
                      <a:noFill/>
                    </a:lnR>
                    <a:lnT>
                      <a:noFill/>
                    </a:lnT>
                    <a:lnB>
                      <a:noFill/>
                    </a:lnB>
                    <a:lnTlToBr>
                      <a:noFill/>
                    </a:lnTlToBr>
                    <a:lnBlToTr>
                      <a:noFill/>
                    </a:lnBlToTr>
                    <a:noFill/>
                  </a:tcPr>
                </a:tc>
              </a:tr>
              <a:tr h="1177226">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IDL</a:t>
                      </a:r>
                    </a:p>
                  </a:txBody>
                  <a:tcP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1.006</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1.019</a:t>
                      </a:r>
                    </a:p>
                  </a:txBody>
                  <a:tcP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25</a:t>
                      </a:r>
                      <a:r>
                        <a:rPr kumimoji="0" lang="zh-CN" alt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35</a:t>
                      </a:r>
                    </a:p>
                  </a:txBody>
                  <a:tcP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VLDL</a:t>
                      </a: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部分降解</a:t>
                      </a:r>
                    </a:p>
                  </a:txBody>
                  <a:tcP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脂肪，胆固醇</a:t>
                      </a:r>
                    </a:p>
                  </a:txBody>
                  <a:tcP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B-100, E</a:t>
                      </a:r>
                    </a:p>
                  </a:txBody>
                  <a:tcP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一部分被肝吸收，一部分转变为</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LDL</a:t>
                      </a:r>
                    </a:p>
                  </a:txBody>
                  <a:tcPr horzOverflow="overflow">
                    <a:lnL>
                      <a:noFill/>
                    </a:lnL>
                    <a:lnR>
                      <a:noFill/>
                    </a:lnR>
                    <a:lnT>
                      <a:noFill/>
                    </a:lnT>
                    <a:lnB>
                      <a:noFill/>
                    </a:lnB>
                    <a:lnTlToBr>
                      <a:noFill/>
                    </a:lnTlToBr>
                    <a:lnBlToTr>
                      <a:noFill/>
                    </a:lnBlToTr>
                    <a:noFill/>
                  </a:tcPr>
                </a:tc>
              </a:tr>
              <a:tr h="823486">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LDL</a:t>
                      </a:r>
                    </a:p>
                  </a:txBody>
                  <a:tcP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1.019</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1.063</a:t>
                      </a:r>
                    </a:p>
                  </a:txBody>
                  <a:tcP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18</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25</a:t>
                      </a:r>
                    </a:p>
                  </a:txBody>
                  <a:tcP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IDL</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部</a:t>
                      </a:r>
                    </a:p>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分降解</a:t>
                      </a:r>
                    </a:p>
                  </a:txBody>
                  <a:tcP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胆固醇</a:t>
                      </a:r>
                    </a:p>
                  </a:txBody>
                  <a:tcP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B-100</a:t>
                      </a:r>
                    </a:p>
                  </a:txBody>
                  <a:tcPr horzOverflow="overflow">
                    <a:lnL>
                      <a:noFill/>
                    </a:lnL>
                    <a:lnR>
                      <a:noFill/>
                    </a:lnR>
                    <a:lnT>
                      <a:noFill/>
                    </a:lnT>
                    <a:lnB>
                      <a:noFill/>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Times New Roman" panose="02020603050405020304" pitchFamily="18" charset="0"/>
                        </a:rPr>
                        <a:t>将胆固醇转运到外周组织</a:t>
                      </a:r>
                    </a:p>
                  </a:txBody>
                  <a:tcPr horzOverflow="overflow">
                    <a:lnL>
                      <a:noFill/>
                    </a:lnL>
                    <a:lnR>
                      <a:noFill/>
                    </a:lnR>
                    <a:lnT>
                      <a:noFill/>
                    </a:lnT>
                    <a:lnB>
                      <a:noFill/>
                    </a:lnB>
                    <a:lnTlToBr>
                      <a:noFill/>
                    </a:lnTlToBr>
                    <a:lnBlToTr>
                      <a:noFill/>
                    </a:lnBlToTr>
                    <a:noFill/>
                  </a:tcPr>
                </a:tc>
              </a:tr>
              <a:tr h="1176410">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HDL</a:t>
                      </a: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1.063</a:t>
                      </a:r>
                      <a:r>
                        <a:rPr kumimoji="0" lang="zh-CN" alt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1.210</a:t>
                      </a: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5</a:t>
                      </a:r>
                      <a:r>
                        <a:rPr kumimoji="0" lang="zh-CN" alt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a:t>
                      </a:r>
                      <a:r>
                        <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12</a:t>
                      </a: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肝</a:t>
                      </a: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蛋白质</a:t>
                      </a: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it-IT"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 C-I,II,III, </a:t>
                      </a:r>
                      <a:endParaRPr kumimoji="0" lang="en-US"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pPr>
                      <a:r>
                        <a:rPr kumimoji="0" lang="it-IT" altLang="zh-CN" sz="2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D, E</a:t>
                      </a: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defRPr>
                          <a:solidFill>
                            <a:schemeClr val="tx1"/>
                          </a:solidFill>
                          <a:latin typeface="Times New Roman" panose="02020603050405020304" pitchFamily="18" charset="0"/>
                          <a:ea typeface="宋体" panose="02010600030101010101" pitchFamily="2" charset="-122"/>
                        </a:defRPr>
                      </a:lvl4pPr>
                      <a:lvl5pPr marL="2057400" indent="-228600">
                        <a:spcBef>
                          <a:spcPct val="20000"/>
                        </a:spcBef>
                        <a:defRPr>
                          <a:solidFill>
                            <a:schemeClr val="tx1"/>
                          </a:solidFill>
                          <a:latin typeface="Times New Roman" panose="02020603050405020304" pitchFamily="18" charset="0"/>
                          <a:ea typeface="宋体" panose="02010600030101010101" pitchFamily="2" charset="-122"/>
                        </a:defRPr>
                      </a:lvl5pPr>
                      <a:lvl6pPr marL="25146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6pPr>
                      <a:lvl7pPr marL="29718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7pPr>
                      <a:lvl8pPr marL="34290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8pPr>
                      <a:lvl9pPr marL="3886200" indent="-228600" fontAlgn="base">
                        <a:spcBef>
                          <a:spcPct val="20000"/>
                        </a:spcBef>
                        <a:spcAft>
                          <a:spcPct val="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0" i="0" u="none" strike="noStrike" cap="none" normalizeH="0" baseline="0" dirty="0">
                          <a:ln>
                            <a:noFill/>
                          </a:ln>
                          <a:solidFill>
                            <a:srgbClr val="FF0000"/>
                          </a:solidFill>
                          <a:effectLst/>
                          <a:latin typeface="微软雅黑" panose="020B0503020204020204" pitchFamily="34" charset="-122"/>
                          <a:ea typeface="微软雅黑" panose="020B0503020204020204" pitchFamily="34" charset="-122"/>
                          <a:cs typeface="微软雅黑" panose="020B0503020204020204" pitchFamily="34" charset="-122"/>
                        </a:rPr>
                        <a:t>胆固醇的逆向运输</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，向</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CM</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和</a:t>
                      </a:r>
                      <a:r>
                        <a:rPr kumimoji="0" lang="en-US" altLang="zh-CN"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VLDL</a:t>
                      </a:r>
                      <a:r>
                        <a:rPr kumimoji="0" lang="zh-CN" altLang="en-US" sz="2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微软雅黑" panose="020B0503020204020204" pitchFamily="34" charset="-122"/>
                        </a:rPr>
                        <a:t>提供脂蛋白</a:t>
                      </a:r>
                    </a:p>
                  </a:txBody>
                  <a:tcPr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random/>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593885" y="-74355"/>
            <a:ext cx="7222604" cy="646331"/>
          </a:xfrm>
          <a:prstGeom prst="rect">
            <a:avLst/>
          </a:prstGeom>
        </p:spPr>
        <p:txBody>
          <a:bodyPr wrap="square">
            <a:spAutoFit/>
          </a:bodyPr>
          <a:lstStyle/>
          <a:p>
            <a:r>
              <a:rPr lang="zh-CN" altLang="en-US" sz="3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胆固醇，</a:t>
            </a:r>
            <a:r>
              <a:rPr lang="en-US" altLang="zh-CN" sz="3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LDL</a:t>
            </a:r>
            <a:r>
              <a:rPr lang="zh-CN" altLang="en-US" sz="3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，动脉粥样硬化</a:t>
            </a:r>
            <a:endParaRPr lang="en-US" altLang="zh-CN" sz="3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3"/>
          <a:stretch>
            <a:fillRect/>
          </a:stretch>
        </p:blipFill>
        <p:spPr>
          <a:xfrm>
            <a:off x="6712585" y="1012190"/>
            <a:ext cx="5129530" cy="5703570"/>
          </a:xfrm>
          <a:prstGeom prst="rect">
            <a:avLst/>
          </a:prstGeom>
          <a:ln>
            <a:solidFill>
              <a:schemeClr val="tx1"/>
            </a:solidFill>
          </a:ln>
        </p:spPr>
      </p:pic>
      <p:sp>
        <p:nvSpPr>
          <p:cNvPr id="10" name="文本框 9"/>
          <p:cNvSpPr txBox="1"/>
          <p:nvPr/>
        </p:nvSpPr>
        <p:spPr>
          <a:xfrm>
            <a:off x="289560" y="1165095"/>
            <a:ext cx="6426169" cy="5397760"/>
          </a:xfrm>
          <a:prstGeom prst="rect">
            <a:avLst/>
          </a:prstGeom>
          <a:noFill/>
          <a:ln>
            <a:noFill/>
          </a:ln>
        </p:spPr>
        <p:txBody>
          <a:bodyPr wrap="square" rtlCol="0">
            <a:spAutoFit/>
          </a:bodyPr>
          <a:lstStyle/>
          <a:p>
            <a:pPr marL="285750" indent="-285750">
              <a:lnSpc>
                <a:spcPct val="150000"/>
              </a:lnSpc>
              <a:spcBef>
                <a:spcPts val="600"/>
              </a:spcBef>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高的血浆胆固醇水平（主要由</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LDL</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装载，</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LDL</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受体基因突变</a:t>
            </a:r>
            <a:r>
              <a:rPr lang="en-US" altLang="zh-CN"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ts val="600"/>
              </a:spcBef>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LDL</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在细胞和血浆中氧化</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ts val="600"/>
              </a:spcBef>
              <a:buFont typeface="Arial" panose="020B0604020202020204" pitchFamily="34" charset="0"/>
              <a:buChar char="•"/>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氧化的</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LDL</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在血管壁上的积累引发炎症反应</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ts val="600"/>
              </a:spcBef>
              <a:buFont typeface="Arial" panose="020B0604020202020204" pitchFamily="34" charset="0"/>
              <a:buChar char="•"/>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募集单核细胞和</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T</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淋巴细胞</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ts val="600"/>
              </a:spcBef>
              <a:buFont typeface="Arial" panose="020B0604020202020204" pitchFamily="34" charset="0"/>
              <a:buChar char="•"/>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分化为巨噬细胞，</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通过</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清道夫受体</a:t>
            </a: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吸收在动脉损伤部位积累的脂质。</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285750" indent="-285750">
              <a:lnSpc>
                <a:spcPct val="150000"/>
              </a:lnSpc>
              <a:spcBef>
                <a:spcPts val="600"/>
              </a:spcBef>
              <a:buFont typeface="Arial" panose="020B0604020202020204" pitchFamily="34" charset="0"/>
              <a:buChar char="•"/>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rPr>
              <a:t>清道夫受体不受胆固醇的下调</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调控，所以无限制吸收</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LDL</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，形成</a:t>
            </a:r>
            <a:r>
              <a:rPr lang="zh-CN" altLang="en-US" sz="24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泡沫细胞</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random/>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702980" y="0"/>
            <a:ext cx="9658440" cy="646331"/>
          </a:xfrm>
          <a:prstGeom prst="rect">
            <a:avLst/>
          </a:prstGeom>
        </p:spPr>
        <p:txBody>
          <a:bodyPr wrap="square">
            <a:spAutoFit/>
          </a:bodyPr>
          <a:lstStyle/>
          <a:p>
            <a:r>
              <a:rPr lang="zh-CN" altLang="en-US" sz="3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胆固醇</a:t>
            </a:r>
            <a:r>
              <a:rPr lang="en-US" altLang="zh-CN" sz="3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HDL, Tangier</a:t>
            </a:r>
            <a:r>
              <a:rPr lang="zh-CN" altLang="en-US" sz="3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疾病（冠状动脉疾病）</a:t>
            </a:r>
            <a:endParaRPr lang="en-US" altLang="zh-CN" sz="36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0" name="文本框 9"/>
          <p:cNvSpPr txBox="1"/>
          <p:nvPr/>
        </p:nvSpPr>
        <p:spPr>
          <a:xfrm>
            <a:off x="630555" y="1177290"/>
            <a:ext cx="11437620" cy="1574165"/>
          </a:xfrm>
          <a:prstGeom prst="rect">
            <a:avLst/>
          </a:prstGeom>
          <a:noFill/>
          <a:ln>
            <a:noFill/>
          </a:ln>
        </p:spPr>
        <p:txBody>
          <a:bodyPr wrap="square" rtlCol="0">
            <a:spAutoFit/>
          </a:bodyPr>
          <a:lstStyle/>
          <a:p>
            <a:pPr marL="285750" indent="-285750">
              <a:lnSpc>
                <a:spcPct val="120000"/>
              </a:lnSpc>
              <a:spcBef>
                <a:spcPts val="600"/>
              </a:spcBef>
              <a:buFont typeface="Arial" panose="020B0604020202020204" pitchFamily="34" charset="0"/>
              <a:buChar char="•"/>
            </a:pPr>
            <a:r>
              <a:rPr lang="zh-CN" altLang="en-US" sz="2400" dirty="0">
                <a:latin typeface="微软雅黑" panose="020B0503020204020204" pitchFamily="34" charset="-122"/>
                <a:ea typeface="微软雅黑" panose="020B0503020204020204" pitchFamily="34" charset="-122"/>
              </a:rPr>
              <a:t>膜蛋白</a:t>
            </a:r>
            <a:r>
              <a:rPr lang="en-US" altLang="zh-CN" sz="2400" dirty="0">
                <a:solidFill>
                  <a:srgbClr val="FF0000"/>
                </a:solidFill>
                <a:latin typeface="微软雅黑" panose="020B0503020204020204" pitchFamily="34" charset="-122"/>
                <a:ea typeface="微软雅黑" panose="020B0503020204020204" pitchFamily="34" charset="-122"/>
              </a:rPr>
              <a:t>ABCA1</a:t>
            </a:r>
            <a:r>
              <a:rPr lang="zh-CN" altLang="en-US" sz="2400" dirty="0">
                <a:latin typeface="微软雅黑" panose="020B0503020204020204" pitchFamily="34" charset="-122"/>
                <a:ea typeface="微软雅黑" panose="020B0503020204020204" pitchFamily="34" charset="-122"/>
              </a:rPr>
              <a:t>和</a:t>
            </a:r>
            <a:r>
              <a:rPr lang="en-US" altLang="zh-CN" sz="2400" dirty="0">
                <a:latin typeface="微软雅黑" panose="020B0503020204020204" pitchFamily="34" charset="-122"/>
                <a:ea typeface="微软雅黑" panose="020B0503020204020204" pitchFamily="34" charset="-122"/>
              </a:rPr>
              <a:t>ABCG1</a:t>
            </a:r>
            <a:r>
              <a:rPr lang="zh-CN" altLang="en-US" sz="2400" dirty="0">
                <a:latin typeface="微软雅黑" panose="020B0503020204020204" pitchFamily="34" charset="-122"/>
                <a:ea typeface="微软雅黑" panose="020B0503020204020204" pitchFamily="34" charset="-122"/>
              </a:rPr>
              <a:t>负责胆固醇到</a:t>
            </a:r>
            <a:r>
              <a:rPr lang="en-US" altLang="zh-CN" sz="2400" dirty="0">
                <a:latin typeface="微软雅黑" panose="020B0503020204020204" pitchFamily="34" charset="-122"/>
                <a:ea typeface="微软雅黑" panose="020B0503020204020204" pitchFamily="34" charset="-122"/>
              </a:rPr>
              <a:t>ApoA1</a:t>
            </a:r>
            <a:r>
              <a:rPr lang="zh-CN" altLang="en-US" sz="2400" dirty="0">
                <a:latin typeface="微软雅黑" panose="020B0503020204020204" pitchFamily="34" charset="-122"/>
                <a:ea typeface="微软雅黑" panose="020B0503020204020204" pitchFamily="34" charset="-122"/>
              </a:rPr>
              <a:t>（缺乏胆固醇）上，形成成熟</a:t>
            </a:r>
            <a:r>
              <a:rPr lang="en-US" altLang="zh-CN" sz="2400" dirty="0">
                <a:latin typeface="微软雅黑" panose="020B0503020204020204" pitchFamily="34" charset="-122"/>
                <a:ea typeface="微软雅黑" panose="020B0503020204020204" pitchFamily="34" charset="-122"/>
              </a:rPr>
              <a:t>HDL</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20000"/>
              </a:lnSpc>
              <a:spcBef>
                <a:spcPts val="600"/>
              </a:spcBef>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HDL</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通过</a:t>
            </a: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SR-B</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受体，负责肝外组织的胆固醇逆向运输到肝脏；</a:t>
            </a:r>
            <a:endParaRPr lang="en-US" altLang="zh-CN" sz="2400" dirty="0">
              <a:latin typeface="微软雅黑" panose="020B0503020204020204" pitchFamily="34" charset="-122"/>
              <a:ea typeface="微软雅黑" panose="020B0503020204020204" pitchFamily="34" charset="-122"/>
              <a:cs typeface="Times New Roman" panose="02020603050405020304" pitchFamily="18" charset="0"/>
            </a:endParaRPr>
          </a:p>
          <a:p>
            <a:pPr marL="285750" indent="-285750">
              <a:lnSpc>
                <a:spcPct val="120000"/>
              </a:lnSpc>
              <a:spcBef>
                <a:spcPts val="600"/>
              </a:spcBef>
              <a:buFont typeface="Arial" panose="020B0604020202020204" pitchFamily="34" charset="0"/>
              <a:buChar char="•"/>
            </a:pPr>
            <a:r>
              <a:rPr lang="en-US" altLang="zh-CN" sz="2400" dirty="0">
                <a:latin typeface="微软雅黑" panose="020B0503020204020204" pitchFamily="34" charset="-122"/>
                <a:ea typeface="微软雅黑" panose="020B0503020204020204" pitchFamily="34" charset="-122"/>
                <a:cs typeface="Times New Roman" panose="02020603050405020304" pitchFamily="18" charset="0"/>
              </a:rPr>
              <a:t>Tangier</a:t>
            </a: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疾病病人，</a:t>
            </a:r>
            <a:r>
              <a:rPr lang="en-US" altLang="zh-CN" sz="2400" dirty="0">
                <a:latin typeface="微软雅黑" panose="020B0503020204020204" pitchFamily="34" charset="-122"/>
                <a:ea typeface="微软雅黑" panose="020B0503020204020204" pitchFamily="34" charset="-122"/>
              </a:rPr>
              <a:t>ABCA1</a:t>
            </a:r>
            <a:r>
              <a:rPr lang="zh-CN" altLang="en-US" sz="2400" dirty="0">
                <a:latin typeface="微软雅黑" panose="020B0503020204020204" pitchFamily="34" charset="-122"/>
                <a:ea typeface="微软雅黑" panose="020B0503020204020204" pitchFamily="34" charset="-122"/>
              </a:rPr>
              <a:t>基因突变。</a:t>
            </a:r>
          </a:p>
        </p:txBody>
      </p:sp>
      <p:pic>
        <p:nvPicPr>
          <p:cNvPr id="3" name="图片 2"/>
          <p:cNvPicPr>
            <a:picLocks noChangeAspect="1"/>
          </p:cNvPicPr>
          <p:nvPr>
            <p:custDataLst>
              <p:tags r:id="rId1"/>
            </p:custDataLst>
          </p:nvPr>
        </p:nvPicPr>
        <p:blipFill>
          <a:blip r:embed="rId4"/>
          <a:stretch>
            <a:fillRect/>
          </a:stretch>
        </p:blipFill>
        <p:spPr>
          <a:xfrm>
            <a:off x="2404745" y="2751455"/>
            <a:ext cx="5556250" cy="3669030"/>
          </a:xfrm>
          <a:prstGeom prst="rect">
            <a:avLst/>
          </a:prstGeom>
        </p:spPr>
      </p:pic>
      <p:sp>
        <p:nvSpPr>
          <p:cNvPr id="4" name="文本框 3"/>
          <p:cNvSpPr txBox="1"/>
          <p:nvPr/>
        </p:nvSpPr>
        <p:spPr>
          <a:xfrm>
            <a:off x="4826000" y="6309361"/>
            <a:ext cx="2540000" cy="461665"/>
          </a:xfrm>
          <a:prstGeom prst="rect">
            <a:avLst/>
          </a:prstGeom>
          <a:noFill/>
          <a:ln>
            <a:noFill/>
          </a:ln>
        </p:spPr>
        <p:txBody>
          <a:bodyPr wrap="square" rtlCol="0" anchor="t">
            <a:spAutoFit/>
          </a:bodyPr>
          <a:lstStyle/>
          <a:p>
            <a:pPr algn="l"/>
            <a:r>
              <a:rPr lang="zh-CN" altLang="en-US" sz="2400" b="1" dirty="0">
                <a:latin typeface="微软雅黑" panose="020B0503020204020204" pitchFamily="34" charset="-122"/>
                <a:ea typeface="微软雅黑" panose="020B0503020204020204" pitchFamily="34" charset="-122"/>
              </a:rPr>
              <a:t>反向胆固醇运输</a:t>
            </a:r>
          </a:p>
        </p:txBody>
      </p:sp>
      <p:sp>
        <p:nvSpPr>
          <p:cNvPr id="2" name="文本框 1"/>
          <p:cNvSpPr txBox="1"/>
          <p:nvPr/>
        </p:nvSpPr>
        <p:spPr>
          <a:xfrm>
            <a:off x="8211185" y="5878831"/>
            <a:ext cx="2324100" cy="737235"/>
          </a:xfrm>
          <a:prstGeom prst="rect">
            <a:avLst/>
          </a:prstGeom>
          <a:noFill/>
          <a:ln>
            <a:noFill/>
          </a:ln>
        </p:spPr>
        <p:txBody>
          <a:bodyPr wrap="square" rtlCol="0" anchor="t">
            <a:spAutoFit/>
          </a:bodyPr>
          <a:lstStyle/>
          <a:p>
            <a:pPr algn="just"/>
            <a:r>
              <a:rPr lang="zh-CN" altLang="en-US" sz="1400" b="1" dirty="0">
                <a:latin typeface="Comic Sans MS" panose="030F0702030302020204" charset="0"/>
                <a:ea typeface="微软雅黑" panose="020B0503020204020204" pitchFamily="34" charset="-122"/>
                <a:cs typeface="Comic Sans MS" panose="030F0702030302020204" charset="0"/>
              </a:rPr>
              <a:t>ATP-binding cassette (ABC) transporters ABCA1 and ABCG1</a:t>
            </a:r>
          </a:p>
        </p:txBody>
      </p:sp>
    </p:spTree>
  </p:cSld>
  <p:clrMapOvr>
    <a:masterClrMapping/>
  </p:clrMapOvr>
  <p:transition>
    <p:random/>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857092"/>
          <p:cNvSpPr txBox="1">
            <a:spLocks noChangeArrowheads="1"/>
          </p:cNvSpPr>
          <p:nvPr/>
        </p:nvSpPr>
        <p:spPr bwMode="auto">
          <a:xfrm>
            <a:off x="5041810" y="3429003"/>
            <a:ext cx="6629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lgn="ctr">
              <a:defRPr sz="7200">
                <a:solidFill>
                  <a:schemeClr val="accent2"/>
                </a:solidFill>
                <a:latin typeface="Times New Roman" panose="02020603050405020304" pitchFamily="18" charset="0"/>
                <a:ea typeface="宋体" panose="02010600030101010101" pitchFamily="2" charset="-122"/>
              </a:defRPr>
            </a:lvl1pPr>
            <a:lvl2pPr algn="ctr">
              <a:defRPr sz="7200">
                <a:solidFill>
                  <a:schemeClr val="accent2"/>
                </a:solidFill>
                <a:latin typeface="Times New Roman" panose="02020603050405020304" pitchFamily="18" charset="0"/>
                <a:ea typeface="宋体" panose="02010600030101010101" pitchFamily="2" charset="-122"/>
              </a:defRPr>
            </a:lvl2pPr>
            <a:lvl3pPr algn="ctr">
              <a:defRPr sz="7200">
                <a:solidFill>
                  <a:schemeClr val="accent2"/>
                </a:solidFill>
                <a:latin typeface="Times New Roman" panose="02020603050405020304" pitchFamily="18" charset="0"/>
                <a:ea typeface="宋体" panose="02010600030101010101" pitchFamily="2" charset="-122"/>
              </a:defRPr>
            </a:lvl3pPr>
            <a:lvl4pPr algn="ctr">
              <a:defRPr sz="7200">
                <a:solidFill>
                  <a:schemeClr val="accent2"/>
                </a:solidFill>
                <a:latin typeface="Times New Roman" panose="02020603050405020304" pitchFamily="18" charset="0"/>
                <a:ea typeface="宋体" panose="02010600030101010101" pitchFamily="2" charset="-122"/>
              </a:defRPr>
            </a:lvl4pPr>
            <a:lvl5pPr algn="ctr">
              <a:defRPr sz="7200">
                <a:solidFill>
                  <a:schemeClr val="accent2"/>
                </a:solidFill>
                <a:latin typeface="Times New Roman" panose="02020603050405020304" pitchFamily="18" charset="0"/>
                <a:ea typeface="宋体" panose="02010600030101010101" pitchFamily="2" charset="-122"/>
              </a:defRPr>
            </a:lvl5pPr>
            <a:lvl6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6pPr>
            <a:lvl7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7pPr>
            <a:lvl8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8pPr>
            <a:lvl9pPr algn="ctr" fontAlgn="base">
              <a:spcBef>
                <a:spcPct val="0"/>
              </a:spcBef>
              <a:spcAft>
                <a:spcPct val="0"/>
              </a:spcAft>
              <a:buFont typeface="Arial" panose="020B0604020202020204" pitchFamily="34" charset="0"/>
              <a:defRPr sz="7200">
                <a:solidFill>
                  <a:schemeClr val="accent2"/>
                </a:solidFill>
                <a:latin typeface="Times New Roman" panose="02020603050405020304" pitchFamily="18" charset="0"/>
                <a:ea typeface="宋体" panose="02010600030101010101" pitchFamily="2" charset="-122"/>
              </a:defRPr>
            </a:lvl9pPr>
          </a:lstStyle>
          <a:p>
            <a:pPr marL="0" indent="0" algn="just">
              <a:spcBef>
                <a:spcPct val="50000"/>
              </a:spcBef>
            </a:pPr>
            <a:endParaRPr lang="zh-CN" altLang="en-US" sz="2400" b="1" dirty="0">
              <a:solidFill>
                <a:schemeClr val="tx1"/>
              </a:solidFill>
              <a:latin typeface="黑体" panose="02010609060101010101" pitchFamily="49" charset="-122"/>
              <a:ea typeface="黑体" panose="02010609060101010101" pitchFamily="49" charset="-122"/>
            </a:endParaRPr>
          </a:p>
        </p:txBody>
      </p:sp>
      <p:pic>
        <p:nvPicPr>
          <p:cNvPr id="3" name="图片 2"/>
          <p:cNvPicPr>
            <a:picLocks noChangeAspect="1"/>
          </p:cNvPicPr>
          <p:nvPr/>
        </p:nvPicPr>
        <p:blipFill>
          <a:blip r:embed="rId3"/>
          <a:stretch>
            <a:fillRect/>
          </a:stretch>
        </p:blipFill>
        <p:spPr>
          <a:xfrm>
            <a:off x="420392" y="1074420"/>
            <a:ext cx="11523702" cy="4114007"/>
          </a:xfrm>
          <a:prstGeom prst="rect">
            <a:avLst/>
          </a:prstGeom>
          <a:ln>
            <a:solidFill>
              <a:schemeClr val="tx1"/>
            </a:solidFill>
          </a:ln>
        </p:spPr>
      </p:pic>
      <p:sp>
        <p:nvSpPr>
          <p:cNvPr id="5" name="矩形 4"/>
          <p:cNvSpPr/>
          <p:nvPr/>
        </p:nvSpPr>
        <p:spPr>
          <a:xfrm>
            <a:off x="363130" y="5110219"/>
            <a:ext cx="11308080" cy="1688860"/>
          </a:xfrm>
          <a:prstGeom prst="rect">
            <a:avLst/>
          </a:prstGeom>
        </p:spPr>
        <p:txBody>
          <a:bodyPr wrap="square">
            <a:spAutoFit/>
          </a:bodyPr>
          <a:lstStyle/>
          <a:p>
            <a:pPr marL="285750" indent="-285750">
              <a:lnSpc>
                <a:spcPct val="150000"/>
              </a:lnSpc>
              <a:buFont typeface="Arial" panose="020B0604020202020204" pitchFamily="34" charset="0"/>
              <a:buChar char="•"/>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These families are classified in terms of their </a:t>
            </a:r>
            <a:r>
              <a:rPr lang="zh-CN" altLang="en-US" sz="2400" b="1" dirty="0">
                <a:latin typeface="Times New Roman" panose="02020603050405020304" pitchFamily="18" charset="0"/>
                <a:ea typeface="微软雅黑" panose="020B0503020204020204" pitchFamily="34" charset="-122"/>
                <a:cs typeface="Times New Roman" panose="02020603050405020304" pitchFamily="18" charset="0"/>
              </a:rPr>
              <a:t>density</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as determined by centrifugation</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a:t>
            </a:r>
          </a:p>
          <a:p>
            <a:pPr marL="285750" indent="-285750">
              <a:lnSpc>
                <a:spcPct val="150000"/>
              </a:lnSpc>
              <a:buFont typeface="Arial" panose="020B0604020202020204" pitchFamily="34" charset="0"/>
              <a:buChar char="•"/>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Chylomicron:</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乳糜微粒</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VLDL:</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极低密度脂蛋白</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IDL:</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中低密度脂蛋白</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LDL:</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低密度脂蛋白</a:t>
            </a: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 HDL:</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高低密度脂蛋白。</a:t>
            </a:r>
          </a:p>
        </p:txBody>
      </p:sp>
      <p:sp>
        <p:nvSpPr>
          <p:cNvPr id="6" name="文本框 5"/>
          <p:cNvSpPr txBox="1"/>
          <p:nvPr/>
        </p:nvSpPr>
        <p:spPr>
          <a:xfrm>
            <a:off x="9263609" y="3238485"/>
            <a:ext cx="1043876" cy="584775"/>
          </a:xfrm>
          <a:prstGeom prst="rect">
            <a:avLst/>
          </a:prstGeom>
          <a:noFill/>
          <a:ln>
            <a:noFill/>
          </a:ln>
        </p:spPr>
        <p:txBody>
          <a:bodyPr wrap="none" rtlCol="0">
            <a:spAutoFit/>
          </a:bodyPr>
          <a:lstStyle/>
          <a:p>
            <a:pPr algn="l"/>
            <a:r>
              <a:rPr lang="en-US" altLang="zh-CN" sz="3200" b="1" dirty="0">
                <a:solidFill>
                  <a:srgbClr val="FF0000"/>
                </a:solidFill>
                <a:latin typeface="Bradley Hand ITC" panose="03070402050302030203" pitchFamily="66" charset="0"/>
                <a:ea typeface="微软雅黑" panose="020B0503020204020204" pitchFamily="34" charset="-122"/>
              </a:rPr>
              <a:t>Good</a:t>
            </a:r>
            <a:endParaRPr lang="zh-CN" altLang="en-US" sz="3200" b="1" dirty="0">
              <a:solidFill>
                <a:srgbClr val="FF0000"/>
              </a:solidFill>
              <a:latin typeface="Bradley Hand ITC" panose="03070402050302030203" pitchFamily="66" charset="0"/>
              <a:ea typeface="微软雅黑" panose="020B0503020204020204" pitchFamily="34" charset="-122"/>
            </a:endParaRPr>
          </a:p>
        </p:txBody>
      </p:sp>
      <p:sp>
        <p:nvSpPr>
          <p:cNvPr id="15" name="文本框 14"/>
          <p:cNvSpPr txBox="1"/>
          <p:nvPr/>
        </p:nvSpPr>
        <p:spPr>
          <a:xfrm>
            <a:off x="8138170" y="3238486"/>
            <a:ext cx="885179" cy="584775"/>
          </a:xfrm>
          <a:prstGeom prst="rect">
            <a:avLst/>
          </a:prstGeom>
          <a:noFill/>
          <a:ln>
            <a:noFill/>
          </a:ln>
        </p:spPr>
        <p:txBody>
          <a:bodyPr wrap="none" rtlCol="0">
            <a:spAutoFit/>
          </a:bodyPr>
          <a:lstStyle/>
          <a:p>
            <a:pPr algn="l"/>
            <a:r>
              <a:rPr lang="en-US" altLang="zh-CN" sz="3200" b="1" dirty="0">
                <a:solidFill>
                  <a:srgbClr val="FF0000"/>
                </a:solidFill>
                <a:latin typeface="Bradley Hand ITC" panose="03070402050302030203" pitchFamily="66" charset="0"/>
                <a:ea typeface="微软雅黑" panose="020B0503020204020204" pitchFamily="34" charset="-122"/>
              </a:rPr>
              <a:t>Bad</a:t>
            </a:r>
            <a:endParaRPr lang="zh-CN" altLang="en-US" sz="3200" b="1" dirty="0">
              <a:solidFill>
                <a:srgbClr val="FF0000"/>
              </a:solidFill>
              <a:latin typeface="Bradley Hand ITC" panose="03070402050302030203" pitchFamily="66" charset="0"/>
              <a:ea typeface="微软雅黑" panose="020B0503020204020204" pitchFamily="34" charset="-122"/>
            </a:endParaRPr>
          </a:p>
        </p:txBody>
      </p:sp>
      <p:pic>
        <p:nvPicPr>
          <p:cNvPr id="7" name="图片 6"/>
          <p:cNvPicPr>
            <a:picLocks noChangeAspect="1"/>
          </p:cNvPicPr>
          <p:nvPr/>
        </p:nvPicPr>
        <p:blipFill>
          <a:blip r:embed="rId3"/>
          <a:stretch>
            <a:fillRect/>
          </a:stretch>
        </p:blipFill>
        <p:spPr>
          <a:xfrm>
            <a:off x="428012" y="1051560"/>
            <a:ext cx="11523702" cy="4114007"/>
          </a:xfrm>
          <a:prstGeom prst="rect">
            <a:avLst/>
          </a:prstGeom>
          <a:ln>
            <a:solidFill>
              <a:schemeClr val="tx1"/>
            </a:solidFill>
          </a:ln>
        </p:spPr>
      </p:pic>
      <p:sp>
        <p:nvSpPr>
          <p:cNvPr id="8" name="椭圆 7"/>
          <p:cNvSpPr/>
          <p:nvPr/>
        </p:nvSpPr>
        <p:spPr>
          <a:xfrm>
            <a:off x="10286035" y="1194833"/>
            <a:ext cx="983848" cy="3806081"/>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9023348" y="1260084"/>
            <a:ext cx="983848" cy="3806081"/>
          </a:xfrm>
          <a:prstGeom prst="ellipse">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0247457" y="2870735"/>
            <a:ext cx="1043876" cy="584775"/>
          </a:xfrm>
          <a:prstGeom prst="rect">
            <a:avLst/>
          </a:prstGeom>
          <a:noFill/>
          <a:ln>
            <a:noFill/>
          </a:ln>
        </p:spPr>
        <p:txBody>
          <a:bodyPr wrap="none" rtlCol="0">
            <a:spAutoFit/>
          </a:bodyPr>
          <a:lstStyle/>
          <a:p>
            <a:pPr algn="l"/>
            <a:r>
              <a:rPr lang="en-US" altLang="zh-CN" sz="3200" b="1" dirty="0">
                <a:solidFill>
                  <a:srgbClr val="FF0000"/>
                </a:solidFill>
                <a:latin typeface="Bradley Hand ITC" panose="03070402050302030203" pitchFamily="66" charset="0"/>
                <a:ea typeface="微软雅黑" panose="020B0503020204020204" pitchFamily="34" charset="-122"/>
              </a:rPr>
              <a:t>Good</a:t>
            </a:r>
            <a:endParaRPr lang="zh-CN" altLang="en-US" sz="3200" b="1" dirty="0">
              <a:solidFill>
                <a:srgbClr val="FF0000"/>
              </a:solidFill>
              <a:latin typeface="Bradley Hand ITC" panose="03070402050302030203" pitchFamily="66" charset="0"/>
              <a:ea typeface="微软雅黑" panose="020B0503020204020204" pitchFamily="34" charset="-122"/>
            </a:endParaRPr>
          </a:p>
        </p:txBody>
      </p:sp>
      <p:sp>
        <p:nvSpPr>
          <p:cNvPr id="17" name="文本框 16"/>
          <p:cNvSpPr txBox="1"/>
          <p:nvPr/>
        </p:nvSpPr>
        <p:spPr>
          <a:xfrm>
            <a:off x="9122018" y="2870736"/>
            <a:ext cx="885179" cy="584775"/>
          </a:xfrm>
          <a:prstGeom prst="rect">
            <a:avLst/>
          </a:prstGeom>
          <a:noFill/>
          <a:ln>
            <a:noFill/>
          </a:ln>
        </p:spPr>
        <p:txBody>
          <a:bodyPr wrap="none" rtlCol="0">
            <a:spAutoFit/>
          </a:bodyPr>
          <a:lstStyle/>
          <a:p>
            <a:pPr algn="l"/>
            <a:r>
              <a:rPr lang="en-US" altLang="zh-CN" sz="3200" b="1" dirty="0">
                <a:solidFill>
                  <a:srgbClr val="FF0000"/>
                </a:solidFill>
                <a:latin typeface="Bradley Hand ITC" panose="03070402050302030203" pitchFamily="66" charset="0"/>
                <a:ea typeface="微软雅黑" panose="020B0503020204020204" pitchFamily="34" charset="-122"/>
              </a:rPr>
              <a:t>Bad</a:t>
            </a:r>
            <a:endParaRPr lang="zh-CN" altLang="en-US" sz="3200" b="1" dirty="0">
              <a:solidFill>
                <a:srgbClr val="FF0000"/>
              </a:solidFill>
              <a:latin typeface="Bradley Hand ITC" panose="03070402050302030203" pitchFamily="66" charset="0"/>
              <a:ea typeface="微软雅黑" panose="020B0503020204020204" pitchFamily="34" charset="-122"/>
            </a:endParaRPr>
          </a:p>
        </p:txBody>
      </p:sp>
      <p:sp>
        <p:nvSpPr>
          <p:cNvPr id="18" name="文本框 17"/>
          <p:cNvSpPr txBox="1"/>
          <p:nvPr/>
        </p:nvSpPr>
        <p:spPr>
          <a:xfrm>
            <a:off x="2757806" y="-77837"/>
            <a:ext cx="7872094" cy="906530"/>
          </a:xfrm>
          <a:prstGeom prst="rect">
            <a:avLst/>
          </a:prstGeom>
          <a:noFill/>
        </p:spPr>
        <p:txBody>
          <a:bodyPr wrap="square">
            <a:spAutoFit/>
          </a:bodyPr>
          <a:lstStyle/>
          <a:p>
            <a:pPr>
              <a:lnSpc>
                <a:spcPct val="150000"/>
              </a:lnSpc>
              <a:spcBef>
                <a:spcPts val="600"/>
              </a:spcBef>
            </a:pPr>
            <a:r>
              <a:rPr lang="zh-CN" altLang="en-US" sz="40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脂蛋白（</a:t>
            </a:r>
            <a:r>
              <a:rPr lang="zh-CN" altLang="en-US" sz="4000" b="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Lipoproteins</a:t>
            </a:r>
            <a:r>
              <a:rPr lang="zh-CN" altLang="en-US" sz="40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）的代谢</a:t>
            </a:r>
            <a:endParaRPr lang="en-US" altLang="zh-CN" sz="40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ransition>
    <p:random/>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Q4ODQwNThiYTg4YTBlNDhkZDRmNGNiNWM5NWE1YzAifQ=="/>
  <p:tag name="KSO_WPP_MARK_KEY" val="118e08db-68bb-431c-84f2-9f78469fca4c"/>
</p:tagLst>
</file>

<file path=ppt/tags/tag2.xml><?xml version="1.0" encoding="utf-8"?>
<p:tagLst xmlns:a="http://schemas.openxmlformats.org/drawingml/2006/main" xmlns:r="http://schemas.openxmlformats.org/officeDocument/2006/relationships" xmlns:p="http://schemas.openxmlformats.org/presentationml/2006/main">
  <p:tag name="KSO_WM_UNIT_TABLE_BEAUTIFY" val="smartTable{20630ffe-b3d1-4eed-84b6-278dee31d36c}"/>
  <p:tag name="TABLE_ENDDRAG_ORIGIN_RECT" val="598*260"/>
  <p:tag name="TABLE_ENDDRAG_RECT" val="40*171*598*260"/>
</p:tagLst>
</file>

<file path=ppt/tags/tag3.xml><?xml version="1.0" encoding="utf-8"?>
<p:tagLst xmlns:a="http://schemas.openxmlformats.org/drawingml/2006/main" xmlns:r="http://schemas.openxmlformats.org/officeDocument/2006/relationships" xmlns:p="http://schemas.openxmlformats.org/presentationml/2006/main">
  <p:tag name="KSO_WM_UNIT_TABLE_BEAUTIFY" val="smartTable{d6b5b059-31c3-4f31-85fc-671d93092b70}"/>
  <p:tag name="TABLE_ENDDRAG_ORIGIN_RECT" val="661*350"/>
  <p:tag name="TABLE_ENDDRAG_RECT" val="38*145*661*350"/>
</p:tagLst>
</file>

<file path=ppt/tags/tag4.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5340,&quot;width&quot;:8208}"/>
</p:tagLst>
</file>

<file path=ppt/theme/theme1.xml><?xml version="1.0" encoding="utf-8"?>
<a:theme xmlns:a="http://schemas.openxmlformats.org/drawingml/2006/main" name="3_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245</TotalTime>
  <Words>2915</Words>
  <Application>Microsoft Office PowerPoint</Application>
  <PresentationFormat>自定义</PresentationFormat>
  <Paragraphs>483</Paragraphs>
  <Slides>44</Slides>
  <Notes>41</Notes>
  <HiddenSlides>0</HiddenSlides>
  <MMClips>0</MMClips>
  <ScaleCrop>false</ScaleCrop>
  <HeadingPairs>
    <vt:vector size="4" baseType="variant">
      <vt:variant>
        <vt:lpstr>主题</vt:lpstr>
      </vt:variant>
      <vt:variant>
        <vt:i4>1</vt:i4>
      </vt:variant>
      <vt:variant>
        <vt:lpstr>幻灯片标题</vt:lpstr>
      </vt:variant>
      <vt:variant>
        <vt:i4>44</vt:i4>
      </vt:variant>
    </vt:vector>
  </HeadingPairs>
  <TitlesOfParts>
    <vt:vector size="45" baseType="lpstr">
      <vt:lpstr>3_Office 主题​​</vt:lpstr>
      <vt:lpstr>PowerPoint 演示文稿</vt:lpstr>
      <vt:lpstr>PowerPoint 演示文稿</vt:lpstr>
      <vt:lpstr>PowerPoint 演示文稿</vt:lpstr>
      <vt:lpstr>PowerPoint 演示文稿</vt:lpstr>
      <vt:lpstr>PowerPoint 演示文稿</vt:lpstr>
      <vt:lpstr>PowerPoint 演示文稿</vt:lpstr>
      <vt:lpstr>三、脂肪酸的分解代谢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不饱和脂肪酸的β-氧化</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aging00</dc:creator>
  <cp:lastModifiedBy>lenovo</cp:lastModifiedBy>
  <cp:revision>422</cp:revision>
  <dcterms:created xsi:type="dcterms:W3CDTF">2020-10-22T07:18:00Z</dcterms:created>
  <dcterms:modified xsi:type="dcterms:W3CDTF">2023-12-04T15:26:12Z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0BBE102A47224454B38DDB73053DECF0</vt:lpwstr>
  </property>
  <property fmtid="{D5CDD505-2E9C-101B-9397-08002B2CF9AE}" pid="3" name="KSOProductBuildVer">
    <vt:lpwstr>2052-11.1.0.14309</vt:lpwstr>
  </property>
</Properties>
</file>