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  <p:sldMasterId id="2147483696" r:id="rId2"/>
    <p:sldMasterId id="2147483709" r:id="rId3"/>
  </p:sldMasterIdLst>
  <p:notesMasterIdLst>
    <p:notesMasterId r:id="rId51"/>
  </p:notesMasterIdLst>
  <p:handoutMasterIdLst>
    <p:handoutMasterId r:id="rId52"/>
  </p:handoutMasterIdLst>
  <p:sldIdLst>
    <p:sldId id="1205" r:id="rId4"/>
    <p:sldId id="331" r:id="rId5"/>
    <p:sldId id="260" r:id="rId6"/>
    <p:sldId id="298" r:id="rId7"/>
    <p:sldId id="332" r:id="rId8"/>
    <p:sldId id="264" r:id="rId9"/>
    <p:sldId id="395" r:id="rId10"/>
    <p:sldId id="265" r:id="rId11"/>
    <p:sldId id="467" r:id="rId12"/>
    <p:sldId id="266" r:id="rId13"/>
    <p:sldId id="267" r:id="rId14"/>
    <p:sldId id="1208" r:id="rId15"/>
    <p:sldId id="268" r:id="rId16"/>
    <p:sldId id="270" r:id="rId17"/>
    <p:sldId id="271" r:id="rId18"/>
    <p:sldId id="272" r:id="rId19"/>
    <p:sldId id="1211" r:id="rId20"/>
    <p:sldId id="1206" r:id="rId21"/>
    <p:sldId id="274" r:id="rId22"/>
    <p:sldId id="275" r:id="rId23"/>
    <p:sldId id="276" r:id="rId24"/>
    <p:sldId id="277" r:id="rId25"/>
    <p:sldId id="278" r:id="rId26"/>
    <p:sldId id="1207" r:id="rId27"/>
    <p:sldId id="262" r:id="rId28"/>
    <p:sldId id="338" r:id="rId29"/>
    <p:sldId id="1213" r:id="rId30"/>
    <p:sldId id="282" r:id="rId31"/>
    <p:sldId id="339" r:id="rId32"/>
    <p:sldId id="284" r:id="rId33"/>
    <p:sldId id="340" r:id="rId34"/>
    <p:sldId id="1214" r:id="rId35"/>
    <p:sldId id="1215" r:id="rId36"/>
    <p:sldId id="285" r:id="rId37"/>
    <p:sldId id="288" r:id="rId38"/>
    <p:sldId id="290" r:id="rId39"/>
    <p:sldId id="342" r:id="rId40"/>
    <p:sldId id="343" r:id="rId41"/>
    <p:sldId id="344" r:id="rId42"/>
    <p:sldId id="1216" r:id="rId43"/>
    <p:sldId id="345" r:id="rId44"/>
    <p:sldId id="346" r:id="rId45"/>
    <p:sldId id="1218" r:id="rId46"/>
    <p:sldId id="1217" r:id="rId47"/>
    <p:sldId id="294" r:id="rId48"/>
    <p:sldId id="1221" r:id="rId49"/>
    <p:sldId id="1222" r:id="rId50"/>
  </p:sldIdLst>
  <p:sldSz cx="12192000" cy="6858000"/>
  <p:notesSz cx="6858000" cy="9144000"/>
  <p:custDataLst>
    <p:tags r:id="rId5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85" autoAdjust="0"/>
  </p:normalViewPr>
  <p:slideViewPr>
    <p:cSldViewPr snapToGrid="0">
      <p:cViewPr varScale="1">
        <p:scale>
          <a:sx n="56" d="100"/>
          <a:sy n="56" d="100"/>
        </p:scale>
        <p:origin x="-1016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887F7-00F9-4292-AD05-7161F2780265}" type="datetimeFigureOut">
              <a:rPr lang="zh-CN" altLang="en-US" smtClean="0">
                <a:cs typeface="微软雅黑" panose="020B0503020204020204" charset="-122"/>
              </a:rPr>
              <a:t>2023/11/29</a:t>
            </a:fld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0EF6E-E752-49FB-ADDD-0322B72DEC49}" type="slidenum">
              <a:rPr lang="zh-CN" altLang="en-US" smtClean="0">
                <a:cs typeface="微软雅黑" panose="020B0503020204020204" charset="-122"/>
              </a:rPr>
              <a:t>‹#›</a:t>
            </a:fld>
            <a:endParaRPr lang="zh-CN" altLang="en-US"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6178F164-CF9A-47B5-A345-7635797604CA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微软雅黑" panose="020B0503020204020204" charset="-122"/>
              </a:defRPr>
            </a:lvl1pPr>
          </a:lstStyle>
          <a:p>
            <a:fld id="{AC991E98-BB12-4E92-B58D-7A32B7FA0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0007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91E98-BB12-4E92-B58D-7A32B7FA05F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10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杨</a:t>
            </a:r>
            <a:r>
              <a:rPr lang="en-US" altLang="zh-CN" dirty="0" smtClean="0"/>
              <a:t>sirP154</a:t>
            </a:r>
            <a:r>
              <a:rPr lang="zh-CN" altLang="en-US" dirty="0" smtClean="0"/>
              <a:t>页</a:t>
            </a:r>
            <a:endParaRPr lang="en-US" altLang="zh-CN" dirty="0" smtClean="0"/>
          </a:p>
          <a:p>
            <a:r>
              <a:rPr lang="zh-CN" altLang="en-US" dirty="0" smtClean="0"/>
              <a:t>它在不改变葡萄糖结合的情况下阻止磷酸转移。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91E98-BB12-4E92-B58D-7A32B7FA05F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582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 smtClean="0"/>
              <a:t>己糖激酶为组成型酶，对葡萄糖的亲和性高，可确保细胞（如脑、红细胞）在血糖浓度低时有持续的葡萄糖供应（确保葡萄糖及时被磷酸化，有利于葡萄糖进入细胞）；</a:t>
            </a:r>
            <a:endParaRPr lang="en-US" altLang="zh-CN" sz="1200" b="1" dirty="0" smtClean="0"/>
          </a:p>
          <a:p>
            <a:r>
              <a:rPr lang="zh-CN" altLang="en-US" sz="1200" b="1" dirty="0" smtClean="0"/>
              <a:t>葡糖激酶是诱导酶，与葡萄糖亲和力低，在血糖浓度高时诱导表达，可及时清除饱餐后的过高血糖。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91E98-BB12-4E92-B58D-7A32B7FA05F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58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91E98-BB12-4E92-B58D-7A32B7FA05F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79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91E98-BB12-4E92-B58D-7A32B7FA05FD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0595-BBE0-4276-988F-D1D07F78E664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95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9EAEE-E708-4A1A-AA61-97B9E7DE1588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0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3712-59D5-4F39-8A70-9B2A8473C4A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8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41D57-528C-4204-9C05-7815B8E5CE9A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64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F32F-E553-4E26-8804-2E7B9646A75A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1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A35A-E109-4589-9E32-905C3A8EF04E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8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FF174-6740-46AB-927B-C7FF78CBAB77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86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C3827-2D1E-48C3-8887-F55AF519CA06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75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B7D01-34FE-47A6-AE3D-343B16C1A185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3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D70A-D235-4A2E-B6D7-5BBA00ED4E2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74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694C2-4F88-46E7-BEA4-326B8E0DF53D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211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01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218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716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96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603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968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39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019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599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029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054471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55942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763418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6175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39314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11664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06466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B8FAA213-99BB-9E32-7754-2B97098F3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D373CAA-6FF8-097F-97F7-833DD07F9326}"/>
              </a:ext>
            </a:extLst>
          </p:cNvPr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310683020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79566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70614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865105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2023/11/29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281727"/>
      </p:ext>
    </p:extLst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65548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25FFD-07C0-45EB-BB40-F1ABBBC45F1F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4A223-635D-4F5E-9A36-F955EA9077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45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9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0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8945" y="2635546"/>
            <a:ext cx="29171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糖酵解作用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  <a:cs typeface="微软雅黑" panose="020B0503020204020204" charset="-122"/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3647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  <a:cs typeface="微软雅黑" panose="020B0503020204020204" charset="-122"/>
                </a:rPr>
                <a:t>1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  <a:cs typeface="微软雅黑" panose="020B0503020204020204" charset="-122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638800" y="280733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糖酵解概述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1900" y="4558583"/>
            <a:ext cx="10672009" cy="1754326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糖酵解（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glycolysis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，转变为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所经历的一系列反应，在此过程中净生成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简称：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Embden-Meyerhof  Pathway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33626"/>
          <a:stretch>
            <a:fillRect/>
          </a:stretch>
        </p:blipFill>
        <p:spPr>
          <a:xfrm>
            <a:off x="3355090" y="958867"/>
            <a:ext cx="4950728" cy="37080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620346" y="-99907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糖酵解概述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24183" y="822248"/>
            <a:ext cx="10277688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发生在几乎所有细胞中；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胞质；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十步反应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所有细胞中都一样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速率可能不同 ；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两个阶段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1-5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：葡萄糖 →果糖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-1,6-2P →2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甘油醛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-3-P; </a:t>
            </a:r>
            <a:r>
              <a:rPr lang="en-US" altLang="zh-CN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2ATP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能量投资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6-10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</a:t>
            </a:r>
            <a:r>
              <a:rPr lang="en-US" altLang="zh-CN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4ATP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2NADH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能量产生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丙酮酸去向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乳酸，乙醇（无氧）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柠檬酸循环，氧化磷酸化（有氧，大量产生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/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653598" y="-84667"/>
            <a:ext cx="4042602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糖酵解概述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  <a:cs typeface="微软雅黑" panose="020B0503020204020204" charset="-122"/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74781" y="334244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  <a:cs typeface="微软雅黑" panose="020B0503020204020204" charset="-122"/>
                </a:rPr>
                <a:t>2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  <a:cs typeface="微软雅黑" panose="020B0503020204020204" charset="-122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139055" y="2736851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糖酵解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的过程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4021667" y="-62865"/>
            <a:ext cx="3775393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>
                <a:sym typeface="微软雅黑" panose="020B0503020204020204" charset="-122"/>
              </a:rPr>
              <a:t>一、</a:t>
            </a:r>
            <a:r>
              <a:rPr lang="zh-CN" altLang="en-US" dirty="0">
                <a:sym typeface="+mn-ea"/>
              </a:rPr>
              <a:t>糖酵解过程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21667" y="938065"/>
            <a:ext cx="6546639" cy="584310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51355" y="100711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3978275" y="-88265"/>
            <a:ext cx="3775393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>
                <a:sym typeface="微软雅黑" panose="020B0503020204020204" charset="-122"/>
              </a:rPr>
              <a:t>一、</a:t>
            </a:r>
            <a:r>
              <a:rPr lang="zh-CN" altLang="en-US" dirty="0">
                <a:sym typeface="+mn-ea"/>
              </a:rPr>
              <a:t>糖酵解过程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74825" y="92519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0" y="955040"/>
            <a:ext cx="7239000" cy="576834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115" y="4253865"/>
            <a:ext cx="1592580" cy="2895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25" y="908685"/>
            <a:ext cx="7406640" cy="283464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851660" y="4623436"/>
            <a:ext cx="9476740" cy="16890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不可逆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己糖激酶（关键酶），葡萄糖激酶。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Mg</a:t>
            </a:r>
            <a:r>
              <a:rPr lang="en-US" altLang="zh-CN" sz="24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2+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必不可少。稳定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的负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荷，使其具有亲电性；同时活化酶。   </a:t>
            </a:r>
          </a:p>
        </p:txBody>
      </p:sp>
      <p:sp>
        <p:nvSpPr>
          <p:cNvPr id="31" name="矩形 218122"/>
          <p:cNvSpPr>
            <a:spLocks noChangeArrowheads="1"/>
          </p:cNvSpPr>
          <p:nvPr/>
        </p:nvSpPr>
        <p:spPr bwMode="auto">
          <a:xfrm>
            <a:off x="4429321" y="3192557"/>
            <a:ext cx="1524000" cy="8382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 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（葡萄糖激酶）</a:t>
            </a:r>
          </a:p>
        </p:txBody>
      </p:sp>
      <p:sp>
        <p:nvSpPr>
          <p:cNvPr id="10" name="椭圆 9"/>
          <p:cNvSpPr/>
          <p:nvPr/>
        </p:nvSpPr>
        <p:spPr>
          <a:xfrm>
            <a:off x="6244636" y="4253853"/>
            <a:ext cx="2252698" cy="369332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2594" y="-55301"/>
            <a:ext cx="9278502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第一步：葡萄糖的磷酸化：Glc→G-6-P</a:t>
            </a:r>
            <a:r>
              <a:rPr dirty="0"/>
              <a:t> 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837171" y="1842136"/>
            <a:ext cx="827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51660" y="4623436"/>
            <a:ext cx="9502140" cy="16890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不可逆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己糖激酶（关键酶），葡萄糖激酶。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charset="-122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Mg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2+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必不可少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。稳定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的负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荷，使其具有亲电性；同时活化酶。   </a:t>
            </a:r>
          </a:p>
        </p:txBody>
      </p:sp>
      <p:sp>
        <p:nvSpPr>
          <p:cNvPr id="31" name="矩形 218122"/>
          <p:cNvSpPr>
            <a:spLocks noChangeArrowheads="1"/>
          </p:cNvSpPr>
          <p:nvPr/>
        </p:nvSpPr>
        <p:spPr bwMode="auto">
          <a:xfrm>
            <a:off x="4138491" y="2283237"/>
            <a:ext cx="1524000" cy="8382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 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（葡萄糖激酶）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33705" y="-73296"/>
            <a:ext cx="9278502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第一步：葡萄糖的磷酸化：Glc→G-6-P</a:t>
            </a:r>
            <a:r>
              <a:rPr dirty="0"/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38" y="1014520"/>
            <a:ext cx="8256270" cy="352488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962" y="1719943"/>
            <a:ext cx="7304038" cy="4049486"/>
          </a:xfrm>
          <a:prstGeom prst="rect">
            <a:avLst/>
          </a:prstGeom>
        </p:spPr>
      </p:pic>
      <p:sp>
        <p:nvSpPr>
          <p:cNvPr id="11" name="文本框 219139"/>
          <p:cNvSpPr txBox="1">
            <a:spLocks noChangeArrowheads="1"/>
          </p:cNvSpPr>
          <p:nvPr/>
        </p:nvSpPr>
        <p:spPr bwMode="auto">
          <a:xfrm>
            <a:off x="1" y="1211468"/>
            <a:ext cx="5407748" cy="5170646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000000">
                <a:alpha val="0"/>
              </a:srgbClr>
            </a:solidFill>
            <a:miter lim="800000"/>
          </a:ln>
        </p:spPr>
        <p:txBody>
          <a:bodyPr wrap="square" anchor="ctr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Hexokinase binds the substrates glucose and ATP by using an induced-fit mechanism</a:t>
            </a:r>
            <a:r>
              <a:rPr lang="zh-CN" altLang="en-US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诱导契合</a:t>
            </a:r>
            <a:r>
              <a:rPr lang="zh-CN" altLang="en-US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）</a:t>
            </a: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, which excludes 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H2O </a:t>
            </a: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from the active site and facilitates phosphoryl transfer from ATP to glucose.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Glucose-6-P is an inhibitor(</a:t>
            </a:r>
            <a:r>
              <a:rPr lang="zh-CN" altLang="zh-CN" sz="20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抑制剂</a:t>
            </a: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 of hexokinase activity that binds to a regulatory site on the enzyme; it prevents phosphoryl transfer without altering glucose binding.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55534" y="-110702"/>
            <a:ext cx="9308959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第一步：葡萄糖的磷酸化：Glc→G-6-P </a:t>
            </a:r>
            <a:endParaRPr dirty="0"/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715" y="1607397"/>
            <a:ext cx="7254240" cy="41605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77790" y="1407285"/>
            <a:ext cx="4172923" cy="467820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一有利于胞外的葡萄糖通过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GLUT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进入胞内；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葡萄糖分子磷酸化成了易参加代谢反应的活化形式；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磷酸化的葡萄糖分子带有很强的极性基团，不能透过细胞膜，能够防止细胞内的葡萄糖分子向外渗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出。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21217" y="-66149"/>
            <a:ext cx="9709512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第一步：葡萄糖的磷酸化：Glc→G-6-P</a:t>
            </a:r>
            <a:r>
              <a:rPr dirty="0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61840" y="1869653"/>
            <a:ext cx="792480" cy="46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意义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18555" y="2921212"/>
            <a:ext cx="868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622915" y="2397972"/>
            <a:ext cx="868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823451" y="5222452"/>
            <a:ext cx="127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6P-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60236" y="1925532"/>
            <a:ext cx="407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胞外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胞质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2689375" y="-87438"/>
            <a:ext cx="6853158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己糖激酶和葡萄糖激酶的比较</a:t>
            </a:r>
          </a:p>
        </p:txBody>
      </p:sp>
      <p:pic>
        <p:nvPicPr>
          <p:cNvPr id="15364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74" y="1337299"/>
            <a:ext cx="10304662" cy="429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8523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450" y="4507230"/>
            <a:ext cx="1303020" cy="388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80" y="1380491"/>
            <a:ext cx="8384540" cy="2954655"/>
          </a:xfrm>
          <a:prstGeom prst="rect">
            <a:avLst/>
          </a:prstGeom>
        </p:spPr>
      </p:pic>
      <p:sp>
        <p:nvSpPr>
          <p:cNvPr id="11" name="矩形 221192"/>
          <p:cNvSpPr>
            <a:spLocks noChangeArrowheads="1"/>
          </p:cNvSpPr>
          <p:nvPr/>
        </p:nvSpPr>
        <p:spPr bwMode="auto">
          <a:xfrm>
            <a:off x="3134128" y="5067734"/>
            <a:ext cx="65692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G-6-P                                        F-6-P</a:t>
            </a:r>
          </a:p>
        </p:txBody>
      </p:sp>
      <p:sp>
        <p:nvSpPr>
          <p:cNvPr id="13" name="文本框 221195"/>
          <p:cNvSpPr txBox="1">
            <a:spLocks noChangeArrowheads="1"/>
          </p:cNvSpPr>
          <p:nvPr/>
        </p:nvSpPr>
        <p:spPr bwMode="auto">
          <a:xfrm>
            <a:off x="2642035" y="5729605"/>
            <a:ext cx="7236459" cy="46166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将羰基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移至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C2,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磷酸化作准备。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55205" y="341947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磷酸己糖异构酶</a:t>
            </a:r>
          </a:p>
        </p:txBody>
      </p:sp>
      <p:sp>
        <p:nvSpPr>
          <p:cNvPr id="9" name="椭圆 8"/>
          <p:cNvSpPr/>
          <p:nvPr/>
        </p:nvSpPr>
        <p:spPr>
          <a:xfrm>
            <a:off x="7062402" y="4507269"/>
            <a:ext cx="2252698" cy="369332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9229" y="-122756"/>
            <a:ext cx="11582017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第二步：葡萄糖-6-磷酸→果糖-6-磷酸（异构化）</a:t>
            </a:r>
            <a:r>
              <a:rPr dirty="0"/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917950" y="287147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591560" y="333057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文本框 14"/>
          <p:cNvSpPr txBox="1"/>
          <p:nvPr/>
        </p:nvSpPr>
        <p:spPr>
          <a:xfrm flipH="1">
            <a:off x="2947671" y="3450591"/>
            <a:ext cx="889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66976" y="2997201"/>
            <a:ext cx="1499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874010" y="248856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927350" y="193484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252585" y="265239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文本框 19"/>
          <p:cNvSpPr txBox="1"/>
          <p:nvPr/>
        </p:nvSpPr>
        <p:spPr>
          <a:xfrm flipH="1">
            <a:off x="9252586" y="2959101"/>
            <a:ext cx="889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8813801" y="3383916"/>
            <a:ext cx="8896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125461" y="3338831"/>
            <a:ext cx="1499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15581" y="2995296"/>
            <a:ext cx="1499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763511" y="2606676"/>
            <a:ext cx="827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804" y="2849995"/>
            <a:ext cx="2420064" cy="6140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10253"/>
          <a:stretch/>
        </p:blipFill>
        <p:spPr>
          <a:xfrm>
            <a:off x="1067116" y="904231"/>
            <a:ext cx="8523197" cy="2590437"/>
          </a:xfrm>
          <a:prstGeom prst="rect">
            <a:avLst/>
          </a:prstGeom>
        </p:spPr>
      </p:pic>
      <p:sp>
        <p:nvSpPr>
          <p:cNvPr id="23" name="矩形 223244"/>
          <p:cNvSpPr>
            <a:spLocks noChangeArrowheads="1"/>
          </p:cNvSpPr>
          <p:nvPr/>
        </p:nvSpPr>
        <p:spPr bwMode="auto">
          <a:xfrm>
            <a:off x="1225942" y="4126295"/>
            <a:ext cx="9687969" cy="14680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磷酸果糖激酶，为糖酵解的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限速酶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0" hangingPunct="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不可逆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0" hangingPunct="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两次磷酸化使葡萄糖转化为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反应活性很高的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F-1,6-BP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，有利于随后的分解反应。</a:t>
            </a:r>
            <a:endParaRPr lang="en-US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23242"/>
          <p:cNvSpPr>
            <a:spLocks noChangeArrowheads="1"/>
          </p:cNvSpPr>
          <p:nvPr/>
        </p:nvSpPr>
        <p:spPr bwMode="auto">
          <a:xfrm>
            <a:off x="3393863" y="3048115"/>
            <a:ext cx="2590800" cy="3810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磷酸果糖激酶</a:t>
            </a:r>
          </a:p>
        </p:txBody>
      </p:sp>
      <p:sp>
        <p:nvSpPr>
          <p:cNvPr id="27" name="文本框 223243"/>
          <p:cNvSpPr txBox="1">
            <a:spLocks noChangeArrowheads="1"/>
          </p:cNvSpPr>
          <p:nvPr/>
        </p:nvSpPr>
        <p:spPr bwMode="auto">
          <a:xfrm>
            <a:off x="3961562" y="3429284"/>
            <a:ext cx="1758043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（关键酶）</a:t>
            </a:r>
          </a:p>
        </p:txBody>
      </p:sp>
      <p:sp>
        <p:nvSpPr>
          <p:cNvPr id="28" name="矩形 223240"/>
          <p:cNvSpPr>
            <a:spLocks noChangeArrowheads="1"/>
          </p:cNvSpPr>
          <p:nvPr/>
        </p:nvSpPr>
        <p:spPr bwMode="auto">
          <a:xfrm>
            <a:off x="2058305" y="3221506"/>
            <a:ext cx="64187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-6-P                                                           </a:t>
            </a:r>
            <a:r>
              <a:rPr lang="en-US" altLang="zh-CN" sz="18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-1,6-BP</a:t>
            </a:r>
          </a:p>
        </p:txBody>
      </p:sp>
      <p:sp>
        <p:nvSpPr>
          <p:cNvPr id="10" name="椭圆 9"/>
          <p:cNvSpPr/>
          <p:nvPr/>
        </p:nvSpPr>
        <p:spPr>
          <a:xfrm>
            <a:off x="9164286" y="2849701"/>
            <a:ext cx="2420582" cy="58357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25942" y="-135309"/>
            <a:ext cx="10358926" cy="906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第三步：果糖-6-磷酸形成果糖-1，6-二磷酸</a:t>
            </a:r>
            <a:r>
              <a:rPr dirty="0"/>
              <a:t>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440190" y="15205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10790" y="15237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480714" y="1504678"/>
            <a:ext cx="41370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580" y="3882054"/>
            <a:ext cx="1699260" cy="304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860" y="1390015"/>
            <a:ext cx="8427720" cy="3271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34775" y="333843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醛缩酶</a:t>
            </a:r>
          </a:p>
        </p:txBody>
      </p:sp>
      <p:sp>
        <p:nvSpPr>
          <p:cNvPr id="7" name="椭圆 6"/>
          <p:cNvSpPr/>
          <p:nvPr/>
        </p:nvSpPr>
        <p:spPr>
          <a:xfrm>
            <a:off x="9832069" y="3881720"/>
            <a:ext cx="2252698" cy="369332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93317" y="4794814"/>
            <a:ext cx="6919312" cy="1569660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反应可逆。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标准自由能变化为正。</a:t>
            </a:r>
          </a:p>
          <a:p>
            <a:pPr marL="342900" indent="-342900"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实际自由能变化：ΔG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−0.4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微软雅黑" panose="020B0503020204020204" charset="-122"/>
              <a:buChar char="•"/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643594" y="5404627"/>
                <a:ext cx="4572000" cy="5956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∆G=∆G °ʹ + RT  ln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] [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] [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zh-CN" altLang="en-US" dirty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594" y="5404627"/>
                <a:ext cx="4572000" cy="5956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621233" y="-6696"/>
            <a:ext cx="13919195" cy="7439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3200" dirty="0"/>
              <a:t>第四步：果糖-1，6-二磷酸→甘油醛-3-磷酸和磷酸二羟丙酮</a:t>
            </a:r>
            <a:r>
              <a:rPr sz="3200" dirty="0"/>
              <a:t>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138670" y="273685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096760" y="219329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112635" y="169418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791575" y="1825626"/>
            <a:ext cx="2730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791575" y="227774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791575" y="27247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6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267" y="1223856"/>
            <a:ext cx="4633000" cy="5334163"/>
          </a:xfrm>
          <a:prstGeom prst="rect">
            <a:avLst/>
          </a:prstGeom>
        </p:spPr>
      </p:pic>
      <p:sp>
        <p:nvSpPr>
          <p:cNvPr id="13" name="矩形 229386"/>
          <p:cNvSpPr>
            <a:spLocks noChangeArrowheads="1"/>
          </p:cNvSpPr>
          <p:nvPr/>
        </p:nvSpPr>
        <p:spPr bwMode="auto">
          <a:xfrm>
            <a:off x="7432867" y="2404320"/>
            <a:ext cx="1447800" cy="7620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磷酸丙糖 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异构酶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4657" y="2343018"/>
            <a:ext cx="3881595" cy="164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G-3-P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能进入糖酵解途径，不断被消耗。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DHAP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不断转变为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G-3-P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545326" y="-60892"/>
            <a:ext cx="9512140" cy="8254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sz="3600" dirty="0"/>
              <a:t>第五步：磷酸二羟丙酮转变为甘油醛-3-磷酸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97282" y="5120448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烯二醇中间体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698" y="4076578"/>
            <a:ext cx="1653540" cy="3429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833601" y="203498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C000"/>
                </a:solidFill>
              </a:rPr>
              <a:t>酶</a:t>
            </a:r>
            <a:r>
              <a:rPr lang="zh-CN" altLang="en-US" b="1" dirty="0" smtClean="0">
                <a:solidFill>
                  <a:srgbClr val="FFC000"/>
                </a:solidFill>
              </a:rPr>
              <a:t>神！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85" y="1557338"/>
            <a:ext cx="5761567" cy="385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3983568" y="6021388"/>
            <a:ext cx="5185833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 dirty="0">
                <a:ea typeface="楷体" pitchFamily="49" charset="-122"/>
                <a:cs typeface="Times New Roman" pitchFamily="18" charset="0"/>
              </a:rPr>
              <a:t>TIM</a:t>
            </a:r>
            <a:r>
              <a:rPr lang="zh-CN" altLang="en-US" sz="2400" b="1" dirty="0">
                <a:ea typeface="楷体" pitchFamily="49" charset="-122"/>
                <a:cs typeface="Times New Roman" pitchFamily="18" charset="0"/>
              </a:rPr>
              <a:t>防止副反应发生的机制</a:t>
            </a:r>
          </a:p>
        </p:txBody>
      </p:sp>
      <p:sp>
        <p:nvSpPr>
          <p:cNvPr id="29700" name="AutoShape 11"/>
          <p:cNvSpPr>
            <a:spLocks/>
          </p:cNvSpPr>
          <p:nvPr/>
        </p:nvSpPr>
        <p:spPr bwMode="auto">
          <a:xfrm>
            <a:off x="7920567" y="249381"/>
            <a:ext cx="4032251" cy="5636029"/>
          </a:xfrm>
          <a:prstGeom prst="borderCallout2">
            <a:avLst>
              <a:gd name="adj1" fmla="val 2403"/>
              <a:gd name="adj2" fmla="val -2519"/>
              <a:gd name="adj3" fmla="val 2403"/>
              <a:gd name="adj4" fmla="val -17481"/>
              <a:gd name="adj5" fmla="val 40148"/>
              <a:gd name="adj6" fmla="val -33019"/>
            </a:avLst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TIM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具有独特的防止副反应发生的机制：在反应中形成的磷酸烯二醇中间物若离开酶分子，在溶液中很容易释放出磷酸根生成丙二醛，而异构化生成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3-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磷酸甘油醛的并不多。但在细胞内形成丙二醛的可能性几乎为零，这是因为当烯二醇中间物形成以后，酶分子上一段由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10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个氨基酸残基组成的环像一个盖子堵住了活性中心，致使烯二醇中间物无法离开酶分子，只能异构化成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3-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磷酸甘油醛。当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3-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磷酸甘油醛形成以后，上述环消失，产物得以释放。 </a:t>
            </a:r>
            <a:r>
              <a:rPr lang="zh-CN" altLang="en-US" sz="2200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长期的进化使其成为最完美的酶！</a:t>
            </a:r>
            <a:endParaRPr lang="en-US" altLang="zh-CN" sz="2200" dirty="0">
              <a:solidFill>
                <a:srgbClr val="FF0000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23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l="1571" t="755" r="2038"/>
          <a:stretch/>
        </p:blipFill>
        <p:spPr>
          <a:xfrm>
            <a:off x="4317539" y="-2"/>
            <a:ext cx="7378995" cy="6781033"/>
          </a:xfrm>
          <a:prstGeom prst="rect">
            <a:avLst/>
          </a:prstGeom>
        </p:spPr>
      </p:pic>
      <p:sp>
        <p:nvSpPr>
          <p:cNvPr id="3" name="文本占位符 231427"/>
          <p:cNvSpPr txBox="1">
            <a:spLocks noChangeArrowheads="1"/>
          </p:cNvSpPr>
          <p:nvPr/>
        </p:nvSpPr>
        <p:spPr>
          <a:xfrm>
            <a:off x="702526" y="2866149"/>
            <a:ext cx="3422965" cy="1048732"/>
          </a:xfrm>
          <a:prstGeom prst="rect">
            <a:avLst/>
          </a:prstGeom>
          <a:ln>
            <a:solidFill>
              <a:schemeClr val="tx1"/>
            </a:solidFill>
            <a:miter lim="800000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6C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→2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3C</a:t>
            </a:r>
          </a:p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消耗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2ATP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0479" y="380776"/>
            <a:ext cx="3807060" cy="18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sz="4000" dirty="0">
                <a:solidFill>
                  <a:schemeClr val="tx1"/>
                </a:solidFill>
              </a:rPr>
              <a:t>第</a:t>
            </a:r>
            <a:r>
              <a:rPr lang="zh-CN" altLang="en-US" sz="4000" dirty="0">
                <a:solidFill>
                  <a:schemeClr val="tx1"/>
                </a:solidFill>
              </a:rPr>
              <a:t>一</a:t>
            </a:r>
            <a:r>
              <a:rPr sz="4000" dirty="0">
                <a:solidFill>
                  <a:schemeClr val="tx1"/>
                </a:solidFill>
              </a:rPr>
              <a:t>阶段小结：1-5步</a:t>
            </a:r>
          </a:p>
        </p:txBody>
      </p:sp>
    </p:spTree>
    <p:extLst>
      <p:ext uri="{BB962C8B-B14F-4D97-AF65-F5344CB8AC3E}">
        <p14:creationId xmlns:p14="http://schemas.microsoft.com/office/powerpoint/2010/main" val="266649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t="8007"/>
          <a:stretch/>
        </p:blipFill>
        <p:spPr>
          <a:xfrm>
            <a:off x="1907540" y="825419"/>
            <a:ext cx="8215630" cy="4142223"/>
          </a:xfrm>
          <a:prstGeom prst="rect">
            <a:avLst/>
          </a:prstGeom>
        </p:spPr>
      </p:pic>
      <p:sp>
        <p:nvSpPr>
          <p:cNvPr id="15" name="矩形 233480"/>
          <p:cNvSpPr>
            <a:spLocks noChangeArrowheads="1"/>
          </p:cNvSpPr>
          <p:nvPr/>
        </p:nvSpPr>
        <p:spPr bwMode="auto">
          <a:xfrm>
            <a:off x="2141594" y="5298982"/>
            <a:ext cx="6935904" cy="814559"/>
          </a:xfrm>
          <a:prstGeom prst="rect">
            <a:avLst/>
          </a:prstGeom>
          <a:noFill/>
          <a:ln w="9525">
            <a:solidFill>
              <a:srgbClr val="000000">
                <a:alpha val="0"/>
              </a:srgb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第一次形成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高能磷酸键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：酰基磷酸化合物。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0" hangingPunct="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糖酵解中唯一的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脱氢反应。</a:t>
            </a:r>
          </a:p>
          <a:p>
            <a:pPr algn="l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endParaRPr lang="zh-CN" altLang="en-US" sz="2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812258" y="3817401"/>
            <a:ext cx="25090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3-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磷酸甘油醛脱氢酶</a:t>
            </a:r>
            <a:endParaRPr lang="en-US" altLang="zh-CN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NAD</a:t>
            </a:r>
            <a:r>
              <a:rPr lang="en-US" altLang="zh-CN" sz="20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为辅酶） 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06236" y="0"/>
            <a:ext cx="10418238" cy="8254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第六步：甘油醛-3-磷酸氧化成1，3-二磷酸甘油酸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767" y="4784521"/>
            <a:ext cx="1736322" cy="335521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1940"/>
          <a:stretch/>
        </p:blipFill>
        <p:spPr>
          <a:xfrm>
            <a:off x="4478786" y="914400"/>
            <a:ext cx="7061623" cy="5618094"/>
          </a:xfrm>
          <a:prstGeom prst="rect">
            <a:avLst/>
          </a:prstGeom>
        </p:spPr>
      </p:pic>
      <p:sp>
        <p:nvSpPr>
          <p:cNvPr id="9" name="矩形 237576"/>
          <p:cNvSpPr>
            <a:spLocks noChangeArrowheads="1"/>
          </p:cNvSpPr>
          <p:nvPr/>
        </p:nvSpPr>
        <p:spPr bwMode="auto">
          <a:xfrm>
            <a:off x="0" y="3011262"/>
            <a:ext cx="4953001" cy="146494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noFill/>
            <a:miter lim="800000"/>
          </a:ln>
        </p:spPr>
        <p:txBody>
          <a:bodyPr/>
          <a:lstStyle>
            <a:lvl1pPr marL="342900" indent="-342900"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底物水平磷酸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0" hangingPunct="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糖酵解过程中第一次产生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 </a:t>
            </a:r>
          </a:p>
        </p:txBody>
      </p:sp>
      <p:sp>
        <p:nvSpPr>
          <p:cNvPr id="13" name="矩形 237577"/>
          <p:cNvSpPr>
            <a:spLocks noChangeArrowheads="1"/>
          </p:cNvSpPr>
          <p:nvPr/>
        </p:nvSpPr>
        <p:spPr bwMode="auto">
          <a:xfrm>
            <a:off x="7023062" y="4325856"/>
            <a:ext cx="2172570" cy="6858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磷酸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甘油酸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激酶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4920" y="59267"/>
            <a:ext cx="10414454" cy="7439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第七步： 1，3-二磷酸甘油酸转移高能磷酸基团形成ATP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91" y="898985"/>
            <a:ext cx="7878273" cy="4691803"/>
          </a:xfrm>
          <a:prstGeom prst="rect">
            <a:avLst/>
          </a:prstGeom>
        </p:spPr>
      </p:pic>
      <p:sp>
        <p:nvSpPr>
          <p:cNvPr id="13" name="文本框 239624"/>
          <p:cNvSpPr txBox="1">
            <a:spLocks noChangeArrowheads="1"/>
          </p:cNvSpPr>
          <p:nvPr/>
        </p:nvSpPr>
        <p:spPr bwMode="auto">
          <a:xfrm>
            <a:off x="2163591" y="5590788"/>
            <a:ext cx="9046030" cy="572464"/>
          </a:xfrm>
          <a:prstGeom prst="rect">
            <a:avLst/>
          </a:prstGeom>
          <a:noFill/>
          <a:ln w="12700" cap="sq">
            <a:solidFill>
              <a:srgbClr val="000000">
                <a:alpha val="0"/>
              </a:srgb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l" eaLnBrk="0" hangingPunct="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催化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磷酰基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磷酸甘油酸的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5" name="矩形 239625"/>
          <p:cNvSpPr>
            <a:spLocks noChangeArrowheads="1"/>
          </p:cNvSpPr>
          <p:nvPr/>
        </p:nvSpPr>
        <p:spPr bwMode="auto">
          <a:xfrm>
            <a:off x="5167784" y="3496808"/>
            <a:ext cx="1565085" cy="8636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磷酸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甘油酸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变位酶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15307" y="0"/>
            <a:ext cx="8026557" cy="7439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第八步：3-磷酸甘油酸转变为2-磷酸甘油酸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79" y="1054686"/>
            <a:ext cx="8674792" cy="4633383"/>
          </a:xfrm>
          <a:prstGeom prst="rect">
            <a:avLst/>
          </a:prstGeom>
        </p:spPr>
      </p:pic>
      <p:sp>
        <p:nvSpPr>
          <p:cNvPr id="10" name="文本框 242697"/>
          <p:cNvSpPr txBox="1">
            <a:spLocks noChangeArrowheads="1"/>
          </p:cNvSpPr>
          <p:nvPr/>
        </p:nvSpPr>
        <p:spPr bwMode="auto">
          <a:xfrm>
            <a:off x="2438399" y="5678533"/>
            <a:ext cx="7576457" cy="535531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l" eaLnBrk="0" hangingPunct="0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第二次产生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高能磷酸键：烯醇式磷酸化合物。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242698"/>
          <p:cNvSpPr>
            <a:spLocks noChangeArrowheads="1"/>
          </p:cNvSpPr>
          <p:nvPr/>
        </p:nvSpPr>
        <p:spPr bwMode="auto">
          <a:xfrm>
            <a:off x="5095075" y="4014411"/>
            <a:ext cx="1295400" cy="3810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烯醇化酶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71719" y="28472"/>
            <a:ext cx="9600706" cy="7439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第九步： 2-磷酸甘油酸脱水生成磷酸烯醇式丙酮酸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85" y="989331"/>
            <a:ext cx="7976870" cy="3994785"/>
          </a:xfrm>
          <a:prstGeom prst="rect">
            <a:avLst/>
          </a:prstGeom>
        </p:spPr>
      </p:pic>
      <p:sp>
        <p:nvSpPr>
          <p:cNvPr id="7" name="矩形 243720"/>
          <p:cNvSpPr>
            <a:spLocks noChangeArrowheads="1"/>
          </p:cNvSpPr>
          <p:nvPr/>
        </p:nvSpPr>
        <p:spPr bwMode="auto">
          <a:xfrm>
            <a:off x="2298912" y="5208693"/>
            <a:ext cx="6481022" cy="1502410"/>
          </a:xfrm>
          <a:prstGeom prst="rect">
            <a:avLst/>
          </a:prstGeom>
          <a:noFill/>
          <a:ln w="9525">
            <a:solidFill>
              <a:srgbClr val="000000">
                <a:alpha val="0"/>
              </a:srgb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又一次底物水平磷酸化，产生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algn="l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不可逆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4" name="矩形 243721"/>
          <p:cNvSpPr>
            <a:spLocks noChangeArrowheads="1"/>
          </p:cNvSpPr>
          <p:nvPr/>
        </p:nvSpPr>
        <p:spPr bwMode="auto">
          <a:xfrm>
            <a:off x="5792420" y="3878702"/>
            <a:ext cx="1582738" cy="685800"/>
          </a:xfrm>
          <a:prstGeom prst="rect">
            <a:avLst/>
          </a:prstGeom>
          <a:solidFill>
            <a:schemeClr val="bg1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丙酮酸激酶 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（关键酶）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0164" y="0"/>
            <a:ext cx="11491672" cy="7439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第十步：磷酸烯醇式丙酮酸转变为丙酮酸并产生一个ATP分子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220" y="5044440"/>
            <a:ext cx="1737360" cy="27432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275" y="0"/>
            <a:ext cx="8631649" cy="6878062"/>
          </a:xfrm>
          <a:prstGeom prst="rect">
            <a:avLst/>
          </a:prstGeom>
        </p:spPr>
      </p:pic>
      <p:sp>
        <p:nvSpPr>
          <p:cNvPr id="4" name="文本框 40"/>
          <p:cNvSpPr txBox="1"/>
          <p:nvPr/>
        </p:nvSpPr>
        <p:spPr>
          <a:xfrm>
            <a:off x="-32891" y="275155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第二阶段小结</a:t>
            </a:r>
          </a:p>
        </p:txBody>
      </p:sp>
    </p:spTree>
    <p:extLst>
      <p:ext uri="{BB962C8B-B14F-4D97-AF65-F5344CB8AC3E}">
        <p14:creationId xmlns:p14="http://schemas.microsoft.com/office/powerpoint/2010/main" val="894091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4000" y="5986654"/>
            <a:ext cx="9471024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+ 2ADP + 2Pi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+ 2ATP + 2NADH.H</a:t>
            </a:r>
            <a:r>
              <a:rPr lang="en-US" altLang="zh-CN" sz="2400" b="1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H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50384"/>
            <a:ext cx="9144000" cy="4788989"/>
          </a:xfrm>
          <a:prstGeom prst="rect">
            <a:avLst/>
          </a:prstGeom>
          <a:ln>
            <a:noFill/>
          </a:ln>
        </p:spPr>
      </p:pic>
      <p:sp>
        <p:nvSpPr>
          <p:cNvPr id="10" name="椭圆 9"/>
          <p:cNvSpPr/>
          <p:nvPr/>
        </p:nvSpPr>
        <p:spPr>
          <a:xfrm>
            <a:off x="8991122" y="1860346"/>
            <a:ext cx="1536261" cy="369332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086960" y="2503506"/>
            <a:ext cx="1440422" cy="369332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039040" y="5363521"/>
            <a:ext cx="1440422" cy="369332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48379" y="-75565"/>
            <a:ext cx="290175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自由能变化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  <a:cs typeface="微软雅黑" panose="020B0503020204020204" charset="-122"/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3647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  <a:cs typeface="微软雅黑" panose="020B0503020204020204" charset="-122"/>
                </a:rPr>
                <a:t>3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  <a:cs typeface="微软雅黑" panose="020B0503020204020204" charset="-122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638800" y="280733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丙酮酸的去路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8"/>
          <p:cNvSpPr>
            <a:spLocks noGrp="1" noChangeArrowheads="1"/>
          </p:cNvSpPr>
          <p:nvPr>
            <p:ph type="title" idx="4294967295"/>
          </p:nvPr>
        </p:nvSpPr>
        <p:spPr>
          <a:xfrm>
            <a:off x="3268672" y="188451"/>
            <a:ext cx="5664200" cy="576262"/>
          </a:xfrm>
          <a:solidFill>
            <a:srgbClr val="99CCFF"/>
          </a:solidFill>
        </p:spPr>
        <p:txBody>
          <a:bodyPr lIns="90488" tIns="44450" rIns="90488" bIns="44450">
            <a:noAutofit/>
          </a:bodyPr>
          <a:lstStyle/>
          <a:p>
            <a:pPr eaLnBrk="1" hangingPunct="1"/>
            <a:r>
              <a:rPr lang="en-US" altLang="zh-CN" b="1" dirty="0" smtClean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NADH</a:t>
            </a:r>
            <a:r>
              <a:rPr lang="zh-CN" altLang="en-US" b="1" dirty="0" smtClean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和丙酮酸的去向</a:t>
            </a:r>
            <a:endParaRPr lang="en-US" altLang="zh-CN" dirty="0" smtClean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83973" name="Rectangle 1029"/>
          <p:cNvSpPr>
            <a:spLocks noGrp="1" noChangeArrowheads="1"/>
          </p:cNvSpPr>
          <p:nvPr>
            <p:ph type="body" idx="4294967295"/>
          </p:nvPr>
        </p:nvSpPr>
        <p:spPr>
          <a:xfrm>
            <a:off x="153478" y="975448"/>
            <a:ext cx="11789140" cy="46799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0488" tIns="44450" rIns="90488" bIns="44450">
            <a:noAutofit/>
          </a:bodyPr>
          <a:lstStyle/>
          <a:p>
            <a:pPr marL="533400" indent="-533400" algn="ctr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None/>
            </a:pPr>
            <a:r>
              <a:rPr lang="zh-CN" altLang="en-US" sz="3600" b="1" dirty="0" smtClean="0">
                <a:solidFill>
                  <a:srgbClr val="FF0000"/>
                </a:solidFill>
                <a:ea typeface="楷体" pitchFamily="49" charset="-122"/>
              </a:rPr>
              <a:t>取决于细胞有氧还是无氧？？</a:t>
            </a:r>
            <a:r>
              <a:rPr lang="zh-CN" altLang="en-US" sz="3600" b="1" dirty="0" smtClean="0">
                <a:ea typeface="楷体" pitchFamily="49" charset="-122"/>
              </a:rPr>
              <a:t> </a:t>
            </a:r>
          </a:p>
          <a:p>
            <a:pPr marL="533400" indent="-5334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3600" dirty="0" smtClean="0">
                <a:ea typeface="楷体" pitchFamily="49" charset="-122"/>
              </a:rPr>
              <a:t>在有氧状态下</a:t>
            </a:r>
            <a:r>
              <a:rPr lang="en-US" altLang="zh-CN" sz="3600" dirty="0" smtClean="0">
                <a:ea typeface="楷体" pitchFamily="49" charset="-122"/>
                <a:cs typeface="Times New Roman" pitchFamily="18" charset="0"/>
              </a:rPr>
              <a:t>NADH</a:t>
            </a:r>
            <a:r>
              <a:rPr lang="zh-CN" altLang="en-US" sz="3600" dirty="0" smtClean="0">
                <a:ea typeface="楷体" pitchFamily="49" charset="-122"/>
              </a:rPr>
              <a:t>和丙酮酸的命运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3200" b="1" dirty="0" smtClean="0">
                <a:ea typeface="楷体" pitchFamily="49" charset="-122"/>
              </a:rPr>
              <a:t>NADH</a:t>
            </a:r>
            <a:r>
              <a:rPr lang="zh-CN" altLang="en-US" sz="3200" b="1" dirty="0" smtClean="0">
                <a:ea typeface="楷体" pitchFamily="49" charset="-122"/>
              </a:rPr>
              <a:t>的命运：</a:t>
            </a:r>
            <a:r>
              <a:rPr lang="en-US" altLang="zh-CN" sz="3200" dirty="0" smtClean="0">
                <a:ea typeface="楷体" pitchFamily="49" charset="-122"/>
              </a:rPr>
              <a:t>NADH</a:t>
            </a:r>
            <a:r>
              <a:rPr lang="zh-CN" altLang="en-US" sz="3200" dirty="0" smtClean="0">
                <a:ea typeface="楷体" pitchFamily="49" charset="-122"/>
              </a:rPr>
              <a:t>在呼吸链被彻底氧化成</a:t>
            </a:r>
            <a:r>
              <a:rPr lang="en-US" altLang="zh-CN" sz="3200" dirty="0" smtClean="0">
                <a:ea typeface="楷体" pitchFamily="49" charset="-122"/>
              </a:rPr>
              <a:t>H</a:t>
            </a:r>
            <a:r>
              <a:rPr lang="en-US" altLang="zh-CN" sz="3200" baseline="-25000" dirty="0" smtClean="0">
                <a:ea typeface="楷体" pitchFamily="49" charset="-122"/>
              </a:rPr>
              <a:t>2</a:t>
            </a:r>
            <a:r>
              <a:rPr lang="en-US" altLang="zh-CN" sz="3200" dirty="0" smtClean="0">
                <a:ea typeface="楷体" pitchFamily="49" charset="-122"/>
              </a:rPr>
              <a:t>O</a:t>
            </a:r>
            <a:r>
              <a:rPr lang="zh-CN" altLang="en-US" sz="3200" dirty="0" smtClean="0">
                <a:ea typeface="楷体" pitchFamily="49" charset="-122"/>
              </a:rPr>
              <a:t>并产生更多的</a:t>
            </a:r>
            <a:r>
              <a:rPr lang="en-US" altLang="zh-CN" sz="3200" dirty="0" smtClean="0">
                <a:ea typeface="楷体" pitchFamily="49" charset="-122"/>
              </a:rPr>
              <a:t>ATP</a:t>
            </a:r>
            <a:r>
              <a:rPr lang="zh-CN" altLang="en-US" sz="3200" dirty="0" smtClean="0">
                <a:ea typeface="楷体" pitchFamily="49" charset="-122"/>
              </a:rPr>
              <a:t>。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3200" b="1" dirty="0" smtClean="0">
                <a:ea typeface="楷体" pitchFamily="49" charset="-122"/>
              </a:rPr>
              <a:t>丙酮酸的命运：</a:t>
            </a:r>
            <a:r>
              <a:rPr lang="zh-CN" altLang="en-US" sz="3200" dirty="0" smtClean="0">
                <a:ea typeface="楷体" pitchFamily="49" charset="-122"/>
              </a:rPr>
              <a:t>丙酮酸经过线粒体内膜上丙酮酸运输体与质子一起进入线粒体基质，被基质内的丙酮酸脱氢酶系氧化成乙酰</a:t>
            </a:r>
            <a:r>
              <a:rPr lang="en-US" altLang="zh-CN" sz="3200" dirty="0" smtClean="0">
                <a:ea typeface="楷体" pitchFamily="49" charset="-122"/>
              </a:rPr>
              <a:t>-CoA </a:t>
            </a:r>
            <a:r>
              <a:rPr lang="zh-CN" altLang="en-US" sz="3200" dirty="0" smtClean="0">
                <a:ea typeface="楷体" pitchFamily="49" charset="-122"/>
              </a:rPr>
              <a:t> </a:t>
            </a:r>
            <a:endParaRPr lang="zh-CN" altLang="en-US" sz="3200" b="1" dirty="0" smtClean="0">
              <a:ea typeface="楷体" pitchFamily="49" charset="-122"/>
            </a:endParaRPr>
          </a:p>
          <a:p>
            <a:pPr marL="533400" indent="-5334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3600" dirty="0" smtClean="0">
                <a:ea typeface="楷体" pitchFamily="49" charset="-122"/>
              </a:rPr>
              <a:t>在缺氧状态或无氧状态下</a:t>
            </a:r>
            <a:r>
              <a:rPr lang="en-US" altLang="zh-CN" sz="3600" dirty="0" smtClean="0">
                <a:ea typeface="楷体" pitchFamily="49" charset="-122"/>
              </a:rPr>
              <a:t>NADH</a:t>
            </a:r>
            <a:r>
              <a:rPr lang="zh-CN" altLang="en-US" sz="3600" dirty="0" smtClean="0">
                <a:ea typeface="楷体" pitchFamily="49" charset="-122"/>
              </a:rPr>
              <a:t>和丙酮酸的命运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3200" b="1" dirty="0" smtClean="0">
                <a:ea typeface="楷体" pitchFamily="49" charset="-122"/>
              </a:rPr>
              <a:t>乳酸发酵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3200" b="1" dirty="0" smtClean="0">
                <a:ea typeface="楷体" pitchFamily="49" charset="-122"/>
              </a:rPr>
              <a:t>酒精发酵</a:t>
            </a:r>
            <a:endParaRPr lang="en-US" altLang="zh-CN" sz="3200" b="1" dirty="0" smtClean="0"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88654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83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83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83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83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839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8098" y="5372070"/>
            <a:ext cx="8721848" cy="1031051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许多微生物常进行这种过程。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高等动物在氧不充足时：肌肉强烈运动时、红细胞。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2550" y="-59726"/>
            <a:ext cx="869661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一、在无氧或相对缺氧时：乳酸发酵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95" y="900612"/>
            <a:ext cx="10047268" cy="414866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67958" y="405130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乳酸脱氢酶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83114" y="4702591"/>
            <a:ext cx="793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</a:t>
            </a: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乳酸</a:t>
            </a: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5336" r="3812"/>
          <a:stretch>
            <a:fillRect/>
          </a:stretch>
        </p:blipFill>
        <p:spPr>
          <a:xfrm>
            <a:off x="530084" y="1456268"/>
            <a:ext cx="11131832" cy="28363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827021" y="5259265"/>
            <a:ext cx="6544945" cy="793359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酵母等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28692" y="-81122"/>
            <a:ext cx="854432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二、在无氧或相对缺氧时：酒精发酵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67742" y="348194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丙酮酸脱羧酶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29935" y="4201371"/>
            <a:ext cx="10288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837983" y="344729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乙醇脱氢酶</a:t>
            </a: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582" y="1010920"/>
            <a:ext cx="4380865" cy="5847080"/>
          </a:xfrm>
          <a:prstGeom prst="rect">
            <a:avLst/>
          </a:prstGeom>
        </p:spPr>
      </p:pic>
      <p:sp>
        <p:nvSpPr>
          <p:cNvPr id="11" name="文本框 254983"/>
          <p:cNvSpPr txBox="1">
            <a:spLocks noChangeArrowheads="1"/>
          </p:cNvSpPr>
          <p:nvPr/>
        </p:nvSpPr>
        <p:spPr bwMode="auto">
          <a:xfrm>
            <a:off x="-97972" y="1953532"/>
            <a:ext cx="6683829" cy="2462213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7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l" eaLnBrk="0" hangingPunc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线粒体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eaLnBrk="0" hangingPunc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三羧酸循环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彻底氧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化成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</a:t>
            </a:r>
            <a:r>
              <a:rPr lang="en-US" altLang="zh-CN" sz="2400" baseline="-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aseline="-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</a:p>
          <a:p>
            <a:pPr marL="342900" indent="-342900" algn="l" eaLnBrk="0" hangingPunc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并最终通过电子传递，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氧化磷酸化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产生大量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14605" y="-65268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三、在有氧条件下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11034" y="392771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丙酮酸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702445" y="5408930"/>
            <a:ext cx="19005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电子传递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63903" y="4301257"/>
            <a:ext cx="1677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三羧酸循环</a:t>
            </a: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  <a:cs typeface="微软雅黑" panose="020B0503020204020204" charset="-122"/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84499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  <a:cs typeface="微软雅黑" panose="020B0503020204020204" charset="-122"/>
                </a:rPr>
                <a:t>4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  <a:cs typeface="微软雅黑" panose="020B0503020204020204" charset="-122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638800" y="280733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糖酵解的调节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096457" y="504120"/>
            <a:ext cx="4129617" cy="576263"/>
          </a:xfrm>
          <a:solidFill>
            <a:srgbClr val="99CCFF"/>
          </a:solidFill>
        </p:spPr>
        <p:txBody>
          <a:bodyPr lIns="90488" tIns="44450" rIns="90488" bIns="44450">
            <a:noAutofit/>
          </a:bodyPr>
          <a:lstStyle/>
          <a:p>
            <a:pPr eaLnBrk="1" hangingPunct="1"/>
            <a:r>
              <a:rPr lang="zh-CN" altLang="en-US" sz="4000" b="1" smtClean="0">
                <a:solidFill>
                  <a:schemeClr val="tx1"/>
                </a:solidFill>
                <a:ea typeface="楷体" pitchFamily="49" charset="-122"/>
              </a:rPr>
              <a:t>糖酵解的能量学</a:t>
            </a:r>
            <a:endParaRPr lang="en-US" altLang="zh-CN" sz="4000" b="1" smtClean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19661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390651" y="1484313"/>
            <a:ext cx="9491133" cy="29527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0488" tIns="44450" rIns="90488" bIns="44450">
            <a:normAutofit/>
          </a:bodyPr>
          <a:lstStyle/>
          <a:p>
            <a:pPr algn="ctr" eaLnBrk="1" hangingPunct="1">
              <a:buFontTx/>
              <a:buNone/>
            </a:pPr>
            <a:r>
              <a:rPr lang="zh-CN" altLang="en-US" sz="36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调控的有力证据</a:t>
            </a:r>
            <a:r>
              <a:rPr lang="en-US" altLang="zh-CN" sz="3600" b="1" i="1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!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 </a:t>
            </a:r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¶"/>
            </a:pPr>
            <a:r>
              <a:rPr lang="zh-CN" altLang="en-US" sz="3600" b="1" dirty="0" smtClean="0">
                <a:solidFill>
                  <a:schemeClr val="tx2"/>
                </a:solidFill>
                <a:ea typeface="楷体" pitchFamily="49" charset="-122"/>
              </a:rPr>
              <a:t>标准的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 </a:t>
            </a:r>
            <a:r>
              <a:rPr lang="en-US" altLang="zh-CN" sz="3600" b="1" dirty="0" smtClean="0">
                <a:solidFill>
                  <a:schemeClr val="tx2"/>
                </a:solidFill>
                <a:latin typeface="Symbol" pitchFamily="18" charset="2"/>
              </a:rPr>
              <a:t>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G 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值分散分布</a:t>
            </a:r>
            <a:endParaRPr lang="en-US" altLang="zh-CN" sz="3600" b="1" dirty="0" smtClean="0">
              <a:solidFill>
                <a:schemeClr val="tx2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¶"/>
            </a:pP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细胞内多数</a:t>
            </a:r>
            <a:r>
              <a:rPr lang="en-US" altLang="zh-CN" sz="3600" b="1" dirty="0" smtClean="0">
                <a:solidFill>
                  <a:schemeClr val="tx2"/>
                </a:solidFill>
                <a:latin typeface="Symbol" pitchFamily="18" charset="2"/>
              </a:rPr>
              <a:t>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G 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接近</a:t>
            </a:r>
            <a:r>
              <a:rPr lang="en-US" altLang="zh-CN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10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步反应中有</a:t>
            </a:r>
            <a:r>
              <a:rPr lang="en-US" altLang="zh-CN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步具有较大的自由能降低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 </a:t>
            </a:r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¶"/>
            </a:pPr>
            <a:r>
              <a:rPr lang="en-US" altLang="zh-CN" sz="3600" b="1" dirty="0" smtClean="0">
                <a:solidFill>
                  <a:schemeClr val="tx2"/>
                </a:solidFill>
                <a:latin typeface="Symbol" pitchFamily="18" charset="2"/>
              </a:rPr>
              <a:t>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G </a:t>
            </a:r>
            <a:r>
              <a:rPr lang="zh-CN" altLang="en-US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为较大负值的反应是调控位点</a:t>
            </a:r>
            <a:r>
              <a:rPr lang="en-US" altLang="zh-CN" sz="3600" b="1" dirty="0" smtClean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!</a:t>
            </a:r>
            <a:r>
              <a:rPr lang="en-US" altLang="zh-CN" sz="3600" b="1" dirty="0" smtClean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78248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6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6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6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6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4000" y="5986654"/>
            <a:ext cx="9471024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+ 2ADP + 2Pi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+ 2ATP + 2NADH.H</a:t>
            </a:r>
            <a:r>
              <a:rPr lang="en-US" altLang="zh-CN" sz="2400" b="1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H</a:t>
            </a:r>
            <a:r>
              <a:rPr lang="en-US" altLang="zh-CN" sz="2400" b="1" baseline="-2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50384"/>
            <a:ext cx="9144000" cy="4788989"/>
          </a:xfrm>
          <a:prstGeom prst="rect">
            <a:avLst/>
          </a:prstGeom>
          <a:ln>
            <a:noFill/>
          </a:ln>
        </p:spPr>
      </p:pic>
      <p:sp>
        <p:nvSpPr>
          <p:cNvPr id="10" name="椭圆 9"/>
          <p:cNvSpPr/>
          <p:nvPr/>
        </p:nvSpPr>
        <p:spPr>
          <a:xfrm>
            <a:off x="8991122" y="1860346"/>
            <a:ext cx="1536261" cy="369332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086960" y="2503506"/>
            <a:ext cx="1440422" cy="369332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039040" y="5363521"/>
            <a:ext cx="1440422" cy="369332"/>
          </a:xfrm>
          <a:prstGeom prst="ellipse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48379" y="-75565"/>
            <a:ext cx="290175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自由能变化</a:t>
            </a:r>
          </a:p>
        </p:txBody>
      </p:sp>
    </p:spTree>
    <p:extLst>
      <p:ext uri="{BB962C8B-B14F-4D97-AF65-F5344CB8AC3E}">
        <p14:creationId xmlns:p14="http://schemas.microsoft.com/office/powerpoint/2010/main" val="650913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00508" y="-56164"/>
            <a:ext cx="34147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三步关键反应 </a:t>
            </a:r>
          </a:p>
        </p:txBody>
      </p:sp>
      <p:pic>
        <p:nvPicPr>
          <p:cNvPr id="4" name="图片 3" descr="QQ截图20210705110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420" y="905724"/>
            <a:ext cx="2697480" cy="58140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87970" y="937895"/>
            <a:ext cx="117371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葡萄糖</a:t>
            </a: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G-6-p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F-6-p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F-1,6-bp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PEP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603491" y="1348740"/>
            <a:ext cx="3117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76186" y="2125980"/>
            <a:ext cx="3117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576186" y="2893060"/>
            <a:ext cx="3117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515225" y="4168140"/>
            <a:ext cx="51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4-9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576185" y="5590540"/>
            <a:ext cx="4406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28043" y="1379537"/>
            <a:ext cx="995680" cy="3371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己糖激酶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033385" y="2936200"/>
            <a:ext cx="141577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磷酸</a:t>
            </a:r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果糖</a:t>
            </a:r>
            <a:r>
              <a:rPr lang="zh-CN" altLang="en-US" sz="1600" b="1" dirty="0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激酶</a:t>
            </a:r>
            <a:endParaRPr lang="en-US" altLang="zh-CN" sz="16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16875" y="5590540"/>
            <a:ext cx="1198880" cy="3371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丙酮酸激酶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591046" y="1874371"/>
            <a:ext cx="317426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己糖激酶（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磷酸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果糖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激酶（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丙酮酸激酶（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</a:p>
          <a:p>
            <a:pPr marL="342900" indent="-342900"/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91045" y="1273879"/>
            <a:ext cx="1620957" cy="662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关键酶：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764063" y="3904366"/>
            <a:ext cx="1980029" cy="662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调节方式：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764062" y="4519066"/>
            <a:ext cx="2377574" cy="1135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别构调节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共价修饰调节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6116" y="4595796"/>
            <a:ext cx="10732168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hangingPunct="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下游的磷酸果糖激酶被抑制时，可使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G-6-P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积累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，因而别构抑制己糖激酶的活性，减缓酵解速度。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342900" indent="-342900" algn="just" eaLnBrk="0" hangingPunct="0"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因为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G-6-P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在复杂的代谢途径中还可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转化成糖原及戊糖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，己糖激酶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不是酵解的限速调控酶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70470" y="-66686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一、己糖激酶调节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354" y="935311"/>
            <a:ext cx="6562426" cy="370272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78866" y="1030393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活化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61480" y="409702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失活化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4294967295"/>
          </p:nvPr>
        </p:nvSpPr>
        <p:spPr>
          <a:xfrm>
            <a:off x="9105900" y="6356350"/>
            <a:ext cx="3086100" cy="365125"/>
          </a:xfrm>
        </p:spPr>
        <p:txBody>
          <a:bodyPr/>
          <a:lstStyle/>
          <a:p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242050" y="-100965"/>
            <a:ext cx="7382149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</a:t>
            </a:r>
            <a:r>
              <a:rPr lang="zh-CN" altLang="en-US" dirty="0" smtClean="0"/>
              <a:t>、磷酸</a:t>
            </a:r>
            <a:r>
              <a:rPr lang="zh-CN" altLang="en-US" dirty="0"/>
              <a:t>果糖激酶-1（PFK-I）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53398" y="1190010"/>
            <a:ext cx="6462025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PFK-I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是调节糖酵解途径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最重要的酶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791" y="1845945"/>
            <a:ext cx="8947785" cy="437769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291" y="4040294"/>
            <a:ext cx="5699760" cy="2758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69902" y="-56715"/>
            <a:ext cx="7382149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</a:t>
            </a:r>
            <a:r>
              <a:rPr lang="zh-CN" altLang="en-US" dirty="0" smtClean="0"/>
              <a:t>、磷酸</a:t>
            </a:r>
            <a:r>
              <a:rPr lang="zh-CN" altLang="en-US" dirty="0"/>
              <a:t>果糖激酶-1（PFK-I）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41868" y="2717167"/>
            <a:ext cx="2607732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PFK-I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的别构：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282" y="1213274"/>
            <a:ext cx="6187440" cy="28270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44477" y="6074834"/>
            <a:ext cx="627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失活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71944" y="-84031"/>
            <a:ext cx="7922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二、6-磷酸果糖激酶-1（PFK-I）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59331" y="1577717"/>
            <a:ext cx="28936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2,6-二磷酸果糖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</a:p>
        </p:txBody>
      </p:sp>
      <p:sp>
        <p:nvSpPr>
          <p:cNvPr id="7" name="矩形 6"/>
          <p:cNvSpPr/>
          <p:nvPr/>
        </p:nvSpPr>
        <p:spPr>
          <a:xfrm>
            <a:off x="6100012" y="1577717"/>
            <a:ext cx="5269830" cy="34932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F-2,6-BP（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2,6-二磷酸果糖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）是磷酸果糖激酶（ PFK-1 ）强有力的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，其作用在于增强PFK-1对6-磷酸果糖的亲和力；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还可抵消高浓度ATP对PFK-1的抑制作用，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激活糖酵解过程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67" y="2147755"/>
            <a:ext cx="4732430" cy="291871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23836" y="517613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2,6-二磷酸果糖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4294967295"/>
          </p:nvPr>
        </p:nvSpPr>
        <p:spPr>
          <a:xfrm>
            <a:off x="9105900" y="6356350"/>
            <a:ext cx="3086100" cy="36512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27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38078" y="-107334"/>
            <a:ext cx="7922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二、6-磷酸果糖激酶-1（PFK-I）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-17702"/>
          <a:stretch>
            <a:fillRect/>
          </a:stretch>
        </p:blipFill>
        <p:spPr>
          <a:xfrm>
            <a:off x="0" y="958947"/>
            <a:ext cx="12192000" cy="56945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1846803" y="5462311"/>
            <a:ext cx="54409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2,6-二磷酸果糖（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F26BP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）：调控血糖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0" y="1702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134" y="395111"/>
            <a:ext cx="8206317" cy="4726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4368800" y="5661026"/>
            <a:ext cx="4411133" cy="39687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PFK-2</a:t>
            </a:r>
            <a:r>
              <a:rPr lang="zh-CN" altLang="en-US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或</a:t>
            </a:r>
            <a:r>
              <a:rPr lang="en-US" altLang="zh-CN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F-2,6-BPase</a:t>
            </a:r>
            <a:r>
              <a:rPr lang="zh-CN" altLang="en-US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的结构</a:t>
            </a:r>
            <a:endParaRPr lang="zh-CN" altLang="en-US" sz="200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58356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496050" y="-67098"/>
            <a:ext cx="7382149" cy="101566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二</a:t>
            </a:r>
            <a:r>
              <a:rPr lang="zh-CN" altLang="en-US" dirty="0" smtClean="0"/>
              <a:t>、磷酸</a:t>
            </a:r>
            <a:r>
              <a:rPr lang="zh-CN" altLang="en-US" dirty="0"/>
              <a:t>果糖激酶-1（PFK-I） </a:t>
            </a:r>
          </a:p>
        </p:txBody>
      </p:sp>
      <p:sp>
        <p:nvSpPr>
          <p:cNvPr id="7" name="矩形 6"/>
          <p:cNvSpPr/>
          <p:nvPr/>
        </p:nvSpPr>
        <p:spPr>
          <a:xfrm>
            <a:off x="5024753" y="1755133"/>
            <a:ext cx="6778226" cy="40472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PFK-1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的变构调节剂。高的柠檬酸浓度会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的对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PFK-1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的抑制作用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，从而进一步减少葡萄糖的流经糖酵解。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柠檬酸（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citrate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丙酮酸，脂肪酸和氨基酸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有氧氧化的关键中间体。高柠檬酸水平，表明细胞正在通过脂肪和蛋白质的氧化，来满足当前的能量需求。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9667" r="15375"/>
          <a:stretch>
            <a:fillRect/>
          </a:stretch>
        </p:blipFill>
        <p:spPr>
          <a:xfrm>
            <a:off x="1318684" y="1617375"/>
            <a:ext cx="3101975" cy="366585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392617" y="5173164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柠檬酸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106711" y="-129164"/>
            <a:ext cx="546656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三、丙酮酸激酶的调节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9389" y="2119932"/>
            <a:ext cx="11321715" cy="23852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6-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二磷酸果糖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使丙酮酸激酶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活化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，称为</a:t>
            </a:r>
            <a:r>
              <a:rPr lang="zh-CN" altLang="en-US" sz="2400" b="1" u="sng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前馈激活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。这使丙酮酸激酶与磷酸果糖激酶协调加速，接受大量代谢中间物，加速酵解。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eaLnBrk="0" hangingPunct="0">
              <a:lnSpc>
                <a:spcPct val="150000"/>
              </a:lnSpc>
              <a:spcBef>
                <a:spcPts val="600"/>
              </a:spcBef>
              <a:buFont typeface="微软雅黑" panose="020B0503020204020204" charset="-122"/>
              <a:buChar char="•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酵解产物丙酮酸转氨合成的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丙氨酸，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可以别构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抑制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这个酶的活性。这是生物合成前体过剩的信号。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7357" y="1219879"/>
            <a:ext cx="9095951" cy="662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丙酮酸激酶调节糖酵解出口，催化第三个不可逆步骤。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>
            <p:ph type="title"/>
          </p:nvPr>
        </p:nvSpPr>
        <p:spPr>
          <a:xfrm>
            <a:off x="1420285" y="0"/>
            <a:ext cx="6775449" cy="590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r>
              <a:rPr lang="en-US" altLang="en-US" sz="3600" b="1" smtClean="0"/>
              <a:t> </a:t>
            </a:r>
            <a:endParaRPr lang="en-US" altLang="en-US" sz="3600" b="1" smtClean="0">
              <a:solidFill>
                <a:schemeClr val="tx1"/>
              </a:solidFill>
            </a:endParaRPr>
          </a:p>
        </p:txBody>
      </p:sp>
      <p:pic>
        <p:nvPicPr>
          <p:cNvPr id="583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34" y="0"/>
            <a:ext cx="67796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Text Box 5"/>
          <p:cNvSpPr txBox="1">
            <a:spLocks noChangeArrowheads="1"/>
          </p:cNvSpPr>
          <p:nvPr/>
        </p:nvSpPr>
        <p:spPr bwMode="auto">
          <a:xfrm>
            <a:off x="270782" y="1390362"/>
            <a:ext cx="4032249" cy="39687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" pitchFamily="18" charset="0"/>
                <a:ea typeface="楷体" pitchFamily="49" charset="-122"/>
              </a:rPr>
              <a:t>糖酵解限速酶的别构调节</a:t>
            </a:r>
          </a:p>
        </p:txBody>
      </p:sp>
    </p:spTree>
    <p:extLst>
      <p:ext uri="{BB962C8B-B14F-4D97-AF65-F5344CB8AC3E}">
        <p14:creationId xmlns:p14="http://schemas.microsoft.com/office/powerpoint/2010/main" val="280248093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>
            <p:ph type="title"/>
          </p:nvPr>
        </p:nvSpPr>
        <p:spPr>
          <a:xfrm>
            <a:off x="4847167" y="569913"/>
            <a:ext cx="3073400" cy="577850"/>
          </a:xfrm>
          <a:solidFill>
            <a:srgbClr val="99CCFF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3200" b="1" i="1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巴斯德效应</a:t>
            </a:r>
            <a:endParaRPr lang="en-US" altLang="en-US" sz="3200" b="1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476251" y="1233664"/>
            <a:ext cx="113883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28600" indent="-228600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Arial" pitchFamily="34" charset="0"/>
              <a:buChar char="☺"/>
            </a:pP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氧气对糖酵解的抑制效应即巴斯德效应（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Pasteur effect</a:t>
            </a:r>
            <a:r>
              <a:rPr lang="zh-CN" altLang="en-US" sz="2800" dirty="0" smtClean="0">
                <a:ea typeface="楷体" pitchFamily="49" charset="-122"/>
                <a:cs typeface="Times New Roman" pitchFamily="18" charset="0"/>
              </a:rPr>
              <a:t>）</a:t>
            </a:r>
            <a:endParaRPr lang="en-US" altLang="zh-CN" sz="2800" dirty="0" smtClean="0"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FF0000"/>
              </a:buClr>
              <a:buFont typeface="Arial" pitchFamily="34" charset="0"/>
              <a:buChar char="☺"/>
            </a:pPr>
            <a:r>
              <a:rPr lang="zh-CN" altLang="en-US" sz="2800" dirty="0" smtClean="0">
                <a:ea typeface="楷体" pitchFamily="49" charset="-122"/>
                <a:cs typeface="Times New Roman" pitchFamily="18" charset="0"/>
              </a:rPr>
              <a:t>在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氧气存在的情况下，生物体利用有氧代谢（三羧酸循环和氧化磷酸化）产生大量的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ATP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，高水平的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ATP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作为负别构效应物通过抑制</a:t>
            </a:r>
            <a:r>
              <a:rPr lang="en-US" altLang="zh-CN" sz="2800" dirty="0">
                <a:ea typeface="楷体" pitchFamily="49" charset="-122"/>
                <a:cs typeface="Times New Roman" pitchFamily="18" charset="0"/>
              </a:rPr>
              <a:t>PFK-1</a:t>
            </a:r>
            <a:r>
              <a:rPr lang="zh-CN" altLang="en-US" sz="2800" dirty="0">
                <a:ea typeface="楷体" pitchFamily="49" charset="-122"/>
                <a:cs typeface="Times New Roman" pitchFamily="18" charset="0"/>
              </a:rPr>
              <a:t>而抑制了糖酵解。</a:t>
            </a:r>
            <a:endParaRPr lang="en-US" altLang="en-US" sz="2800" dirty="0"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64516" name="Picture 5" descr="ANd9GcSQVNwahWhqsSXBNKDsoyKdnZOQt5AQrhdLsbglbK5kR_SfC_hcD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967" y="3933826"/>
            <a:ext cx="25908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7" descr="Pasteur-Eff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885" y="3933825"/>
            <a:ext cx="41275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55451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58256" y="1352407"/>
            <a:ext cx="9555176" cy="4278928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、迅速提供能量、净得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、剧烈运动，肌肉相对缺氧，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EMP↑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B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、病理情况下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呼吸或循环障碍，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供能；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、红细胞靠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供能； </a:t>
            </a:r>
          </a:p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、神经、骨髓也常由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供能。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、提供细胞生物合成的原料，联系三大代谢。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40167" y="-126365"/>
            <a:ext cx="5335115" cy="7439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糖酵解（EMP）的生理意义 </a:t>
            </a: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ChangeArrowheads="1"/>
          </p:cNvSpPr>
          <p:nvPr/>
        </p:nvSpPr>
        <p:spPr bwMode="auto">
          <a:xfrm>
            <a:off x="0" y="8297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563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936" y="0"/>
            <a:ext cx="634835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Rectangle 6"/>
          <p:cNvSpPr>
            <a:spLocks noChangeArrowheads="1"/>
          </p:cNvSpPr>
          <p:nvPr/>
        </p:nvSpPr>
        <p:spPr bwMode="auto">
          <a:xfrm>
            <a:off x="428978" y="144817"/>
            <a:ext cx="3539752" cy="40011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楷体" pitchFamily="49" charset="-122"/>
              </a:rPr>
              <a:t>糖酵解某些中间物的代谢流向</a:t>
            </a:r>
          </a:p>
        </p:txBody>
      </p:sp>
    </p:spTree>
    <p:extLst>
      <p:ext uri="{BB962C8B-B14F-4D97-AF65-F5344CB8AC3E}">
        <p14:creationId xmlns:p14="http://schemas.microsoft.com/office/powerpoint/2010/main" val="2338973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/>
          <p:cNvSpPr>
            <a:spLocks noChangeArrowheads="1"/>
          </p:cNvSpPr>
          <p:nvPr/>
        </p:nvSpPr>
        <p:spPr bwMode="auto">
          <a:xfrm>
            <a:off x="0" y="7837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1" name="Rectangle 7"/>
          <p:cNvSpPr>
            <a:spLocks noChangeArrowheads="1"/>
          </p:cNvSpPr>
          <p:nvPr/>
        </p:nvSpPr>
        <p:spPr bwMode="auto">
          <a:xfrm>
            <a:off x="4260401" y="6380442"/>
            <a:ext cx="3671198" cy="369332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b="1" dirty="0">
                <a:latin typeface="Times New Roman" pitchFamily="18" charset="0"/>
                <a:ea typeface="楷体" pitchFamily="49" charset="-122"/>
              </a:rPr>
              <a:t>甘油和其他单糖进入糖酵解的途径</a:t>
            </a:r>
            <a:endParaRPr lang="zh-CN" altLang="en-US" sz="1800" dirty="0">
              <a:ea typeface="楷体" pitchFamily="49" charset="-122"/>
            </a:endParaRPr>
          </a:p>
        </p:txBody>
      </p:sp>
      <p:pic>
        <p:nvPicPr>
          <p:cNvPr id="5325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33" y="260350"/>
            <a:ext cx="7512051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11864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hjM2ZjMTJkMmM5NTY5MDdmNTAzZTk3NmY5ZjUzY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164,&quot;width&quot;:1138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164,&quot;width&quot;:11388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1849</Words>
  <Application>Microsoft Office PowerPoint</Application>
  <PresentationFormat>自定义</PresentationFormat>
  <Paragraphs>245</Paragraphs>
  <Slides>47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47</vt:i4>
      </vt:variant>
    </vt:vector>
  </HeadingPairs>
  <TitlesOfParts>
    <vt:vector size="50" baseType="lpstr">
      <vt:lpstr>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NADH和丙酮酸的去向</vt:lpstr>
      <vt:lpstr>PowerPoint 演示文稿</vt:lpstr>
      <vt:lpstr>PowerPoint 演示文稿</vt:lpstr>
      <vt:lpstr>PowerPoint 演示文稿</vt:lpstr>
      <vt:lpstr>PowerPoint 演示文稿</vt:lpstr>
      <vt:lpstr>糖酵解的能量学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巴斯德效应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lenovo</cp:lastModifiedBy>
  <cp:revision>128</cp:revision>
  <dcterms:created xsi:type="dcterms:W3CDTF">2020-09-21T10:52:00Z</dcterms:created>
  <dcterms:modified xsi:type="dcterms:W3CDTF">2023-11-29T14:45:42Z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CAE81D22866948F4B10EA2D5F5EC887D</vt:lpwstr>
  </property>
  <property fmtid="{D5CDD505-2E9C-101B-9397-08002B2CF9AE}" pid="3" name="KSOProductBuildVer">
    <vt:lpwstr>2052-11.1.0.11636</vt:lpwstr>
  </property>
</Properties>
</file>