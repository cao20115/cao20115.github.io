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1205" r:id="rId2"/>
    <p:sldId id="1221" r:id="rId3"/>
    <p:sldId id="1206" r:id="rId4"/>
    <p:sldId id="1207" r:id="rId5"/>
    <p:sldId id="1208" r:id="rId6"/>
    <p:sldId id="1209" r:id="rId7"/>
    <p:sldId id="1210" r:id="rId8"/>
    <p:sldId id="1211" r:id="rId9"/>
    <p:sldId id="1212" r:id="rId10"/>
    <p:sldId id="1213" r:id="rId11"/>
    <p:sldId id="1214" r:id="rId12"/>
    <p:sldId id="1215" r:id="rId13"/>
    <p:sldId id="1216" r:id="rId14"/>
    <p:sldId id="1217" r:id="rId15"/>
    <p:sldId id="1218" r:id="rId16"/>
    <p:sldId id="1219" r:id="rId17"/>
    <p:sldId id="1220" r:id="rId18"/>
    <p:sldId id="1222" r:id="rId19"/>
    <p:sldId id="1223" r:id="rId20"/>
    <p:sldId id="1224" r:id="rId21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C80"/>
    <a:srgbClr val="FF6600"/>
    <a:srgbClr val="EB35CD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24" autoAdjust="0"/>
    <p:restoredTop sz="86737" autoAdjust="0"/>
  </p:normalViewPr>
  <p:slideViewPr>
    <p:cSldViewPr snapToGrid="0">
      <p:cViewPr varScale="1">
        <p:scale>
          <a:sx n="98" d="100"/>
          <a:sy n="98" d="100"/>
        </p:scale>
        <p:origin x="1386" y="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8640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5297C9-CFD7-48A2-BD37-04FEFC5AB813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5EA7C-94DB-41DF-9028-4D76D39179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41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93700" y="690563"/>
            <a:ext cx="6146800" cy="3457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519383A-97AB-4E9F-ADB2-1ECE650A7D9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限速酶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5EA7C-94DB-41DF-9028-4D76D391794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610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2023/12/7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2023/12/7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2023/12/7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2023/12/7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2023/12/7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2023/12/7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2023/12/7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2023/12/7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D968E2-24A8-46F5-BB3F-C7A9E32908A9}" type="datetime1">
              <a:rPr lang="zh-CN" altLang="en-US" smtClean="0"/>
              <a:t>2023/12/7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1228C-2A41-49A9-870A-621E113E584C}" type="datetimeFigureOut">
              <a:rPr lang="zh-CN" altLang="en-US" smtClean="0"/>
              <a:t>2023/12/7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413C-B4C7-4D74-84B1-3A5243B271C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MolMotion"/>
          <p:cNvPicPr>
            <a:picLocks noChangeAspect="1"/>
          </p:cNvPicPr>
          <p:nvPr/>
        </p:nvPicPr>
        <p:blipFill>
          <a:blip r:embed="rId3"/>
          <a:srcRect l="8759"/>
          <a:stretch>
            <a:fillRect/>
          </a:stretch>
        </p:blipFill>
        <p:spPr>
          <a:xfrm>
            <a:off x="0" y="0"/>
            <a:ext cx="8264504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608945" y="2635546"/>
            <a:ext cx="291713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11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章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氨基酸代谢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2961" y="1502600"/>
            <a:ext cx="12006076" cy="1665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>
                <a:ea typeface="微软雅黑" panose="020B0503020204020204" pitchFamily="34" charset="-122"/>
              </a:rPr>
              <a:t>        氨基酸分解代谢开始于</a:t>
            </a:r>
            <a:r>
              <a:rPr lang="zh-CN" altLang="en-US" sz="3600" dirty="0">
                <a:solidFill>
                  <a:srgbClr val="FF0000"/>
                </a:solidFill>
                <a:ea typeface="微软雅黑" panose="020B0503020204020204" pitchFamily="34" charset="-122"/>
              </a:rPr>
              <a:t>转氨基作用</a:t>
            </a:r>
            <a:r>
              <a:rPr lang="zh-CN" altLang="en-US" sz="3600" dirty="0">
                <a:ea typeface="微软雅黑" panose="020B0503020204020204" pitchFamily="34" charset="-122"/>
              </a:rPr>
              <a:t>， 通过</a:t>
            </a:r>
            <a:r>
              <a:rPr lang="zh-CN" altLang="en-US" sz="3600" dirty="0">
                <a:solidFill>
                  <a:srgbClr val="FF0000"/>
                </a:solidFill>
                <a:ea typeface="微软雅黑" panose="020B0503020204020204" pitchFamily="34" charset="-122"/>
              </a:rPr>
              <a:t>联合脱氨基作用</a:t>
            </a:r>
            <a:r>
              <a:rPr lang="zh-CN" altLang="en-US" sz="3600" dirty="0">
                <a:ea typeface="微软雅黑" panose="020B0503020204020204" pitchFamily="34" charset="-122"/>
              </a:rPr>
              <a:t>将</a:t>
            </a:r>
            <a:r>
              <a:rPr lang="en-US" altLang="zh-CN" sz="3600" dirty="0">
                <a:ea typeface="微软雅黑" panose="020B0503020204020204" pitchFamily="34" charset="-122"/>
              </a:rPr>
              <a:t>—NH</a:t>
            </a:r>
            <a:r>
              <a:rPr lang="en-US" altLang="zh-CN" sz="3600" baseline="-25000" dirty="0">
                <a:ea typeface="微软雅黑" panose="020B0503020204020204" pitchFamily="34" charset="-122"/>
              </a:rPr>
              <a:t>2</a:t>
            </a:r>
            <a:r>
              <a:rPr lang="zh-CN" altLang="en-US" sz="3600" dirty="0">
                <a:ea typeface="微软雅黑" panose="020B0503020204020204" pitchFamily="34" charset="-122"/>
              </a:rPr>
              <a:t>脱去，产物</a:t>
            </a:r>
            <a:r>
              <a:rPr lang="en-US" altLang="zh-CN" sz="3600" dirty="0">
                <a:solidFill>
                  <a:srgbClr val="FF0000"/>
                </a:solidFill>
                <a:ea typeface="微软雅黑" panose="020B0503020204020204" pitchFamily="34" charset="-122"/>
              </a:rPr>
              <a:t>α-</a:t>
            </a:r>
            <a:r>
              <a:rPr lang="zh-CN" altLang="en-US" sz="3600" dirty="0">
                <a:solidFill>
                  <a:srgbClr val="FF0000"/>
                </a:solidFill>
                <a:ea typeface="微软雅黑" panose="020B0503020204020204" pitchFamily="34" charset="-122"/>
              </a:rPr>
              <a:t>酮酸</a:t>
            </a:r>
            <a:r>
              <a:rPr lang="zh-CN" altLang="en-US" sz="3600" dirty="0">
                <a:ea typeface="微软雅黑" panose="020B0503020204020204" pitchFamily="34" charset="-122"/>
              </a:rPr>
              <a:t>和</a:t>
            </a:r>
            <a:r>
              <a:rPr lang="en-US" altLang="zh-CN" sz="3600" dirty="0">
                <a:solidFill>
                  <a:srgbClr val="FF0000"/>
                </a:solidFill>
                <a:ea typeface="微软雅黑" panose="020B0503020204020204" pitchFamily="34" charset="-122"/>
              </a:rPr>
              <a:t>NH</a:t>
            </a:r>
            <a:r>
              <a:rPr lang="en-US" altLang="zh-CN" sz="3600" baseline="-25000" dirty="0">
                <a:solidFill>
                  <a:srgbClr val="FF0000"/>
                </a:solidFill>
                <a:ea typeface="微软雅黑" panose="020B0503020204020204" pitchFamily="34" charset="-122"/>
              </a:rPr>
              <a:t>3</a:t>
            </a:r>
            <a:r>
              <a:rPr lang="zh-CN" altLang="en-US" sz="3600" dirty="0">
                <a:ea typeface="微软雅黑" panose="020B0503020204020204" pitchFamily="34" charset="-122"/>
              </a:rPr>
              <a:t>进一 步进行代谢转变。</a:t>
            </a:r>
          </a:p>
        </p:txBody>
      </p:sp>
      <p:sp>
        <p:nvSpPr>
          <p:cNvPr id="3" name="矩形 2"/>
          <p:cNvSpPr/>
          <p:nvPr/>
        </p:nvSpPr>
        <p:spPr>
          <a:xfrm>
            <a:off x="3875680" y="239842"/>
            <a:ext cx="444063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氨基酸的分解代谢 </a:t>
            </a:r>
          </a:p>
        </p:txBody>
      </p:sp>
    </p:spTree>
    <p:extLst>
      <p:ext uri="{BB962C8B-B14F-4D97-AF65-F5344CB8AC3E}">
        <p14:creationId xmlns:p14="http://schemas.microsoft.com/office/powerpoint/2010/main" val="957921010"/>
      </p:ext>
    </p:extLst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28301" y="284158"/>
            <a:ext cx="35541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一、转氨基作用 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1216027"/>
            <a:ext cx="12192000" cy="22297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ea typeface="微软雅黑" panose="020B0503020204020204" pitchFamily="34" charset="-122"/>
              </a:rPr>
              <a:t>        α -</a:t>
            </a:r>
            <a:r>
              <a:rPr lang="zh-CN" altLang="en-US" sz="3200" dirty="0">
                <a:ea typeface="微软雅黑" panose="020B0503020204020204" pitchFamily="34" charset="-122"/>
              </a:rPr>
              <a:t>氨基酸和</a:t>
            </a:r>
            <a:r>
              <a:rPr lang="en-US" altLang="zh-CN" sz="3200" dirty="0">
                <a:ea typeface="微软雅黑" panose="020B0503020204020204" pitchFamily="34" charset="-122"/>
              </a:rPr>
              <a:t>α -</a:t>
            </a:r>
            <a:r>
              <a:rPr lang="zh-CN" altLang="en-US" sz="3200" dirty="0">
                <a:ea typeface="微软雅黑" panose="020B0503020204020204" pitchFamily="34" charset="-122"/>
              </a:rPr>
              <a:t>酮酸之间氨基的转移作用。在转氨酶的作用下， </a:t>
            </a:r>
            <a:r>
              <a:rPr lang="en-US" altLang="zh-CN" sz="3200" dirty="0">
                <a:ea typeface="微软雅黑" panose="020B0503020204020204" pitchFamily="34" charset="-122"/>
              </a:rPr>
              <a:t>α -</a:t>
            </a:r>
            <a:r>
              <a:rPr lang="zh-CN" altLang="en-US" sz="3200" dirty="0">
                <a:ea typeface="微软雅黑" panose="020B0503020204020204" pitchFamily="34" charset="-122"/>
              </a:rPr>
              <a:t>氨基酸的氨基转移到</a:t>
            </a:r>
            <a:r>
              <a:rPr lang="en-US" altLang="zh-CN" sz="3200" dirty="0">
                <a:ea typeface="微软雅黑" panose="020B0503020204020204" pitchFamily="34" charset="-122"/>
              </a:rPr>
              <a:t>α -</a:t>
            </a:r>
            <a:r>
              <a:rPr lang="zh-CN" altLang="en-US" sz="3200" dirty="0">
                <a:ea typeface="微软雅黑" panose="020B0503020204020204" pitchFamily="34" charset="-122"/>
              </a:rPr>
              <a:t>酮酸上，其变为相应的酮酸，而原来的酮酸变为相应的氨基酸。</a:t>
            </a:r>
          </a:p>
        </p:txBody>
      </p:sp>
    </p:spTree>
    <p:extLst>
      <p:ext uri="{BB962C8B-B14F-4D97-AF65-F5344CB8AC3E}">
        <p14:creationId xmlns:p14="http://schemas.microsoft.com/office/powerpoint/2010/main" val="2371088311"/>
      </p:ext>
    </p:extLst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691624" y="1278629"/>
            <a:ext cx="5090645" cy="37070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ea typeface="微软雅黑" panose="020B0503020204020204" pitchFamily="34" charset="-122"/>
              </a:rPr>
              <a:t>①存在于线粒体和胞液中 </a:t>
            </a:r>
            <a:endParaRPr lang="en-US" altLang="zh-CN" sz="32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ea typeface="微软雅黑" panose="020B0503020204020204" pitchFamily="34" charset="-122"/>
              </a:rPr>
              <a:t>②绝大多数转氨酶以</a:t>
            </a:r>
            <a:r>
              <a:rPr lang="en-US" altLang="zh-CN" sz="3200" dirty="0">
                <a:solidFill>
                  <a:srgbClr val="FF0000"/>
                </a:solidFill>
                <a:ea typeface="微软雅黑" panose="020B0503020204020204" pitchFamily="34" charset="-122"/>
              </a:rPr>
              <a:t>α -</a:t>
            </a:r>
            <a:r>
              <a:rPr lang="zh-CN" altLang="en-US" sz="3200" dirty="0">
                <a:solidFill>
                  <a:srgbClr val="FF0000"/>
                </a:solidFill>
                <a:ea typeface="微软雅黑" panose="020B0503020204020204" pitchFamily="34" charset="-122"/>
              </a:rPr>
              <a:t>酮 戊二酸</a:t>
            </a:r>
            <a:r>
              <a:rPr lang="zh-CN" altLang="en-US" sz="3200" dirty="0">
                <a:ea typeface="微软雅黑" panose="020B0503020204020204" pitchFamily="34" charset="-122"/>
              </a:rPr>
              <a:t>为</a:t>
            </a:r>
            <a:r>
              <a:rPr lang="en-US" altLang="zh-CN" sz="3200" dirty="0">
                <a:solidFill>
                  <a:srgbClr val="FF0000"/>
                </a:solidFill>
                <a:ea typeface="微软雅黑" panose="020B0503020204020204" pitchFamily="34" charset="-122"/>
              </a:rPr>
              <a:t>-NH</a:t>
            </a:r>
            <a:r>
              <a:rPr lang="en-US" altLang="zh-CN" sz="3200" baseline="-25000" dirty="0">
                <a:solidFill>
                  <a:srgbClr val="FF0000"/>
                </a:solidFill>
                <a:ea typeface="微软雅黑" panose="020B0503020204020204" pitchFamily="34" charset="-122"/>
              </a:rPr>
              <a:t>2</a:t>
            </a:r>
            <a:r>
              <a:rPr lang="zh-CN" altLang="en-US" sz="3200" dirty="0">
                <a:solidFill>
                  <a:srgbClr val="FF0000"/>
                </a:solidFill>
                <a:ea typeface="微软雅黑" panose="020B0503020204020204" pitchFamily="34" charset="-122"/>
              </a:rPr>
              <a:t>受体</a:t>
            </a:r>
            <a:r>
              <a:rPr lang="zh-CN" altLang="en-US" sz="3200" dirty="0">
                <a:ea typeface="微软雅黑" panose="020B0503020204020204" pitchFamily="34" charset="-122"/>
              </a:rPr>
              <a:t>，少数 以草酰乙酸为</a:t>
            </a:r>
            <a:r>
              <a:rPr lang="en-US" altLang="zh-CN" sz="3200" dirty="0">
                <a:ea typeface="微软雅黑" panose="020B0503020204020204" pitchFamily="34" charset="-122"/>
              </a:rPr>
              <a:t>-NH</a:t>
            </a:r>
            <a:r>
              <a:rPr lang="en-US" altLang="zh-CN" sz="3200" baseline="-25000" dirty="0">
                <a:ea typeface="微软雅黑" panose="020B0503020204020204" pitchFamily="34" charset="-122"/>
              </a:rPr>
              <a:t>2</a:t>
            </a:r>
            <a:r>
              <a:rPr lang="zh-CN" altLang="en-US" sz="3200" dirty="0">
                <a:ea typeface="微软雅黑" panose="020B0503020204020204" pitchFamily="34" charset="-122"/>
              </a:rPr>
              <a:t>受体。 </a:t>
            </a:r>
            <a:endParaRPr lang="en-US" altLang="zh-CN" sz="32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ea typeface="微软雅黑" panose="020B0503020204020204" pitchFamily="34" charset="-122"/>
              </a:rPr>
              <a:t>③辅酶是磷酸吡哆醛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4A5E27-644F-F20A-272D-E188F97C7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818" y="504073"/>
            <a:ext cx="4943522" cy="574356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7900681-20DC-683E-0E97-B66BA7781E8D}"/>
              </a:ext>
            </a:extLst>
          </p:cNvPr>
          <p:cNvSpPr txBox="1"/>
          <p:nvPr/>
        </p:nvSpPr>
        <p:spPr>
          <a:xfrm>
            <a:off x="6691624" y="632298"/>
            <a:ext cx="2469628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转氨酶： </a:t>
            </a:r>
          </a:p>
        </p:txBody>
      </p:sp>
    </p:spTree>
    <p:extLst>
      <p:ext uri="{BB962C8B-B14F-4D97-AF65-F5344CB8AC3E}">
        <p14:creationId xmlns:p14="http://schemas.microsoft.com/office/powerpoint/2010/main" val="957921010"/>
      </p:ext>
    </p:extLst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234B353-463C-D9C1-CE09-DE1D6F0FC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804" y="0"/>
            <a:ext cx="93147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21010"/>
      </p:ext>
    </p:extLst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70474" y="87393"/>
            <a:ext cx="43396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二、联合脱氨基作用</a:t>
            </a:r>
          </a:p>
        </p:txBody>
      </p:sp>
      <p:sp>
        <p:nvSpPr>
          <p:cNvPr id="3" name="矩形 2"/>
          <p:cNvSpPr/>
          <p:nvPr/>
        </p:nvSpPr>
        <p:spPr>
          <a:xfrm>
            <a:off x="570474" y="946963"/>
            <a:ext cx="10869477" cy="6415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dirty="0">
                <a:ea typeface="微软雅黑" panose="020B0503020204020204" pitchFamily="34" charset="-122"/>
              </a:rPr>
              <a:t>定义：</a:t>
            </a:r>
            <a:r>
              <a:rPr lang="zh-CN" altLang="en-US" sz="3200" dirty="0">
                <a:solidFill>
                  <a:srgbClr val="FF0000"/>
                </a:solidFill>
                <a:ea typeface="微软雅黑" panose="020B0503020204020204" pitchFamily="34" charset="-122"/>
              </a:rPr>
              <a:t>转氨基</a:t>
            </a:r>
            <a:r>
              <a:rPr lang="zh-CN" altLang="en-US" sz="3200" dirty="0">
                <a:ea typeface="微软雅黑" panose="020B0503020204020204" pitchFamily="34" charset="-122"/>
              </a:rPr>
              <a:t>和</a:t>
            </a:r>
            <a:r>
              <a:rPr lang="zh-CN" altLang="en-US" sz="3200" dirty="0">
                <a:solidFill>
                  <a:srgbClr val="FF0000"/>
                </a:solidFill>
                <a:ea typeface="微软雅黑" panose="020B0503020204020204" pitchFamily="34" charset="-122"/>
              </a:rPr>
              <a:t>氧化脱氨基</a:t>
            </a:r>
            <a:r>
              <a:rPr lang="zh-CN" altLang="en-US" sz="3200" dirty="0">
                <a:ea typeface="微软雅黑" panose="020B0503020204020204" pitchFamily="34" charset="-122"/>
              </a:rPr>
              <a:t>作用相配合，称联合脱氨基作用。</a:t>
            </a:r>
          </a:p>
        </p:txBody>
      </p:sp>
      <p:sp>
        <p:nvSpPr>
          <p:cNvPr id="4" name="矩形 3"/>
          <p:cNvSpPr/>
          <p:nvPr/>
        </p:nvSpPr>
        <p:spPr>
          <a:xfrm>
            <a:off x="608616" y="1812783"/>
            <a:ext cx="8287867" cy="6415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ea typeface="微软雅黑" panose="020B0503020204020204" pitchFamily="34" charset="-122"/>
              </a:rPr>
              <a:t>以</a:t>
            </a:r>
            <a:r>
              <a:rPr lang="en-US" altLang="zh-CN" sz="3200" dirty="0" err="1">
                <a:solidFill>
                  <a:srgbClr val="FF0000"/>
                </a:solidFill>
                <a:ea typeface="微软雅黑" panose="020B0503020204020204" pitchFamily="34" charset="-122"/>
              </a:rPr>
              <a:t>Glu</a:t>
            </a:r>
            <a:r>
              <a:rPr lang="zh-CN" altLang="en-US" sz="3200" dirty="0">
                <a:solidFill>
                  <a:srgbClr val="FF0000"/>
                </a:solidFill>
                <a:ea typeface="微软雅黑" panose="020B0503020204020204" pitchFamily="34" charset="-122"/>
              </a:rPr>
              <a:t>脱氢酶</a:t>
            </a:r>
            <a:r>
              <a:rPr lang="zh-CN" altLang="en-US" sz="3200" dirty="0">
                <a:ea typeface="微软雅黑" panose="020B0503020204020204" pitchFamily="34" charset="-122"/>
              </a:rPr>
              <a:t>为中心的联合脱氨基作用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9B60D5F-DBBD-7758-9FDE-A6241F69D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71" y="2912510"/>
            <a:ext cx="10693258" cy="228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21010"/>
      </p:ext>
    </p:extLst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52793" y="3295650"/>
            <a:ext cx="8696611" cy="160704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ea typeface="微软雅黑" panose="020B0503020204020204" pitchFamily="34" charset="-122"/>
              </a:rPr>
              <a:t>L-Glu</a:t>
            </a:r>
            <a:r>
              <a:rPr lang="zh-CN" altLang="en-US" sz="2800" dirty="0">
                <a:ea typeface="微软雅黑" panose="020B0503020204020204" pitchFamily="34" charset="-122"/>
              </a:rPr>
              <a:t>脱氢酶</a:t>
            </a:r>
            <a:r>
              <a:rPr lang="en-US" altLang="zh-CN" sz="2800" dirty="0"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ea typeface="微软雅黑" panose="020B0503020204020204" pitchFamily="34" charset="-122"/>
              </a:rPr>
              <a:t>①</a:t>
            </a:r>
            <a:r>
              <a:rPr lang="zh-CN" altLang="en-US" sz="2800" dirty="0">
                <a:ea typeface="微软雅黑" panose="020B0503020204020204" pitchFamily="34" charset="-122"/>
              </a:rPr>
              <a:t>位于</a:t>
            </a:r>
            <a:r>
              <a:rPr lang="zh-CN" altLang="en-US" sz="2800" dirty="0">
                <a:solidFill>
                  <a:srgbClr val="FF0000"/>
                </a:solidFill>
                <a:ea typeface="微软雅黑" panose="020B0503020204020204" pitchFamily="34" charset="-122"/>
              </a:rPr>
              <a:t>线粒体内 </a:t>
            </a:r>
            <a:endParaRPr lang="en-US" altLang="zh-CN" sz="2800" dirty="0">
              <a:solidFill>
                <a:srgbClr val="FF0000"/>
              </a:solidFill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>
                <a:ea typeface="微软雅黑" panose="020B0503020204020204" pitchFamily="34" charset="-122"/>
              </a:rPr>
              <a:t>② 脱氨基活力最强的酶</a:t>
            </a:r>
          </a:p>
        </p:txBody>
      </p:sp>
      <p:sp>
        <p:nvSpPr>
          <p:cNvPr id="3" name="矩形 2"/>
          <p:cNvSpPr/>
          <p:nvPr/>
        </p:nvSpPr>
        <p:spPr>
          <a:xfrm>
            <a:off x="149902" y="5240028"/>
            <a:ext cx="11557580" cy="108997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highlight>
                  <a:srgbClr val="FFFF00"/>
                </a:highlight>
                <a:ea typeface="微软雅黑" panose="020B0503020204020204" pitchFamily="34" charset="-122"/>
              </a:rPr>
              <a:t>当机体能量不足时，</a:t>
            </a:r>
            <a:r>
              <a:rPr lang="en-US" altLang="zh-CN" sz="2800" dirty="0" err="1">
                <a:highlight>
                  <a:srgbClr val="FFFF00"/>
                </a:highlight>
                <a:ea typeface="微软雅黑" panose="020B0503020204020204" pitchFamily="34" charset="-122"/>
              </a:rPr>
              <a:t>Glu</a:t>
            </a:r>
            <a:r>
              <a:rPr lang="zh-CN" altLang="en-US" sz="2800" dirty="0">
                <a:highlight>
                  <a:srgbClr val="FFFF00"/>
                </a:highlight>
                <a:ea typeface="微软雅黑" panose="020B0503020204020204" pitchFamily="34" charset="-122"/>
              </a:rPr>
              <a:t>氧化脱氨基活性加强，对氨基酸分解供能起到调节作用。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61C4D2B-3907-8568-35E3-8BAC6461D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54" y="0"/>
            <a:ext cx="1049655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2101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19633" y="39239"/>
            <a:ext cx="57246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三、氨基酸分解产物的代谢</a:t>
            </a:r>
          </a:p>
        </p:txBody>
      </p:sp>
      <p:sp>
        <p:nvSpPr>
          <p:cNvPr id="3" name="矩形 2"/>
          <p:cNvSpPr/>
          <p:nvPr/>
        </p:nvSpPr>
        <p:spPr>
          <a:xfrm>
            <a:off x="1134427" y="1028183"/>
            <a:ext cx="5521206" cy="6415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dirty="0">
                <a:ea typeface="微软雅黑" panose="020B0503020204020204" pitchFamily="34" charset="-122"/>
              </a:rPr>
              <a:t>(</a:t>
            </a:r>
            <a:r>
              <a:rPr lang="zh-CN" altLang="en-US" sz="3200" dirty="0">
                <a:ea typeface="微软雅黑" panose="020B0503020204020204" pitchFamily="34" charset="-122"/>
              </a:rPr>
              <a:t>一</a:t>
            </a:r>
            <a:r>
              <a:rPr lang="en-US" altLang="zh-CN" sz="3200" dirty="0">
                <a:ea typeface="微软雅黑" panose="020B0503020204020204" pitchFamily="34" charset="-122"/>
              </a:rPr>
              <a:t>) NH</a:t>
            </a:r>
            <a:r>
              <a:rPr lang="en-US" altLang="zh-CN" sz="3200" baseline="-25000" dirty="0">
                <a:ea typeface="微软雅黑" panose="020B0503020204020204" pitchFamily="34" charset="-122"/>
              </a:rPr>
              <a:t>3</a:t>
            </a:r>
            <a:r>
              <a:rPr lang="zh-CN" altLang="en-US" sz="3200" dirty="0">
                <a:ea typeface="微软雅黑" panose="020B0503020204020204" pitchFamily="34" charset="-122"/>
              </a:rPr>
              <a:t>的代谢转变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B93052-2FAD-24ED-0E47-0B9BC2CE0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87" y="2033510"/>
            <a:ext cx="957262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21010"/>
      </p:ext>
    </p:extLst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46306" y="58360"/>
            <a:ext cx="24929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尿素的生成</a:t>
            </a:r>
          </a:p>
        </p:txBody>
      </p:sp>
      <p:sp>
        <p:nvSpPr>
          <p:cNvPr id="3" name="矩形 2"/>
          <p:cNvSpPr/>
          <p:nvPr/>
        </p:nvSpPr>
        <p:spPr>
          <a:xfrm>
            <a:off x="0" y="2889788"/>
            <a:ext cx="12192000" cy="264117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ea typeface="微软雅黑" panose="020B0503020204020204" pitchFamily="34" charset="-122"/>
              </a:rPr>
              <a:t>生物体各组织氨基酸代谢产生的</a:t>
            </a:r>
            <a:r>
              <a:rPr lang="en-US" altLang="zh-CN" sz="2800" dirty="0">
                <a:ea typeface="微软雅黑" panose="020B0503020204020204" pitchFamily="34" charset="-122"/>
              </a:rPr>
              <a:t>NH</a:t>
            </a:r>
            <a:r>
              <a:rPr lang="en-US" altLang="zh-CN" sz="2800" baseline="-25000" dirty="0"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ea typeface="微软雅黑" panose="020B0503020204020204" pitchFamily="34" charset="-122"/>
              </a:rPr>
              <a:t>主要以</a:t>
            </a:r>
            <a:r>
              <a:rPr lang="zh-CN" altLang="en-US" sz="2800" dirty="0">
                <a:solidFill>
                  <a:srgbClr val="FF0000"/>
                </a:solidFill>
                <a:ea typeface="微软雅黑" panose="020B0503020204020204" pitchFamily="34" charset="-122"/>
              </a:rPr>
              <a:t>谷氨酰胺</a:t>
            </a:r>
            <a:r>
              <a:rPr lang="zh-CN" altLang="en-US" sz="2800" dirty="0">
                <a:ea typeface="微软雅黑" panose="020B0503020204020204" pitchFamily="34" charset="-122"/>
              </a:rPr>
              <a:t>的形式被运至</a:t>
            </a:r>
            <a:r>
              <a:rPr lang="zh-CN" altLang="en-US" sz="2800" dirty="0">
                <a:solidFill>
                  <a:srgbClr val="FF0000"/>
                </a:solidFill>
                <a:ea typeface="微软雅黑" panose="020B0503020204020204" pitchFamily="34" charset="-122"/>
              </a:rPr>
              <a:t>肝脏</a:t>
            </a:r>
            <a:r>
              <a:rPr lang="zh-CN" altLang="en-US" sz="2800" dirty="0">
                <a:ea typeface="微软雅黑" panose="020B0503020204020204" pitchFamily="34" charset="-122"/>
              </a:rPr>
              <a:t>。谷氨酰胺是中性分子，容易透过细胞膜，进入血液循环，是氨转运的主要方式。 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ea typeface="微软雅黑" panose="020B0503020204020204" pitchFamily="34" charset="-122"/>
              </a:rPr>
              <a:t>到达肝脏的谷氨酰胺在</a:t>
            </a:r>
            <a:r>
              <a:rPr lang="zh-CN" altLang="en-US" sz="2800" dirty="0">
                <a:solidFill>
                  <a:srgbClr val="FF0000"/>
                </a:solidFill>
                <a:ea typeface="微软雅黑" panose="020B0503020204020204" pitchFamily="34" charset="-122"/>
              </a:rPr>
              <a:t>谷氨酰胺酶</a:t>
            </a:r>
            <a:r>
              <a:rPr lang="zh-CN" altLang="en-US" sz="2800" dirty="0">
                <a:ea typeface="微软雅黑" panose="020B0503020204020204" pitchFamily="34" charset="-122"/>
              </a:rPr>
              <a:t>的作用下释放出</a:t>
            </a:r>
            <a:r>
              <a:rPr lang="en-US" altLang="zh-CN" sz="2800" dirty="0">
                <a:ea typeface="微软雅黑" panose="020B0503020204020204" pitchFamily="34" charset="-122"/>
              </a:rPr>
              <a:t>NH</a:t>
            </a:r>
            <a:r>
              <a:rPr lang="en-US" altLang="zh-CN" sz="2800" baseline="-25000" dirty="0"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ea typeface="微软雅黑" panose="020B0503020204020204" pitchFamily="34" charset="-122"/>
              </a:rPr>
              <a:t>，并生成谷氨酸。</a:t>
            </a:r>
            <a:r>
              <a:rPr lang="en-US" altLang="zh-CN" sz="2800" dirty="0">
                <a:ea typeface="微软雅黑" panose="020B0503020204020204" pitchFamily="34" charset="-122"/>
              </a:rPr>
              <a:t>NH</a:t>
            </a:r>
            <a:r>
              <a:rPr lang="en-US" altLang="zh-CN" sz="2800" baseline="-25000" dirty="0"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ea typeface="微软雅黑" panose="020B0503020204020204" pitchFamily="34" charset="-122"/>
              </a:rPr>
              <a:t>可直接进入尿素循环。谷氨酸氧化脱氨后生成的</a:t>
            </a:r>
            <a:r>
              <a:rPr lang="en-US" altLang="zh-CN" sz="2800" dirty="0">
                <a:ea typeface="微软雅黑" panose="020B0503020204020204" pitchFamily="34" charset="-122"/>
              </a:rPr>
              <a:t>NH</a:t>
            </a:r>
            <a:r>
              <a:rPr lang="en-US" altLang="zh-CN" sz="2800" baseline="-25000" dirty="0">
                <a:ea typeface="微软雅黑" panose="020B0503020204020204" pitchFamily="34" charset="-122"/>
              </a:rPr>
              <a:t>3</a:t>
            </a:r>
            <a:r>
              <a:rPr lang="zh-CN" altLang="en-US" sz="2800" dirty="0">
                <a:ea typeface="微软雅黑" panose="020B0503020204020204" pitchFamily="34" charset="-122"/>
              </a:rPr>
              <a:t>也可进入尿素循环。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670577-A60A-D0AB-1C1D-EB165E47E244}"/>
              </a:ext>
            </a:extLst>
          </p:cNvPr>
          <p:cNvSpPr txBox="1"/>
          <p:nvPr/>
        </p:nvSpPr>
        <p:spPr>
          <a:xfrm>
            <a:off x="723276" y="704691"/>
            <a:ext cx="6093500" cy="122411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32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）部位：肝脏 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）氨向肝脏的运输</a:t>
            </a:r>
            <a:endParaRPr lang="en-US" altLang="zh-CN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D98FD8-CD72-A74F-2FD3-540382E865FB}"/>
              </a:ext>
            </a:extLst>
          </p:cNvPr>
          <p:cNvSpPr txBox="1"/>
          <p:nvPr/>
        </p:nvSpPr>
        <p:spPr>
          <a:xfrm>
            <a:off x="0" y="2053624"/>
            <a:ext cx="6460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b="1" dirty="0"/>
              <a:t> 以</a:t>
            </a:r>
            <a:r>
              <a:rPr lang="zh-CN" altLang="en-US" sz="3200" b="1" dirty="0">
                <a:solidFill>
                  <a:srgbClr val="FF0000"/>
                </a:solidFill>
              </a:rPr>
              <a:t>谷氨酰胺</a:t>
            </a:r>
            <a:r>
              <a:rPr lang="zh-CN" altLang="en-US" sz="3200" b="1" dirty="0"/>
              <a:t>形式运输</a:t>
            </a:r>
          </a:p>
        </p:txBody>
      </p:sp>
    </p:spTree>
    <p:extLst>
      <p:ext uri="{BB962C8B-B14F-4D97-AF65-F5344CB8AC3E}">
        <p14:creationId xmlns:p14="http://schemas.microsoft.com/office/powerpoint/2010/main" val="957921010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4A42342-AC08-EC18-D8E6-8340C422B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20" y="0"/>
            <a:ext cx="101687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21010"/>
      </p:ext>
    </p:extLst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01152" y="273786"/>
            <a:ext cx="6661392" cy="6415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dirty="0">
                <a:ea typeface="微软雅黑" panose="020B0503020204020204" pitchFamily="34" charset="-122"/>
              </a:rPr>
              <a:t>尿素循环（鸟氨酸循环，脲环）</a:t>
            </a:r>
          </a:p>
        </p:txBody>
      </p:sp>
      <p:sp>
        <p:nvSpPr>
          <p:cNvPr id="3" name="矩形 2"/>
          <p:cNvSpPr/>
          <p:nvPr/>
        </p:nvSpPr>
        <p:spPr>
          <a:xfrm>
            <a:off x="979486" y="249319"/>
            <a:ext cx="33778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）生成机制 </a:t>
            </a:r>
          </a:p>
        </p:txBody>
      </p:sp>
      <p:sp>
        <p:nvSpPr>
          <p:cNvPr id="4" name="矩形 3"/>
          <p:cNvSpPr/>
          <p:nvPr/>
        </p:nvSpPr>
        <p:spPr>
          <a:xfrm>
            <a:off x="1458279" y="1944811"/>
            <a:ext cx="7221025" cy="29683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ea typeface="微软雅黑" panose="020B0503020204020204" pitchFamily="34" charset="-122"/>
              </a:rPr>
              <a:t>分成三个阶段：</a:t>
            </a:r>
            <a:endParaRPr lang="en-US" altLang="zh-CN" sz="32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ea typeface="微软雅黑" panose="020B0503020204020204" pitchFamily="34" charset="-122"/>
              </a:rPr>
              <a:t> </a:t>
            </a:r>
            <a:r>
              <a:rPr lang="en-US" altLang="zh-CN" sz="3200" dirty="0">
                <a:ea typeface="微软雅黑" panose="020B0503020204020204" pitchFamily="34" charset="-122"/>
              </a:rPr>
              <a:t>I. </a:t>
            </a:r>
            <a:r>
              <a:rPr lang="zh-CN" altLang="en-US" sz="3200" dirty="0">
                <a:ea typeface="微软雅黑" panose="020B0503020204020204" pitchFamily="34" charset="-122"/>
              </a:rPr>
              <a:t>鸟氨酸 → 瓜氨酸（线粒体中） </a:t>
            </a:r>
          </a:p>
          <a:p>
            <a:pPr>
              <a:lnSpc>
                <a:spcPct val="150000"/>
              </a:lnSpc>
            </a:pPr>
            <a:r>
              <a:rPr lang="zh-CN" altLang="en-US" sz="3200" dirty="0">
                <a:ea typeface="微软雅黑" panose="020B0503020204020204" pitchFamily="34" charset="-122"/>
              </a:rPr>
              <a:t> </a:t>
            </a:r>
            <a:r>
              <a:rPr lang="en-US" altLang="zh-CN" sz="3200" dirty="0">
                <a:ea typeface="微软雅黑" panose="020B0503020204020204" pitchFamily="34" charset="-122"/>
              </a:rPr>
              <a:t>II. </a:t>
            </a:r>
            <a:r>
              <a:rPr lang="zh-CN" altLang="en-US" sz="3200" dirty="0">
                <a:ea typeface="微软雅黑" panose="020B0503020204020204" pitchFamily="34" charset="-122"/>
              </a:rPr>
              <a:t>瓜氨酸 →  精氨酸（细胞质中）</a:t>
            </a:r>
            <a:endParaRPr lang="en-US" altLang="zh-CN" sz="32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ea typeface="微软雅黑" panose="020B0503020204020204" pitchFamily="34" charset="-122"/>
              </a:rPr>
              <a:t> </a:t>
            </a:r>
            <a:r>
              <a:rPr lang="en-US" altLang="zh-CN" sz="3200" dirty="0">
                <a:ea typeface="微软雅黑" panose="020B0503020204020204" pitchFamily="34" charset="-122"/>
              </a:rPr>
              <a:t>III. </a:t>
            </a:r>
            <a:r>
              <a:rPr lang="zh-CN" altLang="en-US" sz="3200" dirty="0">
                <a:ea typeface="微软雅黑" panose="020B0503020204020204" pitchFamily="34" charset="-122"/>
              </a:rPr>
              <a:t>精氨酸 →  尿素（细胞质中）</a:t>
            </a:r>
          </a:p>
        </p:txBody>
      </p:sp>
    </p:spTree>
    <p:extLst>
      <p:ext uri="{BB962C8B-B14F-4D97-AF65-F5344CB8AC3E}">
        <p14:creationId xmlns:p14="http://schemas.microsoft.com/office/powerpoint/2010/main" val="957921010"/>
      </p:ext>
    </p:extLst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82491" y="0"/>
            <a:ext cx="62872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I. 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鸟氨酸 </a:t>
            </a:r>
            <a:r>
              <a:rPr lang="zh-CN" altLang="en-US" sz="3600" dirty="0">
                <a:ea typeface="微软雅黑" panose="020B0503020204020204" pitchFamily="34" charset="-122"/>
              </a:rPr>
              <a:t>→ 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瓜氨酸（线粒体中）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32F280-309B-C9BB-BBAF-28083FC80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95" y="646331"/>
            <a:ext cx="10334873" cy="621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21010"/>
      </p:ext>
    </p:extLst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36273" y="0"/>
            <a:ext cx="65806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II. 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瓜氨酸 </a:t>
            </a:r>
            <a:r>
              <a:rPr lang="zh-CN" altLang="en-US" sz="3600" dirty="0">
                <a:ea typeface="微软雅黑" panose="020B0503020204020204" pitchFamily="34" charset="-122"/>
              </a:rPr>
              <a:t>→  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精氨酸（细胞质中）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FF3BDE8-5849-F696-2E7E-1E0DF6EE3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810" y="598458"/>
            <a:ext cx="8873063" cy="625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21010"/>
      </p:ext>
    </p:extLst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62725" y="0"/>
            <a:ext cx="62744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III. 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精氨酸 </a:t>
            </a:r>
            <a:r>
              <a:rPr lang="zh-CN" altLang="en-US" sz="3600" dirty="0">
                <a:ea typeface="微软雅黑" panose="020B0503020204020204" pitchFamily="34" charset="-122"/>
              </a:rPr>
              <a:t>→ 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尿素（细胞质中）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0259D36-7E12-5E6F-7014-020810637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287" y="784797"/>
            <a:ext cx="9705425" cy="528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21010"/>
      </p:ext>
    </p:extLst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7390" y="-1"/>
            <a:ext cx="37577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尿素循环小结：</a:t>
            </a:r>
          </a:p>
        </p:txBody>
      </p:sp>
      <p:sp>
        <p:nvSpPr>
          <p:cNvPr id="3" name="矩形 2"/>
          <p:cNvSpPr/>
          <p:nvPr/>
        </p:nvSpPr>
        <p:spPr>
          <a:xfrm>
            <a:off x="100948" y="5321218"/>
            <a:ext cx="11780238" cy="57291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ea typeface="微软雅黑" panose="020B0503020204020204" pitchFamily="34" charset="-122"/>
              </a:rPr>
              <a:t>(1) </a:t>
            </a:r>
            <a:r>
              <a:rPr lang="zh-CN" altLang="en-US" sz="2800" dirty="0">
                <a:ea typeface="微软雅黑" panose="020B0503020204020204" pitchFamily="34" charset="-122"/>
              </a:rPr>
              <a:t>每生成</a:t>
            </a:r>
            <a:r>
              <a:rPr lang="en-US" altLang="zh-CN" sz="2800" dirty="0"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ea typeface="微软雅黑" panose="020B0503020204020204" pitchFamily="34" charset="-122"/>
              </a:rPr>
              <a:t>分子尿素，消除</a:t>
            </a:r>
            <a:r>
              <a:rPr lang="en-US" altLang="zh-CN" sz="2800" dirty="0"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ea typeface="微软雅黑" panose="020B0503020204020204" pitchFamily="34" charset="-122"/>
              </a:rPr>
              <a:t>分子氨基氮，</a:t>
            </a:r>
            <a:r>
              <a:rPr lang="en-US" altLang="zh-CN" sz="2800" dirty="0">
                <a:ea typeface="微软雅黑" panose="020B0503020204020204" pitchFamily="34" charset="-122"/>
              </a:rPr>
              <a:t>1</a:t>
            </a:r>
            <a:r>
              <a:rPr lang="zh-CN" altLang="en-US" sz="2800" dirty="0">
                <a:ea typeface="微软雅黑" panose="020B0503020204020204" pitchFamily="34" charset="-122"/>
              </a:rPr>
              <a:t>分子</a:t>
            </a:r>
            <a:r>
              <a:rPr lang="en-US" altLang="zh-CN" sz="2800" dirty="0">
                <a:ea typeface="微软雅黑" panose="020B0503020204020204" pitchFamily="34" charset="-122"/>
              </a:rPr>
              <a:t>CO</a:t>
            </a:r>
            <a:r>
              <a:rPr lang="en-US" altLang="zh-CN" sz="2800" baseline="-25000" dirty="0">
                <a:ea typeface="微软雅黑" panose="020B0503020204020204" pitchFamily="34" charset="-122"/>
              </a:rPr>
              <a:t>2</a:t>
            </a:r>
            <a:r>
              <a:rPr lang="en-US" altLang="zh-CN" sz="2800" dirty="0">
                <a:ea typeface="微软雅黑" panose="020B0503020204020204" pitchFamily="34" charset="-122"/>
              </a:rPr>
              <a:t> , </a:t>
            </a:r>
            <a:r>
              <a:rPr lang="zh-CN" altLang="en-US" sz="2800" dirty="0">
                <a:ea typeface="微软雅黑" panose="020B0503020204020204" pitchFamily="34" charset="-122"/>
              </a:rPr>
              <a:t>消耗</a:t>
            </a:r>
            <a:r>
              <a:rPr lang="en-US" altLang="zh-CN" sz="2800" dirty="0">
                <a:ea typeface="微软雅黑" panose="020B0503020204020204" pitchFamily="34" charset="-122"/>
              </a:rPr>
              <a:t>4</a:t>
            </a:r>
            <a:r>
              <a:rPr lang="zh-CN" altLang="en-US" sz="2800" dirty="0">
                <a:ea typeface="微软雅黑" panose="020B0503020204020204" pitchFamily="34" charset="-122"/>
              </a:rPr>
              <a:t>个高能磷酸键。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19D79E-E3D5-A1D5-EF89-54CDCC1E5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55" y="795355"/>
            <a:ext cx="1048702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21010"/>
      </p:ext>
    </p:extLst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690F461-A344-BC34-59EF-EB923E797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248" y="0"/>
            <a:ext cx="59155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921010"/>
      </p:ext>
    </p:extLst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9464" y="409839"/>
            <a:ext cx="11767618" cy="182344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dirty="0">
                <a:ea typeface="微软雅黑" panose="020B0503020204020204" pitchFamily="34" charset="-122"/>
              </a:rPr>
              <a:t>(2) </a:t>
            </a:r>
            <a:r>
              <a:rPr lang="zh-CN" altLang="en-US" sz="3200" dirty="0">
                <a:ea typeface="微软雅黑" panose="020B0503020204020204" pitchFamily="34" charset="-122"/>
              </a:rPr>
              <a:t>中间物</a:t>
            </a:r>
            <a:r>
              <a:rPr lang="en-US" altLang="zh-CN" sz="3200" dirty="0" err="1">
                <a:ea typeface="微软雅黑" panose="020B0503020204020204" pitchFamily="34" charset="-122"/>
              </a:rPr>
              <a:t>Orn</a:t>
            </a:r>
            <a:r>
              <a:rPr lang="zh-CN" altLang="en-US" sz="3200" dirty="0">
                <a:ea typeface="微软雅黑" panose="020B0503020204020204" pitchFamily="34" charset="-122"/>
              </a:rPr>
              <a:t>、</a:t>
            </a:r>
            <a:r>
              <a:rPr lang="en-US" altLang="zh-CN" sz="3200" dirty="0">
                <a:ea typeface="微软雅黑" panose="020B0503020204020204" pitchFamily="34" charset="-122"/>
              </a:rPr>
              <a:t>Cit </a:t>
            </a:r>
            <a:r>
              <a:rPr lang="zh-CN" altLang="en-US" sz="3200" dirty="0">
                <a:ea typeface="微软雅黑" panose="020B0503020204020204" pitchFamily="34" charset="-122"/>
              </a:rPr>
              <a:t>、</a:t>
            </a:r>
            <a:r>
              <a:rPr lang="en-US" altLang="zh-CN" sz="3200" dirty="0" err="1">
                <a:ea typeface="微软雅黑" panose="020B0503020204020204" pitchFamily="34" charset="-122"/>
              </a:rPr>
              <a:t>Arg</a:t>
            </a:r>
            <a:r>
              <a:rPr lang="zh-CN" altLang="en-US" sz="3200" dirty="0">
                <a:ea typeface="微软雅黑" panose="020B0503020204020204" pitchFamily="34" charset="-122"/>
              </a:rPr>
              <a:t>循环使用，总量不变， 保证循环的正常进行。</a:t>
            </a:r>
            <a:endParaRPr lang="en-US" altLang="zh-CN" sz="3200" dirty="0"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3200" dirty="0">
                <a:ea typeface="微软雅黑" panose="020B0503020204020204" pitchFamily="34" charset="-122"/>
              </a:rPr>
              <a:t>(3) </a:t>
            </a:r>
            <a:r>
              <a:rPr lang="zh-CN" altLang="en-US" sz="3200" dirty="0">
                <a:ea typeface="微软雅黑" panose="020B0503020204020204" pitchFamily="34" charset="-122"/>
              </a:rPr>
              <a:t>在线粒体和细胞质两部分进行，有利于生物体自身保护。</a:t>
            </a:r>
          </a:p>
        </p:txBody>
      </p:sp>
      <p:sp>
        <p:nvSpPr>
          <p:cNvPr id="3" name="矩形 2"/>
          <p:cNvSpPr/>
          <p:nvPr/>
        </p:nvSpPr>
        <p:spPr>
          <a:xfrm>
            <a:off x="599268" y="2664899"/>
            <a:ext cx="36579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• 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生理意义：</a:t>
            </a:r>
          </a:p>
        </p:txBody>
      </p:sp>
      <p:sp>
        <p:nvSpPr>
          <p:cNvPr id="4" name="矩形 3"/>
          <p:cNvSpPr/>
          <p:nvPr/>
        </p:nvSpPr>
        <p:spPr>
          <a:xfrm>
            <a:off x="526985" y="3983128"/>
            <a:ext cx="11138030" cy="64158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dirty="0">
                <a:ea typeface="微软雅黑" panose="020B0503020204020204" pitchFamily="34" charset="-122"/>
              </a:rPr>
              <a:t>解除氨毒，减少呼吸作用产生的</a:t>
            </a:r>
            <a:r>
              <a:rPr lang="en-US" altLang="zh-CN" sz="3200" dirty="0">
                <a:ea typeface="微软雅黑" panose="020B0503020204020204" pitchFamily="34" charset="-122"/>
              </a:rPr>
              <a:t>CO</a:t>
            </a:r>
            <a:r>
              <a:rPr lang="en-US" altLang="zh-CN" sz="3200" baseline="-25000" dirty="0">
                <a:ea typeface="微软雅黑" panose="020B0503020204020204" pitchFamily="34" charset="-122"/>
              </a:rPr>
              <a:t>2</a:t>
            </a:r>
            <a:r>
              <a:rPr lang="zh-CN" altLang="en-US" sz="3200" dirty="0">
                <a:ea typeface="微软雅黑" panose="020B0503020204020204" pitchFamily="34" charset="-122"/>
              </a:rPr>
              <a:t>溶于血液所带来的酸性。</a:t>
            </a:r>
          </a:p>
        </p:txBody>
      </p:sp>
    </p:spTree>
    <p:extLst>
      <p:ext uri="{BB962C8B-B14F-4D97-AF65-F5344CB8AC3E}">
        <p14:creationId xmlns:p14="http://schemas.microsoft.com/office/powerpoint/2010/main" val="957921010"/>
      </p:ext>
    </p:extLst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71570" y="122315"/>
            <a:ext cx="5602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（二）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α-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酮酸的代谢转变</a:t>
            </a:r>
          </a:p>
        </p:txBody>
      </p:sp>
      <p:sp>
        <p:nvSpPr>
          <p:cNvPr id="3" name="矩形 2"/>
          <p:cNvSpPr/>
          <p:nvPr/>
        </p:nvSpPr>
        <p:spPr>
          <a:xfrm>
            <a:off x="924230" y="1127671"/>
            <a:ext cx="4897495" cy="57291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ea typeface="微软雅黑" panose="020B0503020204020204" pitchFamily="34" charset="-122"/>
              </a:rPr>
              <a:t>再合成氨基酸</a:t>
            </a:r>
            <a:r>
              <a:rPr lang="en-US" altLang="zh-CN" sz="2800" b="1" dirty="0">
                <a:ea typeface="微软雅黑" panose="020B0503020204020204" pitchFamily="34" charset="-122"/>
              </a:rPr>
              <a:t>— </a:t>
            </a:r>
            <a:r>
              <a:rPr lang="zh-CN" altLang="en-US" sz="2800" b="1" dirty="0">
                <a:solidFill>
                  <a:srgbClr val="FF0000"/>
                </a:solidFill>
                <a:ea typeface="微软雅黑" panose="020B0503020204020204" pitchFamily="34" charset="-122"/>
              </a:rPr>
              <a:t>还原氨基化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55FCDD-AF7F-F0FB-43CF-91CF559FE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2605087"/>
            <a:ext cx="1143952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283006"/>
      </p:ext>
    </p:extLst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53132" y="144419"/>
            <a:ext cx="9250435" cy="57291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ea typeface="微软雅黑" panose="020B0503020204020204" pitchFamily="34" charset="-122"/>
              </a:rPr>
              <a:t>进入糖、脂代谢（分解放能 </a:t>
            </a:r>
            <a:r>
              <a:rPr lang="en-US" altLang="zh-CN" sz="2800" b="1" dirty="0">
                <a:ea typeface="微软雅黑" panose="020B0503020204020204" pitchFamily="34" charset="-122"/>
              </a:rPr>
              <a:t>or </a:t>
            </a:r>
            <a:r>
              <a:rPr lang="zh-CN" altLang="en-US" sz="2800" b="1" dirty="0">
                <a:ea typeface="微软雅黑" panose="020B0503020204020204" pitchFamily="34" charset="-122"/>
              </a:rPr>
              <a:t>合成糖和脂肪）</a:t>
            </a:r>
          </a:p>
        </p:txBody>
      </p:sp>
      <p:sp>
        <p:nvSpPr>
          <p:cNvPr id="3" name="矩形 2"/>
          <p:cNvSpPr/>
          <p:nvPr/>
        </p:nvSpPr>
        <p:spPr>
          <a:xfrm>
            <a:off x="1" y="1231401"/>
            <a:ext cx="12192000" cy="41943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ea typeface="微软雅黑" panose="020B0503020204020204" pitchFamily="34" charset="-122"/>
              </a:rPr>
              <a:t>生糖氨基酸（</a:t>
            </a:r>
            <a:r>
              <a:rPr lang="en-US" altLang="zh-CN" sz="2800" dirty="0">
                <a:ea typeface="微软雅黑" panose="020B0503020204020204" pitchFamily="34" charset="-122"/>
              </a:rPr>
              <a:t>14</a:t>
            </a:r>
            <a:r>
              <a:rPr lang="zh-CN" altLang="en-US" sz="2800" dirty="0">
                <a:ea typeface="微软雅黑" panose="020B0503020204020204" pitchFamily="34" charset="-122"/>
              </a:rPr>
              <a:t>）：可生成糖代谢中间物</a:t>
            </a:r>
            <a:r>
              <a:rPr lang="zh-CN" altLang="en-US" sz="2800" dirty="0">
                <a:solidFill>
                  <a:srgbClr val="FF0000"/>
                </a:solidFill>
                <a:ea typeface="微软雅黑" panose="020B0503020204020204" pitchFamily="34" charset="-122"/>
              </a:rPr>
              <a:t>丙酮酸、 </a:t>
            </a:r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</a:rPr>
              <a:t>α-</a:t>
            </a:r>
            <a:r>
              <a:rPr lang="zh-CN" altLang="en-US" sz="2800" dirty="0">
                <a:solidFill>
                  <a:srgbClr val="FF0000"/>
                </a:solidFill>
                <a:ea typeface="微软雅黑" panose="020B0503020204020204" pitchFamily="34" charset="-122"/>
              </a:rPr>
              <a:t>酮戊二酸、琥珀酰</a:t>
            </a:r>
            <a:r>
              <a:rPr lang="en-US" altLang="zh-CN" sz="2800" dirty="0">
                <a:solidFill>
                  <a:srgbClr val="FF0000"/>
                </a:solidFill>
                <a:ea typeface="微软雅黑" panose="020B0503020204020204" pitchFamily="34" charset="-122"/>
              </a:rPr>
              <a:t>CoA</a:t>
            </a:r>
            <a:r>
              <a:rPr lang="zh-CN" altLang="en-US" sz="2800" dirty="0">
                <a:solidFill>
                  <a:srgbClr val="FF0000"/>
                </a:solidFill>
                <a:ea typeface="微软雅黑" panose="020B0503020204020204" pitchFamily="34" charset="-122"/>
              </a:rPr>
              <a:t>、延胡索酸、草酰乙酸</a:t>
            </a:r>
            <a:r>
              <a:rPr lang="zh-CN" altLang="en-US" sz="2800" dirty="0">
                <a:ea typeface="微软雅黑" panose="020B0503020204020204" pitchFamily="34" charset="-122"/>
              </a:rPr>
              <a:t>的氨基酸。包括： </a:t>
            </a:r>
            <a:r>
              <a:rPr lang="en-US" altLang="zh-CN" sz="2800" dirty="0">
                <a:ea typeface="微软雅黑" panose="020B0503020204020204" pitchFamily="34" charset="-122"/>
              </a:rPr>
              <a:t>Ala , </a:t>
            </a:r>
            <a:r>
              <a:rPr lang="en-US" altLang="zh-CN" sz="2800" dirty="0" err="1">
                <a:ea typeface="微软雅黑" panose="020B0503020204020204" pitchFamily="34" charset="-122"/>
              </a:rPr>
              <a:t>Thr</a:t>
            </a:r>
            <a:r>
              <a:rPr lang="en-US" altLang="zh-CN" sz="2800" dirty="0">
                <a:ea typeface="微软雅黑" panose="020B0503020204020204" pitchFamily="34" charset="-122"/>
              </a:rPr>
              <a:t>, </a:t>
            </a:r>
            <a:r>
              <a:rPr lang="en-US" altLang="zh-CN" sz="2800" dirty="0" err="1">
                <a:ea typeface="微软雅黑" panose="020B0503020204020204" pitchFamily="34" charset="-122"/>
              </a:rPr>
              <a:t>Gly</a:t>
            </a:r>
            <a:r>
              <a:rPr lang="en-US" altLang="zh-CN" sz="2800" dirty="0">
                <a:ea typeface="微软雅黑" panose="020B0503020204020204" pitchFamily="34" charset="-122"/>
              </a:rPr>
              <a:t> , Ser, </a:t>
            </a:r>
            <a:r>
              <a:rPr lang="en-US" altLang="zh-CN" sz="2800" dirty="0" err="1">
                <a:ea typeface="微软雅黑" panose="020B0503020204020204" pitchFamily="34" charset="-122"/>
              </a:rPr>
              <a:t>Cys</a:t>
            </a:r>
            <a:r>
              <a:rPr lang="en-US" altLang="zh-CN" sz="2800" dirty="0">
                <a:ea typeface="微软雅黑" panose="020B0503020204020204" pitchFamily="34" charset="-122"/>
              </a:rPr>
              <a:t> ; Glu, Gln, Pro, Arg, His; Met, Val ; Asp, </a:t>
            </a:r>
            <a:r>
              <a:rPr lang="en-US" altLang="zh-CN" sz="2800" dirty="0" err="1">
                <a:ea typeface="微软雅黑" panose="020B0503020204020204" pitchFamily="34" charset="-122"/>
              </a:rPr>
              <a:t>Asn</a:t>
            </a:r>
            <a:endParaRPr lang="en-US" altLang="zh-CN" sz="2800" dirty="0"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800" dirty="0"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ea typeface="微软雅黑" panose="020B0503020204020204" pitchFamily="34" charset="-122"/>
              </a:rPr>
              <a:t>生酮氨基酸（</a:t>
            </a:r>
            <a:r>
              <a:rPr lang="en-US" altLang="zh-CN" sz="2800" dirty="0">
                <a:ea typeface="微软雅黑" panose="020B0503020204020204" pitchFamily="34" charset="-122"/>
              </a:rPr>
              <a:t>2</a:t>
            </a:r>
            <a:r>
              <a:rPr lang="zh-CN" altLang="en-US" sz="2800" dirty="0">
                <a:ea typeface="微软雅黑" panose="020B0503020204020204" pitchFamily="34" charset="-122"/>
              </a:rPr>
              <a:t>）：凡可生成酮体的氨基酸。包括：</a:t>
            </a:r>
            <a:r>
              <a:rPr lang="en-US" altLang="zh-CN" sz="2800" b="1" dirty="0">
                <a:solidFill>
                  <a:srgbClr val="FF0000"/>
                </a:solidFill>
                <a:ea typeface="微软雅黑" panose="020B0503020204020204" pitchFamily="34" charset="-122"/>
              </a:rPr>
              <a:t>Leu, Lys 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800" b="1" dirty="0">
              <a:solidFill>
                <a:srgbClr val="FF0000"/>
              </a:solidFill>
              <a:ea typeface="微软雅黑" panose="020B0503020204020204" pitchFamily="34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ea typeface="微软雅黑" panose="020B0503020204020204" pitchFamily="34" charset="-122"/>
              </a:rPr>
              <a:t>生糖生酮氨基酸（</a:t>
            </a:r>
            <a:r>
              <a:rPr lang="en-US" altLang="zh-CN" sz="2800" dirty="0">
                <a:ea typeface="微软雅黑" panose="020B0503020204020204" pitchFamily="34" charset="-122"/>
              </a:rPr>
              <a:t>4</a:t>
            </a:r>
            <a:r>
              <a:rPr lang="zh-CN" altLang="en-US" sz="2800" dirty="0">
                <a:ea typeface="微软雅黑" panose="020B0503020204020204" pitchFamily="34" charset="-122"/>
              </a:rPr>
              <a:t>）：即可生糖又可生成酮体的氨基酸。包括： </a:t>
            </a:r>
            <a:r>
              <a:rPr lang="en-US" altLang="zh-CN" sz="2800" b="1" dirty="0" err="1">
                <a:solidFill>
                  <a:srgbClr val="FF0000"/>
                </a:solidFill>
                <a:ea typeface="微软雅黑" panose="020B0503020204020204" pitchFamily="34" charset="-122"/>
              </a:rPr>
              <a:t>Phe</a:t>
            </a:r>
            <a:r>
              <a:rPr lang="en-US" altLang="zh-CN" sz="2800" b="1" dirty="0">
                <a:solidFill>
                  <a:srgbClr val="FF0000"/>
                </a:solidFill>
                <a:ea typeface="微软雅黑" panose="020B0503020204020204" pitchFamily="34" charset="-122"/>
              </a:rPr>
              <a:t>, Tyr, </a:t>
            </a:r>
            <a:r>
              <a:rPr lang="en-US" altLang="zh-CN" sz="2800" b="1" dirty="0" err="1">
                <a:solidFill>
                  <a:srgbClr val="FF0000"/>
                </a:solidFill>
                <a:ea typeface="微软雅黑" panose="020B0503020204020204" pitchFamily="34" charset="-122"/>
              </a:rPr>
              <a:t>Trp</a:t>
            </a:r>
            <a:r>
              <a:rPr lang="en-US" altLang="zh-CN" sz="2800" b="1" dirty="0">
                <a:solidFill>
                  <a:srgbClr val="FF0000"/>
                </a:solidFill>
                <a:ea typeface="微软雅黑" panose="020B0503020204020204" pitchFamily="34" charset="-122"/>
              </a:rPr>
              <a:t>, Ile </a:t>
            </a:r>
            <a:endParaRPr lang="zh-CN" altLang="en-US" sz="2800" b="1" dirty="0">
              <a:solidFill>
                <a:srgbClr val="FF0000"/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7283006"/>
      </p:ext>
    </p:extLst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E15EC25-D701-4BAE-D6E6-154CCB899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923" y="0"/>
            <a:ext cx="56601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283006"/>
      </p:ext>
    </p:extLst>
  </p:cSld>
  <p:clrMapOvr>
    <a:masterClrMapping/>
  </p:clrMapOvr>
  <p:transition>
    <p:rand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Q4ODQwNThiYTg4YTBlNDhkZDRmNGNiNWM5NWE1YzAifQ=="/>
  <p:tag name="KSO_WPP_MARK_KEY" val="118e08db-68bb-431c-84f2-9f78469fca4c"/>
</p:tagLst>
</file>

<file path=ppt/theme/theme1.xml><?xml version="1.0" encoding="utf-8"?>
<a:theme xmlns:a="http://schemas.openxmlformats.org/drawingml/2006/main" name="3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349</TotalTime>
  <Words>609</Words>
  <Application>Microsoft Office PowerPoint</Application>
  <PresentationFormat>宽屏</PresentationFormat>
  <Paragraphs>51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等线</vt:lpstr>
      <vt:lpstr>微软雅黑</vt:lpstr>
      <vt:lpstr>Arial</vt:lpstr>
      <vt:lpstr>Calibri</vt:lpstr>
      <vt:lpstr>Calibri Light</vt:lpstr>
      <vt:lpstr>Times New Roman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aging00</dc:creator>
  <cp:lastModifiedBy>Admin</cp:lastModifiedBy>
  <cp:revision>427</cp:revision>
  <dcterms:created xsi:type="dcterms:W3CDTF">2020-10-22T07:18:00Z</dcterms:created>
  <dcterms:modified xsi:type="dcterms:W3CDTF">2023-12-07T07:58:37Z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0BBE102A47224454B38DDB73053DECF0</vt:lpwstr>
  </property>
  <property fmtid="{D5CDD505-2E9C-101B-9397-08002B2CF9AE}" pid="3" name="KSOProductBuildVer">
    <vt:lpwstr>2052-11.1.0.14309</vt:lpwstr>
  </property>
</Properties>
</file>