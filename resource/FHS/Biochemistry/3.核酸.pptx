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3" r:id="rId3"/>
    <p:sldMasterId id="2147483686" r:id="rId4"/>
    <p:sldMasterId id="2147483698" r:id="rId5"/>
    <p:sldMasterId id="2147483724" r:id="rId6"/>
    <p:sldMasterId id="2147483737" r:id="rId7"/>
  </p:sldMasterIdLst>
  <p:notesMasterIdLst>
    <p:notesMasterId r:id="rId90"/>
  </p:notesMasterIdLst>
  <p:sldIdLst>
    <p:sldId id="1205" r:id="rId8"/>
    <p:sldId id="657" r:id="rId9"/>
    <p:sldId id="1303" r:id="rId10"/>
    <p:sldId id="850" r:id="rId11"/>
    <p:sldId id="851" r:id="rId12"/>
    <p:sldId id="1304" r:id="rId13"/>
    <p:sldId id="852" r:id="rId14"/>
    <p:sldId id="1305" r:id="rId15"/>
    <p:sldId id="853" r:id="rId16"/>
    <p:sldId id="854" r:id="rId17"/>
    <p:sldId id="855" r:id="rId18"/>
    <p:sldId id="856" r:id="rId19"/>
    <p:sldId id="1306" r:id="rId20"/>
    <p:sldId id="859" r:id="rId21"/>
    <p:sldId id="877" r:id="rId22"/>
    <p:sldId id="830" r:id="rId23"/>
    <p:sldId id="845" r:id="rId24"/>
    <p:sldId id="860" r:id="rId25"/>
    <p:sldId id="1237" r:id="rId26"/>
    <p:sldId id="861" r:id="rId27"/>
    <p:sldId id="862" r:id="rId28"/>
    <p:sldId id="927" r:id="rId29"/>
    <p:sldId id="925" r:id="rId30"/>
    <p:sldId id="1300" r:id="rId31"/>
    <p:sldId id="1302" r:id="rId32"/>
    <p:sldId id="866" r:id="rId33"/>
    <p:sldId id="1238" r:id="rId34"/>
    <p:sldId id="1242" r:id="rId35"/>
    <p:sldId id="1239" r:id="rId36"/>
    <p:sldId id="1243" r:id="rId37"/>
    <p:sldId id="1240" r:id="rId38"/>
    <p:sldId id="867" r:id="rId39"/>
    <p:sldId id="1245" r:id="rId40"/>
    <p:sldId id="1246" r:id="rId41"/>
    <p:sldId id="868" r:id="rId42"/>
    <p:sldId id="869" r:id="rId43"/>
    <p:sldId id="870" r:id="rId44"/>
    <p:sldId id="1257" r:id="rId45"/>
    <p:sldId id="1256" r:id="rId46"/>
    <p:sldId id="1249" r:id="rId47"/>
    <p:sldId id="1255" r:id="rId48"/>
    <p:sldId id="1235" r:id="rId49"/>
    <p:sldId id="1236" r:id="rId50"/>
    <p:sldId id="1252" r:id="rId51"/>
    <p:sldId id="874" r:id="rId52"/>
    <p:sldId id="1259" r:id="rId53"/>
    <p:sldId id="1264" r:id="rId54"/>
    <p:sldId id="1265" r:id="rId55"/>
    <p:sldId id="1266" r:id="rId56"/>
    <p:sldId id="1267" r:id="rId57"/>
    <p:sldId id="1268" r:id="rId58"/>
    <p:sldId id="1269" r:id="rId59"/>
    <p:sldId id="1270" r:id="rId60"/>
    <p:sldId id="1271" r:id="rId61"/>
    <p:sldId id="1272" r:id="rId62"/>
    <p:sldId id="1273" r:id="rId63"/>
    <p:sldId id="1274" r:id="rId64"/>
    <p:sldId id="1275" r:id="rId65"/>
    <p:sldId id="1276" r:id="rId66"/>
    <p:sldId id="1277" r:id="rId67"/>
    <p:sldId id="1278" r:id="rId68"/>
    <p:sldId id="1279" r:id="rId69"/>
    <p:sldId id="1280" r:id="rId70"/>
    <p:sldId id="1281" r:id="rId71"/>
    <p:sldId id="1282" r:id="rId72"/>
    <p:sldId id="1283" r:id="rId73"/>
    <p:sldId id="1284" r:id="rId74"/>
    <p:sldId id="1285" r:id="rId75"/>
    <p:sldId id="1286" r:id="rId76"/>
    <p:sldId id="1287" r:id="rId77"/>
    <p:sldId id="1288" r:id="rId78"/>
    <p:sldId id="1289" r:id="rId79"/>
    <p:sldId id="1290" r:id="rId80"/>
    <p:sldId id="1291" r:id="rId81"/>
    <p:sldId id="1292" r:id="rId82"/>
    <p:sldId id="1293" r:id="rId83"/>
    <p:sldId id="1294" r:id="rId84"/>
    <p:sldId id="1295" r:id="rId85"/>
    <p:sldId id="1296" r:id="rId86"/>
    <p:sldId id="1297" r:id="rId87"/>
    <p:sldId id="1298" r:id="rId88"/>
    <p:sldId id="1299" r:id="rId89"/>
  </p:sldIdLst>
  <p:sldSz cx="12192000" cy="6858000"/>
  <p:notesSz cx="6858000" cy="9144000"/>
  <p:custDataLst>
    <p:tags r:id="rId9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81" autoAdjust="0"/>
    <p:restoredTop sz="82591" autoAdjust="0"/>
  </p:normalViewPr>
  <p:slideViewPr>
    <p:cSldViewPr snapToGrid="0">
      <p:cViewPr varScale="1">
        <p:scale>
          <a:sx n="93" d="100"/>
          <a:sy n="93" d="100"/>
        </p:scale>
        <p:origin x="1428"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5" Type="http://schemas.openxmlformats.org/officeDocument/2006/relationships/slideMaster" Target="slideMasters/slideMaster5.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slide" Target="slides/slide73.xml"/><Relationship Id="rId85" Type="http://schemas.openxmlformats.org/officeDocument/2006/relationships/slide" Target="slides/slide78.xml"/><Relationship Id="rId93"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slide" Target="slides/slide76.xml"/><Relationship Id="rId88" Type="http://schemas.openxmlformats.org/officeDocument/2006/relationships/slide" Target="slides/slide81.xml"/><Relationship Id="rId9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7" Type="http://schemas.openxmlformats.org/officeDocument/2006/relationships/slideMaster" Target="slideMasters/slideMaster7.xml"/><Relationship Id="rId71" Type="http://schemas.openxmlformats.org/officeDocument/2006/relationships/slide" Target="slides/slide64.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3DD6F7-F09E-4907-BF79-6C84CA457639}" type="datetimeFigureOut">
              <a:rPr lang="zh-CN" altLang="en-US" smtClean="0"/>
              <a:t>2024/12/23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9383A-97AB-4E9F-ADB2-1ECE650A7D90}" type="slidenum">
              <a:rPr lang="zh-CN" altLang="en-US" smtClean="0"/>
              <a:t>‹#›</a:t>
            </a:fld>
            <a:endParaRPr lang="zh-CN" altLang="en-US"/>
          </a:p>
        </p:txBody>
      </p:sp>
    </p:spTree>
    <p:extLst>
      <p:ext uri="{BB962C8B-B14F-4D97-AF65-F5344CB8AC3E}">
        <p14:creationId xmlns:p14="http://schemas.microsoft.com/office/powerpoint/2010/main" val="3066905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93700" y="690563"/>
            <a:ext cx="6146800" cy="3457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7519383A-97AB-4E9F-ADB2-1ECE650A7D9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p>
        </p:txBody>
      </p:sp>
      <p:sp>
        <p:nvSpPr>
          <p:cNvPr id="11267"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pPr algn="r"/>
            <a:r>
              <a:rPr lang="en-US" altLang="zh-CN" sz="1200" b="0">
                <a:solidFill>
                  <a:schemeClr val="tx1"/>
                </a:solidFill>
                <a:latin typeface="Times New Roman" pitchFamily="18" charset="0"/>
              </a:rPr>
              <a:t>11</a:t>
            </a:r>
          </a:p>
        </p:txBody>
      </p:sp>
      <p:sp>
        <p:nvSpPr>
          <p:cNvPr id="11268"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p>
        </p:txBody>
      </p:sp>
      <p:sp>
        <p:nvSpPr>
          <p:cNvPr id="11269"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p>
        </p:txBody>
      </p:sp>
      <p:sp>
        <p:nvSpPr>
          <p:cNvPr id="11270" name="Rectangle 6"/>
          <p:cNvSpPr>
            <a:spLocks noGrp="1" noRot="1" noChangeAspect="1" noChangeArrowheads="1" noTextEdit="1"/>
          </p:cNvSpPr>
          <p:nvPr>
            <p:ph type="sldImg"/>
          </p:nvPr>
        </p:nvSpPr>
        <p:spPr>
          <a:xfrm>
            <a:off x="393700" y="692150"/>
            <a:ext cx="6070600" cy="3416300"/>
          </a:xfrm>
          <a:ln cap="flat"/>
        </p:spPr>
      </p:sp>
      <p:sp>
        <p:nvSpPr>
          <p:cNvPr id="11271" name="Rectangle 7"/>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p>
        </p:txBody>
      </p:sp>
      <p:sp>
        <p:nvSpPr>
          <p:cNvPr id="13315"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pPr algn="r"/>
            <a:r>
              <a:rPr lang="en-US" altLang="zh-CN" sz="1200" b="0">
                <a:solidFill>
                  <a:schemeClr val="tx1"/>
                </a:solidFill>
                <a:latin typeface="Times New Roman" pitchFamily="18" charset="0"/>
              </a:rPr>
              <a:t>18</a:t>
            </a:r>
          </a:p>
        </p:txBody>
      </p:sp>
      <p:sp>
        <p:nvSpPr>
          <p:cNvPr id="13316"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p>
        </p:txBody>
      </p:sp>
      <p:sp>
        <p:nvSpPr>
          <p:cNvPr id="13317"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p>
        </p:txBody>
      </p:sp>
      <p:sp>
        <p:nvSpPr>
          <p:cNvPr id="13318" name="Rectangle 6"/>
          <p:cNvSpPr>
            <a:spLocks noGrp="1" noRot="1" noChangeAspect="1" noChangeArrowheads="1" noTextEdit="1"/>
          </p:cNvSpPr>
          <p:nvPr>
            <p:ph type="sldImg"/>
          </p:nvPr>
        </p:nvSpPr>
        <p:spPr>
          <a:xfrm>
            <a:off x="393700" y="692150"/>
            <a:ext cx="6070600" cy="3416300"/>
          </a:xfrm>
          <a:ln cap="flat"/>
        </p:spPr>
      </p:sp>
      <p:sp>
        <p:nvSpPr>
          <p:cNvPr id="13319" name="Rectangle 7"/>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p>
        </p:txBody>
      </p:sp>
      <p:sp>
        <p:nvSpPr>
          <p:cNvPr id="15363"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pPr algn="r"/>
            <a:r>
              <a:rPr lang="en-US" altLang="zh-CN" sz="1200" b="0">
                <a:solidFill>
                  <a:schemeClr val="tx1"/>
                </a:solidFill>
                <a:latin typeface="Times New Roman" pitchFamily="18" charset="0"/>
              </a:rPr>
              <a:t>19</a:t>
            </a:r>
          </a:p>
        </p:txBody>
      </p:sp>
      <p:sp>
        <p:nvSpPr>
          <p:cNvPr id="15364"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p>
        </p:txBody>
      </p:sp>
      <p:sp>
        <p:nvSpPr>
          <p:cNvPr id="15365"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p>
        </p:txBody>
      </p:sp>
      <p:sp>
        <p:nvSpPr>
          <p:cNvPr id="15366" name="Rectangle 6"/>
          <p:cNvSpPr>
            <a:spLocks noGrp="1" noRot="1" noChangeAspect="1" noChangeArrowheads="1" noTextEdit="1"/>
          </p:cNvSpPr>
          <p:nvPr>
            <p:ph type="sldImg"/>
          </p:nvPr>
        </p:nvSpPr>
        <p:spPr>
          <a:xfrm>
            <a:off x="393700" y="692150"/>
            <a:ext cx="6070600" cy="3416300"/>
          </a:xfrm>
          <a:ln cap="flat"/>
        </p:spPr>
      </p:sp>
      <p:sp>
        <p:nvSpPr>
          <p:cNvPr id="15367" name="Rectangle 7"/>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519383A-97AB-4E9F-ADB2-1ECE650A7D90}" type="slidenum">
              <a:rPr lang="zh-CN" altLang="en-US" smtClean="0"/>
              <a:t>27</a:t>
            </a:fld>
            <a:endParaRPr lang="zh-CN" altLang="en-US"/>
          </a:p>
        </p:txBody>
      </p:sp>
    </p:spTree>
    <p:extLst>
      <p:ext uri="{BB962C8B-B14F-4D97-AF65-F5344CB8AC3E}">
        <p14:creationId xmlns:p14="http://schemas.microsoft.com/office/powerpoint/2010/main" val="2473995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l-GR" altLang="zh-CN" dirty="0"/>
              <a:t>α</a:t>
            </a:r>
            <a:r>
              <a:rPr lang="en-US" altLang="zh-CN" dirty="0"/>
              <a:t>=</a:t>
            </a:r>
            <a:r>
              <a:rPr lang="el-GR" altLang="zh-CN" dirty="0"/>
              <a:t>β</a:t>
            </a:r>
            <a:r>
              <a:rPr lang="en-US" altLang="zh-CN" dirty="0"/>
              <a:t>+</a:t>
            </a:r>
            <a:r>
              <a:rPr lang="el-GR" altLang="zh-CN" dirty="0"/>
              <a:t>τα</a:t>
            </a:r>
            <a:r>
              <a:rPr lang="zh-CN" altLang="en-US" dirty="0"/>
              <a:t>是</a:t>
            </a:r>
            <a:r>
              <a:rPr lang="en-US" altLang="zh-CN" dirty="0"/>
              <a:t>DNA</a:t>
            </a:r>
            <a:r>
              <a:rPr lang="zh-CN" altLang="en-US" dirty="0"/>
              <a:t>两条链的互绕数，相对于连环数</a:t>
            </a:r>
            <a:r>
              <a:rPr lang="en-US" altLang="zh-CN" dirty="0"/>
              <a:t>L</a:t>
            </a:r>
            <a:r>
              <a:rPr lang="zh-CN" altLang="en-US" dirty="0"/>
              <a:t>。</a:t>
            </a:r>
            <a:r>
              <a:rPr lang="el-GR" altLang="zh-CN" dirty="0"/>
              <a:t>β</a:t>
            </a:r>
            <a:r>
              <a:rPr lang="zh-CN" altLang="en-US" dirty="0"/>
              <a:t>是螺旋圈数，由双螺旋的构象所决定（</a:t>
            </a:r>
            <a:r>
              <a:rPr lang="en-US" altLang="zh-CN" dirty="0"/>
              <a:t>B</a:t>
            </a:r>
            <a:r>
              <a:rPr lang="zh-CN" altLang="en-US" dirty="0"/>
              <a:t>构象每圈约</a:t>
            </a:r>
            <a:r>
              <a:rPr lang="en-US" altLang="zh-CN" dirty="0"/>
              <a:t>10bP</a:t>
            </a:r>
            <a:r>
              <a:rPr lang="zh-CN" altLang="en-US" dirty="0"/>
              <a:t>）相对应扭转数</a:t>
            </a:r>
            <a:r>
              <a:rPr lang="en-US" altLang="zh-CN" dirty="0"/>
              <a:t>T</a:t>
            </a:r>
            <a:r>
              <a:rPr lang="zh-CN" altLang="en-US" dirty="0"/>
              <a:t>。</a:t>
            </a:r>
            <a:r>
              <a:rPr lang="el-GR" altLang="zh-CN" dirty="0"/>
              <a:t>τ</a:t>
            </a:r>
            <a:r>
              <a:rPr lang="zh-CN" altLang="en-US" dirty="0"/>
              <a:t>是超螺旋数，相对于缠绕数</a:t>
            </a:r>
            <a:r>
              <a:rPr lang="en-US" altLang="zh-CN" dirty="0"/>
              <a:t>W   </a:t>
            </a:r>
            <a:endParaRPr lang="zh-CN" altLang="en-US" dirty="0"/>
          </a:p>
        </p:txBody>
      </p:sp>
      <p:sp>
        <p:nvSpPr>
          <p:cNvPr id="4" name="灯片编号占位符 3"/>
          <p:cNvSpPr>
            <a:spLocks noGrp="1"/>
          </p:cNvSpPr>
          <p:nvPr>
            <p:ph type="sldNum" sz="quarter" idx="10"/>
          </p:nvPr>
        </p:nvSpPr>
        <p:spPr/>
        <p:txBody>
          <a:bodyPr/>
          <a:lstStyle/>
          <a:p>
            <a:fld id="{7519383A-97AB-4E9F-ADB2-1ECE650A7D90}" type="slidenum">
              <a:rPr lang="zh-CN" altLang="en-US" smtClean="0"/>
              <a:t>28</a:t>
            </a:fld>
            <a:endParaRPr lang="zh-CN" altLang="en-US"/>
          </a:p>
        </p:txBody>
      </p:sp>
    </p:spTree>
    <p:extLst>
      <p:ext uri="{BB962C8B-B14F-4D97-AF65-F5344CB8AC3E}">
        <p14:creationId xmlns:p14="http://schemas.microsoft.com/office/powerpoint/2010/main" val="2465691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螺旋周数</a:t>
            </a:r>
            <a:r>
              <a:rPr lang="en-US" altLang="zh-CN" dirty="0"/>
              <a:t>=200/10=20     </a:t>
            </a:r>
            <a:r>
              <a:rPr lang="zh-CN" altLang="en-US" dirty="0"/>
              <a:t>拓扑异构体</a:t>
            </a:r>
            <a:endParaRPr lang="en-US" altLang="zh-CN" dirty="0"/>
          </a:p>
          <a:p>
            <a:r>
              <a:rPr lang="zh-CN" altLang="en-US" dirty="0"/>
              <a:t>超螺旋比解链螺旋更易形成，有更致密的结构，体积小。</a:t>
            </a:r>
          </a:p>
        </p:txBody>
      </p:sp>
      <p:sp>
        <p:nvSpPr>
          <p:cNvPr id="4" name="灯片编号占位符 3"/>
          <p:cNvSpPr>
            <a:spLocks noGrp="1"/>
          </p:cNvSpPr>
          <p:nvPr>
            <p:ph type="sldNum" sz="quarter" idx="10"/>
          </p:nvPr>
        </p:nvSpPr>
        <p:spPr/>
        <p:txBody>
          <a:bodyPr/>
          <a:lstStyle/>
          <a:p>
            <a:fld id="{7519383A-97AB-4E9F-ADB2-1ECE650A7D90}" type="slidenum">
              <a:rPr lang="zh-CN" altLang="en-US" smtClean="0"/>
              <a:t>29</a:t>
            </a:fld>
            <a:endParaRPr lang="zh-CN" altLang="en-US"/>
          </a:p>
        </p:txBody>
      </p:sp>
    </p:spTree>
    <p:extLst>
      <p:ext uri="{BB962C8B-B14F-4D97-AF65-F5344CB8AC3E}">
        <p14:creationId xmlns:p14="http://schemas.microsoft.com/office/powerpoint/2010/main" val="3717062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天然</a:t>
            </a:r>
            <a:r>
              <a:rPr lang="en-US" altLang="zh-CN" dirty="0"/>
              <a:t>DNA</a:t>
            </a:r>
            <a:r>
              <a:rPr lang="zh-CN" altLang="en-US" dirty="0"/>
              <a:t>一般都以负超螺旋构象存在，</a:t>
            </a:r>
            <a:r>
              <a:rPr lang="el-GR" altLang="zh-CN" sz="1200" b="1" dirty="0">
                <a:latin typeface="Times New Roman" pitchFamily="18" charset="0"/>
                <a:ea typeface="黑体" pitchFamily="49" charset="-122"/>
                <a:cs typeface="Times New Roman" pitchFamily="18" charset="0"/>
              </a:rPr>
              <a:t>λ</a:t>
            </a:r>
            <a:r>
              <a:rPr lang="zh-CN" altLang="en-US" sz="1200" b="1" dirty="0">
                <a:latin typeface="Times New Roman" pitchFamily="18" charset="0"/>
                <a:ea typeface="黑体" pitchFamily="49" charset="-122"/>
                <a:cs typeface="Times New Roman" pitchFamily="18" charset="0"/>
              </a:rPr>
              <a:t>大约为</a:t>
            </a:r>
            <a:r>
              <a:rPr lang="en-US" altLang="zh-CN" sz="1200" b="1" dirty="0">
                <a:latin typeface="Times New Roman" pitchFamily="18" charset="0"/>
                <a:ea typeface="黑体" pitchFamily="49" charset="-122"/>
                <a:cs typeface="Times New Roman" pitchFamily="18" charset="0"/>
              </a:rPr>
              <a:t>-0.05    L</a:t>
            </a:r>
            <a:r>
              <a:rPr lang="en-US" altLang="zh-CN" sz="1200" b="1" baseline="-25000" dirty="0">
                <a:latin typeface="Times New Roman" pitchFamily="18" charset="0"/>
                <a:ea typeface="黑体" pitchFamily="49" charset="-122"/>
                <a:cs typeface="Times New Roman" pitchFamily="18" charset="0"/>
              </a:rPr>
              <a:t>0</a:t>
            </a:r>
            <a:r>
              <a:rPr lang="en-US" altLang="zh-CN" sz="1200" b="1" baseline="0" dirty="0">
                <a:latin typeface="Times New Roman" pitchFamily="18" charset="0"/>
                <a:ea typeface="黑体" pitchFamily="49" charset="-122"/>
                <a:cs typeface="Times New Roman" pitchFamily="18" charset="0"/>
              </a:rPr>
              <a:t>(</a:t>
            </a:r>
            <a:r>
              <a:rPr lang="zh-CN" altLang="en-US" sz="1200" b="1" baseline="0" dirty="0">
                <a:latin typeface="Times New Roman" pitchFamily="18" charset="0"/>
                <a:ea typeface="黑体" pitchFamily="49" charset="-122"/>
                <a:cs typeface="Times New Roman" pitchFamily="18" charset="0"/>
              </a:rPr>
              <a:t>松弛环形</a:t>
            </a:r>
            <a:r>
              <a:rPr lang="en-US" altLang="zh-CN" sz="1200" b="1" baseline="0" dirty="0">
                <a:latin typeface="Times New Roman" pitchFamily="18" charset="0"/>
                <a:ea typeface="黑体" pitchFamily="49" charset="-122"/>
                <a:cs typeface="Times New Roman" pitchFamily="18" charset="0"/>
              </a:rPr>
              <a:t>L</a:t>
            </a:r>
            <a:r>
              <a:rPr lang="zh-CN" altLang="en-US" sz="1200" b="1" baseline="0" dirty="0">
                <a:latin typeface="Times New Roman" pitchFamily="18" charset="0"/>
                <a:ea typeface="黑体" pitchFamily="49" charset="-122"/>
                <a:cs typeface="Times New Roman" pitchFamily="18" charset="0"/>
              </a:rPr>
              <a:t>值</a:t>
            </a:r>
            <a:r>
              <a:rPr lang="en-US" altLang="zh-CN" sz="1200" b="1" baseline="0" dirty="0">
                <a:latin typeface="Times New Roman" pitchFamily="18" charset="0"/>
                <a:ea typeface="黑体" pitchFamily="49" charset="-122"/>
                <a:cs typeface="Times New Roman" pitchFamily="18" charset="0"/>
              </a:rPr>
              <a:t>)</a:t>
            </a:r>
            <a:endParaRPr lang="zh-CN" altLang="en-US" baseline="0" dirty="0"/>
          </a:p>
          <a:p>
            <a:r>
              <a:rPr lang="zh-CN" altLang="en-US" dirty="0"/>
              <a:t>利于解链，利于复制，重组、转录</a:t>
            </a:r>
            <a:endParaRPr lang="en-US" altLang="zh-CN" dirty="0"/>
          </a:p>
          <a:p>
            <a:r>
              <a:rPr lang="zh-CN" altLang="en-US" dirty="0"/>
              <a:t>拓扑异构酶</a:t>
            </a:r>
            <a:r>
              <a:rPr lang="en-US" altLang="zh-CN" dirty="0"/>
              <a:t>I</a:t>
            </a:r>
            <a:r>
              <a:rPr lang="zh-CN" altLang="en-US" dirty="0"/>
              <a:t>每催化一次可消除</a:t>
            </a:r>
            <a:r>
              <a:rPr lang="en-US" altLang="zh-CN" dirty="0"/>
              <a:t>1</a:t>
            </a:r>
            <a:r>
              <a:rPr lang="zh-CN" altLang="en-US" dirty="0"/>
              <a:t>个负超螺旋，即使</a:t>
            </a:r>
            <a:r>
              <a:rPr lang="en-US" altLang="zh-CN" dirty="0"/>
              <a:t>L</a:t>
            </a:r>
            <a:r>
              <a:rPr lang="zh-CN" altLang="en-US" dirty="0"/>
              <a:t>值增加</a:t>
            </a:r>
            <a:r>
              <a:rPr lang="en-US" altLang="zh-CN" dirty="0"/>
              <a:t>1</a:t>
            </a:r>
            <a:r>
              <a:rPr lang="zh-CN" altLang="en-US" dirty="0"/>
              <a:t>。</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拓扑异构酶</a:t>
            </a:r>
            <a:r>
              <a:rPr lang="en-US" altLang="zh-CN" dirty="0"/>
              <a:t>II</a:t>
            </a:r>
            <a:r>
              <a:rPr lang="zh-CN" altLang="en-US" dirty="0"/>
              <a:t>每催化一次可增加</a:t>
            </a:r>
            <a:r>
              <a:rPr lang="en-US" altLang="zh-CN" dirty="0"/>
              <a:t>2</a:t>
            </a:r>
            <a:r>
              <a:rPr lang="zh-CN" altLang="en-US" dirty="0"/>
              <a:t>个负超螺旋，即使</a:t>
            </a:r>
            <a:r>
              <a:rPr lang="en-US" altLang="zh-CN" dirty="0"/>
              <a:t>L</a:t>
            </a:r>
            <a:r>
              <a:rPr lang="zh-CN" altLang="en-US" dirty="0"/>
              <a:t>值减少</a:t>
            </a:r>
            <a:r>
              <a:rPr lang="en-US" altLang="zh-CN" dirty="0"/>
              <a:t>2</a:t>
            </a:r>
            <a:r>
              <a:rPr lang="zh-CN" altLang="en-US" dirty="0"/>
              <a:t>。</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7519383A-97AB-4E9F-ADB2-1ECE650A7D90}" type="slidenum">
              <a:rPr lang="zh-CN" altLang="en-US" smtClean="0"/>
              <a:t>30</a:t>
            </a:fld>
            <a:endParaRPr lang="zh-CN" altLang="en-US"/>
          </a:p>
        </p:txBody>
      </p:sp>
    </p:spTree>
    <p:extLst>
      <p:ext uri="{BB962C8B-B14F-4D97-AF65-F5344CB8AC3E}">
        <p14:creationId xmlns:p14="http://schemas.microsoft.com/office/powerpoint/2010/main" val="2465691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519383A-97AB-4E9F-ADB2-1ECE650A7D90}" type="slidenum">
              <a:rPr lang="zh-CN" altLang="en-US" smtClean="0"/>
              <a:t>33</a:t>
            </a:fld>
            <a:endParaRPr lang="zh-CN" altLang="en-US"/>
          </a:p>
        </p:txBody>
      </p:sp>
    </p:spTree>
    <p:extLst>
      <p:ext uri="{BB962C8B-B14F-4D97-AF65-F5344CB8AC3E}">
        <p14:creationId xmlns:p14="http://schemas.microsoft.com/office/powerpoint/2010/main" val="3828173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幻灯片图像占位符 1"/>
          <p:cNvSpPr>
            <a:spLocks noGrp="1" noRot="1" noChangeAspect="1" noTextEdit="1"/>
          </p:cNvSpPr>
          <p:nvPr>
            <p:ph type="sldImg"/>
          </p:nvPr>
        </p:nvSpPr>
        <p:spPr>
          <a:xfrm>
            <a:off x="381000" y="685800"/>
            <a:ext cx="6096000" cy="3429000"/>
          </a:xfrm>
        </p:spPr>
      </p:sp>
      <p:sp>
        <p:nvSpPr>
          <p:cNvPr id="9218"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921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marL="0" marR="0" lvl="0" indent="0" algn="r" defTabSz="914400" rtl="0" eaLnBrk="1" fontAlgn="base" latinLnBrk="0" hangingPunct="1">
              <a:lnSpc>
                <a:spcPct val="100000"/>
              </a:lnSpc>
              <a:spcBef>
                <a:spcPct val="0"/>
              </a:spcBef>
              <a:spcAft>
                <a:spcPct val="0"/>
              </a:spcAft>
              <a:buClrTx/>
              <a:buSzTx/>
              <a:buFontTx/>
              <a:buNone/>
              <a:tabLst/>
              <a:defRPr/>
            </a:pPr>
            <a:fld id="{9A0DB2DC-4C9A-4742-B13C-FB6460FD3503}" type="slidenum">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565043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幻灯片图像占位符 1"/>
          <p:cNvSpPr>
            <a:spLocks noGrp="1" noRot="1" noChangeAspect="1" noTextEdit="1"/>
          </p:cNvSpPr>
          <p:nvPr>
            <p:ph type="sldImg"/>
          </p:nvPr>
        </p:nvSpPr>
        <p:spPr>
          <a:xfrm>
            <a:off x="381000" y="685800"/>
            <a:ext cx="6096000" cy="3429000"/>
          </a:xfrm>
        </p:spPr>
      </p:sp>
      <p:sp>
        <p:nvSpPr>
          <p:cNvPr id="9218"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921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marL="0" marR="0" lvl="0" indent="0" algn="r" defTabSz="914400" rtl="0" eaLnBrk="1" fontAlgn="base" latinLnBrk="0" hangingPunct="1">
              <a:lnSpc>
                <a:spcPct val="100000"/>
              </a:lnSpc>
              <a:spcBef>
                <a:spcPct val="0"/>
              </a:spcBef>
              <a:spcAft>
                <a:spcPct val="0"/>
              </a:spcAft>
              <a:buClrTx/>
              <a:buSzTx/>
              <a:buFontTx/>
              <a:buNone/>
              <a:tabLst/>
              <a:defRPr/>
            </a:pPr>
            <a:fld id="{9A0DB2DC-4C9A-4742-B13C-FB6460FD3503}" type="slidenum">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69582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519383A-97AB-4E9F-ADB2-1ECE650A7D90}" type="slidenum">
              <a:rPr lang="zh-CN" altLang="en-US" smtClean="0">
                <a:solidFill>
                  <a:prstClr val="black"/>
                </a:solidFill>
                <a:latin typeface="Calibri"/>
                <a:ea typeface="宋体"/>
              </a:rPr>
              <a:pPr/>
              <a:t>57</a:t>
            </a:fld>
            <a:endParaRPr lang="zh-CN" altLang="en-US">
              <a:solidFill>
                <a:prstClr val="black"/>
              </a:solidFill>
              <a:latin typeface="Calibri"/>
              <a:ea typeface="宋体"/>
            </a:endParaRPr>
          </a:p>
        </p:txBody>
      </p:sp>
    </p:spTree>
    <p:extLst>
      <p:ext uri="{BB962C8B-B14F-4D97-AF65-F5344CB8AC3E}">
        <p14:creationId xmlns:p14="http://schemas.microsoft.com/office/powerpoint/2010/main" val="3205026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519383A-97AB-4E9F-ADB2-1ECE650A7D90}" type="slidenum">
              <a:rPr lang="zh-CN" altLang="en-US" smtClean="0">
                <a:solidFill>
                  <a:prstClr val="black"/>
                </a:solidFill>
                <a:latin typeface="Calibri"/>
                <a:ea typeface="宋体"/>
              </a:rPr>
              <a:pPr/>
              <a:t>60</a:t>
            </a:fld>
            <a:endParaRPr lang="zh-CN" altLang="en-US">
              <a:solidFill>
                <a:prstClr val="black"/>
              </a:solidFill>
              <a:latin typeface="Calibri"/>
              <a:ea typeface="宋体"/>
            </a:endParaRPr>
          </a:p>
        </p:txBody>
      </p:sp>
    </p:spTree>
    <p:extLst>
      <p:ext uri="{BB962C8B-B14F-4D97-AF65-F5344CB8AC3E}">
        <p14:creationId xmlns:p14="http://schemas.microsoft.com/office/powerpoint/2010/main" val="27514599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DEPC</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使蛋白质乙基化。</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2024/12/23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2024/12/23</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2024/12/23</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2024/12/23</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2024/12/23</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fld id="{F1D968E2-24A8-46F5-BB3F-C7A9E32908A9}" type="datetime1">
              <a:rPr lang="zh-CN" altLang="en-US" smtClean="0"/>
              <a:t>2024/12/23</a:t>
            </a:fld>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Tree>
  </p:cSld>
  <p:clrMapOvr>
    <a:masterClrMapping/>
  </p:clrMapOvr>
  <p:transition>
    <p:rand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a:extLst>
              <a:ext uri="{BEBA8EAE-BF5A-486C-A8C5-ECC9F3942E4B}">
                <a14:imgProps xmlns:a14="http://schemas.microsoft.com/office/drawing/2010/main">
                  <a14:imgLayer r:embed="rId3">
                    <a14:imgEffect>
                      <a14:colorTemperature colorTemp="4700"/>
                    </a14:imgEffect>
                    <a14:imgEffect>
                      <a14:saturation sat="33000"/>
                    </a14:imgEffect>
                  </a14:imgLayer>
                </a14:imgProps>
              </a:ext>
              <a:ext uri="{28A0092B-C50C-407E-A947-70E740481C1C}">
                <a14:useLocalDpi xmlns:a14="http://schemas.microsoft.com/office/drawing/2010/main" val="0"/>
              </a:ext>
            </a:extLst>
          </a:blip>
          <a:srcRect l="-23672" t="65924" r="-370" b="23585"/>
          <a:stretch>
            <a:fillRect/>
          </a:stretch>
        </p:blipFill>
        <p:spPr>
          <a:xfrm>
            <a:off x="-2890383" y="0"/>
            <a:ext cx="15138000" cy="884397"/>
          </a:xfrm>
          <a:prstGeom prst="rect">
            <a:avLst/>
          </a:prstGeom>
          <a:ln>
            <a:noFill/>
          </a:ln>
        </p:spPr>
      </p:pic>
      <p:sp>
        <p:nvSpPr>
          <p:cNvPr id="6" name="矩形 5"/>
          <p:cNvSpPr/>
          <p:nvPr userDrawn="1"/>
        </p:nvSpPr>
        <p:spPr>
          <a:xfrm>
            <a:off x="-6263" y="-3362"/>
            <a:ext cx="12211251" cy="884397"/>
          </a:xfrm>
          <a:prstGeom prst="rect">
            <a:avLst/>
          </a:prstGeom>
          <a:solidFill>
            <a:schemeClr val="tx1">
              <a:lumMod val="85000"/>
              <a:lumOff val="1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Tree>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2024/12/23</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2024/12/23</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2024/12/23</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2024/12/23</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774516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899752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712855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105267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771940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158531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0379585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929711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863348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182887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817791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3760748820"/>
      </p:ext>
    </p:extLst>
  </p:cSld>
  <p:clrMapOvr>
    <a:masterClrMapping/>
  </p:clrMapOvr>
  <p:transition>
    <p:random/>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655289290"/>
      </p:ext>
    </p:extLst>
  </p:cSld>
  <p:clrMapOvr>
    <a:masterClrMapping/>
  </p:clrMapOvr>
  <p:transition>
    <p:random/>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4063179078"/>
      </p:ext>
    </p:extLst>
  </p:cSld>
  <p:clrMapOvr>
    <a:masterClrMapping/>
  </p:clrMapOvr>
  <p:transition>
    <p:random/>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3631339220"/>
      </p:ext>
    </p:extLst>
  </p:cSld>
  <p:clrMapOvr>
    <a:masterClrMapping/>
  </p:clrMapOvr>
  <p:transition>
    <p:random/>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9" name="Slide Number Placeholder 8"/>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3470066901"/>
      </p:ext>
    </p:extLst>
  </p:cSld>
  <p:clrMapOvr>
    <a:masterClrMapping/>
  </p:clrMapOvr>
  <p:transition>
    <p:random/>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3658472052"/>
      </p:ext>
    </p:extLst>
  </p:cSld>
  <p:clrMapOvr>
    <a:masterClrMapping/>
  </p:clrMapOvr>
  <p:transition>
    <p:random/>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a:extLst>
              <a:ext uri="{BEBA8EAE-BF5A-486C-A8C5-ECC9F3942E4B}">
                <a14:imgProps xmlns:a14="http://schemas.microsoft.com/office/drawing/2010/main">
                  <a14:imgLayer r:embed="rId3">
                    <a14:imgEffect>
                      <a14:colorTemperature colorTemp="4700"/>
                    </a14:imgEffect>
                    <a14:imgEffect>
                      <a14:saturation sat="33000"/>
                    </a14:imgEffect>
                  </a14:imgLayer>
                </a14:imgProps>
              </a:ext>
              <a:ext uri="{28A0092B-C50C-407E-A947-70E740481C1C}">
                <a14:useLocalDpi xmlns:a14="http://schemas.microsoft.com/office/drawing/2010/main" val="0"/>
              </a:ext>
            </a:extLst>
          </a:blip>
          <a:srcRect l="-23672" t="65924" r="-370" b="23585"/>
          <a:stretch>
            <a:fillRect/>
          </a:stretch>
        </p:blipFill>
        <p:spPr>
          <a:xfrm>
            <a:off x="-2890383" y="0"/>
            <a:ext cx="15138000" cy="884397"/>
          </a:xfrm>
          <a:prstGeom prst="rect">
            <a:avLst/>
          </a:prstGeom>
          <a:ln>
            <a:noFill/>
          </a:ln>
        </p:spPr>
      </p:pic>
      <p:sp>
        <p:nvSpPr>
          <p:cNvPr id="6" name="矩形 5"/>
          <p:cNvSpPr/>
          <p:nvPr userDrawn="1"/>
        </p:nvSpPr>
        <p:spPr>
          <a:xfrm>
            <a:off x="-6263" y="-3362"/>
            <a:ext cx="12211251" cy="884397"/>
          </a:xfrm>
          <a:prstGeom prst="rect">
            <a:avLst/>
          </a:prstGeom>
          <a:solidFill>
            <a:schemeClr val="tx1">
              <a:lumMod val="85000"/>
              <a:lumOff val="1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endParaRPr>
          </a:p>
        </p:txBody>
      </p:sp>
    </p:spTree>
    <p:extLst>
      <p:ext uri="{BB962C8B-B14F-4D97-AF65-F5344CB8AC3E}">
        <p14:creationId xmlns:p14="http://schemas.microsoft.com/office/powerpoint/2010/main" val="736356431"/>
      </p:ext>
    </p:extLst>
  </p:cSld>
  <p:clrMapOvr>
    <a:masterClrMapping/>
  </p:clrMapOvr>
  <p:transition>
    <p:random/>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1240986180"/>
      </p:ext>
    </p:extLst>
  </p:cSld>
  <p:clrMapOvr>
    <a:masterClrMapping/>
  </p:clrMapOvr>
  <p:transition>
    <p:random/>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2538180480"/>
      </p:ext>
    </p:extLst>
  </p:cSld>
  <p:clrMapOvr>
    <a:masterClrMapping/>
  </p:clrMapOvr>
  <p:transition>
    <p:random/>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2525061133"/>
      </p:ext>
    </p:extLst>
  </p:cSld>
  <p:clrMapOvr>
    <a:masterClrMapping/>
  </p:clrMapOvr>
  <p:transition>
    <p:random/>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2595149891"/>
      </p:ext>
    </p:extLst>
  </p:cSld>
  <p:clrMapOvr>
    <a:masterClrMapping/>
  </p:clrMapOvr>
  <p:transition>
    <p:random/>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7766909"/>
      </p:ext>
    </p:extLst>
  </p:cSld>
  <p:clrMapOvr>
    <a:masterClrMapping/>
  </p:clrMapOvr>
  <p:transition>
    <p:random/>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1997451020"/>
      </p:ext>
    </p:extLst>
  </p:cSld>
  <p:clrMapOvr>
    <a:masterClrMapping/>
  </p:clrMapOvr>
  <p:transition>
    <p:random/>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3861687739"/>
      </p:ext>
    </p:extLst>
  </p:cSld>
  <p:clrMapOvr>
    <a:masterClrMapping/>
  </p:clrMapOvr>
  <p:transition>
    <p:random/>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1865111796"/>
      </p:ext>
    </p:extLst>
  </p:cSld>
  <p:clrMapOvr>
    <a:masterClrMapping/>
  </p:clrMapOvr>
  <p:transition>
    <p:random/>
  </p:transition>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3712798537"/>
      </p:ext>
    </p:extLst>
  </p:cSld>
  <p:clrMapOvr>
    <a:masterClrMapping/>
  </p:clrMapOvr>
  <p:transition>
    <p:random/>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9" name="Slide Number Placeholder 8"/>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613581914"/>
      </p:ext>
    </p:extLst>
  </p:cSld>
  <p:clrMapOvr>
    <a:masterClrMapping/>
  </p:clrMapOvr>
  <p:transition>
    <p:random/>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1772561016"/>
      </p:ext>
    </p:extLst>
  </p:cSld>
  <p:clrMapOvr>
    <a:masterClrMapping/>
  </p:clrMapOvr>
  <p:transition>
    <p:random/>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a:extLst>
              <a:ext uri="{BEBA8EAE-BF5A-486C-A8C5-ECC9F3942E4B}">
                <a14:imgProps xmlns:a14="http://schemas.microsoft.com/office/drawing/2010/main">
                  <a14:imgLayer r:embed="rId3">
                    <a14:imgEffect>
                      <a14:colorTemperature colorTemp="4700"/>
                    </a14:imgEffect>
                    <a14:imgEffect>
                      <a14:saturation sat="33000"/>
                    </a14:imgEffect>
                  </a14:imgLayer>
                </a14:imgProps>
              </a:ext>
              <a:ext uri="{28A0092B-C50C-407E-A947-70E740481C1C}">
                <a14:useLocalDpi xmlns:a14="http://schemas.microsoft.com/office/drawing/2010/main" val="0"/>
              </a:ext>
            </a:extLst>
          </a:blip>
          <a:srcRect l="-23672" t="65924" r="-370" b="23585"/>
          <a:stretch>
            <a:fillRect/>
          </a:stretch>
        </p:blipFill>
        <p:spPr>
          <a:xfrm>
            <a:off x="-2890383" y="0"/>
            <a:ext cx="15138000" cy="884397"/>
          </a:xfrm>
          <a:prstGeom prst="rect">
            <a:avLst/>
          </a:prstGeom>
          <a:ln>
            <a:noFill/>
          </a:ln>
        </p:spPr>
      </p:pic>
      <p:sp>
        <p:nvSpPr>
          <p:cNvPr id="6" name="矩形 5"/>
          <p:cNvSpPr/>
          <p:nvPr userDrawn="1"/>
        </p:nvSpPr>
        <p:spPr>
          <a:xfrm>
            <a:off x="-6263" y="-3362"/>
            <a:ext cx="12211251" cy="884397"/>
          </a:xfrm>
          <a:prstGeom prst="rect">
            <a:avLst/>
          </a:prstGeom>
          <a:solidFill>
            <a:schemeClr val="tx1">
              <a:lumMod val="85000"/>
              <a:lumOff val="1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endParaRPr>
          </a:p>
        </p:txBody>
      </p:sp>
    </p:spTree>
    <p:extLst>
      <p:ext uri="{BB962C8B-B14F-4D97-AF65-F5344CB8AC3E}">
        <p14:creationId xmlns:p14="http://schemas.microsoft.com/office/powerpoint/2010/main" val="2838454683"/>
      </p:ext>
    </p:extLst>
  </p:cSld>
  <p:clrMapOvr>
    <a:masterClrMapping/>
  </p:clrMapOvr>
  <p:transition>
    <p:random/>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3453507790"/>
      </p:ext>
    </p:extLst>
  </p:cSld>
  <p:clrMapOvr>
    <a:masterClrMapping/>
  </p:clrMapOvr>
  <p:transition>
    <p:random/>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3477957511"/>
      </p:ext>
    </p:extLst>
  </p:cSld>
  <p:clrMapOvr>
    <a:masterClrMapping/>
  </p:clrMapOvr>
  <p:transition>
    <p:random/>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1769854397"/>
      </p:ext>
    </p:extLst>
  </p:cSld>
  <p:clrMapOvr>
    <a:masterClrMapping/>
  </p:clrMapOvr>
  <p:transition>
    <p:random/>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solidFill>
                  <a:prstClr val="black">
                    <a:tint val="75000"/>
                  </a:prstClr>
                </a:solidFill>
              </a:rPr>
              <a:pPr>
                <a:defRPr/>
              </a:pPr>
              <a:t>2024/12/23</a:t>
            </a:fld>
            <a:endParaRPr lang="en-US"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fontAlgn="base"/>
            <a:fld id="{9A0DB2DC-4C9A-4742-B13C-FB6460FD3503}" type="slidenum">
              <a:rPr lang="zh-CN" altLang="en-US" noProof="1" smtClean="0">
                <a:solidFill>
                  <a:prstClr val="black">
                    <a:tint val="75000"/>
                  </a:prstClr>
                </a:solidFill>
                <a:latin typeface="Arial" panose="020B0604020202020204" pitchFamily="34" charset="0"/>
                <a:ea typeface="宋体" panose="02010600030101010101" pitchFamily="2" charset="-122"/>
              </a:rPr>
              <a:pPr fontAlgn="base"/>
              <a:t>‹#›</a:t>
            </a:fld>
            <a:endParaRPr lang="zh-CN" altLang="en-US" noProof="1">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2541752605"/>
      </p:ext>
    </p:extLst>
  </p:cSld>
  <p:clrMapOvr>
    <a:masterClrMapping/>
  </p:clrMapOvr>
  <p:transition>
    <p:random/>
  </p:transition>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589766"/>
      </p:ext>
    </p:extLst>
  </p:cSld>
  <p:clrMapOvr>
    <a:masterClrMapping/>
  </p:clrMapOvr>
  <p:transition>
    <p:random/>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5289554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7081300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843532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6144962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1265251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1321829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5345993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0157438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8940043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2555362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47295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theme" Target="../theme/theme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8.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theme" Target="../theme/theme7.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2024/12/23</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2024/12/23</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2024/12/23</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4461235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78749889"/>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58038479"/>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Lst>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solidFill>
                  <a:prstClr val="black">
                    <a:tint val="75000"/>
                  </a:prstClr>
                </a:solidFill>
              </a:rPr>
              <a:pPr/>
              <a:t>2024/12/23</a:t>
            </a:fld>
            <a:endParaRPr lang="zh-CN" alt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51423992"/>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30.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3.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3.xml"/></Relationships>
</file>

<file path=ppt/slides/_rels/slide4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3.xml"/><Relationship Id="rId1" Type="http://schemas.openxmlformats.org/officeDocument/2006/relationships/slideLayout" Target="../slideLayouts/slideLayout30.xml"/><Relationship Id="rId5" Type="http://schemas.openxmlformats.org/officeDocument/2006/relationships/image" Target="../media/image36.png"/><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3.xml"/></Relationships>
</file>

<file path=ppt/slides/_rels/slide4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5.xml"/></Relationships>
</file>

<file path=ppt/slides/_rels/slide5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65.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65.xml"/><Relationship Id="rId4" Type="http://schemas.openxmlformats.org/officeDocument/2006/relationships/image" Target="../media/image46.png"/></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0.xml"/></Relationships>
</file>

<file path=ppt/slides/_rels/slide5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70.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0.xml"/></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65.xml"/><Relationship Id="rId4" Type="http://schemas.openxmlformats.org/officeDocument/2006/relationships/image" Target="../media/image52.png"/></Relationships>
</file>

<file path=ppt/slides/_rels/slide6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65.xml"/></Relationships>
</file>

<file path=ppt/slides/_rels/slide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9.xml"/><Relationship Id="rId1" Type="http://schemas.openxmlformats.org/officeDocument/2006/relationships/slideLayout" Target="../slideLayouts/slideLayout6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5.xml"/></Relationships>
</file>

<file path=ppt/slides/_rels/slide6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65.xml"/><Relationship Id="rId4" Type="http://schemas.openxmlformats.org/officeDocument/2006/relationships/image" Target="../media/image56.png"/></Relationships>
</file>

<file path=ppt/slides/_rels/slide6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65.xml"/><Relationship Id="rId4" Type="http://schemas.openxmlformats.org/officeDocument/2006/relationships/image" Target="../media/image58.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5.xml"/></Relationships>
</file>

<file path=ppt/slides/_rels/slide6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6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5.xml"/></Relationships>
</file>

<file path=ppt/slides/_rels/slide7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0.xml"/><Relationship Id="rId1" Type="http://schemas.openxmlformats.org/officeDocument/2006/relationships/slideLayout" Target="../slideLayouts/slideLayout65.xml"/><Relationship Id="rId4" Type="http://schemas.openxmlformats.org/officeDocument/2006/relationships/image" Target="../media/image61.png"/></Relationships>
</file>

<file path=ppt/slides/_rels/slide7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7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2.xml"/><Relationship Id="rId1" Type="http://schemas.openxmlformats.org/officeDocument/2006/relationships/slideLayout" Target="../slideLayouts/slideLayout65.xml"/></Relationships>
</file>

<file path=ppt/slides/_rels/slide7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0.xml"/></Relationships>
</file>

<file path=ppt/slides/_rels/slide7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3.xml"/><Relationship Id="rId1" Type="http://schemas.openxmlformats.org/officeDocument/2006/relationships/slideLayout" Target="../slideLayouts/slideLayout7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5.xml"/></Relationships>
</file>

<file path=ppt/slides/_rels/slide7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5.xml"/><Relationship Id="rId1" Type="http://schemas.openxmlformats.org/officeDocument/2006/relationships/slideLayout" Target="../slideLayouts/slideLayout6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5.xml"/></Relationships>
</file>

<file path=ppt/slides/_rels/slide8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7.xml"/><Relationship Id="rId1" Type="http://schemas.openxmlformats.org/officeDocument/2006/relationships/slideLayout" Target="../slideLayouts/slideLayout65.xml"/></Relationships>
</file>

<file path=ppt/slides/_rels/slide8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8.xml"/><Relationship Id="rId1" Type="http://schemas.openxmlformats.org/officeDocument/2006/relationships/slideLayout" Target="../slideLayouts/slideLayout65.xml"/><Relationship Id="rId4" Type="http://schemas.openxmlformats.org/officeDocument/2006/relationships/image" Target="../media/image69.png"/></Relationships>
</file>

<file path=ppt/slides/_rels/slide8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9.xml"/><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8608945" y="2635546"/>
            <a:ext cx="2917135" cy="1261884"/>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第</a:t>
            </a:r>
            <a:r>
              <a:rPr kumimoji="0" lang="en-US" altLang="zh-CN"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3</a:t>
            </a:r>
            <a:r>
              <a:rPr kumimoji="0" lang="zh-CN" altLang="en-US"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章</a:t>
            </a:r>
            <a:endParaRPr kumimoji="0" lang="en-US" altLang="zh-CN"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ctr" defTabSz="3429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核酸</a:t>
            </a:r>
          </a:p>
        </p:txBody>
      </p:sp>
      <p:pic>
        <p:nvPicPr>
          <p:cNvPr id="2" name="图片 1">
            <a:extLst>
              <a:ext uri="{FF2B5EF4-FFF2-40B4-BE49-F238E27FC236}">
                <a16:creationId xmlns:a16="http://schemas.microsoft.com/office/drawing/2014/main" id="{D0D5BEA9-C18B-6B48-6C45-883B5C4D9C45}"/>
              </a:ext>
            </a:extLst>
          </p:cNvPr>
          <p:cNvPicPr>
            <a:picLocks noChangeAspect="1"/>
          </p:cNvPicPr>
          <p:nvPr/>
        </p:nvPicPr>
        <p:blipFill>
          <a:blip r:embed="rId3"/>
          <a:stretch>
            <a:fillRect/>
          </a:stretch>
        </p:blipFill>
        <p:spPr>
          <a:xfrm>
            <a:off x="1362636" y="0"/>
            <a:ext cx="6858000" cy="6858000"/>
          </a:xfrm>
          <a:prstGeom prst="rect">
            <a:avLst/>
          </a:prstGeom>
        </p:spPr>
      </p:pic>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5588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9" name="文本框 18"/>
            <p:cNvSpPr txBox="1"/>
            <p:nvPr/>
          </p:nvSpPr>
          <p:spPr>
            <a:xfrm>
              <a:off x="592173" y="334330"/>
              <a:ext cx="1338788" cy="466581"/>
            </a:xfrm>
            <a:prstGeom prst="rect">
              <a:avLst/>
            </a:prstGeom>
            <a:noFill/>
          </p:spPr>
          <p:txBody>
            <a:bodyPr wrap="square" lIns="68580" tIns="34290" rIns="68580" bIns="34290" rtlCol="0">
              <a:spAutoFit/>
            </a:bodyPr>
            <a:lstStyle/>
            <a:p>
              <a:r>
                <a:rPr lang="en-US" altLang="zh-CN" sz="6600" dirty="0">
                  <a:solidFill>
                    <a:schemeClr val="bg1">
                      <a:lumMod val="95000"/>
                    </a:schemeClr>
                  </a:solidFill>
                  <a:latin typeface="Impact" panose="020B0806030902050204" pitchFamily="34" charset="0"/>
                </a:rPr>
                <a:t>12.1</a:t>
              </a:r>
            </a:p>
          </p:txBody>
        </p:sp>
      </p:grpSp>
      <p:sp>
        <p:nvSpPr>
          <p:cNvPr id="20" name="TextBox 48"/>
          <p:cNvSpPr txBox="1"/>
          <p:nvPr/>
        </p:nvSpPr>
        <p:spPr>
          <a:xfrm>
            <a:off x="4344670" y="2737486"/>
            <a:ext cx="6250940" cy="807085"/>
          </a:xfrm>
          <a:prstGeom prst="rect">
            <a:avLst/>
          </a:prstGeom>
          <a:noFill/>
        </p:spPr>
        <p:txBody>
          <a:bodyPr wrap="square" lIns="68584" tIns="34291" rIns="68584" bIns="34291" rtlCol="0">
            <a:spAutoFit/>
          </a:bodyPr>
          <a:lstStyle/>
          <a:p>
            <a:r>
              <a:rPr lang="zh-CN" altLang="en-US" sz="4800" b="1" dirty="0">
                <a:solidFill>
                  <a:schemeClr val="tx1">
                    <a:lumMod val="75000"/>
                    <a:lumOff val="25000"/>
                  </a:schemeClr>
                </a:solidFill>
                <a:latin typeface="微软雅黑" panose="020B0503020204020204" pitchFamily="34" charset="-122"/>
                <a:ea typeface="微软雅黑" panose="020B0503020204020204" pitchFamily="34" charset="-122"/>
              </a:rPr>
              <a:t>核酸的组成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914400" y="6248400"/>
            <a:ext cx="254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ea typeface="宋体" charset="-122"/>
            </a:endParaRPr>
          </a:p>
        </p:txBody>
      </p:sp>
      <p:sp>
        <p:nvSpPr>
          <p:cNvPr id="10243" name="Rectangle 3"/>
          <p:cNvSpPr>
            <a:spLocks noChangeArrowheads="1"/>
          </p:cNvSpPr>
          <p:nvPr/>
        </p:nvSpPr>
        <p:spPr bwMode="auto">
          <a:xfrm>
            <a:off x="4165600" y="6248400"/>
            <a:ext cx="386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ea typeface="宋体" charset="-122"/>
            </a:endParaRPr>
          </a:p>
        </p:txBody>
      </p:sp>
      <p:sp>
        <p:nvSpPr>
          <p:cNvPr id="24581" name="Rectangle 5"/>
          <p:cNvSpPr>
            <a:spLocks noGrp="1" noChangeArrowheads="1"/>
          </p:cNvSpPr>
          <p:nvPr>
            <p:ph type="body" idx="1"/>
          </p:nvPr>
        </p:nvSpPr>
        <p:spPr>
          <a:xfrm>
            <a:off x="2636321" y="733254"/>
            <a:ext cx="6667500" cy="1081088"/>
          </a:xfrm>
          <a:noFill/>
        </p:spPr>
        <p:txBody>
          <a:bodyPr lIns="90488" tIns="44450" rIns="90488" bIns="44450">
            <a:noAutofit/>
          </a:bodyPr>
          <a:lstStyle/>
          <a:p>
            <a:pPr>
              <a:lnSpc>
                <a:spcPct val="80000"/>
              </a:lnSpc>
              <a:buClr>
                <a:srgbClr val="FF0000"/>
              </a:buClr>
              <a:buFont typeface="Wingdings" pitchFamily="2" charset="2"/>
              <a:buChar char="?"/>
            </a:pPr>
            <a:r>
              <a:rPr lang="en-US" altLang="zh-CN" sz="3200" dirty="0">
                <a:latin typeface="Times New Roman" pitchFamily="18" charset="0"/>
                <a:ea typeface="楷体" pitchFamily="49" charset="-122"/>
                <a:cs typeface="Times New Roman" pitchFamily="18" charset="0"/>
              </a:rPr>
              <a:t>DNA —— </a:t>
            </a:r>
            <a:r>
              <a:rPr lang="zh-CN" altLang="en-US" sz="3200" dirty="0">
                <a:latin typeface="Times New Roman" pitchFamily="18" charset="0"/>
                <a:ea typeface="楷体" pitchFamily="49" charset="-122"/>
                <a:cs typeface="Times New Roman" pitchFamily="18" charset="0"/>
              </a:rPr>
              <a:t>一种类型，一种功能</a:t>
            </a:r>
            <a:r>
              <a:rPr lang="en-US" altLang="zh-CN" sz="3200" dirty="0">
                <a:latin typeface="Times New Roman" pitchFamily="18" charset="0"/>
                <a:ea typeface="楷体" pitchFamily="49" charset="-122"/>
                <a:cs typeface="Times New Roman" pitchFamily="18" charset="0"/>
              </a:rPr>
              <a:t> </a:t>
            </a:r>
          </a:p>
          <a:p>
            <a:pPr>
              <a:lnSpc>
                <a:spcPct val="80000"/>
              </a:lnSpc>
              <a:buClr>
                <a:srgbClr val="FF0000"/>
              </a:buClr>
              <a:buFont typeface="Wingdings" pitchFamily="2" charset="2"/>
              <a:buChar char="?"/>
            </a:pPr>
            <a:r>
              <a:rPr lang="en-US" altLang="zh-CN" sz="3200" dirty="0">
                <a:latin typeface="Times New Roman" pitchFamily="18" charset="0"/>
                <a:ea typeface="楷体" pitchFamily="49" charset="-122"/>
                <a:cs typeface="Times New Roman" pitchFamily="18" charset="0"/>
              </a:rPr>
              <a:t>RNA —— </a:t>
            </a:r>
            <a:r>
              <a:rPr lang="zh-CN" altLang="en-US" sz="3200" dirty="0">
                <a:latin typeface="Times New Roman" pitchFamily="18" charset="0"/>
                <a:ea typeface="楷体" pitchFamily="49" charset="-122"/>
                <a:cs typeface="Times New Roman" pitchFamily="18" charset="0"/>
              </a:rPr>
              <a:t>多种类型，多种功能</a:t>
            </a:r>
            <a:endParaRPr lang="en-US" altLang="zh-CN" sz="3200" dirty="0">
              <a:latin typeface="Times New Roman" pitchFamily="18" charset="0"/>
              <a:ea typeface="楷体" pitchFamily="49" charset="-122"/>
              <a:cs typeface="Times New Roman" pitchFamily="18" charset="0"/>
            </a:endParaRPr>
          </a:p>
          <a:p>
            <a:pPr>
              <a:lnSpc>
                <a:spcPct val="80000"/>
              </a:lnSpc>
              <a:buClr>
                <a:srgbClr val="FF0000"/>
              </a:buClr>
              <a:buFont typeface="Monotype Sorts" pitchFamily="2" charset="2"/>
              <a:buNone/>
            </a:pPr>
            <a:r>
              <a:rPr lang="en-US" altLang="zh-CN" sz="3200" dirty="0">
                <a:latin typeface="Times New Roman" pitchFamily="18" charset="0"/>
                <a:ea typeface="楷体" pitchFamily="49" charset="-122"/>
                <a:cs typeface="Times New Roman" pitchFamily="18" charset="0"/>
              </a:rPr>
              <a:t>     </a:t>
            </a:r>
            <a:r>
              <a:rPr lang="zh-CN" altLang="en-US" sz="3200" dirty="0">
                <a:latin typeface="Times New Roman" pitchFamily="18" charset="0"/>
                <a:ea typeface="楷体" pitchFamily="49" charset="-122"/>
                <a:cs typeface="Times New Roman" pitchFamily="18" charset="0"/>
              </a:rPr>
              <a:t>编码</a:t>
            </a:r>
            <a:r>
              <a:rPr lang="en-US" altLang="zh-CN" sz="3200" dirty="0">
                <a:latin typeface="Times New Roman" pitchFamily="18" charset="0"/>
                <a:ea typeface="楷体" pitchFamily="49" charset="-122"/>
                <a:cs typeface="Times New Roman" pitchFamily="18" charset="0"/>
              </a:rPr>
              <a:t>RNA</a:t>
            </a:r>
            <a:r>
              <a:rPr lang="zh-CN" altLang="en-US" sz="3200" dirty="0">
                <a:latin typeface="Times New Roman" pitchFamily="18" charset="0"/>
                <a:ea typeface="楷体" pitchFamily="49" charset="-122"/>
                <a:cs typeface="Times New Roman" pitchFamily="18" charset="0"/>
              </a:rPr>
              <a:t>和非编码</a:t>
            </a:r>
            <a:r>
              <a:rPr lang="en-US" altLang="zh-CN" sz="3200" dirty="0">
                <a:latin typeface="Times New Roman" pitchFamily="18" charset="0"/>
                <a:ea typeface="楷体" pitchFamily="49" charset="-122"/>
                <a:cs typeface="Times New Roman" pitchFamily="18" charset="0"/>
              </a:rPr>
              <a:t> (</a:t>
            </a:r>
            <a:r>
              <a:rPr lang="en-US" altLang="zh-CN" sz="3200" dirty="0" err="1">
                <a:solidFill>
                  <a:srgbClr val="FF0000"/>
                </a:solidFill>
                <a:latin typeface="Times New Roman" pitchFamily="18" charset="0"/>
                <a:ea typeface="楷体" pitchFamily="49" charset="-122"/>
                <a:cs typeface="Times New Roman" pitchFamily="18" charset="0"/>
              </a:rPr>
              <a:t>NcRNA</a:t>
            </a:r>
            <a:r>
              <a:rPr lang="en-US" altLang="zh-CN" sz="3200" dirty="0">
                <a:solidFill>
                  <a:srgbClr val="FF0000"/>
                </a:solidFill>
                <a:latin typeface="Times New Roman" pitchFamily="18" charset="0"/>
                <a:ea typeface="楷体" pitchFamily="49" charset="-122"/>
                <a:cs typeface="Times New Roman" pitchFamily="18" charset="0"/>
              </a:rPr>
              <a:t>)</a:t>
            </a:r>
            <a:endParaRPr lang="en-US" altLang="zh-CN" sz="3200" dirty="0">
              <a:solidFill>
                <a:schemeClr val="accent2"/>
              </a:solidFill>
              <a:latin typeface="Times New Roman" pitchFamily="18" charset="0"/>
              <a:ea typeface="宋体" charset="-122"/>
              <a:cs typeface="Times New Roman" pitchFamily="18" charset="0"/>
            </a:endParaRPr>
          </a:p>
        </p:txBody>
      </p:sp>
      <p:pic>
        <p:nvPicPr>
          <p:cNvPr id="30759" name="Picture 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52738"/>
            <a:ext cx="12194281" cy="376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41"/>
          <p:cNvSpPr>
            <a:spLocks noChangeArrowheads="1"/>
          </p:cNvSpPr>
          <p:nvPr/>
        </p:nvSpPr>
        <p:spPr bwMode="auto">
          <a:xfrm>
            <a:off x="4980057" y="1689"/>
            <a:ext cx="1980029" cy="52322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dirty="0">
                <a:solidFill>
                  <a:schemeClr val="tx1"/>
                </a:solidFill>
                <a:latin typeface="Times New Roman" pitchFamily="18" charset="0"/>
                <a:ea typeface="楷体" pitchFamily="49" charset="-122"/>
                <a:cs typeface="Times New Roman" pitchFamily="18" charset="0"/>
              </a:rPr>
              <a:t>核酸的分类</a:t>
            </a:r>
          </a:p>
        </p:txBody>
      </p:sp>
      <p:sp>
        <p:nvSpPr>
          <p:cNvPr id="10247" name="Rectangle 43"/>
          <p:cNvSpPr>
            <a:spLocks noChangeArrowheads="1"/>
          </p:cNvSpPr>
          <p:nvPr/>
        </p:nvSpPr>
        <p:spPr bwMode="auto">
          <a:xfrm>
            <a:off x="4420702" y="2360031"/>
            <a:ext cx="3350597" cy="461665"/>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tx1"/>
                </a:solidFill>
                <a:latin typeface="Times New Roman" pitchFamily="18" charset="0"/>
                <a:ea typeface="楷体" pitchFamily="49" charset="-122"/>
                <a:cs typeface="Times New Roman" pitchFamily="18" charset="0"/>
              </a:rPr>
              <a:t>DNA</a:t>
            </a:r>
            <a:r>
              <a:rPr lang="zh-CN" altLang="en-US" sz="2400" b="1" dirty="0">
                <a:solidFill>
                  <a:schemeClr val="tx1"/>
                </a:solidFill>
                <a:latin typeface="Times New Roman" pitchFamily="18" charset="0"/>
                <a:ea typeface="楷体" pitchFamily="49" charset="-122"/>
                <a:cs typeface="Times New Roman" pitchFamily="18" charset="0"/>
              </a:rPr>
              <a:t>和</a:t>
            </a:r>
            <a:r>
              <a:rPr lang="en-US" altLang="zh-CN" sz="2400" b="1" dirty="0">
                <a:solidFill>
                  <a:schemeClr val="tx1"/>
                </a:solidFill>
                <a:latin typeface="Times New Roman" pitchFamily="18" charset="0"/>
                <a:ea typeface="楷体" pitchFamily="49" charset="-122"/>
                <a:cs typeface="Times New Roman" pitchFamily="18" charset="0"/>
              </a:rPr>
              <a:t>RNA</a:t>
            </a:r>
            <a:r>
              <a:rPr lang="zh-CN" altLang="en-US" sz="2400" b="1" dirty="0">
                <a:solidFill>
                  <a:schemeClr val="tx1"/>
                </a:solidFill>
                <a:latin typeface="Times New Roman" pitchFamily="18" charset="0"/>
                <a:ea typeface="楷体" pitchFamily="49" charset="-122"/>
                <a:cs typeface="Times New Roman" pitchFamily="18" charset="0"/>
              </a:rPr>
              <a:t>的结构异同</a:t>
            </a:r>
          </a:p>
        </p:txBody>
      </p:sp>
    </p:spTree>
    <p:extLst>
      <p:ext uri="{BB962C8B-B14F-4D97-AF65-F5344CB8AC3E}">
        <p14:creationId xmlns:p14="http://schemas.microsoft.com/office/powerpoint/2010/main" val="379581298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4581">
                                            <p:txEl>
                                              <p:pRg st="0" end="0"/>
                                            </p:txEl>
                                          </p:spTgt>
                                        </p:tgtEl>
                                        <p:attrNameLst>
                                          <p:attrName>style.visibility</p:attrName>
                                        </p:attrNameLst>
                                      </p:cBhvr>
                                      <p:to>
                                        <p:strVal val="visible"/>
                                      </p:to>
                                    </p:set>
                                    <p:animEffect transition="in" filter="box(out)">
                                      <p:cBhvr>
                                        <p:cTn id="7" dur="500"/>
                                        <p:tgtEl>
                                          <p:spTgt spid="2458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4581">
                                            <p:txEl>
                                              <p:pRg st="1" end="1"/>
                                            </p:txEl>
                                          </p:spTgt>
                                        </p:tgtEl>
                                        <p:attrNameLst>
                                          <p:attrName>style.visibility</p:attrName>
                                        </p:attrNameLst>
                                      </p:cBhvr>
                                      <p:to>
                                        <p:strVal val="visible"/>
                                      </p:to>
                                    </p:set>
                                    <p:animEffect transition="in" filter="box(out)">
                                      <p:cBhvr>
                                        <p:cTn id="12" dur="500"/>
                                        <p:tgtEl>
                                          <p:spTgt spid="2458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4581">
                                            <p:txEl>
                                              <p:pRg st="2" end="2"/>
                                            </p:txEl>
                                          </p:spTgt>
                                        </p:tgtEl>
                                        <p:attrNameLst>
                                          <p:attrName>style.visibility</p:attrName>
                                        </p:attrNameLst>
                                      </p:cBhvr>
                                      <p:to>
                                        <p:strVal val="visible"/>
                                      </p:to>
                                    </p:set>
                                    <p:animEffect transition="in" filter="box(out)">
                                      <p:cBhvr>
                                        <p:cTn id="17" dur="500"/>
                                        <p:tgtEl>
                                          <p:spTgt spid="2458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0" presetClass="entr" presetSubtype="0" fill="hold" nodeType="clickEffect">
                                  <p:stCondLst>
                                    <p:cond delay="0"/>
                                  </p:stCondLst>
                                  <p:childTnLst>
                                    <p:set>
                                      <p:cBhvr>
                                        <p:cTn id="21" dur="1" fill="hold">
                                          <p:stCondLst>
                                            <p:cond delay="0"/>
                                          </p:stCondLst>
                                        </p:cTn>
                                        <p:tgtEl>
                                          <p:spTgt spid="30759"/>
                                        </p:tgtEl>
                                        <p:attrNameLst>
                                          <p:attrName>style.visibility</p:attrName>
                                        </p:attrNameLst>
                                      </p:cBhvr>
                                      <p:to>
                                        <p:strVal val="visible"/>
                                      </p:to>
                                    </p:set>
                                    <p:animEffect transition="in" filter="wedge">
                                      <p:cBhvr>
                                        <p:cTn id="22" dur="2000"/>
                                        <p:tgtEl>
                                          <p:spTgt spid="30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A1C5BD03-58C3-5367-69B9-6646DBFA8948}"/>
              </a:ext>
            </a:extLst>
          </p:cNvPr>
          <p:cNvPicPr>
            <a:picLocks noChangeAspect="1"/>
          </p:cNvPicPr>
          <p:nvPr/>
        </p:nvPicPr>
        <p:blipFill>
          <a:blip r:embed="rId2"/>
          <a:stretch>
            <a:fillRect/>
          </a:stretch>
        </p:blipFill>
        <p:spPr>
          <a:xfrm>
            <a:off x="2405063" y="2012265"/>
            <a:ext cx="6738938" cy="4782472"/>
          </a:xfrm>
          <a:prstGeom prst="rect">
            <a:avLst/>
          </a:prstGeom>
        </p:spPr>
      </p:pic>
      <p:sp>
        <p:nvSpPr>
          <p:cNvPr id="2" name="文本框 1"/>
          <p:cNvSpPr txBox="1"/>
          <p:nvPr/>
        </p:nvSpPr>
        <p:spPr>
          <a:xfrm>
            <a:off x="4411688" y="-106017"/>
            <a:ext cx="2749471"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一、核苷酸</a:t>
            </a:r>
            <a:endPar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66309" name="Text Box 5"/>
          <p:cNvSpPr txBox="1"/>
          <p:nvPr/>
        </p:nvSpPr>
        <p:spPr>
          <a:xfrm>
            <a:off x="0" y="855695"/>
            <a:ext cx="12192000" cy="1211998"/>
          </a:xfrm>
          <a:prstGeom prst="rect">
            <a:avLst/>
          </a:prstGeom>
          <a:solidFill>
            <a:schemeClr val="accent6">
              <a:lumMod val="20000"/>
              <a:lumOff val="80000"/>
            </a:schemeClr>
          </a:solidFill>
          <a:ln w="9525">
            <a:noFill/>
          </a:ln>
        </p:spPr>
        <p:txBody>
          <a:bodyPr wrap="square" anchor="t" anchorCtr="0">
            <a:spAutoFit/>
          </a:bodyPr>
          <a:lstStyle/>
          <a:p>
            <a:pPr marL="342900" indent="-342900">
              <a:lnSpc>
                <a:spcPct val="150000"/>
              </a:lnSpc>
              <a:spcBef>
                <a:spcPts val="600"/>
              </a:spcBef>
              <a:buFont typeface="Arial" panose="020B0604020202020204" pitchFamily="34" charset="0"/>
              <a:buChar char="•"/>
            </a:pPr>
            <a:r>
              <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核酸</a:t>
            </a:r>
            <a:r>
              <a:rPr lang="en-US"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(Nucleic Acid)</a:t>
            </a:r>
            <a:r>
              <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的元素组成: C , H,  O,  N,  P</a:t>
            </a:r>
            <a:r>
              <a:rPr lang="zh-CN" altLang="en-US"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a:t>
            </a:r>
            <a:r>
              <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  平均含</a:t>
            </a:r>
            <a:r>
              <a:rPr lang="en-US"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P</a:t>
            </a:r>
            <a:r>
              <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：DNA</a:t>
            </a:r>
            <a:r>
              <a:rPr lang="en-US"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 </a:t>
            </a:r>
            <a:r>
              <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9.9</a:t>
            </a:r>
            <a:r>
              <a:rPr sz="2400" b="1"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 </a:t>
            </a:r>
            <a:r>
              <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  RNA</a:t>
            </a:r>
            <a:r>
              <a:rPr lang="en-US"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 </a:t>
            </a:r>
            <a:r>
              <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9.4%</a:t>
            </a:r>
            <a:r>
              <a:rPr lang="zh-CN" altLang="en-US"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rPr>
              <a:t>；</a:t>
            </a:r>
          </a:p>
          <a:p>
            <a:pPr marL="342900" indent="-342900">
              <a:lnSpc>
                <a:spcPct val="150000"/>
              </a:lnSpc>
              <a:spcBef>
                <a:spcPts val="600"/>
              </a:spcBef>
              <a:buFont typeface="Arial" panose="020B0604020202020204" pitchFamily="34" charset="0"/>
              <a:buChar char="•"/>
            </a:pPr>
            <a:r>
              <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sym typeface="+mn-ea"/>
              </a:rPr>
              <a:t>核酸的基本结构单位——</a:t>
            </a:r>
            <a:r>
              <a:rPr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核苷酸</a:t>
            </a:r>
            <a:r>
              <a:rPr 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ucleotide</a:t>
            </a:r>
            <a:r>
              <a:rPr 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66309"/>
                                        </p:tgtEl>
                                        <p:attrNameLst>
                                          <p:attrName>style.visibility</p:attrName>
                                        </p:attrNameLst>
                                      </p:cBhvr>
                                      <p:to>
                                        <p:strVal val="visible"/>
                                      </p:to>
                                    </p:set>
                                    <p:anim calcmode="lin" valueType="num">
                                      <p:cBhvr additive="base">
                                        <p:cTn id="7" dur="500" fill="hold"/>
                                        <p:tgtEl>
                                          <p:spTgt spid="866309"/>
                                        </p:tgtEl>
                                        <p:attrNameLst>
                                          <p:attrName>ppt_x</p:attrName>
                                        </p:attrNameLst>
                                      </p:cBhvr>
                                      <p:tavLst>
                                        <p:tav tm="0">
                                          <p:val>
                                            <p:strVal val="0-#ppt_w/2"/>
                                          </p:val>
                                        </p:tav>
                                        <p:tav tm="100000">
                                          <p:val>
                                            <p:strVal val="#ppt_x"/>
                                          </p:val>
                                        </p:tav>
                                      </p:tavLst>
                                    </p:anim>
                                    <p:anim calcmode="lin" valueType="num">
                                      <p:cBhvr additive="base">
                                        <p:cTn id="8" dur="500" fill="hold"/>
                                        <p:tgtEl>
                                          <p:spTgt spid="8663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630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05301" y="-73522"/>
            <a:ext cx="2039341" cy="906915"/>
          </a:xfrm>
          <a:prstGeom prst="rect">
            <a:avLst/>
          </a:prstGeom>
          <a:noFill/>
        </p:spPr>
        <p:txBody>
          <a:bodyPr wrap="none" rtlCol="0" anchor="t">
            <a:spAutoFit/>
          </a:bodyPr>
          <a:lstStyle/>
          <a:p>
            <a:pPr>
              <a:lnSpc>
                <a:spcPct val="150000"/>
              </a:lnSpc>
            </a:pPr>
            <a:r>
              <a:rPr 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1</a:t>
            </a: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碱基</a:t>
            </a:r>
          </a:p>
        </p:txBody>
      </p:sp>
      <p:pic>
        <p:nvPicPr>
          <p:cNvPr id="3" name="图片 2"/>
          <p:cNvPicPr>
            <a:picLocks noChangeAspect="1"/>
          </p:cNvPicPr>
          <p:nvPr/>
        </p:nvPicPr>
        <p:blipFill>
          <a:blip r:embed="rId2"/>
          <a:srcRect t="5381"/>
          <a:stretch>
            <a:fillRect/>
          </a:stretch>
        </p:blipFill>
        <p:spPr>
          <a:xfrm>
            <a:off x="6237229" y="1051732"/>
            <a:ext cx="5595741" cy="5858229"/>
          </a:xfrm>
          <a:prstGeom prst="rect">
            <a:avLst/>
          </a:prstGeom>
        </p:spPr>
      </p:pic>
      <p:sp>
        <p:nvSpPr>
          <p:cNvPr id="7" name="文本框 6"/>
          <p:cNvSpPr txBox="1"/>
          <p:nvPr/>
        </p:nvSpPr>
        <p:spPr>
          <a:xfrm>
            <a:off x="7757883" y="2797042"/>
            <a:ext cx="3808475" cy="418191"/>
          </a:xfrm>
          <a:prstGeom prst="rect">
            <a:avLst/>
          </a:prstGeom>
          <a:noFill/>
        </p:spPr>
        <p:txBody>
          <a:bodyPr wrap="square" rtlCol="0">
            <a:spAutoFit/>
          </a:bodyPr>
          <a:lstStyle/>
          <a:p>
            <a:pPr>
              <a:lnSpc>
                <a:spcPct val="150000"/>
              </a:lnSpc>
            </a:pPr>
            <a:r>
              <a:rPr lang="zh-CN" altLang="en-US" sz="1600" b="1" dirty="0">
                <a:solidFill>
                  <a:srgbClr val="FF0000"/>
                </a:solidFill>
                <a:latin typeface="微软雅黑" panose="020B0503020204020204" pitchFamily="34" charset="-122"/>
                <a:ea typeface="微软雅黑" panose="020B0503020204020204" pitchFamily="34" charset="-122"/>
              </a:rPr>
              <a:t>腺嘌呤</a:t>
            </a:r>
            <a:r>
              <a:rPr lang="en-US" altLang="zh-CN" sz="1600" b="1" dirty="0">
                <a:solidFill>
                  <a:srgbClr val="FF0000"/>
                </a:solidFill>
                <a:latin typeface="微软雅黑" panose="020B0503020204020204" pitchFamily="34" charset="-122"/>
                <a:ea typeface="微软雅黑" panose="020B0503020204020204" pitchFamily="34" charset="-122"/>
              </a:rPr>
              <a:t>                                 </a:t>
            </a:r>
            <a:r>
              <a:rPr lang="zh-CN" altLang="en-US" sz="1600" b="1" dirty="0">
                <a:solidFill>
                  <a:srgbClr val="FF0000"/>
                </a:solidFill>
                <a:latin typeface="微软雅黑" panose="020B0503020204020204" pitchFamily="34" charset="-122"/>
                <a:ea typeface="微软雅黑" panose="020B0503020204020204" pitchFamily="34" charset="-122"/>
              </a:rPr>
              <a:t>鸟嘌呤</a:t>
            </a:r>
          </a:p>
        </p:txBody>
      </p:sp>
      <p:sp>
        <p:nvSpPr>
          <p:cNvPr id="8" name="文本框 7"/>
          <p:cNvSpPr txBox="1"/>
          <p:nvPr/>
        </p:nvSpPr>
        <p:spPr>
          <a:xfrm>
            <a:off x="7339383" y="5822310"/>
            <a:ext cx="4980953" cy="418191"/>
          </a:xfrm>
          <a:prstGeom prst="rect">
            <a:avLst/>
          </a:prstGeom>
          <a:noFill/>
        </p:spPr>
        <p:txBody>
          <a:bodyPr wrap="square" rtlCol="0">
            <a:spAutoFit/>
          </a:bodyPr>
          <a:lstStyle/>
          <a:p>
            <a:pPr>
              <a:lnSpc>
                <a:spcPct val="150000"/>
              </a:lnSpc>
            </a:pPr>
            <a:r>
              <a:rPr lang="zh-CN" altLang="en-US" sz="1600" b="1" dirty="0">
                <a:solidFill>
                  <a:srgbClr val="FF0000"/>
                </a:solidFill>
                <a:latin typeface="微软雅黑" panose="020B0503020204020204" pitchFamily="34" charset="-122"/>
                <a:ea typeface="微软雅黑" panose="020B0503020204020204" pitchFamily="34" charset="-122"/>
              </a:rPr>
              <a:t>胞嘧啶</a:t>
            </a:r>
            <a:r>
              <a:rPr lang="en-US" altLang="zh-CN" sz="1600" b="1" dirty="0">
                <a:solidFill>
                  <a:srgbClr val="FF0000"/>
                </a:solidFill>
                <a:latin typeface="微软雅黑" panose="020B0503020204020204" pitchFamily="34" charset="-122"/>
                <a:ea typeface="微软雅黑" panose="020B0503020204020204" pitchFamily="34" charset="-122"/>
              </a:rPr>
              <a:t>                         </a:t>
            </a:r>
            <a:r>
              <a:rPr lang="zh-CN" altLang="en-US" sz="1600" b="1" dirty="0">
                <a:solidFill>
                  <a:srgbClr val="FF0000"/>
                </a:solidFill>
                <a:latin typeface="微软雅黑" panose="020B0503020204020204" pitchFamily="34" charset="-122"/>
                <a:ea typeface="微软雅黑" panose="020B0503020204020204" pitchFamily="34" charset="-122"/>
              </a:rPr>
              <a:t>胸腺嘧啶   </a:t>
            </a:r>
            <a:r>
              <a:rPr lang="en-US" altLang="zh-CN" sz="1600" b="1" dirty="0">
                <a:solidFill>
                  <a:srgbClr val="FF0000"/>
                </a:solidFill>
                <a:latin typeface="微软雅黑" panose="020B0503020204020204" pitchFamily="34" charset="-122"/>
                <a:ea typeface="微软雅黑" panose="020B0503020204020204" pitchFamily="34" charset="-122"/>
              </a:rPr>
              <a:t>                 </a:t>
            </a:r>
            <a:r>
              <a:rPr lang="zh-CN" altLang="en-US" sz="1600" b="1" dirty="0">
                <a:solidFill>
                  <a:srgbClr val="FF0000"/>
                </a:solidFill>
                <a:latin typeface="微软雅黑" panose="020B0503020204020204" pitchFamily="34" charset="-122"/>
                <a:ea typeface="微软雅黑" panose="020B0503020204020204" pitchFamily="34" charset="-122"/>
              </a:rPr>
              <a:t>尿嘧啶</a:t>
            </a:r>
          </a:p>
        </p:txBody>
      </p:sp>
      <p:sp>
        <p:nvSpPr>
          <p:cNvPr id="9" name="文本框 8"/>
          <p:cNvSpPr txBox="1"/>
          <p:nvPr/>
        </p:nvSpPr>
        <p:spPr>
          <a:xfrm>
            <a:off x="112295" y="1703972"/>
            <a:ext cx="6124934" cy="3166380"/>
          </a:xfrm>
          <a:prstGeom prst="rect">
            <a:avLst/>
          </a:prstGeom>
          <a:noFill/>
        </p:spPr>
        <p:txBody>
          <a:bodyPr wrap="square" rtlCol="0" anchor="t">
            <a:spAutoFit/>
          </a:bodyPr>
          <a:lstStyle/>
          <a:p>
            <a:pPr marL="342900" indent="-342900">
              <a:lnSpc>
                <a:spcPct val="150000"/>
              </a:lnSpc>
              <a:spcBef>
                <a:spcPct val="50000"/>
              </a:spcBef>
              <a:buFont typeface="Arial" panose="020B0604020202020204" pitchFamily="34" charset="0"/>
              <a:buChar char="•"/>
            </a:pPr>
            <a:r>
              <a:rPr sz="2400" dirty="0" err="1">
                <a:solidFill>
                  <a:srgbClr val="0B1A08"/>
                </a:solidFill>
                <a:latin typeface="微软雅黑" panose="020B0503020204020204" pitchFamily="34" charset="-122"/>
                <a:ea typeface="微软雅黑" panose="020B0503020204020204" pitchFamily="34" charset="-122"/>
                <a:cs typeface="微软雅黑" panose="020B0503020204020204" pitchFamily="34" charset="-122"/>
                <a:sym typeface="+mn-ea"/>
              </a:rPr>
              <a:t>嘌呤环和嘧啶环均呈平面或接近于平面</a:t>
            </a:r>
            <a:r>
              <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50000"/>
              </a:spcBef>
              <a:buFont typeface="Arial" panose="020B0604020202020204" pitchFamily="34" charset="0"/>
              <a:buChar char="•"/>
            </a:pPr>
            <a:r>
              <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sym typeface="+mn-ea"/>
              </a:rPr>
              <a:t>碱基的芳香环与环外基团可以发生酮式—烯醇式或胺式—亚胺式互变异构。</a:t>
            </a:r>
            <a:endPar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50000"/>
              </a:spcBef>
              <a:buFont typeface="Arial" panose="020B0604020202020204" pitchFamily="34" charset="0"/>
              <a:buChar char="•"/>
            </a:pPr>
            <a:r>
              <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sym typeface="+mn-ea"/>
              </a:rPr>
              <a:t>嘌呤碱和嘧啶碱分子中都含有共轭双键体系，在紫外区有吸收（</a:t>
            </a:r>
            <a:r>
              <a:rPr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260 nm</a:t>
            </a:r>
            <a:r>
              <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sym typeface="+mn-ea"/>
              </a:rPr>
              <a:t>左右）</a:t>
            </a:r>
          </a:p>
        </p:txBody>
      </p:sp>
      <p:sp>
        <p:nvSpPr>
          <p:cNvPr id="11" name="文本框 10"/>
          <p:cNvSpPr txBox="1"/>
          <p:nvPr/>
        </p:nvSpPr>
        <p:spPr>
          <a:xfrm>
            <a:off x="7676857" y="4137070"/>
            <a:ext cx="737936" cy="1015663"/>
          </a:xfrm>
          <a:prstGeom prst="rect">
            <a:avLst/>
          </a:prstGeom>
          <a:noFill/>
        </p:spPr>
        <p:txBody>
          <a:bodyPr wrap="square" rtlCol="0">
            <a:spAutoFit/>
          </a:bodyPr>
          <a:lstStyle/>
          <a:p>
            <a:pPr>
              <a:lnSpc>
                <a:spcPct val="150000"/>
              </a:lnSpc>
            </a:pPr>
            <a:r>
              <a:rPr lang="en-US" altLang="zh-CN" sz="2000" b="1" dirty="0"/>
              <a:t>CH</a:t>
            </a:r>
            <a:r>
              <a:rPr lang="en-US" altLang="zh-CN" sz="2000" b="1" baseline="-25000" dirty="0"/>
              <a:t>3</a:t>
            </a:r>
            <a:endParaRPr lang="en-US" altLang="zh-CN" sz="2000" b="1" dirty="0"/>
          </a:p>
          <a:p>
            <a:pPr marL="285750" indent="-285750">
              <a:lnSpc>
                <a:spcPct val="150000"/>
              </a:lnSpc>
              <a:buFont typeface="Arial" panose="020B0604020202020204" pitchFamily="34" charset="0"/>
              <a:buChar char="•"/>
            </a:pPr>
            <a:endParaRPr lang="en-US" altLang="zh-CN" sz="2000" b="1" dirty="0"/>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914399" y="3586223"/>
            <a:ext cx="254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ea typeface="宋体" charset="-122"/>
            </a:endParaRPr>
          </a:p>
        </p:txBody>
      </p:sp>
      <p:sp>
        <p:nvSpPr>
          <p:cNvPr id="118789" name="Rectangle 5"/>
          <p:cNvSpPr>
            <a:spLocks noGrp="1" noChangeArrowheads="1"/>
          </p:cNvSpPr>
          <p:nvPr>
            <p:ph type="body" idx="4294967295"/>
          </p:nvPr>
        </p:nvSpPr>
        <p:spPr>
          <a:xfrm>
            <a:off x="1638489" y="4257554"/>
            <a:ext cx="10369549" cy="2016125"/>
          </a:xfrm>
        </p:spPr>
        <p:txBody>
          <a:bodyPr lIns="90488" tIns="44450" rIns="90488" bIns="44450"/>
          <a:lstStyle/>
          <a:p>
            <a:pPr>
              <a:buClr>
                <a:srgbClr val="FF0000"/>
              </a:buClr>
              <a:buFont typeface="Wingdings" pitchFamily="2" charset="2"/>
              <a:buChar char="L"/>
            </a:pPr>
            <a:r>
              <a:rPr lang="en-US" altLang="zh-CN" sz="2800" dirty="0">
                <a:latin typeface="Times New Roman" pitchFamily="18" charset="0"/>
                <a:ea typeface="楷体" pitchFamily="49" charset="-122"/>
                <a:cs typeface="Times New Roman" pitchFamily="18" charset="0"/>
              </a:rPr>
              <a:t>C</a:t>
            </a:r>
            <a:r>
              <a:rPr lang="zh-CN" altLang="en-US" sz="2800" dirty="0">
                <a:latin typeface="Times New Roman" pitchFamily="18" charset="0"/>
                <a:ea typeface="楷体" pitchFamily="49" charset="-122"/>
                <a:cs typeface="Times New Roman" pitchFamily="18" charset="0"/>
              </a:rPr>
              <a:t>自发脱氨基变成</a:t>
            </a:r>
            <a:r>
              <a:rPr lang="en-US" altLang="zh-CN" sz="2800" dirty="0">
                <a:latin typeface="Times New Roman" pitchFamily="18" charset="0"/>
                <a:ea typeface="楷体" pitchFamily="49" charset="-122"/>
                <a:cs typeface="Times New Roman" pitchFamily="18" charset="0"/>
              </a:rPr>
              <a:t>U</a:t>
            </a:r>
          </a:p>
          <a:p>
            <a:pPr>
              <a:buClr>
                <a:srgbClr val="FF0000"/>
              </a:buClr>
              <a:buFont typeface="Monotype Sorts" pitchFamily="2" charset="2"/>
              <a:buChar char="L"/>
            </a:pPr>
            <a:r>
              <a:rPr lang="zh-CN" altLang="en-US" sz="2800" dirty="0">
                <a:latin typeface="Times New Roman" pitchFamily="18" charset="0"/>
                <a:ea typeface="楷体" pitchFamily="49" charset="-122"/>
                <a:cs typeface="Times New Roman" pitchFamily="18" charset="0"/>
              </a:rPr>
              <a:t>修复酶能够识别这些突变，以用</a:t>
            </a:r>
            <a:r>
              <a:rPr lang="en-US" altLang="zh-CN" sz="2800" dirty="0">
                <a:latin typeface="Times New Roman" pitchFamily="18" charset="0"/>
                <a:ea typeface="楷体" pitchFamily="49" charset="-122"/>
                <a:cs typeface="Times New Roman" pitchFamily="18" charset="0"/>
              </a:rPr>
              <a:t>C</a:t>
            </a:r>
            <a:r>
              <a:rPr lang="zh-CN" altLang="en-US" sz="2800" dirty="0">
                <a:latin typeface="Times New Roman" pitchFamily="18" charset="0"/>
                <a:ea typeface="楷体" pitchFamily="49" charset="-122"/>
                <a:cs typeface="Times New Roman" pitchFamily="18" charset="0"/>
              </a:rPr>
              <a:t>取代这些</a:t>
            </a:r>
            <a:r>
              <a:rPr lang="en-US" altLang="zh-CN" sz="2800" dirty="0">
                <a:latin typeface="Times New Roman" pitchFamily="18" charset="0"/>
                <a:ea typeface="楷体" pitchFamily="49" charset="-122"/>
                <a:cs typeface="Times New Roman" pitchFamily="18" charset="0"/>
              </a:rPr>
              <a:t>U</a:t>
            </a:r>
            <a:r>
              <a:rPr lang="zh-CN" altLang="en-US" sz="2800" dirty="0">
                <a:latin typeface="Times New Roman" pitchFamily="18" charset="0"/>
                <a:ea typeface="楷体" pitchFamily="49" charset="-122"/>
                <a:cs typeface="Times New Roman" pitchFamily="18" charset="0"/>
              </a:rPr>
              <a:t>。</a:t>
            </a:r>
            <a:endParaRPr lang="en-US" altLang="zh-CN" sz="2800" dirty="0">
              <a:latin typeface="Times New Roman" pitchFamily="18" charset="0"/>
              <a:ea typeface="楷体" pitchFamily="49" charset="-122"/>
              <a:cs typeface="Times New Roman" pitchFamily="18" charset="0"/>
            </a:endParaRPr>
          </a:p>
          <a:p>
            <a:pPr>
              <a:buClr>
                <a:srgbClr val="FF0000"/>
              </a:buClr>
              <a:buFont typeface="Monotype Sorts" pitchFamily="2" charset="2"/>
              <a:buChar char="L"/>
            </a:pPr>
            <a:r>
              <a:rPr lang="zh-CN" altLang="en-US" sz="2800" dirty="0">
                <a:latin typeface="Times New Roman" pitchFamily="18" charset="0"/>
                <a:ea typeface="楷体" pitchFamily="49" charset="-122"/>
                <a:cs typeface="Times New Roman" pitchFamily="18" charset="0"/>
              </a:rPr>
              <a:t>如何区分正常的</a:t>
            </a:r>
            <a:r>
              <a:rPr lang="en-US" altLang="zh-CN" sz="2800" dirty="0">
                <a:latin typeface="Times New Roman" pitchFamily="18" charset="0"/>
                <a:ea typeface="楷体" pitchFamily="49" charset="-122"/>
                <a:cs typeface="Times New Roman" pitchFamily="18" charset="0"/>
              </a:rPr>
              <a:t>U</a:t>
            </a:r>
            <a:r>
              <a:rPr lang="zh-CN" altLang="en-US" sz="2800" dirty="0">
                <a:latin typeface="Times New Roman" pitchFamily="18" charset="0"/>
                <a:ea typeface="楷体" pitchFamily="49" charset="-122"/>
                <a:cs typeface="Times New Roman" pitchFamily="18" charset="0"/>
              </a:rPr>
              <a:t>和突变而来的</a:t>
            </a:r>
            <a:r>
              <a:rPr lang="en-US" altLang="zh-CN" sz="2800" dirty="0">
                <a:latin typeface="Times New Roman" pitchFamily="18" charset="0"/>
                <a:ea typeface="楷体" pitchFamily="49" charset="-122"/>
                <a:cs typeface="Times New Roman" pitchFamily="18" charset="0"/>
              </a:rPr>
              <a:t>U? </a:t>
            </a:r>
          </a:p>
          <a:p>
            <a:pPr>
              <a:buClr>
                <a:srgbClr val="FF0000"/>
              </a:buClr>
              <a:buFont typeface="Monotype Sorts" pitchFamily="2" charset="2"/>
              <a:buChar char="L"/>
            </a:pPr>
            <a:r>
              <a:rPr lang="zh-CN" altLang="en-US" sz="2800" dirty="0">
                <a:latin typeface="Times New Roman" pitchFamily="18" charset="0"/>
                <a:ea typeface="楷体" pitchFamily="49" charset="-122"/>
                <a:cs typeface="Times New Roman" pitchFamily="18" charset="0"/>
              </a:rPr>
              <a:t>使用</a:t>
            </a:r>
            <a:r>
              <a:rPr lang="en-US" altLang="zh-CN" sz="2800" dirty="0">
                <a:latin typeface="Times New Roman" pitchFamily="18" charset="0"/>
                <a:ea typeface="楷体" pitchFamily="49" charset="-122"/>
                <a:cs typeface="Times New Roman" pitchFamily="18" charset="0"/>
              </a:rPr>
              <a:t>T</a:t>
            </a:r>
            <a:r>
              <a:rPr lang="zh-CN" altLang="en-US" sz="2800" dirty="0">
                <a:latin typeface="Times New Roman" pitchFamily="18" charset="0"/>
                <a:ea typeface="楷体" pitchFamily="49" charset="-122"/>
                <a:cs typeface="Times New Roman" pitchFamily="18" charset="0"/>
              </a:rPr>
              <a:t>就很容易解决以上问题。</a:t>
            </a:r>
            <a:endParaRPr lang="en-US" altLang="zh-CN" sz="2800" dirty="0">
              <a:latin typeface="Times New Roman" pitchFamily="18" charset="0"/>
              <a:ea typeface="楷体" pitchFamily="49" charset="-122"/>
              <a:cs typeface="Times New Roman" pitchFamily="18" charset="0"/>
            </a:endParaRPr>
          </a:p>
        </p:txBody>
      </p:sp>
      <p:pic>
        <p:nvPicPr>
          <p:cNvPr id="16691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693" y="1054162"/>
            <a:ext cx="8542867" cy="233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6920" name="Text Box 8"/>
          <p:cNvSpPr txBox="1">
            <a:spLocks noChangeArrowheads="1"/>
          </p:cNvSpPr>
          <p:nvPr/>
        </p:nvSpPr>
        <p:spPr bwMode="auto">
          <a:xfrm>
            <a:off x="2832100" y="3575111"/>
            <a:ext cx="1056217" cy="45720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Arial" charset="0"/>
              </a:defRPr>
            </a:lvl1pPr>
            <a:lvl2pPr>
              <a:defRPr kumimoji="1" sz="2800">
                <a:solidFill>
                  <a:schemeClr val="tx1"/>
                </a:solidFill>
                <a:latin typeface="Arial" charset="0"/>
              </a:defRPr>
            </a:lvl2pPr>
            <a:lvl3pPr>
              <a:defRPr kumimoji="1" sz="2400">
                <a:solidFill>
                  <a:schemeClr val="tx1"/>
                </a:solidFill>
                <a:latin typeface="Arial" charset="0"/>
              </a:defRPr>
            </a:lvl3pPr>
            <a:lvl4pPr>
              <a:defRPr kumimoji="1" sz="2000">
                <a:solidFill>
                  <a:schemeClr val="tx1"/>
                </a:solidFill>
                <a:latin typeface="Arial" charset="0"/>
              </a:defRPr>
            </a:lvl4pPr>
            <a:lvl5pPr>
              <a:defRPr kumimoji="1" sz="2000">
                <a:solidFill>
                  <a:schemeClr val="tx1"/>
                </a:solidFill>
                <a:latin typeface="Arial" charset="0"/>
              </a:defRPr>
            </a:lvl5pPr>
            <a:lvl6pPr>
              <a:defRPr kumimoji="1" sz="2000">
                <a:solidFill>
                  <a:schemeClr val="tx1"/>
                </a:solidFill>
                <a:latin typeface="Arial" charset="0"/>
              </a:defRPr>
            </a:lvl6pPr>
            <a:lvl7pPr>
              <a:defRPr kumimoji="1" sz="2000">
                <a:solidFill>
                  <a:schemeClr val="tx1"/>
                </a:solidFill>
                <a:latin typeface="Arial" charset="0"/>
              </a:defRPr>
            </a:lvl7pPr>
            <a:lvl8pPr>
              <a:defRPr kumimoji="1" sz="2000">
                <a:solidFill>
                  <a:schemeClr val="tx1"/>
                </a:solidFill>
                <a:latin typeface="Arial" charset="0"/>
              </a:defRPr>
            </a:lvl8pPr>
            <a:lvl9pPr>
              <a:defRPr kumimoji="1" sz="2000">
                <a:solidFill>
                  <a:schemeClr val="tx1"/>
                </a:solidFill>
                <a:latin typeface="Arial" charset="0"/>
              </a:defRPr>
            </a:lvl9pPr>
          </a:lstStyle>
          <a:p>
            <a:pPr algn="ctr">
              <a:spcBef>
                <a:spcPct val="50000"/>
              </a:spcBef>
            </a:pPr>
            <a:r>
              <a:rPr kumimoji="0" lang="en-US" altLang="zh-CN" sz="2400">
                <a:latin typeface="Times New Roman" pitchFamily="18" charset="0"/>
                <a:ea typeface="楷体" pitchFamily="49" charset="-122"/>
                <a:cs typeface="Times New Roman" pitchFamily="18" charset="0"/>
              </a:rPr>
              <a:t>C</a:t>
            </a:r>
          </a:p>
        </p:txBody>
      </p:sp>
      <p:sp>
        <p:nvSpPr>
          <p:cNvPr id="166921" name="Text Box 9"/>
          <p:cNvSpPr txBox="1">
            <a:spLocks noChangeArrowheads="1"/>
          </p:cNvSpPr>
          <p:nvPr/>
        </p:nvSpPr>
        <p:spPr bwMode="auto">
          <a:xfrm>
            <a:off x="9264650" y="3575111"/>
            <a:ext cx="960967" cy="45720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Arial" charset="0"/>
              </a:defRPr>
            </a:lvl1pPr>
            <a:lvl2pPr>
              <a:defRPr kumimoji="1" sz="2800">
                <a:solidFill>
                  <a:schemeClr val="tx1"/>
                </a:solidFill>
                <a:latin typeface="Arial" charset="0"/>
              </a:defRPr>
            </a:lvl2pPr>
            <a:lvl3pPr>
              <a:defRPr kumimoji="1" sz="2400">
                <a:solidFill>
                  <a:schemeClr val="tx1"/>
                </a:solidFill>
                <a:latin typeface="Arial" charset="0"/>
              </a:defRPr>
            </a:lvl3pPr>
            <a:lvl4pPr>
              <a:defRPr kumimoji="1" sz="2000">
                <a:solidFill>
                  <a:schemeClr val="tx1"/>
                </a:solidFill>
                <a:latin typeface="Arial" charset="0"/>
              </a:defRPr>
            </a:lvl4pPr>
            <a:lvl5pPr>
              <a:defRPr kumimoji="1" sz="2000">
                <a:solidFill>
                  <a:schemeClr val="tx1"/>
                </a:solidFill>
                <a:latin typeface="Arial" charset="0"/>
              </a:defRPr>
            </a:lvl5pPr>
            <a:lvl6pPr>
              <a:defRPr kumimoji="1" sz="2000">
                <a:solidFill>
                  <a:schemeClr val="tx1"/>
                </a:solidFill>
                <a:latin typeface="Arial" charset="0"/>
              </a:defRPr>
            </a:lvl6pPr>
            <a:lvl7pPr>
              <a:defRPr kumimoji="1" sz="2000">
                <a:solidFill>
                  <a:schemeClr val="tx1"/>
                </a:solidFill>
                <a:latin typeface="Arial" charset="0"/>
              </a:defRPr>
            </a:lvl7pPr>
            <a:lvl8pPr>
              <a:defRPr kumimoji="1" sz="2000">
                <a:solidFill>
                  <a:schemeClr val="tx1"/>
                </a:solidFill>
                <a:latin typeface="Arial" charset="0"/>
              </a:defRPr>
            </a:lvl8pPr>
            <a:lvl9pPr>
              <a:defRPr kumimoji="1" sz="2000">
                <a:solidFill>
                  <a:schemeClr val="tx1"/>
                </a:solidFill>
                <a:latin typeface="Arial" charset="0"/>
              </a:defRPr>
            </a:lvl9pPr>
          </a:lstStyle>
          <a:p>
            <a:pPr algn="ctr">
              <a:spcBef>
                <a:spcPct val="50000"/>
              </a:spcBef>
            </a:pPr>
            <a:r>
              <a:rPr kumimoji="0" lang="en-US" altLang="zh-CN" sz="2400">
                <a:latin typeface="Times New Roman" pitchFamily="18" charset="0"/>
                <a:ea typeface="楷体" pitchFamily="49" charset="-122"/>
                <a:cs typeface="Times New Roman" pitchFamily="18" charset="0"/>
              </a:rPr>
              <a:t>U</a:t>
            </a:r>
          </a:p>
        </p:txBody>
      </p:sp>
      <p:sp>
        <p:nvSpPr>
          <p:cNvPr id="8" name="文本框 1"/>
          <p:cNvSpPr txBox="1"/>
          <p:nvPr/>
        </p:nvSpPr>
        <p:spPr>
          <a:xfrm>
            <a:off x="2269808" y="0"/>
            <a:ext cx="8130752"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为什么</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的第四个碱基通常是</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T?</a:t>
            </a:r>
          </a:p>
        </p:txBody>
      </p:sp>
    </p:spTree>
    <p:extLst>
      <p:ext uri="{BB962C8B-B14F-4D97-AF65-F5344CB8AC3E}">
        <p14:creationId xmlns:p14="http://schemas.microsoft.com/office/powerpoint/2010/main" val="29164608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8789">
                                            <p:txEl>
                                              <p:pRg st="0" end="0"/>
                                            </p:txEl>
                                          </p:spTgt>
                                        </p:tgtEl>
                                        <p:attrNameLst>
                                          <p:attrName>style.visibility</p:attrName>
                                        </p:attrNameLst>
                                      </p:cBhvr>
                                      <p:to>
                                        <p:strVal val="visible"/>
                                      </p:to>
                                    </p:set>
                                    <p:animEffect transition="in" filter="box(out)">
                                      <p:cBhvr>
                                        <p:cTn id="7" dur="500"/>
                                        <p:tgtEl>
                                          <p:spTgt spid="11878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8789">
                                            <p:txEl>
                                              <p:pRg st="1" end="1"/>
                                            </p:txEl>
                                          </p:spTgt>
                                        </p:tgtEl>
                                        <p:attrNameLst>
                                          <p:attrName>style.visibility</p:attrName>
                                        </p:attrNameLst>
                                      </p:cBhvr>
                                      <p:to>
                                        <p:strVal val="visible"/>
                                      </p:to>
                                    </p:set>
                                    <p:animEffect transition="in" filter="box(out)">
                                      <p:cBhvr>
                                        <p:cTn id="12" dur="500"/>
                                        <p:tgtEl>
                                          <p:spTgt spid="11878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8789">
                                            <p:txEl>
                                              <p:pRg st="2" end="2"/>
                                            </p:txEl>
                                          </p:spTgt>
                                        </p:tgtEl>
                                        <p:attrNameLst>
                                          <p:attrName>style.visibility</p:attrName>
                                        </p:attrNameLst>
                                      </p:cBhvr>
                                      <p:to>
                                        <p:strVal val="visible"/>
                                      </p:to>
                                    </p:set>
                                    <p:animEffect transition="in" filter="box(out)">
                                      <p:cBhvr>
                                        <p:cTn id="17" dur="500"/>
                                        <p:tgtEl>
                                          <p:spTgt spid="11878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8789">
                                            <p:txEl>
                                              <p:pRg st="3" end="3"/>
                                            </p:txEl>
                                          </p:spTgt>
                                        </p:tgtEl>
                                        <p:attrNameLst>
                                          <p:attrName>style.visibility</p:attrName>
                                        </p:attrNameLst>
                                      </p:cBhvr>
                                      <p:to>
                                        <p:strVal val="visible"/>
                                      </p:to>
                                    </p:set>
                                    <p:animEffect transition="in" filter="box(out)">
                                      <p:cBhvr>
                                        <p:cTn id="22" dur="500"/>
                                        <p:tgtEl>
                                          <p:spTgt spid="11878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3" presetClass="entr" presetSubtype="16" fill="hold" nodeType="clickEffect">
                                  <p:stCondLst>
                                    <p:cond delay="0"/>
                                  </p:stCondLst>
                                  <p:childTnLst>
                                    <p:set>
                                      <p:cBhvr>
                                        <p:cTn id="26" dur="1" fill="hold">
                                          <p:stCondLst>
                                            <p:cond delay="0"/>
                                          </p:stCondLst>
                                        </p:cTn>
                                        <p:tgtEl>
                                          <p:spTgt spid="166919"/>
                                        </p:tgtEl>
                                        <p:attrNameLst>
                                          <p:attrName>style.visibility</p:attrName>
                                        </p:attrNameLst>
                                      </p:cBhvr>
                                      <p:to>
                                        <p:strVal val="visible"/>
                                      </p:to>
                                    </p:set>
                                    <p:animEffect transition="in" filter="plus(in)">
                                      <p:cBhvr>
                                        <p:cTn id="27" dur="2000"/>
                                        <p:tgtEl>
                                          <p:spTgt spid="1669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66920"/>
                                        </p:tgtEl>
                                        <p:attrNameLst>
                                          <p:attrName>style.visibility</p:attrName>
                                        </p:attrNameLst>
                                      </p:cBhvr>
                                      <p:to>
                                        <p:strVal val="visible"/>
                                      </p:to>
                                    </p:set>
                                    <p:anim calcmode="lin" valueType="num">
                                      <p:cBhvr additive="base">
                                        <p:cTn id="32" dur="500" fill="hold"/>
                                        <p:tgtEl>
                                          <p:spTgt spid="166920"/>
                                        </p:tgtEl>
                                        <p:attrNameLst>
                                          <p:attrName>ppt_x</p:attrName>
                                        </p:attrNameLst>
                                      </p:cBhvr>
                                      <p:tavLst>
                                        <p:tav tm="0">
                                          <p:val>
                                            <p:strVal val="#ppt_x"/>
                                          </p:val>
                                        </p:tav>
                                        <p:tav tm="100000">
                                          <p:val>
                                            <p:strVal val="#ppt_x"/>
                                          </p:val>
                                        </p:tav>
                                      </p:tavLst>
                                    </p:anim>
                                    <p:anim calcmode="lin" valueType="num">
                                      <p:cBhvr additive="base">
                                        <p:cTn id="33" dur="500" fill="hold"/>
                                        <p:tgtEl>
                                          <p:spTgt spid="166920"/>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66921"/>
                                        </p:tgtEl>
                                        <p:attrNameLst>
                                          <p:attrName>style.visibility</p:attrName>
                                        </p:attrNameLst>
                                      </p:cBhvr>
                                      <p:to>
                                        <p:strVal val="visible"/>
                                      </p:to>
                                    </p:set>
                                    <p:anim calcmode="lin" valueType="num">
                                      <p:cBhvr additive="base">
                                        <p:cTn id="38" dur="500" fill="hold"/>
                                        <p:tgtEl>
                                          <p:spTgt spid="166921"/>
                                        </p:tgtEl>
                                        <p:attrNameLst>
                                          <p:attrName>ppt_x</p:attrName>
                                        </p:attrNameLst>
                                      </p:cBhvr>
                                      <p:tavLst>
                                        <p:tav tm="0">
                                          <p:val>
                                            <p:strVal val="#ppt_x"/>
                                          </p:val>
                                        </p:tav>
                                        <p:tav tm="100000">
                                          <p:val>
                                            <p:strVal val="#ppt_x"/>
                                          </p:val>
                                        </p:tav>
                                      </p:tavLst>
                                    </p:anim>
                                    <p:anim calcmode="lin" valueType="num">
                                      <p:cBhvr additive="base">
                                        <p:cTn id="39" dur="500" fill="hold"/>
                                        <p:tgtEl>
                                          <p:spTgt spid="1669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9" grpId="0" build="p" autoUpdateAnimBg="0"/>
      <p:bldP spid="166920" grpId="0" animBg="1"/>
      <p:bldP spid="1669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726252" y="1524993"/>
            <a:ext cx="11373277" cy="4153912"/>
          </a:xfrm>
          <a:prstGeom prst="rect">
            <a:avLst/>
          </a:prstGeom>
        </p:spPr>
      </p:pic>
      <p:sp>
        <p:nvSpPr>
          <p:cNvPr id="2" name="文本框 1"/>
          <p:cNvSpPr txBox="1"/>
          <p:nvPr/>
        </p:nvSpPr>
        <p:spPr>
          <a:xfrm>
            <a:off x="4602426" y="-39755"/>
            <a:ext cx="2039341" cy="906915"/>
          </a:xfrm>
          <a:prstGeom prst="rect">
            <a:avLst/>
          </a:prstGeom>
          <a:noFill/>
        </p:spPr>
        <p:txBody>
          <a:bodyPr wrap="none" rtlCol="0" anchor="t">
            <a:spAutoFit/>
          </a:bodyPr>
          <a:lstStyle/>
          <a:p>
            <a:pPr>
              <a:lnSpc>
                <a:spcPct val="150000"/>
              </a:lnSpc>
            </a:pPr>
            <a:r>
              <a:rPr 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2</a:t>
            </a: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核糖</a:t>
            </a:r>
          </a:p>
        </p:txBody>
      </p:sp>
      <p:sp>
        <p:nvSpPr>
          <p:cNvPr id="9" name="文本框 8"/>
          <p:cNvSpPr txBox="1"/>
          <p:nvPr/>
        </p:nvSpPr>
        <p:spPr>
          <a:xfrm>
            <a:off x="0" y="905548"/>
            <a:ext cx="12641179" cy="581057"/>
          </a:xfrm>
          <a:prstGeom prst="rect">
            <a:avLst/>
          </a:prstGeom>
          <a:noFill/>
        </p:spPr>
        <p:txBody>
          <a:bodyPr wrap="square" rtlCol="0" anchor="t">
            <a:spAutoFit/>
          </a:bodyPr>
          <a:lstStyle/>
          <a:p>
            <a:pPr>
              <a:lnSpc>
                <a:spcPct val="150000"/>
              </a:lnSpc>
              <a:spcBef>
                <a:spcPct val="50000"/>
              </a:spcBef>
            </a:pPr>
            <a:r>
              <a:rPr sz="24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sym typeface="+mn-ea"/>
              </a:rPr>
              <a:t>组成核酸的戊糖有两种。DNA所含的糖为β-D-2-脱氧核糖；RNA所含的糖则为β-D-核糖。</a:t>
            </a:r>
          </a:p>
        </p:txBody>
      </p:sp>
      <p:sp>
        <p:nvSpPr>
          <p:cNvPr id="12" name="文本框 11"/>
          <p:cNvSpPr txBox="1"/>
          <p:nvPr/>
        </p:nvSpPr>
        <p:spPr>
          <a:xfrm>
            <a:off x="2188753" y="5631610"/>
            <a:ext cx="3140603" cy="662554"/>
          </a:xfrm>
          <a:prstGeom prst="rect">
            <a:avLst/>
          </a:prstGeom>
          <a:noFill/>
        </p:spPr>
        <p:txBody>
          <a:bodyPr wrap="none" rtlCol="0" anchor="t">
            <a:spAutoFit/>
          </a:bodyPr>
          <a:lstStyle>
            <a:defPPr>
              <a:defRPr lang="en-US"/>
            </a:defPPr>
            <a:lvl1pPr>
              <a:lnSpc>
                <a:spcPct val="150000"/>
              </a:lnSpc>
              <a:defRPr sz="2800">
                <a:solidFill>
                  <a:srgbClr val="0B1A08"/>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dirty="0">
                <a:sym typeface="+mn-ea"/>
              </a:rPr>
              <a:t>β-D-核糖</a:t>
            </a:r>
            <a:r>
              <a:rPr lang="zh-CN" altLang="en-US" dirty="0">
                <a:sym typeface="+mn-ea"/>
              </a:rPr>
              <a:t>（呋喃）</a:t>
            </a:r>
          </a:p>
        </p:txBody>
      </p:sp>
      <p:sp>
        <p:nvSpPr>
          <p:cNvPr id="13" name="文本框 12"/>
          <p:cNvSpPr txBox="1"/>
          <p:nvPr/>
        </p:nvSpPr>
        <p:spPr>
          <a:xfrm>
            <a:off x="7592287" y="5615568"/>
            <a:ext cx="4224233" cy="1318181"/>
          </a:xfrm>
          <a:prstGeom prst="rect">
            <a:avLst/>
          </a:prstGeom>
          <a:noFill/>
        </p:spPr>
        <p:txBody>
          <a:bodyPr wrap="none" rtlCol="0" anchor="t">
            <a:spAutoFit/>
          </a:bodyPr>
          <a:lstStyle/>
          <a:p>
            <a:pPr>
              <a:lnSpc>
                <a:spcPct val="150000"/>
              </a:lnSpc>
            </a:pPr>
            <a:r>
              <a:rPr sz="28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sym typeface="+mn-ea"/>
              </a:rPr>
              <a:t>β-D-2-脱氧核糖</a:t>
            </a:r>
            <a:r>
              <a:rPr lang="zh-CN" altLang="en-US" sz="2800"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sym typeface="+mn-ea"/>
              </a:rPr>
              <a:t>（呋喃）</a:t>
            </a:r>
          </a:p>
          <a:p>
            <a:pPr>
              <a:lnSpc>
                <a:spcPct val="150000"/>
              </a:lnSpc>
            </a:pPr>
            <a:endParaRPr lang="zh-CN" altLang="en-US" sz="2800" dirty="0"/>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914400" y="6248400"/>
            <a:ext cx="254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ea typeface="宋体" charset="-122"/>
            </a:endParaRPr>
          </a:p>
        </p:txBody>
      </p:sp>
      <p:sp>
        <p:nvSpPr>
          <p:cNvPr id="14339" name="Rectangle 3"/>
          <p:cNvSpPr>
            <a:spLocks noChangeArrowheads="1"/>
          </p:cNvSpPr>
          <p:nvPr/>
        </p:nvSpPr>
        <p:spPr bwMode="auto">
          <a:xfrm>
            <a:off x="4165600" y="6248400"/>
            <a:ext cx="386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ea typeface="宋体" charset="-122"/>
            </a:endParaRPr>
          </a:p>
        </p:txBody>
      </p:sp>
      <p:sp>
        <p:nvSpPr>
          <p:cNvPr id="122885" name="Rectangle 5"/>
          <p:cNvSpPr>
            <a:spLocks noGrp="1" noChangeArrowheads="1"/>
          </p:cNvSpPr>
          <p:nvPr>
            <p:ph type="body" idx="4294967295"/>
          </p:nvPr>
        </p:nvSpPr>
        <p:spPr>
          <a:xfrm>
            <a:off x="1337091" y="1440083"/>
            <a:ext cx="9698567" cy="4572000"/>
          </a:xfrm>
          <a:noFill/>
        </p:spPr>
        <p:txBody>
          <a:bodyPr lIns="90488" tIns="44450" rIns="90488" bIns="44450">
            <a:normAutofit/>
          </a:bodyPr>
          <a:lstStyle/>
          <a:p>
            <a:pPr>
              <a:lnSpc>
                <a:spcPct val="90000"/>
              </a:lnSpc>
              <a:buClr>
                <a:srgbClr val="FF0000"/>
              </a:buClr>
              <a:buFont typeface="Monotype Sorts" pitchFamily="2" charset="2"/>
              <a:buChar char="L"/>
            </a:pPr>
            <a:r>
              <a:rPr lang="en-US" altLang="zh-CN" sz="3200" dirty="0">
                <a:latin typeface="Times New Roman" pitchFamily="18" charset="0"/>
                <a:ea typeface="楷体" pitchFamily="49" charset="-122"/>
                <a:cs typeface="Times New Roman" pitchFamily="18" charset="0"/>
              </a:rPr>
              <a:t>RNA</a:t>
            </a:r>
            <a:r>
              <a:rPr lang="zh-CN" altLang="en-US" sz="3200" dirty="0">
                <a:latin typeface="Times New Roman" pitchFamily="18" charset="0"/>
                <a:ea typeface="楷体" pitchFamily="49" charset="-122"/>
                <a:cs typeface="Times New Roman" pitchFamily="18" charset="0"/>
              </a:rPr>
              <a:t>临近的</a:t>
            </a:r>
            <a:r>
              <a:rPr lang="en-US" altLang="zh-CN" sz="3200" dirty="0">
                <a:latin typeface="Times New Roman" pitchFamily="18" charset="0"/>
                <a:ea typeface="楷体" pitchFamily="49" charset="-122"/>
                <a:cs typeface="Times New Roman" pitchFamily="18" charset="0"/>
              </a:rPr>
              <a:t>-OH</a:t>
            </a:r>
            <a:r>
              <a:rPr lang="zh-CN" altLang="en-US" sz="3200" dirty="0">
                <a:latin typeface="Times New Roman" pitchFamily="18" charset="0"/>
                <a:ea typeface="楷体" pitchFamily="49" charset="-122"/>
                <a:cs typeface="Times New Roman" pitchFamily="18" charset="0"/>
              </a:rPr>
              <a:t>使其更容易</a:t>
            </a:r>
            <a:endParaRPr lang="en-US" altLang="zh-CN" sz="3200" dirty="0">
              <a:latin typeface="Times New Roman" pitchFamily="18" charset="0"/>
              <a:ea typeface="楷体" pitchFamily="49" charset="-122"/>
              <a:cs typeface="Times New Roman" pitchFamily="18" charset="0"/>
            </a:endParaRPr>
          </a:p>
          <a:p>
            <a:pPr>
              <a:lnSpc>
                <a:spcPct val="90000"/>
              </a:lnSpc>
              <a:buClr>
                <a:srgbClr val="FF0000"/>
              </a:buClr>
              <a:buFont typeface="Monotype Sorts" pitchFamily="2" charset="2"/>
              <a:buChar char="L"/>
            </a:pPr>
            <a:r>
              <a:rPr lang="en-US" altLang="zh-CN" sz="3200" dirty="0">
                <a:latin typeface="Times New Roman" pitchFamily="18" charset="0"/>
                <a:ea typeface="楷体" pitchFamily="49" charset="-122"/>
                <a:cs typeface="Times New Roman" pitchFamily="18" charset="0"/>
              </a:rPr>
              <a:t>DNA</a:t>
            </a:r>
            <a:r>
              <a:rPr lang="zh-CN" altLang="en-US" sz="3200" dirty="0">
                <a:latin typeface="Times New Roman" pitchFamily="18" charset="0"/>
                <a:ea typeface="楷体" pitchFamily="49" charset="-122"/>
                <a:cs typeface="Times New Roman" pitchFamily="18" charset="0"/>
              </a:rPr>
              <a:t>缺乏</a:t>
            </a:r>
            <a:r>
              <a:rPr lang="en-US" altLang="zh-CN" sz="3200" dirty="0">
                <a:latin typeface="Times New Roman" pitchFamily="18" charset="0"/>
                <a:ea typeface="楷体" pitchFamily="49" charset="-122"/>
                <a:cs typeface="Times New Roman" pitchFamily="18" charset="0"/>
              </a:rPr>
              <a:t>2'-OH</a:t>
            </a:r>
            <a:r>
              <a:rPr lang="zh-CN" altLang="en-US" sz="3200" dirty="0">
                <a:latin typeface="Times New Roman" pitchFamily="18" charset="0"/>
                <a:ea typeface="楷体" pitchFamily="49" charset="-122"/>
                <a:cs typeface="Times New Roman" pitchFamily="18" charset="0"/>
              </a:rPr>
              <a:t>更加稳定</a:t>
            </a:r>
            <a:r>
              <a:rPr lang="en-US" altLang="zh-CN" sz="3200" dirty="0">
                <a:latin typeface="Times New Roman" pitchFamily="18" charset="0"/>
                <a:ea typeface="楷体" pitchFamily="49" charset="-122"/>
                <a:cs typeface="Times New Roman" pitchFamily="18" charset="0"/>
              </a:rPr>
              <a:t> </a:t>
            </a:r>
          </a:p>
          <a:p>
            <a:pPr>
              <a:lnSpc>
                <a:spcPct val="90000"/>
              </a:lnSpc>
              <a:buClr>
                <a:srgbClr val="FF0000"/>
              </a:buClr>
              <a:buFont typeface="Monotype Sorts" pitchFamily="2" charset="2"/>
              <a:buChar char="L"/>
            </a:pPr>
            <a:r>
              <a:rPr lang="zh-CN" altLang="en-US" sz="3200" dirty="0">
                <a:latin typeface="Times New Roman" pitchFamily="18" charset="0"/>
                <a:ea typeface="楷体" pitchFamily="49" charset="-122"/>
                <a:cs typeface="Times New Roman" pitchFamily="18" charset="0"/>
              </a:rPr>
              <a:t>遗传物质必须更加稳定</a:t>
            </a:r>
            <a:endParaRPr lang="en-US" altLang="zh-CN" sz="3200" dirty="0">
              <a:latin typeface="Times New Roman" pitchFamily="18" charset="0"/>
              <a:ea typeface="楷体" pitchFamily="49" charset="-122"/>
              <a:cs typeface="Times New Roman" pitchFamily="18" charset="0"/>
            </a:endParaRPr>
          </a:p>
          <a:p>
            <a:pPr>
              <a:lnSpc>
                <a:spcPct val="90000"/>
              </a:lnSpc>
              <a:buClr>
                <a:srgbClr val="FF0000"/>
              </a:buClr>
              <a:buFont typeface="Monotype Sorts" pitchFamily="2" charset="2"/>
              <a:buChar char="L"/>
            </a:pPr>
            <a:r>
              <a:rPr lang="en-US" altLang="zh-CN" sz="3200" dirty="0">
                <a:latin typeface="Times New Roman" pitchFamily="18" charset="0"/>
                <a:ea typeface="楷体" pitchFamily="49" charset="-122"/>
                <a:cs typeface="Times New Roman" pitchFamily="18" charset="0"/>
              </a:rPr>
              <a:t>RNA</a:t>
            </a:r>
            <a:r>
              <a:rPr lang="zh-CN" altLang="en-US" sz="3200" dirty="0">
                <a:latin typeface="Times New Roman" pitchFamily="18" charset="0"/>
                <a:ea typeface="楷体" pitchFamily="49" charset="-122"/>
                <a:cs typeface="Times New Roman" pitchFamily="18" charset="0"/>
              </a:rPr>
              <a:t>需要的时候合成，不需要的时候需要迅速降解。</a:t>
            </a:r>
            <a:endParaRPr lang="en-US" altLang="zh-CN" sz="3200" dirty="0">
              <a:latin typeface="Times New Roman" pitchFamily="18" charset="0"/>
              <a:ea typeface="楷体" pitchFamily="49" charset="-122"/>
              <a:cs typeface="Times New Roman" pitchFamily="18" charset="0"/>
            </a:endParaRPr>
          </a:p>
        </p:txBody>
      </p:sp>
      <p:sp>
        <p:nvSpPr>
          <p:cNvPr id="6" name="文本框 1"/>
          <p:cNvSpPr txBox="1"/>
          <p:nvPr/>
        </p:nvSpPr>
        <p:spPr>
          <a:xfrm>
            <a:off x="2292521" y="-15098"/>
            <a:ext cx="7787709"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为什么</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DNA 2'-</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脱氧，</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不是</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spTree>
    <p:extLst>
      <p:ext uri="{BB962C8B-B14F-4D97-AF65-F5344CB8AC3E}">
        <p14:creationId xmlns:p14="http://schemas.microsoft.com/office/powerpoint/2010/main" val="312387844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2885">
                                            <p:txEl>
                                              <p:pRg st="0" end="0"/>
                                            </p:txEl>
                                          </p:spTgt>
                                        </p:tgtEl>
                                        <p:attrNameLst>
                                          <p:attrName>style.visibility</p:attrName>
                                        </p:attrNameLst>
                                      </p:cBhvr>
                                      <p:to>
                                        <p:strVal val="visible"/>
                                      </p:to>
                                    </p:set>
                                    <p:animEffect transition="in" filter="box(out)">
                                      <p:cBhvr>
                                        <p:cTn id="7" dur="500"/>
                                        <p:tgtEl>
                                          <p:spTgt spid="12288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2885">
                                            <p:txEl>
                                              <p:pRg st="1" end="1"/>
                                            </p:txEl>
                                          </p:spTgt>
                                        </p:tgtEl>
                                        <p:attrNameLst>
                                          <p:attrName>style.visibility</p:attrName>
                                        </p:attrNameLst>
                                      </p:cBhvr>
                                      <p:to>
                                        <p:strVal val="visible"/>
                                      </p:to>
                                    </p:set>
                                    <p:animEffect transition="in" filter="box(out)">
                                      <p:cBhvr>
                                        <p:cTn id="12" dur="500"/>
                                        <p:tgtEl>
                                          <p:spTgt spid="12288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22885">
                                            <p:txEl>
                                              <p:pRg st="2" end="2"/>
                                            </p:txEl>
                                          </p:spTgt>
                                        </p:tgtEl>
                                        <p:attrNameLst>
                                          <p:attrName>style.visibility</p:attrName>
                                        </p:attrNameLst>
                                      </p:cBhvr>
                                      <p:to>
                                        <p:strVal val="visible"/>
                                      </p:to>
                                    </p:set>
                                    <p:animEffect transition="in" filter="box(out)">
                                      <p:cBhvr>
                                        <p:cTn id="17" dur="500"/>
                                        <p:tgtEl>
                                          <p:spTgt spid="12288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2885">
                                            <p:txEl>
                                              <p:pRg st="3" end="3"/>
                                            </p:txEl>
                                          </p:spTgt>
                                        </p:tgtEl>
                                        <p:attrNameLst>
                                          <p:attrName>style.visibility</p:attrName>
                                        </p:attrNameLst>
                                      </p:cBhvr>
                                      <p:to>
                                        <p:strVal val="visible"/>
                                      </p:to>
                                    </p:set>
                                    <p:animEffect transition="in" filter="box(out)">
                                      <p:cBhvr>
                                        <p:cTn id="22" dur="500"/>
                                        <p:tgtEl>
                                          <p:spTgt spid="12288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5"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642182" y="-59635"/>
            <a:ext cx="2191626" cy="906915"/>
          </a:xfrm>
          <a:prstGeom prst="rect">
            <a:avLst/>
          </a:prstGeom>
          <a:noFill/>
        </p:spPr>
        <p:txBody>
          <a:bodyPr wrap="none" rtlCol="0" anchor="t">
            <a:spAutoFit/>
          </a:bodyPr>
          <a:lstStyle/>
          <a:p>
            <a:pPr>
              <a:lnSpc>
                <a:spcPct val="150000"/>
              </a:lnSpc>
            </a:pPr>
            <a:r>
              <a:rPr 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3</a:t>
            </a: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核苷</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 </a:t>
            </a:r>
          </a:p>
        </p:txBody>
      </p:sp>
      <p:sp>
        <p:nvSpPr>
          <p:cNvPr id="9" name="文本框 8"/>
          <p:cNvSpPr txBox="1"/>
          <p:nvPr/>
        </p:nvSpPr>
        <p:spPr>
          <a:xfrm>
            <a:off x="249572" y="788801"/>
            <a:ext cx="9102975" cy="581057"/>
          </a:xfrm>
          <a:prstGeom prst="rect">
            <a:avLst/>
          </a:prstGeom>
          <a:noFill/>
        </p:spPr>
        <p:txBody>
          <a:bodyPr wrap="square" rtlCol="0" anchor="t">
            <a:spAutoFit/>
          </a:bodyPr>
          <a:lstStyle/>
          <a:p>
            <a:pPr marL="342900" indent="-342900">
              <a:lnSpc>
                <a:spcPct val="150000"/>
              </a:lnSpc>
              <a:spcBef>
                <a:spcPct val="50000"/>
              </a:spcBef>
              <a:buFont typeface="Arial" panose="020B0604020202020204" pitchFamily="34" charset="0"/>
              <a:buChar char="•"/>
            </a:pPr>
            <a:r>
              <a:rPr lang="zh-CN" altLang="en-US" sz="2400" b="1"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sym typeface="+mn-ea"/>
              </a:rPr>
              <a:t>核</a:t>
            </a:r>
            <a:r>
              <a:rPr sz="2400" b="1"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sym typeface="+mn-ea"/>
              </a:rPr>
              <a:t>糖与碱基之间的C-N键，称为C-N糖苷键</a:t>
            </a:r>
            <a:r>
              <a:rPr lang="zh-CN" altLang="en-US" sz="2400" b="1" dirty="0">
                <a:solidFill>
                  <a:srgbClr val="0B1A08"/>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pic>
        <p:nvPicPr>
          <p:cNvPr id="3" name="图片 2"/>
          <p:cNvPicPr>
            <a:picLocks noChangeAspect="1"/>
          </p:cNvPicPr>
          <p:nvPr/>
        </p:nvPicPr>
        <p:blipFill>
          <a:blip r:embed="rId2"/>
          <a:stretch>
            <a:fillRect/>
          </a:stretch>
        </p:blipFill>
        <p:spPr>
          <a:xfrm>
            <a:off x="408431" y="1369858"/>
            <a:ext cx="8206180" cy="5375443"/>
          </a:xfrm>
          <a:prstGeom prst="rect">
            <a:avLst/>
          </a:prstGeom>
          <a:ln>
            <a:solidFill>
              <a:schemeClr val="bg1"/>
            </a:solidFill>
          </a:ln>
        </p:spPr>
      </p:pic>
      <p:pic>
        <p:nvPicPr>
          <p:cNvPr id="4" name="图片 3"/>
          <p:cNvPicPr>
            <a:picLocks noChangeAspect="1"/>
          </p:cNvPicPr>
          <p:nvPr/>
        </p:nvPicPr>
        <p:blipFill>
          <a:blip r:embed="rId3"/>
          <a:stretch>
            <a:fillRect/>
          </a:stretch>
        </p:blipFill>
        <p:spPr>
          <a:xfrm>
            <a:off x="9235501" y="-59635"/>
            <a:ext cx="2956499" cy="6917635"/>
          </a:xfrm>
          <a:prstGeom prst="rect">
            <a:avLst/>
          </a:prstGeom>
          <a:ln>
            <a:noFill/>
          </a:ln>
        </p:spPr>
      </p:pic>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404089" y="1231537"/>
            <a:ext cx="11251974" cy="5626463"/>
          </a:xfrm>
          <a:prstGeom prst="rect">
            <a:avLst/>
          </a:prstGeom>
        </p:spPr>
      </p:pic>
      <p:sp>
        <p:nvSpPr>
          <p:cNvPr id="2" name="文本框 1"/>
          <p:cNvSpPr txBox="1"/>
          <p:nvPr/>
        </p:nvSpPr>
        <p:spPr>
          <a:xfrm>
            <a:off x="3294521" y="-78201"/>
            <a:ext cx="4953600"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二</a:t>
            </a: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核苷酸的衍生物</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 </a:t>
            </a:r>
          </a:p>
        </p:txBody>
      </p:sp>
      <p:sp>
        <p:nvSpPr>
          <p:cNvPr id="3" name="文本框 2"/>
          <p:cNvSpPr txBox="1"/>
          <p:nvPr/>
        </p:nvSpPr>
        <p:spPr>
          <a:xfrm>
            <a:off x="236970" y="796630"/>
            <a:ext cx="11718060" cy="581057"/>
          </a:xfrm>
          <a:prstGeom prst="rect">
            <a:avLst/>
          </a:prstGeom>
          <a:noFill/>
        </p:spPr>
        <p:txBody>
          <a:bodyPr wrap="square" rtlCol="0" anchor="t">
            <a:spAutoFit/>
          </a:bodyPr>
          <a:lstStyle/>
          <a:p>
            <a:pPr marL="285750" indent="-285750">
              <a:lnSpc>
                <a:spcPct val="150000"/>
              </a:lnSpc>
              <a:spcBef>
                <a:spcPts val="600"/>
              </a:spcBef>
              <a:buFont typeface="Arial" panose="020B0604020202020204" pitchFamily="34" charset="0"/>
              <a:buChar cha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ATP</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sym typeface="+mn-ea"/>
              </a:rPr>
              <a:t>（三磷酸腺苷）</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水解释放出来的能量用于推动生物体内各种需能的生化反应。</a:t>
            </a:r>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853677" y="-92765"/>
            <a:ext cx="4953600"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二</a:t>
            </a: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核苷酸的衍生物</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 </a:t>
            </a:r>
          </a:p>
        </p:txBody>
      </p:sp>
      <p:sp>
        <p:nvSpPr>
          <p:cNvPr id="3" name="文本框 2"/>
          <p:cNvSpPr txBox="1"/>
          <p:nvPr/>
        </p:nvSpPr>
        <p:spPr>
          <a:xfrm>
            <a:off x="0" y="1918215"/>
            <a:ext cx="7170822" cy="2031325"/>
          </a:xfrm>
          <a:prstGeom prst="rect">
            <a:avLst/>
          </a:prstGeom>
          <a:noFill/>
        </p:spPr>
        <p:txBody>
          <a:bodyPr wrap="square" rtlCol="0" anchor="t">
            <a:spAutoFit/>
          </a:bodyPr>
          <a:lstStyle/>
          <a:p>
            <a:pPr marL="285750" indent="-285750">
              <a:lnSpc>
                <a:spcPct val="150000"/>
              </a:lnSpc>
              <a:spcBef>
                <a:spcPct val="50000"/>
              </a:spcBef>
              <a:buFont typeface="Arial" panose="020B0604020202020204" pitchFamily="34" charset="0"/>
              <a:buChar char="•"/>
            </a:pPr>
            <a:r>
              <a:rPr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cAMP</a:t>
            </a:r>
            <a:r>
              <a:rPr sz="2800" dirty="0">
                <a:latin typeface="微软雅黑" panose="020B0503020204020204" pitchFamily="34" charset="-122"/>
                <a:ea typeface="微软雅黑" panose="020B0503020204020204" pitchFamily="34" charset="-122"/>
                <a:cs typeface="微软雅黑" panose="020B0503020204020204" pitchFamily="34" charset="-122"/>
                <a:sym typeface="+mn-ea"/>
              </a:rPr>
              <a:t>(3’,5’- 环腺嘌呤核苷一磷酸)和 </a:t>
            </a:r>
            <a:r>
              <a:rPr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cGMP</a:t>
            </a:r>
            <a:r>
              <a:rPr sz="2800" dirty="0">
                <a:latin typeface="微软雅黑" panose="020B0503020204020204" pitchFamily="34" charset="-122"/>
                <a:ea typeface="微软雅黑" panose="020B0503020204020204" pitchFamily="34" charset="-122"/>
                <a:cs typeface="微软雅黑" panose="020B0503020204020204" pitchFamily="34" charset="-122"/>
                <a:sym typeface="+mn-ea"/>
              </a:rPr>
              <a:t>( 3’,5’-环鸟嘌呤核苷一磷酸)</a:t>
            </a:r>
            <a:r>
              <a:rPr sz="2800" dirty="0" err="1">
                <a:latin typeface="微软雅黑" panose="020B0503020204020204" pitchFamily="34" charset="-122"/>
                <a:ea typeface="微软雅黑" panose="020B0503020204020204" pitchFamily="34" charset="-122"/>
                <a:cs typeface="微软雅黑" panose="020B0503020204020204" pitchFamily="34" charset="-122"/>
                <a:sym typeface="+mn-ea"/>
              </a:rPr>
              <a:t>的主要功能是作为细胞之间</a:t>
            </a:r>
            <a:r>
              <a:rPr sz="2800" b="1" dirty="0" err="1">
                <a:latin typeface="微软雅黑" panose="020B0503020204020204" pitchFamily="34" charset="-122"/>
                <a:ea typeface="微软雅黑" panose="020B0503020204020204" pitchFamily="34" charset="-122"/>
                <a:cs typeface="微软雅黑" panose="020B0503020204020204" pitchFamily="34" charset="-122"/>
                <a:sym typeface="+mn-ea"/>
              </a:rPr>
              <a:t>传递信息的信使</a:t>
            </a:r>
            <a:r>
              <a:rPr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pic>
        <p:nvPicPr>
          <p:cNvPr id="4" name="图片 3"/>
          <p:cNvPicPr/>
          <p:nvPr/>
        </p:nvPicPr>
        <p:blipFill>
          <a:blip r:embed="rId2" cstate="print">
            <a:extLst>
              <a:ext uri="{28A0092B-C50C-407E-A947-70E740481C1C}">
                <a14:useLocalDpi xmlns:a14="http://schemas.microsoft.com/office/drawing/2010/main" val="0"/>
              </a:ext>
            </a:extLst>
          </a:blip>
          <a:srcRect r="61392"/>
          <a:stretch>
            <a:fillRect/>
          </a:stretch>
        </p:blipFill>
        <p:spPr>
          <a:xfrm>
            <a:off x="7411453" y="1041080"/>
            <a:ext cx="4539916" cy="5816920"/>
          </a:xfrm>
          <a:prstGeom prst="rect">
            <a:avLst/>
          </a:prstGeom>
        </p:spPr>
      </p:pic>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11085" y="-151054"/>
            <a:ext cx="3927678"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三</a:t>
            </a: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多聚核苷酸</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 </a:t>
            </a:r>
          </a:p>
        </p:txBody>
      </p:sp>
      <p:sp>
        <p:nvSpPr>
          <p:cNvPr id="6" name="文本框 5"/>
          <p:cNvSpPr txBox="1"/>
          <p:nvPr/>
        </p:nvSpPr>
        <p:spPr>
          <a:xfrm>
            <a:off x="128337" y="1432948"/>
            <a:ext cx="6918639" cy="3970318"/>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多聚核苷酸是通过核苷酸的</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5’-磷酸基</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与另一分子核苷酸的</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C3’-OH</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形成</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磷酸二酯键</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相连而成的链状聚合物。</a:t>
            </a:r>
          </a:p>
          <a:p>
            <a:pPr marL="285750" indent="-28575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由脱氧核糖核苷酸聚合而成的称为DNA链；由核糖核苷酸聚合而成的则称为RNA链。</a:t>
            </a:r>
          </a:p>
        </p:txBody>
      </p:sp>
      <p:pic>
        <p:nvPicPr>
          <p:cNvPr id="3" name="图片 2"/>
          <p:cNvPicPr>
            <a:picLocks noChangeAspect="1"/>
          </p:cNvPicPr>
          <p:nvPr/>
        </p:nvPicPr>
        <p:blipFill>
          <a:blip r:embed="rId2"/>
          <a:stretch>
            <a:fillRect/>
          </a:stretch>
        </p:blipFill>
        <p:spPr>
          <a:xfrm>
            <a:off x="7283117" y="0"/>
            <a:ext cx="4908884" cy="6819148"/>
          </a:xfrm>
          <a:prstGeom prst="rect">
            <a:avLst/>
          </a:prstGeom>
          <a:ln>
            <a:solidFill>
              <a:schemeClr val="tx1"/>
            </a:solidFill>
          </a:ln>
        </p:spPr>
      </p:pic>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idx="1"/>
          </p:nvPr>
        </p:nvSpPr>
        <p:spPr>
          <a:xfrm>
            <a:off x="398361" y="1339489"/>
            <a:ext cx="11535137" cy="4351338"/>
          </a:xfrm>
        </p:spPr>
        <p:txBody>
          <a:bodyPr/>
          <a:lstStyle/>
          <a:p>
            <a:pPr>
              <a:lnSpc>
                <a:spcPct val="90000"/>
              </a:lnSpc>
              <a:buClr>
                <a:srgbClr val="FF0000"/>
              </a:buClr>
              <a:buFont typeface="Wingdings" pitchFamily="2" charset="2"/>
              <a:buChar char="«"/>
            </a:pPr>
            <a:r>
              <a:rPr lang="en-US" altLang="zh-CN" sz="2800" dirty="0">
                <a:latin typeface="Times New Roman" pitchFamily="18" charset="0"/>
                <a:ea typeface="楷体" pitchFamily="49" charset="-122"/>
                <a:cs typeface="Times New Roman" pitchFamily="18" charset="0"/>
              </a:rPr>
              <a:t>RNA</a:t>
            </a:r>
            <a:r>
              <a:rPr lang="zh-CN" altLang="en-US" sz="2800" dirty="0">
                <a:latin typeface="Times New Roman" pitchFamily="18" charset="0"/>
                <a:ea typeface="楷体" pitchFamily="49" charset="-122"/>
                <a:cs typeface="Times New Roman" pitchFamily="18" charset="0"/>
              </a:rPr>
              <a:t>处于单链状态，使其能够自我折叠成可以和蛋白质相媲美的各种类型的二级结构和三级结构，这是形成</a:t>
            </a:r>
            <a:r>
              <a:rPr lang="en-US" altLang="zh-CN" sz="2800" dirty="0">
                <a:latin typeface="Times New Roman" pitchFamily="18" charset="0"/>
                <a:ea typeface="楷体" pitchFamily="49" charset="-122"/>
                <a:cs typeface="Times New Roman" pitchFamily="18" charset="0"/>
              </a:rPr>
              <a:t>RNA</a:t>
            </a:r>
            <a:r>
              <a:rPr lang="zh-CN" altLang="en-US" sz="2800" dirty="0">
                <a:latin typeface="Times New Roman" pitchFamily="18" charset="0"/>
                <a:ea typeface="楷体" pitchFamily="49" charset="-122"/>
                <a:cs typeface="Times New Roman" pitchFamily="18" charset="0"/>
              </a:rPr>
              <a:t>结构多样性的基础，否则所有的</a:t>
            </a:r>
            <a:r>
              <a:rPr lang="en-US" altLang="zh-CN" sz="2800" dirty="0">
                <a:latin typeface="Times New Roman" pitchFamily="18" charset="0"/>
                <a:ea typeface="楷体" pitchFamily="49" charset="-122"/>
                <a:cs typeface="Times New Roman" pitchFamily="18" charset="0"/>
              </a:rPr>
              <a:t>RNA</a:t>
            </a:r>
            <a:r>
              <a:rPr lang="zh-CN" altLang="en-US" sz="2800" dirty="0">
                <a:latin typeface="Times New Roman" pitchFamily="18" charset="0"/>
                <a:ea typeface="楷体" pitchFamily="49" charset="-122"/>
                <a:cs typeface="Times New Roman" pitchFamily="18" charset="0"/>
              </a:rPr>
              <a:t>与</a:t>
            </a:r>
            <a:r>
              <a:rPr lang="en-US" altLang="zh-CN" sz="2800" dirty="0">
                <a:latin typeface="Times New Roman" pitchFamily="18" charset="0"/>
                <a:ea typeface="楷体" pitchFamily="49" charset="-122"/>
                <a:cs typeface="Times New Roman" pitchFamily="18" charset="0"/>
              </a:rPr>
              <a:t>DNA</a:t>
            </a:r>
            <a:r>
              <a:rPr lang="zh-CN" altLang="en-US" sz="2800" dirty="0">
                <a:latin typeface="Times New Roman" pitchFamily="18" charset="0"/>
                <a:ea typeface="楷体" pitchFamily="49" charset="-122"/>
                <a:cs typeface="Times New Roman" pitchFamily="18" charset="0"/>
              </a:rPr>
              <a:t>一样，只能形成千篇一律的双螺旋。</a:t>
            </a:r>
          </a:p>
          <a:p>
            <a:pPr>
              <a:lnSpc>
                <a:spcPct val="90000"/>
              </a:lnSpc>
              <a:buClr>
                <a:srgbClr val="FF0000"/>
              </a:buClr>
              <a:buFont typeface="Wingdings" pitchFamily="2" charset="2"/>
              <a:buChar char="«"/>
            </a:pPr>
            <a:r>
              <a:rPr lang="en-US" altLang="zh-CN" sz="2800" dirty="0">
                <a:latin typeface="Times New Roman" pitchFamily="18" charset="0"/>
                <a:ea typeface="楷体" pitchFamily="49" charset="-122"/>
                <a:cs typeface="Times New Roman" pitchFamily="18" charset="0"/>
              </a:rPr>
              <a:t>RNA</a:t>
            </a:r>
            <a:r>
              <a:rPr lang="zh-CN" altLang="en-US" sz="2800" dirty="0">
                <a:latin typeface="Times New Roman" pitchFamily="18" charset="0"/>
                <a:ea typeface="楷体" pitchFamily="49" charset="-122"/>
                <a:cs typeface="Times New Roman" pitchFamily="18" charset="0"/>
              </a:rPr>
              <a:t>在三维结构的多样性使其在细胞内能行使多项生物学功能。</a:t>
            </a:r>
            <a:r>
              <a:rPr lang="en-US" altLang="zh-CN" sz="2800" dirty="0">
                <a:latin typeface="Times New Roman" pitchFamily="18" charset="0"/>
                <a:ea typeface="楷体" pitchFamily="49" charset="-122"/>
                <a:cs typeface="Times New Roman" pitchFamily="18" charset="0"/>
              </a:rPr>
              <a:t>DNA</a:t>
            </a:r>
            <a:r>
              <a:rPr lang="zh-CN" altLang="en-US" sz="2800" dirty="0">
                <a:latin typeface="Times New Roman" pitchFamily="18" charset="0"/>
                <a:ea typeface="楷体" pitchFamily="49" charset="-122"/>
                <a:cs typeface="Times New Roman" pitchFamily="18" charset="0"/>
              </a:rPr>
              <a:t>通常是双链的，使其能够充分地行使作为遗传物质这项唯一的功能 </a:t>
            </a:r>
          </a:p>
        </p:txBody>
      </p:sp>
      <p:sp>
        <p:nvSpPr>
          <p:cNvPr id="16387" name="Rectangle 5"/>
          <p:cNvSpPr>
            <a:spLocks noChangeArrowheads="1"/>
          </p:cNvSpPr>
          <p:nvPr/>
        </p:nvSpPr>
        <p:spPr bwMode="auto">
          <a:xfrm>
            <a:off x="2400966" y="305350"/>
            <a:ext cx="7114447" cy="584775"/>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3200" i="1" dirty="0">
                <a:solidFill>
                  <a:schemeClr val="tx1"/>
                </a:solidFill>
                <a:latin typeface="Times New Roman" pitchFamily="18" charset="0"/>
                <a:ea typeface="楷体" pitchFamily="49" charset="-122"/>
                <a:cs typeface="Times New Roman" pitchFamily="18" charset="0"/>
              </a:rPr>
              <a:t>为什么</a:t>
            </a:r>
            <a:r>
              <a:rPr kumimoji="1" lang="en-US" altLang="zh-CN" sz="3200" i="1" dirty="0">
                <a:solidFill>
                  <a:schemeClr val="tx1"/>
                </a:solidFill>
                <a:latin typeface="Times New Roman" pitchFamily="18" charset="0"/>
                <a:ea typeface="楷体" pitchFamily="49" charset="-122"/>
                <a:cs typeface="Times New Roman" pitchFamily="18" charset="0"/>
              </a:rPr>
              <a:t>RNA</a:t>
            </a:r>
            <a:r>
              <a:rPr kumimoji="1" lang="zh-CN" altLang="en-US" sz="3200" i="1" dirty="0">
                <a:solidFill>
                  <a:schemeClr val="tx1"/>
                </a:solidFill>
                <a:latin typeface="Times New Roman" pitchFamily="18" charset="0"/>
                <a:ea typeface="楷体" pitchFamily="49" charset="-122"/>
                <a:cs typeface="Times New Roman" pitchFamily="18" charset="0"/>
              </a:rPr>
              <a:t>通常单链，</a:t>
            </a:r>
            <a:r>
              <a:rPr kumimoji="1" lang="en-US" altLang="zh-CN" sz="3200" i="1" dirty="0">
                <a:solidFill>
                  <a:schemeClr val="tx1"/>
                </a:solidFill>
                <a:latin typeface="Times New Roman" pitchFamily="18" charset="0"/>
                <a:ea typeface="楷体" pitchFamily="49" charset="-122"/>
                <a:cs typeface="Times New Roman" pitchFamily="18" charset="0"/>
              </a:rPr>
              <a:t>DNA</a:t>
            </a:r>
            <a:r>
              <a:rPr kumimoji="1" lang="zh-CN" altLang="en-US" sz="3200" i="1" dirty="0">
                <a:solidFill>
                  <a:schemeClr val="tx1"/>
                </a:solidFill>
                <a:latin typeface="Times New Roman" pitchFamily="18" charset="0"/>
                <a:ea typeface="楷体" pitchFamily="49" charset="-122"/>
                <a:cs typeface="Times New Roman" pitchFamily="18" charset="0"/>
              </a:rPr>
              <a:t>通常双链？</a:t>
            </a:r>
          </a:p>
        </p:txBody>
      </p:sp>
    </p:spTree>
    <p:extLst>
      <p:ext uri="{BB962C8B-B14F-4D97-AF65-F5344CB8AC3E}">
        <p14:creationId xmlns:p14="http://schemas.microsoft.com/office/powerpoint/2010/main" val="3081346050"/>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23943" y="-92765"/>
            <a:ext cx="4440639"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四</a:t>
            </a: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核苷酸的功能</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 </a:t>
            </a:r>
          </a:p>
        </p:txBody>
      </p:sp>
      <p:sp>
        <p:nvSpPr>
          <p:cNvPr id="6" name="文本框 5"/>
          <p:cNvSpPr txBox="1"/>
          <p:nvPr/>
        </p:nvSpPr>
        <p:spPr>
          <a:xfrm>
            <a:off x="316704" y="1063927"/>
            <a:ext cx="11855116" cy="5422318"/>
          </a:xfrm>
          <a:prstGeom prst="rect">
            <a:avLst/>
          </a:prstGeom>
          <a:noFill/>
        </p:spPr>
        <p:txBody>
          <a:bodyPr wrap="square" rtlCol="0" anchor="t">
            <a:spAutoFit/>
          </a:bodyPr>
          <a:lstStyle/>
          <a:p>
            <a:pPr marL="457200" indent="-457200">
              <a:lnSpc>
                <a:spcPct val="150000"/>
              </a:lnSpc>
              <a:spcBef>
                <a:spcPts val="600"/>
              </a:spcBef>
              <a:buFont typeface="Arial" panose="020B0604020202020204" pitchFamily="34" charset="0"/>
              <a:buAutoNum type="arabicPeriod"/>
            </a:pPr>
            <a:r>
              <a:rPr lang="zh-CN" altLang="en-US" sz="2800" dirty="0">
                <a:latin typeface="Comic Sans MS" panose="030F0702030302020204" charset="0"/>
                <a:ea typeface="微软雅黑" panose="020B0503020204020204" pitchFamily="34" charset="-122"/>
                <a:cs typeface="Comic Sans MS" panose="030F0702030302020204" charset="0"/>
              </a:rPr>
              <a:t>核酸合成的前体：NTP→RNA，dNTP→DNA；</a:t>
            </a:r>
          </a:p>
          <a:p>
            <a:pPr marL="457200" indent="-457200">
              <a:lnSpc>
                <a:spcPct val="150000"/>
              </a:lnSpc>
              <a:spcBef>
                <a:spcPts val="600"/>
              </a:spcBef>
              <a:buFont typeface="Arial" panose="020B0604020202020204" pitchFamily="34" charset="0"/>
              <a:buAutoNum type="arabicPeriod"/>
            </a:pPr>
            <a:r>
              <a:rPr lang="zh-CN" altLang="en-US" sz="2800" dirty="0">
                <a:latin typeface="Comic Sans MS" panose="030F0702030302020204" charset="0"/>
                <a:ea typeface="微软雅黑" panose="020B0503020204020204" pitchFamily="34" charset="-122"/>
                <a:cs typeface="Comic Sans MS" panose="030F0702030302020204" charset="0"/>
              </a:rPr>
              <a:t>能量货币，通常是ATP，有时使用UTP（糖原合成）、CTP（磷脂合成）和GTP（蛋白质合成）；</a:t>
            </a:r>
          </a:p>
          <a:p>
            <a:pPr marL="457200" indent="-457200">
              <a:lnSpc>
                <a:spcPct val="150000"/>
              </a:lnSpc>
              <a:spcBef>
                <a:spcPts val="600"/>
              </a:spcBef>
              <a:buFont typeface="Arial" panose="020B0604020202020204" pitchFamily="34" charset="0"/>
              <a:buAutoNum type="arabicPeriod"/>
            </a:pPr>
            <a:r>
              <a:rPr lang="zh-CN" altLang="en-US" sz="2800" dirty="0">
                <a:latin typeface="Comic Sans MS" panose="030F0702030302020204" charset="0"/>
                <a:ea typeface="微软雅黑" panose="020B0503020204020204" pitchFamily="34" charset="-122"/>
                <a:cs typeface="Comic Sans MS" panose="030F0702030302020204" charset="0"/>
              </a:rPr>
              <a:t>信号转导，例如cAMP和cGMP作为某些激素的</a:t>
            </a:r>
            <a:r>
              <a:rPr lang="zh-CN" altLang="en-US" sz="2800" b="1" dirty="0">
                <a:latin typeface="Comic Sans MS" panose="030F0702030302020204" charset="0"/>
                <a:ea typeface="微软雅黑" panose="020B0503020204020204" pitchFamily="34" charset="-122"/>
                <a:cs typeface="Comic Sans MS" panose="030F0702030302020204" charset="0"/>
              </a:rPr>
              <a:t>第二信使</a:t>
            </a:r>
            <a:r>
              <a:rPr lang="zh-CN" altLang="en-US" sz="2800" dirty="0">
                <a:latin typeface="Comic Sans MS" panose="030F0702030302020204" charset="0"/>
                <a:ea typeface="微软雅黑" panose="020B0503020204020204" pitchFamily="34" charset="-122"/>
                <a:cs typeface="Comic Sans MS" panose="030F0702030302020204" charset="0"/>
              </a:rPr>
              <a:t>，鸟苷酸能够调节G蛋白的活性；</a:t>
            </a:r>
          </a:p>
          <a:p>
            <a:pPr marL="457200" indent="-457200">
              <a:lnSpc>
                <a:spcPct val="150000"/>
              </a:lnSpc>
              <a:spcBef>
                <a:spcPts val="600"/>
              </a:spcBef>
              <a:buFont typeface="Arial" panose="020B0604020202020204" pitchFamily="34" charset="0"/>
              <a:buAutoNum type="arabicPeriod"/>
            </a:pPr>
            <a:r>
              <a:rPr lang="zh-CN" altLang="en-US" sz="2800" dirty="0">
                <a:latin typeface="Comic Sans MS" panose="030F0702030302020204" charset="0"/>
                <a:ea typeface="微软雅黑" panose="020B0503020204020204" pitchFamily="34" charset="-122"/>
                <a:cs typeface="Comic Sans MS" panose="030F0702030302020204" charset="0"/>
              </a:rPr>
              <a:t>作为其他物质的前体或</a:t>
            </a:r>
            <a:r>
              <a:rPr lang="zh-CN" altLang="en-US" sz="2800" b="1" dirty="0">
                <a:latin typeface="Comic Sans MS" panose="030F0702030302020204" charset="0"/>
                <a:ea typeface="微软雅黑" panose="020B0503020204020204" pitchFamily="34" charset="-122"/>
                <a:cs typeface="Comic Sans MS" panose="030F0702030302020204" charset="0"/>
              </a:rPr>
              <a:t>辅酶</a:t>
            </a:r>
            <a:r>
              <a:rPr lang="zh-CN" altLang="en-US" sz="2800" dirty="0">
                <a:latin typeface="Comic Sans MS" panose="030F0702030302020204" charset="0"/>
                <a:ea typeface="微软雅黑" panose="020B0503020204020204" pitchFamily="34" charset="-122"/>
                <a:cs typeface="Comic Sans MS" panose="030F0702030302020204" charset="0"/>
              </a:rPr>
              <a:t>/辅基的成分，如ADP为辅酶I和II的组分，鸟苷酸作为第一类内含子的辅酶；</a:t>
            </a:r>
          </a:p>
          <a:p>
            <a:pPr marL="457200" indent="-457200">
              <a:lnSpc>
                <a:spcPct val="150000"/>
              </a:lnSpc>
              <a:buFont typeface="Arial" panose="020B0604020202020204" pitchFamily="34" charset="0"/>
              <a:buAutoNum type="arabicPeriod"/>
            </a:pPr>
            <a:endParaRPr lang="zh-CN" altLang="en-US" sz="2800" dirty="0">
              <a:latin typeface="Comic Sans MS" panose="030F0702030302020204" charset="0"/>
              <a:ea typeface="微软雅黑" panose="020B0503020204020204" pitchFamily="34" charset="-122"/>
              <a:cs typeface="Comic Sans MS" panose="030F0702030302020204" charset="0"/>
            </a:endParaRPr>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48070" y="-92765"/>
            <a:ext cx="4440639"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四</a:t>
            </a: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核苷酸的功能</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 </a:t>
            </a:r>
          </a:p>
        </p:txBody>
      </p:sp>
      <p:sp>
        <p:nvSpPr>
          <p:cNvPr id="6" name="文本框 5"/>
          <p:cNvSpPr txBox="1"/>
          <p:nvPr/>
        </p:nvSpPr>
        <p:spPr>
          <a:xfrm>
            <a:off x="312821" y="1422000"/>
            <a:ext cx="11566358" cy="3405419"/>
          </a:xfrm>
          <a:prstGeom prst="rect">
            <a:avLst/>
          </a:prstGeom>
          <a:noFill/>
        </p:spPr>
        <p:txBody>
          <a:bodyPr wrap="square" rtlCol="0" anchor="t">
            <a:spAutoFit/>
          </a:bodyPr>
          <a:lstStyle/>
          <a:p>
            <a:pPr marL="457200" indent="-457200">
              <a:lnSpc>
                <a:spcPct val="150000"/>
              </a:lnSpc>
              <a:spcBef>
                <a:spcPts val="600"/>
              </a:spcBef>
              <a:buFont typeface="+mj-lt"/>
              <a:buAutoNum type="arabicPeriod" startAt="5"/>
            </a:pPr>
            <a:r>
              <a:rPr lang="zh-CN" altLang="en-US" sz="2800" b="1" dirty="0">
                <a:latin typeface="Comic Sans MS" panose="030F0702030302020204" charset="0"/>
                <a:ea typeface="微软雅黑" panose="020B0503020204020204" pitchFamily="34" charset="-122"/>
                <a:cs typeface="Comic Sans MS" panose="030F0702030302020204" charset="0"/>
              </a:rPr>
              <a:t>活化的中间物</a:t>
            </a:r>
            <a:r>
              <a:rPr lang="zh-CN" altLang="en-US" sz="2800" dirty="0">
                <a:latin typeface="Comic Sans MS" panose="030F0702030302020204" charset="0"/>
                <a:ea typeface="微软雅黑" panose="020B0503020204020204" pitchFamily="34" charset="-122"/>
                <a:cs typeface="Comic Sans MS" panose="030F0702030302020204" charset="0"/>
              </a:rPr>
              <a:t>，如UDP葡萄糖和CDP-乙醇胺分别参与糖原和磷脂酰乙醇胺的合成；</a:t>
            </a:r>
          </a:p>
          <a:p>
            <a:pPr marL="457200" indent="-457200">
              <a:lnSpc>
                <a:spcPct val="150000"/>
              </a:lnSpc>
              <a:spcBef>
                <a:spcPts val="600"/>
              </a:spcBef>
              <a:buFont typeface="+mj-lt"/>
              <a:buAutoNum type="arabicPeriod" startAt="5"/>
            </a:pPr>
            <a:r>
              <a:rPr lang="zh-CN" altLang="en-US" sz="2800" dirty="0">
                <a:latin typeface="Comic Sans MS" panose="030F0702030302020204" charset="0"/>
                <a:ea typeface="微软雅黑" panose="020B0503020204020204" pitchFamily="34" charset="-122"/>
                <a:cs typeface="Comic Sans MS" panose="030F0702030302020204" charset="0"/>
              </a:rPr>
              <a:t>作为酶的别构效应物</a:t>
            </a:r>
            <a:r>
              <a:rPr lang="zh-CN" altLang="en-US" sz="2800" b="1" dirty="0">
                <a:latin typeface="Comic Sans MS" panose="030F0702030302020204" charset="0"/>
                <a:ea typeface="微软雅黑" panose="020B0503020204020204" pitchFamily="34" charset="-122"/>
                <a:cs typeface="Comic Sans MS" panose="030F0702030302020204" charset="0"/>
              </a:rPr>
              <a:t>参与代谢的调节</a:t>
            </a:r>
            <a:r>
              <a:rPr lang="zh-CN" altLang="en-US" sz="2800" dirty="0">
                <a:latin typeface="Comic Sans MS" panose="030F0702030302020204" charset="0"/>
                <a:ea typeface="微软雅黑" panose="020B0503020204020204" pitchFamily="34" charset="-122"/>
                <a:cs typeface="Comic Sans MS" panose="030F0702030302020204" charset="0"/>
              </a:rPr>
              <a:t>，如ATP为磷酸果糖激酶-1的负别构效应物，AMP作为糖原磷酸化酶的正别构效应物;</a:t>
            </a:r>
          </a:p>
          <a:p>
            <a:pPr marL="457200" indent="-457200">
              <a:lnSpc>
                <a:spcPct val="150000"/>
              </a:lnSpc>
              <a:spcBef>
                <a:spcPts val="600"/>
              </a:spcBef>
              <a:buFont typeface="+mj-lt"/>
              <a:buAutoNum type="arabicPeriod" startAt="5"/>
            </a:pPr>
            <a:r>
              <a:rPr lang="zh-CN" altLang="en-US" sz="2800" b="1" dirty="0">
                <a:latin typeface="Comic Sans MS" panose="030F0702030302020204" charset="0"/>
                <a:ea typeface="微软雅黑" panose="020B0503020204020204" pitchFamily="34" charset="-122"/>
                <a:cs typeface="Comic Sans MS" panose="030F0702030302020204" charset="0"/>
              </a:rPr>
              <a:t>调节基因表达</a:t>
            </a:r>
            <a:r>
              <a:rPr lang="zh-CN" altLang="en-US" sz="2800" dirty="0">
                <a:latin typeface="Comic Sans MS" panose="030F0702030302020204" charset="0"/>
                <a:ea typeface="微软雅黑" panose="020B0503020204020204" pitchFamily="34" charset="-122"/>
                <a:cs typeface="Comic Sans MS" panose="030F0702030302020204" charset="0"/>
              </a:rPr>
              <a:t>。例如ppGpp和pppGpp参与调节原核细胞蛋白质的合成。</a:t>
            </a: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2794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9" name="文本框 18"/>
            <p:cNvSpPr txBox="1"/>
            <p:nvPr/>
          </p:nvSpPr>
          <p:spPr>
            <a:xfrm>
              <a:off x="569211" y="334330"/>
              <a:ext cx="1338788" cy="466581"/>
            </a:xfrm>
            <a:prstGeom prst="rect">
              <a:avLst/>
            </a:prstGeom>
            <a:noFill/>
          </p:spPr>
          <p:txBody>
            <a:bodyPr wrap="square" lIns="68580" tIns="34290" rIns="68580" bIns="34290" rtlCol="0">
              <a:spAutoFit/>
            </a:bodyPr>
            <a:lstStyle/>
            <a:p>
              <a:r>
                <a:rPr lang="en-US" altLang="zh-CN" sz="6600" dirty="0">
                  <a:solidFill>
                    <a:schemeClr val="bg1">
                      <a:lumMod val="95000"/>
                    </a:schemeClr>
                  </a:solidFill>
                  <a:latin typeface="Impact" panose="020B0806030902050204" pitchFamily="34" charset="0"/>
                </a:rPr>
                <a:t>12.2</a:t>
              </a:r>
            </a:p>
          </p:txBody>
        </p:sp>
      </p:grpSp>
      <p:sp>
        <p:nvSpPr>
          <p:cNvPr id="20" name="TextBox 48"/>
          <p:cNvSpPr txBox="1"/>
          <p:nvPr/>
        </p:nvSpPr>
        <p:spPr>
          <a:xfrm>
            <a:off x="4965065" y="2737486"/>
            <a:ext cx="6250940" cy="807085"/>
          </a:xfrm>
          <a:prstGeom prst="rect">
            <a:avLst/>
          </a:prstGeom>
          <a:noFill/>
        </p:spPr>
        <p:txBody>
          <a:bodyPr wrap="square" lIns="68584" tIns="34291" rIns="68584" bIns="34291" rtlCol="0">
            <a:spAutoFit/>
          </a:bodyPr>
          <a:lstStyle/>
          <a:p>
            <a:r>
              <a:rPr lang="en-US" altLang="zh-CN" sz="4800" b="1" dirty="0">
                <a:solidFill>
                  <a:schemeClr val="tx1">
                    <a:lumMod val="75000"/>
                    <a:lumOff val="25000"/>
                  </a:schemeClr>
                </a:solidFill>
                <a:latin typeface="微软雅黑" panose="020B0503020204020204" pitchFamily="34" charset="-122"/>
                <a:ea typeface="微软雅黑" panose="020B0503020204020204" pitchFamily="34" charset="-122"/>
              </a:rPr>
              <a:t>DNA</a:t>
            </a:r>
            <a:r>
              <a:rPr lang="zh-CN" altLang="en-US" sz="4800" b="1" dirty="0">
                <a:solidFill>
                  <a:schemeClr val="tx1">
                    <a:lumMod val="75000"/>
                    <a:lumOff val="25000"/>
                  </a:schemeClr>
                </a:solidFill>
                <a:latin typeface="微软雅黑" panose="020B0503020204020204" pitchFamily="34" charset="-122"/>
                <a:ea typeface="微软雅黑" panose="020B0503020204020204" pitchFamily="34" charset="-122"/>
              </a:rPr>
              <a:t>的结构</a:t>
            </a:r>
            <a:endParaRPr lang="en-US" altLang="zh-CN" sz="4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758123" y="-66620"/>
            <a:ext cx="5001690" cy="1015663"/>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一</a:t>
            </a: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的一级结构</a:t>
            </a:r>
          </a:p>
        </p:txBody>
      </p:sp>
      <p:sp>
        <p:nvSpPr>
          <p:cNvPr id="4" name="文本框 3"/>
          <p:cNvSpPr txBox="1"/>
          <p:nvPr/>
        </p:nvSpPr>
        <p:spPr>
          <a:xfrm>
            <a:off x="2408667" y="1768637"/>
            <a:ext cx="7030279" cy="1292662"/>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DMA</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的碱基顺序是</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的一级结构</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342900" indent="-342900">
              <a:spcBef>
                <a:spcPct val="50000"/>
              </a:spcBef>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579330" y="-59193"/>
            <a:ext cx="5001690" cy="906915"/>
          </a:xfrm>
          <a:prstGeom prst="rect">
            <a:avLst/>
          </a:prstGeom>
          <a:noFill/>
        </p:spPr>
        <p:txBody>
          <a:bodyPr wrap="none" rtlCol="0" anchor="t">
            <a:spAutoFit/>
          </a:bodyPr>
          <a:lstStyle/>
          <a:p>
            <a:pPr>
              <a:lnSpc>
                <a:spcPct val="150000"/>
              </a:lnSpc>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二</a:t>
            </a: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的二级结构</a:t>
            </a:r>
          </a:p>
        </p:txBody>
      </p:sp>
      <p:sp>
        <p:nvSpPr>
          <p:cNvPr id="4" name="文本框 3"/>
          <p:cNvSpPr txBox="1"/>
          <p:nvPr/>
        </p:nvSpPr>
        <p:spPr>
          <a:xfrm>
            <a:off x="5605" y="1759570"/>
            <a:ext cx="5037222" cy="3323987"/>
          </a:xfrm>
          <a:prstGeom prst="rect">
            <a:avLst/>
          </a:prstGeom>
          <a:noFill/>
        </p:spPr>
        <p:txBody>
          <a:bodyPr wrap="square" rtlCol="0" anchor="t">
            <a:spAutoFit/>
          </a:bodyPr>
          <a:lstStyle/>
          <a:p>
            <a:pPr marL="342900" indent="-342900">
              <a:lnSpc>
                <a:spcPct val="150000"/>
              </a:lnSpc>
              <a:spcBef>
                <a:spcPct val="500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DNA的二级结构主要是</a:t>
            </a:r>
            <a:r>
              <a:rPr lang="zh-CN" altLang="en-US" sz="2800"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各种形式的螺旋</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，特别是B-型双螺旋，此外还有A-型双螺旋、Z-型双螺旋、三链螺旋和四链螺旋等。</a:t>
            </a:r>
          </a:p>
        </p:txBody>
      </p:sp>
      <p:pic>
        <p:nvPicPr>
          <p:cNvPr id="10" name="图片 9"/>
          <p:cNvPicPr>
            <a:picLocks noChangeAspect="1"/>
          </p:cNvPicPr>
          <p:nvPr/>
        </p:nvPicPr>
        <p:blipFill>
          <a:blip r:embed="rId2"/>
          <a:stretch>
            <a:fillRect/>
          </a:stretch>
        </p:blipFill>
        <p:spPr>
          <a:xfrm>
            <a:off x="5042827" y="1220785"/>
            <a:ext cx="7004795" cy="4666667"/>
          </a:xfrm>
          <a:prstGeom prst="rect">
            <a:avLst/>
          </a:prstGeom>
        </p:spPr>
      </p:pic>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20729D4-D60A-586F-15D6-1136368AD066}"/>
              </a:ext>
            </a:extLst>
          </p:cNvPr>
          <p:cNvPicPr>
            <a:picLocks noChangeAspect="1"/>
          </p:cNvPicPr>
          <p:nvPr/>
        </p:nvPicPr>
        <p:blipFill>
          <a:blip r:embed="rId2"/>
          <a:stretch>
            <a:fillRect/>
          </a:stretch>
        </p:blipFill>
        <p:spPr>
          <a:xfrm>
            <a:off x="1070056" y="0"/>
            <a:ext cx="10602829" cy="6858000"/>
          </a:xfrm>
          <a:prstGeom prst="rect">
            <a:avLst/>
          </a:prstGeom>
        </p:spPr>
      </p:pic>
    </p:spTree>
    <p:extLst>
      <p:ext uri="{BB962C8B-B14F-4D97-AF65-F5344CB8AC3E}">
        <p14:creationId xmlns:p14="http://schemas.microsoft.com/office/powerpoint/2010/main" val="1451260941"/>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9" name="Picture 5" descr="6-9"/>
          <p:cNvPicPr>
            <a:picLocks noChangeAspect="1"/>
          </p:cNvPicPr>
          <p:nvPr/>
        </p:nvPicPr>
        <p:blipFill>
          <a:blip r:embed="rId2">
            <a:grayscl/>
          </a:blip>
          <a:srcRect l="61896" b="15043"/>
          <a:stretch>
            <a:fillRect/>
          </a:stretch>
        </p:blipFill>
        <p:spPr>
          <a:xfrm>
            <a:off x="9162137" y="864870"/>
            <a:ext cx="2963545" cy="2564130"/>
          </a:xfrm>
          <a:prstGeom prst="rect">
            <a:avLst/>
          </a:prstGeom>
          <a:noFill/>
          <a:ln w="9525">
            <a:noFill/>
          </a:ln>
        </p:spPr>
      </p:pic>
      <p:pic>
        <p:nvPicPr>
          <p:cNvPr id="5" name="图片 4">
            <a:extLst>
              <a:ext uri="{FF2B5EF4-FFF2-40B4-BE49-F238E27FC236}">
                <a16:creationId xmlns:a16="http://schemas.microsoft.com/office/drawing/2014/main" id="{FB5E1B3E-4E87-C41D-47C1-869DD9E01BA7}"/>
              </a:ext>
            </a:extLst>
          </p:cNvPr>
          <p:cNvPicPr>
            <a:picLocks noChangeAspect="1"/>
          </p:cNvPicPr>
          <p:nvPr/>
        </p:nvPicPr>
        <p:blipFill>
          <a:blip r:embed="rId3"/>
          <a:stretch>
            <a:fillRect/>
          </a:stretch>
        </p:blipFill>
        <p:spPr>
          <a:xfrm>
            <a:off x="1678061" y="3342579"/>
            <a:ext cx="4552186" cy="3337294"/>
          </a:xfrm>
          <a:prstGeom prst="rect">
            <a:avLst/>
          </a:prstGeom>
        </p:spPr>
      </p:pic>
      <p:pic>
        <p:nvPicPr>
          <p:cNvPr id="12" name="图片 11"/>
          <p:cNvPicPr>
            <a:picLocks noChangeAspect="1"/>
          </p:cNvPicPr>
          <p:nvPr/>
        </p:nvPicPr>
        <p:blipFill>
          <a:blip r:embed="rId4"/>
          <a:stretch>
            <a:fillRect/>
          </a:stretch>
        </p:blipFill>
        <p:spPr>
          <a:xfrm>
            <a:off x="7454346" y="3354522"/>
            <a:ext cx="3015615" cy="2694305"/>
          </a:xfrm>
          <a:prstGeom prst="rect">
            <a:avLst/>
          </a:prstGeom>
        </p:spPr>
      </p:pic>
      <p:sp>
        <p:nvSpPr>
          <p:cNvPr id="3" name="文本框 2"/>
          <p:cNvSpPr txBox="1"/>
          <p:nvPr/>
        </p:nvSpPr>
        <p:spPr>
          <a:xfrm>
            <a:off x="3488414" y="-29680"/>
            <a:ext cx="5514651" cy="906915"/>
          </a:xfrm>
          <a:prstGeom prst="rect">
            <a:avLst/>
          </a:prstGeom>
          <a:noFill/>
        </p:spPr>
        <p:txBody>
          <a:bodyPr wrap="none" rtlCol="0" anchor="t">
            <a:spAutoFit/>
          </a:bodyPr>
          <a:lstStyle/>
          <a:p>
            <a:pPr>
              <a:lnSpc>
                <a:spcPct val="150000"/>
              </a:lnSpc>
            </a:pP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DNA双螺旋结构的</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依</a:t>
            </a: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据</a:t>
            </a:r>
          </a:p>
        </p:txBody>
      </p:sp>
      <p:sp>
        <p:nvSpPr>
          <p:cNvPr id="29698" name="内容占位符 2"/>
          <p:cNvSpPr>
            <a:spLocks noGrp="1"/>
          </p:cNvSpPr>
          <p:nvPr>
            <p:ph type="subTitle" idx="4294967295"/>
          </p:nvPr>
        </p:nvSpPr>
        <p:spPr>
          <a:xfrm>
            <a:off x="793793" y="1032376"/>
            <a:ext cx="7867964" cy="2231975"/>
          </a:xfrm>
        </p:spPr>
        <p:txBody>
          <a:bodyPr vert="horz" wrap="square" lIns="91440" tIns="45720" rIns="91440" bIns="45720" rtlCol="0" anchor="t" anchorCtr="0">
            <a:noAutofit/>
          </a:bodyPr>
          <a:lstStyle/>
          <a:p>
            <a:pPr marL="342900" indent="-342900" algn="l">
              <a:lnSpc>
                <a:spcPct val="150000"/>
              </a:lnSpc>
              <a:buClr>
                <a:srgbClr val="000000"/>
              </a:buClr>
              <a:buFont typeface="Arial" panose="020B0604020202020204" pitchFamily="34" charset="0"/>
              <a:buChar char="•"/>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射线衍射数据</a:t>
            </a:r>
          </a:p>
          <a:p>
            <a:pPr marL="342900" indent="-342900" algn="l">
              <a:lnSpc>
                <a:spcPct val="150000"/>
              </a:lnSpc>
              <a:buClr>
                <a:srgbClr val="000000"/>
              </a:buClr>
              <a:buFont typeface="Arial" panose="020B0604020202020204" pitchFamily="34" charset="0"/>
              <a:buChar char="•"/>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Chargaff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规则</a:t>
            </a:r>
          </a:p>
          <a:p>
            <a:pPr marL="342900" indent="-342900" algn="l">
              <a:lnSpc>
                <a:spcPct val="150000"/>
              </a:lnSpc>
              <a:buClr>
                <a:srgbClr val="000000"/>
              </a:buClr>
              <a:buFont typeface="Arial" panose="020B0604020202020204" pitchFamily="34" charset="0"/>
              <a:buChar char="•"/>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已知核酸化学性质和核苷酸键长键角的数据</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a:lnSpc>
                <a:spcPct val="150000"/>
              </a:lnSpc>
              <a:buClr>
                <a:srgbClr val="000000"/>
              </a:buClr>
              <a:buFont typeface="Arial" panose="020B0604020202020204" pitchFamily="34" charset="0"/>
              <a:buChar char="•"/>
            </a:pP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10662818" y="4749616"/>
            <a:ext cx="718466" cy="523220"/>
          </a:xfrm>
          <a:prstGeom prst="rect">
            <a:avLst/>
          </a:prstGeom>
          <a:noFill/>
          <a:ln>
            <a:solidFill>
              <a:schemeClr val="tx1"/>
            </a:solidFill>
          </a:ln>
        </p:spPr>
        <p:txBody>
          <a:bodyPr wrap="none" rtlCol="0">
            <a:spAutoFit/>
          </a:bodyPr>
          <a:lstStyle/>
          <a:p>
            <a:pPr algn="ct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螺距</a:t>
            </a:r>
          </a:p>
          <a:p>
            <a:pPr algn="ct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3.4nm</a:t>
            </a:r>
          </a:p>
        </p:txBody>
      </p:sp>
      <p:sp>
        <p:nvSpPr>
          <p:cNvPr id="6" name="文本框 5"/>
          <p:cNvSpPr txBox="1"/>
          <p:nvPr/>
        </p:nvSpPr>
        <p:spPr>
          <a:xfrm>
            <a:off x="7854671" y="6054542"/>
            <a:ext cx="1579880" cy="737235"/>
          </a:xfrm>
          <a:prstGeom prst="rect">
            <a:avLst/>
          </a:prstGeom>
          <a:noFill/>
          <a:ln>
            <a:solidFill>
              <a:schemeClr val="tx1"/>
            </a:solidFill>
          </a:ln>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片层线条显示每重复结构单位有</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个</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bp</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7" name="文本框 6"/>
          <p:cNvSpPr txBox="1"/>
          <p:nvPr/>
        </p:nvSpPr>
        <p:spPr>
          <a:xfrm>
            <a:off x="5883631" y="4169861"/>
            <a:ext cx="1579880" cy="1168400"/>
          </a:xfrm>
          <a:prstGeom prst="rect">
            <a:avLst/>
          </a:prstGeom>
          <a:noFill/>
          <a:ln>
            <a:solidFill>
              <a:schemeClr val="tx1"/>
            </a:solidFill>
          </a:ln>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切面</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样式结构显示</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具有螺旋结构，直径</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2nm</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进一步说明螺旋为双螺旋。</a:t>
            </a:r>
          </a:p>
        </p:txBody>
      </p:sp>
      <p:cxnSp>
        <p:nvCxnSpPr>
          <p:cNvPr id="8" name="直接连接符 7"/>
          <p:cNvCxnSpPr>
            <a:stCxn id="7" idx="3"/>
          </p:cNvCxnSpPr>
          <p:nvPr/>
        </p:nvCxnSpPr>
        <p:spPr>
          <a:xfrm flipV="1">
            <a:off x="7463512" y="4559117"/>
            <a:ext cx="1198245" cy="194945"/>
          </a:xfrm>
          <a:prstGeom prst="line">
            <a:avLst/>
          </a:prstGeom>
        </p:spPr>
        <p:style>
          <a:lnRef idx="1">
            <a:schemeClr val="dk1"/>
          </a:lnRef>
          <a:fillRef idx="0">
            <a:schemeClr val="dk1"/>
          </a:fillRef>
          <a:effectRef idx="0">
            <a:schemeClr val="dk1"/>
          </a:effectRef>
          <a:fontRef idx="minor">
            <a:schemeClr val="tx1"/>
          </a:fontRef>
        </p:style>
      </p:cxnSp>
      <p:cxnSp>
        <p:nvCxnSpPr>
          <p:cNvPr id="9" name="直接连接符 8"/>
          <p:cNvCxnSpPr>
            <a:endCxn id="4" idx="0"/>
          </p:cNvCxnSpPr>
          <p:nvPr/>
        </p:nvCxnSpPr>
        <p:spPr>
          <a:xfrm>
            <a:off x="9212937" y="3755206"/>
            <a:ext cx="1809115" cy="994410"/>
          </a:xfrm>
          <a:prstGeom prst="line">
            <a:avLst/>
          </a:prstGeom>
        </p:spPr>
        <p:style>
          <a:lnRef idx="1">
            <a:schemeClr val="dk1"/>
          </a:lnRef>
          <a:fillRef idx="0">
            <a:schemeClr val="dk1"/>
          </a:fillRef>
          <a:effectRef idx="0">
            <a:schemeClr val="dk1"/>
          </a:effectRef>
          <a:fontRef idx="minor">
            <a:schemeClr val="tx1"/>
          </a:fontRef>
        </p:style>
      </p:cxnSp>
      <p:cxnSp>
        <p:nvCxnSpPr>
          <p:cNvPr id="10" name="直接连接符 9"/>
          <p:cNvCxnSpPr>
            <a:endCxn id="4" idx="2"/>
          </p:cNvCxnSpPr>
          <p:nvPr/>
        </p:nvCxnSpPr>
        <p:spPr>
          <a:xfrm flipV="1">
            <a:off x="9162137" y="5272837"/>
            <a:ext cx="1859915" cy="511195"/>
          </a:xfrm>
          <a:prstGeom prst="line">
            <a:avLst/>
          </a:prstGeom>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flipH="1">
            <a:off x="8379817" y="5037272"/>
            <a:ext cx="535305" cy="1011555"/>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1" name="Picture 6" descr="6-6"/>
          <p:cNvPicPr>
            <a:picLocks noChangeAspect="1"/>
          </p:cNvPicPr>
          <p:nvPr/>
        </p:nvPicPr>
        <p:blipFill>
          <a:blip r:embed="rId2">
            <a:lum bright="6000" contrast="6000"/>
          </a:blip>
          <a:stretch>
            <a:fillRect/>
          </a:stretch>
        </p:blipFill>
        <p:spPr>
          <a:xfrm>
            <a:off x="8972353" y="0"/>
            <a:ext cx="3235689" cy="6858000"/>
          </a:xfrm>
          <a:prstGeom prst="rect">
            <a:avLst/>
          </a:prstGeom>
          <a:noFill/>
          <a:ln w="9525">
            <a:noFill/>
          </a:ln>
        </p:spPr>
      </p:pic>
      <p:sp>
        <p:nvSpPr>
          <p:cNvPr id="3" name="文本框 2"/>
          <p:cNvSpPr txBox="1"/>
          <p:nvPr/>
        </p:nvSpPr>
        <p:spPr>
          <a:xfrm>
            <a:off x="4644189" y="-70501"/>
            <a:ext cx="2587568" cy="906915"/>
          </a:xfrm>
          <a:prstGeom prst="rect">
            <a:avLst/>
          </a:prstGeom>
          <a:noFill/>
        </p:spPr>
        <p:txBody>
          <a:bodyPr wrap="none" rtlCol="0" anchor="t">
            <a:spAutoFit/>
          </a:bodyPr>
          <a:lstStyle/>
          <a:p>
            <a:pPr>
              <a:lnSpc>
                <a:spcPct val="150000"/>
              </a:lnSpc>
            </a:pP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B型双螺旋</a:t>
            </a:r>
          </a:p>
        </p:txBody>
      </p:sp>
      <p:sp>
        <p:nvSpPr>
          <p:cNvPr id="4" name="文本框 3"/>
          <p:cNvSpPr txBox="1"/>
          <p:nvPr/>
        </p:nvSpPr>
        <p:spPr>
          <a:xfrm>
            <a:off x="0" y="906915"/>
            <a:ext cx="9288379" cy="4973669"/>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342900" indent="-342900">
              <a:lnSpc>
                <a:spcPct val="120000"/>
              </a:lnSpc>
              <a:spcBef>
                <a:spcPts val="1200"/>
              </a:spcBef>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DNA由两条呈</a:t>
            </a:r>
            <a:r>
              <a:rPr lang="zh-CN" alt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反平行</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的多聚核苷酸链组成，形成</a:t>
            </a:r>
            <a:r>
              <a:rPr lang="zh-CN" alt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右手双螺旋</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342900" indent="-342900">
              <a:spcBef>
                <a:spcPct val="50000"/>
              </a:spcBef>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两条链</a:t>
            </a:r>
            <a:r>
              <a:rPr lang="zh-CN" alt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碱基互补配对</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，AT碱基对有</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个氢键，GC碱基对有3个氢键；</a:t>
            </a:r>
          </a:p>
          <a:p>
            <a:pPr marL="342900" indent="-342900">
              <a:spcBef>
                <a:spcPct val="50000"/>
              </a:spcBef>
              <a:buFont typeface="Arial" panose="020B0604020202020204" pitchFamily="34" charset="0"/>
              <a:buChar char="•"/>
            </a:pPr>
            <a:r>
              <a:rPr lang="zh-CN" alt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碱基对位于双螺旋的内部</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，并垂直于暴露在外的脱氧核糖磷酸骨架。碱基对之间通过</a:t>
            </a:r>
            <a:r>
              <a:rPr lang="zh-CN" altLang="en-US" sz="2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疏水键和范德华力</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相互垛叠在一起，对双螺旋的稳定起一定的作用；</a:t>
            </a:r>
          </a:p>
          <a:p>
            <a:pPr marL="342900" indent="-342900">
              <a:spcBef>
                <a:spcPct val="50000"/>
              </a:spcBef>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双螺旋的表面含有明显的</a:t>
            </a:r>
            <a:r>
              <a:rPr lang="zh-CN" alt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大沟和小沟</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（其宽度分别为2.2nm和1.2nm）；</a:t>
            </a:r>
          </a:p>
          <a:p>
            <a:pPr marL="342900" indent="-342900">
              <a:spcBef>
                <a:spcPct val="50000"/>
              </a:spcBef>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螺旋的直经为2nm，相邻碱基对距离为</a:t>
            </a:r>
            <a:r>
              <a:rPr lang="zh-CN" alt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0.34nm</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，并相差约36°。每一转完整的螺旋含有</a:t>
            </a:r>
            <a:r>
              <a:rPr lang="zh-CN" alt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10个碱基对</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，其高度为3.4nm。</a:t>
            </a: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51823" y="-106018"/>
            <a:ext cx="4288353" cy="906915"/>
          </a:xfrm>
          <a:prstGeom prst="rect">
            <a:avLst/>
          </a:prstGeom>
          <a:noFill/>
        </p:spPr>
        <p:txBody>
          <a:bodyPr wrap="none" rtlCol="0" anchor="t">
            <a:spAutoFit/>
          </a:bodyPr>
          <a:lstStyle/>
          <a:p>
            <a:pPr>
              <a:lnSpc>
                <a:spcPct val="150000"/>
              </a:lnSpc>
            </a:pPr>
            <a:r>
              <a:rPr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双螺旋稳定的因素</a:t>
            </a:r>
          </a:p>
        </p:txBody>
      </p:sp>
      <p:sp>
        <p:nvSpPr>
          <p:cNvPr id="31746" name="内容占位符 2"/>
          <p:cNvSpPr>
            <a:spLocks noGrp="1"/>
          </p:cNvSpPr>
          <p:nvPr>
            <p:ph type="subTitle" idx="4294967295"/>
          </p:nvPr>
        </p:nvSpPr>
        <p:spPr>
          <a:xfrm>
            <a:off x="139495" y="1246373"/>
            <a:ext cx="7177114" cy="4708650"/>
          </a:xfrm>
        </p:spPr>
        <p:txBody>
          <a:bodyPr vert="horz" wrap="square" lIns="91440" tIns="45720" rIns="91440" bIns="45720" rtlCol="0" anchor="t" anchorCtr="0">
            <a:noAutofit/>
          </a:bodyPr>
          <a:lstStyle/>
          <a:p>
            <a:pPr marL="342900" indent="-342900">
              <a:lnSpc>
                <a:spcPct val="150000"/>
              </a:lnSpc>
              <a:buClr>
                <a:srgbClr val="000000"/>
              </a:buClr>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碱基对之间的氢键</a:t>
            </a:r>
          </a:p>
          <a:p>
            <a:pPr marL="342900" indent="-342900" algn="l">
              <a:lnSpc>
                <a:spcPct val="150000"/>
              </a:lnSpc>
              <a:buClr>
                <a:srgbClr val="000000"/>
              </a:buClr>
              <a:buFont typeface="Arial" panose="020B0604020202020204" pitchFamily="34" charset="0"/>
              <a:buChar char="•"/>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碱基堆集力（</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疏水作用和范德华力</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a:t>
            </a:r>
          </a:p>
          <a:p>
            <a:pPr marL="457200" lvl="1" indent="0" algn="l">
              <a:lnSpc>
                <a:spcPct val="150000"/>
              </a:lnSpc>
              <a:buClr>
                <a:srgbClr val="000000"/>
              </a:buClr>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这是碱基对之间在垂直方向上的相互作用所产生的力。碱基间相互作用的强度与相邻碱基之间环重叠的面积成正比。</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342900" lvl="1" indent="-342900">
              <a:lnSpc>
                <a:spcPct val="150000"/>
              </a:lnSpc>
              <a:spcBef>
                <a:spcPts val="1000"/>
              </a:spcBef>
              <a:buClr>
                <a:srgbClr val="000000"/>
              </a:buClr>
            </a:pPr>
            <a:r>
              <a:rPr lang="zh-CN" altLang="en-US" sz="2800" b="1" dirty="0">
                <a:latin typeface="微软雅黑" panose="020B0503020204020204" pitchFamily="34" charset="-122"/>
                <a:ea typeface="微软雅黑" panose="020B0503020204020204" pitchFamily="34" charset="-122"/>
              </a:rPr>
              <a:t>阳离子或带正电荷的化合物对磷酸基团的中和</a:t>
            </a:r>
          </a:p>
          <a:p>
            <a:pPr marL="457200" lvl="1" indent="0" algn="l">
              <a:lnSpc>
                <a:spcPct val="150000"/>
              </a:lnSpc>
              <a:buClr>
                <a:srgbClr val="000000"/>
              </a:buClr>
              <a:buNone/>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lgn="l">
              <a:lnSpc>
                <a:spcPct val="150000"/>
              </a:lnSpc>
              <a:buClr>
                <a:srgbClr val="000000"/>
              </a:buClr>
              <a:buNone/>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l">
              <a:lnSpc>
                <a:spcPct val="150000"/>
              </a:lnSpc>
              <a:buClr>
                <a:srgbClr val="000000"/>
              </a:buClr>
              <a:buNone/>
            </a:pP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7316609" y="902977"/>
            <a:ext cx="4875391" cy="5955023"/>
          </a:xfrm>
          <a:prstGeom prst="rect">
            <a:avLst/>
          </a:prstGeom>
        </p:spPr>
      </p:pic>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159045" y="0"/>
            <a:ext cx="3877985" cy="825419"/>
          </a:xfrm>
          <a:prstGeom prst="rect">
            <a:avLst/>
          </a:prstGeom>
          <a:noFill/>
        </p:spPr>
        <p:txBody>
          <a:bodyPr wrap="none" rtlCol="0" anchor="t">
            <a:spAutoFit/>
          </a:bodyPr>
          <a:lstStyle/>
          <a:p>
            <a:pPr>
              <a:lnSpc>
                <a:spcPct val="150000"/>
              </a:lnSpc>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不同类型的双螺旋</a:t>
            </a:r>
            <a:endParaRPr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7" name="图片 6">
            <a:extLst>
              <a:ext uri="{FF2B5EF4-FFF2-40B4-BE49-F238E27FC236}">
                <a16:creationId xmlns:a16="http://schemas.microsoft.com/office/drawing/2014/main" id="{6E5C61C8-5950-63D9-F390-C0B9616C1453}"/>
              </a:ext>
            </a:extLst>
          </p:cNvPr>
          <p:cNvPicPr>
            <a:picLocks noChangeAspect="1"/>
          </p:cNvPicPr>
          <p:nvPr/>
        </p:nvPicPr>
        <p:blipFill>
          <a:blip r:embed="rId2"/>
          <a:stretch>
            <a:fillRect/>
          </a:stretch>
        </p:blipFill>
        <p:spPr>
          <a:xfrm>
            <a:off x="0" y="909041"/>
            <a:ext cx="12192000" cy="5649520"/>
          </a:xfrm>
          <a:prstGeom prst="rect">
            <a:avLst/>
          </a:prstGeom>
        </p:spPr>
      </p:pic>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文本框 5781508"/>
          <p:cNvSpPr txBox="1">
            <a:spLocks noChangeArrowheads="1"/>
          </p:cNvSpPr>
          <p:nvPr/>
        </p:nvSpPr>
        <p:spPr bwMode="auto">
          <a:xfrm>
            <a:off x="189696" y="1203823"/>
            <a:ext cx="1196295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800" dirty="0">
                <a:solidFill>
                  <a:srgbClr val="FF0000"/>
                </a:solidFill>
                <a:latin typeface="微软雅黑" pitchFamily="34" charset="-122"/>
                <a:ea typeface="微软雅黑" pitchFamily="34" charset="-122"/>
                <a:cs typeface="Times New Roman" pitchFamily="18" charset="0"/>
              </a:rPr>
              <a:t>B-DNA</a:t>
            </a:r>
            <a:r>
              <a:rPr lang="zh-CN" altLang="en-US" sz="2800" dirty="0">
                <a:solidFill>
                  <a:prstClr val="black"/>
                </a:solidFill>
                <a:latin typeface="微软雅黑" pitchFamily="34" charset="-122"/>
                <a:ea typeface="微软雅黑" pitchFamily="34" charset="-122"/>
                <a:cs typeface="Times New Roman" pitchFamily="18" charset="0"/>
              </a:rPr>
              <a:t>：</a:t>
            </a:r>
            <a:r>
              <a:rPr lang="en-US" altLang="zh-CN" sz="2800" dirty="0">
                <a:solidFill>
                  <a:prstClr val="black"/>
                </a:solidFill>
                <a:latin typeface="微软雅黑" pitchFamily="34" charset="-122"/>
                <a:ea typeface="微软雅黑" pitchFamily="34" charset="-122"/>
                <a:cs typeface="Times New Roman" pitchFamily="18" charset="0"/>
              </a:rPr>
              <a:t>92%</a:t>
            </a:r>
            <a:r>
              <a:rPr lang="zh-CN" altLang="en-US" sz="2800" dirty="0">
                <a:solidFill>
                  <a:prstClr val="black"/>
                </a:solidFill>
                <a:latin typeface="微软雅黑" pitchFamily="34" charset="-122"/>
                <a:ea typeface="微软雅黑" pitchFamily="34" charset="-122"/>
                <a:cs typeface="Times New Roman" pitchFamily="18" charset="0"/>
              </a:rPr>
              <a:t>相对湿度，接近细胞内的</a:t>
            </a:r>
            <a:r>
              <a:rPr lang="en-US" altLang="zh-CN" sz="2800" dirty="0">
                <a:solidFill>
                  <a:prstClr val="black"/>
                </a:solidFill>
                <a:latin typeface="微软雅黑" pitchFamily="34" charset="-122"/>
                <a:ea typeface="微软雅黑" pitchFamily="34" charset="-122"/>
                <a:cs typeface="Times New Roman" pitchFamily="18" charset="0"/>
              </a:rPr>
              <a:t>DNA</a:t>
            </a:r>
            <a:r>
              <a:rPr lang="zh-CN" altLang="en-US" sz="2800" dirty="0">
                <a:solidFill>
                  <a:prstClr val="black"/>
                </a:solidFill>
                <a:latin typeface="微软雅黑" pitchFamily="34" charset="-122"/>
                <a:ea typeface="微软雅黑" pitchFamily="34" charset="-122"/>
                <a:cs typeface="Times New Roman" pitchFamily="18" charset="0"/>
              </a:rPr>
              <a:t>构象，与</a:t>
            </a:r>
            <a:r>
              <a:rPr lang="en-US" altLang="zh-CN" sz="2800" dirty="0">
                <a:solidFill>
                  <a:prstClr val="black"/>
                </a:solidFill>
                <a:latin typeface="微软雅黑" pitchFamily="34" charset="-122"/>
                <a:ea typeface="微软雅黑" pitchFamily="34" charset="-122"/>
                <a:cs typeface="Times New Roman" pitchFamily="18" charset="0"/>
              </a:rPr>
              <a:t>Watson </a:t>
            </a:r>
            <a:r>
              <a:rPr lang="zh-CN" altLang="en-US" sz="2800" dirty="0">
                <a:solidFill>
                  <a:prstClr val="black"/>
                </a:solidFill>
                <a:latin typeface="微软雅黑" pitchFamily="34" charset="-122"/>
                <a:ea typeface="微软雅黑" pitchFamily="34" charset="-122"/>
                <a:cs typeface="Times New Roman" pitchFamily="18" charset="0"/>
              </a:rPr>
              <a:t>和</a:t>
            </a:r>
            <a:r>
              <a:rPr lang="en-US" altLang="zh-CN" sz="2800" dirty="0">
                <a:solidFill>
                  <a:prstClr val="black"/>
                </a:solidFill>
                <a:latin typeface="微软雅黑" pitchFamily="34" charset="-122"/>
                <a:ea typeface="微软雅黑" pitchFamily="34" charset="-122"/>
                <a:cs typeface="Times New Roman" pitchFamily="18" charset="0"/>
              </a:rPr>
              <a:t>Crick</a:t>
            </a:r>
            <a:r>
              <a:rPr lang="zh-CN" altLang="en-US" sz="2800" dirty="0">
                <a:solidFill>
                  <a:prstClr val="black"/>
                </a:solidFill>
                <a:latin typeface="微软雅黑" pitchFamily="34" charset="-122"/>
                <a:ea typeface="微软雅黑" pitchFamily="34" charset="-122"/>
                <a:cs typeface="Times New Roman" pitchFamily="18" charset="0"/>
              </a:rPr>
              <a:t>提出的模型相似。</a:t>
            </a:r>
          </a:p>
        </p:txBody>
      </p:sp>
      <p:sp>
        <p:nvSpPr>
          <p:cNvPr id="76805" name="文本框 5781509"/>
          <p:cNvSpPr txBox="1">
            <a:spLocks noChangeArrowheads="1"/>
          </p:cNvSpPr>
          <p:nvPr/>
        </p:nvSpPr>
        <p:spPr bwMode="auto">
          <a:xfrm>
            <a:off x="189692" y="2586487"/>
            <a:ext cx="11639631"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800" dirty="0">
                <a:solidFill>
                  <a:srgbClr val="FF0000"/>
                </a:solidFill>
                <a:latin typeface="微软雅黑" pitchFamily="34" charset="-122"/>
                <a:ea typeface="微软雅黑" pitchFamily="34" charset="-122"/>
                <a:cs typeface="Times New Roman" pitchFamily="18" charset="0"/>
              </a:rPr>
              <a:t>A-DNA</a:t>
            </a:r>
            <a:r>
              <a:rPr lang="zh-CN" altLang="en-US" sz="2800" dirty="0">
                <a:solidFill>
                  <a:prstClr val="black"/>
                </a:solidFill>
                <a:latin typeface="微软雅黑" pitchFamily="34" charset="-122"/>
                <a:ea typeface="微软雅黑" pitchFamily="34" charset="-122"/>
                <a:cs typeface="Times New Roman" pitchFamily="18" charset="0"/>
              </a:rPr>
              <a:t>：</a:t>
            </a:r>
            <a:r>
              <a:rPr lang="en-US" altLang="zh-CN" sz="2800" dirty="0">
                <a:solidFill>
                  <a:prstClr val="black"/>
                </a:solidFill>
                <a:latin typeface="微软雅黑" pitchFamily="34" charset="-122"/>
                <a:ea typeface="微软雅黑" pitchFamily="34" charset="-122"/>
                <a:cs typeface="Times New Roman" pitchFamily="18" charset="0"/>
              </a:rPr>
              <a:t>75%</a:t>
            </a:r>
            <a:r>
              <a:rPr lang="zh-CN" altLang="en-US" sz="2800" dirty="0">
                <a:solidFill>
                  <a:prstClr val="black"/>
                </a:solidFill>
                <a:latin typeface="微软雅黑" pitchFamily="34" charset="-122"/>
                <a:ea typeface="微软雅黑" pitchFamily="34" charset="-122"/>
                <a:cs typeface="Times New Roman" pitchFamily="18" charset="0"/>
              </a:rPr>
              <a:t>相对湿度，与溶液中</a:t>
            </a:r>
            <a:r>
              <a:rPr lang="en-US" altLang="zh-CN" sz="2800" b="1" dirty="0">
                <a:solidFill>
                  <a:prstClr val="black"/>
                </a:solidFill>
                <a:latin typeface="微软雅黑" pitchFamily="34" charset="-122"/>
                <a:ea typeface="微软雅黑" pitchFamily="34" charset="-122"/>
                <a:cs typeface="Times New Roman" pitchFamily="18" charset="0"/>
              </a:rPr>
              <a:t>DNA-RNA</a:t>
            </a:r>
            <a:r>
              <a:rPr lang="zh-CN" altLang="en-US" sz="2800" b="1" dirty="0">
                <a:solidFill>
                  <a:prstClr val="black"/>
                </a:solidFill>
                <a:latin typeface="微软雅黑" pitchFamily="34" charset="-122"/>
                <a:ea typeface="微软雅黑" pitchFamily="34" charset="-122"/>
                <a:cs typeface="Times New Roman" pitchFamily="18" charset="0"/>
              </a:rPr>
              <a:t>杂交分子</a:t>
            </a:r>
            <a:r>
              <a:rPr lang="zh-CN" altLang="en-US" sz="2800" dirty="0">
                <a:solidFill>
                  <a:prstClr val="black"/>
                </a:solidFill>
                <a:latin typeface="微软雅黑" pitchFamily="34" charset="-122"/>
                <a:ea typeface="微软雅黑" pitchFamily="34" charset="-122"/>
                <a:cs typeface="Times New Roman" pitchFamily="18" charset="0"/>
              </a:rPr>
              <a:t>的构象相似，推测转录时发生</a:t>
            </a:r>
            <a:r>
              <a:rPr lang="en-US" altLang="zh-CN" sz="2800" dirty="0">
                <a:solidFill>
                  <a:prstClr val="black"/>
                </a:solidFill>
                <a:latin typeface="微软雅黑" pitchFamily="34" charset="-122"/>
                <a:ea typeface="微软雅黑" pitchFamily="34" charset="-122"/>
                <a:cs typeface="Times New Roman" pitchFamily="18" charset="0"/>
              </a:rPr>
              <a:t>B→A</a:t>
            </a:r>
            <a:r>
              <a:rPr lang="zh-CN" altLang="en-US" sz="2800" dirty="0">
                <a:solidFill>
                  <a:prstClr val="black"/>
                </a:solidFill>
                <a:latin typeface="微软雅黑" pitchFamily="34" charset="-122"/>
                <a:ea typeface="微软雅黑" pitchFamily="34" charset="-122"/>
                <a:cs typeface="Times New Roman" pitchFamily="18" charset="0"/>
              </a:rPr>
              <a:t>。其碱基平面倾斜</a:t>
            </a:r>
            <a:r>
              <a:rPr lang="en-US" altLang="zh-CN" sz="2800" dirty="0">
                <a:solidFill>
                  <a:prstClr val="black"/>
                </a:solidFill>
                <a:latin typeface="微软雅黑" pitchFamily="34" charset="-122"/>
                <a:ea typeface="微软雅黑" pitchFamily="34" charset="-122"/>
                <a:cs typeface="Times New Roman" pitchFamily="18" charset="0"/>
              </a:rPr>
              <a:t>20°</a:t>
            </a:r>
            <a:r>
              <a:rPr lang="zh-CN" altLang="en-US" sz="2800" dirty="0">
                <a:solidFill>
                  <a:prstClr val="black"/>
                </a:solidFill>
                <a:latin typeface="微软雅黑" pitchFamily="34" charset="-122"/>
                <a:ea typeface="微软雅黑" pitchFamily="34" charset="-122"/>
                <a:cs typeface="Times New Roman" pitchFamily="18" charset="0"/>
              </a:rPr>
              <a:t>，螺距与每一转碱基对数目都有变化。</a:t>
            </a:r>
          </a:p>
        </p:txBody>
      </p:sp>
      <p:sp>
        <p:nvSpPr>
          <p:cNvPr id="76806" name="文本框 5781510"/>
          <p:cNvSpPr txBox="1">
            <a:spLocks noChangeArrowheads="1"/>
          </p:cNvSpPr>
          <p:nvPr/>
        </p:nvSpPr>
        <p:spPr bwMode="auto">
          <a:xfrm>
            <a:off x="189696" y="4228407"/>
            <a:ext cx="11639631"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800" dirty="0">
                <a:solidFill>
                  <a:srgbClr val="FF0000"/>
                </a:solidFill>
                <a:latin typeface="微软雅黑" pitchFamily="34" charset="-122"/>
                <a:ea typeface="微软雅黑" pitchFamily="34" charset="-122"/>
                <a:cs typeface="Times New Roman" pitchFamily="18" charset="0"/>
              </a:rPr>
              <a:t>Z-DNA</a:t>
            </a:r>
            <a:r>
              <a:rPr lang="zh-CN" altLang="en-US" sz="2800" dirty="0">
                <a:solidFill>
                  <a:prstClr val="black"/>
                </a:solidFill>
                <a:latin typeface="微软雅黑" pitchFamily="34" charset="-122"/>
                <a:ea typeface="微软雅黑" pitchFamily="34" charset="-122"/>
                <a:cs typeface="Times New Roman" pitchFamily="18" charset="0"/>
              </a:rPr>
              <a:t>：主链呈锯齿型</a:t>
            </a:r>
            <a:r>
              <a:rPr lang="zh-CN" altLang="en-US" sz="2800" b="1" dirty="0">
                <a:solidFill>
                  <a:prstClr val="black"/>
                </a:solidFill>
                <a:latin typeface="微软雅黑" pitchFamily="34" charset="-122"/>
                <a:ea typeface="微软雅黑" pitchFamily="34" charset="-122"/>
                <a:cs typeface="Times New Roman" pitchFamily="18" charset="0"/>
              </a:rPr>
              <a:t>左向盘绕</a:t>
            </a:r>
            <a:r>
              <a:rPr lang="zh-CN" altLang="en-US" sz="2800" dirty="0">
                <a:solidFill>
                  <a:prstClr val="black"/>
                </a:solidFill>
                <a:latin typeface="微软雅黑" pitchFamily="34" charset="-122"/>
                <a:ea typeface="微软雅黑" pitchFamily="34" charset="-122"/>
                <a:cs typeface="Times New Roman" pitchFamily="18" charset="0"/>
              </a:rPr>
              <a:t>，直径约</a:t>
            </a:r>
            <a:r>
              <a:rPr lang="en-US" altLang="zh-CN" sz="2800" dirty="0">
                <a:solidFill>
                  <a:prstClr val="black"/>
                </a:solidFill>
                <a:latin typeface="微软雅黑" pitchFamily="34" charset="-122"/>
                <a:ea typeface="微软雅黑" pitchFamily="34" charset="-122"/>
                <a:cs typeface="Times New Roman" pitchFamily="18" charset="0"/>
              </a:rPr>
              <a:t>1.8nm</a:t>
            </a:r>
            <a:r>
              <a:rPr lang="zh-CN" altLang="en-US" sz="2800" dirty="0">
                <a:solidFill>
                  <a:prstClr val="black"/>
                </a:solidFill>
                <a:latin typeface="微软雅黑" pitchFamily="34" charset="-122"/>
                <a:ea typeface="微软雅黑" pitchFamily="34" charset="-122"/>
                <a:cs typeface="Times New Roman" pitchFamily="18" charset="0"/>
              </a:rPr>
              <a:t>，螺距</a:t>
            </a:r>
            <a:r>
              <a:rPr lang="en-US" altLang="zh-CN" sz="2800" dirty="0">
                <a:solidFill>
                  <a:prstClr val="black"/>
                </a:solidFill>
                <a:latin typeface="微软雅黑" pitchFamily="34" charset="-122"/>
                <a:ea typeface="微软雅黑" pitchFamily="34" charset="-122"/>
                <a:cs typeface="Times New Roman" pitchFamily="18" charset="0"/>
              </a:rPr>
              <a:t>4.5nm</a:t>
            </a:r>
            <a:r>
              <a:rPr lang="zh-CN" altLang="en-US" sz="2800" dirty="0">
                <a:solidFill>
                  <a:prstClr val="black"/>
                </a:solidFill>
                <a:latin typeface="微软雅黑" pitchFamily="34" charset="-122"/>
                <a:ea typeface="微软雅黑" pitchFamily="34" charset="-122"/>
                <a:cs typeface="Times New Roman" pitchFamily="18" charset="0"/>
              </a:rPr>
              <a:t>，每一转含</a:t>
            </a:r>
            <a:r>
              <a:rPr lang="en-US" altLang="zh-CN" sz="2800" dirty="0">
                <a:solidFill>
                  <a:prstClr val="black"/>
                </a:solidFill>
                <a:latin typeface="微软雅黑" pitchFamily="34" charset="-122"/>
                <a:ea typeface="微软雅黑" pitchFamily="34" charset="-122"/>
                <a:cs typeface="Times New Roman" pitchFamily="18" charset="0"/>
              </a:rPr>
              <a:t>12</a:t>
            </a:r>
            <a:r>
              <a:rPr lang="zh-CN" altLang="en-US" sz="2800" dirty="0">
                <a:solidFill>
                  <a:prstClr val="black"/>
                </a:solidFill>
                <a:latin typeface="微软雅黑" pitchFamily="34" charset="-122"/>
                <a:ea typeface="微软雅黑" pitchFamily="34" charset="-122"/>
                <a:cs typeface="Times New Roman" pitchFamily="18" charset="0"/>
              </a:rPr>
              <a:t>个</a:t>
            </a:r>
            <a:r>
              <a:rPr lang="en-US" altLang="zh-CN" sz="2800" dirty="0" err="1">
                <a:solidFill>
                  <a:prstClr val="black"/>
                </a:solidFill>
                <a:latin typeface="微软雅黑" pitchFamily="34" charset="-122"/>
                <a:ea typeface="微软雅黑" pitchFamily="34" charset="-122"/>
                <a:cs typeface="Times New Roman" pitchFamily="18" charset="0"/>
              </a:rPr>
              <a:t>bp</a:t>
            </a:r>
            <a:r>
              <a:rPr lang="zh-CN" altLang="en-US" sz="2800" dirty="0">
                <a:solidFill>
                  <a:prstClr val="black"/>
                </a:solidFill>
                <a:latin typeface="微软雅黑" pitchFamily="34" charset="-122"/>
                <a:ea typeface="微软雅黑" pitchFamily="34" charset="-122"/>
                <a:cs typeface="Times New Roman" pitchFamily="18" charset="0"/>
              </a:rPr>
              <a:t>，</a:t>
            </a:r>
            <a:r>
              <a:rPr lang="zh-CN" altLang="en-US" sz="2800" b="1" dirty="0">
                <a:solidFill>
                  <a:prstClr val="black"/>
                </a:solidFill>
                <a:latin typeface="微软雅黑" pitchFamily="34" charset="-122"/>
                <a:ea typeface="微软雅黑" pitchFamily="34" charset="-122"/>
                <a:cs typeface="Times New Roman" pitchFamily="18" charset="0"/>
              </a:rPr>
              <a:t>只有小沟</a:t>
            </a:r>
            <a:r>
              <a:rPr lang="zh-CN" altLang="en-US" sz="2800" dirty="0">
                <a:solidFill>
                  <a:prstClr val="black"/>
                </a:solidFill>
                <a:latin typeface="微软雅黑" pitchFamily="34" charset="-122"/>
                <a:ea typeface="微软雅黑" pitchFamily="34" charset="-122"/>
                <a:cs typeface="Times New Roman" pitchFamily="18" charset="0"/>
              </a:rPr>
              <a:t>。</a:t>
            </a:r>
            <a:r>
              <a:rPr lang="en-US" altLang="zh-CN" sz="2800" dirty="0">
                <a:solidFill>
                  <a:prstClr val="black"/>
                </a:solidFill>
                <a:latin typeface="微软雅黑" pitchFamily="34" charset="-122"/>
                <a:ea typeface="微软雅黑" pitchFamily="34" charset="-122"/>
                <a:cs typeface="Times New Roman" pitchFamily="18" charset="0"/>
              </a:rPr>
              <a:t>B-DNA</a:t>
            </a:r>
            <a:r>
              <a:rPr lang="zh-CN" altLang="en-US" sz="2800" dirty="0">
                <a:solidFill>
                  <a:prstClr val="black"/>
                </a:solidFill>
                <a:latin typeface="微软雅黑" pitchFamily="34" charset="-122"/>
                <a:ea typeface="微软雅黑" pitchFamily="34" charset="-122"/>
                <a:cs typeface="Times New Roman" pitchFamily="18" charset="0"/>
              </a:rPr>
              <a:t>与</a:t>
            </a:r>
            <a:r>
              <a:rPr lang="en-US" altLang="zh-CN" sz="2800" dirty="0">
                <a:solidFill>
                  <a:prstClr val="black"/>
                </a:solidFill>
                <a:latin typeface="微软雅黑" pitchFamily="34" charset="-122"/>
                <a:ea typeface="微软雅黑" pitchFamily="34" charset="-122"/>
                <a:cs typeface="Times New Roman" pitchFamily="18" charset="0"/>
              </a:rPr>
              <a:t>Z-DNA</a:t>
            </a:r>
            <a:r>
              <a:rPr lang="zh-CN" altLang="en-US" sz="2800" dirty="0">
                <a:solidFill>
                  <a:prstClr val="black"/>
                </a:solidFill>
                <a:latin typeface="微软雅黑" pitchFamily="34" charset="-122"/>
                <a:ea typeface="微软雅黑" pitchFamily="34" charset="-122"/>
                <a:cs typeface="Times New Roman" pitchFamily="18" charset="0"/>
              </a:rPr>
              <a:t>的相互转换可能和基因的调控有关。</a:t>
            </a:r>
          </a:p>
        </p:txBody>
      </p:sp>
      <p:sp>
        <p:nvSpPr>
          <p:cNvPr id="8" name="文本框 2"/>
          <p:cNvSpPr txBox="1"/>
          <p:nvPr/>
        </p:nvSpPr>
        <p:spPr>
          <a:xfrm>
            <a:off x="4159045" y="0"/>
            <a:ext cx="3877985" cy="825419"/>
          </a:xfrm>
          <a:prstGeom prst="rect">
            <a:avLst/>
          </a:prstGeom>
          <a:noFill/>
        </p:spPr>
        <p:txBody>
          <a:bodyPr wrap="none" rtlCol="0" anchor="t">
            <a:spAutoFit/>
          </a:bodyPr>
          <a:lstStyle/>
          <a:p>
            <a:pPr>
              <a:lnSpc>
                <a:spcPct val="150000"/>
              </a:lnSpc>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不同类型的双螺旋</a:t>
            </a:r>
            <a:endParaRPr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3124184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5780483"/>
          <p:cNvSpPr txBox="1">
            <a:spLocks noChangeArrowheads="1"/>
          </p:cNvSpPr>
          <p:nvPr/>
        </p:nvSpPr>
        <p:spPr bwMode="auto">
          <a:xfrm>
            <a:off x="276507" y="1677364"/>
            <a:ext cx="1169171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spcBef>
                <a:spcPct val="50000"/>
              </a:spcBef>
              <a:defRPr sz="2800">
                <a:solidFill>
                  <a:srgbClr val="FF0000"/>
                </a:solidFill>
                <a:latin typeface="微软雅黑" pitchFamily="34" charset="-122"/>
                <a:ea typeface="微软雅黑" pitchFamily="34" charset="-122"/>
                <a:cs typeface="Times New Roman" pitchFamily="18" charset="0"/>
              </a:defRPr>
            </a:lvl1pPr>
          </a:lstStyle>
          <a:p>
            <a:r>
              <a:rPr lang="en-US" altLang="zh-CN" dirty="0"/>
              <a:t>C-DNA</a:t>
            </a:r>
            <a:r>
              <a:rPr lang="zh-CN" altLang="en-US" dirty="0">
                <a:solidFill>
                  <a:schemeClr val="tx1"/>
                </a:solidFill>
              </a:rPr>
              <a:t>：</a:t>
            </a:r>
            <a:r>
              <a:rPr lang="en-US" altLang="zh-CN" dirty="0">
                <a:solidFill>
                  <a:schemeClr val="tx1"/>
                </a:solidFill>
              </a:rPr>
              <a:t>44~46%</a:t>
            </a:r>
            <a:r>
              <a:rPr lang="zh-CN" altLang="en-US" dirty="0">
                <a:solidFill>
                  <a:schemeClr val="tx1"/>
                </a:solidFill>
              </a:rPr>
              <a:t>相对湿度，螺距</a:t>
            </a:r>
            <a:r>
              <a:rPr lang="en-US" altLang="zh-CN" dirty="0">
                <a:solidFill>
                  <a:schemeClr val="tx1"/>
                </a:solidFill>
              </a:rPr>
              <a:t>3.09nm</a:t>
            </a:r>
            <a:r>
              <a:rPr lang="zh-CN" altLang="en-US" dirty="0">
                <a:solidFill>
                  <a:schemeClr val="tx1"/>
                </a:solidFill>
              </a:rPr>
              <a:t>，每转螺旋</a:t>
            </a:r>
            <a:r>
              <a:rPr lang="en-US" altLang="zh-CN" dirty="0">
                <a:solidFill>
                  <a:schemeClr val="tx1"/>
                </a:solidFill>
              </a:rPr>
              <a:t>9.33</a:t>
            </a:r>
            <a:r>
              <a:rPr lang="zh-CN" altLang="en-US" dirty="0">
                <a:solidFill>
                  <a:schemeClr val="tx1"/>
                </a:solidFill>
              </a:rPr>
              <a:t>个碱基对，碱基对倾斜</a:t>
            </a:r>
            <a:r>
              <a:rPr lang="en-US" altLang="zh-CN" dirty="0">
                <a:solidFill>
                  <a:schemeClr val="tx1"/>
                </a:solidFill>
              </a:rPr>
              <a:t>6°</a:t>
            </a:r>
            <a:r>
              <a:rPr lang="zh-CN" altLang="en-US" dirty="0">
                <a:solidFill>
                  <a:schemeClr val="tx1"/>
                </a:solidFill>
              </a:rPr>
              <a:t>。可能是特定条件下</a:t>
            </a:r>
            <a:r>
              <a:rPr lang="en-US" altLang="zh-CN" dirty="0">
                <a:solidFill>
                  <a:schemeClr val="tx1"/>
                </a:solidFill>
              </a:rPr>
              <a:t>B-DNA</a:t>
            </a:r>
            <a:r>
              <a:rPr lang="zh-CN" altLang="en-US" dirty="0">
                <a:solidFill>
                  <a:schemeClr val="tx1"/>
                </a:solidFill>
              </a:rPr>
              <a:t>和</a:t>
            </a:r>
            <a:r>
              <a:rPr lang="en-US" altLang="zh-CN" dirty="0">
                <a:solidFill>
                  <a:schemeClr val="tx1"/>
                </a:solidFill>
              </a:rPr>
              <a:t>A-DNA</a:t>
            </a:r>
            <a:r>
              <a:rPr lang="zh-CN" altLang="en-US" dirty="0">
                <a:solidFill>
                  <a:schemeClr val="tx1"/>
                </a:solidFill>
              </a:rPr>
              <a:t>的转化中间物。</a:t>
            </a:r>
          </a:p>
        </p:txBody>
      </p:sp>
      <p:sp>
        <p:nvSpPr>
          <p:cNvPr id="3" name="文本框 5780484"/>
          <p:cNvSpPr txBox="1">
            <a:spLocks noChangeArrowheads="1"/>
          </p:cNvSpPr>
          <p:nvPr/>
        </p:nvSpPr>
        <p:spPr bwMode="auto">
          <a:xfrm>
            <a:off x="276506" y="3209082"/>
            <a:ext cx="1179897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spcBef>
                <a:spcPct val="50000"/>
              </a:spcBef>
              <a:defRPr sz="2800">
                <a:solidFill>
                  <a:srgbClr val="FF0000"/>
                </a:solidFill>
                <a:latin typeface="微软雅黑" pitchFamily="34" charset="-122"/>
                <a:ea typeface="微软雅黑" pitchFamily="34" charset="-122"/>
                <a:cs typeface="Times New Roman" pitchFamily="18" charset="0"/>
              </a:defRPr>
            </a:lvl1pPr>
          </a:lstStyle>
          <a:p>
            <a:r>
              <a:rPr lang="en-US" altLang="zh-CN" dirty="0"/>
              <a:t>D-DNA</a:t>
            </a:r>
            <a:r>
              <a:rPr lang="zh-CN" altLang="en-US" dirty="0">
                <a:solidFill>
                  <a:schemeClr val="tx1"/>
                </a:solidFill>
              </a:rPr>
              <a:t>：</a:t>
            </a:r>
            <a:r>
              <a:rPr lang="en-US" altLang="zh-CN" dirty="0">
                <a:solidFill>
                  <a:schemeClr val="tx1"/>
                </a:solidFill>
              </a:rPr>
              <a:t>60%</a:t>
            </a:r>
            <a:r>
              <a:rPr lang="zh-CN" altLang="en-US" dirty="0">
                <a:solidFill>
                  <a:schemeClr val="tx1"/>
                </a:solidFill>
              </a:rPr>
              <a:t>相对湿度，</a:t>
            </a:r>
            <a:r>
              <a:rPr lang="en-US" altLang="zh-CN" dirty="0">
                <a:solidFill>
                  <a:schemeClr val="tx1"/>
                </a:solidFill>
              </a:rPr>
              <a:t>DNA</a:t>
            </a:r>
            <a:r>
              <a:rPr lang="zh-CN" altLang="en-US" dirty="0">
                <a:solidFill>
                  <a:schemeClr val="tx1"/>
                </a:solidFill>
              </a:rPr>
              <a:t>中</a:t>
            </a:r>
            <a:r>
              <a:rPr lang="en-US" altLang="zh-CN" dirty="0">
                <a:solidFill>
                  <a:schemeClr val="tx1"/>
                </a:solidFill>
              </a:rPr>
              <a:t>A</a:t>
            </a:r>
            <a:r>
              <a:rPr lang="zh-CN" altLang="en-US" dirty="0">
                <a:solidFill>
                  <a:schemeClr val="tx1"/>
                </a:solidFill>
              </a:rPr>
              <a:t>、</a:t>
            </a:r>
            <a:r>
              <a:rPr lang="en-US" altLang="zh-CN" dirty="0">
                <a:solidFill>
                  <a:schemeClr val="tx1"/>
                </a:solidFill>
              </a:rPr>
              <a:t>T</a:t>
            </a:r>
            <a:r>
              <a:rPr lang="zh-CN" altLang="en-US" dirty="0">
                <a:solidFill>
                  <a:schemeClr val="tx1"/>
                </a:solidFill>
              </a:rPr>
              <a:t>序列交替的区域。每个螺旋含</a:t>
            </a:r>
            <a:r>
              <a:rPr lang="en-US" altLang="zh-CN" dirty="0">
                <a:solidFill>
                  <a:schemeClr val="tx1"/>
                </a:solidFill>
              </a:rPr>
              <a:t>8</a:t>
            </a:r>
            <a:r>
              <a:rPr lang="zh-CN" altLang="en-US" dirty="0">
                <a:solidFill>
                  <a:schemeClr val="tx1"/>
                </a:solidFill>
              </a:rPr>
              <a:t>个</a:t>
            </a:r>
            <a:r>
              <a:rPr lang="en-US" altLang="zh-CN" dirty="0" err="1">
                <a:solidFill>
                  <a:schemeClr val="tx1"/>
                </a:solidFill>
              </a:rPr>
              <a:t>bp</a:t>
            </a:r>
            <a:r>
              <a:rPr lang="zh-CN" altLang="en-US" dirty="0">
                <a:solidFill>
                  <a:schemeClr val="tx1"/>
                </a:solidFill>
              </a:rPr>
              <a:t>，螺距</a:t>
            </a:r>
            <a:r>
              <a:rPr lang="en-US" altLang="zh-CN" dirty="0">
                <a:solidFill>
                  <a:schemeClr val="tx1"/>
                </a:solidFill>
              </a:rPr>
              <a:t>2.43nm</a:t>
            </a:r>
            <a:r>
              <a:rPr lang="zh-CN" altLang="en-US" dirty="0">
                <a:solidFill>
                  <a:schemeClr val="tx1"/>
                </a:solidFill>
              </a:rPr>
              <a:t>，碱基平面倾斜</a:t>
            </a:r>
            <a:r>
              <a:rPr lang="en-US" altLang="zh-CN" dirty="0">
                <a:solidFill>
                  <a:schemeClr val="tx1"/>
                </a:solidFill>
              </a:rPr>
              <a:t>16°</a:t>
            </a:r>
            <a:r>
              <a:rPr lang="zh-CN" altLang="en-US" dirty="0">
                <a:solidFill>
                  <a:schemeClr val="tx1"/>
                </a:solidFill>
              </a:rPr>
              <a:t>。</a:t>
            </a:r>
          </a:p>
        </p:txBody>
      </p:sp>
      <p:sp>
        <p:nvSpPr>
          <p:cNvPr id="4" name="文本框 2"/>
          <p:cNvSpPr txBox="1"/>
          <p:nvPr/>
        </p:nvSpPr>
        <p:spPr>
          <a:xfrm>
            <a:off x="4159045" y="0"/>
            <a:ext cx="3877985" cy="825419"/>
          </a:xfrm>
          <a:prstGeom prst="rect">
            <a:avLst/>
          </a:prstGeom>
          <a:noFill/>
        </p:spPr>
        <p:txBody>
          <a:bodyPr wrap="none" rtlCol="0" anchor="t">
            <a:spAutoFit/>
          </a:bodyPr>
          <a:lstStyle/>
          <a:p>
            <a:pPr>
              <a:lnSpc>
                <a:spcPct val="150000"/>
              </a:lnSpc>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不同类型的双螺旋</a:t>
            </a:r>
            <a:endParaRPr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1397530299"/>
      </p:ext>
    </p:extLst>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389101" y="-71831"/>
            <a:ext cx="7649851" cy="906915"/>
          </a:xfrm>
          <a:prstGeom prst="rect">
            <a:avLst/>
          </a:prstGeom>
          <a:noFill/>
        </p:spPr>
        <p:txBody>
          <a:bodyPr wrap="none" rtlCol="0" anchor="t">
            <a:spAutoFit/>
          </a:bodyPr>
          <a:lstStyle/>
          <a:p>
            <a:pPr algn="l">
              <a:lnSpc>
                <a:spcPct val="150000"/>
              </a:lnSpc>
              <a:buClrTx/>
              <a:buSzTx/>
              <a:buFont typeface="Arial" panose="020B0604020202020204" pitchFamily="34" charset="0"/>
              <a:buNone/>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三、</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的三级结构</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超螺旋</a:t>
            </a:r>
          </a:p>
        </p:txBody>
      </p:sp>
      <p:sp>
        <p:nvSpPr>
          <p:cNvPr id="46082" name="内容占位符 2"/>
          <p:cNvSpPr>
            <a:spLocks noGrp="1"/>
          </p:cNvSpPr>
          <p:nvPr>
            <p:ph type="subTitle" idx="4294967295"/>
          </p:nvPr>
        </p:nvSpPr>
        <p:spPr>
          <a:xfrm>
            <a:off x="0" y="855055"/>
            <a:ext cx="12192000" cy="3027134"/>
          </a:xfrm>
        </p:spPr>
        <p:txBody>
          <a:bodyPr vert="horz" wrap="square" lIns="91440" tIns="45720" rIns="91440" bIns="45720" rtlCol="0" anchor="t" anchorCtr="0">
            <a:noAutofit/>
          </a:bodyPr>
          <a:lstStyle/>
          <a:p>
            <a:pPr marL="285750" indent="-285750" algn="l">
              <a:lnSpc>
                <a:spcPct val="130000"/>
              </a:lnSpc>
              <a:buClr>
                <a:srgbClr val="000000"/>
              </a:buClr>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如果通过某种手段使得</a:t>
            </a:r>
            <a:r>
              <a:rPr lang="en-US" altLang="zh-CN" sz="2600" b="1"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双螺旋每一圈的碱基对数目多于或少于</a:t>
            </a:r>
            <a:r>
              <a:rPr lang="en-US" altLang="zh-CN" sz="2600" b="1" dirty="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对</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，将导致</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双螺旋缠绕过多或缠绕不足；如果这时的</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两端被固定或者</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本来是共价闭环的，则</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会因张力无法释放而自发地形成超螺旋结构。</a:t>
            </a:r>
            <a:endParaRPr lang="en-US" altLang="zh-CN" sz="26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130000"/>
              </a:lnSpc>
              <a:buClr>
                <a:srgbClr val="000000"/>
              </a:buClr>
              <a:buFont typeface="Arial" panose="020B0604020202020204" pitchFamily="34" charset="0"/>
              <a:buChar char="•"/>
            </a:pP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超螺旋分为正超螺旋和负超螺旋，其中正超螺旋为左手超螺旋，由</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双螺旋</a:t>
            </a:r>
            <a:r>
              <a:rPr lang="zh-CN" altLang="en-US" sz="2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过度缠绕</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引起，负超螺旋为右手超螺旋，由</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双螺旋</a:t>
            </a:r>
            <a:r>
              <a:rPr lang="zh-CN" altLang="en-US" sz="2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缠绕不足</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引起。</a:t>
            </a:r>
          </a:p>
        </p:txBody>
      </p:sp>
      <p:pic>
        <p:nvPicPr>
          <p:cNvPr id="46083" name="Picture 9" descr="6-17"/>
          <p:cNvPicPr>
            <a:picLocks noChangeAspect="1"/>
          </p:cNvPicPr>
          <p:nvPr/>
        </p:nvPicPr>
        <p:blipFill>
          <a:blip r:embed="rId2"/>
          <a:stretch>
            <a:fillRect/>
          </a:stretch>
        </p:blipFill>
        <p:spPr>
          <a:xfrm>
            <a:off x="5795395" y="3707249"/>
            <a:ext cx="5257615" cy="3189513"/>
          </a:xfrm>
          <a:prstGeom prst="rect">
            <a:avLst/>
          </a:prstGeom>
          <a:noFill/>
          <a:ln w="9525">
            <a:noFill/>
          </a:ln>
        </p:spPr>
      </p:pic>
      <p:pic>
        <p:nvPicPr>
          <p:cNvPr id="2" name="图片 1"/>
          <p:cNvPicPr>
            <a:picLocks noChangeAspect="1"/>
          </p:cNvPicPr>
          <p:nvPr/>
        </p:nvPicPr>
        <p:blipFill>
          <a:blip r:embed="rId3"/>
          <a:srcRect l="6252" t="-7386" r="55664" b="43411"/>
          <a:stretch>
            <a:fillRect/>
          </a:stretch>
        </p:blipFill>
        <p:spPr>
          <a:xfrm>
            <a:off x="1138990" y="3882189"/>
            <a:ext cx="4425380" cy="2603526"/>
          </a:xfrm>
          <a:prstGeom prst="rect">
            <a:avLst/>
          </a:prstGeom>
        </p:spPr>
      </p:pic>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8B9E176C-3D7B-F31F-E626-4F8392CF44BC}"/>
              </a:ext>
            </a:extLst>
          </p:cNvPr>
          <p:cNvPicPr>
            <a:picLocks noChangeAspect="1"/>
          </p:cNvPicPr>
          <p:nvPr/>
        </p:nvPicPr>
        <p:blipFill>
          <a:blip r:embed="rId3"/>
          <a:stretch>
            <a:fillRect/>
          </a:stretch>
        </p:blipFill>
        <p:spPr>
          <a:xfrm>
            <a:off x="935454" y="934245"/>
            <a:ext cx="9540039" cy="5607995"/>
          </a:xfrm>
          <a:prstGeom prst="rect">
            <a:avLst/>
          </a:prstGeom>
        </p:spPr>
      </p:pic>
      <p:sp>
        <p:nvSpPr>
          <p:cNvPr id="19" name="文本框 18">
            <a:extLst>
              <a:ext uri="{FF2B5EF4-FFF2-40B4-BE49-F238E27FC236}">
                <a16:creationId xmlns:a16="http://schemas.microsoft.com/office/drawing/2014/main" id="{A9087E50-8520-440D-B3BA-276075D9CEC8}"/>
              </a:ext>
            </a:extLst>
          </p:cNvPr>
          <p:cNvSpPr txBox="1"/>
          <p:nvPr/>
        </p:nvSpPr>
        <p:spPr>
          <a:xfrm>
            <a:off x="2581607" y="-64168"/>
            <a:ext cx="3775393" cy="906915"/>
          </a:xfrm>
          <a:prstGeom prst="rect">
            <a:avLst/>
          </a:prstGeom>
          <a:noFill/>
        </p:spPr>
        <p:txBody>
          <a:bodyPr wrap="none" rtlCol="0" anchor="t">
            <a:spAutoFit/>
          </a:bodyPr>
          <a:lstStyle/>
          <a:p>
            <a:pPr algn="l">
              <a:lnSpc>
                <a:spcPct val="150000"/>
              </a:lnSpc>
              <a:buClrTx/>
              <a:buSzTx/>
              <a:buFont typeface="Arial" panose="020B0604020202020204" pitchFamily="34" charset="0"/>
              <a:buNone/>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几个拓扑学名词</a:t>
            </a:r>
          </a:p>
        </p:txBody>
      </p:sp>
    </p:spTree>
    <p:extLst>
      <p:ext uri="{BB962C8B-B14F-4D97-AF65-F5344CB8AC3E}">
        <p14:creationId xmlns:p14="http://schemas.microsoft.com/office/powerpoint/2010/main" val="1783341491"/>
      </p:ext>
    </p:extLst>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2389101" y="-71831"/>
            <a:ext cx="2749471" cy="906915"/>
          </a:xfrm>
          <a:prstGeom prst="rect">
            <a:avLst/>
          </a:prstGeom>
          <a:noFill/>
        </p:spPr>
        <p:txBody>
          <a:bodyPr wrap="none" rtlCol="0" anchor="t">
            <a:spAutoFit/>
          </a:bodyPr>
          <a:lstStyle/>
          <a:p>
            <a:pPr algn="l">
              <a:lnSpc>
                <a:spcPct val="150000"/>
              </a:lnSpc>
              <a:buClrTx/>
              <a:buSzTx/>
              <a:buFont typeface="Arial" panose="020B0604020202020204" pitchFamily="34" charset="0"/>
              <a:buNone/>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拓扑学公式</a:t>
            </a:r>
          </a:p>
        </p:txBody>
      </p:sp>
      <p:sp>
        <p:nvSpPr>
          <p:cNvPr id="3" name="矩形 2"/>
          <p:cNvSpPr/>
          <p:nvPr/>
        </p:nvSpPr>
        <p:spPr>
          <a:xfrm>
            <a:off x="615387" y="2209330"/>
            <a:ext cx="11393733" cy="2252924"/>
          </a:xfrm>
          <a:prstGeom prst="rect">
            <a:avLst/>
          </a:prstGeom>
        </p:spPr>
        <p:txBody>
          <a:bodyPr wrap="square">
            <a:spAutoFit/>
          </a:bodyPr>
          <a:lstStyle/>
          <a:p>
            <a:pPr>
              <a:lnSpc>
                <a:spcPct val="130000"/>
              </a:lnSpc>
            </a:pPr>
            <a:r>
              <a:rPr lang="el-GR" altLang="zh-CN" sz="3600" b="1" dirty="0">
                <a:solidFill>
                  <a:srgbClr val="FF0000"/>
                </a:solidFill>
              </a:rPr>
              <a:t>α</a:t>
            </a:r>
            <a:r>
              <a:rPr lang="zh-CN" altLang="en-US" sz="3600" b="1" dirty="0"/>
              <a:t>是</a:t>
            </a:r>
            <a:r>
              <a:rPr lang="en-US" altLang="zh-CN" sz="3600" b="1" dirty="0"/>
              <a:t>DNA</a:t>
            </a:r>
            <a:r>
              <a:rPr lang="zh-CN" altLang="en-US" sz="3600" b="1" dirty="0"/>
              <a:t>两条链的</a:t>
            </a:r>
            <a:r>
              <a:rPr lang="zh-CN" altLang="en-US" sz="3600" b="1" dirty="0">
                <a:solidFill>
                  <a:srgbClr val="FF0000"/>
                </a:solidFill>
              </a:rPr>
              <a:t>互绕数</a:t>
            </a:r>
            <a:r>
              <a:rPr lang="zh-CN" altLang="en-US" sz="3600" b="1" dirty="0"/>
              <a:t>，相当于连环数</a:t>
            </a:r>
            <a:r>
              <a:rPr lang="en-US" altLang="zh-CN" sz="3600" b="1" dirty="0"/>
              <a:t>L</a:t>
            </a:r>
            <a:r>
              <a:rPr lang="zh-CN" altLang="en-US" sz="3600" b="1" dirty="0"/>
              <a:t>。</a:t>
            </a:r>
            <a:endParaRPr lang="en-US" altLang="zh-CN" sz="3600" b="1" dirty="0"/>
          </a:p>
          <a:p>
            <a:pPr>
              <a:lnSpc>
                <a:spcPct val="130000"/>
              </a:lnSpc>
            </a:pPr>
            <a:r>
              <a:rPr lang="el-GR" altLang="zh-CN" sz="3600" b="1" dirty="0">
                <a:solidFill>
                  <a:srgbClr val="FF0000"/>
                </a:solidFill>
              </a:rPr>
              <a:t>β</a:t>
            </a:r>
            <a:r>
              <a:rPr lang="zh-CN" altLang="en-US" sz="3600" b="1" dirty="0">
                <a:solidFill>
                  <a:srgbClr val="FF0000"/>
                </a:solidFill>
              </a:rPr>
              <a:t>是螺旋圈数，由双螺旋的构象所决定</a:t>
            </a:r>
            <a:r>
              <a:rPr lang="zh-CN" altLang="en-US" sz="3600" b="1" dirty="0"/>
              <a:t>，相对应扭转数</a:t>
            </a:r>
            <a:r>
              <a:rPr lang="en-US" altLang="zh-CN" sz="3600" b="1" dirty="0"/>
              <a:t>T</a:t>
            </a:r>
            <a:r>
              <a:rPr lang="zh-CN" altLang="en-US" sz="3600" b="1" dirty="0"/>
              <a:t>。</a:t>
            </a:r>
            <a:endParaRPr lang="en-US" altLang="zh-CN" sz="3600" b="1" dirty="0"/>
          </a:p>
          <a:p>
            <a:pPr>
              <a:lnSpc>
                <a:spcPct val="130000"/>
              </a:lnSpc>
            </a:pPr>
            <a:r>
              <a:rPr lang="el-GR" altLang="zh-CN" sz="3600" b="1" dirty="0">
                <a:solidFill>
                  <a:srgbClr val="FF0000"/>
                </a:solidFill>
              </a:rPr>
              <a:t>τ</a:t>
            </a:r>
            <a:r>
              <a:rPr lang="zh-CN" altLang="en-US" sz="3600" b="1" dirty="0">
                <a:solidFill>
                  <a:srgbClr val="FF0000"/>
                </a:solidFill>
              </a:rPr>
              <a:t>是超螺旋数</a:t>
            </a:r>
            <a:r>
              <a:rPr lang="zh-CN" altLang="en-US" sz="3600" b="1" dirty="0"/>
              <a:t>，相对于</a:t>
            </a:r>
            <a:r>
              <a:rPr lang="en-US" altLang="zh-CN" sz="3600" b="1" dirty="0"/>
              <a:t>W</a:t>
            </a:r>
            <a:endParaRPr lang="zh-CN" altLang="en-US" sz="3600" b="1" dirty="0"/>
          </a:p>
        </p:txBody>
      </p:sp>
      <p:sp>
        <p:nvSpPr>
          <p:cNvPr id="4" name="矩形 3"/>
          <p:cNvSpPr/>
          <p:nvPr/>
        </p:nvSpPr>
        <p:spPr>
          <a:xfrm>
            <a:off x="2593282" y="1010328"/>
            <a:ext cx="1737976" cy="830997"/>
          </a:xfrm>
          <a:prstGeom prst="rect">
            <a:avLst/>
          </a:prstGeom>
        </p:spPr>
        <p:txBody>
          <a:bodyPr wrap="none">
            <a:spAutoFit/>
          </a:bodyPr>
          <a:lstStyle/>
          <a:p>
            <a:r>
              <a:rPr lang="el-GR" altLang="zh-CN" sz="4800" b="1" dirty="0">
                <a:solidFill>
                  <a:srgbClr val="FF0000"/>
                </a:solidFill>
              </a:rPr>
              <a:t>α</a:t>
            </a:r>
            <a:r>
              <a:rPr lang="en-US" altLang="zh-CN" sz="4800" b="1" dirty="0">
                <a:solidFill>
                  <a:srgbClr val="FF0000"/>
                </a:solidFill>
              </a:rPr>
              <a:t>=</a:t>
            </a:r>
            <a:r>
              <a:rPr lang="el-GR" altLang="zh-CN" sz="4800" b="1" dirty="0">
                <a:solidFill>
                  <a:srgbClr val="FF0000"/>
                </a:solidFill>
              </a:rPr>
              <a:t>β</a:t>
            </a:r>
            <a:r>
              <a:rPr lang="en-US" altLang="zh-CN" sz="4800" b="1" dirty="0">
                <a:solidFill>
                  <a:srgbClr val="FF0000"/>
                </a:solidFill>
              </a:rPr>
              <a:t>+</a:t>
            </a:r>
            <a:r>
              <a:rPr lang="el-GR" altLang="zh-CN" sz="4800" b="1" dirty="0">
                <a:solidFill>
                  <a:srgbClr val="FF0000"/>
                </a:solidFill>
              </a:rPr>
              <a:t>τ</a:t>
            </a:r>
            <a:endParaRPr lang="zh-CN" altLang="en-US" sz="3600" dirty="0">
              <a:solidFill>
                <a:srgbClr val="FF0000"/>
              </a:solidFill>
            </a:endParaRPr>
          </a:p>
        </p:txBody>
      </p:sp>
      <p:sp>
        <p:nvSpPr>
          <p:cNvPr id="5" name="矩形 4"/>
          <p:cNvSpPr/>
          <p:nvPr/>
        </p:nvSpPr>
        <p:spPr>
          <a:xfrm>
            <a:off x="6058392" y="1010328"/>
            <a:ext cx="2058577" cy="830997"/>
          </a:xfrm>
          <a:prstGeom prst="rect">
            <a:avLst/>
          </a:prstGeom>
        </p:spPr>
        <p:txBody>
          <a:bodyPr wrap="none">
            <a:spAutoFit/>
          </a:bodyPr>
          <a:lstStyle/>
          <a:p>
            <a:r>
              <a:rPr lang="en-US" altLang="zh-CN" sz="4800" b="1" dirty="0">
                <a:solidFill>
                  <a:srgbClr val="FF0000"/>
                </a:solidFill>
              </a:rPr>
              <a:t>L =T+W</a:t>
            </a:r>
            <a:endParaRPr lang="zh-CN" altLang="en-US" sz="3600" dirty="0">
              <a:solidFill>
                <a:srgbClr val="FF0000"/>
              </a:solidFill>
            </a:endParaRPr>
          </a:p>
        </p:txBody>
      </p:sp>
    </p:spTree>
    <p:extLst>
      <p:ext uri="{BB962C8B-B14F-4D97-AF65-F5344CB8AC3E}">
        <p14:creationId xmlns:p14="http://schemas.microsoft.com/office/powerpoint/2010/main" val="1824434694"/>
      </p:ext>
    </p:ext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9320" y="406398"/>
            <a:ext cx="8286655" cy="6358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2421760" y="-23831"/>
            <a:ext cx="7181774" cy="523220"/>
          </a:xfrm>
          <a:prstGeom prst="rect">
            <a:avLst/>
          </a:prstGeom>
        </p:spPr>
        <p:txBody>
          <a:bodyPr wrap="none">
            <a:spAutoFit/>
          </a:bodyPr>
          <a:lstStyle/>
          <a:p>
            <a:r>
              <a:rPr lang="zh-CN" altLang="en-US" sz="2800" b="1" dirty="0"/>
              <a:t>一个处于不同拓扑状态下的 </a:t>
            </a:r>
            <a:r>
              <a:rPr lang="en-US" altLang="zh-CN" sz="2800" b="1" dirty="0"/>
              <a:t>200-bp DNA</a:t>
            </a:r>
            <a:r>
              <a:rPr lang="zh-CN" altLang="en-US" sz="2800" b="1" dirty="0"/>
              <a:t>分子 </a:t>
            </a:r>
          </a:p>
        </p:txBody>
      </p:sp>
    </p:spTree>
    <p:extLst>
      <p:ext uri="{BB962C8B-B14F-4D97-AF65-F5344CB8AC3E}">
        <p14:creationId xmlns:p14="http://schemas.microsoft.com/office/powerpoint/2010/main" val="3258681278"/>
      </p:ext>
    </p:ext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2389101" y="-71831"/>
            <a:ext cx="2749471" cy="906915"/>
          </a:xfrm>
          <a:prstGeom prst="rect">
            <a:avLst/>
          </a:prstGeom>
          <a:noFill/>
        </p:spPr>
        <p:txBody>
          <a:bodyPr wrap="none" rtlCol="0" anchor="t">
            <a:spAutoFit/>
          </a:bodyPr>
          <a:lstStyle/>
          <a:p>
            <a:pPr algn="l">
              <a:lnSpc>
                <a:spcPct val="150000"/>
              </a:lnSpc>
              <a:buClrTx/>
              <a:buSzTx/>
              <a:buFont typeface="Arial" panose="020B0604020202020204" pitchFamily="34" charset="0"/>
              <a:buNone/>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拓扑学公式</a:t>
            </a:r>
          </a:p>
        </p:txBody>
      </p:sp>
      <p:sp>
        <p:nvSpPr>
          <p:cNvPr id="4" name="矩形 3"/>
          <p:cNvSpPr/>
          <p:nvPr/>
        </p:nvSpPr>
        <p:spPr>
          <a:xfrm>
            <a:off x="3007810" y="1010328"/>
            <a:ext cx="1737976" cy="830997"/>
          </a:xfrm>
          <a:prstGeom prst="rect">
            <a:avLst/>
          </a:prstGeom>
        </p:spPr>
        <p:txBody>
          <a:bodyPr wrap="none">
            <a:spAutoFit/>
          </a:bodyPr>
          <a:lstStyle/>
          <a:p>
            <a:r>
              <a:rPr lang="el-GR" altLang="zh-CN" sz="4800" b="1" dirty="0">
                <a:solidFill>
                  <a:srgbClr val="FF0000"/>
                </a:solidFill>
              </a:rPr>
              <a:t>α</a:t>
            </a:r>
            <a:r>
              <a:rPr lang="en-US" altLang="zh-CN" sz="4800" b="1" dirty="0">
                <a:solidFill>
                  <a:srgbClr val="FF0000"/>
                </a:solidFill>
              </a:rPr>
              <a:t>=</a:t>
            </a:r>
            <a:r>
              <a:rPr lang="el-GR" altLang="zh-CN" sz="4800" b="1" dirty="0">
                <a:solidFill>
                  <a:srgbClr val="FF0000"/>
                </a:solidFill>
              </a:rPr>
              <a:t>β</a:t>
            </a:r>
            <a:r>
              <a:rPr lang="en-US" altLang="zh-CN" sz="4800" b="1" dirty="0">
                <a:solidFill>
                  <a:srgbClr val="FF0000"/>
                </a:solidFill>
              </a:rPr>
              <a:t>+</a:t>
            </a:r>
            <a:r>
              <a:rPr lang="el-GR" altLang="zh-CN" sz="4800" b="1" dirty="0">
                <a:solidFill>
                  <a:srgbClr val="FF0000"/>
                </a:solidFill>
              </a:rPr>
              <a:t>τ</a:t>
            </a:r>
            <a:endParaRPr lang="zh-CN" altLang="en-US" sz="3600" dirty="0">
              <a:solidFill>
                <a:srgbClr val="FF0000"/>
              </a:solidFill>
            </a:endParaRPr>
          </a:p>
        </p:txBody>
      </p:sp>
      <p:sp>
        <p:nvSpPr>
          <p:cNvPr id="5" name="矩形 4"/>
          <p:cNvSpPr/>
          <p:nvPr/>
        </p:nvSpPr>
        <p:spPr>
          <a:xfrm>
            <a:off x="6058392" y="1010328"/>
            <a:ext cx="2058577" cy="830997"/>
          </a:xfrm>
          <a:prstGeom prst="rect">
            <a:avLst/>
          </a:prstGeom>
        </p:spPr>
        <p:txBody>
          <a:bodyPr wrap="none">
            <a:spAutoFit/>
          </a:bodyPr>
          <a:lstStyle/>
          <a:p>
            <a:r>
              <a:rPr lang="en-US" altLang="zh-CN" sz="4800" b="1" dirty="0">
                <a:solidFill>
                  <a:srgbClr val="FF0000"/>
                </a:solidFill>
              </a:rPr>
              <a:t>L =T+W</a:t>
            </a:r>
            <a:endParaRPr lang="zh-CN" altLang="en-US" sz="3600" dirty="0">
              <a:solidFill>
                <a:srgbClr val="FF0000"/>
              </a:solidFill>
            </a:endParaRPr>
          </a:p>
        </p:txBody>
      </p:sp>
      <p:sp>
        <p:nvSpPr>
          <p:cNvPr id="6" name="矩形 5"/>
          <p:cNvSpPr/>
          <p:nvPr/>
        </p:nvSpPr>
        <p:spPr>
          <a:xfrm>
            <a:off x="388597" y="1873426"/>
            <a:ext cx="11803403" cy="584775"/>
          </a:xfrm>
          <a:prstGeom prst="rect">
            <a:avLst/>
          </a:prstGeom>
        </p:spPr>
        <p:txBody>
          <a:bodyPr wrap="square">
            <a:spAutoFit/>
          </a:bodyPr>
          <a:lstStyle/>
          <a:p>
            <a:r>
              <a:rPr lang="zh-CN" altLang="en-US" sz="3200" b="1" dirty="0">
                <a:solidFill>
                  <a:srgbClr val="FF0000"/>
                </a:solidFill>
                <a:latin typeface="Times New Roman" pitchFamily="18" charset="0"/>
                <a:ea typeface="黑体" pitchFamily="49" charset="-122"/>
                <a:cs typeface="Times New Roman" pitchFamily="18" charset="0"/>
              </a:rPr>
              <a:t>比连环差</a:t>
            </a:r>
            <a:r>
              <a:rPr lang="en-US" altLang="zh-CN" sz="3200" b="1" dirty="0">
                <a:latin typeface="Times New Roman" pitchFamily="18" charset="0"/>
                <a:ea typeface="黑体" pitchFamily="49" charset="-122"/>
                <a:cs typeface="Times New Roman" pitchFamily="18" charset="0"/>
              </a:rPr>
              <a:t>(specific linking difference ,</a:t>
            </a:r>
            <a:r>
              <a:rPr lang="el-GR" altLang="zh-CN" sz="3200" b="1" dirty="0">
                <a:latin typeface="Times New Roman" pitchFamily="18" charset="0"/>
                <a:ea typeface="黑体" pitchFamily="49" charset="-122"/>
                <a:cs typeface="Times New Roman" pitchFamily="18" charset="0"/>
              </a:rPr>
              <a:t> </a:t>
            </a:r>
            <a:r>
              <a:rPr lang="el-GR" altLang="zh-CN" sz="3200" b="1" dirty="0">
                <a:solidFill>
                  <a:srgbClr val="FF0000"/>
                </a:solidFill>
                <a:latin typeface="Times New Roman" pitchFamily="18" charset="0"/>
                <a:ea typeface="黑体" pitchFamily="49" charset="-122"/>
                <a:cs typeface="Times New Roman" pitchFamily="18" charset="0"/>
              </a:rPr>
              <a:t>λ</a:t>
            </a:r>
            <a:r>
              <a:rPr lang="en-US" altLang="zh-CN" sz="3200" b="1" dirty="0">
                <a:latin typeface="Times New Roman" pitchFamily="18" charset="0"/>
                <a:ea typeface="黑体" pitchFamily="49" charset="-122"/>
                <a:cs typeface="Times New Roman" pitchFamily="18" charset="0"/>
              </a:rPr>
              <a:t>):DNA</a:t>
            </a:r>
            <a:r>
              <a:rPr lang="zh-CN" altLang="en-US" sz="3200" b="1" dirty="0">
                <a:latin typeface="Times New Roman" pitchFamily="18" charset="0"/>
                <a:ea typeface="黑体" pitchFamily="49" charset="-122"/>
                <a:cs typeface="Times New Roman" pitchFamily="18" charset="0"/>
              </a:rPr>
              <a:t>的超螺旋程度</a:t>
            </a:r>
          </a:p>
        </p:txBody>
      </p:sp>
      <p:sp>
        <p:nvSpPr>
          <p:cNvPr id="7" name="矩形 6"/>
          <p:cNvSpPr/>
          <p:nvPr/>
        </p:nvSpPr>
        <p:spPr>
          <a:xfrm>
            <a:off x="3288529" y="2582991"/>
            <a:ext cx="7086863" cy="646331"/>
          </a:xfrm>
          <a:prstGeom prst="rect">
            <a:avLst/>
          </a:prstGeom>
        </p:spPr>
        <p:txBody>
          <a:bodyPr wrap="square">
            <a:spAutoFit/>
          </a:bodyPr>
          <a:lstStyle/>
          <a:p>
            <a:r>
              <a:rPr lang="el-GR" altLang="zh-CN" sz="3600" b="1" dirty="0">
                <a:latin typeface="Times New Roman" pitchFamily="18" charset="0"/>
                <a:ea typeface="黑体" pitchFamily="49" charset="-122"/>
                <a:cs typeface="Times New Roman" pitchFamily="18" charset="0"/>
              </a:rPr>
              <a:t>λ</a:t>
            </a:r>
            <a:r>
              <a:rPr lang="en-US" altLang="zh-CN" sz="3600" b="1" dirty="0">
                <a:latin typeface="Times New Roman" pitchFamily="18" charset="0"/>
                <a:ea typeface="黑体" pitchFamily="49" charset="-122"/>
                <a:cs typeface="Times New Roman" pitchFamily="18" charset="0"/>
              </a:rPr>
              <a:t> =</a:t>
            </a:r>
            <a:r>
              <a:rPr lang="el-GR" altLang="zh-CN" sz="3600" b="1" dirty="0"/>
              <a:t> </a:t>
            </a:r>
            <a:r>
              <a:rPr lang="en-US" altLang="zh-CN" sz="3600" b="1" dirty="0"/>
              <a:t>  (</a:t>
            </a:r>
            <a:r>
              <a:rPr lang="el-GR" altLang="zh-CN" sz="3600" b="1" dirty="0"/>
              <a:t>α</a:t>
            </a:r>
            <a:r>
              <a:rPr lang="en-US" altLang="zh-CN" sz="3600" b="1" dirty="0"/>
              <a:t>-</a:t>
            </a:r>
            <a:r>
              <a:rPr lang="el-GR" altLang="zh-CN" sz="3600" b="1" dirty="0"/>
              <a:t> β</a:t>
            </a:r>
            <a:r>
              <a:rPr lang="en-US" altLang="zh-CN" sz="3600" b="1" dirty="0"/>
              <a:t>)/</a:t>
            </a:r>
            <a:r>
              <a:rPr lang="el-GR" altLang="zh-CN" sz="3600" b="1" dirty="0"/>
              <a:t> β</a:t>
            </a:r>
            <a:r>
              <a:rPr lang="en-US" altLang="zh-CN" sz="3600" b="1" dirty="0"/>
              <a:t>    =    </a:t>
            </a:r>
            <a:r>
              <a:rPr lang="en-US" altLang="zh-CN" sz="3600" b="1" dirty="0">
                <a:latin typeface="Times New Roman" pitchFamily="18" charset="0"/>
                <a:ea typeface="黑体" pitchFamily="49" charset="-122"/>
                <a:cs typeface="Times New Roman" pitchFamily="18" charset="0"/>
              </a:rPr>
              <a:t>(L-L</a:t>
            </a:r>
            <a:r>
              <a:rPr lang="en-US" altLang="zh-CN" sz="3600" b="1" baseline="-25000" dirty="0">
                <a:latin typeface="Times New Roman" pitchFamily="18" charset="0"/>
                <a:ea typeface="黑体" pitchFamily="49" charset="-122"/>
                <a:cs typeface="Times New Roman" pitchFamily="18" charset="0"/>
              </a:rPr>
              <a:t>0</a:t>
            </a:r>
            <a:r>
              <a:rPr lang="en-US" altLang="zh-CN" sz="3600" b="1" dirty="0">
                <a:latin typeface="Times New Roman" pitchFamily="18" charset="0"/>
                <a:ea typeface="黑体" pitchFamily="49" charset="-122"/>
                <a:cs typeface="Times New Roman" pitchFamily="18" charset="0"/>
              </a:rPr>
              <a:t>)/L</a:t>
            </a:r>
            <a:r>
              <a:rPr lang="en-US" altLang="zh-CN" sz="3600" b="1" baseline="-25000" dirty="0">
                <a:latin typeface="Times New Roman" pitchFamily="18" charset="0"/>
                <a:ea typeface="黑体" pitchFamily="49" charset="-122"/>
                <a:cs typeface="Times New Roman" pitchFamily="18" charset="0"/>
              </a:rPr>
              <a:t>0</a:t>
            </a:r>
            <a:endParaRPr lang="zh-CN" altLang="en-US" sz="3600" baseline="-25000" dirty="0"/>
          </a:p>
        </p:txBody>
      </p:sp>
      <p:sp>
        <p:nvSpPr>
          <p:cNvPr id="9" name="矩形 8"/>
          <p:cNvSpPr/>
          <p:nvPr/>
        </p:nvSpPr>
        <p:spPr>
          <a:xfrm>
            <a:off x="789394" y="3672757"/>
            <a:ext cx="9546203" cy="584775"/>
          </a:xfrm>
          <a:prstGeom prst="rect">
            <a:avLst/>
          </a:prstGeom>
        </p:spPr>
        <p:txBody>
          <a:bodyPr wrap="square">
            <a:spAutoFit/>
          </a:bodyPr>
          <a:lstStyle/>
          <a:p>
            <a:r>
              <a:rPr lang="zh-CN" altLang="en-US" sz="3200" b="1" dirty="0">
                <a:latin typeface="Times New Roman" pitchFamily="18" charset="0"/>
                <a:ea typeface="黑体" pitchFamily="49" charset="-122"/>
                <a:cs typeface="Times New Roman" pitchFamily="18" charset="0"/>
              </a:rPr>
              <a:t>天然</a:t>
            </a:r>
            <a:r>
              <a:rPr lang="en-US" altLang="zh-CN" sz="3200" b="1" dirty="0">
                <a:latin typeface="Times New Roman" pitchFamily="18" charset="0"/>
                <a:ea typeface="黑体" pitchFamily="49" charset="-122"/>
                <a:cs typeface="Times New Roman" pitchFamily="18" charset="0"/>
              </a:rPr>
              <a:t>DNA</a:t>
            </a:r>
            <a:r>
              <a:rPr lang="zh-CN" altLang="en-US" sz="3200" b="1" dirty="0">
                <a:latin typeface="Times New Roman" pitchFamily="18" charset="0"/>
                <a:ea typeface="黑体" pitchFamily="49" charset="-122"/>
                <a:cs typeface="Times New Roman" pitchFamily="18" charset="0"/>
              </a:rPr>
              <a:t>一般都以</a:t>
            </a:r>
            <a:r>
              <a:rPr lang="zh-CN" altLang="en-US" sz="3200" b="1" dirty="0">
                <a:solidFill>
                  <a:srgbClr val="FF0000"/>
                </a:solidFill>
                <a:latin typeface="Times New Roman" pitchFamily="18" charset="0"/>
                <a:ea typeface="黑体" pitchFamily="49" charset="-122"/>
                <a:cs typeface="Times New Roman" pitchFamily="18" charset="0"/>
              </a:rPr>
              <a:t>负超螺旋</a:t>
            </a:r>
            <a:r>
              <a:rPr lang="zh-CN" altLang="en-US" sz="3200" b="1" dirty="0">
                <a:latin typeface="Times New Roman" pitchFamily="18" charset="0"/>
                <a:ea typeface="黑体" pitchFamily="49" charset="-122"/>
                <a:cs typeface="Times New Roman" pitchFamily="18" charset="0"/>
              </a:rPr>
              <a:t>构象存在，</a:t>
            </a:r>
            <a:r>
              <a:rPr lang="el-GR" altLang="zh-CN" sz="3200" b="1" dirty="0">
                <a:latin typeface="Times New Roman" pitchFamily="18" charset="0"/>
                <a:ea typeface="黑体" pitchFamily="49" charset="-122"/>
                <a:cs typeface="Times New Roman" pitchFamily="18" charset="0"/>
              </a:rPr>
              <a:t>λ</a:t>
            </a:r>
            <a:r>
              <a:rPr lang="zh-CN" altLang="en-US" sz="3200" b="1" dirty="0">
                <a:latin typeface="Times New Roman" pitchFamily="18" charset="0"/>
                <a:ea typeface="黑体" pitchFamily="49" charset="-122"/>
                <a:cs typeface="Times New Roman" pitchFamily="18" charset="0"/>
              </a:rPr>
              <a:t>大约为</a:t>
            </a:r>
            <a:r>
              <a:rPr lang="en-US" altLang="zh-CN" sz="3200" b="1" dirty="0">
                <a:latin typeface="Times New Roman" pitchFamily="18" charset="0"/>
                <a:ea typeface="黑体" pitchFamily="49" charset="-122"/>
                <a:cs typeface="Times New Roman" pitchFamily="18" charset="0"/>
              </a:rPr>
              <a:t>-0.05</a:t>
            </a:r>
            <a:endParaRPr lang="zh-CN" altLang="en-US" sz="3200" b="1" dirty="0">
              <a:latin typeface="Times New Roman" pitchFamily="18" charset="0"/>
              <a:ea typeface="黑体" pitchFamily="49" charset="-122"/>
              <a:cs typeface="Times New Roman" pitchFamily="18" charset="0"/>
            </a:endParaRPr>
          </a:p>
        </p:txBody>
      </p:sp>
      <p:sp>
        <p:nvSpPr>
          <p:cNvPr id="13" name="矩形 12"/>
          <p:cNvSpPr/>
          <p:nvPr/>
        </p:nvSpPr>
        <p:spPr>
          <a:xfrm>
            <a:off x="749601" y="4257532"/>
            <a:ext cx="9625791" cy="584775"/>
          </a:xfrm>
          <a:prstGeom prst="rect">
            <a:avLst/>
          </a:prstGeom>
        </p:spPr>
        <p:txBody>
          <a:bodyPr wrap="square">
            <a:spAutoFit/>
          </a:bodyPr>
          <a:lstStyle/>
          <a:p>
            <a:r>
              <a:rPr lang="zh-CN" altLang="en-US" sz="3200" b="1" dirty="0">
                <a:latin typeface="Times New Roman" pitchFamily="18" charset="0"/>
                <a:ea typeface="黑体" pitchFamily="49" charset="-122"/>
                <a:cs typeface="Times New Roman" pitchFamily="18" charset="0"/>
              </a:rPr>
              <a:t>利于解链，利于复制，重组、转录</a:t>
            </a:r>
            <a:endParaRPr lang="en-US" altLang="zh-CN" sz="3200" b="1" dirty="0">
              <a:latin typeface="Times New Roman" pitchFamily="18" charset="0"/>
              <a:ea typeface="黑体" pitchFamily="49" charset="-122"/>
              <a:cs typeface="Times New Roman" pitchFamily="18" charset="0"/>
            </a:endParaRPr>
          </a:p>
        </p:txBody>
      </p:sp>
    </p:spTree>
    <p:extLst>
      <p:ext uri="{BB962C8B-B14F-4D97-AF65-F5344CB8AC3E}">
        <p14:creationId xmlns:p14="http://schemas.microsoft.com/office/powerpoint/2010/main" val="1856271596"/>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1" name="Picture 7" descr="6-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9184" y="10584"/>
            <a:ext cx="4242816" cy="6756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652408" y="1372043"/>
            <a:ext cx="5792632" cy="1077218"/>
          </a:xfrm>
          <a:prstGeom prst="rect">
            <a:avLst/>
          </a:prstGeom>
        </p:spPr>
        <p:txBody>
          <a:bodyPr wrap="square">
            <a:spAutoFit/>
          </a:bodyPr>
          <a:lstStyle/>
          <a:p>
            <a:pPr lvl="0"/>
            <a:r>
              <a:rPr lang="zh-CN" altLang="en-US" sz="3200" b="1" dirty="0">
                <a:solidFill>
                  <a:prstClr val="black"/>
                </a:solidFill>
                <a:latin typeface="Times New Roman" pitchFamily="18" charset="0"/>
                <a:ea typeface="黑体" pitchFamily="49" charset="-122"/>
                <a:cs typeface="Times New Roman" pitchFamily="18" charset="0"/>
              </a:rPr>
              <a:t>但随着解链的深入，负超螺旋被逐渐消耗，并产生正超螺旋</a:t>
            </a:r>
            <a:endParaRPr lang="en-US" altLang="zh-CN" sz="3200" b="1" dirty="0">
              <a:solidFill>
                <a:prstClr val="black"/>
              </a:solidFill>
              <a:latin typeface="Times New Roman" pitchFamily="18" charset="0"/>
              <a:ea typeface="黑体" pitchFamily="49" charset="-122"/>
              <a:cs typeface="Times New Roman" pitchFamily="18" charset="0"/>
            </a:endParaRPr>
          </a:p>
        </p:txBody>
      </p:sp>
      <p:sp>
        <p:nvSpPr>
          <p:cNvPr id="5" name="矩形 4"/>
          <p:cNvSpPr/>
          <p:nvPr/>
        </p:nvSpPr>
        <p:spPr>
          <a:xfrm>
            <a:off x="2412984" y="10584"/>
            <a:ext cx="2058577" cy="830997"/>
          </a:xfrm>
          <a:prstGeom prst="rect">
            <a:avLst/>
          </a:prstGeom>
        </p:spPr>
        <p:txBody>
          <a:bodyPr wrap="none">
            <a:spAutoFit/>
          </a:bodyPr>
          <a:lstStyle/>
          <a:p>
            <a:r>
              <a:rPr lang="en-US" altLang="zh-CN" sz="4800" b="1" dirty="0">
                <a:solidFill>
                  <a:schemeClr val="bg1"/>
                </a:solidFill>
              </a:rPr>
              <a:t>L =T+W</a:t>
            </a:r>
            <a:endParaRPr lang="zh-CN" altLang="en-US" sz="3600" dirty="0">
              <a:solidFill>
                <a:schemeClr val="bg1"/>
              </a:solidFill>
            </a:endParaRPr>
          </a:p>
        </p:txBody>
      </p:sp>
      <p:sp>
        <p:nvSpPr>
          <p:cNvPr id="6" name="矩形 5"/>
          <p:cNvSpPr/>
          <p:nvPr/>
        </p:nvSpPr>
        <p:spPr>
          <a:xfrm>
            <a:off x="652408" y="2961631"/>
            <a:ext cx="7131387" cy="2062103"/>
          </a:xfrm>
          <a:prstGeom prst="rect">
            <a:avLst/>
          </a:prstGeom>
        </p:spPr>
        <p:txBody>
          <a:bodyPr wrap="square">
            <a:spAutoFit/>
          </a:bodyPr>
          <a:lstStyle/>
          <a:p>
            <a:r>
              <a:rPr lang="zh-CN" altLang="en-US" sz="3200" b="1" dirty="0">
                <a:latin typeface="Times New Roman" pitchFamily="18" charset="0"/>
                <a:ea typeface="黑体" pitchFamily="49" charset="-122"/>
                <a:cs typeface="Times New Roman" pitchFamily="18" charset="0"/>
              </a:rPr>
              <a:t>拓扑异构酶</a:t>
            </a:r>
            <a:r>
              <a:rPr lang="en-US" altLang="zh-CN" sz="3200" b="1" dirty="0">
                <a:latin typeface="Times New Roman" pitchFamily="18" charset="0"/>
                <a:ea typeface="黑体" pitchFamily="49" charset="-122"/>
                <a:cs typeface="Times New Roman" pitchFamily="18" charset="0"/>
              </a:rPr>
              <a:t>I</a:t>
            </a:r>
            <a:r>
              <a:rPr lang="zh-CN" altLang="en-US" sz="3200" b="1" dirty="0">
                <a:latin typeface="Times New Roman" pitchFamily="18" charset="0"/>
                <a:ea typeface="黑体" pitchFamily="49" charset="-122"/>
                <a:cs typeface="Times New Roman" pitchFamily="18" charset="0"/>
              </a:rPr>
              <a:t>每催化一次可使</a:t>
            </a:r>
            <a:r>
              <a:rPr lang="en-US" altLang="zh-CN" sz="3200" b="1" dirty="0">
                <a:latin typeface="Times New Roman" pitchFamily="18" charset="0"/>
                <a:ea typeface="黑体" pitchFamily="49" charset="-122"/>
                <a:cs typeface="Times New Roman" pitchFamily="18" charset="0"/>
              </a:rPr>
              <a:t>L</a:t>
            </a:r>
            <a:r>
              <a:rPr lang="zh-CN" altLang="en-US" sz="3200" b="1" dirty="0">
                <a:latin typeface="Times New Roman" pitchFamily="18" charset="0"/>
                <a:ea typeface="黑体" pitchFamily="49" charset="-122"/>
                <a:cs typeface="Times New Roman" pitchFamily="18" charset="0"/>
              </a:rPr>
              <a:t>值增加</a:t>
            </a:r>
            <a:r>
              <a:rPr lang="en-US" altLang="zh-CN" sz="3200" b="1" dirty="0">
                <a:latin typeface="Times New Roman" pitchFamily="18" charset="0"/>
                <a:ea typeface="黑体" pitchFamily="49" charset="-122"/>
                <a:cs typeface="Times New Roman" pitchFamily="18" charset="0"/>
              </a:rPr>
              <a:t>1</a:t>
            </a:r>
            <a:r>
              <a:rPr lang="zh-CN" altLang="en-US" sz="3200" b="1" dirty="0">
                <a:latin typeface="Times New Roman" pitchFamily="18" charset="0"/>
                <a:ea typeface="黑体" pitchFamily="49" charset="-122"/>
                <a:cs typeface="Times New Roman" pitchFamily="18" charset="0"/>
              </a:rPr>
              <a:t>，即</a:t>
            </a:r>
            <a:r>
              <a:rPr lang="en-US" altLang="zh-CN" sz="3200" b="1" dirty="0">
                <a:latin typeface="Times New Roman" pitchFamily="18" charset="0"/>
                <a:ea typeface="黑体" pitchFamily="49" charset="-122"/>
                <a:cs typeface="Times New Roman" pitchFamily="18" charset="0"/>
              </a:rPr>
              <a:t>_____1</a:t>
            </a:r>
            <a:r>
              <a:rPr lang="zh-CN" altLang="en-US" sz="3200" b="1" dirty="0">
                <a:latin typeface="Times New Roman" pitchFamily="18" charset="0"/>
                <a:ea typeface="黑体" pitchFamily="49" charset="-122"/>
                <a:cs typeface="Times New Roman" pitchFamily="18" charset="0"/>
              </a:rPr>
              <a:t>个负超螺旋。</a:t>
            </a:r>
            <a:endParaRPr lang="en-US" altLang="zh-CN" sz="3200" b="1" dirty="0">
              <a:latin typeface="Times New Roman" pitchFamily="18" charset="0"/>
              <a:ea typeface="黑体" pitchFamily="49" charset="-122"/>
              <a:cs typeface="Times New Roman" pitchFamily="18" charset="0"/>
            </a:endParaRPr>
          </a:p>
          <a:p>
            <a:r>
              <a:rPr lang="zh-CN" altLang="en-US" sz="3200" b="1" dirty="0">
                <a:latin typeface="Times New Roman" pitchFamily="18" charset="0"/>
                <a:ea typeface="黑体" pitchFamily="49" charset="-122"/>
                <a:cs typeface="Times New Roman" pitchFamily="18" charset="0"/>
              </a:rPr>
              <a:t>拓扑异构酶</a:t>
            </a:r>
            <a:r>
              <a:rPr lang="en-US" altLang="zh-CN" sz="3200" b="1" dirty="0">
                <a:latin typeface="Times New Roman" pitchFamily="18" charset="0"/>
                <a:ea typeface="黑体" pitchFamily="49" charset="-122"/>
                <a:cs typeface="Times New Roman" pitchFamily="18" charset="0"/>
              </a:rPr>
              <a:t>II</a:t>
            </a:r>
            <a:r>
              <a:rPr lang="zh-CN" altLang="en-US" sz="3200" b="1" dirty="0">
                <a:latin typeface="Times New Roman" pitchFamily="18" charset="0"/>
                <a:ea typeface="黑体" pitchFamily="49" charset="-122"/>
                <a:cs typeface="Times New Roman" pitchFamily="18" charset="0"/>
              </a:rPr>
              <a:t>每催化一次可使</a:t>
            </a:r>
            <a:r>
              <a:rPr lang="en-US" altLang="zh-CN" sz="3200" b="1" dirty="0">
                <a:latin typeface="Times New Roman" pitchFamily="18" charset="0"/>
                <a:ea typeface="黑体" pitchFamily="49" charset="-122"/>
                <a:cs typeface="Times New Roman" pitchFamily="18" charset="0"/>
              </a:rPr>
              <a:t>L</a:t>
            </a:r>
            <a:r>
              <a:rPr lang="zh-CN" altLang="en-US" sz="3200" b="1" dirty="0">
                <a:latin typeface="Times New Roman" pitchFamily="18" charset="0"/>
                <a:ea typeface="黑体" pitchFamily="49" charset="-122"/>
                <a:cs typeface="Times New Roman" pitchFamily="18" charset="0"/>
              </a:rPr>
              <a:t>值减少</a:t>
            </a:r>
            <a:r>
              <a:rPr lang="en-US" altLang="zh-CN" sz="3200" b="1" dirty="0">
                <a:latin typeface="Times New Roman" pitchFamily="18" charset="0"/>
                <a:ea typeface="黑体" pitchFamily="49" charset="-122"/>
                <a:cs typeface="Times New Roman" pitchFamily="18" charset="0"/>
              </a:rPr>
              <a:t>2</a:t>
            </a:r>
            <a:r>
              <a:rPr lang="zh-CN" altLang="en-US" sz="3200" b="1" dirty="0">
                <a:latin typeface="Times New Roman" pitchFamily="18" charset="0"/>
                <a:ea typeface="黑体" pitchFamily="49" charset="-122"/>
                <a:cs typeface="Times New Roman" pitchFamily="18" charset="0"/>
              </a:rPr>
              <a:t>，即</a:t>
            </a:r>
            <a:r>
              <a:rPr lang="en-US" altLang="zh-CN" sz="3200" b="1" dirty="0">
                <a:latin typeface="Times New Roman" pitchFamily="18" charset="0"/>
                <a:ea typeface="黑体" pitchFamily="49" charset="-122"/>
                <a:cs typeface="Times New Roman" pitchFamily="18" charset="0"/>
              </a:rPr>
              <a:t>_____2</a:t>
            </a:r>
            <a:r>
              <a:rPr lang="zh-CN" altLang="en-US" sz="3200" b="1" dirty="0">
                <a:latin typeface="Times New Roman" pitchFamily="18" charset="0"/>
                <a:ea typeface="黑体" pitchFamily="49" charset="-122"/>
                <a:cs typeface="Times New Roman" pitchFamily="18" charset="0"/>
              </a:rPr>
              <a:t>个负超螺旋。</a:t>
            </a:r>
            <a:endParaRPr lang="en-US" altLang="zh-CN" sz="3200" b="1" dirty="0">
              <a:latin typeface="Times New Roman" pitchFamily="18" charset="0"/>
              <a:ea typeface="黑体" pitchFamily="49" charset="-122"/>
              <a:cs typeface="Times New Roman" pitchFamily="18" charset="0"/>
            </a:endParaRPr>
          </a:p>
        </p:txBody>
      </p:sp>
      <p:sp>
        <p:nvSpPr>
          <p:cNvPr id="7" name="矩形 6"/>
          <p:cNvSpPr/>
          <p:nvPr/>
        </p:nvSpPr>
        <p:spPr>
          <a:xfrm>
            <a:off x="1141050" y="3454126"/>
            <a:ext cx="1334887" cy="584775"/>
          </a:xfrm>
          <a:prstGeom prst="rect">
            <a:avLst/>
          </a:prstGeom>
        </p:spPr>
        <p:txBody>
          <a:bodyPr wrap="square">
            <a:spAutoFit/>
          </a:bodyPr>
          <a:lstStyle/>
          <a:p>
            <a:r>
              <a:rPr lang="zh-CN" altLang="en-US" sz="3200" b="1" dirty="0">
                <a:solidFill>
                  <a:srgbClr val="FF0000"/>
                </a:solidFill>
                <a:latin typeface="Times New Roman" pitchFamily="18" charset="0"/>
                <a:ea typeface="黑体" pitchFamily="49" charset="-122"/>
                <a:cs typeface="Times New Roman" pitchFamily="18" charset="0"/>
              </a:rPr>
              <a:t>消除</a:t>
            </a:r>
            <a:endParaRPr lang="zh-CN" altLang="en-US" dirty="0">
              <a:solidFill>
                <a:srgbClr val="FF0000"/>
              </a:solidFill>
            </a:endParaRPr>
          </a:p>
        </p:txBody>
      </p:sp>
      <p:sp>
        <p:nvSpPr>
          <p:cNvPr id="8" name="矩形 7"/>
          <p:cNvSpPr/>
          <p:nvPr/>
        </p:nvSpPr>
        <p:spPr>
          <a:xfrm>
            <a:off x="1133196" y="4377032"/>
            <a:ext cx="1334887" cy="584775"/>
          </a:xfrm>
          <a:prstGeom prst="rect">
            <a:avLst/>
          </a:prstGeom>
        </p:spPr>
        <p:txBody>
          <a:bodyPr wrap="square">
            <a:spAutoFit/>
          </a:bodyPr>
          <a:lstStyle/>
          <a:p>
            <a:r>
              <a:rPr lang="zh-CN" altLang="en-US" sz="3200" b="1" dirty="0">
                <a:solidFill>
                  <a:srgbClr val="FF0000"/>
                </a:solidFill>
                <a:latin typeface="Times New Roman" pitchFamily="18" charset="0"/>
                <a:ea typeface="黑体" pitchFamily="49" charset="-122"/>
                <a:cs typeface="Times New Roman" pitchFamily="18" charset="0"/>
              </a:rPr>
              <a:t>增加</a:t>
            </a:r>
          </a:p>
        </p:txBody>
      </p:sp>
    </p:spTree>
    <p:extLst>
      <p:ext uri="{BB962C8B-B14F-4D97-AF65-F5344CB8AC3E}">
        <p14:creationId xmlns:p14="http://schemas.microsoft.com/office/powerpoint/2010/main" val="12666092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6142" y="-63715"/>
            <a:ext cx="5514651" cy="906915"/>
          </a:xfrm>
          <a:prstGeom prst="rect">
            <a:avLst/>
          </a:prstGeom>
          <a:noFill/>
        </p:spPr>
        <p:txBody>
          <a:bodyPr wrap="none" rtlCol="0" anchor="t">
            <a:spAutoFit/>
          </a:bodyPr>
          <a:lstStyle/>
          <a:p>
            <a:pPr algn="l">
              <a:lnSpc>
                <a:spcPct val="150000"/>
              </a:lnSpc>
              <a:buClrTx/>
              <a:buSzTx/>
              <a:buFont typeface="Arial" panose="020B0604020202020204" pitchFamily="34" charset="0"/>
              <a:buNone/>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双螺旋到染色体</a:t>
            </a:r>
          </a:p>
        </p:txBody>
      </p:sp>
      <p:pic>
        <p:nvPicPr>
          <p:cNvPr id="2" name="图片 1"/>
          <p:cNvPicPr>
            <a:picLocks noChangeAspect="1"/>
          </p:cNvPicPr>
          <p:nvPr/>
        </p:nvPicPr>
        <p:blipFill>
          <a:blip r:embed="rId2"/>
          <a:stretch>
            <a:fillRect/>
          </a:stretch>
        </p:blipFill>
        <p:spPr>
          <a:xfrm>
            <a:off x="5517398" y="-1"/>
            <a:ext cx="6674604" cy="8197812"/>
          </a:xfrm>
          <a:prstGeom prst="rect">
            <a:avLst/>
          </a:prstGeom>
        </p:spPr>
      </p:pic>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3845735" y="-63716"/>
            <a:ext cx="3462807" cy="906915"/>
          </a:xfrm>
          <a:prstGeom prst="rect">
            <a:avLst/>
          </a:prstGeom>
          <a:noFill/>
        </p:spPr>
        <p:txBody>
          <a:bodyPr wrap="none" rtlCol="0" anchor="t">
            <a:spAutoFit/>
          </a:bodyPr>
          <a:lstStyle/>
          <a:p>
            <a:pPr algn="l">
              <a:lnSpc>
                <a:spcPct val="150000"/>
              </a:lnSpc>
              <a:buClrTx/>
              <a:buSzTx/>
              <a:buFont typeface="Arial" panose="020B0604020202020204" pitchFamily="34" charset="0"/>
              <a:buNone/>
            </a:pP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和基因组</a:t>
            </a:r>
          </a:p>
        </p:txBody>
      </p:sp>
      <p:sp>
        <p:nvSpPr>
          <p:cNvPr id="3" name="矩形 2"/>
          <p:cNvSpPr/>
          <p:nvPr/>
        </p:nvSpPr>
        <p:spPr>
          <a:xfrm>
            <a:off x="927378" y="2040654"/>
            <a:ext cx="11264622" cy="1569660"/>
          </a:xfrm>
          <a:prstGeom prst="rect">
            <a:avLst/>
          </a:prstGeom>
        </p:spPr>
        <p:txBody>
          <a:bodyPr wrap="none">
            <a:spAutoFit/>
          </a:bodyPr>
          <a:lstStyle/>
          <a:p>
            <a:r>
              <a:rPr lang="zh-CN" altLang="en-US" sz="4800" b="1" dirty="0"/>
              <a:t>请自己认真看书</a:t>
            </a:r>
            <a:endParaRPr lang="en-US" altLang="zh-CN" sz="4800" b="1" dirty="0"/>
          </a:p>
          <a:p>
            <a:r>
              <a:rPr lang="zh-CN" altLang="en-US" sz="4800" b="1" dirty="0"/>
              <a:t>区分病毒、细菌、真核生物基因组的特点</a:t>
            </a:r>
          </a:p>
        </p:txBody>
      </p:sp>
    </p:spTree>
    <p:extLst>
      <p:ext uri="{BB962C8B-B14F-4D97-AF65-F5344CB8AC3E}">
        <p14:creationId xmlns:p14="http://schemas.microsoft.com/office/powerpoint/2010/main" val="1810131149"/>
      </p:ext>
    </p:ext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endParaRPr>
            </a:p>
          </p:txBody>
        </p:sp>
        <p:sp>
          <p:nvSpPr>
            <p:cNvPr id="19" name="文本框 18"/>
            <p:cNvSpPr txBox="1"/>
            <p:nvPr/>
          </p:nvSpPr>
          <p:spPr>
            <a:xfrm>
              <a:off x="569211" y="334330"/>
              <a:ext cx="1338788" cy="466581"/>
            </a:xfrm>
            <a:prstGeom prst="rect">
              <a:avLst/>
            </a:prstGeom>
            <a:noFill/>
          </p:spPr>
          <p:txBody>
            <a:bodyPr wrap="square" lIns="68580" tIns="34290" rIns="68580" bIns="34290" rtlCol="0">
              <a:spAutoFit/>
            </a:bodyPr>
            <a:lstStyle/>
            <a:p>
              <a:r>
                <a:rPr lang="en-US" altLang="zh-CN" sz="6600" dirty="0">
                  <a:solidFill>
                    <a:prstClr val="white">
                      <a:lumMod val="95000"/>
                    </a:prstClr>
                  </a:solidFill>
                  <a:latin typeface="Impact" panose="020B0806030902050204" pitchFamily="34" charset="0"/>
                </a:rPr>
                <a:t>11.3</a:t>
              </a:r>
            </a:p>
          </p:txBody>
        </p:sp>
      </p:grpSp>
      <p:sp>
        <p:nvSpPr>
          <p:cNvPr id="20" name="TextBox 48"/>
          <p:cNvSpPr txBox="1"/>
          <p:nvPr/>
        </p:nvSpPr>
        <p:spPr>
          <a:xfrm>
            <a:off x="4965065" y="2737486"/>
            <a:ext cx="5000738" cy="807085"/>
          </a:xfrm>
          <a:prstGeom prst="rect">
            <a:avLst/>
          </a:prstGeom>
          <a:noFill/>
        </p:spPr>
        <p:txBody>
          <a:bodyPr wrap="square" lIns="68584" tIns="34291" rIns="68584" bIns="34291" rtlCol="0">
            <a:spAutoFit/>
          </a:bodyPr>
          <a:lstStyle/>
          <a:p>
            <a:r>
              <a:rPr lang="en-US" altLang="zh-CN" sz="4800" b="1" dirty="0">
                <a:solidFill>
                  <a:prstClr val="black">
                    <a:lumMod val="75000"/>
                    <a:lumOff val="25000"/>
                  </a:prstClr>
                </a:solidFill>
                <a:latin typeface="微软雅黑" panose="020B0503020204020204" pitchFamily="34" charset="-122"/>
                <a:ea typeface="微软雅黑" panose="020B0503020204020204" pitchFamily="34" charset="-122"/>
              </a:rPr>
              <a:t>RNA</a:t>
            </a:r>
            <a:r>
              <a:rPr lang="zh-CN" altLang="en-US" sz="4800" b="1" dirty="0">
                <a:solidFill>
                  <a:prstClr val="black">
                    <a:lumMod val="75000"/>
                    <a:lumOff val="25000"/>
                  </a:prstClr>
                </a:solidFill>
                <a:latin typeface="微软雅黑" panose="020B0503020204020204" pitchFamily="34" charset="-122"/>
                <a:ea typeface="微软雅黑" panose="020B0503020204020204" pitchFamily="34" charset="-122"/>
              </a:rPr>
              <a:t>的结构</a:t>
            </a:r>
          </a:p>
        </p:txBody>
      </p:sp>
    </p:spTree>
    <p:extLst>
      <p:ext uri="{BB962C8B-B14F-4D97-AF65-F5344CB8AC3E}">
        <p14:creationId xmlns:p14="http://schemas.microsoft.com/office/powerpoint/2010/main" val="31999153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619200" y="-127000"/>
            <a:ext cx="4953600" cy="1015663"/>
          </a:xfrm>
          <a:prstGeom prst="rect">
            <a:avLst/>
          </a:prstGeom>
          <a:noFill/>
        </p:spPr>
        <p:txBody>
          <a:bodyPr wrap="none" rtlCol="0" anchor="t">
            <a:spAutoFit/>
          </a:bodyPr>
          <a:lstStyle/>
          <a:p>
            <a:pPr algn="l">
              <a:lnSpc>
                <a:spcPct val="150000"/>
              </a:lnSpc>
              <a:buClrTx/>
              <a:buSzTx/>
              <a:buFont typeface="Arial" panose="020B0604020202020204" pitchFamily="34" charset="0"/>
              <a:buNone/>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一、</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的二级结构</a:t>
            </a:r>
          </a:p>
        </p:txBody>
      </p:sp>
      <p:sp>
        <p:nvSpPr>
          <p:cNvPr id="52226" name="内容占位符 2"/>
          <p:cNvSpPr>
            <a:spLocks noGrp="1"/>
          </p:cNvSpPr>
          <p:nvPr>
            <p:ph type="subTitle" idx="4294967295"/>
          </p:nvPr>
        </p:nvSpPr>
        <p:spPr>
          <a:xfrm>
            <a:off x="0" y="927307"/>
            <a:ext cx="12192000" cy="4242101"/>
          </a:xfrm>
        </p:spPr>
        <p:txBody>
          <a:bodyPr vert="horz" wrap="square" lIns="91440" tIns="45720" rIns="91440" bIns="45720" rtlCol="0" anchor="t" anchorCtr="0">
            <a:noAutofit/>
          </a:bodyPr>
          <a:lstStyle/>
          <a:p>
            <a:pPr marL="342900" indent="-342900" algn="l">
              <a:lnSpc>
                <a:spcPct val="130000"/>
              </a:lnSpc>
              <a:buClr>
                <a:srgbClr val="000000"/>
              </a:buClr>
              <a:buFont typeface="Arial" panose="020B0604020202020204" pitchFamily="34" charset="0"/>
              <a:buChar char="•"/>
            </a:pPr>
            <a:r>
              <a:rPr lang="en-US" altLang="zh-CN" sz="2600" b="1" dirty="0">
                <a:latin typeface="微软雅黑" panose="020B0503020204020204" pitchFamily="34" charset="-122"/>
                <a:ea typeface="微软雅黑" panose="020B0503020204020204" pitchFamily="34" charset="-122"/>
                <a:cs typeface="微软雅黑" panose="020B0503020204020204" pitchFamily="34" charset="-122"/>
              </a:rPr>
              <a:t>RNA</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的二级结构主要取决于它的碱基组成，其二级结构的</a:t>
            </a:r>
            <a:r>
              <a:rPr lang="zh-CN" altLang="en-US" sz="2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多样性可以和蛋白质相媲美</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a:t>
            </a:r>
          </a:p>
          <a:p>
            <a:pPr marL="342900" indent="-342900" algn="l">
              <a:lnSpc>
                <a:spcPct val="130000"/>
              </a:lnSpc>
              <a:buClr>
                <a:srgbClr val="000000"/>
              </a:buClr>
              <a:buFont typeface="Arial" panose="020B0604020202020204" pitchFamily="34" charset="0"/>
              <a:buChar char="•"/>
            </a:pP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多数</a:t>
            </a:r>
            <a:r>
              <a:rPr lang="en-US" altLang="zh-CN" sz="2600" b="1" dirty="0">
                <a:latin typeface="微软雅黑" panose="020B0503020204020204" pitchFamily="34" charset="-122"/>
                <a:ea typeface="微软雅黑" panose="020B0503020204020204" pitchFamily="34" charset="-122"/>
                <a:cs typeface="微软雅黑" panose="020B0503020204020204" pitchFamily="34" charset="-122"/>
              </a:rPr>
              <a:t>RNA</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仅由一条链组成，它们的二级结构主要是由</a:t>
            </a:r>
            <a:r>
              <a:rPr lang="zh-CN" altLang="en-US" sz="2600" b="1"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链内碱基的互补性决定的</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：链内互补的碱基可以相互作用形成</a:t>
            </a:r>
            <a:r>
              <a:rPr lang="zh-CN" altLang="en-US" sz="2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链内</a:t>
            </a:r>
            <a:r>
              <a:rPr lang="en-US" altLang="zh-CN" sz="2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型双螺旋</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，非互补的碱基则游离在双螺旋之外，形成各种二级结构。</a:t>
            </a:r>
          </a:p>
          <a:p>
            <a:pPr marL="342900" indent="-342900" algn="l">
              <a:lnSpc>
                <a:spcPct val="130000"/>
              </a:lnSpc>
              <a:buClr>
                <a:srgbClr val="000000"/>
              </a:buClr>
              <a:buFont typeface="Arial" panose="020B0604020202020204" pitchFamily="34" charset="0"/>
              <a:buChar char="•"/>
            </a:pP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sym typeface="+mn-ea"/>
              </a:rPr>
              <a:t>少数病毒</a:t>
            </a:r>
            <a:r>
              <a:rPr lang="en-US" altLang="zh-CN" sz="2600" b="1" dirty="0">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sym typeface="+mn-ea"/>
              </a:rPr>
              <a:t>由两条互补的多聚核糖核苷酸链组成，它的二级结构为</a:t>
            </a:r>
            <a:r>
              <a:rPr lang="en-US" altLang="zh-CN" sz="2600" b="1" dirty="0">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sym typeface="+mn-ea"/>
              </a:rPr>
              <a:t>型双螺旋。</a:t>
            </a:r>
            <a:endParaRPr lang="zh-CN" altLang="en-US" sz="2600" b="1"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a:lnSpc>
                <a:spcPct val="130000"/>
              </a:lnSpc>
              <a:buClr>
                <a:srgbClr val="000000"/>
              </a:buClr>
              <a:buFont typeface="Arial" panose="020B0604020202020204" pitchFamily="34" charset="0"/>
              <a:buChar char="•"/>
            </a:pP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2600" b="1" dirty="0">
                <a:latin typeface="微软雅黑" panose="020B0503020204020204" pitchFamily="34" charset="-122"/>
                <a:ea typeface="微软雅黑" panose="020B0503020204020204" pitchFamily="34" charset="-122"/>
                <a:cs typeface="微软雅黑" panose="020B0503020204020204" pitchFamily="34" charset="-122"/>
              </a:rPr>
              <a:t>RNA</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双螺旋内常常可以发现</a:t>
            </a:r>
            <a:r>
              <a:rPr lang="en-US" altLang="zh-CN" sz="2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GU</a:t>
            </a:r>
            <a:r>
              <a:rPr lang="zh-CN" altLang="en-US" sz="2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碱基对</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a:t>
            </a:r>
          </a:p>
        </p:txBody>
      </p:sp>
      <p:pic>
        <p:nvPicPr>
          <p:cNvPr id="2" name="图片 1"/>
          <p:cNvPicPr>
            <a:picLocks noChangeAspect="1"/>
          </p:cNvPicPr>
          <p:nvPr/>
        </p:nvPicPr>
        <p:blipFill>
          <a:blip r:embed="rId2">
            <a:lum bright="-6000" contrast="-6000"/>
          </a:blip>
          <a:stretch>
            <a:fillRect/>
          </a:stretch>
        </p:blipFill>
        <p:spPr>
          <a:xfrm>
            <a:off x="6740325" y="4227508"/>
            <a:ext cx="2465407" cy="2583180"/>
          </a:xfrm>
          <a:prstGeom prst="rect">
            <a:avLst/>
          </a:prstGeom>
        </p:spPr>
      </p:pic>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75488" y="-97536"/>
            <a:ext cx="4953600" cy="1015663"/>
          </a:xfrm>
          <a:prstGeom prst="rect">
            <a:avLst/>
          </a:prstGeom>
          <a:noFill/>
        </p:spPr>
        <p:txBody>
          <a:bodyPr wrap="none" rtlCol="0" anchor="t">
            <a:spAutoFit/>
          </a:bodyPr>
          <a:lstStyle/>
          <a:p>
            <a:pPr algn="l">
              <a:lnSpc>
                <a:spcPct val="150000"/>
              </a:lnSpc>
              <a:buClrTx/>
              <a:buSzTx/>
              <a:buFont typeface="Arial" panose="020B0604020202020204" pitchFamily="34" charset="0"/>
              <a:buNone/>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一、</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的二级结构</a:t>
            </a:r>
          </a:p>
        </p:txBody>
      </p:sp>
      <p:pic>
        <p:nvPicPr>
          <p:cNvPr id="2" name="图片 1"/>
          <p:cNvPicPr>
            <a:picLocks noChangeAspect="1"/>
          </p:cNvPicPr>
          <p:nvPr/>
        </p:nvPicPr>
        <p:blipFill>
          <a:blip r:embed="rId2">
            <a:lum bright="-6000" contrast="-6000"/>
          </a:blip>
          <a:stretch>
            <a:fillRect/>
          </a:stretch>
        </p:blipFill>
        <p:spPr>
          <a:xfrm>
            <a:off x="5888737" y="0"/>
            <a:ext cx="6303264" cy="6887310"/>
          </a:xfrm>
          <a:prstGeom prst="rect">
            <a:avLst/>
          </a:prstGeom>
        </p:spPr>
      </p:pic>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490061" y="-85131"/>
            <a:ext cx="4953600" cy="1015663"/>
          </a:xfrm>
          <a:prstGeom prst="rect">
            <a:avLst/>
          </a:prstGeom>
          <a:noFill/>
        </p:spPr>
        <p:txBody>
          <a:bodyPr wrap="none" rtlCol="0" anchor="t">
            <a:spAutoFit/>
          </a:bodyPr>
          <a:lstStyle/>
          <a:p>
            <a:pPr algn="l">
              <a:lnSpc>
                <a:spcPct val="150000"/>
              </a:lnSpc>
              <a:buClrTx/>
              <a:buSzTx/>
              <a:buFont typeface="Arial" panose="020B0604020202020204" pitchFamily="34" charset="0"/>
              <a:buNone/>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二、</a:t>
            </a: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的三级结构</a:t>
            </a:r>
          </a:p>
        </p:txBody>
      </p:sp>
      <p:sp>
        <p:nvSpPr>
          <p:cNvPr id="55298" name="Rectangle 3"/>
          <p:cNvSpPr>
            <a:spLocks noGrp="1"/>
          </p:cNvSpPr>
          <p:nvPr>
            <p:ph type="subTitle" idx="4294967295"/>
          </p:nvPr>
        </p:nvSpPr>
        <p:spPr>
          <a:xfrm>
            <a:off x="0" y="843321"/>
            <a:ext cx="12191999" cy="5327650"/>
          </a:xfrm>
        </p:spPr>
        <p:txBody>
          <a:bodyPr vert="horz" wrap="square" lIns="91440" tIns="45720" rIns="91440" bIns="45720" rtlCol="0" anchor="t" anchorCtr="0">
            <a:noAutofit/>
          </a:bodyPr>
          <a:lstStyle/>
          <a:p>
            <a:pPr marL="342900" indent="-342900">
              <a:lnSpc>
                <a:spcPct val="130000"/>
              </a:lnSpc>
              <a:buClr>
                <a:srgbClr val="000000"/>
              </a:buClr>
            </a:pPr>
            <a:r>
              <a:rPr lang="en-US" altLang="zh-CN" sz="2600" b="1" dirty="0">
                <a:latin typeface="微软雅黑" panose="020B0503020204020204" pitchFamily="34" charset="-122"/>
                <a:ea typeface="微软雅黑" panose="020B0503020204020204" pitchFamily="34" charset="-122"/>
                <a:cs typeface="微软雅黑" panose="020B0503020204020204" pitchFamily="34" charset="-122"/>
              </a:rPr>
              <a:t>RNA</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的三级结构是在二级结构的基础上进一步折叠、包装而成的，复杂性不亚于蛋白质。</a:t>
            </a:r>
          </a:p>
          <a:p>
            <a:pPr marL="342900" indent="-342900">
              <a:lnSpc>
                <a:spcPct val="130000"/>
              </a:lnSpc>
              <a:buClr>
                <a:srgbClr val="000000"/>
              </a:buClr>
            </a:pP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其中的双螺旋区域主要充当刚性的框架结构来组织其他结构或功能部件。</a:t>
            </a:r>
          </a:p>
          <a:p>
            <a:pPr marL="342900" indent="-342900">
              <a:lnSpc>
                <a:spcPct val="130000"/>
              </a:lnSpc>
              <a:buClr>
                <a:srgbClr val="000000"/>
              </a:buClr>
            </a:pP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构成突起、内部环、发夹环和末端环的单链区域对于</a:t>
            </a:r>
            <a:r>
              <a:rPr lang="en-US" altLang="zh-CN" sz="2600" b="1" dirty="0">
                <a:latin typeface="微软雅黑" panose="020B0503020204020204" pitchFamily="34" charset="-122"/>
                <a:ea typeface="微软雅黑" panose="020B0503020204020204" pitchFamily="34" charset="-122"/>
                <a:cs typeface="微软雅黑" panose="020B0503020204020204" pitchFamily="34" charset="-122"/>
              </a:rPr>
              <a:t>RNA</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最终三级结构的形成至关重要，其作用相当于氨基酸残基的侧链基团对于蛋白质三级结构形成的贡献；</a:t>
            </a:r>
          </a:p>
          <a:p>
            <a:pPr marL="342900" indent="-342900">
              <a:lnSpc>
                <a:spcPct val="130000"/>
              </a:lnSpc>
              <a:buClr>
                <a:srgbClr val="000000"/>
              </a:buClr>
            </a:pP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正是因为这些单链区之间以及单链区与双链区之间核苷酸的相互作用，才使得一种</a:t>
            </a:r>
            <a:r>
              <a:rPr lang="en-US" altLang="zh-CN" sz="2600" b="1" dirty="0">
                <a:latin typeface="微软雅黑" panose="020B0503020204020204" pitchFamily="34" charset="-122"/>
                <a:ea typeface="微软雅黑" panose="020B0503020204020204" pitchFamily="34" charset="-122"/>
                <a:cs typeface="微软雅黑" panose="020B0503020204020204" pitchFamily="34" charset="-122"/>
              </a:rPr>
              <a:t>RNA</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最终能够折叠成特有的三级结构。</a:t>
            </a:r>
          </a:p>
          <a:p>
            <a:pPr marL="342900" indent="-342900">
              <a:lnSpc>
                <a:spcPct val="130000"/>
              </a:lnSpc>
              <a:buClr>
                <a:srgbClr val="000000"/>
              </a:buClr>
            </a:pPr>
            <a:r>
              <a:rPr lang="en-US" altLang="zh-CN" sz="2600" b="1" dirty="0">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sym typeface="+mn-ea"/>
              </a:rPr>
              <a:t>折叠，特别是较大的</a:t>
            </a:r>
            <a:r>
              <a:rPr lang="en-US" altLang="zh-CN" sz="2600" b="1" dirty="0">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sym typeface="+mn-ea"/>
              </a:rPr>
              <a:t>，就像大多数蛋白质折叠一样，也需要分子伴侣的帮助，以便让大多数</a:t>
            </a:r>
            <a:r>
              <a:rPr lang="en-US" altLang="zh-CN" sz="2600" b="1" dirty="0">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sym typeface="+mn-ea"/>
              </a:rPr>
              <a:t>能快速折叠成正确的构象。</a:t>
            </a:r>
            <a:endParaRPr lang="zh-CN" altLang="en-US" sz="2600" b="1"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30000"/>
              </a:lnSpc>
              <a:buClr>
                <a:srgbClr val="000000"/>
              </a:buClr>
            </a:pPr>
            <a:endParaRPr lang="zh-CN" altLang="en-US" sz="26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4" descr="6-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898" y="-16663"/>
            <a:ext cx="8076995" cy="7072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Rectangle 5"/>
          <p:cNvSpPr>
            <a:spLocks noChangeArrowheads="1"/>
          </p:cNvSpPr>
          <p:nvPr/>
        </p:nvSpPr>
        <p:spPr bwMode="auto">
          <a:xfrm>
            <a:off x="1418559" y="5778679"/>
            <a:ext cx="4594528" cy="40011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2000" b="1" dirty="0">
                <a:solidFill>
                  <a:schemeClr val="tx1"/>
                </a:solidFill>
                <a:latin typeface="Times New Roman" pitchFamily="18" charset="0"/>
                <a:ea typeface="楷体" pitchFamily="49" charset="-122"/>
                <a:cs typeface="Times New Roman" pitchFamily="18" charset="0"/>
              </a:rPr>
              <a:t>枯草杆菌</a:t>
            </a:r>
            <a:r>
              <a:rPr lang="en-US" altLang="zh-CN" sz="2000" b="1" dirty="0">
                <a:solidFill>
                  <a:schemeClr val="tx1"/>
                </a:solidFill>
                <a:latin typeface="Times New Roman" pitchFamily="18" charset="0"/>
                <a:ea typeface="楷体" pitchFamily="49" charset="-122"/>
                <a:cs typeface="Times New Roman" pitchFamily="18" charset="0"/>
              </a:rPr>
              <a:t>TPP</a:t>
            </a:r>
            <a:r>
              <a:rPr lang="zh-CN" altLang="en-US" sz="2000" b="1" dirty="0">
                <a:solidFill>
                  <a:schemeClr val="tx1"/>
                </a:solidFill>
                <a:latin typeface="Times New Roman" pitchFamily="18" charset="0"/>
                <a:ea typeface="楷体" pitchFamily="49" charset="-122"/>
                <a:cs typeface="Times New Roman" pitchFamily="18" charset="0"/>
              </a:rPr>
              <a:t>核开关的三级结构的形成</a:t>
            </a:r>
            <a:r>
              <a:rPr lang="zh-CN" altLang="en-US" b="1" dirty="0">
                <a:ea typeface="楷体" pitchFamily="49" charset="-122"/>
                <a:cs typeface="Times New Roman" pitchFamily="18" charset="0"/>
              </a:rPr>
              <a:t> </a:t>
            </a:r>
          </a:p>
        </p:txBody>
      </p:sp>
    </p:spTree>
    <p:extLst>
      <p:ext uri="{BB962C8B-B14F-4D97-AF65-F5344CB8AC3E}">
        <p14:creationId xmlns:p14="http://schemas.microsoft.com/office/powerpoint/2010/main" val="352677188"/>
      </p:ext>
    </p:extLst>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105" y="283779"/>
            <a:ext cx="11581821" cy="635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50365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041525" y="6986"/>
            <a:ext cx="8108950" cy="825419"/>
          </a:xfrm>
          <a:prstGeom prst="rect">
            <a:avLst/>
          </a:prstGeom>
        </p:spPr>
        <p:txBody>
          <a:bodyPr wrap="square">
            <a:spAutoFit/>
          </a:bodyPr>
          <a:lstStyle/>
          <a:p>
            <a:pPr algn="ctr" defTabSz="914400" fontAlgn="base">
              <a:lnSpc>
                <a:spcPct val="150000"/>
              </a:lnSpc>
              <a:spcBef>
                <a:spcPct val="0"/>
              </a:spcBef>
              <a:spcAft>
                <a:spcPct val="0"/>
              </a:spcAft>
              <a:defRPr/>
            </a:pPr>
            <a:r>
              <a:rPr lang="en-US" sz="3600" b="1" dirty="0" err="1">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mRNA：message</a:t>
            </a:r>
            <a:r>
              <a:rPr lang="en-US" sz="36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RNA，</a:t>
            </a:r>
            <a:r>
              <a:rPr lang="zh-CN" altLang="en-US" sz="36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信使</a:t>
            </a:r>
            <a:r>
              <a:rPr lang="en-US" sz="36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RNA</a:t>
            </a:r>
          </a:p>
        </p:txBody>
      </p:sp>
      <p:pic>
        <p:nvPicPr>
          <p:cNvPr id="2" name="图片 1"/>
          <p:cNvPicPr>
            <a:picLocks noChangeAspect="1"/>
          </p:cNvPicPr>
          <p:nvPr/>
        </p:nvPicPr>
        <p:blipFill rotWithShape="1">
          <a:blip r:embed="rId2"/>
          <a:srcRect t="3828" r="2957"/>
          <a:stretch/>
        </p:blipFill>
        <p:spPr>
          <a:xfrm>
            <a:off x="1493135" y="1099071"/>
            <a:ext cx="9659817" cy="4770344"/>
          </a:xfrm>
          <a:prstGeom prst="rect">
            <a:avLst/>
          </a:prstGeom>
        </p:spPr>
      </p:pic>
      <p:sp>
        <p:nvSpPr>
          <p:cNvPr id="4" name="文本框 3"/>
          <p:cNvSpPr txBox="1"/>
          <p:nvPr/>
        </p:nvSpPr>
        <p:spPr>
          <a:xfrm>
            <a:off x="7335987" y="5533975"/>
            <a:ext cx="2401570" cy="645160"/>
          </a:xfrm>
          <a:prstGeom prst="rect">
            <a:avLst/>
          </a:prstGeom>
          <a:noFill/>
        </p:spPr>
        <p:txBody>
          <a:bodyPr wrap="none" rtlCol="0">
            <a:spAutoFit/>
          </a:bodyPr>
          <a:lstStyle/>
          <a:p>
            <a:pPr>
              <a:lnSpc>
                <a:spcPct val="150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原核生物</a:t>
            </a: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mRNA</a:t>
            </a:r>
          </a:p>
        </p:txBody>
      </p:sp>
      <p:sp>
        <p:nvSpPr>
          <p:cNvPr id="7" name="文本框 6"/>
          <p:cNvSpPr txBox="1"/>
          <p:nvPr/>
        </p:nvSpPr>
        <p:spPr>
          <a:xfrm>
            <a:off x="2981890" y="1229130"/>
            <a:ext cx="6237605" cy="553998"/>
          </a:xfrm>
          <a:prstGeom prst="rect">
            <a:avLst/>
          </a:prstGeom>
          <a:noFill/>
        </p:spPr>
        <p:txBody>
          <a:bodyPr wrap="none" rtlCol="0">
            <a:spAutoFit/>
          </a:bodyPr>
          <a:lstStyle/>
          <a:p>
            <a:pP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单顺反子</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多顺反子</a:t>
            </a:r>
          </a:p>
        </p:txBody>
      </p:sp>
      <p:sp>
        <p:nvSpPr>
          <p:cNvPr id="8" name="文本框 7"/>
          <p:cNvSpPr txBox="1"/>
          <p:nvPr/>
        </p:nvSpPr>
        <p:spPr>
          <a:xfrm>
            <a:off x="2504029" y="5533975"/>
            <a:ext cx="2401570" cy="645160"/>
          </a:xfrm>
          <a:prstGeom prst="rect">
            <a:avLst/>
          </a:prstGeom>
          <a:noFill/>
        </p:spPr>
        <p:txBody>
          <a:bodyPr wrap="none" rtlCol="0">
            <a:spAutoFit/>
          </a:bodyPr>
          <a:lstStyle/>
          <a:p>
            <a:pPr>
              <a:lnSpc>
                <a:spcPct val="150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真核生物</a:t>
            </a: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mRNA</a:t>
            </a:r>
          </a:p>
        </p:txBody>
      </p:sp>
    </p:spTree>
    <p:extLst>
      <p:ext uri="{BB962C8B-B14F-4D97-AF65-F5344CB8AC3E}">
        <p14:creationId xmlns:p14="http://schemas.microsoft.com/office/powerpoint/2010/main" val="2718224771"/>
      </p:ext>
    </p:extLst>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041525" y="6986"/>
            <a:ext cx="8108950" cy="825419"/>
          </a:xfrm>
          <a:prstGeom prst="rect">
            <a:avLst/>
          </a:prstGeom>
        </p:spPr>
        <p:txBody>
          <a:bodyPr wrap="square">
            <a:spAutoFit/>
          </a:bodyPr>
          <a:lstStyle/>
          <a:p>
            <a:pPr algn="ctr" defTabSz="914400" fontAlgn="base">
              <a:lnSpc>
                <a:spcPct val="150000"/>
              </a:lnSpc>
              <a:spcBef>
                <a:spcPct val="0"/>
              </a:spcBef>
              <a:spcAft>
                <a:spcPct val="0"/>
              </a:spcAft>
              <a:defRPr/>
            </a:pPr>
            <a:r>
              <a:rPr lang="en-US" sz="3600" b="1" dirty="0" err="1">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mRNA：message</a:t>
            </a:r>
            <a:r>
              <a:rPr lang="en-US" sz="36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RNA，</a:t>
            </a:r>
            <a:r>
              <a:rPr lang="zh-CN" altLang="en-US" sz="36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信使</a:t>
            </a:r>
            <a:r>
              <a:rPr lang="en-US" sz="36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RNA</a:t>
            </a:r>
          </a:p>
        </p:txBody>
      </p:sp>
      <p:pic>
        <p:nvPicPr>
          <p:cNvPr id="9" name="图片 8"/>
          <p:cNvPicPr>
            <a:picLocks noChangeAspect="1"/>
          </p:cNvPicPr>
          <p:nvPr/>
        </p:nvPicPr>
        <p:blipFill rotWithShape="1">
          <a:blip r:embed="rId2"/>
          <a:srcRect t="2057"/>
          <a:stretch/>
        </p:blipFill>
        <p:spPr>
          <a:xfrm>
            <a:off x="2303361" y="989388"/>
            <a:ext cx="6489273" cy="5536314"/>
          </a:xfrm>
          <a:prstGeom prst="rect">
            <a:avLst/>
          </a:prstGeom>
        </p:spPr>
      </p:pic>
      <p:sp>
        <p:nvSpPr>
          <p:cNvPr id="11" name="文本框 6"/>
          <p:cNvSpPr txBox="1"/>
          <p:nvPr/>
        </p:nvSpPr>
        <p:spPr>
          <a:xfrm>
            <a:off x="5866587" y="5142990"/>
            <a:ext cx="4070350" cy="553085"/>
          </a:xfrm>
          <a:prstGeom prst="rect">
            <a:avLst/>
          </a:prstGeom>
          <a:noFill/>
        </p:spPr>
        <p:txBody>
          <a:bodyPr wrap="none" rtlCol="0">
            <a:spAutoFit/>
          </a:bodyPr>
          <a:lstStyle/>
          <a:p>
            <a:pPr>
              <a:lnSpc>
                <a:spcPct val="150000"/>
              </a:lnSpc>
            </a:pPr>
            <a:r>
              <a:rPr lang="en-US" altLang="zh-CN"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单顺反子</a:t>
            </a:r>
          </a:p>
        </p:txBody>
      </p:sp>
      <p:sp>
        <p:nvSpPr>
          <p:cNvPr id="12" name="文本框 7"/>
          <p:cNvSpPr txBox="1"/>
          <p:nvPr/>
        </p:nvSpPr>
        <p:spPr>
          <a:xfrm>
            <a:off x="8268945" y="4725371"/>
            <a:ext cx="2032000" cy="553085"/>
          </a:xfrm>
          <a:prstGeom prst="rect">
            <a:avLst/>
          </a:prstGeom>
          <a:noFill/>
        </p:spPr>
        <p:txBody>
          <a:bodyPr wrap="none" rtlCol="0">
            <a:spAutoFit/>
          </a:bodyPr>
          <a:lstStyle/>
          <a:p>
            <a:pP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真核生物</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mRNA</a:t>
            </a:r>
          </a:p>
        </p:txBody>
      </p:sp>
    </p:spTree>
    <p:extLst>
      <p:ext uri="{BB962C8B-B14F-4D97-AF65-F5344CB8AC3E}">
        <p14:creationId xmlns:p14="http://schemas.microsoft.com/office/powerpoint/2010/main" val="1461747486"/>
      </p:ext>
    </p:extLst>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7" descr="6-29"/>
          <p:cNvPicPr>
            <a:picLocks noChangeAspect="1" noChangeArrowheads="1"/>
          </p:cNvPicPr>
          <p:nvPr/>
        </p:nvPicPr>
        <p:blipFill rotWithShape="1">
          <a:blip r:embed="rId3">
            <a:extLst>
              <a:ext uri="{28A0092B-C50C-407E-A947-70E740481C1C}">
                <a14:useLocalDpi xmlns:a14="http://schemas.microsoft.com/office/drawing/2010/main" val="0"/>
              </a:ext>
            </a:extLst>
          </a:blip>
          <a:srcRect r="44634"/>
          <a:stretch/>
        </p:blipFill>
        <p:spPr bwMode="auto">
          <a:xfrm>
            <a:off x="2856386" y="821803"/>
            <a:ext cx="4227598" cy="6036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a:extLst>
              <a:ext uri="{FF2B5EF4-FFF2-40B4-BE49-F238E27FC236}">
                <a16:creationId xmlns:a16="http://schemas.microsoft.com/office/drawing/2014/main" id="{057F357F-8E08-D419-0994-AFBB370B5EB5}"/>
              </a:ext>
            </a:extLst>
          </p:cNvPr>
          <p:cNvPicPr>
            <a:picLocks noChangeAspect="1"/>
          </p:cNvPicPr>
          <p:nvPr/>
        </p:nvPicPr>
        <p:blipFill>
          <a:blip r:embed="rId4"/>
          <a:stretch>
            <a:fillRect/>
          </a:stretch>
        </p:blipFill>
        <p:spPr>
          <a:xfrm>
            <a:off x="8447458" y="2175870"/>
            <a:ext cx="2296976" cy="2406356"/>
          </a:xfrm>
          <a:prstGeom prst="rect">
            <a:avLst/>
          </a:prstGeom>
        </p:spPr>
      </p:pic>
      <p:sp>
        <p:nvSpPr>
          <p:cNvPr id="5" name="文本框 4">
            <a:extLst>
              <a:ext uri="{FF2B5EF4-FFF2-40B4-BE49-F238E27FC236}">
                <a16:creationId xmlns:a16="http://schemas.microsoft.com/office/drawing/2014/main" id="{C163EE7A-14B7-C4C6-3C8B-8DA57285A105}"/>
              </a:ext>
            </a:extLst>
          </p:cNvPr>
          <p:cNvSpPr txBox="1"/>
          <p:nvPr/>
        </p:nvSpPr>
        <p:spPr>
          <a:xfrm>
            <a:off x="6400791" y="975541"/>
            <a:ext cx="5659829" cy="1200329"/>
          </a:xfrm>
          <a:prstGeom prst="rect">
            <a:avLst/>
          </a:prstGeom>
          <a:noFill/>
        </p:spPr>
        <p:txBody>
          <a:bodyPr wrap="square" rtlCol="0">
            <a:spAutoFit/>
          </a:bodyPr>
          <a:lstStyle>
            <a:defPPr>
              <a:defRPr lang="en-US"/>
            </a:defPPr>
            <a:lvl1pPr>
              <a:lnSpc>
                <a:spcPct val="100000"/>
              </a:lnSpc>
              <a:defRPr sz="2400" b="1">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solidFill>
                  <a:srgbClr val="0066FF"/>
                </a:solidFill>
              </a:rPr>
              <a:t>受体茎</a:t>
            </a:r>
            <a:r>
              <a:rPr lang="zh-CN" altLang="en-US" dirty="0"/>
              <a:t>：携带一个特定的氨基酸，被其羧基酯化到 tRNA 3</a:t>
            </a:r>
            <a:r>
              <a:rPr lang="en-US" altLang="zh-CN" dirty="0"/>
              <a:t>´</a:t>
            </a:r>
            <a:r>
              <a:rPr lang="zh-CN" altLang="en-US" dirty="0"/>
              <a:t>端</a:t>
            </a:r>
            <a:r>
              <a:rPr lang="en-US" altLang="zh-CN" dirty="0"/>
              <a:t>(CCA)</a:t>
            </a:r>
            <a:r>
              <a:rPr lang="zh-CN" altLang="en-US" dirty="0"/>
              <a:t> A残基的 2</a:t>
            </a:r>
            <a:r>
              <a:rPr lang="en-US" altLang="zh-CN" dirty="0"/>
              <a:t>´</a:t>
            </a:r>
            <a:r>
              <a:rPr lang="zh-CN" altLang="en-US" dirty="0"/>
              <a:t>-OH 或 3</a:t>
            </a:r>
            <a:r>
              <a:rPr lang="en-US" altLang="zh-CN" dirty="0"/>
              <a:t>´</a:t>
            </a:r>
            <a:r>
              <a:rPr lang="zh-CN" altLang="en-US" dirty="0"/>
              <a:t>-OH 基团。</a:t>
            </a:r>
          </a:p>
        </p:txBody>
      </p:sp>
      <p:sp>
        <p:nvSpPr>
          <p:cNvPr id="7" name="文本框 6">
            <a:extLst>
              <a:ext uri="{FF2B5EF4-FFF2-40B4-BE49-F238E27FC236}">
                <a16:creationId xmlns:a16="http://schemas.microsoft.com/office/drawing/2014/main" id="{6F6EE3E8-72E1-6214-67FE-7ABBC357A702}"/>
              </a:ext>
            </a:extLst>
          </p:cNvPr>
          <p:cNvSpPr txBox="1"/>
          <p:nvPr/>
        </p:nvSpPr>
        <p:spPr>
          <a:xfrm>
            <a:off x="450292" y="1558558"/>
            <a:ext cx="3773346" cy="1200329"/>
          </a:xfrm>
          <a:prstGeom prst="rect">
            <a:avLst/>
          </a:prstGeom>
          <a:noFill/>
        </p:spPr>
        <p:txBody>
          <a:bodyPr wrap="square" rtlCol="0">
            <a:spAutoFit/>
          </a:bodyPr>
          <a:lstStyle>
            <a:defPPr>
              <a:defRPr lang="en-US"/>
            </a:defPPr>
            <a:lvl1pPr>
              <a:lnSpc>
                <a:spcPct val="150000"/>
              </a:lnSpc>
              <a:defRPr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nSpc>
                <a:spcPct val="100000"/>
              </a:lnSpc>
            </a:pPr>
            <a:r>
              <a:rPr lang="en-US" altLang="zh-CN" dirty="0">
                <a:solidFill>
                  <a:srgbClr val="0066FF"/>
                </a:solidFill>
              </a:rPr>
              <a:t>D</a:t>
            </a:r>
            <a:r>
              <a:rPr lang="zh-CN" altLang="en-US" dirty="0">
                <a:solidFill>
                  <a:srgbClr val="0066FF"/>
                </a:solidFill>
              </a:rPr>
              <a:t>环</a:t>
            </a:r>
            <a:r>
              <a:rPr lang="zh-CN" altLang="en-US" dirty="0">
                <a:solidFill>
                  <a:schemeClr val="tx1"/>
                </a:solidFill>
              </a:rPr>
              <a:t>：含有不寻常的核苷酸</a:t>
            </a:r>
            <a:r>
              <a:rPr lang="zh-CN" altLang="en-US" dirty="0"/>
              <a:t>二氢吡啶</a:t>
            </a:r>
            <a:r>
              <a:rPr lang="en-US" altLang="zh-CN" dirty="0"/>
              <a:t>(D)</a:t>
            </a:r>
            <a:r>
              <a:rPr lang="zh-CN" altLang="en-US" dirty="0">
                <a:solidFill>
                  <a:schemeClr val="tx1"/>
                </a:solidFill>
              </a:rPr>
              <a:t>，有助于</a:t>
            </a:r>
            <a:r>
              <a:rPr lang="en-US" altLang="zh-CN" dirty="0">
                <a:solidFill>
                  <a:schemeClr val="tx1"/>
                </a:solidFill>
              </a:rPr>
              <a:t>tRNAs</a:t>
            </a:r>
            <a:r>
              <a:rPr lang="zh-CN" altLang="en-US" dirty="0">
                <a:solidFill>
                  <a:schemeClr val="tx1"/>
                </a:solidFill>
              </a:rPr>
              <a:t>的全面折叠。</a:t>
            </a:r>
          </a:p>
        </p:txBody>
      </p:sp>
      <p:sp>
        <p:nvSpPr>
          <p:cNvPr id="9" name="文本框 8">
            <a:extLst>
              <a:ext uri="{FF2B5EF4-FFF2-40B4-BE49-F238E27FC236}">
                <a16:creationId xmlns:a16="http://schemas.microsoft.com/office/drawing/2014/main" id="{362ACD99-CB82-AAEA-4A9C-5D909D8301F0}"/>
              </a:ext>
            </a:extLst>
          </p:cNvPr>
          <p:cNvSpPr txBox="1"/>
          <p:nvPr/>
        </p:nvSpPr>
        <p:spPr>
          <a:xfrm>
            <a:off x="6877551" y="4559135"/>
            <a:ext cx="5314450" cy="1569660"/>
          </a:xfrm>
          <a:prstGeom prst="rect">
            <a:avLst/>
          </a:prstGeom>
          <a:noFill/>
        </p:spPr>
        <p:txBody>
          <a:bodyPr wrap="square" rtlCol="0">
            <a:spAutoFit/>
          </a:bodyPr>
          <a:lstStyle>
            <a:defPPr>
              <a:defRPr lang="en-US"/>
            </a:defPPr>
            <a:lvl1pPr>
              <a:lnSpc>
                <a:spcPct val="100000"/>
              </a:lnSpc>
              <a:defRPr sz="2400" b="1">
                <a:latin typeface="微软雅黑" panose="020B0503020204020204" pitchFamily="34" charset="-122"/>
                <a:ea typeface="微软雅黑" panose="020B0503020204020204" pitchFamily="34" charset="-122"/>
                <a:cs typeface="微软雅黑" panose="020B0503020204020204" pitchFamily="34" charset="-122"/>
              </a:defRPr>
            </a:lvl1pPr>
          </a:lstStyle>
          <a:p>
            <a:r>
              <a:rPr lang="en-US" altLang="zh-CN" dirty="0" err="1">
                <a:solidFill>
                  <a:srgbClr val="0066FF"/>
                </a:solidFill>
              </a:rPr>
              <a:t>TψC</a:t>
            </a:r>
            <a:r>
              <a:rPr lang="zh-CN" altLang="en-US" dirty="0">
                <a:solidFill>
                  <a:srgbClr val="0066FF"/>
                </a:solidFill>
              </a:rPr>
              <a:t>环</a:t>
            </a:r>
            <a:r>
              <a:rPr lang="zh-CN" altLang="en-US" dirty="0"/>
              <a:t>：包含</a:t>
            </a:r>
            <a:r>
              <a:rPr lang="zh-CN" altLang="en-US" dirty="0">
                <a:solidFill>
                  <a:srgbClr val="FF0000"/>
                </a:solidFill>
              </a:rPr>
              <a:t>核糖胸苷</a:t>
            </a:r>
            <a:r>
              <a:rPr lang="en-US" altLang="zh-CN" dirty="0">
                <a:solidFill>
                  <a:srgbClr val="FF0000"/>
                </a:solidFill>
              </a:rPr>
              <a:t>(T)</a:t>
            </a:r>
            <a:r>
              <a:rPr lang="zh-CN" altLang="en-US" dirty="0"/>
              <a:t>，通常不存在于</a:t>
            </a:r>
            <a:r>
              <a:rPr lang="en-US" altLang="zh-CN" dirty="0"/>
              <a:t>RNA</a:t>
            </a:r>
            <a:r>
              <a:rPr lang="zh-CN" altLang="en-US" dirty="0"/>
              <a:t>中，以及</a:t>
            </a:r>
            <a:r>
              <a:rPr lang="zh-CN" altLang="en-US" dirty="0">
                <a:solidFill>
                  <a:srgbClr val="FF0000"/>
                </a:solidFill>
              </a:rPr>
              <a:t>假尿苷</a:t>
            </a:r>
            <a:r>
              <a:rPr lang="en-US" altLang="zh-CN" dirty="0">
                <a:solidFill>
                  <a:srgbClr val="FF0000"/>
                </a:solidFill>
              </a:rPr>
              <a:t>(ψ)</a:t>
            </a:r>
            <a:r>
              <a:rPr lang="zh-CN" altLang="en-US" dirty="0"/>
              <a:t>，它在碱基和核糖之间有一个不寻常的碳碳键。与大亚基</a:t>
            </a:r>
            <a:r>
              <a:rPr lang="en-US" altLang="zh-CN" dirty="0"/>
              <a:t>rRNA</a:t>
            </a:r>
            <a:r>
              <a:rPr lang="zh-CN" altLang="en-US" dirty="0"/>
              <a:t>相互作用。</a:t>
            </a:r>
          </a:p>
        </p:txBody>
      </p:sp>
      <p:pic>
        <p:nvPicPr>
          <p:cNvPr id="13" name="图片 12">
            <a:extLst>
              <a:ext uri="{FF2B5EF4-FFF2-40B4-BE49-F238E27FC236}">
                <a16:creationId xmlns:a16="http://schemas.microsoft.com/office/drawing/2014/main" id="{47C764C6-52A6-15EB-0CEA-E827AED9E661}"/>
              </a:ext>
            </a:extLst>
          </p:cNvPr>
          <p:cNvPicPr>
            <a:picLocks noChangeAspect="1"/>
          </p:cNvPicPr>
          <p:nvPr/>
        </p:nvPicPr>
        <p:blipFill>
          <a:blip r:embed="rId5"/>
          <a:stretch>
            <a:fillRect/>
          </a:stretch>
        </p:blipFill>
        <p:spPr>
          <a:xfrm>
            <a:off x="104186" y="2758886"/>
            <a:ext cx="2587521" cy="2504053"/>
          </a:xfrm>
          <a:prstGeom prst="rect">
            <a:avLst/>
          </a:prstGeom>
        </p:spPr>
      </p:pic>
      <p:sp>
        <p:nvSpPr>
          <p:cNvPr id="4" name="文本框 3">
            <a:extLst>
              <a:ext uri="{FF2B5EF4-FFF2-40B4-BE49-F238E27FC236}">
                <a16:creationId xmlns:a16="http://schemas.microsoft.com/office/drawing/2014/main" id="{CEE66B2B-A3D5-BBE4-DA07-6E9227B1C5E8}"/>
              </a:ext>
            </a:extLst>
          </p:cNvPr>
          <p:cNvSpPr txBox="1"/>
          <p:nvPr/>
        </p:nvSpPr>
        <p:spPr>
          <a:xfrm>
            <a:off x="1663716" y="5870159"/>
            <a:ext cx="1773167" cy="461665"/>
          </a:xfrm>
          <a:prstGeom prst="rect">
            <a:avLst/>
          </a:prstGeom>
          <a:noFill/>
        </p:spPr>
        <p:txBody>
          <a:bodyPr wrap="square" rtlCol="0">
            <a:spAutoFit/>
          </a:bodyPr>
          <a:lstStyle>
            <a:defPPr>
              <a:defRPr lang="en-US"/>
            </a:defPPr>
            <a:lvl1pPr>
              <a:lnSpc>
                <a:spcPct val="100000"/>
              </a:lnSpc>
              <a:defRPr sz="2400" b="1">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solidFill>
                  <a:srgbClr val="0066FF"/>
                </a:solidFill>
              </a:rPr>
              <a:t>反密码子环</a:t>
            </a:r>
          </a:p>
        </p:txBody>
      </p:sp>
      <p:sp>
        <p:nvSpPr>
          <p:cNvPr id="10" name="文本框 9">
            <a:extLst>
              <a:ext uri="{FF2B5EF4-FFF2-40B4-BE49-F238E27FC236}">
                <a16:creationId xmlns:a16="http://schemas.microsoft.com/office/drawing/2014/main" id="{760BB8D5-A6EE-C09C-1AA4-09CCEA5F6BB0}"/>
              </a:ext>
            </a:extLst>
          </p:cNvPr>
          <p:cNvSpPr txBox="1"/>
          <p:nvPr/>
        </p:nvSpPr>
        <p:spPr>
          <a:xfrm>
            <a:off x="5938343" y="6329829"/>
            <a:ext cx="6122277" cy="523220"/>
          </a:xfrm>
          <a:prstGeom prst="rect">
            <a:avLst/>
          </a:prstGeom>
          <a:noFill/>
        </p:spPr>
        <p:txBody>
          <a:bodyPr wrap="square">
            <a:spAutoFit/>
          </a:bodyPr>
          <a:lstStyle/>
          <a:p>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三叶草形二级结构“四环一臂”</a:t>
            </a:r>
            <a:endParaRPr lang="zh-CN" altLang="en-US" sz="2800" b="1" dirty="0">
              <a:solidFill>
                <a:srgbClr val="FF0000"/>
              </a:solidFill>
            </a:endParaRPr>
          </a:p>
        </p:txBody>
      </p:sp>
      <p:sp>
        <p:nvSpPr>
          <p:cNvPr id="12" name="矩形 11"/>
          <p:cNvSpPr/>
          <p:nvPr/>
        </p:nvSpPr>
        <p:spPr>
          <a:xfrm>
            <a:off x="2041524" y="6986"/>
            <a:ext cx="9672055" cy="923330"/>
          </a:xfrm>
          <a:prstGeom prst="rect">
            <a:avLst/>
          </a:prstGeom>
        </p:spPr>
        <p:txBody>
          <a:bodyPr wrap="square">
            <a:spAutoFit/>
          </a:bodyPr>
          <a:lstStyle/>
          <a:p>
            <a:pPr algn="ctr" defTabSz="914400" fontAlgn="base">
              <a:lnSpc>
                <a:spcPct val="150000"/>
              </a:lnSpc>
              <a:spcBef>
                <a:spcPct val="0"/>
              </a:spcBef>
              <a:spcAft>
                <a:spcPct val="0"/>
              </a:spcAft>
              <a:defRPr/>
            </a:pPr>
            <a:r>
              <a:rPr lang="en-US" sz="3600" b="1" dirty="0" err="1">
                <a:solidFill>
                  <a:schemeClr val="bg1"/>
                </a:solidFill>
                <a:latin typeface="微软雅黑" panose="020B0503020204020204" pitchFamily="34" charset="-122"/>
                <a:ea typeface="微软雅黑" panose="020B0503020204020204" pitchFamily="34" charset="-122"/>
              </a:rPr>
              <a:t>tRNA（Transfer</a:t>
            </a:r>
            <a:r>
              <a:rPr lang="en-US" sz="3600" b="1" dirty="0">
                <a:solidFill>
                  <a:schemeClr val="bg1"/>
                </a:solidFill>
                <a:latin typeface="微软雅黑" panose="020B0503020204020204" pitchFamily="34" charset="-122"/>
                <a:ea typeface="微软雅黑" panose="020B0503020204020204" pitchFamily="34" charset="-122"/>
              </a:rPr>
              <a:t> RNA，</a:t>
            </a:r>
            <a:r>
              <a:rPr lang="en-US" altLang="zh-CN" sz="3600" b="1" dirty="0">
                <a:solidFill>
                  <a:schemeClr val="bg1"/>
                </a:solidFill>
                <a:latin typeface="微软雅黑" panose="020B0503020204020204" pitchFamily="34" charset="-122"/>
                <a:ea typeface="微软雅黑" panose="020B0503020204020204" pitchFamily="34" charset="-122"/>
              </a:rPr>
              <a:t>73-78</a:t>
            </a:r>
            <a:r>
              <a:rPr lang="zh-CN" altLang="en-US" sz="3600" b="1" dirty="0">
                <a:solidFill>
                  <a:schemeClr val="bg1"/>
                </a:solidFill>
                <a:latin typeface="微软雅黑" panose="020B0503020204020204" pitchFamily="34" charset="-122"/>
                <a:ea typeface="微软雅黑" panose="020B0503020204020204" pitchFamily="34" charset="-122"/>
              </a:rPr>
              <a:t>个核苷酸</a:t>
            </a:r>
            <a:r>
              <a:rPr lang="en-US" sz="3600" b="1" dirty="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726129745"/>
      </p:ext>
    </p:extLst>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85107CE-4AE3-F9F9-988E-C42158D1B426}"/>
              </a:ext>
            </a:extLst>
          </p:cNvPr>
          <p:cNvPicPr>
            <a:picLocks noChangeAspect="1"/>
          </p:cNvPicPr>
          <p:nvPr/>
        </p:nvPicPr>
        <p:blipFill rotWithShape="1">
          <a:blip r:embed="rId3"/>
          <a:srcRect l="19809" t="21629" r="19326"/>
          <a:stretch/>
        </p:blipFill>
        <p:spPr>
          <a:xfrm>
            <a:off x="466511" y="892882"/>
            <a:ext cx="11133614" cy="5817455"/>
          </a:xfrm>
          <a:prstGeom prst="rect">
            <a:avLst/>
          </a:prstGeom>
        </p:spPr>
      </p:pic>
      <p:sp>
        <p:nvSpPr>
          <p:cNvPr id="8" name="矩形 7">
            <a:extLst>
              <a:ext uri="{FF2B5EF4-FFF2-40B4-BE49-F238E27FC236}">
                <a16:creationId xmlns:a16="http://schemas.microsoft.com/office/drawing/2014/main" id="{8A4BBF14-F2FC-02D6-D719-3387D695B834}"/>
              </a:ext>
            </a:extLst>
          </p:cNvPr>
          <p:cNvSpPr/>
          <p:nvPr/>
        </p:nvSpPr>
        <p:spPr>
          <a:xfrm>
            <a:off x="2212140" y="150141"/>
            <a:ext cx="8618770" cy="1323439"/>
          </a:xfrm>
          <a:prstGeom prst="rect">
            <a:avLst/>
          </a:prstGeom>
        </p:spPr>
        <p:txBody>
          <a:bodyPr wrap="square">
            <a:spAutoFit/>
          </a:bodyPr>
          <a:lstStyle/>
          <a:p>
            <a:pPr marR="0" lvl="0" algn="ctr" defTabSz="914400" rtl="0" eaLnBrk="1" fontAlgn="base" latinLnBrk="0" hangingPunct="1">
              <a:lnSpc>
                <a:spcPct val="100000"/>
              </a:lnSpc>
              <a:spcBef>
                <a:spcPct val="0"/>
              </a:spcBef>
              <a:spcAft>
                <a:spcPct val="0"/>
              </a:spcAft>
              <a:buClrTx/>
              <a:buSzTx/>
              <a:tabLst/>
              <a:defRPr/>
            </a:pPr>
            <a:r>
              <a:rPr kumimoji="0" lang="en-US" altLang="zh-CN" sz="40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tRNA</a:t>
            </a:r>
            <a:r>
              <a:rPr kumimoji="0" lang="zh-CN" altLang="en-US" sz="40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具有其独特的结构特征</a:t>
            </a:r>
          </a:p>
          <a:p>
            <a:pPr marR="0" lvl="0" algn="ctr" defTabSz="914400" rtl="0" eaLnBrk="1" fontAlgn="base" latinLnBrk="0" hangingPunct="1">
              <a:lnSpc>
                <a:spcPct val="100000"/>
              </a:lnSpc>
              <a:spcBef>
                <a:spcPct val="0"/>
              </a:spcBef>
              <a:spcAft>
                <a:spcPct val="0"/>
              </a:spcAft>
              <a:buClrTx/>
              <a:buSzTx/>
              <a:tabLst/>
              <a:defRPr/>
            </a:pPr>
            <a:endParaRPr kumimoji="0" lang="zh-CN" altLang="en-US" sz="40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6F6EE3E8-72E1-6214-67FE-7ABBC357A702}"/>
              </a:ext>
            </a:extLst>
          </p:cNvPr>
          <p:cNvSpPr txBox="1"/>
          <p:nvPr/>
        </p:nvSpPr>
        <p:spPr>
          <a:xfrm>
            <a:off x="3720662" y="5826425"/>
            <a:ext cx="4303986" cy="738664"/>
          </a:xfrm>
          <a:prstGeom prst="rect">
            <a:avLst/>
          </a:prstGeom>
          <a:noFill/>
        </p:spPr>
        <p:txBody>
          <a:bodyPr wrap="square" rtlCol="0">
            <a:spAutoFit/>
          </a:bodyPr>
          <a:lstStyle/>
          <a:p>
            <a:pPr algn="l">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三维结构：倒写字母</a:t>
            </a:r>
            <a:r>
              <a:rPr lang="en-US" altLang="zh-CN" sz="2800" b="1" dirty="0">
                <a:solidFill>
                  <a:srgbClr val="FF0000"/>
                </a:solidFill>
                <a:latin typeface="微软雅黑" panose="020B0503020204020204" pitchFamily="34" charset="-122"/>
                <a:ea typeface="微软雅黑" panose="020B0503020204020204" pitchFamily="34" charset="-122"/>
              </a:rPr>
              <a:t>L</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7008559"/>
      </p:ext>
    </p:ext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51424" y="-66645"/>
            <a:ext cx="9080891" cy="923330"/>
          </a:xfrm>
          <a:prstGeom prst="rect">
            <a:avLst/>
          </a:prstGeom>
        </p:spPr>
        <p:txBody>
          <a:bodyPr wrap="square">
            <a:spAutoFit/>
          </a:bodyPr>
          <a:lstStyle/>
          <a:p>
            <a:pPr algn="ctr" defTabSz="914400" fontAlgn="base">
              <a:lnSpc>
                <a:spcPct val="150000"/>
              </a:lnSpc>
              <a:spcBef>
                <a:spcPct val="0"/>
              </a:spcBef>
              <a:spcAft>
                <a:spcPct val="0"/>
              </a:spcAft>
              <a:defRPr/>
            </a:pPr>
            <a:r>
              <a:rPr lang="en-US" sz="3600" b="1" dirty="0" err="1">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rRNA</a:t>
            </a:r>
            <a:r>
              <a:rPr lang="en-US" sz="36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(Ribosome RNA，</a:t>
            </a:r>
            <a:r>
              <a:rPr lang="zh-CN" altLang="en-US" sz="36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核糖体</a:t>
            </a:r>
            <a:r>
              <a:rPr lang="en-US" sz="36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RNA)</a:t>
            </a:r>
          </a:p>
        </p:txBody>
      </p:sp>
      <p:pic>
        <p:nvPicPr>
          <p:cNvPr id="2" name="图片 1"/>
          <p:cNvPicPr>
            <a:picLocks noChangeAspect="1"/>
          </p:cNvPicPr>
          <p:nvPr/>
        </p:nvPicPr>
        <p:blipFill>
          <a:blip r:embed="rId2"/>
          <a:stretch>
            <a:fillRect/>
          </a:stretch>
        </p:blipFill>
        <p:spPr>
          <a:xfrm>
            <a:off x="777215" y="1509171"/>
            <a:ext cx="10293249" cy="4713442"/>
          </a:xfrm>
          <a:prstGeom prst="rect">
            <a:avLst/>
          </a:prstGeom>
        </p:spPr>
      </p:pic>
      <p:sp>
        <p:nvSpPr>
          <p:cNvPr id="7" name="文本框 6"/>
          <p:cNvSpPr txBox="1"/>
          <p:nvPr/>
        </p:nvSpPr>
        <p:spPr>
          <a:xfrm>
            <a:off x="7741845" y="5854313"/>
            <a:ext cx="2540000" cy="368300"/>
          </a:xfrm>
          <a:prstGeom prst="rect">
            <a:avLst/>
          </a:prstGeom>
          <a:noFill/>
        </p:spPr>
        <p:txBody>
          <a:bodyPr wrap="square" rtlCol="0" anchor="t">
            <a:spAutoFit/>
          </a:bodyPr>
          <a:lstStyle/>
          <a:p>
            <a:r>
              <a:rPr lang="zh-CN" altLang="en-US" dirty="0">
                <a:solidFill>
                  <a:prstClr val="black"/>
                </a:solidFill>
                <a:latin typeface="微软雅黑" panose="020B0503020204020204" pitchFamily="34" charset="-122"/>
                <a:ea typeface="微软雅黑" panose="020B0503020204020204" pitchFamily="34" charset="-122"/>
              </a:rPr>
              <a:t>大亚基r</a:t>
            </a:r>
            <a:r>
              <a:rPr lang="en-US" altLang="zh-CN" dirty="0">
                <a:solidFill>
                  <a:prstClr val="black"/>
                </a:solidFill>
                <a:latin typeface="微软雅黑" panose="020B0503020204020204" pitchFamily="34" charset="-122"/>
                <a:ea typeface="微软雅黑" panose="020B0503020204020204" pitchFamily="34" charset="-122"/>
              </a:rPr>
              <a:t>RNA</a:t>
            </a:r>
            <a:r>
              <a:rPr lang="zh-CN" altLang="en-US" dirty="0">
                <a:solidFill>
                  <a:prstClr val="black"/>
                </a:solidFill>
                <a:latin typeface="微软雅黑" panose="020B0503020204020204" pitchFamily="34" charset="-122"/>
                <a:ea typeface="微软雅黑" panose="020B0503020204020204" pitchFamily="34" charset="-122"/>
              </a:rPr>
              <a:t>(5S，23S)</a:t>
            </a:r>
          </a:p>
        </p:txBody>
      </p:sp>
    </p:spTree>
    <p:extLst>
      <p:ext uri="{BB962C8B-B14F-4D97-AF65-F5344CB8AC3E}">
        <p14:creationId xmlns:p14="http://schemas.microsoft.com/office/powerpoint/2010/main" val="1978977875"/>
      </p:ext>
    </p:extLst>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369321" y="-97197"/>
            <a:ext cx="6197530" cy="906915"/>
          </a:xfrm>
          <a:prstGeom prst="rect">
            <a:avLst/>
          </a:prstGeom>
          <a:noFill/>
        </p:spPr>
        <p:txBody>
          <a:bodyPr wrap="none" rtlCol="0" anchor="t">
            <a:spAutoFit/>
          </a:bodyPr>
          <a:lstStyle/>
          <a:p>
            <a:pPr algn="l">
              <a:lnSpc>
                <a:spcPct val="150000"/>
              </a:lnSpc>
              <a:buClrTx/>
              <a:buSzTx/>
              <a:buFont typeface="Arial" panose="020B0604020202020204" pitchFamily="34" charset="0"/>
              <a:buNone/>
            </a:pPr>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rRNA</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：核糖体合成蛋白质</a:t>
            </a:r>
          </a:p>
        </p:txBody>
      </p:sp>
      <p:sp>
        <p:nvSpPr>
          <p:cNvPr id="57346" name="内容占位符 2"/>
          <p:cNvSpPr>
            <a:spLocks noGrp="1"/>
          </p:cNvSpPr>
          <p:nvPr>
            <p:ph type="subTitle" idx="4294967295"/>
          </p:nvPr>
        </p:nvSpPr>
        <p:spPr>
          <a:xfrm>
            <a:off x="0" y="1635317"/>
            <a:ext cx="5502166" cy="2684435"/>
          </a:xfrm>
        </p:spPr>
        <p:txBody>
          <a:bodyPr vert="horz" wrap="square" lIns="91440" tIns="45720" rIns="91440" bIns="45720" rtlCol="0" anchor="t" anchorCtr="0">
            <a:noAutofit/>
          </a:bodyPr>
          <a:lstStyle/>
          <a:p>
            <a:pPr marL="342900" indent="-342900">
              <a:lnSpc>
                <a:spcPct val="130000"/>
              </a:lnSpc>
              <a:buClr>
                <a:srgbClr val="000000"/>
              </a:buClr>
            </a:pP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rRNA约占据核糖体的2/3，</a:t>
            </a:r>
            <a:r>
              <a:rPr lang="zh-CN" altLang="en-US" sz="2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充当核糖体蛋白的支架</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；核糖体的整体构象由</a:t>
            </a:r>
            <a:r>
              <a:rPr lang="en-US" altLang="zh-CN" sz="2600" b="1" dirty="0" err="1">
                <a:latin typeface="微软雅黑" panose="020B0503020204020204" pitchFamily="34" charset="-122"/>
                <a:ea typeface="微软雅黑" panose="020B0503020204020204" pitchFamily="34" charset="-122"/>
                <a:cs typeface="微软雅黑" panose="020B0503020204020204" pitchFamily="34" charset="-122"/>
              </a:rPr>
              <a:t>rRNA</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决定</a:t>
            </a:r>
          </a:p>
          <a:p>
            <a:pPr marL="342900" indent="-342900">
              <a:lnSpc>
                <a:spcPct val="130000"/>
              </a:lnSpc>
              <a:buClr>
                <a:srgbClr val="000000"/>
              </a:buClr>
            </a:pP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大肠杆菌的23S rRNA是转肽酶；</a:t>
            </a:r>
          </a:p>
          <a:p>
            <a:pPr marL="342900" indent="-342900">
              <a:lnSpc>
                <a:spcPct val="130000"/>
              </a:lnSpc>
              <a:buClr>
                <a:srgbClr val="000000"/>
              </a:buClr>
            </a:pPr>
            <a:endParaRPr lang="zh-CN" altLang="en-US" sz="26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4515" name="Picture 6" descr="6-30"/>
          <p:cNvPicPr>
            <a:picLocks noChangeAspect="1"/>
          </p:cNvPicPr>
          <p:nvPr/>
        </p:nvPicPr>
        <p:blipFill>
          <a:blip r:embed="rId2">
            <a:lum bright="6000" contrast="12000"/>
          </a:blip>
          <a:stretch>
            <a:fillRect/>
          </a:stretch>
        </p:blipFill>
        <p:spPr>
          <a:xfrm>
            <a:off x="5654041" y="1499504"/>
            <a:ext cx="6322695" cy="3142615"/>
          </a:xfrm>
          <a:prstGeom prst="rect">
            <a:avLst/>
          </a:prstGeom>
          <a:noFill/>
          <a:ln w="9525">
            <a:noFill/>
          </a:ln>
        </p:spPr>
      </p:pic>
      <p:sp>
        <p:nvSpPr>
          <p:cNvPr id="64516" name="Rectangle 10"/>
          <p:cNvSpPr/>
          <p:nvPr/>
        </p:nvSpPr>
        <p:spPr>
          <a:xfrm>
            <a:off x="5838861" y="5114776"/>
            <a:ext cx="1653017" cy="400110"/>
          </a:xfrm>
          <a:prstGeom prst="rect">
            <a:avLst/>
          </a:prstGeom>
          <a:noFill/>
          <a:ln w="12700">
            <a:noFill/>
          </a:ln>
          <a:extLst>
            <a:ext uri="{909E8E84-426E-40DD-AFC4-6F175D3DCCD1}">
              <a14:hiddenFill xmlns:a14="http://schemas.microsoft.com/office/drawing/2010/main">
                <a:solidFill>
                  <a:srgbClr val="99CCFF"/>
                </a:solidFill>
              </a14:hiddenFill>
            </a:ext>
          </a:extLst>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a:spcBef>
                <a:spcPct val="0"/>
              </a:spcBef>
              <a:buNone/>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小亚基</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rRNA</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4517" name="Rectangle 12"/>
          <p:cNvSpPr/>
          <p:nvPr/>
        </p:nvSpPr>
        <p:spPr>
          <a:xfrm>
            <a:off x="9838118" y="5097547"/>
            <a:ext cx="1653017" cy="400110"/>
          </a:xfrm>
          <a:prstGeom prst="rect">
            <a:avLst/>
          </a:prstGeom>
          <a:noFill/>
          <a:ln w="12700">
            <a:noFill/>
          </a:ln>
          <a:extLst>
            <a:ext uri="{909E8E84-426E-40DD-AFC4-6F175D3DCCD1}">
              <a14:hiddenFill xmlns:a14="http://schemas.microsoft.com/office/drawing/2010/main">
                <a:solidFill>
                  <a:srgbClr val="99CCFF"/>
                </a:solidFill>
              </a14:hiddenFill>
            </a:ext>
          </a:extLst>
        </p:spPr>
        <p:txBody>
          <a:bodyPr wrap="non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a:spcBef>
                <a:spcPct val="0"/>
              </a:spcBef>
              <a:buNone/>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大亚基</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rRNA</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731" y="0"/>
            <a:ext cx="11288966" cy="6731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2500824"/>
      </p:ext>
    </p:extLst>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1" y="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endParaRPr>
            </a:p>
          </p:txBody>
        </p:sp>
        <p:sp>
          <p:nvSpPr>
            <p:cNvPr id="19" name="文本框 18"/>
            <p:cNvSpPr txBox="1"/>
            <p:nvPr/>
          </p:nvSpPr>
          <p:spPr>
            <a:xfrm>
              <a:off x="592173" y="334330"/>
              <a:ext cx="1338788" cy="466581"/>
            </a:xfrm>
            <a:prstGeom prst="rect">
              <a:avLst/>
            </a:prstGeom>
            <a:noFill/>
          </p:spPr>
          <p:txBody>
            <a:bodyPr wrap="square" lIns="68580" tIns="34290" rIns="68580" bIns="34290" rtlCol="0">
              <a:spAutoFit/>
            </a:bodyPr>
            <a:lstStyle/>
            <a:p>
              <a:r>
                <a:rPr lang="en-US" altLang="zh-CN" sz="6600" dirty="0">
                  <a:solidFill>
                    <a:prstClr val="white">
                      <a:lumMod val="95000"/>
                    </a:prstClr>
                  </a:solidFill>
                  <a:latin typeface="Impact" panose="020B0806030902050204" pitchFamily="34" charset="0"/>
                </a:rPr>
                <a:t>12.4</a:t>
              </a:r>
            </a:p>
          </p:txBody>
        </p:sp>
      </p:grpSp>
      <p:sp>
        <p:nvSpPr>
          <p:cNvPr id="20" name="TextBox 48"/>
          <p:cNvSpPr txBox="1"/>
          <p:nvPr/>
        </p:nvSpPr>
        <p:spPr>
          <a:xfrm>
            <a:off x="4344670" y="2737486"/>
            <a:ext cx="6250940" cy="807085"/>
          </a:xfrm>
          <a:prstGeom prst="rect">
            <a:avLst/>
          </a:prstGeom>
          <a:noFill/>
        </p:spPr>
        <p:txBody>
          <a:bodyPr wrap="square" lIns="68584" tIns="34291" rIns="68584" bIns="34291" rtlCol="0">
            <a:spAutoFit/>
          </a:bodyPr>
          <a:lstStyle/>
          <a:p>
            <a:r>
              <a:rPr lang="zh-CN" altLang="en-US" sz="4800" b="1" dirty="0">
                <a:solidFill>
                  <a:prstClr val="black">
                    <a:lumMod val="75000"/>
                    <a:lumOff val="25000"/>
                  </a:prstClr>
                </a:solidFill>
                <a:latin typeface="微软雅黑" panose="020B0503020204020204" pitchFamily="34" charset="-122"/>
                <a:ea typeface="微软雅黑" panose="020B0503020204020204" pitchFamily="34" charset="-122"/>
              </a:rPr>
              <a:t>核酸的理化性质</a:t>
            </a:r>
          </a:p>
        </p:txBody>
      </p:sp>
    </p:spTree>
    <p:extLst>
      <p:ext uri="{BB962C8B-B14F-4D97-AF65-F5344CB8AC3E}">
        <p14:creationId xmlns:p14="http://schemas.microsoft.com/office/powerpoint/2010/main" val="18896855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9322" y="1196342"/>
            <a:ext cx="10802242" cy="2123658"/>
          </a:xfrm>
          <a:prstGeom prst="rect">
            <a:avLst/>
          </a:prstGeom>
          <a:noFill/>
        </p:spPr>
        <p:txBody>
          <a:bodyPr wrap="square" rtlCol="0" anchor="t">
            <a:spAutoFit/>
          </a:bodyPr>
          <a:lstStyle/>
          <a:p>
            <a:pPr marL="457200" indent="-457200">
              <a:lnSpc>
                <a:spcPct val="150000"/>
              </a:lnSpc>
              <a:buFont typeface="Arial" panose="020B0604020202020204" pitchFamily="34" charset="0"/>
              <a:buAutoNum type="arabicPeriod"/>
            </a:pPr>
            <a:r>
              <a:rPr lang="zh-CN" altLang="en-US" sz="3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酸水解（很少用）</a:t>
            </a:r>
          </a:p>
          <a:p>
            <a:pPr marL="457200" indent="-457200">
              <a:lnSpc>
                <a:spcPct val="150000"/>
              </a:lnSpc>
              <a:buFont typeface="Arial" panose="020B0604020202020204" pitchFamily="34" charset="0"/>
              <a:buChar char="•"/>
            </a:pPr>
            <a:r>
              <a:rPr lang="en-US" altLang="zh-CN" sz="2800" dirty="0" err="1">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核酸分子内的糖苷键和磷酸二酯键对酸的敏感性不同</a:t>
            </a:r>
            <a:r>
              <a:rPr lang="en-US" altLang="zh-CN"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a:lnSpc>
                <a:spcPct val="150000"/>
              </a:lnSpc>
            </a:pPr>
            <a:r>
              <a:rPr lang="en-US" altLang="zh-CN"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800" dirty="0" err="1">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糖苷键＞磷酸酯键；而嘌呤糖苷键＞嘧啶糖苷键</a:t>
            </a: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4"/>
          <p:cNvSpPr txBox="1"/>
          <p:nvPr/>
        </p:nvSpPr>
        <p:spPr>
          <a:xfrm>
            <a:off x="3763644" y="-66251"/>
            <a:ext cx="3775393"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一</a:t>
            </a:r>
            <a:r>
              <a:rPr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核酸的水解</a:t>
            </a:r>
          </a:p>
        </p:txBody>
      </p:sp>
    </p:spTree>
    <p:extLst>
      <p:ext uri="{BB962C8B-B14F-4D97-AF65-F5344CB8AC3E}">
        <p14:creationId xmlns:p14="http://schemas.microsoft.com/office/powerpoint/2010/main" val="3944572445"/>
      </p:ext>
    </p:extLst>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763644" y="-66251"/>
            <a:ext cx="3775393"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一</a:t>
            </a:r>
            <a:r>
              <a:rPr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核酸的水解</a:t>
            </a:r>
          </a:p>
        </p:txBody>
      </p:sp>
      <p:pic>
        <p:nvPicPr>
          <p:cNvPr id="2" name="图片 1"/>
          <p:cNvPicPr>
            <a:picLocks noChangeAspect="1"/>
          </p:cNvPicPr>
          <p:nvPr/>
        </p:nvPicPr>
        <p:blipFill>
          <a:blip r:embed="rId2"/>
          <a:stretch>
            <a:fillRect/>
          </a:stretch>
        </p:blipFill>
        <p:spPr>
          <a:xfrm>
            <a:off x="5227628" y="1106389"/>
            <a:ext cx="7207502" cy="5083371"/>
          </a:xfrm>
          <a:prstGeom prst="rect">
            <a:avLst/>
          </a:prstGeom>
        </p:spPr>
      </p:pic>
      <p:sp>
        <p:nvSpPr>
          <p:cNvPr id="6" name="文本框 5"/>
          <p:cNvSpPr txBox="1"/>
          <p:nvPr/>
        </p:nvSpPr>
        <p:spPr>
          <a:xfrm>
            <a:off x="0" y="889408"/>
            <a:ext cx="5340927" cy="5262979"/>
          </a:xfrm>
          <a:prstGeom prst="rect">
            <a:avLst/>
          </a:prstGeom>
          <a:noFill/>
        </p:spPr>
        <p:txBody>
          <a:bodyPr wrap="square" rtlCol="0" anchor="t">
            <a:spAutoFit/>
          </a:bodyPr>
          <a:lstStyle/>
          <a:p>
            <a:pPr marL="457200" indent="-457200">
              <a:lnSpc>
                <a:spcPct val="150000"/>
              </a:lnSpc>
              <a:buFont typeface="+mj-lt"/>
              <a:buAutoNum type="arabicPeriod" startAt="2"/>
            </a:pPr>
            <a:r>
              <a:rPr lang="zh-CN" altLang="en-US" sz="3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碱水解</a:t>
            </a:r>
            <a:endParaRPr lang="zh-CN" altLang="en-US" sz="3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20000"/>
              </a:lnSpc>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游离OH</a:t>
            </a:r>
            <a:r>
              <a:rPr lang="zh-CN" altLang="en-US" sz="2400" baseline="30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诱导RNA上的2-OH</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脱质子化</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，继而后者对主链上相邻磷酸盐进行</a:t>
            </a:r>
            <a:r>
              <a:rPr lang="zh-CN" altLang="en-US" sz="2400"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亲核攻击</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。该反应导致了磷酸二酯主链的裂解。相反，DNA中的主链不受自切割，因为DNA没有2-OH。</a:t>
            </a:r>
          </a:p>
          <a:p>
            <a:pPr marL="285750" indent="-285750">
              <a:lnSpc>
                <a:spcPct val="120000"/>
              </a:lnSpc>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生理意义：在于作为遗传物质的DNA应更稳定，不易水解。而RNA（主要是mRNA）是DNA的信使，完成任务后应该迅速降解。</a:t>
            </a:r>
          </a:p>
        </p:txBody>
      </p:sp>
      <p:sp>
        <p:nvSpPr>
          <p:cNvPr id="8" name="圆角矩形 7"/>
          <p:cNvSpPr/>
          <p:nvPr/>
        </p:nvSpPr>
        <p:spPr>
          <a:xfrm>
            <a:off x="8406381" y="2877514"/>
            <a:ext cx="1004747" cy="363220"/>
          </a:xfrm>
          <a:prstGeom prst="roundRect">
            <a:avLst/>
          </a:prstGeom>
          <a:noFill/>
          <a:ln w="1270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extLst>
      <p:ext uri="{BB962C8B-B14F-4D97-AF65-F5344CB8AC3E}">
        <p14:creationId xmlns:p14="http://schemas.microsoft.com/office/powerpoint/2010/main" val="1623705802"/>
      </p:ext>
    </p:extLst>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61059" y="1061259"/>
            <a:ext cx="10683239" cy="4154984"/>
          </a:xfrm>
          <a:prstGeom prst="rect">
            <a:avLst/>
          </a:prstGeom>
          <a:noFill/>
        </p:spPr>
        <p:txBody>
          <a:bodyPr wrap="square" rtlCol="0" anchor="t">
            <a:spAutoFit/>
          </a:bodyPr>
          <a:lstStyle/>
          <a:p>
            <a:pPr marL="457200" indent="-457200">
              <a:lnSpc>
                <a:spcPct val="150000"/>
              </a:lnSpc>
              <a:buFont typeface="+mj-lt"/>
              <a:buAutoNum type="arabicPeriod" startAt="3"/>
            </a:pPr>
            <a:r>
              <a:rPr lang="zh-CN" altLang="en-US" sz="3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酶水解</a:t>
            </a:r>
          </a:p>
          <a:p>
            <a:pPr marL="342900" indent="-342900">
              <a:lnSpc>
                <a:spcPct val="150000"/>
              </a:lnSpc>
              <a:buFont typeface="Arial" panose="020B0604020202020204" pitchFamily="34" charset="0"/>
              <a:buChar char="•"/>
            </a:pP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按底物</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酶</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酶</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，磷酸二酯酶</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；比如蛇毒磷酸二酯酶和牛脾磷酸二酯酶</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342900" indent="-342900">
              <a:lnSpc>
                <a:spcPct val="150000"/>
              </a:lnSpc>
              <a:buFont typeface="Arial" panose="020B0604020202020204" pitchFamily="34" charset="0"/>
              <a:buChar char="•"/>
            </a:pP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按方式</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：内切核酸酶，外切核酸酶(3'-5' 外切核酸酶， 5'</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3' 外切核酸酶) ；</a:t>
            </a:r>
          </a:p>
          <a:p>
            <a:pPr marL="342900" indent="-342900">
              <a:lnSpc>
                <a:spcPct val="150000"/>
              </a:lnSpc>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有些特异性极高的内切酶，比如</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限制性内切核酸酶</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能识别和切割DNA的特异序列，是DNA重组技术的重要工具酶。</a:t>
            </a:r>
          </a:p>
          <a:p>
            <a:pPr>
              <a:lnSpc>
                <a:spcPct val="150000"/>
              </a:lnSpc>
            </a:pPr>
            <a:endPar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p:cNvSpPr txBox="1"/>
          <p:nvPr/>
        </p:nvSpPr>
        <p:spPr>
          <a:xfrm>
            <a:off x="3763644" y="-66251"/>
            <a:ext cx="3775393"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一</a:t>
            </a:r>
            <a:r>
              <a:rPr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核酸的水解</a:t>
            </a:r>
          </a:p>
        </p:txBody>
      </p:sp>
    </p:spTree>
    <p:extLst>
      <p:ext uri="{BB962C8B-B14F-4D97-AF65-F5344CB8AC3E}">
        <p14:creationId xmlns:p14="http://schemas.microsoft.com/office/powerpoint/2010/main" val="3350140068"/>
      </p:ext>
    </p:extLst>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rcRect t="3696" b="4113"/>
          <a:stretch>
            <a:fillRect/>
          </a:stretch>
        </p:blipFill>
        <p:spPr>
          <a:xfrm>
            <a:off x="4374462" y="963113"/>
            <a:ext cx="7817538" cy="4897359"/>
          </a:xfrm>
          <a:prstGeom prst="rect">
            <a:avLst/>
          </a:prstGeom>
        </p:spPr>
      </p:pic>
      <p:sp>
        <p:nvSpPr>
          <p:cNvPr id="3" name="文本框 2"/>
          <p:cNvSpPr txBox="1"/>
          <p:nvPr/>
        </p:nvSpPr>
        <p:spPr>
          <a:xfrm>
            <a:off x="3857203" y="-101600"/>
            <a:ext cx="4288353" cy="906915"/>
          </a:xfrm>
          <a:prstGeom prst="rect">
            <a:avLst/>
          </a:prstGeom>
          <a:noFill/>
        </p:spPr>
        <p:txBody>
          <a:bodyPr wrap="none" rtlCol="0" anchor="t">
            <a:spAutoFit/>
          </a:bodyPr>
          <a:lstStyle/>
          <a:p>
            <a:pPr>
              <a:lnSpc>
                <a:spcPct val="150000"/>
              </a:lnSpc>
            </a:pPr>
            <a:r>
              <a:rPr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限制性内切核酸酶</a:t>
            </a:r>
          </a:p>
        </p:txBody>
      </p:sp>
      <p:sp>
        <p:nvSpPr>
          <p:cNvPr id="924676" name="Text Box 4"/>
          <p:cNvSpPr txBox="1"/>
          <p:nvPr/>
        </p:nvSpPr>
        <p:spPr>
          <a:xfrm>
            <a:off x="0" y="1784486"/>
            <a:ext cx="4860887" cy="3416320"/>
          </a:xfrm>
          <a:prstGeom prst="rect">
            <a:avLst/>
          </a:prstGeom>
          <a:noFill/>
          <a:ln w="9525">
            <a:noFill/>
          </a:ln>
        </p:spPr>
        <p:txBody>
          <a:bodyPr wrap="square" anchor="t" anchorCtr="0">
            <a:spAutoFit/>
          </a:bodyPr>
          <a:lstStyle/>
          <a:p>
            <a:pPr marL="342900" indent="-342900">
              <a:lnSpc>
                <a:spcPct val="150000"/>
              </a:lnSpc>
              <a:spcBef>
                <a:spcPct val="50000"/>
              </a:spcBef>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来源于细菌，高度专一地识别外源</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上的特定位点，并将其切断，形成形成粘性末端或平齐末端。不降解自身细胞的</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。因为在自身相应位点上经甲基化修饰而受到保护。</a:t>
            </a:r>
          </a:p>
        </p:txBody>
      </p:sp>
    </p:spTree>
    <p:extLst>
      <p:ext uri="{BB962C8B-B14F-4D97-AF65-F5344CB8AC3E}">
        <p14:creationId xmlns:p14="http://schemas.microsoft.com/office/powerpoint/2010/main" val="5051586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4676"/>
                                        </p:tgtEl>
                                        <p:attrNameLst>
                                          <p:attrName>style.visibility</p:attrName>
                                        </p:attrNameLst>
                                      </p:cBhvr>
                                      <p:to>
                                        <p:strVal val="visible"/>
                                      </p:to>
                                    </p:set>
                                    <p:animEffect transition="in" filter="wipe(left)">
                                      <p:cBhvr>
                                        <p:cTn id="7" dur="500"/>
                                        <p:tgtEl>
                                          <p:spTgt spid="924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67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图片 3" descr="223S21943-0.jpg"/>
          <p:cNvPicPr>
            <a:picLocks noChangeAspect="1"/>
          </p:cNvPicPr>
          <p:nvPr/>
        </p:nvPicPr>
        <p:blipFill>
          <a:blip r:embed="rId2"/>
          <a:stretch>
            <a:fillRect/>
          </a:stretch>
        </p:blipFill>
        <p:spPr>
          <a:xfrm>
            <a:off x="5486400" y="8095"/>
            <a:ext cx="5614555" cy="6849905"/>
          </a:xfrm>
          <a:prstGeom prst="rect">
            <a:avLst/>
          </a:prstGeom>
          <a:noFill/>
          <a:ln w="9525">
            <a:noFill/>
          </a:ln>
        </p:spPr>
      </p:pic>
      <p:sp>
        <p:nvSpPr>
          <p:cNvPr id="2" name="文本框 1"/>
          <p:cNvSpPr txBox="1"/>
          <p:nvPr/>
        </p:nvSpPr>
        <p:spPr>
          <a:xfrm>
            <a:off x="760712" y="-18473"/>
            <a:ext cx="4288353" cy="906915"/>
          </a:xfrm>
          <a:prstGeom prst="rect">
            <a:avLst/>
          </a:prstGeom>
          <a:noFill/>
        </p:spPr>
        <p:txBody>
          <a:bodyPr wrap="none" rtlCol="0" anchor="t">
            <a:spAutoFit/>
          </a:bodyPr>
          <a:lstStyle/>
          <a:p>
            <a:pPr>
              <a:lnSpc>
                <a:spcPct val="150000"/>
              </a:lnSpc>
            </a:pPr>
            <a:r>
              <a:rPr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限制性内切核酸酶</a:t>
            </a:r>
          </a:p>
        </p:txBody>
      </p:sp>
    </p:spTree>
    <p:extLst>
      <p:ext uri="{BB962C8B-B14F-4D97-AF65-F5344CB8AC3E}">
        <p14:creationId xmlns:p14="http://schemas.microsoft.com/office/powerpoint/2010/main" val="3025093854"/>
      </p:ext>
    </p:extLst>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6" name="Text Box 4"/>
          <p:cNvSpPr txBox="1"/>
          <p:nvPr/>
        </p:nvSpPr>
        <p:spPr>
          <a:xfrm>
            <a:off x="1774825" y="981678"/>
            <a:ext cx="7514590" cy="581057"/>
          </a:xfrm>
          <a:prstGeom prst="rect">
            <a:avLst/>
          </a:prstGeom>
          <a:noFill/>
          <a:ln w="9525">
            <a:noFill/>
          </a:ln>
        </p:spPr>
        <p:txBody>
          <a:bodyPr wrap="square" anchor="t" anchorCtr="0">
            <a:spAutoFit/>
          </a:bodyPr>
          <a:lstStyle/>
          <a:p>
            <a:pPr marL="342900" indent="-342900">
              <a:lnSpc>
                <a:spcPct val="150000"/>
              </a:lnSpc>
              <a:spcBef>
                <a:spcPct val="50000"/>
              </a:spcBef>
              <a:buFont typeface="Arial" panose="020B0604020202020204" pitchFamily="34" charset="0"/>
              <a:buChar char="•"/>
            </a:pPr>
            <a:r>
              <a:rPr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DNA 重组技术的重要工具酶</a:t>
            </a: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p>
        </p:txBody>
      </p:sp>
      <p:pic>
        <p:nvPicPr>
          <p:cNvPr id="4" name="图片 3"/>
          <p:cNvPicPr>
            <a:picLocks noChangeAspect="1"/>
          </p:cNvPicPr>
          <p:nvPr/>
        </p:nvPicPr>
        <p:blipFill>
          <a:blip r:embed="rId2"/>
          <a:stretch>
            <a:fillRect/>
          </a:stretch>
        </p:blipFill>
        <p:spPr>
          <a:xfrm>
            <a:off x="1774825" y="1562735"/>
            <a:ext cx="7117080" cy="2156460"/>
          </a:xfrm>
          <a:prstGeom prst="rect">
            <a:avLst/>
          </a:prstGeom>
        </p:spPr>
      </p:pic>
      <p:pic>
        <p:nvPicPr>
          <p:cNvPr id="6" name="图片 5"/>
          <p:cNvPicPr>
            <a:picLocks noChangeAspect="1"/>
          </p:cNvPicPr>
          <p:nvPr/>
        </p:nvPicPr>
        <p:blipFill>
          <a:blip r:embed="rId3"/>
          <a:stretch>
            <a:fillRect/>
          </a:stretch>
        </p:blipFill>
        <p:spPr>
          <a:xfrm>
            <a:off x="1524001" y="3754120"/>
            <a:ext cx="4308475" cy="2791460"/>
          </a:xfrm>
          <a:prstGeom prst="rect">
            <a:avLst/>
          </a:prstGeom>
        </p:spPr>
      </p:pic>
      <p:pic>
        <p:nvPicPr>
          <p:cNvPr id="8" name="图片 7"/>
          <p:cNvPicPr>
            <a:picLocks noChangeAspect="1"/>
          </p:cNvPicPr>
          <p:nvPr/>
        </p:nvPicPr>
        <p:blipFill>
          <a:blip r:embed="rId4"/>
          <a:stretch>
            <a:fillRect/>
          </a:stretch>
        </p:blipFill>
        <p:spPr>
          <a:xfrm>
            <a:off x="6795135" y="4107180"/>
            <a:ext cx="2621280" cy="2438400"/>
          </a:xfrm>
          <a:prstGeom prst="rect">
            <a:avLst/>
          </a:prstGeom>
        </p:spPr>
      </p:pic>
      <p:sp>
        <p:nvSpPr>
          <p:cNvPr id="2" name="文本框 1"/>
          <p:cNvSpPr txBox="1"/>
          <p:nvPr/>
        </p:nvSpPr>
        <p:spPr>
          <a:xfrm>
            <a:off x="3857203" y="-101600"/>
            <a:ext cx="4288353" cy="906915"/>
          </a:xfrm>
          <a:prstGeom prst="rect">
            <a:avLst/>
          </a:prstGeom>
          <a:noFill/>
        </p:spPr>
        <p:txBody>
          <a:bodyPr wrap="none" rtlCol="0" anchor="t">
            <a:spAutoFit/>
          </a:bodyPr>
          <a:lstStyle/>
          <a:p>
            <a:pPr>
              <a:lnSpc>
                <a:spcPct val="150000"/>
              </a:lnSpc>
            </a:pPr>
            <a:r>
              <a:rPr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限制性内切核酸酶</a:t>
            </a:r>
          </a:p>
        </p:txBody>
      </p:sp>
    </p:spTree>
    <p:extLst>
      <p:ext uri="{BB962C8B-B14F-4D97-AF65-F5344CB8AC3E}">
        <p14:creationId xmlns:p14="http://schemas.microsoft.com/office/powerpoint/2010/main" val="107027701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4676"/>
                                        </p:tgtEl>
                                        <p:attrNameLst>
                                          <p:attrName>style.visibility</p:attrName>
                                        </p:attrNameLst>
                                      </p:cBhvr>
                                      <p:to>
                                        <p:strVal val="visible"/>
                                      </p:to>
                                    </p:set>
                                    <p:animEffect transition="in" filter="wipe(left)">
                                      <p:cBhvr>
                                        <p:cTn id="7" dur="500"/>
                                        <p:tgtEl>
                                          <p:spTgt spid="924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67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rcRect b="4214"/>
          <a:stretch>
            <a:fillRect/>
          </a:stretch>
        </p:blipFill>
        <p:spPr>
          <a:xfrm>
            <a:off x="4391761" y="1359984"/>
            <a:ext cx="7800239" cy="4691547"/>
          </a:xfrm>
          <a:prstGeom prst="rect">
            <a:avLst/>
          </a:prstGeom>
        </p:spPr>
      </p:pic>
      <p:sp>
        <p:nvSpPr>
          <p:cNvPr id="2" name="文本框 1"/>
          <p:cNvSpPr txBox="1"/>
          <p:nvPr/>
        </p:nvSpPr>
        <p:spPr>
          <a:xfrm>
            <a:off x="0" y="1484674"/>
            <a:ext cx="4930774" cy="5326971"/>
          </a:xfrm>
          <a:prstGeom prst="rect">
            <a:avLst/>
          </a:prstGeom>
          <a:noFill/>
        </p:spPr>
        <p:txBody>
          <a:bodyPr wrap="square" rtlCol="0" anchor="t">
            <a:spAutoFit/>
          </a:bodyPr>
          <a:lstStyle/>
          <a:p>
            <a:pPr marL="285750" indent="-285750">
              <a:lnSpc>
                <a:spcPct val="130000"/>
              </a:lnSpc>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RFLP技术于1980年由人类遗传学家Bostein提出。</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它是第一代DNA分子标记技术。</a:t>
            </a:r>
          </a:p>
          <a:p>
            <a:pPr marL="285750" indent="-285750">
              <a:lnSpc>
                <a:spcPct val="130000"/>
              </a:lnSpc>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检测DNA在限制性内切酶酶切后形成的特定DNA片段的大小。因此凡是可以引起酶切位点变异的突变如点突变（新产生和去除酶切位点）和一段DNA的重新组织（如插入和缺失造成酶切位点间的长度发生变化）等均可导致RFLP的产生。</a:t>
            </a:r>
          </a:p>
        </p:txBody>
      </p:sp>
      <p:sp>
        <p:nvSpPr>
          <p:cNvPr id="6" name="文本框 5"/>
          <p:cNvSpPr txBox="1"/>
          <p:nvPr/>
        </p:nvSpPr>
        <p:spPr>
          <a:xfrm>
            <a:off x="215630" y="822121"/>
            <a:ext cx="10793730" cy="66255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限制性片段长度多态性</a:t>
            </a:r>
            <a:r>
              <a:rPr lang="zh-CN" altLang="en-US"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(Restriction fragment length polymorphism，RFLP)</a:t>
            </a:r>
          </a:p>
        </p:txBody>
      </p:sp>
      <p:sp>
        <p:nvSpPr>
          <p:cNvPr id="7" name="文本框 6"/>
          <p:cNvSpPr txBox="1"/>
          <p:nvPr/>
        </p:nvSpPr>
        <p:spPr>
          <a:xfrm>
            <a:off x="3857203" y="-101600"/>
            <a:ext cx="4288353" cy="906915"/>
          </a:xfrm>
          <a:prstGeom prst="rect">
            <a:avLst/>
          </a:prstGeom>
          <a:noFill/>
        </p:spPr>
        <p:txBody>
          <a:bodyPr wrap="none" rtlCol="0" anchor="t">
            <a:spAutoFit/>
          </a:bodyPr>
          <a:lstStyle/>
          <a:p>
            <a:pPr>
              <a:lnSpc>
                <a:spcPct val="150000"/>
              </a:lnSpc>
            </a:pPr>
            <a:r>
              <a:rPr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限制性内切核酸酶</a:t>
            </a:r>
          </a:p>
        </p:txBody>
      </p:sp>
    </p:spTree>
    <p:extLst>
      <p:ext uri="{BB962C8B-B14F-4D97-AF65-F5344CB8AC3E}">
        <p14:creationId xmlns:p14="http://schemas.microsoft.com/office/powerpoint/2010/main" val="2225777666"/>
      </p:ext>
    </p:extLst>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84203" y="-76201"/>
            <a:ext cx="3262432"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二、酸碱性质</a:t>
            </a:r>
            <a:endParaRPr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p:cNvSpPr txBox="1"/>
          <p:nvPr/>
        </p:nvSpPr>
        <p:spPr>
          <a:xfrm>
            <a:off x="504921" y="2165582"/>
            <a:ext cx="11049770" cy="2862322"/>
          </a:xfrm>
          <a:prstGeom prst="rect">
            <a:avLst/>
          </a:prstGeom>
          <a:noFill/>
        </p:spPr>
        <p:txBody>
          <a:bodyPr wrap="square" rtlCol="0" anchor="t">
            <a:spAutoFit/>
          </a:bodyPr>
          <a:lstStyle/>
          <a:p>
            <a:pPr marL="457200" indent="-457200">
              <a:lnSpc>
                <a:spcPct val="150000"/>
              </a:lnSpc>
              <a:buFont typeface="+mj-ea"/>
              <a:buAutoNum type="circleNumDbPlain"/>
            </a:pP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碱基的解离</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：由于嘧啶和嘌呤化合物杂环中的</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氮</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以及各取代基具有结合和释放质子的能力，所以这些化合物既能碱性解离又能酸性解离；</a:t>
            </a:r>
          </a:p>
          <a:p>
            <a:pPr marL="457200" indent="-457200">
              <a:lnSpc>
                <a:spcPct val="150000"/>
              </a:lnSpc>
              <a:buFont typeface="+mj-ea"/>
              <a:buAutoNum type="circleNumDbPlain"/>
            </a:pP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核苷的解离</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：由于戊糖的存在，核苷中碱基的解离受到一定的影响，</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PK</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略降。核糖中的</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羟基</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也可以发生解离，其pK通常在12以上，一般不去考虑它；</a:t>
            </a:r>
          </a:p>
          <a:p>
            <a:pPr marL="457200" indent="-457200">
              <a:lnSpc>
                <a:spcPct val="150000"/>
              </a:lnSpc>
              <a:buFont typeface="+mj-ea"/>
              <a:buAutoNum type="circleNumDbPlain"/>
            </a:pP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核苷酸的解离</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：由于磷酸基的存在，使核苷酸具有较强的酸性。</a:t>
            </a:r>
          </a:p>
        </p:txBody>
      </p:sp>
      <p:sp>
        <p:nvSpPr>
          <p:cNvPr id="6" name="文本框 5"/>
          <p:cNvSpPr txBox="1"/>
          <p:nvPr/>
        </p:nvSpPr>
        <p:spPr>
          <a:xfrm>
            <a:off x="0" y="972763"/>
            <a:ext cx="12192000" cy="954107"/>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核酸的碱基、核苷和核苷酸均能发生质子解离，含有磷酸基与碱基，为两性电解质。</a:t>
            </a:r>
          </a:p>
        </p:txBody>
      </p:sp>
    </p:spTree>
    <p:extLst>
      <p:ext uri="{BB962C8B-B14F-4D97-AF65-F5344CB8AC3E}">
        <p14:creationId xmlns:p14="http://schemas.microsoft.com/office/powerpoint/2010/main" val="1739595860"/>
      </p:ext>
    </p:extLst>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947" y="-62345"/>
            <a:ext cx="10489606"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2890927"/>
      </p:ext>
    </p:extLst>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926" y="399011"/>
            <a:ext cx="11188736" cy="6284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501926" y="37789"/>
            <a:ext cx="4314001" cy="52322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r="100000" b="100000"/>
            </a:path>
            <a:tileRect l="-100000" t="-100000"/>
          </a:gradFill>
        </p:spPr>
        <p:txBody>
          <a:bodyPr wrap="none">
            <a:spAutoFit/>
          </a:bodyPr>
          <a:lstStyle/>
          <a:p>
            <a:r>
              <a:rPr lang="zh-CN" altLang="en-US" sz="2800" b="1" dirty="0">
                <a:solidFill>
                  <a:prstClr val="black"/>
                </a:solidFill>
                <a:latin typeface="Times New Roman" pitchFamily="18" charset="0"/>
                <a:ea typeface="黑体" pitchFamily="49" charset="-122"/>
                <a:cs typeface="Times New Roman" pitchFamily="18" charset="0"/>
              </a:rPr>
              <a:t>腺苷酸（</a:t>
            </a:r>
            <a:r>
              <a:rPr lang="en-US" altLang="zh-CN" sz="2800" b="1" dirty="0">
                <a:solidFill>
                  <a:prstClr val="black"/>
                </a:solidFill>
                <a:latin typeface="Times New Roman" pitchFamily="18" charset="0"/>
                <a:ea typeface="黑体" pitchFamily="49" charset="-122"/>
                <a:cs typeface="Times New Roman" pitchFamily="18" charset="0"/>
              </a:rPr>
              <a:t>5’-AMP</a:t>
            </a:r>
            <a:r>
              <a:rPr lang="zh-CN" altLang="en-US" sz="2800" b="1" dirty="0">
                <a:solidFill>
                  <a:prstClr val="black"/>
                </a:solidFill>
                <a:latin typeface="Times New Roman" pitchFamily="18" charset="0"/>
                <a:ea typeface="黑体" pitchFamily="49" charset="-122"/>
                <a:cs typeface="Times New Roman" pitchFamily="18" charset="0"/>
              </a:rPr>
              <a:t>）的解离</a:t>
            </a:r>
          </a:p>
        </p:txBody>
      </p:sp>
    </p:spTree>
    <p:extLst>
      <p:ext uri="{BB962C8B-B14F-4D97-AF65-F5344CB8AC3E}">
        <p14:creationId xmlns:p14="http://schemas.microsoft.com/office/powerpoint/2010/main" val="2373954120"/>
      </p:ext>
    </p:extLst>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9269"/>
            <a:ext cx="12192000" cy="540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331518" y="5721406"/>
            <a:ext cx="11697195" cy="830997"/>
          </a:xfrm>
          <a:prstGeom prst="rect">
            <a:avLst/>
          </a:prstGeom>
        </p:spPr>
        <p:txBody>
          <a:bodyPr wrap="square">
            <a:spAutoFit/>
          </a:bodyPr>
          <a:lstStyle/>
          <a:p>
            <a:r>
              <a:rPr lang="zh-CN" altLang="en-US" sz="2400" b="1" dirty="0">
                <a:solidFill>
                  <a:prstClr val="black"/>
                </a:solidFill>
                <a:latin typeface="黑体" pitchFamily="49" charset="-122"/>
                <a:ea typeface="黑体" pitchFamily="49" charset="-122"/>
              </a:rPr>
              <a:t>在碱性环境下（</a:t>
            </a:r>
            <a:r>
              <a:rPr lang="en-US" altLang="zh-CN" sz="2400" b="1" dirty="0">
                <a:solidFill>
                  <a:prstClr val="black"/>
                </a:solidFill>
                <a:latin typeface="黑体" pitchFamily="49" charset="-122"/>
                <a:ea typeface="黑体" pitchFamily="49" charset="-122"/>
              </a:rPr>
              <a:t>pH8.0</a:t>
            </a:r>
            <a:r>
              <a:rPr lang="zh-CN" altLang="en-US" sz="2400" b="1" dirty="0">
                <a:solidFill>
                  <a:prstClr val="black"/>
                </a:solidFill>
                <a:latin typeface="黑体" pitchFamily="49" charset="-122"/>
                <a:ea typeface="黑体" pitchFamily="49" charset="-122"/>
              </a:rPr>
              <a:t>）碱基不带电</a:t>
            </a:r>
            <a:r>
              <a:rPr lang="en-US" altLang="zh-CN" sz="2400" b="1" dirty="0">
                <a:solidFill>
                  <a:prstClr val="black"/>
                </a:solidFill>
                <a:latin typeface="黑体" pitchFamily="49" charset="-122"/>
                <a:ea typeface="黑体" pitchFamily="49" charset="-122"/>
              </a:rPr>
              <a:t>(C, A, G)</a:t>
            </a:r>
            <a:r>
              <a:rPr lang="zh-CN" altLang="en-US" sz="2400" b="1" dirty="0">
                <a:solidFill>
                  <a:prstClr val="black"/>
                </a:solidFill>
                <a:latin typeface="黑体" pitchFamily="49" charset="-122"/>
                <a:ea typeface="黑体" pitchFamily="49" charset="-122"/>
              </a:rPr>
              <a:t>或带负电</a:t>
            </a:r>
            <a:r>
              <a:rPr lang="en-US" altLang="zh-CN" sz="2400" b="1" dirty="0">
                <a:solidFill>
                  <a:prstClr val="black"/>
                </a:solidFill>
                <a:latin typeface="黑体" pitchFamily="49" charset="-122"/>
                <a:ea typeface="黑体" pitchFamily="49" charset="-122"/>
              </a:rPr>
              <a:t>(T)</a:t>
            </a:r>
            <a:r>
              <a:rPr lang="zh-CN" altLang="en-US" sz="2400" b="1" dirty="0">
                <a:solidFill>
                  <a:prstClr val="black"/>
                </a:solidFill>
                <a:latin typeface="黑体" pitchFamily="49" charset="-122"/>
                <a:ea typeface="黑体" pitchFamily="49" charset="-122"/>
              </a:rPr>
              <a:t>，而磷酸基团带负电，在电场中核酸分子向正极移动。</a:t>
            </a:r>
          </a:p>
        </p:txBody>
      </p:sp>
    </p:spTree>
    <p:extLst>
      <p:ext uri="{BB962C8B-B14F-4D97-AF65-F5344CB8AC3E}">
        <p14:creationId xmlns:p14="http://schemas.microsoft.com/office/powerpoint/2010/main" val="1828386970"/>
      </p:ext>
    </p:extLst>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a:fillRect/>
          </a:stretch>
        </p:blipFill>
        <p:spPr>
          <a:xfrm>
            <a:off x="7845021" y="1230284"/>
            <a:ext cx="4347629" cy="5448374"/>
          </a:xfrm>
          <a:prstGeom prst="rect">
            <a:avLst/>
          </a:prstGeom>
        </p:spPr>
      </p:pic>
      <p:pic>
        <p:nvPicPr>
          <p:cNvPr id="4" name="图片 3"/>
          <p:cNvPicPr>
            <a:picLocks noChangeAspect="1"/>
          </p:cNvPicPr>
          <p:nvPr/>
        </p:nvPicPr>
        <p:blipFill>
          <a:blip r:embed="rId4"/>
          <a:srcRect b="10072"/>
          <a:stretch>
            <a:fillRect/>
          </a:stretch>
        </p:blipFill>
        <p:spPr>
          <a:xfrm>
            <a:off x="383823" y="2628241"/>
            <a:ext cx="6657408" cy="4229759"/>
          </a:xfrm>
          <a:prstGeom prst="rect">
            <a:avLst/>
          </a:prstGeom>
        </p:spPr>
      </p:pic>
      <p:sp>
        <p:nvSpPr>
          <p:cNvPr id="3" name="文本框 2"/>
          <p:cNvSpPr txBox="1"/>
          <p:nvPr/>
        </p:nvSpPr>
        <p:spPr>
          <a:xfrm>
            <a:off x="3459268" y="-76200"/>
            <a:ext cx="4801314"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三、核酸的紫外吸收</a:t>
            </a:r>
          </a:p>
        </p:txBody>
      </p:sp>
      <p:sp>
        <p:nvSpPr>
          <p:cNvPr id="6" name="文本框 5"/>
          <p:cNvSpPr txBox="1"/>
          <p:nvPr/>
        </p:nvSpPr>
        <p:spPr>
          <a:xfrm>
            <a:off x="0" y="831579"/>
            <a:ext cx="12192000" cy="2492990"/>
          </a:xfrm>
          <a:prstGeom prst="rect">
            <a:avLst/>
          </a:prstGeom>
          <a:noFill/>
        </p:spPr>
        <p:txBody>
          <a:bodyPr wrap="square" rtlCol="0" anchor="t">
            <a:spAutoFit/>
          </a:bodyPr>
          <a:lstStyle/>
          <a:p>
            <a:pPr marL="285750" indent="-285750">
              <a:lnSpc>
                <a:spcPct val="130000"/>
              </a:lnSpc>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嘌呤碱与嘧啶碱具有芳香共枙体系，在240~290 nm 的紫外波段有一强烈的吸收峰，最大吸收值在</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260nm</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附近。</a:t>
            </a:r>
          </a:p>
          <a:p>
            <a:pPr marL="342900" indent="-342900">
              <a:lnSpc>
                <a:spcPct val="130000"/>
              </a:lnSpc>
              <a:buFont typeface="Arial" panose="020B0604020202020204" pitchFamily="34" charset="0"/>
              <a:buChar char="•"/>
            </a:pP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增色效应</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：核酸发生</a:t>
            </a: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变性</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时，摩尔磷吸光系数增加的现象。</a:t>
            </a:r>
            <a:endPar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30000"/>
              </a:lnSpc>
              <a:buFont typeface="Arial" panose="020B0604020202020204" pitchFamily="34" charset="0"/>
              <a:buChar char="•"/>
            </a:pP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减色效应</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复性</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后，摩尔磷吸光系数又降低的效应。</a:t>
            </a:r>
            <a:endPar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30000"/>
              </a:lnSpc>
              <a:buFont typeface="Arial" panose="020B0604020202020204" pitchFamily="34" charset="0"/>
              <a:buChar char="•"/>
            </a:pPr>
            <a:endPar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465498584"/>
      </p:ext>
    </p:extLst>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0284" y="924742"/>
            <a:ext cx="7946967" cy="4776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2960505" y="-76200"/>
            <a:ext cx="6340197" cy="1015663"/>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三、核酸的紫外吸收的应用</a:t>
            </a:r>
          </a:p>
        </p:txBody>
      </p:sp>
      <p:sp>
        <p:nvSpPr>
          <p:cNvPr id="2" name="矩形 1"/>
          <p:cNvSpPr/>
          <p:nvPr/>
        </p:nvSpPr>
        <p:spPr>
          <a:xfrm>
            <a:off x="1060950" y="5704976"/>
            <a:ext cx="4780476" cy="615553"/>
          </a:xfrm>
          <a:prstGeom prst="rect">
            <a:avLst/>
          </a:prstGeom>
        </p:spPr>
        <p:txBody>
          <a:bodyPr wrap="none">
            <a:spAutoFit/>
          </a:bodyPr>
          <a:lstStyle/>
          <a:p>
            <a:r>
              <a:rPr lang="zh-CN" altLang="en-US" sz="3400" b="1" dirty="0">
                <a:solidFill>
                  <a:prstClr val="black"/>
                </a:solidFill>
                <a:latin typeface="黑体" pitchFamily="49" charset="-122"/>
                <a:ea typeface="黑体" pitchFamily="49" charset="-122"/>
              </a:rPr>
              <a:t>（</a:t>
            </a:r>
            <a:r>
              <a:rPr lang="en-US" altLang="zh-CN" sz="3400" b="1" dirty="0">
                <a:solidFill>
                  <a:prstClr val="black"/>
                </a:solidFill>
                <a:latin typeface="黑体" pitchFamily="49" charset="-122"/>
                <a:ea typeface="黑体" pitchFamily="49" charset="-122"/>
              </a:rPr>
              <a:t>4</a:t>
            </a:r>
            <a:r>
              <a:rPr lang="zh-CN" altLang="en-US" sz="3400" b="1" dirty="0">
                <a:solidFill>
                  <a:prstClr val="black"/>
                </a:solidFill>
                <a:latin typeface="黑体" pitchFamily="49" charset="-122"/>
                <a:ea typeface="黑体" pitchFamily="49" charset="-122"/>
              </a:rPr>
              <a:t>）核酸变性程度鉴定</a:t>
            </a:r>
          </a:p>
        </p:txBody>
      </p:sp>
    </p:spTree>
    <p:extLst>
      <p:ext uri="{BB962C8B-B14F-4D97-AF65-F5344CB8AC3E}">
        <p14:creationId xmlns:p14="http://schemas.microsoft.com/office/powerpoint/2010/main" val="3523388023"/>
      </p:ext>
    </p:extLst>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716434" y="1117389"/>
            <a:ext cx="8759132" cy="5274944"/>
          </a:xfrm>
          <a:prstGeom prst="rect">
            <a:avLst/>
          </a:prstGeom>
        </p:spPr>
      </p:pic>
      <p:sp>
        <p:nvSpPr>
          <p:cNvPr id="3" name="文本框 2"/>
          <p:cNvSpPr txBox="1"/>
          <p:nvPr/>
        </p:nvSpPr>
        <p:spPr>
          <a:xfrm>
            <a:off x="2846495" y="-47691"/>
            <a:ext cx="5314275"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四、核酸的变性、复性</a:t>
            </a:r>
          </a:p>
        </p:txBody>
      </p:sp>
    </p:spTree>
    <p:extLst>
      <p:ext uri="{BB962C8B-B14F-4D97-AF65-F5344CB8AC3E}">
        <p14:creationId xmlns:p14="http://schemas.microsoft.com/office/powerpoint/2010/main" val="272781606"/>
      </p:ext>
    </p:extLst>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内容占位符 2"/>
          <p:cNvSpPr>
            <a:spLocks noGrp="1"/>
          </p:cNvSpPr>
          <p:nvPr>
            <p:ph type="subTitle" idx="4294967295"/>
          </p:nvPr>
        </p:nvSpPr>
        <p:spPr>
          <a:xfrm>
            <a:off x="245533" y="1125714"/>
            <a:ext cx="11946467" cy="5072063"/>
          </a:xfrm>
        </p:spPr>
        <p:txBody>
          <a:bodyPr vert="horz" wrap="square" lIns="91440" tIns="45720" rIns="91440" bIns="45720" rtlCol="0" anchor="t" anchorCtr="0">
            <a:noAutofit/>
          </a:bodyPr>
          <a:lstStyle/>
          <a:p>
            <a:pPr marL="342900" indent="-342900" algn="l">
              <a:lnSpc>
                <a:spcPct val="150000"/>
              </a:lnSpc>
              <a:buClr>
                <a:srgbClr val="000000"/>
              </a:buClr>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定义</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：是指双链核酸受到加热、极端的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pH</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或离子强度降低等因素或特殊的化学试剂的作用，其双螺旋区的</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氢键断裂，变成单链</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的过程。其中并不涉及共价键断裂。</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a:lnSpc>
                <a:spcPct val="150000"/>
              </a:lnSpc>
              <a:buClr>
                <a:srgbClr val="000000"/>
              </a:buClr>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表征</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：核酸在变性时，紫外吸收和浮力密度升高，黏度降低，生物活性降低或丧失，其中紫外吸收增加的现象称为增色效应。</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a:lnSpc>
                <a:spcPct val="150000"/>
              </a:lnSpc>
              <a:buClr>
                <a:srgbClr val="000000"/>
              </a:buClr>
              <a:buFont typeface="Arial" panose="020B0604020202020204" pitchFamily="34" charset="0"/>
              <a:buChar cha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Tm</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：双链</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热变性是在很窄的温度内发生的，与晶体在熔点时突然熔化的情形相似，因此</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也具有“熔点”，用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Tm</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表示。</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Tm</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实际是</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的双螺旋有一半发生热变性时相应的温度</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a:lnSpc>
                <a:spcPct val="150000"/>
              </a:lnSpc>
              <a:buClr>
                <a:srgbClr val="000000"/>
              </a:buClr>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Tm</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值受到</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的均一性</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G-C</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含量</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离子强度</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和</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特殊的化学试剂</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的影响。</a:t>
            </a:r>
          </a:p>
        </p:txBody>
      </p:sp>
      <p:sp>
        <p:nvSpPr>
          <p:cNvPr id="2" name="文本框 1"/>
          <p:cNvSpPr txBox="1"/>
          <p:nvPr/>
        </p:nvSpPr>
        <p:spPr>
          <a:xfrm>
            <a:off x="2846495" y="-47691"/>
            <a:ext cx="5314275"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四、核酸的变性、复性</a:t>
            </a:r>
          </a:p>
        </p:txBody>
      </p:sp>
    </p:spTree>
    <p:extLst>
      <p:ext uri="{BB962C8B-B14F-4D97-AF65-F5344CB8AC3E}">
        <p14:creationId xmlns:p14="http://schemas.microsoft.com/office/powerpoint/2010/main" val="3359716204"/>
      </p:ext>
    </p:extLst>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srcRect l="4815" t="3544" r="5566" b="7363"/>
          <a:stretch/>
        </p:blipFill>
        <p:spPr>
          <a:xfrm>
            <a:off x="5228713" y="880531"/>
            <a:ext cx="6963288" cy="4481691"/>
          </a:xfrm>
          <a:prstGeom prst="rect">
            <a:avLst/>
          </a:prstGeom>
        </p:spPr>
      </p:pic>
      <p:sp>
        <p:nvSpPr>
          <p:cNvPr id="6" name="文本框 5"/>
          <p:cNvSpPr txBox="1"/>
          <p:nvPr/>
        </p:nvSpPr>
        <p:spPr>
          <a:xfrm>
            <a:off x="713106" y="3233421"/>
            <a:ext cx="3561937" cy="662554"/>
          </a:xfrm>
          <a:prstGeom prst="rect">
            <a:avLst/>
          </a:prstGeom>
          <a:noFill/>
        </p:spPr>
        <p:txBody>
          <a:bodyPr wrap="none" rtlCol="0" anchor="t">
            <a:spAutoFit/>
          </a:bodyPr>
          <a:lstStyle/>
          <a:p>
            <a:pPr>
              <a:lnSpc>
                <a:spcPct val="150000"/>
              </a:lnSpc>
            </a:pPr>
            <a:r>
              <a:rPr lang="en-US" altLang="zh-CN"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G-C</a:t>
            </a: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含量对</a:t>
            </a:r>
            <a:r>
              <a:rPr lang="en-US" altLang="zh-CN"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Tm</a:t>
            </a: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的影响</a:t>
            </a:r>
          </a:p>
        </p:txBody>
      </p:sp>
      <p:pic>
        <p:nvPicPr>
          <p:cNvPr id="2" name="图片 1"/>
          <p:cNvPicPr>
            <a:picLocks noChangeAspect="1"/>
          </p:cNvPicPr>
          <p:nvPr/>
        </p:nvPicPr>
        <p:blipFill rotWithShape="1">
          <a:blip r:embed="rId4"/>
          <a:srcRect t="8511" r="3152"/>
          <a:stretch/>
        </p:blipFill>
        <p:spPr>
          <a:xfrm>
            <a:off x="124178" y="4698913"/>
            <a:ext cx="6107290" cy="2159087"/>
          </a:xfrm>
          <a:prstGeom prst="rect">
            <a:avLst/>
          </a:prstGeom>
        </p:spPr>
      </p:pic>
      <p:sp>
        <p:nvSpPr>
          <p:cNvPr id="7" name="文本框 6"/>
          <p:cNvSpPr txBox="1"/>
          <p:nvPr/>
        </p:nvSpPr>
        <p:spPr>
          <a:xfrm>
            <a:off x="2846495" y="-47691"/>
            <a:ext cx="5314275"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四、核酸的变性、复性</a:t>
            </a:r>
          </a:p>
        </p:txBody>
      </p:sp>
    </p:spTree>
    <p:extLst>
      <p:ext uri="{BB962C8B-B14F-4D97-AF65-F5344CB8AC3E}">
        <p14:creationId xmlns:p14="http://schemas.microsoft.com/office/powerpoint/2010/main" val="2624301672"/>
      </p:ext>
    </p:extLst>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33307" y="859224"/>
            <a:ext cx="3606821" cy="662554"/>
          </a:xfrm>
          <a:prstGeom prst="rect">
            <a:avLst/>
          </a:prstGeom>
          <a:noFill/>
        </p:spPr>
        <p:txBody>
          <a:bodyPr wrap="none" rtlCol="0" anchor="t">
            <a:spAutoFit/>
          </a:bodyPr>
          <a:lstStyle/>
          <a:p>
            <a:pPr>
              <a:lnSpc>
                <a:spcPct val="150000"/>
              </a:lnSpc>
            </a:pP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离子强度对</a:t>
            </a:r>
            <a:r>
              <a:rPr lang="en-US" altLang="zh-CN"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Tm</a:t>
            </a: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的影响</a:t>
            </a:r>
          </a:p>
        </p:txBody>
      </p:sp>
      <p:pic>
        <p:nvPicPr>
          <p:cNvPr id="7" name="图片 6"/>
          <p:cNvPicPr>
            <a:picLocks noChangeAspect="1"/>
          </p:cNvPicPr>
          <p:nvPr/>
        </p:nvPicPr>
        <p:blipFill>
          <a:blip r:embed="rId3"/>
          <a:stretch>
            <a:fillRect/>
          </a:stretch>
        </p:blipFill>
        <p:spPr>
          <a:xfrm>
            <a:off x="1128889" y="1639909"/>
            <a:ext cx="6480963" cy="5061659"/>
          </a:xfrm>
          <a:prstGeom prst="rect">
            <a:avLst/>
          </a:prstGeom>
        </p:spPr>
      </p:pic>
      <p:pic>
        <p:nvPicPr>
          <p:cNvPr id="8" name="图片 7"/>
          <p:cNvPicPr>
            <a:picLocks noChangeAspect="1"/>
          </p:cNvPicPr>
          <p:nvPr/>
        </p:nvPicPr>
        <p:blipFill>
          <a:blip r:embed="rId4"/>
          <a:stretch>
            <a:fillRect/>
          </a:stretch>
        </p:blipFill>
        <p:spPr>
          <a:xfrm>
            <a:off x="7609852" y="0"/>
            <a:ext cx="4582148" cy="6842070"/>
          </a:xfrm>
          <a:prstGeom prst="rect">
            <a:avLst/>
          </a:prstGeom>
        </p:spPr>
      </p:pic>
      <p:sp>
        <p:nvSpPr>
          <p:cNvPr id="2" name="文本框 1"/>
          <p:cNvSpPr txBox="1"/>
          <p:nvPr/>
        </p:nvSpPr>
        <p:spPr>
          <a:xfrm>
            <a:off x="1841785" y="-47691"/>
            <a:ext cx="5314275"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四、核酸的变性、复性</a:t>
            </a:r>
          </a:p>
        </p:txBody>
      </p:sp>
    </p:spTree>
    <p:extLst>
      <p:ext uri="{BB962C8B-B14F-4D97-AF65-F5344CB8AC3E}">
        <p14:creationId xmlns:p14="http://schemas.microsoft.com/office/powerpoint/2010/main" val="3749731310"/>
      </p:ext>
    </p:extLst>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1174044"/>
            <a:ext cx="12192000" cy="4376647"/>
          </a:xfrm>
          <a:prstGeom prst="rect">
            <a:avLst/>
          </a:prstGeom>
          <a:noFill/>
        </p:spPr>
        <p:txBody>
          <a:bodyPr wrap="square" rtlCol="0">
            <a:spAutoFit/>
          </a:bodyPr>
          <a:lstStyle/>
          <a:p>
            <a:pPr marL="285750" indent="-285750">
              <a:lnSpc>
                <a:spcPct val="150000"/>
              </a:lnSpc>
              <a:spcBef>
                <a:spcPts val="600"/>
              </a:spcBef>
              <a:buClr>
                <a:srgbClr val="000000"/>
              </a:buClr>
              <a:buFont typeface="Arial" panose="020B0604020202020204" pitchFamily="34" charset="0"/>
              <a:buChar char="•"/>
            </a:pPr>
            <a:r>
              <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核酸变性在一定条件下也是可逆的。当各种变性因素不复存在的时候，变性时解开的互补单链全部或部分恢复到天然双螺旋结构的现象称为复性。热变性</a:t>
            </a:r>
            <a:r>
              <a:rPr lang="en-US" altLang="zh-CN"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DNA </a:t>
            </a:r>
            <a:r>
              <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一般经缓慢冷却后即可</a:t>
            </a:r>
            <a:r>
              <a:rPr lang="zh-CN" altLang="en-US" sz="2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复性</a:t>
            </a:r>
            <a:r>
              <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，此过程被称为</a:t>
            </a:r>
            <a:r>
              <a:rPr lang="zh-CN" altLang="en-US" sz="2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退火</a:t>
            </a:r>
            <a:r>
              <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ts val="600"/>
              </a:spcBef>
              <a:buClr>
                <a:srgbClr val="000000"/>
              </a:buClr>
              <a:buFont typeface="Arial" panose="020B0604020202020204" pitchFamily="34" charset="0"/>
              <a:buChar char="•"/>
            </a:pPr>
            <a:r>
              <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伴随着</a:t>
            </a:r>
            <a:r>
              <a:rPr lang="en-US" altLang="zh-CN"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复性的是其浮力密度和紫外吸收的减少、粘度的增加和生物活性的恢复，其中紫外吸收减少的现象被称为</a:t>
            </a:r>
            <a:r>
              <a:rPr lang="zh-CN" altLang="en-US" sz="2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减色效应</a:t>
            </a:r>
            <a:r>
              <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ts val="600"/>
              </a:spcBef>
              <a:buClr>
                <a:srgbClr val="000000"/>
              </a:buClr>
              <a:buFont typeface="Arial" panose="020B0604020202020204" pitchFamily="34" charset="0"/>
              <a:buChar char="•"/>
            </a:pPr>
            <a:r>
              <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影响</a:t>
            </a:r>
            <a:r>
              <a:rPr lang="en-US" altLang="zh-CN"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复性的因素有温度、离子强度、</a:t>
            </a:r>
            <a:r>
              <a:rPr lang="en-US" altLang="zh-CN"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浓度和</a:t>
            </a:r>
            <a:r>
              <a:rPr lang="en-US" altLang="zh-CN"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序列的复杂度等。</a:t>
            </a:r>
            <a:endPar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pPr>
            <a:endParaRPr lang="zh-CN" altLang="en-US" sz="26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2846495" y="-47691"/>
            <a:ext cx="5314275"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四、核酸的变性、复性</a:t>
            </a:r>
          </a:p>
        </p:txBody>
      </p:sp>
    </p:spTree>
    <p:extLst>
      <p:ext uri="{BB962C8B-B14F-4D97-AF65-F5344CB8AC3E}">
        <p14:creationId xmlns:p14="http://schemas.microsoft.com/office/powerpoint/2010/main" val="2327053870"/>
      </p:ext>
    </p:extLst>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8" name="Rectangle 4"/>
          <p:cNvSpPr/>
          <p:nvPr/>
        </p:nvSpPr>
        <p:spPr>
          <a:xfrm>
            <a:off x="1" y="974091"/>
            <a:ext cx="12090400" cy="3200400"/>
          </a:xfrm>
          <a:prstGeom prst="rect">
            <a:avLst/>
          </a:prstGeom>
          <a:noFill/>
          <a:ln w="9525">
            <a:noFill/>
          </a:ln>
        </p:spPr>
        <p:txBody>
          <a:bodyPr anchor="t" anchorCtr="0"/>
          <a:lstStyle/>
          <a:p>
            <a:pPr>
              <a:lnSpc>
                <a:spcPct val="150000"/>
              </a:lnSpc>
              <a:spcBef>
                <a:spcPct val="20000"/>
              </a:spcBef>
              <a:buClr>
                <a:srgbClr val="954F72"/>
              </a:buClr>
              <a:buSzPct val="60000"/>
            </a:pPr>
            <a:r>
              <a:rPr lang="zh-CN" altLang="en-US" sz="3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核酸的杂交</a:t>
            </a:r>
            <a:r>
              <a:rPr lang="en-US" altLang="zh-CN" sz="3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(hybridization)</a:t>
            </a:r>
            <a:endParaRPr lang="en-US" altLang="zh-CN" sz="3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20000"/>
              </a:spcBef>
              <a:buClr>
                <a:srgbClr val="000000"/>
              </a:buClr>
              <a:buSzPct val="80000"/>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热变性的DNA单链，在复性时并不一定与同源DNA互补链形成双螺旋结构，它也可以与在某些区域有互补序列的异源DNA单链形成双螺旋结构，叫核酸杂交。</a:t>
            </a:r>
          </a:p>
          <a:p>
            <a:pPr marL="342900" indent="-342900">
              <a:lnSpc>
                <a:spcPct val="150000"/>
              </a:lnSpc>
              <a:spcBef>
                <a:spcPct val="20000"/>
              </a:spcBef>
              <a:buClr>
                <a:srgbClr val="000000"/>
              </a:buClr>
              <a:buSzPct val="80000"/>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这样形成的新分子称为杂交</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分子。</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单链与互补的</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RNA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链之间也可以发生杂交。</a:t>
            </a:r>
          </a:p>
        </p:txBody>
      </p:sp>
      <p:sp>
        <p:nvSpPr>
          <p:cNvPr id="917509" name="Text Box 5"/>
          <p:cNvSpPr txBox="1"/>
          <p:nvPr/>
        </p:nvSpPr>
        <p:spPr>
          <a:xfrm>
            <a:off x="1250457" y="3886765"/>
            <a:ext cx="9589488" cy="1815882"/>
          </a:xfrm>
          <a:prstGeom prst="rect">
            <a:avLst/>
          </a:prstGeom>
          <a:noFill/>
          <a:ln w="9525">
            <a:noFill/>
          </a:ln>
        </p:spPr>
        <p:txBody>
          <a:bodyPr wrap="square" anchor="t" anchorCtr="0">
            <a:spAutoFit/>
          </a:bodyPr>
          <a:lstStyle/>
          <a:p>
            <a:pPr>
              <a:spcBef>
                <a:spcPct val="50000"/>
              </a:spcBef>
            </a:pPr>
            <a:r>
              <a:rPr lang="en-US" altLang="zh-CN" sz="2800" b="1" dirty="0">
                <a:solidFill>
                  <a:srgbClr val="FF0000"/>
                </a:solidFill>
                <a:latin typeface="Comic Sans MS" panose="030F0702030302020204" charset="0"/>
                <a:ea typeface="楷体" panose="02010609060101010101" pitchFamily="49" charset="-122"/>
                <a:cs typeface="Comic Sans MS" panose="030F0702030302020204" charset="0"/>
              </a:rPr>
              <a:t>Southern blotting </a:t>
            </a:r>
            <a:r>
              <a:rPr lang="zh-CN" altLang="en-US" sz="2800" b="1" dirty="0">
                <a:solidFill>
                  <a:srgbClr val="FF0000"/>
                </a:solidFill>
                <a:latin typeface="Comic Sans MS" panose="030F0702030302020204" charset="0"/>
                <a:ea typeface="楷体" panose="02010609060101010101" pitchFamily="49" charset="-122"/>
                <a:cs typeface="Comic Sans MS" panose="030F0702030302020204" charset="0"/>
              </a:rPr>
              <a:t>（</a:t>
            </a:r>
            <a:r>
              <a:rPr lang="en-US" altLang="zh-CN" sz="2800" b="1" dirty="0">
                <a:solidFill>
                  <a:srgbClr val="FF0000"/>
                </a:solidFill>
                <a:latin typeface="Comic Sans MS" panose="030F0702030302020204" charset="0"/>
                <a:ea typeface="楷体" panose="02010609060101010101" pitchFamily="49" charset="-122"/>
                <a:cs typeface="Comic Sans MS" panose="030F0702030302020204" charset="0"/>
              </a:rPr>
              <a:t>Southern</a:t>
            </a:r>
            <a:r>
              <a:rPr lang="zh-CN" altLang="en-US" sz="2800" b="1" dirty="0">
                <a:solidFill>
                  <a:srgbClr val="FF0000"/>
                </a:solidFill>
                <a:latin typeface="Comic Sans MS" panose="030F0702030302020204" charset="0"/>
                <a:ea typeface="楷体" panose="02010609060101010101" pitchFamily="49" charset="-122"/>
                <a:cs typeface="Comic Sans MS" panose="030F0702030302020204" charset="0"/>
              </a:rPr>
              <a:t>印迹法）：</a:t>
            </a:r>
            <a:r>
              <a:rPr lang="en-US" altLang="zh-CN" sz="2800" b="1" dirty="0">
                <a:solidFill>
                  <a:srgbClr val="FF0000"/>
                </a:solidFill>
                <a:latin typeface="Comic Sans MS" panose="030F0702030302020204" charset="0"/>
                <a:ea typeface="楷体" panose="02010609060101010101" pitchFamily="49" charset="-122"/>
                <a:cs typeface="Comic Sans MS" panose="030F0702030302020204" charset="0"/>
              </a:rPr>
              <a:t>DNA-DNA</a:t>
            </a:r>
            <a:r>
              <a:rPr lang="zh-CN" altLang="en-US" sz="2800" b="1" dirty="0">
                <a:solidFill>
                  <a:srgbClr val="FF0000"/>
                </a:solidFill>
                <a:latin typeface="Comic Sans MS" panose="030F0702030302020204" charset="0"/>
                <a:ea typeface="楷体" panose="02010609060101010101" pitchFamily="49" charset="-122"/>
                <a:cs typeface="Comic Sans MS" panose="030F0702030302020204" charset="0"/>
              </a:rPr>
              <a:t>杂交</a:t>
            </a:r>
          </a:p>
          <a:p>
            <a:pPr>
              <a:spcBef>
                <a:spcPct val="50000"/>
              </a:spcBef>
            </a:pPr>
            <a:r>
              <a:rPr lang="en-US" altLang="zh-CN" sz="2800" b="1" dirty="0">
                <a:solidFill>
                  <a:prstClr val="black"/>
                </a:solidFill>
                <a:latin typeface="Comic Sans MS" panose="030F0702030302020204" charset="0"/>
                <a:ea typeface="楷体" panose="02010609060101010101" pitchFamily="49" charset="-122"/>
                <a:cs typeface="Comic Sans MS" panose="030F0702030302020204" charset="0"/>
              </a:rPr>
              <a:t>Northern blotting </a:t>
            </a:r>
            <a:r>
              <a:rPr lang="zh-CN" altLang="en-US" sz="2800" b="1" dirty="0">
                <a:solidFill>
                  <a:prstClr val="black"/>
                </a:solidFill>
                <a:latin typeface="Comic Sans MS" panose="030F0702030302020204" charset="0"/>
                <a:ea typeface="楷体" panose="02010609060101010101" pitchFamily="49" charset="-122"/>
                <a:cs typeface="Comic Sans MS" panose="030F0702030302020204" charset="0"/>
              </a:rPr>
              <a:t>（</a:t>
            </a:r>
            <a:r>
              <a:rPr lang="en-US" altLang="zh-CN" sz="2800" b="1" dirty="0">
                <a:solidFill>
                  <a:prstClr val="black"/>
                </a:solidFill>
                <a:latin typeface="Comic Sans MS" panose="030F0702030302020204" charset="0"/>
                <a:ea typeface="楷体" panose="02010609060101010101" pitchFamily="49" charset="-122"/>
                <a:cs typeface="Comic Sans MS" panose="030F0702030302020204" charset="0"/>
              </a:rPr>
              <a:t>Northern</a:t>
            </a:r>
            <a:r>
              <a:rPr lang="zh-CN" altLang="en-US" sz="2800" b="1" dirty="0">
                <a:solidFill>
                  <a:prstClr val="black"/>
                </a:solidFill>
                <a:latin typeface="Comic Sans MS" panose="030F0702030302020204" charset="0"/>
                <a:ea typeface="楷体" panose="02010609060101010101" pitchFamily="49" charset="-122"/>
                <a:cs typeface="Comic Sans MS" panose="030F0702030302020204" charset="0"/>
              </a:rPr>
              <a:t>印迹法）：</a:t>
            </a:r>
            <a:r>
              <a:rPr lang="en-US" altLang="zh-CN" sz="2800" b="1" dirty="0">
                <a:solidFill>
                  <a:prstClr val="black"/>
                </a:solidFill>
                <a:latin typeface="Comic Sans MS" panose="030F0702030302020204" charset="0"/>
                <a:ea typeface="楷体" panose="02010609060101010101" pitchFamily="49" charset="-122"/>
                <a:cs typeface="Comic Sans MS" panose="030F0702030302020204" charset="0"/>
              </a:rPr>
              <a:t>RNA-RNA</a:t>
            </a:r>
            <a:r>
              <a:rPr lang="zh-CN" altLang="en-US" sz="2800" b="1" dirty="0">
                <a:solidFill>
                  <a:prstClr val="black"/>
                </a:solidFill>
                <a:latin typeface="Comic Sans MS" panose="030F0702030302020204" charset="0"/>
                <a:ea typeface="楷体" panose="02010609060101010101" pitchFamily="49" charset="-122"/>
                <a:cs typeface="Comic Sans MS" panose="030F0702030302020204" charset="0"/>
              </a:rPr>
              <a:t>杂交</a:t>
            </a:r>
          </a:p>
          <a:p>
            <a:pPr>
              <a:spcBef>
                <a:spcPct val="50000"/>
              </a:spcBef>
            </a:pPr>
            <a:r>
              <a:rPr lang="en-US" altLang="zh-CN" sz="2800" b="1" dirty="0">
                <a:solidFill>
                  <a:prstClr val="black"/>
                </a:solidFill>
                <a:latin typeface="Comic Sans MS" panose="030F0702030302020204" charset="0"/>
                <a:ea typeface="楷体" panose="02010609060101010101" pitchFamily="49" charset="-122"/>
                <a:cs typeface="Comic Sans MS" panose="030F0702030302020204" charset="0"/>
              </a:rPr>
              <a:t>Western   blotting </a:t>
            </a:r>
            <a:r>
              <a:rPr lang="zh-CN" altLang="en-US" sz="2800" b="1" dirty="0">
                <a:solidFill>
                  <a:prstClr val="black"/>
                </a:solidFill>
                <a:latin typeface="Comic Sans MS" panose="030F0702030302020204" charset="0"/>
                <a:ea typeface="楷体" panose="02010609060101010101" pitchFamily="49" charset="-122"/>
                <a:cs typeface="Comic Sans MS" panose="030F0702030302020204" charset="0"/>
              </a:rPr>
              <a:t>（</a:t>
            </a:r>
            <a:r>
              <a:rPr lang="en-US" altLang="zh-CN" sz="2800" b="1" dirty="0">
                <a:solidFill>
                  <a:prstClr val="black"/>
                </a:solidFill>
                <a:latin typeface="Comic Sans MS" panose="030F0702030302020204" charset="0"/>
                <a:ea typeface="楷体" panose="02010609060101010101" pitchFamily="49" charset="-122"/>
                <a:cs typeface="Comic Sans MS" panose="030F0702030302020204" charset="0"/>
              </a:rPr>
              <a:t>Western</a:t>
            </a:r>
            <a:r>
              <a:rPr lang="zh-CN" altLang="en-US" sz="2800" b="1" dirty="0">
                <a:solidFill>
                  <a:prstClr val="black"/>
                </a:solidFill>
                <a:latin typeface="Comic Sans MS" panose="030F0702030302020204" charset="0"/>
                <a:ea typeface="楷体" panose="02010609060101010101" pitchFamily="49" charset="-122"/>
                <a:cs typeface="Comic Sans MS" panose="030F0702030302020204" charset="0"/>
              </a:rPr>
              <a:t>印迹法）：抗原</a:t>
            </a:r>
            <a:r>
              <a:rPr lang="en-US" altLang="zh-CN" sz="2800" b="1" dirty="0">
                <a:solidFill>
                  <a:prstClr val="black"/>
                </a:solidFill>
                <a:latin typeface="Comic Sans MS" panose="030F0702030302020204" charset="0"/>
                <a:ea typeface="楷体" panose="02010609060101010101" pitchFamily="49" charset="-122"/>
                <a:cs typeface="Comic Sans MS" panose="030F0702030302020204" charset="0"/>
              </a:rPr>
              <a:t>-</a:t>
            </a:r>
            <a:r>
              <a:rPr lang="zh-CN" altLang="en-US" sz="2800" b="1" dirty="0">
                <a:solidFill>
                  <a:prstClr val="black"/>
                </a:solidFill>
                <a:latin typeface="Comic Sans MS" panose="030F0702030302020204" charset="0"/>
                <a:ea typeface="楷体" panose="02010609060101010101" pitchFamily="49" charset="-122"/>
                <a:cs typeface="Comic Sans MS" panose="030F0702030302020204" charset="0"/>
              </a:rPr>
              <a:t>抗体结合</a:t>
            </a:r>
          </a:p>
        </p:txBody>
      </p:sp>
      <p:sp>
        <p:nvSpPr>
          <p:cNvPr id="2" name="文本框 1"/>
          <p:cNvSpPr txBox="1"/>
          <p:nvPr/>
        </p:nvSpPr>
        <p:spPr>
          <a:xfrm>
            <a:off x="3913295" y="-104138"/>
            <a:ext cx="3775393"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五、核酸的杂交</a:t>
            </a:r>
          </a:p>
        </p:txBody>
      </p:sp>
    </p:spTree>
    <p:extLst>
      <p:ext uri="{BB962C8B-B14F-4D97-AF65-F5344CB8AC3E}">
        <p14:creationId xmlns:p14="http://schemas.microsoft.com/office/powerpoint/2010/main" val="356623025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917508"/>
                                        </p:tgtEl>
                                        <p:attrNameLst>
                                          <p:attrName>style.visibility</p:attrName>
                                        </p:attrNameLst>
                                      </p:cBhvr>
                                      <p:to>
                                        <p:strVal val="visible"/>
                                      </p:to>
                                    </p:set>
                                    <p:animEffect transition="in" filter="barn(outHorizontal)">
                                      <p:cBhvr>
                                        <p:cTn id="7" dur="500"/>
                                        <p:tgtEl>
                                          <p:spTgt spid="917508"/>
                                        </p:tgtEl>
                                      </p:cBhvr>
                                    </p:animEffect>
                                  </p:childTnLst>
                                  <p:subTnLst>
                                    <p:animClr clrSpc="rgb" dir="cw">
                                      <p:cBhvr override="childStyle">
                                        <p:cTn dur="1" fill="hold" display="0" masterRel="nextClick" afterEffect="1"/>
                                        <p:tgtEl>
                                          <p:spTgt spid="917508"/>
                                        </p:tgtEl>
                                        <p:attrNameLst>
                                          <p:attrName>ppt_c</p:attrName>
                                        </p:attrNameLst>
                                      </p:cBhvr>
                                      <p:to>
                                        <a:schemeClr val="folHlink"/>
                                      </p:to>
                                    </p:animClr>
                                  </p:sub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917509"/>
                                        </p:tgtEl>
                                        <p:attrNameLst>
                                          <p:attrName>style.visibility</p:attrName>
                                        </p:attrNameLst>
                                      </p:cBhvr>
                                      <p:to>
                                        <p:strVal val="visible"/>
                                      </p:to>
                                    </p:set>
                                    <p:animEffect transition="in" filter="barn(outHorizontal)">
                                      <p:cBhvr>
                                        <p:cTn id="12" dur="500"/>
                                        <p:tgtEl>
                                          <p:spTgt spid="917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7508" grpId="0"/>
      <p:bldP spid="917509"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872740" y="17780"/>
            <a:ext cx="6356114" cy="6768000"/>
          </a:xfrm>
          <a:prstGeom prst="rect">
            <a:avLst/>
          </a:prstGeom>
        </p:spPr>
      </p:pic>
      <p:sp>
        <p:nvSpPr>
          <p:cNvPr id="2" name="文本框 1"/>
          <p:cNvSpPr txBox="1"/>
          <p:nvPr/>
        </p:nvSpPr>
        <p:spPr>
          <a:xfrm>
            <a:off x="1947635" y="0"/>
            <a:ext cx="2134508" cy="707886"/>
          </a:xfrm>
          <a:prstGeom prst="rect">
            <a:avLst/>
          </a:prstGeom>
          <a:noFill/>
        </p:spPr>
        <p:txBody>
          <a:bodyPr wrap="square" rtlCol="0" anchor="t">
            <a:spAutoFit/>
          </a:bodyPr>
          <a:lstStyle/>
          <a:p>
            <a:r>
              <a:rPr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用限制性内切酶消化DNA</a:t>
            </a:r>
          </a:p>
        </p:txBody>
      </p:sp>
      <p:sp>
        <p:nvSpPr>
          <p:cNvPr id="6" name="文本框 5"/>
          <p:cNvSpPr txBox="1"/>
          <p:nvPr/>
        </p:nvSpPr>
        <p:spPr>
          <a:xfrm>
            <a:off x="9140825" y="71756"/>
            <a:ext cx="3051175" cy="707886"/>
          </a:xfrm>
          <a:prstGeom prst="rect">
            <a:avLst/>
          </a:prstGeom>
          <a:noFill/>
        </p:spPr>
        <p:txBody>
          <a:bodyPr wrap="square" rtlCol="0" anchor="t">
            <a:spAutoFit/>
          </a:bodyPr>
          <a:lstStyle/>
          <a:p>
            <a:r>
              <a:rPr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对不同酶切物的DNA片段进行琼脂糖凝胶电泳</a:t>
            </a:r>
          </a:p>
        </p:txBody>
      </p:sp>
      <p:sp>
        <p:nvSpPr>
          <p:cNvPr id="7" name="文本框 6"/>
          <p:cNvSpPr txBox="1"/>
          <p:nvPr/>
        </p:nvSpPr>
        <p:spPr>
          <a:xfrm>
            <a:off x="9005046" y="2147323"/>
            <a:ext cx="1947876" cy="707886"/>
          </a:xfrm>
          <a:prstGeom prst="rect">
            <a:avLst/>
          </a:prstGeom>
          <a:noFill/>
        </p:spPr>
        <p:txBody>
          <a:bodyPr wrap="square" rtlCol="0" anchor="t">
            <a:spAutoFit/>
          </a:bodyPr>
          <a:lstStyle/>
          <a:p>
            <a:r>
              <a:rPr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按大小分离的DNA片段</a:t>
            </a:r>
          </a:p>
        </p:txBody>
      </p:sp>
      <p:sp>
        <p:nvSpPr>
          <p:cNvPr id="8" name="文本框 7"/>
          <p:cNvSpPr txBox="1"/>
          <p:nvPr/>
        </p:nvSpPr>
        <p:spPr>
          <a:xfrm>
            <a:off x="4726889" y="2506302"/>
            <a:ext cx="3035572" cy="400110"/>
          </a:xfrm>
          <a:prstGeom prst="rect">
            <a:avLst/>
          </a:prstGeom>
          <a:noFill/>
        </p:spPr>
        <p:txBody>
          <a:bodyPr wrap="square" rtlCol="0" anchor="t">
            <a:spAutoFit/>
          </a:bodyPr>
          <a:lstStyle/>
          <a:p>
            <a:r>
              <a:rPr lang="en-US" altLang="zh-CN"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从凝胶转移到膜上</a:t>
            </a:r>
          </a:p>
        </p:txBody>
      </p:sp>
      <p:sp>
        <p:nvSpPr>
          <p:cNvPr id="10" name="文本框 9"/>
          <p:cNvSpPr txBox="1"/>
          <p:nvPr/>
        </p:nvSpPr>
        <p:spPr>
          <a:xfrm>
            <a:off x="934483" y="1831551"/>
            <a:ext cx="3299341" cy="707886"/>
          </a:xfrm>
          <a:prstGeom prst="rect">
            <a:avLst/>
          </a:prstGeom>
          <a:noFill/>
        </p:spPr>
        <p:txBody>
          <a:bodyPr wrap="square" rtlCol="0" anchor="t">
            <a:spAutoFit/>
          </a:bodyPr>
          <a:lstStyle/>
          <a:p>
            <a:r>
              <a:rPr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DNA片段以与凝胶上相同的位置结合在膜上</a:t>
            </a:r>
          </a:p>
        </p:txBody>
      </p:sp>
      <p:sp>
        <p:nvSpPr>
          <p:cNvPr id="11" name="文本框 10"/>
          <p:cNvSpPr txBox="1"/>
          <p:nvPr/>
        </p:nvSpPr>
        <p:spPr>
          <a:xfrm>
            <a:off x="1415020" y="4750537"/>
            <a:ext cx="2463524" cy="400110"/>
          </a:xfrm>
          <a:prstGeom prst="rect">
            <a:avLst/>
          </a:prstGeom>
          <a:noFill/>
        </p:spPr>
        <p:txBody>
          <a:bodyPr wrap="square" rtlCol="0" anchor="t">
            <a:spAutoFit/>
          </a:bodyPr>
          <a:lstStyle/>
          <a:p>
            <a:r>
              <a:rPr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带标记探针的杂交</a:t>
            </a:r>
          </a:p>
        </p:txBody>
      </p:sp>
      <p:sp>
        <p:nvSpPr>
          <p:cNvPr id="12" name="文本框 11"/>
          <p:cNvSpPr txBox="1"/>
          <p:nvPr/>
        </p:nvSpPr>
        <p:spPr>
          <a:xfrm>
            <a:off x="7525386" y="4627246"/>
            <a:ext cx="2602588" cy="400110"/>
          </a:xfrm>
          <a:prstGeom prst="rect">
            <a:avLst/>
          </a:prstGeom>
          <a:noFill/>
        </p:spPr>
        <p:txBody>
          <a:bodyPr wrap="square" rtlCol="0" anchor="t">
            <a:spAutoFit/>
          </a:bodyPr>
          <a:lstStyle/>
          <a:p>
            <a:r>
              <a:rPr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带标记探针的杂交片</a:t>
            </a:r>
          </a:p>
        </p:txBody>
      </p:sp>
      <p:sp>
        <p:nvSpPr>
          <p:cNvPr id="13" name="文本框 12"/>
          <p:cNvSpPr txBox="1"/>
          <p:nvPr/>
        </p:nvSpPr>
        <p:spPr>
          <a:xfrm>
            <a:off x="0" y="2777583"/>
            <a:ext cx="2365925" cy="1966051"/>
          </a:xfrm>
          <a:prstGeom prst="rect">
            <a:avLst/>
          </a:prstGeom>
          <a:noFill/>
        </p:spPr>
        <p:txBody>
          <a:bodyPr wrap="square" rtlCol="0" anchor="t">
            <a:spAutoFit/>
          </a:bodyPr>
          <a:lstStyle/>
          <a:p>
            <a:pPr>
              <a:lnSpc>
                <a:spcPct val="130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探针</a:t>
            </a: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a:lnSpc>
                <a:spcPct val="130000"/>
              </a:lnSpc>
            </a:pP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带标记的与目标</a:t>
            </a:r>
            <a:r>
              <a:rPr lang="en-US" altLang="zh-CN"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互补的</a:t>
            </a:r>
            <a:r>
              <a:rPr lang="en-US" altLang="zh-CN"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片段。</a:t>
            </a:r>
          </a:p>
        </p:txBody>
      </p:sp>
    </p:spTree>
    <p:extLst>
      <p:ext uri="{BB962C8B-B14F-4D97-AF65-F5344CB8AC3E}">
        <p14:creationId xmlns:p14="http://schemas.microsoft.com/office/powerpoint/2010/main" val="30366371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endParaRPr>
            </a:p>
          </p:txBody>
        </p:sp>
        <p:sp>
          <p:nvSpPr>
            <p:cNvPr id="19" name="文本框 18"/>
            <p:cNvSpPr txBox="1"/>
            <p:nvPr/>
          </p:nvSpPr>
          <p:spPr>
            <a:xfrm>
              <a:off x="569211" y="334330"/>
              <a:ext cx="1338788" cy="466581"/>
            </a:xfrm>
            <a:prstGeom prst="rect">
              <a:avLst/>
            </a:prstGeom>
            <a:noFill/>
          </p:spPr>
          <p:txBody>
            <a:bodyPr wrap="square" lIns="68580" tIns="34290" rIns="68580" bIns="34290" rtlCol="0">
              <a:spAutoFit/>
            </a:bodyPr>
            <a:lstStyle/>
            <a:p>
              <a:r>
                <a:rPr lang="en-US" altLang="zh-CN" sz="6600" dirty="0">
                  <a:solidFill>
                    <a:prstClr val="white">
                      <a:lumMod val="95000"/>
                    </a:prstClr>
                  </a:solidFill>
                  <a:latin typeface="Impact" panose="020B0806030902050204" pitchFamily="34" charset="0"/>
                </a:rPr>
                <a:t>12.5</a:t>
              </a:r>
            </a:p>
          </p:txBody>
        </p:sp>
      </p:grpSp>
      <p:sp>
        <p:nvSpPr>
          <p:cNvPr id="20" name="TextBox 48"/>
          <p:cNvSpPr txBox="1"/>
          <p:nvPr/>
        </p:nvSpPr>
        <p:spPr>
          <a:xfrm>
            <a:off x="4965065" y="2737486"/>
            <a:ext cx="6250940" cy="807085"/>
          </a:xfrm>
          <a:prstGeom prst="rect">
            <a:avLst/>
          </a:prstGeom>
          <a:noFill/>
        </p:spPr>
        <p:txBody>
          <a:bodyPr wrap="square" lIns="68584" tIns="34291" rIns="68584" bIns="34291" rtlCol="0">
            <a:spAutoFit/>
          </a:bodyPr>
          <a:lstStyle/>
          <a:p>
            <a:r>
              <a:rPr lang="zh-CN" altLang="en-US" sz="4800" b="1" dirty="0">
                <a:solidFill>
                  <a:prstClr val="black">
                    <a:lumMod val="75000"/>
                    <a:lumOff val="25000"/>
                  </a:prstClr>
                </a:solidFill>
                <a:latin typeface="微软雅黑" panose="020B0503020204020204" pitchFamily="34" charset="-122"/>
                <a:ea typeface="微软雅黑" panose="020B0503020204020204" pitchFamily="34" charset="-122"/>
              </a:rPr>
              <a:t>核酸的分离纯化</a:t>
            </a:r>
          </a:p>
        </p:txBody>
      </p:sp>
    </p:spTree>
    <p:extLst>
      <p:ext uri="{BB962C8B-B14F-4D97-AF65-F5344CB8AC3E}">
        <p14:creationId xmlns:p14="http://schemas.microsoft.com/office/powerpoint/2010/main" val="31368257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263266" y="-66675"/>
            <a:ext cx="5001690"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一、</a:t>
            </a:r>
            <a:r>
              <a:rPr lang="en-US" altLang="zh-CN"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的提取纯化</a:t>
            </a:r>
            <a:endParaRPr lang="en-US" altLang="zh-CN"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p:cNvSpPr txBox="1"/>
          <p:nvPr/>
        </p:nvSpPr>
        <p:spPr>
          <a:xfrm>
            <a:off x="1667935" y="820209"/>
            <a:ext cx="10219266" cy="609397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细胞破碎</a:t>
            </a:r>
          </a:p>
          <a:p>
            <a:pPr marL="285750" indent="-285750">
              <a:lnSpc>
                <a:spcPct val="150000"/>
              </a:lnSpc>
              <a:buFont typeface="Arial" panose="020B0604020202020204" pitchFamily="34" charset="0"/>
              <a:buChar char="•"/>
            </a:pP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两种核酸蛋白复合物的分离</a:t>
            </a:r>
          </a:p>
          <a:p>
            <a:pPr marL="457200" indent="-457200">
              <a:lnSpc>
                <a:spcPct val="150000"/>
              </a:lnSpc>
              <a:buFont typeface="+mj-ea"/>
              <a:buAutoNum type="circleNumDbPlain"/>
            </a:pP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蛋白：</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0.14M NaCL</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中，溶解度低；</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1M NaCL</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中，溶解度高。</a:t>
            </a:r>
          </a:p>
          <a:p>
            <a:pPr marL="457200" indent="-457200">
              <a:lnSpc>
                <a:spcPct val="150000"/>
              </a:lnSpc>
              <a:buFont typeface="+mj-ea"/>
              <a:buAutoNum type="circleNumDbPlain"/>
            </a:pP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蛋白：</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0.14M NaCL</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溶解度高。</a:t>
            </a:r>
            <a:endPar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蛋白质的去除 </a:t>
            </a:r>
            <a:r>
              <a:rPr lang="en-US" altLang="zh-CN"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p>
          <a:p>
            <a:pPr marL="457200" indent="-457200">
              <a:lnSpc>
                <a:spcPct val="150000"/>
              </a:lnSpc>
              <a:buFont typeface="+mj-ea"/>
              <a:buAutoNum type="circleNumDbPlain"/>
            </a:pP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酚氯仿抽提，分层，核酸溶解在上层水相</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ct val="150000"/>
              </a:lnSpc>
              <a:buFont typeface="+mj-ea"/>
              <a:buAutoNum type="circleNumDbPlain"/>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蛋白变性处于两相交界处。</a:t>
            </a:r>
            <a:endPar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核酸的沉淀</a:t>
            </a:r>
          </a:p>
          <a:p>
            <a:pPr marL="457200" indent="-457200">
              <a:lnSpc>
                <a:spcPct val="150000"/>
              </a:lnSpc>
              <a:buFont typeface="+mj-ea"/>
              <a:buAutoNum type="circleNumDbPlain"/>
            </a:pP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2-3倍体积无水乙醇沉淀DNA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ct val="150000"/>
              </a:lnSpc>
              <a:buFont typeface="+mj-ea"/>
              <a:buAutoNum type="circleNumDbPlain"/>
            </a:pP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75</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％乙醇洗涤，最后</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溶于水溶液</a:t>
            </a: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extLst>
      <p:ext uri="{BB962C8B-B14F-4D97-AF65-F5344CB8AC3E}">
        <p14:creationId xmlns:p14="http://schemas.microsoft.com/office/powerpoint/2010/main" val="2454795810"/>
      </p:ext>
    </p:extLst>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268345" y="-75353"/>
            <a:ext cx="4953600"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二、</a:t>
            </a:r>
            <a:r>
              <a:rPr lang="en-US" altLang="zh-CN"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的提取纯化</a:t>
            </a:r>
            <a:endParaRPr lang="en-US" altLang="zh-CN"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p:cNvSpPr txBox="1"/>
          <p:nvPr/>
        </p:nvSpPr>
        <p:spPr>
          <a:xfrm>
            <a:off x="2658111" y="1349375"/>
            <a:ext cx="7162165" cy="389420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注意：</a:t>
            </a:r>
            <a:endParaRPr 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RNA</a:t>
            </a: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易降解</a:t>
            </a:r>
          </a:p>
          <a:p>
            <a:pPr marL="285750" indent="-285750">
              <a:lnSpc>
                <a:spcPct val="150000"/>
              </a:lnSpc>
              <a:buFont typeface="Arial" panose="020B0604020202020204" pitchFamily="34" charset="0"/>
              <a:buChar char="•"/>
            </a:pP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焦磷酸二乙酯</a:t>
            </a:r>
            <a:r>
              <a:rPr lang="en-US" altLang="zh-CN"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DEPC</a:t>
            </a: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RNase</a:t>
            </a: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抑制剂处理。</a:t>
            </a:r>
          </a:p>
          <a:p>
            <a:pPr marL="285750" indent="-285750">
              <a:lnSpc>
                <a:spcPct val="150000"/>
              </a:lnSpc>
              <a:buFont typeface="Arial" panose="020B0604020202020204" pitchFamily="34" charset="0"/>
              <a:buChar char="•"/>
            </a:pPr>
            <a:endPar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endPar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endPar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3567431" y="3730337"/>
            <a:ext cx="7162165" cy="324787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方法：</a:t>
            </a:r>
            <a:endParaRPr 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酸性胍盐</a:t>
            </a:r>
            <a:r>
              <a:rPr lang="en-US" altLang="zh-CN"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苯酚</a:t>
            </a:r>
            <a:r>
              <a:rPr lang="en-US" altLang="zh-CN"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氯仿</a:t>
            </a:r>
          </a:p>
          <a:p>
            <a:pPr marL="285750" indent="-285750">
              <a:lnSpc>
                <a:spcPct val="150000"/>
              </a:lnSpc>
              <a:buFont typeface="Arial" panose="020B0604020202020204" pitchFamily="34" charset="0"/>
              <a:buChar char="•"/>
            </a:pP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胍盐</a:t>
            </a:r>
            <a:r>
              <a:rPr lang="en-US" altLang="zh-CN"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氯化铯法</a:t>
            </a:r>
            <a:endPar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endPar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endPar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456108088"/>
      </p:ext>
    </p:extLst>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78114" y="-93133"/>
            <a:ext cx="2388795"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二、电泳 </a:t>
            </a:r>
          </a:p>
        </p:txBody>
      </p:sp>
      <p:sp>
        <p:nvSpPr>
          <p:cNvPr id="6" name="文本框 5"/>
          <p:cNvSpPr txBox="1"/>
          <p:nvPr/>
        </p:nvSpPr>
        <p:spPr>
          <a:xfrm>
            <a:off x="1601259" y="2375111"/>
            <a:ext cx="10131300" cy="260154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琼脂糖凝胶电泳：  </a:t>
            </a: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分析分子量大于1000bp的DNA片段；</a:t>
            </a:r>
          </a:p>
          <a:p>
            <a:pPr marL="285750" indent="-285750">
              <a:lnSpc>
                <a:spcPct val="150000"/>
              </a:lnSpc>
              <a:buFont typeface="Arial" panose="020B0604020202020204" pitchFamily="34" charset="0"/>
              <a:buChar char="•"/>
            </a:pP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聚丙烯酰胺凝胶电泳：</a:t>
            </a: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分析分子量小于</a:t>
            </a:r>
            <a:r>
              <a:rPr lang="en-US" altLang="zh-CN"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1000bp</a:t>
            </a: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en-US" altLang="zh-CN"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片段。</a:t>
            </a:r>
            <a:endPar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endPar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endPar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53310838"/>
      </p:ext>
    </p:extLst>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图片1"/>
          <p:cNvPicPr>
            <a:picLocks noChangeAspect="1"/>
          </p:cNvPicPr>
          <p:nvPr/>
        </p:nvPicPr>
        <p:blipFill>
          <a:blip r:embed="rId3">
            <a:lum bright="12000" contrast="6000"/>
          </a:blip>
          <a:stretch>
            <a:fillRect/>
          </a:stretch>
        </p:blipFill>
        <p:spPr>
          <a:xfrm>
            <a:off x="696191" y="906954"/>
            <a:ext cx="8039100" cy="3322320"/>
          </a:xfrm>
          <a:prstGeom prst="rect">
            <a:avLst/>
          </a:prstGeom>
          <a:ln>
            <a:solidFill>
              <a:schemeClr val="tx1"/>
            </a:solidFill>
          </a:ln>
        </p:spPr>
      </p:pic>
      <p:sp>
        <p:nvSpPr>
          <p:cNvPr id="4" name="文本框 3"/>
          <p:cNvSpPr txBox="1"/>
          <p:nvPr/>
        </p:nvSpPr>
        <p:spPr>
          <a:xfrm>
            <a:off x="7520536" y="3638090"/>
            <a:ext cx="1405890" cy="377411"/>
          </a:xfrm>
          <a:prstGeom prst="rect">
            <a:avLst/>
          </a:prstGeom>
          <a:noFill/>
        </p:spPr>
        <p:txBody>
          <a:bodyPr wrap="square" rtlCol="0">
            <a:spAutoFit/>
          </a:bodyPr>
          <a:lstStyle/>
          <a:p>
            <a:pPr>
              <a:lnSpc>
                <a:spcPct val="150000"/>
              </a:lnSpc>
            </a:pPr>
            <a:r>
              <a:rPr lang="en-US" altLang="zh-CN" sz="1400" dirty="0">
                <a:solidFill>
                  <a:srgbClr val="ED7D31">
                    <a:lumMod val="75000"/>
                  </a:srgbClr>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400" dirty="0">
                <a:solidFill>
                  <a:srgbClr val="ED7D31">
                    <a:lumMod val="75000"/>
                  </a:srgbClr>
                </a:solidFill>
                <a:latin typeface="微软雅黑" panose="020B0503020204020204" pitchFamily="34" charset="-122"/>
                <a:ea typeface="微软雅黑" panose="020B0503020204020204" pitchFamily="34" charset="-122"/>
                <a:cs typeface="微软雅黑" panose="020B0503020204020204" pitchFamily="34" charset="-122"/>
              </a:rPr>
              <a:t>倒入制胶板</a:t>
            </a:r>
          </a:p>
        </p:txBody>
      </p:sp>
      <p:sp>
        <p:nvSpPr>
          <p:cNvPr id="8" name="文本框 7"/>
          <p:cNvSpPr txBox="1"/>
          <p:nvPr/>
        </p:nvSpPr>
        <p:spPr>
          <a:xfrm>
            <a:off x="6057496" y="3638090"/>
            <a:ext cx="1405890" cy="377411"/>
          </a:xfrm>
          <a:prstGeom prst="rect">
            <a:avLst/>
          </a:prstGeom>
          <a:noFill/>
        </p:spPr>
        <p:txBody>
          <a:bodyPr wrap="square" rtlCol="0">
            <a:spAutoFit/>
          </a:bodyPr>
          <a:lstStyle/>
          <a:p>
            <a:pPr>
              <a:lnSpc>
                <a:spcPct val="150000"/>
              </a:lnSpc>
            </a:pPr>
            <a:r>
              <a:rPr lang="en-US" altLang="zh-CN" sz="1400" dirty="0">
                <a:solidFill>
                  <a:srgbClr val="ED7D31">
                    <a:lumMod val="75000"/>
                  </a:srgbClr>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400" dirty="0">
                <a:solidFill>
                  <a:srgbClr val="ED7D31">
                    <a:lumMod val="75000"/>
                  </a:srgbClr>
                </a:solidFill>
                <a:latin typeface="微软雅黑" panose="020B0503020204020204" pitchFamily="34" charset="-122"/>
                <a:ea typeface="微软雅黑" panose="020B0503020204020204" pitchFamily="34" charset="-122"/>
                <a:cs typeface="微软雅黑" panose="020B0503020204020204" pitchFamily="34" charset="-122"/>
              </a:rPr>
              <a:t>待胶凝固</a:t>
            </a:r>
          </a:p>
        </p:txBody>
      </p:sp>
      <p:sp>
        <p:nvSpPr>
          <p:cNvPr id="9" name="文本框 8"/>
          <p:cNvSpPr txBox="1"/>
          <p:nvPr/>
        </p:nvSpPr>
        <p:spPr>
          <a:xfrm>
            <a:off x="0" y="4247911"/>
            <a:ext cx="11139054" cy="2308324"/>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用琼脂糖作为介质的一种电泳方法，其兼具“分子筛”和“电泳”的双重作用。</a:t>
            </a:r>
          </a:p>
          <a:p>
            <a:pPr marL="285750" indent="-285750">
              <a:lnSpc>
                <a:spcPct val="150000"/>
              </a:lnSpc>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琼脂糖(Agarose)是一种线性多糖聚合物，当琼脂糖溶液加热到沸点后冷却凝固便会形成良好的电泳介质，其密度是由琼脂糖的浓度决定的。 </a:t>
            </a:r>
          </a:p>
          <a:p>
            <a:pPr marL="285750" indent="-285750">
              <a:lnSpc>
                <a:spcPct val="150000"/>
              </a:lnSpc>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琼脂糖凝胶电泳检测的主要是核酸的完整性和大小。</a:t>
            </a:r>
          </a:p>
        </p:txBody>
      </p:sp>
      <p:sp>
        <p:nvSpPr>
          <p:cNvPr id="7" name="文本框 6"/>
          <p:cNvSpPr txBox="1"/>
          <p:nvPr/>
        </p:nvSpPr>
        <p:spPr>
          <a:xfrm>
            <a:off x="4278114" y="-93133"/>
            <a:ext cx="3775393"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琼脂糖凝胶电泳</a:t>
            </a:r>
          </a:p>
        </p:txBody>
      </p:sp>
      <p:pic>
        <p:nvPicPr>
          <p:cNvPr id="10" name="图片 9"/>
          <p:cNvPicPr>
            <a:picLocks noChangeAspect="1"/>
          </p:cNvPicPr>
          <p:nvPr/>
        </p:nvPicPr>
        <p:blipFill>
          <a:blip r:embed="rId4"/>
          <a:stretch>
            <a:fillRect/>
          </a:stretch>
        </p:blipFill>
        <p:spPr>
          <a:xfrm>
            <a:off x="9678084" y="0"/>
            <a:ext cx="2513916" cy="4249650"/>
          </a:xfrm>
          <a:prstGeom prst="rect">
            <a:avLst/>
          </a:prstGeom>
        </p:spPr>
      </p:pic>
    </p:spTree>
    <p:extLst>
      <p:ext uri="{BB962C8B-B14F-4D97-AF65-F5344CB8AC3E}">
        <p14:creationId xmlns:p14="http://schemas.microsoft.com/office/powerpoint/2010/main" val="1254799554"/>
      </p:ext>
    </p:extLst>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endParaRPr>
            </a:p>
          </p:txBody>
        </p:sp>
        <p:sp>
          <p:nvSpPr>
            <p:cNvPr id="19" name="文本框 18"/>
            <p:cNvSpPr txBox="1"/>
            <p:nvPr/>
          </p:nvSpPr>
          <p:spPr>
            <a:xfrm>
              <a:off x="569211" y="334330"/>
              <a:ext cx="1338788" cy="466581"/>
            </a:xfrm>
            <a:prstGeom prst="rect">
              <a:avLst/>
            </a:prstGeom>
            <a:noFill/>
          </p:spPr>
          <p:txBody>
            <a:bodyPr wrap="square" lIns="68580" tIns="34290" rIns="68580" bIns="34290" rtlCol="0">
              <a:spAutoFit/>
            </a:bodyPr>
            <a:lstStyle/>
            <a:p>
              <a:r>
                <a:rPr lang="en-US" altLang="zh-CN" sz="6600" dirty="0">
                  <a:solidFill>
                    <a:prstClr val="white">
                      <a:lumMod val="95000"/>
                    </a:prstClr>
                  </a:solidFill>
                  <a:latin typeface="Impact" panose="020B0806030902050204" pitchFamily="34" charset="0"/>
                </a:rPr>
                <a:t>12.6</a:t>
              </a:r>
            </a:p>
          </p:txBody>
        </p:sp>
      </p:grpSp>
      <p:sp>
        <p:nvSpPr>
          <p:cNvPr id="20" name="TextBox 48"/>
          <p:cNvSpPr txBox="1"/>
          <p:nvPr/>
        </p:nvSpPr>
        <p:spPr>
          <a:xfrm>
            <a:off x="4965065" y="2737486"/>
            <a:ext cx="6250940" cy="807085"/>
          </a:xfrm>
          <a:prstGeom prst="rect">
            <a:avLst/>
          </a:prstGeom>
          <a:noFill/>
        </p:spPr>
        <p:txBody>
          <a:bodyPr wrap="square" lIns="68584" tIns="34291" rIns="68584" bIns="34291" rtlCol="0">
            <a:spAutoFit/>
          </a:bodyPr>
          <a:lstStyle/>
          <a:p>
            <a:r>
              <a:rPr lang="zh-CN" altLang="en-US" sz="4800" b="1" dirty="0">
                <a:solidFill>
                  <a:prstClr val="black">
                    <a:lumMod val="75000"/>
                    <a:lumOff val="25000"/>
                  </a:prstClr>
                </a:solidFill>
                <a:latin typeface="微软雅黑" panose="020B0503020204020204" pitchFamily="34" charset="-122"/>
                <a:ea typeface="微软雅黑" panose="020B0503020204020204" pitchFamily="34" charset="-122"/>
              </a:rPr>
              <a:t>核酸的序列测定</a:t>
            </a:r>
          </a:p>
        </p:txBody>
      </p:sp>
    </p:spTree>
    <p:extLst>
      <p:ext uri="{BB962C8B-B14F-4D97-AF65-F5344CB8AC3E}">
        <p14:creationId xmlns:p14="http://schemas.microsoft.com/office/powerpoint/2010/main" val="7649630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119035" y="-91508"/>
            <a:ext cx="3615092"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一、</a:t>
            </a:r>
            <a:r>
              <a:rPr lang="en-US" altLang="zh-CN"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测序 </a:t>
            </a:r>
          </a:p>
        </p:txBody>
      </p:sp>
      <p:sp>
        <p:nvSpPr>
          <p:cNvPr id="2" name="文本框 1"/>
          <p:cNvSpPr txBox="1"/>
          <p:nvPr/>
        </p:nvSpPr>
        <p:spPr>
          <a:xfrm>
            <a:off x="1557020" y="921598"/>
            <a:ext cx="7861447" cy="1959832"/>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2800" dirty="0">
                <a:solidFill>
                  <a:srgbClr val="FF0000"/>
                </a:solidFill>
                <a:latin typeface="Comic Sans MS" panose="030F0702030302020204" charset="0"/>
                <a:ea typeface="微软雅黑" panose="020B0503020204020204" pitchFamily="34" charset="-122"/>
                <a:cs typeface="Comic Sans MS" panose="030F0702030302020204" charset="0"/>
              </a:rPr>
              <a:t>Sanger发明的末端终止法或双脱氧法（</a:t>
            </a:r>
            <a:r>
              <a:rPr lang="en-US" altLang="zh-CN" sz="2800" dirty="0">
                <a:solidFill>
                  <a:srgbClr val="FF0000"/>
                </a:solidFill>
                <a:latin typeface="Comic Sans MS" panose="030F0702030302020204" charset="0"/>
                <a:ea typeface="微软雅黑" panose="020B0503020204020204" pitchFamily="34" charset="-122"/>
                <a:cs typeface="Comic Sans MS" panose="030F0702030302020204" charset="0"/>
              </a:rPr>
              <a:t>1975</a:t>
            </a:r>
            <a:r>
              <a:rPr lang="zh-CN" altLang="en-US" sz="2800" dirty="0">
                <a:solidFill>
                  <a:srgbClr val="FF0000"/>
                </a:solidFill>
                <a:latin typeface="Comic Sans MS" panose="030F0702030302020204" charset="0"/>
                <a:ea typeface="微软雅黑" panose="020B0503020204020204" pitchFamily="34" charset="-122"/>
                <a:cs typeface="Comic Sans MS" panose="030F0702030302020204" charset="0"/>
              </a:rPr>
              <a:t>）</a:t>
            </a:r>
          </a:p>
          <a:p>
            <a:pPr marL="285750" indent="-285750">
              <a:lnSpc>
                <a:spcPct val="150000"/>
              </a:lnSpc>
              <a:buFont typeface="Arial" panose="020B0604020202020204" pitchFamily="34" charset="0"/>
              <a:buChar char="•"/>
            </a:pPr>
            <a:r>
              <a:rPr lang="zh-CN" altLang="en-US" sz="2800" dirty="0">
                <a:solidFill>
                  <a:prstClr val="black"/>
                </a:solidFill>
                <a:latin typeface="Comic Sans MS" panose="030F0702030302020204" charset="0"/>
                <a:ea typeface="微软雅黑" panose="020B0503020204020204" pitchFamily="34" charset="-122"/>
                <a:cs typeface="Comic Sans MS" panose="030F0702030302020204" charset="0"/>
              </a:rPr>
              <a:t>Maxam和Gilbert发明的化学断裂法</a:t>
            </a:r>
            <a:r>
              <a:rPr lang="zh-CN" altLang="en-US" sz="2800" dirty="0">
                <a:solidFill>
                  <a:prstClr val="black"/>
                </a:solidFill>
                <a:latin typeface="Comic Sans MS" panose="030F0702030302020204" charset="0"/>
                <a:ea typeface="微软雅黑" panose="020B0503020204020204" pitchFamily="34" charset="-122"/>
                <a:cs typeface="Comic Sans MS" panose="030F0702030302020204" charset="0"/>
                <a:sym typeface="+mn-ea"/>
              </a:rPr>
              <a:t>（</a:t>
            </a:r>
            <a:r>
              <a:rPr lang="en-US" altLang="zh-CN" sz="2800" dirty="0">
                <a:solidFill>
                  <a:prstClr val="black"/>
                </a:solidFill>
                <a:latin typeface="Comic Sans MS" panose="030F0702030302020204" charset="0"/>
                <a:ea typeface="微软雅黑" panose="020B0503020204020204" pitchFamily="34" charset="-122"/>
                <a:cs typeface="Comic Sans MS" panose="030F0702030302020204" charset="0"/>
                <a:sym typeface="+mn-ea"/>
              </a:rPr>
              <a:t>1977</a:t>
            </a:r>
            <a:r>
              <a:rPr lang="zh-CN" altLang="en-US" sz="2800" dirty="0">
                <a:solidFill>
                  <a:prstClr val="black"/>
                </a:solidFill>
                <a:latin typeface="Comic Sans MS" panose="030F0702030302020204" charset="0"/>
                <a:ea typeface="微软雅黑" panose="020B0503020204020204" pitchFamily="34" charset="-122"/>
                <a:cs typeface="Comic Sans MS" panose="030F0702030302020204" charset="0"/>
                <a:sym typeface="+mn-ea"/>
              </a:rPr>
              <a:t>）</a:t>
            </a:r>
            <a:endParaRPr lang="zh-CN" altLang="en-US" sz="2800" dirty="0">
              <a:solidFill>
                <a:prstClr val="black"/>
              </a:solidFill>
              <a:latin typeface="Comic Sans MS" panose="030F0702030302020204" charset="0"/>
              <a:ea typeface="微软雅黑" panose="020B0503020204020204" pitchFamily="34" charset="-122"/>
              <a:cs typeface="Comic Sans MS" panose="030F0702030302020204" charset="0"/>
            </a:endParaRPr>
          </a:p>
          <a:p>
            <a:pPr marL="285750" indent="-285750">
              <a:lnSpc>
                <a:spcPct val="150000"/>
              </a:lnSpc>
              <a:buFont typeface="Arial" panose="020B0604020202020204" pitchFamily="34" charset="0"/>
              <a:buChar char="•"/>
            </a:pPr>
            <a:endParaRPr lang="zh-CN" altLang="en-US" sz="2800" dirty="0">
              <a:solidFill>
                <a:prstClr val="black"/>
              </a:solidFill>
              <a:latin typeface="Comic Sans MS" panose="030F0702030302020204" charset="0"/>
              <a:ea typeface="微软雅黑" panose="020B0503020204020204" pitchFamily="34" charset="-122"/>
              <a:cs typeface="Comic Sans MS" panose="030F0702030302020204" charset="0"/>
            </a:endParaRPr>
          </a:p>
        </p:txBody>
      </p:sp>
      <p:sp>
        <p:nvSpPr>
          <p:cNvPr id="4" name="文本框 3"/>
          <p:cNvSpPr txBox="1"/>
          <p:nvPr/>
        </p:nvSpPr>
        <p:spPr>
          <a:xfrm>
            <a:off x="6871759" y="4192035"/>
            <a:ext cx="3284855" cy="964623"/>
          </a:xfrm>
          <a:prstGeom prst="rect">
            <a:avLst/>
          </a:prstGeom>
          <a:noFill/>
        </p:spPr>
        <p:txBody>
          <a:bodyPr wrap="square" rtlCol="0" anchor="t">
            <a:spAutoFit/>
          </a:bodyPr>
          <a:lstStyle/>
          <a:p>
            <a:pPr algn="ctr">
              <a:lnSpc>
                <a:spcPct val="150000"/>
              </a:lnSpc>
            </a:pPr>
            <a:r>
              <a:rPr lang="zh-CN" altLang="en-US" sz="2000" dirty="0">
                <a:solidFill>
                  <a:prstClr val="black"/>
                </a:solidFill>
                <a:latin typeface="Comic Sans MS" panose="030F0702030302020204" charset="0"/>
                <a:cs typeface="Comic Sans MS" panose="030F0702030302020204" charset="0"/>
              </a:rPr>
              <a:t>The Nobel Prize in Chemistry 1980</a:t>
            </a:r>
          </a:p>
        </p:txBody>
      </p:sp>
      <p:pic>
        <p:nvPicPr>
          <p:cNvPr id="6" name="图片 5"/>
          <p:cNvPicPr>
            <a:picLocks noChangeAspect="1"/>
          </p:cNvPicPr>
          <p:nvPr/>
        </p:nvPicPr>
        <p:blipFill>
          <a:blip r:embed="rId3"/>
          <a:stretch>
            <a:fillRect/>
          </a:stretch>
        </p:blipFill>
        <p:spPr>
          <a:xfrm>
            <a:off x="2836545" y="2449830"/>
            <a:ext cx="4297680" cy="4046220"/>
          </a:xfrm>
          <a:prstGeom prst="rect">
            <a:avLst/>
          </a:prstGeom>
        </p:spPr>
      </p:pic>
    </p:spTree>
    <p:extLst>
      <p:ext uri="{BB962C8B-B14F-4D97-AF65-F5344CB8AC3E}">
        <p14:creationId xmlns:p14="http://schemas.microsoft.com/office/powerpoint/2010/main" val="3386373067"/>
      </p:ext>
    </p:extLst>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p:cNvSpPr txBox="1"/>
          <p:nvPr/>
        </p:nvSpPr>
        <p:spPr>
          <a:xfrm>
            <a:off x="2004184" y="6082236"/>
            <a:ext cx="6628738" cy="581057"/>
          </a:xfrm>
          <a:prstGeom prst="rect">
            <a:avLst/>
          </a:prstGeom>
          <a:noFill/>
        </p:spPr>
        <p:txBody>
          <a:bodyPr wrap="none" rtlCol="0" anchor="t">
            <a:spAutoFit/>
          </a:bodyPr>
          <a:lstStyle/>
          <a:p>
            <a:pPr>
              <a:lnSpc>
                <a:spcPct val="150000"/>
              </a:lnSpc>
            </a:pP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Sanger发明的末端终止法（双脱氧法）</a:t>
            </a:r>
            <a:r>
              <a:rPr lang="en-US" altLang="zh-CN"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改进版</a:t>
            </a:r>
          </a:p>
        </p:txBody>
      </p:sp>
      <p:pic>
        <p:nvPicPr>
          <p:cNvPr id="4" name="图片 3"/>
          <p:cNvPicPr>
            <a:picLocks noChangeAspect="1"/>
          </p:cNvPicPr>
          <p:nvPr/>
        </p:nvPicPr>
        <p:blipFill>
          <a:blip r:embed="rId2"/>
          <a:stretch>
            <a:fillRect/>
          </a:stretch>
        </p:blipFill>
        <p:spPr>
          <a:xfrm>
            <a:off x="-1" y="2609"/>
            <a:ext cx="7354957" cy="6054220"/>
          </a:xfrm>
          <a:prstGeom prst="rect">
            <a:avLst/>
          </a:prstGeom>
          <a:ln>
            <a:solidFill>
              <a:schemeClr val="tx1"/>
            </a:solidFill>
          </a:ln>
        </p:spPr>
      </p:pic>
      <p:pic>
        <p:nvPicPr>
          <p:cNvPr id="5" name="图片 4"/>
          <p:cNvPicPr>
            <a:picLocks noChangeAspect="1"/>
          </p:cNvPicPr>
          <p:nvPr/>
        </p:nvPicPr>
        <p:blipFill rotWithShape="1">
          <a:blip r:embed="rId3"/>
          <a:srcRect l="8162"/>
          <a:stretch/>
        </p:blipFill>
        <p:spPr>
          <a:xfrm>
            <a:off x="7364895" y="0"/>
            <a:ext cx="4816194" cy="6049931"/>
          </a:xfrm>
          <a:prstGeom prst="rect">
            <a:avLst/>
          </a:prstGeom>
          <a:ln>
            <a:solidFill>
              <a:schemeClr val="tx1"/>
            </a:solidFill>
          </a:ln>
        </p:spPr>
      </p:pic>
      <p:sp>
        <p:nvSpPr>
          <p:cNvPr id="8" name="文本框 9"/>
          <p:cNvSpPr txBox="1"/>
          <p:nvPr/>
        </p:nvSpPr>
        <p:spPr>
          <a:xfrm>
            <a:off x="1515916" y="117920"/>
            <a:ext cx="976536" cy="553998"/>
          </a:xfrm>
          <a:prstGeom prst="rect">
            <a:avLst/>
          </a:prstGeom>
          <a:noFill/>
        </p:spPr>
        <p:txBody>
          <a:bodyPr wrap="square" rtlCol="0">
            <a:spAutoFit/>
          </a:bodyPr>
          <a:lstStyle/>
          <a:p>
            <a:pPr>
              <a:lnSpc>
                <a:spcPct val="150000"/>
              </a:lnSpc>
            </a:pPr>
            <a:r>
              <a:rPr lang="zh-CN" altLang="en-US" sz="2000" b="1" dirty="0">
                <a:solidFill>
                  <a:prstClr val="black"/>
                </a:solidFill>
                <a:latin typeface="微软雅黑" panose="020B0503020204020204" pitchFamily="34" charset="-122"/>
                <a:ea typeface="微软雅黑" panose="020B0503020204020204" pitchFamily="34" charset="-122"/>
              </a:rPr>
              <a:t>引物</a:t>
            </a:r>
          </a:p>
        </p:txBody>
      </p:sp>
      <p:sp>
        <p:nvSpPr>
          <p:cNvPr id="11" name="文本框 12"/>
          <p:cNvSpPr txBox="1"/>
          <p:nvPr/>
        </p:nvSpPr>
        <p:spPr>
          <a:xfrm>
            <a:off x="7252270" y="-16728"/>
            <a:ext cx="2012283" cy="507831"/>
          </a:xfrm>
          <a:prstGeom prst="rect">
            <a:avLst/>
          </a:prstGeom>
          <a:noFill/>
        </p:spPr>
        <p:txBody>
          <a:bodyPr wrap="square" rtlCol="0" anchor="t">
            <a:spAutoFit/>
          </a:bodyPr>
          <a:lstStyle/>
          <a:p>
            <a:pPr>
              <a:lnSpc>
                <a:spcPct val="150000"/>
              </a:lnSpc>
            </a:pPr>
            <a:r>
              <a:rPr lang="zh-CN" altLang="en-US" b="1" dirty="0">
                <a:solidFill>
                  <a:prstClr val="black"/>
                </a:solidFill>
                <a:latin typeface="微软雅黑" panose="020B0503020204020204" pitchFamily="34" charset="-122"/>
                <a:ea typeface="微软雅黑" panose="020B0503020204020204" pitchFamily="34" charset="-122"/>
              </a:rPr>
              <a:t>毛细管凝胶电泳</a:t>
            </a:r>
          </a:p>
        </p:txBody>
      </p:sp>
      <p:sp>
        <p:nvSpPr>
          <p:cNvPr id="12" name="文本框 13"/>
          <p:cNvSpPr txBox="1"/>
          <p:nvPr/>
        </p:nvSpPr>
        <p:spPr>
          <a:xfrm>
            <a:off x="7058650" y="2888299"/>
            <a:ext cx="2545701" cy="369332"/>
          </a:xfrm>
          <a:prstGeom prst="rect">
            <a:avLst/>
          </a:prstGeom>
          <a:noFill/>
        </p:spPr>
        <p:txBody>
          <a:bodyPr wrap="square" rtlCol="0" anchor="t">
            <a:spAutoFit/>
          </a:bodyPr>
          <a:lstStyle/>
          <a:p>
            <a:r>
              <a:rPr lang="zh-CN" altLang="en-US" b="1" dirty="0">
                <a:solidFill>
                  <a:prstClr val="black"/>
                </a:solidFill>
                <a:latin typeface="微软雅黑" panose="020B0503020204020204" pitchFamily="34" charset="-122"/>
                <a:ea typeface="微软雅黑" panose="020B0503020204020204" pitchFamily="34" charset="-122"/>
              </a:rPr>
              <a:t>分析凝胶的荧光读数</a:t>
            </a:r>
          </a:p>
        </p:txBody>
      </p:sp>
      <p:sp>
        <p:nvSpPr>
          <p:cNvPr id="13" name="文本框 14"/>
          <p:cNvSpPr txBox="1"/>
          <p:nvPr/>
        </p:nvSpPr>
        <p:spPr>
          <a:xfrm>
            <a:off x="7252270" y="5158190"/>
            <a:ext cx="1719077" cy="646331"/>
          </a:xfrm>
          <a:prstGeom prst="rect">
            <a:avLst/>
          </a:prstGeom>
          <a:noFill/>
        </p:spPr>
        <p:txBody>
          <a:bodyPr wrap="square" rtlCol="0" anchor="t">
            <a:spAutoFit/>
          </a:bodyPr>
          <a:lstStyle/>
          <a:p>
            <a:r>
              <a:rPr lang="zh-CN" altLang="en-US" b="1" dirty="0">
                <a:solidFill>
                  <a:prstClr val="black"/>
                </a:solidFill>
                <a:latin typeface="微软雅黑" panose="020B0503020204020204" pitchFamily="34" charset="-122"/>
                <a:ea typeface="微软雅黑" panose="020B0503020204020204" pitchFamily="34" charset="-122"/>
              </a:rPr>
              <a:t>编译数据以确定DNA序列</a:t>
            </a:r>
          </a:p>
        </p:txBody>
      </p:sp>
      <p:sp>
        <p:nvSpPr>
          <p:cNvPr id="3" name="弧形 2"/>
          <p:cNvSpPr/>
          <p:nvPr/>
        </p:nvSpPr>
        <p:spPr>
          <a:xfrm rot="9600000">
            <a:off x="6612281" y="5012302"/>
            <a:ext cx="1279975" cy="1281228"/>
          </a:xfrm>
          <a:prstGeom prst="arc">
            <a:avLst>
              <a:gd name="adj1" fmla="val 12600777"/>
              <a:gd name="adj2" fmla="val 538020"/>
            </a:avLst>
          </a:prstGeom>
          <a:ln w="28575">
            <a:solidFill>
              <a:srgbClr val="FF0000"/>
            </a:solidFill>
            <a:prstDash val="dash"/>
            <a:headEnd type="arrow"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solidFill>
                <a:prstClr val="black"/>
              </a:solidFill>
            </a:endParaRPr>
          </a:p>
        </p:txBody>
      </p:sp>
    </p:spTree>
    <p:extLst>
      <p:ext uri="{BB962C8B-B14F-4D97-AF65-F5344CB8AC3E}">
        <p14:creationId xmlns:p14="http://schemas.microsoft.com/office/powerpoint/2010/main" val="2791329625"/>
      </p:ext>
    </p:extLst>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726431" y="229051"/>
            <a:ext cx="3905204" cy="1135054"/>
          </a:xfrm>
          <a:prstGeom prst="rect">
            <a:avLst/>
          </a:prstGeom>
          <a:noFill/>
        </p:spPr>
        <p:txBody>
          <a:bodyPr wrap="square" rtlCol="0" anchor="t">
            <a:spAutoFit/>
          </a:bodyPr>
          <a:lstStyle/>
          <a:p>
            <a:pPr>
              <a:lnSpc>
                <a:spcPct val="150000"/>
              </a:lnSpc>
            </a:pP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Sanger发明的末端终止法或双脱氧法（原版）</a:t>
            </a:r>
          </a:p>
        </p:txBody>
      </p:sp>
      <p:sp>
        <p:nvSpPr>
          <p:cNvPr id="7" name="文本框 6"/>
          <p:cNvSpPr txBox="1"/>
          <p:nvPr/>
        </p:nvSpPr>
        <p:spPr>
          <a:xfrm>
            <a:off x="4631635" y="2699385"/>
            <a:ext cx="2159690" cy="156845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50000"/>
              </a:lnSpc>
            </a:pPr>
            <a:r>
              <a:rPr lang="zh-CN" altLang="en-US" sz="1600" dirty="0">
                <a:solidFill>
                  <a:prstClr val="black"/>
                </a:solidFill>
                <a:latin typeface="Comic Sans MS" panose="030F0702030302020204" charset="0"/>
                <a:ea typeface="微软雅黑" panose="020B0503020204020204" pitchFamily="34" charset="-122"/>
                <a:cs typeface="Comic Sans MS" panose="030F0702030302020204" charset="0"/>
              </a:rPr>
              <a:t>四个独立反应</a:t>
            </a:r>
          </a:p>
          <a:p>
            <a:pPr algn="ctr">
              <a:lnSpc>
                <a:spcPct val="150000"/>
              </a:lnSpc>
            </a:pPr>
            <a:r>
              <a:rPr lang="zh-CN" altLang="en-US" sz="1600" dirty="0">
                <a:solidFill>
                  <a:prstClr val="black"/>
                </a:solidFill>
                <a:latin typeface="Comic Sans MS" panose="030F0702030302020204" charset="0"/>
                <a:ea typeface="微软雅黑" panose="020B0503020204020204" pitchFamily="34" charset="-122"/>
                <a:cs typeface="Comic Sans MS" panose="030F0702030302020204" charset="0"/>
              </a:rPr>
              <a:t>（分别加</a:t>
            </a:r>
            <a:r>
              <a:rPr lang="en-US" altLang="zh-CN" sz="1600" dirty="0">
                <a:solidFill>
                  <a:prstClr val="black"/>
                </a:solidFill>
                <a:latin typeface="Comic Sans MS" panose="030F0702030302020204" charset="0"/>
                <a:ea typeface="微软雅黑" panose="020B0503020204020204" pitchFamily="34" charset="-122"/>
                <a:cs typeface="Comic Sans MS" panose="030F0702030302020204" charset="0"/>
              </a:rPr>
              <a:t>ddATP</a:t>
            </a:r>
            <a:r>
              <a:rPr lang="zh-CN" altLang="en-US" sz="1600" dirty="0">
                <a:solidFill>
                  <a:prstClr val="black"/>
                </a:solidFill>
                <a:latin typeface="Comic Sans MS" panose="030F0702030302020204" charset="0"/>
                <a:ea typeface="微软雅黑" panose="020B0503020204020204" pitchFamily="34" charset="-122"/>
                <a:cs typeface="Comic Sans MS" panose="030F0702030302020204" charset="0"/>
              </a:rPr>
              <a:t>，</a:t>
            </a:r>
            <a:r>
              <a:rPr lang="en-US" altLang="zh-CN" sz="1600" dirty="0">
                <a:solidFill>
                  <a:prstClr val="black"/>
                </a:solidFill>
                <a:latin typeface="Comic Sans MS" panose="030F0702030302020204" charset="0"/>
                <a:ea typeface="微软雅黑" panose="020B0503020204020204" pitchFamily="34" charset="-122"/>
                <a:cs typeface="Comic Sans MS" panose="030F0702030302020204" charset="0"/>
                <a:sym typeface="+mn-ea"/>
              </a:rPr>
              <a:t>ddTTP</a:t>
            </a:r>
            <a:r>
              <a:rPr lang="zh-CN" altLang="en-US" sz="1600" dirty="0">
                <a:solidFill>
                  <a:prstClr val="black"/>
                </a:solidFill>
                <a:latin typeface="Comic Sans MS" panose="030F0702030302020204" charset="0"/>
                <a:ea typeface="微软雅黑" panose="020B0503020204020204" pitchFamily="34" charset="-122"/>
                <a:cs typeface="Comic Sans MS" panose="030F0702030302020204" charset="0"/>
                <a:sym typeface="+mn-ea"/>
              </a:rPr>
              <a:t>，</a:t>
            </a:r>
            <a:r>
              <a:rPr lang="en-US" altLang="zh-CN" sz="1600" dirty="0">
                <a:solidFill>
                  <a:prstClr val="black"/>
                </a:solidFill>
                <a:latin typeface="Comic Sans MS" panose="030F0702030302020204" charset="0"/>
                <a:ea typeface="微软雅黑" panose="020B0503020204020204" pitchFamily="34" charset="-122"/>
                <a:cs typeface="Comic Sans MS" panose="030F0702030302020204" charset="0"/>
                <a:sym typeface="+mn-ea"/>
              </a:rPr>
              <a:t>ddCTP</a:t>
            </a:r>
            <a:r>
              <a:rPr lang="zh-CN" altLang="en-US" sz="1600" dirty="0">
                <a:solidFill>
                  <a:prstClr val="black"/>
                </a:solidFill>
                <a:latin typeface="Comic Sans MS" panose="030F0702030302020204" charset="0"/>
                <a:ea typeface="微软雅黑" panose="020B0503020204020204" pitchFamily="34" charset="-122"/>
                <a:cs typeface="Comic Sans MS" panose="030F0702030302020204" charset="0"/>
                <a:sym typeface="+mn-ea"/>
              </a:rPr>
              <a:t>，</a:t>
            </a:r>
            <a:r>
              <a:rPr lang="en-US" altLang="zh-CN" sz="1600" dirty="0">
                <a:solidFill>
                  <a:prstClr val="black"/>
                </a:solidFill>
                <a:latin typeface="Comic Sans MS" panose="030F0702030302020204" charset="0"/>
                <a:ea typeface="微软雅黑" panose="020B0503020204020204" pitchFamily="34" charset="-122"/>
                <a:cs typeface="Comic Sans MS" panose="030F0702030302020204" charset="0"/>
                <a:sym typeface="+mn-ea"/>
              </a:rPr>
              <a:t>ddGTP</a:t>
            </a:r>
            <a:r>
              <a:rPr lang="zh-CN" altLang="en-US" sz="1600" dirty="0">
                <a:solidFill>
                  <a:prstClr val="black"/>
                </a:solidFill>
                <a:latin typeface="Comic Sans MS" panose="030F0702030302020204" charset="0"/>
                <a:ea typeface="微软雅黑" panose="020B0503020204020204" pitchFamily="34" charset="-122"/>
                <a:cs typeface="Comic Sans MS" panose="030F0702030302020204" charset="0"/>
                <a:sym typeface="+mn-ea"/>
              </a:rPr>
              <a:t>，</a:t>
            </a:r>
            <a:r>
              <a:rPr lang="zh-CN" altLang="en-US" sz="1600" dirty="0">
                <a:solidFill>
                  <a:prstClr val="black"/>
                </a:solidFill>
                <a:latin typeface="Comic Sans MS" panose="030F0702030302020204" charset="0"/>
                <a:ea typeface="微软雅黑" panose="020B0503020204020204" pitchFamily="34" charset="-122"/>
                <a:cs typeface="Comic Sans MS" panose="030F0702030302020204" charset="0"/>
              </a:rPr>
              <a:t>）</a:t>
            </a:r>
          </a:p>
        </p:txBody>
      </p:sp>
      <p:cxnSp>
        <p:nvCxnSpPr>
          <p:cNvPr id="8" name="直接箭头连接符 7"/>
          <p:cNvCxnSpPr/>
          <p:nvPr/>
        </p:nvCxnSpPr>
        <p:spPr>
          <a:xfrm>
            <a:off x="6903085" y="3429000"/>
            <a:ext cx="499110"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4560571" y="4756785"/>
            <a:ext cx="2437765" cy="119888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50000"/>
              </a:lnSpc>
            </a:pPr>
            <a:r>
              <a:rPr lang="zh-CN" altLang="en-US" sz="1600" dirty="0">
                <a:solidFill>
                  <a:prstClr val="black"/>
                </a:solidFill>
                <a:latin typeface="Comic Sans MS" panose="030F0702030302020204" charset="0"/>
                <a:ea typeface="微软雅黑" panose="020B0503020204020204" pitchFamily="34" charset="-122"/>
                <a:cs typeface="Comic Sans MS" panose="030F0702030302020204" charset="0"/>
              </a:rPr>
              <a:t>根据每一组的电泳条带大小，比对排序，拼出</a:t>
            </a:r>
            <a:r>
              <a:rPr lang="en-US" altLang="zh-CN" sz="1600" dirty="0">
                <a:solidFill>
                  <a:prstClr val="black"/>
                </a:solidFill>
                <a:latin typeface="Comic Sans MS" panose="030F0702030302020204" charset="0"/>
                <a:ea typeface="微软雅黑" panose="020B0503020204020204" pitchFamily="34" charset="-122"/>
                <a:cs typeface="Comic Sans MS" panose="030F0702030302020204" charset="0"/>
              </a:rPr>
              <a:t>DNA</a:t>
            </a:r>
            <a:r>
              <a:rPr lang="zh-CN" altLang="en-US" sz="1600" dirty="0">
                <a:solidFill>
                  <a:prstClr val="black"/>
                </a:solidFill>
                <a:latin typeface="Comic Sans MS" panose="030F0702030302020204" charset="0"/>
                <a:ea typeface="微软雅黑" panose="020B0503020204020204" pitchFamily="34" charset="-122"/>
                <a:cs typeface="Comic Sans MS" panose="030F0702030302020204" charset="0"/>
              </a:rPr>
              <a:t>序列。</a:t>
            </a:r>
          </a:p>
        </p:txBody>
      </p:sp>
      <p:cxnSp>
        <p:nvCxnSpPr>
          <p:cNvPr id="10" name="直接箭头连接符 9"/>
          <p:cNvCxnSpPr/>
          <p:nvPr/>
        </p:nvCxnSpPr>
        <p:spPr>
          <a:xfrm>
            <a:off x="7098030" y="5274310"/>
            <a:ext cx="499110"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19458" name="Picture 1"/>
          <p:cNvPicPr>
            <a:picLocks noChangeAspect="1"/>
          </p:cNvPicPr>
          <p:nvPr/>
        </p:nvPicPr>
        <p:blipFill>
          <a:blip r:embed="rId3"/>
          <a:stretch>
            <a:fillRect/>
          </a:stretch>
        </p:blipFill>
        <p:spPr>
          <a:xfrm>
            <a:off x="7723325" y="0"/>
            <a:ext cx="3507891" cy="6846718"/>
          </a:xfrm>
          <a:prstGeom prst="rect">
            <a:avLst/>
          </a:prstGeom>
          <a:noFill/>
          <a:ln w="9525">
            <a:noFill/>
          </a:ln>
        </p:spPr>
      </p:pic>
    </p:spTree>
    <p:extLst>
      <p:ext uri="{BB962C8B-B14F-4D97-AF65-F5344CB8AC3E}">
        <p14:creationId xmlns:p14="http://schemas.microsoft.com/office/powerpoint/2010/main" val="39225922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42900" y="1037148"/>
            <a:ext cx="11544300" cy="4512902"/>
          </a:xfrm>
          <a:prstGeom prst="rect">
            <a:avLst/>
          </a:prstGeom>
          <a:noFill/>
        </p:spPr>
        <p:txBody>
          <a:bodyPr wrap="square" rtlCol="0">
            <a:spAutoFit/>
          </a:bodyPr>
          <a:lstStyle/>
          <a:p>
            <a:pPr>
              <a:lnSpc>
                <a:spcPct val="125000"/>
              </a:lnSpc>
              <a:spcBef>
                <a:spcPts val="1200"/>
              </a:spcBef>
            </a:pPr>
            <a:r>
              <a:rPr lang="zh-CN" altLang="en-US" sz="3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步骤（改进版）</a:t>
            </a:r>
            <a:r>
              <a:rPr lang="zh-CN" altLang="en-US" sz="32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p>
          <a:p>
            <a:pPr marL="285750" indent="-285750">
              <a:lnSpc>
                <a:spcPct val="125000"/>
              </a:lnSpc>
              <a:spcBef>
                <a:spcPts val="1200"/>
              </a:spcBef>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荧光标记的ddNTPs和未标记的dNTPs与待测序的DNA，以及DNA引物和DNA聚合酶混合。</a:t>
            </a:r>
          </a:p>
          <a:p>
            <a:pPr marL="285750" indent="-285750">
              <a:lnSpc>
                <a:spcPct val="125000"/>
              </a:lnSpc>
              <a:spcBef>
                <a:spcPts val="1200"/>
              </a:spcBef>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在DNA合成过程中，在DNA产物中随机掺入一个ddNTP会终止合成，并为每个ddNTP合并一个不同的荧光标记。</a:t>
            </a:r>
          </a:p>
          <a:p>
            <a:pPr marL="285750" indent="-285750">
              <a:lnSpc>
                <a:spcPct val="125000"/>
              </a:lnSpc>
              <a:spcBef>
                <a:spcPts val="1200"/>
              </a:spcBef>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合成产物通过毛细管凝胶电泳按大小进行分离，激光激发可以识别出与每个DNA产物相关的荧光颜色。</a:t>
            </a:r>
          </a:p>
          <a:p>
            <a:pPr marL="285750" indent="-285750">
              <a:lnSpc>
                <a:spcPct val="125000"/>
              </a:lnSpc>
              <a:spcBef>
                <a:spcPts val="1200"/>
              </a:spcBef>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通过比较荧光颜色和片段的大小来确定DNA序列。</a:t>
            </a:r>
          </a:p>
        </p:txBody>
      </p:sp>
      <p:sp>
        <p:nvSpPr>
          <p:cNvPr id="4" name="文本框 3"/>
          <p:cNvSpPr txBox="1"/>
          <p:nvPr/>
        </p:nvSpPr>
        <p:spPr>
          <a:xfrm>
            <a:off x="4119035" y="-91508"/>
            <a:ext cx="3615092"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一、</a:t>
            </a:r>
            <a:r>
              <a:rPr lang="en-US" altLang="zh-CN"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测序 </a:t>
            </a:r>
          </a:p>
        </p:txBody>
      </p:sp>
    </p:spTree>
    <p:extLst>
      <p:ext uri="{BB962C8B-B14F-4D97-AF65-F5344CB8AC3E}">
        <p14:creationId xmlns:p14="http://schemas.microsoft.com/office/powerpoint/2010/main" val="2153584615"/>
      </p:ext>
    </p:extLst>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p:nvPr/>
        </p:nvSpPr>
        <p:spPr>
          <a:xfrm>
            <a:off x="1278" y="941709"/>
            <a:ext cx="2326278" cy="523220"/>
          </a:xfrm>
          <a:prstGeom prst="rect">
            <a:avLst/>
          </a:prstGeom>
          <a:solidFill>
            <a:srgbClr val="000000">
              <a:alpha val="0"/>
            </a:srgbClr>
          </a:solidFill>
          <a:ln w="12700">
            <a:noFill/>
          </a:ln>
        </p:spPr>
        <p:txBody>
          <a:bodyPr wrap="none" anchor="ctr" anchorCtr="0">
            <a:spAutoFit/>
          </a:bodyPr>
          <a:lstStyle/>
          <a:p>
            <a:pPr marL="342900" indent="-342900" algn="ctr" eaLnBrk="0" hangingPunct="0">
              <a:buFont typeface="Arial" panose="020B0604020202020204" pitchFamily="34" charset="0"/>
              <a:buChar char="•"/>
            </a:pP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化学断裂法</a:t>
            </a:r>
          </a:p>
        </p:txBody>
      </p:sp>
      <p:pic>
        <p:nvPicPr>
          <p:cNvPr id="2" name="图片 1"/>
          <p:cNvPicPr>
            <a:picLocks noChangeAspect="1"/>
          </p:cNvPicPr>
          <p:nvPr/>
        </p:nvPicPr>
        <p:blipFill rotWithShape="1">
          <a:blip r:embed="rId3"/>
          <a:srcRect l="5165" r="4195"/>
          <a:stretch>
            <a:fillRect/>
          </a:stretch>
        </p:blipFill>
        <p:spPr>
          <a:xfrm>
            <a:off x="8499765" y="148319"/>
            <a:ext cx="3713018" cy="6592177"/>
          </a:xfrm>
          <a:prstGeom prst="rect">
            <a:avLst/>
          </a:prstGeom>
        </p:spPr>
      </p:pic>
      <p:sp>
        <p:nvSpPr>
          <p:cNvPr id="4" name="文本框 3"/>
          <p:cNvSpPr txBox="1"/>
          <p:nvPr/>
        </p:nvSpPr>
        <p:spPr>
          <a:xfrm>
            <a:off x="11669" y="1396504"/>
            <a:ext cx="8633568" cy="5019323"/>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24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步骤</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：进行四组平行的反应</a:t>
            </a:r>
            <a:endPar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G特异性剪切 ——在碱性条件下，先用硫酸二甲酯（ DMS ）处理，然后再使用哌啶处理。</a:t>
            </a:r>
            <a:endPar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A+G</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特异性剪切——DNA先进行酸处理，然后再加硫酸二甲酯DMS。</a:t>
            </a:r>
            <a:endPar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C+T</a:t>
            </a: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特异性剪切——先用肼处理，然后用哌啶处理。</a:t>
            </a:r>
            <a:endPar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C特异性剪切——在高盐下，先用肼处理，然后用哌啶处理。</a:t>
            </a:r>
            <a:endPar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zh-CN" altLang="en-US" sz="2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进行聚丙烯酰胺凝胶电泳和放射自显影。比较G、A＋G、C＋T和C各个泳道，自下而上从自显影片上就可读出DNA序列。</a:t>
            </a:r>
            <a:endParaRPr lang="zh-CN" altLang="en-US" sz="2400" dirty="0">
              <a:solidFill>
                <a:prstClr val="black"/>
              </a:solidFill>
            </a:endParaRPr>
          </a:p>
        </p:txBody>
      </p:sp>
      <p:sp>
        <p:nvSpPr>
          <p:cNvPr id="6" name="文本框 5"/>
          <p:cNvSpPr txBox="1"/>
          <p:nvPr/>
        </p:nvSpPr>
        <p:spPr>
          <a:xfrm>
            <a:off x="4015125" y="-91508"/>
            <a:ext cx="3615092"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一、</a:t>
            </a:r>
            <a:r>
              <a:rPr lang="en-US" altLang="zh-CN"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测序 </a:t>
            </a:r>
          </a:p>
        </p:txBody>
      </p:sp>
    </p:spTree>
    <p:extLst>
      <p:ext uri="{BB962C8B-B14F-4D97-AF65-F5344CB8AC3E}">
        <p14:creationId xmlns:p14="http://schemas.microsoft.com/office/powerpoint/2010/main" val="670545810"/>
      </p:ext>
    </p:extLst>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83920" y="1280234"/>
            <a:ext cx="10774680" cy="3970318"/>
          </a:xfrm>
          <a:prstGeom prst="rect">
            <a:avLst/>
          </a:prstGeom>
          <a:noFill/>
        </p:spPr>
        <p:txBody>
          <a:bodyPr wrap="square" rtlCol="0">
            <a:spAutoFit/>
          </a:bodyPr>
          <a:lstStyle/>
          <a:p>
            <a:pPr>
              <a:lnSpc>
                <a:spcPct val="150000"/>
              </a:lnSpc>
            </a:pP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测定RNA一级结构的主要方法有：</a:t>
            </a:r>
          </a:p>
          <a:p>
            <a:pPr marL="285750" indent="-285750">
              <a:lnSpc>
                <a:spcPct val="150000"/>
              </a:lnSpc>
              <a:buFont typeface="Arial" panose="020B0604020202020204" pitchFamily="34" charset="0"/>
              <a:buChar char="•"/>
            </a:pP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先使用逆转录酶将待测RNA逆转录成cDNA，然后再使用末端终止法等进行测定；</a:t>
            </a:r>
          </a:p>
          <a:p>
            <a:pPr marL="285750" indent="-285750">
              <a:lnSpc>
                <a:spcPct val="150000"/>
              </a:lnSpc>
              <a:buFont typeface="Arial" panose="020B0604020202020204" pitchFamily="34" charset="0"/>
              <a:buChar char="•"/>
            </a:pP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用化学或/和酶学方法对放射性同位素标记的RNA进行部分消化后，再进行聚丙烯酰胺电泳分析；</a:t>
            </a:r>
          </a:p>
          <a:p>
            <a:pPr marL="285750" indent="-285750">
              <a:lnSpc>
                <a:spcPct val="150000"/>
              </a:lnSpc>
              <a:buFont typeface="Arial" panose="020B0604020202020204" pitchFamily="34" charset="0"/>
              <a:buChar char="•"/>
            </a:pPr>
            <a:r>
              <a:rPr lang="zh-CN" altLang="en-US"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质谱法。</a:t>
            </a:r>
            <a:endParaRPr lang="en-US" altLang="zh-CN" sz="28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4119035" y="-91508"/>
            <a:ext cx="3567002" cy="906915"/>
          </a:xfrm>
          <a:prstGeom prst="rect">
            <a:avLst/>
          </a:prstGeom>
          <a:noFill/>
        </p:spPr>
        <p:txBody>
          <a:bodyPr wrap="none" rtlCol="0" anchor="t">
            <a:spAutoFit/>
          </a:bodyPr>
          <a:lstStyle/>
          <a:p>
            <a:pPr>
              <a:lnSpc>
                <a:spcPct val="150000"/>
              </a:lnSpc>
            </a:pP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二、</a:t>
            </a:r>
            <a:r>
              <a:rPr lang="en-US" altLang="zh-CN"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RNA</a:t>
            </a:r>
            <a:r>
              <a:rPr lang="zh-CN" altLang="en-US"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测序 </a:t>
            </a:r>
          </a:p>
        </p:txBody>
      </p:sp>
    </p:spTree>
    <p:extLst>
      <p:ext uri="{BB962C8B-B14F-4D97-AF65-F5344CB8AC3E}">
        <p14:creationId xmlns:p14="http://schemas.microsoft.com/office/powerpoint/2010/main" val="1669239075"/>
      </p:ext>
    </p:extLst>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951730" y="0"/>
            <a:ext cx="1223412" cy="906915"/>
          </a:xfrm>
          <a:prstGeom prst="rect">
            <a:avLst/>
          </a:prstGeom>
          <a:noFill/>
        </p:spPr>
        <p:txBody>
          <a:bodyPr wrap="none" rtlCol="0" anchor="t">
            <a:spAutoFit/>
          </a:bodyPr>
          <a:lstStyle/>
          <a:p>
            <a:pPr>
              <a:lnSpc>
                <a:spcPct val="150000"/>
              </a:lnSpc>
            </a:pPr>
            <a:r>
              <a:rPr lang="en-US" altLang="zh-CN"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PCR</a:t>
            </a:r>
          </a:p>
        </p:txBody>
      </p:sp>
      <p:pic>
        <p:nvPicPr>
          <p:cNvPr id="2" name="图片 1"/>
          <p:cNvPicPr>
            <a:picLocks noChangeAspect="1"/>
          </p:cNvPicPr>
          <p:nvPr/>
        </p:nvPicPr>
        <p:blipFill>
          <a:blip r:embed="rId3"/>
          <a:srcRect b="1265"/>
          <a:stretch>
            <a:fillRect/>
          </a:stretch>
        </p:blipFill>
        <p:spPr>
          <a:xfrm>
            <a:off x="423333" y="1644967"/>
            <a:ext cx="2573655" cy="3568065"/>
          </a:xfrm>
          <a:prstGeom prst="rect">
            <a:avLst/>
          </a:prstGeom>
        </p:spPr>
      </p:pic>
      <p:sp>
        <p:nvSpPr>
          <p:cNvPr id="8" name="文本框 7"/>
          <p:cNvSpPr txBox="1"/>
          <p:nvPr/>
        </p:nvSpPr>
        <p:spPr>
          <a:xfrm>
            <a:off x="3302001" y="1258358"/>
            <a:ext cx="8466666" cy="4554580"/>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凯利·穆利斯</a:t>
            </a:r>
            <a:r>
              <a:rPr lang="en-US" altLang="zh-CN"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b="1" dirty="0">
                <a:solidFill>
                  <a:prstClr val="black"/>
                </a:solidFill>
                <a:latin typeface="Comic Sans MS" panose="030F0702030302020204" charset="0"/>
                <a:cs typeface="Comic Sans MS" panose="030F0702030302020204" charset="0"/>
              </a:rPr>
              <a:t>Kary B. Mullis</a:t>
            </a:r>
            <a:r>
              <a:rPr lang="en-US" altLang="zh-CN" sz="2800" b="1" dirty="0">
                <a:solidFill>
                  <a:prstClr val="black"/>
                </a:solidFill>
                <a:latin typeface="Comic Sans MS" panose="030F0702030302020204" charset="0"/>
                <a:cs typeface="Comic Sans MS" panose="030F0702030302020204" charset="0"/>
              </a:rPr>
              <a:t>)</a:t>
            </a:r>
            <a:endParaRPr lang="zh-CN" altLang="en-US" sz="2800" b="1" dirty="0">
              <a:solidFill>
                <a:prstClr val="black"/>
              </a:solidFill>
              <a:latin typeface="Comic Sans MS" panose="030F0702030302020204" charset="0"/>
              <a:cs typeface="Comic Sans MS" panose="030F0702030302020204" charset="0"/>
            </a:endParaRPr>
          </a:p>
          <a:p>
            <a:pPr marL="285750" indent="-285750">
              <a:lnSpc>
                <a:spcPct val="150000"/>
              </a:lnSpc>
              <a:buFont typeface="Arial" panose="020B0604020202020204" pitchFamily="34" charset="0"/>
              <a:buChar char="•"/>
            </a:pPr>
            <a:r>
              <a:rPr lang="zh-CN" altLang="en-US" sz="2400" dirty="0">
                <a:solidFill>
                  <a:prstClr val="black"/>
                </a:solidFill>
                <a:latin typeface="Comic Sans MS" panose="030F0702030302020204" charset="0"/>
                <a:cs typeface="Comic Sans MS" panose="030F0702030302020204" charset="0"/>
              </a:rPr>
              <a:t>The Nobel Prize in Chemistry 1993</a:t>
            </a:r>
          </a:p>
          <a:p>
            <a:pPr marL="285750" indent="-285750">
              <a:lnSpc>
                <a:spcPct val="150000"/>
              </a:lnSpc>
              <a:buFont typeface="Arial" panose="020B0604020202020204" pitchFamily="34" charset="0"/>
              <a:buChar char="•"/>
            </a:pPr>
            <a:r>
              <a:rPr sz="2400" dirty="0">
                <a:solidFill>
                  <a:prstClr val="black"/>
                </a:solidFill>
                <a:latin typeface="Comic Sans MS" panose="030F0702030302020204" charset="0"/>
                <a:ea typeface="微软雅黑" panose="020B0503020204020204" pitchFamily="34" charset="-122"/>
                <a:cs typeface="Comic Sans MS" panose="030F0702030302020204" charset="0"/>
              </a:rPr>
              <a:t> 1985 年，Kary Mullis 发明了称为聚合酶链式反应 (PCR) 的过程，其中少量 DNA 可以在短时间内大量复制。 </a:t>
            </a:r>
          </a:p>
          <a:p>
            <a:pPr marL="285750" indent="-285750">
              <a:lnSpc>
                <a:spcPct val="150000"/>
              </a:lnSpc>
              <a:buFont typeface="Arial" panose="020B0604020202020204" pitchFamily="34" charset="0"/>
              <a:buChar char="•"/>
            </a:pPr>
            <a:r>
              <a:rPr sz="2400" dirty="0">
                <a:solidFill>
                  <a:prstClr val="black"/>
                </a:solidFill>
                <a:latin typeface="Comic Sans MS" panose="030F0702030302020204" charset="0"/>
                <a:ea typeface="微软雅黑" panose="020B0503020204020204" pitchFamily="34" charset="-122"/>
                <a:cs typeface="Comic Sans MS" panose="030F0702030302020204" charset="0"/>
              </a:rPr>
              <a:t>通过加热，DNA 分子的两条链被分开，并且已添加的 DNA </a:t>
            </a:r>
            <a:r>
              <a:rPr lang="zh-CN" altLang="en-US" sz="2400" dirty="0">
                <a:solidFill>
                  <a:prstClr val="black"/>
                </a:solidFill>
                <a:latin typeface="Comic Sans MS" panose="030F0702030302020204" charset="0"/>
                <a:ea typeface="微软雅黑" panose="020B0503020204020204" pitchFamily="34" charset="-122"/>
                <a:cs typeface="Comic Sans MS" panose="030F0702030302020204" charset="0"/>
              </a:rPr>
              <a:t>原件</a:t>
            </a:r>
            <a:r>
              <a:rPr sz="2400" dirty="0">
                <a:solidFill>
                  <a:prstClr val="black"/>
                </a:solidFill>
                <a:latin typeface="Comic Sans MS" panose="030F0702030302020204" charset="0"/>
                <a:ea typeface="微软雅黑" panose="020B0503020204020204" pitchFamily="34" charset="-122"/>
                <a:cs typeface="Comic Sans MS" panose="030F0702030302020204" charset="0"/>
              </a:rPr>
              <a:t>与每条链结合。 在 DNA 聚合酶的帮助下，形成新的 DNA 链，然后可以重复该过程。 </a:t>
            </a:r>
          </a:p>
          <a:p>
            <a:pPr marL="285750" indent="-285750">
              <a:lnSpc>
                <a:spcPct val="150000"/>
              </a:lnSpc>
              <a:buFont typeface="Arial" panose="020B0604020202020204" pitchFamily="34" charset="0"/>
              <a:buChar char="•"/>
            </a:pPr>
            <a:r>
              <a:rPr sz="2400" dirty="0">
                <a:solidFill>
                  <a:prstClr val="black"/>
                </a:solidFill>
                <a:latin typeface="Comic Sans MS" panose="030F0702030302020204" charset="0"/>
                <a:ea typeface="微软雅黑" panose="020B0503020204020204" pitchFamily="34" charset="-122"/>
                <a:cs typeface="Comic Sans MS" panose="030F0702030302020204" charset="0"/>
              </a:rPr>
              <a:t>PCR 在医学研究和法医学中都具有重要意义。</a:t>
            </a:r>
          </a:p>
        </p:txBody>
      </p:sp>
    </p:spTree>
    <p:extLst>
      <p:ext uri="{BB962C8B-B14F-4D97-AF65-F5344CB8AC3E}">
        <p14:creationId xmlns:p14="http://schemas.microsoft.com/office/powerpoint/2010/main" val="373441980"/>
      </p:ext>
    </p:extLst>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587500" y="880746"/>
            <a:ext cx="3953510" cy="5822315"/>
          </a:xfrm>
          <a:prstGeom prst="rect">
            <a:avLst/>
          </a:prstGeom>
        </p:spPr>
      </p:pic>
      <p:pic>
        <p:nvPicPr>
          <p:cNvPr id="6" name="图片 5"/>
          <p:cNvPicPr>
            <a:picLocks noChangeAspect="1"/>
          </p:cNvPicPr>
          <p:nvPr/>
        </p:nvPicPr>
        <p:blipFill>
          <a:blip r:embed="rId4"/>
          <a:stretch>
            <a:fillRect/>
          </a:stretch>
        </p:blipFill>
        <p:spPr>
          <a:xfrm>
            <a:off x="6007736" y="2444115"/>
            <a:ext cx="4478655" cy="3784600"/>
          </a:xfrm>
          <a:prstGeom prst="rect">
            <a:avLst/>
          </a:prstGeom>
          <a:ln>
            <a:solidFill>
              <a:schemeClr val="tx1"/>
            </a:solidFill>
          </a:ln>
        </p:spPr>
      </p:pic>
      <p:sp>
        <p:nvSpPr>
          <p:cNvPr id="7" name="文本框 6"/>
          <p:cNvSpPr txBox="1"/>
          <p:nvPr/>
        </p:nvSpPr>
        <p:spPr>
          <a:xfrm>
            <a:off x="6143625" y="1523366"/>
            <a:ext cx="4273550" cy="82994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gn="ctr"/>
            <a:r>
              <a:rPr lang="zh-CN" altLang="en-US" sz="2400" b="1" dirty="0">
                <a:solidFill>
                  <a:prstClr val="black"/>
                </a:solidFill>
                <a:latin typeface="Comic Sans MS" panose="030F0702030302020204" charset="0"/>
                <a:ea typeface="微软雅黑" panose="020B0503020204020204" pitchFamily="34" charset="-122"/>
                <a:cs typeface="Comic Sans MS" panose="030F0702030302020204" charset="0"/>
              </a:rPr>
              <a:t>聚合酶链式反应</a:t>
            </a:r>
          </a:p>
          <a:p>
            <a:pPr algn="ctr"/>
            <a:r>
              <a:rPr lang="zh-CN" altLang="en-US" sz="2400" b="1" dirty="0">
                <a:solidFill>
                  <a:srgbClr val="FF0000"/>
                </a:solidFill>
                <a:latin typeface="Comic Sans MS" panose="030F0702030302020204" charset="0"/>
                <a:ea typeface="微软雅黑" panose="020B0503020204020204" pitchFamily="34" charset="-122"/>
                <a:cs typeface="Comic Sans MS" panose="030F0702030302020204" charset="0"/>
              </a:rPr>
              <a:t>P</a:t>
            </a:r>
            <a:r>
              <a:rPr lang="zh-CN" altLang="en-US" sz="2400" b="1" dirty="0">
                <a:solidFill>
                  <a:prstClr val="black"/>
                </a:solidFill>
                <a:latin typeface="Comic Sans MS" panose="030F0702030302020204" charset="0"/>
                <a:ea typeface="微软雅黑" panose="020B0503020204020204" pitchFamily="34" charset="-122"/>
                <a:cs typeface="Comic Sans MS" panose="030F0702030302020204" charset="0"/>
              </a:rPr>
              <a:t>olymerase </a:t>
            </a:r>
            <a:r>
              <a:rPr lang="zh-CN" altLang="en-US" sz="2400" b="1" dirty="0">
                <a:solidFill>
                  <a:srgbClr val="FF0000"/>
                </a:solidFill>
                <a:latin typeface="Comic Sans MS" panose="030F0702030302020204" charset="0"/>
                <a:ea typeface="微软雅黑" panose="020B0503020204020204" pitchFamily="34" charset="-122"/>
                <a:cs typeface="Comic Sans MS" panose="030F0702030302020204" charset="0"/>
              </a:rPr>
              <a:t>C</a:t>
            </a:r>
            <a:r>
              <a:rPr lang="zh-CN" altLang="en-US" sz="2400" b="1" dirty="0">
                <a:solidFill>
                  <a:prstClr val="black"/>
                </a:solidFill>
                <a:latin typeface="Comic Sans MS" panose="030F0702030302020204" charset="0"/>
                <a:ea typeface="微软雅黑" panose="020B0503020204020204" pitchFamily="34" charset="-122"/>
                <a:cs typeface="Comic Sans MS" panose="030F0702030302020204" charset="0"/>
              </a:rPr>
              <a:t>hain </a:t>
            </a:r>
            <a:r>
              <a:rPr lang="zh-CN" altLang="en-US" sz="2400" b="1" dirty="0">
                <a:solidFill>
                  <a:srgbClr val="FF0000"/>
                </a:solidFill>
                <a:latin typeface="Comic Sans MS" panose="030F0702030302020204" charset="0"/>
                <a:ea typeface="微软雅黑" panose="020B0503020204020204" pitchFamily="34" charset="-122"/>
                <a:cs typeface="Comic Sans MS" panose="030F0702030302020204" charset="0"/>
              </a:rPr>
              <a:t>R</a:t>
            </a:r>
            <a:r>
              <a:rPr lang="zh-CN" altLang="en-US" sz="2400" b="1" dirty="0">
                <a:solidFill>
                  <a:prstClr val="black"/>
                </a:solidFill>
                <a:latin typeface="Comic Sans MS" panose="030F0702030302020204" charset="0"/>
                <a:ea typeface="微软雅黑" panose="020B0503020204020204" pitchFamily="34" charset="-122"/>
                <a:cs typeface="Comic Sans MS" panose="030F0702030302020204" charset="0"/>
              </a:rPr>
              <a:t>eaction</a:t>
            </a:r>
          </a:p>
        </p:txBody>
      </p:sp>
      <p:sp>
        <p:nvSpPr>
          <p:cNvPr id="2" name="文本框 1"/>
          <p:cNvSpPr txBox="1"/>
          <p:nvPr/>
        </p:nvSpPr>
        <p:spPr>
          <a:xfrm>
            <a:off x="2184400" y="998220"/>
            <a:ext cx="792480" cy="275590"/>
          </a:xfrm>
          <a:prstGeom prst="rect">
            <a:avLst/>
          </a:prstGeom>
          <a:noFill/>
        </p:spPr>
        <p:txBody>
          <a:bodyPr wrap="none" rtlCol="0" anchor="t">
            <a:spAutoFit/>
          </a:bodyPr>
          <a:lstStyle/>
          <a:p>
            <a:r>
              <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目标序列</a:t>
            </a:r>
          </a:p>
        </p:txBody>
      </p:sp>
      <p:sp>
        <p:nvSpPr>
          <p:cNvPr id="8" name="文本框 7"/>
          <p:cNvSpPr txBox="1"/>
          <p:nvPr/>
        </p:nvSpPr>
        <p:spPr>
          <a:xfrm>
            <a:off x="1587500" y="1988185"/>
            <a:ext cx="581660" cy="275590"/>
          </a:xfrm>
          <a:prstGeom prst="rect">
            <a:avLst/>
          </a:prstGeom>
          <a:noFill/>
        </p:spPr>
        <p:txBody>
          <a:bodyPr wrap="none" rtlCol="0" anchor="t">
            <a:spAutoFit/>
          </a:bodyPr>
          <a:lstStyle/>
          <a:p>
            <a:r>
              <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循环</a:t>
            </a:r>
            <a:r>
              <a:rPr lang="en-US" altLang="zh-CN"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1</a:t>
            </a:r>
          </a:p>
        </p:txBody>
      </p:sp>
      <p:sp>
        <p:nvSpPr>
          <p:cNvPr id="9" name="文本框 8"/>
          <p:cNvSpPr txBox="1"/>
          <p:nvPr/>
        </p:nvSpPr>
        <p:spPr>
          <a:xfrm>
            <a:off x="1587500" y="3468370"/>
            <a:ext cx="581660" cy="275590"/>
          </a:xfrm>
          <a:prstGeom prst="rect">
            <a:avLst/>
          </a:prstGeom>
          <a:noFill/>
        </p:spPr>
        <p:txBody>
          <a:bodyPr wrap="none" rtlCol="0" anchor="t">
            <a:spAutoFit/>
          </a:bodyPr>
          <a:lstStyle/>
          <a:p>
            <a:r>
              <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循环</a:t>
            </a:r>
            <a:r>
              <a:rPr lang="en-US" altLang="zh-CN"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2</a:t>
            </a:r>
          </a:p>
        </p:txBody>
      </p:sp>
      <p:sp>
        <p:nvSpPr>
          <p:cNvPr id="11" name="文本框 10"/>
          <p:cNvSpPr txBox="1"/>
          <p:nvPr/>
        </p:nvSpPr>
        <p:spPr>
          <a:xfrm>
            <a:off x="1524000" y="5148580"/>
            <a:ext cx="581660" cy="275590"/>
          </a:xfrm>
          <a:prstGeom prst="rect">
            <a:avLst/>
          </a:prstGeom>
          <a:noFill/>
        </p:spPr>
        <p:txBody>
          <a:bodyPr wrap="none" rtlCol="0" anchor="t">
            <a:spAutoFit/>
          </a:bodyPr>
          <a:lstStyle/>
          <a:p>
            <a:r>
              <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循环</a:t>
            </a:r>
            <a:r>
              <a:rPr lang="en-US" altLang="zh-CN"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3</a:t>
            </a:r>
          </a:p>
        </p:txBody>
      </p:sp>
      <p:sp>
        <p:nvSpPr>
          <p:cNvPr id="12" name="文本框 11"/>
          <p:cNvSpPr txBox="1"/>
          <p:nvPr/>
        </p:nvSpPr>
        <p:spPr>
          <a:xfrm>
            <a:off x="3943350" y="1337310"/>
            <a:ext cx="1402080" cy="275590"/>
          </a:xfrm>
          <a:prstGeom prst="rect">
            <a:avLst/>
          </a:prstGeom>
          <a:noFill/>
        </p:spPr>
        <p:txBody>
          <a:bodyPr wrap="none" rtlCol="0" anchor="t">
            <a:spAutoFit/>
          </a:bodyPr>
          <a:lstStyle/>
          <a:p>
            <a:r>
              <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分开双链（变性）</a:t>
            </a:r>
          </a:p>
        </p:txBody>
      </p:sp>
      <p:sp>
        <p:nvSpPr>
          <p:cNvPr id="13" name="文本框 12"/>
          <p:cNvSpPr txBox="1"/>
          <p:nvPr/>
        </p:nvSpPr>
        <p:spPr>
          <a:xfrm>
            <a:off x="3943350" y="2187575"/>
            <a:ext cx="2164080" cy="275590"/>
          </a:xfrm>
          <a:prstGeom prst="rect">
            <a:avLst/>
          </a:prstGeom>
          <a:noFill/>
        </p:spPr>
        <p:txBody>
          <a:bodyPr wrap="none" rtlCol="0" anchor="t">
            <a:spAutoFit/>
          </a:bodyPr>
          <a:lstStyle/>
          <a:p>
            <a:r>
              <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引物与目标序列互补（退火）</a:t>
            </a:r>
          </a:p>
        </p:txBody>
      </p:sp>
      <p:sp>
        <p:nvSpPr>
          <p:cNvPr id="14" name="文本框 13"/>
          <p:cNvSpPr txBox="1"/>
          <p:nvPr/>
        </p:nvSpPr>
        <p:spPr>
          <a:xfrm>
            <a:off x="3943350" y="2623185"/>
            <a:ext cx="1461770" cy="275590"/>
          </a:xfrm>
          <a:prstGeom prst="rect">
            <a:avLst/>
          </a:prstGeom>
          <a:noFill/>
        </p:spPr>
        <p:txBody>
          <a:bodyPr wrap="none" rtlCol="0" anchor="t">
            <a:spAutoFit/>
          </a:bodyPr>
          <a:lstStyle/>
          <a:p>
            <a:r>
              <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延伸（</a:t>
            </a:r>
            <a:r>
              <a:rPr lang="en-US" altLang="zh-CN"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合成）</a:t>
            </a:r>
          </a:p>
        </p:txBody>
      </p:sp>
      <p:sp>
        <p:nvSpPr>
          <p:cNvPr id="15" name="文本框 14"/>
          <p:cNvSpPr txBox="1"/>
          <p:nvPr/>
        </p:nvSpPr>
        <p:spPr>
          <a:xfrm>
            <a:off x="7214235" y="4143375"/>
            <a:ext cx="487680" cy="275590"/>
          </a:xfrm>
          <a:prstGeom prst="rect">
            <a:avLst/>
          </a:prstGeom>
          <a:noFill/>
        </p:spPr>
        <p:txBody>
          <a:bodyPr wrap="none" rtlCol="0" anchor="t">
            <a:spAutoFit/>
          </a:bodyPr>
          <a:lstStyle/>
          <a:p>
            <a:r>
              <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变性</a:t>
            </a:r>
          </a:p>
        </p:txBody>
      </p:sp>
      <p:sp>
        <p:nvSpPr>
          <p:cNvPr id="17" name="文本框 16"/>
          <p:cNvSpPr txBox="1"/>
          <p:nvPr/>
        </p:nvSpPr>
        <p:spPr>
          <a:xfrm>
            <a:off x="8114030" y="3444875"/>
            <a:ext cx="487680" cy="275590"/>
          </a:xfrm>
          <a:prstGeom prst="rect">
            <a:avLst/>
          </a:prstGeom>
          <a:noFill/>
        </p:spPr>
        <p:txBody>
          <a:bodyPr wrap="none" rtlCol="0" anchor="t">
            <a:spAutoFit/>
          </a:bodyPr>
          <a:lstStyle/>
          <a:p>
            <a:r>
              <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退火</a:t>
            </a:r>
            <a:endPar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文本框 17"/>
          <p:cNvSpPr txBox="1"/>
          <p:nvPr/>
        </p:nvSpPr>
        <p:spPr>
          <a:xfrm>
            <a:off x="8867775" y="3998595"/>
            <a:ext cx="487680" cy="275590"/>
          </a:xfrm>
          <a:prstGeom prst="rect">
            <a:avLst/>
          </a:prstGeom>
          <a:noFill/>
        </p:spPr>
        <p:txBody>
          <a:bodyPr wrap="none" rtlCol="0" anchor="t">
            <a:spAutoFit/>
          </a:bodyPr>
          <a:lstStyle/>
          <a:p>
            <a:r>
              <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延伸</a:t>
            </a:r>
            <a:endPar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a:off x="8067040" y="4911725"/>
            <a:ext cx="581660" cy="275590"/>
          </a:xfrm>
          <a:prstGeom prst="rect">
            <a:avLst/>
          </a:prstGeom>
          <a:noFill/>
        </p:spPr>
        <p:txBody>
          <a:bodyPr wrap="none" rtlCol="0" anchor="t">
            <a:spAutoFit/>
          </a:bodyPr>
          <a:lstStyle/>
          <a:p>
            <a:r>
              <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循环</a:t>
            </a:r>
            <a:r>
              <a:rPr lang="en-US" altLang="zh-CN"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1</a:t>
            </a:r>
          </a:p>
        </p:txBody>
      </p:sp>
      <p:sp>
        <p:nvSpPr>
          <p:cNvPr id="20" name="文本框 19"/>
          <p:cNvSpPr txBox="1"/>
          <p:nvPr/>
        </p:nvSpPr>
        <p:spPr>
          <a:xfrm>
            <a:off x="9601835" y="4911725"/>
            <a:ext cx="581660" cy="275590"/>
          </a:xfrm>
          <a:prstGeom prst="rect">
            <a:avLst/>
          </a:prstGeom>
          <a:noFill/>
        </p:spPr>
        <p:txBody>
          <a:bodyPr wrap="none" rtlCol="0" anchor="t">
            <a:spAutoFit/>
          </a:bodyPr>
          <a:lstStyle/>
          <a:p>
            <a:r>
              <a:rPr lang="zh-CN" altLang="en-US"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循环</a:t>
            </a:r>
            <a:r>
              <a:rPr lang="en-US" altLang="zh-CN" sz="12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2</a:t>
            </a:r>
          </a:p>
        </p:txBody>
      </p:sp>
      <p:sp>
        <p:nvSpPr>
          <p:cNvPr id="10" name="文本框 9"/>
          <p:cNvSpPr txBox="1"/>
          <p:nvPr/>
        </p:nvSpPr>
        <p:spPr>
          <a:xfrm>
            <a:off x="4951730" y="0"/>
            <a:ext cx="1223412" cy="906915"/>
          </a:xfrm>
          <a:prstGeom prst="rect">
            <a:avLst/>
          </a:prstGeom>
          <a:noFill/>
        </p:spPr>
        <p:txBody>
          <a:bodyPr wrap="none" rtlCol="0" anchor="t">
            <a:spAutoFit/>
          </a:bodyPr>
          <a:lstStyle/>
          <a:p>
            <a:pPr>
              <a:lnSpc>
                <a:spcPct val="150000"/>
              </a:lnSpc>
            </a:pPr>
            <a:r>
              <a:rPr lang="en-US" altLang="zh-CN" sz="40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PCR</a:t>
            </a:r>
          </a:p>
        </p:txBody>
      </p:sp>
    </p:spTree>
    <p:extLst>
      <p:ext uri="{BB962C8B-B14F-4D97-AF65-F5344CB8AC3E}">
        <p14:creationId xmlns:p14="http://schemas.microsoft.com/office/powerpoint/2010/main" val="3318121192"/>
      </p:ext>
    </p:extLst>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rcRect t="3824"/>
          <a:stretch>
            <a:fillRect/>
          </a:stretch>
        </p:blipFill>
        <p:spPr>
          <a:xfrm>
            <a:off x="1627505" y="441960"/>
            <a:ext cx="8522970" cy="6388100"/>
          </a:xfrm>
          <a:prstGeom prst="rect">
            <a:avLst/>
          </a:prstGeom>
          <a:ln>
            <a:solidFill>
              <a:schemeClr val="tx1"/>
            </a:solidFill>
          </a:ln>
        </p:spPr>
      </p:pic>
      <p:sp>
        <p:nvSpPr>
          <p:cNvPr id="8" name="圆角矩形 7"/>
          <p:cNvSpPr/>
          <p:nvPr/>
        </p:nvSpPr>
        <p:spPr>
          <a:xfrm>
            <a:off x="3182620" y="4399280"/>
            <a:ext cx="655320" cy="19050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cxnSp>
        <p:nvCxnSpPr>
          <p:cNvPr id="9" name="直接箭头连接符 8"/>
          <p:cNvCxnSpPr/>
          <p:nvPr/>
        </p:nvCxnSpPr>
        <p:spPr>
          <a:xfrm flipV="1">
            <a:off x="3986530" y="4166870"/>
            <a:ext cx="2123440" cy="342900"/>
          </a:xfrm>
          <a:prstGeom prst="straightConnector1">
            <a:avLst/>
          </a:prstGeom>
          <a:ln>
            <a:prstDash val="dash"/>
            <a:tailEnd type="arrow" w="med" len="med"/>
          </a:ln>
        </p:spPr>
        <p:style>
          <a:lnRef idx="1">
            <a:schemeClr val="dk1"/>
          </a:lnRef>
          <a:fillRef idx="0">
            <a:schemeClr val="dk1"/>
          </a:fillRef>
          <a:effectRef idx="0">
            <a:schemeClr val="dk1"/>
          </a:effectRef>
          <a:fontRef idx="minor">
            <a:schemeClr val="tx1"/>
          </a:fontRef>
        </p:style>
      </p:cxnSp>
      <p:sp>
        <p:nvSpPr>
          <p:cNvPr id="10" name="文本框 9"/>
          <p:cNvSpPr txBox="1"/>
          <p:nvPr/>
        </p:nvSpPr>
        <p:spPr>
          <a:xfrm>
            <a:off x="6369051" y="3663316"/>
            <a:ext cx="3609975" cy="953135"/>
          </a:xfrm>
          <a:prstGeom prst="rect">
            <a:avLst/>
          </a:prstGeom>
          <a:noFill/>
        </p:spPr>
        <p:txBody>
          <a:bodyPr wrap="square" rtlCol="0">
            <a:spAutoFit/>
          </a:bodyPr>
          <a:lstStyle/>
          <a:p>
            <a:r>
              <a:rPr lang="zh-CN" altLang="en-US" sz="1400" b="1">
                <a:solidFill>
                  <a:prstClr val="black"/>
                </a:solidFill>
              </a:rPr>
              <a:t>需要根据特定的基因进行调整，拿到一个新引物，首先需要摸索不同退火温度，找到最适合温度。一般，温度越低，特异性越差（跑胶有杂带）</a:t>
            </a:r>
            <a:r>
              <a:rPr lang="zh-CN" altLang="en-US" sz="1400" b="1">
                <a:solidFill>
                  <a:prstClr val="black"/>
                </a:solidFill>
                <a:sym typeface="+mn-ea"/>
              </a:rPr>
              <a:t>。</a:t>
            </a:r>
          </a:p>
        </p:txBody>
      </p:sp>
      <p:sp>
        <p:nvSpPr>
          <p:cNvPr id="11" name="圆角矩形 10"/>
          <p:cNvSpPr/>
          <p:nvPr/>
        </p:nvSpPr>
        <p:spPr>
          <a:xfrm>
            <a:off x="3182620" y="4616450"/>
            <a:ext cx="655320" cy="19050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cxnSp>
        <p:nvCxnSpPr>
          <p:cNvPr id="12" name="直接箭头连接符 11"/>
          <p:cNvCxnSpPr/>
          <p:nvPr/>
        </p:nvCxnSpPr>
        <p:spPr>
          <a:xfrm>
            <a:off x="3990976" y="4732021"/>
            <a:ext cx="2470785" cy="81915"/>
          </a:xfrm>
          <a:prstGeom prst="straightConnector1">
            <a:avLst/>
          </a:prstGeom>
          <a:ln>
            <a:prstDash val="dash"/>
            <a:tailEnd type="arrow" w="med" len="med"/>
          </a:ln>
        </p:spPr>
        <p:style>
          <a:lnRef idx="1">
            <a:schemeClr val="dk1"/>
          </a:lnRef>
          <a:fillRef idx="0">
            <a:schemeClr val="dk1"/>
          </a:fillRef>
          <a:effectRef idx="0">
            <a:schemeClr val="dk1"/>
          </a:effectRef>
          <a:fontRef idx="minor">
            <a:schemeClr val="tx1"/>
          </a:fontRef>
        </p:style>
      </p:cxnSp>
      <p:sp>
        <p:nvSpPr>
          <p:cNvPr id="13" name="文本框 12"/>
          <p:cNvSpPr txBox="1"/>
          <p:nvPr/>
        </p:nvSpPr>
        <p:spPr>
          <a:xfrm>
            <a:off x="6442076" y="4677411"/>
            <a:ext cx="3609975" cy="737235"/>
          </a:xfrm>
          <a:prstGeom prst="rect">
            <a:avLst/>
          </a:prstGeom>
          <a:noFill/>
        </p:spPr>
        <p:txBody>
          <a:bodyPr wrap="square" rtlCol="0">
            <a:spAutoFit/>
          </a:bodyPr>
          <a:lstStyle/>
          <a:p>
            <a:r>
              <a:rPr lang="zh-CN" altLang="en-US" sz="1400" b="1">
                <a:solidFill>
                  <a:prstClr val="black"/>
                </a:solidFill>
              </a:rPr>
              <a:t>延伸时间，要根据</a:t>
            </a:r>
            <a:r>
              <a:rPr lang="en-US" altLang="zh-CN" sz="1400" b="1">
                <a:solidFill>
                  <a:prstClr val="black"/>
                </a:solidFill>
              </a:rPr>
              <a:t>PCR</a:t>
            </a:r>
            <a:r>
              <a:rPr lang="zh-CN" altLang="en-US" sz="1400" b="1">
                <a:solidFill>
                  <a:prstClr val="black"/>
                </a:solidFill>
              </a:rPr>
              <a:t>产物大小，和酶的扩增速度来调整（比如，酶</a:t>
            </a:r>
            <a:r>
              <a:rPr lang="zh-CN" altLang="en-US" sz="1400" b="1">
                <a:solidFill>
                  <a:prstClr val="black"/>
                </a:solidFill>
                <a:sym typeface="+mn-ea"/>
              </a:rPr>
              <a:t>扩增速度</a:t>
            </a:r>
            <a:r>
              <a:rPr lang="en-US" altLang="zh-CN" sz="1400" b="1">
                <a:solidFill>
                  <a:prstClr val="black"/>
                </a:solidFill>
                <a:sym typeface="+mn-ea"/>
              </a:rPr>
              <a:t>1kb/min</a:t>
            </a:r>
            <a:r>
              <a:rPr lang="zh-CN" altLang="en-US" sz="1400" b="1">
                <a:solidFill>
                  <a:prstClr val="black"/>
                </a:solidFill>
                <a:sym typeface="+mn-ea"/>
              </a:rPr>
              <a:t>，</a:t>
            </a:r>
            <a:r>
              <a:rPr lang="zh-CN" altLang="en-US" sz="1400" b="1">
                <a:solidFill>
                  <a:prstClr val="black"/>
                </a:solidFill>
              </a:rPr>
              <a:t>产物大小为</a:t>
            </a:r>
            <a:r>
              <a:rPr lang="en-US" altLang="zh-CN" sz="1400" b="1">
                <a:solidFill>
                  <a:prstClr val="black"/>
                </a:solidFill>
              </a:rPr>
              <a:t>2000bp</a:t>
            </a:r>
            <a:r>
              <a:rPr lang="zh-CN" altLang="en-US" sz="1400" b="1">
                <a:solidFill>
                  <a:prstClr val="black"/>
                </a:solidFill>
              </a:rPr>
              <a:t>，约需要</a:t>
            </a:r>
            <a:r>
              <a:rPr lang="en-US" altLang="zh-CN" sz="1400" b="1">
                <a:solidFill>
                  <a:prstClr val="black"/>
                </a:solidFill>
              </a:rPr>
              <a:t>2min</a:t>
            </a:r>
            <a:r>
              <a:rPr lang="zh-CN" altLang="en-US" sz="1400" b="1">
                <a:solidFill>
                  <a:prstClr val="black"/>
                </a:solidFill>
              </a:rPr>
              <a:t>）。</a:t>
            </a:r>
          </a:p>
        </p:txBody>
      </p:sp>
      <p:sp>
        <p:nvSpPr>
          <p:cNvPr id="14" name="文本框 13"/>
          <p:cNvSpPr txBox="1"/>
          <p:nvPr/>
        </p:nvSpPr>
        <p:spPr>
          <a:xfrm>
            <a:off x="7846695" y="1125855"/>
            <a:ext cx="1706880" cy="398780"/>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nchor="t">
            <a:spAutoFit/>
          </a:bodyPr>
          <a:lstStyle/>
          <a:p>
            <a:r>
              <a:rPr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反应体系配制</a:t>
            </a:r>
          </a:p>
        </p:txBody>
      </p:sp>
      <p:sp>
        <p:nvSpPr>
          <p:cNvPr id="15" name="右大括号 14"/>
          <p:cNvSpPr/>
          <p:nvPr/>
        </p:nvSpPr>
        <p:spPr>
          <a:xfrm>
            <a:off x="7419340" y="570230"/>
            <a:ext cx="218440" cy="161671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solidFill>
                <a:prstClr val="black"/>
              </a:solidFill>
            </a:endParaRPr>
          </a:p>
        </p:txBody>
      </p:sp>
      <p:sp>
        <p:nvSpPr>
          <p:cNvPr id="16" name="文本框 15"/>
          <p:cNvSpPr txBox="1"/>
          <p:nvPr/>
        </p:nvSpPr>
        <p:spPr>
          <a:xfrm>
            <a:off x="1627506" y="-18415"/>
            <a:ext cx="2934335" cy="460375"/>
          </a:xfrm>
          <a:prstGeom prst="rect">
            <a:avLst/>
          </a:prstGeom>
          <a:noFill/>
          <a:ln>
            <a:noFill/>
          </a:ln>
        </p:spPr>
        <p:txBody>
          <a:bodyPr wrap="none" rtlCol="0" anchor="t">
            <a:spAutoFit/>
          </a:bodyPr>
          <a:lstStyle/>
          <a:p>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PCR</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试剂盒的说明书</a:t>
            </a:r>
          </a:p>
        </p:txBody>
      </p:sp>
    </p:spTree>
    <p:extLst>
      <p:ext uri="{BB962C8B-B14F-4D97-AF65-F5344CB8AC3E}">
        <p14:creationId xmlns:p14="http://schemas.microsoft.com/office/powerpoint/2010/main" val="19464271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fcc3a72-a40d-4596-a26a-7ae4999b090e"/>
  <p:tag name="COMMONDATA" val="eyJoZGlkIjoiZTQ4ODQwNThiYTg4YTBlNDhkZDRmNGNiNWM5NWE1YzA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1461</TotalTime>
  <Words>3978</Words>
  <Application>Microsoft Office PowerPoint</Application>
  <PresentationFormat>宽屏</PresentationFormat>
  <Paragraphs>332</Paragraphs>
  <Slides>82</Slides>
  <Notes>39</Notes>
  <HiddenSlides>0</HiddenSlides>
  <MMClips>0</MMClips>
  <ScaleCrop>false</ScaleCrop>
  <HeadingPairs>
    <vt:vector size="6" baseType="variant">
      <vt:variant>
        <vt:lpstr>已用的字体</vt:lpstr>
      </vt:variant>
      <vt:variant>
        <vt:i4>13</vt:i4>
      </vt:variant>
      <vt:variant>
        <vt:lpstr>主题</vt:lpstr>
      </vt:variant>
      <vt:variant>
        <vt:i4>7</vt:i4>
      </vt:variant>
      <vt:variant>
        <vt:lpstr>幻灯片标题</vt:lpstr>
      </vt:variant>
      <vt:variant>
        <vt:i4>82</vt:i4>
      </vt:variant>
    </vt:vector>
  </HeadingPairs>
  <TitlesOfParts>
    <vt:vector size="102" baseType="lpstr">
      <vt:lpstr>Monotype Sorts</vt:lpstr>
      <vt:lpstr>等线</vt:lpstr>
      <vt:lpstr>黑体</vt:lpstr>
      <vt:lpstr>楷体</vt:lpstr>
      <vt:lpstr>宋体</vt:lpstr>
      <vt:lpstr>微软雅黑</vt:lpstr>
      <vt:lpstr>Arial</vt:lpstr>
      <vt:lpstr>Calibri</vt:lpstr>
      <vt:lpstr>Calibri Light</vt:lpstr>
      <vt:lpstr>Comic Sans MS</vt:lpstr>
      <vt:lpstr>Impact</vt:lpstr>
      <vt:lpstr>Times New Roman</vt:lpstr>
      <vt:lpstr>Wingdings</vt:lpstr>
      <vt:lpstr>Office 主题​​</vt:lpstr>
      <vt:lpstr>2_Office 主题​​</vt:lpstr>
      <vt:lpstr>3_Office 主题​​</vt:lpstr>
      <vt:lpstr>1_Office 主题​​</vt:lpstr>
      <vt:lpstr>4_Office 主题​​</vt:lpstr>
      <vt:lpstr>6_Office 主题​​</vt:lpstr>
      <vt:lpstr>7_Office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aging00</dc:creator>
  <cp:lastModifiedBy>Admin</cp:lastModifiedBy>
  <cp:revision>762</cp:revision>
  <dcterms:created xsi:type="dcterms:W3CDTF">2021-04-13T08:56:00Z</dcterms:created>
  <dcterms:modified xsi:type="dcterms:W3CDTF">2024-12-23T11:22:01Z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57CBEB9832164ED789EE312EFDE435A9</vt:lpwstr>
  </property>
  <property fmtid="{D5CDD505-2E9C-101B-9397-08002B2CF9AE}" pid="3" name="KSOProductBuildVer">
    <vt:lpwstr>2052-11.1.0.14036</vt:lpwstr>
  </property>
</Properties>
</file>