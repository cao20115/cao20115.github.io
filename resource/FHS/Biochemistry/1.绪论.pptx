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7"/>
  </p:handoutMasterIdLst>
  <p:sldIdLst>
    <p:sldId id="1204" r:id="rId3"/>
    <p:sldId id="1205" r:id="rId5"/>
    <p:sldId id="636" r:id="rId6"/>
    <p:sldId id="628" r:id="rId7"/>
    <p:sldId id="299" r:id="rId8"/>
    <p:sldId id="302" r:id="rId9"/>
    <p:sldId id="307" r:id="rId10"/>
    <p:sldId id="1317" r:id="rId11"/>
    <p:sldId id="1318" r:id="rId12"/>
    <p:sldId id="1319" r:id="rId13"/>
    <p:sldId id="1321" r:id="rId14"/>
    <p:sldId id="1322" r:id="rId15"/>
    <p:sldId id="1323" r:id="rId16"/>
    <p:sldId id="1324" r:id="rId17"/>
    <p:sldId id="1325" r:id="rId18"/>
    <p:sldId id="345" r:id="rId19"/>
    <p:sldId id="350" r:id="rId20"/>
    <p:sldId id="322" r:id="rId21"/>
    <p:sldId id="630" r:id="rId22"/>
    <p:sldId id="631" r:id="rId23"/>
    <p:sldId id="1206" r:id="rId24"/>
    <p:sldId id="635" r:id="rId25"/>
    <p:sldId id="1299" r:id="rId26"/>
    <p:sldId id="715" r:id="rId27"/>
    <p:sldId id="711" r:id="rId28"/>
    <p:sldId id="712" r:id="rId29"/>
    <p:sldId id="713" r:id="rId30"/>
    <p:sldId id="714" r:id="rId31"/>
    <p:sldId id="4036" r:id="rId32"/>
    <p:sldId id="725" r:id="rId33"/>
    <p:sldId id="726" r:id="rId34"/>
    <p:sldId id="727" r:id="rId35"/>
    <p:sldId id="1345" r:id="rId36"/>
    <p:sldId id="1347" r:id="rId37"/>
    <p:sldId id="1346" r:id="rId38"/>
    <p:sldId id="1348" r:id="rId39"/>
    <p:sldId id="1351" r:id="rId40"/>
    <p:sldId id="1350" r:id="rId41"/>
    <p:sldId id="1352" r:id="rId42"/>
    <p:sldId id="1353" r:id="rId43"/>
    <p:sldId id="1364" r:id="rId44"/>
    <p:sldId id="1354" r:id="rId45"/>
    <p:sldId id="375" r:id="rId46"/>
  </p:sldIdLst>
  <p:sldSz cx="12192000" cy="6858000"/>
  <p:notesSz cx="6935470" cy="9220200"/>
  <p:custDataLst>
    <p:tags r:id="rId51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accent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accent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accent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accent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accent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accent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accent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accent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accent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7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00FF"/>
    <a:srgbClr val="33CC33"/>
    <a:srgbClr val="FF9900"/>
    <a:srgbClr val="FFFF00"/>
    <a:srgbClr val="3399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8"/>
    <p:restoredTop sz="96024" autoAdjust="0"/>
  </p:normalViewPr>
  <p:slideViewPr>
    <p:cSldViewPr snapToObjects="1" showGuides="1">
      <p:cViewPr varScale="1">
        <p:scale>
          <a:sx n="75" d="100"/>
          <a:sy n="75" d="100"/>
        </p:scale>
        <p:origin x="888" y="84"/>
      </p:cViewPr>
      <p:guideLst>
        <p:guide orient="horz" pos="2141"/>
        <p:guide pos="371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1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handoutMaster" Target="handoutMasters/handoutMaster1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317" tIns="46158" rIns="92317" bIns="46158" numCol="1" anchor="t" anchorCtr="0" compatLnSpc="1"/>
          <a:lstStyle>
            <a:lvl1pPr defTabSz="922655" eaLnBrk="0" hangingPunc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9063" y="0"/>
            <a:ext cx="30051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317" tIns="46158" rIns="92317" bIns="46158" numCol="1" anchor="t" anchorCtr="0" compatLnSpc="1"/>
          <a:lstStyle>
            <a:lvl1pPr algn="r" defTabSz="922655" eaLnBrk="0" hangingPunc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226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6650"/>
            <a:ext cx="30051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317" tIns="46158" rIns="92317" bIns="46158" numCol="1" anchor="b" anchorCtr="0" compatLnSpc="1"/>
          <a:lstStyle>
            <a:lvl1pPr defTabSz="922655" eaLnBrk="0" hangingPunc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2265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9063" y="8756650"/>
            <a:ext cx="30051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317" tIns="46158" rIns="92317" bIns="46158" numCol="1" anchor="b" anchorCtr="0" compatLnSpc="1"/>
          <a:lstStyle/>
          <a:p>
            <a:pPr lvl="0" algn="r" defTabSz="922655" fontAlgn="base">
              <a:buNone/>
            </a:pPr>
            <a:fld id="{9A0DB2DC-4C9A-4742-B13C-FB6460FD3503}" type="slidenum">
              <a:rPr lang="en-US" altLang="zh-CN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317" tIns="46158" rIns="92317" bIns="46158" numCol="1" anchor="t" anchorCtr="0" compatLnSpc="1"/>
          <a:lstStyle>
            <a:lvl1pPr defTabSz="922020" eaLnBrk="0" hangingPunct="0">
              <a:buFontTx/>
              <a:buNone/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2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0650" y="0"/>
            <a:ext cx="30051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317" tIns="46158" rIns="92317" bIns="46158" numCol="1" anchor="t" anchorCtr="0" compatLnSpc="1"/>
          <a:lstStyle>
            <a:lvl1pPr algn="r" defTabSz="922020" eaLnBrk="0" hangingPunct="0">
              <a:buFontTx/>
              <a:buNone/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r" defTabSz="92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0563"/>
            <a:ext cx="6146800" cy="3457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5" y="4379913"/>
            <a:ext cx="5087938" cy="414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317" tIns="46158" rIns="92317" bIns="46158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317" tIns="46158" rIns="92317" bIns="46158" numCol="1" anchor="b" anchorCtr="0" compatLnSpc="1"/>
          <a:lstStyle>
            <a:lvl1pPr defTabSz="922020" eaLnBrk="0" hangingPunct="0">
              <a:buFontTx/>
              <a:buNone/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+mn-ea"/>
              </a:defRPr>
            </a:lvl1pPr>
          </a:lstStyle>
          <a:p>
            <a:pPr marL="0" marR="0" lvl="0" indent="0" algn="l" defTabSz="92202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0650" y="8758238"/>
            <a:ext cx="3005138" cy="4619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317" tIns="46158" rIns="92317" bIns="46158" numCol="1" anchor="b" anchorCtr="0" compatLnSpc="1"/>
          <a:lstStyle/>
          <a:p>
            <a:pPr lvl="0" algn="r" defTabSz="922655" fontAlgn="base">
              <a:buNone/>
            </a:pPr>
            <a:fld id="{9A0DB2DC-4C9A-4742-B13C-FB6460FD3503}" type="slidenum">
              <a:rPr lang="en-US" altLang="zh-CN" sz="1200" strike="noStrike" noProof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9383A-97AB-4E9F-ADB2-1ECE650A7D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9383A-97AB-4E9F-ADB2-1ECE650A7D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9383A-97AB-4E9F-ADB2-1ECE650A7D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30650" y="8758238"/>
            <a:ext cx="3005138" cy="4619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2317" tIns="46158" rIns="92317" bIns="46158" anchor="b" anchorCtr="0"/>
          <a:lstStyle/>
          <a:p>
            <a:pPr lvl="0" algn="r" defTabSz="922655"/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98463" y="693738"/>
            <a:ext cx="6138862" cy="3454400"/>
          </a:xfrm>
          <a:solidFill>
            <a:srgbClr val="FFFFFF"/>
          </a:solidFill>
        </p:spPr>
      </p:sp>
      <p:sp>
        <p:nvSpPr>
          <p:cNvPr id="73731" name="Rectangle 3"/>
          <p:cNvSpPr>
            <a:spLocks noGrp="1"/>
          </p:cNvSpPr>
          <p:nvPr>
            <p:ph type="body"/>
          </p:nvPr>
        </p:nvSpPr>
        <p:spPr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 wrap="square" lIns="92317" tIns="46158" rIns="92317" bIns="46158" anchor="t" anchorCtr="0"/>
          <a:lstStyle/>
          <a:p>
            <a:pPr lvl="0"/>
            <a:endParaRPr lang="zh-CN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3672" t="65924" r="-370" b="23585"/>
          <a:stretch>
            <a:fillRect/>
          </a:stretch>
        </p:blipFill>
        <p:spPr>
          <a:xfrm>
            <a:off x="-2890383" y="0"/>
            <a:ext cx="15138000" cy="884397"/>
          </a:xfrm>
          <a:prstGeom prst="rect">
            <a:avLst/>
          </a:prstGeom>
          <a:ln>
            <a:noFill/>
          </a:ln>
        </p:spPr>
      </p:pic>
      <p:sp>
        <p:nvSpPr>
          <p:cNvPr id="6" name="矩形 5"/>
          <p:cNvSpPr/>
          <p:nvPr userDrawn="1"/>
        </p:nvSpPr>
        <p:spPr>
          <a:xfrm>
            <a:off x="-6262" y="-3362"/>
            <a:ext cx="12211250" cy="884397"/>
          </a:xfrm>
          <a:prstGeom prst="rect">
            <a:avLst/>
          </a:prstGeom>
          <a:solidFill>
            <a:schemeClr val="tx1">
              <a:lumMod val="85000"/>
              <a:lumOff val="1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1D968E2-24A8-46F5-BB3F-C7A9E32908A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jpeg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MolMotion"/>
          <p:cNvPicPr>
            <a:picLocks noChangeAspect="1"/>
          </p:cNvPicPr>
          <p:nvPr/>
        </p:nvPicPr>
        <p:blipFill>
          <a:blip r:embed="rId1"/>
          <a:srcRect l="8759"/>
          <a:stretch>
            <a:fillRect/>
          </a:stretch>
        </p:blipFill>
        <p:spPr>
          <a:xfrm>
            <a:off x="0" y="0"/>
            <a:ext cx="8278279" cy="6869430"/>
          </a:xfrm>
          <a:prstGeom prst="rect">
            <a:avLst/>
          </a:prstGeom>
        </p:spPr>
      </p:pic>
      <p:sp>
        <p:nvSpPr>
          <p:cNvPr id="4" name="Rectangle 2"/>
          <p:cNvSpPr>
            <a:spLocks noGrp="1"/>
          </p:cNvSpPr>
          <p:nvPr/>
        </p:nvSpPr>
        <p:spPr>
          <a:xfrm>
            <a:off x="8383654" y="2286030"/>
            <a:ext cx="352211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生物化学</a:t>
            </a:r>
            <a:b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Biochemistry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MolMotion"/>
          <p:cNvPicPr>
            <a:picLocks noChangeAspect="1"/>
          </p:cNvPicPr>
          <p:nvPr/>
        </p:nvPicPr>
        <p:blipFill>
          <a:blip r:embed="rId1"/>
          <a:srcRect l="8759"/>
          <a:stretch>
            <a:fillRect/>
          </a:stretch>
        </p:blipFill>
        <p:spPr>
          <a:xfrm>
            <a:off x="0" y="0"/>
            <a:ext cx="8278279" cy="68694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12026" y="2514624"/>
            <a:ext cx="326243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章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生物化学概论</a:t>
            </a:r>
            <a:endParaRPr lang="zh-CN" altLang="en-US" sz="4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/>
          </p:cNvSpPr>
          <p:nvPr>
            <p:ph type="subTitle" idx="4294967295"/>
          </p:nvPr>
        </p:nvSpPr>
        <p:spPr>
          <a:xfrm>
            <a:off x="4114852" y="1828842"/>
            <a:ext cx="8229600" cy="411480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生物化学的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概念及发展史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化学基础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200000"/>
              </a:lnSpc>
              <a:buClr>
                <a:srgbClr val="000000"/>
              </a:buClr>
              <a:buNone/>
            </a:pP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None/>
            </a:pP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76832" y="15248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本章内容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grayscl/>
            <a:lum bright="78000" contras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798" y="-55880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2173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1.1</a:t>
              </a:r>
              <a:endParaRPr lang="en-US" altLang="zh-CN" sz="66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332014" y="2819416"/>
            <a:ext cx="6250940" cy="68480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生物化学的概念及发展史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/>
          <p:cNvSpPr>
            <a:spLocks noGrp="1"/>
          </p:cNvSpPr>
          <p:nvPr>
            <p:ph type="title" idx="4294967295"/>
          </p:nvPr>
        </p:nvSpPr>
        <p:spPr>
          <a:xfrm>
            <a:off x="3962456" y="0"/>
            <a:ext cx="6286500" cy="922338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什么是生物化学</a:t>
            </a:r>
            <a:r>
              <a:rPr lang="en-US" altLang="zh-CN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?</a:t>
            </a:r>
            <a:endParaRPr lang="en-US" altLang="zh-CN" sz="4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556" name="Rectangle 5"/>
          <p:cNvSpPr>
            <a:spLocks noGrp="1"/>
          </p:cNvSpPr>
          <p:nvPr>
            <p:ph type="body" sz="half" idx="4294967295"/>
          </p:nvPr>
        </p:nvSpPr>
        <p:spPr>
          <a:xfrm>
            <a:off x="1638417" y="2362228"/>
            <a:ext cx="8915166" cy="2714625"/>
          </a:xfrm>
        </p:spPr>
        <p:txBody>
          <a:bodyPr vert="horz" wrap="square" lIns="91440" tIns="45720" rIns="91440" bIns="45720" anchor="t" anchorCtr="0"/>
          <a:lstStyle>
            <a:lvl1pPr lvl="0">
              <a:buClrTx/>
              <a:buSzTx/>
              <a:buFontTx/>
              <a:defRPr sz="2800"/>
            </a:lvl1pPr>
            <a:lvl2pPr lvl="1">
              <a:buClrTx/>
              <a:buSzTx/>
              <a:buFontTx/>
              <a:defRPr sz="2400"/>
            </a:lvl2pPr>
            <a:lvl3pPr lvl="2">
              <a:buClrTx/>
              <a:buSzTx/>
              <a:buFontTx/>
              <a:defRPr sz="2000"/>
            </a:lvl3pPr>
            <a:lvl4pPr lvl="3">
              <a:buClrTx/>
              <a:buSzTx/>
              <a:buFontTx/>
              <a:defRPr sz="1800"/>
            </a:lvl4pPr>
            <a:lvl5pPr lvl="4">
              <a:buClrTx/>
              <a:buSzTx/>
              <a:buFontTx/>
              <a:defRPr sz="1800"/>
            </a:lvl5pPr>
          </a:lstStyle>
          <a:p>
            <a:pPr lvl="0">
              <a:lnSpc>
                <a:spcPct val="120000"/>
              </a:lnSpc>
              <a:spcBef>
                <a:spcPct val="0"/>
              </a:spcBef>
            </a:pPr>
            <a:r>
              <a:rPr lang="en-US" altLang="zh-CN" sz="3200" b="1" u="sng" dirty="0"/>
              <a:t>Biochemistry</a:t>
            </a:r>
            <a:r>
              <a:rPr lang="zh-CN" altLang="en-US" sz="3200" b="1" u="sng" dirty="0"/>
              <a:t>：</a:t>
            </a:r>
            <a:r>
              <a:rPr lang="en-US" altLang="zh-CN" sz="3200" b="1" u="sng" dirty="0"/>
              <a:t>Is the Chemistry of Living Matter. </a:t>
            </a:r>
            <a:endParaRPr lang="en-US" altLang="zh-CN" sz="3200" b="1" u="sng" dirty="0"/>
          </a:p>
          <a:p>
            <a:pPr lvl="0">
              <a:lnSpc>
                <a:spcPct val="150000"/>
              </a:lnSpc>
              <a:spcBef>
                <a:spcPts val="1200"/>
              </a:spcBef>
            </a:pPr>
            <a:r>
              <a:rPr lang="zh-CN" altLang="en-US" b="1" dirty="0"/>
              <a:t>运用现代科学技术和方法从</a:t>
            </a:r>
            <a:r>
              <a:rPr lang="zh-CN" altLang="en-US" b="1" u="sng" dirty="0">
                <a:solidFill>
                  <a:srgbClr val="FF0000"/>
                </a:solidFill>
              </a:rPr>
              <a:t>分子水平</a:t>
            </a:r>
            <a:r>
              <a:rPr lang="zh-CN" altLang="en-US" b="1" dirty="0"/>
              <a:t>探讨生命现象的</a:t>
            </a:r>
            <a:r>
              <a:rPr lang="zh-CN" altLang="en-US" b="1" u="sng" dirty="0">
                <a:solidFill>
                  <a:srgbClr val="FF0000"/>
                </a:solidFill>
              </a:rPr>
              <a:t>化学本质</a:t>
            </a:r>
            <a:r>
              <a:rPr lang="zh-CN" altLang="en-US" b="1" dirty="0"/>
              <a:t>、生命活动过程中</a:t>
            </a:r>
            <a:r>
              <a:rPr lang="zh-CN" altLang="en-US" b="1" u="sng" dirty="0">
                <a:solidFill>
                  <a:srgbClr val="FF0000"/>
                </a:solidFill>
              </a:rPr>
              <a:t>化学变化规律</a:t>
            </a:r>
            <a:r>
              <a:rPr lang="zh-CN" altLang="en-US" b="1" dirty="0"/>
              <a:t>的科学。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12"/>
          <p:cNvSpPr/>
          <p:nvPr/>
        </p:nvSpPr>
        <p:spPr>
          <a:xfrm>
            <a:off x="1912550" y="2340974"/>
            <a:ext cx="357187" cy="3214688"/>
          </a:xfrm>
          <a:prstGeom prst="leftBrace">
            <a:avLst>
              <a:gd name="adj1" fmla="val 8608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  <p:txBody>
          <a:bodyPr wrap="none" anchor="ctr" anchorCtr="0"/>
          <a:lstStyle/>
          <a:p>
            <a:pPr algn="ctr" eaLnBrk="0" hangingPunct="0"/>
            <a:endParaRPr lang="zh-CN" altLang="en-US" sz="72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1" name="Text Box 14"/>
          <p:cNvSpPr txBox="1"/>
          <p:nvPr/>
        </p:nvSpPr>
        <p:spPr>
          <a:xfrm>
            <a:off x="5029228" y="1322278"/>
            <a:ext cx="5757814" cy="211679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研究生物体内各种化合物的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（主要有糖类、脂类、蛋白质、核酸、酶、维生素和激素）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2" name="Text Box 15"/>
          <p:cNvSpPr txBox="1"/>
          <p:nvPr/>
        </p:nvSpPr>
        <p:spPr>
          <a:xfrm>
            <a:off x="5181624" y="4428202"/>
            <a:ext cx="5757814" cy="1599733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研究构成生物体的基本物质在生命活动中进行的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化学变化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lang="zh-CN" altLang="en-US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新陈代谢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及代谢过程中能量的转换和调节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653" name="Group 25"/>
          <p:cNvGrpSpPr/>
          <p:nvPr/>
        </p:nvGrpSpPr>
        <p:grpSpPr>
          <a:xfrm>
            <a:off x="2480874" y="2113962"/>
            <a:ext cx="2362200" cy="3757612"/>
            <a:chOff x="528" y="1392"/>
            <a:chExt cx="1488" cy="1962"/>
          </a:xfrm>
        </p:grpSpPr>
        <p:sp>
          <p:nvSpPr>
            <p:cNvPr id="27654" name="Text Box 23"/>
            <p:cNvSpPr txBox="1"/>
            <p:nvPr/>
          </p:nvSpPr>
          <p:spPr>
            <a:xfrm>
              <a:off x="528" y="1392"/>
              <a:ext cx="1488" cy="336"/>
            </a:xfrm>
            <a:prstGeom prst="rect">
              <a:avLst/>
            </a:prstGeom>
            <a:solidFill>
              <a:srgbClr val="66FFFF"/>
            </a:solidFill>
            <a:ln w="9525"/>
            <a:scene3d>
              <a:camera prst="legacyPerspectiveTopRight">
                <a:rot lat="0" lon="0" rev="0"/>
              </a:camera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anchor="t" anchorCtr="0"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静态生物化学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55" name="Text Box 24"/>
            <p:cNvSpPr txBox="1"/>
            <p:nvPr/>
          </p:nvSpPr>
          <p:spPr>
            <a:xfrm>
              <a:off x="528" y="3018"/>
              <a:ext cx="1488" cy="336"/>
            </a:xfrm>
            <a:prstGeom prst="rect">
              <a:avLst/>
            </a:prstGeom>
            <a:solidFill>
              <a:srgbClr val="FFCCFF"/>
            </a:solidFill>
            <a:ln w="9525"/>
            <a:scene3d>
              <a:camera prst="legacyPerspectiveTopRight">
                <a:rot lat="0" lon="0" rev="0"/>
              </a:camera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66CC"/>
              </a:extrusionClr>
            </a:sp3d>
          </p:spPr>
          <p:txBody>
            <a:bodyPr anchor="t" anchorCtr="0">
              <a:flatTx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动态生物化学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903213" y="223385"/>
            <a:ext cx="75719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hangingPunct="0">
              <a:lnSpc>
                <a:spcPct val="85000"/>
              </a:lnSpc>
              <a:spcBef>
                <a:spcPct val="50000"/>
              </a:spcBef>
              <a:buNone/>
              <a:defRPr/>
            </a:pPr>
            <a:r>
              <a:rPr lang="zh-CN" altLang="en-US" sz="4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生物化学的研究内容</a:t>
            </a:r>
            <a:endParaRPr lang="zh-CN" altLang="en-US" sz="4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381150" y="1143000"/>
            <a:ext cx="4648078" cy="579755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1828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Friedrich </a:t>
            </a:r>
            <a:r>
              <a:rPr lang="en-US" altLang="zh-CN" sz="2400" dirty="0" err="1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Wöhler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（弗里德里希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维勒）证明了在实验室中可以用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无机化合物氰酸铵合成尿素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33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2400" dirty="0" err="1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Wöhler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时代之前，人们认为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生命物质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非生命物质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在性质上存在某种差异，并且不符合已知的物理和化学定律。</a:t>
            </a:r>
            <a:endParaRPr lang="zh-CN" altLang="en-US" sz="2400" dirty="0">
              <a:solidFill>
                <a:srgbClr val="33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348" y="152486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" r="9846"/>
          <a:stretch>
            <a:fillRect/>
          </a:stretch>
        </p:blipFill>
        <p:spPr>
          <a:xfrm rot="5400000">
            <a:off x="5094957" y="454845"/>
            <a:ext cx="6756344" cy="58973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48396" y="4876762"/>
            <a:ext cx="914376" cy="45718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381150" y="1143000"/>
            <a:ext cx="4648078" cy="579755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2"/>
            </a:pP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1850 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年代，路易斯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巴斯德 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(Louis Pasteur) 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得出结论，酵母将糖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发酵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成酒精是由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酵素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催化的。 他假设这些发酵物与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活酵母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细胞的结构密不可分（活力论）。</a:t>
            </a:r>
            <a:endParaRPr lang="en-US" altLang="zh-CN" sz="2400" dirty="0">
              <a:solidFill>
                <a:srgbClr val="33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活力论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：生物反应是通过一种神秘的“生命力”的作用而不是物理和化学过程。</a:t>
            </a:r>
            <a:endParaRPr lang="zh-CN" altLang="en-US" sz="2400" dirty="0">
              <a:solidFill>
                <a:srgbClr val="33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348" y="152486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" r="9846"/>
          <a:stretch>
            <a:fillRect/>
          </a:stretch>
        </p:blipFill>
        <p:spPr>
          <a:xfrm rot="5400000">
            <a:off x="5094957" y="454845"/>
            <a:ext cx="6756344" cy="58973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24594" y="4114782"/>
            <a:ext cx="914376" cy="45718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381150" y="1143000"/>
            <a:ext cx="4648078" cy="579755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2"/>
            </a:pP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1897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Eduard Buchner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（爱德华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布赫纳）发现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无细胞酵母提取物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可以将糖发酵成酒精，证明发酵是由离开细胞后继续发挥作用的分子促进的。 布赫纳的实验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标志着活力论的终结和生物化学科学的曙光。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348" y="152486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" r="9846"/>
          <a:stretch>
            <a:fillRect/>
          </a:stretch>
        </p:blipFill>
        <p:spPr>
          <a:xfrm rot="5400000">
            <a:off x="5094957" y="454845"/>
            <a:ext cx="6756344" cy="58973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48396" y="3363854"/>
            <a:ext cx="1142970" cy="36993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381150" y="1143000"/>
            <a:ext cx="4648078" cy="579755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3"/>
            </a:pP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1926 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James Sumner 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分离和结晶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脲酶（脲酶）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是早期酶研究的突破。 发现脲酶晶体完全由蛋白质组成，他假设所有的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酶都是蛋白质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rgbClr val="33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这一发现标志着活力主义的最终衰落。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348" y="152486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" r="9846"/>
          <a:stretch>
            <a:fillRect/>
          </a:stretch>
        </p:blipFill>
        <p:spPr>
          <a:xfrm rot="5400000">
            <a:off x="5094957" y="454845"/>
            <a:ext cx="6756344" cy="58973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48396" y="3363854"/>
            <a:ext cx="1142970" cy="369938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381150" y="1143000"/>
            <a:ext cx="4648078" cy="579755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4"/>
            </a:pP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1920-1940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年代，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Meyerhof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Embden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，在总结自己及其他许多其他生物化学家的发现的基础上，描绘了</a:t>
            </a:r>
            <a:r>
              <a:rPr lang="zh-CN" altLang="en-US" sz="24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糖酵解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途径。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348" y="152486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" r="9846"/>
          <a:stretch>
            <a:fillRect/>
          </a:stretch>
        </p:blipFill>
        <p:spPr>
          <a:xfrm rot="5400000">
            <a:off x="4980741" y="480305"/>
            <a:ext cx="6756344" cy="58973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61072" y="2895614"/>
            <a:ext cx="1435086" cy="304792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381150" y="1143000"/>
            <a:ext cx="4648078" cy="579755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5"/>
            </a:pP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1937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Hans Adolf Krebs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（汉斯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阿道夫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克雷布斯）确定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三羧酸循环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348" y="152486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" r="9846"/>
          <a:stretch>
            <a:fillRect/>
          </a:stretch>
        </p:blipFill>
        <p:spPr>
          <a:xfrm rot="5400000">
            <a:off x="4993407" y="518439"/>
            <a:ext cx="6756344" cy="58973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75370" y="2533674"/>
            <a:ext cx="1435086" cy="15239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381150" y="962030"/>
            <a:ext cx="4876672" cy="5797550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6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1869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，瑞士科学家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Friedrich Miescher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（弗雷德里希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米歇尔 </a:t>
            </a:r>
            <a:r>
              <a:rPr lang="en-US" altLang="zh-CN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，从外科绷带上脓细胞的细胞核中，分离得到一种被酸沉淀、加碱中和后再溶于水，其特性不同于蛋白质和脂肪的物质，他认为是新的物质，并猜测其来源于细胞核，当时称核素（</a:t>
            </a:r>
            <a:r>
              <a:rPr lang="en-US" altLang="zh-CN" sz="2400" dirty="0" err="1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nuclein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Miescher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被认为是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DNA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的发现者</a:t>
            </a:r>
            <a:r>
              <a:rPr lang="zh-CN" altLang="en-US" sz="2400" dirty="0">
                <a:solidFill>
                  <a:srgbClr val="33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33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348" y="152486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" r="9846"/>
          <a:stretch>
            <a:fillRect/>
          </a:stretch>
        </p:blipFill>
        <p:spPr>
          <a:xfrm rot="5400000">
            <a:off x="4980741" y="480305"/>
            <a:ext cx="6756344" cy="58973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601108" y="4114782"/>
            <a:ext cx="1435086" cy="15239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381150" y="1143000"/>
            <a:ext cx="4876672" cy="579755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7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1944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年由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Avery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（埃弗里）等在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Griffith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的基础上，证明了使生物遗传特性发生改变的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因子是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，而不是蛋白质。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7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1952年，研究噬菌体的美国微生物学家Hershey (赫尔希)及Chase（蔡司）通过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噬菌体感染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实验证明DNA是遗传物质。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7"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348" y="152486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" r="9846"/>
          <a:stretch>
            <a:fillRect/>
          </a:stretch>
        </p:blipFill>
        <p:spPr>
          <a:xfrm rot="5400000">
            <a:off x="4980741" y="480305"/>
            <a:ext cx="6756344" cy="58973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172198" y="2286030"/>
            <a:ext cx="1752554" cy="22859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8534336" y="2133634"/>
            <a:ext cx="2285940" cy="15239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type="body" idx="4294967295"/>
          </p:nvPr>
        </p:nvSpPr>
        <p:spPr>
          <a:xfrm>
            <a:off x="381150" y="1143000"/>
            <a:ext cx="4648078" cy="579755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9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1953年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，Watson 和Crick描绘出了DNA的双螺旋结构模型，生命科学从此进入了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分子生物学新时代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8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1200"/>
              </a:spcBef>
              <a:buFont typeface="+mj-ea"/>
              <a:buAutoNum type="circleNumDbPlain" startAt="8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7348" y="152486"/>
            <a:ext cx="7594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" r="9846"/>
          <a:stretch>
            <a:fillRect/>
          </a:stretch>
        </p:blipFill>
        <p:spPr>
          <a:xfrm rot="5400000">
            <a:off x="4980741" y="480305"/>
            <a:ext cx="6756344" cy="58973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534336" y="1981238"/>
            <a:ext cx="2285940" cy="152396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3" descr="image1"/>
          <p:cNvPicPr>
            <a:picLocks noChangeAspect="1" noChangeArrowheads="1"/>
          </p:cNvPicPr>
          <p:nvPr/>
        </p:nvPicPr>
        <p:blipFill>
          <a:blip r:embed="rId2"/>
          <a:srcRect t="1793" b="1462"/>
          <a:stretch>
            <a:fillRect/>
          </a:stretch>
        </p:blipFill>
        <p:spPr bwMode="auto">
          <a:xfrm>
            <a:off x="1524120" y="3581396"/>
            <a:ext cx="2309304" cy="29907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"/>
          <p:cNvSpPr>
            <a:spLocks noGrp="1"/>
          </p:cNvSpPr>
          <p:nvPr>
            <p:ph type="body" idx="4294967295"/>
          </p:nvPr>
        </p:nvSpPr>
        <p:spPr>
          <a:xfrm>
            <a:off x="1676516" y="1676446"/>
            <a:ext cx="9448552" cy="6215063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50年代</a:t>
            </a:r>
            <a:r>
              <a:rPr lang="en-US" altLang="zh-CN" sz="2800" b="1" dirty="0"/>
              <a:t>：</a:t>
            </a:r>
            <a:r>
              <a:rPr lang="zh-CN" altLang="en-US" sz="2400" b="1" dirty="0"/>
              <a:t>蛋白质</a:t>
            </a:r>
            <a:r>
              <a:rPr lang="en-US" altLang="zh-CN" sz="2400" b="1" dirty="0"/>
              <a:t>α-</a:t>
            </a:r>
            <a:r>
              <a:rPr lang="zh-CN" altLang="en-US" sz="2400" b="1" dirty="0"/>
              <a:t>螺旋结构的发现；</a:t>
            </a:r>
            <a:r>
              <a:rPr lang="en-US" altLang="zh-CN" sz="2400" b="1" dirty="0"/>
              <a:t>1953</a:t>
            </a:r>
            <a:r>
              <a:rPr lang="zh-CN" altLang="en-US" sz="2400" b="1" dirty="0"/>
              <a:t>年</a:t>
            </a:r>
            <a:r>
              <a:rPr lang="en-US" altLang="zh-CN" sz="2400" b="1" dirty="0"/>
              <a:t>Watson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Crick</a:t>
            </a:r>
            <a:r>
              <a:rPr lang="zh-CN" altLang="en-US" sz="2400" b="1" dirty="0"/>
              <a:t>提出了</a:t>
            </a:r>
            <a:r>
              <a:rPr lang="en-US" altLang="zh-CN" sz="2400" b="1" dirty="0"/>
              <a:t>DNA</a:t>
            </a:r>
            <a:r>
              <a:rPr lang="zh-CN" altLang="en-US" sz="2400" b="1" dirty="0"/>
              <a:t>双螺旋结构模型</a:t>
            </a:r>
            <a:r>
              <a:rPr lang="en-US" altLang="zh-CN" sz="2800" b="1" dirty="0">
                <a:solidFill>
                  <a:srgbClr val="FF0000"/>
                </a:solidFill>
              </a:rPr>
              <a:t>--</a:t>
            </a:r>
            <a:r>
              <a:rPr lang="zh-CN" altLang="en-US" sz="2800" b="1" dirty="0">
                <a:solidFill>
                  <a:srgbClr val="FF0000"/>
                </a:solidFill>
              </a:rPr>
              <a:t>分子生物学的里程碑</a:t>
            </a:r>
            <a:r>
              <a:rPr lang="zh-CN" altLang="en-US" sz="2400" b="1" dirty="0"/>
              <a:t>；中心法则的提出；遗传密码的破译</a:t>
            </a:r>
            <a:r>
              <a:rPr lang="en-US" altLang="zh-CN" sz="2400" b="1" dirty="0"/>
              <a:t>……</a:t>
            </a:r>
            <a:endParaRPr lang="en-US" altLang="zh-CN" sz="2400" b="1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70年代</a:t>
            </a:r>
            <a:r>
              <a:rPr lang="en-US" altLang="zh-CN" sz="2800" b="1" dirty="0"/>
              <a:t>：</a:t>
            </a:r>
            <a:r>
              <a:rPr lang="en-US" altLang="zh-CN" sz="2400" b="1" dirty="0"/>
              <a:t>DNA</a:t>
            </a:r>
            <a:r>
              <a:rPr lang="zh-CN" altLang="en-US" sz="2400" b="1" dirty="0"/>
              <a:t>重组技术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基因工程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、基因诊断、基因治疗的发展。</a:t>
            </a:r>
            <a:endParaRPr lang="zh-CN" altLang="en-US" sz="2400" b="1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80年代</a:t>
            </a:r>
            <a:r>
              <a:rPr lang="en-US" altLang="zh-CN" sz="2800" b="1" dirty="0"/>
              <a:t>：</a:t>
            </a:r>
            <a:r>
              <a:rPr lang="en-US" altLang="zh-CN" sz="2400" b="1" dirty="0"/>
              <a:t>PCR</a:t>
            </a:r>
            <a:r>
              <a:rPr lang="zh-CN" altLang="en-US" sz="2400" b="1" dirty="0"/>
              <a:t>技术、核酶（</a:t>
            </a:r>
            <a:r>
              <a:rPr lang="en-US" altLang="zh-CN" sz="2400" b="1" dirty="0"/>
              <a:t>ribozyme</a:t>
            </a:r>
            <a:r>
              <a:rPr lang="zh-CN" altLang="en-US" sz="2400" b="1" dirty="0"/>
              <a:t>）等。</a:t>
            </a:r>
            <a:endParaRPr lang="zh-CN" altLang="en-US" sz="2400" b="1" dirty="0"/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年代</a:t>
            </a:r>
            <a:r>
              <a:rPr lang="zh-CN" altLang="en-US" sz="2800" b="1" dirty="0"/>
              <a:t>：</a:t>
            </a:r>
            <a:r>
              <a:rPr lang="zh-CN" altLang="en-US" sz="2400" b="1" dirty="0"/>
              <a:t>人类基因组计划（约</a:t>
            </a:r>
            <a:r>
              <a:rPr lang="en-US" altLang="zh-CN" sz="2400" b="1" dirty="0"/>
              <a:t>3.0×10</a:t>
            </a:r>
            <a:r>
              <a:rPr lang="en-US" altLang="zh-CN" sz="2400" b="1" baseline="30000" dirty="0"/>
              <a:t>9</a:t>
            </a:r>
            <a:r>
              <a:rPr lang="zh-CN" altLang="en-US" sz="2400" b="1" dirty="0"/>
              <a:t>碱基、</a:t>
            </a:r>
            <a:r>
              <a:rPr lang="en-US" altLang="zh-CN" sz="2400" b="1" dirty="0"/>
              <a:t>2</a:t>
            </a:r>
            <a:r>
              <a:rPr lang="en-US" altLang="en-US" sz="2800" b="1" dirty="0"/>
              <a:t>～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万个基因）、后基因组时代（蛋白质组学、生物信息学</a:t>
            </a:r>
            <a:r>
              <a:rPr lang="en-US" altLang="zh-CN" sz="2800" b="1" dirty="0">
                <a:ea typeface="华文楷体" panose="02010600040101010101" pitchFamily="2" charset="-122"/>
              </a:rPr>
              <a:t>……</a:t>
            </a:r>
            <a:r>
              <a:rPr lang="zh-CN" altLang="en-US" sz="2800" b="1" dirty="0">
                <a:ea typeface="华文楷体" panose="02010600040101010101" pitchFamily="2" charset="-122"/>
              </a:rPr>
              <a:t>）</a:t>
            </a:r>
            <a:endParaRPr lang="zh-CN" altLang="en-US" sz="2800" b="1" dirty="0">
              <a:ea typeface="华文楷体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86258" y="76288"/>
            <a:ext cx="756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内容占位符 6"/>
          <p:cNvSpPr>
            <a:spLocks noGrp="1"/>
          </p:cNvSpPr>
          <p:nvPr>
            <p:ph sz="half" idx="4294967295"/>
          </p:nvPr>
        </p:nvSpPr>
        <p:spPr>
          <a:xfrm>
            <a:off x="1447922" y="990664"/>
            <a:ext cx="9569132" cy="2571750"/>
          </a:xfrm>
        </p:spPr>
        <p:txBody>
          <a:bodyPr vert="horz" wrap="square" lIns="91440" tIns="45720" rIns="91440" bIns="45720" anchor="t" anchorCtr="0">
            <a:normAutofit/>
          </a:bodyPr>
          <a:lstStyle>
            <a:lvl1pPr lvl="0">
              <a:buClrTx/>
              <a:buSzTx/>
              <a:buFontTx/>
              <a:defRPr sz="2800"/>
            </a:lvl1pPr>
            <a:lvl2pPr lvl="1">
              <a:buClrTx/>
              <a:buSzTx/>
              <a:buFontTx/>
              <a:defRPr sz="2400"/>
            </a:lvl2pPr>
            <a:lvl3pPr lvl="2">
              <a:buClrTx/>
              <a:buSzTx/>
              <a:buFontTx/>
              <a:defRPr sz="2000"/>
            </a:lvl3pPr>
            <a:lvl4pPr lvl="3">
              <a:buClrTx/>
              <a:buSzTx/>
              <a:buFontTx/>
              <a:defRPr sz="1800"/>
            </a:lvl4pPr>
            <a:lvl5pPr lvl="4">
              <a:buClrTx/>
              <a:buSzTx/>
              <a:buFontTx/>
              <a:defRPr sz="1800"/>
            </a:lvl5pPr>
          </a:lstStyle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</a:rPr>
              <a:t>分子生物学</a:t>
            </a:r>
            <a:r>
              <a:rPr lang="zh-CN" altLang="en-US" sz="2400" b="1" dirty="0"/>
              <a:t>从根本上改变了生命科学的面貌，极大地丰富和扩展了生物化学的内涵。一方面，经典的</a:t>
            </a:r>
            <a:r>
              <a:rPr lang="zh-CN" altLang="en-US" sz="2400" b="1" dirty="0">
                <a:solidFill>
                  <a:srgbClr val="C00000"/>
                </a:solidFill>
              </a:rPr>
              <a:t>生物化学原理</a:t>
            </a:r>
            <a:r>
              <a:rPr lang="zh-CN" altLang="en-US" sz="2400" b="1" dirty="0"/>
              <a:t>不断得到验证，另一方面，人们对</a:t>
            </a:r>
            <a:r>
              <a:rPr lang="zh-CN" altLang="en-US" sz="2400" b="1" dirty="0">
                <a:solidFill>
                  <a:srgbClr val="C00000"/>
                </a:solidFill>
              </a:rPr>
              <a:t>生命的化学过程</a:t>
            </a:r>
            <a:r>
              <a:rPr lang="zh-CN" altLang="en-US" sz="2400" b="1" dirty="0"/>
              <a:t>的认识不断更新和深化。</a:t>
            </a:r>
            <a:endParaRPr lang="zh-CN" altLang="en-US" sz="2400" b="1" dirty="0"/>
          </a:p>
        </p:txBody>
      </p:sp>
      <p:sp>
        <p:nvSpPr>
          <p:cNvPr id="72707" name="内容占位符 7"/>
          <p:cNvSpPr>
            <a:spLocks noGrp="1"/>
          </p:cNvSpPr>
          <p:nvPr>
            <p:ph sz="half" idx="4294967295"/>
          </p:nvPr>
        </p:nvSpPr>
        <p:spPr>
          <a:xfrm>
            <a:off x="1447922" y="2698710"/>
            <a:ext cx="9569132" cy="3786188"/>
          </a:xfrm>
        </p:spPr>
        <p:txBody>
          <a:bodyPr vert="horz" wrap="square" lIns="91440" tIns="45720" rIns="91440" bIns="45720" anchor="t" anchorCtr="0">
            <a:noAutofit/>
          </a:bodyPr>
          <a:lstStyle>
            <a:lvl1pPr lvl="0">
              <a:buClrTx/>
              <a:buSzTx/>
              <a:buFontTx/>
              <a:defRPr sz="2800"/>
            </a:lvl1pPr>
            <a:lvl2pPr lvl="1">
              <a:buClrTx/>
              <a:buSzTx/>
              <a:buFontTx/>
              <a:defRPr sz="2400"/>
            </a:lvl2pPr>
            <a:lvl3pPr lvl="2">
              <a:buClrTx/>
              <a:buSzTx/>
              <a:buFontTx/>
              <a:defRPr sz="2000"/>
            </a:lvl3pPr>
            <a:lvl4pPr lvl="3">
              <a:buClrTx/>
              <a:buSzTx/>
              <a:buFontTx/>
              <a:defRPr sz="1800"/>
            </a:lvl4pPr>
            <a:lvl5pPr lvl="4">
              <a:buClrTx/>
              <a:buSzTx/>
              <a:buFontTx/>
              <a:defRPr sz="1800"/>
            </a:lvl5pPr>
          </a:lstStyle>
          <a:p>
            <a:pPr lvl="0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cs typeface="微软雅黑" panose="020B0503020204020204" pitchFamily="34" charset="-122"/>
              </a:rPr>
              <a:t>现代生物化学已经从各个方面融入了生命科学发展的主流，其研究主要集中在以下几个方面： </a:t>
            </a:r>
            <a:endParaRPr lang="zh-CN" altLang="en-US" sz="2400" dirty="0">
              <a:cs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cs typeface="微软雅黑" panose="020B0503020204020204" pitchFamily="34" charset="-122"/>
              </a:rPr>
              <a:t>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生物大分子的结构、功能与相互作用 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基因组学与蛋白质组学 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基因表达的调节 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细胞信号的传导 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Char char="F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生物工程学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86258" y="76288"/>
            <a:ext cx="756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/>
          </p:cNvSpPr>
          <p:nvPr>
            <p:ph type="title" idx="4294967295"/>
          </p:nvPr>
        </p:nvSpPr>
        <p:spPr>
          <a:xfrm>
            <a:off x="3717925" y="0"/>
            <a:ext cx="6764337" cy="1071562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type="body" idx="4294967295"/>
          </p:nvPr>
        </p:nvSpPr>
        <p:spPr>
          <a:xfrm>
            <a:off x="1447922" y="1676446"/>
            <a:ext cx="9524750" cy="4714875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/>
              <a:t>第一阶段（</a:t>
            </a:r>
            <a:r>
              <a:rPr lang="en-US" sz="2800" b="1" dirty="0"/>
              <a:t>1770-1900</a:t>
            </a:r>
            <a:r>
              <a:rPr lang="zh-CN" altLang="en-US" sz="2800" b="1" dirty="0"/>
              <a:t>）：静态生物化学</a:t>
            </a:r>
            <a:endParaRPr lang="zh-CN" altLang="en-US" sz="2800" b="1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sz="2400" dirty="0">
                <a:cs typeface="微软雅黑" panose="020B0503020204020204" pitchFamily="34" charset="-122"/>
              </a:rPr>
              <a:t>以研究各种</a:t>
            </a:r>
            <a:r>
              <a:rPr sz="2400" u="sng" dirty="0">
                <a:cs typeface="微软雅黑" panose="020B0503020204020204" pitchFamily="34" charset="-122"/>
              </a:rPr>
              <a:t>生物体的化学成分</a:t>
            </a:r>
            <a:r>
              <a:rPr sz="2400" dirty="0">
                <a:cs typeface="微软雅黑" panose="020B0503020204020204" pitchFamily="34" charset="-122"/>
              </a:rPr>
              <a:t>为主，研究这些成分的分离、纯化和性质</a:t>
            </a:r>
            <a:r>
              <a:rPr lang="zh-CN" altLang="en-US" sz="2400" dirty="0">
                <a:cs typeface="微软雅黑" panose="020B0503020204020204" pitchFamily="34" charset="-122"/>
              </a:rPr>
              <a:t>。</a:t>
            </a:r>
            <a:endParaRPr lang="zh-CN" altLang="en-US" sz="2400" dirty="0"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sz="2400" u="sng" dirty="0">
                <a:cs typeface="微软雅黑" panose="020B0503020204020204" pitchFamily="34" charset="-122"/>
              </a:rPr>
              <a:t>主要成就有</a:t>
            </a:r>
            <a:r>
              <a:rPr sz="2400" dirty="0">
                <a:cs typeface="微软雅黑" panose="020B0503020204020204" pitchFamily="34" charset="-122"/>
              </a:rPr>
              <a:t>：从动、植物产物中分离出多种氨基酸，甘油、</a:t>
            </a:r>
            <a:r>
              <a:rPr lang="zh-CN" altLang="en-US" sz="2400" dirty="0">
                <a:cs typeface="微软雅黑" panose="020B0503020204020204" pitchFamily="34" charset="-122"/>
              </a:rPr>
              <a:t>柠</a:t>
            </a:r>
            <a:r>
              <a:rPr sz="2400" dirty="0">
                <a:cs typeface="微软雅黑" panose="020B0503020204020204" pitchFamily="34" charset="-122"/>
              </a:rPr>
              <a:t>檬酸、乳酸、尿酸、糖原，核酸、胰酶等，并对它们的化学结构进行了分析和测定</a:t>
            </a:r>
            <a:r>
              <a:rPr lang="zh-CN" altLang="en-US" sz="2400" dirty="0">
                <a:cs typeface="微软雅黑" panose="020B0503020204020204" pitchFamily="34" charset="-122"/>
              </a:rPr>
              <a:t>。</a:t>
            </a:r>
            <a:endParaRPr sz="2400" dirty="0">
              <a:cs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</a:pPr>
            <a:endParaRPr lang="zh-CN" altLang="en-US" sz="2400" dirty="0">
              <a:solidFill>
                <a:srgbClr val="040000"/>
              </a:solidFill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/>
          </p:cNvSpPr>
          <p:nvPr>
            <p:ph type="title" idx="4294967295"/>
          </p:nvPr>
        </p:nvSpPr>
        <p:spPr>
          <a:xfrm>
            <a:off x="3657664" y="0"/>
            <a:ext cx="6764337" cy="1071563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type="body" idx="4294967295"/>
          </p:nvPr>
        </p:nvSpPr>
        <p:spPr>
          <a:xfrm>
            <a:off x="1295526" y="1676400"/>
            <a:ext cx="9278922" cy="4714875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/>
              <a:t>第二阶段（</a:t>
            </a:r>
            <a:r>
              <a:rPr lang="en-US" sz="2800" b="1" dirty="0"/>
              <a:t>1900-1950</a:t>
            </a:r>
            <a:r>
              <a:rPr lang="zh-CN" altLang="en-US" sz="2800" b="1" dirty="0"/>
              <a:t>）：动态生物化学</a:t>
            </a:r>
            <a:endParaRPr lang="zh-CN" altLang="en-US" sz="2800" b="1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sz="2400" dirty="0">
                <a:cs typeface="微软雅黑" panose="020B0503020204020204" pitchFamily="34" charset="-122"/>
              </a:rPr>
              <a:t>研究活生物和活细胞内发生的各种化学变化、酶促反应，即</a:t>
            </a:r>
            <a:r>
              <a:rPr sz="2400" u="sng" dirty="0">
                <a:cs typeface="微软雅黑" panose="020B0503020204020204" pitchFamily="34" charset="-122"/>
              </a:rPr>
              <a:t>新陈代谢</a:t>
            </a:r>
            <a:r>
              <a:rPr lang="zh-CN" altLang="en-US" sz="2400" dirty="0">
                <a:cs typeface="微软雅黑" panose="020B0503020204020204" pitchFamily="34" charset="-122"/>
              </a:rPr>
              <a:t>。</a:t>
            </a:r>
            <a:endParaRPr lang="zh-CN" altLang="en-US" sz="2400" dirty="0"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sz="2400" u="sng" dirty="0">
                <a:cs typeface="微软雅黑" panose="020B0503020204020204" pitchFamily="34" charset="-122"/>
              </a:rPr>
              <a:t>主要成就有</a:t>
            </a:r>
            <a:r>
              <a:rPr sz="2400" dirty="0">
                <a:cs typeface="微软雅黑" panose="020B0503020204020204" pitchFamily="34" charset="-122"/>
              </a:rPr>
              <a:t>：分离纯化出多种结晶酶，确定了酶的蛋白质化学本质，发展了酶促化学动力学，搞清楚了糖酵解途径，提出了 Krebs 循环（</a:t>
            </a:r>
            <a:r>
              <a:rPr lang="zh-CN" altLang="en-US" sz="2400" dirty="0">
                <a:cs typeface="微软雅黑" panose="020B0503020204020204" pitchFamily="34" charset="-122"/>
              </a:rPr>
              <a:t>柠</a:t>
            </a:r>
            <a:r>
              <a:rPr sz="2400" dirty="0">
                <a:cs typeface="微软雅黑" panose="020B0503020204020204" pitchFamily="34" charset="-122"/>
              </a:rPr>
              <a:t>檬酸循环），阐明了氧化磷酸化、光合磷酸化、电子传递链、脂肪酸 </a:t>
            </a:r>
            <a:r>
              <a:rPr lang="en-US" sz="2400" dirty="0">
                <a:cs typeface="微软雅黑" panose="020B0503020204020204" pitchFamily="34" charset="-122"/>
              </a:rPr>
              <a:t>β</a:t>
            </a:r>
            <a:r>
              <a:rPr sz="2400" dirty="0">
                <a:cs typeface="微软雅黑" panose="020B0503020204020204" pitchFamily="34" charset="-122"/>
              </a:rPr>
              <a:t>- 氧化和尿素循环等途径</a:t>
            </a:r>
            <a:r>
              <a:rPr lang="zh-CN" altLang="en-US" sz="2400" dirty="0">
                <a:cs typeface="微软雅黑" panose="020B0503020204020204" pitchFamily="34" charset="-122"/>
              </a:rPr>
              <a:t>。</a:t>
            </a:r>
            <a:endParaRPr lang="zh-CN" altLang="en-US" sz="2400" dirty="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/>
          </p:cNvSpPr>
          <p:nvPr>
            <p:ph type="title" idx="4294967295"/>
          </p:nvPr>
        </p:nvSpPr>
        <p:spPr>
          <a:xfrm>
            <a:off x="3733862" y="0"/>
            <a:ext cx="6764337" cy="1071563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生物化学的发展简史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type="body" idx="4294967295"/>
          </p:nvPr>
        </p:nvSpPr>
        <p:spPr>
          <a:xfrm>
            <a:off x="1828912" y="1441450"/>
            <a:ext cx="8982075" cy="4714875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dirty="0"/>
              <a:t>第三阶段（</a:t>
            </a:r>
            <a:r>
              <a:rPr lang="en-US" sz="2800" b="1" dirty="0"/>
              <a:t>1950-</a:t>
            </a:r>
            <a:r>
              <a:rPr lang="zh-CN" altLang="en-US" sz="2800" b="1" dirty="0"/>
              <a:t>）：研究生物大分子的结构与功能，进入分子生物学时代。</a:t>
            </a:r>
            <a:endParaRPr lang="zh-CN" altLang="en-US" sz="2800" b="1" dirty="0"/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sz="2400" dirty="0">
                <a:cs typeface="微软雅黑" panose="020B0503020204020204" pitchFamily="34" charset="-122"/>
              </a:rPr>
              <a:t>测定了一大批蛋白质和酶分子的一级结构（氨基酸序列）；建立了</a:t>
            </a:r>
            <a:r>
              <a:rPr sz="2400" dirty="0">
                <a:solidFill>
                  <a:srgbClr val="C00000"/>
                </a:solidFill>
                <a:cs typeface="微软雅黑" panose="020B0503020204020204" pitchFamily="34" charset="-122"/>
              </a:rPr>
              <a:t> </a:t>
            </a:r>
            <a:r>
              <a:rPr sz="2400" u="sng" dirty="0">
                <a:solidFill>
                  <a:srgbClr val="C00000"/>
                </a:solidFill>
                <a:cs typeface="微软雅黑" panose="020B0503020204020204" pitchFamily="34" charset="-122"/>
              </a:rPr>
              <a:t>DNA 分子的双螺旋结构模型</a:t>
            </a:r>
            <a:r>
              <a:rPr sz="2400" dirty="0">
                <a:cs typeface="微软雅黑" panose="020B0503020204020204" pitchFamily="34" charset="-122"/>
              </a:rPr>
              <a:t>；</a:t>
            </a:r>
            <a:endParaRPr sz="2400" dirty="0"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sz="2400" dirty="0">
                <a:cs typeface="微软雅黑" panose="020B0503020204020204" pitchFamily="34" charset="-122"/>
              </a:rPr>
              <a:t>阐明了遗传信息的传递和表达（复制 、转录和翻译 ）全过程；</a:t>
            </a:r>
            <a:endParaRPr sz="2400" dirty="0"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sz="2400" dirty="0">
                <a:cs typeface="微软雅黑" panose="020B0503020204020204" pitchFamily="34" charset="-122"/>
                <a:sym typeface="+mn-ea"/>
              </a:rPr>
              <a:t>完成了许多个物种的基因组测序；</a:t>
            </a:r>
            <a:endParaRPr sz="2400" dirty="0"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sz="2400" dirty="0">
                <a:cs typeface="微软雅黑" panose="020B0503020204020204" pitchFamily="34" charset="-122"/>
              </a:rPr>
              <a:t>此外，代谢和基因表达调控、分子克隆技术等诸方面也都有突破性的成就</a:t>
            </a:r>
            <a:r>
              <a:rPr lang="zh-CN" altLang="en-US" sz="2400" dirty="0">
                <a:cs typeface="微软雅黑" panose="020B0503020204020204" pitchFamily="34" charset="-122"/>
              </a:rPr>
              <a:t>。</a:t>
            </a:r>
            <a:endParaRPr lang="zh-CN" altLang="en-US" sz="2400" dirty="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/>
          </p:cNvSpPr>
          <p:nvPr/>
        </p:nvSpPr>
        <p:spPr>
          <a:xfrm>
            <a:off x="2562225" y="-28575"/>
            <a:ext cx="7194550" cy="8366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生物化学领域的诺贝尔奖简介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86100" y="1524050"/>
            <a:ext cx="8381780" cy="4294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b="1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1901-2022</a:t>
            </a:r>
            <a:r>
              <a:rPr lang="zh-CN" altLang="en-US" b="1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年，诺贝尔化学奖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https://www.nobelprize.org/prizes/lists/all-nobel-prizes-in-chemistry/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1901-2022 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年，诺贝尔生理学或医学奖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https://www.nobelprize.org/prizes/lists/all-nobel-laureates-in-physiology-or-medicine/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19644" y="5469346"/>
            <a:ext cx="5654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不完全统计：</a:t>
            </a:r>
            <a:r>
              <a:rPr lang="en-US" altLang="zh-CN" sz="2800" b="1" i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zh-CN" altLang="en-US" sz="2800" b="1" i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次与生物化学相关</a:t>
            </a:r>
            <a:endParaRPr lang="zh-CN" altLang="en-US" sz="2800" b="1" i="1" u="sng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grayscl/>
            <a:lum bright="78000" contras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" y="-21967"/>
            <a:ext cx="12253595" cy="6913880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1458595" y="2236035"/>
            <a:ext cx="9144000" cy="1809759"/>
            <a:chOff x="170694" y="178257"/>
            <a:chExt cx="3936004" cy="779005"/>
          </a:xfrm>
        </p:grpSpPr>
        <p:sp>
          <p:nvSpPr>
            <p:cNvPr id="17" name="矩形 16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rgbClr val="C4C7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solidFill>
                  <a:srgbClr val="4CA6C6"/>
                </a:solidFill>
              </a:endParaRPr>
            </a:p>
          </p:txBody>
        </p:sp>
        <p:sp>
          <p:nvSpPr>
            <p:cNvPr id="18" name="平行四边形 17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3381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92173" y="334330"/>
              <a:ext cx="1338788" cy="46658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en-US" altLang="zh-CN" sz="6600" dirty="0">
                  <a:solidFill>
                    <a:schemeClr val="bg1">
                      <a:lumMod val="95000"/>
                    </a:schemeClr>
                  </a:solidFill>
                  <a:latin typeface="Impact" panose="020B0806030902050204" pitchFamily="34" charset="0"/>
                </a:rPr>
                <a:t>1.2</a:t>
              </a:r>
              <a:endParaRPr lang="en-US" altLang="zh-CN" sz="6600" dirty="0">
                <a:solidFill>
                  <a:schemeClr val="bg1">
                    <a:lumMod val="9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0" name="TextBox 48"/>
          <p:cNvSpPr txBox="1"/>
          <p:nvPr/>
        </p:nvSpPr>
        <p:spPr>
          <a:xfrm>
            <a:off x="4690745" y="2736851"/>
            <a:ext cx="6250940" cy="80708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化学基础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/>
          </p:cNvSpPr>
          <p:nvPr/>
        </p:nvSpPr>
        <p:spPr>
          <a:xfrm>
            <a:off x="1371724" y="21044"/>
            <a:ext cx="8901430" cy="936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</a:pP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53030" y="1295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590892" y="213363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572000" y="1828800"/>
            <a:ext cx="5718175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细胞学基础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化学基础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物理学基础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遗传学基础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进化基础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4724436" y="84050"/>
            <a:ext cx="6250940" cy="68480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本节内容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066801"/>
            <a:ext cx="6765290" cy="546290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746500" y="2559050"/>
            <a:ext cx="3886200" cy="2286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0" hangingPunct="0"/>
            <a:endParaRPr lang="en-US" altLang="en-US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4895" y="1896496"/>
            <a:ext cx="2926247" cy="662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碳基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82001" y="1066800"/>
            <a:ext cx="1980029" cy="49962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人体的元素组成</a:t>
            </a:r>
            <a:endParaRPr lang="zh-CN" altLang="en-US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4691" y="2763838"/>
            <a:ext cx="2926247" cy="2243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生物体的化学成分是围绕着碳组织的，碳占细胞干重的一半以上。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904730" y="4343401"/>
            <a:ext cx="2540000" cy="4181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钼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04730" y="3963671"/>
            <a:ext cx="2540000" cy="4181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硒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904730" y="5257801"/>
            <a:ext cx="2540000" cy="4181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铬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904730" y="5563871"/>
            <a:ext cx="2540000" cy="4181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锡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904731" y="2973070"/>
            <a:ext cx="953135" cy="4589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钴</a:t>
            </a:r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Rectangle 2"/>
          <p:cNvSpPr>
            <a:spLocks noGrp="1"/>
          </p:cNvSpPr>
          <p:nvPr/>
        </p:nvSpPr>
        <p:spPr>
          <a:xfrm>
            <a:off x="1645285" y="-98425"/>
            <a:ext cx="8901430" cy="936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化学基础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954" y="1878118"/>
            <a:ext cx="8267700" cy="31775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99506" y="5243195"/>
            <a:ext cx="9325562" cy="16890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u="sng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碳键的多功能性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，碳可以形成共价的单键、双键和三键（所有红色键），特别是与其他碳原子。三重键在生物分子中很少见。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76954" y="1228916"/>
            <a:ext cx="6635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生物分子是具有多种官能团的碳化合物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709442" y="-149501"/>
            <a:ext cx="8901430" cy="936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化学基础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981200" y="3124201"/>
            <a:ext cx="890143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碳键的几何形状：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(a)碳原子的四个单键具有其特有的四面体排列方式。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(b)碳-碳单键具有旋转自由度，如化合物乙烷(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</a:t>
            </a:r>
            <a:r>
              <a:rPr lang="zh-CN" altLang="en-US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-CH</a:t>
            </a:r>
            <a:r>
              <a:rPr lang="zh-CN" altLang="en-US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)所示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(c)双键较短，不允许自由旋转。两个双键碳和原子A、B、X、Y等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六个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原子都位于同一个刚性平面上。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445895"/>
            <a:ext cx="7719060" cy="1668780"/>
          </a:xfrm>
          <a:prstGeom prst="rect">
            <a:avLst/>
          </a:prstGeom>
        </p:spPr>
      </p:pic>
      <p:sp>
        <p:nvSpPr>
          <p:cNvPr id="4" name="Rectangle 2"/>
          <p:cNvSpPr>
            <a:spLocks noGrp="1"/>
          </p:cNvSpPr>
          <p:nvPr/>
        </p:nvSpPr>
        <p:spPr>
          <a:xfrm>
            <a:off x="1645285" y="-78105"/>
            <a:ext cx="8901430" cy="936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化学基础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0458" y="93137"/>
            <a:ext cx="6635664" cy="6670675"/>
          </a:xfrm>
          <a:prstGeom prst="rect">
            <a:avLst/>
          </a:prstGeom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242907" y="656383"/>
            <a:ext cx="655955" cy="56938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生物分子的一些常见的官能团</a:t>
            </a:r>
            <a:endParaRPr lang="zh-CN" altLang="en-US" sz="2800" b="1" i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54351" y="579548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甲基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54351" y="1332658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乙基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54351" y="2180383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苯基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54350" y="2864913"/>
            <a:ext cx="137668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羰基（醛）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54350" y="3627548"/>
            <a:ext cx="137668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羰基（酮）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52141" y="4313983"/>
            <a:ext cx="9899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羧基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52140" y="5418248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羟基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52140" y="6066583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烯醇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32985" y="429371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醚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04823" y="1172638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酯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82405" y="2016604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乙酰基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002531" y="3020488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酐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02531" y="3667553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氨基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02531" y="4314618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酰氨基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02531" y="5266483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亚氨基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02530" y="5684313"/>
            <a:ext cx="1793240" cy="3366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取代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亚氨基</a:t>
            </a:r>
            <a:endParaRPr lang="zh-CN" altLang="en-US" sz="12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162772" y="409831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胍基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99961" y="1494583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咪唑基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299961" y="2181018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巯基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299960" y="2643077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二硫醚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99961" y="3497373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硫酯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99961" y="4390183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磷酰基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299961" y="5234733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磷酸酐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99960" y="5685583"/>
            <a:ext cx="2540000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混合酐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6896" y="1284605"/>
            <a:ext cx="8367395" cy="45910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34820" y="5851871"/>
            <a:ext cx="9009258" cy="662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生物分子中的几个常见的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官能团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（例如，乙酰辅酶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362201" y="1676401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硫酯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33801" y="1676401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酰胺基</a:t>
            </a:r>
            <a:endParaRPr lang="en-US" altLang="zh-CN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08676" y="2667001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羟基</a:t>
            </a:r>
            <a:endParaRPr lang="en-US" altLang="zh-CN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312661" y="1447801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磷酸酐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24366" y="989966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氨基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594726" y="1294766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咪唑基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128126" y="3810001"/>
            <a:ext cx="1066165" cy="3774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磷酰基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Rectangle 2"/>
          <p:cNvSpPr>
            <a:spLocks noGrp="1"/>
          </p:cNvSpPr>
          <p:nvPr/>
        </p:nvSpPr>
        <p:spPr>
          <a:xfrm>
            <a:off x="1645285" y="-98107"/>
            <a:ext cx="8901430" cy="936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化学基础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内容占位符 3"/>
          <p:cNvPicPr>
            <a:picLocks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526" y="83428"/>
            <a:ext cx="10105512" cy="65458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3822" y="961042"/>
            <a:ext cx="4975860" cy="304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66932" y="4191001"/>
            <a:ext cx="10210532" cy="16890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当生物分子相互作用时，它们之间的“匹配”必须是立体化学上正确的。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生物分子的三维结构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构型和构象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），在生物相互作用中至关重要：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酶与底物，细胞表面受体与激素，抗原及其特异性抗体。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831341" y="-68580"/>
            <a:ext cx="8810625" cy="936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化学基础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6932" y="2120116"/>
            <a:ext cx="3124118" cy="1308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三维结构由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构型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构象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来描述。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/>
          </p:cNvSpPr>
          <p:nvPr/>
        </p:nvSpPr>
        <p:spPr>
          <a:xfrm>
            <a:off x="1690687" y="-32833"/>
            <a:ext cx="8810625" cy="936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化学基础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2139" y="1031327"/>
            <a:ext cx="10667719" cy="1308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构型（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Configuration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分子中原子的固定空间排列（由于双键，手性中心存在产生异构体，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构型改变需断裂共价键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140" y="2563483"/>
            <a:ext cx="5605150" cy="314380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222" y="2563483"/>
            <a:ext cx="4396855" cy="356894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985153" y="5662313"/>
            <a:ext cx="8914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几何异构                                      旋光异构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49176" y="6132431"/>
            <a:ext cx="1723549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镜像不可重叠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/>
          </p:cNvSpPr>
          <p:nvPr/>
        </p:nvSpPr>
        <p:spPr>
          <a:xfrm>
            <a:off x="1831341" y="-68580"/>
            <a:ext cx="8810625" cy="9366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ctr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化学基础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4" y="1905040"/>
            <a:ext cx="5717770" cy="410964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686732" y="289561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乙烷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0412" y="2014094"/>
            <a:ext cx="5181464" cy="3247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构象（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Conformation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分子中各原子任一瞬的实际相对位置。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单键自旋，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无需共价键断裂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，即可发生构象改变。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46967" y="1524050"/>
            <a:ext cx="3124118" cy="7439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水的电离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38862" y="-76108"/>
            <a:ext cx="531427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水、弱酸和弱碱的电离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6967" y="2382591"/>
            <a:ext cx="5071624" cy="2946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水分子有轻微的发生可逆电离的倾向（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~2/10</a:t>
            </a:r>
            <a:r>
              <a:rPr lang="en-US" altLang="zh-CN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℃），从而产生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氢离子（质子）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氢氧根离子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在水中形成的氢离子立即水合形成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水合氢离子</a:t>
            </a:r>
            <a:r>
              <a:rPr lang="en-US" altLang="zh-CN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(H</a:t>
            </a:r>
            <a:r>
              <a:rPr lang="en-US" altLang="zh-CN" baseline="-2500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O</a:t>
            </a:r>
            <a:r>
              <a:rPr lang="en-US" altLang="zh-CN" baseline="3000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 )</a:t>
            </a:r>
            <a:r>
              <a:rPr lang="zh-CN" altLang="en-US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73410" y="2529657"/>
            <a:ext cx="4676179" cy="10521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977" y="4114782"/>
            <a:ext cx="5384321" cy="995233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06156" y="922030"/>
            <a:ext cx="10080734" cy="7439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水的电离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：平衡常数（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equilibrium constant, K</a:t>
            </a:r>
            <a:r>
              <a:rPr lang="en-US" altLang="zh-CN" sz="2800" b="1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eq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2800" b="1" baseline="-25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81466" y="-47400"/>
            <a:ext cx="4801314" cy="8254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水、弱酸和弱碱的电离</a:t>
            </a:r>
            <a:endParaRPr lang="zh-CN" alt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20606" y="1728595"/>
            <a:ext cx="8871394" cy="3115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水的可逆电离的平衡常数为：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6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25°C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的纯水中，水的浓度为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55.5M: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 g/L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18.015 g/mol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60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="1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eq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的值，由纯水的电导率测量确定，在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25°C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下为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1.8×10</a:t>
            </a:r>
            <a:r>
              <a:rPr lang="en-US" altLang="zh-CN" sz="2000" b="1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−16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31196" y="2305634"/>
            <a:ext cx="2140060" cy="67948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5036" y="2012821"/>
            <a:ext cx="2171812" cy="1600282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31196" y="3562158"/>
            <a:ext cx="6305874" cy="77474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16602" y="4906899"/>
            <a:ext cx="6387843" cy="16286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5036" y="3886188"/>
            <a:ext cx="2794144" cy="628682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03648" y="1371654"/>
            <a:ext cx="8947576" cy="7439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pH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值：表示 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</a:t>
            </a:r>
            <a:r>
              <a:rPr lang="en-US" altLang="zh-CN" sz="3200" b="1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 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OH</a:t>
            </a:r>
            <a:r>
              <a:rPr lang="en-US" altLang="zh-CN" sz="3200" b="1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−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浓度。</a:t>
            </a:r>
            <a:endParaRPr lang="zh-CN" altLang="en-US" sz="3200" b="1" baseline="-25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91169" y="-81496"/>
            <a:ext cx="531427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水、弱酸和弱碱的电离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2044" y="2438426"/>
            <a:ext cx="3270418" cy="3968954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756736" y="4880942"/>
            <a:ext cx="1906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℃时水的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326" y="1234966"/>
            <a:ext cx="2933851" cy="523266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847" y="2852680"/>
            <a:ext cx="3499030" cy="9588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847" y="3811579"/>
            <a:ext cx="3295819" cy="96525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33546" y="1752644"/>
            <a:ext cx="8947576" cy="662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弱酸和碱基：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具有特征的酸解离常数。</a:t>
            </a:r>
            <a:endParaRPr lang="zh-CN" altLang="en-US" sz="2800" b="1" baseline="-25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38862" y="-106952"/>
            <a:ext cx="531427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水、弱酸和弱碱的电离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1857" y="2549360"/>
            <a:ext cx="6771830" cy="3104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每一种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酸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都在水溶液中有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失去质子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的特征倾向。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酸越强，它失去质子的倾向就越大。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任何酸（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）失去一个质子，并形成其共轭碱（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A−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）的趋势，是由可逆反应的平衡常数（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Keq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）来定义的（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酸解离常数：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b="1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l="15100" r="13928" b="10302"/>
          <a:stretch>
            <a:fillRect/>
          </a:stretch>
        </p:blipFill>
        <p:spPr>
          <a:xfrm>
            <a:off x="7848554" y="2060983"/>
            <a:ext cx="3581306" cy="3718422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352872" y="-109033"/>
            <a:ext cx="531427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水、弱酸和弱碱的电离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4436" y="1204103"/>
            <a:ext cx="7226630" cy="444979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172198" y="5660008"/>
            <a:ext cx="75719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共轭酸碱对由一个质子供体和一个质子受体组成。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3546" y="1981238"/>
            <a:ext cx="4038494" cy="195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酸的强度，即酸释放质子的倾向愈强，它的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800" b="1" baseline="-25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愈大，</a:t>
            </a:r>
            <a:r>
              <a:rPr lang="en-US" altLang="zh-CN" sz="2800" b="1" dirty="0" err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800" b="1" baseline="-25000" dirty="0" err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愈小。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59508" y="1234966"/>
            <a:ext cx="4874512" cy="6625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滴定曲线：揭示弱酸的 </a:t>
            </a:r>
            <a:r>
              <a:rPr lang="en-US" altLang="zh-CN" sz="28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pK</a:t>
            </a:r>
            <a:r>
              <a:rPr lang="en-US" altLang="zh-CN" sz="2800" b="1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endParaRPr lang="zh-CN" altLang="en-US" sz="2800" b="1" baseline="-25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69962" y="-129981"/>
            <a:ext cx="531427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水、弱酸和弱碱的电离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7100" y="990664"/>
            <a:ext cx="5670895" cy="58238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9507" y="1972982"/>
            <a:ext cx="5670895" cy="4039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滴定曲线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值与添加的 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NaOH 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量的关系图。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滴定的中点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midpoint)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，即准确加入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当量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NaOH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的地方有一半原来的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醋酸发生解离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，结果质子供体的浓度等于质子接纳体的浓度，即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] =[Ac]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在此中点，呈现一个很重要的关系式：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HAc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的等浓度溶液的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，在数值上精确地等于醋酸的</a:t>
            </a:r>
            <a:r>
              <a:rPr lang="en-US" altLang="zh-CN" sz="20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</a:t>
            </a:r>
            <a:r>
              <a:rPr lang="en-US" altLang="zh-CN" sz="2000" b="1" baseline="-25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19960" y="3505198"/>
            <a:ext cx="1676356" cy="581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110" y="1066862"/>
            <a:ext cx="5974340" cy="554381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9081" y="2895614"/>
            <a:ext cx="4055355" cy="14826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Henderson-Hasselbalch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方程</a:t>
            </a:r>
            <a:endParaRPr lang="zh-CN" altLang="en-US" sz="3200" b="1" baseline="-25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38862" y="-76108"/>
            <a:ext cx="531427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水、弱酸和弱碱的电离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086814" y="5943534"/>
            <a:ext cx="2045676" cy="5810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33862" y="-100659"/>
            <a:ext cx="4288353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缓冲剂和缓冲作用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4952" y="1066862"/>
            <a:ext cx="11582096" cy="2909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几乎每一个生物过程，都依赖于</a:t>
            </a:r>
            <a:r>
              <a:rPr lang="en-US" altLang="zh-CN" sz="2800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sz="2800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值，</a:t>
            </a:r>
            <a:r>
              <a:rPr lang="en-US" altLang="zh-CN" sz="2800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sz="2800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的微小变化会产生很大影响。</a:t>
            </a:r>
            <a:endParaRPr lang="en-US" altLang="zh-CN" sz="2800" dirty="0">
              <a:solidFill>
                <a:srgbClr val="37373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缓冲剂（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Buffers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b="1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是一种水溶液体系，当加入少量的酸（</a:t>
            </a:r>
            <a:r>
              <a:rPr lang="en-US" altLang="zh-CN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aseline="30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）或碱（</a:t>
            </a:r>
            <a:r>
              <a:rPr lang="en-US" altLang="zh-CN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OH</a:t>
            </a:r>
            <a:r>
              <a:rPr lang="en-US" altLang="zh-CN" sz="2800" baseline="300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）时，它倾向于抵抗</a:t>
            </a:r>
            <a:r>
              <a:rPr lang="en-US" altLang="zh-CN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值的变化。</a:t>
            </a:r>
            <a:endParaRPr lang="en-US" altLang="zh-CN" sz="2800" dirty="0">
              <a:solidFill>
                <a:srgbClr val="25252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缓冲系统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由一个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弱酸（质子供体）</a:t>
            </a:r>
            <a:r>
              <a:rPr lang="zh-CN" altLang="en-US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和它的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共轭碱（质子受体）</a:t>
            </a:r>
            <a:r>
              <a:rPr lang="zh-CN" altLang="en-US" sz="2800" dirty="0">
                <a:solidFill>
                  <a:srgbClr val="25252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组成。</a:t>
            </a:r>
            <a:endParaRPr lang="en-US" altLang="zh-CN" sz="2800" dirty="0">
              <a:solidFill>
                <a:srgbClr val="25252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6985" y="4087997"/>
            <a:ext cx="4858029" cy="257328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162772" y="5943534"/>
            <a:ext cx="75776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例：乙酸-乙酸盐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33862" y="-100659"/>
            <a:ext cx="4288353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缓冲剂和缓冲作用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835" y="990664"/>
            <a:ext cx="5662606" cy="579104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8907" y="1981238"/>
            <a:ext cx="5662606" cy="2396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一般当</a:t>
            </a:r>
            <a:r>
              <a:rPr lang="en-US" altLang="zh-CN" b="1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b="1" dirty="0">
                <a:solidFill>
                  <a:srgbClr val="25252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="1" baseline="30000" dirty="0">
                <a:solidFill>
                  <a:srgbClr val="5A5A5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1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]/[HA] </a:t>
            </a:r>
            <a:r>
              <a:rPr lang="zh-CN" altLang="en-US" b="1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之比在 </a:t>
            </a:r>
            <a:r>
              <a:rPr lang="en-US" altLang="zh-CN" b="1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l/10--10/1 </a:t>
            </a:r>
            <a:r>
              <a:rPr lang="zh-CN" altLang="en-US" b="1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的范围内，具有较好的缓冲能力；</a:t>
            </a:r>
            <a:endParaRPr lang="en-US" altLang="zh-CN" b="1" dirty="0">
              <a:solidFill>
                <a:srgbClr val="37373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因此 </a:t>
            </a:r>
            <a:r>
              <a:rPr lang="en-US" altLang="zh-CN" b="1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 (pKa</a:t>
            </a:r>
            <a:r>
              <a:rPr lang="en-US" altLang="zh-CN" b="1" dirty="0">
                <a:solidFill>
                  <a:srgbClr val="25252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+1) -</a:t>
            </a:r>
            <a:r>
              <a:rPr lang="en-US" altLang="zh-CN" b="1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--(pKa</a:t>
            </a:r>
            <a:r>
              <a:rPr lang="en-US" altLang="zh-CN" b="1" dirty="0">
                <a:solidFill>
                  <a:srgbClr val="25252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-1) </a:t>
            </a:r>
            <a:r>
              <a:rPr lang="zh-CN" altLang="en-US" b="1" dirty="0">
                <a:solidFill>
                  <a:srgbClr val="25252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的区间是缓冲液的有效范围。</a:t>
            </a:r>
            <a:endParaRPr lang="en-US" altLang="zh-CN" b="1" dirty="0">
              <a:solidFill>
                <a:srgbClr val="25252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t="25459" b="13439"/>
          <a:stretch>
            <a:fillRect/>
          </a:stretch>
        </p:blipFill>
        <p:spPr>
          <a:xfrm>
            <a:off x="1522888" y="5155741"/>
            <a:ext cx="3605159" cy="91437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391366" y="3502053"/>
            <a:ext cx="1676356" cy="581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809813" y="1066862"/>
            <a:ext cx="8638899" cy="7439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弱酸或碱基缓冲细胞和组织</a:t>
            </a: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pH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的变化。</a:t>
            </a:r>
            <a:endParaRPr lang="zh-CN" altLang="en-US" sz="3200" b="1" baseline="-25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52106" y="-89901"/>
            <a:ext cx="6077306" cy="906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缓冲生物系统中</a:t>
            </a:r>
            <a:r>
              <a:rPr lang="en-US" altLang="zh-CN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的变化</a:t>
            </a:r>
            <a:endParaRPr lang="zh-CN" altLang="en-US" sz="4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7822" y="1981238"/>
            <a:ext cx="4851784" cy="4612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多细胞生物的胞内液和胞外液具有几乎恒定的</a:t>
            </a:r>
            <a:r>
              <a:rPr lang="en-US" altLang="zh-CN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特征。抵御内部</a:t>
            </a:r>
            <a:r>
              <a:rPr lang="en-US" altLang="zh-CN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值变化的第一道防线是由缓冲系统提供的。</a:t>
            </a:r>
            <a:endParaRPr lang="en-US" altLang="zh-CN" dirty="0">
              <a:solidFill>
                <a:srgbClr val="373737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7373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大多数细胞的细胞质中含有高浓度的蛋白质，而这些蛋白质中含有许多具有弱酸或弱碱基的官能团的氨基酸。</a:t>
            </a:r>
            <a:endParaRPr lang="en-US" altLang="zh-CN" dirty="0">
              <a:solidFill>
                <a:srgbClr val="25252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637" y="2057436"/>
            <a:ext cx="4851785" cy="298571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338742" y="5181554"/>
            <a:ext cx="42670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组氨酸的解离：组氨酸是蛋白质的一个组成部分，是一种弱酸，侧链质子化氮的pKa为6.0。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1" name="矩形 2"/>
          <p:cNvSpPr/>
          <p:nvPr/>
        </p:nvSpPr>
        <p:spPr>
          <a:xfrm>
            <a:off x="3642819" y="76288"/>
            <a:ext cx="5262880" cy="70675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eaLnBrk="0" hangingPunct="0"/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主要参考书和网络资源</a:t>
            </a:r>
            <a:endParaRPr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752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030095"/>
            <a:ext cx="2283460" cy="29565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52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1" y="1884681"/>
            <a:ext cx="2290445" cy="3248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057401" y="2429511"/>
            <a:ext cx="3598545" cy="21583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0" hangingPunct="0">
              <a:lnSpc>
                <a:spcPct val="120000"/>
              </a:lnSpc>
              <a:buClr>
                <a:srgbClr val="FF0000"/>
              </a:buClr>
              <a:buSzTx/>
              <a:buFontTx/>
            </a:pP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www.google.com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l" eaLnBrk="0" hangingPunct="0">
              <a:lnSpc>
                <a:spcPct val="120000"/>
              </a:lnSpc>
              <a:buClr>
                <a:srgbClr val="FF0000"/>
              </a:buClr>
              <a:buSzTx/>
              <a:buFontTx/>
            </a:pP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www.bilibili.com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0" hangingPunct="0">
              <a:lnSpc>
                <a:spcPct val="120000"/>
              </a:lnSpc>
              <a:buClr>
                <a:srgbClr val="FF0000"/>
              </a:buClr>
            </a:pPr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www.ncbi.nih.gov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0" hangingPunct="0">
              <a:lnSpc>
                <a:spcPct val="120000"/>
              </a:lnSpc>
              <a:buClr>
                <a:srgbClr val="FF0000"/>
              </a:buClr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中国知网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493fb284-b2df-4f54-a691-eebef68ca2dc"/>
  <p:tag name="COMMONDATA" val="eyJoZGlkIjoiZTQ4ODQwNThiYTg4YTBlNDhkZDRmNGNiNWM5NWE1YzAifQ=="/>
</p:tagLst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marL="342900" indent="-342900" algn="l">
          <a:buFont typeface="Arial" panose="020B0604020202020204" pitchFamily="34" charset="0"/>
          <a:buChar char="•"/>
          <a:defRPr sz="2000" dirty="0" smtClean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4124</Words>
  <Application>WPS 演示</Application>
  <PresentationFormat>宽屏</PresentationFormat>
  <Paragraphs>332</Paragraphs>
  <Slides>43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7" baseType="lpstr">
      <vt:lpstr>Arial</vt:lpstr>
      <vt:lpstr>宋体</vt:lpstr>
      <vt:lpstr>Wingdings</vt:lpstr>
      <vt:lpstr>Comic Sans MS</vt:lpstr>
      <vt:lpstr>微软雅黑</vt:lpstr>
      <vt:lpstr>Times New Roman</vt:lpstr>
      <vt:lpstr>Impact</vt:lpstr>
      <vt:lpstr>Arial Unicode MS</vt:lpstr>
      <vt:lpstr>等线 Light</vt:lpstr>
      <vt:lpstr>Calibri Light</vt:lpstr>
      <vt:lpstr>等线</vt:lpstr>
      <vt:lpstr>Calibri</vt:lpstr>
      <vt:lpstr>华文楷体</vt:lpstr>
      <vt:lpstr>默认设计模板</vt:lpstr>
      <vt:lpstr>PowerPoint 演示文稿</vt:lpstr>
      <vt:lpstr>PowerPoint 演示文稿</vt:lpstr>
      <vt:lpstr>PowerPoint 演示文稿</vt:lpstr>
      <vt:lpstr>PowerPoint 演示文稿</vt:lpstr>
      <vt:lpstr>什么是生物化学?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生物化学的发展简史</vt:lpstr>
      <vt:lpstr>生物化学的发展简史</vt:lpstr>
      <vt:lpstr>生物化学的发展简史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unv of del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Biochemistry</dc:title>
  <dc:creator>chem</dc:creator>
  <cp:lastModifiedBy>陈新奇</cp:lastModifiedBy>
  <cp:revision>460</cp:revision>
  <dcterms:created xsi:type="dcterms:W3CDTF">2001-02-06T02:49:00Z</dcterms:created>
  <dcterms:modified xsi:type="dcterms:W3CDTF">2025-07-06T11:31:54Z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BE364E999DCC494DBC0D6E5B7EE729DF</vt:lpwstr>
  </property>
</Properties>
</file>