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</p:sldMasterIdLst>
  <p:notesMasterIdLst>
    <p:notesMasterId r:id="rId59"/>
  </p:notesMasterIdLst>
  <p:handoutMasterIdLst>
    <p:handoutMasterId r:id="rId60"/>
  </p:handoutMasterIdLst>
  <p:sldIdLst>
    <p:sldId id="1205" r:id="rId4"/>
    <p:sldId id="1207" r:id="rId5"/>
    <p:sldId id="1209" r:id="rId6"/>
    <p:sldId id="863" r:id="rId7"/>
    <p:sldId id="861" r:id="rId8"/>
    <p:sldId id="1211" r:id="rId9"/>
    <p:sldId id="896" r:id="rId10"/>
    <p:sldId id="1213" r:id="rId11"/>
    <p:sldId id="1214" r:id="rId12"/>
    <p:sldId id="1215" r:id="rId13"/>
    <p:sldId id="1216" r:id="rId14"/>
    <p:sldId id="1217" r:id="rId15"/>
    <p:sldId id="1218" r:id="rId16"/>
    <p:sldId id="1220" r:id="rId17"/>
    <p:sldId id="1221" r:id="rId18"/>
    <p:sldId id="1222" r:id="rId19"/>
    <p:sldId id="381" r:id="rId20"/>
    <p:sldId id="382" r:id="rId21"/>
    <p:sldId id="1232" r:id="rId22"/>
    <p:sldId id="1233" r:id="rId23"/>
    <p:sldId id="387" r:id="rId24"/>
    <p:sldId id="1234" r:id="rId25"/>
    <p:sldId id="902" r:id="rId26"/>
    <p:sldId id="835" r:id="rId27"/>
    <p:sldId id="903" r:id="rId28"/>
    <p:sldId id="1235" r:id="rId29"/>
    <p:sldId id="1206" r:id="rId30"/>
    <p:sldId id="904" r:id="rId31"/>
    <p:sldId id="1236" r:id="rId32"/>
    <p:sldId id="1208" r:id="rId33"/>
    <p:sldId id="400" r:id="rId34"/>
    <p:sldId id="923" r:id="rId35"/>
    <p:sldId id="906" r:id="rId36"/>
    <p:sldId id="1237" r:id="rId37"/>
    <p:sldId id="1210" r:id="rId38"/>
    <p:sldId id="925" r:id="rId39"/>
    <p:sldId id="1238" r:id="rId40"/>
    <p:sldId id="1239" r:id="rId41"/>
    <p:sldId id="259" r:id="rId42"/>
    <p:sldId id="257" r:id="rId43"/>
    <p:sldId id="320" r:id="rId44"/>
    <p:sldId id="262" r:id="rId45"/>
    <p:sldId id="266" r:id="rId46"/>
    <p:sldId id="265" r:id="rId47"/>
    <p:sldId id="319" r:id="rId48"/>
    <p:sldId id="267" r:id="rId49"/>
    <p:sldId id="268" r:id="rId50"/>
    <p:sldId id="323" r:id="rId51"/>
    <p:sldId id="1240" r:id="rId52"/>
    <p:sldId id="270" r:id="rId53"/>
    <p:sldId id="271" r:id="rId54"/>
    <p:sldId id="280" r:id="rId55"/>
    <p:sldId id="281" r:id="rId56"/>
    <p:sldId id="273" r:id="rId57"/>
    <p:sldId id="274" r:id="rId58"/>
  </p:sldIdLst>
  <p:sldSz cx="12192000" cy="6858000"/>
  <p:notesSz cx="6858000" cy="9144000"/>
  <p:custDataLst>
    <p:tags r:id="rId6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7200" b="0" i="0" u="none" kern="1200" baseline="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D60093"/>
    <a:srgbClr val="FF5050"/>
    <a:srgbClr val="66FFFF"/>
    <a:srgbClr val="99FF33"/>
    <a:srgbClr val="FFCCFF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4"/>
    <p:restoredTop sz="93521"/>
  </p:normalViewPr>
  <p:slideViewPr>
    <p:cSldViewPr showGuides="1">
      <p:cViewPr varScale="1">
        <p:scale>
          <a:sx n="103" d="100"/>
          <a:sy n="103" d="100"/>
        </p:scale>
        <p:origin x="1650" y="114"/>
      </p:cViewPr>
      <p:guideLst>
        <p:guide orient="horz" pos="2143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tags" Target="tags/tag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829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1434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47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kumimoji="0"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  <p:sp>
        <p:nvSpPr>
          <p:cNvPr id="747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</a:rPr>
              <a:t>‹#›</a:t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楷体" panose="02010609060101010101" pitchFamily="49" charset="-122"/>
                <a:cs typeface="Times New Roman" panose="02020603050405020304" pitchFamily="18" charset="0"/>
              </a:rPr>
              <a:t>PEPCK</a:t>
            </a:r>
            <a:r>
              <a:rPr lang="zh-CN" altLang="en-US" sz="1200" dirty="0">
                <a:ea typeface="楷体" panose="02010609060101010101" pitchFamily="49" charset="-122"/>
                <a:cs typeface="Times New Roman" panose="02020603050405020304" pitchFamily="18" charset="0"/>
              </a:rPr>
              <a:t>在人类的线粒体基质和细胞质基质均存在，而小鼠只存在于细胞质基质，兔子只存在于线粒体。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040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B18AF66-12D6-1439-C507-C838518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3E70D50-EE17-12CD-10AD-583DACF86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99F2E55D-BBA8-6336-0330-84B6AE546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76897D42-6CE0-4ABF-F765-51ECEE16B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513F453A-37D2-2146-24E0-BE16938385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 cap="flat"/>
        </p:spPr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B131F979-A960-650B-DBFF-9BBE0FE72B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kumimoji="0"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什么特点决定了其作为主要的储能物质？</a:t>
            </a:r>
            <a:r>
              <a:rPr lang="en-US" altLang="zh-CN" dirty="0"/>
              <a:t>1</a:t>
            </a:r>
            <a:r>
              <a:rPr lang="zh-CN" altLang="en-US" dirty="0"/>
              <a:t>多分枝（</a:t>
            </a:r>
            <a:r>
              <a:rPr lang="en-US" altLang="zh-CN" dirty="0"/>
              <a:t>8-12G</a:t>
            </a:r>
            <a:r>
              <a:rPr lang="zh-CN" altLang="en-US" dirty="0"/>
              <a:t>），可溶性，快速分解动员葡萄糖；</a:t>
            </a:r>
            <a:r>
              <a:rPr lang="en-US" altLang="zh-CN" dirty="0"/>
              <a:t>2</a:t>
            </a:r>
            <a:r>
              <a:rPr lang="zh-CN" altLang="en-US" dirty="0"/>
              <a:t>颗粒状存在（</a:t>
            </a:r>
            <a:r>
              <a:rPr lang="en-US" altLang="zh-CN" dirty="0"/>
              <a:t>12</a:t>
            </a:r>
            <a:r>
              <a:rPr lang="zh-CN" altLang="en-US" dirty="0"/>
              <a:t>万个</a:t>
            </a:r>
            <a:r>
              <a:rPr lang="en-US" altLang="zh-CN" dirty="0"/>
              <a:t>G</a:t>
            </a:r>
            <a:r>
              <a:rPr lang="zh-CN" altLang="en-US" dirty="0"/>
              <a:t>），内涵合成分解调节酶。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什么特点决定了其作为主要的储能物质？</a:t>
            </a:r>
            <a:r>
              <a:rPr lang="en-US" altLang="zh-CN" dirty="0"/>
              <a:t>1</a:t>
            </a:r>
            <a:r>
              <a:rPr lang="zh-CN" altLang="en-US" dirty="0"/>
              <a:t>多分枝（</a:t>
            </a:r>
            <a:r>
              <a:rPr lang="en-US" altLang="zh-CN" dirty="0"/>
              <a:t>8-12G</a:t>
            </a:r>
            <a:r>
              <a:rPr lang="zh-CN" altLang="en-US" dirty="0"/>
              <a:t>），可溶性，快速分解动员葡萄糖；</a:t>
            </a:r>
            <a:r>
              <a:rPr lang="en-US" altLang="zh-CN" dirty="0"/>
              <a:t>2</a:t>
            </a:r>
            <a:r>
              <a:rPr lang="zh-CN" altLang="en-US" dirty="0"/>
              <a:t>颗粒状存在（</a:t>
            </a:r>
            <a:r>
              <a:rPr lang="en-US" altLang="zh-CN" dirty="0"/>
              <a:t>12</a:t>
            </a:r>
            <a:r>
              <a:rPr lang="zh-CN" altLang="en-US" dirty="0"/>
              <a:t>万个</a:t>
            </a:r>
            <a:r>
              <a:rPr lang="en-US" altLang="zh-CN" dirty="0"/>
              <a:t>G</a:t>
            </a:r>
            <a:r>
              <a:rPr lang="zh-CN" altLang="en-US" dirty="0"/>
              <a:t>），内涵合成分解调节酶。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什么特点决定了其作为主要的储能物质？</a:t>
            </a:r>
            <a:r>
              <a:rPr lang="en-US" altLang="zh-CN" dirty="0"/>
              <a:t>1</a:t>
            </a:r>
            <a:r>
              <a:rPr lang="zh-CN" altLang="en-US" dirty="0"/>
              <a:t>多分枝（</a:t>
            </a:r>
            <a:r>
              <a:rPr lang="en-US" altLang="zh-CN" dirty="0"/>
              <a:t>8-12G</a:t>
            </a:r>
            <a:r>
              <a:rPr lang="zh-CN" altLang="en-US" dirty="0"/>
              <a:t>），可溶性，快速分解动员葡萄糖；</a:t>
            </a:r>
            <a:r>
              <a:rPr lang="en-US" altLang="zh-CN" dirty="0"/>
              <a:t>2</a:t>
            </a:r>
            <a:r>
              <a:rPr lang="zh-CN" altLang="en-US" dirty="0"/>
              <a:t>颗粒状存在（</a:t>
            </a:r>
            <a:r>
              <a:rPr lang="en-US" altLang="zh-CN" dirty="0"/>
              <a:t>12</a:t>
            </a:r>
            <a:r>
              <a:rPr lang="zh-CN" altLang="en-US" dirty="0"/>
              <a:t>万个</a:t>
            </a:r>
            <a:r>
              <a:rPr lang="en-US" altLang="zh-CN" dirty="0"/>
              <a:t>G</a:t>
            </a:r>
            <a:r>
              <a:rPr lang="zh-CN" altLang="en-US" dirty="0"/>
              <a:t>），内涵合成分解调节酶。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没有</a:t>
            </a:r>
            <a:r>
              <a:rPr lang="en-US" altLang="zh-CN" dirty="0"/>
              <a:t>1-</a:t>
            </a:r>
            <a:r>
              <a:rPr lang="zh-CN" altLang="en-US" dirty="0"/>
              <a:t>磷酸葡萄糖酶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823AC-08DA-473A-B586-F17BF817332D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没有</a:t>
            </a:r>
            <a:r>
              <a:rPr lang="en-US" altLang="zh-CN" dirty="0"/>
              <a:t>1-</a:t>
            </a:r>
            <a:r>
              <a:rPr lang="zh-CN" altLang="en-US" dirty="0"/>
              <a:t>磷酸葡萄糖酶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在相似的体内代谢物浓度下可能需要两种途径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如果一种途径只是另一种途径的逆转，这种情况在热力学上是不可能的。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可以独立调节由不同酶催化的反应，从而可以非常精细地控制通量。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葡萄糖活化；</a:t>
            </a:r>
            <a:r>
              <a:rPr lang="en-US" altLang="zh-CN" dirty="0" err="1"/>
              <a:t>ppi</a:t>
            </a:r>
            <a:r>
              <a:rPr lang="zh-CN" altLang="en-US" dirty="0"/>
              <a:t>水解推动。等同消耗一个</a:t>
            </a:r>
            <a:r>
              <a:rPr lang="en-US" altLang="zh-CN" dirty="0"/>
              <a:t>ATP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和分解过程一样，自动发生的不可逆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1→4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）糖苷键水解释放的能量足以推动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1-6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键形成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1→4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）糖苷键水解释放的能量足以推动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1-6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键形成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1→4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）糖苷键水解释放的能量足以推动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1-6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键形成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1→4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）糖苷键水解释放的能量足以推动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1-6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键形成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1→4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）糖苷键水解释放的能量足以推动</a:t>
            </a:r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1-6</a:t>
            </a:r>
            <a:r>
              <a:rPr lang="zh-CN" altLang="en-US" dirty="0">
                <a:solidFill>
                  <a:prstClr val="black"/>
                </a:solidFill>
                <a:latin typeface="Times New Roman" panose="02020603050405020304" pitchFamily="18" charset="0"/>
                <a:ea typeface="楷体_GB2312" panose="02010609030101010101"/>
                <a:cs typeface="Times New Roman" panose="02020603050405020304" pitchFamily="18" charset="0"/>
              </a:rPr>
              <a:t>键形成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3823AC-08DA-473A-B586-F17BF8173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489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175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893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804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58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14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2841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3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127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405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8332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665410"/>
      </p:ext>
    </p:extLst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521730"/>
      </p:ext>
    </p:extLst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92785"/>
      </p:ext>
    </p:extLst>
  </p:cSld>
  <p:clrMapOvr>
    <a:masterClrMapping/>
  </p:clrMapOvr>
  <p:transition>
    <p:random/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763090"/>
      </p:ext>
    </p:extLst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882223"/>
      </p:ext>
    </p:extLst>
  </p:cSld>
  <p:clrMapOvr>
    <a:masterClrMapping/>
  </p:clrMapOvr>
  <p:transition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36969"/>
      </p:ext>
    </p:extLst>
  </p:cSld>
  <p:clrMapOvr>
    <a:masterClrMapping/>
  </p:clrMapOvr>
  <p:transition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6263" y="-3362"/>
            <a:ext cx="12211251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704338582"/>
      </p:ext>
    </p:extLst>
  </p:cSld>
  <p:clrMapOvr>
    <a:masterClrMapping/>
  </p:clrMapOvr>
  <p:transition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253984"/>
      </p:ext>
    </p:extLst>
  </p:cSld>
  <p:clrMapOvr>
    <a:masterClrMapping/>
  </p:clrMapOvr>
  <p:transition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850357"/>
      </p:ext>
    </p:extLst>
  </p:cSld>
  <p:clrMapOvr>
    <a:masterClrMapping/>
  </p:clrMapOvr>
  <p:transition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039385"/>
      </p:ext>
    </p:extLst>
  </p:cSld>
  <p:clrMapOvr>
    <a:masterClrMapping/>
  </p:clrMapOvr>
  <p:transition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2023/12/5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279756"/>
      </p:ext>
    </p:extLst>
  </p:cSld>
  <p:clrMapOvr>
    <a:masterClrMapping/>
  </p:clrMapOvr>
  <p:transition>
    <p:random/>
  </p:transition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423643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94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2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24.png"/><Relationship Id="rId4" Type="http://schemas.microsoft.com/office/2007/relationships/hdphoto" Target="../media/hdphoto3.wdp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151784" y="1916832"/>
            <a:ext cx="424847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戊糖磷酸途径</a:t>
            </a: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821100" y="2132856"/>
            <a:ext cx="7675499" cy="27970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在研究糖酵解过程中，发现在组织匀浆中添加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碘乙酸、氟化物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等糖酵解抑制剂，葡萄糖的利用仍可进行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;    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25000"/>
              </a:spcAft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1931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  <a:ea typeface="微软雅黑" panose="020B0503020204020204" charset="-122"/>
              </a:rPr>
              <a:t>Otto Warburg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等发现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G-6-p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脱氢酶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葡萄糖酸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-6-p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脱氢酶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可以使葡萄糖进入未知的代谢途径，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NADP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是两种酶的辅酶。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>
          <a:blip r:embed="rId3"/>
          <a:srcRect b="16821"/>
          <a:stretch>
            <a:fillRect/>
          </a:stretch>
        </p:blipFill>
        <p:spPr>
          <a:xfrm>
            <a:off x="263352" y="1139788"/>
            <a:ext cx="3672135" cy="45784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805680" y="-99392"/>
            <a:ext cx="3759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 typeface="微软雅黑" panose="020B0503020204020204" charset="-122"/>
              <a:buNone/>
            </a:pP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一、PPP的发现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15808" y="5693765"/>
            <a:ext cx="1952779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000" b="1" dirty="0">
                <a:solidFill>
                  <a:schemeClr val="tx1"/>
                </a:solidFill>
                <a:latin typeface="Comic Sans MS" panose="030F0702030302020204" pitchFamily="66" charset="0"/>
                <a:ea typeface="微软雅黑" panose="020B0503020204020204" charset="-122"/>
                <a:cs typeface="Comic Sans MS" panose="030F0702030302020204" pitchFamily="66" charset="0"/>
                <a:sym typeface="+mn-ea"/>
              </a:rPr>
              <a:t>Otto Warburg</a:t>
            </a: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98022"/>
          <p:cNvSpPr txBox="1"/>
          <p:nvPr/>
        </p:nvSpPr>
        <p:spPr>
          <a:xfrm>
            <a:off x="191344" y="1700530"/>
            <a:ext cx="11089232" cy="363601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戊糖磷酸途径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</a:rPr>
              <a:t>(pentose phosphate pathway,PPP 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，是由于该途径中有许多中间物是磷酸戊糖。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lvl="0" algn="just">
              <a:lnSpc>
                <a:spcPct val="120000"/>
              </a:lnSpc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lvl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该途径又叫做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磷酸葡萄糖酸途径 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</a:rPr>
              <a:t>(phosphogluconate pathway 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，因为磷酸葡萄糖酸是该途径的早期特征中间物。 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lvl="0" algn="just">
              <a:lnSpc>
                <a:spcPct val="120000"/>
              </a:lnSpc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 lvl="0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该途径又称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磷酸己糖支路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</a:rPr>
              <a:t>(hexose phosphate shunt,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HMS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，是由于从磷酸己糖开始该途径与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</a:rPr>
              <a:t>EMP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途径分支。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05680" y="-99392"/>
            <a:ext cx="3759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 typeface="微软雅黑" panose="020B0503020204020204" charset="-122"/>
              <a:buNone/>
            </a:pP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一、PPP的发现</a:t>
            </a: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598022"/>
          <p:cNvSpPr txBox="1"/>
          <p:nvPr/>
        </p:nvSpPr>
        <p:spPr>
          <a:xfrm>
            <a:off x="1631504" y="2468604"/>
            <a:ext cx="3168070" cy="113486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sz="2400" b="1" dirty="0">
                <a:latin typeface="Times New Roman" panose="02020603050405020304" pitchFamily="18" charset="0"/>
                <a:ea typeface="微软雅黑" panose="020B0503020204020204" charset="-122"/>
              </a:rPr>
              <a:t>在生物合成旺盛的细胞中更加活跃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863752" y="-99392"/>
            <a:ext cx="3759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二、PPP的概要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170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553" y="1196752"/>
            <a:ext cx="6037005" cy="5184576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598022"/>
          <p:cNvSpPr txBox="1"/>
          <p:nvPr/>
        </p:nvSpPr>
        <p:spPr>
          <a:xfrm>
            <a:off x="0" y="1268760"/>
            <a:ext cx="12000656" cy="302768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sz="2400" b="1" dirty="0">
                <a:latin typeface="Times New Roman" panose="02020603050405020304" pitchFamily="18" charset="0"/>
                <a:ea typeface="微软雅黑" panose="020B0503020204020204" charset="-122"/>
              </a:rPr>
              <a:t>戊糖磷酸途径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</a:rPr>
              <a:t>（pentose phosphate pathway）途径的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起始物是G-6-P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</a:rPr>
              <a:t>，返回的代谢产物是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3-磷酸甘油醛和6-磷酸果糖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</a:rPr>
              <a:t>，其重要的中间代谢产物是</a:t>
            </a:r>
            <a:r>
              <a:rPr sz="2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5-磷酸核糖和NADPH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</a:rPr>
              <a:t>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发生在细胞质基质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由氧化相和非氧化相组成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</a:rPr>
              <a:t>在生物合成旺盛的细胞中更加活跃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75720" y="-99392"/>
            <a:ext cx="375936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二、PPP的概要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02118"/>
          <p:cNvSpPr/>
          <p:nvPr/>
        </p:nvSpPr>
        <p:spPr>
          <a:xfrm>
            <a:off x="1343472" y="1412776"/>
            <a:ext cx="9792636" cy="3010889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 algn="l">
              <a:lnSpc>
                <a:spcPct val="130000"/>
              </a:lnSpc>
              <a:buClrTx/>
              <a:buSzTx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氧化阶段：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糖的脱氢、脱羧，不可逆（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步）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051425" indent="-5051425">
              <a:lnSpc>
                <a:spcPct val="130000"/>
              </a:lnSpc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       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6-磷酸葡萄糖 → 5-磷酸核酮糖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051425" indent="-5051425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非氧化阶段：</a:t>
            </a:r>
            <a:r>
              <a:rPr lang="zh-CN" altLang="en-US" sz="2800" b="1" dirty="0">
                <a:ea typeface="微软雅黑" panose="020B0503020204020204" charset="-122"/>
              </a:rPr>
              <a:t>分子重组阶段，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糖的相互转化，</a:t>
            </a:r>
            <a:r>
              <a:rPr lang="zh-CN" altLang="en-US" sz="2800" b="1" dirty="0">
                <a:ea typeface="微软雅黑" panose="020B0503020204020204" charset="-122"/>
              </a:rPr>
              <a:t>可逆（</a:t>
            </a:r>
            <a:r>
              <a:rPr lang="en-US" altLang="zh-CN" sz="2800" b="1" dirty="0">
                <a:ea typeface="微软雅黑" panose="020B0503020204020204" charset="-122"/>
              </a:rPr>
              <a:t>5</a:t>
            </a:r>
            <a:r>
              <a:rPr lang="zh-CN" altLang="en-US" sz="2800" b="1" dirty="0">
                <a:ea typeface="微软雅黑" panose="020B0503020204020204" charset="-122"/>
              </a:rPr>
              <a:t>步） 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5051425" indent="-5051425">
              <a:lnSpc>
                <a:spcPct val="130000"/>
              </a:lnSpc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         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6个5-磷酸核酮糖 → 5个6-磷酸葡萄糖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03712" y="-99392"/>
            <a:ext cx="478528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、PPP的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主要反应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030" y="141606"/>
            <a:ext cx="6553200" cy="6716395"/>
          </a:xfrm>
          <a:prstGeom prst="rect">
            <a:avLst/>
          </a:prstGeom>
        </p:spPr>
      </p:pic>
      <p:sp>
        <p:nvSpPr>
          <p:cNvPr id="26631" name="矩形: 圆角 1"/>
          <p:cNvSpPr/>
          <p:nvPr/>
        </p:nvSpPr>
        <p:spPr>
          <a:xfrm>
            <a:off x="5381625" y="3213101"/>
            <a:ext cx="1022350" cy="377825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矩形: 圆角 8"/>
          <p:cNvSpPr/>
          <p:nvPr/>
        </p:nvSpPr>
        <p:spPr>
          <a:xfrm>
            <a:off x="2860994" y="404495"/>
            <a:ext cx="935037" cy="21748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3" name="矩形: 圆角 9"/>
          <p:cNvSpPr/>
          <p:nvPr/>
        </p:nvSpPr>
        <p:spPr>
          <a:xfrm>
            <a:off x="6461761" y="332740"/>
            <a:ext cx="936625" cy="217488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: 圆角 10"/>
          <p:cNvSpPr/>
          <p:nvPr/>
        </p:nvSpPr>
        <p:spPr>
          <a:xfrm>
            <a:off x="5159694" y="6524944"/>
            <a:ext cx="935037" cy="21748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: 圆角 10"/>
          <p:cNvSpPr/>
          <p:nvPr/>
        </p:nvSpPr>
        <p:spPr>
          <a:xfrm>
            <a:off x="6311584" y="6524944"/>
            <a:ext cx="935037" cy="217487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360" y="1279525"/>
            <a:ext cx="7550150" cy="5375910"/>
          </a:xfrm>
          <a:prstGeom prst="rect">
            <a:avLst/>
          </a:prstGeom>
        </p:spPr>
      </p:pic>
      <p:sp>
        <p:nvSpPr>
          <p:cNvPr id="3" name="文本框 603140"/>
          <p:cNvSpPr txBox="1"/>
          <p:nvPr/>
        </p:nvSpPr>
        <p:spPr>
          <a:xfrm>
            <a:off x="6986588" y="2776538"/>
            <a:ext cx="23241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G-6-P</a:t>
            </a:r>
          </a:p>
        </p:txBody>
      </p:sp>
      <p:sp>
        <p:nvSpPr>
          <p:cNvPr id="4" name="文本框 603141"/>
          <p:cNvSpPr txBox="1"/>
          <p:nvPr/>
        </p:nvSpPr>
        <p:spPr>
          <a:xfrm>
            <a:off x="5159375" y="4292283"/>
            <a:ext cx="30924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ea typeface="微软雅黑" panose="020B0503020204020204" charset="-122"/>
              </a:rPr>
              <a:t>葡萄糖</a:t>
            </a:r>
            <a:r>
              <a:rPr lang="en-US" altLang="zh-CN" sz="2400" b="1" dirty="0">
                <a:solidFill>
                  <a:srgbClr val="0000FF"/>
                </a:solidFill>
                <a:ea typeface="微软雅黑" panose="020B0503020204020204" charset="-122"/>
              </a:rPr>
              <a:t>-6-</a:t>
            </a:r>
            <a:r>
              <a:rPr lang="zh-CN" altLang="en-US" sz="2400" b="1" dirty="0">
                <a:solidFill>
                  <a:srgbClr val="0000FF"/>
                </a:solidFill>
                <a:ea typeface="微软雅黑" panose="020B0503020204020204" charset="-122"/>
              </a:rPr>
              <a:t>磷酸脱氢酶 </a:t>
            </a:r>
          </a:p>
        </p:txBody>
      </p:sp>
      <p:sp>
        <p:nvSpPr>
          <p:cNvPr id="5" name="文本框 603142"/>
          <p:cNvSpPr txBox="1"/>
          <p:nvPr/>
        </p:nvSpPr>
        <p:spPr>
          <a:xfrm>
            <a:off x="6455729" y="5808028"/>
            <a:ext cx="324008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葡萄糖酸内酯</a:t>
            </a:r>
          </a:p>
        </p:txBody>
      </p:sp>
      <p:sp>
        <p:nvSpPr>
          <p:cNvPr id="6" name="文本框 1"/>
          <p:cNvSpPr txBox="1"/>
          <p:nvPr/>
        </p:nvSpPr>
        <p:spPr>
          <a:xfrm>
            <a:off x="6456046" y="1052514"/>
            <a:ext cx="2520274" cy="9620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</a:rPr>
              <a:t>不可逆！？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限速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charset="-122"/>
              </a:rPr>
              <a:t>产生</a:t>
            </a:r>
            <a:r>
              <a:rPr lang="en-US" altLang="zh-CN" sz="2000" b="1" dirty="0">
                <a:latin typeface="Times New Roman" panose="02020603050405020304" pitchFamily="18" charset="0"/>
                <a:ea typeface="微软雅黑" panose="020B0503020204020204" charset="-122"/>
              </a:rPr>
              <a:t>NADPH</a:t>
            </a:r>
            <a:endParaRPr lang="zh-CN" altLang="en-US" sz="2000" b="1" dirty="0"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7" name="椭圆 2"/>
          <p:cNvSpPr/>
          <p:nvPr/>
        </p:nvSpPr>
        <p:spPr>
          <a:xfrm>
            <a:off x="2207261" y="4076700"/>
            <a:ext cx="1345565" cy="66675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7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03360" y="-90213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氧化阶段反应</a:t>
            </a: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503712" y="-73408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二、氧化阶段反应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196752"/>
            <a:ext cx="9993437" cy="511256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949950" y="4549775"/>
            <a:ext cx="8267700" cy="5540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  <a:defRPr/>
            </a:pPr>
            <a:r>
              <a:rPr lang="zh-CN" altLang="en-US" sz="2400" b="1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不可逆</a:t>
            </a:r>
            <a:endParaRPr lang="en-US" altLang="zh-CN" sz="2400" b="1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604164"/>
          <p:cNvSpPr txBox="1"/>
          <p:nvPr/>
        </p:nvSpPr>
        <p:spPr>
          <a:xfrm>
            <a:off x="5369818" y="2403524"/>
            <a:ext cx="3019425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葡萄糖酸内酯酶</a:t>
            </a:r>
          </a:p>
        </p:txBody>
      </p:sp>
      <p:sp>
        <p:nvSpPr>
          <p:cNvPr id="6" name="文本框 604165"/>
          <p:cNvSpPr txBox="1"/>
          <p:nvPr/>
        </p:nvSpPr>
        <p:spPr>
          <a:xfrm>
            <a:off x="2063750" y="4875213"/>
            <a:ext cx="33147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葡萄糖酸内酯 </a:t>
            </a:r>
          </a:p>
        </p:txBody>
      </p:sp>
      <p:sp>
        <p:nvSpPr>
          <p:cNvPr id="7" name="文本框 604166"/>
          <p:cNvSpPr txBox="1"/>
          <p:nvPr/>
        </p:nvSpPr>
        <p:spPr>
          <a:xfrm>
            <a:off x="8463716" y="6215364"/>
            <a:ext cx="25781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葡萄糖酸 </a:t>
            </a:r>
          </a:p>
        </p:txBody>
      </p:sp>
      <p:sp>
        <p:nvSpPr>
          <p:cNvPr id="8" name="矩形 603138"/>
          <p:cNvSpPr/>
          <p:nvPr/>
        </p:nvSpPr>
        <p:spPr>
          <a:xfrm>
            <a:off x="2552577" y="1374140"/>
            <a:ext cx="8496300" cy="4235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水解</a:t>
            </a:r>
            <a:endParaRPr lang="zh-CN" altLang="en-US" sz="2400" b="1" dirty="0"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49564" y="-56505"/>
            <a:ext cx="428835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二、氧化阶段反应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77" y="1286032"/>
            <a:ext cx="10382543" cy="4402939"/>
          </a:xfrm>
          <a:prstGeom prst="rect">
            <a:avLst/>
          </a:prstGeom>
        </p:spPr>
      </p:pic>
      <p:sp>
        <p:nvSpPr>
          <p:cNvPr id="4" name="矩形 605186"/>
          <p:cNvSpPr/>
          <p:nvPr/>
        </p:nvSpPr>
        <p:spPr>
          <a:xfrm>
            <a:off x="7464152" y="1181335"/>
            <a:ext cx="3101340" cy="9612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不可逆，脱氢，脱羧。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 产生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NADPH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605188"/>
          <p:cNvSpPr/>
          <p:nvPr/>
        </p:nvSpPr>
        <p:spPr>
          <a:xfrm>
            <a:off x="9066079" y="5815243"/>
            <a:ext cx="1885950" cy="55335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核酮糖</a:t>
            </a:r>
          </a:p>
        </p:txBody>
      </p:sp>
      <p:sp>
        <p:nvSpPr>
          <p:cNvPr id="6" name="文本框 605189"/>
          <p:cNvSpPr txBox="1"/>
          <p:nvPr/>
        </p:nvSpPr>
        <p:spPr>
          <a:xfrm>
            <a:off x="1271464" y="5815243"/>
            <a:ext cx="25781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葡萄糖酸 </a:t>
            </a:r>
          </a:p>
        </p:txBody>
      </p:sp>
      <p:sp>
        <p:nvSpPr>
          <p:cNvPr id="7" name="文本框 605190"/>
          <p:cNvSpPr txBox="1"/>
          <p:nvPr/>
        </p:nvSpPr>
        <p:spPr>
          <a:xfrm>
            <a:off x="2761075" y="4293096"/>
            <a:ext cx="2366353" cy="36933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6-P-</a:t>
            </a:r>
            <a:r>
              <a:rPr lang="zh-CN" altLang="en-US" sz="1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葡萄糖酸脱氢酶 </a:t>
            </a:r>
          </a:p>
        </p:txBody>
      </p:sp>
      <p:sp>
        <p:nvSpPr>
          <p:cNvPr id="8" name="矩形 603138"/>
          <p:cNvSpPr/>
          <p:nvPr/>
        </p:nvSpPr>
        <p:spPr>
          <a:xfrm>
            <a:off x="1985616" y="1321702"/>
            <a:ext cx="8496300" cy="42354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氧化脱梭</a:t>
            </a:r>
            <a:endParaRPr lang="zh-CN" altLang="en-US" sz="2400" b="1" dirty="0"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93" y="2114250"/>
            <a:ext cx="10603979" cy="3960459"/>
          </a:xfrm>
          <a:prstGeom prst="rect">
            <a:avLst/>
          </a:prstGeom>
        </p:spPr>
      </p:pic>
      <p:sp>
        <p:nvSpPr>
          <p:cNvPr id="4" name="矩形 606209"/>
          <p:cNvSpPr/>
          <p:nvPr/>
        </p:nvSpPr>
        <p:spPr>
          <a:xfrm>
            <a:off x="767408" y="1032268"/>
            <a:ext cx="8064500" cy="633891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异构化 </a:t>
            </a:r>
            <a:r>
              <a:rPr lang="en-US" altLang="zh-CN" sz="2800" b="1" dirty="0">
                <a:latin typeface="Comic Sans MS" panose="030F0702030302020204" pitchFamily="66" charset="0"/>
                <a:ea typeface="微软雅黑" panose="020B0503020204020204" charset="-122"/>
              </a:rPr>
              <a:t>Isomerism【</a:t>
            </a:r>
            <a:r>
              <a:rPr lang="zh-CN" altLang="en-US" sz="2800" b="1" dirty="0">
                <a:latin typeface="Comic Sans MS" panose="030F0702030302020204" pitchFamily="66" charset="0"/>
                <a:ea typeface="微软雅黑" panose="020B0503020204020204" charset="-122"/>
              </a:rPr>
              <a:t>酮</a:t>
            </a:r>
            <a:r>
              <a:rPr lang="en-US" altLang="zh-CN" sz="2800" b="1" dirty="0">
                <a:latin typeface="Comic Sans MS" panose="030F0702030302020204" pitchFamily="66" charset="0"/>
                <a:ea typeface="微软雅黑" panose="020B0503020204020204" charset="-122"/>
              </a:rPr>
              <a:t>-</a:t>
            </a:r>
            <a:r>
              <a:rPr lang="zh-CN" altLang="en-US" sz="2800" b="1" dirty="0">
                <a:latin typeface="Comic Sans MS" panose="030F0702030302020204" pitchFamily="66" charset="0"/>
                <a:ea typeface="微软雅黑" panose="020B0503020204020204" charset="-122"/>
              </a:rPr>
              <a:t>醛异构化</a:t>
            </a:r>
            <a:r>
              <a:rPr lang="en-US" altLang="zh-CN" sz="2800" b="1" dirty="0">
                <a:latin typeface="Comic Sans MS" panose="030F0702030302020204" pitchFamily="66" charset="0"/>
                <a:ea typeface="微软雅黑" panose="020B0503020204020204" charset="-122"/>
              </a:rPr>
              <a:t>】</a:t>
            </a:r>
          </a:p>
        </p:txBody>
      </p:sp>
      <p:sp>
        <p:nvSpPr>
          <p:cNvPr id="5" name="矩形 606212"/>
          <p:cNvSpPr/>
          <p:nvPr/>
        </p:nvSpPr>
        <p:spPr>
          <a:xfrm>
            <a:off x="1757046" y="5995374"/>
            <a:ext cx="1885950" cy="55335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核酮糖</a:t>
            </a:r>
          </a:p>
        </p:txBody>
      </p:sp>
      <p:sp>
        <p:nvSpPr>
          <p:cNvPr id="6" name="矩形 606213"/>
          <p:cNvSpPr/>
          <p:nvPr/>
        </p:nvSpPr>
        <p:spPr>
          <a:xfrm>
            <a:off x="3134053" y="3329632"/>
            <a:ext cx="1665605" cy="75565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Comic Sans MS" panose="030F0702030302020204" pitchFamily="66" charset="0"/>
                <a:ea typeface="微软雅黑" panose="020B0503020204020204" charset="-122"/>
              </a:rPr>
              <a:t>核酮糖</a:t>
            </a:r>
            <a:r>
              <a:rPr lang="en-US" altLang="zh-CN" sz="1800" b="1" dirty="0">
                <a:solidFill>
                  <a:srgbClr val="0000FF"/>
                </a:solidFill>
                <a:latin typeface="Comic Sans MS" panose="030F0702030302020204" pitchFamily="66" charset="0"/>
                <a:ea typeface="微软雅黑" panose="020B0503020204020204" charset="-122"/>
              </a:rPr>
              <a:t>-5-</a:t>
            </a:r>
            <a:r>
              <a:rPr lang="zh-CN" altLang="en-US" sz="1800" b="1" dirty="0">
                <a:solidFill>
                  <a:srgbClr val="0000FF"/>
                </a:solidFill>
                <a:latin typeface="Comic Sans MS" panose="030F0702030302020204" pitchFamily="66" charset="0"/>
                <a:ea typeface="微软雅黑" panose="020B0503020204020204" charset="-122"/>
              </a:rPr>
              <a:t>磷酸异构酶</a:t>
            </a:r>
          </a:p>
        </p:txBody>
      </p:sp>
      <p:sp>
        <p:nvSpPr>
          <p:cNvPr id="7" name="文本框 606214"/>
          <p:cNvSpPr txBox="1"/>
          <p:nvPr/>
        </p:nvSpPr>
        <p:spPr>
          <a:xfrm>
            <a:off x="4943476" y="1935163"/>
            <a:ext cx="2106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  <a:ea typeface="微软雅黑" panose="020B0503020204020204" charset="-122"/>
              </a:rPr>
              <a:t>烯二醇中间物 </a:t>
            </a:r>
          </a:p>
        </p:txBody>
      </p:sp>
      <p:sp>
        <p:nvSpPr>
          <p:cNvPr id="8" name="文本框 606215"/>
          <p:cNvSpPr txBox="1"/>
          <p:nvPr/>
        </p:nvSpPr>
        <p:spPr>
          <a:xfrm>
            <a:off x="9264352" y="6041219"/>
            <a:ext cx="1460656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95343" y="-98693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非氧化阶段反应</a:t>
            </a: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2294695"/>
            <a:ext cx="11145784" cy="2699186"/>
          </a:xfrm>
          <a:prstGeom prst="rect">
            <a:avLst/>
          </a:prstGeom>
        </p:spPr>
      </p:pic>
      <p:sp>
        <p:nvSpPr>
          <p:cNvPr id="4" name="矩形 607233"/>
          <p:cNvSpPr/>
          <p:nvPr/>
        </p:nvSpPr>
        <p:spPr>
          <a:xfrm>
            <a:off x="383283" y="1300612"/>
            <a:ext cx="5684837" cy="633891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表异构化 </a:t>
            </a:r>
            <a:r>
              <a:rPr lang="en-US" altLang="zh-CN" sz="2800" b="1" dirty="0">
                <a:latin typeface="Comic Sans MS" panose="030F0702030302020204" pitchFamily="66" charset="0"/>
                <a:ea typeface="微软雅黑" panose="020B0503020204020204" charset="-122"/>
              </a:rPr>
              <a:t>Epimerization</a:t>
            </a:r>
          </a:p>
        </p:txBody>
      </p:sp>
      <p:sp>
        <p:nvSpPr>
          <p:cNvPr id="5" name="矩形 607236"/>
          <p:cNvSpPr/>
          <p:nvPr/>
        </p:nvSpPr>
        <p:spPr>
          <a:xfrm>
            <a:off x="1881401" y="4915403"/>
            <a:ext cx="1813942" cy="553357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核酮糖</a:t>
            </a:r>
          </a:p>
        </p:txBody>
      </p:sp>
      <p:sp>
        <p:nvSpPr>
          <p:cNvPr id="6" name="矩形 607237"/>
          <p:cNvSpPr/>
          <p:nvPr/>
        </p:nvSpPr>
        <p:spPr>
          <a:xfrm>
            <a:off x="3359696" y="2492896"/>
            <a:ext cx="1632585" cy="67183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05000"/>
              </a:lnSpc>
              <a:spcBef>
                <a:spcPct val="1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  <a:ea typeface="微软雅黑" panose="020B0503020204020204" charset="-122"/>
              </a:rPr>
              <a:t>核酮糖</a:t>
            </a:r>
            <a:r>
              <a:rPr lang="en-US" altLang="zh-CN" sz="1800" b="1" dirty="0">
                <a:solidFill>
                  <a:srgbClr val="0000FF"/>
                </a:solidFill>
                <a:ea typeface="微软雅黑" panose="020B0503020204020204" charset="-122"/>
              </a:rPr>
              <a:t>-5-</a:t>
            </a:r>
            <a:r>
              <a:rPr lang="zh-CN" altLang="en-US" sz="1800" b="1" dirty="0">
                <a:solidFill>
                  <a:srgbClr val="0000FF"/>
                </a:solidFill>
                <a:ea typeface="微软雅黑" panose="020B0503020204020204" charset="-122"/>
              </a:rPr>
              <a:t>磷酸差向异构酶</a:t>
            </a:r>
            <a:endParaRPr lang="zh-CN" altLang="en-US" sz="1800" b="1" dirty="0">
              <a:solidFill>
                <a:srgbClr val="0000FF"/>
              </a:solidFill>
              <a:latin typeface="Comic Sans MS" panose="030F0702030302020204" pitchFamily="66" charset="0"/>
              <a:ea typeface="微软雅黑" panose="020B0503020204020204" charset="-122"/>
            </a:endParaRPr>
          </a:p>
        </p:txBody>
      </p:sp>
      <p:sp>
        <p:nvSpPr>
          <p:cNvPr id="7" name="矩形 607238"/>
          <p:cNvSpPr/>
          <p:nvPr/>
        </p:nvSpPr>
        <p:spPr>
          <a:xfrm>
            <a:off x="9367624" y="4993881"/>
            <a:ext cx="1885950" cy="55335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木酮糖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95343" y="-98693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非氧化阶段反应</a:t>
            </a: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29" y="1585985"/>
            <a:ext cx="9954742" cy="4017900"/>
          </a:xfrm>
          <a:prstGeom prst="rect">
            <a:avLst/>
          </a:prstGeom>
        </p:spPr>
      </p:pic>
      <p:sp>
        <p:nvSpPr>
          <p:cNvPr id="4" name="矩形 608257"/>
          <p:cNvSpPr/>
          <p:nvPr/>
        </p:nvSpPr>
        <p:spPr>
          <a:xfrm>
            <a:off x="858267" y="1052736"/>
            <a:ext cx="5938837" cy="633891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转酮反应 </a:t>
            </a:r>
            <a:r>
              <a:rPr lang="en-US" altLang="zh-CN" sz="2800" b="1" dirty="0">
                <a:latin typeface="Comic Sans MS" panose="030F0702030302020204" pitchFamily="66" charset="0"/>
                <a:ea typeface="微软雅黑" panose="020B0503020204020204" charset="-122"/>
              </a:rPr>
              <a:t>Transketolase </a:t>
            </a:r>
          </a:p>
        </p:txBody>
      </p:sp>
      <p:sp>
        <p:nvSpPr>
          <p:cNvPr id="5" name="文本框 608259"/>
          <p:cNvSpPr txBox="1"/>
          <p:nvPr/>
        </p:nvSpPr>
        <p:spPr>
          <a:xfrm>
            <a:off x="8760296" y="5708104"/>
            <a:ext cx="23749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景天庚酮糖</a:t>
            </a:r>
          </a:p>
        </p:txBody>
      </p:sp>
      <p:sp>
        <p:nvSpPr>
          <p:cNvPr id="6" name="文本框 608260"/>
          <p:cNvSpPr txBox="1"/>
          <p:nvPr/>
        </p:nvSpPr>
        <p:spPr>
          <a:xfrm>
            <a:off x="4945286" y="2980305"/>
            <a:ext cx="14732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转酮酶</a:t>
            </a:r>
          </a:p>
        </p:txBody>
      </p:sp>
      <p:sp>
        <p:nvSpPr>
          <p:cNvPr id="7" name="矩形 608262"/>
          <p:cNvSpPr/>
          <p:nvPr/>
        </p:nvSpPr>
        <p:spPr>
          <a:xfrm>
            <a:off x="1055440" y="5611947"/>
            <a:ext cx="1885950" cy="55335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140000"/>
              </a:lnSpc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木酮糖</a:t>
            </a:r>
          </a:p>
        </p:txBody>
      </p:sp>
      <p:sp>
        <p:nvSpPr>
          <p:cNvPr id="8" name="文本框 608263"/>
          <p:cNvSpPr txBox="1"/>
          <p:nvPr/>
        </p:nvSpPr>
        <p:spPr>
          <a:xfrm>
            <a:off x="3827686" y="5708213"/>
            <a:ext cx="1460656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核糖</a:t>
            </a:r>
          </a:p>
        </p:txBody>
      </p:sp>
      <p:sp>
        <p:nvSpPr>
          <p:cNvPr id="9" name="文本框 608264"/>
          <p:cNvSpPr txBox="1"/>
          <p:nvPr/>
        </p:nvSpPr>
        <p:spPr>
          <a:xfrm>
            <a:off x="6348588" y="5708213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甘油醛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695343" y="-98693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非氧化阶段反应</a:t>
            </a: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73" y="1722612"/>
            <a:ext cx="9362254" cy="4129086"/>
          </a:xfrm>
          <a:prstGeom prst="rect">
            <a:avLst/>
          </a:prstGeom>
        </p:spPr>
      </p:pic>
      <p:sp>
        <p:nvSpPr>
          <p:cNvPr id="4" name="矩形 609281"/>
          <p:cNvSpPr/>
          <p:nvPr/>
        </p:nvSpPr>
        <p:spPr>
          <a:xfrm>
            <a:off x="918417" y="938789"/>
            <a:ext cx="4176656" cy="629981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lvl="0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微软雅黑" panose="020B0503020204020204" charset="-122"/>
              </a:rPr>
              <a:t>转醛反应 </a:t>
            </a:r>
            <a:r>
              <a:rPr lang="en-US" altLang="zh-CN" sz="2800" b="1" dirty="0">
                <a:latin typeface="Times New Roman" panose="02020603050405020304" pitchFamily="18" charset="0"/>
                <a:ea typeface="微软雅黑" panose="020B0503020204020204" charset="-122"/>
              </a:rPr>
              <a:t>Transaldolase</a:t>
            </a:r>
          </a:p>
        </p:txBody>
      </p:sp>
      <p:sp>
        <p:nvSpPr>
          <p:cNvPr id="5" name="文本框 609283"/>
          <p:cNvSpPr txBox="1"/>
          <p:nvPr/>
        </p:nvSpPr>
        <p:spPr>
          <a:xfrm>
            <a:off x="5591944" y="2852936"/>
            <a:ext cx="12446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转醛酶</a:t>
            </a:r>
          </a:p>
        </p:txBody>
      </p:sp>
      <p:sp>
        <p:nvSpPr>
          <p:cNvPr id="6" name="文本框 609285"/>
          <p:cNvSpPr txBox="1"/>
          <p:nvPr/>
        </p:nvSpPr>
        <p:spPr>
          <a:xfrm>
            <a:off x="1596256" y="5881943"/>
            <a:ext cx="2374900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景天庚酮糖</a:t>
            </a:r>
          </a:p>
        </p:txBody>
      </p:sp>
      <p:sp>
        <p:nvSpPr>
          <p:cNvPr id="7" name="文本框 609286"/>
          <p:cNvSpPr txBox="1"/>
          <p:nvPr/>
        </p:nvSpPr>
        <p:spPr>
          <a:xfrm>
            <a:off x="4152131" y="5881943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甘油醛 </a:t>
            </a:r>
          </a:p>
        </p:txBody>
      </p:sp>
      <p:sp>
        <p:nvSpPr>
          <p:cNvPr id="8" name="文本框 609287"/>
          <p:cNvSpPr txBox="1"/>
          <p:nvPr/>
        </p:nvSpPr>
        <p:spPr>
          <a:xfrm>
            <a:off x="6600056" y="5881943"/>
            <a:ext cx="20272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4-P-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赤藓糖  </a:t>
            </a:r>
          </a:p>
        </p:txBody>
      </p:sp>
      <p:sp>
        <p:nvSpPr>
          <p:cNvPr id="9" name="文本框 609288"/>
          <p:cNvSpPr txBox="1"/>
          <p:nvPr/>
        </p:nvSpPr>
        <p:spPr>
          <a:xfrm>
            <a:off x="9263882" y="5881943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6-P-F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52468" y="-31163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非氧化阶段反应</a:t>
            </a: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11330"/>
          <p:cNvSpPr txBox="1"/>
          <p:nvPr/>
        </p:nvSpPr>
        <p:spPr>
          <a:xfrm>
            <a:off x="1908109" y="3763913"/>
            <a:ext cx="2258952" cy="5847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6-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磷酸果糖</a:t>
            </a:r>
          </a:p>
        </p:txBody>
      </p:sp>
      <p:sp>
        <p:nvSpPr>
          <p:cNvPr id="4" name="文本框 611331"/>
          <p:cNvSpPr txBox="1"/>
          <p:nvPr/>
        </p:nvSpPr>
        <p:spPr>
          <a:xfrm>
            <a:off x="6978583" y="3740100"/>
            <a:ext cx="2669320" cy="5847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6-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磷酸葡萄糖</a:t>
            </a:r>
          </a:p>
        </p:txBody>
      </p:sp>
      <p:sp>
        <p:nvSpPr>
          <p:cNvPr id="5" name="左右箭头 611332"/>
          <p:cNvSpPr/>
          <p:nvPr/>
        </p:nvSpPr>
        <p:spPr>
          <a:xfrm>
            <a:off x="4408422" y="3917900"/>
            <a:ext cx="2225675" cy="273050"/>
          </a:xfrm>
          <a:prstGeom prst="leftRightArrow">
            <a:avLst>
              <a:gd name="adj1" fmla="val 50000"/>
              <a:gd name="adj2" fmla="val 162985"/>
            </a:avLst>
          </a:prstGeom>
          <a:solidFill>
            <a:schemeClr val="tx1"/>
          </a:solidFill>
          <a:ln w="12700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 eaLnBrk="1" hangingPunct="1">
              <a:spcBef>
                <a:spcPct val="0"/>
              </a:spcBef>
              <a:buNone/>
            </a:pPr>
            <a:endParaRPr lang="zh-CN" altLang="en-US" sz="80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611333"/>
          <p:cNvSpPr txBox="1"/>
          <p:nvPr/>
        </p:nvSpPr>
        <p:spPr>
          <a:xfrm>
            <a:off x="3359696" y="2420888"/>
            <a:ext cx="4600940" cy="1169551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algn="ctr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磷酸葡萄糖异构酶</a:t>
            </a:r>
          </a:p>
          <a:p>
            <a:pPr marL="0" indent="0" algn="ctr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phosphoglucoisomerase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73900" y="-99392"/>
            <a:ext cx="4801314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非氧化阶段反应</a:t>
            </a: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16449"/>
          <p:cNvSpPr/>
          <p:nvPr/>
        </p:nvSpPr>
        <p:spPr>
          <a:xfrm>
            <a:off x="4583832" y="145524"/>
            <a:ext cx="2357941" cy="527050"/>
          </a:xfrm>
          <a:prstGeom prst="rect">
            <a:avLst/>
          </a:prstGeom>
          <a:noFill/>
          <a:ln w="127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微软雅黑" panose="020B0503020204020204" charset="-122"/>
              </a:rPr>
              <a:t>化学计量</a:t>
            </a:r>
          </a:p>
        </p:txBody>
      </p:sp>
      <p:grpSp>
        <p:nvGrpSpPr>
          <p:cNvPr id="4" name="组合 616450"/>
          <p:cNvGrpSpPr/>
          <p:nvPr/>
        </p:nvGrpSpPr>
        <p:grpSpPr>
          <a:xfrm>
            <a:off x="1747838" y="876301"/>
            <a:ext cx="8448674" cy="1898651"/>
            <a:chOff x="141" y="552"/>
            <a:chExt cx="5322" cy="1196"/>
          </a:xfrm>
        </p:grpSpPr>
        <p:sp>
          <p:nvSpPr>
            <p:cNvPr id="5" name="文本框 616451"/>
            <p:cNvSpPr txBox="1"/>
            <p:nvPr/>
          </p:nvSpPr>
          <p:spPr>
            <a:xfrm>
              <a:off x="141" y="552"/>
              <a:ext cx="1247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氧化阶段：</a:t>
              </a:r>
            </a:p>
          </p:txBody>
        </p:sp>
        <p:sp>
          <p:nvSpPr>
            <p:cNvPr id="6" name="文本框 616452"/>
            <p:cNvSpPr txBox="1"/>
            <p:nvPr/>
          </p:nvSpPr>
          <p:spPr>
            <a:xfrm>
              <a:off x="166" y="1036"/>
              <a:ext cx="3681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6-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磷酸葡萄糖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+12NADP</a:t>
              </a:r>
              <a:r>
                <a:rPr lang="en-US" altLang="zh-CN" sz="2800" baseline="300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+6H</a:t>
              </a:r>
              <a:r>
                <a:rPr lang="en-US" altLang="zh-CN" sz="2800" baseline="-250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2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O</a:t>
              </a:r>
              <a:endParaRPr lang="en-US" altLang="zh-CN" sz="2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文本框 616453"/>
            <p:cNvSpPr txBox="1"/>
            <p:nvPr/>
          </p:nvSpPr>
          <p:spPr>
            <a:xfrm>
              <a:off x="737" y="1418"/>
              <a:ext cx="4726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>
                <a:spcBef>
                  <a:spcPct val="50000"/>
                </a:spcBef>
                <a:buNone/>
              </a:pP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5-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磷酸核酮糖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+6CO</a:t>
              </a:r>
              <a:r>
                <a:rPr lang="en-US" altLang="zh-CN" sz="2800" baseline="-250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2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+12NADPH+12H</a:t>
              </a:r>
              <a:r>
                <a:rPr lang="en-US" altLang="zh-CN" sz="2800" baseline="300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</a:t>
              </a:r>
              <a:endPara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" name="组合 616454"/>
          <p:cNvGrpSpPr/>
          <p:nvPr/>
        </p:nvGrpSpPr>
        <p:grpSpPr>
          <a:xfrm>
            <a:off x="1746250" y="3070227"/>
            <a:ext cx="8307388" cy="1230313"/>
            <a:chOff x="140" y="1934"/>
            <a:chExt cx="5233" cy="775"/>
          </a:xfrm>
        </p:grpSpPr>
        <p:sp>
          <p:nvSpPr>
            <p:cNvPr id="9" name="文本框 616455"/>
            <p:cNvSpPr txBox="1"/>
            <p:nvPr/>
          </p:nvSpPr>
          <p:spPr>
            <a:xfrm>
              <a:off x="140" y="1934"/>
              <a:ext cx="1926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FF0000"/>
                  </a:solidFill>
                  <a:latin typeface="Times"/>
                  <a:ea typeface="微软雅黑" panose="020B0503020204020204" charset="-122"/>
                </a:rPr>
                <a:t>非氧化重排阶段：</a:t>
              </a:r>
            </a:p>
          </p:txBody>
        </p:sp>
        <p:sp>
          <p:nvSpPr>
            <p:cNvPr id="10" name="文本框 616456"/>
            <p:cNvSpPr txBox="1"/>
            <p:nvPr/>
          </p:nvSpPr>
          <p:spPr>
            <a:xfrm>
              <a:off x="1049" y="2379"/>
              <a:ext cx="4324" cy="3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>
                <a:spcBef>
                  <a:spcPct val="50000"/>
                </a:spcBef>
                <a:buNone/>
              </a:pP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</a:rPr>
                <a:t>6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5-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磷酸核酮糖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+H</a:t>
              </a:r>
              <a:r>
                <a:rPr lang="en-US" altLang="zh-CN" sz="2800" baseline="-250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2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O  56-</a:t>
              </a: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磷酸葡萄糖</a:t>
              </a:r>
            </a:p>
          </p:txBody>
        </p:sp>
      </p:grpSp>
      <p:sp>
        <p:nvSpPr>
          <p:cNvPr id="11" name="矩形 616457"/>
          <p:cNvSpPr/>
          <p:nvPr/>
        </p:nvSpPr>
        <p:spPr>
          <a:xfrm>
            <a:off x="6157913" y="5160963"/>
            <a:ext cx="184150" cy="51911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endParaRPr lang="zh-CN" altLang="en-US" sz="2800" dirty="0">
              <a:latin typeface="Times"/>
              <a:ea typeface="Beijing" charset="-122"/>
              <a:sym typeface="Symbol" panose="05050102010706020507" pitchFamily="18" charset="2"/>
            </a:endParaRPr>
          </a:p>
        </p:txBody>
      </p:sp>
      <p:sp>
        <p:nvSpPr>
          <p:cNvPr id="12" name="文本框 616458"/>
          <p:cNvSpPr txBox="1"/>
          <p:nvPr/>
        </p:nvSpPr>
        <p:spPr>
          <a:xfrm>
            <a:off x="1774825" y="4581525"/>
            <a:ext cx="1960880" cy="52197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Times"/>
                <a:ea typeface="微软雅黑" panose="020B0503020204020204" charset="-122"/>
              </a:rPr>
              <a:t>总反应式：</a:t>
            </a:r>
          </a:p>
        </p:txBody>
      </p:sp>
      <p:sp>
        <p:nvSpPr>
          <p:cNvPr id="13" name="文本框 616459"/>
          <p:cNvSpPr txBox="1"/>
          <p:nvPr/>
        </p:nvSpPr>
        <p:spPr>
          <a:xfrm>
            <a:off x="1919288" y="5386388"/>
            <a:ext cx="5436104" cy="52322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6-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磷酸葡萄糖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+12NADP</a:t>
            </a:r>
            <a:r>
              <a:rPr lang="en-US" altLang="zh-CN" sz="2800" baseline="30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+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+6H</a:t>
            </a:r>
            <a:r>
              <a:rPr lang="en-US" altLang="zh-CN" sz="2800" baseline="-25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O</a:t>
            </a:r>
          </a:p>
        </p:txBody>
      </p:sp>
      <p:sp>
        <p:nvSpPr>
          <p:cNvPr id="14" name="文本框 616460"/>
          <p:cNvSpPr txBox="1"/>
          <p:nvPr/>
        </p:nvSpPr>
        <p:spPr>
          <a:xfrm>
            <a:off x="4439921" y="5948998"/>
            <a:ext cx="4738541" cy="52322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>
              <a:spcBef>
                <a:spcPct val="50000"/>
              </a:spcBef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 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CO</a:t>
            </a:r>
            <a:r>
              <a:rPr lang="en-US" altLang="zh-CN" sz="2800" baseline="-25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+12NADPH+12H</a:t>
            </a:r>
            <a:r>
              <a:rPr lang="en-US" altLang="zh-CN" sz="2800" baseline="30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+</a:t>
            </a:r>
            <a:r>
              <a:rPr lang="en-US" altLang="zh-CN" sz="2800" baseline="-25000" dirty="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 </a:t>
            </a:r>
            <a:endParaRPr lang="zh-CN" altLang="en-US" sz="2800" dirty="0">
              <a:ea typeface="微软雅黑" panose="020B0503020204020204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D879F96-F4F9-064D-42FD-86737C17CE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63752" y="116632"/>
            <a:ext cx="5112246" cy="649288"/>
          </a:xfrm>
          <a:noFill/>
          <a:ln w="127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>
            <a:norm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微软雅黑" panose="020B0503020204020204" charset="-122"/>
                <a:cs typeface="+mn-cs"/>
              </a:rPr>
              <a:t>磷酸戊糖途径的功能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5CDBA90-CE08-BC07-42AB-069F88997BD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08720"/>
            <a:ext cx="12192000" cy="540060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C"/>
            </a:pP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有关的功能</a:t>
            </a:r>
          </a:p>
          <a:p>
            <a:pPr marL="838200" lvl="1" indent="-3810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arabicPeriod"/>
            </a:pP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提供生物合成的还原剂</a:t>
            </a:r>
            <a:r>
              <a:rPr lang="en-US" altLang="zh-CN" sz="32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838200" lvl="1" indent="-3810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解毒</a:t>
            </a:r>
            <a:r>
              <a:rPr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细胞色素</a:t>
            </a:r>
            <a:r>
              <a:rPr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P450</a:t>
            </a: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单加氧酶解毒系统需要</a:t>
            </a:r>
            <a:r>
              <a:rPr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参与对毒物的羟基化反应。</a:t>
            </a:r>
          </a:p>
          <a:p>
            <a:pPr marL="838200" lvl="1" indent="-3810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arabicPeriod"/>
            </a:pP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免疫</a:t>
            </a:r>
          </a:p>
          <a:p>
            <a:pPr marL="838200" lvl="1" indent="-3810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维持红细胞膜的完整 </a:t>
            </a:r>
          </a:p>
          <a:p>
            <a:pPr marL="838200" lvl="1" indent="-3810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AutoNum type="arabicPeriod"/>
            </a:pPr>
            <a:r>
              <a:rPr lang="zh-CN" altLang="en-US" sz="3200" dirty="0">
                <a:ea typeface="楷体" panose="02010609060101010101" pitchFamily="49" charset="-122"/>
                <a:cs typeface="Times New Roman" panose="02020603050405020304" pitchFamily="18" charset="0"/>
              </a:rPr>
              <a:t>间接进入呼吸链 </a:t>
            </a:r>
          </a:p>
          <a:p>
            <a:pPr marL="457200" indent="-4572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C"/>
            </a:pP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5-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磷酸核糖有关的功能：提供</a:t>
            </a:r>
            <a:r>
              <a:rPr lang="zh-CN" altLang="en-US" sz="36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核苷酸及其衍生物合成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的前体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5-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磷酸核糖</a:t>
            </a:r>
          </a:p>
          <a:p>
            <a:pPr marL="457200" indent="-457200">
              <a:lnSpc>
                <a:spcPct val="80000"/>
              </a:lnSpc>
              <a:buClr>
                <a:srgbClr val="FF0000"/>
              </a:buClr>
              <a:buFont typeface="Wingdings" panose="05000000000000000000" pitchFamily="2" charset="2"/>
              <a:buChar char="C"/>
            </a:pP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4-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磷酸赤藓糖有关的功能：芳香族氨基酸和维生素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3600" baseline="-25000" dirty="0"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的合成需要赤藓糖。 </a:t>
            </a: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>
            <a:extLst>
              <a:ext uri="{FF2B5EF4-FFF2-40B4-BE49-F238E27FC236}">
                <a16:creationId xmlns:a16="http://schemas.microsoft.com/office/drawing/2014/main" id="{F398A0EA-A37B-8803-BB1D-8C5E40FD8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27" y="-99392"/>
            <a:ext cx="9073008" cy="1200329"/>
          </a:xfrm>
          <a:prstGeom prst="rect">
            <a:avLst/>
          </a:prstGeom>
          <a:noFill/>
          <a:ln w="127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微软雅黑" panose="020B0503020204020204" charset="-122"/>
              </a:rPr>
              <a:t>生物合成与磷酸戊糖途径活性的关系</a:t>
            </a:r>
          </a:p>
        </p:txBody>
      </p:sp>
      <p:graphicFrame>
        <p:nvGraphicFramePr>
          <p:cNvPr id="27676" name="Group 28">
            <a:extLst>
              <a:ext uri="{FF2B5EF4-FFF2-40B4-BE49-F238E27FC236}">
                <a16:creationId xmlns:a16="http://schemas.microsoft.com/office/drawing/2014/main" id="{321021E1-2485-E603-01D8-B1ADEAB8C5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930901"/>
              </p:ext>
            </p:extLst>
          </p:nvPr>
        </p:nvGraphicFramePr>
        <p:xfrm>
          <a:off x="623392" y="1214575"/>
          <a:ext cx="10945216" cy="4428850"/>
        </p:xfrm>
        <a:graphic>
          <a:graphicData uri="http://schemas.openxmlformats.org/drawingml/2006/table">
            <a:tbl>
              <a:tblPr/>
              <a:tblGrid>
                <a:gridCol w="206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9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组织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功能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磷酸戊糖途径的活性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肾上腺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固醇类激素的合成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肝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脂肪酸和胆固醇的合成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睾丸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固醇类激素的合成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0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脂肪组织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脂肪酸的合成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56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卵巢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固醇类激素的合成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32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乳腺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脂肪酸的合成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</a:rPr>
                        <a:t>高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6286CE5-5BFC-5AA5-A99A-157267C8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917057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latin typeface="Times" panose="02020603050405020304" pitchFamily="18" charset="0"/>
            </a:endParaRP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2F7C058-9528-02E5-CCAD-997C0762D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688" y="5013176"/>
            <a:ext cx="58737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a typeface="楷体" panose="02010609060101010101" pitchFamily="49" charset="-122"/>
              </a:rPr>
              <a:t>巨噬细胞膜上的</a:t>
            </a:r>
            <a:r>
              <a:rPr lang="en-US" altLang="zh-CN" sz="2400" b="1" dirty="0">
                <a:ea typeface="楷体" panose="02010609060101010101" pitchFamily="49" charset="-122"/>
              </a:rPr>
              <a:t>NADPH</a:t>
            </a:r>
            <a:r>
              <a:rPr lang="zh-CN" altLang="en-US" sz="2400" b="1" dirty="0">
                <a:ea typeface="楷体" panose="02010609060101010101" pitchFamily="49" charset="-122"/>
              </a:rPr>
              <a:t>氧化酶的防御功能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6" descr="24-3">
            <a:extLst>
              <a:ext uri="{FF2B5EF4-FFF2-40B4-BE49-F238E27FC236}">
                <a16:creationId xmlns:a16="http://schemas.microsoft.com/office/drawing/2014/main" id="{AA006208-D8E3-3F54-D519-65297A24C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548680"/>
            <a:ext cx="8006341" cy="3813325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063944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24-4">
            <a:extLst>
              <a:ext uri="{FF2B5EF4-FFF2-40B4-BE49-F238E27FC236}">
                <a16:creationId xmlns:a16="http://schemas.microsoft.com/office/drawing/2014/main" id="{798C1EC7-8F31-1AB2-B355-879D4FF42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037" y="836712"/>
            <a:ext cx="9895239" cy="37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91AEF479-49EE-869D-171E-CD122CA7D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784" y="5013176"/>
            <a:ext cx="4392612" cy="45720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zh-CN" altLang="en-US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参与对过氧化物的解毒</a:t>
            </a:r>
          </a:p>
        </p:txBody>
      </p:sp>
    </p:spTree>
    <p:extLst>
      <p:ext uri="{BB962C8B-B14F-4D97-AF65-F5344CB8AC3E}">
        <p14:creationId xmlns:p14="http://schemas.microsoft.com/office/powerpoint/2010/main" val="1829428595"/>
      </p:ext>
    </p:extLst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3358DB5-CF91-23C9-693C-7BDA00EB9E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67214" y="908051"/>
            <a:ext cx="3889375" cy="576263"/>
          </a:xfrm>
          <a:solidFill>
            <a:srgbClr val="99CCFF"/>
          </a:solidFill>
          <a:ln>
            <a:solidFill>
              <a:srgbClr val="99CCFF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zh-CN" altLang="en-US" sz="3200" b="1">
                <a:ea typeface="楷体" panose="02010609060101010101" pitchFamily="49" charset="-122"/>
              </a:rPr>
              <a:t>磷酸戊糖途径的调节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B241616-6805-D427-0C91-1D16EBEF1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3352" y="1916832"/>
            <a:ext cx="11233248" cy="352839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normAutofit/>
          </a:bodyPr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«"/>
            </a:pP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6-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磷酸葡糖脱氢酶是磷酸戊糖途径的酶，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既是它的产物，又是它的强竞争性抑制剂，因此磷酸戊糖途径完全受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NADPH/NADP</a:t>
            </a:r>
            <a:r>
              <a:rPr lang="zh-CN" altLang="en-US" sz="3600" baseline="30000" dirty="0">
                <a:ea typeface="楷体" panose="02010609060101010101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的相对比例控制，如果细胞内的</a:t>
            </a:r>
            <a:r>
              <a:rPr lang="en-US" altLang="zh-CN" sz="3600" dirty="0">
                <a:ea typeface="楷体" panose="02010609060101010101" pitchFamily="49" charset="-122"/>
                <a:cs typeface="Times New Roman" panose="02020603050405020304" pitchFamily="18" charset="0"/>
              </a:rPr>
              <a:t>NADPH</a:t>
            </a:r>
            <a:r>
              <a:rPr lang="zh-CN" altLang="en-US" sz="3600" dirty="0">
                <a:ea typeface="楷体" panose="02010609060101010101" pitchFamily="49" charset="-122"/>
                <a:cs typeface="Times New Roman" panose="02020603050405020304" pitchFamily="18" charset="0"/>
              </a:rPr>
              <a:t>浓度高，磷酸戊糖途径就会受到抑制，反之则被激活。 </a:t>
            </a: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55740" y="1772816"/>
            <a:ext cx="46805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葡糖异生途径</a:t>
            </a: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644099"/>
          <p:cNvSpPr txBox="1"/>
          <p:nvPr/>
        </p:nvSpPr>
        <p:spPr>
          <a:xfrm>
            <a:off x="479376" y="1772816"/>
            <a:ext cx="10368829" cy="28169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Gluconeogenesis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非糖有机物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作为前体合成为葡萄糖的过程。非糖物质包括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乳酸、丙酮酸、甘油、草酰乙酸、以及生糖氨基酸（如丙氨酸）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场所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主要为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，部分在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肾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中进行。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72920" y="-99392"/>
            <a:ext cx="223651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一、概要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矩形 648193"/>
          <p:cNvSpPr/>
          <p:nvPr/>
        </p:nvSpPr>
        <p:spPr>
          <a:xfrm>
            <a:off x="3462338" y="15097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7408" y="1052736"/>
            <a:ext cx="5295986" cy="4274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几乎是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EMP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途径的逆转。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但不是简单的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EMP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途径的逆转，从葡萄糖到丙酮酸代谢中有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步是共同的可逆步骤，只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步是不可逆步骤，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它们由另一些酶来催化完成。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糖异生有特殊的调控酶，需要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ATP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供给能量，以保证合成途径的进行。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1424" y="251734"/>
            <a:ext cx="3840480" cy="645160"/>
          </a:xfrm>
          <a:prstGeom prst="rect">
            <a:avLst/>
          </a:prstGeom>
          <a:gradFill>
            <a:gsLst>
              <a:gs pos="42000">
                <a:srgbClr val="ABD9CA"/>
              </a:gs>
              <a:gs pos="0">
                <a:srgbClr val="C4E4DB"/>
              </a:gs>
              <a:gs pos="100000">
                <a:srgbClr val="91CEB9"/>
              </a:gs>
            </a:gsLst>
            <a:lin scaled="1"/>
          </a:gradFill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二、糖异生的途径</a:t>
            </a:r>
          </a:p>
        </p:txBody>
      </p:sp>
      <p:pic>
        <p:nvPicPr>
          <p:cNvPr id="3" name="图片 2" descr="1111"/>
          <p:cNvPicPr>
            <a:picLocks noChangeAspect="1"/>
          </p:cNvPicPr>
          <p:nvPr/>
        </p:nvPicPr>
        <p:blipFill>
          <a:blip r:embed="rId2"/>
          <a:srcRect b="3768"/>
          <a:stretch>
            <a:fillRect/>
          </a:stretch>
        </p:blipFill>
        <p:spPr>
          <a:xfrm>
            <a:off x="6167756" y="44450"/>
            <a:ext cx="4295775" cy="67525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6384290" y="424180"/>
            <a:ext cx="311304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384290" y="1988136"/>
            <a:ext cx="311304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none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40145" y="6164531"/>
            <a:ext cx="437940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none" numCol="1" spcCol="0" rtlCol="0" fromWordArt="0" anchor="ctr" anchorCtr="0" forceAA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824470" y="316230"/>
            <a:ext cx="56388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葡萄糖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80326" y="584201"/>
            <a:ext cx="788999" cy="24622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6P-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葡萄糖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08265" y="1628776"/>
            <a:ext cx="660758" cy="24622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6P-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果糖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3826" y="1844676"/>
            <a:ext cx="946093" cy="24622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，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6-2P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果糖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00620" y="5751195"/>
            <a:ext cx="119888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磷酸烯醇式丙酮酸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88275" y="6381115"/>
            <a:ext cx="563880" cy="245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丙酮酸</a:t>
            </a: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b="-7822"/>
          <a:stretch>
            <a:fillRect/>
          </a:stretch>
        </p:blipFill>
        <p:spPr>
          <a:xfrm>
            <a:off x="812847" y="2132856"/>
            <a:ext cx="10566306" cy="3457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530" name="矩形 648193"/>
          <p:cNvSpPr/>
          <p:nvPr/>
        </p:nvSpPr>
        <p:spPr>
          <a:xfrm>
            <a:off x="3462338" y="15097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7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46561" y="-79101"/>
            <a:ext cx="7168950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、丙酮酸→磷酸烯醇式丙酮酸</a:t>
            </a:r>
          </a:p>
        </p:txBody>
      </p:sp>
      <p:sp>
        <p:nvSpPr>
          <p:cNvPr id="23556" name="矩形 652291"/>
          <p:cNvSpPr/>
          <p:nvPr/>
        </p:nvSpPr>
        <p:spPr>
          <a:xfrm>
            <a:off x="4173091" y="2910309"/>
            <a:ext cx="1402080" cy="33718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丙酮酸羧化酶</a:t>
            </a:r>
          </a:p>
        </p:txBody>
      </p:sp>
      <p:sp>
        <p:nvSpPr>
          <p:cNvPr id="23557" name="矩形 652292"/>
          <p:cNvSpPr/>
          <p:nvPr/>
        </p:nvSpPr>
        <p:spPr>
          <a:xfrm>
            <a:off x="8416479" y="2340144"/>
            <a:ext cx="182054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PEP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羧激酶</a:t>
            </a:r>
          </a:p>
        </p:txBody>
      </p:sp>
      <p:sp>
        <p:nvSpPr>
          <p:cNvPr id="23558" name="矩形 652290"/>
          <p:cNvSpPr/>
          <p:nvPr/>
        </p:nvSpPr>
        <p:spPr>
          <a:xfrm>
            <a:off x="793062" y="1054203"/>
            <a:ext cx="9577064" cy="91101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丙酮酸 → 草酰乙酸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线粒体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，消耗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1ATP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，需生物素。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草酰乙酸 → 磷酸烯醇式丙酮酸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胞质或线粒体（人）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，消耗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1GTP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652291"/>
          <p:cNvSpPr/>
          <p:nvPr/>
        </p:nvSpPr>
        <p:spPr>
          <a:xfrm>
            <a:off x="1441569" y="5098378"/>
            <a:ext cx="9518953" cy="3693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丙酮酸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                                                  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草酰乙酸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                                            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磷酸烯醇式丙酮酸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531672" y="5685151"/>
            <a:ext cx="5000625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羧化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                    →                           </a:t>
            </a: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脱羧</a:t>
            </a: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7528407-8369-9A49-CA41-F56D4521557B}"/>
              </a:ext>
            </a:extLst>
          </p:cNvPr>
          <p:cNvGrpSpPr/>
          <p:nvPr/>
        </p:nvGrpSpPr>
        <p:grpSpPr>
          <a:xfrm>
            <a:off x="6023992" y="0"/>
            <a:ext cx="5155321" cy="6982028"/>
            <a:chOff x="6096000" y="990714"/>
            <a:chExt cx="4535170" cy="587878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933FC28-677F-0563-E161-65453B7F8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990714"/>
              <a:ext cx="4535170" cy="5822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70B7E9F-F527-DA54-1428-8898A2795C3A}"/>
                </a:ext>
              </a:extLst>
            </p:cNvPr>
            <p:cNvSpPr txBox="1"/>
            <p:nvPr/>
          </p:nvSpPr>
          <p:spPr>
            <a:xfrm>
              <a:off x="7276074" y="5712024"/>
              <a:ext cx="7162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丙酮酸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 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F04CF6C-58FD-FAC3-9EFE-4C877C5D4E6A}"/>
                </a:ext>
              </a:extLst>
            </p:cNvPr>
            <p:cNvSpPr txBox="1"/>
            <p:nvPr/>
          </p:nvSpPr>
          <p:spPr>
            <a:xfrm>
              <a:off x="7358895" y="1940959"/>
              <a:ext cx="8305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草酰乙酸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0113749-72A8-D923-078E-0C9C76617F5D}"/>
                </a:ext>
              </a:extLst>
            </p:cNvPr>
            <p:cNvSpPr txBox="1"/>
            <p:nvPr/>
          </p:nvSpPr>
          <p:spPr>
            <a:xfrm>
              <a:off x="7232203" y="3380527"/>
              <a:ext cx="6781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苹果酸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DCB53E0-5928-8B37-AFFA-6CF87E49D399}"/>
                </a:ext>
              </a:extLst>
            </p:cNvPr>
            <p:cNvSpPr txBox="1"/>
            <p:nvPr/>
          </p:nvSpPr>
          <p:spPr>
            <a:xfrm>
              <a:off x="7626985" y="1020865"/>
              <a:ext cx="14020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磷酸烯醇式丙酮酸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608A2F2-6C74-F12B-44CB-A39C3FA7A896}"/>
                </a:ext>
              </a:extLst>
            </p:cNvPr>
            <p:cNvSpPr txBox="1"/>
            <p:nvPr/>
          </p:nvSpPr>
          <p:spPr>
            <a:xfrm>
              <a:off x="7404508" y="4271265"/>
              <a:ext cx="8305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草酰乙酸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74BC345-FC35-717F-B67D-7612CA094E94}"/>
                </a:ext>
              </a:extLst>
            </p:cNvPr>
            <p:cNvSpPr txBox="1"/>
            <p:nvPr/>
          </p:nvSpPr>
          <p:spPr>
            <a:xfrm>
              <a:off x="9518889" y="6593913"/>
              <a:ext cx="563880" cy="27559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乳酸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+mn-cs"/>
                  <a:sym typeface="+mn-ea"/>
                </a:rPr>
                <a:t>  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FC61282A-0D8F-AC10-AD09-980B32683415}"/>
              </a:ext>
            </a:extLst>
          </p:cNvPr>
          <p:cNvSpPr txBox="1"/>
          <p:nvPr/>
        </p:nvSpPr>
        <p:spPr>
          <a:xfrm>
            <a:off x="335360" y="1739948"/>
            <a:ext cx="5155321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PEPCK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在人类的线粒体基质和细胞质基质均存在，而小鼠只存在于细胞质基质，兔子只存在于线粒体。</a:t>
            </a:r>
          </a:p>
        </p:txBody>
      </p:sp>
    </p:spTree>
    <p:extLst>
      <p:ext uri="{BB962C8B-B14F-4D97-AF65-F5344CB8AC3E}">
        <p14:creationId xmlns:p14="http://schemas.microsoft.com/office/powerpoint/2010/main" val="2751204867"/>
      </p:ext>
    </p:extLst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972186" y="-85831"/>
            <a:ext cx="5419432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F-1,6-2P to F-6-P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44" y="980728"/>
            <a:ext cx="7089304" cy="5494210"/>
          </a:xfrm>
          <a:prstGeom prst="rect">
            <a:avLst/>
          </a:prstGeom>
        </p:spPr>
      </p:pic>
      <p:sp>
        <p:nvSpPr>
          <p:cNvPr id="5" name="矩形 655368"/>
          <p:cNvSpPr/>
          <p:nvPr/>
        </p:nvSpPr>
        <p:spPr>
          <a:xfrm>
            <a:off x="9696400" y="3933056"/>
            <a:ext cx="292764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果糖－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－二磷酸酶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</a:p>
        </p:txBody>
      </p:sp>
      <p:sp>
        <p:nvSpPr>
          <p:cNvPr id="7" name="文本框 655369"/>
          <p:cNvSpPr txBox="1"/>
          <p:nvPr/>
        </p:nvSpPr>
        <p:spPr>
          <a:xfrm>
            <a:off x="0" y="2483040"/>
            <a:ext cx="4727848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285750" indent="-28575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避开了糖酵解的直接逆反应，即产生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ATP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的吸能反应；而是形成无机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的放能反应。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233875" y="2268830"/>
            <a:ext cx="843915" cy="337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糖酵解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                                                        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554225" y="2468537"/>
            <a:ext cx="792480" cy="3371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糖异生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536160" y="1313508"/>
            <a:ext cx="11320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果糖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192344" y="6042774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果糖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1-6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二磷酸</a:t>
            </a: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46898" y="-23696"/>
            <a:ext cx="9055941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G-6-P to Glucose (or Glycogen)</a:t>
            </a:r>
          </a:p>
        </p:txBody>
      </p:sp>
      <p:sp>
        <p:nvSpPr>
          <p:cNvPr id="27651" name="文本框 656391"/>
          <p:cNvSpPr txBox="1"/>
          <p:nvPr/>
        </p:nvSpPr>
        <p:spPr>
          <a:xfrm>
            <a:off x="191344" y="4509120"/>
            <a:ext cx="11593288" cy="188141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葡萄糖-6-磷酸酶存在于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肝、肾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细胞内质网，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G-6-P需要进入内质网腔才能水解。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肌肉和脑细胞没有这种酶，故不能进行糖异生。 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27652" name="对象 656392"/>
          <p:cNvGraphicFramePr/>
          <p:nvPr/>
        </p:nvGraphicFramePr>
        <p:xfrm>
          <a:off x="1360539" y="1412776"/>
          <a:ext cx="9217024" cy="2873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525" imgH="9525" progId="CorelDRAW.Graphic.9">
                  <p:embed/>
                </p:oleObj>
              </mc:Choice>
              <mc:Fallback>
                <p:oleObj r:id="rId2" imgW="9525" imgH="9525" progId="CorelDRAW.Graphic.9">
                  <p:embed/>
                  <p:pic>
                    <p:nvPicPr>
                      <p:cNvPr id="27652" name="对象 65639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0539" y="1412776"/>
                        <a:ext cx="9217024" cy="28735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矩形 656393"/>
          <p:cNvSpPr/>
          <p:nvPr/>
        </p:nvSpPr>
        <p:spPr>
          <a:xfrm>
            <a:off x="4796155" y="1556068"/>
            <a:ext cx="23955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葡萄糖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-6-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磷酸酶</a:t>
            </a:r>
          </a:p>
        </p:txBody>
      </p:sp>
    </p:spTree>
  </p:cSld>
  <p:clrMapOvr>
    <a:masterClrMapping/>
  </p:clrMapOvr>
  <p:transition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23792" y="-171400"/>
            <a:ext cx="2191626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 小结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6" y="1052736"/>
            <a:ext cx="12085320" cy="496855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59463"/>
          <p:cNvSpPr>
            <a:spLocks noChangeArrowheads="1"/>
          </p:cNvSpPr>
          <p:nvPr/>
        </p:nvSpPr>
        <p:spPr bwMode="auto">
          <a:xfrm>
            <a:off x="551384" y="1124744"/>
            <a:ext cx="11163200" cy="43576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丙酮酸：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凡生成丙酮酸的物质均可转变为葡萄糖（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乳酸，某些氨基酸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草酰乙酸：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某些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氨基酸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能生成三羧酸循环的中间产物的，可以通过转化成草酰乙酸；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植物中的脂肪酸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乙醛酸循环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，生成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草酰乙酸。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甘油：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生成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磷酸二羟丙酮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，而进入糖异生途径。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08403" y="-170633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三、糖异生前体</a:t>
            </a: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2A7932CB-E451-488B-ABC9-038BF9CDBF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935760" y="-79828"/>
            <a:ext cx="4689104" cy="906915"/>
          </a:xfrm>
          <a:noFill/>
        </p:spPr>
        <p:txBody>
          <a:bodyPr wrap="none" rtlCol="0" anchor="t">
            <a:spAutoFit/>
          </a:bodyPr>
          <a:lstStyle/>
          <a:p>
            <a:pPr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糖异生的底物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动物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</a:p>
        </p:txBody>
      </p:sp>
      <p:sp>
        <p:nvSpPr>
          <p:cNvPr id="215045" name="Rectangle 5">
            <a:extLst>
              <a:ext uri="{FF2B5EF4-FFF2-40B4-BE49-F238E27FC236}">
                <a16:creationId xmlns:a16="http://schemas.microsoft.com/office/drawing/2014/main" id="{6C909670-7CA2-6D90-D71F-36CACA64199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23728" y="1196752"/>
            <a:ext cx="10513168" cy="720080"/>
          </a:xfrm>
        </p:spPr>
        <p:txBody>
          <a:bodyPr vert="horz" lIns="90488" tIns="44450" rIns="90488" bIns="44450" rtlCol="0"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sz="35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丙酮酸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乳酸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甘油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生糖氨基酸，所有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循环的中间物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F402A21A-D1AB-859F-E6EE-4C9BDD9B3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2286497"/>
            <a:ext cx="7215965" cy="3806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5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863752" y="-141958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三、糖异生前体</a:t>
            </a:r>
          </a:p>
        </p:txBody>
      </p:sp>
      <p:sp>
        <p:nvSpPr>
          <p:cNvPr id="30722" name="文本框 662535"/>
          <p:cNvSpPr txBox="1"/>
          <p:nvPr/>
        </p:nvSpPr>
        <p:spPr>
          <a:xfrm>
            <a:off x="407368" y="2349500"/>
            <a:ext cx="5165392" cy="168905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肝脏为肌肉输出葡萄糖，而肌肉收缩产生乳酸，乳酸又可在肝脏中转变成新的葡萄糖，这一过程为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Cori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</a:p>
        </p:txBody>
      </p:sp>
      <p:sp>
        <p:nvSpPr>
          <p:cNvPr id="30727" name="文本框 2"/>
          <p:cNvSpPr txBox="1"/>
          <p:nvPr/>
        </p:nvSpPr>
        <p:spPr>
          <a:xfrm>
            <a:off x="524948" y="1628800"/>
            <a:ext cx="146685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乳酸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-6000" contrast="-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3992" y="1052736"/>
            <a:ext cx="4176210" cy="56275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857197" y="-71890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三、糖异生前体</a:t>
            </a:r>
          </a:p>
        </p:txBody>
      </p:sp>
      <p:sp>
        <p:nvSpPr>
          <p:cNvPr id="31749" name="文本框 2"/>
          <p:cNvSpPr txBox="1"/>
          <p:nvPr/>
        </p:nvSpPr>
        <p:spPr>
          <a:xfrm>
            <a:off x="495313" y="1608723"/>
            <a:ext cx="18764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氨基酸</a:t>
            </a:r>
          </a:p>
        </p:txBody>
      </p:sp>
      <p:pic>
        <p:nvPicPr>
          <p:cNvPr id="31750" name="图片 7"/>
          <p:cNvPicPr>
            <a:picLocks noChangeAspect="1"/>
          </p:cNvPicPr>
          <p:nvPr/>
        </p:nvPicPr>
        <p:blipFill rotWithShape="1">
          <a:blip r:embed="rId2"/>
          <a:srcRect t="6442"/>
          <a:stretch>
            <a:fillRect/>
          </a:stretch>
        </p:blipFill>
        <p:spPr>
          <a:xfrm>
            <a:off x="4675303" y="872687"/>
            <a:ext cx="7105950" cy="599403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1" name="矩形 1"/>
          <p:cNvSpPr/>
          <p:nvPr/>
        </p:nvSpPr>
        <p:spPr>
          <a:xfrm>
            <a:off x="407368" y="2564448"/>
            <a:ext cx="3983023" cy="16888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20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个必须氨基酸中，只有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亮氨酸和赖氨酸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的分解代谢途径不会生成糖异生的前体。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72064" y="1916897"/>
            <a:ext cx="716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丙酮酸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536160" y="4509120"/>
            <a:ext cx="1104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α-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酮戊二酸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272464" y="1886982"/>
            <a:ext cx="120586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琥珀酰辅酶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81316" y="3753658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延胡索酸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290150" y="492130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草酰乙酸</a:t>
            </a: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857197" y="-71890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三、糖异生前体</a:t>
            </a: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lum bright="-12000" contrast="-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26093" y="1212933"/>
            <a:ext cx="5596890" cy="5226685"/>
          </a:xfrm>
          <a:prstGeom prst="rect">
            <a:avLst/>
          </a:prstGeom>
          <a:ln>
            <a:noFill/>
          </a:ln>
        </p:spPr>
      </p:pic>
      <p:sp>
        <p:nvSpPr>
          <p:cNvPr id="8" name="文本框 2"/>
          <p:cNvSpPr txBox="1"/>
          <p:nvPr/>
        </p:nvSpPr>
        <p:spPr>
          <a:xfrm>
            <a:off x="290440" y="1318978"/>
            <a:ext cx="3129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+mn-ea"/>
              </a:rPr>
              <a:t>脂肪酸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（植物）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51873" y="1273258"/>
            <a:ext cx="7162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  <a:sym typeface="+mn-ea"/>
              </a:rPr>
              <a:t>脂肪酸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310907" y="1823497"/>
            <a:ext cx="374650" cy="165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/>
          <p:nvPr/>
        </p:nvCxnSpPr>
        <p:spPr>
          <a:xfrm flipH="1">
            <a:off x="6549793" y="2565177"/>
            <a:ext cx="648335" cy="1441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" name="直接箭头连接符 12"/>
          <p:cNvCxnSpPr/>
          <p:nvPr/>
        </p:nvCxnSpPr>
        <p:spPr>
          <a:xfrm>
            <a:off x="7371964" y="1428832"/>
            <a:ext cx="8642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053" y="3085547"/>
            <a:ext cx="1310640" cy="33528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90195" y="2005965"/>
            <a:ext cx="5803900" cy="4674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大多数脂肪酸的分解代谢只产生乙酰辅酶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。植物、酵母和许多细菌有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乙醛酸循环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，将乙酰辅酶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转化为草酰乙酸</a:t>
            </a:r>
          </a:p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哺乳动物不能将脂肪酸转化为葡萄糖。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哺乳动物不能使用乙酰辅酶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作为葡萄糖的前体，因为</a:t>
            </a:r>
            <a:r>
              <a:rPr kumimoji="0" lang="zh-CN" alt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丙酮酸脱氢酶反应是不可逆的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，而且细胞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没有其他途径将乙酰辅酶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转化为丙酮酸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857197" y="-71890"/>
            <a:ext cx="3775393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三、糖异生前体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310907" y="1823497"/>
            <a:ext cx="374650" cy="165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/>
          <p:nvPr/>
        </p:nvCxnSpPr>
        <p:spPr>
          <a:xfrm flipH="1">
            <a:off x="6549793" y="2565177"/>
            <a:ext cx="648335" cy="1441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" name="文本框 2"/>
          <p:cNvSpPr txBox="1"/>
          <p:nvPr/>
        </p:nvSpPr>
        <p:spPr>
          <a:xfrm>
            <a:off x="1055440" y="2996952"/>
            <a:ext cx="1351652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甘油</a:t>
            </a: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15680" y="892691"/>
            <a:ext cx="8620287" cy="5965309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文本框 5"/>
          <p:cNvSpPr txBox="1"/>
          <p:nvPr/>
        </p:nvSpPr>
        <p:spPr>
          <a:xfrm>
            <a:off x="29396" y="2901809"/>
            <a:ext cx="4536503" cy="196310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血糖的水平，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ATP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的水平，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生物合成中间物的水平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87688" y="-99392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四、葡萄糖异生的调控</a:t>
            </a:r>
          </a:p>
        </p:txBody>
      </p:sp>
      <p:pic>
        <p:nvPicPr>
          <p:cNvPr id="2" name="Picture 5" descr="25-8">
            <a:extLst>
              <a:ext uri="{FF2B5EF4-FFF2-40B4-BE49-F238E27FC236}">
                <a16:creationId xmlns:a16="http://schemas.microsoft.com/office/drawing/2014/main" id="{B9385677-B357-4861-81C9-6BE8B8DE4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951" y="908720"/>
            <a:ext cx="7842221" cy="5949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665607"/>
          <p:cNvSpPr txBox="1"/>
          <p:nvPr/>
        </p:nvSpPr>
        <p:spPr>
          <a:xfrm>
            <a:off x="263352" y="1556792"/>
            <a:ext cx="11809312" cy="40897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在饥饿或糖类摄入不足的情况下，可以补充血糖，维持血糖浓度的稳定，为那些特别依赖葡萄糖氧化放能的细胞和组织提供燃料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植物果实成熟期间，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有机酸含量下降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糖份含量增加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，就是葡糖异生作用的结果。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糖异生作用有利于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乳酸的利用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；糖异生有利于体内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氨基酸的分解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脂肪分解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供能。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植物和某些微生物使用乙酸作为糖异生的前体，使得它们能以乙酸作为唯一碳源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03712" y="-46778"/>
            <a:ext cx="5314275" cy="9069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五、糖异生的生理意义</a:t>
            </a: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63752" y="1628800"/>
            <a:ext cx="410445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糖原分解与合成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051" y="1006724"/>
            <a:ext cx="6711161" cy="55373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706623" y="3120966"/>
            <a:ext cx="3044423" cy="1308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多分支的结构；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特殊的颗粒状。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5572" y="1351626"/>
            <a:ext cx="3930228" cy="1491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糖原作为能量存储的结构优势？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51168" y="120133"/>
            <a:ext cx="75680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糖原的生物学意义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038819"/>
            <a:ext cx="12327467" cy="1317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机体的储脂量比糖原丰富得多，为什么还要使用糖原作为必不可少的能量储备？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8672" y="2566711"/>
            <a:ext cx="11080540" cy="2295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肌肉无法快速动员脂肪作为能量。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脂肪的脂肪酸残基不能厌氧代谢。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动物无法将脂肪酸转化为葡萄糖，所以仅脂肪代谢不能充分维持必需血糖水平。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51168" y="120133"/>
            <a:ext cx="75680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糖原的生物学意义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95343" y="163194"/>
            <a:ext cx="480131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糖原分解需要三种酶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327" y="1109981"/>
            <a:ext cx="3397250" cy="55848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685800" y="1595756"/>
            <a:ext cx="7112000" cy="4171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糖原磷酸化酶（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Glycogen phosphorylase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催化糖原磷酸解，生成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磷酸葡萄糖（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G1P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）。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Glycogen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(n)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Pi  → glycogen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(n-1)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G1P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糖原脱支酶（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Glycogen debranching enzyme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糖基转移酶活性，脱支酶活性（水解）；产生一个葡萄糖，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糖苷键的葡萄糖残基。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磷酸葡萄糖变位酶（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Phosphoglucomutase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G1P →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G6P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058976" y="133878"/>
            <a:ext cx="35610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糖原磷酸化酶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941" y="894632"/>
            <a:ext cx="8091401" cy="58056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410706" y="3023025"/>
            <a:ext cx="3390828" cy="11411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 Glycogen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(n)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+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Pi  → glycogen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(n-1)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+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G1P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334379" y="97541"/>
            <a:ext cx="531427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糖原脱支酶的反应机制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3591" y="1392592"/>
            <a:ext cx="5746422" cy="3922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323850" algn="l" defTabSz="4572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过程：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323850" algn="l" defTabSz="4572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1→4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）连接的三糖单元从糖原的“极限分支”转移到另一个分支的非还原端（糖基转移酶）。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323850" algn="l" defTabSz="4572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催化剩余的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1→6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）糖基残基水解 ，产生葡萄糖（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％）。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32385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6186" r="10057"/>
          <a:stretch>
            <a:fillRect/>
          </a:stretch>
        </p:blipFill>
        <p:spPr>
          <a:xfrm>
            <a:off x="6644106" y="1243932"/>
            <a:ext cx="5099902" cy="52811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690411" y="96762"/>
            <a:ext cx="73506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rPr>
              <a:t>磷酸葡萄糖变位酶：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G1P →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G6P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04" y="1058334"/>
            <a:ext cx="11907592" cy="554203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909974" y="153670"/>
            <a:ext cx="90075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内质网的葡萄糖6-磷酸酶水解葡萄糖6-磷酸</a:t>
            </a:r>
          </a:p>
        </p:txBody>
      </p:sp>
      <p:sp>
        <p:nvSpPr>
          <p:cNvPr id="5" name="矩形 4"/>
          <p:cNvSpPr/>
          <p:nvPr/>
        </p:nvSpPr>
        <p:spPr>
          <a:xfrm>
            <a:off x="107005" y="4766310"/>
            <a:ext cx="12084995" cy="1436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323850" algn="l" defTabSz="4572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骨骼肌中的葡萄糖6-磷酸可以进入糖酵解，并作为支持肌肉收缩的能量来源。</a:t>
            </a:r>
          </a:p>
          <a:p>
            <a:pPr marL="285750" marR="0" lvl="0" indent="-323850" algn="l" defTabSz="4572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在肝脏中，当血糖水平下降时，葡萄糖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释放到血液中。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葡萄糖6-磷酸酶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，存在于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肝脏和肾脏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活性位点位于</a:t>
            </a: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内质网管腔内侧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706" y="984942"/>
            <a:ext cx="7760251" cy="3596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317399" y="-135466"/>
            <a:ext cx="7960039" cy="999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糖原合成需要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种关键酶</a:t>
            </a:r>
          </a:p>
        </p:txBody>
      </p:sp>
      <p:sp>
        <p:nvSpPr>
          <p:cNvPr id="11" name="矩形 10"/>
          <p:cNvSpPr/>
          <p:nvPr/>
        </p:nvSpPr>
        <p:spPr>
          <a:xfrm>
            <a:off x="1434614" y="2240616"/>
            <a:ext cx="10066867" cy="2680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UDP-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葡萄糖焦磷酸酶（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UDP–Glucose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Pyrophosphorylase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charset="0"/>
              <a:ea typeface="等线" panose="02010600030101010101" pitchFamily="2" charset="-122"/>
              <a:cs typeface="Comic Sans MS" panose="030F070203030202020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糖原合酶（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Glycogen Synthase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糖原分支酶（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 Glycogen Branching Enzyme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charset="0"/>
                <a:ea typeface="微软雅黑" panose="020B0503020204020204" pitchFamily="34" charset="-122"/>
                <a:cs typeface="Comic Sans MS" panose="030F0702030302020204" charset="0"/>
              </a:rPr>
              <a:t>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charset="0"/>
              <a:ea typeface="微软雅黑" panose="020B0503020204020204" pitchFamily="34" charset="-122"/>
              <a:cs typeface="Comic Sans MS" panose="030F0702030302020204" charset="0"/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21" y="1066799"/>
            <a:ext cx="10148558" cy="5648253"/>
          </a:xfrm>
          <a:prstGeom prst="rect">
            <a:avLst/>
          </a:prstGeom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1952953" y="-80984"/>
            <a:ext cx="9111188" cy="917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、葡萄糖活化：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UDP-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葡萄糖焦磷酸酶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4977" y="2534902"/>
            <a:ext cx="1465946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  <a:sym typeface="+mn-ea"/>
              </a:rPr>
              <a:t>磷酸葡萄糖变位酶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033812" y="4672827"/>
            <a:ext cx="1274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焦磷酸酶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335272" y="3244334"/>
            <a:ext cx="2328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UDP-葡萄糖焦磷酸酶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33464" y="4672827"/>
            <a:ext cx="2663617" cy="941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ppi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水解推动，等同消耗一个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ATP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。</a:t>
            </a: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QQ截图202205090906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334" y="880231"/>
            <a:ext cx="8416932" cy="5876169"/>
          </a:xfrm>
          <a:prstGeom prst="rect">
            <a:avLst/>
          </a:prstGeom>
          <a:ln>
            <a:noFill/>
          </a:ln>
        </p:spPr>
      </p:pic>
      <p:sp>
        <p:nvSpPr>
          <p:cNvPr id="7" name="矩形 6"/>
          <p:cNvSpPr/>
          <p:nvPr/>
        </p:nvSpPr>
        <p:spPr>
          <a:xfrm>
            <a:off x="3403697" y="-128125"/>
            <a:ext cx="4984057" cy="9998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、葡萄糖合成启动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230621" y="4489449"/>
            <a:ext cx="1210588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糖原合酶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F8F6508-6F85-DFBC-8A03-582031027C07}"/>
              </a:ext>
            </a:extLst>
          </p:cNvPr>
          <p:cNvCxnSpPr/>
          <p:nvPr/>
        </p:nvCxnSpPr>
        <p:spPr>
          <a:xfrm>
            <a:off x="8628435" y="4689504"/>
            <a:ext cx="9144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DE62A8B8-2AAA-BDBA-0FCE-8A8148BDE894}"/>
              </a:ext>
            </a:extLst>
          </p:cNvPr>
          <p:cNvSpPr/>
          <p:nvPr/>
        </p:nvSpPr>
        <p:spPr>
          <a:xfrm>
            <a:off x="0" y="1876588"/>
            <a:ext cx="4402666" cy="3104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首先，需要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以上的葡聚糖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糖原素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自动催化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8N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葡聚糖（从头合成）；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然后，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催化延伸。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27-6">
            <a:extLst>
              <a:ext uri="{FF2B5EF4-FFF2-40B4-BE49-F238E27FC236}">
                <a16:creationId xmlns:a16="http://schemas.microsoft.com/office/drawing/2014/main" id="{4A9D8147-C700-6785-7BDC-D96376D5E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628" y="0"/>
            <a:ext cx="7795372" cy="635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5">
            <a:extLst>
              <a:ext uri="{FF2B5EF4-FFF2-40B4-BE49-F238E27FC236}">
                <a16:creationId xmlns:a16="http://schemas.microsoft.com/office/drawing/2014/main" id="{9BAB059B-B6C9-154F-3663-AFD519213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193" y="6355293"/>
            <a:ext cx="2995613" cy="39687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rPr>
              <a:t>由糖原素引发的糖原合成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692817" y="-99701"/>
            <a:ext cx="6599884" cy="9173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、分支点引入：糖原分支酶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967" y="895488"/>
            <a:ext cx="7449123" cy="579376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2212" y="3292072"/>
            <a:ext cx="10826885" cy="328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糖原磷酸化酶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（非磷酸化，失活） → 糖原磷酸化酶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（磷酸化，活化） →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糖原分解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糖原合酶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（磷酸化，失活） → 糖原合酶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（非磷酸化，活化） →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糖原合成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1055" y="126272"/>
            <a:ext cx="756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糖原代谢的调节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EAC104B-18D1-461F-D290-731B87350DDA}"/>
              </a:ext>
            </a:extLst>
          </p:cNvPr>
          <p:cNvSpPr txBox="1">
            <a:spLocks noChangeArrowheads="1"/>
          </p:cNvSpPr>
          <p:nvPr/>
        </p:nvSpPr>
        <p:spPr>
          <a:xfrm>
            <a:off x="197344" y="1307729"/>
            <a:ext cx="11797310" cy="24590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«"/>
              <a:tabLst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楷体" panose="02010609060101010101" pitchFamily="49" charset="-122"/>
                <a:cs typeface="+mn-cs"/>
              </a:rPr>
              <a:t>糖原分解和合成的限速酶分别是糖原磷酸化酶和糖原合酶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楷体" panose="02010609060101010101" pitchFamily="49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«"/>
              <a:tabLst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楷体" panose="02010609060101010101" pitchFamily="49" charset="-122"/>
                <a:cs typeface="+mn-cs"/>
              </a:rPr>
              <a:t>调节这两种酶活性的方式主要有两种，一是别构调节，二是受激素控制的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“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楷体" panose="02010609060101010101" pitchFamily="49" charset="-122"/>
                <a:cs typeface="+mn-cs"/>
              </a:rPr>
              <a:t>可逆磷酸化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楷体" panose="02010609060101010101" pitchFamily="49" charset="-122"/>
                <a:cs typeface="+mn-cs"/>
              </a:rPr>
              <a:t>调节。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楷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34" y="925095"/>
            <a:ext cx="5101465" cy="5777265"/>
          </a:xfrm>
          <a:prstGeom prst="rect">
            <a:avLst/>
          </a:prstGeom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16886" y="2239353"/>
            <a:ext cx="3967565" cy="25998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phosphorylase  b  kinase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糖原磷酸化酶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激酶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phosphoprotein  phosphatase1  (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磷蛋白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磷酸酶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802964" y="2073067"/>
            <a:ext cx="1693092" cy="369332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糖原磷酸化酶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</a:t>
            </a:r>
          </a:p>
        </p:txBody>
      </p:sp>
      <p:sp>
        <p:nvSpPr>
          <p:cNvPr id="9" name="矩形 8"/>
          <p:cNvSpPr/>
          <p:nvPr/>
        </p:nvSpPr>
        <p:spPr>
          <a:xfrm>
            <a:off x="8802964" y="5947610"/>
            <a:ext cx="1683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糖原磷酸化酶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10980" y="2718435"/>
            <a:ext cx="9448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胰高血糖素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316720" y="3783965"/>
            <a:ext cx="792480" cy="2755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肾上腺素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919820" y="73055"/>
            <a:ext cx="756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糖原磷酸化酶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591733" y="2092004"/>
            <a:ext cx="3458589" cy="33508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phosphoprotein  phosphatase  1  (PP1)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磷蛋白磷酸酶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glycogen  synthase  kinase  3  (GSK3)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糖原合酶激酶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5945"/>
          <a:stretch>
            <a:fillRect/>
          </a:stretch>
        </p:blipFill>
        <p:spPr>
          <a:xfrm>
            <a:off x="5468143" y="1073066"/>
            <a:ext cx="5823557" cy="5749526"/>
          </a:xfrm>
          <a:prstGeom prst="rect">
            <a:avLst/>
          </a:prstGeom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7825923" y="3756236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糖原合酶</a:t>
            </a:r>
          </a:p>
        </p:txBody>
      </p:sp>
      <p:sp>
        <p:nvSpPr>
          <p:cNvPr id="6" name="矩形 5"/>
          <p:cNvSpPr/>
          <p:nvPr/>
        </p:nvSpPr>
        <p:spPr>
          <a:xfrm>
            <a:off x="4753860" y="42335"/>
            <a:ext cx="26468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糖原合酶</a:t>
            </a:r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534" y="0"/>
            <a:ext cx="6912961" cy="6768000"/>
          </a:xfrm>
          <a:prstGeom prst="rect">
            <a:avLst/>
          </a:prstGeom>
          <a:ln>
            <a:noFill/>
          </a:ln>
        </p:spPr>
      </p:pic>
      <p:sp>
        <p:nvSpPr>
          <p:cNvPr id="9" name="矩形 8"/>
          <p:cNvSpPr/>
          <p:nvPr/>
        </p:nvSpPr>
        <p:spPr>
          <a:xfrm>
            <a:off x="618066" y="2271754"/>
            <a:ext cx="2695720" cy="22213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胰高血糖素，肾上腺素→ 糖原分解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16273" y="1963977"/>
            <a:ext cx="1432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 protein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050067" y="1625422"/>
            <a:ext cx="1432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 protein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57172" y="4329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胰高血糖素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246736" y="159464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肾上腺素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3142" y="263007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腺苷酸环化酶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376166" y="4442404"/>
            <a:ext cx="78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磷酸化酶激酶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367935" y="5194791"/>
            <a:ext cx="675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糖原磷酸化酶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11072" y="6426727"/>
            <a:ext cx="272006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糖原分解 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糖原合成（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674464" y="4733957"/>
            <a:ext cx="78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糖原合酶激酶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723156" y="5195622"/>
            <a:ext cx="6027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糖原合酶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（磷酸化失活）</a:t>
            </a:r>
          </a:p>
        </p:txBody>
      </p:sp>
      <p:sp>
        <p:nvSpPr>
          <p:cNvPr id="18" name="矩形 17"/>
          <p:cNvSpPr/>
          <p:nvPr/>
        </p:nvSpPr>
        <p:spPr>
          <a:xfrm>
            <a:off x="5256950" y="5602787"/>
            <a:ext cx="131318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（磷酸化，活化）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55435" y="45085"/>
            <a:ext cx="47752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肝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        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32015" y="45085"/>
            <a:ext cx="64008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肌肉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9080" y="6224271"/>
            <a:ext cx="1117614" cy="27699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糖酵解 （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+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570731" y="6303645"/>
            <a:ext cx="92365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糖酵解 （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-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糖异生（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+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）</a:t>
            </a: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>
            <a:fillRect/>
          </a:stretch>
        </p:blipFill>
        <p:spPr>
          <a:xfrm>
            <a:off x="3028091" y="145590"/>
            <a:ext cx="7399010" cy="6555599"/>
          </a:xfrm>
          <a:prstGeom prst="rect">
            <a:avLst/>
          </a:prstGeom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674641" y="2683416"/>
            <a:ext cx="2007153" cy="10772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胰岛素 → 糖原合成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727596" y="145590"/>
            <a:ext cx="942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胰岛素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727838" y="3083526"/>
            <a:ext cx="1234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蛋白激酶级联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427126" y="4025993"/>
            <a:ext cx="794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糖原合酶激酶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915505" y="5299941"/>
            <a:ext cx="9499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糖原合酶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579310" y="6127672"/>
            <a:ext cx="78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磷蛋白磷酸酶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3825488" y="5873024"/>
            <a:ext cx="395926" cy="28305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271490" y="6220004"/>
            <a:ext cx="110799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糖原合成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57870" y="1235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2</a:t>
            </a: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Q4ODQwNThiYTg4YTBlNDhkZDRmNGNiNWM5NWE1YzAifQ=="/>
  <p:tag name="KSO_WPP_MARK_KEY" val="4a423b46-86ef-4b4e-9829-10b3c60a284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231,&quot;width&quot;:8814}"/>
</p:tagLst>
</file>

<file path=ppt/theme/theme1.xml><?xml version="1.0" encoding="utf-8"?>
<a:theme xmlns:a="http://schemas.openxmlformats.org/drawingml/2006/main" name="4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rgbClr val="FF0000"/>
          </a:solidFill>
        </a:ln>
      </a:spPr>
      <a:bodyPr rtlCol="0" anchor="ctr"/>
      <a:lstStyle>
        <a:defPPr algn="ctr">
          <a:defRPr>
            <a:ln>
              <a:solidFill>
                <a:srgbClr val="FF0000"/>
              </a:solidFill>
            </a:ln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2334</Words>
  <Application>Microsoft Office PowerPoint</Application>
  <PresentationFormat>宽屏</PresentationFormat>
  <Paragraphs>323</Paragraphs>
  <Slides>55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0" baseType="lpstr">
      <vt:lpstr>等线</vt:lpstr>
      <vt:lpstr>楷体</vt:lpstr>
      <vt:lpstr>微软雅黑</vt:lpstr>
      <vt:lpstr>Arial</vt:lpstr>
      <vt:lpstr>Arial Narrow</vt:lpstr>
      <vt:lpstr>Calibri</vt:lpstr>
      <vt:lpstr>Calibri Light</vt:lpstr>
      <vt:lpstr>Comic Sans MS</vt:lpstr>
      <vt:lpstr>Times</vt:lpstr>
      <vt:lpstr>Times New Roman</vt:lpstr>
      <vt:lpstr>Wingdings</vt:lpstr>
      <vt:lpstr>4_Office 主题​​</vt:lpstr>
      <vt:lpstr>Office 主题​​</vt:lpstr>
      <vt:lpstr>3_Office 主题​​</vt:lpstr>
      <vt:lpstr>CorelDRAW.Graphic.9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磷酸戊糖途径的功能 </vt:lpstr>
      <vt:lpstr>PowerPoint 演示文稿</vt:lpstr>
      <vt:lpstr>PowerPoint 演示文稿</vt:lpstr>
      <vt:lpstr>PowerPoint 演示文稿</vt:lpstr>
      <vt:lpstr>磷酸戊糖途径的调节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糖异生的底物(动物)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PCR</dc:title>
  <dc:creator>biochem</dc:creator>
  <cp:lastModifiedBy>Admin</cp:lastModifiedBy>
  <cp:revision>515</cp:revision>
  <dcterms:created xsi:type="dcterms:W3CDTF">2005-04-16T03:30:00Z</dcterms:created>
  <dcterms:modified xsi:type="dcterms:W3CDTF">2023-12-05T03:59:36Z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0F90B9FC2E4743418CD07A3FD33B5D34</vt:lpwstr>
  </property>
</Properties>
</file>