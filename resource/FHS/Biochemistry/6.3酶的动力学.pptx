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Lst>
  <p:notesMasterIdLst>
    <p:notesMasterId r:id="rId82"/>
  </p:notesMasterIdLst>
  <p:sldIdLst>
    <p:sldId id="1205" r:id="rId4"/>
    <p:sldId id="1206" r:id="rId5"/>
    <p:sldId id="657" r:id="rId6"/>
    <p:sldId id="630" r:id="rId7"/>
    <p:sldId id="722" r:id="rId8"/>
    <p:sldId id="723" r:id="rId9"/>
    <p:sldId id="724" r:id="rId10"/>
    <p:sldId id="725" r:id="rId11"/>
    <p:sldId id="1208" r:id="rId12"/>
    <p:sldId id="726" r:id="rId13"/>
    <p:sldId id="729" r:id="rId14"/>
    <p:sldId id="731" r:id="rId15"/>
    <p:sldId id="732" r:id="rId16"/>
    <p:sldId id="733" r:id="rId17"/>
    <p:sldId id="735" r:id="rId18"/>
    <p:sldId id="736" r:id="rId19"/>
    <p:sldId id="737" r:id="rId20"/>
    <p:sldId id="1216" r:id="rId21"/>
    <p:sldId id="1210" r:id="rId22"/>
    <p:sldId id="1211" r:id="rId23"/>
    <p:sldId id="1212" r:id="rId24"/>
    <p:sldId id="1213" r:id="rId25"/>
    <p:sldId id="1217" r:id="rId26"/>
    <p:sldId id="744" r:id="rId27"/>
    <p:sldId id="745" r:id="rId28"/>
    <p:sldId id="1218" r:id="rId29"/>
    <p:sldId id="748" r:id="rId30"/>
    <p:sldId id="1225" r:id="rId31"/>
    <p:sldId id="1219" r:id="rId32"/>
    <p:sldId id="749" r:id="rId33"/>
    <p:sldId id="1224" r:id="rId34"/>
    <p:sldId id="1223" r:id="rId35"/>
    <p:sldId id="1221" r:id="rId36"/>
    <p:sldId id="752" r:id="rId37"/>
    <p:sldId id="859" r:id="rId38"/>
    <p:sldId id="779" r:id="rId39"/>
    <p:sldId id="753" r:id="rId40"/>
    <p:sldId id="754" r:id="rId41"/>
    <p:sldId id="755" r:id="rId42"/>
    <p:sldId id="1226" r:id="rId43"/>
    <p:sldId id="1229" r:id="rId44"/>
    <p:sldId id="1230" r:id="rId45"/>
    <p:sldId id="1242" r:id="rId46"/>
    <p:sldId id="1261" r:id="rId47"/>
    <p:sldId id="1243" r:id="rId48"/>
    <p:sldId id="1245" r:id="rId49"/>
    <p:sldId id="1246" r:id="rId50"/>
    <p:sldId id="1232" r:id="rId51"/>
    <p:sldId id="1251" r:id="rId52"/>
    <p:sldId id="1256" r:id="rId53"/>
    <p:sldId id="1257" r:id="rId54"/>
    <p:sldId id="1260" r:id="rId55"/>
    <p:sldId id="1259" r:id="rId56"/>
    <p:sldId id="1254" r:id="rId57"/>
    <p:sldId id="1247" r:id="rId58"/>
    <p:sldId id="1234" r:id="rId59"/>
    <p:sldId id="1236" r:id="rId60"/>
    <p:sldId id="1237" r:id="rId61"/>
    <p:sldId id="1248" r:id="rId62"/>
    <p:sldId id="1239" r:id="rId63"/>
    <p:sldId id="1249" r:id="rId64"/>
    <p:sldId id="1241" r:id="rId65"/>
    <p:sldId id="658" r:id="rId66"/>
    <p:sldId id="761" r:id="rId67"/>
    <p:sldId id="762" r:id="rId68"/>
    <p:sldId id="764" r:id="rId69"/>
    <p:sldId id="765" r:id="rId70"/>
    <p:sldId id="766" r:id="rId71"/>
    <p:sldId id="659" r:id="rId72"/>
    <p:sldId id="767" r:id="rId73"/>
    <p:sldId id="768" r:id="rId74"/>
    <p:sldId id="692" r:id="rId75"/>
    <p:sldId id="769" r:id="rId76"/>
    <p:sldId id="770" r:id="rId77"/>
    <p:sldId id="772" r:id="rId78"/>
    <p:sldId id="773" r:id="rId79"/>
    <p:sldId id="774" r:id="rId80"/>
    <p:sldId id="771" r:id="rId81"/>
  </p:sldIdLst>
  <p:sldSz cx="12192000" cy="6858000"/>
  <p:notesSz cx="6858000" cy="9144000"/>
  <p:custDataLst>
    <p:tags r:id="rId8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03" autoAdjust="0"/>
  </p:normalViewPr>
  <p:slideViewPr>
    <p:cSldViewPr snapToGrid="0">
      <p:cViewPr varScale="1">
        <p:scale>
          <a:sx n="61" d="100"/>
          <a:sy n="61" d="100"/>
        </p:scale>
        <p:origin x="-832"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notesMaster" Target="notesMasters/notesMaster1.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4.wmf"/><Relationship Id="rId5" Type="http://schemas.openxmlformats.org/officeDocument/2006/relationships/image" Target="../media/image19.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4.wmf"/><Relationship Id="rId2" Type="http://schemas.openxmlformats.org/officeDocument/2006/relationships/image" Target="../media/image20.wmf"/><Relationship Id="rId1" Type="http://schemas.openxmlformats.org/officeDocument/2006/relationships/image" Target="../media/image14.wmf"/><Relationship Id="rId6" Type="http://schemas.openxmlformats.org/officeDocument/2006/relationships/image" Target="../media/image23.wmf"/><Relationship Id="rId5" Type="http://schemas.openxmlformats.org/officeDocument/2006/relationships/image" Target="../media/image19.wmf"/><Relationship Id="rId4"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14.wmf"/><Relationship Id="rId6"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DD6F7-F09E-4907-BF79-6C84CA457639}" type="datetimeFigureOut">
              <a:rPr lang="zh-CN" altLang="en-US" smtClean="0"/>
              <a:t>2023/11/16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9383A-97AB-4E9F-ADB2-1ECE650A7D90}" type="slidenum">
              <a:rPr lang="zh-CN" altLang="en-US" smtClean="0"/>
              <a:t>‹#›</a:t>
            </a:fld>
            <a:endParaRPr lang="zh-CN" altLang="en-US"/>
          </a:p>
        </p:txBody>
      </p:sp>
    </p:spTree>
    <p:extLst>
      <p:ext uri="{BB962C8B-B14F-4D97-AF65-F5344CB8AC3E}">
        <p14:creationId xmlns:p14="http://schemas.microsoft.com/office/powerpoint/2010/main" val="463063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水生栖热菌 Thermus Aquaticus （ Taq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519383A-97AB-4E9F-ADB2-1ECE650A7D90}" type="slidenum">
              <a:rPr lang="zh-CN" altLang="en-US" smtClean="0"/>
              <a:t>17</a:t>
            </a:fld>
            <a:endParaRPr lang="zh-CN" altLang="en-US"/>
          </a:p>
        </p:txBody>
      </p:sp>
    </p:spTree>
    <p:extLst>
      <p:ext uri="{BB962C8B-B14F-4D97-AF65-F5344CB8AC3E}">
        <p14:creationId xmlns:p14="http://schemas.microsoft.com/office/powerpoint/2010/main" val="2396470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18</a:t>
            </a:fld>
            <a:endParaRPr lang="zh-CN" altLang="en-US"/>
          </a:p>
        </p:txBody>
      </p:sp>
    </p:spTree>
    <p:extLst>
      <p:ext uri="{BB962C8B-B14F-4D97-AF65-F5344CB8AC3E}">
        <p14:creationId xmlns:p14="http://schemas.microsoft.com/office/powerpoint/2010/main" val="1213689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519383A-97AB-4E9F-ADB2-1ECE650A7D90}" type="slidenum">
              <a:rPr lang="zh-CN" altLang="en-US" smtClean="0"/>
              <a:t>19</a:t>
            </a:fld>
            <a:endParaRPr lang="zh-CN" altLang="en-US"/>
          </a:p>
        </p:txBody>
      </p:sp>
    </p:spTree>
    <p:extLst>
      <p:ext uri="{BB962C8B-B14F-4D97-AF65-F5344CB8AC3E}">
        <p14:creationId xmlns:p14="http://schemas.microsoft.com/office/powerpoint/2010/main" val="102128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如何衡量比较不同酶的催化效率？</a:t>
            </a:r>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21</a:t>
            </a:fld>
            <a:endParaRPr lang="zh-CN" altLang="en-US"/>
          </a:p>
        </p:txBody>
      </p:sp>
    </p:spTree>
    <p:extLst>
      <p:ext uri="{BB962C8B-B14F-4D97-AF65-F5344CB8AC3E}">
        <p14:creationId xmlns:p14="http://schemas.microsoft.com/office/powerpoint/2010/main" val="3851729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22</a:t>
            </a:fld>
            <a:endParaRPr lang="zh-CN" altLang="en-US"/>
          </a:p>
        </p:txBody>
      </p:sp>
    </p:spTree>
    <p:extLst>
      <p:ext uri="{BB962C8B-B14F-4D97-AF65-F5344CB8AC3E}">
        <p14:creationId xmlns:p14="http://schemas.microsoft.com/office/powerpoint/2010/main" val="3082945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dirty="0" smtClean="0">
                <a:latin typeface="Times New Roman" pitchFamily="18" charset="0"/>
                <a:ea typeface="楷体" pitchFamily="49" charset="-122"/>
                <a:cs typeface="Times New Roman" pitchFamily="18" charset="0"/>
              </a:rPr>
              <a:t>直接使用米氏方程中的</a:t>
            </a:r>
            <a:r>
              <a:rPr lang="en-US" altLang="zh-CN" sz="1200" i="1" dirty="0" smtClean="0">
                <a:latin typeface="Times New Roman" pitchFamily="18" charset="0"/>
                <a:ea typeface="楷体" pitchFamily="49" charset="-122"/>
                <a:cs typeface="Times New Roman" pitchFamily="18" charset="0"/>
              </a:rPr>
              <a:t>v</a:t>
            </a:r>
            <a:r>
              <a:rPr lang="zh-CN" altLang="zh-CN" sz="1200" dirty="0" smtClean="0">
                <a:latin typeface="Times New Roman" pitchFamily="18" charset="0"/>
                <a:ea typeface="楷体" pitchFamily="49" charset="-122"/>
                <a:cs typeface="Times New Roman" pitchFamily="18" charset="0"/>
              </a:rPr>
              <a:t>对</a:t>
            </a:r>
            <a:r>
              <a:rPr lang="en-US" altLang="zh-CN" sz="1200" dirty="0" smtClean="0">
                <a:latin typeface="Times New Roman" pitchFamily="18" charset="0"/>
                <a:ea typeface="楷体" pitchFamily="49" charset="-122"/>
                <a:cs typeface="Times New Roman" pitchFamily="18" charset="0"/>
              </a:rPr>
              <a:t>[</a:t>
            </a:r>
            <a:r>
              <a:rPr lang="en-US" altLang="zh-CN" sz="1200" i="1" dirty="0" smtClean="0">
                <a:latin typeface="Times New Roman" pitchFamily="18" charset="0"/>
                <a:ea typeface="楷体" pitchFamily="49" charset="-122"/>
                <a:cs typeface="Times New Roman" pitchFamily="18" charset="0"/>
              </a:rPr>
              <a:t>S</a:t>
            </a:r>
            <a:r>
              <a:rPr lang="en-US" altLang="zh-CN" sz="1200" dirty="0" smtClean="0">
                <a:latin typeface="Times New Roman" pitchFamily="18" charset="0"/>
                <a:ea typeface="楷体" pitchFamily="49" charset="-122"/>
                <a:cs typeface="Times New Roman" pitchFamily="18" charset="0"/>
              </a:rPr>
              <a:t>]</a:t>
            </a:r>
            <a:r>
              <a:rPr lang="zh-CN" altLang="zh-CN" sz="1200" dirty="0" smtClean="0">
                <a:latin typeface="Times New Roman" pitchFamily="18" charset="0"/>
                <a:ea typeface="楷体" pitchFamily="49" charset="-122"/>
                <a:cs typeface="Times New Roman" pitchFamily="18" charset="0"/>
              </a:rPr>
              <a:t>作图得到的是一条曲线，从图中虽然也能得到</a:t>
            </a:r>
            <a:r>
              <a:rPr lang="en-US" altLang="zh-CN" sz="1200" i="1" dirty="0" smtClean="0">
                <a:latin typeface="Times New Roman" pitchFamily="18" charset="0"/>
                <a:ea typeface="楷体" pitchFamily="49" charset="-122"/>
                <a:cs typeface="Times New Roman" pitchFamily="18" charset="0"/>
              </a:rPr>
              <a:t>K</a:t>
            </a:r>
            <a:r>
              <a:rPr lang="en-US" altLang="zh-CN" sz="1200" i="1" baseline="-25000" dirty="0" smtClean="0">
                <a:latin typeface="Times New Roman" pitchFamily="18" charset="0"/>
                <a:ea typeface="楷体" pitchFamily="49" charset="-122"/>
                <a:cs typeface="Times New Roman" pitchFamily="18" charset="0"/>
              </a:rPr>
              <a:t>m</a:t>
            </a:r>
            <a:r>
              <a:rPr lang="en-US" altLang="zh-CN" sz="1200" dirty="0" smtClean="0">
                <a:latin typeface="Times New Roman" pitchFamily="18" charset="0"/>
                <a:ea typeface="楷体" pitchFamily="49" charset="-122"/>
                <a:cs typeface="Times New Roman" pitchFamily="18" charset="0"/>
              </a:rPr>
              <a:t> </a:t>
            </a:r>
            <a:r>
              <a:rPr lang="zh-CN" altLang="zh-CN" sz="1200" dirty="0" smtClean="0">
                <a:latin typeface="Times New Roman" pitchFamily="18" charset="0"/>
                <a:ea typeface="楷体" pitchFamily="49" charset="-122"/>
                <a:cs typeface="Times New Roman" pitchFamily="18" charset="0"/>
              </a:rPr>
              <a:t>值和</a:t>
            </a:r>
            <a:r>
              <a:rPr lang="en-US" altLang="zh-CN" sz="1200" i="1" dirty="0" err="1" smtClean="0">
                <a:latin typeface="Times New Roman" pitchFamily="18" charset="0"/>
                <a:ea typeface="楷体" pitchFamily="49" charset="-122"/>
                <a:cs typeface="Times New Roman" pitchFamily="18" charset="0"/>
              </a:rPr>
              <a:t>V</a:t>
            </a:r>
            <a:r>
              <a:rPr lang="en-US" altLang="zh-CN" sz="1200" i="1" baseline="-25000" dirty="0" err="1" smtClean="0">
                <a:latin typeface="Times New Roman" pitchFamily="18" charset="0"/>
                <a:ea typeface="楷体" pitchFamily="49" charset="-122"/>
                <a:cs typeface="Times New Roman" pitchFamily="18" charset="0"/>
              </a:rPr>
              <a:t>max</a:t>
            </a:r>
            <a:r>
              <a:rPr lang="zh-CN" altLang="zh-CN" sz="1200" dirty="0" smtClean="0">
                <a:latin typeface="Times New Roman" pitchFamily="18" charset="0"/>
                <a:ea typeface="楷体" pitchFamily="49" charset="-122"/>
                <a:cs typeface="Times New Roman" pitchFamily="18" charset="0"/>
              </a:rPr>
              <a:t>值，然而，由于实验误差的客观存在，只要出现任何可见的误差使数据点偏离真实的位置，那么就很难画出一个很完美的曲线，但在同样的条件下，画直线更容易。因此，将米氏方程进行线性化处理就显得十分必要。</a:t>
            </a:r>
            <a:r>
              <a:rPr lang="en-US" altLang="zh-CN" sz="1200" dirty="0" smtClean="0">
                <a:latin typeface="Times New Roman" pitchFamily="18" charset="0"/>
                <a:ea typeface="楷体" pitchFamily="49" charset="-122"/>
                <a:cs typeface="Times New Roman" pitchFamily="18" charset="0"/>
              </a:rPr>
              <a:t> </a:t>
            </a:r>
            <a:endParaRPr lang="zh-CN" altLang="en-US" sz="1200" dirty="0" smtClean="0">
              <a:latin typeface="Times New Roman" pitchFamily="18" charset="0"/>
              <a:ea typeface="楷体" pitchFamily="49" charset="-122"/>
              <a:cs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24</a:t>
            </a:fld>
            <a:endParaRPr lang="zh-CN" altLang="en-US"/>
          </a:p>
        </p:txBody>
      </p:sp>
    </p:spTree>
    <p:extLst>
      <p:ext uri="{BB962C8B-B14F-4D97-AF65-F5344CB8AC3E}">
        <p14:creationId xmlns:p14="http://schemas.microsoft.com/office/powerpoint/2010/main" val="470246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αKm</a:t>
            </a:r>
            <a:r>
              <a:rPr lang="zh-CN" altLang="en-US" baseline="0" dirty="0" smtClean="0"/>
              <a:t>：表观米氏常数</a:t>
            </a:r>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29</a:t>
            </a:fld>
            <a:endParaRPr lang="zh-CN" altLang="en-US"/>
          </a:p>
        </p:txBody>
      </p:sp>
    </p:spTree>
    <p:extLst>
      <p:ext uri="{BB962C8B-B14F-4D97-AF65-F5344CB8AC3E}">
        <p14:creationId xmlns:p14="http://schemas.microsoft.com/office/powerpoint/2010/main" val="1187077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54</a:t>
            </a:fld>
            <a:endParaRPr lang="zh-CN" altLang="en-US"/>
          </a:p>
        </p:txBody>
      </p:sp>
    </p:spTree>
    <p:extLst>
      <p:ext uri="{BB962C8B-B14F-4D97-AF65-F5344CB8AC3E}">
        <p14:creationId xmlns:p14="http://schemas.microsoft.com/office/powerpoint/2010/main" val="2011420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Chymotrypsin(</a:t>
            </a:r>
            <a:r>
              <a:rPr lang="zh-CN" altLang="en-US" dirty="0" smtClean="0"/>
              <a:t>糜蛋白酶</a:t>
            </a:r>
            <a:r>
              <a:rPr lang="en-US" altLang="zh-CN" dirty="0" smtClean="0"/>
              <a:t>) is generated by </a:t>
            </a:r>
            <a:r>
              <a:rPr lang="en-US" altLang="zh-CN" dirty="0" err="1" smtClean="0"/>
              <a:t>proteolytic</a:t>
            </a:r>
            <a:r>
              <a:rPr lang="en-US" altLang="zh-CN" dirty="0" smtClean="0"/>
              <a:t> processing of </a:t>
            </a:r>
            <a:r>
              <a:rPr lang="en-US" altLang="zh-CN" dirty="0" err="1" smtClean="0"/>
              <a:t>chymotrypsinogen</a:t>
            </a:r>
            <a:r>
              <a:rPr lang="en-US" altLang="zh-CN" dirty="0" smtClean="0"/>
              <a:t>(</a:t>
            </a:r>
            <a:r>
              <a:rPr lang="zh-CN" altLang="en-US" dirty="0" smtClean="0"/>
              <a:t>糜蛋白酶原</a:t>
            </a:r>
            <a:r>
              <a:rPr lang="en-US" altLang="zh-CN" dirty="0" smtClean="0"/>
              <a:t>) into three polypeptide chains as shown by the colored bars. Trypsin</a:t>
            </a:r>
            <a:r>
              <a:rPr lang="zh-CN" altLang="en-US" dirty="0" smtClean="0"/>
              <a:t>（胰蛋白酶） </a:t>
            </a:r>
            <a:r>
              <a:rPr lang="en-US" altLang="zh-CN" dirty="0" smtClean="0"/>
              <a:t>cleaves </a:t>
            </a:r>
            <a:r>
              <a:rPr lang="en-US" altLang="zh-CN" dirty="0" err="1" smtClean="0"/>
              <a:t>chymotrypsinogen</a:t>
            </a:r>
            <a:r>
              <a:rPr lang="en-US" altLang="zh-CN" dirty="0" smtClean="0"/>
              <a:t> (inactive zymogen) to create </a:t>
            </a:r>
            <a:r>
              <a:rPr lang="el-GR" altLang="zh-CN" dirty="0" smtClean="0"/>
              <a:t>π-</a:t>
            </a:r>
            <a:r>
              <a:rPr lang="en-US" altLang="zh-CN" dirty="0" smtClean="0"/>
              <a:t>chymotrypsin, which cleaves other </a:t>
            </a:r>
            <a:r>
              <a:rPr lang="el-GR" altLang="zh-CN" dirty="0" smtClean="0"/>
              <a:t>π-</a:t>
            </a:r>
            <a:r>
              <a:rPr lang="en-US" altLang="zh-CN" dirty="0" smtClean="0"/>
              <a:t>chymotrypsin molecules to generate the fully active </a:t>
            </a:r>
            <a:r>
              <a:rPr lang="el-GR" altLang="zh-CN" dirty="0" smtClean="0"/>
              <a:t>α-</a:t>
            </a:r>
            <a:r>
              <a:rPr lang="en-US" altLang="zh-CN" dirty="0" smtClean="0"/>
              <a:t>chymotrypsin enzyme.</a:t>
            </a:r>
          </a:p>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59</a:t>
            </a:fld>
            <a:endParaRPr lang="zh-CN" altLang="en-US"/>
          </a:p>
        </p:txBody>
      </p:sp>
    </p:spTree>
    <p:extLst>
      <p:ext uri="{BB962C8B-B14F-4D97-AF65-F5344CB8AC3E}">
        <p14:creationId xmlns:p14="http://schemas.microsoft.com/office/powerpoint/2010/main" val="2131245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2023/11/16</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30.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9.wmf"/><Relationship Id="rId3" Type="http://schemas.openxmlformats.org/officeDocument/2006/relationships/oleObject" Target="../embeddings/oleObject5.bin"/><Relationship Id="rId7" Type="http://schemas.openxmlformats.org/officeDocument/2006/relationships/image" Target="../media/image16.wmf"/><Relationship Id="rId12" Type="http://schemas.openxmlformats.org/officeDocument/2006/relationships/oleObject" Target="../embeddings/oleObject10.bin"/><Relationship Id="rId2" Type="http://schemas.openxmlformats.org/officeDocument/2006/relationships/slideLayout" Target="../slideLayouts/slideLayout30.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8.wmf"/><Relationship Id="rId5" Type="http://schemas.openxmlformats.org/officeDocument/2006/relationships/oleObject" Target="../embeddings/oleObject6.bin"/><Relationship Id="rId10" Type="http://schemas.openxmlformats.org/officeDocument/2006/relationships/oleObject" Target="../embeddings/oleObject9.bin"/><Relationship Id="rId4" Type="http://schemas.openxmlformats.org/officeDocument/2006/relationships/image" Target="../media/image14.wmf"/><Relationship Id="rId9" Type="http://schemas.openxmlformats.org/officeDocument/2006/relationships/image" Target="../media/image17.wmf"/></Relationships>
</file>

<file path=ppt/slides/_rels/slide15.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7.bin"/><Relationship Id="rId18" Type="http://schemas.openxmlformats.org/officeDocument/2006/relationships/image" Target="../media/image24.wmf"/><Relationship Id="rId3" Type="http://schemas.openxmlformats.org/officeDocument/2006/relationships/oleObject" Target="../embeddings/oleObject11.bin"/><Relationship Id="rId7" Type="http://schemas.openxmlformats.org/officeDocument/2006/relationships/oleObject" Target="../embeddings/oleObject14.bin"/><Relationship Id="rId12" Type="http://schemas.openxmlformats.org/officeDocument/2006/relationships/image" Target="../media/image22.wmf"/><Relationship Id="rId17" Type="http://schemas.openxmlformats.org/officeDocument/2006/relationships/oleObject" Target="../embeddings/oleObject19.bin"/><Relationship Id="rId2" Type="http://schemas.openxmlformats.org/officeDocument/2006/relationships/slideLayout" Target="../slideLayouts/slideLayout30.xml"/><Relationship Id="rId16" Type="http://schemas.openxmlformats.org/officeDocument/2006/relationships/image" Target="../media/image23.wmf"/><Relationship Id="rId1" Type="http://schemas.openxmlformats.org/officeDocument/2006/relationships/vmlDrawing" Target="../drawings/vmlDrawing4.vml"/><Relationship Id="rId6" Type="http://schemas.openxmlformats.org/officeDocument/2006/relationships/oleObject" Target="../embeddings/oleObject13.bin"/><Relationship Id="rId11" Type="http://schemas.openxmlformats.org/officeDocument/2006/relationships/oleObject" Target="../embeddings/oleObject16.bin"/><Relationship Id="rId5" Type="http://schemas.openxmlformats.org/officeDocument/2006/relationships/oleObject" Target="../embeddings/oleObject12.bin"/><Relationship Id="rId15" Type="http://schemas.openxmlformats.org/officeDocument/2006/relationships/oleObject" Target="../embeddings/oleObject18.bin"/><Relationship Id="rId10" Type="http://schemas.openxmlformats.org/officeDocument/2006/relationships/image" Target="../media/image21.wmf"/><Relationship Id="rId4" Type="http://schemas.openxmlformats.org/officeDocument/2006/relationships/image" Target="../media/image14.wmf"/><Relationship Id="rId9" Type="http://schemas.openxmlformats.org/officeDocument/2006/relationships/oleObject" Target="../embeddings/oleObject15.bin"/><Relationship Id="rId14" Type="http://schemas.openxmlformats.org/officeDocument/2006/relationships/image" Target="../media/image19.wmf"/></Relationships>
</file>

<file path=ppt/slides/_rels/slide16.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8.wmf"/><Relationship Id="rId2" Type="http://schemas.openxmlformats.org/officeDocument/2006/relationships/slideLayout" Target="../slideLayouts/slideLayout30.xml"/><Relationship Id="rId1" Type="http://schemas.openxmlformats.org/officeDocument/2006/relationships/vmlDrawing" Target="../drawings/vmlDrawing5.vml"/><Relationship Id="rId6" Type="http://schemas.openxmlformats.org/officeDocument/2006/relationships/image" Target="../media/image25.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image" Target="../media/image24.wmf"/><Relationship Id="rId10" Type="http://schemas.openxmlformats.org/officeDocument/2006/relationships/image" Target="../media/image27.wmf"/><Relationship Id="rId4" Type="http://schemas.openxmlformats.org/officeDocument/2006/relationships/image" Target="../media/image14.wmf"/><Relationship Id="rId9" Type="http://schemas.openxmlformats.org/officeDocument/2006/relationships/oleObject" Target="../embeddings/oleObject23.bin"/><Relationship Id="rId14"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0.xml"/><Relationship Id="rId1" Type="http://schemas.openxmlformats.org/officeDocument/2006/relationships/vmlDrawing" Target="../drawings/vmlDrawing6.vml"/><Relationship Id="rId6" Type="http://schemas.openxmlformats.org/officeDocument/2006/relationships/image" Target="../media/image29.png"/><Relationship Id="rId5" Type="http://schemas.openxmlformats.org/officeDocument/2006/relationships/image" Target="../media/image25.wmf"/><Relationship Id="rId4" Type="http://schemas.openxmlformats.org/officeDocument/2006/relationships/oleObject" Target="../embeddings/oleObject27.bin"/></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notesSlide" Target="../notesSlides/notesSlide8.xml"/><Relationship Id="rId7"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1.wmf"/><Relationship Id="rId5" Type="http://schemas.openxmlformats.org/officeDocument/2006/relationships/oleObject" Target="../embeddings/oleObject28.bin"/><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15.wmf"/><Relationship Id="rId4" Type="http://schemas.openxmlformats.org/officeDocument/2006/relationships/oleObject" Target="../embeddings/oleObject30.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11.xml"/><Relationship Id="rId7" Type="http://schemas.openxmlformats.org/officeDocument/2006/relationships/image" Target="../media/image34.wmf"/><Relationship Id="rId2" Type="http://schemas.openxmlformats.org/officeDocument/2006/relationships/slideLayout" Target="../slideLayouts/slideLayout30.xml"/><Relationship Id="rId1" Type="http://schemas.openxmlformats.org/officeDocument/2006/relationships/vmlDrawing" Target="../drawings/vmlDrawing9.vml"/><Relationship Id="rId6" Type="http://schemas.openxmlformats.org/officeDocument/2006/relationships/oleObject" Target="../embeddings/oleObject32.bin"/><Relationship Id="rId5" Type="http://schemas.openxmlformats.org/officeDocument/2006/relationships/image" Target="../media/image33.wmf"/><Relationship Id="rId4"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38.bin"/><Relationship Id="rId18" Type="http://schemas.openxmlformats.org/officeDocument/2006/relationships/oleObject" Target="../embeddings/oleObject42.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44.wmf"/><Relationship Id="rId17" Type="http://schemas.openxmlformats.org/officeDocument/2006/relationships/oleObject" Target="../embeddings/oleObject41.bin"/><Relationship Id="rId2" Type="http://schemas.openxmlformats.org/officeDocument/2006/relationships/slideLayout" Target="../slideLayouts/slideLayout30.xml"/><Relationship Id="rId16" Type="http://schemas.openxmlformats.org/officeDocument/2006/relationships/image" Target="../media/image45.wmf"/><Relationship Id="rId1" Type="http://schemas.openxmlformats.org/officeDocument/2006/relationships/vmlDrawing" Target="../drawings/vmlDrawing10.vml"/><Relationship Id="rId6" Type="http://schemas.openxmlformats.org/officeDocument/2006/relationships/image" Target="../media/image15.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40.bin"/><Relationship Id="rId10" Type="http://schemas.openxmlformats.org/officeDocument/2006/relationships/image" Target="../media/image43.wmf"/><Relationship Id="rId19" Type="http://schemas.openxmlformats.org/officeDocument/2006/relationships/image" Target="../media/image46.wmf"/><Relationship Id="rId4" Type="http://schemas.openxmlformats.org/officeDocument/2006/relationships/image" Target="../media/image14.wmf"/><Relationship Id="rId9" Type="http://schemas.openxmlformats.org/officeDocument/2006/relationships/oleObject" Target="../embeddings/oleObject36.bin"/><Relationship Id="rId14" Type="http://schemas.openxmlformats.org/officeDocument/2006/relationships/oleObject" Target="../embeddings/oleObject39.bin"/></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9.xml"/><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jpeg"/><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8.jpeg"/><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30.xml"/><Relationship Id="rId4" Type="http://schemas.openxmlformats.org/officeDocument/2006/relationships/image" Target="../media/image7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0.xml"/></Relationships>
</file>

<file path=ppt/slides/_rels/slide6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0.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0.png"/><Relationship Id="rId1" Type="http://schemas.openxmlformats.org/officeDocument/2006/relationships/slideLayout" Target="../slideLayouts/slideLayout30.xml"/></Relationships>
</file>

<file path=ppt/slides/_rels/slide71.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30.xml"/></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2.png"/><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0.xml"/></Relationships>
</file>

<file path=ppt/slides/_rels/slide7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MolMotion"/>
          <p:cNvPicPr>
            <a:picLocks noChangeAspect="1"/>
          </p:cNvPicPr>
          <p:nvPr/>
        </p:nvPicPr>
        <p:blipFill>
          <a:blip r:embed="rId3"/>
          <a:srcRect l="8759"/>
          <a:stretch>
            <a:fillRect/>
          </a:stretch>
        </p:blipFill>
        <p:spPr>
          <a:xfrm>
            <a:off x="0" y="0"/>
            <a:ext cx="8264504" cy="6858000"/>
          </a:xfrm>
          <a:prstGeom prst="rect">
            <a:avLst/>
          </a:prstGeom>
        </p:spPr>
      </p:pic>
      <p:sp>
        <p:nvSpPr>
          <p:cNvPr id="6" name="文本框 5"/>
          <p:cNvSpPr txBox="1"/>
          <p:nvPr/>
        </p:nvSpPr>
        <p:spPr>
          <a:xfrm>
            <a:off x="8608945" y="2635546"/>
            <a:ext cx="2917135" cy="126188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lang="en-US" altLang="zh-CN" sz="36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6</a:t>
            </a: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酶动力学</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6954" y="112730"/>
            <a:ext cx="2236510" cy="70788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本章内容</a:t>
            </a:r>
          </a:p>
        </p:txBody>
      </p:sp>
      <p:sp>
        <p:nvSpPr>
          <p:cNvPr id="4" name="Rectangle 3"/>
          <p:cNvSpPr txBox="1"/>
          <p:nvPr/>
        </p:nvSpPr>
        <p:spPr>
          <a:xfrm>
            <a:off x="3659506" y="1612584"/>
            <a:ext cx="6119813" cy="3786187"/>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en-US" altLang="zh-CN"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en-US" altLang="zh-CN" sz="3600" b="1" dirty="0" err="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酶促反应动力学</a:t>
            </a:r>
            <a:endParaRPr lang="en-US" altLang="zh-CN"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ct val="130000"/>
              </a:lnSpc>
              <a:buNone/>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en-US" altLang="zh-CN" sz="3600" b="1" dirty="0" err="1">
                <a:latin typeface="微软雅黑" panose="020B0503020204020204" pitchFamily="34" charset="-122"/>
                <a:ea typeface="微软雅黑" panose="020B0503020204020204" pitchFamily="34" charset="-122"/>
                <a:cs typeface="微软雅黑" panose="020B0503020204020204" pitchFamily="34" charset="-122"/>
                <a:sym typeface="+mn-ea"/>
              </a:rPr>
              <a:t>酶活力</a:t>
            </a:r>
            <a:endParaRPr lang="en-US" altLang="zh-CN" sz="36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en-US" altLang="zh-CN" sz="3600" b="1" dirty="0" err="1">
                <a:latin typeface="微软雅黑" panose="020B0503020204020204" pitchFamily="34" charset="-122"/>
                <a:ea typeface="微软雅黑" panose="020B0503020204020204" pitchFamily="34" charset="-122"/>
                <a:cs typeface="微软雅黑" panose="020B0503020204020204" pitchFamily="34" charset="-122"/>
                <a:sym typeface="+mn-ea"/>
              </a:rPr>
              <a:t>酶的分离纯化</a:t>
            </a:r>
            <a:endParaRPr lang="en-US" altLang="zh-CN" sz="36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buNone/>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en-US" altLang="zh-CN" sz="3600" b="1" dirty="0" err="1">
                <a:latin typeface="微软雅黑" panose="020B0503020204020204" pitchFamily="34" charset="-122"/>
                <a:ea typeface="微软雅黑" panose="020B0503020204020204" pitchFamily="34" charset="-122"/>
                <a:cs typeface="微软雅黑" panose="020B0503020204020204" pitchFamily="34" charset="-122"/>
                <a:sym typeface="+mn-ea"/>
              </a:rPr>
              <a:t>酶工程简介</a:t>
            </a:r>
            <a:endPar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753168" y="262031"/>
              <a:ext cx="662834" cy="559241"/>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1</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酶促反应动力学</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041525" y="6986"/>
            <a:ext cx="8108950"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一、影响酶促反应的因素</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r>
            <a:b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p:cNvSpPr txBox="1"/>
          <p:nvPr/>
        </p:nvSpPr>
        <p:spPr>
          <a:xfrm>
            <a:off x="436144" y="1053912"/>
            <a:ext cx="11319711" cy="1955215"/>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酶促反应速率</a:t>
            </a:r>
          </a:p>
          <a:p>
            <a:pPr marL="342900" indent="-342900">
              <a:lnSpc>
                <a:spcPct val="150000"/>
              </a:lnSpc>
              <a:buFont typeface="Wingdings" panose="05000000000000000000" charset="0"/>
              <a:buChar char="ü"/>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酶反应速率与非酶促反应一样，一般都是以</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单位时间内，底物或产物浓度的变化值</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来表示。</a:t>
            </a:r>
          </a:p>
        </p:txBody>
      </p:sp>
      <p:sp>
        <p:nvSpPr>
          <p:cNvPr id="3" name="文本框 2"/>
          <p:cNvSpPr txBox="1"/>
          <p:nvPr/>
        </p:nvSpPr>
        <p:spPr>
          <a:xfrm>
            <a:off x="436144" y="3626125"/>
            <a:ext cx="11483140" cy="1955215"/>
          </a:xfrm>
          <a:prstGeom prst="rect">
            <a:avLst/>
          </a:prstGeom>
          <a:noFill/>
        </p:spPr>
        <p:txBody>
          <a:bodyPr wrap="square" rtlCol="0" anchor="t">
            <a:spAutoFit/>
          </a:bodyPr>
          <a:lstStyle/>
          <a:p>
            <a:pPr marL="342900" indent="-342900" defTabSz="91440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影响酶促反应速率的因素</a:t>
            </a:r>
          </a:p>
          <a:p>
            <a:pPr marL="342900" indent="-342900" defTabSz="914400">
              <a:lnSpc>
                <a:spcPct val="150000"/>
              </a:lnSpc>
              <a:buFont typeface="Wingdings" panose="05000000000000000000" charset="0"/>
              <a:buChar char="ü"/>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酶浓度、底物浓度、反应温度、反应介质的pH和离子强度，以及有无抑制剂的存在等。</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599267" y="995845"/>
            <a:ext cx="6925914" cy="5303355"/>
          </a:xfrm>
          <a:prstGeom prst="rect">
            <a:avLst/>
          </a:prstGeom>
        </p:spPr>
      </p:pic>
      <p:sp>
        <p:nvSpPr>
          <p:cNvPr id="10" name="矩形 9"/>
          <p:cNvSpPr/>
          <p:nvPr/>
        </p:nvSpPr>
        <p:spPr>
          <a:xfrm>
            <a:off x="1618192" y="-33521"/>
            <a:ext cx="8108950"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（一）酶浓度</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r>
            <a:b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6301106" y="3797301"/>
            <a:ext cx="1654175"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在不缺乏底物的条件下</a:t>
            </a:r>
          </a:p>
        </p:txBody>
      </p:sp>
      <p:sp>
        <p:nvSpPr>
          <p:cNvPr id="2" name="文本框 1"/>
          <p:cNvSpPr txBox="1"/>
          <p:nvPr/>
        </p:nvSpPr>
        <p:spPr>
          <a:xfrm>
            <a:off x="6456257" y="5512368"/>
            <a:ext cx="1029424" cy="377411"/>
          </a:xfrm>
          <a:prstGeom prst="rect">
            <a:avLst/>
          </a:prstGeom>
          <a:noFill/>
        </p:spPr>
        <p:txBody>
          <a:bodyPr wrap="squar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酶浓度</a:t>
            </a:r>
          </a:p>
        </p:txBody>
      </p:sp>
      <p:sp>
        <p:nvSpPr>
          <p:cNvPr id="4" name="文本框 3"/>
          <p:cNvSpPr txBox="1"/>
          <p:nvPr/>
        </p:nvSpPr>
        <p:spPr>
          <a:xfrm>
            <a:off x="3461206" y="3797301"/>
            <a:ext cx="2540000" cy="377411"/>
          </a:xfrm>
          <a:prstGeom prst="rect">
            <a:avLst/>
          </a:prstGeom>
          <a:noFill/>
        </p:spPr>
        <p:txBody>
          <a:bodyPr wrap="squar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速率</a:t>
            </a: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32585" y="38826"/>
            <a:ext cx="8108950"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（二）温度</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r>
            <a:b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p:cNvSpPr txBox="1"/>
          <p:nvPr/>
        </p:nvSpPr>
        <p:spPr>
          <a:xfrm>
            <a:off x="1632585" y="1207135"/>
            <a:ext cx="473206" cy="499624"/>
          </a:xfrm>
          <a:prstGeom prst="rect">
            <a:avLst/>
          </a:prstGeom>
          <a:noFill/>
        </p:spPr>
        <p:txBody>
          <a:bodyPr wrap="none" rtlCol="0" anchor="t">
            <a:spAutoFit/>
          </a:bodyPr>
          <a:lstStyle/>
          <a:p>
            <a:pPr marL="285750" indent="-285750">
              <a:lnSpc>
                <a:spcPct val="150000"/>
              </a:lnSpc>
              <a:buFont typeface="Arial" panose="020B0604020202020204" pitchFamily="34" charset="0"/>
              <a:buChar char="•"/>
            </a:pP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2450465" y="1456947"/>
            <a:ext cx="7284323" cy="4708313"/>
          </a:xfrm>
          <a:prstGeom prst="rect">
            <a:avLst/>
          </a:prstGeom>
        </p:spPr>
      </p:pic>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532890" y="-26222"/>
            <a:ext cx="8108950"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PH</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r>
            <a:b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 xmlns:a16="http://schemas.microsoft.com/office/drawing/2014/main" id="{ADF22426-DD43-1549-0F29-479F716F2ECA}"/>
              </a:ext>
            </a:extLst>
          </p:cNvPr>
          <p:cNvGrpSpPr/>
          <p:nvPr/>
        </p:nvGrpSpPr>
        <p:grpSpPr>
          <a:xfrm>
            <a:off x="1710205" y="1149437"/>
            <a:ext cx="7931636" cy="5266862"/>
            <a:chOff x="2770081" y="1753871"/>
            <a:chExt cx="6673660" cy="4383617"/>
          </a:xfrm>
        </p:grpSpPr>
        <p:pic>
          <p:nvPicPr>
            <p:cNvPr id="2" name="图片 1"/>
            <p:cNvPicPr>
              <a:picLocks noChangeAspect="1"/>
            </p:cNvPicPr>
            <p:nvPr/>
          </p:nvPicPr>
          <p:blipFill>
            <a:blip r:embed="rId3"/>
            <a:stretch>
              <a:fillRect/>
            </a:stretch>
          </p:blipFill>
          <p:spPr>
            <a:xfrm>
              <a:off x="2770081" y="1753871"/>
              <a:ext cx="5883748" cy="4383617"/>
            </a:xfrm>
            <a:prstGeom prst="rect">
              <a:avLst/>
            </a:prstGeom>
          </p:spPr>
        </p:pic>
        <p:sp>
          <p:nvSpPr>
            <p:cNvPr id="3" name="文本框 2"/>
            <p:cNvSpPr txBox="1"/>
            <p:nvPr/>
          </p:nvSpPr>
          <p:spPr>
            <a:xfrm>
              <a:off x="7778785" y="3235532"/>
              <a:ext cx="1664956" cy="314120"/>
            </a:xfrm>
            <a:prstGeom prst="rect">
              <a:avLst/>
            </a:prstGeom>
            <a:noFill/>
          </p:spPr>
          <p:txBody>
            <a:bodyPr wrap="squar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精氨酸酶</a:t>
              </a:r>
            </a:p>
          </p:txBody>
        </p:sp>
        <p:sp>
          <p:nvSpPr>
            <p:cNvPr id="4" name="文本框 3"/>
            <p:cNvSpPr txBox="1"/>
            <p:nvPr/>
          </p:nvSpPr>
          <p:spPr>
            <a:xfrm>
              <a:off x="5238784" y="1993518"/>
              <a:ext cx="2540000" cy="314120"/>
            </a:xfrm>
            <a:prstGeom prst="rect">
              <a:avLst/>
            </a:prstGeom>
            <a:noFill/>
          </p:spPr>
          <p:txBody>
            <a:bodyPr wrap="squar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葡萄糖</a:t>
              </a:r>
              <a:r>
                <a:rPr lang="en-US" altLang="zh-CN" sz="1400" b="1" dirty="0">
                  <a:latin typeface="微软雅黑" panose="020B0503020204020204" pitchFamily="34" charset="-122"/>
                  <a:ea typeface="微软雅黑" panose="020B0503020204020204" pitchFamily="34" charset="-122"/>
                </a:rPr>
                <a:t>6</a:t>
              </a:r>
              <a:r>
                <a:rPr lang="zh-CN" altLang="en-US" sz="1400" b="1" dirty="0">
                  <a:latin typeface="微软雅黑" panose="020B0503020204020204" pitchFamily="34" charset="-122"/>
                  <a:ea typeface="微软雅黑" panose="020B0503020204020204" pitchFamily="34" charset="-122"/>
                </a:rPr>
                <a:t>磷酸酶</a:t>
              </a:r>
            </a:p>
          </p:txBody>
        </p:sp>
        <p:sp>
          <p:nvSpPr>
            <p:cNvPr id="6" name="文本框 5"/>
            <p:cNvSpPr txBox="1"/>
            <p:nvPr/>
          </p:nvSpPr>
          <p:spPr>
            <a:xfrm>
              <a:off x="4043680" y="3549651"/>
              <a:ext cx="2540000" cy="314120"/>
            </a:xfrm>
            <a:prstGeom prst="rect">
              <a:avLst/>
            </a:prstGeom>
            <a:noFill/>
          </p:spPr>
          <p:txBody>
            <a:bodyPr wrap="squar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胃蛋白酶</a:t>
              </a:r>
            </a:p>
          </p:txBody>
        </p:sp>
      </p:gr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srcRect r="4860"/>
          <a:stretch/>
        </p:blipFill>
        <p:spPr>
          <a:xfrm>
            <a:off x="1" y="1207310"/>
            <a:ext cx="5683886" cy="4094162"/>
          </a:xfrm>
          <a:prstGeom prst="rect">
            <a:avLst/>
          </a:prstGeom>
        </p:spPr>
      </p:pic>
      <p:sp>
        <p:nvSpPr>
          <p:cNvPr id="10" name="矩形 9"/>
          <p:cNvSpPr/>
          <p:nvPr/>
        </p:nvSpPr>
        <p:spPr>
          <a:xfrm>
            <a:off x="1720557" y="-16122"/>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（四）底物浓度</a:t>
            </a: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294" name="文本框 2"/>
          <p:cNvSpPr txBox="1"/>
          <p:nvPr/>
        </p:nvSpPr>
        <p:spPr>
          <a:xfrm>
            <a:off x="552657" y="5411576"/>
            <a:ext cx="4873048" cy="461665"/>
          </a:xfrm>
          <a:prstGeom prst="rect">
            <a:avLst/>
          </a:prstGeom>
          <a:noFill/>
          <a:ln w="9525">
            <a:noFill/>
          </a:ln>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大多数酶（</a:t>
            </a:r>
            <a:r>
              <a:rPr lang="zh-CN" altLang="en-US" sz="2400" b="1" dirty="0">
                <a:solidFill>
                  <a:srgbClr val="FF0000"/>
                </a:solidFill>
                <a:latin typeface="微软雅黑" panose="020B0503020204020204" pitchFamily="34" charset="-122"/>
                <a:ea typeface="微软雅黑" panose="020B0503020204020204" pitchFamily="34" charset="-122"/>
              </a:rPr>
              <a:t>米氏酶</a:t>
            </a:r>
            <a:r>
              <a:rPr lang="zh-CN" altLang="en-US" sz="2400" b="1" dirty="0">
                <a:latin typeface="微软雅黑" panose="020B0503020204020204" pitchFamily="34" charset="-122"/>
                <a:ea typeface="微软雅黑" panose="020B0503020204020204" pitchFamily="34" charset="-122"/>
              </a:rPr>
              <a:t>）的动力学曲线</a:t>
            </a:r>
          </a:p>
        </p:txBody>
      </p:sp>
      <p:sp>
        <p:nvSpPr>
          <p:cNvPr id="12295" name="文本框 6"/>
          <p:cNvSpPr txBox="1"/>
          <p:nvPr/>
        </p:nvSpPr>
        <p:spPr>
          <a:xfrm>
            <a:off x="7076868" y="5411302"/>
            <a:ext cx="4562475" cy="461665"/>
          </a:xfrm>
          <a:prstGeom prst="rect">
            <a:avLst/>
          </a:prstGeom>
          <a:noFill/>
          <a:ln w="9525">
            <a:noFill/>
          </a:ln>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少数酶（</a:t>
            </a:r>
            <a:r>
              <a:rPr lang="zh-CN" altLang="en-US" sz="2400" b="1" dirty="0">
                <a:solidFill>
                  <a:srgbClr val="FF0000"/>
                </a:solidFill>
                <a:latin typeface="微软雅黑" panose="020B0503020204020204" pitchFamily="34" charset="-122"/>
                <a:ea typeface="微软雅黑" panose="020B0503020204020204" pitchFamily="34" charset="-122"/>
              </a:rPr>
              <a:t>别构酶</a:t>
            </a:r>
            <a:r>
              <a:rPr lang="zh-CN" altLang="en-US" sz="2400" b="1" dirty="0">
                <a:latin typeface="微软雅黑" panose="020B0503020204020204" pitchFamily="34" charset="-122"/>
                <a:ea typeface="微软雅黑" panose="020B0503020204020204" pitchFamily="34" charset="-122"/>
              </a:rPr>
              <a:t>）的动力学曲线</a:t>
            </a:r>
          </a:p>
        </p:txBody>
      </p:sp>
      <p:sp>
        <p:nvSpPr>
          <p:cNvPr id="2" name="文本框 1"/>
          <p:cNvSpPr txBox="1"/>
          <p:nvPr/>
        </p:nvSpPr>
        <p:spPr>
          <a:xfrm>
            <a:off x="4007498" y="2455651"/>
            <a:ext cx="1209675" cy="499624"/>
          </a:xfrm>
          <a:prstGeom prst="rect">
            <a:avLst/>
          </a:prstGeom>
          <a:noFill/>
        </p:spPr>
        <p:txBody>
          <a:bodyPr wrap="square" rtlCol="0">
            <a:spAutoFit/>
          </a:bodyPr>
          <a:lstStyle/>
          <a:p>
            <a:pPr>
              <a:lnSpc>
                <a:spcPct val="150000"/>
              </a:lnSpc>
            </a:pPr>
            <a:r>
              <a:rPr lang="zh-CN" altLang="en-US" sz="2000" b="1" i="1" dirty="0">
                <a:latin typeface="微软雅黑" panose="020B0503020204020204" pitchFamily="34" charset="-122"/>
                <a:ea typeface="微软雅黑" panose="020B0503020204020204" pitchFamily="34" charset="-122"/>
              </a:rPr>
              <a:t>双曲线</a:t>
            </a:r>
          </a:p>
        </p:txBody>
      </p:sp>
      <p:pic>
        <p:nvPicPr>
          <p:cNvPr id="4" name="图片 3"/>
          <p:cNvPicPr>
            <a:picLocks noChangeAspect="1"/>
          </p:cNvPicPr>
          <p:nvPr/>
        </p:nvPicPr>
        <p:blipFill>
          <a:blip r:embed="rId3"/>
          <a:stretch>
            <a:fillRect/>
          </a:stretch>
        </p:blipFill>
        <p:spPr>
          <a:xfrm>
            <a:off x="5683887" y="1082942"/>
            <a:ext cx="5347672" cy="4056854"/>
          </a:xfrm>
          <a:prstGeom prst="rect">
            <a:avLst/>
          </a:prstGeom>
        </p:spPr>
      </p:pic>
      <p:sp>
        <p:nvSpPr>
          <p:cNvPr id="3" name="文本框 2"/>
          <p:cNvSpPr txBox="1"/>
          <p:nvPr/>
        </p:nvSpPr>
        <p:spPr>
          <a:xfrm>
            <a:off x="9224670" y="2455651"/>
            <a:ext cx="1209675" cy="499624"/>
          </a:xfrm>
          <a:prstGeom prst="rect">
            <a:avLst/>
          </a:prstGeom>
          <a:noFill/>
        </p:spPr>
        <p:txBody>
          <a:bodyPr wrap="square" rtlCol="0">
            <a:spAutoFit/>
          </a:bodyPr>
          <a:lstStyle/>
          <a:p>
            <a:pPr>
              <a:lnSpc>
                <a:spcPct val="150000"/>
              </a:lnSpc>
            </a:pPr>
            <a:r>
              <a:rPr lang="en-US" altLang="zh-CN" sz="2000" b="1" i="1" dirty="0">
                <a:latin typeface="微软雅黑" panose="020B0503020204020204" pitchFamily="34" charset="-122"/>
                <a:ea typeface="微软雅黑" panose="020B0503020204020204" pitchFamily="34" charset="-122"/>
              </a:rPr>
              <a:t>S</a:t>
            </a:r>
            <a:r>
              <a:rPr lang="zh-CN" altLang="en-US" sz="2000" b="1" i="1" dirty="0">
                <a:latin typeface="微软雅黑" panose="020B0503020204020204" pitchFamily="34" charset="-122"/>
                <a:ea typeface="微软雅黑" panose="020B0503020204020204" pitchFamily="34" charset="-122"/>
              </a:rPr>
              <a:t>曲线</a:t>
            </a:r>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 xmlns:a16="http://schemas.microsoft.com/office/drawing/2014/main" id="{8898A6C7-7E42-9EC7-2AC0-72EB38678AF7}"/>
              </a:ext>
            </a:extLst>
          </p:cNvPr>
          <p:cNvSpPr txBox="1"/>
          <p:nvPr/>
        </p:nvSpPr>
        <p:spPr>
          <a:xfrm>
            <a:off x="83419" y="3901431"/>
            <a:ext cx="12108581" cy="2400657"/>
          </a:xfrm>
          <a:prstGeom prst="rect">
            <a:avLst/>
          </a:prstGeom>
          <a:noFill/>
        </p:spPr>
        <p:txBody>
          <a:bodyPr wrap="square">
            <a:spAutoFit/>
          </a:bodyPr>
          <a:lstStyle/>
          <a:p>
            <a:pPr>
              <a:spcAft>
                <a:spcPts val="600"/>
              </a:spcAft>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）在底物浓度较低时，酶只有一部分与底物结合生成 </a:t>
            </a:r>
            <a:r>
              <a:rPr lang="en-US" altLang="zh-CN" sz="2800" dirty="0">
                <a:latin typeface="微软雅黑" panose="020B0503020204020204" pitchFamily="34" charset="-122"/>
                <a:ea typeface="微软雅黑" panose="020B0503020204020204" pitchFamily="34" charset="-122"/>
              </a:rPr>
              <a:t>ES</a:t>
            </a:r>
            <a:r>
              <a:rPr lang="zh-CN" altLang="en-US" sz="2800" dirty="0">
                <a:latin typeface="微软雅黑" panose="020B0503020204020204" pitchFamily="34" charset="-122"/>
                <a:ea typeface="微软雅黑" panose="020B0503020204020204" pitchFamily="34" charset="-122"/>
              </a:rPr>
              <a:t>。此时若增加底物浓度，则有更多的</a:t>
            </a:r>
            <a:r>
              <a:rPr lang="en-US" altLang="zh-CN" sz="2800" dirty="0">
                <a:latin typeface="微软雅黑" panose="020B0503020204020204" pitchFamily="34" charset="-122"/>
                <a:ea typeface="微软雅黑" panose="020B0503020204020204" pitchFamily="34" charset="-122"/>
              </a:rPr>
              <a:t>ES</a:t>
            </a:r>
            <a:r>
              <a:rPr lang="zh-CN" altLang="en-US" sz="2800" dirty="0">
                <a:latin typeface="微软雅黑" panose="020B0503020204020204" pitchFamily="34" charset="-122"/>
                <a:ea typeface="微软雅黑" panose="020B0503020204020204" pitchFamily="34" charset="-122"/>
              </a:rPr>
              <a:t>生成，反应速度与</a:t>
            </a:r>
            <a:r>
              <a:rPr lang="en-US" altLang="zh-CN" sz="2800" dirty="0">
                <a:latin typeface="微软雅黑" panose="020B0503020204020204" pitchFamily="34" charset="-122"/>
                <a:ea typeface="微软雅黑" panose="020B0503020204020204" pitchFamily="34" charset="-122"/>
              </a:rPr>
              <a:t>[S]</a:t>
            </a:r>
            <a:r>
              <a:rPr lang="zh-CN" altLang="en-US" sz="2800" dirty="0">
                <a:latin typeface="微软雅黑" panose="020B0503020204020204" pitchFamily="34" charset="-122"/>
                <a:ea typeface="微软雅黑" panose="020B0503020204020204" pitchFamily="34" charset="-122"/>
              </a:rPr>
              <a:t>成正比。（</a:t>
            </a:r>
            <a:r>
              <a:rPr lang="zh-CN" altLang="en-US" sz="2800" b="1" dirty="0">
                <a:solidFill>
                  <a:srgbClr val="FF0000"/>
                </a:solidFill>
                <a:latin typeface="微软雅黑" panose="020B0503020204020204" pitchFamily="34" charset="-122"/>
                <a:ea typeface="微软雅黑" panose="020B0503020204020204" pitchFamily="34" charset="-122"/>
              </a:rPr>
              <a:t>一级反应</a:t>
            </a:r>
            <a:r>
              <a:rPr lang="zh-CN" altLang="en-US"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pPr>
              <a:spcAft>
                <a:spcPts val="600"/>
              </a:spcAft>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）底物浓度继续增加，反应速度的增加不与</a:t>
            </a:r>
            <a:r>
              <a:rPr lang="en-US" altLang="zh-CN" sz="2800" dirty="0">
                <a:latin typeface="微软雅黑" panose="020B0503020204020204" pitchFamily="34" charset="-122"/>
                <a:ea typeface="微软雅黑" panose="020B0503020204020204" pitchFamily="34" charset="-122"/>
              </a:rPr>
              <a:t>[S]</a:t>
            </a:r>
            <a:r>
              <a:rPr lang="zh-CN" altLang="en-US" sz="2800" dirty="0">
                <a:latin typeface="微软雅黑" panose="020B0503020204020204" pitchFamily="34" charset="-122"/>
                <a:ea typeface="微软雅黑" panose="020B0503020204020204" pitchFamily="34" charset="-122"/>
              </a:rPr>
              <a:t>成正比。（</a:t>
            </a:r>
            <a:r>
              <a:rPr lang="zh-CN" altLang="en-US" sz="2800" b="1" dirty="0">
                <a:solidFill>
                  <a:srgbClr val="FF0000"/>
                </a:solidFill>
                <a:latin typeface="微软雅黑" panose="020B0503020204020204" pitchFamily="34" charset="-122"/>
                <a:ea typeface="微软雅黑" panose="020B0503020204020204" pitchFamily="34" charset="-122"/>
              </a:rPr>
              <a:t>混合级反应</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a:spcAft>
                <a:spcPts val="600"/>
              </a:spcAft>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）当底物浓度很大时，酶全部与底物结合，此时</a:t>
            </a:r>
            <a:r>
              <a:rPr lang="en-US" altLang="zh-CN" sz="2800" dirty="0">
                <a:latin typeface="微软雅黑" panose="020B0503020204020204" pitchFamily="34" charset="-122"/>
                <a:ea typeface="微软雅黑" panose="020B0503020204020204" pitchFamily="34" charset="-122"/>
              </a:rPr>
              <a:t>ES</a:t>
            </a:r>
            <a:r>
              <a:rPr lang="zh-CN" altLang="en-US" sz="2800" dirty="0">
                <a:latin typeface="微软雅黑" panose="020B0503020204020204" pitchFamily="34" charset="-122"/>
                <a:ea typeface="微软雅黑" panose="020B0503020204020204" pitchFamily="34" charset="-122"/>
              </a:rPr>
              <a:t>的合成与分解达到平衡，酶反应速度达到最大。（</a:t>
            </a:r>
            <a:r>
              <a:rPr lang="zh-CN" altLang="en-US" sz="2800" b="1" dirty="0">
                <a:solidFill>
                  <a:srgbClr val="FF0000"/>
                </a:solidFill>
                <a:latin typeface="微软雅黑" panose="020B0503020204020204" pitchFamily="34" charset="-122"/>
                <a:ea typeface="微软雅黑" panose="020B0503020204020204" pitchFamily="34" charset="-122"/>
              </a:rPr>
              <a:t>零级反应</a:t>
            </a:r>
            <a:r>
              <a:rPr lang="zh-CN" altLang="en-US" sz="2800" dirty="0">
                <a:latin typeface="微软雅黑" panose="020B0503020204020204" pitchFamily="34" charset="-122"/>
                <a:ea typeface="微软雅黑" panose="020B0503020204020204" pitchFamily="34" charset="-122"/>
              </a:rPr>
              <a:t>）</a:t>
            </a:r>
          </a:p>
        </p:txBody>
      </p:sp>
      <p:pic>
        <p:nvPicPr>
          <p:cNvPr id="7" name="图片 6">
            <a:extLst>
              <a:ext uri="{FF2B5EF4-FFF2-40B4-BE49-F238E27FC236}">
                <a16:creationId xmlns="" xmlns:a16="http://schemas.microsoft.com/office/drawing/2014/main" id="{7E86E1C8-3048-D53F-02A9-39C37F34F0FD}"/>
              </a:ext>
            </a:extLst>
          </p:cNvPr>
          <p:cNvPicPr>
            <a:picLocks noChangeAspect="1"/>
          </p:cNvPicPr>
          <p:nvPr/>
        </p:nvPicPr>
        <p:blipFill>
          <a:blip r:embed="rId3"/>
          <a:stretch>
            <a:fillRect/>
          </a:stretch>
        </p:blipFill>
        <p:spPr>
          <a:xfrm>
            <a:off x="564041" y="142123"/>
            <a:ext cx="5902212" cy="3688882"/>
          </a:xfrm>
          <a:prstGeom prst="rect">
            <a:avLst/>
          </a:prstGeom>
        </p:spPr>
      </p:pic>
      <p:grpSp>
        <p:nvGrpSpPr>
          <p:cNvPr id="35" name="组合 34">
            <a:extLst>
              <a:ext uri="{FF2B5EF4-FFF2-40B4-BE49-F238E27FC236}">
                <a16:creationId xmlns="" xmlns:a16="http://schemas.microsoft.com/office/drawing/2014/main" id="{DAE1F602-099D-6287-0F81-0913EF80EF41}"/>
              </a:ext>
            </a:extLst>
          </p:cNvPr>
          <p:cNvGrpSpPr/>
          <p:nvPr/>
        </p:nvGrpSpPr>
        <p:grpSpPr>
          <a:xfrm>
            <a:off x="6819606" y="1016509"/>
            <a:ext cx="5019040" cy="1268636"/>
            <a:chOff x="3529330" y="1459271"/>
            <a:chExt cx="5019040" cy="1268636"/>
          </a:xfrm>
        </p:grpSpPr>
        <p:sp>
          <p:nvSpPr>
            <p:cNvPr id="36" name="Text Box 6">
              <a:extLst>
                <a:ext uri="{FF2B5EF4-FFF2-40B4-BE49-F238E27FC236}">
                  <a16:creationId xmlns="" xmlns:a16="http://schemas.microsoft.com/office/drawing/2014/main" id="{E7D01890-A627-D759-A244-C933CF6636ED}"/>
                </a:ext>
              </a:extLst>
            </p:cNvPr>
            <p:cNvSpPr txBox="1">
              <a:spLocks noChangeArrowheads="1"/>
            </p:cNvSpPr>
            <p:nvPr/>
          </p:nvSpPr>
          <p:spPr bwMode="auto">
            <a:xfrm>
              <a:off x="4974591" y="2190750"/>
              <a:ext cx="4302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-1</a:t>
              </a:r>
            </a:p>
          </p:txBody>
        </p:sp>
        <p:grpSp>
          <p:nvGrpSpPr>
            <p:cNvPr id="37" name="Group 15">
              <a:extLst>
                <a:ext uri="{FF2B5EF4-FFF2-40B4-BE49-F238E27FC236}">
                  <a16:creationId xmlns="" xmlns:a16="http://schemas.microsoft.com/office/drawing/2014/main" id="{8E0D7DB4-3B73-C841-07DF-14EE1E324D57}"/>
                </a:ext>
              </a:extLst>
            </p:cNvPr>
            <p:cNvGrpSpPr/>
            <p:nvPr/>
          </p:nvGrpSpPr>
          <p:grpSpPr bwMode="auto">
            <a:xfrm>
              <a:off x="3529330" y="1459271"/>
              <a:ext cx="5019040" cy="1268636"/>
              <a:chOff x="1534" y="1344"/>
              <a:chExt cx="2884" cy="522"/>
            </a:xfrm>
          </p:grpSpPr>
          <p:graphicFrame>
            <p:nvGraphicFramePr>
              <p:cNvPr id="38" name="Object 16">
                <a:extLst>
                  <a:ext uri="{FF2B5EF4-FFF2-40B4-BE49-F238E27FC236}">
                    <a16:creationId xmlns="" xmlns:a16="http://schemas.microsoft.com/office/drawing/2014/main" id="{892A8DDC-23F8-2740-F2F0-A467D76D27F4}"/>
                  </a:ext>
                </a:extLst>
              </p:cNvPr>
              <p:cNvGraphicFramePr>
                <a:graphicFrameLocks noChangeAspect="1"/>
              </p:cNvGraphicFramePr>
              <p:nvPr>
                <p:extLst>
                  <p:ext uri="{D42A27DB-BD31-4B8C-83A1-F6EECF244321}">
                    <p14:modId xmlns:p14="http://schemas.microsoft.com/office/powerpoint/2010/main" val="4130351829"/>
                  </p:ext>
                </p:extLst>
              </p:nvPr>
            </p:nvGraphicFramePr>
            <p:xfrm>
              <a:off x="1534" y="1430"/>
              <a:ext cx="2884" cy="312"/>
            </p:xfrm>
            <a:graphic>
              <a:graphicData uri="http://schemas.openxmlformats.org/presentationml/2006/ole">
                <mc:AlternateContent xmlns:mc="http://schemas.openxmlformats.org/markup-compatibility/2006">
                  <mc:Choice xmlns:v="urn:schemas-microsoft-com:vml" Requires="v">
                    <p:oleObj spid="_x0000_s1046" name="Equation" r:id="rId4" imgW="1993265" imgH="215900" progId="Equation.3">
                      <p:embed/>
                    </p:oleObj>
                  </mc:Choice>
                  <mc:Fallback>
                    <p:oleObj name="Equation" r:id="rId4" imgW="1993265" imgH="215900" progId="Equation.3">
                      <p:embed/>
                      <p:pic>
                        <p:nvPicPr>
                          <p:cNvPr id="10253"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4" y="1430"/>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39" name="Group 17">
                <a:extLst>
                  <a:ext uri="{FF2B5EF4-FFF2-40B4-BE49-F238E27FC236}">
                    <a16:creationId xmlns="" xmlns:a16="http://schemas.microsoft.com/office/drawing/2014/main" id="{5377F1CB-FC18-3AAE-6D0C-A39C18525B8B}"/>
                  </a:ext>
                </a:extLst>
              </p:cNvPr>
              <p:cNvGrpSpPr/>
              <p:nvPr/>
            </p:nvGrpSpPr>
            <p:grpSpPr bwMode="auto">
              <a:xfrm>
                <a:off x="2233" y="1568"/>
                <a:ext cx="480" cy="48"/>
                <a:chOff x="2233" y="1568"/>
                <a:chExt cx="480" cy="48"/>
              </a:xfrm>
            </p:grpSpPr>
            <p:sp>
              <p:nvSpPr>
                <p:cNvPr id="46" name="Line 18">
                  <a:extLst>
                    <a:ext uri="{FF2B5EF4-FFF2-40B4-BE49-F238E27FC236}">
                      <a16:creationId xmlns="" xmlns:a16="http://schemas.microsoft.com/office/drawing/2014/main" id="{578D160B-2EC3-BFA8-FB79-B11E6E628B17}"/>
                    </a:ext>
                  </a:extLst>
                </p:cNvPr>
                <p:cNvSpPr>
                  <a:spLocks noChangeShapeType="1"/>
                </p:cNvSpPr>
                <p:nvPr/>
              </p:nvSpPr>
              <p:spPr bwMode="auto">
                <a:xfrm>
                  <a:off x="2233" y="1568"/>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47" name="Line 19">
                  <a:extLst>
                    <a:ext uri="{FF2B5EF4-FFF2-40B4-BE49-F238E27FC236}">
                      <a16:creationId xmlns="" xmlns:a16="http://schemas.microsoft.com/office/drawing/2014/main" id="{2B7DD472-E57E-1962-38A8-DBE498953AD9}"/>
                    </a:ext>
                  </a:extLst>
                </p:cNvPr>
                <p:cNvSpPr>
                  <a:spLocks noChangeShapeType="1"/>
                </p:cNvSpPr>
                <p:nvPr/>
              </p:nvSpPr>
              <p:spPr bwMode="auto">
                <a:xfrm flipH="1">
                  <a:off x="2233" y="1616"/>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sp>
            <p:nvSpPr>
              <p:cNvPr id="40" name="Text Box 20">
                <a:extLst>
                  <a:ext uri="{FF2B5EF4-FFF2-40B4-BE49-F238E27FC236}">
                    <a16:creationId xmlns="" xmlns:a16="http://schemas.microsoft.com/office/drawing/2014/main" id="{0DFB8BE1-E7C7-A9D4-1B3C-123F7743955A}"/>
                  </a:ext>
                </a:extLst>
              </p:cNvPr>
              <p:cNvSpPr txBox="1">
                <a:spLocks noChangeArrowheads="1"/>
              </p:cNvSpPr>
              <p:nvPr/>
            </p:nvSpPr>
            <p:spPr bwMode="auto">
              <a:xfrm>
                <a:off x="2373" y="1350"/>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41" name="Text Box 21">
                <a:extLst>
                  <a:ext uri="{FF2B5EF4-FFF2-40B4-BE49-F238E27FC236}">
                    <a16:creationId xmlns="" xmlns:a16="http://schemas.microsoft.com/office/drawing/2014/main" id="{9453CC7C-9CCD-6C40-38F1-D0E7BE62E5F6}"/>
                  </a:ext>
                </a:extLst>
              </p:cNvPr>
              <p:cNvSpPr txBox="1">
                <a:spLocks noChangeArrowheads="1"/>
              </p:cNvSpPr>
              <p:nvPr/>
            </p:nvSpPr>
            <p:spPr bwMode="auto">
              <a:xfrm>
                <a:off x="3385" y="1344"/>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2</a:t>
                </a:r>
              </a:p>
            </p:txBody>
          </p:sp>
          <p:sp>
            <p:nvSpPr>
              <p:cNvPr id="42" name="Text Box 22">
                <a:extLst>
                  <a:ext uri="{FF2B5EF4-FFF2-40B4-BE49-F238E27FC236}">
                    <a16:creationId xmlns="" xmlns:a16="http://schemas.microsoft.com/office/drawing/2014/main" id="{1B0EF868-F544-A171-6045-DB10A01BF3D3}"/>
                  </a:ext>
                </a:extLst>
              </p:cNvPr>
              <p:cNvSpPr txBox="1">
                <a:spLocks noChangeArrowheads="1"/>
              </p:cNvSpPr>
              <p:nvPr/>
            </p:nvSpPr>
            <p:spPr bwMode="auto">
              <a:xfrm>
                <a:off x="3377" y="1654"/>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-2</a:t>
                </a:r>
              </a:p>
            </p:txBody>
          </p:sp>
          <p:grpSp>
            <p:nvGrpSpPr>
              <p:cNvPr id="43" name="Group 23">
                <a:extLst>
                  <a:ext uri="{FF2B5EF4-FFF2-40B4-BE49-F238E27FC236}">
                    <a16:creationId xmlns="" xmlns:a16="http://schemas.microsoft.com/office/drawing/2014/main" id="{5F64135C-1EF2-7506-F8A1-2EEEB0257D1E}"/>
                  </a:ext>
                </a:extLst>
              </p:cNvPr>
              <p:cNvGrpSpPr/>
              <p:nvPr/>
            </p:nvGrpSpPr>
            <p:grpSpPr bwMode="auto">
              <a:xfrm>
                <a:off x="3193" y="1560"/>
                <a:ext cx="480" cy="48"/>
                <a:chOff x="2233" y="1568"/>
                <a:chExt cx="480" cy="48"/>
              </a:xfrm>
            </p:grpSpPr>
            <p:sp>
              <p:nvSpPr>
                <p:cNvPr id="44" name="Line 24">
                  <a:extLst>
                    <a:ext uri="{FF2B5EF4-FFF2-40B4-BE49-F238E27FC236}">
                      <a16:creationId xmlns="" xmlns:a16="http://schemas.microsoft.com/office/drawing/2014/main" id="{709D46B3-5BE5-7441-9C1C-A818181286A3}"/>
                    </a:ext>
                  </a:extLst>
                </p:cNvPr>
                <p:cNvSpPr>
                  <a:spLocks noChangeShapeType="1"/>
                </p:cNvSpPr>
                <p:nvPr/>
              </p:nvSpPr>
              <p:spPr bwMode="auto">
                <a:xfrm>
                  <a:off x="2233" y="1568"/>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45" name="Line 25">
                  <a:extLst>
                    <a:ext uri="{FF2B5EF4-FFF2-40B4-BE49-F238E27FC236}">
                      <a16:creationId xmlns="" xmlns:a16="http://schemas.microsoft.com/office/drawing/2014/main" id="{48C753A3-BE61-239E-86C3-0B02CA025462}"/>
                    </a:ext>
                  </a:extLst>
                </p:cNvPr>
                <p:cNvSpPr>
                  <a:spLocks noChangeShapeType="1"/>
                </p:cNvSpPr>
                <p:nvPr/>
              </p:nvSpPr>
              <p:spPr bwMode="auto">
                <a:xfrm flipH="1">
                  <a:off x="2233" y="1616"/>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grpSp>
      </p:grpSp>
    </p:spTree>
    <p:extLst>
      <p:ext uri="{BB962C8B-B14F-4D97-AF65-F5344CB8AC3E}">
        <p14:creationId xmlns:p14="http://schemas.microsoft.com/office/powerpoint/2010/main" val="11155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18192" y="0"/>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二、米氏动力学</a:t>
            </a: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 Box 7"/>
          <p:cNvSpPr txBox="1">
            <a:spLocks noChangeArrowheads="1"/>
          </p:cNvSpPr>
          <p:nvPr/>
        </p:nvSpPr>
        <p:spPr bwMode="auto">
          <a:xfrm>
            <a:off x="5342037" y="5415876"/>
            <a:ext cx="3505200" cy="366713"/>
          </a:xfrm>
          <a:prstGeom prst="rect">
            <a:avLst/>
          </a:prstGeom>
          <a:noFill/>
          <a:ln>
            <a:noFill/>
          </a:ln>
          <a:effec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a:spcBef>
                <a:spcPct val="50000"/>
              </a:spcBef>
              <a:buFontTx/>
              <a:buNone/>
            </a:pPr>
            <a:r>
              <a:rPr lang="en-US" altLang="zh-CN" sz="1800" dirty="0">
                <a:latin typeface="Arial" panose="020B0604020202020204" pitchFamily="34"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Leonor Michaelis (1875-1949)</a:t>
            </a:r>
          </a:p>
        </p:txBody>
      </p:sp>
      <p:sp>
        <p:nvSpPr>
          <p:cNvPr id="9" name="Rectangle 8"/>
          <p:cNvSpPr>
            <a:spLocks noChangeArrowheads="1"/>
          </p:cNvSpPr>
          <p:nvPr/>
        </p:nvSpPr>
        <p:spPr bwMode="auto">
          <a:xfrm>
            <a:off x="9417050" y="5415876"/>
            <a:ext cx="2774950" cy="366713"/>
          </a:xfrm>
          <a:prstGeom prst="rect">
            <a:avLst/>
          </a:prstGeom>
          <a:noFill/>
          <a:ln>
            <a:noFill/>
          </a:ln>
          <a:effec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algn="ctr">
              <a:spcBef>
                <a:spcPct val="50000"/>
              </a:spcBef>
              <a:buFontTx/>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Maud Menten (1879-1960)</a:t>
            </a:r>
          </a:p>
        </p:txBody>
      </p:sp>
      <p:sp>
        <p:nvSpPr>
          <p:cNvPr id="8" name="文本框 7"/>
          <p:cNvSpPr txBox="1"/>
          <p:nvPr/>
        </p:nvSpPr>
        <p:spPr>
          <a:xfrm>
            <a:off x="-1" y="1647046"/>
            <a:ext cx="5342038" cy="3668697"/>
          </a:xfrm>
          <a:prstGeom prst="rect">
            <a:avLst/>
          </a:prstGeom>
          <a:noFill/>
        </p:spPr>
        <p:txBody>
          <a:bodyPr wrap="square" rtlCol="0" anchor="t">
            <a:spAutoFit/>
          </a:bodyPr>
          <a:lstStyle/>
          <a:p>
            <a:pPr marL="285750" indent="-285750">
              <a:lnSpc>
                <a:spcPct val="120000"/>
              </a:lnSpc>
              <a:spcBef>
                <a:spcPct val="50000"/>
              </a:spcBef>
              <a:buClr>
                <a:srgbClr val="000000"/>
              </a:buClr>
              <a:buSzPct val="75000"/>
              <a:buFont typeface="Arial" panose="020B0604020202020204" pitchFamily="34" charset="0"/>
              <a:buChar char="•"/>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1913</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Michaelis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和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Menten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根据中间产物学说，提出了</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底物对反应速度影响</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数学表达式</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ct val="50000"/>
              </a:spcBef>
              <a:buClr>
                <a:srgbClr val="000000"/>
              </a:buClr>
              <a:buSzPct val="75000"/>
              <a:buFont typeface="Arial" panose="020B0604020202020204" pitchFamily="34" charset="0"/>
              <a:buChar char="•"/>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1925</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Beiggs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Haldane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，提出</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稳态理论</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，进行了重要修正和完善。</a:t>
            </a:r>
          </a:p>
        </p:txBody>
      </p:sp>
      <p:pic>
        <p:nvPicPr>
          <p:cNvPr id="11" name="图片 10"/>
          <p:cNvPicPr>
            <a:picLocks noChangeAspect="1"/>
          </p:cNvPicPr>
          <p:nvPr/>
        </p:nvPicPr>
        <p:blipFill>
          <a:blip r:embed="rId2"/>
          <a:stretch>
            <a:fillRect/>
          </a:stretch>
        </p:blipFill>
        <p:spPr>
          <a:xfrm>
            <a:off x="5342037" y="1642389"/>
            <a:ext cx="6813534" cy="3573221"/>
          </a:xfrm>
          <a:prstGeom prst="rect">
            <a:avLst/>
          </a:prstGeom>
        </p:spPr>
      </p:pic>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26415" y="1488440"/>
            <a:ext cx="5072380" cy="156845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3200" b="1" u="sng" dirty="0">
                <a:latin typeface="微软雅黑" panose="020B0503020204020204" pitchFamily="34" charset="-122"/>
                <a:ea typeface="微软雅黑" panose="020B0503020204020204" pitchFamily="34" charset="-122"/>
                <a:cs typeface="微软雅黑" panose="020B0503020204020204" pitchFamily="34" charset="-122"/>
                <a:sym typeface="+mn-ea"/>
              </a:rPr>
              <a:t>1903年，V. C. R. Henri提出中间产物学说。</a:t>
            </a:r>
          </a:p>
        </p:txBody>
      </p:sp>
      <p:sp>
        <p:nvSpPr>
          <p:cNvPr id="7" name="矩形 6"/>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（一）中间产物学说</a:t>
            </a:r>
          </a:p>
        </p:txBody>
      </p:sp>
      <p:pic>
        <p:nvPicPr>
          <p:cNvPr id="11" name="图片 10"/>
          <p:cNvPicPr>
            <a:picLocks noChangeAspect="1"/>
          </p:cNvPicPr>
          <p:nvPr/>
        </p:nvPicPr>
        <p:blipFill>
          <a:blip r:embed="rId2"/>
          <a:stretch>
            <a:fillRect/>
          </a:stretch>
        </p:blipFill>
        <p:spPr>
          <a:xfrm>
            <a:off x="601345" y="3707765"/>
            <a:ext cx="5293995" cy="865505"/>
          </a:xfrm>
          <a:prstGeom prst="rect">
            <a:avLst/>
          </a:prstGeom>
          <a:solidFill>
            <a:schemeClr val="accent1">
              <a:lumMod val="20000"/>
              <a:lumOff val="80000"/>
            </a:schemeClr>
          </a:solidFill>
          <a:ln>
            <a:solidFill>
              <a:schemeClr val="tx1"/>
            </a:solidFill>
          </a:ln>
        </p:spPr>
      </p:pic>
      <p:grpSp>
        <p:nvGrpSpPr>
          <p:cNvPr id="2" name="组合 1">
            <a:extLst>
              <a:ext uri="{FF2B5EF4-FFF2-40B4-BE49-F238E27FC236}">
                <a16:creationId xmlns="" xmlns:a16="http://schemas.microsoft.com/office/drawing/2014/main" id="{62113DE7-6EFC-AF72-2DB1-0204BBA2E8F4}"/>
              </a:ext>
            </a:extLst>
          </p:cNvPr>
          <p:cNvGrpSpPr/>
          <p:nvPr/>
        </p:nvGrpSpPr>
        <p:grpSpPr>
          <a:xfrm>
            <a:off x="6296660" y="857876"/>
            <a:ext cx="5895340" cy="6000123"/>
            <a:chOff x="6302459" y="868250"/>
            <a:chExt cx="5090113" cy="5371359"/>
          </a:xfrm>
        </p:grpSpPr>
        <p:pic>
          <p:nvPicPr>
            <p:cNvPr id="10" name="图片 9"/>
            <p:cNvPicPr>
              <a:picLocks noChangeAspect="1"/>
            </p:cNvPicPr>
            <p:nvPr/>
          </p:nvPicPr>
          <p:blipFill>
            <a:blip r:embed="rId3"/>
            <a:stretch>
              <a:fillRect/>
            </a:stretch>
          </p:blipFill>
          <p:spPr>
            <a:xfrm>
              <a:off x="6302459" y="868250"/>
              <a:ext cx="4873656" cy="5371359"/>
            </a:xfrm>
            <a:prstGeom prst="rect">
              <a:avLst/>
            </a:prstGeom>
            <a:ln>
              <a:solidFill>
                <a:schemeClr val="tx1"/>
              </a:solidFill>
            </a:ln>
          </p:spPr>
        </p:pic>
        <p:sp>
          <p:nvSpPr>
            <p:cNvPr id="3" name="文本框 2"/>
            <p:cNvSpPr txBox="1"/>
            <p:nvPr/>
          </p:nvSpPr>
          <p:spPr>
            <a:xfrm>
              <a:off x="7463827" y="1230945"/>
              <a:ext cx="3928745" cy="458908"/>
            </a:xfrm>
            <a:prstGeom prst="rect">
              <a:avLst/>
            </a:prstGeom>
            <a:noFill/>
          </p:spPr>
          <p:txBody>
            <a:bodyPr wrap="square" rtlCol="0" anchor="t">
              <a:sp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rPr>
                <a:t>稳态前</a:t>
              </a:r>
              <a:r>
                <a:rPr lang="en-US" altLang="zh-CN" b="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稳态</a:t>
              </a:r>
            </a:p>
          </p:txBody>
        </p:sp>
        <p:sp>
          <p:nvSpPr>
            <p:cNvPr id="4" name="文本框 3"/>
            <p:cNvSpPr txBox="1"/>
            <p:nvPr/>
          </p:nvSpPr>
          <p:spPr>
            <a:xfrm>
              <a:off x="6369686" y="4225205"/>
              <a:ext cx="429047" cy="1014730"/>
            </a:xfrm>
            <a:prstGeom prst="rect">
              <a:avLst/>
            </a:prstGeom>
            <a:noFill/>
          </p:spPr>
          <p:txBody>
            <a:bodyPr wrap="square" rtlCol="0" anchor="t">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浓度</a:t>
              </a:r>
            </a:p>
          </p:txBody>
        </p:sp>
        <p:sp>
          <p:nvSpPr>
            <p:cNvPr id="9" name="文本框 8"/>
            <p:cNvSpPr txBox="1"/>
            <p:nvPr/>
          </p:nvSpPr>
          <p:spPr>
            <a:xfrm>
              <a:off x="9807690" y="2970364"/>
              <a:ext cx="1368425" cy="583565"/>
            </a:xfrm>
            <a:prstGeom prst="rect">
              <a:avLst/>
            </a:prstGeom>
            <a:noFill/>
          </p:spPr>
          <p:txBody>
            <a:bodyPr wrap="square" rtlCol="0" anchor="t">
              <a:spAutoFit/>
            </a:bodyPr>
            <a:lstStyle/>
            <a:p>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[ES]</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在稳态下是恒定的</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（二）米氏方程推导</a:t>
            </a:r>
          </a:p>
        </p:txBody>
      </p:sp>
      <p:sp>
        <p:nvSpPr>
          <p:cNvPr id="2" name="文本框 1"/>
          <p:cNvSpPr txBox="1"/>
          <p:nvPr/>
        </p:nvSpPr>
        <p:spPr>
          <a:xfrm>
            <a:off x="237491" y="1426038"/>
            <a:ext cx="5750560" cy="3415030"/>
          </a:xfrm>
          <a:prstGeom prst="rect">
            <a:avLst/>
          </a:prstGeom>
          <a:noFill/>
        </p:spPr>
        <p:txBody>
          <a:bodyPr wrap="square" rtlCol="0" anchor="t">
            <a:spAutoFit/>
          </a:bodyPr>
          <a:lstStyle/>
          <a:p>
            <a:pPr marL="342900" indent="-342900">
              <a:lnSpc>
                <a:spcPct val="150000"/>
              </a:lnSpc>
              <a:buClr>
                <a:srgbClr val="000000"/>
              </a:buClr>
              <a:buFont typeface="Arial" panose="020B0604020202020204" pitchFamily="34" charset="0"/>
              <a:buChar char="•"/>
            </a:pP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米氏方程</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推导设定</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个条件：</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50000"/>
              </a:lnSpc>
              <a:buClr>
                <a:srgbClr val="000000"/>
              </a:buClr>
              <a:buFont typeface="Wingdings" panose="05000000000000000000" charset="0"/>
              <a:buChar char="ü"/>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反应速率为</a:t>
            </a:r>
            <a:r>
              <a:rPr lang="zh-CN" altLang="zh-CN" sz="2800" u="sng" dirty="0">
                <a:latin typeface="微软雅黑" panose="020B0503020204020204" pitchFamily="34" charset="-122"/>
                <a:ea typeface="微软雅黑" panose="020B0503020204020204" pitchFamily="34" charset="-122"/>
                <a:cs typeface="微软雅黑" panose="020B0503020204020204" pitchFamily="34" charset="-122"/>
                <a:sym typeface="+mn-ea"/>
              </a:rPr>
              <a:t>初速率；</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50000"/>
              </a:lnSpc>
              <a:buClr>
                <a:srgbClr val="000000"/>
              </a:buClr>
              <a:buFont typeface="Wingdings" panose="05000000000000000000" charset="0"/>
              <a:buChar char="ü"/>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酶底物复合物处于稳态，即</a:t>
            </a:r>
            <a:r>
              <a:rPr lang="en-US" altLang="zh-CN" sz="2800" u="sng" dirty="0">
                <a:latin typeface="微软雅黑" panose="020B0503020204020204" pitchFamily="34" charset="-122"/>
                <a:ea typeface="微软雅黑" panose="020B0503020204020204" pitchFamily="34" charset="-122"/>
                <a:cs typeface="微软雅黑" panose="020B0503020204020204" pitchFamily="34" charset="-122"/>
                <a:sym typeface="+mn-ea"/>
              </a:rPr>
              <a:t>ES</a:t>
            </a:r>
            <a:r>
              <a:rPr lang="zh-CN" altLang="zh-CN" sz="2800" u="sng" dirty="0">
                <a:latin typeface="微软雅黑" panose="020B0503020204020204" pitchFamily="34" charset="-122"/>
                <a:ea typeface="微软雅黑" panose="020B0503020204020204" pitchFamily="34" charset="-122"/>
                <a:cs typeface="微软雅黑" panose="020B0503020204020204" pitchFamily="34" charset="-122"/>
                <a:sym typeface="+mn-ea"/>
              </a:rPr>
              <a:t>浓度不发生变化；</a:t>
            </a:r>
            <a:endParaRPr lang="zh-CN" altLang="en-US" sz="2800" u="sng"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50000"/>
              </a:lnSpc>
              <a:buClr>
                <a:srgbClr val="000000"/>
              </a:buClr>
              <a:buFont typeface="Wingdings" panose="05000000000000000000" charset="0"/>
              <a:buChar char="ü"/>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符合速率定律</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质量作用定律</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grpSp>
        <p:nvGrpSpPr>
          <p:cNvPr id="3" name="组合 2">
            <a:extLst>
              <a:ext uri="{FF2B5EF4-FFF2-40B4-BE49-F238E27FC236}">
                <a16:creationId xmlns="" xmlns:a16="http://schemas.microsoft.com/office/drawing/2014/main" id="{42E2C77C-712B-0D2E-1DD5-CFC6406B0928}"/>
              </a:ext>
            </a:extLst>
          </p:cNvPr>
          <p:cNvGrpSpPr/>
          <p:nvPr/>
        </p:nvGrpSpPr>
        <p:grpSpPr>
          <a:xfrm>
            <a:off x="6296660" y="857876"/>
            <a:ext cx="5895340" cy="6000123"/>
            <a:chOff x="6302459" y="868250"/>
            <a:chExt cx="5090113" cy="5371359"/>
          </a:xfrm>
        </p:grpSpPr>
        <p:pic>
          <p:nvPicPr>
            <p:cNvPr id="4" name="图片 3">
              <a:extLst>
                <a:ext uri="{FF2B5EF4-FFF2-40B4-BE49-F238E27FC236}">
                  <a16:creationId xmlns="" xmlns:a16="http://schemas.microsoft.com/office/drawing/2014/main" id="{DF266025-6C14-60AA-DB77-D8C78CF60FEC}"/>
                </a:ext>
              </a:extLst>
            </p:cNvPr>
            <p:cNvPicPr>
              <a:picLocks noChangeAspect="1"/>
            </p:cNvPicPr>
            <p:nvPr/>
          </p:nvPicPr>
          <p:blipFill>
            <a:blip r:embed="rId2"/>
            <a:stretch>
              <a:fillRect/>
            </a:stretch>
          </p:blipFill>
          <p:spPr>
            <a:xfrm>
              <a:off x="6302459" y="868250"/>
              <a:ext cx="4873656" cy="5371359"/>
            </a:xfrm>
            <a:prstGeom prst="rect">
              <a:avLst/>
            </a:prstGeom>
            <a:ln>
              <a:solidFill>
                <a:schemeClr val="tx1"/>
              </a:solidFill>
            </a:ln>
          </p:spPr>
        </p:pic>
        <p:sp>
          <p:nvSpPr>
            <p:cNvPr id="5" name="文本框 4">
              <a:extLst>
                <a:ext uri="{FF2B5EF4-FFF2-40B4-BE49-F238E27FC236}">
                  <a16:creationId xmlns="" xmlns:a16="http://schemas.microsoft.com/office/drawing/2014/main" id="{CCD447CB-FD4F-A3F8-BF44-B7DD74EB82A0}"/>
                </a:ext>
              </a:extLst>
            </p:cNvPr>
            <p:cNvSpPr txBox="1"/>
            <p:nvPr/>
          </p:nvSpPr>
          <p:spPr>
            <a:xfrm>
              <a:off x="7463827" y="1230945"/>
              <a:ext cx="3928745" cy="458908"/>
            </a:xfrm>
            <a:prstGeom prst="rect">
              <a:avLst/>
            </a:prstGeom>
            <a:noFill/>
          </p:spPr>
          <p:txBody>
            <a:bodyPr wrap="square" rtlCol="0" anchor="t">
              <a:sp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rPr>
                <a:t>稳态前</a:t>
              </a:r>
              <a:r>
                <a:rPr lang="en-US" altLang="zh-CN" b="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稳态</a:t>
              </a:r>
            </a:p>
          </p:txBody>
        </p:sp>
        <p:sp>
          <p:nvSpPr>
            <p:cNvPr id="6" name="文本框 5">
              <a:extLst>
                <a:ext uri="{FF2B5EF4-FFF2-40B4-BE49-F238E27FC236}">
                  <a16:creationId xmlns="" xmlns:a16="http://schemas.microsoft.com/office/drawing/2014/main" id="{93035B43-79FC-31A1-2101-B4C39438B62C}"/>
                </a:ext>
              </a:extLst>
            </p:cNvPr>
            <p:cNvSpPr txBox="1"/>
            <p:nvPr/>
          </p:nvSpPr>
          <p:spPr>
            <a:xfrm>
              <a:off x="6369686" y="4225205"/>
              <a:ext cx="429047" cy="1014730"/>
            </a:xfrm>
            <a:prstGeom prst="rect">
              <a:avLst/>
            </a:prstGeom>
            <a:noFill/>
          </p:spPr>
          <p:txBody>
            <a:bodyPr wrap="square" rtlCol="0" anchor="t">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浓度</a:t>
              </a:r>
            </a:p>
          </p:txBody>
        </p:sp>
        <p:sp>
          <p:nvSpPr>
            <p:cNvPr id="9" name="文本框 8">
              <a:extLst>
                <a:ext uri="{FF2B5EF4-FFF2-40B4-BE49-F238E27FC236}">
                  <a16:creationId xmlns="" xmlns:a16="http://schemas.microsoft.com/office/drawing/2014/main" id="{1C3ABD68-837D-02EF-52D0-B56F826CCBF0}"/>
                </a:ext>
              </a:extLst>
            </p:cNvPr>
            <p:cNvSpPr txBox="1"/>
            <p:nvPr/>
          </p:nvSpPr>
          <p:spPr>
            <a:xfrm>
              <a:off x="9807690" y="2970364"/>
              <a:ext cx="1368425" cy="583565"/>
            </a:xfrm>
            <a:prstGeom prst="rect">
              <a:avLst/>
            </a:prstGeom>
            <a:noFill/>
          </p:spPr>
          <p:txBody>
            <a:bodyPr wrap="square" rtlCol="0" anchor="t">
              <a:spAutoFit/>
            </a:bodyPr>
            <a:lstStyle/>
            <a:p>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[ES]</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在稳态下是恒定的</a:t>
              </a:r>
            </a:p>
          </p:txBody>
        </p:sp>
      </p:gr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mn-ea"/>
              </a:rPr>
              <a:t>（二）米氏方程推导</a:t>
            </a:r>
          </a:p>
        </p:txBody>
      </p:sp>
      <p:sp>
        <p:nvSpPr>
          <p:cNvPr id="10242" name="Rectangle 3"/>
          <p:cNvSpPr>
            <a:spLocks noGrp="1" noChangeArrowheads="1"/>
          </p:cNvSpPr>
          <p:nvPr>
            <p:ph type="subTitle" idx="4294967295"/>
          </p:nvPr>
        </p:nvSpPr>
        <p:spPr>
          <a:xfrm>
            <a:off x="1025313" y="1714462"/>
            <a:ext cx="10608733" cy="4114800"/>
          </a:xfrm>
        </p:spPr>
        <p:txBody>
          <a:bodyPr>
            <a:normAutofit/>
          </a:bodyPr>
          <a:lstStyle/>
          <a:p>
            <a:pPr>
              <a:buFontTx/>
              <a:buNone/>
            </a:pPr>
            <a:endParaRPr lang="zh-CN" altLang="en-US" sz="4000" dirty="0">
              <a:ea typeface="宋体" panose="02010600030101010101" pitchFamily="2" charset="-122"/>
            </a:endParaRPr>
          </a:p>
          <a:p>
            <a:pPr>
              <a:buFontTx/>
              <a:buNone/>
            </a:pPr>
            <a:endParaRPr lang="zh-CN" altLang="en-US" sz="4000" dirty="0">
              <a:ea typeface="宋体" panose="02010600030101010101" pitchFamily="2" charset="-122"/>
            </a:endParaRPr>
          </a:p>
          <a:p>
            <a:pPr marL="342900" indent="-342900" algn="l">
              <a:lnSpc>
                <a:spcPct val="150000"/>
              </a:lnSpc>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在反应的开始，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产物</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很少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。所以E+P贡献的[ES]量可以忽略不计。</a:t>
            </a:r>
          </a:p>
          <a:p>
            <a:pPr marL="342900" indent="-342900" algn="l">
              <a:lnSpc>
                <a:spcPct val="150000"/>
              </a:lnSpc>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因此，MM方程，涉及到反应初期测量的反应速率。在这种情况下，酶催化的反应可以被修饰成：</a:t>
            </a:r>
            <a:endParaRPr lang="en-US" altLang="zh-CN" sz="2400" dirty="0">
              <a:ea typeface="宋体" panose="02010600030101010101" pitchFamily="2" charset="-122"/>
            </a:endParaRPr>
          </a:p>
        </p:txBody>
      </p:sp>
      <p:graphicFrame>
        <p:nvGraphicFramePr>
          <p:cNvPr id="208900"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2110" name="Equation" r:id="rId3" imgW="114300" imgH="215900" progId="Equation.3">
                  <p:embed/>
                </p:oleObj>
              </mc:Choice>
              <mc:Fallback>
                <p:oleObj name="Equation" r:id="rId3"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0245" name="Group 7"/>
          <p:cNvGrpSpPr/>
          <p:nvPr/>
        </p:nvGrpSpPr>
        <p:grpSpPr bwMode="auto">
          <a:xfrm>
            <a:off x="3642360" y="5081789"/>
            <a:ext cx="5374640" cy="1140576"/>
            <a:chOff x="1392" y="3584"/>
            <a:chExt cx="2884" cy="468"/>
          </a:xfrm>
        </p:grpSpPr>
        <p:graphicFrame>
          <p:nvGraphicFramePr>
            <p:cNvPr id="10263" name="Object 8"/>
            <p:cNvGraphicFramePr>
              <a:graphicFrameLocks noChangeAspect="1"/>
            </p:cNvGraphicFramePr>
            <p:nvPr/>
          </p:nvGraphicFramePr>
          <p:xfrm>
            <a:off x="1392" y="3638"/>
            <a:ext cx="2884" cy="312"/>
          </p:xfrm>
          <a:graphic>
            <a:graphicData uri="http://schemas.openxmlformats.org/presentationml/2006/ole">
              <mc:AlternateContent xmlns:mc="http://schemas.openxmlformats.org/markup-compatibility/2006">
                <mc:Choice xmlns:v="urn:schemas-microsoft-com:vml" Requires="v">
                  <p:oleObj spid="_x0000_s2111" name="Equation" r:id="rId5" imgW="1993265" imgH="215900" progId="Equation.3">
                    <p:embed/>
                  </p:oleObj>
                </mc:Choice>
                <mc:Fallback>
                  <p:oleObj name="Equation" r:id="rId5" imgW="1993265"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3638"/>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264" name="Line 9"/>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265" name="Line 10"/>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266" name="Text Box 11"/>
            <p:cNvSpPr txBox="1">
              <a:spLocks noChangeArrowheads="1"/>
            </p:cNvSpPr>
            <p:nvPr/>
          </p:nvSpPr>
          <p:spPr bwMode="auto">
            <a:xfrm>
              <a:off x="2229" y="3584"/>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1</a:t>
              </a:r>
            </a:p>
          </p:txBody>
        </p:sp>
        <p:sp>
          <p:nvSpPr>
            <p:cNvPr id="10267" name="Text Box 12"/>
            <p:cNvSpPr txBox="1">
              <a:spLocks noChangeArrowheads="1"/>
            </p:cNvSpPr>
            <p:nvPr/>
          </p:nvSpPr>
          <p:spPr bwMode="auto">
            <a:xfrm>
              <a:off x="2208" y="3840"/>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0268" name="Line 13"/>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269" name="Text Box 14"/>
            <p:cNvSpPr txBox="1">
              <a:spLocks noChangeArrowheads="1"/>
            </p:cNvSpPr>
            <p:nvPr/>
          </p:nvSpPr>
          <p:spPr bwMode="auto">
            <a:xfrm>
              <a:off x="3240" y="3594"/>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2</a:t>
              </a:r>
            </a:p>
          </p:txBody>
        </p:sp>
      </p:grpSp>
      <p:grpSp>
        <p:nvGrpSpPr>
          <p:cNvPr id="2" name="组合 1">
            <a:extLst>
              <a:ext uri="{FF2B5EF4-FFF2-40B4-BE49-F238E27FC236}">
                <a16:creationId xmlns="" xmlns:a16="http://schemas.microsoft.com/office/drawing/2014/main" id="{45BD57DB-845D-C45B-FEFB-51ADD31DC6A6}"/>
              </a:ext>
            </a:extLst>
          </p:cNvPr>
          <p:cNvGrpSpPr/>
          <p:nvPr/>
        </p:nvGrpSpPr>
        <p:grpSpPr>
          <a:xfrm>
            <a:off x="3529330" y="1459271"/>
            <a:ext cx="5019040" cy="1268636"/>
            <a:chOff x="3529330" y="1459271"/>
            <a:chExt cx="5019040" cy="1268636"/>
          </a:xfrm>
        </p:grpSpPr>
        <p:sp>
          <p:nvSpPr>
            <p:cNvPr id="10244" name="Text Box 6"/>
            <p:cNvSpPr txBox="1">
              <a:spLocks noChangeArrowheads="1"/>
            </p:cNvSpPr>
            <p:nvPr/>
          </p:nvSpPr>
          <p:spPr bwMode="auto">
            <a:xfrm>
              <a:off x="4974591" y="2190750"/>
              <a:ext cx="4302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-1</a:t>
              </a:r>
            </a:p>
          </p:txBody>
        </p:sp>
        <p:grpSp>
          <p:nvGrpSpPr>
            <p:cNvPr id="10246" name="Group 15"/>
            <p:cNvGrpSpPr/>
            <p:nvPr/>
          </p:nvGrpSpPr>
          <p:grpSpPr bwMode="auto">
            <a:xfrm>
              <a:off x="3529330" y="1459271"/>
              <a:ext cx="5019040" cy="1268636"/>
              <a:chOff x="1534" y="1344"/>
              <a:chExt cx="2884" cy="522"/>
            </a:xfrm>
          </p:grpSpPr>
          <p:graphicFrame>
            <p:nvGraphicFramePr>
              <p:cNvPr id="10253" name="Object 16"/>
              <p:cNvGraphicFramePr>
                <a:graphicFrameLocks noChangeAspect="1"/>
              </p:cNvGraphicFramePr>
              <p:nvPr>
                <p:extLst>
                  <p:ext uri="{D42A27DB-BD31-4B8C-83A1-F6EECF244321}">
                    <p14:modId xmlns:p14="http://schemas.microsoft.com/office/powerpoint/2010/main" val="471189787"/>
                  </p:ext>
                </p:extLst>
              </p:nvPr>
            </p:nvGraphicFramePr>
            <p:xfrm>
              <a:off x="1534" y="1430"/>
              <a:ext cx="2884" cy="312"/>
            </p:xfrm>
            <a:graphic>
              <a:graphicData uri="http://schemas.openxmlformats.org/presentationml/2006/ole">
                <mc:AlternateContent xmlns:mc="http://schemas.openxmlformats.org/markup-compatibility/2006">
                  <mc:Choice xmlns:v="urn:schemas-microsoft-com:vml" Requires="v">
                    <p:oleObj spid="_x0000_s2112" name="Equation" r:id="rId7" imgW="1993265" imgH="215900" progId="Equation.3">
                      <p:embed/>
                    </p:oleObj>
                  </mc:Choice>
                  <mc:Fallback>
                    <p:oleObj name="Equation" r:id="rId7" imgW="1993265" imgH="2159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4" y="1430"/>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0254" name="Group 17"/>
              <p:cNvGrpSpPr/>
              <p:nvPr/>
            </p:nvGrpSpPr>
            <p:grpSpPr bwMode="auto">
              <a:xfrm>
                <a:off x="2233" y="1568"/>
                <a:ext cx="480" cy="48"/>
                <a:chOff x="2233" y="1568"/>
                <a:chExt cx="480" cy="48"/>
              </a:xfrm>
            </p:grpSpPr>
            <p:sp>
              <p:nvSpPr>
                <p:cNvPr id="10261" name="Line 18"/>
                <p:cNvSpPr>
                  <a:spLocks noChangeShapeType="1"/>
                </p:cNvSpPr>
                <p:nvPr/>
              </p:nvSpPr>
              <p:spPr bwMode="auto">
                <a:xfrm>
                  <a:off x="2233" y="1568"/>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262" name="Line 19"/>
                <p:cNvSpPr>
                  <a:spLocks noChangeShapeType="1"/>
                </p:cNvSpPr>
                <p:nvPr/>
              </p:nvSpPr>
              <p:spPr bwMode="auto">
                <a:xfrm flipH="1">
                  <a:off x="2233" y="1616"/>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sp>
            <p:nvSpPr>
              <p:cNvPr id="10255" name="Text Box 20"/>
              <p:cNvSpPr txBox="1">
                <a:spLocks noChangeArrowheads="1"/>
              </p:cNvSpPr>
              <p:nvPr/>
            </p:nvSpPr>
            <p:spPr bwMode="auto">
              <a:xfrm>
                <a:off x="2373" y="1350"/>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0256" name="Text Box 21"/>
              <p:cNvSpPr txBox="1">
                <a:spLocks noChangeArrowheads="1"/>
              </p:cNvSpPr>
              <p:nvPr/>
            </p:nvSpPr>
            <p:spPr bwMode="auto">
              <a:xfrm>
                <a:off x="3385" y="1344"/>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2</a:t>
                </a:r>
              </a:p>
            </p:txBody>
          </p:sp>
          <p:sp>
            <p:nvSpPr>
              <p:cNvPr id="10257" name="Text Box 22"/>
              <p:cNvSpPr txBox="1">
                <a:spLocks noChangeArrowheads="1"/>
              </p:cNvSpPr>
              <p:nvPr/>
            </p:nvSpPr>
            <p:spPr bwMode="auto">
              <a:xfrm>
                <a:off x="3377" y="1654"/>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dirty="0">
                    <a:latin typeface="Tahoma" panose="020B0604030504040204" charset="0"/>
                    <a:ea typeface="宋体" panose="02010600030101010101" pitchFamily="2" charset="-122"/>
                  </a:rPr>
                  <a:t>K</a:t>
                </a:r>
                <a:r>
                  <a:rPr lang="en-US" altLang="zh-CN" sz="1600" i="1" baseline="-25000" dirty="0">
                    <a:latin typeface="Tahoma" panose="020B0604030504040204" charset="0"/>
                    <a:ea typeface="宋体" panose="02010600030101010101" pitchFamily="2" charset="-122"/>
                  </a:rPr>
                  <a:t>-2</a:t>
                </a:r>
              </a:p>
            </p:txBody>
          </p:sp>
          <p:grpSp>
            <p:nvGrpSpPr>
              <p:cNvPr id="10258" name="Group 23"/>
              <p:cNvGrpSpPr/>
              <p:nvPr/>
            </p:nvGrpSpPr>
            <p:grpSpPr bwMode="auto">
              <a:xfrm>
                <a:off x="3193" y="1560"/>
                <a:ext cx="480" cy="48"/>
                <a:chOff x="2233" y="1568"/>
                <a:chExt cx="480" cy="48"/>
              </a:xfrm>
            </p:grpSpPr>
            <p:sp>
              <p:nvSpPr>
                <p:cNvPr id="10259" name="Line 24"/>
                <p:cNvSpPr>
                  <a:spLocks noChangeShapeType="1"/>
                </p:cNvSpPr>
                <p:nvPr/>
              </p:nvSpPr>
              <p:spPr bwMode="auto">
                <a:xfrm>
                  <a:off x="2233" y="1568"/>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0260" name="Line 25"/>
                <p:cNvSpPr>
                  <a:spLocks noChangeShapeType="1"/>
                </p:cNvSpPr>
                <p:nvPr/>
              </p:nvSpPr>
              <p:spPr bwMode="auto">
                <a:xfrm flipH="1">
                  <a:off x="2233" y="1616"/>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grpSp>
        </p:grpSp>
      </p:grpSp>
      <p:sp>
        <p:nvSpPr>
          <p:cNvPr id="10252" name="Rectangle 32"/>
          <p:cNvSpPr>
            <a:spLocks noChangeArrowheads="1"/>
          </p:cNvSpPr>
          <p:nvPr/>
        </p:nvSpPr>
        <p:spPr bwMode="auto">
          <a:xfrm>
            <a:off x="830580" y="1257936"/>
            <a:ext cx="2418080" cy="521970"/>
          </a:xfrm>
          <a:prstGeom prst="rect">
            <a:avLst/>
          </a:prstGeom>
          <a:noFill/>
          <a:ln>
            <a:noFill/>
          </a:ln>
          <a:effec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marL="457200" indent="-457200" algn="ctr">
              <a:spcBef>
                <a:spcPct val="0"/>
              </a:spcBef>
              <a:buAutoNum type="arabicPeriod"/>
            </a:pP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初</a:t>
            </a:r>
            <a:r>
              <a:rPr lang="en-US" altLang="zh-CN" sz="2800" b="1">
                <a:latin typeface="微软雅黑" panose="020B0503020204020204" pitchFamily="34" charset="-122"/>
                <a:ea typeface="微软雅黑" panose="020B0503020204020204" pitchFamily="34" charset="-122"/>
              </a:rPr>
              <a:t>速率</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假定</a:t>
            </a:r>
          </a:p>
        </p:txBody>
      </p:sp>
      <p:sp>
        <p:nvSpPr>
          <p:cNvPr id="5" name="文本框 4"/>
          <p:cNvSpPr txBox="1"/>
          <p:nvPr/>
        </p:nvSpPr>
        <p:spPr>
          <a:xfrm>
            <a:off x="3388281" y="2578251"/>
            <a:ext cx="6282489" cy="449995"/>
          </a:xfrm>
          <a:prstGeom prst="rect">
            <a:avLst/>
          </a:prstGeom>
          <a:noFill/>
        </p:spPr>
        <p:txBody>
          <a:bodyPr wrap="none" rtlCol="0" anchor="t">
            <a:spAutoFit/>
          </a:bodyPr>
          <a:lstStyle/>
          <a:p>
            <a:pPr>
              <a:lnSpc>
                <a:spcPct val="150000"/>
              </a:lnSpc>
            </a:pPr>
            <a:r>
              <a:rPr lang="en-US" altLang="zh-CN" b="1" i="1" dirty="0">
                <a:latin typeface="Tahoma" panose="020B0604030504040204" charset="0"/>
                <a:ea typeface="宋体" panose="02010600030101010101" pitchFamily="2" charset="-122"/>
                <a:sym typeface="+mn-ea"/>
              </a:rPr>
              <a:t>k</a:t>
            </a:r>
            <a:r>
              <a:rPr lang="zh-CN" altLang="en-US" b="1" i="1" dirty="0">
                <a:latin typeface="Tahoma" panose="020B0604030504040204" charset="0"/>
                <a:ea typeface="宋体" panose="02010600030101010101" pitchFamily="2" charset="-122"/>
                <a:sym typeface="+mn-ea"/>
              </a:rPr>
              <a:t>：速率常数，单位反应物浓度（浓度为</a:t>
            </a:r>
            <a:r>
              <a:rPr lang="en-US" altLang="zh-CN" b="1" i="1" dirty="0">
                <a:latin typeface="Tahoma" panose="020B0604030504040204" charset="0"/>
                <a:ea typeface="宋体" panose="02010600030101010101" pitchFamily="2" charset="-122"/>
                <a:sym typeface="+mn-ea"/>
              </a:rPr>
              <a:t>1</a:t>
            </a:r>
            <a:r>
              <a:rPr lang="zh-CN" altLang="en-US" b="1" i="1" dirty="0">
                <a:latin typeface="Tahoma" panose="020B0604030504040204" charset="0"/>
                <a:ea typeface="宋体" panose="02010600030101010101" pitchFamily="2" charset="-122"/>
                <a:sym typeface="+mn-ea"/>
              </a:rPr>
              <a:t>）时的反应速率。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8900"/>
                                        </p:tgtEl>
                                        <p:attrNameLst>
                                          <p:attrName>style.visibility</p:attrName>
                                        </p:attrNameLst>
                                      </p:cBhvr>
                                      <p:to>
                                        <p:strVal val="visible"/>
                                      </p:to>
                                    </p:set>
                                    <p:anim calcmode="lin" valueType="num">
                                      <p:cBhvr additive="base">
                                        <p:cTn id="7" dur="500" fill="hold"/>
                                        <p:tgtEl>
                                          <p:spTgt spid="208900"/>
                                        </p:tgtEl>
                                        <p:attrNameLst>
                                          <p:attrName>ppt_x</p:attrName>
                                        </p:attrNameLst>
                                      </p:cBhvr>
                                      <p:tavLst>
                                        <p:tav tm="0">
                                          <p:val>
                                            <p:strVal val="0-#ppt_w/2"/>
                                          </p:val>
                                        </p:tav>
                                        <p:tav tm="100000">
                                          <p:val>
                                            <p:strVal val="#ppt_x"/>
                                          </p:val>
                                        </p:tav>
                                      </p:tavLst>
                                    </p:anim>
                                    <p:anim calcmode="lin" valueType="num">
                                      <p:cBhvr additive="base">
                                        <p:cTn id="8" dur="500" fill="hold"/>
                                        <p:tgtEl>
                                          <p:spTgt spid="2089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（二）米氏方程推导</a:t>
            </a:r>
          </a:p>
        </p:txBody>
      </p:sp>
      <p:graphicFrame>
        <p:nvGraphicFramePr>
          <p:cNvPr id="208900" name="Object 4"/>
          <p:cNvGraphicFramePr>
            <a:graphicFrameLocks noChangeAspect="1"/>
          </p:cNvGraphicFramePr>
          <p:nvPr>
            <p:extLst>
              <p:ext uri="{D42A27DB-BD31-4B8C-83A1-F6EECF244321}">
                <p14:modId xmlns:p14="http://schemas.microsoft.com/office/powerpoint/2010/main" val="1357110932"/>
              </p:ext>
            </p:extLst>
          </p:nvPr>
        </p:nvGraphicFramePr>
        <p:xfrm>
          <a:off x="4447794" y="3218344"/>
          <a:ext cx="114300" cy="215900"/>
        </p:xfrm>
        <a:graphic>
          <a:graphicData uri="http://schemas.openxmlformats.org/presentationml/2006/ole">
            <mc:AlternateContent xmlns:mc="http://schemas.openxmlformats.org/markup-compatibility/2006">
              <mc:Choice xmlns:v="urn:schemas-microsoft-com:vml" Requires="v">
                <p:oleObj spid="_x0000_s3194" name="Equation" r:id="rId3" imgW="114300" imgH="215900" progId="Equation.3">
                  <p:embed/>
                </p:oleObj>
              </mc:Choice>
              <mc:Fallback>
                <p:oleObj name="Equation" r:id="rId3"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7794" y="3218344"/>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266" name="Rectangle 3"/>
          <p:cNvSpPr>
            <a:spLocks noGrp="1" noChangeArrowheads="1"/>
          </p:cNvSpPr>
          <p:nvPr>
            <p:ph type="subTitle" idx="4294967295"/>
          </p:nvPr>
        </p:nvSpPr>
        <p:spPr>
          <a:xfrm>
            <a:off x="1467658" y="1711253"/>
            <a:ext cx="8813800" cy="4114800"/>
          </a:xfrm>
        </p:spPr>
        <p:txBody>
          <a:bodyPr>
            <a:noAutofit/>
          </a:bodyPr>
          <a:lstStyle/>
          <a:p>
            <a:pPr>
              <a:buFontTx/>
              <a:buNone/>
            </a:pPr>
            <a:endParaRPr lang="zh-CN" altLang="en-US" sz="4000" b="1" dirty="0">
              <a:ea typeface="宋体" panose="02010600030101010101" pitchFamily="2" charset="-122"/>
            </a:endParaRPr>
          </a:p>
          <a:p>
            <a:pPr marL="342900" indent="-342900" algn="l">
              <a:buClr>
                <a:srgbClr val="000000"/>
              </a:buClr>
              <a:buFont typeface="Arial" panose="020B0604020202020204" pitchFamily="34" charset="0"/>
              <a:buChar char="•"/>
            </a:pP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buClr>
                <a:srgbClr val="000000"/>
              </a:buClr>
              <a:buFont typeface="Arial" panose="020B0604020202020204" pitchFamily="34" charset="0"/>
              <a:buChar char="•"/>
            </a:pPr>
            <a:r>
              <a:rPr lang="zh-CN" altLang="en-US" sz="2400" b="1" i="1" dirty="0">
                <a:latin typeface="微软雅黑" panose="020B0503020204020204" pitchFamily="34" charset="-122"/>
                <a:ea typeface="微软雅黑" panose="020B0503020204020204" pitchFamily="34" charset="-122"/>
                <a:cs typeface="微软雅黑" panose="020B0503020204020204" pitchFamily="34" charset="-122"/>
              </a:rPr>
              <a:t>ES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形成速率：</a:t>
            </a:r>
            <a:endParaRPr lang="en-US" altLang="zh-CN" sz="2400" b="1" dirty="0">
              <a:ea typeface="宋体" panose="02010600030101010101" pitchFamily="2" charset="-122"/>
            </a:endParaRPr>
          </a:p>
          <a:p>
            <a:pPr marL="742950" lvl="1" indent="-285750">
              <a:buClr>
                <a:srgbClr val="000000"/>
              </a:buClr>
              <a:buFont typeface="Arial" panose="020B0604020202020204" pitchFamily="34" charset="0"/>
              <a:buChar char="•"/>
            </a:pPr>
            <a:endParaRPr lang="en-US" altLang="zh-CN" sz="2000" b="1" dirty="0">
              <a:ea typeface="宋体" panose="02010600030101010101" pitchFamily="2" charset="-122"/>
            </a:endParaRPr>
          </a:p>
          <a:p>
            <a:pPr marL="342900" indent="-342900">
              <a:buClr>
                <a:srgbClr val="000000"/>
              </a:buClr>
              <a:buFont typeface="Arial" panose="020B0604020202020204" pitchFamily="34" charset="0"/>
              <a:buChar char="•"/>
            </a:pPr>
            <a:endParaRPr lang="en-US" altLang="zh-CN" sz="2400" b="1" dirty="0">
              <a:ea typeface="宋体" panose="02010600030101010101" pitchFamily="2" charset="-122"/>
            </a:endParaRPr>
          </a:p>
          <a:p>
            <a:pPr marL="342900" indent="-342900" algn="l">
              <a:buClr>
                <a:srgbClr val="000000"/>
              </a:buClr>
              <a:buFont typeface="Arial" panose="020B0604020202020204" pitchFamily="34" charset="0"/>
              <a:buChar char="•"/>
            </a:pPr>
            <a:r>
              <a:rPr lang="en-US" altLang="zh-CN" sz="2400" b="1" i="1" dirty="0">
                <a:ea typeface="宋体" panose="02010600030101010101" pitchFamily="2" charset="-122"/>
              </a:rPr>
              <a:t> </a:t>
            </a:r>
            <a:r>
              <a:rPr lang="zh-CN" altLang="en-US" sz="2400" b="1" i="1" dirty="0">
                <a:latin typeface="微软雅黑" panose="020B0503020204020204" pitchFamily="34" charset="-122"/>
                <a:ea typeface="微软雅黑" panose="020B0503020204020204" pitchFamily="34" charset="-122"/>
                <a:cs typeface="微软雅黑" panose="020B0503020204020204" pitchFamily="34" charset="-122"/>
                <a:sym typeface="+mn-ea"/>
              </a:rPr>
              <a:t>ES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解离速率：</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Clr>
                <a:srgbClr val="000000"/>
              </a:buClr>
              <a:buFont typeface="Arial" panose="020B0604020202020204" pitchFamily="34" charset="0"/>
              <a:buChar char="•"/>
            </a:pPr>
            <a:endParaRPr lang="en-US" altLang="zh-CN" sz="2400" b="1" dirty="0">
              <a:ea typeface="宋体" panose="02010600030101010101" pitchFamily="2" charset="-122"/>
            </a:endParaRPr>
          </a:p>
          <a:p>
            <a:pPr marL="342900" indent="-342900">
              <a:buClr>
                <a:srgbClr val="000000"/>
              </a:buClr>
              <a:buFont typeface="Arial" panose="020B0604020202020204" pitchFamily="34" charset="0"/>
              <a:buChar char="•"/>
            </a:pPr>
            <a:endParaRPr lang="en-US" altLang="zh-CN" sz="2400" b="1" dirty="0">
              <a:ea typeface="宋体" panose="02010600030101010101" pitchFamily="2" charset="-122"/>
            </a:endParaRPr>
          </a:p>
          <a:p>
            <a:pPr marL="342900" indent="-342900" algn="l">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在稳态时，没有[</a:t>
            </a:r>
            <a:r>
              <a:rPr lang="zh-CN" altLang="en-US" sz="2400" b="1" i="1" dirty="0">
                <a:latin typeface="微软雅黑" panose="020B0503020204020204" pitchFamily="34" charset="-122"/>
                <a:ea typeface="微软雅黑" panose="020B0503020204020204" pitchFamily="34" charset="-122"/>
                <a:cs typeface="微软雅黑" panose="020B0503020204020204" pitchFamily="34" charset="-122"/>
                <a:sym typeface="+mn-ea"/>
              </a:rPr>
              <a:t>ES</a:t>
            </a:r>
            <a:r>
              <a:rPr lang="en-US" altLang="zh-CN" sz="2400" b="1" i="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]的积累，因此</a:t>
            </a:r>
            <a:r>
              <a:rPr lang="en-US" altLang="zh-CN" sz="2400" b="1" dirty="0">
                <a:ea typeface="宋体" panose="02010600030101010101" pitchFamily="2" charset="-122"/>
                <a:sym typeface="+mn-ea"/>
              </a:rPr>
              <a:t> </a:t>
            </a:r>
            <a:r>
              <a:rPr lang="en-US" altLang="zh-CN" sz="2400" b="1" dirty="0">
                <a:ea typeface="宋体" panose="02010600030101010101" pitchFamily="2" charset="-122"/>
              </a:rPr>
              <a:t>:  </a:t>
            </a:r>
          </a:p>
        </p:txBody>
      </p:sp>
      <p:graphicFrame>
        <p:nvGraphicFramePr>
          <p:cNvPr id="209924" name="Object 4"/>
          <p:cNvGraphicFramePr>
            <a:graphicFrameLocks noChangeAspect="1"/>
          </p:cNvGraphicFramePr>
          <p:nvPr>
            <p:extLst>
              <p:ext uri="{D42A27DB-BD31-4B8C-83A1-F6EECF244321}">
                <p14:modId xmlns:p14="http://schemas.microsoft.com/office/powerpoint/2010/main" val="3343037854"/>
              </p:ext>
            </p:extLst>
          </p:nvPr>
        </p:nvGraphicFramePr>
        <p:xfrm>
          <a:off x="4574794" y="3345344"/>
          <a:ext cx="114300" cy="215900"/>
        </p:xfrm>
        <a:graphic>
          <a:graphicData uri="http://schemas.openxmlformats.org/presentationml/2006/ole">
            <mc:AlternateContent xmlns:mc="http://schemas.openxmlformats.org/markup-compatibility/2006">
              <mc:Choice xmlns:v="urn:schemas-microsoft-com:vml" Requires="v">
                <p:oleObj spid="_x0000_s3195" name="Equation" r:id="rId5" imgW="114300" imgH="215900" progId="Equation.3">
                  <p:embed/>
                </p:oleObj>
              </mc:Choice>
              <mc:Fallback>
                <p:oleObj name="Equation" r:id="rId5"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4794" y="3345344"/>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1268" name="Group 6"/>
          <p:cNvGrpSpPr/>
          <p:nvPr/>
        </p:nvGrpSpPr>
        <p:grpSpPr bwMode="auto">
          <a:xfrm>
            <a:off x="3981323" y="1171811"/>
            <a:ext cx="5068562" cy="1088751"/>
            <a:chOff x="1392" y="3552"/>
            <a:chExt cx="2884" cy="500"/>
          </a:xfrm>
        </p:grpSpPr>
        <p:graphicFrame>
          <p:nvGraphicFramePr>
            <p:cNvPr id="11274" name="Object 7"/>
            <p:cNvGraphicFramePr>
              <a:graphicFrameLocks noChangeAspect="1"/>
            </p:cNvGraphicFramePr>
            <p:nvPr>
              <p:extLst>
                <p:ext uri="{D42A27DB-BD31-4B8C-83A1-F6EECF244321}">
                  <p14:modId xmlns:p14="http://schemas.microsoft.com/office/powerpoint/2010/main" val="1239534885"/>
                </p:ext>
              </p:extLst>
            </p:nvPr>
          </p:nvGraphicFramePr>
          <p:xfrm>
            <a:off x="1392" y="3638"/>
            <a:ext cx="2884" cy="312"/>
          </p:xfrm>
          <a:graphic>
            <a:graphicData uri="http://schemas.openxmlformats.org/presentationml/2006/ole">
              <mc:AlternateContent xmlns:mc="http://schemas.openxmlformats.org/markup-compatibility/2006">
                <mc:Choice xmlns:v="urn:schemas-microsoft-com:vml" Requires="v">
                  <p:oleObj spid="_x0000_s3196" name="Equation" r:id="rId6" imgW="1993265" imgH="215900" progId="Equation.3">
                    <p:embed/>
                  </p:oleObj>
                </mc:Choice>
                <mc:Fallback>
                  <p:oleObj name="Equation" r:id="rId6" imgW="1993265" imgH="2159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2" y="3638"/>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275" name="Line 8"/>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76" name="Line 9"/>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77" name="Text Box 10"/>
            <p:cNvSpPr txBox="1">
              <a:spLocks noChangeArrowheads="1"/>
            </p:cNvSpPr>
            <p:nvPr/>
          </p:nvSpPr>
          <p:spPr bwMode="auto">
            <a:xfrm>
              <a:off x="2231" y="3558"/>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1278" name="Text Box 11"/>
            <p:cNvSpPr txBox="1">
              <a:spLocks noChangeArrowheads="1"/>
            </p:cNvSpPr>
            <p:nvPr/>
          </p:nvSpPr>
          <p:spPr bwMode="auto">
            <a:xfrm>
              <a:off x="2208" y="3840"/>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1279" name="Line 12"/>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80" name="Text Box 13"/>
            <p:cNvSpPr txBox="1">
              <a:spLocks noChangeArrowheads="1"/>
            </p:cNvSpPr>
            <p:nvPr/>
          </p:nvSpPr>
          <p:spPr bwMode="auto">
            <a:xfrm>
              <a:off x="3243" y="3552"/>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2</a:t>
              </a:r>
            </a:p>
          </p:txBody>
        </p:sp>
      </p:grpSp>
      <p:graphicFrame>
        <p:nvGraphicFramePr>
          <p:cNvPr id="11269" name="Object 14"/>
          <p:cNvGraphicFramePr>
            <a:graphicFrameLocks noChangeAspect="1"/>
          </p:cNvGraphicFramePr>
          <p:nvPr>
            <p:extLst>
              <p:ext uri="{D42A27DB-BD31-4B8C-83A1-F6EECF244321}">
                <p14:modId xmlns:p14="http://schemas.microsoft.com/office/powerpoint/2010/main" val="1331260821"/>
              </p:ext>
            </p:extLst>
          </p:nvPr>
        </p:nvGraphicFramePr>
        <p:xfrm>
          <a:off x="3747072" y="2747720"/>
          <a:ext cx="2003312" cy="577344"/>
        </p:xfrm>
        <a:graphic>
          <a:graphicData uri="http://schemas.openxmlformats.org/presentationml/2006/ole">
            <mc:AlternateContent xmlns:mc="http://schemas.openxmlformats.org/markup-compatibility/2006">
              <mc:Choice xmlns:v="urn:schemas-microsoft-com:vml" Requires="v">
                <p:oleObj spid="_x0000_s3197" name="Equation" r:id="rId8" imgW="838200" imgH="241300" progId="Equation.3">
                  <p:embed/>
                </p:oleObj>
              </mc:Choice>
              <mc:Fallback>
                <p:oleObj name="Equation" r:id="rId8" imgW="838200" imgH="24130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7072" y="2747720"/>
                        <a:ext cx="2003312" cy="577344"/>
                      </a:xfrm>
                      <a:prstGeom prst="rect">
                        <a:avLst/>
                      </a:prstGeom>
                      <a:noFill/>
                      <a:ln>
                        <a:noFill/>
                      </a:ln>
                      <a:effectLst/>
                    </p:spPr>
                  </p:pic>
                </p:oleObj>
              </mc:Fallback>
            </mc:AlternateContent>
          </a:graphicData>
        </a:graphic>
      </p:graphicFrame>
      <p:graphicFrame>
        <p:nvGraphicFramePr>
          <p:cNvPr id="11270" name="Object 15"/>
          <p:cNvGraphicFramePr>
            <a:graphicFrameLocks noChangeAspect="1"/>
          </p:cNvGraphicFramePr>
          <p:nvPr>
            <p:extLst>
              <p:ext uri="{D42A27DB-BD31-4B8C-83A1-F6EECF244321}">
                <p14:modId xmlns:p14="http://schemas.microsoft.com/office/powerpoint/2010/main" val="144118271"/>
              </p:ext>
            </p:extLst>
          </p:nvPr>
        </p:nvGraphicFramePr>
        <p:xfrm>
          <a:off x="3981323" y="4025668"/>
          <a:ext cx="5068562" cy="495300"/>
        </p:xfrm>
        <a:graphic>
          <a:graphicData uri="http://schemas.openxmlformats.org/presentationml/2006/ole">
            <mc:AlternateContent xmlns:mc="http://schemas.openxmlformats.org/markup-compatibility/2006">
              <mc:Choice xmlns:v="urn:schemas-microsoft-com:vml" Requires="v">
                <p:oleObj spid="_x0000_s3198" name="Equation" r:id="rId10" imgW="2349500" imgH="228600" progId="Equation.3">
                  <p:embed/>
                </p:oleObj>
              </mc:Choice>
              <mc:Fallback>
                <p:oleObj name="Equation" r:id="rId10" imgW="2349500" imgH="22860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1323" y="4025668"/>
                        <a:ext cx="5068562" cy="495300"/>
                      </a:xfrm>
                      <a:prstGeom prst="rect">
                        <a:avLst/>
                      </a:prstGeom>
                      <a:noFill/>
                      <a:ln>
                        <a:noFill/>
                      </a:ln>
                      <a:effectLst/>
                    </p:spPr>
                  </p:pic>
                </p:oleObj>
              </mc:Fallback>
            </mc:AlternateContent>
          </a:graphicData>
        </a:graphic>
      </p:graphicFrame>
      <p:graphicFrame>
        <p:nvGraphicFramePr>
          <p:cNvPr id="11271" name="Object 16"/>
          <p:cNvGraphicFramePr>
            <a:graphicFrameLocks noChangeAspect="1"/>
          </p:cNvGraphicFramePr>
          <p:nvPr>
            <p:extLst>
              <p:ext uri="{D42A27DB-BD31-4B8C-83A1-F6EECF244321}">
                <p14:modId xmlns:p14="http://schemas.microsoft.com/office/powerpoint/2010/main" val="1157151033"/>
              </p:ext>
            </p:extLst>
          </p:nvPr>
        </p:nvGraphicFramePr>
        <p:xfrm>
          <a:off x="6989329" y="5256174"/>
          <a:ext cx="1366524" cy="701851"/>
        </p:xfrm>
        <a:graphic>
          <a:graphicData uri="http://schemas.openxmlformats.org/presentationml/2006/ole">
            <mc:AlternateContent xmlns:mc="http://schemas.openxmlformats.org/markup-compatibility/2006">
              <mc:Choice xmlns:v="urn:schemas-microsoft-com:vml" Requires="v">
                <p:oleObj spid="_x0000_s3199" name="Equation" r:id="rId12" imgW="469900" imgH="241300" progId="Equation.3">
                  <p:embed/>
                </p:oleObj>
              </mc:Choice>
              <mc:Fallback>
                <p:oleObj name="Equation" r:id="rId12" imgW="469900" imgH="241300" progId="Equation.3">
                  <p:embed/>
                  <p:pic>
                    <p:nvPicPr>
                      <p:cNvPr id="0" name="Object 16"/>
                      <p:cNvPicPr>
                        <a:picLocks noChangeAspect="1" noChangeArrowheads="1"/>
                      </p:cNvPicPr>
                      <p:nvPr/>
                    </p:nvPicPr>
                    <p:blipFill>
                      <a:blip r:embed="rId13"/>
                      <a:srcRect/>
                      <a:stretch>
                        <a:fillRect/>
                      </a:stretch>
                    </p:blipFill>
                    <p:spPr bwMode="auto">
                      <a:xfrm>
                        <a:off x="6989329" y="5256174"/>
                        <a:ext cx="1366524" cy="701851"/>
                      </a:xfrm>
                      <a:prstGeom prst="rect">
                        <a:avLst/>
                      </a:prstGeom>
                      <a:noFill/>
                      <a:ln w="28575">
                        <a:solidFill>
                          <a:srgbClr val="FF0000"/>
                        </a:solidFill>
                      </a:ln>
                      <a:effectLst/>
                    </p:spPr>
                  </p:pic>
                </p:oleObj>
              </mc:Fallback>
            </mc:AlternateContent>
          </a:graphicData>
        </a:graphic>
      </p:graphicFrame>
      <p:sp>
        <p:nvSpPr>
          <p:cNvPr id="11273" name="Rectangle 19"/>
          <p:cNvSpPr>
            <a:spLocks noChangeArrowheads="1"/>
          </p:cNvSpPr>
          <p:nvPr/>
        </p:nvSpPr>
        <p:spPr bwMode="auto">
          <a:xfrm>
            <a:off x="1090394" y="877709"/>
            <a:ext cx="2287806" cy="584775"/>
          </a:xfrm>
          <a:prstGeom prst="rect">
            <a:avLst/>
          </a:prstGeom>
          <a:noFill/>
          <a:ln>
            <a:noFill/>
          </a:ln>
          <a:effec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marL="457200" indent="-457200" algn="ctr">
              <a:buFont typeface="+mj-lt"/>
              <a:buAutoNum type="arabicPeriod" startAt="2"/>
            </a:pPr>
            <a:r>
              <a:rPr lang="zh-CN" altLang="en-US" b="1" dirty="0">
                <a:latin typeface="Comic Sans MS" panose="030F0702030302020204" charset="0"/>
                <a:ea typeface="微软雅黑" panose="020B0503020204020204" pitchFamily="34" charset="-122"/>
                <a:cs typeface="Comic Sans MS" panose="030F0702030302020204" charset="0"/>
              </a:rPr>
              <a:t>速率定律</a:t>
            </a: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63504" y="59267"/>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（二）米氏方程推导</a:t>
            </a:r>
          </a:p>
        </p:txBody>
      </p:sp>
      <p:graphicFrame>
        <p:nvGraphicFramePr>
          <p:cNvPr id="208900" name="Object 4"/>
          <p:cNvGraphicFramePr>
            <a:graphicFrameLocks noChangeAspect="1"/>
          </p:cNvGraphicFramePr>
          <p:nvPr>
            <p:extLst>
              <p:ext uri="{D42A27DB-BD31-4B8C-83A1-F6EECF244321}">
                <p14:modId xmlns:p14="http://schemas.microsoft.com/office/powerpoint/2010/main" val="3710636875"/>
              </p:ext>
            </p:extLst>
          </p:nvPr>
        </p:nvGraphicFramePr>
        <p:xfrm>
          <a:off x="5675497" y="3276096"/>
          <a:ext cx="114300" cy="215900"/>
        </p:xfrm>
        <a:graphic>
          <a:graphicData uri="http://schemas.openxmlformats.org/presentationml/2006/ole">
            <mc:AlternateContent xmlns:mc="http://schemas.openxmlformats.org/markup-compatibility/2006">
              <mc:Choice xmlns:v="urn:schemas-microsoft-com:vml" Requires="v">
                <p:oleObj spid="_x0000_s4278" name="Equation" r:id="rId3" imgW="114300" imgH="215900" progId="Equation.3">
                  <p:embed/>
                </p:oleObj>
              </mc:Choice>
              <mc:Fallback>
                <p:oleObj name="Equation" r:id="rId3"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5497" y="3276096"/>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9924" name="Object 4"/>
          <p:cNvGraphicFramePr>
            <a:graphicFrameLocks noChangeAspect="1"/>
          </p:cNvGraphicFramePr>
          <p:nvPr>
            <p:extLst>
              <p:ext uri="{D42A27DB-BD31-4B8C-83A1-F6EECF244321}">
                <p14:modId xmlns:p14="http://schemas.microsoft.com/office/powerpoint/2010/main" val="2815793693"/>
              </p:ext>
            </p:extLst>
          </p:nvPr>
        </p:nvGraphicFramePr>
        <p:xfrm>
          <a:off x="5802497" y="3403096"/>
          <a:ext cx="114300" cy="215900"/>
        </p:xfrm>
        <a:graphic>
          <a:graphicData uri="http://schemas.openxmlformats.org/presentationml/2006/ole">
            <mc:AlternateContent xmlns:mc="http://schemas.openxmlformats.org/markup-compatibility/2006">
              <mc:Choice xmlns:v="urn:schemas-microsoft-com:vml" Requires="v">
                <p:oleObj spid="_x0000_s4279" name="Equation" r:id="rId5" imgW="114300" imgH="215900" progId="Equation.3">
                  <p:embed/>
                </p:oleObj>
              </mc:Choice>
              <mc:Fallback>
                <p:oleObj name="Equation" r:id="rId5"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2497" y="3403096"/>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290" name="Rectangle 3"/>
          <p:cNvSpPr>
            <a:spLocks noGrp="1" noChangeArrowheads="1"/>
          </p:cNvSpPr>
          <p:nvPr>
            <p:ph type="subTitle" idx="4294967295"/>
          </p:nvPr>
        </p:nvSpPr>
        <p:spPr>
          <a:xfrm>
            <a:off x="141383" y="1789560"/>
            <a:ext cx="11909234" cy="5068439"/>
          </a:xfrm>
        </p:spPr>
        <p:txBody>
          <a:bodyPr>
            <a:noAutofit/>
          </a:bodyPr>
          <a:lstStyle/>
          <a:p>
            <a:pPr marL="342900" indent="-342900" algn="l">
              <a:lnSpc>
                <a:spcPct val="150000"/>
              </a:lnSpc>
              <a:buClr>
                <a:srgbClr val="000000"/>
              </a:buClr>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我们还需要一个条件，即酶总浓度[E</a:t>
            </a:r>
            <a:r>
              <a:rPr lang="zh-CN" altLang="en-US" sz="2400" b="1" baseline="-2500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]是酶-底物复合体[ES]和游离酶[E]的和:</a:t>
            </a:r>
          </a:p>
          <a:p>
            <a:pPr marL="342900" indent="-342900" algn="l">
              <a:lnSpc>
                <a:spcPct val="150000"/>
              </a:lnSpc>
              <a:buClr>
                <a:srgbClr val="000000"/>
              </a:buClr>
              <a:buChar char="•"/>
            </a:pP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在稳态时，正向速率应该等于反向速率  </a:t>
            </a:r>
          </a:p>
          <a:p>
            <a:pPr marL="285750" indent="-285750">
              <a:buClr>
                <a:srgbClr val="FF3300"/>
              </a:buClr>
            </a:pPr>
            <a:endParaRPr lang="en-US" altLang="zh-CN" sz="2000" b="1" dirty="0">
              <a:ea typeface="宋体" panose="02010600030101010101" pitchFamily="2" charset="-122"/>
            </a:endParaRPr>
          </a:p>
          <a:p>
            <a:pPr>
              <a:buClr>
                <a:srgbClr val="FF3300"/>
              </a:buClr>
              <a:buFont typeface="Wingdings" panose="05000000000000000000" pitchFamily="2" charset="2"/>
              <a:buChar char="@"/>
            </a:pPr>
            <a:endParaRPr lang="en-US" altLang="zh-CN" sz="2000" b="1" dirty="0">
              <a:ea typeface="宋体" panose="02010600030101010101" pitchFamily="2" charset="-122"/>
            </a:endParaRPr>
          </a:p>
          <a:p>
            <a:pPr>
              <a:buClr>
                <a:srgbClr val="FF3300"/>
              </a:buClr>
              <a:buFont typeface="Wingdings" panose="05000000000000000000" pitchFamily="2" charset="2"/>
              <a:buChar char="@"/>
            </a:pPr>
            <a:endParaRPr lang="en-US" altLang="zh-CN" sz="2000" b="1" dirty="0">
              <a:ea typeface="宋体" panose="02010600030101010101" pitchFamily="2" charset="-122"/>
            </a:endParaRPr>
          </a:p>
          <a:p>
            <a:pPr>
              <a:buClr>
                <a:srgbClr val="FF3300"/>
              </a:buClr>
              <a:buFont typeface="Wingdings" panose="05000000000000000000" pitchFamily="2" charset="2"/>
              <a:buChar char="@"/>
            </a:pPr>
            <a:endParaRPr lang="en-US" altLang="zh-CN" sz="2000" b="1" dirty="0">
              <a:ea typeface="宋体" panose="02010600030101010101" pitchFamily="2" charset="-122"/>
            </a:endParaRPr>
          </a:p>
          <a:p>
            <a:pPr>
              <a:buClr>
                <a:srgbClr val="FF3300"/>
              </a:buClr>
              <a:buFont typeface="Wingdings" panose="05000000000000000000" pitchFamily="2" charset="2"/>
              <a:buChar char="@"/>
            </a:pPr>
            <a:endParaRPr lang="en-US" altLang="zh-CN" sz="2000" b="1" dirty="0">
              <a:ea typeface="宋体" panose="02010600030101010101" pitchFamily="2" charset="-122"/>
            </a:endParaRPr>
          </a:p>
          <a:p>
            <a:pPr marL="342900" indent="-342900" algn="l">
              <a:lnSpc>
                <a:spcPct val="150000"/>
              </a:lnSpc>
              <a:buClr>
                <a:srgbClr val="000000"/>
              </a:buClr>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起始阶段，初速率等于产物形成速率，v = k</a:t>
            </a:r>
            <a:r>
              <a:rPr lang="zh-CN" altLang="en-US" sz="2400" b="1"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i="1" dirty="0">
                <a:latin typeface="微软雅黑" panose="020B0503020204020204" pitchFamily="34" charset="-122"/>
                <a:ea typeface="微软雅黑" panose="020B0503020204020204" pitchFamily="34" charset="-122"/>
                <a:cs typeface="微软雅黑" panose="020B0503020204020204" pitchFamily="34" charset="-122"/>
              </a:rPr>
              <a:t>ES</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]。所以</a:t>
            </a:r>
          </a:p>
        </p:txBody>
      </p:sp>
      <p:graphicFrame>
        <p:nvGraphicFramePr>
          <p:cNvPr id="210948" name="Object 4"/>
          <p:cNvGraphicFramePr>
            <a:graphicFrameLocks noChangeAspect="1"/>
          </p:cNvGraphicFramePr>
          <p:nvPr>
            <p:extLst>
              <p:ext uri="{D42A27DB-BD31-4B8C-83A1-F6EECF244321}">
                <p14:modId xmlns:p14="http://schemas.microsoft.com/office/powerpoint/2010/main" val="2994524461"/>
              </p:ext>
            </p:extLst>
          </p:nvPr>
        </p:nvGraphicFramePr>
        <p:xfrm>
          <a:off x="5929497" y="3530096"/>
          <a:ext cx="114300" cy="215900"/>
        </p:xfrm>
        <a:graphic>
          <a:graphicData uri="http://schemas.openxmlformats.org/presentationml/2006/ole">
            <mc:AlternateContent xmlns:mc="http://schemas.openxmlformats.org/markup-compatibility/2006">
              <mc:Choice xmlns:v="urn:schemas-microsoft-com:vml" Requires="v">
                <p:oleObj spid="_x0000_s4280" name="Equation" r:id="rId6" imgW="114300" imgH="215900" progId="Equation.3">
                  <p:embed/>
                </p:oleObj>
              </mc:Choice>
              <mc:Fallback>
                <p:oleObj name="Equation" r:id="rId6"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497" y="3530096"/>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293" name="Group 7"/>
          <p:cNvGrpSpPr/>
          <p:nvPr/>
        </p:nvGrpSpPr>
        <p:grpSpPr bwMode="auto">
          <a:xfrm>
            <a:off x="3553328" y="2408686"/>
            <a:ext cx="7032046" cy="778194"/>
            <a:chOff x="1104" y="1968"/>
            <a:chExt cx="3678" cy="393"/>
          </a:xfrm>
        </p:grpSpPr>
        <p:graphicFrame>
          <p:nvGraphicFramePr>
            <p:cNvPr id="12307" name="Object 8"/>
            <p:cNvGraphicFramePr>
              <a:graphicFrameLocks noChangeAspect="1"/>
            </p:cNvGraphicFramePr>
            <p:nvPr/>
          </p:nvGraphicFramePr>
          <p:xfrm>
            <a:off x="1104" y="1968"/>
            <a:ext cx="1047" cy="236"/>
          </p:xfrm>
          <a:graphic>
            <a:graphicData uri="http://schemas.openxmlformats.org/presentationml/2006/ole">
              <mc:AlternateContent xmlns:mc="http://schemas.openxmlformats.org/markup-compatibility/2006">
                <mc:Choice xmlns:v="urn:schemas-microsoft-com:vml" Requires="v">
                  <p:oleObj spid="_x0000_s4281" name="Equation" r:id="rId7" imgW="1016000" imgH="228600" progId="Equation.3">
                    <p:embed/>
                  </p:oleObj>
                </mc:Choice>
                <mc:Fallback>
                  <p:oleObj name="Equation" r:id="rId7" imgW="1016000" imgH="228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 y="1968"/>
                          <a:ext cx="1047"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308" name="Object 9"/>
            <p:cNvGraphicFramePr>
              <a:graphicFrameLocks noChangeAspect="1"/>
            </p:cNvGraphicFramePr>
            <p:nvPr/>
          </p:nvGraphicFramePr>
          <p:xfrm>
            <a:off x="2688" y="1968"/>
            <a:ext cx="2094" cy="249"/>
          </p:xfrm>
          <a:graphic>
            <a:graphicData uri="http://schemas.openxmlformats.org/presentationml/2006/ole">
              <mc:AlternateContent xmlns:mc="http://schemas.openxmlformats.org/markup-compatibility/2006">
                <mc:Choice xmlns:v="urn:schemas-microsoft-com:vml" Requires="v">
                  <p:oleObj spid="_x0000_s4282" name="Equation" r:id="rId9" imgW="2032000" imgH="241300" progId="Equation.3">
                    <p:embed/>
                  </p:oleObj>
                </mc:Choice>
                <mc:Fallback>
                  <p:oleObj name="Equation" r:id="rId9" imgW="2032000" imgH="2413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8" y="1968"/>
                          <a:ext cx="2094"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309" name="Freeform 10"/>
            <p:cNvSpPr/>
            <p:nvPr/>
          </p:nvSpPr>
          <p:spPr bwMode="auto">
            <a:xfrm>
              <a:off x="1776" y="2217"/>
              <a:ext cx="1440" cy="144"/>
            </a:xfrm>
            <a:custGeom>
              <a:avLst/>
              <a:gdLst>
                <a:gd name="T0" fmla="*/ 0 w 1440"/>
                <a:gd name="T1" fmla="*/ 0 h 144"/>
                <a:gd name="T2" fmla="*/ 816 w 1440"/>
                <a:gd name="T3" fmla="*/ 144 h 144"/>
                <a:gd name="T4" fmla="*/ 1440 w 1440"/>
                <a:gd name="T5" fmla="*/ 0 h 144"/>
                <a:gd name="T6" fmla="*/ 0 60000 65536"/>
                <a:gd name="T7" fmla="*/ 0 60000 65536"/>
                <a:gd name="T8" fmla="*/ 0 60000 65536"/>
              </a:gdLst>
              <a:ahLst/>
              <a:cxnLst>
                <a:cxn ang="T6">
                  <a:pos x="T0" y="T1"/>
                </a:cxn>
                <a:cxn ang="T7">
                  <a:pos x="T2" y="T3"/>
                </a:cxn>
                <a:cxn ang="T8">
                  <a:pos x="T4" y="T5"/>
                </a:cxn>
              </a:cxnLst>
              <a:rect l="0" t="0" r="r" b="b"/>
              <a:pathLst>
                <a:path w="1440" h="144">
                  <a:moveTo>
                    <a:pt x="0" y="0"/>
                  </a:moveTo>
                  <a:cubicBezTo>
                    <a:pt x="288" y="72"/>
                    <a:pt x="576" y="144"/>
                    <a:pt x="816" y="144"/>
                  </a:cubicBezTo>
                  <a:cubicBezTo>
                    <a:pt x="1056" y="144"/>
                    <a:pt x="1248" y="72"/>
                    <a:pt x="1440" y="0"/>
                  </a:cubicBezTo>
                </a:path>
              </a:pathLst>
            </a:custGeom>
            <a:noFill/>
            <a:ln w="9525" cap="flat" cmpd="sng">
              <a:solidFill>
                <a:srgbClr val="FF0000"/>
              </a:solidFill>
              <a:prstDash val="solid"/>
              <a:miter lim="800000"/>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12296" name="Object 13"/>
          <p:cNvGraphicFramePr>
            <a:graphicFrameLocks noChangeAspect="1"/>
          </p:cNvGraphicFramePr>
          <p:nvPr>
            <p:extLst>
              <p:ext uri="{D42A27DB-BD31-4B8C-83A1-F6EECF244321}">
                <p14:modId xmlns:p14="http://schemas.microsoft.com/office/powerpoint/2010/main" val="2976710110"/>
              </p:ext>
            </p:extLst>
          </p:nvPr>
        </p:nvGraphicFramePr>
        <p:xfrm>
          <a:off x="8286137" y="5793616"/>
          <a:ext cx="1569888" cy="821080"/>
        </p:xfrm>
        <a:graphic>
          <a:graphicData uri="http://schemas.openxmlformats.org/presentationml/2006/ole">
            <mc:AlternateContent xmlns:mc="http://schemas.openxmlformats.org/markup-compatibility/2006">
              <mc:Choice xmlns:v="urn:schemas-microsoft-com:vml" Requires="v">
                <p:oleObj spid="_x0000_s4283" name="Equation" r:id="rId11" imgW="850265" imgH="444500" progId="Equation.3">
                  <p:embed/>
                </p:oleObj>
              </mc:Choice>
              <mc:Fallback>
                <p:oleObj name="Equation" r:id="rId11" imgW="850265" imgH="4445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86137" y="5793616"/>
                        <a:ext cx="1569888" cy="821080"/>
                      </a:xfrm>
                      <a:prstGeom prst="rect">
                        <a:avLst/>
                      </a:prstGeom>
                      <a:noFill/>
                      <a:ln w="28575">
                        <a:solidFill>
                          <a:srgbClr val="FF0000"/>
                        </a:solidFill>
                      </a:ln>
                      <a:effectLst/>
                    </p:spPr>
                  </p:pic>
                </p:oleObj>
              </mc:Fallback>
            </mc:AlternateContent>
          </a:graphicData>
        </a:graphic>
      </p:graphicFrame>
      <p:sp>
        <p:nvSpPr>
          <p:cNvPr id="12306" name="Rectangle 24"/>
          <p:cNvSpPr>
            <a:spLocks noChangeArrowheads="1"/>
          </p:cNvSpPr>
          <p:nvPr/>
        </p:nvSpPr>
        <p:spPr bwMode="auto">
          <a:xfrm>
            <a:off x="1363504" y="995810"/>
            <a:ext cx="2287806" cy="584775"/>
          </a:xfrm>
          <a:prstGeom prst="rect">
            <a:avLst/>
          </a:prstGeom>
          <a:noFill/>
          <a:ln>
            <a:noFill/>
          </a:ln>
          <a:effec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marL="457200" indent="-457200" algn="ctr">
              <a:buFont typeface="+mj-lt"/>
              <a:buAutoNum type="arabicPeriod" startAt="3"/>
            </a:pPr>
            <a:r>
              <a:rPr lang="zh-CN" altLang="en-US" b="1" dirty="0">
                <a:latin typeface="Comic Sans MS" panose="030F0702030302020204" charset="0"/>
                <a:ea typeface="微软雅黑" panose="020B0503020204020204" pitchFamily="34" charset="-122"/>
                <a:cs typeface="Comic Sans MS" panose="030F0702030302020204" charset="0"/>
              </a:rPr>
              <a:t>推导过程</a:t>
            </a:r>
          </a:p>
        </p:txBody>
      </p:sp>
      <p:graphicFrame>
        <p:nvGraphicFramePr>
          <p:cNvPr id="10" name="Object 16"/>
          <p:cNvGraphicFramePr>
            <a:graphicFrameLocks noChangeAspect="1"/>
          </p:cNvGraphicFramePr>
          <p:nvPr>
            <p:extLst>
              <p:ext uri="{D42A27DB-BD31-4B8C-83A1-F6EECF244321}">
                <p14:modId xmlns:p14="http://schemas.microsoft.com/office/powerpoint/2010/main" val="2516024338"/>
              </p:ext>
            </p:extLst>
          </p:nvPr>
        </p:nvGraphicFramePr>
        <p:xfrm>
          <a:off x="5929497" y="3234792"/>
          <a:ext cx="950205" cy="488028"/>
        </p:xfrm>
        <a:graphic>
          <a:graphicData uri="http://schemas.openxmlformats.org/presentationml/2006/ole">
            <mc:AlternateContent xmlns:mc="http://schemas.openxmlformats.org/markup-compatibility/2006">
              <mc:Choice xmlns:v="urn:schemas-microsoft-com:vml" Requires="v">
                <p:oleObj spid="_x0000_s4284" name="Equation" r:id="rId13" imgW="469900" imgH="241300" progId="Equation.3">
                  <p:embed/>
                </p:oleObj>
              </mc:Choice>
              <mc:Fallback>
                <p:oleObj name="Equation" r:id="rId13" imgW="469900" imgH="241300" progId="Equation.3">
                  <p:embed/>
                  <p:pic>
                    <p:nvPicPr>
                      <p:cNvPr id="0" name="Object 16"/>
                      <p:cNvPicPr>
                        <a:picLocks noChangeAspect="1" noChangeArrowheads="1"/>
                      </p:cNvPicPr>
                      <p:nvPr/>
                    </p:nvPicPr>
                    <p:blipFill>
                      <a:blip r:embed="rId14"/>
                      <a:srcRect/>
                      <a:stretch>
                        <a:fillRect/>
                      </a:stretch>
                    </p:blipFill>
                    <p:spPr bwMode="auto">
                      <a:xfrm>
                        <a:off x="5929497" y="3234792"/>
                        <a:ext cx="950205" cy="488028"/>
                      </a:xfrm>
                      <a:prstGeom prst="rect">
                        <a:avLst/>
                      </a:prstGeom>
                      <a:noFill/>
                      <a:ln w="28575">
                        <a:solidFill>
                          <a:srgbClr val="FF0000"/>
                        </a:solidFill>
                      </a:ln>
                      <a:effectLst/>
                    </p:spPr>
                  </p:pic>
                </p:oleObj>
              </mc:Fallback>
            </mc:AlternateContent>
          </a:graphicData>
        </a:graphic>
      </p:graphicFrame>
      <p:grpSp>
        <p:nvGrpSpPr>
          <p:cNvPr id="2" name="组合 1">
            <a:extLst>
              <a:ext uri="{FF2B5EF4-FFF2-40B4-BE49-F238E27FC236}">
                <a16:creationId xmlns="" xmlns:a16="http://schemas.microsoft.com/office/drawing/2014/main" id="{022026F9-4376-58DE-B5AF-7F3A1DB4A9FB}"/>
              </a:ext>
            </a:extLst>
          </p:cNvPr>
          <p:cNvGrpSpPr/>
          <p:nvPr/>
        </p:nvGrpSpPr>
        <p:grpSpPr>
          <a:xfrm>
            <a:off x="1200839" y="3755205"/>
            <a:ext cx="9153181" cy="2218109"/>
            <a:chOff x="2250969" y="3895975"/>
            <a:chExt cx="7371080" cy="1543685"/>
          </a:xfrm>
        </p:grpSpPr>
        <p:graphicFrame>
          <p:nvGraphicFramePr>
            <p:cNvPr id="12292" name="Object 6"/>
            <p:cNvGraphicFramePr>
              <a:graphicFrameLocks noChangeAspect="1"/>
            </p:cNvGraphicFramePr>
            <p:nvPr>
              <p:extLst>
                <p:ext uri="{D42A27DB-BD31-4B8C-83A1-F6EECF244321}">
                  <p14:modId xmlns:p14="http://schemas.microsoft.com/office/powerpoint/2010/main" val="598874080"/>
                </p:ext>
              </p:extLst>
            </p:nvPr>
          </p:nvGraphicFramePr>
          <p:xfrm>
            <a:off x="2250969" y="3895975"/>
            <a:ext cx="7371080" cy="1543685"/>
          </p:xfrm>
          <a:graphic>
            <a:graphicData uri="http://schemas.openxmlformats.org/presentationml/2006/ole">
              <mc:AlternateContent xmlns:mc="http://schemas.openxmlformats.org/markup-compatibility/2006">
                <mc:Choice xmlns:v="urn:schemas-microsoft-com:vml" Requires="v">
                  <p:oleObj spid="_x0000_s4285" name="Equation" r:id="rId15" imgW="4977765" imgH="1041400" progId="Equation.3">
                    <p:embed/>
                  </p:oleObj>
                </mc:Choice>
                <mc:Fallback>
                  <p:oleObj name="Equation" r:id="rId15" imgW="4977765" imgH="1041400" progId="Equation.3">
                    <p:embed/>
                    <p:pic>
                      <p:nvPicPr>
                        <p:cNvPr id="0" name="Object 6"/>
                        <p:cNvPicPr>
                          <a:picLocks noChangeAspect="1" noChangeArrowheads="1"/>
                        </p:cNvPicPr>
                        <p:nvPr/>
                      </p:nvPicPr>
                      <p:blipFill>
                        <a:blip r:embed="rId16"/>
                        <a:srcRect/>
                        <a:stretch>
                          <a:fillRect/>
                        </a:stretch>
                      </p:blipFill>
                      <p:spPr bwMode="auto">
                        <a:xfrm>
                          <a:off x="2250969" y="3895975"/>
                          <a:ext cx="7371080" cy="15436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 name="矩形 11"/>
            <p:cNvSpPr/>
            <p:nvPr/>
          </p:nvSpPr>
          <p:spPr>
            <a:xfrm>
              <a:off x="6717876" y="4556056"/>
              <a:ext cx="1046480" cy="38608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68" name="Group 6"/>
          <p:cNvGrpSpPr/>
          <p:nvPr/>
        </p:nvGrpSpPr>
        <p:grpSpPr bwMode="auto">
          <a:xfrm>
            <a:off x="4634416" y="884686"/>
            <a:ext cx="4551363" cy="793750"/>
            <a:chOff x="1401" y="3552"/>
            <a:chExt cx="2867" cy="500"/>
          </a:xfrm>
        </p:grpSpPr>
        <p:graphicFrame>
          <p:nvGraphicFramePr>
            <p:cNvPr id="11274" name="Object 7"/>
            <p:cNvGraphicFramePr>
              <a:graphicFrameLocks noChangeAspect="1"/>
            </p:cNvGraphicFramePr>
            <p:nvPr/>
          </p:nvGraphicFramePr>
          <p:xfrm>
            <a:off x="1401" y="3638"/>
            <a:ext cx="2867" cy="312"/>
          </p:xfrm>
          <a:graphic>
            <a:graphicData uri="http://schemas.openxmlformats.org/presentationml/2006/ole">
              <mc:AlternateContent xmlns:mc="http://schemas.openxmlformats.org/markup-compatibility/2006">
                <mc:Choice xmlns:v="urn:schemas-microsoft-com:vml" Requires="v">
                  <p:oleObj spid="_x0000_s4286" name="Equation" r:id="rId17" imgW="1981200" imgH="215900" progId="Equation.3">
                    <p:embed/>
                  </p:oleObj>
                </mc:Choice>
                <mc:Fallback>
                  <p:oleObj name="Equation" r:id="rId17" imgW="1981200" imgH="215900" progId="Equation.3">
                    <p:embed/>
                    <p:pic>
                      <p:nvPicPr>
                        <p:cNvPr id="0" name="Object 7"/>
                        <p:cNvPicPr>
                          <a:picLocks noChangeAspect="1" noChangeArrowheads="1"/>
                        </p:cNvPicPr>
                        <p:nvPr/>
                      </p:nvPicPr>
                      <p:blipFill>
                        <a:blip r:embed="rId18"/>
                        <a:srcRect/>
                        <a:stretch>
                          <a:fillRect/>
                        </a:stretch>
                      </p:blipFill>
                      <p:spPr bwMode="auto">
                        <a:xfrm>
                          <a:off x="1401" y="3638"/>
                          <a:ext cx="286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275" name="Line 8"/>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76" name="Line 9"/>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77" name="Text Box 10"/>
            <p:cNvSpPr txBox="1">
              <a:spLocks noChangeArrowheads="1"/>
            </p:cNvSpPr>
            <p:nvPr/>
          </p:nvSpPr>
          <p:spPr bwMode="auto">
            <a:xfrm>
              <a:off x="2231" y="3558"/>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1278" name="Text Box 11"/>
            <p:cNvSpPr txBox="1">
              <a:spLocks noChangeArrowheads="1"/>
            </p:cNvSpPr>
            <p:nvPr/>
          </p:nvSpPr>
          <p:spPr bwMode="auto">
            <a:xfrm>
              <a:off x="2208" y="3840"/>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1279" name="Line 12"/>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280" name="Text Box 13"/>
            <p:cNvSpPr txBox="1">
              <a:spLocks noChangeArrowheads="1"/>
            </p:cNvSpPr>
            <p:nvPr/>
          </p:nvSpPr>
          <p:spPr bwMode="auto">
            <a:xfrm>
              <a:off x="3243" y="3552"/>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2</a:t>
              </a:r>
            </a:p>
          </p:txBody>
        </p:sp>
      </p:gr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739424" y="-14927"/>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（二）米氏方程推导</a:t>
            </a:r>
          </a:p>
        </p:txBody>
      </p:sp>
      <p:sp>
        <p:nvSpPr>
          <p:cNvPr id="12306" name="Rectangle 24"/>
          <p:cNvSpPr>
            <a:spLocks noChangeArrowheads="1"/>
          </p:cNvSpPr>
          <p:nvPr/>
        </p:nvSpPr>
        <p:spPr bwMode="auto">
          <a:xfrm>
            <a:off x="856296" y="1100277"/>
            <a:ext cx="2287806" cy="584775"/>
          </a:xfrm>
          <a:prstGeom prst="rect">
            <a:avLst/>
          </a:prstGeom>
          <a:noFill/>
          <a:ln>
            <a:noFill/>
          </a:ln>
          <a:effec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marL="457200" indent="-457200" algn="ctr">
              <a:buFont typeface="+mj-lt"/>
              <a:buAutoNum type="arabicPeriod" startAt="3"/>
            </a:pPr>
            <a:r>
              <a:rPr lang="zh-CN" altLang="en-US" b="1">
                <a:latin typeface="Comic Sans MS" panose="030F0702030302020204" charset="0"/>
                <a:ea typeface="微软雅黑" panose="020B0503020204020204" pitchFamily="34" charset="-122"/>
                <a:cs typeface="Comic Sans MS" panose="030F0702030302020204" charset="0"/>
              </a:rPr>
              <a:t>推导过程</a:t>
            </a:r>
          </a:p>
        </p:txBody>
      </p:sp>
      <p:graphicFrame>
        <p:nvGraphicFramePr>
          <p:cNvPr id="211972" name="Object 4"/>
          <p:cNvGraphicFramePr>
            <a:graphicFrameLocks noChangeAspect="1"/>
          </p:cNvGraphicFramePr>
          <p:nvPr/>
        </p:nvGraphicFramePr>
        <p:xfrm>
          <a:off x="6218555" y="3707130"/>
          <a:ext cx="114300" cy="215900"/>
        </p:xfrm>
        <a:graphic>
          <a:graphicData uri="http://schemas.openxmlformats.org/presentationml/2006/ole">
            <mc:AlternateContent xmlns:mc="http://schemas.openxmlformats.org/markup-compatibility/2006">
              <mc:Choice xmlns:v="urn:schemas-microsoft-com:vml" Requires="v">
                <p:oleObj spid="_x0000_s5262" name="Equation" r:id="rId3" imgW="114300" imgH="215900" progId="Equation.3">
                  <p:embed/>
                </p:oleObj>
              </mc:Choice>
              <mc:Fallback>
                <p:oleObj name="Equation" r:id="rId3"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8555" y="370713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3317" name="Group 9"/>
          <p:cNvGrpSpPr/>
          <p:nvPr/>
        </p:nvGrpSpPr>
        <p:grpSpPr bwMode="auto">
          <a:xfrm>
            <a:off x="3362326" y="5050791"/>
            <a:ext cx="2772485" cy="1261873"/>
            <a:chOff x="3776" y="2904"/>
            <a:chExt cx="774" cy="433"/>
          </a:xfrm>
        </p:grpSpPr>
        <p:graphicFrame>
          <p:nvGraphicFramePr>
            <p:cNvPr id="13328" name="Object 10"/>
            <p:cNvGraphicFramePr>
              <a:graphicFrameLocks noChangeAspect="1"/>
            </p:cNvGraphicFramePr>
            <p:nvPr/>
          </p:nvGraphicFramePr>
          <p:xfrm>
            <a:off x="3792" y="2928"/>
            <a:ext cx="758" cy="409"/>
          </p:xfrm>
          <a:graphic>
            <a:graphicData uri="http://schemas.openxmlformats.org/presentationml/2006/ole">
              <mc:AlternateContent xmlns:mc="http://schemas.openxmlformats.org/markup-compatibility/2006">
                <mc:Choice xmlns:v="urn:schemas-microsoft-com:vml" Requires="v">
                  <p:oleObj spid="_x0000_s5263" name="Equation" r:id="rId5" imgW="824865" imgH="444500" progId="Equation.3">
                    <p:embed/>
                  </p:oleObj>
                </mc:Choice>
                <mc:Fallback>
                  <p:oleObj name="Equation" r:id="rId5" imgW="824865" imgH="4445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 y="2928"/>
                          <a:ext cx="758"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3329" name="Rectangle 11"/>
            <p:cNvSpPr>
              <a:spLocks noChangeArrowheads="1"/>
            </p:cNvSpPr>
            <p:nvPr/>
          </p:nvSpPr>
          <p:spPr bwMode="auto">
            <a:xfrm>
              <a:off x="3776" y="2904"/>
              <a:ext cx="768" cy="43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algn="ctr">
                <a:spcBef>
                  <a:spcPct val="0"/>
                </a:spcBef>
                <a:buFontTx/>
                <a:buNone/>
              </a:pPr>
              <a:endParaRPr lang="zh-CN" altLang="en-US" sz="2400">
                <a:solidFill>
                  <a:schemeClr val="accent2"/>
                </a:solidFill>
                <a:latin typeface="Arial" panose="020B0604020202020204" pitchFamily="34" charset="0"/>
                <a:ea typeface="宋体" panose="02010600030101010101" pitchFamily="2" charset="-122"/>
              </a:endParaRPr>
            </a:p>
          </p:txBody>
        </p:sp>
      </p:grpSp>
      <p:graphicFrame>
        <p:nvGraphicFramePr>
          <p:cNvPr id="13325" name="Object 13"/>
          <p:cNvGraphicFramePr>
            <a:graphicFrameLocks noChangeAspect="1"/>
          </p:cNvGraphicFramePr>
          <p:nvPr>
            <p:extLst>
              <p:ext uri="{D42A27DB-BD31-4B8C-83A1-F6EECF244321}">
                <p14:modId xmlns:p14="http://schemas.microsoft.com/office/powerpoint/2010/main" val="1857871169"/>
              </p:ext>
            </p:extLst>
          </p:nvPr>
        </p:nvGraphicFramePr>
        <p:xfrm>
          <a:off x="3894050" y="2552968"/>
          <a:ext cx="4535129" cy="1135379"/>
        </p:xfrm>
        <a:graphic>
          <a:graphicData uri="http://schemas.openxmlformats.org/presentationml/2006/ole">
            <mc:AlternateContent xmlns:mc="http://schemas.openxmlformats.org/markup-compatibility/2006">
              <mc:Choice xmlns:v="urn:schemas-microsoft-com:vml" Requires="v">
                <p:oleObj spid="_x0000_s5264" name="Equation" r:id="rId7" imgW="1917065" imgH="431800" progId="Equation.3">
                  <p:embed/>
                </p:oleObj>
              </mc:Choice>
              <mc:Fallback>
                <p:oleObj name="Equation" r:id="rId7" imgW="1917065" imgH="431800" progId="Equation.3">
                  <p:embed/>
                  <p:pic>
                    <p:nvPicPr>
                      <p:cNvPr id="0" name="Object 13"/>
                      <p:cNvPicPr>
                        <a:picLocks noChangeAspect="1" noChangeArrowheads="1"/>
                      </p:cNvPicPr>
                      <p:nvPr/>
                    </p:nvPicPr>
                    <p:blipFill>
                      <a:blip r:embed="rId8"/>
                      <a:srcRect/>
                      <a:stretch>
                        <a:fillRect/>
                      </a:stretch>
                    </p:blipFill>
                    <p:spPr bwMode="auto">
                      <a:xfrm>
                        <a:off x="3894050" y="2552968"/>
                        <a:ext cx="4535129" cy="1135379"/>
                      </a:xfrm>
                      <a:prstGeom prst="rect">
                        <a:avLst/>
                      </a:prstGeom>
                      <a:noFill/>
                      <a:ln>
                        <a:noFill/>
                      </a:ln>
                      <a:effectLst/>
                    </p:spPr>
                  </p:pic>
                </p:oleObj>
              </mc:Fallback>
            </mc:AlternateContent>
          </a:graphicData>
        </a:graphic>
      </p:graphicFrame>
      <p:graphicFrame>
        <p:nvGraphicFramePr>
          <p:cNvPr id="12296" name="Object 13"/>
          <p:cNvGraphicFramePr>
            <a:graphicFrameLocks noChangeAspect="1"/>
          </p:cNvGraphicFramePr>
          <p:nvPr>
            <p:extLst>
              <p:ext uri="{D42A27DB-BD31-4B8C-83A1-F6EECF244321}">
                <p14:modId xmlns:p14="http://schemas.microsoft.com/office/powerpoint/2010/main" val="148735995"/>
              </p:ext>
            </p:extLst>
          </p:nvPr>
        </p:nvGraphicFramePr>
        <p:xfrm>
          <a:off x="1184477" y="2666537"/>
          <a:ext cx="1826141" cy="971206"/>
        </p:xfrm>
        <a:graphic>
          <a:graphicData uri="http://schemas.openxmlformats.org/presentationml/2006/ole">
            <mc:AlternateContent xmlns:mc="http://schemas.openxmlformats.org/markup-compatibility/2006">
              <mc:Choice xmlns:v="urn:schemas-microsoft-com:vml" Requires="v">
                <p:oleObj spid="_x0000_s5265" name="Equation" r:id="rId9" imgW="812800" imgH="431800" progId="Equation.3">
                  <p:embed/>
                </p:oleObj>
              </mc:Choice>
              <mc:Fallback>
                <p:oleObj name="Equation" r:id="rId9" imgW="812800" imgH="431800" progId="Equation.3">
                  <p:embed/>
                  <p:pic>
                    <p:nvPicPr>
                      <p:cNvPr id="0" name="Object 13"/>
                      <p:cNvPicPr>
                        <a:picLocks noChangeAspect="1" noChangeArrowheads="1"/>
                      </p:cNvPicPr>
                      <p:nvPr/>
                    </p:nvPicPr>
                    <p:blipFill>
                      <a:blip r:embed="rId10"/>
                      <a:srcRect/>
                      <a:stretch>
                        <a:fillRect/>
                      </a:stretch>
                    </p:blipFill>
                    <p:spPr bwMode="auto">
                      <a:xfrm>
                        <a:off x="1184477" y="2666537"/>
                        <a:ext cx="1826141" cy="971206"/>
                      </a:xfrm>
                      <a:prstGeom prst="rect">
                        <a:avLst/>
                      </a:prstGeom>
                      <a:noFill/>
                      <a:ln w="19050">
                        <a:solidFill>
                          <a:schemeClr val="accent1"/>
                        </a:solidFill>
                        <a:prstDash val="dash"/>
                      </a:ln>
                      <a:effectLst/>
                    </p:spPr>
                  </p:pic>
                </p:oleObj>
              </mc:Fallback>
            </mc:AlternateContent>
          </a:graphicData>
        </a:graphic>
      </p:graphicFrame>
      <p:sp>
        <p:nvSpPr>
          <p:cNvPr id="6" name="文本框 5"/>
          <p:cNvSpPr txBox="1"/>
          <p:nvPr/>
        </p:nvSpPr>
        <p:spPr>
          <a:xfrm>
            <a:off x="1254126" y="1807209"/>
            <a:ext cx="10646376" cy="587340"/>
          </a:xfrm>
          <a:prstGeom prst="rect">
            <a:avLst/>
          </a:prstGeom>
          <a:noFill/>
        </p:spPr>
        <p:txBody>
          <a:bodyPr wrap="none" rtlCol="0" anchor="t">
            <a:spAutoFit/>
          </a:bodyPr>
          <a:lstStyle/>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当底物浓度达到饱和时，[S]</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，反应速率为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V</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max</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，所以</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MM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方程转换成：</a:t>
            </a:r>
            <a:endParaRPr lang="zh-CN" altLang="en-US" sz="2400" dirty="0"/>
          </a:p>
        </p:txBody>
      </p:sp>
      <p:cxnSp>
        <p:nvCxnSpPr>
          <p:cNvPr id="8" name="直接箭头连接符 7"/>
          <p:cNvCxnSpPr/>
          <p:nvPr/>
        </p:nvCxnSpPr>
        <p:spPr>
          <a:xfrm>
            <a:off x="3160048" y="3150694"/>
            <a:ext cx="49022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对象 9"/>
          <p:cNvGraphicFramePr/>
          <p:nvPr>
            <p:extLst>
              <p:ext uri="{D42A27DB-BD31-4B8C-83A1-F6EECF244321}">
                <p14:modId xmlns:p14="http://schemas.microsoft.com/office/powerpoint/2010/main" val="1709715433"/>
              </p:ext>
            </p:extLst>
          </p:nvPr>
        </p:nvGraphicFramePr>
        <p:xfrm>
          <a:off x="9573601" y="2546812"/>
          <a:ext cx="1948474" cy="1090931"/>
        </p:xfrm>
        <a:graphic>
          <a:graphicData uri="http://schemas.openxmlformats.org/presentationml/2006/ole">
            <mc:AlternateContent xmlns:mc="http://schemas.openxmlformats.org/markup-compatibility/2006">
              <mc:Choice xmlns:v="urn:schemas-microsoft-com:vml" Requires="v">
                <p:oleObj spid="_x0000_s5266" r:id="rId11" imgW="685800" imgH="431800" progId="Equation.KSEE3">
                  <p:embed/>
                </p:oleObj>
              </mc:Choice>
              <mc:Fallback>
                <p:oleObj r:id="rId11" imgW="685800" imgH="431800" progId="Equation.KSEE3">
                  <p:embed/>
                  <p:pic>
                    <p:nvPicPr>
                      <p:cNvPr id="0" name="图片 7"/>
                      <p:cNvPicPr/>
                      <p:nvPr/>
                    </p:nvPicPr>
                    <p:blipFill>
                      <a:blip r:embed="rId12"/>
                      <a:stretch>
                        <a:fillRect/>
                      </a:stretch>
                    </p:blipFill>
                    <p:spPr>
                      <a:xfrm>
                        <a:off x="9573601" y="2546812"/>
                        <a:ext cx="1948474" cy="1090931"/>
                      </a:xfrm>
                      <a:prstGeom prst="rect">
                        <a:avLst/>
                      </a:prstGeom>
                    </p:spPr>
                  </p:pic>
                </p:oleObj>
              </mc:Fallback>
            </mc:AlternateContent>
          </a:graphicData>
        </a:graphic>
      </p:graphicFrame>
      <p:cxnSp>
        <p:nvCxnSpPr>
          <p:cNvPr id="12" name="直接箭头连接符 11"/>
          <p:cNvCxnSpPr/>
          <p:nvPr/>
        </p:nvCxnSpPr>
        <p:spPr>
          <a:xfrm>
            <a:off x="8990331" y="3108833"/>
            <a:ext cx="49022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3" name="Object 13"/>
          <p:cNvGraphicFramePr>
            <a:graphicFrameLocks noChangeAspect="1"/>
          </p:cNvGraphicFramePr>
          <p:nvPr>
            <p:extLst>
              <p:ext uri="{D42A27DB-BD31-4B8C-83A1-F6EECF244321}">
                <p14:modId xmlns:p14="http://schemas.microsoft.com/office/powerpoint/2010/main" val="162578539"/>
              </p:ext>
            </p:extLst>
          </p:nvPr>
        </p:nvGraphicFramePr>
        <p:xfrm>
          <a:off x="9274099" y="4134543"/>
          <a:ext cx="2294903" cy="1220510"/>
        </p:xfrm>
        <a:graphic>
          <a:graphicData uri="http://schemas.openxmlformats.org/presentationml/2006/ole">
            <mc:AlternateContent xmlns:mc="http://schemas.openxmlformats.org/markup-compatibility/2006">
              <mc:Choice xmlns:v="urn:schemas-microsoft-com:vml" Requires="v">
                <p:oleObj spid="_x0000_s5267" name="Equation" r:id="rId13" imgW="812800" imgH="431800" progId="Equation.3">
                  <p:embed/>
                </p:oleObj>
              </mc:Choice>
              <mc:Fallback>
                <p:oleObj name="Equation" r:id="rId13" imgW="812800" imgH="431800" progId="Equation.3">
                  <p:embed/>
                  <p:pic>
                    <p:nvPicPr>
                      <p:cNvPr id="0" name="Object 13"/>
                      <p:cNvPicPr>
                        <a:picLocks noChangeAspect="1" noChangeArrowheads="1"/>
                      </p:cNvPicPr>
                      <p:nvPr/>
                    </p:nvPicPr>
                    <p:blipFill>
                      <a:blip r:embed="rId10"/>
                      <a:srcRect/>
                      <a:stretch>
                        <a:fillRect/>
                      </a:stretch>
                    </p:blipFill>
                    <p:spPr bwMode="auto">
                      <a:xfrm>
                        <a:off x="9274099" y="4134543"/>
                        <a:ext cx="2294903" cy="1220510"/>
                      </a:xfrm>
                      <a:prstGeom prst="rect">
                        <a:avLst/>
                      </a:prstGeom>
                      <a:noFill/>
                      <a:ln w="19050">
                        <a:solidFill>
                          <a:schemeClr val="accent1"/>
                        </a:solidFill>
                        <a:prstDash val="dash"/>
                      </a:ln>
                      <a:effectLst/>
                    </p:spPr>
                  </p:pic>
                </p:oleObj>
              </mc:Fallback>
            </mc:AlternateContent>
          </a:graphicData>
        </a:graphic>
      </p:graphicFrame>
      <p:cxnSp>
        <p:nvCxnSpPr>
          <p:cNvPr id="15" name="直接箭头连接符 14"/>
          <p:cNvCxnSpPr>
            <a:cxnSpLocks/>
          </p:cNvCxnSpPr>
          <p:nvPr/>
        </p:nvCxnSpPr>
        <p:spPr>
          <a:xfrm>
            <a:off x="10421551" y="3486751"/>
            <a:ext cx="0" cy="54866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p:cNvCxnSpPr>
          <p:nvPr/>
        </p:nvCxnSpPr>
        <p:spPr>
          <a:xfrm flipH="1">
            <a:off x="6331543" y="4701409"/>
            <a:ext cx="2744512" cy="91948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395453" y="5248896"/>
            <a:ext cx="1826141" cy="743986"/>
          </a:xfrm>
          <a:prstGeom prst="rect">
            <a:avLst/>
          </a:prstGeom>
          <a:noFill/>
        </p:spPr>
        <p:txBody>
          <a:bodyPr wrap="none" rtlCol="0" anchor="t">
            <a:spAutoFit/>
          </a:bodyPr>
          <a:lstStyle/>
          <a:p>
            <a:pPr>
              <a:lnSpc>
                <a:spcPct val="150000"/>
              </a:lnSpc>
            </a:pPr>
            <a:r>
              <a:rPr lang="zh-CN" altLang="en-US" sz="3200" b="1" dirty="0">
                <a:solidFill>
                  <a:srgbClr val="FF0000"/>
                </a:solidFill>
                <a:latin typeface="微软雅黑" panose="020B0503020204020204" pitchFamily="34" charset="-122"/>
                <a:ea typeface="微软雅黑" panose="020B0503020204020204" pitchFamily="34" charset="-122"/>
                <a:sym typeface="+mn-ea"/>
              </a:rPr>
              <a:t>米氏方程</a:t>
            </a:r>
          </a:p>
        </p:txBody>
      </p:sp>
      <p:grpSp>
        <p:nvGrpSpPr>
          <p:cNvPr id="2" name="Group 6">
            <a:extLst>
              <a:ext uri="{FF2B5EF4-FFF2-40B4-BE49-F238E27FC236}">
                <a16:creationId xmlns="" xmlns:a16="http://schemas.microsoft.com/office/drawing/2014/main" id="{02C7FCCE-F797-961A-B6A9-E2C85BB5E2E8}"/>
              </a:ext>
            </a:extLst>
          </p:cNvPr>
          <p:cNvGrpSpPr/>
          <p:nvPr/>
        </p:nvGrpSpPr>
        <p:grpSpPr bwMode="auto">
          <a:xfrm>
            <a:off x="4634416" y="884686"/>
            <a:ext cx="4551363" cy="793750"/>
            <a:chOff x="1401" y="3552"/>
            <a:chExt cx="2867" cy="500"/>
          </a:xfrm>
        </p:grpSpPr>
        <p:graphicFrame>
          <p:nvGraphicFramePr>
            <p:cNvPr id="3" name="Object 7">
              <a:extLst>
                <a:ext uri="{FF2B5EF4-FFF2-40B4-BE49-F238E27FC236}">
                  <a16:creationId xmlns="" xmlns:a16="http://schemas.microsoft.com/office/drawing/2014/main" id="{9DD722D9-9E15-4220-D2D6-B7849365C844}"/>
                </a:ext>
              </a:extLst>
            </p:cNvPr>
            <p:cNvGraphicFramePr>
              <a:graphicFrameLocks noChangeAspect="1"/>
            </p:cNvGraphicFramePr>
            <p:nvPr/>
          </p:nvGraphicFramePr>
          <p:xfrm>
            <a:off x="1401" y="3638"/>
            <a:ext cx="2867" cy="312"/>
          </p:xfrm>
          <a:graphic>
            <a:graphicData uri="http://schemas.openxmlformats.org/presentationml/2006/ole">
              <mc:AlternateContent xmlns:mc="http://schemas.openxmlformats.org/markup-compatibility/2006">
                <mc:Choice xmlns:v="urn:schemas-microsoft-com:vml" Requires="v">
                  <p:oleObj spid="_x0000_s5268" name="Equation" r:id="rId14" imgW="1981200" imgH="215900" progId="Equation.3">
                    <p:embed/>
                  </p:oleObj>
                </mc:Choice>
                <mc:Fallback>
                  <p:oleObj name="Equation" r:id="rId14" imgW="1981200" imgH="215900" progId="Equation.3">
                    <p:embed/>
                    <p:pic>
                      <p:nvPicPr>
                        <p:cNvPr id="11274" name="Object 7"/>
                        <p:cNvPicPr>
                          <a:picLocks noChangeAspect="1" noChangeArrowheads="1"/>
                        </p:cNvPicPr>
                        <p:nvPr/>
                      </p:nvPicPr>
                      <p:blipFill>
                        <a:blip r:embed="rId15"/>
                        <a:srcRect/>
                        <a:stretch>
                          <a:fillRect/>
                        </a:stretch>
                      </p:blipFill>
                      <p:spPr bwMode="auto">
                        <a:xfrm>
                          <a:off x="1401" y="3638"/>
                          <a:ext cx="2867"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 name="Line 8">
              <a:extLst>
                <a:ext uri="{FF2B5EF4-FFF2-40B4-BE49-F238E27FC236}">
                  <a16:creationId xmlns="" xmlns:a16="http://schemas.microsoft.com/office/drawing/2014/main" id="{86DD4712-834E-A46B-2168-B9C4B9FE6C8D}"/>
                </a:ext>
              </a:extLst>
            </p:cNvPr>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5" name="Line 9">
              <a:extLst>
                <a:ext uri="{FF2B5EF4-FFF2-40B4-BE49-F238E27FC236}">
                  <a16:creationId xmlns="" xmlns:a16="http://schemas.microsoft.com/office/drawing/2014/main" id="{E5D0F290-EC1A-28A5-7E86-07B3D31157EA}"/>
                </a:ext>
              </a:extLst>
            </p:cNvPr>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1" name="Text Box 10">
              <a:extLst>
                <a:ext uri="{FF2B5EF4-FFF2-40B4-BE49-F238E27FC236}">
                  <a16:creationId xmlns="" xmlns:a16="http://schemas.microsoft.com/office/drawing/2014/main" id="{6B3241E2-9416-886B-24E3-B745068AC6A2}"/>
                </a:ext>
              </a:extLst>
            </p:cNvPr>
            <p:cNvSpPr txBox="1">
              <a:spLocks noChangeArrowheads="1"/>
            </p:cNvSpPr>
            <p:nvPr/>
          </p:nvSpPr>
          <p:spPr bwMode="auto">
            <a:xfrm>
              <a:off x="2231" y="3558"/>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4" name="Text Box 11">
              <a:extLst>
                <a:ext uri="{FF2B5EF4-FFF2-40B4-BE49-F238E27FC236}">
                  <a16:creationId xmlns="" xmlns:a16="http://schemas.microsoft.com/office/drawing/2014/main" id="{F864E302-EF46-B14C-1551-142F19A938A8}"/>
                </a:ext>
              </a:extLst>
            </p:cNvPr>
            <p:cNvSpPr txBox="1">
              <a:spLocks noChangeArrowheads="1"/>
            </p:cNvSpPr>
            <p:nvPr/>
          </p:nvSpPr>
          <p:spPr bwMode="auto">
            <a:xfrm>
              <a:off x="2208" y="3840"/>
              <a:ext cx="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-1</a:t>
              </a:r>
            </a:p>
          </p:txBody>
        </p:sp>
        <p:sp>
          <p:nvSpPr>
            <p:cNvPr id="18" name="Line 12">
              <a:extLst>
                <a:ext uri="{FF2B5EF4-FFF2-40B4-BE49-F238E27FC236}">
                  <a16:creationId xmlns="" xmlns:a16="http://schemas.microsoft.com/office/drawing/2014/main" id="{850D3583-60FC-BDB2-990F-F7DD65BB4578}"/>
                </a:ext>
              </a:extLst>
            </p:cNvPr>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a:p>
          </p:txBody>
        </p:sp>
        <p:sp>
          <p:nvSpPr>
            <p:cNvPr id="19" name="Text Box 13">
              <a:extLst>
                <a:ext uri="{FF2B5EF4-FFF2-40B4-BE49-F238E27FC236}">
                  <a16:creationId xmlns="" xmlns:a16="http://schemas.microsoft.com/office/drawing/2014/main" id="{2E702B1D-9714-F3F3-A8BC-7ECFFB416170}"/>
                </a:ext>
              </a:extLst>
            </p:cNvPr>
            <p:cNvSpPr txBox="1">
              <a:spLocks noChangeArrowheads="1"/>
            </p:cNvSpPr>
            <p:nvPr/>
          </p:nvSpPr>
          <p:spPr bwMode="auto">
            <a:xfrm>
              <a:off x="3243" y="3552"/>
              <a:ext cx="2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600" i="1">
                  <a:latin typeface="Tahoma" panose="020B0604030504040204" charset="0"/>
                  <a:ea typeface="宋体" panose="02010600030101010101" pitchFamily="2" charset="-122"/>
                </a:rPr>
                <a:t>k</a:t>
              </a:r>
              <a:r>
                <a:rPr lang="en-US" altLang="zh-CN" sz="1600" i="1" baseline="-25000">
                  <a:latin typeface="Tahoma" panose="020B0604030504040204" charset="0"/>
                  <a:ea typeface="宋体" panose="02010600030101010101" pitchFamily="2" charset="-122"/>
                </a:rPr>
                <a:t>2</a:t>
              </a:r>
            </a:p>
          </p:txBody>
        </p:sp>
      </p:gr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30968" y="-173641"/>
            <a:ext cx="9719897" cy="988347"/>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4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（三）解读米氏方程</a:t>
            </a:r>
          </a:p>
        </p:txBody>
      </p:sp>
      <p:graphicFrame>
        <p:nvGraphicFramePr>
          <p:cNvPr id="5" name="Object 10">
            <a:extLst>
              <a:ext uri="{FF2B5EF4-FFF2-40B4-BE49-F238E27FC236}">
                <a16:creationId xmlns="" xmlns:a16="http://schemas.microsoft.com/office/drawing/2014/main" id="{83C6F7DE-0F35-A7C6-2711-6773D3DF9DB6}"/>
              </a:ext>
            </a:extLst>
          </p:cNvPr>
          <p:cNvGraphicFramePr>
            <a:graphicFrameLocks noChangeAspect="1"/>
          </p:cNvGraphicFramePr>
          <p:nvPr>
            <p:extLst>
              <p:ext uri="{D42A27DB-BD31-4B8C-83A1-F6EECF244321}">
                <p14:modId xmlns:p14="http://schemas.microsoft.com/office/powerpoint/2010/main" val="1306882623"/>
              </p:ext>
            </p:extLst>
          </p:nvPr>
        </p:nvGraphicFramePr>
        <p:xfrm>
          <a:off x="3547905" y="924231"/>
          <a:ext cx="3158050" cy="1386349"/>
        </p:xfrm>
        <a:graphic>
          <a:graphicData uri="http://schemas.openxmlformats.org/presentationml/2006/ole">
            <mc:AlternateContent xmlns:mc="http://schemas.openxmlformats.org/markup-compatibility/2006">
              <mc:Choice xmlns:v="urn:schemas-microsoft-com:vml" Requires="v">
                <p:oleObj spid="_x0000_s6168" name="Equation" r:id="rId4" imgW="824865" imgH="444500" progId="Equation.3">
                  <p:embed/>
                </p:oleObj>
              </mc:Choice>
              <mc:Fallback>
                <p:oleObj name="Equation" r:id="rId4" imgW="824865" imgH="444500" progId="Equation.3">
                  <p:embed/>
                  <p:pic>
                    <p:nvPicPr>
                      <p:cNvPr id="13328"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7905" y="924231"/>
                        <a:ext cx="3158050" cy="1386349"/>
                      </a:xfrm>
                      <a:prstGeom prst="rect">
                        <a:avLst/>
                      </a:prstGeom>
                      <a:noFill/>
                      <a:ln>
                        <a:noFill/>
                      </a:ln>
                      <a:effectLst/>
                    </p:spPr>
                  </p:pic>
                </p:oleObj>
              </mc:Fallback>
            </mc:AlternateContent>
          </a:graphicData>
        </a:graphic>
      </p:graphicFrame>
      <p:sp>
        <p:nvSpPr>
          <p:cNvPr id="11" name="文本框 10">
            <a:extLst>
              <a:ext uri="{FF2B5EF4-FFF2-40B4-BE49-F238E27FC236}">
                <a16:creationId xmlns="" xmlns:a16="http://schemas.microsoft.com/office/drawing/2014/main" id="{5A76E46E-FB4B-CC61-9F28-9175007AE2B0}"/>
              </a:ext>
            </a:extLst>
          </p:cNvPr>
          <p:cNvSpPr txBox="1"/>
          <p:nvPr/>
        </p:nvSpPr>
        <p:spPr>
          <a:xfrm>
            <a:off x="118696" y="2420105"/>
            <a:ext cx="12073304" cy="3847207"/>
          </a:xfrm>
          <a:prstGeom prst="rect">
            <a:avLst/>
          </a:prstGeom>
          <a:noFill/>
        </p:spPr>
        <p:txBody>
          <a:bodyPr wrap="square">
            <a:spAutoFit/>
          </a:bodyPr>
          <a:lstStyle/>
          <a:p>
            <a:pPr>
              <a:spcAft>
                <a:spcPts val="1200"/>
              </a:spcAft>
            </a:pPr>
            <a:r>
              <a:rPr lang="zh-CN" altLang="en-US" sz="2800" dirty="0">
                <a:latin typeface="微软雅黑" panose="020B0503020204020204" pitchFamily="34" charset="-122"/>
                <a:ea typeface="微软雅黑" panose="020B0503020204020204" pitchFamily="34" charset="-122"/>
              </a:rPr>
              <a:t>①当</a:t>
            </a:r>
            <a:r>
              <a:rPr lang="zh-CN" altLang="en-US" sz="2800" dirty="0">
                <a:solidFill>
                  <a:srgbClr val="FF0000"/>
                </a:solidFill>
                <a:latin typeface="微软雅黑" panose="020B0503020204020204" pitchFamily="34" charset="-122"/>
                <a:ea typeface="微软雅黑" panose="020B0503020204020204" pitchFamily="34" charset="-122"/>
              </a:rPr>
              <a:t>［S］</a:t>
            </a:r>
            <a:r>
              <a:rPr lang="en-US" altLang="zh-CN" sz="2800" dirty="0">
                <a:solidFill>
                  <a:srgbClr val="FF0000"/>
                </a:solidFill>
                <a:latin typeface="微软雅黑" panose="020B0503020204020204" pitchFamily="34" charset="-122"/>
                <a:ea typeface="微软雅黑" panose="020B0503020204020204" pitchFamily="34" charset="-122"/>
              </a:rPr>
              <a:t>&lt;&lt; </a:t>
            </a:r>
            <a:r>
              <a:rPr lang="zh-CN" altLang="en-US" sz="2800" dirty="0">
                <a:solidFill>
                  <a:srgbClr val="FF0000"/>
                </a:solidFill>
                <a:latin typeface="微软雅黑" panose="020B0503020204020204" pitchFamily="34" charset="-122"/>
                <a:ea typeface="微软雅黑" panose="020B0503020204020204" pitchFamily="34" charset="-122"/>
              </a:rPr>
              <a:t>K</a:t>
            </a:r>
            <a:r>
              <a:rPr lang="en-US" altLang="zh-CN" sz="2800" baseline="-25000" dirty="0">
                <a:solidFill>
                  <a:srgbClr val="FF0000"/>
                </a:solidFill>
                <a:latin typeface="微软雅黑" panose="020B0503020204020204" pitchFamily="34" charset="-122"/>
                <a:ea typeface="微软雅黑" panose="020B0503020204020204" pitchFamily="34" charset="-122"/>
              </a:rPr>
              <a:t>m </a:t>
            </a:r>
            <a:r>
              <a:rPr lang="zh-CN" altLang="en-US" sz="2800" dirty="0">
                <a:latin typeface="微软雅黑" panose="020B0503020204020204" pitchFamily="34" charset="-122"/>
                <a:ea typeface="微软雅黑" panose="020B0503020204020204" pitchFamily="34" charset="-122"/>
              </a:rPr>
              <a:t>时，则米氏方程式变为                    ，由于V</a:t>
            </a:r>
            <a:r>
              <a:rPr lang="en-US" altLang="zh-CN" sz="2800" baseline="-25000" dirty="0">
                <a:latin typeface="微软雅黑" panose="020B0503020204020204" pitchFamily="34" charset="-122"/>
                <a:ea typeface="微软雅黑" panose="020B0503020204020204" pitchFamily="34" charset="-122"/>
              </a:rPr>
              <a:t>max</a:t>
            </a:r>
            <a:r>
              <a:rPr lang="zh-CN" altLang="en-US" sz="2800" dirty="0">
                <a:latin typeface="微软雅黑" panose="020B0503020204020204" pitchFamily="34" charset="-122"/>
                <a:ea typeface="微软雅黑" panose="020B0503020204020204" pitchFamily="34" charset="-122"/>
              </a:rPr>
              <a:t>和K</a:t>
            </a:r>
            <a:r>
              <a:rPr lang="en-US" altLang="zh-CN" sz="2800" baseline="-25000" dirty="0">
                <a:latin typeface="微软雅黑" panose="020B0503020204020204" pitchFamily="34" charset="-122"/>
                <a:ea typeface="微软雅黑" panose="020B0503020204020204" pitchFamily="34" charset="-122"/>
              </a:rPr>
              <a:t>m</a:t>
            </a:r>
            <a:r>
              <a:rPr lang="zh-CN" altLang="en-US" sz="2800" dirty="0">
                <a:latin typeface="微软雅黑" panose="020B0503020204020204" pitchFamily="34" charset="-122"/>
                <a:ea typeface="微软雅黑" panose="020B0503020204020204" pitchFamily="34" charset="-122"/>
              </a:rPr>
              <a:t>为常数，它表明底物浓度很小的时候，反应速率与底物浓度成正比，其关系与</a:t>
            </a:r>
            <a:r>
              <a:rPr lang="zh-CN" altLang="en-US" sz="2800" b="1" dirty="0">
                <a:latin typeface="微软雅黑" panose="020B0503020204020204" pitchFamily="34" charset="-122"/>
                <a:ea typeface="微软雅黑" panose="020B0503020204020204" pitchFamily="34" charset="-122"/>
              </a:rPr>
              <a:t>一级反应</a:t>
            </a:r>
            <a:r>
              <a:rPr lang="zh-CN" altLang="en-US" sz="2800" dirty="0">
                <a:latin typeface="微软雅黑" panose="020B0503020204020204" pitchFamily="34" charset="-122"/>
                <a:ea typeface="微软雅黑" panose="020B0503020204020204" pitchFamily="34" charset="-122"/>
              </a:rPr>
              <a:t>动力学相符；</a:t>
            </a:r>
            <a:endParaRPr lang="en-US" altLang="zh-CN" sz="2800" dirty="0">
              <a:latin typeface="微软雅黑" panose="020B0503020204020204" pitchFamily="34" charset="-122"/>
              <a:ea typeface="微软雅黑" panose="020B0503020204020204" pitchFamily="34" charset="-122"/>
            </a:endParaRPr>
          </a:p>
          <a:p>
            <a:pPr>
              <a:spcAft>
                <a:spcPts val="1200"/>
              </a:spcAft>
            </a:pPr>
            <a:r>
              <a:rPr lang="zh-CN" altLang="en-US" sz="2800" dirty="0">
                <a:latin typeface="微软雅黑" panose="020B0503020204020204" pitchFamily="34" charset="-122"/>
                <a:ea typeface="微软雅黑" panose="020B0503020204020204" pitchFamily="34" charset="-122"/>
              </a:rPr>
              <a:t>②当</a:t>
            </a:r>
            <a:r>
              <a:rPr lang="zh-CN" altLang="en-US" sz="2800" dirty="0">
                <a:solidFill>
                  <a:srgbClr val="FF0000"/>
                </a:solidFill>
                <a:latin typeface="微软雅黑" panose="020B0503020204020204" pitchFamily="34" charset="-122"/>
                <a:ea typeface="微软雅黑" panose="020B0503020204020204" pitchFamily="34" charset="-122"/>
              </a:rPr>
              <a:t>［S］</a:t>
            </a:r>
            <a:r>
              <a:rPr lang="en-US" altLang="zh-CN" sz="2800" dirty="0">
                <a:solidFill>
                  <a:srgbClr val="FF0000"/>
                </a:solidFill>
                <a:latin typeface="微软雅黑" panose="020B0503020204020204" pitchFamily="34" charset="-122"/>
                <a:ea typeface="微软雅黑" panose="020B0503020204020204" pitchFamily="34" charset="-122"/>
              </a:rPr>
              <a:t>&gt;&gt; </a:t>
            </a:r>
            <a:r>
              <a:rPr lang="zh-CN" altLang="en-US" sz="2800" dirty="0">
                <a:solidFill>
                  <a:srgbClr val="FF0000"/>
                </a:solidFill>
                <a:latin typeface="微软雅黑" panose="020B0503020204020204" pitchFamily="34" charset="-122"/>
                <a:ea typeface="微软雅黑" panose="020B0503020204020204" pitchFamily="34" charset="-122"/>
              </a:rPr>
              <a:t>K</a:t>
            </a:r>
            <a:r>
              <a:rPr lang="en-US" altLang="zh-CN" sz="2800" baseline="-25000" dirty="0">
                <a:solidFill>
                  <a:srgbClr val="FF0000"/>
                </a:solidFill>
                <a:latin typeface="微软雅黑" panose="020B0503020204020204" pitchFamily="34" charset="-122"/>
                <a:ea typeface="微软雅黑" panose="020B0503020204020204" pitchFamily="34" charset="-122"/>
              </a:rPr>
              <a:t>m </a:t>
            </a:r>
            <a:r>
              <a:rPr lang="zh-CN" altLang="en-US" sz="2800" dirty="0">
                <a:latin typeface="微软雅黑" panose="020B0503020204020204" pitchFamily="34" charset="-122"/>
                <a:ea typeface="微软雅黑" panose="020B0503020204020204" pitchFamily="34" charset="-122"/>
              </a:rPr>
              <a:t>时，则米氏方程式变为    </a:t>
            </a:r>
            <a:r>
              <a:rPr lang="en-US" altLang="zh-CN" sz="2800" dirty="0">
                <a:solidFill>
                  <a:srgbClr val="FF0000"/>
                </a:solidFill>
                <a:latin typeface="微软雅黑" panose="020B0503020204020204" pitchFamily="34" charset="-122"/>
                <a:ea typeface="微软雅黑" panose="020B0503020204020204" pitchFamily="34" charset="-122"/>
              </a:rPr>
              <a:t>v=</a:t>
            </a:r>
            <a:r>
              <a:rPr lang="en-US" altLang="zh-CN" sz="2800" dirty="0" err="1">
                <a:solidFill>
                  <a:srgbClr val="FF0000"/>
                </a:solidFill>
                <a:latin typeface="微软雅黑" panose="020B0503020204020204" pitchFamily="34" charset="-122"/>
                <a:ea typeface="微软雅黑" panose="020B0503020204020204" pitchFamily="34" charset="-122"/>
              </a:rPr>
              <a:t>v</a:t>
            </a:r>
            <a:r>
              <a:rPr lang="en-US" altLang="zh-CN" sz="2800" baseline="-25000" dirty="0" err="1">
                <a:solidFill>
                  <a:srgbClr val="FF0000"/>
                </a:solidFill>
                <a:latin typeface="微软雅黑" panose="020B0503020204020204" pitchFamily="34" charset="-122"/>
                <a:ea typeface="微软雅黑" panose="020B0503020204020204" pitchFamily="34" charset="-122"/>
              </a:rPr>
              <a:t>max</a:t>
            </a:r>
            <a:r>
              <a:rPr lang="en-US" altLang="zh-CN" sz="2800" baseline="-25000" dirty="0">
                <a:solidFill>
                  <a:srgbClr val="FF0000"/>
                </a:solidFill>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，它表明底物浓度远远过量时，反应速率达到最大值，它与底物浓度的关系与</a:t>
            </a:r>
            <a:r>
              <a:rPr lang="zh-CN" altLang="en-US" sz="2800" b="1" dirty="0">
                <a:latin typeface="微软雅黑" panose="020B0503020204020204" pitchFamily="34" charset="-122"/>
                <a:ea typeface="微软雅黑" panose="020B0503020204020204" pitchFamily="34" charset="-122"/>
              </a:rPr>
              <a:t>零级反应</a:t>
            </a:r>
            <a:r>
              <a:rPr lang="zh-CN" altLang="en-US" sz="2800" dirty="0">
                <a:latin typeface="微软雅黑" panose="020B0503020204020204" pitchFamily="34" charset="-122"/>
                <a:ea typeface="微软雅黑" panose="020B0503020204020204" pitchFamily="34" charset="-122"/>
              </a:rPr>
              <a:t>动力学相符；</a:t>
            </a:r>
            <a:endParaRPr lang="en-US" altLang="zh-CN" sz="2800" dirty="0">
              <a:latin typeface="微软雅黑" panose="020B0503020204020204" pitchFamily="34" charset="-122"/>
              <a:ea typeface="微软雅黑" panose="020B0503020204020204" pitchFamily="34" charset="-122"/>
            </a:endParaRPr>
          </a:p>
          <a:p>
            <a:pPr>
              <a:spcAft>
                <a:spcPts val="1200"/>
              </a:spcAft>
            </a:pPr>
            <a:r>
              <a:rPr lang="zh-CN" altLang="en-US" sz="2800" dirty="0">
                <a:latin typeface="微软雅黑" panose="020B0503020204020204" pitchFamily="34" charset="-122"/>
                <a:ea typeface="微软雅黑" panose="020B0503020204020204" pitchFamily="34" charset="-122"/>
              </a:rPr>
              <a:t>③ 当</a:t>
            </a:r>
            <a:r>
              <a:rPr lang="zh-CN" altLang="en-US" sz="2800" dirty="0">
                <a:solidFill>
                  <a:srgbClr val="FF0000"/>
                </a:solidFill>
                <a:latin typeface="微软雅黑" panose="020B0503020204020204" pitchFamily="34" charset="-122"/>
                <a:ea typeface="微软雅黑" panose="020B0503020204020204" pitchFamily="34" charset="-122"/>
              </a:rPr>
              <a:t>［S］= K</a:t>
            </a:r>
            <a:r>
              <a:rPr lang="en-US" altLang="zh-CN" sz="2800" baseline="-25000" dirty="0">
                <a:solidFill>
                  <a:srgbClr val="FF0000"/>
                </a:solidFill>
                <a:latin typeface="微软雅黑" panose="020B0503020204020204" pitchFamily="34" charset="-122"/>
                <a:ea typeface="微软雅黑" panose="020B0503020204020204" pitchFamily="34" charset="-122"/>
              </a:rPr>
              <a:t>m </a:t>
            </a:r>
            <a:r>
              <a:rPr lang="zh-CN" altLang="en-US" sz="2800" dirty="0">
                <a:latin typeface="微软雅黑" panose="020B0503020204020204" pitchFamily="34" charset="-122"/>
                <a:ea typeface="微软雅黑" panose="020B0503020204020204" pitchFamily="34" charset="-122"/>
              </a:rPr>
              <a:t>时，由米氏方程式得 </a:t>
            </a:r>
            <a:r>
              <a:rPr lang="en-US" altLang="zh-CN" sz="2800" dirty="0">
                <a:solidFill>
                  <a:srgbClr val="FF0000"/>
                </a:solidFill>
                <a:latin typeface="微软雅黑" panose="020B0503020204020204" pitchFamily="34" charset="-122"/>
                <a:ea typeface="微软雅黑" panose="020B0503020204020204" pitchFamily="34" charset="-122"/>
              </a:rPr>
              <a:t>v=</a:t>
            </a:r>
            <a:r>
              <a:rPr lang="en-US" altLang="zh-CN" sz="2800" dirty="0" err="1">
                <a:solidFill>
                  <a:srgbClr val="FF0000"/>
                </a:solidFill>
                <a:latin typeface="微软雅黑" panose="020B0503020204020204" pitchFamily="34" charset="-122"/>
                <a:ea typeface="微软雅黑" panose="020B0503020204020204" pitchFamily="34" charset="-122"/>
              </a:rPr>
              <a:t>v</a:t>
            </a:r>
            <a:r>
              <a:rPr lang="en-US" altLang="zh-CN" sz="2800" baseline="-25000" dirty="0" err="1">
                <a:solidFill>
                  <a:srgbClr val="FF0000"/>
                </a:solidFill>
                <a:latin typeface="微软雅黑" panose="020B0503020204020204" pitchFamily="34" charset="-122"/>
                <a:ea typeface="微软雅黑" panose="020B0503020204020204" pitchFamily="34" charset="-122"/>
              </a:rPr>
              <a:t>max</a:t>
            </a:r>
            <a:r>
              <a:rPr lang="en-US" altLang="zh-CN" sz="2800" baseline="-25000" dirty="0">
                <a:solidFill>
                  <a:srgbClr val="FF0000"/>
                </a:solidFill>
                <a:latin typeface="微软雅黑" panose="020B0503020204020204" pitchFamily="34" charset="-122"/>
                <a:ea typeface="微软雅黑" panose="020B0503020204020204" pitchFamily="34" charset="-122"/>
              </a:rPr>
              <a:t> </a:t>
            </a:r>
            <a:r>
              <a:rPr lang="en-US" altLang="zh-CN" sz="2800" dirty="0">
                <a:solidFill>
                  <a:srgbClr val="FF0000"/>
                </a:solidFill>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。这意味着当底物浓度等于K</a:t>
            </a:r>
            <a:r>
              <a:rPr lang="en-US" altLang="zh-CN" sz="2800" baseline="-25000" dirty="0">
                <a:latin typeface="微软雅黑" panose="020B0503020204020204" pitchFamily="34" charset="-122"/>
                <a:ea typeface="微软雅黑" panose="020B0503020204020204" pitchFamily="34" charset="-122"/>
              </a:rPr>
              <a:t>m</a:t>
            </a:r>
            <a:r>
              <a:rPr lang="zh-CN" altLang="en-US" sz="2800" dirty="0">
                <a:latin typeface="微软雅黑" panose="020B0503020204020204" pitchFamily="34" charset="-122"/>
                <a:ea typeface="微软雅黑" panose="020B0503020204020204" pitchFamily="34" charset="-122"/>
              </a:rPr>
              <a:t>时，反应速率为最大反应速率的一半。即</a:t>
            </a:r>
            <a:r>
              <a:rPr lang="zh-CN" altLang="en-US" sz="2800" b="1" dirty="0">
                <a:latin typeface="微软雅黑" panose="020B0503020204020204" pitchFamily="34" charset="-122"/>
                <a:ea typeface="微软雅黑" panose="020B0503020204020204" pitchFamily="34" charset="-122"/>
              </a:rPr>
              <a:t>K</a:t>
            </a:r>
            <a:r>
              <a:rPr lang="en-US" altLang="zh-CN" sz="2800" b="1" baseline="-25000" dirty="0">
                <a:latin typeface="微软雅黑" panose="020B0503020204020204" pitchFamily="34" charset="-122"/>
                <a:ea typeface="微软雅黑" panose="020B0503020204020204" pitchFamily="34" charset="-122"/>
              </a:rPr>
              <a:t>m</a:t>
            </a:r>
            <a:r>
              <a:rPr lang="zh-CN" altLang="en-US" sz="2800" b="1" dirty="0">
                <a:latin typeface="微软雅黑" panose="020B0503020204020204" pitchFamily="34" charset="-122"/>
                <a:ea typeface="微软雅黑" panose="020B0503020204020204" pitchFamily="34" charset="-122"/>
              </a:rPr>
              <a:t>是反应速率为最大值的一半时的底物浓度</a:t>
            </a:r>
            <a:r>
              <a:rPr lang="zh-CN" altLang="en-US" sz="2800" dirty="0">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20" name="Object 10">
                <a:extLst>
                  <a:ext uri="{FF2B5EF4-FFF2-40B4-BE49-F238E27FC236}">
                    <a16:creationId xmlns="" xmlns:a16="http://schemas.microsoft.com/office/drawing/2014/main" id="{E1AA6CE7-BDC0-474F-10CE-5B019688604F}"/>
                  </a:ext>
                </a:extLst>
              </p:cNvPr>
              <p:cNvSpPr txBox="1"/>
              <p:nvPr/>
            </p:nvSpPr>
            <p:spPr bwMode="auto">
              <a:xfrm>
                <a:off x="6803921" y="2225328"/>
                <a:ext cx="1848465" cy="69454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000" b="1" i="1" smtClean="0">
                          <a:solidFill>
                            <a:srgbClr val="FF0000"/>
                          </a:solidFill>
                          <a:latin typeface="Cambria Math" panose="02040503050406030204" pitchFamily="18" charset="0"/>
                        </a:rPr>
                        <m:t>𝒗</m:t>
                      </m:r>
                      <m:r>
                        <a:rPr lang="zh-CN" altLang="en-US" sz="2000" b="1" i="1" smtClean="0">
                          <a:solidFill>
                            <a:srgbClr val="FF0000"/>
                          </a:solidFill>
                          <a:latin typeface="Cambria Math" panose="02040503050406030204" pitchFamily="18" charset="0"/>
                        </a:rPr>
                        <m:t>=</m:t>
                      </m:r>
                      <m:f>
                        <m:fPr>
                          <m:ctrlPr>
                            <a:rPr lang="zh-CN" altLang="en-US" sz="2000" b="1" i="1">
                              <a:solidFill>
                                <a:srgbClr val="FF0000"/>
                              </a:solidFill>
                              <a:latin typeface="Cambria Math"/>
                            </a:rPr>
                          </m:ctrlPr>
                        </m:fPr>
                        <m:num>
                          <m:sSub>
                            <m:sSubPr>
                              <m:ctrlPr>
                                <a:rPr lang="zh-CN" altLang="en-US" sz="2000" b="1" i="1" smtClean="0">
                                  <a:solidFill>
                                    <a:srgbClr val="FF0000"/>
                                  </a:solidFill>
                                  <a:latin typeface="Cambria Math"/>
                                </a:rPr>
                              </m:ctrlPr>
                            </m:sSubPr>
                            <m:e>
                              <m:r>
                                <a:rPr lang="zh-CN" altLang="en-US" sz="2000" b="1" i="1">
                                  <a:solidFill>
                                    <a:srgbClr val="FF0000"/>
                                  </a:solidFill>
                                  <a:latin typeface="Cambria Math" panose="02040503050406030204" pitchFamily="18" charset="0"/>
                                </a:rPr>
                                <m:t>𝒗</m:t>
                              </m:r>
                            </m:e>
                            <m:sub>
                              <m:r>
                                <a:rPr lang="zh-CN" altLang="en-US" sz="2000" b="1" i="0">
                                  <a:solidFill>
                                    <a:srgbClr val="FF0000"/>
                                  </a:solidFill>
                                  <a:latin typeface="Cambria Math" panose="02040503050406030204" pitchFamily="18" charset="0"/>
                                </a:rPr>
                                <m:t>𝐦𝐚𝐱</m:t>
                              </m:r>
                            </m:sub>
                          </m:sSub>
                          <m:d>
                            <m:dPr>
                              <m:begChr m:val="["/>
                              <m:endChr m:val="]"/>
                              <m:ctrlPr>
                                <a:rPr lang="zh-CN" altLang="en-US" sz="2000" b="1" i="1">
                                  <a:solidFill>
                                    <a:srgbClr val="FF0000"/>
                                  </a:solidFill>
                                  <a:latin typeface="Cambria Math"/>
                                </a:rPr>
                              </m:ctrlPr>
                            </m:dPr>
                            <m:e>
                              <m:r>
                                <a:rPr lang="zh-CN" altLang="en-US" sz="2000" b="1" i="1">
                                  <a:solidFill>
                                    <a:srgbClr val="FF0000"/>
                                  </a:solidFill>
                                  <a:latin typeface="Cambria Math" panose="02040503050406030204" pitchFamily="18" charset="0"/>
                                </a:rPr>
                                <m:t>𝑺</m:t>
                              </m:r>
                            </m:e>
                          </m:d>
                        </m:num>
                        <m:den>
                          <m:sSub>
                            <m:sSubPr>
                              <m:ctrlPr>
                                <a:rPr lang="zh-CN" altLang="en-US" sz="2000" b="1" i="1">
                                  <a:solidFill>
                                    <a:srgbClr val="FF0000"/>
                                  </a:solidFill>
                                  <a:latin typeface="Cambria Math"/>
                                </a:rPr>
                              </m:ctrlPr>
                            </m:sSubPr>
                            <m:e>
                              <m:r>
                                <a:rPr lang="zh-CN" altLang="en-US" sz="2000" b="1" i="1">
                                  <a:solidFill>
                                    <a:srgbClr val="FF0000"/>
                                  </a:solidFill>
                                  <a:latin typeface="Cambria Math" panose="02040503050406030204" pitchFamily="18" charset="0"/>
                                </a:rPr>
                                <m:t>𝑲</m:t>
                              </m:r>
                            </m:e>
                            <m:sub>
                              <m:r>
                                <a:rPr lang="zh-CN" altLang="en-US" sz="2000" b="1" i="1">
                                  <a:solidFill>
                                    <a:srgbClr val="FF0000"/>
                                  </a:solidFill>
                                  <a:latin typeface="Cambria Math" panose="02040503050406030204" pitchFamily="18" charset="0"/>
                                </a:rPr>
                                <m:t>𝒎</m:t>
                              </m:r>
                            </m:sub>
                          </m:sSub>
                        </m:den>
                      </m:f>
                    </m:oMath>
                  </m:oMathPara>
                </a14:m>
                <a:endParaRPr lang="zh-CN" altLang="en-US" sz="2000" b="1" dirty="0">
                  <a:solidFill>
                    <a:srgbClr val="FF0000"/>
                  </a:solidFill>
                </a:endParaRPr>
              </a:p>
            </p:txBody>
          </p:sp>
        </mc:Choice>
        <mc:Fallback xmlns="">
          <p:sp>
            <p:nvSpPr>
              <p:cNvPr id="20" name="Object 10">
                <a:extLst>
                  <a:ext uri="{FF2B5EF4-FFF2-40B4-BE49-F238E27FC236}">
                    <a16:creationId xmlns:a16="http://schemas.microsoft.com/office/drawing/2014/main" id="{E1AA6CE7-BDC0-474F-10CE-5B019688604F}"/>
                  </a:ext>
                </a:extLst>
              </p:cNvPr>
              <p:cNvSpPr txBox="1">
                <a:spLocks noRot="1" noChangeAspect="1" noMove="1" noResize="1" noEditPoints="1" noAdjustHandles="1" noChangeArrowheads="1" noChangeShapeType="1" noTextEdit="1"/>
              </p:cNvSpPr>
              <p:nvPr/>
            </p:nvSpPr>
            <p:spPr bwMode="auto">
              <a:xfrm>
                <a:off x="6803921" y="2225328"/>
                <a:ext cx="1848465" cy="694545"/>
              </a:xfrm>
              <a:prstGeom prst="rect">
                <a:avLst/>
              </a:prstGeom>
              <a:blipFill>
                <a:blip r:embed="rId6"/>
                <a:stretch>
                  <a:fillRect/>
                </a:stretch>
              </a:blipFill>
              <a:ln>
                <a:noFill/>
              </a:ln>
              <a:effectLst/>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5" descr="QQ截图20161123151757.png"/>
          <p:cNvPicPr>
            <a:picLocks noChangeAspect="1"/>
          </p:cNvPicPr>
          <p:nvPr/>
        </p:nvPicPr>
        <p:blipFill>
          <a:blip r:embed="rId3">
            <a:lum bright="-6000" contrast="24000"/>
          </a:blip>
          <a:srcRect t="4940" r="42574" b="3359"/>
          <a:stretch>
            <a:fillRect/>
          </a:stretch>
        </p:blipFill>
        <p:spPr>
          <a:xfrm>
            <a:off x="0" y="672382"/>
            <a:ext cx="5847639" cy="5409084"/>
          </a:xfrm>
          <a:prstGeom prst="rect">
            <a:avLst/>
          </a:prstGeom>
          <a:noFill/>
          <a:ln w="9525">
            <a:solidFill>
              <a:schemeClr val="tx1"/>
            </a:solidFill>
          </a:ln>
        </p:spPr>
      </p:pic>
      <p:sp>
        <p:nvSpPr>
          <p:cNvPr id="4" name="文本框 2"/>
          <p:cNvSpPr txBox="1"/>
          <p:nvPr/>
        </p:nvSpPr>
        <p:spPr>
          <a:xfrm>
            <a:off x="5847639" y="793461"/>
            <a:ext cx="6344361" cy="5166927"/>
          </a:xfrm>
          <a:prstGeom prst="rect">
            <a:avLst/>
          </a:prstGeom>
          <a:noFill/>
        </p:spPr>
        <p:txBody>
          <a:bodyPr wrap="square" rtlCol="0" anchor="t">
            <a:spAutoFit/>
          </a:bodyPr>
          <a:lstStyle/>
          <a:p>
            <a:pPr marL="342900" indent="-342900">
              <a:lnSpc>
                <a:spcPct val="150000"/>
              </a:lnSpc>
              <a:spcBef>
                <a:spcPts val="600"/>
              </a:spcBef>
              <a:buFont typeface="Arial" panose="020B0604020202020204" pitchFamily="34" charset="0"/>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低浓度底物</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情况下，反应相对于底物是</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一级反应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，反应速度与底物成直线关系。</a:t>
            </a:r>
          </a:p>
          <a:p>
            <a:pPr marL="342900" indent="-342900">
              <a:lnSpc>
                <a:spcPct val="150000"/>
              </a:lnSpc>
              <a:spcBef>
                <a:spcPts val="600"/>
              </a:spcBef>
              <a:buFont typeface="Arial" panose="020B0604020202020204" pitchFamily="34" charset="0"/>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当</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底物浓度处于中间范围</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时，相对于底物的反应是</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混合级反应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。当底物浓度增加时，反应由一级反应向零级反应过渡。</a:t>
            </a:r>
          </a:p>
          <a:p>
            <a:pPr marL="342900" indent="-342900">
              <a:lnSpc>
                <a:spcPct val="150000"/>
              </a:lnSpc>
              <a:spcBef>
                <a:spcPts val="600"/>
              </a:spcBef>
              <a:buFont typeface="Arial" panose="020B0604020202020204" pitchFamily="34" charset="0"/>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高浓度底物</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下，酶被底物饱和，反应相对于底物是</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零级反应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。反应速度与底物浓度无关。酶被底物饱和时的速度称之最大反应速度V</a:t>
            </a:r>
            <a:r>
              <a:rPr lang="zh-CN" altLang="en-US" sz="2400" baseline="-25000" dirty="0">
                <a:latin typeface="微软雅黑" panose="020B0503020204020204" pitchFamily="34" charset="-122"/>
                <a:ea typeface="微软雅黑" panose="020B0503020204020204" pitchFamily="34" charset="-122"/>
                <a:cs typeface="微软雅黑" panose="020B0503020204020204" pitchFamily="34" charset="-122"/>
              </a:rPr>
              <a:t>max</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 name="Rectangle 8"/>
          <p:cNvSpPr>
            <a:spLocks noChangeArrowheads="1"/>
          </p:cNvSpPr>
          <p:nvPr/>
        </p:nvSpPr>
        <p:spPr bwMode="auto">
          <a:xfrm>
            <a:off x="1413166" y="5222"/>
            <a:ext cx="3448050" cy="579438"/>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3200" dirty="0">
                <a:solidFill>
                  <a:schemeClr val="tx1"/>
                </a:solidFill>
                <a:latin typeface="Times New Roman" pitchFamily="18" charset="0"/>
                <a:ea typeface="楷体" pitchFamily="49" charset="-122"/>
                <a:cs typeface="Times New Roman" pitchFamily="18" charset="0"/>
              </a:rPr>
              <a:t>米氏方程的双重性</a:t>
            </a:r>
            <a:endParaRPr lang="zh-CN" altLang="en-US" sz="3200" dirty="0">
              <a:solidFill>
                <a:schemeClr val="tx1"/>
              </a:solidFill>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7879321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 xmlns:a16="http://schemas.microsoft.com/office/drawing/2014/main" id="{66DAB84B-7B27-F4EE-04D4-0ECAEFA9B35C}"/>
              </a:ext>
            </a:extLst>
          </p:cNvPr>
          <p:cNvSpPr txBox="1">
            <a:spLocks/>
          </p:cNvSpPr>
          <p:nvPr/>
        </p:nvSpPr>
        <p:spPr>
          <a:xfrm>
            <a:off x="229052" y="-41469"/>
            <a:ext cx="10498032" cy="652679"/>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3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en-US" altLang="zh-CN" sz="3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3200" b="1"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K</a:t>
            </a:r>
            <a:r>
              <a:rPr lang="zh-CN" altLang="zh-CN" sz="3200" b="1"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是酶反应初速率为V</a:t>
            </a:r>
            <a:r>
              <a:rPr lang="zh-CN" altLang="zh-CN" b="1"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max</a:t>
            </a:r>
            <a:r>
              <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一半时底物的浓度。</a:t>
            </a:r>
          </a:p>
          <a:p>
            <a:pPr marL="457200" indent="-457200">
              <a:lnSpc>
                <a:spcPct val="150000"/>
              </a:lnSpc>
              <a:buFont typeface="+mj-ea"/>
              <a:buAutoNum type="circleNumDbPlain"/>
            </a:pPr>
            <a:endPar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ct val="150000"/>
              </a:lnSpc>
              <a:buNone/>
            </a:pPr>
            <a:endParaRPr lang="zh-CN"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ct val="150000"/>
              </a:lnSpc>
              <a:buNone/>
            </a:pPr>
            <a:endParaRPr lang="zh-CN" altLang="zh-CN" sz="32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 name="图片 19">
            <a:extLst>
              <a:ext uri="{FF2B5EF4-FFF2-40B4-BE49-F238E27FC236}">
                <a16:creationId xmlns="" xmlns:a16="http://schemas.microsoft.com/office/drawing/2014/main" id="{398F405E-28B8-2513-4D55-479548F4493F}"/>
              </a:ext>
            </a:extLst>
          </p:cNvPr>
          <p:cNvPicPr>
            <a:picLocks noChangeAspect="1"/>
          </p:cNvPicPr>
          <p:nvPr/>
        </p:nvPicPr>
        <p:blipFill rotWithShape="1">
          <a:blip r:embed="rId4"/>
          <a:srcRect l="7265" t="8718" r="5109" b="3197"/>
          <a:stretch/>
        </p:blipFill>
        <p:spPr>
          <a:xfrm>
            <a:off x="-1" y="1163957"/>
            <a:ext cx="4732971" cy="3260559"/>
          </a:xfrm>
          <a:prstGeom prst="rect">
            <a:avLst/>
          </a:prstGeom>
        </p:spPr>
      </p:pic>
      <p:sp>
        <p:nvSpPr>
          <p:cNvPr id="2" name="内容占位符 2">
            <a:extLst>
              <a:ext uri="{FF2B5EF4-FFF2-40B4-BE49-F238E27FC236}">
                <a16:creationId xmlns="" xmlns:a16="http://schemas.microsoft.com/office/drawing/2014/main" id="{4D9DC4A2-2719-980B-EC77-EC2A1867528F}"/>
              </a:ext>
            </a:extLst>
          </p:cNvPr>
          <p:cNvSpPr txBox="1">
            <a:spLocks/>
          </p:cNvSpPr>
          <p:nvPr/>
        </p:nvSpPr>
        <p:spPr>
          <a:xfrm>
            <a:off x="4646869" y="774290"/>
            <a:ext cx="7615715" cy="6083709"/>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ea"/>
              <a:buAutoNum type="circleNumDbPlain"/>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是酶的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特征性常数</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ES</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解离速率</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形成速率</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之比。</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nSpc>
                <a:spcPct val="150000"/>
              </a:lnSpc>
              <a:buFont typeface="+mj-ea"/>
              <a:buAutoNum type="circleNumDbPlain"/>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nSpc>
                <a:spcPct val="150000"/>
              </a:lnSpc>
              <a:buFont typeface="+mj-ea"/>
              <a:buAutoNum type="circleNumDbPlain"/>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nSpc>
                <a:spcPct val="150000"/>
              </a:lnSpc>
              <a:buFont typeface="+mj-ea"/>
              <a:buAutoNum type="circleNumDbPlain"/>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nSpc>
                <a:spcPct val="150000"/>
              </a:lnSpc>
              <a:buFont typeface="+mj-ea"/>
              <a:buAutoNum type="circleNumDbPlain"/>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可以近似</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表示酶与底物的亲和力</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i="1" dirty="0" smtClean="0">
                <a:latin typeface="微软雅黑" panose="020B0503020204020204" pitchFamily="34" charset="-122"/>
                <a:ea typeface="微软雅黑" panose="020B0503020204020204" pitchFamily="34" charset="-122"/>
                <a:cs typeface="微软雅黑" panose="020B0503020204020204" pitchFamily="34" charset="-122"/>
                <a:sym typeface="+mn-ea"/>
              </a:rPr>
              <a:t>K</a:t>
            </a:r>
            <a:r>
              <a:rPr lang="en-US" altLang="zh-CN" sz="2400" i="1" baseline="-25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m </a:t>
            </a:r>
            <a:r>
              <a:rPr lang="zh-CN" altLang="zh-CN" sz="24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越</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小，该酶与底物的亲和力越高。</a:t>
            </a:r>
          </a:p>
          <a:p>
            <a:pPr marL="457200" indent="-457200">
              <a:lnSpc>
                <a:spcPct val="150000"/>
              </a:lnSpc>
              <a:buFont typeface="+mj-ea"/>
              <a:buAutoNum type="circleNumDbPlain"/>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K</a:t>
            </a:r>
            <a:r>
              <a:rPr lang="zh-CN"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可以帮助</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判断体内一个可逆反应进行的方向</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。如果酶对底物的K</a:t>
            </a:r>
            <a:r>
              <a:rPr lang="zh-CN"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值小于对产物的K</a:t>
            </a:r>
            <a:r>
              <a:rPr lang="zh-CN"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值，则反应有利于正反应。否则，有利于逆反应。</a:t>
            </a:r>
            <a:endParaRPr lang="en-US" altLang="zh-CN" sz="2400" i="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mj-ea"/>
              <a:buChar char="•"/>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3" name="Group 6">
            <a:extLst>
              <a:ext uri="{FF2B5EF4-FFF2-40B4-BE49-F238E27FC236}">
                <a16:creationId xmlns="" xmlns:a16="http://schemas.microsoft.com/office/drawing/2014/main" id="{AF7D103D-B351-6AAF-77E1-7044F285B728}"/>
              </a:ext>
            </a:extLst>
          </p:cNvPr>
          <p:cNvGrpSpPr/>
          <p:nvPr/>
        </p:nvGrpSpPr>
        <p:grpSpPr bwMode="auto">
          <a:xfrm>
            <a:off x="7212199" y="2406925"/>
            <a:ext cx="2450810" cy="1280329"/>
            <a:chOff x="4005" y="1152"/>
            <a:chExt cx="934" cy="409"/>
          </a:xfrm>
        </p:grpSpPr>
        <p:graphicFrame>
          <p:nvGraphicFramePr>
            <p:cNvPr id="44" name="Object 7">
              <a:extLst>
                <a:ext uri="{FF2B5EF4-FFF2-40B4-BE49-F238E27FC236}">
                  <a16:creationId xmlns="" xmlns:a16="http://schemas.microsoft.com/office/drawing/2014/main" id="{2C89C814-2085-0138-0F92-30EAE45DB139}"/>
                </a:ext>
              </a:extLst>
            </p:cNvPr>
            <p:cNvGraphicFramePr>
              <a:graphicFrameLocks noChangeAspect="1"/>
            </p:cNvGraphicFramePr>
            <p:nvPr>
              <p:extLst>
                <p:ext uri="{D42A27DB-BD31-4B8C-83A1-F6EECF244321}">
                  <p14:modId xmlns:p14="http://schemas.microsoft.com/office/powerpoint/2010/main" val="2799407916"/>
                </p:ext>
              </p:extLst>
            </p:nvPr>
          </p:nvGraphicFramePr>
          <p:xfrm>
            <a:off x="4005" y="1152"/>
            <a:ext cx="934" cy="409"/>
          </p:xfrm>
          <a:graphic>
            <a:graphicData uri="http://schemas.openxmlformats.org/presentationml/2006/ole">
              <mc:AlternateContent xmlns:mc="http://schemas.openxmlformats.org/markup-compatibility/2006">
                <mc:Choice xmlns:v="urn:schemas-microsoft-com:vml" Requires="v">
                  <p:oleObj spid="_x0000_s7210" name="公式" r:id="rId5" imgW="1015920" imgH="444240" progId="Equation.3">
                    <p:embed/>
                  </p:oleObj>
                </mc:Choice>
                <mc:Fallback>
                  <p:oleObj name="公式" r:id="rId5" imgW="1015920" imgH="444240" progId="Equation.3">
                    <p:embed/>
                    <p:pic>
                      <p:nvPicPr>
                        <p:cNvPr id="14352" name="Object 7"/>
                        <p:cNvPicPr>
                          <a:picLocks noChangeAspect="1" noChangeArrowheads="1"/>
                        </p:cNvPicPr>
                        <p:nvPr/>
                      </p:nvPicPr>
                      <p:blipFill>
                        <a:blip r:embed="rId6"/>
                        <a:srcRect/>
                        <a:stretch>
                          <a:fillRect/>
                        </a:stretch>
                      </p:blipFill>
                      <p:spPr bwMode="auto">
                        <a:xfrm>
                          <a:off x="4005" y="1152"/>
                          <a:ext cx="934"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5" name="Rectangle 8">
              <a:extLst>
                <a:ext uri="{FF2B5EF4-FFF2-40B4-BE49-F238E27FC236}">
                  <a16:creationId xmlns="" xmlns:a16="http://schemas.microsoft.com/office/drawing/2014/main" id="{8627D36B-1B15-8288-9899-E11464C897D1}"/>
                </a:ext>
              </a:extLst>
            </p:cNvPr>
            <p:cNvSpPr>
              <a:spLocks noChangeArrowheads="1"/>
            </p:cNvSpPr>
            <p:nvPr/>
          </p:nvSpPr>
          <p:spPr bwMode="auto">
            <a:xfrm>
              <a:off x="4032" y="1152"/>
              <a:ext cx="864" cy="38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algn="ctr">
                <a:spcBef>
                  <a:spcPct val="0"/>
                </a:spcBef>
                <a:buFontTx/>
                <a:buNone/>
              </a:pPr>
              <a:endParaRPr lang="zh-CN" altLang="en-US">
                <a:solidFill>
                  <a:schemeClr val="accent2"/>
                </a:solidFill>
                <a:latin typeface="Arial" panose="020B0604020202020204" pitchFamily="34" charset="0"/>
                <a:ea typeface="宋体" panose="02010600030101010101" pitchFamily="2" charset="-122"/>
              </a:endParaRPr>
            </a:p>
          </p:txBody>
        </p:sp>
      </p:grpSp>
      <p:grpSp>
        <p:nvGrpSpPr>
          <p:cNvPr id="46" name="Group 7">
            <a:extLst>
              <a:ext uri="{FF2B5EF4-FFF2-40B4-BE49-F238E27FC236}">
                <a16:creationId xmlns="" xmlns:a16="http://schemas.microsoft.com/office/drawing/2014/main" id="{FF518923-0509-3F72-162B-D0BF691D3DA0}"/>
              </a:ext>
            </a:extLst>
          </p:cNvPr>
          <p:cNvGrpSpPr/>
          <p:nvPr/>
        </p:nvGrpSpPr>
        <p:grpSpPr bwMode="auto">
          <a:xfrm>
            <a:off x="5780435" y="1247138"/>
            <a:ext cx="6018786" cy="885843"/>
            <a:chOff x="1392" y="3592"/>
            <a:chExt cx="2884" cy="426"/>
          </a:xfrm>
        </p:grpSpPr>
        <p:graphicFrame>
          <p:nvGraphicFramePr>
            <p:cNvPr id="47" name="Object 8">
              <a:extLst>
                <a:ext uri="{FF2B5EF4-FFF2-40B4-BE49-F238E27FC236}">
                  <a16:creationId xmlns="" xmlns:a16="http://schemas.microsoft.com/office/drawing/2014/main" id="{DC3AB4C0-D7C5-DE6D-8C55-AF793E4090EA}"/>
                </a:ext>
              </a:extLst>
            </p:cNvPr>
            <p:cNvGraphicFramePr>
              <a:graphicFrameLocks noChangeAspect="1"/>
            </p:cNvGraphicFramePr>
            <p:nvPr/>
          </p:nvGraphicFramePr>
          <p:xfrm>
            <a:off x="1392" y="3677"/>
            <a:ext cx="2884" cy="312"/>
          </p:xfrm>
          <a:graphic>
            <a:graphicData uri="http://schemas.openxmlformats.org/presentationml/2006/ole">
              <mc:AlternateContent xmlns:mc="http://schemas.openxmlformats.org/markup-compatibility/2006">
                <mc:Choice xmlns:v="urn:schemas-microsoft-com:vml" Requires="v">
                  <p:oleObj spid="_x0000_s7211" name="Equation" r:id="rId7" imgW="1993265" imgH="215900" progId="Equation.3">
                    <p:embed/>
                  </p:oleObj>
                </mc:Choice>
                <mc:Fallback>
                  <p:oleObj name="Equation" r:id="rId7" imgW="1993265" imgH="215900" progId="Equation.3">
                    <p:embed/>
                    <p:pic>
                      <p:nvPicPr>
                        <p:cNvPr id="1026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2" y="3677"/>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8" name="Line 9">
              <a:extLst>
                <a:ext uri="{FF2B5EF4-FFF2-40B4-BE49-F238E27FC236}">
                  <a16:creationId xmlns="" xmlns:a16="http://schemas.microsoft.com/office/drawing/2014/main" id="{03D81C50-01C2-4515-1ACD-7057311C608F}"/>
                </a:ext>
              </a:extLst>
            </p:cNvPr>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a:p>
          </p:txBody>
        </p:sp>
        <p:sp>
          <p:nvSpPr>
            <p:cNvPr id="49" name="Line 10">
              <a:extLst>
                <a:ext uri="{FF2B5EF4-FFF2-40B4-BE49-F238E27FC236}">
                  <a16:creationId xmlns="" xmlns:a16="http://schemas.microsoft.com/office/drawing/2014/main" id="{4301408F-01B3-C88B-C746-BF5DBFBD8897}"/>
                </a:ext>
              </a:extLst>
            </p:cNvPr>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a:p>
          </p:txBody>
        </p:sp>
        <p:sp>
          <p:nvSpPr>
            <p:cNvPr id="50" name="Text Box 11">
              <a:extLst>
                <a:ext uri="{FF2B5EF4-FFF2-40B4-BE49-F238E27FC236}">
                  <a16:creationId xmlns="" xmlns:a16="http://schemas.microsoft.com/office/drawing/2014/main" id="{7D1911A2-1689-E0E5-86D0-87F1DF72D851}"/>
                </a:ext>
              </a:extLst>
            </p:cNvPr>
            <p:cNvSpPr txBox="1">
              <a:spLocks noChangeArrowheads="1"/>
            </p:cNvSpPr>
            <p:nvPr/>
          </p:nvSpPr>
          <p:spPr bwMode="auto">
            <a:xfrm>
              <a:off x="2231" y="3598"/>
              <a:ext cx="248"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i="1" dirty="0">
                  <a:latin typeface="Tahoma" panose="020B0604030504040204" charset="0"/>
                  <a:ea typeface="宋体" panose="02010600030101010101" pitchFamily="2" charset="-122"/>
                </a:rPr>
                <a:t>k</a:t>
              </a:r>
              <a:r>
                <a:rPr lang="en-US" altLang="zh-CN" sz="1800" i="1" baseline="-25000" dirty="0">
                  <a:latin typeface="Tahoma" panose="020B0604030504040204" charset="0"/>
                  <a:ea typeface="宋体" panose="02010600030101010101" pitchFamily="2" charset="-122"/>
                </a:rPr>
                <a:t>1</a:t>
              </a:r>
            </a:p>
          </p:txBody>
        </p:sp>
        <p:sp>
          <p:nvSpPr>
            <p:cNvPr id="51" name="Text Box 12">
              <a:extLst>
                <a:ext uri="{FF2B5EF4-FFF2-40B4-BE49-F238E27FC236}">
                  <a16:creationId xmlns="" xmlns:a16="http://schemas.microsoft.com/office/drawing/2014/main" id="{D33AED14-C3F8-E99F-4A98-1D535613E27B}"/>
                </a:ext>
              </a:extLst>
            </p:cNvPr>
            <p:cNvSpPr txBox="1">
              <a:spLocks noChangeArrowheads="1"/>
            </p:cNvSpPr>
            <p:nvPr/>
          </p:nvSpPr>
          <p:spPr bwMode="auto">
            <a:xfrm>
              <a:off x="2208" y="3840"/>
              <a:ext cx="384"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i="1" dirty="0">
                  <a:latin typeface="Tahoma" panose="020B0604030504040204" charset="0"/>
                  <a:ea typeface="宋体" panose="02010600030101010101" pitchFamily="2" charset="-122"/>
                </a:rPr>
                <a:t>K</a:t>
              </a:r>
              <a:r>
                <a:rPr lang="en-US" altLang="zh-CN" sz="1800" i="1" baseline="-25000" dirty="0">
                  <a:latin typeface="Tahoma" panose="020B0604030504040204" charset="0"/>
                  <a:ea typeface="宋体" panose="02010600030101010101" pitchFamily="2" charset="-122"/>
                </a:rPr>
                <a:t>-1</a:t>
              </a:r>
            </a:p>
          </p:txBody>
        </p:sp>
        <p:sp>
          <p:nvSpPr>
            <p:cNvPr id="52" name="Line 13">
              <a:extLst>
                <a:ext uri="{FF2B5EF4-FFF2-40B4-BE49-F238E27FC236}">
                  <a16:creationId xmlns="" xmlns:a16="http://schemas.microsoft.com/office/drawing/2014/main" id="{83A59AA6-CF86-5E90-50B7-6C0158E0AAE3}"/>
                </a:ext>
              </a:extLst>
            </p:cNvPr>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a:p>
          </p:txBody>
        </p:sp>
        <p:sp>
          <p:nvSpPr>
            <p:cNvPr id="53" name="Text Box 14">
              <a:extLst>
                <a:ext uri="{FF2B5EF4-FFF2-40B4-BE49-F238E27FC236}">
                  <a16:creationId xmlns="" xmlns:a16="http://schemas.microsoft.com/office/drawing/2014/main" id="{1CA773E4-F13F-8E4F-0F0C-E61FD36E8300}"/>
                </a:ext>
              </a:extLst>
            </p:cNvPr>
            <p:cNvSpPr txBox="1">
              <a:spLocks noChangeArrowheads="1"/>
            </p:cNvSpPr>
            <p:nvPr/>
          </p:nvSpPr>
          <p:spPr bwMode="auto">
            <a:xfrm>
              <a:off x="3243" y="3592"/>
              <a:ext cx="288" cy="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i="1" dirty="0">
                  <a:latin typeface="Tahoma" panose="020B0604030504040204" charset="0"/>
                  <a:ea typeface="宋体" panose="02010600030101010101" pitchFamily="2" charset="-122"/>
                </a:rPr>
                <a:t>k</a:t>
              </a:r>
              <a:r>
                <a:rPr lang="en-US" altLang="zh-CN" sz="1800" i="1" baseline="-25000" dirty="0">
                  <a:latin typeface="Tahoma" panose="020B0604030504040204" charset="0"/>
                  <a:ea typeface="宋体" panose="02010600030101010101" pitchFamily="2" charset="-122"/>
                </a:rPr>
                <a:t>2</a:t>
              </a:r>
            </a:p>
          </p:txBody>
        </p:sp>
      </p:grpSp>
      <p:sp>
        <p:nvSpPr>
          <p:cNvPr id="54" name="文本框 53">
            <a:extLst>
              <a:ext uri="{FF2B5EF4-FFF2-40B4-BE49-F238E27FC236}">
                <a16:creationId xmlns="" xmlns:a16="http://schemas.microsoft.com/office/drawing/2014/main" id="{474834AA-B5F0-6331-82ED-8004B30F9A93}"/>
              </a:ext>
            </a:extLst>
          </p:cNvPr>
          <p:cNvSpPr txBox="1"/>
          <p:nvPr/>
        </p:nvSpPr>
        <p:spPr>
          <a:xfrm>
            <a:off x="5478068" y="1915166"/>
            <a:ext cx="6863714" cy="489686"/>
          </a:xfrm>
          <a:prstGeom prst="rect">
            <a:avLst/>
          </a:prstGeom>
          <a:noFill/>
        </p:spPr>
        <p:txBody>
          <a:bodyPr wrap="square" rtlCol="0" anchor="t">
            <a:spAutoFit/>
          </a:bodyPr>
          <a:lstStyle/>
          <a:p>
            <a:pPr>
              <a:lnSpc>
                <a:spcPct val="150000"/>
              </a:lnSpc>
            </a:pPr>
            <a:r>
              <a:rPr lang="en-US" altLang="zh-CN" sz="2000" b="1" i="1" dirty="0">
                <a:latin typeface="Tahoma" panose="020B0604030504040204" charset="0"/>
                <a:ea typeface="宋体" panose="02010600030101010101" pitchFamily="2" charset="-122"/>
                <a:sym typeface="+mn-ea"/>
              </a:rPr>
              <a:t>k</a:t>
            </a:r>
            <a:r>
              <a:rPr lang="zh-CN" altLang="en-US" sz="2000" b="1" i="1" dirty="0">
                <a:latin typeface="Tahoma" panose="020B0604030504040204" charset="0"/>
                <a:ea typeface="宋体" panose="02010600030101010101" pitchFamily="2" charset="-122"/>
                <a:sym typeface="+mn-ea"/>
              </a:rPr>
              <a:t>：速率常数，单位反应物浓度（浓度为</a:t>
            </a:r>
            <a:r>
              <a:rPr lang="en-US" altLang="zh-CN" sz="2000" b="1" i="1" dirty="0">
                <a:latin typeface="Tahoma" panose="020B0604030504040204" charset="0"/>
                <a:ea typeface="宋体" panose="02010600030101010101" pitchFamily="2" charset="-122"/>
                <a:sym typeface="+mn-ea"/>
              </a:rPr>
              <a:t>1</a:t>
            </a:r>
            <a:r>
              <a:rPr lang="zh-CN" altLang="en-US" sz="2000" b="1" i="1" dirty="0">
                <a:latin typeface="Tahoma" panose="020B0604030504040204" charset="0"/>
                <a:ea typeface="宋体" panose="02010600030101010101" pitchFamily="2" charset="-122"/>
                <a:sym typeface="+mn-ea"/>
              </a:rPr>
              <a:t>）时的反应速率。</a:t>
            </a:r>
            <a:endParaRPr lang="en-US" altLang="zh-CN" sz="2000" b="1" i="1" dirty="0">
              <a:latin typeface="Tahoma" panose="020B0604030504040204" charset="0"/>
              <a:ea typeface="宋体" panose="02010600030101010101" pitchFamily="2" charset="-122"/>
              <a:sym typeface="+mn-ea"/>
            </a:endParaRPr>
          </a:p>
        </p:txBody>
      </p:sp>
    </p:spTree>
    <p:extLst>
      <p:ext uri="{BB962C8B-B14F-4D97-AF65-F5344CB8AC3E}">
        <p14:creationId xmlns:p14="http://schemas.microsoft.com/office/powerpoint/2010/main" val="699583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567266" y="550314"/>
            <a:ext cx="3101220" cy="597544"/>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2"/>
            </a:pPr>
            <a:r>
              <a:rPr lang="zh-CN" altLang="en-US" sz="32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解读</a:t>
            </a:r>
            <a:r>
              <a:rPr lang="en-US" sz="3200" b="1" dirty="0" err="1"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3200" b="1" i="1" baseline="-25000" dirty="0" err="1"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max</a:t>
            </a:r>
            <a:endParaRPr lang="zh-CN" altLang="en-US" sz="24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1"/>
          <p:cNvSpPr txBox="1"/>
          <p:nvPr/>
        </p:nvSpPr>
        <p:spPr>
          <a:xfrm>
            <a:off x="253999" y="1679304"/>
            <a:ext cx="5911215" cy="2462213"/>
          </a:xfrm>
          <a:prstGeom prst="rect">
            <a:avLst/>
          </a:prstGeom>
          <a:noFill/>
        </p:spPr>
        <p:txBody>
          <a:bodyPr wrap="square" rtlCol="0" anchor="t">
            <a:spAutoFit/>
          </a:bodyPr>
          <a:lstStyle/>
          <a:p>
            <a:pPr marL="342900">
              <a:lnSpc>
                <a:spcPct val="150000"/>
              </a:lnSpc>
              <a:spcBef>
                <a:spcPts val="600"/>
              </a:spcBef>
              <a:buClr>
                <a:srgbClr val="000000"/>
              </a:buClr>
              <a:buFont typeface="Arial" panose="020B0604020202020204" pitchFamily="34" charset="0"/>
              <a:buChar char="•"/>
            </a:pPr>
            <a:r>
              <a:rPr lang="zh-CN" altLang="en-US" sz="2400" b="1" dirty="0" smtClean="0">
                <a:latin typeface="微软雅黑" panose="020B0503020204020204" pitchFamily="34" charset="-122"/>
                <a:ea typeface="微软雅黑" panose="020B0503020204020204" pitchFamily="34" charset="-122"/>
                <a:sym typeface="+mn-ea"/>
              </a:rPr>
              <a:t>在特定酶浓度下，V</a:t>
            </a:r>
            <a:r>
              <a:rPr lang="zh-CN" altLang="en-US" sz="2400" b="1" baseline="-25000" dirty="0" smtClean="0">
                <a:latin typeface="微软雅黑" panose="020B0503020204020204" pitchFamily="34" charset="-122"/>
                <a:ea typeface="微软雅黑" panose="020B0503020204020204" pitchFamily="34" charset="-122"/>
                <a:sym typeface="+mn-ea"/>
              </a:rPr>
              <a:t>max </a:t>
            </a:r>
            <a:r>
              <a:rPr lang="zh-CN" altLang="en-US" sz="2400" b="1" dirty="0" smtClean="0">
                <a:latin typeface="微软雅黑" panose="020B0503020204020204" pitchFamily="34" charset="-122"/>
                <a:ea typeface="微软雅黑" panose="020B0503020204020204" pitchFamily="34" charset="-122"/>
                <a:sym typeface="+mn-ea"/>
              </a:rPr>
              <a:t>也是特征性常数</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endParaRPr>
          </a:p>
          <a:p>
            <a:pPr marL="342900">
              <a:lnSpc>
                <a:spcPct val="150000"/>
              </a:lnSpc>
              <a:spcBef>
                <a:spcPts val="600"/>
              </a:spcBef>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sym typeface="+mn-ea"/>
              </a:rPr>
              <a:t> V</a:t>
            </a:r>
            <a:r>
              <a:rPr lang="zh-CN" altLang="en-US" sz="2400" baseline="-25000" dirty="0">
                <a:latin typeface="微软雅黑" panose="020B0503020204020204" pitchFamily="34" charset="-122"/>
                <a:ea typeface="微软雅黑" panose="020B0503020204020204" pitchFamily="34" charset="-122"/>
                <a:sym typeface="+mn-ea"/>
              </a:rPr>
              <a:t>max</a:t>
            </a:r>
            <a:r>
              <a:rPr lang="zh-CN" altLang="en-US" sz="2400" dirty="0">
                <a:latin typeface="微软雅黑" panose="020B0503020204020204" pitchFamily="34" charset="-122"/>
                <a:ea typeface="微软雅黑" panose="020B0503020204020204" pitchFamily="34" charset="-122"/>
                <a:sym typeface="+mn-ea"/>
              </a:rPr>
              <a:t>是理论上反应的最大速率</a:t>
            </a:r>
            <a:r>
              <a:rPr lang="zh-CN" altLang="en-US" sz="2400" dirty="0" smtClean="0">
                <a:latin typeface="微软雅黑" panose="020B0503020204020204" pitchFamily="34" charset="-122"/>
                <a:ea typeface="微软雅黑" panose="020B0503020204020204" pitchFamily="34" charset="-122"/>
                <a:sym typeface="+mn-ea"/>
              </a:rPr>
              <a:t>，现实难以实现；</a:t>
            </a:r>
            <a:endParaRPr lang="zh-CN" altLang="en-US" sz="2400" dirty="0">
              <a:latin typeface="微软雅黑" panose="020B0503020204020204" pitchFamily="34" charset="-122"/>
              <a:ea typeface="微软雅黑" panose="020B0503020204020204" pitchFamily="34" charset="-122"/>
              <a:sym typeface="+mn-ea"/>
            </a:endParaRPr>
          </a:p>
          <a:p>
            <a:pPr marL="342900">
              <a:lnSpc>
                <a:spcPct val="150000"/>
              </a:lnSpc>
              <a:spcBef>
                <a:spcPts val="600"/>
              </a:spcBef>
              <a:buClr>
                <a:srgbClr val="000000"/>
              </a:buClr>
              <a:buFont typeface="Arial" panose="020B0604020202020204" pitchFamily="34" charset="0"/>
              <a:buChar char="•"/>
            </a:pPr>
            <a:r>
              <a:rPr lang="zh-CN" altLang="en-US" sz="2400" dirty="0" smtClean="0">
                <a:latin typeface="微软雅黑" panose="020B0503020204020204" pitchFamily="34" charset="-122"/>
                <a:ea typeface="微软雅黑" panose="020B0503020204020204" pitchFamily="34" charset="-122"/>
                <a:sym typeface="+mn-ea"/>
              </a:rPr>
              <a:t>随着</a:t>
            </a:r>
            <a:r>
              <a:rPr lang="zh-CN" altLang="en-US" sz="2400" dirty="0">
                <a:latin typeface="微软雅黑" panose="020B0503020204020204" pitchFamily="34" charset="-122"/>
                <a:ea typeface="微软雅黑" panose="020B0503020204020204" pitchFamily="34" charset="-122"/>
                <a:sym typeface="+mn-ea"/>
              </a:rPr>
              <a:t>底物的增加</a:t>
            </a:r>
            <a:r>
              <a:rPr lang="zh-CN" altLang="en-US" sz="2400" dirty="0" smtClean="0">
                <a:latin typeface="微软雅黑" panose="020B0503020204020204" pitchFamily="34" charset="-122"/>
                <a:ea typeface="微软雅黑" panose="020B0503020204020204" pitchFamily="34" charset="-122"/>
                <a:sym typeface="+mn-ea"/>
              </a:rPr>
              <a:t>，速度逐渐</a:t>
            </a:r>
            <a:r>
              <a:rPr lang="zh-CN" altLang="en-US" sz="2400" dirty="0">
                <a:latin typeface="微软雅黑" panose="020B0503020204020204" pitchFamily="34" charset="-122"/>
                <a:ea typeface="微软雅黑" panose="020B0503020204020204" pitchFamily="34" charset="-122"/>
                <a:sym typeface="+mn-ea"/>
              </a:rPr>
              <a:t>逼近V</a:t>
            </a:r>
            <a:r>
              <a:rPr lang="zh-CN" altLang="en-US" sz="2400" baseline="-25000" dirty="0">
                <a:latin typeface="微软雅黑" panose="020B0503020204020204" pitchFamily="34" charset="-122"/>
                <a:ea typeface="微软雅黑" panose="020B0503020204020204" pitchFamily="34" charset="-122"/>
                <a:sym typeface="+mn-ea"/>
              </a:rPr>
              <a:t>max。</a:t>
            </a:r>
          </a:p>
        </p:txBody>
      </p:sp>
      <p:pic>
        <p:nvPicPr>
          <p:cNvPr id="5" name="图片 4"/>
          <p:cNvPicPr>
            <a:picLocks noChangeAspect="1"/>
          </p:cNvPicPr>
          <p:nvPr/>
        </p:nvPicPr>
        <p:blipFill rotWithShape="1">
          <a:blip r:embed="rId2"/>
          <a:srcRect l="3086"/>
          <a:stretch/>
        </p:blipFill>
        <p:spPr>
          <a:xfrm>
            <a:off x="6586527" y="564541"/>
            <a:ext cx="5605473" cy="3963916"/>
          </a:xfrm>
          <a:prstGeom prst="rect">
            <a:avLst/>
          </a:prstGeom>
        </p:spPr>
      </p:pic>
    </p:spTree>
    <p:extLst>
      <p:ext uri="{BB962C8B-B14F-4D97-AF65-F5344CB8AC3E}">
        <p14:creationId xmlns:p14="http://schemas.microsoft.com/office/powerpoint/2010/main" val="8437507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482771" y="349682"/>
            <a:ext cx="8610600" cy="935037"/>
          </a:xfrm>
          <a:prstGeom prst="rect">
            <a:avLst/>
          </a:prstGeom>
        </p:spPr>
        <p:txBody>
          <a:bodyPr vert="horz" wrap="square" lIns="91440" tIns="45720" rIns="91440" bIns="45720" rtlCol="0" anchor="t" anchorCtr="0">
            <a:normAutofit/>
          </a:bodyPr>
          <a:lstStyle>
            <a:defPPr>
              <a:defRPr lang="en-US"/>
            </a:defPPr>
            <a:lvl1pPr marL="457200" indent="-457200" defTabSz="914400">
              <a:lnSpc>
                <a:spcPct val="90000"/>
              </a:lnSpc>
              <a:spcBef>
                <a:spcPts val="1000"/>
              </a:spcBef>
              <a:buFont typeface="+mj-lt"/>
              <a:buAutoNum type="arabicPeriod" startAt="2"/>
              <a:defRPr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indent="0">
              <a:buNone/>
            </a:pPr>
            <a:r>
              <a:rPr lang="en-US" altLang="zh-CN" sz="3200" dirty="0" smtClean="0"/>
              <a:t>3.</a:t>
            </a:r>
            <a:r>
              <a:rPr lang="zh-CN" altLang="en-US" sz="3200" dirty="0" smtClean="0"/>
              <a:t>解读</a:t>
            </a:r>
            <a:r>
              <a:rPr lang="zh-CN" altLang="en-US" sz="3200" dirty="0">
                <a:sym typeface="+mn-ea"/>
              </a:rPr>
              <a:t>k</a:t>
            </a:r>
            <a:r>
              <a:rPr lang="zh-CN" altLang="en-US" sz="3200" baseline="-25000" dirty="0">
                <a:sym typeface="+mn-ea"/>
              </a:rPr>
              <a:t>cat</a:t>
            </a:r>
          </a:p>
        </p:txBody>
      </p:sp>
      <p:sp>
        <p:nvSpPr>
          <p:cNvPr id="4" name="文本框 1"/>
          <p:cNvSpPr txBox="1"/>
          <p:nvPr/>
        </p:nvSpPr>
        <p:spPr>
          <a:xfrm>
            <a:off x="0" y="1252263"/>
            <a:ext cx="12192000" cy="3477875"/>
          </a:xfrm>
          <a:prstGeom prst="rect">
            <a:avLst/>
          </a:prstGeom>
          <a:noFill/>
        </p:spPr>
        <p:txBody>
          <a:bodyPr wrap="square" rtlCol="0" anchor="t">
            <a:spAutoFit/>
          </a:bodyPr>
          <a:lstStyle/>
          <a:p>
            <a:pPr marL="685800" indent="-342900">
              <a:lnSpc>
                <a:spcPct val="150000"/>
              </a:lnSpc>
              <a:spcBef>
                <a:spcPts val="600"/>
              </a:spcBef>
              <a:buClr>
                <a:srgbClr val="000000"/>
              </a:buClr>
              <a:buFont typeface="Arial" panose="020B0604020202020204" pitchFamily="34" charset="0"/>
              <a:buChar char="•"/>
            </a:pPr>
            <a:r>
              <a:rPr lang="zh-CN" altLang="en-US" sz="2800" b="1" dirty="0" smtClean="0">
                <a:latin typeface="微软雅黑" panose="020B0503020204020204" pitchFamily="34" charset="-122"/>
                <a:ea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zh-CN" altLang="en-US" sz="2800" dirty="0">
                <a:latin typeface="微软雅黑" panose="020B0503020204020204" pitchFamily="34" charset="-122"/>
                <a:ea typeface="微软雅黑" panose="020B0503020204020204" pitchFamily="34" charset="-122"/>
                <a:sym typeface="+mn-ea"/>
              </a:rPr>
              <a:t>称为酶的</a:t>
            </a:r>
            <a:r>
              <a:rPr lang="zh-CN" altLang="en-US" sz="2800" b="1" dirty="0">
                <a:latin typeface="微软雅黑" panose="020B0503020204020204" pitchFamily="34" charset="-122"/>
                <a:ea typeface="微软雅黑" panose="020B0503020204020204" pitchFamily="34" charset="-122"/>
                <a:sym typeface="+mn-ea"/>
              </a:rPr>
              <a:t>催化常数</a:t>
            </a:r>
            <a:r>
              <a:rPr lang="zh-CN" altLang="en-US" sz="2800" dirty="0">
                <a:latin typeface="微软雅黑" panose="020B0503020204020204" pitchFamily="34" charset="-122"/>
                <a:ea typeface="微软雅黑" panose="020B0503020204020204" pitchFamily="34" charset="-122"/>
                <a:sym typeface="+mn-ea"/>
              </a:rPr>
              <a:t>或转换数或</a:t>
            </a:r>
            <a:r>
              <a:rPr lang="zh-CN" altLang="en-US" sz="2800" b="1" dirty="0">
                <a:latin typeface="微软雅黑" panose="020B0503020204020204" pitchFamily="34" charset="-122"/>
                <a:ea typeface="微软雅黑" panose="020B0503020204020204" pitchFamily="34" charset="-122"/>
                <a:sym typeface="+mn-ea"/>
              </a:rPr>
              <a:t>周转数</a:t>
            </a:r>
            <a:r>
              <a:rPr lang="zh-CN" altLang="en-US" sz="2800" dirty="0">
                <a:latin typeface="微软雅黑" panose="020B0503020204020204" pitchFamily="34" charset="-122"/>
                <a:ea typeface="微软雅黑" panose="020B0503020204020204" pitchFamily="34" charset="-122"/>
                <a:sym typeface="+mn-ea"/>
              </a:rPr>
              <a:t>，</a:t>
            </a:r>
            <a:r>
              <a:rPr lang="zh-CN" altLang="en-US" sz="2800" b="1" dirty="0">
                <a:solidFill>
                  <a:srgbClr val="FF0000"/>
                </a:solidFill>
                <a:latin typeface="微软雅黑" panose="020B0503020204020204" pitchFamily="34" charset="-122"/>
                <a:ea typeface="微软雅黑" panose="020B0503020204020204" pitchFamily="34" charset="-122"/>
                <a:sym typeface="+mn-ea"/>
              </a:rPr>
              <a:t>当酶被底物饱和时</a:t>
            </a:r>
            <a:r>
              <a:rPr lang="zh-CN" altLang="en-US" sz="2800" dirty="0">
                <a:latin typeface="微软雅黑" panose="020B0503020204020204" pitchFamily="34" charset="-122"/>
                <a:ea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sym typeface="+mn-ea"/>
              </a:rPr>
              <a:t>每秒钟每个酶分子</a:t>
            </a:r>
            <a:r>
              <a:rPr lang="zh-CN" altLang="en-US" sz="2800" dirty="0">
                <a:latin typeface="微软雅黑" panose="020B0503020204020204" pitchFamily="34" charset="-122"/>
                <a:ea typeface="微软雅黑" panose="020B0503020204020204" pitchFamily="34" charset="-122"/>
                <a:sym typeface="+mn-ea"/>
              </a:rPr>
              <a:t>或每个活性部位（对多亚基酶而言）</a:t>
            </a:r>
            <a:r>
              <a:rPr lang="zh-CN" altLang="en-US" sz="2800" b="1" dirty="0">
                <a:latin typeface="微软雅黑" panose="020B0503020204020204" pitchFamily="34" charset="-122"/>
                <a:ea typeface="微软雅黑" panose="020B0503020204020204" pitchFamily="34" charset="-122"/>
                <a:sym typeface="+mn-ea"/>
              </a:rPr>
              <a:t>将底物转换为产物的分子数</a:t>
            </a:r>
            <a:r>
              <a:rPr lang="zh-CN" altLang="en-US" sz="2800" dirty="0">
                <a:latin typeface="微软雅黑" panose="020B0503020204020204" pitchFamily="34" charset="-122"/>
                <a:ea typeface="微软雅黑" panose="020B0503020204020204" pitchFamily="34" charset="-122"/>
                <a:sym typeface="+mn-ea"/>
              </a:rPr>
              <a:t>；</a:t>
            </a:r>
          </a:p>
          <a:p>
            <a:pPr marL="685800" indent="-342900">
              <a:lnSpc>
                <a:spcPct val="150000"/>
              </a:lnSpc>
              <a:spcBef>
                <a:spcPts val="600"/>
              </a:spcBef>
              <a:buClr>
                <a:srgbClr val="000000"/>
              </a:buClr>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zh-CN" altLang="en-US" sz="2800" b="1" dirty="0">
                <a:latin typeface="微软雅黑" panose="020B0503020204020204" pitchFamily="34" charset="-122"/>
                <a:ea typeface="微软雅黑" panose="020B0503020204020204" pitchFamily="34" charset="-122"/>
                <a:sym typeface="+mn-ea"/>
              </a:rPr>
              <a:t>的单位是s</a:t>
            </a:r>
            <a:r>
              <a:rPr lang="zh-CN" altLang="en-US" sz="2800" b="1" baseline="30000" dirty="0">
                <a:latin typeface="微软雅黑" panose="020B0503020204020204" pitchFamily="34" charset="-122"/>
                <a:ea typeface="微软雅黑" panose="020B0503020204020204" pitchFamily="34" charset="-122"/>
                <a:sym typeface="+mn-ea"/>
              </a:rPr>
              <a:t>-1</a:t>
            </a:r>
            <a:r>
              <a:rPr lang="zh-CN" altLang="en-US" sz="2800" dirty="0">
                <a:latin typeface="微软雅黑" panose="020B0503020204020204" pitchFamily="34" charset="-122"/>
                <a:ea typeface="微软雅黑" panose="020B0503020204020204" pitchFamily="34" charset="-122"/>
                <a:sym typeface="+mn-ea"/>
              </a:rPr>
              <a:t>（转换一个底物所需要的时间）；</a:t>
            </a:r>
          </a:p>
          <a:p>
            <a:pPr marL="685800" indent="-342900">
              <a:lnSpc>
                <a:spcPct val="150000"/>
              </a:lnSpc>
              <a:spcBef>
                <a:spcPts val="600"/>
              </a:spcBef>
              <a:buClr>
                <a:srgbClr val="000000"/>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sym typeface="+mn-ea"/>
              </a:rPr>
              <a:t>如果一个酶遵守米氏方程，则</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2</a:t>
            </a:r>
            <a:r>
              <a:rPr lang="zh-CN" altLang="en-US" sz="2800" b="1" dirty="0">
                <a:latin typeface="微软雅黑" panose="020B0503020204020204" pitchFamily="34" charset="-122"/>
                <a:ea typeface="微软雅黑" panose="020B0503020204020204" pitchFamily="34" charset="-122"/>
                <a:sym typeface="+mn-ea"/>
              </a:rPr>
              <a:t>＝V</a:t>
            </a:r>
            <a:r>
              <a:rPr lang="zh-CN" altLang="en-US" sz="2800" b="1" baseline="-25000" dirty="0">
                <a:latin typeface="微软雅黑" panose="020B0503020204020204" pitchFamily="34" charset="-122"/>
                <a:ea typeface="微软雅黑" panose="020B0503020204020204" pitchFamily="34" charset="-122"/>
                <a:sym typeface="+mn-ea"/>
              </a:rPr>
              <a:t>max</a:t>
            </a:r>
            <a:r>
              <a:rPr lang="zh-CN" altLang="en-US" sz="2800" b="1" dirty="0">
                <a:latin typeface="微软雅黑" panose="020B0503020204020204" pitchFamily="34" charset="-122"/>
                <a:ea typeface="微软雅黑" panose="020B0503020204020204" pitchFamily="34" charset="-122"/>
                <a:sym typeface="+mn-ea"/>
              </a:rPr>
              <a:t>/E</a:t>
            </a:r>
            <a:r>
              <a:rPr lang="zh-CN" altLang="en-US" sz="2800" b="1" baseline="-25000" dirty="0">
                <a:latin typeface="微软雅黑" panose="020B0503020204020204" pitchFamily="34" charset="-122"/>
                <a:ea typeface="微软雅黑" panose="020B0503020204020204" pitchFamily="34" charset="-122"/>
                <a:sym typeface="+mn-ea"/>
              </a:rPr>
              <a:t>t</a:t>
            </a:r>
            <a:r>
              <a:rPr lang="zh-CN" altLang="en-US" sz="2800" dirty="0">
                <a:latin typeface="微软雅黑" panose="020B0503020204020204" pitchFamily="34" charset="-122"/>
                <a:ea typeface="微软雅黑" panose="020B0503020204020204" pitchFamily="34" charset="-122"/>
                <a:sym typeface="+mn-ea"/>
              </a:rPr>
              <a:t>。</a:t>
            </a:r>
          </a:p>
        </p:txBody>
      </p:sp>
      <p:grpSp>
        <p:nvGrpSpPr>
          <p:cNvPr id="5" name="Group 7"/>
          <p:cNvGrpSpPr/>
          <p:nvPr/>
        </p:nvGrpSpPr>
        <p:grpSpPr bwMode="auto">
          <a:xfrm>
            <a:off x="3017739" y="5064256"/>
            <a:ext cx="6057660" cy="1003230"/>
            <a:chOff x="1392" y="3623"/>
            <a:chExt cx="2884" cy="484"/>
          </a:xfrm>
        </p:grpSpPr>
        <p:graphicFrame>
          <p:nvGraphicFramePr>
            <p:cNvPr id="6" name="Object 8"/>
            <p:cNvGraphicFramePr>
              <a:graphicFrameLocks noChangeAspect="1"/>
            </p:cNvGraphicFramePr>
            <p:nvPr/>
          </p:nvGraphicFramePr>
          <p:xfrm>
            <a:off x="1392" y="3685"/>
            <a:ext cx="2884" cy="312"/>
          </p:xfrm>
          <a:graphic>
            <a:graphicData uri="http://schemas.openxmlformats.org/presentationml/2006/ole">
              <mc:AlternateContent xmlns:mc="http://schemas.openxmlformats.org/markup-compatibility/2006">
                <mc:Choice xmlns:v="urn:schemas-microsoft-com:vml" Requires="v">
                  <p:oleObj spid="_x0000_s8223" name="Equation" r:id="rId4" imgW="1993265" imgH="215900" progId="Equation.3">
                    <p:embed/>
                  </p:oleObj>
                </mc:Choice>
                <mc:Fallback>
                  <p:oleObj name="Equation" r:id="rId4" imgW="1993265" imgH="215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3685"/>
                          <a:ext cx="288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 name="Line 9"/>
            <p:cNvSpPr>
              <a:spLocks noChangeShapeType="1"/>
            </p:cNvSpPr>
            <p:nvPr/>
          </p:nvSpPr>
          <p:spPr bwMode="auto">
            <a:xfrm>
              <a:off x="2112" y="3792"/>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b="1"/>
            </a:p>
          </p:txBody>
        </p:sp>
        <p:sp>
          <p:nvSpPr>
            <p:cNvPr id="8" name="Line 10"/>
            <p:cNvSpPr>
              <a:spLocks noChangeShapeType="1"/>
            </p:cNvSpPr>
            <p:nvPr/>
          </p:nvSpPr>
          <p:spPr bwMode="auto">
            <a:xfrm flipH="1">
              <a:off x="2112" y="384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b="1"/>
            </a:p>
          </p:txBody>
        </p:sp>
        <p:sp>
          <p:nvSpPr>
            <p:cNvPr id="9" name="Text Box 11"/>
            <p:cNvSpPr txBox="1">
              <a:spLocks noChangeArrowheads="1"/>
            </p:cNvSpPr>
            <p:nvPr/>
          </p:nvSpPr>
          <p:spPr bwMode="auto">
            <a:xfrm>
              <a:off x="2231" y="3623"/>
              <a:ext cx="22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b="1" i="1" dirty="0">
                  <a:latin typeface="Tahoma" panose="020B0604030504040204" charset="0"/>
                  <a:ea typeface="宋体" panose="02010600030101010101" pitchFamily="2" charset="-122"/>
                </a:rPr>
                <a:t>k</a:t>
              </a:r>
              <a:r>
                <a:rPr lang="en-US" altLang="zh-CN" sz="1800" b="1" i="1" baseline="-25000" dirty="0">
                  <a:latin typeface="Tahoma" panose="020B0604030504040204" charset="0"/>
                  <a:ea typeface="宋体" panose="02010600030101010101" pitchFamily="2" charset="-122"/>
                </a:rPr>
                <a:t>1</a:t>
              </a:r>
            </a:p>
          </p:txBody>
        </p:sp>
        <p:sp>
          <p:nvSpPr>
            <p:cNvPr id="10" name="Text Box 12"/>
            <p:cNvSpPr txBox="1">
              <a:spLocks noChangeArrowheads="1"/>
            </p:cNvSpPr>
            <p:nvPr/>
          </p:nvSpPr>
          <p:spPr bwMode="auto">
            <a:xfrm>
              <a:off x="2208" y="3840"/>
              <a:ext cx="271"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b="1" i="1" dirty="0">
                  <a:latin typeface="Tahoma" panose="020B0604030504040204" charset="0"/>
                  <a:ea typeface="宋体" panose="02010600030101010101" pitchFamily="2" charset="-122"/>
                </a:rPr>
                <a:t>K</a:t>
              </a:r>
              <a:r>
                <a:rPr lang="en-US" altLang="zh-CN" sz="1800" b="1" i="1" baseline="-25000" dirty="0">
                  <a:latin typeface="Tahoma" panose="020B0604030504040204" charset="0"/>
                  <a:ea typeface="宋体" panose="02010600030101010101" pitchFamily="2" charset="-122"/>
                </a:rPr>
                <a:t>-1</a:t>
              </a:r>
            </a:p>
          </p:txBody>
        </p:sp>
        <p:sp>
          <p:nvSpPr>
            <p:cNvPr id="11" name="Line 13"/>
            <p:cNvSpPr>
              <a:spLocks noChangeShapeType="1"/>
            </p:cNvSpPr>
            <p:nvPr/>
          </p:nvSpPr>
          <p:spPr bwMode="auto">
            <a:xfrm>
              <a:off x="3103" y="3810"/>
              <a:ext cx="48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zh-CN" altLang="en-US" sz="2400" b="1"/>
            </a:p>
          </p:txBody>
        </p:sp>
        <p:sp>
          <p:nvSpPr>
            <p:cNvPr id="12" name="Text Box 14"/>
            <p:cNvSpPr txBox="1">
              <a:spLocks noChangeArrowheads="1"/>
            </p:cNvSpPr>
            <p:nvPr/>
          </p:nvSpPr>
          <p:spPr bwMode="auto">
            <a:xfrm>
              <a:off x="3243" y="3627"/>
              <a:ext cx="22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panose="00000500000000020000" charset="0"/>
                </a:defRPr>
              </a:lvl1pPr>
              <a:lvl2pPr marL="742950" indent="-285750">
                <a:spcBef>
                  <a:spcPct val="20000"/>
                </a:spcBef>
                <a:buChar char="–"/>
                <a:defRPr sz="2800">
                  <a:solidFill>
                    <a:schemeClr val="tx1"/>
                  </a:solidFill>
                  <a:latin typeface="Times" panose="00000500000000020000" charset="0"/>
                </a:defRPr>
              </a:lvl2pPr>
              <a:lvl3pPr marL="1143000" indent="-228600">
                <a:spcBef>
                  <a:spcPct val="20000"/>
                </a:spcBef>
                <a:buChar char="•"/>
                <a:defRPr sz="2400">
                  <a:solidFill>
                    <a:schemeClr val="tx1"/>
                  </a:solidFill>
                  <a:latin typeface="Times" panose="00000500000000020000" charset="0"/>
                </a:defRPr>
              </a:lvl3pPr>
              <a:lvl4pPr marL="1600200" indent="-228600">
                <a:spcBef>
                  <a:spcPct val="20000"/>
                </a:spcBef>
                <a:buChar char="–"/>
                <a:defRPr sz="2000">
                  <a:solidFill>
                    <a:schemeClr val="tx1"/>
                  </a:solidFill>
                  <a:latin typeface="Times" panose="00000500000000020000" charset="0"/>
                </a:defRPr>
              </a:lvl4pPr>
              <a:lvl5pPr marL="2057400" indent="-228600">
                <a:spcBef>
                  <a:spcPct val="20000"/>
                </a:spcBef>
                <a:buChar char="»"/>
                <a:defRPr sz="2000">
                  <a:solidFill>
                    <a:schemeClr val="tx1"/>
                  </a:solidFill>
                  <a:latin typeface="Times" panose="00000500000000020000" charset="0"/>
                </a:defRPr>
              </a:lvl5pPr>
              <a:lvl6pPr marL="2514600" indent="-228600" eaLnBrk="0" fontAlgn="base" hangingPunct="0">
                <a:spcBef>
                  <a:spcPct val="20000"/>
                </a:spcBef>
                <a:spcAft>
                  <a:spcPct val="0"/>
                </a:spcAft>
                <a:buChar char="»"/>
                <a:defRPr sz="2000">
                  <a:solidFill>
                    <a:schemeClr val="tx1"/>
                  </a:solidFill>
                  <a:latin typeface="Times" panose="00000500000000020000" charset="0"/>
                </a:defRPr>
              </a:lvl6pPr>
              <a:lvl7pPr marL="2971800" indent="-228600" eaLnBrk="0" fontAlgn="base" hangingPunct="0">
                <a:spcBef>
                  <a:spcPct val="20000"/>
                </a:spcBef>
                <a:spcAft>
                  <a:spcPct val="0"/>
                </a:spcAft>
                <a:buChar char="»"/>
                <a:defRPr sz="2000">
                  <a:solidFill>
                    <a:schemeClr val="tx1"/>
                  </a:solidFill>
                  <a:latin typeface="Times" panose="00000500000000020000" charset="0"/>
                </a:defRPr>
              </a:lvl7pPr>
              <a:lvl8pPr marL="3429000" indent="-228600" eaLnBrk="0" fontAlgn="base" hangingPunct="0">
                <a:spcBef>
                  <a:spcPct val="20000"/>
                </a:spcBef>
                <a:spcAft>
                  <a:spcPct val="0"/>
                </a:spcAft>
                <a:buChar char="»"/>
                <a:defRPr sz="2000">
                  <a:solidFill>
                    <a:schemeClr val="tx1"/>
                  </a:solidFill>
                  <a:latin typeface="Times" panose="00000500000000020000" charset="0"/>
                </a:defRPr>
              </a:lvl8pPr>
              <a:lvl9pPr marL="3886200" indent="-228600" eaLnBrk="0" fontAlgn="base" hangingPunct="0">
                <a:spcBef>
                  <a:spcPct val="20000"/>
                </a:spcBef>
                <a:spcAft>
                  <a:spcPct val="0"/>
                </a:spcAft>
                <a:buChar char="»"/>
                <a:defRPr sz="2000">
                  <a:solidFill>
                    <a:schemeClr val="tx1"/>
                  </a:solidFill>
                  <a:latin typeface="Times" panose="00000500000000020000" charset="0"/>
                </a:defRPr>
              </a:lvl9pPr>
            </a:lstStyle>
            <a:p>
              <a:pPr eaLnBrk="1" hangingPunct="1">
                <a:spcBef>
                  <a:spcPct val="0"/>
                </a:spcBef>
                <a:buFontTx/>
                <a:buNone/>
              </a:pPr>
              <a:r>
                <a:rPr lang="en-US" altLang="zh-CN" sz="1800" b="1" i="1">
                  <a:latin typeface="Tahoma" panose="020B0604030504040204" charset="0"/>
                  <a:ea typeface="宋体" panose="02010600030101010101" pitchFamily="2" charset="-122"/>
                </a:rPr>
                <a:t>k</a:t>
              </a:r>
              <a:r>
                <a:rPr lang="en-US" altLang="zh-CN" sz="1800" b="1" i="1" baseline="-25000">
                  <a:latin typeface="Tahoma" panose="020B0604030504040204" charset="0"/>
                  <a:ea typeface="宋体" panose="02010600030101010101" pitchFamily="2" charset="-122"/>
                </a:rPr>
                <a:t>2</a:t>
              </a:r>
            </a:p>
          </p:txBody>
        </p:sp>
      </p:grpSp>
    </p:spTree>
    <p:extLst>
      <p:ext uri="{BB962C8B-B14F-4D97-AF65-F5344CB8AC3E}">
        <p14:creationId xmlns:p14="http://schemas.microsoft.com/office/powerpoint/2010/main" val="31110370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1057124" y="439019"/>
            <a:ext cx="8610600" cy="933450"/>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4"/>
            </a:pPr>
            <a:r>
              <a:rPr lang="zh-CN" altLang="en-US" sz="32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解读</a:t>
            </a:r>
            <a:r>
              <a:rPr lang="zh-CN" altLang="en-US" sz="3200" b="1" dirty="0" smtClean="0">
                <a:solidFill>
                  <a:srgbClr val="FF0000"/>
                </a:solidFill>
                <a:latin typeface="微软雅黑" panose="020B0503020204020204" pitchFamily="34" charset="-122"/>
                <a:ea typeface="微软雅黑" panose="020B0503020204020204" pitchFamily="34" charset="-122"/>
                <a:sym typeface="+mn-ea"/>
              </a:rPr>
              <a:t>k</a:t>
            </a:r>
            <a:r>
              <a:rPr lang="zh-CN" altLang="en-US" sz="3200" b="1" baseline="-25000" dirty="0" smtClean="0">
                <a:solidFill>
                  <a:srgbClr val="FF0000"/>
                </a:solidFill>
                <a:latin typeface="微软雅黑" panose="020B0503020204020204" pitchFamily="34" charset="-122"/>
                <a:ea typeface="微软雅黑" panose="020B0503020204020204" pitchFamily="34" charset="-122"/>
                <a:sym typeface="+mn-ea"/>
              </a:rPr>
              <a:t>cat</a:t>
            </a:r>
            <a:r>
              <a:rPr lang="en-US" altLang="zh-CN" sz="3200" dirty="0" smtClean="0">
                <a:solidFill>
                  <a:srgbClr val="FF0000"/>
                </a:solidFill>
              </a:rPr>
              <a:t>/</a:t>
            </a:r>
            <a:r>
              <a:rPr lang="en-US" altLang="zh-CN" sz="3200" b="1" dirty="0" smtClean="0">
                <a:solidFill>
                  <a:srgbClr val="FF0000"/>
                </a:solidFill>
                <a:latin typeface="微软雅黑" panose="020B0503020204020204" pitchFamily="34" charset="-122"/>
                <a:ea typeface="微软雅黑" panose="020B0503020204020204" pitchFamily="34" charset="-122"/>
                <a:sym typeface="+mn-ea"/>
              </a:rPr>
              <a:t>K</a:t>
            </a:r>
            <a:r>
              <a:rPr lang="en-US" altLang="zh-CN" sz="3200" b="1" baseline="-25000" dirty="0" smtClean="0">
                <a:solidFill>
                  <a:srgbClr val="FF0000"/>
                </a:solidFill>
                <a:latin typeface="微软雅黑" panose="020B0503020204020204" pitchFamily="34" charset="-122"/>
                <a:ea typeface="微软雅黑" panose="020B0503020204020204" pitchFamily="34" charset="-122"/>
                <a:sym typeface="+mn-ea"/>
              </a:rPr>
              <a:t>m</a:t>
            </a:r>
            <a:endParaRPr lang="en-US" altLang="zh-CN" sz="2400" b="1" baseline="-250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1"/>
          <p:cNvSpPr txBox="1"/>
          <p:nvPr/>
        </p:nvSpPr>
        <p:spPr>
          <a:xfrm>
            <a:off x="870374" y="1476749"/>
            <a:ext cx="10492569" cy="1384995"/>
          </a:xfrm>
          <a:prstGeom prst="rect">
            <a:avLst/>
          </a:prstGeom>
          <a:noFill/>
        </p:spPr>
        <p:txBody>
          <a:bodyPr wrap="square" rtlCol="0" anchor="t">
            <a:spAutoFit/>
          </a:bodyPr>
          <a:lstStyle/>
          <a:p>
            <a:pPr marL="342900">
              <a:lnSpc>
                <a:spcPct val="150000"/>
              </a:lnSpc>
              <a:spcBef>
                <a:spcPts val="600"/>
              </a:spcBef>
              <a:buClr>
                <a:srgbClr val="000000"/>
              </a:buClr>
              <a:buFont typeface="Arial" panose="020B0604020202020204" pitchFamily="34" charset="0"/>
              <a:buChar char="•"/>
            </a:pPr>
            <a:r>
              <a:rPr lang="zh-CN" altLang="en-US" sz="2800" b="1" dirty="0" smtClean="0">
                <a:latin typeface="微软雅黑" panose="020B0503020204020204" pitchFamily="34" charset="-122"/>
                <a:ea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en-US" altLang="zh-CN" sz="2800" b="1" dirty="0">
                <a:latin typeface="微软雅黑" panose="020B0503020204020204" pitchFamily="34" charset="-122"/>
                <a:ea typeface="微软雅黑" panose="020B0503020204020204" pitchFamily="34" charset="-122"/>
                <a:sym typeface="+mn-ea"/>
              </a:rPr>
              <a:t>/K</a:t>
            </a:r>
            <a:r>
              <a:rPr lang="en-US" altLang="zh-CN" sz="2800" b="1" baseline="-25000" dirty="0">
                <a:latin typeface="微软雅黑" panose="020B0503020204020204" pitchFamily="34" charset="-122"/>
                <a:ea typeface="微软雅黑" panose="020B0503020204020204" pitchFamily="34" charset="-122"/>
                <a:sym typeface="+mn-ea"/>
              </a:rPr>
              <a:t>m</a:t>
            </a:r>
            <a:r>
              <a:rPr lang="zh-CN" altLang="zh-CN" sz="2800" b="1" baseline="-25000" dirty="0">
                <a:latin typeface="微软雅黑" panose="020B0503020204020204" pitchFamily="34" charset="-122"/>
                <a:ea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sym typeface="+mn-ea"/>
              </a:rPr>
              <a:t>通常被用来衡量酶的</a:t>
            </a:r>
            <a:r>
              <a:rPr lang="zh-CN" altLang="en-US" sz="2800" b="1" dirty="0">
                <a:solidFill>
                  <a:srgbClr val="FF0000"/>
                </a:solidFill>
                <a:latin typeface="微软雅黑" panose="020B0503020204020204" pitchFamily="34" charset="-122"/>
                <a:ea typeface="微软雅黑" panose="020B0503020204020204" pitchFamily="34" charset="-122"/>
                <a:sym typeface="+mn-ea"/>
              </a:rPr>
              <a:t>催化效率</a:t>
            </a:r>
            <a:r>
              <a:rPr lang="zh-CN" altLang="en-US" sz="2800" dirty="0">
                <a:latin typeface="微软雅黑" panose="020B0503020204020204" pitchFamily="34" charset="-122"/>
                <a:ea typeface="微软雅黑" panose="020B0503020204020204" pitchFamily="34" charset="-122"/>
                <a:sym typeface="+mn-ea"/>
              </a:rPr>
              <a:t>，还可以反映一个酶的</a:t>
            </a:r>
            <a:r>
              <a:rPr lang="zh-CN" altLang="en-US" sz="2800" b="1" dirty="0">
                <a:solidFill>
                  <a:srgbClr val="FF0000"/>
                </a:solidFill>
                <a:latin typeface="微软雅黑" panose="020B0503020204020204" pitchFamily="34" charset="-122"/>
                <a:ea typeface="微软雅黑" panose="020B0503020204020204" pitchFamily="34" charset="-122"/>
                <a:sym typeface="+mn-ea"/>
              </a:rPr>
              <a:t>完美程度</a:t>
            </a:r>
            <a:r>
              <a:rPr lang="zh-CN" altLang="en-US" sz="2800" dirty="0">
                <a:latin typeface="微软雅黑" panose="020B0503020204020204" pitchFamily="34" charset="-122"/>
                <a:ea typeface="微软雅黑" panose="020B0503020204020204" pitchFamily="34" charset="-122"/>
                <a:sym typeface="+mn-ea"/>
              </a:rPr>
              <a:t>。大的</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zh-CN" altLang="en-US" sz="2800" dirty="0">
                <a:latin typeface="微软雅黑" panose="020B0503020204020204" pitchFamily="34" charset="-122"/>
                <a:ea typeface="微软雅黑" panose="020B0503020204020204" pitchFamily="34" charset="-122"/>
                <a:sym typeface="+mn-ea"/>
              </a:rPr>
              <a:t>和（或）小的</a:t>
            </a:r>
            <a:r>
              <a:rPr lang="en-US" altLang="zh-CN" sz="2800" b="1" dirty="0">
                <a:latin typeface="微软雅黑" panose="020B0503020204020204" pitchFamily="34" charset="-122"/>
                <a:ea typeface="微软雅黑" panose="020B0503020204020204" pitchFamily="34" charset="-122"/>
                <a:sym typeface="+mn-ea"/>
              </a:rPr>
              <a:t>K</a:t>
            </a:r>
            <a:r>
              <a:rPr lang="en-US" altLang="zh-CN" sz="2800" b="1" baseline="-25000" dirty="0">
                <a:latin typeface="微软雅黑" panose="020B0503020204020204" pitchFamily="34" charset="-122"/>
                <a:ea typeface="微软雅黑" panose="020B0503020204020204" pitchFamily="34" charset="-122"/>
                <a:sym typeface="+mn-ea"/>
              </a:rPr>
              <a:t>m</a:t>
            </a:r>
            <a:r>
              <a:rPr lang="zh-CN" altLang="en-US" sz="2800" dirty="0">
                <a:latin typeface="微软雅黑" panose="020B0503020204020204" pitchFamily="34" charset="-122"/>
                <a:ea typeface="微软雅黑" panose="020B0503020204020204" pitchFamily="34" charset="-122"/>
                <a:sym typeface="+mn-ea"/>
              </a:rPr>
              <a:t>将给出大的</a:t>
            </a:r>
            <a:r>
              <a:rPr lang="zh-CN" altLang="en-US" sz="2800" b="1" dirty="0">
                <a:latin typeface="微软雅黑" panose="020B0503020204020204" pitchFamily="34" charset="-122"/>
                <a:ea typeface="微软雅黑" panose="020B0503020204020204" pitchFamily="34" charset="-122"/>
                <a:sym typeface="+mn-ea"/>
              </a:rPr>
              <a:t>k</a:t>
            </a:r>
            <a:r>
              <a:rPr lang="zh-CN" altLang="en-US" sz="2800" b="1" baseline="-25000" dirty="0">
                <a:latin typeface="微软雅黑" panose="020B0503020204020204" pitchFamily="34" charset="-122"/>
                <a:ea typeface="微软雅黑" panose="020B0503020204020204" pitchFamily="34" charset="-122"/>
                <a:sym typeface="+mn-ea"/>
              </a:rPr>
              <a:t>cat</a:t>
            </a:r>
            <a:r>
              <a:rPr lang="en-US" altLang="zh-CN" sz="2800" b="1" dirty="0">
                <a:latin typeface="微软雅黑" panose="020B0503020204020204" pitchFamily="34" charset="-122"/>
                <a:ea typeface="微软雅黑" panose="020B0503020204020204" pitchFamily="34" charset="-122"/>
                <a:sym typeface="+mn-ea"/>
              </a:rPr>
              <a:t>/K</a:t>
            </a:r>
            <a:r>
              <a:rPr lang="en-US" altLang="zh-CN" sz="2800" b="1" baseline="-25000" dirty="0">
                <a:latin typeface="微软雅黑" panose="020B0503020204020204" pitchFamily="34" charset="-122"/>
                <a:ea typeface="微软雅黑" panose="020B0503020204020204" pitchFamily="34" charset="-122"/>
                <a:sym typeface="+mn-ea"/>
              </a:rPr>
              <a:t>m</a:t>
            </a:r>
            <a:r>
              <a:rPr lang="zh-CN" altLang="en-US" sz="2800" dirty="0">
                <a:latin typeface="微软雅黑" panose="020B0503020204020204" pitchFamily="34" charset="-122"/>
                <a:ea typeface="微软雅黑" panose="020B0503020204020204" pitchFamily="34" charset="-122"/>
                <a:sym typeface="+mn-ea"/>
              </a:rPr>
              <a:t>值。</a:t>
            </a:r>
          </a:p>
        </p:txBody>
      </p:sp>
    </p:spTree>
    <p:extLst>
      <p:ext uri="{BB962C8B-B14F-4D97-AF65-F5344CB8AC3E}">
        <p14:creationId xmlns:p14="http://schemas.microsoft.com/office/powerpoint/2010/main" val="31110370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1767"/>
            <a:ext cx="12192000" cy="5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06966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（四）米氏方程转换</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双倒数转换</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0" y="905558"/>
            <a:ext cx="12191999" cy="1212640"/>
          </a:xfrm>
          <a:prstGeom prst="rect">
            <a:avLst/>
          </a:prstGeom>
          <a:noFill/>
        </p:spPr>
        <p:txBody>
          <a:bodyPr wrap="square" rtlCol="0" anchor="t">
            <a:spAutoFit/>
          </a:bodyPr>
          <a:lstStyle/>
          <a:p>
            <a:pPr>
              <a:lnSpc>
                <a:spcPct val="130000"/>
              </a:lnSpc>
              <a:spcBef>
                <a:spcPts val="600"/>
              </a:spcBef>
              <a:buClr>
                <a:srgbClr val="000000"/>
              </a:buClr>
            </a:pPr>
            <a:r>
              <a:rPr lang="zh-CN" altLang="en-US" sz="2800" dirty="0">
                <a:latin typeface="微软雅黑" panose="020B0503020204020204" pitchFamily="34" charset="-122"/>
                <a:ea typeface="微软雅黑" panose="020B0503020204020204" pitchFamily="34" charset="-122"/>
                <a:sym typeface="+mn-ea"/>
              </a:rPr>
              <a:t>实际上，很难通过v-[S]曲线直接得到K</a:t>
            </a:r>
            <a:r>
              <a:rPr lang="zh-CN" altLang="en-US" sz="2800" baseline="-25000" dirty="0">
                <a:latin typeface="微软雅黑" panose="020B0503020204020204" pitchFamily="34" charset="-122"/>
                <a:ea typeface="微软雅黑" panose="020B0503020204020204" pitchFamily="34" charset="-122"/>
                <a:sym typeface="+mn-ea"/>
              </a:rPr>
              <a:t>m</a:t>
            </a:r>
            <a:r>
              <a:rPr lang="zh-CN" altLang="en-US" sz="2800" dirty="0">
                <a:latin typeface="微软雅黑" panose="020B0503020204020204" pitchFamily="34" charset="-122"/>
                <a:ea typeface="微软雅黑" panose="020B0503020204020204" pitchFamily="34" charset="-122"/>
                <a:sym typeface="+mn-ea"/>
              </a:rPr>
              <a:t>。对米氏方程进行变形，等式左右各取倒数后，可以得到直线方程</a:t>
            </a:r>
            <a:r>
              <a:rPr lang="zh-CN" altLang="en-US" sz="2800" dirty="0" smtClean="0">
                <a:latin typeface="微软雅黑" panose="020B0503020204020204" pitchFamily="34" charset="-122"/>
                <a:ea typeface="微软雅黑" panose="020B0503020204020204" pitchFamily="34" charset="-122"/>
                <a:sym typeface="+mn-ea"/>
              </a:rPr>
              <a:t>：令</a:t>
            </a:r>
            <a:r>
              <a:rPr lang="zh-CN" altLang="en-US" sz="2800" dirty="0">
                <a:latin typeface="微软雅黑" panose="020B0503020204020204" pitchFamily="34" charset="-122"/>
                <a:ea typeface="微软雅黑" panose="020B0503020204020204" pitchFamily="34" charset="-122"/>
                <a:sym typeface="+mn-ea"/>
              </a:rPr>
              <a:t>x=1/[S]，y=1/v，得到</a:t>
            </a:r>
            <a:r>
              <a:rPr lang="zh-CN" altLang="en-US" sz="2800" b="1" dirty="0">
                <a:latin typeface="微软雅黑" panose="020B0503020204020204" pitchFamily="34" charset="-122"/>
                <a:ea typeface="微软雅黑" panose="020B0503020204020204" pitchFamily="34" charset="-122"/>
                <a:sym typeface="+mn-ea"/>
              </a:rPr>
              <a:t>y=ax+b直线方程</a:t>
            </a:r>
            <a:r>
              <a:rPr lang="zh-CN" altLang="en-US" sz="2800" dirty="0">
                <a:latin typeface="微软雅黑" panose="020B0503020204020204" pitchFamily="34" charset="-122"/>
                <a:ea typeface="微软雅黑" panose="020B0503020204020204" pitchFamily="34" charset="-122"/>
                <a:sym typeface="+mn-ea"/>
              </a:rPr>
              <a:t>。</a:t>
            </a:r>
            <a:endParaRPr lang="zh-CN" altLang="en-US" sz="2800" dirty="0">
              <a:latin typeface="微软雅黑" panose="020B0503020204020204" pitchFamily="34" charset="-122"/>
              <a:ea typeface="微软雅黑" panose="020B0503020204020204" pitchFamily="34" charset="-122"/>
            </a:endParaRPr>
          </a:p>
        </p:txBody>
      </p:sp>
      <p:graphicFrame>
        <p:nvGraphicFramePr>
          <p:cNvPr id="18436" name="Object 5"/>
          <p:cNvGraphicFramePr/>
          <p:nvPr>
            <p:extLst>
              <p:ext uri="{D42A27DB-BD31-4B8C-83A1-F6EECF244321}">
                <p14:modId xmlns:p14="http://schemas.microsoft.com/office/powerpoint/2010/main" val="2528612390"/>
              </p:ext>
            </p:extLst>
          </p:nvPr>
        </p:nvGraphicFramePr>
        <p:xfrm>
          <a:off x="874966" y="4999184"/>
          <a:ext cx="3295999" cy="1095769"/>
        </p:xfrm>
        <a:graphic>
          <a:graphicData uri="http://schemas.openxmlformats.org/presentationml/2006/ole">
            <mc:AlternateContent xmlns:mc="http://schemas.openxmlformats.org/markup-compatibility/2006">
              <mc:Choice xmlns:v="urn:schemas-microsoft-com:vml" Requires="v">
                <p:oleObj spid="_x0000_s9260" r:id="rId4" imgW="1320165" imgH="419100" progId="Equation.3">
                  <p:embed/>
                </p:oleObj>
              </mc:Choice>
              <mc:Fallback>
                <p:oleObj r:id="rId4" imgW="1320165" imgH="419100" progId="Equation.3">
                  <p:embed/>
                  <p:pic>
                    <p:nvPicPr>
                      <p:cNvPr id="0" name="图片 3077"/>
                      <p:cNvPicPr/>
                      <p:nvPr/>
                    </p:nvPicPr>
                    <p:blipFill>
                      <a:blip r:embed="rId5"/>
                      <a:stretch>
                        <a:fillRect/>
                      </a:stretch>
                    </p:blipFill>
                    <p:spPr>
                      <a:xfrm>
                        <a:off x="874966" y="4999184"/>
                        <a:ext cx="3295999" cy="1095769"/>
                      </a:xfrm>
                      <a:prstGeom prst="rect">
                        <a:avLst/>
                      </a:prstGeom>
                      <a:noFill/>
                      <a:ln w="38100">
                        <a:noFill/>
                        <a:miter/>
                      </a:ln>
                    </p:spPr>
                  </p:pic>
                </p:oleObj>
              </mc:Fallback>
            </mc:AlternateContent>
          </a:graphicData>
        </a:graphic>
      </p:graphicFrame>
      <p:graphicFrame>
        <p:nvGraphicFramePr>
          <p:cNvPr id="18437" name="Object 6"/>
          <p:cNvGraphicFramePr/>
          <p:nvPr>
            <p:extLst>
              <p:ext uri="{D42A27DB-BD31-4B8C-83A1-F6EECF244321}">
                <p14:modId xmlns:p14="http://schemas.microsoft.com/office/powerpoint/2010/main" val="364342739"/>
              </p:ext>
            </p:extLst>
          </p:nvPr>
        </p:nvGraphicFramePr>
        <p:xfrm>
          <a:off x="1165981" y="2421597"/>
          <a:ext cx="2079357" cy="1054002"/>
        </p:xfrm>
        <a:graphic>
          <a:graphicData uri="http://schemas.openxmlformats.org/presentationml/2006/ole">
            <mc:AlternateContent xmlns:mc="http://schemas.openxmlformats.org/markup-compatibility/2006">
              <mc:Choice xmlns:v="urn:schemas-microsoft-com:vml" Requires="v">
                <p:oleObj spid="_x0000_s9261" r:id="rId6" imgW="812165" imgH="431800" progId="Equation.3">
                  <p:embed/>
                </p:oleObj>
              </mc:Choice>
              <mc:Fallback>
                <p:oleObj r:id="rId6" imgW="812165" imgH="431800" progId="Equation.3">
                  <p:embed/>
                  <p:pic>
                    <p:nvPicPr>
                      <p:cNvPr id="0" name="图片 3078"/>
                      <p:cNvPicPr/>
                      <p:nvPr/>
                    </p:nvPicPr>
                    <p:blipFill>
                      <a:blip r:embed="rId7"/>
                      <a:stretch>
                        <a:fillRect/>
                      </a:stretch>
                    </p:blipFill>
                    <p:spPr>
                      <a:xfrm>
                        <a:off x="1165981" y="2421597"/>
                        <a:ext cx="2079357" cy="1054002"/>
                      </a:xfrm>
                      <a:prstGeom prst="rect">
                        <a:avLst/>
                      </a:prstGeom>
                      <a:noFill/>
                      <a:ln w="38100">
                        <a:noFill/>
                        <a:miter/>
                      </a:ln>
                    </p:spPr>
                  </p:pic>
                </p:oleObj>
              </mc:Fallback>
            </mc:AlternateContent>
          </a:graphicData>
        </a:graphic>
      </p:graphicFrame>
      <p:sp>
        <p:nvSpPr>
          <p:cNvPr id="18438" name="AutoShape 7"/>
          <p:cNvSpPr/>
          <p:nvPr/>
        </p:nvSpPr>
        <p:spPr>
          <a:xfrm rot="5400000">
            <a:off x="1722069" y="4198287"/>
            <a:ext cx="1449393" cy="152400"/>
          </a:xfrm>
          <a:prstGeom prst="rightArrow">
            <a:avLst>
              <a:gd name="adj1" fmla="val 50000"/>
              <a:gd name="adj2" fmla="val 162500"/>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p:pic>
        <p:nvPicPr>
          <p:cNvPr id="2150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0896" y="2037174"/>
            <a:ext cx="6945799" cy="4648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8031" y="56925"/>
            <a:ext cx="9083675" cy="825098"/>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三、酶抑制剂作用的动力学</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27889" y="1246615"/>
            <a:ext cx="11540334" cy="4801314"/>
          </a:xfrm>
          <a:prstGeom prst="rect">
            <a:avLst/>
          </a:prstGeom>
          <a:noFill/>
        </p:spPr>
        <p:txBody>
          <a:bodyPr wrap="square" rtlCol="0" anchor="t">
            <a:spAutoFit/>
          </a:bodyPr>
          <a:lstStyle/>
          <a:p>
            <a:pPr marL="457200" indent="-457200">
              <a:lnSpc>
                <a:spcPct val="150000"/>
              </a:lnSpc>
              <a:buClr>
                <a:srgbClr val="000000"/>
              </a:buClr>
              <a:buFont typeface="+mj-lt"/>
              <a:buAutoNum type="arabicPeriod"/>
            </a:pPr>
            <a:r>
              <a:rPr lang="zh-CN" altLang="en-US" sz="3600" b="1" dirty="0">
                <a:latin typeface="微软雅黑" panose="020B0503020204020204" pitchFamily="34" charset="-122"/>
                <a:ea typeface="微软雅黑" panose="020B0503020204020204" pitchFamily="34" charset="-122"/>
                <a:sym typeface="+mn-ea"/>
              </a:rPr>
              <a:t>酶抑制剂的类型</a:t>
            </a:r>
            <a:endParaRPr lang="zh-CN" altLang="en-US" sz="3600" b="1" dirty="0">
              <a:latin typeface="微软雅黑" panose="020B0503020204020204" pitchFamily="34" charset="-122"/>
              <a:ea typeface="微软雅黑" panose="020B0503020204020204" pitchFamily="34" charset="-122"/>
            </a:endParaRPr>
          </a:p>
          <a:p>
            <a:pPr marL="285750" indent="-285750">
              <a:lnSpc>
                <a:spcPct val="150000"/>
              </a:lnSpc>
              <a:buClr>
                <a:srgbClr val="000000"/>
              </a:buClr>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可逆性抑制剂</a:t>
            </a:r>
            <a:r>
              <a:rPr lang="zh-CN" altLang="en-US" sz="2800" b="1" dirty="0">
                <a:latin typeface="微软雅黑" panose="020B0503020204020204" pitchFamily="34" charset="-122"/>
                <a:ea typeface="微软雅黑" panose="020B0503020204020204" pitchFamily="34" charset="-122"/>
                <a:sym typeface="+mn-ea"/>
              </a:rPr>
              <a:t>。</a:t>
            </a:r>
            <a:r>
              <a:rPr lang="zh-CN" altLang="zh-CN" sz="2800" dirty="0">
                <a:latin typeface="微软雅黑" panose="020B0503020204020204" pitchFamily="34" charset="-122"/>
                <a:ea typeface="微软雅黑" panose="020B0503020204020204" pitchFamily="34" charset="-122"/>
                <a:sym typeface="+mn-ea"/>
              </a:rPr>
              <a:t>以</a:t>
            </a:r>
            <a:r>
              <a:rPr lang="zh-CN" altLang="zh-CN" sz="2800" dirty="0">
                <a:solidFill>
                  <a:srgbClr val="FF0000"/>
                </a:solidFill>
                <a:latin typeface="微软雅黑" panose="020B0503020204020204" pitchFamily="34" charset="-122"/>
                <a:ea typeface="微软雅黑" panose="020B0503020204020204" pitchFamily="34" charset="-122"/>
                <a:sym typeface="+mn-ea"/>
              </a:rPr>
              <a:t>次级键</a:t>
            </a:r>
            <a:r>
              <a:rPr lang="zh-CN" altLang="zh-CN" sz="2800" dirty="0">
                <a:latin typeface="微软雅黑" panose="020B0503020204020204" pitchFamily="34" charset="-122"/>
                <a:ea typeface="微软雅黑" panose="020B0503020204020204" pitchFamily="34" charset="-122"/>
                <a:sym typeface="+mn-ea"/>
              </a:rPr>
              <a:t>与酶可逆结合</a:t>
            </a:r>
            <a:r>
              <a:rPr lang="zh-CN" altLang="en-US" sz="2800" dirty="0">
                <a:latin typeface="微软雅黑" panose="020B0503020204020204" pitchFamily="34" charset="-122"/>
                <a:ea typeface="微软雅黑" panose="020B0503020204020204" pitchFamily="34" charset="-122"/>
                <a:sym typeface="+mn-ea"/>
              </a:rPr>
              <a:t>，</a:t>
            </a:r>
            <a:r>
              <a:rPr lang="zh-CN" altLang="zh-CN" sz="2800" dirty="0">
                <a:latin typeface="微软雅黑" panose="020B0503020204020204" pitchFamily="34" charset="-122"/>
                <a:ea typeface="微软雅黑" panose="020B0503020204020204" pitchFamily="34" charset="-122"/>
                <a:sym typeface="+mn-ea"/>
              </a:rPr>
              <a:t>使用透析或超滤就可去除它们，让酶恢复活性（</a:t>
            </a:r>
            <a:r>
              <a:rPr lang="zh-CN" altLang="zh-CN" sz="2800" b="1" dirty="0">
                <a:solidFill>
                  <a:srgbClr val="FF0000"/>
                </a:solidFill>
                <a:latin typeface="微软雅黑" panose="020B0503020204020204" pitchFamily="34" charset="-122"/>
                <a:ea typeface="微软雅黑" panose="020B0503020204020204" pitchFamily="34" charset="-122"/>
                <a:sym typeface="+mn-ea"/>
              </a:rPr>
              <a:t>竞争性</a:t>
            </a:r>
            <a:r>
              <a:rPr lang="zh-CN" altLang="zh-CN" sz="2800" b="1" dirty="0" smtClean="0">
                <a:solidFill>
                  <a:srgbClr val="FF0000"/>
                </a:solidFill>
                <a:latin typeface="微软雅黑" panose="020B0503020204020204" pitchFamily="34" charset="-122"/>
                <a:ea typeface="微软雅黑" panose="020B0503020204020204" pitchFamily="34" charset="-122"/>
                <a:sym typeface="+mn-ea"/>
              </a:rPr>
              <a:t>，</a:t>
            </a:r>
            <a:r>
              <a:rPr lang="zh-CN" altLang="en-US" sz="2800" b="1" dirty="0">
                <a:solidFill>
                  <a:srgbClr val="FF0000"/>
                </a:solidFill>
                <a:latin typeface="微软雅黑" panose="020B0503020204020204" pitchFamily="34" charset="-122"/>
                <a:ea typeface="微软雅黑" panose="020B0503020204020204" pitchFamily="34" charset="-122"/>
                <a:sym typeface="+mn-ea"/>
              </a:rPr>
              <a:t>非</a:t>
            </a:r>
            <a:r>
              <a:rPr lang="zh-CN" altLang="en-US" sz="2800" b="1" dirty="0" smtClean="0">
                <a:solidFill>
                  <a:srgbClr val="FF0000"/>
                </a:solidFill>
                <a:latin typeface="微软雅黑" panose="020B0503020204020204" pitchFamily="34" charset="-122"/>
                <a:ea typeface="微软雅黑" panose="020B0503020204020204" pitchFamily="34" charset="-122"/>
                <a:sym typeface="+mn-ea"/>
              </a:rPr>
              <a:t>竞争性</a:t>
            </a:r>
            <a:r>
              <a:rPr lang="zh-CN" altLang="en-US" sz="2800" b="1" dirty="0">
                <a:solidFill>
                  <a:srgbClr val="FF0000"/>
                </a:solidFill>
                <a:latin typeface="微软雅黑" panose="020B0503020204020204" pitchFamily="34" charset="-122"/>
                <a:ea typeface="微软雅黑" panose="020B0503020204020204" pitchFamily="34" charset="-122"/>
                <a:sym typeface="+mn-ea"/>
              </a:rPr>
              <a:t>，</a:t>
            </a:r>
            <a:r>
              <a:rPr lang="zh-CN" altLang="zh-CN" sz="2800" b="1" dirty="0" smtClean="0">
                <a:solidFill>
                  <a:srgbClr val="FF0000"/>
                </a:solidFill>
                <a:latin typeface="微软雅黑" panose="020B0503020204020204" pitchFamily="34" charset="-122"/>
                <a:ea typeface="微软雅黑" panose="020B0503020204020204" pitchFamily="34" charset="-122"/>
                <a:sym typeface="+mn-ea"/>
              </a:rPr>
              <a:t>反竞争性</a:t>
            </a:r>
            <a:r>
              <a:rPr lang="zh-CN" altLang="zh-CN" sz="2800" dirty="0" smtClean="0">
                <a:latin typeface="微软雅黑" panose="020B0503020204020204" pitchFamily="34" charset="-122"/>
                <a:ea typeface="微软雅黑" panose="020B0503020204020204" pitchFamily="34" charset="-122"/>
                <a:sym typeface="+mn-ea"/>
              </a:rPr>
              <a:t>）</a:t>
            </a:r>
            <a:endParaRPr lang="zh-CN" altLang="zh-CN" sz="2800" dirty="0">
              <a:latin typeface="微软雅黑" panose="020B0503020204020204" pitchFamily="34" charset="-122"/>
              <a:ea typeface="微软雅黑" panose="020B0503020204020204" pitchFamily="34" charset="-122"/>
              <a:sym typeface="+mn-ea"/>
            </a:endParaRPr>
          </a:p>
          <a:p>
            <a:pPr marL="285750" indent="-285750">
              <a:lnSpc>
                <a:spcPct val="150000"/>
              </a:lnSpc>
              <a:buClr>
                <a:srgbClr val="000000"/>
              </a:buClr>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不可逆性抑制剂</a:t>
            </a:r>
            <a:r>
              <a:rPr lang="zh-CN" altLang="en-US" sz="2800" b="1" dirty="0">
                <a:latin typeface="微软雅黑" panose="020B0503020204020204" pitchFamily="34" charset="-122"/>
                <a:ea typeface="微软雅黑" panose="020B0503020204020204" pitchFamily="34" charset="-122"/>
                <a:sym typeface="+mn-ea"/>
              </a:rPr>
              <a:t>。</a:t>
            </a:r>
            <a:r>
              <a:rPr lang="zh-CN" altLang="zh-CN" sz="2800" dirty="0">
                <a:latin typeface="微软雅黑" panose="020B0503020204020204" pitchFamily="34" charset="-122"/>
                <a:ea typeface="微软雅黑" panose="020B0503020204020204" pitchFamily="34" charset="-122"/>
                <a:sym typeface="+mn-ea"/>
              </a:rPr>
              <a:t>也被称为酶灭活剂，以</a:t>
            </a:r>
            <a:r>
              <a:rPr lang="zh-CN" altLang="zh-CN" sz="2800" dirty="0">
                <a:solidFill>
                  <a:srgbClr val="FF0000"/>
                </a:solidFill>
                <a:latin typeface="微软雅黑" panose="020B0503020204020204" pitchFamily="34" charset="-122"/>
                <a:ea typeface="微软雅黑" panose="020B0503020204020204" pitchFamily="34" charset="-122"/>
                <a:sym typeface="+mn-ea"/>
              </a:rPr>
              <a:t>强的化学键（通常是共价键）</a:t>
            </a:r>
            <a:r>
              <a:rPr lang="zh-CN" altLang="zh-CN" sz="2800" dirty="0">
                <a:latin typeface="微软雅黑" panose="020B0503020204020204" pitchFamily="34" charset="-122"/>
                <a:ea typeface="微软雅黑" panose="020B0503020204020204" pitchFamily="34" charset="-122"/>
                <a:sym typeface="+mn-ea"/>
              </a:rPr>
              <a:t>与酶不可逆结合，</a:t>
            </a:r>
            <a:r>
              <a:rPr lang="zh-CN" altLang="en-US" sz="2800" dirty="0">
                <a:latin typeface="微软雅黑" panose="020B0503020204020204" pitchFamily="34" charset="-122"/>
                <a:ea typeface="微软雅黑" panose="020B0503020204020204" pitchFamily="34" charset="-122"/>
                <a:sym typeface="+mn-ea"/>
              </a:rPr>
              <a:t>可</a:t>
            </a:r>
            <a:r>
              <a:rPr lang="zh-CN" altLang="zh-CN" sz="2800" dirty="0">
                <a:latin typeface="微软雅黑" panose="020B0503020204020204" pitchFamily="34" charset="-122"/>
                <a:ea typeface="微软雅黑" panose="020B0503020204020204" pitchFamily="34" charset="-122"/>
                <a:sym typeface="+mn-ea"/>
              </a:rPr>
              <a:t>导致酶有效浓度的降低，因此一旦失活就不可逆转。如果想恢复酶的活性，唯一的手段只能是补充新酶。</a:t>
            </a:r>
            <a:endParaRPr lang="zh-CN" altLang="en-US" sz="280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Font typeface="Arial" panose="020B0604020202020204" pitchFamily="34" charset="0"/>
              <a:buChar char="•"/>
            </a:pP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559" y="248256"/>
            <a:ext cx="9953625" cy="589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84959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20482" y="27222"/>
            <a:ext cx="9637395" cy="743986"/>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（一）竞争性抑制Competitive inhibition</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2"/>
          <a:srcRect l="7920" b="62933"/>
          <a:stretch/>
        </p:blipFill>
        <p:spPr>
          <a:xfrm>
            <a:off x="1383543" y="1021080"/>
            <a:ext cx="9511272" cy="4329222"/>
          </a:xfrm>
          <a:prstGeom prst="rect">
            <a:avLst/>
          </a:prstGeom>
          <a:ln>
            <a:solidFill>
              <a:schemeClr val="tx1"/>
            </a:solidFill>
          </a:ln>
        </p:spPr>
      </p:pic>
      <p:sp>
        <p:nvSpPr>
          <p:cNvPr id="8" name="文本框 7"/>
          <p:cNvSpPr txBox="1"/>
          <p:nvPr/>
        </p:nvSpPr>
        <p:spPr>
          <a:xfrm>
            <a:off x="372793" y="5350302"/>
            <a:ext cx="11711176" cy="73866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solidFill>
                  <a:srgbClr val="FF0000"/>
                </a:solidFill>
                <a:latin typeface="微软雅黑" panose="020B0503020204020204" pitchFamily="34" charset="-122"/>
                <a:ea typeface="微软雅黑" panose="020B0503020204020204" pitchFamily="34" charset="-122"/>
              </a:rPr>
              <a:t>抑制剂</a:t>
            </a:r>
            <a:r>
              <a:rPr lang="zh-CN" altLang="en-US" sz="2800" dirty="0">
                <a:latin typeface="微软雅黑" panose="020B0503020204020204" pitchFamily="34" charset="-122"/>
                <a:ea typeface="微软雅黑" panose="020B0503020204020204" pitchFamily="34" charset="-122"/>
              </a:rPr>
              <a:t>与</a:t>
            </a:r>
            <a:r>
              <a:rPr lang="zh-CN" altLang="en-US" sz="2800" dirty="0">
                <a:solidFill>
                  <a:srgbClr val="FF0000"/>
                </a:solidFill>
                <a:latin typeface="微软雅黑" panose="020B0503020204020204" pitchFamily="34" charset="-122"/>
                <a:ea typeface="微软雅黑" panose="020B0503020204020204" pitchFamily="34" charset="-122"/>
              </a:rPr>
              <a:t>酶的活性位点</a:t>
            </a:r>
            <a:r>
              <a:rPr lang="zh-CN" altLang="en-US" sz="2800" dirty="0">
                <a:latin typeface="微软雅黑" panose="020B0503020204020204" pitchFamily="34" charset="-122"/>
                <a:ea typeface="微软雅黑" panose="020B0503020204020204" pitchFamily="34" charset="-122"/>
              </a:rPr>
              <a:t>结合，K</a:t>
            </a:r>
            <a:r>
              <a:rPr lang="zh-CN" altLang="en-US" sz="2800" baseline="-25000" dirty="0">
                <a:latin typeface="微软雅黑" panose="020B0503020204020204" pitchFamily="34" charset="-122"/>
                <a:ea typeface="微软雅黑" panose="020B0503020204020204" pitchFamily="34" charset="-122"/>
              </a:rPr>
              <a:t>I </a:t>
            </a:r>
            <a:r>
              <a:rPr lang="zh-CN" altLang="en-US" sz="2800" dirty="0">
                <a:latin typeface="微软雅黑" panose="020B0503020204020204" pitchFamily="34" charset="-122"/>
                <a:ea typeface="微软雅黑" panose="020B0503020204020204" pitchFamily="34" charset="-122"/>
              </a:rPr>
              <a:t>是抑制剂与酶结合的平衡</a:t>
            </a:r>
            <a:r>
              <a:rPr lang="zh-CN" altLang="en-US" sz="2800" b="1" dirty="0">
                <a:latin typeface="微软雅黑" panose="020B0503020204020204" pitchFamily="34" charset="-122"/>
                <a:ea typeface="微软雅黑" panose="020B0503020204020204" pitchFamily="34" charset="-122"/>
              </a:rPr>
              <a:t>解离常数</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469" y="166255"/>
            <a:ext cx="9918836" cy="590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7"/>
          <p:cNvSpPr>
            <a:spLocks noChangeArrowheads="1"/>
          </p:cNvSpPr>
          <p:nvPr/>
        </p:nvSpPr>
        <p:spPr bwMode="auto">
          <a:xfrm>
            <a:off x="3781498" y="6205210"/>
            <a:ext cx="4493538" cy="52322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800" dirty="0">
                <a:solidFill>
                  <a:schemeClr val="tx1"/>
                </a:solidFill>
                <a:ea typeface="楷体" pitchFamily="49" charset="-122"/>
              </a:rPr>
              <a:t>琥珀酸脱氢酶的竞争性抑制</a:t>
            </a:r>
          </a:p>
        </p:txBody>
      </p:sp>
    </p:spTree>
    <p:extLst>
      <p:ext uri="{BB962C8B-B14F-4D97-AF65-F5344CB8AC3E}">
        <p14:creationId xmlns:p14="http://schemas.microsoft.com/office/powerpoint/2010/main" val="590731557"/>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3"/>
          <a:srcRect l="3359" t="46582" r="5337" b="1941"/>
          <a:stretch/>
        </p:blipFill>
        <p:spPr>
          <a:xfrm>
            <a:off x="194053" y="0"/>
            <a:ext cx="6009977" cy="3831220"/>
          </a:xfrm>
          <a:prstGeom prst="rect">
            <a:avLst/>
          </a:prstGeom>
          <a:ln>
            <a:noFill/>
          </a:ln>
        </p:spPr>
      </p:pic>
      <p:pic>
        <p:nvPicPr>
          <p:cNvPr id="5" name="图片 4"/>
          <p:cNvPicPr>
            <a:picLocks noChangeAspect="1"/>
          </p:cNvPicPr>
          <p:nvPr/>
        </p:nvPicPr>
        <p:blipFill rotWithShape="1">
          <a:blip r:embed="rId4"/>
          <a:srcRect l="3437" t="1813" r="4262" b="924"/>
          <a:stretch/>
        </p:blipFill>
        <p:spPr>
          <a:xfrm>
            <a:off x="6570732" y="0"/>
            <a:ext cx="5621268" cy="6034954"/>
          </a:xfrm>
          <a:prstGeom prst="rect">
            <a:avLst/>
          </a:prstGeom>
          <a:ln>
            <a:noFill/>
          </a:ln>
        </p:spPr>
      </p:pic>
      <p:sp>
        <p:nvSpPr>
          <p:cNvPr id="6" name="文本框 7"/>
          <p:cNvSpPr txBox="1"/>
          <p:nvPr/>
        </p:nvSpPr>
        <p:spPr>
          <a:xfrm>
            <a:off x="372870" y="5940674"/>
            <a:ext cx="7206429" cy="661848"/>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b="1" dirty="0" smtClean="0">
                <a:latin typeface="微软雅黑" panose="020B0503020204020204" pitchFamily="34" charset="-122"/>
                <a:ea typeface="微软雅黑" panose="020B0503020204020204" pitchFamily="34" charset="-122"/>
              </a:rPr>
              <a:t>竞争性抑制</a:t>
            </a:r>
            <a:r>
              <a:rPr lang="zh-CN" altLang="en-US" sz="2800" b="1" dirty="0">
                <a:latin typeface="微软雅黑" panose="020B0503020204020204" pitchFamily="34" charset="-122"/>
                <a:ea typeface="微软雅黑" panose="020B0503020204020204" pitchFamily="34" charset="-122"/>
              </a:rPr>
              <a:t>剂影响</a:t>
            </a:r>
            <a:r>
              <a:rPr lang="en-US" altLang="zh-CN" sz="2800" b="1" dirty="0">
                <a:latin typeface="微软雅黑" panose="020B0503020204020204" pitchFamily="34" charset="-122"/>
                <a:ea typeface="微软雅黑" panose="020B0503020204020204" pitchFamily="34" charset="-122"/>
              </a:rPr>
              <a:t>K</a:t>
            </a:r>
            <a:r>
              <a:rPr lang="en-US" altLang="zh-CN" sz="2800" b="1" baseline="-25000" dirty="0">
                <a:latin typeface="微软雅黑" panose="020B0503020204020204" pitchFamily="34" charset="-122"/>
                <a:ea typeface="微软雅黑" panose="020B0503020204020204" pitchFamily="34" charset="-122"/>
              </a:rPr>
              <a:t>m</a:t>
            </a:r>
            <a:r>
              <a:rPr lang="en-US" altLang="zh-CN" sz="2800" b="1" dirty="0">
                <a:solidFill>
                  <a:srgbClr val="FF0000"/>
                </a:solidFill>
                <a:latin typeface="Arial" panose="020B0604020202020204" pitchFamily="34" charset="0"/>
                <a:ea typeface="微软雅黑" panose="020B0503020204020204" pitchFamily="34" charset="-122"/>
                <a:cs typeface="Arial" panose="020B0604020202020204" pitchFamily="34" charset="0"/>
              </a:rPr>
              <a:t>↑</a:t>
            </a:r>
            <a:r>
              <a:rPr lang="zh-CN" altLang="en-US" sz="2800" b="1" dirty="0">
                <a:latin typeface="微软雅黑" panose="020B0503020204020204" pitchFamily="34" charset="-122"/>
                <a:ea typeface="微软雅黑" panose="020B0503020204020204" pitchFamily="34" charset="-122"/>
              </a:rPr>
              <a:t>，但不影响 V</a:t>
            </a:r>
            <a:r>
              <a:rPr lang="zh-CN" altLang="en-US" sz="2800" b="1" baseline="-25000" dirty="0">
                <a:latin typeface="微软雅黑" panose="020B0503020204020204" pitchFamily="34" charset="-122"/>
                <a:ea typeface="微软雅黑" panose="020B0503020204020204" pitchFamily="34" charset="-122"/>
              </a:rPr>
              <a:t>max</a:t>
            </a:r>
            <a:r>
              <a:rPr lang="zh-CN" altLang="en-US" sz="2800" b="1" dirty="0">
                <a:latin typeface="微软雅黑" panose="020B0503020204020204" pitchFamily="34" charset="-122"/>
                <a:ea typeface="微软雅黑" panose="020B0503020204020204" pitchFamily="34" charset="-122"/>
              </a:rPr>
              <a:t>。</a:t>
            </a:r>
          </a:p>
        </p:txBody>
      </p:sp>
      <p:pic>
        <p:nvPicPr>
          <p:cNvPr id="7" name="图片 6"/>
          <p:cNvPicPr>
            <a:picLocks noChangeAspect="1"/>
          </p:cNvPicPr>
          <p:nvPr/>
        </p:nvPicPr>
        <p:blipFill rotWithShape="1">
          <a:blip r:embed="rId5"/>
          <a:srcRect l="6672" t="26255" r="8276" b="8193"/>
          <a:stretch/>
        </p:blipFill>
        <p:spPr>
          <a:xfrm>
            <a:off x="616564" y="4884514"/>
            <a:ext cx="2738536" cy="1018573"/>
          </a:xfrm>
          <a:prstGeom prst="rect">
            <a:avLst/>
          </a:prstGeom>
        </p:spPr>
      </p:pic>
      <p:pic>
        <p:nvPicPr>
          <p:cNvPr id="8" name="图片 7"/>
          <p:cNvPicPr>
            <a:picLocks noChangeAspect="1"/>
          </p:cNvPicPr>
          <p:nvPr/>
        </p:nvPicPr>
        <p:blipFill rotWithShape="1">
          <a:blip r:embed="rId6"/>
          <a:srcRect t="17575" b="11010"/>
          <a:stretch/>
        </p:blipFill>
        <p:spPr>
          <a:xfrm>
            <a:off x="372870" y="3831220"/>
            <a:ext cx="4934707" cy="1022439"/>
          </a:xfrm>
          <a:prstGeom prst="rect">
            <a:avLst/>
          </a:prstGeom>
        </p:spPr>
      </p:pic>
    </p:spTree>
    <p:extLst>
      <p:ext uri="{BB962C8B-B14F-4D97-AF65-F5344CB8AC3E}">
        <p14:creationId xmlns:p14="http://schemas.microsoft.com/office/powerpoint/2010/main" val="37311595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10243606" cy="830997"/>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a:t>
            </a:r>
            <a:r>
              <a:rPr lang="zh-CN" altLang="en-US" sz="32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）非竞争性抑制</a:t>
            </a:r>
            <a:r>
              <a:rPr lang="en-US" altLang="zh-CN" sz="32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non</a:t>
            </a:r>
            <a:r>
              <a:rPr lang="zh-CN" altLang="en-US" sz="32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competitive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inhibit</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ion</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1114739" y="1370731"/>
            <a:ext cx="6725898" cy="3339420"/>
            <a:chOff x="2057400" y="1783398"/>
            <a:chExt cx="4651375" cy="2045652"/>
          </a:xfrm>
        </p:grpSpPr>
        <p:graphicFrame>
          <p:nvGraphicFramePr>
            <p:cNvPr id="71" name="Object 4"/>
            <p:cNvGraphicFramePr>
              <a:graphicFrameLocks noChangeAspect="1"/>
            </p:cNvGraphicFramePr>
            <p:nvPr>
              <p:extLst>
                <p:ext uri="{D42A27DB-BD31-4B8C-83A1-F6EECF244321}">
                  <p14:modId xmlns:p14="http://schemas.microsoft.com/office/powerpoint/2010/main" val="1586746470"/>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1458"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 name="Object 30"/>
            <p:cNvGraphicFramePr>
              <a:graphicFrameLocks noChangeAspect="1"/>
            </p:cNvGraphicFramePr>
            <p:nvPr>
              <p:extLst>
                <p:ext uri="{D42A27DB-BD31-4B8C-83A1-F6EECF244321}">
                  <p14:modId xmlns:p14="http://schemas.microsoft.com/office/powerpoint/2010/main" val="675922520"/>
                </p:ext>
              </p:extLst>
            </p:nvPr>
          </p:nvGraphicFramePr>
          <p:xfrm>
            <a:off x="2130425" y="1889125"/>
            <a:ext cx="4578350" cy="495300"/>
          </p:xfrm>
          <a:graphic>
            <a:graphicData uri="http://schemas.openxmlformats.org/presentationml/2006/ole">
              <mc:AlternateContent xmlns:mc="http://schemas.openxmlformats.org/markup-compatibility/2006">
                <mc:Choice xmlns:v="urn:schemas-microsoft-com:vml" Requires="v">
                  <p:oleObj spid="_x0000_s11459" name="Equation" r:id="rId5" imgW="1993035" imgH="215806" progId="Equation.3">
                    <p:embed/>
                  </p:oleObj>
                </mc:Choice>
                <mc:Fallback>
                  <p:oleObj name="Equation" r:id="rId5" imgW="1993035" imgH="21580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0425" y="1889125"/>
                          <a:ext cx="4578350" cy="495300"/>
                        </a:xfrm>
                        <a:prstGeom prst="rect">
                          <a:avLst/>
                        </a:prstGeom>
                        <a:noFill/>
                        <a:ln>
                          <a:noFill/>
                        </a:ln>
                        <a:effectLst/>
                      </p:spPr>
                    </p:pic>
                  </p:oleObj>
                </mc:Fallback>
              </mc:AlternateContent>
            </a:graphicData>
          </a:graphic>
        </p:graphicFrame>
        <p:grpSp>
          <p:nvGrpSpPr>
            <p:cNvPr id="74" name="Group 61"/>
            <p:cNvGrpSpPr>
              <a:grpSpLocks/>
            </p:cNvGrpSpPr>
            <p:nvPr/>
          </p:nvGrpSpPr>
          <p:grpSpPr bwMode="auto">
            <a:xfrm>
              <a:off x="3273425" y="2133600"/>
              <a:ext cx="762000" cy="76200"/>
              <a:chOff x="2062" y="1344"/>
              <a:chExt cx="480" cy="48"/>
            </a:xfrm>
          </p:grpSpPr>
          <p:sp>
            <p:nvSpPr>
              <p:cNvPr id="75" name="Line 31"/>
              <p:cNvSpPr>
                <a:spLocks noChangeShapeType="1"/>
              </p:cNvSpPr>
              <p:nvPr/>
            </p:nvSpPr>
            <p:spPr bwMode="auto">
              <a:xfrm>
                <a:off x="2062" y="1344"/>
                <a:ext cx="4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32"/>
              <p:cNvSpPr>
                <a:spLocks noChangeShapeType="1"/>
              </p:cNvSpPr>
              <p:nvPr/>
            </p:nvSpPr>
            <p:spPr bwMode="auto">
              <a:xfrm flipH="1">
                <a:off x="2062" y="1392"/>
                <a:ext cx="4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7" name="Text Box 33"/>
            <p:cNvSpPr txBox="1">
              <a:spLocks noChangeArrowheads="1"/>
            </p:cNvSpPr>
            <p:nvPr/>
          </p:nvSpPr>
          <p:spPr bwMode="auto">
            <a:xfrm>
              <a:off x="3464166" y="1783398"/>
              <a:ext cx="358293" cy="32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dirty="0">
                  <a:solidFill>
                    <a:schemeClr val="accent2"/>
                  </a:solidFill>
                  <a:latin typeface="Arial" charset="0"/>
                  <a:ea typeface="宋体" charset="-122"/>
                </a:rPr>
                <a:t>k</a:t>
              </a:r>
              <a:r>
                <a:rPr lang="en-US" altLang="zh-CN" sz="2800" b="1" i="1" baseline="-25000" dirty="0">
                  <a:solidFill>
                    <a:schemeClr val="accent2"/>
                  </a:solidFill>
                  <a:latin typeface="Arial" charset="0"/>
                  <a:ea typeface="宋体" charset="-122"/>
                </a:rPr>
                <a:t>1</a:t>
              </a:r>
            </a:p>
          </p:txBody>
        </p:sp>
        <p:sp>
          <p:nvSpPr>
            <p:cNvPr id="78" name="Text Box 34"/>
            <p:cNvSpPr txBox="1">
              <a:spLocks noChangeArrowheads="1"/>
            </p:cNvSpPr>
            <p:nvPr/>
          </p:nvSpPr>
          <p:spPr bwMode="auto">
            <a:xfrm>
              <a:off x="3428515" y="2209800"/>
              <a:ext cx="413721" cy="32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dirty="0">
                  <a:solidFill>
                    <a:schemeClr val="accent2"/>
                  </a:solidFill>
                  <a:latin typeface="Arial" charset="0"/>
                  <a:ea typeface="宋体" charset="-122"/>
                </a:rPr>
                <a:t>k</a:t>
              </a:r>
              <a:r>
                <a:rPr lang="en-US" altLang="zh-CN" sz="2800" b="1" i="1" baseline="-25000" dirty="0">
                  <a:solidFill>
                    <a:schemeClr val="accent2"/>
                  </a:solidFill>
                  <a:latin typeface="Arial" charset="0"/>
                  <a:ea typeface="宋体" charset="-122"/>
                </a:rPr>
                <a:t>-1</a:t>
              </a:r>
            </a:p>
          </p:txBody>
        </p:sp>
        <p:sp>
          <p:nvSpPr>
            <p:cNvPr id="79" name="Line 35"/>
            <p:cNvSpPr>
              <a:spLocks noChangeShapeType="1"/>
            </p:cNvSpPr>
            <p:nvPr/>
          </p:nvSpPr>
          <p:spPr bwMode="auto">
            <a:xfrm>
              <a:off x="4846638" y="2162175"/>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0" name="Text Box 36"/>
            <p:cNvSpPr txBox="1">
              <a:spLocks noChangeArrowheads="1"/>
            </p:cNvSpPr>
            <p:nvPr/>
          </p:nvSpPr>
          <p:spPr bwMode="auto">
            <a:xfrm>
              <a:off x="5062713" y="1788054"/>
              <a:ext cx="358293" cy="32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dirty="0">
                  <a:solidFill>
                    <a:schemeClr val="accent2"/>
                  </a:solidFill>
                  <a:latin typeface="Arial" charset="0"/>
                  <a:ea typeface="宋体" charset="-122"/>
                </a:rPr>
                <a:t>k</a:t>
              </a:r>
              <a:r>
                <a:rPr lang="en-US" altLang="zh-CN" sz="2800" b="1" i="1" baseline="-25000" dirty="0">
                  <a:solidFill>
                    <a:schemeClr val="accent2"/>
                  </a:solidFill>
                  <a:latin typeface="Arial" charset="0"/>
                  <a:ea typeface="宋体" charset="-122"/>
                </a:rPr>
                <a:t>2</a:t>
              </a:r>
            </a:p>
          </p:txBody>
        </p:sp>
        <p:graphicFrame>
          <p:nvGraphicFramePr>
            <p:cNvPr id="81" name="Object 37"/>
            <p:cNvGraphicFramePr>
              <a:graphicFrameLocks noChangeAspect="1"/>
            </p:cNvGraphicFramePr>
            <p:nvPr>
              <p:extLst>
                <p:ext uri="{D42A27DB-BD31-4B8C-83A1-F6EECF244321}">
                  <p14:modId xmlns:p14="http://schemas.microsoft.com/office/powerpoint/2010/main" val="549159408"/>
                </p:ext>
              </p:extLst>
            </p:nvPr>
          </p:nvGraphicFramePr>
          <p:xfrm>
            <a:off x="2057400" y="3429000"/>
            <a:ext cx="496888" cy="381000"/>
          </p:xfrm>
          <a:graphic>
            <a:graphicData uri="http://schemas.openxmlformats.org/presentationml/2006/ole">
              <mc:AlternateContent xmlns:mc="http://schemas.openxmlformats.org/markup-compatibility/2006">
                <mc:Choice xmlns:v="urn:schemas-microsoft-com:vml" Requires="v">
                  <p:oleObj spid="_x0000_s11460" name="Equation" r:id="rId7" imgW="215619" imgH="164885" progId="Equation.3">
                    <p:embed/>
                  </p:oleObj>
                </mc:Choice>
                <mc:Fallback>
                  <p:oleObj name="Equation" r:id="rId7" imgW="215619" imgH="16488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3429000"/>
                          <a:ext cx="496888"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 name="Group 38"/>
            <p:cNvGrpSpPr>
              <a:grpSpLocks/>
            </p:cNvGrpSpPr>
            <p:nvPr/>
          </p:nvGrpSpPr>
          <p:grpSpPr bwMode="auto">
            <a:xfrm>
              <a:off x="2247900" y="2971800"/>
              <a:ext cx="63500" cy="482600"/>
              <a:chOff x="1416" y="1544"/>
              <a:chExt cx="40" cy="304"/>
            </a:xfrm>
          </p:grpSpPr>
          <p:sp>
            <p:nvSpPr>
              <p:cNvPr id="83" name="Line 39"/>
              <p:cNvSpPr>
                <a:spLocks noChangeShapeType="1"/>
              </p:cNvSpPr>
              <p:nvPr/>
            </p:nvSpPr>
            <p:spPr bwMode="auto">
              <a:xfrm flipH="1">
                <a:off x="1416" y="1560"/>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 name="Line 40"/>
              <p:cNvSpPr>
                <a:spLocks noChangeShapeType="1"/>
              </p:cNvSpPr>
              <p:nvPr/>
            </p:nvSpPr>
            <p:spPr bwMode="auto">
              <a:xfrm flipH="1" flipV="1">
                <a:off x="1456" y="1544"/>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85" name="Object 41"/>
            <p:cNvGraphicFramePr>
              <a:graphicFrameLocks noChangeAspect="1"/>
            </p:cNvGraphicFramePr>
            <p:nvPr>
              <p:extLst>
                <p:ext uri="{D42A27DB-BD31-4B8C-83A1-F6EECF244321}">
                  <p14:modId xmlns:p14="http://schemas.microsoft.com/office/powerpoint/2010/main" val="2585646723"/>
                </p:ext>
              </p:extLst>
            </p:nvPr>
          </p:nvGraphicFramePr>
          <p:xfrm>
            <a:off x="2159000" y="2286000"/>
            <a:ext cx="304800" cy="304800"/>
          </p:xfrm>
          <a:graphic>
            <a:graphicData uri="http://schemas.openxmlformats.org/presentationml/2006/ole">
              <mc:AlternateContent xmlns:mc="http://schemas.openxmlformats.org/markup-compatibility/2006">
                <mc:Choice xmlns:v="urn:schemas-microsoft-com:vml" Requires="v">
                  <p:oleObj spid="_x0000_s11461" name="Equation" r:id="rId9" imgW="139700" imgH="139700" progId="Equation.3">
                    <p:embed/>
                  </p:oleObj>
                </mc:Choice>
                <mc:Fallback>
                  <p:oleObj name="Equation" r:id="rId9" imgW="139700" imgH="139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59000" y="22860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 name="Object 42"/>
            <p:cNvGraphicFramePr>
              <a:graphicFrameLocks noChangeAspect="1"/>
            </p:cNvGraphicFramePr>
            <p:nvPr>
              <p:extLst>
                <p:ext uri="{D42A27DB-BD31-4B8C-83A1-F6EECF244321}">
                  <p14:modId xmlns:p14="http://schemas.microsoft.com/office/powerpoint/2010/main" val="2286264234"/>
                </p:ext>
              </p:extLst>
            </p:nvPr>
          </p:nvGraphicFramePr>
          <p:xfrm>
            <a:off x="2133600" y="2590800"/>
            <a:ext cx="268288" cy="347663"/>
          </p:xfrm>
          <a:graphic>
            <a:graphicData uri="http://schemas.openxmlformats.org/presentationml/2006/ole">
              <mc:AlternateContent xmlns:mc="http://schemas.openxmlformats.org/markup-compatibility/2006">
                <mc:Choice xmlns:v="urn:schemas-microsoft-com:vml" Requires="v">
                  <p:oleObj spid="_x0000_s11462" name="Equation" r:id="rId11" imgW="126780" imgH="164814" progId="Equation.3">
                    <p:embed/>
                  </p:oleObj>
                </mc:Choice>
                <mc:Fallback>
                  <p:oleObj name="Equation" r:id="rId11" imgW="126780" imgH="164814"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2590800"/>
                          <a:ext cx="268288"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 name="Text Box 44"/>
            <p:cNvSpPr txBox="1">
              <a:spLocks noChangeArrowheads="1"/>
            </p:cNvSpPr>
            <p:nvPr/>
          </p:nvSpPr>
          <p:spPr bwMode="auto">
            <a:xfrm>
              <a:off x="2300126" y="3057525"/>
              <a:ext cx="352749" cy="32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a:solidFill>
                    <a:schemeClr val="accent2"/>
                  </a:solidFill>
                  <a:latin typeface="Arial" charset="0"/>
                  <a:ea typeface="宋体" charset="-122"/>
                </a:rPr>
                <a:t>K</a:t>
              </a:r>
              <a:r>
                <a:rPr lang="en-US" altLang="zh-CN" sz="2800" b="1" i="1" baseline="-25000">
                  <a:solidFill>
                    <a:schemeClr val="accent2"/>
                  </a:solidFill>
                  <a:latin typeface="Arial" charset="0"/>
                  <a:ea typeface="宋体" charset="-122"/>
                </a:rPr>
                <a:t>I</a:t>
              </a:r>
            </a:p>
          </p:txBody>
        </p:sp>
        <p:graphicFrame>
          <p:nvGraphicFramePr>
            <p:cNvPr id="89" name="Object 53"/>
            <p:cNvGraphicFramePr>
              <a:graphicFrameLocks noChangeAspect="1"/>
            </p:cNvGraphicFramePr>
            <p:nvPr>
              <p:extLst>
                <p:ext uri="{D42A27DB-BD31-4B8C-83A1-F6EECF244321}">
                  <p14:modId xmlns:p14="http://schemas.microsoft.com/office/powerpoint/2010/main" val="3525558410"/>
                </p:ext>
              </p:extLst>
            </p:nvPr>
          </p:nvGraphicFramePr>
          <p:xfrm>
            <a:off x="4191000" y="2286000"/>
            <a:ext cx="304800" cy="304800"/>
          </p:xfrm>
          <a:graphic>
            <a:graphicData uri="http://schemas.openxmlformats.org/presentationml/2006/ole">
              <mc:AlternateContent xmlns:mc="http://schemas.openxmlformats.org/markup-compatibility/2006">
                <mc:Choice xmlns:v="urn:schemas-microsoft-com:vml" Requires="v">
                  <p:oleObj spid="_x0000_s11463" name="Equation" r:id="rId13" imgW="139700" imgH="139700" progId="Equation.3">
                    <p:embed/>
                  </p:oleObj>
                </mc:Choice>
                <mc:Fallback>
                  <p:oleObj name="Equation" r:id="rId13" imgW="139700" imgH="139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22860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 name="Object 54"/>
            <p:cNvGraphicFramePr>
              <a:graphicFrameLocks noChangeAspect="1"/>
            </p:cNvGraphicFramePr>
            <p:nvPr>
              <p:extLst>
                <p:ext uri="{D42A27DB-BD31-4B8C-83A1-F6EECF244321}">
                  <p14:modId xmlns:p14="http://schemas.microsoft.com/office/powerpoint/2010/main" val="309203476"/>
                </p:ext>
              </p:extLst>
            </p:nvPr>
          </p:nvGraphicFramePr>
          <p:xfrm>
            <a:off x="4191000" y="2514600"/>
            <a:ext cx="268288" cy="347663"/>
          </p:xfrm>
          <a:graphic>
            <a:graphicData uri="http://schemas.openxmlformats.org/presentationml/2006/ole">
              <mc:AlternateContent xmlns:mc="http://schemas.openxmlformats.org/markup-compatibility/2006">
                <mc:Choice xmlns:v="urn:schemas-microsoft-com:vml" Requires="v">
                  <p:oleObj spid="_x0000_s11464" name="Equation" r:id="rId14" imgW="126780" imgH="164814" progId="Equation.3">
                    <p:embed/>
                  </p:oleObj>
                </mc:Choice>
                <mc:Fallback>
                  <p:oleObj name="Equation" r:id="rId14" imgW="126780" imgH="164814"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000" y="2514600"/>
                          <a:ext cx="268288"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1" name="Group 55"/>
            <p:cNvGrpSpPr>
              <a:grpSpLocks/>
            </p:cNvGrpSpPr>
            <p:nvPr/>
          </p:nvGrpSpPr>
          <p:grpSpPr bwMode="auto">
            <a:xfrm>
              <a:off x="4267200" y="2882900"/>
              <a:ext cx="63500" cy="482600"/>
              <a:chOff x="1416" y="1544"/>
              <a:chExt cx="40" cy="304"/>
            </a:xfrm>
          </p:grpSpPr>
          <p:sp>
            <p:nvSpPr>
              <p:cNvPr id="92" name="Line 56"/>
              <p:cNvSpPr>
                <a:spLocks noChangeShapeType="1"/>
              </p:cNvSpPr>
              <p:nvPr/>
            </p:nvSpPr>
            <p:spPr bwMode="auto">
              <a:xfrm flipH="1">
                <a:off x="1416" y="1560"/>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3" name="Line 57"/>
              <p:cNvSpPr>
                <a:spLocks noChangeShapeType="1"/>
              </p:cNvSpPr>
              <p:nvPr/>
            </p:nvSpPr>
            <p:spPr bwMode="auto">
              <a:xfrm flipH="1" flipV="1">
                <a:off x="1456" y="1544"/>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94" name="Object 58"/>
            <p:cNvGraphicFramePr>
              <a:graphicFrameLocks noChangeAspect="1"/>
            </p:cNvGraphicFramePr>
            <p:nvPr>
              <p:extLst>
                <p:ext uri="{D42A27DB-BD31-4B8C-83A1-F6EECF244321}">
                  <p14:modId xmlns:p14="http://schemas.microsoft.com/office/powerpoint/2010/main" val="15427699"/>
                </p:ext>
              </p:extLst>
            </p:nvPr>
          </p:nvGraphicFramePr>
          <p:xfrm>
            <a:off x="4025457" y="3405980"/>
            <a:ext cx="642937" cy="411163"/>
          </p:xfrm>
          <a:graphic>
            <a:graphicData uri="http://schemas.openxmlformats.org/presentationml/2006/ole">
              <mc:AlternateContent xmlns:mc="http://schemas.openxmlformats.org/markup-compatibility/2006">
                <mc:Choice xmlns:v="urn:schemas-microsoft-com:vml" Requires="v">
                  <p:oleObj spid="_x0000_s11465" name="Equation" r:id="rId15" imgW="279158" imgH="177646" progId="Equation.3">
                    <p:embed/>
                  </p:oleObj>
                </mc:Choice>
                <mc:Fallback>
                  <p:oleObj name="Equation" r:id="rId15" imgW="279158" imgH="177646"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25457" y="3405980"/>
                          <a:ext cx="64293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 name="Text Box 59"/>
            <p:cNvSpPr txBox="1">
              <a:spLocks noChangeArrowheads="1"/>
            </p:cNvSpPr>
            <p:nvPr/>
          </p:nvSpPr>
          <p:spPr bwMode="auto">
            <a:xfrm>
              <a:off x="4330700" y="2997430"/>
              <a:ext cx="398201" cy="32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a:solidFill>
                    <a:schemeClr val="accent2"/>
                  </a:solidFill>
                  <a:latin typeface="Arial" charset="0"/>
                  <a:ea typeface="宋体" charset="-122"/>
                </a:rPr>
                <a:t>K</a:t>
              </a:r>
              <a:r>
                <a:rPr lang="en-US" altLang="zh-CN" sz="2800" b="1" i="1" baseline="-25000">
                  <a:solidFill>
                    <a:schemeClr val="accent2"/>
                  </a:solidFill>
                  <a:latin typeface="Arial" charset="0"/>
                  <a:ea typeface="宋体" charset="-122"/>
                </a:rPr>
                <a:t>I’</a:t>
              </a:r>
            </a:p>
          </p:txBody>
        </p:sp>
        <p:grpSp>
          <p:nvGrpSpPr>
            <p:cNvPr id="96" name="Group 62"/>
            <p:cNvGrpSpPr>
              <a:grpSpLocks/>
            </p:cNvGrpSpPr>
            <p:nvPr/>
          </p:nvGrpSpPr>
          <p:grpSpPr bwMode="auto">
            <a:xfrm>
              <a:off x="3124200" y="3611562"/>
              <a:ext cx="762000" cy="69850"/>
              <a:chOff x="2062" y="1411"/>
              <a:chExt cx="480" cy="44"/>
            </a:xfrm>
          </p:grpSpPr>
          <p:sp>
            <p:nvSpPr>
              <p:cNvPr id="97" name="Line 63"/>
              <p:cNvSpPr>
                <a:spLocks noChangeShapeType="1"/>
              </p:cNvSpPr>
              <p:nvPr/>
            </p:nvSpPr>
            <p:spPr bwMode="auto">
              <a:xfrm>
                <a:off x="2062" y="1411"/>
                <a:ext cx="4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64"/>
              <p:cNvSpPr>
                <a:spLocks noChangeShapeType="1"/>
              </p:cNvSpPr>
              <p:nvPr/>
            </p:nvSpPr>
            <p:spPr bwMode="auto">
              <a:xfrm flipH="1">
                <a:off x="2062" y="1455"/>
                <a:ext cx="4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99" name="Object 77"/>
            <p:cNvGraphicFramePr>
              <a:graphicFrameLocks noChangeAspect="1"/>
            </p:cNvGraphicFramePr>
            <p:nvPr>
              <p:extLst>
                <p:ext uri="{D42A27DB-BD31-4B8C-83A1-F6EECF244321}">
                  <p14:modId xmlns:p14="http://schemas.microsoft.com/office/powerpoint/2010/main" val="1147967959"/>
                </p:ext>
              </p:extLst>
            </p:nvPr>
          </p:nvGraphicFramePr>
          <p:xfrm>
            <a:off x="2518961" y="3475129"/>
            <a:ext cx="304800" cy="304800"/>
          </p:xfrm>
          <a:graphic>
            <a:graphicData uri="http://schemas.openxmlformats.org/presentationml/2006/ole">
              <mc:AlternateContent xmlns:mc="http://schemas.openxmlformats.org/markup-compatibility/2006">
                <mc:Choice xmlns:v="urn:schemas-microsoft-com:vml" Requires="v">
                  <p:oleObj spid="_x0000_s11466" name="Equation" r:id="rId17" imgW="139700" imgH="139700" progId="Equation.3">
                    <p:embed/>
                  </p:oleObj>
                </mc:Choice>
                <mc:Fallback>
                  <p:oleObj name="Equation" r:id="rId17" imgW="139700" imgH="139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8961" y="3475129"/>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 name="Object 78"/>
            <p:cNvGraphicFramePr>
              <a:graphicFrameLocks noChangeAspect="1"/>
            </p:cNvGraphicFramePr>
            <p:nvPr>
              <p:extLst>
                <p:ext uri="{D42A27DB-BD31-4B8C-83A1-F6EECF244321}">
                  <p14:modId xmlns:p14="http://schemas.microsoft.com/office/powerpoint/2010/main" val="2316417829"/>
                </p:ext>
              </p:extLst>
            </p:nvPr>
          </p:nvGraphicFramePr>
          <p:xfrm>
            <a:off x="2750355" y="3454400"/>
            <a:ext cx="295275" cy="374650"/>
          </p:xfrm>
          <a:graphic>
            <a:graphicData uri="http://schemas.openxmlformats.org/presentationml/2006/ole">
              <mc:AlternateContent xmlns:mc="http://schemas.openxmlformats.org/markup-compatibility/2006">
                <mc:Choice xmlns:v="urn:schemas-microsoft-com:vml" Requires="v">
                  <p:oleObj spid="_x0000_s11467" name="Equation" r:id="rId18" imgW="139579" imgH="177646" progId="Equation.3">
                    <p:embed/>
                  </p:oleObj>
                </mc:Choice>
                <mc:Fallback>
                  <p:oleObj name="Equation" r:id="rId18" imgW="139579" imgH="177646"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50355" y="3454400"/>
                          <a:ext cx="295275"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 name="矩形 8"/>
          <p:cNvSpPr/>
          <p:nvPr/>
        </p:nvSpPr>
        <p:spPr>
          <a:xfrm>
            <a:off x="306073" y="5065251"/>
            <a:ext cx="11696873" cy="954107"/>
          </a:xfrm>
          <a:prstGeom prst="rect">
            <a:avLst/>
          </a:prstGeom>
        </p:spPr>
        <p:txBody>
          <a:bodyPr wrap="square">
            <a:spAutoFit/>
          </a:bodyPr>
          <a:lstStyle/>
          <a:p>
            <a:pPr marL="0" lvl="1">
              <a:buClr>
                <a:srgbClr val="FF0000"/>
              </a:buClr>
            </a:pPr>
            <a:r>
              <a:rPr lang="zh-CN" altLang="en-US" sz="2800" b="1" dirty="0">
                <a:latin typeface="Times New Roman" pitchFamily="18" charset="0"/>
                <a:ea typeface="楷体" pitchFamily="49" charset="-122"/>
                <a:cs typeface="Times New Roman" pitchFamily="18" charset="0"/>
              </a:rPr>
              <a:t>抑制剂</a:t>
            </a:r>
            <a:r>
              <a:rPr lang="zh-CN" altLang="en-US" sz="2800" b="1" dirty="0" smtClean="0">
                <a:solidFill>
                  <a:srgbClr val="FF0000"/>
                </a:solidFill>
                <a:latin typeface="Times New Roman" pitchFamily="18" charset="0"/>
                <a:ea typeface="楷体" pitchFamily="49" charset="-122"/>
                <a:cs typeface="Times New Roman" pitchFamily="18" charset="0"/>
              </a:rPr>
              <a:t>既</a:t>
            </a:r>
            <a:r>
              <a:rPr lang="zh-CN" altLang="en-US" sz="2800" b="1" dirty="0">
                <a:solidFill>
                  <a:srgbClr val="FF0000"/>
                </a:solidFill>
                <a:latin typeface="Times New Roman" pitchFamily="18" charset="0"/>
                <a:ea typeface="楷体" pitchFamily="49" charset="-122"/>
                <a:cs typeface="Times New Roman" pitchFamily="18" charset="0"/>
              </a:rPr>
              <a:t>能</a:t>
            </a:r>
            <a:r>
              <a:rPr lang="zh-CN" altLang="zh-CN" sz="2800" b="1" dirty="0">
                <a:solidFill>
                  <a:srgbClr val="FF0000"/>
                </a:solidFill>
                <a:latin typeface="Times New Roman" pitchFamily="18" charset="0"/>
                <a:ea typeface="楷体" pitchFamily="49" charset="-122"/>
                <a:cs typeface="Times New Roman" pitchFamily="18" charset="0"/>
              </a:rPr>
              <a:t>与</a:t>
            </a:r>
            <a:r>
              <a:rPr lang="en-US" altLang="zh-CN" sz="2800" b="1" dirty="0">
                <a:solidFill>
                  <a:srgbClr val="FF0000"/>
                </a:solidFill>
                <a:latin typeface="Times New Roman" pitchFamily="18" charset="0"/>
                <a:ea typeface="楷体" pitchFamily="49" charset="-122"/>
                <a:cs typeface="Times New Roman" pitchFamily="18" charset="0"/>
              </a:rPr>
              <a:t>ES</a:t>
            </a:r>
            <a:r>
              <a:rPr lang="zh-CN" altLang="zh-CN" sz="2800" b="1" dirty="0">
                <a:solidFill>
                  <a:srgbClr val="FF0000"/>
                </a:solidFill>
                <a:latin typeface="Times New Roman" pitchFamily="18" charset="0"/>
                <a:ea typeface="楷体" pitchFamily="49" charset="-122"/>
                <a:cs typeface="Times New Roman" pitchFamily="18" charset="0"/>
              </a:rPr>
              <a:t>结合，</a:t>
            </a:r>
            <a:r>
              <a:rPr lang="zh-CN" altLang="en-US" sz="2800" b="1" dirty="0">
                <a:solidFill>
                  <a:srgbClr val="FF0000"/>
                </a:solidFill>
                <a:latin typeface="Times New Roman" pitchFamily="18" charset="0"/>
                <a:ea typeface="楷体" pitchFamily="49" charset="-122"/>
                <a:cs typeface="Times New Roman" pitchFamily="18" charset="0"/>
              </a:rPr>
              <a:t>又</a:t>
            </a:r>
            <a:r>
              <a:rPr lang="zh-CN" altLang="zh-CN" sz="2800" b="1" dirty="0">
                <a:solidFill>
                  <a:srgbClr val="FF0000"/>
                </a:solidFill>
                <a:latin typeface="Times New Roman" pitchFamily="18" charset="0"/>
                <a:ea typeface="楷体" pitchFamily="49" charset="-122"/>
                <a:cs typeface="Times New Roman" pitchFamily="18" charset="0"/>
              </a:rPr>
              <a:t>能与游离的酶结合</a:t>
            </a:r>
            <a:r>
              <a:rPr lang="zh-CN" altLang="zh-CN" sz="2800" b="1" dirty="0">
                <a:latin typeface="Times New Roman" pitchFamily="18" charset="0"/>
                <a:ea typeface="楷体" pitchFamily="49" charset="-122"/>
                <a:cs typeface="Times New Roman" pitchFamily="18" charset="0"/>
              </a:rPr>
              <a:t>。一旦它们与</a:t>
            </a:r>
            <a:r>
              <a:rPr lang="en-US" altLang="zh-CN" sz="2800" b="1" dirty="0">
                <a:latin typeface="Times New Roman" pitchFamily="18" charset="0"/>
                <a:ea typeface="楷体" pitchFamily="49" charset="-122"/>
                <a:cs typeface="Times New Roman" pitchFamily="18" charset="0"/>
              </a:rPr>
              <a:t>E</a:t>
            </a:r>
            <a:r>
              <a:rPr lang="zh-CN" altLang="zh-CN" sz="2800" b="1" dirty="0">
                <a:latin typeface="Times New Roman" pitchFamily="18" charset="0"/>
                <a:ea typeface="楷体" pitchFamily="49" charset="-122"/>
                <a:cs typeface="Times New Roman" pitchFamily="18" charset="0"/>
              </a:rPr>
              <a:t>结合，将导致</a:t>
            </a:r>
            <a:r>
              <a:rPr lang="zh-CN" altLang="en-US" sz="2800" b="1" dirty="0">
                <a:latin typeface="Times New Roman" pitchFamily="18" charset="0"/>
                <a:ea typeface="楷体" pitchFamily="49" charset="-122"/>
                <a:cs typeface="Times New Roman" pitchFamily="18" charset="0"/>
              </a:rPr>
              <a:t>酶</a:t>
            </a:r>
            <a:r>
              <a:rPr lang="zh-CN" altLang="zh-CN" sz="2800" b="1" dirty="0">
                <a:latin typeface="Times New Roman" pitchFamily="18" charset="0"/>
                <a:ea typeface="楷体" pitchFamily="49" charset="-122"/>
                <a:cs typeface="Times New Roman" pitchFamily="18" charset="0"/>
              </a:rPr>
              <a:t>活性</a:t>
            </a:r>
            <a:r>
              <a:rPr lang="zh-CN" altLang="en-US" sz="2800" b="1" dirty="0">
                <a:latin typeface="Times New Roman" pitchFamily="18" charset="0"/>
                <a:ea typeface="楷体" pitchFamily="49" charset="-122"/>
                <a:cs typeface="Times New Roman" pitchFamily="18" charset="0"/>
              </a:rPr>
              <a:t>受到抑制</a:t>
            </a:r>
            <a:r>
              <a:rPr lang="zh-CN" altLang="zh-CN" sz="2800" b="1" dirty="0">
                <a:latin typeface="Times New Roman" pitchFamily="18" charset="0"/>
                <a:ea typeface="楷体" pitchFamily="49" charset="-122"/>
                <a:cs typeface="Times New Roman" pitchFamily="18" charset="0"/>
              </a:rPr>
              <a:t>。</a:t>
            </a:r>
            <a:endParaRPr lang="en-US" altLang="zh-CN" sz="2800" b="1" dirty="0">
              <a:latin typeface="Times New Roman" pitchFamily="18" charset="0"/>
              <a:ea typeface="楷体" pitchFamily="49" charset="-122"/>
              <a:cs typeface="Times New Roman" pitchFamily="18" charset="0"/>
            </a:endParaRP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4"/>
          <p:cNvGrpSpPr>
            <a:grpSpLocks/>
          </p:cNvGrpSpPr>
          <p:nvPr/>
        </p:nvGrpSpPr>
        <p:grpSpPr bwMode="auto">
          <a:xfrm>
            <a:off x="111800" y="45581"/>
            <a:ext cx="5580812" cy="4076193"/>
            <a:chOff x="335" y="2728"/>
            <a:chExt cx="2138" cy="1311"/>
          </a:xfrm>
        </p:grpSpPr>
        <p:sp>
          <p:nvSpPr>
            <p:cNvPr id="3" name="Text Box 7"/>
            <p:cNvSpPr txBox="1">
              <a:spLocks noChangeArrowheads="1"/>
            </p:cNvSpPr>
            <p:nvPr/>
          </p:nvSpPr>
          <p:spPr bwMode="auto">
            <a:xfrm>
              <a:off x="528" y="272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i="1" dirty="0">
                  <a:latin typeface="Times New Roman" pitchFamily="18" charset="0"/>
                  <a:ea typeface="宋体" charset="-122"/>
                  <a:cs typeface="Times New Roman" pitchFamily="18" charset="0"/>
                </a:rPr>
                <a:t>v</a:t>
              </a:r>
            </a:p>
          </p:txBody>
        </p:sp>
        <p:sp>
          <p:nvSpPr>
            <p:cNvPr id="4" name="Line 8"/>
            <p:cNvSpPr>
              <a:spLocks noChangeShapeType="1"/>
            </p:cNvSpPr>
            <p:nvPr/>
          </p:nvSpPr>
          <p:spPr bwMode="auto">
            <a:xfrm>
              <a:off x="720" y="3648"/>
              <a:ext cx="14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 name="Line 9"/>
            <p:cNvSpPr>
              <a:spLocks noChangeShapeType="1"/>
            </p:cNvSpPr>
            <p:nvPr/>
          </p:nvSpPr>
          <p:spPr bwMode="auto">
            <a:xfrm flipV="1">
              <a:off x="720" y="2784"/>
              <a:ext cx="0" cy="86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 name="Freeform 10"/>
            <p:cNvSpPr>
              <a:spLocks/>
            </p:cNvSpPr>
            <p:nvPr/>
          </p:nvSpPr>
          <p:spPr bwMode="auto">
            <a:xfrm>
              <a:off x="728" y="2936"/>
              <a:ext cx="1392" cy="720"/>
            </a:xfrm>
            <a:custGeom>
              <a:avLst/>
              <a:gdLst>
                <a:gd name="T0" fmla="*/ 0 w 1392"/>
                <a:gd name="T1" fmla="*/ 720 h 720"/>
                <a:gd name="T2" fmla="*/ 96 w 1392"/>
                <a:gd name="T3" fmla="*/ 240 h 720"/>
                <a:gd name="T4" fmla="*/ 432 w 1392"/>
                <a:gd name="T5" fmla="*/ 48 h 720"/>
                <a:gd name="T6" fmla="*/ 1392 w 1392"/>
                <a:gd name="T7" fmla="*/ 0 h 720"/>
                <a:gd name="T8" fmla="*/ 0 60000 65536"/>
                <a:gd name="T9" fmla="*/ 0 60000 65536"/>
                <a:gd name="T10" fmla="*/ 0 60000 65536"/>
                <a:gd name="T11" fmla="*/ 0 60000 65536"/>
                <a:gd name="T12" fmla="*/ 0 w 1392"/>
                <a:gd name="T13" fmla="*/ 0 h 720"/>
                <a:gd name="T14" fmla="*/ 1392 w 1392"/>
                <a:gd name="T15" fmla="*/ 720 h 720"/>
              </a:gdLst>
              <a:ahLst/>
              <a:cxnLst>
                <a:cxn ang="T8">
                  <a:pos x="T0" y="T1"/>
                </a:cxn>
                <a:cxn ang="T9">
                  <a:pos x="T2" y="T3"/>
                </a:cxn>
                <a:cxn ang="T10">
                  <a:pos x="T4" y="T5"/>
                </a:cxn>
                <a:cxn ang="T11">
                  <a:pos x="T6" y="T7"/>
                </a:cxn>
              </a:cxnLst>
              <a:rect l="T12" t="T13" r="T14" b="T15"/>
              <a:pathLst>
                <a:path w="1392" h="720">
                  <a:moveTo>
                    <a:pt x="0" y="720"/>
                  </a:moveTo>
                  <a:cubicBezTo>
                    <a:pt x="12" y="536"/>
                    <a:pt x="24" y="352"/>
                    <a:pt x="96" y="240"/>
                  </a:cubicBezTo>
                  <a:cubicBezTo>
                    <a:pt x="168" y="128"/>
                    <a:pt x="216" y="88"/>
                    <a:pt x="432" y="48"/>
                  </a:cubicBezTo>
                  <a:cubicBezTo>
                    <a:pt x="648" y="8"/>
                    <a:pt x="1020" y="4"/>
                    <a:pt x="1392" y="0"/>
                  </a:cubicBez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 name="Line 11"/>
            <p:cNvSpPr>
              <a:spLocks noChangeShapeType="1"/>
            </p:cNvSpPr>
            <p:nvPr/>
          </p:nvSpPr>
          <p:spPr bwMode="auto">
            <a:xfrm flipV="1">
              <a:off x="672" y="2904"/>
              <a:ext cx="1536" cy="0"/>
            </a:xfrm>
            <a:prstGeom prst="line">
              <a:avLst/>
            </a:prstGeom>
            <a:noFill/>
            <a:ln w="9525" cap="rnd">
              <a:solidFill>
                <a:schemeClr val="tx2"/>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 name="Text Box 12"/>
            <p:cNvSpPr txBox="1">
              <a:spLocks noChangeArrowheads="1"/>
            </p:cNvSpPr>
            <p:nvPr/>
          </p:nvSpPr>
          <p:spPr bwMode="auto">
            <a:xfrm>
              <a:off x="2122" y="3504"/>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a:latin typeface="Times New Roman" pitchFamily="18" charset="0"/>
                  <a:ea typeface="宋体" charset="-122"/>
                  <a:cs typeface="Times New Roman" pitchFamily="18" charset="0"/>
                </a:rPr>
                <a:t>[</a:t>
              </a:r>
              <a:r>
                <a:rPr lang="en-US" altLang="zh-CN" sz="2400" i="1">
                  <a:latin typeface="Times New Roman" pitchFamily="18" charset="0"/>
                  <a:ea typeface="宋体" charset="-122"/>
                  <a:cs typeface="Times New Roman" pitchFamily="18" charset="0"/>
                </a:rPr>
                <a:t>S</a:t>
              </a:r>
              <a:r>
                <a:rPr lang="en-US" altLang="zh-CN" sz="2400">
                  <a:latin typeface="Times New Roman" pitchFamily="18" charset="0"/>
                  <a:ea typeface="宋体" charset="-122"/>
                  <a:cs typeface="Times New Roman" pitchFamily="18" charset="0"/>
                </a:rPr>
                <a:t>]</a:t>
              </a:r>
            </a:p>
          </p:txBody>
        </p:sp>
        <p:sp>
          <p:nvSpPr>
            <p:cNvPr id="9" name="Text Box 13"/>
            <p:cNvSpPr txBox="1">
              <a:spLocks noChangeArrowheads="1"/>
            </p:cNvSpPr>
            <p:nvPr/>
          </p:nvSpPr>
          <p:spPr bwMode="auto">
            <a:xfrm>
              <a:off x="335" y="2880"/>
              <a:ext cx="29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b="1" i="1" dirty="0" err="1">
                  <a:solidFill>
                    <a:schemeClr val="tx2"/>
                  </a:solidFill>
                  <a:latin typeface="Arial" charset="0"/>
                  <a:ea typeface="宋体" charset="-122"/>
                </a:rPr>
                <a:t>v</a:t>
              </a:r>
              <a:r>
                <a:rPr lang="en-US" altLang="zh-CN" sz="2400" b="1" i="1" baseline="-25000" dirty="0" err="1">
                  <a:solidFill>
                    <a:schemeClr val="tx2"/>
                  </a:solidFill>
                  <a:latin typeface="Arial" charset="0"/>
                  <a:ea typeface="宋体" charset="-122"/>
                </a:rPr>
                <a:t>max</a:t>
              </a:r>
              <a:endParaRPr lang="en-US" altLang="zh-CN" sz="2400" b="1" i="1" dirty="0">
                <a:solidFill>
                  <a:schemeClr val="tx2"/>
                </a:solidFill>
                <a:latin typeface="Arial" charset="0"/>
                <a:ea typeface="宋体" charset="-122"/>
              </a:endParaRPr>
            </a:p>
          </p:txBody>
        </p:sp>
        <p:sp>
          <p:nvSpPr>
            <p:cNvPr id="10" name="Line 14"/>
            <p:cNvSpPr>
              <a:spLocks noChangeShapeType="1"/>
            </p:cNvSpPr>
            <p:nvPr/>
          </p:nvSpPr>
          <p:spPr bwMode="auto">
            <a:xfrm flipV="1">
              <a:off x="528" y="2928"/>
              <a:ext cx="192" cy="96"/>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16"/>
            <p:cNvSpPr>
              <a:spLocks noChangeShapeType="1"/>
            </p:cNvSpPr>
            <p:nvPr/>
          </p:nvSpPr>
          <p:spPr bwMode="auto">
            <a:xfrm>
              <a:off x="792" y="3272"/>
              <a:ext cx="0" cy="384"/>
            </a:xfrm>
            <a:prstGeom prst="line">
              <a:avLst/>
            </a:prstGeom>
            <a:noFill/>
            <a:ln w="9525" cap="rnd">
              <a:solidFill>
                <a:schemeClr val="tx2"/>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Text Box 17"/>
            <p:cNvSpPr txBox="1">
              <a:spLocks noChangeArrowheads="1"/>
            </p:cNvSpPr>
            <p:nvPr/>
          </p:nvSpPr>
          <p:spPr bwMode="auto">
            <a:xfrm>
              <a:off x="672" y="3616"/>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1800" i="1">
                  <a:solidFill>
                    <a:schemeClr val="tx2"/>
                  </a:solidFill>
                  <a:latin typeface="Arial" charset="0"/>
                  <a:ea typeface="宋体" charset="-122"/>
                </a:rPr>
                <a:t>K</a:t>
              </a:r>
              <a:r>
                <a:rPr lang="en-US" altLang="zh-CN" sz="1800" i="1" baseline="-25000">
                  <a:solidFill>
                    <a:schemeClr val="tx2"/>
                  </a:solidFill>
                  <a:latin typeface="Arial" charset="0"/>
                  <a:ea typeface="宋体" charset="-122"/>
                </a:rPr>
                <a:t>m</a:t>
              </a:r>
              <a:endParaRPr lang="en-US" altLang="zh-CN" sz="1800" i="1">
                <a:solidFill>
                  <a:schemeClr val="tx2"/>
                </a:solidFill>
                <a:latin typeface="Arial" charset="0"/>
                <a:ea typeface="宋体" charset="-122"/>
              </a:endParaRPr>
            </a:p>
          </p:txBody>
        </p:sp>
        <p:sp>
          <p:nvSpPr>
            <p:cNvPr id="13" name="Text Box 50"/>
            <p:cNvSpPr txBox="1">
              <a:spLocks noChangeArrowheads="1"/>
            </p:cNvSpPr>
            <p:nvPr/>
          </p:nvSpPr>
          <p:spPr bwMode="auto">
            <a:xfrm>
              <a:off x="755" y="3808"/>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endParaRPr lang="en-US" altLang="zh-CN" sz="1800">
                <a:solidFill>
                  <a:schemeClr val="hlink"/>
                </a:solidFill>
                <a:latin typeface="Arial" charset="0"/>
                <a:ea typeface="宋体" charset="-122"/>
              </a:endParaRPr>
            </a:p>
          </p:txBody>
        </p:sp>
        <p:sp>
          <p:nvSpPr>
            <p:cNvPr id="14" name="Line 68"/>
            <p:cNvSpPr>
              <a:spLocks noChangeShapeType="1"/>
            </p:cNvSpPr>
            <p:nvPr/>
          </p:nvSpPr>
          <p:spPr bwMode="auto">
            <a:xfrm flipV="1">
              <a:off x="720" y="3168"/>
              <a:ext cx="1536" cy="0"/>
            </a:xfrm>
            <a:prstGeom prst="line">
              <a:avLst/>
            </a:prstGeom>
            <a:noFill/>
            <a:ln w="9525" cap="rnd">
              <a:solidFill>
                <a:schemeClr val="hlink"/>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Freeform 71"/>
            <p:cNvSpPr>
              <a:spLocks/>
            </p:cNvSpPr>
            <p:nvPr/>
          </p:nvSpPr>
          <p:spPr bwMode="auto">
            <a:xfrm>
              <a:off x="712" y="3200"/>
              <a:ext cx="1296" cy="480"/>
            </a:xfrm>
            <a:custGeom>
              <a:avLst/>
              <a:gdLst>
                <a:gd name="T0" fmla="*/ 0 w 1296"/>
                <a:gd name="T1" fmla="*/ 480 h 480"/>
                <a:gd name="T2" fmla="*/ 96 w 1296"/>
                <a:gd name="T3" fmla="*/ 240 h 480"/>
                <a:gd name="T4" fmla="*/ 336 w 1296"/>
                <a:gd name="T5" fmla="*/ 48 h 480"/>
                <a:gd name="T6" fmla="*/ 1296 w 1296"/>
                <a:gd name="T7" fmla="*/ 0 h 480"/>
                <a:gd name="T8" fmla="*/ 0 60000 65536"/>
                <a:gd name="T9" fmla="*/ 0 60000 65536"/>
                <a:gd name="T10" fmla="*/ 0 60000 65536"/>
                <a:gd name="T11" fmla="*/ 0 60000 65536"/>
                <a:gd name="T12" fmla="*/ 0 w 1296"/>
                <a:gd name="T13" fmla="*/ 0 h 480"/>
                <a:gd name="T14" fmla="*/ 1296 w 1296"/>
                <a:gd name="T15" fmla="*/ 480 h 480"/>
              </a:gdLst>
              <a:ahLst/>
              <a:cxnLst>
                <a:cxn ang="T8">
                  <a:pos x="T0" y="T1"/>
                </a:cxn>
                <a:cxn ang="T9">
                  <a:pos x="T2" y="T3"/>
                </a:cxn>
                <a:cxn ang="T10">
                  <a:pos x="T4" y="T5"/>
                </a:cxn>
                <a:cxn ang="T11">
                  <a:pos x="T6" y="T7"/>
                </a:cxn>
              </a:cxnLst>
              <a:rect l="T12" t="T13" r="T14" b="T15"/>
              <a:pathLst>
                <a:path w="1296" h="480">
                  <a:moveTo>
                    <a:pt x="0" y="480"/>
                  </a:moveTo>
                  <a:cubicBezTo>
                    <a:pt x="20" y="396"/>
                    <a:pt x="40" y="312"/>
                    <a:pt x="96" y="240"/>
                  </a:cubicBezTo>
                  <a:cubicBezTo>
                    <a:pt x="152" y="168"/>
                    <a:pt x="136" y="88"/>
                    <a:pt x="336" y="48"/>
                  </a:cubicBezTo>
                  <a:cubicBezTo>
                    <a:pt x="536" y="8"/>
                    <a:pt x="916" y="4"/>
                    <a:pt x="1296" y="0"/>
                  </a:cubicBezTo>
                </a:path>
              </a:pathLst>
            </a:cu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6" name="Text Box 72"/>
            <p:cNvSpPr txBox="1">
              <a:spLocks noChangeArrowheads="1"/>
            </p:cNvSpPr>
            <p:nvPr/>
          </p:nvSpPr>
          <p:spPr bwMode="auto">
            <a:xfrm>
              <a:off x="1299" y="3232"/>
              <a:ext cx="680"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000" b="1" dirty="0" err="1">
                  <a:latin typeface="Arial" charset="0"/>
                  <a:ea typeface="宋体" charset="-122"/>
                </a:rPr>
                <a:t>V</a:t>
              </a:r>
              <a:r>
                <a:rPr lang="en-US" altLang="zh-CN" sz="2000" b="1" baseline="-25000" dirty="0" err="1">
                  <a:latin typeface="Arial" charset="0"/>
                  <a:ea typeface="宋体" charset="-122"/>
                </a:rPr>
                <a:t>max</a:t>
              </a:r>
              <a:r>
                <a:rPr lang="en-US" altLang="zh-CN" sz="2000" b="1" dirty="0">
                  <a:latin typeface="Arial" charset="0"/>
                  <a:ea typeface="宋体" charset="-122"/>
                </a:rPr>
                <a:t>/(</a:t>
              </a:r>
              <a:r>
                <a:rPr lang="en-US" altLang="zh-CN" sz="2000" b="1" i="1" dirty="0">
                  <a:latin typeface="Arial" charset="0"/>
                  <a:ea typeface="宋体" charset="-122"/>
                </a:rPr>
                <a:t>1+[I]/K</a:t>
              </a:r>
              <a:r>
                <a:rPr lang="en-US" altLang="zh-CN" sz="2000" b="1" i="1" baseline="-25000" dirty="0">
                  <a:latin typeface="Arial" charset="0"/>
                  <a:ea typeface="宋体" charset="-122"/>
                </a:rPr>
                <a:t>I</a:t>
              </a:r>
              <a:r>
                <a:rPr lang="en-US" altLang="zh-CN" sz="2000" b="1" dirty="0">
                  <a:latin typeface="Arial" charset="0"/>
                  <a:ea typeface="宋体" charset="-122"/>
                </a:rPr>
                <a:t>)</a:t>
              </a:r>
            </a:p>
          </p:txBody>
        </p:sp>
        <p:sp>
          <p:nvSpPr>
            <p:cNvPr id="17" name="Line 73"/>
            <p:cNvSpPr>
              <a:spLocks noChangeShapeType="1"/>
            </p:cNvSpPr>
            <p:nvPr/>
          </p:nvSpPr>
          <p:spPr bwMode="auto">
            <a:xfrm flipH="1" flipV="1">
              <a:off x="728" y="3184"/>
              <a:ext cx="424" cy="17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8" name="Group 76"/>
          <p:cNvGrpSpPr>
            <a:grpSpLocks/>
          </p:cNvGrpSpPr>
          <p:nvPr/>
        </p:nvGrpSpPr>
        <p:grpSpPr bwMode="auto">
          <a:xfrm>
            <a:off x="5379155" y="216610"/>
            <a:ext cx="6737560" cy="4108147"/>
            <a:chOff x="2583" y="2544"/>
            <a:chExt cx="2871" cy="1450"/>
          </a:xfrm>
        </p:grpSpPr>
        <p:sp>
          <p:nvSpPr>
            <p:cNvPr id="19" name="Text Box 47"/>
            <p:cNvSpPr txBox="1">
              <a:spLocks noChangeArrowheads="1"/>
            </p:cNvSpPr>
            <p:nvPr/>
          </p:nvSpPr>
          <p:spPr bwMode="auto">
            <a:xfrm>
              <a:off x="4196" y="2544"/>
              <a:ext cx="7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a:solidFill>
                    <a:srgbClr val="FF0000"/>
                  </a:solidFill>
                  <a:latin typeface="楷体" pitchFamily="49" charset="-122"/>
                  <a:ea typeface="楷体" pitchFamily="49" charset="-122"/>
                </a:rPr>
                <a:t>+</a:t>
              </a:r>
              <a:r>
                <a:rPr lang="zh-CN" altLang="en-US" sz="2400">
                  <a:solidFill>
                    <a:srgbClr val="FF0000"/>
                  </a:solidFill>
                  <a:latin typeface="楷体" pitchFamily="49" charset="-122"/>
                  <a:ea typeface="楷体" pitchFamily="49" charset="-122"/>
                </a:rPr>
                <a:t>抑制剂</a:t>
              </a:r>
              <a:endParaRPr lang="en-US" altLang="zh-CN" sz="2400">
                <a:solidFill>
                  <a:srgbClr val="FF0000"/>
                </a:solidFill>
                <a:latin typeface="楷体" pitchFamily="49" charset="-122"/>
                <a:ea typeface="楷体" pitchFamily="49" charset="-122"/>
              </a:endParaRPr>
            </a:p>
          </p:txBody>
        </p:sp>
        <p:sp>
          <p:nvSpPr>
            <p:cNvPr id="20" name="Line 19"/>
            <p:cNvSpPr>
              <a:spLocks noChangeShapeType="1"/>
            </p:cNvSpPr>
            <p:nvPr/>
          </p:nvSpPr>
          <p:spPr bwMode="auto">
            <a:xfrm>
              <a:off x="2832" y="3792"/>
              <a:ext cx="216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0"/>
            <p:cNvSpPr>
              <a:spLocks noChangeShapeType="1"/>
            </p:cNvSpPr>
            <p:nvPr/>
          </p:nvSpPr>
          <p:spPr bwMode="auto">
            <a:xfrm flipV="1">
              <a:off x="3552" y="2928"/>
              <a:ext cx="0" cy="100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Text Box 21"/>
            <p:cNvSpPr txBox="1">
              <a:spLocks noChangeArrowheads="1"/>
            </p:cNvSpPr>
            <p:nvPr/>
          </p:nvSpPr>
          <p:spPr bwMode="auto">
            <a:xfrm>
              <a:off x="4954" y="370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dirty="0">
                  <a:latin typeface="Times New Roman" pitchFamily="18" charset="0"/>
                  <a:ea typeface="宋体" charset="-122"/>
                  <a:cs typeface="Times New Roman" pitchFamily="18" charset="0"/>
                </a:rPr>
                <a:t>1/[</a:t>
              </a:r>
              <a:r>
                <a:rPr lang="en-US" altLang="zh-CN" sz="2400" i="1" dirty="0">
                  <a:latin typeface="Times New Roman" pitchFamily="18" charset="0"/>
                  <a:ea typeface="宋体" charset="-122"/>
                  <a:cs typeface="Times New Roman" pitchFamily="18" charset="0"/>
                </a:rPr>
                <a:t>S</a:t>
              </a:r>
              <a:r>
                <a:rPr lang="en-US" altLang="zh-CN" sz="2400" dirty="0">
                  <a:latin typeface="Times New Roman" pitchFamily="18" charset="0"/>
                  <a:ea typeface="宋体" charset="-122"/>
                  <a:cs typeface="Times New Roman" pitchFamily="18" charset="0"/>
                </a:rPr>
                <a:t>]</a:t>
              </a:r>
            </a:p>
          </p:txBody>
        </p:sp>
        <p:sp>
          <p:nvSpPr>
            <p:cNvPr id="23" name="Text Box 22"/>
            <p:cNvSpPr txBox="1">
              <a:spLocks noChangeArrowheads="1"/>
            </p:cNvSpPr>
            <p:nvPr/>
          </p:nvSpPr>
          <p:spPr bwMode="auto">
            <a:xfrm>
              <a:off x="3361" y="2760"/>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i="1" dirty="0">
                  <a:latin typeface="Times New Roman" pitchFamily="18" charset="0"/>
                  <a:ea typeface="宋体" charset="-122"/>
                  <a:cs typeface="Times New Roman" pitchFamily="18" charset="0"/>
                </a:rPr>
                <a:t>1/v</a:t>
              </a:r>
            </a:p>
          </p:txBody>
        </p:sp>
        <p:sp>
          <p:nvSpPr>
            <p:cNvPr id="24" name="Text Box 23"/>
            <p:cNvSpPr txBox="1">
              <a:spLocks noChangeArrowheads="1"/>
            </p:cNvSpPr>
            <p:nvPr/>
          </p:nvSpPr>
          <p:spPr bwMode="auto">
            <a:xfrm>
              <a:off x="3621" y="3456"/>
              <a:ext cx="49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800" b="1" i="1" dirty="0">
                  <a:solidFill>
                    <a:schemeClr val="tx2"/>
                  </a:solidFill>
                  <a:latin typeface="Arial" charset="0"/>
                  <a:ea typeface="宋体" charset="-122"/>
                </a:rPr>
                <a:t>1/</a:t>
              </a:r>
              <a:r>
                <a:rPr lang="en-US" altLang="zh-CN" sz="2800" b="1" i="1" dirty="0" err="1">
                  <a:solidFill>
                    <a:schemeClr val="tx2"/>
                  </a:solidFill>
                  <a:latin typeface="Arial" charset="0"/>
                  <a:ea typeface="宋体" charset="-122"/>
                </a:rPr>
                <a:t>v</a:t>
              </a:r>
              <a:r>
                <a:rPr lang="en-US" altLang="zh-CN" sz="2800" b="1" i="1" baseline="-25000" dirty="0" err="1">
                  <a:solidFill>
                    <a:schemeClr val="tx2"/>
                  </a:solidFill>
                  <a:latin typeface="Arial" charset="0"/>
                  <a:ea typeface="宋体" charset="-122"/>
                </a:rPr>
                <a:t>max</a:t>
              </a:r>
              <a:endParaRPr lang="en-US" altLang="zh-CN" sz="2800" b="1" i="1" dirty="0">
                <a:solidFill>
                  <a:schemeClr val="tx2"/>
                </a:solidFill>
                <a:latin typeface="Arial" charset="0"/>
                <a:ea typeface="宋体" charset="-122"/>
              </a:endParaRPr>
            </a:p>
          </p:txBody>
        </p:sp>
        <p:sp>
          <p:nvSpPr>
            <p:cNvPr id="25" name="Text Box 24"/>
            <p:cNvSpPr txBox="1">
              <a:spLocks noChangeArrowheads="1"/>
            </p:cNvSpPr>
            <p:nvPr/>
          </p:nvSpPr>
          <p:spPr bwMode="auto">
            <a:xfrm>
              <a:off x="2915" y="3571"/>
              <a:ext cx="35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000" b="1" i="1" dirty="0">
                  <a:solidFill>
                    <a:schemeClr val="tx2"/>
                  </a:solidFill>
                  <a:latin typeface="Arial" charset="0"/>
                  <a:ea typeface="宋体" charset="-122"/>
                </a:rPr>
                <a:t>-1/K</a:t>
              </a:r>
              <a:r>
                <a:rPr lang="en-US" altLang="zh-CN" sz="2000" b="1" i="1" baseline="-25000" dirty="0">
                  <a:solidFill>
                    <a:schemeClr val="tx2"/>
                  </a:solidFill>
                  <a:latin typeface="Arial" charset="0"/>
                  <a:ea typeface="宋体" charset="-122"/>
                </a:rPr>
                <a:t>m</a:t>
              </a:r>
              <a:endParaRPr lang="en-US" altLang="zh-CN" sz="2000" b="1" i="1" dirty="0">
                <a:solidFill>
                  <a:schemeClr val="tx2"/>
                </a:solidFill>
                <a:latin typeface="Arial" charset="0"/>
                <a:ea typeface="宋体" charset="-122"/>
              </a:endParaRPr>
            </a:p>
          </p:txBody>
        </p:sp>
        <p:sp>
          <p:nvSpPr>
            <p:cNvPr id="26" name="Line 25"/>
            <p:cNvSpPr>
              <a:spLocks noChangeShapeType="1"/>
            </p:cNvSpPr>
            <p:nvPr/>
          </p:nvSpPr>
          <p:spPr bwMode="auto">
            <a:xfrm flipV="1">
              <a:off x="3024" y="2832"/>
              <a:ext cx="1632" cy="10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Text Box 26"/>
            <p:cNvSpPr txBox="1">
              <a:spLocks noChangeArrowheads="1"/>
            </p:cNvSpPr>
            <p:nvPr/>
          </p:nvSpPr>
          <p:spPr bwMode="auto">
            <a:xfrm>
              <a:off x="4221" y="3054"/>
              <a:ext cx="743"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zh-CN" altLang="en-US" sz="2000" b="1" i="1" dirty="0">
                  <a:solidFill>
                    <a:schemeClr val="tx2"/>
                  </a:solidFill>
                  <a:latin typeface="Arial" charset="0"/>
                  <a:ea typeface="宋体" charset="-122"/>
                </a:rPr>
                <a:t>斜率</a:t>
              </a:r>
              <a:r>
                <a:rPr lang="en-US" altLang="zh-CN" sz="2000" b="1" i="1" dirty="0">
                  <a:solidFill>
                    <a:schemeClr val="tx2"/>
                  </a:solidFill>
                  <a:latin typeface="Arial" charset="0"/>
                  <a:ea typeface="宋体" charset="-122"/>
                </a:rPr>
                <a:t>=K</a:t>
              </a:r>
              <a:r>
                <a:rPr lang="en-US" altLang="zh-CN" sz="2000" b="1" i="1" baseline="-25000" dirty="0">
                  <a:solidFill>
                    <a:schemeClr val="tx2"/>
                  </a:solidFill>
                  <a:latin typeface="Arial" charset="0"/>
                  <a:ea typeface="宋体" charset="-122"/>
                </a:rPr>
                <a:t>m</a:t>
              </a:r>
              <a:r>
                <a:rPr lang="en-US" altLang="zh-CN" sz="2000" b="1" i="1" dirty="0">
                  <a:solidFill>
                    <a:schemeClr val="tx2"/>
                  </a:solidFill>
                  <a:latin typeface="Arial" charset="0"/>
                  <a:ea typeface="宋体" charset="-122"/>
                </a:rPr>
                <a:t>/</a:t>
              </a:r>
              <a:r>
                <a:rPr lang="en-US" altLang="zh-CN" sz="2000" b="1" i="1" dirty="0" err="1">
                  <a:solidFill>
                    <a:schemeClr val="tx2"/>
                  </a:solidFill>
                  <a:latin typeface="Arial" charset="0"/>
                  <a:ea typeface="宋体" charset="-122"/>
                </a:rPr>
                <a:t>v</a:t>
              </a:r>
              <a:r>
                <a:rPr lang="en-US" altLang="zh-CN" sz="2000" b="1" i="1" baseline="-25000" dirty="0" err="1">
                  <a:solidFill>
                    <a:schemeClr val="tx2"/>
                  </a:solidFill>
                  <a:latin typeface="Arial" charset="0"/>
                  <a:ea typeface="宋体" charset="-122"/>
                </a:rPr>
                <a:t>max</a:t>
              </a:r>
              <a:endParaRPr lang="en-US" altLang="zh-CN" sz="2000" b="1" i="1" baseline="-25000" dirty="0">
                <a:solidFill>
                  <a:schemeClr val="tx2"/>
                </a:solidFill>
                <a:latin typeface="Arial" charset="0"/>
                <a:ea typeface="宋体" charset="-122"/>
              </a:endParaRPr>
            </a:p>
          </p:txBody>
        </p:sp>
        <p:sp>
          <p:nvSpPr>
            <p:cNvPr id="28" name="Line 27"/>
            <p:cNvSpPr>
              <a:spLocks noChangeShapeType="1"/>
            </p:cNvSpPr>
            <p:nvPr/>
          </p:nvSpPr>
          <p:spPr bwMode="auto">
            <a:xfrm flipH="1">
              <a:off x="3552" y="3552"/>
              <a:ext cx="96" cy="0"/>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28"/>
            <p:cNvSpPr>
              <a:spLocks noChangeShapeType="1"/>
            </p:cNvSpPr>
            <p:nvPr/>
          </p:nvSpPr>
          <p:spPr bwMode="auto">
            <a:xfrm flipH="1">
              <a:off x="3168" y="3696"/>
              <a:ext cx="0" cy="96"/>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46"/>
            <p:cNvSpPr>
              <a:spLocks noChangeShapeType="1"/>
            </p:cNvSpPr>
            <p:nvPr/>
          </p:nvSpPr>
          <p:spPr bwMode="auto">
            <a:xfrm flipV="1">
              <a:off x="3168" y="2640"/>
              <a:ext cx="1152" cy="1152"/>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Text Box 51"/>
            <p:cNvSpPr txBox="1">
              <a:spLocks noChangeArrowheads="1"/>
            </p:cNvSpPr>
            <p:nvPr/>
          </p:nvSpPr>
          <p:spPr bwMode="auto">
            <a:xfrm>
              <a:off x="2583" y="3216"/>
              <a:ext cx="89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en-US" altLang="zh-CN" sz="2400" b="1" dirty="0">
                  <a:latin typeface="Arial" charset="0"/>
                  <a:ea typeface="宋体" charset="-122"/>
                </a:rPr>
                <a:t>(</a:t>
              </a:r>
              <a:r>
                <a:rPr lang="en-US" altLang="zh-CN" sz="2400" b="1" i="1" dirty="0">
                  <a:latin typeface="Arial" charset="0"/>
                  <a:ea typeface="宋体" charset="-122"/>
                </a:rPr>
                <a:t>1+[I]/K</a:t>
              </a:r>
              <a:r>
                <a:rPr lang="en-US" altLang="zh-CN" sz="2400" b="1" i="1" baseline="-25000" dirty="0">
                  <a:latin typeface="Arial" charset="0"/>
                  <a:ea typeface="宋体" charset="-122"/>
                </a:rPr>
                <a:t>I</a:t>
              </a:r>
              <a:r>
                <a:rPr lang="en-US" altLang="zh-CN" sz="2400" b="1" dirty="0">
                  <a:latin typeface="Arial" charset="0"/>
                  <a:ea typeface="宋体" charset="-122"/>
                </a:rPr>
                <a:t>)/</a:t>
              </a:r>
              <a:r>
                <a:rPr lang="en-US" altLang="zh-CN" sz="2400" b="1" dirty="0" err="1">
                  <a:latin typeface="Arial" charset="0"/>
                  <a:ea typeface="宋体" charset="-122"/>
                </a:rPr>
                <a:t>V</a:t>
              </a:r>
              <a:r>
                <a:rPr lang="en-US" altLang="zh-CN" sz="2400" b="1" baseline="-25000" dirty="0" err="1">
                  <a:latin typeface="Arial" charset="0"/>
                  <a:ea typeface="宋体" charset="-122"/>
                </a:rPr>
                <a:t>max</a:t>
              </a:r>
              <a:endParaRPr lang="en-US" altLang="zh-CN" sz="2400" b="1" baseline="-25000" dirty="0">
                <a:latin typeface="Arial" charset="0"/>
                <a:ea typeface="宋体" charset="-122"/>
              </a:endParaRPr>
            </a:p>
          </p:txBody>
        </p:sp>
        <p:sp>
          <p:nvSpPr>
            <p:cNvPr id="32" name="Line 65"/>
            <p:cNvSpPr>
              <a:spLocks noChangeShapeType="1"/>
            </p:cNvSpPr>
            <p:nvPr/>
          </p:nvSpPr>
          <p:spPr bwMode="auto">
            <a:xfrm>
              <a:off x="3120" y="3408"/>
              <a:ext cx="384"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 name="Text Box 66"/>
            <p:cNvSpPr txBox="1">
              <a:spLocks noChangeArrowheads="1"/>
            </p:cNvSpPr>
            <p:nvPr/>
          </p:nvSpPr>
          <p:spPr bwMode="auto">
            <a:xfrm>
              <a:off x="4121" y="2677"/>
              <a:ext cx="109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charset="0"/>
                </a:defRPr>
              </a:lvl1pPr>
              <a:lvl2pPr>
                <a:defRPr sz="2800">
                  <a:solidFill>
                    <a:schemeClr val="tx1"/>
                  </a:solidFill>
                  <a:latin typeface="Times" charset="0"/>
                </a:defRPr>
              </a:lvl2pPr>
              <a:lvl3pPr>
                <a:defRPr sz="2400">
                  <a:solidFill>
                    <a:schemeClr val="tx1"/>
                  </a:solidFill>
                  <a:latin typeface="Times" charset="0"/>
                </a:defRPr>
              </a:lvl3pPr>
              <a:lvl4pPr>
                <a:defRPr sz="2000">
                  <a:solidFill>
                    <a:schemeClr val="tx1"/>
                  </a:solidFill>
                  <a:latin typeface="Times" charset="0"/>
                </a:defRPr>
              </a:lvl4pPr>
              <a:lvl5pPr>
                <a:defRPr sz="2000">
                  <a:solidFill>
                    <a:schemeClr val="tx1"/>
                  </a:solidFill>
                  <a:latin typeface="Times" charset="0"/>
                </a:defRPr>
              </a:lvl5pPr>
              <a:lvl6pPr>
                <a:defRPr sz="2000">
                  <a:solidFill>
                    <a:schemeClr val="tx1"/>
                  </a:solidFill>
                  <a:latin typeface="Times" charset="0"/>
                </a:defRPr>
              </a:lvl6pPr>
              <a:lvl7pPr>
                <a:defRPr sz="2000">
                  <a:solidFill>
                    <a:schemeClr val="tx1"/>
                  </a:solidFill>
                  <a:latin typeface="Times" charset="0"/>
                </a:defRPr>
              </a:lvl7pPr>
              <a:lvl8pPr>
                <a:defRPr sz="2000">
                  <a:solidFill>
                    <a:schemeClr val="tx1"/>
                  </a:solidFill>
                  <a:latin typeface="Times" charset="0"/>
                </a:defRPr>
              </a:lvl8pPr>
              <a:lvl9pPr>
                <a:defRPr sz="2000">
                  <a:solidFill>
                    <a:schemeClr val="tx1"/>
                  </a:solidFill>
                  <a:latin typeface="Times" charset="0"/>
                </a:defRPr>
              </a:lvl9pPr>
            </a:lstStyle>
            <a:p>
              <a:pPr algn="ctr"/>
              <a:r>
                <a:rPr lang="zh-CN" altLang="en-US" sz="1800" b="1" i="1" dirty="0">
                  <a:latin typeface="Arial" charset="0"/>
                  <a:ea typeface="宋体" charset="-122"/>
                </a:rPr>
                <a:t>斜率</a:t>
              </a:r>
              <a:r>
                <a:rPr lang="en-US" altLang="zh-CN" sz="1800" b="1" i="1" dirty="0">
                  <a:latin typeface="Arial" charset="0"/>
                  <a:ea typeface="宋体" charset="-122"/>
                </a:rPr>
                <a:t>=</a:t>
              </a:r>
              <a:r>
                <a:rPr lang="en-US" altLang="zh-CN" sz="1800" b="1" i="1" dirty="0">
                  <a:solidFill>
                    <a:schemeClr val="hlink"/>
                  </a:solidFill>
                  <a:latin typeface="Arial" charset="0"/>
                  <a:ea typeface="宋体" charset="-122"/>
                </a:rPr>
                <a:t> </a:t>
              </a:r>
              <a:r>
                <a:rPr lang="en-US" altLang="zh-CN" sz="1800" b="1" i="1" dirty="0">
                  <a:latin typeface="Arial" charset="0"/>
                  <a:ea typeface="宋体" charset="-122"/>
                </a:rPr>
                <a:t>K</a:t>
              </a:r>
              <a:r>
                <a:rPr lang="en-US" altLang="zh-CN" sz="1800" b="1" i="1" baseline="-25000" dirty="0">
                  <a:latin typeface="Arial" charset="0"/>
                  <a:ea typeface="宋体" charset="-122"/>
                </a:rPr>
                <a:t>m</a:t>
              </a:r>
              <a:r>
                <a:rPr lang="en-US" altLang="zh-CN" sz="1800" b="1" dirty="0">
                  <a:latin typeface="Arial" charset="0"/>
                  <a:ea typeface="宋体" charset="-122"/>
                </a:rPr>
                <a:t>(</a:t>
              </a:r>
              <a:r>
                <a:rPr lang="en-US" altLang="zh-CN" sz="1800" b="1" i="1" dirty="0">
                  <a:latin typeface="Arial" charset="0"/>
                  <a:ea typeface="宋体" charset="-122"/>
                </a:rPr>
                <a:t>1+[I]/K</a:t>
              </a:r>
              <a:r>
                <a:rPr lang="en-US" altLang="zh-CN" sz="1800" b="1" i="1" baseline="-25000" dirty="0">
                  <a:latin typeface="Arial" charset="0"/>
                  <a:ea typeface="宋体" charset="-122"/>
                </a:rPr>
                <a:t>I</a:t>
              </a:r>
              <a:r>
                <a:rPr lang="en-US" altLang="zh-CN" sz="1800" b="1" dirty="0">
                  <a:latin typeface="Arial" charset="0"/>
                  <a:ea typeface="宋体" charset="-122"/>
                </a:rPr>
                <a:t>)/</a:t>
              </a:r>
              <a:r>
                <a:rPr lang="en-US" altLang="zh-CN" sz="1800" b="1" i="1" dirty="0" err="1">
                  <a:latin typeface="Arial" charset="0"/>
                  <a:ea typeface="宋体" charset="-122"/>
                </a:rPr>
                <a:t>v</a:t>
              </a:r>
              <a:r>
                <a:rPr lang="en-US" altLang="zh-CN" sz="1800" b="1" i="1" baseline="-25000" dirty="0" err="1">
                  <a:latin typeface="Arial" charset="0"/>
                  <a:ea typeface="宋体" charset="-122"/>
                </a:rPr>
                <a:t>max</a:t>
              </a:r>
              <a:endParaRPr lang="en-US" altLang="zh-CN" sz="1800" b="1" dirty="0">
                <a:latin typeface="Arial" charset="0"/>
                <a:ea typeface="宋体" charset="-122"/>
              </a:endParaRPr>
            </a:p>
          </p:txBody>
        </p:sp>
      </p:grpSp>
      <p:sp>
        <p:nvSpPr>
          <p:cNvPr id="37" name="文本框 7"/>
          <p:cNvSpPr txBox="1"/>
          <p:nvPr/>
        </p:nvSpPr>
        <p:spPr>
          <a:xfrm>
            <a:off x="5806973" y="4586603"/>
            <a:ext cx="5382062" cy="1384995"/>
          </a:xfrm>
          <a:prstGeom prst="rect">
            <a:avLst/>
          </a:prstGeom>
          <a:noFill/>
        </p:spPr>
        <p:txBody>
          <a:bodyPr wrap="square" rtlCol="0" anchor="t">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非竞争性抑制剂作用：</a:t>
            </a:r>
            <a:endParaRPr lang="en-US" altLang="zh-CN" sz="2800" b="1" dirty="0" smtClean="0">
              <a:latin typeface="微软雅黑" panose="020B0503020204020204" pitchFamily="34" charset="-122"/>
              <a:ea typeface="微软雅黑" panose="020B0503020204020204" pitchFamily="34" charset="-122"/>
            </a:endParaRPr>
          </a:p>
          <a:p>
            <a:pPr>
              <a:lnSpc>
                <a:spcPct val="150000"/>
              </a:lnSpc>
            </a:pPr>
            <a:r>
              <a:rPr lang="en-US" altLang="zh-CN" sz="2800" b="1" dirty="0" smtClean="0">
                <a:latin typeface="微软雅黑" panose="020B0503020204020204" pitchFamily="34" charset="-122"/>
                <a:ea typeface="微软雅黑" panose="020B0503020204020204" pitchFamily="34" charset="-122"/>
              </a:rPr>
              <a:t>K</a:t>
            </a:r>
            <a:r>
              <a:rPr lang="en-US" altLang="zh-CN" sz="2800" b="1" baseline="-25000" dirty="0" smtClean="0">
                <a:latin typeface="微软雅黑" panose="020B0503020204020204" pitchFamily="34" charset="-122"/>
                <a:ea typeface="微软雅黑" panose="020B0503020204020204" pitchFamily="34" charset="-122"/>
              </a:rPr>
              <a:t>m</a:t>
            </a:r>
            <a:r>
              <a:rPr lang="zh-CN" altLang="en-US" sz="2800" b="1" dirty="0">
                <a:latin typeface="Arial" panose="020B0604020202020204" pitchFamily="34" charset="0"/>
                <a:ea typeface="微软雅黑" panose="020B0503020204020204" pitchFamily="34" charset="-122"/>
                <a:cs typeface="Arial" panose="020B0604020202020204" pitchFamily="34" charset="0"/>
              </a:rPr>
              <a:t>不变</a:t>
            </a:r>
            <a:r>
              <a:rPr lang="zh-CN" altLang="en-US" sz="2800" b="1" dirty="0" smtClean="0">
                <a:latin typeface="微软雅黑" panose="020B0503020204020204" pitchFamily="34" charset="-122"/>
                <a:ea typeface="微软雅黑" panose="020B0503020204020204" pitchFamily="34" charset="-122"/>
              </a:rPr>
              <a:t>，V</a:t>
            </a:r>
            <a:r>
              <a:rPr lang="zh-CN" altLang="en-US" sz="2800" b="1" baseline="-25000" dirty="0" smtClean="0">
                <a:latin typeface="微软雅黑" panose="020B0503020204020204" pitchFamily="34" charset="-122"/>
                <a:ea typeface="微软雅黑" panose="020B0503020204020204" pitchFamily="34" charset="-122"/>
              </a:rPr>
              <a:t>max</a:t>
            </a:r>
            <a:r>
              <a:rPr lang="zh-CN" altLang="en-US" sz="2800" b="1" dirty="0" smtClean="0">
                <a:latin typeface="微软雅黑" panose="020B0503020204020204" pitchFamily="34" charset="-122"/>
                <a:ea typeface="微软雅黑" panose="020B0503020204020204" pitchFamily="34" charset="-122"/>
              </a:rPr>
              <a:t>下降。</a:t>
            </a:r>
            <a:endParaRPr lang="zh-CN" altLang="en-US" sz="2800" b="1" dirty="0">
              <a:latin typeface="微软雅黑" panose="020B0503020204020204" pitchFamily="34" charset="-122"/>
              <a:ea typeface="微软雅黑" panose="020B0503020204020204" pitchFamily="34" charset="-122"/>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176" y="3335095"/>
            <a:ext cx="4086735" cy="307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68152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830997"/>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2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反竞争性抑制uncompetitive inhibit</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ion</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2"/>
          <a:srcRect l="2866"/>
          <a:stretch/>
        </p:blipFill>
        <p:spPr>
          <a:xfrm>
            <a:off x="0" y="1125253"/>
            <a:ext cx="7845402" cy="5217674"/>
          </a:xfrm>
          <a:prstGeom prst="rect">
            <a:avLst/>
          </a:prstGeom>
        </p:spPr>
      </p:pic>
      <p:sp>
        <p:nvSpPr>
          <p:cNvPr id="10" name="文本框 9"/>
          <p:cNvSpPr txBox="1"/>
          <p:nvPr/>
        </p:nvSpPr>
        <p:spPr>
          <a:xfrm>
            <a:off x="7905509" y="1819715"/>
            <a:ext cx="4153916" cy="3247877"/>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反竞争性抑制剂结合在与底物活性位点不同的位点上，与竞争性抑制剂不同，它</a:t>
            </a:r>
            <a:r>
              <a:rPr lang="zh-CN" altLang="en-US" sz="2800" dirty="0">
                <a:solidFill>
                  <a:srgbClr val="FF0000"/>
                </a:solidFill>
                <a:latin typeface="微软雅黑" panose="020B0503020204020204" pitchFamily="34" charset="-122"/>
                <a:ea typeface="微软雅黑" panose="020B0503020204020204" pitchFamily="34" charset="-122"/>
              </a:rPr>
              <a:t>只与ES复合物结合</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5128801"/>
      </p:ext>
    </p:extLst>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2"/>
          <a:srcRect t="52318" r="6985"/>
          <a:stretch/>
        </p:blipFill>
        <p:spPr>
          <a:xfrm>
            <a:off x="38671" y="0"/>
            <a:ext cx="5972568" cy="4130552"/>
          </a:xfrm>
          <a:prstGeom prst="rect">
            <a:avLst/>
          </a:prstGeom>
          <a:ln>
            <a:noFill/>
          </a:ln>
        </p:spPr>
      </p:pic>
      <p:pic>
        <p:nvPicPr>
          <p:cNvPr id="5" name="图片 4"/>
          <p:cNvPicPr>
            <a:picLocks noChangeAspect="1"/>
          </p:cNvPicPr>
          <p:nvPr/>
        </p:nvPicPr>
        <p:blipFill rotWithShape="1">
          <a:blip r:embed="rId3"/>
          <a:srcRect l="15796" t="3620"/>
          <a:stretch/>
        </p:blipFill>
        <p:spPr>
          <a:xfrm>
            <a:off x="6529148" y="-1"/>
            <a:ext cx="5570253" cy="5854529"/>
          </a:xfrm>
          <a:prstGeom prst="rect">
            <a:avLst/>
          </a:prstGeom>
          <a:ln>
            <a:noFill/>
          </a:ln>
        </p:spPr>
      </p:pic>
      <p:sp>
        <p:nvSpPr>
          <p:cNvPr id="7" name="文本框 9"/>
          <p:cNvSpPr txBox="1"/>
          <p:nvPr/>
        </p:nvSpPr>
        <p:spPr>
          <a:xfrm>
            <a:off x="4756331" y="6074448"/>
            <a:ext cx="7686454" cy="581057"/>
          </a:xfrm>
          <a:prstGeom prst="rect">
            <a:avLst/>
          </a:prstGeom>
          <a:noFill/>
        </p:spPr>
        <p:txBody>
          <a:bodyPr wrap="square" rtlCol="0" anchor="t">
            <a:spAutoFit/>
          </a:bodyPr>
          <a:lstStyle/>
          <a:p>
            <a:pPr>
              <a:lnSpc>
                <a:spcPct val="150000"/>
              </a:lnSpc>
            </a:pPr>
            <a:r>
              <a:rPr lang="zh-CN" altLang="en-US" sz="2400" dirty="0" smtClean="0">
                <a:solidFill>
                  <a:srgbClr val="FF0000"/>
                </a:solidFill>
                <a:latin typeface="微软雅黑" panose="020B0503020204020204" pitchFamily="34" charset="-122"/>
                <a:ea typeface="微软雅黑" panose="020B0503020204020204" pitchFamily="34" charset="-122"/>
              </a:rPr>
              <a:t>反竞争性抑制剂降低</a:t>
            </a:r>
            <a:r>
              <a:rPr lang="zh-CN" altLang="en-US" sz="2400" dirty="0">
                <a:solidFill>
                  <a:srgbClr val="FF0000"/>
                </a:solidFill>
                <a:latin typeface="微软雅黑" panose="020B0503020204020204" pitchFamily="34" charset="-122"/>
                <a:ea typeface="微软雅黑" panose="020B0503020204020204" pitchFamily="34" charset="-122"/>
              </a:rPr>
              <a:t>了测量的V</a:t>
            </a:r>
            <a:r>
              <a:rPr lang="zh-CN" altLang="en-US" sz="2400" baseline="-25000" dirty="0">
                <a:solidFill>
                  <a:srgbClr val="FF0000"/>
                </a:solidFill>
                <a:latin typeface="微软雅黑" panose="020B0503020204020204" pitchFamily="34" charset="-122"/>
                <a:ea typeface="微软雅黑" panose="020B0503020204020204" pitchFamily="34" charset="-122"/>
              </a:rPr>
              <a:t>max；</a:t>
            </a:r>
            <a:r>
              <a:rPr lang="zh-CN" altLang="en-US" sz="2400" dirty="0">
                <a:solidFill>
                  <a:srgbClr val="FF0000"/>
                </a:solidFill>
                <a:latin typeface="微软雅黑" panose="020B0503020204020204" pitchFamily="34" charset="-122"/>
                <a:ea typeface="微软雅黑" panose="020B0503020204020204" pitchFamily="34" charset="-122"/>
              </a:rPr>
              <a:t>表观K</a:t>
            </a:r>
            <a:r>
              <a:rPr lang="zh-CN" altLang="en-US" sz="2400" baseline="-25000" dirty="0">
                <a:solidFill>
                  <a:srgbClr val="FF0000"/>
                </a:solidFill>
                <a:latin typeface="微软雅黑" panose="020B0503020204020204" pitchFamily="34" charset="-122"/>
                <a:ea typeface="微软雅黑" panose="020B0503020204020204" pitchFamily="34" charset="-122"/>
              </a:rPr>
              <a:t>m</a:t>
            </a:r>
            <a:r>
              <a:rPr lang="zh-CN" altLang="en-US" sz="2400" dirty="0">
                <a:solidFill>
                  <a:srgbClr val="FF0000"/>
                </a:solidFill>
                <a:latin typeface="微软雅黑" panose="020B0503020204020204" pitchFamily="34" charset="-122"/>
                <a:ea typeface="微软雅黑" panose="020B0503020204020204" pitchFamily="34" charset="-122"/>
              </a:rPr>
              <a:t>也降低了。</a:t>
            </a:r>
          </a:p>
        </p:txBody>
      </p:sp>
      <p:pic>
        <p:nvPicPr>
          <p:cNvPr id="9" name="图片 8"/>
          <p:cNvPicPr>
            <a:picLocks noChangeAspect="1"/>
          </p:cNvPicPr>
          <p:nvPr/>
        </p:nvPicPr>
        <p:blipFill rotWithShape="1">
          <a:blip r:embed="rId4"/>
          <a:srcRect t="9184" b="24162"/>
          <a:stretch/>
        </p:blipFill>
        <p:spPr>
          <a:xfrm>
            <a:off x="4756331" y="5162309"/>
            <a:ext cx="2750867" cy="912139"/>
          </a:xfrm>
          <a:prstGeom prst="rect">
            <a:avLst/>
          </a:prstGeom>
        </p:spPr>
      </p:pic>
      <p:pic>
        <p:nvPicPr>
          <p:cNvPr id="133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8163" y="3645498"/>
            <a:ext cx="2953583" cy="3212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47923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853" y="1282690"/>
            <a:ext cx="10135092" cy="4900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1198562" y="-37698"/>
            <a:ext cx="9083675" cy="923330"/>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可逆</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抑制剂小结</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198562" y="3543285"/>
            <a:ext cx="1261884" cy="523220"/>
          </a:xfrm>
          <a:prstGeom prst="rect">
            <a:avLst/>
          </a:prstGeom>
          <a:solidFill>
            <a:schemeClr val="accent5">
              <a:lumMod val="20000"/>
              <a:lumOff val="80000"/>
            </a:schemeClr>
          </a:solidFill>
        </p:spPr>
        <p:txBody>
          <a:bodyPr wrap="none" rtlCol="0" anchor="t">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无抑制</a:t>
            </a:r>
          </a:p>
        </p:txBody>
      </p:sp>
      <p:sp>
        <p:nvSpPr>
          <p:cNvPr id="6" name="文本框 5"/>
          <p:cNvSpPr txBox="1"/>
          <p:nvPr/>
        </p:nvSpPr>
        <p:spPr>
          <a:xfrm>
            <a:off x="960141" y="4187082"/>
            <a:ext cx="2339102" cy="523220"/>
          </a:xfrm>
          <a:prstGeom prst="rect">
            <a:avLst/>
          </a:prstGeom>
          <a:solidFill>
            <a:schemeClr val="accent5">
              <a:lumMod val="20000"/>
              <a:lumOff val="80000"/>
            </a:schemeClr>
          </a:solidFill>
        </p:spPr>
        <p:txBody>
          <a:bodyPr wrap="none" rtlCol="0" anchor="t">
            <a:spAutoFit/>
          </a:bodyPr>
          <a:lstStyle>
            <a:defPPr>
              <a:defRPr lang="en-US"/>
            </a:defPPr>
            <a:lvl1pPr>
              <a:defRPr sz="2800" b="1">
                <a:solidFill>
                  <a:srgbClr val="FF0000"/>
                </a:solidFill>
                <a:latin typeface="微软雅黑" panose="020B0503020204020204" pitchFamily="34" charset="-122"/>
                <a:ea typeface="微软雅黑" panose="020B0503020204020204" pitchFamily="34" charset="-122"/>
              </a:defRPr>
            </a:lvl1pPr>
          </a:lstStyle>
          <a:p>
            <a:r>
              <a:rPr lang="zh-CN" altLang="en-US" dirty="0"/>
              <a:t>竞争性抑制剂</a:t>
            </a:r>
          </a:p>
        </p:txBody>
      </p:sp>
      <p:sp>
        <p:nvSpPr>
          <p:cNvPr id="8" name="文本框 7"/>
          <p:cNvSpPr txBox="1"/>
          <p:nvPr/>
        </p:nvSpPr>
        <p:spPr>
          <a:xfrm>
            <a:off x="925416" y="4829750"/>
            <a:ext cx="2698175" cy="523220"/>
          </a:xfrm>
          <a:prstGeom prst="rect">
            <a:avLst/>
          </a:prstGeom>
          <a:solidFill>
            <a:schemeClr val="accent5">
              <a:lumMod val="20000"/>
              <a:lumOff val="80000"/>
            </a:schemeClr>
          </a:solidFill>
        </p:spPr>
        <p:txBody>
          <a:bodyPr wrap="none" rtlCol="0" anchor="t">
            <a:spAutoFit/>
          </a:bodyPr>
          <a:lstStyle>
            <a:defPPr>
              <a:defRPr lang="en-US"/>
            </a:defPPr>
            <a:lvl1pPr>
              <a:defRPr sz="2800" b="1">
                <a:solidFill>
                  <a:srgbClr val="FF0000"/>
                </a:solidFill>
                <a:latin typeface="微软雅黑" panose="020B0503020204020204" pitchFamily="34" charset="-122"/>
                <a:ea typeface="微软雅黑" panose="020B0503020204020204" pitchFamily="34" charset="-122"/>
              </a:defRPr>
            </a:lvl1pPr>
          </a:lstStyle>
          <a:p>
            <a:r>
              <a:rPr lang="zh-CN" altLang="en-US" dirty="0"/>
              <a:t>反竞争性抑制剂</a:t>
            </a:r>
          </a:p>
        </p:txBody>
      </p:sp>
      <p:sp>
        <p:nvSpPr>
          <p:cNvPr id="9" name="文本框 8"/>
          <p:cNvSpPr txBox="1"/>
          <p:nvPr/>
        </p:nvSpPr>
        <p:spPr>
          <a:xfrm>
            <a:off x="949308" y="5498964"/>
            <a:ext cx="2698175" cy="523220"/>
          </a:xfrm>
          <a:prstGeom prst="rect">
            <a:avLst/>
          </a:prstGeom>
          <a:solidFill>
            <a:schemeClr val="accent5">
              <a:lumMod val="20000"/>
              <a:lumOff val="80000"/>
            </a:schemeClr>
          </a:solidFill>
        </p:spPr>
        <p:txBody>
          <a:bodyPr wrap="none" rtlCol="0" anchor="t">
            <a:spAutoFit/>
          </a:bodyPr>
          <a:lstStyle>
            <a:defPPr>
              <a:defRPr lang="en-US"/>
            </a:defPPr>
            <a:lvl1pPr>
              <a:defRPr sz="2800" b="1">
                <a:solidFill>
                  <a:srgbClr val="FF0000"/>
                </a:solidFill>
                <a:latin typeface="微软雅黑" panose="020B0503020204020204" pitchFamily="34" charset="-122"/>
                <a:ea typeface="微软雅黑" panose="020B0503020204020204" pitchFamily="34" charset="-122"/>
              </a:defRPr>
            </a:lvl1pPr>
          </a:lstStyle>
          <a:p>
            <a:r>
              <a:rPr lang="zh-CN" altLang="en-US" dirty="0"/>
              <a:t>非竞争性抑制剂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135592" y="12619"/>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（四）不可逆抑制剂</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2409994" y="2786882"/>
            <a:ext cx="8832850" cy="2677656"/>
          </a:xfrm>
          <a:prstGeom prst="rect">
            <a:avLst/>
          </a:prstGeom>
          <a:noFill/>
        </p:spPr>
        <p:txBody>
          <a:bodyPr wrap="square" rtlCol="0" anchor="t">
            <a:spAutoFit/>
          </a:bodyPr>
          <a:lstStyle/>
          <a:p>
            <a:pPr marL="914400" indent="-457200">
              <a:lnSpc>
                <a:spcPct val="150000"/>
              </a:lnSpc>
              <a:buAutoNum type="arabicPeriod"/>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基团特异性抑制剂</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914400" indent="-457200">
              <a:lnSpc>
                <a:spcPct val="150000"/>
              </a:lnSpc>
              <a:buAutoNum type="arabicPeriod"/>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底物类似物抑制剂</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914400" indent="-457200">
              <a:lnSpc>
                <a:spcPct val="150000"/>
              </a:lnSpc>
              <a:buAutoNum type="arabicPeriod"/>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过渡态类似物抑制剂</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914400" indent="-457200">
              <a:lnSpc>
                <a:spcPct val="150000"/>
              </a:lnSpc>
              <a:buAutoNum type="arabicPeriod"/>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自杀型抑制剂</a:t>
            </a:r>
            <a:r>
              <a:rPr lang="zh-CN" altLang="zh-CN" sz="28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0" y="1282690"/>
            <a:ext cx="12192000" cy="1384995"/>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在不可逆抑制作用中，抑制剂通过形成</a:t>
            </a:r>
            <a:r>
              <a:rPr lang="zh-CN" altLang="en-US" sz="2800" b="1" dirty="0">
                <a:latin typeface="微软雅黑" panose="020B0503020204020204" pitchFamily="34" charset="-122"/>
                <a:ea typeface="微软雅黑" panose="020B0503020204020204" pitchFamily="34" charset="-122"/>
              </a:rPr>
              <a:t>共价键或非常稳定的非共价相互作用</a:t>
            </a:r>
            <a:r>
              <a:rPr lang="zh-CN" altLang="en-US" sz="2800" b="1" dirty="0">
                <a:solidFill>
                  <a:srgbClr val="FF0000"/>
                </a:solidFill>
                <a:latin typeface="微软雅黑" panose="020B0503020204020204" pitchFamily="34" charset="-122"/>
                <a:ea typeface="微软雅黑" panose="020B0503020204020204" pitchFamily="34" charset="-122"/>
              </a:rPr>
              <a:t>永久</a:t>
            </a:r>
            <a:r>
              <a:rPr lang="zh-CN" altLang="en-US" sz="2800" dirty="0">
                <a:latin typeface="微软雅黑" panose="020B0503020204020204" pitchFamily="34" charset="-122"/>
                <a:ea typeface="微软雅黑" panose="020B0503020204020204" pitchFamily="34" charset="-122"/>
              </a:rPr>
              <a:t>地结合到活性位点上。</a:t>
            </a:r>
          </a:p>
        </p:txBody>
      </p:sp>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0"/>
            <a:ext cx="9083675" cy="825098"/>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（四）不可逆抑制剂</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0" y="1120643"/>
            <a:ext cx="8832850" cy="1159613"/>
          </a:xfrm>
          <a:prstGeom prst="rect">
            <a:avLst/>
          </a:prstGeom>
          <a:noFill/>
        </p:spPr>
        <p:txBody>
          <a:bodyPr wrap="square" rtlCol="0" anchor="t">
            <a:spAutoFit/>
          </a:bodyPr>
          <a:lstStyle/>
          <a:p>
            <a:pPr marL="914400" indent="-457200">
              <a:lnSpc>
                <a:spcPct val="120000"/>
              </a:lnSpc>
              <a:buAutoNum type="arabicPeriod"/>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基团特异性抑制剂</a:t>
            </a:r>
            <a:endParaRPr lang="zh-CN"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marL="1447800" lvl="1">
              <a:lnSpc>
                <a:spcPct val="120000"/>
              </a:lnSpc>
              <a:spcBef>
                <a:spcPts val="600"/>
              </a:spcBef>
              <a:buClr>
                <a:srgbClr val="000000"/>
              </a:buClr>
              <a:buFont typeface="Arial" panose="020B0604020202020204" pitchFamily="34" charset="0"/>
              <a:buChar char="•"/>
            </a:pPr>
            <a:endPar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78616" y="2144168"/>
            <a:ext cx="5859122" cy="2794611"/>
          </a:xfrm>
          <a:prstGeom prst="rect">
            <a:avLst/>
          </a:prstGeom>
          <a:noFill/>
        </p:spPr>
        <p:txBody>
          <a:bodyPr wrap="square" rtlCol="0" anchor="t">
            <a:spAutoFit/>
          </a:bodyPr>
          <a:lstStyle/>
          <a:p>
            <a:pPr marL="342900" indent="-342900">
              <a:lnSpc>
                <a:spcPct val="150000"/>
              </a:lnSpc>
              <a:spcBef>
                <a:spcPts val="12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这类抑制剂在结构上与底物无相似之处，但能</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共价修饰酶活性中心上的必需侧链基团</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而导致酶活性不可逆的失活。</a:t>
            </a:r>
          </a:p>
          <a:p>
            <a:pPr marL="342900" indent="-342900">
              <a:lnSpc>
                <a:spcPct val="120000"/>
              </a:lnSpc>
              <a:spcBef>
                <a:spcPts val="12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糜蛋白酶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Ser</a:t>
            </a:r>
            <a:r>
              <a:rPr lang="zh-CN" altLang="zh-CN" sz="2400" baseline="-25000" dirty="0">
                <a:latin typeface="微软雅黑" panose="020B0503020204020204" pitchFamily="34" charset="-122"/>
                <a:ea typeface="微软雅黑" panose="020B0503020204020204" pitchFamily="34" charset="-122"/>
                <a:cs typeface="微软雅黑" panose="020B0503020204020204" pitchFamily="34" charset="-122"/>
                <a:sym typeface="+mn-ea"/>
              </a:rPr>
              <a:t>195</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与</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二异丙基氟磷酸盐 (DIFP)</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的反应不可逆地抑制该酶。 </a:t>
            </a:r>
          </a:p>
        </p:txBody>
      </p:sp>
      <p:pic>
        <p:nvPicPr>
          <p:cNvPr id="4" name="图片 3"/>
          <p:cNvPicPr>
            <a:picLocks noChangeAspect="1"/>
          </p:cNvPicPr>
          <p:nvPr/>
        </p:nvPicPr>
        <p:blipFill rotWithShape="1">
          <a:blip r:embed="rId2"/>
          <a:srcRect l="4245" t="4807" r="4445"/>
          <a:stretch/>
        </p:blipFill>
        <p:spPr>
          <a:xfrm>
            <a:off x="6137738" y="1120643"/>
            <a:ext cx="6037345" cy="5372753"/>
          </a:xfrm>
          <a:prstGeom prst="rect">
            <a:avLst/>
          </a:prstGeom>
        </p:spPr>
      </p:pic>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14" t="3052" r="2141" b="5057"/>
          <a:stretch/>
        </p:blipFill>
        <p:spPr bwMode="auto">
          <a:xfrm>
            <a:off x="4403812" y="917648"/>
            <a:ext cx="7788188" cy="5836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584326" y="0"/>
            <a:ext cx="9083675" cy="825098"/>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（四）不可逆抑制剂</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0" y="1021080"/>
            <a:ext cx="4872225" cy="609398"/>
          </a:xfrm>
          <a:prstGeom prst="rect">
            <a:avLst/>
          </a:prstGeom>
          <a:noFill/>
        </p:spPr>
        <p:txBody>
          <a:bodyPr wrap="square" rtlCol="0" anchor="t">
            <a:spAutoFit/>
          </a:bodyPr>
          <a:lstStyle/>
          <a:p>
            <a:pPr marL="914400" indent="-457200">
              <a:lnSpc>
                <a:spcPct val="120000"/>
              </a:lnSpc>
              <a:buFont typeface="+mj-lt"/>
              <a:buAutoNum type="arabicPeriod" startAt="2"/>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底物类似物抑制剂</a:t>
            </a:r>
          </a:p>
        </p:txBody>
      </p:sp>
      <p:sp>
        <p:nvSpPr>
          <p:cNvPr id="3" name="文本框 2"/>
          <p:cNvSpPr txBox="1"/>
          <p:nvPr/>
        </p:nvSpPr>
        <p:spPr>
          <a:xfrm>
            <a:off x="240493" y="1970123"/>
            <a:ext cx="4391238" cy="3905043"/>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这类抑制剂在结构上相似于底物，因此在活性中心与酶结合，然后不可逆地修饰酶活性中心上的必需基团，导致酶活性的丧失。</a:t>
            </a:r>
          </a:p>
          <a:p>
            <a:pPr marL="342900" indent="-342900">
              <a:lnSpc>
                <a:spcPct val="150000"/>
              </a:lnSpc>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如：TPCK对糜蛋白酶活性中心His的修饰</a:t>
            </a:r>
          </a:p>
        </p:txBody>
      </p:sp>
      <p:sp>
        <p:nvSpPr>
          <p:cNvPr id="4" name="文本框 3"/>
          <p:cNvSpPr txBox="1"/>
          <p:nvPr/>
        </p:nvSpPr>
        <p:spPr>
          <a:xfrm>
            <a:off x="5992914" y="3369646"/>
            <a:ext cx="492443" cy="336695"/>
          </a:xfrm>
          <a:prstGeom prst="rect">
            <a:avLst/>
          </a:prstGeom>
          <a:noFill/>
        </p:spPr>
        <p:txBody>
          <a:bodyPr wrap="none" rtlCol="0" anchor="t">
            <a:spAutoFit/>
          </a:bodyPr>
          <a:lstStyle/>
          <a:p>
            <a:pPr>
              <a:lnSpc>
                <a:spcPct val="150000"/>
              </a:lnSpc>
            </a:pPr>
            <a:r>
              <a:rPr lang="zh-CN" altLang="en-US" sz="1200" b="1" dirty="0">
                <a:latin typeface="微软雅黑" panose="020B0503020204020204" pitchFamily="34" charset="-122"/>
                <a:ea typeface="微软雅黑" panose="020B0503020204020204" pitchFamily="34" charset="-122"/>
              </a:rPr>
              <a:t>底物</a:t>
            </a:r>
          </a:p>
        </p:txBody>
      </p:sp>
      <p:sp>
        <p:nvSpPr>
          <p:cNvPr id="6" name="文本框 5"/>
          <p:cNvSpPr txBox="1"/>
          <p:nvPr/>
        </p:nvSpPr>
        <p:spPr>
          <a:xfrm>
            <a:off x="6126163" y="6158231"/>
            <a:ext cx="954107" cy="336695"/>
          </a:xfrm>
          <a:prstGeom prst="rect">
            <a:avLst/>
          </a:prstGeom>
          <a:noFill/>
        </p:spPr>
        <p:txBody>
          <a:bodyPr wrap="none" rtlCol="0" anchor="t">
            <a:spAutoFit/>
          </a:bodyPr>
          <a:lstStyle/>
          <a:p>
            <a:pPr>
              <a:lnSpc>
                <a:spcPct val="150000"/>
              </a:lnSpc>
            </a:pPr>
            <a:r>
              <a:rPr lang="zh-CN" altLang="en-US" sz="1200" b="1" dirty="0">
                <a:latin typeface="微软雅黑" panose="020B0503020204020204" pitchFamily="34" charset="-122"/>
                <a:ea typeface="微软雅黑" panose="020B0503020204020204" pitchFamily="34" charset="-122"/>
              </a:rPr>
              <a:t>底物类似物</a:t>
            </a:r>
          </a:p>
        </p:txBody>
      </p:sp>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2810" y="-34724"/>
            <a:ext cx="9083675" cy="825098"/>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（四）不可逆抑制剂</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178223" y="1229734"/>
            <a:ext cx="8832850" cy="565604"/>
          </a:xfrm>
          <a:prstGeom prst="rect">
            <a:avLst/>
          </a:prstGeom>
          <a:noFill/>
        </p:spPr>
        <p:txBody>
          <a:bodyPr wrap="square" rtlCol="0" anchor="t">
            <a:spAutoFit/>
          </a:bodyPr>
          <a:lstStyle/>
          <a:p>
            <a:pPr marL="914400" indent="-457200">
              <a:lnSpc>
                <a:spcPct val="120000"/>
              </a:lnSpc>
              <a:buFont typeface="+mj-lt"/>
              <a:buAutoNum type="arabicPeriod" startAt="3"/>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过渡态类似物抑制剂</a:t>
            </a:r>
          </a:p>
        </p:txBody>
      </p:sp>
      <p:sp>
        <p:nvSpPr>
          <p:cNvPr id="3" name="文本框 2"/>
          <p:cNvSpPr txBox="1"/>
          <p:nvPr/>
        </p:nvSpPr>
        <p:spPr>
          <a:xfrm>
            <a:off x="424619" y="2070927"/>
            <a:ext cx="6019800" cy="3493264"/>
          </a:xfrm>
          <a:prstGeom prst="rect">
            <a:avLst/>
          </a:prstGeom>
          <a:noFill/>
        </p:spPr>
        <p:txBody>
          <a:bodyPr wrap="square" rtlCol="0" anchor="t">
            <a:spAutoFit/>
          </a:bodyPr>
          <a:lstStyle/>
          <a:p>
            <a:pPr marL="342900" indent="-342900">
              <a:lnSpc>
                <a:spcPct val="150000"/>
              </a:lnSpc>
              <a:spcBef>
                <a:spcPts val="6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这类抑制剂与酶促反应的过渡态极为相似，它们在化学结构和分子形状上与酶的活性中心十分般配，能够以</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极高的亲和力与活性中心结合</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，从而导致底物无法进入而使得酶活性受到不可逆性抑制。</a:t>
            </a:r>
          </a:p>
          <a:p>
            <a:pPr marL="342900" indent="-342900">
              <a:lnSpc>
                <a:spcPct val="150000"/>
              </a:lnSpc>
              <a:spcBef>
                <a:spcPts val="600"/>
              </a:spcBef>
              <a:buFont typeface="Arial" panose="020B0604020202020204" pitchFamily="34" charset="0"/>
              <a:buChar char="•"/>
            </a:pP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7" name="图片 16"/>
          <p:cNvPicPr>
            <a:picLocks noChangeAspect="1"/>
          </p:cNvPicPr>
          <p:nvPr/>
        </p:nvPicPr>
        <p:blipFill rotWithShape="1">
          <a:blip r:embed="rId2"/>
          <a:srcRect r="3568"/>
          <a:stretch/>
        </p:blipFill>
        <p:spPr>
          <a:xfrm>
            <a:off x="7394456" y="0"/>
            <a:ext cx="4797544" cy="6858000"/>
          </a:xfrm>
          <a:prstGeom prst="rect">
            <a:avLst/>
          </a:prstGeom>
        </p:spPr>
      </p:pic>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2">
            <a:lum contrast="-6000"/>
            <a:extLst>
              <a:ext uri="{28A0092B-C50C-407E-A947-70E740481C1C}">
                <a14:useLocalDpi xmlns:a14="http://schemas.microsoft.com/office/drawing/2010/main" val="0"/>
              </a:ext>
            </a:extLst>
          </a:blip>
          <a:srcRect/>
          <a:stretch>
            <a:fillRect/>
          </a:stretch>
        </p:blipFill>
        <p:spPr bwMode="auto">
          <a:xfrm>
            <a:off x="3808071" y="2403820"/>
            <a:ext cx="8383929" cy="4454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584326" y="0"/>
            <a:ext cx="9083675" cy="825098"/>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（四）不可逆抑制剂</a:t>
            </a:r>
            <a:endParaRPr lang="zh-CN" altLang="en-US" sz="3600" dirty="0">
              <a:solidFill>
                <a:schemeClr val="bg1"/>
              </a:solidFill>
              <a:effectLst>
                <a:outerShdw blurRad="38100" dist="38100" dir="2700000" algn="tl">
                  <a:srgbClr val="000000">
                    <a:alpha val="43137"/>
                  </a:srgbClr>
                </a:outerShdw>
              </a:effectLst>
              <a:latin typeface="Times" panose="00000500000000020000" charset="0"/>
              <a:ea typeface="楷体" panose="02010609060101010101" pitchFamily="49" charset="-122"/>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149183" y="827606"/>
            <a:ext cx="9673668" cy="560923"/>
          </a:xfrm>
          <a:prstGeom prst="rect">
            <a:avLst/>
          </a:prstGeom>
          <a:noFill/>
        </p:spPr>
        <p:txBody>
          <a:bodyPr wrap="square" rtlCol="0" anchor="t">
            <a:spAutoFit/>
          </a:bodyPr>
          <a:lstStyle/>
          <a:p>
            <a:pPr marL="914400" indent="-457200">
              <a:lnSpc>
                <a:spcPct val="120000"/>
              </a:lnSpc>
              <a:buFont typeface="+mj-lt"/>
              <a:buAutoNum type="arabicPeriod" startAt="4"/>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自杀型</a:t>
            </a:r>
            <a:r>
              <a:rPr lang="zh-CN" altLang="zh-CN" sz="28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抑制剂</a:t>
            </a:r>
            <a:r>
              <a:rPr lang="zh-CN" altLang="en-US" sz="2800" b="1" dirty="0">
                <a:solidFill>
                  <a:srgbClr val="FF0000"/>
                </a:solidFill>
                <a:latin typeface="楷体" pitchFamily="49" charset="-122"/>
                <a:ea typeface="楷体" pitchFamily="49" charset="-122"/>
                <a:cs typeface="Times New Roman" pitchFamily="18" charset="0"/>
              </a:rPr>
              <a:t>（农夫与蛇的故事</a:t>
            </a:r>
            <a:r>
              <a:rPr lang="zh-CN" altLang="en-US" sz="2800" b="1" dirty="0" smtClean="0">
                <a:solidFill>
                  <a:srgbClr val="FF0000"/>
                </a:solidFill>
                <a:latin typeface="楷体" pitchFamily="49" charset="-122"/>
                <a:ea typeface="楷体" pitchFamily="49" charset="-122"/>
                <a:cs typeface="Times New Roman" pitchFamily="18" charset="0"/>
              </a:rPr>
              <a:t>）</a:t>
            </a:r>
            <a:endPar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0" y="1388529"/>
            <a:ext cx="12192000" cy="1421928"/>
          </a:xfrm>
          <a:prstGeom prst="rect">
            <a:avLst/>
          </a:prstGeom>
          <a:noFill/>
        </p:spPr>
        <p:txBody>
          <a:bodyPr wrap="square" rtlCol="0" anchor="t">
            <a:spAutoFit/>
          </a:bodyPr>
          <a:lstStyle/>
          <a:p>
            <a:pPr indent="-457200">
              <a:lnSpc>
                <a:spcPct val="120000"/>
              </a:lnSpc>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这类抑制剂受酶本身的激活，在与酶结合以后，受到酶的催化发生几步反应，但并不形成产物，而是变成高度反应性的化合物后，转而修饰酶的必需基团导致酶活性的丧失。</a:t>
            </a:r>
          </a:p>
          <a:p>
            <a:pPr indent="-457200">
              <a:lnSpc>
                <a:spcPct val="120000"/>
              </a:lnSpc>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比如，</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青霉素抑制转肽酶</a:t>
            </a:r>
          </a:p>
        </p:txBody>
      </p:sp>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753168" y="262031"/>
              <a:ext cx="662834" cy="559241"/>
            </a:xfrm>
            <a:prstGeom prst="rect">
              <a:avLst/>
            </a:prstGeom>
            <a:noFill/>
          </p:spPr>
          <p:txBody>
            <a:bodyPr wrap="square" lIns="68580" tIns="34290" rIns="68580" bIns="34290" rtlCol="0">
              <a:spAutoFit/>
            </a:bodyPr>
            <a:lstStyle/>
            <a:p>
              <a:r>
                <a:rPr lang="en-US" altLang="zh-CN" sz="8000" dirty="0" smtClean="0">
                  <a:solidFill>
                    <a:schemeClr val="bg1">
                      <a:lumMod val="95000"/>
                    </a:schemeClr>
                  </a:solidFill>
                  <a:latin typeface="Impact" panose="020B0806030902050204" pitchFamily="34" charset="0"/>
                </a:rPr>
                <a:t>2</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682432"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酶活性的调节控制</a:t>
            </a:r>
          </a:p>
        </p:txBody>
      </p:sp>
    </p:spTree>
    <p:extLst>
      <p:ext uri="{BB962C8B-B14F-4D97-AF65-F5344CB8AC3E}">
        <p14:creationId xmlns:p14="http://schemas.microsoft.com/office/powerpoint/2010/main" val="338200384"/>
      </p:ext>
    </p:extLst>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64112" y="11195"/>
            <a:ext cx="3877985"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一、酶活性</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的调节</a:t>
            </a:r>
            <a:endParaRPr lang="zh-CN" altLang="en-US" sz="3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830826" y="1332864"/>
            <a:ext cx="10530347" cy="130888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sym typeface="+mn-ea"/>
              </a:rPr>
              <a:t>调节酶催化活性，响应某些信号增加或降低，使细胞能够满足不断变化的能量和生物分子需求。</a:t>
            </a:r>
          </a:p>
        </p:txBody>
      </p:sp>
      <p:sp>
        <p:nvSpPr>
          <p:cNvPr id="8" name="文本框 7"/>
          <p:cNvSpPr txBox="1"/>
          <p:nvPr/>
        </p:nvSpPr>
        <p:spPr>
          <a:xfrm>
            <a:off x="3990656" y="2933212"/>
            <a:ext cx="4210685" cy="3318409"/>
          </a:xfrm>
          <a:prstGeom prst="rect">
            <a:avLst/>
          </a:prstGeom>
          <a:noFill/>
        </p:spPr>
        <p:txBody>
          <a:bodyPr wrap="square" rtlCol="0" anchor="t">
            <a:spAutoFit/>
          </a:bodyPr>
          <a:lstStyle/>
          <a:p>
            <a:pPr marL="285750" indent="-285750">
              <a:lnSpc>
                <a:spcPct val="150000"/>
              </a:lnSpc>
              <a:buClr>
                <a:srgbClr val="000000"/>
              </a:buClr>
              <a:buFont typeface="Arial" panose="020B0604020202020204" pitchFamily="34" charset="0"/>
              <a:buChar char="•"/>
            </a:pPr>
            <a:r>
              <a:rPr lang="zh-CN" altLang="zh-CN" sz="3600" b="1" dirty="0">
                <a:latin typeface="微软雅黑" panose="020B0503020204020204" pitchFamily="34" charset="-122"/>
                <a:ea typeface="微软雅黑" panose="020B0503020204020204" pitchFamily="34" charset="-122"/>
                <a:sym typeface="+mn-ea"/>
              </a:rPr>
              <a:t>别构调节</a:t>
            </a:r>
          </a:p>
          <a:p>
            <a:pPr marL="285750" indent="-285750">
              <a:lnSpc>
                <a:spcPct val="150000"/>
              </a:lnSpc>
              <a:buClr>
                <a:srgbClr val="000000"/>
              </a:buClr>
              <a:buFont typeface="Arial" panose="020B0604020202020204" pitchFamily="34" charset="0"/>
              <a:buChar char="•"/>
            </a:pPr>
            <a:r>
              <a:rPr lang="zh-CN" altLang="zh-CN" sz="3600" b="1" dirty="0">
                <a:latin typeface="微软雅黑" panose="020B0503020204020204" pitchFamily="34" charset="-122"/>
                <a:ea typeface="微软雅黑" panose="020B0503020204020204" pitchFamily="34" charset="-122"/>
                <a:sym typeface="+mn-ea"/>
              </a:rPr>
              <a:t>共价修饰调节</a:t>
            </a:r>
          </a:p>
          <a:p>
            <a:pPr marL="285750" indent="-285750">
              <a:lnSpc>
                <a:spcPct val="150000"/>
              </a:lnSpc>
              <a:buClr>
                <a:srgbClr val="000000"/>
              </a:buClr>
              <a:buFont typeface="Arial" panose="020B0604020202020204" pitchFamily="34" charset="0"/>
              <a:buChar char="•"/>
            </a:pPr>
            <a:r>
              <a:rPr lang="zh-CN" altLang="zh-CN" sz="3600" b="1" dirty="0">
                <a:latin typeface="微软雅黑" panose="020B0503020204020204" pitchFamily="34" charset="-122"/>
                <a:ea typeface="微软雅黑" panose="020B0503020204020204" pitchFamily="34" charset="-122"/>
                <a:sym typeface="+mn-ea"/>
              </a:rPr>
              <a:t>水解激活</a:t>
            </a:r>
          </a:p>
          <a:p>
            <a:pPr marL="285750" indent="-285750">
              <a:lnSpc>
                <a:spcPct val="150000"/>
              </a:lnSpc>
              <a:buClr>
                <a:srgbClr val="000000"/>
              </a:buClr>
              <a:buFont typeface="Arial" panose="020B0604020202020204" pitchFamily="34" charset="0"/>
              <a:buChar char="•"/>
            </a:pPr>
            <a:endParaRPr lang="zh-CN" altLang="zh-CN" sz="3600" b="1" dirty="0">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280412844"/>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32476" y="0"/>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（一）别构调节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12499" y="1447400"/>
            <a:ext cx="11824330" cy="4832092"/>
          </a:xfrm>
          <a:prstGeom prst="rect">
            <a:avLst/>
          </a:prstGeom>
          <a:noFill/>
        </p:spPr>
        <p:txBody>
          <a:bodyPr wrap="square" rtlCol="0" anchor="ctr" anchorCtr="0">
            <a:spAutoFit/>
          </a:bodyPr>
          <a:lstStyle/>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一些酶（多亚基）除了</a:t>
            </a:r>
            <a:r>
              <a:rPr lang="zh-CN" altLang="zh-CN" sz="2400" u="sng" dirty="0">
                <a:latin typeface="微软雅黑" panose="020B0503020204020204" pitchFamily="34" charset="-122"/>
                <a:ea typeface="微软雅黑" panose="020B0503020204020204" pitchFamily="34" charset="-122"/>
                <a:cs typeface="微软雅黑" panose="020B0503020204020204" pitchFamily="34" charset="-122"/>
                <a:sym typeface="+mn-ea"/>
              </a:rPr>
              <a:t>活性中心</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以外，还含有</a:t>
            </a:r>
            <a:r>
              <a:rPr lang="zh-CN" altLang="zh-CN" sz="24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别构中心</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，能够结合一些特殊的配体（有时为底物）。</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结合配体</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以后，</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酶构象发生改变</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，从而影响到活性中心与底物的亲和力，并</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最终导致酶活性发生变化</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能够进行别构调节的酶称为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别构酶</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，配体分子称为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别构效应物</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。起抑制作用的称为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别构抑制剂</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，起激活作用的称为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别构激活剂</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由</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底物</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作为别构效应物称为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同促效应</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，否则，就称为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异促效应</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。许多别构酶具有多个别构中心，能够与不同的别构效应物结合。</a:t>
            </a:r>
          </a:p>
          <a:p>
            <a:pPr marL="285750" indent="-285750">
              <a:lnSpc>
                <a:spcPct val="150000"/>
              </a:lnSpc>
              <a:buClr>
                <a:srgbClr val="000000"/>
              </a:buClr>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5721801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856528" y="-358816"/>
            <a:ext cx="9525964" cy="7170516"/>
            <a:chOff x="2018665" y="1041400"/>
            <a:chExt cx="7623810" cy="5285105"/>
          </a:xfrm>
        </p:grpSpPr>
        <p:pic>
          <p:nvPicPr>
            <p:cNvPr id="2" name="图片 1"/>
            <p:cNvPicPr>
              <a:picLocks noChangeAspect="1"/>
            </p:cNvPicPr>
            <p:nvPr/>
          </p:nvPicPr>
          <p:blipFill>
            <a:blip r:embed="rId2"/>
            <a:srcRect l="1631" r="2370"/>
            <a:stretch>
              <a:fillRect/>
            </a:stretch>
          </p:blipFill>
          <p:spPr>
            <a:xfrm>
              <a:off x="2940685" y="1350645"/>
              <a:ext cx="4784090" cy="4975860"/>
            </a:xfrm>
            <a:prstGeom prst="rect">
              <a:avLst/>
            </a:prstGeom>
          </p:spPr>
        </p:pic>
        <p:sp>
          <p:nvSpPr>
            <p:cNvPr id="3"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6"/>
            <p:cNvSpPr/>
            <p:nvPr/>
          </p:nvSpPr>
          <p:spPr>
            <a:xfrm>
              <a:off x="3312796" y="1420065"/>
              <a:ext cx="1029970" cy="321636"/>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indent="0">
                <a:lnSpc>
                  <a:spcPct val="130000"/>
                </a:lnSpc>
                <a:spcBef>
                  <a:spcPts val="600"/>
                </a:spcBef>
                <a:buNone/>
              </a:pPr>
              <a:r>
                <a:rPr lang="zh-CN" altLang="en-US" sz="1800" b="1" dirty="0">
                  <a:latin typeface="微软雅黑" panose="020B0503020204020204" pitchFamily="34" charset="-122"/>
                  <a:ea typeface="微软雅黑" panose="020B0503020204020204" pitchFamily="34" charset="-122"/>
                </a:rPr>
                <a:t>催化亚基</a:t>
              </a:r>
            </a:p>
          </p:txBody>
        </p:sp>
        <p:sp>
          <p:nvSpPr>
            <p:cNvPr id="5" name="矩形 6"/>
            <p:cNvSpPr/>
            <p:nvPr/>
          </p:nvSpPr>
          <p:spPr>
            <a:xfrm>
              <a:off x="4416425" y="1417110"/>
              <a:ext cx="1029970" cy="321636"/>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indent="0">
                <a:lnSpc>
                  <a:spcPct val="130000"/>
                </a:lnSpc>
                <a:spcBef>
                  <a:spcPts val="600"/>
                </a:spcBef>
                <a:buNone/>
              </a:pPr>
              <a:r>
                <a:rPr lang="zh-CN" altLang="en-US" sz="1800" b="1" dirty="0">
                  <a:latin typeface="微软雅黑" panose="020B0503020204020204" pitchFamily="34" charset="-122"/>
                  <a:ea typeface="微软雅黑" panose="020B0503020204020204" pitchFamily="34" charset="-122"/>
                </a:rPr>
                <a:t>调节亚基</a:t>
              </a:r>
            </a:p>
          </p:txBody>
        </p:sp>
        <p:sp>
          <p:nvSpPr>
            <p:cNvPr id="6" name="文本框 6"/>
            <p:cNvSpPr txBox="1"/>
            <p:nvPr/>
          </p:nvSpPr>
          <p:spPr>
            <a:xfrm>
              <a:off x="7724775" y="1531315"/>
              <a:ext cx="981981" cy="606903"/>
            </a:xfrm>
            <a:prstGeom prst="rect">
              <a:avLst/>
            </a:prstGeom>
            <a:noFill/>
          </p:spPr>
          <p:txBody>
            <a:bodyPr wrap="none" rtlCol="0" anchor="t">
              <a:spAutoFit/>
            </a:bodyPr>
            <a:lstStyle/>
            <a:p>
              <a:pPr>
                <a:lnSpc>
                  <a:spcPct val="150000"/>
                </a:lnSpc>
              </a:pPr>
              <a:r>
                <a:rPr lang="zh-CN" altLang="zh-CN" sz="1600" b="1" dirty="0">
                  <a:latin typeface="微软雅黑" panose="020B0503020204020204" pitchFamily="34" charset="-122"/>
                  <a:ea typeface="微软雅黑" panose="020B0503020204020204" pitchFamily="34" charset="-122"/>
                  <a:cs typeface="微软雅黑" panose="020B0503020204020204" pitchFamily="34" charset="-122"/>
                  <a:sym typeface="+mn-ea"/>
                </a:rPr>
                <a:t>别构激活剂</a:t>
              </a:r>
            </a:p>
            <a:p>
              <a:pPr>
                <a:lnSpc>
                  <a:spcPct val="150000"/>
                </a:lnSpc>
              </a:pPr>
              <a:r>
                <a:rPr lang="zh-CN" altLang="en-US" sz="1600" b="1" dirty="0">
                  <a:latin typeface="微软雅黑" panose="020B0503020204020204" pitchFamily="34" charset="-122"/>
                  <a:ea typeface="微软雅黑" panose="020B0503020204020204" pitchFamily="34" charset="-122"/>
                </a:rPr>
                <a:t>底物</a:t>
              </a:r>
            </a:p>
          </p:txBody>
        </p:sp>
        <p:sp>
          <p:nvSpPr>
            <p:cNvPr id="7" name="文本框 7"/>
            <p:cNvSpPr txBox="1"/>
            <p:nvPr/>
          </p:nvSpPr>
          <p:spPr>
            <a:xfrm>
              <a:off x="6134736" y="2623729"/>
              <a:ext cx="815543" cy="322278"/>
            </a:xfrm>
            <a:prstGeom prst="rect">
              <a:avLst/>
            </a:prstGeom>
            <a:noFill/>
          </p:spPr>
          <p:txBody>
            <a:bodyPr wrap="none" rtlCol="0" anchor="t">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低活性酶</a:t>
              </a:r>
            </a:p>
          </p:txBody>
        </p:sp>
        <p:sp>
          <p:nvSpPr>
            <p:cNvPr id="8" name="文本框 8"/>
            <p:cNvSpPr txBox="1"/>
            <p:nvPr/>
          </p:nvSpPr>
          <p:spPr>
            <a:xfrm>
              <a:off x="6081711" y="4313772"/>
              <a:ext cx="815543" cy="322278"/>
            </a:xfrm>
            <a:prstGeom prst="rect">
              <a:avLst/>
            </a:prstGeom>
            <a:noFill/>
          </p:spPr>
          <p:txBody>
            <a:bodyPr wrap="none" rtlCol="0" anchor="t">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高活性酶</a:t>
              </a:r>
            </a:p>
          </p:txBody>
        </p:sp>
        <p:sp>
          <p:nvSpPr>
            <p:cNvPr id="9" name="文本框 9"/>
            <p:cNvSpPr txBox="1"/>
            <p:nvPr/>
          </p:nvSpPr>
          <p:spPr>
            <a:xfrm>
              <a:off x="6427792" y="5837449"/>
              <a:ext cx="1554110" cy="322278"/>
            </a:xfrm>
            <a:prstGeom prst="rect">
              <a:avLst/>
            </a:prstGeom>
            <a:noFill/>
          </p:spPr>
          <p:txBody>
            <a:bodyPr wrap="none" rtlCol="0" anchor="t">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活性酶</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底物复合体</a:t>
              </a:r>
            </a:p>
          </p:txBody>
        </p:sp>
      </p:grpSp>
      <p:sp>
        <p:nvSpPr>
          <p:cNvPr id="11" name="矩形 10"/>
          <p:cNvSpPr/>
          <p:nvPr/>
        </p:nvSpPr>
        <p:spPr>
          <a:xfrm>
            <a:off x="9584065" y="6148178"/>
            <a:ext cx="1107996" cy="369332"/>
          </a:xfrm>
          <a:prstGeom prst="rect">
            <a:avLst/>
          </a:prstGeom>
        </p:spPr>
        <p:txBody>
          <a:bodyPr wrap="none">
            <a:spAutoFit/>
          </a:bodyPr>
          <a:lstStyle/>
          <a:p>
            <a:r>
              <a:rPr lang="zh-CN"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异促效应</a:t>
            </a:r>
            <a:endParaRPr lang="zh-CN" altLang="en-US" dirty="0">
              <a:solidFill>
                <a:srgbClr val="FF0000"/>
              </a:solidFill>
            </a:endParaRPr>
          </a:p>
        </p:txBody>
      </p:sp>
    </p:spTree>
    <p:extLst>
      <p:ext uri="{BB962C8B-B14F-4D97-AF65-F5344CB8AC3E}">
        <p14:creationId xmlns:p14="http://schemas.microsoft.com/office/powerpoint/2010/main" val="10680892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p:cNvSpPr>
            <a:spLocks noGrp="1"/>
          </p:cNvSpPr>
          <p:nvPr>
            <p:ph idx="1"/>
          </p:nvPr>
        </p:nvSpPr>
        <p:spPr>
          <a:xfrm>
            <a:off x="1625600" y="1676400"/>
            <a:ext cx="8432800" cy="3733800"/>
          </a:xfrm>
        </p:spPr>
        <p:txBody>
          <a:bodyPr>
            <a:normAutofit/>
          </a:bodyPr>
          <a:lstStyle/>
          <a:p>
            <a:pPr marL="990600" lvl="1" indent="-533400">
              <a:buClr>
                <a:srgbClr val="FF0000"/>
              </a:buClr>
              <a:buFontTx/>
              <a:buAutoNum type="circleNumDbPlain"/>
            </a:pPr>
            <a:r>
              <a:rPr lang="zh-CN" altLang="zh-CN" sz="3200" b="1" dirty="0">
                <a:latin typeface="Times New Roman" pitchFamily="18" charset="0"/>
                <a:ea typeface="楷体" pitchFamily="49" charset="-122"/>
                <a:cs typeface="Times New Roman" pitchFamily="18" charset="0"/>
              </a:rPr>
              <a:t>速</a:t>
            </a:r>
            <a:r>
              <a:rPr lang="zh-CN" altLang="en-US" sz="3200" b="1" dirty="0">
                <a:latin typeface="Times New Roman" pitchFamily="18" charset="0"/>
                <a:ea typeface="楷体" pitchFamily="49" charset="-122"/>
                <a:cs typeface="Times New Roman" pitchFamily="18" charset="0"/>
              </a:rPr>
              <a:t>率</a:t>
            </a:r>
            <a:r>
              <a:rPr lang="en-US" altLang="zh-CN" sz="3200" b="1" dirty="0">
                <a:latin typeface="Times New Roman" pitchFamily="18" charset="0"/>
                <a:ea typeface="楷体" pitchFamily="49" charset="-122"/>
                <a:cs typeface="Times New Roman" pitchFamily="18" charset="0"/>
              </a:rPr>
              <a:t>/</a:t>
            </a:r>
            <a:r>
              <a:rPr lang="zh-CN" altLang="zh-CN" sz="3200" b="1" dirty="0">
                <a:latin typeface="Times New Roman" pitchFamily="18" charset="0"/>
                <a:ea typeface="楷体" pitchFamily="49" charset="-122"/>
                <a:cs typeface="Times New Roman" pitchFamily="18" charset="0"/>
              </a:rPr>
              <a:t>底物浓度曲线为</a:t>
            </a:r>
            <a:r>
              <a:rPr lang="en-US" altLang="zh-CN" sz="3200" b="1" dirty="0">
                <a:latin typeface="Times New Roman" pitchFamily="18" charset="0"/>
                <a:ea typeface="楷体" pitchFamily="49" charset="-122"/>
                <a:cs typeface="Times New Roman" pitchFamily="18" charset="0"/>
              </a:rPr>
              <a:t>S</a:t>
            </a:r>
            <a:r>
              <a:rPr lang="zh-CN" altLang="zh-CN" sz="3200" b="1" dirty="0">
                <a:latin typeface="Times New Roman" pitchFamily="18" charset="0"/>
                <a:ea typeface="楷体" pitchFamily="49" charset="-122"/>
                <a:cs typeface="Times New Roman" pitchFamily="18" charset="0"/>
              </a:rPr>
              <a:t>型</a:t>
            </a:r>
            <a:endParaRPr lang="en-US" altLang="zh-CN" sz="3200" b="1" dirty="0">
              <a:latin typeface="Times New Roman" pitchFamily="18" charset="0"/>
              <a:ea typeface="楷体" pitchFamily="49" charset="-122"/>
              <a:cs typeface="Times New Roman" pitchFamily="18" charset="0"/>
            </a:endParaRPr>
          </a:p>
          <a:p>
            <a:pPr marL="990600" lvl="1" indent="-533400">
              <a:buClr>
                <a:srgbClr val="FF0000"/>
              </a:buClr>
              <a:buFontTx/>
              <a:buAutoNum type="circleNumDbPlain"/>
            </a:pPr>
            <a:r>
              <a:rPr lang="zh-CN" altLang="zh-CN" sz="3200" b="1" dirty="0" smtClean="0">
                <a:latin typeface="Times New Roman" pitchFamily="18" charset="0"/>
                <a:ea typeface="楷体" pitchFamily="49" charset="-122"/>
                <a:cs typeface="Times New Roman" pitchFamily="18" charset="0"/>
              </a:rPr>
              <a:t>具有</a:t>
            </a:r>
            <a:r>
              <a:rPr lang="zh-CN" altLang="zh-CN" sz="3200" b="1" dirty="0" smtClean="0">
                <a:latin typeface="Times New Roman" pitchFamily="18" charset="0"/>
                <a:ea typeface="楷体" pitchFamily="49" charset="-122"/>
                <a:cs typeface="Times New Roman" pitchFamily="18" charset="0"/>
              </a:rPr>
              <a:t>别构效应物</a:t>
            </a:r>
            <a:endParaRPr lang="en-US" altLang="zh-CN" sz="3200" b="1" dirty="0" smtClean="0">
              <a:latin typeface="Times New Roman" pitchFamily="18" charset="0"/>
              <a:ea typeface="楷体" pitchFamily="49" charset="-122"/>
              <a:cs typeface="Times New Roman" pitchFamily="18" charset="0"/>
            </a:endParaRPr>
          </a:p>
          <a:p>
            <a:pPr marL="990600" lvl="1" indent="-533400">
              <a:buClr>
                <a:srgbClr val="FF0000"/>
              </a:buClr>
              <a:buFontTx/>
              <a:buAutoNum type="circleNumDbPlain"/>
            </a:pPr>
            <a:r>
              <a:rPr lang="zh-CN" altLang="zh-CN" sz="3200" b="1" dirty="0" smtClean="0">
                <a:latin typeface="Times New Roman" pitchFamily="18" charset="0"/>
                <a:ea typeface="楷体" pitchFamily="49" charset="-122"/>
                <a:cs typeface="Times New Roman" pitchFamily="18" charset="0"/>
              </a:rPr>
              <a:t>对竞争性抑制的作用表现双相反应</a:t>
            </a:r>
          </a:p>
          <a:p>
            <a:pPr marL="990600" lvl="1" indent="-533400">
              <a:buClr>
                <a:srgbClr val="FF0000"/>
              </a:buClr>
              <a:buFontTx/>
              <a:buAutoNum type="circleNumDbPlain"/>
            </a:pPr>
            <a:r>
              <a:rPr lang="zh-CN" altLang="zh-CN" sz="3200" b="1" dirty="0" smtClean="0">
                <a:latin typeface="Times New Roman" pitchFamily="18" charset="0"/>
                <a:ea typeface="楷体" pitchFamily="49" charset="-122"/>
                <a:cs typeface="Times New Roman" pitchFamily="18" charset="0"/>
              </a:rPr>
              <a:t>温和变性可导致别构效应的丧失</a:t>
            </a:r>
          </a:p>
          <a:p>
            <a:pPr marL="990600" lvl="1" indent="-533400">
              <a:buClr>
                <a:srgbClr val="FF0000"/>
              </a:buClr>
              <a:buFontTx/>
              <a:buAutoNum type="circleNumDbPlain"/>
            </a:pPr>
            <a:r>
              <a:rPr lang="zh-CN" altLang="zh-CN" sz="3200" b="1" dirty="0" smtClean="0">
                <a:latin typeface="Times New Roman" pitchFamily="18" charset="0"/>
                <a:ea typeface="楷体" pitchFamily="49" charset="-122"/>
                <a:cs typeface="Times New Roman" pitchFamily="18" charset="0"/>
              </a:rPr>
              <a:t>通常是寡聚酶</a:t>
            </a:r>
            <a:endParaRPr lang="en-US" altLang="zh-CN" sz="3200" b="1" dirty="0" smtClean="0">
              <a:latin typeface="Times New Roman" pitchFamily="18" charset="0"/>
              <a:ea typeface="楷体" pitchFamily="49" charset="-122"/>
              <a:cs typeface="Times New Roman" pitchFamily="18" charset="0"/>
            </a:endParaRPr>
          </a:p>
          <a:p>
            <a:pPr marL="990600" lvl="1" indent="-533400">
              <a:buClr>
                <a:srgbClr val="FF0000"/>
              </a:buClr>
              <a:buFontTx/>
              <a:buAutoNum type="circleNumDbPlain"/>
            </a:pPr>
            <a:r>
              <a:rPr lang="zh-CN" altLang="zh-CN" sz="3200" b="1" dirty="0" smtClean="0">
                <a:latin typeface="Times New Roman" pitchFamily="18" charset="0"/>
                <a:ea typeface="楷体" pitchFamily="49" charset="-122"/>
                <a:cs typeface="Times New Roman" pitchFamily="18" charset="0"/>
              </a:rPr>
              <a:t>与非别构酶相比，别构酶占</a:t>
            </a:r>
            <a:r>
              <a:rPr lang="zh-CN" altLang="zh-CN" sz="3200" b="1" dirty="0" smtClean="0">
                <a:latin typeface="Times New Roman" pitchFamily="18" charset="0"/>
                <a:ea typeface="楷体" pitchFamily="49" charset="-122"/>
                <a:cs typeface="Times New Roman" pitchFamily="18" charset="0"/>
              </a:rPr>
              <a:t>少数</a:t>
            </a:r>
            <a:endParaRPr lang="en-US" altLang="zh-CN" sz="3200" b="1" dirty="0" smtClean="0">
              <a:latin typeface="Times New Roman" pitchFamily="18" charset="0"/>
              <a:ea typeface="楷体" pitchFamily="49" charset="-122"/>
              <a:cs typeface="Times New Roman" pitchFamily="18" charset="0"/>
            </a:endParaRPr>
          </a:p>
        </p:txBody>
      </p:sp>
      <p:sp>
        <p:nvSpPr>
          <p:cNvPr id="36867" name="Rectangle 6"/>
          <p:cNvSpPr>
            <a:spLocks noChangeArrowheads="1"/>
          </p:cNvSpPr>
          <p:nvPr/>
        </p:nvSpPr>
        <p:spPr bwMode="auto">
          <a:xfrm>
            <a:off x="4065306" y="349827"/>
            <a:ext cx="3243196" cy="825419"/>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wrap="square" rtlCol="0" anchor="t">
            <a:spAutoFit/>
          </a:bodyPr>
          <a:lstStyle/>
          <a:p>
            <a:pPr>
              <a:lnSpc>
                <a:spcPct val="150000"/>
              </a:lnSpc>
              <a:buClr>
                <a:srgbClr val="000000"/>
              </a:buClr>
            </a:pPr>
            <a:r>
              <a:rPr lang="zh-CN" altLang="en-US" sz="3600" b="1" dirty="0">
                <a:latin typeface="微软雅黑" panose="020B0503020204020204" pitchFamily="34" charset="-122"/>
                <a:ea typeface="微软雅黑" panose="020B0503020204020204" pitchFamily="34" charset="-122"/>
              </a:rPr>
              <a:t>别构酶的性质</a:t>
            </a:r>
          </a:p>
        </p:txBody>
      </p:sp>
    </p:spTree>
    <p:extLst>
      <p:ext uri="{BB962C8B-B14F-4D97-AF65-F5344CB8AC3E}">
        <p14:creationId xmlns:p14="http://schemas.microsoft.com/office/powerpoint/2010/main" val="2261099875"/>
      </p:ext>
    </p:extLst>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9730" y="964277"/>
            <a:ext cx="7943973" cy="4748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rotWithShape="1">
          <a:blip r:embed="rId3"/>
          <a:srcRect t="5507" r="1970"/>
          <a:stretch/>
        </p:blipFill>
        <p:spPr>
          <a:xfrm>
            <a:off x="116378" y="4099642"/>
            <a:ext cx="9027621" cy="2641979"/>
          </a:xfrm>
          <a:prstGeom prst="rect">
            <a:avLst/>
          </a:prstGeom>
        </p:spPr>
      </p:pic>
      <p:sp>
        <p:nvSpPr>
          <p:cNvPr id="4" name="矩形 3"/>
          <p:cNvSpPr/>
          <p:nvPr/>
        </p:nvSpPr>
        <p:spPr>
          <a:xfrm>
            <a:off x="4425777" y="11195"/>
            <a:ext cx="2954655"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别构调节</a:t>
            </a: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实例</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574648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524" y="357353"/>
            <a:ext cx="10972799" cy="611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20418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88" y="0"/>
            <a:ext cx="11390777" cy="6329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89588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25777" y="11195"/>
            <a:ext cx="2954655"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别构调节</a:t>
            </a: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实例</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3"/>
          <a:stretch>
            <a:fillRect/>
          </a:stretch>
        </p:blipFill>
        <p:spPr>
          <a:xfrm>
            <a:off x="2202972" y="1132610"/>
            <a:ext cx="7429362" cy="2733998"/>
          </a:xfrm>
          <a:prstGeom prst="rect">
            <a:avLst/>
          </a:prstGeom>
        </p:spPr>
      </p:pic>
      <p:sp>
        <p:nvSpPr>
          <p:cNvPr id="13" name="文本框 12"/>
          <p:cNvSpPr txBox="1"/>
          <p:nvPr/>
        </p:nvSpPr>
        <p:spPr>
          <a:xfrm>
            <a:off x="263621" y="3831574"/>
            <a:ext cx="11773208" cy="2954655"/>
          </a:xfrm>
          <a:prstGeom prst="rect">
            <a:avLst/>
          </a:prstGeom>
          <a:noFill/>
        </p:spPr>
        <p:txBody>
          <a:bodyPr wrap="square" rtlCol="0" anchor="t">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天冬氨酸氨甲酰转移酶：</a:t>
            </a:r>
          </a:p>
          <a:p>
            <a:pPr marL="285750" indent="-285750">
              <a:lnSpc>
                <a:spcPct val="150000"/>
              </a:lnSpc>
              <a:buFont typeface="Arial" panose="020B0604020202020204" pitchFamily="34" charset="0"/>
              <a:buChar char="•"/>
            </a:pPr>
            <a:r>
              <a:rPr lang="zh-CN" altLang="en-US" sz="2400" dirty="0" smtClean="0">
                <a:solidFill>
                  <a:srgbClr val="FF0000"/>
                </a:solidFill>
                <a:latin typeface="微软雅黑" panose="020B0503020204020204" pitchFamily="34" charset="-122"/>
                <a:ea typeface="微软雅黑" panose="020B0503020204020204" pitchFamily="34" charset="-122"/>
              </a:rPr>
              <a:t>ATP</a:t>
            </a:r>
            <a:r>
              <a:rPr lang="zh-CN" altLang="en-US" sz="2400" dirty="0">
                <a:latin typeface="微软雅黑" panose="020B0503020204020204" pitchFamily="34" charset="-122"/>
                <a:ea typeface="微软雅黑" panose="020B0503020204020204" pitchFamily="34" charset="-122"/>
              </a:rPr>
              <a:t>和</a:t>
            </a:r>
            <a:r>
              <a:rPr lang="zh-CN" altLang="en-US" sz="2400" dirty="0">
                <a:solidFill>
                  <a:srgbClr val="FF0000"/>
                </a:solidFill>
                <a:latin typeface="微软雅黑" panose="020B0503020204020204" pitchFamily="34" charset="-122"/>
                <a:ea typeface="微软雅黑" panose="020B0503020204020204" pitchFamily="34" charset="-122"/>
              </a:rPr>
              <a:t>CTP</a:t>
            </a:r>
            <a:r>
              <a:rPr lang="zh-CN" altLang="en-US" sz="2400" dirty="0">
                <a:latin typeface="微软雅黑" panose="020B0503020204020204" pitchFamily="34" charset="-122"/>
                <a:ea typeface="微软雅黑" panose="020B0503020204020204" pitchFamily="34" charset="-122"/>
              </a:rPr>
              <a:t>分别作为正调控因子和负调控因子（</a:t>
            </a:r>
            <a:r>
              <a:rPr lang="zh-CN" altLang="en-US" sz="2400" b="1" dirty="0">
                <a:latin typeface="微软雅黑" panose="020B0503020204020204" pitchFamily="34" charset="-122"/>
                <a:ea typeface="微软雅黑" panose="020B0503020204020204" pitchFamily="34" charset="-122"/>
              </a:rPr>
              <a:t>异促效应</a:t>
            </a:r>
            <a:r>
              <a:rPr lang="zh-CN" altLang="en-US" sz="24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底物</a:t>
            </a:r>
            <a:r>
              <a:rPr lang="zh-CN" altLang="en-US" sz="2400" dirty="0">
                <a:latin typeface="微软雅黑" panose="020B0503020204020204" pitchFamily="34" charset="-122"/>
                <a:ea typeface="微软雅黑" panose="020B0503020204020204" pitchFamily="34" charset="-122"/>
              </a:rPr>
              <a:t>也是别构效应物（</a:t>
            </a:r>
            <a:r>
              <a:rPr lang="zh-CN" altLang="en-US" sz="2400" b="1" dirty="0">
                <a:latin typeface="微软雅黑" panose="020B0503020204020204" pitchFamily="34" charset="-122"/>
                <a:ea typeface="微软雅黑" panose="020B0503020204020204" pitchFamily="34" charset="-122"/>
              </a:rPr>
              <a:t>同促效应</a:t>
            </a:r>
            <a:r>
              <a:rPr lang="zh-CN" altLang="en-US" sz="2400" dirty="0">
                <a:latin typeface="微软雅黑" panose="020B0503020204020204" pitchFamily="34" charset="-122"/>
                <a:ea typeface="微软雅黑" panose="020B0503020204020204" pitchFamily="34" charset="-122"/>
              </a:rPr>
              <a:t>），底物氨甲酰磷酸和天冬氨酸结合酶催化亚基的活性位点，增加了其他活性位点对底物的亲和力。</a:t>
            </a:r>
          </a:p>
          <a:p>
            <a:pPr marL="285750" indent="-28575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3746732" y="1047692"/>
            <a:ext cx="1210588" cy="499624"/>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非活化态</a:t>
            </a:r>
          </a:p>
        </p:txBody>
      </p:sp>
      <p:sp>
        <p:nvSpPr>
          <p:cNvPr id="15" name="文本框 14"/>
          <p:cNvSpPr txBox="1"/>
          <p:nvPr/>
        </p:nvSpPr>
        <p:spPr>
          <a:xfrm>
            <a:off x="8258639" y="1048327"/>
            <a:ext cx="954107" cy="499624"/>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活化态</a:t>
            </a:r>
          </a:p>
        </p:txBody>
      </p:sp>
    </p:spTree>
    <p:extLst>
      <p:ext uri="{BB962C8B-B14F-4D97-AF65-F5344CB8AC3E}">
        <p14:creationId xmlns:p14="http://schemas.microsoft.com/office/powerpoint/2010/main" val="679108271"/>
      </p:ext>
    </p:extLst>
  </p:cSld>
  <p:clrMapOvr>
    <a:masterClrMapping/>
  </p:clrMapOvr>
  <p:transition>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别构酶</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的</a:t>
            </a:r>
            <a:r>
              <a:rPr lang="zh-CN" altLang="en-US" sz="3600" b="1" dirty="0" smtClea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动力学</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2"/>
          <a:srcRect l="4675" t="2390" r="1728"/>
          <a:stretch/>
        </p:blipFill>
        <p:spPr>
          <a:xfrm>
            <a:off x="0" y="1290516"/>
            <a:ext cx="5181600" cy="4738584"/>
          </a:xfrm>
          <a:prstGeom prst="rect">
            <a:avLst/>
          </a:prstGeom>
        </p:spPr>
      </p:pic>
      <p:sp>
        <p:nvSpPr>
          <p:cNvPr id="6" name="文本框 5"/>
          <p:cNvSpPr txBox="1"/>
          <p:nvPr/>
        </p:nvSpPr>
        <p:spPr>
          <a:xfrm>
            <a:off x="5073095" y="1180220"/>
            <a:ext cx="7183025" cy="4766818"/>
          </a:xfrm>
          <a:prstGeom prst="rect">
            <a:avLst/>
          </a:prstGeom>
          <a:noFill/>
        </p:spPr>
        <p:txBody>
          <a:bodyPr wrap="square" rtlCol="0" anchor="t">
            <a:spAutoFit/>
          </a:bodyPr>
          <a:lstStyle/>
          <a:p>
            <a:pPr marL="342900" indent="-342900">
              <a:lnSpc>
                <a:spcPct val="150000"/>
              </a:lnSpc>
              <a:spcBef>
                <a:spcPts val="1200"/>
              </a:spcBef>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同促酶</a:t>
            </a:r>
            <a:r>
              <a:rPr lang="zh-CN" altLang="en-US" sz="2400" dirty="0">
                <a:latin typeface="微软雅黑" panose="020B0503020204020204" pitchFamily="34" charset="-122"/>
                <a:ea typeface="微软雅黑" panose="020B0503020204020204" pitchFamily="34" charset="-122"/>
              </a:rPr>
              <a:t>的</a:t>
            </a:r>
            <a:r>
              <a:rPr lang="en-US" altLang="zh-CN" sz="2400" dirty="0">
                <a:solidFill>
                  <a:srgbClr val="FF0000"/>
                </a:solidFill>
                <a:latin typeface="微软雅黑" panose="020B0503020204020204" pitchFamily="34" charset="-122"/>
                <a:ea typeface="微软雅黑" panose="020B0503020204020204" pitchFamily="34" charset="-122"/>
              </a:rPr>
              <a:t>S</a:t>
            </a:r>
            <a:r>
              <a:rPr lang="zh-CN" altLang="en-US" sz="2400" dirty="0">
                <a:solidFill>
                  <a:srgbClr val="FF0000"/>
                </a:solidFill>
                <a:latin typeface="微软雅黑" panose="020B0503020204020204" pitchFamily="34" charset="-122"/>
                <a:ea typeface="微软雅黑" panose="020B0503020204020204" pitchFamily="34" charset="-122"/>
              </a:rPr>
              <a:t>型曲线</a:t>
            </a:r>
            <a:r>
              <a:rPr lang="zh-CN" altLang="en-US" sz="2400" dirty="0">
                <a:latin typeface="微软雅黑" panose="020B0503020204020204" pitchFamily="34" charset="-122"/>
                <a:ea typeface="微软雅黑" panose="020B0503020204020204" pitchFamily="34" charset="-122"/>
              </a:rPr>
              <a:t>，其中底物也作为正（刺激）激活剂。与血红蛋白氧饱和度曲线的相似性。</a:t>
            </a:r>
          </a:p>
          <a:p>
            <a:pPr marL="342900" indent="-342900">
              <a:lnSpc>
                <a:spcPct val="150000"/>
              </a:lnSpc>
              <a:spcBef>
                <a:spcPts val="12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型曲线是一种杂交曲线，其中酶在低底物浓度下主要存在于相对不活跃的T状态，在高底物浓度下主要处于更活跃的R状态。</a:t>
            </a:r>
          </a:p>
          <a:p>
            <a:pPr marL="342900" indent="-342900">
              <a:lnSpc>
                <a:spcPct val="15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ATCase表现出类似的动力学模式：底物天冬氨酸和氨基甲酰磷酸，与酶的结合逐渐导致了从相对不活跃的T态向更活跃的R态的转变。</a:t>
            </a:r>
          </a:p>
        </p:txBody>
      </p:sp>
    </p:spTree>
    <p:extLst>
      <p:ext uri="{BB962C8B-B14F-4D97-AF65-F5344CB8AC3E}">
        <p14:creationId xmlns:p14="http://schemas.microsoft.com/office/powerpoint/2010/main" val="4125372792"/>
      </p:ext>
    </p:extLst>
  </p:cSld>
  <p:clrMapOvr>
    <a:masterClrMapping/>
  </p:clrMapOvr>
  <p:transition>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xfrm>
            <a:off x="0" y="703119"/>
            <a:ext cx="12084627" cy="5181600"/>
          </a:xfrm>
        </p:spPr>
        <p:txBody>
          <a:bodyPr>
            <a:noAutofit/>
          </a:bodyPr>
          <a:lstStyle/>
          <a:p>
            <a:pPr>
              <a:buClr>
                <a:srgbClr val="FF0000"/>
              </a:buClr>
              <a:buFont typeface="Wingdings" pitchFamily="2" charset="2"/>
              <a:buChar char="«"/>
            </a:pPr>
            <a:r>
              <a:rPr lang="zh-CN" altLang="zh-CN" sz="2400" dirty="0" smtClean="0">
                <a:latin typeface="Times New Roman" pitchFamily="18" charset="0"/>
                <a:ea typeface="楷体" pitchFamily="49" charset="-122"/>
                <a:cs typeface="Times New Roman" pitchFamily="18" charset="0"/>
              </a:rPr>
              <a:t>既然米氏方程给出的是双曲线（</a:t>
            </a:r>
            <a:r>
              <a:rPr lang="en-US" altLang="zh-CN" sz="2400" i="1" dirty="0" smtClean="0">
                <a:latin typeface="Times New Roman" pitchFamily="18" charset="0"/>
                <a:ea typeface="楷体" pitchFamily="49" charset="-122"/>
                <a:cs typeface="Times New Roman" pitchFamily="18" charset="0"/>
              </a:rPr>
              <a:t>v</a:t>
            </a:r>
            <a:r>
              <a:rPr lang="zh-CN" altLang="zh-CN" sz="2400" dirty="0" smtClean="0">
                <a:latin typeface="Times New Roman" pitchFamily="18" charset="0"/>
                <a:ea typeface="楷体" pitchFamily="49" charset="-122"/>
                <a:cs typeface="Times New Roman" pitchFamily="18" charset="0"/>
              </a:rPr>
              <a:t>对</a:t>
            </a:r>
            <a:r>
              <a:rPr lang="en-US" altLang="zh-CN" sz="2400" dirty="0" smtClean="0">
                <a:latin typeface="Times New Roman" pitchFamily="18" charset="0"/>
                <a:ea typeface="楷体" pitchFamily="49" charset="-122"/>
                <a:cs typeface="Times New Roman" pitchFamily="18" charset="0"/>
              </a:rPr>
              <a:t>[</a:t>
            </a:r>
            <a:r>
              <a:rPr lang="en-US" altLang="zh-CN" sz="2400" i="1" dirty="0" smtClean="0">
                <a:latin typeface="Times New Roman" pitchFamily="18" charset="0"/>
                <a:ea typeface="楷体" pitchFamily="49" charset="-122"/>
                <a:cs typeface="Times New Roman" pitchFamily="18" charset="0"/>
              </a:rPr>
              <a:t>S</a:t>
            </a:r>
            <a:r>
              <a:rPr lang="en-US" altLang="zh-CN" sz="2400" dirty="0" smtClean="0">
                <a:latin typeface="Times New Roman" pitchFamily="18" charset="0"/>
                <a:ea typeface="楷体" pitchFamily="49" charset="-122"/>
                <a:cs typeface="Times New Roman" pitchFamily="18" charset="0"/>
              </a:rPr>
              <a:t>]</a:t>
            </a:r>
            <a:r>
              <a:rPr lang="zh-CN" altLang="zh-CN" sz="2400" dirty="0" smtClean="0">
                <a:latin typeface="Times New Roman" pitchFamily="18" charset="0"/>
                <a:ea typeface="楷体" pitchFamily="49" charset="-122"/>
                <a:cs typeface="Times New Roman" pitchFamily="18" charset="0"/>
              </a:rPr>
              <a:t>作图），所以它不适合</a:t>
            </a:r>
            <a:r>
              <a:rPr lang="zh-CN" altLang="zh-CN" sz="2400" b="1" dirty="0" smtClean="0">
                <a:solidFill>
                  <a:srgbClr val="FF0000"/>
                </a:solidFill>
                <a:latin typeface="Times New Roman" pitchFamily="18" charset="0"/>
                <a:ea typeface="楷体" pitchFamily="49" charset="-122"/>
                <a:cs typeface="Times New Roman" pitchFamily="18" charset="0"/>
              </a:rPr>
              <a:t>具有底物协同性的呈</a:t>
            </a:r>
            <a:r>
              <a:rPr lang="en-US" altLang="zh-CN" sz="2400" b="1" dirty="0" smtClean="0">
                <a:solidFill>
                  <a:srgbClr val="FF0000"/>
                </a:solidFill>
                <a:latin typeface="Times New Roman" pitchFamily="18" charset="0"/>
                <a:ea typeface="楷体" pitchFamily="49" charset="-122"/>
                <a:cs typeface="Times New Roman" pitchFamily="18" charset="0"/>
              </a:rPr>
              <a:t>S</a:t>
            </a:r>
            <a:r>
              <a:rPr lang="zh-CN" altLang="zh-CN" sz="2400" b="1" dirty="0" smtClean="0">
                <a:solidFill>
                  <a:srgbClr val="FF0000"/>
                </a:solidFill>
                <a:latin typeface="Times New Roman" pitchFamily="18" charset="0"/>
                <a:ea typeface="楷体" pitchFamily="49" charset="-122"/>
                <a:cs typeface="Times New Roman" pitchFamily="18" charset="0"/>
              </a:rPr>
              <a:t>型曲线的别构酶</a:t>
            </a:r>
            <a:r>
              <a:rPr lang="zh-CN" altLang="zh-CN" sz="2400" dirty="0" smtClean="0">
                <a:latin typeface="Times New Roman" pitchFamily="18" charset="0"/>
                <a:ea typeface="楷体" pitchFamily="49" charset="-122"/>
                <a:cs typeface="Times New Roman" pitchFamily="18" charset="0"/>
              </a:rPr>
              <a:t>，但</a:t>
            </a:r>
            <a:r>
              <a:rPr lang="en-US" altLang="zh-CN" sz="2400" dirty="0" smtClean="0">
                <a:latin typeface="Times New Roman" pitchFamily="18" charset="0"/>
                <a:ea typeface="楷体" pitchFamily="49" charset="-122"/>
                <a:cs typeface="Times New Roman" pitchFamily="18" charset="0"/>
              </a:rPr>
              <a:t>Hill</a:t>
            </a:r>
            <a:r>
              <a:rPr lang="zh-CN" altLang="zh-CN" sz="2400" dirty="0" smtClean="0">
                <a:latin typeface="Times New Roman" pitchFamily="18" charset="0"/>
                <a:ea typeface="楷体" pitchFamily="49" charset="-122"/>
                <a:cs typeface="Times New Roman" pitchFamily="18" charset="0"/>
              </a:rPr>
              <a:t>方程却能够很好地说明别构酶的动力学，</a:t>
            </a:r>
            <a:r>
              <a:rPr lang="en-US" altLang="zh-CN" sz="2400" dirty="0" smtClean="0">
                <a:latin typeface="Times New Roman" pitchFamily="18" charset="0"/>
                <a:ea typeface="楷体" pitchFamily="49" charset="-122"/>
                <a:cs typeface="Times New Roman" pitchFamily="18" charset="0"/>
              </a:rPr>
              <a:t>Hill</a:t>
            </a:r>
            <a:r>
              <a:rPr lang="zh-CN" altLang="zh-CN" sz="2400" dirty="0" smtClean="0">
                <a:latin typeface="Times New Roman" pitchFamily="18" charset="0"/>
                <a:ea typeface="楷体" pitchFamily="49" charset="-122"/>
                <a:cs typeface="Times New Roman" pitchFamily="18" charset="0"/>
              </a:rPr>
              <a:t>方程是：</a:t>
            </a:r>
            <a:endParaRPr lang="en-US" altLang="zh-CN" sz="2400" dirty="0" smtClean="0">
              <a:latin typeface="Times New Roman" pitchFamily="18" charset="0"/>
              <a:ea typeface="楷体" pitchFamily="49" charset="-122"/>
              <a:cs typeface="Times New Roman" pitchFamily="18" charset="0"/>
            </a:endParaRPr>
          </a:p>
          <a:p>
            <a:pPr>
              <a:buClr>
                <a:srgbClr val="FF0000"/>
              </a:buClr>
              <a:buFont typeface="Wingdings" pitchFamily="2" charset="2"/>
              <a:buChar char="«"/>
            </a:pPr>
            <a:endParaRPr lang="zh-CN" altLang="zh-CN" sz="2400" dirty="0" smtClean="0">
              <a:latin typeface="Times New Roman" pitchFamily="18" charset="0"/>
              <a:ea typeface="楷体" pitchFamily="49" charset="-122"/>
              <a:cs typeface="Times New Roman" pitchFamily="18" charset="0"/>
            </a:endParaRPr>
          </a:p>
          <a:p>
            <a:pPr marL="0" indent="0">
              <a:buClr>
                <a:srgbClr val="FF0000"/>
              </a:buClr>
              <a:buNone/>
            </a:pPr>
            <a:endParaRPr lang="en-US" altLang="zh-CN" sz="2400" dirty="0" smtClean="0">
              <a:latin typeface="Times New Roman" pitchFamily="18" charset="0"/>
              <a:ea typeface="楷体" pitchFamily="49" charset="-122"/>
              <a:cs typeface="Times New Roman" pitchFamily="18" charset="0"/>
            </a:endParaRPr>
          </a:p>
          <a:p>
            <a:pPr marL="0" indent="0">
              <a:buClr>
                <a:srgbClr val="FF0000"/>
              </a:buClr>
              <a:buNone/>
            </a:pPr>
            <a:endParaRPr lang="zh-CN" altLang="en-US" sz="2400" dirty="0" smtClean="0">
              <a:latin typeface="Times New Roman" pitchFamily="18" charset="0"/>
              <a:ea typeface="楷体" pitchFamily="49" charset="-122"/>
              <a:cs typeface="Times New Roman" pitchFamily="18" charset="0"/>
            </a:endParaRPr>
          </a:p>
          <a:p>
            <a:pPr>
              <a:buClr>
                <a:srgbClr val="FF0000"/>
              </a:buClr>
              <a:buFont typeface="Wingdings" pitchFamily="2" charset="2"/>
              <a:buChar char="«"/>
            </a:pPr>
            <a:r>
              <a:rPr lang="en-US" altLang="zh-CN" sz="2400" dirty="0" smtClean="0">
                <a:latin typeface="Times New Roman" pitchFamily="18" charset="0"/>
                <a:ea typeface="楷体" pitchFamily="49" charset="-122"/>
                <a:cs typeface="Times New Roman" pitchFamily="18" charset="0"/>
              </a:rPr>
              <a:t>Hill</a:t>
            </a:r>
            <a:r>
              <a:rPr lang="zh-CN" altLang="zh-CN" sz="2400" dirty="0" smtClean="0">
                <a:latin typeface="Times New Roman" pitchFamily="18" charset="0"/>
                <a:ea typeface="楷体" pitchFamily="49" charset="-122"/>
                <a:cs typeface="Times New Roman" pitchFamily="18" charset="0"/>
              </a:rPr>
              <a:t>方程与米氏方程十分相似，它们的主要差别首先是</a:t>
            </a:r>
            <a:r>
              <a:rPr lang="en-US" altLang="zh-CN" sz="2400" dirty="0" smtClean="0">
                <a:latin typeface="Times New Roman" pitchFamily="18" charset="0"/>
                <a:ea typeface="楷体" pitchFamily="49" charset="-122"/>
                <a:cs typeface="Times New Roman" pitchFamily="18" charset="0"/>
              </a:rPr>
              <a:t>Hill</a:t>
            </a:r>
            <a:r>
              <a:rPr lang="zh-CN" altLang="zh-CN" sz="2400" dirty="0" smtClean="0">
                <a:latin typeface="Times New Roman" pitchFamily="18" charset="0"/>
                <a:ea typeface="楷体" pitchFamily="49" charset="-122"/>
                <a:cs typeface="Times New Roman" pitchFamily="18" charset="0"/>
              </a:rPr>
              <a:t>方程中的底物浓度</a:t>
            </a:r>
            <a:r>
              <a:rPr lang="en-US" altLang="zh-CN" sz="2400" dirty="0" smtClean="0">
                <a:latin typeface="Times New Roman" pitchFamily="18" charset="0"/>
                <a:ea typeface="楷体" pitchFamily="49" charset="-122"/>
                <a:cs typeface="Times New Roman" pitchFamily="18" charset="0"/>
              </a:rPr>
              <a:t>[</a:t>
            </a:r>
            <a:r>
              <a:rPr lang="en-US" altLang="zh-CN" sz="2400" i="1" dirty="0" smtClean="0">
                <a:latin typeface="Times New Roman" pitchFamily="18" charset="0"/>
                <a:ea typeface="楷体" pitchFamily="49" charset="-122"/>
                <a:cs typeface="Times New Roman" pitchFamily="18" charset="0"/>
              </a:rPr>
              <a:t>S</a:t>
            </a:r>
            <a:r>
              <a:rPr lang="en-US" altLang="zh-CN" sz="2400" dirty="0" smtClean="0">
                <a:latin typeface="Times New Roman" pitchFamily="18" charset="0"/>
                <a:ea typeface="楷体" pitchFamily="49" charset="-122"/>
                <a:cs typeface="Times New Roman" pitchFamily="18" charset="0"/>
              </a:rPr>
              <a:t>]</a:t>
            </a:r>
            <a:r>
              <a:rPr lang="zh-CN" altLang="zh-CN" sz="2400" dirty="0" smtClean="0">
                <a:latin typeface="Times New Roman" pitchFamily="18" charset="0"/>
                <a:ea typeface="楷体" pitchFamily="49" charset="-122"/>
                <a:cs typeface="Times New Roman" pitchFamily="18" charset="0"/>
              </a:rPr>
              <a:t>被提高到</a:t>
            </a:r>
            <a:r>
              <a:rPr lang="en-US" altLang="zh-CN" sz="2400" i="1" dirty="0" smtClean="0">
                <a:latin typeface="Times New Roman" pitchFamily="18" charset="0"/>
                <a:ea typeface="楷体" pitchFamily="49" charset="-122"/>
                <a:cs typeface="Times New Roman" pitchFamily="18" charset="0"/>
              </a:rPr>
              <a:t>h</a:t>
            </a:r>
            <a:r>
              <a:rPr lang="zh-CN" altLang="zh-CN" sz="2400" dirty="0" smtClean="0">
                <a:latin typeface="Times New Roman" pitchFamily="18" charset="0"/>
                <a:ea typeface="楷体" pitchFamily="49" charset="-122"/>
                <a:cs typeface="Times New Roman" pitchFamily="18" charset="0"/>
              </a:rPr>
              <a:t>数量级，</a:t>
            </a:r>
            <a:r>
              <a:rPr lang="en-US" altLang="zh-CN" sz="2400" b="1" i="1" dirty="0" smtClean="0">
                <a:solidFill>
                  <a:srgbClr val="FF0000"/>
                </a:solidFill>
                <a:latin typeface="Times New Roman" pitchFamily="18" charset="0"/>
                <a:ea typeface="楷体" pitchFamily="49" charset="-122"/>
                <a:cs typeface="Times New Roman" pitchFamily="18" charset="0"/>
              </a:rPr>
              <a:t>h</a:t>
            </a:r>
            <a:r>
              <a:rPr lang="zh-CN" altLang="zh-CN" sz="2400" b="1" dirty="0" smtClean="0">
                <a:solidFill>
                  <a:srgbClr val="FF0000"/>
                </a:solidFill>
                <a:latin typeface="Times New Roman" pitchFamily="18" charset="0"/>
                <a:ea typeface="楷体" pitchFamily="49" charset="-122"/>
                <a:cs typeface="Times New Roman" pitchFamily="18" charset="0"/>
              </a:rPr>
              <a:t>被称为</a:t>
            </a:r>
            <a:r>
              <a:rPr lang="en-US" altLang="zh-CN" sz="2400" b="1" dirty="0" smtClean="0">
                <a:solidFill>
                  <a:srgbClr val="FF0000"/>
                </a:solidFill>
                <a:latin typeface="Times New Roman" pitchFamily="18" charset="0"/>
                <a:ea typeface="楷体" pitchFamily="49" charset="-122"/>
                <a:cs typeface="Times New Roman" pitchFamily="18" charset="0"/>
              </a:rPr>
              <a:t>Hill</a:t>
            </a:r>
            <a:r>
              <a:rPr lang="zh-CN" altLang="zh-CN" sz="2400" b="1" dirty="0" smtClean="0">
                <a:solidFill>
                  <a:srgbClr val="FF0000"/>
                </a:solidFill>
                <a:latin typeface="Times New Roman" pitchFamily="18" charset="0"/>
                <a:ea typeface="楷体" pitchFamily="49" charset="-122"/>
                <a:cs typeface="Times New Roman" pitchFamily="18" charset="0"/>
              </a:rPr>
              <a:t>系数</a:t>
            </a:r>
            <a:r>
              <a:rPr lang="zh-CN" altLang="zh-CN" sz="2400" dirty="0" smtClean="0">
                <a:latin typeface="Times New Roman" pitchFamily="18" charset="0"/>
                <a:ea typeface="楷体" pitchFamily="49" charset="-122"/>
                <a:cs typeface="Times New Roman" pitchFamily="18" charset="0"/>
              </a:rPr>
              <a:t>；其次，方程底部的常数不是</a:t>
            </a:r>
            <a:r>
              <a:rPr lang="en-US" altLang="zh-CN" sz="2400" i="1" dirty="0" smtClean="0">
                <a:latin typeface="Times New Roman" pitchFamily="18" charset="0"/>
                <a:ea typeface="楷体" pitchFamily="49" charset="-122"/>
                <a:cs typeface="Times New Roman" pitchFamily="18" charset="0"/>
              </a:rPr>
              <a:t>K</a:t>
            </a:r>
            <a:r>
              <a:rPr lang="en-US" altLang="zh-CN" sz="2400" i="1" baseline="-25000" dirty="0" smtClean="0">
                <a:latin typeface="Times New Roman" pitchFamily="18" charset="0"/>
                <a:ea typeface="楷体" pitchFamily="49" charset="-122"/>
                <a:cs typeface="Times New Roman" pitchFamily="18" charset="0"/>
              </a:rPr>
              <a:t>m</a:t>
            </a:r>
            <a:r>
              <a:rPr lang="zh-CN" altLang="zh-CN" sz="2400" dirty="0" smtClean="0">
                <a:latin typeface="Times New Roman" pitchFamily="18" charset="0"/>
                <a:ea typeface="楷体" pitchFamily="49" charset="-122"/>
                <a:cs typeface="Times New Roman" pitchFamily="18" charset="0"/>
              </a:rPr>
              <a:t>，而是</a:t>
            </a:r>
            <a:r>
              <a:rPr lang="en-US" altLang="zh-CN" sz="2400" b="1" i="1" dirty="0" smtClean="0">
                <a:solidFill>
                  <a:srgbClr val="FF0000"/>
                </a:solidFill>
                <a:latin typeface="Times New Roman" pitchFamily="18" charset="0"/>
                <a:ea typeface="楷体" pitchFamily="49" charset="-122"/>
                <a:cs typeface="Times New Roman" pitchFamily="18" charset="0"/>
              </a:rPr>
              <a:t>K</a:t>
            </a:r>
            <a:r>
              <a:rPr lang="en-US" altLang="zh-CN" sz="2400" b="1" baseline="-25000" dirty="0" smtClean="0">
                <a:solidFill>
                  <a:srgbClr val="FF0000"/>
                </a:solidFill>
                <a:latin typeface="Times New Roman" pitchFamily="18" charset="0"/>
                <a:ea typeface="楷体" pitchFamily="49" charset="-122"/>
                <a:cs typeface="Times New Roman" pitchFamily="18" charset="0"/>
              </a:rPr>
              <a:t>0.5</a:t>
            </a:r>
            <a:r>
              <a:rPr lang="zh-CN" altLang="zh-CN" sz="2400" dirty="0" smtClean="0">
                <a:latin typeface="Times New Roman" pitchFamily="18" charset="0"/>
                <a:ea typeface="楷体" pitchFamily="49" charset="-122"/>
                <a:cs typeface="Times New Roman" pitchFamily="18" charset="0"/>
              </a:rPr>
              <a:t>，该常数也被提高了</a:t>
            </a:r>
            <a:r>
              <a:rPr lang="en-US" altLang="zh-CN" sz="2400" i="1" dirty="0" smtClean="0">
                <a:latin typeface="Times New Roman" pitchFamily="18" charset="0"/>
                <a:ea typeface="楷体" pitchFamily="49" charset="-122"/>
                <a:cs typeface="Times New Roman" pitchFamily="18" charset="0"/>
              </a:rPr>
              <a:t>h</a:t>
            </a:r>
            <a:r>
              <a:rPr lang="zh-CN" altLang="zh-CN" sz="2400" dirty="0" smtClean="0">
                <a:latin typeface="Times New Roman" pitchFamily="18" charset="0"/>
                <a:ea typeface="楷体" pitchFamily="49" charset="-122"/>
                <a:cs typeface="Times New Roman" pitchFamily="18" charset="0"/>
              </a:rPr>
              <a:t>数量级。</a:t>
            </a:r>
            <a:r>
              <a:rPr lang="en-US" altLang="zh-CN" sz="2400" i="1" dirty="0" smtClean="0">
                <a:latin typeface="Times New Roman" pitchFamily="18" charset="0"/>
                <a:ea typeface="楷体" pitchFamily="49" charset="-122"/>
                <a:cs typeface="Times New Roman" pitchFamily="18" charset="0"/>
              </a:rPr>
              <a:t>K</a:t>
            </a:r>
            <a:r>
              <a:rPr lang="en-US" altLang="zh-CN" sz="2400" baseline="-25000" dirty="0" smtClean="0">
                <a:latin typeface="Times New Roman" pitchFamily="18" charset="0"/>
                <a:ea typeface="楷体" pitchFamily="49" charset="-122"/>
                <a:cs typeface="Times New Roman" pitchFamily="18" charset="0"/>
              </a:rPr>
              <a:t>0.5</a:t>
            </a:r>
            <a:r>
              <a:rPr lang="zh-CN" altLang="zh-CN" sz="2400" dirty="0" smtClean="0">
                <a:latin typeface="Times New Roman" pitchFamily="18" charset="0"/>
                <a:ea typeface="楷体" pitchFamily="49" charset="-122"/>
                <a:cs typeface="Times New Roman" pitchFamily="18" charset="0"/>
              </a:rPr>
              <a:t>与</a:t>
            </a:r>
            <a:r>
              <a:rPr lang="en-US" altLang="zh-CN" sz="2400" i="1" dirty="0" smtClean="0">
                <a:latin typeface="Times New Roman" pitchFamily="18" charset="0"/>
                <a:ea typeface="楷体" pitchFamily="49" charset="-122"/>
                <a:cs typeface="Times New Roman" pitchFamily="18" charset="0"/>
              </a:rPr>
              <a:t>K</a:t>
            </a:r>
            <a:r>
              <a:rPr lang="en-US" altLang="zh-CN" sz="2400" i="1" baseline="-25000" dirty="0" smtClean="0">
                <a:latin typeface="Times New Roman" pitchFamily="18" charset="0"/>
                <a:ea typeface="楷体" pitchFamily="49" charset="-122"/>
                <a:cs typeface="Times New Roman" pitchFamily="18" charset="0"/>
              </a:rPr>
              <a:t>m</a:t>
            </a:r>
            <a:r>
              <a:rPr lang="zh-CN" altLang="zh-CN" sz="2400" dirty="0" smtClean="0">
                <a:latin typeface="Times New Roman" pitchFamily="18" charset="0"/>
                <a:ea typeface="楷体" pitchFamily="49" charset="-122"/>
                <a:cs typeface="Times New Roman" pitchFamily="18" charset="0"/>
              </a:rPr>
              <a:t>相似，</a:t>
            </a:r>
            <a:r>
              <a:rPr lang="zh-CN" altLang="zh-CN" sz="2400" b="1" dirty="0" smtClean="0">
                <a:solidFill>
                  <a:srgbClr val="FF0000"/>
                </a:solidFill>
                <a:latin typeface="Times New Roman" pitchFamily="18" charset="0"/>
                <a:ea typeface="楷体" pitchFamily="49" charset="-122"/>
                <a:cs typeface="Times New Roman" pitchFamily="18" charset="0"/>
              </a:rPr>
              <a:t>因为它也是指速率为最大速率一半时候的底物浓度</a:t>
            </a:r>
            <a:r>
              <a:rPr lang="zh-CN" altLang="zh-CN" sz="2400" dirty="0" smtClean="0">
                <a:latin typeface="Times New Roman" pitchFamily="18" charset="0"/>
                <a:ea typeface="楷体" pitchFamily="49" charset="-122"/>
                <a:cs typeface="Times New Roman" pitchFamily="18" charset="0"/>
              </a:rPr>
              <a:t>。</a:t>
            </a:r>
          </a:p>
          <a:p>
            <a:pPr>
              <a:buClr>
                <a:srgbClr val="FF0000"/>
              </a:buClr>
              <a:buFont typeface="Wingdings" pitchFamily="2" charset="2"/>
              <a:buChar char="«"/>
            </a:pPr>
            <a:r>
              <a:rPr lang="en-US" altLang="zh-CN" sz="2400" dirty="0" smtClean="0">
                <a:latin typeface="Times New Roman" pitchFamily="18" charset="0"/>
                <a:ea typeface="楷体" pitchFamily="49" charset="-122"/>
                <a:cs typeface="Times New Roman" pitchFamily="18" charset="0"/>
              </a:rPr>
              <a:t>Hill</a:t>
            </a:r>
            <a:r>
              <a:rPr lang="zh-CN" altLang="en-US" sz="2400" dirty="0" smtClean="0">
                <a:latin typeface="Times New Roman" pitchFamily="18" charset="0"/>
                <a:ea typeface="楷体" pitchFamily="49" charset="-122"/>
                <a:cs typeface="Times New Roman" pitchFamily="18" charset="0"/>
              </a:rPr>
              <a:t>系</a:t>
            </a:r>
            <a:r>
              <a:rPr lang="zh-CN" altLang="zh-CN" sz="2400" dirty="0" smtClean="0">
                <a:latin typeface="Times New Roman" pitchFamily="18" charset="0"/>
                <a:ea typeface="楷体" pitchFamily="49" charset="-122"/>
                <a:cs typeface="Times New Roman" pitchFamily="18" charset="0"/>
              </a:rPr>
              <a:t>数能够反映底物协同性的程度</a:t>
            </a:r>
            <a:r>
              <a:rPr lang="zh-CN" altLang="zh-CN" sz="2400" dirty="0" smtClean="0">
                <a:latin typeface="Times New Roman" pitchFamily="18" charset="0"/>
                <a:ea typeface="楷体" pitchFamily="49" charset="-122"/>
                <a:cs typeface="Times New Roman" pitchFamily="18" charset="0"/>
              </a:rPr>
              <a:t>：</a:t>
            </a:r>
            <a:endParaRPr lang="en-US" altLang="zh-CN" sz="2400" dirty="0" smtClean="0">
              <a:latin typeface="Times New Roman" pitchFamily="18" charset="0"/>
              <a:ea typeface="楷体" pitchFamily="49" charset="-122"/>
              <a:cs typeface="Times New Roman" pitchFamily="18" charset="0"/>
            </a:endParaRPr>
          </a:p>
          <a:p>
            <a:pPr marL="0" indent="0">
              <a:buClr>
                <a:srgbClr val="FF0000"/>
              </a:buClr>
              <a:buNone/>
            </a:pPr>
            <a:r>
              <a:rPr lang="zh-CN" altLang="zh-CN" sz="2400" dirty="0" smtClean="0">
                <a:latin typeface="Times New Roman" pitchFamily="18" charset="0"/>
                <a:ea typeface="楷体" pitchFamily="49" charset="-122"/>
                <a:cs typeface="Times New Roman" pitchFamily="18" charset="0"/>
              </a:rPr>
              <a:t>如果</a:t>
            </a:r>
            <a:r>
              <a:rPr lang="en-US" altLang="zh-CN" sz="2400" b="1" dirty="0">
                <a:solidFill>
                  <a:srgbClr val="FF0000"/>
                </a:solidFill>
                <a:latin typeface="Times New Roman" pitchFamily="18" charset="0"/>
                <a:ea typeface="楷体" pitchFamily="49" charset="-122"/>
                <a:cs typeface="Times New Roman" pitchFamily="18" charset="0"/>
              </a:rPr>
              <a:t>h=1</a:t>
            </a:r>
            <a:r>
              <a:rPr lang="zh-CN" altLang="zh-CN" sz="2400" dirty="0" smtClean="0">
                <a:latin typeface="Times New Roman" pitchFamily="18" charset="0"/>
                <a:ea typeface="楷体" pitchFamily="49" charset="-122"/>
                <a:cs typeface="Times New Roman" pitchFamily="18" charset="0"/>
              </a:rPr>
              <a:t>，这时的</a:t>
            </a:r>
            <a:r>
              <a:rPr lang="en-US" altLang="zh-CN" sz="2400" dirty="0" smtClean="0">
                <a:latin typeface="Times New Roman" pitchFamily="18" charset="0"/>
                <a:ea typeface="楷体" pitchFamily="49" charset="-122"/>
                <a:cs typeface="Times New Roman" pitchFamily="18" charset="0"/>
              </a:rPr>
              <a:t>Hill</a:t>
            </a:r>
            <a:r>
              <a:rPr lang="zh-CN" altLang="zh-CN" sz="2400" dirty="0" smtClean="0">
                <a:latin typeface="Times New Roman" pitchFamily="18" charset="0"/>
                <a:ea typeface="楷体" pitchFamily="49" charset="-122"/>
                <a:cs typeface="Times New Roman" pitchFamily="18" charset="0"/>
              </a:rPr>
              <a:t>方程实际上与米氏方程一模一样，这意味着酶不是别构酶，无底物协同性，速率对底物作图应该为双曲线，</a:t>
            </a:r>
            <a:r>
              <a:rPr lang="en-US" altLang="zh-CN" sz="2400" i="1" dirty="0" smtClean="0">
                <a:latin typeface="Times New Roman" pitchFamily="18" charset="0"/>
                <a:ea typeface="楷体" pitchFamily="49" charset="-122"/>
                <a:cs typeface="Times New Roman" pitchFamily="18" charset="0"/>
              </a:rPr>
              <a:t>K</a:t>
            </a:r>
            <a:r>
              <a:rPr lang="en-US" altLang="zh-CN" sz="2400" baseline="-25000" dirty="0" smtClean="0">
                <a:latin typeface="Times New Roman" pitchFamily="18" charset="0"/>
                <a:ea typeface="楷体" pitchFamily="49" charset="-122"/>
                <a:cs typeface="Times New Roman" pitchFamily="18" charset="0"/>
              </a:rPr>
              <a:t>0.5</a:t>
            </a:r>
            <a:r>
              <a:rPr lang="en-US" altLang="zh-CN" sz="2400" dirty="0" smtClean="0">
                <a:latin typeface="Times New Roman" pitchFamily="18" charset="0"/>
                <a:ea typeface="楷体" pitchFamily="49" charset="-122"/>
                <a:cs typeface="Times New Roman" pitchFamily="18" charset="0"/>
              </a:rPr>
              <a:t>=</a:t>
            </a:r>
            <a:r>
              <a:rPr lang="en-US" altLang="zh-CN" sz="2400" i="1" dirty="0" smtClean="0">
                <a:latin typeface="Times New Roman" pitchFamily="18" charset="0"/>
                <a:ea typeface="楷体" pitchFamily="49" charset="-122"/>
                <a:cs typeface="Times New Roman" pitchFamily="18" charset="0"/>
              </a:rPr>
              <a:t>K</a:t>
            </a:r>
            <a:r>
              <a:rPr lang="en-US" altLang="zh-CN" sz="2400" i="1" baseline="-25000" dirty="0" smtClean="0">
                <a:latin typeface="Times New Roman" pitchFamily="18" charset="0"/>
                <a:ea typeface="楷体" pitchFamily="49" charset="-122"/>
                <a:cs typeface="Times New Roman" pitchFamily="18" charset="0"/>
              </a:rPr>
              <a:t>m</a:t>
            </a:r>
            <a:r>
              <a:rPr lang="zh-CN" altLang="zh-CN" sz="2400" dirty="0" smtClean="0">
                <a:latin typeface="Times New Roman" pitchFamily="18" charset="0"/>
                <a:ea typeface="楷体" pitchFamily="49" charset="-122"/>
                <a:cs typeface="Times New Roman" pitchFamily="18" charset="0"/>
              </a:rPr>
              <a:t>；</a:t>
            </a:r>
            <a:endParaRPr lang="en-US" altLang="zh-CN" sz="2400" dirty="0" smtClean="0">
              <a:latin typeface="Times New Roman" pitchFamily="18" charset="0"/>
              <a:ea typeface="楷体" pitchFamily="49" charset="-122"/>
              <a:cs typeface="Times New Roman" pitchFamily="18" charset="0"/>
            </a:endParaRPr>
          </a:p>
          <a:p>
            <a:pPr marL="0" indent="0">
              <a:buClr>
                <a:srgbClr val="FF0000"/>
              </a:buClr>
              <a:buNone/>
            </a:pPr>
            <a:r>
              <a:rPr lang="zh-CN" altLang="zh-CN" sz="2400" dirty="0" smtClean="0">
                <a:latin typeface="Times New Roman" pitchFamily="18" charset="0"/>
                <a:ea typeface="楷体" pitchFamily="49" charset="-122"/>
                <a:cs typeface="Times New Roman" pitchFamily="18" charset="0"/>
              </a:rPr>
              <a:t>如果</a:t>
            </a:r>
            <a:r>
              <a:rPr lang="en-US" altLang="zh-CN" sz="2400" b="1" i="1" dirty="0" smtClean="0">
                <a:solidFill>
                  <a:srgbClr val="FF0000"/>
                </a:solidFill>
                <a:latin typeface="Times New Roman" pitchFamily="18" charset="0"/>
                <a:ea typeface="楷体" pitchFamily="49" charset="-122"/>
                <a:cs typeface="Times New Roman" pitchFamily="18" charset="0"/>
              </a:rPr>
              <a:t>h</a:t>
            </a:r>
            <a:r>
              <a:rPr lang="en-US" altLang="zh-CN" sz="2400" b="1" dirty="0" smtClean="0">
                <a:solidFill>
                  <a:srgbClr val="FF0000"/>
                </a:solidFill>
                <a:latin typeface="Times New Roman" pitchFamily="18" charset="0"/>
                <a:ea typeface="楷体" pitchFamily="49" charset="-122"/>
                <a:cs typeface="Times New Roman" pitchFamily="18" charset="0"/>
              </a:rPr>
              <a:t> &gt;1</a:t>
            </a:r>
            <a:r>
              <a:rPr lang="zh-CN" altLang="zh-CN" sz="2400" dirty="0" smtClean="0">
                <a:latin typeface="Times New Roman" pitchFamily="18" charset="0"/>
                <a:ea typeface="楷体" pitchFamily="49" charset="-122"/>
                <a:cs typeface="Times New Roman" pitchFamily="18" charset="0"/>
              </a:rPr>
              <a:t>，则速率对底物浓度作图呈</a:t>
            </a:r>
            <a:r>
              <a:rPr lang="en-US" altLang="zh-CN" sz="2400" dirty="0" smtClean="0">
                <a:latin typeface="Times New Roman" pitchFamily="18" charset="0"/>
                <a:ea typeface="楷体" pitchFamily="49" charset="-122"/>
                <a:cs typeface="Times New Roman" pitchFamily="18" charset="0"/>
              </a:rPr>
              <a:t>S</a:t>
            </a:r>
            <a:r>
              <a:rPr lang="zh-CN" altLang="zh-CN" sz="2400" dirty="0" smtClean="0">
                <a:latin typeface="Times New Roman" pitchFamily="18" charset="0"/>
                <a:ea typeface="楷体" pitchFamily="49" charset="-122"/>
                <a:cs typeface="Times New Roman" pitchFamily="18" charset="0"/>
              </a:rPr>
              <a:t>型曲线，酶具有</a:t>
            </a:r>
            <a:r>
              <a:rPr lang="zh-CN" altLang="zh-CN" sz="2400" b="1" dirty="0" smtClean="0">
                <a:solidFill>
                  <a:srgbClr val="FF0000"/>
                </a:solidFill>
                <a:latin typeface="Times New Roman" pitchFamily="18" charset="0"/>
                <a:ea typeface="楷体" pitchFamily="49" charset="-122"/>
                <a:cs typeface="Times New Roman" pitchFamily="18" charset="0"/>
              </a:rPr>
              <a:t>正底物协同性</a:t>
            </a:r>
            <a:r>
              <a:rPr lang="zh-CN" altLang="zh-CN" sz="2400" dirty="0" smtClean="0">
                <a:latin typeface="Times New Roman" pitchFamily="18" charset="0"/>
                <a:ea typeface="楷体" pitchFamily="49" charset="-122"/>
                <a:cs typeface="Times New Roman" pitchFamily="18" charset="0"/>
              </a:rPr>
              <a:t>；</a:t>
            </a:r>
            <a:endParaRPr lang="en-US" altLang="zh-CN" sz="2400" dirty="0" smtClean="0">
              <a:latin typeface="Times New Roman" pitchFamily="18" charset="0"/>
              <a:ea typeface="楷体" pitchFamily="49" charset="-122"/>
              <a:cs typeface="Times New Roman" pitchFamily="18" charset="0"/>
            </a:endParaRPr>
          </a:p>
          <a:p>
            <a:pPr marL="0" indent="0">
              <a:buClr>
                <a:srgbClr val="FF0000"/>
              </a:buClr>
              <a:buNone/>
            </a:pPr>
            <a:r>
              <a:rPr lang="zh-CN" altLang="zh-CN" sz="2400" dirty="0" smtClean="0">
                <a:latin typeface="Times New Roman" pitchFamily="18" charset="0"/>
                <a:ea typeface="楷体" pitchFamily="49" charset="-122"/>
                <a:cs typeface="Times New Roman" pitchFamily="18" charset="0"/>
              </a:rPr>
              <a:t>如果</a:t>
            </a:r>
            <a:r>
              <a:rPr lang="en-US" altLang="zh-CN" sz="2400" b="1" dirty="0">
                <a:solidFill>
                  <a:srgbClr val="FF0000"/>
                </a:solidFill>
                <a:latin typeface="Times New Roman" pitchFamily="18" charset="0"/>
                <a:ea typeface="楷体" pitchFamily="49" charset="-122"/>
                <a:cs typeface="Times New Roman" pitchFamily="18" charset="0"/>
              </a:rPr>
              <a:t>h &lt;1</a:t>
            </a:r>
            <a:r>
              <a:rPr lang="zh-CN" altLang="zh-CN" sz="2400" dirty="0" smtClean="0">
                <a:latin typeface="Times New Roman" pitchFamily="18" charset="0"/>
                <a:ea typeface="楷体" pitchFamily="49" charset="-122"/>
                <a:cs typeface="Times New Roman" pitchFamily="18" charset="0"/>
              </a:rPr>
              <a:t>，则意味着酶具</a:t>
            </a:r>
            <a:r>
              <a:rPr lang="zh-CN" altLang="zh-CN" sz="2400" b="1" dirty="0" smtClean="0">
                <a:solidFill>
                  <a:srgbClr val="FF0000"/>
                </a:solidFill>
                <a:latin typeface="Times New Roman" pitchFamily="18" charset="0"/>
                <a:ea typeface="楷体" pitchFamily="49" charset="-122"/>
                <a:cs typeface="Times New Roman" pitchFamily="18" charset="0"/>
              </a:rPr>
              <a:t>负底物协同性</a:t>
            </a:r>
            <a:r>
              <a:rPr lang="zh-CN" altLang="zh-CN" sz="2400" dirty="0" smtClean="0">
                <a:latin typeface="Times New Roman" pitchFamily="18" charset="0"/>
                <a:ea typeface="楷体" pitchFamily="49" charset="-122"/>
                <a:cs typeface="Times New Roman" pitchFamily="18" charset="0"/>
              </a:rPr>
              <a:t>。</a:t>
            </a:r>
            <a:endParaRPr lang="zh-CN" altLang="en-US" sz="2400" dirty="0" smtClean="0">
              <a:latin typeface="Times New Roman" pitchFamily="18" charset="0"/>
              <a:ea typeface="楷体" pitchFamily="49" charset="-122"/>
              <a:cs typeface="Times New Roman" pitchFamily="18" charset="0"/>
            </a:endParaRPr>
          </a:p>
        </p:txBody>
      </p:sp>
      <p:pic>
        <p:nvPicPr>
          <p:cNvPr id="39939" name="图片 5" descr="mm.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51726" y="1579418"/>
            <a:ext cx="2558674" cy="119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Rectangle 7"/>
          <p:cNvSpPr>
            <a:spLocks noChangeArrowheads="1"/>
          </p:cNvSpPr>
          <p:nvPr/>
        </p:nvSpPr>
        <p:spPr bwMode="auto">
          <a:xfrm>
            <a:off x="4569179" y="84756"/>
            <a:ext cx="3097323" cy="52322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dirty="0">
                <a:solidFill>
                  <a:schemeClr val="tx1"/>
                </a:solidFill>
                <a:latin typeface="Times New Roman" pitchFamily="18" charset="0"/>
                <a:ea typeface="楷体" pitchFamily="49" charset="-122"/>
                <a:cs typeface="Times New Roman" pitchFamily="18" charset="0"/>
              </a:rPr>
              <a:t>S</a:t>
            </a:r>
            <a:r>
              <a:rPr lang="zh-CN" altLang="zh-CN" sz="2800" dirty="0">
                <a:solidFill>
                  <a:schemeClr val="tx1"/>
                </a:solidFill>
                <a:latin typeface="Times New Roman" pitchFamily="18" charset="0"/>
                <a:ea typeface="楷体" pitchFamily="49" charset="-122"/>
                <a:cs typeface="Times New Roman" pitchFamily="18" charset="0"/>
              </a:rPr>
              <a:t>型</a:t>
            </a:r>
            <a:r>
              <a:rPr lang="zh-CN" altLang="en-US" sz="2800" dirty="0">
                <a:solidFill>
                  <a:schemeClr val="tx1"/>
                </a:solidFill>
                <a:latin typeface="Times New Roman" pitchFamily="18" charset="0"/>
                <a:ea typeface="楷体" pitchFamily="49" charset="-122"/>
                <a:cs typeface="Times New Roman" pitchFamily="18" charset="0"/>
              </a:rPr>
              <a:t>曲线</a:t>
            </a:r>
            <a:r>
              <a:rPr lang="zh-CN" altLang="zh-CN" sz="2800" dirty="0">
                <a:solidFill>
                  <a:schemeClr val="tx1"/>
                </a:solidFill>
                <a:latin typeface="Times New Roman" pitchFamily="18" charset="0"/>
                <a:ea typeface="楷体" pitchFamily="49" charset="-122"/>
                <a:cs typeface="Times New Roman" pitchFamily="18" charset="0"/>
              </a:rPr>
              <a:t>和</a:t>
            </a:r>
            <a:r>
              <a:rPr lang="en-US" altLang="zh-CN" sz="2800" dirty="0">
                <a:solidFill>
                  <a:schemeClr val="tx1"/>
                </a:solidFill>
                <a:latin typeface="Times New Roman" pitchFamily="18" charset="0"/>
                <a:ea typeface="楷体" pitchFamily="49" charset="-122"/>
                <a:cs typeface="Times New Roman" pitchFamily="18" charset="0"/>
              </a:rPr>
              <a:t>Hill</a:t>
            </a:r>
            <a:r>
              <a:rPr lang="zh-CN" altLang="zh-CN" sz="2800" dirty="0">
                <a:solidFill>
                  <a:schemeClr val="tx1"/>
                </a:solidFill>
                <a:latin typeface="Times New Roman" pitchFamily="18" charset="0"/>
                <a:ea typeface="楷体" pitchFamily="49" charset="-122"/>
                <a:cs typeface="Times New Roman" pitchFamily="18" charset="0"/>
              </a:rPr>
              <a:t>方程</a:t>
            </a:r>
            <a:endParaRPr lang="zh-CN" altLang="en-US" sz="2800" dirty="0">
              <a:solidFill>
                <a:schemeClr val="tx1"/>
              </a:solidFill>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2433588308"/>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6003634"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algn="ctr"/>
            <a:endParaRPr lang="zh-CN" altLang="en-US">
              <a:ea typeface="宋体" charset="-122"/>
            </a:endParaRPr>
          </a:p>
        </p:txBody>
      </p:sp>
      <p:pic>
        <p:nvPicPr>
          <p:cNvPr id="40963" name="Picture 6" descr="9-23"/>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377374" y="228600"/>
            <a:ext cx="8457045" cy="6491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8"/>
          <p:cNvSpPr>
            <a:spLocks noChangeArrowheads="1"/>
          </p:cNvSpPr>
          <p:nvPr/>
        </p:nvSpPr>
        <p:spPr bwMode="auto">
          <a:xfrm>
            <a:off x="1850734" y="182433"/>
            <a:ext cx="8305800" cy="461665"/>
          </a:xfrm>
          <a:prstGeom prst="rect">
            <a:avLst/>
          </a:prstGeom>
          <a:noFill/>
          <a:ln>
            <a:noFill/>
          </a:ln>
          <a:effectLst/>
        </p:spPr>
        <p:txBody>
          <a:bodyPr wrap="square">
            <a:spAutoFit/>
          </a:bodyPr>
          <a:lstStyle/>
          <a:p>
            <a:pPr algn="ctr"/>
            <a:r>
              <a:rPr lang="en-US" altLang="zh-CN" sz="2400" b="1" dirty="0">
                <a:solidFill>
                  <a:schemeClr val="tx1"/>
                </a:solidFill>
                <a:latin typeface="微软雅黑" pitchFamily="34" charset="-122"/>
                <a:ea typeface="微软雅黑" pitchFamily="34" charset="-122"/>
                <a:cs typeface="Times New Roman" pitchFamily="18" charset="0"/>
              </a:rPr>
              <a:t>Hill</a:t>
            </a:r>
            <a:r>
              <a:rPr lang="zh-CN" altLang="en-US" sz="2400" b="1" dirty="0">
                <a:solidFill>
                  <a:schemeClr val="tx1"/>
                </a:solidFill>
                <a:latin typeface="微软雅黑" pitchFamily="34" charset="-122"/>
                <a:ea typeface="微软雅黑" pitchFamily="34" charset="-122"/>
                <a:cs typeface="Times New Roman" pitchFamily="18" charset="0"/>
              </a:rPr>
              <a:t>系数不同的酶反应速率与底物浓度的关系曲线</a:t>
            </a:r>
          </a:p>
        </p:txBody>
      </p:sp>
    </p:spTree>
    <p:extLst>
      <p:ext uri="{BB962C8B-B14F-4D97-AF65-F5344CB8AC3E}">
        <p14:creationId xmlns:p14="http://schemas.microsoft.com/office/powerpoint/2010/main" val="726364676"/>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682" b="25911"/>
          <a:stretch/>
        </p:blipFill>
        <p:spPr bwMode="auto">
          <a:xfrm>
            <a:off x="1123914" y="597187"/>
            <a:ext cx="10358042" cy="4691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6"/>
          <p:cNvSpPr>
            <a:spLocks noChangeArrowheads="1"/>
          </p:cNvSpPr>
          <p:nvPr/>
        </p:nvSpPr>
        <p:spPr bwMode="auto">
          <a:xfrm>
            <a:off x="3332164" y="12412"/>
            <a:ext cx="4461019" cy="584775"/>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square">
            <a:spAutoFit/>
          </a:bodyPr>
          <a:lstStyle/>
          <a:p>
            <a:pPr algn="ctr"/>
            <a:r>
              <a:rPr lang="zh-CN" altLang="zh-CN" sz="3200" b="1" dirty="0">
                <a:latin typeface="微软雅黑" pitchFamily="34" charset="-122"/>
                <a:ea typeface="微软雅黑" pitchFamily="34" charset="-122"/>
                <a:cs typeface="Times New Roman" pitchFamily="18" charset="0"/>
              </a:rPr>
              <a:t>协同性的</a:t>
            </a:r>
            <a:r>
              <a:rPr lang="zh-CN" altLang="en-US" sz="3200" b="1" dirty="0" smtClean="0">
                <a:latin typeface="微软雅黑" pitchFamily="34" charset="-122"/>
                <a:ea typeface="微软雅黑" pitchFamily="34" charset="-122"/>
                <a:cs typeface="Times New Roman" pitchFamily="18" charset="0"/>
              </a:rPr>
              <a:t>好处</a:t>
            </a:r>
            <a:endParaRPr lang="zh-CN" altLang="en-US" sz="3200" b="1" dirty="0">
              <a:latin typeface="微软雅黑" pitchFamily="34" charset="-122"/>
              <a:ea typeface="微软雅黑" pitchFamily="34" charset="-122"/>
              <a:cs typeface="Times New Roman" pitchFamily="18" charset="0"/>
            </a:endParaRPr>
          </a:p>
        </p:txBody>
      </p:sp>
      <p:sp>
        <p:nvSpPr>
          <p:cNvPr id="2" name="矩形 1"/>
          <p:cNvSpPr/>
          <p:nvPr/>
        </p:nvSpPr>
        <p:spPr>
          <a:xfrm>
            <a:off x="404814" y="5453619"/>
            <a:ext cx="11430431" cy="1089529"/>
          </a:xfrm>
          <a:prstGeom prst="rect">
            <a:avLst/>
          </a:prstGeom>
        </p:spPr>
        <p:txBody>
          <a:bodyPr vert="horz" lIns="91440" tIns="45720" rIns="91440" bIns="45720" rtlCol="0">
            <a:noAutofit/>
          </a:bodyPr>
          <a:lstStyle/>
          <a:p>
            <a:pPr defTabSz="914400">
              <a:lnSpc>
                <a:spcPct val="90000"/>
              </a:lnSpc>
              <a:spcBef>
                <a:spcPts val="1000"/>
              </a:spcBef>
              <a:buClr>
                <a:srgbClr val="FF0000"/>
              </a:buClr>
            </a:pPr>
            <a:r>
              <a:rPr lang="en-US" altLang="zh-CN" sz="2400" b="1" dirty="0">
                <a:latin typeface="Times New Roman" pitchFamily="18" charset="0"/>
                <a:ea typeface="楷体" pitchFamily="49" charset="-122"/>
                <a:cs typeface="Times New Roman" pitchFamily="18" charset="0"/>
              </a:rPr>
              <a:t>S </a:t>
            </a:r>
            <a:r>
              <a:rPr lang="zh-CN" altLang="en-US" sz="2400" b="1" dirty="0">
                <a:latin typeface="Times New Roman" pitchFamily="18" charset="0"/>
                <a:ea typeface="楷体" pitchFamily="49" charset="-122"/>
                <a:cs typeface="Times New Roman" pitchFamily="18" charset="0"/>
              </a:rPr>
              <a:t>型曲线表明当底物浓度发生微小变化时，酶反应速度可以 快速增加，反应出别构酶可以灵敏地调节酶反应速度。</a:t>
            </a:r>
          </a:p>
        </p:txBody>
      </p:sp>
    </p:spTree>
    <p:extLst>
      <p:ext uri="{BB962C8B-B14F-4D97-AF65-F5344CB8AC3E}">
        <p14:creationId xmlns:p14="http://schemas.microsoft.com/office/powerpoint/2010/main" val="28210693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003635"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algn="ctr"/>
            <a:endParaRPr lang="zh-CN" altLang="en-US">
              <a:ea typeface="宋体" charset="-122"/>
            </a:endParaRPr>
          </a:p>
        </p:txBody>
      </p:sp>
      <p:pic>
        <p:nvPicPr>
          <p:cNvPr id="45059" name="Picture 8" descr="9-26"/>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7193"/>
          <a:stretch/>
        </p:blipFill>
        <p:spPr bwMode="auto">
          <a:xfrm>
            <a:off x="654627" y="54325"/>
            <a:ext cx="8198427" cy="415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10"/>
          <p:cNvSpPr>
            <a:spLocks noChangeArrowheads="1"/>
          </p:cNvSpPr>
          <p:nvPr/>
        </p:nvSpPr>
        <p:spPr bwMode="auto">
          <a:xfrm>
            <a:off x="8142886" y="1457373"/>
            <a:ext cx="4049114" cy="83099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square">
            <a:spAutoFit/>
          </a:bodyPr>
          <a:lstStyle/>
          <a:p>
            <a:pPr algn="ctr"/>
            <a:r>
              <a:rPr lang="en-US" altLang="zh-CN" sz="2400" b="1" dirty="0">
                <a:latin typeface="微软雅黑" pitchFamily="34" charset="-122"/>
                <a:ea typeface="微软雅黑" pitchFamily="34" charset="-122"/>
                <a:cs typeface="Times New Roman" pitchFamily="18" charset="0"/>
              </a:rPr>
              <a:t>Hill</a:t>
            </a:r>
            <a:r>
              <a:rPr lang="zh-CN" altLang="en-US" sz="2400" b="1" dirty="0">
                <a:latin typeface="微软雅黑" pitchFamily="34" charset="-122"/>
                <a:ea typeface="微软雅黑" pitchFamily="34" charset="-122"/>
                <a:cs typeface="Times New Roman" pitchFamily="18" charset="0"/>
              </a:rPr>
              <a:t>常数不同的酶的酶活性对底物浓度变化的敏感性</a:t>
            </a:r>
          </a:p>
        </p:txBody>
      </p:sp>
      <p:sp>
        <p:nvSpPr>
          <p:cNvPr id="5" name="内容占位符 2"/>
          <p:cNvSpPr>
            <a:spLocks noGrp="1"/>
          </p:cNvSpPr>
          <p:nvPr>
            <p:ph idx="1"/>
          </p:nvPr>
        </p:nvSpPr>
        <p:spPr>
          <a:xfrm>
            <a:off x="92366" y="4291445"/>
            <a:ext cx="12099634" cy="2462645"/>
          </a:xfrm>
        </p:spPr>
        <p:txBody>
          <a:bodyPr>
            <a:normAutofit fontScale="92500"/>
          </a:bodyPr>
          <a:lstStyle/>
          <a:p>
            <a:pPr>
              <a:lnSpc>
                <a:spcPct val="120000"/>
              </a:lnSpc>
              <a:buFont typeface="Wingdings" pitchFamily="2" charset="2"/>
              <a:buChar char="Ø"/>
            </a:pPr>
            <a:r>
              <a:rPr lang="zh-CN" altLang="en-US" sz="2400" dirty="0" smtClean="0">
                <a:latin typeface="微软雅黑" pitchFamily="34" charset="-122"/>
                <a:ea typeface="微软雅黑" pitchFamily="34" charset="-122"/>
                <a:cs typeface="Times New Roman" pitchFamily="18" charset="0"/>
              </a:rPr>
              <a:t>对于</a:t>
            </a:r>
            <a:r>
              <a:rPr lang="zh-CN" altLang="zh-CN" sz="2400" dirty="0" smtClean="0">
                <a:latin typeface="微软雅黑" pitchFamily="34" charset="-122"/>
                <a:ea typeface="微软雅黑" pitchFamily="34" charset="-122"/>
                <a:cs typeface="Times New Roman" pitchFamily="18" charset="0"/>
              </a:rPr>
              <a:t>米氏</a:t>
            </a:r>
            <a:r>
              <a:rPr lang="zh-CN" altLang="zh-CN" sz="2400" dirty="0" smtClean="0">
                <a:latin typeface="微软雅黑" pitchFamily="34" charset="-122"/>
                <a:ea typeface="微软雅黑" pitchFamily="34" charset="-122"/>
                <a:cs typeface="Times New Roman" pitchFamily="18" charset="0"/>
              </a:rPr>
              <a:t>酶</a:t>
            </a:r>
            <a:r>
              <a:rPr lang="zh-CN" altLang="en-US" sz="2400" dirty="0" smtClean="0">
                <a:latin typeface="微软雅黑" pitchFamily="34" charset="-122"/>
                <a:ea typeface="微软雅黑" pitchFamily="34" charset="-122"/>
                <a:cs typeface="Times New Roman" pitchFamily="18" charset="0"/>
              </a:rPr>
              <a:t>而言</a:t>
            </a:r>
            <a:r>
              <a:rPr lang="zh-CN" altLang="en-US" sz="2400" dirty="0" smtClean="0">
                <a:latin typeface="微软雅黑" pitchFamily="34" charset="-122"/>
                <a:ea typeface="微软雅黑" pitchFamily="34" charset="-122"/>
                <a:cs typeface="Times New Roman" pitchFamily="18" charset="0"/>
              </a:rPr>
              <a:t>，</a:t>
            </a:r>
            <a:r>
              <a:rPr lang="zh-CN" altLang="zh-CN" sz="2400" dirty="0" smtClean="0">
                <a:latin typeface="微软雅黑" pitchFamily="34" charset="-122"/>
                <a:ea typeface="微软雅黑" pitchFamily="34" charset="-122"/>
                <a:cs typeface="Times New Roman" pitchFamily="18" charset="0"/>
              </a:rPr>
              <a:t>其</a:t>
            </a:r>
            <a:r>
              <a:rPr lang="zh-CN" altLang="zh-CN" sz="2400" dirty="0" smtClean="0">
                <a:latin typeface="微软雅黑" pitchFamily="34" charset="-122"/>
                <a:ea typeface="微软雅黑" pitchFamily="34" charset="-122"/>
                <a:cs typeface="Times New Roman" pitchFamily="18" charset="0"/>
              </a:rPr>
              <a:t>反应速</a:t>
            </a:r>
            <a:r>
              <a:rPr lang="zh-CN" altLang="en-US" sz="2400" dirty="0" smtClean="0">
                <a:latin typeface="微软雅黑" pitchFamily="34" charset="-122"/>
                <a:ea typeface="微软雅黑" pitchFamily="34" charset="-122"/>
                <a:cs typeface="Times New Roman" pitchFamily="18" charset="0"/>
              </a:rPr>
              <a:t>率</a:t>
            </a:r>
            <a:r>
              <a:rPr lang="zh-CN" altLang="zh-CN" sz="2400" dirty="0" smtClean="0">
                <a:latin typeface="微软雅黑" pitchFamily="34" charset="-122"/>
                <a:ea typeface="微软雅黑" pitchFamily="34" charset="-122"/>
                <a:cs typeface="Times New Roman" pitchFamily="18" charset="0"/>
              </a:rPr>
              <a:t>从</a:t>
            </a:r>
            <a:r>
              <a:rPr lang="en-US" altLang="zh-CN" sz="2400" i="1" dirty="0" err="1" smtClean="0">
                <a:latin typeface="微软雅黑" pitchFamily="34" charset="-122"/>
                <a:ea typeface="微软雅黑" pitchFamily="34" charset="-122"/>
                <a:cs typeface="Times New Roman" pitchFamily="18" charset="0"/>
              </a:rPr>
              <a:t>V</a:t>
            </a:r>
            <a:r>
              <a:rPr lang="en-US" altLang="zh-CN" sz="2400" i="1" baseline="-25000" dirty="0" err="1" smtClean="0">
                <a:latin typeface="微软雅黑" pitchFamily="34" charset="-122"/>
                <a:ea typeface="微软雅黑" pitchFamily="34" charset="-122"/>
                <a:cs typeface="Times New Roman" pitchFamily="18" charset="0"/>
              </a:rPr>
              <a:t>max</a:t>
            </a:r>
            <a:r>
              <a:rPr lang="zh-CN" altLang="zh-CN" sz="2400" dirty="0" smtClean="0">
                <a:latin typeface="微软雅黑" pitchFamily="34" charset="-122"/>
                <a:ea typeface="微软雅黑" pitchFamily="34" charset="-122"/>
                <a:cs typeface="Times New Roman" pitchFamily="18" charset="0"/>
              </a:rPr>
              <a:t>的</a:t>
            </a:r>
            <a:r>
              <a:rPr lang="zh-CN" altLang="en-US" sz="2400" dirty="0" smtClean="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10</a:t>
            </a:r>
            <a:r>
              <a:rPr lang="en-US" altLang="zh-CN" sz="2400" dirty="0" smtClean="0">
                <a:latin typeface="微软雅黑" pitchFamily="34" charset="-122"/>
                <a:ea typeface="微软雅黑" pitchFamily="34" charset="-122"/>
                <a:cs typeface="Times New Roman" pitchFamily="18" charset="0"/>
              </a:rPr>
              <a:t>% </a:t>
            </a:r>
            <a:r>
              <a:rPr lang="zh-CN" altLang="zh-CN" sz="2400" dirty="0" smtClean="0">
                <a:latin typeface="微软雅黑" pitchFamily="34" charset="-122"/>
                <a:ea typeface="微软雅黑" pitchFamily="34" charset="-122"/>
                <a:cs typeface="Times New Roman" pitchFamily="18" charset="0"/>
              </a:rPr>
              <a:t>增加到</a:t>
            </a:r>
            <a:r>
              <a:rPr lang="zh-CN" altLang="en-US" sz="2400" dirty="0" smtClean="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90%</a:t>
            </a:r>
            <a:r>
              <a:rPr lang="zh-CN" altLang="zh-CN" sz="2400" dirty="0" smtClean="0">
                <a:latin typeface="微软雅黑" pitchFamily="34" charset="-122"/>
                <a:ea typeface="微软雅黑" pitchFamily="34" charset="-122"/>
                <a:cs typeface="Times New Roman" pitchFamily="18" charset="0"/>
              </a:rPr>
              <a:t>时，需要较大的底物浓度增加。正协同效应意味着酶对环境中底物浓度的变化更为敏感。这样的结果可以使得机体内某些重要的调节酶能够根据环境的变化对代谢进行更加灵敏的调节。</a:t>
            </a:r>
          </a:p>
          <a:p>
            <a:pPr>
              <a:lnSpc>
                <a:spcPct val="120000"/>
              </a:lnSpc>
              <a:buFont typeface="Wingdings" pitchFamily="2" charset="2"/>
              <a:buChar char="Ø"/>
            </a:pPr>
            <a:r>
              <a:rPr lang="zh-CN" altLang="zh-CN" sz="2400" dirty="0" smtClean="0">
                <a:latin typeface="微软雅黑" pitchFamily="34" charset="-122"/>
                <a:ea typeface="微软雅黑" pitchFamily="34" charset="-122"/>
                <a:cs typeface="Times New Roman" pitchFamily="18" charset="0"/>
              </a:rPr>
              <a:t>呈现</a:t>
            </a:r>
            <a:r>
              <a:rPr lang="zh-CN" altLang="zh-CN" sz="2400" dirty="0" smtClean="0">
                <a:latin typeface="微软雅黑" pitchFamily="34" charset="-122"/>
                <a:ea typeface="微软雅黑" pitchFamily="34" charset="-122"/>
                <a:cs typeface="Times New Roman" pitchFamily="18" charset="0"/>
              </a:rPr>
              <a:t>负协同效应的别构酶（</a:t>
            </a:r>
            <a:r>
              <a:rPr lang="en-US" altLang="zh-CN" sz="2400" i="1" dirty="0" smtClean="0">
                <a:latin typeface="微软雅黑" pitchFamily="34" charset="-122"/>
                <a:ea typeface="微软雅黑" pitchFamily="34" charset="-122"/>
                <a:cs typeface="Times New Roman" pitchFamily="18" charset="0"/>
              </a:rPr>
              <a:t>h</a:t>
            </a:r>
            <a:r>
              <a:rPr lang="en-US" altLang="zh-CN" sz="2400" dirty="0" smtClean="0">
                <a:latin typeface="微软雅黑" pitchFamily="34" charset="-122"/>
                <a:ea typeface="微软雅黑" pitchFamily="34" charset="-122"/>
                <a:cs typeface="Times New Roman" pitchFamily="18" charset="0"/>
              </a:rPr>
              <a:t>=0.5</a:t>
            </a:r>
            <a:r>
              <a:rPr lang="zh-CN" altLang="zh-CN" sz="2400" dirty="0" smtClean="0">
                <a:latin typeface="微软雅黑" pitchFamily="34" charset="-122"/>
                <a:ea typeface="微软雅黑" pitchFamily="34" charset="-122"/>
                <a:cs typeface="Times New Roman" pitchFamily="18" charset="0"/>
              </a:rPr>
              <a:t>）要将其反应速率从</a:t>
            </a:r>
            <a:r>
              <a:rPr lang="en-US" altLang="zh-CN" sz="2400" i="1" dirty="0" err="1" smtClean="0">
                <a:latin typeface="微软雅黑" pitchFamily="34" charset="-122"/>
                <a:ea typeface="微软雅黑" pitchFamily="34" charset="-122"/>
                <a:cs typeface="Times New Roman" pitchFamily="18" charset="0"/>
              </a:rPr>
              <a:t>V</a:t>
            </a:r>
            <a:r>
              <a:rPr lang="en-US" altLang="zh-CN" sz="2400" i="1" baseline="-25000" dirty="0" err="1" smtClean="0">
                <a:latin typeface="微软雅黑" pitchFamily="34" charset="-122"/>
                <a:ea typeface="微软雅黑" pitchFamily="34" charset="-122"/>
                <a:cs typeface="Times New Roman" pitchFamily="18" charset="0"/>
              </a:rPr>
              <a:t>max</a:t>
            </a:r>
            <a:r>
              <a:rPr lang="zh-CN" altLang="zh-CN" sz="2400" dirty="0" smtClean="0">
                <a:latin typeface="微软雅黑" pitchFamily="34" charset="-122"/>
                <a:ea typeface="微软雅黑" pitchFamily="34" charset="-122"/>
                <a:cs typeface="Times New Roman" pitchFamily="18" charset="0"/>
              </a:rPr>
              <a:t>的</a:t>
            </a:r>
            <a:r>
              <a:rPr lang="zh-CN" altLang="en-US" sz="2400" dirty="0" smtClean="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10% </a:t>
            </a:r>
            <a:r>
              <a:rPr lang="zh-CN" altLang="zh-CN" sz="2400" dirty="0" smtClean="0">
                <a:latin typeface="微软雅黑" pitchFamily="34" charset="-122"/>
                <a:ea typeface="微软雅黑" pitchFamily="34" charset="-122"/>
                <a:cs typeface="Times New Roman" pitchFamily="18" charset="0"/>
              </a:rPr>
              <a:t>增加到</a:t>
            </a:r>
            <a:r>
              <a:rPr lang="zh-CN" altLang="en-US" sz="2400" dirty="0" smtClean="0">
                <a:latin typeface="微软雅黑" pitchFamily="34" charset="-122"/>
                <a:ea typeface="微软雅黑" pitchFamily="34" charset="-122"/>
                <a:cs typeface="Times New Roman" pitchFamily="18" charset="0"/>
              </a:rPr>
              <a:t> </a:t>
            </a:r>
            <a:r>
              <a:rPr lang="en-US" altLang="zh-CN" sz="2400" dirty="0" smtClean="0">
                <a:latin typeface="微软雅黑" pitchFamily="34" charset="-122"/>
                <a:ea typeface="微软雅黑" pitchFamily="34" charset="-122"/>
                <a:cs typeface="Times New Roman" pitchFamily="18" charset="0"/>
              </a:rPr>
              <a:t>90%</a:t>
            </a:r>
            <a:r>
              <a:rPr lang="zh-CN" altLang="zh-CN" sz="2400" dirty="0" smtClean="0">
                <a:latin typeface="微软雅黑" pitchFamily="34" charset="-122"/>
                <a:ea typeface="微软雅黑" pitchFamily="34" charset="-122"/>
                <a:cs typeface="Times New Roman" pitchFamily="18" charset="0"/>
              </a:rPr>
              <a:t>，需要将底物浓度提高</a:t>
            </a:r>
            <a:r>
              <a:rPr lang="en-US" altLang="zh-CN" sz="2400" dirty="0" smtClean="0">
                <a:latin typeface="微软雅黑" pitchFamily="34" charset="-122"/>
                <a:ea typeface="微软雅黑" pitchFamily="34" charset="-122"/>
                <a:cs typeface="Times New Roman" pitchFamily="18" charset="0"/>
              </a:rPr>
              <a:t>6561</a:t>
            </a:r>
            <a:r>
              <a:rPr lang="zh-CN" altLang="zh-CN" sz="2400" dirty="0" smtClean="0">
                <a:latin typeface="微软雅黑" pitchFamily="34" charset="-122"/>
                <a:ea typeface="微软雅黑" pitchFamily="34" charset="-122"/>
                <a:cs typeface="Times New Roman" pitchFamily="18" charset="0"/>
              </a:rPr>
              <a:t>倍。如此大幅度的提高就意味着该酶对底物浓度的变化极度不敏感。</a:t>
            </a:r>
            <a:endParaRPr lang="zh-CN" altLang="en-US" sz="2400" dirty="0" smtClean="0">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149542270"/>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3"/>
          <a:srcRect l="12413" t="3376" r="2668"/>
          <a:stretch/>
        </p:blipFill>
        <p:spPr>
          <a:xfrm>
            <a:off x="0" y="707633"/>
            <a:ext cx="6012226" cy="5358630"/>
          </a:xfrm>
          <a:prstGeom prst="rect">
            <a:avLst/>
          </a:prstGeom>
        </p:spPr>
      </p:pic>
      <p:sp>
        <p:nvSpPr>
          <p:cNvPr id="5" name="文本框 2"/>
          <p:cNvSpPr txBox="1"/>
          <p:nvPr/>
        </p:nvSpPr>
        <p:spPr>
          <a:xfrm>
            <a:off x="5967622" y="814313"/>
            <a:ext cx="6179774" cy="4524315"/>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几种不同浓度的激活剂(</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)或抑制剂（</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）对变构酶的影响，其中K</a:t>
            </a:r>
            <a:r>
              <a:rPr lang="zh-CN" altLang="en-US" sz="2400" baseline="-25000" dirty="0">
                <a:latin typeface="微软雅黑" panose="020B0503020204020204" pitchFamily="34" charset="-122"/>
                <a:ea typeface="微软雅黑" panose="020B0503020204020204" pitchFamily="34" charset="-122"/>
              </a:rPr>
              <a:t>0.</a:t>
            </a:r>
            <a:r>
              <a:rPr lang="zh-CN" altLang="en-US" sz="2400" baseline="-25000" dirty="0" smtClean="0">
                <a:latin typeface="微软雅黑" panose="020B0503020204020204" pitchFamily="34" charset="-122"/>
                <a:ea typeface="微软雅黑" panose="020B0503020204020204" pitchFamily="34" charset="-122"/>
              </a:rPr>
              <a:t>5</a:t>
            </a:r>
            <a:r>
              <a:rPr lang="zh-CN" altLang="en-US" sz="2400" dirty="0" smtClean="0">
                <a:latin typeface="微软雅黑" panose="020B0503020204020204" pitchFamily="34" charset="-122"/>
                <a:ea typeface="微软雅黑" panose="020B0503020204020204" pitchFamily="34" charset="-122"/>
              </a:rPr>
              <a:t>被</a:t>
            </a:r>
            <a:r>
              <a:rPr lang="zh-CN" altLang="en-US" sz="2400" dirty="0">
                <a:latin typeface="微软雅黑" panose="020B0503020204020204" pitchFamily="34" charset="-122"/>
                <a:ea typeface="微软雅黑" panose="020B0503020204020204" pitchFamily="34" charset="-122"/>
              </a:rPr>
              <a:t>改变，而V</a:t>
            </a:r>
            <a:r>
              <a:rPr lang="zh-CN" altLang="en-US" sz="2400" baseline="-25000" dirty="0">
                <a:latin typeface="微软雅黑" panose="020B0503020204020204" pitchFamily="34" charset="-122"/>
                <a:ea typeface="微软雅黑" panose="020B0503020204020204" pitchFamily="34" charset="-122"/>
              </a:rPr>
              <a:t>max</a:t>
            </a:r>
            <a:r>
              <a:rPr lang="zh-CN" altLang="en-US" sz="2400" dirty="0">
                <a:latin typeface="微软雅黑" panose="020B0503020204020204" pitchFamily="34" charset="-122"/>
                <a:ea typeface="微软雅黑" panose="020B0503020204020204" pitchFamily="34" charset="-122"/>
              </a:rPr>
              <a:t>没有变化。</a:t>
            </a:r>
          </a:p>
          <a:p>
            <a:pPr marL="342900" indent="-342900">
              <a:lnSpc>
                <a:spcPct val="150000"/>
              </a:lnSpc>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激活剂可能使曲线变得更接近双曲线</a:t>
            </a:r>
            <a:r>
              <a:rPr lang="zh-CN" altLang="en-US" sz="2400" dirty="0">
                <a:latin typeface="微软雅黑" panose="020B0503020204020204" pitchFamily="34" charset="-122"/>
                <a:ea typeface="微软雅黑" panose="020B0503020204020204" pitchFamily="34" charset="-122"/>
              </a:rPr>
              <a:t>，k0.5降低，但V</a:t>
            </a:r>
            <a:r>
              <a:rPr lang="zh-CN" altLang="en-US" sz="2400" baseline="-25000" dirty="0">
                <a:latin typeface="微软雅黑" panose="020B0503020204020204" pitchFamily="34" charset="-122"/>
                <a:ea typeface="微软雅黑" panose="020B0503020204020204" pitchFamily="34" charset="-122"/>
              </a:rPr>
              <a:t>max</a:t>
            </a:r>
            <a:r>
              <a:rPr lang="zh-CN" altLang="en-US" sz="2400" dirty="0">
                <a:latin typeface="微软雅黑" panose="020B0503020204020204" pitchFamily="34" charset="-122"/>
                <a:ea typeface="微软雅黑" panose="020B0503020204020204" pitchFamily="34" charset="-122"/>
              </a:rPr>
              <a:t>没有变化，从而导致在固定的底物浓度下反应速度增加。</a:t>
            </a:r>
          </a:p>
          <a:p>
            <a:pPr marL="342900" indent="-342900">
              <a:lnSpc>
                <a:spcPct val="150000"/>
              </a:lnSpc>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抑制剂可能产生</a:t>
            </a:r>
            <a:r>
              <a:rPr lang="zh-CN" altLang="en-US" sz="2400" b="1" dirty="0">
                <a:solidFill>
                  <a:srgbClr val="FF0000"/>
                </a:solidFill>
                <a:latin typeface="微软雅黑" panose="020B0503020204020204" pitchFamily="34" charset="-122"/>
                <a:ea typeface="微软雅黑" panose="020B0503020204020204" pitchFamily="34" charset="-122"/>
              </a:rPr>
              <a:t>更s型</a:t>
            </a:r>
            <a:r>
              <a:rPr lang="zh-CN" altLang="en-US" sz="2400" dirty="0">
                <a:solidFill>
                  <a:srgbClr val="FF0000"/>
                </a:solidFill>
                <a:latin typeface="微软雅黑" panose="020B0503020204020204" pitchFamily="34" charset="-122"/>
                <a:ea typeface="微软雅黑" panose="020B0503020204020204" pitchFamily="34" charset="-122"/>
              </a:rPr>
              <a:t>的底物饱和曲线</a:t>
            </a:r>
            <a:r>
              <a:rPr lang="zh-CN" altLang="en-US" sz="2400" dirty="0">
                <a:latin typeface="微软雅黑" panose="020B0503020204020204" pitchFamily="34" charset="-122"/>
                <a:ea typeface="微软雅黑" panose="020B0503020204020204" pitchFamily="34" charset="-122"/>
              </a:rPr>
              <a:t>，K</a:t>
            </a:r>
            <a:r>
              <a:rPr lang="zh-CN" altLang="en-US" sz="2400" baseline="-25000" dirty="0">
                <a:latin typeface="微软雅黑" panose="020B0503020204020204" pitchFamily="34" charset="-122"/>
                <a:ea typeface="微软雅黑" panose="020B0503020204020204" pitchFamily="34" charset="-122"/>
              </a:rPr>
              <a:t>0.5</a:t>
            </a:r>
            <a:r>
              <a:rPr lang="zh-CN" altLang="en-US" sz="2400" dirty="0">
                <a:latin typeface="微软雅黑" panose="020B0503020204020204" pitchFamily="34" charset="-122"/>
                <a:ea typeface="微软雅黑" panose="020B0503020204020204" pitchFamily="34" charset="-122"/>
              </a:rPr>
              <a:t>增加</a:t>
            </a:r>
            <a:r>
              <a:rPr lang="zh-CN" altLang="en-US" sz="2400" dirty="0" smtClean="0">
                <a:latin typeface="微软雅黑" panose="020B0503020204020204" pitchFamily="34" charset="-122"/>
                <a:ea typeface="微软雅黑" panose="020B0503020204020204" pitchFamily="34" charset="-122"/>
              </a:rPr>
              <a:t>。（提高別构酶的正协同效应）</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69214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7870" y="1245736"/>
            <a:ext cx="1826242" cy="3416320"/>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（二）共价修饰调节</a:t>
            </a:r>
          </a:p>
          <a:p>
            <a:pPr algn="ctr" defTabSz="914400" fontAlgn="base">
              <a:lnSpc>
                <a:spcPct val="150000"/>
              </a:lnSpc>
              <a:spcBef>
                <a:spcPct val="0"/>
              </a:spcBef>
              <a:spcAft>
                <a:spcPct val="0"/>
              </a:spcAft>
              <a:defRPr/>
            </a:pPr>
            <a:endPar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grpSp>
        <p:nvGrpSpPr>
          <p:cNvPr id="2" name="组合 1"/>
          <p:cNvGrpSpPr/>
          <p:nvPr/>
        </p:nvGrpSpPr>
        <p:grpSpPr>
          <a:xfrm>
            <a:off x="2074112" y="-11202"/>
            <a:ext cx="9317747" cy="6869202"/>
            <a:chOff x="1940560" y="922656"/>
            <a:chExt cx="8230870" cy="5793104"/>
          </a:xfrm>
        </p:grpSpPr>
        <p:pic>
          <p:nvPicPr>
            <p:cNvPr id="3" name="图片 2" descr="QQ截图20220325222344"/>
            <p:cNvPicPr>
              <a:picLocks noChangeAspect="1"/>
            </p:cNvPicPr>
            <p:nvPr/>
          </p:nvPicPr>
          <p:blipFill>
            <a:blip r:embed="rId2"/>
            <a:srcRect b="3018"/>
            <a:stretch>
              <a:fillRect/>
            </a:stretch>
          </p:blipFill>
          <p:spPr>
            <a:xfrm>
              <a:off x="1940560" y="923290"/>
              <a:ext cx="8230870" cy="5792470"/>
            </a:xfrm>
            <a:prstGeom prst="rect">
              <a:avLst/>
            </a:prstGeom>
          </p:spPr>
        </p:pic>
        <p:sp>
          <p:nvSpPr>
            <p:cNvPr id="5"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13"/>
            <p:cNvSpPr txBox="1"/>
            <p:nvPr/>
          </p:nvSpPr>
          <p:spPr>
            <a:xfrm>
              <a:off x="3283586" y="1443991"/>
              <a:ext cx="7232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磷酸化</a:t>
              </a:r>
            </a:p>
          </p:txBody>
        </p:sp>
        <p:sp>
          <p:nvSpPr>
            <p:cNvPr id="7" name="文本框 8"/>
            <p:cNvSpPr txBox="1"/>
            <p:nvPr/>
          </p:nvSpPr>
          <p:spPr>
            <a:xfrm>
              <a:off x="3001444" y="2624291"/>
              <a:ext cx="955711"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腺苷酰化</a:t>
              </a:r>
            </a:p>
          </p:txBody>
        </p:sp>
        <p:sp>
          <p:nvSpPr>
            <p:cNvPr id="8" name="文本框 10"/>
            <p:cNvSpPr txBox="1"/>
            <p:nvPr/>
          </p:nvSpPr>
          <p:spPr>
            <a:xfrm>
              <a:off x="2964728" y="4293957"/>
              <a:ext cx="7761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乙酰化</a:t>
              </a:r>
            </a:p>
          </p:txBody>
        </p:sp>
        <p:sp>
          <p:nvSpPr>
            <p:cNvPr id="9" name="文本框 11"/>
            <p:cNvSpPr txBox="1"/>
            <p:nvPr/>
          </p:nvSpPr>
          <p:spPr>
            <a:xfrm>
              <a:off x="3040883" y="5282730"/>
              <a:ext cx="1135247"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十四烷酰化</a:t>
              </a:r>
            </a:p>
          </p:txBody>
        </p:sp>
        <p:sp>
          <p:nvSpPr>
            <p:cNvPr id="10" name="文本框 12"/>
            <p:cNvSpPr txBox="1"/>
            <p:nvPr/>
          </p:nvSpPr>
          <p:spPr>
            <a:xfrm>
              <a:off x="7242921" y="922656"/>
              <a:ext cx="7761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泛素化</a:t>
              </a:r>
            </a:p>
          </p:txBody>
        </p:sp>
        <p:sp>
          <p:nvSpPr>
            <p:cNvPr id="11" name="文本框 14"/>
            <p:cNvSpPr txBox="1"/>
            <p:nvPr/>
          </p:nvSpPr>
          <p:spPr>
            <a:xfrm>
              <a:off x="7434985" y="3045844"/>
              <a:ext cx="1298753"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ADP核糖基化</a:t>
              </a:r>
            </a:p>
          </p:txBody>
        </p:sp>
        <p:sp>
          <p:nvSpPr>
            <p:cNvPr id="12" name="文本框 15"/>
            <p:cNvSpPr txBox="1"/>
            <p:nvPr/>
          </p:nvSpPr>
          <p:spPr>
            <a:xfrm>
              <a:off x="7122161" y="5536566"/>
              <a:ext cx="7232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甲基化</a:t>
              </a:r>
            </a:p>
          </p:txBody>
        </p:sp>
      </p:grpSp>
    </p:spTree>
    <p:extLst>
      <p:ext uri="{BB962C8B-B14F-4D97-AF65-F5344CB8AC3E}">
        <p14:creationId xmlns:p14="http://schemas.microsoft.com/office/powerpoint/2010/main" val="11178749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6608" y="11195"/>
            <a:ext cx="249299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磷酸化调节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332509" y="1536700"/>
            <a:ext cx="11388436" cy="4431983"/>
          </a:xfrm>
          <a:prstGeom prst="rect">
            <a:avLst/>
          </a:prstGeom>
          <a:noFill/>
        </p:spPr>
        <p:txBody>
          <a:bodyPr wrap="square" rtlCol="0" anchor="t">
            <a:spAutoFit/>
          </a:bodyPr>
          <a:lstStyle/>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sym typeface="+mn-ea"/>
              </a:rPr>
              <a:t>磷酸化（去磷酸化</a:t>
            </a:r>
            <a:r>
              <a:rPr lang="zh-CN" altLang="en-US" sz="2400" b="1" dirty="0" smtClean="0">
                <a:latin typeface="Comic Sans MS" panose="030F0702030302020204" charset="0"/>
                <a:ea typeface="微软雅黑" panose="020B0503020204020204" pitchFamily="34" charset="-122"/>
                <a:cs typeface="Comic Sans MS" panose="030F0702030302020204" charset="0"/>
                <a:sym typeface="+mn-ea"/>
              </a:rPr>
              <a:t>）</a:t>
            </a:r>
            <a:r>
              <a:rPr lang="zh-CN" altLang="en-US" sz="2400" dirty="0" smtClean="0">
                <a:latin typeface="Comic Sans MS" panose="030F0702030302020204" charset="0"/>
                <a:ea typeface="微软雅黑" panose="020B0503020204020204" pitchFamily="34" charset="-122"/>
                <a:cs typeface="Comic Sans MS" panose="030F0702030302020204" charset="0"/>
                <a:sym typeface="+mn-ea"/>
              </a:rPr>
              <a:t>是</a:t>
            </a:r>
            <a:r>
              <a:rPr lang="zh-CN" altLang="en-US" sz="2400" dirty="0">
                <a:latin typeface="Comic Sans MS" panose="030F0702030302020204" charset="0"/>
                <a:ea typeface="微软雅黑" panose="020B0503020204020204" pitchFamily="34" charset="-122"/>
                <a:cs typeface="Comic Sans MS" panose="030F0702030302020204" charset="0"/>
              </a:rPr>
              <a:t>最常见的酶活性调节类型。</a:t>
            </a:r>
          </a:p>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磷酸化：</a:t>
            </a:r>
            <a:r>
              <a:rPr lang="zh-CN" altLang="en-US" sz="2400" dirty="0">
                <a:latin typeface="Comic Sans MS" panose="030F0702030302020204" charset="0"/>
                <a:ea typeface="微软雅黑" panose="020B0503020204020204" pitchFamily="34" charset="-122"/>
                <a:cs typeface="Comic Sans MS" panose="030F0702030302020204" charset="0"/>
              </a:rPr>
              <a:t>是由</a:t>
            </a:r>
            <a:r>
              <a:rPr lang="zh-CN" altLang="en-US" sz="2400" u="sng" dirty="0">
                <a:latin typeface="Comic Sans MS" panose="030F0702030302020204" charset="0"/>
                <a:ea typeface="微软雅黑" panose="020B0503020204020204" pitchFamily="34" charset="-122"/>
                <a:cs typeface="Comic Sans MS" panose="030F0702030302020204" charset="0"/>
              </a:rPr>
              <a:t>蛋白质</a:t>
            </a:r>
            <a:r>
              <a:rPr lang="zh-CN" altLang="en-US" sz="2400" u="sng" dirty="0">
                <a:solidFill>
                  <a:srgbClr val="FF0000"/>
                </a:solidFill>
                <a:latin typeface="Comic Sans MS" panose="030F0702030302020204" charset="0"/>
                <a:ea typeface="微软雅黑" panose="020B0503020204020204" pitchFamily="34" charset="-122"/>
                <a:cs typeface="Comic Sans MS" panose="030F0702030302020204" charset="0"/>
              </a:rPr>
              <a:t>激酶</a:t>
            </a:r>
            <a:r>
              <a:rPr lang="zh-CN" altLang="en-US" sz="2400" u="sng" dirty="0">
                <a:latin typeface="Comic Sans MS" panose="030F0702030302020204" charset="0"/>
                <a:ea typeface="微软雅黑" panose="020B0503020204020204" pitchFamily="34" charset="-122"/>
                <a:cs typeface="Comic Sans MS" panose="030F0702030302020204" charset="0"/>
              </a:rPr>
              <a:t>（ protein kinases）</a:t>
            </a:r>
            <a:r>
              <a:rPr lang="zh-CN" altLang="en-US" sz="2400" dirty="0">
                <a:latin typeface="Comic Sans MS" panose="030F0702030302020204" charset="0"/>
                <a:ea typeface="微软雅黑" panose="020B0503020204020204" pitchFamily="34" charset="-122"/>
                <a:cs typeface="Comic Sans MS" panose="030F0702030302020204" charset="0"/>
              </a:rPr>
              <a:t>催化的，在人类基因组中发现了500多个编码这些关键酶的基因。通常是将ATP的γ-磷酸基</a:t>
            </a:r>
            <a:r>
              <a:rPr lang="zh-CN" altLang="en-US" sz="2400" dirty="0">
                <a:latin typeface="Comic Sans MS" panose="030F0702030302020204" charset="0"/>
                <a:ea typeface="微软雅黑" panose="020B0503020204020204" pitchFamily="34" charset="-122"/>
                <a:cs typeface="Comic Sans MS" panose="030F0702030302020204" charset="0"/>
                <a:sym typeface="+mn-ea"/>
              </a:rPr>
              <a:t>(PO</a:t>
            </a:r>
            <a:r>
              <a:rPr lang="zh-CN" altLang="en-US" sz="2400" baseline="-25000" dirty="0">
                <a:latin typeface="Comic Sans MS" panose="030F0702030302020204" charset="0"/>
                <a:ea typeface="微软雅黑" panose="020B0503020204020204" pitchFamily="34" charset="-122"/>
                <a:cs typeface="Comic Sans MS" panose="030F0702030302020204" charset="0"/>
                <a:sym typeface="+mn-ea"/>
              </a:rPr>
              <a:t>3</a:t>
            </a:r>
            <a:r>
              <a:rPr lang="zh-CN" altLang="en-US" sz="2400" baseline="30000" dirty="0">
                <a:latin typeface="Comic Sans MS" panose="030F0702030302020204" charset="0"/>
                <a:ea typeface="微软雅黑" panose="020B0503020204020204" pitchFamily="34" charset="-122"/>
                <a:cs typeface="Comic Sans MS" panose="030F0702030302020204" charset="0"/>
                <a:sym typeface="+mn-ea"/>
              </a:rPr>
              <a:t>2−</a:t>
            </a:r>
            <a:r>
              <a:rPr lang="zh-CN" altLang="en-US" sz="2400" dirty="0">
                <a:latin typeface="Comic Sans MS" panose="030F0702030302020204" charset="0"/>
                <a:ea typeface="微软雅黑" panose="020B0503020204020204" pitchFamily="34" charset="-122"/>
                <a:cs typeface="Comic Sans MS" panose="030F0702030302020204" charset="0"/>
                <a:sym typeface="+mn-ea"/>
              </a:rPr>
              <a:t>)</a:t>
            </a:r>
            <a:r>
              <a:rPr lang="zh-CN" altLang="en-US" sz="2400" dirty="0">
                <a:latin typeface="Comic Sans MS" panose="030F0702030302020204" charset="0"/>
                <a:ea typeface="微软雅黑" panose="020B0503020204020204" pitchFamily="34" charset="-122"/>
                <a:cs typeface="Comic Sans MS" panose="030F0702030302020204" charset="0"/>
              </a:rPr>
              <a:t>，转移到目标蛋白（酶）上的特定丝氨酸、苏氨酸或酪氨酸残基(偶尔His)。</a:t>
            </a:r>
          </a:p>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去除磷酸化：</a:t>
            </a:r>
            <a:r>
              <a:rPr lang="zh-CN" altLang="en-US" sz="2400" dirty="0">
                <a:latin typeface="Comic Sans MS" panose="030F0702030302020204" charset="0"/>
                <a:ea typeface="微软雅黑" panose="020B0503020204020204" pitchFamily="34" charset="-122"/>
                <a:cs typeface="Comic Sans MS" panose="030F0702030302020204" charset="0"/>
              </a:rPr>
              <a:t>是由</a:t>
            </a:r>
            <a:r>
              <a:rPr lang="zh-CN" altLang="en-US" sz="2400" u="sng" dirty="0">
                <a:latin typeface="Comic Sans MS" panose="030F0702030302020204" charset="0"/>
                <a:ea typeface="微软雅黑" panose="020B0503020204020204" pitchFamily="34" charset="-122"/>
                <a:cs typeface="Comic Sans MS" panose="030F0702030302020204" charset="0"/>
              </a:rPr>
              <a:t>磷蛋白</a:t>
            </a:r>
            <a:r>
              <a:rPr lang="zh-CN" altLang="en-US" sz="2400" u="sng" dirty="0">
                <a:solidFill>
                  <a:srgbClr val="FF0000"/>
                </a:solidFill>
                <a:latin typeface="Comic Sans MS" panose="030F0702030302020204" charset="0"/>
                <a:ea typeface="微软雅黑" panose="020B0503020204020204" pitchFamily="34" charset="-122"/>
                <a:cs typeface="Comic Sans MS" panose="030F0702030302020204" charset="0"/>
              </a:rPr>
              <a:t>磷酸酶</a:t>
            </a:r>
            <a:r>
              <a:rPr lang="zh-CN" altLang="en-US" sz="2400" u="sng" dirty="0">
                <a:latin typeface="Comic Sans MS" panose="030F0702030302020204" charset="0"/>
                <a:ea typeface="微软雅黑" panose="020B0503020204020204" pitchFamily="34" charset="-122"/>
                <a:cs typeface="Comic Sans MS" panose="030F0702030302020204" charset="0"/>
              </a:rPr>
              <a:t>（phosphoprotein phosphatases）</a:t>
            </a:r>
            <a:r>
              <a:rPr lang="zh-CN" altLang="en-US" sz="2400" dirty="0">
                <a:latin typeface="Comic Sans MS" panose="030F0702030302020204" charset="0"/>
                <a:ea typeface="微软雅黑" panose="020B0503020204020204" pitchFamily="34" charset="-122"/>
                <a:cs typeface="Comic Sans MS" panose="030F0702030302020204" charset="0"/>
              </a:rPr>
              <a:t>催化的。</a:t>
            </a:r>
          </a:p>
          <a:p>
            <a:pPr marL="285750" indent="-285750">
              <a:lnSpc>
                <a:spcPct val="150000"/>
              </a:lnSpc>
              <a:spcBef>
                <a:spcPts val="1200"/>
              </a:spcBef>
              <a:buFont typeface="Arial" panose="020B0604020202020204" pitchFamily="34" charset="0"/>
              <a:buChar char="•"/>
            </a:pPr>
            <a:r>
              <a:rPr lang="zh-CN" altLang="en-US" sz="2400" dirty="0">
                <a:latin typeface="Comic Sans MS" panose="030F0702030302020204" charset="0"/>
                <a:ea typeface="微软雅黑" panose="020B0503020204020204" pitchFamily="34" charset="-122"/>
                <a:cs typeface="Comic Sans MS" panose="030F0702030302020204" charset="0"/>
              </a:rPr>
              <a:t>酶添加</a:t>
            </a:r>
            <a:r>
              <a:rPr lang="zh-CN" altLang="en-US" sz="2400" dirty="0">
                <a:latin typeface="Comic Sans MS" panose="030F0702030302020204" charset="0"/>
                <a:ea typeface="微软雅黑" panose="020B0503020204020204" pitchFamily="34" charset="-122"/>
                <a:cs typeface="Comic Sans MS" panose="030F0702030302020204" charset="0"/>
                <a:sym typeface="+mn-ea"/>
              </a:rPr>
              <a:t>（或去除）</a:t>
            </a:r>
            <a:r>
              <a:rPr lang="zh-CN" altLang="en-US" sz="2400" dirty="0">
                <a:latin typeface="Comic Sans MS" panose="030F0702030302020204" charset="0"/>
                <a:ea typeface="微软雅黑" panose="020B0503020204020204" pitchFamily="34" charset="-122"/>
                <a:cs typeface="Comic Sans MS" panose="030F0702030302020204" charset="0"/>
              </a:rPr>
              <a:t>一个大的带负电荷的基团，改变酶活性中心催化活性。酶的磷酸化</a:t>
            </a:r>
            <a:r>
              <a:rPr lang="en-US" altLang="zh-CN" sz="2400" dirty="0">
                <a:latin typeface="Comic Sans MS" panose="030F0702030302020204" charset="0"/>
                <a:ea typeface="微软雅黑" panose="020B0503020204020204" pitchFamily="34" charset="-122"/>
                <a:cs typeface="Comic Sans MS" panose="030F0702030302020204" charset="0"/>
              </a:rPr>
              <a:t>/</a:t>
            </a:r>
            <a:r>
              <a:rPr lang="zh-CN" altLang="en-US" sz="2400" dirty="0">
                <a:latin typeface="Comic Sans MS" panose="030F0702030302020204" charset="0"/>
                <a:ea typeface="微软雅黑" panose="020B0503020204020204" pitchFamily="34" charset="-122"/>
                <a:cs typeface="Comic Sans MS" panose="030F0702030302020204" charset="0"/>
              </a:rPr>
              <a:t>去磷酸化的共价修饰过程，是酶活性的功能开关。</a:t>
            </a:r>
          </a:p>
        </p:txBody>
      </p:sp>
    </p:spTree>
    <p:extLst>
      <p:ext uri="{BB962C8B-B14F-4D97-AF65-F5344CB8AC3E}">
        <p14:creationId xmlns:p14="http://schemas.microsoft.com/office/powerpoint/2010/main" val="4273955407"/>
      </p:ext>
    </p:extLst>
  </p:cSld>
  <p:clrMapOvr>
    <a:masterClrMapping/>
  </p:clrMapOvr>
  <p:transition>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6608" y="11195"/>
            <a:ext cx="249299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磷酸化调节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78623" y="1086553"/>
            <a:ext cx="3877985" cy="581057"/>
          </a:xfrm>
          <a:prstGeom prst="rect">
            <a:avLst/>
          </a:prstGeom>
          <a:noFill/>
        </p:spPr>
        <p:txBody>
          <a:bodyPr wrap="non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糖原磷酸化酶（降解糖原）</a:t>
            </a:r>
          </a:p>
        </p:txBody>
      </p:sp>
      <p:pic>
        <p:nvPicPr>
          <p:cNvPr id="9" name="图片 8"/>
          <p:cNvPicPr>
            <a:picLocks noChangeAspect="1"/>
          </p:cNvPicPr>
          <p:nvPr/>
        </p:nvPicPr>
        <p:blipFill>
          <a:blip r:embed="rId3"/>
          <a:stretch>
            <a:fillRect/>
          </a:stretch>
        </p:blipFill>
        <p:spPr>
          <a:xfrm>
            <a:off x="4599642" y="930689"/>
            <a:ext cx="6247725" cy="1178489"/>
          </a:xfrm>
          <a:prstGeom prst="rect">
            <a:avLst/>
          </a:prstGeom>
        </p:spPr>
      </p:pic>
      <p:grpSp>
        <p:nvGrpSpPr>
          <p:cNvPr id="2" name="组合 1"/>
          <p:cNvGrpSpPr/>
          <p:nvPr/>
        </p:nvGrpSpPr>
        <p:grpSpPr>
          <a:xfrm>
            <a:off x="1527465" y="1990507"/>
            <a:ext cx="8853054" cy="4680456"/>
            <a:chOff x="2773546" y="2382516"/>
            <a:chExt cx="6344876" cy="3213322"/>
          </a:xfrm>
        </p:grpSpPr>
        <p:pic>
          <p:nvPicPr>
            <p:cNvPr id="7" name="图片 6"/>
            <p:cNvPicPr>
              <a:picLocks noChangeAspect="1"/>
            </p:cNvPicPr>
            <p:nvPr/>
          </p:nvPicPr>
          <p:blipFill rotWithShape="1">
            <a:blip r:embed="rId4"/>
            <a:srcRect l="3541" t="5556" r="5457" b="7967"/>
            <a:stretch/>
          </p:blipFill>
          <p:spPr>
            <a:xfrm>
              <a:off x="2773546" y="2382516"/>
              <a:ext cx="6344876" cy="3024616"/>
            </a:xfrm>
            <a:prstGeom prst="rect">
              <a:avLst/>
            </a:prstGeom>
          </p:spPr>
        </p:pic>
        <p:sp>
          <p:nvSpPr>
            <p:cNvPr id="5" name="文本框 4"/>
            <p:cNvSpPr txBox="1"/>
            <p:nvPr/>
          </p:nvSpPr>
          <p:spPr>
            <a:xfrm>
              <a:off x="5891138" y="3180616"/>
              <a:ext cx="595035" cy="418191"/>
            </a:xfrm>
            <a:prstGeom prst="rect">
              <a:avLst/>
            </a:prstGeom>
            <a:noFill/>
          </p:spPr>
          <p:txBody>
            <a:bodyPr wrap="none" rtlCol="0">
              <a:spAutoFit/>
            </a:bodyPr>
            <a:lstStyle/>
            <a:p>
              <a:pPr>
                <a:lnSpc>
                  <a:spcPct val="150000"/>
                </a:lnSpc>
              </a:pPr>
              <a:r>
                <a:rPr lang="zh-CN" altLang="en-US" sz="1600" b="1" dirty="0">
                  <a:gradFill>
                    <a:gsLst>
                      <a:gs pos="0">
                        <a:srgbClr val="14CD68"/>
                      </a:gs>
                      <a:gs pos="100000">
                        <a:srgbClr val="0B6E38"/>
                      </a:gs>
                    </a:gsLst>
                    <a:lin scaled="0"/>
                  </a:gradFill>
                  <a:latin typeface="微软雅黑" panose="020B0503020204020204" pitchFamily="34" charset="-122"/>
                  <a:ea typeface="微软雅黑" panose="020B0503020204020204" pitchFamily="34" charset="-122"/>
                </a:rPr>
                <a:t>激酶</a:t>
              </a:r>
            </a:p>
          </p:txBody>
        </p:sp>
        <p:sp>
          <p:nvSpPr>
            <p:cNvPr id="6" name="文本框 5"/>
            <p:cNvSpPr txBox="1"/>
            <p:nvPr/>
          </p:nvSpPr>
          <p:spPr>
            <a:xfrm>
              <a:off x="5685954" y="4463400"/>
              <a:ext cx="800219" cy="418191"/>
            </a:xfrm>
            <a:prstGeom prst="rect">
              <a:avLst/>
            </a:prstGeom>
            <a:noFill/>
          </p:spPr>
          <p:txBody>
            <a:bodyPr wrap="none" rtlCol="0">
              <a:spAutoFit/>
            </a:bodyPr>
            <a:lstStyle/>
            <a:p>
              <a:pPr>
                <a:lnSpc>
                  <a:spcPct val="150000"/>
                </a:lnSpc>
              </a:pPr>
              <a:r>
                <a:rPr lang="zh-CN" altLang="en-US" sz="1600" b="1" dirty="0">
                  <a:gradFill>
                    <a:gsLst>
                      <a:gs pos="0">
                        <a:srgbClr val="14CD68"/>
                      </a:gs>
                      <a:gs pos="100000">
                        <a:srgbClr val="0B6E38"/>
                      </a:gs>
                    </a:gsLst>
                    <a:lin scaled="0"/>
                  </a:gradFill>
                  <a:latin typeface="微软雅黑" panose="020B0503020204020204" pitchFamily="34" charset="-122"/>
                  <a:ea typeface="微软雅黑" panose="020B0503020204020204" pitchFamily="34" charset="-122"/>
                </a:rPr>
                <a:t>磷酸酶</a:t>
              </a:r>
            </a:p>
          </p:txBody>
        </p:sp>
        <p:sp>
          <p:nvSpPr>
            <p:cNvPr id="10" name="文本框 9"/>
            <p:cNvSpPr txBox="1"/>
            <p:nvPr/>
          </p:nvSpPr>
          <p:spPr>
            <a:xfrm>
              <a:off x="4605894" y="2442458"/>
              <a:ext cx="1622689" cy="294574"/>
            </a:xfrm>
            <a:prstGeom prst="rect">
              <a:avLst/>
            </a:prstGeom>
            <a:noFill/>
          </p:spPr>
          <p:txBody>
            <a:bodyPr wrap="non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胰高血糖素，肾上腺素</a:t>
              </a:r>
            </a:p>
          </p:txBody>
        </p:sp>
        <p:sp>
          <p:nvSpPr>
            <p:cNvPr id="11" name="文本框 10"/>
            <p:cNvSpPr txBox="1"/>
            <p:nvPr/>
          </p:nvSpPr>
          <p:spPr>
            <a:xfrm>
              <a:off x="5310163" y="5218427"/>
              <a:ext cx="723275" cy="377411"/>
            </a:xfrm>
            <a:prstGeom prst="rect">
              <a:avLst/>
            </a:prstGeom>
            <a:noFill/>
          </p:spPr>
          <p:txBody>
            <a:bodyPr wrap="non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胰岛素</a:t>
              </a:r>
            </a:p>
          </p:txBody>
        </p:sp>
        <p:sp>
          <p:nvSpPr>
            <p:cNvPr id="12" name="文本框 11"/>
            <p:cNvSpPr txBox="1"/>
            <p:nvPr/>
          </p:nvSpPr>
          <p:spPr>
            <a:xfrm>
              <a:off x="3707823" y="4593544"/>
              <a:ext cx="540500" cy="415498"/>
            </a:xfrm>
            <a:prstGeom prst="rect">
              <a:avLst/>
            </a:prstGeom>
            <a:noFill/>
          </p:spPr>
          <p:txBody>
            <a:bodyPr wrap="squar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失活</a:t>
              </a:r>
              <a:r>
                <a:rPr lang="en-US" altLang="zh-CN" sz="1400" b="1" dirty="0">
                  <a:solidFill>
                    <a:srgbClr val="FF0000"/>
                  </a:solidFill>
                  <a:latin typeface="微软雅黑" panose="020B0503020204020204" pitchFamily="34" charset="-122"/>
                  <a:ea typeface="微软雅黑" panose="020B0503020204020204" pitchFamily="34" charset="-122"/>
                </a:rPr>
                <a:t>                                                                              </a:t>
              </a:r>
            </a:p>
          </p:txBody>
        </p:sp>
        <p:sp>
          <p:nvSpPr>
            <p:cNvPr id="13" name="文本框 12"/>
            <p:cNvSpPr txBox="1"/>
            <p:nvPr/>
          </p:nvSpPr>
          <p:spPr>
            <a:xfrm>
              <a:off x="7608760" y="4448787"/>
              <a:ext cx="617999" cy="359021"/>
            </a:xfrm>
            <a:prstGeom prst="rect">
              <a:avLst/>
            </a:prstGeom>
            <a:noFill/>
          </p:spPr>
          <p:txBody>
            <a:bodyPr wrap="squar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活化</a:t>
              </a:r>
              <a:r>
                <a:rPr lang="en-US" altLang="zh-CN" sz="1400" b="1" dirty="0">
                  <a:solidFill>
                    <a:srgbClr val="FF0000"/>
                  </a:solidFill>
                  <a:latin typeface="微软雅黑" panose="020B0503020204020204" pitchFamily="34" charset="-122"/>
                  <a:ea typeface="微软雅黑" panose="020B0503020204020204" pitchFamily="34" charset="-122"/>
                </a:rPr>
                <a:t>                                                                             </a:t>
              </a:r>
            </a:p>
          </p:txBody>
        </p:sp>
        <p:sp>
          <p:nvSpPr>
            <p:cNvPr id="4" name="椭圆 3"/>
            <p:cNvSpPr/>
            <p:nvPr/>
          </p:nvSpPr>
          <p:spPr>
            <a:xfrm>
              <a:off x="6600826" y="3340731"/>
              <a:ext cx="2245360" cy="114808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4195264"/>
      </p:ext>
    </p:extLst>
  </p:cSld>
  <p:clrMapOvr>
    <a:masterClrMapping/>
  </p:clrMapOvr>
  <p:transition>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97009" y="-5940"/>
            <a:ext cx="3416320"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（三）水解激活</a:t>
            </a:r>
          </a:p>
        </p:txBody>
      </p:sp>
      <p:sp>
        <p:nvSpPr>
          <p:cNvPr id="5" name="文本框 4"/>
          <p:cNvSpPr txBox="1"/>
          <p:nvPr/>
        </p:nvSpPr>
        <p:spPr>
          <a:xfrm>
            <a:off x="93518" y="1306023"/>
            <a:ext cx="11959935" cy="3724096"/>
          </a:xfrm>
          <a:prstGeom prst="rect">
            <a:avLst/>
          </a:prstGeom>
          <a:noFill/>
        </p:spPr>
        <p:txBody>
          <a:bodyPr wrap="square" rtlCol="0" anchor="t">
            <a:spAutoFit/>
          </a:bodyPr>
          <a:lstStyle/>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大多数蛋白酶以无活性的酶原形式被合成，需要通过水解（由其他蛋白酶催化或自我催化）</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去除一些氨基酸序列</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以后才会有活性，这种调节酶活性的方式被称为</a:t>
            </a:r>
            <a:r>
              <a:rPr lang="zh-CN"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水解激活</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与共价修饰一样，水解激活是也一种全或无的调节方式，酶原状态没有活性，但与共价修饰不同的是，它是</a:t>
            </a:r>
            <a:r>
              <a:rPr lang="zh-CN"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不可逆</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的，即一旦被激活就不可能回到原来的非活性的酶原状态。</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1200"/>
              </a:spcBef>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实例：</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消化道内各种蛋白酶的激活；血浆内凝血因子的激活</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extLst>
      <p:ext uri="{BB962C8B-B14F-4D97-AF65-F5344CB8AC3E}">
        <p14:creationId xmlns:p14="http://schemas.microsoft.com/office/powerpoint/2010/main" val="2754488598"/>
      </p:ext>
    </p:extLst>
  </p:cSld>
  <p:clrMapOvr>
    <a:masterClrMapping/>
  </p:clrMapOvr>
  <p:transition>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94943" y="11195"/>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mn-ea"/>
              </a:rPr>
              <a:t>（三）水解激活</a:t>
            </a:r>
          </a:p>
          <a:p>
            <a:pPr algn="ctr" defTabSz="914400" fontAlgn="base">
              <a:lnSpc>
                <a:spcPct val="150000"/>
              </a:lnSpc>
              <a:spcBef>
                <a:spcPct val="0"/>
              </a:spcBef>
              <a:spcAft>
                <a:spcPct val="0"/>
              </a:spcAft>
              <a:defRPr/>
            </a:pPr>
            <a:endParaRPr lang="zh-CN" altLang="en-US" sz="3600" b="1" dirty="0">
              <a:solidFill>
                <a:schemeClr val="bg1"/>
              </a:solidFill>
              <a:latin typeface="微软雅黑" panose="020B0503020204020204" pitchFamily="34" charset="-122"/>
              <a:ea typeface="微软雅黑" panose="020B0503020204020204" pitchFamily="34" charset="-122"/>
              <a:sym typeface="+mn-ea"/>
            </a:endParaRPr>
          </a:p>
        </p:txBody>
      </p:sp>
      <p:sp>
        <p:nvSpPr>
          <p:cNvPr id="3"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8"/>
          <p:cNvSpPr txBox="1"/>
          <p:nvPr/>
        </p:nvSpPr>
        <p:spPr>
          <a:xfrm>
            <a:off x="647065" y="645917"/>
            <a:ext cx="2540000" cy="581057"/>
          </a:xfrm>
          <a:prstGeom prst="rect">
            <a:avLst/>
          </a:prstGeom>
          <a:noFill/>
        </p:spPr>
        <p:txBody>
          <a:bodyPr wrap="square" rtlCol="0" anchor="t">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糜蛋白酶</a:t>
            </a:r>
          </a:p>
        </p:txBody>
      </p:sp>
      <p:grpSp>
        <p:nvGrpSpPr>
          <p:cNvPr id="5" name="组合 4"/>
          <p:cNvGrpSpPr/>
          <p:nvPr/>
        </p:nvGrpSpPr>
        <p:grpSpPr>
          <a:xfrm>
            <a:off x="3080514" y="215155"/>
            <a:ext cx="7236031" cy="6427694"/>
            <a:chOff x="3729990" y="1188054"/>
            <a:chExt cx="5680434" cy="3939839"/>
          </a:xfrm>
        </p:grpSpPr>
        <p:pic>
          <p:nvPicPr>
            <p:cNvPr id="6" name="图片 5"/>
            <p:cNvPicPr>
              <a:picLocks noChangeAspect="1"/>
            </p:cNvPicPr>
            <p:nvPr/>
          </p:nvPicPr>
          <p:blipFill rotWithShape="1">
            <a:blip r:embed="rId3"/>
            <a:srcRect t="3377" b="5915"/>
            <a:stretch/>
          </p:blipFill>
          <p:spPr>
            <a:xfrm>
              <a:off x="3729990" y="1188054"/>
              <a:ext cx="4732020" cy="3939839"/>
            </a:xfrm>
            <a:prstGeom prst="rect">
              <a:avLst/>
            </a:prstGeom>
          </p:spPr>
        </p:pic>
        <p:sp>
          <p:nvSpPr>
            <p:cNvPr id="7" name="文本框 4"/>
            <p:cNvSpPr txBox="1"/>
            <p:nvPr/>
          </p:nvSpPr>
          <p:spPr>
            <a:xfrm>
              <a:off x="6131561" y="2293621"/>
              <a:ext cx="789262" cy="256329"/>
            </a:xfrm>
            <a:prstGeom prst="rect">
              <a:avLst/>
            </a:prstGeom>
            <a:noFill/>
          </p:spPr>
          <p:txBody>
            <a:bodyPr wrap="non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sym typeface="+mn-ea"/>
                </a:rPr>
                <a:t>胰蛋白酶</a:t>
              </a:r>
            </a:p>
          </p:txBody>
        </p:sp>
        <p:sp>
          <p:nvSpPr>
            <p:cNvPr id="8" name="文本框 6"/>
            <p:cNvSpPr txBox="1"/>
            <p:nvPr/>
          </p:nvSpPr>
          <p:spPr>
            <a:xfrm>
              <a:off x="6305362" y="3889677"/>
              <a:ext cx="1128967" cy="256329"/>
            </a:xfrm>
            <a:prstGeom prst="rect">
              <a:avLst/>
            </a:prstGeom>
            <a:noFill/>
          </p:spPr>
          <p:txBody>
            <a:bodyPr wrap="square" rtlCol="0">
              <a:spAutoFit/>
            </a:bodyPr>
            <a:lstStyle/>
            <a:p>
              <a:pPr>
                <a:lnSpc>
                  <a:spcPct val="150000"/>
                </a:lnSpc>
              </a:pPr>
              <a:r>
                <a:rPr lang="en-US" altLang="zh-CN" sz="1600" b="1" dirty="0">
                  <a:latin typeface="微软雅黑" panose="020B0503020204020204" pitchFamily="34" charset="-122"/>
                  <a:ea typeface="微软雅黑" panose="020B0503020204020204" pitchFamily="34" charset="-122"/>
                  <a:sym typeface="+mn-ea"/>
                </a:rPr>
                <a:t>π-</a:t>
              </a:r>
              <a:r>
                <a:rPr lang="zh-CN" altLang="en-US" sz="1600" b="1" dirty="0">
                  <a:latin typeface="微软雅黑" panose="020B0503020204020204" pitchFamily="34" charset="-122"/>
                  <a:ea typeface="微软雅黑" panose="020B0503020204020204" pitchFamily="34" charset="-122"/>
                  <a:sym typeface="+mn-ea"/>
                </a:rPr>
                <a:t>糜蛋白酶</a:t>
              </a:r>
            </a:p>
          </p:txBody>
        </p:sp>
        <p:sp>
          <p:nvSpPr>
            <p:cNvPr id="9" name="文本框 10"/>
            <p:cNvSpPr txBox="1"/>
            <p:nvPr/>
          </p:nvSpPr>
          <p:spPr>
            <a:xfrm>
              <a:off x="8359416" y="1468572"/>
              <a:ext cx="1051008" cy="226381"/>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pPr algn="ctr"/>
              <a:r>
                <a:rPr lang="zh-CN" altLang="en-US" b="1" dirty="0">
                  <a:solidFill>
                    <a:srgbClr val="FF0000"/>
                  </a:solidFill>
                  <a:latin typeface="微软雅黑" panose="020B0503020204020204" pitchFamily="34" charset="-122"/>
                  <a:ea typeface="微软雅黑" panose="020B0503020204020204" pitchFamily="34" charset="-122"/>
                  <a:sym typeface="+mn-ea"/>
                </a:rPr>
                <a:t>糜蛋白酶原</a:t>
              </a:r>
              <a:endParaRPr lang="zh-CN" altLang="en-US" dirty="0">
                <a:latin typeface="微软雅黑" panose="020B0503020204020204" pitchFamily="34" charset="-122"/>
                <a:ea typeface="微软雅黑" panose="020B0503020204020204" pitchFamily="34" charset="-122"/>
              </a:endParaRPr>
            </a:p>
          </p:txBody>
        </p:sp>
        <p:sp>
          <p:nvSpPr>
            <p:cNvPr id="10" name="文本框 11"/>
            <p:cNvSpPr txBox="1"/>
            <p:nvPr/>
          </p:nvSpPr>
          <p:spPr>
            <a:xfrm>
              <a:off x="8257598" y="3044783"/>
              <a:ext cx="1025840" cy="226381"/>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pPr algn="ctr"/>
              <a:r>
                <a:rPr lang="zh-CN" altLang="en-US" dirty="0">
                  <a:solidFill>
                    <a:srgbClr val="FF0000"/>
                  </a:solidFill>
                  <a:sym typeface="+mn-ea"/>
                </a:rPr>
                <a:t>π-</a:t>
              </a:r>
              <a:r>
                <a:rPr lang="zh-CN" altLang="en-US" b="1" dirty="0">
                  <a:solidFill>
                    <a:srgbClr val="FF0000"/>
                  </a:solidFill>
                  <a:latin typeface="微软雅黑" panose="020B0503020204020204" pitchFamily="34" charset="-122"/>
                  <a:ea typeface="微软雅黑" panose="020B0503020204020204" pitchFamily="34" charset="-122"/>
                  <a:sym typeface="+mn-ea"/>
                </a:rPr>
                <a:t>糜蛋白酶</a:t>
              </a:r>
              <a:endParaRPr lang="zh-CN" altLang="en-US" dirty="0">
                <a:latin typeface="微软雅黑" panose="020B0503020204020204" pitchFamily="34" charset="-122"/>
                <a:ea typeface="微软雅黑" panose="020B0503020204020204" pitchFamily="34" charset="-122"/>
              </a:endParaRPr>
            </a:p>
          </p:txBody>
        </p:sp>
        <p:sp>
          <p:nvSpPr>
            <p:cNvPr id="11" name="文本框 12"/>
            <p:cNvSpPr txBox="1"/>
            <p:nvPr/>
          </p:nvSpPr>
          <p:spPr>
            <a:xfrm>
              <a:off x="8359416" y="4500028"/>
              <a:ext cx="1028357" cy="226381"/>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pPr algn="ctr"/>
              <a:r>
                <a:rPr lang="en-US" altLang="zh-CN" dirty="0">
                  <a:solidFill>
                    <a:srgbClr val="FF0000"/>
                  </a:solidFill>
                  <a:sym typeface="+mn-ea"/>
                </a:rPr>
                <a:t>α</a:t>
              </a:r>
              <a:r>
                <a:rPr lang="zh-CN" altLang="en-US" dirty="0">
                  <a:solidFill>
                    <a:srgbClr val="FF0000"/>
                  </a:solidFill>
                  <a:sym typeface="+mn-ea"/>
                </a:rPr>
                <a:t>-</a:t>
              </a:r>
              <a:r>
                <a:rPr lang="zh-CN" altLang="en-US" b="1" dirty="0">
                  <a:solidFill>
                    <a:srgbClr val="FF0000"/>
                  </a:solidFill>
                  <a:latin typeface="微软雅黑" panose="020B0503020204020204" pitchFamily="34" charset="-122"/>
                  <a:ea typeface="微软雅黑" panose="020B0503020204020204" pitchFamily="34" charset="-122"/>
                  <a:sym typeface="+mn-ea"/>
                </a:rPr>
                <a:t>糜蛋白酶</a:t>
              </a:r>
              <a:endParaRPr lang="zh-CN" alt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238409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94943" y="11195"/>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mn-ea"/>
              </a:rPr>
              <a:t>（三）水解激活</a:t>
            </a:r>
            <a:endParaRPr lang="zh-CN" altLang="zh-CN" sz="3600" b="1" dirty="0">
              <a:solidFill>
                <a:schemeClr val="bg1"/>
              </a:solidFill>
              <a:latin typeface="微软雅黑" panose="020B0503020204020204" pitchFamily="34" charset="-122"/>
              <a:ea typeface="微软雅黑" panose="020B0503020204020204" pitchFamily="34" charset="-122"/>
              <a:sym typeface="+mn-ea"/>
            </a:endParaRPr>
          </a:p>
          <a:p>
            <a:pPr algn="ctr" defTabSz="914400" fontAlgn="base">
              <a:lnSpc>
                <a:spcPct val="150000"/>
              </a:lnSpc>
              <a:spcBef>
                <a:spcPct val="0"/>
              </a:spcBef>
              <a:spcAft>
                <a:spcPct val="0"/>
              </a:spcAft>
              <a:defRPr/>
            </a:pPr>
            <a:endParaRPr lang="zh-CN" altLang="en-US" sz="3600" b="1" dirty="0">
              <a:solidFill>
                <a:schemeClr val="bg1"/>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15816" y="1102360"/>
            <a:ext cx="6426852" cy="5232202"/>
          </a:xfrm>
          <a:prstGeom prst="rect">
            <a:avLst/>
          </a:prstGeom>
          <a:noFill/>
        </p:spPr>
        <p:txBody>
          <a:bodyPr wrap="square" rtlCol="0" anchor="t">
            <a:spAutoFit/>
          </a:bodyPr>
          <a:lstStyle/>
          <a:p>
            <a:pPr marL="34290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凝血：</a:t>
            </a:r>
          </a:p>
          <a:p>
            <a:pPr marL="628650" indent="-342900">
              <a:lnSpc>
                <a:spcPct val="150000"/>
              </a:lnSpc>
              <a:spcBef>
                <a:spcPts val="600"/>
              </a:spcBef>
              <a:buFont typeface="+mj-lt"/>
              <a:buAutoNum type="alphaLcPeriod"/>
            </a:pPr>
            <a:r>
              <a:rPr lang="zh-CN" altLang="en-US" sz="2400" dirty="0">
                <a:latin typeface="微软雅黑" panose="020B0503020204020204" pitchFamily="34" charset="-122"/>
                <a:ea typeface="微软雅黑" panose="020B0503020204020204" pitchFamily="34" charset="-122"/>
              </a:rPr>
              <a:t>血凝块由聚集的血小板与交联的</a:t>
            </a:r>
            <a:r>
              <a:rPr lang="zh-CN" altLang="en-US" sz="2400" u="sng" dirty="0">
                <a:solidFill>
                  <a:srgbClr val="FF0000"/>
                </a:solidFill>
                <a:latin typeface="微软雅黑" panose="020B0503020204020204" pitchFamily="34" charset="-122"/>
                <a:ea typeface="微软雅黑" panose="020B0503020204020204" pitchFamily="34" charset="-122"/>
              </a:rPr>
              <a:t>纤维蛋白链</a:t>
            </a:r>
            <a:r>
              <a:rPr lang="zh-CN" altLang="en-US" sz="2400" dirty="0">
                <a:latin typeface="微软雅黑" panose="020B0503020204020204" pitchFamily="34" charset="-122"/>
                <a:ea typeface="微软雅黑" panose="020B0503020204020204" pitchFamily="34" charset="-122"/>
              </a:rPr>
              <a:t>连接在一起组成。红细胞也被困在基质中。</a:t>
            </a:r>
          </a:p>
          <a:p>
            <a:pPr marL="628650" indent="-342900">
              <a:lnSpc>
                <a:spcPct val="150000"/>
              </a:lnSpc>
              <a:spcBef>
                <a:spcPts val="600"/>
              </a:spcBef>
              <a:buFont typeface="+mj-lt"/>
              <a:buAutoNum type="alphaLcPeriod"/>
            </a:pPr>
            <a:r>
              <a:rPr lang="zh-CN" altLang="en-US" sz="2400" dirty="0">
                <a:latin typeface="微软雅黑" panose="020B0503020204020204" pitchFamily="34" charset="-122"/>
                <a:ea typeface="微软雅黑" panose="020B0503020204020204" pitchFamily="34" charset="-122"/>
              </a:rPr>
              <a:t>可溶性血浆蛋白</a:t>
            </a:r>
            <a:r>
              <a:rPr lang="zh-CN" altLang="en-US" sz="2400" b="1" dirty="0">
                <a:latin typeface="微软雅黑" panose="020B0503020204020204" pitchFamily="34" charset="-122"/>
                <a:ea typeface="微软雅黑" panose="020B0503020204020204" pitchFamily="34" charset="-122"/>
              </a:rPr>
              <a:t>纤维蛋白原</a:t>
            </a:r>
            <a:r>
              <a:rPr lang="zh-CN" altLang="en-US" sz="2400" dirty="0">
                <a:latin typeface="微软雅黑" panose="020B0503020204020204" pitchFamily="34" charset="-122"/>
                <a:ea typeface="微软雅黑" panose="020B0503020204020204" pitchFamily="34" charset="-122"/>
              </a:rPr>
              <a:t>由α、β和γ亚基（α2β2γ2）这两个复合物组成。从α和β亚基中</a:t>
            </a:r>
            <a:r>
              <a:rPr lang="zh-CN" altLang="en-US" sz="2400" u="sng" dirty="0">
                <a:solidFill>
                  <a:srgbClr val="FF0000"/>
                </a:solidFill>
                <a:latin typeface="微软雅黑" panose="020B0503020204020204" pitchFamily="34" charset="-122"/>
                <a:ea typeface="微软雅黑" panose="020B0503020204020204" pitchFamily="34" charset="-122"/>
              </a:rPr>
              <a:t>去除氨基末端肽</a:t>
            </a:r>
            <a:r>
              <a:rPr lang="zh-CN" altLang="en-US" sz="2400" dirty="0">
                <a:latin typeface="微软雅黑" panose="020B0503020204020204" pitchFamily="34" charset="-122"/>
                <a:ea typeface="微软雅黑" panose="020B0503020204020204" pitchFamily="34" charset="-122"/>
              </a:rPr>
              <a:t>，导致高阶复合物的形成，并最终导致共价交联，从而导致纤维蛋白纤维的形成。</a:t>
            </a:r>
          </a:p>
        </p:txBody>
      </p:sp>
      <p:pic>
        <p:nvPicPr>
          <p:cNvPr id="4" name="图片 3"/>
          <p:cNvPicPr>
            <a:picLocks noChangeAspect="1"/>
          </p:cNvPicPr>
          <p:nvPr/>
        </p:nvPicPr>
        <p:blipFill>
          <a:blip r:embed="rId3"/>
          <a:srcRect r="326"/>
          <a:stretch>
            <a:fillRect/>
          </a:stretch>
        </p:blipFill>
        <p:spPr>
          <a:xfrm>
            <a:off x="7611264" y="839401"/>
            <a:ext cx="4245116" cy="6068005"/>
          </a:xfrm>
          <a:prstGeom prst="rect">
            <a:avLst/>
          </a:prstGeom>
          <a:ln>
            <a:solidFill>
              <a:schemeClr val="tx1"/>
            </a:solidFill>
          </a:ln>
        </p:spPr>
      </p:pic>
    </p:spTree>
    <p:extLst>
      <p:ext uri="{BB962C8B-B14F-4D97-AF65-F5344CB8AC3E}">
        <p14:creationId xmlns:p14="http://schemas.microsoft.com/office/powerpoint/2010/main" val="3343483422"/>
      </p:ext>
    </p:extLst>
  </p:cSld>
  <p:clrMapOvr>
    <a:masterClrMapping/>
  </p:clrMapOvr>
  <p:transition>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83052" y="1175567"/>
            <a:ext cx="4255133" cy="4062651"/>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凝血的联激活：</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内在和外在途径聚集在因子X上，最终的共同途径</a:t>
            </a:r>
            <a:r>
              <a:rPr lang="zh-CN" altLang="en-US" sz="2400" u="sng" dirty="0">
                <a:latin typeface="微软雅黑" panose="020B0503020204020204" pitchFamily="34" charset="-122"/>
                <a:ea typeface="微软雅黑" panose="020B0503020204020204" pitchFamily="34" charset="-122"/>
              </a:rPr>
              <a:t>涉及</a:t>
            </a:r>
            <a:r>
              <a:rPr lang="zh-CN" altLang="en-US" sz="2400" u="sng" dirty="0">
                <a:solidFill>
                  <a:srgbClr val="FF0000"/>
                </a:solidFill>
                <a:latin typeface="微软雅黑" panose="020B0503020204020204" pitchFamily="34" charset="-122"/>
                <a:ea typeface="微软雅黑" panose="020B0503020204020204" pitchFamily="34" charset="-122"/>
              </a:rPr>
              <a:t>凝血酶的激活</a:t>
            </a:r>
            <a:r>
              <a:rPr lang="zh-CN" altLang="en-US" sz="2400" u="sng" dirty="0">
                <a:latin typeface="微软雅黑" panose="020B0503020204020204" pitchFamily="34" charset="-122"/>
                <a:ea typeface="微软雅黑" panose="020B0503020204020204" pitchFamily="34" charset="-122"/>
              </a:rPr>
              <a:t>及其将</a:t>
            </a:r>
            <a:r>
              <a:rPr lang="zh-CN" altLang="en-US" sz="2400" u="sng" dirty="0">
                <a:solidFill>
                  <a:srgbClr val="FF0000"/>
                </a:solidFill>
                <a:latin typeface="微软雅黑" panose="020B0503020204020204" pitchFamily="34" charset="-122"/>
                <a:ea typeface="微软雅黑" panose="020B0503020204020204" pitchFamily="34" charset="-122"/>
              </a:rPr>
              <a:t>纤维蛋白原转</a:t>
            </a:r>
            <a:r>
              <a:rPr lang="zh-CN" altLang="en-US" sz="2400" u="sng" dirty="0">
                <a:latin typeface="微软雅黑" panose="020B0503020204020204" pitchFamily="34" charset="-122"/>
                <a:ea typeface="微软雅黑" panose="020B0503020204020204" pitchFamily="34" charset="-122"/>
              </a:rPr>
              <a:t>化为</a:t>
            </a:r>
            <a:r>
              <a:rPr lang="zh-CN" altLang="en-US" sz="2400" u="sng" dirty="0">
                <a:solidFill>
                  <a:srgbClr val="FF0000"/>
                </a:solidFill>
                <a:latin typeface="微软雅黑" panose="020B0503020204020204" pitchFamily="34" charset="-122"/>
                <a:ea typeface="微软雅黑" panose="020B0503020204020204" pitchFamily="34" charset="-122"/>
              </a:rPr>
              <a:t>纤维蛋白</a:t>
            </a:r>
            <a:r>
              <a:rPr lang="zh-CN" altLang="en-US" sz="2400" dirty="0">
                <a:latin typeface="微软雅黑" panose="020B0503020204020204" pitchFamily="34" charset="-122"/>
                <a:ea typeface="微软雅黑" panose="020B0503020204020204" pitchFamily="34" charset="-122"/>
              </a:rPr>
              <a:t>，纤维蛋白聚集成有序的丝状阵列，交联形成凝块。</a:t>
            </a:r>
          </a:p>
        </p:txBody>
      </p:sp>
      <p:grpSp>
        <p:nvGrpSpPr>
          <p:cNvPr id="4" name="组合 3"/>
          <p:cNvGrpSpPr/>
          <p:nvPr/>
        </p:nvGrpSpPr>
        <p:grpSpPr>
          <a:xfrm>
            <a:off x="4303060" y="-94129"/>
            <a:ext cx="7875068" cy="6952129"/>
            <a:chOff x="5158740" y="1368426"/>
            <a:chExt cx="5469839" cy="5042276"/>
          </a:xfrm>
        </p:grpSpPr>
        <p:pic>
          <p:nvPicPr>
            <p:cNvPr id="5" name="图片 4"/>
            <p:cNvPicPr>
              <a:picLocks noChangeAspect="1"/>
            </p:cNvPicPr>
            <p:nvPr/>
          </p:nvPicPr>
          <p:blipFill rotWithShape="1">
            <a:blip r:embed="rId2"/>
            <a:srcRect b="2689"/>
            <a:stretch/>
          </p:blipFill>
          <p:spPr>
            <a:xfrm>
              <a:off x="5158740" y="1368426"/>
              <a:ext cx="5417820" cy="5042276"/>
            </a:xfrm>
            <a:prstGeom prst="rect">
              <a:avLst/>
            </a:prstGeom>
          </p:spPr>
        </p:pic>
        <p:sp>
          <p:nvSpPr>
            <p:cNvPr id="6" name="文本框 8"/>
            <p:cNvSpPr txBox="1"/>
            <p:nvPr/>
          </p:nvSpPr>
          <p:spPr>
            <a:xfrm>
              <a:off x="6692900" y="1417860"/>
              <a:ext cx="664516" cy="413909"/>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内在途径</a:t>
              </a:r>
            </a:p>
            <a:p>
              <a:r>
                <a:rPr lang="zh-CN" altLang="en-US" sz="1400" b="1" dirty="0">
                  <a:latin typeface="微软雅黑" panose="020B0503020204020204" pitchFamily="34" charset="-122"/>
                  <a:ea typeface="微软雅黑" panose="020B0503020204020204" pitchFamily="34" charset="-122"/>
                </a:rPr>
                <a:t>损伤表面</a:t>
              </a:r>
            </a:p>
          </p:txBody>
        </p:sp>
        <p:sp>
          <p:nvSpPr>
            <p:cNvPr id="7" name="文本框 9"/>
            <p:cNvSpPr txBox="1"/>
            <p:nvPr/>
          </p:nvSpPr>
          <p:spPr>
            <a:xfrm>
              <a:off x="6338525" y="2128618"/>
              <a:ext cx="751774" cy="379484"/>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激肽原</a:t>
              </a:r>
            </a:p>
            <a:p>
              <a:pPr algn="ctr"/>
              <a:r>
                <a:rPr lang="zh-CN" altLang="en-US" sz="1400" b="1" dirty="0">
                  <a:latin typeface="微软雅黑" panose="020B0503020204020204" pitchFamily="34" charset="-122"/>
                  <a:ea typeface="微软雅黑" panose="020B0503020204020204" pitchFamily="34" charset="-122"/>
                </a:rPr>
                <a:t>激肽释放酶</a:t>
              </a:r>
            </a:p>
          </p:txBody>
        </p:sp>
        <p:sp>
          <p:nvSpPr>
            <p:cNvPr id="8" name="文本框 10"/>
            <p:cNvSpPr txBox="1"/>
            <p:nvPr/>
          </p:nvSpPr>
          <p:spPr>
            <a:xfrm>
              <a:off x="9150163" y="1938682"/>
              <a:ext cx="949445" cy="379484"/>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外在</a:t>
              </a:r>
              <a:r>
                <a:rPr lang="zh-CN" altLang="en-US" sz="1400" b="1" dirty="0" smtClean="0">
                  <a:latin typeface="微软雅黑" panose="020B0503020204020204" pitchFamily="34" charset="-122"/>
                  <a:ea typeface="微软雅黑" panose="020B0503020204020204" pitchFamily="34" charset="-122"/>
                </a:rPr>
                <a:t>途径</a:t>
              </a:r>
            </a:p>
            <a:p>
              <a:pPr algn="ctr"/>
              <a:r>
                <a:rPr lang="zh-CN" altLang="en-US" sz="1400" b="1" dirty="0" smtClean="0">
                  <a:latin typeface="微软雅黑" panose="020B0503020204020204" pitchFamily="34" charset="-122"/>
                  <a:ea typeface="微软雅黑" panose="020B0503020204020204" pitchFamily="34" charset="-122"/>
                </a:rPr>
                <a:t>创伤</a:t>
              </a:r>
              <a:endParaRPr lang="zh-CN" altLang="en-US" sz="1400" b="1" dirty="0">
                <a:latin typeface="微软雅黑" panose="020B0503020204020204" pitchFamily="34" charset="-122"/>
                <a:ea typeface="微软雅黑" panose="020B0503020204020204" pitchFamily="34" charset="-122"/>
              </a:endParaRPr>
            </a:p>
          </p:txBody>
        </p:sp>
        <p:sp>
          <p:nvSpPr>
            <p:cNvPr id="9" name="文本框 11"/>
            <p:cNvSpPr txBox="1"/>
            <p:nvPr/>
          </p:nvSpPr>
          <p:spPr>
            <a:xfrm>
              <a:off x="9427210" y="3324860"/>
              <a:ext cx="1201369" cy="2434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组织因子</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创伤</a:t>
              </a:r>
            </a:p>
          </p:txBody>
        </p:sp>
        <p:sp>
          <p:nvSpPr>
            <p:cNvPr id="10" name="文本框 12"/>
            <p:cNvSpPr txBox="1"/>
            <p:nvPr/>
          </p:nvSpPr>
          <p:spPr>
            <a:xfrm>
              <a:off x="7350760" y="4956810"/>
              <a:ext cx="2968851" cy="2434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凝血酶原</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凝血酶</a:t>
              </a:r>
              <a:r>
                <a:rPr lang="en-US" altLang="zh-CN" sz="1400" b="1" dirty="0" smtClean="0">
                  <a:latin typeface="微软雅黑" panose="020B0503020204020204" pitchFamily="34" charset="-122"/>
                  <a:ea typeface="微软雅黑" panose="020B0503020204020204" pitchFamily="34" charset="-122"/>
                </a:rPr>
                <a:t>     </a:t>
              </a:r>
              <a:endParaRPr lang="zh-CN" altLang="en-US" sz="1400" b="1" dirty="0">
                <a:latin typeface="微软雅黑" panose="020B0503020204020204" pitchFamily="34" charset="-122"/>
                <a:ea typeface="微软雅黑" panose="020B0503020204020204" pitchFamily="34" charset="-122"/>
              </a:endParaRPr>
            </a:p>
          </p:txBody>
        </p:sp>
        <p:sp>
          <p:nvSpPr>
            <p:cNvPr id="11" name="文本框 13"/>
            <p:cNvSpPr txBox="1"/>
            <p:nvPr/>
          </p:nvSpPr>
          <p:spPr>
            <a:xfrm>
              <a:off x="8034655" y="5464810"/>
              <a:ext cx="2571226" cy="2434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血纤蛋白原</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sym typeface="+mn-ea"/>
                </a:rPr>
                <a:t>血纤蛋白</a:t>
              </a:r>
              <a:r>
                <a:rPr lang="en-US" altLang="zh-CN" sz="1400" b="1" dirty="0">
                  <a:latin typeface="微软雅黑" panose="020B0503020204020204" pitchFamily="34" charset="-122"/>
                  <a:ea typeface="微软雅黑" panose="020B0503020204020204" pitchFamily="34" charset="-122"/>
                </a:rPr>
                <a:t>   </a:t>
              </a:r>
              <a:endParaRPr lang="zh-CN" altLang="en-US" sz="1400" b="1" dirty="0">
                <a:latin typeface="微软雅黑" panose="020B0503020204020204" pitchFamily="34" charset="-122"/>
                <a:ea typeface="微软雅黑" panose="020B0503020204020204" pitchFamily="34" charset="-122"/>
              </a:endParaRPr>
            </a:p>
          </p:txBody>
        </p:sp>
        <p:sp>
          <p:nvSpPr>
            <p:cNvPr id="12" name="文本框 14"/>
            <p:cNvSpPr txBox="1"/>
            <p:nvPr/>
          </p:nvSpPr>
          <p:spPr>
            <a:xfrm>
              <a:off x="6595110" y="5622925"/>
              <a:ext cx="1177771" cy="2434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最终的共同途径</a:t>
              </a:r>
              <a:r>
                <a:rPr lang="en-US" altLang="zh-CN" sz="1400" b="1" dirty="0">
                  <a:latin typeface="微软雅黑" panose="020B0503020204020204" pitchFamily="34" charset="-122"/>
                  <a:ea typeface="微软雅黑" panose="020B0503020204020204" pitchFamily="34" charset="-122"/>
                </a:rPr>
                <a:t>   </a:t>
              </a:r>
              <a:endParaRPr lang="zh-CN" altLang="en-US" sz="1400" b="1" dirty="0">
                <a:latin typeface="微软雅黑" panose="020B0503020204020204" pitchFamily="34" charset="-122"/>
                <a:ea typeface="微软雅黑" panose="020B0503020204020204" pitchFamily="34" charset="-122"/>
              </a:endParaRPr>
            </a:p>
          </p:txBody>
        </p:sp>
        <p:sp>
          <p:nvSpPr>
            <p:cNvPr id="13" name="文本框 15"/>
            <p:cNvSpPr txBox="1"/>
            <p:nvPr/>
          </p:nvSpPr>
          <p:spPr>
            <a:xfrm>
              <a:off x="8512175" y="6065520"/>
              <a:ext cx="1309919" cy="2434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交联血纤蛋白凝块</a:t>
              </a:r>
              <a:r>
                <a:rPr lang="en-US" altLang="zh-CN" sz="1400" b="1" dirty="0">
                  <a:latin typeface="微软雅黑" panose="020B0503020204020204" pitchFamily="34" charset="-122"/>
                  <a:ea typeface="微软雅黑" panose="020B0503020204020204" pitchFamily="34" charset="-122"/>
                </a:rPr>
                <a:t>   </a:t>
              </a:r>
              <a:endParaRPr lang="zh-CN" altLang="en-US" sz="14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396009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60998" y="14478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218" name="内容占位符 2"/>
          <p:cNvSpPr>
            <a:spLocks noGrp="1"/>
          </p:cNvSpPr>
          <p:nvPr>
            <p:ph type="subTitle" idx="4294967295"/>
          </p:nvPr>
        </p:nvSpPr>
        <p:spPr>
          <a:xfrm>
            <a:off x="539856" y="1208056"/>
            <a:ext cx="10331344" cy="2133600"/>
          </a:xfrm>
        </p:spPr>
        <p:txBody>
          <a:bodyPr vert="horz" wrap="square" lIns="91440" tIns="45720" rIns="91440" bIns="45720" rtlCol="0" anchor="t" anchorCtr="0">
            <a:noAutofit/>
          </a:bodyPr>
          <a:lstStyle/>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定义</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是指催化相同的反应，但性质不同（</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i="1" baseline="-25000" dirty="0">
                <a:latin typeface="微软雅黑" panose="020B0503020204020204" pitchFamily="34" charset="-122"/>
                <a:ea typeface="微软雅黑" panose="020B0503020204020204" pitchFamily="34" charset="-122"/>
                <a:cs typeface="微软雅黑" panose="020B0503020204020204" pitchFamily="34" charset="-122"/>
              </a:rPr>
              <a:t>max</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i="1" baseline="-250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不同）的酶。它们可能以不同的量，出现在一种动物不同的组织或器官，也可能出现在任何真核生物细胞不同的细胞器。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实例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高等动物的乳酸脱氢酶（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）有五种形式—</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M3H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M2H2</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MH3</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由四个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亚基组成，主要存在于骨骼肌，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由四个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亚基组成，主要存在于心脏。</a:t>
            </a:r>
          </a:p>
        </p:txBody>
      </p:sp>
      <p:pic>
        <p:nvPicPr>
          <p:cNvPr id="9220" name="Picture 7"/>
          <p:cNvPicPr>
            <a:picLocks noChangeAspect="1"/>
          </p:cNvPicPr>
          <p:nvPr/>
        </p:nvPicPr>
        <p:blipFill>
          <a:blip r:embed="rId3">
            <a:lum bright="-6000" contrast="-6000"/>
          </a:blip>
          <a:stretch>
            <a:fillRect/>
          </a:stretch>
        </p:blipFill>
        <p:spPr>
          <a:xfrm>
            <a:off x="3016674" y="4718686"/>
            <a:ext cx="5531485" cy="1704975"/>
          </a:xfrm>
          <a:prstGeom prst="rect">
            <a:avLst/>
          </a:prstGeom>
          <a:noFill/>
          <a:ln w="9525">
            <a:noFill/>
          </a:ln>
        </p:spPr>
      </p:pic>
      <p:sp>
        <p:nvSpPr>
          <p:cNvPr id="5" name="矩形 4"/>
          <p:cNvSpPr/>
          <p:nvPr/>
        </p:nvSpPr>
        <p:spPr>
          <a:xfrm>
            <a:off x="4018109" y="-84365"/>
            <a:ext cx="2749471" cy="9069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二、同工酶</a:t>
            </a:r>
          </a:p>
        </p:txBody>
      </p:sp>
      <p:cxnSp>
        <p:nvCxnSpPr>
          <p:cNvPr id="6" name="直接箭头连接符 5"/>
          <p:cNvCxnSpPr/>
          <p:nvPr/>
        </p:nvCxnSpPr>
        <p:spPr>
          <a:xfrm flipH="1">
            <a:off x="5348394" y="4866005"/>
            <a:ext cx="817245" cy="0"/>
          </a:xfrm>
          <a:prstGeom prst="straightConnector1">
            <a:avLst/>
          </a:prstGeom>
          <a:ln w="1905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5793528" y="5873750"/>
            <a:ext cx="72390" cy="2184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H="1">
            <a:off x="5392844" y="5982335"/>
            <a:ext cx="817245" cy="0"/>
          </a:xfrm>
          <a:prstGeom prst="straightConnector1">
            <a:avLst/>
          </a:prstGeom>
          <a:ln w="1905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23128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additive="base">
                                        <p:cTn id="13"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0"/>
                                        </p:tgtEl>
                                        <p:attrNameLst>
                                          <p:attrName>style.visibility</p:attrName>
                                        </p:attrNameLst>
                                      </p:cBhvr>
                                      <p:to>
                                        <p:strVal val="visible"/>
                                      </p:to>
                                    </p:set>
                                    <p:anim calcmode="lin" valueType="num">
                                      <p:cBhvr additive="base">
                                        <p:cTn id="19" dur="500" fill="hold"/>
                                        <p:tgtEl>
                                          <p:spTgt spid="9220"/>
                                        </p:tgtEl>
                                        <p:attrNameLst>
                                          <p:attrName>ppt_x</p:attrName>
                                        </p:attrNameLst>
                                      </p:cBhvr>
                                      <p:tavLst>
                                        <p:tav tm="0">
                                          <p:val>
                                            <p:strVal val="#ppt_x"/>
                                          </p:val>
                                        </p:tav>
                                        <p:tav tm="100000">
                                          <p:val>
                                            <p:strVal val="#ppt_x"/>
                                          </p:val>
                                        </p:tav>
                                      </p:tavLst>
                                    </p:anim>
                                    <p:anim calcmode="lin" valueType="num">
                                      <p:cBhvr additive="base">
                                        <p:cTn id="20"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P spid="9218" grpI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2794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750207" y="261897"/>
              <a:ext cx="662834" cy="559241"/>
            </a:xfrm>
            <a:prstGeom prst="rect">
              <a:avLst/>
            </a:prstGeom>
            <a:noFill/>
          </p:spPr>
          <p:txBody>
            <a:bodyPr wrap="square" lIns="68580" tIns="34290" rIns="68580" bIns="34290" rtlCol="0">
              <a:spAutoFit/>
            </a:bodyPr>
            <a:lstStyle/>
            <a:p>
              <a:r>
                <a:rPr lang="en-US" altLang="zh-CN" sz="8000" dirty="0" smtClean="0">
                  <a:solidFill>
                    <a:schemeClr val="bg1">
                      <a:lumMod val="95000"/>
                    </a:schemeClr>
                  </a:solidFill>
                  <a:latin typeface="Impact" panose="020B0806030902050204" pitchFamily="34" charset="0"/>
                </a:rPr>
                <a:t>3</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酶活力</a:t>
            </a:r>
          </a:p>
        </p:txBody>
      </p:sp>
    </p:spTree>
  </p:cSld>
  <p:clrMapOvr>
    <a:masterClrMapping/>
  </p:clrMapOvr>
  <p:transition>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一、酶的活力</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666974" y="1810173"/>
            <a:ext cx="11134165" cy="3570208"/>
          </a:xfrm>
          <a:prstGeom prst="rect">
            <a:avLst/>
          </a:prstGeom>
          <a:noFill/>
        </p:spPr>
        <p:txBody>
          <a:bodyPr wrap="square" rtlCol="0">
            <a:spAutoFit/>
          </a:bodyPr>
          <a:lstStyle/>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酶活力</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（enzyme activity）也称为酶活性，是指酶的催化能力。</a:t>
            </a:r>
          </a:p>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酶活力单位</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的定义：1个</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，是指在最适条件下，每分钟催化1微摩尔底物转化的酶量，或者1个katal（</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kat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）被定义为每秒钟催化1分子底物转化的酶量（1 kat = 6×107U，1U=16.67×10-9kat）。</a:t>
            </a:r>
          </a:p>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比活性或比活力</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（specific activity）来表示，它是指单位重量（通常是每毫克）酶所含有的活力单位数 。</a:t>
            </a:r>
          </a:p>
        </p:txBody>
      </p:sp>
    </p:spTree>
  </p:cSld>
  <p:clrMapOvr>
    <a:masterClrMapping/>
  </p:clrMapOvr>
  <p:transition>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二、酶活力测定</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1199198" y="1021080"/>
            <a:ext cx="9853929" cy="5594737"/>
          </a:xfrm>
          <a:prstGeom prst="rect">
            <a:avLst/>
          </a:prstGeom>
          <a:noFill/>
        </p:spPr>
        <p:txBody>
          <a:bodyPr wrap="square" rtlCol="0">
            <a:spAutoFit/>
          </a:bodyPr>
          <a:lstStyle/>
          <a:p>
            <a:pPr marL="342900" indent="-342900" fontAlgn="base">
              <a:lnSpc>
                <a:spcPct val="120000"/>
              </a:lnSpc>
              <a:buClr>
                <a:srgbClr val="000000"/>
              </a:buClr>
              <a:buFont typeface="Arial" panose="020B0604020202020204" pitchFamily="34" charset="0"/>
              <a:buChar char="•"/>
            </a:pPr>
            <a:r>
              <a:rPr lang="zh-CN" altLang="en-US" sz="2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测活基本原理：</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测定一种酶的活力实际上就是测定它所催化的化学反应的最佳反应速率。而测定反应速率的方法原则上有两种，一种是检测单位时间</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内底物的减少量</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，另一种是测定单位时间内</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产物的增加量</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base">
              <a:lnSpc>
                <a:spcPct val="120000"/>
              </a:lnSpc>
              <a:buClr>
                <a:srgbClr val="000000"/>
              </a:buClr>
              <a:buFont typeface="Arial" panose="020B0604020202020204" pitchFamily="34" charset="0"/>
              <a:buChar char="•"/>
            </a:pPr>
            <a:r>
              <a:rPr lang="zh-CN" altLang="en-US" sz="2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测活基本条件：</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反应条件为最适条件，包括最适</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pH</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、最适温度和最适离子强度等</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反应速率为初速率</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底物浓度过量。</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base">
              <a:lnSpc>
                <a:spcPct val="120000"/>
              </a:lnSpc>
              <a:buClr>
                <a:srgbClr val="000000"/>
              </a:buClr>
              <a:buFont typeface="Arial" panose="020B0604020202020204" pitchFamily="34" charset="0"/>
              <a:buChar char="•"/>
            </a:pPr>
            <a:r>
              <a:rPr lang="zh-CN" altLang="zh-CN" sz="2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具体测定方法：</a:t>
            </a:r>
            <a:endParaRPr lang="zh-CN"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直接测定法（direct assay） </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间接测定法（</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indirect assay</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base">
              <a:lnSpc>
                <a:spcPct val="120000"/>
              </a:lnSpc>
              <a:buClr>
                <a:srgbClr val="FF0000"/>
              </a:buClr>
              <a:buFont typeface="Wingdings" panose="05000000000000000000" charset="0"/>
              <a:buChar char="ü"/>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偶联测定法（</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coupled assay</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二、酶活力测定</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0792" y="1021080"/>
            <a:ext cx="5500224" cy="662554"/>
          </a:xfrm>
          <a:prstGeom prst="rect">
            <a:avLst/>
          </a:prstGeom>
          <a:noFill/>
        </p:spPr>
        <p:txBody>
          <a:bodyPr wrap="none" rtlCol="0" anchor="t">
            <a:spAutoFit/>
          </a:bodyPr>
          <a:lstStyle/>
          <a:p>
            <a:pPr marL="285750" indent="-285750">
              <a:lnSpc>
                <a:spcPct val="150000"/>
              </a:lnSpc>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细胞色素氧化酶活力的直接测定</a:t>
            </a:r>
          </a:p>
        </p:txBody>
      </p:sp>
      <p:pic>
        <p:nvPicPr>
          <p:cNvPr id="2" name="图片 1"/>
          <p:cNvPicPr>
            <a:picLocks noChangeAspect="1"/>
          </p:cNvPicPr>
          <p:nvPr/>
        </p:nvPicPr>
        <p:blipFill>
          <a:blip r:embed="rId2">
            <a:lum bright="-12000" contrast="-6000"/>
          </a:blip>
          <a:stretch>
            <a:fillRect/>
          </a:stretch>
        </p:blipFill>
        <p:spPr>
          <a:xfrm>
            <a:off x="904450" y="1764491"/>
            <a:ext cx="10126955" cy="4746376"/>
          </a:xfrm>
          <a:prstGeom prst="rect">
            <a:avLst/>
          </a:prstGeom>
        </p:spPr>
      </p:pic>
    </p:spTree>
  </p:cSld>
  <p:clrMapOvr>
    <a:masterClrMapping/>
  </p:clrMapOvr>
  <p:transition>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20259" y="0"/>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二、酶活力测定</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1968449" y="2976937"/>
            <a:ext cx="2827215" cy="130888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二氢酸脱氢酶的间接测定</a:t>
            </a:r>
          </a:p>
        </p:txBody>
      </p:sp>
      <p:pic>
        <p:nvPicPr>
          <p:cNvPr id="2" name="图片 1"/>
          <p:cNvPicPr>
            <a:picLocks noChangeAspect="1"/>
          </p:cNvPicPr>
          <p:nvPr/>
        </p:nvPicPr>
        <p:blipFill>
          <a:blip r:embed="rId2">
            <a:lum bright="-6000" contrast="-6000"/>
          </a:blip>
          <a:stretch>
            <a:fillRect/>
          </a:stretch>
        </p:blipFill>
        <p:spPr>
          <a:xfrm>
            <a:off x="5113002" y="1097279"/>
            <a:ext cx="5343332" cy="5760720"/>
          </a:xfrm>
          <a:prstGeom prst="rect">
            <a:avLst/>
          </a:prstGeom>
        </p:spPr>
      </p:pic>
    </p:spTree>
  </p:cSld>
  <p:clrMapOvr>
    <a:masterClrMapping/>
  </p:clrMapOvr>
  <p:transition>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16564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二、酶活力测定</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1114214" y="1049920"/>
            <a:ext cx="4423006" cy="662554"/>
          </a:xfrm>
          <a:prstGeom prst="rect">
            <a:avLst/>
          </a:prstGeom>
          <a:noFill/>
        </p:spPr>
        <p:txBody>
          <a:bodyPr wrap="none" rtlCol="0" anchor="t">
            <a:spAutoFit/>
          </a:bodyPr>
          <a:lstStyle/>
          <a:p>
            <a:pPr marL="285750" indent="-285750">
              <a:lnSpc>
                <a:spcPct val="150000"/>
              </a:lnSpc>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己糖激酶活力的偶联测定</a:t>
            </a:r>
          </a:p>
        </p:txBody>
      </p:sp>
      <p:pic>
        <p:nvPicPr>
          <p:cNvPr id="2" name="图片 1"/>
          <p:cNvPicPr>
            <a:picLocks noChangeAspect="1"/>
          </p:cNvPicPr>
          <p:nvPr/>
        </p:nvPicPr>
        <p:blipFill>
          <a:blip r:embed="rId2">
            <a:lum bright="-6000" contrast="-6000"/>
          </a:blip>
          <a:stretch>
            <a:fillRect/>
          </a:stretch>
        </p:blipFill>
        <p:spPr>
          <a:xfrm>
            <a:off x="1241214" y="2010873"/>
            <a:ext cx="10231213" cy="4322194"/>
          </a:xfrm>
          <a:prstGeom prst="rect">
            <a:avLst/>
          </a:prstGeom>
        </p:spPr>
      </p:pic>
    </p:spTree>
  </p:cSld>
  <p:clrMapOvr>
    <a:masterClrMapping/>
  </p:clrMapOvr>
  <p:transition>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750207" y="261897"/>
              <a:ext cx="662834" cy="559241"/>
            </a:xfrm>
            <a:prstGeom prst="rect">
              <a:avLst/>
            </a:prstGeom>
            <a:noFill/>
          </p:spPr>
          <p:txBody>
            <a:bodyPr wrap="square" lIns="68580" tIns="34290" rIns="68580" bIns="34290" rtlCol="0">
              <a:spAutoFit/>
            </a:bodyPr>
            <a:lstStyle/>
            <a:p>
              <a:r>
                <a:rPr lang="en-US" altLang="zh-CN" sz="8000" dirty="0" smtClean="0">
                  <a:solidFill>
                    <a:schemeClr val="bg1">
                      <a:lumMod val="95000"/>
                    </a:schemeClr>
                  </a:solidFill>
                  <a:latin typeface="Impact" panose="020B0806030902050204" pitchFamily="34" charset="0"/>
                </a:rPr>
                <a:t>4</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酶的分离纯化</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01786" y="-895"/>
            <a:ext cx="4939173" cy="923330"/>
          </a:xfrm>
          <a:prstGeom prst="rect">
            <a:avLst/>
          </a:prstGeom>
        </p:spPr>
        <p:txBody>
          <a:bodyPr wrap="square">
            <a:spAutoFit/>
          </a:bodyPr>
          <a:lstStyle>
            <a:defPPr>
              <a:defRPr lang="en-US"/>
            </a:defPPr>
            <a:lvl1pPr algn="ctr" defTabSz="914400" fontAlgn="base">
              <a:lnSpc>
                <a:spcPct val="150000"/>
              </a:lnSpc>
              <a:spcBef>
                <a:spcPct val="0"/>
              </a:spcBef>
              <a:spcAft>
                <a:spcPct val="0"/>
              </a:spcAft>
              <a:defRPr sz="36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zh-CN" dirty="0">
                <a:sym typeface="+mn-ea"/>
              </a:rPr>
              <a:t>酶蛋白纯化的一般流程 </a:t>
            </a:r>
          </a:p>
        </p:txBody>
      </p:sp>
      <p:pic>
        <p:nvPicPr>
          <p:cNvPr id="2" name="图片 1"/>
          <p:cNvPicPr>
            <a:picLocks noChangeAspect="1"/>
          </p:cNvPicPr>
          <p:nvPr/>
        </p:nvPicPr>
        <p:blipFill>
          <a:blip r:embed="rId2">
            <a:lum bright="-6000" contrast="-6000"/>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1430767" y="1021080"/>
            <a:ext cx="8929582" cy="5515242"/>
          </a:xfrm>
          <a:prstGeom prst="rect">
            <a:avLst/>
          </a:prstGeom>
        </p:spPr>
      </p:pic>
    </p:spTree>
  </p:cSld>
  <p:clrMapOvr>
    <a:masterClrMapping/>
  </p:clrMapOvr>
  <p:transition>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22961" y="963038"/>
            <a:ext cx="3026791" cy="581057"/>
          </a:xfrm>
          <a:prstGeom prst="rect">
            <a:avLst/>
          </a:prstGeom>
          <a:noFill/>
        </p:spPr>
        <p:txBody>
          <a:bodyPr wrap="none" rtlCol="0" anchor="t">
            <a:spAutoFit/>
          </a:bodyPr>
          <a:lstStyle/>
          <a:p>
            <a:pPr marL="285750" indent="-285750">
              <a:lnSpc>
                <a:spcPct val="150000"/>
              </a:lnSpc>
              <a:buFont typeface="Arial" panose="020B0604020202020204" pitchFamily="34" charset="0"/>
              <a:buChar char="•"/>
            </a:pPr>
            <a:r>
              <a:rPr lang="zh-CN" altLang="zh-CN" sz="2400" b="1" dirty="0">
                <a:latin typeface="微软雅黑" panose="020B0503020204020204" pitchFamily="34" charset="-122"/>
                <a:ea typeface="微软雅黑" panose="020B0503020204020204" pitchFamily="34" charset="-122"/>
                <a:sym typeface="+mn-ea"/>
              </a:rPr>
              <a:t>酶蛋白纯化列表： </a:t>
            </a:r>
          </a:p>
        </p:txBody>
      </p:sp>
      <p:sp>
        <p:nvSpPr>
          <p:cNvPr id="10242" name="Rectangle 3"/>
          <p:cNvSpPr>
            <a:spLocks noGrp="1"/>
          </p:cNvSpPr>
          <p:nvPr>
            <p:ph type="subTitle" idx="4294967295"/>
          </p:nvPr>
        </p:nvSpPr>
        <p:spPr>
          <a:xfrm>
            <a:off x="422961" y="1558925"/>
            <a:ext cx="11769039" cy="3581400"/>
          </a:xfrm>
        </p:spPr>
        <p:txBody>
          <a:bodyPr vert="horz" wrap="square" lIns="91440" tIns="45720" rIns="91440" bIns="45720" rtlCol="0" anchor="t" anchorCtr="0">
            <a:normAutofit/>
          </a:bodyPr>
          <a:lstStyle/>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酶溶液体积（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酶溶液蛋白质含量（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mg/ml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酶溶液活性（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酶总量或酶总活性（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酶活力（</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体积（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比活性（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U/mg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酶活力（</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蛋白质量（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mg/ml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总蛋白（</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酶溶液蛋白质含量（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mg/ml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体积（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8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得率（</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每一步纯化后的酶总量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每一步纯化之前的酶总量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gn="l">
              <a:lnSpc>
                <a:spcPct val="100000"/>
              </a:lnSpc>
              <a:buClr>
                <a:srgbClr val="000000"/>
              </a:buClr>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纯化倍数（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purification factor</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每一步纯化后的酶比活性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每一步纯化之前的酶比活性。 </a:t>
            </a:r>
          </a:p>
        </p:txBody>
      </p:sp>
      <p:pic>
        <p:nvPicPr>
          <p:cNvPr id="10245" name="图片 1"/>
          <p:cNvPicPr>
            <a:picLocks noChangeAspect="1"/>
          </p:cNvPicPr>
          <p:nvPr/>
        </p:nvPicPr>
        <p:blipFill>
          <a:blip r:embed="rId2"/>
          <a:stretch>
            <a:fillRect/>
          </a:stretch>
        </p:blipFill>
        <p:spPr>
          <a:xfrm>
            <a:off x="960812" y="4695694"/>
            <a:ext cx="9536796" cy="2003555"/>
          </a:xfrm>
          <a:prstGeom prst="rect">
            <a:avLst/>
          </a:prstGeom>
          <a:noFill/>
          <a:ln w="9525">
            <a:noFill/>
          </a:ln>
        </p:spPr>
      </p:pic>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750207" y="261897"/>
              <a:ext cx="662834" cy="559241"/>
            </a:xfrm>
            <a:prstGeom prst="rect">
              <a:avLst/>
            </a:prstGeom>
            <a:noFill/>
          </p:spPr>
          <p:txBody>
            <a:bodyPr wrap="square" lIns="68580" tIns="34290" rIns="68580" bIns="34290" rtlCol="0">
              <a:spAutoFit/>
            </a:bodyPr>
            <a:lstStyle/>
            <a:p>
              <a:r>
                <a:rPr lang="en-US" altLang="zh-CN" sz="8000" dirty="0" smtClean="0">
                  <a:solidFill>
                    <a:schemeClr val="bg1">
                      <a:lumMod val="95000"/>
                    </a:schemeClr>
                  </a:solidFill>
                  <a:latin typeface="Impact" panose="020B0806030902050204" pitchFamily="34" charset="0"/>
                </a:rPr>
                <a:t>5</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酶工程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050926" y="-12504"/>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27760" y="1544300"/>
            <a:ext cx="10793680" cy="230832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酶工程主要研究酶的生产、纯化、固定化技术、酶分子结构的修饰和改造以及在工农业、医药卫生和理论研究等方面的应用。</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天然酶在开发和应用中受到一定限制，一是酶的不稳定性； 二是分离纯化难，成本高，价格贵。</a:t>
            </a:r>
          </a:p>
        </p:txBody>
      </p:sp>
      <p:sp>
        <p:nvSpPr>
          <p:cNvPr id="6" name="文本框 5"/>
          <p:cNvSpPr txBox="1"/>
          <p:nvPr/>
        </p:nvSpPr>
        <p:spPr>
          <a:xfrm>
            <a:off x="5494818" y="3955018"/>
            <a:ext cx="2012089" cy="113505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化学酶工程</a:t>
            </a:r>
          </a:p>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生物酶工程</a:t>
            </a:r>
          </a:p>
        </p:txBody>
      </p:sp>
    </p:spTree>
  </p:cSld>
  <p:clrMapOvr>
    <a:masterClrMapping/>
  </p:clrMapOvr>
  <p:transition>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152526" y="-76856"/>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（一）化学酶工程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900055" y="2028851"/>
            <a:ext cx="9975925" cy="2031325"/>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化学酶工程，</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也可称为初级酶工程(primary enzyme engineering) , 是指天然酶、化学修饰酶、固定化酶及人工模拟酶的研究和应用。</a:t>
            </a:r>
          </a:p>
        </p:txBody>
      </p:sp>
    </p:spTree>
  </p:cSld>
  <p:clrMapOvr>
    <a:masterClrMapping/>
  </p:clrMapOvr>
  <p:transition>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118659" y="-53280"/>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（一）化学酶工程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2631440" y="1767841"/>
            <a:ext cx="6903720" cy="3478709"/>
          </a:xfrm>
          <a:prstGeom prst="rect">
            <a:avLst/>
          </a:prstGeom>
          <a:noFill/>
        </p:spPr>
        <p:txBody>
          <a:bodyPr wrap="square" rtlCol="0">
            <a:spAutoFit/>
          </a:bodyPr>
          <a:lstStyle/>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天然酶：微生物发酵而获得的粗酶；</a:t>
            </a:r>
          </a:p>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化学修饰酶：功能基团修饰，交联反应，大分子修饰；</a:t>
            </a:r>
          </a:p>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固定化酶；</a:t>
            </a:r>
          </a:p>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人工酶。</a:t>
            </a:r>
          </a:p>
        </p:txBody>
      </p:sp>
    </p:spTree>
  </p:cSld>
  <p:clrMapOvr>
    <a:masterClrMapping/>
  </p:clrMapOvr>
  <p:transition>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62593" y="0"/>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（一）化学酶工程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11266" name="Rectangle 3"/>
          <p:cNvSpPr>
            <a:spLocks noGrp="1"/>
          </p:cNvSpPr>
          <p:nvPr>
            <p:ph type="subTitle" idx="4294967295"/>
          </p:nvPr>
        </p:nvSpPr>
        <p:spPr>
          <a:xfrm>
            <a:off x="554566" y="1282690"/>
            <a:ext cx="11082867" cy="1905000"/>
          </a:xfrm>
        </p:spPr>
        <p:txBody>
          <a:bodyPr vert="horz" wrap="square" lIns="91440" tIns="45720" rIns="91440" bIns="45720" rtlCol="0" anchor="t" anchorCtr="0">
            <a:normAutofit fontScale="90000"/>
          </a:bodyPr>
          <a:lstStyle/>
          <a:p>
            <a:pPr marL="342900" indent="-342900" algn="l">
              <a:lnSpc>
                <a:spcPct val="150000"/>
              </a:lnSpc>
              <a:buClr>
                <a:srgbClr val="000000"/>
              </a:buClr>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固定化酶：</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是指将一种可溶性酶与不溶性的有机或无机基质结合，或者将其包埋到特殊的具有选择透过性的膜内，从而提高酶的稳定性、便于重复和持续使用。与可溶性酶相比，固定化酶具有方便、经济和稳定等优点。 </a:t>
            </a:r>
          </a:p>
        </p:txBody>
      </p:sp>
      <p:pic>
        <p:nvPicPr>
          <p:cNvPr id="2" name="图片 1"/>
          <p:cNvPicPr>
            <a:picLocks noChangeAspect="1"/>
          </p:cNvPicPr>
          <p:nvPr/>
        </p:nvPicPr>
        <p:blipFill>
          <a:blip r:embed="rId2">
            <a:lum bright="-6000" contrast="-6000"/>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2267798" y="3187690"/>
            <a:ext cx="7784465" cy="3160395"/>
          </a:xfrm>
          <a:prstGeom prst="rect">
            <a:avLst/>
          </a:prstGeom>
        </p:spPr>
      </p:pic>
    </p:spTree>
  </p:cSld>
  <p:clrMapOvr>
    <a:masterClrMapping/>
  </p:clrMapOvr>
  <p:transition>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32392" y="-41870"/>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（一）化学酶工程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11266" name="Rectangle 3"/>
          <p:cNvSpPr>
            <a:spLocks noGrp="1"/>
          </p:cNvSpPr>
          <p:nvPr>
            <p:ph type="subTitle" idx="4294967295"/>
          </p:nvPr>
        </p:nvSpPr>
        <p:spPr>
          <a:xfrm>
            <a:off x="677335" y="1903790"/>
            <a:ext cx="6451600" cy="1905000"/>
          </a:xfrm>
        </p:spPr>
        <p:txBody>
          <a:bodyPr vert="horz" wrap="square" lIns="91440" tIns="45720" rIns="91440" bIns="45720" rtlCol="0" anchor="t" anchorCtr="0">
            <a:noAutofit/>
          </a:bodyPr>
          <a:lstStyle/>
          <a:p>
            <a:pPr marL="342900" indent="-342900" algn="l">
              <a:lnSpc>
                <a:spcPct val="150000"/>
              </a:lnSpc>
              <a:buClr>
                <a:srgbClr val="000000"/>
              </a:buClr>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人工酶：</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是在深入了解酶的结构和功能以及催化作用机制的基础上，用有机化学半合成法或全合成法合成的比天然酶简单的非蛋白质分子，又称为人工酶(artificial enzyme) 催化剂。</a:t>
            </a:r>
          </a:p>
        </p:txBody>
      </p:sp>
      <p:sp>
        <p:nvSpPr>
          <p:cNvPr id="12290" name="Rectangle 3"/>
          <p:cNvSpPr>
            <a:spLocks noGrp="1"/>
          </p:cNvSpPr>
          <p:nvPr/>
        </p:nvSpPr>
        <p:spPr>
          <a:xfrm>
            <a:off x="2655570" y="3210560"/>
            <a:ext cx="6629400" cy="3276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
            </a:pPr>
            <a:endParaRPr lang="zh-CN" altLang="en-US" dirty="0">
              <a:ea typeface="楷体" panose="02010609060101010101" pitchFamily="49" charset="-122"/>
            </a:endParaRPr>
          </a:p>
        </p:txBody>
      </p:sp>
      <p:pic>
        <p:nvPicPr>
          <p:cNvPr id="3" name="图片 2"/>
          <p:cNvPicPr>
            <a:picLocks noChangeAspect="1"/>
          </p:cNvPicPr>
          <p:nvPr/>
        </p:nvPicPr>
        <p:blipFill>
          <a:blip r:embed="rId2">
            <a:duotone>
              <a:schemeClr val="accent6">
                <a:shade val="45000"/>
                <a:satMod val="135000"/>
              </a:schemeClr>
              <a:prstClr val="white"/>
            </a:duotone>
          </a:blip>
          <a:stretch>
            <a:fillRect/>
          </a:stretch>
        </p:blipFill>
        <p:spPr>
          <a:xfrm>
            <a:off x="6845393" y="1184910"/>
            <a:ext cx="4296740" cy="5403446"/>
          </a:xfrm>
          <a:prstGeom prst="rect">
            <a:avLst/>
          </a:prstGeom>
        </p:spPr>
      </p:pic>
    </p:spTree>
  </p:cSld>
  <p:clrMapOvr>
    <a:masterClrMapping/>
  </p:clrMapOvr>
  <p:transition>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584326" y="1"/>
            <a:ext cx="9083675" cy="825419"/>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（二）生物酶工程</a:t>
            </a:r>
          </a:p>
        </p:txBody>
      </p:sp>
      <p:sp>
        <p:nvSpPr>
          <p:cNvPr id="17411" name="Rectangle 8"/>
          <p:cNvSpPr/>
          <p:nvPr/>
        </p:nvSpPr>
        <p:spPr>
          <a:xfrm>
            <a:off x="2840224" y="1021080"/>
            <a:ext cx="184731" cy="523220"/>
          </a:xfrm>
          <a:prstGeom prst="rect">
            <a:avLst/>
          </a:prstGeom>
          <a:solidFill>
            <a:srgbClr val="000000">
              <a:alpha val="0"/>
            </a:srgbClr>
          </a:solidFill>
          <a:ln w="12700">
            <a:noFill/>
          </a:ln>
        </p:spPr>
        <p:txBody>
          <a:bodyPr wrap="none">
            <a:spAutoFit/>
          </a:bodyP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973667" y="1160357"/>
            <a:ext cx="10320866" cy="19552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生物酶工程，</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酶学和以DNA 重组技术为主的现代分子生物学技术相结合的产物，因此，亦可称为高级酶工程(advanced enzyme engineering) 。。</a:t>
            </a:r>
          </a:p>
        </p:txBody>
      </p:sp>
      <p:sp>
        <p:nvSpPr>
          <p:cNvPr id="2" name="文本框 1"/>
          <p:cNvSpPr txBox="1"/>
          <p:nvPr/>
        </p:nvSpPr>
        <p:spPr>
          <a:xfrm>
            <a:off x="3186430" y="3559811"/>
            <a:ext cx="1550424" cy="195521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克隆酶</a:t>
            </a:r>
          </a:p>
          <a:p>
            <a:pPr marL="285750" indent="-28575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突变酶</a:t>
            </a:r>
          </a:p>
          <a:p>
            <a:pPr marL="285750" indent="-28575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新酶</a:t>
            </a:r>
          </a:p>
        </p:txBody>
      </p:sp>
      <p:pic>
        <p:nvPicPr>
          <p:cNvPr id="4" name="图片 3"/>
          <p:cNvPicPr>
            <a:picLocks noChangeAspect="1"/>
          </p:cNvPicPr>
          <p:nvPr/>
        </p:nvPicPr>
        <p:blipFill>
          <a:blip r:embed="rId2">
            <a:duotone>
              <a:schemeClr val="accent5">
                <a:shade val="45000"/>
                <a:satMod val="135000"/>
              </a:schemeClr>
              <a:prstClr val="white"/>
            </a:duotone>
          </a:blip>
          <a:stretch>
            <a:fillRect/>
          </a:stretch>
        </p:blipFill>
        <p:spPr>
          <a:xfrm>
            <a:off x="6266180" y="2636520"/>
            <a:ext cx="3944620" cy="3749037"/>
          </a:xfrm>
          <a:prstGeom prst="rect">
            <a:avLst/>
          </a:prstGeom>
        </p:spPr>
      </p:pic>
    </p:spTree>
  </p:cSld>
  <p:clrMapOvr>
    <a:masterClrMapping/>
  </p:clrMapOvr>
  <p:transition>
    <p:random/>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394ab6bb-1255-4f75-b86f-b72b95b3330c"/>
  <p:tag name="COMMONDATA" val="eyJoZGlkIjoiZTQ4ODQwNThiYTg4YTBlNDhkZDRmNGNiNWM5NWE1YzAifQ=="/>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1035</TotalTime>
  <Words>4059</Words>
  <Application>Microsoft Office PowerPoint</Application>
  <PresentationFormat>自定义</PresentationFormat>
  <Paragraphs>381</Paragraphs>
  <Slides>78</Slides>
  <Notes>26</Notes>
  <HiddenSlides>0</HiddenSlides>
  <MMClips>0</MMClips>
  <ScaleCrop>false</ScaleCrop>
  <HeadingPairs>
    <vt:vector size="6" baseType="variant">
      <vt:variant>
        <vt:lpstr>主题</vt:lpstr>
      </vt:variant>
      <vt:variant>
        <vt:i4>3</vt:i4>
      </vt:variant>
      <vt:variant>
        <vt:lpstr>嵌入 OLE 服务器</vt:lpstr>
      </vt:variant>
      <vt:variant>
        <vt:i4>4</vt:i4>
      </vt:variant>
      <vt:variant>
        <vt:lpstr>幻灯片标题</vt:lpstr>
      </vt:variant>
      <vt:variant>
        <vt:i4>78</vt:i4>
      </vt:variant>
    </vt:vector>
  </HeadingPairs>
  <TitlesOfParts>
    <vt:vector size="85" baseType="lpstr">
      <vt:lpstr>1_Office 主题​​</vt:lpstr>
      <vt:lpstr>Office 主题​​</vt:lpstr>
      <vt:lpstr>3_Office 主题​​</vt:lpstr>
      <vt:lpstr>Equation</vt:lpstr>
      <vt:lpstr>Equation.KSEE3</vt:lpstr>
      <vt:lpstr>公式</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aging00</dc:creator>
  <cp:lastModifiedBy>lenovo</cp:lastModifiedBy>
  <cp:revision>801</cp:revision>
  <dcterms:created xsi:type="dcterms:W3CDTF">2021-04-13T08:56:00Z</dcterms:created>
  <dcterms:modified xsi:type="dcterms:W3CDTF">2023-11-16T15:30:12Z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57CBEB9832164ED789EE312EFDE435A9</vt:lpwstr>
  </property>
  <property fmtid="{D5CDD505-2E9C-101B-9397-08002B2CF9AE}" pid="3" name="KSOProductBuildVer">
    <vt:lpwstr>2052-11.1.0.13703</vt:lpwstr>
  </property>
</Properties>
</file>