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</p:sldMasterIdLst>
  <p:notesMasterIdLst>
    <p:notesMasterId r:id="rId37"/>
  </p:notesMasterIdLst>
  <p:sldIdLst>
    <p:sldId id="1205" r:id="rId4"/>
    <p:sldId id="624" r:id="rId5"/>
    <p:sldId id="1189" r:id="rId6"/>
    <p:sldId id="1234" r:id="rId7"/>
    <p:sldId id="965" r:id="rId8"/>
    <p:sldId id="657" r:id="rId9"/>
    <p:sldId id="1095" r:id="rId10"/>
    <p:sldId id="1097" r:id="rId11"/>
    <p:sldId id="1098" r:id="rId12"/>
    <p:sldId id="1096" r:id="rId13"/>
    <p:sldId id="1099" r:id="rId14"/>
    <p:sldId id="938" r:id="rId15"/>
    <p:sldId id="1103" r:id="rId16"/>
    <p:sldId id="1105" r:id="rId17"/>
    <p:sldId id="1106" r:id="rId18"/>
    <p:sldId id="1235" r:id="rId19"/>
    <p:sldId id="955" r:id="rId20"/>
    <p:sldId id="1134" r:id="rId21"/>
    <p:sldId id="1136" r:id="rId22"/>
    <p:sldId id="1137" r:id="rId23"/>
    <p:sldId id="963" r:id="rId24"/>
    <p:sldId id="931" r:id="rId25"/>
    <p:sldId id="961" r:id="rId26"/>
    <p:sldId id="1139" r:id="rId27"/>
    <p:sldId id="1138" r:id="rId28"/>
    <p:sldId id="1166" r:id="rId29"/>
    <p:sldId id="1140" r:id="rId30"/>
    <p:sldId id="1143" r:id="rId31"/>
    <p:sldId id="1167" r:id="rId32"/>
    <p:sldId id="1144" r:id="rId33"/>
    <p:sldId id="1191" r:id="rId34"/>
    <p:sldId id="1233" r:id="rId35"/>
    <p:sldId id="1187" r:id="rId36"/>
  </p:sldIdLst>
  <p:sldSz cx="12192000" cy="6858000"/>
  <p:notesSz cx="6858000" cy="9144000"/>
  <p:custDataLst>
    <p:tags r:id="rId3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156" autoAdjust="0"/>
    <p:restoredTop sz="87179" autoAdjust="0"/>
  </p:normalViewPr>
  <p:slideViewPr>
    <p:cSldViewPr snapToGrid="0">
      <p:cViewPr varScale="1">
        <p:scale>
          <a:sx n="58" d="100"/>
          <a:sy n="58" d="100"/>
        </p:scale>
        <p:origin x="-1340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DD6F7-F09E-4907-BF79-6C84CA457639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9383A-97AB-4E9F-ADB2-1ECE650A7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70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6263" y="-3362"/>
            <a:ext cx="12211251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</p:spTree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png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0.png"/><Relationship Id="rId4" Type="http://schemas.openxmlformats.org/officeDocument/2006/relationships/image" Target="../media/image1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4.png"/><Relationship Id="rId4" Type="http://schemas.openxmlformats.org/officeDocument/2006/relationships/image" Target="../media/image1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5.png"/><Relationship Id="rId4" Type="http://schemas.openxmlformats.org/officeDocument/2006/relationships/image" Target="../media/image14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8.png"/><Relationship Id="rId4" Type="http://schemas.openxmlformats.org/officeDocument/2006/relationships/image" Target="../media/image1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9.png"/><Relationship Id="rId4" Type="http://schemas.openxmlformats.org/officeDocument/2006/relationships/image" Target="../media/image1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9.png"/><Relationship Id="rId4" Type="http://schemas.openxmlformats.org/officeDocument/2006/relationships/image" Target="../media/image1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0.png"/><Relationship Id="rId4" Type="http://schemas.openxmlformats.org/officeDocument/2006/relationships/image" Target="../media/image1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3"/>
          <a:srcRect l="8759"/>
          <a:stretch>
            <a:fillRect/>
          </a:stretch>
        </p:blipFill>
        <p:spPr>
          <a:xfrm>
            <a:off x="0" y="0"/>
            <a:ext cx="8264504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08945" y="2635546"/>
            <a:ext cx="333126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脂质与生物膜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79267" y="13408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本章内容</a:t>
            </a:r>
          </a:p>
        </p:txBody>
      </p:sp>
      <p:sp>
        <p:nvSpPr>
          <p:cNvPr id="3" name="Rectangle 3"/>
          <p:cNvSpPr txBox="1"/>
          <p:nvPr/>
        </p:nvSpPr>
        <p:spPr>
          <a:xfrm>
            <a:off x="3614642" y="2013889"/>
            <a:ext cx="7698105" cy="378587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15.1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存储脂质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15.2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结构脂质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15.3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信号、辅助因子和色素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15.4   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生物膜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889902" y="-101600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脂质的一般性质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5514" y="1222784"/>
            <a:ext cx="11064170" cy="644715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Lipids are a class of biological molecules defined by</a:t>
            </a:r>
            <a:r>
              <a:rPr lang="zh-CN" altLang="en-US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 low solubility in water（难溶水）</a:t>
            </a: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 and high solubility in nonpolar solvents.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As molecules that are largely </a:t>
            </a:r>
            <a:r>
              <a:rPr lang="zh-CN" altLang="en-US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hydrocarbon（碳氢化合物，烃）</a:t>
            </a: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 in nature, lipids represent </a:t>
            </a:r>
            <a:r>
              <a:rPr lang="zh-CN" altLang="en-US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highly reduced forms of carbon（高度还原性碳）</a:t>
            </a: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 and, upon oxidation in metabolism, yield large amounts of energy. Lipids are thus the molecules of choice for metabolic </a:t>
            </a:r>
            <a:r>
              <a:rPr lang="zh-CN" altLang="en-US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energy storage（能量储存）</a:t>
            </a: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.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Lipid molecules are key components of</a:t>
            </a:r>
            <a:r>
              <a:rPr lang="zh-CN" altLang="en-US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 membranes（膜结构）</a:t>
            </a:r>
            <a:r>
              <a:rPr lang="en-US" altLang="zh-CN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.</a:t>
            </a: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and also serve a myriad of roles as </a:t>
            </a:r>
            <a:r>
              <a:rPr lang="zh-CN" altLang="en-US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signal molecules</a:t>
            </a: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 in biological systems（</a:t>
            </a:r>
            <a:r>
              <a:rPr lang="zh-CN" altLang="en-US" sz="2200" b="1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信号分子</a:t>
            </a:r>
            <a:r>
              <a:rPr lang="zh-CN" altLang="en-US" sz="22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  <a:sym typeface="+mn-ea"/>
              </a:rPr>
              <a:t>）.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200" b="1" dirty="0">
              <a:latin typeface="Comic Sans MS" panose="030F0702030302020204" charset="0"/>
              <a:ea typeface="微软雅黑" panose="020B0503020204020204" pitchFamily="34" charset="-122"/>
              <a:cs typeface="Comic Sans MS" panose="030F0702030302020204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200" b="1" dirty="0">
              <a:latin typeface="Comic Sans MS" panose="030F0702030302020204" charset="0"/>
              <a:ea typeface="微软雅黑" panose="020B0503020204020204" pitchFamily="34" charset="-122"/>
              <a:cs typeface="Comic Sans MS" panose="030F0702030302020204" charset="0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006" y="1409677"/>
            <a:ext cx="12060994" cy="3528084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Clr>
                <a:srgbClr val="FF3300"/>
              </a:buClr>
              <a:buFont typeface="Wingdings" pitchFamily="2" charset="2"/>
              <a:buChar char="@"/>
            </a:pPr>
            <a:r>
              <a:rPr lang="zh-CN" altLang="en-US" sz="3200" b="1" dirty="0" smtClean="0">
                <a:latin typeface="楷体" pitchFamily="49" charset="-122"/>
                <a:ea typeface="楷体" pitchFamily="49" charset="-122"/>
              </a:rPr>
              <a:t>简单脂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是由脂肪酸和醇形成的酯，包括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脂肪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蜡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。其中脂肪就是甘油三酯 </a:t>
            </a:r>
          </a:p>
          <a:p>
            <a:pPr eaLnBrk="1" hangingPunct="1">
              <a:lnSpc>
                <a:spcPct val="100000"/>
              </a:lnSpc>
              <a:buClr>
                <a:srgbClr val="FF3300"/>
              </a:buClr>
              <a:buFont typeface="Wingdings" pitchFamily="2" charset="2"/>
              <a:buChar char="@"/>
            </a:pPr>
            <a:r>
              <a:rPr lang="zh-CN" altLang="en-US" sz="3200" b="1" dirty="0" smtClean="0">
                <a:latin typeface="楷体" pitchFamily="49" charset="-122"/>
                <a:ea typeface="楷体" pitchFamily="49" charset="-122"/>
              </a:rPr>
              <a:t>复合脂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即复脂，除含有脂酰基和醇基团以外，还有一些非脂成分，如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磷酸基团、糖基和胆碱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等。根据非脂成分的不同，复合脂可以分成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磷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脂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糖脂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。 </a:t>
            </a:r>
          </a:p>
          <a:p>
            <a:pPr eaLnBrk="1" hangingPunct="1">
              <a:lnSpc>
                <a:spcPct val="100000"/>
              </a:lnSpc>
              <a:buClr>
                <a:srgbClr val="FF3300"/>
              </a:buClr>
              <a:buFont typeface="Wingdings" pitchFamily="2" charset="2"/>
              <a:buChar char="@"/>
            </a:pPr>
            <a:r>
              <a:rPr lang="zh-CN" altLang="en-US" sz="3200" b="1" dirty="0" smtClean="0">
                <a:latin typeface="楷体" pitchFamily="49" charset="-122"/>
                <a:ea typeface="楷体" pitchFamily="49" charset="-122"/>
              </a:rPr>
              <a:t>异戊二烯类脂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: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衍生于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异戊二烯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，在结构上可被剖析成若干个异戊二烯单位，它们主要包括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萜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、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脂溶性维生素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胆固醇及其衍生物</a:t>
            </a:r>
            <a:r>
              <a:rPr lang="zh-CN" altLang="en-US" sz="3200" dirty="0" smtClean="0"/>
              <a:t>。</a:t>
            </a:r>
          </a:p>
          <a:p>
            <a:pPr eaLnBrk="1" hangingPunct="1">
              <a:lnSpc>
                <a:spcPct val="80000"/>
              </a:lnSpc>
            </a:pPr>
            <a:endParaRPr lang="zh-CN" altLang="en-US" sz="3200" dirty="0" smtClean="0"/>
          </a:p>
        </p:txBody>
      </p:sp>
      <p:sp>
        <p:nvSpPr>
          <p:cNvPr id="56323" name="Rectangle 2"/>
          <p:cNvSpPr>
            <a:spLocks noChangeArrowheads="1"/>
          </p:cNvSpPr>
          <p:nvPr/>
        </p:nvSpPr>
        <p:spPr bwMode="auto">
          <a:xfrm>
            <a:off x="4565813" y="404019"/>
            <a:ext cx="3073400" cy="57626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 eaLnBrk="1" hangingPunct="1"/>
            <a:r>
              <a:rPr lang="zh-CN" altLang="en-US" sz="3200" b="1">
                <a:solidFill>
                  <a:srgbClr val="000000"/>
                </a:solidFill>
                <a:latin typeface="Arial" charset="0"/>
                <a:ea typeface="楷体" pitchFamily="49" charset="-122"/>
              </a:rPr>
              <a:t>脂质的分类</a:t>
            </a:r>
            <a:r>
              <a:rPr lang="en-US" altLang="zh-CN" sz="440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059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28842" y="-24573"/>
            <a:ext cx="2749471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脂质的分类</a:t>
            </a:r>
          </a:p>
        </p:txBody>
      </p:sp>
      <p:sp>
        <p:nvSpPr>
          <p:cNvPr id="8" name="左大括号 7"/>
          <p:cNvSpPr/>
          <p:nvPr/>
        </p:nvSpPr>
        <p:spPr>
          <a:xfrm>
            <a:off x="2104610" y="2367804"/>
            <a:ext cx="113122" cy="2620652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800">
              <a:ea typeface="楷体_GB2312" panose="02010609030101010101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58820" y="2289184"/>
            <a:ext cx="7428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ea typeface="微软雅黑" panose="020B0503020204020204" pitchFamily="34" charset="-122"/>
              </a:rPr>
              <a:t>储存脂质</a:t>
            </a:r>
            <a:r>
              <a:rPr lang="zh-CN" altLang="en-US" sz="2800" b="1" dirty="0">
                <a:latin typeface="楷体_GB2312" panose="02010609030101010101"/>
                <a:ea typeface="楷体_GB2312" panose="02010609030101010101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甘油三酯，蜡（储能供能，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％）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58819" y="3149382"/>
            <a:ext cx="8869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ea typeface="微软雅黑" panose="020B0503020204020204" pitchFamily="34" charset="-122"/>
              </a:rPr>
              <a:t>结构脂质</a:t>
            </a:r>
            <a:r>
              <a:rPr lang="zh-CN" altLang="en-US" sz="2800" dirty="0">
                <a:ea typeface="楷体_GB2312" panose="02010609030101010101"/>
              </a:rPr>
              <a:t>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磷脂、糖脂、胆固醇等（生物膜，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5-10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％）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458916" y="3832751"/>
            <a:ext cx="6873875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ea typeface="微软雅黑" panose="020B0503020204020204" pitchFamily="34" charset="-122"/>
              </a:rPr>
              <a:t>活性脂质</a:t>
            </a:r>
            <a:r>
              <a:rPr lang="zh-CN" altLang="en-US" sz="2800" dirty="0">
                <a:ea typeface="楷体_GB2312" panose="02010609030101010101"/>
              </a:rPr>
              <a:t>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类十二烷酸、磷脂酰肌醇、鞘氨醇衍生物、类固醇激素、类异戊二烯等（辅酶、激素、信号分子，色素等）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04610" y="1108614"/>
            <a:ext cx="2525050" cy="906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按功能：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94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15.1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5547995" y="2690495"/>
            <a:ext cx="6250940" cy="899160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存储脂质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441411" y="-96034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</a:t>
            </a:r>
            <a:r>
              <a:rPr dirty="0">
                <a:sym typeface="+mn-ea"/>
              </a:rPr>
              <a:t>脂肪酸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5473" r="5090"/>
          <a:stretch>
            <a:fillRect/>
          </a:stretch>
        </p:blipFill>
        <p:spPr>
          <a:xfrm>
            <a:off x="6858221" y="839932"/>
            <a:ext cx="4522542" cy="60226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8634046" y="4556369"/>
            <a:ext cx="877163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疏水尾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511209" y="3146403"/>
            <a:ext cx="877163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脂酰基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503600" y="2068074"/>
            <a:ext cx="877163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脂肪酸</a:t>
            </a:r>
          </a:p>
        </p:txBody>
      </p:sp>
      <p:sp>
        <p:nvSpPr>
          <p:cNvPr id="11" name="文本框 3"/>
          <p:cNvSpPr txBox="1"/>
          <p:nvPr/>
        </p:nvSpPr>
        <p:spPr>
          <a:xfrm>
            <a:off x="379828" y="1946074"/>
            <a:ext cx="6161649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储存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能量的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脂肪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油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脂肪酸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的衍生物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800" b="1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脂肪酸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是碳氢化合物的衍生物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，处于低氧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化态（即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高度还原态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天然的脂肪酸绝大多数为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偶数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脂肪酸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4171197" y="-56272"/>
            <a:ext cx="223651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储存脂质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45490" y="1145002"/>
            <a:ext cx="4830323" cy="50323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 eaLnBrk="1" hangingPunct="1"/>
            <a:r>
              <a:rPr lang="zh-CN" altLang="en-US" sz="3600" b="1" dirty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脂肪酸</a:t>
            </a:r>
            <a:r>
              <a:rPr lang="en-US" altLang="zh-CN" sz="3600" b="1" dirty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=</a:t>
            </a:r>
            <a:r>
              <a:rPr lang="zh-CN" altLang="en-US" sz="3600" b="1" dirty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羧基</a:t>
            </a:r>
            <a:r>
              <a:rPr lang="en-US" altLang="zh-CN" sz="3600" b="1" dirty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+</a:t>
            </a:r>
            <a:r>
              <a:rPr lang="zh-CN" altLang="en-US" sz="3600" b="1" dirty="0">
                <a:solidFill>
                  <a:schemeClr val="tx2"/>
                </a:solidFill>
                <a:latin typeface="楷体" pitchFamily="49" charset="-122"/>
                <a:ea typeface="楷体" pitchFamily="49" charset="-122"/>
              </a:rPr>
              <a:t>碳氢链</a:t>
            </a:r>
            <a:endParaRPr lang="en-US" altLang="zh-CN" sz="3600" b="1" dirty="0">
              <a:solidFill>
                <a:schemeClr val="tx2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26113" y="-66387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</a:t>
            </a:r>
            <a:r>
              <a:rPr dirty="0">
                <a:sym typeface="+mn-ea"/>
              </a:rPr>
              <a:t>脂肪酸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85414" y="5458704"/>
            <a:ext cx="752094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△</a:t>
            </a:r>
            <a:r>
              <a:rPr lang="zh-CN" alt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编码体系: 从脂肪酸的</a:t>
            </a:r>
            <a:r>
              <a:rPr lang="zh-CN" altLang="en-US" sz="2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羧基碳</a:t>
            </a:r>
            <a:r>
              <a:rPr lang="zh-CN" alt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起计算碳原子的顺序；</a:t>
            </a:r>
          </a:p>
          <a:p>
            <a:pPr algn="l"/>
            <a:r>
              <a:rPr lang="zh-CN" alt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ω编码体系: 从脂肪酸的</a:t>
            </a:r>
            <a:r>
              <a:rPr lang="zh-CN" altLang="en-US" sz="2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甲基碳</a:t>
            </a:r>
            <a:r>
              <a:rPr lang="zh-CN" alt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起计算其碳原子顺序 。 </a:t>
            </a:r>
            <a:endParaRPr lang="zh-CN" altLang="en-US" sz="2400" b="1" i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b="1" i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278" y="1217940"/>
            <a:ext cx="8676325" cy="40144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516370" y="2518410"/>
            <a:ext cx="4608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[化] 顺式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9-十八碳烯酸，油酸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66050" y="4258100"/>
            <a:ext cx="2540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二十碳五烯酸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8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11" y="0"/>
            <a:ext cx="11087735" cy="6864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21313" y="-91651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</a:t>
            </a:r>
            <a:r>
              <a:rPr dirty="0">
                <a:sym typeface="+mn-ea"/>
              </a:rPr>
              <a:t>脂肪酸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882" y="931496"/>
            <a:ext cx="4727787" cy="497338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0" y="1041896"/>
            <a:ext cx="7132319" cy="46166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脂肪酸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酰基链越长，双键越少，其在水中的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溶解度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越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_______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熔点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也受到烃类链的长度和不饱和程度的强烈影响。在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室温下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，从12：0到24：0的饱和脂肪酸具有蜡状稠度，而相同长度的不饱和脂肪酸是油性液体。这种熔点的差异是由于脂肪酸分子的</a:t>
            </a:r>
            <a:r>
              <a:rPr lang="zh-CN" altLang="en-US" sz="28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堆积程度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不同所致。</a:t>
            </a:r>
          </a:p>
        </p:txBody>
      </p:sp>
      <p:sp>
        <p:nvSpPr>
          <p:cNvPr id="4" name="矩形 3"/>
          <p:cNvSpPr/>
          <p:nvPr/>
        </p:nvSpPr>
        <p:spPr>
          <a:xfrm>
            <a:off x="2807424" y="1809430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839845" y="-117051"/>
            <a:ext cx="2749471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（二）</a:t>
            </a:r>
            <a:r>
              <a:rPr dirty="0">
                <a:sym typeface="+mn-ea"/>
              </a:rPr>
              <a:t>脂肪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4746" y="1173480"/>
            <a:ext cx="7568418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脂肪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三酰甘油（TG）或甘油三酯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，由1分子甘油和3分子脂肪酸通过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酯键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缩合而成。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酰基甘油是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非极性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的疏水分子，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基本上不溶于水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脂肪除了作为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能源贮备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以外，还有利于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保持体温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保护内脏器官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，以及增加水生动物的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浮力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362" y="-1"/>
            <a:ext cx="4073638" cy="682987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76913" y="-83185"/>
            <a:ext cx="223651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（三）蜡</a:t>
            </a:r>
            <a:endParaRPr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6661" y="1479117"/>
            <a:ext cx="11918307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动物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的皮肤和毛皮都涂有蜡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，许多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植物的叶子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的羽毛。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229175" y="2339309"/>
            <a:ext cx="9517458" cy="3880557"/>
            <a:chOff x="3485056" y="2084145"/>
            <a:chExt cx="8606790" cy="346329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5056" y="2084145"/>
              <a:ext cx="8606790" cy="346329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6743805" y="2400378"/>
              <a:ext cx="1800493" cy="458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肉桂醇棕榈酸酯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743805" y="3170300"/>
              <a:ext cx="2723823" cy="458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肉豆蔻醇的己二十烷酸酯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313423" y="4105655"/>
              <a:ext cx="1800493" cy="458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鲸蜡醇棕榈酸酯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376661" y="835714"/>
            <a:ext cx="5936762" cy="66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长链醇与长链脂肪酸形成的酯。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95" y="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15.2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93712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结构脂质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84842" y="-99577"/>
            <a:ext cx="938051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（一）甘油磷脂（</a:t>
            </a:r>
            <a:r>
              <a:rPr lang="en-US" altLang="zh-CN" dirty="0">
                <a:sym typeface="+mn-ea"/>
              </a:rPr>
              <a:t>phosphoglyceride</a:t>
            </a:r>
            <a:r>
              <a:rPr lang="zh-CN" altLang="en-US" dirty="0">
                <a:sym typeface="+mn-ea"/>
              </a:rPr>
              <a:t>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b="15667"/>
          <a:stretch>
            <a:fillRect/>
          </a:stretch>
        </p:blipFill>
        <p:spPr>
          <a:xfrm>
            <a:off x="1647520" y="1668786"/>
            <a:ext cx="7001815" cy="214708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08175" y="1006232"/>
            <a:ext cx="5593292" cy="662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-甘油3-磷酸，磷脂的主干。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40861" y="3946165"/>
            <a:ext cx="10469563" cy="2456765"/>
            <a:chOff x="1774825" y="4091941"/>
            <a:chExt cx="8790012" cy="18961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4825" y="4283075"/>
              <a:ext cx="8307070" cy="170307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2106929" y="4091941"/>
              <a:ext cx="1469899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饱和脂肪酸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71041" y="5526406"/>
              <a:ext cx="1542287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不饱和脂肪酸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101330" y="4091941"/>
              <a:ext cx="1096010" cy="41819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甘油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978266" y="5462906"/>
              <a:ext cx="1586571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头部取代基团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6" y="62865"/>
            <a:ext cx="6958013" cy="6732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27325" y="2258696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磷脂酰乙醇胺（脑磷脂）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81935" y="2831466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磷脂酰胆碱（卵磷脂）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71390" y="2831466"/>
            <a:ext cx="2540000" cy="33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胆碱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62225" y="3476626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磷脂酰丝氨酸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781935" y="4194176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磷脂酰甘油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781935" y="5093336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磷脂酰肌醇4,5-二磷酸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27325" y="6007101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心磷脂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71390" y="6174106"/>
            <a:ext cx="2540000" cy="33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磷脂酰甘油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71390" y="2259331"/>
            <a:ext cx="2540000" cy="33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乙醇胺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71391" y="3576321"/>
            <a:ext cx="646331" cy="336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丝氨酸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57116" y="4225291"/>
            <a:ext cx="492443" cy="336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甘油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26000" y="5109211"/>
            <a:ext cx="2540000" cy="33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肌醇4,5-二磷酸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/>
          <p:cNvSpPr>
            <a:spLocks noChangeArrowheads="1"/>
          </p:cNvSpPr>
          <p:nvPr/>
        </p:nvSpPr>
        <p:spPr bwMode="auto">
          <a:xfrm>
            <a:off x="0" y="16552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64515" name="Rectangle 6"/>
          <p:cNvSpPr>
            <a:spLocks noChangeArrowheads="1"/>
          </p:cNvSpPr>
          <p:nvPr/>
        </p:nvSpPr>
        <p:spPr bwMode="auto">
          <a:xfrm>
            <a:off x="4960825" y="6307109"/>
            <a:ext cx="2507417" cy="40011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甘油磷脂的两性性质</a:t>
            </a:r>
            <a:endParaRPr lang="zh-CN" altLang="en-US" sz="2000"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64516" name="Picture 7" descr="16-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484" y="188915"/>
            <a:ext cx="7151630" cy="617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0780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Rectangle 6"/>
          <p:cNvSpPr/>
          <p:nvPr/>
        </p:nvSpPr>
        <p:spPr>
          <a:xfrm>
            <a:off x="4088448" y="6253944"/>
            <a:ext cx="3887787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甘油二醚和甘油四醚的化学结构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818197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甘油磷脂中的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醚磷脂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，在1号位和/或2号位的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脂酰基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变成了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脂醚基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。为了适应极端恶劣的环境，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古菌细胞膜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主要由醚磷脂组成，原因是醚键比酯键更加稳定。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69509" y="-88718"/>
            <a:ext cx="938051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（一）甘油磷脂（</a:t>
            </a:r>
            <a:r>
              <a:rPr lang="en-US" altLang="zh-CN" dirty="0">
                <a:sym typeface="+mn-ea"/>
              </a:rPr>
              <a:t>phosphoglyceride</a:t>
            </a:r>
            <a:r>
              <a:rPr lang="zh-CN" altLang="en-US" dirty="0">
                <a:sym typeface="+mn-ea"/>
              </a:rPr>
              <a:t>）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13400"/>
            <a:ext cx="12066488" cy="420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31069" y="910200"/>
            <a:ext cx="10690371" cy="5814157"/>
            <a:chOff x="1858010" y="1332231"/>
            <a:chExt cx="8280400" cy="4096385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8010" y="1332231"/>
              <a:ext cx="8280400" cy="4096385"/>
            </a:xfrm>
            <a:prstGeom prst="rect">
              <a:avLst/>
            </a:prstGeom>
          </p:spPr>
        </p:pic>
        <p:graphicFrame>
          <p:nvGraphicFramePr>
            <p:cNvPr id="20480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6202289"/>
                </p:ext>
              </p:extLst>
            </p:nvPr>
          </p:nvGraphicFramePr>
          <p:xfrm>
            <a:off x="5975350" y="3965575"/>
            <a:ext cx="114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r:id="rId4" imgW="114300" imgH="215900" progId="Equation.3">
                    <p:embed/>
                  </p:oleObj>
                </mc:Choice>
                <mc:Fallback>
                  <p:oleObj r:id="rId4" imgW="114300" imgH="2159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75350" y="3965575"/>
                          <a:ext cx="114300" cy="2159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1991946" y="4440410"/>
              <a:ext cx="2540000" cy="4996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（神经）鞘氨醇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940300" y="4440410"/>
              <a:ext cx="2540000" cy="49962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神经酰胺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436610" y="1375509"/>
              <a:ext cx="1410335" cy="4154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磷酸</a:t>
              </a: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胆碱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8908561" y="6358376"/>
            <a:ext cx="2540000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胆碱鞘磷脂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744580" y="-115483"/>
            <a:ext cx="65758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二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>
                <a:sym typeface="+mn-ea"/>
              </a:rPr>
              <a:t>鞘脂类</a:t>
            </a:r>
            <a:r>
              <a:rPr lang="en-US" altLang="zh-CN" dirty="0">
                <a:sym typeface="+mn-ea"/>
              </a:rPr>
              <a:t>(Sphingolipids)</a:t>
            </a:r>
          </a:p>
        </p:txBody>
      </p:sp>
      <p:sp>
        <p:nvSpPr>
          <p:cNvPr id="3" name="矩形 2"/>
          <p:cNvSpPr/>
          <p:nvPr/>
        </p:nvSpPr>
        <p:spPr>
          <a:xfrm>
            <a:off x="491818" y="5835156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楷体" pitchFamily="49" charset="-122"/>
              </a:rPr>
              <a:t>神经鞘氨醇代替了甘油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739813" y="-92845"/>
            <a:ext cx="65758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二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鞘脂类</a:t>
            </a:r>
            <a:r>
              <a:rPr lang="en-US" altLang="zh-CN" dirty="0">
                <a:sym typeface="+mn-ea"/>
              </a:rPr>
              <a:t>(Sphingolipids)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266614" y="6333671"/>
            <a:ext cx="2540000" cy="418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（鞘糖脂）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183884" y="814070"/>
            <a:ext cx="10759587" cy="5937792"/>
            <a:chOff x="1788795" y="1134110"/>
            <a:chExt cx="8879205" cy="495385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8795" y="1134110"/>
              <a:ext cx="8636000" cy="471805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5842635" y="5710556"/>
              <a:ext cx="2540000" cy="37741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神经节苷脂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557780" y="5710556"/>
              <a:ext cx="2540000" cy="37741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半乳糖脑苷脂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836795" y="4575810"/>
              <a:ext cx="2540000" cy="3987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l">
                <a:lnSpc>
                  <a:spcPct val="100000"/>
                </a:lnSpc>
                <a:buClrTx/>
                <a:buSzTx/>
                <a:buFont typeface="Arial" panose="020B0604020202020204" pitchFamily="34" charset="0"/>
              </a:pP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N-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乙酰神经氨酸酯</a:t>
              </a:r>
            </a:p>
            <a:p>
              <a:pPr lvl="0" algn="l">
                <a:lnSpc>
                  <a:spcPct val="10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（唾液酸）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128000" y="2141220"/>
              <a:ext cx="2540000" cy="245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l">
                <a:lnSpc>
                  <a:spcPct val="10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葡萄糖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110730" y="2204720"/>
              <a:ext cx="2540000" cy="245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l">
                <a:lnSpc>
                  <a:spcPct val="10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半乳糖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271135" y="1860550"/>
              <a:ext cx="2540000" cy="245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l">
                <a:lnSpc>
                  <a:spcPct val="100000"/>
                </a:lnSpc>
                <a:buClrTx/>
                <a:buSzTx/>
                <a:buFont typeface="Arial" panose="020B0604020202020204" pitchFamily="34" charset="0"/>
              </a:pP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N-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乙酰半乳糖胺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025900" y="1986280"/>
              <a:ext cx="2540000" cy="245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l">
                <a:lnSpc>
                  <a:spcPct val="100000"/>
                </a:lnSpc>
                <a:buClrTx/>
                <a:buSzTx/>
                <a:buFont typeface="Arial" panose="020B0604020202020204" pitchFamily="34" charset="0"/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半乳糖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808080" y="-101708"/>
            <a:ext cx="65758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二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鞘脂类</a:t>
            </a:r>
            <a:r>
              <a:rPr lang="en-US" altLang="zh-CN" dirty="0">
                <a:sym typeface="+mn-ea"/>
              </a:rPr>
              <a:t>(Sphingolipids)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55" y="1002892"/>
            <a:ext cx="4945379" cy="5776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1899920" y="2861473"/>
            <a:ext cx="2540000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脂是血型的决定因素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621" y="6022340"/>
            <a:ext cx="1565275" cy="756920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05044" y="-108642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（三）类固醇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Rectangle 3"/>
          <p:cNvSpPr>
            <a:spLocks noGrp="1"/>
          </p:cNvSpPr>
          <p:nvPr>
            <p:ph type="subTitle" idx="4294967295"/>
          </p:nvPr>
        </p:nvSpPr>
        <p:spPr>
          <a:xfrm>
            <a:off x="0" y="798273"/>
            <a:ext cx="12337366" cy="1223962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类固醇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也称甾类，其结构以由3个六元环和1个五元环融合在一起的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环戊烷多氢菲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为核心。其中胆固醇最重要，其他甾类几乎都是由它衍生而来。</a:t>
            </a:r>
          </a:p>
        </p:txBody>
      </p:sp>
      <p:sp>
        <p:nvSpPr>
          <p:cNvPr id="71683" name="Rectangle 3"/>
          <p:cNvSpPr>
            <a:spLocks noGrp="1"/>
          </p:cNvSpPr>
          <p:nvPr/>
        </p:nvSpPr>
        <p:spPr>
          <a:xfrm>
            <a:off x="2386330" y="2983548"/>
            <a:ext cx="7056438" cy="10795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Char char="«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685" name="Rectangle 7"/>
          <p:cNvSpPr/>
          <p:nvPr/>
        </p:nvSpPr>
        <p:spPr>
          <a:xfrm>
            <a:off x="1414781" y="3416292"/>
            <a:ext cx="184731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ahoma" panose="020B060403050404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5837" y="1997251"/>
            <a:ext cx="8267308" cy="470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2709" name="矩形 1"/>
          <p:cNvSpPr/>
          <p:nvPr/>
        </p:nvSpPr>
        <p:spPr>
          <a:xfrm>
            <a:off x="3014980" y="2837816"/>
            <a:ext cx="2621280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胆固醇的化学结构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15.3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3991611" y="2887345"/>
            <a:ext cx="6594475" cy="622300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信号、辅助因子和色素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65196" y="-110084"/>
            <a:ext cx="42883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（一）磷脂酰肌醇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b="-11779"/>
          <a:stretch>
            <a:fillRect/>
          </a:stretch>
        </p:blipFill>
        <p:spPr>
          <a:xfrm>
            <a:off x="1658978" y="1052035"/>
            <a:ext cx="5759450" cy="40493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5908" y="1052034"/>
            <a:ext cx="3059430" cy="36029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4120874" y="3585050"/>
            <a:ext cx="836295" cy="3067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磷脂酶</a:t>
            </a:r>
            <a:r>
              <a:rPr lang="en-US" altLang="zh-CN" sz="1400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86943" y="4573110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磷脂酰肌醇4,5-二磷酸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289908" y="4492465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肌醇1、4、5-三磷酸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119218" y="2392520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二酯酰甘油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578611" y="5165430"/>
            <a:ext cx="9056728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细胞外信号，激活细胞膜上特定的一种磷脂酶C，它水解PIP2，释放两种作为细胞内信使的产物：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水溶性)，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（仍然与质膜相关）。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触发内质网释放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和升高的胞质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的结合激活了酶蛋白激酶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，通过磷酸化，激活下游的蛋白。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078" y="1096259"/>
            <a:ext cx="8602980" cy="3276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37560" y="-96218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（二）二十烷类物质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r:id="rId4" imgW="114300" imgH="215900" progId="Equation.3">
                  <p:embed/>
                </p:oleObj>
              </mc:Choice>
              <mc:Fallback>
                <p:oleObj r:id="rId4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49867" y="4703415"/>
            <a:ext cx="10654083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二十烷类是一种旁分泌激素，这些物质只作用于激素合成点附近的细胞；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参与生殖功能；与损伤或疾病相关的炎症、发烧和疼痛；血块的形成和血压的调节；胃酸分泌；以及在其他对人类健康或疾病很重要的过程中。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91410" y="3394075"/>
            <a:ext cx="2540000" cy="7005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前列腺素类</a:t>
            </a:r>
          </a:p>
          <a:p>
            <a:pPr>
              <a:lnSpc>
                <a:spcPct val="150000"/>
              </a:lnSpc>
            </a:pP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37568" y="4040442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血栓烷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893017" y="3893011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白三烯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73288" y="1161416"/>
            <a:ext cx="1259840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花生四烯酸酯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41675" y="-98394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（三）异戊二烯类脂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Rectangle 3"/>
          <p:cNvSpPr>
            <a:spLocks noGrp="1"/>
          </p:cNvSpPr>
          <p:nvPr>
            <p:ph type="subTitle" idx="4294967295"/>
          </p:nvPr>
        </p:nvSpPr>
        <p:spPr>
          <a:xfrm>
            <a:off x="905933" y="1277580"/>
            <a:ext cx="10380133" cy="1223962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此类脂衍生于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异戊二烯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，在结构上可以剖析成若干个异戊二烯单位。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萜类是植物细胞合成的，多数植物中以油、香味物质和色素的形式存在。多具较强的香气和生物活性。常用作芳香剂、矫味剂、皮肤刺激剂、防腐剂、消毒剂及祛痰剂等。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主要包括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萜类、类固醇、脂溶性维生素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423" y="4346575"/>
            <a:ext cx="5996940" cy="1927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21489" y="5981913"/>
            <a:ext cx="902811" cy="37741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异戊二烯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24029" y="-176931"/>
            <a:ext cx="1210588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萜类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6034617" y="4253441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4617" y="4253441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3" name="Rectangle 3"/>
          <p:cNvSpPr>
            <a:spLocks noGrp="1"/>
          </p:cNvSpPr>
          <p:nvPr/>
        </p:nvSpPr>
        <p:spPr>
          <a:xfrm>
            <a:off x="2445597" y="3271414"/>
            <a:ext cx="7056438" cy="10795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Char char="«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685" name="Rectangle 7"/>
          <p:cNvSpPr/>
          <p:nvPr/>
        </p:nvSpPr>
        <p:spPr>
          <a:xfrm>
            <a:off x="1474048" y="3704158"/>
            <a:ext cx="184731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ahoma" panose="020B060403050404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797" y="1453091"/>
            <a:ext cx="9094470" cy="49644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99473" y="1079711"/>
            <a:ext cx="7585075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单帖（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半倍萜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  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99473" y="2765002"/>
            <a:ext cx="6412333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柠檬油精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香茅醛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薄荷醇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没药烯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叶绿醇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706823" y="3400002"/>
            <a:ext cx="646331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赤霉酸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27488" y="3997537"/>
            <a:ext cx="646331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樟脑萜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61293" y="3977852"/>
            <a:ext cx="492443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松萜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464388" y="3970867"/>
            <a:ext cx="646331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桉叶萜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517467" y="4570307"/>
            <a:ext cx="1107996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全反式视黄醛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45598" y="6293062"/>
            <a:ext cx="492443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鲨烯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232488" y="6297507"/>
            <a:ext cx="646331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羊毛醇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072333" y="6199717"/>
            <a:ext cx="800219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番茄红素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QQ截图20220402121606"/>
          <p:cNvPicPr>
            <a:picLocks noChangeAspect="1"/>
          </p:cNvPicPr>
          <p:nvPr/>
        </p:nvPicPr>
        <p:blipFill>
          <a:blip r:embed="rId3"/>
          <a:srcRect l="18962"/>
          <a:stretch>
            <a:fillRect/>
          </a:stretch>
        </p:blipFill>
        <p:spPr>
          <a:xfrm>
            <a:off x="5174404" y="1021080"/>
            <a:ext cx="6792595" cy="58369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27987" y="-83820"/>
            <a:ext cx="2749471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类固醇激素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7338483" y="425704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r:id="rId4" imgW="114300" imgH="215900" progId="Equation.3">
                  <p:embed/>
                </p:oleObj>
              </mc:Choice>
              <mc:Fallback>
                <p:oleObj r:id="rId4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38483" y="425704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094383" y="2712720"/>
            <a:ext cx="64008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强的松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52583" y="4458970"/>
            <a:ext cx="64008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雌二醇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05538" y="4532630"/>
            <a:ext cx="64008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醛固酮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162963" y="4532630"/>
            <a:ext cx="254000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泼尼松龙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87503" y="6229350"/>
            <a:ext cx="2540000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油菜素内酯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02723" y="2759075"/>
            <a:ext cx="48768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睾酮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850293" y="2679700"/>
            <a:ext cx="640080" cy="27559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皮质醇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60189" y="1471930"/>
            <a:ext cx="4346576" cy="4885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睾酮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是一种雄性性激素，在睾丸中产生。雌二醇是一种雌性性激素，在卵巢和胎盘中产生。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皮质醇和醛固酮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是在肾上腺皮质中合成的激素；它们分别调节葡萄糖代谢和盐的排泄。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强的松和泼尼松龙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是用于抗炎药物的合成类固醇。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油菜素内酯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是在维管植物中发现的一种生长调节剂。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QQ截图202204021235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938613"/>
            <a:ext cx="8225156" cy="567673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29760" y="-92445"/>
            <a:ext cx="212910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+mn-ea"/>
              </a:rPr>
              <a:t>维生素</a:t>
            </a:r>
            <a:r>
              <a:rPr lang="en-US" altLang="zh-CN" dirty="0">
                <a:sym typeface="+mn-ea"/>
              </a:rPr>
              <a:t>D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r:id="rId4" imgW="114300" imgH="215900" progId="Equation.3">
                  <p:embed/>
                </p:oleObj>
              </mc:Choice>
              <mc:Fallback>
                <p:oleObj r:id="rId4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74190" y="3717290"/>
            <a:ext cx="4201160" cy="2753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(a)维生素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是通过7-脱氢胆固醇的紫外线照射在皮肤中产生的，它打破了浅红色的键。在肝脏中，在C-25处添加一个羟基；在肾脏中，C-1处的第二个羟基化产生活性激素，1,25-二羟基维生素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3。该激素调节肾、肠和骨中Ca</a:t>
            </a:r>
            <a:r>
              <a:rPr lang="zh-CN" altLang="en-US" sz="1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的代谢。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(b)膳食维生素D可以预防佝偻病，这种疾病曾经在寒冷的气候中很常见，厚重的衣服会阻挡阳光中的紫外线成分，这是在皮肤中产生维生素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3所必需的。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04360" y="-45085"/>
            <a:ext cx="1531188" cy="662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+mn-ea"/>
              </a:rPr>
              <a:t>维生素</a:t>
            </a:r>
            <a:r>
              <a:rPr lang="en-US" altLang="zh-CN" dirty="0">
                <a:sym typeface="+mn-ea"/>
              </a:rPr>
              <a:t>A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825" y="1067435"/>
            <a:ext cx="8251462" cy="540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73580" y="6337301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β-胡萝卜素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21761" y="5520690"/>
            <a:ext cx="120586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视黄醇</a:t>
            </a:r>
          </a:p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（维生素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636511" y="1261111"/>
            <a:ext cx="723275" cy="37741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视黄酸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74360" y="5574666"/>
            <a:ext cx="1441420" cy="37741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视黄醛（順式）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45705" y="5574666"/>
            <a:ext cx="1441420" cy="37741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视黄醛（反式）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99991" y="3965576"/>
            <a:ext cx="492443" cy="336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氧化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98566" y="1604011"/>
            <a:ext cx="492443" cy="336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氧化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905626" y="3583306"/>
            <a:ext cx="646331" cy="336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可见光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105266" y="3889376"/>
            <a:ext cx="800219" cy="336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神经信号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359901" y="2106931"/>
            <a:ext cx="800219" cy="336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激素信号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562777" y="954264"/>
            <a:ext cx="2685415" cy="613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视黄酸（维甲酸），调节包括皮肤在内的上皮组织发育的基因表达。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241415" y="6224271"/>
            <a:ext cx="3784600" cy="3371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顺式反视黄醛转化，是视觉转导的基础。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251961" y="-95885"/>
            <a:ext cx="288572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维生素</a:t>
            </a:r>
            <a:r>
              <a:rPr lang="en-US" altLang="zh-CN" dirty="0">
                <a:sym typeface="+mn-ea"/>
              </a:rPr>
              <a:t>E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K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 descr="QQ截图20220402130348"/>
          <p:cNvPicPr>
            <a:picLocks noChangeAspect="1"/>
          </p:cNvPicPr>
          <p:nvPr/>
        </p:nvPicPr>
        <p:blipFill>
          <a:blip r:embed="rId5"/>
          <a:srcRect b="49622"/>
          <a:stretch>
            <a:fillRect/>
          </a:stretch>
        </p:blipFill>
        <p:spPr>
          <a:xfrm>
            <a:off x="457188" y="1786467"/>
            <a:ext cx="11106928" cy="358986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8845" y="2996132"/>
            <a:ext cx="2540000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维生素E：抗氧化剂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52313" y="4960620"/>
            <a:ext cx="2540000" cy="8744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维生素K1：一种凝血辅助因子（叶状醌）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268894" y="-104352"/>
            <a:ext cx="3262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泛醌、质体醌</a:t>
            </a:r>
          </a:p>
        </p:txBody>
      </p:sp>
      <p:pic>
        <p:nvPicPr>
          <p:cNvPr id="3" name="图片 2" descr="QQ截图20220402130348"/>
          <p:cNvPicPr>
            <a:picLocks noChangeAspect="1"/>
          </p:cNvPicPr>
          <p:nvPr/>
        </p:nvPicPr>
        <p:blipFill>
          <a:blip r:embed="rId5"/>
          <a:srcRect t="47196" r="6636"/>
          <a:stretch>
            <a:fillRect/>
          </a:stretch>
        </p:blipFill>
        <p:spPr>
          <a:xfrm>
            <a:off x="629172" y="1498726"/>
            <a:ext cx="11130244" cy="4038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70094" y="2991796"/>
            <a:ext cx="2540000" cy="8744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泛醌：一种线粒体电子载体（辅酶Q）（n4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66825" y="4747460"/>
            <a:ext cx="2540000" cy="8744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质体醌：叶绿体电子载体（n4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5975350" y="39655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r:id="rId3" imgW="114300" imgH="215900" progId="Equation.3">
                  <p:embed/>
                </p:oleObj>
              </mc:Choice>
              <mc:Fallback>
                <p:oleObj r:id="rId3" imgW="1143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75350" y="3965575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563534" y="-94817"/>
            <a:ext cx="223651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色素分子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719" y="2746587"/>
            <a:ext cx="8099414" cy="38404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7334" y="1222456"/>
            <a:ext cx="10824632" cy="14229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共轭二烯具有单键和双键交替的碳链。因为这种结构安排允许电子离域，这些化合物可以被低能量的电磁辐射（可见光）激发，使它们成为人类和其他动物可见的颜色。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鸟类通过食用含有类胡萝卜素的植物，如牙黄素和玉米黄质，获得羽毛呈红色或黄色的色素。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35350" y="4181476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角黄素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01670" y="5708651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玉米黄素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15.4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958081" y="2737486"/>
            <a:ext cx="6594475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生物膜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91602" y="4411952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略，见细胞生物学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Q4ODQwNThiYTg4YTBlNDhkZDRmNGNiNWM5NWE1YzAifQ=="/>
  <p:tag name="KSO_WPP_MARK_KEY" val="695a1df2-3f06-4009-a438-41b512302cee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</TotalTime>
  <Words>1596</Words>
  <Application>Microsoft Office PowerPoint</Application>
  <PresentationFormat>自定义</PresentationFormat>
  <Paragraphs>171</Paragraphs>
  <Slides>33</Slides>
  <Notes>6</Notes>
  <HiddenSlides>0</HiddenSlides>
  <MMClips>0</MMClips>
  <ScaleCrop>false</ScaleCrop>
  <HeadingPairs>
    <vt:vector size="6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Office 主题​​</vt:lpstr>
      <vt:lpstr>2_Office 主题​​</vt:lpstr>
      <vt:lpstr>3_Office 主题​​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aging00</dc:creator>
  <cp:lastModifiedBy>lenovo</cp:lastModifiedBy>
  <cp:revision>791</cp:revision>
  <dcterms:created xsi:type="dcterms:W3CDTF">2021-04-13T08:56:00Z</dcterms:created>
  <dcterms:modified xsi:type="dcterms:W3CDTF">2023-11-05T15:54:14Z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CA076F3D54F0461393AE738D1B2F1242</vt:lpwstr>
  </property>
  <property fmtid="{D5CDD505-2E9C-101B-9397-08002B2CF9AE}" pid="3" name="KSOProductBuildVer">
    <vt:lpwstr>2052-11.1.0.14036</vt:lpwstr>
  </property>
</Properties>
</file>