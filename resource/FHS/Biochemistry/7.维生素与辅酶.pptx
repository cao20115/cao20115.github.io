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  <p:sldMasterId id="2147483672" r:id="rId2"/>
    <p:sldMasterId id="2147483685" r:id="rId3"/>
  </p:sldMasterIdLst>
  <p:notesMasterIdLst>
    <p:notesMasterId r:id="rId49"/>
  </p:notesMasterIdLst>
  <p:sldIdLst>
    <p:sldId id="1205" r:id="rId4"/>
    <p:sldId id="624" r:id="rId5"/>
    <p:sldId id="657" r:id="rId6"/>
    <p:sldId id="784" r:id="rId7"/>
    <p:sldId id="872" r:id="rId8"/>
    <p:sldId id="1206" r:id="rId9"/>
    <p:sldId id="779" r:id="rId10"/>
    <p:sldId id="787" r:id="rId11"/>
    <p:sldId id="791" r:id="rId12"/>
    <p:sldId id="1207" r:id="rId13"/>
    <p:sldId id="793" r:id="rId14"/>
    <p:sldId id="794" r:id="rId15"/>
    <p:sldId id="1210" r:id="rId16"/>
    <p:sldId id="1211" r:id="rId17"/>
    <p:sldId id="1212" r:id="rId18"/>
    <p:sldId id="1213" r:id="rId19"/>
    <p:sldId id="799" r:id="rId20"/>
    <p:sldId id="1215" r:id="rId21"/>
    <p:sldId id="1216" r:id="rId22"/>
    <p:sldId id="1217" r:id="rId23"/>
    <p:sldId id="800" r:id="rId24"/>
    <p:sldId id="801" r:id="rId25"/>
    <p:sldId id="804" r:id="rId26"/>
    <p:sldId id="1218" r:id="rId27"/>
    <p:sldId id="1219" r:id="rId28"/>
    <p:sldId id="1220" r:id="rId29"/>
    <p:sldId id="805" r:id="rId30"/>
    <p:sldId id="806" r:id="rId31"/>
    <p:sldId id="807" r:id="rId32"/>
    <p:sldId id="808" r:id="rId33"/>
    <p:sldId id="810" r:id="rId34"/>
    <p:sldId id="809" r:id="rId35"/>
    <p:sldId id="811" r:id="rId36"/>
    <p:sldId id="812" r:id="rId37"/>
    <p:sldId id="780" r:id="rId38"/>
    <p:sldId id="813" r:id="rId39"/>
    <p:sldId id="814" r:id="rId40"/>
    <p:sldId id="820" r:id="rId41"/>
    <p:sldId id="817" r:id="rId42"/>
    <p:sldId id="821" r:id="rId43"/>
    <p:sldId id="822" r:id="rId44"/>
    <p:sldId id="826" r:id="rId45"/>
    <p:sldId id="827" r:id="rId46"/>
    <p:sldId id="781" r:id="rId47"/>
    <p:sldId id="828" r:id="rId48"/>
  </p:sldIdLst>
  <p:sldSz cx="12192000" cy="6858000"/>
  <p:notesSz cx="6858000" cy="9144000"/>
  <p:custDataLst>
    <p:tags r:id="rId5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-832" y="-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tags" Target="tags/tag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8" Type="http://schemas.openxmlformats.org/officeDocument/2006/relationships/slide" Target="slides/slide5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3DD6F7-F09E-4907-BF79-6C84CA457639}" type="datetimeFigureOut">
              <a:rPr lang="zh-CN" altLang="en-US" smtClean="0"/>
              <a:t>2023/11/24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19383A-97AB-4E9F-ADB2-1ECE650A7D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7783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3700" y="690563"/>
            <a:ext cx="6146800" cy="3457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19383A-97AB-4E9F-ADB2-1ECE650A7D9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19383A-97AB-4E9F-ADB2-1ECE650A7D9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6309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688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6748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8284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2023/11/24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2309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2023/11/24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83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2023/11/24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8127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2922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4844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4484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44336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94345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67935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70628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78021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2023/11/24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19652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2023/11/24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7236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2023/11/24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81215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60351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70285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27760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2023/11/24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9589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7101515"/>
      </p:ext>
    </p:extLst>
  </p:cSld>
  <p:clrMapOvr>
    <a:masterClrMapping/>
  </p:clrMapOvr>
  <p:transition>
    <p:random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2023/11/24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3265598"/>
      </p:ext>
    </p:extLst>
  </p:cSld>
  <p:clrMapOvr>
    <a:masterClrMapping/>
  </p:clrMapOvr>
  <p:transition>
    <p:random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2023/11/24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715186"/>
      </p:ext>
    </p:extLst>
  </p:cSld>
  <p:clrMapOvr>
    <a:masterClrMapping/>
  </p:clrMapOvr>
  <p:transition>
    <p:random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2023/11/24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582895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2023/11/24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3783815"/>
      </p:ext>
    </p:extLst>
  </p:cSld>
  <p:clrMapOvr>
    <a:masterClrMapping/>
  </p:clrMapOvr>
  <p:transition>
    <p:random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2023/11/24</a:t>
            </a:fld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9565798"/>
      </p:ext>
    </p:extLst>
  </p:cSld>
  <p:clrMapOvr>
    <a:masterClrMapping/>
  </p:clrMapOvr>
  <p:transition>
    <p:random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107367"/>
      </p:ext>
    </p:extLst>
  </p:cSld>
  <p:clrMapOvr>
    <a:masterClrMapping/>
  </p:clrMapOvr>
  <p:transition>
    <p:random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B8FAA213-99BB-9E32-7754-2B97098F3E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23672" t="65924" r="-370" b="23585"/>
          <a:stretch>
            <a:fillRect/>
          </a:stretch>
        </p:blipFill>
        <p:spPr>
          <a:xfrm>
            <a:off x="-2890383" y="0"/>
            <a:ext cx="15138000" cy="884397"/>
          </a:xfrm>
          <a:prstGeom prst="rect">
            <a:avLst/>
          </a:prstGeom>
          <a:ln>
            <a:noFill/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xmlns="" id="{FD373CAA-6FF8-097F-97F7-833DD07F9326}"/>
              </a:ext>
            </a:extLst>
          </p:cNvPr>
          <p:cNvSpPr/>
          <p:nvPr userDrawn="1"/>
        </p:nvSpPr>
        <p:spPr>
          <a:xfrm>
            <a:off x="-6263" y="-3362"/>
            <a:ext cx="12211251" cy="884397"/>
          </a:xfrm>
          <a:prstGeom prst="rect">
            <a:avLst/>
          </a:prstGeom>
          <a:solidFill>
            <a:schemeClr val="tx1">
              <a:lumMod val="85000"/>
              <a:lumOff val="15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</p:spTree>
    <p:extLst>
      <p:ext uri="{BB962C8B-B14F-4D97-AF65-F5344CB8AC3E}">
        <p14:creationId xmlns:p14="http://schemas.microsoft.com/office/powerpoint/2010/main" val="2643150566"/>
      </p:ext>
    </p:extLst>
  </p:cSld>
  <p:clrMapOvr>
    <a:masterClrMapping/>
  </p:clrMapOvr>
  <p:transition>
    <p:random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2023/11/24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641078"/>
      </p:ext>
    </p:extLst>
  </p:cSld>
  <p:clrMapOvr>
    <a:masterClrMapping/>
  </p:clrMapOvr>
  <p:transition>
    <p:random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2023/11/24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719428"/>
      </p:ext>
    </p:extLst>
  </p:cSld>
  <p:clrMapOvr>
    <a:masterClrMapping/>
  </p:clrMapOvr>
  <p:transition>
    <p:random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2023/11/24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2045521"/>
      </p:ext>
    </p:extLst>
  </p:cSld>
  <p:clrMapOvr>
    <a:masterClrMapping/>
  </p:clrMapOvr>
  <p:transition>
    <p:random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2023/11/24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3881612"/>
      </p:ext>
    </p:extLst>
  </p:cSld>
  <p:clrMapOvr>
    <a:masterClrMapping/>
  </p:clrMapOvr>
  <p:transition>
    <p:random/>
  </p:transition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325314"/>
      </p:ext>
    </p:extLst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1228C-2A41-49A9-870A-621E113E584C}" type="datetimeFigureOut">
              <a:rPr lang="zh-CN" altLang="en-US" smtClean="0"/>
              <a:t>2023/11/24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6649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1228C-2A41-49A9-870A-621E113E584C}" type="datetimeFigureOut">
              <a:rPr lang="zh-CN" altLang="en-US" smtClean="0"/>
              <a:t>2023/11/24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5414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1228C-2A41-49A9-870A-621E113E584C}" type="datetimeFigureOut">
              <a:rPr lang="zh-CN" altLang="en-US" smtClean="0"/>
              <a:t>2023/11/24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6997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30.xml"/><Relationship Id="rId1" Type="http://schemas.openxmlformats.org/officeDocument/2006/relationships/tags" Target="../tags/tag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30.xml"/><Relationship Id="rId1" Type="http://schemas.openxmlformats.org/officeDocument/2006/relationships/tags" Target="../tags/tag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3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0.xml"/></Relationships>
</file>

<file path=ppt/slides/_rels/slide4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MolMotion"/>
          <p:cNvPicPr>
            <a:picLocks noChangeAspect="1"/>
          </p:cNvPicPr>
          <p:nvPr/>
        </p:nvPicPr>
        <p:blipFill>
          <a:blip r:embed="rId3"/>
          <a:srcRect l="8759"/>
          <a:stretch>
            <a:fillRect/>
          </a:stretch>
        </p:blipFill>
        <p:spPr>
          <a:xfrm>
            <a:off x="0" y="0"/>
            <a:ext cx="8264504" cy="6858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608945" y="2635546"/>
            <a:ext cx="2917135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章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维生素与辅酶</a:t>
            </a:r>
          </a:p>
        </p:txBody>
      </p:sp>
    </p:spTree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2E777626-4C38-6E58-001E-16365D002D72}"/>
              </a:ext>
            </a:extLst>
          </p:cNvPr>
          <p:cNvSpPr txBox="1"/>
          <p:nvPr/>
        </p:nvSpPr>
        <p:spPr>
          <a:xfrm>
            <a:off x="4856954" y="112730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本章内容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F0250FF0-1A30-EE05-08EB-3775AF2A2065}"/>
              </a:ext>
            </a:extLst>
          </p:cNvPr>
          <p:cNvSpPr txBox="1">
            <a:spLocks/>
          </p:cNvSpPr>
          <p:nvPr/>
        </p:nvSpPr>
        <p:spPr>
          <a:xfrm>
            <a:off x="3769361" y="1712279"/>
            <a:ext cx="6119813" cy="3786187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altLang="zh-CN" sz="32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7.1   </a:t>
            </a:r>
            <a:r>
              <a:rPr lang="en-US" altLang="zh-CN" sz="32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维生素概论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32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7.2   </a:t>
            </a:r>
            <a:r>
              <a:rPr lang="en-US" altLang="zh-CN" sz="32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脂溶性维生素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32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7.3   </a:t>
            </a:r>
            <a:r>
              <a:rPr lang="en-US" altLang="zh-CN" sz="32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水溶性维生素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32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7.4   </a:t>
            </a:r>
            <a:r>
              <a:rPr lang="en-US" altLang="zh-CN" sz="32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作为辅酶的金属离子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grayscl/>
            <a:lum bright="78000" contrast="-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53595" cy="6913880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1458595" y="2236035"/>
            <a:ext cx="9144000" cy="1809759"/>
            <a:chOff x="170694" y="178257"/>
            <a:chExt cx="3936004" cy="779005"/>
          </a:xfrm>
        </p:grpSpPr>
        <p:sp>
          <p:nvSpPr>
            <p:cNvPr id="17" name="矩形 16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rgbClr val="C4C7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solidFill>
                  <a:srgbClr val="4CA6C6"/>
                </a:solidFill>
              </a:endParaRPr>
            </a:p>
          </p:txBody>
        </p:sp>
        <p:sp>
          <p:nvSpPr>
            <p:cNvPr id="18" name="平行四边形 17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3381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592173" y="334330"/>
              <a:ext cx="1338788" cy="466581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en-US" altLang="zh-CN" sz="6600" dirty="0" smtClean="0">
                  <a:solidFill>
                    <a:schemeClr val="bg1">
                      <a:lumMod val="95000"/>
                    </a:schemeClr>
                  </a:solidFill>
                  <a:latin typeface="Impact" panose="020B0806030902050204" pitchFamily="34" charset="0"/>
                </a:rPr>
                <a:t>7.1</a:t>
              </a:r>
              <a:endParaRPr lang="en-US" altLang="zh-CN" sz="6600" dirty="0">
                <a:solidFill>
                  <a:schemeClr val="bg1">
                    <a:lumMod val="95000"/>
                  </a:schemeClr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20" name="TextBox 48"/>
          <p:cNvSpPr txBox="1"/>
          <p:nvPr/>
        </p:nvSpPr>
        <p:spPr>
          <a:xfrm>
            <a:off x="4965065" y="2737486"/>
            <a:ext cx="6250940" cy="807085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维生素概论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2041525" y="6986"/>
            <a:ext cx="810895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sz="3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维生素的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概念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6415" y="890362"/>
            <a:ext cx="9635922" cy="5917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2041525" y="6986"/>
            <a:ext cx="810895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sz="3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维生素的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分类</a:t>
            </a:r>
          </a:p>
        </p:txBody>
      </p:sp>
      <p:pic>
        <p:nvPicPr>
          <p:cNvPr id="8194" name="Pictur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126814"/>
            <a:ext cx="12192000" cy="472326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5550" y="0"/>
            <a:ext cx="8598363" cy="6880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12887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grayscl/>
            <a:lum bright="78000" contrast="-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940"/>
            <a:ext cx="12253595" cy="6913880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1458595" y="2236035"/>
            <a:ext cx="9144000" cy="1809759"/>
            <a:chOff x="170694" y="178257"/>
            <a:chExt cx="3936004" cy="779005"/>
          </a:xfrm>
        </p:grpSpPr>
        <p:sp>
          <p:nvSpPr>
            <p:cNvPr id="17" name="矩形 16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rgbClr val="C4C7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solidFill>
                  <a:srgbClr val="4CA6C6"/>
                </a:solidFill>
              </a:endParaRPr>
            </a:p>
          </p:txBody>
        </p:sp>
        <p:sp>
          <p:nvSpPr>
            <p:cNvPr id="18" name="平行四边形 17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3381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565384" y="334330"/>
              <a:ext cx="1338788" cy="466581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en-US" altLang="zh-CN" sz="6600" dirty="0" smtClean="0">
                  <a:solidFill>
                    <a:schemeClr val="bg1">
                      <a:lumMod val="95000"/>
                    </a:schemeClr>
                  </a:solidFill>
                  <a:latin typeface="Impact" panose="020B0806030902050204" pitchFamily="34" charset="0"/>
                </a:rPr>
                <a:t>7.2</a:t>
              </a:r>
              <a:endParaRPr lang="en-US" altLang="zh-CN" sz="6600" dirty="0">
                <a:solidFill>
                  <a:schemeClr val="bg1">
                    <a:lumMod val="95000"/>
                  </a:schemeClr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20" name="TextBox 48"/>
          <p:cNvSpPr txBox="1"/>
          <p:nvPr/>
        </p:nvSpPr>
        <p:spPr>
          <a:xfrm>
            <a:off x="4965065" y="2737486"/>
            <a:ext cx="6250940" cy="807085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水溶性维生素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2041525" y="6986"/>
            <a:ext cx="8108950" cy="8254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水</a:t>
            </a:r>
            <a:r>
              <a:rPr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溶性维生素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20832" y="984808"/>
            <a:ext cx="11350336" cy="52629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种类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B族维生素和维生素C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功能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多数水溶性维生素在生物体内能够直接作为或转变为</a:t>
            </a:r>
            <a:r>
              <a:rPr lang="zh-CN" altLang="en-US" sz="2800" b="1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辅酶或</a:t>
            </a:r>
            <a:r>
              <a:rPr lang="zh-CN" altLang="en-US" sz="2800" b="1" u="sng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辅基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参与</a:t>
            </a:r>
            <a:r>
              <a:rPr lang="zh-CN" altLang="en-US" sz="2800" b="1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能量代谢和血细胞形成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当缺乏时，机体的能量代谢和血细胞形成将会出现障碍，最容易受到影响的是</a:t>
            </a:r>
            <a:r>
              <a:rPr lang="zh-CN" altLang="en-US" sz="2800" b="1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生长和分裂旺盛的细胞和组织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由于</a:t>
            </a:r>
            <a:r>
              <a:rPr lang="zh-CN" altLang="en-US" sz="2800" b="1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神经组织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的活动严重依赖于持续的能量供应，特别来自糖类氧化分，因此在很多情况下，神经系统的功能也会受到影响。</a:t>
            </a:r>
          </a:p>
        </p:txBody>
      </p:sp>
    </p:spTree>
  </p:cSld>
  <p:clrMapOvr>
    <a:masterClrMapping/>
  </p:clrMapOvr>
  <p:transition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2041525" y="6986"/>
            <a:ext cx="8108950" cy="8254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维生素</a:t>
            </a:r>
            <a:r>
              <a:rPr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B1</a:t>
            </a:r>
            <a:r>
              <a:rPr lang="en-US" altLang="zh-CN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硫胺素</a:t>
            </a:r>
            <a:endParaRPr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267" name="Picture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lum bright="-6000" contrast="-6000"/>
          </a:blip>
          <a:stretch>
            <a:fillRect/>
          </a:stretch>
        </p:blipFill>
        <p:spPr>
          <a:xfrm>
            <a:off x="0" y="1086832"/>
            <a:ext cx="6716664" cy="397031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6688666" y="1471296"/>
            <a:ext cx="5503333" cy="286232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辅酶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——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焦磷酸硫胺素（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TPP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TPP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是体内催化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α-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酮酸氧化</a:t>
            </a:r>
            <a:r>
              <a:rPr lang="zh-CN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脱羧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的辅酶，也是磷酸戊糖途径中转酮酶的辅酶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63" y="333950"/>
            <a:ext cx="4293378" cy="525939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524" y="238759"/>
            <a:ext cx="7118425" cy="3563237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043299" y="2594315"/>
            <a:ext cx="1569660" cy="369332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焦磷酸硫胺素</a:t>
            </a:r>
          </a:p>
        </p:txBody>
      </p:sp>
      <p:sp>
        <p:nvSpPr>
          <p:cNvPr id="5" name="矩形 4"/>
          <p:cNvSpPr/>
          <p:nvPr/>
        </p:nvSpPr>
        <p:spPr>
          <a:xfrm>
            <a:off x="4557541" y="3801996"/>
            <a:ext cx="763445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噻唑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环（蓝色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）的氮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硫之间的碳原子有很强的酸性（释放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质子），易解离产生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碳负离子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，对丙酮酸的羰基进行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亲核攻击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78974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2041525" y="6986"/>
            <a:ext cx="8108950" cy="8254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维生素B1</a:t>
            </a:r>
            <a:endParaRPr lang="zh-CN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39801" y="1438698"/>
            <a:ext cx="10608733" cy="45405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  <a:buClr>
                <a:srgbClr val="FF0000"/>
              </a:buClr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缺乏症：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脚气病（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Beriberi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），表现为多发性外周神经炎的症状，手脚麻木，肌肉无力，甚至进展性瘫痪，心脏异常。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 fontAlgn="auto">
              <a:lnSpc>
                <a:spcPct val="150000"/>
              </a:lnSpc>
              <a:buClr>
                <a:srgbClr val="FF0000"/>
              </a:buClr>
              <a:buSzTx/>
              <a:buFont typeface="Wingdings" panose="05000000000000000000" pitchFamily="2" charset="2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食物来源：</a:t>
            </a:r>
          </a:p>
          <a:p>
            <a:pPr marL="285750" indent="-28575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肉类，例如肝脏，猪肉和火腿；</a:t>
            </a:r>
          </a:p>
          <a:p>
            <a:pPr marL="285750" indent="-28575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全麦面包和谷类；</a:t>
            </a:r>
          </a:p>
          <a:p>
            <a:pPr marL="285750" indent="-28575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绿叶蔬菜；</a:t>
            </a:r>
          </a:p>
          <a:p>
            <a:pPr marL="285750" indent="-28575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长时间烹饪会破坏硫胺素。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2230860" y="0"/>
            <a:ext cx="8108950" cy="8254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维生素B</a:t>
            </a:r>
            <a:r>
              <a:rPr lang="en-US" sz="3600" b="1" baseline="-25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核黄素</a:t>
            </a:r>
            <a:endParaRPr lang="en-US" altLang="zh-CN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5293" y="825419"/>
            <a:ext cx="9069763" cy="5964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533787" y="2724787"/>
            <a:ext cx="32381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氧化型的维生素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呈现黄色，故又名为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核黄素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400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3674226" y="-83125"/>
            <a:ext cx="490450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维生素B</a:t>
            </a:r>
            <a:r>
              <a:rPr lang="en-US" sz="3600" b="1" baseline="-25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核黄素</a:t>
            </a:r>
            <a:endParaRPr lang="en-US" altLang="zh-CN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32" t="21193" r="8475"/>
          <a:stretch/>
        </p:blipFill>
        <p:spPr bwMode="auto">
          <a:xfrm>
            <a:off x="5136572" y="813882"/>
            <a:ext cx="7055428" cy="60441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>
          <a:xfrm>
            <a:off x="321425" y="1636561"/>
            <a:ext cx="491559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辅酶形式</a:t>
            </a:r>
            <a:r>
              <a:rPr lang="zh-CN" altLang="en-US" sz="2800" b="1" dirty="0" smtClean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2800" b="1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 smtClean="0">
                <a:latin typeface="微软雅黑" pitchFamily="34" charset="-122"/>
                <a:ea typeface="微软雅黑" pitchFamily="34" charset="-122"/>
              </a:rPr>
              <a:t>黄素单核苷酸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FMN</a:t>
            </a:r>
            <a:r>
              <a:rPr lang="zh-CN" altLang="en-US" sz="2800" b="1" dirty="0" smtClean="0"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sz="2800" b="1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 smtClean="0">
                <a:latin typeface="微软雅黑" pitchFamily="34" charset="-122"/>
                <a:ea typeface="微软雅黑" pitchFamily="34" charset="-122"/>
              </a:rPr>
              <a:t>黄素腺嘌呤二核苷酸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FAD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） </a:t>
            </a:r>
          </a:p>
        </p:txBody>
      </p:sp>
    </p:spTree>
    <p:extLst>
      <p:ext uri="{BB962C8B-B14F-4D97-AF65-F5344CB8AC3E}">
        <p14:creationId xmlns:p14="http://schemas.microsoft.com/office/powerpoint/2010/main" val="15952980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70" y="952948"/>
            <a:ext cx="12024860" cy="3790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矩形 2"/>
          <p:cNvSpPr/>
          <p:nvPr/>
        </p:nvSpPr>
        <p:spPr>
          <a:xfrm>
            <a:off x="167473" y="23365"/>
            <a:ext cx="1185705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itchFamily="34" charset="-122"/>
                <a:ea typeface="微软雅黑" pitchFamily="34" charset="-122"/>
              </a:rPr>
              <a:t>FMN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800" b="1" dirty="0">
                <a:latin typeface="微软雅黑" pitchFamily="34" charset="-122"/>
                <a:ea typeface="微软雅黑" pitchFamily="34" charset="-122"/>
              </a:rPr>
              <a:t>FAD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是多种</a:t>
            </a:r>
            <a:r>
              <a:rPr lang="zh-CN" altLang="en-US" sz="2800" b="1" dirty="0" smtClean="0">
                <a:latin typeface="微软雅黑" pitchFamily="34" charset="-122"/>
                <a:ea typeface="微软雅黑" pitchFamily="34" charset="-122"/>
              </a:rPr>
              <a:t>氧化还原酶的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辅基，作为</a:t>
            </a:r>
            <a:r>
              <a:rPr lang="zh-CN" altLang="en-US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递</a:t>
            </a:r>
            <a:r>
              <a:rPr lang="en-US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H</a:t>
            </a:r>
            <a:r>
              <a:rPr lang="zh-CN" altLang="en-US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体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，参与氧化还原反应。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8851" y="4743590"/>
            <a:ext cx="7886700" cy="1228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175735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QQ截图20220509075259">
            <a:extLst>
              <a:ext uri="{FF2B5EF4-FFF2-40B4-BE49-F238E27FC236}">
                <a16:creationId xmlns:a16="http://schemas.microsoft.com/office/drawing/2014/main" xmlns="" id="{887C4EB8-A10D-59F8-CB0A-F4DA0ACF41E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55324" y="0"/>
            <a:ext cx="11217893" cy="6988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528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3" y="452438"/>
            <a:ext cx="11725275" cy="595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158272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618457" y="-102582"/>
            <a:ext cx="8108950" cy="9069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维生素PP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024" y="988117"/>
            <a:ext cx="9830148" cy="5124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>
          <a:xfrm>
            <a:off x="4061914" y="5988045"/>
            <a:ext cx="126188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尼克酸</a:t>
            </a:r>
          </a:p>
        </p:txBody>
      </p:sp>
      <p:sp>
        <p:nvSpPr>
          <p:cNvPr id="11" name="矩形 10"/>
          <p:cNvSpPr/>
          <p:nvPr/>
        </p:nvSpPr>
        <p:spPr>
          <a:xfrm>
            <a:off x="1389033" y="5992018"/>
            <a:ext cx="90281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吡啶</a:t>
            </a:r>
          </a:p>
        </p:txBody>
      </p:sp>
      <p:sp>
        <p:nvSpPr>
          <p:cNvPr id="12" name="矩形 11"/>
          <p:cNvSpPr/>
          <p:nvPr/>
        </p:nvSpPr>
        <p:spPr>
          <a:xfrm>
            <a:off x="7743758" y="5963290"/>
            <a:ext cx="316464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尼克酰胺（为主）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000875" cy="678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>
          <a:xfrm>
            <a:off x="7000875" y="1352880"/>
            <a:ext cx="519112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烟酰胺腺嘌呤二核苷酸</a:t>
            </a:r>
            <a:r>
              <a:rPr lang="zh-CN" altLang="en-US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NAD</a:t>
            </a:r>
            <a:r>
              <a:rPr lang="en-US" altLang="zh-CN" sz="2800" b="1" baseline="30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+</a:t>
            </a:r>
            <a:r>
              <a:rPr lang="en-US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，辅酶</a:t>
            </a:r>
            <a:r>
              <a:rPr lang="en-US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</a:t>
            </a:r>
            <a:r>
              <a:rPr lang="zh-CN" altLang="en-US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sz="28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 烟酰胺腺嘌呤二核苷酸磷酸</a:t>
            </a:r>
            <a:r>
              <a:rPr lang="zh-CN" altLang="en-US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（ </a:t>
            </a:r>
            <a:r>
              <a:rPr lang="en-US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NADP</a:t>
            </a:r>
            <a:r>
              <a:rPr lang="en-US" altLang="zh-CN" sz="2800" b="1" baseline="30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+</a:t>
            </a:r>
            <a:r>
              <a:rPr lang="en-US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，辅酶</a:t>
            </a:r>
            <a:r>
              <a:rPr lang="en-US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II </a:t>
            </a:r>
            <a:r>
              <a:rPr lang="zh-CN" altLang="en-US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8285304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8414" y="5453797"/>
            <a:ext cx="8703860" cy="1316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980" y="761110"/>
            <a:ext cx="11744325" cy="475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>
          <a:xfrm>
            <a:off x="1838104" y="0"/>
            <a:ext cx="1003933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NAD</a:t>
            </a:r>
            <a:r>
              <a:rPr lang="en-US" altLang="zh-CN" sz="3200" b="1" baseline="30000" dirty="0">
                <a:latin typeface="微软雅黑" pitchFamily="34" charset="-122"/>
                <a:ea typeface="微软雅黑" pitchFamily="34" charset="-122"/>
              </a:rPr>
              <a:t>+</a:t>
            </a:r>
            <a:r>
              <a:rPr lang="zh-CN" altLang="en-US" sz="3200" b="1" dirty="0">
                <a:latin typeface="微软雅黑" pitchFamily="34" charset="-122"/>
                <a:ea typeface="微软雅黑" pitchFamily="34" charset="-122"/>
              </a:rPr>
              <a:t>和 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NADP</a:t>
            </a:r>
            <a:r>
              <a:rPr lang="en-US" altLang="zh-CN" sz="3200" b="1" baseline="30000" dirty="0">
                <a:latin typeface="微软雅黑" pitchFamily="34" charset="-122"/>
                <a:ea typeface="微软雅黑" pitchFamily="34" charset="-122"/>
              </a:rPr>
              <a:t>+</a:t>
            </a:r>
            <a:r>
              <a:rPr lang="zh-CN" altLang="en-US" sz="3200" b="1" dirty="0">
                <a:latin typeface="微软雅黑" pitchFamily="34" charset="-122"/>
                <a:ea typeface="微软雅黑" pitchFamily="34" charset="-122"/>
              </a:rPr>
              <a:t>是</a:t>
            </a:r>
            <a:r>
              <a:rPr lang="zh-CN" altLang="en-US" sz="32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递氢体</a:t>
            </a:r>
            <a:r>
              <a:rPr lang="zh-CN" altLang="en-US" sz="3200" b="1" dirty="0">
                <a:latin typeface="微软雅黑" pitchFamily="34" charset="-122"/>
                <a:ea typeface="微软雅黑" pitchFamily="34" charset="-122"/>
              </a:rPr>
              <a:t>，参与氧化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3200" b="1" dirty="0">
                <a:latin typeface="微软雅黑" pitchFamily="34" charset="-122"/>
                <a:ea typeface="微软雅黑" pitchFamily="34" charset="-122"/>
              </a:rPr>
              <a:t>还原反应。</a:t>
            </a:r>
          </a:p>
        </p:txBody>
      </p:sp>
    </p:spTree>
    <p:extLst>
      <p:ext uri="{BB962C8B-B14F-4D97-AF65-F5344CB8AC3E}">
        <p14:creationId xmlns:p14="http://schemas.microsoft.com/office/powerpoint/2010/main" val="1208400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73" y="653143"/>
            <a:ext cx="12163027" cy="42404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78664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628718" y="-46712"/>
            <a:ext cx="8108950" cy="8254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维生素PP</a:t>
            </a:r>
          </a:p>
        </p:txBody>
      </p:sp>
      <p:sp>
        <p:nvSpPr>
          <p:cNvPr id="13314" name="内容占位符 2"/>
          <p:cNvSpPr>
            <a:spLocks noGrp="1"/>
          </p:cNvSpPr>
          <p:nvPr/>
        </p:nvSpPr>
        <p:spPr>
          <a:xfrm>
            <a:off x="474133" y="963930"/>
            <a:ext cx="10913534" cy="22098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缺乏症：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主要表现为癞皮病。补充维生素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PP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可预防和治愈癞皮病，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故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维生素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PP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又称为抗癞皮病因子或抗癞皮病维生素。</a:t>
            </a:r>
          </a:p>
        </p:txBody>
      </p:sp>
      <p:pic>
        <p:nvPicPr>
          <p:cNvPr id="13315" name="Picture 4"/>
          <p:cNvPicPr>
            <a:picLocks noChangeAspect="1"/>
          </p:cNvPicPr>
          <p:nvPr/>
        </p:nvPicPr>
        <p:blipFill>
          <a:blip r:embed="rId2">
            <a:lum bright="6000" contrast="6000"/>
          </a:blip>
          <a:stretch>
            <a:fillRect/>
          </a:stretch>
        </p:blipFill>
        <p:spPr>
          <a:xfrm>
            <a:off x="717157" y="2368645"/>
            <a:ext cx="2923250" cy="3431907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3318" name="Rectangle 11"/>
          <p:cNvSpPr/>
          <p:nvPr/>
        </p:nvSpPr>
        <p:spPr>
          <a:xfrm>
            <a:off x="1036437" y="5878818"/>
            <a:ext cx="1706148" cy="369332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癞皮病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患者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395356" y="2368645"/>
            <a:ext cx="2369126" cy="276998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缺乏症表现：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腹泻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皮炎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痴呆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死亡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569693" y="3070870"/>
            <a:ext cx="4912262" cy="335104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维生素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pp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的来源：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人体内可从色氨酸代谢产生，但量有限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牛奶、蛋肉，鱼，家禽；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全谷物，坚果类；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含蛋白质的食物 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465791" y="-43312"/>
            <a:ext cx="970443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维生素</a:t>
            </a:r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B6</a:t>
            </a:r>
            <a:r>
              <a:rPr lang="en-US" altLang="zh-CN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吡哆醇、吡哆</a:t>
            </a:r>
            <a:r>
              <a:rPr lang="zh-CN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醛、吡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哆胺</a:t>
            </a:r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338" name="内容占位符 2"/>
          <p:cNvSpPr>
            <a:spLocks noGrp="1"/>
          </p:cNvSpPr>
          <p:nvPr>
            <p:ph type="subTitle" idx="4294967295"/>
          </p:nvPr>
        </p:nvSpPr>
        <p:spPr>
          <a:xfrm>
            <a:off x="143934" y="1006378"/>
            <a:ext cx="11692466" cy="3200400"/>
          </a:xfr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marL="342900" indent="-342900" algn="l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辅酶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主要是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磷酸吡哆醛（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PLP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）和磷酸吡哆胺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，它们在体内参与氨基酸的</a:t>
            </a:r>
            <a:r>
              <a:rPr lang="zh-CN" altLang="zh-CN" sz="2400" b="1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转氨</a:t>
            </a:r>
            <a:r>
              <a:rPr lang="zh-CN" altLang="zh-CN" sz="24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、消旋、某些氨基酸的脱羧</a:t>
            </a:r>
            <a:r>
              <a:rPr lang="zh-CN" altLang="en-US" sz="24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 sz="24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半胱氨酸的脱巯基作用</a:t>
            </a:r>
            <a:r>
              <a:rPr lang="zh-CN" altLang="en-US" sz="24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以及糖原分解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。此外它还参与羟色胺、去甲肾上腺素、鞘磷脂以及血红素的合成。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缺乏症：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分布极广，同时，肠道细菌也能够合成它，因此在人类尚未发现单纯的维生素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缺乏病。动物缺乏维生素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可发生与癞皮病相似的皮炎。</a:t>
            </a:r>
          </a:p>
          <a:p>
            <a:pPr marL="342900" indent="-342900" algn="l">
              <a:buClr>
                <a:srgbClr val="FF0000"/>
              </a:buClr>
            </a:pP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lum bright="-6000" contrast="-6000"/>
          </a:blip>
          <a:stretch>
            <a:fillRect/>
          </a:stretch>
        </p:blipFill>
        <p:spPr>
          <a:xfrm>
            <a:off x="-20784" y="4071287"/>
            <a:ext cx="12212783" cy="2207934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2117724" y="-39119"/>
            <a:ext cx="938501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维生素</a:t>
            </a:r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B5</a:t>
            </a:r>
            <a:r>
              <a:rPr lang="en-US" altLang="zh-CN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sz="3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泛酸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Pantothenic Acid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9972" y="957266"/>
            <a:ext cx="8650432" cy="5547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6291" y="843794"/>
            <a:ext cx="9581804" cy="6014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>
          <a:xfrm>
            <a:off x="1641044" y="33437"/>
            <a:ext cx="636103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sz="3200" b="1" dirty="0">
                <a:latin typeface="微软雅黑" pitchFamily="34" charset="-122"/>
                <a:ea typeface="微软雅黑" pitchFamily="34" charset="-122"/>
              </a:rPr>
              <a:t>辅酶形式：辅酶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3200" b="1" dirty="0">
                <a:latin typeface="微软雅黑" pitchFamily="34" charset="-122"/>
                <a:ea typeface="微软雅黑" pitchFamily="34" charset="-122"/>
              </a:rPr>
              <a:t>（ </a:t>
            </a:r>
            <a:r>
              <a:rPr lang="en-US" altLang="zh-CN" sz="3200" b="1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CoASH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3200" b="1" dirty="0">
                <a:latin typeface="微软雅黑" pitchFamily="34" charset="-122"/>
                <a:ea typeface="微软雅黑" pitchFamily="34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8286376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577" y="662564"/>
            <a:ext cx="6555970" cy="611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>
          <a:xfrm>
            <a:off x="2590577" y="-168433"/>
            <a:ext cx="6112571" cy="743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latin typeface="微软雅黑" pitchFamily="34" charset="-122"/>
                <a:ea typeface="微软雅黑" pitchFamily="34" charset="-122"/>
              </a:rPr>
              <a:t>辅酶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3200" b="1" dirty="0">
                <a:latin typeface="微软雅黑" pitchFamily="34" charset="-122"/>
                <a:ea typeface="微软雅黑" pitchFamily="34" charset="-122"/>
              </a:rPr>
              <a:t>（ </a:t>
            </a:r>
            <a:r>
              <a:rPr lang="en-US" altLang="zh-CN" sz="3200" b="1" dirty="0" err="1">
                <a:latin typeface="微软雅黑" pitchFamily="34" charset="-122"/>
                <a:ea typeface="微软雅黑" pitchFamily="34" charset="-122"/>
              </a:rPr>
              <a:t>CoASH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3200" b="1" dirty="0">
                <a:latin typeface="微软雅黑" pitchFamily="34" charset="-122"/>
                <a:ea typeface="微软雅黑" pitchFamily="34" charset="-122"/>
              </a:rPr>
              <a:t>） 是</a:t>
            </a:r>
            <a:r>
              <a:rPr lang="zh-CN" altLang="en-US" sz="32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酰基载体 </a:t>
            </a:r>
          </a:p>
        </p:txBody>
      </p:sp>
    </p:spTree>
    <p:extLst>
      <p:ext uri="{BB962C8B-B14F-4D97-AF65-F5344CB8AC3E}">
        <p14:creationId xmlns:p14="http://schemas.microsoft.com/office/powerpoint/2010/main" val="35294845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026" y="1306882"/>
            <a:ext cx="9642912" cy="50284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>
          <a:xfrm>
            <a:off x="210711" y="26906"/>
            <a:ext cx="1176692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微软雅黑" pitchFamily="34" charset="-122"/>
                <a:ea typeface="微软雅黑" pitchFamily="34" charset="-122"/>
              </a:rPr>
              <a:t>辅酶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3200" b="1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3200" b="1" dirty="0" err="1">
                <a:latin typeface="微软雅黑" pitchFamily="34" charset="-122"/>
                <a:ea typeface="微软雅黑" pitchFamily="34" charset="-122"/>
              </a:rPr>
              <a:t>CoASH</a:t>
            </a:r>
            <a:r>
              <a:rPr lang="en-US" altLang="zh-CN" sz="32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3200" b="1" dirty="0" smtClean="0">
                <a:latin typeface="微软雅黑" pitchFamily="34" charset="-122"/>
                <a:ea typeface="微软雅黑" pitchFamily="34" charset="-122"/>
              </a:rPr>
              <a:t>）作为</a:t>
            </a:r>
            <a:r>
              <a:rPr lang="zh-CN" altLang="en-US" sz="3200" b="1" dirty="0">
                <a:latin typeface="微软雅黑" pitchFamily="34" charset="-122"/>
                <a:ea typeface="微软雅黑" pitchFamily="34" charset="-122"/>
              </a:rPr>
              <a:t>酰基载体，在糖、 脂、氨基酸代谢中发挥重要作用。</a:t>
            </a:r>
          </a:p>
        </p:txBody>
      </p:sp>
    </p:spTree>
    <p:extLst>
      <p:ext uri="{BB962C8B-B14F-4D97-AF65-F5344CB8AC3E}">
        <p14:creationId xmlns:p14="http://schemas.microsoft.com/office/powerpoint/2010/main" val="2177962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889124" y="0"/>
            <a:ext cx="8108950" cy="8254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叶酸（</a:t>
            </a:r>
            <a:r>
              <a:rPr lang="en-US" altLang="zh-C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Folate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</a:p>
        </p:txBody>
      </p:sp>
      <p:sp>
        <p:nvSpPr>
          <p:cNvPr id="16386" name="内容占位符 2"/>
          <p:cNvSpPr>
            <a:spLocks noGrp="1"/>
          </p:cNvSpPr>
          <p:nvPr>
            <p:ph type="subTitle" idx="4294967295"/>
          </p:nvPr>
        </p:nvSpPr>
        <p:spPr>
          <a:xfrm>
            <a:off x="-50802" y="825419"/>
            <a:ext cx="12156211" cy="2362200"/>
          </a:xfr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marL="342900" indent="-342900" algn="l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辅酶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5,6,7,8-</a:t>
            </a:r>
            <a:r>
              <a:rPr lang="zh-CN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四氢叶酸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FH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THF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）。其作用是参与体内</a:t>
            </a:r>
            <a:r>
              <a:rPr lang="zh-CN" altLang="en-US" sz="24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zh-CN" sz="24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一碳单位</a:t>
            </a:r>
            <a:r>
              <a:rPr lang="zh-CN" altLang="en-US" sz="24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zh-CN" sz="24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的转移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，充当甲基、亚甲基、甲酰基、甲川基和亚胺甲基等基团的载体，在体内很多重要物质的合成中起重要作用。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缺乏症：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巨红细胞性贫血。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lum bright="-6000" contrast="-6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27538" y="1948358"/>
            <a:ext cx="7364462" cy="4909642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2041525" y="0"/>
            <a:ext cx="8108950" cy="8254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叶酸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21906" y="2248324"/>
            <a:ext cx="2126747" cy="11350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四氢叶酸转移的“一碳单位”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lum bright="-6000" contrast="-6000"/>
          </a:blip>
          <a:stretch>
            <a:fillRect/>
          </a:stretch>
        </p:blipFill>
        <p:spPr>
          <a:xfrm>
            <a:off x="3167829" y="1380490"/>
            <a:ext cx="8302812" cy="4901776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842558" y="-16252"/>
            <a:ext cx="810895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维生素</a:t>
            </a:r>
            <a:r>
              <a:rPr lang="en-US" altLang="zh-CN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H/B</a:t>
            </a:r>
            <a:r>
              <a:rPr lang="en-US" altLang="zh-CN" sz="3600" b="1" baseline="-25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</a:t>
            </a:r>
            <a:r>
              <a:rPr lang="en-US" altLang="zh-C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生物素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Biotin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</a:p>
        </p:txBody>
      </p:sp>
      <p:sp>
        <p:nvSpPr>
          <p:cNvPr id="18434" name="内容占位符 2"/>
          <p:cNvSpPr>
            <a:spLocks noGrp="1"/>
          </p:cNvSpPr>
          <p:nvPr>
            <p:ph type="subTitle" idx="4294967295"/>
          </p:nvPr>
        </p:nvSpPr>
        <p:spPr>
          <a:xfrm>
            <a:off x="127000" y="974526"/>
            <a:ext cx="11540067" cy="2184310"/>
          </a:xfr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marL="342900" indent="-342900" algn="l">
              <a:lnSpc>
                <a:spcPct val="13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辅酶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作为多种</a:t>
            </a:r>
            <a:r>
              <a:rPr lang="zh-CN" altLang="zh-CN" sz="24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羧化酶的辅酶参与</a:t>
            </a:r>
            <a:r>
              <a:rPr lang="en-US" altLang="zh-CN" sz="24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</a:t>
            </a:r>
            <a:r>
              <a:rPr lang="en-US" altLang="zh-CN" sz="2400" u="sng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zh-CN" sz="24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的固定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。在细胞内，生物素通过其戊酸侧链与羧化酶的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赖氨酸残基上的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ε-NH</a:t>
            </a:r>
            <a:r>
              <a:rPr lang="en-US" altLang="zh-CN" sz="2400" b="1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形成的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酰胺键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相连。</a:t>
            </a:r>
          </a:p>
          <a:p>
            <a:pPr marL="342900" indent="-342900" algn="l">
              <a:lnSpc>
                <a:spcPct val="13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动植物组织广泛存在，</a:t>
            </a:r>
            <a:r>
              <a:rPr lang="zh-CN" altLang="zh-CN" sz="24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肠道细菌也能合成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，一般不缺乏，但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长期吃生鸡蛋会导致缺乏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（含抗生物素蛋白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亲和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素</a:t>
            </a:r>
            <a:r>
              <a:rPr lang="zh-CN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3253" name="Picture 5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2155" y="3137139"/>
            <a:ext cx="9293979" cy="34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4847170" y="4493472"/>
            <a:ext cx="800219" cy="41819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生物素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255213" y="4493472"/>
            <a:ext cx="800219" cy="41819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赖氨酸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5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711325" y="-101600"/>
            <a:ext cx="8108950" cy="9069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硫辛酸</a:t>
            </a:r>
          </a:p>
        </p:txBody>
      </p:sp>
      <p:sp>
        <p:nvSpPr>
          <p:cNvPr id="19458" name="内容占位符 2"/>
          <p:cNvSpPr>
            <a:spLocks noGrp="1"/>
          </p:cNvSpPr>
          <p:nvPr>
            <p:ph type="subTitle" idx="4294967295"/>
          </p:nvPr>
        </p:nvSpPr>
        <p:spPr>
          <a:xfrm>
            <a:off x="0" y="1202265"/>
            <a:ext cx="5548418" cy="5173133"/>
          </a:xfr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marL="342900" indent="-342900" algn="l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硫辛酸的本质为</a:t>
            </a:r>
            <a:r>
              <a:rPr lang="zh-CN" altLang="zh-CN" sz="24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含有</a:t>
            </a:r>
            <a:r>
              <a:rPr lang="en-US" altLang="zh-CN" sz="24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zh-CN" sz="24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个硫原子的辛酸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，有氧化型和还原型两种形式，在细胞内通过其羧基与硫辛酸转乙酰基酶的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赖氨酸残基上的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ε-NH</a:t>
            </a:r>
            <a:r>
              <a:rPr lang="en-US" altLang="zh-CN" sz="2400" b="1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形成的酰胺键相连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，作为脂酰基的载体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参与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α-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酮酸的氧化脱羧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硫辛酸的主要来源为肝和酵母，人类还没有发现与硫辛酸相关的缺乏病。</a:t>
            </a:r>
          </a:p>
          <a:p>
            <a:pPr marL="342900" indent="-342900" algn="l">
              <a:buClr>
                <a:srgbClr val="FF0000"/>
              </a:buClr>
            </a:pP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9459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2400" y="1870364"/>
            <a:ext cx="6529600" cy="375933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528128" y="22007"/>
            <a:ext cx="8108950" cy="8254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维生素</a:t>
            </a:r>
            <a:r>
              <a:rPr lang="en-US" altLang="zh-CN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B12——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钴胺素</a:t>
            </a:r>
            <a:endParaRPr lang="en-US" altLang="zh-CN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246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7666" y="3109190"/>
            <a:ext cx="6799049" cy="3726803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5518574" y="3429000"/>
            <a:ext cx="911860" cy="45890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钴胺素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467003" y="4793876"/>
            <a:ext cx="1548130" cy="45890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甲基钴胺素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740776" y="6120130"/>
            <a:ext cx="17926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脱氧腺苷钴胺素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24932" y="866140"/>
            <a:ext cx="10490201" cy="23083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两种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活性形式：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甲基钴胺素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，参与转甲基反应和叶酸代谢，B12和叶酸相互依赖进行激活，B12去除甲基以激活叶酸辅酶，二叶酸可提供甲基激活B12；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脱氧腺苷钴胺素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，作为几种变位酶的辅基，比如甲基天冬氨酸变位酶。</a:t>
            </a:r>
          </a:p>
        </p:txBody>
      </p:sp>
    </p:spTree>
  </p:cSld>
  <p:clrMapOvr>
    <a:masterClrMapping/>
  </p:clrMapOvr>
  <p:transition>
    <p:rand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457325" y="0"/>
            <a:ext cx="8108950" cy="8254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维生素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B12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09155" y="1987762"/>
            <a:ext cx="11492345" cy="26776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缺乏症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：由细菌，古细菌合成，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少见植物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，可存</a:t>
            </a:r>
            <a:r>
              <a:rPr lang="zh-CN" altLang="en-US" sz="2800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动物性食品（比如肝脏）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；人体需求极少，一般不会缺乏；但</a:t>
            </a:r>
            <a:r>
              <a:rPr lang="zh-CN" altLang="en-US" sz="2800" b="1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极端素食主义者或胃病患者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，可能会出现缺乏症，比如恶性贫血和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神经系统受损。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398058" y="-63076"/>
            <a:ext cx="8108950" cy="8254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维生素C</a:t>
            </a:r>
          </a:p>
        </p:txBody>
      </p:sp>
      <p:sp>
        <p:nvSpPr>
          <p:cNvPr id="22530" name="Rectangle 3"/>
          <p:cNvSpPr>
            <a:spLocks noGrp="1"/>
          </p:cNvSpPr>
          <p:nvPr>
            <p:ph type="subTitle" idx="4294967295"/>
          </p:nvPr>
        </p:nvSpPr>
        <p:spPr>
          <a:xfrm>
            <a:off x="321733" y="906992"/>
            <a:ext cx="10795000" cy="4114800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eaLnBrk="1" hangingPunct="1">
              <a:lnSpc>
                <a:spcPct val="150000"/>
              </a:lnSpc>
              <a:buClr>
                <a:srgbClr val="000000"/>
              </a:buClr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又名</a:t>
            </a:r>
            <a:r>
              <a:rPr lang="zh-CN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抗坏血酸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是含有内酯结构的酸性多羟基化合物，其分子中第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位和第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位碳原子上的两个烯醇式羟基极易解离质子，因而其水溶液有较强的酸性。此外，维生素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可脱氢而被氧化成氧化型维生素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，此反应是可逆的。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Clr>
                <a:srgbClr val="000000"/>
              </a:buClr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辅酶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羟化酶的辅酶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Clr>
                <a:srgbClr val="000000"/>
              </a:buClr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许多动物（比如大鼠、小鼠）可以以葡萄糖为前体合成，但灵长类不可以。</a:t>
            </a:r>
          </a:p>
          <a:p>
            <a:pPr algn="l" eaLnBrk="1" hangingPunct="1">
              <a:lnSpc>
                <a:spcPct val="150000"/>
              </a:lnSpc>
              <a:buClr>
                <a:srgbClr val="000000"/>
              </a:buClr>
              <a:buSzTx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缺乏症：坏血病</a:t>
            </a:r>
          </a:p>
        </p:txBody>
      </p:sp>
      <p:pic>
        <p:nvPicPr>
          <p:cNvPr id="7168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9093" y="4073238"/>
            <a:ext cx="7090808" cy="2425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668992" y="0"/>
            <a:ext cx="8108950" cy="8254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维生素C</a:t>
            </a:r>
          </a:p>
        </p:txBody>
      </p:sp>
      <p:sp>
        <p:nvSpPr>
          <p:cNvPr id="25602" name="内容占位符 2"/>
          <p:cNvSpPr>
            <a:spLocks noGrp="1"/>
          </p:cNvSpPr>
          <p:nvPr>
            <p:ph type="subTitle" idx="4294967295"/>
          </p:nvPr>
        </p:nvSpPr>
        <p:spPr>
          <a:xfrm>
            <a:off x="2726266" y="1007005"/>
            <a:ext cx="10049933" cy="4419600"/>
          </a:xfr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marL="342900" indent="-342900" algn="l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参与体内的</a:t>
            </a:r>
            <a:r>
              <a:rPr lang="zh-CN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羟基化反应</a:t>
            </a:r>
          </a:p>
          <a:p>
            <a:pPr marL="800100" lvl="1" indent="-342900" algn="l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胶原的合成</a:t>
            </a:r>
          </a:p>
          <a:p>
            <a:pPr marL="800100" lvl="1" indent="-342900" algn="l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胆酸的形成</a:t>
            </a:r>
          </a:p>
          <a:p>
            <a:pPr marL="800100" lvl="1" indent="-342900" algn="l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酪氨酸的降解 </a:t>
            </a:r>
          </a:p>
          <a:p>
            <a:pPr marL="800100" lvl="1" indent="-342900" algn="l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有机药物或毒物的羟基化</a:t>
            </a:r>
          </a:p>
          <a:p>
            <a:pPr marL="800100" lvl="1" indent="-342900" algn="l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肾上腺素的合成</a:t>
            </a:r>
          </a:p>
          <a:p>
            <a:pPr marL="342900" indent="-342900" algn="l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zh-CN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抗氧化作用</a:t>
            </a:r>
          </a:p>
          <a:p>
            <a:pPr marL="800100" lvl="1" indent="-342900" algn="l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保护水溶性化合物巯基和使巯基再生</a:t>
            </a:r>
          </a:p>
          <a:p>
            <a:pPr marL="800100" lvl="1" indent="-342900" algn="l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防止铁的氧化、促进铁的吸收　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　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grayscl/>
            <a:lum bright="78000" contrast="-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53595" cy="6913880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1458595" y="2236035"/>
            <a:ext cx="9144000" cy="1809759"/>
            <a:chOff x="170694" y="178257"/>
            <a:chExt cx="3936004" cy="779005"/>
          </a:xfrm>
        </p:grpSpPr>
        <p:sp>
          <p:nvSpPr>
            <p:cNvPr id="17" name="矩形 16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rgbClr val="C4C7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solidFill>
                  <a:srgbClr val="4CA6C6"/>
                </a:solidFill>
              </a:endParaRPr>
            </a:p>
          </p:txBody>
        </p:sp>
        <p:sp>
          <p:nvSpPr>
            <p:cNvPr id="18" name="平行四边形 17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3381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573038" y="334330"/>
              <a:ext cx="1338788" cy="466581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en-US" altLang="zh-CN" sz="6600" dirty="0" smtClean="0">
                  <a:solidFill>
                    <a:schemeClr val="bg1">
                      <a:lumMod val="95000"/>
                    </a:schemeClr>
                  </a:solidFill>
                  <a:latin typeface="Impact" panose="020B0806030902050204" pitchFamily="34" charset="0"/>
                </a:rPr>
                <a:t>7.3</a:t>
              </a:r>
              <a:endParaRPr lang="en-US" altLang="zh-CN" sz="6600" dirty="0">
                <a:solidFill>
                  <a:schemeClr val="bg1">
                    <a:lumMod val="95000"/>
                  </a:schemeClr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20" name="TextBox 48"/>
          <p:cNvSpPr txBox="1"/>
          <p:nvPr/>
        </p:nvSpPr>
        <p:spPr>
          <a:xfrm>
            <a:off x="4965065" y="2737486"/>
            <a:ext cx="6250940" cy="807085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脂溶性维生素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508125" y="-29867"/>
            <a:ext cx="8108950" cy="8254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维生素</a:t>
            </a: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94733" y="877561"/>
            <a:ext cx="10975493" cy="127727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维生素A，只存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在动物性食品中；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植物中存在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维生素A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前体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β-胡萝卜素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，可以在肠和肝中分解形成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维生素A（视黄醇，醛，酸）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的活性形式。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lum bright="-6000" contrast="-6000"/>
          </a:blip>
          <a:stretch>
            <a:fillRect/>
          </a:stretch>
        </p:blipFill>
        <p:spPr>
          <a:xfrm>
            <a:off x="4489643" y="1823974"/>
            <a:ext cx="7463366" cy="5034026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395148" y="-51341"/>
            <a:ext cx="8108950" cy="8254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维生素</a:t>
            </a: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</a:p>
        </p:txBody>
      </p:sp>
      <p:sp>
        <p:nvSpPr>
          <p:cNvPr id="29698" name="内容占位符 2"/>
          <p:cNvSpPr>
            <a:spLocks noGrp="1"/>
          </p:cNvSpPr>
          <p:nvPr>
            <p:ph type="subTitle" idx="4294967295"/>
          </p:nvPr>
        </p:nvSpPr>
        <p:spPr>
          <a:xfrm>
            <a:off x="1638035" y="1897338"/>
            <a:ext cx="7866063" cy="4267200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marL="800100" lvl="1" indent="-342900" algn="l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视黄醇和视黄酸作为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脂溶性激素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促进生长与发育、及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维持上皮结构的完整与健全（干燥症）；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视黄醛构成视网膜的感光物质，作为视蛋白的辅基参与视觉的形成。缺乏它可导致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夜盲症；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l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铁的转运；</a:t>
            </a:r>
          </a:p>
          <a:p>
            <a:pPr marL="800100" lvl="1" indent="-342900" algn="l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抗氧化作用。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137978" y="1234784"/>
            <a:ext cx="7366119" cy="662554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 hangingPunct="1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</a:pPr>
            <a:r>
              <a:rPr lang="zh-CN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生理功能由视黄醇、视黄醛和视黄酸来完成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</a:p>
        </p:txBody>
      </p:sp>
    </p:spTree>
  </p:cSld>
  <p:clrMapOvr>
    <a:masterClrMapping/>
  </p:clrMapOvr>
  <p:transition>
    <p:rand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0880" y="3415666"/>
            <a:ext cx="8524240" cy="2324735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1381760" y="0"/>
            <a:ext cx="8108950" cy="8254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维生素</a:t>
            </a: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</a:t>
            </a:r>
          </a:p>
        </p:txBody>
      </p:sp>
      <p:sp>
        <p:nvSpPr>
          <p:cNvPr id="30722" name="内容占位符 2"/>
          <p:cNvSpPr>
            <a:spLocks noGrp="1"/>
          </p:cNvSpPr>
          <p:nvPr>
            <p:ph type="subTitle" idx="4294967295"/>
          </p:nvPr>
        </p:nvSpPr>
        <p:spPr>
          <a:xfrm>
            <a:off x="143933" y="982980"/>
            <a:ext cx="11904133" cy="5029200"/>
          </a:xfr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marL="342900" indent="-342900" algn="l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属于</a:t>
            </a:r>
            <a:r>
              <a:rPr lang="zh-CN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固醇类衍生物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，人体内维生素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主要是由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7-</a:t>
            </a:r>
            <a:r>
              <a:rPr lang="zh-CN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脱氢胆固醇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经紫外线照射而转变，称为维生素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</a:t>
            </a:r>
            <a:r>
              <a:rPr lang="en-US" altLang="zh-CN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或胆钙化醇。植物中的</a:t>
            </a:r>
            <a:r>
              <a:rPr lang="zh-CN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麦角固醇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经紫外线照射后可产生维生素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</a:t>
            </a:r>
            <a:r>
              <a:rPr lang="en-US" altLang="zh-CN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或钙化醇。</a:t>
            </a:r>
          </a:p>
        </p:txBody>
      </p:sp>
      <p:sp>
        <p:nvSpPr>
          <p:cNvPr id="28678" name="文本框 804870"/>
          <p:cNvSpPr txBox="1"/>
          <p:nvPr/>
        </p:nvSpPr>
        <p:spPr>
          <a:xfrm>
            <a:off x="6948170" y="6155055"/>
            <a:ext cx="1219200" cy="39878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lvl="0" algn="ctr">
              <a:spcBef>
                <a:spcPct val="50000"/>
              </a:spcBef>
              <a:buClrTx/>
              <a:buSzTx/>
              <a:buFontTx/>
            </a:pP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H重排</a:t>
            </a:r>
          </a:p>
        </p:txBody>
      </p:sp>
      <p:sp>
        <p:nvSpPr>
          <p:cNvPr id="3" name="文本框 804868"/>
          <p:cNvSpPr txBox="1"/>
          <p:nvPr/>
        </p:nvSpPr>
        <p:spPr>
          <a:xfrm>
            <a:off x="4674235" y="2891791"/>
            <a:ext cx="1524000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环开环</a:t>
            </a:r>
          </a:p>
        </p:txBody>
      </p:sp>
      <p:sp>
        <p:nvSpPr>
          <p:cNvPr id="4" name="直接连接符 804869"/>
          <p:cNvSpPr/>
          <p:nvPr/>
        </p:nvSpPr>
        <p:spPr>
          <a:xfrm>
            <a:off x="5207635" y="3307715"/>
            <a:ext cx="457200" cy="762000"/>
          </a:xfrm>
          <a:prstGeom prst="line">
            <a:avLst/>
          </a:prstGeom>
          <a:ln w="28575" cap="flat" cmpd="sng">
            <a:solidFill>
              <a:srgbClr val="FF0101"/>
            </a:solidFill>
            <a:prstDash val="dash"/>
            <a:round/>
            <a:headEnd type="none" w="med" len="med"/>
            <a:tailEnd type="triangle" w="med" len="med"/>
          </a:ln>
        </p:spPr>
      </p:sp>
      <p:sp>
        <p:nvSpPr>
          <p:cNvPr id="6" name="直接连接符 804871"/>
          <p:cNvSpPr/>
          <p:nvPr/>
        </p:nvSpPr>
        <p:spPr>
          <a:xfrm flipV="1">
            <a:off x="7351395" y="4434840"/>
            <a:ext cx="980440" cy="1577340"/>
          </a:xfrm>
          <a:prstGeom prst="line">
            <a:avLst/>
          </a:prstGeom>
          <a:ln w="28575" cap="flat" cmpd="sng">
            <a:solidFill>
              <a:srgbClr val="FF0101"/>
            </a:solidFill>
            <a:prstDash val="dash"/>
            <a:round/>
            <a:headEnd type="none" w="med" len="med"/>
            <a:tailEnd type="triangle" w="med" len="med"/>
          </a:ln>
        </p:spPr>
      </p:sp>
      <p:sp>
        <p:nvSpPr>
          <p:cNvPr id="28681" name="直接连接符 804873"/>
          <p:cNvSpPr/>
          <p:nvPr/>
        </p:nvSpPr>
        <p:spPr>
          <a:xfrm rot="1920000" flipV="1">
            <a:off x="8342630" y="5072381"/>
            <a:ext cx="198120" cy="1299845"/>
          </a:xfrm>
          <a:prstGeom prst="line">
            <a:avLst/>
          </a:prstGeom>
          <a:ln w="28575" cap="flat" cmpd="sng">
            <a:solidFill>
              <a:srgbClr val="FF0101"/>
            </a:solidFill>
            <a:prstDash val="dash"/>
            <a:round/>
            <a:headEnd type="none" w="med" len="med"/>
            <a:tailEnd type="triangle" w="med" len="med"/>
          </a:ln>
        </p:spPr>
      </p:sp>
      <p:sp>
        <p:nvSpPr>
          <p:cNvPr id="9" name="文本框 8"/>
          <p:cNvSpPr txBox="1"/>
          <p:nvPr/>
        </p:nvSpPr>
        <p:spPr>
          <a:xfrm>
            <a:off x="2318386" y="4943475"/>
            <a:ext cx="4209807" cy="458908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7-</a:t>
            </a:r>
            <a:r>
              <a:rPr lang="zh-CN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脱氢胆固醇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       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前维生素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D3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9308466" y="4940301"/>
            <a:ext cx="1202573" cy="8803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维生素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D3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</p:spTree>
  </p:cSld>
  <p:clrMapOvr>
    <a:masterClrMapping/>
  </p:clrMapOvr>
  <p:transition>
    <p:rand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635125" y="-8034"/>
            <a:ext cx="8108950" cy="8254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维生素</a:t>
            </a: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</a:t>
            </a:r>
          </a:p>
        </p:txBody>
      </p:sp>
      <p:pic>
        <p:nvPicPr>
          <p:cNvPr id="31748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764" y="1581574"/>
            <a:ext cx="1693969" cy="45229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750" name="AutoShape 11"/>
          <p:cNvSpPr/>
          <p:nvPr/>
        </p:nvSpPr>
        <p:spPr>
          <a:xfrm rot="1923593">
            <a:off x="3071088" y="3075976"/>
            <a:ext cx="1953096" cy="1062643"/>
          </a:xfrm>
          <a:prstGeom prst="wedgeEllipseCallout">
            <a:avLst>
              <a:gd name="adj1" fmla="val -44736"/>
              <a:gd name="adj2" fmla="val 66667"/>
            </a:avLst>
          </a:prstGeom>
          <a:solidFill>
            <a:srgbClr val="99CCFF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/>
          <a:lstStyle/>
          <a:p>
            <a:pPr algn="ctr"/>
            <a:r>
              <a:rPr lang="zh-CN" altLang="en-US" sz="2000" dirty="0">
                <a:latin typeface="Arial" panose="020B0604020202020204" pitchFamily="34" charset="0"/>
              </a:rPr>
              <a:t>佝偻病患者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157283" y="1477665"/>
            <a:ext cx="6212839" cy="45243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维生素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在体内与甲状旁腺素协同作用，促进小肠对食物中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钙和磷的吸收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，维持血中钙和磷的正常含量，促进骨和齿的钙化作用。</a:t>
            </a:r>
          </a:p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维生素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具有抗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佝偻病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作用，故又名抗佝偻病维生素。</a:t>
            </a:r>
          </a:p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来源：动物性食品，牛奶、黄油、蛋黄、肝脏、鲑鱼等。</a:t>
            </a:r>
          </a:p>
        </p:txBody>
      </p:sp>
    </p:spTree>
  </p:cSld>
  <p:clrMapOvr>
    <a:masterClrMapping/>
  </p:clrMapOvr>
  <p:transition>
    <p:rand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516591" y="0"/>
            <a:ext cx="8108950" cy="8254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sz="3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维生素</a:t>
            </a:r>
            <a:r>
              <a:rPr lang="en-US" sz="3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</a:t>
            </a:r>
            <a:r>
              <a:rPr lang="en-US" altLang="zh-CN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生育酚</a:t>
            </a:r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23835" y="3036419"/>
            <a:ext cx="8544330" cy="367610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0" y="835810"/>
            <a:ext cx="1219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zh-CN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又称为</a:t>
            </a:r>
            <a:r>
              <a:rPr lang="zh-CN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生育酚</a:t>
            </a:r>
            <a:r>
              <a:rPr lang="zh-CN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，有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α</a:t>
            </a:r>
            <a:r>
              <a:rPr lang="zh-CN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β</a:t>
            </a:r>
            <a:r>
              <a:rPr lang="zh-CN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γ</a:t>
            </a:r>
            <a:r>
              <a:rPr lang="zh-CN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δ</a:t>
            </a:r>
            <a:r>
              <a:rPr lang="zh-CN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四种，其中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α-</a:t>
            </a:r>
            <a:r>
              <a:rPr lang="zh-CN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生育酚的生理效用最强。它们都是苯骈二氢吡喃的衍生物。</a:t>
            </a:r>
          </a:p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zh-CN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维生素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E一般不易缺乏，妊娠及哺乳期需要量略增。</a:t>
            </a:r>
          </a:p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以麦胚油、大豆油、玉米油和葵花籽油中含量最为丰富，豆类及蔬菜中也含量较多。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618192" y="0"/>
            <a:ext cx="8108950" cy="8254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维生素</a:t>
            </a: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54106" y="837196"/>
            <a:ext cx="11830521" cy="238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是人和动物中，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最有效的</a:t>
            </a:r>
            <a:r>
              <a:rPr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抗氧化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和自由基清除剂</a:t>
            </a:r>
            <a:r>
              <a:rPr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可</a:t>
            </a:r>
            <a:r>
              <a:rPr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防止脂类或脂溶性物质氧化、保护细胞膜免受氧化损伤以及维护红细胞的完整。</a:t>
            </a:r>
          </a:p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维生素E与动物的生殖功能有关，动物缺乏维生素E时，其生殖器官受损而不育。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34818" name="图片 811010" descr="11生育酚的抗氧化作用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18192" y="2649681"/>
            <a:ext cx="8395191" cy="3740844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499658" y="0"/>
            <a:ext cx="8108950" cy="8254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sz="3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维生素</a:t>
            </a:r>
            <a:r>
              <a:rPr lang="en-US" sz="3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</a:t>
            </a:r>
            <a:r>
              <a:rPr lang="en-US" altLang="zh-CN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凝血维生素</a:t>
            </a:r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1030894"/>
            <a:ext cx="1204306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2-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甲基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1,4-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萘醌的衍生物，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其中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存于绿叶植物中的是维生素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，肠道细菌合成的是维生素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2400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</a:p>
          <a:p>
            <a:pPr marL="285750" indent="-28575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一般情况下人体不会缺乏维生素K，因为维生素K在蔬菜中含量丰富，人和哺乳动物肠道中的大肠杆菌也可以合成维生素K。</a:t>
            </a:r>
          </a:p>
          <a:p>
            <a:pPr>
              <a:lnSpc>
                <a:spcPct val="150000"/>
              </a:lnSpc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Picture 8"/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647103" y="3240296"/>
            <a:ext cx="5814060" cy="33940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448858" y="0"/>
            <a:ext cx="8108950" cy="8254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维生素</a:t>
            </a: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0" y="979649"/>
            <a:ext cx="1219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维生素K在体内主要作为依赖于维生素K的</a:t>
            </a:r>
            <a:r>
              <a:rPr sz="2400" b="1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羧化酶</a:t>
            </a:r>
            <a:r>
              <a:rPr sz="2400" b="1" u="sng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</a:t>
            </a:r>
            <a:r>
              <a:rPr sz="2400" b="1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辅酶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参与</a:t>
            </a: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某些蛋白质的后加工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，使这些蛋白质分子上的特定</a:t>
            </a: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谷氨酸残基经历γ-羧基化修饰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最终激活它们的活性。</a:t>
            </a:r>
          </a:p>
          <a:p>
            <a:pPr marL="285750" indent="-28575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需要进行γ-羧基化修饰的蛋白质有凝血因子II、VII、IX和X以及骨钙蛋白。其中凝血因子与凝血酶能够促进血液凝固，因此维生素K又名为</a:t>
            </a:r>
            <a:r>
              <a:rPr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凝血维生素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lum bright="-6000" contrast="-6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3371101"/>
            <a:ext cx="12192000" cy="2873105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grayscl/>
            <a:lum bright="78000" contrast="-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5880"/>
            <a:ext cx="12253595" cy="6913880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1458595" y="2236035"/>
            <a:ext cx="9144000" cy="1809759"/>
            <a:chOff x="170694" y="178257"/>
            <a:chExt cx="3936004" cy="779005"/>
          </a:xfrm>
        </p:grpSpPr>
        <p:sp>
          <p:nvSpPr>
            <p:cNvPr id="17" name="矩形 16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rgbClr val="C4C7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solidFill>
                  <a:srgbClr val="4CA6C6"/>
                </a:solidFill>
              </a:endParaRPr>
            </a:p>
          </p:txBody>
        </p:sp>
        <p:sp>
          <p:nvSpPr>
            <p:cNvPr id="18" name="平行四边形 17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3381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569211" y="334330"/>
              <a:ext cx="1338788" cy="466581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en-US" altLang="zh-CN" sz="6600" dirty="0" smtClean="0">
                  <a:solidFill>
                    <a:schemeClr val="bg1">
                      <a:lumMod val="95000"/>
                    </a:schemeClr>
                  </a:solidFill>
                  <a:latin typeface="Impact" panose="020B0806030902050204" pitchFamily="34" charset="0"/>
                </a:rPr>
                <a:t>7.4</a:t>
              </a:r>
              <a:endParaRPr lang="en-US" altLang="zh-CN" sz="6600" dirty="0">
                <a:solidFill>
                  <a:schemeClr val="bg1">
                    <a:lumMod val="95000"/>
                  </a:schemeClr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20" name="TextBox 48"/>
          <p:cNvSpPr txBox="1"/>
          <p:nvPr/>
        </p:nvSpPr>
        <p:spPr>
          <a:xfrm>
            <a:off x="4965065" y="2737486"/>
            <a:ext cx="6250940" cy="807085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作为辅酶的金属离子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3120" y="1624938"/>
            <a:ext cx="12118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许多酶需要金属离子作为辅因子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可以依据金属结合的强度把这些酶再分成</a:t>
            </a: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金属酶类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金属激活酶类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前者金属与酶结合紧密；后者金属与酶结合松散，酶因结合金属而激活。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发现最多的是</a:t>
            </a: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铁金属酶类、铜金属酶类和锌金属酶类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。锌完全以Zn</a:t>
            </a:r>
            <a:r>
              <a:rPr sz="2400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en-US" sz="2400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离子存在，因此和铜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Cu</a:t>
            </a:r>
            <a:r>
              <a:rPr lang="en-US" altLang="zh-CN" sz="2400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2+</a:t>
            </a:r>
            <a:r>
              <a:rPr lang="zh-CN" altLang="en-US" sz="2400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Cu</a:t>
            </a:r>
            <a:r>
              <a:rPr lang="en-US" altLang="zh-CN" sz="2400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、铁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Fe</a:t>
            </a:r>
            <a:r>
              <a:rPr lang="en-US" altLang="zh-CN" sz="2400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2+</a:t>
            </a:r>
            <a:r>
              <a:rPr lang="zh-CN" altLang="en-US" sz="2400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Fe</a:t>
            </a:r>
            <a:r>
              <a:rPr lang="en-US" altLang="zh-CN" sz="2400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3+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不同，没有氧化还原能力。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735070" y="0"/>
            <a:ext cx="4339650" cy="83490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作为辅酶的金属离子</a:t>
            </a:r>
            <a:endParaRPr lang="zh-CN" alt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>
    <p:random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hjM2ZjMTJkMmM5NTY5MDdmNTAzZTk3NmY5ZjUzY2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5887.500787401575,&quot;width&quot;:9960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7872,&quot;width&quot;:1263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4940,&quot;width&quot;:13200}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 2013 - 2022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591</TotalTime>
  <Words>1612</Words>
  <Application>Microsoft Office PowerPoint</Application>
  <PresentationFormat>自定义</PresentationFormat>
  <Paragraphs>144</Paragraphs>
  <Slides>45</Slides>
  <Notes>6</Notes>
  <HiddenSlides>0</HiddenSlides>
  <MMClips>0</MMClips>
  <ScaleCrop>false</ScaleCrop>
  <HeadingPairs>
    <vt:vector size="4" baseType="variant">
      <vt:variant>
        <vt:lpstr>主题</vt:lpstr>
      </vt:variant>
      <vt:variant>
        <vt:i4>3</vt:i4>
      </vt:variant>
      <vt:variant>
        <vt:lpstr>幻灯片标题</vt:lpstr>
      </vt:variant>
      <vt:variant>
        <vt:i4>45</vt:i4>
      </vt:variant>
    </vt:vector>
  </HeadingPairs>
  <TitlesOfParts>
    <vt:vector size="48" baseType="lpstr">
      <vt:lpstr>Office 主题​​</vt:lpstr>
      <vt:lpstr>2_Office 主题​​</vt:lpstr>
      <vt:lpstr>3_Office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aging00</dc:creator>
  <cp:lastModifiedBy>lenovo</cp:lastModifiedBy>
  <cp:revision>746</cp:revision>
  <dcterms:created xsi:type="dcterms:W3CDTF">2021-04-13T08:56:00Z</dcterms:created>
  <dcterms:modified xsi:type="dcterms:W3CDTF">2023-11-24T14:38:00Z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57CBEB9832164ED789EE312EFDE435A9</vt:lpwstr>
  </property>
  <property fmtid="{D5CDD505-2E9C-101B-9397-08002B2CF9AE}" pid="3" name="KSOProductBuildVer">
    <vt:lpwstr>2052-11.1.0.11636</vt:lpwstr>
  </property>
</Properties>
</file>