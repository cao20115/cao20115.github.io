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notesMasterIdLst>
    <p:notesMasterId r:id="rId50"/>
  </p:notesMasterIdLst>
  <p:handoutMasterIdLst>
    <p:handoutMasterId r:id="rId51"/>
  </p:handoutMasterIdLst>
  <p:sldIdLst>
    <p:sldId id="1205" r:id="rId4"/>
    <p:sldId id="624" r:id="rId5"/>
    <p:sldId id="329" r:id="rId6"/>
    <p:sldId id="330" r:id="rId7"/>
    <p:sldId id="259" r:id="rId8"/>
    <p:sldId id="292" r:id="rId9"/>
    <p:sldId id="345" r:id="rId10"/>
    <p:sldId id="323" r:id="rId11"/>
    <p:sldId id="346" r:id="rId12"/>
    <p:sldId id="489" r:id="rId13"/>
    <p:sldId id="553" r:id="rId14"/>
    <p:sldId id="295" r:id="rId15"/>
    <p:sldId id="266" r:id="rId16"/>
    <p:sldId id="273" r:id="rId17"/>
    <p:sldId id="268" r:id="rId18"/>
    <p:sldId id="269" r:id="rId19"/>
    <p:sldId id="270" r:id="rId20"/>
    <p:sldId id="271" r:id="rId21"/>
    <p:sldId id="525" r:id="rId22"/>
    <p:sldId id="263" r:id="rId23"/>
    <p:sldId id="289" r:id="rId24"/>
    <p:sldId id="286" r:id="rId25"/>
    <p:sldId id="290" r:id="rId26"/>
    <p:sldId id="261" r:id="rId27"/>
    <p:sldId id="278" r:id="rId28"/>
    <p:sldId id="277" r:id="rId29"/>
    <p:sldId id="1255" r:id="rId30"/>
    <p:sldId id="367" r:id="rId31"/>
    <p:sldId id="430" r:id="rId32"/>
    <p:sldId id="415" r:id="rId33"/>
    <p:sldId id="1252" r:id="rId34"/>
    <p:sldId id="448" r:id="rId35"/>
    <p:sldId id="298" r:id="rId36"/>
    <p:sldId id="432" r:id="rId37"/>
    <p:sldId id="1254" r:id="rId38"/>
    <p:sldId id="417" r:id="rId39"/>
    <p:sldId id="433" r:id="rId40"/>
    <p:sldId id="299" r:id="rId41"/>
    <p:sldId id="306" r:id="rId42"/>
    <p:sldId id="634" r:id="rId43"/>
    <p:sldId id="633" r:id="rId44"/>
    <p:sldId id="311" r:id="rId45"/>
    <p:sldId id="284" r:id="rId46"/>
    <p:sldId id="314" r:id="rId47"/>
    <p:sldId id="310" r:id="rId48"/>
    <p:sldId id="285" r:id="rId49"/>
  </p:sldIdLst>
  <p:sldSz cx="12192000" cy="6858000"/>
  <p:notesSz cx="6858000" cy="9144000"/>
  <p:custDataLst>
    <p:tags r:id="rId5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6331" autoAdjust="0"/>
  </p:normalViewPr>
  <p:slideViewPr>
    <p:cSldViewPr snapToGrid="0">
      <p:cViewPr varScale="1">
        <p:scale>
          <a:sx n="107" d="100"/>
          <a:sy n="107" d="100"/>
        </p:scale>
        <p:origin x="1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dirty="0">
                <a:ea typeface="楷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kumimoji="0" lang="en-US" altLang="zh-CN" sz="1200" dirty="0">
                <a:ea typeface="楷体" panose="02010609060101010101" pitchFamily="49" charset="-122"/>
                <a:cs typeface="Times New Roman" panose="02020603050405020304" pitchFamily="18" charset="0"/>
              </a:rPr>
              <a:t>ΔG</a:t>
            </a:r>
            <a:r>
              <a:rPr kumimoji="0" lang="zh-CN" altLang="en-US" sz="1200" dirty="0">
                <a:ea typeface="楷体" panose="02010609060101010101" pitchFamily="49" charset="-122"/>
                <a:cs typeface="Times New Roman" panose="02020603050405020304" pitchFamily="18" charset="0"/>
              </a:rPr>
              <a:t>为一个非常大的负值，则表明此反应趋于完全，为不可逆反应。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72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ECA46-BC30-4E2D-9066-7EC604E6C6D8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AA249-39F6-4D87-AA7D-74E794C26A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3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30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microsoft.com/office/2007/relationships/hdphoto" Target="../media/hdphoto3.wdp"/><Relationship Id="rId5" Type="http://schemas.openxmlformats.org/officeDocument/2006/relationships/tags" Target="../tags/tag9.xml"/><Relationship Id="rId10" Type="http://schemas.openxmlformats.org/officeDocument/2006/relationships/image" Target="../media/image30.png"/><Relationship Id="rId4" Type="http://schemas.openxmlformats.org/officeDocument/2006/relationships/tags" Target="../tags/tag8.xml"/><Relationship Id="rId9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3"/>
          <a:srcRect l="8759"/>
          <a:stretch>
            <a:fillRect/>
          </a:stretch>
        </p:blipFill>
        <p:spPr>
          <a:xfrm>
            <a:off x="0" y="0"/>
            <a:ext cx="8264504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16179" y="2490281"/>
            <a:ext cx="340415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新陈代谢总论与生物能学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56954" y="11273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本章内容</a:t>
            </a:r>
          </a:p>
        </p:txBody>
      </p:sp>
      <p:sp>
        <p:nvSpPr>
          <p:cNvPr id="3" name="Rectangle 3"/>
          <p:cNvSpPr txBox="1"/>
          <p:nvPr/>
        </p:nvSpPr>
        <p:spPr>
          <a:xfrm>
            <a:off x="3925571" y="2534285"/>
            <a:ext cx="5682615" cy="378587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8.1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新陈代谢总论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8.2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生物能学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8.1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638800" y="280733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新陈代谢总论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88644" y="-131335"/>
            <a:ext cx="223651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2230" y="1551130"/>
            <a:ext cx="5274670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新陈代谢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metabolism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）：生物体内进行的所有化学反应总称。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17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828" y="958838"/>
            <a:ext cx="5011554" cy="589916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</p:pic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5</a:t>
            </a:fld>
            <a:endParaRPr lang="en-US" altLang="zh-CN" sz="1050" dirty="0"/>
          </a:p>
        </p:txBody>
      </p:sp>
      <p:sp>
        <p:nvSpPr>
          <p:cNvPr id="8" name="文本框 7"/>
          <p:cNvSpPr txBox="1"/>
          <p:nvPr/>
        </p:nvSpPr>
        <p:spPr>
          <a:xfrm>
            <a:off x="1" y="1020923"/>
            <a:ext cx="12017828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生物体将周围环境中摄取的能量和物质，转变成自身组成成分，即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同化作用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；是将小分子合成自身大分子物质的过程，因此又称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合成代谢（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anabolism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Comic Sans MS" panose="030F0702030302020204" charset="0"/>
            </a:endParaRPr>
          </a:p>
          <a:p>
            <a:pPr marL="285750" indent="-285750" algn="just">
              <a:spcBef>
                <a:spcPts val="1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将原有的组成成份，分解为简单分子重新利用或排出体外，同时释放能量，即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异化作用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，又称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分解代谢（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Catabolism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。</a:t>
            </a:r>
          </a:p>
        </p:txBody>
      </p:sp>
      <p:sp>
        <p:nvSpPr>
          <p:cNvPr id="9" name="文本框 160770"/>
          <p:cNvSpPr txBox="1">
            <a:spLocks noChangeArrowheads="1"/>
          </p:cNvSpPr>
          <p:nvPr/>
        </p:nvSpPr>
        <p:spPr bwMode="auto">
          <a:xfrm>
            <a:off x="3331372" y="2693176"/>
            <a:ext cx="4572000" cy="325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51" tIns="34274" rIns="68551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                                     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小分子</a:t>
            </a:r>
            <a:r>
              <a:rPr lang="zh-CN" altLang="en-US" sz="18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大分子</a:t>
            </a:r>
            <a:endParaRPr lang="zh-CN" altLang="en-US" sz="1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合成代谢（同化作用）</a:t>
            </a:r>
            <a:endParaRPr lang="zh-CN" altLang="en-US" sz="1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                                      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需要能量</a:t>
            </a:r>
            <a:endParaRPr lang="zh-CN" altLang="en-US" sz="1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                               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                                    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                                      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释放能量</a:t>
            </a:r>
            <a:endParaRPr lang="zh-CN" altLang="en-US" sz="1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分解代谢（异化作用）</a:t>
            </a:r>
            <a:endParaRPr lang="zh-CN" altLang="en-US" sz="1800" b="1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</a:rPr>
              <a:t>                                          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大分子       小分子</a:t>
            </a:r>
          </a:p>
        </p:txBody>
      </p:sp>
      <p:sp>
        <p:nvSpPr>
          <p:cNvPr id="10" name="直接连接符 160772"/>
          <p:cNvSpPr>
            <a:spLocks noChangeShapeType="1"/>
          </p:cNvSpPr>
          <p:nvPr/>
        </p:nvSpPr>
        <p:spPr bwMode="auto">
          <a:xfrm>
            <a:off x="6606702" y="5754335"/>
            <a:ext cx="342900" cy="0"/>
          </a:xfrm>
          <a:prstGeom prst="line">
            <a:avLst/>
          </a:prstGeom>
          <a:ln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350"/>
          </a:p>
        </p:txBody>
      </p:sp>
      <p:sp>
        <p:nvSpPr>
          <p:cNvPr id="11" name="左大括号 160774"/>
          <p:cNvSpPr/>
          <p:nvPr/>
        </p:nvSpPr>
        <p:spPr bwMode="auto">
          <a:xfrm>
            <a:off x="5617372" y="4918675"/>
            <a:ext cx="114300" cy="85725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5400">
              <a:latin typeface="Times New Roman" panose="02020603050405020304" pitchFamily="18" charset="0"/>
            </a:endParaRPr>
          </a:p>
        </p:txBody>
      </p:sp>
      <p:sp>
        <p:nvSpPr>
          <p:cNvPr id="12" name="文本框 160776"/>
          <p:cNvSpPr txBox="1">
            <a:spLocks noChangeArrowheads="1"/>
          </p:cNvSpPr>
          <p:nvPr/>
        </p:nvSpPr>
        <p:spPr bwMode="auto">
          <a:xfrm>
            <a:off x="8017672" y="3689950"/>
            <a:ext cx="411956" cy="1174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lIns="68551" tIns="34274" rIns="68551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物质代谢</a:t>
            </a:r>
            <a:endParaRPr lang="zh-CN" altLang="en-US" sz="1800" b="1" dirty="0">
              <a:latin typeface="Times New Roman" panose="02020603050405020304" pitchFamily="18" charset="0"/>
            </a:endParaRPr>
          </a:p>
        </p:txBody>
      </p:sp>
      <p:sp>
        <p:nvSpPr>
          <p:cNvPr id="13" name="文本框 160777"/>
          <p:cNvSpPr txBox="1">
            <a:spLocks noChangeArrowheads="1"/>
          </p:cNvSpPr>
          <p:nvPr/>
        </p:nvSpPr>
        <p:spPr bwMode="auto">
          <a:xfrm>
            <a:off x="7091366" y="3689950"/>
            <a:ext cx="411956" cy="1174750"/>
          </a:xfrm>
          <a:prstGeom prst="rect">
            <a:avLst/>
          </a:prstGeom>
          <a:solidFill>
            <a:srgbClr val="FDB1D9">
              <a:alpha val="50195"/>
            </a:srgbClr>
          </a:solidFill>
          <a:ln w="9525">
            <a:solidFill>
              <a:srgbClr val="000000"/>
            </a:solidFill>
            <a:miter lim="800000"/>
          </a:ln>
        </p:spPr>
        <p:txBody>
          <a:bodyPr lIns="68551" tIns="34274" rIns="68551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能量代谢</a:t>
            </a:r>
          </a:p>
        </p:txBody>
      </p:sp>
      <p:sp>
        <p:nvSpPr>
          <p:cNvPr id="14" name="右大括号 160778"/>
          <p:cNvSpPr/>
          <p:nvPr/>
        </p:nvSpPr>
        <p:spPr bwMode="auto">
          <a:xfrm>
            <a:off x="6817522" y="3718525"/>
            <a:ext cx="228600" cy="1143000"/>
          </a:xfrm>
          <a:prstGeom prst="rightBrace">
            <a:avLst>
              <a:gd name="adj1" fmla="val 41644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5400">
              <a:latin typeface="Times New Roman" panose="02020603050405020304" pitchFamily="18" charset="0"/>
            </a:endParaRPr>
          </a:p>
        </p:txBody>
      </p:sp>
      <p:sp>
        <p:nvSpPr>
          <p:cNvPr id="15" name="左大括号 160779"/>
          <p:cNvSpPr/>
          <p:nvPr/>
        </p:nvSpPr>
        <p:spPr bwMode="auto">
          <a:xfrm>
            <a:off x="3102772" y="3261325"/>
            <a:ext cx="228600" cy="2114550"/>
          </a:xfrm>
          <a:prstGeom prst="leftBrace">
            <a:avLst>
              <a:gd name="adj1" fmla="val 77041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5400">
              <a:latin typeface="Times New Roman" panose="02020603050405020304" pitchFamily="18" charset="0"/>
            </a:endParaRPr>
          </a:p>
        </p:txBody>
      </p:sp>
      <p:sp>
        <p:nvSpPr>
          <p:cNvPr id="16" name="文本框 160780"/>
          <p:cNvSpPr txBox="1">
            <a:spLocks noChangeArrowheads="1"/>
          </p:cNvSpPr>
          <p:nvPr/>
        </p:nvSpPr>
        <p:spPr bwMode="auto">
          <a:xfrm>
            <a:off x="2651922" y="3505165"/>
            <a:ext cx="411956" cy="1544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51" tIns="34274" rIns="68551" bIns="3427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新陈代谢</a:t>
            </a:r>
          </a:p>
        </p:txBody>
      </p:sp>
      <p:sp>
        <p:nvSpPr>
          <p:cNvPr id="18" name="左大括号 160773"/>
          <p:cNvSpPr/>
          <p:nvPr/>
        </p:nvSpPr>
        <p:spPr bwMode="auto">
          <a:xfrm>
            <a:off x="5617372" y="2861275"/>
            <a:ext cx="114300" cy="857250"/>
          </a:xfrm>
          <a:prstGeom prst="lef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5400">
              <a:latin typeface="Times New Roman" panose="02020603050405020304" pitchFamily="18" charset="0"/>
            </a:endParaRPr>
          </a:p>
        </p:txBody>
      </p:sp>
      <p:sp>
        <p:nvSpPr>
          <p:cNvPr id="19" name="右大括号 160775"/>
          <p:cNvSpPr/>
          <p:nvPr/>
        </p:nvSpPr>
        <p:spPr bwMode="auto">
          <a:xfrm>
            <a:off x="7604067" y="2918425"/>
            <a:ext cx="285750" cy="2686050"/>
          </a:xfrm>
          <a:prstGeom prst="rightBrace">
            <a:avLst>
              <a:gd name="adj1" fmla="val 7829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5400">
              <a:latin typeface="Times New Roman" panose="02020603050405020304" pitchFamily="18" charset="0"/>
            </a:endParaRPr>
          </a:p>
        </p:txBody>
      </p:sp>
      <p:sp>
        <p:nvSpPr>
          <p:cNvPr id="17" name="直接连接符 160772"/>
          <p:cNvSpPr>
            <a:spLocks noChangeShapeType="1"/>
          </p:cNvSpPr>
          <p:nvPr/>
        </p:nvSpPr>
        <p:spPr bwMode="auto">
          <a:xfrm>
            <a:off x="6544472" y="2883068"/>
            <a:ext cx="342900" cy="0"/>
          </a:xfrm>
          <a:prstGeom prst="line">
            <a:avLst/>
          </a:prstGeom>
          <a:ln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350"/>
          </a:p>
        </p:txBody>
      </p:sp>
      <p:sp>
        <p:nvSpPr>
          <p:cNvPr id="4" name="文本框 3"/>
          <p:cNvSpPr txBox="1"/>
          <p:nvPr/>
        </p:nvSpPr>
        <p:spPr>
          <a:xfrm>
            <a:off x="4220876" y="-52159"/>
            <a:ext cx="223651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</a:t>
            </a: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b="12643"/>
          <a:stretch>
            <a:fillRect/>
          </a:stretch>
        </p:blipFill>
        <p:spPr>
          <a:xfrm>
            <a:off x="2959100" y="0"/>
            <a:ext cx="5250180" cy="6846570"/>
          </a:xfrm>
          <a:prstGeom prst="rect">
            <a:avLst/>
          </a:prstGeom>
        </p:spPr>
      </p:pic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20771" y="2781936"/>
            <a:ext cx="367220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合成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FB8B4B9-C0D7-4368-2738-A6F01013CD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48187" y="261937"/>
            <a:ext cx="3095625" cy="574675"/>
          </a:xfrm>
          <a:solidFill>
            <a:srgbClr val="99CCFF"/>
          </a:solidFill>
        </p:spPr>
        <p:txBody>
          <a:bodyPr/>
          <a:lstStyle/>
          <a:p>
            <a:pPr eaLnBrk="1" hangingPunct="1"/>
            <a:r>
              <a:rPr lang="zh-CN" altLang="en-US" sz="3200" b="1">
                <a:latin typeface="楷体" panose="02010609060101010101" pitchFamily="49" charset="-122"/>
                <a:ea typeface="楷体" panose="02010609060101010101" pitchFamily="49" charset="-122"/>
              </a:rPr>
              <a:t>代谢的基本特征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FD0E5F3-1BE6-D643-F878-2C6F49232C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97202" y="1240517"/>
            <a:ext cx="10370684" cy="5015139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反应条件温和</a:t>
            </a:r>
          </a:p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高度调控</a:t>
            </a:r>
          </a:p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每一个代谢途径都是不可逆的，至少存在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限速步骤</a:t>
            </a:r>
          </a:p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一条代谢途径上的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酶以特定的方式组织在一起</a:t>
            </a:r>
          </a:p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各种生物在基本的代谢途径上是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高度保守的</a:t>
            </a:r>
          </a:p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代谢途径在细胞内特别在真核细胞是高度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分室化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</a:p>
          <a:p>
            <a:pPr marL="514350" indent="-514350">
              <a:buClr>
                <a:srgbClr val="FF0000"/>
              </a:buClr>
              <a:buFontTx/>
              <a:buAutoNum type="circleNumDbPlai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不同的生物使用不同的途径获取能量和碳源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ED6784C-8748-27F6-E0EE-D423779B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" panose="02020603050405020304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D46C30D-3B75-F9AB-211E-56D777C12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" panose="02020603050405020304" pitchFamily="18" charset="0"/>
            </a:endParaRPr>
          </a:p>
        </p:txBody>
      </p:sp>
      <p:sp>
        <p:nvSpPr>
          <p:cNvPr id="11268" name="Rectangle 9">
            <a:extLst>
              <a:ext uri="{FF2B5EF4-FFF2-40B4-BE49-F238E27FC236}">
                <a16:creationId xmlns:a16="http://schemas.microsoft.com/office/drawing/2014/main" id="{98E57AC9-07EB-EC8E-7729-4B9901CDE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042344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" panose="02020603050405020304" pitchFamily="18" charset="0"/>
            </a:endParaRPr>
          </a:p>
        </p:txBody>
      </p:sp>
      <p:sp>
        <p:nvSpPr>
          <p:cNvPr id="11269" name="Rectangle 10">
            <a:extLst>
              <a:ext uri="{FF2B5EF4-FFF2-40B4-BE49-F238E27FC236}">
                <a16:creationId xmlns:a16="http://schemas.microsoft.com/office/drawing/2014/main" id="{92E9E2F4-FEEC-6966-04A8-B828E6147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225" y="6165851"/>
            <a:ext cx="3506788" cy="3968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ea typeface="楷体" panose="02010609060101010101" pitchFamily="49" charset="-122"/>
                <a:cs typeface="Times New Roman" panose="02020603050405020304" pitchFamily="18" charset="0"/>
              </a:rPr>
              <a:t>代谢途径中酶的三种组织方式</a:t>
            </a:r>
            <a:endParaRPr lang="zh-CN" altLang="en-US" sz="200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270" name="Picture 8" descr="18-2">
            <a:extLst>
              <a:ext uri="{FF2B5EF4-FFF2-40B4-BE49-F238E27FC236}">
                <a16:creationId xmlns:a16="http://schemas.microsoft.com/office/drawing/2014/main" id="{6310B366-0A4B-185B-6421-7997C2677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689" y="88086"/>
            <a:ext cx="6377534" cy="5934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EB3501E0-7DC3-B80C-13E6-E18227792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593" y="55305"/>
            <a:ext cx="3770811" cy="58477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代谢途径的分室化</a:t>
            </a:r>
            <a:endParaRPr lang="zh-CN" altLang="en-US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339" name="Picture 26">
            <a:extLst>
              <a:ext uri="{FF2B5EF4-FFF2-40B4-BE49-F238E27FC236}">
                <a16:creationId xmlns:a16="http://schemas.microsoft.com/office/drawing/2014/main" id="{F6D66EE4-4DC4-BC71-2222-9427A8603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2" y="683623"/>
            <a:ext cx="12117275" cy="4139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FE3727A-03F1-6408-9D43-DA7A5CD99754}"/>
              </a:ext>
            </a:extLst>
          </p:cNvPr>
          <p:cNvSpPr/>
          <p:nvPr/>
        </p:nvSpPr>
        <p:spPr>
          <a:xfrm>
            <a:off x="2433583" y="4711748"/>
            <a:ext cx="5329771" cy="1689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避免两个方向相反的反应抵消；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通过区室的通透特性调节酶促反应；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区室化和激素作用紧密相连。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10</a:t>
            </a:fld>
            <a:endParaRPr lang="en-US" altLang="zh-CN" sz="1050" dirty="0"/>
          </a:p>
        </p:txBody>
      </p:sp>
      <p:sp>
        <p:nvSpPr>
          <p:cNvPr id="3" name="文本框 2"/>
          <p:cNvSpPr txBox="1"/>
          <p:nvPr/>
        </p:nvSpPr>
        <p:spPr>
          <a:xfrm>
            <a:off x="1121343" y="1136600"/>
            <a:ext cx="9938084" cy="17044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电负性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electronegativity：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是元素的原子在化合物中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吸引电子的能力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的标度。元素的电负性越大，表示其原子在化合物中吸引电子的能力越强。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70065" y="-47058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</a:t>
            </a: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主要反应机制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853"/>
          <a:stretch>
            <a:fillRect/>
          </a:stretch>
        </p:blipFill>
        <p:spPr>
          <a:xfrm>
            <a:off x="1121343" y="3025775"/>
            <a:ext cx="9807204" cy="34258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254626" y="3089910"/>
            <a:ext cx="516890" cy="44831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42669" y="3701733"/>
            <a:ext cx="1304925" cy="46863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49515" y="4265512"/>
            <a:ext cx="888365" cy="45593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18766" y="907943"/>
            <a:ext cx="4848258" cy="577021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9436" y="1237951"/>
            <a:ext cx="6122377" cy="38280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基本化学原理：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共价键断裂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：异裂（产生正负离子）；均裂产生自由基。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亲核体与亲电体相互作用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：前者富含电子，能给出电子；后者缺电子，能接收电子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045486" y="1425951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080498" y="3810469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75680" y="-105529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727" y="1007382"/>
            <a:ext cx="3855268" cy="585061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38846" y="1053975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亲核体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63596" y="1053975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亲电体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1AEFAC-ADAD-7BD8-DA59-DF728EC6C481}"/>
              </a:ext>
            </a:extLst>
          </p:cNvPr>
          <p:cNvSpPr txBox="1"/>
          <p:nvPr/>
        </p:nvSpPr>
        <p:spPr>
          <a:xfrm>
            <a:off x="3875680" y="-105529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D1C278-10BE-ACB4-BC61-D29DB2EFA6AB}"/>
              </a:ext>
            </a:extLst>
          </p:cNvPr>
          <p:cNvSpPr txBox="1"/>
          <p:nvPr/>
        </p:nvSpPr>
        <p:spPr>
          <a:xfrm>
            <a:off x="359436" y="1237951"/>
            <a:ext cx="6122377" cy="38280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基本化学原理：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共价键断裂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：异裂（产生正负离子）；均裂产生自由基。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亲核体与亲电体相互作用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：前者富含电子，能给出电子；后者缺电子，能接收电子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13</a:t>
            </a:fld>
            <a:endParaRPr lang="en-US" altLang="zh-CN" sz="1050" dirty="0"/>
          </a:p>
        </p:txBody>
      </p:sp>
      <p:sp>
        <p:nvSpPr>
          <p:cNvPr id="8" name="文本框 7"/>
          <p:cNvSpPr txBox="1"/>
          <p:nvPr/>
        </p:nvSpPr>
        <p:spPr>
          <a:xfrm>
            <a:off x="3740059" y="1372235"/>
            <a:ext cx="5504180" cy="41135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150000"/>
              </a:lnSpc>
              <a:spcBef>
                <a:spcPts val="225"/>
              </a:spcBef>
              <a:buFont typeface="+mj-ea"/>
              <a:buAutoNum type="circleNumDbPlai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碳-碳键的形成与断裂反应</a:t>
            </a:r>
          </a:p>
          <a:p>
            <a:pPr marL="514350" indent="-514350" algn="just">
              <a:lnSpc>
                <a:spcPct val="150000"/>
              </a:lnSpc>
              <a:spcBef>
                <a:spcPts val="225"/>
              </a:spcBef>
              <a:buFont typeface="+mj-ea"/>
              <a:buAutoNum type="circleNumDbPlai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基团转移反应</a:t>
            </a:r>
          </a:p>
          <a:p>
            <a:pPr marL="514350" indent="-514350" algn="just">
              <a:lnSpc>
                <a:spcPct val="150000"/>
              </a:lnSpc>
              <a:spcBef>
                <a:spcPts val="225"/>
              </a:spcBef>
              <a:buFont typeface="+mj-ea"/>
              <a:buAutoNum type="circleNumDbPlai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氧化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还原反应</a:t>
            </a:r>
          </a:p>
          <a:p>
            <a:pPr marL="514350" indent="-514350" algn="just">
              <a:lnSpc>
                <a:spcPct val="150000"/>
              </a:lnSpc>
              <a:spcBef>
                <a:spcPts val="225"/>
              </a:spcBef>
              <a:buFont typeface="+mj-ea"/>
              <a:buAutoNum type="circleNumDbPlai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消除、重排和异构化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反应</a:t>
            </a:r>
          </a:p>
          <a:p>
            <a:pPr marL="514350" indent="-514350" algn="just">
              <a:lnSpc>
                <a:spcPct val="150000"/>
              </a:lnSpc>
              <a:spcBef>
                <a:spcPts val="225"/>
              </a:spcBef>
              <a:buFont typeface="+mj-ea"/>
              <a:buAutoNum type="circleNumDbPlai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自由基反应</a:t>
            </a:r>
          </a:p>
          <a:p>
            <a:pPr marL="514350" indent="-514350" algn="just">
              <a:lnSpc>
                <a:spcPct val="150000"/>
              </a:lnSpc>
              <a:spcBef>
                <a:spcPts val="225"/>
              </a:spcBef>
              <a:buFont typeface="+mj-ea"/>
              <a:buAutoNum type="circleNumDbPlain"/>
            </a:pPr>
            <a:endParaRPr lang="zh-CN" altLang="en-US" sz="280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4D90BD-14D4-FF8B-CD6B-E75E8B1E9E64}"/>
              </a:ext>
            </a:extLst>
          </p:cNvPr>
          <p:cNvSpPr txBox="1"/>
          <p:nvPr/>
        </p:nvSpPr>
        <p:spPr>
          <a:xfrm>
            <a:off x="3875680" y="-105529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1276" y="891269"/>
            <a:ext cx="1206944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碳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碳键的形成与断裂反应：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C-C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断裂与形成，是分解代谢与合成代谢的本质反应过程。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18958" y="1854134"/>
            <a:ext cx="735408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75680" y="-38803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 bright="6000" contrast="6000"/>
          </a:blip>
          <a:stretch>
            <a:fillRect/>
          </a:stretch>
        </p:blipFill>
        <p:spPr>
          <a:xfrm>
            <a:off x="811831" y="1546604"/>
            <a:ext cx="10568335" cy="45801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4064369" y="6234875"/>
            <a:ext cx="46031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0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羟醛缩合反应</a:t>
            </a:r>
            <a:r>
              <a:rPr lang="en-US" altLang="zh-CN" sz="20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</a:t>
            </a:r>
            <a:r>
              <a:rPr lang="zh-CN" altLang="en-US" sz="20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aldol</a:t>
            </a:r>
            <a:r>
              <a:rPr lang="en-US" altLang="zh-CN" sz="20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</a:t>
            </a:r>
            <a:r>
              <a:rPr lang="zh-CN" altLang="en-US" sz="2000" b="1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condensation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673350" y="3836670"/>
            <a:ext cx="1088390" cy="889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998493"/>
            <a:ext cx="12192000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基团转移反应：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酰基，糖基和磷酰基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等基团，从一种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亲核体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到另一种亲核体的转移，在活细胞中很常见。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27" y="2328381"/>
            <a:ext cx="5602132" cy="24634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743" y="1968885"/>
            <a:ext cx="5210875" cy="285047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41260" y="4916619"/>
            <a:ext cx="3217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酰基化物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-X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 酰基化物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-Y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102124" y="4916619"/>
            <a:ext cx="145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磷酰基转移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95164" y="-46559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288401" y="2783382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844088" y="4511584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6P-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葡萄糖</a:t>
            </a: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02921" y="1033244"/>
            <a:ext cx="803148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氧化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还原反应：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本质是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电子得失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反应。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43030" y="4886912"/>
            <a:ext cx="23134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乳酸盐→ 丙酮酸盐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l="7059" r="9451"/>
          <a:stretch>
            <a:fillRect/>
          </a:stretch>
        </p:blipFill>
        <p:spPr>
          <a:xfrm>
            <a:off x="5675243" y="1989442"/>
            <a:ext cx="6397584" cy="282974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875680" y="-34094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5" y="1989442"/>
            <a:ext cx="4699463" cy="362888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81020" y="5446395"/>
            <a:ext cx="56845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消除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NH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等，一般形成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C=C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双键。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944" y="2133000"/>
            <a:ext cx="7665704" cy="2592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875680" y="-43412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09944" y="1029158"/>
            <a:ext cx="416900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重排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异构化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1153" y="4893543"/>
            <a:ext cx="11795113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重排和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异构化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：氢原子在分子内迁移，从一个碳原子转移到另一的碳原子，导致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C=C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双键位置改变。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6" y="2046514"/>
            <a:ext cx="11903326" cy="2424026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696642" y="4470540"/>
            <a:ext cx="24641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葡萄糖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-6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 → 果糖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-6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875680" y="-65828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66F68F-B427-FBAF-9477-6B16B3CC0798}"/>
              </a:ext>
            </a:extLst>
          </p:cNvPr>
          <p:cNvSpPr txBox="1"/>
          <p:nvPr/>
        </p:nvSpPr>
        <p:spPr>
          <a:xfrm>
            <a:off x="1186097" y="989517"/>
            <a:ext cx="416900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重排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异构化</a:t>
            </a: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96271" y="1971357"/>
            <a:ext cx="9799457" cy="2915285"/>
          </a:xfrm>
          <a:prstGeom prst="rect">
            <a:avLst/>
          </a:prstGeom>
        </p:spPr>
      </p:pic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1658" y="980807"/>
            <a:ext cx="4169004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自由基反应</a:t>
            </a:r>
          </a:p>
        </p:txBody>
      </p:sp>
      <p:sp>
        <p:nvSpPr>
          <p:cNvPr id="10" name="矩形 9"/>
          <p:cNvSpPr/>
          <p:nvPr/>
        </p:nvSpPr>
        <p:spPr>
          <a:xfrm>
            <a:off x="3860195" y="5259482"/>
            <a:ext cx="70777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由自由基引起的脱羧反应。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934479" y="-46033"/>
            <a:ext cx="4440639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主要反应机制 </a:t>
            </a: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124960" y="2675904"/>
            <a:ext cx="31242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分子水平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细胞水平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整体水平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78701" y="1594842"/>
            <a:ext cx="11586875" cy="100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生物机体的新陈代谢是一个完整的整体，代谢的调节使生物机体能适应其内、外复杂的变化环境，从而得以生存。这种精密的调节机制是生物在长期演化中获得的。</a:t>
            </a:r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0584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D0181C-27DE-4760-8B68-E3E03D57ABF9}" type="slidenum"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689139" y="-108161"/>
            <a:ext cx="495360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新陈代谢的调节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344738" y="1301406"/>
            <a:ext cx="3124200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225"/>
              </a:spcBef>
              <a:buFont typeface="Arial" panose="020B0604020202020204" pitchFamily="34" charset="0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分子水平</a:t>
            </a:r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0584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D0181C-27DE-4760-8B68-E3E03D57ABF9}" type="slidenum"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fld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06419" y="206341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主要包括底物量、产物量、酶活性（变构）和酶量的调节。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740055" y="3355942"/>
            <a:ext cx="1414021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底物量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361465" y="3945116"/>
            <a:ext cx="163083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6218548" y="3278171"/>
            <a:ext cx="1414021" cy="914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产物量</a:t>
            </a:r>
          </a:p>
        </p:txBody>
      </p:sp>
      <p:sp>
        <p:nvSpPr>
          <p:cNvPr id="22" name="不完整圆 21"/>
          <p:cNvSpPr/>
          <p:nvPr/>
        </p:nvSpPr>
        <p:spPr>
          <a:xfrm>
            <a:off x="4939934" y="3321849"/>
            <a:ext cx="490193" cy="537325"/>
          </a:xfrm>
          <a:prstGeom prst="pie">
            <a:avLst>
              <a:gd name="adj1" fmla="val 333189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弧形 24"/>
          <p:cNvSpPr/>
          <p:nvPr/>
        </p:nvSpPr>
        <p:spPr>
          <a:xfrm rot="458311">
            <a:off x="3416846" y="3277725"/>
            <a:ext cx="1398548" cy="735026"/>
          </a:xfrm>
          <a:prstGeom prst="arc">
            <a:avLst>
              <a:gd name="adj1" fmla="val 12304846"/>
              <a:gd name="adj2" fmla="val 21268626"/>
            </a:avLst>
          </a:prstGeom>
          <a:noFill/>
          <a:ln w="1270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977280" y="352210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酶</a:t>
            </a:r>
          </a:p>
        </p:txBody>
      </p:sp>
      <p:sp>
        <p:nvSpPr>
          <p:cNvPr id="46" name="不完整圆 45"/>
          <p:cNvSpPr/>
          <p:nvPr/>
        </p:nvSpPr>
        <p:spPr>
          <a:xfrm rot="6789466">
            <a:off x="4961726" y="3302480"/>
            <a:ext cx="490193" cy="537325"/>
          </a:xfrm>
          <a:prstGeom prst="pie">
            <a:avLst>
              <a:gd name="adj1" fmla="val 9744110"/>
              <a:gd name="adj2" fmla="val 1501071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163833" y="319657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酶效应物</a:t>
            </a:r>
          </a:p>
        </p:txBody>
      </p:sp>
      <p:sp>
        <p:nvSpPr>
          <p:cNvPr id="52" name="椭圆 51"/>
          <p:cNvSpPr/>
          <p:nvPr/>
        </p:nvSpPr>
        <p:spPr>
          <a:xfrm>
            <a:off x="2779337" y="5261727"/>
            <a:ext cx="1414021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底物量</a:t>
            </a: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4400747" y="5850901"/>
            <a:ext cx="163083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椭圆 53"/>
          <p:cNvSpPr/>
          <p:nvPr/>
        </p:nvSpPr>
        <p:spPr>
          <a:xfrm>
            <a:off x="6257830" y="5183956"/>
            <a:ext cx="1414021" cy="914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产物量</a:t>
            </a:r>
          </a:p>
        </p:txBody>
      </p:sp>
      <p:sp>
        <p:nvSpPr>
          <p:cNvPr id="55" name="不完整圆 54"/>
          <p:cNvSpPr/>
          <p:nvPr/>
        </p:nvSpPr>
        <p:spPr>
          <a:xfrm>
            <a:off x="4979216" y="5227634"/>
            <a:ext cx="490193" cy="537325"/>
          </a:xfrm>
          <a:prstGeom prst="pie">
            <a:avLst>
              <a:gd name="adj1" fmla="val 333189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弧形 56"/>
          <p:cNvSpPr/>
          <p:nvPr/>
        </p:nvSpPr>
        <p:spPr>
          <a:xfrm rot="18982711">
            <a:off x="5462693" y="5094014"/>
            <a:ext cx="1822015" cy="992920"/>
          </a:xfrm>
          <a:prstGeom prst="arc">
            <a:avLst>
              <a:gd name="adj1" fmla="val 13651770"/>
              <a:gd name="adj2" fmla="val 767947"/>
            </a:avLst>
          </a:prstGeom>
          <a:noFill/>
          <a:ln w="127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 flipV="1">
            <a:off x="5684453" y="5478770"/>
            <a:ext cx="174494" cy="1439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5016562" y="542789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酶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5224312" y="5034991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酶抑制物</a:t>
            </a:r>
          </a:p>
        </p:txBody>
      </p:sp>
      <p:sp>
        <p:nvSpPr>
          <p:cNvPr id="4" name="等腰三角形 3"/>
          <p:cNvSpPr/>
          <p:nvPr/>
        </p:nvSpPr>
        <p:spPr>
          <a:xfrm>
            <a:off x="5244424" y="5196393"/>
            <a:ext cx="310067" cy="2616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4184029" y="3481753"/>
            <a:ext cx="0" cy="60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7805493" y="5327198"/>
            <a:ext cx="0" cy="60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544780" y="-108696"/>
            <a:ext cx="495360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新陈代谢的调节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321733" y="1522582"/>
            <a:ext cx="3124200" cy="112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细胞水平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733" y="2307527"/>
            <a:ext cx="3316930" cy="350493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细胞亚结构（细胞器）酶和底物的分隔；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膜系统控制底物和产物的流通；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膜系统影响酶的物理状态和性质。</a:t>
            </a: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233" y="1298535"/>
            <a:ext cx="7938127" cy="4979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本框 15"/>
          <p:cNvSpPr txBox="1"/>
          <p:nvPr/>
        </p:nvSpPr>
        <p:spPr>
          <a:xfrm>
            <a:off x="3619200" y="-116629"/>
            <a:ext cx="495360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新陈代谢的调节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774697" y="1750351"/>
            <a:ext cx="3124200" cy="74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整体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水平</a:t>
            </a:r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058400" y="634047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D0181C-27DE-4760-8B68-E3E03D57ABF9}" type="slidenum"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14362" y="2724525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主要包括体液调节和神经的调节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732" y="970441"/>
            <a:ext cx="4388221" cy="571822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731100" y="-64532"/>
            <a:ext cx="495360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新陈代谢的调节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27915" y="1204208"/>
            <a:ext cx="8916235" cy="565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5000"/>
              </a:spcBef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主要分为：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活体内（in vivo）与活体外（in vitro）实验。</a:t>
            </a:r>
          </a:p>
        </p:txBody>
      </p:sp>
      <p:graphicFrame>
        <p:nvGraphicFramePr>
          <p:cNvPr id="10" name="对象 187394"/>
          <p:cNvGraphicFramePr>
            <a:graphicFrameLocks noChangeAspect="1"/>
          </p:cNvGraphicFramePr>
          <p:nvPr/>
        </p:nvGraphicFramePr>
        <p:xfrm>
          <a:off x="4267201" y="2553094"/>
          <a:ext cx="296862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153150" imgH="7105650" progId="MSPhotoEd.3">
                  <p:embed/>
                </p:oleObj>
              </mc:Choice>
              <mc:Fallback>
                <p:oleObj r:id="rId2" imgW="6153150" imgH="7105650" progId="MSPhotoEd.3">
                  <p:embed/>
                  <p:pic>
                    <p:nvPicPr>
                      <p:cNvPr id="0" name="对象 1873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2553094"/>
                        <a:ext cx="2968625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87395"/>
          <p:cNvGrpSpPr/>
          <p:nvPr/>
        </p:nvGrpSpPr>
        <p:grpSpPr bwMode="auto">
          <a:xfrm>
            <a:off x="2111376" y="2524520"/>
            <a:ext cx="2079625" cy="2062163"/>
            <a:chOff x="-62" y="30"/>
            <a:chExt cx="1310" cy="1299"/>
          </a:xfrm>
        </p:grpSpPr>
        <p:sp>
          <p:nvSpPr>
            <p:cNvPr id="12" name="右箭头 187396"/>
            <p:cNvSpPr>
              <a:spLocks noChangeArrowheads="1"/>
            </p:cNvSpPr>
            <p:nvPr/>
          </p:nvSpPr>
          <p:spPr bwMode="auto">
            <a:xfrm>
              <a:off x="576" y="528"/>
              <a:ext cx="672" cy="192"/>
            </a:xfrm>
            <a:prstGeom prst="rightArrow">
              <a:avLst>
                <a:gd name="adj1" fmla="val 50000"/>
                <a:gd name="adj2" fmla="val 87500"/>
              </a:avLst>
            </a:prstGeom>
            <a:solidFill>
              <a:srgbClr val="0000CC"/>
            </a:solidFill>
            <a:ln w="9525">
              <a:solidFill>
                <a:srgbClr val="FF0066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7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87397"/>
            <p:cNvSpPr txBox="1">
              <a:spLocks noChangeArrowheads="1"/>
            </p:cNvSpPr>
            <p:nvPr/>
          </p:nvSpPr>
          <p:spPr bwMode="auto">
            <a:xfrm>
              <a:off x="-62" y="30"/>
              <a:ext cx="576" cy="12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纯化合物</a:t>
              </a:r>
            </a:p>
          </p:txBody>
        </p:sp>
      </p:grpSp>
      <p:grpSp>
        <p:nvGrpSpPr>
          <p:cNvPr id="14" name="组合 187398"/>
          <p:cNvGrpSpPr/>
          <p:nvPr/>
        </p:nvGrpSpPr>
        <p:grpSpPr bwMode="auto">
          <a:xfrm>
            <a:off x="7239000" y="3924694"/>
            <a:ext cx="3105150" cy="1066800"/>
            <a:chOff x="0" y="0"/>
            <a:chExt cx="1956" cy="672"/>
          </a:xfrm>
        </p:grpSpPr>
        <p:sp>
          <p:nvSpPr>
            <p:cNvPr id="15" name="右箭头 187399"/>
            <p:cNvSpPr>
              <a:spLocks noChangeArrowheads="1"/>
            </p:cNvSpPr>
            <p:nvPr/>
          </p:nvSpPr>
          <p:spPr bwMode="auto">
            <a:xfrm>
              <a:off x="0" y="240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rgbClr val="0000CC"/>
            </a:solidFill>
            <a:ln w="9525">
              <a:solidFill>
                <a:srgbClr val="FF0066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7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87400"/>
            <p:cNvSpPr txBox="1">
              <a:spLocks noChangeArrowheads="1"/>
            </p:cNvSpPr>
            <p:nvPr/>
          </p:nvSpPr>
          <p:spPr bwMode="auto">
            <a:xfrm>
              <a:off x="480" y="0"/>
              <a:ext cx="1476" cy="67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b="1">
                  <a:solidFill>
                    <a:srgbClr val="00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排泄物的化学分析</a:t>
              </a:r>
            </a:p>
          </p:txBody>
        </p:sp>
      </p:grpSp>
      <p:sp>
        <p:nvSpPr>
          <p:cNvPr id="17" name="文本框 187401"/>
          <p:cNvSpPr txBox="1">
            <a:spLocks noChangeArrowheads="1"/>
          </p:cNvSpPr>
          <p:nvPr/>
        </p:nvSpPr>
        <p:spPr bwMode="auto">
          <a:xfrm>
            <a:off x="1900238" y="5296295"/>
            <a:ext cx="2595562" cy="101441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典型案例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脂肪酸的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氧化</a:t>
            </a:r>
          </a:p>
        </p:txBody>
      </p:sp>
      <p:sp>
        <p:nvSpPr>
          <p:cNvPr id="19" name="矩形 18"/>
          <p:cNvSpPr/>
          <p:nvPr/>
        </p:nvSpPr>
        <p:spPr>
          <a:xfrm>
            <a:off x="8182363" y="5604551"/>
            <a:ext cx="10395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zh-CN" sz="20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Comic Sans MS" panose="030F0702030302020204" charset="0"/>
              </a:rPr>
              <a:t>in vivo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44154" y="-57513"/>
            <a:ext cx="341471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四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研究方法 </a:t>
            </a: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7917207" y="4416663"/>
            <a:ext cx="1018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zh-CN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 vitro</a:t>
            </a:r>
          </a:p>
        </p:txBody>
      </p:sp>
      <p:grpSp>
        <p:nvGrpSpPr>
          <p:cNvPr id="42" name="组合 41"/>
          <p:cNvGrpSpPr/>
          <p:nvPr/>
        </p:nvGrpSpPr>
        <p:grpSpPr bwMode="auto">
          <a:xfrm>
            <a:off x="2049542" y="1946216"/>
            <a:ext cx="2309813" cy="3211513"/>
            <a:chOff x="48" y="0"/>
            <a:chExt cx="1455" cy="2023"/>
          </a:xfrm>
        </p:grpSpPr>
        <p:graphicFrame>
          <p:nvGraphicFramePr>
            <p:cNvPr id="43" name="对象 188419"/>
            <p:cNvGraphicFramePr>
              <a:graphicFrameLocks noChangeAspect="1"/>
            </p:cNvGraphicFramePr>
            <p:nvPr/>
          </p:nvGraphicFramePr>
          <p:xfrm>
            <a:off x="144" y="0"/>
            <a:ext cx="1359" cy="1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419225" imgH="2105025" progId="MSPhotoEd.3">
                    <p:embed/>
                  </p:oleObj>
                </mc:Choice>
                <mc:Fallback>
                  <p:oleObj r:id="rId2" imgW="1419225" imgH="2105025" progId="MSPhotoEd.3">
                    <p:embed/>
                    <p:pic>
                      <p:nvPicPr>
                        <p:cNvPr id="0" name="对象 1884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0"/>
                          <a:ext cx="1359" cy="1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文本框 188420"/>
            <p:cNvSpPr txBox="1">
              <a:spLocks noChangeArrowheads="1"/>
            </p:cNvSpPr>
            <p:nvPr/>
          </p:nvSpPr>
          <p:spPr bwMode="auto">
            <a:xfrm>
              <a:off x="48" y="1771"/>
              <a:ext cx="10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各类组织细胞</a:t>
              </a:r>
            </a:p>
          </p:txBody>
        </p:sp>
      </p:grpSp>
      <p:grpSp>
        <p:nvGrpSpPr>
          <p:cNvPr id="45" name="组合 44"/>
          <p:cNvGrpSpPr/>
          <p:nvPr/>
        </p:nvGrpSpPr>
        <p:grpSpPr bwMode="auto">
          <a:xfrm>
            <a:off x="4106941" y="1946215"/>
            <a:ext cx="3276600" cy="3239842"/>
            <a:chOff x="0" y="0"/>
            <a:chExt cx="2064" cy="2300"/>
          </a:xfrm>
        </p:grpSpPr>
        <p:grpSp>
          <p:nvGrpSpPr>
            <p:cNvPr id="46" name="组合 188422"/>
            <p:cNvGrpSpPr/>
            <p:nvPr/>
          </p:nvGrpSpPr>
          <p:grpSpPr bwMode="auto">
            <a:xfrm>
              <a:off x="96" y="0"/>
              <a:ext cx="1968" cy="2300"/>
              <a:chOff x="0" y="0"/>
              <a:chExt cx="1968" cy="2300"/>
            </a:xfrm>
          </p:grpSpPr>
          <p:grpSp>
            <p:nvGrpSpPr>
              <p:cNvPr id="48" name="组合 188423"/>
              <p:cNvGrpSpPr>
                <a:grpSpLocks noChangeAspect="1"/>
              </p:cNvGrpSpPr>
              <p:nvPr/>
            </p:nvGrpSpPr>
            <p:grpSpPr bwMode="auto">
              <a:xfrm>
                <a:off x="0" y="0"/>
                <a:ext cx="1968" cy="1974"/>
                <a:chOff x="0" y="0"/>
                <a:chExt cx="1968" cy="1974"/>
              </a:xfrm>
            </p:grpSpPr>
            <p:graphicFrame>
              <p:nvGraphicFramePr>
                <p:cNvPr id="50" name="对象 188424"/>
                <p:cNvGraphicFramePr>
                  <a:graphicFrameLocks noChangeAspect="1"/>
                </p:cNvGraphicFramePr>
                <p:nvPr/>
              </p:nvGraphicFramePr>
              <p:xfrm>
                <a:off x="0" y="0"/>
                <a:ext cx="1968" cy="7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2800350" imgH="1028700" progId="MSPhotoEd.3">
                        <p:embed/>
                      </p:oleObj>
                    </mc:Choice>
                    <mc:Fallback>
                      <p:oleObj r:id="rId4" imgW="2800350" imgH="1028700" progId="MSPhotoEd.3">
                        <p:embed/>
                        <p:pic>
                          <p:nvPicPr>
                            <p:cNvPr id="0" name="对象 1884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0" y="0"/>
                              <a:ext cx="1968" cy="72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" name="对象 188425"/>
                <p:cNvGraphicFramePr>
                  <a:graphicFrameLocks noChangeAspect="1"/>
                </p:cNvGraphicFramePr>
                <p:nvPr/>
              </p:nvGraphicFramePr>
              <p:xfrm>
                <a:off x="48" y="707"/>
                <a:ext cx="1920" cy="1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2438400" imgH="1609725" progId="MSPhotoEd.3">
                        <p:embed/>
                      </p:oleObj>
                    </mc:Choice>
                    <mc:Fallback>
                      <p:oleObj r:id="rId6" imgW="2438400" imgH="1609725" progId="MSPhotoEd.3">
                        <p:embed/>
                        <p:pic>
                          <p:nvPicPr>
                            <p:cNvPr id="0" name="对象 1884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" y="707"/>
                              <a:ext cx="1920" cy="1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38100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9" name="文本框 188426"/>
              <p:cNvSpPr txBox="1">
                <a:spLocks noChangeArrowheads="1"/>
              </p:cNvSpPr>
              <p:nvPr/>
            </p:nvSpPr>
            <p:spPr bwMode="auto">
              <a:xfrm>
                <a:off x="336" y="2016"/>
                <a:ext cx="1086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各种破碎方法</a:t>
                </a:r>
              </a:p>
            </p:txBody>
          </p:sp>
        </p:grpSp>
        <p:sp>
          <p:nvSpPr>
            <p:cNvPr id="47" name="右箭头 188427"/>
            <p:cNvSpPr>
              <a:spLocks noChangeArrowheads="1"/>
            </p:cNvSpPr>
            <p:nvPr/>
          </p:nvSpPr>
          <p:spPr bwMode="auto">
            <a:xfrm>
              <a:off x="0" y="2016"/>
              <a:ext cx="384" cy="256"/>
            </a:xfrm>
            <a:prstGeom prst="rightArrow">
              <a:avLst>
                <a:gd name="adj1" fmla="val 50000"/>
                <a:gd name="adj2" fmla="val 28566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7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 bwMode="auto">
          <a:xfrm>
            <a:off x="7002541" y="1946216"/>
            <a:ext cx="3505200" cy="3235543"/>
            <a:chOff x="0" y="0"/>
            <a:chExt cx="2208" cy="2301"/>
          </a:xfrm>
        </p:grpSpPr>
        <p:grpSp>
          <p:nvGrpSpPr>
            <p:cNvPr id="53" name="组合 188429"/>
            <p:cNvGrpSpPr/>
            <p:nvPr/>
          </p:nvGrpSpPr>
          <p:grpSpPr bwMode="auto">
            <a:xfrm>
              <a:off x="240" y="0"/>
              <a:ext cx="1968" cy="2301"/>
              <a:chOff x="0" y="0"/>
              <a:chExt cx="1968" cy="2301"/>
            </a:xfrm>
          </p:grpSpPr>
          <p:graphicFrame>
            <p:nvGraphicFramePr>
              <p:cNvPr id="55" name="对象 188430"/>
              <p:cNvGraphicFramePr>
                <a:graphicFrameLocks noChangeAspect="1"/>
              </p:cNvGraphicFramePr>
              <p:nvPr/>
            </p:nvGraphicFramePr>
            <p:xfrm>
              <a:off x="0" y="0"/>
              <a:ext cx="1968" cy="17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2114550" imgH="1866900" progId="MSPhotoEd.3">
                      <p:embed/>
                    </p:oleObj>
                  </mc:Choice>
                  <mc:Fallback>
                    <p:oleObj r:id="rId8" imgW="2114550" imgH="1866900" progId="MSPhotoEd.3">
                      <p:embed/>
                      <p:pic>
                        <p:nvPicPr>
                          <p:cNvPr id="0" name="对象 1884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1968" cy="17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6" name="文本框 188431"/>
              <p:cNvSpPr txBox="1">
                <a:spLocks noChangeArrowheads="1"/>
              </p:cNvSpPr>
              <p:nvPr/>
            </p:nvSpPr>
            <p:spPr bwMode="auto">
              <a:xfrm>
                <a:off x="240" y="2016"/>
                <a:ext cx="1584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zh-CN" altLang="en-US" sz="2000" b="1" dirty="0">
                    <a:solidFill>
                      <a:srgbClr val="0000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碎片置于试管中</a:t>
                </a:r>
              </a:p>
            </p:txBody>
          </p:sp>
        </p:grpSp>
        <p:sp>
          <p:nvSpPr>
            <p:cNvPr id="54" name="右箭头 188432"/>
            <p:cNvSpPr>
              <a:spLocks noChangeArrowheads="1"/>
            </p:cNvSpPr>
            <p:nvPr/>
          </p:nvSpPr>
          <p:spPr bwMode="auto">
            <a:xfrm>
              <a:off x="0" y="2016"/>
              <a:ext cx="432" cy="256"/>
            </a:xfrm>
            <a:prstGeom prst="rightArrow">
              <a:avLst>
                <a:gd name="adj1" fmla="val 50000"/>
                <a:gd name="adj2" fmla="val 3213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7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 bwMode="auto">
          <a:xfrm>
            <a:off x="1317875" y="5372719"/>
            <a:ext cx="9950451" cy="400050"/>
            <a:chOff x="-461" y="44"/>
            <a:chExt cx="6268" cy="252"/>
          </a:xfrm>
        </p:grpSpPr>
        <p:sp>
          <p:nvSpPr>
            <p:cNvPr id="58" name="文本框 188434"/>
            <p:cNvSpPr txBox="1">
              <a:spLocks noChangeArrowheads="1"/>
            </p:cNvSpPr>
            <p:nvPr/>
          </p:nvSpPr>
          <p:spPr bwMode="auto">
            <a:xfrm>
              <a:off x="0" y="44"/>
              <a:ext cx="5807" cy="2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向该试管中加入纯化合物（如葡萄糖）分析各类代谢中间产物及酶，逻辑推断。</a:t>
              </a:r>
            </a:p>
          </p:txBody>
        </p:sp>
        <p:sp>
          <p:nvSpPr>
            <p:cNvPr id="59" name="右箭头 188435"/>
            <p:cNvSpPr>
              <a:spLocks noChangeArrowheads="1"/>
            </p:cNvSpPr>
            <p:nvPr/>
          </p:nvSpPr>
          <p:spPr bwMode="auto">
            <a:xfrm>
              <a:off x="-461" y="55"/>
              <a:ext cx="336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72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0" name="文本框 59"/>
          <p:cNvSpPr txBox="1">
            <a:spLocks noChangeArrowheads="1"/>
          </p:cNvSpPr>
          <p:nvPr/>
        </p:nvSpPr>
        <p:spPr bwMode="auto">
          <a:xfrm>
            <a:off x="2170431" y="1332866"/>
            <a:ext cx="4832985" cy="460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典型案例：糖代谢、生物氧化等等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14082" y="-71999"/>
            <a:ext cx="341471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四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研究方法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5675" y="6389688"/>
            <a:ext cx="2346325" cy="357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20846" y="-106469"/>
            <a:ext cx="3414717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四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研究方法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3A54842-FC08-82A7-5BF2-0F4B0DAC1816}"/>
              </a:ext>
            </a:extLst>
          </p:cNvPr>
          <p:cNvSpPr txBox="1">
            <a:spLocks noChangeArrowheads="1"/>
          </p:cNvSpPr>
          <p:nvPr/>
        </p:nvSpPr>
        <p:spPr>
          <a:xfrm>
            <a:off x="1013644" y="1558131"/>
            <a:ext cx="10075270" cy="3741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"/>
            </a:pPr>
            <a:r>
              <a:rPr lang="zh-CN" altLang="en-US" sz="3200" dirty="0">
                <a:ea typeface="楷体" panose="02010609060101010101" pitchFamily="49" charset="-122"/>
              </a:rPr>
              <a:t>同位素示踪：经常使用的同位素有放射性同位素和稳定同位素两类，前者包括</a:t>
            </a:r>
            <a:r>
              <a:rPr lang="en-US" altLang="zh-CN" sz="3200" baseline="30000" dirty="0">
                <a:ea typeface="楷体" panose="02010609060101010101" pitchFamily="49" charset="-122"/>
              </a:rPr>
              <a:t>14</a:t>
            </a:r>
            <a:r>
              <a:rPr lang="en-US" altLang="zh-CN" sz="3200" dirty="0">
                <a:ea typeface="楷体" panose="02010609060101010101" pitchFamily="49" charset="-122"/>
              </a:rPr>
              <a:t>C</a:t>
            </a:r>
            <a:r>
              <a:rPr lang="zh-CN" altLang="en-US" sz="3200" dirty="0">
                <a:ea typeface="楷体" panose="02010609060101010101" pitchFamily="49" charset="-122"/>
              </a:rPr>
              <a:t>、</a:t>
            </a:r>
            <a:r>
              <a:rPr lang="en-US" altLang="zh-CN" sz="3200" baseline="30000" dirty="0">
                <a:ea typeface="楷体" panose="02010609060101010101" pitchFamily="49" charset="-122"/>
              </a:rPr>
              <a:t>32</a:t>
            </a:r>
            <a:r>
              <a:rPr lang="en-US" altLang="zh-CN" sz="3200" dirty="0">
                <a:ea typeface="楷体" panose="02010609060101010101" pitchFamily="49" charset="-122"/>
              </a:rPr>
              <a:t>P</a:t>
            </a:r>
            <a:r>
              <a:rPr lang="zh-CN" altLang="en-US" sz="3200" dirty="0">
                <a:ea typeface="楷体" panose="02010609060101010101" pitchFamily="49" charset="-122"/>
              </a:rPr>
              <a:t>、</a:t>
            </a:r>
            <a:r>
              <a:rPr lang="en-US" altLang="zh-CN" sz="3200" baseline="30000" dirty="0">
                <a:ea typeface="楷体" panose="02010609060101010101" pitchFamily="49" charset="-122"/>
              </a:rPr>
              <a:t>35</a:t>
            </a:r>
            <a:r>
              <a:rPr lang="en-US" altLang="zh-CN" sz="3200" dirty="0">
                <a:ea typeface="楷体" panose="02010609060101010101" pitchFamily="49" charset="-122"/>
              </a:rPr>
              <a:t>S</a:t>
            </a:r>
            <a:r>
              <a:rPr lang="zh-CN" altLang="en-US" sz="3200" dirty="0">
                <a:ea typeface="楷体" panose="02010609060101010101" pitchFamily="49" charset="-122"/>
              </a:rPr>
              <a:t>和</a:t>
            </a:r>
            <a:r>
              <a:rPr lang="en-US" altLang="zh-CN" sz="3200" baseline="30000" dirty="0">
                <a:ea typeface="楷体" panose="02010609060101010101" pitchFamily="49" charset="-122"/>
              </a:rPr>
              <a:t>3</a:t>
            </a:r>
            <a:r>
              <a:rPr lang="en-US" altLang="zh-CN" sz="3200" dirty="0">
                <a:ea typeface="楷体" panose="02010609060101010101" pitchFamily="49" charset="-122"/>
              </a:rPr>
              <a:t>H</a:t>
            </a:r>
            <a:r>
              <a:rPr lang="zh-CN" altLang="en-US" sz="3200" dirty="0">
                <a:ea typeface="楷体" panose="02010609060101010101" pitchFamily="49" charset="-122"/>
              </a:rPr>
              <a:t>等，后者有</a:t>
            </a:r>
            <a:r>
              <a:rPr lang="en-US" altLang="zh-CN" sz="3200" baseline="30000" dirty="0">
                <a:ea typeface="楷体" panose="02010609060101010101" pitchFamily="49" charset="-122"/>
              </a:rPr>
              <a:t>18</a:t>
            </a:r>
            <a:r>
              <a:rPr lang="en-US" altLang="zh-CN" sz="3200" dirty="0">
                <a:ea typeface="楷体" panose="02010609060101010101" pitchFamily="49" charset="-122"/>
              </a:rPr>
              <a:t>O</a:t>
            </a:r>
            <a:r>
              <a:rPr lang="zh-CN" altLang="en-US" sz="3200" dirty="0">
                <a:ea typeface="楷体" panose="02010609060101010101" pitchFamily="49" charset="-122"/>
              </a:rPr>
              <a:t>和</a:t>
            </a:r>
            <a:r>
              <a:rPr lang="en-US" altLang="zh-CN" sz="3200" baseline="30000" dirty="0">
                <a:ea typeface="楷体" panose="02010609060101010101" pitchFamily="49" charset="-122"/>
              </a:rPr>
              <a:t>15</a:t>
            </a:r>
            <a:r>
              <a:rPr lang="en-US" altLang="zh-CN" sz="3200" dirty="0">
                <a:ea typeface="楷体" panose="02010609060101010101" pitchFamily="49" charset="-122"/>
              </a:rPr>
              <a:t>N</a:t>
            </a:r>
            <a:r>
              <a:rPr lang="zh-CN" altLang="en-US" sz="3200" dirty="0">
                <a:ea typeface="楷体" panose="02010609060101010101" pitchFamily="49" charset="-122"/>
              </a:rPr>
              <a:t>等。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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代谢抑制剂的使用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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代谢遗传缺陷型突变体的使用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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基因操作和生物信息学 </a:t>
            </a: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AD5FF03D-D1E2-FDC4-A4D0-7161AF362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5278120"/>
            <a:ext cx="4248150" cy="4572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使用代谢抑制剂确定代谢途径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6" descr="18-8">
            <a:extLst>
              <a:ext uri="{FF2B5EF4-FFF2-40B4-BE49-F238E27FC236}">
                <a16:creationId xmlns:a16="http://schemas.microsoft.com/office/drawing/2014/main" id="{DE50A237-4552-C523-B861-7426DC016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70" y="486954"/>
            <a:ext cx="7611408" cy="440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318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94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8.2</a:t>
              </a: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5242560" y="2690495"/>
            <a:ext cx="6250940" cy="991870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生物能学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4294967295"/>
          </p:nvPr>
        </p:nvSpPr>
        <p:spPr>
          <a:xfrm>
            <a:off x="436033" y="948292"/>
            <a:ext cx="11281834" cy="3457575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系统和环境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：系统为宇宙之中我们感兴趣的任何部分，环境是指一个系统周围的任何事物。系统又可以分为</a:t>
            </a:r>
            <a:r>
              <a:rPr lang="zh-CN" alt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孤立系统、封闭系统和开放系统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质量的时空分布可能变化程度的度量，用来表征物理系统做功的本领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两种形式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系统与环境间，因温度差而发生传递的能量，本质是微观分子的不规则运动。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系统与环境间另一种能量传递形式：宏观物体有规则运动。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13331" y="-68690"/>
            <a:ext cx="751840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有关热力学的一些基本概念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14" y="3920067"/>
            <a:ext cx="9673637" cy="23114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3331" y="6367146"/>
            <a:ext cx="65424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孤立系统</a:t>
            </a:r>
            <a:r>
              <a:rPr lang="en-US" altLang="zh-CN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  </a:t>
            </a:r>
            <a:r>
              <a:rPr lang="zh-CN" altLang="en-US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封闭系统</a:t>
            </a:r>
            <a:r>
              <a:rPr lang="en-US" altLang="zh-CN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               </a:t>
            </a:r>
            <a:r>
              <a:rPr lang="zh-CN" altLang="en-US" sz="1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开放系统</a:t>
            </a: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4294967295"/>
          </p:nvPr>
        </p:nvSpPr>
        <p:spPr>
          <a:xfrm>
            <a:off x="276880" y="1150325"/>
            <a:ext cx="11756571" cy="4545082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自由能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(G)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：是指一个系统的总能量之中，用来做功的那一部分能量。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熵（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：是指一个系统的无序状态。一个系统越有序，它的熵就越低。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焓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(H)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：是指系统的总热能。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热力学第一定律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：即能量守恒定律。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热力学第二定律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he  universe  always  tends  toward</a:t>
            </a:r>
            <a:r>
              <a:rPr lang="en-US" altLang="zh-CN" sz="2400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</a:t>
            </a:r>
            <a:r>
              <a:rPr lang="zh-CN" altLang="en-US" sz="2400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increasing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disorder</a:t>
            </a:r>
            <a:r>
              <a:rPr lang="zh-CN" altLang="en-US" sz="2400" dirty="0"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:  in  all  natural  processes,  the 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entropy  of  the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universe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increases.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62250" y="-90805"/>
            <a:ext cx="6785832" cy="82541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有关热力学的一些基本概念 </a:t>
            </a: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62250" y="-153670"/>
            <a:ext cx="6785832" cy="82541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</a:t>
            </a:r>
            <a:r>
              <a:rPr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有关热力学的一些基本概念 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49388" y="963375"/>
            <a:ext cx="108678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Creating and Maintaining Order Requires Work and Energy.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64576" y="2332220"/>
            <a:ext cx="2571882" cy="257188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18425" y="5512816"/>
            <a:ext cx="3435527" cy="87634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>
            <p:custDataLst>
              <p:tags r:id="rId4"/>
            </p:custDataLst>
          </p:nvPr>
        </p:nvCxnSpPr>
        <p:spPr>
          <a:xfrm>
            <a:off x="2805881" y="4872222"/>
            <a:ext cx="0" cy="6095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16" y="2424864"/>
            <a:ext cx="4521184" cy="40021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直接箭头连接符 13"/>
          <p:cNvCxnSpPr/>
          <p:nvPr>
            <p:custDataLst>
              <p:tags r:id="rId6"/>
            </p:custDataLst>
          </p:nvPr>
        </p:nvCxnSpPr>
        <p:spPr>
          <a:xfrm>
            <a:off x="7834949" y="3399060"/>
            <a:ext cx="6857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fld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4294967295"/>
          </p:nvPr>
        </p:nvSpPr>
        <p:spPr>
          <a:xfrm>
            <a:off x="1285361" y="1120109"/>
            <a:ext cx="9621278" cy="5581650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Gibbs-Helmholtz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TΔS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恒温、恒压条件下；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：反应系统的自由能变化。如为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负值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，表示反应能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自发进行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：焓变。如反应系统放热，为负值；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：绝对温度；</a:t>
            </a: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：熵变，如反应系统混乱增加，则为正值。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42630" y="-91440"/>
            <a:ext cx="751840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一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有关热力学的一些基本概念 </a:t>
            </a: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809115" y="1849755"/>
            <a:ext cx="8573770" cy="4382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反应是否自发进行：由自由能变化ΔG决定。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ΔG＜0时，反应能自发进行（是放能反应）；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ΔG＞0时，反应不能自发进行，当给体系补充自由能时，反应才能进行（是吸能反应）；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ΔG＝0时，表明体系已经处于平衡状态。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33</a:t>
            </a:fld>
            <a:endParaRPr lang="en-US" altLang="zh-CN" sz="1050" dirty="0"/>
          </a:p>
        </p:txBody>
      </p:sp>
      <p:sp>
        <p:nvSpPr>
          <p:cNvPr id="2" name="文本框 1"/>
          <p:cNvSpPr txBox="1"/>
          <p:nvPr/>
        </p:nvSpPr>
        <p:spPr>
          <a:xfrm>
            <a:off x="2080317" y="-108041"/>
            <a:ext cx="803136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二、生化反应方向与自由能的关系 </a:t>
            </a: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500813"/>
            <a:ext cx="2347912" cy="357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34</a:t>
            </a:fld>
            <a:endParaRPr lang="en-US" altLang="zh-CN" sz="1050" dirty="0"/>
          </a:p>
        </p:txBody>
      </p:sp>
      <p:sp>
        <p:nvSpPr>
          <p:cNvPr id="2" name="文本框 1"/>
          <p:cNvSpPr txBox="1"/>
          <p:nvPr/>
        </p:nvSpPr>
        <p:spPr>
          <a:xfrm>
            <a:off x="2500842" y="-89155"/>
            <a:ext cx="803136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二、生化反应方向与自由能的关系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91" y="1326606"/>
            <a:ext cx="8930005" cy="34937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5728102" y="4931153"/>
            <a:ext cx="5554556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：自由能变化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</a:p>
          <a:p>
            <a:pPr algn="l">
              <a:buClrTx/>
              <a:buSzTx/>
              <a:buFontTx/>
            </a:pPr>
            <a:r>
              <a:rPr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</a:t>
            </a:r>
            <a:r>
              <a:rPr 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r>
              <a:rPr sz="24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：标准自由能变化，</a:t>
            </a:r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摩尔气体常数，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：温度。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04510" y="2352040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400" b="1" i="1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′</a:t>
            </a:r>
            <a:endParaRPr lang="zh-CN" altLang="en-US" sz="2400" b="1" i="1" baseline="30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78450" y="3415030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400" b="1" i="1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′</a:t>
            </a:r>
            <a:endParaRPr lang="zh-CN" altLang="en-US" sz="2400" b="1" i="1" baseline="30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76190" y="4321810"/>
            <a:ext cx="247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2400" b="1" i="1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′</a:t>
            </a:r>
            <a:endParaRPr lang="zh-CN" altLang="en-US" sz="2400" b="1" i="1" baseline="30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E2EC1E6-CB04-1955-3E10-71E0F6368A4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39331" y="550408"/>
            <a:ext cx="5113337" cy="503238"/>
          </a:xfrm>
          <a:solidFill>
            <a:srgbClr val="99CCFF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200" b="1" dirty="0">
                <a:ea typeface="楷体" panose="02010609060101010101" pitchFamily="49" charset="-122"/>
              </a:rPr>
              <a:t>化学和生化反应的标准条件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D4B1D67-781B-7FE8-8675-CFC6731140F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68829" y="1665968"/>
            <a:ext cx="10515600" cy="4351338"/>
          </a:xfrm>
        </p:spPr>
        <p:txBody>
          <a:bodyPr>
            <a:normAutofit/>
          </a:bodyPr>
          <a:lstStyle/>
          <a:p>
            <a:pPr marL="609600" indent="-609600">
              <a:buClr>
                <a:srgbClr val="FF3300"/>
              </a:buClr>
              <a:buFont typeface="Times New Roman" panose="02020603050405020304" pitchFamily="18" charset="0"/>
              <a:buAutoNum type="arabicPeriod"/>
              <a:defRPr/>
            </a:pPr>
            <a:r>
              <a:rPr lang="zh-CN" altLang="en-US" sz="3600" dirty="0">
                <a:solidFill>
                  <a:srgbClr val="FF3300"/>
                </a:solidFill>
                <a:ea typeface="楷体" panose="02010609060101010101" pitchFamily="49" charset="-122"/>
              </a:rPr>
              <a:t>压强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 = 101kPa (1atm)</a:t>
            </a:r>
          </a:p>
          <a:p>
            <a:pPr marL="609600" indent="-609600">
              <a:buClr>
                <a:srgbClr val="FF3300"/>
              </a:buClr>
              <a:buFont typeface="Times New Roman" panose="02020603050405020304" pitchFamily="18" charset="0"/>
              <a:buAutoNum type="arabicPeriod"/>
              <a:defRPr/>
            </a:pPr>
            <a:r>
              <a:rPr lang="zh-CN" altLang="en-US" sz="3600" dirty="0">
                <a:solidFill>
                  <a:srgbClr val="FF3300"/>
                </a:solidFill>
                <a:ea typeface="楷体" panose="02010609060101010101" pitchFamily="49" charset="-122"/>
              </a:rPr>
              <a:t>温度</a:t>
            </a:r>
            <a:r>
              <a:rPr lang="en-US" altLang="zh-CN" sz="3600" dirty="0">
                <a:ea typeface="楷体" panose="02010609060101010101" pitchFamily="49" charset="-122"/>
              </a:rPr>
              <a:t> = 298K (25℃)</a:t>
            </a:r>
          </a:p>
          <a:p>
            <a:pPr marL="609600" indent="-609600">
              <a:buClr>
                <a:srgbClr val="FF3300"/>
              </a:buClr>
              <a:buFont typeface="Times New Roman" panose="02020603050405020304" pitchFamily="18" charset="0"/>
              <a:buAutoNum type="arabicPeriod"/>
              <a:defRPr/>
            </a:pPr>
            <a:r>
              <a:rPr lang="en-US" altLang="zh-CN" sz="3600" dirty="0">
                <a:solidFill>
                  <a:srgbClr val="FF3300"/>
                </a:solidFill>
                <a:ea typeface="楷体" panose="02010609060101010101" pitchFamily="49" charset="-122"/>
              </a:rPr>
              <a:t>[</a:t>
            </a:r>
            <a:r>
              <a:rPr lang="zh-CN" altLang="en-US" sz="3600" dirty="0">
                <a:solidFill>
                  <a:srgbClr val="FF3300"/>
                </a:solidFill>
                <a:ea typeface="楷体" panose="02010609060101010101" pitchFamily="49" charset="-122"/>
              </a:rPr>
              <a:t>底物</a:t>
            </a:r>
            <a:r>
              <a:rPr lang="en-US" altLang="zh-CN" sz="3600" dirty="0">
                <a:solidFill>
                  <a:srgbClr val="FF3300"/>
                </a:solidFill>
                <a:ea typeface="楷体" panose="02010609060101010101" pitchFamily="49" charset="-122"/>
              </a:rPr>
              <a:t>]</a:t>
            </a:r>
            <a:r>
              <a:rPr lang="en-US" altLang="zh-CN" sz="3600" dirty="0">
                <a:ea typeface="楷体" panose="02010609060101010101" pitchFamily="49" charset="-122"/>
              </a:rPr>
              <a:t> &amp; </a:t>
            </a:r>
            <a:r>
              <a:rPr lang="en-US" altLang="zh-CN" sz="3600" dirty="0">
                <a:solidFill>
                  <a:srgbClr val="FF3300"/>
                </a:solidFill>
                <a:ea typeface="楷体" panose="02010609060101010101" pitchFamily="49" charset="-122"/>
              </a:rPr>
              <a:t>[</a:t>
            </a:r>
            <a:r>
              <a:rPr lang="zh-CN" altLang="en-US" sz="3600" dirty="0">
                <a:solidFill>
                  <a:srgbClr val="FF3300"/>
                </a:solidFill>
                <a:ea typeface="楷体" panose="02010609060101010101" pitchFamily="49" charset="-122"/>
              </a:rPr>
              <a:t>产物</a:t>
            </a:r>
            <a:r>
              <a:rPr lang="en-US" altLang="zh-CN" sz="3600" dirty="0">
                <a:solidFill>
                  <a:srgbClr val="FF3300"/>
                </a:solidFill>
                <a:ea typeface="楷体" panose="02010609060101010101" pitchFamily="49" charset="-122"/>
              </a:rPr>
              <a:t>]</a:t>
            </a:r>
            <a:r>
              <a:rPr lang="en-US" altLang="zh-CN" sz="3600" dirty="0">
                <a:ea typeface="楷体" panose="02010609060101010101" pitchFamily="49" charset="-122"/>
              </a:rPr>
              <a:t> = 1mol/L</a:t>
            </a:r>
          </a:p>
          <a:p>
            <a:pPr marL="609600" indent="-609600">
              <a:buClr>
                <a:srgbClr val="FF3300"/>
              </a:buClr>
              <a:buFont typeface="Times New Roman" panose="02020603050405020304" pitchFamily="18" charset="0"/>
              <a:buAutoNum type="arabicPeriod"/>
              <a:defRPr/>
            </a:pPr>
            <a:r>
              <a:rPr lang="zh-CN" altLang="en-US" sz="3600" dirty="0">
                <a:solidFill>
                  <a:srgbClr val="FF3300"/>
                </a:solidFill>
                <a:ea typeface="楷体" panose="02010609060101010101" pitchFamily="49" charset="-122"/>
              </a:rPr>
              <a:t>化学</a:t>
            </a:r>
            <a:r>
              <a:rPr lang="en-US" altLang="zh-CN" sz="3600" dirty="0">
                <a:solidFill>
                  <a:srgbClr val="FF3300"/>
                </a:solidFill>
                <a:ea typeface="楷体" panose="02010609060101010101" pitchFamily="49" charset="-122"/>
              </a:rPr>
              <a:t>pH</a:t>
            </a:r>
            <a:r>
              <a:rPr lang="en-US" altLang="zh-CN" sz="3600" dirty="0">
                <a:ea typeface="楷体" panose="02010609060101010101" pitchFamily="49" charset="-122"/>
              </a:rPr>
              <a:t> = 0 (</a:t>
            </a:r>
            <a:r>
              <a:rPr lang="en-US" altLang="zh-CN" sz="3600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楷体" panose="02010609060101010101" pitchFamily="49" charset="-122"/>
              </a:rPr>
              <a:t>ΔG</a:t>
            </a:r>
            <a:r>
              <a:rPr lang="en-US" altLang="zh-CN" sz="3600" b="1" i="1" baseline="30000" dirty="0">
                <a:effectLst>
                  <a:outerShdw blurRad="38100" dist="38100" dir="2700000" algn="tl">
                    <a:srgbClr val="C0C0C0"/>
                  </a:outerShdw>
                </a:effectLst>
                <a:ea typeface="楷体" panose="02010609060101010101" pitchFamily="49" charset="-122"/>
              </a:rPr>
              <a:t>O</a:t>
            </a:r>
            <a:r>
              <a:rPr lang="en-US" altLang="zh-CN" sz="3600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楷体" panose="02010609060101010101" pitchFamily="49" charset="-122"/>
              </a:rPr>
              <a:t> </a:t>
            </a:r>
            <a:r>
              <a:rPr lang="en-US" altLang="zh-CN" sz="3600" dirty="0">
                <a:ea typeface="楷体" panose="02010609060101010101" pitchFamily="49" charset="-122"/>
              </a:rPr>
              <a:t>) </a:t>
            </a:r>
            <a:r>
              <a:rPr lang="zh-CN" altLang="en-US" sz="3600" dirty="0">
                <a:ea typeface="楷体" panose="02010609060101010101" pitchFamily="49" charset="-122"/>
              </a:rPr>
              <a:t>或生化</a:t>
            </a:r>
            <a:r>
              <a:rPr lang="en-US" altLang="zh-CN" sz="3600" dirty="0">
                <a:ea typeface="楷体" panose="02010609060101010101" pitchFamily="49" charset="-122"/>
              </a:rPr>
              <a:t>pH=7.0 (</a:t>
            </a:r>
            <a:r>
              <a:rPr lang="en-US" altLang="zh-CN" sz="3600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楷体" panose="02010609060101010101" pitchFamily="49" charset="-122"/>
              </a:rPr>
              <a:t>ΔG</a:t>
            </a:r>
            <a:r>
              <a:rPr lang="en-US" altLang="zh-CN" sz="3600" b="1" i="1" baseline="30000" dirty="0">
                <a:effectLst>
                  <a:outerShdw blurRad="38100" dist="38100" dir="2700000" algn="tl">
                    <a:srgbClr val="C0C0C0"/>
                  </a:outerShdw>
                </a:effectLst>
                <a:ea typeface="楷体" panose="02010609060101010101" pitchFamily="49" charset="-122"/>
              </a:rPr>
              <a:t>O</a:t>
            </a:r>
            <a:r>
              <a:rPr lang="zh-CN" altLang="en-US" sz="3600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楷体" panose="02010609060101010101" pitchFamily="49" charset="-122"/>
              </a:rPr>
              <a:t>＇</a:t>
            </a:r>
            <a:r>
              <a:rPr lang="en-US" altLang="zh-CN" sz="3600" dirty="0">
                <a:ea typeface="楷体" panose="02010609060101010101" pitchFamily="49" charset="-122"/>
              </a:rPr>
              <a:t> ) </a:t>
            </a:r>
            <a:endParaRPr lang="zh-CN" altLang="en-US" sz="3600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36</a:t>
            </a:fld>
            <a:endParaRPr lang="en-US" altLang="zh-CN" sz="1050" dirty="0"/>
          </a:p>
        </p:txBody>
      </p:sp>
      <p:sp>
        <p:nvSpPr>
          <p:cNvPr id="10" name="文本框 9"/>
          <p:cNvSpPr txBox="1"/>
          <p:nvPr/>
        </p:nvSpPr>
        <p:spPr>
          <a:xfrm>
            <a:off x="3057314" y="-70950"/>
            <a:ext cx="649248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三、生命系统中的偶联反应 </a:t>
            </a:r>
          </a:p>
        </p:txBody>
      </p:sp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74" y="4257041"/>
            <a:ext cx="8048812" cy="1618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05380" y="1479434"/>
            <a:ext cx="10185400" cy="2243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假定一个反应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A→B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，则此反应不能自发地进行，但如果此反应通过某种机制与另外一个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&lt;0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的反应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C→D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偶联在一起，而且总的自由能变化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ΔG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A→B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的反应照样可以进行，在这里第二个反应释放出的能量被用来驱动第一个反应。</a:t>
            </a: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37</a:t>
            </a:fld>
            <a:endParaRPr lang="en-US" altLang="zh-CN" sz="1050" dirty="0"/>
          </a:p>
        </p:txBody>
      </p:sp>
      <p:pic>
        <p:nvPicPr>
          <p:cNvPr id="1433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624" y="1573214"/>
            <a:ext cx="8072437" cy="34559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</p:pic>
      <p:sp>
        <p:nvSpPr>
          <p:cNvPr id="14339" name="Text Box 4"/>
          <p:cNvSpPr txBox="1"/>
          <p:nvPr/>
        </p:nvSpPr>
        <p:spPr>
          <a:xfrm>
            <a:off x="3059430" y="5389563"/>
            <a:ext cx="1727200" cy="3683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偶联机制一</a:t>
            </a:r>
          </a:p>
        </p:txBody>
      </p:sp>
      <p:sp>
        <p:nvSpPr>
          <p:cNvPr id="14340" name="Text Box 5"/>
          <p:cNvSpPr txBox="1"/>
          <p:nvPr/>
        </p:nvSpPr>
        <p:spPr>
          <a:xfrm>
            <a:off x="7388861" y="5389563"/>
            <a:ext cx="1800225" cy="3683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偶联机制二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01247" y="-74507"/>
            <a:ext cx="649248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三、生命系统中的偶联反应 </a:t>
            </a: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6803"/>
            <a:ext cx="12075886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生化反应中，在水解时或基团转移反应中可释放出大量自由能（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&gt;21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千焦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摩尔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）的化合物称为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高能化合物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1731735" y="3959226"/>
            <a:ext cx="1828800" cy="4702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高能化合物</a:t>
            </a:r>
          </a:p>
        </p:txBody>
      </p:sp>
      <p:sp>
        <p:nvSpPr>
          <p:cNvPr id="10" name="左大括号 9"/>
          <p:cNvSpPr/>
          <p:nvPr/>
        </p:nvSpPr>
        <p:spPr bwMode="auto">
          <a:xfrm>
            <a:off x="3678011" y="3167064"/>
            <a:ext cx="214313" cy="2097087"/>
          </a:xfrm>
          <a:prstGeom prst="leftBrace">
            <a:avLst>
              <a:gd name="adj1" fmla="val 81498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72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3892323" y="2951163"/>
            <a:ext cx="1905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磷酸化合物</a:t>
            </a: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3892324" y="4953000"/>
            <a:ext cx="2270649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非磷酸化合物</a:t>
            </a:r>
          </a:p>
        </p:txBody>
      </p:sp>
      <p:sp>
        <p:nvSpPr>
          <p:cNvPr id="13" name="左大括号 12"/>
          <p:cNvSpPr/>
          <p:nvPr/>
        </p:nvSpPr>
        <p:spPr bwMode="auto">
          <a:xfrm>
            <a:off x="5800223" y="2662238"/>
            <a:ext cx="215900" cy="1066800"/>
          </a:xfrm>
          <a:prstGeom prst="leftBrace">
            <a:avLst>
              <a:gd name="adj1" fmla="val 41154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7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7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7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5912426" y="2446338"/>
            <a:ext cx="115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磷氧型</a:t>
            </a: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5946157" y="3527425"/>
            <a:ext cx="115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磷氮型</a:t>
            </a:r>
          </a:p>
        </p:txBody>
      </p:sp>
      <p:sp>
        <p:nvSpPr>
          <p:cNvPr id="16" name="左大括号 15"/>
          <p:cNvSpPr/>
          <p:nvPr/>
        </p:nvSpPr>
        <p:spPr bwMode="auto">
          <a:xfrm>
            <a:off x="6188063" y="4657725"/>
            <a:ext cx="357188" cy="1371600"/>
          </a:xfrm>
          <a:prstGeom prst="leftBrace">
            <a:avLst>
              <a:gd name="adj1" fmla="val 31982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72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6589485" y="4429125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硫酯键化合物</a:t>
            </a:r>
          </a:p>
        </p:txBody>
      </p:sp>
      <p:sp>
        <p:nvSpPr>
          <p:cNvPr id="18" name="左大括号 17"/>
          <p:cNvSpPr/>
          <p:nvPr/>
        </p:nvSpPr>
        <p:spPr bwMode="auto">
          <a:xfrm>
            <a:off x="7059385" y="2085975"/>
            <a:ext cx="304800" cy="1295400"/>
          </a:xfrm>
          <a:prstGeom prst="leftBrace">
            <a:avLst>
              <a:gd name="adj1" fmla="val 35397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72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419748" y="1870075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烯醇磷酸化合物</a:t>
            </a: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7419748" y="2517775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酰基磷酸化合物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7419748" y="3167064"/>
            <a:ext cx="2808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焦磷酸化合物</a:t>
            </a: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6589485" y="5800725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甲硫键化合物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68399" y="-71884"/>
            <a:ext cx="3927678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四</a:t>
            </a:r>
            <a:r>
              <a:rPr dirty="0"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高能化合物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  <p:bldP spid="12" grpId="0" bldLvl="0" animBg="1"/>
      <p:bldP spid="14" grpId="0"/>
      <p:bldP spid="15" grpId="0"/>
      <p:bldP spid="17" grpId="0"/>
      <p:bldP spid="19" grpId="0"/>
      <p:bldP spid="20" grpId="0"/>
      <p:bldP spid="21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3074" t="1104" r="3962" b="2603"/>
          <a:stretch>
            <a:fillRect/>
          </a:stretch>
        </p:blipFill>
        <p:spPr>
          <a:xfrm>
            <a:off x="2515871" y="52706"/>
            <a:ext cx="7012305" cy="677862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>
            <a:spLocks noChangeArrowheads="1"/>
          </p:cNvSpPr>
          <p:nvPr/>
        </p:nvSpPr>
        <p:spPr bwMode="auto">
          <a:xfrm>
            <a:off x="720512" y="1768900"/>
            <a:ext cx="5375488" cy="398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有两个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高能磷酸键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，分别存在于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磷酸基团中。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pH=7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分子中的三个磷酸基团完全解离成带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个负电荷的离子形式（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ATP4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），具有较大势能，加之水解产物稳定，因而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水解自由能很大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ΔG°′=-30.5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千焦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摩尔）。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09054" y="-90198"/>
            <a:ext cx="698428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>
                <a:sym typeface="+mn-ea"/>
              </a:rPr>
              <a:t>五</a:t>
            </a:r>
            <a:r>
              <a:rPr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ATP</a:t>
            </a:r>
            <a:r>
              <a:rPr lang="zh-CN" altLang="en-US" dirty="0">
                <a:sym typeface="+mn-ea"/>
              </a:rPr>
              <a:t>的特点及其特殊作用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535" y="1072940"/>
            <a:ext cx="4385310" cy="5646419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H="1">
            <a:off x="7475220" y="1116119"/>
            <a:ext cx="10160" cy="187960"/>
          </a:xfrm>
          <a:prstGeom prst="straightConnector1">
            <a:avLst/>
          </a:prstGeom>
          <a:ln w="28575">
            <a:solidFill>
              <a:schemeClr val="accent5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8096885" y="1116119"/>
            <a:ext cx="10160" cy="187960"/>
          </a:xfrm>
          <a:prstGeom prst="straightConnector1">
            <a:avLst/>
          </a:prstGeom>
          <a:ln w="28575">
            <a:solidFill>
              <a:schemeClr val="accent5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181215" y="1768900"/>
            <a:ext cx="14643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          β         α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480301" y="949750"/>
            <a:ext cx="112839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/>
              <a:t>-30.5     -32.3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9000" y="944691"/>
            <a:ext cx="10947399" cy="2396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以基团转移的方式提供能量（单纯的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水解，只能以热量散发出能量）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是细胞内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磷酸基团转移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的中间载体。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ATP是细胞内能量代谢的偶联剂：将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合成代谢的吸能反应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分解代谢的放能反应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偶联起来，是细胞能量系统中的“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流通货币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90055" y="-69024"/>
            <a:ext cx="698428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五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ATP</a:t>
            </a:r>
            <a:r>
              <a:rPr lang="zh-CN" altLang="en-US" dirty="0">
                <a:sym typeface="+mn-ea"/>
              </a:rPr>
              <a:t>的特点及其特殊作用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01" y="3377566"/>
            <a:ext cx="6064891" cy="3096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698480" y="6237346"/>
            <a:ext cx="4161717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吸能反应：如糖酵解第一步反应（例）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553" y="1067210"/>
            <a:ext cx="4480948" cy="564690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760864" y="2982574"/>
            <a:ext cx="13377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放能反应：糖酵解第七步反应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99719" y="-60557"/>
            <a:ext cx="698428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+mn-ea"/>
              </a:rPr>
              <a:t>五</a:t>
            </a:r>
            <a:r>
              <a:rPr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ATP</a:t>
            </a:r>
            <a:r>
              <a:rPr lang="zh-CN" altLang="en-US" dirty="0">
                <a:sym typeface="+mn-ea"/>
              </a:rPr>
              <a:t>的特点及其特殊作用 </a:t>
            </a:r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5">
            <a:extLst>
              <a:ext uri="{FF2B5EF4-FFF2-40B4-BE49-F238E27FC236}">
                <a16:creationId xmlns:a16="http://schemas.microsoft.com/office/drawing/2014/main" id="{7C481236-FBD5-F6EE-FAE0-64C1D2D3C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5725" y="2349500"/>
            <a:ext cx="129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16388" name="Text Box 6">
            <a:extLst>
              <a:ext uri="{FF2B5EF4-FFF2-40B4-BE49-F238E27FC236}">
                <a16:creationId xmlns:a16="http://schemas.microsoft.com/office/drawing/2014/main" id="{357702CE-1BE4-05CD-6E5A-E9087C15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706" y="-67219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常见的高能生物分子</a:t>
            </a:r>
          </a:p>
        </p:txBody>
      </p:sp>
      <p:pic>
        <p:nvPicPr>
          <p:cNvPr id="16389" name="Picture 7">
            <a:extLst>
              <a:ext uri="{FF2B5EF4-FFF2-40B4-BE49-F238E27FC236}">
                <a16:creationId xmlns:a16="http://schemas.microsoft.com/office/drawing/2014/main" id="{DC7790AB-4C3C-9071-2884-D5BD7DBDE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30" y="839696"/>
            <a:ext cx="10783848" cy="5892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56815" y="-434501"/>
            <a:ext cx="893738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为什么可以作为能量的“流通货币”？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844088" y="6451600"/>
            <a:ext cx="2347912" cy="357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7114F8-7D55-4C82-A8EB-2E8AE1ABC3DD}" type="slidenum">
              <a:rPr lang="en-US" altLang="zh-CN" sz="1050"/>
              <a:t>44</a:t>
            </a:fld>
            <a:endParaRPr lang="en-US" altLang="zh-CN" sz="105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11" y="982980"/>
            <a:ext cx="5320665" cy="5607050"/>
          </a:xfrm>
          <a:prstGeom prst="rect">
            <a:avLst/>
          </a:prstGeom>
        </p:spPr>
      </p:pic>
      <p:sp>
        <p:nvSpPr>
          <p:cNvPr id="16387" name="Rectangle 7"/>
          <p:cNvSpPr/>
          <p:nvPr/>
        </p:nvSpPr>
        <p:spPr>
          <a:xfrm>
            <a:off x="6961461" y="1437267"/>
            <a:ext cx="4065058" cy="4437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txBody>
          <a:bodyPr wrap="square" anchor="ctr" anchorCtr="0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dirty="0">
                <a:ea typeface="楷体" panose="02010609060101010101" pitchFamily="49" charset="-122"/>
              </a:rPr>
              <a:t>磷酸烯醇式丙酮酸水解时释放的能量最高，大约为</a:t>
            </a:r>
            <a:r>
              <a:rPr lang="en-US" altLang="zh-CN" sz="2400" dirty="0">
                <a:ea typeface="楷体" panose="02010609060101010101" pitchFamily="49" charset="-122"/>
              </a:rPr>
              <a:t>ATP</a:t>
            </a:r>
            <a:r>
              <a:rPr lang="zh-CN" altLang="en-US" sz="2400" dirty="0"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ea typeface="楷体" panose="02010609060101010101" pitchFamily="49" charset="-122"/>
              </a:rPr>
              <a:t>倍，而</a:t>
            </a:r>
            <a:r>
              <a:rPr lang="en-US" altLang="zh-CN" sz="2400" dirty="0">
                <a:solidFill>
                  <a:srgbClr val="FF0000"/>
                </a:solidFill>
                <a:ea typeface="楷体" panose="02010609060101010101" pitchFamily="49" charset="-122"/>
              </a:rPr>
              <a:t>ATP</a:t>
            </a:r>
            <a:r>
              <a:rPr lang="zh-CN" altLang="en-US" sz="2400" dirty="0">
                <a:solidFill>
                  <a:srgbClr val="FF0000"/>
                </a:solidFill>
                <a:ea typeface="楷体" panose="02010609060101010101" pitchFamily="49" charset="-122"/>
              </a:rPr>
              <a:t>正好位于“中游”的位置</a:t>
            </a:r>
            <a:r>
              <a:rPr lang="zh-CN" altLang="en-US" sz="2400" dirty="0">
                <a:ea typeface="楷体" panose="02010609060101010101" pitchFamily="49" charset="-122"/>
              </a:rPr>
              <a:t>。正是</a:t>
            </a:r>
            <a:r>
              <a:rPr lang="en-US" altLang="zh-CN" sz="2400" dirty="0">
                <a:ea typeface="楷体" panose="02010609060101010101" pitchFamily="49" charset="-122"/>
              </a:rPr>
              <a:t>ATP</a:t>
            </a:r>
            <a:r>
              <a:rPr lang="zh-CN" altLang="en-US" sz="2400" dirty="0">
                <a:ea typeface="楷体" panose="02010609060101010101" pitchFamily="49" charset="-122"/>
              </a:rPr>
              <a:t>在众多的高能分子之中所处的独特位置使它成为最重要的能量载体，通过它，细胞内的放能反应和需能反应建立了偶联。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906645" y="1433831"/>
            <a:ext cx="1605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磷酸烯醇式丙酮酸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49830" y="1433831"/>
            <a:ext cx="17246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，3-二磷酸甘油酸</a:t>
            </a:r>
            <a:endParaRPr lang="zh-CN" altLang="en-US" sz="1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62245" y="2118361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磷酸肌酸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916805" y="5933441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磷酸甘油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49831" y="5414646"/>
            <a:ext cx="11817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磷酸葡萄糖</a:t>
            </a:r>
          </a:p>
        </p:txBody>
      </p:sp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5734" y="901411"/>
            <a:ext cx="10532534" cy="3160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在高能磷酸化合物中，最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直接的贮能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化合物是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磷酸肌酸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它在人类大脑中的含量是ATP的1.5倍，在肌肉中含量是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倍。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磷酸肌酸能够在高耗能时，快速将高能磷酸基团转移给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。如在肌肉紧张活动时，磷酸肌酸可以将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的恒定水平维持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，在肌肉恢复期，肌酸又用其他来源的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再合成磷酸肌酸。 催化磷酸肌酸转移高能磷酸基团的酶是肌酸激酶，反应式如下：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83187" y="-98549"/>
            <a:ext cx="597952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六</a:t>
            </a: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磷酸肌酸的储能作用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71944" y="6165906"/>
            <a:ext cx="423735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磷酸肌酸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                       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肌酸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4075"/>
          <a:stretch>
            <a:fillRect/>
          </a:stretch>
        </p:blipFill>
        <p:spPr>
          <a:xfrm>
            <a:off x="6671945" y="3604341"/>
            <a:ext cx="4237355" cy="256156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652C23C-FCEB-6D7D-A249-F2164183D5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66356" y="-24747"/>
            <a:ext cx="3960812" cy="504825"/>
          </a:xfrm>
          <a:noFill/>
        </p:spPr>
        <p:txBody>
          <a:bodyPr wrap="none" rtlCol="0" anchor="t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合成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ATP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的三种途径</a:t>
            </a:r>
            <a:endParaRPr lang="en-US" altLang="zh-CN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33F98CE-53C3-90C5-44B6-880DB6F795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«"/>
            </a:pPr>
            <a:r>
              <a:rPr lang="zh-CN" altLang="en-US" dirty="0">
                <a:ea typeface="楷体" panose="02010609060101010101" pitchFamily="49" charset="-122"/>
              </a:rPr>
              <a:t>底物水平的磷酸化</a:t>
            </a:r>
            <a:endParaRPr lang="en-US" altLang="zh-CN" dirty="0">
              <a:ea typeface="楷体" panose="02010609060101010101" pitchFamily="49" charset="-122"/>
            </a:endParaRPr>
          </a:p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«"/>
            </a:pPr>
            <a:r>
              <a:rPr lang="zh-CN" altLang="en-US" dirty="0">
                <a:ea typeface="楷体" panose="02010609060101010101" pitchFamily="49" charset="-122"/>
              </a:rPr>
              <a:t>氧化磷酸化</a:t>
            </a:r>
          </a:p>
          <a:p>
            <a:pPr eaLnBrk="1" hangingPunct="1">
              <a:buClr>
                <a:srgbClr val="FF3300"/>
              </a:buClr>
              <a:buFont typeface="Wingdings" panose="05000000000000000000" pitchFamily="2" charset="2"/>
              <a:buChar char="«"/>
            </a:pPr>
            <a:r>
              <a:rPr lang="zh-CN" altLang="en-US" dirty="0">
                <a:ea typeface="楷体" panose="02010609060101010101" pitchFamily="49" charset="-122"/>
              </a:rPr>
              <a:t>光合磷酸化</a:t>
            </a:r>
            <a:endParaRPr lang="en-US" altLang="zh-CN" dirty="0">
              <a:ea typeface="楷体" panose="02010609060101010101" pitchFamily="49" charset="-122"/>
            </a:endParaRPr>
          </a:p>
        </p:txBody>
      </p:sp>
      <p:pic>
        <p:nvPicPr>
          <p:cNvPr id="19460" name="Picture 6">
            <a:extLst>
              <a:ext uri="{FF2B5EF4-FFF2-40B4-BE49-F238E27FC236}">
                <a16:creationId xmlns:a16="http://schemas.microsoft.com/office/drawing/2014/main" id="{639C0B0C-88C7-4EF5-2D54-C47A52CD6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00" y="1036077"/>
            <a:ext cx="415925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7">
            <a:extLst>
              <a:ext uri="{FF2B5EF4-FFF2-40B4-BE49-F238E27FC236}">
                <a16:creationId xmlns:a16="http://schemas.microsoft.com/office/drawing/2014/main" id="{A5B34B43-82C4-ADBB-E1CF-2E0E9D932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725" y="5789052"/>
            <a:ext cx="2952750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底物水平磷酸化</a:t>
            </a: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29829e-cd64-4b86-95f5-d7d26433ce2d"/>
  <p:tag name="COMMONDATA" val="eyJoZGlkIjoiZTQ4ODQwNThiYTg4YTBlNDhkZDRmNGNiNWM5NWE1Y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852,&quot;width&quot;:66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484,&quot;width&quot;:46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556,&quot;width&quot;:859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105</TotalTime>
  <Words>1911</Words>
  <Application>Microsoft Office PowerPoint</Application>
  <PresentationFormat>宽屏</PresentationFormat>
  <Paragraphs>241</Paragraphs>
  <Slides>46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2" baseType="lpstr">
      <vt:lpstr>等线</vt:lpstr>
      <vt:lpstr>楷体</vt:lpstr>
      <vt:lpstr>宋体</vt:lpstr>
      <vt:lpstr>微软雅黑</vt:lpstr>
      <vt:lpstr>Arial</vt:lpstr>
      <vt:lpstr>Calibri</vt:lpstr>
      <vt:lpstr>Calibri Light</vt:lpstr>
      <vt:lpstr>Comic Sans MS</vt:lpstr>
      <vt:lpstr>Impact</vt:lpstr>
      <vt:lpstr>Times</vt:lpstr>
      <vt:lpstr>Times New Roman</vt:lpstr>
      <vt:lpstr>Wingdings</vt:lpstr>
      <vt:lpstr>Office 主题​​</vt:lpstr>
      <vt:lpstr>2_Office 主题​​</vt:lpstr>
      <vt:lpstr>3_Office 主题​​</vt:lpstr>
      <vt:lpstr>MSPhotoEd.3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代谢的基本特征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化学和生化反应的标准条件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合成ATP的三种途径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Admin</cp:lastModifiedBy>
  <cp:revision>131</cp:revision>
  <dcterms:created xsi:type="dcterms:W3CDTF">2020-09-19T13:39:00Z</dcterms:created>
  <dcterms:modified xsi:type="dcterms:W3CDTF">2023-11-28T02:32:45Z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2B09551B2D4E4C19922A480F010F698F</vt:lpwstr>
  </property>
  <property fmtid="{D5CDD505-2E9C-101B-9397-08002B2CF9AE}" pid="3" name="KSOProductBuildVer">
    <vt:lpwstr>2052-11.1.0.14309</vt:lpwstr>
  </property>
</Properties>
</file>