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Lst>
  <p:notesMasterIdLst>
    <p:notesMasterId r:id="rId63"/>
  </p:notesMasterIdLst>
  <p:sldIdLst>
    <p:sldId id="1205" r:id="rId4"/>
    <p:sldId id="624" r:id="rId5"/>
    <p:sldId id="657" r:id="rId6"/>
    <p:sldId id="629" r:id="rId7"/>
    <p:sldId id="630" r:id="rId8"/>
    <p:sldId id="1207" r:id="rId9"/>
    <p:sldId id="1206" r:id="rId10"/>
    <p:sldId id="658" r:id="rId11"/>
    <p:sldId id="875" r:id="rId12"/>
    <p:sldId id="963" r:id="rId13"/>
    <p:sldId id="821" r:id="rId14"/>
    <p:sldId id="964" r:id="rId15"/>
    <p:sldId id="867" r:id="rId16"/>
    <p:sldId id="621" r:id="rId17"/>
    <p:sldId id="1208" r:id="rId18"/>
    <p:sldId id="859" r:id="rId19"/>
    <p:sldId id="455" r:id="rId20"/>
    <p:sldId id="869" r:id="rId21"/>
    <p:sldId id="870" r:id="rId22"/>
    <p:sldId id="871" r:id="rId23"/>
    <p:sldId id="872" r:id="rId24"/>
    <p:sldId id="873" r:id="rId25"/>
    <p:sldId id="431" r:id="rId26"/>
    <p:sldId id="632" r:id="rId27"/>
    <p:sldId id="1209" r:id="rId28"/>
    <p:sldId id="1216" r:id="rId29"/>
    <p:sldId id="1217" r:id="rId30"/>
    <p:sldId id="1215" r:id="rId31"/>
    <p:sldId id="1214" r:id="rId32"/>
    <p:sldId id="435" r:id="rId33"/>
    <p:sldId id="309" r:id="rId34"/>
    <p:sldId id="927" r:id="rId35"/>
    <p:sldId id="1213" r:id="rId36"/>
    <p:sldId id="1211" r:id="rId37"/>
    <p:sldId id="646" r:id="rId38"/>
    <p:sldId id="647" r:id="rId39"/>
    <p:sldId id="1218" r:id="rId40"/>
    <p:sldId id="442" r:id="rId41"/>
    <p:sldId id="443" r:id="rId42"/>
    <p:sldId id="444" r:id="rId43"/>
    <p:sldId id="445" r:id="rId44"/>
    <p:sldId id="446" r:id="rId45"/>
    <p:sldId id="448" r:id="rId46"/>
    <p:sldId id="450" r:id="rId47"/>
    <p:sldId id="452" r:id="rId48"/>
    <p:sldId id="692" r:id="rId49"/>
    <p:sldId id="914" r:id="rId50"/>
    <p:sldId id="701" r:id="rId51"/>
    <p:sldId id="703" r:id="rId52"/>
    <p:sldId id="706" r:id="rId53"/>
    <p:sldId id="709" r:id="rId54"/>
    <p:sldId id="711" r:id="rId55"/>
    <p:sldId id="918" r:id="rId56"/>
    <p:sldId id="999" r:id="rId57"/>
    <p:sldId id="712" r:id="rId58"/>
    <p:sldId id="713" r:id="rId59"/>
    <p:sldId id="928" r:id="rId60"/>
    <p:sldId id="714" r:id="rId61"/>
    <p:sldId id="698" r:id="rId62"/>
  </p:sldIdLst>
  <p:sldSz cx="12192000" cy="6858000"/>
  <p:notesSz cx="6858000" cy="9144000"/>
  <p:custDataLst>
    <p:tags r:id="rId6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04" autoAdjust="0"/>
    <p:restoredTop sz="86121" autoAdjust="0"/>
  </p:normalViewPr>
  <p:slideViewPr>
    <p:cSldViewPr snapToGrid="0">
      <p:cViewPr varScale="1">
        <p:scale>
          <a:sx n="97" d="100"/>
          <a:sy n="97" d="100"/>
        </p:scale>
        <p:origin x="136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gs" Target="tags/tag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heme" Target="theme/theme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3DD6F7-F09E-4907-BF79-6C84CA457639}" type="datetimeFigureOut">
              <a:rPr lang="zh-CN" altLang="en-US" smtClean="0"/>
              <a:t>2023/11/11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19383A-97AB-4E9F-ADB2-1ECE650A7D9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93700" y="690563"/>
            <a:ext cx="6146800" cy="3457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519383A-97AB-4E9F-ADB2-1ECE650A7D9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519383A-97AB-4E9F-ADB2-1ECE650A7D9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3754563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519383A-97AB-4E9F-ADB2-1ECE650A7D90}" type="slidenum">
              <a:rPr lang="zh-CN" altLang="en-US" smtClean="0"/>
              <a:t>26</a:t>
            </a:fld>
            <a:endParaRPr lang="zh-CN" altLang="en-US"/>
          </a:p>
        </p:txBody>
      </p:sp>
    </p:spTree>
    <p:extLst>
      <p:ext uri="{BB962C8B-B14F-4D97-AF65-F5344CB8AC3E}">
        <p14:creationId xmlns:p14="http://schemas.microsoft.com/office/powerpoint/2010/main" val="3266790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r>
              <a:rPr lang="zh-CN" altLang="en-US"/>
              <a:t>亲核性是指带负电荷或孤对电子的试剂即亲核试剂对亲电子原子的进攻的能力。</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该酶的半胱氨酸残基中的巯基与甘油醛-3-磷酸形成</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共价键</a:t>
            </a:r>
            <a:r>
              <a:rPr lang="zh-CN" altLang="en-US" sz="1200" dirty="0">
                <a:latin typeface="微软雅黑" panose="020B0503020204020204" pitchFamily="34" charset="-122"/>
                <a:ea typeface="微软雅黑" panose="020B0503020204020204" pitchFamily="34" charset="-122"/>
                <a:cs typeface="微软雅黑" panose="020B0503020204020204" pitchFamily="34" charset="-122"/>
              </a:rPr>
              <a:t>，形成硫代半缩醛中间体。</a:t>
            </a:r>
            <a:endParaRPr lang="zh-CN" altLang="en-US" dirty="0"/>
          </a:p>
        </p:txBody>
      </p:sp>
      <p:sp>
        <p:nvSpPr>
          <p:cNvPr id="4" name="灯片编号占位符 3"/>
          <p:cNvSpPr>
            <a:spLocks noGrp="1"/>
          </p:cNvSpPr>
          <p:nvPr>
            <p:ph type="sldNum" sz="quarter" idx="5"/>
          </p:nvPr>
        </p:nvSpPr>
        <p:spPr/>
        <p:txBody>
          <a:bodyPr/>
          <a:lstStyle/>
          <a:p>
            <a:fld id="{7519383A-97AB-4E9F-ADB2-1ECE650A7D90}" type="slidenum">
              <a:rPr lang="zh-CN" altLang="en-US" smtClean="0"/>
              <a:t>34</a:t>
            </a:fld>
            <a:endParaRPr lang="zh-CN" altLang="en-US"/>
          </a:p>
        </p:txBody>
      </p:sp>
    </p:spTree>
    <p:extLst>
      <p:ext uri="{BB962C8B-B14F-4D97-AF65-F5344CB8AC3E}">
        <p14:creationId xmlns:p14="http://schemas.microsoft.com/office/powerpoint/2010/main" val="3031525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金属蛋白酶</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1200" dirty="0">
                <a:latin typeface="Times New Roman" panose="02020603050405020304" pitchFamily="18" charset="0"/>
                <a:ea typeface="楷体" panose="02010609060101010101" pitchFamily="49" charset="-122"/>
                <a:cs typeface="Times New Roman" panose="02020603050405020304" pitchFamily="18" charset="0"/>
              </a:rPr>
              <a:t>天冬氨酸蛋白酶</a:t>
            </a:r>
            <a:r>
              <a:rPr lang="zh-CN" altLang="en-US" sz="1200" dirty="0">
                <a:latin typeface="Times New Roman" panose="02020603050405020304" pitchFamily="18" charset="0"/>
                <a:ea typeface="楷体" panose="02010609060101010101" pitchFamily="49" charset="-122"/>
                <a:cs typeface="Times New Roman" panose="02020603050405020304" pitchFamily="18" charset="0"/>
              </a:rPr>
              <a:t>不进行共价催化</a:t>
            </a:r>
            <a:endParaRPr lang="zh-CN" altLang="en-US" dirty="0"/>
          </a:p>
        </p:txBody>
      </p:sp>
      <p:sp>
        <p:nvSpPr>
          <p:cNvPr id="4" name="灯片编号占位符 3"/>
          <p:cNvSpPr>
            <a:spLocks noGrp="1"/>
          </p:cNvSpPr>
          <p:nvPr>
            <p:ph type="sldNum" sz="quarter" idx="5"/>
          </p:nvPr>
        </p:nvSpPr>
        <p:spPr/>
        <p:txBody>
          <a:bodyPr/>
          <a:lstStyle/>
          <a:p>
            <a:fld id="{2E56305F-072A-41BC-8AF6-81E568B63C04}" type="slidenum">
              <a:rPr lang="en-US" altLang="zh-CN" smtClean="0"/>
              <a:pPr/>
              <a:t>38</a:t>
            </a:fld>
            <a:endParaRPr lang="en-US" altLang="zh-CN"/>
          </a:p>
        </p:txBody>
      </p:sp>
    </p:spTree>
    <p:extLst>
      <p:ext uri="{BB962C8B-B14F-4D97-AF65-F5344CB8AC3E}">
        <p14:creationId xmlns:p14="http://schemas.microsoft.com/office/powerpoint/2010/main" val="24618807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E56305F-072A-41BC-8AF6-81E568B63C04}" type="slidenum">
              <a:rPr lang="en-US" altLang="zh-CN" smtClean="0"/>
              <a:pPr/>
              <a:t>39</a:t>
            </a:fld>
            <a:endParaRPr lang="en-US" altLang="zh-CN"/>
          </a:p>
        </p:txBody>
      </p:sp>
    </p:spTree>
    <p:extLst>
      <p:ext uri="{BB962C8B-B14F-4D97-AF65-F5344CB8AC3E}">
        <p14:creationId xmlns:p14="http://schemas.microsoft.com/office/powerpoint/2010/main" val="41575777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685800" y="1143000"/>
            <a:ext cx="5486400" cy="30861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BAC413C-B4C7-4D74-84B1-3A5243B271CC}"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2023/11/11</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2023/11/11</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2023/11/11</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2023/11/11</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F1D968E2-24A8-46F5-BB3F-C7A9E32908A9}" type="datetime1">
              <a:rPr lang="zh-CN" altLang="en-US" smtClean="0"/>
              <a:t>2023/11/11</a:t>
            </a:fld>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Tree>
  </p:cSld>
  <p:clrMapOvr>
    <a:masterClrMapping/>
  </p:clrMapOvr>
  <p:transition>
    <p:rand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pic>
        <p:nvPicPr>
          <p:cNvPr id="5" name="图片 4"/>
          <p:cNvPicPr>
            <a:picLocks noChangeAspect="1"/>
          </p:cNvPicPr>
          <p:nvPr userDrawn="1"/>
        </p:nvPicPr>
        <p:blipFill rotWithShape="1">
          <a:blip r:embed="rId2">
            <a:extLst>
              <a:ext uri="{BEBA8EAE-BF5A-486C-A8C5-ECC9F3942E4B}">
                <a14:imgProps xmlns:a14="http://schemas.microsoft.com/office/drawing/2010/main">
                  <a14:imgLayer r:embed="rId3">
                    <a14:imgEffect>
                      <a14:colorTemperature colorTemp="4700"/>
                    </a14:imgEffect>
                    <a14:imgEffect>
                      <a14:saturation sat="33000"/>
                    </a14:imgEffect>
                  </a14:imgLayer>
                </a14:imgProps>
              </a:ext>
              <a:ext uri="{28A0092B-C50C-407E-A947-70E740481C1C}">
                <a14:useLocalDpi xmlns:a14="http://schemas.microsoft.com/office/drawing/2010/main" val="0"/>
              </a:ext>
            </a:extLst>
          </a:blip>
          <a:srcRect l="-23672" t="65924" r="-370" b="23585"/>
          <a:stretch>
            <a:fillRect/>
          </a:stretch>
        </p:blipFill>
        <p:spPr>
          <a:xfrm>
            <a:off x="-2890383" y="0"/>
            <a:ext cx="15138000" cy="884397"/>
          </a:xfrm>
          <a:prstGeom prst="rect">
            <a:avLst/>
          </a:prstGeom>
          <a:ln>
            <a:noFill/>
          </a:ln>
        </p:spPr>
      </p:pic>
      <p:sp>
        <p:nvSpPr>
          <p:cNvPr id="6" name="矩形 5"/>
          <p:cNvSpPr/>
          <p:nvPr userDrawn="1"/>
        </p:nvSpPr>
        <p:spPr>
          <a:xfrm>
            <a:off x="-6263" y="-3362"/>
            <a:ext cx="12211251" cy="884397"/>
          </a:xfrm>
          <a:prstGeom prst="rect">
            <a:avLst/>
          </a:prstGeom>
          <a:solidFill>
            <a:schemeClr val="tx1">
              <a:lumMod val="85000"/>
              <a:lumOff val="1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Tree>
  </p:cSld>
  <p:clrMapOvr>
    <a:masterClrMapping/>
  </p:clrMapOvr>
  <p:transition>
    <p:rand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2023/11/11</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2023/11/11</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2023/11/11</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2023/11/11</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2023/11/11</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0.xml"/><Relationship Id="rId1" Type="http://schemas.openxmlformats.org/officeDocument/2006/relationships/tags" Target="../tags/tag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0.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7.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0.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0.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0.xml"/><Relationship Id="rId1" Type="http://schemas.openxmlformats.org/officeDocument/2006/relationships/slideLayout" Target="../slideLayouts/slideLayout30.xml"/><Relationship Id="rId4" Type="http://schemas.openxmlformats.org/officeDocument/2006/relationships/image" Target="../media/image47.png"/></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1.xml"/><Relationship Id="rId1" Type="http://schemas.openxmlformats.org/officeDocument/2006/relationships/slideLayout" Target="../slideLayouts/slideLayout3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30.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4.xml"/><Relationship Id="rId1" Type="http://schemas.openxmlformats.org/officeDocument/2006/relationships/slideLayout" Target="../slideLayouts/slideLayout30.xml"/><Relationship Id="rId4" Type="http://schemas.openxmlformats.org/officeDocument/2006/relationships/image" Target="../media/image5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0.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30.xml"/></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7.xml"/><Relationship Id="rId1" Type="http://schemas.openxmlformats.org/officeDocument/2006/relationships/slideLayout" Target="../slideLayouts/slideLayout30.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8.xml"/><Relationship Id="rId1" Type="http://schemas.openxmlformats.org/officeDocument/2006/relationships/slideLayout" Target="../slideLayouts/slideLayout30.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9.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MolMotion"/>
          <p:cNvPicPr>
            <a:picLocks noChangeAspect="1"/>
          </p:cNvPicPr>
          <p:nvPr/>
        </p:nvPicPr>
        <p:blipFill>
          <a:blip r:embed="rId3"/>
          <a:srcRect l="8759"/>
          <a:stretch>
            <a:fillRect/>
          </a:stretch>
        </p:blipFill>
        <p:spPr>
          <a:xfrm>
            <a:off x="0" y="13970"/>
            <a:ext cx="8264504" cy="6858000"/>
          </a:xfrm>
          <a:prstGeom prst="rect">
            <a:avLst/>
          </a:prstGeom>
        </p:spPr>
      </p:pic>
      <p:sp>
        <p:nvSpPr>
          <p:cNvPr id="6" name="文本框 5"/>
          <p:cNvSpPr txBox="1"/>
          <p:nvPr/>
        </p:nvSpPr>
        <p:spPr>
          <a:xfrm>
            <a:off x="8608945" y="2635546"/>
            <a:ext cx="2917135" cy="1877437"/>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第</a:t>
            </a:r>
            <a:r>
              <a:rPr lang="en-US" altLang="zh-CN" sz="3600" b="1" dirty="0">
                <a:solidFill>
                  <a:prstClr val="black"/>
                </a:solidFill>
                <a:latin typeface="Times New Roman" panose="02020603050405020304" pitchFamily="18" charset="0"/>
                <a:ea typeface="等线" panose="02010600030101010101" pitchFamily="2" charset="-122"/>
                <a:cs typeface="Times New Roman" panose="02020603050405020304" pitchFamily="18" charset="0"/>
              </a:rPr>
              <a:t>6</a:t>
            </a:r>
            <a:r>
              <a:rPr kumimoji="0" lang="zh-CN" altLang="en-US"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章</a:t>
            </a:r>
            <a:endPar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酶结构和作用机制</a:t>
            </a: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56954" y="112730"/>
            <a:ext cx="2236510" cy="707886"/>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本章内容</a:t>
            </a:r>
          </a:p>
        </p:txBody>
      </p:sp>
      <p:pic>
        <p:nvPicPr>
          <p:cNvPr id="3" name="图片 2"/>
          <p:cNvPicPr>
            <a:picLocks noChangeAspect="1"/>
          </p:cNvPicPr>
          <p:nvPr>
            <p:custDataLst>
              <p:tags r:id="rId1"/>
            </p:custDataLst>
          </p:nvPr>
        </p:nvPicPr>
        <p:blipFill>
          <a:blip r:embed="rId4"/>
          <a:stretch>
            <a:fillRect/>
          </a:stretch>
        </p:blipFill>
        <p:spPr>
          <a:xfrm>
            <a:off x="2236471" y="1804670"/>
            <a:ext cx="4130675" cy="2540000"/>
          </a:xfrm>
          <a:prstGeom prst="rect">
            <a:avLst/>
          </a:prstGeom>
        </p:spPr>
      </p:pic>
      <p:sp>
        <p:nvSpPr>
          <p:cNvPr id="5" name="文本框 4"/>
          <p:cNvSpPr txBox="1"/>
          <p:nvPr/>
        </p:nvSpPr>
        <p:spPr>
          <a:xfrm>
            <a:off x="2145665" y="4344671"/>
            <a:ext cx="4221480" cy="829945"/>
          </a:xfrm>
          <a:prstGeom prst="rect">
            <a:avLst/>
          </a:prstGeom>
          <a:noFill/>
        </p:spPr>
        <p:txBody>
          <a:bodyPr wrap="square" rtlCol="0" anchor="t">
            <a:spAutoFit/>
          </a:bodyPr>
          <a:lstStyle/>
          <a:p>
            <a:pPr algn="just"/>
            <a:r>
              <a:rPr lang="zh-CN" altLang="en-US" sz="1600" dirty="0">
                <a:latin typeface="Comic Sans MS" panose="030F0702030302020204" charset="0"/>
                <a:cs typeface="Comic Sans MS" panose="030F0702030302020204" charset="0"/>
              </a:rPr>
              <a:t>Like the workings of machines, the details of enzyme</a:t>
            </a:r>
            <a:r>
              <a:rPr lang="en-US" altLang="zh-CN" sz="1600" dirty="0">
                <a:latin typeface="Comic Sans MS" panose="030F0702030302020204" charset="0"/>
                <a:cs typeface="Comic Sans MS" panose="030F0702030302020204" charset="0"/>
              </a:rPr>
              <a:t> </a:t>
            </a:r>
            <a:r>
              <a:rPr lang="zh-CN" altLang="en-US" sz="1600" dirty="0">
                <a:latin typeface="Comic Sans MS" panose="030F0702030302020204" charset="0"/>
                <a:cs typeface="Comic Sans MS" panose="030F0702030302020204" charset="0"/>
              </a:rPr>
              <a:t>mechanisms are at once complex and simple.</a:t>
            </a:r>
          </a:p>
        </p:txBody>
      </p:sp>
      <p:sp>
        <p:nvSpPr>
          <p:cNvPr id="6" name="Rectangle 3"/>
          <p:cNvSpPr txBox="1"/>
          <p:nvPr/>
        </p:nvSpPr>
        <p:spPr>
          <a:xfrm>
            <a:off x="6775561" y="2215116"/>
            <a:ext cx="6119813" cy="3786187"/>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ct val="0"/>
              </a:spcBef>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6.1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酶的活性中心</a:t>
            </a:r>
          </a:p>
          <a:p>
            <a:pPr>
              <a:lnSpc>
                <a:spcPct val="150000"/>
              </a:lnSpc>
              <a:spcBef>
                <a:spcPct val="0"/>
              </a:spcBef>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6.2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酶的催化机制</a:t>
            </a:r>
          </a:p>
          <a:p>
            <a:pPr>
              <a:lnSpc>
                <a:spcPct val="150000"/>
              </a:lnSpc>
              <a:spcBef>
                <a:spcPct val="0"/>
              </a:spcBef>
            </a:pPr>
            <a:r>
              <a:rPr lang="en-US" altLang="zh-CN" b="1" dirty="0">
                <a:latin typeface="微软雅黑" panose="020B0503020204020204" pitchFamily="34" charset="-122"/>
                <a:ea typeface="微软雅黑" panose="020B0503020204020204" pitchFamily="34" charset="-122"/>
                <a:cs typeface="微软雅黑" panose="020B0503020204020204" pitchFamily="34" charset="-122"/>
              </a:rPr>
              <a:t>6.3   </a:t>
            </a: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酶活性的调节</a:t>
            </a: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9" name="文本框 18"/>
            <p:cNvSpPr txBox="1"/>
            <p:nvPr/>
          </p:nvSpPr>
          <p:spPr>
            <a:xfrm>
              <a:off x="627708" y="261897"/>
              <a:ext cx="662834" cy="559241"/>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Impact" panose="020B0806030902050204" pitchFamily="34" charset="0"/>
                </a:rPr>
                <a:t>6.1</a:t>
              </a:r>
              <a:endParaRPr lang="zh-CN" altLang="en-US" sz="8000" dirty="0">
                <a:solidFill>
                  <a:schemeClr val="bg1">
                    <a:lumMod val="95000"/>
                  </a:schemeClr>
                </a:solidFill>
                <a:latin typeface="Impact" panose="020B0806030902050204" pitchFamily="34" charset="0"/>
              </a:endParaRPr>
            </a:p>
          </p:txBody>
        </p:sp>
      </p:grpSp>
      <p:sp>
        <p:nvSpPr>
          <p:cNvPr id="20" name="TextBox 48"/>
          <p:cNvSpPr txBox="1"/>
          <p:nvPr/>
        </p:nvSpPr>
        <p:spPr>
          <a:xfrm>
            <a:off x="4965065" y="2737486"/>
            <a:ext cx="6250940" cy="807085"/>
          </a:xfrm>
          <a:prstGeom prst="rect">
            <a:avLst/>
          </a:prstGeom>
          <a:noFill/>
        </p:spPr>
        <p:txBody>
          <a:bodyPr wrap="square" lIns="68584" tIns="34291" rIns="68584" bIns="34291" rtlCol="0">
            <a:spAutoFit/>
          </a:bodyPr>
          <a:lstStyle/>
          <a:p>
            <a:r>
              <a:rPr lang="zh-CN" altLang="en-US" sz="4800" b="1" dirty="0">
                <a:solidFill>
                  <a:schemeClr val="tx1">
                    <a:lumMod val="75000"/>
                    <a:lumOff val="25000"/>
                  </a:schemeClr>
                </a:solidFill>
                <a:latin typeface="微软雅黑" panose="020B0503020204020204" pitchFamily="34" charset="-122"/>
                <a:ea typeface="微软雅黑" panose="020B0503020204020204" pitchFamily="34" charset="-122"/>
              </a:rPr>
              <a:t>酶的活性部位</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9105990" y="2392367"/>
            <a:ext cx="3086010" cy="3137176"/>
          </a:xfrm>
          <a:prstGeom prst="rect">
            <a:avLst/>
          </a:prstGeom>
        </p:spPr>
      </p:pic>
      <p:sp>
        <p:nvSpPr>
          <p:cNvPr id="10" name="矩形 9"/>
          <p:cNvSpPr/>
          <p:nvPr/>
        </p:nvSpPr>
        <p:spPr>
          <a:xfrm>
            <a:off x="1889125" y="-105657"/>
            <a:ext cx="8108950" cy="183024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酶的活性中心</a:t>
            </a:r>
            <a:b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br>
            <a:endPar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 name="文本框 3"/>
          <p:cNvSpPr txBox="1"/>
          <p:nvPr/>
        </p:nvSpPr>
        <p:spPr>
          <a:xfrm>
            <a:off x="336885" y="1301309"/>
            <a:ext cx="8417006" cy="5229958"/>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酶的活性中心也称为活性部位，是指酶分子上直接与底物结合，并与催化作用直接相关的区域。</a:t>
            </a:r>
          </a:p>
          <a:p>
            <a:pPr marL="342900" indent="-3429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活性中心由</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结合基团</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zh-CN" altLang="en-US" sz="2800" b="1" dirty="0">
                <a:solidFill>
                  <a:srgbClr val="FF0000"/>
                </a:solidFill>
                <a:latin typeface="微软雅黑" panose="020B0503020204020204" pitchFamily="34" charset="-122"/>
                <a:ea typeface="微软雅黑" panose="020B0503020204020204" pitchFamily="34" charset="-122"/>
                <a:sym typeface="+mn-ea"/>
              </a:rPr>
              <a:t>催化基团</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组成。前者负责与底物结合，决定酶的专一性，后者参与催化，负责底物旧键的断裂和产物新键的形成。但也可能有某些基团两者兼而有之。</a:t>
            </a:r>
          </a:p>
          <a:p>
            <a:pPr marL="342900" indent="-342900">
              <a:lnSpc>
                <a:spcPct val="150000"/>
              </a:lnSpc>
              <a:spcBef>
                <a:spcPct val="100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需要</a:t>
            </a:r>
            <a:r>
              <a:rPr lang="zh-CN" altLang="en-US" sz="2800"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辅酶</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的酶来说，辅酶分子或辅酶分子上的某部分，往往也是酶活性中心组成部分 。</a:t>
            </a: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9753600" y="1956858"/>
            <a:ext cx="1909010" cy="1772931"/>
          </a:xfrm>
          <a:prstGeom prst="rect">
            <a:avLst/>
          </a:prstGeom>
        </p:spPr>
      </p:pic>
      <p:sp>
        <p:nvSpPr>
          <p:cNvPr id="4" name="文本框 3"/>
          <p:cNvSpPr txBox="1"/>
          <p:nvPr/>
        </p:nvSpPr>
        <p:spPr>
          <a:xfrm>
            <a:off x="0" y="849221"/>
            <a:ext cx="12192000" cy="5186869"/>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活性部位在酶分子的总体中只占相当小的部分（约</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1%-2%</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342900" indent="-3429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酶的活性部位是一个</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三维实体</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；通常由在一级结构上并不相邻的氨基酸残基组成</a:t>
            </a:r>
          </a:p>
          <a:p>
            <a:pPr marL="342900" indent="-3429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酶的活性部位</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并不</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是和底物的形状</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正好互补</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的，</a:t>
            </a:r>
          </a:p>
          <a:p>
            <a:pPr marL="342900" indent="-3429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酶的活性部位是位于酶分子表面的一个</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空穴或缝，</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中心内多为疏水氨基酸残基，但也有少量极性氨基酸残基，以便底物结合和进行催化； </a:t>
            </a:r>
          </a:p>
          <a:p>
            <a:pPr marL="342900" indent="-3429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底物通过多种</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非共价键</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（氢键、疏水键和范德华力）结合到酶上；</a:t>
            </a:r>
          </a:p>
          <a:p>
            <a:pPr marL="342900" indent="-34290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酶活性部位具有</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柔性 </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或可运动性。</a:t>
            </a:r>
          </a:p>
        </p:txBody>
      </p:sp>
      <p:sp>
        <p:nvSpPr>
          <p:cNvPr id="10" name="矩形 9"/>
          <p:cNvSpPr/>
          <p:nvPr/>
        </p:nvSpPr>
        <p:spPr>
          <a:xfrm>
            <a:off x="1922255" y="-65901"/>
            <a:ext cx="8108950" cy="183024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（二）酶的活性部位的特点</a:t>
            </a:r>
            <a:b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br>
            <a:endPar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0BD6152-3F4B-42EC-1C26-D1C5657E6348}"/>
              </a:ext>
            </a:extLst>
          </p:cNvPr>
          <p:cNvPicPr>
            <a:picLocks noChangeAspect="1"/>
          </p:cNvPicPr>
          <p:nvPr/>
        </p:nvPicPr>
        <p:blipFill>
          <a:blip r:embed="rId2"/>
          <a:stretch>
            <a:fillRect/>
          </a:stretch>
        </p:blipFill>
        <p:spPr>
          <a:xfrm>
            <a:off x="0" y="0"/>
            <a:ext cx="12200731" cy="6858000"/>
          </a:xfrm>
          <a:prstGeom prst="rect">
            <a:avLst/>
          </a:prstGeom>
        </p:spPr>
      </p:pic>
    </p:spTree>
    <p:extLst>
      <p:ext uri="{BB962C8B-B14F-4D97-AF65-F5344CB8AC3E}">
        <p14:creationId xmlns:p14="http://schemas.microsoft.com/office/powerpoint/2010/main" val="3089577170"/>
      </p:ext>
    </p:extLst>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6789535-5961-03EE-91D3-55BF1DB4D7FB}"/>
              </a:ext>
            </a:extLst>
          </p:cNvPr>
          <p:cNvSpPr/>
          <p:nvPr/>
        </p:nvSpPr>
        <p:spPr>
          <a:xfrm>
            <a:off x="1922255" y="-65901"/>
            <a:ext cx="8108950" cy="906915"/>
          </a:xfrm>
          <a:prstGeom prst="rect">
            <a:avLst/>
          </a:prstGeom>
        </p:spPr>
        <p:txBody>
          <a:bodyPr wrap="square">
            <a:spAutoFit/>
          </a:bodyPr>
          <a:lstStyle/>
          <a:p>
            <a:pPr algn="ctr" defTabSz="914400" fontAlgn="base">
              <a:lnSpc>
                <a:spcPct val="150000"/>
              </a:lnSpc>
              <a:spcBef>
                <a:spcPct val="0"/>
              </a:spcBef>
              <a:spcAft>
                <a:spcPct val="0"/>
              </a:spcAft>
              <a:defRPr/>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（三）必需基团与活性中心的关系</a:t>
            </a:r>
            <a:endPar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37DB4C4B-CBF1-6F50-26A2-853F7DBA513A}"/>
              </a:ext>
            </a:extLst>
          </p:cNvPr>
          <p:cNvPicPr>
            <a:picLocks noChangeAspect="1"/>
          </p:cNvPicPr>
          <p:nvPr/>
        </p:nvPicPr>
        <p:blipFill>
          <a:blip r:embed="rId2"/>
          <a:stretch>
            <a:fillRect/>
          </a:stretch>
        </p:blipFill>
        <p:spPr>
          <a:xfrm>
            <a:off x="0" y="4808143"/>
            <a:ext cx="12192000" cy="1453662"/>
          </a:xfrm>
          <a:prstGeom prst="rect">
            <a:avLst/>
          </a:prstGeom>
        </p:spPr>
      </p:pic>
      <p:grpSp>
        <p:nvGrpSpPr>
          <p:cNvPr id="11" name="组合 10">
            <a:extLst>
              <a:ext uri="{FF2B5EF4-FFF2-40B4-BE49-F238E27FC236}">
                <a16:creationId xmlns:a16="http://schemas.microsoft.com/office/drawing/2014/main" id="{AD094B8D-D30C-9F57-D494-C290D386FACD}"/>
              </a:ext>
            </a:extLst>
          </p:cNvPr>
          <p:cNvGrpSpPr/>
          <p:nvPr/>
        </p:nvGrpSpPr>
        <p:grpSpPr>
          <a:xfrm>
            <a:off x="0" y="1075054"/>
            <a:ext cx="12192000" cy="3499049"/>
            <a:chOff x="0" y="880182"/>
            <a:chExt cx="12192000" cy="3499049"/>
          </a:xfrm>
        </p:grpSpPr>
        <p:pic>
          <p:nvPicPr>
            <p:cNvPr id="6" name="图片 5">
              <a:extLst>
                <a:ext uri="{FF2B5EF4-FFF2-40B4-BE49-F238E27FC236}">
                  <a16:creationId xmlns:a16="http://schemas.microsoft.com/office/drawing/2014/main" id="{47F2CD23-1D35-7F7F-2121-4542DFD53CB7}"/>
                </a:ext>
              </a:extLst>
            </p:cNvPr>
            <p:cNvPicPr>
              <a:picLocks noChangeAspect="1"/>
            </p:cNvPicPr>
            <p:nvPr/>
          </p:nvPicPr>
          <p:blipFill>
            <a:blip r:embed="rId3"/>
            <a:stretch>
              <a:fillRect/>
            </a:stretch>
          </p:blipFill>
          <p:spPr>
            <a:xfrm>
              <a:off x="0" y="880182"/>
              <a:ext cx="12192000" cy="3499049"/>
            </a:xfrm>
            <a:prstGeom prst="rect">
              <a:avLst/>
            </a:prstGeom>
          </p:spPr>
        </p:pic>
        <p:sp>
          <p:nvSpPr>
            <p:cNvPr id="10" name="文本框 9">
              <a:extLst>
                <a:ext uri="{FF2B5EF4-FFF2-40B4-BE49-F238E27FC236}">
                  <a16:creationId xmlns:a16="http://schemas.microsoft.com/office/drawing/2014/main" id="{E1A24196-7AB9-B7A9-AB4A-9117F5C3BA45}"/>
                </a:ext>
              </a:extLst>
            </p:cNvPr>
            <p:cNvSpPr txBox="1"/>
            <p:nvPr/>
          </p:nvSpPr>
          <p:spPr>
            <a:xfrm>
              <a:off x="112427" y="3049462"/>
              <a:ext cx="2390931" cy="1077218"/>
            </a:xfrm>
            <a:prstGeom prst="rect">
              <a:avLst/>
            </a:prstGeom>
            <a:noFill/>
          </p:spPr>
          <p:txBody>
            <a:bodyPr wrap="square">
              <a:spAutoFit/>
            </a:bodyPr>
            <a:lstStyle/>
            <a:p>
              <a:r>
                <a:rPr lang="zh-CN" altLang="en-US" sz="3200" b="1" dirty="0">
                  <a:solidFill>
                    <a:srgbClr val="FF0000"/>
                  </a:solidFill>
                </a:rPr>
                <a:t>（与酶活性有关的基团）</a:t>
              </a:r>
            </a:p>
          </p:txBody>
        </p:sp>
      </p:grpSp>
    </p:spTree>
    <p:extLst>
      <p:ext uri="{BB962C8B-B14F-4D97-AF65-F5344CB8AC3E}">
        <p14:creationId xmlns:p14="http://schemas.microsoft.com/office/powerpoint/2010/main" val="2070499789"/>
      </p:ext>
    </p:extLst>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9" name="文本框 18"/>
            <p:cNvSpPr txBox="1"/>
            <p:nvPr/>
          </p:nvSpPr>
          <p:spPr>
            <a:xfrm>
              <a:off x="627708" y="261897"/>
              <a:ext cx="662834" cy="559241"/>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Impact" panose="020B0806030902050204" pitchFamily="34" charset="0"/>
                </a:rPr>
                <a:t>8.2</a:t>
              </a:r>
              <a:endParaRPr lang="zh-CN" altLang="en-US" sz="8000" dirty="0">
                <a:solidFill>
                  <a:schemeClr val="bg1">
                    <a:lumMod val="95000"/>
                  </a:schemeClr>
                </a:solidFill>
                <a:latin typeface="Impact" panose="020B0806030902050204" pitchFamily="34" charset="0"/>
              </a:endParaRPr>
            </a:p>
          </p:txBody>
        </p:sp>
      </p:grpSp>
      <p:sp>
        <p:nvSpPr>
          <p:cNvPr id="20" name="TextBox 48"/>
          <p:cNvSpPr txBox="1"/>
          <p:nvPr/>
        </p:nvSpPr>
        <p:spPr>
          <a:xfrm>
            <a:off x="4965065" y="2737486"/>
            <a:ext cx="6250940" cy="807085"/>
          </a:xfrm>
          <a:prstGeom prst="rect">
            <a:avLst/>
          </a:prstGeom>
          <a:noFill/>
        </p:spPr>
        <p:txBody>
          <a:bodyPr wrap="square" lIns="68584" tIns="34291" rIns="68584" bIns="34291" rtlCol="0">
            <a:spAutoFit/>
          </a:bodyPr>
          <a:lstStyle/>
          <a:p>
            <a:r>
              <a:rPr lang="zh-CN" altLang="en-US" sz="4800" b="1" dirty="0">
                <a:solidFill>
                  <a:schemeClr val="tx1">
                    <a:lumMod val="75000"/>
                    <a:lumOff val="25000"/>
                  </a:schemeClr>
                </a:solidFill>
                <a:latin typeface="微软雅黑" panose="020B0503020204020204" pitchFamily="34" charset="-122"/>
                <a:ea typeface="微软雅黑" panose="020B0503020204020204" pitchFamily="34" charset="-122"/>
              </a:rPr>
              <a:t>酶的催化机制</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570860" y="1035"/>
            <a:ext cx="6647974"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一、酶影响反应速率而不是平衡</a:t>
            </a:r>
          </a:p>
        </p:txBody>
      </p:sp>
      <p:sp>
        <p:nvSpPr>
          <p:cNvPr id="4" name="文本框 3"/>
          <p:cNvSpPr txBox="1"/>
          <p:nvPr/>
        </p:nvSpPr>
        <p:spPr>
          <a:xfrm>
            <a:off x="5559286" y="2601482"/>
            <a:ext cx="6456179" cy="2351478"/>
          </a:xfrm>
          <a:prstGeom prst="rect">
            <a:avLst/>
          </a:prstGeom>
          <a:noFill/>
        </p:spPr>
        <p:txBody>
          <a:bodyPr wrap="square" rtlCol="0" anchor="t">
            <a:spAutoFit/>
          </a:bodyPr>
          <a:lstStyle/>
          <a:p>
            <a:pPr marL="285750" indent="-285750">
              <a:lnSpc>
                <a:spcPct val="125000"/>
              </a:lnSpc>
              <a:spcBef>
                <a:spcPts val="12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反应平衡，与反应的标准自由能变化（ΔG‘°）有关；与酶无关。</a:t>
            </a:r>
          </a:p>
          <a:p>
            <a:pPr marL="285750" indent="-285750">
              <a:lnSpc>
                <a:spcPct val="125000"/>
              </a:lnSpc>
              <a:spcBef>
                <a:spcPts val="12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ΔG‘°的大负值，反映了一个有利的反应平衡（平衡时产物比底物多得多）</a:t>
            </a:r>
          </a:p>
        </p:txBody>
      </p:sp>
      <p:pic>
        <p:nvPicPr>
          <p:cNvPr id="9" name="图片 8"/>
          <p:cNvPicPr>
            <a:picLocks noChangeAspect="1"/>
          </p:cNvPicPr>
          <p:nvPr/>
        </p:nvPicPr>
        <p:blipFill>
          <a:blip r:embed="rId3"/>
          <a:stretch>
            <a:fillRect/>
          </a:stretch>
        </p:blipFill>
        <p:spPr>
          <a:xfrm>
            <a:off x="0" y="916551"/>
            <a:ext cx="5595425" cy="5721339"/>
          </a:xfrm>
          <a:prstGeom prst="rect">
            <a:avLst/>
          </a:prstGeom>
          <a:ln>
            <a:solidFill>
              <a:schemeClr val="tx1"/>
            </a:solidFill>
          </a:ln>
        </p:spPr>
      </p:pic>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570860" y="1035"/>
            <a:ext cx="6647974"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一、酶影响反应速率而不是平衡</a:t>
            </a:r>
          </a:p>
        </p:txBody>
      </p:sp>
      <p:sp>
        <p:nvSpPr>
          <p:cNvPr id="4" name="文本框 3"/>
          <p:cNvSpPr txBox="1"/>
          <p:nvPr/>
        </p:nvSpPr>
        <p:spPr>
          <a:xfrm>
            <a:off x="128578" y="1247677"/>
            <a:ext cx="5219116" cy="1120371"/>
          </a:xfrm>
          <a:prstGeom prst="rect">
            <a:avLst/>
          </a:prstGeom>
          <a:noFill/>
        </p:spPr>
        <p:txBody>
          <a:bodyPr wrap="square" rtlCol="0" anchor="t">
            <a:spAutoFit/>
          </a:bodyPr>
          <a:lstStyle/>
          <a:p>
            <a:pPr marL="285750" indent="-285750">
              <a:lnSpc>
                <a:spcPct val="125000"/>
              </a:lnSpc>
              <a:spcBef>
                <a:spcPts val="6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但</a:t>
            </a:r>
            <a:r>
              <a:rPr lang="zh-CN" altLang="en-US" sz="2800" b="1" dirty="0">
                <a:latin typeface="微软雅黑" panose="020B0503020204020204" pitchFamily="34" charset="-122"/>
                <a:ea typeface="微软雅黑" panose="020B0503020204020204" pitchFamily="34" charset="-122"/>
                <a:sym typeface="+mn-ea"/>
              </a:rPr>
              <a:t>ΔG‘°的大负值，</a:t>
            </a:r>
            <a:r>
              <a:rPr lang="zh-CN" altLang="en-US" sz="2800" b="1" dirty="0">
                <a:latin typeface="微软雅黑" panose="020B0503020204020204" pitchFamily="34" charset="-122"/>
                <a:ea typeface="微软雅黑" panose="020B0503020204020204" pitchFamily="34" charset="-122"/>
              </a:rPr>
              <a:t>并不意味着，反应可以快速进行。</a:t>
            </a:r>
          </a:p>
        </p:txBody>
      </p:sp>
      <p:pic>
        <p:nvPicPr>
          <p:cNvPr id="13" name="图片 12"/>
          <p:cNvPicPr>
            <a:picLocks noChangeAspect="1"/>
          </p:cNvPicPr>
          <p:nvPr/>
        </p:nvPicPr>
        <p:blipFill>
          <a:blip r:embed="rId3"/>
          <a:stretch>
            <a:fillRect/>
          </a:stretch>
        </p:blipFill>
        <p:spPr>
          <a:xfrm>
            <a:off x="5509671" y="988892"/>
            <a:ext cx="6704586" cy="4718734"/>
          </a:xfrm>
          <a:prstGeom prst="rect">
            <a:avLst/>
          </a:prstGeom>
        </p:spPr>
      </p:pic>
      <p:sp>
        <p:nvSpPr>
          <p:cNvPr id="2" name="文本框 1"/>
          <p:cNvSpPr txBox="1"/>
          <p:nvPr/>
        </p:nvSpPr>
        <p:spPr>
          <a:xfrm>
            <a:off x="5347694" y="2863905"/>
            <a:ext cx="351790" cy="922020"/>
          </a:xfrm>
          <a:prstGeom prst="rect">
            <a:avLst/>
          </a:prstGeom>
          <a:noFill/>
        </p:spPr>
        <p:txBody>
          <a:bodyPr wrap="squar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自由能</a:t>
            </a:r>
          </a:p>
        </p:txBody>
      </p:sp>
      <p:pic>
        <p:nvPicPr>
          <p:cNvPr id="6" name="图片 5"/>
          <p:cNvPicPr>
            <a:picLocks noChangeAspect="1"/>
          </p:cNvPicPr>
          <p:nvPr/>
        </p:nvPicPr>
        <p:blipFill rotWithShape="1">
          <a:blip r:embed="rId4"/>
          <a:srcRect l="12504" t="31816" r="6252" b="32830"/>
          <a:stretch/>
        </p:blipFill>
        <p:spPr>
          <a:xfrm>
            <a:off x="106415" y="5507151"/>
            <a:ext cx="7430011" cy="689578"/>
          </a:xfrm>
          <a:prstGeom prst="rect">
            <a:avLst/>
          </a:prstGeom>
        </p:spPr>
      </p:pic>
      <p:sp>
        <p:nvSpPr>
          <p:cNvPr id="8" name="文本框 7"/>
          <p:cNvSpPr txBox="1"/>
          <p:nvPr/>
        </p:nvSpPr>
        <p:spPr>
          <a:xfrm>
            <a:off x="106415" y="2704491"/>
            <a:ext cx="5219116" cy="2601546"/>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sym typeface="+mn-ea"/>
              </a:rPr>
              <a:t>比如，蔗糖分解成</a:t>
            </a:r>
            <a:r>
              <a:rPr lang="en-US" altLang="zh-CN" sz="2800" dirty="0">
                <a:latin typeface="微软雅黑" panose="020B0503020204020204" pitchFamily="34" charset="-122"/>
                <a:ea typeface="微软雅黑" panose="020B0503020204020204" pitchFamily="34" charset="-122"/>
                <a:sym typeface="+mn-ea"/>
              </a:rPr>
              <a:t>CO</a:t>
            </a:r>
            <a:r>
              <a:rPr lang="en-US" altLang="zh-CN" sz="2800" baseline="-25000" dirty="0">
                <a:latin typeface="微软雅黑" panose="020B0503020204020204" pitchFamily="34" charset="-122"/>
                <a:ea typeface="微软雅黑" panose="020B0503020204020204" pitchFamily="34" charset="-122"/>
                <a:sym typeface="+mn-ea"/>
              </a:rPr>
              <a:t>2</a:t>
            </a:r>
            <a:r>
              <a:rPr lang="zh-CN" altLang="en-US" sz="2800" dirty="0">
                <a:latin typeface="微软雅黑" panose="020B0503020204020204" pitchFamily="34" charset="-122"/>
                <a:ea typeface="微软雅黑" panose="020B0503020204020204" pitchFamily="34" charset="-122"/>
                <a:sym typeface="+mn-ea"/>
              </a:rPr>
              <a:t>，</a:t>
            </a:r>
            <a:r>
              <a:rPr lang="en-US" altLang="zh-CN" sz="2800" dirty="0">
                <a:latin typeface="微软雅黑" panose="020B0503020204020204" pitchFamily="34" charset="-122"/>
                <a:ea typeface="微软雅黑" panose="020B0503020204020204" pitchFamily="34" charset="-122"/>
                <a:sym typeface="+mn-ea"/>
              </a:rPr>
              <a:t>H</a:t>
            </a:r>
            <a:r>
              <a:rPr lang="en-US" altLang="zh-CN" sz="2800" baseline="-25000" dirty="0">
                <a:latin typeface="微软雅黑" panose="020B0503020204020204" pitchFamily="34" charset="-122"/>
                <a:ea typeface="微软雅黑" panose="020B0503020204020204" pitchFamily="34" charset="-122"/>
                <a:sym typeface="+mn-ea"/>
              </a:rPr>
              <a:t>2</a:t>
            </a:r>
            <a:r>
              <a:rPr lang="en-US" altLang="zh-CN" sz="2800" dirty="0">
                <a:latin typeface="微软雅黑" panose="020B0503020204020204" pitchFamily="34" charset="-122"/>
                <a:ea typeface="微软雅黑" panose="020B0503020204020204" pitchFamily="34" charset="-122"/>
                <a:sym typeface="+mn-ea"/>
              </a:rPr>
              <a:t>O</a:t>
            </a:r>
            <a:r>
              <a:rPr lang="zh-CN" altLang="en-US" sz="2800" dirty="0">
                <a:latin typeface="微软雅黑" panose="020B0503020204020204" pitchFamily="34" charset="-122"/>
                <a:ea typeface="微软雅黑" panose="020B0503020204020204" pitchFamily="34" charset="-122"/>
                <a:sym typeface="+mn-ea"/>
              </a:rPr>
              <a:t>，</a:t>
            </a:r>
            <a:r>
              <a:rPr lang="zh-CN" altLang="en-US" sz="2800" dirty="0">
                <a:latin typeface="微软雅黑" panose="020B0503020204020204" pitchFamily="34" charset="-122"/>
                <a:ea typeface="微软雅黑" panose="020B0503020204020204" pitchFamily="34" charset="-122"/>
              </a:rPr>
              <a:t>有一个非常大的负的ΔG‘°。然而，蔗糖是一种稳定的化合物（没有酶催化）。</a:t>
            </a:r>
          </a:p>
        </p:txBody>
      </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829EE4B0-6F56-8A2C-143F-663F04D8ED2F}"/>
              </a:ext>
            </a:extLst>
          </p:cNvPr>
          <p:cNvGrpSpPr/>
          <p:nvPr/>
        </p:nvGrpSpPr>
        <p:grpSpPr>
          <a:xfrm>
            <a:off x="83481" y="1599427"/>
            <a:ext cx="6212387" cy="5101176"/>
            <a:chOff x="1132095" y="2719677"/>
            <a:chExt cx="4189095" cy="2960370"/>
          </a:xfrm>
        </p:grpSpPr>
        <p:pic>
          <p:nvPicPr>
            <p:cNvPr id="4" name="图片 3"/>
            <p:cNvPicPr>
              <a:picLocks noChangeAspect="1"/>
            </p:cNvPicPr>
            <p:nvPr/>
          </p:nvPicPr>
          <p:blipFill>
            <a:blip r:embed="rId3"/>
            <a:srcRect l="3543" r="5514"/>
            <a:stretch>
              <a:fillRect/>
            </a:stretch>
          </p:blipFill>
          <p:spPr>
            <a:xfrm>
              <a:off x="1132095" y="2719677"/>
              <a:ext cx="4189095" cy="2960370"/>
            </a:xfrm>
            <a:prstGeom prst="rect">
              <a:avLst/>
            </a:prstGeom>
          </p:spPr>
        </p:pic>
        <p:sp>
          <p:nvSpPr>
            <p:cNvPr id="5" name="文本框 4"/>
            <p:cNvSpPr txBox="1"/>
            <p:nvPr/>
          </p:nvSpPr>
          <p:spPr>
            <a:xfrm>
              <a:off x="1163427" y="4743289"/>
              <a:ext cx="351790" cy="737235"/>
            </a:xfrm>
            <a:prstGeom prst="rect">
              <a:avLst/>
            </a:prstGeom>
            <a:noFill/>
          </p:spPr>
          <p:txBody>
            <a:bodyPr wrap="square" rtlCol="0">
              <a:spAutoFit/>
            </a:bodyPr>
            <a:lstStyle/>
            <a:p>
              <a:r>
                <a:rPr lang="zh-CN" altLang="en-US" sz="1400" b="1" dirty="0">
                  <a:solidFill>
                    <a:srgbClr val="FF0000"/>
                  </a:solidFill>
                  <a:latin typeface="微软雅黑" panose="020B0503020204020204" pitchFamily="34" charset="-122"/>
                  <a:ea typeface="微软雅黑" panose="020B0503020204020204" pitchFamily="34" charset="-122"/>
                </a:rPr>
                <a:t>自由能</a:t>
              </a:r>
            </a:p>
          </p:txBody>
        </p:sp>
        <p:sp>
          <p:nvSpPr>
            <p:cNvPr id="6" name="文本框 5"/>
            <p:cNvSpPr txBox="1"/>
            <p:nvPr/>
          </p:nvSpPr>
          <p:spPr>
            <a:xfrm>
              <a:off x="3028205" y="2953357"/>
              <a:ext cx="1613535" cy="275590"/>
            </a:xfrm>
            <a:prstGeom prst="rect">
              <a:avLst/>
            </a:prstGeom>
            <a:noFill/>
          </p:spPr>
          <p:txBody>
            <a:bodyPr wrap="square" rtlCol="0">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过渡态</a:t>
              </a:r>
            </a:p>
          </p:txBody>
        </p:sp>
      </p:grpSp>
      <p:sp>
        <p:nvSpPr>
          <p:cNvPr id="10" name="矩形 9"/>
          <p:cNvSpPr/>
          <p:nvPr/>
        </p:nvSpPr>
        <p:spPr>
          <a:xfrm>
            <a:off x="2109197" y="1035"/>
            <a:ext cx="7571303"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二、酶通过降低活化能提高反应速率</a:t>
            </a:r>
          </a:p>
        </p:txBody>
      </p:sp>
      <p:sp>
        <p:nvSpPr>
          <p:cNvPr id="9" name="文本框 8"/>
          <p:cNvSpPr txBox="1"/>
          <p:nvPr/>
        </p:nvSpPr>
        <p:spPr>
          <a:xfrm>
            <a:off x="6096000" y="953096"/>
            <a:ext cx="6212387" cy="5817811"/>
          </a:xfrm>
          <a:prstGeom prst="rect">
            <a:avLst/>
          </a:prstGeom>
          <a:noFill/>
        </p:spPr>
        <p:txBody>
          <a:bodyPr wrap="square" rtlCol="0" anchor="t">
            <a:spAutoFit/>
          </a:bodyPr>
          <a:lstStyle/>
          <a:p>
            <a:pPr marL="285750" indent="-285750">
              <a:lnSpc>
                <a:spcPct val="125000"/>
              </a:lnSpc>
              <a:spcBef>
                <a:spcPts val="12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根据</a:t>
            </a:r>
            <a:r>
              <a:rPr lang="zh-CN" altLang="en-US" sz="2800" b="1"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过渡态理论</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，在任何一个化学反应体系中，反应物需要到达一个特定的</a:t>
            </a:r>
            <a:r>
              <a:rPr lang="zh-CN" altLang="en-US" sz="2800" u="sng" dirty="0">
                <a:latin typeface="微软雅黑" panose="020B0503020204020204" pitchFamily="34" charset="-122"/>
                <a:ea typeface="微软雅黑" panose="020B0503020204020204" pitchFamily="34" charset="-122"/>
                <a:cs typeface="微软雅黑" panose="020B0503020204020204" pitchFamily="34" charset="-122"/>
              </a:rPr>
              <a:t>高能状态</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以后，才能发生反应。这种</a:t>
            </a:r>
            <a:r>
              <a:rPr lang="zh-CN" altLang="en-US" sz="2800" u="sng" dirty="0">
                <a:latin typeface="微软雅黑" panose="020B0503020204020204" pitchFamily="34" charset="-122"/>
                <a:ea typeface="微软雅黑" panose="020B0503020204020204" pitchFamily="34" charset="-122"/>
                <a:cs typeface="微软雅黑" panose="020B0503020204020204" pitchFamily="34" charset="-122"/>
              </a:rPr>
              <a:t>不稳定的高能状</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态被称为</a:t>
            </a:r>
            <a:r>
              <a:rPr lang="zh-CN" altLang="en-US" sz="2800" b="1"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过渡态</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p>
          <a:p>
            <a:pPr marL="285750" indent="-285750">
              <a:lnSpc>
                <a:spcPct val="125000"/>
              </a:lnSpc>
              <a:spcBef>
                <a:spcPts val="12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达到过渡态要求反应物必须含有足够的能量以克服能障，即</a:t>
            </a:r>
            <a:r>
              <a:rPr lang="zh-CN" altLang="en-US" sz="2800" b="1"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活化能</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（ΔG‡）。</a:t>
            </a:r>
          </a:p>
          <a:p>
            <a:pPr marL="285750" indent="-285750">
              <a:lnSpc>
                <a:spcPct val="125000"/>
              </a:lnSpc>
              <a:spcBef>
                <a:spcPts val="1200"/>
              </a:spcBef>
              <a:buFont typeface="Arial" panose="020B0604020202020204" pitchFamily="34" charset="0"/>
              <a:buChar char="•"/>
            </a:pPr>
            <a:r>
              <a:rPr lang="zh-CN" altLang="en-US" sz="2800" b="1"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酶可以降低活化能，缩短达到平衡的时间。</a:t>
            </a:r>
          </a:p>
          <a:p>
            <a:pPr marL="285750" indent="-285750">
              <a:lnSpc>
                <a:spcPct val="150000"/>
              </a:lnSpc>
              <a:buFont typeface="Arial" panose="020B0604020202020204" pitchFamily="34" charset="0"/>
              <a:buChar char="•"/>
            </a:pPr>
            <a:endParaRPr lang="zh-CN" altLang="en-US" sz="2800" b="1"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983401" y="953096"/>
            <a:ext cx="4709944" cy="646331"/>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altLang="zh-CN" sz="3600" dirty="0">
                <a:latin typeface="Times New Roman" panose="02020603050405020304" pitchFamily="18" charset="0"/>
                <a:cs typeface="Times New Roman" panose="02020603050405020304" pitchFamily="18" charset="0"/>
              </a:rPr>
              <a:t>E + </a:t>
            </a:r>
            <a:r>
              <a:rPr lang="en-US" altLang="zh-CN" sz="3600" dirty="0">
                <a:solidFill>
                  <a:srgbClr val="FF0000"/>
                </a:solidFill>
                <a:latin typeface="Times New Roman" panose="02020603050405020304" pitchFamily="18" charset="0"/>
                <a:cs typeface="Times New Roman" panose="02020603050405020304" pitchFamily="18" charset="0"/>
              </a:rPr>
              <a:t>S</a:t>
            </a:r>
            <a:r>
              <a:rPr lang="en-US" altLang="zh-CN" sz="3600" dirty="0">
                <a:latin typeface="Times New Roman" panose="02020603050405020304" pitchFamily="18" charset="0"/>
                <a:cs typeface="Times New Roman" panose="02020603050405020304" pitchFamily="18" charset="0"/>
              </a:rPr>
              <a:t> ⇆ES ⇆EP⇆E +</a:t>
            </a:r>
            <a:r>
              <a:rPr lang="en-US" altLang="zh-CN" sz="3600" dirty="0">
                <a:solidFill>
                  <a:srgbClr val="FF0000"/>
                </a:solidFill>
                <a:latin typeface="Times New Roman" panose="02020603050405020304" pitchFamily="18" charset="0"/>
                <a:cs typeface="Times New Roman" panose="02020603050405020304" pitchFamily="18" charset="0"/>
              </a:rPr>
              <a:t> P</a:t>
            </a: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109197" y="1035"/>
            <a:ext cx="7571303"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二、酶通过降低活化能提高反应速率</a:t>
            </a:r>
          </a:p>
        </p:txBody>
      </p:sp>
      <p:sp>
        <p:nvSpPr>
          <p:cNvPr id="11" name="文本框 10"/>
          <p:cNvSpPr txBox="1"/>
          <p:nvPr/>
        </p:nvSpPr>
        <p:spPr>
          <a:xfrm>
            <a:off x="239843" y="1599589"/>
            <a:ext cx="11421779" cy="4201984"/>
          </a:xfrm>
          <a:prstGeom prst="rect">
            <a:avLst/>
          </a:prstGeom>
          <a:noFill/>
        </p:spPr>
        <p:txBody>
          <a:bodyPr wrap="square" rtlCol="0" anchor="t">
            <a:spAutoFit/>
          </a:bodyPr>
          <a:lstStyle/>
          <a:p>
            <a:pPr marL="342900" indent="-342900">
              <a:lnSpc>
                <a:spcPct val="150000"/>
              </a:lnSpc>
              <a:spcBef>
                <a:spcPts val="12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活化能</a:t>
            </a:r>
            <a:r>
              <a:rPr lang="zh-CN" altLang="en-US" sz="2800" dirty="0">
                <a:latin typeface="微软雅黑" panose="020B0503020204020204" pitchFamily="34" charset="-122"/>
                <a:ea typeface="微软雅黑" panose="020B0503020204020204" pitchFamily="34" charset="-122"/>
              </a:rPr>
              <a:t>，是引起化学反应的能量势垒。</a:t>
            </a:r>
          </a:p>
          <a:p>
            <a:pPr marL="342900" indent="-342900">
              <a:lnSpc>
                <a:spcPct val="150000"/>
              </a:lnSpc>
              <a:spcBef>
                <a:spcPts val="12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这些障碍对生命本身就至关重要。如果没有这样的能量屏障，复杂的大分子就会自发地恢复到更简单的分子形式，而细胞就不可能存在复杂而高度有序的结构和代谢过程。</a:t>
            </a:r>
          </a:p>
          <a:p>
            <a:pPr marL="342900" indent="-342900">
              <a:lnSpc>
                <a:spcPct val="150000"/>
              </a:lnSpc>
              <a:spcBef>
                <a:spcPts val="12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在进化过程中，酶已经发展到有选择性地降低活化能，从而提高细胞生存所需的反应的速率。</a:t>
            </a:r>
          </a:p>
        </p:txBody>
      </p:sp>
    </p:spTree>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0" y="947701"/>
            <a:ext cx="4392118" cy="5186869"/>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1946</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年</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Pauling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sym typeface="+mn-ea"/>
              </a:rPr>
              <a:t>提出，</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过渡态稳定学说</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酶与过渡态的亲和力要比对基态（底物）的亲和力高得多；</a:t>
            </a:r>
          </a:p>
          <a:p>
            <a:pPr marL="285750" indent="-285750">
              <a:lnSpc>
                <a:spcPct val="150000"/>
              </a:lnSpc>
              <a:buFont typeface="Arial" panose="020B0604020202020204" pitchFamily="34" charset="0"/>
              <a:buChar char="•"/>
            </a:pP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底物和酶之间的最佳相互作用，只发生在过渡态中（结合能，磁力）。</a:t>
            </a:r>
          </a:p>
        </p:txBody>
      </p:sp>
      <p:pic>
        <p:nvPicPr>
          <p:cNvPr id="8194" name="Picture 4"/>
          <p:cNvPicPr>
            <a:picLocks noChangeAspect="1"/>
          </p:cNvPicPr>
          <p:nvPr/>
        </p:nvPicPr>
        <p:blipFill>
          <a:blip r:embed="rId3"/>
          <a:stretch>
            <a:fillRect/>
          </a:stretch>
        </p:blipFill>
        <p:spPr>
          <a:xfrm>
            <a:off x="4529138" y="702024"/>
            <a:ext cx="7662862" cy="6030439"/>
          </a:xfrm>
          <a:prstGeom prst="rect">
            <a:avLst/>
          </a:prstGeom>
          <a:noFill/>
          <a:ln w="9525">
            <a:solidFill>
              <a:schemeClr val="tx1"/>
            </a:solidFill>
          </a:ln>
        </p:spPr>
      </p:pic>
      <p:sp>
        <p:nvSpPr>
          <p:cNvPr id="8195" name="Rectangle 7"/>
          <p:cNvSpPr/>
          <p:nvPr/>
        </p:nvSpPr>
        <p:spPr>
          <a:xfrm>
            <a:off x="6096000" y="197590"/>
            <a:ext cx="4529138" cy="396875"/>
          </a:xfrm>
          <a:prstGeom prst="rect">
            <a:avLst/>
          </a:prstGeom>
          <a:solidFill>
            <a:schemeClr val="accent5">
              <a:lumMod val="20000"/>
              <a:lumOff val="80000"/>
            </a:schemeClr>
          </a:solidFill>
          <a:ln w="12700">
            <a:noFill/>
          </a:ln>
        </p:spPr>
        <p:txBody>
          <a:bodyPr wrap="none">
            <a:spAutoFit/>
          </a:bodyPr>
          <a:lstStyle/>
          <a:p>
            <a:r>
              <a:rPr lang="zh-CN" altLang="en-US" sz="2000" b="1" dirty="0">
                <a:latin typeface="楷体" panose="02010609060101010101" pitchFamily="49" charset="-122"/>
                <a:ea typeface="楷体" panose="02010609060101010101" pitchFamily="49" charset="-122"/>
              </a:rPr>
              <a:t>“</a:t>
            </a:r>
            <a:r>
              <a:rPr lang="zh-CN" altLang="en-US" sz="2000" b="1" dirty="0">
                <a:latin typeface="Times" panose="00000500000000020000" charset="0"/>
                <a:ea typeface="楷体" panose="02010609060101010101" pitchFamily="49" charset="-122"/>
              </a:rPr>
              <a:t>铁丝酶</a:t>
            </a:r>
            <a:r>
              <a:rPr lang="zh-CN" altLang="en-US" sz="2000" b="1" dirty="0">
                <a:latin typeface="楷体" panose="02010609060101010101" pitchFamily="49" charset="-122"/>
                <a:ea typeface="楷体" panose="02010609060101010101" pitchFamily="49" charset="-122"/>
              </a:rPr>
              <a:t>”</a:t>
            </a:r>
            <a:r>
              <a:rPr lang="zh-CN" altLang="en-US" sz="2000" b="1" dirty="0">
                <a:latin typeface="Times" panose="00000500000000020000" charset="0"/>
                <a:ea typeface="楷体" panose="02010609060101010101" pitchFamily="49" charset="-122"/>
              </a:rPr>
              <a:t>催化反应的过渡态稳定机制</a:t>
            </a:r>
          </a:p>
        </p:txBody>
      </p:sp>
      <p:sp>
        <p:nvSpPr>
          <p:cNvPr id="2" name="矩形 1"/>
          <p:cNvSpPr/>
          <p:nvPr/>
        </p:nvSpPr>
        <p:spPr>
          <a:xfrm>
            <a:off x="189488" y="-123395"/>
            <a:ext cx="4339650"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四、过渡态稳定学说</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4"/>
                                        </p:tgtEl>
                                        <p:attrNameLst>
                                          <p:attrName>style.visibility</p:attrName>
                                        </p:attrNameLst>
                                      </p:cBhvr>
                                      <p:to>
                                        <p:strVal val="visible"/>
                                      </p:to>
                                    </p:set>
                                    <p:anim calcmode="lin" valueType="num">
                                      <p:cBhvr additive="base">
                                        <p:cTn id="13" dur="500" fill="hold"/>
                                        <p:tgtEl>
                                          <p:spTgt spid="8194"/>
                                        </p:tgtEl>
                                        <p:attrNameLst>
                                          <p:attrName>ppt_x</p:attrName>
                                        </p:attrNameLst>
                                      </p:cBhvr>
                                      <p:tavLst>
                                        <p:tav tm="0">
                                          <p:val>
                                            <p:strVal val="#ppt_x"/>
                                          </p:val>
                                        </p:tav>
                                        <p:tav tm="100000">
                                          <p:val>
                                            <p:strVal val="#ppt_x"/>
                                          </p:val>
                                        </p:tav>
                                      </p:tavLst>
                                    </p:anim>
                                    <p:anim calcmode="lin" valueType="num">
                                      <p:cBhvr additive="base">
                                        <p:cTn id="14" dur="500" fill="hold"/>
                                        <p:tgtEl>
                                          <p:spTgt spid="819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8195"/>
                                        </p:tgtEl>
                                        <p:attrNameLst>
                                          <p:attrName>style.visibility</p:attrName>
                                        </p:attrNameLst>
                                      </p:cBhvr>
                                      <p:to>
                                        <p:strVal val="visible"/>
                                      </p:to>
                                    </p:set>
                                    <p:anim calcmode="lin" valueType="num">
                                      <p:cBhvr additive="base">
                                        <p:cTn id="17" dur="500" fill="hold"/>
                                        <p:tgtEl>
                                          <p:spTgt spid="8195"/>
                                        </p:tgtEl>
                                        <p:attrNameLst>
                                          <p:attrName>ppt_x</p:attrName>
                                        </p:attrNameLst>
                                      </p:cBhvr>
                                      <p:tavLst>
                                        <p:tav tm="0">
                                          <p:val>
                                            <p:strVal val="#ppt_x"/>
                                          </p:val>
                                        </p:tav>
                                        <p:tav tm="100000">
                                          <p:val>
                                            <p:strVal val="#ppt_x"/>
                                          </p:val>
                                        </p:tav>
                                      </p:tavLst>
                                    </p:anim>
                                    <p:anim calcmode="lin" valueType="num">
                                      <p:cBhvr additive="base">
                                        <p:cTn id="18" dur="500" fill="hold"/>
                                        <p:tgtEl>
                                          <p:spTgt spid="81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8195" grpId="0" bldLvl="0" animBg="1"/>
      <p:bldP spid="8195"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502445" y="11195"/>
            <a:ext cx="4801314"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过渡态稳定学说的证据</a:t>
            </a:r>
          </a:p>
        </p:txBody>
      </p:sp>
      <p:sp>
        <p:nvSpPr>
          <p:cNvPr id="5" name="内容占位符 2">
            <a:extLst>
              <a:ext uri="{FF2B5EF4-FFF2-40B4-BE49-F238E27FC236}">
                <a16:creationId xmlns:a16="http://schemas.microsoft.com/office/drawing/2014/main" id="{CBEF28AE-3F06-F334-9198-00B3E0ECC017}"/>
              </a:ext>
            </a:extLst>
          </p:cNvPr>
          <p:cNvSpPr txBox="1">
            <a:spLocks/>
          </p:cNvSpPr>
          <p:nvPr/>
        </p:nvSpPr>
        <p:spPr>
          <a:xfrm>
            <a:off x="141156" y="1718872"/>
            <a:ext cx="11581152" cy="2658255"/>
          </a:xfrm>
          <a:prstGeom prst="rect">
            <a:avLst/>
          </a:prstGeom>
          <a:noFill/>
        </p:spPr>
        <p:txBody>
          <a:bodyPr wrap="square" rtlCol="0" anchor="t">
            <a:spAutoFit/>
          </a:bodyPr>
          <a:lstStyle>
            <a:defPPr>
              <a:defRPr lang="en-US"/>
            </a:defPPr>
            <a:lvl1pPr marL="285750" indent="-285750">
              <a:lnSpc>
                <a:spcPct val="150000"/>
              </a:lnSpc>
              <a:buFont typeface="Arial" panose="020B0604020202020204" pitchFamily="34" charset="0"/>
              <a:buChar char="•"/>
              <a:defRPr sz="2800" b="1">
                <a:latin typeface="微软雅黑" panose="020B0503020204020204" pitchFamily="34" charset="-122"/>
                <a:ea typeface="微软雅黑" panose="020B0503020204020204" pitchFamily="34" charset="-122"/>
                <a:cs typeface="微软雅黑" panose="020B0503020204020204"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dirty="0"/>
              <a:t>根据</a:t>
            </a:r>
            <a:r>
              <a:rPr lang="zh-CN" altLang="en-US" dirty="0"/>
              <a:t>过渡态</a:t>
            </a:r>
            <a:r>
              <a:rPr lang="zh-CN" altLang="zh-CN" dirty="0"/>
              <a:t>的结构设计</a:t>
            </a:r>
            <a:r>
              <a:rPr lang="zh-CN" altLang="en-US" dirty="0"/>
              <a:t>的</a:t>
            </a:r>
            <a:r>
              <a:rPr lang="zh-CN" altLang="zh-CN" dirty="0">
                <a:solidFill>
                  <a:srgbClr val="FF0000"/>
                </a:solidFill>
              </a:rPr>
              <a:t>过渡态类似物</a:t>
            </a:r>
            <a:r>
              <a:rPr lang="zh-CN" altLang="en-US" dirty="0"/>
              <a:t>可作为</a:t>
            </a:r>
            <a:r>
              <a:rPr lang="zh-CN" altLang="zh-CN" dirty="0"/>
              <a:t>酶的强抑制剂</a:t>
            </a:r>
            <a:r>
              <a:rPr lang="zh-CN" altLang="en-US" dirty="0"/>
              <a:t>，抑制效果远高于竞争性抑制剂</a:t>
            </a:r>
            <a:r>
              <a:rPr lang="zh-CN" altLang="zh-CN" dirty="0"/>
              <a:t>。</a:t>
            </a:r>
            <a:endParaRPr lang="en-US" altLang="zh-CN" dirty="0"/>
          </a:p>
          <a:p>
            <a:r>
              <a:rPr lang="zh-CN" altLang="zh-CN" dirty="0"/>
              <a:t>利用过渡态类似物作为抗原或半抗原，去免疫动物，由此产生的抗体可能有类似酶的催化作用。</a:t>
            </a:r>
            <a:r>
              <a:rPr lang="zh-CN" altLang="en-US" dirty="0"/>
              <a:t>（</a:t>
            </a:r>
            <a:r>
              <a:rPr lang="zh-CN" altLang="en-US" dirty="0">
                <a:solidFill>
                  <a:srgbClr val="FF0000"/>
                </a:solidFill>
              </a:rPr>
              <a:t>抗体酶</a:t>
            </a:r>
            <a:r>
              <a:rPr lang="zh-CN" altLang="en-US" dirty="0"/>
              <a:t>）</a:t>
            </a:r>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502445" y="11195"/>
            <a:ext cx="4801314"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过渡态稳定学说的证据</a:t>
            </a:r>
          </a:p>
        </p:txBody>
      </p:sp>
      <p:sp>
        <p:nvSpPr>
          <p:cNvPr id="4" name="文本框 3"/>
          <p:cNvSpPr txBox="1"/>
          <p:nvPr/>
        </p:nvSpPr>
        <p:spPr>
          <a:xfrm>
            <a:off x="101485" y="2176287"/>
            <a:ext cx="3992262" cy="1689052"/>
          </a:xfrm>
          <a:prstGeom prst="rect">
            <a:avLst/>
          </a:prstGeom>
          <a:noFill/>
        </p:spPr>
        <p:txBody>
          <a:bodyPr wrap="square" rtlCol="0" anchor="t">
            <a:spAutoFit/>
          </a:bodyPr>
          <a:lstStyle/>
          <a:p>
            <a:pPr marL="285750" indent="-285750">
              <a:lnSpc>
                <a:spcPct val="150000"/>
              </a:lnSpc>
              <a:buClr>
                <a:srgbClr val="000000"/>
              </a:buClr>
              <a:buFont typeface="Arial" panose="020B0604020202020204" pitchFamily="34" charset="0"/>
              <a:buChar char="•"/>
            </a:pPr>
            <a:r>
              <a:rPr lang="zh-CN" altLang="zh-CN" sz="2400" b="1" dirty="0">
                <a:latin typeface="微软雅黑" panose="020B0503020204020204" pitchFamily="34" charset="-122"/>
                <a:ea typeface="微软雅黑" panose="020B0503020204020204" pitchFamily="34" charset="-122"/>
                <a:sym typeface="+mn-ea"/>
              </a:rPr>
              <a:t>根据</a:t>
            </a:r>
            <a:r>
              <a:rPr lang="zh-CN" altLang="en-US" sz="2400" b="1" dirty="0">
                <a:latin typeface="微软雅黑" panose="020B0503020204020204" pitchFamily="34" charset="-122"/>
                <a:ea typeface="微软雅黑" panose="020B0503020204020204" pitchFamily="34" charset="-122"/>
                <a:sym typeface="+mn-ea"/>
              </a:rPr>
              <a:t>过渡态</a:t>
            </a:r>
            <a:r>
              <a:rPr lang="zh-CN" altLang="zh-CN" sz="2400" b="1" dirty="0">
                <a:latin typeface="微软雅黑" panose="020B0503020204020204" pitchFamily="34" charset="-122"/>
                <a:ea typeface="微软雅黑" panose="020B0503020204020204" pitchFamily="34" charset="-122"/>
                <a:sym typeface="+mn-ea"/>
              </a:rPr>
              <a:t>结构设计</a:t>
            </a:r>
            <a:r>
              <a:rPr lang="zh-CN" altLang="en-US" sz="2400" b="1" dirty="0">
                <a:latin typeface="微软雅黑" panose="020B0503020204020204" pitchFamily="34" charset="-122"/>
                <a:ea typeface="微软雅黑" panose="020B0503020204020204" pitchFamily="34" charset="-122"/>
                <a:sym typeface="+mn-ea"/>
              </a:rPr>
              <a:t>的</a:t>
            </a:r>
            <a:r>
              <a:rPr lang="zh-CN" altLang="zh-CN" sz="2400" b="1" dirty="0">
                <a:solidFill>
                  <a:srgbClr val="FF0000"/>
                </a:solidFill>
                <a:latin typeface="微软雅黑" panose="020B0503020204020204" pitchFamily="34" charset="-122"/>
                <a:ea typeface="微软雅黑" panose="020B0503020204020204" pitchFamily="34" charset="-122"/>
                <a:sym typeface="+mn-ea"/>
              </a:rPr>
              <a:t>过渡态类似物</a:t>
            </a:r>
            <a:r>
              <a:rPr lang="zh-CN" altLang="en-US" sz="2400" b="1" dirty="0">
                <a:latin typeface="微软雅黑" panose="020B0503020204020204" pitchFamily="34" charset="-122"/>
                <a:ea typeface="微软雅黑" panose="020B0503020204020204" pitchFamily="34" charset="-122"/>
                <a:sym typeface="+mn-ea"/>
              </a:rPr>
              <a:t>可作为</a:t>
            </a:r>
            <a:r>
              <a:rPr lang="zh-CN" altLang="zh-CN" sz="2400" b="1" dirty="0">
                <a:solidFill>
                  <a:srgbClr val="FF0000"/>
                </a:solidFill>
                <a:latin typeface="微软雅黑" panose="020B0503020204020204" pitchFamily="34" charset="-122"/>
                <a:ea typeface="微软雅黑" panose="020B0503020204020204" pitchFamily="34" charset="-122"/>
                <a:sym typeface="+mn-ea"/>
              </a:rPr>
              <a:t>酶的强抑制剂</a:t>
            </a:r>
            <a:r>
              <a:rPr lang="zh-CN" altLang="zh-CN" sz="2400" b="1" dirty="0">
                <a:latin typeface="微软雅黑" panose="020B0503020204020204" pitchFamily="34" charset="-122"/>
                <a:ea typeface="微软雅黑" panose="020B0503020204020204" pitchFamily="34" charset="-122"/>
                <a:sym typeface="+mn-ea"/>
              </a:rPr>
              <a:t>。</a:t>
            </a:r>
            <a:endParaRPr lang="zh-CN" altLang="en-US" sz="2000" b="1" dirty="0">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3"/>
          <a:stretch>
            <a:fillRect/>
          </a:stretch>
        </p:blipFill>
        <p:spPr>
          <a:xfrm>
            <a:off x="4213261" y="1096914"/>
            <a:ext cx="7165939" cy="5702200"/>
          </a:xfrm>
          <a:prstGeom prst="rect">
            <a:avLst/>
          </a:prstGeom>
        </p:spPr>
      </p:pic>
      <p:sp>
        <p:nvSpPr>
          <p:cNvPr id="7" name="文本框 6"/>
          <p:cNvSpPr txBox="1"/>
          <p:nvPr/>
        </p:nvSpPr>
        <p:spPr>
          <a:xfrm>
            <a:off x="5903102" y="1150966"/>
            <a:ext cx="646331" cy="458908"/>
          </a:xfrm>
          <a:prstGeom prst="rect">
            <a:avLst/>
          </a:prstGeom>
          <a:noFill/>
        </p:spPr>
        <p:txBody>
          <a:bodyPr wrap="none" rtlCol="0">
            <a:spAutoFit/>
          </a:bodyPr>
          <a:lstStyle/>
          <a:p>
            <a:pPr>
              <a:lnSpc>
                <a:spcPct val="150000"/>
              </a:lnSpc>
            </a:pPr>
            <a:r>
              <a:rPr lang="zh-CN" altLang="en-US" b="1" dirty="0">
                <a:latin typeface="微软雅黑" panose="020B0503020204020204" pitchFamily="34" charset="-122"/>
                <a:ea typeface="微软雅黑" panose="020B0503020204020204" pitchFamily="34" charset="-122"/>
              </a:rPr>
              <a:t>腺苷</a:t>
            </a:r>
          </a:p>
        </p:txBody>
      </p:sp>
      <p:sp>
        <p:nvSpPr>
          <p:cNvPr id="8" name="文本框 7"/>
          <p:cNvSpPr txBox="1"/>
          <p:nvPr/>
        </p:nvSpPr>
        <p:spPr>
          <a:xfrm>
            <a:off x="8682779" y="1260037"/>
            <a:ext cx="877163" cy="458908"/>
          </a:xfrm>
          <a:prstGeom prst="rect">
            <a:avLst/>
          </a:prstGeom>
          <a:noFill/>
        </p:spPr>
        <p:txBody>
          <a:bodyPr wrap="none" rtlCol="0">
            <a:spAutoFit/>
          </a:bodyPr>
          <a:lstStyle/>
          <a:p>
            <a:pPr>
              <a:lnSpc>
                <a:spcPct val="150000"/>
              </a:lnSpc>
            </a:pPr>
            <a:r>
              <a:rPr lang="zh-CN" altLang="en-US" b="1" dirty="0">
                <a:latin typeface="微软雅黑" panose="020B0503020204020204" pitchFamily="34" charset="-122"/>
                <a:ea typeface="微软雅黑" panose="020B0503020204020204" pitchFamily="34" charset="-122"/>
              </a:rPr>
              <a:t>过渡态</a:t>
            </a:r>
          </a:p>
        </p:txBody>
      </p:sp>
      <p:sp>
        <p:nvSpPr>
          <p:cNvPr id="9" name="文本框 8"/>
          <p:cNvSpPr txBox="1"/>
          <p:nvPr/>
        </p:nvSpPr>
        <p:spPr>
          <a:xfrm>
            <a:off x="5811520" y="3718560"/>
            <a:ext cx="2262158" cy="458908"/>
          </a:xfrm>
          <a:prstGeom prst="rect">
            <a:avLst/>
          </a:prstGeom>
          <a:noFill/>
        </p:spPr>
        <p:txBody>
          <a:bodyPr wrap="none" rtlCol="0">
            <a:spAutoFit/>
          </a:bodyPr>
          <a:lstStyle/>
          <a:p>
            <a:pPr>
              <a:lnSpc>
                <a:spcPct val="150000"/>
              </a:lnSpc>
            </a:pPr>
            <a:r>
              <a:rPr lang="zh-CN" altLang="en-US" b="1" dirty="0">
                <a:latin typeface="微软雅黑" panose="020B0503020204020204" pitchFamily="34" charset="-122"/>
                <a:ea typeface="微软雅黑" panose="020B0503020204020204" pitchFamily="34" charset="-122"/>
              </a:rPr>
              <a:t>腺苷脱氨酶活性位点</a:t>
            </a:r>
          </a:p>
        </p:txBody>
      </p:sp>
      <p:sp>
        <p:nvSpPr>
          <p:cNvPr id="11" name="文本框 10"/>
          <p:cNvSpPr txBox="1"/>
          <p:nvPr/>
        </p:nvSpPr>
        <p:spPr>
          <a:xfrm>
            <a:off x="5626100" y="5477580"/>
            <a:ext cx="1569660" cy="458908"/>
          </a:xfrm>
          <a:prstGeom prst="rect">
            <a:avLst/>
          </a:prstGeom>
          <a:noFill/>
        </p:spPr>
        <p:txBody>
          <a:bodyPr wrap="none" rtlCol="0">
            <a:spAutoFit/>
          </a:bodyPr>
          <a:lstStyle/>
          <a:p>
            <a:pPr>
              <a:lnSpc>
                <a:spcPct val="150000"/>
              </a:lnSpc>
            </a:pPr>
            <a:r>
              <a:rPr lang="zh-CN" altLang="en-US" b="1" dirty="0">
                <a:latin typeface="微软雅黑" panose="020B0503020204020204" pitchFamily="34" charset="-122"/>
                <a:ea typeface="微软雅黑" panose="020B0503020204020204" pitchFamily="34" charset="-122"/>
              </a:rPr>
              <a:t>过渡态类似物</a:t>
            </a:r>
          </a:p>
        </p:txBody>
      </p:sp>
      <p:sp>
        <p:nvSpPr>
          <p:cNvPr id="12" name="文本框 11"/>
          <p:cNvSpPr txBox="1"/>
          <p:nvPr/>
        </p:nvSpPr>
        <p:spPr>
          <a:xfrm>
            <a:off x="10483693" y="1028243"/>
            <a:ext cx="1015021" cy="463588"/>
          </a:xfrm>
          <a:prstGeom prst="rect">
            <a:avLst/>
          </a:prstGeom>
          <a:noFill/>
        </p:spPr>
        <p:txBody>
          <a:bodyPr wrap="none" rtlCol="0" anchor="t">
            <a:spAutoFit/>
          </a:bodyPr>
          <a:lstStyle/>
          <a:p>
            <a:pPr>
              <a:lnSpc>
                <a:spcPct val="150000"/>
              </a:lnSpc>
            </a:pPr>
            <a:r>
              <a:rPr lang="en-US" altLang="zh-CN" b="1" dirty="0">
                <a:latin typeface="微软雅黑" panose="020B0503020204020204" pitchFamily="34" charset="-122"/>
                <a:ea typeface="微软雅黑" panose="020B0503020204020204" pitchFamily="34" charset="-122"/>
                <a:sym typeface="+mn-ea"/>
              </a:rPr>
              <a:t>  </a:t>
            </a:r>
            <a:r>
              <a:rPr lang="zh-CN" altLang="en-US" b="1" dirty="0">
                <a:latin typeface="微软雅黑" panose="020B0503020204020204" pitchFamily="34" charset="-122"/>
                <a:ea typeface="微软雅黑" panose="020B0503020204020204" pitchFamily="34" charset="-122"/>
                <a:sym typeface="+mn-ea"/>
              </a:rPr>
              <a:t>次黄苷</a:t>
            </a:r>
            <a:endParaRPr lang="zh-CN" altLang="en-US" dirty="0"/>
          </a:p>
        </p:txBody>
      </p:sp>
    </p:spTree>
    <p:extLst>
      <p:ext uri="{BB962C8B-B14F-4D97-AF65-F5344CB8AC3E}">
        <p14:creationId xmlns:p14="http://schemas.microsoft.com/office/powerpoint/2010/main" val="3290710877"/>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502445" y="11195"/>
            <a:ext cx="4801314"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过渡态稳定学说的证据</a:t>
            </a:r>
          </a:p>
        </p:txBody>
      </p:sp>
      <p:pic>
        <p:nvPicPr>
          <p:cNvPr id="5" name="图片 4"/>
          <p:cNvPicPr>
            <a:picLocks noChangeAspect="1"/>
          </p:cNvPicPr>
          <p:nvPr/>
        </p:nvPicPr>
        <p:blipFill>
          <a:blip r:embed="rId3"/>
          <a:stretch>
            <a:fillRect/>
          </a:stretch>
        </p:blipFill>
        <p:spPr>
          <a:xfrm>
            <a:off x="5903102" y="1032510"/>
            <a:ext cx="4726940" cy="5745480"/>
          </a:xfrm>
          <a:prstGeom prst="rect">
            <a:avLst/>
          </a:prstGeom>
          <a:ln>
            <a:solidFill>
              <a:schemeClr val="tx1"/>
            </a:solidFill>
          </a:ln>
        </p:spPr>
      </p:pic>
      <p:sp>
        <p:nvSpPr>
          <p:cNvPr id="2" name="文本框 1"/>
          <p:cNvSpPr txBox="1"/>
          <p:nvPr/>
        </p:nvSpPr>
        <p:spPr>
          <a:xfrm>
            <a:off x="7342844" y="3669031"/>
            <a:ext cx="2031325" cy="874407"/>
          </a:xfrm>
          <a:prstGeom prst="rect">
            <a:avLst/>
          </a:prstGeom>
          <a:noFill/>
        </p:spPr>
        <p:txBody>
          <a:bodyPr wrap="none" rtlCol="0">
            <a:spAutoFit/>
          </a:bodyPr>
          <a:lstStyle/>
          <a:p>
            <a:pPr algn="ct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降压，降血脂药</a:t>
            </a:r>
          </a:p>
          <a:p>
            <a:pPr algn="ctr">
              <a:lnSpc>
                <a:spcPct val="150000"/>
              </a:lnSpc>
            </a:pPr>
            <a:r>
              <a:rPr lang="zh-CN" altLang="en-US" dirty="0">
                <a:solidFill>
                  <a:srgbClr val="FF0000"/>
                </a:solidFill>
                <a:latin typeface="微软雅黑" panose="020B0503020204020204" pitchFamily="34" charset="-122"/>
                <a:ea typeface="微软雅黑" panose="020B0503020204020204" pitchFamily="34" charset="-122"/>
              </a:rPr>
              <a:t>（过渡态类似物）</a:t>
            </a:r>
          </a:p>
        </p:txBody>
      </p:sp>
      <p:sp>
        <p:nvSpPr>
          <p:cNvPr id="4" name="文本框 3"/>
          <p:cNvSpPr txBox="1"/>
          <p:nvPr/>
        </p:nvSpPr>
        <p:spPr>
          <a:xfrm>
            <a:off x="0" y="1032510"/>
            <a:ext cx="5381469" cy="4848315"/>
          </a:xfrm>
          <a:prstGeom prst="rect">
            <a:avLst/>
          </a:prstGeom>
          <a:noFill/>
        </p:spPr>
        <p:txBody>
          <a:bodyPr wrap="square" rtlCol="0" anchor="t">
            <a:spAutoFit/>
          </a:bodyPr>
          <a:lstStyle/>
          <a:p>
            <a:pPr marL="285750" indent="-285750">
              <a:lnSpc>
                <a:spcPct val="150000"/>
              </a:lnSpc>
              <a:buClr>
                <a:srgbClr val="000000"/>
              </a:buClr>
              <a:buFont typeface="Arial" panose="020B0604020202020204" pitchFamily="34" charset="0"/>
              <a:buChar char="•"/>
            </a:pPr>
            <a:r>
              <a:rPr lang="zh-CN" altLang="zh-CN" sz="2800" dirty="0">
                <a:latin typeface="微软雅黑" panose="020B0503020204020204" pitchFamily="34" charset="-122"/>
                <a:ea typeface="微软雅黑" panose="020B0503020204020204" pitchFamily="34" charset="-122"/>
                <a:sym typeface="+mn-ea"/>
              </a:rPr>
              <a:t>根据</a:t>
            </a:r>
            <a:r>
              <a:rPr lang="zh-CN" altLang="en-US" sz="2800" dirty="0">
                <a:latin typeface="微软雅黑" panose="020B0503020204020204" pitchFamily="34" charset="-122"/>
                <a:ea typeface="微软雅黑" panose="020B0503020204020204" pitchFamily="34" charset="-122"/>
                <a:sym typeface="+mn-ea"/>
              </a:rPr>
              <a:t>过渡态</a:t>
            </a:r>
            <a:r>
              <a:rPr lang="zh-CN" altLang="zh-CN" sz="2800" dirty="0">
                <a:latin typeface="微软雅黑" panose="020B0503020204020204" pitchFamily="34" charset="-122"/>
                <a:ea typeface="微软雅黑" panose="020B0503020204020204" pitchFamily="34" charset="-122"/>
                <a:sym typeface="+mn-ea"/>
              </a:rPr>
              <a:t>的结构设计</a:t>
            </a:r>
            <a:r>
              <a:rPr lang="zh-CN" altLang="en-US" sz="2800" dirty="0">
                <a:latin typeface="微软雅黑" panose="020B0503020204020204" pitchFamily="34" charset="-122"/>
                <a:ea typeface="微软雅黑" panose="020B0503020204020204" pitchFamily="34" charset="-122"/>
                <a:sym typeface="+mn-ea"/>
              </a:rPr>
              <a:t>的</a:t>
            </a:r>
            <a:r>
              <a:rPr lang="zh-CN" altLang="zh-CN" sz="2800" b="1" dirty="0">
                <a:solidFill>
                  <a:srgbClr val="FF0000"/>
                </a:solidFill>
                <a:latin typeface="微软雅黑" panose="020B0503020204020204" pitchFamily="34" charset="-122"/>
                <a:ea typeface="微软雅黑" panose="020B0503020204020204" pitchFamily="34" charset="-122"/>
                <a:sym typeface="+mn-ea"/>
              </a:rPr>
              <a:t>过渡态类似物</a:t>
            </a:r>
            <a:r>
              <a:rPr lang="zh-CN" altLang="en-US" sz="2800" dirty="0">
                <a:latin typeface="微软雅黑" panose="020B0503020204020204" pitchFamily="34" charset="-122"/>
                <a:ea typeface="微软雅黑" panose="020B0503020204020204" pitchFamily="34" charset="-122"/>
                <a:sym typeface="+mn-ea"/>
              </a:rPr>
              <a:t>可作为</a:t>
            </a:r>
            <a:r>
              <a:rPr lang="zh-CN" altLang="zh-CN" sz="2800" dirty="0">
                <a:solidFill>
                  <a:srgbClr val="FF0000"/>
                </a:solidFill>
                <a:latin typeface="微软雅黑" panose="020B0503020204020204" pitchFamily="34" charset="-122"/>
                <a:ea typeface="微软雅黑" panose="020B0503020204020204" pitchFamily="34" charset="-122"/>
                <a:sym typeface="+mn-ea"/>
              </a:rPr>
              <a:t>酶的强抑制剂</a:t>
            </a:r>
            <a:r>
              <a:rPr lang="zh-CN" altLang="zh-CN" sz="2800" dirty="0">
                <a:latin typeface="微软雅黑" panose="020B0503020204020204" pitchFamily="34" charset="-122"/>
                <a:ea typeface="微软雅黑" panose="020B0503020204020204" pitchFamily="34" charset="-122"/>
                <a:sym typeface="+mn-ea"/>
              </a:rPr>
              <a:t>。</a:t>
            </a:r>
          </a:p>
          <a:p>
            <a:pPr marL="285750" indent="-285750">
              <a:lnSpc>
                <a:spcPct val="150000"/>
              </a:lnSpc>
              <a:spcBef>
                <a:spcPts val="1200"/>
              </a:spcBef>
              <a:buClr>
                <a:srgbClr val="000000"/>
              </a:buClr>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酶通常是药物和其他有益</a:t>
            </a:r>
            <a:r>
              <a:rPr lang="zh-CN" altLang="en-US" sz="2800" dirty="0">
                <a:solidFill>
                  <a:srgbClr val="FF0000"/>
                </a:solidFill>
                <a:latin typeface="微软雅黑" panose="020B0503020204020204" pitchFamily="34" charset="-122"/>
                <a:ea typeface="微软雅黑" panose="020B0503020204020204" pitchFamily="34" charset="-122"/>
              </a:rPr>
              <a:t>药物的靶点</a:t>
            </a:r>
            <a:r>
              <a:rPr lang="zh-CN" altLang="en-US" sz="2800" dirty="0">
                <a:latin typeface="微软雅黑" panose="020B0503020204020204" pitchFamily="34" charset="-122"/>
                <a:ea typeface="微软雅黑" panose="020B0503020204020204" pitchFamily="34" charset="-122"/>
              </a:rPr>
              <a:t>。</a:t>
            </a:r>
          </a:p>
          <a:p>
            <a:pPr marL="285750" indent="-285750">
              <a:lnSpc>
                <a:spcPct val="150000"/>
              </a:lnSpc>
              <a:spcBef>
                <a:spcPts val="1200"/>
              </a:spcBef>
              <a:buClr>
                <a:srgbClr val="000000"/>
              </a:buClr>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比如</a:t>
            </a:r>
            <a:r>
              <a:rPr lang="zh-CN" altLang="en-US" sz="2800" dirty="0">
                <a:latin typeface="微软雅黑" panose="020B0503020204020204" pitchFamily="34" charset="-122"/>
                <a:ea typeface="微软雅黑" panose="020B0503020204020204" pitchFamily="34" charset="-122"/>
              </a:rPr>
              <a:t>：</a:t>
            </a:r>
            <a:r>
              <a:rPr lang="zh-CN" altLang="en-US" sz="2800" dirty="0">
                <a:solidFill>
                  <a:srgbClr val="FF0000"/>
                </a:solidFill>
                <a:latin typeface="微软雅黑" panose="020B0503020204020204" pitchFamily="34" charset="-122"/>
                <a:ea typeface="微软雅黑" panose="020B0503020204020204" pitchFamily="34" charset="-122"/>
              </a:rPr>
              <a:t>他汀类药物</a:t>
            </a:r>
            <a:r>
              <a:rPr lang="zh-CN" altLang="en-US" sz="2800" dirty="0">
                <a:latin typeface="微软雅黑" panose="020B0503020204020204" pitchFamily="34" charset="-122"/>
                <a:ea typeface="微软雅黑" panose="020B0503020204020204" pitchFamily="34" charset="-122"/>
              </a:rPr>
              <a:t>，是</a:t>
            </a:r>
            <a:r>
              <a:rPr lang="zh-CN" altLang="en-US" sz="2800" dirty="0">
                <a:solidFill>
                  <a:srgbClr val="FF0000"/>
                </a:solidFill>
                <a:latin typeface="微软雅黑" panose="020B0503020204020204" pitchFamily="34" charset="-122"/>
                <a:ea typeface="微软雅黑" panose="020B0503020204020204" pitchFamily="34" charset="-122"/>
              </a:rPr>
              <a:t>胆固醇</a:t>
            </a:r>
            <a:r>
              <a:rPr lang="zh-CN" altLang="en-US" sz="2800" dirty="0">
                <a:latin typeface="微软雅黑" panose="020B0503020204020204" pitchFamily="34" charset="-122"/>
                <a:ea typeface="微软雅黑" panose="020B0503020204020204" pitchFamily="34" charset="-122"/>
              </a:rPr>
              <a:t>的酶催化形成过程的过渡态类似物。</a:t>
            </a:r>
          </a:p>
        </p:txBody>
      </p:sp>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4" descr="10-5">
            <a:extLst>
              <a:ext uri="{FF2B5EF4-FFF2-40B4-BE49-F238E27FC236}">
                <a16:creationId xmlns:a16="http://schemas.microsoft.com/office/drawing/2014/main" id="{0EF4F7BA-89FA-0823-C7CD-AE4CDE10208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30609" y="599256"/>
            <a:ext cx="11930782" cy="2597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Line 5">
            <a:extLst>
              <a:ext uri="{FF2B5EF4-FFF2-40B4-BE49-F238E27FC236}">
                <a16:creationId xmlns:a16="http://schemas.microsoft.com/office/drawing/2014/main" id="{C44817F7-9EC8-D546-AFD3-474C28A05494}"/>
              </a:ext>
            </a:extLst>
          </p:cNvPr>
          <p:cNvSpPr>
            <a:spLocks noChangeShapeType="1"/>
          </p:cNvSpPr>
          <p:nvPr/>
        </p:nvSpPr>
        <p:spPr bwMode="auto">
          <a:xfrm flipH="1">
            <a:off x="6695935" y="2920181"/>
            <a:ext cx="3153194" cy="1981201"/>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68" name="Text Box 6">
            <a:extLst>
              <a:ext uri="{FF2B5EF4-FFF2-40B4-BE49-F238E27FC236}">
                <a16:creationId xmlns:a16="http://schemas.microsoft.com/office/drawing/2014/main" id="{6AFBD4B9-BA4A-5F43-C4BA-FA952642D2D7}"/>
              </a:ext>
            </a:extLst>
          </p:cNvPr>
          <p:cNvSpPr txBox="1">
            <a:spLocks noChangeArrowheads="1"/>
          </p:cNvSpPr>
          <p:nvPr/>
        </p:nvSpPr>
        <p:spPr bwMode="auto">
          <a:xfrm>
            <a:off x="4519399" y="4537489"/>
            <a:ext cx="1828800" cy="954107"/>
          </a:xfrm>
          <a:prstGeom prst="rect">
            <a:avLst/>
          </a:prstGeom>
          <a:solidFill>
            <a:srgbClr val="99CCFF"/>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zh-CN" altLang="en-US" sz="2800" b="1" dirty="0">
                <a:latin typeface="楷体" panose="02010609060101010101" pitchFamily="49" charset="-122"/>
                <a:ea typeface="楷体" panose="02010609060101010101" pitchFamily="49" charset="-122"/>
              </a:rPr>
              <a:t>免疫动物产生抗体</a:t>
            </a:r>
          </a:p>
        </p:txBody>
      </p:sp>
      <p:sp>
        <p:nvSpPr>
          <p:cNvPr id="11269" name="Line 7">
            <a:extLst>
              <a:ext uri="{FF2B5EF4-FFF2-40B4-BE49-F238E27FC236}">
                <a16:creationId xmlns:a16="http://schemas.microsoft.com/office/drawing/2014/main" id="{51B5F306-7C8F-CFD6-2564-63EB1867119D}"/>
              </a:ext>
            </a:extLst>
          </p:cNvPr>
          <p:cNvSpPr>
            <a:spLocks noChangeShapeType="1"/>
          </p:cNvSpPr>
          <p:nvPr/>
        </p:nvSpPr>
        <p:spPr bwMode="auto">
          <a:xfrm flipH="1" flipV="1">
            <a:off x="2342863" y="4198935"/>
            <a:ext cx="1828800" cy="6858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70" name="Line 8">
            <a:extLst>
              <a:ext uri="{FF2B5EF4-FFF2-40B4-BE49-F238E27FC236}">
                <a16:creationId xmlns:a16="http://schemas.microsoft.com/office/drawing/2014/main" id="{874475F6-31ED-4FFB-152C-5A5EF215F24A}"/>
              </a:ext>
            </a:extLst>
          </p:cNvPr>
          <p:cNvSpPr>
            <a:spLocks noChangeShapeType="1"/>
          </p:cNvSpPr>
          <p:nvPr/>
        </p:nvSpPr>
        <p:spPr bwMode="auto">
          <a:xfrm>
            <a:off x="1770857" y="3212690"/>
            <a:ext cx="0" cy="1981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9642" name="Text Box 10">
            <a:extLst>
              <a:ext uri="{FF2B5EF4-FFF2-40B4-BE49-F238E27FC236}">
                <a16:creationId xmlns:a16="http://schemas.microsoft.com/office/drawing/2014/main" id="{EFDAF0E9-4A9A-F86E-74E2-4FF3F3760FA7}"/>
              </a:ext>
            </a:extLst>
          </p:cNvPr>
          <p:cNvSpPr txBox="1">
            <a:spLocks noChangeArrowheads="1"/>
          </p:cNvSpPr>
          <p:nvPr/>
        </p:nvSpPr>
        <p:spPr bwMode="auto">
          <a:xfrm>
            <a:off x="2971801" y="4014269"/>
            <a:ext cx="990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en-US" sz="2800" b="1" dirty="0">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筛选</a:t>
            </a:r>
          </a:p>
        </p:txBody>
      </p:sp>
      <p:sp>
        <p:nvSpPr>
          <p:cNvPr id="11272" name="Text Box 11">
            <a:extLst>
              <a:ext uri="{FF2B5EF4-FFF2-40B4-BE49-F238E27FC236}">
                <a16:creationId xmlns:a16="http://schemas.microsoft.com/office/drawing/2014/main" id="{7FF97807-6ADB-488C-5609-2B4410A03E6B}"/>
              </a:ext>
            </a:extLst>
          </p:cNvPr>
          <p:cNvSpPr txBox="1">
            <a:spLocks noChangeArrowheads="1"/>
          </p:cNvSpPr>
          <p:nvPr/>
        </p:nvSpPr>
        <p:spPr bwMode="auto">
          <a:xfrm>
            <a:off x="1770857" y="3660774"/>
            <a:ext cx="533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zh-CN" altLang="en-US" b="1" dirty="0">
                <a:latin typeface="楷体" panose="02010609060101010101" pitchFamily="49" charset="-122"/>
                <a:ea typeface="楷体" panose="02010609060101010101" pitchFamily="49" charset="-122"/>
              </a:rPr>
              <a:t>抗体酶</a:t>
            </a:r>
          </a:p>
        </p:txBody>
      </p:sp>
      <p:sp>
        <p:nvSpPr>
          <p:cNvPr id="11273" name="Rectangle 15">
            <a:extLst>
              <a:ext uri="{FF2B5EF4-FFF2-40B4-BE49-F238E27FC236}">
                <a16:creationId xmlns:a16="http://schemas.microsoft.com/office/drawing/2014/main" id="{DC9C9CFF-81E1-EC23-6627-EE471CEACBC3}"/>
              </a:ext>
            </a:extLst>
          </p:cNvPr>
          <p:cNvSpPr>
            <a:spLocks noChangeArrowheads="1"/>
          </p:cNvSpPr>
          <p:nvPr/>
        </p:nvSpPr>
        <p:spPr bwMode="auto">
          <a:xfrm>
            <a:off x="3257263" y="5903090"/>
            <a:ext cx="5234125" cy="52322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zh-CN" altLang="en-US" sz="2800" b="1" dirty="0">
                <a:ea typeface="楷体" panose="02010609060101010101" pitchFamily="49" charset="-122"/>
              </a:rPr>
              <a:t>催化可卡因水解的抗体酶的制备</a:t>
            </a:r>
          </a:p>
        </p:txBody>
      </p:sp>
      <p:sp>
        <p:nvSpPr>
          <p:cNvPr id="11274" name="Rectangle 17">
            <a:extLst>
              <a:ext uri="{FF2B5EF4-FFF2-40B4-BE49-F238E27FC236}">
                <a16:creationId xmlns:a16="http://schemas.microsoft.com/office/drawing/2014/main" id="{DEF82698-9C60-DD94-06DC-9997EF5AC665}"/>
              </a:ext>
            </a:extLst>
          </p:cNvPr>
          <p:cNvSpPr>
            <a:spLocks noChangeArrowheads="1"/>
          </p:cNvSpPr>
          <p:nvPr/>
        </p:nvSpPr>
        <p:spPr bwMode="auto">
          <a:xfrm>
            <a:off x="1372394" y="5309187"/>
            <a:ext cx="796925" cy="45720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zh-CN" altLang="en-US" b="1" dirty="0">
                <a:latin typeface="楷体" panose="02010609060101010101" pitchFamily="49" charset="-122"/>
                <a:ea typeface="楷体" panose="02010609060101010101" pitchFamily="49" charset="-122"/>
              </a:rPr>
              <a:t>水解</a:t>
            </a:r>
          </a:p>
        </p:txBody>
      </p:sp>
      <p:sp>
        <p:nvSpPr>
          <p:cNvPr id="11275" name="Rectangle 19">
            <a:extLst>
              <a:ext uri="{FF2B5EF4-FFF2-40B4-BE49-F238E27FC236}">
                <a16:creationId xmlns:a16="http://schemas.microsoft.com/office/drawing/2014/main" id="{6C378AE1-E703-44B0-2CE0-63625C26F407}"/>
              </a:ext>
            </a:extLst>
          </p:cNvPr>
          <p:cNvSpPr>
            <a:spLocks noChangeArrowheads="1"/>
          </p:cNvSpPr>
          <p:nvPr/>
        </p:nvSpPr>
        <p:spPr bwMode="auto">
          <a:xfrm>
            <a:off x="461067" y="0"/>
            <a:ext cx="1103313" cy="45720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zh-CN" altLang="en-US" b="1" dirty="0">
                <a:latin typeface="楷体" panose="02010609060101010101" pitchFamily="49" charset="-122"/>
                <a:ea typeface="楷体" panose="02010609060101010101" pitchFamily="49" charset="-122"/>
              </a:rPr>
              <a:t>可卡因</a:t>
            </a: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576291" y="1035"/>
            <a:ext cx="9241632" cy="825419"/>
          </a:xfrm>
          <a:prstGeom prst="rect">
            <a:avLst/>
          </a:prstGeom>
        </p:spPr>
        <p:txBody>
          <a:bodyPr wrap="none">
            <a:spAutoFit/>
          </a:bodyPr>
          <a:lstStyle/>
          <a:p>
            <a:pPr algn="ctr" defTabSz="914400" fontAlgn="base">
              <a:lnSpc>
                <a:spcPct val="150000"/>
              </a:lnSpc>
              <a:spcBef>
                <a:spcPct val="0"/>
              </a:spcBef>
              <a:spcAft>
                <a:spcPct val="0"/>
              </a:spcAft>
              <a:defRPr/>
            </a:pPr>
            <a:r>
              <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结合能是降低活化能的</a:t>
            </a:r>
            <a:r>
              <a:rPr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主要</a:t>
            </a:r>
            <a:r>
              <a:rPr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自由能来源。</a:t>
            </a:r>
          </a:p>
        </p:txBody>
      </p:sp>
      <p:sp>
        <p:nvSpPr>
          <p:cNvPr id="7" name="文本框 6"/>
          <p:cNvSpPr txBox="1"/>
          <p:nvPr/>
        </p:nvSpPr>
        <p:spPr>
          <a:xfrm>
            <a:off x="1695875" y="2581770"/>
            <a:ext cx="8021955" cy="3412601"/>
          </a:xfrm>
          <a:prstGeom prst="rect">
            <a:avLst/>
          </a:prstGeom>
          <a:noFill/>
        </p:spPr>
        <p:txBody>
          <a:bodyPr wrap="square" rtlCol="0" anchor="t">
            <a:spAutoFit/>
          </a:bodyPr>
          <a:lstStyle/>
          <a:p>
            <a:pPr marL="685800" indent="-342900">
              <a:lnSpc>
                <a:spcPct val="150000"/>
              </a:lnSpc>
              <a:spcBef>
                <a:spcPts val="1200"/>
              </a:spcBef>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rPr>
              <a:t>结合能，通过克服以下障碍降低反应活化能（ΔG‡）：</a:t>
            </a:r>
          </a:p>
          <a:p>
            <a:pPr marL="742950" indent="-457200">
              <a:lnSpc>
                <a:spcPct val="150000"/>
              </a:lnSpc>
              <a:spcBef>
                <a:spcPts val="1200"/>
              </a:spcBef>
              <a:buFont typeface="+mj-ea"/>
              <a:buAutoNum type="circleNumDbPlain"/>
            </a:pPr>
            <a:r>
              <a:rPr lang="zh-CN" altLang="en-US" sz="2400" b="1" dirty="0">
                <a:latin typeface="微软雅黑" panose="020B0503020204020204" pitchFamily="34" charset="-122"/>
                <a:ea typeface="微软雅黑" panose="020B0503020204020204" pitchFamily="34" charset="-122"/>
              </a:rPr>
              <a:t>溶液中分子的熵（混乱度）。</a:t>
            </a:r>
          </a:p>
          <a:p>
            <a:pPr marL="742950" indent="-457200">
              <a:lnSpc>
                <a:spcPct val="150000"/>
              </a:lnSpc>
              <a:spcBef>
                <a:spcPts val="1200"/>
              </a:spcBef>
              <a:buFont typeface="+mj-ea"/>
              <a:buAutoNum type="circleNumDbPlain"/>
            </a:pPr>
            <a:r>
              <a:rPr lang="zh-CN" altLang="en-US" sz="2400" b="1" dirty="0">
                <a:latin typeface="微软雅黑" panose="020B0503020204020204" pitchFamily="34" charset="-122"/>
                <a:ea typeface="微软雅黑" panose="020B0503020204020204" pitchFamily="34" charset="-122"/>
              </a:rPr>
              <a:t>分子表的水化层（底物与水之间的成氢键）。</a:t>
            </a:r>
          </a:p>
          <a:p>
            <a:pPr marL="742950" indent="-457200">
              <a:lnSpc>
                <a:spcPct val="150000"/>
              </a:lnSpc>
              <a:spcBef>
                <a:spcPts val="1200"/>
              </a:spcBef>
              <a:buFont typeface="+mj-ea"/>
              <a:buAutoNum type="circleNumDbPlain"/>
            </a:pPr>
            <a:r>
              <a:rPr lang="zh-CN" altLang="en-US" sz="2400" b="1" dirty="0">
                <a:latin typeface="微软雅黑" panose="020B0503020204020204" pitchFamily="34" charset="-122"/>
                <a:ea typeface="微软雅黑" panose="020B0503020204020204" pitchFamily="34" charset="-122"/>
              </a:rPr>
              <a:t>许多反应需底物发生形变（过渡态）。</a:t>
            </a:r>
          </a:p>
          <a:p>
            <a:pPr marL="742950" indent="-457200">
              <a:lnSpc>
                <a:spcPct val="150000"/>
              </a:lnSpc>
              <a:spcBef>
                <a:spcPts val="1200"/>
              </a:spcBef>
              <a:buFont typeface="+mj-ea"/>
              <a:buAutoNum type="circleNumDbPlain"/>
            </a:pPr>
            <a:r>
              <a:rPr lang="zh-CN" altLang="en-US" sz="2400" b="1" dirty="0">
                <a:latin typeface="微软雅黑" panose="020B0503020204020204" pitchFamily="34" charset="-122"/>
                <a:ea typeface="微软雅黑" panose="020B0503020204020204" pitchFamily="34" charset="-122"/>
              </a:rPr>
              <a:t>酶的催化基团需进行适当的排列。</a:t>
            </a:r>
          </a:p>
        </p:txBody>
      </p:sp>
      <p:sp>
        <p:nvSpPr>
          <p:cNvPr id="3" name="文本框 2"/>
          <p:cNvSpPr txBox="1"/>
          <p:nvPr/>
        </p:nvSpPr>
        <p:spPr>
          <a:xfrm>
            <a:off x="387141" y="1143926"/>
            <a:ext cx="10250905" cy="1120371"/>
          </a:xfrm>
          <a:prstGeom prst="rect">
            <a:avLst/>
          </a:prstGeom>
          <a:noFill/>
        </p:spPr>
        <p:txBody>
          <a:bodyPr wrap="square">
            <a:spAutoFit/>
          </a:bodyPr>
          <a:lstStyle/>
          <a:p>
            <a:pPr marL="342900" indent="-342900">
              <a:lnSpc>
                <a:spcPct val="125000"/>
              </a:lnSpc>
              <a:spcBef>
                <a:spcPts val="12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酶与底物的</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非共相互作用的能量</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，称为</a:t>
            </a:r>
            <a:r>
              <a:rPr lang="zh-CN" altLang="en-US"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结合能，</a:t>
            </a:r>
            <a:r>
              <a:rPr lang="zh-CN" altLang="en-US" sz="2800" u="sng" dirty="0">
                <a:latin typeface="微软雅黑" panose="020B0503020204020204" pitchFamily="34" charset="-122"/>
                <a:ea typeface="微软雅黑" panose="020B0503020204020204" pitchFamily="34" charset="-122"/>
                <a:cs typeface="微软雅黑" panose="020B0503020204020204" pitchFamily="34" charset="-122"/>
                <a:sym typeface="+mn-ea"/>
              </a:rPr>
              <a:t>是酶用来降低反应活化能的主要自由能来源</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094323" y="0"/>
            <a:ext cx="5551520" cy="825419"/>
          </a:xfrm>
          <a:prstGeom prst="rect">
            <a:avLst/>
          </a:prstGeom>
        </p:spPr>
        <p:txBody>
          <a:bodyPr wrap="none">
            <a:spAutoFit/>
          </a:bodyPr>
          <a:lstStyle/>
          <a:p>
            <a:pPr marL="742950" indent="-742950" algn="ctr" defTabSz="914400" fontAlgn="base">
              <a:lnSpc>
                <a:spcPct val="150000"/>
              </a:lnSpc>
              <a:spcBef>
                <a:spcPct val="0"/>
              </a:spcBef>
              <a:spcAft>
                <a:spcPct val="0"/>
              </a:spcAft>
              <a:buFont typeface="+mj-ea"/>
              <a:buAutoNum type="circleNumDbPlain"/>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通过</a:t>
            </a:r>
            <a:r>
              <a:rPr lang="zh-CN" altLang="en-US" sz="36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熵减</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提高反应速率</a:t>
            </a:r>
          </a:p>
        </p:txBody>
      </p:sp>
      <p:sp>
        <p:nvSpPr>
          <p:cNvPr id="7" name="文本框 6"/>
          <p:cNvSpPr txBox="1"/>
          <p:nvPr/>
        </p:nvSpPr>
        <p:spPr>
          <a:xfrm>
            <a:off x="7374194" y="1594431"/>
            <a:ext cx="4690534" cy="2678490"/>
          </a:xfrm>
          <a:prstGeom prst="rect">
            <a:avLst/>
          </a:prstGeom>
          <a:noFill/>
        </p:spPr>
        <p:txBody>
          <a:bodyPr wrap="square" rtlCol="0" anchor="t">
            <a:spAutoFit/>
          </a:bodyPr>
          <a:lstStyle/>
          <a:p>
            <a:pPr marL="685800" indent="-342900">
              <a:lnSpc>
                <a:spcPct val="150000"/>
              </a:lnSpc>
              <a:spcBef>
                <a:spcPts val="6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熵减极大限制了要反应的两个底物的相对运动；</a:t>
            </a:r>
          </a:p>
          <a:p>
            <a:pPr marL="685800" indent="-342900">
              <a:lnSpc>
                <a:spcPct val="150000"/>
              </a:lnSpc>
              <a:spcBef>
                <a:spcPts val="6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结合能将底物限制在正确的方向以进行反应。</a:t>
            </a:r>
          </a:p>
        </p:txBody>
      </p:sp>
      <p:pic>
        <p:nvPicPr>
          <p:cNvPr id="4" name="图片 3"/>
          <p:cNvPicPr>
            <a:picLocks noChangeAspect="1"/>
          </p:cNvPicPr>
          <p:nvPr/>
        </p:nvPicPr>
        <p:blipFill rotWithShape="1">
          <a:blip r:embed="rId3"/>
          <a:srcRect l="3772" t="6231" r="3759"/>
          <a:stretch/>
        </p:blipFill>
        <p:spPr>
          <a:xfrm>
            <a:off x="0" y="1297858"/>
            <a:ext cx="7565923" cy="4586748"/>
          </a:xfrm>
          <a:prstGeom prst="rect">
            <a:avLst/>
          </a:prstGeom>
        </p:spPr>
      </p:pic>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170995" y="41040"/>
            <a:ext cx="7398179" cy="825419"/>
          </a:xfrm>
          <a:prstGeom prst="rect">
            <a:avLst/>
          </a:prstGeom>
        </p:spPr>
        <p:txBody>
          <a:bodyPr wrap="none">
            <a:spAutoFit/>
          </a:bodyPr>
          <a:lstStyle/>
          <a:p>
            <a:pPr marL="742950" indent="-742950" algn="ctr" defTabSz="914400" fontAlgn="base">
              <a:lnSpc>
                <a:spcPct val="150000"/>
              </a:lnSpc>
              <a:spcBef>
                <a:spcPct val="0"/>
              </a:spcBef>
              <a:spcAft>
                <a:spcPct val="0"/>
              </a:spcAft>
              <a:buFont typeface="+mj-ea"/>
              <a:buAutoNum type="circleNumDbPlain" startAt="2"/>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通过</a:t>
            </a:r>
            <a:r>
              <a:rPr lang="zh-CN" altLang="en-US" sz="36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底物去溶剂化</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提高反应速率</a:t>
            </a:r>
          </a:p>
        </p:txBody>
      </p:sp>
      <p:sp>
        <p:nvSpPr>
          <p:cNvPr id="7" name="文本框 6"/>
          <p:cNvSpPr txBox="1"/>
          <p:nvPr/>
        </p:nvSpPr>
        <p:spPr>
          <a:xfrm>
            <a:off x="368709" y="1821815"/>
            <a:ext cx="11238271" cy="2759089"/>
          </a:xfrm>
          <a:prstGeom prst="rect">
            <a:avLst/>
          </a:prstGeom>
          <a:noFill/>
        </p:spPr>
        <p:txBody>
          <a:bodyPr wrap="square" rtlCol="0" anchor="t">
            <a:spAutoFit/>
          </a:bodyPr>
          <a:lstStyle/>
          <a:p>
            <a:pPr marL="685800" indent="-342900">
              <a:lnSpc>
                <a:spcPct val="150000"/>
              </a:lnSpc>
              <a:spcBef>
                <a:spcPts val="1200"/>
              </a:spcBef>
              <a:buFont typeface="Arial" panose="020B0604020202020204" pitchFamily="34" charset="0"/>
              <a:buChar char="•"/>
            </a:pPr>
            <a:r>
              <a:rPr lang="zh-CN" altLang="en-US" sz="2800" dirty="0">
                <a:latin typeface="Comic Sans MS" panose="030F0702030302020204" charset="0"/>
                <a:ea typeface="微软雅黑" panose="020B0503020204020204" pitchFamily="34" charset="-122"/>
                <a:cs typeface="Comic Sans MS" panose="030F0702030302020204" charset="0"/>
              </a:rPr>
              <a:t>在</a:t>
            </a:r>
            <a:r>
              <a:rPr lang="en-US" altLang="zh-CN" sz="2800" dirty="0">
                <a:latin typeface="Comic Sans MS" panose="030F0702030302020204" charset="0"/>
                <a:ea typeface="微软雅黑" panose="020B0503020204020204" pitchFamily="34" charset="-122"/>
                <a:cs typeface="Comic Sans MS" panose="030F0702030302020204" charset="0"/>
                <a:sym typeface="+mn-ea"/>
              </a:rPr>
              <a:t>H</a:t>
            </a:r>
            <a:r>
              <a:rPr lang="en-US" altLang="zh-CN" sz="2800" baseline="-25000" dirty="0">
                <a:latin typeface="Comic Sans MS" panose="030F0702030302020204" charset="0"/>
                <a:ea typeface="微软雅黑" panose="020B0503020204020204" pitchFamily="34" charset="-122"/>
                <a:cs typeface="Comic Sans MS" panose="030F0702030302020204" charset="0"/>
                <a:sym typeface="+mn-ea"/>
              </a:rPr>
              <a:t>2</a:t>
            </a:r>
            <a:r>
              <a:rPr lang="en-US" altLang="zh-CN" sz="2800" dirty="0">
                <a:latin typeface="Comic Sans MS" panose="030F0702030302020204" charset="0"/>
                <a:ea typeface="微软雅黑" panose="020B0503020204020204" pitchFamily="34" charset="-122"/>
                <a:cs typeface="Comic Sans MS" panose="030F0702030302020204" charset="0"/>
                <a:sym typeface="+mn-ea"/>
              </a:rPr>
              <a:t>O</a:t>
            </a:r>
            <a:r>
              <a:rPr lang="zh-CN" altLang="en-US" sz="2800" dirty="0">
                <a:latin typeface="Comic Sans MS" panose="030F0702030302020204" charset="0"/>
                <a:ea typeface="微软雅黑" panose="020B0503020204020204" pitchFamily="34" charset="-122"/>
                <a:cs typeface="Comic Sans MS" panose="030F0702030302020204" charset="0"/>
              </a:rPr>
              <a:t>中，许多有机分子被结构</a:t>
            </a:r>
            <a:r>
              <a:rPr lang="en-US" altLang="zh-CN" sz="2800" dirty="0">
                <a:latin typeface="Comic Sans MS" panose="030F0702030302020204" charset="0"/>
                <a:ea typeface="微软雅黑" panose="020B0503020204020204" pitchFamily="34" charset="-122"/>
                <a:cs typeface="Comic Sans MS" panose="030F0702030302020204" charset="0"/>
                <a:sym typeface="+mn-ea"/>
              </a:rPr>
              <a:t>H</a:t>
            </a:r>
            <a:r>
              <a:rPr lang="en-US" altLang="zh-CN" sz="2800" baseline="-25000" dirty="0">
                <a:latin typeface="Comic Sans MS" panose="030F0702030302020204" charset="0"/>
                <a:ea typeface="微软雅黑" panose="020B0503020204020204" pitchFamily="34" charset="-122"/>
                <a:cs typeface="Comic Sans MS" panose="030F0702030302020204" charset="0"/>
                <a:sym typeface="+mn-ea"/>
              </a:rPr>
              <a:t>2</a:t>
            </a:r>
            <a:r>
              <a:rPr lang="en-US" altLang="zh-CN" sz="2800" dirty="0">
                <a:latin typeface="Comic Sans MS" panose="030F0702030302020204" charset="0"/>
                <a:ea typeface="微软雅黑" panose="020B0503020204020204" pitchFamily="34" charset="-122"/>
                <a:cs typeface="Comic Sans MS" panose="030F0702030302020204" charset="0"/>
                <a:sym typeface="+mn-ea"/>
              </a:rPr>
              <a:t>O</a:t>
            </a:r>
            <a:r>
              <a:rPr lang="zh-CN" altLang="en-US" sz="2800" dirty="0">
                <a:latin typeface="Comic Sans MS" panose="030F0702030302020204" charset="0"/>
                <a:ea typeface="微软雅黑" panose="020B0503020204020204" pitchFamily="34" charset="-122"/>
                <a:cs typeface="Comic Sans MS" panose="030F0702030302020204" charset="0"/>
              </a:rPr>
              <a:t>的溶剂化壳包围（</a:t>
            </a:r>
            <a:r>
              <a:rPr lang="zh-CN" altLang="en-US" sz="2800" dirty="0">
                <a:solidFill>
                  <a:srgbClr val="FF0000"/>
                </a:solidFill>
                <a:latin typeface="Comic Sans MS" panose="030F0702030302020204" charset="0"/>
                <a:ea typeface="微软雅黑" panose="020B0503020204020204" pitchFamily="34" charset="-122"/>
                <a:cs typeface="Comic Sans MS" panose="030F0702030302020204" charset="0"/>
              </a:rPr>
              <a:t>水化层</a:t>
            </a:r>
            <a:r>
              <a:rPr lang="zh-CN" altLang="en-US" sz="2800" dirty="0">
                <a:latin typeface="Comic Sans MS" panose="030F0702030302020204" charset="0"/>
                <a:ea typeface="微软雅黑" panose="020B0503020204020204" pitchFamily="34" charset="-122"/>
                <a:cs typeface="Comic Sans MS" panose="030F0702030302020204" charset="0"/>
              </a:rPr>
              <a:t>），阻碍反应。 </a:t>
            </a:r>
          </a:p>
          <a:p>
            <a:pPr marL="685800" indent="-342900">
              <a:lnSpc>
                <a:spcPct val="150000"/>
              </a:lnSpc>
              <a:spcBef>
                <a:spcPts val="1200"/>
              </a:spcBef>
              <a:buFont typeface="Arial" panose="020B0604020202020204" pitchFamily="34" charset="0"/>
              <a:buChar char="•"/>
            </a:pPr>
            <a:r>
              <a:rPr lang="zh-CN" altLang="en-US" sz="2800" dirty="0">
                <a:latin typeface="Comic Sans MS" panose="030F0702030302020204" charset="0"/>
                <a:ea typeface="微软雅黑" panose="020B0503020204020204" pitchFamily="34" charset="-122"/>
                <a:cs typeface="Comic Sans MS" panose="030F0702030302020204" charset="0"/>
              </a:rPr>
              <a:t>底物和酶之间形成弱键，导致底物</a:t>
            </a:r>
            <a:r>
              <a:rPr lang="zh-CN" altLang="en-US" sz="2800" dirty="0">
                <a:solidFill>
                  <a:srgbClr val="FF0000"/>
                </a:solidFill>
                <a:latin typeface="Comic Sans MS" panose="030F0702030302020204" charset="0"/>
                <a:ea typeface="微软雅黑" panose="020B0503020204020204" pitchFamily="34" charset="-122"/>
                <a:cs typeface="Comic Sans MS" panose="030F0702030302020204" charset="0"/>
              </a:rPr>
              <a:t>去溶剂化</a:t>
            </a:r>
            <a:r>
              <a:rPr lang="zh-CN" altLang="en-US" sz="2800" dirty="0">
                <a:latin typeface="Comic Sans MS" panose="030F0702030302020204" charset="0"/>
                <a:ea typeface="微软雅黑" panose="020B0503020204020204" pitchFamily="34" charset="-122"/>
                <a:cs typeface="Comic Sans MS" panose="030F0702030302020204" charset="0"/>
              </a:rPr>
              <a:t>。 酶-底物相互作用，取代了底物和</a:t>
            </a:r>
            <a:r>
              <a:rPr lang="en-US" altLang="zh-CN" sz="2800" dirty="0">
                <a:latin typeface="Comic Sans MS" panose="030F0702030302020204" charset="0"/>
                <a:ea typeface="微软雅黑" panose="020B0503020204020204" pitchFamily="34" charset="-122"/>
                <a:cs typeface="Comic Sans MS" panose="030F0702030302020204" charset="0"/>
              </a:rPr>
              <a:t>H</a:t>
            </a:r>
            <a:r>
              <a:rPr lang="en-US" altLang="zh-CN" sz="2800" baseline="-25000" dirty="0">
                <a:latin typeface="Comic Sans MS" panose="030F0702030302020204" charset="0"/>
                <a:ea typeface="微软雅黑" panose="020B0503020204020204" pitchFamily="34" charset="-122"/>
                <a:cs typeface="Comic Sans MS" panose="030F0702030302020204" charset="0"/>
              </a:rPr>
              <a:t>2</a:t>
            </a:r>
            <a:r>
              <a:rPr lang="en-US" altLang="zh-CN" sz="2800" dirty="0">
                <a:latin typeface="Comic Sans MS" panose="030F0702030302020204" charset="0"/>
                <a:ea typeface="微软雅黑" panose="020B0503020204020204" pitchFamily="34" charset="-122"/>
                <a:cs typeface="Comic Sans MS" panose="030F0702030302020204" charset="0"/>
              </a:rPr>
              <a:t>O</a:t>
            </a:r>
            <a:r>
              <a:rPr lang="zh-CN" altLang="en-US" sz="2800" dirty="0">
                <a:latin typeface="Comic Sans MS" panose="030F0702030302020204" charset="0"/>
                <a:ea typeface="微软雅黑" panose="020B0503020204020204" pitchFamily="34" charset="-122"/>
                <a:cs typeface="Comic Sans MS" panose="030F0702030302020204" charset="0"/>
              </a:rPr>
              <a:t>之间的大部分或全部氢键。</a:t>
            </a: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401827" y="41039"/>
            <a:ext cx="6936515" cy="825419"/>
          </a:xfrm>
          <a:prstGeom prst="rect">
            <a:avLst/>
          </a:prstGeom>
        </p:spPr>
        <p:txBody>
          <a:bodyPr wrap="none">
            <a:spAutoFit/>
          </a:bodyPr>
          <a:lstStyle/>
          <a:p>
            <a:pPr marL="742950" indent="-742950" algn="ctr" defTabSz="914400" fontAlgn="base">
              <a:lnSpc>
                <a:spcPct val="150000"/>
              </a:lnSpc>
              <a:spcBef>
                <a:spcPct val="0"/>
              </a:spcBef>
              <a:spcAft>
                <a:spcPct val="0"/>
              </a:spcAft>
              <a:buFont typeface="+mj-ea"/>
              <a:buAutoNum type="circleNumDbPlain" startAt="3"/>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通过底</a:t>
            </a:r>
            <a:r>
              <a:rPr lang="zh-CN" altLang="en-US" sz="36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底物形变</a:t>
            </a: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提高反应速率</a:t>
            </a:r>
          </a:p>
        </p:txBody>
      </p:sp>
      <p:sp>
        <p:nvSpPr>
          <p:cNvPr id="7" name="文本框 6"/>
          <p:cNvSpPr txBox="1"/>
          <p:nvPr/>
        </p:nvSpPr>
        <p:spPr>
          <a:xfrm>
            <a:off x="1584961" y="3315970"/>
            <a:ext cx="4443095" cy="3014980"/>
          </a:xfrm>
          <a:prstGeom prst="rect">
            <a:avLst/>
          </a:prstGeom>
          <a:noFill/>
        </p:spPr>
        <p:txBody>
          <a:bodyPr wrap="square" rtlCol="0" anchor="t">
            <a:spAutoFit/>
          </a:bodyPr>
          <a:lstStyle/>
          <a:p>
            <a:pPr marL="685800" indent="-342900">
              <a:lnSpc>
                <a:spcPct val="150000"/>
              </a:lnSpc>
              <a:spcBef>
                <a:spcPts val="12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反应过程中，底物必须经历</a:t>
            </a:r>
            <a:r>
              <a:rPr lang="zh-CN" altLang="en-US" sz="2400" u="sng" dirty="0">
                <a:solidFill>
                  <a:srgbClr val="FF0000"/>
                </a:solidFill>
                <a:latin typeface="微软雅黑" panose="020B0503020204020204" pitchFamily="34" charset="-122"/>
                <a:ea typeface="微软雅黑" panose="020B0503020204020204" pitchFamily="34" charset="-122"/>
                <a:sym typeface="+mn-ea"/>
              </a:rPr>
              <a:t>形</a:t>
            </a:r>
            <a:r>
              <a:rPr lang="zh-CN" altLang="en-US" sz="2400" u="sng" dirty="0">
                <a:solidFill>
                  <a:srgbClr val="FF0000"/>
                </a:solidFill>
                <a:latin typeface="微软雅黑" panose="020B0503020204020204" pitchFamily="34" charset="-122"/>
                <a:ea typeface="微软雅黑" panose="020B0503020204020204" pitchFamily="34" charset="-122"/>
              </a:rPr>
              <a:t>变（电子重新分配）</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导致不利的自由能变化；</a:t>
            </a:r>
          </a:p>
          <a:p>
            <a:pPr marL="685800" indent="-342900">
              <a:lnSpc>
                <a:spcPct val="150000"/>
              </a:lnSpc>
              <a:spcBef>
                <a:spcPts val="12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结合能，为此提供热力学的</a:t>
            </a:r>
            <a:r>
              <a:rPr lang="zh-CN" altLang="en-US" sz="2400" dirty="0">
                <a:latin typeface="微软雅黑" panose="020B0503020204020204" pitchFamily="34" charset="-122"/>
                <a:ea typeface="微软雅黑" panose="020B0503020204020204" pitchFamily="34" charset="-122"/>
                <a:sym typeface="+mn-ea"/>
              </a:rPr>
              <a:t>补偿。</a:t>
            </a:r>
          </a:p>
        </p:txBody>
      </p:sp>
      <p:pic>
        <p:nvPicPr>
          <p:cNvPr id="2" name="图片 1"/>
          <p:cNvPicPr>
            <a:picLocks noChangeAspect="1"/>
          </p:cNvPicPr>
          <p:nvPr/>
        </p:nvPicPr>
        <p:blipFill>
          <a:blip r:embed="rId3"/>
          <a:stretch>
            <a:fillRect/>
          </a:stretch>
        </p:blipFill>
        <p:spPr>
          <a:xfrm>
            <a:off x="6321222" y="3013710"/>
            <a:ext cx="3909060" cy="3619500"/>
          </a:xfrm>
          <a:prstGeom prst="rect">
            <a:avLst/>
          </a:prstGeom>
        </p:spPr>
      </p:pic>
      <p:pic>
        <p:nvPicPr>
          <p:cNvPr id="4" name="图片 3"/>
          <p:cNvPicPr>
            <a:picLocks noChangeAspect="1"/>
          </p:cNvPicPr>
          <p:nvPr/>
        </p:nvPicPr>
        <p:blipFill>
          <a:blip r:embed="rId4"/>
          <a:stretch>
            <a:fillRect/>
          </a:stretch>
        </p:blipFill>
        <p:spPr>
          <a:xfrm>
            <a:off x="1906270" y="1064260"/>
            <a:ext cx="7429500" cy="2110740"/>
          </a:xfrm>
          <a:prstGeom prst="rect">
            <a:avLst/>
          </a:prstGeom>
        </p:spPr>
      </p:pic>
      <p:sp>
        <p:nvSpPr>
          <p:cNvPr id="8" name="文本框 7"/>
          <p:cNvSpPr txBox="1"/>
          <p:nvPr/>
        </p:nvSpPr>
        <p:spPr>
          <a:xfrm>
            <a:off x="5882641" y="813435"/>
            <a:ext cx="877163" cy="458908"/>
          </a:xfrm>
          <a:prstGeom prst="rect">
            <a:avLst/>
          </a:prstGeom>
          <a:noFill/>
        </p:spPr>
        <p:txBody>
          <a:bodyPr wrap="none" rtlCol="0">
            <a:spAutoFit/>
          </a:bodyPr>
          <a:lstStyle/>
          <a:p>
            <a:pPr>
              <a:lnSpc>
                <a:spcPct val="150000"/>
              </a:lnSpc>
            </a:pP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溶菌酶</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9246920" y="3429000"/>
            <a:ext cx="646331" cy="458908"/>
          </a:xfrm>
          <a:prstGeom prst="rect">
            <a:avLst/>
          </a:prstGeom>
          <a:noFill/>
        </p:spPr>
        <p:txBody>
          <a:bodyPr wrap="non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椅式</a:t>
            </a:r>
          </a:p>
        </p:txBody>
      </p:sp>
      <p:sp>
        <p:nvSpPr>
          <p:cNvPr id="10" name="文本框 9"/>
          <p:cNvSpPr txBox="1"/>
          <p:nvPr/>
        </p:nvSpPr>
        <p:spPr>
          <a:xfrm>
            <a:off x="10004426" y="4823460"/>
            <a:ext cx="877163" cy="458908"/>
          </a:xfrm>
          <a:prstGeom prst="rect">
            <a:avLst/>
          </a:prstGeom>
          <a:noFill/>
        </p:spPr>
        <p:txBody>
          <a:bodyPr wrap="non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半椅式</a:t>
            </a: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632659" y="41039"/>
            <a:ext cx="6474849" cy="825419"/>
          </a:xfrm>
          <a:prstGeom prst="rect">
            <a:avLst/>
          </a:prstGeom>
        </p:spPr>
        <p:txBody>
          <a:bodyPr wrap="none">
            <a:spAutoFit/>
          </a:bodyPr>
          <a:lstStyle/>
          <a:p>
            <a:pPr marL="742950" indent="-742950" algn="ctr" defTabSz="914400" fontAlgn="base">
              <a:lnSpc>
                <a:spcPct val="150000"/>
              </a:lnSpc>
              <a:spcBef>
                <a:spcPct val="0"/>
              </a:spcBef>
              <a:spcAft>
                <a:spcPct val="0"/>
              </a:spcAft>
              <a:buFont typeface="+mj-ea"/>
              <a:buAutoNum type="circleNumDbPlain" startAt="4"/>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通过诱导契合提高反应速率</a:t>
            </a:r>
          </a:p>
        </p:txBody>
      </p:sp>
      <p:sp>
        <p:nvSpPr>
          <p:cNvPr id="7" name="文本框 6"/>
          <p:cNvSpPr txBox="1"/>
          <p:nvPr/>
        </p:nvSpPr>
        <p:spPr>
          <a:xfrm>
            <a:off x="1428115" y="1921510"/>
            <a:ext cx="4045585" cy="4048096"/>
          </a:xfrm>
          <a:prstGeom prst="rect">
            <a:avLst/>
          </a:prstGeom>
          <a:noFill/>
        </p:spPr>
        <p:txBody>
          <a:bodyPr wrap="square" rtlCol="0" anchor="t">
            <a:spAutoFit/>
          </a:bodyPr>
          <a:lstStyle/>
          <a:p>
            <a:pPr marL="685800" indent="-342900">
              <a:lnSpc>
                <a:spcPct val="150000"/>
              </a:lnSpc>
              <a:spcBef>
                <a:spcPts val="12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诱导契合</a:t>
            </a:r>
            <a:r>
              <a:rPr lang="zh-CN" altLang="en-US" sz="2800" dirty="0">
                <a:latin typeface="微软雅黑" panose="020B0503020204020204" pitchFamily="34" charset="-122"/>
                <a:ea typeface="微软雅黑" panose="020B0503020204020204" pitchFamily="34" charset="-122"/>
              </a:rPr>
              <a:t>：</a:t>
            </a:r>
            <a:r>
              <a:rPr sz="2800" dirty="0">
                <a:latin typeface="微软雅黑" panose="020B0503020204020204" pitchFamily="34" charset="-122"/>
                <a:ea typeface="微软雅黑" panose="020B0503020204020204" pitchFamily="34" charset="-122"/>
              </a:rPr>
              <a:t>当底物结合时酶本身经历构象变化的机制，由与底物的多重弱相互作用诱导</a:t>
            </a:r>
            <a:r>
              <a:rPr lang="zh-CN" altLang="en-US" sz="2800" dirty="0">
                <a:latin typeface="微软雅黑" panose="020B0503020204020204" pitchFamily="34" charset="-122"/>
                <a:ea typeface="微软雅黑" panose="020B0503020204020204" pitchFamily="34" charset="-122"/>
              </a:rPr>
              <a:t>。</a:t>
            </a:r>
            <a:endParaRPr sz="2800" dirty="0">
              <a:latin typeface="微软雅黑" panose="020B0503020204020204" pitchFamily="34" charset="-122"/>
              <a:ea typeface="微软雅黑" panose="020B0503020204020204" pitchFamily="34" charset="-122"/>
            </a:endParaRPr>
          </a:p>
          <a:p>
            <a:pPr marL="685800" indent="-342900">
              <a:lnSpc>
                <a:spcPct val="150000"/>
              </a:lnSpc>
              <a:spcBef>
                <a:spcPts val="1200"/>
              </a:spcBef>
              <a:buFont typeface="Arial" panose="020B0604020202020204" pitchFamily="34" charset="0"/>
              <a:buChar char="•"/>
            </a:pPr>
            <a:endParaRPr sz="2800" dirty="0">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6221730" y="1355725"/>
            <a:ext cx="3253740" cy="4800600"/>
          </a:xfrm>
          <a:prstGeom prst="rect">
            <a:avLst/>
          </a:prstGeom>
        </p:spPr>
      </p:pic>
      <p:sp>
        <p:nvSpPr>
          <p:cNvPr id="8" name="文本框 7"/>
          <p:cNvSpPr txBox="1"/>
          <p:nvPr/>
        </p:nvSpPr>
        <p:spPr>
          <a:xfrm>
            <a:off x="8771255" y="3048635"/>
            <a:ext cx="1107996" cy="458908"/>
          </a:xfrm>
          <a:prstGeom prst="rect">
            <a:avLst/>
          </a:prstGeom>
          <a:noFill/>
        </p:spPr>
        <p:txBody>
          <a:bodyPr wrap="none" rtlCol="0">
            <a:spAutoFit/>
          </a:bodyPr>
          <a:lstStyle/>
          <a:p>
            <a:pPr>
              <a:lnSpc>
                <a:spcPct val="150000"/>
              </a:lnSpc>
            </a:pPr>
            <a:r>
              <a:rPr lang="zh-CN" altLang="en-US" b="1" dirty="0">
                <a:solidFill>
                  <a:srgbClr val="FF0000"/>
                </a:solidFill>
                <a:latin typeface="微软雅黑" panose="020B0503020204020204" pitchFamily="34" charset="-122"/>
                <a:ea typeface="微软雅黑" panose="020B0503020204020204" pitchFamily="34" charset="-122"/>
                <a:sym typeface="+mn-ea"/>
              </a:rPr>
              <a:t>诱导契合</a:t>
            </a: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内容占位符 2">
            <a:extLst>
              <a:ext uri="{FF2B5EF4-FFF2-40B4-BE49-F238E27FC236}">
                <a16:creationId xmlns:a16="http://schemas.microsoft.com/office/drawing/2014/main" id="{DC9104D4-1DA1-A3DF-7E71-2C03C75BC6A8}"/>
              </a:ext>
            </a:extLst>
          </p:cNvPr>
          <p:cNvSpPr>
            <a:spLocks noGrp="1"/>
          </p:cNvSpPr>
          <p:nvPr>
            <p:ph idx="1"/>
          </p:nvPr>
        </p:nvSpPr>
        <p:spPr>
          <a:xfrm>
            <a:off x="977080" y="1088922"/>
            <a:ext cx="10237839" cy="5326626"/>
          </a:xfrm>
        </p:spPr>
        <p:txBody>
          <a:bodyPr>
            <a:normAutofit/>
          </a:bodyPr>
          <a:lstStyle/>
          <a:p>
            <a:pPr marL="609600" indent="-609600">
              <a:buClr>
                <a:srgbClr val="FC0128"/>
              </a:buClr>
              <a:buFont typeface="Wingdings" panose="05000000000000000000" pitchFamily="2" charset="2"/>
              <a:buChar char="¶"/>
            </a:pPr>
            <a:r>
              <a:rPr lang="zh-CN" altLang="zh-CN" sz="3200" dirty="0">
                <a:latin typeface="楷体" panose="02010609060101010101" pitchFamily="49" charset="-122"/>
                <a:ea typeface="楷体" panose="02010609060101010101" pitchFamily="49" charset="-122"/>
              </a:rPr>
              <a:t>与酶催化相关联的过渡态稳定是酶活性中心结构和反应性以及活性中心与结合底物之间的相互作用的必然结果。酶充分使用一系列的化学机制来实现过渡态的稳定并由此加速反应。</a:t>
            </a:r>
            <a:r>
              <a:rPr lang="zh-CN" altLang="en-US" sz="3200" dirty="0">
                <a:latin typeface="楷体" panose="02010609060101010101" pitchFamily="49" charset="-122"/>
                <a:ea typeface="楷体" panose="02010609060101010101" pitchFamily="49" charset="-122"/>
              </a:rPr>
              <a:t>它们包括</a:t>
            </a:r>
            <a:r>
              <a:rPr lang="zh-CN" altLang="zh-CN" sz="3200" dirty="0">
                <a:latin typeface="楷体" panose="02010609060101010101" pitchFamily="49" charset="-122"/>
                <a:ea typeface="楷体" panose="02010609060101010101" pitchFamily="49" charset="-122"/>
              </a:rPr>
              <a:t>：</a:t>
            </a:r>
            <a:endParaRPr lang="en-US" altLang="zh-CN" sz="3200" dirty="0">
              <a:latin typeface="楷体" panose="02010609060101010101" pitchFamily="49" charset="-122"/>
              <a:ea typeface="楷体" panose="02010609060101010101" pitchFamily="49" charset="-122"/>
            </a:endParaRPr>
          </a:p>
          <a:p>
            <a:pPr lvl="1">
              <a:buClr>
                <a:srgbClr val="FF0000"/>
              </a:buClr>
            </a:pPr>
            <a:r>
              <a:rPr lang="zh-CN" altLang="zh-CN" sz="2800" dirty="0">
                <a:latin typeface="楷体" panose="02010609060101010101" pitchFamily="49" charset="-122"/>
                <a:ea typeface="楷体" panose="02010609060101010101" pitchFamily="49" charset="-122"/>
              </a:rPr>
              <a:t>邻近定向效应</a:t>
            </a:r>
            <a:endParaRPr lang="en-US" altLang="zh-CN" sz="2800" dirty="0">
              <a:latin typeface="楷体" panose="02010609060101010101" pitchFamily="49" charset="-122"/>
              <a:ea typeface="楷体" panose="02010609060101010101" pitchFamily="49" charset="-122"/>
            </a:endParaRPr>
          </a:p>
          <a:p>
            <a:pPr lvl="1">
              <a:buClr>
                <a:srgbClr val="FF0000"/>
              </a:buClr>
            </a:pPr>
            <a:r>
              <a:rPr lang="zh-CN" altLang="zh-CN" sz="2800" dirty="0">
                <a:latin typeface="楷体" panose="02010609060101010101" pitchFamily="49" charset="-122"/>
                <a:ea typeface="楷体" panose="02010609060101010101" pitchFamily="49" charset="-122"/>
              </a:rPr>
              <a:t>广义的酸碱催化</a:t>
            </a:r>
            <a:endParaRPr lang="en-US" altLang="zh-CN" sz="2800" dirty="0">
              <a:latin typeface="楷体" panose="02010609060101010101" pitchFamily="49" charset="-122"/>
              <a:ea typeface="楷体" panose="02010609060101010101" pitchFamily="49" charset="-122"/>
            </a:endParaRPr>
          </a:p>
          <a:p>
            <a:pPr lvl="1">
              <a:buClr>
                <a:srgbClr val="FF0000"/>
              </a:buClr>
            </a:pPr>
            <a:r>
              <a:rPr lang="zh-CN" altLang="zh-CN" sz="2800" dirty="0">
                <a:latin typeface="楷体" panose="02010609060101010101" pitchFamily="49" charset="-122"/>
                <a:ea typeface="楷体" panose="02010609060101010101" pitchFamily="49" charset="-122"/>
              </a:rPr>
              <a:t>静电催化</a:t>
            </a:r>
            <a:endParaRPr lang="en-US" altLang="zh-CN" sz="2800" dirty="0">
              <a:latin typeface="楷体" panose="02010609060101010101" pitchFamily="49" charset="-122"/>
              <a:ea typeface="楷体" panose="02010609060101010101" pitchFamily="49" charset="-122"/>
            </a:endParaRPr>
          </a:p>
          <a:p>
            <a:pPr lvl="1">
              <a:buClr>
                <a:srgbClr val="FF0000"/>
              </a:buClr>
            </a:pPr>
            <a:r>
              <a:rPr lang="zh-CN" altLang="zh-CN" sz="2800" dirty="0">
                <a:latin typeface="楷体" panose="02010609060101010101" pitchFamily="49" charset="-122"/>
                <a:ea typeface="楷体" panose="02010609060101010101" pitchFamily="49" charset="-122"/>
              </a:rPr>
              <a:t>金属催化</a:t>
            </a:r>
            <a:endParaRPr lang="en-US" altLang="zh-CN" sz="2800" dirty="0">
              <a:latin typeface="楷体" panose="02010609060101010101" pitchFamily="49" charset="-122"/>
              <a:ea typeface="楷体" panose="02010609060101010101" pitchFamily="49" charset="-122"/>
            </a:endParaRPr>
          </a:p>
          <a:p>
            <a:pPr lvl="1">
              <a:buClr>
                <a:srgbClr val="FF0000"/>
              </a:buClr>
            </a:pPr>
            <a:r>
              <a:rPr lang="zh-CN" altLang="zh-CN" sz="2800" dirty="0">
                <a:latin typeface="楷体" panose="02010609060101010101" pitchFamily="49" charset="-122"/>
                <a:ea typeface="楷体" panose="02010609060101010101" pitchFamily="49" charset="-122"/>
              </a:rPr>
              <a:t>共价催化</a:t>
            </a:r>
            <a:endParaRPr lang="en-US" altLang="zh-CN" sz="2800" dirty="0">
              <a:latin typeface="楷体" panose="02010609060101010101" pitchFamily="49" charset="-122"/>
              <a:ea typeface="楷体" panose="02010609060101010101" pitchFamily="49" charset="-122"/>
            </a:endParaRPr>
          </a:p>
          <a:p>
            <a:pPr lvl="1">
              <a:buClr>
                <a:srgbClr val="FF0000"/>
              </a:buClr>
            </a:pPr>
            <a:r>
              <a:rPr lang="zh-CN" altLang="zh-CN" sz="2800" dirty="0">
                <a:latin typeface="楷体" panose="02010609060101010101" pitchFamily="49" charset="-122"/>
                <a:ea typeface="楷体" panose="02010609060101010101" pitchFamily="49" charset="-122"/>
              </a:rPr>
              <a:t>底物形变</a:t>
            </a:r>
            <a:endParaRPr lang="zh-CN" altLang="en-US" sz="2800" dirty="0">
              <a:latin typeface="楷体" panose="02010609060101010101" pitchFamily="49" charset="-122"/>
              <a:ea typeface="楷体" panose="02010609060101010101" pitchFamily="49" charset="-122"/>
            </a:endParaRPr>
          </a:p>
        </p:txBody>
      </p:sp>
      <p:sp>
        <p:nvSpPr>
          <p:cNvPr id="12291" name="Rectangle 6">
            <a:extLst>
              <a:ext uri="{FF2B5EF4-FFF2-40B4-BE49-F238E27FC236}">
                <a16:creationId xmlns:a16="http://schemas.microsoft.com/office/drawing/2014/main" id="{F0354BBB-0DA0-7086-3B82-3C59D7C613CA}"/>
              </a:ext>
            </a:extLst>
          </p:cNvPr>
          <p:cNvSpPr>
            <a:spLocks noChangeArrowheads="1"/>
          </p:cNvSpPr>
          <p:nvPr/>
        </p:nvSpPr>
        <p:spPr bwMode="auto">
          <a:xfrm>
            <a:off x="3556820" y="150064"/>
            <a:ext cx="4304383" cy="584775"/>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zh-CN" altLang="zh-CN" sz="3200" b="1" dirty="0">
                <a:latin typeface="Times New Roman" panose="02020603050405020304" pitchFamily="18" charset="0"/>
                <a:ea typeface="楷体" panose="02010609060101010101" pitchFamily="49" charset="-122"/>
                <a:cs typeface="Times New Roman" panose="02020603050405020304" pitchFamily="18" charset="0"/>
              </a:rPr>
              <a:t>过渡态稳定的化学机制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2275483" y="7465"/>
            <a:ext cx="4847987" cy="825419"/>
          </a:xfrm>
          <a:prstGeom prst="rect">
            <a:avLst/>
          </a:prstGeom>
        </p:spPr>
        <p:txBody>
          <a:bodyPr wrap="square">
            <a:spAutoFit/>
          </a:bodyPr>
          <a:lstStyle/>
          <a:p>
            <a:pPr marL="0" lvl="1" algn="ctr" defTabSz="914400" fontAlgn="base">
              <a:lnSpc>
                <a:spcPct val="150000"/>
              </a:lnSpc>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广义的酸碱催化</a:t>
            </a: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5" name="图片 4" descr="截屏2021-04-13 下午3.02.24"/>
          <p:cNvPicPr>
            <a:picLocks noChangeAspect="1"/>
          </p:cNvPicPr>
          <p:nvPr/>
        </p:nvPicPr>
        <p:blipFill>
          <a:blip r:embed="rId3"/>
          <a:stretch>
            <a:fillRect/>
          </a:stretch>
        </p:blipFill>
        <p:spPr>
          <a:xfrm>
            <a:off x="7298478" y="602297"/>
            <a:ext cx="4893522" cy="6206129"/>
          </a:xfrm>
          <a:prstGeom prst="rect">
            <a:avLst/>
          </a:prstGeom>
          <a:ln>
            <a:solidFill>
              <a:schemeClr val="accent6">
                <a:lumMod val="75000"/>
              </a:schemeClr>
            </a:solidFill>
          </a:ln>
        </p:spPr>
      </p:pic>
      <p:sp>
        <p:nvSpPr>
          <p:cNvPr id="3" name="文本框 2"/>
          <p:cNvSpPr txBox="1"/>
          <p:nvPr/>
        </p:nvSpPr>
        <p:spPr>
          <a:xfrm>
            <a:off x="244105" y="1232741"/>
            <a:ext cx="7054373" cy="6064032"/>
          </a:xfrm>
          <a:prstGeom prst="rect">
            <a:avLst/>
          </a:prstGeom>
          <a:noFill/>
        </p:spPr>
        <p:txBody>
          <a:bodyPr wrap="square" rtlCol="0" anchor="t">
            <a:spAutoFit/>
          </a:bodyPr>
          <a:lstStyle/>
          <a:p>
            <a:pPr marL="285750" indent="-285750">
              <a:lnSpc>
                <a:spcPct val="150000"/>
              </a:lnSpc>
              <a:spcBef>
                <a:spcPts val="600"/>
              </a:spcBef>
              <a:buClr>
                <a:srgbClr val="000000"/>
              </a:buClr>
              <a:buFont typeface="Arial" panose="020B0604020202020204" pitchFamily="34" charset="0"/>
              <a:buChar char="•"/>
            </a:pP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蛋白质某些侧链基团（如</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Asp</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Glu</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His</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）可以提供质子，并</a:t>
            </a:r>
            <a:r>
              <a:rPr lang="zh-CN"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将质子转移到反应的过渡态中间物，而达到稳定过渡态的效果</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indent="-285750">
              <a:lnSpc>
                <a:spcPct val="150000"/>
              </a:lnSpc>
              <a:spcBef>
                <a:spcPts val="600"/>
              </a:spcBef>
              <a:buClr>
                <a:srgbClr val="000000"/>
              </a:buClr>
              <a:buFont typeface="Arial" panose="020B0604020202020204" pitchFamily="34" charset="0"/>
              <a:buChar char="•"/>
            </a:pP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如果一个侧链基团的</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pKa</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值接近</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7</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，那么该侧链基团就可能是最有效的广义的酸碱催化剂。</a:t>
            </a:r>
            <a:r>
              <a:rPr lang="en-US"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His</a:t>
            </a:r>
            <a:r>
              <a:rPr lang="zh-CN" altLang="zh-CN"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残基的咪唑基</a:t>
            </a: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就是这样的基团，因此它作为很多酶的催化残基。</a:t>
            </a:r>
            <a:endParaRPr lang="zh-CN" altLang="en-US" sz="2800" dirty="0"/>
          </a:p>
          <a:p>
            <a:pPr marL="285750" indent="-285750">
              <a:lnSpc>
                <a:spcPct val="150000"/>
              </a:lnSpc>
              <a:spcBef>
                <a:spcPts val="600"/>
              </a:spcBef>
              <a:buClr>
                <a:srgbClr val="000000"/>
              </a:buClr>
              <a:buFont typeface="Arial" panose="020B0604020202020204" pitchFamily="34" charset="0"/>
              <a:buChar char="•"/>
            </a:pPr>
            <a:endPar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nSpc>
                <a:spcPct val="150000"/>
              </a:lnSpc>
              <a:spcBef>
                <a:spcPts val="600"/>
              </a:spcBef>
              <a:buClr>
                <a:srgbClr val="000000"/>
              </a:buClr>
              <a:buFont typeface="Arial" panose="020B0604020202020204" pitchFamily="34" charset="0"/>
              <a:buChar char="•"/>
            </a:pPr>
            <a:endParaRPr lang="zh-CN"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a:extLst>
              <a:ext uri="{FF2B5EF4-FFF2-40B4-BE49-F238E27FC236}">
                <a16:creationId xmlns:a16="http://schemas.microsoft.com/office/drawing/2014/main" id="{D4DF125D-AA25-44DB-A0D5-D1B1DC4E5280}"/>
              </a:ext>
            </a:extLst>
          </p:cNvPr>
          <p:cNvGrpSpPr/>
          <p:nvPr/>
        </p:nvGrpSpPr>
        <p:grpSpPr>
          <a:xfrm>
            <a:off x="2056807" y="0"/>
            <a:ext cx="8355554" cy="6858000"/>
            <a:chOff x="2056807" y="0"/>
            <a:chExt cx="7004050" cy="5836920"/>
          </a:xfrm>
        </p:grpSpPr>
        <p:pic>
          <p:nvPicPr>
            <p:cNvPr id="2" name="图片 1" descr="截屏2021-04-13 下午3.10.17">
              <a:extLst>
                <a:ext uri="{FF2B5EF4-FFF2-40B4-BE49-F238E27FC236}">
                  <a16:creationId xmlns:a16="http://schemas.microsoft.com/office/drawing/2014/main" id="{6ABAB3D6-4616-E918-D8A6-EAF5D8677701}"/>
                </a:ext>
              </a:extLst>
            </p:cNvPr>
            <p:cNvPicPr>
              <a:picLocks noChangeAspect="1"/>
            </p:cNvPicPr>
            <p:nvPr/>
          </p:nvPicPr>
          <p:blipFill>
            <a:blip r:embed="rId2"/>
            <a:srcRect l="2618" r="2126"/>
            <a:stretch>
              <a:fillRect/>
            </a:stretch>
          </p:blipFill>
          <p:spPr>
            <a:xfrm>
              <a:off x="2176822" y="0"/>
              <a:ext cx="6884035" cy="5836920"/>
            </a:xfrm>
            <a:prstGeom prst="rect">
              <a:avLst/>
            </a:prstGeom>
          </p:spPr>
        </p:pic>
        <p:sp>
          <p:nvSpPr>
            <p:cNvPr id="4" name="文本框 3">
              <a:extLst>
                <a:ext uri="{FF2B5EF4-FFF2-40B4-BE49-F238E27FC236}">
                  <a16:creationId xmlns:a16="http://schemas.microsoft.com/office/drawing/2014/main" id="{D21AE7B4-540A-E929-89A6-6B2A0486C650}"/>
                </a:ext>
              </a:extLst>
            </p:cNvPr>
            <p:cNvSpPr txBox="1"/>
            <p:nvPr/>
          </p:nvSpPr>
          <p:spPr>
            <a:xfrm>
              <a:off x="2056807" y="186691"/>
              <a:ext cx="1299845" cy="58356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酶</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His</a:t>
              </a:r>
              <a:r>
                <a:rPr lang="en-US" altLang="zh-CN" sz="1600" b="1" baseline="-25000" dirty="0">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接受底物的质子</a:t>
              </a:r>
            </a:p>
          </p:txBody>
        </p:sp>
        <p:sp>
          <p:nvSpPr>
            <p:cNvPr id="5" name="文本框 4">
              <a:extLst>
                <a:ext uri="{FF2B5EF4-FFF2-40B4-BE49-F238E27FC236}">
                  <a16:creationId xmlns:a16="http://schemas.microsoft.com/office/drawing/2014/main" id="{C104DE81-30E8-090A-D1D5-99BFE4EA0D82}"/>
                </a:ext>
              </a:extLst>
            </p:cNvPr>
            <p:cNvSpPr txBox="1"/>
            <p:nvPr/>
          </p:nvSpPr>
          <p:spPr>
            <a:xfrm>
              <a:off x="2434580" y="3299869"/>
              <a:ext cx="1299845" cy="58356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酶</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His</a:t>
              </a:r>
              <a:r>
                <a:rPr lang="en-US" altLang="zh-CN" sz="1600" b="1" baseline="-25000" dirty="0">
                  <a:latin typeface="微软雅黑" panose="020B0503020204020204" pitchFamily="34" charset="-122"/>
                  <a:ea typeface="微软雅黑" panose="020B0503020204020204" pitchFamily="34" charset="-122"/>
                  <a:cs typeface="微软雅黑" panose="020B0503020204020204" pitchFamily="34" charset="-122"/>
                </a:rPr>
                <a:t>119</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给予底物质子</a:t>
              </a:r>
            </a:p>
          </p:txBody>
        </p:sp>
        <p:sp>
          <p:nvSpPr>
            <p:cNvPr id="6" name="文本框 5">
              <a:extLst>
                <a:ext uri="{FF2B5EF4-FFF2-40B4-BE49-F238E27FC236}">
                  <a16:creationId xmlns:a16="http://schemas.microsoft.com/office/drawing/2014/main" id="{FDD6802F-FAA3-3362-D1C7-F38677FB8B27}"/>
                </a:ext>
              </a:extLst>
            </p:cNvPr>
            <p:cNvSpPr txBox="1"/>
            <p:nvPr/>
          </p:nvSpPr>
          <p:spPr>
            <a:xfrm>
              <a:off x="5837597" y="15241"/>
              <a:ext cx="1467735" cy="497708"/>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酶</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His</a:t>
              </a:r>
              <a:r>
                <a:rPr lang="en-US" altLang="zh-CN" sz="1600" b="1" baseline="-25000" dirty="0">
                  <a:latin typeface="微软雅黑" panose="020B0503020204020204" pitchFamily="34" charset="-122"/>
                  <a:ea typeface="微软雅黑" panose="020B0503020204020204" pitchFamily="34" charset="-122"/>
                  <a:cs typeface="微软雅黑" panose="020B0503020204020204" pitchFamily="34" charset="-122"/>
                </a:rPr>
                <a:t>12</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给予剩余部分底物质子</a:t>
              </a:r>
            </a:p>
          </p:txBody>
        </p:sp>
        <p:sp>
          <p:nvSpPr>
            <p:cNvPr id="7" name="文本框 6">
              <a:extLst>
                <a:ext uri="{FF2B5EF4-FFF2-40B4-BE49-F238E27FC236}">
                  <a16:creationId xmlns:a16="http://schemas.microsoft.com/office/drawing/2014/main" id="{B12C75DC-B710-24C5-8C18-0EC008406B1A}"/>
                </a:ext>
              </a:extLst>
            </p:cNvPr>
            <p:cNvSpPr txBox="1"/>
            <p:nvPr/>
          </p:nvSpPr>
          <p:spPr>
            <a:xfrm>
              <a:off x="6880266" y="3822066"/>
              <a:ext cx="2091690" cy="82994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酶</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His</a:t>
              </a:r>
              <a:r>
                <a:rPr lang="en-US" altLang="zh-CN" sz="1600" b="1" baseline="-25000" dirty="0">
                  <a:latin typeface="微软雅黑" panose="020B0503020204020204" pitchFamily="34" charset="-122"/>
                  <a:ea typeface="微软雅黑" panose="020B0503020204020204" pitchFamily="34" charset="-122"/>
                  <a:cs typeface="微软雅黑" panose="020B0503020204020204" pitchFamily="34" charset="-122"/>
                </a:rPr>
                <a:t>119</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接受水的质子，形成的</a:t>
              </a:r>
              <a:r>
                <a:rPr lang="en-US" altLang="zh-CN" sz="1600" b="1" dirty="0">
                  <a:latin typeface="微软雅黑" panose="020B0503020204020204" pitchFamily="34" charset="-122"/>
                  <a:ea typeface="微软雅黑" panose="020B0503020204020204" pitchFamily="34" charset="-122"/>
                  <a:cs typeface="微软雅黑" panose="020B0503020204020204" pitchFamily="34" charset="-122"/>
                </a:rPr>
                <a:t>-OH</a:t>
              </a:r>
              <a:r>
                <a:rPr lang="zh-CN" altLang="en-US" sz="1600" b="1" dirty="0">
                  <a:latin typeface="微软雅黑" panose="020B0503020204020204" pitchFamily="34" charset="-122"/>
                  <a:ea typeface="微软雅黑" panose="020B0503020204020204" pitchFamily="34" charset="-122"/>
                  <a:cs typeface="微软雅黑" panose="020B0503020204020204" pitchFamily="34" charset="-122"/>
                </a:rPr>
                <a:t>结合到底物的磷酸基团</a:t>
              </a:r>
            </a:p>
          </p:txBody>
        </p:sp>
      </p:grpSp>
      <p:sp>
        <p:nvSpPr>
          <p:cNvPr id="3" name="文本框 2">
            <a:extLst>
              <a:ext uri="{FF2B5EF4-FFF2-40B4-BE49-F238E27FC236}">
                <a16:creationId xmlns:a16="http://schemas.microsoft.com/office/drawing/2014/main" id="{950B3224-0131-6997-6515-E33986FE9F33}"/>
              </a:ext>
            </a:extLst>
          </p:cNvPr>
          <p:cNvSpPr txBox="1"/>
          <p:nvPr/>
        </p:nvSpPr>
        <p:spPr>
          <a:xfrm>
            <a:off x="2282959" y="5304324"/>
            <a:ext cx="2098040" cy="829945"/>
          </a:xfrm>
          <a:prstGeom prst="rect">
            <a:avLst/>
          </a:prstGeom>
          <a:noFill/>
        </p:spPr>
        <p:txBody>
          <a:bodyPr wrap="square" rtlCol="0" anchor="t">
            <a:spAutoFit/>
          </a:bodyPr>
          <a:lstStyle/>
          <a:p>
            <a:pPr algn="ct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核糖核酸酶的广义酸碱催化</a:t>
            </a:r>
          </a:p>
        </p:txBody>
      </p:sp>
    </p:spTree>
    <p:extLst>
      <p:ext uri="{BB962C8B-B14F-4D97-AF65-F5344CB8AC3E}">
        <p14:creationId xmlns:p14="http://schemas.microsoft.com/office/powerpoint/2010/main" val="3758398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EC4538C-5E07-6CEC-0388-0FB715305040}"/>
              </a:ext>
            </a:extLst>
          </p:cNvPr>
          <p:cNvPicPr>
            <a:picLocks noChangeAspect="1"/>
          </p:cNvPicPr>
          <p:nvPr/>
        </p:nvPicPr>
        <p:blipFill>
          <a:blip r:embed="rId3"/>
          <a:stretch>
            <a:fillRect/>
          </a:stretch>
        </p:blipFill>
        <p:spPr>
          <a:xfrm>
            <a:off x="0" y="2739252"/>
            <a:ext cx="12192000" cy="4118748"/>
          </a:xfrm>
          <a:prstGeom prst="rect">
            <a:avLst/>
          </a:prstGeom>
        </p:spPr>
      </p:pic>
      <p:pic>
        <p:nvPicPr>
          <p:cNvPr id="5" name="图片 4">
            <a:extLst>
              <a:ext uri="{FF2B5EF4-FFF2-40B4-BE49-F238E27FC236}">
                <a16:creationId xmlns:a16="http://schemas.microsoft.com/office/drawing/2014/main" id="{CB6DAC36-82D5-210B-7031-7E3BDDFA8E35}"/>
              </a:ext>
            </a:extLst>
          </p:cNvPr>
          <p:cNvPicPr>
            <a:picLocks noChangeAspect="1"/>
          </p:cNvPicPr>
          <p:nvPr/>
        </p:nvPicPr>
        <p:blipFill>
          <a:blip r:embed="rId4"/>
          <a:stretch>
            <a:fillRect/>
          </a:stretch>
        </p:blipFill>
        <p:spPr>
          <a:xfrm>
            <a:off x="8826166" y="0"/>
            <a:ext cx="3365834" cy="3146323"/>
          </a:xfrm>
          <a:prstGeom prst="rect">
            <a:avLst/>
          </a:prstGeom>
        </p:spPr>
      </p:pic>
      <p:sp>
        <p:nvSpPr>
          <p:cNvPr id="7" name="文本框 6">
            <a:extLst>
              <a:ext uri="{FF2B5EF4-FFF2-40B4-BE49-F238E27FC236}">
                <a16:creationId xmlns:a16="http://schemas.microsoft.com/office/drawing/2014/main" id="{E1957F6F-828A-D515-666D-FCAF8FFDA095}"/>
              </a:ext>
            </a:extLst>
          </p:cNvPr>
          <p:cNvSpPr txBox="1"/>
          <p:nvPr/>
        </p:nvSpPr>
        <p:spPr>
          <a:xfrm>
            <a:off x="609600" y="736971"/>
            <a:ext cx="6096000" cy="523220"/>
          </a:xfrm>
          <a:prstGeom prst="rect">
            <a:avLst/>
          </a:prstGeom>
          <a:noFill/>
        </p:spPr>
        <p:txBody>
          <a:bodyPr wrap="square">
            <a:spAutoFit/>
          </a:bodyPr>
          <a:lstStyle/>
          <a:p>
            <a:r>
              <a:rPr lang="zh-CN" altLang="en-US" sz="2800" b="1" dirty="0"/>
              <a:t>溶菌酶：活性部位可容纳</a:t>
            </a:r>
            <a:r>
              <a:rPr lang="en-US" altLang="zh-CN" sz="2800" b="1" dirty="0"/>
              <a:t>6</a:t>
            </a:r>
            <a:r>
              <a:rPr lang="zh-CN" altLang="en-US" sz="2800" b="1" dirty="0"/>
              <a:t>个糖残基</a:t>
            </a:r>
          </a:p>
        </p:txBody>
      </p:sp>
    </p:spTree>
    <p:extLst>
      <p:ext uri="{BB962C8B-B14F-4D97-AF65-F5344CB8AC3E}">
        <p14:creationId xmlns:p14="http://schemas.microsoft.com/office/powerpoint/2010/main" val="3912825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40044CF-2354-7CBC-FE98-D730EEACBB66}"/>
              </a:ext>
            </a:extLst>
          </p:cNvPr>
          <p:cNvPicPr>
            <a:picLocks noChangeAspect="1"/>
          </p:cNvPicPr>
          <p:nvPr/>
        </p:nvPicPr>
        <p:blipFill>
          <a:blip r:embed="rId2"/>
          <a:stretch>
            <a:fillRect/>
          </a:stretch>
        </p:blipFill>
        <p:spPr>
          <a:xfrm>
            <a:off x="957727" y="-1"/>
            <a:ext cx="10290375" cy="6867229"/>
          </a:xfrm>
          <a:prstGeom prst="rect">
            <a:avLst/>
          </a:prstGeom>
        </p:spPr>
      </p:pic>
    </p:spTree>
    <p:extLst>
      <p:ext uri="{BB962C8B-B14F-4D97-AF65-F5344CB8AC3E}">
        <p14:creationId xmlns:p14="http://schemas.microsoft.com/office/powerpoint/2010/main" val="752322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F6FDDE6-6B83-55DE-C026-98DE923033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420" y="108301"/>
            <a:ext cx="10593131" cy="6749699"/>
          </a:xfrm>
          <a:prstGeom prst="rect">
            <a:avLst/>
          </a:prstGeom>
        </p:spPr>
      </p:pic>
    </p:spTree>
    <p:extLst>
      <p:ext uri="{BB962C8B-B14F-4D97-AF65-F5344CB8AC3E}">
        <p14:creationId xmlns:p14="http://schemas.microsoft.com/office/powerpoint/2010/main" val="36449174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EDB73603-C118-7D90-EDDD-D5E639C3FD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048" y="0"/>
            <a:ext cx="11450195" cy="6858000"/>
          </a:xfrm>
          <a:prstGeom prst="rect">
            <a:avLst/>
          </a:prstGeom>
        </p:spPr>
      </p:pic>
    </p:spTree>
    <p:extLst>
      <p:ext uri="{BB962C8B-B14F-4D97-AF65-F5344CB8AC3E}">
        <p14:creationId xmlns:p14="http://schemas.microsoft.com/office/powerpoint/2010/main" val="40787116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内容占位符 2">
            <a:extLst>
              <a:ext uri="{FF2B5EF4-FFF2-40B4-BE49-F238E27FC236}">
                <a16:creationId xmlns:a16="http://schemas.microsoft.com/office/drawing/2014/main" id="{D95DA7FD-8AFD-9CA5-D5B0-9766E541EB2C}"/>
              </a:ext>
            </a:extLst>
          </p:cNvPr>
          <p:cNvSpPr>
            <a:spLocks noGrp="1"/>
          </p:cNvSpPr>
          <p:nvPr>
            <p:ph idx="1"/>
          </p:nvPr>
        </p:nvSpPr>
        <p:spPr>
          <a:xfrm>
            <a:off x="689547" y="1586459"/>
            <a:ext cx="10403173" cy="2743200"/>
          </a:xfrm>
        </p:spPr>
        <p:txBody>
          <a:bodyPr>
            <a:normAutofit/>
          </a:bodyPr>
          <a:lstStyle/>
          <a:p>
            <a:pPr>
              <a:buClr>
                <a:srgbClr val="FC0128"/>
              </a:buClr>
            </a:pPr>
            <a:r>
              <a:rPr lang="zh-CN" altLang="zh-CN" sz="3200" dirty="0">
                <a:latin typeface="Times New Roman" panose="02020603050405020304" pitchFamily="18" charset="0"/>
                <a:ea typeface="楷体" panose="02010609060101010101" pitchFamily="49" charset="-122"/>
                <a:cs typeface="Times New Roman" panose="02020603050405020304" pitchFamily="18" charset="0"/>
              </a:rPr>
              <a:t>活性中心电荷的分布可用来稳定酶促反应的过渡态，酶使用自身带电基团去中和一个反应过渡态形成时产生的相反电荷而进行的催化称为静电催化。</a:t>
            </a:r>
            <a:endParaRPr lang="en-US" altLang="zh-CN" sz="3200" dirty="0">
              <a:latin typeface="Times New Roman" panose="02020603050405020304" pitchFamily="18" charset="0"/>
              <a:ea typeface="楷体" panose="02010609060101010101" pitchFamily="49" charset="-122"/>
              <a:cs typeface="Times New Roman" panose="02020603050405020304" pitchFamily="18" charset="0"/>
            </a:endParaRPr>
          </a:p>
          <a:p>
            <a:pPr>
              <a:buClr>
                <a:srgbClr val="FC0128"/>
              </a:buClr>
            </a:pPr>
            <a:r>
              <a:rPr lang="zh-CN" altLang="zh-CN" sz="3200" dirty="0">
                <a:latin typeface="Times New Roman" panose="02020603050405020304" pitchFamily="18" charset="0"/>
                <a:ea typeface="楷体" panose="02010609060101010101" pitchFamily="49" charset="-122"/>
                <a:cs typeface="Times New Roman" panose="02020603050405020304" pitchFamily="18" charset="0"/>
              </a:rPr>
              <a:t>有时，酶通过与底物的静电作用将底物引入到活性中心。</a:t>
            </a:r>
            <a:endParaRPr lang="zh-CN" altLang="en-US" sz="32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9459" name="Rectangle 7">
            <a:extLst>
              <a:ext uri="{FF2B5EF4-FFF2-40B4-BE49-F238E27FC236}">
                <a16:creationId xmlns:a16="http://schemas.microsoft.com/office/drawing/2014/main" id="{4E6F4442-AFF6-CFDA-6E10-2013002D4648}"/>
              </a:ext>
            </a:extLst>
          </p:cNvPr>
          <p:cNvSpPr>
            <a:spLocks noChangeArrowheads="1"/>
          </p:cNvSpPr>
          <p:nvPr/>
        </p:nvSpPr>
        <p:spPr bwMode="auto">
          <a:xfrm>
            <a:off x="5105401" y="762001"/>
            <a:ext cx="1832553" cy="584775"/>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zh-CN" altLang="zh-CN" sz="3200" b="1">
                <a:latin typeface="Times New Roman" panose="02020603050405020304" pitchFamily="18" charset="0"/>
                <a:ea typeface="楷体" panose="02010609060101010101" pitchFamily="49" charset="-122"/>
                <a:cs typeface="Times New Roman" panose="02020603050405020304" pitchFamily="18" charset="0"/>
              </a:rPr>
              <a:t>静电催化</a:t>
            </a:r>
            <a:endParaRPr lang="zh-CN" altLang="en-US" sz="3200" b="1">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5">
            <a:extLst>
              <a:ext uri="{FF2B5EF4-FFF2-40B4-BE49-F238E27FC236}">
                <a16:creationId xmlns:a16="http://schemas.microsoft.com/office/drawing/2014/main" id="{EF3EBA4A-30D2-81EE-F5A9-BB2ACC380CE6}"/>
              </a:ext>
            </a:extLst>
          </p:cNvPr>
          <p:cNvSpPr>
            <a:spLocks noGrp="1" noChangeArrowheads="1"/>
          </p:cNvSpPr>
          <p:nvPr>
            <p:ph type="title"/>
          </p:nvPr>
        </p:nvSpPr>
        <p:spPr>
          <a:xfrm>
            <a:off x="7543800" y="1447800"/>
            <a:ext cx="2209800" cy="3276600"/>
          </a:xfrm>
          <a:solidFill>
            <a:srgbClr val="99CCFF"/>
          </a:solidFill>
        </p:spPr>
        <p:txBody>
          <a:bodyPr/>
          <a:lstStyle/>
          <a:p>
            <a:pPr algn="l"/>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Glu35</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Asp52</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分别所起的广义酸催化和静电催化，解释了溶菌酶的活性与</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pH</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之间的关系以及它的最适</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pH</a:t>
            </a:r>
          </a:p>
        </p:txBody>
      </p:sp>
      <p:pic>
        <p:nvPicPr>
          <p:cNvPr id="21507" name="Picture 8">
            <a:extLst>
              <a:ext uri="{FF2B5EF4-FFF2-40B4-BE49-F238E27FC236}">
                <a16:creationId xmlns:a16="http://schemas.microsoft.com/office/drawing/2014/main" id="{4F750D35-5B0C-9AAF-46E8-C51FD4E1D4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533400"/>
            <a:ext cx="4514850" cy="506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Rectangle 11">
            <a:extLst>
              <a:ext uri="{FF2B5EF4-FFF2-40B4-BE49-F238E27FC236}">
                <a16:creationId xmlns:a16="http://schemas.microsoft.com/office/drawing/2014/main" id="{432B347C-7064-02DE-A8E2-B49301F44A33}"/>
              </a:ext>
            </a:extLst>
          </p:cNvPr>
          <p:cNvSpPr>
            <a:spLocks noChangeArrowheads="1"/>
          </p:cNvSpPr>
          <p:nvPr/>
        </p:nvSpPr>
        <p:spPr bwMode="auto">
          <a:xfrm>
            <a:off x="3429001" y="5943601"/>
            <a:ext cx="3379451" cy="461665"/>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US" altLang="zh-CN" b="1" dirty="0">
                <a:latin typeface="Times New Roman" panose="02020603050405020304" pitchFamily="18" charset="0"/>
                <a:ea typeface="楷体" panose="02010609060101010101" pitchFamily="49" charset="-122"/>
                <a:cs typeface="Times New Roman" panose="02020603050405020304" pitchFamily="18" charset="0"/>
              </a:rPr>
              <a:t>pH</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对溶菌酶活性的影响</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1520225"/>
            <a:ext cx="11962151" cy="260154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酶与底物形成共价中间物</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：主要通过</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亲核催化</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，也可以是</a:t>
            </a:r>
            <a:r>
              <a:rPr lang="zh-CN" altLang="en-US" sz="2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亲电催化</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许多氨基酸残基的侧链可作为共价催化剂，例如</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Lys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His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err="1">
                <a:latin typeface="微软雅黑" panose="020B0503020204020204" pitchFamily="34" charset="-122"/>
                <a:ea typeface="微软雅黑" panose="020B0503020204020204" pitchFamily="34" charset="-122"/>
                <a:cs typeface="微软雅黑" panose="020B0503020204020204" pitchFamily="34" charset="-122"/>
              </a:rPr>
              <a:t>Cys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Asp</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Glu</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Ser</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800" dirty="0" err="1">
                <a:latin typeface="微软雅黑" panose="020B0503020204020204" pitchFamily="34" charset="-122"/>
                <a:ea typeface="微软雅黑" panose="020B0503020204020204" pitchFamily="34" charset="-122"/>
                <a:cs typeface="微软雅黑" panose="020B0503020204020204" pitchFamily="34" charset="-122"/>
              </a:rPr>
              <a:t>Thr</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，此外，一些辅酶或辅基也可以作为共价催化剂，例如硫胺素焦磷酸（</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TPP</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）和磷酸吡哆醛。</a:t>
            </a:r>
          </a:p>
        </p:txBody>
      </p:sp>
      <p:sp>
        <p:nvSpPr>
          <p:cNvPr id="2" name="矩形 1"/>
          <p:cNvSpPr/>
          <p:nvPr/>
        </p:nvSpPr>
        <p:spPr>
          <a:xfrm>
            <a:off x="3525662" y="11195"/>
            <a:ext cx="4754880" cy="825419"/>
          </a:xfrm>
          <a:prstGeom prst="rect">
            <a:avLst/>
          </a:prstGeom>
        </p:spPr>
        <p:txBody>
          <a:bodyPr wrap="square">
            <a:spAutoFit/>
          </a:bodyPr>
          <a:lstStyle/>
          <a:p>
            <a:pPr marL="0" lvl="1" algn="ctr" defTabSz="914400" fontAlgn="base">
              <a:lnSpc>
                <a:spcPct val="150000"/>
              </a:lnSpc>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共价催化</a:t>
            </a: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 name="文本框 5"/>
          <p:cNvSpPr txBox="1"/>
          <p:nvPr/>
        </p:nvSpPr>
        <p:spPr>
          <a:xfrm>
            <a:off x="0" y="857671"/>
            <a:ext cx="12192001" cy="662554"/>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酶与底物上的某些基团，形成</a:t>
            </a:r>
            <a:r>
              <a:rPr lang="zh-CN" altLang="zh-CN" sz="28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瞬时共价键</a:t>
            </a:r>
            <a:r>
              <a:rPr lang="zh-CN" altLang="zh-CN" sz="2800" b="1" dirty="0">
                <a:latin typeface="微软雅黑" panose="020B0503020204020204" pitchFamily="34" charset="-122"/>
                <a:ea typeface="微软雅黑" panose="020B0503020204020204" pitchFamily="34" charset="-122"/>
                <a:cs typeface="微软雅黑" panose="020B0503020204020204" pitchFamily="34" charset="-122"/>
                <a:sym typeface="+mn-ea"/>
              </a:rPr>
              <a:t>的一种催化方式。</a:t>
            </a:r>
          </a:p>
        </p:txBody>
      </p:sp>
      <p:pic>
        <p:nvPicPr>
          <p:cNvPr id="5" name="Picture 10">
            <a:extLst>
              <a:ext uri="{FF2B5EF4-FFF2-40B4-BE49-F238E27FC236}">
                <a16:creationId xmlns:a16="http://schemas.microsoft.com/office/drawing/2014/main" id="{D56610AB-F6BB-BD5B-5ACA-35743B48B6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6519"/>
          <a:stretch/>
        </p:blipFill>
        <p:spPr bwMode="auto">
          <a:xfrm>
            <a:off x="5899878" y="3429000"/>
            <a:ext cx="6292122"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8">
            <a:extLst>
              <a:ext uri="{FF2B5EF4-FFF2-40B4-BE49-F238E27FC236}">
                <a16:creationId xmlns:a16="http://schemas.microsoft.com/office/drawing/2014/main" id="{A9B91AA7-8118-29F5-FB8D-0E4DD41B21F5}"/>
              </a:ext>
            </a:extLst>
          </p:cNvPr>
          <p:cNvSpPr>
            <a:spLocks noChangeArrowheads="1"/>
          </p:cNvSpPr>
          <p:nvPr/>
        </p:nvSpPr>
        <p:spPr bwMode="auto">
          <a:xfrm>
            <a:off x="4659339" y="4690489"/>
            <a:ext cx="2216150" cy="396875"/>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panose="02020603050405020304" pitchFamily="18" charset="0"/>
              </a:defRPr>
            </a:lvl1pPr>
            <a:lvl2pPr marL="742950" indent="-285750">
              <a:spcBef>
                <a:spcPct val="20000"/>
              </a:spcBef>
              <a:buChar char="–"/>
              <a:defRPr sz="2800">
                <a:solidFill>
                  <a:schemeClr val="tx1"/>
                </a:solidFill>
                <a:latin typeface="Times" panose="02020603050405020304" pitchFamily="18" charset="0"/>
              </a:defRPr>
            </a:lvl2pPr>
            <a:lvl3pPr marL="1143000" indent="-228600">
              <a:spcBef>
                <a:spcPct val="20000"/>
              </a:spcBef>
              <a:buChar char="•"/>
              <a:defRPr sz="2400">
                <a:solidFill>
                  <a:schemeClr val="tx1"/>
                </a:solidFill>
                <a:latin typeface="Times" panose="02020603050405020304" pitchFamily="18" charset="0"/>
              </a:defRPr>
            </a:lvl3pPr>
            <a:lvl4pPr marL="1600200" indent="-228600">
              <a:spcBef>
                <a:spcPct val="20000"/>
              </a:spcBef>
              <a:buChar char="–"/>
              <a:defRPr sz="2000">
                <a:solidFill>
                  <a:schemeClr val="tx1"/>
                </a:solidFill>
                <a:latin typeface="Times" panose="02020603050405020304" pitchFamily="18" charset="0"/>
              </a:defRPr>
            </a:lvl4pPr>
            <a:lvl5pPr marL="2057400" indent="-228600">
              <a:spcBef>
                <a:spcPct val="20000"/>
              </a:spcBef>
              <a:buChar char="»"/>
              <a:defRPr sz="2000">
                <a:solidFill>
                  <a:schemeClr val="tx1"/>
                </a:solidFill>
                <a:latin typeface="Times"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defRPr>
            </a:lvl9pPr>
          </a:lstStyle>
          <a:p>
            <a:pPr algn="ctr">
              <a:spcBef>
                <a:spcPct val="0"/>
              </a:spcBef>
              <a:buFontTx/>
              <a:buNone/>
            </a:pPr>
            <a:r>
              <a:rPr lang="zh-CN" altLang="en-US" sz="2000" b="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亲核共价修饰反应</a:t>
            </a:r>
            <a:endParaRPr lang="zh-CN" altLang="en-US" sz="2000" dirty="0">
              <a:solidFill>
                <a:srgbClr val="000000"/>
              </a:solidFill>
              <a:ea typeface="楷体" panose="02010609060101010101" pitchFamily="49" charset="-122"/>
              <a:cs typeface="Times New Roman" panose="02020603050405020304" pitchFamily="18" charset="0"/>
            </a:endParaRPr>
          </a:p>
        </p:txBody>
      </p:sp>
      <p:pic>
        <p:nvPicPr>
          <p:cNvPr id="3" name="Picture 9" descr="10-10">
            <a:extLst>
              <a:ext uri="{FF2B5EF4-FFF2-40B4-BE49-F238E27FC236}">
                <a16:creationId xmlns:a16="http://schemas.microsoft.com/office/drawing/2014/main" id="{53DE5006-CACD-ED58-8F1E-C1AED2E8A0D6}"/>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423037" y="955440"/>
            <a:ext cx="11345925" cy="3075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55804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6B5F1CD-61A4-BF47-2436-99D92FE14D6C}"/>
              </a:ext>
            </a:extLst>
          </p:cNvPr>
          <p:cNvSpPr txBox="1"/>
          <p:nvPr/>
        </p:nvSpPr>
        <p:spPr>
          <a:xfrm>
            <a:off x="554255" y="-49863"/>
            <a:ext cx="10312995" cy="581057"/>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甘油醛-3-磷酸脱氢酶：</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催化由甘油醛-3-磷酸生成1,3-二磷酸甘油酸。</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3" name="组合 2">
            <a:extLst>
              <a:ext uri="{FF2B5EF4-FFF2-40B4-BE49-F238E27FC236}">
                <a16:creationId xmlns:a16="http://schemas.microsoft.com/office/drawing/2014/main" id="{541D87C4-C7AB-6D58-B0B4-6FBDA6D23EE6}"/>
              </a:ext>
            </a:extLst>
          </p:cNvPr>
          <p:cNvGrpSpPr/>
          <p:nvPr/>
        </p:nvGrpSpPr>
        <p:grpSpPr>
          <a:xfrm>
            <a:off x="1189703" y="531194"/>
            <a:ext cx="9488129" cy="6326806"/>
            <a:chOff x="5402580" y="1483995"/>
            <a:chExt cx="6789420" cy="4324493"/>
          </a:xfrm>
        </p:grpSpPr>
        <p:pic>
          <p:nvPicPr>
            <p:cNvPr id="4" name="图片 3">
              <a:extLst>
                <a:ext uri="{FF2B5EF4-FFF2-40B4-BE49-F238E27FC236}">
                  <a16:creationId xmlns:a16="http://schemas.microsoft.com/office/drawing/2014/main" id="{ACB59ECF-BAFE-006B-7C6B-F44F29FF90B4}"/>
                </a:ext>
              </a:extLst>
            </p:cNvPr>
            <p:cNvPicPr>
              <a:picLocks noChangeAspect="1"/>
            </p:cNvPicPr>
            <p:nvPr/>
          </p:nvPicPr>
          <p:blipFill rotWithShape="1">
            <a:blip r:embed="rId3"/>
            <a:srcRect b="2822"/>
            <a:stretch/>
          </p:blipFill>
          <p:spPr>
            <a:xfrm>
              <a:off x="5402580" y="1483995"/>
              <a:ext cx="6789420" cy="4324493"/>
            </a:xfrm>
            <a:prstGeom prst="rect">
              <a:avLst/>
            </a:prstGeom>
          </p:spPr>
        </p:pic>
        <p:sp>
          <p:nvSpPr>
            <p:cNvPr id="5" name="文本框 4">
              <a:extLst>
                <a:ext uri="{FF2B5EF4-FFF2-40B4-BE49-F238E27FC236}">
                  <a16:creationId xmlns:a16="http://schemas.microsoft.com/office/drawing/2014/main" id="{5345BFBC-E0B7-6C25-7910-0F43299DE9D3}"/>
                </a:ext>
              </a:extLst>
            </p:cNvPr>
            <p:cNvSpPr txBox="1"/>
            <p:nvPr/>
          </p:nvSpPr>
          <p:spPr>
            <a:xfrm>
              <a:off x="7214235" y="2258060"/>
              <a:ext cx="2540000" cy="491490"/>
            </a:xfrm>
            <a:prstGeom prst="rect">
              <a:avLst/>
            </a:prstGeom>
            <a:noFill/>
          </p:spPr>
          <p:txBody>
            <a:bodyPr wrap="square" rtlCol="0" anchor="t">
              <a:spAutoFit/>
            </a:bodyPr>
            <a:lstStyle/>
            <a:p>
              <a:pPr marL="228600" indent="-228600">
                <a:buFont typeface="+mj-ea"/>
                <a:buAutoNum type="circleNumDbPlain"/>
              </a:pPr>
              <a:r>
                <a:rPr lang="zh-CN" altLang="en-US" sz="1200" b="1" dirty="0">
                  <a:latin typeface="微软雅黑" panose="020B0503020204020204" pitchFamily="34" charset="-122"/>
                  <a:ea typeface="微软雅黑" panose="020B0503020204020204" pitchFamily="34" charset="-122"/>
                </a:rPr>
                <a:t>底物结合引发了硫代半缩醛中间体的形成，它与酶</a:t>
              </a:r>
              <a:r>
                <a:rPr lang="zh-CN" altLang="en-US" sz="1400" b="1" dirty="0">
                  <a:solidFill>
                    <a:srgbClr val="FF0000"/>
                  </a:solidFill>
                  <a:latin typeface="微软雅黑" panose="020B0503020204020204" pitchFamily="34" charset="-122"/>
                  <a:ea typeface="微软雅黑" panose="020B0503020204020204" pitchFamily="34" charset="-122"/>
                </a:rPr>
                <a:t>共价结合</a:t>
              </a:r>
              <a:r>
                <a:rPr lang="zh-CN" altLang="en-US" sz="1200" b="1" dirty="0">
                  <a:latin typeface="微软雅黑" panose="020B0503020204020204" pitchFamily="34" charset="-122"/>
                  <a:ea typeface="微软雅黑" panose="020B0503020204020204" pitchFamily="34" charset="-122"/>
                </a:rPr>
                <a:t>。</a:t>
              </a:r>
            </a:p>
          </p:txBody>
        </p:sp>
        <p:sp>
          <p:nvSpPr>
            <p:cNvPr id="6" name="文本框 5">
              <a:extLst>
                <a:ext uri="{FF2B5EF4-FFF2-40B4-BE49-F238E27FC236}">
                  <a16:creationId xmlns:a16="http://schemas.microsoft.com/office/drawing/2014/main" id="{E0FAFF7E-DCE9-CBE7-8641-21EA19A56A3B}"/>
                </a:ext>
              </a:extLst>
            </p:cNvPr>
            <p:cNvSpPr txBox="1"/>
            <p:nvPr/>
          </p:nvSpPr>
          <p:spPr>
            <a:xfrm>
              <a:off x="10698374" y="2503805"/>
              <a:ext cx="1493626" cy="645160"/>
            </a:xfrm>
            <a:prstGeom prst="rect">
              <a:avLst/>
            </a:prstGeom>
            <a:noFill/>
          </p:spPr>
          <p:txBody>
            <a:bodyPr wrap="square" rtlCol="0" anchor="t">
              <a:spAutoFit/>
            </a:bodyPr>
            <a:lstStyle/>
            <a:p>
              <a:pPr marL="228600" indent="-228600">
                <a:buFont typeface="+mj-ea"/>
                <a:buAutoNum type="circleNumDbPlain" startAt="2"/>
              </a:pPr>
              <a:r>
                <a:rPr lang="zh-CN" altLang="en-US" sz="1200" b="1" dirty="0">
                  <a:latin typeface="微软雅黑" panose="020B0503020204020204" pitchFamily="34" charset="-122"/>
                  <a:ea typeface="微软雅黑" panose="020B0503020204020204" pitchFamily="34" charset="-122"/>
                </a:rPr>
                <a:t>辅酶NAD</a:t>
              </a:r>
              <a:r>
                <a:rPr lang="zh-CN" altLang="en-US" sz="1200" b="1" baseline="30000"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将硫基半缩醛氧化为酰基硫酯中间体</a:t>
              </a:r>
            </a:p>
          </p:txBody>
        </p:sp>
        <p:sp>
          <p:nvSpPr>
            <p:cNvPr id="7" name="文本框 6">
              <a:extLst>
                <a:ext uri="{FF2B5EF4-FFF2-40B4-BE49-F238E27FC236}">
                  <a16:creationId xmlns:a16="http://schemas.microsoft.com/office/drawing/2014/main" id="{79646411-FBD6-B0ED-E48F-A581A19462C5}"/>
                </a:ext>
              </a:extLst>
            </p:cNvPr>
            <p:cNvSpPr txBox="1"/>
            <p:nvPr/>
          </p:nvSpPr>
          <p:spPr>
            <a:xfrm>
              <a:off x="7374073" y="3386583"/>
              <a:ext cx="2432076" cy="336695"/>
            </a:xfrm>
            <a:prstGeom prst="rect">
              <a:avLst/>
            </a:prstGeom>
            <a:noFill/>
          </p:spPr>
          <p:txBody>
            <a:bodyPr wrap="none" rtlCol="0">
              <a:spAutoFit/>
            </a:bodyPr>
            <a:lstStyle/>
            <a:p>
              <a:pPr marL="228600" indent="-228600">
                <a:lnSpc>
                  <a:spcPct val="150000"/>
                </a:lnSpc>
                <a:buFont typeface="+mj-ea"/>
                <a:buAutoNum type="circleNumDbPlain" startAt="3"/>
              </a:pPr>
              <a:r>
                <a:rPr lang="zh-CN" altLang="en-US" sz="1200" b="1" dirty="0">
                  <a:latin typeface="微软雅黑" panose="020B0503020204020204" pitchFamily="34" charset="-122"/>
                  <a:ea typeface="微软雅黑" panose="020B0503020204020204" pitchFamily="34" charset="-122"/>
                </a:rPr>
                <a:t>还原后的NADH被NAD</a:t>
              </a:r>
              <a:r>
                <a:rPr lang="zh-CN" altLang="en-US" sz="1200" b="1" baseline="30000" dirty="0">
                  <a:latin typeface="微软雅黑" panose="020B0503020204020204" pitchFamily="34" charset="-122"/>
                  <a:ea typeface="微软雅黑" panose="020B0503020204020204" pitchFamily="34" charset="-122"/>
                </a:rPr>
                <a:t>+</a:t>
              </a:r>
              <a:r>
                <a:rPr lang="zh-CN" altLang="en-US" sz="1200" b="1" dirty="0">
                  <a:latin typeface="微软雅黑" panose="020B0503020204020204" pitchFamily="34" charset="-122"/>
                  <a:ea typeface="微软雅黑" panose="020B0503020204020204" pitchFamily="34" charset="-122"/>
                </a:rPr>
                <a:t>取代</a:t>
              </a:r>
            </a:p>
          </p:txBody>
        </p:sp>
        <p:sp>
          <p:nvSpPr>
            <p:cNvPr id="8" name="文本框 7">
              <a:extLst>
                <a:ext uri="{FF2B5EF4-FFF2-40B4-BE49-F238E27FC236}">
                  <a16:creationId xmlns:a16="http://schemas.microsoft.com/office/drawing/2014/main" id="{2FAC7228-824A-4BC1-47F5-DC169C50669F}"/>
                </a:ext>
              </a:extLst>
            </p:cNvPr>
            <p:cNvSpPr txBox="1"/>
            <p:nvPr/>
          </p:nvSpPr>
          <p:spPr>
            <a:xfrm>
              <a:off x="6857684" y="5005518"/>
              <a:ext cx="2764154" cy="230137"/>
            </a:xfrm>
            <a:prstGeom prst="rect">
              <a:avLst/>
            </a:prstGeom>
            <a:noFill/>
          </p:spPr>
          <p:txBody>
            <a:bodyPr wrap="square" rtlCol="0">
              <a:spAutoFit/>
            </a:bodyPr>
            <a:lstStyle/>
            <a:p>
              <a:pPr marL="228600" indent="-228600">
                <a:lnSpc>
                  <a:spcPct val="150000"/>
                </a:lnSpc>
                <a:buFont typeface="+mj-ea"/>
                <a:buAutoNum type="circleNumDbPlain" startAt="4"/>
              </a:pPr>
              <a:r>
                <a:rPr lang="zh-CN" altLang="en-US" sz="1200" b="1" dirty="0">
                  <a:latin typeface="微软雅黑" panose="020B0503020204020204" pitchFamily="34" charset="-122"/>
                  <a:ea typeface="微软雅黑" panose="020B0503020204020204" pitchFamily="34" charset="-122"/>
                </a:rPr>
                <a:t>无机磷酸盐的亲核攻击形成酰基磷酸盐产物</a:t>
              </a:r>
            </a:p>
          </p:txBody>
        </p:sp>
        <p:sp>
          <p:nvSpPr>
            <p:cNvPr id="9" name="椭圆 8">
              <a:extLst>
                <a:ext uri="{FF2B5EF4-FFF2-40B4-BE49-F238E27FC236}">
                  <a16:creationId xmlns:a16="http://schemas.microsoft.com/office/drawing/2014/main" id="{FAB2204A-416F-32C4-FEEB-A6C320647079}"/>
                </a:ext>
              </a:extLst>
            </p:cNvPr>
            <p:cNvSpPr/>
            <p:nvPr/>
          </p:nvSpPr>
          <p:spPr>
            <a:xfrm>
              <a:off x="5873115" y="2155190"/>
              <a:ext cx="246380" cy="217170"/>
            </a:xfrm>
            <a:prstGeom prst="ellipse">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a:extLst>
                <a:ext uri="{FF2B5EF4-FFF2-40B4-BE49-F238E27FC236}">
                  <a16:creationId xmlns:a16="http://schemas.microsoft.com/office/drawing/2014/main" id="{BB8245BA-B03C-8202-2F44-3E89B50E8807}"/>
                </a:ext>
              </a:extLst>
            </p:cNvPr>
            <p:cNvSpPr/>
            <p:nvPr/>
          </p:nvSpPr>
          <p:spPr>
            <a:xfrm>
              <a:off x="6725286" y="2195196"/>
              <a:ext cx="264795" cy="168275"/>
            </a:xfrm>
            <a:prstGeom prst="ellipse">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4473244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525662" y="11195"/>
            <a:ext cx="4754880" cy="825419"/>
          </a:xfrm>
          <a:prstGeom prst="rect">
            <a:avLst/>
          </a:prstGeom>
        </p:spPr>
        <p:txBody>
          <a:bodyPr wrap="square">
            <a:spAutoFit/>
          </a:bodyPr>
          <a:lstStyle/>
          <a:p>
            <a:pPr marL="0" lvl="1" algn="ctr" defTabSz="914400" fontAlgn="base">
              <a:lnSpc>
                <a:spcPct val="150000"/>
              </a:lnSpc>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金属离子催化</a:t>
            </a: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2530" name="内容占位符 2"/>
          <p:cNvSpPr>
            <a:spLocks noGrp="1"/>
          </p:cNvSpPr>
          <p:nvPr>
            <p:ph type="subTitle" idx="4294967295"/>
          </p:nvPr>
        </p:nvSpPr>
        <p:spPr>
          <a:xfrm>
            <a:off x="-1" y="836614"/>
            <a:ext cx="10633587" cy="5257800"/>
          </a:xfrm>
        </p:spPr>
        <p:txBody>
          <a:bodyPr vert="horz" wrap="square" lIns="91440" tIns="45720" rIns="91440" bIns="45720" rtlCol="0" anchor="t" anchorCtr="0">
            <a:normAutofit/>
          </a:bodyPr>
          <a:lstStyle/>
          <a:p>
            <a:pPr>
              <a:lnSpc>
                <a:spcPct val="150000"/>
              </a:lnSpc>
              <a:buClr>
                <a:srgbClr val="000000"/>
              </a:buClr>
            </a:pPr>
            <a:r>
              <a:rPr lang="zh-CN" altLang="zh-CN" b="1" dirty="0">
                <a:latin typeface="微软雅黑" panose="020B0503020204020204" pitchFamily="34" charset="-122"/>
                <a:ea typeface="微软雅黑" panose="020B0503020204020204" pitchFamily="34" charset="-122"/>
                <a:cs typeface="微软雅黑" panose="020B0503020204020204" pitchFamily="34" charset="-122"/>
                <a:sym typeface="+mn-ea"/>
              </a:rPr>
              <a:t>近 1/3 的酶需要金属离子作为辅助因子</a:t>
            </a:r>
          </a:p>
          <a:p>
            <a:pPr>
              <a:lnSpc>
                <a:spcPct val="150000"/>
              </a:lnSpc>
              <a:buClr>
                <a:srgbClr val="000000"/>
              </a:buClr>
            </a:pPr>
            <a:r>
              <a:rPr lang="zh-CN" altLang="zh-CN" dirty="0">
                <a:latin typeface="微软雅黑" panose="020B0503020204020204" pitchFamily="34" charset="-122"/>
                <a:ea typeface="微软雅黑" panose="020B0503020204020204" pitchFamily="34" charset="-122"/>
                <a:cs typeface="微软雅黑" panose="020B0503020204020204" pitchFamily="34" charset="-122"/>
                <a:sym typeface="+mn-ea"/>
              </a:rPr>
              <a:t>可逆</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介导氧化还原</a:t>
            </a:r>
            <a:r>
              <a:rPr lang="zh-CN" altLang="zh-CN" dirty="0">
                <a:latin typeface="微软雅黑" panose="020B0503020204020204" pitchFamily="34" charset="-122"/>
                <a:ea typeface="微软雅黑" panose="020B0503020204020204" pitchFamily="34" charset="-122"/>
                <a:cs typeface="微软雅黑" panose="020B0503020204020204" pitchFamily="34" charset="-122"/>
                <a:sym typeface="+mn-ea"/>
              </a:rPr>
              <a:t>通过</a:t>
            </a:r>
            <a:r>
              <a:rPr lang="zh-CN" altLang="zh-CN" dirty="0">
                <a:latin typeface="微软雅黑" panose="020B0503020204020204" pitchFamily="34" charset="-122"/>
                <a:ea typeface="微软雅黑" panose="020B0503020204020204" pitchFamily="34" charset="-122"/>
                <a:cs typeface="微软雅黑" panose="020B0503020204020204" pitchFamily="34" charset="-122"/>
              </a:rPr>
              <a:t>反应（通过金属离子氧化态的变化）</a:t>
            </a:r>
          </a:p>
          <a:p>
            <a:pPr>
              <a:lnSpc>
                <a:spcPct val="150000"/>
              </a:lnSpc>
              <a:buClr>
                <a:srgbClr val="000000"/>
              </a:buClr>
            </a:pPr>
            <a:r>
              <a:rPr lang="zh-CN" altLang="zh-CN" dirty="0">
                <a:latin typeface="微软雅黑" panose="020B0503020204020204" pitchFamily="34" charset="-122"/>
                <a:ea typeface="微软雅黑" panose="020B0503020204020204" pitchFamily="34" charset="-122"/>
                <a:cs typeface="微软雅黑" panose="020B0503020204020204" pitchFamily="34" charset="-122"/>
              </a:rPr>
              <a:t>帮助定向反应底物</a:t>
            </a:r>
          </a:p>
          <a:p>
            <a:pPr>
              <a:lnSpc>
                <a:spcPct val="150000"/>
              </a:lnSpc>
              <a:buClr>
                <a:srgbClr val="000000"/>
              </a:buClr>
            </a:pPr>
            <a:r>
              <a:rPr lang="zh-CN" altLang="zh-CN" dirty="0">
                <a:latin typeface="微软雅黑" panose="020B0503020204020204" pitchFamily="34" charset="-122"/>
                <a:ea typeface="微软雅黑" panose="020B0503020204020204" pitchFamily="34" charset="-122"/>
                <a:cs typeface="微软雅黑" panose="020B0503020204020204" pitchFamily="34" charset="-122"/>
              </a:rPr>
              <a:t>稳定带电反应过渡态</a:t>
            </a:r>
          </a:p>
          <a:p>
            <a:pPr>
              <a:lnSpc>
                <a:spcPct val="150000"/>
              </a:lnSpc>
              <a:buClr>
                <a:srgbClr val="000000"/>
              </a:buClr>
            </a:pPr>
            <a:endParaRPr lang="zh-CN" altLang="zh-CN"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3643649" y="2301136"/>
            <a:ext cx="8243551" cy="4545669"/>
          </a:xfrm>
          <a:prstGeom prst="rect">
            <a:avLst/>
          </a:prstGeom>
        </p:spPr>
      </p:pic>
    </p:spTree>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a:srcRect t="4249"/>
          <a:stretch>
            <a:fillRect/>
          </a:stretch>
        </p:blipFill>
        <p:spPr>
          <a:xfrm>
            <a:off x="6095999" y="836614"/>
            <a:ext cx="5889685" cy="6010191"/>
          </a:xfrm>
          <a:prstGeom prst="rect">
            <a:avLst/>
          </a:prstGeom>
        </p:spPr>
      </p:pic>
      <p:sp>
        <p:nvSpPr>
          <p:cNvPr id="24578" name="Rectangle 10"/>
          <p:cNvSpPr/>
          <p:nvPr/>
        </p:nvSpPr>
        <p:spPr>
          <a:xfrm>
            <a:off x="1044786" y="1018608"/>
            <a:ext cx="3853815" cy="460375"/>
          </a:xfrm>
          <a:prstGeom prst="rect">
            <a:avLst/>
          </a:prstGeom>
          <a:noFill/>
          <a:ln w="12700">
            <a:noFill/>
          </a:ln>
          <a:extLst>
            <a:ext uri="{909E8E84-426E-40DD-AFC4-6F175D3DCCD1}">
              <a14:hiddenFill xmlns:a14="http://schemas.microsoft.com/office/drawing/2010/main">
                <a:solidFill>
                  <a:srgbClr val="99CCFF"/>
                </a:solidFill>
              </a14:hiddenFill>
            </a:ext>
          </a:extLst>
        </p:spPr>
        <p:txBody>
          <a:bodyPr wrap="square" anchor="t" anchorCtr="0">
            <a:spAutoFit/>
          </a:bodyPr>
          <a:lstStyle/>
          <a:p>
            <a:pPr eaLnBrk="0" hangingPunct="0"/>
            <a:r>
              <a:rPr lang="zh-CN" altLang="en-US" sz="2400" b="1" dirty="0">
                <a:latin typeface="微软雅黑" panose="020B0503020204020204" pitchFamily="34" charset="-122"/>
                <a:ea typeface="微软雅黑" panose="020B0503020204020204" pitchFamily="34" charset="-122"/>
              </a:rPr>
              <a:t>碳酸酐酶的金属催化机制</a:t>
            </a:r>
          </a:p>
        </p:txBody>
      </p:sp>
      <p:sp>
        <p:nvSpPr>
          <p:cNvPr id="2" name="矩形 1"/>
          <p:cNvSpPr/>
          <p:nvPr/>
        </p:nvSpPr>
        <p:spPr>
          <a:xfrm>
            <a:off x="3525662" y="11195"/>
            <a:ext cx="4754880" cy="825419"/>
          </a:xfrm>
          <a:prstGeom prst="rect">
            <a:avLst/>
          </a:prstGeom>
        </p:spPr>
        <p:txBody>
          <a:bodyPr wrap="square">
            <a:spAutoFit/>
          </a:bodyPr>
          <a:lstStyle/>
          <a:p>
            <a:pPr marL="0" lvl="1" algn="ctr" defTabSz="914400" fontAlgn="base">
              <a:lnSpc>
                <a:spcPct val="150000"/>
              </a:lnSpc>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金属离子催化</a:t>
            </a: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 name="文本框 3"/>
          <p:cNvSpPr txBox="1"/>
          <p:nvPr/>
        </p:nvSpPr>
        <p:spPr>
          <a:xfrm>
            <a:off x="548030" y="1588235"/>
            <a:ext cx="5547969" cy="581057"/>
          </a:xfrm>
          <a:prstGeom prst="rect">
            <a:avLst/>
          </a:prstGeom>
          <a:noFill/>
        </p:spPr>
        <p:txBody>
          <a:bodyPr wrap="square" rtlCol="0">
            <a:spAutoFit/>
          </a:bodyPr>
          <a:lstStyle/>
          <a:p>
            <a:pPr>
              <a:lnSpc>
                <a:spcPct val="150000"/>
              </a:lnSpc>
            </a:pPr>
            <a:r>
              <a:rPr lang="en-US" altLang="zh-CN" sz="2400" dirty="0">
                <a:latin typeface="微软雅黑" panose="020B0503020204020204" pitchFamily="34" charset="-122"/>
                <a:ea typeface="微软雅黑" panose="020B0503020204020204" pitchFamily="34" charset="-122"/>
              </a:rPr>
              <a:t>Z</a:t>
            </a:r>
            <a:r>
              <a:rPr lang="zh-CN" altLang="en-US" sz="2400" dirty="0">
                <a:latin typeface="微软雅黑" panose="020B0503020204020204" pitchFamily="34" charset="-122"/>
                <a:ea typeface="微软雅黑" panose="020B0503020204020204" pitchFamily="34" charset="-122"/>
              </a:rPr>
              <a:t>n</a:t>
            </a:r>
            <a:r>
              <a:rPr lang="zh-CN" altLang="en-US"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促进了作为亲核试剂的</a:t>
            </a:r>
            <a:r>
              <a:rPr lang="en-US" altLang="zh-CN" sz="2400" dirty="0">
                <a:latin typeface="微软雅黑" panose="020B0503020204020204" pitchFamily="34" charset="-122"/>
                <a:ea typeface="微软雅黑" panose="020B0503020204020204" pitchFamily="34" charset="-122"/>
              </a:rPr>
              <a:t>OH</a:t>
            </a:r>
            <a:r>
              <a:rPr lang="en-US" altLang="zh-CN" sz="2400" baseline="300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的形成</a:t>
            </a:r>
          </a:p>
        </p:txBody>
      </p:sp>
      <p:sp>
        <p:nvSpPr>
          <p:cNvPr id="6" name="文本框 5"/>
          <p:cNvSpPr txBox="1"/>
          <p:nvPr/>
        </p:nvSpPr>
        <p:spPr>
          <a:xfrm>
            <a:off x="1133489" y="3300479"/>
            <a:ext cx="4411904" cy="581057"/>
          </a:xfrm>
          <a:prstGeom prst="rect">
            <a:avLst/>
          </a:prstGeom>
          <a:noFill/>
        </p:spPr>
        <p:txBody>
          <a:bodyPr wrap="square" rtlCol="0" anchor="t">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碳酸氢盐产物与Zn</a:t>
            </a:r>
            <a:r>
              <a:rPr lang="zh-CN" altLang="en-US"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配合</a:t>
            </a:r>
          </a:p>
        </p:txBody>
      </p:sp>
      <p:sp>
        <p:nvSpPr>
          <p:cNvPr id="7" name="文本框 6"/>
          <p:cNvSpPr txBox="1"/>
          <p:nvPr/>
        </p:nvSpPr>
        <p:spPr>
          <a:xfrm>
            <a:off x="398926" y="4923686"/>
            <a:ext cx="5146467" cy="1135054"/>
          </a:xfrm>
          <a:prstGeom prst="rect">
            <a:avLst/>
          </a:prstGeom>
          <a:noFill/>
        </p:spPr>
        <p:txBody>
          <a:bodyPr wrap="square" rtlCol="0" anchor="t">
            <a:spAutoFit/>
          </a:bodyPr>
          <a:lstStyle/>
          <a:p>
            <a:pPr>
              <a:lnSpc>
                <a:spcPct val="150000"/>
              </a:lnSpc>
            </a:pPr>
            <a:r>
              <a:rPr lang="en-US" altLang="zh-CN" sz="2400" dirty="0">
                <a:latin typeface="微软雅黑" panose="020B0503020204020204" pitchFamily="34" charset="-122"/>
                <a:ea typeface="微软雅黑" panose="020B0503020204020204" pitchFamily="34" charset="-122"/>
              </a:rPr>
              <a:t>Z</a:t>
            </a:r>
            <a:r>
              <a:rPr lang="zh-CN" altLang="en-US" sz="2400" dirty="0">
                <a:latin typeface="微软雅黑" panose="020B0503020204020204" pitchFamily="34" charset="-122"/>
                <a:ea typeface="微软雅黑" panose="020B0503020204020204" pitchFamily="34" charset="-122"/>
              </a:rPr>
              <a:t>n</a:t>
            </a:r>
            <a:r>
              <a:rPr lang="zh-CN" altLang="en-US" sz="2400" baseline="300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与第</a:t>
            </a:r>
            <a:r>
              <a:rPr lang="en-US" altLang="zh-CN" sz="24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个</a:t>
            </a:r>
            <a:r>
              <a:rPr lang="en-US" altLang="zh-CN" sz="2400" dirty="0">
                <a:latin typeface="微软雅黑" panose="020B0503020204020204" pitchFamily="34" charset="-122"/>
                <a:ea typeface="微软雅黑" panose="020B0503020204020204" pitchFamily="34" charset="-122"/>
              </a:rPr>
              <a:t>H</a:t>
            </a:r>
            <a:r>
              <a:rPr lang="en-US" altLang="zh-CN" sz="2400" baseline="-25000" dirty="0">
                <a:latin typeface="微软雅黑" panose="020B0503020204020204" pitchFamily="34" charset="-122"/>
                <a:ea typeface="微软雅黑" panose="020B0503020204020204" pitchFamily="34" charset="-122"/>
              </a:rPr>
              <a:t>2</a:t>
            </a:r>
            <a:r>
              <a:rPr lang="en-US" altLang="zh-CN" sz="2400" dirty="0">
                <a:latin typeface="微软雅黑" panose="020B0503020204020204" pitchFamily="34" charset="-122"/>
                <a:ea typeface="微软雅黑" panose="020B0503020204020204" pitchFamily="34" charset="-122"/>
              </a:rPr>
              <a:t>O</a:t>
            </a:r>
            <a:r>
              <a:rPr lang="zh-CN" altLang="en-US" sz="2400" dirty="0">
                <a:latin typeface="微软雅黑" panose="020B0503020204020204" pitchFamily="34" charset="-122"/>
                <a:ea typeface="微软雅黑" panose="020B0503020204020204" pitchFamily="34" charset="-122"/>
              </a:rPr>
              <a:t>相互作用，导致碳酸氢盐产物的释放</a:t>
            </a:r>
          </a:p>
        </p:txBody>
      </p:sp>
    </p:spTree>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2D0C5D5-F12B-42D2-313B-9F74964B56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2334" y="0"/>
            <a:ext cx="10157415" cy="6858000"/>
          </a:xfrm>
          <a:prstGeom prst="rect">
            <a:avLst/>
          </a:prstGeom>
        </p:spPr>
      </p:pic>
      <p:sp>
        <p:nvSpPr>
          <p:cNvPr id="4" name="矩形 3">
            <a:extLst>
              <a:ext uri="{FF2B5EF4-FFF2-40B4-BE49-F238E27FC236}">
                <a16:creationId xmlns:a16="http://schemas.microsoft.com/office/drawing/2014/main" id="{4B432DF4-2556-5FBC-0919-4B47F8B8D4B7}"/>
              </a:ext>
            </a:extLst>
          </p:cNvPr>
          <p:cNvSpPr/>
          <p:nvPr/>
        </p:nvSpPr>
        <p:spPr>
          <a:xfrm>
            <a:off x="580103" y="0"/>
            <a:ext cx="1759974" cy="77674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58226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内容占位符 2">
            <a:extLst>
              <a:ext uri="{FF2B5EF4-FFF2-40B4-BE49-F238E27FC236}">
                <a16:creationId xmlns:a16="http://schemas.microsoft.com/office/drawing/2014/main" id="{92D09D78-9FDB-9A55-A01F-8DDC33D224EE}"/>
              </a:ext>
            </a:extLst>
          </p:cNvPr>
          <p:cNvSpPr>
            <a:spLocks noGrp="1"/>
          </p:cNvSpPr>
          <p:nvPr>
            <p:ph idx="4294967295"/>
          </p:nvPr>
        </p:nvSpPr>
        <p:spPr>
          <a:xfrm>
            <a:off x="0" y="762000"/>
            <a:ext cx="12192000" cy="5334000"/>
          </a:xfrm>
        </p:spPr>
        <p:txBody>
          <a:bodyPr>
            <a:normAutofit lnSpcReduction="10000"/>
          </a:bodyPr>
          <a:lstStyle/>
          <a:p>
            <a:pPr>
              <a:buClr>
                <a:srgbClr val="FF0015"/>
              </a:buClr>
            </a:pPr>
            <a:r>
              <a:rPr lang="zh-CN" altLang="zh-CN" dirty="0">
                <a:latin typeface="Times New Roman" panose="02020603050405020304" pitchFamily="18" charset="0"/>
                <a:ea typeface="楷体" panose="02010609060101010101" pitchFamily="49" charset="-122"/>
                <a:cs typeface="Times New Roman" panose="02020603050405020304" pitchFamily="18" charset="0"/>
              </a:rPr>
              <a:t>肽键水解在</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热力</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学上是十分有利的，但</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若无</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蛋白酶的催化，</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个肽键在中性</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pH</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25</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℃条件下</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约</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需</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300~600</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年的时间才能完成水解。</a:t>
            </a:r>
          </a:p>
          <a:p>
            <a:pPr>
              <a:buClr>
                <a:srgbClr val="FF0015"/>
              </a:buClr>
            </a:pPr>
            <a:r>
              <a:rPr lang="zh-CN" altLang="zh-CN" dirty="0">
                <a:latin typeface="Times New Roman" panose="02020603050405020304" pitchFamily="18" charset="0"/>
                <a:ea typeface="楷体" panose="02010609060101010101" pitchFamily="49" charset="-122"/>
                <a:cs typeface="Times New Roman" panose="02020603050405020304" pitchFamily="18" charset="0"/>
              </a:rPr>
              <a:t>根据活性中心催化基团的性质，蛋白酶可分为四类：</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0" indent="0">
              <a:buClr>
                <a:srgbClr val="FF0015"/>
              </a:buClr>
              <a:buNone/>
            </a:pP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丝氨酸蛋白酶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此类蛋白酶的催化基团包括</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个不可缺少的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Ser</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残基，</a:t>
            </a:r>
            <a:r>
              <a:rPr lang="en-US" altLang="zh-CN" dirty="0">
                <a:latin typeface="Times New Roman" panose="02020603050405020304" pitchFamily="18" charset="0"/>
                <a:ea typeface="楷体" panose="02010609060101010101" pitchFamily="49" charset="-122"/>
                <a:cs typeface="Times New Roman" panose="02020603050405020304" pitchFamily="18" charset="0"/>
              </a:rPr>
              <a:t>DIFP</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是它们的不可逆抑制剂；</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0" indent="0">
              <a:buClr>
                <a:srgbClr val="FF0015"/>
              </a:buClr>
              <a:buNone/>
            </a:pP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金属蛋白酶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这类蛋白酶在活性中心结合</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有</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金属离子，其活性绝对需要金属离子，</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故</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金属离子螯合剂可导致活性的丧失；</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0" indent="0">
              <a:buClr>
                <a:srgbClr val="FF0015"/>
              </a:buClr>
              <a:buNone/>
            </a:pP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天冬氨酸蛋白酶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其催化基团包括</a:t>
            </a:r>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Asp</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，在偏碱性的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pH</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下无活性；（</a:t>
            </a:r>
            <a:r>
              <a:rPr lang="en-US" altLang="zh-CN" dirty="0">
                <a:latin typeface="Times New Roman" panose="02020603050405020304" pitchFamily="18" charset="0"/>
                <a:ea typeface="楷体" panose="02010609060101010101" pitchFamily="49" charset="-122"/>
                <a:cs typeface="Times New Roman" panose="02020603050405020304" pitchFamily="18" charset="0"/>
              </a:rPr>
              <a:t>4</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巯基蛋白酶</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其催化基团包括</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Cys</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的巯基，</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碘代乙酸</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为它们的不可逆抑制剂。</a:t>
            </a:r>
          </a:p>
          <a:p>
            <a:pPr>
              <a:buClr>
                <a:srgbClr val="FF0015"/>
              </a:buClr>
            </a:pPr>
            <a:r>
              <a:rPr lang="zh-CN" altLang="zh-CN" dirty="0">
                <a:latin typeface="Times New Roman" panose="02020603050405020304" pitchFamily="18" charset="0"/>
                <a:ea typeface="楷体" panose="02010609060101010101" pitchFamily="49" charset="-122"/>
                <a:cs typeface="Times New Roman" panose="02020603050405020304" pitchFamily="18" charset="0"/>
              </a:rPr>
              <a:t>所有蛋白酶在催化中都经历</a:t>
            </a:r>
            <a:r>
              <a:rPr lang="zh-CN"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四面体的过渡态</a:t>
            </a:r>
            <a:r>
              <a:rPr lang="zh-CN" altLang="zh-CN" dirty="0">
                <a:latin typeface="Times New Roman" panose="02020603050405020304" pitchFamily="18" charset="0"/>
                <a:ea typeface="楷体" panose="02010609060101010101" pitchFamily="49" charset="-122"/>
                <a:cs typeface="Times New Roman" panose="02020603050405020304" pitchFamily="18" charset="0"/>
              </a:rPr>
              <a:t>，该过渡态形成的原因是反应涉及一个亲核基团进攻肽键的羰基碳。</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若</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是丝氨酸蛋白酶和巯基蛋白酶，进攻的亲核基团分别是</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Ser</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残基的羟基和</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Cys</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残基的巯基，否则就是水分子。 </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0723" name="Rectangle 5">
            <a:extLst>
              <a:ext uri="{FF2B5EF4-FFF2-40B4-BE49-F238E27FC236}">
                <a16:creationId xmlns:a16="http://schemas.microsoft.com/office/drawing/2014/main" id="{362850D7-45DB-63F0-22A3-3B15C26575B8}"/>
              </a:ext>
            </a:extLst>
          </p:cNvPr>
          <p:cNvSpPr>
            <a:spLocks noChangeArrowheads="1"/>
          </p:cNvSpPr>
          <p:nvPr/>
        </p:nvSpPr>
        <p:spPr bwMode="auto">
          <a:xfrm>
            <a:off x="4484764" y="0"/>
            <a:ext cx="3070071" cy="52322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zh-CN" altLang="zh-CN" sz="2800" b="1" dirty="0">
                <a:ea typeface="楷体" panose="02010609060101010101" pitchFamily="49" charset="-122"/>
              </a:rPr>
              <a:t>蛋白酶</a:t>
            </a:r>
            <a:r>
              <a:rPr lang="zh-CN" altLang="en-US" sz="2800" b="1" dirty="0">
                <a:ea typeface="楷体" panose="02010609060101010101" pitchFamily="49" charset="-122"/>
              </a:rPr>
              <a:t>的催化机制</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内容占位符 2">
            <a:extLst>
              <a:ext uri="{FF2B5EF4-FFF2-40B4-BE49-F238E27FC236}">
                <a16:creationId xmlns:a16="http://schemas.microsoft.com/office/drawing/2014/main" id="{C1FAC03C-D61C-F622-94F6-1D2D3D30A0F6}"/>
              </a:ext>
            </a:extLst>
          </p:cNvPr>
          <p:cNvSpPr>
            <a:spLocks noGrp="1"/>
          </p:cNvSpPr>
          <p:nvPr>
            <p:ph idx="4294967295"/>
          </p:nvPr>
        </p:nvSpPr>
        <p:spPr>
          <a:xfrm>
            <a:off x="0" y="928688"/>
            <a:ext cx="12192000" cy="5472112"/>
          </a:xfrm>
        </p:spPr>
        <p:txBody>
          <a:bodyPr>
            <a:normAutofit/>
          </a:bodyPr>
          <a:lstStyle/>
          <a:p>
            <a:pPr marL="609600" indent="-609600">
              <a:buClr>
                <a:srgbClr val="FF0015"/>
              </a:buClr>
              <a:buFont typeface="Wingdings" panose="05000000000000000000" pitchFamily="2" charset="2"/>
              <a:buChar char="«"/>
            </a:pPr>
            <a:r>
              <a:rPr lang="zh-CN" altLang="zh-CN" dirty="0">
                <a:latin typeface="Times New Roman" panose="02020603050405020304" pitchFamily="18" charset="0"/>
                <a:ea typeface="楷体" panose="02010609060101010101" pitchFamily="49" charset="-122"/>
                <a:cs typeface="Times New Roman" panose="02020603050405020304" pitchFamily="18" charset="0"/>
              </a:rPr>
              <a:t>这类蛋白酶以一个特定的</a:t>
            </a:r>
            <a:r>
              <a:rPr lang="en-US"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Ser</a:t>
            </a:r>
            <a:r>
              <a:rPr lang="zh-CN"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残基</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作为必需的催化基团，属于该家族成员的有</a:t>
            </a:r>
            <a:r>
              <a:rPr lang="zh-CN" altLang="zh-CN" b="1" dirty="0">
                <a:latin typeface="Times New Roman" panose="02020603050405020304" pitchFamily="18" charset="0"/>
                <a:ea typeface="楷体" panose="02010609060101010101" pitchFamily="49" charset="-122"/>
                <a:cs typeface="Times New Roman" panose="02020603050405020304" pitchFamily="18" charset="0"/>
              </a:rPr>
              <a:t>胰蛋白酶、糜蛋白酶、弹性蛋白酶、枯草杆菌蛋白酶、激肽释放酶原、凝血酶、纤溶酶</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等</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pPr marL="609600" indent="-609600">
              <a:buClr>
                <a:srgbClr val="FF0015"/>
              </a:buClr>
              <a:buFont typeface="Wingdings" panose="05000000000000000000" pitchFamily="2" charset="2"/>
              <a:buChar char="«"/>
            </a:pPr>
            <a:r>
              <a:rPr lang="zh-CN" altLang="zh-CN" dirty="0">
                <a:latin typeface="Times New Roman" panose="02020603050405020304" pitchFamily="18" charset="0"/>
                <a:ea typeface="楷体" panose="02010609060101010101" pitchFamily="49" charset="-122"/>
                <a:cs typeface="Times New Roman" panose="02020603050405020304" pitchFamily="18" charset="0"/>
              </a:rPr>
              <a:t>丝氨酸蛋白酶的催化机制属于</a:t>
            </a:r>
            <a:r>
              <a:rPr lang="zh-CN"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共价催化</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和</a:t>
            </a:r>
            <a:r>
              <a:rPr lang="zh-CN" altLang="zh-CN"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广义酸碱催化</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的混合体，</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还有</a:t>
            </a:r>
            <a:r>
              <a:rPr lang="zh-CN" altLang="en-US"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氧阴离子穴对过渡态的稳定</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由</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个不变的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Ser</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His</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和</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Asp</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残基构成的催化三元体起主导作用</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dirty="0">
              <a:latin typeface="Times New Roman" panose="02020603050405020304" pitchFamily="18" charset="0"/>
              <a:ea typeface="楷体" panose="02010609060101010101" pitchFamily="49" charset="-122"/>
              <a:cs typeface="Times New Roman" panose="02020603050405020304" pitchFamily="18" charset="0"/>
            </a:endParaRPr>
          </a:p>
          <a:p>
            <a:pPr marL="609600" indent="-609600">
              <a:buClr>
                <a:srgbClr val="FF0015"/>
              </a:buClr>
              <a:buFont typeface="Wingdings" panose="05000000000000000000" pitchFamily="2" charset="2"/>
              <a:buChar char="«"/>
            </a:pPr>
            <a:r>
              <a:rPr lang="zh-CN" altLang="zh-CN" dirty="0">
                <a:latin typeface="Times New Roman" panose="02020603050405020304" pitchFamily="18" charset="0"/>
                <a:ea typeface="楷体" panose="02010609060101010101" pitchFamily="49" charset="-122"/>
                <a:cs typeface="Times New Roman" panose="02020603050405020304" pitchFamily="18" charset="0"/>
              </a:rPr>
              <a:t>构成催化三元体的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个氨基酸在催化中的具体功能是：</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a:p>
            <a:pPr marL="990600" lvl="1" indent="-533400">
              <a:buClr>
                <a:srgbClr val="FF0015"/>
              </a:buClr>
              <a:buFont typeface="Wingdings" panose="05000000000000000000" pitchFamily="2" charset="2"/>
              <a:buAutoNum type="circleNumDbPlain"/>
            </a:pP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Ser195</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充当进攻底物的亲核基团</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a:p>
            <a:pPr marL="990600" lvl="1" indent="-533400">
              <a:buClr>
                <a:srgbClr val="FF0015"/>
              </a:buClr>
              <a:buFont typeface="Wingdings" panose="05000000000000000000" pitchFamily="2" charset="2"/>
              <a:buAutoNum type="circleNumDbPlain"/>
            </a:pP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His57</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作为广义的酸碱催化剂</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a:p>
            <a:pPr marL="990600" lvl="1" indent="-533400">
              <a:buClr>
                <a:srgbClr val="FF0015"/>
              </a:buClr>
              <a:buFont typeface="Wingdings" panose="05000000000000000000" pitchFamily="2" charset="2"/>
              <a:buAutoNum type="circleNumDbPlain"/>
            </a:pP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Asp102 </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的功能仅仅是定向</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His57</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，影响</a:t>
            </a:r>
            <a:r>
              <a:rPr lang="en-US" altLang="zh-CN" sz="2800" dirty="0">
                <a:latin typeface="Times New Roman" panose="02020603050405020304" pitchFamily="18" charset="0"/>
                <a:ea typeface="楷体" panose="02010609060101010101" pitchFamily="49" charset="-122"/>
                <a:cs typeface="Times New Roman" panose="02020603050405020304" pitchFamily="18" charset="0"/>
              </a:rPr>
              <a:t>His</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的</a:t>
            </a:r>
            <a:r>
              <a:rPr lang="zh-CN" altLang="en-US" sz="28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err="1">
                <a:latin typeface="Times New Roman" panose="02020603050405020304" pitchFamily="18" charset="0"/>
                <a:ea typeface="楷体" panose="02010609060101010101" pitchFamily="49" charset="-122"/>
                <a:cs typeface="Times New Roman" panose="02020603050405020304" pitchFamily="18" charset="0"/>
              </a:rPr>
              <a:t>pKa</a:t>
            </a:r>
            <a:r>
              <a:rPr lang="zh-CN" altLang="zh-CN" sz="2800" dirty="0">
                <a:latin typeface="Times New Roman" panose="02020603050405020304" pitchFamily="18" charset="0"/>
                <a:ea typeface="楷体" panose="02010609060101010101" pitchFamily="49" charset="-122"/>
                <a:cs typeface="Times New Roman" panose="02020603050405020304" pitchFamily="18" charset="0"/>
              </a:rPr>
              <a:t>，改变其酸碱性质。</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1747" name="Rectangle 5">
            <a:extLst>
              <a:ext uri="{FF2B5EF4-FFF2-40B4-BE49-F238E27FC236}">
                <a16:creationId xmlns:a16="http://schemas.microsoft.com/office/drawing/2014/main" id="{8467B727-C116-3C42-16D3-8F49D7892B2F}"/>
              </a:ext>
            </a:extLst>
          </p:cNvPr>
          <p:cNvSpPr>
            <a:spLocks noChangeArrowheads="1"/>
          </p:cNvSpPr>
          <p:nvPr/>
        </p:nvSpPr>
        <p:spPr bwMode="auto">
          <a:xfrm>
            <a:off x="4767752" y="0"/>
            <a:ext cx="2656496" cy="584775"/>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zh-CN" altLang="zh-CN" sz="3200" b="1" dirty="0">
                <a:latin typeface="Times New Roman" panose="02020603050405020304" pitchFamily="18" charset="0"/>
                <a:ea typeface="楷体" panose="02010609060101010101" pitchFamily="49" charset="-122"/>
                <a:cs typeface="Times New Roman" panose="02020603050405020304" pitchFamily="18" charset="0"/>
              </a:rPr>
              <a:t>丝氨酸蛋白酶</a:t>
            </a:r>
            <a:endParaRPr lang="zh-CN" altLang="en-US" sz="3200" b="1"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5">
            <a:extLst>
              <a:ext uri="{FF2B5EF4-FFF2-40B4-BE49-F238E27FC236}">
                <a16:creationId xmlns:a16="http://schemas.microsoft.com/office/drawing/2014/main" id="{53EC6AA6-D5D4-52B0-DA57-C56902885A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1719" y="-1"/>
            <a:ext cx="7098838" cy="4286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Box 8">
            <a:extLst>
              <a:ext uri="{FF2B5EF4-FFF2-40B4-BE49-F238E27FC236}">
                <a16:creationId xmlns:a16="http://schemas.microsoft.com/office/drawing/2014/main" id="{DE989243-05E2-F2AD-77E2-693B9D22ADA3}"/>
              </a:ext>
            </a:extLst>
          </p:cNvPr>
          <p:cNvSpPr txBox="1">
            <a:spLocks noChangeArrowheads="1"/>
          </p:cNvSpPr>
          <p:nvPr/>
        </p:nvSpPr>
        <p:spPr bwMode="auto">
          <a:xfrm>
            <a:off x="309717" y="4414683"/>
            <a:ext cx="11508658" cy="2281085"/>
          </a:xfrm>
          <a:prstGeom prst="rect">
            <a:avLst/>
          </a:prstGeom>
        </p:spPr>
        <p:txBody>
          <a:bodyPr vert="horz" lIns="91440" tIns="45720" rIns="91440" bIns="45720" rtlCol="0">
            <a:normAutofit/>
          </a:bodyPr>
          <a:lstStyle>
            <a:lvl1pPr marL="228600" indent="-228600" defTabSz="914400">
              <a:lnSpc>
                <a:spcPct val="90000"/>
              </a:lnSpc>
              <a:spcBef>
                <a:spcPts val="1000"/>
              </a:spcBef>
              <a:buClr>
                <a:srgbClr val="FF0015"/>
              </a:buClr>
              <a:buFont typeface="Arial" panose="020B0604020202020204" pitchFamily="34" charset="0"/>
              <a:buChar char="•"/>
              <a:defRPr sz="2800">
                <a:latin typeface="Times New Roman" panose="02020603050405020304" pitchFamily="18" charset="0"/>
                <a:ea typeface="楷体" panose="02010609060101010101" pitchFamily="49" charset="-122"/>
                <a:cs typeface="Times New Roman" panose="02020603050405020304" pitchFamily="18" charset="0"/>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pPr marL="0" indent="0">
              <a:buNone/>
            </a:pPr>
            <a:r>
              <a:rPr lang="zh-CN" altLang="en-US" dirty="0"/>
              <a:t>胰蛋白酶具有很深的底物结合口袋，口袋的底部又是</a:t>
            </a:r>
            <a:r>
              <a:rPr lang="en-US" altLang="zh-CN" dirty="0"/>
              <a:t>Asp</a:t>
            </a:r>
            <a:r>
              <a:rPr lang="zh-CN" altLang="en-US" dirty="0"/>
              <a:t>，特别适合长</a:t>
            </a:r>
            <a:r>
              <a:rPr lang="en-US" altLang="zh-CN" dirty="0"/>
              <a:t>Lys</a:t>
            </a:r>
            <a:r>
              <a:rPr lang="zh-CN" altLang="en-US" dirty="0"/>
              <a:t>和</a:t>
            </a:r>
            <a:r>
              <a:rPr lang="en-US" altLang="zh-CN" dirty="0"/>
              <a:t>Arg</a:t>
            </a:r>
            <a:r>
              <a:rPr lang="zh-CN" altLang="en-US" dirty="0"/>
              <a:t>的结合；</a:t>
            </a:r>
            <a:endParaRPr lang="en-US" altLang="zh-CN" dirty="0"/>
          </a:p>
          <a:p>
            <a:pPr marL="0" indent="0">
              <a:buNone/>
            </a:pPr>
            <a:r>
              <a:rPr lang="zh-CN" altLang="en-US" dirty="0"/>
              <a:t>糜蛋白酶的底物结合口袋没有胰蛋白酶深，但比它宽，而且口袋壁分布的是疏水氨基酸，故特别适合芳香族氨基酸的结合；</a:t>
            </a:r>
            <a:endParaRPr lang="en-US" altLang="zh-CN" dirty="0"/>
          </a:p>
          <a:p>
            <a:pPr marL="0" indent="0">
              <a:buNone/>
            </a:pPr>
            <a:r>
              <a:rPr lang="zh-CN" altLang="en-US" dirty="0"/>
              <a:t>弹性蛋白酶的底物结合口袋非常浅，最适合结合侧链较小的氨基酸。</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2A4787F6-E06F-1393-A33A-3BC8CDCCD586}"/>
              </a:ext>
            </a:extLst>
          </p:cNvPr>
          <p:cNvSpPr>
            <a:spLocks noChangeArrowheads="1"/>
          </p:cNvSpPr>
          <p:nvPr/>
        </p:nvSpPr>
        <p:spPr bwMode="auto">
          <a:xfrm>
            <a:off x="1524000" y="-365125"/>
            <a:ext cx="18415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9pPr>
          </a:lstStyle>
          <a:p>
            <a:pPr>
              <a:spcBef>
                <a:spcPct val="0"/>
              </a:spcBef>
              <a:buFontTx/>
              <a:buNone/>
            </a:pPr>
            <a:endParaRPr lang="zh-CN" altLang="en-US" sz="7200" b="1">
              <a:latin typeface="Arial" panose="020B0604020202020204" pitchFamily="34" charset="0"/>
            </a:endParaRPr>
          </a:p>
        </p:txBody>
      </p:sp>
      <p:pic>
        <p:nvPicPr>
          <p:cNvPr id="33795" name="Picture 5" descr="10-13">
            <a:extLst>
              <a:ext uri="{FF2B5EF4-FFF2-40B4-BE49-F238E27FC236}">
                <a16:creationId xmlns:a16="http://schemas.microsoft.com/office/drawing/2014/main" id="{7D95B2DF-106B-AD5B-C338-8E4BC757F53D}"/>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283974" y="438090"/>
            <a:ext cx="5347929" cy="5461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Rectangle 7">
            <a:extLst>
              <a:ext uri="{FF2B5EF4-FFF2-40B4-BE49-F238E27FC236}">
                <a16:creationId xmlns:a16="http://schemas.microsoft.com/office/drawing/2014/main" id="{D60D3E03-F362-2D51-3350-FD600F4A0709}"/>
              </a:ext>
            </a:extLst>
          </p:cNvPr>
          <p:cNvSpPr>
            <a:spLocks noChangeArrowheads="1"/>
          </p:cNvSpPr>
          <p:nvPr/>
        </p:nvSpPr>
        <p:spPr bwMode="auto">
          <a:xfrm>
            <a:off x="4267200" y="6019800"/>
            <a:ext cx="3281668" cy="40011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zh-CN" altLang="en-US" sz="2000" b="1">
                <a:latin typeface="Times New Roman" panose="02020603050405020304" pitchFamily="18" charset="0"/>
                <a:ea typeface="楷体" panose="02010609060101010101" pitchFamily="49" charset="-122"/>
                <a:cs typeface="Times New Roman" panose="02020603050405020304" pitchFamily="18" charset="0"/>
              </a:rPr>
              <a:t>丝氨酸蛋白酶的催化三元体</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3">
            <a:extLst>
              <a:ext uri="{FF2B5EF4-FFF2-40B4-BE49-F238E27FC236}">
                <a16:creationId xmlns:a16="http://schemas.microsoft.com/office/drawing/2014/main" id="{287C7EC5-8D60-7B17-16E1-D317F76F16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437" y="752169"/>
            <a:ext cx="7010400" cy="380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Text Box 5">
            <a:extLst>
              <a:ext uri="{FF2B5EF4-FFF2-40B4-BE49-F238E27FC236}">
                <a16:creationId xmlns:a16="http://schemas.microsoft.com/office/drawing/2014/main" id="{75F958CA-C9B5-9D4D-8745-7E1C2B30AB0F}"/>
              </a:ext>
            </a:extLst>
          </p:cNvPr>
          <p:cNvSpPr txBox="1">
            <a:spLocks noChangeArrowheads="1"/>
          </p:cNvSpPr>
          <p:nvPr/>
        </p:nvSpPr>
        <p:spPr bwMode="auto">
          <a:xfrm>
            <a:off x="2979737" y="4692958"/>
            <a:ext cx="1447800" cy="45720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zh-CN" altLang="en-US" dirty="0">
                <a:latin typeface="楷体" panose="02010609060101010101" pitchFamily="49" charset="-122"/>
                <a:ea typeface="楷体" panose="02010609060101010101" pitchFamily="49" charset="-122"/>
              </a:rPr>
              <a:t>多肽底物</a:t>
            </a:r>
          </a:p>
        </p:txBody>
      </p:sp>
      <p:pic>
        <p:nvPicPr>
          <p:cNvPr id="2" name="Picture 3">
            <a:extLst>
              <a:ext uri="{FF2B5EF4-FFF2-40B4-BE49-F238E27FC236}">
                <a16:creationId xmlns:a16="http://schemas.microsoft.com/office/drawing/2014/main" id="{E261740B-68CE-D64E-2715-8D4DC954E5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8837" y="715298"/>
            <a:ext cx="4983163"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4">
            <a:extLst>
              <a:ext uri="{FF2B5EF4-FFF2-40B4-BE49-F238E27FC236}">
                <a16:creationId xmlns:a16="http://schemas.microsoft.com/office/drawing/2014/main" id="{8CC948F6-6F53-0212-E26A-74D6FED02B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336"/>
          <a:stretch/>
        </p:blipFill>
        <p:spPr bwMode="auto">
          <a:xfrm>
            <a:off x="5900122" y="1163280"/>
            <a:ext cx="6291878"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E56B351B-CC75-2786-9BF7-4932B7298C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67"/>
          <a:stretch/>
        </p:blipFill>
        <p:spPr bwMode="auto">
          <a:xfrm>
            <a:off x="0" y="793955"/>
            <a:ext cx="5944010" cy="449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4">
            <a:extLst>
              <a:ext uri="{FF2B5EF4-FFF2-40B4-BE49-F238E27FC236}">
                <a16:creationId xmlns:a16="http://schemas.microsoft.com/office/drawing/2014/main" id="{B8FA4381-E4A0-066D-4060-184E6D30410E}"/>
              </a:ext>
            </a:extLst>
          </p:cNvPr>
          <p:cNvSpPr txBox="1">
            <a:spLocks noChangeArrowheads="1"/>
          </p:cNvSpPr>
          <p:nvPr/>
        </p:nvSpPr>
        <p:spPr bwMode="auto">
          <a:xfrm>
            <a:off x="2425700" y="5488858"/>
            <a:ext cx="2743200" cy="457200"/>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zh-CN" altLang="en-US">
                <a:latin typeface="楷体" panose="02010609060101010101" pitchFamily="49" charset="-122"/>
                <a:ea typeface="楷体" panose="02010609060101010101" pitchFamily="49" charset="-122"/>
              </a:rPr>
              <a:t>水分子的亲核进攻</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3">
            <a:extLst>
              <a:ext uri="{FF2B5EF4-FFF2-40B4-BE49-F238E27FC236}">
                <a16:creationId xmlns:a16="http://schemas.microsoft.com/office/drawing/2014/main" id="{5CC2CB0A-600D-9790-5E8B-D5E8307C2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69243"/>
            <a:ext cx="6324600" cy="371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4">
            <a:extLst>
              <a:ext uri="{FF2B5EF4-FFF2-40B4-BE49-F238E27FC236}">
                <a16:creationId xmlns:a16="http://schemas.microsoft.com/office/drawing/2014/main" id="{2A777A9B-E5D2-590C-49CA-31B5ACACB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5103" y="1144666"/>
            <a:ext cx="5334000" cy="431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AutoShape 6">
            <a:extLst>
              <a:ext uri="{FF2B5EF4-FFF2-40B4-BE49-F238E27FC236}">
                <a16:creationId xmlns:a16="http://schemas.microsoft.com/office/drawing/2014/main" id="{177E3142-84F7-5DEE-685E-44B1DBFC131B}"/>
              </a:ext>
            </a:extLst>
          </p:cNvPr>
          <p:cNvSpPr>
            <a:spLocks noChangeArrowheads="1"/>
          </p:cNvSpPr>
          <p:nvPr/>
        </p:nvSpPr>
        <p:spPr bwMode="auto">
          <a:xfrm rot="20072214">
            <a:off x="10245213" y="-1"/>
            <a:ext cx="1946787" cy="1569243"/>
          </a:xfrm>
          <a:prstGeom prst="wedgeEllipseCallout">
            <a:avLst>
              <a:gd name="adj1" fmla="val -47167"/>
              <a:gd name="adj2" fmla="val 77301"/>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zh-CN" altLang="en-US" dirty="0">
                <a:ea typeface="楷体" panose="02010609060101010101" pitchFamily="49" charset="-122"/>
              </a:rPr>
              <a:t>酶恢复到原来的状态</a:t>
            </a:r>
          </a:p>
        </p:txBody>
      </p:sp>
      <p:sp>
        <p:nvSpPr>
          <p:cNvPr id="4" name="AutoShape 7">
            <a:extLst>
              <a:ext uri="{FF2B5EF4-FFF2-40B4-BE49-F238E27FC236}">
                <a16:creationId xmlns:a16="http://schemas.microsoft.com/office/drawing/2014/main" id="{EF2C3D1E-864F-9A67-5254-8CF384B5CA3C}"/>
              </a:ext>
            </a:extLst>
          </p:cNvPr>
          <p:cNvSpPr>
            <a:spLocks noChangeArrowheads="1"/>
          </p:cNvSpPr>
          <p:nvPr/>
        </p:nvSpPr>
        <p:spPr bwMode="auto">
          <a:xfrm rot="11838134">
            <a:off x="7358728" y="4880054"/>
            <a:ext cx="2063750" cy="1709737"/>
          </a:xfrm>
          <a:prstGeom prst="wedgeEllipseCallout">
            <a:avLst>
              <a:gd name="adj1" fmla="val -45764"/>
              <a:gd name="adj2" fmla="val 5767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zh-CN">
                <a:latin typeface="Times New Roman" panose="02020603050405020304" pitchFamily="18" charset="0"/>
                <a:ea typeface="楷体" panose="02010609060101010101" pitchFamily="49" charset="-122"/>
                <a:cs typeface="Times New Roman" panose="02020603050405020304" pitchFamily="18" charset="0"/>
              </a:rPr>
              <a:t>N</a:t>
            </a:r>
            <a:r>
              <a:rPr lang="zh-CN" altLang="en-US">
                <a:latin typeface="Times New Roman" panose="02020603050405020304" pitchFamily="18" charset="0"/>
                <a:ea typeface="楷体" panose="02010609060101010101" pitchFamily="49" charset="-122"/>
                <a:cs typeface="Times New Roman" panose="02020603050405020304" pitchFamily="18" charset="0"/>
              </a:rPr>
              <a:t>端产物释放出来</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19B8A93-5E51-7C5A-5C7A-2DA3197C56AE}"/>
              </a:ext>
            </a:extLst>
          </p:cNvPr>
          <p:cNvSpPr>
            <a:spLocks noChangeArrowheads="1"/>
          </p:cNvSpPr>
          <p:nvPr/>
        </p:nvSpPr>
        <p:spPr bwMode="auto">
          <a:xfrm>
            <a:off x="1524000" y="-365125"/>
            <a:ext cx="18415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9pPr>
          </a:lstStyle>
          <a:p>
            <a:pPr>
              <a:spcBef>
                <a:spcPct val="0"/>
              </a:spcBef>
              <a:buFontTx/>
              <a:buNone/>
            </a:pPr>
            <a:endParaRPr lang="zh-CN" altLang="en-US" sz="7200" b="1">
              <a:latin typeface="Arial" panose="020B0604020202020204" pitchFamily="34" charset="0"/>
            </a:endParaRPr>
          </a:p>
        </p:txBody>
      </p:sp>
      <p:sp>
        <p:nvSpPr>
          <p:cNvPr id="40963" name="Rectangle 5">
            <a:extLst>
              <a:ext uri="{FF2B5EF4-FFF2-40B4-BE49-F238E27FC236}">
                <a16:creationId xmlns:a16="http://schemas.microsoft.com/office/drawing/2014/main" id="{75CF1772-7527-9C73-5D6F-5625162DDE60}"/>
              </a:ext>
            </a:extLst>
          </p:cNvPr>
          <p:cNvSpPr>
            <a:spLocks noChangeArrowheads="1"/>
          </p:cNvSpPr>
          <p:nvPr/>
        </p:nvSpPr>
        <p:spPr bwMode="auto">
          <a:xfrm>
            <a:off x="1524000" y="-365125"/>
            <a:ext cx="184150"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Times"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panose="02020603050405020304" pitchFamily="18" charset="0"/>
                <a:ea typeface="宋体" panose="02010600030101010101" pitchFamily="2" charset="-122"/>
              </a:defRPr>
            </a:lvl9pPr>
          </a:lstStyle>
          <a:p>
            <a:pPr>
              <a:spcBef>
                <a:spcPct val="0"/>
              </a:spcBef>
              <a:buFontTx/>
              <a:buNone/>
            </a:pPr>
            <a:endParaRPr lang="zh-CN" altLang="en-US" sz="7200" b="1">
              <a:latin typeface="Arial" panose="020B0604020202020204" pitchFamily="34" charset="0"/>
            </a:endParaRPr>
          </a:p>
        </p:txBody>
      </p:sp>
      <p:pic>
        <p:nvPicPr>
          <p:cNvPr id="40964" name="Picture 8" descr="10-15">
            <a:extLst>
              <a:ext uri="{FF2B5EF4-FFF2-40B4-BE49-F238E27FC236}">
                <a16:creationId xmlns:a16="http://schemas.microsoft.com/office/drawing/2014/main" id="{07D20AB1-0EA8-3DA0-A2A2-A1F3EC83B9B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380983" y="570273"/>
            <a:ext cx="11430034" cy="4112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9">
            <a:extLst>
              <a:ext uri="{FF2B5EF4-FFF2-40B4-BE49-F238E27FC236}">
                <a16:creationId xmlns:a16="http://schemas.microsoft.com/office/drawing/2014/main" id="{3596DB71-6524-226D-1869-DD9B0139A781}"/>
              </a:ext>
            </a:extLst>
          </p:cNvPr>
          <p:cNvSpPr>
            <a:spLocks noChangeArrowheads="1"/>
          </p:cNvSpPr>
          <p:nvPr/>
        </p:nvSpPr>
        <p:spPr bwMode="auto">
          <a:xfrm>
            <a:off x="3384755" y="5523272"/>
            <a:ext cx="5772150" cy="396875"/>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zh-CN" altLang="en-US" sz="2000" dirty="0">
                <a:ea typeface="楷体" panose="02010609060101010101" pitchFamily="49" charset="-122"/>
              </a:rPr>
              <a:t>胰凝乳蛋白酶催化的四面体中间物的形成及其稳定</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grayscl/>
            <a:lum bright="78000" contrast="-18000"/>
            <a:extLst>
              <a:ext uri="{28A0092B-C50C-407E-A947-70E740481C1C}">
                <a14:useLocalDpi xmlns:a14="http://schemas.microsoft.com/office/drawing/2010/main" val="0"/>
              </a:ext>
            </a:extLst>
          </a:blip>
          <a:stretch>
            <a:fillRect/>
          </a:stretch>
        </p:blipFill>
        <p:spPr>
          <a:xfrm>
            <a:off x="0" y="-55880"/>
            <a:ext cx="12253595" cy="6913880"/>
          </a:xfrm>
          <a:prstGeom prst="rect">
            <a:avLst/>
          </a:prstGeom>
        </p:spPr>
      </p:pic>
      <p:grpSp>
        <p:nvGrpSpPr>
          <p:cNvPr id="14" name="组合 13"/>
          <p:cNvGrpSpPr/>
          <p:nvPr/>
        </p:nvGrpSpPr>
        <p:grpSpPr>
          <a:xfrm>
            <a:off x="1458595" y="2236035"/>
            <a:ext cx="9144000" cy="1809759"/>
            <a:chOff x="170694" y="178257"/>
            <a:chExt cx="3936004" cy="779005"/>
          </a:xfrm>
        </p:grpSpPr>
        <p:sp>
          <p:nvSpPr>
            <p:cNvPr id="17" name="矩形 16"/>
            <p:cNvSpPr/>
            <p:nvPr/>
          </p:nvSpPr>
          <p:spPr>
            <a:xfrm>
              <a:off x="170694" y="261768"/>
              <a:ext cx="3936004" cy="611981"/>
            </a:xfrm>
            <a:prstGeom prst="rect">
              <a:avLst/>
            </a:prstGeom>
            <a:solidFill>
              <a:srgbClr val="C4C7CB"/>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4CA6C6"/>
                </a:solidFill>
              </a:endParaRPr>
            </a:p>
          </p:txBody>
        </p:sp>
        <p:sp>
          <p:nvSpPr>
            <p:cNvPr id="18" name="平行四边形 17"/>
            <p:cNvSpPr/>
            <p:nvPr/>
          </p:nvSpPr>
          <p:spPr>
            <a:xfrm>
              <a:off x="376965" y="178257"/>
              <a:ext cx="1036076" cy="779005"/>
            </a:xfrm>
            <a:prstGeom prst="parallelogram">
              <a:avLst>
                <a:gd name="adj" fmla="val 48207"/>
              </a:avLst>
            </a:prstGeom>
            <a:solidFill>
              <a:srgbClr val="3381C7"/>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19" name="文本框 18"/>
            <p:cNvSpPr txBox="1"/>
            <p:nvPr/>
          </p:nvSpPr>
          <p:spPr>
            <a:xfrm>
              <a:off x="608573" y="261897"/>
              <a:ext cx="662834" cy="559241"/>
            </a:xfrm>
            <a:prstGeom prst="rect">
              <a:avLst/>
            </a:prstGeom>
            <a:noFill/>
          </p:spPr>
          <p:txBody>
            <a:bodyPr wrap="square" lIns="68580" tIns="34290" rIns="68580" bIns="34290" rtlCol="0">
              <a:spAutoFit/>
            </a:bodyPr>
            <a:lstStyle/>
            <a:p>
              <a:r>
                <a:rPr lang="en-US" altLang="zh-CN" sz="8000" dirty="0">
                  <a:solidFill>
                    <a:schemeClr val="bg1">
                      <a:lumMod val="95000"/>
                    </a:schemeClr>
                  </a:solidFill>
                  <a:latin typeface="Impact" panose="020B0806030902050204" pitchFamily="34" charset="0"/>
                </a:rPr>
                <a:t>8.3</a:t>
              </a:r>
              <a:endParaRPr lang="zh-CN" altLang="en-US" sz="8000" dirty="0">
                <a:solidFill>
                  <a:schemeClr val="bg1">
                    <a:lumMod val="95000"/>
                  </a:schemeClr>
                </a:solidFill>
                <a:latin typeface="Impact" panose="020B0806030902050204" pitchFamily="34" charset="0"/>
              </a:endParaRPr>
            </a:p>
          </p:txBody>
        </p:sp>
      </p:grpSp>
      <p:sp>
        <p:nvSpPr>
          <p:cNvPr id="20" name="TextBox 48"/>
          <p:cNvSpPr txBox="1"/>
          <p:nvPr/>
        </p:nvSpPr>
        <p:spPr>
          <a:xfrm>
            <a:off x="4965065" y="2737486"/>
            <a:ext cx="6250940" cy="807085"/>
          </a:xfrm>
          <a:prstGeom prst="rect">
            <a:avLst/>
          </a:prstGeom>
          <a:noFill/>
        </p:spPr>
        <p:txBody>
          <a:bodyPr wrap="square" lIns="68584" tIns="34291" rIns="68584" bIns="34291" rtlCol="0">
            <a:spAutoFit/>
          </a:bodyPr>
          <a:lstStyle/>
          <a:p>
            <a:r>
              <a:rPr lang="zh-CN" altLang="en-US" sz="4800" b="1" dirty="0">
                <a:solidFill>
                  <a:schemeClr val="tx1">
                    <a:lumMod val="75000"/>
                    <a:lumOff val="25000"/>
                  </a:schemeClr>
                </a:solidFill>
                <a:latin typeface="微软雅黑" panose="020B0503020204020204" pitchFamily="34" charset="-122"/>
                <a:ea typeface="微软雅黑" panose="020B0503020204020204" pitchFamily="34" charset="-122"/>
              </a:rPr>
              <a:t>酶活性的调节</a:t>
            </a:r>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964112" y="11195"/>
            <a:ext cx="3877985"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一、酶活性的调节</a:t>
            </a:r>
            <a:endParaRPr lang="zh-CN" altLang="en-US" sz="36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2018665" y="1041400"/>
            <a:ext cx="7623810"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p:nvSpPr>
        <p:spPr>
          <a:xfrm>
            <a:off x="830826" y="1332864"/>
            <a:ext cx="10530347" cy="1308884"/>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sym typeface="+mn-ea"/>
              </a:rPr>
              <a:t>调节酶催化活性，响应某些信号增加或降低，使细胞能够满足不断变化的能量和生物分子需求。</a:t>
            </a:r>
          </a:p>
        </p:txBody>
      </p:sp>
      <p:sp>
        <p:nvSpPr>
          <p:cNvPr id="8" name="文本框 7"/>
          <p:cNvSpPr txBox="1"/>
          <p:nvPr/>
        </p:nvSpPr>
        <p:spPr>
          <a:xfrm>
            <a:off x="3990656" y="2933212"/>
            <a:ext cx="4210685" cy="2676525"/>
          </a:xfrm>
          <a:prstGeom prst="rect">
            <a:avLst/>
          </a:prstGeom>
          <a:noFill/>
        </p:spPr>
        <p:txBody>
          <a:bodyPr wrap="square" rtlCol="0" anchor="t">
            <a:spAutoFit/>
          </a:bodyPr>
          <a:lstStyle/>
          <a:p>
            <a:pPr marL="285750" indent="-285750">
              <a:lnSpc>
                <a:spcPct val="150000"/>
              </a:lnSpc>
              <a:buClr>
                <a:srgbClr val="000000"/>
              </a:buClr>
              <a:buFont typeface="Arial" panose="020B0604020202020204" pitchFamily="34" charset="0"/>
              <a:buChar char="•"/>
            </a:pPr>
            <a:r>
              <a:rPr lang="zh-CN" altLang="zh-CN" sz="2800" b="1" dirty="0">
                <a:latin typeface="微软雅黑" panose="020B0503020204020204" pitchFamily="34" charset="-122"/>
                <a:ea typeface="微软雅黑" panose="020B0503020204020204" pitchFamily="34" charset="-122"/>
                <a:sym typeface="+mn-ea"/>
              </a:rPr>
              <a:t>别构调节</a:t>
            </a:r>
          </a:p>
          <a:p>
            <a:pPr marL="285750" indent="-285750">
              <a:lnSpc>
                <a:spcPct val="150000"/>
              </a:lnSpc>
              <a:buClr>
                <a:srgbClr val="000000"/>
              </a:buClr>
              <a:buFont typeface="Arial" panose="020B0604020202020204" pitchFamily="34" charset="0"/>
              <a:buChar char="•"/>
            </a:pPr>
            <a:r>
              <a:rPr lang="zh-CN" altLang="zh-CN" sz="2800" b="1" dirty="0">
                <a:latin typeface="微软雅黑" panose="020B0503020204020204" pitchFamily="34" charset="-122"/>
                <a:ea typeface="微软雅黑" panose="020B0503020204020204" pitchFamily="34" charset="-122"/>
                <a:sym typeface="+mn-ea"/>
              </a:rPr>
              <a:t>共价修饰调节</a:t>
            </a:r>
          </a:p>
          <a:p>
            <a:pPr marL="285750" indent="-285750">
              <a:lnSpc>
                <a:spcPct val="150000"/>
              </a:lnSpc>
              <a:buClr>
                <a:srgbClr val="000000"/>
              </a:buClr>
              <a:buFont typeface="Arial" panose="020B0604020202020204" pitchFamily="34" charset="0"/>
              <a:buChar char="•"/>
            </a:pPr>
            <a:r>
              <a:rPr lang="zh-CN" altLang="zh-CN" sz="2800" b="1" dirty="0">
                <a:latin typeface="微软雅黑" panose="020B0503020204020204" pitchFamily="34" charset="-122"/>
                <a:ea typeface="微软雅黑" panose="020B0503020204020204" pitchFamily="34" charset="-122"/>
                <a:sym typeface="+mn-ea"/>
              </a:rPr>
              <a:t>水解激活</a:t>
            </a:r>
          </a:p>
          <a:p>
            <a:pPr marL="285750" indent="-285750">
              <a:lnSpc>
                <a:spcPct val="150000"/>
              </a:lnSpc>
              <a:buClr>
                <a:srgbClr val="000000"/>
              </a:buClr>
              <a:buFont typeface="Arial" panose="020B0604020202020204" pitchFamily="34" charset="0"/>
              <a:buChar char="•"/>
            </a:pPr>
            <a:endParaRPr lang="zh-CN" altLang="zh-CN" sz="2800" b="1" dirty="0">
              <a:latin typeface="微软雅黑" panose="020B0503020204020204" pitchFamily="34" charset="-122"/>
              <a:ea typeface="微软雅黑" panose="020B0503020204020204" pitchFamily="34" charset="-122"/>
              <a:sym typeface="+mn-ea"/>
            </a:endParaRPr>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932476" y="0"/>
            <a:ext cx="341632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（一）别构调节</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395379" y="1383296"/>
            <a:ext cx="11472156" cy="5474704"/>
          </a:xfrm>
          <a:prstGeom prst="rect">
            <a:avLst/>
          </a:prstGeom>
          <a:noFill/>
        </p:spPr>
        <p:txBody>
          <a:bodyPr wrap="square" rtlCol="0" anchor="ctr" anchorCtr="0">
            <a:spAutoFit/>
          </a:bodyPr>
          <a:lstStyle/>
          <a:p>
            <a:pPr marL="285750" indent="-285750">
              <a:lnSpc>
                <a:spcPct val="150000"/>
              </a:lnSpc>
              <a:spcBef>
                <a:spcPts val="1200"/>
              </a:spcBef>
              <a:buClr>
                <a:srgbClr val="000000"/>
              </a:buClr>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一些酶（多亚基）除了</a:t>
            </a:r>
            <a:r>
              <a:rPr lang="zh-CN" altLang="zh-CN" sz="2400" u="sng" dirty="0">
                <a:latin typeface="微软雅黑" panose="020B0503020204020204" pitchFamily="34" charset="-122"/>
                <a:ea typeface="微软雅黑" panose="020B0503020204020204" pitchFamily="34" charset="-122"/>
                <a:cs typeface="微软雅黑" panose="020B0503020204020204" pitchFamily="34" charset="-122"/>
                <a:sym typeface="+mn-ea"/>
              </a:rPr>
              <a:t>活性中心</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以外，还含有</a:t>
            </a:r>
            <a:r>
              <a:rPr lang="zh-CN" altLang="zh-CN" sz="2400" b="1"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别构中心</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，能够结合一些特殊的配体（有时为底物）。</a:t>
            </a:r>
            <a:r>
              <a:rPr lang="zh-CN" altLang="zh-CN" sz="2400"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结合配体</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以后，</a:t>
            </a:r>
            <a:r>
              <a:rPr lang="zh-CN" altLang="zh-CN" sz="2400"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酶构象发生改变</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，从而影响到活性中心与底物的亲和力，并</a:t>
            </a:r>
            <a:r>
              <a:rPr lang="zh-CN" altLang="zh-CN" sz="2400" u="sng"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最终导致酶活性发生变化</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indent="-285750">
              <a:lnSpc>
                <a:spcPct val="150000"/>
              </a:lnSpc>
              <a:spcBef>
                <a:spcPts val="1200"/>
              </a:spcBef>
              <a:buClr>
                <a:srgbClr val="000000"/>
              </a:buClr>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能够进行别构调节的酶称为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别构酶</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，配体分子称为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别构效应物</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。起抑制作用的称为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别构抑制剂</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，起激活作用的称为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别构激活剂</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p>
          <a:p>
            <a:pPr marL="285750" indent="-285750">
              <a:lnSpc>
                <a:spcPct val="150000"/>
              </a:lnSpc>
              <a:spcBef>
                <a:spcPts val="1200"/>
              </a:spcBef>
              <a:buClr>
                <a:srgbClr val="000000"/>
              </a:buClr>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由底物作为别构效应物称为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同促效应</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，否则，就称为</a:t>
            </a:r>
            <a:r>
              <a:rPr lang="zh-CN" altLang="zh-CN" sz="2400" b="1" dirty="0">
                <a:latin typeface="微软雅黑" panose="020B0503020204020204" pitchFamily="34" charset="-122"/>
                <a:ea typeface="微软雅黑" panose="020B0503020204020204" pitchFamily="34" charset="-122"/>
                <a:cs typeface="微软雅黑" panose="020B0503020204020204" pitchFamily="34" charset="-122"/>
                <a:sym typeface="+mn-ea"/>
              </a:rPr>
              <a:t>异促效应</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。许多别构酶具有多个别构中心，能够与不同的别构效应物结合。</a:t>
            </a:r>
          </a:p>
          <a:p>
            <a:pPr marL="285750" indent="-285750">
              <a:lnSpc>
                <a:spcPct val="150000"/>
              </a:lnSpc>
              <a:spcBef>
                <a:spcPts val="1200"/>
              </a:spcBef>
              <a:buClr>
                <a:srgbClr val="000000"/>
              </a:buClr>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Clr>
                <a:srgbClr val="000000"/>
              </a:buClr>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rcRect l="1631" r="2370"/>
          <a:stretch>
            <a:fillRect/>
          </a:stretch>
        </p:blipFill>
        <p:spPr>
          <a:xfrm>
            <a:off x="2940685" y="1350645"/>
            <a:ext cx="4784090" cy="4975860"/>
          </a:xfrm>
          <a:prstGeom prst="rect">
            <a:avLst/>
          </a:prstGeom>
        </p:spPr>
      </p:pic>
      <p:sp>
        <p:nvSpPr>
          <p:cNvPr id="3" name="矩形 2"/>
          <p:cNvSpPr/>
          <p:nvPr/>
        </p:nvSpPr>
        <p:spPr>
          <a:xfrm>
            <a:off x="3795497" y="-57693"/>
            <a:ext cx="341632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（一）别构调节</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2018665" y="1041400"/>
            <a:ext cx="7623810"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292" name="矩形 6"/>
          <p:cNvSpPr/>
          <p:nvPr/>
        </p:nvSpPr>
        <p:spPr>
          <a:xfrm>
            <a:off x="3181350" y="1350645"/>
            <a:ext cx="1029970" cy="381258"/>
          </a:xfrm>
          <a:prstGeom prst="rect">
            <a:avLst/>
          </a:prstGeom>
          <a:noFill/>
          <a:ln w="9525">
            <a:noFill/>
          </a:ln>
          <a:extLst>
            <a:ext uri="{909E8E84-426E-40DD-AFC4-6F175D3DCCD1}">
              <a14:hiddenFill xmlns:a14="http://schemas.microsoft.com/office/drawing/2010/main">
                <a:solidFill>
                  <a:schemeClr val="accent2"/>
                </a:solidFill>
              </a14:hiddenFill>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indent="0">
              <a:lnSpc>
                <a:spcPct val="130000"/>
              </a:lnSpc>
              <a:spcBef>
                <a:spcPts val="600"/>
              </a:spcBef>
              <a:buNone/>
            </a:pPr>
            <a:r>
              <a:rPr lang="zh-CN" altLang="en-US" sz="1600" b="1" dirty="0">
                <a:latin typeface="微软雅黑" panose="020B0503020204020204" pitchFamily="34" charset="-122"/>
                <a:ea typeface="微软雅黑" panose="020B0503020204020204" pitchFamily="34" charset="-122"/>
              </a:rPr>
              <a:t>催化亚基</a:t>
            </a:r>
          </a:p>
        </p:txBody>
      </p:sp>
      <p:sp>
        <p:nvSpPr>
          <p:cNvPr id="6" name="矩形 6"/>
          <p:cNvSpPr/>
          <p:nvPr/>
        </p:nvSpPr>
        <p:spPr>
          <a:xfrm>
            <a:off x="4416425" y="1353820"/>
            <a:ext cx="1029970" cy="381258"/>
          </a:xfrm>
          <a:prstGeom prst="rect">
            <a:avLst/>
          </a:prstGeom>
          <a:noFill/>
          <a:ln w="9525">
            <a:noFill/>
          </a:ln>
          <a:extLst>
            <a:ext uri="{909E8E84-426E-40DD-AFC4-6F175D3DCCD1}">
              <a14:hiddenFill xmlns:a14="http://schemas.microsoft.com/office/drawing/2010/main">
                <a:solidFill>
                  <a:schemeClr val="accent2"/>
                </a:solidFill>
              </a14:hiddenFill>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indent="0">
              <a:lnSpc>
                <a:spcPct val="130000"/>
              </a:lnSpc>
              <a:spcBef>
                <a:spcPts val="600"/>
              </a:spcBef>
              <a:buNone/>
            </a:pPr>
            <a:r>
              <a:rPr lang="zh-CN" altLang="en-US" sz="1600" b="1" dirty="0">
                <a:latin typeface="微软雅黑" panose="020B0503020204020204" pitchFamily="34" charset="-122"/>
                <a:ea typeface="微软雅黑" panose="020B0503020204020204" pitchFamily="34" charset="-122"/>
              </a:rPr>
              <a:t>调节亚基</a:t>
            </a:r>
          </a:p>
        </p:txBody>
      </p:sp>
      <p:sp>
        <p:nvSpPr>
          <p:cNvPr id="7" name="文本框 6"/>
          <p:cNvSpPr txBox="1"/>
          <p:nvPr/>
        </p:nvSpPr>
        <p:spPr>
          <a:xfrm>
            <a:off x="7724775" y="1433195"/>
            <a:ext cx="1082348" cy="700576"/>
          </a:xfrm>
          <a:prstGeom prst="rect">
            <a:avLst/>
          </a:prstGeom>
          <a:noFill/>
        </p:spPr>
        <p:txBody>
          <a:bodyPr wrap="none" rtlCol="0" anchor="t">
            <a:spAutoFit/>
          </a:bodyPr>
          <a:lstStyle/>
          <a:p>
            <a:pPr>
              <a:lnSpc>
                <a:spcPct val="150000"/>
              </a:lnSpc>
            </a:pPr>
            <a:r>
              <a:rPr lang="zh-CN" altLang="zh-CN" sz="1400" b="1" dirty="0">
                <a:latin typeface="微软雅黑" panose="020B0503020204020204" pitchFamily="34" charset="-122"/>
                <a:ea typeface="微软雅黑" panose="020B0503020204020204" pitchFamily="34" charset="-122"/>
                <a:cs typeface="微软雅黑" panose="020B0503020204020204" pitchFamily="34" charset="-122"/>
                <a:sym typeface="+mn-ea"/>
              </a:rPr>
              <a:t>别构激活剂</a:t>
            </a:r>
          </a:p>
          <a:p>
            <a:pPr>
              <a:lnSpc>
                <a:spcPct val="150000"/>
              </a:lnSpc>
            </a:pPr>
            <a:r>
              <a:rPr lang="zh-CN" altLang="en-US" sz="1400" b="1" dirty="0">
                <a:latin typeface="微软雅黑" panose="020B0503020204020204" pitchFamily="34" charset="-122"/>
                <a:ea typeface="微软雅黑" panose="020B0503020204020204" pitchFamily="34" charset="-122"/>
              </a:rPr>
              <a:t>底物</a:t>
            </a:r>
          </a:p>
        </p:txBody>
      </p:sp>
      <p:sp>
        <p:nvSpPr>
          <p:cNvPr id="8" name="文本框 7"/>
          <p:cNvSpPr txBox="1"/>
          <p:nvPr/>
        </p:nvSpPr>
        <p:spPr>
          <a:xfrm>
            <a:off x="6134736" y="2650491"/>
            <a:ext cx="902811" cy="377411"/>
          </a:xfrm>
          <a:prstGeom prst="rect">
            <a:avLst/>
          </a:prstGeom>
          <a:noFill/>
        </p:spPr>
        <p:txBody>
          <a:bodyPr wrap="none" rtlCol="0" anchor="t">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低活性酶</a:t>
            </a:r>
          </a:p>
        </p:txBody>
      </p:sp>
      <p:sp>
        <p:nvSpPr>
          <p:cNvPr id="9" name="文本框 8"/>
          <p:cNvSpPr txBox="1"/>
          <p:nvPr/>
        </p:nvSpPr>
        <p:spPr>
          <a:xfrm>
            <a:off x="6243956" y="3749676"/>
            <a:ext cx="902811" cy="377411"/>
          </a:xfrm>
          <a:prstGeom prst="rect">
            <a:avLst/>
          </a:prstGeom>
          <a:noFill/>
        </p:spPr>
        <p:txBody>
          <a:bodyPr wrap="none" rtlCol="0" anchor="t">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高活性酶</a:t>
            </a:r>
          </a:p>
        </p:txBody>
      </p:sp>
      <p:sp>
        <p:nvSpPr>
          <p:cNvPr id="10" name="文本框 9"/>
          <p:cNvSpPr txBox="1"/>
          <p:nvPr/>
        </p:nvSpPr>
        <p:spPr>
          <a:xfrm>
            <a:off x="6362065" y="5302251"/>
            <a:ext cx="1699504" cy="377411"/>
          </a:xfrm>
          <a:prstGeom prst="rect">
            <a:avLst/>
          </a:prstGeom>
          <a:noFill/>
        </p:spPr>
        <p:txBody>
          <a:bodyPr wrap="none" rtlCol="0" anchor="t">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活性酶</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底物复合体</a:t>
            </a: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425777" y="11195"/>
            <a:ext cx="2954655"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别构调节实例</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pic>
        <p:nvPicPr>
          <p:cNvPr id="6" name="图片 5"/>
          <p:cNvPicPr>
            <a:picLocks noChangeAspect="1"/>
          </p:cNvPicPr>
          <p:nvPr/>
        </p:nvPicPr>
        <p:blipFill>
          <a:blip r:embed="rId3"/>
          <a:stretch>
            <a:fillRect/>
          </a:stretch>
        </p:blipFill>
        <p:spPr>
          <a:xfrm>
            <a:off x="787401" y="4307417"/>
            <a:ext cx="5650654" cy="1715602"/>
          </a:xfrm>
          <a:prstGeom prst="rect">
            <a:avLst/>
          </a:prstGeom>
        </p:spPr>
      </p:pic>
      <p:pic>
        <p:nvPicPr>
          <p:cNvPr id="8" name="图片 7"/>
          <p:cNvPicPr>
            <a:picLocks noChangeAspect="1"/>
          </p:cNvPicPr>
          <p:nvPr/>
        </p:nvPicPr>
        <p:blipFill>
          <a:blip r:embed="rId4"/>
          <a:stretch>
            <a:fillRect/>
          </a:stretch>
        </p:blipFill>
        <p:spPr>
          <a:xfrm>
            <a:off x="472495" y="2000463"/>
            <a:ext cx="6200508" cy="2281781"/>
          </a:xfrm>
          <a:prstGeom prst="rect">
            <a:avLst/>
          </a:prstGeom>
        </p:spPr>
      </p:pic>
      <p:sp>
        <p:nvSpPr>
          <p:cNvPr id="13" name="文本框 12"/>
          <p:cNvSpPr txBox="1"/>
          <p:nvPr/>
        </p:nvSpPr>
        <p:spPr>
          <a:xfrm>
            <a:off x="6935470" y="887466"/>
            <a:ext cx="5112597" cy="6213368"/>
          </a:xfrm>
          <a:prstGeom prst="rect">
            <a:avLst/>
          </a:prstGeom>
          <a:noFill/>
        </p:spPr>
        <p:txBody>
          <a:bodyPr wrap="square" rtlCol="0" anchor="t">
            <a:spAutoFit/>
          </a:bodyPr>
          <a:lstStyle/>
          <a:p>
            <a:pPr>
              <a:lnSpc>
                <a:spcPct val="150000"/>
              </a:lnSpc>
            </a:pP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天冬氨酸氨甲酰转移酶：</a:t>
            </a: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催化</a:t>
            </a:r>
            <a:r>
              <a:rPr lang="en-US" altLang="zh-CN" sz="2400" dirty="0">
                <a:latin typeface="微软雅黑" panose="020B0503020204020204" pitchFamily="34" charset="-122"/>
                <a:ea typeface="微软雅黑" panose="020B0503020204020204" pitchFamily="34" charset="-122"/>
              </a:rPr>
              <a:t>CTP</a:t>
            </a:r>
            <a:r>
              <a:rPr lang="zh-CN" altLang="en-US" sz="2400" dirty="0">
                <a:latin typeface="微软雅黑" panose="020B0503020204020204" pitchFamily="34" charset="-122"/>
                <a:ea typeface="微软雅黑" panose="020B0503020204020204" pitchFamily="34" charset="-122"/>
              </a:rPr>
              <a:t>合成的早期步骤；</a:t>
            </a:r>
          </a:p>
          <a:p>
            <a:pPr marL="285750" indent="-285750">
              <a:lnSpc>
                <a:spcPct val="150000"/>
              </a:lnSpc>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12</a:t>
            </a:r>
            <a:r>
              <a:rPr lang="zh-CN" altLang="en-US" sz="2400" dirty="0">
                <a:latin typeface="微软雅黑" panose="020B0503020204020204" pitchFamily="34" charset="-122"/>
                <a:ea typeface="微软雅黑" panose="020B0503020204020204" pitchFamily="34" charset="-122"/>
              </a:rPr>
              <a:t>亚基，6个催化亚基和6个调节亚基；</a:t>
            </a: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ATP和CTP分别作为正调控因子和负调控因子（异促效应）。</a:t>
            </a: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底物也是别构效应物（同促效应），底物氨甲酰磷酸和天冬氨酸结合酶催化亚基的活性位点，增加了其他活性位点对底物的亲和力。</a:t>
            </a:r>
          </a:p>
          <a:p>
            <a:pPr marL="285750" indent="-28575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787401" y="1463329"/>
            <a:ext cx="1210588" cy="499624"/>
          </a:xfrm>
          <a:prstGeom prst="rect">
            <a:avLst/>
          </a:prstGeom>
          <a:noFill/>
        </p:spPr>
        <p:txBody>
          <a:bodyPr wrap="none" rtlCol="0">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非活化态</a:t>
            </a:r>
          </a:p>
        </p:txBody>
      </p:sp>
      <p:sp>
        <p:nvSpPr>
          <p:cNvPr id="15" name="文本框 14"/>
          <p:cNvSpPr txBox="1"/>
          <p:nvPr/>
        </p:nvSpPr>
        <p:spPr>
          <a:xfrm>
            <a:off x="3803017" y="1463964"/>
            <a:ext cx="954107" cy="499624"/>
          </a:xfrm>
          <a:prstGeom prst="rect">
            <a:avLst/>
          </a:prstGeom>
          <a:noFill/>
        </p:spPr>
        <p:txBody>
          <a:bodyPr wrap="none" rtlCol="0">
            <a:spAutoFit/>
          </a:bodyPr>
          <a:lstStyle/>
          <a:p>
            <a:pPr>
              <a:lnSpc>
                <a:spcPct val="150000"/>
              </a:lnSpc>
            </a:pPr>
            <a:r>
              <a:rPr lang="zh-CN" altLang="en-US" sz="2000" b="1" dirty="0">
                <a:solidFill>
                  <a:srgbClr val="FF0000"/>
                </a:solidFill>
                <a:latin typeface="微软雅黑" panose="020B0503020204020204" pitchFamily="34" charset="-122"/>
                <a:ea typeface="微软雅黑" panose="020B0503020204020204" pitchFamily="34" charset="-122"/>
              </a:rPr>
              <a:t>活化态</a:t>
            </a:r>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QQ截图20220325222344"/>
          <p:cNvPicPr>
            <a:picLocks noChangeAspect="1"/>
          </p:cNvPicPr>
          <p:nvPr/>
        </p:nvPicPr>
        <p:blipFill>
          <a:blip r:embed="rId3"/>
          <a:srcRect b="3018"/>
          <a:stretch>
            <a:fillRect/>
          </a:stretch>
        </p:blipFill>
        <p:spPr>
          <a:xfrm>
            <a:off x="1940560" y="923290"/>
            <a:ext cx="8230870" cy="5792470"/>
          </a:xfrm>
          <a:prstGeom prst="rect">
            <a:avLst/>
          </a:prstGeom>
        </p:spPr>
      </p:pic>
      <p:sp>
        <p:nvSpPr>
          <p:cNvPr id="3" name="矩形 2"/>
          <p:cNvSpPr/>
          <p:nvPr/>
        </p:nvSpPr>
        <p:spPr>
          <a:xfrm>
            <a:off x="3733278" y="11195"/>
            <a:ext cx="433965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（二）共价修饰调节</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2018665" y="1041400"/>
            <a:ext cx="7623810"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nvSpPr>
        <p:spPr>
          <a:xfrm>
            <a:off x="3283586" y="1443991"/>
            <a:ext cx="723275"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磷酸化</a:t>
            </a:r>
          </a:p>
        </p:txBody>
      </p:sp>
      <p:sp>
        <p:nvSpPr>
          <p:cNvPr id="9" name="文本框 8"/>
          <p:cNvSpPr txBox="1"/>
          <p:nvPr/>
        </p:nvSpPr>
        <p:spPr>
          <a:xfrm>
            <a:off x="3174366" y="2570481"/>
            <a:ext cx="955711"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 腺苷酰化</a:t>
            </a:r>
          </a:p>
        </p:txBody>
      </p:sp>
      <p:sp>
        <p:nvSpPr>
          <p:cNvPr id="11" name="文本框 10"/>
          <p:cNvSpPr txBox="1"/>
          <p:nvPr/>
        </p:nvSpPr>
        <p:spPr>
          <a:xfrm>
            <a:off x="3053081" y="4159886"/>
            <a:ext cx="776175"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 乙酰化</a:t>
            </a:r>
          </a:p>
        </p:txBody>
      </p:sp>
      <p:sp>
        <p:nvSpPr>
          <p:cNvPr id="12" name="文本框 11"/>
          <p:cNvSpPr txBox="1"/>
          <p:nvPr/>
        </p:nvSpPr>
        <p:spPr>
          <a:xfrm>
            <a:off x="3174366" y="5222241"/>
            <a:ext cx="1135247"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 十四烷酰化</a:t>
            </a:r>
          </a:p>
        </p:txBody>
      </p:sp>
      <p:sp>
        <p:nvSpPr>
          <p:cNvPr id="13" name="文本框 12"/>
          <p:cNvSpPr txBox="1"/>
          <p:nvPr/>
        </p:nvSpPr>
        <p:spPr>
          <a:xfrm>
            <a:off x="7380606" y="878841"/>
            <a:ext cx="776175"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 泛素化</a:t>
            </a:r>
          </a:p>
        </p:txBody>
      </p:sp>
      <p:sp>
        <p:nvSpPr>
          <p:cNvPr id="15" name="文本框 14"/>
          <p:cNvSpPr txBox="1"/>
          <p:nvPr/>
        </p:nvSpPr>
        <p:spPr>
          <a:xfrm>
            <a:off x="7462521" y="2984501"/>
            <a:ext cx="1298753"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ADP核糖基化</a:t>
            </a:r>
          </a:p>
        </p:txBody>
      </p:sp>
      <p:sp>
        <p:nvSpPr>
          <p:cNvPr id="16" name="文本框 15"/>
          <p:cNvSpPr txBox="1"/>
          <p:nvPr/>
        </p:nvSpPr>
        <p:spPr>
          <a:xfrm>
            <a:off x="7122161" y="5536566"/>
            <a:ext cx="723275"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甲基化</a:t>
            </a: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656608" y="11195"/>
            <a:ext cx="249299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磷酸化调节</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914401" y="1536700"/>
            <a:ext cx="10481732" cy="4369914"/>
          </a:xfrm>
          <a:prstGeom prst="rect">
            <a:avLst/>
          </a:prstGeom>
          <a:noFill/>
        </p:spPr>
        <p:txBody>
          <a:bodyPr wrap="square" rtlCol="0" anchor="t">
            <a:spAutoFit/>
          </a:bodyPr>
          <a:lstStyle/>
          <a:p>
            <a:pPr marL="285750" indent="-285750">
              <a:lnSpc>
                <a:spcPct val="150000"/>
              </a:lnSpc>
              <a:spcBef>
                <a:spcPts val="1200"/>
              </a:spcBef>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sym typeface="+mn-ea"/>
              </a:rPr>
              <a:t>磷酸化（去磷酸化）</a:t>
            </a:r>
            <a:r>
              <a:rPr lang="en-US" altLang="zh-CN" sz="2400" b="1" dirty="0">
                <a:latin typeface="Comic Sans MS" panose="030F0702030302020204" charset="0"/>
                <a:ea typeface="微软雅黑" panose="020B0503020204020204" pitchFamily="34" charset="-122"/>
                <a:cs typeface="Comic Sans MS" panose="030F0702030302020204" charset="0"/>
                <a:sym typeface="+mn-ea"/>
              </a:rPr>
              <a:t>,</a:t>
            </a:r>
            <a:r>
              <a:rPr lang="zh-CN" altLang="en-US" sz="2400" dirty="0">
                <a:latin typeface="Comic Sans MS" panose="030F0702030302020204" charset="0"/>
                <a:ea typeface="微软雅黑" panose="020B0503020204020204" pitchFamily="34" charset="-122"/>
                <a:cs typeface="Comic Sans MS" panose="030F0702030302020204" charset="0"/>
                <a:sym typeface="+mn-ea"/>
              </a:rPr>
              <a:t>是</a:t>
            </a:r>
            <a:r>
              <a:rPr lang="zh-CN" altLang="en-US" sz="2400" dirty="0">
                <a:latin typeface="Comic Sans MS" panose="030F0702030302020204" charset="0"/>
                <a:ea typeface="微软雅黑" panose="020B0503020204020204" pitchFamily="34" charset="-122"/>
                <a:cs typeface="Comic Sans MS" panose="030F0702030302020204" charset="0"/>
              </a:rPr>
              <a:t>最常见的酶活性调节类型。</a:t>
            </a:r>
          </a:p>
          <a:p>
            <a:pPr marL="285750" indent="-285750">
              <a:lnSpc>
                <a:spcPct val="150000"/>
              </a:lnSpc>
              <a:spcBef>
                <a:spcPts val="1200"/>
              </a:spcBef>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rPr>
              <a:t>磷酸化：</a:t>
            </a:r>
            <a:r>
              <a:rPr lang="zh-CN" altLang="en-US" sz="2400" dirty="0">
                <a:latin typeface="Comic Sans MS" panose="030F0702030302020204" charset="0"/>
                <a:ea typeface="微软雅黑" panose="020B0503020204020204" pitchFamily="34" charset="-122"/>
                <a:cs typeface="Comic Sans MS" panose="030F0702030302020204" charset="0"/>
              </a:rPr>
              <a:t>是由</a:t>
            </a:r>
            <a:r>
              <a:rPr lang="zh-CN" altLang="en-US" sz="2400" u="sng" dirty="0">
                <a:latin typeface="Comic Sans MS" panose="030F0702030302020204" charset="0"/>
                <a:ea typeface="微软雅黑" panose="020B0503020204020204" pitchFamily="34" charset="-122"/>
                <a:cs typeface="Comic Sans MS" panose="030F0702030302020204" charset="0"/>
              </a:rPr>
              <a:t>蛋白质</a:t>
            </a:r>
            <a:r>
              <a:rPr lang="zh-CN" altLang="en-US" sz="2400" u="sng" dirty="0">
                <a:solidFill>
                  <a:srgbClr val="FF0000"/>
                </a:solidFill>
                <a:latin typeface="Comic Sans MS" panose="030F0702030302020204" charset="0"/>
                <a:ea typeface="微软雅黑" panose="020B0503020204020204" pitchFamily="34" charset="-122"/>
                <a:cs typeface="Comic Sans MS" panose="030F0702030302020204" charset="0"/>
              </a:rPr>
              <a:t>激酶</a:t>
            </a:r>
            <a:r>
              <a:rPr lang="zh-CN" altLang="en-US" sz="2400" u="sng" dirty="0">
                <a:latin typeface="Comic Sans MS" panose="030F0702030302020204" charset="0"/>
                <a:ea typeface="微软雅黑" panose="020B0503020204020204" pitchFamily="34" charset="-122"/>
                <a:cs typeface="Comic Sans MS" panose="030F0702030302020204" charset="0"/>
              </a:rPr>
              <a:t>（ protein kinases）</a:t>
            </a:r>
            <a:r>
              <a:rPr lang="zh-CN" altLang="en-US" sz="2400" dirty="0">
                <a:latin typeface="Comic Sans MS" panose="030F0702030302020204" charset="0"/>
                <a:ea typeface="微软雅黑" panose="020B0503020204020204" pitchFamily="34" charset="-122"/>
                <a:cs typeface="Comic Sans MS" panose="030F0702030302020204" charset="0"/>
              </a:rPr>
              <a:t>催化的，在人类基因组中发现了500多个编码这些关键酶的基因。通常是将ATP的γ-磷酸基</a:t>
            </a:r>
            <a:r>
              <a:rPr lang="zh-CN" altLang="en-US" sz="2400" dirty="0">
                <a:latin typeface="Comic Sans MS" panose="030F0702030302020204" charset="0"/>
                <a:ea typeface="微软雅黑" panose="020B0503020204020204" pitchFamily="34" charset="-122"/>
                <a:cs typeface="Comic Sans MS" panose="030F0702030302020204" charset="0"/>
                <a:sym typeface="+mn-ea"/>
              </a:rPr>
              <a:t>(PO</a:t>
            </a:r>
            <a:r>
              <a:rPr lang="zh-CN" altLang="en-US" sz="2400" baseline="-25000" dirty="0">
                <a:latin typeface="Comic Sans MS" panose="030F0702030302020204" charset="0"/>
                <a:ea typeface="微软雅黑" panose="020B0503020204020204" pitchFamily="34" charset="-122"/>
                <a:cs typeface="Comic Sans MS" panose="030F0702030302020204" charset="0"/>
                <a:sym typeface="+mn-ea"/>
              </a:rPr>
              <a:t>3</a:t>
            </a:r>
            <a:r>
              <a:rPr lang="zh-CN" altLang="en-US" sz="2400" baseline="30000" dirty="0">
                <a:latin typeface="Comic Sans MS" panose="030F0702030302020204" charset="0"/>
                <a:ea typeface="微软雅黑" panose="020B0503020204020204" pitchFamily="34" charset="-122"/>
                <a:cs typeface="Comic Sans MS" panose="030F0702030302020204" charset="0"/>
                <a:sym typeface="+mn-ea"/>
              </a:rPr>
              <a:t>2−</a:t>
            </a:r>
            <a:r>
              <a:rPr lang="zh-CN" altLang="en-US" sz="2400" dirty="0">
                <a:latin typeface="Comic Sans MS" panose="030F0702030302020204" charset="0"/>
                <a:ea typeface="微软雅黑" panose="020B0503020204020204" pitchFamily="34" charset="-122"/>
                <a:cs typeface="Comic Sans MS" panose="030F0702030302020204" charset="0"/>
                <a:sym typeface="+mn-ea"/>
              </a:rPr>
              <a:t>)</a:t>
            </a:r>
            <a:r>
              <a:rPr lang="zh-CN" altLang="en-US" sz="2400" dirty="0">
                <a:latin typeface="Comic Sans MS" panose="030F0702030302020204" charset="0"/>
                <a:ea typeface="微软雅黑" panose="020B0503020204020204" pitchFamily="34" charset="-122"/>
                <a:cs typeface="Comic Sans MS" panose="030F0702030302020204" charset="0"/>
              </a:rPr>
              <a:t>，转移到目标蛋白（酶）上的特定丝氨酸、苏氨酸或酪氨酸残基(偶尔His)。</a:t>
            </a:r>
          </a:p>
          <a:p>
            <a:pPr marL="285750" indent="-285750">
              <a:lnSpc>
                <a:spcPct val="150000"/>
              </a:lnSpc>
              <a:spcBef>
                <a:spcPts val="1200"/>
              </a:spcBef>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rPr>
              <a:t>去除磷酸化：</a:t>
            </a:r>
            <a:r>
              <a:rPr lang="zh-CN" altLang="en-US" sz="2400" dirty="0">
                <a:latin typeface="Comic Sans MS" panose="030F0702030302020204" charset="0"/>
                <a:ea typeface="微软雅黑" panose="020B0503020204020204" pitchFamily="34" charset="-122"/>
                <a:cs typeface="Comic Sans MS" panose="030F0702030302020204" charset="0"/>
              </a:rPr>
              <a:t>是由</a:t>
            </a:r>
            <a:r>
              <a:rPr lang="zh-CN" altLang="en-US" sz="2400" u="sng" dirty="0">
                <a:latin typeface="Comic Sans MS" panose="030F0702030302020204" charset="0"/>
                <a:ea typeface="微软雅黑" panose="020B0503020204020204" pitchFamily="34" charset="-122"/>
                <a:cs typeface="Comic Sans MS" panose="030F0702030302020204" charset="0"/>
              </a:rPr>
              <a:t>磷蛋白</a:t>
            </a:r>
            <a:r>
              <a:rPr lang="zh-CN" altLang="en-US" sz="2400" u="sng" dirty="0">
                <a:solidFill>
                  <a:srgbClr val="FF0000"/>
                </a:solidFill>
                <a:latin typeface="Comic Sans MS" panose="030F0702030302020204" charset="0"/>
                <a:ea typeface="微软雅黑" panose="020B0503020204020204" pitchFamily="34" charset="-122"/>
                <a:cs typeface="Comic Sans MS" panose="030F0702030302020204" charset="0"/>
              </a:rPr>
              <a:t>磷酸酶</a:t>
            </a:r>
            <a:r>
              <a:rPr lang="zh-CN" altLang="en-US" sz="2400" u="sng" dirty="0">
                <a:latin typeface="Comic Sans MS" panose="030F0702030302020204" charset="0"/>
                <a:ea typeface="微软雅黑" panose="020B0503020204020204" pitchFamily="34" charset="-122"/>
                <a:cs typeface="Comic Sans MS" panose="030F0702030302020204" charset="0"/>
              </a:rPr>
              <a:t>（phosphoprotein phosphatases）</a:t>
            </a:r>
            <a:r>
              <a:rPr lang="zh-CN" altLang="en-US" sz="2400" dirty="0">
                <a:latin typeface="Comic Sans MS" panose="030F0702030302020204" charset="0"/>
                <a:ea typeface="微软雅黑" panose="020B0503020204020204" pitchFamily="34" charset="-122"/>
                <a:cs typeface="Comic Sans MS" panose="030F0702030302020204" charset="0"/>
              </a:rPr>
              <a:t>催化的。</a:t>
            </a:r>
          </a:p>
          <a:p>
            <a:pPr marL="285750" indent="-285750">
              <a:lnSpc>
                <a:spcPct val="150000"/>
              </a:lnSpc>
              <a:spcBef>
                <a:spcPts val="1200"/>
              </a:spcBef>
              <a:buFont typeface="Arial" panose="020B0604020202020204" pitchFamily="34" charset="0"/>
              <a:buChar char="•"/>
            </a:pPr>
            <a:r>
              <a:rPr lang="zh-CN" altLang="en-US" sz="2400" dirty="0">
                <a:latin typeface="Comic Sans MS" panose="030F0702030302020204" charset="0"/>
                <a:ea typeface="微软雅黑" panose="020B0503020204020204" pitchFamily="34" charset="-122"/>
                <a:cs typeface="Comic Sans MS" panose="030F0702030302020204" charset="0"/>
              </a:rPr>
              <a:t>酶添加</a:t>
            </a:r>
            <a:r>
              <a:rPr lang="zh-CN" altLang="en-US" sz="2400" dirty="0">
                <a:latin typeface="Comic Sans MS" panose="030F0702030302020204" charset="0"/>
                <a:ea typeface="微软雅黑" panose="020B0503020204020204" pitchFamily="34" charset="-122"/>
                <a:cs typeface="Comic Sans MS" panose="030F0702030302020204" charset="0"/>
                <a:sym typeface="+mn-ea"/>
              </a:rPr>
              <a:t>（或去除）</a:t>
            </a:r>
            <a:r>
              <a:rPr lang="zh-CN" altLang="en-US" sz="2400" dirty="0">
                <a:latin typeface="Comic Sans MS" panose="030F0702030302020204" charset="0"/>
                <a:ea typeface="微软雅黑" panose="020B0503020204020204" pitchFamily="34" charset="-122"/>
                <a:cs typeface="Comic Sans MS" panose="030F0702030302020204" charset="0"/>
              </a:rPr>
              <a:t>一个大的带负电荷的基团，改变酶活性中心催化活性。酶的磷酸化</a:t>
            </a:r>
            <a:r>
              <a:rPr lang="en-US" altLang="zh-CN" sz="2400" dirty="0">
                <a:latin typeface="Comic Sans MS" panose="030F0702030302020204" charset="0"/>
                <a:ea typeface="微软雅黑" panose="020B0503020204020204" pitchFamily="34" charset="-122"/>
                <a:cs typeface="Comic Sans MS" panose="030F0702030302020204" charset="0"/>
              </a:rPr>
              <a:t>/</a:t>
            </a:r>
            <a:r>
              <a:rPr lang="zh-CN" altLang="en-US" sz="2400" dirty="0">
                <a:latin typeface="Comic Sans MS" panose="030F0702030302020204" charset="0"/>
                <a:ea typeface="微软雅黑" panose="020B0503020204020204" pitchFamily="34" charset="-122"/>
                <a:cs typeface="Comic Sans MS" panose="030F0702030302020204" charset="0"/>
              </a:rPr>
              <a:t>去磷酸化的共价修饰过程，是酶活性的功能开关。</a:t>
            </a:r>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656608" y="11195"/>
            <a:ext cx="249299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磷酸化调节</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1943736" y="1221106"/>
            <a:ext cx="3877985" cy="581057"/>
          </a:xfrm>
          <a:prstGeom prst="rect">
            <a:avLst/>
          </a:prstGeom>
          <a:noFill/>
        </p:spPr>
        <p:txBody>
          <a:bodyPr wrap="non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糖原磷酸化酶（降解糖原）</a:t>
            </a:r>
          </a:p>
        </p:txBody>
      </p:sp>
      <p:pic>
        <p:nvPicPr>
          <p:cNvPr id="4" name="图片 3"/>
          <p:cNvPicPr>
            <a:picLocks noChangeAspect="1"/>
          </p:cNvPicPr>
          <p:nvPr/>
        </p:nvPicPr>
        <p:blipFill>
          <a:blip r:embed="rId3"/>
          <a:stretch>
            <a:fillRect/>
          </a:stretch>
        </p:blipFill>
        <p:spPr>
          <a:xfrm>
            <a:off x="1669416" y="1936751"/>
            <a:ext cx="8466455" cy="3529965"/>
          </a:xfrm>
          <a:prstGeom prst="rect">
            <a:avLst/>
          </a:prstGeom>
          <a:ln>
            <a:noFill/>
          </a:ln>
        </p:spPr>
      </p:pic>
      <p:sp>
        <p:nvSpPr>
          <p:cNvPr id="10" name="椭圆 9"/>
          <p:cNvSpPr/>
          <p:nvPr/>
        </p:nvSpPr>
        <p:spPr>
          <a:xfrm>
            <a:off x="4350386" y="1936750"/>
            <a:ext cx="318135" cy="248920"/>
          </a:xfrm>
          <a:prstGeom prst="ellipse">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032126" y="5235575"/>
            <a:ext cx="318135" cy="248920"/>
          </a:xfrm>
          <a:prstGeom prst="ellipse">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6311901" y="3577590"/>
            <a:ext cx="318135" cy="248920"/>
          </a:xfrm>
          <a:prstGeom prst="ellipse">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9409431" y="3740785"/>
            <a:ext cx="318135" cy="248920"/>
          </a:xfrm>
          <a:prstGeom prst="ellipse">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656608" y="11195"/>
            <a:ext cx="249299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磷酸化调节</a:t>
            </a: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3"/>
          <a:stretch>
            <a:fillRect/>
          </a:stretch>
        </p:blipFill>
        <p:spPr>
          <a:xfrm>
            <a:off x="2609850" y="1906905"/>
            <a:ext cx="6972300" cy="3497580"/>
          </a:xfrm>
          <a:prstGeom prst="rect">
            <a:avLst/>
          </a:prstGeom>
        </p:spPr>
      </p:pic>
      <p:sp>
        <p:nvSpPr>
          <p:cNvPr id="8" name="文本框 7"/>
          <p:cNvSpPr txBox="1"/>
          <p:nvPr/>
        </p:nvSpPr>
        <p:spPr>
          <a:xfrm>
            <a:off x="1943736" y="1221106"/>
            <a:ext cx="3877985" cy="581057"/>
          </a:xfrm>
          <a:prstGeom prst="rect">
            <a:avLst/>
          </a:prstGeom>
          <a:noFill/>
        </p:spPr>
        <p:txBody>
          <a:bodyPr wrap="none" rtlCol="0">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糖原磷酸化酶（降解糖原）</a:t>
            </a:r>
          </a:p>
        </p:txBody>
      </p:sp>
      <p:sp>
        <p:nvSpPr>
          <p:cNvPr id="5" name="文本框 4"/>
          <p:cNvSpPr txBox="1"/>
          <p:nvPr/>
        </p:nvSpPr>
        <p:spPr>
          <a:xfrm>
            <a:off x="6012816" y="3068956"/>
            <a:ext cx="595035" cy="418191"/>
          </a:xfrm>
          <a:prstGeom prst="rect">
            <a:avLst/>
          </a:prstGeom>
          <a:noFill/>
        </p:spPr>
        <p:txBody>
          <a:bodyPr wrap="none" rtlCol="0">
            <a:spAutoFit/>
          </a:bodyPr>
          <a:lstStyle/>
          <a:p>
            <a:pPr>
              <a:lnSpc>
                <a:spcPct val="150000"/>
              </a:lnSpc>
            </a:pPr>
            <a:r>
              <a:rPr lang="zh-CN" altLang="en-US" sz="1600" b="1" dirty="0">
                <a:gradFill>
                  <a:gsLst>
                    <a:gs pos="0">
                      <a:srgbClr val="14CD68"/>
                    </a:gs>
                    <a:gs pos="100000">
                      <a:srgbClr val="0B6E38"/>
                    </a:gs>
                  </a:gsLst>
                  <a:lin scaled="0"/>
                </a:gradFill>
                <a:latin typeface="微软雅黑" panose="020B0503020204020204" pitchFamily="34" charset="-122"/>
                <a:ea typeface="微软雅黑" panose="020B0503020204020204" pitchFamily="34" charset="-122"/>
              </a:rPr>
              <a:t>激酶</a:t>
            </a:r>
          </a:p>
        </p:txBody>
      </p:sp>
      <p:sp>
        <p:nvSpPr>
          <p:cNvPr id="6" name="文本框 5"/>
          <p:cNvSpPr txBox="1"/>
          <p:nvPr/>
        </p:nvSpPr>
        <p:spPr>
          <a:xfrm>
            <a:off x="5784216" y="4086226"/>
            <a:ext cx="800219" cy="418191"/>
          </a:xfrm>
          <a:prstGeom prst="rect">
            <a:avLst/>
          </a:prstGeom>
          <a:noFill/>
        </p:spPr>
        <p:txBody>
          <a:bodyPr wrap="none" rtlCol="0">
            <a:spAutoFit/>
          </a:bodyPr>
          <a:lstStyle/>
          <a:p>
            <a:pPr>
              <a:lnSpc>
                <a:spcPct val="150000"/>
              </a:lnSpc>
            </a:pPr>
            <a:r>
              <a:rPr lang="zh-CN" altLang="en-US" sz="1600" b="1" dirty="0">
                <a:gradFill>
                  <a:gsLst>
                    <a:gs pos="0">
                      <a:srgbClr val="14CD68"/>
                    </a:gs>
                    <a:gs pos="100000">
                      <a:srgbClr val="0B6E38"/>
                    </a:gs>
                  </a:gsLst>
                  <a:lin scaled="0"/>
                </a:gradFill>
                <a:latin typeface="微软雅黑" panose="020B0503020204020204" pitchFamily="34" charset="-122"/>
                <a:ea typeface="微软雅黑" panose="020B0503020204020204" pitchFamily="34" charset="-122"/>
              </a:rPr>
              <a:t>磷酸酶</a:t>
            </a:r>
          </a:p>
        </p:txBody>
      </p:sp>
      <p:sp>
        <p:nvSpPr>
          <p:cNvPr id="10" name="文本框 9"/>
          <p:cNvSpPr txBox="1"/>
          <p:nvPr/>
        </p:nvSpPr>
        <p:spPr>
          <a:xfrm>
            <a:off x="4723131" y="1983741"/>
            <a:ext cx="1980029" cy="377411"/>
          </a:xfrm>
          <a:prstGeom prst="rect">
            <a:avLst/>
          </a:prstGeom>
          <a:noFill/>
        </p:spPr>
        <p:txBody>
          <a:bodyPr wrap="non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胰高血糖素，肾上腺素</a:t>
            </a:r>
          </a:p>
        </p:txBody>
      </p:sp>
      <p:sp>
        <p:nvSpPr>
          <p:cNvPr id="11" name="文本框 10"/>
          <p:cNvSpPr txBox="1"/>
          <p:nvPr/>
        </p:nvSpPr>
        <p:spPr>
          <a:xfrm>
            <a:off x="5296536" y="4937126"/>
            <a:ext cx="723275" cy="377411"/>
          </a:xfrm>
          <a:prstGeom prst="rect">
            <a:avLst/>
          </a:prstGeom>
          <a:noFill/>
        </p:spPr>
        <p:txBody>
          <a:bodyPr wrap="none" rtlCol="0">
            <a:spAutoFit/>
          </a:bodyPr>
          <a:lstStyle/>
          <a:p>
            <a:pPr>
              <a:lnSpc>
                <a:spcPct val="150000"/>
              </a:lnSpc>
            </a:pPr>
            <a:r>
              <a:rPr lang="zh-CN" altLang="en-US" sz="1400" b="1" dirty="0">
                <a:latin typeface="微软雅黑" panose="020B0503020204020204" pitchFamily="34" charset="-122"/>
                <a:ea typeface="微软雅黑" panose="020B0503020204020204" pitchFamily="34" charset="-122"/>
              </a:rPr>
              <a:t>胰岛素</a:t>
            </a:r>
          </a:p>
        </p:txBody>
      </p:sp>
      <p:sp>
        <p:nvSpPr>
          <p:cNvPr id="12" name="文本框 11"/>
          <p:cNvSpPr txBox="1"/>
          <p:nvPr/>
        </p:nvSpPr>
        <p:spPr>
          <a:xfrm>
            <a:off x="2722245" y="4070351"/>
            <a:ext cx="4669868" cy="377411"/>
          </a:xfrm>
          <a:prstGeom prst="rect">
            <a:avLst/>
          </a:prstGeom>
          <a:noFill/>
        </p:spPr>
        <p:txBody>
          <a:bodyPr wrap="non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失活</a:t>
            </a:r>
            <a:r>
              <a:rPr lang="en-US" altLang="zh-CN" sz="1400" b="1" dirty="0">
                <a:solidFill>
                  <a:srgbClr val="FF0000"/>
                </a:solidFill>
                <a:latin typeface="微软雅黑" panose="020B0503020204020204" pitchFamily="34" charset="-122"/>
                <a:ea typeface="微软雅黑" panose="020B0503020204020204" pitchFamily="34" charset="-122"/>
              </a:rPr>
              <a:t>                                                                              </a:t>
            </a:r>
          </a:p>
        </p:txBody>
      </p:sp>
      <p:sp>
        <p:nvSpPr>
          <p:cNvPr id="13" name="文本框 12"/>
          <p:cNvSpPr txBox="1"/>
          <p:nvPr/>
        </p:nvSpPr>
        <p:spPr>
          <a:xfrm>
            <a:off x="7734301" y="4085591"/>
            <a:ext cx="1697355" cy="377411"/>
          </a:xfrm>
          <a:prstGeom prst="rect">
            <a:avLst/>
          </a:prstGeom>
          <a:noFill/>
        </p:spPr>
        <p:txBody>
          <a:bodyPr wrap="square" rtlCol="0">
            <a:spAutoFit/>
          </a:bodyPr>
          <a:lstStyle/>
          <a:p>
            <a:pPr>
              <a:lnSpc>
                <a:spcPct val="150000"/>
              </a:lnSpc>
            </a:pPr>
            <a:r>
              <a:rPr lang="zh-CN" altLang="en-US" sz="1400" b="1" dirty="0">
                <a:solidFill>
                  <a:srgbClr val="FF0000"/>
                </a:solidFill>
                <a:latin typeface="微软雅黑" panose="020B0503020204020204" pitchFamily="34" charset="-122"/>
                <a:ea typeface="微软雅黑" panose="020B0503020204020204" pitchFamily="34" charset="-122"/>
              </a:rPr>
              <a:t>活化</a:t>
            </a:r>
            <a:r>
              <a:rPr lang="en-US" altLang="zh-CN" sz="1400" b="1" dirty="0">
                <a:solidFill>
                  <a:srgbClr val="FF0000"/>
                </a:solidFill>
                <a:latin typeface="微软雅黑" panose="020B0503020204020204" pitchFamily="34" charset="-122"/>
                <a:ea typeface="微软雅黑" panose="020B0503020204020204" pitchFamily="34" charset="-122"/>
              </a:rPr>
              <a:t>                                                                             </a:t>
            </a:r>
          </a:p>
        </p:txBody>
      </p:sp>
      <p:pic>
        <p:nvPicPr>
          <p:cNvPr id="9" name="图片 8"/>
          <p:cNvPicPr>
            <a:picLocks noChangeAspect="1"/>
          </p:cNvPicPr>
          <p:nvPr/>
        </p:nvPicPr>
        <p:blipFill>
          <a:blip r:embed="rId4"/>
          <a:stretch>
            <a:fillRect/>
          </a:stretch>
        </p:blipFill>
        <p:spPr>
          <a:xfrm>
            <a:off x="2907665" y="5556250"/>
            <a:ext cx="5494020" cy="1036320"/>
          </a:xfrm>
          <a:prstGeom prst="rect">
            <a:avLst/>
          </a:prstGeom>
        </p:spPr>
      </p:pic>
      <p:sp>
        <p:nvSpPr>
          <p:cNvPr id="4" name="椭圆 3"/>
          <p:cNvSpPr/>
          <p:nvPr/>
        </p:nvSpPr>
        <p:spPr>
          <a:xfrm>
            <a:off x="6684010" y="3059430"/>
            <a:ext cx="2245360" cy="1148080"/>
          </a:xfrm>
          <a:prstGeom prst="ellipse">
            <a:avLst/>
          </a:prstGeom>
          <a:noFill/>
          <a:ln w="12700">
            <a:solidFill>
              <a:srgbClr val="FF0000"/>
            </a:solidFill>
            <a:prstDash val="sys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97009" y="-5940"/>
            <a:ext cx="3416320" cy="825419"/>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（三）水解激活</a:t>
            </a:r>
          </a:p>
        </p:txBody>
      </p:sp>
      <p:sp>
        <p:nvSpPr>
          <p:cNvPr id="5" name="文本框 4"/>
          <p:cNvSpPr txBox="1"/>
          <p:nvPr/>
        </p:nvSpPr>
        <p:spPr>
          <a:xfrm>
            <a:off x="1412028" y="1603780"/>
            <a:ext cx="9367943" cy="4212820"/>
          </a:xfrm>
          <a:prstGeom prst="rect">
            <a:avLst/>
          </a:prstGeom>
          <a:noFill/>
        </p:spPr>
        <p:txBody>
          <a:bodyPr wrap="square" rtlCol="0" anchor="t">
            <a:spAutoFit/>
          </a:bodyPr>
          <a:lstStyle/>
          <a:p>
            <a:pPr marL="285750" indent="-285750">
              <a:lnSpc>
                <a:spcPct val="150000"/>
              </a:lnSpc>
              <a:spcBef>
                <a:spcPts val="1200"/>
              </a:spcBef>
              <a:buClr>
                <a:srgbClr val="000000"/>
              </a:buClr>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大多数蛋白酶以无活性的酶原形式被合成，需要通过水解（由其他蛋白酶催化或自我催化）</a:t>
            </a:r>
            <a:r>
              <a:rPr lang="zh-CN"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去除一些氨基酸序列</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以后才会有活性，这种调节酶活性的方式被称为</a:t>
            </a:r>
            <a:r>
              <a:rPr lang="zh-CN"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水解激活</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1200"/>
              </a:spcBef>
              <a:buClr>
                <a:srgbClr val="000000"/>
              </a:buClr>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与共价修饰一样，水解激活是也一种全或无的调节方式，酶原状态没有活性，但与共价修饰不同的是，它是</a:t>
            </a:r>
            <a:r>
              <a:rPr lang="zh-CN"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不可逆</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的，即一旦被激活就不可能回到原来的非活性的酶原状态。</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1200"/>
              </a:spcBef>
              <a:buClr>
                <a:srgbClr val="000000"/>
              </a:buClr>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实例：消化道内各种蛋白酶的激活；血浆内凝血因子的激活。</a:t>
            </a: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194943" y="11195"/>
            <a:ext cx="341632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mn-ea"/>
              </a:rPr>
              <a:t>（三）水解激活</a:t>
            </a:r>
          </a:p>
          <a:p>
            <a:pPr algn="ctr" defTabSz="914400" fontAlgn="base">
              <a:lnSpc>
                <a:spcPct val="150000"/>
              </a:lnSpc>
              <a:spcBef>
                <a:spcPct val="0"/>
              </a:spcBef>
              <a:spcAft>
                <a:spcPct val="0"/>
              </a:spcAft>
              <a:defRPr/>
            </a:pPr>
            <a:endParaRPr lang="zh-CN" altLang="en-US" sz="3600" b="1" dirty="0">
              <a:solidFill>
                <a:schemeClr val="bg1"/>
              </a:solidFill>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2018665" y="1041400"/>
            <a:ext cx="7623810"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6" name="图片 5"/>
          <p:cNvPicPr>
            <a:picLocks noChangeAspect="1"/>
          </p:cNvPicPr>
          <p:nvPr/>
        </p:nvPicPr>
        <p:blipFill>
          <a:blip r:embed="rId3"/>
          <a:stretch>
            <a:fillRect/>
          </a:stretch>
        </p:blipFill>
        <p:spPr>
          <a:xfrm>
            <a:off x="3729990" y="1041400"/>
            <a:ext cx="4732020" cy="4343400"/>
          </a:xfrm>
          <a:prstGeom prst="rect">
            <a:avLst/>
          </a:prstGeom>
        </p:spPr>
      </p:pic>
      <p:sp>
        <p:nvSpPr>
          <p:cNvPr id="8" name="文本框 7"/>
          <p:cNvSpPr txBox="1"/>
          <p:nvPr/>
        </p:nvSpPr>
        <p:spPr>
          <a:xfrm>
            <a:off x="1774826" y="5066665"/>
            <a:ext cx="8094345" cy="1568450"/>
          </a:xfrm>
          <a:prstGeom prst="rect">
            <a:avLst/>
          </a:prstGeom>
          <a:noFill/>
        </p:spPr>
        <p:txBody>
          <a:bodyPr wrap="square" rtlCol="0" anchor="t">
            <a:spAutoFit/>
          </a:bodyPr>
          <a:lstStyle/>
          <a:p>
            <a:pPr marL="285750" indent="-285750">
              <a:lnSpc>
                <a:spcPct val="150000"/>
              </a:lnSpc>
              <a:buFont typeface="Arial" panose="020B0604020202020204" pitchFamily="34" charset="0"/>
              <a:buChar char="•"/>
            </a:pPr>
            <a:r>
              <a:rPr lang="zh-CN" altLang="en-US" sz="1600" dirty="0"/>
              <a:t>Chymotrypsin</a:t>
            </a:r>
            <a:r>
              <a:rPr lang="en-US" altLang="zh-CN" sz="1600" dirty="0"/>
              <a:t>(</a:t>
            </a:r>
            <a:r>
              <a:rPr lang="zh-CN" altLang="en-US" sz="1600" b="1" dirty="0">
                <a:solidFill>
                  <a:srgbClr val="FF0000"/>
                </a:solidFill>
                <a:latin typeface="微软雅黑" panose="020B0503020204020204" pitchFamily="34" charset="-122"/>
                <a:ea typeface="微软雅黑" panose="020B0503020204020204" pitchFamily="34" charset="-122"/>
              </a:rPr>
              <a:t>糜蛋白酶</a:t>
            </a:r>
            <a:r>
              <a:rPr lang="en-US" altLang="zh-CN" sz="1600" dirty="0"/>
              <a:t>)</a:t>
            </a:r>
            <a:r>
              <a:rPr lang="zh-CN" altLang="en-US" sz="1600" dirty="0"/>
              <a:t> is generated by proteolytic processing of chymotrypsinogen</a:t>
            </a:r>
            <a:r>
              <a:rPr lang="en-US" altLang="zh-CN" sz="1600" dirty="0">
                <a:sym typeface="+mn-ea"/>
              </a:rPr>
              <a:t>(</a:t>
            </a:r>
            <a:r>
              <a:rPr lang="zh-CN" altLang="en-US" sz="1600" b="1" dirty="0">
                <a:solidFill>
                  <a:srgbClr val="FF0000"/>
                </a:solidFill>
                <a:latin typeface="微软雅黑" panose="020B0503020204020204" pitchFamily="34" charset="-122"/>
                <a:ea typeface="微软雅黑" panose="020B0503020204020204" pitchFamily="34" charset="-122"/>
                <a:sym typeface="+mn-ea"/>
              </a:rPr>
              <a:t>糜蛋白酶原</a:t>
            </a:r>
            <a:r>
              <a:rPr lang="en-US" altLang="zh-CN" sz="1600" dirty="0">
                <a:sym typeface="+mn-ea"/>
              </a:rPr>
              <a:t>)</a:t>
            </a:r>
            <a:r>
              <a:rPr lang="zh-CN" altLang="en-US" sz="1600" dirty="0">
                <a:sym typeface="+mn-ea"/>
              </a:rPr>
              <a:t> </a:t>
            </a:r>
            <a:r>
              <a:rPr lang="zh-CN" altLang="en-US" sz="1600" dirty="0"/>
              <a:t>into three polypeptide chains as shown by the colored bars. Trypsin（</a:t>
            </a:r>
            <a:r>
              <a:rPr lang="zh-CN" altLang="en-US" sz="1600" b="1" dirty="0">
                <a:solidFill>
                  <a:srgbClr val="FF0000"/>
                </a:solidFill>
                <a:latin typeface="微软雅黑" panose="020B0503020204020204" pitchFamily="34" charset="-122"/>
                <a:ea typeface="微软雅黑" panose="020B0503020204020204" pitchFamily="34" charset="-122"/>
                <a:sym typeface="+mn-ea"/>
              </a:rPr>
              <a:t>胰蛋白酶</a:t>
            </a:r>
            <a:r>
              <a:rPr lang="zh-CN" altLang="en-US" sz="1600" dirty="0"/>
              <a:t>） cleaves chymotrypsinogen (inactive zymogen) to create</a:t>
            </a:r>
            <a:r>
              <a:rPr lang="zh-CN" altLang="en-US" sz="1600" dirty="0">
                <a:solidFill>
                  <a:srgbClr val="FF0000"/>
                </a:solidFill>
              </a:rPr>
              <a:t> π-chymotrypsin</a:t>
            </a:r>
            <a:r>
              <a:rPr lang="zh-CN" altLang="en-US" sz="1600" dirty="0"/>
              <a:t>, which cleaves other π-chymotrypsin molecules to generate the fully active</a:t>
            </a:r>
            <a:r>
              <a:rPr lang="zh-CN" altLang="en-US" sz="1600" dirty="0">
                <a:solidFill>
                  <a:srgbClr val="FF0000"/>
                </a:solidFill>
              </a:rPr>
              <a:t> α-chymotrypsin</a:t>
            </a:r>
            <a:r>
              <a:rPr lang="zh-CN" altLang="en-US" sz="1600" dirty="0"/>
              <a:t> enzyme.</a:t>
            </a:r>
          </a:p>
        </p:txBody>
      </p:sp>
      <p:sp>
        <p:nvSpPr>
          <p:cNvPr id="9" name="文本框 8"/>
          <p:cNvSpPr txBox="1"/>
          <p:nvPr/>
        </p:nvSpPr>
        <p:spPr>
          <a:xfrm>
            <a:off x="2018665" y="1119506"/>
            <a:ext cx="2540000" cy="581057"/>
          </a:xfrm>
          <a:prstGeom prst="rect">
            <a:avLst/>
          </a:prstGeom>
          <a:noFill/>
        </p:spPr>
        <p:txBody>
          <a:bodyPr wrap="square" rtlCol="0" anchor="t">
            <a:spAutoFit/>
          </a:bodyPr>
          <a:lstStyle/>
          <a:p>
            <a:pPr>
              <a:lnSpc>
                <a:spcPct val="150000"/>
              </a:lnSpc>
            </a:pPr>
            <a:r>
              <a:rPr lang="zh-CN" altLang="en-US" sz="2400" b="1" dirty="0">
                <a:latin typeface="微软雅黑" panose="020B0503020204020204" pitchFamily="34" charset="-122"/>
                <a:ea typeface="微软雅黑" panose="020B0503020204020204" pitchFamily="34" charset="-122"/>
              </a:rPr>
              <a:t>糜蛋白酶</a:t>
            </a:r>
          </a:p>
        </p:txBody>
      </p:sp>
      <p:sp>
        <p:nvSpPr>
          <p:cNvPr id="5" name="文本框 4"/>
          <p:cNvSpPr txBox="1"/>
          <p:nvPr/>
        </p:nvSpPr>
        <p:spPr>
          <a:xfrm>
            <a:off x="6131561" y="2293621"/>
            <a:ext cx="800219" cy="336695"/>
          </a:xfrm>
          <a:prstGeom prst="rect">
            <a:avLst/>
          </a:prstGeom>
          <a:noFill/>
        </p:spPr>
        <p:txBody>
          <a:bodyPr wrap="none" rtlCol="0">
            <a:spAutoFit/>
          </a:bodyPr>
          <a:lstStyle/>
          <a:p>
            <a:pPr>
              <a:lnSpc>
                <a:spcPct val="150000"/>
              </a:lnSpc>
            </a:pPr>
            <a:r>
              <a:rPr lang="zh-CN" altLang="en-US" sz="1200" b="1" dirty="0">
                <a:latin typeface="微软雅黑" panose="020B0503020204020204" pitchFamily="34" charset="-122"/>
                <a:ea typeface="微软雅黑" panose="020B0503020204020204" pitchFamily="34" charset="-122"/>
                <a:sym typeface="+mn-ea"/>
              </a:rPr>
              <a:t>胰蛋白酶</a:t>
            </a:r>
          </a:p>
        </p:txBody>
      </p:sp>
      <p:sp>
        <p:nvSpPr>
          <p:cNvPr id="7" name="文本框 6"/>
          <p:cNvSpPr txBox="1"/>
          <p:nvPr/>
        </p:nvSpPr>
        <p:spPr>
          <a:xfrm>
            <a:off x="6131561" y="3865881"/>
            <a:ext cx="981359" cy="336695"/>
          </a:xfrm>
          <a:prstGeom prst="rect">
            <a:avLst/>
          </a:prstGeom>
          <a:noFill/>
        </p:spPr>
        <p:txBody>
          <a:bodyPr wrap="none" rtlCol="0">
            <a:spAutoFit/>
          </a:bodyPr>
          <a:lstStyle/>
          <a:p>
            <a:pPr>
              <a:lnSpc>
                <a:spcPct val="150000"/>
              </a:lnSpc>
            </a:pPr>
            <a:r>
              <a:rPr lang="en-US" altLang="zh-CN" sz="1200" b="1" dirty="0">
                <a:latin typeface="微软雅黑" panose="020B0503020204020204" pitchFamily="34" charset="-122"/>
                <a:ea typeface="微软雅黑" panose="020B0503020204020204" pitchFamily="34" charset="-122"/>
                <a:sym typeface="+mn-ea"/>
              </a:rPr>
              <a:t>π-</a:t>
            </a:r>
            <a:r>
              <a:rPr lang="zh-CN" altLang="en-US" sz="1200" b="1" dirty="0">
                <a:latin typeface="微软雅黑" panose="020B0503020204020204" pitchFamily="34" charset="-122"/>
                <a:ea typeface="微软雅黑" panose="020B0503020204020204" pitchFamily="34" charset="-122"/>
                <a:sym typeface="+mn-ea"/>
              </a:rPr>
              <a:t>糜蛋白酶</a:t>
            </a:r>
          </a:p>
        </p:txBody>
      </p:sp>
      <p:sp>
        <p:nvSpPr>
          <p:cNvPr id="11" name="文本框 10"/>
          <p:cNvSpPr txBox="1"/>
          <p:nvPr/>
        </p:nvSpPr>
        <p:spPr>
          <a:xfrm>
            <a:off x="8221980" y="1387475"/>
            <a:ext cx="1325880" cy="368300"/>
          </a:xfrm>
          <a:prstGeom prst="rect">
            <a:avLst/>
          </a:prstGeom>
        </p:spPr>
        <p:style>
          <a:lnRef idx="2">
            <a:schemeClr val="dk1"/>
          </a:lnRef>
          <a:fillRef idx="1">
            <a:schemeClr val="lt1"/>
          </a:fillRef>
          <a:effectRef idx="0">
            <a:schemeClr val="dk1"/>
          </a:effectRef>
          <a:fontRef idx="minor">
            <a:schemeClr val="dk1"/>
          </a:fontRef>
        </p:style>
        <p:txBody>
          <a:bodyPr wrap="none" rtlCol="0" anchor="t">
            <a:spAutoFit/>
          </a:bodyPr>
          <a:lstStyle/>
          <a:p>
            <a:r>
              <a:rPr lang="zh-CN" altLang="en-US" b="1" dirty="0">
                <a:solidFill>
                  <a:srgbClr val="FF0000"/>
                </a:solidFill>
                <a:latin typeface="微软雅黑" panose="020B0503020204020204" pitchFamily="34" charset="-122"/>
                <a:ea typeface="微软雅黑" panose="020B0503020204020204" pitchFamily="34" charset="-122"/>
                <a:sym typeface="+mn-ea"/>
              </a:rPr>
              <a:t>糜蛋白酶原</a:t>
            </a:r>
            <a:endParaRPr lang="zh-CN" altLang="en-US"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8254365" y="2848610"/>
            <a:ext cx="1306768" cy="369332"/>
          </a:xfrm>
          <a:prstGeom prst="rect">
            <a:avLst/>
          </a:prstGeom>
        </p:spPr>
        <p:style>
          <a:lnRef idx="2">
            <a:schemeClr val="dk1"/>
          </a:lnRef>
          <a:fillRef idx="1">
            <a:schemeClr val="lt1"/>
          </a:fillRef>
          <a:effectRef idx="0">
            <a:schemeClr val="dk1"/>
          </a:effectRef>
          <a:fontRef idx="minor">
            <a:schemeClr val="dk1"/>
          </a:fontRef>
        </p:style>
        <p:txBody>
          <a:bodyPr wrap="none" rtlCol="0" anchor="t">
            <a:spAutoFit/>
          </a:bodyPr>
          <a:lstStyle/>
          <a:p>
            <a:r>
              <a:rPr lang="zh-CN" altLang="en-US" dirty="0">
                <a:solidFill>
                  <a:srgbClr val="FF0000"/>
                </a:solidFill>
                <a:sym typeface="+mn-ea"/>
              </a:rPr>
              <a:t>π-</a:t>
            </a:r>
            <a:r>
              <a:rPr lang="zh-CN" altLang="en-US" b="1" dirty="0">
                <a:solidFill>
                  <a:srgbClr val="FF0000"/>
                </a:solidFill>
                <a:latin typeface="微软雅黑" panose="020B0503020204020204" pitchFamily="34" charset="-122"/>
                <a:ea typeface="微软雅黑" panose="020B0503020204020204" pitchFamily="34" charset="-122"/>
                <a:sym typeface="+mn-ea"/>
              </a:rPr>
              <a:t>糜蛋白酶</a:t>
            </a:r>
            <a:endParaRPr lang="zh-CN" altLang="en-US" dirty="0">
              <a:latin typeface="微软雅黑" panose="020B0503020204020204" pitchFamily="34" charset="-122"/>
              <a:ea typeface="微软雅黑" panose="020B0503020204020204" pitchFamily="34" charset="-122"/>
            </a:endParaRPr>
          </a:p>
        </p:txBody>
      </p:sp>
      <p:sp>
        <p:nvSpPr>
          <p:cNvPr id="13" name="文本框 12"/>
          <p:cNvSpPr txBox="1"/>
          <p:nvPr/>
        </p:nvSpPr>
        <p:spPr>
          <a:xfrm>
            <a:off x="8251190" y="4234180"/>
            <a:ext cx="1309974" cy="369332"/>
          </a:xfrm>
          <a:prstGeom prst="rect">
            <a:avLst/>
          </a:prstGeom>
        </p:spPr>
        <p:style>
          <a:lnRef idx="2">
            <a:schemeClr val="dk1"/>
          </a:lnRef>
          <a:fillRef idx="1">
            <a:schemeClr val="lt1"/>
          </a:fillRef>
          <a:effectRef idx="0">
            <a:schemeClr val="dk1"/>
          </a:effectRef>
          <a:fontRef idx="minor">
            <a:schemeClr val="dk1"/>
          </a:fontRef>
        </p:style>
        <p:txBody>
          <a:bodyPr wrap="none" rtlCol="0" anchor="t">
            <a:spAutoFit/>
          </a:bodyPr>
          <a:lstStyle/>
          <a:p>
            <a:r>
              <a:rPr lang="en-US" altLang="zh-CN" dirty="0">
                <a:solidFill>
                  <a:srgbClr val="FF0000"/>
                </a:solidFill>
                <a:sym typeface="+mn-ea"/>
              </a:rPr>
              <a:t>α</a:t>
            </a:r>
            <a:r>
              <a:rPr lang="zh-CN" altLang="en-US" dirty="0">
                <a:solidFill>
                  <a:srgbClr val="FF0000"/>
                </a:solidFill>
                <a:sym typeface="+mn-ea"/>
              </a:rPr>
              <a:t>-</a:t>
            </a:r>
            <a:r>
              <a:rPr lang="zh-CN" altLang="en-US" b="1" dirty="0">
                <a:solidFill>
                  <a:srgbClr val="FF0000"/>
                </a:solidFill>
                <a:latin typeface="微软雅黑" panose="020B0503020204020204" pitchFamily="34" charset="-122"/>
                <a:ea typeface="微软雅黑" panose="020B0503020204020204" pitchFamily="34" charset="-122"/>
                <a:sym typeface="+mn-ea"/>
              </a:rPr>
              <a:t>糜蛋白酶</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194943" y="11195"/>
            <a:ext cx="341632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mn-ea"/>
              </a:rPr>
              <a:t>（三）水解激活</a:t>
            </a:r>
            <a:endParaRPr lang="zh-CN" altLang="zh-CN" sz="3600" b="1" dirty="0">
              <a:solidFill>
                <a:schemeClr val="bg1"/>
              </a:solidFill>
              <a:latin typeface="微软雅黑" panose="020B0503020204020204" pitchFamily="34" charset="-122"/>
              <a:ea typeface="微软雅黑" panose="020B0503020204020204" pitchFamily="34" charset="-122"/>
              <a:sym typeface="+mn-ea"/>
            </a:endParaRPr>
          </a:p>
          <a:p>
            <a:pPr algn="ctr" defTabSz="914400" fontAlgn="base">
              <a:lnSpc>
                <a:spcPct val="150000"/>
              </a:lnSpc>
              <a:spcBef>
                <a:spcPct val="0"/>
              </a:spcBef>
              <a:spcAft>
                <a:spcPct val="0"/>
              </a:spcAft>
              <a:defRPr/>
            </a:pPr>
            <a:endParaRPr lang="zh-CN" altLang="en-US" sz="3600" b="1" dirty="0">
              <a:solidFill>
                <a:schemeClr val="bg1"/>
              </a:solidFill>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431802" y="1102360"/>
            <a:ext cx="6206065" cy="5166927"/>
          </a:xfrm>
          <a:prstGeom prst="rect">
            <a:avLst/>
          </a:prstGeom>
          <a:noFill/>
        </p:spPr>
        <p:txBody>
          <a:bodyPr wrap="square" rtlCol="0" anchor="t">
            <a:spAutoFit/>
          </a:bodyPr>
          <a:lstStyle/>
          <a:p>
            <a:pPr marL="342900">
              <a:lnSpc>
                <a:spcPct val="15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凝血：</a:t>
            </a:r>
          </a:p>
          <a:p>
            <a:pPr marL="628650" indent="-342900">
              <a:lnSpc>
                <a:spcPct val="150000"/>
              </a:lnSpc>
              <a:spcBef>
                <a:spcPts val="600"/>
              </a:spcBef>
              <a:buFont typeface="+mj-lt"/>
              <a:buAutoNum type="alphaLcPeriod"/>
            </a:pPr>
            <a:r>
              <a:rPr lang="zh-CN" altLang="en-US" sz="2400" dirty="0">
                <a:latin typeface="微软雅黑" panose="020B0503020204020204" pitchFamily="34" charset="-122"/>
                <a:ea typeface="微软雅黑" panose="020B0503020204020204" pitchFamily="34" charset="-122"/>
              </a:rPr>
              <a:t>血凝块由聚集的血小板与交联的</a:t>
            </a:r>
            <a:r>
              <a:rPr lang="zh-CN" altLang="en-US" sz="2400" u="sng" dirty="0">
                <a:solidFill>
                  <a:srgbClr val="FF0000"/>
                </a:solidFill>
                <a:latin typeface="微软雅黑" panose="020B0503020204020204" pitchFamily="34" charset="-122"/>
                <a:ea typeface="微软雅黑" panose="020B0503020204020204" pitchFamily="34" charset="-122"/>
              </a:rPr>
              <a:t>纤维蛋白链</a:t>
            </a:r>
            <a:r>
              <a:rPr lang="zh-CN" altLang="en-US" sz="2400" dirty="0">
                <a:latin typeface="微软雅黑" panose="020B0503020204020204" pitchFamily="34" charset="-122"/>
                <a:ea typeface="微软雅黑" panose="020B0503020204020204" pitchFamily="34" charset="-122"/>
              </a:rPr>
              <a:t>连接在一起组成。红细胞也被困在基质中。</a:t>
            </a:r>
          </a:p>
          <a:p>
            <a:pPr marL="628650" indent="-342900">
              <a:lnSpc>
                <a:spcPct val="150000"/>
              </a:lnSpc>
              <a:spcBef>
                <a:spcPts val="600"/>
              </a:spcBef>
              <a:buFont typeface="+mj-lt"/>
              <a:buAutoNum type="alphaLcPeriod"/>
            </a:pPr>
            <a:r>
              <a:rPr lang="zh-CN" altLang="en-US" sz="2400" dirty="0">
                <a:latin typeface="微软雅黑" panose="020B0503020204020204" pitchFamily="34" charset="-122"/>
                <a:ea typeface="微软雅黑" panose="020B0503020204020204" pitchFamily="34" charset="-122"/>
              </a:rPr>
              <a:t>可溶性血浆蛋白纤维蛋白原由α、β和γ亚基（α2β2γ2）这两个复合物组成。从α和β亚基中</a:t>
            </a:r>
            <a:r>
              <a:rPr lang="zh-CN" altLang="en-US" sz="2400" u="sng" dirty="0">
                <a:solidFill>
                  <a:srgbClr val="FF0000"/>
                </a:solidFill>
                <a:latin typeface="微软雅黑" panose="020B0503020204020204" pitchFamily="34" charset="-122"/>
                <a:ea typeface="微软雅黑" panose="020B0503020204020204" pitchFamily="34" charset="-122"/>
              </a:rPr>
              <a:t>去除氨基末端肽</a:t>
            </a:r>
            <a:r>
              <a:rPr lang="zh-CN" altLang="en-US" sz="2400" dirty="0">
                <a:latin typeface="微软雅黑" panose="020B0503020204020204" pitchFamily="34" charset="-122"/>
                <a:ea typeface="微软雅黑" panose="020B0503020204020204" pitchFamily="34" charset="-122"/>
              </a:rPr>
              <a:t>，导致高阶复合物的形成，并最终导致共价交联，从而导致纤维蛋白纤维的形成。</a:t>
            </a:r>
          </a:p>
        </p:txBody>
      </p:sp>
      <p:pic>
        <p:nvPicPr>
          <p:cNvPr id="4" name="图片 3"/>
          <p:cNvPicPr>
            <a:picLocks noChangeAspect="1"/>
          </p:cNvPicPr>
          <p:nvPr/>
        </p:nvPicPr>
        <p:blipFill>
          <a:blip r:embed="rId3"/>
          <a:srcRect r="326"/>
          <a:stretch>
            <a:fillRect/>
          </a:stretch>
        </p:blipFill>
        <p:spPr>
          <a:xfrm>
            <a:off x="6789421" y="1216025"/>
            <a:ext cx="3683635" cy="5265420"/>
          </a:xfrm>
          <a:prstGeom prst="rect">
            <a:avLst/>
          </a:prstGeom>
          <a:ln>
            <a:solidFill>
              <a:schemeClr val="tx1"/>
            </a:solidFill>
          </a:ln>
        </p:spPr>
      </p:pic>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967460" y="-43365"/>
            <a:ext cx="3416320" cy="16564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（三）水解激活</a:t>
            </a:r>
            <a:endParaRPr lang="zh-CN"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a:p>
            <a:pPr algn="ctr" defTabSz="914400" fontAlgn="base">
              <a:lnSpc>
                <a:spcPct val="150000"/>
              </a:lnSpc>
              <a:spcBef>
                <a:spcPct val="0"/>
              </a:spcBef>
              <a:spcAft>
                <a:spcPct val="0"/>
              </a:spcAft>
              <a:defRPr/>
            </a:pPr>
            <a:endPar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3"/>
          <a:stretch>
            <a:fillRect/>
          </a:stretch>
        </p:blipFill>
        <p:spPr>
          <a:xfrm>
            <a:off x="5158740" y="1368425"/>
            <a:ext cx="5417820" cy="5181600"/>
          </a:xfrm>
          <a:prstGeom prst="rect">
            <a:avLst/>
          </a:prstGeom>
        </p:spPr>
      </p:pic>
      <p:sp>
        <p:nvSpPr>
          <p:cNvPr id="8" name="文本框 7"/>
          <p:cNvSpPr txBox="1"/>
          <p:nvPr/>
        </p:nvSpPr>
        <p:spPr>
          <a:xfrm>
            <a:off x="1108604" y="1514146"/>
            <a:ext cx="3923453" cy="455137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凝血的联激活：</a:t>
            </a: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内在和外在途径聚集在因子X上，最终的共同途径</a:t>
            </a:r>
            <a:r>
              <a:rPr lang="zh-CN" altLang="en-US" sz="2400" u="sng" dirty="0">
                <a:latin typeface="微软雅黑" panose="020B0503020204020204" pitchFamily="34" charset="-122"/>
                <a:ea typeface="微软雅黑" panose="020B0503020204020204" pitchFamily="34" charset="-122"/>
              </a:rPr>
              <a:t>涉及</a:t>
            </a:r>
            <a:r>
              <a:rPr lang="zh-CN" altLang="en-US" sz="2400" u="sng" dirty="0">
                <a:solidFill>
                  <a:srgbClr val="FF0000"/>
                </a:solidFill>
                <a:latin typeface="微软雅黑" panose="020B0503020204020204" pitchFamily="34" charset="-122"/>
                <a:ea typeface="微软雅黑" panose="020B0503020204020204" pitchFamily="34" charset="-122"/>
              </a:rPr>
              <a:t>凝血酶的激活</a:t>
            </a:r>
            <a:r>
              <a:rPr lang="zh-CN" altLang="en-US" sz="2400" u="sng" dirty="0">
                <a:latin typeface="微软雅黑" panose="020B0503020204020204" pitchFamily="34" charset="-122"/>
                <a:ea typeface="微软雅黑" panose="020B0503020204020204" pitchFamily="34" charset="-122"/>
              </a:rPr>
              <a:t>及其将</a:t>
            </a:r>
            <a:r>
              <a:rPr lang="zh-CN" altLang="en-US" sz="2400" u="sng" dirty="0">
                <a:solidFill>
                  <a:srgbClr val="FF0000"/>
                </a:solidFill>
                <a:latin typeface="微软雅黑" panose="020B0503020204020204" pitchFamily="34" charset="-122"/>
                <a:ea typeface="微软雅黑" panose="020B0503020204020204" pitchFamily="34" charset="-122"/>
              </a:rPr>
              <a:t>纤维蛋白原转</a:t>
            </a:r>
            <a:r>
              <a:rPr lang="zh-CN" altLang="en-US" sz="2400" u="sng" dirty="0">
                <a:latin typeface="微软雅黑" panose="020B0503020204020204" pitchFamily="34" charset="-122"/>
                <a:ea typeface="微软雅黑" panose="020B0503020204020204" pitchFamily="34" charset="-122"/>
              </a:rPr>
              <a:t>化为</a:t>
            </a:r>
            <a:r>
              <a:rPr lang="zh-CN" altLang="en-US" sz="2400" u="sng" dirty="0">
                <a:solidFill>
                  <a:srgbClr val="FF0000"/>
                </a:solidFill>
                <a:latin typeface="微软雅黑" panose="020B0503020204020204" pitchFamily="34" charset="-122"/>
                <a:ea typeface="微软雅黑" panose="020B0503020204020204" pitchFamily="34" charset="-122"/>
              </a:rPr>
              <a:t>纤维蛋白</a:t>
            </a:r>
            <a:r>
              <a:rPr lang="zh-CN" altLang="en-US" sz="2400" dirty="0">
                <a:latin typeface="微软雅黑" panose="020B0503020204020204" pitchFamily="34" charset="-122"/>
                <a:ea typeface="微软雅黑" panose="020B0503020204020204" pitchFamily="34" charset="-122"/>
              </a:rPr>
              <a:t>，纤维蛋白聚集成有序的丝状阵列，交联形成凝块。</a:t>
            </a:r>
          </a:p>
        </p:txBody>
      </p:sp>
      <p:sp>
        <p:nvSpPr>
          <p:cNvPr id="9" name="文本框 8"/>
          <p:cNvSpPr txBox="1"/>
          <p:nvPr/>
        </p:nvSpPr>
        <p:spPr>
          <a:xfrm>
            <a:off x="6692900" y="1368425"/>
            <a:ext cx="690880" cy="398780"/>
          </a:xfrm>
          <a:prstGeom prst="rect">
            <a:avLst/>
          </a:prstGeom>
          <a:noFill/>
        </p:spPr>
        <p:txBody>
          <a:bodyPr wrap="none" rtlCol="0">
            <a:spAutoFit/>
          </a:bodyPr>
          <a:lstStyle/>
          <a:p>
            <a:r>
              <a:rPr lang="zh-CN" altLang="en-US" sz="1000" b="1" dirty="0">
                <a:latin typeface="微软雅黑" panose="020B0503020204020204" pitchFamily="34" charset="-122"/>
                <a:ea typeface="微软雅黑" panose="020B0503020204020204" pitchFamily="34" charset="-122"/>
              </a:rPr>
              <a:t>内在途径</a:t>
            </a:r>
          </a:p>
          <a:p>
            <a:r>
              <a:rPr lang="zh-CN" altLang="en-US" sz="1000" b="1" dirty="0">
                <a:latin typeface="微软雅黑" panose="020B0503020204020204" pitchFamily="34" charset="-122"/>
                <a:ea typeface="微软雅黑" panose="020B0503020204020204" pitchFamily="34" charset="-122"/>
              </a:rPr>
              <a:t>损伤表面</a:t>
            </a:r>
          </a:p>
        </p:txBody>
      </p:sp>
      <p:sp>
        <p:nvSpPr>
          <p:cNvPr id="10" name="文本框 9"/>
          <p:cNvSpPr txBox="1"/>
          <p:nvPr/>
        </p:nvSpPr>
        <p:spPr>
          <a:xfrm>
            <a:off x="6334760" y="2070100"/>
            <a:ext cx="817880" cy="398780"/>
          </a:xfrm>
          <a:prstGeom prst="rect">
            <a:avLst/>
          </a:prstGeom>
          <a:noFill/>
        </p:spPr>
        <p:txBody>
          <a:bodyPr wrap="none" rtlCol="0">
            <a:spAutoFit/>
          </a:bodyPr>
          <a:lstStyle/>
          <a:p>
            <a:r>
              <a:rPr lang="zh-CN" altLang="en-US" sz="1000" b="1" dirty="0">
                <a:latin typeface="微软雅黑" panose="020B0503020204020204" pitchFamily="34" charset="-122"/>
                <a:ea typeface="微软雅黑" panose="020B0503020204020204" pitchFamily="34" charset="-122"/>
              </a:rPr>
              <a:t>激肽原</a:t>
            </a:r>
          </a:p>
          <a:p>
            <a:r>
              <a:rPr lang="zh-CN" altLang="en-US" sz="1000" b="1" dirty="0">
                <a:latin typeface="微软雅黑" panose="020B0503020204020204" pitchFamily="34" charset="-122"/>
                <a:ea typeface="微软雅黑" panose="020B0503020204020204" pitchFamily="34" charset="-122"/>
              </a:rPr>
              <a:t>激肽释放酶</a:t>
            </a:r>
          </a:p>
        </p:txBody>
      </p:sp>
      <p:sp>
        <p:nvSpPr>
          <p:cNvPr id="11" name="文本框 10"/>
          <p:cNvSpPr txBox="1"/>
          <p:nvPr/>
        </p:nvSpPr>
        <p:spPr>
          <a:xfrm>
            <a:off x="9192260" y="1767205"/>
            <a:ext cx="690880" cy="398780"/>
          </a:xfrm>
          <a:prstGeom prst="rect">
            <a:avLst/>
          </a:prstGeom>
          <a:noFill/>
        </p:spPr>
        <p:txBody>
          <a:bodyPr wrap="none" rtlCol="0">
            <a:spAutoFit/>
          </a:bodyPr>
          <a:lstStyle/>
          <a:p>
            <a:r>
              <a:rPr lang="zh-CN" altLang="en-US" sz="1000" b="1" dirty="0">
                <a:latin typeface="微软雅黑" panose="020B0503020204020204" pitchFamily="34" charset="-122"/>
                <a:ea typeface="微软雅黑" panose="020B0503020204020204" pitchFamily="34" charset="-122"/>
              </a:rPr>
              <a:t>外在途径</a:t>
            </a:r>
          </a:p>
          <a:p>
            <a:r>
              <a:rPr lang="zh-CN" altLang="en-US" sz="1000" b="1" dirty="0">
                <a:latin typeface="微软雅黑" panose="020B0503020204020204" pitchFamily="34" charset="-122"/>
                <a:ea typeface="微软雅黑" panose="020B0503020204020204" pitchFamily="34" charset="-122"/>
              </a:rPr>
              <a:t>创伤</a:t>
            </a:r>
          </a:p>
        </p:txBody>
      </p:sp>
      <p:sp>
        <p:nvSpPr>
          <p:cNvPr id="12" name="文本框 11"/>
          <p:cNvSpPr txBox="1"/>
          <p:nvPr/>
        </p:nvSpPr>
        <p:spPr>
          <a:xfrm>
            <a:off x="9427210" y="3324860"/>
            <a:ext cx="1211580" cy="245110"/>
          </a:xfrm>
          <a:prstGeom prst="rect">
            <a:avLst/>
          </a:prstGeom>
          <a:noFill/>
        </p:spPr>
        <p:txBody>
          <a:bodyPr wrap="none" rtlCol="0">
            <a:spAutoFit/>
          </a:bodyPr>
          <a:lstStyle/>
          <a:p>
            <a:r>
              <a:rPr lang="zh-CN" altLang="en-US" sz="1000" b="1" dirty="0">
                <a:latin typeface="微软雅黑" panose="020B0503020204020204" pitchFamily="34" charset="-122"/>
                <a:ea typeface="微软雅黑" panose="020B0503020204020204" pitchFamily="34" charset="-122"/>
              </a:rPr>
              <a:t>组织因子</a:t>
            </a:r>
            <a:r>
              <a:rPr lang="en-US" altLang="zh-CN" sz="1000" b="1" dirty="0">
                <a:latin typeface="微软雅黑" panose="020B0503020204020204" pitchFamily="34" charset="-122"/>
                <a:ea typeface="微软雅黑" panose="020B0503020204020204" pitchFamily="34" charset="-122"/>
              </a:rPr>
              <a:t>       </a:t>
            </a:r>
            <a:r>
              <a:rPr lang="zh-CN" altLang="en-US" sz="1000" b="1" dirty="0">
                <a:latin typeface="微软雅黑" panose="020B0503020204020204" pitchFamily="34" charset="-122"/>
                <a:ea typeface="微软雅黑" panose="020B0503020204020204" pitchFamily="34" charset="-122"/>
              </a:rPr>
              <a:t>创伤</a:t>
            </a:r>
          </a:p>
        </p:txBody>
      </p:sp>
      <p:sp>
        <p:nvSpPr>
          <p:cNvPr id="13" name="文本框 12"/>
          <p:cNvSpPr txBox="1"/>
          <p:nvPr/>
        </p:nvSpPr>
        <p:spPr>
          <a:xfrm>
            <a:off x="7350760" y="4956810"/>
            <a:ext cx="2367280" cy="245110"/>
          </a:xfrm>
          <a:prstGeom prst="rect">
            <a:avLst/>
          </a:prstGeom>
          <a:noFill/>
        </p:spPr>
        <p:txBody>
          <a:bodyPr wrap="none" rtlCol="0">
            <a:spAutoFit/>
          </a:bodyPr>
          <a:lstStyle/>
          <a:p>
            <a:r>
              <a:rPr lang="zh-CN" altLang="en-US" sz="1000" b="1" dirty="0">
                <a:latin typeface="微软雅黑" panose="020B0503020204020204" pitchFamily="34" charset="-122"/>
                <a:ea typeface="微软雅黑" panose="020B0503020204020204" pitchFamily="34" charset="-122"/>
              </a:rPr>
              <a:t>凝血酶原</a:t>
            </a:r>
            <a:r>
              <a:rPr lang="en-US" altLang="zh-CN" sz="1000" b="1" dirty="0">
                <a:latin typeface="微软雅黑" panose="020B0503020204020204" pitchFamily="34" charset="-122"/>
                <a:ea typeface="微软雅黑" panose="020B0503020204020204" pitchFamily="34" charset="-122"/>
              </a:rPr>
              <a:t>                             </a:t>
            </a:r>
            <a:r>
              <a:rPr lang="zh-CN" altLang="en-US" sz="1000" b="1" dirty="0">
                <a:latin typeface="微软雅黑" panose="020B0503020204020204" pitchFamily="34" charset="-122"/>
                <a:ea typeface="微软雅黑" panose="020B0503020204020204" pitchFamily="34" charset="-122"/>
              </a:rPr>
              <a:t>凝血酶</a:t>
            </a:r>
            <a:r>
              <a:rPr lang="en-US" altLang="zh-CN" sz="1000" b="1" dirty="0">
                <a:latin typeface="微软雅黑" panose="020B0503020204020204" pitchFamily="34" charset="-122"/>
                <a:ea typeface="微软雅黑" panose="020B0503020204020204" pitchFamily="34" charset="-122"/>
              </a:rPr>
              <a:t>     </a:t>
            </a:r>
            <a:endParaRPr lang="zh-CN" altLang="en-US" sz="1000" b="1"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8034655" y="5464810"/>
            <a:ext cx="2545080" cy="245110"/>
          </a:xfrm>
          <a:prstGeom prst="rect">
            <a:avLst/>
          </a:prstGeom>
          <a:noFill/>
        </p:spPr>
        <p:txBody>
          <a:bodyPr wrap="none" rtlCol="0">
            <a:spAutoFit/>
          </a:bodyPr>
          <a:lstStyle/>
          <a:p>
            <a:r>
              <a:rPr lang="zh-CN" altLang="en-US" sz="1000" b="1" dirty="0">
                <a:latin typeface="微软雅黑" panose="020B0503020204020204" pitchFamily="34" charset="-122"/>
                <a:ea typeface="微软雅黑" panose="020B0503020204020204" pitchFamily="34" charset="-122"/>
              </a:rPr>
              <a:t>血纤蛋白原</a:t>
            </a:r>
            <a:r>
              <a:rPr lang="en-US" altLang="zh-CN" sz="1000" b="1" dirty="0">
                <a:latin typeface="微软雅黑" panose="020B0503020204020204" pitchFamily="34" charset="-122"/>
                <a:ea typeface="微软雅黑" panose="020B0503020204020204" pitchFamily="34" charset="-122"/>
              </a:rPr>
              <a:t>                             </a:t>
            </a:r>
            <a:r>
              <a:rPr lang="zh-CN" altLang="en-US" sz="1000" b="1" dirty="0">
                <a:latin typeface="微软雅黑" panose="020B0503020204020204" pitchFamily="34" charset="-122"/>
                <a:ea typeface="微软雅黑" panose="020B0503020204020204" pitchFamily="34" charset="-122"/>
                <a:sym typeface="+mn-ea"/>
              </a:rPr>
              <a:t>血纤蛋白</a:t>
            </a:r>
            <a:r>
              <a:rPr lang="en-US" altLang="zh-CN" sz="1000" b="1" dirty="0">
                <a:latin typeface="微软雅黑" panose="020B0503020204020204" pitchFamily="34" charset="-122"/>
                <a:ea typeface="微软雅黑" panose="020B0503020204020204" pitchFamily="34" charset="-122"/>
              </a:rPr>
              <a:t>   </a:t>
            </a:r>
            <a:endParaRPr lang="zh-CN" altLang="en-US" sz="1000" b="1"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6595110" y="5622925"/>
            <a:ext cx="1186180" cy="245110"/>
          </a:xfrm>
          <a:prstGeom prst="rect">
            <a:avLst/>
          </a:prstGeom>
          <a:noFill/>
        </p:spPr>
        <p:txBody>
          <a:bodyPr wrap="none" rtlCol="0">
            <a:spAutoFit/>
          </a:bodyPr>
          <a:lstStyle/>
          <a:p>
            <a:r>
              <a:rPr lang="zh-CN" altLang="en-US" sz="1000" b="1" dirty="0">
                <a:latin typeface="微软雅黑" panose="020B0503020204020204" pitchFamily="34" charset="-122"/>
                <a:ea typeface="微软雅黑" panose="020B0503020204020204" pitchFamily="34" charset="-122"/>
              </a:rPr>
              <a:t>最终的共同途径</a:t>
            </a:r>
            <a:r>
              <a:rPr lang="en-US" altLang="zh-CN" sz="1000" b="1" dirty="0">
                <a:latin typeface="微软雅黑" panose="020B0503020204020204" pitchFamily="34" charset="-122"/>
                <a:ea typeface="微软雅黑" panose="020B0503020204020204" pitchFamily="34" charset="-122"/>
              </a:rPr>
              <a:t>   </a:t>
            </a:r>
            <a:endParaRPr lang="zh-CN" altLang="en-US" sz="1000" b="1"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8512175" y="6065520"/>
            <a:ext cx="1313180" cy="245110"/>
          </a:xfrm>
          <a:prstGeom prst="rect">
            <a:avLst/>
          </a:prstGeom>
          <a:noFill/>
        </p:spPr>
        <p:txBody>
          <a:bodyPr wrap="none" rtlCol="0">
            <a:spAutoFit/>
          </a:bodyPr>
          <a:lstStyle/>
          <a:p>
            <a:r>
              <a:rPr lang="zh-CN" altLang="en-US" sz="1000" b="1" dirty="0">
                <a:latin typeface="微软雅黑" panose="020B0503020204020204" pitchFamily="34" charset="-122"/>
                <a:ea typeface="微软雅黑" panose="020B0503020204020204" pitchFamily="34" charset="-122"/>
              </a:rPr>
              <a:t>交联血纤蛋白凝块</a:t>
            </a:r>
            <a:r>
              <a:rPr lang="en-US" altLang="zh-CN" sz="1000" b="1" dirty="0">
                <a:latin typeface="微软雅黑" panose="020B0503020204020204" pitchFamily="34" charset="-122"/>
                <a:ea typeface="微软雅黑" panose="020B0503020204020204" pitchFamily="34" charset="-122"/>
              </a:rPr>
              <a:t>   </a:t>
            </a:r>
            <a:endParaRPr lang="zh-CN" altLang="en-US" sz="1000" b="1" dirty="0">
              <a:latin typeface="微软雅黑" panose="020B0503020204020204" pitchFamily="34" charset="-122"/>
              <a:ea typeface="微软雅黑" panose="020B0503020204020204" pitchFamily="34" charset="-122"/>
            </a:endParaRP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060998" y="1447800"/>
            <a:ext cx="7623810" cy="1135054"/>
          </a:xfrm>
          <a:prstGeom prst="rect">
            <a:avLst/>
          </a:prstGeom>
          <a:noFill/>
        </p:spPr>
        <p:txBody>
          <a:bodyPr wrap="square" rtlCol="0" anchor="t">
            <a:spAutoFit/>
          </a:bodyPr>
          <a:lstStyle/>
          <a:p>
            <a:pPr marL="342900" indent="-342900">
              <a:lnSpc>
                <a:spcPct val="150000"/>
              </a:lnSpc>
              <a:buFont typeface="Arial" panose="020B0604020202020204" pitchFamily="34" charset="0"/>
              <a:buChar char="•"/>
            </a:pP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Arial" panose="020B0604020202020204" pitchFamily="34" charset="0"/>
              <a:buChar char="•"/>
            </a:pP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218" name="内容占位符 2"/>
          <p:cNvSpPr>
            <a:spLocks noGrp="1"/>
          </p:cNvSpPr>
          <p:nvPr>
            <p:ph type="subTitle" idx="4294967295"/>
          </p:nvPr>
        </p:nvSpPr>
        <p:spPr>
          <a:xfrm>
            <a:off x="539856" y="1208056"/>
            <a:ext cx="10331344" cy="2133600"/>
          </a:xfrm>
        </p:spPr>
        <p:txBody>
          <a:bodyPr vert="horz" wrap="square" lIns="91440" tIns="45720" rIns="91440" bIns="45720" rtlCol="0" anchor="t" anchorCtr="0">
            <a:noAutofit/>
          </a:bodyPr>
          <a:lstStyle/>
          <a:p>
            <a:pPr marL="342900" indent="-342900" algn="l">
              <a:lnSpc>
                <a:spcPct val="150000"/>
              </a:lnSpc>
              <a:buClr>
                <a:srgbClr val="000000"/>
              </a:buClr>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定义</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是指催化相同的反应，但性质不同（</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V</a:t>
            </a:r>
            <a:r>
              <a:rPr lang="en-US" altLang="zh-CN" sz="2400" i="1" baseline="-25000" dirty="0">
                <a:latin typeface="微软雅黑" panose="020B0503020204020204" pitchFamily="34" charset="-122"/>
                <a:ea typeface="微软雅黑" panose="020B0503020204020204" pitchFamily="34" charset="-122"/>
                <a:cs typeface="微软雅黑" panose="020B0503020204020204" pitchFamily="34" charset="-122"/>
              </a:rPr>
              <a:t>max</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i="1" dirty="0">
                <a:latin typeface="微软雅黑" panose="020B0503020204020204" pitchFamily="34" charset="-122"/>
                <a:ea typeface="微软雅黑" panose="020B0503020204020204" pitchFamily="34" charset="-122"/>
                <a:cs typeface="微软雅黑" panose="020B0503020204020204" pitchFamily="34" charset="-122"/>
              </a:rPr>
              <a:t>K</a:t>
            </a:r>
            <a:r>
              <a:rPr lang="en-US" altLang="zh-CN" sz="2400" i="1" baseline="-25000" dirty="0">
                <a:latin typeface="微软雅黑" panose="020B0503020204020204" pitchFamily="34" charset="-122"/>
                <a:ea typeface="微软雅黑" panose="020B0503020204020204" pitchFamily="34" charset="-122"/>
                <a:cs typeface="微软雅黑" panose="020B0503020204020204" pitchFamily="34" charset="-122"/>
              </a:rPr>
              <a:t>m</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不同）的酶。它们可能以不同的量，出现在一种动物不同的组织或器官，也可能出现在任何真核生物细胞不同的细胞器。</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l">
              <a:lnSpc>
                <a:spcPct val="150000"/>
              </a:lnSpc>
              <a:buClr>
                <a:srgbClr val="000000"/>
              </a:buClr>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实例</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高等动物的乳酸脱氢酶（</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LDH</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）有五种形式—</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M4</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M3H</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M2H2</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MH3</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H4</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M4</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由四个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M</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亚基组成，主要存在于骨骼肌，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H4</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由四个</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H</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亚基组成，主要存在于心脏。</a:t>
            </a:r>
          </a:p>
        </p:txBody>
      </p:sp>
      <p:pic>
        <p:nvPicPr>
          <p:cNvPr id="9220" name="Picture 7"/>
          <p:cNvPicPr>
            <a:picLocks noChangeAspect="1"/>
          </p:cNvPicPr>
          <p:nvPr/>
        </p:nvPicPr>
        <p:blipFill>
          <a:blip r:embed="rId3">
            <a:lum bright="-6000" contrast="-6000"/>
          </a:blip>
          <a:stretch>
            <a:fillRect/>
          </a:stretch>
        </p:blipFill>
        <p:spPr>
          <a:xfrm>
            <a:off x="3016674" y="4718686"/>
            <a:ext cx="5531485" cy="1704975"/>
          </a:xfrm>
          <a:prstGeom prst="rect">
            <a:avLst/>
          </a:prstGeom>
          <a:noFill/>
          <a:ln w="9525">
            <a:noFill/>
          </a:ln>
        </p:spPr>
      </p:pic>
      <p:sp>
        <p:nvSpPr>
          <p:cNvPr id="5" name="矩形 4"/>
          <p:cNvSpPr/>
          <p:nvPr/>
        </p:nvSpPr>
        <p:spPr>
          <a:xfrm>
            <a:off x="4018109" y="-84365"/>
            <a:ext cx="2749471" cy="906915"/>
          </a:xfrm>
          <a:prstGeom prst="rect">
            <a:avLst/>
          </a:prstGeom>
        </p:spPr>
        <p:txBody>
          <a:bodyPr wrap="none">
            <a:spAutoFit/>
          </a:bodyPr>
          <a:lstStyle/>
          <a:p>
            <a:pPr algn="ctr" defTabSz="914400" fontAlgn="base">
              <a:lnSpc>
                <a:spcPct val="150000"/>
              </a:lnSpc>
              <a:spcBef>
                <a:spcPct val="0"/>
              </a:spcBef>
              <a:spcAft>
                <a:spcPct val="0"/>
              </a:spcAft>
              <a:defRPr/>
            </a:pPr>
            <a:r>
              <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二、同工酶</a:t>
            </a:r>
          </a:p>
        </p:txBody>
      </p:sp>
      <p:cxnSp>
        <p:nvCxnSpPr>
          <p:cNvPr id="6" name="直接箭头连接符 5"/>
          <p:cNvCxnSpPr/>
          <p:nvPr/>
        </p:nvCxnSpPr>
        <p:spPr>
          <a:xfrm flipH="1">
            <a:off x="5348394" y="4866005"/>
            <a:ext cx="817245" cy="0"/>
          </a:xfrm>
          <a:prstGeom prst="straightConnector1">
            <a:avLst/>
          </a:prstGeom>
          <a:ln w="1905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5793528" y="5873750"/>
            <a:ext cx="72390" cy="21844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 name="直接箭头连接符 2"/>
          <p:cNvCxnSpPr/>
          <p:nvPr/>
        </p:nvCxnSpPr>
        <p:spPr>
          <a:xfrm flipH="1">
            <a:off x="5392844" y="5982335"/>
            <a:ext cx="817245" cy="0"/>
          </a:xfrm>
          <a:prstGeom prst="straightConnector1">
            <a:avLst/>
          </a:prstGeom>
          <a:ln w="19050">
            <a:solidFill>
              <a:srgbClr val="FF0000"/>
            </a:solidFill>
            <a:prstDash val="dash"/>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18">
                                            <p:txEl>
                                              <p:pRg st="0" end="0"/>
                                            </p:txEl>
                                          </p:spTgt>
                                        </p:tgtEl>
                                        <p:attrNameLst>
                                          <p:attrName>style.visibility</p:attrName>
                                        </p:attrNameLst>
                                      </p:cBhvr>
                                      <p:to>
                                        <p:strVal val="visible"/>
                                      </p:to>
                                    </p:set>
                                    <p:anim calcmode="lin" valueType="num">
                                      <p:cBhvr additive="base">
                                        <p:cTn id="7" dur="500" fill="hold"/>
                                        <p:tgtEl>
                                          <p:spTgt spid="92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218">
                                            <p:txEl>
                                              <p:pRg st="1" end="1"/>
                                            </p:txEl>
                                          </p:spTgt>
                                        </p:tgtEl>
                                        <p:attrNameLst>
                                          <p:attrName>style.visibility</p:attrName>
                                        </p:attrNameLst>
                                      </p:cBhvr>
                                      <p:to>
                                        <p:strVal val="visible"/>
                                      </p:to>
                                    </p:set>
                                    <p:anim calcmode="lin" valueType="num">
                                      <p:cBhvr additive="base">
                                        <p:cTn id="13" dur="500" fill="hold"/>
                                        <p:tgtEl>
                                          <p:spTgt spid="921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21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20"/>
                                        </p:tgtEl>
                                        <p:attrNameLst>
                                          <p:attrName>style.visibility</p:attrName>
                                        </p:attrNameLst>
                                      </p:cBhvr>
                                      <p:to>
                                        <p:strVal val="visible"/>
                                      </p:to>
                                    </p:set>
                                    <p:anim calcmode="lin" valueType="num">
                                      <p:cBhvr additive="base">
                                        <p:cTn id="19" dur="500" fill="hold"/>
                                        <p:tgtEl>
                                          <p:spTgt spid="9220"/>
                                        </p:tgtEl>
                                        <p:attrNameLst>
                                          <p:attrName>ppt_x</p:attrName>
                                        </p:attrNameLst>
                                      </p:cBhvr>
                                      <p:tavLst>
                                        <p:tav tm="0">
                                          <p:val>
                                            <p:strVal val="#ppt_x"/>
                                          </p:val>
                                        </p:tav>
                                        <p:tav tm="100000">
                                          <p:val>
                                            <p:strVal val="#ppt_x"/>
                                          </p:val>
                                        </p:tav>
                                      </p:tavLst>
                                    </p:anim>
                                    <p:anim calcmode="lin" valueType="num">
                                      <p:cBhvr additive="base">
                                        <p:cTn id="20" dur="500" fill="hold"/>
                                        <p:tgtEl>
                                          <p:spTgt spid="92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ppt_x"/>
                                          </p:val>
                                        </p:tav>
                                        <p:tav tm="100000">
                                          <p:val>
                                            <p:strVal val="#ppt_x"/>
                                          </p:val>
                                        </p:tav>
                                      </p:tavLst>
                                    </p:anim>
                                    <p:anim calcmode="lin" valueType="num">
                                      <p:cBhvr additive="base">
                                        <p:cTn id="3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p:bldP spid="9218" grpId="1" build="p"/>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1c689572-c6d0-40cb-a2e1-03c9615f9b5b"/>
  <p:tag name="COMMONDATA" val="eyJoZGlkIjoiZTQ4ODQwNThiYTg4YTBlNDhkZDRmNGNiNWM5NWE1YzA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4272,&quot;width&quot;:6948}"/>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120</TotalTime>
  <Words>2990</Words>
  <Application>Microsoft Office PowerPoint</Application>
  <PresentationFormat>宽屏</PresentationFormat>
  <Paragraphs>248</Paragraphs>
  <Slides>59</Slides>
  <Notes>39</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59</vt:i4>
      </vt:variant>
    </vt:vector>
  </HeadingPairs>
  <TitlesOfParts>
    <vt:vector size="73" baseType="lpstr">
      <vt:lpstr>等线</vt:lpstr>
      <vt:lpstr>楷体</vt:lpstr>
      <vt:lpstr>微软雅黑</vt:lpstr>
      <vt:lpstr>Arial</vt:lpstr>
      <vt:lpstr>Calibri</vt:lpstr>
      <vt:lpstr>Calibri Light</vt:lpstr>
      <vt:lpstr>Comic Sans MS</vt:lpstr>
      <vt:lpstr>Impact</vt:lpstr>
      <vt:lpstr>Times</vt:lpstr>
      <vt:lpstr>Times New Roman</vt:lpstr>
      <vt:lpstr>Wingdings</vt:lpstr>
      <vt:lpstr>Office 主题​​</vt:lpstr>
      <vt:lpstr>2_Office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Glu35和Asp52分别所起的广义酸催化和静电催化，解释了溶菌酶的活性与pH之间的关系以及它的最适pH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aging00</dc:creator>
  <cp:lastModifiedBy>Admin</cp:lastModifiedBy>
  <cp:revision>787</cp:revision>
  <dcterms:created xsi:type="dcterms:W3CDTF">2021-04-13T08:56:00Z</dcterms:created>
  <dcterms:modified xsi:type="dcterms:W3CDTF">2023-11-11T08:01:23Z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57CBEB9832164ED789EE312EFDE435A9</vt:lpwstr>
  </property>
  <property fmtid="{D5CDD505-2E9C-101B-9397-08002B2CF9AE}" pid="3" name="KSOProductBuildVer">
    <vt:lpwstr>2052-11.1.0.14309</vt:lpwstr>
  </property>
</Properties>
</file>