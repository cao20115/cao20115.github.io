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8"/>
  </p:notesMasterIdLst>
  <p:sldIdLst>
    <p:sldId id="1205" r:id="rId3"/>
    <p:sldId id="640" r:id="rId4"/>
    <p:sldId id="642" r:id="rId5"/>
    <p:sldId id="643" r:id="rId6"/>
    <p:sldId id="644" r:id="rId7"/>
    <p:sldId id="648" r:id="rId8"/>
    <p:sldId id="647" r:id="rId9"/>
    <p:sldId id="650" r:id="rId10"/>
    <p:sldId id="632" r:id="rId11"/>
    <p:sldId id="669" r:id="rId12"/>
    <p:sldId id="670" r:id="rId13"/>
    <p:sldId id="671" r:id="rId14"/>
    <p:sldId id="672" r:id="rId15"/>
    <p:sldId id="673" r:id="rId16"/>
    <p:sldId id="674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DD6F7-F09E-4907-BF79-6C84CA457639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9383A-97AB-4E9F-ADB2-1ECE650A7D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2023/12/19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2023/12/19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2023/12/19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2023/12/19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2023/12/19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2023/12/19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763086" y="2167116"/>
            <a:ext cx="291713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/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36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章</a:t>
            </a: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 defTabSz="342900"/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酶引论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98968" y="-103677"/>
            <a:ext cx="6808275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1、酶与非生物催化剂的共性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08176" y="1811656"/>
            <a:ext cx="9116568" cy="2907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显著加快反应的</a:t>
            </a:r>
            <a:r>
              <a:rPr lang="zh-CN" altLang="en-US" sz="28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速率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，但不改变反应的</a:t>
            </a:r>
            <a:r>
              <a:rPr lang="zh-CN" altLang="en-US" sz="28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平衡点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用量少、反应前后不发生质与量的变化。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都能降低反应的</a:t>
            </a:r>
            <a:r>
              <a:rPr lang="zh-CN" altLang="en-US" sz="28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活化能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都只能催化热力学上允许的反应。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71854" y="-68318"/>
            <a:ext cx="6808275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2、酶作为生物催化剂的特性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163825" y="1975486"/>
            <a:ext cx="8842122" cy="2907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催化效率极高；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高度的专一性；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反应条件温和；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酶活性受到调控。</a:t>
            </a: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455258" y="-163255"/>
            <a:ext cx="4604146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）高度的专一性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1792" y="901369"/>
            <a:ext cx="10881096" cy="55670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）绝对专一性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9705"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是指一种酶仅催化一个特定的反应。例如，脲酶只能催化尿素的水解反应；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）基团专一性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9705"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是指一种酶只作用于含有特定官能团的分子。如磷酸酶只水解特定底物分子上的磷酸基团；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）键专一性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9705"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是指一种酶只作用于含有一种特定化学键的分子，而不管底物分子其他部分的结构。如二肽酶识别的是二肽分子中的肽键，而不管构成这个肽键的两个氨基酸残基是哪一种；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）立体专一性</a:t>
            </a: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554650" y="-88196"/>
            <a:ext cx="4604146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）高度的专一性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927212" y="2008009"/>
            <a:ext cx="7623810" cy="26015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解释酶专一性的三种模型：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锁与钥匙学说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诱导契合学说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“三点附着”模型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（立体专一性）</a:t>
            </a: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521519" y="-88196"/>
            <a:ext cx="4604146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）高度的专一性</a:t>
            </a:r>
          </a:p>
        </p:txBody>
      </p:sp>
      <p:pic>
        <p:nvPicPr>
          <p:cNvPr id="20482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850124"/>
            <a:ext cx="6940296" cy="599594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676028" y="1318344"/>
            <a:ext cx="2046605" cy="4603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 typeface="Arial" panose="020B0604020202020204" pitchFamily="34" charset="0"/>
            </a:pP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诱导契合学说</a:t>
            </a: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541398" y="-114700"/>
            <a:ext cx="4604146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）高度的专一性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85568" y="1289049"/>
            <a:ext cx="327798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“三点附着”模型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1507" name="Object 1"/>
          <p:cNvGraphicFramePr>
            <a:graphicFrameLocks noChangeAspect="1"/>
          </p:cNvGraphicFramePr>
          <p:nvPr/>
        </p:nvGraphicFramePr>
        <p:xfrm>
          <a:off x="5366273" y="1289049"/>
          <a:ext cx="5184637" cy="518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800725" imgH="5800725" progId="Paint.Picture">
                  <p:embed/>
                </p:oleObj>
              </mc:Choice>
              <mc:Fallback>
                <p:oleObj r:id="rId3" imgW="5800725" imgH="5800725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6273" y="1289049"/>
                        <a:ext cx="5184637" cy="5184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147706" y="-108788"/>
            <a:ext cx="5630067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酶活性受到调控。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498206" y="2929890"/>
            <a:ext cx="2069797" cy="121199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342900" indent="-342900"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酶的量；</a:t>
            </a:r>
          </a:p>
          <a:p>
            <a:pPr marL="342900" indent="-342900"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酶的活性。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851" y="1017271"/>
            <a:ext cx="8241665" cy="49650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344535" y="1558926"/>
            <a:ext cx="1415772" cy="418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（去）磷酸化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220836" y="2174876"/>
            <a:ext cx="1005403" cy="418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配体结合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461635" y="1793876"/>
            <a:ext cx="1415772" cy="418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调节蛋白结合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093836" y="3582036"/>
            <a:ext cx="1005403" cy="418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底物结合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403341" y="4640581"/>
            <a:ext cx="595035" cy="418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降解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421371" y="5464176"/>
            <a:ext cx="1620957" cy="418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区隔于特定位置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19655" y="6139815"/>
            <a:ext cx="3505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酶的调节：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活性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，量，分布。</a:t>
            </a: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524000" y="224619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02553" y="284178"/>
              <a:ext cx="717469" cy="559734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80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6.2</a:t>
              </a:r>
              <a:endParaRPr lang="zh-CN" altLang="en-US" sz="8000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501976" y="2737651"/>
            <a:ext cx="5050408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酶的化学组成</a:t>
            </a: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3449437" y="-112644"/>
            <a:ext cx="4801315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单纯酶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缀合酶</a:t>
            </a:r>
          </a:p>
        </p:txBody>
      </p:sp>
      <p:sp>
        <p:nvSpPr>
          <p:cNvPr id="25601" name="内容占位符 2"/>
          <p:cNvSpPr>
            <a:spLocks noGrp="1"/>
          </p:cNvSpPr>
          <p:nvPr>
            <p:ph type="subTitle" idx="4294967295"/>
          </p:nvPr>
        </p:nvSpPr>
        <p:spPr>
          <a:xfrm>
            <a:off x="283464" y="1009098"/>
            <a:ext cx="11643907" cy="4343400"/>
          </a:xfrm>
          <a:ln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fontAlgn="auto">
              <a:lnSpc>
                <a:spcPct val="150000"/>
              </a:lnSpc>
              <a:buClr>
                <a:srgbClr val="000000"/>
              </a:buClr>
            </a:pP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属于单纯蛋白质的酶为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单纯酶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，属于缀合蛋白质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的酶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缀合酶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或结合酶。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buClr>
                <a:srgbClr val="000000"/>
              </a:buClr>
            </a:pP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缀合酶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除了蛋白质以外，还结合某些对热稳定的非蛋白质小分子或金属离子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，它们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统称为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辅助因子（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cofactor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。丧失辅助因子的酶被称为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脱辅酶（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apoenzyme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，与辅助因子结合在一起的酶被称为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全酶（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holoenzyme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buClr>
                <a:srgbClr val="000000"/>
              </a:buClr>
            </a:pPr>
            <a:r>
              <a:rPr lang="zh-CN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辅助因子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：包括</a:t>
            </a:r>
            <a:r>
              <a:rPr lang="zh-CN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辅酶（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coenzyme</a:t>
            </a:r>
            <a:r>
              <a:rPr lang="zh-CN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辅基（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prosthetic group</a:t>
            </a:r>
            <a:r>
              <a:rPr lang="zh-CN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金属离子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。辅酶指那些与脱辅酶结合松散、使用透析的方法就容易去除的有机小分子。辅基指那些与脱辅酶结合紧密、使用透析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或超滤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的方法难以去除的有机小分子。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3442811" y="-103005"/>
            <a:ext cx="4801315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单纯酶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缀合酶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-5264"/>
          <a:stretch>
            <a:fillRect/>
          </a:stretch>
        </p:blipFill>
        <p:spPr>
          <a:xfrm>
            <a:off x="1774825" y="1764030"/>
            <a:ext cx="8723630" cy="469392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1774826" y="1116966"/>
            <a:ext cx="4488815" cy="4603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酶中代表性的金属离子辅助因子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28920" y="2390141"/>
            <a:ext cx="1441420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细胞色素氧化酶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328921" y="2784476"/>
            <a:ext cx="902811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己糖激酶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328920" y="3198496"/>
            <a:ext cx="1661032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核糖核苷酸还原酶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328921" y="3616961"/>
            <a:ext cx="1301959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亚硝酸还原酶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328921" y="4035426"/>
            <a:ext cx="1122423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乙醇脱氢酶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328920" y="4519296"/>
            <a:ext cx="583814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脲酶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328921" y="4933316"/>
            <a:ext cx="1122423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丙酮酸激酶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328921" y="5346701"/>
            <a:ext cx="1701107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 谷胱甘肽过氧化酶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328921" y="5760721"/>
            <a:ext cx="1301959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黄嘌呤氧化酶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044306" y="2517141"/>
            <a:ext cx="902811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/>
              <a:t>氧化还原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926830" y="2931161"/>
            <a:ext cx="1182118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/>
              <a:t>帮助结合</a:t>
            </a:r>
            <a:r>
              <a:rPr lang="en-US" altLang="zh-CN" sz="1400" b="1"/>
              <a:t>ATP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168131" y="3345181"/>
            <a:ext cx="902811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/>
              <a:t>氧化还原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203691" y="3824606"/>
            <a:ext cx="902811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/>
              <a:t>氧化还原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9203691" y="5532756"/>
            <a:ext cx="902811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/>
              <a:t>氧化还原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9316086" y="5946776"/>
            <a:ext cx="902811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/>
              <a:t>氧化还原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316085" y="4232276"/>
            <a:ext cx="1261884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/>
              <a:t>帮助结合底物</a:t>
            </a:r>
            <a:endParaRPr lang="en-US" altLang="zh-CN" sz="1400" b="1"/>
          </a:p>
        </p:txBody>
      </p:sp>
      <p:sp>
        <p:nvSpPr>
          <p:cNvPr id="22" name="文本框 21"/>
          <p:cNvSpPr txBox="1"/>
          <p:nvPr/>
        </p:nvSpPr>
        <p:spPr>
          <a:xfrm>
            <a:off x="9467215" y="5194300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增加酶活性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431655" y="4918075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催化部位所需</a:t>
            </a: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3711"/>
          <a:stretch>
            <a:fillRect/>
          </a:stretch>
        </p:blipFill>
        <p:spPr>
          <a:xfrm>
            <a:off x="1618615" y="1845311"/>
            <a:ext cx="8930640" cy="3766185"/>
          </a:xfrm>
          <a:prstGeom prst="rect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</p:pic>
      <p:sp>
        <p:nvSpPr>
          <p:cNvPr id="13" name="矩形 12"/>
          <p:cNvSpPr/>
          <p:nvPr/>
        </p:nvSpPr>
        <p:spPr>
          <a:xfrm>
            <a:off x="3506847" y="-97924"/>
            <a:ext cx="4801315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单纯酶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缀合酶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10361" y="1242696"/>
            <a:ext cx="4228465" cy="4603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代表性的辅酶及其维生素来源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261736" y="2249806"/>
            <a:ext cx="1122423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乳酸脱氢酶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61735" y="3694431"/>
            <a:ext cx="1476686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乙酰-CoA羧化酶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261736" y="3990341"/>
            <a:ext cx="1122423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核苷酸合酶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261735" y="4321176"/>
            <a:ext cx="1840568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天冬氨酸氨基转移酶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261736" y="4635501"/>
            <a:ext cx="1301959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丙酮酸脱氢酶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261736" y="4968241"/>
            <a:ext cx="2055371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甲基丙二酰-CoA 变位酶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261736" y="2712721"/>
            <a:ext cx="1301959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琥珀酸脱氢酶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61736" y="3063241"/>
            <a:ext cx="1301959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丙酮酸脱氢酶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261736" y="3385821"/>
            <a:ext cx="1301959" cy="3825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0000"/>
                </a:solidFill>
              </a:rPr>
              <a:t> 丙酮酸羧化酶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73020" y="5232400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钴铵素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573020" y="4908550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硫辛酰胺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327275" y="3653155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生物素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840865" y="3169920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核黄素腺嘌呤二核苷酸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803525" y="2710815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 烟酰胺腺嘌呤二核苷酸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721735" y="3329940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焦磷酸硫胺素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126740" y="3971925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辅酶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298825" y="4290695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四氢叶酸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567431" y="4595495"/>
            <a:ext cx="26943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磷酸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吡哆醛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664066" y="2649221"/>
            <a:ext cx="800219" cy="3410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/>
              <a:t>氧化还原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9664065" y="3168015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醛基转移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9664065" y="3635375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 羧化作用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664065" y="3832860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酰基转移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664065" y="4136390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单碳转移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9664065" y="4439920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氨基转移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9664065" y="4770120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二碳转移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9664065" y="5380355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烷基转移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020310" y="4106545"/>
            <a:ext cx="254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泛酸</a:t>
            </a: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348285" y="11195"/>
            <a:ext cx="7109639" cy="8254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二、单体酶、寡聚酶、多酶复合体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84592" y="2326386"/>
            <a:ext cx="9822815" cy="33510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一般只有一条多肽链的酶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称为单体酶。分子量在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13000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35000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之间。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如∶溶菌酶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、胰蛋白酶。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但有的单体酶由多条肽链组成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，比如胰凝乳蛋白酶，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条多肽链，由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二硫键相连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构成一个共价整体。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一般多是催化水解反应的酶。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6862" y="1180568"/>
            <a:ext cx="6150658" cy="6625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）单体酶(monomeric enzyme )</a:t>
            </a: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348285" y="11195"/>
            <a:ext cx="7109639" cy="8254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二、单体酶、寡聚酶、多酶复合体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194" name="标题 529410"/>
          <p:cNvSpPr>
            <a:spLocks noGrp="1"/>
          </p:cNvSpPr>
          <p:nvPr>
            <p:ph type="ctrTitle" idx="4294967295"/>
          </p:nvPr>
        </p:nvSpPr>
        <p:spPr>
          <a:xfrm>
            <a:off x="0" y="1092546"/>
            <a:ext cx="7696200" cy="685800"/>
          </a:xfrm>
        </p:spPr>
        <p:txBody>
          <a:bodyPr anchor="ctr" anchorCtr="0">
            <a:noAutofit/>
          </a:bodyPr>
          <a:lstStyle/>
          <a:p>
            <a:pPr algn="l" defTabSz="45720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（2）寡聚酶(oligomeric enzyme )</a:t>
            </a:r>
          </a:p>
        </p:txBody>
      </p:sp>
      <p:sp>
        <p:nvSpPr>
          <p:cNvPr id="8195" name="文本占位符 529411"/>
          <p:cNvSpPr>
            <a:spLocks noGrp="1"/>
          </p:cNvSpPr>
          <p:nvPr>
            <p:ph type="subTitle" idx="4294967295"/>
          </p:nvPr>
        </p:nvSpPr>
        <p:spPr>
          <a:xfrm>
            <a:off x="307385" y="1942838"/>
            <a:ext cx="11577230" cy="4495800"/>
          </a:xfrm>
        </p:spPr>
        <p:txBody>
          <a:bodyPr anchor="t" anchorCtr="0">
            <a:normAutofit/>
          </a:bodyPr>
          <a:lstStyle/>
          <a:p>
            <a:pPr marL="342900" indent="-342900" algn="l" defTabSz="45720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两个或两个以上亚基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组成的酶称为寡聚酶。它以四级结构作为完整生物功能分子结构形式。</a:t>
            </a:r>
          </a:p>
          <a:p>
            <a:pPr marL="342900" indent="-342900" algn="l" defTabSz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亚基可以是相同的，也可以是不同的。亚基之间不是共价结合，彼此之间很容易分开，分开后酶活性就会丧失。</a:t>
            </a:r>
          </a:p>
          <a:p>
            <a:pPr marL="342900" indent="-342900" algn="l" defTabSz="45720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分子量较大，从35000到几百万。</a:t>
            </a:r>
          </a:p>
          <a:p>
            <a:pPr marL="342900" indent="-342900" algn="l" defTabSz="45720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与单体酶相比，寡聚酶具有</a:t>
            </a:r>
            <a:r>
              <a:rPr lang="zh-CN" altLang="en-US"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变构作用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，与调节因子结合后，能发生构象变化，导致催化活性的变化，从而对代谢起调节作用。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348285" y="11195"/>
            <a:ext cx="7109639" cy="8254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二、单体酶、寡聚酶、多酶复合体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217" name="文本占位符 530433"/>
          <p:cNvSpPr>
            <a:spLocks noGrp="1"/>
          </p:cNvSpPr>
          <p:nvPr>
            <p:ph type="subTitle" idx="4294967295"/>
          </p:nvPr>
        </p:nvSpPr>
        <p:spPr>
          <a:xfrm>
            <a:off x="576072" y="997189"/>
            <a:ext cx="8077200" cy="884237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marL="0" indent="0" algn="l" defTabSz="457200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（3）多酶体系(multienzyme system)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6072" y="2042002"/>
            <a:ext cx="10625328" cy="29817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细胞中许多酶常常在一个连续的反应链中起作用，前一个酶促反应的产物是后一个酶促反应的底物，这种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由若干酶相互连接形成的反应链体系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称为多酶体系，而具体的化学反应过程称为代谢途径。</a:t>
            </a:r>
          </a:p>
          <a:p>
            <a:pPr marL="285750" indent="-28575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例如：脂肪酸合酶（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种酶和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个酰基携带蛋白组成），丙酮酸脱氢酶复合物（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亚基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种酶组成）。</a:t>
            </a: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e043f6b-99bb-410f-bd8b-08a73f32ec30"/>
  <p:tag name="COMMONDATA" val="eyJoZGlkIjoiZTQ4ODQwNThiYTg4YTBlNDhkZDRmNGNiNWM5NWE1YzAifQ=="/>
</p:tagLst>
</file>

<file path=ppt/theme/theme1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884</Words>
  <Application>Microsoft Office PowerPoint</Application>
  <PresentationFormat>宽屏</PresentationFormat>
  <Paragraphs>111</Paragraphs>
  <Slides>15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等线</vt:lpstr>
      <vt:lpstr>微软雅黑</vt:lpstr>
      <vt:lpstr>Arial</vt:lpstr>
      <vt:lpstr>Calibri</vt:lpstr>
      <vt:lpstr>Calibri Light</vt:lpstr>
      <vt:lpstr>Impact</vt:lpstr>
      <vt:lpstr>Times New Roman</vt:lpstr>
      <vt:lpstr>2_Office 主题​​</vt:lpstr>
      <vt:lpstr>3_Office 主题​​</vt:lpstr>
      <vt:lpstr>Paintbrush 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（2）寡聚酶(oligomeric enzyme )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aging00</dc:creator>
  <cp:lastModifiedBy>Admin</cp:lastModifiedBy>
  <cp:revision>715</cp:revision>
  <dcterms:created xsi:type="dcterms:W3CDTF">2021-03-22T17:12:00Z</dcterms:created>
  <dcterms:modified xsi:type="dcterms:W3CDTF">2023-12-19T09:22:07Z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6B87F741187A44FD9FDEB32718F89292</vt:lpwstr>
  </property>
  <property fmtid="{D5CDD505-2E9C-101B-9397-08002B2CF9AE}" pid="3" name="KSOProductBuildVer">
    <vt:lpwstr>2052-12.1.0.15374</vt:lpwstr>
  </property>
</Properties>
</file>