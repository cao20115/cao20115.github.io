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79" r:id="rId2"/>
    <p:sldId id="971" r:id="rId3"/>
    <p:sldId id="280" r:id="rId4"/>
    <p:sldId id="380" r:id="rId5"/>
    <p:sldId id="282" r:id="rId6"/>
    <p:sldId id="283" r:id="rId7"/>
    <p:sldId id="284" r:id="rId8"/>
    <p:sldId id="388" r:id="rId9"/>
    <p:sldId id="1047" r:id="rId10"/>
    <p:sldId id="911" r:id="rId11"/>
    <p:sldId id="972" r:id="rId12"/>
    <p:sldId id="290" r:id="rId13"/>
    <p:sldId id="288" r:id="rId14"/>
    <p:sldId id="332" r:id="rId15"/>
    <p:sldId id="318" r:id="rId16"/>
    <p:sldId id="397" r:id="rId17"/>
    <p:sldId id="846" r:id="rId18"/>
    <p:sldId id="759" r:id="rId19"/>
    <p:sldId id="757" r:id="rId20"/>
    <p:sldId id="404" r:id="rId21"/>
    <p:sldId id="403" r:id="rId22"/>
    <p:sldId id="415" r:id="rId23"/>
    <p:sldId id="414" r:id="rId24"/>
    <p:sldId id="412" r:id="rId25"/>
    <p:sldId id="411" r:id="rId26"/>
    <p:sldId id="761" r:id="rId27"/>
    <p:sldId id="747" r:id="rId28"/>
    <p:sldId id="798" r:id="rId29"/>
    <p:sldId id="1048" r:id="rId30"/>
    <p:sldId id="847" r:id="rId31"/>
    <p:sldId id="1045" r:id="rId32"/>
    <p:sldId id="291" r:id="rId33"/>
    <p:sldId id="423" r:id="rId34"/>
    <p:sldId id="424" r:id="rId35"/>
    <p:sldId id="421" r:id="rId36"/>
    <p:sldId id="420" r:id="rId37"/>
    <p:sldId id="419" r:id="rId38"/>
    <p:sldId id="308" r:id="rId39"/>
    <p:sldId id="323" r:id="rId40"/>
    <p:sldId id="309" r:id="rId41"/>
    <p:sldId id="310" r:id="rId42"/>
    <p:sldId id="311" r:id="rId43"/>
    <p:sldId id="312" r:id="rId44"/>
  </p:sldIdLst>
  <p:sldSz cx="9144000" cy="6858000" type="screen4x3"/>
  <p:notesSz cx="6858000" cy="9144000"/>
  <p:defaultTextStyle>
    <a:defPPr>
      <a:defRPr lang="zh-CN"/>
    </a:defPPr>
    <a:lvl1pPr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1pPr>
    <a:lvl2pPr marL="4572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2pPr>
    <a:lvl3pPr marL="9144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3pPr>
    <a:lvl4pPr marL="13716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4pPr>
    <a:lvl5pPr marL="1828800" algn="l" rtl="0" eaLnBrk="0" fontAlgn="base" hangingPunct="0">
      <a:spcBef>
        <a:spcPct val="0"/>
      </a:spcBef>
      <a:spcAft>
        <a:spcPct val="0"/>
      </a:spcAft>
      <a:defRPr kumimoji="1" sz="24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400" kern="120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ADDDAF5-14C6-F94D-A5B9-C080D4B11F84}" v="60" dt="2025-10-01T01:33:18.73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9246" autoAdjust="0"/>
    <p:restoredTop sz="94643" autoAdjust="0"/>
  </p:normalViewPr>
  <p:slideViewPr>
    <p:cSldViewPr>
      <p:cViewPr varScale="1">
        <p:scale>
          <a:sx n="60" d="100"/>
          <a:sy n="60" d="100"/>
        </p:scale>
        <p:origin x="176" y="3160"/>
      </p:cViewPr>
      <p:guideLst>
        <p:guide orient="horz" pos="2160"/>
        <p:guide pos="2880"/>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66" d="100"/>
        <a:sy n="66"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heme" Target="theme/theme1.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ableStyles" Target="tableStyle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1" Type="http://schemas.openxmlformats.org/officeDocument/2006/relationships/slide" Target="slides/slide1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邦 肖" userId="38982054f6b45302" providerId="LiveId" clId="{95A0DA5A-AD6B-579F-A03E-EEED9F52BEEA}"/>
    <pc:docChg chg="undo custSel modSld">
      <pc:chgData name="邦 肖" userId="38982054f6b45302" providerId="LiveId" clId="{95A0DA5A-AD6B-579F-A03E-EEED9F52BEEA}" dt="2025-10-01T01:33:18.730" v="63" actId="1076"/>
      <pc:docMkLst>
        <pc:docMk/>
      </pc:docMkLst>
      <pc:sldChg chg="addSp delSp modSp mod">
        <pc:chgData name="邦 肖" userId="38982054f6b45302" providerId="LiveId" clId="{95A0DA5A-AD6B-579F-A03E-EEED9F52BEEA}" dt="2025-10-01T01:33:18.730" v="63" actId="1076"/>
        <pc:sldMkLst>
          <pc:docMk/>
          <pc:sldMk cId="0" sldId="311"/>
        </pc:sldMkLst>
        <pc:spChg chg="add">
          <ac:chgData name="邦 肖" userId="38982054f6b45302" providerId="LiveId" clId="{95A0DA5A-AD6B-579F-A03E-EEED9F52BEEA}" dt="2025-10-01T01:30:30.193" v="33"/>
          <ac:spMkLst>
            <pc:docMk/>
            <pc:sldMk cId="0" sldId="311"/>
            <ac:spMk id="2" creationId="{A2D02765-97D4-3879-885D-03CB98D7A136}"/>
          </ac:spMkLst>
        </pc:spChg>
        <pc:spChg chg="add">
          <ac:chgData name="邦 肖" userId="38982054f6b45302" providerId="LiveId" clId="{95A0DA5A-AD6B-579F-A03E-EEED9F52BEEA}" dt="2025-10-01T01:30:33.833" v="34"/>
          <ac:spMkLst>
            <pc:docMk/>
            <pc:sldMk cId="0" sldId="311"/>
            <ac:spMk id="3" creationId="{3EFB5438-F3FD-EC95-0734-72EE74428961}"/>
          </ac:spMkLst>
        </pc:spChg>
        <pc:spChg chg="add del mod">
          <ac:chgData name="邦 肖" userId="38982054f6b45302" providerId="LiveId" clId="{95A0DA5A-AD6B-579F-A03E-EEED9F52BEEA}" dt="2025-10-01T01:32:37.962" v="55" actId="478"/>
          <ac:spMkLst>
            <pc:docMk/>
            <pc:sldMk cId="0" sldId="311"/>
            <ac:spMk id="4" creationId="{8513AF82-6E1E-637E-807A-5CD67C492072}"/>
          </ac:spMkLst>
        </pc:spChg>
        <pc:spChg chg="add del mod">
          <ac:chgData name="邦 肖" userId="38982054f6b45302" providerId="LiveId" clId="{95A0DA5A-AD6B-579F-A03E-EEED9F52BEEA}" dt="2025-10-01T01:32:35.740" v="54"/>
          <ac:spMkLst>
            <pc:docMk/>
            <pc:sldMk cId="0" sldId="311"/>
            <ac:spMk id="5" creationId="{1B3AD1B6-73DE-1790-6E16-DD2FC9C510C7}"/>
          </ac:spMkLst>
        </pc:spChg>
        <pc:spChg chg="add del mod">
          <ac:chgData name="邦 肖" userId="38982054f6b45302" providerId="LiveId" clId="{95A0DA5A-AD6B-579F-A03E-EEED9F52BEEA}" dt="2025-10-01T01:32:35.395" v="52"/>
          <ac:spMkLst>
            <pc:docMk/>
            <pc:sldMk cId="0" sldId="311"/>
            <ac:spMk id="6" creationId="{A57E564A-9A77-DFAD-FB63-ACCC9913E9DF}"/>
          </ac:spMkLst>
        </pc:spChg>
        <pc:spChg chg="mod">
          <ac:chgData name="邦 肖" userId="38982054f6b45302" providerId="LiveId" clId="{95A0DA5A-AD6B-579F-A03E-EEED9F52BEEA}" dt="2025-10-01T01:33:18.730" v="63" actId="1076"/>
          <ac:spMkLst>
            <pc:docMk/>
            <pc:sldMk cId="0" sldId="311"/>
            <ac:spMk id="32769" creationId="{61FF8862-F2E8-2F27-9E51-2572821E7313}"/>
          </ac:spMkLst>
        </pc:spChg>
      </pc:sldChg>
      <pc:sldChg chg="modSp mod">
        <pc:chgData name="邦 肖" userId="38982054f6b45302" providerId="LiveId" clId="{95A0DA5A-AD6B-579F-A03E-EEED9F52BEEA}" dt="2025-10-01T01:19:44.590" v="12" actId="1035"/>
        <pc:sldMkLst>
          <pc:docMk/>
          <pc:sldMk cId="0" sldId="414"/>
        </pc:sldMkLst>
        <pc:spChg chg="mod">
          <ac:chgData name="邦 肖" userId="38982054f6b45302" providerId="LiveId" clId="{95A0DA5A-AD6B-579F-A03E-EEED9F52BEEA}" dt="2025-10-01T01:19:44.590" v="12" actId="1035"/>
          <ac:spMkLst>
            <pc:docMk/>
            <pc:sldMk cId="0" sldId="414"/>
            <ac:spMk id="2" creationId="{F72231AC-7AE7-4F31-5ED3-C1930933EF52}"/>
          </ac:spMkLst>
        </pc:spChg>
      </pc:sldChg>
      <pc:sldChg chg="modSp modAnim">
        <pc:chgData name="邦 肖" userId="38982054f6b45302" providerId="LiveId" clId="{95A0DA5A-AD6B-579F-A03E-EEED9F52BEEA}" dt="2025-10-01T01:19:14.175" v="10"/>
        <pc:sldMkLst>
          <pc:docMk/>
          <pc:sldMk cId="0" sldId="757"/>
        </pc:sldMkLst>
        <pc:spChg chg="mod">
          <ac:chgData name="邦 肖" userId="38982054f6b45302" providerId="LiveId" clId="{95A0DA5A-AD6B-579F-A03E-EEED9F52BEEA}" dt="2025-10-01T01:18:57.542" v="6" actId="20577"/>
          <ac:spMkLst>
            <pc:docMk/>
            <pc:sldMk cId="0" sldId="757"/>
            <ac:spMk id="546819" creationId="{3287B753-7A57-5016-1BEC-12BFAE599653}"/>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a:extLst>
              <a:ext uri="{FF2B5EF4-FFF2-40B4-BE49-F238E27FC236}">
                <a16:creationId xmlns:a16="http://schemas.microsoft.com/office/drawing/2014/main" id="{8767ADB5-981E-B9EA-FAD9-25E09F5F009D}"/>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CC17882-62B2-FDDC-8F0E-77013122371D}"/>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8CDFDB2D-11C0-D683-3E97-591C0AABD39D}"/>
              </a:ext>
            </a:extLst>
          </p:cNvPr>
          <p:cNvSpPr>
            <a:spLocks noGrp="1"/>
          </p:cNvSpPr>
          <p:nvPr>
            <p:ph type="sldNum" sz="quarter" idx="12"/>
          </p:nvPr>
        </p:nvSpPr>
        <p:spPr/>
        <p:txBody>
          <a:bodyPr/>
          <a:lstStyle>
            <a:lvl1pPr>
              <a:defRPr smtClean="0"/>
            </a:lvl1pPr>
          </a:lstStyle>
          <a:p>
            <a:pPr>
              <a:defRPr/>
            </a:pPr>
            <a:fld id="{1129CE83-9F61-D640-AACD-23261320962F}" type="slidenum">
              <a:rPr lang="en-US" altLang="zh-CN"/>
              <a:pPr>
                <a:defRPr/>
              </a:pPr>
              <a:t>‹#›</a:t>
            </a:fld>
            <a:endParaRPr lang="en-US" altLang="zh-CN"/>
          </a:p>
        </p:txBody>
      </p:sp>
    </p:spTree>
    <p:extLst>
      <p:ext uri="{BB962C8B-B14F-4D97-AF65-F5344CB8AC3E}">
        <p14:creationId xmlns:p14="http://schemas.microsoft.com/office/powerpoint/2010/main" val="386567000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BC447F13-2E66-9431-1B18-BD9EB8B0464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2BEC1DE4-2052-880B-0530-8ED24C38C3A0}"/>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95244E04-D2AE-CEDC-8E06-3138B8C04556}"/>
              </a:ext>
            </a:extLst>
          </p:cNvPr>
          <p:cNvSpPr>
            <a:spLocks noGrp="1"/>
          </p:cNvSpPr>
          <p:nvPr>
            <p:ph type="sldNum" sz="quarter" idx="12"/>
          </p:nvPr>
        </p:nvSpPr>
        <p:spPr/>
        <p:txBody>
          <a:bodyPr/>
          <a:lstStyle>
            <a:lvl1pPr>
              <a:defRPr smtClean="0"/>
            </a:lvl1pPr>
          </a:lstStyle>
          <a:p>
            <a:pPr>
              <a:defRPr/>
            </a:pPr>
            <a:fld id="{4BB34BDC-8032-DA46-AA2A-D4A46071F496}" type="slidenum">
              <a:rPr lang="en-US" altLang="zh-CN"/>
              <a:pPr>
                <a:defRPr/>
              </a:pPr>
              <a:t>‹#›</a:t>
            </a:fld>
            <a:endParaRPr lang="en-US" altLang="zh-CN"/>
          </a:p>
        </p:txBody>
      </p:sp>
    </p:spTree>
    <p:extLst>
      <p:ext uri="{BB962C8B-B14F-4D97-AF65-F5344CB8AC3E}">
        <p14:creationId xmlns:p14="http://schemas.microsoft.com/office/powerpoint/2010/main" val="349282117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日期占位符 3">
            <a:extLst>
              <a:ext uri="{FF2B5EF4-FFF2-40B4-BE49-F238E27FC236}">
                <a16:creationId xmlns:a16="http://schemas.microsoft.com/office/drawing/2014/main" id="{0BEDC5A3-290A-4DAB-0AF2-DA22F1B520AF}"/>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AE7E7C21-976E-48D0-E0DF-144C10E85B6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F2EBBF81-77E6-D79F-F004-22291016BFCA}"/>
              </a:ext>
            </a:extLst>
          </p:cNvPr>
          <p:cNvSpPr>
            <a:spLocks noGrp="1"/>
          </p:cNvSpPr>
          <p:nvPr>
            <p:ph type="sldNum" sz="quarter" idx="12"/>
          </p:nvPr>
        </p:nvSpPr>
        <p:spPr/>
        <p:txBody>
          <a:bodyPr/>
          <a:lstStyle>
            <a:lvl1pPr>
              <a:defRPr smtClean="0"/>
            </a:lvl1pPr>
          </a:lstStyle>
          <a:p>
            <a:pPr>
              <a:defRPr/>
            </a:pPr>
            <a:fld id="{19270FB5-5818-DD46-A97E-E7D712728CA3}" type="slidenum">
              <a:rPr lang="en-US" altLang="zh-CN"/>
              <a:pPr>
                <a:defRPr/>
              </a:pPr>
              <a:t>‹#›</a:t>
            </a:fld>
            <a:endParaRPr lang="en-US" altLang="zh-CN"/>
          </a:p>
        </p:txBody>
      </p:sp>
    </p:spTree>
    <p:extLst>
      <p:ext uri="{BB962C8B-B14F-4D97-AF65-F5344CB8AC3E}">
        <p14:creationId xmlns:p14="http://schemas.microsoft.com/office/powerpoint/2010/main" val="325823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4648200" y="1981200"/>
            <a:ext cx="3810000" cy="4114800"/>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a:extLst>
              <a:ext uri="{FF2B5EF4-FFF2-40B4-BE49-F238E27FC236}">
                <a16:creationId xmlns:a16="http://schemas.microsoft.com/office/drawing/2014/main" id="{093BE1B6-B3A3-AE0B-5985-99490898AF07}"/>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CD6D61EC-834C-2B8E-385C-27E9DF8F2B71}"/>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37E5B944-43F1-D25D-7480-435D961FB59A}"/>
              </a:ext>
            </a:extLst>
          </p:cNvPr>
          <p:cNvSpPr>
            <a:spLocks noGrp="1"/>
          </p:cNvSpPr>
          <p:nvPr>
            <p:ph type="sldNum" sz="quarter" idx="12"/>
          </p:nvPr>
        </p:nvSpPr>
        <p:spPr/>
        <p:txBody>
          <a:bodyPr/>
          <a:lstStyle>
            <a:lvl1pPr>
              <a:defRPr smtClean="0"/>
            </a:lvl1pPr>
          </a:lstStyle>
          <a:p>
            <a:pPr>
              <a:defRPr/>
            </a:pPr>
            <a:fld id="{7A00D76D-D1C1-1446-B5B7-5653B921817C}" type="slidenum">
              <a:rPr lang="en-US" altLang="zh-CN"/>
              <a:pPr>
                <a:defRPr/>
              </a:pPr>
              <a:t>‹#›</a:t>
            </a:fld>
            <a:endParaRPr lang="en-US" altLang="zh-CN"/>
          </a:p>
        </p:txBody>
      </p:sp>
    </p:spTree>
    <p:extLst>
      <p:ext uri="{BB962C8B-B14F-4D97-AF65-F5344CB8AC3E}">
        <p14:creationId xmlns:p14="http://schemas.microsoft.com/office/powerpoint/2010/main" val="36208245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a:extLst>
              <a:ext uri="{FF2B5EF4-FFF2-40B4-BE49-F238E27FC236}">
                <a16:creationId xmlns:a16="http://schemas.microsoft.com/office/drawing/2014/main" id="{356912D9-AE0A-DA4A-170C-BFEF6AF38124}"/>
              </a:ext>
            </a:extLst>
          </p:cNvPr>
          <p:cNvSpPr>
            <a:spLocks noGrp="1"/>
          </p:cNvSpPr>
          <p:nvPr>
            <p:ph type="dt" sz="half" idx="10"/>
          </p:nvPr>
        </p:nvSpPr>
        <p:spPr/>
        <p:txBody>
          <a:bodyPr/>
          <a:lstStyle>
            <a:lvl1pPr>
              <a:defRPr/>
            </a:lvl1pPr>
          </a:lstStyle>
          <a:p>
            <a:pPr>
              <a:defRPr/>
            </a:pPr>
            <a:endParaRPr lang="en-US" altLang="zh-CN"/>
          </a:p>
        </p:txBody>
      </p:sp>
      <p:sp>
        <p:nvSpPr>
          <p:cNvPr id="8" name="页脚占位符 7">
            <a:extLst>
              <a:ext uri="{FF2B5EF4-FFF2-40B4-BE49-F238E27FC236}">
                <a16:creationId xmlns:a16="http://schemas.microsoft.com/office/drawing/2014/main" id="{7FBA4203-DBA8-0CD2-2640-8FD8A9D35B23}"/>
              </a:ext>
            </a:extLst>
          </p:cNvPr>
          <p:cNvSpPr>
            <a:spLocks noGrp="1"/>
          </p:cNvSpPr>
          <p:nvPr>
            <p:ph type="ftr" sz="quarter" idx="11"/>
          </p:nvPr>
        </p:nvSpPr>
        <p:spPr/>
        <p:txBody>
          <a:bodyPr/>
          <a:lstStyle>
            <a:lvl1pPr>
              <a:defRPr/>
            </a:lvl1pPr>
          </a:lstStyle>
          <a:p>
            <a:pPr>
              <a:defRPr/>
            </a:pPr>
            <a:endParaRPr lang="en-US" altLang="zh-CN"/>
          </a:p>
        </p:txBody>
      </p:sp>
      <p:sp>
        <p:nvSpPr>
          <p:cNvPr id="9" name="灯片编号占位符 8">
            <a:extLst>
              <a:ext uri="{FF2B5EF4-FFF2-40B4-BE49-F238E27FC236}">
                <a16:creationId xmlns:a16="http://schemas.microsoft.com/office/drawing/2014/main" id="{617C4F4A-CFB8-D2C8-D385-C18EE88214CC}"/>
              </a:ext>
            </a:extLst>
          </p:cNvPr>
          <p:cNvSpPr>
            <a:spLocks noGrp="1"/>
          </p:cNvSpPr>
          <p:nvPr>
            <p:ph type="sldNum" sz="quarter" idx="12"/>
          </p:nvPr>
        </p:nvSpPr>
        <p:spPr/>
        <p:txBody>
          <a:bodyPr/>
          <a:lstStyle>
            <a:lvl1pPr>
              <a:defRPr smtClean="0"/>
            </a:lvl1pPr>
          </a:lstStyle>
          <a:p>
            <a:pPr>
              <a:defRPr/>
            </a:pPr>
            <a:fld id="{82C330F0-626B-1246-A675-49566904617C}" type="slidenum">
              <a:rPr lang="en-US" altLang="zh-CN"/>
              <a:pPr>
                <a:defRPr/>
              </a:pPr>
              <a:t>‹#›</a:t>
            </a:fld>
            <a:endParaRPr lang="en-US" altLang="zh-CN"/>
          </a:p>
        </p:txBody>
      </p:sp>
    </p:spTree>
    <p:extLst>
      <p:ext uri="{BB962C8B-B14F-4D97-AF65-F5344CB8AC3E}">
        <p14:creationId xmlns:p14="http://schemas.microsoft.com/office/powerpoint/2010/main" val="10043565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a:extLst>
              <a:ext uri="{FF2B5EF4-FFF2-40B4-BE49-F238E27FC236}">
                <a16:creationId xmlns:a16="http://schemas.microsoft.com/office/drawing/2014/main" id="{8975B688-7523-BC86-FC53-7763377B49C5}"/>
              </a:ext>
            </a:extLst>
          </p:cNvPr>
          <p:cNvSpPr>
            <a:spLocks noGrp="1"/>
          </p:cNvSpPr>
          <p:nvPr>
            <p:ph type="dt" sz="half" idx="10"/>
          </p:nvPr>
        </p:nvSpPr>
        <p:spPr/>
        <p:txBody>
          <a:bodyPr/>
          <a:lstStyle>
            <a:lvl1pPr>
              <a:defRPr/>
            </a:lvl1pPr>
          </a:lstStyle>
          <a:p>
            <a:pPr>
              <a:defRPr/>
            </a:pPr>
            <a:endParaRPr lang="en-US" altLang="zh-CN"/>
          </a:p>
        </p:txBody>
      </p:sp>
      <p:sp>
        <p:nvSpPr>
          <p:cNvPr id="4" name="页脚占位符 3">
            <a:extLst>
              <a:ext uri="{FF2B5EF4-FFF2-40B4-BE49-F238E27FC236}">
                <a16:creationId xmlns:a16="http://schemas.microsoft.com/office/drawing/2014/main" id="{CFB94AC6-9A69-1268-B8B4-3A7D3C61F2BC}"/>
              </a:ext>
            </a:extLst>
          </p:cNvPr>
          <p:cNvSpPr>
            <a:spLocks noGrp="1"/>
          </p:cNvSpPr>
          <p:nvPr>
            <p:ph type="ftr" sz="quarter" idx="11"/>
          </p:nvPr>
        </p:nvSpPr>
        <p:spPr/>
        <p:txBody>
          <a:bodyPr/>
          <a:lstStyle>
            <a:lvl1pPr>
              <a:defRPr/>
            </a:lvl1pPr>
          </a:lstStyle>
          <a:p>
            <a:pPr>
              <a:defRPr/>
            </a:pPr>
            <a:endParaRPr lang="en-US" altLang="zh-CN"/>
          </a:p>
        </p:txBody>
      </p:sp>
      <p:sp>
        <p:nvSpPr>
          <p:cNvPr id="5" name="灯片编号占位符 4">
            <a:extLst>
              <a:ext uri="{FF2B5EF4-FFF2-40B4-BE49-F238E27FC236}">
                <a16:creationId xmlns:a16="http://schemas.microsoft.com/office/drawing/2014/main" id="{4A071C5C-0750-C01E-DA9F-0D5EEE7A6C85}"/>
              </a:ext>
            </a:extLst>
          </p:cNvPr>
          <p:cNvSpPr>
            <a:spLocks noGrp="1"/>
          </p:cNvSpPr>
          <p:nvPr>
            <p:ph type="sldNum" sz="quarter" idx="12"/>
          </p:nvPr>
        </p:nvSpPr>
        <p:spPr/>
        <p:txBody>
          <a:bodyPr/>
          <a:lstStyle>
            <a:lvl1pPr>
              <a:defRPr smtClean="0"/>
            </a:lvl1pPr>
          </a:lstStyle>
          <a:p>
            <a:pPr>
              <a:defRPr/>
            </a:pPr>
            <a:fld id="{3F2493FF-3CD1-754E-B636-9105BEB25B79}" type="slidenum">
              <a:rPr lang="en-US" altLang="zh-CN"/>
              <a:pPr>
                <a:defRPr/>
              </a:pPr>
              <a:t>‹#›</a:t>
            </a:fld>
            <a:endParaRPr lang="en-US" altLang="zh-CN"/>
          </a:p>
        </p:txBody>
      </p:sp>
    </p:spTree>
    <p:extLst>
      <p:ext uri="{BB962C8B-B14F-4D97-AF65-F5344CB8AC3E}">
        <p14:creationId xmlns:p14="http://schemas.microsoft.com/office/powerpoint/2010/main" val="1246573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a:extLst>
              <a:ext uri="{FF2B5EF4-FFF2-40B4-BE49-F238E27FC236}">
                <a16:creationId xmlns:a16="http://schemas.microsoft.com/office/drawing/2014/main" id="{64CD13B7-115C-741D-84BA-6F19FF39B836}"/>
              </a:ext>
            </a:extLst>
          </p:cNvPr>
          <p:cNvSpPr>
            <a:spLocks noGrp="1"/>
          </p:cNvSpPr>
          <p:nvPr>
            <p:ph type="dt" sz="half" idx="10"/>
          </p:nvPr>
        </p:nvSpPr>
        <p:spPr/>
        <p:txBody>
          <a:bodyPr/>
          <a:lstStyle>
            <a:lvl1pPr>
              <a:defRPr/>
            </a:lvl1pPr>
          </a:lstStyle>
          <a:p>
            <a:pPr>
              <a:defRPr/>
            </a:pPr>
            <a:endParaRPr lang="en-US" altLang="zh-CN"/>
          </a:p>
        </p:txBody>
      </p:sp>
      <p:sp>
        <p:nvSpPr>
          <p:cNvPr id="3" name="页脚占位符 2">
            <a:extLst>
              <a:ext uri="{FF2B5EF4-FFF2-40B4-BE49-F238E27FC236}">
                <a16:creationId xmlns:a16="http://schemas.microsoft.com/office/drawing/2014/main" id="{363A7576-A3F6-07A6-A74C-5CFEA7A88A1B}"/>
              </a:ext>
            </a:extLst>
          </p:cNvPr>
          <p:cNvSpPr>
            <a:spLocks noGrp="1"/>
          </p:cNvSpPr>
          <p:nvPr>
            <p:ph type="ftr" sz="quarter" idx="11"/>
          </p:nvPr>
        </p:nvSpPr>
        <p:spPr/>
        <p:txBody>
          <a:bodyPr/>
          <a:lstStyle>
            <a:lvl1pPr>
              <a:defRPr/>
            </a:lvl1pPr>
          </a:lstStyle>
          <a:p>
            <a:pPr>
              <a:defRPr/>
            </a:pPr>
            <a:endParaRPr lang="en-US" altLang="zh-CN"/>
          </a:p>
        </p:txBody>
      </p:sp>
      <p:sp>
        <p:nvSpPr>
          <p:cNvPr id="4" name="灯片编号占位符 3">
            <a:extLst>
              <a:ext uri="{FF2B5EF4-FFF2-40B4-BE49-F238E27FC236}">
                <a16:creationId xmlns:a16="http://schemas.microsoft.com/office/drawing/2014/main" id="{D1595C88-BEE0-C391-D65F-76629C590E15}"/>
              </a:ext>
            </a:extLst>
          </p:cNvPr>
          <p:cNvSpPr>
            <a:spLocks noGrp="1"/>
          </p:cNvSpPr>
          <p:nvPr>
            <p:ph type="sldNum" sz="quarter" idx="12"/>
          </p:nvPr>
        </p:nvSpPr>
        <p:spPr/>
        <p:txBody>
          <a:bodyPr/>
          <a:lstStyle>
            <a:lvl1pPr>
              <a:defRPr smtClean="0"/>
            </a:lvl1pPr>
          </a:lstStyle>
          <a:p>
            <a:pPr>
              <a:defRPr/>
            </a:pPr>
            <a:fld id="{7A7FB0E3-53F8-2348-9B3E-2B712D4D5A10}" type="slidenum">
              <a:rPr lang="en-US" altLang="zh-CN"/>
              <a:pPr>
                <a:defRPr/>
              </a:pPr>
              <a:t>‹#›</a:t>
            </a:fld>
            <a:endParaRPr lang="en-US" altLang="zh-CN"/>
          </a:p>
        </p:txBody>
      </p:sp>
    </p:spTree>
    <p:extLst>
      <p:ext uri="{BB962C8B-B14F-4D97-AF65-F5344CB8AC3E}">
        <p14:creationId xmlns:p14="http://schemas.microsoft.com/office/powerpoint/2010/main" val="313782694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7C66B86-0151-28F2-097B-C358A6A5CC8A}"/>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75327AD0-B171-C108-8555-2162BEF34EB7}"/>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DB4F6370-B9DC-9BE4-C6DD-CC123FED5D09}"/>
              </a:ext>
            </a:extLst>
          </p:cNvPr>
          <p:cNvSpPr>
            <a:spLocks noGrp="1"/>
          </p:cNvSpPr>
          <p:nvPr>
            <p:ph type="sldNum" sz="quarter" idx="12"/>
          </p:nvPr>
        </p:nvSpPr>
        <p:spPr/>
        <p:txBody>
          <a:bodyPr/>
          <a:lstStyle>
            <a:lvl1pPr>
              <a:defRPr smtClean="0"/>
            </a:lvl1pPr>
          </a:lstStyle>
          <a:p>
            <a:pPr>
              <a:defRPr/>
            </a:pPr>
            <a:fld id="{ECB6C70C-148D-5242-B4DC-3D0393390E93}" type="slidenum">
              <a:rPr lang="en-US" altLang="zh-CN"/>
              <a:pPr>
                <a:defRPr/>
              </a:pPr>
              <a:t>‹#›</a:t>
            </a:fld>
            <a:endParaRPr lang="en-US" altLang="zh-CN"/>
          </a:p>
        </p:txBody>
      </p:sp>
    </p:spTree>
    <p:extLst>
      <p:ext uri="{BB962C8B-B14F-4D97-AF65-F5344CB8AC3E}">
        <p14:creationId xmlns:p14="http://schemas.microsoft.com/office/powerpoint/2010/main" val="34828187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a:extLst>
              <a:ext uri="{FF2B5EF4-FFF2-40B4-BE49-F238E27FC236}">
                <a16:creationId xmlns:a16="http://schemas.microsoft.com/office/drawing/2014/main" id="{4DA80285-B072-A2CD-9083-48978C837462}"/>
              </a:ext>
            </a:extLst>
          </p:cNvPr>
          <p:cNvSpPr>
            <a:spLocks noGrp="1"/>
          </p:cNvSpPr>
          <p:nvPr>
            <p:ph type="dt" sz="half" idx="10"/>
          </p:nvPr>
        </p:nvSpPr>
        <p:spPr/>
        <p:txBody>
          <a:bodyPr/>
          <a:lstStyle>
            <a:lvl1pPr>
              <a:defRPr/>
            </a:lvl1pPr>
          </a:lstStyle>
          <a:p>
            <a:pPr>
              <a:defRPr/>
            </a:pPr>
            <a:endParaRPr lang="en-US" altLang="zh-CN"/>
          </a:p>
        </p:txBody>
      </p:sp>
      <p:sp>
        <p:nvSpPr>
          <p:cNvPr id="6" name="页脚占位符 5">
            <a:extLst>
              <a:ext uri="{FF2B5EF4-FFF2-40B4-BE49-F238E27FC236}">
                <a16:creationId xmlns:a16="http://schemas.microsoft.com/office/drawing/2014/main" id="{34F0D482-64C3-0277-C7FA-6221BD62F3DA}"/>
              </a:ext>
            </a:extLst>
          </p:cNvPr>
          <p:cNvSpPr>
            <a:spLocks noGrp="1"/>
          </p:cNvSpPr>
          <p:nvPr>
            <p:ph type="ftr" sz="quarter" idx="11"/>
          </p:nvPr>
        </p:nvSpPr>
        <p:spPr/>
        <p:txBody>
          <a:bodyPr/>
          <a:lstStyle>
            <a:lvl1pPr>
              <a:defRPr/>
            </a:lvl1pPr>
          </a:lstStyle>
          <a:p>
            <a:pPr>
              <a:defRPr/>
            </a:pPr>
            <a:endParaRPr lang="en-US" altLang="zh-CN"/>
          </a:p>
        </p:txBody>
      </p:sp>
      <p:sp>
        <p:nvSpPr>
          <p:cNvPr id="7" name="灯片编号占位符 6">
            <a:extLst>
              <a:ext uri="{FF2B5EF4-FFF2-40B4-BE49-F238E27FC236}">
                <a16:creationId xmlns:a16="http://schemas.microsoft.com/office/drawing/2014/main" id="{8988248D-881D-0E76-C739-525F046AB3F4}"/>
              </a:ext>
            </a:extLst>
          </p:cNvPr>
          <p:cNvSpPr>
            <a:spLocks noGrp="1"/>
          </p:cNvSpPr>
          <p:nvPr>
            <p:ph type="sldNum" sz="quarter" idx="12"/>
          </p:nvPr>
        </p:nvSpPr>
        <p:spPr/>
        <p:txBody>
          <a:bodyPr/>
          <a:lstStyle>
            <a:lvl1pPr>
              <a:defRPr smtClean="0"/>
            </a:lvl1pPr>
          </a:lstStyle>
          <a:p>
            <a:pPr>
              <a:defRPr/>
            </a:pPr>
            <a:fld id="{F8DE5B4A-DEAD-6647-AD5A-5067F938997C}" type="slidenum">
              <a:rPr lang="en-US" altLang="zh-CN"/>
              <a:pPr>
                <a:defRPr/>
              </a:pPr>
              <a:t>‹#›</a:t>
            </a:fld>
            <a:endParaRPr lang="en-US" altLang="zh-CN"/>
          </a:p>
        </p:txBody>
      </p:sp>
    </p:spTree>
    <p:extLst>
      <p:ext uri="{BB962C8B-B14F-4D97-AF65-F5344CB8AC3E}">
        <p14:creationId xmlns:p14="http://schemas.microsoft.com/office/powerpoint/2010/main" val="110687748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9438D428-5284-21A6-816A-6FC079DDAFC1}"/>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7DA18325-5E71-3149-F833-2E842E371904}"/>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CFBFE223-BC7F-1C65-4368-C22A35D4E0A2}"/>
              </a:ext>
            </a:extLst>
          </p:cNvPr>
          <p:cNvSpPr>
            <a:spLocks noGrp="1"/>
          </p:cNvSpPr>
          <p:nvPr>
            <p:ph type="sldNum" sz="quarter" idx="12"/>
          </p:nvPr>
        </p:nvSpPr>
        <p:spPr/>
        <p:txBody>
          <a:bodyPr/>
          <a:lstStyle>
            <a:lvl1pPr>
              <a:defRPr smtClean="0"/>
            </a:lvl1pPr>
          </a:lstStyle>
          <a:p>
            <a:pPr>
              <a:defRPr/>
            </a:pPr>
            <a:fld id="{FCAF9057-7FA9-5544-A1DC-EED24B009DBE}" type="slidenum">
              <a:rPr lang="en-US" altLang="zh-CN"/>
              <a:pPr>
                <a:defRPr/>
              </a:pPr>
              <a:t>‹#›</a:t>
            </a:fld>
            <a:endParaRPr lang="en-US" altLang="zh-CN"/>
          </a:p>
        </p:txBody>
      </p:sp>
    </p:spTree>
    <p:extLst>
      <p:ext uri="{BB962C8B-B14F-4D97-AF65-F5344CB8AC3E}">
        <p14:creationId xmlns:p14="http://schemas.microsoft.com/office/powerpoint/2010/main" val="21032020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a:extLst>
              <a:ext uri="{FF2B5EF4-FFF2-40B4-BE49-F238E27FC236}">
                <a16:creationId xmlns:a16="http://schemas.microsoft.com/office/drawing/2014/main" id="{41A5A7B6-C322-E0CC-6B73-774660A1695B}"/>
              </a:ext>
            </a:extLst>
          </p:cNvPr>
          <p:cNvSpPr>
            <a:spLocks noGrp="1"/>
          </p:cNvSpPr>
          <p:nvPr>
            <p:ph type="dt" sz="half" idx="10"/>
          </p:nvPr>
        </p:nvSpPr>
        <p:spPr/>
        <p:txBody>
          <a:bodyPr/>
          <a:lstStyle>
            <a:lvl1pPr>
              <a:defRPr/>
            </a:lvl1pPr>
          </a:lstStyle>
          <a:p>
            <a:pPr>
              <a:defRPr/>
            </a:pPr>
            <a:endParaRPr lang="en-US" altLang="zh-CN"/>
          </a:p>
        </p:txBody>
      </p:sp>
      <p:sp>
        <p:nvSpPr>
          <p:cNvPr id="5" name="页脚占位符 4">
            <a:extLst>
              <a:ext uri="{FF2B5EF4-FFF2-40B4-BE49-F238E27FC236}">
                <a16:creationId xmlns:a16="http://schemas.microsoft.com/office/drawing/2014/main" id="{8B159D8E-CBF0-3BFC-B3B5-E7C848AB053E}"/>
              </a:ext>
            </a:extLst>
          </p:cNvPr>
          <p:cNvSpPr>
            <a:spLocks noGrp="1"/>
          </p:cNvSpPr>
          <p:nvPr>
            <p:ph type="ftr" sz="quarter" idx="11"/>
          </p:nvPr>
        </p:nvSpPr>
        <p:spPr/>
        <p:txBody>
          <a:bodyPr/>
          <a:lstStyle>
            <a:lvl1pPr>
              <a:defRPr/>
            </a:lvl1pPr>
          </a:lstStyle>
          <a:p>
            <a:pPr>
              <a:defRPr/>
            </a:pPr>
            <a:endParaRPr lang="en-US" altLang="zh-CN"/>
          </a:p>
        </p:txBody>
      </p:sp>
      <p:sp>
        <p:nvSpPr>
          <p:cNvPr id="6" name="灯片编号占位符 5">
            <a:extLst>
              <a:ext uri="{FF2B5EF4-FFF2-40B4-BE49-F238E27FC236}">
                <a16:creationId xmlns:a16="http://schemas.microsoft.com/office/drawing/2014/main" id="{4D466B15-1AF9-2281-C5E1-4E48666126CB}"/>
              </a:ext>
            </a:extLst>
          </p:cNvPr>
          <p:cNvSpPr>
            <a:spLocks noGrp="1"/>
          </p:cNvSpPr>
          <p:nvPr>
            <p:ph type="sldNum" sz="quarter" idx="12"/>
          </p:nvPr>
        </p:nvSpPr>
        <p:spPr/>
        <p:txBody>
          <a:bodyPr/>
          <a:lstStyle>
            <a:lvl1pPr>
              <a:defRPr smtClean="0"/>
            </a:lvl1pPr>
          </a:lstStyle>
          <a:p>
            <a:pPr>
              <a:defRPr/>
            </a:pPr>
            <a:fld id="{1438222E-B872-6848-8186-ADAB6B5CF9C8}" type="slidenum">
              <a:rPr lang="en-US" altLang="zh-CN"/>
              <a:pPr>
                <a:defRPr/>
              </a:pPr>
              <a:t>‹#›</a:t>
            </a:fld>
            <a:endParaRPr lang="en-US" altLang="zh-CN"/>
          </a:p>
        </p:txBody>
      </p:sp>
    </p:spTree>
    <p:extLst>
      <p:ext uri="{BB962C8B-B14F-4D97-AF65-F5344CB8AC3E}">
        <p14:creationId xmlns:p14="http://schemas.microsoft.com/office/powerpoint/2010/main" val="193580465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A55C17C5-18E9-A6AD-A47B-D2AA8AD03B94}"/>
              </a:ext>
            </a:extLst>
          </p:cNvPr>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27" name="Rectangle 3">
            <a:extLst>
              <a:ext uri="{FF2B5EF4-FFF2-40B4-BE49-F238E27FC236}">
                <a16:creationId xmlns:a16="http://schemas.microsoft.com/office/drawing/2014/main" id="{AD5D5D0E-5BD4-D4B4-3229-FBB4510EE4C4}"/>
              </a:ext>
            </a:extLst>
          </p:cNvPr>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a:extLst>
              <a:ext uri="{FF2B5EF4-FFF2-40B4-BE49-F238E27FC236}">
                <a16:creationId xmlns:a16="http://schemas.microsoft.com/office/drawing/2014/main" id="{16A19DC3-ED4D-656E-B765-41DCAD406D43}"/>
              </a:ext>
            </a:extLst>
          </p:cNvPr>
          <p:cNvSpPr>
            <a:spLocks noGrp="1" noChangeArrowheads="1"/>
          </p:cNvSpPr>
          <p:nvPr>
            <p:ph type="dt" sz="half" idx="2"/>
          </p:nvPr>
        </p:nvSpPr>
        <p:spPr bwMode="auto">
          <a:xfrm>
            <a:off x="6858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eaLnBrk="1" hangingPunct="1">
              <a:defRPr sz="1400"/>
            </a:lvl1pPr>
          </a:lstStyle>
          <a:p>
            <a:pPr>
              <a:defRPr/>
            </a:pPr>
            <a:endParaRPr lang="en-US" altLang="zh-CN"/>
          </a:p>
        </p:txBody>
      </p:sp>
      <p:sp>
        <p:nvSpPr>
          <p:cNvPr id="1029" name="Rectangle 5">
            <a:extLst>
              <a:ext uri="{FF2B5EF4-FFF2-40B4-BE49-F238E27FC236}">
                <a16:creationId xmlns:a16="http://schemas.microsoft.com/office/drawing/2014/main" id="{DC30D036-9833-1D48-0C47-471CE6A71288}"/>
              </a:ext>
            </a:extLst>
          </p:cNvPr>
          <p:cNvSpPr>
            <a:spLocks noGrp="1" noChangeArrowheads="1"/>
          </p:cNvSpPr>
          <p:nvPr>
            <p:ph type="ftr" sz="quarter" idx="3"/>
          </p:nvPr>
        </p:nvSpPr>
        <p:spPr bwMode="auto">
          <a:xfrm>
            <a:off x="3124200" y="6248400"/>
            <a:ext cx="28956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ctr" eaLnBrk="1" hangingPunct="1">
              <a:defRPr sz="1400"/>
            </a:lvl1pPr>
          </a:lstStyle>
          <a:p>
            <a:pPr>
              <a:defRPr/>
            </a:pPr>
            <a:endParaRPr lang="en-US" altLang="zh-CN"/>
          </a:p>
        </p:txBody>
      </p:sp>
      <p:sp>
        <p:nvSpPr>
          <p:cNvPr id="1030" name="Rectangle 6">
            <a:extLst>
              <a:ext uri="{FF2B5EF4-FFF2-40B4-BE49-F238E27FC236}">
                <a16:creationId xmlns:a16="http://schemas.microsoft.com/office/drawing/2014/main" id="{FB2C74FE-390F-BBEF-3DC6-B5B9B2DA1B07}"/>
              </a:ext>
            </a:extLst>
          </p:cNvPr>
          <p:cNvSpPr>
            <a:spLocks noGrp="1" noChangeArrowheads="1"/>
          </p:cNvSpPr>
          <p:nvPr>
            <p:ph type="sldNum" sz="quarter" idx="4"/>
          </p:nvPr>
        </p:nvSpPr>
        <p:spPr bwMode="auto">
          <a:xfrm>
            <a:off x="6553200" y="6248400"/>
            <a:ext cx="1905000" cy="457200"/>
          </a:xfrm>
          <a:prstGeom prst="rect">
            <a:avLst/>
          </a:prstGeom>
          <a:noFill/>
          <a:ln>
            <a:noFill/>
          </a:ln>
          <a:effectLst/>
        </p:spPr>
        <p:txBody>
          <a:bodyPr vert="horz" wrap="square" lIns="91440" tIns="45720" rIns="91440" bIns="45720" numCol="1" anchor="t" anchorCtr="0" compatLnSpc="1">
            <a:prstTxWarp prst="textNoShape">
              <a:avLst/>
            </a:prstTxWarp>
          </a:bodyPr>
          <a:lstStyle>
            <a:lvl1pPr algn="r" eaLnBrk="1" hangingPunct="1">
              <a:defRPr sz="1400" smtClean="0"/>
            </a:lvl1pPr>
          </a:lstStyle>
          <a:p>
            <a:pPr>
              <a:defRPr/>
            </a:pPr>
            <a:fld id="{26878AB8-D0FA-F34E-A93F-7D93977C0CA4}"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71" r:id="rId1"/>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Lst>
  <p:txStyles>
    <p:titleStyle>
      <a:lvl1pPr algn="ctr" rtl="0" eaLnBrk="0" fontAlgn="base" hangingPunct="0">
        <a:spcBef>
          <a:spcPct val="0"/>
        </a:spcBef>
        <a:spcAft>
          <a:spcPct val="0"/>
        </a:spcAft>
        <a:defRPr kumimoji="1" sz="4400" kern="12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2pPr>
      <a:lvl3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3pPr>
      <a:lvl4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4pPr>
      <a:lvl5pPr algn="ctr" rtl="0" eaLnBrk="0" fontAlgn="base" hangingPunct="0">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5pPr>
      <a:lvl6pPr marL="4572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6pPr>
      <a:lvl7pPr marL="9144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7pPr>
      <a:lvl8pPr marL="13716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8pPr>
      <a:lvl9pPr marL="1828800" algn="ctr" rtl="0" fontAlgn="base">
        <a:spcBef>
          <a:spcPct val="0"/>
        </a:spcBef>
        <a:spcAft>
          <a:spcPct val="0"/>
        </a:spcAft>
        <a:defRPr kumimoji="1" sz="4400">
          <a:solidFill>
            <a:schemeClr val="tx2"/>
          </a:solidFill>
          <a:latin typeface="Times New Roman" panose="02020603050405020304" pitchFamily="18"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image" Target="../media/image10.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9" name="Text Box 2">
            <a:extLst>
              <a:ext uri="{FF2B5EF4-FFF2-40B4-BE49-F238E27FC236}">
                <a16:creationId xmlns:a16="http://schemas.microsoft.com/office/drawing/2014/main" id="{2554FC86-718B-E4FC-9AF7-D45D52AD47F6}"/>
              </a:ext>
            </a:extLst>
          </p:cNvPr>
          <p:cNvSpPr txBox="1">
            <a:spLocks noChangeArrowheads="1"/>
          </p:cNvSpPr>
          <p:nvPr/>
        </p:nvSpPr>
        <p:spPr bwMode="auto">
          <a:xfrm>
            <a:off x="228600" y="2514600"/>
            <a:ext cx="6400800" cy="393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marL="112713" indent="715963">
              <a:defRPr kumimoji="1" sz="2400">
                <a:solidFill>
                  <a:schemeClr val="tx1"/>
                </a:solidFill>
                <a:latin typeface="Times New Roman" panose="02020603050405020304" pitchFamily="18" charset="0"/>
                <a:ea typeface="宋体" panose="02010600030101010101" pitchFamily="2" charset="-122"/>
              </a:defRPr>
            </a:lvl1pPr>
            <a:lvl2pPr marL="2125663" indent="-609600">
              <a:defRPr kumimoji="1" sz="2400">
                <a:solidFill>
                  <a:schemeClr val="tx1"/>
                </a:solidFill>
                <a:latin typeface="Times New Roman" panose="02020603050405020304" pitchFamily="18" charset="0"/>
                <a:ea typeface="宋体" panose="02010600030101010101" pitchFamily="2" charset="-122"/>
              </a:defRPr>
            </a:lvl2pPr>
            <a:lvl3pPr marL="2925763" indent="-609600">
              <a:defRPr kumimoji="1" sz="2400">
                <a:solidFill>
                  <a:schemeClr val="tx1"/>
                </a:solidFill>
                <a:latin typeface="Times New Roman" panose="02020603050405020304" pitchFamily="18" charset="0"/>
                <a:ea typeface="宋体" panose="02010600030101010101" pitchFamily="2" charset="-122"/>
              </a:defRPr>
            </a:lvl3pPr>
            <a:lvl4pPr marL="3725863" indent="-609600">
              <a:defRPr kumimoji="1" sz="2400">
                <a:solidFill>
                  <a:schemeClr val="tx1"/>
                </a:solidFill>
                <a:latin typeface="Times New Roman" panose="02020603050405020304" pitchFamily="18" charset="0"/>
                <a:ea typeface="宋体" panose="02010600030101010101" pitchFamily="2" charset="-122"/>
              </a:defRPr>
            </a:lvl4pPr>
            <a:lvl5pPr marL="4525963" indent="-609600">
              <a:defRPr kumimoji="1" sz="2400">
                <a:solidFill>
                  <a:schemeClr val="tx1"/>
                </a:solidFill>
                <a:latin typeface="Times New Roman" panose="02020603050405020304" pitchFamily="18" charset="0"/>
                <a:ea typeface="宋体" panose="02010600030101010101" pitchFamily="2" charset="-122"/>
              </a:defRPr>
            </a:lvl5pPr>
            <a:lvl6pPr marL="4983163" indent="-609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5440363" indent="-609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5897563" indent="-609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6354763" indent="-609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a:t>种群动态模型用来阐明种群动态规律并进行预测。在模型研究中，人们最感兴趣的不是特定公式的数学细节，而是</a:t>
            </a:r>
            <a:r>
              <a:rPr lang="zh-CN" altLang="en-US" sz="2800" b="1"/>
              <a:t>模型的结构</a:t>
            </a:r>
            <a:r>
              <a:rPr lang="zh-CN" altLang="en-US" sz="2800"/>
              <a:t>，如哪些因素决定种群的大小？哪些</a:t>
            </a:r>
            <a:r>
              <a:rPr lang="zh-CN" altLang="en-US" sz="2800" b="1"/>
              <a:t>参数</a:t>
            </a:r>
            <a:r>
              <a:rPr lang="zh-CN" altLang="en-US" sz="2800"/>
              <a:t>决定种群对自然和人为干扰的反应速度等？</a:t>
            </a:r>
          </a:p>
          <a:p>
            <a:pPr algn="just" eaLnBrk="1" hangingPunct="1">
              <a:spcBef>
                <a:spcPct val="50000"/>
              </a:spcBef>
            </a:pPr>
            <a:endParaRPr lang="zh-CN" altLang="en-US" sz="2800"/>
          </a:p>
          <a:p>
            <a:pPr eaLnBrk="1" hangingPunct="1">
              <a:spcBef>
                <a:spcPct val="50000"/>
              </a:spcBef>
            </a:pPr>
            <a:endParaRPr lang="en-US" altLang="zh-CN" sz="2800"/>
          </a:p>
        </p:txBody>
      </p:sp>
      <p:pic>
        <p:nvPicPr>
          <p:cNvPr id="2050" name="Picture 3">
            <a:extLst>
              <a:ext uri="{FF2B5EF4-FFF2-40B4-BE49-F238E27FC236}">
                <a16:creationId xmlns:a16="http://schemas.microsoft.com/office/drawing/2014/main" id="{8526B944-59E4-0DAE-FF9E-48D5852C3F5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08625" y="209550"/>
            <a:ext cx="3352800" cy="2017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51" name="Text Box 4">
            <a:extLst>
              <a:ext uri="{FF2B5EF4-FFF2-40B4-BE49-F238E27FC236}">
                <a16:creationId xmlns:a16="http://schemas.microsoft.com/office/drawing/2014/main" id="{0771C38A-A926-C43B-FD8B-F588DB9830E7}"/>
              </a:ext>
            </a:extLst>
          </p:cNvPr>
          <p:cNvSpPr txBox="1">
            <a:spLocks noChangeArrowheads="1"/>
          </p:cNvSpPr>
          <p:nvPr/>
        </p:nvSpPr>
        <p:spPr bwMode="auto">
          <a:xfrm>
            <a:off x="228600" y="304800"/>
            <a:ext cx="4800600" cy="1066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lvl="3" eaLnBrk="1" hangingPunct="1">
              <a:spcBef>
                <a:spcPct val="50000"/>
              </a:spcBef>
            </a:pPr>
            <a:endParaRPr lang="en-US" altLang="zh-CN" sz="2800" b="1"/>
          </a:p>
          <a:p>
            <a:pPr eaLnBrk="1" hangingPunct="1">
              <a:spcBef>
                <a:spcPct val="50000"/>
              </a:spcBef>
            </a:pPr>
            <a:endParaRPr lang="en-US" altLang="zh-CN"/>
          </a:p>
        </p:txBody>
      </p:sp>
      <p:sp>
        <p:nvSpPr>
          <p:cNvPr id="2052" name="Text Box 5">
            <a:extLst>
              <a:ext uri="{FF2B5EF4-FFF2-40B4-BE49-F238E27FC236}">
                <a16:creationId xmlns:a16="http://schemas.microsoft.com/office/drawing/2014/main" id="{93EE2A7C-F031-D161-59DE-626DBD11ED08}"/>
              </a:ext>
            </a:extLst>
          </p:cNvPr>
          <p:cNvSpPr txBox="1">
            <a:spLocks noChangeArrowheads="1"/>
          </p:cNvSpPr>
          <p:nvPr/>
        </p:nvSpPr>
        <p:spPr bwMode="auto">
          <a:xfrm>
            <a:off x="533400" y="1219200"/>
            <a:ext cx="4495800" cy="5191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a:t>第三节  种群的增长模型</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2340" name="Text Box 4">
            <a:extLst>
              <a:ext uri="{FF2B5EF4-FFF2-40B4-BE49-F238E27FC236}">
                <a16:creationId xmlns:a16="http://schemas.microsoft.com/office/drawing/2014/main" id="{C1EAC69C-B8FE-77B9-ACB6-445C707BA55F}"/>
              </a:ext>
            </a:extLst>
          </p:cNvPr>
          <p:cNvSpPr txBox="1">
            <a:spLocks noChangeArrowheads="1"/>
          </p:cNvSpPr>
          <p:nvPr/>
        </p:nvSpPr>
        <p:spPr bwMode="auto">
          <a:xfrm>
            <a:off x="107950" y="3068638"/>
            <a:ext cx="1641475" cy="547687"/>
          </a:xfrm>
          <a:prstGeom prst="rect">
            <a:avLst/>
          </a:prstGeom>
          <a:noFill/>
          <a:ln w="28575">
            <a:solidFill>
              <a:schemeClr val="tx1"/>
            </a:solidFill>
            <a:miter lim="800000"/>
            <a:headEnd/>
            <a:tailEnd/>
          </a:ln>
          <a:effectLst/>
        </p:spPr>
        <p:txBody>
          <a:bodyPr wrap="none">
            <a:spAutoFit/>
          </a:bodyPr>
          <a:lstStyle/>
          <a:p>
            <a:r>
              <a:rPr lang="zh-CN" altLang="en-US" b="1" dirty="0">
                <a:solidFill>
                  <a:srgbClr val="CC0000"/>
                </a:solidFill>
                <a:ea typeface="黑体" panose="02010609060101010101" pitchFamily="49" charset="-122"/>
              </a:rPr>
              <a:t>种群增长</a:t>
            </a:r>
          </a:p>
        </p:txBody>
      </p:sp>
      <p:sp>
        <p:nvSpPr>
          <p:cNvPr id="782341" name="AutoShape 5">
            <a:extLst>
              <a:ext uri="{FF2B5EF4-FFF2-40B4-BE49-F238E27FC236}">
                <a16:creationId xmlns:a16="http://schemas.microsoft.com/office/drawing/2014/main" id="{C7A73D1E-E85B-FBCF-28D3-723ED243D1EF}"/>
              </a:ext>
            </a:extLst>
          </p:cNvPr>
          <p:cNvSpPr>
            <a:spLocks/>
          </p:cNvSpPr>
          <p:nvPr/>
        </p:nvSpPr>
        <p:spPr bwMode="auto">
          <a:xfrm>
            <a:off x="1908175" y="692150"/>
            <a:ext cx="288925" cy="5327650"/>
          </a:xfrm>
          <a:prstGeom prst="leftBrace">
            <a:avLst>
              <a:gd name="adj1" fmla="val 153663"/>
              <a:gd name="adj2" fmla="val 50477"/>
            </a:avLst>
          </a:prstGeom>
          <a:noFill/>
          <a:ln w="12700">
            <a:solidFill>
              <a:schemeClr val="tx1"/>
            </a:solidFill>
            <a:round/>
            <a:headEnd/>
            <a:tailEnd/>
          </a:ln>
          <a:effectLst/>
        </p:spPr>
        <p:txBody>
          <a:bodyPr wrap="none" anchor="ctr"/>
          <a:lstStyle/>
          <a:p>
            <a:endParaRPr lang="zh-CN" altLang="en-US"/>
          </a:p>
        </p:txBody>
      </p:sp>
      <p:sp>
        <p:nvSpPr>
          <p:cNvPr id="782342" name="Text Box 6">
            <a:extLst>
              <a:ext uri="{FF2B5EF4-FFF2-40B4-BE49-F238E27FC236}">
                <a16:creationId xmlns:a16="http://schemas.microsoft.com/office/drawing/2014/main" id="{ABE6FA72-11FE-EFB8-417D-E9A1ECEDB1EB}"/>
              </a:ext>
            </a:extLst>
          </p:cNvPr>
          <p:cNvSpPr txBox="1">
            <a:spLocks noChangeArrowheads="1"/>
          </p:cNvSpPr>
          <p:nvPr/>
        </p:nvSpPr>
        <p:spPr bwMode="auto">
          <a:xfrm>
            <a:off x="2339975" y="981075"/>
            <a:ext cx="2355850" cy="1828800"/>
          </a:xfrm>
          <a:prstGeom prst="rect">
            <a:avLst/>
          </a:prstGeom>
          <a:noFill/>
          <a:ln w="28575">
            <a:solidFill>
              <a:schemeClr val="tx1"/>
            </a:solidFill>
            <a:miter lim="800000"/>
            <a:headEnd/>
            <a:tailEnd/>
          </a:ln>
          <a:effectLst/>
        </p:spPr>
        <p:txBody>
          <a:bodyPr wrap="none">
            <a:spAutoFit/>
          </a:bodyPr>
          <a:lstStyle/>
          <a:p>
            <a:r>
              <a:rPr lang="zh-CN" altLang="en-US" b="1">
                <a:solidFill>
                  <a:srgbClr val="CC0000"/>
                </a:solidFill>
              </a:rPr>
              <a:t>★</a:t>
            </a:r>
            <a:r>
              <a:rPr lang="zh-CN" altLang="en-US" b="1">
                <a:solidFill>
                  <a:srgbClr val="CC0000"/>
                </a:solidFill>
                <a:ea typeface="黑体" panose="02010609060101010101" pitchFamily="49" charset="-122"/>
              </a:rPr>
              <a:t>无限环境中</a:t>
            </a:r>
          </a:p>
          <a:p>
            <a:r>
              <a:rPr lang="zh-CN" altLang="en-US" b="1">
                <a:solidFill>
                  <a:srgbClr val="CC0000"/>
                </a:solidFill>
                <a:ea typeface="黑体" panose="02010609060101010101" pitchFamily="49" charset="-122"/>
              </a:rPr>
              <a:t>的指数式增长</a:t>
            </a:r>
          </a:p>
          <a:p>
            <a:r>
              <a:rPr lang="zh-CN" altLang="en-US" b="1">
                <a:solidFill>
                  <a:srgbClr val="CC0000"/>
                </a:solidFill>
                <a:ea typeface="黑体" panose="02010609060101010101" pitchFamily="49" charset="-122"/>
              </a:rPr>
              <a:t>（与种群密度</a:t>
            </a:r>
          </a:p>
          <a:p>
            <a:r>
              <a:rPr lang="zh-CN" altLang="en-US" b="1">
                <a:solidFill>
                  <a:srgbClr val="CC0000"/>
                </a:solidFill>
                <a:ea typeface="黑体" panose="02010609060101010101" pitchFamily="49" charset="-122"/>
              </a:rPr>
              <a:t>无关的增长）</a:t>
            </a:r>
          </a:p>
        </p:txBody>
      </p:sp>
      <p:sp>
        <p:nvSpPr>
          <p:cNvPr id="782343" name="Text Box 7">
            <a:extLst>
              <a:ext uri="{FF2B5EF4-FFF2-40B4-BE49-F238E27FC236}">
                <a16:creationId xmlns:a16="http://schemas.microsoft.com/office/drawing/2014/main" id="{E54DED0A-B48C-DA51-00F1-FB7C0F5501C7}"/>
              </a:ext>
            </a:extLst>
          </p:cNvPr>
          <p:cNvSpPr txBox="1">
            <a:spLocks noChangeArrowheads="1"/>
          </p:cNvSpPr>
          <p:nvPr/>
        </p:nvSpPr>
        <p:spPr bwMode="auto">
          <a:xfrm>
            <a:off x="2339975" y="4005263"/>
            <a:ext cx="5184775" cy="1828800"/>
          </a:xfrm>
          <a:prstGeom prst="rect">
            <a:avLst/>
          </a:prstGeom>
          <a:noFill/>
          <a:ln w="28575">
            <a:solidFill>
              <a:schemeClr val="tx1"/>
            </a:solidFill>
            <a:miter lim="800000"/>
            <a:headEnd/>
            <a:tailEnd/>
          </a:ln>
          <a:effectLst/>
        </p:spPr>
        <p:txBody>
          <a:bodyPr>
            <a:spAutoFit/>
          </a:bodyPr>
          <a:lstStyle/>
          <a:p>
            <a:r>
              <a:rPr lang="zh-CN" altLang="en-US" b="1" dirty="0">
                <a:solidFill>
                  <a:srgbClr val="CC0000"/>
                </a:solidFill>
              </a:rPr>
              <a:t>★</a:t>
            </a:r>
            <a:r>
              <a:rPr lang="zh-CN" altLang="en-US" b="1" dirty="0">
                <a:solidFill>
                  <a:srgbClr val="CC0000"/>
                </a:solidFill>
                <a:ea typeface="黑体" panose="02010609060101010101" pitchFamily="49" charset="-122"/>
              </a:rPr>
              <a:t>有限环境中的逻辑斯谛增长</a:t>
            </a:r>
          </a:p>
          <a:p>
            <a:r>
              <a:rPr lang="zh-CN" altLang="en-US" b="1" dirty="0">
                <a:solidFill>
                  <a:srgbClr val="CC0000"/>
                </a:solidFill>
                <a:ea typeface="黑体" panose="02010609060101010101" pitchFamily="49" charset="-122"/>
              </a:rPr>
              <a:t>（与种群密度有关的增长）</a:t>
            </a:r>
          </a:p>
          <a:p>
            <a:r>
              <a:rPr lang="zh-CN" altLang="en-US" b="1" dirty="0">
                <a:solidFill>
                  <a:srgbClr val="CC0000"/>
                </a:solidFill>
                <a:ea typeface="黑体" panose="02010609060101010101" pitchFamily="49" charset="-122"/>
              </a:rPr>
              <a:t>（增长率随种群大小而变化　　</a:t>
            </a:r>
          </a:p>
          <a:p>
            <a:r>
              <a:rPr lang="zh-CN" altLang="en-US" b="1" dirty="0">
                <a:solidFill>
                  <a:srgbClr val="CC0000"/>
                </a:solidFill>
                <a:ea typeface="黑体" panose="02010609060101010101" pitchFamily="49" charset="-122"/>
              </a:rPr>
              <a:t>　的连续增长）</a:t>
            </a:r>
          </a:p>
        </p:txBody>
      </p:sp>
      <p:sp>
        <p:nvSpPr>
          <p:cNvPr id="782344" name="AutoShape 8">
            <a:extLst>
              <a:ext uri="{FF2B5EF4-FFF2-40B4-BE49-F238E27FC236}">
                <a16:creationId xmlns:a16="http://schemas.microsoft.com/office/drawing/2014/main" id="{665D0AEB-FEFB-4F13-6E07-DEA535A7B2F7}"/>
              </a:ext>
            </a:extLst>
          </p:cNvPr>
          <p:cNvSpPr>
            <a:spLocks/>
          </p:cNvSpPr>
          <p:nvPr/>
        </p:nvSpPr>
        <p:spPr bwMode="auto">
          <a:xfrm>
            <a:off x="4859338" y="620713"/>
            <a:ext cx="217487" cy="2736850"/>
          </a:xfrm>
          <a:prstGeom prst="leftBrace">
            <a:avLst>
              <a:gd name="adj1" fmla="val 104866"/>
              <a:gd name="adj2" fmla="val 50000"/>
            </a:avLst>
          </a:prstGeom>
          <a:noFill/>
          <a:ln w="9525">
            <a:solidFill>
              <a:schemeClr val="tx1"/>
            </a:solidFill>
            <a:round/>
            <a:headEnd/>
            <a:tailEnd/>
          </a:ln>
          <a:effectLst/>
        </p:spPr>
        <p:txBody>
          <a:bodyPr wrap="none" anchor="ctr"/>
          <a:lstStyle/>
          <a:p>
            <a:endParaRPr lang="zh-CN" altLang="en-US"/>
          </a:p>
        </p:txBody>
      </p:sp>
      <p:sp>
        <p:nvSpPr>
          <p:cNvPr id="782345" name="Text Box 9">
            <a:extLst>
              <a:ext uri="{FF2B5EF4-FFF2-40B4-BE49-F238E27FC236}">
                <a16:creationId xmlns:a16="http://schemas.microsoft.com/office/drawing/2014/main" id="{6ECC1A42-2BAD-A1F9-D2E2-E4EA67C4364C}"/>
              </a:ext>
            </a:extLst>
          </p:cNvPr>
          <p:cNvSpPr txBox="1">
            <a:spLocks noChangeArrowheads="1"/>
          </p:cNvSpPr>
          <p:nvPr/>
        </p:nvSpPr>
        <p:spPr bwMode="auto">
          <a:xfrm>
            <a:off x="5292725" y="476250"/>
            <a:ext cx="3041650" cy="1200329"/>
          </a:xfrm>
          <a:prstGeom prst="rect">
            <a:avLst/>
          </a:prstGeom>
          <a:noFill/>
          <a:ln w="19050">
            <a:solidFill>
              <a:schemeClr val="tx1"/>
            </a:solidFill>
            <a:miter lim="800000"/>
            <a:headEnd/>
            <a:tailEnd/>
          </a:ln>
          <a:effectLst/>
        </p:spPr>
        <p:txBody>
          <a:bodyPr>
            <a:spAutoFit/>
          </a:bodyPr>
          <a:lstStyle/>
          <a:p>
            <a:r>
              <a:rPr lang="zh-CN" altLang="en-US" sz="1800" b="1" dirty="0"/>
              <a:t>●</a:t>
            </a:r>
            <a:r>
              <a:rPr lang="zh-CN" altLang="en-US" b="1" dirty="0">
                <a:ea typeface="黑体" panose="02010609060101010101" pitchFamily="49" charset="-122"/>
              </a:rPr>
              <a:t>世代不重叠种群　　　</a:t>
            </a:r>
          </a:p>
          <a:p>
            <a:r>
              <a:rPr lang="zh-CN" altLang="en-US" b="1" dirty="0">
                <a:ea typeface="黑体" panose="02010609060101010101" pitchFamily="49" charset="-122"/>
              </a:rPr>
              <a:t>　的离散型增长</a:t>
            </a:r>
          </a:p>
          <a:p>
            <a:r>
              <a:rPr lang="zh-CN" altLang="en-US" b="1" dirty="0">
                <a:ea typeface="黑体" panose="02010609060101010101" pitchFamily="49" charset="-122"/>
              </a:rPr>
              <a:t>（增长率不变）</a:t>
            </a:r>
          </a:p>
        </p:txBody>
      </p:sp>
      <p:sp>
        <p:nvSpPr>
          <p:cNvPr id="782346" name="Text Box 10">
            <a:extLst>
              <a:ext uri="{FF2B5EF4-FFF2-40B4-BE49-F238E27FC236}">
                <a16:creationId xmlns:a16="http://schemas.microsoft.com/office/drawing/2014/main" id="{E5F755D3-9031-DB23-E0AC-21F3E66F19FE}"/>
              </a:ext>
            </a:extLst>
          </p:cNvPr>
          <p:cNvSpPr txBox="1">
            <a:spLocks noChangeArrowheads="1"/>
          </p:cNvSpPr>
          <p:nvPr/>
        </p:nvSpPr>
        <p:spPr bwMode="auto">
          <a:xfrm>
            <a:off x="5292725" y="2276475"/>
            <a:ext cx="3041650" cy="1200329"/>
          </a:xfrm>
          <a:prstGeom prst="rect">
            <a:avLst/>
          </a:prstGeom>
          <a:noFill/>
          <a:ln w="19050">
            <a:solidFill>
              <a:schemeClr val="tx1"/>
            </a:solidFill>
            <a:miter lim="800000"/>
            <a:headEnd/>
            <a:tailEnd/>
          </a:ln>
          <a:effectLst/>
        </p:spPr>
        <p:txBody>
          <a:bodyPr>
            <a:spAutoFit/>
          </a:bodyPr>
          <a:lstStyle/>
          <a:p>
            <a:r>
              <a:rPr lang="zh-CN" altLang="en-US" sz="1800" b="1" dirty="0"/>
              <a:t>●</a:t>
            </a:r>
            <a:r>
              <a:rPr lang="zh-CN" altLang="en-US" b="1" dirty="0">
                <a:ea typeface="黑体" panose="02010609060101010101" pitchFamily="49" charset="-122"/>
              </a:rPr>
              <a:t>世代重叠种群的</a:t>
            </a:r>
          </a:p>
          <a:p>
            <a:r>
              <a:rPr lang="zh-CN" altLang="en-US" b="1" dirty="0">
                <a:ea typeface="黑体" panose="02010609060101010101" pitchFamily="49" charset="-122"/>
              </a:rPr>
              <a:t>　　连续增长</a:t>
            </a:r>
          </a:p>
          <a:p>
            <a:r>
              <a:rPr lang="zh-CN" altLang="en-US" b="1" dirty="0">
                <a:ea typeface="黑体" panose="02010609060101010101" pitchFamily="49" charset="-122"/>
              </a:rPr>
              <a:t>（增长率不变）</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3" name="Text Box 2">
            <a:extLst>
              <a:ext uri="{FF2B5EF4-FFF2-40B4-BE49-F238E27FC236}">
                <a16:creationId xmlns:a16="http://schemas.microsoft.com/office/drawing/2014/main" id="{4E83434C-961D-6C6B-4D8F-A9C5408EBFFA}"/>
              </a:ext>
            </a:extLst>
          </p:cNvPr>
          <p:cNvSpPr txBox="1">
            <a:spLocks noChangeArrowheads="1"/>
          </p:cNvSpPr>
          <p:nvPr/>
        </p:nvSpPr>
        <p:spPr bwMode="auto">
          <a:xfrm>
            <a:off x="539750" y="1685320"/>
            <a:ext cx="2088034" cy="5232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2800" b="1" dirty="0"/>
              <a:t>1 </a:t>
            </a:r>
            <a:r>
              <a:rPr lang="zh-CN" altLang="en-US" sz="2800" b="1" dirty="0"/>
              <a:t>离散型</a:t>
            </a:r>
          </a:p>
        </p:txBody>
      </p:sp>
      <p:sp>
        <p:nvSpPr>
          <p:cNvPr id="3076" name="Text Box 5">
            <a:extLst>
              <a:ext uri="{FF2B5EF4-FFF2-40B4-BE49-F238E27FC236}">
                <a16:creationId xmlns:a16="http://schemas.microsoft.com/office/drawing/2014/main" id="{F9912893-E772-D749-C364-7648246C9391}"/>
              </a:ext>
            </a:extLst>
          </p:cNvPr>
          <p:cNvSpPr txBox="1">
            <a:spLocks noChangeArrowheads="1"/>
          </p:cNvSpPr>
          <p:nvPr/>
        </p:nvSpPr>
        <p:spPr bwMode="auto">
          <a:xfrm>
            <a:off x="755650" y="216498"/>
            <a:ext cx="8001000" cy="15696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indent="-720000" eaLnBrk="1" hangingPunct="1"/>
            <a:r>
              <a:rPr lang="zh-CN" altLang="en-US" sz="3200" dirty="0"/>
              <a:t>（</a:t>
            </a:r>
            <a:r>
              <a:rPr lang="zh-CN" altLang="en-US" sz="3200" b="1" dirty="0"/>
              <a:t>一）与密度无关的种群增长模型</a:t>
            </a:r>
          </a:p>
          <a:p>
            <a:pPr indent="-720000" eaLnBrk="1" hangingPunct="1"/>
            <a:r>
              <a:rPr lang="en-US" altLang="zh-CN" sz="3200" b="1" dirty="0"/>
              <a:t>	</a:t>
            </a:r>
            <a:r>
              <a:rPr lang="zh-CN" altLang="en-US" sz="3200" b="1" dirty="0"/>
              <a:t>（</a:t>
            </a:r>
            <a:r>
              <a:rPr lang="en-US" altLang="zh-CN" sz="3200" b="1" dirty="0"/>
              <a:t>density-independent growth</a:t>
            </a:r>
            <a:r>
              <a:rPr lang="zh-CN" altLang="en-US" sz="3200" b="1" dirty="0"/>
              <a:t>）</a:t>
            </a:r>
            <a:endParaRPr lang="en-US" altLang="zh-CN" sz="3200" b="1" dirty="0"/>
          </a:p>
          <a:p>
            <a:pPr indent="-720000" eaLnBrk="1" hangingPunct="1"/>
            <a:r>
              <a:rPr lang="en-US" altLang="zh-CN" sz="3200" b="1" dirty="0"/>
              <a:t>		</a:t>
            </a:r>
            <a:r>
              <a:rPr lang="zh-CN" altLang="en-US" sz="3200" b="1" dirty="0"/>
              <a:t>或种群的无限增长</a:t>
            </a:r>
          </a:p>
        </p:txBody>
      </p:sp>
      <p:sp>
        <p:nvSpPr>
          <p:cNvPr id="2" name="Rectangle 4">
            <a:extLst>
              <a:ext uri="{FF2B5EF4-FFF2-40B4-BE49-F238E27FC236}">
                <a16:creationId xmlns:a16="http://schemas.microsoft.com/office/drawing/2014/main" id="{C354CC0D-2A3B-CC88-643F-1597E85698B8}"/>
              </a:ext>
            </a:extLst>
          </p:cNvPr>
          <p:cNvSpPr>
            <a:spLocks noChangeArrowheads="1"/>
          </p:cNvSpPr>
          <p:nvPr/>
        </p:nvSpPr>
        <p:spPr bwMode="auto">
          <a:xfrm>
            <a:off x="539750" y="2204864"/>
            <a:ext cx="80645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CC0000"/>
                </a:solidFill>
                <a:latin typeface="黑体" panose="02010609060101010101" pitchFamily="49" charset="-122"/>
                <a:ea typeface="黑体" panose="02010609060101010101" pitchFamily="49" charset="-122"/>
              </a:rPr>
              <a:t>　　　</a:t>
            </a:r>
            <a:r>
              <a:rPr lang="zh-CN" altLang="en-US" b="1" dirty="0">
                <a:solidFill>
                  <a:srgbClr val="CC0000"/>
                </a:solidFill>
              </a:rPr>
              <a:t>★</a:t>
            </a:r>
            <a:r>
              <a:rPr lang="zh-CN" altLang="en-US" b="1" dirty="0">
                <a:solidFill>
                  <a:srgbClr val="CC0000"/>
                </a:solidFill>
                <a:latin typeface="黑体" panose="02010609060101010101" pitchFamily="49" charset="-122"/>
                <a:ea typeface="黑体" panose="02010609060101010101" pitchFamily="49" charset="-122"/>
              </a:rPr>
              <a:t>种群在无限环境中的离散型增长</a:t>
            </a:r>
          </a:p>
          <a:p>
            <a:r>
              <a:rPr lang="zh-CN" altLang="en-US" b="1" dirty="0">
                <a:solidFill>
                  <a:srgbClr val="CC0000"/>
                </a:solidFill>
                <a:latin typeface="黑体" panose="02010609060101010101" pitchFamily="49" charset="-122"/>
                <a:ea typeface="黑体" panose="02010609060101010101" pitchFamily="49" charset="-122"/>
              </a:rPr>
              <a:t>　　　　　（世代不重叠的种群）</a:t>
            </a:r>
          </a:p>
          <a:p>
            <a:r>
              <a:rPr lang="zh-CN" altLang="en-US" b="1" dirty="0">
                <a:solidFill>
                  <a:srgbClr val="CC0000"/>
                </a:solidFill>
                <a:latin typeface="黑体" panose="02010609060101010101" pitchFamily="49" charset="-122"/>
                <a:ea typeface="黑体" panose="02010609060101010101" pitchFamily="49" charset="-122"/>
              </a:rPr>
              <a:t>假设：</a:t>
            </a:r>
            <a:r>
              <a:rPr lang="en-US" altLang="zh-CN" b="1" dirty="0">
                <a:latin typeface="黑体" panose="02010609060101010101" pitchFamily="49" charset="-122"/>
                <a:ea typeface="黑体" panose="02010609060101010101" pitchFamily="49" charset="-122"/>
              </a:rPr>
              <a:t>1.</a:t>
            </a:r>
            <a:r>
              <a:rPr lang="zh-CN" altLang="en-US" b="1" dirty="0">
                <a:latin typeface="黑体" panose="02010609060101010101" pitchFamily="49" charset="-122"/>
                <a:ea typeface="黑体" panose="02010609060101010101" pitchFamily="49" charset="-122"/>
              </a:rPr>
              <a:t>种群在无限环境中增长，增长率不变；</a:t>
            </a:r>
          </a:p>
          <a:p>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2.</a:t>
            </a:r>
            <a:r>
              <a:rPr lang="zh-CN" altLang="en-US" b="1" dirty="0">
                <a:latin typeface="黑体" panose="02010609060101010101" pitchFamily="49" charset="-122"/>
                <a:ea typeface="黑体" panose="02010609060101010101" pitchFamily="49" charset="-122"/>
              </a:rPr>
              <a:t>世代之间不重叠，增长不连续；</a:t>
            </a:r>
          </a:p>
          <a:p>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3.</a:t>
            </a:r>
            <a:r>
              <a:rPr lang="zh-CN" altLang="en-US" b="1" dirty="0">
                <a:latin typeface="黑体" panose="02010609060101010101" pitchFamily="49" charset="-122"/>
                <a:ea typeface="黑体" panose="02010609060101010101" pitchFamily="49" charset="-122"/>
              </a:rPr>
              <a:t>种群没有迁入、迁出；</a:t>
            </a:r>
          </a:p>
          <a:p>
            <a:r>
              <a:rPr lang="zh-CN" altLang="en-US" b="1" dirty="0">
                <a:latin typeface="黑体" panose="02010609060101010101" pitchFamily="49" charset="-122"/>
                <a:ea typeface="黑体" panose="02010609060101010101" pitchFamily="49" charset="-122"/>
              </a:rPr>
              <a:t>　　　</a:t>
            </a:r>
            <a:r>
              <a:rPr lang="en-US" altLang="zh-CN" b="1" dirty="0">
                <a:latin typeface="黑体" panose="02010609060101010101" pitchFamily="49" charset="-122"/>
                <a:ea typeface="黑体" panose="02010609060101010101" pitchFamily="49" charset="-122"/>
              </a:rPr>
              <a:t>4.</a:t>
            </a:r>
            <a:r>
              <a:rPr lang="zh-CN" altLang="en-US" b="1" dirty="0">
                <a:latin typeface="黑体" panose="02010609060101010101" pitchFamily="49" charset="-122"/>
                <a:ea typeface="黑体" panose="02010609060101010101" pitchFamily="49" charset="-122"/>
              </a:rPr>
              <a:t>种群没有年龄结构。</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2102" name="Picture 6">
            <a:extLst>
              <a:ext uri="{FF2B5EF4-FFF2-40B4-BE49-F238E27FC236}">
                <a16:creationId xmlns:a16="http://schemas.microsoft.com/office/drawing/2014/main" id="{1D437CB6-FCEB-3E0A-9AD4-505A528AEBE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244" y="3676"/>
            <a:ext cx="7345511" cy="4232727"/>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4">
            <a:extLst>
              <a:ext uri="{FF2B5EF4-FFF2-40B4-BE49-F238E27FC236}">
                <a16:creationId xmlns:a16="http://schemas.microsoft.com/office/drawing/2014/main" id="{2F013C62-2E83-98BA-A3E9-BA650B001A39}"/>
              </a:ext>
            </a:extLst>
          </p:cNvPr>
          <p:cNvSpPr txBox="1">
            <a:spLocks noChangeArrowheads="1"/>
          </p:cNvSpPr>
          <p:nvPr/>
        </p:nvSpPr>
        <p:spPr bwMode="auto">
          <a:xfrm>
            <a:off x="539750" y="4149080"/>
            <a:ext cx="8229600" cy="2547516"/>
          </a:xfrm>
          <a:prstGeom prst="rect">
            <a:avLst/>
          </a:prstGeom>
          <a:noFill/>
          <a:ln w="2857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altLang="zh-CN" sz="2800" b="1" dirty="0" err="1">
                <a:solidFill>
                  <a:srgbClr val="CC0000"/>
                </a:solidFill>
                <a:effectLst>
                  <a:outerShdw blurRad="38100" dist="38100" dir="2700000" algn="tl">
                    <a:srgbClr val="C0C0C0"/>
                  </a:outerShdw>
                </a:effectLst>
                <a:latin typeface="黑体" panose="02010609060101010101" pitchFamily="49" charset="-122"/>
              </a:rPr>
              <a:t>λ</a:t>
            </a:r>
            <a:r>
              <a:rPr lang="en-US" altLang="zh-CN" sz="2800" b="1" dirty="0">
                <a:solidFill>
                  <a:srgbClr val="CC0000"/>
                </a:solidFill>
                <a:latin typeface="黑体" panose="02010609060101010101" pitchFamily="49" charset="-122"/>
              </a:rPr>
              <a:t> </a:t>
            </a:r>
            <a:r>
              <a:rPr lang="zh-CN" altLang="en-US" sz="2800" b="1" dirty="0">
                <a:solidFill>
                  <a:srgbClr val="CC0000"/>
                </a:solidFill>
                <a:latin typeface="黑体" panose="02010609060101010101" pitchFamily="49" charset="-122"/>
              </a:rPr>
              <a:t>是周限增长率，有四种情形：</a:t>
            </a:r>
          </a:p>
          <a:p>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err="1">
                <a:solidFill>
                  <a:srgbClr val="CC0000"/>
                </a:solidFill>
                <a:effectLst>
                  <a:outerShdw blurRad="38100" dist="38100" dir="2700000" algn="tl">
                    <a:srgbClr val="C0C0C0"/>
                  </a:outerShdw>
                </a:effectLst>
                <a:latin typeface="黑体" panose="02010609060101010101" pitchFamily="49" charset="-122"/>
              </a:rPr>
              <a:t>λ</a:t>
            </a:r>
            <a:r>
              <a:rPr lang="zh-CN" altLang="en-US" sz="2800" b="1" dirty="0">
                <a:solidFill>
                  <a:srgbClr val="CC0000"/>
                </a:solidFill>
                <a:effectLst>
                  <a:outerShdw blurRad="38100" dist="38100" dir="2700000" algn="tl">
                    <a:srgbClr val="C0C0C0"/>
                  </a:outerShdw>
                </a:effectLst>
                <a:latin typeface="黑体" panose="02010609060101010101" pitchFamily="49" charset="-122"/>
              </a:rPr>
              <a:t>＞</a:t>
            </a:r>
            <a:r>
              <a:rPr lang="en-US" altLang="zh-CN" sz="2800" b="1" dirty="0">
                <a:solidFill>
                  <a:srgbClr val="CC0000"/>
                </a:solidFill>
                <a:effectLst>
                  <a:outerShdw blurRad="38100" dist="38100" dir="2700000" algn="tl">
                    <a:srgbClr val="C0C0C0"/>
                  </a:outerShdw>
                </a:effectLst>
                <a:latin typeface="黑体" panose="02010609060101010101" pitchFamily="49" charset="-122"/>
              </a:rPr>
              <a:t>1</a:t>
            </a:r>
            <a:r>
              <a:rPr lang="zh-CN" altLang="en-US" sz="2800" b="1" dirty="0">
                <a:solidFill>
                  <a:srgbClr val="CC0000"/>
                </a:solidFill>
                <a:effectLst>
                  <a:outerShdw blurRad="38100" dist="38100" dir="2700000" algn="tl">
                    <a:srgbClr val="C0C0C0"/>
                  </a:outerShdw>
                </a:effectLst>
                <a:latin typeface="黑体" panose="02010609060101010101" pitchFamily="49" charset="-122"/>
              </a:rPr>
              <a:t>，种群上升； </a:t>
            </a:r>
          </a:p>
          <a:p>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err="1">
                <a:solidFill>
                  <a:srgbClr val="CC0000"/>
                </a:solidFill>
                <a:effectLst>
                  <a:outerShdw blurRad="38100" dist="38100" dir="2700000" algn="tl">
                    <a:srgbClr val="C0C0C0"/>
                  </a:outerShdw>
                </a:effectLst>
                <a:latin typeface="黑体" panose="02010609060101010101" pitchFamily="49" charset="-122"/>
              </a:rPr>
              <a:t>λ</a:t>
            </a:r>
            <a:r>
              <a:rPr lang="en-US" altLang="zh-CN" sz="2800" b="1" dirty="0">
                <a:solidFill>
                  <a:srgbClr val="CC0000"/>
                </a:solidFill>
                <a:effectLst>
                  <a:outerShdw blurRad="38100" dist="38100" dir="2700000" algn="tl">
                    <a:srgbClr val="C0C0C0"/>
                  </a:outerShdw>
                </a:effectLst>
                <a:latin typeface="黑体" panose="02010609060101010101" pitchFamily="49" charset="-122"/>
              </a:rPr>
              <a:t> </a:t>
            </a:r>
            <a:r>
              <a:rPr lang="zh-CN" altLang="en-US" sz="2800" b="1" dirty="0">
                <a:solidFill>
                  <a:srgbClr val="CC0000"/>
                </a:solidFill>
                <a:effectLst>
                  <a:outerShdw blurRad="38100" dist="38100" dir="2700000" algn="tl">
                    <a:srgbClr val="C0C0C0"/>
                  </a:outerShdw>
                </a:effectLst>
                <a:latin typeface="黑体" panose="02010609060101010101" pitchFamily="49" charset="-122"/>
              </a:rPr>
              <a:t>＝</a:t>
            </a:r>
            <a:r>
              <a:rPr lang="en-US" altLang="zh-CN" sz="2800" b="1" dirty="0">
                <a:solidFill>
                  <a:srgbClr val="CC0000"/>
                </a:solidFill>
                <a:effectLst>
                  <a:outerShdw blurRad="38100" dist="38100" dir="2700000" algn="tl">
                    <a:srgbClr val="C0C0C0"/>
                  </a:outerShdw>
                </a:effectLst>
                <a:latin typeface="黑体" panose="02010609060101010101" pitchFamily="49" charset="-122"/>
              </a:rPr>
              <a:t>1</a:t>
            </a:r>
            <a:r>
              <a:rPr lang="zh-CN" altLang="en-US" sz="2800" b="1" dirty="0">
                <a:solidFill>
                  <a:srgbClr val="CC0000"/>
                </a:solidFill>
                <a:effectLst>
                  <a:outerShdw blurRad="38100" dist="38100" dir="2700000" algn="tl">
                    <a:srgbClr val="C0C0C0"/>
                  </a:outerShdw>
                </a:effectLst>
                <a:latin typeface="黑体" panose="02010609060101010101" pitchFamily="49" charset="-122"/>
              </a:rPr>
              <a:t>，种群稳定；</a:t>
            </a:r>
          </a:p>
          <a:p>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a:solidFill>
                  <a:srgbClr val="CC0000"/>
                </a:solidFill>
                <a:effectLst>
                  <a:outerShdw blurRad="38100" dist="38100" dir="2700000" algn="tl">
                    <a:srgbClr val="C0C0C0"/>
                  </a:outerShdw>
                </a:effectLst>
                <a:latin typeface="黑体" panose="02010609060101010101" pitchFamily="49" charset="-122"/>
              </a:rPr>
              <a:t>0</a:t>
            </a:r>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err="1">
                <a:solidFill>
                  <a:srgbClr val="CC0000"/>
                </a:solidFill>
                <a:effectLst>
                  <a:outerShdw blurRad="38100" dist="38100" dir="2700000" algn="tl">
                    <a:srgbClr val="C0C0C0"/>
                  </a:outerShdw>
                </a:effectLst>
                <a:latin typeface="黑体" panose="02010609060101010101" pitchFamily="49" charset="-122"/>
              </a:rPr>
              <a:t>λ</a:t>
            </a:r>
            <a:r>
              <a:rPr lang="en-US" altLang="zh-CN" sz="2800" b="1" dirty="0">
                <a:solidFill>
                  <a:srgbClr val="CC0000"/>
                </a:solidFill>
                <a:effectLst>
                  <a:outerShdw blurRad="38100" dist="38100" dir="2700000" algn="tl">
                    <a:srgbClr val="C0C0C0"/>
                  </a:outerShdw>
                </a:effectLst>
                <a:latin typeface="黑体" panose="02010609060101010101" pitchFamily="49" charset="-122"/>
              </a:rPr>
              <a:t> </a:t>
            </a:r>
            <a:r>
              <a:rPr lang="zh-CN" altLang="en-US" sz="2800" b="1" dirty="0">
                <a:solidFill>
                  <a:srgbClr val="CC0000"/>
                </a:solidFill>
                <a:effectLst>
                  <a:outerShdw blurRad="38100" dist="38100" dir="2700000" algn="tl">
                    <a:srgbClr val="C0C0C0"/>
                  </a:outerShdw>
                </a:effectLst>
                <a:latin typeface="黑体" panose="02010609060101010101" pitchFamily="49" charset="-122"/>
              </a:rPr>
              <a:t>＜</a:t>
            </a:r>
            <a:r>
              <a:rPr lang="en-US" altLang="zh-CN" sz="2800" b="1" dirty="0">
                <a:solidFill>
                  <a:srgbClr val="CC0000"/>
                </a:solidFill>
                <a:effectLst>
                  <a:outerShdw blurRad="38100" dist="38100" dir="2700000" algn="tl">
                    <a:srgbClr val="C0C0C0"/>
                  </a:outerShdw>
                </a:effectLst>
                <a:latin typeface="黑体" panose="02010609060101010101" pitchFamily="49" charset="-122"/>
              </a:rPr>
              <a:t>1</a:t>
            </a:r>
            <a:r>
              <a:rPr lang="zh-CN" altLang="en-US" sz="2800" b="1" dirty="0">
                <a:solidFill>
                  <a:srgbClr val="CC0000"/>
                </a:solidFill>
                <a:effectLst>
                  <a:outerShdw blurRad="38100" dist="38100" dir="2700000" algn="tl">
                    <a:srgbClr val="C0C0C0"/>
                  </a:outerShdw>
                </a:effectLst>
                <a:latin typeface="黑体" panose="02010609060101010101" pitchFamily="49" charset="-122"/>
              </a:rPr>
              <a:t>，种群下降； </a:t>
            </a:r>
          </a:p>
          <a:p>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err="1">
                <a:solidFill>
                  <a:srgbClr val="CC0000"/>
                </a:solidFill>
                <a:effectLst>
                  <a:outerShdw blurRad="38100" dist="38100" dir="2700000" algn="tl">
                    <a:srgbClr val="C0C0C0"/>
                  </a:outerShdw>
                </a:effectLst>
                <a:latin typeface="黑体" panose="02010609060101010101" pitchFamily="49" charset="-122"/>
              </a:rPr>
              <a:t>λ</a:t>
            </a:r>
            <a:r>
              <a:rPr lang="en-US" altLang="zh-CN" sz="2800" b="1" dirty="0">
                <a:solidFill>
                  <a:srgbClr val="CC0000"/>
                </a:solidFill>
                <a:effectLst>
                  <a:outerShdw blurRad="38100" dist="38100" dir="2700000" algn="tl">
                    <a:srgbClr val="C0C0C0"/>
                  </a:outerShdw>
                </a:effectLst>
                <a:latin typeface="黑体" panose="02010609060101010101" pitchFamily="49" charset="-122"/>
              </a:rPr>
              <a:t> </a:t>
            </a:r>
            <a:r>
              <a:rPr lang="zh-CN" altLang="en-US" sz="2800" b="1" dirty="0">
                <a:solidFill>
                  <a:srgbClr val="CC0000"/>
                </a:solidFill>
                <a:effectLst>
                  <a:outerShdw blurRad="38100" dist="38100" dir="2700000" algn="tl">
                    <a:srgbClr val="C0C0C0"/>
                  </a:outerShdw>
                </a:effectLst>
                <a:latin typeface="黑体" panose="02010609060101010101" pitchFamily="49" charset="-122"/>
              </a:rPr>
              <a:t>＝</a:t>
            </a:r>
            <a:r>
              <a:rPr lang="en-US" altLang="zh-CN" sz="2800" b="1" dirty="0">
                <a:solidFill>
                  <a:srgbClr val="CC0000"/>
                </a:solidFill>
                <a:effectLst>
                  <a:outerShdw blurRad="38100" dist="38100" dir="2700000" algn="tl">
                    <a:srgbClr val="C0C0C0"/>
                  </a:outerShdw>
                </a:effectLst>
                <a:latin typeface="黑体" panose="02010609060101010101" pitchFamily="49" charset="-122"/>
              </a:rPr>
              <a:t>0</a:t>
            </a:r>
            <a:r>
              <a:rPr lang="zh-CN" altLang="en-US" sz="2800" b="1" dirty="0">
                <a:solidFill>
                  <a:srgbClr val="CC0000"/>
                </a:solidFill>
                <a:effectLst>
                  <a:outerShdw blurRad="38100" dist="38100" dir="2700000" algn="tl">
                    <a:srgbClr val="C0C0C0"/>
                  </a:outerShdw>
                </a:effectLst>
                <a:latin typeface="黑体" panose="02010609060101010101" pitchFamily="49" charset="-122"/>
              </a:rPr>
              <a:t>，雌体没有繁殖，种群在下一代灭亡。</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145" name="Text Box 2">
            <a:extLst>
              <a:ext uri="{FF2B5EF4-FFF2-40B4-BE49-F238E27FC236}">
                <a16:creationId xmlns:a16="http://schemas.microsoft.com/office/drawing/2014/main" id="{A28AAFB8-B76A-4EE8-8217-33398B40B08D}"/>
              </a:ext>
            </a:extLst>
          </p:cNvPr>
          <p:cNvSpPr txBox="1">
            <a:spLocks noChangeArrowheads="1"/>
          </p:cNvSpPr>
          <p:nvPr/>
        </p:nvSpPr>
        <p:spPr bwMode="auto">
          <a:xfrm>
            <a:off x="304800" y="205420"/>
            <a:ext cx="8382000" cy="41549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sz="3200" b="1" dirty="0"/>
              <a:t>2 </a:t>
            </a:r>
            <a:r>
              <a:rPr lang="zh-CN" altLang="en-US" sz="3200" b="1" dirty="0"/>
              <a:t>连续型</a:t>
            </a:r>
            <a:endParaRPr lang="en-US" altLang="zh-CN" sz="3200" b="1" dirty="0"/>
          </a:p>
          <a:p>
            <a:r>
              <a:rPr lang="zh-CN" altLang="en-US" sz="3200" b="1" dirty="0">
                <a:solidFill>
                  <a:srgbClr val="CC0000"/>
                </a:solidFill>
              </a:rPr>
              <a:t>★种群在无限环境中的连续增长</a:t>
            </a:r>
          </a:p>
          <a:p>
            <a:r>
              <a:rPr lang="zh-CN" altLang="en-US" sz="3200" b="1" dirty="0">
                <a:solidFill>
                  <a:srgbClr val="CC0000"/>
                </a:solidFill>
              </a:rPr>
              <a:t>　　　　　　（世代重叠的种群）</a:t>
            </a:r>
            <a:endParaRPr lang="zh-CN" altLang="en-US" sz="3200" b="1" dirty="0"/>
          </a:p>
          <a:p>
            <a:r>
              <a:rPr lang="zh-CN" altLang="en-US" sz="2800" b="1" dirty="0">
                <a:solidFill>
                  <a:srgbClr val="CC0000"/>
                </a:solidFill>
              </a:rPr>
              <a:t>假设：</a:t>
            </a:r>
            <a:r>
              <a:rPr lang="en-US" altLang="zh-CN" sz="2800" b="1" dirty="0">
                <a:solidFill>
                  <a:schemeClr val="tx1"/>
                </a:solidFill>
              </a:rPr>
              <a:t>1.</a:t>
            </a:r>
            <a:r>
              <a:rPr lang="zh-CN" altLang="en-US" sz="2800" b="1" dirty="0">
                <a:solidFill>
                  <a:schemeClr val="tx1"/>
                </a:solidFill>
              </a:rPr>
              <a:t>种群在无限环境中增长，增长率不变；</a:t>
            </a:r>
          </a:p>
          <a:p>
            <a:r>
              <a:rPr lang="zh-CN" altLang="en-US" sz="2800" b="1" dirty="0">
                <a:solidFill>
                  <a:schemeClr val="tx1"/>
                </a:solidFill>
              </a:rPr>
              <a:t>　　　</a:t>
            </a:r>
            <a:r>
              <a:rPr lang="en-US" altLang="zh-CN" sz="2800" b="1" dirty="0">
                <a:solidFill>
                  <a:schemeClr val="tx1"/>
                </a:solidFill>
              </a:rPr>
              <a:t>2.</a:t>
            </a:r>
            <a:r>
              <a:rPr lang="zh-CN" altLang="en-US" sz="2800" b="1" dirty="0">
                <a:solidFill>
                  <a:schemeClr val="tx1"/>
                </a:solidFill>
              </a:rPr>
              <a:t>世代之间有重叠，连续增长；</a:t>
            </a:r>
          </a:p>
          <a:p>
            <a:r>
              <a:rPr lang="zh-CN" altLang="en-US" sz="2800" b="1" dirty="0">
                <a:solidFill>
                  <a:schemeClr val="tx1"/>
                </a:solidFill>
              </a:rPr>
              <a:t>　　　</a:t>
            </a:r>
            <a:r>
              <a:rPr lang="en-US" altLang="zh-CN" sz="2800" b="1" dirty="0">
                <a:solidFill>
                  <a:schemeClr val="tx1"/>
                </a:solidFill>
              </a:rPr>
              <a:t>3.</a:t>
            </a:r>
            <a:r>
              <a:rPr lang="zh-CN" altLang="en-US" sz="2800" b="1" dirty="0">
                <a:solidFill>
                  <a:schemeClr val="tx1"/>
                </a:solidFill>
              </a:rPr>
              <a:t>种群没有迁入、迁出；</a:t>
            </a:r>
          </a:p>
          <a:p>
            <a:r>
              <a:rPr lang="zh-CN" altLang="en-US" sz="2800" b="1" dirty="0">
                <a:solidFill>
                  <a:schemeClr val="tx1"/>
                </a:solidFill>
              </a:rPr>
              <a:t>　　　</a:t>
            </a:r>
            <a:r>
              <a:rPr lang="en-US" altLang="zh-CN" sz="2800" b="1" dirty="0">
                <a:solidFill>
                  <a:schemeClr val="tx1"/>
                </a:solidFill>
              </a:rPr>
              <a:t>4.</a:t>
            </a:r>
            <a:r>
              <a:rPr lang="zh-CN" altLang="en-US" sz="2800" b="1" dirty="0">
                <a:solidFill>
                  <a:schemeClr val="tx1"/>
                </a:solidFill>
              </a:rPr>
              <a:t>种群有年龄结构。</a:t>
            </a:r>
            <a:endParaRPr lang="en-US" altLang="zh-CN" sz="2800" b="1" dirty="0">
              <a:solidFill>
                <a:schemeClr val="tx1"/>
              </a:solidFill>
            </a:endParaRPr>
          </a:p>
          <a:p>
            <a:r>
              <a:rPr lang="zh-CN" altLang="en-US" sz="2800" b="1" dirty="0">
                <a:solidFill>
                  <a:schemeClr val="tx1"/>
                </a:solidFill>
              </a:rPr>
              <a:t>环境无限</a:t>
            </a:r>
          </a:p>
          <a:p>
            <a:r>
              <a:rPr lang="zh-CN" altLang="en-US" sz="2800" b="1" dirty="0">
                <a:solidFill>
                  <a:schemeClr val="tx1"/>
                </a:solidFill>
              </a:rPr>
              <a:t>无种内斗争，缺少天敌</a:t>
            </a:r>
          </a:p>
        </p:txBody>
      </p:sp>
      <p:pic>
        <p:nvPicPr>
          <p:cNvPr id="6146" name="Picture 3">
            <a:extLst>
              <a:ext uri="{FF2B5EF4-FFF2-40B4-BE49-F238E27FC236}">
                <a16:creationId xmlns:a16="http://schemas.microsoft.com/office/drawing/2014/main" id="{3BA12CF5-CE91-4F68-6201-5749314A85FE}"/>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3667" t="7705" r="8698" b="7807"/>
          <a:stretch>
            <a:fillRect/>
          </a:stretch>
        </p:blipFill>
        <p:spPr bwMode="auto">
          <a:xfrm>
            <a:off x="96449" y="4272234"/>
            <a:ext cx="4203548" cy="243923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4">
            <a:extLst>
              <a:ext uri="{FF2B5EF4-FFF2-40B4-BE49-F238E27FC236}">
                <a16:creationId xmlns:a16="http://schemas.microsoft.com/office/drawing/2014/main" id="{3B182E4F-9286-EBE6-C80E-C101CE6B4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99997" y="3463983"/>
            <a:ext cx="4845814" cy="3159313"/>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7169" name="Text Box 2">
            <a:extLst>
              <a:ext uri="{FF2B5EF4-FFF2-40B4-BE49-F238E27FC236}">
                <a16:creationId xmlns:a16="http://schemas.microsoft.com/office/drawing/2014/main" id="{1BF4D0D4-A02C-59A1-C1C0-8BD1325A696E}"/>
              </a:ext>
            </a:extLst>
          </p:cNvPr>
          <p:cNvSpPr txBox="1">
            <a:spLocks noChangeArrowheads="1"/>
          </p:cNvSpPr>
          <p:nvPr/>
        </p:nvSpPr>
        <p:spPr bwMode="auto">
          <a:xfrm>
            <a:off x="304800" y="3068960"/>
            <a:ext cx="8001000" cy="42165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b="1" dirty="0"/>
              <a:t>如何估测非密度制约性种群的数量加倍时间？</a:t>
            </a:r>
          </a:p>
          <a:p>
            <a:pPr algn="just" eaLnBrk="1" hangingPunct="1">
              <a:spcBef>
                <a:spcPct val="50000"/>
              </a:spcBef>
            </a:pPr>
            <a:r>
              <a:rPr lang="zh-CN" altLang="en-US" sz="2800" b="1" dirty="0"/>
              <a:t>根据</a:t>
            </a:r>
            <a:r>
              <a:rPr lang="en-US" altLang="zh-CN" sz="2800" b="1" dirty="0" err="1"/>
              <a:t>N</a:t>
            </a:r>
            <a:r>
              <a:rPr lang="en-US" altLang="zh-CN" sz="2800" b="1" baseline="-30000" dirty="0" err="1"/>
              <a:t>t</a:t>
            </a:r>
            <a:r>
              <a:rPr lang="en-US" altLang="zh-CN" sz="2800" b="1" dirty="0"/>
              <a:t> = N</a:t>
            </a:r>
            <a:r>
              <a:rPr lang="en-US" altLang="zh-CN" sz="2800" b="1" baseline="-30000" dirty="0"/>
              <a:t>0</a:t>
            </a:r>
            <a:r>
              <a:rPr lang="en-US" altLang="zh-CN" sz="2800" b="1" dirty="0"/>
              <a:t> </a:t>
            </a:r>
            <a:r>
              <a:rPr lang="en-US" altLang="zh-CN" sz="2800" b="1" dirty="0" err="1"/>
              <a:t>e</a:t>
            </a:r>
            <a:r>
              <a:rPr lang="en-US" altLang="zh-CN" sz="2800" b="1" baseline="30000" dirty="0" err="1"/>
              <a:t>rt</a:t>
            </a:r>
            <a:r>
              <a:rPr lang="zh-CN" altLang="en-US" sz="2800" b="1" dirty="0"/>
              <a:t>，当种群数量加倍时，</a:t>
            </a:r>
            <a:r>
              <a:rPr lang="en-US" altLang="zh-CN" sz="2800" b="1" dirty="0" err="1"/>
              <a:t>N</a:t>
            </a:r>
            <a:r>
              <a:rPr lang="en-US" altLang="zh-CN" sz="2800" b="1" baseline="-30000" dirty="0" err="1"/>
              <a:t>t</a:t>
            </a:r>
            <a:r>
              <a:rPr lang="en-US" altLang="zh-CN" sz="2800" b="1" baseline="-30000" dirty="0"/>
              <a:t>  </a:t>
            </a:r>
            <a:r>
              <a:rPr lang="en-US" altLang="zh-CN" sz="2800" b="1" dirty="0"/>
              <a:t>= 2</a:t>
            </a:r>
            <a:r>
              <a:rPr lang="en-US" altLang="zh-CN" sz="2800" b="1" baseline="30000" dirty="0"/>
              <a:t> </a:t>
            </a:r>
            <a:r>
              <a:rPr lang="en-US" altLang="zh-CN" sz="2800" b="1" dirty="0"/>
              <a:t>N</a:t>
            </a:r>
            <a:r>
              <a:rPr lang="en-US" altLang="zh-CN" sz="2800" b="1" baseline="-30000" dirty="0"/>
              <a:t>0</a:t>
            </a:r>
            <a:endParaRPr lang="en-US" altLang="zh-CN" sz="2800" b="1" dirty="0"/>
          </a:p>
          <a:p>
            <a:pPr algn="just" eaLnBrk="1" hangingPunct="1">
              <a:spcBef>
                <a:spcPct val="50000"/>
              </a:spcBef>
            </a:pPr>
            <a:r>
              <a:rPr lang="zh-CN" altLang="en-US" sz="2800" b="1" dirty="0"/>
              <a:t>因而：</a:t>
            </a:r>
            <a:r>
              <a:rPr lang="en-US" altLang="zh-CN" sz="2800" b="1" dirty="0" err="1"/>
              <a:t>e</a:t>
            </a:r>
            <a:r>
              <a:rPr lang="en-US" altLang="zh-CN" sz="2800" b="1" baseline="30000" dirty="0" err="1"/>
              <a:t>rt</a:t>
            </a:r>
            <a:r>
              <a:rPr lang="en-US" altLang="zh-CN" sz="2800" b="1" dirty="0"/>
              <a:t> = 2  </a:t>
            </a:r>
            <a:r>
              <a:rPr lang="zh-CN" altLang="en-US" sz="2800" b="1" dirty="0"/>
              <a:t>或 </a:t>
            </a:r>
            <a:r>
              <a:rPr lang="en-US" altLang="zh-CN" sz="2800" b="1" dirty="0"/>
              <a:t>ln2 = rt, t = 0.69315/r</a:t>
            </a:r>
          </a:p>
          <a:p>
            <a:pPr algn="just" eaLnBrk="1" hangingPunct="1">
              <a:spcBef>
                <a:spcPct val="50000"/>
              </a:spcBef>
            </a:pPr>
            <a:r>
              <a:rPr lang="en-US" altLang="zh-CN" sz="2800" b="1" dirty="0"/>
              <a:t>r</a:t>
            </a:r>
            <a:r>
              <a:rPr lang="zh-CN" altLang="en-US" sz="2800" b="1" dirty="0"/>
              <a:t>与 </a:t>
            </a:r>
            <a:r>
              <a:rPr lang="en-US" altLang="zh-CN" sz="2800" dirty="0" err="1">
                <a:cs typeface="Times New Roman" panose="02020603050405020304" pitchFamily="18" charset="0"/>
              </a:rPr>
              <a:t>λ</a:t>
            </a:r>
            <a:r>
              <a:rPr lang="zh-CN" altLang="en-US" sz="2800" dirty="0"/>
              <a:t>的关系？</a:t>
            </a:r>
            <a:r>
              <a:rPr lang="en-US" altLang="zh-CN" sz="2800" dirty="0"/>
              <a:t>(</a:t>
            </a:r>
            <a:r>
              <a:rPr lang="en-US" altLang="zh-CN" sz="2800" b="1" dirty="0" err="1"/>
              <a:t>N</a:t>
            </a:r>
            <a:r>
              <a:rPr lang="en-US" altLang="zh-CN" sz="2800" b="1" baseline="-30000" dirty="0" err="1"/>
              <a:t>t</a:t>
            </a:r>
            <a:r>
              <a:rPr lang="en-US" altLang="zh-CN" sz="2800" b="1" dirty="0"/>
              <a:t> = N</a:t>
            </a:r>
            <a:r>
              <a:rPr lang="en-US" altLang="zh-CN" sz="2800" b="1" baseline="-30000" dirty="0"/>
              <a:t>0</a:t>
            </a:r>
            <a:r>
              <a:rPr lang="en-US" altLang="zh-CN" sz="2800" b="1" dirty="0"/>
              <a:t> </a:t>
            </a:r>
            <a:r>
              <a:rPr lang="en-US" altLang="zh-CN" sz="2800" b="1" dirty="0" err="1">
                <a:cs typeface="Times New Roman" panose="02020603050405020304" pitchFamily="18" charset="0"/>
              </a:rPr>
              <a:t>λ</a:t>
            </a:r>
            <a:r>
              <a:rPr lang="en-US" altLang="zh-CN" sz="2800" b="1" baseline="-30000" dirty="0"/>
              <a:t> </a:t>
            </a:r>
            <a:r>
              <a:rPr lang="en-US" altLang="zh-CN" sz="2800" b="1" baseline="30000" dirty="0"/>
              <a:t>t </a:t>
            </a:r>
            <a:r>
              <a:rPr lang="en-US" altLang="zh-CN" sz="2800" b="1" dirty="0"/>
              <a:t>, </a:t>
            </a:r>
            <a:r>
              <a:rPr lang="en-US" altLang="zh-CN" sz="2800" b="1" dirty="0" err="1"/>
              <a:t>N</a:t>
            </a:r>
            <a:r>
              <a:rPr lang="en-US" altLang="zh-CN" sz="2800" b="1" baseline="-30000" dirty="0" err="1"/>
              <a:t>t</a:t>
            </a:r>
            <a:r>
              <a:rPr lang="en-US" altLang="zh-CN" sz="2800" b="1" dirty="0"/>
              <a:t> = N</a:t>
            </a:r>
            <a:r>
              <a:rPr lang="en-US" altLang="zh-CN" sz="2800" b="1" baseline="-30000" dirty="0"/>
              <a:t>0</a:t>
            </a:r>
            <a:r>
              <a:rPr lang="en-US" altLang="zh-CN" sz="2800" b="1" dirty="0"/>
              <a:t> </a:t>
            </a:r>
            <a:r>
              <a:rPr lang="en-US" altLang="zh-CN" sz="2800" b="1" dirty="0" err="1"/>
              <a:t>e</a:t>
            </a:r>
            <a:r>
              <a:rPr lang="en-US" altLang="zh-CN" sz="2800" b="1" baseline="30000" dirty="0" err="1"/>
              <a:t>rt</a:t>
            </a:r>
            <a:r>
              <a:rPr lang="en-US" altLang="zh-CN" sz="2800" b="1" dirty="0"/>
              <a:t> )</a:t>
            </a:r>
          </a:p>
          <a:p>
            <a:pPr algn="just" eaLnBrk="1" hangingPunct="1">
              <a:spcBef>
                <a:spcPct val="50000"/>
              </a:spcBef>
            </a:pPr>
            <a:endParaRPr lang="en-US" altLang="zh-CN" sz="2800" dirty="0"/>
          </a:p>
          <a:p>
            <a:pPr algn="just" eaLnBrk="1" hangingPunct="1">
              <a:spcBef>
                <a:spcPct val="50000"/>
              </a:spcBef>
            </a:pPr>
            <a:endParaRPr lang="en-US" altLang="zh-CN" b="1" dirty="0"/>
          </a:p>
          <a:p>
            <a:pPr eaLnBrk="1" hangingPunct="1">
              <a:spcBef>
                <a:spcPct val="50000"/>
              </a:spcBef>
            </a:pPr>
            <a:endParaRPr lang="en-US" altLang="zh-CN" b="1" dirty="0"/>
          </a:p>
        </p:txBody>
      </p:sp>
      <p:sp>
        <p:nvSpPr>
          <p:cNvPr id="30726" name="Text Box 6">
            <a:extLst>
              <a:ext uri="{FF2B5EF4-FFF2-40B4-BE49-F238E27FC236}">
                <a16:creationId xmlns:a16="http://schemas.microsoft.com/office/drawing/2014/main" id="{9BEB657D-D5FB-A141-1195-52B23574E0AC}"/>
              </a:ext>
            </a:extLst>
          </p:cNvPr>
          <p:cNvSpPr txBox="1">
            <a:spLocks noChangeArrowheads="1"/>
          </p:cNvSpPr>
          <p:nvPr/>
        </p:nvSpPr>
        <p:spPr bwMode="auto">
          <a:xfrm>
            <a:off x="395288" y="5697999"/>
            <a:ext cx="7705725"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如何根据生命表数据求种群增长率？</a:t>
            </a:r>
          </a:p>
          <a:p>
            <a:pPr eaLnBrk="1" hangingPunct="1"/>
            <a:r>
              <a:rPr lang="zh-CN" altLang="en-US" sz="2800" b="1" dirty="0"/>
              <a:t>          </a:t>
            </a:r>
            <a:r>
              <a:rPr lang="en-US" altLang="zh-CN" sz="2800" b="1" dirty="0"/>
              <a:t>r = ln R0/T</a:t>
            </a:r>
          </a:p>
        </p:txBody>
      </p:sp>
      <p:sp>
        <p:nvSpPr>
          <p:cNvPr id="5" name="Text Box 7">
            <a:extLst>
              <a:ext uri="{FF2B5EF4-FFF2-40B4-BE49-F238E27FC236}">
                <a16:creationId xmlns:a16="http://schemas.microsoft.com/office/drawing/2014/main" id="{0B3B56EC-19B7-5503-5A62-91812CEFA775}"/>
              </a:ext>
            </a:extLst>
          </p:cNvPr>
          <p:cNvSpPr txBox="1">
            <a:spLocks noChangeArrowheads="1"/>
          </p:cNvSpPr>
          <p:nvPr/>
        </p:nvSpPr>
        <p:spPr bwMode="auto">
          <a:xfrm>
            <a:off x="683418" y="784945"/>
            <a:ext cx="7777163" cy="1938992"/>
          </a:xfrm>
          <a:prstGeom prst="rect">
            <a:avLst/>
          </a:prstGeom>
          <a:solidFill>
            <a:srgbClr val="FFFFCC"/>
          </a:solidFill>
          <a:ln w="28575">
            <a:solidFill>
              <a:srgbClr val="CC00FF"/>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en-US" altLang="zh-CN" dirty="0">
                <a:solidFill>
                  <a:srgbClr val="FF0000"/>
                </a:solidFill>
              </a:rPr>
              <a:t>   </a:t>
            </a:r>
            <a:r>
              <a:rPr lang="en-US" altLang="zh-CN" b="1" dirty="0">
                <a:solidFill>
                  <a:srgbClr val="FF0000"/>
                </a:solidFill>
                <a:ea typeface="黑体" panose="02010609060101010101" pitchFamily="49" charset="-122"/>
              </a:rPr>
              <a:t>r </a:t>
            </a:r>
            <a:r>
              <a:rPr lang="zh-CN" altLang="en-US" b="1" dirty="0">
                <a:solidFill>
                  <a:srgbClr val="FF0000"/>
                </a:solidFill>
                <a:ea typeface="黑体" panose="02010609060101010101" pitchFamily="49" charset="-122"/>
              </a:rPr>
              <a:t>　　　　　</a:t>
            </a:r>
            <a:r>
              <a:rPr lang="en-US" altLang="zh-CN" b="1" dirty="0" err="1">
                <a:solidFill>
                  <a:srgbClr val="FF0000"/>
                </a:solidFill>
                <a:ea typeface="黑体" panose="02010609060101010101" pitchFamily="49" charset="-122"/>
              </a:rPr>
              <a:t>λ</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    种群变化</a:t>
            </a:r>
          </a:p>
          <a:p>
            <a:r>
              <a:rPr lang="en-US" altLang="zh-CN" b="1" dirty="0">
                <a:solidFill>
                  <a:srgbClr val="FF0000"/>
                </a:solidFill>
                <a:ea typeface="黑体" panose="02010609060101010101" pitchFamily="49" charset="-122"/>
              </a:rPr>
              <a:t>  r</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0 </a:t>
            </a:r>
            <a:r>
              <a:rPr lang="zh-CN" altLang="en-US" b="1" dirty="0">
                <a:solidFill>
                  <a:srgbClr val="FF0000"/>
                </a:solidFill>
                <a:ea typeface="黑体" panose="02010609060101010101" pitchFamily="49" charset="-122"/>
              </a:rPr>
              <a:t>　　　</a:t>
            </a:r>
            <a:r>
              <a:rPr lang="en-US" altLang="zh-CN" b="1" dirty="0" err="1">
                <a:solidFill>
                  <a:srgbClr val="FF0000"/>
                </a:solidFill>
                <a:ea typeface="黑体" panose="02010609060101010101" pitchFamily="49" charset="-122"/>
              </a:rPr>
              <a:t>λ</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1       </a:t>
            </a:r>
            <a:r>
              <a:rPr lang="zh-CN" altLang="en-US" b="1" dirty="0">
                <a:solidFill>
                  <a:srgbClr val="FF0000"/>
                </a:solidFill>
                <a:ea typeface="黑体" panose="02010609060101010101" pitchFamily="49" charset="-122"/>
              </a:rPr>
              <a:t>    </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 种群增长</a:t>
            </a:r>
          </a:p>
          <a:p>
            <a:r>
              <a:rPr lang="en-US" altLang="zh-CN" b="1" dirty="0">
                <a:solidFill>
                  <a:srgbClr val="FF0000"/>
                </a:solidFill>
                <a:ea typeface="黑体" panose="02010609060101010101" pitchFamily="49" charset="-122"/>
              </a:rPr>
              <a:t>  r =0              </a:t>
            </a:r>
            <a:r>
              <a:rPr lang="zh-CN" altLang="en-US" b="1" dirty="0">
                <a:solidFill>
                  <a:srgbClr val="FF0000"/>
                </a:solidFill>
                <a:ea typeface="黑体" panose="02010609060101010101" pitchFamily="49" charset="-122"/>
              </a:rPr>
              <a:t>   </a:t>
            </a:r>
            <a:r>
              <a:rPr lang="en-US" altLang="zh-CN" b="1" dirty="0" err="1">
                <a:solidFill>
                  <a:srgbClr val="FF0000"/>
                </a:solidFill>
                <a:ea typeface="黑体" panose="02010609060101010101" pitchFamily="49" charset="-122"/>
              </a:rPr>
              <a:t>λ</a:t>
            </a:r>
            <a:r>
              <a:rPr lang="en-US" altLang="zh-CN" b="1" dirty="0">
                <a:solidFill>
                  <a:srgbClr val="FF0000"/>
                </a:solidFill>
                <a:ea typeface="黑体" panose="02010609060101010101" pitchFamily="49" charset="-122"/>
              </a:rPr>
              <a:t>=1    </a:t>
            </a:r>
            <a:r>
              <a:rPr lang="zh-CN" altLang="en-US" b="1" dirty="0">
                <a:solidFill>
                  <a:srgbClr val="FF0000"/>
                </a:solidFill>
                <a:ea typeface="黑体" panose="02010609060101010101" pitchFamily="49" charset="-122"/>
              </a:rPr>
              <a:t>  </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种群稳定</a:t>
            </a:r>
          </a:p>
          <a:p>
            <a:r>
              <a:rPr lang="en-US" altLang="zh-CN" b="1" dirty="0">
                <a:solidFill>
                  <a:srgbClr val="FF0000"/>
                </a:solidFill>
                <a:ea typeface="黑体" panose="02010609060101010101" pitchFamily="49" charset="-122"/>
              </a:rPr>
              <a:t>  r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0       0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 </a:t>
            </a:r>
            <a:r>
              <a:rPr lang="en-US" altLang="zh-CN" b="1" dirty="0" err="1">
                <a:solidFill>
                  <a:srgbClr val="FF0000"/>
                </a:solidFill>
                <a:ea typeface="黑体" panose="02010609060101010101" pitchFamily="49" charset="-122"/>
              </a:rPr>
              <a:t>λ</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1</a:t>
            </a:r>
            <a:r>
              <a:rPr lang="zh-CN" altLang="en-US" b="1" dirty="0">
                <a:solidFill>
                  <a:srgbClr val="FF0000"/>
                </a:solidFill>
                <a:ea typeface="黑体" panose="02010609060101010101" pitchFamily="49" charset="-122"/>
              </a:rPr>
              <a:t>　　　　种群下降</a:t>
            </a:r>
          </a:p>
          <a:p>
            <a:r>
              <a:rPr lang="en-US" altLang="zh-CN" b="1" dirty="0">
                <a:solidFill>
                  <a:srgbClr val="FF0000"/>
                </a:solidFill>
                <a:ea typeface="黑体" panose="02010609060101010101" pitchFamily="49" charset="-122"/>
              </a:rPr>
              <a:t>  r =</a:t>
            </a:r>
            <a:r>
              <a:rPr lang="zh-CN" altLang="en-US" b="1" dirty="0">
                <a:solidFill>
                  <a:srgbClr val="FF0000"/>
                </a:solidFill>
                <a:ea typeface="黑体" panose="02010609060101010101" pitchFamily="49" charset="-122"/>
              </a:rPr>
              <a:t>－</a:t>
            </a:r>
            <a:r>
              <a:rPr lang="en-US" altLang="zh-CN" b="1" dirty="0">
                <a:solidFill>
                  <a:srgbClr val="FF0000"/>
                </a:solidFill>
                <a:ea typeface="黑体" panose="02010609060101010101" pitchFamily="49" charset="-122"/>
              </a:rPr>
              <a:t>∞          </a:t>
            </a:r>
            <a:r>
              <a:rPr lang="zh-CN" altLang="en-US" b="1" dirty="0">
                <a:solidFill>
                  <a:srgbClr val="FF0000"/>
                </a:solidFill>
                <a:ea typeface="黑体" panose="02010609060101010101" pitchFamily="49" charset="-122"/>
              </a:rPr>
              <a:t> </a:t>
            </a:r>
            <a:r>
              <a:rPr lang="en-US" altLang="zh-CN" b="1" dirty="0" err="1">
                <a:solidFill>
                  <a:srgbClr val="FF0000"/>
                </a:solidFill>
                <a:ea typeface="黑体" panose="02010609060101010101" pitchFamily="49" charset="-122"/>
              </a:rPr>
              <a:t>λ</a:t>
            </a:r>
            <a:r>
              <a:rPr lang="en-US" altLang="zh-CN" b="1" dirty="0">
                <a:solidFill>
                  <a:srgbClr val="FF0000"/>
                </a:solidFill>
                <a:ea typeface="黑体" panose="02010609060101010101" pitchFamily="49" charset="-122"/>
              </a:rPr>
              <a:t>=0</a:t>
            </a:r>
            <a:r>
              <a:rPr lang="zh-CN" altLang="en-US" b="1" dirty="0">
                <a:solidFill>
                  <a:srgbClr val="FF0000"/>
                </a:solidFill>
                <a:ea typeface="黑体" panose="02010609060101010101" pitchFamily="49" charset="-122"/>
              </a:rPr>
              <a:t>　　　　　种群灭亡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0726"/>
                                        </p:tgtEl>
                                        <p:attrNameLst>
                                          <p:attrName>style.visibility</p:attrName>
                                        </p:attrNameLst>
                                      </p:cBhvr>
                                      <p:to>
                                        <p:strVal val="visible"/>
                                      </p:to>
                                    </p:set>
                                    <p:anim calcmode="lin" valueType="num">
                                      <p:cBhvr additive="base">
                                        <p:cTn id="7" dur="500" fill="hold"/>
                                        <p:tgtEl>
                                          <p:spTgt spid="30726"/>
                                        </p:tgtEl>
                                        <p:attrNameLst>
                                          <p:attrName>ppt_x</p:attrName>
                                        </p:attrNameLst>
                                      </p:cBhvr>
                                      <p:tavLst>
                                        <p:tav tm="0">
                                          <p:val>
                                            <p:strVal val="#ppt_x"/>
                                          </p:val>
                                        </p:tav>
                                        <p:tav tm="100000">
                                          <p:val>
                                            <p:strVal val="#ppt_x"/>
                                          </p:val>
                                        </p:tav>
                                      </p:tavLst>
                                    </p:anim>
                                    <p:anim calcmode="lin" valueType="num">
                                      <p:cBhvr additive="base">
                                        <p:cTn id="8" dur="500" fill="hold"/>
                                        <p:tgtEl>
                                          <p:spTgt spid="3072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6" grpId="0"/>
    </p:bldLst>
  </p:timing>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8193" name="Text Box 2">
            <a:extLst>
              <a:ext uri="{FF2B5EF4-FFF2-40B4-BE49-F238E27FC236}">
                <a16:creationId xmlns:a16="http://schemas.microsoft.com/office/drawing/2014/main" id="{D7B992AC-8AD5-54B2-E36E-D5B7339FBF08}"/>
              </a:ext>
            </a:extLst>
          </p:cNvPr>
          <p:cNvSpPr txBox="1">
            <a:spLocks noChangeArrowheads="1"/>
          </p:cNvSpPr>
          <p:nvPr/>
        </p:nvSpPr>
        <p:spPr bwMode="auto">
          <a:xfrm>
            <a:off x="457200" y="1371600"/>
            <a:ext cx="8229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8194" name="Text Box 3">
            <a:extLst>
              <a:ext uri="{FF2B5EF4-FFF2-40B4-BE49-F238E27FC236}">
                <a16:creationId xmlns:a16="http://schemas.microsoft.com/office/drawing/2014/main" id="{4433A418-1C74-4E05-00F5-F713DF0F2278}"/>
              </a:ext>
            </a:extLst>
          </p:cNvPr>
          <p:cNvSpPr txBox="1">
            <a:spLocks noChangeArrowheads="1"/>
          </p:cNvSpPr>
          <p:nvPr/>
        </p:nvSpPr>
        <p:spPr bwMode="auto">
          <a:xfrm>
            <a:off x="609600" y="2209800"/>
            <a:ext cx="7848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8195" name="Text Box 4">
            <a:extLst>
              <a:ext uri="{FF2B5EF4-FFF2-40B4-BE49-F238E27FC236}">
                <a16:creationId xmlns:a16="http://schemas.microsoft.com/office/drawing/2014/main" id="{FEC226E4-0FE7-1D55-6077-47771EF514F6}"/>
              </a:ext>
            </a:extLst>
          </p:cNvPr>
          <p:cNvSpPr txBox="1">
            <a:spLocks noChangeArrowheads="1"/>
          </p:cNvSpPr>
          <p:nvPr/>
        </p:nvSpPr>
        <p:spPr bwMode="auto">
          <a:xfrm>
            <a:off x="0" y="381000"/>
            <a:ext cx="9144000" cy="9763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dirty="0"/>
              <a:t>（</a:t>
            </a:r>
            <a:r>
              <a:rPr lang="zh-CN" altLang="en-US" sz="2800" b="1" dirty="0"/>
              <a:t>二）与密度有关的种群增长模型</a:t>
            </a:r>
          </a:p>
          <a:p>
            <a:pPr eaLnBrk="1" hangingPunct="1">
              <a:spcBef>
                <a:spcPct val="50000"/>
              </a:spcBef>
            </a:pPr>
            <a:endParaRPr lang="en-US" altLang="zh-CN" sz="2000" b="1" dirty="0"/>
          </a:p>
        </p:txBody>
      </p:sp>
      <p:sp>
        <p:nvSpPr>
          <p:cNvPr id="2" name="Rectangle 5">
            <a:extLst>
              <a:ext uri="{FF2B5EF4-FFF2-40B4-BE49-F238E27FC236}">
                <a16:creationId xmlns:a16="http://schemas.microsoft.com/office/drawing/2014/main" id="{33E414FF-5A94-8EA6-FFAC-3671EF1ACF56}"/>
              </a:ext>
            </a:extLst>
          </p:cNvPr>
          <p:cNvSpPr txBox="1">
            <a:spLocks/>
          </p:cNvSpPr>
          <p:nvPr/>
        </p:nvSpPr>
        <p:spPr>
          <a:xfrm>
            <a:off x="336952" y="869156"/>
            <a:ext cx="8229600" cy="5576888"/>
          </a:xfrm>
          <a:prstGeom prst="rect">
            <a:avLst/>
          </a:prstGeom>
          <a:noFill/>
          <a:ln/>
        </p:spPr>
        <p:txBody>
          <a:bodyPr/>
          <a:lstStyle>
            <a:lvl1pPr marL="342900" indent="-342900" algn="l" rtl="0" eaLnBrk="0" fontAlgn="base" hangingPunct="0">
              <a:spcBef>
                <a:spcPct val="20000"/>
              </a:spcBef>
              <a:spcAft>
                <a:spcPct val="0"/>
              </a:spcAft>
              <a:buChar char="•"/>
              <a:defRPr kumimoji="1" sz="3200" kern="1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kern="1200">
                <a:solidFill>
                  <a:schemeClr val="tx1"/>
                </a:solidFill>
                <a:latin typeface="+mn-lt"/>
                <a:ea typeface="+mn-ea"/>
                <a:cs typeface="+mn-cs"/>
              </a:defRPr>
            </a:lvl2pPr>
            <a:lvl3pPr marL="1143000" indent="-228600" algn="l" rtl="0" eaLnBrk="0" fontAlgn="base" hangingPunct="0">
              <a:spcBef>
                <a:spcPct val="20000"/>
              </a:spcBef>
              <a:spcAft>
                <a:spcPct val="0"/>
              </a:spcAft>
              <a:buChar char="•"/>
              <a:defRPr kumimoji="1" sz="2400" kern="1200">
                <a:solidFill>
                  <a:schemeClr val="tx1"/>
                </a:solidFill>
                <a:latin typeface="+mn-lt"/>
                <a:ea typeface="+mn-ea"/>
                <a:cs typeface="+mn-cs"/>
              </a:defRPr>
            </a:lvl3pPr>
            <a:lvl4pPr marL="1600200" indent="-228600" algn="l" rtl="0" eaLnBrk="0" fontAlgn="base" hangingPunct="0">
              <a:spcBef>
                <a:spcPct val="20000"/>
              </a:spcBef>
              <a:spcAft>
                <a:spcPct val="0"/>
              </a:spcAft>
              <a:buChar char="–"/>
              <a:defRPr kumimoji="1" sz="2000" kern="1200">
                <a:solidFill>
                  <a:schemeClr val="tx1"/>
                </a:solidFill>
                <a:latin typeface="+mn-lt"/>
                <a:ea typeface="+mn-ea"/>
                <a:cs typeface="+mn-cs"/>
              </a:defRPr>
            </a:lvl4pPr>
            <a:lvl5pPr marL="2057400" indent="-228600" algn="l" rtl="0" eaLnBrk="0" fontAlgn="base" hangingPunct="0">
              <a:spcBef>
                <a:spcPct val="20000"/>
              </a:spcBef>
              <a:spcAft>
                <a:spcPct val="0"/>
              </a:spcAft>
              <a:buChar char="»"/>
              <a:defRPr kumimoji="1"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zh-CN" altLang="en-US" sz="2800" b="1" dirty="0">
                <a:solidFill>
                  <a:srgbClr val="CC0000"/>
                </a:solidFill>
                <a:effectLst>
                  <a:outerShdw blurRad="38100" dist="38100" dir="2700000" algn="tl">
                    <a:srgbClr val="C0C0C0"/>
                  </a:outerShdw>
                </a:effectLst>
                <a:latin typeface="黑体" panose="02010609060101010101" pitchFamily="49" charset="-122"/>
              </a:rPr>
              <a:t>种群在有限环境中的逻辑斯谛增长（密度制约） </a:t>
            </a:r>
          </a:p>
          <a:p>
            <a:r>
              <a:rPr lang="zh-CN" altLang="en-US" sz="2800" b="1" dirty="0">
                <a:solidFill>
                  <a:srgbClr val="CC0000"/>
                </a:solidFill>
                <a:effectLst>
                  <a:outerShdw blurRad="38100" dist="38100" dir="2700000" algn="tl">
                    <a:srgbClr val="C0C0C0"/>
                  </a:outerShdw>
                </a:effectLst>
                <a:latin typeface="黑体" panose="02010609060101010101" pitchFamily="49" charset="-122"/>
              </a:rPr>
              <a:t> </a:t>
            </a:r>
            <a:r>
              <a:rPr lang="en-US" altLang="zh-CN" sz="2800" b="1" dirty="0">
                <a:solidFill>
                  <a:srgbClr val="CC0000"/>
                </a:solidFill>
                <a:latin typeface="黑体" panose="02010609060101010101" pitchFamily="49" charset="-122"/>
              </a:rPr>
              <a:t>(</a:t>
            </a:r>
            <a:r>
              <a:rPr lang="zh-CN" altLang="en-US" sz="2800" b="1" dirty="0">
                <a:solidFill>
                  <a:srgbClr val="CC0000"/>
                </a:solidFill>
                <a:latin typeface="黑体" panose="02010609060101010101" pitchFamily="49" charset="-122"/>
              </a:rPr>
              <a:t>增长率随种群大小而变化的连续增长</a:t>
            </a:r>
            <a:r>
              <a:rPr lang="en-US" altLang="zh-CN" sz="2800" b="1" dirty="0">
                <a:solidFill>
                  <a:srgbClr val="CC0000"/>
                </a:solidFill>
                <a:latin typeface="黑体" panose="02010609060101010101" pitchFamily="49" charset="-122"/>
              </a:rPr>
              <a:t>)</a:t>
            </a:r>
          </a:p>
          <a:p>
            <a:r>
              <a:rPr lang="en-US" altLang="zh-CN" sz="2800" b="1" dirty="0">
                <a:solidFill>
                  <a:srgbClr val="CC0000"/>
                </a:solidFill>
                <a:effectLst>
                  <a:outerShdw blurRad="38100" dist="38100" dir="2700000" algn="tl">
                    <a:srgbClr val="C0C0C0"/>
                  </a:outerShdw>
                </a:effectLst>
                <a:latin typeface="黑体" panose="02010609060101010101" pitchFamily="49" charset="-122"/>
              </a:rPr>
              <a:t>1. </a:t>
            </a:r>
            <a:r>
              <a:rPr lang="zh-CN" altLang="en-US" sz="2800" b="1" dirty="0">
                <a:solidFill>
                  <a:srgbClr val="CC0000"/>
                </a:solidFill>
                <a:effectLst>
                  <a:outerShdw blurRad="38100" dist="38100" dir="2700000" algn="tl">
                    <a:srgbClr val="C0C0C0"/>
                  </a:outerShdw>
                </a:effectLst>
                <a:latin typeface="黑体" panose="02010609060101010101" pitchFamily="49" charset="-122"/>
              </a:rPr>
              <a:t>假设条件：</a:t>
            </a:r>
          </a:p>
          <a:p>
            <a:r>
              <a:rPr lang="zh-CN" altLang="en-US" sz="2800" b="1" dirty="0">
                <a:effectLst>
                  <a:outerShdw blurRad="38100" dist="38100" dir="2700000" algn="tl">
                    <a:srgbClr val="C0C0C0"/>
                  </a:outerShdw>
                </a:effectLst>
                <a:latin typeface="黑体" panose="02010609060101010101" pitchFamily="49" charset="-122"/>
              </a:rPr>
              <a:t> （</a:t>
            </a:r>
            <a:r>
              <a:rPr lang="en-US" altLang="zh-CN" sz="2800" b="1" dirty="0">
                <a:effectLst>
                  <a:outerShdw blurRad="38100" dist="38100" dir="2700000" algn="tl">
                    <a:srgbClr val="C0C0C0"/>
                  </a:outerShdw>
                </a:effectLst>
                <a:latin typeface="黑体" panose="02010609060101010101" pitchFamily="49" charset="-122"/>
              </a:rPr>
              <a:t>1</a:t>
            </a:r>
            <a:r>
              <a:rPr lang="zh-CN" altLang="en-US" sz="2800" b="1" dirty="0">
                <a:effectLst>
                  <a:outerShdw blurRad="38100" dist="38100" dir="2700000" algn="tl">
                    <a:srgbClr val="C0C0C0"/>
                  </a:outerShdw>
                </a:effectLst>
                <a:latin typeface="黑体" panose="02010609060101010101" pitchFamily="49" charset="-122"/>
              </a:rPr>
              <a:t>）有一个环境容纳量（通常以</a:t>
            </a:r>
            <a:r>
              <a:rPr lang="en-US" altLang="zh-CN" sz="2800" b="1" dirty="0">
                <a:effectLst>
                  <a:outerShdw blurRad="38100" dist="38100" dir="2700000" algn="tl">
                    <a:srgbClr val="C0C0C0"/>
                  </a:outerShdw>
                </a:effectLst>
                <a:latin typeface="黑体" panose="02010609060101010101" pitchFamily="49" charset="-122"/>
              </a:rPr>
              <a:t>K</a:t>
            </a:r>
            <a:r>
              <a:rPr lang="zh-CN" altLang="en-US" sz="2800" b="1" dirty="0">
                <a:effectLst>
                  <a:outerShdw blurRad="38100" dist="38100" dir="2700000" algn="tl">
                    <a:srgbClr val="C0C0C0"/>
                  </a:outerShdw>
                </a:effectLst>
                <a:latin typeface="黑体" panose="02010609060101010101" pitchFamily="49" charset="-122"/>
              </a:rPr>
              <a:t>表示），当</a:t>
            </a:r>
            <a:r>
              <a:rPr lang="en-US" altLang="zh-CN" sz="2800" b="1" dirty="0" err="1">
                <a:effectLst>
                  <a:outerShdw blurRad="38100" dist="38100" dir="2700000" algn="tl">
                    <a:srgbClr val="C0C0C0"/>
                  </a:outerShdw>
                </a:effectLst>
                <a:latin typeface="黑体" panose="02010609060101010101" pitchFamily="49" charset="-122"/>
              </a:rPr>
              <a:t>Nt</a:t>
            </a:r>
            <a:r>
              <a:rPr lang="zh-CN" altLang="en-US" sz="2800" b="1" dirty="0">
                <a:effectLst>
                  <a:outerShdw blurRad="38100" dist="38100" dir="2700000" algn="tl">
                    <a:srgbClr val="C0C0C0"/>
                  </a:outerShdw>
                </a:effectLst>
                <a:latin typeface="黑体" panose="02010609060101010101" pitchFamily="49" charset="-122"/>
              </a:rPr>
              <a:t>＝</a:t>
            </a:r>
            <a:r>
              <a:rPr lang="en-US" altLang="zh-CN" sz="2800" b="1" dirty="0">
                <a:effectLst>
                  <a:outerShdw blurRad="38100" dist="38100" dir="2700000" algn="tl">
                    <a:srgbClr val="C0C0C0"/>
                  </a:outerShdw>
                </a:effectLst>
                <a:latin typeface="黑体" panose="02010609060101010101" pitchFamily="49" charset="-122"/>
              </a:rPr>
              <a:t>K</a:t>
            </a:r>
            <a:r>
              <a:rPr lang="zh-CN" altLang="en-US" sz="2800" b="1" dirty="0">
                <a:effectLst>
                  <a:outerShdw blurRad="38100" dist="38100" dir="2700000" algn="tl">
                    <a:srgbClr val="C0C0C0"/>
                  </a:outerShdw>
                </a:effectLst>
                <a:latin typeface="黑体" panose="02010609060101010101" pitchFamily="49" charset="-122"/>
              </a:rPr>
              <a:t>时，种群为零增长，即</a:t>
            </a:r>
            <a:r>
              <a:rPr lang="en-US" altLang="zh-CN" sz="2800" b="1" dirty="0" err="1">
                <a:effectLst>
                  <a:outerShdw blurRad="38100" dist="38100" dir="2700000" algn="tl">
                    <a:srgbClr val="C0C0C0"/>
                  </a:outerShdw>
                </a:effectLst>
                <a:latin typeface="黑体" panose="02010609060101010101" pitchFamily="49" charset="-122"/>
              </a:rPr>
              <a:t>dN</a:t>
            </a:r>
            <a:r>
              <a:rPr lang="en-US" altLang="zh-CN" sz="2800" b="1" dirty="0">
                <a:effectLst>
                  <a:outerShdw blurRad="38100" dist="38100" dir="2700000" algn="tl">
                    <a:srgbClr val="C0C0C0"/>
                  </a:outerShdw>
                </a:effectLst>
                <a:latin typeface="黑体" panose="02010609060101010101" pitchFamily="49" charset="-122"/>
              </a:rPr>
              <a:t>/dt</a:t>
            </a:r>
            <a:r>
              <a:rPr lang="zh-CN" altLang="en-US" sz="2800" b="1" dirty="0">
                <a:effectLst>
                  <a:outerShdw blurRad="38100" dist="38100" dir="2700000" algn="tl">
                    <a:srgbClr val="C0C0C0"/>
                  </a:outerShdw>
                </a:effectLst>
                <a:latin typeface="黑体" panose="02010609060101010101" pitchFamily="49" charset="-122"/>
              </a:rPr>
              <a:t>＝</a:t>
            </a:r>
            <a:r>
              <a:rPr lang="en-US" altLang="zh-CN" sz="2800" b="1" dirty="0">
                <a:effectLst>
                  <a:outerShdw blurRad="38100" dist="38100" dir="2700000" algn="tl">
                    <a:srgbClr val="C0C0C0"/>
                  </a:outerShdw>
                </a:effectLst>
                <a:latin typeface="黑体" panose="02010609060101010101" pitchFamily="49" charset="-122"/>
              </a:rPr>
              <a:t>0</a:t>
            </a:r>
            <a:r>
              <a:rPr lang="zh-CN" altLang="en-US" sz="2800" b="1" dirty="0">
                <a:effectLst>
                  <a:outerShdw blurRad="38100" dist="38100" dir="2700000" algn="tl">
                    <a:srgbClr val="C0C0C0"/>
                  </a:outerShdw>
                </a:effectLst>
                <a:latin typeface="黑体" panose="02010609060101010101" pitchFamily="49" charset="-122"/>
              </a:rPr>
              <a:t>；</a:t>
            </a:r>
          </a:p>
          <a:p>
            <a:r>
              <a:rPr lang="zh-CN" altLang="en-US" sz="2800" b="1" dirty="0">
                <a:effectLst>
                  <a:outerShdw blurRad="38100" dist="38100" dir="2700000" algn="tl">
                    <a:srgbClr val="C0C0C0"/>
                  </a:outerShdw>
                </a:effectLst>
                <a:latin typeface="黑体" panose="02010609060101010101" pitchFamily="49" charset="-122"/>
              </a:rPr>
              <a:t> （</a:t>
            </a:r>
            <a:r>
              <a:rPr lang="en-US" altLang="zh-CN" sz="2800" b="1" dirty="0">
                <a:effectLst>
                  <a:outerShdw blurRad="38100" dist="38100" dir="2700000" algn="tl">
                    <a:srgbClr val="C0C0C0"/>
                  </a:outerShdw>
                </a:effectLst>
                <a:latin typeface="黑体" panose="02010609060101010101" pitchFamily="49" charset="-122"/>
              </a:rPr>
              <a:t>2</a:t>
            </a:r>
            <a:r>
              <a:rPr lang="zh-CN" altLang="en-US" sz="2800" b="1" dirty="0">
                <a:effectLst>
                  <a:outerShdw blurRad="38100" dist="38100" dir="2700000" algn="tl">
                    <a:srgbClr val="C0C0C0"/>
                  </a:outerShdw>
                </a:effectLst>
                <a:latin typeface="黑体" panose="02010609060101010101" pitchFamily="49" charset="-122"/>
              </a:rPr>
              <a:t>）增长率随密度上升而降低的变化是逐渐的按比例的。</a:t>
            </a:r>
          </a:p>
          <a:p>
            <a:r>
              <a:rPr lang="zh-CN" altLang="en-US" sz="2800" b="1" dirty="0">
                <a:effectLst>
                  <a:outerShdw blurRad="38100" dist="38100" dir="2700000" algn="tl">
                    <a:srgbClr val="C0C0C0"/>
                  </a:outerShdw>
                </a:effectLst>
                <a:latin typeface="黑体" panose="02010609060101010101" pitchFamily="49" charset="-122"/>
              </a:rPr>
              <a:t>（</a:t>
            </a:r>
            <a:r>
              <a:rPr lang="en-US" altLang="zh-CN" sz="2800" b="1" dirty="0">
                <a:effectLst>
                  <a:outerShdw blurRad="38100" dist="38100" dir="2700000" algn="tl">
                    <a:srgbClr val="C0C0C0"/>
                  </a:outerShdw>
                </a:effectLst>
                <a:latin typeface="黑体" panose="02010609060101010101" pitchFamily="49" charset="-122"/>
              </a:rPr>
              <a:t>3</a:t>
            </a:r>
            <a:r>
              <a:rPr lang="zh-CN" altLang="en-US" sz="2800" b="1" dirty="0">
                <a:effectLst>
                  <a:outerShdw blurRad="38100" dist="38100" dir="2700000" algn="tl">
                    <a:srgbClr val="C0C0C0"/>
                  </a:outerShdw>
                </a:effectLst>
                <a:latin typeface="黑体" panose="02010609060101010101" pitchFamily="49" charset="-122"/>
              </a:rPr>
              <a:t>）种群中密度的增加对其增长率降低的作用是立即发生的，无时滞</a:t>
            </a:r>
          </a:p>
          <a:p>
            <a:r>
              <a:rPr lang="zh-CN" altLang="en-US" sz="2800" b="1" dirty="0">
                <a:latin typeface="黑体" panose="02010609060101010101" pitchFamily="49" charset="-122"/>
              </a:rPr>
              <a:t>（</a:t>
            </a:r>
            <a:r>
              <a:rPr lang="en-US" altLang="zh-CN" sz="2800" b="1" dirty="0">
                <a:latin typeface="黑体" panose="02010609060101010101" pitchFamily="49" charset="-122"/>
              </a:rPr>
              <a:t>4</a:t>
            </a:r>
            <a:r>
              <a:rPr lang="zh-CN" altLang="en-US" sz="2800" b="1" dirty="0">
                <a:latin typeface="黑体" panose="02010609060101010101" pitchFamily="49" charset="-122"/>
              </a:rPr>
              <a:t>）无迁入，无迁出</a:t>
            </a:r>
            <a:endParaRPr lang="en-US" altLang="zh-CN" sz="2800" b="1" dirty="0">
              <a:latin typeface="黑体" panose="02010609060101010101" pitchFamily="49" charset="-122"/>
            </a:endParaRPr>
          </a:p>
          <a:p>
            <a:pPr marL="0" indent="0">
              <a:buNone/>
            </a:pPr>
            <a:r>
              <a:rPr lang="zh-CN" altLang="en-US" sz="2800" b="1" dirty="0">
                <a:latin typeface="黑体" panose="02010609060101010101" pitchFamily="49" charset="-122"/>
              </a:rPr>
              <a:t>环境有限，种内斗争加剧，天敌数量增多</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1317" name="Picture 3" descr="C:\Users\Hong\Desktop\QQ截图20141202103953.png">
            <a:extLst>
              <a:ext uri="{FF2B5EF4-FFF2-40B4-BE49-F238E27FC236}">
                <a16:creationId xmlns:a16="http://schemas.microsoft.com/office/drawing/2014/main" id="{C62305A7-ED7B-3F15-67FB-D9D8A4D8DE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989138"/>
            <a:ext cx="8207375" cy="44180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1319" name="Rectangle 7">
            <a:extLst>
              <a:ext uri="{FF2B5EF4-FFF2-40B4-BE49-F238E27FC236}">
                <a16:creationId xmlns:a16="http://schemas.microsoft.com/office/drawing/2014/main" id="{00E72A42-9F3B-48B1-58EB-4DCA72B9824D}"/>
              </a:ext>
            </a:extLst>
          </p:cNvPr>
          <p:cNvSpPr>
            <a:spLocks noChangeArrowheads="1"/>
          </p:cNvSpPr>
          <p:nvPr/>
        </p:nvSpPr>
        <p:spPr bwMode="auto">
          <a:xfrm>
            <a:off x="539750" y="115888"/>
            <a:ext cx="8207375" cy="1800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r>
              <a:rPr lang="zh-CN" altLang="en-US" b="1" dirty="0">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b="1" dirty="0">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rPr>
              <a:t>2.“S”</a:t>
            </a:r>
            <a:r>
              <a:rPr lang="zh-CN" altLang="en-US" b="1" dirty="0">
                <a:solidFill>
                  <a:srgbClr val="CC0000"/>
                </a:solidFill>
                <a:effectLst>
                  <a:outerShdw blurRad="38100" dist="38100" dir="2700000" algn="tl">
                    <a:srgbClr val="C0C0C0"/>
                  </a:outerShdw>
                </a:effectLst>
                <a:latin typeface="黑体" panose="02010609060101010101" pitchFamily="49" charset="-122"/>
                <a:ea typeface="黑体" panose="02010609060101010101" pitchFamily="49" charset="-122"/>
              </a:rPr>
              <a:t>型增长曲线　</a:t>
            </a:r>
          </a:p>
          <a:p>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b="1" dirty="0">
                <a:effectLst>
                  <a:outerShdw blurRad="38100" dist="38100" dir="2700000" algn="tl">
                    <a:srgbClr val="C0C0C0"/>
                  </a:outerShdw>
                </a:effectLst>
                <a:latin typeface="黑体" panose="02010609060101010101" pitchFamily="49" charset="-122"/>
                <a:ea typeface="黑体" panose="02010609060101010101" pitchFamily="49" charset="-122"/>
              </a:rPr>
              <a:t>S”</a:t>
            </a:r>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型曲线有两个特点：</a:t>
            </a:r>
          </a:p>
          <a:p>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b="1" dirty="0">
                <a:effectLst>
                  <a:outerShdw blurRad="38100" dist="38100" dir="2700000" algn="tl">
                    <a:srgbClr val="C0C0C0"/>
                  </a:outerShdw>
                </a:effectLst>
                <a:latin typeface="黑体" panose="02010609060101010101" pitchFamily="49" charset="-122"/>
                <a:ea typeface="黑体" panose="02010609060101010101" pitchFamily="49" charset="-122"/>
              </a:rPr>
              <a:t>1</a:t>
            </a:r>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）曲线渐近于</a:t>
            </a:r>
            <a:r>
              <a:rPr lang="en-US" altLang="zh-CN" b="1" dirty="0">
                <a:effectLst>
                  <a:outerShdw blurRad="38100" dist="38100" dir="2700000" algn="tl">
                    <a:srgbClr val="C0C0C0"/>
                  </a:outerShdw>
                </a:effectLst>
                <a:latin typeface="黑体" panose="02010609060101010101" pitchFamily="49" charset="-122"/>
                <a:ea typeface="黑体" panose="02010609060101010101" pitchFamily="49" charset="-122"/>
              </a:rPr>
              <a:t>K</a:t>
            </a:r>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值，即平衡密度；</a:t>
            </a:r>
          </a:p>
          <a:p>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 　（</a:t>
            </a:r>
            <a:r>
              <a:rPr lang="en-US" altLang="zh-CN" b="1" dirty="0">
                <a:effectLst>
                  <a:outerShdw blurRad="38100" dist="38100" dir="2700000" algn="tl">
                    <a:srgbClr val="C0C0C0"/>
                  </a:outerShdw>
                </a:effectLst>
                <a:latin typeface="黑体" panose="02010609060101010101" pitchFamily="49" charset="-122"/>
                <a:ea typeface="黑体" panose="02010609060101010101" pitchFamily="49" charset="-122"/>
              </a:rPr>
              <a:t>2</a:t>
            </a:r>
            <a:r>
              <a:rPr lang="zh-CN" altLang="en-US" b="1" dirty="0">
                <a:effectLst>
                  <a:outerShdw blurRad="38100" dist="38100" dir="2700000" algn="tl">
                    <a:srgbClr val="C0C0C0"/>
                  </a:outerShdw>
                </a:effectLst>
                <a:latin typeface="黑体" panose="02010609060101010101" pitchFamily="49" charset="-122"/>
                <a:ea typeface="黑体" panose="02010609060101010101" pitchFamily="49" charset="-122"/>
              </a:rPr>
              <a:t>）曲线上升是平滑的。</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8356" name="Picture 4">
            <a:extLst>
              <a:ext uri="{FF2B5EF4-FFF2-40B4-BE49-F238E27FC236}">
                <a16:creationId xmlns:a16="http://schemas.microsoft.com/office/drawing/2014/main" id="{243E3165-EF99-7D13-7124-4FC362837ECC}"/>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a:stretch>
            <a:fillRect/>
          </a:stretch>
        </p:blipFill>
        <p:spPr>
          <a:xfrm>
            <a:off x="863749" y="260648"/>
            <a:ext cx="7416502" cy="5286465"/>
          </a:xfrm>
          <a:noFill/>
          <a:ln w="28575">
            <a:solidFill>
              <a:srgbClr val="D60093"/>
            </a:solidFill>
            <a:miter lim="800000"/>
            <a:headEnd/>
            <a:tailEnd/>
          </a:ln>
        </p:spPr>
      </p:pic>
      <p:sp>
        <p:nvSpPr>
          <p:cNvPr id="3" name="文本框 2">
            <a:extLst>
              <a:ext uri="{FF2B5EF4-FFF2-40B4-BE49-F238E27FC236}">
                <a16:creationId xmlns:a16="http://schemas.microsoft.com/office/drawing/2014/main" id="{46B2F003-2192-1B12-3E9E-C5C1A272AE20}"/>
              </a:ext>
            </a:extLst>
          </p:cNvPr>
          <p:cNvSpPr txBox="1"/>
          <p:nvPr/>
        </p:nvSpPr>
        <p:spPr>
          <a:xfrm>
            <a:off x="719572" y="5549943"/>
            <a:ext cx="7704856" cy="830997"/>
          </a:xfrm>
          <a:prstGeom prst="rect">
            <a:avLst/>
          </a:prstGeom>
          <a:noFill/>
        </p:spPr>
        <p:txBody>
          <a:bodyPr wrap="square">
            <a:spAutoFit/>
          </a:bodyPr>
          <a:lstStyle/>
          <a:p>
            <a:pPr eaLnBrk="1" hangingPunct="1"/>
            <a:r>
              <a:rPr lang="zh-CN" altLang="en-US" sz="2400" b="1" dirty="0"/>
              <a:t>其积分式为：</a:t>
            </a:r>
            <a:r>
              <a:rPr lang="en-US" altLang="zh-CN" sz="2400" b="1" dirty="0" err="1"/>
              <a:t>Nt</a:t>
            </a:r>
            <a:r>
              <a:rPr lang="en-US" altLang="zh-CN" sz="2400" b="1" dirty="0"/>
              <a:t> = K /</a:t>
            </a:r>
            <a:r>
              <a:rPr lang="zh-CN" altLang="en-US" sz="2400" b="1" dirty="0"/>
              <a:t>（</a:t>
            </a:r>
            <a:r>
              <a:rPr lang="en-US" altLang="zh-CN" sz="2400" b="1" dirty="0"/>
              <a:t>1+ </a:t>
            </a:r>
            <a:r>
              <a:rPr lang="en-US" altLang="zh-CN" sz="2400" b="1" dirty="0" err="1"/>
              <a:t>e</a:t>
            </a:r>
            <a:r>
              <a:rPr lang="en-US" altLang="zh-CN" sz="2400" b="1" baseline="30000" dirty="0" err="1"/>
              <a:t>a</a:t>
            </a:r>
            <a:r>
              <a:rPr lang="en-US" altLang="zh-CN" sz="2400" b="1" baseline="30000" dirty="0"/>
              <a:t>-rt</a:t>
            </a:r>
            <a:r>
              <a:rPr lang="zh-CN" altLang="en-US" sz="2400" b="1" dirty="0"/>
              <a:t>）式中参数</a:t>
            </a:r>
            <a:r>
              <a:rPr lang="en-US" altLang="zh-CN" sz="2400" b="1" dirty="0"/>
              <a:t>a</a:t>
            </a:r>
            <a:r>
              <a:rPr lang="zh-CN" altLang="en-US" sz="2400" b="1" dirty="0"/>
              <a:t>的值取决于</a:t>
            </a:r>
            <a:r>
              <a:rPr lang="en-US" altLang="zh-CN" sz="2400" b="1" dirty="0"/>
              <a:t>N0</a:t>
            </a:r>
            <a:r>
              <a:rPr lang="zh-CN" altLang="en-US" sz="2400" b="1" dirty="0"/>
              <a:t>，是表示曲线对原点的相对位置的。</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828" name="Picture 4">
            <a:extLst>
              <a:ext uri="{FF2B5EF4-FFF2-40B4-BE49-F238E27FC236}">
                <a16:creationId xmlns:a16="http://schemas.microsoft.com/office/drawing/2014/main" id="{22BAD45C-81A6-CE7B-C87C-45F07D4848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487" y="404664"/>
            <a:ext cx="8963025" cy="5438775"/>
          </a:xfrm>
          <a:prstGeom prst="rect">
            <a:avLst/>
          </a:prstGeom>
          <a:noFill/>
          <a:extLst>
            <a:ext uri="{909E8E84-426E-40DD-AFC4-6F175D3DCCD1}">
              <a14:hiddenFill xmlns:a14="http://schemas.microsoft.com/office/drawing/2010/main">
                <a:solidFill>
                  <a:srgbClr val="FFFFFF"/>
                </a:solidFill>
              </a14:hiddenFill>
            </a:ext>
          </a:extLst>
        </p:spPr>
      </p:pic>
      <p:pic>
        <p:nvPicPr>
          <p:cNvPr id="2" name="Picture 5">
            <a:extLst>
              <a:ext uri="{FF2B5EF4-FFF2-40B4-BE49-F238E27FC236}">
                <a16:creationId xmlns:a16="http://schemas.microsoft.com/office/drawing/2014/main" id="{5DFFD0AC-E036-4C3D-4210-DDFA0D542AD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0487" y="1349628"/>
            <a:ext cx="8963025" cy="55245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3365" name="Picture 5">
            <a:extLst>
              <a:ext uri="{FF2B5EF4-FFF2-40B4-BE49-F238E27FC236}">
                <a16:creationId xmlns:a16="http://schemas.microsoft.com/office/drawing/2014/main" id="{B1A1AFCF-57B4-8D44-9CD1-4256474D2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87450" y="404813"/>
            <a:ext cx="6696075" cy="5408612"/>
          </a:xfrm>
          <a:prstGeom prst="rect">
            <a:avLst/>
          </a:prstGeom>
          <a:noFill/>
          <a:extLst>
            <a:ext uri="{909E8E84-426E-40DD-AFC4-6F175D3DCCD1}">
              <a14:hiddenFill xmlns:a14="http://schemas.microsoft.com/office/drawing/2010/main">
                <a:solidFill>
                  <a:srgbClr val="FFFFFF"/>
                </a:solidFill>
              </a14:hiddenFill>
            </a:ext>
          </a:extLst>
        </p:spPr>
      </p:pic>
      <p:sp>
        <p:nvSpPr>
          <p:cNvPr id="783366" name="Text Box 5">
            <a:extLst>
              <a:ext uri="{FF2B5EF4-FFF2-40B4-BE49-F238E27FC236}">
                <a16:creationId xmlns:a16="http://schemas.microsoft.com/office/drawing/2014/main" id="{12877FB0-BC67-14FE-3634-1BE46434F605}"/>
              </a:ext>
            </a:extLst>
          </p:cNvPr>
          <p:cNvSpPr txBox="1">
            <a:spLocks noChangeArrowheads="1"/>
          </p:cNvSpPr>
          <p:nvPr/>
        </p:nvSpPr>
        <p:spPr bwMode="auto">
          <a:xfrm>
            <a:off x="1476375" y="5876925"/>
            <a:ext cx="6284913" cy="547688"/>
          </a:xfrm>
          <a:prstGeom prst="rect">
            <a:avLst/>
          </a:prstGeom>
          <a:solidFill>
            <a:srgbClr val="FFFF00"/>
          </a:solidFill>
          <a:ln w="28575">
            <a:solidFill>
              <a:srgbClr val="3333CC"/>
            </a:solidFill>
            <a:miter lim="800000"/>
            <a:headEnd/>
            <a:tailEnd/>
          </a:ln>
        </p:spPr>
        <p:txBody>
          <a:bodyPr wrap="non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r>
              <a:rPr lang="zh-CN" altLang="en-US" b="1" dirty="0">
                <a:solidFill>
                  <a:srgbClr val="CC0000"/>
                </a:solidFill>
                <a:latin typeface="黑体" panose="02010609060101010101" pitchFamily="49" charset="-122"/>
                <a:ea typeface="黑体" panose="02010609060101010101" pitchFamily="49" charset="-122"/>
              </a:rPr>
              <a:t>逻辑斯谛增长过程中的各种成分的变化</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89" name="Text Box 2">
            <a:extLst>
              <a:ext uri="{FF2B5EF4-FFF2-40B4-BE49-F238E27FC236}">
                <a16:creationId xmlns:a16="http://schemas.microsoft.com/office/drawing/2014/main" id="{6AEEFE10-07CB-7091-6C80-0A207AA8D47E}"/>
              </a:ext>
            </a:extLst>
          </p:cNvPr>
          <p:cNvSpPr txBox="1">
            <a:spLocks noChangeArrowheads="1"/>
          </p:cNvSpPr>
          <p:nvPr/>
        </p:nvSpPr>
        <p:spPr bwMode="auto">
          <a:xfrm>
            <a:off x="539750" y="260350"/>
            <a:ext cx="7696200" cy="167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br>
              <a:rPr lang="en-US" altLang="zh-CN"/>
            </a:br>
            <a:r>
              <a:rPr lang="zh-CN" altLang="en-US" sz="3200" b="1"/>
              <a:t>逻辑斯谛方程的意义：</a:t>
            </a:r>
          </a:p>
          <a:p>
            <a:pPr algn="just" eaLnBrk="1" hangingPunct="1">
              <a:spcBef>
                <a:spcPct val="50000"/>
              </a:spcBef>
            </a:pPr>
            <a:endParaRPr lang="en-US" altLang="zh-CN" sz="3200" b="1"/>
          </a:p>
        </p:txBody>
      </p:sp>
      <p:sp>
        <p:nvSpPr>
          <p:cNvPr id="12290" name="Text Box 3">
            <a:extLst>
              <a:ext uri="{FF2B5EF4-FFF2-40B4-BE49-F238E27FC236}">
                <a16:creationId xmlns:a16="http://schemas.microsoft.com/office/drawing/2014/main" id="{50D85613-13FD-E26C-1100-B8DEF5227659}"/>
              </a:ext>
            </a:extLst>
          </p:cNvPr>
          <p:cNvSpPr txBox="1">
            <a:spLocks noChangeArrowheads="1"/>
          </p:cNvSpPr>
          <p:nvPr/>
        </p:nvSpPr>
        <p:spPr bwMode="auto">
          <a:xfrm>
            <a:off x="468313" y="1412875"/>
            <a:ext cx="8280400"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逻辑斯谛方程中的两个参数 </a:t>
            </a:r>
            <a:r>
              <a:rPr lang="en-US" altLang="zh-CN" sz="2800" b="1" dirty="0"/>
              <a:t>r </a:t>
            </a:r>
            <a:r>
              <a:rPr lang="zh-CN" altLang="en-US" sz="2800" b="1" dirty="0"/>
              <a:t>和</a:t>
            </a:r>
            <a:r>
              <a:rPr lang="en-US" altLang="zh-CN" sz="2800" b="1" dirty="0"/>
              <a:t>K</a:t>
            </a:r>
            <a:r>
              <a:rPr lang="zh-CN" altLang="en-US" sz="2800" b="1" dirty="0"/>
              <a:t>，均具有重要的生物学意义。</a:t>
            </a:r>
            <a:r>
              <a:rPr lang="en-US" altLang="zh-CN" sz="2800" b="1" dirty="0"/>
              <a:t>r</a:t>
            </a:r>
            <a:r>
              <a:rPr lang="zh-CN" altLang="en-US" sz="2800" b="1" dirty="0"/>
              <a:t>表示物种的潜在增殖能力，</a:t>
            </a:r>
            <a:r>
              <a:rPr lang="en-US" altLang="zh-CN" sz="2800" b="1" dirty="0"/>
              <a:t>K</a:t>
            </a:r>
            <a:r>
              <a:rPr lang="zh-CN" altLang="en-US" sz="2800" b="1" dirty="0"/>
              <a:t>是环境容纳量，即物种在特定环境中的平衡密度。</a:t>
            </a:r>
            <a:endParaRPr lang="en-US" altLang="zh-CN" sz="2800" b="1" dirty="0"/>
          </a:p>
          <a:p>
            <a:pPr eaLnBrk="1" hangingPunct="1"/>
            <a:r>
              <a:rPr lang="zh-CN" altLang="en-US" sz="2800" b="1" dirty="0"/>
              <a:t>但应注意</a:t>
            </a:r>
            <a:r>
              <a:rPr lang="en-US" altLang="zh-CN" sz="2800" b="1" dirty="0"/>
              <a:t>K</a:t>
            </a:r>
            <a:r>
              <a:rPr lang="zh-CN" altLang="en-US" sz="2800" b="1" dirty="0"/>
              <a:t>同其它生态学特征一样，也是随环境条件（资源量）的改变而改变的。</a:t>
            </a:r>
          </a:p>
        </p:txBody>
      </p:sp>
      <p:sp>
        <p:nvSpPr>
          <p:cNvPr id="12291" name="Text Box 4">
            <a:extLst>
              <a:ext uri="{FF2B5EF4-FFF2-40B4-BE49-F238E27FC236}">
                <a16:creationId xmlns:a16="http://schemas.microsoft.com/office/drawing/2014/main" id="{0EF3B116-40C2-EEE4-6651-E4C2663E02BB}"/>
              </a:ext>
            </a:extLst>
          </p:cNvPr>
          <p:cNvSpPr txBox="1">
            <a:spLocks noChangeArrowheads="1"/>
          </p:cNvSpPr>
          <p:nvPr/>
        </p:nvSpPr>
        <p:spPr bwMode="auto">
          <a:xfrm>
            <a:off x="395288" y="3789040"/>
            <a:ext cx="835342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dirty="0"/>
              <a:t>逻辑斯谛方程的重要意义体现在以下几方面：</a:t>
            </a:r>
            <a:endParaRPr lang="en-US" altLang="zh-CN" sz="2800" b="1" dirty="0"/>
          </a:p>
          <a:p>
            <a:pPr eaLnBrk="1" hangingPunct="1"/>
            <a:r>
              <a:rPr lang="en-US" altLang="zh-CN" sz="2800" b="1" dirty="0"/>
              <a:t>1 </a:t>
            </a:r>
            <a:r>
              <a:rPr lang="zh-CN" altLang="en-US" sz="2800" b="1" dirty="0"/>
              <a:t>是许多两个相互作用种群增长模型的基础；</a:t>
            </a:r>
            <a:endParaRPr lang="en-US" altLang="zh-CN" sz="2800" b="1" dirty="0"/>
          </a:p>
          <a:p>
            <a:pPr eaLnBrk="1" hangingPunct="1"/>
            <a:r>
              <a:rPr lang="en-US" altLang="zh-CN" sz="2800" b="1" dirty="0"/>
              <a:t>2 </a:t>
            </a:r>
            <a:r>
              <a:rPr lang="zh-CN" altLang="en-US" sz="2800" b="1" dirty="0"/>
              <a:t>是渔业、牧业、林业等领域确定最大持续产量的主要模型；</a:t>
            </a:r>
            <a:endParaRPr lang="en-US" altLang="zh-CN" sz="2800" b="1" dirty="0"/>
          </a:p>
          <a:p>
            <a:pPr eaLnBrk="1" hangingPunct="1"/>
            <a:r>
              <a:rPr lang="en-US" altLang="zh-CN" sz="2800" b="1" dirty="0"/>
              <a:t>3 </a:t>
            </a:r>
            <a:r>
              <a:rPr lang="zh-CN" altLang="en-US" sz="2800" b="1" dirty="0"/>
              <a:t>模型中两个参数</a:t>
            </a:r>
            <a:r>
              <a:rPr lang="en-US" altLang="zh-CN" sz="2800" b="1" dirty="0"/>
              <a:t>r </a:t>
            </a:r>
            <a:r>
              <a:rPr lang="zh-CN" altLang="en-US" sz="2800" b="1" dirty="0"/>
              <a:t>和</a:t>
            </a:r>
            <a:r>
              <a:rPr lang="en-US" altLang="zh-CN" sz="2800" b="1" dirty="0"/>
              <a:t>K</a:t>
            </a:r>
            <a:r>
              <a:rPr lang="zh-CN" altLang="en-US" sz="2800" b="1" dirty="0"/>
              <a:t>，已成为生物进化对策理论中的重要概念。</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3313" name="Text Box 2">
            <a:extLst>
              <a:ext uri="{FF2B5EF4-FFF2-40B4-BE49-F238E27FC236}">
                <a16:creationId xmlns:a16="http://schemas.microsoft.com/office/drawing/2014/main" id="{E5C6BA01-9AB2-BE0F-33FD-248B4C63B7DC}"/>
              </a:ext>
            </a:extLst>
          </p:cNvPr>
          <p:cNvSpPr txBox="1">
            <a:spLocks noChangeArrowheads="1"/>
          </p:cNvSpPr>
          <p:nvPr/>
        </p:nvSpPr>
        <p:spPr bwMode="auto">
          <a:xfrm>
            <a:off x="838200" y="762000"/>
            <a:ext cx="76962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endParaRPr lang="zh-CN" altLang="zh-CN"/>
          </a:p>
        </p:txBody>
      </p:sp>
      <p:sp>
        <p:nvSpPr>
          <p:cNvPr id="13314" name="Text Box 2">
            <a:extLst>
              <a:ext uri="{FF2B5EF4-FFF2-40B4-BE49-F238E27FC236}">
                <a16:creationId xmlns:a16="http://schemas.microsoft.com/office/drawing/2014/main" id="{2A4C7F31-871A-B285-E54A-C0F3669EE6D1}"/>
              </a:ext>
            </a:extLst>
          </p:cNvPr>
          <p:cNvSpPr txBox="1">
            <a:spLocks noChangeArrowheads="1"/>
          </p:cNvSpPr>
          <p:nvPr/>
        </p:nvSpPr>
        <p:spPr bwMode="auto">
          <a:xfrm>
            <a:off x="179388" y="476250"/>
            <a:ext cx="860425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最大持续产量</a:t>
            </a:r>
            <a:r>
              <a:rPr lang="zh-CN" altLang="en-US" sz="3200"/>
              <a:t> </a:t>
            </a:r>
            <a:r>
              <a:rPr lang="en-US" altLang="zh-CN" sz="3200"/>
              <a:t>MSY(maximum sustainable yield)</a:t>
            </a:r>
            <a:r>
              <a:rPr lang="en-US" altLang="zh-CN"/>
              <a:t> </a:t>
            </a:r>
          </a:p>
        </p:txBody>
      </p:sp>
      <p:pic>
        <p:nvPicPr>
          <p:cNvPr id="13315" name="Picture 3">
            <a:extLst>
              <a:ext uri="{FF2B5EF4-FFF2-40B4-BE49-F238E27FC236}">
                <a16:creationId xmlns:a16="http://schemas.microsoft.com/office/drawing/2014/main" id="{537CE99F-5252-EB3F-7A45-A0219B37084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8313" y="1700213"/>
            <a:ext cx="2808287" cy="2098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6" name="Text Box 4">
            <a:extLst>
              <a:ext uri="{FF2B5EF4-FFF2-40B4-BE49-F238E27FC236}">
                <a16:creationId xmlns:a16="http://schemas.microsoft.com/office/drawing/2014/main" id="{8AD6E42D-657C-1877-505C-3E8CFCA25087}"/>
              </a:ext>
            </a:extLst>
          </p:cNvPr>
          <p:cNvSpPr txBox="1">
            <a:spLocks noChangeArrowheads="1"/>
          </p:cNvSpPr>
          <p:nvPr/>
        </p:nvSpPr>
        <p:spPr bwMode="auto">
          <a:xfrm>
            <a:off x="323850" y="4005263"/>
            <a:ext cx="8280400"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种群密度增加最初出生率超过死亡率，但是当种群密度接近环境容纳量</a:t>
            </a:r>
            <a:r>
              <a:rPr lang="en-US" altLang="zh-CN" b="1" dirty="0"/>
              <a:t>K</a:t>
            </a:r>
            <a:r>
              <a:rPr lang="zh-CN" altLang="en-US" b="1" dirty="0"/>
              <a:t>时，出生率下降，死亡率增加，接近</a:t>
            </a:r>
            <a:r>
              <a:rPr lang="en-US" altLang="zh-CN" b="1" dirty="0"/>
              <a:t>K</a:t>
            </a:r>
            <a:r>
              <a:rPr lang="zh-CN" altLang="en-US" b="1" dirty="0"/>
              <a:t>时，出生率、死亡率相等，种群稳定。出生率、死亡率之差为种群的净增加量。最大净增加量发生在中等密度、种群中存在许多繁殖个体、而种内竞争又相对较低的情况下。这一最大净增加量代表人们可长期从种群中收获的最大数量</a:t>
            </a:r>
            <a:r>
              <a:rPr lang="en-US" altLang="zh-CN" b="1" dirty="0"/>
              <a:t>—MSY</a:t>
            </a:r>
            <a:r>
              <a:rPr lang="zh-CN" altLang="en-US" b="1" dirty="0"/>
              <a:t>。 </a:t>
            </a:r>
          </a:p>
        </p:txBody>
      </p:sp>
      <p:pic>
        <p:nvPicPr>
          <p:cNvPr id="13317" name="Picture 5">
            <a:extLst>
              <a:ext uri="{FF2B5EF4-FFF2-40B4-BE49-F238E27FC236}">
                <a16:creationId xmlns:a16="http://schemas.microsoft.com/office/drawing/2014/main" id="{C61ADEFF-D1E5-39C9-229D-189D875CC99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563938" y="1412875"/>
            <a:ext cx="5184775" cy="246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8" name="Text Box 7">
            <a:extLst>
              <a:ext uri="{FF2B5EF4-FFF2-40B4-BE49-F238E27FC236}">
                <a16:creationId xmlns:a16="http://schemas.microsoft.com/office/drawing/2014/main" id="{9801D4F0-02A0-EB3C-CE9E-C578F8D2C281}"/>
              </a:ext>
            </a:extLst>
          </p:cNvPr>
          <p:cNvSpPr txBox="1">
            <a:spLocks noChangeArrowheads="1"/>
          </p:cNvSpPr>
          <p:nvPr/>
        </p:nvSpPr>
        <p:spPr bwMode="auto">
          <a:xfrm>
            <a:off x="468313" y="1268413"/>
            <a:ext cx="2951162" cy="854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sz="2000" b="1"/>
              <a:t>dN/dt = rN</a:t>
            </a:r>
            <a:r>
              <a:rPr lang="zh-CN" altLang="en-US" sz="2000" b="1"/>
              <a:t>（</a:t>
            </a:r>
            <a:r>
              <a:rPr lang="en-US" altLang="zh-CN" sz="2000" b="1"/>
              <a:t>1-N/K</a:t>
            </a:r>
            <a:r>
              <a:rPr lang="zh-CN" altLang="en-US" sz="2000" b="1"/>
              <a:t>）</a:t>
            </a:r>
          </a:p>
          <a:p>
            <a:pPr eaLnBrk="1" hangingPunct="1">
              <a:spcBef>
                <a:spcPct val="50000"/>
              </a:spcBef>
            </a:pPr>
            <a:endParaRPr lang="en-US" altLang="zh-CN" sz="20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7" name="Text Box 4">
            <a:extLst>
              <a:ext uri="{FF2B5EF4-FFF2-40B4-BE49-F238E27FC236}">
                <a16:creationId xmlns:a16="http://schemas.microsoft.com/office/drawing/2014/main" id="{A6AD7BA6-D857-28FD-2984-30423E74084C}"/>
              </a:ext>
            </a:extLst>
          </p:cNvPr>
          <p:cNvSpPr txBox="1">
            <a:spLocks noChangeArrowheads="1"/>
          </p:cNvSpPr>
          <p:nvPr/>
        </p:nvSpPr>
        <p:spPr bwMode="auto">
          <a:xfrm>
            <a:off x="468313" y="252869"/>
            <a:ext cx="7991475"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2800" b="1" dirty="0"/>
              <a:t>最大持续产量原理的前提假设：</a:t>
            </a:r>
            <a:endParaRPr lang="en-US" altLang="zh-CN" sz="2800" b="1" dirty="0"/>
          </a:p>
          <a:p>
            <a:pPr eaLnBrk="1" hangingPunct="1">
              <a:spcBef>
                <a:spcPct val="50000"/>
              </a:spcBef>
            </a:pPr>
            <a:r>
              <a:rPr lang="zh-CN" altLang="en-US" sz="2800" b="1" dirty="0"/>
              <a:t>（</a:t>
            </a:r>
            <a:r>
              <a:rPr lang="en-US" altLang="zh-CN" sz="2800" b="1" dirty="0"/>
              <a:t>1</a:t>
            </a:r>
            <a:r>
              <a:rPr lang="zh-CN" altLang="en-US" sz="2800" b="1" dirty="0"/>
              <a:t>）一个</a:t>
            </a:r>
            <a:r>
              <a:rPr lang="zh-CN" altLang="en-US" sz="2800" b="1" dirty="0">
                <a:solidFill>
                  <a:srgbClr val="FF0000"/>
                </a:solidFill>
              </a:rPr>
              <a:t>恒定不变的环境</a:t>
            </a:r>
            <a:r>
              <a:rPr lang="zh-CN" altLang="en-US" sz="2800" b="1" dirty="0"/>
              <a:t>和一条不变的补充量曲线（符合逻辑斯迪增长模型）</a:t>
            </a:r>
            <a:endParaRPr lang="en-US" altLang="zh-CN" sz="2800" b="1" dirty="0"/>
          </a:p>
          <a:p>
            <a:pPr eaLnBrk="1" hangingPunct="1">
              <a:spcBef>
                <a:spcPct val="50000"/>
              </a:spcBef>
            </a:pPr>
            <a:r>
              <a:rPr lang="zh-CN" altLang="en-US" sz="2800" b="1" dirty="0"/>
              <a:t>（</a:t>
            </a:r>
            <a:r>
              <a:rPr lang="en-US" altLang="zh-CN" sz="2800" b="1" dirty="0"/>
              <a:t>2</a:t>
            </a:r>
            <a:r>
              <a:rPr lang="zh-CN" altLang="en-US" sz="2800" b="1" dirty="0"/>
              <a:t>）忽略种群的年龄结构，不考虑存活率和繁殖力随年龄的变化</a:t>
            </a:r>
          </a:p>
        </p:txBody>
      </p:sp>
      <p:sp>
        <p:nvSpPr>
          <p:cNvPr id="14338" name="Text Box 5">
            <a:extLst>
              <a:ext uri="{FF2B5EF4-FFF2-40B4-BE49-F238E27FC236}">
                <a16:creationId xmlns:a16="http://schemas.microsoft.com/office/drawing/2014/main" id="{3AB20122-F929-496C-B853-94CECA994A68}"/>
              </a:ext>
            </a:extLst>
          </p:cNvPr>
          <p:cNvSpPr txBox="1">
            <a:spLocks noChangeArrowheads="1"/>
          </p:cNvSpPr>
          <p:nvPr/>
        </p:nvSpPr>
        <p:spPr bwMode="auto">
          <a:xfrm>
            <a:off x="468313" y="2930525"/>
            <a:ext cx="7991475" cy="2227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MSY</a:t>
            </a:r>
            <a:r>
              <a:rPr lang="zh-CN" altLang="en-US" sz="2800" b="1" dirty="0"/>
              <a:t>的计算 ：在中等种群密度下，种群增加量最大，这是</a:t>
            </a:r>
            <a:r>
              <a:rPr lang="en-US" altLang="zh-CN" sz="2800" b="1" dirty="0"/>
              <a:t>S-</a:t>
            </a:r>
            <a:r>
              <a:rPr lang="zh-CN" altLang="en-US" sz="2800" b="1" dirty="0"/>
              <a:t>曲线的拐点，相当于</a:t>
            </a:r>
            <a:r>
              <a:rPr lang="en-US" altLang="zh-CN" sz="2800" b="1" dirty="0"/>
              <a:t>N = K/2</a:t>
            </a:r>
            <a:r>
              <a:rPr lang="zh-CN" altLang="en-US" sz="2800" b="1" dirty="0"/>
              <a:t>的水平，这时种群的增加量</a:t>
            </a:r>
            <a:r>
              <a:rPr lang="en-US" altLang="zh-CN" sz="2800" b="1" dirty="0" err="1"/>
              <a:t>dN</a:t>
            </a:r>
            <a:r>
              <a:rPr lang="en-US" altLang="zh-CN" sz="2800" b="1" dirty="0"/>
              <a:t>/dt </a:t>
            </a:r>
            <a:r>
              <a:rPr lang="zh-CN" altLang="en-US" sz="2800" b="1" dirty="0"/>
              <a:t>最大。将</a:t>
            </a:r>
            <a:r>
              <a:rPr lang="en-US" altLang="zh-CN" sz="2800" b="1" dirty="0"/>
              <a:t>N = K/2</a:t>
            </a:r>
            <a:r>
              <a:rPr lang="zh-CN" altLang="en-US" sz="2800" b="1" dirty="0"/>
              <a:t>代入逻辑斯谛方程式，得 </a:t>
            </a:r>
            <a:r>
              <a:rPr lang="en-US" altLang="zh-CN" sz="2800" b="1" dirty="0"/>
              <a:t>d(K/2)/dt  = </a:t>
            </a:r>
            <a:r>
              <a:rPr lang="en-US" altLang="zh-CN" sz="2800" b="1" dirty="0" err="1"/>
              <a:t>rK</a:t>
            </a:r>
            <a:r>
              <a:rPr lang="en-US" altLang="zh-CN" sz="2800" b="1" dirty="0"/>
              <a:t>/2 (1-K/2K) = </a:t>
            </a:r>
            <a:r>
              <a:rPr lang="en-US" altLang="zh-CN" sz="2800" b="1" dirty="0" err="1"/>
              <a:t>rK</a:t>
            </a:r>
            <a:r>
              <a:rPr lang="en-US" altLang="zh-CN" sz="2800" b="1" dirty="0"/>
              <a:t>/4</a:t>
            </a:r>
            <a:r>
              <a:rPr lang="zh-CN" altLang="en-US" sz="2800" b="1" dirty="0"/>
              <a:t>。因此</a:t>
            </a:r>
            <a:r>
              <a:rPr lang="en-US" altLang="zh-CN" sz="2800" b="1" dirty="0"/>
              <a:t>,  MSY</a:t>
            </a:r>
            <a:r>
              <a:rPr lang="zh-CN" altLang="en-US" sz="2800" b="1" dirty="0"/>
              <a:t>的估算公式为：</a:t>
            </a:r>
            <a:r>
              <a:rPr lang="en-US" altLang="zh-CN" sz="2800" b="1" dirty="0"/>
              <a:t>MSY = </a:t>
            </a:r>
            <a:r>
              <a:rPr lang="en-US" altLang="zh-CN" sz="2800" b="1" dirty="0" err="1"/>
              <a:t>rK</a:t>
            </a:r>
            <a:r>
              <a:rPr lang="en-US" altLang="zh-CN" sz="2800" b="1" dirty="0"/>
              <a:t>/4 </a:t>
            </a:r>
          </a:p>
        </p:txBody>
      </p:sp>
      <p:sp>
        <p:nvSpPr>
          <p:cNvPr id="14339" name="Text Box 6">
            <a:extLst>
              <a:ext uri="{FF2B5EF4-FFF2-40B4-BE49-F238E27FC236}">
                <a16:creationId xmlns:a16="http://schemas.microsoft.com/office/drawing/2014/main" id="{449D2208-86A2-D7D5-993A-607A14D26243}"/>
              </a:ext>
            </a:extLst>
          </p:cNvPr>
          <p:cNvSpPr txBox="1">
            <a:spLocks noChangeArrowheads="1"/>
          </p:cNvSpPr>
          <p:nvPr/>
        </p:nvSpPr>
        <p:spPr bwMode="auto">
          <a:xfrm>
            <a:off x="468313" y="5157788"/>
            <a:ext cx="8280400"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在生产实践中，很难做出可靠的</a:t>
            </a:r>
            <a:r>
              <a:rPr lang="en-US" altLang="zh-CN" b="1" dirty="0"/>
              <a:t>MSY</a:t>
            </a:r>
            <a:r>
              <a:rPr lang="zh-CN" altLang="en-US" b="1" dirty="0"/>
              <a:t>估测。尽管有不足之处，</a:t>
            </a:r>
            <a:r>
              <a:rPr lang="en-US" altLang="zh-CN" b="1" dirty="0"/>
              <a:t>MSY</a:t>
            </a:r>
            <a:r>
              <a:rPr lang="zh-CN" altLang="en-US" b="1" dirty="0"/>
              <a:t>一直是捕捞渔业、捕鲸业、野生植物和森林业的优势模型。</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361" name="Rectangle 2">
            <a:extLst>
              <a:ext uri="{FF2B5EF4-FFF2-40B4-BE49-F238E27FC236}">
                <a16:creationId xmlns:a16="http://schemas.microsoft.com/office/drawing/2014/main" id="{3C202FAE-C43D-FD43-636C-AC117BD1A189}"/>
              </a:ext>
            </a:extLst>
          </p:cNvPr>
          <p:cNvSpPr>
            <a:spLocks noGrp="1" noChangeArrowheads="1"/>
          </p:cNvSpPr>
          <p:nvPr>
            <p:ph type="body" idx="4294967295"/>
          </p:nvPr>
        </p:nvSpPr>
        <p:spPr>
          <a:xfrm>
            <a:off x="762000" y="1196752"/>
            <a:ext cx="8137525" cy="4114800"/>
          </a:xfrm>
        </p:spPr>
        <p:txBody>
          <a:bodyPr/>
          <a:lstStyle/>
          <a:p>
            <a:pPr eaLnBrk="1" hangingPunct="1">
              <a:buFontTx/>
              <a:buNone/>
            </a:pPr>
            <a:endParaRPr lang="en-US" altLang="zh-CN" b="1">
              <a:latin typeface="宋体" panose="02010600030101010101" pitchFamily="2" charset="-122"/>
            </a:endParaRPr>
          </a:p>
          <a:p>
            <a:pPr eaLnBrk="1" hangingPunct="1"/>
            <a:endParaRPr lang="en-US" altLang="zh-CN" b="1">
              <a:latin typeface="宋体" panose="02010600030101010101" pitchFamily="2" charset="-122"/>
            </a:endParaRPr>
          </a:p>
        </p:txBody>
      </p:sp>
      <p:sp>
        <p:nvSpPr>
          <p:cNvPr id="15362" name="Text Box 1028">
            <a:extLst>
              <a:ext uri="{FF2B5EF4-FFF2-40B4-BE49-F238E27FC236}">
                <a16:creationId xmlns:a16="http://schemas.microsoft.com/office/drawing/2014/main" id="{AF5EE346-D9EA-DB79-7981-CD907045F3B5}"/>
              </a:ext>
            </a:extLst>
          </p:cNvPr>
          <p:cNvSpPr txBox="1">
            <a:spLocks noChangeArrowheads="1"/>
          </p:cNvSpPr>
          <p:nvPr/>
        </p:nvSpPr>
        <p:spPr bwMode="auto">
          <a:xfrm>
            <a:off x="253830" y="404813"/>
            <a:ext cx="8782665" cy="329320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3200" b="1" dirty="0"/>
              <a:t>配额</a:t>
            </a:r>
            <a:r>
              <a:rPr lang="en-US" altLang="zh-CN" sz="3200" b="1" dirty="0"/>
              <a:t>(quota)</a:t>
            </a:r>
            <a:r>
              <a:rPr lang="zh-CN" altLang="en-US" sz="3200" b="1" dirty="0"/>
              <a:t>限制与努力</a:t>
            </a:r>
            <a:r>
              <a:rPr lang="en-US" altLang="zh-CN" sz="3200" b="1" dirty="0"/>
              <a:t>(effort) </a:t>
            </a:r>
            <a:r>
              <a:rPr lang="zh-CN" altLang="en-US" sz="3200" b="1" dirty="0"/>
              <a:t>限制</a:t>
            </a:r>
            <a:r>
              <a:rPr lang="en-US" altLang="zh-CN" sz="3200" b="1" dirty="0"/>
              <a:t>:</a:t>
            </a:r>
            <a:endParaRPr lang="en-US" altLang="zh-CN" sz="3200" dirty="0"/>
          </a:p>
          <a:p>
            <a:pPr eaLnBrk="1" hangingPunct="1"/>
            <a:endParaRPr lang="en-US" altLang="zh-CN" sz="3200" dirty="0"/>
          </a:p>
          <a:p>
            <a:pPr lvl="0"/>
            <a:r>
              <a:rPr lang="zh-CN" altLang="en-US" b="1" dirty="0"/>
              <a:t>收获</a:t>
            </a:r>
            <a:r>
              <a:rPr lang="en-US" altLang="zh-CN" b="1" dirty="0"/>
              <a:t>MSY</a:t>
            </a:r>
            <a:r>
              <a:rPr lang="zh-CN" altLang="en-US" b="1" dirty="0"/>
              <a:t>一般有配额（</a:t>
            </a:r>
            <a:r>
              <a:rPr lang="en-US" altLang="zh-CN" b="1" dirty="0"/>
              <a:t>quota</a:t>
            </a:r>
            <a:r>
              <a:rPr lang="zh-CN" altLang="en-US" b="1" dirty="0"/>
              <a:t>）限制和努力</a:t>
            </a:r>
            <a:r>
              <a:rPr lang="en-US" altLang="zh-CN" b="1" dirty="0"/>
              <a:t>(effort)</a:t>
            </a:r>
            <a:r>
              <a:rPr lang="zh-CN" altLang="en-US" b="1" dirty="0"/>
              <a:t>限制两种方式</a:t>
            </a:r>
            <a:endParaRPr lang="en-US" altLang="zh-CN" b="1" dirty="0"/>
          </a:p>
          <a:p>
            <a:pPr lvl="0"/>
            <a:r>
              <a:rPr lang="zh-CN" altLang="en-US" b="1" dirty="0"/>
              <a:t>配额限制</a:t>
            </a:r>
            <a:r>
              <a:rPr lang="en-US" altLang="zh-CN" b="1" dirty="0"/>
              <a:t>	</a:t>
            </a:r>
            <a:r>
              <a:rPr lang="zh-CN" altLang="zh-CN" dirty="0">
                <a:solidFill>
                  <a:srgbClr val="000000"/>
                </a:solidFill>
              </a:rPr>
              <a:t>政府规定：某渔场每年最多只能捕捞 </a:t>
            </a:r>
            <a:r>
              <a:rPr lang="zh-CN" altLang="zh-CN" b="1" dirty="0">
                <a:solidFill>
                  <a:srgbClr val="000000"/>
                </a:solidFill>
              </a:rPr>
              <a:t>1000 吨鳕鱼</a:t>
            </a:r>
            <a:endParaRPr lang="en-US" altLang="zh-CN" dirty="0">
              <a:solidFill>
                <a:srgbClr val="000000"/>
              </a:solidFill>
            </a:endParaRPr>
          </a:p>
          <a:p>
            <a:pPr lvl="0"/>
            <a:r>
              <a:rPr lang="zh-CN" altLang="en-US" b="1" dirty="0"/>
              <a:t>努力限制</a:t>
            </a:r>
            <a:r>
              <a:rPr lang="en-US" altLang="zh-CN" b="1" dirty="0"/>
              <a:t>	</a:t>
            </a:r>
            <a:r>
              <a:rPr lang="zh-CN" altLang="zh-CN" dirty="0">
                <a:solidFill>
                  <a:srgbClr val="000000"/>
                </a:solidFill>
              </a:rPr>
              <a:t>政府不限定渔民总共能捕多少鱼，而是限制</a:t>
            </a:r>
            <a:r>
              <a:rPr lang="zh-CN" altLang="zh-CN" b="1" dirty="0">
                <a:solidFill>
                  <a:srgbClr val="000000"/>
                </a:solidFill>
              </a:rPr>
              <a:t>捕捞强度</a:t>
            </a:r>
            <a:r>
              <a:rPr lang="zh-CN" altLang="en-US" b="1" dirty="0">
                <a:solidFill>
                  <a:srgbClr val="000000"/>
                </a:solidFill>
              </a:rPr>
              <a:t>，</a:t>
            </a:r>
            <a:r>
              <a:rPr lang="zh-CN" altLang="zh-CN" dirty="0">
                <a:solidFill>
                  <a:srgbClr val="000000"/>
                </a:solidFill>
              </a:rPr>
              <a:t>例如只允许 </a:t>
            </a:r>
            <a:r>
              <a:rPr lang="zh-CN" altLang="zh-CN" b="1" dirty="0">
                <a:solidFill>
                  <a:srgbClr val="000000"/>
                </a:solidFill>
              </a:rPr>
              <a:t>50 艘渔船</a:t>
            </a:r>
            <a:r>
              <a:rPr lang="zh-CN" altLang="zh-CN" dirty="0">
                <a:solidFill>
                  <a:srgbClr val="000000"/>
                </a:solidFill>
              </a:rPr>
              <a:t>进入鳕鱼渔场，</a:t>
            </a:r>
          </a:p>
          <a:p>
            <a:pPr eaLnBrk="1" hangingPunct="1"/>
            <a:endParaRPr lang="en-US" altLang="zh-CN" dirty="0">
              <a:solidFill>
                <a:srgbClr val="000000"/>
              </a:solidFill>
            </a:endParaRPr>
          </a:p>
          <a:p>
            <a:pPr eaLnBrk="1" hangingPunct="1"/>
            <a:endParaRPr lang="zh-CN" altLang="zh-CN" dirty="0"/>
          </a:p>
        </p:txBody>
      </p:sp>
      <p:sp>
        <p:nvSpPr>
          <p:cNvPr id="15363" name="Text Box 1029">
            <a:extLst>
              <a:ext uri="{FF2B5EF4-FFF2-40B4-BE49-F238E27FC236}">
                <a16:creationId xmlns:a16="http://schemas.microsoft.com/office/drawing/2014/main" id="{383E8F45-DE06-D3E4-1860-FD2233E6DAE0}"/>
              </a:ext>
            </a:extLst>
          </p:cNvPr>
          <p:cNvSpPr txBox="1">
            <a:spLocks noChangeArrowheads="1"/>
          </p:cNvSpPr>
          <p:nvPr/>
        </p:nvSpPr>
        <p:spPr bwMode="auto">
          <a:xfrm>
            <a:off x="270680" y="3140968"/>
            <a:ext cx="813752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b="1" dirty="0"/>
              <a:t>调节收获努力可以减少配额限制带来的潜在危险</a:t>
            </a:r>
            <a:endParaRPr lang="en-US" altLang="zh-CN" b="1" dirty="0"/>
          </a:p>
          <a:p>
            <a:pPr eaLnBrk="1" hangingPunct="1">
              <a:spcBef>
                <a:spcPct val="50000"/>
              </a:spcBef>
            </a:pPr>
            <a:r>
              <a:rPr lang="zh-CN" altLang="en-US" b="1" dirty="0"/>
              <a:t>因为一般来说，猎物种群数量减少后，收获者势必要增加收获努力来获取正在降低中的数量。</a:t>
            </a:r>
            <a:endParaRPr lang="en-US" altLang="zh-CN" b="1" dirty="0"/>
          </a:p>
          <a:p>
            <a:pPr eaLnBrk="1" hangingPunct="1">
              <a:spcBef>
                <a:spcPct val="50000"/>
              </a:spcBef>
            </a:pPr>
            <a:r>
              <a:rPr lang="zh-CN" altLang="en-US" b="1" dirty="0"/>
              <a:t>在一定的收获努力条件下，收获量随种群大小而改变 。</a:t>
            </a:r>
          </a:p>
        </p:txBody>
      </p:sp>
      <p:sp>
        <p:nvSpPr>
          <p:cNvPr id="3" name="Rectangle 5">
            <a:extLst>
              <a:ext uri="{FF2B5EF4-FFF2-40B4-BE49-F238E27FC236}">
                <a16:creationId xmlns:a16="http://schemas.microsoft.com/office/drawing/2014/main" id="{0E16A465-68AD-AC8C-F4B3-06D0821E489A}"/>
              </a:ext>
            </a:extLst>
          </p:cNvPr>
          <p:cNvSpPr>
            <a:spLocks noChangeArrowheads="1"/>
          </p:cNvSpPr>
          <p:nvPr/>
        </p:nvSpPr>
        <p:spPr bwMode="auto">
          <a:xfrm>
            <a:off x="0" y="-230832"/>
            <a:ext cx="18473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a:defRPr kumimoji="1" sz="2400">
                <a:solidFill>
                  <a:schemeClr val="tx1"/>
                </a:solidFill>
                <a:latin typeface="Times New Roman" panose="02020603050405020304" pitchFamily="18" charset="0"/>
                <a:ea typeface="宋体" panose="02010600030101010101" pitchFamily="2" charset="-122"/>
              </a:defRPr>
            </a:lvl2pPr>
            <a:lvl3pPr>
              <a:defRPr kumimoji="1" sz="2400">
                <a:solidFill>
                  <a:schemeClr val="tx1"/>
                </a:solidFill>
                <a:latin typeface="Times New Roman" panose="02020603050405020304" pitchFamily="18" charset="0"/>
                <a:ea typeface="宋体" panose="02010600030101010101" pitchFamily="2" charset="-122"/>
              </a:defRPr>
            </a:lvl3pPr>
            <a:lvl4pPr>
              <a:defRPr kumimoji="1" sz="2400">
                <a:solidFill>
                  <a:schemeClr val="tx1"/>
                </a:solidFill>
                <a:latin typeface="Times New Roman" panose="02020603050405020304" pitchFamily="18" charset="0"/>
                <a:ea typeface="宋体" panose="02010600030101010101" pitchFamily="2" charset="-122"/>
              </a:defRPr>
            </a:lvl4pPr>
            <a:lvl5pPr>
              <a:defRPr kumimoji="1" sz="2400">
                <a:solidFill>
                  <a:schemeClr val="tx1"/>
                </a:solidFill>
                <a:latin typeface="Times New Roman" panose="02020603050405020304" pitchFamily="18" charset="0"/>
                <a:ea typeface="宋体" panose="02010600030101010101" pitchFamily="2" charset="-122"/>
              </a:defRPr>
            </a:lvl5pPr>
            <a:lvl6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0" fontAlgn="base" latinLnBrk="0" hangingPunct="0">
              <a:lnSpc>
                <a:spcPct val="100000"/>
              </a:lnSpc>
              <a:spcBef>
                <a:spcPct val="0"/>
              </a:spcBef>
              <a:spcAft>
                <a:spcPct val="0"/>
              </a:spcAft>
              <a:buClrTx/>
              <a:buSzTx/>
              <a:buFontTx/>
              <a:buNone/>
              <a:tabLst/>
            </a:pPr>
            <a:endParaRPr kumimoji="1" lang="zh-CN" altLang="zh-CN" sz="2400" b="0" i="0" u="none" strike="noStrike" cap="none" normalizeH="0" baseline="0" dirty="0">
              <a:ln>
                <a:noFill/>
              </a:ln>
              <a:solidFill>
                <a:schemeClr val="tx1"/>
              </a:solidFill>
              <a:effectLst/>
              <a:latin typeface="Times New Roman" panose="02020603050405020304" pitchFamily="18" charset="0"/>
              <a:ea typeface="宋体" panose="02010600030101010101" pitchFamily="2"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1" name="Rectangle 3">
            <a:extLst>
              <a:ext uri="{FF2B5EF4-FFF2-40B4-BE49-F238E27FC236}">
                <a16:creationId xmlns:a16="http://schemas.microsoft.com/office/drawing/2014/main" id="{1288C9E8-1675-FC7B-FB36-300A0C345F95}"/>
              </a:ext>
            </a:extLst>
          </p:cNvPr>
          <p:cNvSpPr>
            <a:spLocks noGrp="1"/>
          </p:cNvSpPr>
          <p:nvPr>
            <p:ph type="body" idx="1"/>
          </p:nvPr>
        </p:nvSpPr>
        <p:spPr>
          <a:xfrm>
            <a:off x="468313" y="260350"/>
            <a:ext cx="8229600" cy="4680818"/>
          </a:xfrm>
        </p:spPr>
        <p:txBody>
          <a:bodyPr/>
          <a:lstStyle/>
          <a:p>
            <a:pPr marL="0" indent="0" eaLnBrk="1" hangingPunct="1">
              <a:lnSpc>
                <a:spcPct val="80000"/>
              </a:lnSpc>
              <a:buNone/>
            </a:pPr>
            <a:r>
              <a:rPr lang="en-US" altLang="zh-CN" sz="2800" b="1" dirty="0">
                <a:latin typeface="黑体" panose="02010609060101010101" pitchFamily="49" charset="-122"/>
              </a:rPr>
              <a:t>1.</a:t>
            </a:r>
            <a:r>
              <a:rPr lang="zh-CN" altLang="en-US" sz="2800" b="1" dirty="0">
                <a:latin typeface="黑体" panose="02010609060101010101" pitchFamily="49" charset="-122"/>
              </a:rPr>
              <a:t>关于逻辑斯蒂增长的数学模型：</a:t>
            </a:r>
            <a:r>
              <a:rPr lang="en-US" altLang="zh-CN" sz="2800" b="1" dirty="0" err="1">
                <a:latin typeface="黑体" panose="02010609060101010101" pitchFamily="49" charset="-122"/>
              </a:rPr>
              <a:t>dN</a:t>
            </a:r>
            <a:r>
              <a:rPr lang="zh-CN" altLang="en-US" sz="2800" b="1" dirty="0">
                <a:latin typeface="黑体" panose="02010609060101010101" pitchFamily="49" charset="-122"/>
              </a:rPr>
              <a:t>／</a:t>
            </a:r>
            <a:r>
              <a:rPr lang="en-US" altLang="zh-CN" sz="2800" b="1" dirty="0">
                <a:latin typeface="黑体" panose="02010609060101010101" pitchFamily="49" charset="-122"/>
              </a:rPr>
              <a:t>dt=</a:t>
            </a:r>
            <a:r>
              <a:rPr lang="en-US" altLang="zh-CN" sz="2800" b="1" dirty="0" err="1">
                <a:latin typeface="黑体" panose="02010609060101010101" pitchFamily="49" charset="-122"/>
              </a:rPr>
              <a:t>rN</a:t>
            </a:r>
            <a:r>
              <a:rPr lang="en-US" altLang="zh-CN" sz="2800" b="1" dirty="0">
                <a:latin typeface="黑体" panose="02010609060101010101" pitchFamily="49" charset="-122"/>
              </a:rPr>
              <a:t>(1</a:t>
            </a:r>
            <a:r>
              <a:rPr lang="zh-CN" altLang="en-US" sz="2800" b="1" dirty="0">
                <a:latin typeface="黑体" panose="02010609060101010101" pitchFamily="49" charset="-122"/>
              </a:rPr>
              <a:t>一</a:t>
            </a:r>
            <a:r>
              <a:rPr lang="en-US" altLang="zh-CN" sz="2800" b="1" dirty="0">
                <a:latin typeface="黑体" panose="02010609060101010101" pitchFamily="49" charset="-122"/>
              </a:rPr>
              <a:t>N</a:t>
            </a:r>
            <a:r>
              <a:rPr lang="zh-CN" altLang="en-US" sz="2800" b="1" dirty="0">
                <a:latin typeface="黑体" panose="02010609060101010101" pitchFamily="49" charset="-122"/>
              </a:rPr>
              <a:t>／</a:t>
            </a:r>
            <a:r>
              <a:rPr lang="en-US" altLang="zh-CN" sz="2800" b="1" dirty="0">
                <a:latin typeface="黑体" panose="02010609060101010101" pitchFamily="49" charset="-122"/>
              </a:rPr>
              <a:t>K)</a:t>
            </a:r>
            <a:r>
              <a:rPr lang="zh-CN" altLang="en-US" sz="2800" b="1" dirty="0">
                <a:latin typeface="黑体" panose="02010609060101010101" pitchFamily="49" charset="-122"/>
              </a:rPr>
              <a:t>，下列叙述正确的是：</a:t>
            </a:r>
            <a:endParaRPr lang="en-US" altLang="zh-CN" sz="2800" b="1" dirty="0">
              <a:latin typeface="黑体" panose="02010609060101010101" pitchFamily="49" charset="-122"/>
            </a:endParaRPr>
          </a:p>
          <a:p>
            <a:pPr marL="0" indent="0" eaLnBrk="1" hangingPunct="1">
              <a:lnSpc>
                <a:spcPct val="80000"/>
              </a:lnSpc>
              <a:buNone/>
            </a:pPr>
            <a:r>
              <a:rPr lang="en-US" altLang="zh-CN" sz="2800" b="1" dirty="0">
                <a:latin typeface="黑体" panose="02010609060101010101" pitchFamily="49" charset="-122"/>
              </a:rPr>
              <a:t>  A</a:t>
            </a:r>
            <a:r>
              <a:rPr lang="zh-CN" altLang="en-US" sz="2800" b="1" dirty="0">
                <a:latin typeface="黑体" panose="02010609060101010101" pitchFamily="49" charset="-122"/>
              </a:rPr>
              <a:t>．如果</a:t>
            </a:r>
            <a:r>
              <a:rPr lang="en-US" altLang="zh-CN" sz="2800" b="1" dirty="0">
                <a:latin typeface="黑体" panose="02010609060101010101" pitchFamily="49" charset="-122"/>
              </a:rPr>
              <a:t>N</a:t>
            </a:r>
            <a:r>
              <a:rPr lang="zh-CN" altLang="en-US" sz="2800" b="1" dirty="0">
                <a:latin typeface="黑体" panose="02010609060101010101" pitchFamily="49" charset="-122"/>
              </a:rPr>
              <a:t>趋向于零，则几乎全部空间已被利</a:t>
            </a:r>
          </a:p>
          <a:p>
            <a:pPr marL="0" indent="0" eaLnBrk="1" hangingPunct="1">
              <a:lnSpc>
                <a:spcPct val="80000"/>
              </a:lnSpc>
              <a:buNone/>
            </a:pPr>
            <a:r>
              <a:rPr lang="zh-CN" altLang="en-US" sz="2800" b="1" dirty="0">
                <a:latin typeface="黑体" panose="02010609060101010101" pitchFamily="49" charset="-122"/>
              </a:rPr>
              <a:t>　　用，种群潜在的最大增长不能实现；</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B</a:t>
            </a:r>
            <a:r>
              <a:rPr lang="zh-CN" altLang="en-US" sz="2800" b="1" dirty="0">
                <a:latin typeface="黑体" panose="02010609060101010101" pitchFamily="49" charset="-122"/>
              </a:rPr>
              <a:t>．如果</a:t>
            </a:r>
            <a:r>
              <a:rPr lang="en-US" altLang="zh-CN" sz="2800" b="1" dirty="0">
                <a:latin typeface="黑体" panose="02010609060101010101" pitchFamily="49" charset="-122"/>
              </a:rPr>
              <a:t>N</a:t>
            </a:r>
            <a:r>
              <a:rPr lang="zh-CN" altLang="en-US" sz="2800" b="1" dirty="0">
                <a:latin typeface="黑体" panose="02010609060101010101" pitchFamily="49" charset="-122"/>
              </a:rPr>
              <a:t>趋向于</a:t>
            </a:r>
            <a:r>
              <a:rPr lang="en-US" altLang="zh-CN" sz="2800" b="1" dirty="0">
                <a:latin typeface="黑体" panose="02010609060101010101" pitchFamily="49" charset="-122"/>
              </a:rPr>
              <a:t>K</a:t>
            </a:r>
            <a:r>
              <a:rPr lang="zh-CN" altLang="en-US" sz="2800" b="1" dirty="0">
                <a:latin typeface="黑体" panose="02010609060101010101" pitchFamily="49" charset="-122"/>
              </a:rPr>
              <a:t>，则几乎全部空间尚未被利</a:t>
            </a:r>
          </a:p>
          <a:p>
            <a:pPr marL="0" indent="0" eaLnBrk="1" hangingPunct="1">
              <a:lnSpc>
                <a:spcPct val="80000"/>
              </a:lnSpc>
              <a:buNone/>
            </a:pPr>
            <a:r>
              <a:rPr lang="zh-CN" altLang="en-US" sz="2800" b="1" dirty="0">
                <a:latin typeface="黑体" panose="02010609060101010101" pitchFamily="49" charset="-122"/>
              </a:rPr>
              <a:t>　　用，种群潜在的最大增长能力能充分实现；</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C</a:t>
            </a:r>
            <a:r>
              <a:rPr lang="zh-CN" altLang="en-US" sz="2800" b="1" dirty="0">
                <a:latin typeface="黑体" panose="02010609060101010101" pitchFamily="49" charset="-122"/>
              </a:rPr>
              <a:t>．当种群</a:t>
            </a:r>
            <a:r>
              <a:rPr lang="en-US" altLang="zh-CN" sz="2800" b="1" dirty="0">
                <a:latin typeface="黑体" panose="02010609060101010101" pitchFamily="49" charset="-122"/>
              </a:rPr>
              <a:t>N</a:t>
            </a:r>
            <a:r>
              <a:rPr lang="zh-CN" altLang="en-US" sz="2800" b="1" dirty="0">
                <a:latin typeface="黑体" panose="02010609060101010101" pitchFamily="49" charset="-122"/>
              </a:rPr>
              <a:t>由</a:t>
            </a:r>
            <a:r>
              <a:rPr lang="en-US" altLang="zh-CN" sz="2800" b="1" dirty="0">
                <a:latin typeface="黑体" panose="02010609060101010101" pitchFamily="49" charset="-122"/>
              </a:rPr>
              <a:t>0</a:t>
            </a:r>
            <a:r>
              <a:rPr lang="zh-CN" altLang="en-US" sz="2800" b="1" dirty="0">
                <a:latin typeface="黑体" panose="02010609060101010101" pitchFamily="49" charset="-122"/>
              </a:rPr>
              <a:t>逐渐增长到</a:t>
            </a:r>
            <a:r>
              <a:rPr lang="en-US" altLang="zh-CN" sz="2800" b="1" dirty="0">
                <a:latin typeface="黑体" panose="02010609060101010101" pitchFamily="49" charset="-122"/>
              </a:rPr>
              <a:t>K</a:t>
            </a:r>
            <a:r>
              <a:rPr lang="zh-CN" altLang="en-US" sz="2800" b="1" dirty="0">
                <a:latin typeface="黑体" panose="02010609060101010101" pitchFamily="49" charset="-122"/>
              </a:rPr>
              <a:t>值，种群潜在的最</a:t>
            </a:r>
          </a:p>
          <a:p>
            <a:pPr marL="0" indent="0" eaLnBrk="1" hangingPunct="1">
              <a:lnSpc>
                <a:spcPct val="80000"/>
              </a:lnSpc>
              <a:buNone/>
            </a:pPr>
            <a:r>
              <a:rPr lang="zh-CN" altLang="en-US" sz="2800" b="1" dirty="0">
                <a:latin typeface="黑体" panose="02010609060101010101" pitchFamily="49" charset="-122"/>
              </a:rPr>
              <a:t>　　大增长可实现程度逐渐提高；</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D</a:t>
            </a:r>
            <a:r>
              <a:rPr lang="zh-CN" altLang="en-US" sz="2800" b="1" dirty="0">
                <a:latin typeface="黑体" panose="02010609060101010101" pitchFamily="49" charset="-122"/>
              </a:rPr>
              <a:t>．当种群</a:t>
            </a:r>
            <a:r>
              <a:rPr lang="en-US" altLang="zh-CN" sz="2800" b="1" dirty="0">
                <a:latin typeface="黑体" panose="02010609060101010101" pitchFamily="49" charset="-122"/>
              </a:rPr>
              <a:t>N</a:t>
            </a:r>
            <a:r>
              <a:rPr lang="zh-CN" altLang="en-US" sz="2800" b="1" dirty="0">
                <a:latin typeface="黑体" panose="02010609060101010101" pitchFamily="49" charset="-122"/>
              </a:rPr>
              <a:t>由</a:t>
            </a:r>
            <a:r>
              <a:rPr lang="en-US" altLang="zh-CN" sz="2800" b="1" dirty="0">
                <a:latin typeface="黑体" panose="02010609060101010101" pitchFamily="49" charset="-122"/>
              </a:rPr>
              <a:t>0</a:t>
            </a:r>
            <a:r>
              <a:rPr lang="zh-CN" altLang="en-US" sz="2800" b="1" dirty="0">
                <a:latin typeface="黑体" panose="02010609060101010101" pitchFamily="49" charset="-122"/>
              </a:rPr>
              <a:t>逐渐增长到</a:t>
            </a:r>
            <a:r>
              <a:rPr lang="en-US" altLang="zh-CN" sz="2800" b="1" dirty="0">
                <a:latin typeface="黑体" panose="02010609060101010101" pitchFamily="49" charset="-122"/>
              </a:rPr>
              <a:t>K</a:t>
            </a:r>
            <a:r>
              <a:rPr lang="zh-CN" altLang="en-US" sz="2800" b="1" dirty="0">
                <a:latin typeface="黑体" panose="02010609060101010101" pitchFamily="49" charset="-122"/>
              </a:rPr>
              <a:t>值，种群潜在的最</a:t>
            </a:r>
          </a:p>
          <a:p>
            <a:pPr marL="0" indent="0" eaLnBrk="1" hangingPunct="1">
              <a:lnSpc>
                <a:spcPct val="80000"/>
              </a:lnSpc>
              <a:buNone/>
            </a:pPr>
            <a:r>
              <a:rPr lang="zh-CN" altLang="en-US" sz="2800" b="1" dirty="0">
                <a:latin typeface="黑体" panose="02010609060101010101" pitchFamily="49" charset="-122"/>
              </a:rPr>
              <a:t>　　大增长可实现程度逐渐降低。</a:t>
            </a:r>
          </a:p>
          <a:p>
            <a:pPr marL="0" indent="0" eaLnBrk="1" hangingPunct="1">
              <a:lnSpc>
                <a:spcPct val="80000"/>
              </a:lnSpc>
              <a:buNone/>
            </a:pPr>
            <a:r>
              <a:rPr lang="zh-CN" altLang="en-US" sz="2800" b="1" dirty="0">
                <a:latin typeface="黑体" panose="02010609060101010101" pitchFamily="49" charset="-122"/>
              </a:rPr>
              <a:t>　</a:t>
            </a:r>
            <a:r>
              <a:rPr lang="zh-CN" altLang="en-US" sz="2800" b="1" dirty="0">
                <a:solidFill>
                  <a:srgbClr val="CC0000"/>
                </a:solidFill>
                <a:latin typeface="黑体" panose="02010609060101010101" pitchFamily="49" charset="-122"/>
              </a:rPr>
              <a:t>（</a:t>
            </a:r>
            <a:r>
              <a:rPr lang="en-US" altLang="zh-CN" sz="2800" b="1" dirty="0">
                <a:solidFill>
                  <a:srgbClr val="CC0000"/>
                </a:solidFill>
                <a:latin typeface="黑体" panose="02010609060101010101" pitchFamily="49" charset="-122"/>
              </a:rPr>
              <a:t>2011</a:t>
            </a:r>
            <a:r>
              <a:rPr lang="zh-CN" altLang="en-US" sz="2800" b="1" dirty="0">
                <a:solidFill>
                  <a:srgbClr val="CC0000"/>
                </a:solidFill>
                <a:latin typeface="黑体" panose="02010609060101010101" pitchFamily="49" charset="-122"/>
              </a:rPr>
              <a:t>年全国联赛试题）</a:t>
            </a:r>
            <a:endParaRPr lang="zh-CN" altLang="en-US" sz="2800" b="1" dirty="0">
              <a:solidFill>
                <a:srgbClr val="FF0066"/>
              </a:solidFill>
              <a:latin typeface="黑体" panose="02010609060101010101" pitchFamily="49" charset="-122"/>
            </a:endParaRPr>
          </a:p>
        </p:txBody>
      </p:sp>
      <p:sp>
        <p:nvSpPr>
          <p:cNvPr id="3" name="文本框 2">
            <a:extLst>
              <a:ext uri="{FF2B5EF4-FFF2-40B4-BE49-F238E27FC236}">
                <a16:creationId xmlns:a16="http://schemas.microsoft.com/office/drawing/2014/main" id="{2317DB28-A306-20C1-7F3F-E1220B50C079}"/>
              </a:ext>
            </a:extLst>
          </p:cNvPr>
          <p:cNvSpPr txBox="1"/>
          <p:nvPr/>
        </p:nvSpPr>
        <p:spPr>
          <a:xfrm>
            <a:off x="4860032" y="601524"/>
            <a:ext cx="1133872" cy="523220"/>
          </a:xfrm>
          <a:prstGeom prst="rect">
            <a:avLst/>
          </a:prstGeom>
          <a:noFill/>
        </p:spPr>
        <p:txBody>
          <a:bodyPr wrap="square">
            <a:spAutoFit/>
          </a:bodyPr>
          <a:lstStyle/>
          <a:p>
            <a:r>
              <a:rPr lang="zh-CN" altLang="en-US" sz="2800" b="1" dirty="0">
                <a:solidFill>
                  <a:srgbClr val="CC0000"/>
                </a:solidFill>
                <a:latin typeface="黑体" panose="02010609060101010101" pitchFamily="49" charset="-122"/>
              </a:rPr>
              <a:t> </a:t>
            </a:r>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9" name="Rectangle 3">
            <a:extLst>
              <a:ext uri="{FF2B5EF4-FFF2-40B4-BE49-F238E27FC236}">
                <a16:creationId xmlns:a16="http://schemas.microsoft.com/office/drawing/2014/main" id="{C7A335DD-FE15-D726-C9FC-A75222FB8E32}"/>
              </a:ext>
            </a:extLst>
          </p:cNvPr>
          <p:cNvSpPr>
            <a:spLocks noGrp="1"/>
          </p:cNvSpPr>
          <p:nvPr>
            <p:ph type="body" idx="1"/>
          </p:nvPr>
        </p:nvSpPr>
        <p:spPr>
          <a:xfrm>
            <a:off x="539750" y="333375"/>
            <a:ext cx="8229600" cy="5688013"/>
          </a:xfrm>
        </p:spPr>
        <p:txBody>
          <a:bodyPr/>
          <a:lstStyle/>
          <a:p>
            <a:pPr marL="0" indent="0" eaLnBrk="1" hangingPunct="1">
              <a:lnSpc>
                <a:spcPct val="80000"/>
              </a:lnSpc>
              <a:buNone/>
            </a:pPr>
            <a:r>
              <a:rPr lang="en-US" altLang="zh-CN" sz="2800" b="1" dirty="0">
                <a:latin typeface="黑体" panose="02010609060101010101" pitchFamily="49" charset="-122"/>
              </a:rPr>
              <a:t>2.</a:t>
            </a:r>
            <a:r>
              <a:rPr lang="zh-CN" altLang="en-US" sz="2800" b="1" dirty="0">
                <a:latin typeface="黑体" panose="02010609060101010101" pitchFamily="49" charset="-122"/>
              </a:rPr>
              <a:t>目前计划生育政策是我国人口国情下的一项基本国策，从种群动态角度讲，决定我国人口增长的两个主要因素是：</a:t>
            </a:r>
            <a:br>
              <a:rPr lang="zh-CN" altLang="en-US" sz="2800" b="1" dirty="0">
                <a:latin typeface="黑体" panose="02010609060101010101" pitchFamily="49" charset="-122"/>
              </a:rPr>
            </a:br>
            <a:r>
              <a:rPr lang="en-US" altLang="zh-CN" sz="2800" b="1" dirty="0">
                <a:latin typeface="黑体" panose="02010609060101010101" pitchFamily="49" charset="-122"/>
              </a:rPr>
              <a:t>A.</a:t>
            </a:r>
            <a:r>
              <a:rPr lang="zh-CN" altLang="en-US" sz="2800" b="1" dirty="0">
                <a:latin typeface="黑体" panose="02010609060101010101" pitchFamily="49" charset="-122"/>
              </a:rPr>
              <a:t>出生率与死亡率；　　</a:t>
            </a:r>
            <a:r>
              <a:rPr lang="en-US" altLang="zh-CN" sz="2800" b="1" dirty="0">
                <a:latin typeface="黑体" panose="02010609060101010101" pitchFamily="49" charset="-122"/>
              </a:rPr>
              <a:t>B.</a:t>
            </a:r>
            <a:r>
              <a:rPr lang="zh-CN" altLang="en-US" sz="2800" b="1" dirty="0">
                <a:latin typeface="黑体" panose="02010609060101010101" pitchFamily="49" charset="-122"/>
              </a:rPr>
              <a:t>性别比例与迁出率 </a:t>
            </a:r>
            <a:br>
              <a:rPr lang="zh-CN" altLang="en-US" sz="2800" b="1" dirty="0">
                <a:latin typeface="黑体" panose="02010609060101010101" pitchFamily="49" charset="-122"/>
              </a:rPr>
            </a:br>
            <a:r>
              <a:rPr lang="en-US" altLang="zh-CN" sz="2800" b="1" dirty="0">
                <a:latin typeface="黑体" panose="02010609060101010101" pitchFamily="49" charset="-122"/>
              </a:rPr>
              <a:t>C.</a:t>
            </a:r>
            <a:r>
              <a:rPr lang="zh-CN" altLang="en-US" sz="2800" b="1" dirty="0">
                <a:latin typeface="黑体" panose="02010609060101010101" pitchFamily="49" charset="-122"/>
              </a:rPr>
              <a:t>人口密度与年龄结构    </a:t>
            </a:r>
            <a:r>
              <a:rPr lang="en-US" altLang="zh-CN" sz="2800" b="1" dirty="0">
                <a:latin typeface="黑体" panose="02010609060101010101" pitchFamily="49" charset="-122"/>
              </a:rPr>
              <a:t>D.</a:t>
            </a:r>
            <a:r>
              <a:rPr lang="zh-CN" altLang="en-US" sz="2800" b="1" dirty="0">
                <a:latin typeface="黑体" panose="02010609060101010101" pitchFamily="49" charset="-122"/>
              </a:rPr>
              <a:t>年龄结构与迁入率</a:t>
            </a:r>
          </a:p>
          <a:p>
            <a:pPr marL="0" indent="0" eaLnBrk="1" hangingPunct="1">
              <a:lnSpc>
                <a:spcPct val="80000"/>
              </a:lnSpc>
              <a:buNone/>
            </a:pPr>
            <a:r>
              <a:rPr lang="zh-CN" altLang="en-US" sz="2800" b="1" dirty="0">
                <a:latin typeface="黑体" panose="02010609060101010101" pitchFamily="49" charset="-122"/>
              </a:rPr>
              <a:t>（</a:t>
            </a:r>
            <a:r>
              <a:rPr lang="en-US" altLang="zh-CN" sz="2800" b="1" dirty="0">
                <a:latin typeface="黑体" panose="02010609060101010101" pitchFamily="49" charset="-122"/>
              </a:rPr>
              <a:t>2013</a:t>
            </a:r>
            <a:r>
              <a:rPr lang="zh-CN" altLang="en-US" sz="2800" b="1" dirty="0">
                <a:latin typeface="黑体" panose="02010609060101010101" pitchFamily="49" charset="-122"/>
              </a:rPr>
              <a:t>年全国联赛试题）</a:t>
            </a:r>
          </a:p>
          <a:p>
            <a:pPr marL="0" indent="0" eaLnBrk="1" hangingPunct="1">
              <a:lnSpc>
                <a:spcPct val="80000"/>
              </a:lnSpc>
              <a:buNone/>
            </a:pPr>
            <a:endParaRPr lang="zh-CN" altLang="en-US" sz="2800" b="1" dirty="0">
              <a:latin typeface="黑体" panose="02010609060101010101" pitchFamily="49" charset="-122"/>
            </a:endParaRPr>
          </a:p>
          <a:p>
            <a:pPr marL="0" indent="0" eaLnBrk="1" hangingPunct="1">
              <a:lnSpc>
                <a:spcPct val="80000"/>
              </a:lnSpc>
              <a:buNone/>
            </a:pPr>
            <a:r>
              <a:rPr lang="en-US" altLang="zh-CN" sz="2800" b="1" dirty="0">
                <a:latin typeface="黑体" panose="02010609060101010101" pitchFamily="49" charset="-122"/>
              </a:rPr>
              <a:t>3.</a:t>
            </a:r>
            <a:r>
              <a:rPr lang="zh-CN" altLang="en-US" sz="2800" b="1" dirty="0">
                <a:latin typeface="黑体" panose="02010609060101010101" pitchFamily="49" charset="-122"/>
              </a:rPr>
              <a:t>哪个模型可以很好地说明种群的非密度制约增长？（单选 </a:t>
            </a:r>
            <a:r>
              <a:rPr lang="en-US" altLang="zh-CN" sz="2800" b="1" dirty="0">
                <a:latin typeface="黑体" panose="02010609060101010101" pitchFamily="49" charset="-122"/>
              </a:rPr>
              <a:t>1 </a:t>
            </a:r>
            <a:r>
              <a:rPr lang="zh-CN" altLang="en-US" sz="2800" b="1" dirty="0">
                <a:latin typeface="黑体" panose="02010609060101010101" pitchFamily="49" charset="-122"/>
              </a:rPr>
              <a:t>分）</a:t>
            </a:r>
            <a:br>
              <a:rPr lang="zh-CN" altLang="en-US" sz="2800" b="1" dirty="0">
                <a:latin typeface="黑体" panose="02010609060101010101" pitchFamily="49" charset="-122"/>
              </a:rPr>
            </a:br>
            <a:r>
              <a:rPr lang="zh-CN" altLang="en-US" sz="2800" b="1" dirty="0">
                <a:latin typeface="黑体" panose="02010609060101010101" pitchFamily="49" charset="-122"/>
              </a:rPr>
              <a:t> </a:t>
            </a:r>
            <a:r>
              <a:rPr lang="en-US" altLang="zh-CN" sz="2800" b="1" dirty="0" err="1">
                <a:latin typeface="黑体" panose="02010609060101010101" pitchFamily="49" charset="-122"/>
              </a:rPr>
              <a:t>A.Malthus</a:t>
            </a:r>
            <a:r>
              <a:rPr lang="en-US" altLang="zh-CN" sz="2800" b="1" dirty="0">
                <a:latin typeface="黑体" panose="02010609060101010101" pitchFamily="49" charset="-122"/>
              </a:rPr>
              <a:t> </a:t>
            </a:r>
            <a:r>
              <a:rPr lang="zh-CN" altLang="en-US" sz="2800" b="1" dirty="0">
                <a:latin typeface="黑体" panose="02010609060101010101" pitchFamily="49" charset="-122"/>
              </a:rPr>
              <a:t>模型     </a:t>
            </a:r>
            <a:r>
              <a:rPr lang="en-US" altLang="zh-CN" sz="2800" b="1" dirty="0">
                <a:latin typeface="黑体" panose="02010609060101010101" pitchFamily="49" charset="-122"/>
              </a:rPr>
              <a:t>B. Logistic </a:t>
            </a:r>
            <a:r>
              <a:rPr lang="zh-CN" altLang="en-US" sz="2800" b="1" dirty="0">
                <a:latin typeface="黑体" panose="02010609060101010101" pitchFamily="49" charset="-122"/>
              </a:rPr>
              <a:t>模型</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C. Allen </a:t>
            </a:r>
            <a:r>
              <a:rPr lang="zh-CN" altLang="en-US" sz="2800" b="1" dirty="0">
                <a:latin typeface="黑体" panose="02010609060101010101" pitchFamily="49" charset="-122"/>
              </a:rPr>
              <a:t>模型      </a:t>
            </a:r>
            <a:r>
              <a:rPr lang="en-US" altLang="zh-CN" sz="2800" b="1" dirty="0">
                <a:latin typeface="黑体" panose="02010609060101010101" pitchFamily="49" charset="-122"/>
              </a:rPr>
              <a:t>D. Levine </a:t>
            </a:r>
            <a:r>
              <a:rPr lang="zh-CN" altLang="en-US" sz="2800" b="1" dirty="0">
                <a:latin typeface="黑体" panose="02010609060101010101" pitchFamily="49" charset="-122"/>
              </a:rPr>
              <a:t>模型</a:t>
            </a:r>
            <a:br>
              <a:rPr lang="zh-CN" altLang="en-US" sz="2800" b="1" dirty="0">
                <a:latin typeface="黑体" panose="02010609060101010101" pitchFamily="49" charset="-122"/>
              </a:rPr>
            </a:br>
            <a:r>
              <a:rPr lang="zh-CN" altLang="en-US" sz="2800" b="1" dirty="0">
                <a:latin typeface="黑体" panose="02010609060101010101" pitchFamily="49" charset="-122"/>
              </a:rPr>
              <a:t>（</a:t>
            </a:r>
            <a:r>
              <a:rPr lang="en-US" altLang="zh-CN" sz="2800" b="1" dirty="0">
                <a:latin typeface="黑体" panose="02010609060101010101" pitchFamily="49" charset="-122"/>
              </a:rPr>
              <a:t>2014</a:t>
            </a:r>
            <a:r>
              <a:rPr lang="zh-CN" altLang="en-US" sz="2800" b="1" dirty="0">
                <a:latin typeface="黑体" panose="02010609060101010101" pitchFamily="49" charset="-122"/>
              </a:rPr>
              <a:t>年全国联赛试题）</a:t>
            </a:r>
            <a:br>
              <a:rPr lang="zh-CN" altLang="en-US" sz="2800" b="1" dirty="0">
                <a:solidFill>
                  <a:srgbClr val="CC0000"/>
                </a:solidFill>
                <a:latin typeface="黑体" panose="02010609060101010101" pitchFamily="49" charset="-122"/>
              </a:rPr>
            </a:br>
            <a:endParaRPr lang="zh-CN" altLang="en-US" sz="2800" b="1" dirty="0">
              <a:solidFill>
                <a:srgbClr val="CC0000"/>
              </a:solidFill>
              <a:latin typeface="黑体" panose="02010609060101010101" pitchFamily="49" charset="-122"/>
            </a:endParaRPr>
          </a:p>
          <a:p>
            <a:pPr>
              <a:lnSpc>
                <a:spcPct val="80000"/>
              </a:lnSpc>
            </a:pPr>
            <a:endParaRPr lang="zh-CN" altLang="en-US" sz="2800" b="1" dirty="0"/>
          </a:p>
        </p:txBody>
      </p:sp>
      <p:sp>
        <p:nvSpPr>
          <p:cNvPr id="3" name="文本框 2">
            <a:extLst>
              <a:ext uri="{FF2B5EF4-FFF2-40B4-BE49-F238E27FC236}">
                <a16:creationId xmlns:a16="http://schemas.microsoft.com/office/drawing/2014/main" id="{DFA61DC5-BC43-8B25-246C-0078952DD545}"/>
              </a:ext>
            </a:extLst>
          </p:cNvPr>
          <p:cNvSpPr txBox="1"/>
          <p:nvPr/>
        </p:nvSpPr>
        <p:spPr>
          <a:xfrm>
            <a:off x="3275856" y="980728"/>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
        <p:nvSpPr>
          <p:cNvPr id="4" name="文本框 3">
            <a:extLst>
              <a:ext uri="{FF2B5EF4-FFF2-40B4-BE49-F238E27FC236}">
                <a16:creationId xmlns:a16="http://schemas.microsoft.com/office/drawing/2014/main" id="{8073D2A3-46AC-F5F1-8ED0-1DA7D7159B13}"/>
              </a:ext>
            </a:extLst>
          </p:cNvPr>
          <p:cNvSpPr txBox="1"/>
          <p:nvPr/>
        </p:nvSpPr>
        <p:spPr>
          <a:xfrm>
            <a:off x="3257353" y="3239448"/>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8867" name="Rectangle 3">
            <a:extLst>
              <a:ext uri="{FF2B5EF4-FFF2-40B4-BE49-F238E27FC236}">
                <a16:creationId xmlns:a16="http://schemas.microsoft.com/office/drawing/2014/main" id="{8F5563C3-6886-2E1A-AC29-3C0D4BF6D80B}"/>
              </a:ext>
            </a:extLst>
          </p:cNvPr>
          <p:cNvSpPr>
            <a:spLocks noGrp="1"/>
          </p:cNvSpPr>
          <p:nvPr>
            <p:ph type="body" idx="1"/>
          </p:nvPr>
        </p:nvSpPr>
        <p:spPr>
          <a:xfrm>
            <a:off x="468313" y="2564904"/>
            <a:ext cx="8229600" cy="2376487"/>
          </a:xfrm>
        </p:spPr>
        <p:txBody>
          <a:bodyPr/>
          <a:lstStyle/>
          <a:p>
            <a:pPr marL="0" indent="0" eaLnBrk="1" hangingPunct="1">
              <a:lnSpc>
                <a:spcPct val="80000"/>
              </a:lnSpc>
              <a:buNone/>
            </a:pPr>
            <a:r>
              <a:rPr lang="en-US" altLang="zh-CN" sz="2800" b="1" dirty="0">
                <a:latin typeface="黑体" panose="02010609060101010101" pitchFamily="49" charset="-122"/>
              </a:rPr>
              <a:t>4.</a:t>
            </a:r>
            <a:r>
              <a:rPr lang="zh-CN" altLang="en-US" sz="2800" b="1" dirty="0">
                <a:latin typeface="黑体" panose="02010609060101010101" pitchFamily="49" charset="-122"/>
              </a:rPr>
              <a:t>一群老鼠占据了一个全新的栖息地，有关种群以后的发展，下面说法正确的是：</a:t>
            </a:r>
            <a:br>
              <a:rPr lang="zh-CN" altLang="en-US" sz="2800" b="1" dirty="0">
                <a:latin typeface="黑体" panose="02010609060101010101" pitchFamily="49" charset="-122"/>
              </a:rPr>
            </a:br>
            <a:r>
              <a:rPr lang="en-US" altLang="zh-CN" sz="2800" b="1" dirty="0">
                <a:latin typeface="黑体" panose="02010609060101010101" pitchFamily="49" charset="-122"/>
              </a:rPr>
              <a:t>A.</a:t>
            </a:r>
            <a:r>
              <a:rPr lang="zh-CN" altLang="en-US" sz="2800" b="1" dirty="0">
                <a:latin typeface="黑体" panose="02010609060101010101" pitchFamily="49" charset="-122"/>
              </a:rPr>
              <a:t>种群增长速率先升高，后降低；</a:t>
            </a:r>
          </a:p>
          <a:p>
            <a:pPr marL="0" indent="0" eaLnBrk="1" hangingPunct="1">
              <a:lnSpc>
                <a:spcPct val="80000"/>
              </a:lnSpc>
              <a:buNone/>
            </a:pPr>
            <a:r>
              <a:rPr lang="en-US" altLang="zh-CN" sz="2800" b="1" dirty="0">
                <a:latin typeface="黑体" panose="02010609060101010101" pitchFamily="49" charset="-122"/>
              </a:rPr>
              <a:t>B.</a:t>
            </a:r>
            <a:r>
              <a:rPr lang="zh-CN" altLang="en-US" sz="2800" b="1" dirty="0">
                <a:latin typeface="黑体" panose="02010609060101010101" pitchFamily="49" charset="-122"/>
              </a:rPr>
              <a:t>种群增长率升高；</a:t>
            </a:r>
          </a:p>
          <a:p>
            <a:pPr marL="0" indent="0" eaLnBrk="1" hangingPunct="1">
              <a:lnSpc>
                <a:spcPct val="80000"/>
              </a:lnSpc>
              <a:buNone/>
            </a:pPr>
            <a:r>
              <a:rPr lang="en-US" altLang="zh-CN" sz="2800" b="1" dirty="0">
                <a:latin typeface="黑体" panose="02010609060101010101" pitchFamily="49" charset="-122"/>
              </a:rPr>
              <a:t>C.</a:t>
            </a:r>
            <a:r>
              <a:rPr lang="zh-CN" altLang="en-US" sz="2800" b="1" dirty="0">
                <a:latin typeface="黑体" panose="02010609060101010101" pitchFamily="49" charset="-122"/>
              </a:rPr>
              <a:t>种群数量先升高，后降低；</a:t>
            </a:r>
          </a:p>
          <a:p>
            <a:pPr marL="0" indent="0" eaLnBrk="1" hangingPunct="1">
              <a:lnSpc>
                <a:spcPct val="80000"/>
              </a:lnSpc>
              <a:buNone/>
            </a:pPr>
            <a:r>
              <a:rPr lang="en-US" altLang="zh-CN" sz="2800" b="1" dirty="0">
                <a:latin typeface="黑体" panose="02010609060101010101" pitchFamily="49" charset="-122"/>
              </a:rPr>
              <a:t>D.</a:t>
            </a:r>
            <a:r>
              <a:rPr lang="zh-CN" altLang="en-US" sz="2800" b="1" dirty="0">
                <a:latin typeface="黑体" panose="02010609060101010101" pitchFamily="49" charset="-122"/>
              </a:rPr>
              <a:t>种群存活率稳定下降。</a:t>
            </a:r>
            <a:br>
              <a:rPr lang="zh-CN" altLang="en-US" sz="2800" b="1" dirty="0">
                <a:latin typeface="黑体" panose="02010609060101010101" pitchFamily="49" charset="-122"/>
              </a:rPr>
            </a:br>
            <a:endParaRPr lang="zh-CN" altLang="en-US" sz="2800" b="1" dirty="0">
              <a:latin typeface="黑体" panose="02010609060101010101" pitchFamily="49" charset="-122"/>
            </a:endParaRPr>
          </a:p>
        </p:txBody>
      </p:sp>
      <p:sp>
        <p:nvSpPr>
          <p:cNvPr id="2" name="文本框 1">
            <a:extLst>
              <a:ext uri="{FF2B5EF4-FFF2-40B4-BE49-F238E27FC236}">
                <a16:creationId xmlns:a16="http://schemas.microsoft.com/office/drawing/2014/main" id="{A732927A-FECD-B346-C33B-A29865012186}"/>
              </a:ext>
            </a:extLst>
          </p:cNvPr>
          <p:cNvSpPr txBox="1"/>
          <p:nvPr/>
        </p:nvSpPr>
        <p:spPr>
          <a:xfrm>
            <a:off x="5508104" y="2818141"/>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pic>
        <p:nvPicPr>
          <p:cNvPr id="5" name="图片 4" descr="屏幕上的文字&#10;&#10;AI 生成的内容可能不正确。">
            <a:extLst>
              <a:ext uri="{FF2B5EF4-FFF2-40B4-BE49-F238E27FC236}">
                <a16:creationId xmlns:a16="http://schemas.microsoft.com/office/drawing/2014/main" id="{4D879445-4541-8C92-D3DD-A12B1E482FEF}"/>
              </a:ext>
            </a:extLst>
          </p:cNvPr>
          <p:cNvPicPr>
            <a:picLocks noChangeAspect="1"/>
          </p:cNvPicPr>
          <p:nvPr/>
        </p:nvPicPr>
        <p:blipFill>
          <a:blip r:embed="rId2"/>
          <a:stretch>
            <a:fillRect/>
          </a:stretch>
        </p:blipFill>
        <p:spPr>
          <a:xfrm>
            <a:off x="273623" y="353029"/>
            <a:ext cx="8618980" cy="5976664"/>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5"/>
                                        </p:tgtEl>
                                        <p:attrNameLst>
                                          <p:attrName>style.visibility</p:attrName>
                                        </p:attrNameLst>
                                      </p:cBhvr>
                                      <p:to>
                                        <p:strVal val="hidden"/>
                                      </p:to>
                                    </p:set>
                                  </p:childTnLst>
                                </p:cTn>
                              </p:par>
                              <p:par>
                                <p:cTn id="7" presetID="1" presetClass="entr" presetSubtype="0" fill="hold" grpId="0" nodeType="withEffect">
                                  <p:stCondLst>
                                    <p:cond delay="0"/>
                                  </p:stCondLst>
                                  <p:childTnLst>
                                    <p:set>
                                      <p:cBhvr>
                                        <p:cTn id="8" dur="1" fill="hold">
                                          <p:stCondLst>
                                            <p:cond delay="0"/>
                                          </p:stCondLst>
                                        </p:cTn>
                                        <p:tgtEl>
                                          <p:spTgt spid="548867">
                                            <p:txEl>
                                              <p:pRg st="0" end="0"/>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548867">
                                            <p:txEl>
                                              <p:pRg st="1" end="1"/>
                                            </p:txEl>
                                          </p:spTgt>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548867">
                                            <p:txEl>
                                              <p:pRg st="2" end="2"/>
                                            </p:txEl>
                                          </p:spTgt>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548867">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8867" grpId="0" build="p"/>
      <p:bldP spid="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6819" name="Rectangle 3">
            <a:extLst>
              <a:ext uri="{FF2B5EF4-FFF2-40B4-BE49-F238E27FC236}">
                <a16:creationId xmlns:a16="http://schemas.microsoft.com/office/drawing/2014/main" id="{3287B753-7A57-5016-1BEC-12BFAE599653}"/>
              </a:ext>
            </a:extLst>
          </p:cNvPr>
          <p:cNvSpPr>
            <a:spLocks noGrp="1"/>
          </p:cNvSpPr>
          <p:nvPr>
            <p:ph type="body" idx="1"/>
          </p:nvPr>
        </p:nvSpPr>
        <p:spPr>
          <a:xfrm>
            <a:off x="179388" y="1052513"/>
            <a:ext cx="8785225" cy="4525962"/>
          </a:xfrm>
        </p:spPr>
        <p:txBody>
          <a:bodyPr/>
          <a:lstStyle/>
          <a:p>
            <a:pPr marL="0" indent="0" eaLnBrk="1" hangingPunct="1">
              <a:lnSpc>
                <a:spcPct val="80000"/>
              </a:lnSpc>
              <a:buNone/>
            </a:pPr>
            <a:r>
              <a:rPr lang="en-US" altLang="zh-CN" sz="2800" b="1" dirty="0">
                <a:latin typeface="黑体" panose="02010609060101010101" pitchFamily="49" charset="-122"/>
              </a:rPr>
              <a:t>5.</a:t>
            </a:r>
            <a:r>
              <a:rPr lang="zh-CN" altLang="en-US" sz="2800" b="1" dirty="0">
                <a:latin typeface="黑体" panose="02010609060101010101" pitchFamily="49" charset="-122"/>
              </a:rPr>
              <a:t>下面可直接作为我国计划生育政策基础的公式是：</a:t>
            </a:r>
            <a:endParaRPr lang="en-US" altLang="zh-CN" sz="2800" b="1" dirty="0">
              <a:latin typeface="黑体" panose="02010609060101010101" pitchFamily="49" charset="-122"/>
            </a:endParaRPr>
          </a:p>
          <a:p>
            <a:pPr marL="0" indent="0" eaLnBrk="1" hangingPunct="1">
              <a:lnSpc>
                <a:spcPct val="80000"/>
              </a:lnSpc>
              <a:buNone/>
            </a:pPr>
            <a:r>
              <a:rPr lang="en-US" altLang="zh-CN" sz="2800" b="1" dirty="0">
                <a:latin typeface="黑体" panose="02010609060101010101" pitchFamily="49" charset="-122"/>
              </a:rPr>
              <a:t>A </a:t>
            </a:r>
            <a:r>
              <a:rPr lang="en-US" altLang="zh-CN" sz="2800" b="1" dirty="0" err="1">
                <a:latin typeface="黑体" panose="02010609060101010101" pitchFamily="49" charset="-122"/>
              </a:rPr>
              <a:t>Nt</a:t>
            </a:r>
            <a:r>
              <a:rPr lang="en-US" altLang="zh-CN" sz="2800" b="1" dirty="0">
                <a:latin typeface="黑体" panose="02010609060101010101" pitchFamily="49" charset="-122"/>
              </a:rPr>
              <a:t>=N0λt</a:t>
            </a:r>
            <a:r>
              <a:rPr lang="zh-CN" altLang="en-US" sz="2800" b="1" dirty="0">
                <a:latin typeface="黑体" panose="02010609060101010101" pitchFamily="49" charset="-122"/>
              </a:rPr>
              <a:t>；    </a:t>
            </a:r>
            <a:r>
              <a:rPr lang="en-US" altLang="zh-CN" sz="2800" b="1" dirty="0">
                <a:latin typeface="黑体" panose="02010609060101010101" pitchFamily="49" charset="-122"/>
              </a:rPr>
              <a:t>B </a:t>
            </a:r>
            <a:r>
              <a:rPr lang="en-US" altLang="zh-CN" sz="2800" b="1" dirty="0" err="1">
                <a:latin typeface="黑体" panose="02010609060101010101" pitchFamily="49" charset="-122"/>
              </a:rPr>
              <a:t>Nt</a:t>
            </a:r>
            <a:r>
              <a:rPr lang="en-US" altLang="zh-CN" sz="2800" b="1" dirty="0">
                <a:latin typeface="黑体" panose="02010609060101010101" pitchFamily="49" charset="-122"/>
              </a:rPr>
              <a:t>=N0ert</a:t>
            </a:r>
            <a:r>
              <a:rPr lang="zh-CN" altLang="en-US" sz="2800" b="1" dirty="0">
                <a:latin typeface="黑体" panose="02010609060101010101" pitchFamily="49" charset="-122"/>
              </a:rPr>
              <a:t>；   </a:t>
            </a:r>
          </a:p>
          <a:p>
            <a:pPr marL="0" indent="0" eaLnBrk="1" hangingPunct="1">
              <a:lnSpc>
                <a:spcPct val="80000"/>
              </a:lnSpc>
              <a:buNone/>
            </a:pPr>
            <a:r>
              <a:rPr lang="en-US" altLang="zh-CN" sz="2800" b="1" dirty="0">
                <a:latin typeface="黑体" panose="02010609060101010101" pitchFamily="49" charset="-122"/>
              </a:rPr>
              <a:t>C r=lnR0/T</a:t>
            </a:r>
            <a:r>
              <a:rPr lang="zh-CN" altLang="en-US" sz="2800" b="1" dirty="0">
                <a:latin typeface="黑体" panose="02010609060101010101" pitchFamily="49" charset="-122"/>
              </a:rPr>
              <a:t>；   </a:t>
            </a:r>
            <a:r>
              <a:rPr lang="en-US" altLang="zh-CN" sz="2800" b="1" dirty="0">
                <a:latin typeface="黑体" panose="02010609060101010101" pitchFamily="49" charset="-122"/>
              </a:rPr>
              <a:t>D </a:t>
            </a:r>
            <a:r>
              <a:rPr lang="en-US" altLang="zh-CN" sz="2800" b="1" dirty="0" err="1">
                <a:latin typeface="黑体" panose="02010609060101010101" pitchFamily="49" charset="-122"/>
              </a:rPr>
              <a:t>λ</a:t>
            </a:r>
            <a:r>
              <a:rPr lang="en-US" altLang="zh-CN" sz="2800" b="1" dirty="0">
                <a:latin typeface="黑体" panose="02010609060101010101" pitchFamily="49" charset="-122"/>
              </a:rPr>
              <a:t>=er</a:t>
            </a:r>
            <a:r>
              <a:rPr lang="zh-CN" altLang="en-US" sz="2800" b="1" dirty="0">
                <a:latin typeface="黑体" panose="02010609060101010101" pitchFamily="49" charset="-122"/>
              </a:rPr>
              <a:t>；</a:t>
            </a:r>
            <a:endParaRPr lang="en-US" altLang="zh-CN" sz="2800" b="1" dirty="0">
              <a:latin typeface="黑体" panose="02010609060101010101" pitchFamily="49" charset="-122"/>
            </a:endParaRPr>
          </a:p>
          <a:p>
            <a:pPr marL="0" indent="0" eaLnBrk="1" hangingPunct="1">
              <a:lnSpc>
                <a:spcPct val="80000"/>
              </a:lnSpc>
              <a:buNone/>
            </a:pPr>
            <a:br>
              <a:rPr lang="zh-CN" altLang="en-US" sz="2800" b="1" dirty="0">
                <a:latin typeface="黑体" panose="02010609060101010101" pitchFamily="49" charset="-122"/>
              </a:rPr>
            </a:br>
            <a:r>
              <a:rPr lang="en-US" altLang="zh-CN" sz="2800" b="1" dirty="0">
                <a:latin typeface="黑体" panose="02010609060101010101" pitchFamily="49" charset="-122"/>
              </a:rPr>
              <a:t>R0</a:t>
            </a:r>
            <a:r>
              <a:rPr lang="zh-CN" altLang="en-US" sz="2800" b="1" dirty="0">
                <a:latin typeface="黑体" panose="02010609060101010101" pitchFamily="49" charset="-122"/>
              </a:rPr>
              <a:t>为净生殖率，Ｔ为世代时间。</a:t>
            </a:r>
          </a:p>
          <a:p>
            <a:pPr marL="0" indent="0" eaLnBrk="1" hangingPunct="1">
              <a:lnSpc>
                <a:spcPct val="80000"/>
              </a:lnSpc>
              <a:buNone/>
            </a:pPr>
            <a:r>
              <a:rPr lang="en-US" altLang="zh-CN" sz="2800" b="1" dirty="0">
                <a:latin typeface="黑体" panose="02010609060101010101" pitchFamily="49" charset="-122"/>
              </a:rPr>
              <a:t>T</a:t>
            </a:r>
            <a:r>
              <a:rPr lang="zh-CN" altLang="en-US" sz="2800" b="1" dirty="0">
                <a:latin typeface="黑体" panose="02010609060101010101" pitchFamily="49" charset="-122"/>
              </a:rPr>
              <a:t>是指种群中从母体出生到子代再产子的平均时间。</a:t>
            </a:r>
          </a:p>
          <a:p>
            <a:pPr marL="0" indent="0" eaLnBrk="1" hangingPunct="1">
              <a:lnSpc>
                <a:spcPct val="80000"/>
              </a:lnSpc>
              <a:buNone/>
            </a:pPr>
            <a:r>
              <a:rPr lang="en-US" altLang="zh-CN" sz="2800" b="1" dirty="0">
                <a:latin typeface="黑体" panose="02010609060101010101" pitchFamily="49" charset="-122"/>
              </a:rPr>
              <a:t>R0</a:t>
            </a:r>
            <a:r>
              <a:rPr lang="zh-CN" altLang="en-US" sz="2800" b="1" dirty="0">
                <a:latin typeface="黑体" panose="02010609060101010101" pitchFamily="49" charset="-122"/>
              </a:rPr>
              <a:t>是种群个体在一个世代内生殖子体的个数。</a:t>
            </a:r>
          </a:p>
        </p:txBody>
      </p:sp>
      <p:sp>
        <p:nvSpPr>
          <p:cNvPr id="2" name="文本框 1">
            <a:extLst>
              <a:ext uri="{FF2B5EF4-FFF2-40B4-BE49-F238E27FC236}">
                <a16:creationId xmlns:a16="http://schemas.microsoft.com/office/drawing/2014/main" id="{8719279D-D801-D89C-EB78-0C2A044F99E6}"/>
              </a:ext>
            </a:extLst>
          </p:cNvPr>
          <p:cNvSpPr txBox="1"/>
          <p:nvPr/>
        </p:nvSpPr>
        <p:spPr>
          <a:xfrm>
            <a:off x="8397676" y="1018831"/>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C</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4681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4681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46819">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9" name="Rectangle 3">
            <a:extLst>
              <a:ext uri="{FF2B5EF4-FFF2-40B4-BE49-F238E27FC236}">
                <a16:creationId xmlns:a16="http://schemas.microsoft.com/office/drawing/2014/main" id="{00E2AF36-067F-6C6B-2E64-B515A640736F}"/>
              </a:ext>
            </a:extLst>
          </p:cNvPr>
          <p:cNvSpPr>
            <a:spLocks noGrp="1"/>
          </p:cNvSpPr>
          <p:nvPr>
            <p:ph type="body" idx="1"/>
          </p:nvPr>
        </p:nvSpPr>
        <p:spPr>
          <a:xfrm>
            <a:off x="395288" y="115888"/>
            <a:ext cx="8291512" cy="6481762"/>
          </a:xfrm>
        </p:spPr>
        <p:txBody>
          <a:bodyPr/>
          <a:lstStyle/>
          <a:p>
            <a:pPr marL="0" indent="0" eaLnBrk="1" hangingPunct="1">
              <a:lnSpc>
                <a:spcPct val="80000"/>
              </a:lnSpc>
              <a:buNone/>
            </a:pPr>
            <a:r>
              <a:rPr lang="en-US" altLang="zh-CN" sz="2800" b="1" dirty="0">
                <a:latin typeface="黑体" panose="02010609060101010101" pitchFamily="49" charset="-122"/>
              </a:rPr>
              <a:t>6.</a:t>
            </a:r>
            <a:r>
              <a:rPr lang="zh-CN" altLang="en-US" sz="2800" b="1" dirty="0">
                <a:latin typeface="黑体" panose="02010609060101010101" pitchFamily="49" charset="-122"/>
              </a:rPr>
              <a:t>我国钓鱼岛海域盛产飞花鱼，倘若该海域飞花鱼的环境容纳量是</a:t>
            </a:r>
            <a:r>
              <a:rPr lang="en-US" altLang="zh-CN" sz="2800" b="1" dirty="0">
                <a:latin typeface="黑体" panose="02010609060101010101" pitchFamily="49" charset="-122"/>
              </a:rPr>
              <a:t>15000</a:t>
            </a:r>
            <a:r>
              <a:rPr lang="zh-CN" altLang="en-US" sz="2800" b="1" dirty="0">
                <a:latin typeface="黑体" panose="02010609060101010101" pitchFamily="49" charset="-122"/>
              </a:rPr>
              <a:t>吨，且飞花鱼种群的瞬时增长率为</a:t>
            </a:r>
            <a:r>
              <a:rPr lang="en-US" altLang="zh-CN" sz="2800" b="1" dirty="0">
                <a:latin typeface="黑体" panose="02010609060101010101" pitchFamily="49" charset="-122"/>
              </a:rPr>
              <a:t>0.04</a:t>
            </a:r>
            <a:r>
              <a:rPr lang="zh-CN" altLang="en-US" sz="2800" b="1" dirty="0">
                <a:latin typeface="黑体" panose="02010609060101010101" pitchFamily="49" charset="-122"/>
              </a:rPr>
              <a:t>吨 </a:t>
            </a:r>
            <a:r>
              <a:rPr lang="en-US" altLang="zh-CN" sz="2800" b="1" dirty="0">
                <a:latin typeface="黑体" panose="02010609060101010101" pitchFamily="49" charset="-122"/>
              </a:rPr>
              <a:t>/ </a:t>
            </a:r>
            <a:r>
              <a:rPr lang="zh-CN" altLang="en-US" sz="2800" b="1" dirty="0">
                <a:latin typeface="黑体" panose="02010609060101010101" pitchFamily="49" charset="-122"/>
              </a:rPr>
              <a:t>年，请问根据逻辑斯谛持续获得最大收益，每年捕获的飞花鱼最多不应超过：</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A</a:t>
            </a:r>
            <a:r>
              <a:rPr lang="zh-CN" altLang="en-US" sz="2800" b="1" dirty="0">
                <a:latin typeface="黑体" panose="02010609060101010101" pitchFamily="49" charset="-122"/>
              </a:rPr>
              <a:t>．</a:t>
            </a:r>
            <a:r>
              <a:rPr lang="en-US" altLang="zh-CN" sz="2800" b="1" dirty="0">
                <a:latin typeface="黑体" panose="02010609060101010101" pitchFamily="49" charset="-122"/>
              </a:rPr>
              <a:t>7500</a:t>
            </a:r>
            <a:r>
              <a:rPr lang="zh-CN" altLang="en-US" sz="2800" b="1" dirty="0">
                <a:latin typeface="黑体" panose="02010609060101010101" pitchFamily="49" charset="-122"/>
              </a:rPr>
              <a:t>吨；   </a:t>
            </a:r>
            <a:r>
              <a:rPr lang="en-US" altLang="zh-CN" sz="2800" b="1" dirty="0">
                <a:latin typeface="黑体" panose="02010609060101010101" pitchFamily="49" charset="-122"/>
              </a:rPr>
              <a:t>B </a:t>
            </a:r>
            <a:r>
              <a:rPr lang="zh-CN" altLang="en-US" sz="2800" b="1" dirty="0">
                <a:latin typeface="黑体" panose="02010609060101010101" pitchFamily="49" charset="-122"/>
              </a:rPr>
              <a:t>．</a:t>
            </a:r>
            <a:r>
              <a:rPr lang="en-US" altLang="zh-CN" sz="2800" b="1" dirty="0">
                <a:latin typeface="黑体" panose="02010609060101010101" pitchFamily="49" charset="-122"/>
              </a:rPr>
              <a:t>600</a:t>
            </a:r>
            <a:r>
              <a:rPr lang="zh-CN" altLang="en-US" sz="2800" b="1" dirty="0">
                <a:latin typeface="黑体" panose="02010609060101010101" pitchFamily="49" charset="-122"/>
              </a:rPr>
              <a:t>吨； </a:t>
            </a:r>
          </a:p>
          <a:p>
            <a:pPr marL="0" indent="0" eaLnBrk="1" hangingPunct="1">
              <a:lnSpc>
                <a:spcPct val="80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C.300</a:t>
            </a:r>
            <a:r>
              <a:rPr lang="zh-CN" altLang="en-US" sz="2800" b="1" dirty="0">
                <a:latin typeface="黑体" panose="02010609060101010101" pitchFamily="49" charset="-122"/>
              </a:rPr>
              <a:t>吨；     </a:t>
            </a:r>
            <a:r>
              <a:rPr lang="en-US" altLang="zh-CN" sz="2800" b="1" dirty="0">
                <a:latin typeface="黑体" panose="02010609060101010101" pitchFamily="49" charset="-122"/>
              </a:rPr>
              <a:t>D </a:t>
            </a:r>
            <a:r>
              <a:rPr lang="zh-CN" altLang="en-US" sz="2800" b="1" dirty="0">
                <a:latin typeface="黑体" panose="02010609060101010101" pitchFamily="49" charset="-122"/>
              </a:rPr>
              <a:t>．</a:t>
            </a:r>
            <a:r>
              <a:rPr lang="en-US" altLang="zh-CN" sz="2800" b="1" dirty="0">
                <a:latin typeface="黑体" panose="02010609060101010101" pitchFamily="49" charset="-122"/>
              </a:rPr>
              <a:t>150</a:t>
            </a:r>
            <a:r>
              <a:rPr lang="zh-CN" altLang="en-US" sz="2800" b="1" dirty="0">
                <a:latin typeface="黑体" panose="02010609060101010101" pitchFamily="49" charset="-122"/>
              </a:rPr>
              <a:t>吨。</a:t>
            </a:r>
          </a:p>
          <a:p>
            <a:pPr marL="0" indent="0" eaLnBrk="1" hangingPunct="1">
              <a:lnSpc>
                <a:spcPct val="80000"/>
              </a:lnSpc>
              <a:buNone/>
            </a:pPr>
            <a:r>
              <a:rPr lang="zh-CN" altLang="en-US" sz="2800" b="1" dirty="0">
                <a:latin typeface="黑体" panose="02010609060101010101" pitchFamily="49" charset="-122"/>
              </a:rPr>
              <a:t>（最大可持续产量</a:t>
            </a:r>
            <a:r>
              <a:rPr lang="en-US" altLang="zh-CN" sz="2800" b="1" dirty="0">
                <a:latin typeface="黑体" panose="02010609060101010101" pitchFamily="49" charset="-122"/>
              </a:rPr>
              <a:t>(MSY</a:t>
            </a:r>
            <a:r>
              <a:rPr lang="zh-CN" altLang="en-US" sz="2800" b="1" dirty="0">
                <a:latin typeface="黑体" panose="02010609060101010101" pitchFamily="49" charset="-122"/>
              </a:rPr>
              <a:t>＝</a:t>
            </a:r>
            <a:r>
              <a:rPr lang="en-US" altLang="zh-CN" sz="2800" b="1" dirty="0" err="1">
                <a:latin typeface="黑体" panose="02010609060101010101" pitchFamily="49" charset="-122"/>
              </a:rPr>
              <a:t>rK</a:t>
            </a:r>
            <a:r>
              <a:rPr lang="en-US" altLang="zh-CN" sz="2800" b="1" dirty="0">
                <a:latin typeface="黑体" panose="02010609060101010101" pitchFamily="49" charset="-122"/>
              </a:rPr>
              <a:t>/4</a:t>
            </a:r>
            <a:r>
              <a:rPr lang="zh-CN" altLang="en-US" sz="2800" b="1" dirty="0">
                <a:latin typeface="黑体" panose="02010609060101010101" pitchFamily="49" charset="-122"/>
              </a:rPr>
              <a:t>）</a:t>
            </a:r>
          </a:p>
          <a:p>
            <a:pPr eaLnBrk="1" hangingPunct="1"/>
            <a:r>
              <a:rPr lang="zh-CN" altLang="en-US" sz="2800" b="1" dirty="0">
                <a:solidFill>
                  <a:srgbClr val="CC0000"/>
                </a:solidFill>
                <a:latin typeface="黑体" panose="02010609060101010101" pitchFamily="49" charset="-122"/>
              </a:rPr>
              <a:t>（</a:t>
            </a:r>
            <a:r>
              <a:rPr lang="en-US" altLang="zh-CN" sz="2800" b="1" dirty="0">
                <a:solidFill>
                  <a:srgbClr val="CC0000"/>
                </a:solidFill>
                <a:latin typeface="黑体" panose="02010609060101010101" pitchFamily="49" charset="-122"/>
              </a:rPr>
              <a:t>2013</a:t>
            </a:r>
            <a:r>
              <a:rPr lang="zh-CN" altLang="en-US" sz="2800" b="1" dirty="0">
                <a:solidFill>
                  <a:srgbClr val="CC0000"/>
                </a:solidFill>
                <a:latin typeface="黑体" panose="02010609060101010101" pitchFamily="49" charset="-122"/>
              </a:rPr>
              <a:t>年全国联赛试题）</a:t>
            </a:r>
          </a:p>
          <a:p>
            <a:pPr eaLnBrk="1" hangingPunct="1"/>
            <a:endParaRPr lang="zh-CN" altLang="en-US" sz="2800" b="1" dirty="0">
              <a:solidFill>
                <a:srgbClr val="CC0000"/>
              </a:solidFill>
              <a:latin typeface="黑体" panose="02010609060101010101" pitchFamily="49" charset="-122"/>
            </a:endParaRPr>
          </a:p>
          <a:p>
            <a:endParaRPr lang="zh-CN" altLang="en-US" sz="2800" b="1" dirty="0"/>
          </a:p>
        </p:txBody>
      </p:sp>
      <p:sp>
        <p:nvSpPr>
          <p:cNvPr id="2" name="文本框 1">
            <a:extLst>
              <a:ext uri="{FF2B5EF4-FFF2-40B4-BE49-F238E27FC236}">
                <a16:creationId xmlns:a16="http://schemas.microsoft.com/office/drawing/2014/main" id="{1B5A725E-AF47-2EFE-C5B7-38FBB2F18766}"/>
              </a:ext>
            </a:extLst>
          </p:cNvPr>
          <p:cNvSpPr txBox="1"/>
          <p:nvPr/>
        </p:nvSpPr>
        <p:spPr>
          <a:xfrm>
            <a:off x="7580906" y="1124744"/>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5" name="Rectangle 3">
            <a:extLst>
              <a:ext uri="{FF2B5EF4-FFF2-40B4-BE49-F238E27FC236}">
                <a16:creationId xmlns:a16="http://schemas.microsoft.com/office/drawing/2014/main" id="{F013A31D-55B2-A522-48F3-7FC7ED6C80A4}"/>
              </a:ext>
            </a:extLst>
          </p:cNvPr>
          <p:cNvSpPr>
            <a:spLocks noGrp="1"/>
          </p:cNvSpPr>
          <p:nvPr>
            <p:ph type="body" idx="1"/>
          </p:nvPr>
        </p:nvSpPr>
        <p:spPr>
          <a:xfrm>
            <a:off x="323850" y="260350"/>
            <a:ext cx="8229600" cy="5689600"/>
          </a:xfrm>
        </p:spPr>
        <p:txBody>
          <a:bodyPr/>
          <a:lstStyle/>
          <a:p>
            <a:pPr marL="0" indent="0" eaLnBrk="1" hangingPunct="1">
              <a:lnSpc>
                <a:spcPct val="80000"/>
              </a:lnSpc>
              <a:buNone/>
            </a:pPr>
            <a:r>
              <a:rPr lang="en-US" altLang="zh-CN" sz="2800" b="1" dirty="0">
                <a:latin typeface="黑体" panose="02010609060101010101" pitchFamily="49" charset="-122"/>
              </a:rPr>
              <a:t>7.</a:t>
            </a:r>
            <a:r>
              <a:rPr lang="zh-CN" altLang="en-US" sz="2800" b="1" dirty="0">
                <a:latin typeface="黑体" panose="02010609060101010101" pitchFamily="49" charset="-122"/>
              </a:rPr>
              <a:t>下列有关种群增长模型中</a:t>
            </a:r>
            <a:r>
              <a:rPr lang="en-US" altLang="zh-CN" sz="2800" b="1" dirty="0">
                <a:latin typeface="黑体" panose="02010609060101010101" pitchFamily="49" charset="-122"/>
              </a:rPr>
              <a:t>r</a:t>
            </a:r>
            <a:r>
              <a:rPr lang="zh-CN" altLang="en-US" sz="2800" b="1" dirty="0">
                <a:latin typeface="黑体" panose="02010609060101010101" pitchFamily="49" charset="-122"/>
              </a:rPr>
              <a:t>值的叙述，正确的是：</a:t>
            </a:r>
          </a:p>
          <a:p>
            <a:pPr marL="0" indent="0" eaLnBrk="1" hangingPunct="1">
              <a:lnSpc>
                <a:spcPct val="80000"/>
              </a:lnSpc>
              <a:buNone/>
            </a:pPr>
            <a:r>
              <a:rPr lang="en-US" altLang="zh-CN" sz="2800" b="1" dirty="0" err="1">
                <a:latin typeface="黑体" panose="02010609060101010101" pitchFamily="49" charset="-122"/>
              </a:rPr>
              <a:t>A.r</a:t>
            </a:r>
            <a:r>
              <a:rPr lang="zh-CN" altLang="en-US" sz="2800" b="1" dirty="0">
                <a:latin typeface="黑体" panose="02010609060101010101" pitchFamily="49" charset="-122"/>
              </a:rPr>
              <a:t>值具有可加性；</a:t>
            </a:r>
          </a:p>
          <a:p>
            <a:pPr marL="0" indent="0" eaLnBrk="1" hangingPunct="1">
              <a:lnSpc>
                <a:spcPct val="80000"/>
              </a:lnSpc>
              <a:buNone/>
            </a:pPr>
            <a:r>
              <a:rPr lang="en-US" altLang="zh-CN" sz="2800" b="1" dirty="0" err="1">
                <a:latin typeface="黑体" panose="02010609060101010101" pitchFamily="49" charset="-122"/>
              </a:rPr>
              <a:t>B.r</a:t>
            </a:r>
            <a:r>
              <a:rPr lang="zh-CN" altLang="en-US" sz="2800" b="1" dirty="0">
                <a:latin typeface="黑体" panose="02010609060101010101" pitchFamily="49" charset="-122"/>
              </a:rPr>
              <a:t>值越大，表示种群的增长越迅速；</a:t>
            </a:r>
          </a:p>
          <a:p>
            <a:pPr marL="0" indent="0" eaLnBrk="1" hangingPunct="1">
              <a:lnSpc>
                <a:spcPct val="80000"/>
              </a:lnSpc>
              <a:buNone/>
            </a:pPr>
            <a:r>
              <a:rPr lang="en-US" altLang="zh-CN" sz="2800" b="1" dirty="0" err="1">
                <a:latin typeface="黑体" panose="02010609060101010101" pitchFamily="49" charset="-122"/>
              </a:rPr>
              <a:t>C.r</a:t>
            </a:r>
            <a:r>
              <a:rPr lang="zh-CN" altLang="en-US" sz="2800" b="1" dirty="0">
                <a:latin typeface="黑体" panose="02010609060101010101" pitchFamily="49" charset="-122"/>
              </a:rPr>
              <a:t>值的倒数表示种群在受到干扰后，返回</a:t>
            </a:r>
          </a:p>
          <a:p>
            <a:pPr marL="0" indent="0" eaLnBrk="1" hangingPunct="1">
              <a:lnSpc>
                <a:spcPct val="80000"/>
              </a:lnSpc>
              <a:buNone/>
            </a:pPr>
            <a:r>
              <a:rPr lang="zh-CN" altLang="en-US" sz="2800" b="1" dirty="0">
                <a:latin typeface="黑体" panose="02010609060101010101" pitchFamily="49" charset="-122"/>
              </a:rPr>
              <a:t>　平衡所需要的时间的长短；</a:t>
            </a:r>
          </a:p>
          <a:p>
            <a:pPr marL="0" indent="0" eaLnBrk="1" hangingPunct="1">
              <a:lnSpc>
                <a:spcPct val="80000"/>
              </a:lnSpc>
              <a:buNone/>
            </a:pPr>
            <a:r>
              <a:rPr lang="en-US" altLang="zh-CN" sz="2800" b="1" dirty="0">
                <a:latin typeface="黑体" panose="02010609060101010101" pitchFamily="49" charset="-122"/>
              </a:rPr>
              <a:t>D.</a:t>
            </a:r>
            <a:r>
              <a:rPr lang="zh-CN" altLang="en-US" sz="2800" b="1" dirty="0">
                <a:latin typeface="黑体" panose="02010609060101010101" pitchFamily="49" charset="-122"/>
              </a:rPr>
              <a:t>知道</a:t>
            </a:r>
            <a:r>
              <a:rPr lang="en-US" altLang="zh-CN" sz="2800" b="1" dirty="0">
                <a:latin typeface="黑体" panose="02010609060101010101" pitchFamily="49" charset="-122"/>
              </a:rPr>
              <a:t>r</a:t>
            </a:r>
            <a:r>
              <a:rPr lang="zh-CN" altLang="en-US" sz="2800" b="1" dirty="0">
                <a:latin typeface="黑体" panose="02010609060101010101" pitchFamily="49" charset="-122"/>
              </a:rPr>
              <a:t>值，就可以计算出</a:t>
            </a:r>
            <a:r>
              <a:rPr lang="en-US" altLang="zh-CN" sz="2800" b="1" dirty="0" err="1">
                <a:latin typeface="黑体" panose="02010609060101010101" pitchFamily="49" charset="-122"/>
              </a:rPr>
              <a:t>λ</a:t>
            </a:r>
            <a:r>
              <a:rPr lang="zh-CN" altLang="en-US" sz="2800" b="1" dirty="0">
                <a:latin typeface="黑体" panose="02010609060101010101" pitchFamily="49" charset="-122"/>
              </a:rPr>
              <a:t>的值。</a:t>
            </a:r>
          </a:p>
          <a:p>
            <a:pPr marL="0" indent="0" eaLnBrk="1" hangingPunct="1">
              <a:lnSpc>
                <a:spcPct val="80000"/>
              </a:lnSpc>
              <a:buNone/>
            </a:pPr>
            <a:endParaRPr lang="zh-CN" altLang="en-US" sz="2800" b="1" dirty="0">
              <a:latin typeface="黑体" panose="02010609060101010101" pitchFamily="49" charset="-122"/>
            </a:endParaRPr>
          </a:p>
          <a:p>
            <a:pPr marL="0" indent="0" eaLnBrk="1" hangingPunct="1">
              <a:lnSpc>
                <a:spcPct val="80000"/>
              </a:lnSpc>
              <a:buNone/>
            </a:pPr>
            <a:r>
              <a:rPr lang="en-US" altLang="zh-CN" sz="2800" b="1" dirty="0">
                <a:latin typeface="黑体" panose="02010609060101010101" pitchFamily="49" charset="-122"/>
              </a:rPr>
              <a:t>8.</a:t>
            </a:r>
            <a:r>
              <a:rPr lang="zh-CN" altLang="en-US" sz="2800" b="1" dirty="0">
                <a:latin typeface="黑体" panose="02010609060101010101" pitchFamily="49" charset="-122"/>
              </a:rPr>
              <a:t>收获理论中</a:t>
            </a:r>
            <a:r>
              <a:rPr lang="en-US" altLang="zh-CN" sz="2800" b="1" dirty="0">
                <a:latin typeface="黑体" panose="02010609060101010101" pitchFamily="49" charset="-122"/>
              </a:rPr>
              <a:t>,</a:t>
            </a:r>
            <a:r>
              <a:rPr lang="zh-CN" altLang="en-US" sz="2800" b="1" dirty="0">
                <a:latin typeface="黑体" panose="02010609060101010101" pitchFamily="49" charset="-122"/>
              </a:rPr>
              <a:t>收获目标指的是：</a:t>
            </a:r>
          </a:p>
          <a:p>
            <a:pPr marL="0" indent="0" eaLnBrk="1" hangingPunct="1">
              <a:lnSpc>
                <a:spcPct val="80000"/>
              </a:lnSpc>
              <a:buNone/>
            </a:pPr>
            <a:r>
              <a:rPr lang="en-US" altLang="zh-CN" sz="2800" b="1" dirty="0">
                <a:latin typeface="黑体" panose="02010609060101010101" pitchFamily="49" charset="-122"/>
              </a:rPr>
              <a:t>A.</a:t>
            </a:r>
            <a:r>
              <a:rPr lang="zh-CN" altLang="en-US" sz="2800" b="1" dirty="0">
                <a:latin typeface="黑体" panose="02010609060101010101" pitchFamily="49" charset="-122"/>
              </a:rPr>
              <a:t>收获最大产量；　　　 　</a:t>
            </a:r>
            <a:r>
              <a:rPr lang="en-US" altLang="zh-CN" sz="2800" b="1" dirty="0">
                <a:latin typeface="黑体" panose="02010609060101010101" pitchFamily="49" charset="-122"/>
              </a:rPr>
              <a:t>B.</a:t>
            </a:r>
            <a:r>
              <a:rPr lang="zh-CN" altLang="en-US" sz="2800" b="1" dirty="0">
                <a:latin typeface="黑体" panose="02010609060101010101" pitchFamily="49" charset="-122"/>
              </a:rPr>
              <a:t>收获恒定产量； </a:t>
            </a:r>
          </a:p>
          <a:p>
            <a:pPr marL="0" indent="0" eaLnBrk="1" hangingPunct="1">
              <a:lnSpc>
                <a:spcPct val="80000"/>
              </a:lnSpc>
              <a:buNone/>
            </a:pPr>
            <a:r>
              <a:rPr lang="en-US" altLang="zh-CN" sz="2800" b="1" dirty="0">
                <a:latin typeface="黑体" panose="02010609060101010101" pitchFamily="49" charset="-122"/>
              </a:rPr>
              <a:t>C.</a:t>
            </a:r>
            <a:r>
              <a:rPr lang="zh-CN" altLang="en-US" sz="2800" b="1" dirty="0">
                <a:latin typeface="黑体" panose="02010609060101010101" pitchFamily="49" charset="-122"/>
              </a:rPr>
              <a:t>长期持续获得最大产量； </a:t>
            </a:r>
            <a:r>
              <a:rPr lang="en-US" altLang="zh-CN" sz="2800" b="1" dirty="0">
                <a:latin typeface="黑体" panose="02010609060101010101" pitchFamily="49" charset="-122"/>
              </a:rPr>
              <a:t>D.</a:t>
            </a:r>
            <a:r>
              <a:rPr lang="zh-CN" altLang="en-US" sz="2800" b="1" dirty="0">
                <a:latin typeface="黑体" panose="02010609060101010101" pitchFamily="49" charset="-122"/>
              </a:rPr>
              <a:t>收获种群所有个体。</a:t>
            </a:r>
            <a:br>
              <a:rPr lang="zh-CN" altLang="en-US" sz="2800" b="1" dirty="0">
                <a:solidFill>
                  <a:schemeClr val="tx1"/>
                </a:solidFill>
                <a:latin typeface="黑体" panose="02010609060101010101" pitchFamily="49" charset="-122"/>
              </a:rPr>
            </a:br>
            <a:endParaRPr lang="zh-CN" altLang="en-US" sz="2800" b="1" dirty="0">
              <a:solidFill>
                <a:schemeClr val="tx1"/>
              </a:solidFill>
              <a:latin typeface="黑体" panose="02010609060101010101" pitchFamily="49" charset="-122"/>
            </a:endParaRPr>
          </a:p>
          <a:p>
            <a:pPr>
              <a:lnSpc>
                <a:spcPct val="90000"/>
              </a:lnSpc>
            </a:pPr>
            <a:endParaRPr lang="zh-CN" altLang="en-US" sz="2800" b="1" dirty="0">
              <a:latin typeface="黑体" panose="02010609060101010101" pitchFamily="49" charset="-122"/>
            </a:endParaRPr>
          </a:p>
          <a:p>
            <a:pPr>
              <a:lnSpc>
                <a:spcPct val="90000"/>
              </a:lnSpc>
            </a:pPr>
            <a:endParaRPr lang="en-US" altLang="zh-CN" sz="2800" b="1" dirty="0">
              <a:latin typeface="黑体" panose="02010609060101010101" pitchFamily="49" charset="-122"/>
            </a:endParaRPr>
          </a:p>
          <a:p>
            <a:pPr>
              <a:lnSpc>
                <a:spcPct val="90000"/>
              </a:lnSpc>
            </a:pPr>
            <a:endParaRPr lang="en-US" altLang="zh-CN" sz="4000" b="1" dirty="0">
              <a:latin typeface="黑体" panose="02010609060101010101" pitchFamily="49" charset="-122"/>
            </a:endParaRPr>
          </a:p>
          <a:p>
            <a:pPr>
              <a:lnSpc>
                <a:spcPct val="90000"/>
              </a:lnSpc>
            </a:pPr>
            <a:endParaRPr lang="en-US" altLang="zh-CN" sz="2800" dirty="0">
              <a:latin typeface="微软雅黑" panose="020B0503020204020204" pitchFamily="34" charset="-122"/>
              <a:ea typeface="微软雅黑" panose="020B0503020204020204" pitchFamily="34" charset="-122"/>
            </a:endParaRPr>
          </a:p>
          <a:p>
            <a:pPr>
              <a:lnSpc>
                <a:spcPct val="90000"/>
              </a:lnSpc>
            </a:pPr>
            <a:endParaRPr lang="en-US" altLang="zh-CN" sz="2800" dirty="0"/>
          </a:p>
          <a:p>
            <a:pPr>
              <a:lnSpc>
                <a:spcPct val="90000"/>
              </a:lnSpc>
            </a:pPr>
            <a:endParaRPr lang="en-US" altLang="zh-CN" sz="2800" dirty="0"/>
          </a:p>
          <a:p>
            <a:pPr>
              <a:lnSpc>
                <a:spcPct val="90000"/>
              </a:lnSpc>
            </a:pPr>
            <a:endParaRPr lang="en-US" altLang="zh-CN" sz="2800" dirty="0"/>
          </a:p>
        </p:txBody>
      </p:sp>
      <p:sp>
        <p:nvSpPr>
          <p:cNvPr id="2" name="文本框 1">
            <a:extLst>
              <a:ext uri="{FF2B5EF4-FFF2-40B4-BE49-F238E27FC236}">
                <a16:creationId xmlns:a16="http://schemas.microsoft.com/office/drawing/2014/main" id="{E8CD9D93-8DCB-F442-4002-0F2EAF83CDDA}"/>
              </a:ext>
            </a:extLst>
          </p:cNvPr>
          <p:cNvSpPr txBox="1"/>
          <p:nvPr/>
        </p:nvSpPr>
        <p:spPr>
          <a:xfrm>
            <a:off x="5796136" y="646440"/>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ABCD</a:t>
            </a:r>
            <a:endParaRPr lang="zh-CN" altLang="en-US" sz="2800" dirty="0"/>
          </a:p>
        </p:txBody>
      </p:sp>
      <p:sp>
        <p:nvSpPr>
          <p:cNvPr id="3" name="文本框 2">
            <a:extLst>
              <a:ext uri="{FF2B5EF4-FFF2-40B4-BE49-F238E27FC236}">
                <a16:creationId xmlns:a16="http://schemas.microsoft.com/office/drawing/2014/main" id="{6BA36537-83ED-C037-8F2D-492FFF460A3B}"/>
              </a:ext>
            </a:extLst>
          </p:cNvPr>
          <p:cNvSpPr txBox="1"/>
          <p:nvPr/>
        </p:nvSpPr>
        <p:spPr>
          <a:xfrm>
            <a:off x="5580112" y="3167390"/>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C</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8964" name="Picture 4">
            <a:extLst>
              <a:ext uri="{FF2B5EF4-FFF2-40B4-BE49-F238E27FC236}">
                <a16:creationId xmlns:a16="http://schemas.microsoft.com/office/drawing/2014/main" id="{3837790B-34A5-B9FD-56C7-136DBEE8703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0113" y="1916113"/>
            <a:ext cx="7319962" cy="4578350"/>
          </a:xfrm>
          <a:prstGeom prst="rect">
            <a:avLst/>
          </a:prstGeom>
          <a:noFill/>
          <a:extLst>
            <a:ext uri="{909E8E84-426E-40DD-AFC4-6F175D3DCCD1}">
              <a14:hiddenFill xmlns:a14="http://schemas.microsoft.com/office/drawing/2010/main">
                <a:solidFill>
                  <a:srgbClr val="FFFFFF"/>
                </a:solidFill>
              </a14:hiddenFill>
            </a:ext>
          </a:extLst>
        </p:spPr>
      </p:pic>
      <p:sp>
        <p:nvSpPr>
          <p:cNvPr id="168965" name="Text Box 5">
            <a:extLst>
              <a:ext uri="{FF2B5EF4-FFF2-40B4-BE49-F238E27FC236}">
                <a16:creationId xmlns:a16="http://schemas.microsoft.com/office/drawing/2014/main" id="{35185867-5449-7FB8-A378-A6E842B39B48}"/>
              </a:ext>
            </a:extLst>
          </p:cNvPr>
          <p:cNvSpPr txBox="1">
            <a:spLocks noChangeArrowheads="1"/>
          </p:cNvSpPr>
          <p:nvPr/>
        </p:nvSpPr>
        <p:spPr bwMode="auto">
          <a:xfrm>
            <a:off x="611188" y="333375"/>
            <a:ext cx="7880350" cy="12126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eaLnBrk="1" hangingPunct="1">
              <a:lnSpc>
                <a:spcPct val="80000"/>
              </a:lnSpc>
              <a:spcBef>
                <a:spcPct val="20000"/>
              </a:spcBef>
            </a:pPr>
            <a:r>
              <a:rPr lang="en-US" altLang="zh-CN" sz="2800" b="1" dirty="0">
                <a:latin typeface="黑体" panose="02010609060101010101" pitchFamily="49" charset="-122"/>
                <a:ea typeface="+mn-ea"/>
              </a:rPr>
              <a:t>9.</a:t>
            </a:r>
            <a:r>
              <a:rPr lang="zh-CN" altLang="en-US" sz="2800" b="1" dirty="0">
                <a:latin typeface="黑体" panose="02010609060101010101" pitchFamily="49" charset="-122"/>
                <a:ea typeface="+mn-ea"/>
              </a:rPr>
              <a:t>大型禽类种群中毒事件偶尔会发生，请问下图中其种群数量恢复曲线最可能是哪一种：</a:t>
            </a:r>
          </a:p>
          <a:p>
            <a:pPr eaLnBrk="1" hangingPunct="1">
              <a:lnSpc>
                <a:spcPct val="80000"/>
              </a:lnSpc>
              <a:spcBef>
                <a:spcPct val="20000"/>
              </a:spcBef>
            </a:pPr>
            <a:r>
              <a:rPr lang="zh-CN" altLang="en-US" sz="2800" b="1" dirty="0">
                <a:latin typeface="黑体" panose="02010609060101010101" pitchFamily="49" charset="-122"/>
                <a:ea typeface="+mn-ea"/>
              </a:rPr>
              <a:t>　</a:t>
            </a:r>
            <a:r>
              <a:rPr lang="en-US" altLang="zh-CN" sz="2800" b="1" dirty="0">
                <a:latin typeface="黑体" panose="02010609060101010101" pitchFamily="49" charset="-122"/>
                <a:ea typeface="+mn-ea"/>
              </a:rPr>
              <a:t>A.(A)</a:t>
            </a:r>
            <a:r>
              <a:rPr lang="zh-CN" altLang="en-US" sz="2800" b="1" dirty="0">
                <a:latin typeface="黑体" panose="02010609060101010101" pitchFamily="49" charset="-122"/>
                <a:ea typeface="+mn-ea"/>
              </a:rPr>
              <a:t>图；</a:t>
            </a:r>
            <a:r>
              <a:rPr lang="en-US" altLang="zh-CN" sz="2800" b="1" dirty="0">
                <a:latin typeface="黑体" panose="02010609060101010101" pitchFamily="49" charset="-122"/>
                <a:ea typeface="+mn-ea"/>
              </a:rPr>
              <a:t>B.(B)</a:t>
            </a:r>
            <a:r>
              <a:rPr lang="zh-CN" altLang="en-US" sz="2800" b="1" dirty="0">
                <a:latin typeface="黑体" panose="02010609060101010101" pitchFamily="49" charset="-122"/>
                <a:ea typeface="+mn-ea"/>
              </a:rPr>
              <a:t>图</a:t>
            </a:r>
            <a:r>
              <a:rPr lang="en-US" altLang="zh-CN" sz="2800" b="1" dirty="0">
                <a:latin typeface="黑体" panose="02010609060101010101" pitchFamily="49" charset="-122"/>
                <a:ea typeface="+mn-ea"/>
              </a:rPr>
              <a:t>;C.(C)</a:t>
            </a:r>
            <a:r>
              <a:rPr lang="zh-CN" altLang="en-US" sz="2800" b="1" dirty="0">
                <a:latin typeface="黑体" panose="02010609060101010101" pitchFamily="49" charset="-122"/>
                <a:ea typeface="+mn-ea"/>
              </a:rPr>
              <a:t>图；</a:t>
            </a:r>
            <a:r>
              <a:rPr lang="en-US" altLang="zh-CN" sz="2800" b="1" dirty="0">
                <a:latin typeface="黑体" panose="02010609060101010101" pitchFamily="49" charset="-122"/>
                <a:ea typeface="+mn-ea"/>
              </a:rPr>
              <a:t>D.(D)</a:t>
            </a:r>
            <a:r>
              <a:rPr lang="zh-CN" altLang="en-US" sz="2800" b="1" dirty="0">
                <a:latin typeface="黑体" panose="02010609060101010101" pitchFamily="49" charset="-122"/>
                <a:ea typeface="+mn-ea"/>
              </a:rPr>
              <a:t>图。</a:t>
            </a:r>
          </a:p>
        </p:txBody>
      </p:sp>
      <p:sp>
        <p:nvSpPr>
          <p:cNvPr id="2" name="文本框 1">
            <a:extLst>
              <a:ext uri="{FF2B5EF4-FFF2-40B4-BE49-F238E27FC236}">
                <a16:creationId xmlns:a16="http://schemas.microsoft.com/office/drawing/2014/main" id="{EAF54FE6-BA0E-E265-E53B-ED4756F06241}"/>
              </a:ext>
            </a:extLst>
          </p:cNvPr>
          <p:cNvSpPr txBox="1"/>
          <p:nvPr/>
        </p:nvSpPr>
        <p:spPr>
          <a:xfrm>
            <a:off x="7090115" y="620688"/>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3">
            <a:extLst>
              <a:ext uri="{FF2B5EF4-FFF2-40B4-BE49-F238E27FC236}">
                <a16:creationId xmlns:a16="http://schemas.microsoft.com/office/drawing/2014/main" id="{FF632FD9-E131-DBDC-3C79-F529153061D5}"/>
              </a:ext>
            </a:extLst>
          </p:cNvPr>
          <p:cNvSpPr>
            <a:spLocks noGrp="1"/>
          </p:cNvSpPr>
          <p:nvPr>
            <p:ph type="body" idx="1"/>
          </p:nvPr>
        </p:nvSpPr>
        <p:spPr>
          <a:xfrm>
            <a:off x="457200" y="115888"/>
            <a:ext cx="8229600" cy="6010275"/>
          </a:xfrm>
        </p:spPr>
        <p:txBody>
          <a:bodyPr/>
          <a:lstStyle/>
          <a:p>
            <a:pPr marL="0" indent="0" eaLnBrk="1" hangingPunct="1">
              <a:lnSpc>
                <a:spcPct val="80000"/>
              </a:lnSpc>
              <a:buNone/>
            </a:pPr>
            <a:r>
              <a:rPr lang="en-US" altLang="zh-CN" sz="2800" b="1" dirty="0">
                <a:latin typeface="黑体" panose="02010609060101010101" pitchFamily="49" charset="-122"/>
              </a:rPr>
              <a:t>9.</a:t>
            </a:r>
            <a:r>
              <a:rPr lang="zh-CN" altLang="en-US" sz="2800" b="1" dirty="0">
                <a:latin typeface="黑体" panose="02010609060101010101" pitchFamily="49" charset="-122"/>
              </a:rPr>
              <a:t>稻草浸出液经常用来培养草履虫，下列叙述正确的是：</a:t>
            </a:r>
          </a:p>
          <a:p>
            <a:pPr marL="0" indent="0" eaLnBrk="1" hangingPunct="1">
              <a:lnSpc>
                <a:spcPct val="80000"/>
              </a:lnSpc>
              <a:buNone/>
            </a:pPr>
            <a:r>
              <a:rPr lang="en-US" altLang="zh-CN" sz="2800" b="1" dirty="0">
                <a:latin typeface="黑体" panose="02010609060101010101" pitchFamily="49" charset="-122"/>
              </a:rPr>
              <a:t>A.</a:t>
            </a:r>
            <a:r>
              <a:rPr lang="zh-CN" altLang="en-US" sz="2800" b="1" dirty="0">
                <a:latin typeface="黑体" panose="02010609060101010101" pitchFamily="49" charset="-122"/>
              </a:rPr>
              <a:t>长期培养会增加群聚中的生物量；</a:t>
            </a:r>
          </a:p>
          <a:p>
            <a:pPr marL="0" indent="0" eaLnBrk="1" hangingPunct="1">
              <a:lnSpc>
                <a:spcPct val="80000"/>
              </a:lnSpc>
              <a:buNone/>
            </a:pPr>
            <a:r>
              <a:rPr lang="en-US" altLang="zh-CN" sz="2800" b="1" dirty="0">
                <a:latin typeface="黑体" panose="02010609060101010101" pitchFamily="49" charset="-122"/>
              </a:rPr>
              <a:t>B.</a:t>
            </a:r>
            <a:r>
              <a:rPr lang="zh-CN" altLang="en-US" sz="2800" b="1" dirty="0">
                <a:latin typeface="黑体" panose="02010609060101010101" pitchFamily="49" charset="-122"/>
              </a:rPr>
              <a:t>涉及到长期增加群聚中的能流；</a:t>
            </a:r>
          </a:p>
          <a:p>
            <a:pPr marL="0" indent="0" eaLnBrk="1" hangingPunct="1">
              <a:lnSpc>
                <a:spcPct val="80000"/>
              </a:lnSpc>
              <a:buNone/>
            </a:pPr>
            <a:r>
              <a:rPr lang="en-US" altLang="zh-CN" sz="2800" b="1" dirty="0">
                <a:latin typeface="黑体" panose="02010609060101010101" pitchFamily="49" charset="-122"/>
              </a:rPr>
              <a:t>C.</a:t>
            </a:r>
            <a:r>
              <a:rPr lang="zh-CN" altLang="en-US" sz="2800" b="1" dirty="0">
                <a:latin typeface="黑体" panose="02010609060101010101" pitchFamily="49" charset="-122"/>
              </a:rPr>
              <a:t>此情形和人类利用石化燃料类似；</a:t>
            </a:r>
          </a:p>
          <a:p>
            <a:pPr marL="0" indent="0" eaLnBrk="1" hangingPunct="1">
              <a:lnSpc>
                <a:spcPct val="80000"/>
              </a:lnSpc>
              <a:buNone/>
            </a:pPr>
            <a:r>
              <a:rPr lang="en-US" altLang="zh-CN" sz="2800" b="1" dirty="0">
                <a:latin typeface="黑体" panose="02010609060101010101" pitchFamily="49" charset="-122"/>
              </a:rPr>
              <a:t>D.</a:t>
            </a:r>
            <a:r>
              <a:rPr lang="zh-CN" altLang="en-US" sz="2800" b="1" dirty="0">
                <a:latin typeface="黑体" panose="02010609060101010101" pitchFamily="49" charset="-122"/>
              </a:rPr>
              <a:t>此会使群聚中可利用之能源减少。</a:t>
            </a:r>
          </a:p>
          <a:p>
            <a:pPr marL="0" indent="0" eaLnBrk="1" hangingPunct="1">
              <a:lnSpc>
                <a:spcPct val="80000"/>
              </a:lnSpc>
              <a:buNone/>
            </a:pPr>
            <a:endParaRPr lang="zh-CN" altLang="en-US" sz="2800" b="1" dirty="0">
              <a:latin typeface="黑体" panose="02010609060101010101" pitchFamily="49" charset="-122"/>
            </a:endParaRPr>
          </a:p>
          <a:p>
            <a:pPr marL="0" indent="0" eaLnBrk="1" hangingPunct="1">
              <a:lnSpc>
                <a:spcPct val="80000"/>
              </a:lnSpc>
              <a:buNone/>
            </a:pPr>
            <a:r>
              <a:rPr lang="en-US" altLang="zh-CN" sz="2800" b="1" dirty="0">
                <a:latin typeface="黑体" panose="02010609060101010101" pitchFamily="49" charset="-122"/>
              </a:rPr>
              <a:t>10.</a:t>
            </a:r>
            <a:r>
              <a:rPr lang="zh-CN" altLang="en-US" sz="2800" b="1" dirty="0">
                <a:latin typeface="黑体" panose="02010609060101010101" pitchFamily="49" charset="-122"/>
              </a:rPr>
              <a:t>某种动物种群数量为</a:t>
            </a:r>
            <a:r>
              <a:rPr lang="en-US" altLang="zh-CN" sz="2800" b="1" dirty="0">
                <a:latin typeface="黑体" panose="02010609060101010101" pitchFamily="49" charset="-122"/>
              </a:rPr>
              <a:t>700</a:t>
            </a:r>
            <a:r>
              <a:rPr lang="zh-CN" altLang="en-US" sz="2800" b="1" dirty="0">
                <a:latin typeface="黑体" panose="02010609060101010101" pitchFamily="49" charset="-122"/>
              </a:rPr>
              <a:t>只，每年平均的自然出生率为</a:t>
            </a:r>
            <a:r>
              <a:rPr lang="en-US" altLang="zh-CN" sz="2800" b="1" dirty="0">
                <a:latin typeface="黑体" panose="02010609060101010101" pitchFamily="49" charset="-122"/>
              </a:rPr>
              <a:t>25%</a:t>
            </a:r>
            <a:r>
              <a:rPr lang="zh-CN" altLang="en-US" sz="2800" b="1" dirty="0">
                <a:latin typeface="黑体" panose="02010609060101010101" pitchFamily="49" charset="-122"/>
              </a:rPr>
              <a:t>，死亡率为</a:t>
            </a:r>
            <a:r>
              <a:rPr lang="en-US" altLang="zh-CN" sz="2800" b="1" dirty="0">
                <a:latin typeface="黑体" panose="02010609060101010101" pitchFamily="49" charset="-122"/>
              </a:rPr>
              <a:t>23%</a:t>
            </a:r>
            <a:r>
              <a:rPr lang="zh-CN" altLang="en-US" sz="2800" b="1" dirty="0">
                <a:latin typeface="黑体" panose="02010609060101010101" pitchFamily="49" charset="-122"/>
              </a:rPr>
              <a:t>，一次偶然的自然灾害使种群</a:t>
            </a:r>
            <a:r>
              <a:rPr lang="en-US" altLang="zh-CN" sz="2800" b="1" dirty="0">
                <a:latin typeface="黑体" panose="02010609060101010101" pitchFamily="49" charset="-122"/>
              </a:rPr>
              <a:t>73</a:t>
            </a:r>
            <a:r>
              <a:rPr lang="zh-CN" altLang="en-US" sz="2800" b="1" dirty="0">
                <a:latin typeface="黑体" panose="02010609060101010101" pitchFamily="49" charset="-122"/>
              </a:rPr>
              <a:t>个个体死亡，请问该种群大约几年后可以恢复原有的种群数量。</a:t>
            </a:r>
          </a:p>
          <a:p>
            <a:pPr marL="0" indent="0" eaLnBrk="1" hangingPunct="1">
              <a:lnSpc>
                <a:spcPct val="80000"/>
              </a:lnSpc>
              <a:buNone/>
            </a:pPr>
            <a:r>
              <a:rPr lang="en-US" altLang="zh-CN" sz="2800" b="1" dirty="0">
                <a:latin typeface="黑体" panose="02010609060101010101" pitchFamily="49" charset="-122"/>
              </a:rPr>
              <a:t>A.2</a:t>
            </a:r>
            <a:r>
              <a:rPr lang="zh-CN" altLang="en-US" sz="2800" b="1" dirty="0">
                <a:latin typeface="黑体" panose="02010609060101010101" pitchFamily="49" charset="-122"/>
              </a:rPr>
              <a:t>年；</a:t>
            </a:r>
            <a:r>
              <a:rPr lang="en-US" altLang="zh-CN" sz="2800" b="1" dirty="0">
                <a:latin typeface="黑体" panose="02010609060101010101" pitchFamily="49" charset="-122"/>
              </a:rPr>
              <a:t>B.5</a:t>
            </a:r>
            <a:r>
              <a:rPr lang="zh-CN" altLang="en-US" sz="2800" b="1" dirty="0">
                <a:latin typeface="黑体" panose="02010609060101010101" pitchFamily="49" charset="-122"/>
              </a:rPr>
              <a:t>年；</a:t>
            </a:r>
            <a:r>
              <a:rPr lang="en-US" altLang="zh-CN" sz="2800" b="1" dirty="0">
                <a:latin typeface="黑体" panose="02010609060101010101" pitchFamily="49" charset="-122"/>
              </a:rPr>
              <a:t>C.8</a:t>
            </a:r>
            <a:r>
              <a:rPr lang="zh-CN" altLang="en-US" sz="2800" b="1" dirty="0">
                <a:latin typeface="黑体" panose="02010609060101010101" pitchFamily="49" charset="-122"/>
              </a:rPr>
              <a:t>年；</a:t>
            </a:r>
            <a:r>
              <a:rPr lang="en-US" altLang="zh-CN" sz="2800" b="1" dirty="0">
                <a:latin typeface="黑体" panose="02010609060101010101" pitchFamily="49" charset="-122"/>
              </a:rPr>
              <a:t>D.10</a:t>
            </a:r>
            <a:r>
              <a:rPr lang="zh-CN" altLang="en-US" sz="2800" b="1" dirty="0">
                <a:latin typeface="黑体" panose="02010609060101010101" pitchFamily="49" charset="-122"/>
              </a:rPr>
              <a:t>年。</a:t>
            </a:r>
          </a:p>
          <a:p>
            <a:endParaRPr lang="zh-CN" altLang="en-US" sz="2800" b="1" dirty="0">
              <a:latin typeface="黑体" panose="02010609060101010101" pitchFamily="49" charset="-122"/>
            </a:endParaRPr>
          </a:p>
        </p:txBody>
      </p:sp>
      <p:sp>
        <p:nvSpPr>
          <p:cNvPr id="2" name="文本框 1">
            <a:extLst>
              <a:ext uri="{FF2B5EF4-FFF2-40B4-BE49-F238E27FC236}">
                <a16:creationId xmlns:a16="http://schemas.microsoft.com/office/drawing/2014/main" id="{F72231AC-7AE7-4F31-5ED3-C1930933EF52}"/>
              </a:ext>
            </a:extLst>
          </p:cNvPr>
          <p:cNvSpPr txBox="1"/>
          <p:nvPr/>
        </p:nvSpPr>
        <p:spPr>
          <a:xfrm>
            <a:off x="2339752" y="476672"/>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CD</a:t>
            </a:r>
            <a:endParaRPr lang="zh-CN" altLang="en-US" sz="2800" dirty="0"/>
          </a:p>
        </p:txBody>
      </p:sp>
      <p:sp>
        <p:nvSpPr>
          <p:cNvPr id="3" name="文本框 2">
            <a:extLst>
              <a:ext uri="{FF2B5EF4-FFF2-40B4-BE49-F238E27FC236}">
                <a16:creationId xmlns:a16="http://schemas.microsoft.com/office/drawing/2014/main" id="{8C1ECA13-333D-9714-2FB0-FA0311041EC3}"/>
              </a:ext>
            </a:extLst>
          </p:cNvPr>
          <p:cNvSpPr txBox="1"/>
          <p:nvPr/>
        </p:nvSpPr>
        <p:spPr>
          <a:xfrm>
            <a:off x="3707904" y="4005064"/>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B</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Rectangle 3">
            <a:extLst>
              <a:ext uri="{FF2B5EF4-FFF2-40B4-BE49-F238E27FC236}">
                <a16:creationId xmlns:a16="http://schemas.microsoft.com/office/drawing/2014/main" id="{6C4A1E7F-BEBF-2A7B-8596-EC739F400B8A}"/>
              </a:ext>
            </a:extLst>
          </p:cNvPr>
          <p:cNvSpPr>
            <a:spLocks noGrp="1"/>
          </p:cNvSpPr>
          <p:nvPr>
            <p:ph type="body" idx="1"/>
          </p:nvPr>
        </p:nvSpPr>
        <p:spPr>
          <a:xfrm>
            <a:off x="468313" y="981075"/>
            <a:ext cx="8229600" cy="4525963"/>
          </a:xfrm>
        </p:spPr>
        <p:txBody>
          <a:bodyPr/>
          <a:lstStyle/>
          <a:p>
            <a:pPr marL="0" indent="0" eaLnBrk="1" hangingPunct="1">
              <a:buNone/>
            </a:pPr>
            <a:r>
              <a:rPr lang="en-US" altLang="zh-CN" sz="2800" b="1" dirty="0">
                <a:latin typeface="黑体" panose="02010609060101010101" pitchFamily="49" charset="-122"/>
              </a:rPr>
              <a:t>11.</a:t>
            </a:r>
            <a:r>
              <a:rPr lang="zh-CN" altLang="en-US" sz="2800" b="1" dirty="0">
                <a:latin typeface="黑体" panose="02010609060101010101" pitchFamily="49" charset="-122"/>
              </a:rPr>
              <a:t>有</a:t>
            </a:r>
            <a:r>
              <a:rPr lang="en-US" altLang="zh-CN" sz="2800" b="1" dirty="0">
                <a:latin typeface="黑体" panose="02010609060101010101" pitchFamily="49" charset="-122"/>
              </a:rPr>
              <a:t>20</a:t>
            </a:r>
            <a:r>
              <a:rPr lang="zh-CN" altLang="en-US" sz="2800" b="1" dirty="0">
                <a:latin typeface="黑体" panose="02010609060101010101" pitchFamily="49" charset="-122"/>
              </a:rPr>
              <a:t>粒三年生植物的种子，发芽后的第一年，有７粒死亡，第二年又有</a:t>
            </a:r>
            <a:r>
              <a:rPr lang="en-US" altLang="zh-CN" sz="2800" b="1" dirty="0">
                <a:latin typeface="黑体" panose="02010609060101010101" pitchFamily="49" charset="-122"/>
              </a:rPr>
              <a:t>5</a:t>
            </a:r>
            <a:r>
              <a:rPr lang="zh-CN" altLang="en-US" sz="2800" b="1" dirty="0">
                <a:latin typeface="黑体" panose="02010609060101010101" pitchFamily="49" charset="-122"/>
              </a:rPr>
              <a:t>粒死亡，但剩下的个体平均每粒结了</a:t>
            </a:r>
            <a:r>
              <a:rPr lang="en-US" altLang="zh-CN" sz="2800" b="1" dirty="0">
                <a:latin typeface="黑体" panose="02010609060101010101" pitchFamily="49" charset="-122"/>
              </a:rPr>
              <a:t>2</a:t>
            </a:r>
            <a:r>
              <a:rPr lang="zh-CN" altLang="en-US" sz="2800" b="1" dirty="0">
                <a:latin typeface="黑体" panose="02010609060101010101" pitchFamily="49" charset="-122"/>
              </a:rPr>
              <a:t>粒种子。第三年这</a:t>
            </a:r>
            <a:r>
              <a:rPr lang="en-US" altLang="zh-CN" sz="2800" b="1" dirty="0">
                <a:latin typeface="黑体" panose="02010609060101010101" pitchFamily="49" charset="-122"/>
              </a:rPr>
              <a:t>20</a:t>
            </a:r>
            <a:r>
              <a:rPr lang="zh-CN" altLang="en-US" sz="2800" b="1" dirty="0">
                <a:latin typeface="黑体" panose="02010609060101010101" pitchFamily="49" charset="-122"/>
              </a:rPr>
              <a:t>粒种子所剩下的所有个体都死了，但在死亡之前，又有</a:t>
            </a:r>
            <a:r>
              <a:rPr lang="en-US" altLang="zh-CN" sz="2800" b="1" dirty="0">
                <a:latin typeface="黑体" panose="02010609060101010101" pitchFamily="49" charset="-122"/>
              </a:rPr>
              <a:t>3</a:t>
            </a:r>
            <a:r>
              <a:rPr lang="zh-CN" altLang="en-US" sz="2800" b="1" dirty="0">
                <a:latin typeface="黑体" panose="02010609060101010101" pitchFamily="49" charset="-122"/>
              </a:rPr>
              <a:t>个个体各生产了</a:t>
            </a:r>
            <a:r>
              <a:rPr lang="en-US" altLang="zh-CN" sz="2800" b="1" dirty="0">
                <a:latin typeface="黑体" panose="02010609060101010101" pitchFamily="49" charset="-122"/>
              </a:rPr>
              <a:t>2</a:t>
            </a:r>
            <a:r>
              <a:rPr lang="zh-CN" altLang="en-US" sz="2800" b="1" dirty="0">
                <a:latin typeface="黑体" panose="02010609060101010101" pitchFamily="49" charset="-122"/>
              </a:rPr>
              <a:t>粒种子。请问以这样的种子生产率，该植物种群未来的数量是：</a:t>
            </a:r>
          </a:p>
          <a:p>
            <a:pPr marL="0" indent="0" eaLnBrk="1" hangingPunct="1">
              <a:buNone/>
            </a:pPr>
            <a:r>
              <a:rPr lang="en-US" altLang="zh-CN" sz="2800" b="1" dirty="0">
                <a:latin typeface="黑体" panose="02010609060101010101" pitchFamily="49" charset="-122"/>
              </a:rPr>
              <a:t>A.</a:t>
            </a:r>
            <a:r>
              <a:rPr lang="zh-CN" altLang="en-US" sz="2800" b="1" dirty="0">
                <a:latin typeface="黑体" panose="02010609060101010101" pitchFamily="49" charset="-122"/>
              </a:rPr>
              <a:t>增加；</a:t>
            </a:r>
            <a:r>
              <a:rPr lang="en-US" altLang="zh-CN" sz="2800" b="1" dirty="0">
                <a:latin typeface="黑体" panose="02010609060101010101" pitchFamily="49" charset="-122"/>
              </a:rPr>
              <a:t>B.</a:t>
            </a:r>
            <a:r>
              <a:rPr lang="zh-CN" altLang="en-US" sz="2800" b="1" dirty="0">
                <a:latin typeface="黑体" panose="02010609060101010101" pitchFamily="49" charset="-122"/>
              </a:rPr>
              <a:t>不变；</a:t>
            </a:r>
            <a:r>
              <a:rPr lang="en-US" altLang="zh-CN" sz="2800" b="1" dirty="0">
                <a:latin typeface="黑体" panose="02010609060101010101" pitchFamily="49" charset="-122"/>
              </a:rPr>
              <a:t>C.</a:t>
            </a:r>
            <a:r>
              <a:rPr lang="zh-CN" altLang="en-US" sz="2800" b="1" dirty="0">
                <a:latin typeface="黑体" panose="02010609060101010101" pitchFamily="49" charset="-122"/>
              </a:rPr>
              <a:t>减少；</a:t>
            </a:r>
            <a:r>
              <a:rPr lang="en-US" altLang="zh-CN" sz="2800" b="1" dirty="0">
                <a:latin typeface="黑体" panose="02010609060101010101" pitchFamily="49" charset="-122"/>
              </a:rPr>
              <a:t>D.</a:t>
            </a:r>
            <a:r>
              <a:rPr lang="zh-CN" altLang="en-US" sz="2800" b="1" dirty="0">
                <a:latin typeface="黑体" panose="02010609060101010101" pitchFamily="49" charset="-122"/>
              </a:rPr>
              <a:t>无法预测。</a:t>
            </a:r>
          </a:p>
        </p:txBody>
      </p:sp>
      <p:sp>
        <p:nvSpPr>
          <p:cNvPr id="2" name="文本框 1">
            <a:extLst>
              <a:ext uri="{FF2B5EF4-FFF2-40B4-BE49-F238E27FC236}">
                <a16:creationId xmlns:a16="http://schemas.microsoft.com/office/drawing/2014/main" id="{A76B981A-9CC9-A82C-1949-8B83DEDC0FEF}"/>
              </a:ext>
            </a:extLst>
          </p:cNvPr>
          <p:cNvSpPr txBox="1"/>
          <p:nvPr/>
        </p:nvSpPr>
        <p:spPr>
          <a:xfrm>
            <a:off x="4583113" y="3167390"/>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a:extLst>
              <a:ext uri="{FF2B5EF4-FFF2-40B4-BE49-F238E27FC236}">
                <a16:creationId xmlns:a16="http://schemas.microsoft.com/office/drawing/2014/main" id="{80DBD7F5-9453-57C9-DF85-5AB95ED779EB}"/>
              </a:ext>
            </a:extLst>
          </p:cNvPr>
          <p:cNvSpPr>
            <a:spLocks noGrp="1"/>
          </p:cNvSpPr>
          <p:nvPr>
            <p:ph type="body" idx="1"/>
          </p:nvPr>
        </p:nvSpPr>
        <p:spPr>
          <a:xfrm>
            <a:off x="107950" y="230448"/>
            <a:ext cx="9036050" cy="3198552"/>
          </a:xfrm>
        </p:spPr>
        <p:txBody>
          <a:bodyPr/>
          <a:lstStyle/>
          <a:p>
            <a:endParaRPr lang="zh-CN" altLang="en-US" sz="2000" dirty="0">
              <a:latin typeface="黑体" panose="02010609060101010101" pitchFamily="49" charset="-122"/>
            </a:endParaRPr>
          </a:p>
          <a:p>
            <a:pPr marL="0" indent="0" eaLnBrk="1" hangingPunct="1">
              <a:buNone/>
            </a:pPr>
            <a:r>
              <a:rPr lang="en-US" altLang="zh-CN" sz="2400" b="1" dirty="0">
                <a:latin typeface="黑体" panose="02010609060101010101" pitchFamily="49" charset="-122"/>
              </a:rPr>
              <a:t>12.</a:t>
            </a:r>
            <a:r>
              <a:rPr lang="zh-CN" altLang="en-US" sz="2400" b="1" dirty="0">
                <a:latin typeface="黑体" panose="02010609060101010101" pitchFamily="49" charset="-122"/>
              </a:rPr>
              <a:t>下表是逻辑斯谛增长中各项数值的变化情况，设</a:t>
            </a:r>
            <a:r>
              <a:rPr lang="en-US" altLang="zh-CN" sz="2400" b="1" dirty="0">
                <a:latin typeface="黑体" panose="02010609060101010101" pitchFamily="49" charset="-122"/>
              </a:rPr>
              <a:t>r</a:t>
            </a:r>
            <a:r>
              <a:rPr lang="zh-CN" altLang="en-US" sz="2400" b="1" dirty="0">
                <a:latin typeface="黑体" panose="02010609060101010101" pitchFamily="49" charset="-122"/>
              </a:rPr>
              <a:t>＝１</a:t>
            </a:r>
            <a:r>
              <a:rPr lang="en-US" altLang="zh-CN" sz="2400" b="1" dirty="0">
                <a:latin typeface="黑体" panose="02010609060101010101" pitchFamily="49" charset="-122"/>
              </a:rPr>
              <a:t>.0</a:t>
            </a:r>
            <a:r>
              <a:rPr lang="zh-CN" altLang="en-US" sz="2400" b="1" dirty="0">
                <a:latin typeface="黑体" panose="02010609060101010101" pitchFamily="49" charset="-122"/>
              </a:rPr>
              <a:t>， </a:t>
            </a:r>
            <a:r>
              <a:rPr lang="en-US" altLang="zh-CN" sz="2400" b="1" dirty="0">
                <a:latin typeface="黑体" panose="02010609060101010101" pitchFamily="49" charset="-122"/>
              </a:rPr>
              <a:t>N0 </a:t>
            </a:r>
            <a:r>
              <a:rPr lang="zh-CN" altLang="en-US" sz="2400" b="1" dirty="0">
                <a:latin typeface="黑体" panose="02010609060101010101" pitchFamily="49" charset="-122"/>
              </a:rPr>
              <a:t>＝</a:t>
            </a:r>
            <a:r>
              <a:rPr lang="en-US" altLang="zh-CN" sz="2400" b="1" dirty="0">
                <a:latin typeface="黑体" panose="02010609060101010101" pitchFamily="49" charset="-122"/>
              </a:rPr>
              <a:t>1</a:t>
            </a:r>
            <a:r>
              <a:rPr lang="zh-CN" altLang="en-US" sz="2400" b="1" dirty="0">
                <a:latin typeface="黑体" panose="02010609060101010101" pitchFamily="49" charset="-122"/>
              </a:rPr>
              <a:t>，Ｋ＝</a:t>
            </a:r>
            <a:r>
              <a:rPr lang="en-US" altLang="zh-CN" sz="2400" b="1" dirty="0">
                <a:latin typeface="黑体" panose="02010609060101010101" pitchFamily="49" charset="-122"/>
              </a:rPr>
              <a:t>100 </a:t>
            </a:r>
            <a:r>
              <a:rPr lang="zh-CN" altLang="en-US" sz="2400" b="1" dirty="0">
                <a:latin typeface="黑体" panose="02010609060101010101" pitchFamily="49" charset="-122"/>
              </a:rPr>
              <a:t>，根据该表，下述错误的是：</a:t>
            </a:r>
          </a:p>
          <a:p>
            <a:pPr marL="0" indent="0" eaLnBrk="1" hangingPunct="1">
              <a:buNone/>
            </a:pPr>
            <a:r>
              <a:rPr lang="en-US" altLang="zh-CN" sz="2400" b="1" dirty="0">
                <a:latin typeface="黑体" panose="02010609060101010101" pitchFamily="49" charset="-122"/>
              </a:rPr>
              <a:t>A.</a:t>
            </a:r>
            <a:r>
              <a:rPr lang="zh-CN" altLang="en-US" sz="2400" b="1" dirty="0">
                <a:latin typeface="黑体" panose="02010609060101010101" pitchFamily="49" charset="-122"/>
              </a:rPr>
              <a:t>在种群增长早期，逻辑斯谛增长与指数增长相差不多； </a:t>
            </a:r>
          </a:p>
          <a:p>
            <a:pPr marL="0" indent="0" eaLnBrk="1" hangingPunct="1">
              <a:buNone/>
            </a:pPr>
            <a:r>
              <a:rPr lang="en-US" altLang="zh-CN" sz="2400" b="1" dirty="0">
                <a:latin typeface="黑体" panose="02010609060101010101" pitchFamily="49" charset="-122"/>
              </a:rPr>
              <a:t>B.</a:t>
            </a:r>
            <a:r>
              <a:rPr lang="zh-CN" altLang="en-US" sz="2400" b="1" dirty="0">
                <a:latin typeface="黑体" panose="02010609060101010101" pitchFamily="49" charset="-122"/>
              </a:rPr>
              <a:t>随着</a:t>
            </a:r>
            <a:r>
              <a:rPr lang="en-US" altLang="zh-CN" sz="2400" b="1" dirty="0">
                <a:latin typeface="黑体" panose="02010609060101010101" pitchFamily="49" charset="-122"/>
              </a:rPr>
              <a:t>N</a:t>
            </a:r>
            <a:r>
              <a:rPr lang="zh-CN" altLang="en-US" sz="2400" b="1" dirty="0">
                <a:latin typeface="黑体" panose="02010609060101010101" pitchFamily="49" charset="-122"/>
              </a:rPr>
              <a:t>逐渐增长到平衡密度，“剩余增长机会”越来越小； </a:t>
            </a:r>
          </a:p>
          <a:p>
            <a:pPr marL="0" indent="0" eaLnBrk="1" hangingPunct="1">
              <a:buNone/>
            </a:pPr>
            <a:r>
              <a:rPr lang="en-US" altLang="zh-CN" sz="2400" b="1" dirty="0">
                <a:latin typeface="黑体" panose="02010609060101010101" pitchFamily="49" charset="-122"/>
              </a:rPr>
              <a:t>C.</a:t>
            </a:r>
            <a:r>
              <a:rPr lang="zh-CN" altLang="en-US" sz="2400" b="1" dirty="0">
                <a:latin typeface="黑体" panose="02010609060101010101" pitchFamily="49" charset="-122"/>
              </a:rPr>
              <a:t>增长速率变化呈“ｓ”形。</a:t>
            </a:r>
          </a:p>
          <a:p>
            <a:pPr marL="0" indent="0" eaLnBrk="1" hangingPunct="1">
              <a:buNone/>
            </a:pPr>
            <a:r>
              <a:rPr lang="en-US" altLang="zh-CN" sz="2400" b="1" dirty="0">
                <a:latin typeface="黑体" panose="02010609060101010101" pitchFamily="49" charset="-122"/>
              </a:rPr>
              <a:t>D.</a:t>
            </a:r>
            <a:r>
              <a:rPr lang="zh-CN" altLang="en-US" sz="2400" b="1" dirty="0">
                <a:latin typeface="黑体" panose="02010609060101010101" pitchFamily="49" charset="-122"/>
              </a:rPr>
              <a:t>种群最大增长量等于</a:t>
            </a:r>
            <a:r>
              <a:rPr lang="en-US" altLang="zh-CN" sz="2400" b="1" dirty="0">
                <a:latin typeface="黑体" panose="02010609060101010101" pitchFamily="49" charset="-122"/>
              </a:rPr>
              <a:t>25</a:t>
            </a:r>
            <a:r>
              <a:rPr lang="zh-CN" altLang="en-US" sz="2400" b="1" dirty="0">
                <a:latin typeface="黑体" panose="02010609060101010101" pitchFamily="49" charset="-122"/>
              </a:rPr>
              <a:t>。</a:t>
            </a:r>
          </a:p>
        </p:txBody>
      </p:sp>
      <p:pic>
        <p:nvPicPr>
          <p:cNvPr id="164871" name="Picture 7">
            <a:extLst>
              <a:ext uri="{FF2B5EF4-FFF2-40B4-BE49-F238E27FC236}">
                <a16:creationId xmlns:a16="http://schemas.microsoft.com/office/drawing/2014/main" id="{58E274BB-572A-42B4-F425-FFBCE9FEBD1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05706" y="3140968"/>
            <a:ext cx="6840537" cy="2936875"/>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438AEF97-79FA-A214-7AB6-7297E8EEACCD}"/>
              </a:ext>
            </a:extLst>
          </p:cNvPr>
          <p:cNvSpPr txBox="1"/>
          <p:nvPr/>
        </p:nvSpPr>
        <p:spPr>
          <a:xfrm>
            <a:off x="6732240" y="980728"/>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C</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0915" name="Rectangle 3">
            <a:extLst>
              <a:ext uri="{FF2B5EF4-FFF2-40B4-BE49-F238E27FC236}">
                <a16:creationId xmlns:a16="http://schemas.microsoft.com/office/drawing/2014/main" id="{A6CDD7EC-4FC8-6A3F-B459-B2F6FC21B06B}"/>
              </a:ext>
            </a:extLst>
          </p:cNvPr>
          <p:cNvSpPr>
            <a:spLocks noGrp="1"/>
          </p:cNvSpPr>
          <p:nvPr>
            <p:ph type="body" idx="1"/>
          </p:nvPr>
        </p:nvSpPr>
        <p:spPr>
          <a:xfrm>
            <a:off x="468313" y="1125538"/>
            <a:ext cx="8424862" cy="4525962"/>
          </a:xfrm>
        </p:spPr>
        <p:txBody>
          <a:bodyPr/>
          <a:lstStyle/>
          <a:p>
            <a:pPr marL="0" indent="0" eaLnBrk="1" hangingPunct="1">
              <a:buNone/>
            </a:pPr>
            <a:r>
              <a:rPr lang="en-US" altLang="zh-CN" sz="2800" b="1" dirty="0">
                <a:latin typeface="黑体" panose="02010609060101010101" pitchFamily="49" charset="-122"/>
              </a:rPr>
              <a:t>13.</a:t>
            </a:r>
            <a:r>
              <a:rPr lang="zh-CN" altLang="en-US" sz="2800" b="1" dirty="0">
                <a:latin typeface="黑体" panose="02010609060101010101" pitchFamily="49" charset="-122"/>
              </a:rPr>
              <a:t>如果增长率</a:t>
            </a:r>
            <a:r>
              <a:rPr lang="en-US" altLang="zh-CN" sz="2800" b="1" dirty="0">
                <a:latin typeface="黑体" panose="02010609060101010101" pitchFamily="49" charset="-122"/>
              </a:rPr>
              <a:t>r</a:t>
            </a:r>
            <a:r>
              <a:rPr lang="zh-CN" altLang="en-US" sz="2800" b="1" dirty="0">
                <a:latin typeface="黑体" panose="02010609060101010101" pitchFamily="49" charset="-122"/>
              </a:rPr>
              <a:t>为</a:t>
            </a:r>
            <a:r>
              <a:rPr lang="en-US" altLang="zh-CN" sz="2800" b="1" dirty="0">
                <a:latin typeface="黑体" panose="02010609060101010101" pitchFamily="49" charset="-122"/>
              </a:rPr>
              <a:t>0</a:t>
            </a:r>
            <a:r>
              <a:rPr lang="zh-CN" altLang="en-US" sz="2800" b="1" dirty="0">
                <a:latin typeface="黑体" panose="02010609060101010101" pitchFamily="49" charset="-122"/>
              </a:rPr>
              <a:t>，以下哪种情况会出现？      </a:t>
            </a:r>
          </a:p>
          <a:p>
            <a:pPr marL="0" indent="0" eaLnBrk="1" hangingPunct="1">
              <a:buNone/>
            </a:pPr>
            <a:r>
              <a:rPr lang="en-US" altLang="zh-CN" sz="2800" b="1" dirty="0">
                <a:latin typeface="黑体" panose="02010609060101010101" pitchFamily="49" charset="-122"/>
              </a:rPr>
              <a:t>A  </a:t>
            </a:r>
            <a:r>
              <a:rPr lang="zh-CN" altLang="en-US" sz="2800" b="1" dirty="0">
                <a:latin typeface="黑体" panose="02010609060101010101" pitchFamily="49" charset="-122"/>
              </a:rPr>
              <a:t>种群增加，并出现激烈的食物和栖息地的竞争</a:t>
            </a:r>
            <a:r>
              <a:rPr lang="en-US" altLang="zh-CN" sz="2800" b="1" dirty="0">
                <a:latin typeface="黑体" panose="02010609060101010101" pitchFamily="49" charset="-122"/>
              </a:rPr>
              <a:t>;</a:t>
            </a:r>
          </a:p>
          <a:p>
            <a:pPr marL="0" indent="0" eaLnBrk="1" hangingPunct="1">
              <a:buNone/>
            </a:pPr>
            <a:r>
              <a:rPr lang="en-US" altLang="zh-CN" sz="2800" b="1" dirty="0">
                <a:latin typeface="黑体" panose="02010609060101010101" pitchFamily="49" charset="-122"/>
              </a:rPr>
              <a:t>B  </a:t>
            </a:r>
            <a:r>
              <a:rPr lang="zh-CN" altLang="en-US" sz="2800" b="1" dirty="0">
                <a:latin typeface="黑体" panose="02010609060101010101" pitchFamily="49" charset="-122"/>
              </a:rPr>
              <a:t>种群增加，寄生和捕食的情况增加；</a:t>
            </a:r>
          </a:p>
          <a:p>
            <a:pPr marL="0" indent="0" eaLnBrk="1" hangingPunct="1">
              <a:buNone/>
            </a:pPr>
            <a:r>
              <a:rPr lang="en-US" altLang="zh-CN" sz="2800" b="1" dirty="0">
                <a:latin typeface="黑体" panose="02010609060101010101" pitchFamily="49" charset="-122"/>
              </a:rPr>
              <a:t>C  </a:t>
            </a:r>
            <a:r>
              <a:rPr lang="zh-CN" altLang="en-US" sz="2800" b="1" dirty="0">
                <a:latin typeface="黑体" panose="02010609060101010101" pitchFamily="49" charset="-122"/>
              </a:rPr>
              <a:t>种群会因有毒废物的积累而减少；</a:t>
            </a:r>
          </a:p>
          <a:p>
            <a:pPr marL="0" indent="0" eaLnBrk="1" hangingPunct="1">
              <a:buNone/>
            </a:pPr>
            <a:r>
              <a:rPr lang="en-US" altLang="zh-CN" sz="2800" b="1" dirty="0">
                <a:latin typeface="黑体" panose="02010609060101010101" pitchFamily="49" charset="-122"/>
              </a:rPr>
              <a:t>D  </a:t>
            </a:r>
            <a:r>
              <a:rPr lang="zh-CN" altLang="en-US" sz="2800" b="1" dirty="0">
                <a:latin typeface="黑体" panose="02010609060101010101" pitchFamily="49" charset="-122"/>
              </a:rPr>
              <a:t>种群接近其载荷能力。</a:t>
            </a:r>
          </a:p>
        </p:txBody>
      </p:sp>
      <p:sp>
        <p:nvSpPr>
          <p:cNvPr id="2" name="文本框 1">
            <a:extLst>
              <a:ext uri="{FF2B5EF4-FFF2-40B4-BE49-F238E27FC236}">
                <a16:creationId xmlns:a16="http://schemas.microsoft.com/office/drawing/2014/main" id="{7B2EE396-260D-2D6E-6893-951A3D842DC5}"/>
              </a:ext>
            </a:extLst>
          </p:cNvPr>
          <p:cNvSpPr txBox="1"/>
          <p:nvPr/>
        </p:nvSpPr>
        <p:spPr>
          <a:xfrm>
            <a:off x="7452320" y="1125538"/>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3507" name="Rectangle 3">
            <a:extLst>
              <a:ext uri="{FF2B5EF4-FFF2-40B4-BE49-F238E27FC236}">
                <a16:creationId xmlns:a16="http://schemas.microsoft.com/office/drawing/2014/main" id="{106077C3-9A29-CFC5-DEA1-7F3DA7CE50CE}"/>
              </a:ext>
            </a:extLst>
          </p:cNvPr>
          <p:cNvSpPr>
            <a:spLocks noGrp="1"/>
          </p:cNvSpPr>
          <p:nvPr>
            <p:ph type="body" idx="1"/>
          </p:nvPr>
        </p:nvSpPr>
        <p:spPr>
          <a:xfrm>
            <a:off x="395288" y="188913"/>
            <a:ext cx="8229600" cy="1640057"/>
          </a:xfrm>
        </p:spPr>
        <p:txBody>
          <a:bodyPr/>
          <a:lstStyle/>
          <a:p>
            <a:pPr marL="0" indent="0" eaLnBrk="1" hangingPunct="1">
              <a:buNone/>
            </a:pPr>
            <a:r>
              <a:rPr lang="en-US" altLang="zh-CN" sz="2800" b="1" dirty="0">
                <a:latin typeface="黑体" panose="02010609060101010101" pitchFamily="49" charset="-122"/>
              </a:rPr>
              <a:t>14.</a:t>
            </a:r>
            <a:r>
              <a:rPr lang="zh-CN" altLang="en-US" sz="2800" b="1" dirty="0">
                <a:latin typeface="黑体" panose="02010609060101010101" pitchFamily="49" charset="-122"/>
              </a:rPr>
              <a:t>下图是种群与密度无关的连续增长动态示意图，横轴表示时间，纵轴表示个体数量。根据此图，下列选项中叙述不正确的是： </a:t>
            </a:r>
          </a:p>
          <a:p>
            <a:endParaRPr lang="zh-CN" altLang="en-US" sz="2400" b="1" dirty="0">
              <a:latin typeface="黑体" panose="02010609060101010101" pitchFamily="49" charset="-122"/>
            </a:endParaRPr>
          </a:p>
          <a:p>
            <a:endParaRPr lang="zh-CN" altLang="en-US" sz="2400" b="1" dirty="0"/>
          </a:p>
        </p:txBody>
      </p:sp>
      <p:sp>
        <p:nvSpPr>
          <p:cNvPr id="533509" name="Rectangle 5">
            <a:extLst>
              <a:ext uri="{FF2B5EF4-FFF2-40B4-BE49-F238E27FC236}">
                <a16:creationId xmlns:a16="http://schemas.microsoft.com/office/drawing/2014/main" id="{9C4A9E14-33EB-9F6F-2B41-A118E92EA744}"/>
              </a:ext>
            </a:extLst>
          </p:cNvPr>
          <p:cNvSpPr>
            <a:spLocks noChangeArrowheads="1"/>
          </p:cNvSpPr>
          <p:nvPr/>
        </p:nvSpPr>
        <p:spPr bwMode="auto">
          <a:xfrm>
            <a:off x="250825" y="5084763"/>
            <a:ext cx="8641655" cy="10402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20000"/>
              </a:spcBef>
            </a:pPr>
            <a:r>
              <a:rPr lang="en-US" altLang="zh-CN" sz="2800" b="1" dirty="0">
                <a:latin typeface="黑体" panose="02010609060101010101" pitchFamily="49" charset="-122"/>
                <a:ea typeface="+mn-ea"/>
              </a:rPr>
              <a:t>A.</a:t>
            </a:r>
            <a:r>
              <a:rPr lang="zh-CN" altLang="en-US" sz="2800" b="1" dirty="0">
                <a:latin typeface="黑体" panose="02010609060101010101" pitchFamily="49" charset="-122"/>
                <a:ea typeface="+mn-ea"/>
              </a:rPr>
              <a:t>曲线１中</a:t>
            </a:r>
            <a:r>
              <a:rPr lang="en-US" altLang="zh-CN" sz="2800" b="1" dirty="0">
                <a:latin typeface="黑体" panose="02010609060101010101" pitchFamily="49" charset="-122"/>
                <a:ea typeface="+mn-ea"/>
              </a:rPr>
              <a:t>r1</a:t>
            </a:r>
            <a:r>
              <a:rPr lang="zh-CN" altLang="en-US" sz="2800" b="1" dirty="0">
                <a:latin typeface="黑体" panose="02010609060101010101" pitchFamily="49" charset="-122"/>
                <a:ea typeface="+mn-ea"/>
              </a:rPr>
              <a:t>的值大于</a:t>
            </a:r>
            <a:r>
              <a:rPr lang="en-US" altLang="zh-CN" sz="2800" b="1" dirty="0">
                <a:latin typeface="黑体" panose="02010609060101010101" pitchFamily="49" charset="-122"/>
                <a:ea typeface="+mn-ea"/>
              </a:rPr>
              <a:t>0</a:t>
            </a:r>
            <a:r>
              <a:rPr lang="zh-CN" altLang="en-US" sz="2800" b="1" dirty="0">
                <a:latin typeface="黑体" panose="02010609060101010101" pitchFamily="49" charset="-122"/>
                <a:ea typeface="+mn-ea"/>
              </a:rPr>
              <a:t>；</a:t>
            </a:r>
            <a:r>
              <a:rPr lang="en-US" altLang="zh-CN" sz="2800" b="1" dirty="0">
                <a:latin typeface="黑体" panose="02010609060101010101" pitchFamily="49" charset="-122"/>
                <a:ea typeface="+mn-ea"/>
              </a:rPr>
              <a:t>B.</a:t>
            </a:r>
            <a:r>
              <a:rPr lang="zh-CN" altLang="en-US" sz="2800" b="1" dirty="0">
                <a:latin typeface="黑体" panose="02010609060101010101" pitchFamily="49" charset="-122"/>
                <a:ea typeface="+mn-ea"/>
              </a:rPr>
              <a:t>曲线</a:t>
            </a:r>
            <a:r>
              <a:rPr lang="en-US" altLang="zh-CN" sz="2800" b="1" dirty="0">
                <a:latin typeface="黑体" panose="02010609060101010101" pitchFamily="49" charset="-122"/>
                <a:ea typeface="+mn-ea"/>
              </a:rPr>
              <a:t>2</a:t>
            </a:r>
            <a:r>
              <a:rPr lang="zh-CN" altLang="en-US" sz="2800" b="1" dirty="0">
                <a:latin typeface="黑体" panose="02010609060101010101" pitchFamily="49" charset="-122"/>
                <a:ea typeface="+mn-ea"/>
              </a:rPr>
              <a:t>中 </a:t>
            </a:r>
            <a:r>
              <a:rPr lang="en-US" altLang="zh-CN" sz="2800" b="1" dirty="0">
                <a:latin typeface="黑体" panose="02010609060101010101" pitchFamily="49" charset="-122"/>
                <a:ea typeface="+mn-ea"/>
              </a:rPr>
              <a:t>r2</a:t>
            </a:r>
            <a:r>
              <a:rPr lang="zh-CN" altLang="en-US" sz="2800" b="1" dirty="0">
                <a:latin typeface="黑体" panose="02010609060101010101" pitchFamily="49" charset="-122"/>
                <a:ea typeface="+mn-ea"/>
              </a:rPr>
              <a:t>的值等于</a:t>
            </a:r>
            <a:r>
              <a:rPr lang="en-US" altLang="zh-CN" sz="2800" b="1" dirty="0">
                <a:latin typeface="黑体" panose="02010609060101010101" pitchFamily="49" charset="-122"/>
                <a:ea typeface="+mn-ea"/>
              </a:rPr>
              <a:t>0</a:t>
            </a:r>
            <a:r>
              <a:rPr lang="zh-CN" altLang="en-US" sz="2800" b="1" dirty="0">
                <a:latin typeface="黑体" panose="02010609060101010101" pitchFamily="49" charset="-122"/>
                <a:ea typeface="+mn-ea"/>
              </a:rPr>
              <a:t>；</a:t>
            </a:r>
          </a:p>
          <a:p>
            <a:pPr eaLnBrk="1" hangingPunct="1">
              <a:spcBef>
                <a:spcPct val="20000"/>
              </a:spcBef>
            </a:pPr>
            <a:r>
              <a:rPr lang="en-US" altLang="zh-CN" sz="2800" b="1" dirty="0">
                <a:latin typeface="黑体" panose="02010609060101010101" pitchFamily="49" charset="-122"/>
                <a:ea typeface="+mn-ea"/>
              </a:rPr>
              <a:t>C.</a:t>
            </a:r>
            <a:r>
              <a:rPr lang="zh-CN" altLang="en-US" sz="2800" b="1" dirty="0">
                <a:latin typeface="黑体" panose="02010609060101010101" pitchFamily="49" charset="-122"/>
                <a:ea typeface="+mn-ea"/>
              </a:rPr>
              <a:t>曲线</a:t>
            </a:r>
            <a:r>
              <a:rPr lang="en-US" altLang="zh-CN" sz="2800" b="1" dirty="0">
                <a:latin typeface="黑体" panose="02010609060101010101" pitchFamily="49" charset="-122"/>
                <a:ea typeface="+mn-ea"/>
              </a:rPr>
              <a:t>3</a:t>
            </a:r>
            <a:r>
              <a:rPr lang="zh-CN" altLang="en-US" sz="2800" b="1" dirty="0">
                <a:latin typeface="黑体" panose="02010609060101010101" pitchFamily="49" charset="-122"/>
                <a:ea typeface="+mn-ea"/>
              </a:rPr>
              <a:t>中 </a:t>
            </a:r>
            <a:r>
              <a:rPr lang="en-US" altLang="zh-CN" sz="2800" b="1" dirty="0">
                <a:latin typeface="黑体" panose="02010609060101010101" pitchFamily="49" charset="-122"/>
                <a:ea typeface="+mn-ea"/>
              </a:rPr>
              <a:t>r3</a:t>
            </a:r>
            <a:r>
              <a:rPr lang="zh-CN" altLang="en-US" sz="2800" b="1" dirty="0">
                <a:latin typeface="黑体" panose="02010609060101010101" pitchFamily="49" charset="-122"/>
                <a:ea typeface="+mn-ea"/>
              </a:rPr>
              <a:t>的值小于</a:t>
            </a:r>
            <a:r>
              <a:rPr lang="en-US" altLang="zh-CN" sz="2800" b="1" dirty="0">
                <a:latin typeface="黑体" panose="02010609060101010101" pitchFamily="49" charset="-122"/>
                <a:ea typeface="+mn-ea"/>
              </a:rPr>
              <a:t>0</a:t>
            </a:r>
            <a:r>
              <a:rPr lang="zh-CN" altLang="en-US" sz="2800" b="1" dirty="0">
                <a:latin typeface="黑体" panose="02010609060101010101" pitchFamily="49" charset="-122"/>
                <a:ea typeface="+mn-ea"/>
              </a:rPr>
              <a:t>；</a:t>
            </a:r>
            <a:r>
              <a:rPr lang="en-US" altLang="zh-CN" sz="2800" b="1" dirty="0">
                <a:latin typeface="黑体" panose="02010609060101010101" pitchFamily="49" charset="-122"/>
                <a:ea typeface="+mn-ea"/>
              </a:rPr>
              <a:t>D.</a:t>
            </a:r>
            <a:r>
              <a:rPr lang="zh-CN" altLang="en-US" sz="2800" b="1" dirty="0">
                <a:latin typeface="黑体" panose="02010609060101010101" pitchFamily="49" charset="-122"/>
                <a:ea typeface="+mn-ea"/>
              </a:rPr>
              <a:t>无法判定图中</a:t>
            </a:r>
            <a:r>
              <a:rPr lang="en-US" altLang="zh-CN" sz="2800" b="1" dirty="0">
                <a:latin typeface="黑体" panose="02010609060101010101" pitchFamily="49" charset="-122"/>
                <a:ea typeface="+mn-ea"/>
              </a:rPr>
              <a:t>r</a:t>
            </a:r>
            <a:r>
              <a:rPr lang="zh-CN" altLang="en-US" sz="2800" b="1" dirty="0">
                <a:latin typeface="黑体" panose="02010609060101010101" pitchFamily="49" charset="-122"/>
                <a:ea typeface="+mn-ea"/>
              </a:rPr>
              <a:t>值的大小</a:t>
            </a:r>
          </a:p>
        </p:txBody>
      </p:sp>
      <p:pic>
        <p:nvPicPr>
          <p:cNvPr id="533510" name="Picture 6">
            <a:extLst>
              <a:ext uri="{FF2B5EF4-FFF2-40B4-BE49-F238E27FC236}">
                <a16:creationId xmlns:a16="http://schemas.microsoft.com/office/drawing/2014/main" id="{DDC10A68-5CB6-AC4A-AE06-222219FEAE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413" y="1484313"/>
            <a:ext cx="4830762" cy="332581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ABAF9BCA-F0CA-A3BC-AD38-2CBE971CCEE1}"/>
              </a:ext>
            </a:extLst>
          </p:cNvPr>
          <p:cNvSpPr txBox="1"/>
          <p:nvPr/>
        </p:nvSpPr>
        <p:spPr>
          <a:xfrm>
            <a:off x="5508104" y="1305750"/>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1875" name="Rectangle 3">
            <a:extLst>
              <a:ext uri="{FF2B5EF4-FFF2-40B4-BE49-F238E27FC236}">
                <a16:creationId xmlns:a16="http://schemas.microsoft.com/office/drawing/2014/main" id="{91070488-FD3E-7952-1399-B421A6B42F0F}"/>
              </a:ext>
            </a:extLst>
          </p:cNvPr>
          <p:cNvSpPr>
            <a:spLocks noGrp="1"/>
          </p:cNvSpPr>
          <p:nvPr>
            <p:ph type="body" idx="1"/>
          </p:nvPr>
        </p:nvSpPr>
        <p:spPr>
          <a:xfrm>
            <a:off x="395288" y="981075"/>
            <a:ext cx="8229600" cy="5111750"/>
          </a:xfrm>
        </p:spPr>
        <p:txBody>
          <a:bodyPr/>
          <a:lstStyle/>
          <a:p>
            <a:pPr marL="0" indent="0" eaLnBrk="1" hangingPunct="1">
              <a:buNone/>
            </a:pPr>
            <a:r>
              <a:rPr lang="en-US" altLang="zh-CN" sz="2800" b="1" dirty="0">
                <a:latin typeface="黑体" panose="02010609060101010101" pitchFamily="49" charset="-122"/>
              </a:rPr>
              <a:t>15.</a:t>
            </a:r>
            <a:r>
              <a:rPr lang="zh-CN" altLang="en-US" sz="2800" b="1" dirty="0">
                <a:latin typeface="黑体" panose="02010609060101010101" pitchFamily="49" charset="-122"/>
              </a:rPr>
              <a:t>下图是种群指数式增长的变化模式，据此，下列选项中正确的是：</a:t>
            </a:r>
          </a:p>
          <a:p>
            <a:pPr marL="0" indent="0" eaLnBrk="1" hangingPunct="1">
              <a:buNone/>
            </a:pPr>
            <a:r>
              <a:rPr lang="en-US" altLang="zh-CN" sz="2800" b="1" dirty="0">
                <a:latin typeface="黑体" panose="02010609060101010101" pitchFamily="49" charset="-122"/>
              </a:rPr>
              <a:t>A.</a:t>
            </a:r>
            <a:r>
              <a:rPr lang="zh-CN" altLang="en-US" sz="2800" b="1" dirty="0">
                <a:latin typeface="黑体" panose="02010609060101010101" pitchFamily="49" charset="-122"/>
              </a:rPr>
              <a:t>左图中</a:t>
            </a:r>
            <a:r>
              <a:rPr lang="en-US" altLang="zh-CN" sz="2800" b="1" dirty="0">
                <a:latin typeface="黑体" panose="02010609060101010101" pitchFamily="49" charset="-122"/>
              </a:rPr>
              <a:t>r</a:t>
            </a:r>
            <a:r>
              <a:rPr lang="zh-CN" altLang="en-US" sz="2800" b="1" dirty="0">
                <a:latin typeface="黑体" panose="02010609060101010101" pitchFamily="49" charset="-122"/>
              </a:rPr>
              <a:t>＜</a:t>
            </a:r>
            <a:r>
              <a:rPr lang="en-US" altLang="zh-CN" sz="2800" b="1" dirty="0">
                <a:latin typeface="黑体" panose="02010609060101010101" pitchFamily="49" charset="-122"/>
              </a:rPr>
              <a:t>0</a:t>
            </a:r>
            <a:r>
              <a:rPr lang="zh-CN" altLang="en-US" sz="2800" b="1" dirty="0">
                <a:latin typeface="黑体" panose="02010609060101010101" pitchFamily="49" charset="-122"/>
              </a:rPr>
              <a:t>，种群呈无限制增长；</a:t>
            </a:r>
          </a:p>
          <a:p>
            <a:pPr marL="0" indent="0" eaLnBrk="1" hangingPunct="1">
              <a:buNone/>
            </a:pPr>
            <a:r>
              <a:rPr lang="en-US" altLang="zh-CN" sz="2800" b="1" dirty="0">
                <a:latin typeface="黑体" panose="02010609060101010101" pitchFamily="49" charset="-122"/>
              </a:rPr>
              <a:t>B.</a:t>
            </a:r>
            <a:r>
              <a:rPr lang="zh-CN" altLang="en-US" sz="2800" b="1" dirty="0">
                <a:latin typeface="黑体" panose="02010609060101010101" pitchFamily="49" charset="-122"/>
              </a:rPr>
              <a:t>中图中</a:t>
            </a:r>
            <a:r>
              <a:rPr lang="en-US" altLang="zh-CN" sz="2800" b="1" dirty="0">
                <a:latin typeface="黑体" panose="02010609060101010101" pitchFamily="49" charset="-122"/>
              </a:rPr>
              <a:t>r</a:t>
            </a:r>
            <a:r>
              <a:rPr lang="zh-CN" altLang="zh-CN" sz="2800" b="1" dirty="0">
                <a:latin typeface="黑体" panose="02010609060101010101" pitchFamily="49" charset="-122"/>
              </a:rPr>
              <a:t>＜</a:t>
            </a:r>
            <a:r>
              <a:rPr lang="zh-CN" altLang="en-US" sz="2800" b="1" dirty="0">
                <a:latin typeface="黑体" panose="02010609060101010101" pitchFamily="49" charset="-122"/>
              </a:rPr>
              <a:t>0，种群数量下降；　</a:t>
            </a:r>
          </a:p>
          <a:p>
            <a:pPr marL="0" indent="0" eaLnBrk="1" hangingPunct="1">
              <a:buNone/>
            </a:pPr>
            <a:r>
              <a:rPr lang="en-US" altLang="zh-CN" sz="2800" b="1" dirty="0">
                <a:latin typeface="黑体" panose="02010609060101010101" pitchFamily="49" charset="-122"/>
              </a:rPr>
              <a:t>C.</a:t>
            </a:r>
            <a:r>
              <a:rPr lang="zh-CN" altLang="en-US" sz="2800" b="1" dirty="0">
                <a:latin typeface="黑体" panose="02010609060101010101" pitchFamily="49" charset="-122"/>
              </a:rPr>
              <a:t>右图中</a:t>
            </a:r>
            <a:r>
              <a:rPr lang="en-US" altLang="zh-CN" sz="2800" b="1" dirty="0">
                <a:latin typeface="黑体" panose="02010609060101010101" pitchFamily="49" charset="-122"/>
              </a:rPr>
              <a:t>r</a:t>
            </a:r>
            <a:r>
              <a:rPr lang="zh-CN" altLang="en-US" sz="2800" b="1" dirty="0">
                <a:latin typeface="黑体" panose="02010609060101010101" pitchFamily="49" charset="-122"/>
              </a:rPr>
              <a:t>＝</a:t>
            </a:r>
            <a:r>
              <a:rPr lang="en-US" altLang="zh-CN" sz="2800" b="1" dirty="0">
                <a:latin typeface="黑体" panose="02010609060101010101" pitchFamily="49" charset="-122"/>
              </a:rPr>
              <a:t>0</a:t>
            </a:r>
            <a:r>
              <a:rPr lang="zh-CN" altLang="en-US" sz="2800" b="1" dirty="0">
                <a:latin typeface="黑体" panose="02010609060101010101" pitchFamily="49" charset="-122"/>
              </a:rPr>
              <a:t>，种群数量无变化； </a:t>
            </a:r>
          </a:p>
          <a:p>
            <a:pPr marL="0" indent="0" eaLnBrk="1" hangingPunct="1">
              <a:buNone/>
            </a:pPr>
            <a:r>
              <a:rPr lang="en-US" altLang="zh-CN" sz="2800" b="1" dirty="0">
                <a:latin typeface="黑体" panose="02010609060101010101" pitchFamily="49" charset="-122"/>
              </a:rPr>
              <a:t>D.</a:t>
            </a:r>
            <a:r>
              <a:rPr lang="zh-CN" altLang="en-US" sz="2800" b="1" dirty="0">
                <a:latin typeface="黑体" panose="02010609060101010101" pitchFamily="49" charset="-122"/>
              </a:rPr>
              <a:t>左图中</a:t>
            </a:r>
            <a:r>
              <a:rPr lang="en-US" altLang="zh-CN" sz="2800" b="1" dirty="0">
                <a:latin typeface="黑体" panose="02010609060101010101" pitchFamily="49" charset="-122"/>
              </a:rPr>
              <a:t>r</a:t>
            </a:r>
            <a:r>
              <a:rPr lang="zh-CN" altLang="en-US" sz="2800" b="1" dirty="0">
                <a:latin typeface="黑体" panose="02010609060101010101" pitchFamily="49" charset="-122"/>
              </a:rPr>
              <a:t>＞</a:t>
            </a:r>
            <a:r>
              <a:rPr lang="en-US" altLang="zh-CN" sz="2800" b="1" dirty="0">
                <a:latin typeface="黑体" panose="02010609060101010101" pitchFamily="49" charset="-122"/>
              </a:rPr>
              <a:t>0</a:t>
            </a:r>
            <a:r>
              <a:rPr lang="zh-CN" altLang="en-US" sz="2800" b="1" dirty="0">
                <a:latin typeface="黑体" panose="02010609060101010101" pitchFamily="49" charset="-122"/>
              </a:rPr>
              <a:t>，种群数量缓慢下。</a:t>
            </a:r>
          </a:p>
        </p:txBody>
      </p:sp>
      <p:pic>
        <p:nvPicPr>
          <p:cNvPr id="591877" name="Picture 5">
            <a:extLst>
              <a:ext uri="{FF2B5EF4-FFF2-40B4-BE49-F238E27FC236}">
                <a16:creationId xmlns:a16="http://schemas.microsoft.com/office/drawing/2014/main" id="{A8703CAB-3BEA-3B92-437A-02DF7F57BB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4221163"/>
            <a:ext cx="5865812" cy="2227262"/>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D2FFEDA9-E02D-243B-8F38-80459FDD69ED}"/>
              </a:ext>
            </a:extLst>
          </p:cNvPr>
          <p:cNvSpPr txBox="1"/>
          <p:nvPr/>
        </p:nvSpPr>
        <p:spPr>
          <a:xfrm>
            <a:off x="3697883" y="1484784"/>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BC</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9379" name="Rectangle 3">
            <a:extLst>
              <a:ext uri="{FF2B5EF4-FFF2-40B4-BE49-F238E27FC236}">
                <a16:creationId xmlns:a16="http://schemas.microsoft.com/office/drawing/2014/main" id="{BEED98AA-B71A-D65B-F46C-F13BF7EC500B}"/>
              </a:ext>
            </a:extLst>
          </p:cNvPr>
          <p:cNvSpPr>
            <a:spLocks noGrp="1"/>
          </p:cNvSpPr>
          <p:nvPr>
            <p:ph type="body" idx="1"/>
          </p:nvPr>
        </p:nvSpPr>
        <p:spPr>
          <a:xfrm>
            <a:off x="323850" y="260350"/>
            <a:ext cx="8589963" cy="2663825"/>
          </a:xfrm>
        </p:spPr>
        <p:txBody>
          <a:bodyPr/>
          <a:lstStyle/>
          <a:p>
            <a:pPr marL="0" indent="0" eaLnBrk="1" hangingPunct="1">
              <a:buNone/>
            </a:pPr>
            <a:r>
              <a:rPr lang="en-US" altLang="zh-CN" sz="2800" b="1" dirty="0">
                <a:latin typeface="黑体" panose="02010609060101010101" pitchFamily="49" charset="-122"/>
              </a:rPr>
              <a:t>16.</a:t>
            </a:r>
            <a:r>
              <a:rPr lang="zh-CN" altLang="en-US" sz="2800" b="1" dirty="0">
                <a:latin typeface="黑体" panose="02010609060101010101" pitchFamily="49" charset="-122"/>
              </a:rPr>
              <a:t>下图是一个种群密度和捕捞量示意图，据此图，下列选项中正确的是：</a:t>
            </a:r>
          </a:p>
          <a:p>
            <a:pPr marL="0" indent="0" eaLnBrk="1" hangingPunct="1">
              <a:buNone/>
            </a:pPr>
            <a:r>
              <a:rPr lang="en-US" altLang="zh-CN" sz="2800" b="1" dirty="0">
                <a:latin typeface="黑体" panose="02010609060101010101" pitchFamily="49" charset="-122"/>
              </a:rPr>
              <a:t>A.4</a:t>
            </a:r>
            <a:r>
              <a:rPr lang="zh-CN" altLang="en-US" sz="2800" b="1" dirty="0">
                <a:latin typeface="黑体" panose="02010609060101010101" pitchFamily="49" charset="-122"/>
              </a:rPr>
              <a:t>线的捕捞量能保证种群得到最大补充量；</a:t>
            </a:r>
          </a:p>
          <a:p>
            <a:pPr marL="0" indent="0" eaLnBrk="1" hangingPunct="1">
              <a:buNone/>
            </a:pPr>
            <a:r>
              <a:rPr lang="en-US" altLang="zh-CN" sz="2800" b="1" dirty="0">
                <a:latin typeface="黑体" panose="02010609060101010101" pitchFamily="49" charset="-122"/>
              </a:rPr>
              <a:t>B.3</a:t>
            </a:r>
            <a:r>
              <a:rPr lang="zh-CN" altLang="en-US" sz="2800" b="1" dirty="0">
                <a:latin typeface="黑体" panose="02010609060101010101" pitchFamily="49" charset="-122"/>
              </a:rPr>
              <a:t>线的捕捞量最符合人类的利益；</a:t>
            </a:r>
          </a:p>
          <a:p>
            <a:pPr marL="0" indent="0" eaLnBrk="1" hangingPunct="1">
              <a:buNone/>
            </a:pPr>
            <a:r>
              <a:rPr lang="en-US" altLang="zh-CN" sz="2800" b="1" dirty="0">
                <a:latin typeface="黑体" panose="02010609060101010101" pitchFamily="49" charset="-122"/>
              </a:rPr>
              <a:t>C.2</a:t>
            </a:r>
            <a:r>
              <a:rPr lang="zh-CN" altLang="en-US" sz="2800" b="1" dirty="0">
                <a:latin typeface="黑体" panose="02010609060101010101" pitchFamily="49" charset="-122"/>
              </a:rPr>
              <a:t>线的捕捞量最符合人类的利益；</a:t>
            </a:r>
          </a:p>
          <a:p>
            <a:pPr marL="0" indent="0" eaLnBrk="1" hangingPunct="1">
              <a:buNone/>
            </a:pPr>
            <a:r>
              <a:rPr lang="en-US" altLang="zh-CN" sz="2800" b="1" dirty="0">
                <a:latin typeface="黑体" panose="02010609060101010101" pitchFamily="49" charset="-122"/>
              </a:rPr>
              <a:t>D.1</a:t>
            </a:r>
            <a:r>
              <a:rPr lang="zh-CN" altLang="en-US" sz="2800" b="1" dirty="0">
                <a:latin typeface="黑体" panose="02010609060101010101" pitchFamily="49" charset="-122"/>
              </a:rPr>
              <a:t>线的捕捞量可能会导致种群的衰退甚至灭绝。</a:t>
            </a:r>
          </a:p>
        </p:txBody>
      </p:sp>
      <p:pic>
        <p:nvPicPr>
          <p:cNvPr id="869380" name="Picture 4">
            <a:extLst>
              <a:ext uri="{FF2B5EF4-FFF2-40B4-BE49-F238E27FC236}">
                <a16:creationId xmlns:a16="http://schemas.microsoft.com/office/drawing/2014/main" id="{0342DE74-101D-28E4-F558-4D9481487A5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3213100"/>
            <a:ext cx="4767262" cy="3359150"/>
          </a:xfrm>
          <a:prstGeom prst="rect">
            <a:avLst/>
          </a:prstGeom>
          <a:noFill/>
          <a:extLst>
            <a:ext uri="{909E8E84-426E-40DD-AFC4-6F175D3DCCD1}">
              <a14:hiddenFill xmlns:a14="http://schemas.microsoft.com/office/drawing/2010/main">
                <a:solidFill>
                  <a:srgbClr val="FFFFFF"/>
                </a:solidFill>
              </a14:hiddenFill>
            </a:ext>
          </a:extLst>
        </p:spPr>
      </p:pic>
      <p:sp>
        <p:nvSpPr>
          <p:cNvPr id="2" name="文本框 1">
            <a:extLst>
              <a:ext uri="{FF2B5EF4-FFF2-40B4-BE49-F238E27FC236}">
                <a16:creationId xmlns:a16="http://schemas.microsoft.com/office/drawing/2014/main" id="{70568C4C-CF57-FBBB-3D1E-CBE434EDC9F4}"/>
              </a:ext>
            </a:extLst>
          </p:cNvPr>
          <p:cNvSpPr txBox="1"/>
          <p:nvPr/>
        </p:nvSpPr>
        <p:spPr>
          <a:xfrm>
            <a:off x="3779912" y="692696"/>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BD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50244" name="Picture 4">
            <a:extLst>
              <a:ext uri="{FF2B5EF4-FFF2-40B4-BE49-F238E27FC236}">
                <a16:creationId xmlns:a16="http://schemas.microsoft.com/office/drawing/2014/main" id="{E132BB9E-65F7-8E69-8B25-55AED43B3351}"/>
              </a:ext>
            </a:extLst>
          </p:cNvPr>
          <p:cNvPicPr>
            <a:picLocks noGrp="1" noChangeAspect="1" noChangeArrowheads="1"/>
          </p:cNvPicPr>
          <p:nvPr>
            <p:ph type="body" idx="1"/>
          </p:nvPr>
        </p:nvPicPr>
        <p:blipFill rotWithShape="1">
          <a:blip r:embed="rId2">
            <a:extLst>
              <a:ext uri="{28A0092B-C50C-407E-A947-70E740481C1C}">
                <a14:useLocalDpi xmlns:a14="http://schemas.microsoft.com/office/drawing/2010/main" val="0"/>
              </a:ext>
            </a:extLst>
          </a:blip>
          <a:srcRect b="41671"/>
          <a:stretch>
            <a:fillRect/>
          </a:stretch>
        </p:blipFill>
        <p:spPr>
          <a:xfrm>
            <a:off x="467544" y="34631"/>
            <a:ext cx="8424862" cy="3610393"/>
          </a:xfrm>
        </p:spPr>
      </p:pic>
      <p:sp>
        <p:nvSpPr>
          <p:cNvPr id="650245" name="Text Box 5">
            <a:extLst>
              <a:ext uri="{FF2B5EF4-FFF2-40B4-BE49-F238E27FC236}">
                <a16:creationId xmlns:a16="http://schemas.microsoft.com/office/drawing/2014/main" id="{FB7C8DC3-C120-EE3B-937C-0C698BA95F95}"/>
              </a:ext>
            </a:extLst>
          </p:cNvPr>
          <p:cNvSpPr txBox="1">
            <a:spLocks noChangeArrowheads="1"/>
          </p:cNvSpPr>
          <p:nvPr/>
        </p:nvSpPr>
        <p:spPr bwMode="auto">
          <a:xfrm>
            <a:off x="251595" y="6165850"/>
            <a:ext cx="3297237"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zh-CN" sz="2400" b="1" dirty="0">
                <a:solidFill>
                  <a:srgbClr val="CC0000"/>
                </a:solidFill>
                <a:latin typeface="黑体" panose="02010609060101010101" pitchFamily="49" charset="-122"/>
                <a:ea typeface="黑体" panose="02010609060101010101" pitchFamily="49" charset="-122"/>
              </a:rPr>
              <a:t>2017</a:t>
            </a:r>
            <a:r>
              <a:rPr lang="zh-CN" altLang="en-US" sz="2400" b="1" dirty="0">
                <a:solidFill>
                  <a:srgbClr val="CC0000"/>
                </a:solidFill>
                <a:latin typeface="黑体" panose="02010609060101010101" pitchFamily="49" charset="-122"/>
                <a:ea typeface="黑体" panose="02010609060101010101" pitchFamily="49" charset="-122"/>
              </a:rPr>
              <a:t>全国联赛试题</a:t>
            </a:r>
          </a:p>
        </p:txBody>
      </p:sp>
      <p:sp>
        <p:nvSpPr>
          <p:cNvPr id="3" name="文本框 2">
            <a:extLst>
              <a:ext uri="{FF2B5EF4-FFF2-40B4-BE49-F238E27FC236}">
                <a16:creationId xmlns:a16="http://schemas.microsoft.com/office/drawing/2014/main" id="{6F2AE4C2-9A3B-2876-23D6-B752F576D795}"/>
              </a:ext>
            </a:extLst>
          </p:cNvPr>
          <p:cNvSpPr txBox="1"/>
          <p:nvPr/>
        </p:nvSpPr>
        <p:spPr>
          <a:xfrm>
            <a:off x="227144" y="3645024"/>
            <a:ext cx="8665261" cy="2677656"/>
          </a:xfrm>
          <a:prstGeom prst="rect">
            <a:avLst/>
          </a:prstGeom>
          <a:noFill/>
        </p:spPr>
        <p:txBody>
          <a:bodyPr wrap="square">
            <a:spAutoFit/>
          </a:bodyPr>
          <a:lstStyle/>
          <a:p>
            <a:r>
              <a:rPr lang="zh-CN" altLang="en-US" dirty="0"/>
              <a:t>A. 从预测人口数随时间变动关系看该应是 logistic 增长模型</a:t>
            </a:r>
          </a:p>
          <a:p>
            <a:r>
              <a:rPr lang="zh-CN" altLang="en-US" dirty="0"/>
              <a:t>B. 模型预测值与实际人口数间的缺口递增趋势暗示该模型是指数增长模型</a:t>
            </a:r>
          </a:p>
          <a:p>
            <a:r>
              <a:rPr lang="zh-CN" altLang="en-US" dirty="0"/>
              <a:t>C. 模型预测值与实际人口数间的缺口递增趋势表明计划生育有正反馈效应</a:t>
            </a:r>
          </a:p>
          <a:p>
            <a:r>
              <a:rPr lang="zh-CN" altLang="en-US" dirty="0"/>
              <a:t>D. 模型预测值和实际人口数间的缺口过大说明模型选择不当、预测精度不高</a:t>
            </a:r>
          </a:p>
        </p:txBody>
      </p:sp>
      <p:sp>
        <p:nvSpPr>
          <p:cNvPr id="4" name="文本框 3">
            <a:extLst>
              <a:ext uri="{FF2B5EF4-FFF2-40B4-BE49-F238E27FC236}">
                <a16:creationId xmlns:a16="http://schemas.microsoft.com/office/drawing/2014/main" id="{E7983725-AE04-ADF2-F206-57D63F46525F}"/>
              </a:ext>
            </a:extLst>
          </p:cNvPr>
          <p:cNvSpPr txBox="1"/>
          <p:nvPr/>
        </p:nvSpPr>
        <p:spPr>
          <a:xfrm>
            <a:off x="4211960" y="404664"/>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AC</a:t>
            </a:r>
            <a:endParaRPr lang="zh-CN" altLang="en-US" sz="2800" dirty="0"/>
          </a:p>
        </p:txBody>
      </p:sp>
      <p:sp>
        <p:nvSpPr>
          <p:cNvPr id="5" name="文本框 4">
            <a:extLst>
              <a:ext uri="{FF2B5EF4-FFF2-40B4-BE49-F238E27FC236}">
                <a16:creationId xmlns:a16="http://schemas.microsoft.com/office/drawing/2014/main" id="{22B59FC0-0586-DE47-EE66-71C9D6B2EBD0}"/>
              </a:ext>
            </a:extLst>
          </p:cNvPr>
          <p:cNvSpPr txBox="1"/>
          <p:nvPr/>
        </p:nvSpPr>
        <p:spPr>
          <a:xfrm>
            <a:off x="98450" y="48115"/>
            <a:ext cx="1133872" cy="523220"/>
          </a:xfrm>
          <a:prstGeom prst="rect">
            <a:avLst/>
          </a:prstGeom>
          <a:noFill/>
        </p:spPr>
        <p:txBody>
          <a:bodyPr wrap="square">
            <a:spAutoFit/>
          </a:bodyPr>
          <a:lstStyle/>
          <a:p>
            <a:r>
              <a:rPr lang="en-US" altLang="zh-CN" sz="2800" b="1" dirty="0">
                <a:latin typeface="黑体" panose="02010609060101010101" pitchFamily="49" charset="-122"/>
              </a:rPr>
              <a:t>17</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65284" name="Picture 4">
            <a:extLst>
              <a:ext uri="{FF2B5EF4-FFF2-40B4-BE49-F238E27FC236}">
                <a16:creationId xmlns:a16="http://schemas.microsoft.com/office/drawing/2014/main" id="{44919365-024E-ACFF-4D44-71B3879A95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 y="549275"/>
            <a:ext cx="8953500" cy="4314825"/>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BCFD4592-CED7-F28F-0309-63C861E9AFD7}"/>
              </a:ext>
            </a:extLst>
          </p:cNvPr>
          <p:cNvSpPr txBox="1"/>
          <p:nvPr/>
        </p:nvSpPr>
        <p:spPr>
          <a:xfrm>
            <a:off x="539552" y="1772816"/>
            <a:ext cx="6336704" cy="1584176"/>
          </a:xfrm>
          <a:prstGeom prst="rect">
            <a:avLst/>
          </a:prstGeom>
          <a:solidFill>
            <a:schemeClr val="bg1"/>
          </a:solidFill>
          <a:ln>
            <a:solidFill>
              <a:schemeClr val="bg1"/>
            </a:solidFill>
          </a:ln>
        </p:spPr>
        <p:txBody>
          <a:bodyPr wrap="square">
            <a:spAutoFit/>
          </a:bodyPr>
          <a:lstStyle/>
          <a:p>
            <a:r>
              <a:rPr lang="zh-CN" altLang="en-US" dirty="0"/>
              <a:t>A. 种群所在的环境无食物和和空间的限制；</a:t>
            </a:r>
          </a:p>
          <a:p>
            <a:r>
              <a:rPr lang="zh-CN" altLang="en-US" dirty="0"/>
              <a:t>B. 种群存在内禀增长率；</a:t>
            </a:r>
          </a:p>
          <a:p>
            <a:r>
              <a:rPr lang="zh-CN" altLang="en-US" dirty="0"/>
              <a:t>C. 种群增长符合方程dN/dt=rN(1-N/K)；</a:t>
            </a:r>
          </a:p>
          <a:p>
            <a:r>
              <a:rPr lang="zh-CN" altLang="en-US" dirty="0"/>
              <a:t>D. 此物种属于r对策物种。</a:t>
            </a:r>
          </a:p>
        </p:txBody>
      </p:sp>
      <p:sp>
        <p:nvSpPr>
          <p:cNvPr id="4" name="文本框 3">
            <a:extLst>
              <a:ext uri="{FF2B5EF4-FFF2-40B4-BE49-F238E27FC236}">
                <a16:creationId xmlns:a16="http://schemas.microsoft.com/office/drawing/2014/main" id="{4FD35125-285A-CBF1-293C-50E93A4F851A}"/>
              </a:ext>
            </a:extLst>
          </p:cNvPr>
          <p:cNvSpPr txBox="1"/>
          <p:nvPr/>
        </p:nvSpPr>
        <p:spPr>
          <a:xfrm>
            <a:off x="26203" y="764704"/>
            <a:ext cx="1133872" cy="523220"/>
          </a:xfrm>
          <a:prstGeom prst="rect">
            <a:avLst/>
          </a:prstGeom>
          <a:noFill/>
        </p:spPr>
        <p:txBody>
          <a:bodyPr wrap="square">
            <a:spAutoFit/>
          </a:bodyPr>
          <a:lstStyle/>
          <a:p>
            <a:r>
              <a:rPr lang="en-US" altLang="zh-CN" sz="2800" b="1" dirty="0">
                <a:latin typeface="黑体" panose="02010609060101010101" pitchFamily="49" charset="-122"/>
              </a:rPr>
              <a:t>18</a:t>
            </a:r>
            <a:endParaRPr lang="zh-CN" altLang="en-US" sz="2800" dirty="0"/>
          </a:p>
        </p:txBody>
      </p:sp>
      <p:sp>
        <p:nvSpPr>
          <p:cNvPr id="5" name="文本框 4">
            <a:extLst>
              <a:ext uri="{FF2B5EF4-FFF2-40B4-BE49-F238E27FC236}">
                <a16:creationId xmlns:a16="http://schemas.microsoft.com/office/drawing/2014/main" id="{55FC4EC0-91D4-B753-876E-FAF420C18A4B}"/>
              </a:ext>
            </a:extLst>
          </p:cNvPr>
          <p:cNvSpPr txBox="1"/>
          <p:nvPr/>
        </p:nvSpPr>
        <p:spPr>
          <a:xfrm>
            <a:off x="1979712" y="1249596"/>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385" name="Text Box 2">
            <a:extLst>
              <a:ext uri="{FF2B5EF4-FFF2-40B4-BE49-F238E27FC236}">
                <a16:creationId xmlns:a16="http://schemas.microsoft.com/office/drawing/2014/main" id="{636F31DD-8BD4-F8C5-246E-686A5CAEAFAD}"/>
              </a:ext>
            </a:extLst>
          </p:cNvPr>
          <p:cNvSpPr txBox="1">
            <a:spLocks noChangeArrowheads="1"/>
          </p:cNvSpPr>
          <p:nvPr/>
        </p:nvSpPr>
        <p:spPr bwMode="auto">
          <a:xfrm>
            <a:off x="457200" y="332656"/>
            <a:ext cx="8153400" cy="424731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3200" b="1" dirty="0"/>
              <a:t>四、 自然种群的数量变动</a:t>
            </a:r>
            <a:endParaRPr lang="zh-CN" altLang="en-US" b="1" dirty="0"/>
          </a:p>
          <a:p>
            <a:pPr algn="just" eaLnBrk="1" hangingPunct="1">
              <a:spcBef>
                <a:spcPct val="50000"/>
              </a:spcBef>
            </a:pPr>
            <a:r>
              <a:rPr lang="zh-CN" altLang="en-US" sz="2800" b="1" dirty="0"/>
              <a:t>野外种群不可能长期地、连续地增长。只有在一种生物被引入或占据某些新栖息地后，才出现由少数个体开始而装满‘空’环境的种群增长。种群经过增长和建立后，既可出现不规则的或规则的（周期性的）波动，也可能较长期地保持相对稳定。许多种类有时会出现骤然的数量猛增，即大发生，随后又是大崩溃。有时种群数量会出现长时期的下降，称为衰落，甚至灭亡。</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7156" name="Picture 4">
            <a:extLst>
              <a:ext uri="{FF2B5EF4-FFF2-40B4-BE49-F238E27FC236}">
                <a16:creationId xmlns:a16="http://schemas.microsoft.com/office/drawing/2014/main" id="{2AC35396-B25F-F7B8-0CA4-E0960B67A3F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850" y="188640"/>
            <a:ext cx="8820150" cy="5908675"/>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9" name="Rectangle 3">
            <a:extLst>
              <a:ext uri="{FF2B5EF4-FFF2-40B4-BE49-F238E27FC236}">
                <a16:creationId xmlns:a16="http://schemas.microsoft.com/office/drawing/2014/main" id="{83081BA9-BDB2-3AEC-2D5C-52BD91BEB30D}"/>
              </a:ext>
            </a:extLst>
          </p:cNvPr>
          <p:cNvSpPr>
            <a:spLocks noGrp="1"/>
          </p:cNvSpPr>
          <p:nvPr>
            <p:ph type="body" idx="1"/>
          </p:nvPr>
        </p:nvSpPr>
        <p:spPr>
          <a:xfrm>
            <a:off x="282352" y="116632"/>
            <a:ext cx="8579296" cy="6119812"/>
          </a:xfrm>
        </p:spPr>
        <p:txBody>
          <a:bodyPr/>
          <a:lstStyle/>
          <a:p>
            <a:pPr marL="0" indent="0" eaLnBrk="1" hangingPunct="1">
              <a:lnSpc>
                <a:spcPct val="95000"/>
              </a:lnSpc>
              <a:buNone/>
            </a:pPr>
            <a:r>
              <a:rPr lang="en-US" altLang="zh-CN" sz="2800" b="1" dirty="0">
                <a:latin typeface="黑体" panose="02010609060101010101" pitchFamily="49" charset="-122"/>
              </a:rPr>
              <a:t>19.</a:t>
            </a:r>
            <a:r>
              <a:rPr lang="zh-CN" altLang="en-US" sz="2800" b="1" dirty="0">
                <a:latin typeface="黑体" panose="02010609060101010101" pitchFamily="49" charset="-122"/>
              </a:rPr>
              <a:t>对芬兰的田鼠的捕食者研究显示，小型鼬类是田鼠的专性捕食者，而狐、普通鵟等也捕食田鼠，但它们的食谱更为广泛。两类捕食者都对田鼠种群数量具有调节作用。芬兰北部小型鼬类分布更多，而芬兰南部则以狐、普通鵟等捕食者为主。根据物种间相互作用对种群数量调节的机制，预测以下哪一说法符合田鼠种群波动规律</a:t>
            </a:r>
          </a:p>
          <a:p>
            <a:pPr marL="0" indent="0" eaLnBrk="1" hangingPunct="1">
              <a:lnSpc>
                <a:spcPct val="95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A .</a:t>
            </a:r>
            <a:r>
              <a:rPr lang="zh-CN" altLang="en-US" sz="2800" b="1" dirty="0">
                <a:latin typeface="黑体" panose="02010609060101010101" pitchFamily="49" charset="-122"/>
              </a:rPr>
              <a:t>北部地区田鼠种群波动幅度比南部地区更为剧烈；</a:t>
            </a:r>
          </a:p>
          <a:p>
            <a:pPr marL="0" indent="0" eaLnBrk="1" hangingPunct="1">
              <a:lnSpc>
                <a:spcPct val="95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B .</a:t>
            </a:r>
            <a:r>
              <a:rPr lang="zh-CN" altLang="en-US" sz="2800" b="1" dirty="0">
                <a:latin typeface="黑体" panose="02010609060101010101" pitchFamily="49" charset="-122"/>
              </a:rPr>
              <a:t>南部地区田鼠种群波动幅度比北部地区更为剧烈；</a:t>
            </a:r>
          </a:p>
          <a:p>
            <a:pPr marL="0" indent="0" eaLnBrk="1" hangingPunct="1">
              <a:lnSpc>
                <a:spcPct val="95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C .</a:t>
            </a:r>
            <a:r>
              <a:rPr lang="zh-CN" altLang="en-US" sz="2800" b="1" dirty="0">
                <a:latin typeface="黑体" panose="02010609060101010101" pitchFamily="49" charset="-122"/>
              </a:rPr>
              <a:t>北部地区和南部地区的田鼠种群都保持稳定不变；</a:t>
            </a:r>
          </a:p>
          <a:p>
            <a:pPr marL="0" indent="0" eaLnBrk="1" hangingPunct="1">
              <a:lnSpc>
                <a:spcPct val="95000"/>
              </a:lnSpc>
              <a:buNone/>
            </a:pPr>
            <a:r>
              <a:rPr lang="zh-CN" altLang="en-US" sz="2800" b="1" dirty="0">
                <a:latin typeface="黑体" panose="02010609060101010101" pitchFamily="49" charset="-122"/>
              </a:rPr>
              <a:t> </a:t>
            </a:r>
            <a:r>
              <a:rPr lang="en-US" altLang="zh-CN" sz="2800" b="1" dirty="0">
                <a:latin typeface="黑体" panose="02010609060101010101" pitchFamily="49" charset="-122"/>
              </a:rPr>
              <a:t>D .</a:t>
            </a:r>
            <a:r>
              <a:rPr lang="zh-CN" altLang="en-US" sz="2800" b="1" dirty="0">
                <a:latin typeface="黑体" panose="02010609060101010101" pitchFamily="49" charset="-122"/>
              </a:rPr>
              <a:t>北部地区和南部地区的田鼠种群都有同等程度的剧烈波动。</a:t>
            </a:r>
          </a:p>
          <a:p>
            <a:pPr>
              <a:lnSpc>
                <a:spcPct val="80000"/>
              </a:lnSpc>
            </a:pPr>
            <a:r>
              <a:rPr lang="zh-CN" altLang="en-US" sz="2400" b="1" dirty="0">
                <a:solidFill>
                  <a:srgbClr val="CC0000"/>
                </a:solidFill>
                <a:latin typeface="黑体" panose="02010609060101010101" pitchFamily="49" charset="-122"/>
              </a:rPr>
              <a:t>（</a:t>
            </a:r>
            <a:r>
              <a:rPr lang="en-US" altLang="zh-CN" sz="2400" b="1" dirty="0">
                <a:solidFill>
                  <a:srgbClr val="CC0000"/>
                </a:solidFill>
                <a:latin typeface="黑体" panose="02010609060101010101" pitchFamily="49" charset="-122"/>
              </a:rPr>
              <a:t>2016</a:t>
            </a:r>
            <a:r>
              <a:rPr lang="zh-CN" altLang="en-US" sz="2400" b="1" dirty="0">
                <a:solidFill>
                  <a:srgbClr val="CC0000"/>
                </a:solidFill>
                <a:latin typeface="黑体" panose="02010609060101010101" pitchFamily="49" charset="-122"/>
              </a:rPr>
              <a:t>年全国联赛试题）</a:t>
            </a:r>
          </a:p>
        </p:txBody>
      </p:sp>
      <p:sp>
        <p:nvSpPr>
          <p:cNvPr id="3" name="文本框 2">
            <a:extLst>
              <a:ext uri="{FF2B5EF4-FFF2-40B4-BE49-F238E27FC236}">
                <a16:creationId xmlns:a16="http://schemas.microsoft.com/office/drawing/2014/main" id="{4C982FD0-6CA0-60CD-0ECC-7590F8F9749A}"/>
              </a:ext>
            </a:extLst>
          </p:cNvPr>
          <p:cNvSpPr txBox="1"/>
          <p:nvPr/>
        </p:nvSpPr>
        <p:spPr>
          <a:xfrm>
            <a:off x="755576" y="5733256"/>
            <a:ext cx="7632848" cy="738664"/>
          </a:xfrm>
          <a:prstGeom prst="rect">
            <a:avLst/>
          </a:prstGeom>
          <a:noFill/>
        </p:spPr>
        <p:txBody>
          <a:bodyPr wrap="square">
            <a:spAutoFit/>
          </a:bodyPr>
          <a:lstStyle/>
          <a:p>
            <a:pPr>
              <a:lnSpc>
                <a:spcPct val="95000"/>
              </a:lnSpc>
            </a:pPr>
            <a:r>
              <a:rPr lang="zh-CN" altLang="en-US" sz="2400" b="1" dirty="0">
                <a:solidFill>
                  <a:srgbClr val="CC0000"/>
                </a:solidFill>
                <a:latin typeface="黑体" panose="02010609060101010101" pitchFamily="49" charset="-122"/>
              </a:rPr>
              <a:t>北部　小型鼬类为主　专性捕食田鼠</a:t>
            </a:r>
          </a:p>
          <a:p>
            <a:pPr>
              <a:lnSpc>
                <a:spcPct val="80000"/>
              </a:lnSpc>
            </a:pPr>
            <a:r>
              <a:rPr lang="zh-CN" altLang="en-US" sz="2400" b="1" dirty="0">
                <a:solidFill>
                  <a:srgbClr val="CC0000"/>
                </a:solidFill>
                <a:latin typeface="黑体" panose="02010609060101010101" pitchFamily="49" charset="-122"/>
              </a:rPr>
              <a:t>南部　狐和普通鵟为主　也捕食田鼠，但食谱更广</a:t>
            </a:r>
          </a:p>
        </p:txBody>
      </p:sp>
      <p:sp>
        <p:nvSpPr>
          <p:cNvPr id="4" name="文本框 3">
            <a:extLst>
              <a:ext uri="{FF2B5EF4-FFF2-40B4-BE49-F238E27FC236}">
                <a16:creationId xmlns:a16="http://schemas.microsoft.com/office/drawing/2014/main" id="{8F4F5816-FBD9-E724-867A-FB165A29C074}"/>
              </a:ext>
            </a:extLst>
          </p:cNvPr>
          <p:cNvSpPr txBox="1"/>
          <p:nvPr/>
        </p:nvSpPr>
        <p:spPr>
          <a:xfrm>
            <a:off x="3275856" y="2594286"/>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5108" name="Picture 4">
            <a:extLst>
              <a:ext uri="{FF2B5EF4-FFF2-40B4-BE49-F238E27FC236}">
                <a16:creationId xmlns:a16="http://schemas.microsoft.com/office/drawing/2014/main" id="{E3EEBA56-BE83-5DFA-D89F-166F0BAF778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388" y="3213100"/>
            <a:ext cx="3762375" cy="3324225"/>
          </a:xfrm>
          <a:prstGeom prst="rect">
            <a:avLst/>
          </a:prstGeom>
          <a:noFill/>
          <a:extLst>
            <a:ext uri="{909E8E84-426E-40DD-AFC4-6F175D3DCCD1}">
              <a14:hiddenFill xmlns:a14="http://schemas.microsoft.com/office/drawing/2010/main">
                <a:solidFill>
                  <a:srgbClr val="FFFFFF"/>
                </a:solidFill>
              </a14:hiddenFill>
            </a:ext>
          </a:extLst>
        </p:spPr>
      </p:pic>
      <p:sp>
        <p:nvSpPr>
          <p:cNvPr id="175110" name="Text Box 6">
            <a:extLst>
              <a:ext uri="{FF2B5EF4-FFF2-40B4-BE49-F238E27FC236}">
                <a16:creationId xmlns:a16="http://schemas.microsoft.com/office/drawing/2014/main" id="{5FA9A47A-1E5F-36A4-EAD2-3154B1B04131}"/>
              </a:ext>
            </a:extLst>
          </p:cNvPr>
          <p:cNvSpPr txBox="1">
            <a:spLocks noChangeArrowheads="1"/>
          </p:cNvSpPr>
          <p:nvPr/>
        </p:nvSpPr>
        <p:spPr bwMode="auto">
          <a:xfrm>
            <a:off x="249238" y="322383"/>
            <a:ext cx="8894762" cy="29731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eaLnBrk="1" hangingPunct="1">
              <a:spcBef>
                <a:spcPct val="20000"/>
              </a:spcBef>
            </a:pPr>
            <a:r>
              <a:rPr lang="en-US" altLang="zh-CN" b="1" dirty="0">
                <a:latin typeface="黑体" panose="02010609060101010101" pitchFamily="49" charset="-122"/>
                <a:ea typeface="+mn-ea"/>
              </a:rPr>
              <a:t>20.</a:t>
            </a:r>
            <a:r>
              <a:rPr lang="zh-CN" altLang="en-US" b="1" dirty="0">
                <a:latin typeface="黑体" panose="02010609060101010101" pitchFamily="49" charset="-122"/>
                <a:ea typeface="+mn-ea"/>
              </a:rPr>
              <a:t>下图是</a:t>
            </a:r>
            <a:r>
              <a:rPr lang="en-US" altLang="zh-CN" b="1" dirty="0">
                <a:latin typeface="黑体" panose="02010609060101010101" pitchFamily="49" charset="-122"/>
                <a:ea typeface="+mn-ea"/>
              </a:rPr>
              <a:t>2</a:t>
            </a:r>
            <a:r>
              <a:rPr lang="zh-CN" altLang="en-US" b="1" dirty="0">
                <a:latin typeface="黑体" panose="02010609060101010101" pitchFamily="49" charset="-122"/>
                <a:ea typeface="+mn-ea"/>
              </a:rPr>
              <a:t>种昆虫种群数量周期性波动情况，左图纵轴是这</a:t>
            </a:r>
            <a:r>
              <a:rPr lang="en-US" altLang="zh-CN" b="1" dirty="0">
                <a:latin typeface="黑体" panose="02010609060101010101" pitchFamily="49" charset="-122"/>
                <a:ea typeface="+mn-ea"/>
              </a:rPr>
              <a:t>2</a:t>
            </a:r>
            <a:r>
              <a:rPr lang="zh-CN" altLang="en-US" b="1" dirty="0">
                <a:latin typeface="黑体" panose="02010609060101010101" pitchFamily="49" charset="-122"/>
                <a:ea typeface="+mn-ea"/>
              </a:rPr>
              <a:t>种昆虫的种群密度，右图是同一种昆虫在不同情况下增长率的变化情况。根据该图，下述叙述错误的是：</a:t>
            </a:r>
          </a:p>
          <a:p>
            <a:pPr eaLnBrk="1" hangingPunct="1">
              <a:spcBef>
                <a:spcPct val="20000"/>
              </a:spcBef>
            </a:pPr>
            <a:r>
              <a:rPr lang="en-US" altLang="zh-CN" b="1" dirty="0">
                <a:latin typeface="黑体" panose="02010609060101010101" pitchFamily="49" charset="-122"/>
                <a:ea typeface="+mn-ea"/>
              </a:rPr>
              <a:t>A.</a:t>
            </a:r>
            <a:r>
              <a:rPr lang="zh-CN" altLang="en-US" b="1" dirty="0">
                <a:latin typeface="黑体" panose="02010609060101010101" pitchFamily="49" charset="-122"/>
                <a:ea typeface="+mn-ea"/>
              </a:rPr>
              <a:t>左图的</a:t>
            </a:r>
            <a:r>
              <a:rPr lang="en-US" altLang="zh-CN" b="1" dirty="0">
                <a:latin typeface="黑体" panose="02010609060101010101" pitchFamily="49" charset="-122"/>
                <a:ea typeface="+mn-ea"/>
              </a:rPr>
              <a:t>2</a:t>
            </a:r>
            <a:r>
              <a:rPr lang="zh-CN" altLang="en-US" b="1" dirty="0">
                <a:latin typeface="黑体" panose="02010609060101010101" pitchFamily="49" charset="-122"/>
                <a:ea typeface="+mn-ea"/>
              </a:rPr>
              <a:t>种昆虫是一种捕食者和猎物的关系；</a:t>
            </a:r>
          </a:p>
          <a:p>
            <a:pPr eaLnBrk="1" hangingPunct="1">
              <a:spcBef>
                <a:spcPct val="20000"/>
              </a:spcBef>
            </a:pPr>
            <a:r>
              <a:rPr lang="en-US" altLang="zh-CN" b="1" dirty="0">
                <a:latin typeface="黑体" panose="02010609060101010101" pitchFamily="49" charset="-122"/>
                <a:ea typeface="+mn-ea"/>
              </a:rPr>
              <a:t>B.</a:t>
            </a:r>
            <a:r>
              <a:rPr lang="zh-CN" altLang="en-US" b="1" dirty="0">
                <a:latin typeface="黑体" panose="02010609060101010101" pitchFamily="49" charset="-122"/>
                <a:ea typeface="+mn-ea"/>
              </a:rPr>
              <a:t>右图曲线</a:t>
            </a:r>
            <a:r>
              <a:rPr lang="en-US" altLang="zh-CN" b="1" dirty="0">
                <a:latin typeface="黑体" panose="02010609060101010101" pitchFamily="49" charset="-122"/>
                <a:ea typeface="+mn-ea"/>
              </a:rPr>
              <a:t>1</a:t>
            </a:r>
            <a:r>
              <a:rPr lang="zh-CN" altLang="en-US" b="1" dirty="0">
                <a:latin typeface="黑体" panose="02010609060101010101" pitchFamily="49" charset="-122"/>
                <a:ea typeface="+mn-ea"/>
              </a:rPr>
              <a:t>是一种昆虫在去掉另一种昆虫后的增长率；</a:t>
            </a:r>
          </a:p>
          <a:p>
            <a:pPr eaLnBrk="1" hangingPunct="1">
              <a:spcBef>
                <a:spcPct val="20000"/>
              </a:spcBef>
            </a:pPr>
            <a:r>
              <a:rPr lang="en-US" altLang="zh-CN" b="1" dirty="0">
                <a:latin typeface="黑体" panose="02010609060101010101" pitchFamily="49" charset="-122"/>
                <a:ea typeface="+mn-ea"/>
              </a:rPr>
              <a:t>C.</a:t>
            </a:r>
            <a:r>
              <a:rPr lang="zh-CN" altLang="en-US" b="1" dirty="0">
                <a:latin typeface="黑体" panose="02010609060101010101" pitchFamily="49" charset="-122"/>
                <a:ea typeface="+mn-ea"/>
              </a:rPr>
              <a:t>右图曲线</a:t>
            </a:r>
            <a:r>
              <a:rPr lang="en-US" altLang="zh-CN" b="1" dirty="0">
                <a:latin typeface="黑体" panose="02010609060101010101" pitchFamily="49" charset="-122"/>
                <a:ea typeface="+mn-ea"/>
              </a:rPr>
              <a:t>2</a:t>
            </a:r>
            <a:r>
              <a:rPr lang="zh-CN" altLang="en-US" b="1" dirty="0">
                <a:latin typeface="黑体" panose="02010609060101010101" pitchFamily="49" charset="-122"/>
                <a:ea typeface="+mn-ea"/>
              </a:rPr>
              <a:t>是一种昆虫在未去掉另一种昆虫时的增长率；</a:t>
            </a:r>
          </a:p>
          <a:p>
            <a:pPr eaLnBrk="1" hangingPunct="1">
              <a:spcBef>
                <a:spcPct val="20000"/>
              </a:spcBef>
            </a:pPr>
            <a:r>
              <a:rPr lang="en-US" altLang="zh-CN" b="1" dirty="0">
                <a:latin typeface="黑体" panose="02010609060101010101" pitchFamily="49" charset="-122"/>
                <a:ea typeface="+mn-ea"/>
              </a:rPr>
              <a:t>D.</a:t>
            </a:r>
            <a:r>
              <a:rPr lang="zh-CN" altLang="en-US" b="1" dirty="0">
                <a:latin typeface="黑体" panose="02010609060101010101" pitchFamily="49" charset="-122"/>
                <a:ea typeface="+mn-ea"/>
              </a:rPr>
              <a:t>右图曲线</a:t>
            </a:r>
            <a:r>
              <a:rPr lang="en-US" altLang="zh-CN" b="1" dirty="0">
                <a:latin typeface="黑体" panose="02010609060101010101" pitchFamily="49" charset="-122"/>
                <a:ea typeface="+mn-ea"/>
              </a:rPr>
              <a:t>1</a:t>
            </a:r>
            <a:r>
              <a:rPr lang="zh-CN" altLang="en-US" b="1" dirty="0">
                <a:latin typeface="黑体" panose="02010609060101010101" pitchFamily="49" charset="-122"/>
                <a:ea typeface="+mn-ea"/>
              </a:rPr>
              <a:t>和曲线</a:t>
            </a:r>
            <a:r>
              <a:rPr lang="en-US" altLang="zh-CN" b="1" dirty="0">
                <a:latin typeface="黑体" panose="02010609060101010101" pitchFamily="49" charset="-122"/>
                <a:ea typeface="+mn-ea"/>
              </a:rPr>
              <a:t>2</a:t>
            </a:r>
            <a:r>
              <a:rPr lang="zh-CN" altLang="en-US" b="1" dirty="0">
                <a:latin typeface="黑体" panose="02010609060101010101" pitchFamily="49" charset="-122"/>
                <a:ea typeface="+mn-ea"/>
              </a:rPr>
              <a:t>表明，两者的增长率有极显著的差异。</a:t>
            </a:r>
          </a:p>
        </p:txBody>
      </p:sp>
      <p:pic>
        <p:nvPicPr>
          <p:cNvPr id="175111" name="Picture 7">
            <a:extLst>
              <a:ext uri="{FF2B5EF4-FFF2-40B4-BE49-F238E27FC236}">
                <a16:creationId xmlns:a16="http://schemas.microsoft.com/office/drawing/2014/main" id="{5FAD4AD3-88EE-4376-E495-DEB20C8E1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67175" y="3284538"/>
            <a:ext cx="4752975" cy="3168650"/>
          </a:xfrm>
          <a:prstGeom prst="rect">
            <a:avLst/>
          </a:prstGeom>
          <a:noFill/>
          <a:extLst>
            <a:ext uri="{909E8E84-426E-40DD-AFC4-6F175D3DCCD1}">
              <a14:hiddenFill xmlns:a14="http://schemas.microsoft.com/office/drawing/2010/main">
                <a:solidFill>
                  <a:srgbClr val="FFFFFF"/>
                </a:solidFill>
              </a14:hiddenFill>
            </a:ext>
          </a:extLst>
        </p:spPr>
      </p:pic>
      <p:sp>
        <p:nvSpPr>
          <p:cNvPr id="3" name="文本框 2">
            <a:extLst>
              <a:ext uri="{FF2B5EF4-FFF2-40B4-BE49-F238E27FC236}">
                <a16:creationId xmlns:a16="http://schemas.microsoft.com/office/drawing/2014/main" id="{3D8FE460-DFE5-E417-69C5-BD0713A9FE05}"/>
              </a:ext>
            </a:extLst>
          </p:cNvPr>
          <p:cNvSpPr txBox="1"/>
          <p:nvPr/>
        </p:nvSpPr>
        <p:spPr>
          <a:xfrm>
            <a:off x="5876726" y="1018631"/>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3" name="Rectangle 3">
            <a:extLst>
              <a:ext uri="{FF2B5EF4-FFF2-40B4-BE49-F238E27FC236}">
                <a16:creationId xmlns:a16="http://schemas.microsoft.com/office/drawing/2014/main" id="{817FA7E5-D37E-07BE-6B7B-4BEB74ADB830}"/>
              </a:ext>
            </a:extLst>
          </p:cNvPr>
          <p:cNvSpPr>
            <a:spLocks noGrp="1"/>
          </p:cNvSpPr>
          <p:nvPr>
            <p:ph type="body" idx="1"/>
          </p:nvPr>
        </p:nvSpPr>
        <p:spPr>
          <a:xfrm>
            <a:off x="457200" y="981075"/>
            <a:ext cx="8229600" cy="5145088"/>
          </a:xfrm>
        </p:spPr>
        <p:txBody>
          <a:bodyPr/>
          <a:lstStyle/>
          <a:p>
            <a:pPr marL="0" indent="0">
              <a:buNone/>
            </a:pPr>
            <a:r>
              <a:rPr lang="en-US" altLang="zh-CN" sz="2800" b="1" dirty="0">
                <a:latin typeface="黑体" panose="02010609060101010101" pitchFamily="49" charset="-122"/>
              </a:rPr>
              <a:t>21.</a:t>
            </a:r>
            <a:r>
              <a:rPr lang="zh-CN" altLang="en-US" sz="2800" b="1" dirty="0">
                <a:latin typeface="黑体" panose="02010609060101010101" pitchFamily="49" charset="-122"/>
              </a:rPr>
              <a:t>太湖曾由于湖水污染，多次出现“水华”，从种群数量变动角度看是属于：</a:t>
            </a:r>
          </a:p>
          <a:p>
            <a:r>
              <a:rPr lang="en-US" altLang="zh-CN" sz="2800" b="1" dirty="0">
                <a:latin typeface="黑体" panose="02010609060101010101" pitchFamily="49" charset="-122"/>
              </a:rPr>
              <a:t>A.</a:t>
            </a:r>
            <a:r>
              <a:rPr lang="zh-CN" altLang="en-US" sz="2800" b="1" dirty="0">
                <a:latin typeface="黑体" panose="02010609060101010101" pitchFamily="49" charset="-122"/>
              </a:rPr>
              <a:t>种群崩溃；　</a:t>
            </a:r>
            <a:r>
              <a:rPr lang="en-US" altLang="zh-CN" sz="2800" b="1" dirty="0">
                <a:latin typeface="黑体" panose="02010609060101010101" pitchFamily="49" charset="-122"/>
              </a:rPr>
              <a:t>B.</a:t>
            </a:r>
            <a:r>
              <a:rPr lang="zh-CN" altLang="en-US" sz="2800" b="1" dirty="0">
                <a:latin typeface="黑体" panose="02010609060101010101" pitchFamily="49" charset="-122"/>
              </a:rPr>
              <a:t>种群不规则波动；</a:t>
            </a:r>
            <a:endParaRPr lang="en-US" altLang="zh-CN" sz="2800" b="1" dirty="0">
              <a:latin typeface="黑体" panose="02010609060101010101" pitchFamily="49" charset="-122"/>
            </a:endParaRPr>
          </a:p>
          <a:p>
            <a:r>
              <a:rPr lang="en-US" altLang="zh-CN" sz="2800" b="1" dirty="0">
                <a:latin typeface="黑体" panose="02010609060101010101" pitchFamily="49" charset="-122"/>
              </a:rPr>
              <a:t>C.</a:t>
            </a:r>
            <a:r>
              <a:rPr lang="zh-CN" altLang="en-US" sz="2800" b="1" dirty="0">
                <a:latin typeface="黑体" panose="02010609060101010101" pitchFamily="49" charset="-122"/>
              </a:rPr>
              <a:t>种群衰弱；</a:t>
            </a:r>
            <a:r>
              <a:rPr lang="en-US" altLang="zh-CN" sz="2800" b="1" dirty="0">
                <a:latin typeface="黑体" panose="02010609060101010101" pitchFamily="49" charset="-122"/>
              </a:rPr>
              <a:t>  D.</a:t>
            </a:r>
            <a:r>
              <a:rPr lang="zh-CN" altLang="en-US" sz="2800" b="1" dirty="0">
                <a:latin typeface="黑体" panose="02010609060101010101" pitchFamily="49" charset="-122"/>
              </a:rPr>
              <a:t>种群的爆发。</a:t>
            </a:r>
          </a:p>
          <a:p>
            <a:r>
              <a:rPr lang="zh-CN" altLang="en-US" sz="2800" b="1" dirty="0">
                <a:solidFill>
                  <a:srgbClr val="CC0000"/>
                </a:solidFill>
                <a:latin typeface="黑体" panose="02010609060101010101" pitchFamily="49" charset="-122"/>
              </a:rPr>
              <a:t>（</a:t>
            </a:r>
            <a:r>
              <a:rPr lang="en-US" altLang="zh-CN" sz="2800" b="1" dirty="0">
                <a:solidFill>
                  <a:srgbClr val="CC0000"/>
                </a:solidFill>
                <a:latin typeface="黑体" panose="02010609060101010101" pitchFamily="49" charset="-122"/>
              </a:rPr>
              <a:t>2015</a:t>
            </a:r>
            <a:r>
              <a:rPr lang="zh-CN" altLang="en-US" sz="2800" b="1" dirty="0">
                <a:solidFill>
                  <a:srgbClr val="CC0000"/>
                </a:solidFill>
                <a:latin typeface="黑体" panose="02010609060101010101" pitchFamily="49" charset="-122"/>
              </a:rPr>
              <a:t>年全国联赛试题）</a:t>
            </a:r>
          </a:p>
          <a:p>
            <a:r>
              <a:rPr lang="zh-CN" altLang="en-US" sz="2800" b="1" dirty="0">
                <a:solidFill>
                  <a:srgbClr val="CC0000"/>
                </a:solidFill>
                <a:latin typeface="黑体" panose="02010609060101010101" pitchFamily="49" charset="-122"/>
              </a:rPr>
              <a:t>（注：类似的题目还有“赤潮”、“蝗灾”等）</a:t>
            </a:r>
          </a:p>
          <a:p>
            <a:endParaRPr lang="zh-CN" altLang="en-US" sz="2800" b="1" dirty="0">
              <a:solidFill>
                <a:srgbClr val="CC0000"/>
              </a:solidFill>
              <a:latin typeface="黑体" panose="02010609060101010101" pitchFamily="49" charset="-122"/>
            </a:endParaRPr>
          </a:p>
        </p:txBody>
      </p:sp>
      <p:sp>
        <p:nvSpPr>
          <p:cNvPr id="2" name="文本框 1">
            <a:extLst>
              <a:ext uri="{FF2B5EF4-FFF2-40B4-BE49-F238E27FC236}">
                <a16:creationId xmlns:a16="http://schemas.microsoft.com/office/drawing/2014/main" id="{2A293458-BF22-72E1-E2D4-0D99F199330E}"/>
              </a:ext>
            </a:extLst>
          </p:cNvPr>
          <p:cNvSpPr txBox="1"/>
          <p:nvPr/>
        </p:nvSpPr>
        <p:spPr>
          <a:xfrm>
            <a:off x="5148064" y="1412776"/>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D</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9" name="Rectangle 3">
            <a:extLst>
              <a:ext uri="{FF2B5EF4-FFF2-40B4-BE49-F238E27FC236}">
                <a16:creationId xmlns:a16="http://schemas.microsoft.com/office/drawing/2014/main" id="{EF796A2F-0DC1-4BC5-265C-2C76C4C3BA7A}"/>
              </a:ext>
            </a:extLst>
          </p:cNvPr>
          <p:cNvSpPr>
            <a:spLocks noGrp="1"/>
          </p:cNvSpPr>
          <p:nvPr>
            <p:ph type="body" idx="1"/>
          </p:nvPr>
        </p:nvSpPr>
        <p:spPr>
          <a:xfrm>
            <a:off x="395288" y="981075"/>
            <a:ext cx="8229600" cy="4525963"/>
          </a:xfrm>
        </p:spPr>
        <p:txBody>
          <a:bodyPr/>
          <a:lstStyle/>
          <a:p>
            <a:pPr marL="0" indent="0" eaLnBrk="1" hangingPunct="1">
              <a:lnSpc>
                <a:spcPct val="90000"/>
              </a:lnSpc>
              <a:buNone/>
            </a:pPr>
            <a:r>
              <a:rPr lang="en-US" altLang="zh-CN" sz="2800" b="1" dirty="0">
                <a:latin typeface="黑体" panose="02010609060101010101" pitchFamily="49" charset="-122"/>
              </a:rPr>
              <a:t>22.</a:t>
            </a:r>
            <a:r>
              <a:rPr lang="zh-CN" altLang="en-US" sz="2800" b="1" dirty="0">
                <a:latin typeface="黑体" panose="02010609060101010101" pitchFamily="49" charset="-122"/>
              </a:rPr>
              <a:t>云南洱海原有</a:t>
            </a:r>
            <a:r>
              <a:rPr lang="en-US" altLang="zh-CN" sz="2800" b="1" dirty="0">
                <a:latin typeface="黑体" panose="02010609060101010101" pitchFamily="49" charset="-122"/>
              </a:rPr>
              <a:t>22</a:t>
            </a:r>
            <a:r>
              <a:rPr lang="zh-CN" altLang="en-US" sz="2800" b="1" dirty="0">
                <a:latin typeface="黑体" panose="02010609060101010101" pitchFamily="49" charset="-122"/>
              </a:rPr>
              <a:t>种野生土著鱼，其中包括名贵的大理弓鱼等</a:t>
            </a:r>
            <a:r>
              <a:rPr lang="en-US" altLang="zh-CN" sz="2800" b="1" dirty="0">
                <a:latin typeface="黑体" panose="02010609060101010101" pitchFamily="49" charset="-122"/>
              </a:rPr>
              <a:t>8</a:t>
            </a:r>
            <a:r>
              <a:rPr lang="zh-CN" altLang="en-US" sz="2800" b="1" dirty="0">
                <a:latin typeface="黑体" panose="02010609060101010101" pitchFamily="49" charset="-122"/>
              </a:rPr>
              <a:t>种洱海特有物种。由于人们为追求渔业产量，从</a:t>
            </a:r>
            <a:r>
              <a:rPr lang="en-US" altLang="zh-CN" sz="2800" b="1" dirty="0">
                <a:latin typeface="黑体" panose="02010609060101010101" pitchFamily="49" charset="-122"/>
              </a:rPr>
              <a:t>20</a:t>
            </a:r>
            <a:r>
              <a:rPr lang="zh-CN" altLang="en-US" sz="2800" b="1" dirty="0">
                <a:latin typeface="黑体" panose="02010609060101010101" pitchFamily="49" charset="-122"/>
              </a:rPr>
              <a:t>世纪</a:t>
            </a:r>
            <a:r>
              <a:rPr lang="en-US" altLang="zh-CN" sz="2800" b="1" dirty="0">
                <a:latin typeface="黑体" panose="02010609060101010101" pitchFamily="49" charset="-122"/>
              </a:rPr>
              <a:t>60</a:t>
            </a:r>
            <a:r>
              <a:rPr lang="zh-CN" altLang="en-US" sz="2800" b="1" dirty="0">
                <a:latin typeface="黑体" panose="02010609060101010101" pitchFamily="49" charset="-122"/>
              </a:rPr>
              <a:t>年代向洱海投放了当地原来没有的青、草、鲢等鱼苗。</a:t>
            </a:r>
            <a:r>
              <a:rPr lang="en-US" altLang="zh-CN" sz="2800" b="1" dirty="0">
                <a:latin typeface="黑体" panose="02010609060101010101" pitchFamily="49" charset="-122"/>
              </a:rPr>
              <a:t>20</a:t>
            </a:r>
            <a:r>
              <a:rPr lang="zh-CN" altLang="en-US" sz="2800" b="1" dirty="0">
                <a:latin typeface="黑体" panose="02010609060101010101" pitchFamily="49" charset="-122"/>
              </a:rPr>
              <a:t>年后，青、草、鲢等鱼类的产量增加了，但大理弓鱼绝迹了，其它几种优势土著鱼也已灭绝或濒临灭绝。青、草、鲢鱼在洱海发展的这一过程生态学上称为： </a:t>
            </a:r>
            <a:endParaRPr lang="en-US" altLang="zh-CN" sz="2800" b="1" dirty="0">
              <a:latin typeface="黑体" panose="02010609060101010101" pitchFamily="49" charset="-122"/>
            </a:endParaRPr>
          </a:p>
          <a:p>
            <a:pPr marL="0" indent="0" eaLnBrk="1" hangingPunct="1">
              <a:lnSpc>
                <a:spcPct val="90000"/>
              </a:lnSpc>
              <a:buNone/>
            </a:pPr>
            <a:r>
              <a:rPr lang="en-US" altLang="zh-CN" sz="2800" b="1" dirty="0">
                <a:latin typeface="黑体" panose="02010609060101010101" pitchFamily="49" charset="-122"/>
              </a:rPr>
              <a:t>A</a:t>
            </a:r>
            <a:r>
              <a:rPr lang="zh-CN" altLang="en-US" sz="2800" b="1" dirty="0">
                <a:latin typeface="黑体" panose="02010609060101010101" pitchFamily="49" charset="-122"/>
              </a:rPr>
              <a:t>．生态入侵；        </a:t>
            </a:r>
            <a:r>
              <a:rPr lang="en-US" altLang="zh-CN" sz="2800" b="1" dirty="0">
                <a:latin typeface="黑体" panose="02010609060101010101" pitchFamily="49" charset="-122"/>
              </a:rPr>
              <a:t>B</a:t>
            </a:r>
            <a:r>
              <a:rPr lang="zh-CN" altLang="en-US" sz="2800" b="1" dirty="0">
                <a:latin typeface="黑体" panose="02010609060101010101" pitchFamily="49" charset="-122"/>
              </a:rPr>
              <a:t>．迁移；        </a:t>
            </a:r>
            <a:endParaRPr lang="zh-CN" altLang="zh-CN" sz="2800" b="1" dirty="0">
              <a:latin typeface="黑体" panose="02010609060101010101" pitchFamily="49" charset="-122"/>
            </a:endParaRPr>
          </a:p>
          <a:p>
            <a:pPr marL="0" indent="0" eaLnBrk="1" hangingPunct="1">
              <a:lnSpc>
                <a:spcPct val="90000"/>
              </a:lnSpc>
              <a:buNone/>
            </a:pPr>
            <a:r>
              <a:rPr lang="en-US" altLang="zh-CN" sz="2800" b="1" dirty="0">
                <a:latin typeface="黑体" panose="02010609060101010101" pitchFamily="49" charset="-122"/>
              </a:rPr>
              <a:t>C</a:t>
            </a:r>
            <a:r>
              <a:rPr lang="zh-CN" altLang="en-US" sz="2800" b="1" dirty="0">
                <a:latin typeface="黑体" panose="02010609060101010101" pitchFamily="49" charset="-122"/>
              </a:rPr>
              <a:t>．蔓延；        </a:t>
            </a:r>
            <a:r>
              <a:rPr lang="zh-CN" altLang="zh-CN" sz="2800" b="1" dirty="0">
                <a:latin typeface="黑体" panose="02010609060101010101" pitchFamily="49" charset="-122"/>
              </a:rPr>
              <a:t> </a:t>
            </a:r>
            <a:r>
              <a:rPr lang="zh-CN" altLang="en-US" sz="2800" b="1" dirty="0">
                <a:latin typeface="黑体" panose="02010609060101010101" pitchFamily="49" charset="-122"/>
              </a:rPr>
              <a:t> </a:t>
            </a:r>
            <a:r>
              <a:rPr lang="zh-CN" altLang="zh-CN" sz="2800" b="1" dirty="0">
                <a:latin typeface="黑体" panose="02010609060101010101" pitchFamily="49" charset="-122"/>
              </a:rPr>
              <a:t> </a:t>
            </a:r>
            <a:r>
              <a:rPr lang="zh-CN" altLang="en-US" sz="2800" b="1" dirty="0">
                <a:latin typeface="黑体" panose="02010609060101010101" pitchFamily="49" charset="-122"/>
              </a:rPr>
              <a:t> </a:t>
            </a:r>
            <a:r>
              <a:rPr lang="en-US" altLang="zh-CN" sz="2800" b="1" dirty="0">
                <a:latin typeface="黑体" panose="02010609060101010101" pitchFamily="49" charset="-122"/>
              </a:rPr>
              <a:t>D</a:t>
            </a:r>
            <a:r>
              <a:rPr lang="zh-CN" altLang="en-US" sz="2800" b="1" dirty="0">
                <a:latin typeface="黑体" panose="02010609060101010101" pitchFamily="49" charset="-122"/>
              </a:rPr>
              <a:t>．再引入。</a:t>
            </a:r>
            <a:endParaRPr lang="zh-CN" altLang="zh-CN" sz="2800" b="1" dirty="0">
              <a:latin typeface="黑体" panose="02010609060101010101" pitchFamily="49" charset="-122"/>
            </a:endParaRPr>
          </a:p>
          <a:p>
            <a:pPr eaLnBrk="1" hangingPunct="1">
              <a:lnSpc>
                <a:spcPct val="90000"/>
              </a:lnSpc>
            </a:pPr>
            <a:r>
              <a:rPr lang="zh-CN" altLang="en-US" sz="2800" b="1" dirty="0">
                <a:solidFill>
                  <a:srgbClr val="CC0000"/>
                </a:solidFill>
                <a:latin typeface="黑体" panose="02010609060101010101" pitchFamily="49" charset="-122"/>
              </a:rPr>
              <a:t>（</a:t>
            </a:r>
            <a:r>
              <a:rPr lang="en-US" altLang="zh-CN" sz="2800" b="1" dirty="0">
                <a:solidFill>
                  <a:srgbClr val="CC0000"/>
                </a:solidFill>
                <a:latin typeface="黑体" panose="02010609060101010101" pitchFamily="49" charset="-122"/>
              </a:rPr>
              <a:t>2011</a:t>
            </a:r>
            <a:r>
              <a:rPr lang="zh-CN" altLang="en-US" sz="2800" b="1" dirty="0">
                <a:solidFill>
                  <a:srgbClr val="CC0000"/>
                </a:solidFill>
                <a:latin typeface="黑体" panose="02010609060101010101" pitchFamily="49" charset="-122"/>
              </a:rPr>
              <a:t>年全国联赛试题）</a:t>
            </a:r>
            <a:endParaRPr lang="zh-CN" altLang="zh-CN" sz="2800" b="1" dirty="0">
              <a:solidFill>
                <a:srgbClr val="CC0000"/>
              </a:solidFill>
              <a:latin typeface="黑体" panose="02010609060101010101" pitchFamily="49" charset="-122"/>
            </a:endParaRPr>
          </a:p>
          <a:p>
            <a:pPr>
              <a:lnSpc>
                <a:spcPct val="90000"/>
              </a:lnSpc>
            </a:pPr>
            <a:endParaRPr lang="zh-CN" altLang="en-US" sz="2800" b="1" dirty="0">
              <a:solidFill>
                <a:srgbClr val="CC0000"/>
              </a:solidFill>
              <a:latin typeface="黑体" panose="02010609060101010101" pitchFamily="49" charset="-122"/>
            </a:endParaRPr>
          </a:p>
        </p:txBody>
      </p:sp>
      <p:sp>
        <p:nvSpPr>
          <p:cNvPr id="4" name="文本框 3">
            <a:extLst>
              <a:ext uri="{FF2B5EF4-FFF2-40B4-BE49-F238E27FC236}">
                <a16:creationId xmlns:a16="http://schemas.microsoft.com/office/drawing/2014/main" id="{B851C0C9-A56F-42B7-E756-70DE3D7A3EE0}"/>
              </a:ext>
            </a:extLst>
          </p:cNvPr>
          <p:cNvSpPr txBox="1"/>
          <p:nvPr/>
        </p:nvSpPr>
        <p:spPr>
          <a:xfrm>
            <a:off x="6228184" y="3276761"/>
            <a:ext cx="1133872" cy="523220"/>
          </a:xfrm>
          <a:prstGeom prst="rect">
            <a:avLst/>
          </a:prstGeom>
          <a:noFill/>
        </p:spPr>
        <p:txBody>
          <a:bodyPr wrap="square">
            <a:spAutoFit/>
          </a:bodyPr>
          <a:lstStyle/>
          <a:p>
            <a:r>
              <a:rPr lang="en-US" altLang="zh-CN" sz="2800" b="1" dirty="0">
                <a:solidFill>
                  <a:srgbClr val="CC0000"/>
                </a:solidFill>
                <a:latin typeface="黑体" panose="02010609060101010101" pitchFamily="49" charset="-122"/>
              </a:rPr>
              <a:t>A</a:t>
            </a:r>
            <a:endParaRPr lang="zh-CN" altLang="en-US" sz="28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8673" name="Text Box 2">
            <a:extLst>
              <a:ext uri="{FF2B5EF4-FFF2-40B4-BE49-F238E27FC236}">
                <a16:creationId xmlns:a16="http://schemas.microsoft.com/office/drawing/2014/main" id="{764B3E0E-B522-8961-907B-24F6383E847B}"/>
              </a:ext>
            </a:extLst>
          </p:cNvPr>
          <p:cNvSpPr txBox="1">
            <a:spLocks noChangeArrowheads="1"/>
          </p:cNvSpPr>
          <p:nvPr/>
        </p:nvSpPr>
        <p:spPr bwMode="auto">
          <a:xfrm>
            <a:off x="533400" y="533400"/>
            <a:ext cx="8001000" cy="5794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五 种群调节：探讨种群数量变动的机制</a:t>
            </a:r>
          </a:p>
        </p:txBody>
      </p:sp>
      <p:sp>
        <p:nvSpPr>
          <p:cNvPr id="28674" name="Text Box 5">
            <a:extLst>
              <a:ext uri="{FF2B5EF4-FFF2-40B4-BE49-F238E27FC236}">
                <a16:creationId xmlns:a16="http://schemas.microsoft.com/office/drawing/2014/main" id="{5B009861-18CE-F80A-535C-2F09E0ABB7AA}"/>
              </a:ext>
            </a:extLst>
          </p:cNvPr>
          <p:cNvSpPr txBox="1">
            <a:spLocks noChangeArrowheads="1"/>
          </p:cNvSpPr>
          <p:nvPr/>
        </p:nvSpPr>
        <p:spPr bwMode="auto">
          <a:xfrm>
            <a:off x="179388" y="1268413"/>
            <a:ext cx="8964612" cy="946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zh-CN" altLang="en-US" sz="2800" b="1"/>
              <a:t>（一 ）外源性种群调节理论</a:t>
            </a:r>
          </a:p>
          <a:p>
            <a:pPr eaLnBrk="1" hangingPunct="1"/>
            <a:r>
              <a:rPr lang="zh-CN" altLang="en-US"/>
              <a:t> </a:t>
            </a:r>
            <a:r>
              <a:rPr lang="zh-CN" altLang="en-US" sz="2800" b="1"/>
              <a:t>强调外因，认为种群数量变动主要是外部因素的作用。</a:t>
            </a:r>
          </a:p>
        </p:txBody>
      </p:sp>
      <p:sp>
        <p:nvSpPr>
          <p:cNvPr id="73734" name="Text Box 6">
            <a:extLst>
              <a:ext uri="{FF2B5EF4-FFF2-40B4-BE49-F238E27FC236}">
                <a16:creationId xmlns:a16="http://schemas.microsoft.com/office/drawing/2014/main" id="{6CB95D82-04DA-A626-06A3-8D72F936C4F3}"/>
              </a:ext>
            </a:extLst>
          </p:cNvPr>
          <p:cNvSpPr txBox="1">
            <a:spLocks noChangeArrowheads="1"/>
          </p:cNvSpPr>
          <p:nvPr/>
        </p:nvSpPr>
        <p:spPr bwMode="auto">
          <a:xfrm>
            <a:off x="468313" y="2349500"/>
            <a:ext cx="8675687" cy="3140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1  </a:t>
            </a:r>
            <a:r>
              <a:rPr lang="zh-CN" altLang="en-US" sz="2800" b="1" dirty="0"/>
              <a:t>非密度制约的气候学派</a:t>
            </a:r>
          </a:p>
          <a:p>
            <a:pPr eaLnBrk="1" hangingPunct="1"/>
            <a:r>
              <a:rPr lang="zh-CN" altLang="en-US" sz="2800" b="1" dirty="0"/>
              <a:t>代表：以色列的博登海默。认为天气条件通过影响昆虫的发育和存活来决定种群密度，证明昆虫早期死亡率的</a:t>
            </a:r>
            <a:r>
              <a:rPr lang="en-US" altLang="zh-CN" sz="2800" b="1" dirty="0"/>
              <a:t>85%-90%</a:t>
            </a:r>
            <a:r>
              <a:rPr lang="zh-CN" altLang="en-US" sz="2800" b="1" dirty="0"/>
              <a:t>是由于天气条件不良而引起的。 </a:t>
            </a:r>
          </a:p>
          <a:p>
            <a:pPr eaLnBrk="1" hangingPunct="1"/>
            <a:endParaRPr lang="zh-CN" altLang="en-US" sz="2800" b="1" dirty="0"/>
          </a:p>
          <a:p>
            <a:pPr eaLnBrk="1" hangingPunct="1"/>
            <a:endParaRPr lang="zh-CN" altLang="en-US" dirty="0"/>
          </a:p>
          <a:p>
            <a:pPr eaLnBrk="1" hangingPunct="1">
              <a:spcBef>
                <a:spcPct val="50000"/>
              </a:spcBef>
            </a:pPr>
            <a:endParaRPr lang="en-US" altLang="zh-CN" dirty="0"/>
          </a:p>
        </p:txBody>
      </p:sp>
      <p:sp>
        <p:nvSpPr>
          <p:cNvPr id="73735" name="Text Box 7">
            <a:extLst>
              <a:ext uri="{FF2B5EF4-FFF2-40B4-BE49-F238E27FC236}">
                <a16:creationId xmlns:a16="http://schemas.microsoft.com/office/drawing/2014/main" id="{EC29E549-2933-BE3D-1CB4-F4EA3E353D09}"/>
              </a:ext>
            </a:extLst>
          </p:cNvPr>
          <p:cNvSpPr txBox="1">
            <a:spLocks noChangeArrowheads="1"/>
          </p:cNvSpPr>
          <p:nvPr/>
        </p:nvSpPr>
        <p:spPr bwMode="auto">
          <a:xfrm>
            <a:off x="468313" y="4203700"/>
            <a:ext cx="8280400" cy="2654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a:t>2     </a:t>
            </a:r>
            <a:r>
              <a:rPr lang="zh-CN" altLang="en-US" sz="2800" b="1"/>
              <a:t>密度制约的生物学派</a:t>
            </a:r>
          </a:p>
          <a:p>
            <a:pPr eaLnBrk="1" hangingPunct="1"/>
            <a:r>
              <a:rPr lang="zh-CN" altLang="en-US" sz="2800" b="1"/>
              <a:t>代表：澳大利亚生物学家</a:t>
            </a:r>
            <a:r>
              <a:rPr lang="en-US" altLang="zh-CN" sz="2800" b="1"/>
              <a:t>Nicholson</a:t>
            </a:r>
            <a:r>
              <a:rPr lang="zh-CN" altLang="en-US" sz="2800" b="1"/>
              <a:t>。主张捕食、寄生和竞争等生物过程对种群调节起决定作用。是生物学派的代表。他虽然承认非密度制约因子对种群动态有作用，但认为这些因子仅仅是破坏性的，而不是调节性的。</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nodeType="clickEffect">
                                  <p:stCondLst>
                                    <p:cond delay="0"/>
                                  </p:stCondLst>
                                  <p:childTnLst>
                                    <p:animEffect transition="out" filter="blinds(horizontal)">
                                      <p:cBhvr>
                                        <p:cTn id="6" dur="500"/>
                                        <p:tgtEl>
                                          <p:spTgt spid="73734">
                                            <p:txEl>
                                              <p:pRg st="0" end="0"/>
                                            </p:txEl>
                                          </p:spTgt>
                                        </p:tgtEl>
                                      </p:cBhvr>
                                    </p:animEffect>
                                    <p:set>
                                      <p:cBhvr>
                                        <p:cTn id="7" dur="1" fill="hold">
                                          <p:stCondLst>
                                            <p:cond delay="499"/>
                                          </p:stCondLst>
                                        </p:cTn>
                                        <p:tgtEl>
                                          <p:spTgt spid="73734">
                                            <p:txEl>
                                              <p:pRg st="0" end="0"/>
                                            </p:txEl>
                                          </p:spTgt>
                                        </p:tgtEl>
                                        <p:attrNameLst>
                                          <p:attrName>style.visibility</p:attrName>
                                        </p:attrNameLst>
                                      </p:cBhvr>
                                      <p:to>
                                        <p:strVal val="hidden"/>
                                      </p:to>
                                    </p:set>
                                  </p:childTnLst>
                                </p:cTn>
                              </p:par>
                              <p:par>
                                <p:cTn id="8" presetID="3" presetClass="exit" presetSubtype="10" fill="hold" nodeType="withEffect">
                                  <p:stCondLst>
                                    <p:cond delay="0"/>
                                  </p:stCondLst>
                                  <p:childTnLst>
                                    <p:animEffect transition="out" filter="blinds(horizontal)">
                                      <p:cBhvr>
                                        <p:cTn id="9" dur="500"/>
                                        <p:tgtEl>
                                          <p:spTgt spid="73734">
                                            <p:txEl>
                                              <p:pRg st="1" end="1"/>
                                            </p:txEl>
                                          </p:spTgt>
                                        </p:tgtEl>
                                      </p:cBhvr>
                                    </p:animEffect>
                                    <p:set>
                                      <p:cBhvr>
                                        <p:cTn id="10" dur="1" fill="hold">
                                          <p:stCondLst>
                                            <p:cond delay="499"/>
                                          </p:stCondLst>
                                        </p:cTn>
                                        <p:tgtEl>
                                          <p:spTgt spid="73734">
                                            <p:txEl>
                                              <p:pRg st="1" end="1"/>
                                            </p:txEl>
                                          </p:spTgt>
                                        </p:tgtEl>
                                        <p:attrNameLst>
                                          <p:attrName>style.visibility</p:attrName>
                                        </p:attrNameLst>
                                      </p:cBhvr>
                                      <p:to>
                                        <p:strVal val="hidden"/>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73735"/>
                                        </p:tgtEl>
                                        <p:attrNameLst>
                                          <p:attrName>style.visibility</p:attrName>
                                        </p:attrNameLst>
                                      </p:cBhvr>
                                      <p:to>
                                        <p:strVal val="visible"/>
                                      </p:to>
                                    </p:set>
                                    <p:animEffect transition="in" filter="blinds(horizontal)">
                                      <p:cBhvr>
                                        <p:cTn id="15" dur="500"/>
                                        <p:tgtEl>
                                          <p:spTgt spid="737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735" grpId="0"/>
    </p:bldLst>
  </p:timing>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9697" name="Text Box 2">
            <a:extLst>
              <a:ext uri="{FF2B5EF4-FFF2-40B4-BE49-F238E27FC236}">
                <a16:creationId xmlns:a16="http://schemas.microsoft.com/office/drawing/2014/main" id="{BD0CFFD2-5D30-C0ED-4F7C-49E7C7DFDD4D}"/>
              </a:ext>
            </a:extLst>
          </p:cNvPr>
          <p:cNvSpPr txBox="1">
            <a:spLocks noChangeArrowheads="1"/>
          </p:cNvSpPr>
          <p:nvPr/>
        </p:nvSpPr>
        <p:spPr bwMode="auto">
          <a:xfrm>
            <a:off x="323850" y="549275"/>
            <a:ext cx="6415088" cy="17351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b="1"/>
              <a:t>Pitelka and Schultz, 1964</a:t>
            </a:r>
            <a:r>
              <a:rPr lang="zh-CN" altLang="en-US" b="1"/>
              <a:t>，强调食物对种群调节的重要性，提出营养物恢复学说 （</a:t>
            </a:r>
            <a:r>
              <a:rPr lang="en-US" altLang="zh-CN" b="1"/>
              <a:t>Nutrient recovery hypothesis)</a:t>
            </a:r>
          </a:p>
          <a:p>
            <a:pPr eaLnBrk="1" hangingPunct="1">
              <a:spcBef>
                <a:spcPct val="50000"/>
              </a:spcBef>
            </a:pPr>
            <a:endParaRPr lang="en-US" altLang="zh-CN" b="1"/>
          </a:p>
        </p:txBody>
      </p:sp>
      <p:pic>
        <p:nvPicPr>
          <p:cNvPr id="29698" name="Picture 3">
            <a:extLst>
              <a:ext uri="{FF2B5EF4-FFF2-40B4-BE49-F238E27FC236}">
                <a16:creationId xmlns:a16="http://schemas.microsoft.com/office/drawing/2014/main" id="{E972763D-C94C-0605-E7BC-9BFCBA8F3E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51625" y="0"/>
            <a:ext cx="2492375" cy="2886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699" name="Picture 4">
            <a:extLst>
              <a:ext uri="{FF2B5EF4-FFF2-40B4-BE49-F238E27FC236}">
                <a16:creationId xmlns:a16="http://schemas.microsoft.com/office/drawing/2014/main" id="{B4C6E393-70E7-859A-FB69-F3CBF98DF5E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09600" y="1828800"/>
            <a:ext cx="6553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700" name="Text Box 2">
            <a:extLst>
              <a:ext uri="{FF2B5EF4-FFF2-40B4-BE49-F238E27FC236}">
                <a16:creationId xmlns:a16="http://schemas.microsoft.com/office/drawing/2014/main" id="{096E7B23-E7A7-E879-EDF0-1764B688233C}"/>
              </a:ext>
            </a:extLst>
          </p:cNvPr>
          <p:cNvSpPr txBox="1">
            <a:spLocks noChangeArrowheads="1"/>
          </p:cNvSpPr>
          <p:nvPr/>
        </p:nvSpPr>
        <p:spPr bwMode="auto">
          <a:xfrm>
            <a:off x="6516688" y="2852738"/>
            <a:ext cx="2447925"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1400"/>
              <a:t>引自</a:t>
            </a:r>
            <a:r>
              <a:rPr lang="en-US" altLang="zh-CN" sz="1400"/>
              <a:t>http://www.mmkey.com</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6322" name="Text Box 2">
            <a:extLst>
              <a:ext uri="{FF2B5EF4-FFF2-40B4-BE49-F238E27FC236}">
                <a16:creationId xmlns:a16="http://schemas.microsoft.com/office/drawing/2014/main" id="{8A99038C-95C8-24A4-BF5A-ADF7BF77876E}"/>
              </a:ext>
            </a:extLst>
          </p:cNvPr>
          <p:cNvSpPr txBox="1">
            <a:spLocks noChangeArrowheads="1"/>
          </p:cNvSpPr>
          <p:nvPr/>
        </p:nvSpPr>
        <p:spPr bwMode="auto">
          <a:xfrm>
            <a:off x="611188" y="836613"/>
            <a:ext cx="7543800" cy="24415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2800" b="1"/>
              <a:t>强调种内成员的异质性。认为种群自身的密度变化影响本种群的出生率、死亡率、生长、成熟、迁移等种群参数，种群调节是各物种所具有的适应性特征。</a:t>
            </a:r>
          </a:p>
          <a:p>
            <a:pPr eaLnBrk="1" hangingPunct="1">
              <a:spcBef>
                <a:spcPct val="50000"/>
              </a:spcBef>
            </a:pPr>
            <a:endParaRPr lang="en-US" altLang="zh-CN" sz="2800"/>
          </a:p>
        </p:txBody>
      </p:sp>
      <p:sp>
        <p:nvSpPr>
          <p:cNvPr id="56323" name="Text Box 3">
            <a:extLst>
              <a:ext uri="{FF2B5EF4-FFF2-40B4-BE49-F238E27FC236}">
                <a16:creationId xmlns:a16="http://schemas.microsoft.com/office/drawing/2014/main" id="{421E136C-8840-302A-C116-49F25A562BB8}"/>
              </a:ext>
            </a:extLst>
          </p:cNvPr>
          <p:cNvSpPr txBox="1">
            <a:spLocks noChangeArrowheads="1"/>
          </p:cNvSpPr>
          <p:nvPr/>
        </p:nvSpPr>
        <p:spPr bwMode="auto">
          <a:xfrm>
            <a:off x="503238" y="2708275"/>
            <a:ext cx="8640762" cy="35394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r>
              <a:rPr lang="en-US" altLang="zh-CN" sz="2800" b="1" dirty="0"/>
              <a:t>1 </a:t>
            </a:r>
            <a:r>
              <a:rPr lang="zh-CN" altLang="en-US" sz="2800" b="1" dirty="0"/>
              <a:t>：行为调节 </a:t>
            </a:r>
            <a:r>
              <a:rPr lang="en-US" altLang="zh-CN" sz="2800" b="1" dirty="0"/>
              <a:t>— </a:t>
            </a:r>
            <a:r>
              <a:rPr lang="zh-CN" altLang="en-US" sz="2800" b="1" dirty="0"/>
              <a:t>温</a:t>
            </a:r>
            <a:r>
              <a:rPr lang="en-US" altLang="zh-CN" sz="2800" b="1" dirty="0"/>
              <a:t>-</a:t>
            </a:r>
            <a:r>
              <a:rPr lang="zh-CN" altLang="en-US" sz="2800" b="1" dirty="0"/>
              <a:t>爱德华（</a:t>
            </a:r>
            <a:r>
              <a:rPr lang="en-US" altLang="zh-CN" sz="2800" b="1" dirty="0" err="1"/>
              <a:t>Wyune</a:t>
            </a:r>
            <a:r>
              <a:rPr lang="en-US" altLang="zh-CN" sz="2800" b="1" dirty="0"/>
              <a:t>-Edwards</a:t>
            </a:r>
            <a:r>
              <a:rPr lang="zh-CN" altLang="en-US" sz="2800" b="1" dirty="0"/>
              <a:t>）学说 </a:t>
            </a:r>
          </a:p>
          <a:p>
            <a:pPr eaLnBrk="1" hangingPunct="1"/>
            <a:r>
              <a:rPr lang="zh-CN" altLang="en-US" sz="2800" b="1" dirty="0"/>
              <a:t>社群等级、领域性等行为可能是一种传递有关种群数量的信息 ，可有效调节种群密度。</a:t>
            </a:r>
          </a:p>
          <a:p>
            <a:pPr eaLnBrk="1" hangingPunct="1"/>
            <a:r>
              <a:rPr lang="en-US" altLang="zh-CN" sz="2800" b="1" dirty="0"/>
              <a:t>2 </a:t>
            </a:r>
            <a:r>
              <a:rPr lang="zh-CN" altLang="en-US" sz="2800" b="1" dirty="0"/>
              <a:t>：内分泌调节</a:t>
            </a:r>
            <a:r>
              <a:rPr lang="en-US" altLang="zh-CN" sz="2800" b="1" dirty="0"/>
              <a:t>—</a:t>
            </a:r>
            <a:r>
              <a:rPr lang="zh-CN" altLang="en-US" sz="2800" b="1" dirty="0"/>
              <a:t>克里斯琴（</a:t>
            </a:r>
            <a:r>
              <a:rPr lang="en-US" altLang="zh-CN" sz="2800" b="1" dirty="0"/>
              <a:t>Christian</a:t>
            </a:r>
            <a:r>
              <a:rPr lang="zh-CN" altLang="en-US" sz="2800" b="1" dirty="0"/>
              <a:t>）学说 </a:t>
            </a:r>
          </a:p>
          <a:p>
            <a:pPr eaLnBrk="1" hangingPunct="1"/>
            <a:r>
              <a:rPr lang="zh-CN" altLang="en-US" sz="2800" b="1" dirty="0"/>
              <a:t>用来解释某些哺乳动物的周期性数量变动（啮齿类 </a:t>
            </a:r>
            <a:r>
              <a:rPr lang="en-US" altLang="zh-CN" sz="2800" b="1" dirty="0"/>
              <a:t>)</a:t>
            </a:r>
          </a:p>
          <a:p>
            <a:pPr eaLnBrk="1" hangingPunct="1"/>
            <a:r>
              <a:rPr lang="en-US" altLang="zh-CN" sz="2800" b="1" dirty="0"/>
              <a:t>3</a:t>
            </a:r>
            <a:r>
              <a:rPr lang="zh-CN" altLang="en-US" sz="2800" b="1" dirty="0"/>
              <a:t>：遗传调节</a:t>
            </a:r>
            <a:r>
              <a:rPr lang="en-US" altLang="zh-CN" sz="2800" b="1" dirty="0"/>
              <a:t>—</a:t>
            </a:r>
            <a:r>
              <a:rPr lang="zh-CN" altLang="en-US" sz="2800" b="1" dirty="0"/>
              <a:t>奇蒂（</a:t>
            </a:r>
            <a:r>
              <a:rPr lang="en-US" altLang="zh-CN" sz="2800" b="1" dirty="0"/>
              <a:t>Chitty</a:t>
            </a:r>
            <a:r>
              <a:rPr lang="zh-CN" altLang="en-US" sz="2800" b="1" dirty="0"/>
              <a:t>）学说 </a:t>
            </a:r>
          </a:p>
          <a:p>
            <a:pPr eaLnBrk="1" hangingPunct="1"/>
            <a:r>
              <a:rPr lang="zh-CN" altLang="en-US" sz="2800" b="1" dirty="0"/>
              <a:t>种群中具有的遗传多型是遗传调节学说的基础 。（蝗虫） </a:t>
            </a:r>
          </a:p>
        </p:txBody>
      </p:sp>
      <p:sp>
        <p:nvSpPr>
          <p:cNvPr id="30723" name="Text Box 4">
            <a:extLst>
              <a:ext uri="{FF2B5EF4-FFF2-40B4-BE49-F238E27FC236}">
                <a16:creationId xmlns:a16="http://schemas.microsoft.com/office/drawing/2014/main" id="{06586311-49AF-EAD8-2FE5-4A89BCA5EBFE}"/>
              </a:ext>
            </a:extLst>
          </p:cNvPr>
          <p:cNvSpPr txBox="1">
            <a:spLocks noChangeArrowheads="1"/>
          </p:cNvSpPr>
          <p:nvPr/>
        </p:nvSpPr>
        <p:spPr bwMode="auto">
          <a:xfrm>
            <a:off x="1042988" y="188913"/>
            <a:ext cx="6121400" cy="1311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zh-CN" altLang="en-US" sz="3200" b="1"/>
              <a:t>（二） 内源性自动调节理论</a:t>
            </a:r>
          </a:p>
          <a:p>
            <a:pPr eaLnBrk="1" hangingPunct="1">
              <a:spcBef>
                <a:spcPct val="50000"/>
              </a:spcBef>
            </a:pPr>
            <a:endParaRPr lang="en-US" altLang="zh-CN" sz="320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xit" presetSubtype="10" fill="hold" grpId="0" nodeType="clickEffect">
                                  <p:stCondLst>
                                    <p:cond delay="0"/>
                                  </p:stCondLst>
                                  <p:childTnLst>
                                    <p:animEffect transition="out" filter="blinds(horizontal)">
                                      <p:cBhvr>
                                        <p:cTn id="6" dur="500"/>
                                        <p:tgtEl>
                                          <p:spTgt spid="56322"/>
                                        </p:tgtEl>
                                      </p:cBhvr>
                                    </p:animEffect>
                                    <p:set>
                                      <p:cBhvr>
                                        <p:cTn id="7" dur="1" fill="hold">
                                          <p:stCondLst>
                                            <p:cond delay="499"/>
                                          </p:stCondLst>
                                        </p:cTn>
                                        <p:tgtEl>
                                          <p:spTgt spid="56322"/>
                                        </p:tgtEl>
                                        <p:attrNameLst>
                                          <p:attrName>style.visibility</p:attrName>
                                        </p:attrNameLst>
                                      </p:cBhvr>
                                      <p:to>
                                        <p:strVal val="hidden"/>
                                      </p:to>
                                    </p:se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6323">
                                            <p:txEl>
                                              <p:pRg st="0" end="0"/>
                                            </p:txEl>
                                          </p:spTgt>
                                        </p:tgtEl>
                                        <p:attrNameLst>
                                          <p:attrName>style.visibility</p:attrName>
                                        </p:attrNameLst>
                                      </p:cBhvr>
                                      <p:to>
                                        <p:strVal val="visible"/>
                                      </p:to>
                                    </p:set>
                                    <p:animEffect transition="in" filter="blinds(horizontal)">
                                      <p:cBhvr>
                                        <p:cTn id="12" dur="500"/>
                                        <p:tgtEl>
                                          <p:spTgt spid="56323">
                                            <p:txEl>
                                              <p:pRg st="0" end="0"/>
                                            </p:txEl>
                                          </p:spTgt>
                                        </p:tgtEl>
                                      </p:cBhvr>
                                    </p:animEffect>
                                  </p:childTnLst>
                                </p:cTn>
                              </p:par>
                              <p:par>
                                <p:cTn id="13" presetID="3" presetClass="entr" presetSubtype="10" fill="hold" nodeType="withEffect">
                                  <p:stCondLst>
                                    <p:cond delay="0"/>
                                  </p:stCondLst>
                                  <p:childTnLst>
                                    <p:set>
                                      <p:cBhvr>
                                        <p:cTn id="14" dur="1" fill="hold">
                                          <p:stCondLst>
                                            <p:cond delay="0"/>
                                          </p:stCondLst>
                                        </p:cTn>
                                        <p:tgtEl>
                                          <p:spTgt spid="56323">
                                            <p:txEl>
                                              <p:pRg st="1" end="1"/>
                                            </p:txEl>
                                          </p:spTgt>
                                        </p:tgtEl>
                                        <p:attrNameLst>
                                          <p:attrName>style.visibility</p:attrName>
                                        </p:attrNameLst>
                                      </p:cBhvr>
                                      <p:to>
                                        <p:strVal val="visible"/>
                                      </p:to>
                                    </p:set>
                                    <p:animEffect transition="in" filter="blinds(horizontal)">
                                      <p:cBhvr>
                                        <p:cTn id="15" dur="500"/>
                                        <p:tgtEl>
                                          <p:spTgt spid="56323">
                                            <p:txEl>
                                              <p:pRg st="1" end="1"/>
                                            </p:txEl>
                                          </p:spTgt>
                                        </p:tgtEl>
                                      </p:cBhvr>
                                    </p:animEffect>
                                  </p:childTnLst>
                                </p:cTn>
                              </p:par>
                              <p:par>
                                <p:cTn id="16" presetID="3" presetClass="entr" presetSubtype="10" fill="hold" nodeType="withEffect">
                                  <p:stCondLst>
                                    <p:cond delay="0"/>
                                  </p:stCondLst>
                                  <p:childTnLst>
                                    <p:set>
                                      <p:cBhvr>
                                        <p:cTn id="17" dur="1" fill="hold">
                                          <p:stCondLst>
                                            <p:cond delay="0"/>
                                          </p:stCondLst>
                                        </p:cTn>
                                        <p:tgtEl>
                                          <p:spTgt spid="56323">
                                            <p:txEl>
                                              <p:pRg st="2" end="2"/>
                                            </p:txEl>
                                          </p:spTgt>
                                        </p:tgtEl>
                                        <p:attrNameLst>
                                          <p:attrName>style.visibility</p:attrName>
                                        </p:attrNameLst>
                                      </p:cBhvr>
                                      <p:to>
                                        <p:strVal val="visible"/>
                                      </p:to>
                                    </p:set>
                                    <p:animEffect transition="in" filter="blinds(horizontal)">
                                      <p:cBhvr>
                                        <p:cTn id="18" dur="500"/>
                                        <p:tgtEl>
                                          <p:spTgt spid="56323">
                                            <p:txEl>
                                              <p:pRg st="2" end="2"/>
                                            </p:txEl>
                                          </p:spTgt>
                                        </p:tgtEl>
                                      </p:cBhvr>
                                    </p:animEffect>
                                  </p:childTnLst>
                                </p:cTn>
                              </p:par>
                              <p:par>
                                <p:cTn id="19" presetID="3" presetClass="entr" presetSubtype="10" fill="hold" nodeType="withEffect">
                                  <p:stCondLst>
                                    <p:cond delay="0"/>
                                  </p:stCondLst>
                                  <p:childTnLst>
                                    <p:set>
                                      <p:cBhvr>
                                        <p:cTn id="20" dur="1" fill="hold">
                                          <p:stCondLst>
                                            <p:cond delay="0"/>
                                          </p:stCondLst>
                                        </p:cTn>
                                        <p:tgtEl>
                                          <p:spTgt spid="56323">
                                            <p:txEl>
                                              <p:pRg st="3" end="3"/>
                                            </p:txEl>
                                          </p:spTgt>
                                        </p:tgtEl>
                                        <p:attrNameLst>
                                          <p:attrName>style.visibility</p:attrName>
                                        </p:attrNameLst>
                                      </p:cBhvr>
                                      <p:to>
                                        <p:strVal val="visible"/>
                                      </p:to>
                                    </p:set>
                                    <p:animEffect transition="in" filter="blinds(horizontal)">
                                      <p:cBhvr>
                                        <p:cTn id="21" dur="500"/>
                                        <p:tgtEl>
                                          <p:spTgt spid="56323">
                                            <p:txEl>
                                              <p:pRg st="3" end="3"/>
                                            </p:txEl>
                                          </p:spTgt>
                                        </p:tgtEl>
                                      </p:cBhvr>
                                    </p:animEffect>
                                  </p:childTnLst>
                                </p:cTn>
                              </p:par>
                              <p:par>
                                <p:cTn id="22" presetID="3" presetClass="entr" presetSubtype="10" fill="hold" nodeType="withEffect">
                                  <p:stCondLst>
                                    <p:cond delay="0"/>
                                  </p:stCondLst>
                                  <p:childTnLst>
                                    <p:set>
                                      <p:cBhvr>
                                        <p:cTn id="23" dur="1" fill="hold">
                                          <p:stCondLst>
                                            <p:cond delay="0"/>
                                          </p:stCondLst>
                                        </p:cTn>
                                        <p:tgtEl>
                                          <p:spTgt spid="56323">
                                            <p:txEl>
                                              <p:pRg st="4" end="4"/>
                                            </p:txEl>
                                          </p:spTgt>
                                        </p:tgtEl>
                                        <p:attrNameLst>
                                          <p:attrName>style.visibility</p:attrName>
                                        </p:attrNameLst>
                                      </p:cBhvr>
                                      <p:to>
                                        <p:strVal val="visible"/>
                                      </p:to>
                                    </p:set>
                                    <p:animEffect transition="in" filter="blinds(horizontal)">
                                      <p:cBhvr>
                                        <p:cTn id="24" dur="500"/>
                                        <p:tgtEl>
                                          <p:spTgt spid="56323">
                                            <p:txEl>
                                              <p:pRg st="4" end="4"/>
                                            </p:txEl>
                                          </p:spTgt>
                                        </p:tgtEl>
                                      </p:cBhvr>
                                    </p:animEffect>
                                  </p:childTnLst>
                                </p:cTn>
                              </p:par>
                              <p:par>
                                <p:cTn id="25" presetID="3" presetClass="entr" presetSubtype="10" fill="hold" nodeType="withEffect">
                                  <p:stCondLst>
                                    <p:cond delay="0"/>
                                  </p:stCondLst>
                                  <p:childTnLst>
                                    <p:set>
                                      <p:cBhvr>
                                        <p:cTn id="26" dur="1" fill="hold">
                                          <p:stCondLst>
                                            <p:cond delay="0"/>
                                          </p:stCondLst>
                                        </p:cTn>
                                        <p:tgtEl>
                                          <p:spTgt spid="56323">
                                            <p:txEl>
                                              <p:pRg st="5" end="5"/>
                                            </p:txEl>
                                          </p:spTgt>
                                        </p:tgtEl>
                                        <p:attrNameLst>
                                          <p:attrName>style.visibility</p:attrName>
                                        </p:attrNameLst>
                                      </p:cBhvr>
                                      <p:to>
                                        <p:strVal val="visible"/>
                                      </p:to>
                                    </p:set>
                                    <p:animEffect transition="in" filter="blinds(horizontal)">
                                      <p:cBhvr>
                                        <p:cTn id="27" dur="500"/>
                                        <p:tgtEl>
                                          <p:spTgt spid="5632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22" grpId="0"/>
    </p:bldLst>
  </p:timing>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1745" name="Text Box 2">
            <a:extLst>
              <a:ext uri="{FF2B5EF4-FFF2-40B4-BE49-F238E27FC236}">
                <a16:creationId xmlns:a16="http://schemas.microsoft.com/office/drawing/2014/main" id="{06852998-82D6-8635-756F-AA7DD2546CCB}"/>
              </a:ext>
            </a:extLst>
          </p:cNvPr>
          <p:cNvSpPr txBox="1">
            <a:spLocks noChangeArrowheads="1"/>
          </p:cNvSpPr>
          <p:nvPr/>
        </p:nvSpPr>
        <p:spPr bwMode="auto">
          <a:xfrm>
            <a:off x="0" y="0"/>
            <a:ext cx="8763000" cy="43592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zh-CN" altLang="en-US" sz="3200" b="1"/>
              <a:t>六  集合种群</a:t>
            </a:r>
          </a:p>
          <a:p>
            <a:pPr eaLnBrk="1" hangingPunct="1">
              <a:spcBef>
                <a:spcPct val="50000"/>
              </a:spcBef>
            </a:pPr>
            <a:r>
              <a:rPr lang="zh-CN" altLang="en-US" sz="2800" b="1"/>
              <a:t>集合种群：</a:t>
            </a:r>
            <a:r>
              <a:rPr lang="en-US" altLang="zh-CN" sz="2800" b="1"/>
              <a:t>metapopulation</a:t>
            </a:r>
            <a:r>
              <a:rPr lang="zh-CN" altLang="en-US" sz="2800" b="1"/>
              <a:t>，是生境斑块中局域种群（</a:t>
            </a:r>
            <a:r>
              <a:rPr lang="en-US" altLang="zh-CN" sz="2800" b="1"/>
              <a:t>local population</a:t>
            </a:r>
            <a:r>
              <a:rPr lang="zh-CN" altLang="en-US" sz="2800" b="1"/>
              <a:t>）的集合，这些局域种群在空间上存在隔离，彼此间通过个体扩散而相互联系。</a:t>
            </a:r>
          </a:p>
          <a:p>
            <a:pPr eaLnBrk="1" hangingPunct="1">
              <a:spcBef>
                <a:spcPct val="50000"/>
              </a:spcBef>
            </a:pPr>
            <a:endParaRPr lang="zh-CN" altLang="en-US" sz="2800" b="1"/>
          </a:p>
          <a:p>
            <a:pPr eaLnBrk="1" hangingPunct="1">
              <a:spcBef>
                <a:spcPct val="50000"/>
              </a:spcBef>
            </a:pPr>
            <a:endParaRPr lang="zh-CN" altLang="en-US" b="1"/>
          </a:p>
          <a:p>
            <a:pPr eaLnBrk="1" hangingPunct="1">
              <a:spcBef>
                <a:spcPct val="50000"/>
              </a:spcBef>
            </a:pPr>
            <a:endParaRPr lang="zh-CN" altLang="en-US" b="1"/>
          </a:p>
          <a:p>
            <a:pPr eaLnBrk="1" hangingPunct="1">
              <a:spcBef>
                <a:spcPct val="50000"/>
              </a:spcBef>
            </a:pPr>
            <a:r>
              <a:rPr lang="zh-CN" altLang="en-US" b="1"/>
              <a:t> </a:t>
            </a:r>
          </a:p>
        </p:txBody>
      </p:sp>
      <p:pic>
        <p:nvPicPr>
          <p:cNvPr id="31746" name="Picture 3">
            <a:extLst>
              <a:ext uri="{FF2B5EF4-FFF2-40B4-BE49-F238E27FC236}">
                <a16:creationId xmlns:a16="http://schemas.microsoft.com/office/drawing/2014/main" id="{E5683AD6-04F2-F831-429A-0BE8653127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913" y="2060575"/>
            <a:ext cx="5449887" cy="3576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Text Box 4">
            <a:extLst>
              <a:ext uri="{FF2B5EF4-FFF2-40B4-BE49-F238E27FC236}">
                <a16:creationId xmlns:a16="http://schemas.microsoft.com/office/drawing/2014/main" id="{314E183B-D209-911B-0853-211F849D2803}"/>
              </a:ext>
            </a:extLst>
          </p:cNvPr>
          <p:cNvSpPr txBox="1">
            <a:spLocks noChangeArrowheads="1"/>
          </p:cNvSpPr>
          <p:nvPr/>
        </p:nvSpPr>
        <p:spPr bwMode="auto">
          <a:xfrm>
            <a:off x="0" y="5730875"/>
            <a:ext cx="8915400" cy="112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eaLnBrk="1" hangingPunct="1">
              <a:spcBef>
                <a:spcPct val="50000"/>
              </a:spcBef>
            </a:pPr>
            <a:r>
              <a:rPr lang="en-US" altLang="zh-CN"/>
              <a:t> </a:t>
            </a:r>
            <a:r>
              <a:rPr lang="zh-CN" altLang="en-US" sz="2000" b="1"/>
              <a:t>集合种群及其动态模式图。圆圈代表生境板块；点儿代表生物个体。箭头表示个体在斑块间的迁移。随着时间推移，集合种群整体的数量变化小于各局域种群的数量变化</a:t>
            </a:r>
            <a:r>
              <a:rPr lang="zh-CN" altLang="en-US"/>
              <a:t>。 </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69" name="Text Box 2">
            <a:extLst>
              <a:ext uri="{FF2B5EF4-FFF2-40B4-BE49-F238E27FC236}">
                <a16:creationId xmlns:a16="http://schemas.microsoft.com/office/drawing/2014/main" id="{61FF8862-F2E8-2F27-9E51-2572821E7313}"/>
              </a:ext>
            </a:extLst>
          </p:cNvPr>
          <p:cNvSpPr txBox="1">
            <a:spLocks noChangeArrowheads="1"/>
          </p:cNvSpPr>
          <p:nvPr/>
        </p:nvSpPr>
        <p:spPr bwMode="auto">
          <a:xfrm>
            <a:off x="609600" y="312762"/>
            <a:ext cx="8210872" cy="6232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ctr" eaLnBrk="1" hangingPunct="1">
              <a:spcBef>
                <a:spcPct val="50000"/>
              </a:spcBef>
            </a:pPr>
            <a:r>
              <a:rPr lang="en-US" altLang="zh-CN" dirty="0"/>
              <a:t> </a:t>
            </a:r>
            <a:r>
              <a:rPr lang="zh-CN" altLang="en-US" sz="3200" b="1" dirty="0"/>
              <a:t>生态学研究的</a:t>
            </a:r>
            <a:r>
              <a:rPr lang="en-US" altLang="zh-CN" sz="3200" b="1" dirty="0"/>
              <a:t>3</a:t>
            </a:r>
            <a:r>
              <a:rPr lang="zh-CN" altLang="en-US" sz="3200" b="1" dirty="0"/>
              <a:t>个空间尺度（以青蛙为例）</a:t>
            </a:r>
          </a:p>
          <a:p>
            <a:pPr algn="just" eaLnBrk="1" hangingPunct="1">
              <a:spcBef>
                <a:spcPts val="1000"/>
              </a:spcBef>
            </a:pPr>
            <a:r>
              <a:rPr lang="zh-CN" altLang="en-US" sz="2800" b="1" dirty="0"/>
              <a:t>局域尺度</a:t>
            </a:r>
          </a:p>
          <a:p>
            <a:pPr algn="just" eaLnBrk="1" hangingPunct="1">
              <a:spcBef>
                <a:spcPts val="1000"/>
              </a:spcBef>
            </a:pPr>
            <a:r>
              <a:rPr lang="zh-CN" altLang="en-US" sz="2800" dirty="0"/>
              <a:t>个体在这一尺度内完成取食和繁殖等活动。</a:t>
            </a:r>
            <a:endParaRPr lang="en-US" altLang="zh-CN" sz="2800" dirty="0"/>
          </a:p>
          <a:p>
            <a:pPr algn="just" eaLnBrk="1" hangingPunct="1">
              <a:spcBef>
                <a:spcPts val="1000"/>
              </a:spcBef>
            </a:pPr>
            <a:r>
              <a:rPr kumimoji="0" lang="zh-CN" altLang="zh-CN" b="1" dirty="0">
                <a:solidFill>
                  <a:srgbClr val="000000"/>
                </a:solidFill>
                <a:latin typeface="Arial" panose="020B0604020202020204" pitchFamily="34" charset="0"/>
              </a:rPr>
              <a:t>塘的水温</a:t>
            </a:r>
            <a:r>
              <a:rPr kumimoji="0" lang="zh-CN" altLang="zh-CN" dirty="0">
                <a:solidFill>
                  <a:srgbClr val="000000"/>
                </a:solidFill>
                <a:latin typeface="Arial" panose="020B0604020202020204" pitchFamily="34" charset="0"/>
                <a:ea typeface="-webkit-standard"/>
              </a:rPr>
              <a:t>、</a:t>
            </a:r>
            <a:r>
              <a:rPr kumimoji="0" lang="zh-CN" altLang="zh-CN" b="1" dirty="0">
                <a:solidFill>
                  <a:srgbClr val="000000"/>
                </a:solidFill>
                <a:latin typeface="Arial" panose="020B0604020202020204" pitchFamily="34" charset="0"/>
              </a:rPr>
              <a:t>食物的丰度</a:t>
            </a:r>
            <a:r>
              <a:rPr kumimoji="0" lang="zh-CN" altLang="zh-CN" dirty="0">
                <a:solidFill>
                  <a:srgbClr val="000000"/>
                </a:solidFill>
                <a:latin typeface="Arial" panose="020B0604020202020204" pitchFamily="34" charset="0"/>
                <a:ea typeface="-webkit-standard"/>
              </a:rPr>
              <a:t>、</a:t>
            </a:r>
            <a:r>
              <a:rPr kumimoji="0" lang="zh-CN" altLang="zh-CN" b="1" dirty="0">
                <a:solidFill>
                  <a:srgbClr val="000000"/>
                </a:solidFill>
                <a:latin typeface="Arial" panose="020B0604020202020204" pitchFamily="34" charset="0"/>
              </a:rPr>
              <a:t>捕食者的压力</a:t>
            </a:r>
            <a:endParaRPr lang="zh-CN" altLang="en-US" dirty="0"/>
          </a:p>
          <a:p>
            <a:pPr algn="just" eaLnBrk="1" hangingPunct="1">
              <a:spcBef>
                <a:spcPts val="1000"/>
              </a:spcBef>
            </a:pPr>
            <a:r>
              <a:rPr lang="zh-CN" altLang="en-US" sz="2800" b="1" dirty="0"/>
              <a:t>集合种群尺度</a:t>
            </a:r>
          </a:p>
          <a:p>
            <a:pPr algn="just" eaLnBrk="1" hangingPunct="1">
              <a:spcBef>
                <a:spcPts val="1000"/>
              </a:spcBef>
            </a:pPr>
            <a:r>
              <a:rPr lang="zh-CN" altLang="en-US" sz="2800" dirty="0"/>
              <a:t>在该尺度内，扩散个体在不同的局域种群之间迁移</a:t>
            </a:r>
            <a:endParaRPr lang="en-US" altLang="zh-CN" sz="2800" dirty="0"/>
          </a:p>
          <a:p>
            <a:pPr algn="just" eaLnBrk="1" hangingPunct="1">
              <a:spcBef>
                <a:spcPts val="1000"/>
              </a:spcBef>
            </a:pPr>
            <a:r>
              <a:rPr kumimoji="0" lang="zh-CN" altLang="zh-CN" b="1" dirty="0">
                <a:solidFill>
                  <a:srgbClr val="000000"/>
                </a:solidFill>
                <a:latin typeface="Arial" panose="020B0604020202020204" pitchFamily="34" charset="0"/>
              </a:rPr>
              <a:t>池塘之间的距离（廊道）和扩散率，从而设计保护区</a:t>
            </a:r>
            <a:endParaRPr kumimoji="0" lang="zh-CN" altLang="en-US" b="1" dirty="0">
              <a:solidFill>
                <a:srgbClr val="000000"/>
              </a:solidFill>
              <a:latin typeface="Arial" panose="020B0604020202020204" pitchFamily="34" charset="0"/>
            </a:endParaRPr>
          </a:p>
          <a:p>
            <a:pPr algn="just" eaLnBrk="1" hangingPunct="1">
              <a:spcBef>
                <a:spcPts val="1000"/>
              </a:spcBef>
            </a:pPr>
            <a:r>
              <a:rPr lang="zh-CN" altLang="en-US" sz="2800" b="1" dirty="0"/>
              <a:t>地理尺度</a:t>
            </a:r>
          </a:p>
          <a:p>
            <a:pPr algn="just" eaLnBrk="1" hangingPunct="1">
              <a:spcBef>
                <a:spcPts val="1000"/>
              </a:spcBef>
            </a:pPr>
            <a:r>
              <a:rPr lang="zh-CN" altLang="en-US" sz="2800" dirty="0"/>
              <a:t>一个物种所占据的整个地理区域，一般个体不会扩散出该区域</a:t>
            </a:r>
            <a:endParaRPr lang="en-US" altLang="zh-CN" sz="2800" dirty="0"/>
          </a:p>
          <a:p>
            <a:pPr algn="just" eaLnBrk="1" hangingPunct="1">
              <a:spcBef>
                <a:spcPts val="1000"/>
              </a:spcBef>
            </a:pPr>
            <a:r>
              <a:rPr kumimoji="0" lang="zh-CN" altLang="zh-CN" b="1" dirty="0">
                <a:solidFill>
                  <a:srgbClr val="000000"/>
                </a:solidFill>
                <a:latin typeface="Arial" panose="020B0604020202020204" pitchFamily="34" charset="0"/>
              </a:rPr>
              <a:t>平均年降雨量、最低冬季温度或历史上的大陆漂移才是决定中华大蟾蜍分布边界</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3" name="Text Box 2">
            <a:extLst>
              <a:ext uri="{FF2B5EF4-FFF2-40B4-BE49-F238E27FC236}">
                <a16:creationId xmlns:a16="http://schemas.microsoft.com/office/drawing/2014/main" id="{95FE57B0-E863-CA0E-321D-8C49ECDEF2BE}"/>
              </a:ext>
            </a:extLst>
          </p:cNvPr>
          <p:cNvSpPr txBox="1">
            <a:spLocks noChangeArrowheads="1"/>
          </p:cNvSpPr>
          <p:nvPr/>
        </p:nvSpPr>
        <p:spPr bwMode="auto">
          <a:xfrm>
            <a:off x="468313" y="260350"/>
            <a:ext cx="8496300" cy="69881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lvl1pPr>
              <a:defRPr kumimoji="1" sz="2400">
                <a:solidFill>
                  <a:schemeClr val="tx1"/>
                </a:solidFill>
                <a:latin typeface="Times New Roman" panose="02020603050405020304" pitchFamily="18" charset="0"/>
                <a:ea typeface="宋体" panose="02010600030101010101" pitchFamily="2" charset="-122"/>
              </a:defRPr>
            </a:lvl1pPr>
            <a:lvl2pPr marL="742950" indent="-285750">
              <a:defRPr kumimoji="1" sz="2400">
                <a:solidFill>
                  <a:schemeClr val="tx1"/>
                </a:solidFill>
                <a:latin typeface="Times New Roman" panose="02020603050405020304" pitchFamily="18" charset="0"/>
                <a:ea typeface="宋体" panose="02010600030101010101" pitchFamily="2" charset="-122"/>
              </a:defRPr>
            </a:lvl2pPr>
            <a:lvl3pPr marL="1143000" indent="-228600">
              <a:defRPr kumimoji="1" sz="2400">
                <a:solidFill>
                  <a:schemeClr val="tx1"/>
                </a:solidFill>
                <a:latin typeface="Times New Roman" panose="02020603050405020304" pitchFamily="18" charset="0"/>
                <a:ea typeface="宋体" panose="02010600030101010101" pitchFamily="2" charset="-122"/>
              </a:defRPr>
            </a:lvl3pPr>
            <a:lvl4pPr marL="1600200" indent="-228600">
              <a:defRPr kumimoji="1" sz="2400">
                <a:solidFill>
                  <a:schemeClr val="tx1"/>
                </a:solidFill>
                <a:latin typeface="Times New Roman" panose="02020603050405020304" pitchFamily="18" charset="0"/>
                <a:ea typeface="宋体" panose="02010600030101010101" pitchFamily="2" charset="-122"/>
              </a:defRPr>
            </a:lvl4pPr>
            <a:lvl5pPr marL="2057400" indent="-228600">
              <a:defRPr kumimoji="1" sz="24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algn="just" eaLnBrk="1" hangingPunct="1">
              <a:spcBef>
                <a:spcPct val="50000"/>
              </a:spcBef>
            </a:pPr>
            <a:r>
              <a:rPr lang="en-US" altLang="zh-CN"/>
              <a:t> </a:t>
            </a:r>
            <a:r>
              <a:rPr lang="zh-CN" altLang="en-US" sz="3200" b="1"/>
              <a:t>集合种群理论的意义与应用：</a:t>
            </a:r>
          </a:p>
          <a:p>
            <a:pPr algn="just" eaLnBrk="1" hangingPunct="1">
              <a:spcBef>
                <a:spcPct val="50000"/>
              </a:spcBef>
            </a:pPr>
            <a:r>
              <a:rPr lang="zh-CN" altLang="en-US" sz="2800"/>
              <a:t>集合种群理论模型的重要应用是做出预测，这些预测对景观管理和自然保护有很大的潜在使用价值。如</a:t>
            </a:r>
            <a:r>
              <a:rPr lang="en-US" altLang="zh-CN" sz="2800"/>
              <a:t>Levins</a:t>
            </a:r>
            <a:r>
              <a:rPr lang="zh-CN" altLang="en-US" sz="2800"/>
              <a:t>建立集合种群模型的动因之一是解决大范围的害虫防治问题。</a:t>
            </a:r>
          </a:p>
          <a:p>
            <a:pPr algn="just" eaLnBrk="1" hangingPunct="1">
              <a:spcBef>
                <a:spcPct val="50000"/>
              </a:spcBef>
            </a:pPr>
            <a:r>
              <a:rPr lang="zh-CN" altLang="en-US" sz="2800"/>
              <a:t> </a:t>
            </a:r>
            <a:r>
              <a:rPr lang="en-US" altLang="zh-CN" sz="2800" b="1"/>
              <a:t>Levins</a:t>
            </a:r>
            <a:r>
              <a:rPr lang="zh-CN" altLang="en-US" sz="2800" b="1"/>
              <a:t>模型：</a:t>
            </a:r>
            <a:r>
              <a:rPr lang="en-US" altLang="zh-CN" sz="2800" b="1"/>
              <a:t>dp/dt=mp(1-p)-ep; P’ = 1-e/m</a:t>
            </a:r>
          </a:p>
          <a:p>
            <a:pPr algn="just" eaLnBrk="1" hangingPunct="1">
              <a:spcBef>
                <a:spcPct val="50000"/>
              </a:spcBef>
            </a:pPr>
            <a:r>
              <a:rPr kumimoji="0" lang="en-US" altLang="zh-CN" sz="2800" b="1"/>
              <a:t>e,</a:t>
            </a:r>
            <a:r>
              <a:rPr lang="en-US" altLang="zh-CN" sz="2800" b="1"/>
              <a:t>m</a:t>
            </a:r>
            <a:r>
              <a:rPr lang="zh-CN" altLang="en-US" sz="2800"/>
              <a:t>分别为灭绝和侵占参数。据模型，种群多度（</a:t>
            </a:r>
            <a:r>
              <a:rPr lang="en-US" altLang="zh-CN" sz="2800"/>
              <a:t>p</a:t>
            </a:r>
            <a:r>
              <a:rPr lang="zh-CN" altLang="en-US" sz="2800"/>
              <a:t>值）将随着局域种群灭绝率的瞬间变异度的增加而减小。根据这一结果，</a:t>
            </a:r>
            <a:r>
              <a:rPr lang="en-US" altLang="zh-CN" sz="2800"/>
              <a:t>Levins</a:t>
            </a:r>
            <a:r>
              <a:rPr lang="zh-CN" altLang="en-US" sz="2800"/>
              <a:t>建议一种害虫的防治措施应当在充分大的范围内同步使用。可惜人们对集合种群这一非常重要的性质忽视了二十多年，近些年才发现</a:t>
            </a:r>
            <a:r>
              <a:rPr lang="en-US" altLang="zh-CN" sz="2800"/>
              <a:t>Levin</a:t>
            </a:r>
            <a:r>
              <a:rPr lang="zh-CN" altLang="en-US" sz="2800"/>
              <a:t>的观点对保护生物学理论的发展和应用有非常重要的意义。</a:t>
            </a:r>
          </a:p>
          <a:p>
            <a:pPr eaLnBrk="1" hangingPunct="1">
              <a:spcBef>
                <a:spcPct val="50000"/>
              </a:spcBef>
            </a:pPr>
            <a:endParaRPr lang="en-US" altLang="zh-CN" sz="2800"/>
          </a:p>
        </p:txBody>
      </p:sp>
    </p:spTree>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400" b="0"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3410</TotalTime>
  <Words>4024</Words>
  <Application>Microsoft Macintosh PowerPoint</Application>
  <PresentationFormat>全屏显示(4:3)</PresentationFormat>
  <Paragraphs>269</Paragraphs>
  <Slides>43</Slides>
  <Notes>0</Notes>
  <HiddenSlides>0</HiddenSlides>
  <MMClips>0</MMClips>
  <ScaleCrop>false</ScaleCrop>
  <HeadingPairs>
    <vt:vector size="6" baseType="variant">
      <vt:variant>
        <vt:lpstr>已用的字体</vt:lpstr>
      </vt:variant>
      <vt:variant>
        <vt:i4>5</vt:i4>
      </vt:variant>
      <vt:variant>
        <vt:lpstr>主题</vt:lpstr>
      </vt:variant>
      <vt:variant>
        <vt:i4>1</vt:i4>
      </vt:variant>
      <vt:variant>
        <vt:lpstr>幻灯片标题</vt:lpstr>
      </vt:variant>
      <vt:variant>
        <vt:i4>43</vt:i4>
      </vt:variant>
    </vt:vector>
  </HeadingPairs>
  <TitlesOfParts>
    <vt:vector size="49" baseType="lpstr">
      <vt:lpstr>黑体</vt:lpstr>
      <vt:lpstr>宋体</vt:lpstr>
      <vt:lpstr>微软雅黑</vt:lpstr>
      <vt:lpstr>Arial</vt:lpstr>
      <vt:lpstr>Times New Roman</vt:lpstr>
      <vt:lpstr>默认设计模板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Beijing Normal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第三章 种群生态学</dc:title>
  <dc:creator>Nui Cuijuan</dc:creator>
  <cp:lastModifiedBy>邦 肖</cp:lastModifiedBy>
  <cp:revision>146</cp:revision>
  <dcterms:created xsi:type="dcterms:W3CDTF">2002-04-02T01:04:02Z</dcterms:created>
  <dcterms:modified xsi:type="dcterms:W3CDTF">2025-10-01T01:33:22Z</dcterms:modified>
</cp:coreProperties>
</file>