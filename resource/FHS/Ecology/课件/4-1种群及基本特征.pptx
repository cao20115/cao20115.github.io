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50" r:id="rId2"/>
    <p:sldId id="336" r:id="rId3"/>
    <p:sldId id="337" r:id="rId4"/>
    <p:sldId id="338" r:id="rId5"/>
    <p:sldId id="833" r:id="rId6"/>
    <p:sldId id="339" r:id="rId7"/>
    <p:sldId id="340" r:id="rId8"/>
    <p:sldId id="341" r:id="rId9"/>
    <p:sldId id="346" r:id="rId10"/>
    <p:sldId id="834" r:id="rId11"/>
    <p:sldId id="835" r:id="rId12"/>
    <p:sldId id="836" r:id="rId13"/>
    <p:sldId id="975" r:id="rId14"/>
    <p:sldId id="978" r:id="rId15"/>
    <p:sldId id="607" r:id="rId16"/>
    <p:sldId id="979" r:id="rId17"/>
    <p:sldId id="981" r:id="rId18"/>
    <p:sldId id="1025" r:id="rId19"/>
    <p:sldId id="343" r:id="rId20"/>
    <p:sldId id="344" r:id="rId21"/>
    <p:sldId id="366" r:id="rId22"/>
    <p:sldId id="368" r:id="rId23"/>
    <p:sldId id="365" r:id="rId24"/>
    <p:sldId id="1026" r:id="rId25"/>
    <p:sldId id="838" r:id="rId26"/>
    <p:sldId id="364" r:id="rId27"/>
    <p:sldId id="800" r:id="rId28"/>
    <p:sldId id="345" r:id="rId29"/>
    <p:sldId id="266" r:id="rId30"/>
    <p:sldId id="285" r:id="rId31"/>
    <p:sldId id="269" r:id="rId32"/>
    <p:sldId id="286" r:id="rId33"/>
    <p:sldId id="362" r:id="rId34"/>
    <p:sldId id="840" r:id="rId35"/>
    <p:sldId id="841" r:id="rId36"/>
    <p:sldId id="842" r:id="rId37"/>
    <p:sldId id="843" r:id="rId38"/>
    <p:sldId id="844" r:id="rId39"/>
    <p:sldId id="361" r:id="rId40"/>
    <p:sldId id="369" r:id="rId41"/>
    <p:sldId id="270" r:id="rId42"/>
    <p:sldId id="328" r:id="rId43"/>
    <p:sldId id="271" r:id="rId44"/>
    <p:sldId id="272" r:id="rId45"/>
    <p:sldId id="358" r:id="rId46"/>
    <p:sldId id="845" r:id="rId47"/>
    <p:sldId id="974" r:id="rId48"/>
    <p:sldId id="273" r:id="rId49"/>
    <p:sldId id="295" r:id="rId50"/>
    <p:sldId id="274" r:id="rId51"/>
    <p:sldId id="686" r:id="rId52"/>
    <p:sldId id="275" r:id="rId53"/>
    <p:sldId id="278" r:id="rId54"/>
    <p:sldId id="277" r:id="rId55"/>
    <p:sldId id="447" r:id="rId56"/>
    <p:sldId id="354" r:id="rId57"/>
    <p:sldId id="353" r:id="rId58"/>
    <p:sldId id="377" r:id="rId59"/>
    <p:sldId id="372" r:id="rId60"/>
    <p:sldId id="334" r:id="rId61"/>
    <p:sldId id="1027" r:id="rId62"/>
  </p:sldIdLst>
  <p:sldSz cx="9436100" cy="7042150"/>
  <p:notesSz cx="9436100" cy="70421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E7F03B-180A-AD4E-8296-70475E487336}" v="1" dt="2025-09-27T02:41:48.50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29"/>
    <p:restoredTop sz="94685"/>
  </p:normalViewPr>
  <p:slideViewPr>
    <p:cSldViewPr>
      <p:cViewPr varScale="1">
        <p:scale>
          <a:sx n="140" d="100"/>
          <a:sy n="140" d="100"/>
        </p:scale>
        <p:origin x="208" y="136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邦 肖" userId="38982054f6b45302" providerId="LiveId" clId="{95A0DA5A-AD6B-579F-A03E-EEED9F52BEEA}"/>
    <pc:docChg chg="custSel modSld">
      <pc:chgData name="邦 肖" userId="38982054f6b45302" providerId="LiveId" clId="{95A0DA5A-AD6B-579F-A03E-EEED9F52BEEA}" dt="2025-09-27T02:42:24.346" v="11" actId="20577"/>
      <pc:docMkLst>
        <pc:docMk/>
      </pc:docMkLst>
      <pc:sldChg chg="modSp mod">
        <pc:chgData name="邦 肖" userId="38982054f6b45302" providerId="LiveId" clId="{95A0DA5A-AD6B-579F-A03E-EEED9F52BEEA}" dt="2025-09-27T02:42:17.771" v="9" actId="20577"/>
        <pc:sldMkLst>
          <pc:docMk/>
          <pc:sldMk cId="3550869009" sldId="353"/>
        </pc:sldMkLst>
        <pc:spChg chg="mod">
          <ac:chgData name="邦 肖" userId="38982054f6b45302" providerId="LiveId" clId="{95A0DA5A-AD6B-579F-A03E-EEED9F52BEEA}" dt="2025-09-27T02:42:17.771" v="9" actId="20577"/>
          <ac:spMkLst>
            <pc:docMk/>
            <pc:sldMk cId="3550869009" sldId="353"/>
            <ac:spMk id="104454" creationId="{3835DA41-DD54-5ECB-3FBD-1261108CCA9F}"/>
          </ac:spMkLst>
        </pc:spChg>
      </pc:sldChg>
      <pc:sldChg chg="modSp mod">
        <pc:chgData name="邦 肖" userId="38982054f6b45302" providerId="LiveId" clId="{95A0DA5A-AD6B-579F-A03E-EEED9F52BEEA}" dt="2025-09-27T02:42:07.663" v="8" actId="20577"/>
        <pc:sldMkLst>
          <pc:docMk/>
          <pc:sldMk cId="818966151" sldId="354"/>
        </pc:sldMkLst>
        <pc:spChg chg="mod">
          <ac:chgData name="邦 肖" userId="38982054f6b45302" providerId="LiveId" clId="{95A0DA5A-AD6B-579F-A03E-EEED9F52BEEA}" dt="2025-09-27T02:42:07.663" v="8" actId="20577"/>
          <ac:spMkLst>
            <pc:docMk/>
            <pc:sldMk cId="818966151" sldId="354"/>
            <ac:spMk id="105475" creationId="{4F3D1695-1BF4-DB90-7FF2-1EDC99AC4151}"/>
          </ac:spMkLst>
        </pc:spChg>
      </pc:sldChg>
      <pc:sldChg chg="modSp mod">
        <pc:chgData name="邦 肖" userId="38982054f6b45302" providerId="LiveId" clId="{95A0DA5A-AD6B-579F-A03E-EEED9F52BEEA}" dt="2025-09-27T02:42:24.346" v="11" actId="20577"/>
        <pc:sldMkLst>
          <pc:docMk/>
          <pc:sldMk cId="2828170481" sldId="372"/>
        </pc:sldMkLst>
        <pc:spChg chg="mod">
          <ac:chgData name="邦 肖" userId="38982054f6b45302" providerId="LiveId" clId="{95A0DA5A-AD6B-579F-A03E-EEED9F52BEEA}" dt="2025-09-27T02:42:24.346" v="11" actId="20577"/>
          <ac:spMkLst>
            <pc:docMk/>
            <pc:sldMk cId="2828170481" sldId="372"/>
            <ac:spMk id="123907" creationId="{4B2BFE7B-7885-1D45-B320-881F5382E0D7}"/>
          </ac:spMkLst>
        </pc:spChg>
      </pc:sldChg>
      <pc:sldChg chg="modSp mod">
        <pc:chgData name="邦 肖" userId="38982054f6b45302" providerId="LiveId" clId="{95A0DA5A-AD6B-579F-A03E-EEED9F52BEEA}" dt="2025-09-27T02:42:20.614" v="10" actId="20577"/>
        <pc:sldMkLst>
          <pc:docMk/>
          <pc:sldMk cId="2045608399" sldId="377"/>
        </pc:sldMkLst>
        <pc:spChg chg="mod">
          <ac:chgData name="邦 肖" userId="38982054f6b45302" providerId="LiveId" clId="{95A0DA5A-AD6B-579F-A03E-EEED9F52BEEA}" dt="2025-09-27T02:42:20.614" v="10" actId="20577"/>
          <ac:spMkLst>
            <pc:docMk/>
            <pc:sldMk cId="2045608399" sldId="377"/>
            <ac:spMk id="129030" creationId="{FE83ABA4-EA34-20B2-DCE3-373D715099E1}"/>
          </ac:spMkLst>
        </pc:spChg>
      </pc:sldChg>
      <pc:sldChg chg="modSp mod">
        <pc:chgData name="邦 肖" userId="38982054f6b45302" providerId="LiveId" clId="{95A0DA5A-AD6B-579F-A03E-EEED9F52BEEA}" dt="2025-09-27T02:42:03.120" v="7" actId="20577"/>
        <pc:sldMkLst>
          <pc:docMk/>
          <pc:sldMk cId="2852044220" sldId="447"/>
        </pc:sldMkLst>
        <pc:spChg chg="mod">
          <ac:chgData name="邦 肖" userId="38982054f6b45302" providerId="LiveId" clId="{95A0DA5A-AD6B-579F-A03E-EEED9F52BEEA}" dt="2025-09-27T02:42:03.120" v="7" actId="20577"/>
          <ac:spMkLst>
            <pc:docMk/>
            <pc:sldMk cId="2852044220" sldId="447"/>
            <ac:spMk id="204807" creationId="{DB0B7589-402B-0B27-7309-45D726177BB9}"/>
          </ac:spMkLst>
        </pc:spChg>
      </pc:sldChg>
      <pc:sldChg chg="modSp mod">
        <pc:chgData name="邦 肖" userId="38982054f6b45302" providerId="LiveId" clId="{95A0DA5A-AD6B-579F-A03E-EEED9F52BEEA}" dt="2025-09-27T02:41:56.955" v="6" actId="20577"/>
        <pc:sldMkLst>
          <pc:docMk/>
          <pc:sldMk cId="1510473997" sldId="686"/>
        </pc:sldMkLst>
        <pc:spChg chg="mod">
          <ac:chgData name="邦 肖" userId="38982054f6b45302" providerId="LiveId" clId="{95A0DA5A-AD6B-579F-A03E-EEED9F52BEEA}" dt="2025-09-27T02:41:56.955" v="6" actId="20577"/>
          <ac:spMkLst>
            <pc:docMk/>
            <pc:sldMk cId="1510473997" sldId="686"/>
            <ac:spMk id="463875" creationId="{01029D5A-8C35-1D8D-928F-EB28C31B4325}"/>
          </ac:spMkLst>
        </pc:spChg>
      </pc:sldChg>
      <pc:sldChg chg="addSp delSp modSp mod">
        <pc:chgData name="邦 肖" userId="38982054f6b45302" providerId="LiveId" clId="{95A0DA5A-AD6B-579F-A03E-EEED9F52BEEA}" dt="2025-09-27T02:41:51.391" v="4" actId="478"/>
        <pc:sldMkLst>
          <pc:docMk/>
          <pc:sldMk cId="363432986" sldId="974"/>
        </pc:sldMkLst>
        <pc:spChg chg="add del mod">
          <ac:chgData name="邦 肖" userId="38982054f6b45302" providerId="LiveId" clId="{95A0DA5A-AD6B-579F-A03E-EEED9F52BEEA}" dt="2025-09-27T02:41:51.391" v="4" actId="478"/>
          <ac:spMkLst>
            <pc:docMk/>
            <pc:sldMk cId="363432986" sldId="974"/>
            <ac:spMk id="3" creationId="{F883C10C-211B-58AA-295D-4EF5589BD67B}"/>
          </ac:spMkLst>
        </pc:spChg>
        <pc:spChg chg="mod">
          <ac:chgData name="邦 肖" userId="38982054f6b45302" providerId="LiveId" clId="{95A0DA5A-AD6B-579F-A03E-EEED9F52BEEA}" dt="2025-09-27T02:41:47.535" v="2" actId="20577"/>
          <ac:spMkLst>
            <pc:docMk/>
            <pc:sldMk cId="363432986" sldId="974"/>
            <ac:spMk id="786437" creationId="{2766504D-CCEA-02D5-7A8E-A2B42868015F}"/>
          </ac:spMkLst>
        </pc:spChg>
      </pc:sldChg>
      <pc:sldChg chg="modSp mod">
        <pc:chgData name="邦 肖" userId="38982054f6b45302" providerId="LiveId" clId="{95A0DA5A-AD6B-579F-A03E-EEED9F52BEEA}" dt="2025-09-27T02:30:34.264" v="0" actId="1076"/>
        <pc:sldMkLst>
          <pc:docMk/>
          <pc:sldMk cId="0" sldId="978"/>
        </pc:sldMkLst>
        <pc:spChg chg="mod">
          <ac:chgData name="邦 肖" userId="38982054f6b45302" providerId="LiveId" clId="{95A0DA5A-AD6B-579F-A03E-EEED9F52BEEA}" dt="2025-09-27T02:30:34.264" v="0" actId="1076"/>
          <ac:spMkLst>
            <pc:docMk/>
            <pc:sldMk cId="0" sldId="978"/>
            <ac:spMk id="2" creationId="{18A49C10-BA38-CF79-791D-E7DE245A9D2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08183" y="2183066"/>
            <a:ext cx="8026082" cy="1478851"/>
          </a:xfrm>
          <a:prstGeom prst="rect">
            <a:avLst/>
          </a:prstGeom>
        </p:spPr>
        <p:txBody>
          <a:bodyPr wrap="square" lIns="0" tIns="0" rIns="0" bIns="0">
            <a:spAutoFit/>
          </a:bodyPr>
          <a:lstStyle>
            <a:lvl1pPr>
              <a:defRPr sz="3500" b="0" i="0">
                <a:solidFill>
                  <a:schemeClr val="tx1"/>
                </a:solidFill>
                <a:latin typeface="Cambria"/>
                <a:cs typeface="Cambria"/>
              </a:defRPr>
            </a:lvl1pPr>
          </a:lstStyle>
          <a:p>
            <a:endParaRPr/>
          </a:p>
        </p:txBody>
      </p:sp>
      <p:sp>
        <p:nvSpPr>
          <p:cNvPr id="3" name="Holder 3"/>
          <p:cNvSpPr>
            <a:spLocks noGrp="1"/>
          </p:cNvSpPr>
          <p:nvPr>
            <p:ph type="subTitle" idx="4"/>
          </p:nvPr>
        </p:nvSpPr>
        <p:spPr>
          <a:xfrm>
            <a:off x="1416367" y="3943604"/>
            <a:ext cx="6609715" cy="1760537"/>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tx1"/>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tx1"/>
                </a:solidFill>
                <a:latin typeface="Cambria"/>
                <a:cs typeface="Cambria"/>
              </a:defRPr>
            </a:lvl1pPr>
          </a:lstStyle>
          <a:p>
            <a:endParaRPr/>
          </a:p>
        </p:txBody>
      </p:sp>
      <p:sp>
        <p:nvSpPr>
          <p:cNvPr id="3" name="Holder 3"/>
          <p:cNvSpPr>
            <a:spLocks noGrp="1"/>
          </p:cNvSpPr>
          <p:nvPr>
            <p:ph sz="half" idx="2"/>
          </p:nvPr>
        </p:nvSpPr>
        <p:spPr>
          <a:xfrm>
            <a:off x="472122" y="1619694"/>
            <a:ext cx="4107465" cy="464781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862861" y="1619694"/>
            <a:ext cx="4107465" cy="464781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tx1"/>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D5838B5-5BA1-6BFD-3561-FC80EE8C4DD6}"/>
              </a:ext>
            </a:extLst>
          </p:cNvPr>
          <p:cNvSpPr>
            <a:spLocks noGrp="1" noChangeArrowheads="1"/>
          </p:cNvSpPr>
          <p:nvPr>
            <p:ph type="dt" sz="half" idx="10"/>
          </p:nvPr>
        </p:nvSpPr>
        <p:spPr>
          <a:xfrm>
            <a:off x="472122" y="6549199"/>
            <a:ext cx="2171763" cy="276999"/>
          </a:xfrm>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8C2E6401-2CCC-A6F2-F4A3-112C77F979A6}"/>
              </a:ext>
            </a:extLst>
          </p:cNvPr>
          <p:cNvSpPr>
            <a:spLocks noGrp="1" noChangeArrowheads="1"/>
          </p:cNvSpPr>
          <p:nvPr>
            <p:ph type="ftr" sz="quarter" idx="11"/>
          </p:nvPr>
        </p:nvSpPr>
        <p:spPr>
          <a:xfrm>
            <a:off x="3210433" y="6549199"/>
            <a:ext cx="3021584" cy="276999"/>
          </a:xfrm>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EDC33F30-A954-0009-6F27-8339FEB8FB28}"/>
              </a:ext>
            </a:extLst>
          </p:cNvPr>
          <p:cNvSpPr>
            <a:spLocks noGrp="1" noChangeArrowheads="1"/>
          </p:cNvSpPr>
          <p:nvPr>
            <p:ph type="sldNum" sz="quarter" idx="12"/>
          </p:nvPr>
        </p:nvSpPr>
        <p:spPr>
          <a:xfrm>
            <a:off x="6798564" y="6549199"/>
            <a:ext cx="2171763" cy="276999"/>
          </a:xfrm>
          <a:ln/>
        </p:spPr>
        <p:txBody>
          <a:bodyPr/>
          <a:lstStyle>
            <a:lvl1pPr>
              <a:defRPr/>
            </a:lvl1pPr>
          </a:lstStyle>
          <a:p>
            <a:fld id="{13044909-70A4-5045-8A12-BCFB075CD042}" type="slidenum">
              <a:rPr lang="en-US" altLang="zh-CN"/>
              <a:pPr/>
              <a:t>‹#›</a:t>
            </a:fld>
            <a:endParaRPr lang="en-US" altLang="zh-CN"/>
          </a:p>
        </p:txBody>
      </p:sp>
    </p:spTree>
    <p:extLst>
      <p:ext uri="{BB962C8B-B14F-4D97-AF65-F5344CB8AC3E}">
        <p14:creationId xmlns:p14="http://schemas.microsoft.com/office/powerpoint/2010/main" val="1733523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5C66DA4B-A741-D00C-02BE-E5F5BE5BCA8D}"/>
              </a:ext>
            </a:extLst>
          </p:cNvPr>
          <p:cNvSpPr>
            <a:spLocks noGrp="1" noChangeArrowheads="1"/>
          </p:cNvSpPr>
          <p:nvPr>
            <p:ph type="dt" sz="half" idx="10"/>
          </p:nvPr>
        </p:nvSpPr>
        <p:spPr>
          <a:xfrm>
            <a:off x="472122" y="6549199"/>
            <a:ext cx="2171763" cy="276999"/>
          </a:xfrm>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F27C8F70-DE54-F0D7-A16B-813A3F58E748}"/>
              </a:ext>
            </a:extLst>
          </p:cNvPr>
          <p:cNvSpPr>
            <a:spLocks noGrp="1" noChangeArrowheads="1"/>
          </p:cNvSpPr>
          <p:nvPr>
            <p:ph type="ftr" sz="quarter" idx="11"/>
          </p:nvPr>
        </p:nvSpPr>
        <p:spPr>
          <a:xfrm>
            <a:off x="3210433" y="6549199"/>
            <a:ext cx="3021584" cy="276999"/>
          </a:xfrm>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FE18CA8-1D80-2A1C-4186-6E302C8E8070}"/>
              </a:ext>
            </a:extLst>
          </p:cNvPr>
          <p:cNvSpPr>
            <a:spLocks noGrp="1" noChangeArrowheads="1"/>
          </p:cNvSpPr>
          <p:nvPr>
            <p:ph type="sldNum" sz="quarter" idx="12"/>
          </p:nvPr>
        </p:nvSpPr>
        <p:spPr>
          <a:xfrm>
            <a:off x="6798564" y="6549199"/>
            <a:ext cx="2171763" cy="276999"/>
          </a:xfrm>
          <a:ln/>
        </p:spPr>
        <p:txBody>
          <a:bodyPr/>
          <a:lstStyle>
            <a:lvl1pPr>
              <a:defRPr/>
            </a:lvl1pPr>
          </a:lstStyle>
          <a:p>
            <a:fld id="{76BEB3B3-52AF-4E4D-B3EB-06A99D4A69F5}" type="slidenum">
              <a:rPr lang="en-US" altLang="zh-CN"/>
              <a:pPr/>
              <a:t>‹#›</a:t>
            </a:fld>
            <a:endParaRPr lang="en-US" altLang="zh-CN"/>
          </a:p>
        </p:txBody>
      </p:sp>
    </p:spTree>
    <p:extLst>
      <p:ext uri="{BB962C8B-B14F-4D97-AF65-F5344CB8AC3E}">
        <p14:creationId xmlns:p14="http://schemas.microsoft.com/office/powerpoint/2010/main" val="3342804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07708" y="625969"/>
            <a:ext cx="8020685" cy="138499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A438A5EF-AC19-AD72-5A8B-D6C8585A118C}"/>
              </a:ext>
            </a:extLst>
          </p:cNvPr>
          <p:cNvSpPr>
            <a:spLocks noGrp="1" noChangeArrowheads="1"/>
          </p:cNvSpPr>
          <p:nvPr>
            <p:ph type="dt" sz="half" idx="10"/>
          </p:nvPr>
        </p:nvSpPr>
        <p:spPr>
          <a:xfrm>
            <a:off x="472122" y="6549199"/>
            <a:ext cx="2171763" cy="276999"/>
          </a:xfrm>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9CCE682E-55F4-80F8-8BCF-47D07FE9809E}"/>
              </a:ext>
            </a:extLst>
          </p:cNvPr>
          <p:cNvSpPr>
            <a:spLocks noGrp="1" noChangeArrowheads="1"/>
          </p:cNvSpPr>
          <p:nvPr>
            <p:ph type="ftr" sz="quarter" idx="11"/>
          </p:nvPr>
        </p:nvSpPr>
        <p:spPr>
          <a:xfrm>
            <a:off x="3210433" y="6549199"/>
            <a:ext cx="3021584" cy="276999"/>
          </a:xfrm>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DB8A6C20-AA46-3737-EDF2-6B5334AF73B0}"/>
              </a:ext>
            </a:extLst>
          </p:cNvPr>
          <p:cNvSpPr>
            <a:spLocks noGrp="1" noChangeArrowheads="1"/>
          </p:cNvSpPr>
          <p:nvPr>
            <p:ph type="sldNum" sz="quarter" idx="12"/>
          </p:nvPr>
        </p:nvSpPr>
        <p:spPr>
          <a:xfrm>
            <a:off x="6798564" y="6549199"/>
            <a:ext cx="2171763" cy="276999"/>
          </a:xfrm>
          <a:ln/>
        </p:spPr>
        <p:txBody>
          <a:bodyPr/>
          <a:lstStyle>
            <a:lvl1pPr>
              <a:defRPr/>
            </a:lvl1pPr>
          </a:lstStyle>
          <a:p>
            <a:fld id="{71785348-3C1C-BC41-A2AA-80FB488F89C5}" type="slidenum">
              <a:rPr lang="en-US" altLang="zh-CN"/>
              <a:pPr/>
              <a:t>‹#›</a:t>
            </a:fld>
            <a:endParaRPr lang="en-US" altLang="zh-CN"/>
          </a:p>
        </p:txBody>
      </p:sp>
    </p:spTree>
    <p:extLst>
      <p:ext uri="{BB962C8B-B14F-4D97-AF65-F5344CB8AC3E}">
        <p14:creationId xmlns:p14="http://schemas.microsoft.com/office/powerpoint/2010/main" val="3464455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4302" y="157161"/>
            <a:ext cx="7943215" cy="558800"/>
          </a:xfrm>
          <a:prstGeom prst="rect">
            <a:avLst/>
          </a:prstGeom>
        </p:spPr>
        <p:txBody>
          <a:bodyPr wrap="square" lIns="0" tIns="0" rIns="0" bIns="0">
            <a:spAutoFit/>
          </a:bodyPr>
          <a:lstStyle>
            <a:lvl1pPr>
              <a:defRPr sz="3500" b="0" i="0">
                <a:solidFill>
                  <a:schemeClr val="tx1"/>
                </a:solidFill>
                <a:latin typeface="Cambria"/>
                <a:cs typeface="Cambria"/>
              </a:defRPr>
            </a:lvl1pPr>
          </a:lstStyle>
          <a:p>
            <a:endParaRPr/>
          </a:p>
        </p:txBody>
      </p:sp>
      <p:sp>
        <p:nvSpPr>
          <p:cNvPr id="3" name="Holder 3"/>
          <p:cNvSpPr>
            <a:spLocks noGrp="1"/>
          </p:cNvSpPr>
          <p:nvPr>
            <p:ph type="body" idx="1"/>
          </p:nvPr>
        </p:nvSpPr>
        <p:spPr>
          <a:xfrm>
            <a:off x="1301676" y="2553213"/>
            <a:ext cx="7651115" cy="387413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210433" y="6549199"/>
            <a:ext cx="3021584" cy="35210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72122" y="6549199"/>
            <a:ext cx="2171763" cy="35210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9/27/25</a:t>
            </a:fld>
            <a:endParaRPr lang="en-US"/>
          </a:p>
        </p:txBody>
      </p:sp>
      <p:sp>
        <p:nvSpPr>
          <p:cNvPr id="6" name="Holder 6"/>
          <p:cNvSpPr>
            <a:spLocks noGrp="1"/>
          </p:cNvSpPr>
          <p:nvPr>
            <p:ph type="sldNum" sz="quarter" idx="7"/>
          </p:nvPr>
        </p:nvSpPr>
        <p:spPr>
          <a:xfrm>
            <a:off x="6798564" y="6549199"/>
            <a:ext cx="2171763" cy="35210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6.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oleObject" Target="../embeddings/oleObject1.bin"/><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images.google.cn/imgres?imgurl=http://baike.baidu.com/pic/8/11741084291313346.jpg&amp;imgrefurl=http://baike.baidu.com/history/id%3D1551996&amp;h=454&amp;w=640&amp;sz=51&amp;hl=zh-CN&amp;start=1&amp;tbnid=gz-ambqjEIOyhM:&amp;tbnh=97&amp;tbnw=137&amp;prev=/images%3Fq%3D%25E5%25B9%25B4%25E8%25BD%25AE%25E5%259B%25BE%25E7%2589%2587%26gbv%3D2%26complete%3D1%26hl%3Dzh-CN%26newwindow%3D1" TargetMode="Externa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emf"/><Relationship Id="rId4" Type="http://schemas.openxmlformats.org/officeDocument/2006/relationships/slide" Target="slide44.xml"/></Relationships>
</file>

<file path=ppt/slides/_rels/slide43.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image" Target="../media/image26.jpeg"/><Relationship Id="rId1" Type="http://schemas.openxmlformats.org/officeDocument/2006/relationships/slideLayout" Target="../slideLayouts/slideLayout6.xml"/><Relationship Id="rId5" Type="http://schemas.openxmlformats.org/officeDocument/2006/relationships/image" Target="../media/image27.jpeg"/><Relationship Id="rId4" Type="http://schemas.openxmlformats.org/officeDocument/2006/relationships/hyperlink" Target="http://images.google.cn/imgres?imgurl=http://baike.baidu.com/pic/14/11736019749538859.jpg&amp;imgrefurl=http://baike.baidu.com/history/id%3D1720214&amp;h=403&amp;w=538&amp;sz=65&amp;hl=zh-CN&amp;start=1&amp;um=1&amp;tbnid=BBPiveJwT0xKkM:&amp;tbnh=99&amp;tbnw=132&amp;prev=/images%3Fq%3D%25E8%2597%25A4%25E5%25A3%25B6%26gbv%3D2%26um%3D1%26complete%3D1%26hl%3Dzh-CN%26newwindow%3D1%26sa%3DG"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images.google.cn/imgres?imgurl=http://www.xbsb.com.cn/photo/20067281374985023.jpg&amp;imgrefurl=http://kkanghui.blog.bokee.net/bloggermodule/blog_viewblog.do%3Fid%3D210241&amp;h=327&amp;w=400&amp;sz=93&amp;hl=zh-CN&amp;start=5&amp;tbnid=DABSz_umcz7XVM:&amp;tbnh=101&amp;tbnw=124&amp;prev=/images%3Fq%3D%25E8%259D%2597%25E8%2599%25AB%26gbv%3D2%26complete%3D1%26hl%3Dzh-CN%26newwindow%3D1" TargetMode="External"/><Relationship Id="rId2" Type="http://schemas.openxmlformats.org/officeDocument/2006/relationships/slide" Target="slide49.xml"/><Relationship Id="rId1" Type="http://schemas.openxmlformats.org/officeDocument/2006/relationships/slideLayout" Target="../slideLayouts/slideLayout6.xml"/><Relationship Id="rId4" Type="http://schemas.openxmlformats.org/officeDocument/2006/relationships/image" Target="../media/image28.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 Target="slide52.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32.jpeg"/><Relationship Id="rId7" Type="http://schemas.openxmlformats.org/officeDocument/2006/relationships/hyperlink" Target="http://image.baidu.com/i?ct=503316480&amp;z=0&amp;tn=baiduimagedetail&amp;word=%D3%E3&amp;in=40&amp;cl=2&amp;cm=1&amp;sc=0&amp;lm=-1&amp;pn=39&amp;rn=1" TargetMode="External"/><Relationship Id="rId2" Type="http://schemas.openxmlformats.org/officeDocument/2006/relationships/hyperlink" Target="http://image.baidu.com/i?ct=503316480&amp;z=0&amp;tn=baiduimagedetail&amp;word=%BB%A2&amp;in=8&amp;cl=2&amp;cm=1&amp;sc=0&amp;lm=-1&amp;pn=7&amp;rn=1" TargetMode="External"/><Relationship Id="rId1" Type="http://schemas.openxmlformats.org/officeDocument/2006/relationships/slideLayout" Target="../slideLayouts/slideLayout6.xml"/><Relationship Id="rId6" Type="http://schemas.openxmlformats.org/officeDocument/2006/relationships/image" Target="../media/image34.jpeg"/><Relationship Id="rId5" Type="http://schemas.openxmlformats.org/officeDocument/2006/relationships/hyperlink" Target="http://image.baidu.com/i?ct=503316480&amp;z=0&amp;tn=baiduimagedetail&amp;word=%C4%F1&amp;in=11&amp;cl=2&amp;cm=1&amp;sc=0&amp;lm=-1&amp;pn=10&amp;rn=1" TargetMode="External"/><Relationship Id="rId4" Type="http://schemas.openxmlformats.org/officeDocument/2006/relationships/image" Target="../media/image33.jpeg"/></Relationships>
</file>

<file path=ppt/slides/_rels/slide5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43.emf"/><Relationship Id="rId4" Type="http://schemas.openxmlformats.org/officeDocument/2006/relationships/oleObject" Target="../embeddings/oleObject3.bin"/></Relationships>
</file>

<file path=ppt/slides/_rels/slide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3.emf"/><Relationship Id="rId4" Type="http://schemas.openxmlformats.org/officeDocument/2006/relationships/oleObject" Target="../embeddings/oleObject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1" name="AutoShape 5">
            <a:extLst>
              <a:ext uri="{FF2B5EF4-FFF2-40B4-BE49-F238E27FC236}">
                <a16:creationId xmlns:a16="http://schemas.microsoft.com/office/drawing/2014/main" id="{CF34DE46-AB73-8321-E975-08F755DAC065}"/>
              </a:ext>
            </a:extLst>
          </p:cNvPr>
          <p:cNvSpPr>
            <a:spLocks noChangeArrowheads="1"/>
          </p:cNvSpPr>
          <p:nvPr/>
        </p:nvSpPr>
        <p:spPr bwMode="auto">
          <a:xfrm>
            <a:off x="207488" y="119001"/>
            <a:ext cx="9094480" cy="6580823"/>
          </a:xfrm>
          <a:prstGeom prst="bevel">
            <a:avLst>
              <a:gd name="adj" fmla="val 0"/>
            </a:avLst>
          </a:prstGeom>
          <a:noFill/>
          <a:ln w="28575">
            <a:no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zh-CN" altLang="en-US" sz="2800" b="1" dirty="0">
                <a:solidFill>
                  <a:srgbClr val="CC0000"/>
                </a:solidFill>
                <a:latin typeface="黑体" panose="02010609060101010101" pitchFamily="49" charset="-122"/>
              </a:rPr>
              <a:t>        第二部分　种群生态学</a:t>
            </a:r>
          </a:p>
          <a:p>
            <a:pPr algn="l"/>
            <a:r>
              <a:rPr lang="en-US" altLang="zh-CN" sz="2800" b="1" dirty="0">
                <a:solidFill>
                  <a:srgbClr val="0033CC"/>
                </a:solidFill>
                <a:latin typeface="黑体" panose="02010609060101010101" pitchFamily="49" charset="-122"/>
              </a:rPr>
              <a:t>1.</a:t>
            </a:r>
            <a:r>
              <a:rPr lang="zh-CN" altLang="en-US" sz="2800" b="1" dirty="0">
                <a:solidFill>
                  <a:srgbClr val="0033CC"/>
                </a:solidFill>
                <a:latin typeface="黑体" panose="02010609060101010101" pitchFamily="49" charset="-122"/>
              </a:rPr>
              <a:t>种群的概念和特征；</a:t>
            </a:r>
            <a:endParaRPr lang="en-US" altLang="zh-CN" sz="2800" b="1" dirty="0">
              <a:solidFill>
                <a:srgbClr val="0033CC"/>
              </a:solidFill>
              <a:latin typeface="黑体" panose="02010609060101010101" pitchFamily="49" charset="-122"/>
            </a:endParaRPr>
          </a:p>
          <a:p>
            <a:pPr algn="l"/>
            <a:r>
              <a:rPr lang="en-US" altLang="zh-CN" sz="2800" b="1" dirty="0">
                <a:solidFill>
                  <a:srgbClr val="0033CC"/>
                </a:solidFill>
                <a:latin typeface="黑体" panose="02010609060101010101" pitchFamily="49" charset="-122"/>
              </a:rPr>
              <a:t>2.</a:t>
            </a:r>
            <a:r>
              <a:rPr lang="zh-CN" altLang="en-US" sz="2800" b="1" dirty="0">
                <a:solidFill>
                  <a:srgbClr val="0033CC"/>
                </a:solidFill>
                <a:latin typeface="黑体" panose="02010609060101010101" pitchFamily="49" charset="-122"/>
              </a:rPr>
              <a:t>种群统计学特征：数量统计方法，空间分布，</a:t>
            </a:r>
          </a:p>
          <a:p>
            <a:pPr algn="l"/>
            <a:r>
              <a:rPr lang="zh-CN" altLang="en-US" sz="2800" b="1" dirty="0">
                <a:solidFill>
                  <a:srgbClr val="0033CC"/>
                </a:solidFill>
                <a:latin typeface="黑体" panose="02010609060101010101" pitchFamily="49" charset="-122"/>
              </a:rPr>
              <a:t>　年龄结构，生命表和存活曲线；</a:t>
            </a:r>
            <a:endParaRPr lang="en-US" altLang="zh-CN" sz="2800" b="1" dirty="0">
              <a:solidFill>
                <a:srgbClr val="0033CC"/>
              </a:solidFill>
              <a:latin typeface="黑体" panose="02010609060101010101" pitchFamily="49" charset="-122"/>
            </a:endParaRPr>
          </a:p>
          <a:p>
            <a:pPr algn="l"/>
            <a:r>
              <a:rPr lang="en-US" altLang="zh-CN" sz="2800" b="1" dirty="0">
                <a:solidFill>
                  <a:srgbClr val="0033CC"/>
                </a:solidFill>
                <a:latin typeface="黑体" panose="02010609060101010101" pitchFamily="49" charset="-122"/>
              </a:rPr>
              <a:t>3.</a:t>
            </a:r>
            <a:r>
              <a:rPr lang="zh-CN" altLang="en-US" sz="2800" b="1" dirty="0">
                <a:solidFill>
                  <a:srgbClr val="0033CC"/>
                </a:solidFill>
                <a:latin typeface="黑体" panose="02010609060101010101" pitchFamily="49" charset="-122"/>
              </a:rPr>
              <a:t>种群数量增长：内禀增长的概念，无限环境中</a:t>
            </a:r>
          </a:p>
          <a:p>
            <a:pPr algn="l"/>
            <a:r>
              <a:rPr lang="zh-CN" altLang="en-US" sz="2800" b="1" dirty="0">
                <a:solidFill>
                  <a:srgbClr val="0033CC"/>
                </a:solidFill>
                <a:latin typeface="黑体" panose="02010609060101010101" pitchFamily="49" charset="-122"/>
              </a:rPr>
              <a:t>　的指数式增长，有限环境中的逻辑斯谛增长。</a:t>
            </a:r>
          </a:p>
          <a:p>
            <a:pPr algn="l"/>
            <a:r>
              <a:rPr lang="zh-CN" altLang="en-US" sz="2800" b="1" dirty="0">
                <a:solidFill>
                  <a:srgbClr val="0033CC"/>
                </a:solidFill>
                <a:latin typeface="黑体" panose="02010609060101010101" pitchFamily="49" charset="-122"/>
              </a:rPr>
              <a:t>　自然种群的数量变化。</a:t>
            </a:r>
            <a:endParaRPr lang="en-US" altLang="zh-CN" sz="2800" b="1" dirty="0">
              <a:solidFill>
                <a:srgbClr val="0033CC"/>
              </a:solidFill>
              <a:latin typeface="黑体" panose="02010609060101010101" pitchFamily="49" charset="-122"/>
            </a:endParaRPr>
          </a:p>
          <a:p>
            <a:pPr algn="l"/>
            <a:r>
              <a:rPr lang="en-US" altLang="zh-CN" sz="2800" b="1" dirty="0">
                <a:solidFill>
                  <a:srgbClr val="0033CC"/>
                </a:solidFill>
                <a:latin typeface="黑体" panose="02010609060101010101" pitchFamily="49" charset="-122"/>
              </a:rPr>
              <a:t>4.</a:t>
            </a:r>
            <a:r>
              <a:rPr lang="zh-CN" altLang="en-US" sz="2800" b="1" dirty="0">
                <a:solidFill>
                  <a:srgbClr val="0033CC"/>
                </a:solidFill>
                <a:latin typeface="黑体" panose="02010609060101010101" pitchFamily="49" charset="-122"/>
              </a:rPr>
              <a:t>生活史对策：能量分配与权衡，体型效应，</a:t>
            </a:r>
          </a:p>
          <a:p>
            <a:pPr algn="l"/>
            <a:r>
              <a:rPr lang="zh-CN" altLang="en-US" sz="2800" b="1" dirty="0">
                <a:solidFill>
                  <a:srgbClr val="0033CC"/>
                </a:solidFill>
                <a:latin typeface="黑体" panose="02010609060101010101" pitchFamily="49" charset="-122"/>
              </a:rPr>
              <a:t>　　　　　　　</a:t>
            </a:r>
            <a:r>
              <a:rPr lang="en-US" altLang="zh-CN" sz="2800" b="1" dirty="0">
                <a:solidFill>
                  <a:srgbClr val="0033CC"/>
                </a:solidFill>
                <a:latin typeface="黑体" panose="02010609060101010101" pitchFamily="49" charset="-122"/>
              </a:rPr>
              <a:t>K-</a:t>
            </a:r>
            <a:r>
              <a:rPr lang="zh-CN" altLang="en-US" sz="2800" b="1" dirty="0">
                <a:solidFill>
                  <a:srgbClr val="0033CC"/>
                </a:solidFill>
                <a:latin typeface="黑体" panose="02010609060101010101" pitchFamily="49" charset="-122"/>
              </a:rPr>
              <a:t>选择和</a:t>
            </a:r>
            <a:r>
              <a:rPr lang="en-US" altLang="zh-CN" sz="2800" b="1" dirty="0">
                <a:solidFill>
                  <a:srgbClr val="0033CC"/>
                </a:solidFill>
                <a:latin typeface="黑体" panose="02010609060101010101" pitchFamily="49" charset="-122"/>
              </a:rPr>
              <a:t>r-</a:t>
            </a:r>
            <a:r>
              <a:rPr lang="zh-CN" altLang="en-US" sz="2800" b="1" dirty="0">
                <a:solidFill>
                  <a:srgbClr val="0033CC"/>
                </a:solidFill>
                <a:latin typeface="黑体" panose="02010609060101010101" pitchFamily="49" charset="-122"/>
              </a:rPr>
              <a:t>选择。</a:t>
            </a:r>
          </a:p>
          <a:p>
            <a:pPr algn="l"/>
            <a:r>
              <a:rPr lang="en-US" altLang="zh-CN" sz="2800" b="1" dirty="0">
                <a:solidFill>
                  <a:srgbClr val="0033CC"/>
                </a:solidFill>
                <a:latin typeface="黑体" panose="02010609060101010101" pitchFamily="49" charset="-122"/>
              </a:rPr>
              <a:t>5.</a:t>
            </a:r>
            <a:r>
              <a:rPr lang="zh-CN" altLang="en-US" sz="2800" b="1" dirty="0">
                <a:solidFill>
                  <a:srgbClr val="0033CC"/>
                </a:solidFill>
                <a:latin typeface="黑体" panose="02010609060101010101" pitchFamily="49" charset="-122"/>
              </a:rPr>
              <a:t>种内和种间关系。</a:t>
            </a:r>
            <a:endParaRPr lang="en-US" altLang="zh-CN" sz="2800" b="1" dirty="0">
              <a:solidFill>
                <a:srgbClr val="0033CC"/>
              </a:solidFill>
              <a:latin typeface="黑体" panose="02010609060101010101" pitchFamily="49" charset="-122"/>
            </a:endParaRPr>
          </a:p>
          <a:p>
            <a:pPr algn="l"/>
            <a:r>
              <a:rPr lang="en-US" altLang="zh-CN" sz="2800" b="1" dirty="0">
                <a:solidFill>
                  <a:srgbClr val="0033CC"/>
                </a:solidFill>
                <a:latin typeface="黑体" panose="02010609060101010101" pitchFamily="49" charset="-122"/>
              </a:rPr>
              <a:t>6.</a:t>
            </a:r>
            <a:r>
              <a:rPr lang="zh-CN" altLang="en-US" sz="2800" b="1" dirty="0">
                <a:solidFill>
                  <a:srgbClr val="0033CC"/>
                </a:solidFill>
                <a:latin typeface="黑体" panose="02010609060101010101" pitchFamily="49" charset="-122"/>
              </a:rPr>
              <a:t>生态位理论。</a:t>
            </a:r>
          </a:p>
          <a:p>
            <a:pPr algn="l"/>
            <a:r>
              <a:rPr lang="en-US" altLang="zh-CN" sz="2800" b="1" dirty="0">
                <a:solidFill>
                  <a:srgbClr val="0033CC"/>
                </a:solidFill>
                <a:latin typeface="黑体" panose="02010609060101010101" pitchFamily="49" charset="-122"/>
              </a:rPr>
              <a:t>7.</a:t>
            </a:r>
            <a:r>
              <a:rPr lang="zh-CN" altLang="en-US" sz="2800" b="1" dirty="0">
                <a:solidFill>
                  <a:srgbClr val="0033CC"/>
                </a:solidFill>
                <a:latin typeface="黑体" panose="02010609060101010101" pitchFamily="49" charset="-122"/>
              </a:rPr>
              <a:t>种群的调节</a:t>
            </a:r>
          </a:p>
          <a:p>
            <a:endParaRPr lang="zh-CN" altLang="en-US" dirty="0">
              <a:latin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E8DE118F-F736-C1CD-39D2-F4BED4F498A1}"/>
              </a:ext>
            </a:extLst>
          </p:cNvPr>
          <p:cNvSpPr txBox="1">
            <a:spLocks noChangeArrowheads="1"/>
          </p:cNvSpPr>
          <p:nvPr/>
        </p:nvSpPr>
        <p:spPr bwMode="auto">
          <a:xfrm>
            <a:off x="610129" y="733558"/>
            <a:ext cx="7702352" cy="432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endParaRPr lang="zh-CN" altLang="en-US" sz="2875" b="1" dirty="0"/>
          </a:p>
          <a:p>
            <a:pPr algn="just" eaLnBrk="1" hangingPunct="1">
              <a:spcBef>
                <a:spcPct val="50000"/>
              </a:spcBef>
            </a:pPr>
            <a:r>
              <a:rPr lang="zh-CN" altLang="en-US" sz="2875" b="1" dirty="0"/>
              <a:t>种群    </a:t>
            </a:r>
            <a:r>
              <a:rPr lang="en-US" altLang="zh-CN" sz="2875" b="1" dirty="0"/>
              <a:t>population      </a:t>
            </a:r>
            <a:r>
              <a:rPr lang="zh-CN" altLang="en-US" sz="2875" b="1" dirty="0"/>
              <a:t>在同一时期内占有一定空间的同种生物个体的集合。</a:t>
            </a:r>
            <a:r>
              <a:rPr lang="zh-CN" altLang="en-US" sz="2875" dirty="0"/>
              <a:t>该定义表示种群是由同种个体组成的，占有一定的空间，是同种个体通过种内关系组成的一个统一体或系统。 </a:t>
            </a:r>
          </a:p>
          <a:p>
            <a:pPr algn="just" eaLnBrk="1" hangingPunct="1">
              <a:spcBef>
                <a:spcPct val="50000"/>
              </a:spcBef>
            </a:pPr>
            <a:endParaRPr lang="zh-CN" altLang="en-US" sz="2875" b="1" dirty="0"/>
          </a:p>
          <a:p>
            <a:pPr algn="just" eaLnBrk="1" hangingPunct="1">
              <a:spcBef>
                <a:spcPct val="50000"/>
              </a:spcBef>
            </a:pPr>
            <a:endParaRPr lang="zh-CN" altLang="en-US" sz="2465" dirty="0"/>
          </a:p>
          <a:p>
            <a:pPr algn="just" eaLnBrk="1" hangingPunct="1">
              <a:spcBef>
                <a:spcPct val="50000"/>
              </a:spcBef>
            </a:pPr>
            <a:endParaRPr lang="en-US" altLang="zh-CN" sz="2465" dirty="0"/>
          </a:p>
        </p:txBody>
      </p:sp>
      <p:sp>
        <p:nvSpPr>
          <p:cNvPr id="6147" name="Text Box 4">
            <a:extLst>
              <a:ext uri="{FF2B5EF4-FFF2-40B4-BE49-F238E27FC236}">
                <a16:creationId xmlns:a16="http://schemas.microsoft.com/office/drawing/2014/main" id="{0840DA93-CAFE-7BE3-1AA9-A2686D17FEC1}"/>
              </a:ext>
            </a:extLst>
          </p:cNvPr>
          <p:cNvSpPr txBox="1">
            <a:spLocks noChangeArrowheads="1"/>
          </p:cNvSpPr>
          <p:nvPr/>
        </p:nvSpPr>
        <p:spPr bwMode="auto">
          <a:xfrm>
            <a:off x="976908" y="3887855"/>
            <a:ext cx="4147044" cy="2366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75" b="1" dirty="0"/>
              <a:t>单体生物  </a:t>
            </a:r>
            <a:r>
              <a:rPr lang="en-US" altLang="zh-CN" sz="2875" b="1" dirty="0"/>
              <a:t>unitary organism </a:t>
            </a:r>
            <a:r>
              <a:rPr lang="zh-CN" altLang="en-US" sz="2875" dirty="0"/>
              <a:t>每一个体都是由一个受精卵直接发育而来，个体的形态和发育都可以预测。</a:t>
            </a:r>
          </a:p>
        </p:txBody>
      </p:sp>
      <p:sp>
        <p:nvSpPr>
          <p:cNvPr id="6148" name="Text Box 5">
            <a:extLst>
              <a:ext uri="{FF2B5EF4-FFF2-40B4-BE49-F238E27FC236}">
                <a16:creationId xmlns:a16="http://schemas.microsoft.com/office/drawing/2014/main" id="{21B18027-1792-0869-F9A4-AE53894E5303}"/>
              </a:ext>
            </a:extLst>
          </p:cNvPr>
          <p:cNvSpPr txBox="1">
            <a:spLocks noChangeArrowheads="1"/>
          </p:cNvSpPr>
          <p:nvPr/>
        </p:nvSpPr>
        <p:spPr bwMode="auto">
          <a:xfrm>
            <a:off x="5671676" y="5941815"/>
            <a:ext cx="2513656" cy="322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438" dirty="0"/>
              <a:t>引自</a:t>
            </a:r>
            <a:r>
              <a:rPr lang="en-US" altLang="zh-CN" sz="1438" dirty="0"/>
              <a:t>http://</a:t>
            </a:r>
            <a:r>
              <a:rPr lang="en-US" altLang="zh-CN" sz="1438" dirty="0" err="1"/>
              <a:t>www.nipic.com</a:t>
            </a:r>
            <a:endParaRPr lang="en-US" altLang="zh-CN" sz="1438" dirty="0"/>
          </a:p>
        </p:txBody>
      </p:sp>
      <p:pic>
        <p:nvPicPr>
          <p:cNvPr id="6149" name="Picture 7" descr="u=3252795627,2076887297&amp;fm=52&amp;gp=0">
            <a:extLst>
              <a:ext uri="{FF2B5EF4-FFF2-40B4-BE49-F238E27FC236}">
                <a16:creationId xmlns:a16="http://schemas.microsoft.com/office/drawing/2014/main" id="{D6CB842B-26C8-BFF3-4E7C-23EE1B3286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1676" y="3887854"/>
            <a:ext cx="2513656" cy="1850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0" name="TextBox 7">
            <a:extLst>
              <a:ext uri="{FF2B5EF4-FFF2-40B4-BE49-F238E27FC236}">
                <a16:creationId xmlns:a16="http://schemas.microsoft.com/office/drawing/2014/main" id="{E0275F1E-0279-CA56-0C50-3C37921F008C}"/>
              </a:ext>
            </a:extLst>
          </p:cNvPr>
          <p:cNvSpPr txBox="1">
            <a:spLocks noChangeArrowheads="1"/>
          </p:cNvSpPr>
          <p:nvPr/>
        </p:nvSpPr>
        <p:spPr bwMode="auto">
          <a:xfrm>
            <a:off x="830198" y="440135"/>
            <a:ext cx="7482284" cy="100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86" b="1"/>
              <a:t>4.1  </a:t>
            </a:r>
            <a:r>
              <a:rPr lang="zh-CN" altLang="en-US" sz="3286" b="1"/>
              <a:t>种群的概念</a:t>
            </a:r>
          </a:p>
          <a:p>
            <a:pPr eaLnBrk="1" hangingPunct="1"/>
            <a:endParaRPr lang="zh-CN" altLang="en-US" sz="246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1FA4C050-3657-CB2B-2CDF-16C63291D4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8118" y="3741143"/>
            <a:ext cx="4474699" cy="3131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79" name="Text Box 3">
            <a:extLst>
              <a:ext uri="{FF2B5EF4-FFF2-40B4-BE49-F238E27FC236}">
                <a16:creationId xmlns:a16="http://schemas.microsoft.com/office/drawing/2014/main" id="{A6257CCA-DAF5-128E-31C9-878D66FC47BE}"/>
              </a:ext>
            </a:extLst>
          </p:cNvPr>
          <p:cNvSpPr txBox="1">
            <a:spLocks noChangeArrowheads="1"/>
          </p:cNvSpPr>
          <p:nvPr/>
        </p:nvSpPr>
        <p:spPr bwMode="auto">
          <a:xfrm>
            <a:off x="536774" y="3887854"/>
            <a:ext cx="4929505" cy="3410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2875" b="1" dirty="0"/>
              <a:t>无性系分株</a:t>
            </a:r>
            <a:r>
              <a:rPr lang="en-US" altLang="zh-CN" sz="2875" b="1" dirty="0"/>
              <a:t>(ramets)</a:t>
            </a:r>
            <a:r>
              <a:rPr lang="zh-CN" altLang="en-US" sz="2875" b="1" dirty="0"/>
              <a:t>： </a:t>
            </a:r>
            <a:r>
              <a:rPr lang="zh-CN" altLang="en-US" sz="2875" dirty="0"/>
              <a:t>构件生物各部分之间的连接可能会死亡和腐烂，这样就形成了许多分离的个体，这些个体来自于同一个受精卵并且基因型相同，称为</a:t>
            </a:r>
            <a:r>
              <a:rPr lang="zh-CN" altLang="en-US" sz="2875" b="1" dirty="0"/>
              <a:t>无性系分株。</a:t>
            </a:r>
            <a:endParaRPr lang="zh-CN" altLang="en-US" sz="2875" dirty="0"/>
          </a:p>
          <a:p>
            <a:pPr eaLnBrk="1" hangingPunct="1">
              <a:spcBef>
                <a:spcPct val="50000"/>
              </a:spcBef>
            </a:pPr>
            <a:endParaRPr lang="en-US" altLang="zh-CN" sz="2875" dirty="0"/>
          </a:p>
        </p:txBody>
      </p:sp>
      <p:sp>
        <p:nvSpPr>
          <p:cNvPr id="7172" name="Rectangle 4">
            <a:extLst>
              <a:ext uri="{FF2B5EF4-FFF2-40B4-BE49-F238E27FC236}">
                <a16:creationId xmlns:a16="http://schemas.microsoft.com/office/drawing/2014/main" id="{533F801C-3348-A74B-7456-4EA339EBEDF4}"/>
              </a:ext>
            </a:extLst>
          </p:cNvPr>
          <p:cNvSpPr>
            <a:spLocks noChangeArrowheads="1"/>
          </p:cNvSpPr>
          <p:nvPr/>
        </p:nvSpPr>
        <p:spPr bwMode="auto">
          <a:xfrm>
            <a:off x="610129" y="586846"/>
            <a:ext cx="5242489" cy="395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75" b="1" dirty="0"/>
              <a:t>构件生物 </a:t>
            </a:r>
            <a:r>
              <a:rPr lang="en-US" altLang="zh-CN" sz="2875" b="1" dirty="0"/>
              <a:t>modular organism </a:t>
            </a:r>
            <a:r>
              <a:rPr lang="zh-CN" altLang="en-US" sz="2875" dirty="0"/>
              <a:t>受精卵首先发育成一结构单位，或构件，然后发育成更多的构件，形成分支结构。发育的形式和时间是不可预测的。大多数植物、海绵、水螅和珊瑚是构件生物。</a:t>
            </a:r>
          </a:p>
          <a:p>
            <a:pPr eaLnBrk="1" hangingPunct="1">
              <a:spcBef>
                <a:spcPct val="50000"/>
              </a:spcBef>
            </a:pPr>
            <a:endParaRPr lang="en-US" altLang="zh-CN" sz="2875" dirty="0"/>
          </a:p>
        </p:txBody>
      </p:sp>
      <p:pic>
        <p:nvPicPr>
          <p:cNvPr id="7173" name="Picture 8" descr="u=2145511453,2866578505&amp;fm=23&amp;gp=0">
            <a:extLst>
              <a:ext uri="{FF2B5EF4-FFF2-40B4-BE49-F238E27FC236}">
                <a16:creationId xmlns:a16="http://schemas.microsoft.com/office/drawing/2014/main" id="{1C0F65C5-44C0-A66F-9BC4-CC4772F649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5165" y="146712"/>
            <a:ext cx="2723943" cy="1750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13" descr="u=1316630471,353182643&amp;fm=23&amp;gp=0">
            <a:extLst>
              <a:ext uri="{FF2B5EF4-FFF2-40B4-BE49-F238E27FC236}">
                <a16:creationId xmlns:a16="http://schemas.microsoft.com/office/drawing/2014/main" id="{FB83FC95-F6F5-2EE2-F614-FB54787B3E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10" y="2127317"/>
            <a:ext cx="2334342" cy="174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animEffect transition="in" filter="blinds(horizontal)">
                                      <p:cBhvr>
                                        <p:cTn id="7" dur="500"/>
                                        <p:tgtEl>
                                          <p:spTgt spid="1013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3">
            <a:extLst>
              <a:ext uri="{FF2B5EF4-FFF2-40B4-BE49-F238E27FC236}">
                <a16:creationId xmlns:a16="http://schemas.microsoft.com/office/drawing/2014/main" id="{06967AE6-2BC6-7892-DA63-A1927F01C201}"/>
              </a:ext>
            </a:extLst>
          </p:cNvPr>
          <p:cNvSpPr txBox="1">
            <a:spLocks noChangeArrowheads="1"/>
          </p:cNvSpPr>
          <p:nvPr/>
        </p:nvSpPr>
        <p:spPr bwMode="auto">
          <a:xfrm>
            <a:off x="536774" y="313257"/>
            <a:ext cx="8607072" cy="6257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ts val="500"/>
              </a:spcBef>
            </a:pPr>
            <a:r>
              <a:rPr lang="zh-CN" altLang="en-US" sz="3286" b="1" dirty="0">
                <a:solidFill>
                  <a:schemeClr val="tx2"/>
                </a:solidFill>
              </a:rPr>
              <a:t>自然种群的四个基本特征：</a:t>
            </a:r>
            <a:br>
              <a:rPr lang="zh-CN" altLang="en-US" sz="3286" b="1" dirty="0">
                <a:solidFill>
                  <a:schemeClr val="tx2"/>
                </a:solidFill>
              </a:rPr>
            </a:br>
            <a:br>
              <a:rPr lang="zh-CN" altLang="en-US" sz="2465" b="1" dirty="0">
                <a:solidFill>
                  <a:schemeClr val="tx2"/>
                </a:solidFill>
              </a:rPr>
            </a:br>
            <a:r>
              <a:rPr lang="en-US" altLang="zh-CN" sz="2875" b="1" dirty="0">
                <a:solidFill>
                  <a:schemeClr val="tx2"/>
                </a:solidFill>
              </a:rPr>
              <a:t>1 </a:t>
            </a:r>
            <a:r>
              <a:rPr lang="zh-CN" altLang="en-US" sz="2875" b="1" dirty="0">
                <a:solidFill>
                  <a:schemeClr val="tx2"/>
                </a:solidFill>
              </a:rPr>
              <a:t>空间特征：即种群具有一定的分布区域。</a:t>
            </a:r>
          </a:p>
          <a:p>
            <a:pPr eaLnBrk="1" hangingPunct="1">
              <a:spcBef>
                <a:spcPts val="500"/>
              </a:spcBef>
            </a:pPr>
            <a:r>
              <a:rPr lang="en-US" altLang="zh-CN" sz="2875" b="1" dirty="0">
                <a:solidFill>
                  <a:schemeClr val="tx2"/>
                </a:solidFill>
              </a:rPr>
              <a:t>2 </a:t>
            </a:r>
            <a:r>
              <a:rPr lang="zh-CN" altLang="en-US" sz="2875" b="1" dirty="0">
                <a:solidFill>
                  <a:schemeClr val="tx2"/>
                </a:solidFill>
              </a:rPr>
              <a:t>数量特征：每单位面积（或空间）上的个体数量（即密度）是变动的。</a:t>
            </a:r>
          </a:p>
          <a:p>
            <a:pPr eaLnBrk="1" hangingPunct="1">
              <a:spcBef>
                <a:spcPts val="500"/>
              </a:spcBef>
            </a:pPr>
            <a:r>
              <a:rPr lang="en-US" altLang="zh-CN" sz="2875" b="1" dirty="0">
                <a:solidFill>
                  <a:schemeClr val="tx2"/>
                </a:solidFill>
              </a:rPr>
              <a:t>3 </a:t>
            </a:r>
            <a:r>
              <a:rPr lang="zh-CN" altLang="en-US" sz="2875" b="1" dirty="0">
                <a:solidFill>
                  <a:schemeClr val="tx2"/>
                </a:solidFill>
              </a:rPr>
              <a:t>遗传特征，种群具有一定的基因组成，即系一个基因库，以区别于其它物种，但基因组成同样是处于变动之中的。</a:t>
            </a:r>
            <a:endParaRPr lang="en-US" altLang="zh-CN" sz="2875" b="1" dirty="0">
              <a:solidFill>
                <a:schemeClr val="tx2"/>
              </a:solidFill>
            </a:endParaRPr>
          </a:p>
          <a:p>
            <a:pPr eaLnBrk="1" hangingPunct="1">
              <a:spcBef>
                <a:spcPts val="500"/>
              </a:spcBef>
            </a:pPr>
            <a:r>
              <a:rPr lang="en-US" altLang="zh-CN" sz="2875" b="1" dirty="0">
                <a:solidFill>
                  <a:schemeClr val="tx2"/>
                </a:solidFill>
              </a:rPr>
              <a:t>4</a:t>
            </a:r>
            <a:r>
              <a:rPr lang="zh-CN" altLang="en-US" sz="2875" b="1" dirty="0">
                <a:solidFill>
                  <a:schemeClr val="tx2"/>
                </a:solidFill>
              </a:rPr>
              <a:t>系统特征：种群作为一个整体系统所表现出来的性质，这些性质不能简单由个体的特征推导出来，而是种群整体运行时才会显现。</a:t>
            </a:r>
            <a:br>
              <a:rPr lang="zh-CN" altLang="en-US" sz="2875" b="1" dirty="0">
                <a:solidFill>
                  <a:schemeClr val="tx2"/>
                </a:solidFill>
              </a:rPr>
            </a:br>
            <a:endParaRPr lang="zh-CN" altLang="en-US" sz="2875" b="1" dirty="0">
              <a:solidFill>
                <a:schemeClr val="tx2"/>
              </a:solidFill>
            </a:endParaRPr>
          </a:p>
          <a:p>
            <a:pPr eaLnBrk="1" hangingPunct="1">
              <a:spcBef>
                <a:spcPct val="50000"/>
              </a:spcBef>
            </a:pPr>
            <a:endParaRPr lang="en-US" altLang="zh-CN" sz="2875" b="1" dirty="0">
              <a:solidFill>
                <a:schemeClr val="tx2"/>
              </a:solidFill>
            </a:endParaRPr>
          </a:p>
        </p:txBody>
      </p:sp>
      <p:sp>
        <p:nvSpPr>
          <p:cNvPr id="102404" name="Text Box 4">
            <a:extLst>
              <a:ext uri="{FF2B5EF4-FFF2-40B4-BE49-F238E27FC236}">
                <a16:creationId xmlns:a16="http://schemas.microsoft.com/office/drawing/2014/main" id="{FA549786-647D-C885-439D-567E1DF98DA2}"/>
              </a:ext>
            </a:extLst>
          </p:cNvPr>
          <p:cNvSpPr txBox="1">
            <a:spLocks noChangeArrowheads="1"/>
          </p:cNvSpPr>
          <p:nvPr/>
        </p:nvSpPr>
        <p:spPr bwMode="auto">
          <a:xfrm>
            <a:off x="429186" y="5502275"/>
            <a:ext cx="8356033" cy="2496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75" b="1" dirty="0">
                <a:solidFill>
                  <a:schemeClr val="tx2"/>
                </a:solidFill>
              </a:rPr>
              <a:t>种群是物种存在的基本单位。</a:t>
            </a:r>
            <a:r>
              <a:rPr lang="zh-CN" altLang="en-US" sz="2875" dirty="0">
                <a:solidFill>
                  <a:schemeClr val="tx2"/>
                </a:solidFill>
              </a:rPr>
              <a:t>，</a:t>
            </a:r>
            <a:r>
              <a:rPr lang="zh-CN" altLang="en-US" sz="2875" b="1" dirty="0">
                <a:solidFill>
                  <a:schemeClr val="tx2"/>
                </a:solidFill>
              </a:rPr>
              <a:t>也是物种进化的基本单位。种群还是生物群落的基本组成单位。</a:t>
            </a:r>
            <a:r>
              <a:rPr lang="zh-CN" altLang="en-US" sz="2875" dirty="0">
                <a:solidFill>
                  <a:schemeClr val="tx2"/>
                </a:solidFill>
              </a:rPr>
              <a:t>即群落是由物种的种群所组成的。</a:t>
            </a:r>
            <a:br>
              <a:rPr lang="zh-CN" altLang="en-US" sz="2875" dirty="0">
                <a:solidFill>
                  <a:schemeClr val="tx2"/>
                </a:solidFill>
              </a:rPr>
            </a:br>
            <a:endParaRPr lang="zh-CN" altLang="en-US" sz="2875" dirty="0">
              <a:solidFill>
                <a:schemeClr val="tx2"/>
              </a:solidFill>
            </a:endParaRPr>
          </a:p>
          <a:p>
            <a:pPr eaLnBrk="1" hangingPunct="1">
              <a:spcBef>
                <a:spcPct val="50000"/>
              </a:spcBef>
            </a:pPr>
            <a:endParaRPr lang="en-US" altLang="zh-CN" sz="2465"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04"/>
                                        </p:tgtEl>
                                        <p:attrNameLst>
                                          <p:attrName>style.visibility</p:attrName>
                                        </p:attrNameLst>
                                      </p:cBhvr>
                                      <p:to>
                                        <p:strVal val="visible"/>
                                      </p:to>
                                    </p:set>
                                    <p:anim calcmode="lin" valueType="num">
                                      <p:cBhvr additive="base">
                                        <p:cTn id="7" dur="500" fill="hold"/>
                                        <p:tgtEl>
                                          <p:spTgt spid="102404"/>
                                        </p:tgtEl>
                                        <p:attrNameLst>
                                          <p:attrName>ppt_x</p:attrName>
                                        </p:attrNameLst>
                                      </p:cBhvr>
                                      <p:tavLst>
                                        <p:tav tm="0">
                                          <p:val>
                                            <p:strVal val="#ppt_x"/>
                                          </p:val>
                                        </p:tav>
                                        <p:tav tm="100000">
                                          <p:val>
                                            <p:strVal val="#ppt_x"/>
                                          </p:val>
                                        </p:tav>
                                      </p:tavLst>
                                    </p:anim>
                                    <p:anim calcmode="lin" valueType="num">
                                      <p:cBhvr additive="base">
                                        <p:cTn id="8" dur="500" fill="hold"/>
                                        <p:tgtEl>
                                          <p:spTgt spid="1024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3" name="Rectangle 3">
            <a:extLst>
              <a:ext uri="{FF2B5EF4-FFF2-40B4-BE49-F238E27FC236}">
                <a16:creationId xmlns:a16="http://schemas.microsoft.com/office/drawing/2014/main" id="{F3B677C3-131D-B62A-1E52-0A728FE1FDFD}"/>
              </a:ext>
            </a:extLst>
          </p:cNvPr>
          <p:cNvSpPr>
            <a:spLocks noGrp="1"/>
          </p:cNvSpPr>
          <p:nvPr>
            <p:ph type="body" idx="1"/>
          </p:nvPr>
        </p:nvSpPr>
        <p:spPr>
          <a:xfrm>
            <a:off x="577527" y="415684"/>
            <a:ext cx="8450580" cy="4248391"/>
          </a:xfrm>
        </p:spPr>
        <p:txBody>
          <a:bodyPr/>
          <a:lstStyle/>
          <a:p>
            <a:pPr eaLnBrk="1" hangingPunct="1"/>
            <a:r>
              <a:rPr lang="zh-CN" altLang="en-US" sz="2875" b="1" dirty="0">
                <a:latin typeface="黑体" panose="02010609060101010101" pitchFamily="49" charset="-122"/>
                <a:ea typeface="宋体" panose="02010600030101010101" pitchFamily="2" charset="-122"/>
              </a:rPr>
              <a:t>下列属于自然种群基本特征的是：（多选</a:t>
            </a:r>
            <a:r>
              <a:rPr lang="en-US" altLang="zh-CN" sz="2875" b="1" dirty="0">
                <a:latin typeface="黑体" panose="02010609060101010101" pitchFamily="49" charset="-122"/>
                <a:ea typeface="宋体" panose="02010600030101010101" pitchFamily="2" charset="-122"/>
              </a:rPr>
              <a:t>2</a:t>
            </a:r>
            <a:r>
              <a:rPr lang="zh-CN" altLang="en-US" sz="2875" b="1" dirty="0">
                <a:latin typeface="黑体" panose="02010609060101010101" pitchFamily="49" charset="-122"/>
                <a:ea typeface="宋体" panose="02010600030101010101" pitchFamily="2" charset="-122"/>
              </a:rPr>
              <a:t>分） </a:t>
            </a:r>
          </a:p>
          <a:p>
            <a:pPr eaLnBrk="1" hangingPunct="1"/>
            <a:r>
              <a:rPr lang="en-US" altLang="zh-CN" sz="2875" b="1" dirty="0">
                <a:latin typeface="黑体" panose="02010609060101010101" pitchFamily="49" charset="-122"/>
                <a:ea typeface="宋体" panose="02010600030101010101" pitchFamily="2" charset="-122"/>
              </a:rPr>
              <a:t> A</a:t>
            </a:r>
            <a:r>
              <a:rPr lang="zh-CN" altLang="en-US" sz="2875" b="1" dirty="0">
                <a:latin typeface="黑体" panose="02010609060101010101" pitchFamily="49" charset="-122"/>
                <a:ea typeface="宋体" panose="02010600030101010101" pitchFamily="2" charset="-122"/>
              </a:rPr>
              <a:t>．空间特征 </a:t>
            </a:r>
            <a:r>
              <a:rPr lang="en-US" altLang="zh-CN" sz="2875" b="1" dirty="0">
                <a:latin typeface="黑体" panose="02010609060101010101" pitchFamily="49" charset="-122"/>
                <a:ea typeface="宋体" panose="02010600030101010101" pitchFamily="2" charset="-122"/>
              </a:rPr>
              <a:t>B</a:t>
            </a:r>
            <a:r>
              <a:rPr lang="zh-CN" altLang="en-US" sz="2875" b="1" dirty="0">
                <a:latin typeface="黑体" panose="02010609060101010101" pitchFamily="49" charset="-122"/>
                <a:ea typeface="宋体" panose="02010600030101010101" pitchFamily="2" charset="-122"/>
              </a:rPr>
              <a:t>．数量特征 </a:t>
            </a:r>
          </a:p>
          <a:p>
            <a:pPr eaLnBrk="1" hangingPunct="1"/>
            <a:r>
              <a:rPr lang="en-US" altLang="zh-CN" sz="2875" b="1" dirty="0">
                <a:latin typeface="黑体" panose="02010609060101010101" pitchFamily="49" charset="-122"/>
                <a:ea typeface="宋体" panose="02010600030101010101" pitchFamily="2" charset="-122"/>
              </a:rPr>
              <a:t> C</a:t>
            </a:r>
            <a:r>
              <a:rPr lang="zh-CN" altLang="en-US" sz="2875" b="1" dirty="0">
                <a:latin typeface="黑体" panose="02010609060101010101" pitchFamily="49" charset="-122"/>
                <a:ea typeface="宋体" panose="02010600030101010101" pitchFamily="2" charset="-122"/>
              </a:rPr>
              <a:t>．形态特征 </a:t>
            </a:r>
            <a:r>
              <a:rPr lang="en-US" altLang="zh-CN" sz="2875" b="1" dirty="0">
                <a:latin typeface="黑体" panose="02010609060101010101" pitchFamily="49" charset="-122"/>
                <a:ea typeface="宋体" panose="02010600030101010101" pitchFamily="2" charset="-122"/>
              </a:rPr>
              <a:t>D</a:t>
            </a:r>
            <a:r>
              <a:rPr lang="zh-CN" altLang="en-US" sz="2875" b="1" dirty="0">
                <a:latin typeface="黑体" panose="02010609060101010101" pitchFamily="49" charset="-122"/>
                <a:ea typeface="宋体" panose="02010600030101010101" pitchFamily="2" charset="-122"/>
              </a:rPr>
              <a:t>．遗传特征</a:t>
            </a:r>
          </a:p>
          <a:p>
            <a:pPr eaLnBrk="1" hangingPunct="1"/>
            <a:r>
              <a:rPr lang="zh-CN" altLang="en-US" sz="2875" b="1" dirty="0">
                <a:latin typeface="黑体" panose="02010609060101010101" pitchFamily="49" charset="-122"/>
                <a:ea typeface="宋体" panose="02010600030101010101" pitchFamily="2" charset="-122"/>
              </a:rPr>
              <a:t> </a:t>
            </a:r>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2013</a:t>
            </a:r>
            <a:r>
              <a:rPr lang="zh-CN" altLang="en-US" sz="2875" b="1" dirty="0">
                <a:solidFill>
                  <a:srgbClr val="CC0000"/>
                </a:solidFill>
                <a:latin typeface="黑体" panose="02010609060101010101" pitchFamily="49" charset="-122"/>
                <a:ea typeface="宋体" panose="02010600030101010101" pitchFamily="2" charset="-122"/>
              </a:rPr>
              <a:t>年全国联赛试题）</a:t>
            </a:r>
          </a:p>
          <a:p>
            <a:endParaRPr lang="zh-CN" altLang="en-US" sz="2875" b="1" dirty="0">
              <a:latin typeface="黑体" panose="02010609060101010101" pitchFamily="49" charset="-122"/>
              <a:ea typeface="宋体" panose="02010600030101010101" pitchFamily="2" charset="-122"/>
            </a:endParaRPr>
          </a:p>
          <a:p>
            <a:r>
              <a:rPr lang="zh-CN" altLang="en-US" sz="2875" b="1" dirty="0">
                <a:latin typeface="黑体" panose="02010609060101010101" pitchFamily="49" charset="-122"/>
                <a:ea typeface="宋体" panose="02010600030101010101" pitchFamily="2" charset="-122"/>
              </a:rPr>
              <a:t>自然种群的特征包括：（多选）</a:t>
            </a:r>
          </a:p>
          <a:p>
            <a:r>
              <a:rPr lang="en-US" altLang="zh-CN" sz="2875" b="1" dirty="0">
                <a:latin typeface="黑体" panose="02010609060101010101" pitchFamily="49" charset="-122"/>
                <a:ea typeface="宋体" panose="02010600030101010101" pitchFamily="2" charset="-122"/>
              </a:rPr>
              <a:t>  A.</a:t>
            </a:r>
            <a:r>
              <a:rPr lang="zh-CN" altLang="en-US" sz="2875" b="1" dirty="0">
                <a:latin typeface="黑体" panose="02010609060101010101" pitchFamily="49" charset="-122"/>
                <a:ea typeface="宋体" panose="02010600030101010101" pitchFamily="2" charset="-122"/>
              </a:rPr>
              <a:t>空间特征；</a:t>
            </a:r>
            <a:r>
              <a:rPr lang="en-US" altLang="zh-CN" sz="2875" b="1" dirty="0">
                <a:latin typeface="黑体" panose="02010609060101010101" pitchFamily="49" charset="-122"/>
              </a:rPr>
              <a:t> </a:t>
            </a:r>
            <a:r>
              <a:rPr lang="en-US" altLang="zh-CN" sz="2875" b="1" dirty="0">
                <a:latin typeface="黑体" panose="02010609060101010101" pitchFamily="49" charset="-122"/>
                <a:ea typeface="宋体" panose="02010600030101010101" pitchFamily="2" charset="-122"/>
              </a:rPr>
              <a:t>B.</a:t>
            </a:r>
            <a:r>
              <a:rPr lang="zh-CN" altLang="en-US" sz="2875" b="1" dirty="0">
                <a:latin typeface="黑体" panose="02010609060101010101" pitchFamily="49" charset="-122"/>
                <a:ea typeface="宋体" panose="02010600030101010101" pitchFamily="2" charset="-122"/>
              </a:rPr>
              <a:t>数量特征；</a:t>
            </a:r>
            <a:r>
              <a:rPr lang="en-US" altLang="zh-CN" sz="2875" b="1" dirty="0">
                <a:latin typeface="黑体" panose="02010609060101010101" pitchFamily="49" charset="-122"/>
              </a:rPr>
              <a:t> </a:t>
            </a:r>
            <a:endParaRPr lang="en-US" altLang="zh-CN" sz="2875" b="1" dirty="0">
              <a:latin typeface="黑体" panose="02010609060101010101" pitchFamily="49" charset="-122"/>
              <a:ea typeface="宋体" panose="02010600030101010101" pitchFamily="2" charset="-122"/>
            </a:endParaRPr>
          </a:p>
          <a:p>
            <a:r>
              <a:rPr lang="en-US" altLang="zh-CN" sz="2875" b="1" dirty="0">
                <a:latin typeface="黑体" panose="02010609060101010101" pitchFamily="49" charset="-122"/>
                <a:ea typeface="宋体" panose="02010600030101010101" pitchFamily="2" charset="-122"/>
              </a:rPr>
              <a:t>  C.</a:t>
            </a:r>
            <a:r>
              <a:rPr lang="zh-CN" altLang="en-US" sz="2875" b="1" dirty="0">
                <a:latin typeface="黑体" panose="02010609060101010101" pitchFamily="49" charset="-122"/>
                <a:ea typeface="宋体" panose="02010600030101010101" pitchFamily="2" charset="-122"/>
              </a:rPr>
              <a:t>遗传特征； </a:t>
            </a:r>
            <a:r>
              <a:rPr lang="en-US" altLang="zh-CN" sz="2875" b="1" dirty="0">
                <a:latin typeface="黑体" panose="02010609060101010101" pitchFamily="49" charset="-122"/>
                <a:ea typeface="宋体" panose="02010600030101010101" pitchFamily="2" charset="-122"/>
              </a:rPr>
              <a:t>D.</a:t>
            </a:r>
            <a:r>
              <a:rPr lang="zh-CN" altLang="en-US" sz="2875" b="1" dirty="0">
                <a:latin typeface="黑体" panose="02010609060101010101" pitchFamily="49" charset="-122"/>
                <a:ea typeface="宋体" panose="02010600030101010101" pitchFamily="2" charset="-122"/>
              </a:rPr>
              <a:t>系统特征。</a:t>
            </a:r>
          </a:p>
          <a:p>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2015</a:t>
            </a:r>
            <a:r>
              <a:rPr lang="zh-CN" altLang="en-US" sz="2875" b="1" dirty="0">
                <a:solidFill>
                  <a:srgbClr val="CC0000"/>
                </a:solidFill>
                <a:latin typeface="黑体" panose="02010609060101010101" pitchFamily="49" charset="-122"/>
                <a:ea typeface="宋体" panose="02010600030101010101" pitchFamily="2" charset="-122"/>
              </a:rPr>
              <a:t>年全国联赛试题）</a:t>
            </a:r>
          </a:p>
          <a:p>
            <a:endParaRPr lang="zh-CN" altLang="en-US" sz="2875" b="1" dirty="0">
              <a:solidFill>
                <a:srgbClr val="CC0000"/>
              </a:solidFill>
              <a:latin typeface="黑体" panose="02010609060101010101" pitchFamily="49" charset="-122"/>
              <a:ea typeface="宋体" panose="02010600030101010101" pitchFamily="2" charset="-122"/>
            </a:endParaRPr>
          </a:p>
          <a:p>
            <a:endParaRPr lang="zh-CN" altLang="en-US" sz="2875" b="1" dirty="0">
              <a:solidFill>
                <a:srgbClr val="CC0000"/>
              </a:solidFill>
              <a:latin typeface="黑体" panose="02010609060101010101" pitchFamily="49" charset="-122"/>
              <a:ea typeface="宋体" panose="02010600030101010101" pitchFamily="2" charset="-122"/>
            </a:endParaRPr>
          </a:p>
          <a:p>
            <a:pPr eaLnBrk="1" hangingPunct="1"/>
            <a:endParaRPr lang="zh-CN" altLang="en-US" sz="2875" b="1" dirty="0">
              <a:solidFill>
                <a:srgbClr val="CC0000"/>
              </a:solidFill>
              <a:latin typeface="黑体" panose="02010609060101010101" pitchFamily="49" charset="-122"/>
              <a:ea typeface="宋体" panose="02010600030101010101" pitchFamily="2" charset="-122"/>
            </a:endParaRPr>
          </a:p>
          <a:p>
            <a:endParaRPr lang="zh-CN" altLang="en-US" sz="2875" b="1" dirty="0">
              <a:solidFill>
                <a:srgbClr val="CC0000"/>
              </a:solidFill>
              <a:latin typeface="黑体" panose="02010609060101010101" pitchFamily="49" charset="-122"/>
              <a:ea typeface="宋体" panose="02010600030101010101" pitchFamily="2" charset="-122"/>
            </a:endParaRPr>
          </a:p>
          <a:p>
            <a:endParaRPr lang="zh-CN" altLang="en-US" sz="2875" dirty="0">
              <a:solidFill>
                <a:srgbClr val="CC0000"/>
              </a:solidFill>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a:extLst>
              <a:ext uri="{FF2B5EF4-FFF2-40B4-BE49-F238E27FC236}">
                <a16:creationId xmlns:a16="http://schemas.microsoft.com/office/drawing/2014/main" id="{284C5A8D-5282-76B9-6FCF-88EA28894D21}"/>
              </a:ext>
            </a:extLst>
          </p:cNvPr>
          <p:cNvSpPr txBox="1">
            <a:spLocks noChangeArrowheads="1"/>
          </p:cNvSpPr>
          <p:nvPr/>
        </p:nvSpPr>
        <p:spPr bwMode="auto">
          <a:xfrm>
            <a:off x="903552" y="1247048"/>
            <a:ext cx="7262218" cy="531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2875" b="1" dirty="0"/>
              <a:t> </a:t>
            </a:r>
            <a:endParaRPr lang="zh-CN" altLang="en-US" sz="2875" dirty="0"/>
          </a:p>
          <a:p>
            <a:pPr algn="just" eaLnBrk="1" hangingPunct="1">
              <a:spcBef>
                <a:spcPct val="50000"/>
              </a:spcBef>
            </a:pPr>
            <a:r>
              <a:rPr lang="zh-CN" altLang="en-US" sz="2875" b="1" dirty="0"/>
              <a:t>种群动态：研究种群数量在时间上和空间上的变动规律</a:t>
            </a:r>
            <a:r>
              <a:rPr lang="zh-CN" altLang="en-US" sz="2875" dirty="0"/>
              <a:t>。即研究下列问题：</a:t>
            </a:r>
            <a:r>
              <a:rPr lang="en-US" altLang="zh-CN" sz="2875" dirty="0"/>
              <a:t>1 </a:t>
            </a:r>
            <a:r>
              <a:rPr lang="zh-CN" altLang="en-US" sz="2875" dirty="0"/>
              <a:t>有多少？（数量和密度）；</a:t>
            </a:r>
            <a:r>
              <a:rPr lang="en-US" altLang="zh-CN" sz="2875" dirty="0"/>
              <a:t>2 </a:t>
            </a:r>
            <a:r>
              <a:rPr lang="zh-CN" altLang="en-US" sz="2875" dirty="0"/>
              <a:t>哪里多、哪里少？（分布）；</a:t>
            </a:r>
            <a:r>
              <a:rPr lang="en-US" altLang="zh-CN" sz="2875" dirty="0"/>
              <a:t>3 </a:t>
            </a:r>
            <a:r>
              <a:rPr lang="zh-CN" altLang="en-US" sz="2875" dirty="0"/>
              <a:t>怎样变动？（数量变动和扩散迁移）；</a:t>
            </a:r>
            <a:r>
              <a:rPr lang="en-US" altLang="zh-CN" sz="2875" dirty="0"/>
              <a:t>4 </a:t>
            </a:r>
            <a:r>
              <a:rPr lang="zh-CN" altLang="en-US" sz="2875" dirty="0"/>
              <a:t>为什么这样变动？（种群调节）。</a:t>
            </a:r>
          </a:p>
          <a:p>
            <a:pPr algn="just" eaLnBrk="1" hangingPunct="1">
              <a:spcBef>
                <a:spcPct val="50000"/>
              </a:spcBef>
            </a:pPr>
            <a:r>
              <a:rPr lang="zh-CN" altLang="en-US" sz="2875" b="1" dirty="0"/>
              <a:t>研究方法：</a:t>
            </a:r>
            <a:r>
              <a:rPr lang="zh-CN" altLang="en-US" sz="2875" dirty="0"/>
              <a:t>野外调查</a:t>
            </a:r>
            <a:r>
              <a:rPr lang="en-US" altLang="zh-CN" sz="2875" dirty="0"/>
              <a:t>(</a:t>
            </a:r>
            <a:r>
              <a:rPr lang="zh-CN" altLang="en-US" sz="2054" dirty="0"/>
              <a:t>假说</a:t>
            </a:r>
            <a:r>
              <a:rPr lang="zh-CN" altLang="en-US" sz="2875" dirty="0"/>
              <a:t>），实验研究（</a:t>
            </a:r>
            <a:r>
              <a:rPr lang="zh-CN" altLang="en-US" sz="2054" dirty="0"/>
              <a:t>证实</a:t>
            </a:r>
            <a:r>
              <a:rPr lang="zh-CN" altLang="en-US" sz="2875" dirty="0"/>
              <a:t>）， 通过数学模型进行模拟研究。</a:t>
            </a:r>
          </a:p>
          <a:p>
            <a:pPr eaLnBrk="1" hangingPunct="1">
              <a:spcBef>
                <a:spcPct val="50000"/>
              </a:spcBef>
            </a:pPr>
            <a:r>
              <a:rPr lang="zh-CN" altLang="en-US" sz="2875" b="1" dirty="0"/>
              <a:t>应用：</a:t>
            </a:r>
            <a:r>
              <a:rPr lang="zh-CN" altLang="en-US" sz="2875" dirty="0"/>
              <a:t>生物资源的合理利用、生物保护及病虫害防治</a:t>
            </a:r>
          </a:p>
        </p:txBody>
      </p:sp>
      <p:sp>
        <p:nvSpPr>
          <p:cNvPr id="9219" name="TextBox 2">
            <a:extLst>
              <a:ext uri="{FF2B5EF4-FFF2-40B4-BE49-F238E27FC236}">
                <a16:creationId xmlns:a16="http://schemas.microsoft.com/office/drawing/2014/main" id="{24FB5275-D9A3-DF1A-6317-BA65FD56B620}"/>
              </a:ext>
            </a:extLst>
          </p:cNvPr>
          <p:cNvSpPr txBox="1">
            <a:spLocks noChangeArrowheads="1"/>
          </p:cNvSpPr>
          <p:nvPr/>
        </p:nvSpPr>
        <p:spPr bwMode="auto">
          <a:xfrm>
            <a:off x="903552" y="660203"/>
            <a:ext cx="6968795" cy="100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86" b="1"/>
              <a:t>4.2   </a:t>
            </a:r>
            <a:r>
              <a:rPr lang="zh-CN" altLang="en-US" sz="3286" b="1"/>
              <a:t>种群动态</a:t>
            </a:r>
            <a:endParaRPr lang="zh-CN" altLang="en-US" sz="3286"/>
          </a:p>
          <a:p>
            <a:pPr eaLnBrk="1" hangingPunct="1"/>
            <a:endParaRPr lang="zh-CN" altLang="en-US" sz="246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95873D97-7D07-5CCD-5243-D4E06DD2E2B5}"/>
              </a:ext>
            </a:extLst>
          </p:cNvPr>
          <p:cNvSpPr txBox="1">
            <a:spLocks noChangeArrowheads="1"/>
          </p:cNvSpPr>
          <p:nvPr/>
        </p:nvSpPr>
        <p:spPr bwMode="auto">
          <a:xfrm>
            <a:off x="883991" y="1721415"/>
            <a:ext cx="7981103" cy="48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sz="2465"/>
          </a:p>
        </p:txBody>
      </p:sp>
      <p:sp>
        <p:nvSpPr>
          <p:cNvPr id="10243" name="Text Box 3">
            <a:extLst>
              <a:ext uri="{FF2B5EF4-FFF2-40B4-BE49-F238E27FC236}">
                <a16:creationId xmlns:a16="http://schemas.microsoft.com/office/drawing/2014/main" id="{A5D60677-34BE-8B97-B581-2D4FB18FA9BE}"/>
              </a:ext>
            </a:extLst>
          </p:cNvPr>
          <p:cNvSpPr txBox="1">
            <a:spLocks noChangeArrowheads="1"/>
          </p:cNvSpPr>
          <p:nvPr/>
        </p:nvSpPr>
        <p:spPr bwMode="auto">
          <a:xfrm>
            <a:off x="536774" y="293424"/>
            <a:ext cx="5175654" cy="4702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sz="3286" b="1"/>
              <a:t> 4.2.1 </a:t>
            </a:r>
            <a:r>
              <a:rPr lang="zh-CN" altLang="en-US" sz="3286" b="1"/>
              <a:t>种群的密度和分布</a:t>
            </a:r>
            <a:endParaRPr lang="zh-CN" altLang="en-US" sz="3286"/>
          </a:p>
          <a:p>
            <a:pPr algn="just" eaLnBrk="1" hangingPunct="1">
              <a:spcBef>
                <a:spcPct val="50000"/>
              </a:spcBef>
            </a:pPr>
            <a:r>
              <a:rPr lang="zh-CN" altLang="en-US" sz="2875" b="1"/>
              <a:t>一 种群的大小和密度</a:t>
            </a:r>
          </a:p>
          <a:p>
            <a:pPr algn="just" eaLnBrk="1" hangingPunct="1">
              <a:spcBef>
                <a:spcPct val="50000"/>
              </a:spcBef>
            </a:pPr>
            <a:r>
              <a:rPr lang="zh-CN" altLang="en-US" sz="2875" b="1"/>
              <a:t>种群的大小（</a:t>
            </a:r>
            <a:r>
              <a:rPr lang="en-US" altLang="zh-CN" sz="2875" b="1"/>
              <a:t>size</a:t>
            </a:r>
            <a:r>
              <a:rPr lang="zh-CN" altLang="en-US" sz="2875" b="1"/>
              <a:t>）：是一定区域种群个体的数量，也可以是生物量或能量。</a:t>
            </a:r>
          </a:p>
          <a:p>
            <a:pPr algn="just" eaLnBrk="1" hangingPunct="1">
              <a:spcBef>
                <a:spcPct val="50000"/>
              </a:spcBef>
            </a:pPr>
            <a:r>
              <a:rPr lang="zh-CN" altLang="en-US" sz="2875" b="1"/>
              <a:t>种群的密度是单位面积、单位体积或单位生境中个体的数目。</a:t>
            </a:r>
          </a:p>
          <a:p>
            <a:pPr eaLnBrk="1" hangingPunct="1">
              <a:spcBef>
                <a:spcPct val="50000"/>
              </a:spcBef>
            </a:pPr>
            <a:endParaRPr lang="en-US" altLang="zh-CN" sz="2875" b="1"/>
          </a:p>
        </p:txBody>
      </p:sp>
      <p:pic>
        <p:nvPicPr>
          <p:cNvPr id="10244" name="Picture 4" descr="665482">
            <a:extLst>
              <a:ext uri="{FF2B5EF4-FFF2-40B4-BE49-F238E27FC236}">
                <a16:creationId xmlns:a16="http://schemas.microsoft.com/office/drawing/2014/main" id="{EE0C1D2F-CD15-7574-D409-95CC3F13D3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6537" y="637380"/>
            <a:ext cx="3424898" cy="2569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4" name="Text Box 6">
            <a:extLst>
              <a:ext uri="{FF2B5EF4-FFF2-40B4-BE49-F238E27FC236}">
                <a16:creationId xmlns:a16="http://schemas.microsoft.com/office/drawing/2014/main" id="{23787783-BC15-0A84-761B-C9D95A0C4E2B}"/>
              </a:ext>
            </a:extLst>
          </p:cNvPr>
          <p:cNvSpPr txBox="1">
            <a:spLocks noChangeArrowheads="1"/>
          </p:cNvSpPr>
          <p:nvPr/>
        </p:nvSpPr>
        <p:spPr bwMode="auto">
          <a:xfrm>
            <a:off x="4938117" y="4254632"/>
            <a:ext cx="4034565" cy="3404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2875" b="1"/>
              <a:t>研究植物种群动态，必须重视个体水平以下的构件组成‘种群’的意义，这是植物种群与动物种群的重要区别</a:t>
            </a:r>
            <a:r>
              <a:rPr lang="zh-CN" altLang="en-US" sz="2875"/>
              <a:t>（独树成林）</a:t>
            </a:r>
            <a:r>
              <a:rPr lang="zh-CN" altLang="en-US" sz="2875" b="1"/>
              <a:t>。</a:t>
            </a:r>
          </a:p>
          <a:p>
            <a:pPr eaLnBrk="1" hangingPunct="1">
              <a:spcBef>
                <a:spcPct val="50000"/>
              </a:spcBef>
            </a:pPr>
            <a:endParaRPr lang="en-US" altLang="zh-CN" sz="2465"/>
          </a:p>
        </p:txBody>
      </p:sp>
      <p:sp>
        <p:nvSpPr>
          <p:cNvPr id="10246" name="Text Box 7">
            <a:extLst>
              <a:ext uri="{FF2B5EF4-FFF2-40B4-BE49-F238E27FC236}">
                <a16:creationId xmlns:a16="http://schemas.microsoft.com/office/drawing/2014/main" id="{8A2984F9-224C-D8D4-D6DA-0229CFF584C9}"/>
              </a:ext>
            </a:extLst>
          </p:cNvPr>
          <p:cNvSpPr txBox="1">
            <a:spLocks noChangeArrowheads="1"/>
          </p:cNvSpPr>
          <p:nvPr/>
        </p:nvSpPr>
        <p:spPr bwMode="auto">
          <a:xfrm>
            <a:off x="6936654" y="3226023"/>
            <a:ext cx="2476163" cy="322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438"/>
              <a:t>引自</a:t>
            </a:r>
            <a:r>
              <a:rPr lang="en-US" altLang="zh-CN" sz="1438"/>
              <a:t>www.donson56.com</a:t>
            </a:r>
          </a:p>
        </p:txBody>
      </p:sp>
      <p:pic>
        <p:nvPicPr>
          <p:cNvPr id="10247" name="Picture 9" descr="u=4286857855,998116585&amp;fm=23&amp;gp=0">
            <a:extLst>
              <a:ext uri="{FF2B5EF4-FFF2-40B4-BE49-F238E27FC236}">
                <a16:creationId xmlns:a16="http://schemas.microsoft.com/office/drawing/2014/main" id="{F3DE79E4-EE76-3A69-CA8A-8B19472EF8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332" y="4327989"/>
            <a:ext cx="2963571" cy="221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54"/>
                                        </p:tgtEl>
                                        <p:attrNameLst>
                                          <p:attrName>style.visibility</p:attrName>
                                        </p:attrNameLst>
                                      </p:cBhvr>
                                      <p:to>
                                        <p:strVal val="visible"/>
                                      </p:to>
                                    </p:set>
                                    <p:anim calcmode="lin" valueType="num">
                                      <p:cBhvr additive="base">
                                        <p:cTn id="7" dur="500" fill="hold"/>
                                        <p:tgtEl>
                                          <p:spTgt spid="104454"/>
                                        </p:tgtEl>
                                        <p:attrNameLst>
                                          <p:attrName>ppt_x</p:attrName>
                                        </p:attrNameLst>
                                      </p:cBhvr>
                                      <p:tavLst>
                                        <p:tav tm="0">
                                          <p:val>
                                            <p:strVal val="#ppt_x"/>
                                          </p:val>
                                        </p:tav>
                                        <p:tav tm="100000">
                                          <p:val>
                                            <p:strVal val="#ppt_x"/>
                                          </p:val>
                                        </p:tav>
                                      </p:tavLst>
                                    </p:anim>
                                    <p:anim calcmode="lin" valueType="num">
                                      <p:cBhvr additive="base">
                                        <p:cTn id="8" dur="500" fill="hold"/>
                                        <p:tgtEl>
                                          <p:spTgt spid="1044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a:extLst>
              <a:ext uri="{FF2B5EF4-FFF2-40B4-BE49-F238E27FC236}">
                <a16:creationId xmlns:a16="http://schemas.microsoft.com/office/drawing/2014/main" id="{1674CCDA-75B8-B986-E857-4984E6C36BA3}"/>
              </a:ext>
            </a:extLst>
          </p:cNvPr>
          <p:cNvSpPr txBox="1">
            <a:spLocks noChangeArrowheads="1"/>
          </p:cNvSpPr>
          <p:nvPr/>
        </p:nvSpPr>
        <p:spPr bwMode="auto">
          <a:xfrm>
            <a:off x="649252" y="704215"/>
            <a:ext cx="7981103" cy="495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2875" b="1" dirty="0"/>
              <a:t>二 种群的数量统计</a:t>
            </a:r>
          </a:p>
          <a:p>
            <a:pPr algn="just" eaLnBrk="1" hangingPunct="1">
              <a:spcBef>
                <a:spcPct val="50000"/>
              </a:spcBef>
            </a:pPr>
            <a:r>
              <a:rPr lang="zh-CN" altLang="en-US" sz="2875" b="1" dirty="0"/>
              <a:t>绝对密度</a:t>
            </a:r>
            <a:r>
              <a:rPr lang="zh-CN" altLang="en-US" sz="2875" dirty="0"/>
              <a:t>：</a:t>
            </a:r>
            <a:r>
              <a:rPr lang="zh-CN" altLang="en-US" sz="2875" b="1" dirty="0"/>
              <a:t>单位面积或空间的实有个体数。</a:t>
            </a:r>
          </a:p>
          <a:p>
            <a:pPr algn="just" eaLnBrk="1" hangingPunct="1">
              <a:spcBef>
                <a:spcPct val="50000"/>
              </a:spcBef>
            </a:pPr>
            <a:r>
              <a:rPr lang="zh-CN" altLang="en-US" sz="2875" b="1" dirty="0"/>
              <a:t>相对密度</a:t>
            </a:r>
            <a:r>
              <a:rPr lang="zh-CN" altLang="en-US" sz="2875" dirty="0"/>
              <a:t>：能获得表示种群数量高低的相对指标。</a:t>
            </a:r>
          </a:p>
          <a:p>
            <a:pPr algn="just" eaLnBrk="1" hangingPunct="1">
              <a:spcBef>
                <a:spcPct val="50000"/>
              </a:spcBef>
            </a:pPr>
            <a:r>
              <a:rPr lang="zh-CN" altLang="en-US" sz="2875" b="1" dirty="0"/>
              <a:t>标记重捕法：</a:t>
            </a:r>
            <a:r>
              <a:rPr lang="zh-CN" altLang="en-US" sz="2875" dirty="0"/>
              <a:t>用于不断移动位置直接记数很困难的动物。在调查样地上，随机捕获一部分个体进行标记后释放，经一定期限后重捕。，即：</a:t>
            </a:r>
            <a:r>
              <a:rPr lang="zh-CN" altLang="en-US" sz="2875" b="1" dirty="0"/>
              <a:t>原理： </a:t>
            </a:r>
            <a:r>
              <a:rPr lang="en-US" altLang="zh-CN" sz="2875" b="1" dirty="0"/>
              <a:t>N : M = n : m      N = M× n/m  </a:t>
            </a:r>
          </a:p>
          <a:p>
            <a:pPr algn="just" eaLnBrk="1" hangingPunct="1">
              <a:spcBef>
                <a:spcPct val="50000"/>
              </a:spcBef>
            </a:pPr>
            <a:r>
              <a:rPr lang="zh-CN" altLang="en-US" sz="2875" b="1" dirty="0"/>
              <a:t>其中</a:t>
            </a:r>
            <a:r>
              <a:rPr lang="en-US" altLang="zh-CN" sz="2875" b="1" dirty="0"/>
              <a:t>M</a:t>
            </a:r>
            <a:r>
              <a:rPr lang="zh-CN" altLang="en-US" sz="2875" b="1" dirty="0"/>
              <a:t>：标记个体数  </a:t>
            </a:r>
            <a:r>
              <a:rPr lang="en-US" altLang="zh-CN" sz="2875" b="1" dirty="0"/>
              <a:t>n</a:t>
            </a:r>
            <a:r>
              <a:rPr lang="zh-CN" altLang="en-US" sz="2875" b="1" dirty="0"/>
              <a:t>：重捕个体数 </a:t>
            </a:r>
            <a:r>
              <a:rPr lang="en-US" altLang="zh-CN" sz="2875" b="1" dirty="0"/>
              <a:t>m</a:t>
            </a:r>
            <a:r>
              <a:rPr lang="zh-CN" altLang="en-US" sz="2875" b="1" dirty="0"/>
              <a:t>：重捕样中标记数  </a:t>
            </a:r>
            <a:r>
              <a:rPr lang="en-US" altLang="zh-CN" sz="2875" b="1" dirty="0"/>
              <a:t>N</a:t>
            </a:r>
            <a:r>
              <a:rPr lang="zh-CN" altLang="en-US" sz="2875" b="1" dirty="0"/>
              <a:t>：样地上个体总数。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5" name="Picture 5">
            <a:extLst>
              <a:ext uri="{FF2B5EF4-FFF2-40B4-BE49-F238E27FC236}">
                <a16:creationId xmlns:a16="http://schemas.microsoft.com/office/drawing/2014/main" id="{B871FC0A-C33A-41DD-6CE8-FDFC1FB1B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186" y="342327"/>
            <a:ext cx="7911007" cy="58130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a:extLst>
              <a:ext uri="{FF2B5EF4-FFF2-40B4-BE49-F238E27FC236}">
                <a16:creationId xmlns:a16="http://schemas.microsoft.com/office/drawing/2014/main" id="{4E77F7F8-E2C6-6F92-5D85-44234FEC5513}"/>
              </a:ext>
            </a:extLst>
          </p:cNvPr>
          <p:cNvSpPr>
            <a:spLocks noGrp="1"/>
          </p:cNvSpPr>
          <p:nvPr>
            <p:ph type="body" idx="1"/>
          </p:nvPr>
        </p:nvSpPr>
        <p:spPr>
          <a:xfrm>
            <a:off x="492760" y="267341"/>
            <a:ext cx="8662497" cy="1817235"/>
          </a:xfrm>
        </p:spPr>
        <p:txBody>
          <a:bodyPr/>
          <a:lstStyle/>
          <a:p>
            <a:r>
              <a:rPr lang="zh-CN" altLang="en-US" sz="2875" b="1">
                <a:solidFill>
                  <a:srgbClr val="CC0000"/>
                </a:solidFill>
                <a:ea typeface="宋体" panose="02010600030101010101" pitchFamily="2" charset="-122"/>
              </a:rPr>
              <a:t>★样方法：</a:t>
            </a:r>
            <a:r>
              <a:rPr lang="zh-CN" altLang="en-US" sz="2875" b="1">
                <a:ea typeface="宋体" panose="02010600030101010101" pitchFamily="2" charset="-122"/>
              </a:rPr>
              <a:t>用随机取样的方法保证样方具　</a:t>
            </a:r>
          </a:p>
          <a:p>
            <a:r>
              <a:rPr lang="zh-CN" altLang="en-US" sz="2875" b="1">
                <a:ea typeface="宋体" panose="02010600030101010101" pitchFamily="2" charset="-122"/>
              </a:rPr>
              <a:t>　　　　　有良好代表性。</a:t>
            </a:r>
          </a:p>
          <a:p>
            <a:r>
              <a:rPr lang="zh-CN" altLang="en-US" sz="2875" b="1">
                <a:solidFill>
                  <a:srgbClr val="CC0000"/>
                </a:solidFill>
                <a:ea typeface="宋体" panose="02010600030101010101" pitchFamily="2" charset="-122"/>
              </a:rPr>
              <a:t>★标记重捕法：</a:t>
            </a:r>
            <a:r>
              <a:rPr lang="zh-CN" altLang="en-US" sz="2875" b="1">
                <a:ea typeface="宋体" panose="02010600030101010101" pitchFamily="2" charset="-122"/>
              </a:rPr>
              <a:t>原理、过程、计算和假设条件。</a:t>
            </a:r>
          </a:p>
          <a:p>
            <a:r>
              <a:rPr lang="zh-CN" altLang="en-US" sz="2875" b="1">
                <a:solidFill>
                  <a:srgbClr val="CC0000"/>
                </a:solidFill>
                <a:ea typeface="宋体" panose="02010600030101010101" pitchFamily="2" charset="-122"/>
              </a:rPr>
              <a:t>★去除取样法：</a:t>
            </a:r>
            <a:r>
              <a:rPr lang="zh-CN" altLang="en-US" sz="2875" b="1">
                <a:ea typeface="宋体" panose="02010600030101010101" pitchFamily="2" charset="-122"/>
              </a:rPr>
              <a:t>作图法。</a:t>
            </a:r>
          </a:p>
        </p:txBody>
      </p:sp>
      <p:pic>
        <p:nvPicPr>
          <p:cNvPr id="96261" name="Picture 5">
            <a:extLst>
              <a:ext uri="{FF2B5EF4-FFF2-40B4-BE49-F238E27FC236}">
                <a16:creationId xmlns:a16="http://schemas.microsoft.com/office/drawing/2014/main" id="{921866CB-6E57-ECA4-455A-5264C40D34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527" y="2559300"/>
            <a:ext cx="7981103" cy="42448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a:extLst>
              <a:ext uri="{FF2B5EF4-FFF2-40B4-BE49-F238E27FC236}">
                <a16:creationId xmlns:a16="http://schemas.microsoft.com/office/drawing/2014/main" id="{805F5D69-BB05-00D4-073A-DC348CD26C2F}"/>
              </a:ext>
            </a:extLst>
          </p:cNvPr>
          <p:cNvSpPr>
            <a:spLocks noGrp="1"/>
          </p:cNvSpPr>
          <p:nvPr>
            <p:ph type="body" idx="1"/>
          </p:nvPr>
        </p:nvSpPr>
        <p:spPr>
          <a:xfrm>
            <a:off x="504172" y="415684"/>
            <a:ext cx="8439169" cy="5724291"/>
          </a:xfrm>
        </p:spPr>
        <p:txBody>
          <a:bodyPr/>
          <a:lstStyle/>
          <a:p>
            <a:pPr eaLnBrk="1" hangingPunct="1">
              <a:lnSpc>
                <a:spcPct val="90000"/>
              </a:lnSpc>
            </a:pPr>
            <a:r>
              <a:rPr lang="en-US" altLang="zh-CN" sz="2875" b="1" dirty="0">
                <a:ea typeface="宋体" panose="02010600030101010101" pitchFamily="2" charset="-122"/>
              </a:rPr>
              <a:t>1.</a:t>
            </a:r>
            <a:r>
              <a:rPr lang="zh-CN" altLang="en-US" sz="2875" b="1" dirty="0">
                <a:ea typeface="宋体" panose="02010600030101010101" pitchFamily="2" charset="-122"/>
              </a:rPr>
              <a:t>下列哪些方法不适用于野外蝴蝶数量的调查：</a:t>
            </a:r>
          </a:p>
          <a:p>
            <a:pPr eaLnBrk="1" hangingPunct="1">
              <a:lnSpc>
                <a:spcPct val="90000"/>
              </a:lnSpc>
            </a:pPr>
            <a:r>
              <a:rPr lang="zh-CN" altLang="en-US" sz="2875" b="1" dirty="0">
                <a:ea typeface="宋体" panose="02010600030101010101" pitchFamily="2" charset="-122"/>
              </a:rPr>
              <a:t>　</a:t>
            </a:r>
            <a:r>
              <a:rPr lang="en-US" altLang="zh-CN" sz="2875" b="1" dirty="0">
                <a:ea typeface="宋体" panose="02010600030101010101" pitchFamily="2" charset="-122"/>
              </a:rPr>
              <a:t>A.</a:t>
            </a:r>
            <a:r>
              <a:rPr lang="zh-CN" altLang="en-US" sz="2875" b="1" dirty="0">
                <a:ea typeface="宋体" panose="02010600030101010101" pitchFamily="2" charset="-122"/>
              </a:rPr>
              <a:t>标记重捕法；      </a:t>
            </a:r>
            <a:r>
              <a:rPr lang="en-US" altLang="zh-CN" sz="2875" b="1" dirty="0">
                <a:ea typeface="宋体" panose="02010600030101010101" pitchFamily="2" charset="-122"/>
              </a:rPr>
              <a:t>B.</a:t>
            </a:r>
            <a:r>
              <a:rPr lang="zh-CN" altLang="en-US" sz="2875" b="1" dirty="0">
                <a:ea typeface="宋体" panose="02010600030101010101" pitchFamily="2" charset="-122"/>
              </a:rPr>
              <a:t>灯光诱捕法；      </a:t>
            </a:r>
          </a:p>
          <a:p>
            <a:pPr eaLnBrk="1" hangingPunct="1">
              <a:lnSpc>
                <a:spcPct val="90000"/>
              </a:lnSpc>
            </a:pPr>
            <a:r>
              <a:rPr lang="zh-CN" altLang="en-US" sz="2875" b="1" dirty="0">
                <a:ea typeface="宋体" panose="02010600030101010101" pitchFamily="2" charset="-122"/>
              </a:rPr>
              <a:t>　</a:t>
            </a:r>
            <a:r>
              <a:rPr lang="en-US" altLang="zh-CN" sz="2875" b="1" dirty="0">
                <a:ea typeface="宋体" panose="02010600030101010101" pitchFamily="2" charset="-122"/>
              </a:rPr>
              <a:t>C.</a:t>
            </a:r>
            <a:r>
              <a:rPr lang="zh-CN" altLang="en-US" sz="2875" b="1" dirty="0">
                <a:ea typeface="宋体" panose="02010600030101010101" pitchFamily="2" charset="-122"/>
              </a:rPr>
              <a:t>样方调查法；      </a:t>
            </a:r>
            <a:r>
              <a:rPr lang="en-US" altLang="zh-CN" sz="2875" b="1" dirty="0">
                <a:ea typeface="宋体" panose="02010600030101010101" pitchFamily="2" charset="-122"/>
              </a:rPr>
              <a:t>D.</a:t>
            </a:r>
            <a:r>
              <a:rPr lang="zh-CN" altLang="en-US" sz="2875" b="1" dirty="0">
                <a:ea typeface="宋体" panose="02010600030101010101" pitchFamily="2" charset="-122"/>
              </a:rPr>
              <a:t>红外触发相机</a:t>
            </a:r>
          </a:p>
          <a:p>
            <a:pPr eaLnBrk="1" hangingPunct="1">
              <a:lnSpc>
                <a:spcPct val="90000"/>
              </a:lnSpc>
            </a:pPr>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2010</a:t>
            </a:r>
            <a:r>
              <a:rPr lang="zh-CN" altLang="en-US" sz="2875" b="1" dirty="0">
                <a:solidFill>
                  <a:srgbClr val="CC0000"/>
                </a:solidFill>
                <a:latin typeface="黑体" panose="02010609060101010101" pitchFamily="49" charset="-122"/>
                <a:ea typeface="宋体" panose="02010600030101010101" pitchFamily="2" charset="-122"/>
              </a:rPr>
              <a:t>年全国联赛试题）</a:t>
            </a:r>
          </a:p>
          <a:p>
            <a:pPr eaLnBrk="1" hangingPunct="1">
              <a:lnSpc>
                <a:spcPct val="90000"/>
              </a:lnSpc>
            </a:pPr>
            <a:endParaRPr lang="zh-CN" altLang="en-US" sz="2875" b="1" dirty="0">
              <a:latin typeface="黑体" panose="02010609060101010101" pitchFamily="49" charset="-122"/>
              <a:ea typeface="宋体" panose="02010600030101010101" pitchFamily="2" charset="-122"/>
            </a:endParaRPr>
          </a:p>
          <a:p>
            <a:pPr eaLnBrk="1" hangingPunct="1">
              <a:lnSpc>
                <a:spcPct val="90000"/>
              </a:lnSpc>
            </a:pPr>
            <a:r>
              <a:rPr lang="en-US" altLang="zh-CN" sz="2875" b="1" dirty="0">
                <a:ea typeface="宋体" panose="02010600030101010101" pitchFamily="2" charset="-122"/>
              </a:rPr>
              <a:t>2.</a:t>
            </a:r>
            <a:r>
              <a:rPr lang="zh-CN" altLang="en-US" sz="2875" b="1" dirty="0">
                <a:ea typeface="宋体" panose="02010600030101010101" pitchFamily="2" charset="-122"/>
              </a:rPr>
              <a:t>下列种群密度调查方法中，哪些属于相对密度调查方法：</a:t>
            </a:r>
          </a:p>
          <a:p>
            <a:pPr eaLnBrk="1" hangingPunct="1">
              <a:lnSpc>
                <a:spcPct val="90000"/>
              </a:lnSpc>
            </a:pPr>
            <a:r>
              <a:rPr lang="en-US" altLang="zh-CN" sz="2875" b="1" dirty="0">
                <a:ea typeface="宋体" panose="02010600030101010101" pitchFamily="2" charset="-122"/>
              </a:rPr>
              <a:t>A.</a:t>
            </a:r>
            <a:r>
              <a:rPr lang="zh-CN" altLang="en-US" sz="2875" b="1" dirty="0">
                <a:ea typeface="宋体" panose="02010600030101010101" pitchFamily="2" charset="-122"/>
              </a:rPr>
              <a:t>去除取样法；    </a:t>
            </a:r>
          </a:p>
          <a:p>
            <a:pPr eaLnBrk="1" hangingPunct="1">
              <a:lnSpc>
                <a:spcPct val="90000"/>
              </a:lnSpc>
            </a:pPr>
            <a:r>
              <a:rPr lang="en-US" altLang="zh-CN" sz="2875" b="1" dirty="0">
                <a:ea typeface="宋体" panose="02010600030101010101" pitchFamily="2" charset="-122"/>
              </a:rPr>
              <a:t>B.</a:t>
            </a:r>
            <a:r>
              <a:rPr lang="zh-CN" altLang="en-US" sz="2875" b="1" dirty="0">
                <a:ea typeface="宋体" panose="02010600030101010101" pitchFamily="2" charset="-122"/>
              </a:rPr>
              <a:t>单位时间</a:t>
            </a:r>
            <a:r>
              <a:rPr lang="en-US" altLang="zh-CN" sz="2875" b="1" dirty="0">
                <a:ea typeface="宋体" panose="02010600030101010101" pitchFamily="2" charset="-122"/>
              </a:rPr>
              <a:t>(</a:t>
            </a:r>
            <a:r>
              <a:rPr lang="zh-CN" altLang="en-US" sz="2875" b="1" dirty="0">
                <a:ea typeface="宋体" panose="02010600030101010101" pitchFamily="2" charset="-122"/>
              </a:rPr>
              <a:t>距离</a:t>
            </a:r>
            <a:r>
              <a:rPr lang="en-US" altLang="zh-CN" sz="2875" b="1" dirty="0">
                <a:ea typeface="宋体" panose="02010600030101010101" pitchFamily="2" charset="-122"/>
              </a:rPr>
              <a:t>)</a:t>
            </a:r>
            <a:r>
              <a:rPr lang="zh-CN" altLang="en-US" sz="2875" b="1" dirty="0">
                <a:ea typeface="宋体" panose="02010600030101010101" pitchFamily="2" charset="-122"/>
              </a:rPr>
              <a:t>内记录到的动物数量；</a:t>
            </a:r>
            <a:endParaRPr lang="zh-CN" altLang="zh-CN" sz="2875" b="1" dirty="0">
              <a:ea typeface="宋体" panose="02010600030101010101" pitchFamily="2" charset="-122"/>
            </a:endParaRPr>
          </a:p>
          <a:p>
            <a:pPr eaLnBrk="1" hangingPunct="1">
              <a:lnSpc>
                <a:spcPct val="90000"/>
              </a:lnSpc>
            </a:pPr>
            <a:r>
              <a:rPr lang="en-US" altLang="zh-CN" sz="2875" b="1" dirty="0">
                <a:ea typeface="宋体" panose="02010600030101010101" pitchFamily="2" charset="-122"/>
              </a:rPr>
              <a:t>C.</a:t>
            </a:r>
            <a:r>
              <a:rPr lang="zh-CN" altLang="en-US" sz="2875" b="1" dirty="0">
                <a:ea typeface="宋体" panose="02010600030101010101" pitchFamily="2" charset="-122"/>
              </a:rPr>
              <a:t>痕迹计数；      </a:t>
            </a:r>
            <a:r>
              <a:rPr lang="zh-CN" altLang="zh-CN" sz="2875" b="1" dirty="0">
                <a:ea typeface="宋体" panose="02010600030101010101" pitchFamily="2" charset="-122"/>
              </a:rPr>
              <a:t> </a:t>
            </a:r>
            <a:r>
              <a:rPr lang="zh-CN" altLang="en-US" sz="2875" b="1" dirty="0">
                <a:ea typeface="宋体" panose="02010600030101010101" pitchFamily="2" charset="-122"/>
              </a:rPr>
              <a:t> </a:t>
            </a:r>
            <a:r>
              <a:rPr lang="zh-CN" altLang="zh-CN" sz="2875" b="1" dirty="0">
                <a:ea typeface="宋体" panose="02010600030101010101" pitchFamily="2" charset="-122"/>
              </a:rPr>
              <a:t> </a:t>
            </a:r>
            <a:r>
              <a:rPr lang="zh-CN" altLang="en-US" sz="2875" b="1" dirty="0">
                <a:ea typeface="宋体" panose="02010600030101010101" pitchFamily="2" charset="-122"/>
              </a:rPr>
              <a:t> </a:t>
            </a:r>
          </a:p>
          <a:p>
            <a:pPr eaLnBrk="1" hangingPunct="1">
              <a:lnSpc>
                <a:spcPct val="90000"/>
              </a:lnSpc>
            </a:pPr>
            <a:r>
              <a:rPr lang="en-US" altLang="zh-CN" sz="2875" b="1" dirty="0">
                <a:ea typeface="宋体" panose="02010600030101010101" pitchFamily="2" charset="-122"/>
              </a:rPr>
              <a:t>D.</a:t>
            </a:r>
            <a:r>
              <a:rPr lang="zh-CN" altLang="en-US" sz="2875" b="1" dirty="0">
                <a:ea typeface="宋体" panose="02010600030101010101" pitchFamily="2" charset="-122"/>
              </a:rPr>
              <a:t>标志重捕法。</a:t>
            </a:r>
          </a:p>
          <a:p>
            <a:pPr eaLnBrk="1" hangingPunct="1">
              <a:lnSpc>
                <a:spcPct val="90000"/>
              </a:lnSpc>
            </a:pPr>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2011</a:t>
            </a:r>
            <a:r>
              <a:rPr lang="zh-CN" altLang="en-US" sz="2875" b="1" dirty="0">
                <a:solidFill>
                  <a:srgbClr val="CC0000"/>
                </a:solidFill>
                <a:latin typeface="黑体" panose="02010609060101010101" pitchFamily="49" charset="-122"/>
                <a:ea typeface="宋体" panose="02010600030101010101" pitchFamily="2" charset="-122"/>
              </a:rPr>
              <a:t>年全国联赛试题）</a:t>
            </a:r>
          </a:p>
          <a:p>
            <a:pPr eaLnBrk="1" hangingPunct="1">
              <a:lnSpc>
                <a:spcPct val="90000"/>
              </a:lnSpc>
            </a:pPr>
            <a:endParaRPr lang="zh-CN" altLang="en-US" sz="2875" b="1" dirty="0">
              <a:solidFill>
                <a:srgbClr val="CC0000"/>
              </a:solidFill>
              <a:latin typeface="黑体" panose="02010609060101010101" pitchFamily="49" charset="-122"/>
              <a:ea typeface="宋体" panose="02010600030101010101" pitchFamily="2" charset="-122"/>
            </a:endParaRPr>
          </a:p>
          <a:p>
            <a:pPr>
              <a:lnSpc>
                <a:spcPct val="90000"/>
              </a:lnSpc>
            </a:pPr>
            <a:endParaRPr lang="zh-CN" altLang="en-US" sz="2875" b="1" dirty="0">
              <a:latin typeface="黑体" panose="02010609060101010101" pitchFamily="49" charset="-122"/>
              <a:ea typeface="宋体" panose="02010600030101010101" pitchFamily="2" charset="-122"/>
            </a:endParaRPr>
          </a:p>
        </p:txBody>
      </p:sp>
      <p:sp>
        <p:nvSpPr>
          <p:cNvPr id="2" name="文本框 1">
            <a:extLst>
              <a:ext uri="{FF2B5EF4-FFF2-40B4-BE49-F238E27FC236}">
                <a16:creationId xmlns:a16="http://schemas.microsoft.com/office/drawing/2014/main" id="{7ABC1C95-D015-D283-508A-F38D48E4241E}"/>
              </a:ext>
            </a:extLst>
          </p:cNvPr>
          <p:cNvSpPr txBox="1"/>
          <p:nvPr/>
        </p:nvSpPr>
        <p:spPr>
          <a:xfrm>
            <a:off x="1898650" y="26828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BC</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4DD711C7-A1CB-36E7-BED1-B7B69B95A88E}"/>
              </a:ext>
            </a:extLst>
          </p:cNvPr>
          <p:cNvSpPr txBox="1"/>
          <p:nvPr/>
        </p:nvSpPr>
        <p:spPr>
          <a:xfrm>
            <a:off x="8004227" y="3206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BD</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a:extLst>
              <a:ext uri="{FF2B5EF4-FFF2-40B4-BE49-F238E27FC236}">
                <a16:creationId xmlns:a16="http://schemas.microsoft.com/office/drawing/2014/main" id="{9A0E0EBB-D67C-EA82-FAF6-EFA77C0C198D}"/>
              </a:ext>
            </a:extLst>
          </p:cNvPr>
          <p:cNvSpPr>
            <a:spLocks noGrp="1"/>
          </p:cNvSpPr>
          <p:nvPr>
            <p:ph type="body" idx="1"/>
          </p:nvPr>
        </p:nvSpPr>
        <p:spPr>
          <a:xfrm>
            <a:off x="492760" y="210734"/>
            <a:ext cx="8662497" cy="1327286"/>
          </a:xfrm>
        </p:spPr>
        <p:txBody>
          <a:bodyPr/>
          <a:lstStyle/>
          <a:p>
            <a:r>
              <a:rPr lang="en-US" altLang="zh-CN" sz="2875" b="1" dirty="0">
                <a:latin typeface="黑体" panose="02010609060101010101" pitchFamily="49" charset="-122"/>
                <a:ea typeface="宋体" panose="02010600030101010101" pitchFamily="2" charset="-122"/>
              </a:rPr>
              <a:t>3.</a:t>
            </a:r>
            <a:r>
              <a:rPr lang="zh-CN" altLang="en-US" sz="2875" b="1" dirty="0">
                <a:latin typeface="黑体" panose="02010609060101010101" pitchFamily="49" charset="-122"/>
                <a:ea typeface="宋体" panose="02010600030101010101" pitchFamily="2" charset="-122"/>
              </a:rPr>
              <a:t>下图是三种植物的个体空间分布图。已知五年前在该区同样的调查中显示，这三种植物的种群密度都为１株</a:t>
            </a:r>
            <a:r>
              <a:rPr lang="en-US" altLang="zh-CN" sz="2875" b="1" dirty="0">
                <a:latin typeface="黑体" panose="02010609060101010101" pitchFamily="49" charset="-122"/>
                <a:ea typeface="宋体" panose="02010600030101010101" pitchFamily="2" charset="-122"/>
              </a:rPr>
              <a:t>/</a:t>
            </a:r>
            <a:r>
              <a:rPr lang="zh-CN" altLang="en-US" sz="2875" b="1" dirty="0">
                <a:latin typeface="黑体" panose="02010609060101010101" pitchFamily="49" charset="-122"/>
                <a:ea typeface="宋体" panose="02010600030101010101" pitchFamily="2" charset="-122"/>
              </a:rPr>
              <a:t>平方米，根据图中所给的信息，正确的叙述是：</a:t>
            </a:r>
          </a:p>
        </p:txBody>
      </p:sp>
      <p:pic>
        <p:nvPicPr>
          <p:cNvPr id="94214" name="Picture 6">
            <a:extLst>
              <a:ext uri="{FF2B5EF4-FFF2-40B4-BE49-F238E27FC236}">
                <a16:creationId xmlns:a16="http://schemas.microsoft.com/office/drawing/2014/main" id="{1B2CD8E1-4ABF-8986-ACEF-1CB2CFCB3D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250" y="1844675"/>
            <a:ext cx="4158244" cy="304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4">
            <a:extLst>
              <a:ext uri="{FF2B5EF4-FFF2-40B4-BE49-F238E27FC236}">
                <a16:creationId xmlns:a16="http://schemas.microsoft.com/office/drawing/2014/main" id="{CCAB02C4-7545-5523-5A44-84116C2FD77C}"/>
              </a:ext>
            </a:extLst>
          </p:cNvPr>
          <p:cNvSpPr txBox="1">
            <a:spLocks noChangeArrowheads="1"/>
          </p:cNvSpPr>
          <p:nvPr/>
        </p:nvSpPr>
        <p:spPr>
          <a:xfrm>
            <a:off x="4380494" y="2289968"/>
            <a:ext cx="8450580" cy="2462213"/>
          </a:xfrm>
          <a:prstGeom prst="rect">
            <a:avLst/>
          </a:prstGeom>
          <a:noFill/>
          <a:ln/>
        </p:spPr>
        <p:txBody>
          <a:bodyPr wrap="square" lIns="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altLang="zh-CN" sz="2000" b="1" dirty="0">
                <a:latin typeface="黑体" panose="02010609060101010101" pitchFamily="49" charset="-122"/>
                <a:ea typeface="宋体" panose="02010600030101010101" pitchFamily="2" charset="-122"/>
              </a:rPr>
              <a:t>A.</a:t>
            </a:r>
            <a:r>
              <a:rPr lang="zh-CN" altLang="en-US" sz="2000" b="1" dirty="0">
                <a:latin typeface="黑体" panose="02010609060101010101" pitchFamily="49" charset="-122"/>
                <a:ea typeface="宋体" panose="02010600030101010101" pitchFamily="2" charset="-122"/>
              </a:rPr>
              <a:t>根据种群密度变化推测，丙最可能成为优</a:t>
            </a:r>
          </a:p>
          <a:p>
            <a:r>
              <a:rPr lang="zh-CN" altLang="en-US" sz="2000" b="1" dirty="0">
                <a:latin typeface="黑体" panose="02010609060101010101" pitchFamily="49" charset="-122"/>
                <a:ea typeface="宋体" panose="02010600030101010101" pitchFamily="2" charset="-122"/>
              </a:rPr>
              <a:t>　势种；</a:t>
            </a:r>
          </a:p>
          <a:p>
            <a:r>
              <a:rPr lang="en-US" altLang="zh-CN" sz="2000" b="1" dirty="0">
                <a:latin typeface="黑体" panose="02010609060101010101" pitchFamily="49" charset="-122"/>
                <a:ea typeface="宋体" panose="02010600030101010101" pitchFamily="2" charset="-122"/>
              </a:rPr>
              <a:t>B.</a:t>
            </a:r>
            <a:r>
              <a:rPr lang="zh-CN" altLang="en-US" sz="2000" b="1" dirty="0">
                <a:latin typeface="黑体" panose="02010609060101010101" pitchFamily="49" charset="-122"/>
                <a:ea typeface="宋体" panose="02010600030101010101" pitchFamily="2" charset="-122"/>
              </a:rPr>
              <a:t>以样方法估测种群密度，误差最小的是物</a:t>
            </a:r>
          </a:p>
          <a:p>
            <a:r>
              <a:rPr lang="zh-CN" altLang="en-US" sz="2000" b="1" dirty="0">
                <a:latin typeface="黑体" panose="02010609060101010101" pitchFamily="49" charset="-122"/>
                <a:ea typeface="宋体" panose="02010600030101010101" pitchFamily="2" charset="-122"/>
              </a:rPr>
              <a:t>　种乙， </a:t>
            </a:r>
          </a:p>
          <a:p>
            <a:r>
              <a:rPr lang="en-US" altLang="zh-CN" sz="2000" b="1" dirty="0">
                <a:latin typeface="黑体" panose="02010609060101010101" pitchFamily="49" charset="-122"/>
                <a:ea typeface="宋体" panose="02010600030101010101" pitchFamily="2" charset="-122"/>
              </a:rPr>
              <a:t>C.</a:t>
            </a:r>
            <a:r>
              <a:rPr lang="zh-CN" altLang="en-US" sz="2000" b="1" dirty="0">
                <a:latin typeface="黑体" panose="02010609060101010101" pitchFamily="49" charset="-122"/>
                <a:ea typeface="宋体" panose="02010600030101010101" pitchFamily="2" charset="-122"/>
              </a:rPr>
              <a:t>该种估测方法不适用于在草原中蜥蜴的</a:t>
            </a:r>
          </a:p>
          <a:p>
            <a:r>
              <a:rPr lang="zh-CN" altLang="en-US" sz="2000" b="1" dirty="0">
                <a:latin typeface="黑体" panose="02010609060101010101" pitchFamily="49" charset="-122"/>
                <a:ea typeface="宋体" panose="02010600030101010101" pitchFamily="2" charset="-122"/>
              </a:rPr>
              <a:t>　种群数量估算； </a:t>
            </a:r>
          </a:p>
          <a:p>
            <a:r>
              <a:rPr lang="en-US" altLang="zh-CN" sz="2000" b="1" dirty="0">
                <a:latin typeface="黑体" panose="02010609060101010101" pitchFamily="49" charset="-122"/>
                <a:ea typeface="宋体" panose="02010600030101010101" pitchFamily="2" charset="-122"/>
              </a:rPr>
              <a:t>D.</a:t>
            </a:r>
            <a:r>
              <a:rPr lang="zh-CN" altLang="en-US" sz="2000" b="1" dirty="0">
                <a:latin typeface="黑体" panose="02010609060101010101" pitchFamily="49" charset="-122"/>
                <a:ea typeface="宋体" panose="02010600030101010101" pitchFamily="2" charset="-122"/>
              </a:rPr>
              <a:t>甲种群的分布类型与稻田的水稻相似。</a:t>
            </a:r>
          </a:p>
          <a:p>
            <a:endParaRPr lang="zh-CN" altLang="en-US" sz="2000" b="1" dirty="0">
              <a:latin typeface="黑体" panose="02010609060101010101" pitchFamily="49" charset="-122"/>
              <a:ea typeface="宋体" panose="02010600030101010101" pitchFamily="2" charset="-122"/>
            </a:endParaRPr>
          </a:p>
        </p:txBody>
      </p:sp>
      <p:sp>
        <p:nvSpPr>
          <p:cNvPr id="3" name="文本框 2">
            <a:extLst>
              <a:ext uri="{FF2B5EF4-FFF2-40B4-BE49-F238E27FC236}">
                <a16:creationId xmlns:a16="http://schemas.microsoft.com/office/drawing/2014/main" id="{90AF8779-E506-29A9-9587-3D0BBD5A2DB2}"/>
              </a:ext>
            </a:extLst>
          </p:cNvPr>
          <p:cNvSpPr txBox="1"/>
          <p:nvPr/>
        </p:nvSpPr>
        <p:spPr>
          <a:xfrm>
            <a:off x="4248493" y="158306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C</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60" name="Rectangle 4">
            <a:extLst>
              <a:ext uri="{FF2B5EF4-FFF2-40B4-BE49-F238E27FC236}">
                <a16:creationId xmlns:a16="http://schemas.microsoft.com/office/drawing/2014/main" id="{8B929C60-0756-D6C5-1FF4-99D06DD29A65}"/>
              </a:ext>
            </a:extLst>
          </p:cNvPr>
          <p:cNvSpPr>
            <a:spLocks noGrp="1" noChangeArrowheads="1"/>
          </p:cNvSpPr>
          <p:nvPr>
            <p:ph type="body" idx="1"/>
          </p:nvPr>
        </p:nvSpPr>
        <p:spPr>
          <a:xfrm>
            <a:off x="372039" y="119001"/>
            <a:ext cx="8841811" cy="1138004"/>
          </a:xfrm>
          <a:noFill/>
          <a:ln/>
        </p:spPr>
        <p:txBody>
          <a:bodyPr/>
          <a:lstStyle/>
          <a:p>
            <a:r>
              <a:rPr lang="en-US" altLang="zh-CN" sz="2465" b="1" dirty="0">
                <a:latin typeface="黑体" panose="02010609060101010101" pitchFamily="49" charset="-122"/>
                <a:ea typeface="宋体" panose="02010600030101010101" pitchFamily="2" charset="-122"/>
              </a:rPr>
              <a:t>4.</a:t>
            </a:r>
            <a:r>
              <a:rPr lang="zh-CN" altLang="en-US" sz="2465" b="1" dirty="0">
                <a:latin typeface="黑体" panose="02010609060101010101" pitchFamily="49" charset="-122"/>
                <a:ea typeface="宋体" panose="02010600030101010101" pitchFamily="2" charset="-122"/>
              </a:rPr>
              <a:t>下图是某样区三种生物的种群密度调查情形，横轴表示时间，纵轴表示种群密度。有关该样区的生态特性，下列推论何者正确。</a:t>
            </a:r>
          </a:p>
        </p:txBody>
      </p:sp>
      <p:pic>
        <p:nvPicPr>
          <p:cNvPr id="787461" name="Picture 5">
            <a:extLst>
              <a:ext uri="{FF2B5EF4-FFF2-40B4-BE49-F238E27FC236}">
                <a16:creationId xmlns:a16="http://schemas.microsoft.com/office/drawing/2014/main" id="{EB100359-8C8C-C134-9892-AC11884BA8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1000" y="1155761"/>
            <a:ext cx="6727536" cy="4003593"/>
          </a:xfrm>
          <a:prstGeom prst="rect">
            <a:avLst/>
          </a:prstGeom>
          <a:noFill/>
          <a:extLst>
            <a:ext uri="{909E8E84-426E-40DD-AFC4-6F175D3DCCD1}">
              <a14:hiddenFill xmlns:a14="http://schemas.microsoft.com/office/drawing/2010/main">
                <a:solidFill>
                  <a:srgbClr val="FFFFFF"/>
                </a:solidFill>
              </a14:hiddenFill>
            </a:ext>
          </a:extLst>
        </p:spPr>
      </p:pic>
      <p:sp>
        <p:nvSpPr>
          <p:cNvPr id="787462" name="Rectangle 6">
            <a:extLst>
              <a:ext uri="{FF2B5EF4-FFF2-40B4-BE49-F238E27FC236}">
                <a16:creationId xmlns:a16="http://schemas.microsoft.com/office/drawing/2014/main" id="{CE22C241-B9A5-D143-870C-2A5B7FB50BD3}"/>
              </a:ext>
            </a:extLst>
          </p:cNvPr>
          <p:cNvSpPr>
            <a:spLocks noChangeArrowheads="1"/>
          </p:cNvSpPr>
          <p:nvPr/>
        </p:nvSpPr>
        <p:spPr bwMode="auto">
          <a:xfrm>
            <a:off x="23284" y="5074587"/>
            <a:ext cx="902112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solidFill>
                  <a:schemeClr val="tx1"/>
                </a:solidFill>
                <a:latin typeface="+mn-lt"/>
                <a:ea typeface="宋体" panose="02010600030101010101" pitchFamily="2" charset="-122"/>
                <a:cs typeface="+mn-cs"/>
              </a:rPr>
              <a:t>A.</a:t>
            </a:r>
            <a:r>
              <a:rPr lang="zh-CN" altLang="en-US" sz="2400" b="1" dirty="0">
                <a:solidFill>
                  <a:schemeClr val="tx1"/>
                </a:solidFill>
                <a:latin typeface="+mn-lt"/>
                <a:ea typeface="宋体" panose="02010600030101010101" pitchFamily="2" charset="-122"/>
                <a:cs typeface="+mn-cs"/>
              </a:rPr>
              <a:t>若甲种群密度为每平方米</a:t>
            </a:r>
            <a:r>
              <a:rPr lang="en-US" altLang="zh-CN" sz="2400" b="1" dirty="0">
                <a:solidFill>
                  <a:schemeClr val="tx1"/>
                </a:solidFill>
                <a:latin typeface="+mn-lt"/>
                <a:ea typeface="宋体" panose="02010600030101010101" pitchFamily="2" charset="-122"/>
                <a:cs typeface="+mn-cs"/>
              </a:rPr>
              <a:t>400</a:t>
            </a:r>
            <a:r>
              <a:rPr lang="zh-CN" altLang="en-US" sz="2400" b="1" dirty="0">
                <a:solidFill>
                  <a:schemeClr val="tx1"/>
                </a:solidFill>
                <a:latin typeface="+mn-lt"/>
                <a:ea typeface="宋体" panose="02010600030101010101" pitchFamily="2" charset="-122"/>
                <a:cs typeface="+mn-cs"/>
              </a:rPr>
              <a:t>个，则该样区为水生环境；</a:t>
            </a:r>
          </a:p>
          <a:p>
            <a:r>
              <a:rPr lang="en-US" altLang="zh-CN" sz="2400" b="1" dirty="0">
                <a:solidFill>
                  <a:schemeClr val="tx1"/>
                </a:solidFill>
                <a:latin typeface="+mn-lt"/>
                <a:ea typeface="宋体" panose="02010600030101010101" pitchFamily="2" charset="-122"/>
                <a:cs typeface="+mn-cs"/>
              </a:rPr>
              <a:t>B.</a:t>
            </a:r>
            <a:r>
              <a:rPr lang="zh-CN" altLang="en-US" sz="2400" b="1" dirty="0">
                <a:solidFill>
                  <a:schemeClr val="tx1"/>
                </a:solidFill>
                <a:latin typeface="+mn-lt"/>
                <a:ea typeface="宋体" panose="02010600030101010101" pitchFamily="2" charset="-122"/>
                <a:cs typeface="+mn-cs"/>
              </a:rPr>
              <a:t>该样区植物的演化顺序是甲→乙→丙；</a:t>
            </a:r>
          </a:p>
          <a:p>
            <a:r>
              <a:rPr lang="en-US" altLang="zh-CN" sz="2400" b="1" dirty="0">
                <a:solidFill>
                  <a:schemeClr val="tx1"/>
                </a:solidFill>
                <a:latin typeface="+mn-lt"/>
                <a:ea typeface="宋体" panose="02010600030101010101" pitchFamily="2" charset="-122"/>
                <a:cs typeface="+mn-cs"/>
              </a:rPr>
              <a:t>C.</a:t>
            </a:r>
            <a:r>
              <a:rPr lang="zh-CN" altLang="en-US" sz="2400" b="1" dirty="0">
                <a:solidFill>
                  <a:schemeClr val="tx1"/>
                </a:solidFill>
                <a:latin typeface="+mn-lt"/>
                <a:ea typeface="宋体" panose="02010600030101010101" pitchFamily="2" charset="-122"/>
                <a:cs typeface="+mn-cs"/>
              </a:rPr>
              <a:t>该样区中丙的最大负荷量为每平方米</a:t>
            </a:r>
            <a:r>
              <a:rPr lang="en-US" altLang="zh-CN" sz="2400" b="1" dirty="0">
                <a:solidFill>
                  <a:schemeClr val="tx1"/>
                </a:solidFill>
                <a:latin typeface="+mn-lt"/>
                <a:ea typeface="宋体" panose="02010600030101010101" pitchFamily="2" charset="-122"/>
                <a:cs typeface="+mn-cs"/>
              </a:rPr>
              <a:t>300</a:t>
            </a:r>
            <a:r>
              <a:rPr lang="zh-CN" altLang="en-US" sz="2400" b="1" dirty="0">
                <a:solidFill>
                  <a:schemeClr val="tx1"/>
                </a:solidFill>
                <a:latin typeface="+mn-lt"/>
                <a:ea typeface="宋体" panose="02010600030101010101" pitchFamily="2" charset="-122"/>
                <a:cs typeface="+mn-cs"/>
              </a:rPr>
              <a:t>个；</a:t>
            </a:r>
          </a:p>
          <a:p>
            <a:r>
              <a:rPr lang="en-US" altLang="zh-CN" sz="2400" b="1" dirty="0">
                <a:solidFill>
                  <a:schemeClr val="tx1"/>
                </a:solidFill>
                <a:latin typeface="+mn-lt"/>
                <a:ea typeface="宋体" panose="02010600030101010101" pitchFamily="2" charset="-122"/>
                <a:cs typeface="+mn-cs"/>
              </a:rPr>
              <a:t>D.</a:t>
            </a:r>
            <a:r>
              <a:rPr lang="zh-CN" altLang="en-US" sz="2400" b="1" dirty="0">
                <a:solidFill>
                  <a:schemeClr val="tx1"/>
                </a:solidFill>
                <a:latin typeface="+mn-lt"/>
                <a:ea typeface="宋体" panose="02010600030101010101" pitchFamily="2" charset="-122"/>
                <a:cs typeface="+mn-cs"/>
              </a:rPr>
              <a:t>若丙为广盐性的禾本科植物芦苇，则该样区可能是高山草甸。</a:t>
            </a:r>
          </a:p>
        </p:txBody>
      </p:sp>
      <p:sp>
        <p:nvSpPr>
          <p:cNvPr id="2" name="文本框 1">
            <a:extLst>
              <a:ext uri="{FF2B5EF4-FFF2-40B4-BE49-F238E27FC236}">
                <a16:creationId xmlns:a16="http://schemas.microsoft.com/office/drawing/2014/main" id="{ACD38E53-782C-0CCE-8BCA-CA3A32F67A43}"/>
              </a:ext>
            </a:extLst>
          </p:cNvPr>
          <p:cNvSpPr txBox="1"/>
          <p:nvPr/>
        </p:nvSpPr>
        <p:spPr>
          <a:xfrm>
            <a:off x="947564" y="7778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C</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1" name="Rectangle 3">
            <a:extLst>
              <a:ext uri="{FF2B5EF4-FFF2-40B4-BE49-F238E27FC236}">
                <a16:creationId xmlns:a16="http://schemas.microsoft.com/office/drawing/2014/main" id="{968E8746-B4E6-EF1E-FF27-A27EEBEE74C9}"/>
              </a:ext>
            </a:extLst>
          </p:cNvPr>
          <p:cNvSpPr>
            <a:spLocks noGrp="1"/>
          </p:cNvSpPr>
          <p:nvPr>
            <p:ph type="body" idx="1"/>
          </p:nvPr>
        </p:nvSpPr>
        <p:spPr>
          <a:xfrm>
            <a:off x="280843" y="1007419"/>
            <a:ext cx="8726072" cy="5724291"/>
          </a:xfrm>
        </p:spPr>
        <p:txBody>
          <a:bodyPr/>
          <a:lstStyle/>
          <a:p>
            <a:pPr eaLnBrk="1" hangingPunct="1">
              <a:lnSpc>
                <a:spcPct val="90000"/>
              </a:lnSpc>
            </a:pPr>
            <a:r>
              <a:rPr lang="en-US" altLang="zh-CN" sz="2875" b="1" dirty="0">
                <a:latin typeface="黑体" panose="02010609060101010101" pitchFamily="49" charset="-122"/>
                <a:ea typeface="宋体" panose="02010600030101010101" pitchFamily="2" charset="-122"/>
              </a:rPr>
              <a:t>5.</a:t>
            </a:r>
            <a:r>
              <a:rPr lang="zh-CN" altLang="en-US" sz="2875" b="1" dirty="0">
                <a:latin typeface="黑体" panose="02010609060101010101" pitchFamily="49" charset="-122"/>
                <a:ea typeface="宋体" panose="02010600030101010101" pitchFamily="2" charset="-122"/>
              </a:rPr>
              <a:t>标志重捕法常被用来估计种群数量，先捕获一部分个体进行标记，然后放回，经一定时间后进行重捕，根据重捕中标记个体的比例，可以估计种群的数量，这就是 </a:t>
            </a:r>
            <a:r>
              <a:rPr lang="en-US" altLang="zh-CN" sz="2875" b="1" dirty="0">
                <a:latin typeface="黑体" panose="02010609060101010101" pitchFamily="49" charset="-122"/>
                <a:ea typeface="宋体" panose="02010600030101010101" pitchFamily="2" charset="-122"/>
              </a:rPr>
              <a:t>Lincoln </a:t>
            </a:r>
            <a:r>
              <a:rPr lang="zh-CN" altLang="en-US" sz="2875" b="1" dirty="0">
                <a:latin typeface="黑体" panose="02010609060101010101" pitchFamily="49" charset="-122"/>
                <a:ea typeface="宋体" panose="02010600030101010101" pitchFamily="2" charset="-122"/>
              </a:rPr>
              <a:t>指数法。</a:t>
            </a:r>
            <a:br>
              <a:rPr lang="zh-CN" altLang="en-US" sz="2875" b="1" dirty="0">
                <a:latin typeface="黑体" panose="02010609060101010101" pitchFamily="49" charset="-122"/>
                <a:ea typeface="宋体" panose="02010600030101010101" pitchFamily="2" charset="-122"/>
              </a:rPr>
            </a:br>
            <a:r>
              <a:rPr lang="zh-CN" altLang="en-US" sz="2875" b="1" dirty="0">
                <a:ea typeface="宋体" panose="02010600030101010101" pitchFamily="2" charset="-122"/>
              </a:rPr>
              <a:t>使用该方法无需遵守下列哪条假设？（单选 </a:t>
            </a:r>
            <a:r>
              <a:rPr lang="en-US" altLang="zh-CN" sz="2875" b="1" dirty="0">
                <a:ea typeface="宋体" panose="02010600030101010101" pitchFamily="2" charset="-122"/>
              </a:rPr>
              <a:t>1 </a:t>
            </a:r>
            <a:r>
              <a:rPr lang="zh-CN" altLang="en-US" sz="2875" b="1" dirty="0">
                <a:ea typeface="宋体" panose="02010600030101010101" pitchFamily="2" charset="-122"/>
              </a:rPr>
              <a:t>分）</a:t>
            </a:r>
            <a:br>
              <a:rPr lang="zh-CN" altLang="en-US" sz="2875" b="1" dirty="0">
                <a:ea typeface="宋体" panose="02010600030101010101" pitchFamily="2" charset="-122"/>
              </a:rPr>
            </a:br>
            <a:r>
              <a:rPr lang="en-US" altLang="zh-CN" sz="2875" b="1" dirty="0">
                <a:ea typeface="宋体" panose="02010600030101010101" pitchFamily="2" charset="-122"/>
              </a:rPr>
              <a:t>A. </a:t>
            </a:r>
            <a:r>
              <a:rPr lang="zh-CN" altLang="en-US" sz="2875" b="1" dirty="0">
                <a:ea typeface="宋体" panose="02010600030101010101" pitchFamily="2" charset="-122"/>
              </a:rPr>
              <a:t>种群在调查区域内是均匀分布的</a:t>
            </a:r>
            <a:br>
              <a:rPr lang="zh-CN" altLang="en-US" sz="2875" b="1" dirty="0">
                <a:ea typeface="宋体" panose="02010600030101010101" pitchFamily="2" charset="-122"/>
              </a:rPr>
            </a:br>
            <a:r>
              <a:rPr lang="en-US" altLang="zh-CN" sz="2875" b="1" dirty="0">
                <a:ea typeface="宋体" panose="02010600030101010101" pitchFamily="2" charset="-122"/>
              </a:rPr>
              <a:t>B.</a:t>
            </a:r>
            <a:r>
              <a:rPr lang="zh-CN" altLang="en-US" sz="2875" b="1" dirty="0">
                <a:ea typeface="宋体" panose="02010600030101010101" pitchFamily="2" charset="-122"/>
              </a:rPr>
              <a:t>调查期间没有新的出生和死亡，也没有迁入和　</a:t>
            </a:r>
          </a:p>
          <a:p>
            <a:pPr eaLnBrk="1" hangingPunct="1">
              <a:lnSpc>
                <a:spcPct val="90000"/>
              </a:lnSpc>
            </a:pPr>
            <a:r>
              <a:rPr lang="zh-CN" altLang="en-US" sz="2875" b="1" dirty="0">
                <a:ea typeface="宋体" panose="02010600030101010101" pitchFamily="2" charset="-122"/>
              </a:rPr>
              <a:t>　迁出，或即使有，但可以计数</a:t>
            </a:r>
            <a:br>
              <a:rPr lang="zh-CN" altLang="en-US" sz="2875" b="1" dirty="0">
                <a:ea typeface="宋体" panose="02010600030101010101" pitchFamily="2" charset="-122"/>
              </a:rPr>
            </a:br>
            <a:r>
              <a:rPr lang="en-US" altLang="zh-CN" sz="2875" b="1" dirty="0">
                <a:ea typeface="宋体" panose="02010600030101010101" pitchFamily="2" charset="-122"/>
              </a:rPr>
              <a:t>C.</a:t>
            </a:r>
            <a:r>
              <a:rPr lang="zh-CN" altLang="en-US" sz="2875" b="1" dirty="0">
                <a:ea typeface="宋体" panose="02010600030101010101" pitchFamily="2" charset="-122"/>
              </a:rPr>
              <a:t>标记方法不能影响动物的被捕机会</a:t>
            </a:r>
            <a:br>
              <a:rPr lang="zh-CN" altLang="en-US" sz="2875" b="1" dirty="0">
                <a:ea typeface="宋体" panose="02010600030101010101" pitchFamily="2" charset="-122"/>
              </a:rPr>
            </a:br>
            <a:r>
              <a:rPr lang="en-US" altLang="zh-CN" sz="2875" b="1" dirty="0">
                <a:ea typeface="宋体" panose="02010600030101010101" pitchFamily="2" charset="-122"/>
              </a:rPr>
              <a:t>D.</a:t>
            </a:r>
            <a:r>
              <a:rPr lang="zh-CN" altLang="en-US" sz="2875" b="1" dirty="0">
                <a:ea typeface="宋体" panose="02010600030101010101" pitchFamily="2" charset="-122"/>
              </a:rPr>
              <a:t>标记需维持足够时间，至少在重捕期间不能脱</a:t>
            </a:r>
          </a:p>
          <a:p>
            <a:pPr eaLnBrk="1" hangingPunct="1">
              <a:lnSpc>
                <a:spcPct val="90000"/>
              </a:lnSpc>
            </a:pPr>
            <a:r>
              <a:rPr lang="zh-CN" altLang="en-US" sz="2875" b="1" dirty="0">
                <a:ea typeface="宋体" panose="02010600030101010101" pitchFamily="2" charset="-122"/>
              </a:rPr>
              <a:t>　落</a:t>
            </a:r>
          </a:p>
          <a:p>
            <a:pPr eaLnBrk="1" hangingPunct="1">
              <a:lnSpc>
                <a:spcPct val="90000"/>
              </a:lnSpc>
            </a:pPr>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2014</a:t>
            </a:r>
            <a:r>
              <a:rPr lang="zh-CN" altLang="en-US" sz="2875" b="1" dirty="0">
                <a:solidFill>
                  <a:srgbClr val="CC0000"/>
                </a:solidFill>
                <a:latin typeface="黑体" panose="02010609060101010101" pitchFamily="49" charset="-122"/>
                <a:ea typeface="宋体" panose="02010600030101010101" pitchFamily="2" charset="-122"/>
              </a:rPr>
              <a:t>年全国联赛试题）</a:t>
            </a:r>
          </a:p>
          <a:p>
            <a:pPr>
              <a:lnSpc>
                <a:spcPct val="90000"/>
              </a:lnSpc>
            </a:pPr>
            <a:endParaRPr lang="zh-CN" altLang="en-US" sz="2875" b="1" dirty="0">
              <a:solidFill>
                <a:srgbClr val="CC0000"/>
              </a:solidFill>
              <a:ea typeface="宋体" panose="02010600030101010101" pitchFamily="2" charset="-122"/>
            </a:endParaRPr>
          </a:p>
          <a:p>
            <a:pPr>
              <a:lnSpc>
                <a:spcPct val="90000"/>
              </a:lnSpc>
            </a:pPr>
            <a:endParaRPr lang="zh-CN" altLang="en-US" sz="2875" b="1" dirty="0">
              <a:ea typeface="宋体" panose="02010600030101010101" pitchFamily="2" charset="-122"/>
            </a:endParaRPr>
          </a:p>
        </p:txBody>
      </p:sp>
      <p:sp>
        <p:nvSpPr>
          <p:cNvPr id="2" name="文本框 1">
            <a:extLst>
              <a:ext uri="{FF2B5EF4-FFF2-40B4-BE49-F238E27FC236}">
                <a16:creationId xmlns:a16="http://schemas.microsoft.com/office/drawing/2014/main" id="{18A49C10-BA38-CF79-791D-E7DE245A9D23}"/>
              </a:ext>
            </a:extLst>
          </p:cNvPr>
          <p:cNvSpPr txBox="1"/>
          <p:nvPr/>
        </p:nvSpPr>
        <p:spPr>
          <a:xfrm>
            <a:off x="4643879" y="20732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9" name="Rectangle 3">
            <a:extLst>
              <a:ext uri="{FF2B5EF4-FFF2-40B4-BE49-F238E27FC236}">
                <a16:creationId xmlns:a16="http://schemas.microsoft.com/office/drawing/2014/main" id="{7B558244-B9D4-6BD7-2196-894206D81957}"/>
              </a:ext>
            </a:extLst>
          </p:cNvPr>
          <p:cNvSpPr>
            <a:spLocks noGrp="1"/>
          </p:cNvSpPr>
          <p:nvPr>
            <p:ph type="body" idx="1"/>
          </p:nvPr>
        </p:nvSpPr>
        <p:spPr>
          <a:xfrm>
            <a:off x="492760" y="342327"/>
            <a:ext cx="8450580" cy="1817235"/>
          </a:xfrm>
        </p:spPr>
        <p:txBody>
          <a:bodyPr/>
          <a:lstStyle/>
          <a:p>
            <a:r>
              <a:rPr lang="en-US" altLang="zh-CN" sz="2875" b="1" dirty="0">
                <a:latin typeface="黑体" panose="02010609060101010101" pitchFamily="49" charset="-122"/>
                <a:ea typeface="宋体" panose="02010600030101010101" pitchFamily="2" charset="-122"/>
              </a:rPr>
              <a:t>6.</a:t>
            </a:r>
            <a:r>
              <a:rPr lang="zh-CN" altLang="en-US" sz="2875" b="1" dirty="0">
                <a:latin typeface="黑体" panose="02010609060101010101" pitchFamily="49" charset="-122"/>
                <a:ea typeface="宋体" panose="02010600030101010101" pitchFamily="2" charset="-122"/>
              </a:rPr>
              <a:t>下图曲线</a:t>
            </a:r>
            <a:r>
              <a:rPr lang="en-US" altLang="zh-CN" sz="2875" b="1" dirty="0">
                <a:latin typeface="黑体" panose="02010609060101010101" pitchFamily="49" charset="-122"/>
                <a:ea typeface="宋体" panose="02010600030101010101" pitchFamily="2" charset="-122"/>
              </a:rPr>
              <a:t>X</a:t>
            </a:r>
            <a:r>
              <a:rPr lang="zh-CN" altLang="en-US" sz="2875" b="1" dirty="0">
                <a:latin typeface="黑体" panose="02010609060101010101" pitchFamily="49" charset="-122"/>
                <a:ea typeface="宋体" panose="02010600030101010101" pitchFamily="2" charset="-122"/>
              </a:rPr>
              <a:t>、</a:t>
            </a:r>
            <a:r>
              <a:rPr lang="en-US" altLang="zh-CN" sz="2875" b="1" dirty="0">
                <a:latin typeface="黑体" panose="02010609060101010101" pitchFamily="49" charset="-122"/>
                <a:ea typeface="宋体" panose="02010600030101010101" pitchFamily="2" charset="-122"/>
              </a:rPr>
              <a:t>Y</a:t>
            </a:r>
            <a:r>
              <a:rPr lang="zh-CN" altLang="en-US" sz="2875" b="1" dirty="0">
                <a:latin typeface="黑体" panose="02010609060101010101" pitchFamily="49" charset="-122"/>
                <a:ea typeface="宋体" panose="02010600030101010101" pitchFamily="2" charset="-122"/>
              </a:rPr>
              <a:t>表示两个生物种群密度与存活率之间的关系。下列分析错误的是： </a:t>
            </a:r>
          </a:p>
          <a:p>
            <a:endParaRPr lang="zh-CN" altLang="en-US" sz="2875" b="1" dirty="0">
              <a:latin typeface="黑体" panose="02010609060101010101" pitchFamily="49" charset="-122"/>
              <a:ea typeface="宋体" panose="02010600030101010101" pitchFamily="2" charset="-122"/>
            </a:endParaRPr>
          </a:p>
          <a:p>
            <a:endParaRPr lang="zh-CN" altLang="en-US" sz="2875" b="1" dirty="0">
              <a:latin typeface="黑体" panose="02010609060101010101" pitchFamily="49" charset="-122"/>
              <a:ea typeface="宋体" panose="02010600030101010101" pitchFamily="2" charset="-122"/>
            </a:endParaRPr>
          </a:p>
        </p:txBody>
      </p:sp>
      <p:pic>
        <p:nvPicPr>
          <p:cNvPr id="377860" name="Picture 4">
            <a:extLst>
              <a:ext uri="{FF2B5EF4-FFF2-40B4-BE49-F238E27FC236}">
                <a16:creationId xmlns:a16="http://schemas.microsoft.com/office/drawing/2014/main" id="{20591A8A-BD93-7DDD-6040-D12F050FDE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9447" y="1377459"/>
            <a:ext cx="4583918" cy="3263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7861" name="Rectangle 5">
            <a:extLst>
              <a:ext uri="{FF2B5EF4-FFF2-40B4-BE49-F238E27FC236}">
                <a16:creationId xmlns:a16="http://schemas.microsoft.com/office/drawing/2014/main" id="{00502C74-BD44-523D-A7AA-B1B1DDBF65B7}"/>
              </a:ext>
            </a:extLst>
          </p:cNvPr>
          <p:cNvSpPr>
            <a:spLocks noChangeArrowheads="1"/>
          </p:cNvSpPr>
          <p:nvPr/>
        </p:nvSpPr>
        <p:spPr bwMode="auto">
          <a:xfrm>
            <a:off x="207488" y="4866360"/>
            <a:ext cx="871792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286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mn-lt"/>
                <a:cs typeface="+mn-cs"/>
              </a:rPr>
              <a:t>A</a:t>
            </a:r>
            <a:r>
              <a:rPr lang="zh-CN" altLang="en-US" sz="2400" b="1" dirty="0">
                <a:latin typeface="+mn-lt"/>
                <a:cs typeface="+mn-cs"/>
              </a:rPr>
              <a:t>．曲线</a:t>
            </a:r>
            <a:r>
              <a:rPr lang="en-US" altLang="zh-CN" sz="2400" b="1" dirty="0">
                <a:latin typeface="+mn-lt"/>
                <a:cs typeface="+mn-cs"/>
              </a:rPr>
              <a:t>X</a:t>
            </a:r>
            <a:r>
              <a:rPr lang="zh-CN" altLang="en-US" sz="2400" b="1" dirty="0">
                <a:latin typeface="+mn-lt"/>
                <a:cs typeface="+mn-cs"/>
              </a:rPr>
              <a:t>代表的一般是</a:t>
            </a:r>
            <a:r>
              <a:rPr lang="en-US" altLang="zh-CN" sz="2400" b="1" dirty="0">
                <a:latin typeface="+mn-lt"/>
                <a:cs typeface="+mn-cs"/>
              </a:rPr>
              <a:t>K-</a:t>
            </a:r>
            <a:r>
              <a:rPr lang="zh-CN" altLang="en-US" sz="2400" b="1" dirty="0">
                <a:latin typeface="+mn-lt"/>
                <a:cs typeface="+mn-cs"/>
              </a:rPr>
              <a:t>选择的生物；</a:t>
            </a:r>
          </a:p>
          <a:p>
            <a:pPr eaLnBrk="1" hangingPunct="1"/>
            <a:r>
              <a:rPr lang="en-US" altLang="zh-CN" sz="2400" b="1" dirty="0">
                <a:latin typeface="+mn-lt"/>
                <a:cs typeface="+mn-cs"/>
              </a:rPr>
              <a:t>B</a:t>
            </a:r>
            <a:r>
              <a:rPr lang="zh-CN" altLang="en-US" sz="2400" b="1" dirty="0">
                <a:latin typeface="+mn-lt"/>
                <a:cs typeface="+mn-cs"/>
              </a:rPr>
              <a:t>．根据曲线</a:t>
            </a:r>
            <a:r>
              <a:rPr lang="en-US" altLang="zh-CN" sz="2400" b="1" dirty="0">
                <a:latin typeface="+mn-lt"/>
                <a:cs typeface="+mn-cs"/>
              </a:rPr>
              <a:t>Y</a:t>
            </a:r>
            <a:r>
              <a:rPr lang="zh-CN" altLang="en-US" sz="2400" b="1" dirty="0">
                <a:latin typeface="+mn-lt"/>
                <a:cs typeface="+mn-cs"/>
              </a:rPr>
              <a:t>，城市人口密度要适中；</a:t>
            </a:r>
          </a:p>
          <a:p>
            <a:pPr eaLnBrk="1" hangingPunct="1"/>
            <a:r>
              <a:rPr lang="en-US" altLang="zh-CN" sz="2400" b="1" dirty="0">
                <a:latin typeface="+mn-lt"/>
                <a:cs typeface="+mn-cs"/>
              </a:rPr>
              <a:t>C</a:t>
            </a:r>
            <a:r>
              <a:rPr lang="zh-CN" altLang="en-US" sz="2400" b="1" dirty="0">
                <a:latin typeface="+mn-lt"/>
                <a:cs typeface="+mn-cs"/>
              </a:rPr>
              <a:t>．根据曲线</a:t>
            </a:r>
            <a:r>
              <a:rPr lang="en-US" altLang="zh-CN" sz="2400" b="1" dirty="0">
                <a:latin typeface="+mn-lt"/>
                <a:cs typeface="+mn-cs"/>
              </a:rPr>
              <a:t>Y,</a:t>
            </a:r>
            <a:r>
              <a:rPr lang="zh-CN" altLang="en-US" sz="2400" b="1" dirty="0">
                <a:latin typeface="+mn-lt"/>
                <a:cs typeface="+mn-cs"/>
              </a:rPr>
              <a:t>将珍稀动物引种到其他地区时，要考</a:t>
            </a:r>
          </a:p>
          <a:p>
            <a:pPr eaLnBrk="1" hangingPunct="1"/>
            <a:r>
              <a:rPr lang="zh-CN" altLang="en-US" sz="2400" b="1" dirty="0">
                <a:latin typeface="+mn-lt"/>
                <a:cs typeface="+mn-cs"/>
              </a:rPr>
              <a:t>　虑种群的密度；</a:t>
            </a:r>
          </a:p>
          <a:p>
            <a:pPr eaLnBrk="1" hangingPunct="1"/>
            <a:r>
              <a:rPr lang="en-US" altLang="zh-CN" sz="2400" b="1" dirty="0">
                <a:latin typeface="+mn-lt"/>
                <a:cs typeface="+mn-cs"/>
              </a:rPr>
              <a:t>D</a:t>
            </a:r>
            <a:r>
              <a:rPr lang="zh-CN" altLang="en-US" sz="2400" b="1" dirty="0">
                <a:latin typeface="+mn-lt"/>
                <a:cs typeface="+mn-cs"/>
              </a:rPr>
              <a:t>．种群密度为</a:t>
            </a:r>
            <a:r>
              <a:rPr lang="en-US" altLang="zh-CN" sz="2400" b="1" dirty="0">
                <a:latin typeface="+mn-lt"/>
                <a:cs typeface="+mn-cs"/>
              </a:rPr>
              <a:t>Z</a:t>
            </a:r>
            <a:r>
              <a:rPr lang="zh-CN" altLang="en-US" sz="2400" b="1" dirty="0">
                <a:latin typeface="+mn-lt"/>
                <a:cs typeface="+mn-cs"/>
              </a:rPr>
              <a:t>时，曲线</a:t>
            </a:r>
            <a:r>
              <a:rPr lang="en-US" altLang="zh-CN" sz="2400" b="1" dirty="0">
                <a:latin typeface="+mn-lt"/>
                <a:cs typeface="+mn-cs"/>
              </a:rPr>
              <a:t>Y</a:t>
            </a:r>
            <a:r>
              <a:rPr lang="zh-CN" altLang="en-US" sz="2400" b="1" dirty="0">
                <a:latin typeface="+mn-lt"/>
                <a:cs typeface="+mn-cs"/>
              </a:rPr>
              <a:t>代表的种群个体间竞争最激烈。</a:t>
            </a:r>
          </a:p>
        </p:txBody>
      </p:sp>
      <p:sp>
        <p:nvSpPr>
          <p:cNvPr id="2" name="文本框 1">
            <a:extLst>
              <a:ext uri="{FF2B5EF4-FFF2-40B4-BE49-F238E27FC236}">
                <a16:creationId xmlns:a16="http://schemas.microsoft.com/office/drawing/2014/main" id="{BD512228-3C9F-9D34-5DBA-6128E4A059DD}"/>
              </a:ext>
            </a:extLst>
          </p:cNvPr>
          <p:cNvSpPr txBox="1"/>
          <p:nvPr/>
        </p:nvSpPr>
        <p:spPr>
          <a:xfrm>
            <a:off x="5480050" y="767402"/>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D</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a:extLst>
              <a:ext uri="{FF2B5EF4-FFF2-40B4-BE49-F238E27FC236}">
                <a16:creationId xmlns:a16="http://schemas.microsoft.com/office/drawing/2014/main" id="{1968C56D-2AF5-19DA-A5FC-50620A09A428}"/>
              </a:ext>
            </a:extLst>
          </p:cNvPr>
          <p:cNvSpPr>
            <a:spLocks noGrp="1"/>
          </p:cNvSpPr>
          <p:nvPr>
            <p:ph type="body" idx="1"/>
          </p:nvPr>
        </p:nvSpPr>
        <p:spPr>
          <a:xfrm>
            <a:off x="492760" y="267341"/>
            <a:ext cx="8450580" cy="2215991"/>
          </a:xfrm>
        </p:spPr>
        <p:txBody>
          <a:bodyPr/>
          <a:lstStyle/>
          <a:p>
            <a:r>
              <a:rPr lang="en-US" altLang="zh-CN" sz="2400" b="1" dirty="0">
                <a:ea typeface="宋体" panose="02010600030101010101" pitchFamily="2" charset="-122"/>
              </a:rPr>
              <a:t>7.</a:t>
            </a:r>
            <a:r>
              <a:rPr lang="zh-CN" altLang="en-US" sz="2400" b="1" dirty="0">
                <a:ea typeface="宋体" panose="02010600030101010101" pitchFamily="2" charset="-122"/>
              </a:rPr>
              <a:t>小方对某一地区田鼠种群作连续的种群密度调查。捕捉若干田鼠（甲），并在其身上作好标记，予以放回，经过一段时间后重捕若干田鼠（乙），计算有多少数量的具有标记的田鼠（丙），经过多年调查，结果如下表。根据此表，下列叙述哪一个是正确的：　　</a:t>
            </a:r>
          </a:p>
          <a:p>
            <a:r>
              <a:rPr lang="zh-CN" altLang="en-US" sz="2400" b="1" dirty="0">
                <a:ea typeface="宋体" panose="02010600030101010101" pitchFamily="2" charset="-122"/>
              </a:rPr>
              <a:t>　　　　</a:t>
            </a:r>
          </a:p>
        </p:txBody>
      </p:sp>
      <p:pic>
        <p:nvPicPr>
          <p:cNvPr id="92165" name="Picture 5">
            <a:extLst>
              <a:ext uri="{FF2B5EF4-FFF2-40B4-BE49-F238E27FC236}">
                <a16:creationId xmlns:a16="http://schemas.microsoft.com/office/drawing/2014/main" id="{3EC5899C-670E-7914-B97B-21505C7EEA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4450" y="1768475"/>
            <a:ext cx="6358890" cy="234756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37D78D80-9BFE-512A-8747-65126C4A8AC1}"/>
              </a:ext>
            </a:extLst>
          </p:cNvPr>
          <p:cNvSpPr txBox="1">
            <a:spLocks/>
          </p:cNvSpPr>
          <p:nvPr/>
        </p:nvSpPr>
        <p:spPr>
          <a:xfrm>
            <a:off x="36322" y="4116035"/>
            <a:ext cx="9824720" cy="2212144"/>
          </a:xfrm>
          <a:prstGeom prst="rect">
            <a:avLst/>
          </a:prstGeom>
        </p:spPr>
        <p:txBody>
          <a:bodyPr wrap="square" lIns="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altLang="zh-CN" sz="2875" b="1" dirty="0">
                <a:latin typeface="黑体" panose="02010609060101010101" pitchFamily="49" charset="-122"/>
                <a:ea typeface="宋体" panose="02010600030101010101" pitchFamily="2" charset="-122"/>
              </a:rPr>
              <a:t>A.1984</a:t>
            </a:r>
            <a:r>
              <a:rPr lang="zh-CN" altLang="en-US" sz="2875" b="1" dirty="0">
                <a:latin typeface="黑体" panose="02010609060101010101" pitchFamily="49" charset="-122"/>
                <a:ea typeface="宋体" panose="02010600030101010101" pitchFamily="2" charset="-122"/>
              </a:rPr>
              <a:t>年田鼠数量约为</a:t>
            </a:r>
            <a:r>
              <a:rPr lang="en-US" altLang="zh-CN" sz="2875" b="1" dirty="0">
                <a:latin typeface="黑体" panose="02010609060101010101" pitchFamily="49" charset="-122"/>
                <a:ea typeface="宋体" panose="02010600030101010101" pitchFamily="2" charset="-122"/>
              </a:rPr>
              <a:t>430</a:t>
            </a:r>
            <a:r>
              <a:rPr lang="zh-CN" altLang="en-US" sz="2875" b="1" dirty="0">
                <a:latin typeface="黑体" panose="02010609060101010101" pitchFamily="49" charset="-122"/>
                <a:ea typeface="宋体" panose="02010600030101010101" pitchFamily="2" charset="-122"/>
              </a:rPr>
              <a:t>只  </a:t>
            </a:r>
          </a:p>
          <a:p>
            <a:r>
              <a:rPr lang="en-US" altLang="zh-CN" sz="2875" b="1" dirty="0">
                <a:ea typeface="宋体" panose="02010600030101010101" pitchFamily="2" charset="-122"/>
              </a:rPr>
              <a:t>B.</a:t>
            </a:r>
            <a:r>
              <a:rPr lang="zh-CN" altLang="en-US" sz="2875" b="1" dirty="0">
                <a:ea typeface="宋体" panose="02010600030101010101" pitchFamily="2" charset="-122"/>
              </a:rPr>
              <a:t>此地区田鼠种群负荷量</a:t>
            </a:r>
            <a:r>
              <a:rPr lang="zh-CN" altLang="en-US" sz="2875" b="1" dirty="0">
                <a:latin typeface="黑体" panose="02010609060101010101" pitchFamily="49" charset="-122"/>
                <a:ea typeface="宋体" panose="02010600030101010101" pitchFamily="2" charset="-122"/>
              </a:rPr>
              <a:t>约为</a:t>
            </a:r>
            <a:r>
              <a:rPr lang="en-US" altLang="zh-CN" sz="2875" b="1" dirty="0">
                <a:latin typeface="黑体" panose="02010609060101010101" pitchFamily="49" charset="-122"/>
                <a:ea typeface="宋体" panose="02010600030101010101" pitchFamily="2" charset="-122"/>
              </a:rPr>
              <a:t>550</a:t>
            </a:r>
            <a:r>
              <a:rPr lang="zh-CN" altLang="en-US" sz="2875" b="1" dirty="0">
                <a:latin typeface="黑体" panose="02010609060101010101" pitchFamily="49" charset="-122"/>
                <a:ea typeface="宋体" panose="02010600030101010101" pitchFamily="2" charset="-122"/>
              </a:rPr>
              <a:t>只</a:t>
            </a:r>
          </a:p>
          <a:p>
            <a:r>
              <a:rPr lang="en-US" altLang="zh-CN" sz="2875" b="1" dirty="0">
                <a:latin typeface="黑体" panose="02010609060101010101" pitchFamily="49" charset="-122"/>
                <a:ea typeface="宋体" panose="02010600030101010101" pitchFamily="2" charset="-122"/>
              </a:rPr>
              <a:t>C.</a:t>
            </a:r>
            <a:r>
              <a:rPr lang="zh-CN" altLang="en-US" sz="2875" b="1" dirty="0">
                <a:latin typeface="黑体" panose="02010609060101010101" pitchFamily="49" charset="-122"/>
                <a:ea typeface="宋体" panose="02010600030101010101" pitchFamily="2" charset="-122"/>
              </a:rPr>
              <a:t>由表中数据可推测，此地区田鼠种群仍为增长中的种群</a:t>
            </a:r>
          </a:p>
          <a:p>
            <a:r>
              <a:rPr lang="en-US" altLang="zh-CN" sz="2875" b="1" dirty="0">
                <a:latin typeface="黑体" panose="02010609060101010101" pitchFamily="49" charset="-122"/>
                <a:ea typeface="宋体" panose="02010600030101010101" pitchFamily="2" charset="-122"/>
              </a:rPr>
              <a:t>D.</a:t>
            </a:r>
            <a:r>
              <a:rPr lang="zh-CN" altLang="en-US" sz="2875" b="1" dirty="0">
                <a:latin typeface="黑体" panose="02010609060101010101" pitchFamily="49" charset="-122"/>
                <a:ea typeface="宋体" panose="02010600030101010101" pitchFamily="2" charset="-122"/>
              </a:rPr>
              <a:t>种群个体数量的增加，均为食物大量增加的结果。</a:t>
            </a:r>
          </a:p>
          <a:p>
            <a:endParaRPr lang="zh-CN" altLang="en-US" sz="2875" b="1" dirty="0">
              <a:latin typeface="黑体" panose="02010609060101010101" pitchFamily="49" charset="-122"/>
              <a:ea typeface="宋体" panose="02010600030101010101" pitchFamily="2" charset="-122"/>
            </a:endParaRPr>
          </a:p>
        </p:txBody>
      </p:sp>
      <p:sp>
        <p:nvSpPr>
          <p:cNvPr id="3" name="文本框 2">
            <a:extLst>
              <a:ext uri="{FF2B5EF4-FFF2-40B4-BE49-F238E27FC236}">
                <a16:creationId xmlns:a16="http://schemas.microsoft.com/office/drawing/2014/main" id="{28381014-7C2A-48D4-9335-2F287D7DDC5A}"/>
              </a:ext>
            </a:extLst>
          </p:cNvPr>
          <p:cNvSpPr txBox="1"/>
          <p:nvPr/>
        </p:nvSpPr>
        <p:spPr>
          <a:xfrm>
            <a:off x="1517650" y="1966843"/>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B</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a:extLst>
              <a:ext uri="{FF2B5EF4-FFF2-40B4-BE49-F238E27FC236}">
                <a16:creationId xmlns:a16="http://schemas.microsoft.com/office/drawing/2014/main" id="{78FDAC4D-E581-4386-D6E2-BFC0707E665D}"/>
              </a:ext>
            </a:extLst>
          </p:cNvPr>
          <p:cNvSpPr>
            <a:spLocks noGrp="1"/>
          </p:cNvSpPr>
          <p:nvPr>
            <p:ph type="body" idx="1"/>
          </p:nvPr>
        </p:nvSpPr>
        <p:spPr>
          <a:xfrm>
            <a:off x="504171" y="859078"/>
            <a:ext cx="8450580" cy="4827525"/>
          </a:xfrm>
        </p:spPr>
        <p:txBody>
          <a:bodyPr/>
          <a:lstStyle/>
          <a:p>
            <a:pPr eaLnBrk="1" hangingPunct="1"/>
            <a:r>
              <a:rPr lang="en-US" altLang="zh-CN" sz="2875" b="1" dirty="0">
                <a:ea typeface="宋体" panose="02010600030101010101" pitchFamily="2" charset="-122"/>
              </a:rPr>
              <a:t>8.</a:t>
            </a:r>
            <a:r>
              <a:rPr lang="zh-CN" altLang="en-US" sz="2875" b="1" dirty="0">
                <a:ea typeface="宋体" panose="02010600030101010101" pitchFamily="2" charset="-122"/>
              </a:rPr>
              <a:t>在研究田鼠行为的实验中，观察者选定了一个家族群作为观察对象，每天从</a:t>
            </a:r>
            <a:r>
              <a:rPr lang="en-US" altLang="zh-CN" sz="2875" b="1" dirty="0">
                <a:ea typeface="宋体" panose="02010600030101010101" pitchFamily="2" charset="-122"/>
              </a:rPr>
              <a:t>6</a:t>
            </a:r>
            <a:r>
              <a:rPr lang="zh-CN" altLang="en-US" sz="2875" b="1" dirty="0">
                <a:ea typeface="宋体" panose="02010600030101010101" pitchFamily="2" charset="-122"/>
              </a:rPr>
              <a:t>：</a:t>
            </a:r>
            <a:r>
              <a:rPr lang="en-US" altLang="zh-CN" sz="2875" b="1" dirty="0">
                <a:ea typeface="宋体" panose="02010600030101010101" pitchFamily="2" charset="-122"/>
              </a:rPr>
              <a:t>00</a:t>
            </a:r>
            <a:r>
              <a:rPr lang="zh-CN" altLang="en-US" sz="2875" b="1" dirty="0">
                <a:ea typeface="宋体" panose="02010600030101010101" pitchFamily="2" charset="-122"/>
              </a:rPr>
              <a:t>至</a:t>
            </a:r>
            <a:r>
              <a:rPr lang="en-US" altLang="zh-CN" sz="2875" b="1" dirty="0">
                <a:ea typeface="宋体" panose="02010600030101010101" pitchFamily="2" charset="-122"/>
              </a:rPr>
              <a:t>18</a:t>
            </a:r>
            <a:r>
              <a:rPr lang="zh-CN" altLang="en-US" sz="2875" b="1" dirty="0">
                <a:ea typeface="宋体" panose="02010600030101010101" pitchFamily="2" charset="-122"/>
              </a:rPr>
              <a:t>：</a:t>
            </a:r>
            <a:r>
              <a:rPr lang="en-US" altLang="zh-CN" sz="2875" b="1" dirty="0">
                <a:ea typeface="宋体" panose="02010600030101010101" pitchFamily="2" charset="-122"/>
              </a:rPr>
              <a:t>00</a:t>
            </a:r>
            <a:r>
              <a:rPr lang="zh-CN" altLang="en-US" sz="2875" b="1" dirty="0">
                <a:ea typeface="宋体" panose="02010600030101010101" pitchFamily="2" charset="-122"/>
              </a:rPr>
              <a:t>按顺序观察每个个体</a:t>
            </a:r>
            <a:r>
              <a:rPr lang="en-US" altLang="zh-CN" sz="2875" b="1" dirty="0">
                <a:ea typeface="宋体" panose="02010600030101010101" pitchFamily="2" charset="-122"/>
              </a:rPr>
              <a:t>20</a:t>
            </a:r>
            <a:r>
              <a:rPr lang="zh-CN" altLang="en-US" sz="2875" b="1" dirty="0">
                <a:ea typeface="宋体" panose="02010600030101010101" pitchFamily="2" charset="-122"/>
              </a:rPr>
              <a:t>分钟，观察期间记录全部行为。这种取样方法包括了下列哪些项</a:t>
            </a:r>
            <a:r>
              <a:rPr lang="en-US" altLang="zh-CN" sz="2875" b="1" dirty="0">
                <a:ea typeface="宋体" panose="02010600030101010101" pitchFamily="2" charset="-122"/>
              </a:rPr>
              <a:t>?   </a:t>
            </a:r>
          </a:p>
          <a:p>
            <a:pPr eaLnBrk="1" hangingPunct="1"/>
            <a:r>
              <a:rPr lang="en-US" altLang="zh-CN" sz="2875" b="1" dirty="0">
                <a:ea typeface="宋体" panose="02010600030101010101" pitchFamily="2" charset="-122"/>
              </a:rPr>
              <a:t>A</a:t>
            </a:r>
            <a:r>
              <a:rPr lang="zh-CN" altLang="en-US" sz="2875" b="1" dirty="0">
                <a:ea typeface="宋体" panose="02010600030101010101" pitchFamily="2" charset="-122"/>
              </a:rPr>
              <a:t>．点取样；  </a:t>
            </a:r>
            <a:r>
              <a:rPr lang="zh-CN" altLang="zh-CN" sz="2875" b="1" dirty="0">
                <a:ea typeface="宋体" panose="02010600030101010101" pitchFamily="2" charset="-122"/>
              </a:rPr>
              <a:t> </a:t>
            </a:r>
            <a:r>
              <a:rPr lang="zh-CN" altLang="en-US" sz="2875" b="1" dirty="0">
                <a:ea typeface="宋体" panose="02010600030101010101" pitchFamily="2" charset="-122"/>
              </a:rPr>
              <a:t> </a:t>
            </a:r>
            <a:r>
              <a:rPr lang="zh-CN" altLang="zh-CN" sz="2875" b="1" dirty="0">
                <a:ea typeface="宋体" panose="02010600030101010101" pitchFamily="2" charset="-122"/>
              </a:rPr>
              <a:t> </a:t>
            </a:r>
            <a:r>
              <a:rPr lang="zh-CN" altLang="en-US" sz="2875" b="1" dirty="0">
                <a:ea typeface="宋体" panose="02010600030101010101" pitchFamily="2" charset="-122"/>
              </a:rPr>
              <a:t> </a:t>
            </a:r>
            <a:r>
              <a:rPr lang="en-US" altLang="zh-CN" sz="2875" b="1" dirty="0">
                <a:ea typeface="宋体" panose="02010600030101010101" pitchFamily="2" charset="-122"/>
              </a:rPr>
              <a:t>B</a:t>
            </a:r>
            <a:r>
              <a:rPr lang="zh-CN" altLang="en-US" sz="2875" b="1" dirty="0">
                <a:ea typeface="宋体" panose="02010600030101010101" pitchFamily="2" charset="-122"/>
              </a:rPr>
              <a:t>．扫描取样；  </a:t>
            </a:r>
            <a:endParaRPr lang="zh-CN" altLang="zh-CN" sz="2875" b="1" dirty="0">
              <a:ea typeface="宋体" panose="02010600030101010101" pitchFamily="2" charset="-122"/>
            </a:endParaRPr>
          </a:p>
          <a:p>
            <a:pPr eaLnBrk="1" hangingPunct="1"/>
            <a:r>
              <a:rPr lang="en-US" altLang="zh-CN" sz="2875" b="1" dirty="0">
                <a:ea typeface="宋体" panose="02010600030101010101" pitchFamily="2" charset="-122"/>
              </a:rPr>
              <a:t>C</a:t>
            </a:r>
            <a:r>
              <a:rPr lang="zh-CN" altLang="en-US" sz="2875" b="1" dirty="0">
                <a:ea typeface="宋体" panose="02010600030101010101" pitchFamily="2" charset="-122"/>
              </a:rPr>
              <a:t>．目标取样；  　</a:t>
            </a:r>
            <a:r>
              <a:rPr lang="en-US" altLang="zh-CN" sz="2875" b="1" dirty="0">
                <a:ea typeface="宋体" panose="02010600030101010101" pitchFamily="2" charset="-122"/>
              </a:rPr>
              <a:t>D</a:t>
            </a:r>
            <a:r>
              <a:rPr lang="zh-CN" altLang="en-US" sz="2875" b="1" dirty="0">
                <a:ea typeface="宋体" panose="02010600030101010101" pitchFamily="2" charset="-122"/>
              </a:rPr>
              <a:t>．随意取样。  </a:t>
            </a:r>
          </a:p>
          <a:p>
            <a:pPr eaLnBrk="1" hangingPunct="1"/>
            <a:r>
              <a:rPr lang="en-US" altLang="zh-CN" sz="2875" b="1" dirty="0">
                <a:ea typeface="宋体" panose="02010600030101010101" pitchFamily="2" charset="-122"/>
              </a:rPr>
              <a:t>E</a:t>
            </a:r>
            <a:r>
              <a:rPr lang="zh-CN" altLang="en-US" sz="2875" b="1" dirty="0">
                <a:ea typeface="宋体" panose="02010600030101010101" pitchFamily="2" charset="-122"/>
              </a:rPr>
              <a:t>．连续记录</a:t>
            </a:r>
            <a:r>
              <a:rPr lang="en-US" altLang="zh-CN" sz="2875" b="1" dirty="0">
                <a:ea typeface="宋体" panose="02010600030101010101" pitchFamily="2" charset="-122"/>
              </a:rPr>
              <a:t>(</a:t>
            </a:r>
            <a:r>
              <a:rPr lang="zh-CN" altLang="en-US" sz="2875" b="1" dirty="0">
                <a:ea typeface="宋体" panose="02010600030101010101" pitchFamily="2" charset="-122"/>
              </a:rPr>
              <a:t>取样</a:t>
            </a:r>
            <a:r>
              <a:rPr lang="en-US" altLang="zh-CN" sz="2875" b="1" dirty="0">
                <a:ea typeface="宋体" panose="02010600030101010101" pitchFamily="2" charset="-122"/>
              </a:rPr>
              <a:t>)</a:t>
            </a:r>
          </a:p>
          <a:p>
            <a:pPr eaLnBrk="1" hangingPunct="1"/>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2011</a:t>
            </a:r>
            <a:r>
              <a:rPr lang="zh-CN" altLang="en-US" sz="2875" b="1" dirty="0">
                <a:solidFill>
                  <a:srgbClr val="CC0000"/>
                </a:solidFill>
                <a:latin typeface="黑体" panose="02010609060101010101" pitchFamily="49" charset="-122"/>
                <a:ea typeface="宋体" panose="02010600030101010101" pitchFamily="2" charset="-122"/>
              </a:rPr>
              <a:t>年全国联赛试题）</a:t>
            </a:r>
            <a:endParaRPr lang="zh-CN" altLang="zh-CN" sz="2875" b="1" dirty="0">
              <a:solidFill>
                <a:srgbClr val="CC0000"/>
              </a:solidFill>
              <a:latin typeface="黑体" panose="02010609060101010101" pitchFamily="49" charset="-122"/>
              <a:ea typeface="宋体" panose="02010600030101010101" pitchFamily="2" charset="-122"/>
            </a:endParaRPr>
          </a:p>
          <a:p>
            <a:pPr eaLnBrk="1" hangingPunct="1"/>
            <a:endParaRPr lang="en-US" altLang="zh-CN" sz="2875" b="1" dirty="0">
              <a:solidFill>
                <a:srgbClr val="CC0000"/>
              </a:solidFill>
              <a:latin typeface="黑体" panose="02010609060101010101" pitchFamily="49" charset="-122"/>
              <a:ea typeface="宋体" panose="02010600030101010101" pitchFamily="2" charset="-122"/>
            </a:endParaRPr>
          </a:p>
          <a:p>
            <a:pPr eaLnBrk="1" hangingPunct="1"/>
            <a:endParaRPr lang="zh-CN" altLang="zh-CN" sz="2875" b="1" dirty="0">
              <a:solidFill>
                <a:srgbClr val="FF0000"/>
              </a:solidFill>
              <a:latin typeface="黑体" panose="02010609060101010101" pitchFamily="49" charset="-122"/>
              <a:ea typeface="宋体" panose="02010600030101010101" pitchFamily="2" charset="-122"/>
            </a:endParaRPr>
          </a:p>
          <a:p>
            <a:endParaRPr lang="zh-CN" altLang="en-US" b="1" dirty="0">
              <a:latin typeface="黑体" panose="02010609060101010101" pitchFamily="49" charset="-122"/>
              <a:ea typeface="宋体" panose="02010600030101010101" pitchFamily="2" charset="-122"/>
            </a:endParaRPr>
          </a:p>
        </p:txBody>
      </p:sp>
      <p:sp>
        <p:nvSpPr>
          <p:cNvPr id="2" name="文本框 1">
            <a:extLst>
              <a:ext uri="{FF2B5EF4-FFF2-40B4-BE49-F238E27FC236}">
                <a16:creationId xmlns:a16="http://schemas.microsoft.com/office/drawing/2014/main" id="{D99F04D5-380F-7117-70FF-446C93FEC04E}"/>
              </a:ext>
            </a:extLst>
          </p:cNvPr>
          <p:cNvSpPr txBox="1"/>
          <p:nvPr/>
        </p:nvSpPr>
        <p:spPr>
          <a:xfrm>
            <a:off x="5327650" y="21494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BCE</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55" name="Rectangle 3">
            <a:extLst>
              <a:ext uri="{FF2B5EF4-FFF2-40B4-BE49-F238E27FC236}">
                <a16:creationId xmlns:a16="http://schemas.microsoft.com/office/drawing/2014/main" id="{A1EAB0F0-028C-A165-4102-4DD048FAA0AC}"/>
              </a:ext>
            </a:extLst>
          </p:cNvPr>
          <p:cNvSpPr>
            <a:spLocks noGrp="1"/>
          </p:cNvSpPr>
          <p:nvPr>
            <p:ph type="body" idx="1"/>
          </p:nvPr>
        </p:nvSpPr>
        <p:spPr>
          <a:xfrm>
            <a:off x="504171" y="1080776"/>
            <a:ext cx="8450580" cy="3464599"/>
          </a:xfrm>
        </p:spPr>
        <p:txBody>
          <a:bodyPr/>
          <a:lstStyle/>
          <a:p>
            <a:r>
              <a:rPr lang="en-US" altLang="zh-CN" sz="2875" b="1" dirty="0">
                <a:ea typeface="宋体" panose="02010600030101010101" pitchFamily="2" charset="-122"/>
              </a:rPr>
              <a:t>9.</a:t>
            </a:r>
            <a:r>
              <a:rPr lang="zh-CN" altLang="en-US" sz="2875" b="1" dirty="0">
                <a:ea typeface="宋体" panose="02010600030101010101" pitchFamily="2" charset="-122"/>
              </a:rPr>
              <a:t>在同一栖息地，同种而不同色的蝗虫，其数量比会因年代不同而有所改变</a:t>
            </a:r>
            <a:r>
              <a:rPr lang="zh-CN" altLang="en-US" b="1" dirty="0">
                <a:ea typeface="宋体" panose="02010600030101010101" pitchFamily="2" charset="-122"/>
              </a:rPr>
              <a:t>，</a:t>
            </a:r>
            <a:r>
              <a:rPr lang="zh-CN" altLang="en-US" sz="2875" b="1" dirty="0">
                <a:ea typeface="宋体" panose="02010600030101010101" pitchFamily="2" charset="-122"/>
              </a:rPr>
              <a:t>请问下列哪一选项是造成此一现象的最可能的解释：</a:t>
            </a:r>
          </a:p>
          <a:p>
            <a:r>
              <a:rPr lang="en-US" altLang="zh-CN" sz="2875" b="1" dirty="0">
                <a:latin typeface="黑体" panose="02010609060101010101" pitchFamily="49" charset="-122"/>
                <a:ea typeface="宋体" panose="02010600030101010101" pitchFamily="2" charset="-122"/>
              </a:rPr>
              <a:t>A.</a:t>
            </a:r>
            <a:r>
              <a:rPr lang="zh-CN" altLang="en-US" sz="2875" b="1" dirty="0">
                <a:latin typeface="黑体" panose="02010609060101010101" pitchFamily="49" charset="-122"/>
                <a:ea typeface="宋体" panose="02010600030101010101" pitchFamily="2" charset="-122"/>
              </a:rPr>
              <a:t>调查资源可能有误；</a:t>
            </a:r>
          </a:p>
          <a:p>
            <a:r>
              <a:rPr lang="en-US" altLang="zh-CN" sz="2875" b="1" dirty="0">
                <a:latin typeface="黑体" panose="02010609060101010101" pitchFamily="49" charset="-122"/>
                <a:ea typeface="宋体" panose="02010600030101010101" pitchFamily="2" charset="-122"/>
              </a:rPr>
              <a:t>B.</a:t>
            </a:r>
            <a:r>
              <a:rPr lang="zh-CN" altLang="en-US" sz="2875" b="1" dirty="0">
                <a:latin typeface="黑体" panose="02010609060101010101" pitchFamily="49" charset="-122"/>
                <a:ea typeface="宋体" panose="02010600030101010101" pitchFamily="2" charset="-122"/>
              </a:rPr>
              <a:t>该栖息地的生态环境可能发生了改变；</a:t>
            </a:r>
          </a:p>
          <a:p>
            <a:r>
              <a:rPr lang="en-US" altLang="zh-CN" sz="2875" b="1" dirty="0">
                <a:latin typeface="黑体" panose="02010609060101010101" pitchFamily="49" charset="-122"/>
                <a:ea typeface="宋体" panose="02010600030101010101" pitchFamily="2" charset="-122"/>
              </a:rPr>
              <a:t>C.</a:t>
            </a:r>
            <a:r>
              <a:rPr lang="zh-CN" altLang="en-US" sz="2875" b="1" dirty="0">
                <a:latin typeface="黑体" panose="02010609060101010101" pitchFamily="49" charset="-122"/>
                <a:ea typeface="宋体" panose="02010600030101010101" pitchFamily="2" charset="-122"/>
              </a:rPr>
              <a:t>该栖息地的上的蝗虫天敌数量可能减少了；</a:t>
            </a:r>
          </a:p>
          <a:p>
            <a:r>
              <a:rPr lang="en-US" altLang="zh-CN" sz="2875" b="1" dirty="0">
                <a:latin typeface="黑体" panose="02010609060101010101" pitchFamily="49" charset="-122"/>
                <a:ea typeface="宋体" panose="02010600030101010101" pitchFamily="2" charset="-122"/>
              </a:rPr>
              <a:t>D.</a:t>
            </a:r>
            <a:r>
              <a:rPr lang="zh-CN" altLang="en-US" sz="2875" b="1" dirty="0">
                <a:latin typeface="黑体" panose="02010609060101010101" pitchFamily="49" charset="-122"/>
                <a:ea typeface="宋体" panose="02010600030101010101" pitchFamily="2" charset="-122"/>
              </a:rPr>
              <a:t>该栖息地上的蝗虫可能遭到了细菌的侵袭。</a:t>
            </a:r>
          </a:p>
          <a:p>
            <a:endParaRPr lang="zh-CN" altLang="en-US" dirty="0">
              <a:ea typeface="宋体" panose="02010600030101010101" pitchFamily="2" charset="-122"/>
            </a:endParaRPr>
          </a:p>
        </p:txBody>
      </p:sp>
      <p:sp>
        <p:nvSpPr>
          <p:cNvPr id="2" name="文本框 1">
            <a:extLst>
              <a:ext uri="{FF2B5EF4-FFF2-40B4-BE49-F238E27FC236}">
                <a16:creationId xmlns:a16="http://schemas.microsoft.com/office/drawing/2014/main" id="{F9ECCDF9-8CF8-C1E0-1290-A87257D654FC}"/>
              </a:ext>
            </a:extLst>
          </p:cNvPr>
          <p:cNvSpPr txBox="1"/>
          <p:nvPr/>
        </p:nvSpPr>
        <p:spPr>
          <a:xfrm>
            <a:off x="4718050" y="19208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B</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ext Box 2">
            <a:extLst>
              <a:ext uri="{FF2B5EF4-FFF2-40B4-BE49-F238E27FC236}">
                <a16:creationId xmlns:a16="http://schemas.microsoft.com/office/drawing/2014/main" id="{79965B1C-B939-72B6-79C6-160F04B31BFA}"/>
              </a:ext>
            </a:extLst>
          </p:cNvPr>
          <p:cNvSpPr txBox="1">
            <a:spLocks noChangeArrowheads="1"/>
          </p:cNvSpPr>
          <p:nvPr/>
        </p:nvSpPr>
        <p:spPr bwMode="auto">
          <a:xfrm>
            <a:off x="492760" y="782461"/>
            <a:ext cx="8215842" cy="4021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3286" b="1"/>
              <a:t>三 种群的空间结构</a:t>
            </a:r>
          </a:p>
          <a:p>
            <a:pPr algn="just" eaLnBrk="1" hangingPunct="1">
              <a:spcBef>
                <a:spcPct val="50000"/>
              </a:spcBef>
            </a:pPr>
            <a:r>
              <a:rPr lang="zh-CN" altLang="en-US" sz="2875" b="1"/>
              <a:t>组成种群的个体在其生活空间中的位置状态或布局，称为种群的内分布型或简称分布。种群的内分布型一般可分为三类：（</a:t>
            </a:r>
            <a:r>
              <a:rPr lang="en-US" altLang="zh-CN" sz="2875" b="1"/>
              <a:t>1</a:t>
            </a:r>
            <a:r>
              <a:rPr lang="zh-CN" altLang="en-US" sz="2875" b="1"/>
              <a:t>）均匀的</a:t>
            </a:r>
            <a:r>
              <a:rPr lang="en-US" altLang="zh-CN" sz="2875" b="1"/>
              <a:t>; </a:t>
            </a:r>
            <a:r>
              <a:rPr lang="zh-CN" altLang="en-US" sz="2875" b="1"/>
              <a:t>（</a:t>
            </a:r>
            <a:r>
              <a:rPr lang="en-US" altLang="zh-CN" sz="2875" b="1"/>
              <a:t>2</a:t>
            </a:r>
            <a:r>
              <a:rPr lang="zh-CN" altLang="en-US" sz="2875" b="1"/>
              <a:t>）随机的</a:t>
            </a:r>
            <a:r>
              <a:rPr lang="en-US" altLang="zh-CN" sz="2875" b="1"/>
              <a:t>; </a:t>
            </a:r>
            <a:r>
              <a:rPr lang="zh-CN" altLang="en-US" sz="2875" b="1"/>
              <a:t>（</a:t>
            </a:r>
            <a:r>
              <a:rPr lang="en-US" altLang="zh-CN" sz="2875" b="1"/>
              <a:t>3</a:t>
            </a:r>
            <a:r>
              <a:rPr lang="zh-CN" altLang="en-US" sz="2875" b="1"/>
              <a:t>） 成群的 。</a:t>
            </a:r>
          </a:p>
          <a:p>
            <a:pPr algn="just" eaLnBrk="1" hangingPunct="1">
              <a:spcBef>
                <a:spcPct val="50000"/>
              </a:spcBef>
            </a:pPr>
            <a:r>
              <a:rPr lang="zh-CN" altLang="en-US" sz="2875"/>
              <a:t> </a:t>
            </a:r>
          </a:p>
          <a:p>
            <a:pPr eaLnBrk="1" hangingPunct="1">
              <a:spcBef>
                <a:spcPct val="50000"/>
              </a:spcBef>
            </a:pPr>
            <a:endParaRPr lang="en-US" altLang="zh-CN" sz="2875"/>
          </a:p>
        </p:txBody>
      </p:sp>
      <p:grpSp>
        <p:nvGrpSpPr>
          <p:cNvPr id="1028" name="Group 3">
            <a:extLst>
              <a:ext uri="{FF2B5EF4-FFF2-40B4-BE49-F238E27FC236}">
                <a16:creationId xmlns:a16="http://schemas.microsoft.com/office/drawing/2014/main" id="{77636A5A-21F6-AD29-519F-7F4441E55092}"/>
              </a:ext>
            </a:extLst>
          </p:cNvPr>
          <p:cNvGrpSpPr>
            <a:grpSpLocks/>
          </p:cNvGrpSpPr>
          <p:nvPr/>
        </p:nvGrpSpPr>
        <p:grpSpPr bwMode="auto">
          <a:xfrm>
            <a:off x="1275221" y="3286337"/>
            <a:ext cx="6885658" cy="2816860"/>
            <a:chOff x="2700" y="12360"/>
            <a:chExt cx="5760" cy="1921"/>
          </a:xfrm>
        </p:grpSpPr>
        <p:graphicFrame>
          <p:nvGraphicFramePr>
            <p:cNvPr id="1026" name="Object 4">
              <a:extLst>
                <a:ext uri="{FF2B5EF4-FFF2-40B4-BE49-F238E27FC236}">
                  <a16:creationId xmlns:a16="http://schemas.microsoft.com/office/drawing/2014/main" id="{FCF6A0A2-EE04-6459-98BE-4DF850A46897}"/>
                </a:ext>
              </a:extLst>
            </p:cNvPr>
            <p:cNvGraphicFramePr>
              <a:graphicFrameLocks noChangeAspect="1"/>
            </p:cNvGraphicFramePr>
            <p:nvPr/>
          </p:nvGraphicFramePr>
          <p:xfrm>
            <a:off x="4500" y="12360"/>
            <a:ext cx="3960" cy="1921"/>
          </p:xfrm>
          <a:graphic>
            <a:graphicData uri="http://schemas.openxmlformats.org/presentationml/2006/ole">
              <mc:AlternateContent xmlns:mc="http://schemas.openxmlformats.org/markup-compatibility/2006">
                <mc:Choice xmlns:v="urn:schemas-microsoft-com:vml" Requires="v">
                  <p:oleObj name="BMP 图象" r:id="rId2" imgW="1898650" imgH="920750" progId="Paint.Picture">
                    <p:embed/>
                  </p:oleObj>
                </mc:Choice>
                <mc:Fallback>
                  <p:oleObj name="BMP 图象" r:id="rId2" imgW="1898650" imgH="920750" progId="Paint.Picture">
                    <p:embed/>
                    <p:pic>
                      <p:nvPicPr>
                        <p:cNvPr id="1026" name="Object 4">
                          <a:extLst>
                            <a:ext uri="{FF2B5EF4-FFF2-40B4-BE49-F238E27FC236}">
                              <a16:creationId xmlns:a16="http://schemas.microsoft.com/office/drawing/2014/main" id="{FCF6A0A2-EE04-6459-98BE-4DF850A468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0" y="12360"/>
                          <a:ext cx="3960" cy="1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1" name="Rectangle 5" descr="10%">
              <a:extLst>
                <a:ext uri="{FF2B5EF4-FFF2-40B4-BE49-F238E27FC236}">
                  <a16:creationId xmlns:a16="http://schemas.microsoft.com/office/drawing/2014/main" id="{4D1CDD37-275C-6BA7-FA98-80B492112D75}"/>
                </a:ext>
              </a:extLst>
            </p:cNvPr>
            <p:cNvSpPr>
              <a:spLocks noChangeArrowheads="1"/>
            </p:cNvSpPr>
            <p:nvPr/>
          </p:nvSpPr>
          <p:spPr bwMode="auto">
            <a:xfrm>
              <a:off x="2700" y="12672"/>
              <a:ext cx="1620" cy="1404"/>
            </a:xfrm>
            <a:prstGeom prst="rect">
              <a:avLst/>
            </a:prstGeom>
            <a:blipFill dpi="0" rotWithShape="0">
              <a:blip r:embed="rId4"/>
              <a:srcRect/>
              <a:tile tx="0" ty="0" sx="100000" sy="100000" flip="none" algn="tl"/>
            </a:blip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sp>
        <p:nvSpPr>
          <p:cNvPr id="1029" name="Text Box 6">
            <a:extLst>
              <a:ext uri="{FF2B5EF4-FFF2-40B4-BE49-F238E27FC236}">
                <a16:creationId xmlns:a16="http://schemas.microsoft.com/office/drawing/2014/main" id="{0DB63CE2-B38A-F0CE-0A00-18E99D67144E}"/>
              </a:ext>
            </a:extLst>
          </p:cNvPr>
          <p:cNvSpPr txBox="1">
            <a:spLocks noChangeArrowheads="1"/>
          </p:cNvSpPr>
          <p:nvPr/>
        </p:nvSpPr>
        <p:spPr bwMode="auto">
          <a:xfrm>
            <a:off x="1686014" y="6034731"/>
            <a:ext cx="740078" cy="48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65"/>
              <a:t>1</a:t>
            </a:r>
          </a:p>
        </p:txBody>
      </p:sp>
      <p:sp>
        <p:nvSpPr>
          <p:cNvPr id="1030" name="Text Box 7">
            <a:extLst>
              <a:ext uri="{FF2B5EF4-FFF2-40B4-BE49-F238E27FC236}">
                <a16:creationId xmlns:a16="http://schemas.microsoft.com/office/drawing/2014/main" id="{3096B35D-1A2B-C1AA-853A-8422A962322C}"/>
              </a:ext>
            </a:extLst>
          </p:cNvPr>
          <p:cNvSpPr txBox="1">
            <a:spLocks noChangeArrowheads="1"/>
          </p:cNvSpPr>
          <p:nvPr/>
        </p:nvSpPr>
        <p:spPr bwMode="auto">
          <a:xfrm>
            <a:off x="4422998" y="6034731"/>
            <a:ext cx="3178748" cy="48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65"/>
              <a:t>2                              3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3AE4F76B-E95A-27B0-35A3-49F975DE0F0B}"/>
              </a:ext>
            </a:extLst>
          </p:cNvPr>
          <p:cNvSpPr txBox="1">
            <a:spLocks noChangeArrowheads="1"/>
          </p:cNvSpPr>
          <p:nvPr/>
        </p:nvSpPr>
        <p:spPr bwMode="auto">
          <a:xfrm>
            <a:off x="683486" y="244475"/>
            <a:ext cx="7884925" cy="6728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2875" b="1" dirty="0"/>
              <a:t>均匀分布： </a:t>
            </a:r>
            <a:r>
              <a:rPr lang="en-US" altLang="zh-CN" sz="2875" b="1" dirty="0"/>
              <a:t>S</a:t>
            </a:r>
            <a:r>
              <a:rPr lang="en-US" altLang="zh-CN" sz="2875" b="1" baseline="30000" dirty="0"/>
              <a:t>2</a:t>
            </a:r>
            <a:r>
              <a:rPr lang="en-US" altLang="zh-CN" sz="2875" b="1" dirty="0"/>
              <a:t>/m = 0</a:t>
            </a:r>
            <a:r>
              <a:rPr lang="en-US" altLang="zh-CN" sz="2875" dirty="0"/>
              <a:t> </a:t>
            </a:r>
            <a:r>
              <a:rPr lang="zh-CN" altLang="en-US" sz="2875" dirty="0"/>
              <a:t>。形成原因主要是种群内个体间的竞争。如森林植物竞争阳光（树冠）和土壤中营养物（根际）。</a:t>
            </a:r>
          </a:p>
          <a:p>
            <a:pPr algn="just" eaLnBrk="1" hangingPunct="1">
              <a:spcBef>
                <a:spcPct val="50000"/>
              </a:spcBef>
            </a:pPr>
            <a:r>
              <a:rPr lang="zh-CN" altLang="en-US" sz="2875" b="1" dirty="0"/>
              <a:t>随机分布： </a:t>
            </a:r>
            <a:r>
              <a:rPr lang="en-US" altLang="zh-CN" sz="2875" b="1" dirty="0"/>
              <a:t>S</a:t>
            </a:r>
            <a:r>
              <a:rPr lang="en-US" altLang="zh-CN" sz="2875" b="1" baseline="30000" dirty="0"/>
              <a:t>2</a:t>
            </a:r>
            <a:r>
              <a:rPr lang="en-US" altLang="zh-CN" sz="2875" b="1" dirty="0"/>
              <a:t>/m = 1</a:t>
            </a:r>
            <a:r>
              <a:rPr lang="zh-CN" altLang="en-US" sz="2875" dirty="0"/>
              <a:t>。每一个体在种群领域中各个点上出现的机会相等，并且某一个体的存在不影响其它个体的分布。</a:t>
            </a:r>
          </a:p>
          <a:p>
            <a:pPr algn="just" eaLnBrk="1" hangingPunct="1">
              <a:spcBef>
                <a:spcPct val="50000"/>
              </a:spcBef>
            </a:pPr>
            <a:r>
              <a:rPr lang="zh-CN" altLang="en-US" sz="2875" b="1" dirty="0"/>
              <a:t>成群分布</a:t>
            </a:r>
            <a:r>
              <a:rPr lang="zh-CN" altLang="en-US" sz="2875" dirty="0"/>
              <a:t>： </a:t>
            </a:r>
            <a:r>
              <a:rPr lang="en-US" altLang="zh-CN" sz="2875" b="1" dirty="0"/>
              <a:t>S</a:t>
            </a:r>
            <a:r>
              <a:rPr lang="en-US" altLang="zh-CN" sz="2875" b="1" baseline="30000" dirty="0"/>
              <a:t>2</a:t>
            </a:r>
            <a:r>
              <a:rPr lang="en-US" altLang="zh-CN" sz="2875" b="1" dirty="0"/>
              <a:t>/m 〉1</a:t>
            </a:r>
            <a:r>
              <a:rPr lang="zh-CN" altLang="en-US" sz="2875" dirty="0"/>
              <a:t>。其形成原因有 （</a:t>
            </a:r>
            <a:r>
              <a:rPr lang="en-US" altLang="zh-CN" sz="2875" dirty="0"/>
              <a:t>1</a:t>
            </a:r>
            <a:r>
              <a:rPr lang="zh-CN" altLang="en-US" sz="2875" dirty="0"/>
              <a:t>） 资源分布不均匀； （</a:t>
            </a:r>
            <a:r>
              <a:rPr lang="en-US" altLang="zh-CN" sz="2875" dirty="0"/>
              <a:t>2</a:t>
            </a:r>
            <a:r>
              <a:rPr lang="zh-CN" altLang="en-US" sz="2875" dirty="0"/>
              <a:t>）植物种子传播方式以母株为扩散中心；（</a:t>
            </a:r>
            <a:r>
              <a:rPr lang="en-US" altLang="zh-CN" sz="2875" dirty="0"/>
              <a:t>3</a:t>
            </a:r>
            <a:r>
              <a:rPr lang="zh-CN" altLang="en-US" sz="2875" dirty="0"/>
              <a:t>）动物的集群行为。</a:t>
            </a:r>
          </a:p>
          <a:p>
            <a:pPr eaLnBrk="1" hangingPunct="1"/>
            <a:r>
              <a:rPr lang="zh-CN" altLang="en-US" sz="2875" b="1" dirty="0">
                <a:latin typeface="黑体" panose="02010609060101010101" pitchFamily="49" charset="-122"/>
              </a:rPr>
              <a:t>　其中：</a:t>
            </a:r>
          </a:p>
          <a:p>
            <a:pPr eaLnBrk="1" hangingPunct="1"/>
            <a:r>
              <a:rPr lang="zh-CN" altLang="en-US" sz="2875" b="1" dirty="0">
                <a:latin typeface="黑体" panose="02010609060101010101" pitchFamily="49" charset="-122"/>
              </a:rPr>
              <a:t>　</a:t>
            </a:r>
            <a:r>
              <a:rPr lang="en-US" altLang="zh-CN" sz="2875" b="1" dirty="0">
                <a:latin typeface="黑体" panose="02010609060101010101" pitchFamily="49" charset="-122"/>
              </a:rPr>
              <a:t>m</a:t>
            </a:r>
            <a:r>
              <a:rPr lang="zh-CN" altLang="en-US" sz="2875" b="1" dirty="0">
                <a:latin typeface="黑体" panose="02010609060101010101" pitchFamily="49" charset="-122"/>
              </a:rPr>
              <a:t>＝∑</a:t>
            </a:r>
            <a:r>
              <a:rPr lang="en-US" altLang="zh-CN" sz="2875" b="1" dirty="0">
                <a:latin typeface="黑体" panose="02010609060101010101" pitchFamily="49" charset="-122"/>
              </a:rPr>
              <a:t>f</a:t>
            </a:r>
            <a:r>
              <a:rPr lang="zh-CN" altLang="en-US" sz="2875" b="1" dirty="0">
                <a:latin typeface="黑体" panose="02010609060101010101" pitchFamily="49" charset="-122"/>
              </a:rPr>
              <a:t>（</a:t>
            </a:r>
            <a:r>
              <a:rPr lang="en-US" altLang="zh-CN" sz="2875" b="1" dirty="0">
                <a:latin typeface="黑体" panose="02010609060101010101" pitchFamily="49" charset="-122"/>
              </a:rPr>
              <a:t>x</a:t>
            </a:r>
            <a:r>
              <a:rPr lang="zh-CN" altLang="en-US" sz="2875" b="1" dirty="0">
                <a:latin typeface="黑体" panose="02010609060101010101" pitchFamily="49" charset="-122"/>
              </a:rPr>
              <a:t>）</a:t>
            </a:r>
            <a:r>
              <a:rPr lang="en-US" altLang="zh-CN" sz="2875" b="1" dirty="0">
                <a:latin typeface="黑体" panose="02010609060101010101" pitchFamily="49" charset="-122"/>
              </a:rPr>
              <a:t>/n,</a:t>
            </a:r>
            <a:r>
              <a:rPr lang="zh-CN" altLang="en-US" sz="2875" b="1" dirty="0">
                <a:latin typeface="黑体" panose="02010609060101010101" pitchFamily="49" charset="-122"/>
              </a:rPr>
              <a:t>　 </a:t>
            </a:r>
          </a:p>
          <a:p>
            <a:pPr eaLnBrk="1" hangingPunct="1"/>
            <a:r>
              <a:rPr lang="zh-CN" altLang="en-US" sz="2875" b="1" dirty="0">
                <a:latin typeface="黑体" panose="02010609060101010101" pitchFamily="49" charset="-122"/>
              </a:rPr>
              <a:t>　</a:t>
            </a:r>
            <a:r>
              <a:rPr lang="en-US" altLang="zh-CN" sz="2875" b="1" dirty="0">
                <a:latin typeface="黑体" panose="02010609060101010101" pitchFamily="49" charset="-122"/>
              </a:rPr>
              <a:t>s</a:t>
            </a:r>
            <a:r>
              <a:rPr lang="en-US" altLang="zh-CN" sz="2875" b="1" baseline="30000" dirty="0">
                <a:latin typeface="黑体" panose="02010609060101010101" pitchFamily="49" charset="-122"/>
              </a:rPr>
              <a:t>2</a:t>
            </a:r>
            <a:r>
              <a:rPr lang="en-US" altLang="zh-CN" sz="2875" b="1" dirty="0">
                <a:latin typeface="黑体" panose="02010609060101010101" pitchFamily="49" charset="-122"/>
              </a:rPr>
              <a:t> =(∑f(x))</a:t>
            </a:r>
            <a:r>
              <a:rPr lang="en-US" altLang="zh-CN" sz="2875" b="1" baseline="30000" dirty="0">
                <a:latin typeface="黑体" panose="02010609060101010101" pitchFamily="49" charset="-122"/>
              </a:rPr>
              <a:t>2</a:t>
            </a:r>
            <a:r>
              <a:rPr lang="en-US" altLang="zh-CN" sz="2875" b="1" dirty="0">
                <a:latin typeface="黑体" panose="02010609060101010101" pitchFamily="49" charset="-122"/>
              </a:rPr>
              <a:t>/(n-1)</a:t>
            </a:r>
          </a:p>
          <a:p>
            <a:pPr eaLnBrk="1" hangingPunct="1"/>
            <a:r>
              <a:rPr lang="zh-CN" altLang="en-US" sz="2875" b="1" dirty="0">
                <a:latin typeface="黑体" panose="02010609060101010101" pitchFamily="49" charset="-122"/>
              </a:rPr>
              <a:t>　式中：</a:t>
            </a:r>
            <a:r>
              <a:rPr lang="en-US" altLang="zh-CN" sz="2875" b="1" dirty="0">
                <a:latin typeface="黑体" panose="02010609060101010101" pitchFamily="49" charset="-122"/>
              </a:rPr>
              <a:t>x</a:t>
            </a:r>
            <a:r>
              <a:rPr lang="zh-CN" altLang="en-US" sz="2875" b="1" dirty="0">
                <a:latin typeface="黑体" panose="02010609060101010101" pitchFamily="49" charset="-122"/>
              </a:rPr>
              <a:t>，样方中某种个体数　</a:t>
            </a:r>
            <a:r>
              <a:rPr lang="en-US" altLang="zh-CN" sz="2875" b="1" dirty="0">
                <a:latin typeface="黑体" panose="02010609060101010101" pitchFamily="49" charset="-122"/>
              </a:rPr>
              <a:t>f</a:t>
            </a:r>
            <a:r>
              <a:rPr lang="zh-CN" altLang="en-US" sz="2875" b="1" dirty="0">
                <a:latin typeface="黑体" panose="02010609060101010101" pitchFamily="49" charset="-122"/>
              </a:rPr>
              <a:t>，含个体样方的出现频率　</a:t>
            </a:r>
            <a:r>
              <a:rPr lang="en-US" altLang="zh-CN" sz="2875" b="1" dirty="0">
                <a:latin typeface="黑体" panose="02010609060101010101" pitchFamily="49" charset="-122"/>
              </a:rPr>
              <a:t>n</a:t>
            </a:r>
            <a:r>
              <a:rPr lang="zh-CN" altLang="en-US" sz="2875" b="1" dirty="0">
                <a:latin typeface="黑体" panose="02010609060101010101" pitchFamily="49" charset="-122"/>
              </a:rPr>
              <a:t>，样方总数。</a:t>
            </a:r>
            <a:endParaRPr lang="zh-CN" altLang="en-US" sz="28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3">
            <a:extLst>
              <a:ext uri="{FF2B5EF4-FFF2-40B4-BE49-F238E27FC236}">
                <a16:creationId xmlns:a16="http://schemas.microsoft.com/office/drawing/2014/main" id="{8FFACC9E-9EED-08E0-1EA3-2DB962A3AE1E}"/>
              </a:ext>
            </a:extLst>
          </p:cNvPr>
          <p:cNvSpPr>
            <a:spLocks noGrp="1"/>
          </p:cNvSpPr>
          <p:nvPr>
            <p:ph type="body" idx="1"/>
          </p:nvPr>
        </p:nvSpPr>
        <p:spPr>
          <a:xfrm>
            <a:off x="429186" y="1007419"/>
            <a:ext cx="8450580" cy="3180162"/>
          </a:xfrm>
        </p:spPr>
        <p:txBody>
          <a:bodyPr/>
          <a:lstStyle/>
          <a:p>
            <a:pPr eaLnBrk="1" hangingPunct="1"/>
            <a:r>
              <a:rPr lang="en-US" altLang="zh-CN" sz="2875" b="1" dirty="0">
                <a:latin typeface="黑体" panose="02010609060101010101" pitchFamily="49" charset="-122"/>
                <a:ea typeface="宋体" panose="02010600030101010101" pitchFamily="2" charset="-122"/>
              </a:rPr>
              <a:t>10.</a:t>
            </a:r>
            <a:r>
              <a:rPr lang="zh-CN" altLang="en-US" sz="2875" b="1" dirty="0">
                <a:latin typeface="黑体" panose="02010609060101010101" pitchFamily="49" charset="-122"/>
                <a:ea typeface="宋体" panose="02010600030101010101" pitchFamily="2" charset="-122"/>
              </a:rPr>
              <a:t>用方差 </a:t>
            </a:r>
            <a:r>
              <a:rPr lang="en-US" altLang="zh-CN" sz="2875" b="1" dirty="0">
                <a:latin typeface="黑体" panose="02010609060101010101" pitchFamily="49" charset="-122"/>
                <a:ea typeface="宋体" panose="02010600030101010101" pitchFamily="2" charset="-122"/>
              </a:rPr>
              <a:t>/ </a:t>
            </a:r>
            <a:r>
              <a:rPr lang="zh-CN" altLang="en-US" sz="2875" b="1" dirty="0">
                <a:latin typeface="黑体" panose="02010609060101010101" pitchFamily="49" charset="-122"/>
                <a:ea typeface="宋体" panose="02010600030101010101" pitchFamily="2" charset="-122"/>
              </a:rPr>
              <a:t>平均数比率检测生物分布型时，以下比值为均匀分布的是：（单选</a:t>
            </a:r>
            <a:r>
              <a:rPr lang="en-US" altLang="zh-CN" sz="2875" b="1" dirty="0">
                <a:latin typeface="黑体" panose="02010609060101010101" pitchFamily="49" charset="-122"/>
                <a:ea typeface="宋体" panose="02010600030101010101" pitchFamily="2" charset="-122"/>
              </a:rPr>
              <a:t>1</a:t>
            </a:r>
            <a:r>
              <a:rPr lang="zh-CN" altLang="en-US" sz="2875" b="1" dirty="0">
                <a:latin typeface="黑体" panose="02010609060101010101" pitchFamily="49" charset="-122"/>
                <a:ea typeface="宋体" panose="02010600030101010101" pitchFamily="2" charset="-122"/>
              </a:rPr>
              <a:t>分）</a:t>
            </a:r>
          </a:p>
          <a:p>
            <a:pPr eaLnBrk="1" hangingPunct="1"/>
            <a:r>
              <a:rPr lang="en-US" altLang="zh-CN" sz="2875" b="1" dirty="0">
                <a:ea typeface="宋体" panose="02010600030101010101" pitchFamily="2" charset="-122"/>
              </a:rPr>
              <a:t>A.s2 /m</a:t>
            </a:r>
            <a:r>
              <a:rPr lang="zh-CN" altLang="en-US" sz="2875" b="1" dirty="0">
                <a:ea typeface="宋体" panose="02010600030101010101" pitchFamily="2" charset="-122"/>
              </a:rPr>
              <a:t>＝</a:t>
            </a:r>
            <a:r>
              <a:rPr lang="en-US" altLang="zh-CN" sz="2875" b="1" dirty="0">
                <a:ea typeface="宋体" panose="02010600030101010101" pitchFamily="2" charset="-122"/>
              </a:rPr>
              <a:t>0 ;         		B.s2 /m</a:t>
            </a:r>
            <a:r>
              <a:rPr lang="zh-CN" altLang="en-US" sz="2875" b="1" dirty="0">
                <a:ea typeface="宋体" panose="02010600030101010101" pitchFamily="2" charset="-122"/>
              </a:rPr>
              <a:t>＝</a:t>
            </a:r>
            <a:r>
              <a:rPr lang="en-US" altLang="zh-CN" sz="2875" b="1" dirty="0">
                <a:ea typeface="宋体" panose="02010600030101010101" pitchFamily="2" charset="-122"/>
              </a:rPr>
              <a:t>1 </a:t>
            </a:r>
            <a:r>
              <a:rPr lang="zh-CN" altLang="en-US" sz="2875" b="1" dirty="0">
                <a:ea typeface="宋体" panose="02010600030101010101" pitchFamily="2" charset="-122"/>
              </a:rPr>
              <a:t>； </a:t>
            </a:r>
          </a:p>
          <a:p>
            <a:pPr eaLnBrk="1" hangingPunct="1"/>
            <a:r>
              <a:rPr lang="en-US" altLang="zh-CN" sz="2875" b="1" dirty="0">
                <a:ea typeface="宋体" panose="02010600030101010101" pitchFamily="2" charset="-122"/>
              </a:rPr>
              <a:t>C.s2 / m </a:t>
            </a:r>
            <a:r>
              <a:rPr lang="zh-CN" altLang="en-US" sz="2875" b="1" dirty="0">
                <a:ea typeface="宋体" panose="02010600030101010101" pitchFamily="2" charset="-122"/>
              </a:rPr>
              <a:t>显著大于</a:t>
            </a:r>
            <a:r>
              <a:rPr lang="en-US" altLang="zh-CN" sz="2875" b="1" dirty="0">
                <a:ea typeface="宋体" panose="02010600030101010101" pitchFamily="2" charset="-122"/>
              </a:rPr>
              <a:t>1</a:t>
            </a:r>
            <a:r>
              <a:rPr lang="zh-CN" altLang="en-US" sz="2875" b="1" dirty="0">
                <a:ea typeface="宋体" panose="02010600030101010101" pitchFamily="2" charset="-122"/>
              </a:rPr>
              <a:t>； </a:t>
            </a:r>
            <a:r>
              <a:rPr lang="en-US" altLang="zh-CN" sz="2875" b="1" dirty="0">
                <a:ea typeface="宋体" panose="02010600030101010101" pitchFamily="2" charset="-122"/>
              </a:rPr>
              <a:t>	D.s2 / m </a:t>
            </a:r>
            <a:r>
              <a:rPr lang="zh-CN" altLang="en-US" sz="2875" b="1" dirty="0">
                <a:ea typeface="宋体" panose="02010600030101010101" pitchFamily="2" charset="-122"/>
              </a:rPr>
              <a:t>略小于</a:t>
            </a:r>
            <a:r>
              <a:rPr lang="en-US" altLang="zh-CN" sz="2875" b="1" dirty="0">
                <a:ea typeface="宋体" panose="02010600030101010101" pitchFamily="2" charset="-122"/>
              </a:rPr>
              <a:t>1.</a:t>
            </a:r>
          </a:p>
          <a:p>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2013</a:t>
            </a:r>
            <a:r>
              <a:rPr lang="zh-CN" altLang="en-US" sz="2875" b="1" dirty="0">
                <a:solidFill>
                  <a:srgbClr val="CC0000"/>
                </a:solidFill>
                <a:latin typeface="黑体" panose="02010609060101010101" pitchFamily="49" charset="-122"/>
                <a:ea typeface="宋体" panose="02010600030101010101" pitchFamily="2" charset="-122"/>
              </a:rPr>
              <a:t>年全国联赛试题）</a:t>
            </a:r>
          </a:p>
          <a:p>
            <a:pPr eaLnBrk="1" hangingPunct="1"/>
            <a:endParaRPr lang="en-US" altLang="zh-CN" sz="2875" b="1" dirty="0">
              <a:solidFill>
                <a:srgbClr val="CC0000"/>
              </a:solidFill>
              <a:latin typeface="黑体" panose="02010609060101010101" pitchFamily="49" charset="-122"/>
              <a:ea typeface="宋体" panose="02010600030101010101" pitchFamily="2" charset="-122"/>
            </a:endParaRPr>
          </a:p>
          <a:p>
            <a:endParaRPr lang="zh-CN" altLang="en-US" sz="2875" b="1" dirty="0">
              <a:latin typeface="黑体" panose="02010609060101010101" pitchFamily="49" charset="-122"/>
              <a:ea typeface="宋体" panose="02010600030101010101" pitchFamily="2" charset="-122"/>
            </a:endParaRPr>
          </a:p>
        </p:txBody>
      </p:sp>
      <p:sp>
        <p:nvSpPr>
          <p:cNvPr id="2" name="文本框 1">
            <a:extLst>
              <a:ext uri="{FF2B5EF4-FFF2-40B4-BE49-F238E27FC236}">
                <a16:creationId xmlns:a16="http://schemas.microsoft.com/office/drawing/2014/main" id="{CEBF64C6-DD27-B172-B98D-DBD7DF961CA4}"/>
              </a:ext>
            </a:extLst>
          </p:cNvPr>
          <p:cNvSpPr txBox="1"/>
          <p:nvPr/>
        </p:nvSpPr>
        <p:spPr>
          <a:xfrm>
            <a:off x="6242050" y="14636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3">
            <a:extLst>
              <a:ext uri="{FF2B5EF4-FFF2-40B4-BE49-F238E27FC236}">
                <a16:creationId xmlns:a16="http://schemas.microsoft.com/office/drawing/2014/main" id="{FE33EE65-1005-1C90-B25F-CBE6F76D28EF}"/>
              </a:ext>
            </a:extLst>
          </p:cNvPr>
          <p:cNvSpPr>
            <a:spLocks noGrp="1"/>
          </p:cNvSpPr>
          <p:nvPr>
            <p:ph type="body" idx="1"/>
          </p:nvPr>
        </p:nvSpPr>
        <p:spPr>
          <a:xfrm>
            <a:off x="429186" y="1080776"/>
            <a:ext cx="8525566" cy="4361365"/>
          </a:xfrm>
        </p:spPr>
        <p:txBody>
          <a:bodyPr/>
          <a:lstStyle/>
          <a:p>
            <a:pPr eaLnBrk="1" hangingPunct="1">
              <a:lnSpc>
                <a:spcPct val="80000"/>
              </a:lnSpc>
            </a:pPr>
            <a:r>
              <a:rPr lang="en-US" altLang="zh-CN" sz="2875" b="1" dirty="0">
                <a:ea typeface="宋体" panose="02010600030101010101" pitchFamily="2" charset="-122"/>
              </a:rPr>
              <a:t>11.</a:t>
            </a:r>
            <a:r>
              <a:rPr lang="zh-CN" altLang="en-US" sz="2875" b="1" dirty="0">
                <a:ea typeface="宋体" panose="02010600030101010101" pitchFamily="2" charset="-122"/>
              </a:rPr>
              <a:t>下列有关种群空间分布型的说法中哪个是正确的？</a:t>
            </a:r>
            <a:br>
              <a:rPr lang="zh-CN" altLang="en-US" sz="2875" b="1" dirty="0">
                <a:ea typeface="宋体" panose="02010600030101010101" pitchFamily="2" charset="-122"/>
              </a:rPr>
            </a:br>
            <a:r>
              <a:rPr lang="en-US" altLang="zh-CN" sz="2875" b="1" dirty="0">
                <a:ea typeface="宋体" panose="02010600030101010101" pitchFamily="2" charset="-122"/>
              </a:rPr>
              <a:t>A.</a:t>
            </a:r>
            <a:r>
              <a:rPr lang="zh-CN" altLang="en-US" sz="2875" b="1" dirty="0">
                <a:ea typeface="宋体" panose="02010600030101010101" pitchFamily="2" charset="-122"/>
              </a:rPr>
              <a:t>对均匀型分布抽样，每个小格中的个体数是相</a:t>
            </a:r>
          </a:p>
          <a:p>
            <a:pPr eaLnBrk="1" hangingPunct="1">
              <a:lnSpc>
                <a:spcPct val="80000"/>
              </a:lnSpc>
            </a:pPr>
            <a:r>
              <a:rPr lang="zh-CN" altLang="en-US" sz="2875" b="1" dirty="0">
                <a:ea typeface="宋体" panose="02010600030101010101" pitchFamily="2" charset="-122"/>
              </a:rPr>
              <a:t>　等的，所以方差和平均数比值为 </a:t>
            </a:r>
            <a:r>
              <a:rPr lang="en-US" altLang="zh-CN" sz="2875" b="1" dirty="0">
                <a:ea typeface="宋体" panose="02010600030101010101" pitchFamily="2" charset="-122"/>
              </a:rPr>
              <a:t>1</a:t>
            </a:r>
            <a:r>
              <a:rPr lang="zh-CN" altLang="en-US" sz="2875" b="1" dirty="0">
                <a:ea typeface="宋体" panose="02010600030101010101" pitchFamily="2" charset="-122"/>
              </a:rPr>
              <a:t>；</a:t>
            </a:r>
            <a:br>
              <a:rPr lang="zh-CN" altLang="en-US" sz="2875" b="1" dirty="0">
                <a:ea typeface="宋体" panose="02010600030101010101" pitchFamily="2" charset="-122"/>
              </a:rPr>
            </a:br>
            <a:r>
              <a:rPr lang="en-US" altLang="zh-CN" sz="2875" b="1" dirty="0">
                <a:ea typeface="宋体" panose="02010600030101010101" pitchFamily="2" charset="-122"/>
              </a:rPr>
              <a:t>B.</a:t>
            </a:r>
            <a:r>
              <a:rPr lang="zh-CN" altLang="en-US" sz="2875" b="1" dirty="0">
                <a:ea typeface="宋体" panose="02010600030101010101" pitchFamily="2" charset="-122"/>
              </a:rPr>
              <a:t>对随机型分部抽样，每个小格中的个体数出现</a:t>
            </a:r>
          </a:p>
          <a:p>
            <a:pPr eaLnBrk="1" hangingPunct="1">
              <a:lnSpc>
                <a:spcPct val="80000"/>
              </a:lnSpc>
            </a:pPr>
            <a:r>
              <a:rPr lang="zh-CN" altLang="en-US" sz="2875" b="1" dirty="0">
                <a:ea typeface="宋体" panose="02010600030101010101" pitchFamily="2" charset="-122"/>
              </a:rPr>
              <a:t>　频率符合泊松（</a:t>
            </a:r>
            <a:r>
              <a:rPr lang="en-US" altLang="zh-CN" sz="2875" b="1" dirty="0">
                <a:ea typeface="宋体" panose="02010600030101010101" pitchFamily="2" charset="-122"/>
              </a:rPr>
              <a:t>Poisson</a:t>
            </a:r>
            <a:r>
              <a:rPr lang="zh-CN" altLang="en-US" sz="2875" b="1" dirty="0">
                <a:ea typeface="宋体" panose="02010600030101010101" pitchFamily="2" charset="-122"/>
              </a:rPr>
              <a:t>）分布；</a:t>
            </a:r>
            <a:br>
              <a:rPr lang="zh-CN" altLang="en-US" sz="2875" b="1" dirty="0">
                <a:ea typeface="宋体" panose="02010600030101010101" pitchFamily="2" charset="-122"/>
              </a:rPr>
            </a:br>
            <a:r>
              <a:rPr lang="en-US" altLang="zh-CN" sz="2875" b="1" dirty="0">
                <a:ea typeface="宋体" panose="02010600030101010101" pitchFamily="2" charset="-122"/>
              </a:rPr>
              <a:t>C.</a:t>
            </a:r>
            <a:r>
              <a:rPr lang="zh-CN" altLang="en-US" sz="2875" b="1" dirty="0">
                <a:ea typeface="宋体" panose="02010600030101010101" pitchFamily="2" charset="-122"/>
              </a:rPr>
              <a:t>对集群分布抽样，每个小格中出现很少个体数</a:t>
            </a:r>
          </a:p>
          <a:p>
            <a:pPr eaLnBrk="1" hangingPunct="1">
              <a:lnSpc>
                <a:spcPct val="80000"/>
              </a:lnSpc>
            </a:pPr>
            <a:r>
              <a:rPr lang="zh-CN" altLang="en-US" sz="2875" b="1" dirty="0">
                <a:ea typeface="宋体" panose="02010600030101010101" pitchFamily="2" charset="-122"/>
              </a:rPr>
              <a:t>　和很多个体数的频率较低；</a:t>
            </a:r>
            <a:br>
              <a:rPr lang="zh-CN" altLang="en-US" sz="2875" b="1" dirty="0">
                <a:ea typeface="宋体" panose="02010600030101010101" pitchFamily="2" charset="-122"/>
              </a:rPr>
            </a:br>
            <a:r>
              <a:rPr lang="en-US" altLang="zh-CN" sz="2875" b="1" dirty="0">
                <a:ea typeface="宋体" panose="02010600030101010101" pitchFamily="2" charset="-122"/>
              </a:rPr>
              <a:t>D.</a:t>
            </a:r>
            <a:r>
              <a:rPr lang="zh-CN" altLang="en-US" sz="2875" b="1" dirty="0">
                <a:ea typeface="宋体" panose="02010600030101010101" pitchFamily="2" charset="-122"/>
              </a:rPr>
              <a:t>对集群分布抽样，每个小格中的个体数出现频</a:t>
            </a:r>
          </a:p>
          <a:p>
            <a:pPr eaLnBrk="1" hangingPunct="1">
              <a:lnSpc>
                <a:spcPct val="80000"/>
              </a:lnSpc>
            </a:pPr>
            <a:r>
              <a:rPr lang="zh-CN" altLang="en-US" sz="2875" b="1" dirty="0">
                <a:ea typeface="宋体" panose="02010600030101010101" pitchFamily="2" charset="-122"/>
              </a:rPr>
              <a:t>　率符合正态分布。</a:t>
            </a:r>
          </a:p>
          <a:p>
            <a:pPr>
              <a:lnSpc>
                <a:spcPct val="80000"/>
              </a:lnSpc>
            </a:pPr>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2014</a:t>
            </a:r>
            <a:r>
              <a:rPr lang="zh-CN" altLang="en-US" sz="2875" b="1" dirty="0">
                <a:solidFill>
                  <a:srgbClr val="CC0000"/>
                </a:solidFill>
                <a:latin typeface="黑体" panose="02010609060101010101" pitchFamily="49" charset="-122"/>
                <a:ea typeface="宋体" panose="02010600030101010101" pitchFamily="2" charset="-122"/>
              </a:rPr>
              <a:t>年全国联赛试题）</a:t>
            </a:r>
          </a:p>
          <a:p>
            <a:pPr eaLnBrk="1" hangingPunct="1">
              <a:lnSpc>
                <a:spcPct val="80000"/>
              </a:lnSpc>
            </a:pPr>
            <a:endParaRPr lang="zh-CN" altLang="en-US" sz="2875" b="1" dirty="0">
              <a:solidFill>
                <a:srgbClr val="CC0000"/>
              </a:solidFill>
              <a:latin typeface="黑体" panose="02010609060101010101" pitchFamily="49" charset="-122"/>
              <a:ea typeface="宋体" panose="02010600030101010101" pitchFamily="2" charset="-122"/>
            </a:endParaRPr>
          </a:p>
          <a:p>
            <a:pPr>
              <a:lnSpc>
                <a:spcPct val="80000"/>
              </a:lnSpc>
            </a:pPr>
            <a:endParaRPr lang="zh-CN" altLang="en-US" sz="2875" b="1" dirty="0">
              <a:latin typeface="黑体" panose="02010609060101010101" pitchFamily="49" charset="-122"/>
              <a:ea typeface="宋体" panose="02010600030101010101" pitchFamily="2" charset="-122"/>
            </a:endParaRPr>
          </a:p>
        </p:txBody>
      </p:sp>
      <p:sp>
        <p:nvSpPr>
          <p:cNvPr id="2" name="文本框 1">
            <a:extLst>
              <a:ext uri="{FF2B5EF4-FFF2-40B4-BE49-F238E27FC236}">
                <a16:creationId xmlns:a16="http://schemas.microsoft.com/office/drawing/2014/main" id="{67AFB47A-0E02-244C-23C4-727EBD48F398}"/>
              </a:ext>
            </a:extLst>
          </p:cNvPr>
          <p:cNvSpPr txBox="1"/>
          <p:nvPr/>
        </p:nvSpPr>
        <p:spPr>
          <a:xfrm>
            <a:off x="8485195" y="1338399"/>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B</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E352AD9A-C400-3A28-8A3F-AAC85CED5867}"/>
              </a:ext>
            </a:extLst>
          </p:cNvPr>
          <p:cNvSpPr txBox="1"/>
          <p:nvPr/>
        </p:nvSpPr>
        <p:spPr>
          <a:xfrm>
            <a:off x="3727450" y="3749675"/>
            <a:ext cx="5105400" cy="523220"/>
          </a:xfrm>
          <a:prstGeom prst="rect">
            <a:avLst/>
          </a:prstGeom>
          <a:noFill/>
        </p:spPr>
        <p:txBody>
          <a:bodyPr wrap="square" rtlCol="0">
            <a:spAutoFit/>
          </a:bodyPr>
          <a:lstStyle/>
          <a:p>
            <a:r>
              <a:rPr lang="zh-CN" altLang="en-US" sz="2800" b="1" dirty="0">
                <a:solidFill>
                  <a:srgbClr val="FF0000"/>
                </a:solidFill>
                <a:latin typeface="Times New Roman" panose="02020603050405020304" pitchFamily="18" charset="0"/>
                <a:ea typeface="宋体" panose="02010600030101010101" pitchFamily="2" charset="-122"/>
              </a:rPr>
              <a:t>负二项分布：两边多，中间少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3">
            <a:extLst>
              <a:ext uri="{FF2B5EF4-FFF2-40B4-BE49-F238E27FC236}">
                <a16:creationId xmlns:a16="http://schemas.microsoft.com/office/drawing/2014/main" id="{93EF0584-9692-BDE7-F67B-2551A4CDCF93}"/>
              </a:ext>
            </a:extLst>
          </p:cNvPr>
          <p:cNvSpPr>
            <a:spLocks noGrp="1"/>
          </p:cNvSpPr>
          <p:nvPr>
            <p:ph type="body" idx="1"/>
          </p:nvPr>
        </p:nvSpPr>
        <p:spPr>
          <a:xfrm>
            <a:off x="504171" y="1007419"/>
            <a:ext cx="8450580" cy="3180162"/>
          </a:xfrm>
        </p:spPr>
        <p:txBody>
          <a:bodyPr/>
          <a:lstStyle/>
          <a:p>
            <a:pPr eaLnBrk="1" hangingPunct="1"/>
            <a:r>
              <a:rPr lang="en-US" altLang="zh-CN" sz="2875" b="1" dirty="0">
                <a:ea typeface="宋体" panose="02010600030101010101" pitchFamily="2" charset="-122"/>
              </a:rPr>
              <a:t>12.</a:t>
            </a:r>
            <a:r>
              <a:rPr lang="zh-CN" altLang="en-US" sz="2875" b="1" dirty="0">
                <a:ea typeface="宋体" panose="02010600030101010101" pitchFamily="2" charset="-122"/>
              </a:rPr>
              <a:t>某种群在一个地区均匀分布，一般可以推断出</a:t>
            </a:r>
            <a:br>
              <a:rPr lang="zh-CN" altLang="en-US" sz="2875" b="1" dirty="0">
                <a:ea typeface="宋体" panose="02010600030101010101" pitchFamily="2" charset="-122"/>
              </a:rPr>
            </a:br>
            <a:r>
              <a:rPr lang="en-US" altLang="zh-CN" sz="2875" b="1" dirty="0">
                <a:ea typeface="宋体" panose="02010600030101010101" pitchFamily="2" charset="-122"/>
              </a:rPr>
              <a:t>A. </a:t>
            </a:r>
            <a:r>
              <a:rPr lang="zh-CN" altLang="en-US" sz="2875" b="1" dirty="0">
                <a:ea typeface="宋体" panose="02010600030101010101" pitchFamily="2" charset="-122"/>
              </a:rPr>
              <a:t>该种群个体依照资源的均匀分布而分布； </a:t>
            </a:r>
          </a:p>
          <a:p>
            <a:pPr eaLnBrk="1" hangingPunct="1"/>
            <a:r>
              <a:rPr lang="en-US" altLang="zh-CN" sz="2875" b="1" dirty="0">
                <a:ea typeface="宋体" panose="02010600030101010101" pitchFamily="2" charset="-122"/>
              </a:rPr>
              <a:t>B.</a:t>
            </a:r>
            <a:r>
              <a:rPr lang="zh-CN" altLang="en-US" sz="2875" b="1" dirty="0">
                <a:ea typeface="宋体" panose="02010600030101010101" pitchFamily="2" charset="-122"/>
              </a:rPr>
              <a:t>该种群中个体之间不存在影响；</a:t>
            </a:r>
            <a:br>
              <a:rPr lang="zh-CN" altLang="en-US" sz="2875" b="1" dirty="0">
                <a:ea typeface="宋体" panose="02010600030101010101" pitchFamily="2" charset="-122"/>
              </a:rPr>
            </a:br>
            <a:r>
              <a:rPr lang="en-US" altLang="zh-CN" sz="2875" b="1" dirty="0">
                <a:ea typeface="宋体" panose="02010600030101010101" pitchFamily="2" charset="-122"/>
              </a:rPr>
              <a:t>C.</a:t>
            </a:r>
            <a:r>
              <a:rPr lang="zh-CN" altLang="en-US" sz="2875" b="1" dirty="0">
                <a:ea typeface="宋体" panose="02010600030101010101" pitchFamily="2" charset="-122"/>
              </a:rPr>
              <a:t>该种群中个体之间相互吸引； </a:t>
            </a:r>
          </a:p>
          <a:p>
            <a:pPr eaLnBrk="1" hangingPunct="1"/>
            <a:r>
              <a:rPr lang="en-US" altLang="zh-CN" sz="2875" b="1" dirty="0">
                <a:ea typeface="宋体" panose="02010600030101010101" pitchFamily="2" charset="-122"/>
              </a:rPr>
              <a:t>D.</a:t>
            </a:r>
            <a:r>
              <a:rPr lang="zh-CN" altLang="en-US" sz="2875" b="1" dirty="0">
                <a:ea typeface="宋体" panose="02010600030101010101" pitchFamily="2" charset="-122"/>
              </a:rPr>
              <a:t>该种群中个体之间相互排斥。</a:t>
            </a:r>
          </a:p>
          <a:p>
            <a:pPr eaLnBrk="1" hangingPunct="1"/>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2014</a:t>
            </a:r>
            <a:r>
              <a:rPr lang="zh-CN" altLang="en-US" sz="2875" b="1" dirty="0">
                <a:solidFill>
                  <a:srgbClr val="CC0000"/>
                </a:solidFill>
                <a:latin typeface="黑体" panose="02010609060101010101" pitchFamily="49" charset="-122"/>
                <a:ea typeface="宋体" panose="02010600030101010101" pitchFamily="2" charset="-122"/>
              </a:rPr>
              <a:t>年全国联赛试题）</a:t>
            </a:r>
          </a:p>
          <a:p>
            <a:pPr eaLnBrk="1" hangingPunct="1"/>
            <a:endParaRPr lang="zh-CN" altLang="en-US" sz="2875" b="1" dirty="0">
              <a:solidFill>
                <a:srgbClr val="CC0000"/>
              </a:solidFill>
              <a:latin typeface="黑体" panose="02010609060101010101" pitchFamily="49" charset="-122"/>
              <a:ea typeface="宋体" panose="02010600030101010101" pitchFamily="2" charset="-122"/>
            </a:endParaRPr>
          </a:p>
        </p:txBody>
      </p:sp>
      <p:sp>
        <p:nvSpPr>
          <p:cNvPr id="2" name="文本框 1">
            <a:extLst>
              <a:ext uri="{FF2B5EF4-FFF2-40B4-BE49-F238E27FC236}">
                <a16:creationId xmlns:a16="http://schemas.microsoft.com/office/drawing/2014/main" id="{C7E90AB8-8890-57F0-58BE-2AEB6F9ECA16}"/>
              </a:ext>
            </a:extLst>
          </p:cNvPr>
          <p:cNvSpPr txBox="1"/>
          <p:nvPr/>
        </p:nvSpPr>
        <p:spPr>
          <a:xfrm>
            <a:off x="8462372" y="101665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D</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5" name="Rectangle 3">
            <a:extLst>
              <a:ext uri="{FF2B5EF4-FFF2-40B4-BE49-F238E27FC236}">
                <a16:creationId xmlns:a16="http://schemas.microsoft.com/office/drawing/2014/main" id="{29B2913E-0D87-2C52-036F-D54E3D9B6F90}"/>
              </a:ext>
            </a:extLst>
          </p:cNvPr>
          <p:cNvSpPr>
            <a:spLocks noGrp="1"/>
          </p:cNvSpPr>
          <p:nvPr>
            <p:ph type="body" idx="1"/>
          </p:nvPr>
        </p:nvSpPr>
        <p:spPr>
          <a:xfrm>
            <a:off x="577527" y="193986"/>
            <a:ext cx="8450580" cy="5317994"/>
          </a:xfrm>
        </p:spPr>
        <p:txBody>
          <a:bodyPr/>
          <a:lstStyle/>
          <a:p>
            <a:pPr eaLnBrk="1" hangingPunct="1">
              <a:lnSpc>
                <a:spcPct val="80000"/>
              </a:lnSpc>
            </a:pPr>
            <a:r>
              <a:rPr lang="en-US" altLang="zh-CN" sz="2875" b="1" dirty="0">
                <a:latin typeface="黑体" panose="02010609060101010101" pitchFamily="49" charset="-122"/>
                <a:ea typeface="宋体" panose="02010600030101010101" pitchFamily="2" charset="-122"/>
              </a:rPr>
              <a:t>13.</a:t>
            </a:r>
            <a:r>
              <a:rPr lang="zh-CN" altLang="en-US" sz="2875" b="1" dirty="0">
                <a:latin typeface="黑体" panose="02010609060101010101" pitchFamily="49" charset="-122"/>
                <a:ea typeface="宋体" panose="02010600030101010101" pitchFamily="2" charset="-122"/>
              </a:rPr>
              <a:t>动物为集群生活所付出的代价有哪些</a:t>
            </a:r>
            <a:r>
              <a:rPr lang="en-US" altLang="zh-CN" sz="2875" b="1" dirty="0">
                <a:latin typeface="黑体" panose="02010609060101010101" pitchFamily="49" charset="-122"/>
                <a:ea typeface="宋体" panose="02010600030101010101" pitchFamily="2" charset="-122"/>
              </a:rPr>
              <a:t>?</a:t>
            </a:r>
            <a:r>
              <a:rPr lang="en-US" altLang="zh-CN" sz="2875" b="1" dirty="0">
                <a:latin typeface="Arial" panose="020B0604020202020204" pitchFamily="34" charset="0"/>
                <a:ea typeface="宋体" panose="02010600030101010101" pitchFamily="2" charset="-122"/>
              </a:rPr>
              <a:t> </a:t>
            </a:r>
            <a:r>
              <a:rPr lang="en-US" altLang="zh-CN" sz="2875" b="1" dirty="0">
                <a:latin typeface="黑体" panose="02010609060101010101" pitchFamily="49" charset="-122"/>
                <a:ea typeface="宋体" panose="02010600030101010101" pitchFamily="2" charset="-122"/>
              </a:rPr>
              <a:t>  </a:t>
            </a:r>
          </a:p>
          <a:p>
            <a:pPr eaLnBrk="1" hangingPunct="1">
              <a:lnSpc>
                <a:spcPct val="80000"/>
              </a:lnSpc>
            </a:pPr>
            <a:r>
              <a:rPr lang="en-US" altLang="zh-CN" sz="2875" b="1" dirty="0">
                <a:ea typeface="宋体" panose="02010600030101010101" pitchFamily="2" charset="-122"/>
              </a:rPr>
              <a:t>A</a:t>
            </a:r>
            <a:r>
              <a:rPr lang="zh-CN" altLang="en-US" sz="2875" b="1" dirty="0">
                <a:ea typeface="宋体" panose="02010600030101010101" pitchFamily="2" charset="-122"/>
              </a:rPr>
              <a:t>．竞争随群体大小的增加而增加    </a:t>
            </a:r>
            <a:endParaRPr lang="zh-CN" altLang="zh-CN" sz="2875" b="1" dirty="0">
              <a:ea typeface="宋体" panose="02010600030101010101" pitchFamily="2" charset="-122"/>
            </a:endParaRPr>
          </a:p>
          <a:p>
            <a:pPr eaLnBrk="1" hangingPunct="1">
              <a:lnSpc>
                <a:spcPct val="80000"/>
              </a:lnSpc>
            </a:pPr>
            <a:r>
              <a:rPr lang="en-US" altLang="zh-CN" sz="2875" b="1" dirty="0">
                <a:ea typeface="宋体" panose="02010600030101010101" pitchFamily="2" charset="-122"/>
              </a:rPr>
              <a:t>B</a:t>
            </a:r>
            <a:r>
              <a:rPr lang="zh-CN" altLang="en-US" sz="2875" b="1" dirty="0">
                <a:ea typeface="宋体" panose="02010600030101010101" pitchFamily="2" charset="-122"/>
              </a:rPr>
              <a:t>．增加疾病和寄生物传播的机会</a:t>
            </a:r>
          </a:p>
          <a:p>
            <a:pPr eaLnBrk="1" hangingPunct="1">
              <a:lnSpc>
                <a:spcPct val="80000"/>
              </a:lnSpc>
            </a:pPr>
            <a:r>
              <a:rPr lang="en-US" altLang="zh-CN" sz="2875" b="1" dirty="0">
                <a:ea typeface="宋体" panose="02010600030101010101" pitchFamily="2" charset="-122"/>
              </a:rPr>
              <a:t>C</a:t>
            </a:r>
            <a:r>
              <a:rPr lang="zh-CN" altLang="en-US" sz="2875" b="1" dirty="0">
                <a:ea typeface="宋体" panose="02010600030101010101" pitchFamily="2" charset="-122"/>
              </a:rPr>
              <a:t>．容易发生近亲交配              </a:t>
            </a:r>
            <a:endParaRPr lang="zh-CN" altLang="zh-CN" sz="2875" b="1" dirty="0">
              <a:ea typeface="宋体" panose="02010600030101010101" pitchFamily="2" charset="-122"/>
            </a:endParaRPr>
          </a:p>
          <a:p>
            <a:pPr eaLnBrk="1" hangingPunct="1">
              <a:lnSpc>
                <a:spcPct val="80000"/>
              </a:lnSpc>
            </a:pPr>
            <a:r>
              <a:rPr lang="en-US" altLang="zh-CN" sz="2875" b="1" dirty="0">
                <a:ea typeface="宋体" panose="02010600030101010101" pitchFamily="2" charset="-122"/>
              </a:rPr>
              <a:t>D</a:t>
            </a:r>
            <a:r>
              <a:rPr lang="zh-CN" altLang="en-US" sz="2875" b="1" dirty="0">
                <a:ea typeface="宋体" panose="02010600030101010101" pitchFamily="2" charset="-122"/>
              </a:rPr>
              <a:t>．被捕食的机会增大</a:t>
            </a:r>
          </a:p>
          <a:p>
            <a:pPr eaLnBrk="1" hangingPunct="1">
              <a:lnSpc>
                <a:spcPct val="80000"/>
              </a:lnSpc>
            </a:pPr>
            <a:endParaRPr lang="en-US" altLang="zh-CN" sz="2875" b="1" dirty="0">
              <a:latin typeface="黑体" panose="02010609060101010101" pitchFamily="49" charset="-122"/>
              <a:ea typeface="宋体" panose="02010600030101010101" pitchFamily="2" charset="-122"/>
            </a:endParaRPr>
          </a:p>
          <a:p>
            <a:pPr eaLnBrk="1" hangingPunct="1">
              <a:lnSpc>
                <a:spcPct val="80000"/>
              </a:lnSpc>
            </a:pPr>
            <a:endParaRPr lang="en-US" altLang="zh-CN" sz="2875" b="1" dirty="0">
              <a:latin typeface="黑体" panose="02010609060101010101" pitchFamily="49" charset="-122"/>
              <a:ea typeface="宋体" panose="02010600030101010101" pitchFamily="2" charset="-122"/>
            </a:endParaRPr>
          </a:p>
          <a:p>
            <a:pPr eaLnBrk="1" hangingPunct="1">
              <a:lnSpc>
                <a:spcPct val="80000"/>
              </a:lnSpc>
            </a:pPr>
            <a:endParaRPr lang="zh-CN" altLang="en-US" sz="2875" b="1" dirty="0">
              <a:latin typeface="黑体" panose="02010609060101010101" pitchFamily="49" charset="-122"/>
              <a:ea typeface="宋体" panose="02010600030101010101" pitchFamily="2" charset="-122"/>
            </a:endParaRPr>
          </a:p>
          <a:p>
            <a:pPr>
              <a:lnSpc>
                <a:spcPct val="80000"/>
              </a:lnSpc>
            </a:pPr>
            <a:r>
              <a:rPr lang="en-US" altLang="zh-CN" sz="2875" b="1" dirty="0">
                <a:latin typeface="黑体" panose="02010609060101010101" pitchFamily="49" charset="-122"/>
                <a:ea typeface="宋体" panose="02010600030101010101" pitchFamily="2" charset="-122"/>
              </a:rPr>
              <a:t>14.</a:t>
            </a:r>
            <a:r>
              <a:rPr lang="zh-CN" altLang="en-US" sz="2875" b="1" dirty="0">
                <a:latin typeface="黑体" panose="02010609060101010101" pitchFamily="49" charset="-122"/>
                <a:ea typeface="宋体" panose="02010600030101010101" pitchFamily="2" charset="-122"/>
              </a:rPr>
              <a:t>夏季是青海湖鸟岛上鸬鹚的繁殖季节，这时的鸟巢密集而均匀分布，那么与维持鸟巢的密集而均匀分布有关的行为有哪些： （多选，</a:t>
            </a:r>
            <a:r>
              <a:rPr lang="en-US" altLang="zh-CN" sz="2875" b="1" dirty="0">
                <a:latin typeface="黑体" panose="02010609060101010101" pitchFamily="49" charset="-122"/>
                <a:ea typeface="宋体" panose="02010600030101010101" pitchFamily="2" charset="-122"/>
              </a:rPr>
              <a:t>2 </a:t>
            </a:r>
            <a:r>
              <a:rPr lang="zh-CN" altLang="en-US" sz="2875" b="1" dirty="0">
                <a:latin typeface="黑体" panose="02010609060101010101" pitchFamily="49" charset="-122"/>
                <a:ea typeface="宋体" panose="02010600030101010101" pitchFamily="2" charset="-122"/>
              </a:rPr>
              <a:t>分）</a:t>
            </a:r>
          </a:p>
          <a:p>
            <a:pPr>
              <a:lnSpc>
                <a:spcPct val="80000"/>
              </a:lnSpc>
            </a:pPr>
            <a:r>
              <a:rPr lang="en-US" altLang="zh-CN" sz="2875" b="1" dirty="0">
                <a:ea typeface="宋体" panose="02010600030101010101" pitchFamily="2" charset="-122"/>
              </a:rPr>
              <a:t>A. </a:t>
            </a:r>
            <a:r>
              <a:rPr lang="zh-CN" altLang="en-US" sz="2875" b="1" dirty="0">
                <a:ea typeface="宋体" panose="02010600030101010101" pitchFamily="2" charset="-122"/>
              </a:rPr>
              <a:t>领域行为</a:t>
            </a:r>
            <a:r>
              <a:rPr lang="en-US" altLang="zh-CN" sz="2875" b="1" dirty="0">
                <a:ea typeface="宋体" panose="02010600030101010101" pitchFamily="2" charset="-122"/>
              </a:rPr>
              <a:t>;   B. </a:t>
            </a:r>
            <a:r>
              <a:rPr lang="zh-CN" altLang="en-US" sz="2875" b="1" dirty="0">
                <a:ea typeface="宋体" panose="02010600030101010101" pitchFamily="2" charset="-122"/>
              </a:rPr>
              <a:t>育幼行为</a:t>
            </a:r>
            <a:r>
              <a:rPr lang="en-US" altLang="zh-CN" sz="2875" b="1" dirty="0">
                <a:ea typeface="宋体" panose="02010600030101010101" pitchFamily="2" charset="-122"/>
              </a:rPr>
              <a:t>; </a:t>
            </a:r>
          </a:p>
          <a:p>
            <a:pPr>
              <a:lnSpc>
                <a:spcPct val="80000"/>
              </a:lnSpc>
            </a:pPr>
            <a:r>
              <a:rPr lang="en-US" altLang="zh-CN" sz="2875" b="1" dirty="0">
                <a:ea typeface="宋体" panose="02010600030101010101" pitchFamily="2" charset="-122"/>
              </a:rPr>
              <a:t>C. </a:t>
            </a:r>
            <a:r>
              <a:rPr lang="zh-CN" altLang="en-US" sz="2875" b="1" dirty="0">
                <a:ea typeface="宋体" panose="02010600030101010101" pitchFamily="2" charset="-122"/>
              </a:rPr>
              <a:t>攻击行为</a:t>
            </a:r>
            <a:r>
              <a:rPr lang="en-US" altLang="zh-CN" sz="2875" b="1" dirty="0">
                <a:ea typeface="宋体" panose="02010600030101010101" pitchFamily="2" charset="-122"/>
              </a:rPr>
              <a:t>;   D. </a:t>
            </a:r>
            <a:r>
              <a:rPr lang="zh-CN" altLang="en-US" sz="2875" b="1" dirty="0">
                <a:ea typeface="宋体" panose="02010600030101010101" pitchFamily="2" charset="-122"/>
              </a:rPr>
              <a:t>休息行为。</a:t>
            </a:r>
            <a:endParaRPr lang="en-US" altLang="zh-CN" sz="2875" b="1" dirty="0">
              <a:ea typeface="宋体" panose="02010600030101010101" pitchFamily="2" charset="-122"/>
            </a:endParaRPr>
          </a:p>
          <a:p>
            <a:pPr>
              <a:lnSpc>
                <a:spcPct val="80000"/>
              </a:lnSpc>
            </a:pPr>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2017</a:t>
            </a:r>
            <a:r>
              <a:rPr lang="zh-CN" altLang="en-US" sz="2875" b="1" dirty="0">
                <a:solidFill>
                  <a:srgbClr val="CC0000"/>
                </a:solidFill>
                <a:latin typeface="黑体" panose="02010609060101010101" pitchFamily="49" charset="-122"/>
                <a:ea typeface="宋体" panose="02010600030101010101" pitchFamily="2" charset="-122"/>
              </a:rPr>
              <a:t>年全国联赛试题）</a:t>
            </a:r>
          </a:p>
          <a:p>
            <a:pPr>
              <a:lnSpc>
                <a:spcPct val="80000"/>
              </a:lnSpc>
            </a:pPr>
            <a:endParaRPr lang="zh-CN" altLang="en-US" sz="2875" dirty="0">
              <a:solidFill>
                <a:srgbClr val="CC0000"/>
              </a:solidFill>
              <a:ea typeface="宋体" panose="02010600030101010101" pitchFamily="2" charset="-122"/>
            </a:endParaRPr>
          </a:p>
        </p:txBody>
      </p:sp>
      <p:sp>
        <p:nvSpPr>
          <p:cNvPr id="2" name="文本框 1">
            <a:extLst>
              <a:ext uri="{FF2B5EF4-FFF2-40B4-BE49-F238E27FC236}">
                <a16:creationId xmlns:a16="http://schemas.microsoft.com/office/drawing/2014/main" id="{C5E94739-EDEB-963B-95CC-B25F13599EEB}"/>
              </a:ext>
            </a:extLst>
          </p:cNvPr>
          <p:cNvSpPr txBox="1"/>
          <p:nvPr/>
        </p:nvSpPr>
        <p:spPr>
          <a:xfrm>
            <a:off x="7385050" y="920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ABC</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E6905B25-DF88-F6A6-F98D-F6E2774DD700}"/>
              </a:ext>
            </a:extLst>
          </p:cNvPr>
          <p:cNvSpPr txBox="1"/>
          <p:nvPr/>
        </p:nvSpPr>
        <p:spPr>
          <a:xfrm>
            <a:off x="7385050" y="36734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AC</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3" name="Rectangle 3">
            <a:extLst>
              <a:ext uri="{FF2B5EF4-FFF2-40B4-BE49-F238E27FC236}">
                <a16:creationId xmlns:a16="http://schemas.microsoft.com/office/drawing/2014/main" id="{621D0BE5-0798-05F8-9644-3B39E61605E1}"/>
              </a:ext>
            </a:extLst>
          </p:cNvPr>
          <p:cNvSpPr>
            <a:spLocks noGrp="1"/>
          </p:cNvSpPr>
          <p:nvPr>
            <p:ph type="body" idx="1"/>
          </p:nvPr>
        </p:nvSpPr>
        <p:spPr>
          <a:xfrm>
            <a:off x="429186" y="489038"/>
            <a:ext cx="8799427" cy="5586145"/>
          </a:xfrm>
        </p:spPr>
        <p:txBody>
          <a:bodyPr/>
          <a:lstStyle/>
          <a:p>
            <a:pPr eaLnBrk="1" hangingPunct="1"/>
            <a:r>
              <a:rPr lang="en-US" altLang="zh-CN" sz="2875" b="1" dirty="0">
                <a:latin typeface="黑体" panose="02010609060101010101" pitchFamily="49" charset="-122"/>
                <a:ea typeface="宋体" panose="02010600030101010101" pitchFamily="2" charset="-122"/>
              </a:rPr>
              <a:t>15.</a:t>
            </a:r>
            <a:r>
              <a:rPr lang="zh-CN" altLang="en-US" sz="2875" b="1" dirty="0">
                <a:latin typeface="黑体" panose="02010609060101010101" pitchFamily="49" charset="-122"/>
                <a:ea typeface="宋体" panose="02010600030101010101" pitchFamily="2" charset="-122"/>
              </a:rPr>
              <a:t>动物集群生活的好处有：</a:t>
            </a:r>
            <a:endParaRPr lang="en-US" altLang="zh-CN" sz="2875" b="1" dirty="0">
              <a:latin typeface="黑体" panose="02010609060101010101" pitchFamily="49" charset="-122"/>
              <a:ea typeface="宋体" panose="02010600030101010101" pitchFamily="2" charset="-122"/>
            </a:endParaRPr>
          </a:p>
          <a:p>
            <a:pPr eaLnBrk="1" hangingPunct="1"/>
            <a:r>
              <a:rPr lang="en-US" altLang="zh-CN" sz="2875" b="1" dirty="0">
                <a:latin typeface="黑体" panose="02010609060101010101" pitchFamily="49" charset="-122"/>
                <a:ea typeface="宋体" panose="02010600030101010101" pitchFamily="2" charset="-122"/>
              </a:rPr>
              <a:t>A.</a:t>
            </a:r>
            <a:r>
              <a:rPr lang="zh-CN" altLang="en-US" sz="2875" b="1" dirty="0">
                <a:latin typeface="黑体" panose="02010609060101010101" pitchFamily="49" charset="-122"/>
                <a:ea typeface="宋体" panose="02010600030101010101" pitchFamily="2" charset="-122"/>
              </a:rPr>
              <a:t>防御捕食者       　</a:t>
            </a:r>
            <a:r>
              <a:rPr lang="en-US" altLang="zh-CN" sz="2875" b="1" dirty="0">
                <a:latin typeface="黑体" panose="02010609060101010101" pitchFamily="49" charset="-122"/>
                <a:ea typeface="宋体" panose="02010600030101010101" pitchFamily="2" charset="-122"/>
              </a:rPr>
              <a:t>B.</a:t>
            </a:r>
            <a:r>
              <a:rPr lang="zh-CN" altLang="en-US" sz="2875" b="1" dirty="0">
                <a:latin typeface="黑体" panose="02010609060101010101" pitchFamily="49" charset="-122"/>
                <a:ea typeface="宋体" panose="02010600030101010101" pitchFamily="2" charset="-122"/>
              </a:rPr>
              <a:t>提高觅食成功性</a:t>
            </a:r>
          </a:p>
          <a:p>
            <a:pPr eaLnBrk="1" hangingPunct="1"/>
            <a:r>
              <a:rPr lang="en-US" altLang="zh-CN" sz="2875" b="1" dirty="0">
                <a:latin typeface="黑体" panose="02010609060101010101" pitchFamily="49" charset="-122"/>
                <a:ea typeface="宋体" panose="02010600030101010101" pitchFamily="2" charset="-122"/>
              </a:rPr>
              <a:t>C.</a:t>
            </a:r>
            <a:r>
              <a:rPr lang="zh-CN" altLang="en-US" sz="2875" b="1" dirty="0">
                <a:latin typeface="黑体" panose="02010609060101010101" pitchFamily="49" charset="-122"/>
                <a:ea typeface="宋体" panose="02010600030101010101" pitchFamily="2" charset="-122"/>
              </a:rPr>
              <a:t>提高种群遗传多样性 </a:t>
            </a:r>
            <a:r>
              <a:rPr lang="en-US" altLang="zh-CN" sz="2875" b="1" dirty="0">
                <a:latin typeface="黑体" panose="02010609060101010101" pitchFamily="49" charset="-122"/>
                <a:ea typeface="宋体" panose="02010600030101010101" pitchFamily="2" charset="-122"/>
              </a:rPr>
              <a:t>D.</a:t>
            </a:r>
            <a:r>
              <a:rPr lang="zh-CN" altLang="en-US" sz="2875" b="1" dirty="0">
                <a:latin typeface="黑体" panose="02010609060101010101" pitchFamily="49" charset="-122"/>
                <a:ea typeface="宋体" panose="02010600030101010101" pitchFamily="2" charset="-122"/>
              </a:rPr>
              <a:t>更容易找到配偶</a:t>
            </a:r>
          </a:p>
          <a:p>
            <a:pPr eaLnBrk="1" hangingPunct="1"/>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2012</a:t>
            </a:r>
            <a:r>
              <a:rPr lang="zh-CN" altLang="en-US" sz="2875" b="1" dirty="0">
                <a:solidFill>
                  <a:srgbClr val="CC0000"/>
                </a:solidFill>
                <a:latin typeface="黑体" panose="02010609060101010101" pitchFamily="49" charset="-122"/>
                <a:ea typeface="宋体" panose="02010600030101010101" pitchFamily="2" charset="-122"/>
              </a:rPr>
              <a:t>年全国联赛试题）</a:t>
            </a:r>
          </a:p>
          <a:p>
            <a:pPr eaLnBrk="1" hangingPunct="1"/>
            <a:endParaRPr lang="en-US" altLang="zh-CN" sz="2875" b="1" dirty="0">
              <a:latin typeface="黑体" panose="02010609060101010101" pitchFamily="49" charset="-122"/>
              <a:ea typeface="宋体" panose="02010600030101010101" pitchFamily="2" charset="-122"/>
            </a:endParaRPr>
          </a:p>
          <a:p>
            <a:pPr eaLnBrk="1" hangingPunct="1"/>
            <a:endParaRPr lang="zh-CN" altLang="en-US" sz="2875" b="1" dirty="0">
              <a:latin typeface="黑体" panose="02010609060101010101" pitchFamily="49" charset="-122"/>
              <a:ea typeface="宋体" panose="02010600030101010101" pitchFamily="2" charset="-122"/>
            </a:endParaRPr>
          </a:p>
          <a:p>
            <a:pPr eaLnBrk="1" hangingPunct="1"/>
            <a:r>
              <a:rPr lang="en-US" altLang="zh-CN" sz="2875" b="1" dirty="0">
                <a:latin typeface="黑体" panose="02010609060101010101" pitchFamily="49" charset="-122"/>
                <a:ea typeface="宋体" panose="02010600030101010101" pitchFamily="2" charset="-122"/>
              </a:rPr>
              <a:t>16.</a:t>
            </a:r>
            <a:r>
              <a:rPr lang="zh-CN" altLang="en-US" sz="2875" b="1" dirty="0">
                <a:latin typeface="黑体" panose="02010609060101010101" pitchFamily="49" charset="-122"/>
                <a:ea typeface="宋体" panose="02010600030101010101" pitchFamily="2" charset="-122"/>
              </a:rPr>
              <a:t>集群行为的有利之处包括哪些？（多选</a:t>
            </a:r>
            <a:r>
              <a:rPr lang="en-US" altLang="zh-CN" sz="2875" b="1" dirty="0">
                <a:latin typeface="黑体" panose="02010609060101010101" pitchFamily="49" charset="-122"/>
                <a:ea typeface="宋体" panose="02010600030101010101" pitchFamily="2" charset="-122"/>
              </a:rPr>
              <a:t>2 </a:t>
            </a:r>
            <a:r>
              <a:rPr lang="zh-CN" altLang="en-US" sz="2875" b="1" dirty="0">
                <a:latin typeface="黑体" panose="02010609060101010101" pitchFamily="49" charset="-122"/>
                <a:ea typeface="宋体" panose="02010600030101010101" pitchFamily="2" charset="-122"/>
              </a:rPr>
              <a:t>分）</a:t>
            </a:r>
            <a:br>
              <a:rPr lang="zh-CN" altLang="en-US" sz="2875" b="1" dirty="0">
                <a:latin typeface="黑体" panose="02010609060101010101" pitchFamily="49" charset="-122"/>
                <a:ea typeface="宋体" panose="02010600030101010101" pitchFamily="2" charset="-122"/>
              </a:rPr>
            </a:br>
            <a:r>
              <a:rPr lang="en-US" altLang="zh-CN" sz="2875" b="1" dirty="0">
                <a:ea typeface="宋体" panose="02010600030101010101" pitchFamily="2" charset="-122"/>
              </a:rPr>
              <a:t>A.</a:t>
            </a:r>
            <a:r>
              <a:rPr lang="zh-CN" altLang="en-US" sz="2875" b="1" dirty="0">
                <a:ea typeface="宋体" panose="02010600030101010101" pitchFamily="2" charset="-122"/>
              </a:rPr>
              <a:t>易于获取食物或其他资源</a:t>
            </a:r>
            <a:br>
              <a:rPr lang="zh-CN" altLang="en-US" sz="2875" b="1" dirty="0">
                <a:ea typeface="宋体" panose="02010600030101010101" pitchFamily="2" charset="-122"/>
              </a:rPr>
            </a:br>
            <a:r>
              <a:rPr lang="en-US" altLang="zh-CN" sz="2875" b="1" dirty="0">
                <a:ea typeface="宋体" panose="02010600030101010101" pitchFamily="2" charset="-122"/>
              </a:rPr>
              <a:t>B.</a:t>
            </a:r>
            <a:r>
              <a:rPr lang="zh-CN" altLang="en-US" sz="2875" b="1" dirty="0">
                <a:ea typeface="宋体" panose="02010600030101010101" pitchFamily="2" charset="-122"/>
              </a:rPr>
              <a:t>利于繁殖</a:t>
            </a:r>
            <a:br>
              <a:rPr lang="zh-CN" altLang="en-US" sz="2875" b="1" dirty="0">
                <a:ea typeface="宋体" panose="02010600030101010101" pitchFamily="2" charset="-122"/>
              </a:rPr>
            </a:br>
            <a:r>
              <a:rPr lang="en-US" altLang="zh-CN" sz="2875" b="1" dirty="0">
                <a:ea typeface="宋体" panose="02010600030101010101" pitchFamily="2" charset="-122"/>
              </a:rPr>
              <a:t>C.</a:t>
            </a:r>
            <a:r>
              <a:rPr lang="zh-CN" altLang="en-US" sz="2875" b="1" dirty="0">
                <a:ea typeface="宋体" panose="02010600030101010101" pitchFamily="2" charset="-122"/>
              </a:rPr>
              <a:t>利于防御自然界中危险和天敌</a:t>
            </a:r>
            <a:br>
              <a:rPr lang="zh-CN" altLang="en-US" sz="2875" b="1" dirty="0">
                <a:ea typeface="宋体" panose="02010600030101010101" pitchFamily="2" charset="-122"/>
              </a:rPr>
            </a:br>
            <a:r>
              <a:rPr lang="en-US" altLang="zh-CN" sz="2875" b="1" dirty="0">
                <a:ea typeface="宋体" panose="02010600030101010101" pitchFamily="2" charset="-122"/>
              </a:rPr>
              <a:t>D.</a:t>
            </a:r>
            <a:r>
              <a:rPr lang="zh-CN" altLang="en-US" sz="2875" b="1" dirty="0">
                <a:ea typeface="宋体" panose="02010600030101010101" pitchFamily="2" charset="-122"/>
              </a:rPr>
              <a:t>易于控制流行病</a:t>
            </a:r>
            <a:br>
              <a:rPr lang="zh-CN" altLang="en-US" sz="2875" b="1" dirty="0">
                <a:latin typeface="黑体" panose="02010609060101010101" pitchFamily="49" charset="-122"/>
                <a:ea typeface="宋体" panose="02010600030101010101" pitchFamily="2" charset="-122"/>
              </a:rPr>
            </a:br>
            <a:endParaRPr lang="zh-CN" altLang="en-US" sz="2875" b="1" dirty="0">
              <a:solidFill>
                <a:srgbClr val="CC0000"/>
              </a:solidFill>
              <a:latin typeface="黑体" panose="02010609060101010101" pitchFamily="49" charset="-122"/>
              <a:ea typeface="宋体" panose="02010600030101010101" pitchFamily="2" charset="-122"/>
            </a:endParaRPr>
          </a:p>
          <a:p>
            <a:endParaRPr lang="zh-CN" altLang="en-US" dirty="0">
              <a:solidFill>
                <a:srgbClr val="CC0000"/>
              </a:solidFill>
              <a:ea typeface="宋体" panose="02010600030101010101" pitchFamily="2" charset="-122"/>
            </a:endParaRPr>
          </a:p>
        </p:txBody>
      </p:sp>
      <p:sp>
        <p:nvSpPr>
          <p:cNvPr id="2" name="文本框 1">
            <a:extLst>
              <a:ext uri="{FF2B5EF4-FFF2-40B4-BE49-F238E27FC236}">
                <a16:creationId xmlns:a16="http://schemas.microsoft.com/office/drawing/2014/main" id="{69E7D4BF-64E5-D1AE-CBF7-2261D3777F08}"/>
              </a:ext>
            </a:extLst>
          </p:cNvPr>
          <p:cNvSpPr txBox="1"/>
          <p:nvPr/>
        </p:nvSpPr>
        <p:spPr>
          <a:xfrm>
            <a:off x="5251450" y="443747"/>
            <a:ext cx="1295400"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ABD</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A87EA67C-667A-D9A2-CCBF-39E27BA21EE5}"/>
              </a:ext>
            </a:extLst>
          </p:cNvPr>
          <p:cNvSpPr txBox="1"/>
          <p:nvPr/>
        </p:nvSpPr>
        <p:spPr>
          <a:xfrm>
            <a:off x="8140700" y="3150255"/>
            <a:ext cx="1295400"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ABC</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a:extLst>
              <a:ext uri="{FF2B5EF4-FFF2-40B4-BE49-F238E27FC236}">
                <a16:creationId xmlns:a16="http://schemas.microsoft.com/office/drawing/2014/main" id="{4E819712-020E-6F66-B3C8-4B4D0CE96E58}"/>
              </a:ext>
            </a:extLst>
          </p:cNvPr>
          <p:cNvSpPr>
            <a:spLocks noGrp="1"/>
          </p:cNvSpPr>
          <p:nvPr>
            <p:ph type="body" idx="1"/>
          </p:nvPr>
        </p:nvSpPr>
        <p:spPr>
          <a:xfrm>
            <a:off x="577527" y="489038"/>
            <a:ext cx="8662497" cy="5027530"/>
          </a:xfrm>
        </p:spPr>
        <p:txBody>
          <a:bodyPr/>
          <a:lstStyle/>
          <a:p>
            <a:pPr>
              <a:lnSpc>
                <a:spcPct val="90000"/>
              </a:lnSpc>
              <a:buFont typeface="Arial" panose="020B0604020202020204" pitchFamily="34" charset="0"/>
              <a:buNone/>
            </a:pPr>
            <a:r>
              <a:rPr lang="en-US" altLang="zh-CN" sz="2875" b="1" dirty="0">
                <a:latin typeface="黑体" panose="02010609060101010101" pitchFamily="49" charset="-122"/>
                <a:ea typeface="宋体" panose="02010600030101010101" pitchFamily="2" charset="-122"/>
              </a:rPr>
              <a:t>17.</a:t>
            </a:r>
            <a:r>
              <a:rPr lang="zh-CN" altLang="en-US" sz="2875" b="1" dirty="0">
                <a:latin typeface="黑体" panose="02010609060101010101" pitchFamily="49" charset="-122"/>
                <a:ea typeface="宋体" panose="02010600030101010101" pitchFamily="2" charset="-122"/>
              </a:rPr>
              <a:t>关于种群个体空间分布格局，下列说法正确的是：</a:t>
            </a:r>
          </a:p>
          <a:p>
            <a:pPr>
              <a:lnSpc>
                <a:spcPct val="90000"/>
              </a:lnSpc>
            </a:pPr>
            <a:r>
              <a:rPr lang="en-US" altLang="zh-CN" sz="2875" b="1" dirty="0">
                <a:ea typeface="宋体" panose="02010600030101010101" pitchFamily="2" charset="-122"/>
              </a:rPr>
              <a:t>A.</a:t>
            </a:r>
            <a:r>
              <a:rPr lang="zh-CN" altLang="en-US" sz="2875" b="1" dirty="0">
                <a:ea typeface="宋体" panose="02010600030101010101" pitchFamily="2" charset="-122"/>
              </a:rPr>
              <a:t>种群个体间的中性关系可能促成随机型分布；</a:t>
            </a:r>
          </a:p>
          <a:p>
            <a:pPr>
              <a:lnSpc>
                <a:spcPct val="90000"/>
              </a:lnSpc>
            </a:pPr>
            <a:r>
              <a:rPr lang="en-US" altLang="zh-CN" sz="2875" b="1" dirty="0">
                <a:ea typeface="宋体" panose="02010600030101010101" pitchFamily="2" charset="-122"/>
              </a:rPr>
              <a:t>B.</a:t>
            </a:r>
            <a:r>
              <a:rPr lang="zh-CN" altLang="en-US" sz="2875" b="1" dirty="0">
                <a:ea typeface="宋体" panose="02010600030101010101" pitchFamily="2" charset="-122"/>
              </a:rPr>
              <a:t>动物生活史中不同的时期，其分布型都会有变　</a:t>
            </a:r>
          </a:p>
          <a:p>
            <a:pPr>
              <a:lnSpc>
                <a:spcPct val="90000"/>
              </a:lnSpc>
            </a:pPr>
            <a:r>
              <a:rPr lang="zh-CN" altLang="en-US" sz="2875" b="1" dirty="0">
                <a:ea typeface="宋体" panose="02010600030101010101" pitchFamily="2" charset="-122"/>
              </a:rPr>
              <a:t>　化；</a:t>
            </a:r>
          </a:p>
          <a:p>
            <a:pPr>
              <a:lnSpc>
                <a:spcPct val="90000"/>
              </a:lnSpc>
            </a:pPr>
            <a:r>
              <a:rPr lang="en-US" altLang="zh-CN" sz="2875" b="1" dirty="0">
                <a:ea typeface="宋体" panose="02010600030101010101" pitchFamily="2" charset="-122"/>
              </a:rPr>
              <a:t>C.</a:t>
            </a:r>
            <a:r>
              <a:rPr lang="zh-CN" altLang="en-US" sz="2875" b="1" dirty="0">
                <a:ea typeface="宋体" panose="02010600030101010101" pitchFamily="2" charset="-122"/>
              </a:rPr>
              <a:t>动物所处环境的季节变化，其分布型会有变化；</a:t>
            </a:r>
          </a:p>
          <a:p>
            <a:pPr>
              <a:lnSpc>
                <a:spcPct val="90000"/>
              </a:lnSpc>
            </a:pPr>
            <a:r>
              <a:rPr lang="en-US" altLang="zh-CN" sz="2875" b="1" dirty="0">
                <a:ea typeface="宋体" panose="02010600030101010101" pitchFamily="2" charset="-122"/>
              </a:rPr>
              <a:t>D.</a:t>
            </a:r>
            <a:r>
              <a:rPr lang="zh-CN" altLang="en-US" sz="2875" b="1" dirty="0">
                <a:ea typeface="宋体" panose="02010600030101010101" pitchFamily="2" charset="-122"/>
              </a:rPr>
              <a:t>种群个体的空间分布格局以随机型最为常见。</a:t>
            </a:r>
          </a:p>
          <a:p>
            <a:pPr>
              <a:lnSpc>
                <a:spcPct val="90000"/>
              </a:lnSpc>
            </a:pPr>
            <a:endParaRPr lang="en-US" altLang="zh-CN" sz="2875" b="1" dirty="0">
              <a:ea typeface="宋体" panose="02010600030101010101" pitchFamily="2" charset="-122"/>
            </a:endParaRPr>
          </a:p>
          <a:p>
            <a:pPr>
              <a:lnSpc>
                <a:spcPct val="90000"/>
              </a:lnSpc>
            </a:pPr>
            <a:endParaRPr lang="zh-CN" altLang="en-US" sz="2875" b="1" dirty="0">
              <a:ea typeface="宋体" panose="02010600030101010101" pitchFamily="2" charset="-122"/>
            </a:endParaRPr>
          </a:p>
          <a:p>
            <a:pPr>
              <a:lnSpc>
                <a:spcPct val="90000"/>
              </a:lnSpc>
            </a:pPr>
            <a:r>
              <a:rPr lang="en-US" altLang="zh-CN" sz="2875" b="1" dirty="0">
                <a:ea typeface="宋体" panose="02010600030101010101" pitchFamily="2" charset="-122"/>
              </a:rPr>
              <a:t>18.</a:t>
            </a:r>
            <a:r>
              <a:rPr lang="zh-CN" altLang="en-US" sz="2875" b="1" dirty="0">
                <a:ea typeface="宋体" panose="02010600030101010101" pitchFamily="2" charset="-122"/>
              </a:rPr>
              <a:t>草原狼群居生活时往往与下列哪些因素有关：</a:t>
            </a:r>
          </a:p>
          <a:p>
            <a:pPr>
              <a:lnSpc>
                <a:spcPct val="90000"/>
              </a:lnSpc>
            </a:pPr>
            <a:r>
              <a:rPr lang="en-US" altLang="zh-CN" sz="2875" b="1" dirty="0">
                <a:ea typeface="宋体" panose="02010600030101010101" pitchFamily="2" charset="-122"/>
              </a:rPr>
              <a:t>A.</a:t>
            </a:r>
            <a:r>
              <a:rPr lang="zh-CN" altLang="en-US" sz="2875" b="1" dirty="0">
                <a:ea typeface="宋体" panose="02010600030101010101" pitchFamily="2" charset="-122"/>
              </a:rPr>
              <a:t>冬季；　　</a:t>
            </a:r>
            <a:r>
              <a:rPr lang="en-US" altLang="zh-CN" sz="2875" b="1" dirty="0">
                <a:ea typeface="宋体" panose="02010600030101010101" pitchFamily="2" charset="-122"/>
              </a:rPr>
              <a:t>B.</a:t>
            </a:r>
            <a:r>
              <a:rPr lang="zh-CN" altLang="en-US" sz="2875" b="1" dirty="0">
                <a:ea typeface="宋体" panose="02010600030101010101" pitchFamily="2" charset="-122"/>
              </a:rPr>
              <a:t>大型哺乳动物成堆的尸体；</a:t>
            </a:r>
          </a:p>
          <a:p>
            <a:pPr>
              <a:lnSpc>
                <a:spcPct val="90000"/>
              </a:lnSpc>
            </a:pPr>
            <a:r>
              <a:rPr lang="en-US" altLang="zh-CN" sz="2875" b="1" dirty="0">
                <a:ea typeface="宋体" panose="02010600030101010101" pitchFamily="2" charset="-122"/>
              </a:rPr>
              <a:t>C.</a:t>
            </a:r>
            <a:r>
              <a:rPr lang="zh-CN" altLang="en-US" sz="2875" b="1" dirty="0">
                <a:ea typeface="宋体" panose="02010600030101010101" pitchFamily="2" charset="-122"/>
              </a:rPr>
              <a:t>具领域性；</a:t>
            </a:r>
            <a:r>
              <a:rPr lang="en-US" altLang="zh-CN" sz="2875" b="1" dirty="0">
                <a:ea typeface="宋体" panose="02010600030101010101" pitchFamily="2" charset="-122"/>
              </a:rPr>
              <a:t>D.</a:t>
            </a:r>
            <a:r>
              <a:rPr lang="zh-CN" altLang="en-US" sz="2875" b="1" dirty="0">
                <a:ea typeface="宋体" panose="02010600030101010101" pitchFamily="2" charset="-122"/>
              </a:rPr>
              <a:t>具固定的巢区。</a:t>
            </a:r>
          </a:p>
          <a:p>
            <a:pPr>
              <a:lnSpc>
                <a:spcPct val="90000"/>
              </a:lnSpc>
            </a:pPr>
            <a:endParaRPr lang="zh-CN" altLang="en-US" dirty="0">
              <a:ea typeface="宋体" panose="02010600030101010101" pitchFamily="2" charset="-122"/>
            </a:endParaRPr>
          </a:p>
          <a:p>
            <a:pPr>
              <a:lnSpc>
                <a:spcPct val="90000"/>
              </a:lnSpc>
            </a:pPr>
            <a:endParaRPr lang="zh-CN" altLang="en-US" sz="2875" b="1" dirty="0">
              <a:latin typeface="黑体" panose="02010609060101010101" pitchFamily="49" charset="-122"/>
              <a:ea typeface="宋体" panose="02010600030101010101" pitchFamily="2" charset="-122"/>
            </a:endParaRPr>
          </a:p>
        </p:txBody>
      </p:sp>
      <p:sp>
        <p:nvSpPr>
          <p:cNvPr id="2" name="文本框 1">
            <a:extLst>
              <a:ext uri="{FF2B5EF4-FFF2-40B4-BE49-F238E27FC236}">
                <a16:creationId xmlns:a16="http://schemas.microsoft.com/office/drawing/2014/main" id="{CDA8B263-857F-9837-1269-FFD4A327103B}"/>
              </a:ext>
            </a:extLst>
          </p:cNvPr>
          <p:cNvSpPr txBox="1"/>
          <p:nvPr/>
        </p:nvSpPr>
        <p:spPr>
          <a:xfrm>
            <a:off x="8147050" y="86425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ABC</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73F57D66-8280-0A02-C263-A3744D3D8E40}"/>
              </a:ext>
            </a:extLst>
          </p:cNvPr>
          <p:cNvSpPr txBox="1"/>
          <p:nvPr/>
        </p:nvSpPr>
        <p:spPr>
          <a:xfrm>
            <a:off x="8147050" y="35210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ABC</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7" name="Rectangle 3">
            <a:extLst>
              <a:ext uri="{FF2B5EF4-FFF2-40B4-BE49-F238E27FC236}">
                <a16:creationId xmlns:a16="http://schemas.microsoft.com/office/drawing/2014/main" id="{0CDA1AFE-8D7D-E67C-DA95-6A19193D45E2}"/>
              </a:ext>
            </a:extLst>
          </p:cNvPr>
          <p:cNvSpPr>
            <a:spLocks noGrp="1"/>
          </p:cNvSpPr>
          <p:nvPr>
            <p:ph type="body" idx="1"/>
          </p:nvPr>
        </p:nvSpPr>
        <p:spPr>
          <a:xfrm>
            <a:off x="298450" y="1080775"/>
            <a:ext cx="8785879" cy="3097002"/>
          </a:xfrm>
        </p:spPr>
        <p:txBody>
          <a:bodyPr/>
          <a:lstStyle/>
          <a:p>
            <a:r>
              <a:rPr lang="en-US" altLang="zh-CN" sz="2875" b="1" dirty="0">
                <a:latin typeface="黑体" panose="02010609060101010101" pitchFamily="49" charset="-122"/>
                <a:ea typeface="宋体" panose="02010600030101010101" pitchFamily="2" charset="-122"/>
              </a:rPr>
              <a:t>19.</a:t>
            </a:r>
            <a:r>
              <a:rPr lang="zh-CN" altLang="en-US" sz="2875" b="1" dirty="0">
                <a:latin typeface="黑体" panose="02010609060101010101" pitchFamily="49" charset="-122"/>
                <a:ea typeface="宋体" panose="02010600030101010101" pitchFamily="2" charset="-122"/>
              </a:rPr>
              <a:t>下列有关种群内个体空间分布格局，说法错误的是：</a:t>
            </a:r>
          </a:p>
          <a:p>
            <a:r>
              <a:rPr lang="en-US" altLang="zh-CN" sz="2875" b="1" dirty="0">
                <a:latin typeface="黑体" panose="02010609060101010101" pitchFamily="49" charset="-122"/>
                <a:ea typeface="宋体" panose="02010600030101010101" pitchFamily="2" charset="-122"/>
              </a:rPr>
              <a:t>A.</a:t>
            </a:r>
            <a:r>
              <a:rPr lang="zh-CN" altLang="en-US" sz="2875" b="1" dirty="0">
                <a:latin typeface="黑体" panose="02010609060101010101" pitchFamily="49" charset="-122"/>
                <a:ea typeface="宋体" panose="02010600030101010101" pitchFamily="2" charset="-122"/>
              </a:rPr>
              <a:t>某些植物在最初入侵某地时，常呈随机型</a:t>
            </a:r>
          </a:p>
          <a:p>
            <a:r>
              <a:rPr lang="zh-CN" altLang="en-US" sz="2875" b="1" dirty="0">
                <a:latin typeface="黑体" panose="02010609060101010101" pitchFamily="49" charset="-122"/>
                <a:ea typeface="宋体" panose="02010600030101010101" pitchFamily="2" charset="-122"/>
              </a:rPr>
              <a:t>　分布；</a:t>
            </a:r>
          </a:p>
          <a:p>
            <a:r>
              <a:rPr lang="en-US" altLang="zh-CN" sz="2875" b="1" dirty="0">
                <a:latin typeface="黑体" panose="02010609060101010101" pitchFamily="49" charset="-122"/>
                <a:ea typeface="宋体" panose="02010600030101010101" pitchFamily="2" charset="-122"/>
              </a:rPr>
              <a:t>B.</a:t>
            </a:r>
            <a:r>
              <a:rPr lang="zh-CN" altLang="en-US" sz="2875" b="1" dirty="0">
                <a:latin typeface="黑体" panose="02010609060101010101" pitchFamily="49" charset="-122"/>
                <a:ea typeface="宋体" panose="02010600030101010101" pitchFamily="2" charset="-122"/>
              </a:rPr>
              <a:t>面粉中的黄粉虫是随机分布的；</a:t>
            </a:r>
          </a:p>
          <a:p>
            <a:r>
              <a:rPr lang="en-US" altLang="zh-CN" sz="2875" b="1" dirty="0">
                <a:latin typeface="黑体" panose="02010609060101010101" pitchFamily="49" charset="-122"/>
                <a:ea typeface="宋体" panose="02010600030101010101" pitchFamily="2" charset="-122"/>
              </a:rPr>
              <a:t>C.</a:t>
            </a:r>
            <a:r>
              <a:rPr lang="zh-CN" altLang="en-US" sz="2875" b="1" dirty="0">
                <a:latin typeface="黑体" panose="02010609060101010101" pitchFamily="49" charset="-122"/>
                <a:ea typeface="宋体" panose="02010600030101010101" pitchFamily="2" charset="-122"/>
              </a:rPr>
              <a:t>随机分布的前提是种群内的个体各自独立</a:t>
            </a:r>
          </a:p>
          <a:p>
            <a:r>
              <a:rPr lang="zh-CN" altLang="en-US" sz="2875" b="1" dirty="0">
                <a:latin typeface="黑体" panose="02010609060101010101" pitchFamily="49" charset="-122"/>
                <a:ea typeface="宋体" panose="02010600030101010101" pitchFamily="2" charset="-122"/>
              </a:rPr>
              <a:t>　生存而不受其他个体的干扰； </a:t>
            </a:r>
          </a:p>
          <a:p>
            <a:r>
              <a:rPr lang="en-US" altLang="zh-CN" sz="2875" b="1" dirty="0">
                <a:ea typeface="宋体" panose="02010600030101010101" pitchFamily="2" charset="-122"/>
              </a:rPr>
              <a:t>D.</a:t>
            </a:r>
            <a:r>
              <a:rPr lang="zh-CN" altLang="en-US" sz="2875" b="1" dirty="0">
                <a:ea typeface="宋体" panose="02010600030101010101" pitchFamily="2" charset="-122"/>
              </a:rPr>
              <a:t>随机型分布在自然界</a:t>
            </a:r>
            <a:r>
              <a:rPr lang="zh-CN" altLang="en-US" sz="2875" b="1" dirty="0">
                <a:latin typeface="黑体" panose="02010609060101010101" pitchFamily="49" charset="-122"/>
                <a:ea typeface="宋体" panose="02010600030101010101" pitchFamily="2" charset="-122"/>
              </a:rPr>
              <a:t>中比较常见。</a:t>
            </a:r>
          </a:p>
        </p:txBody>
      </p:sp>
      <p:sp>
        <p:nvSpPr>
          <p:cNvPr id="2" name="文本框 1">
            <a:extLst>
              <a:ext uri="{FF2B5EF4-FFF2-40B4-BE49-F238E27FC236}">
                <a16:creationId xmlns:a16="http://schemas.microsoft.com/office/drawing/2014/main" id="{209AE941-8DD3-7820-67CC-B00C14DD3523}"/>
              </a:ext>
            </a:extLst>
          </p:cNvPr>
          <p:cNvSpPr txBox="1"/>
          <p:nvPr/>
        </p:nvSpPr>
        <p:spPr>
          <a:xfrm>
            <a:off x="7461250" y="14636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D</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a:extLst>
              <a:ext uri="{FF2B5EF4-FFF2-40B4-BE49-F238E27FC236}">
                <a16:creationId xmlns:a16="http://schemas.microsoft.com/office/drawing/2014/main" id="{096C1653-4CC7-0CDF-1FE8-1F02D44B1C93}"/>
              </a:ext>
            </a:extLst>
          </p:cNvPr>
          <p:cNvSpPr txBox="1">
            <a:spLocks noChangeArrowheads="1"/>
          </p:cNvSpPr>
          <p:nvPr/>
        </p:nvSpPr>
        <p:spPr bwMode="auto">
          <a:xfrm>
            <a:off x="756841" y="2787518"/>
            <a:ext cx="8030007" cy="395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2875" dirty="0"/>
              <a:t>在寻找食物、发现配偶、逃避捕食等生存竞争中，动物的行为和活动具有首要意义，而对于营固着生活的植物，执行这些功能的是构件空间排列的建筑学结构。</a:t>
            </a:r>
            <a:r>
              <a:rPr lang="zh-CN" altLang="en-US" sz="2875" b="1" dirty="0"/>
              <a:t>如同动物种群生态学强调研究社会行为，植物种群生态学则强调研究个体和构件的空间排列。这是植物种群生态学与动物种群生态学研究的另一重要区别。</a:t>
            </a:r>
          </a:p>
          <a:p>
            <a:pPr eaLnBrk="1" hangingPunct="1">
              <a:spcBef>
                <a:spcPct val="50000"/>
              </a:spcBef>
            </a:pPr>
            <a:endParaRPr lang="en-US" altLang="zh-CN" sz="2875" dirty="0"/>
          </a:p>
        </p:txBody>
      </p:sp>
      <p:sp>
        <p:nvSpPr>
          <p:cNvPr id="13315" name="Text Box 4">
            <a:extLst>
              <a:ext uri="{FF2B5EF4-FFF2-40B4-BE49-F238E27FC236}">
                <a16:creationId xmlns:a16="http://schemas.microsoft.com/office/drawing/2014/main" id="{69745C4F-1D44-A8F6-EC19-51658E78C5B0}"/>
              </a:ext>
            </a:extLst>
          </p:cNvPr>
          <p:cNvSpPr txBox="1">
            <a:spLocks noChangeArrowheads="1"/>
          </p:cNvSpPr>
          <p:nvPr/>
        </p:nvSpPr>
        <p:spPr bwMode="auto">
          <a:xfrm>
            <a:off x="1123620" y="513491"/>
            <a:ext cx="4508932" cy="2821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75" b="1"/>
              <a:t>建筑学结构：植物重复出现的构件的空间排列方式。</a:t>
            </a:r>
            <a:r>
              <a:rPr lang="zh-CN" altLang="en-US" sz="2465"/>
              <a:t>决定植物与环境及个体之间的相互作用</a:t>
            </a:r>
            <a:r>
              <a:rPr lang="en-US" altLang="zh-CN" sz="2465"/>
              <a:t>.</a:t>
            </a:r>
          </a:p>
          <a:p>
            <a:pPr eaLnBrk="1" hangingPunct="1"/>
            <a:endParaRPr lang="en-US" altLang="zh-CN" sz="2875"/>
          </a:p>
          <a:p>
            <a:pPr eaLnBrk="1" hangingPunct="1">
              <a:spcBef>
                <a:spcPct val="50000"/>
              </a:spcBef>
            </a:pPr>
            <a:endParaRPr lang="en-US" altLang="zh-CN" sz="2465"/>
          </a:p>
        </p:txBody>
      </p:sp>
      <p:pic>
        <p:nvPicPr>
          <p:cNvPr id="13316" name="Picture 6" descr="u=921490520,2254762521&amp;fm=23&amp;gp=0">
            <a:extLst>
              <a:ext uri="{FF2B5EF4-FFF2-40B4-BE49-F238E27FC236}">
                <a16:creationId xmlns:a16="http://schemas.microsoft.com/office/drawing/2014/main" id="{377687B3-9758-0352-1B69-B0BF70537B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8387" y="513491"/>
            <a:ext cx="3027146" cy="1980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9570"/>
                                        </p:tgtEl>
                                        <p:attrNameLst>
                                          <p:attrName>style.visibility</p:attrName>
                                        </p:attrNameLst>
                                      </p:cBhvr>
                                      <p:to>
                                        <p:strVal val="visible"/>
                                      </p:to>
                                    </p:set>
                                    <p:anim calcmode="lin" valueType="num">
                                      <p:cBhvr additive="base">
                                        <p:cTn id="7" dur="500" fill="hold"/>
                                        <p:tgtEl>
                                          <p:spTgt spid="109570"/>
                                        </p:tgtEl>
                                        <p:attrNameLst>
                                          <p:attrName>ppt_x</p:attrName>
                                        </p:attrNameLst>
                                      </p:cBhvr>
                                      <p:tavLst>
                                        <p:tav tm="0">
                                          <p:val>
                                            <p:strVal val="#ppt_x"/>
                                          </p:val>
                                        </p:tav>
                                        <p:tav tm="100000">
                                          <p:val>
                                            <p:strVal val="#ppt_x"/>
                                          </p:val>
                                        </p:tav>
                                      </p:tavLst>
                                    </p:anim>
                                    <p:anim calcmode="lin" valueType="num">
                                      <p:cBhvr additive="base">
                                        <p:cTn id="8" dur="500" fill="hold"/>
                                        <p:tgtEl>
                                          <p:spTgt spid="1095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a:extLst>
              <a:ext uri="{FF2B5EF4-FFF2-40B4-BE49-F238E27FC236}">
                <a16:creationId xmlns:a16="http://schemas.microsoft.com/office/drawing/2014/main" id="{94F77BBE-6814-109A-BC0A-168EA87C66F8}"/>
              </a:ext>
            </a:extLst>
          </p:cNvPr>
          <p:cNvSpPr txBox="1">
            <a:spLocks noChangeArrowheads="1"/>
          </p:cNvSpPr>
          <p:nvPr/>
        </p:nvSpPr>
        <p:spPr bwMode="auto">
          <a:xfrm>
            <a:off x="463418" y="440135"/>
            <a:ext cx="8528826" cy="3031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sz="3286" b="1"/>
              <a:t>4.2.2  </a:t>
            </a:r>
            <a:r>
              <a:rPr lang="zh-CN" altLang="en-US" sz="3286" b="1"/>
              <a:t>种群统计学</a:t>
            </a:r>
            <a:endParaRPr lang="zh-CN" altLang="en-US" sz="3286"/>
          </a:p>
          <a:p>
            <a:pPr eaLnBrk="1" hangingPunct="1">
              <a:spcBef>
                <a:spcPct val="50000"/>
              </a:spcBef>
            </a:pPr>
            <a:r>
              <a:rPr lang="en-US" altLang="zh-CN" sz="2875" b="1"/>
              <a:t>(</a:t>
            </a:r>
            <a:r>
              <a:rPr lang="zh-CN" altLang="en-US" sz="2875" b="1"/>
              <a:t>一）种群的基本参数：</a:t>
            </a:r>
            <a:r>
              <a:rPr lang="en-US" altLang="zh-CN" sz="2875"/>
              <a:t>1 </a:t>
            </a:r>
            <a:r>
              <a:rPr lang="zh-CN" altLang="en-US" sz="2875" b="1"/>
              <a:t>种群密度</a:t>
            </a:r>
            <a:r>
              <a:rPr lang="zh-CN" altLang="en-US" sz="2875"/>
              <a:t>，是种群的最基本特征； </a:t>
            </a:r>
            <a:r>
              <a:rPr lang="en-US" altLang="zh-CN" sz="2875"/>
              <a:t>2 </a:t>
            </a:r>
            <a:r>
              <a:rPr lang="zh-CN" altLang="en-US" sz="2875" b="1"/>
              <a:t>初级种群参数</a:t>
            </a:r>
            <a:r>
              <a:rPr lang="zh-CN" altLang="en-US" sz="2875"/>
              <a:t>，包括</a:t>
            </a:r>
            <a:r>
              <a:rPr lang="zh-CN" altLang="en-US" sz="2875" b="1"/>
              <a:t>出生率</a:t>
            </a:r>
            <a:r>
              <a:rPr lang="zh-CN" altLang="en-US" sz="2875"/>
              <a:t>（</a:t>
            </a:r>
            <a:r>
              <a:rPr lang="en-US" altLang="zh-CN" sz="2875"/>
              <a:t>natality</a:t>
            </a:r>
            <a:r>
              <a:rPr lang="zh-CN" altLang="en-US" sz="2875"/>
              <a:t>）</a:t>
            </a:r>
            <a:r>
              <a:rPr lang="zh-CN" altLang="en-US" sz="2875" b="1"/>
              <a:t>、死亡率</a:t>
            </a:r>
            <a:r>
              <a:rPr lang="en-US" altLang="zh-CN" sz="2875"/>
              <a:t>(mortality)</a:t>
            </a:r>
            <a:r>
              <a:rPr lang="zh-CN" altLang="en-US" sz="2875" b="1"/>
              <a:t>、迁入和迁出</a:t>
            </a:r>
            <a:r>
              <a:rPr lang="zh-CN" altLang="en-US" sz="2875"/>
              <a:t>，这些参数与种群的密度变化密切相关。 </a:t>
            </a:r>
            <a:r>
              <a:rPr lang="en-US" altLang="zh-CN" sz="2875"/>
              <a:t>3 </a:t>
            </a:r>
            <a:r>
              <a:rPr lang="zh-CN" altLang="en-US" sz="2875" b="1">
                <a:hlinkClick r:id="rId2" action="ppaction://hlinksldjump"/>
              </a:rPr>
              <a:t>次级种群特征</a:t>
            </a:r>
            <a:r>
              <a:rPr lang="zh-CN" altLang="en-US" sz="2875" b="1"/>
              <a:t>，如年龄结构、性比、种群增长率、分布型等等。</a:t>
            </a:r>
          </a:p>
        </p:txBody>
      </p:sp>
      <p:sp>
        <p:nvSpPr>
          <p:cNvPr id="14339" name="Text Box 3">
            <a:extLst>
              <a:ext uri="{FF2B5EF4-FFF2-40B4-BE49-F238E27FC236}">
                <a16:creationId xmlns:a16="http://schemas.microsoft.com/office/drawing/2014/main" id="{3D061CEF-BF3F-0E1E-C606-D1723444E17D}"/>
              </a:ext>
            </a:extLst>
          </p:cNvPr>
          <p:cNvSpPr txBox="1">
            <a:spLocks noChangeArrowheads="1"/>
          </p:cNvSpPr>
          <p:nvPr/>
        </p:nvSpPr>
        <p:spPr bwMode="auto">
          <a:xfrm>
            <a:off x="3471003" y="4548055"/>
            <a:ext cx="1877907" cy="549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75" dirty="0"/>
              <a:t>种群数量</a:t>
            </a:r>
          </a:p>
        </p:txBody>
      </p:sp>
      <p:grpSp>
        <p:nvGrpSpPr>
          <p:cNvPr id="14340" name="Group 12">
            <a:extLst>
              <a:ext uri="{FF2B5EF4-FFF2-40B4-BE49-F238E27FC236}">
                <a16:creationId xmlns:a16="http://schemas.microsoft.com/office/drawing/2014/main" id="{70DCA50D-4450-A6E6-1EE1-BEEE25D2FEE6}"/>
              </a:ext>
            </a:extLst>
          </p:cNvPr>
          <p:cNvGrpSpPr>
            <a:grpSpLocks/>
          </p:cNvGrpSpPr>
          <p:nvPr/>
        </p:nvGrpSpPr>
        <p:grpSpPr bwMode="auto">
          <a:xfrm>
            <a:off x="1123620" y="3521075"/>
            <a:ext cx="6693303" cy="2529958"/>
            <a:chOff x="340" y="2523"/>
            <a:chExt cx="4106" cy="1552"/>
          </a:xfrm>
        </p:grpSpPr>
        <p:sp>
          <p:nvSpPr>
            <p:cNvPr id="14341" name="Text Box 4">
              <a:extLst>
                <a:ext uri="{FF2B5EF4-FFF2-40B4-BE49-F238E27FC236}">
                  <a16:creationId xmlns:a16="http://schemas.microsoft.com/office/drawing/2014/main" id="{9F57DA9A-7C45-679E-AA58-12C6B3B67AD8}"/>
                </a:ext>
              </a:extLst>
            </p:cNvPr>
            <p:cNvSpPr txBox="1">
              <a:spLocks noChangeArrowheads="1"/>
            </p:cNvSpPr>
            <p:nvPr/>
          </p:nvSpPr>
          <p:spPr bwMode="auto">
            <a:xfrm>
              <a:off x="340" y="3113"/>
              <a:ext cx="960"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75"/>
                <a:t>出生率</a:t>
              </a:r>
            </a:p>
          </p:txBody>
        </p:sp>
        <p:sp>
          <p:nvSpPr>
            <p:cNvPr id="14342" name="Text Box 5">
              <a:extLst>
                <a:ext uri="{FF2B5EF4-FFF2-40B4-BE49-F238E27FC236}">
                  <a16:creationId xmlns:a16="http://schemas.microsoft.com/office/drawing/2014/main" id="{EEA9630A-B48C-192F-2E14-4BA6C2959B4E}"/>
                </a:ext>
              </a:extLst>
            </p:cNvPr>
            <p:cNvSpPr txBox="1">
              <a:spLocks noChangeArrowheads="1"/>
            </p:cNvSpPr>
            <p:nvPr/>
          </p:nvSpPr>
          <p:spPr bwMode="auto">
            <a:xfrm>
              <a:off x="2185" y="3738"/>
              <a:ext cx="1104"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75"/>
                <a:t>迁出</a:t>
              </a:r>
            </a:p>
          </p:txBody>
        </p:sp>
        <p:sp>
          <p:nvSpPr>
            <p:cNvPr id="14343" name="Text Box 6">
              <a:extLst>
                <a:ext uri="{FF2B5EF4-FFF2-40B4-BE49-F238E27FC236}">
                  <a16:creationId xmlns:a16="http://schemas.microsoft.com/office/drawing/2014/main" id="{B782E590-314C-4E84-529F-16C49750A6E4}"/>
                </a:ext>
              </a:extLst>
            </p:cNvPr>
            <p:cNvSpPr txBox="1">
              <a:spLocks noChangeArrowheads="1"/>
            </p:cNvSpPr>
            <p:nvPr/>
          </p:nvSpPr>
          <p:spPr bwMode="auto">
            <a:xfrm>
              <a:off x="2200" y="2523"/>
              <a:ext cx="960"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75"/>
                <a:t>迁入</a:t>
              </a:r>
            </a:p>
          </p:txBody>
        </p:sp>
        <p:sp>
          <p:nvSpPr>
            <p:cNvPr id="14344" name="Text Box 7">
              <a:extLst>
                <a:ext uri="{FF2B5EF4-FFF2-40B4-BE49-F238E27FC236}">
                  <a16:creationId xmlns:a16="http://schemas.microsoft.com/office/drawing/2014/main" id="{144D0876-BBE2-658B-EF72-C3564866FD48}"/>
                </a:ext>
              </a:extLst>
            </p:cNvPr>
            <p:cNvSpPr txBox="1">
              <a:spLocks noChangeArrowheads="1"/>
            </p:cNvSpPr>
            <p:nvPr/>
          </p:nvSpPr>
          <p:spPr bwMode="auto">
            <a:xfrm>
              <a:off x="3198" y="3113"/>
              <a:ext cx="124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75"/>
                <a:t>死亡率</a:t>
              </a:r>
            </a:p>
          </p:txBody>
        </p:sp>
        <p:sp>
          <p:nvSpPr>
            <p:cNvPr id="14345" name="Line 8">
              <a:extLst>
                <a:ext uri="{FF2B5EF4-FFF2-40B4-BE49-F238E27FC236}">
                  <a16:creationId xmlns:a16="http://schemas.microsoft.com/office/drawing/2014/main" id="{A61F3DBB-C529-2B3B-5EAB-9DAB3C310D2A}"/>
                </a:ext>
              </a:extLst>
            </p:cNvPr>
            <p:cNvSpPr>
              <a:spLocks noChangeShapeType="1"/>
            </p:cNvSpPr>
            <p:nvPr/>
          </p:nvSpPr>
          <p:spPr bwMode="auto">
            <a:xfrm>
              <a:off x="2789" y="3294"/>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46" name="Line 9">
              <a:extLst>
                <a:ext uri="{FF2B5EF4-FFF2-40B4-BE49-F238E27FC236}">
                  <a16:creationId xmlns:a16="http://schemas.microsoft.com/office/drawing/2014/main" id="{AEE849E1-F8B0-77A4-BD75-489870E5167D}"/>
                </a:ext>
              </a:extLst>
            </p:cNvPr>
            <p:cNvSpPr>
              <a:spLocks noChangeShapeType="1"/>
            </p:cNvSpPr>
            <p:nvPr/>
          </p:nvSpPr>
          <p:spPr bwMode="auto">
            <a:xfrm>
              <a:off x="1338" y="3294"/>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47" name="Line 10">
              <a:extLst>
                <a:ext uri="{FF2B5EF4-FFF2-40B4-BE49-F238E27FC236}">
                  <a16:creationId xmlns:a16="http://schemas.microsoft.com/office/drawing/2014/main" id="{13EF5F83-F51C-0A20-35AB-4ADCFC1A1309}"/>
                </a:ext>
              </a:extLst>
            </p:cNvPr>
            <p:cNvSpPr>
              <a:spLocks noChangeShapeType="1"/>
            </p:cNvSpPr>
            <p:nvPr/>
          </p:nvSpPr>
          <p:spPr bwMode="auto">
            <a:xfrm>
              <a:off x="2426" y="2886"/>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48" name="Line 11">
              <a:extLst>
                <a:ext uri="{FF2B5EF4-FFF2-40B4-BE49-F238E27FC236}">
                  <a16:creationId xmlns:a16="http://schemas.microsoft.com/office/drawing/2014/main" id="{DCA47B80-0F32-D322-EF54-5F21F9C2AFB7}"/>
                </a:ext>
              </a:extLst>
            </p:cNvPr>
            <p:cNvSpPr>
              <a:spLocks noChangeShapeType="1"/>
            </p:cNvSpPr>
            <p:nvPr/>
          </p:nvSpPr>
          <p:spPr bwMode="auto">
            <a:xfrm>
              <a:off x="2426" y="3430"/>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 name="Text Box 4">
            <a:extLst>
              <a:ext uri="{FF2B5EF4-FFF2-40B4-BE49-F238E27FC236}">
                <a16:creationId xmlns:a16="http://schemas.microsoft.com/office/drawing/2014/main" id="{05E4E92D-C617-9BD5-E0F8-D330DD751665}"/>
              </a:ext>
            </a:extLst>
          </p:cNvPr>
          <p:cNvSpPr txBox="1">
            <a:spLocks noChangeArrowheads="1"/>
          </p:cNvSpPr>
          <p:nvPr/>
        </p:nvSpPr>
        <p:spPr bwMode="auto">
          <a:xfrm>
            <a:off x="374650" y="5911281"/>
            <a:ext cx="8799427" cy="977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75" b="1" dirty="0"/>
              <a:t>影响出生率的因素：性成熟速度、繁殖力、繁殖次数、胚胎期、孵化期、繁殖年龄长短等。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a:extLst>
              <a:ext uri="{FF2B5EF4-FFF2-40B4-BE49-F238E27FC236}">
                <a16:creationId xmlns:a16="http://schemas.microsoft.com/office/drawing/2014/main" id="{BB52EF62-9536-D1C3-C59D-1F9CFB09ECE5}"/>
              </a:ext>
            </a:extLst>
          </p:cNvPr>
          <p:cNvSpPr txBox="1">
            <a:spLocks noChangeArrowheads="1"/>
          </p:cNvSpPr>
          <p:nvPr/>
        </p:nvSpPr>
        <p:spPr bwMode="auto">
          <a:xfrm>
            <a:off x="316706" y="293423"/>
            <a:ext cx="8763564" cy="1133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sz="2875" b="1"/>
              <a:t>(</a:t>
            </a:r>
            <a:r>
              <a:rPr lang="zh-CN" altLang="en-US" sz="2875" b="1"/>
              <a:t>二</a:t>
            </a:r>
            <a:r>
              <a:rPr lang="en-US" altLang="zh-CN" sz="2875" b="1"/>
              <a:t>) </a:t>
            </a:r>
            <a:r>
              <a:rPr lang="en-US" altLang="zh-CN" sz="2875"/>
              <a:t> </a:t>
            </a:r>
            <a:r>
              <a:rPr lang="zh-CN" altLang="en-US" sz="2875" b="1"/>
              <a:t>年龄、时期结构和性比</a:t>
            </a:r>
            <a:r>
              <a:rPr lang="zh-CN" altLang="en-US" sz="2465" b="1"/>
              <a:t>   </a:t>
            </a:r>
          </a:p>
          <a:p>
            <a:pPr eaLnBrk="1" hangingPunct="1">
              <a:spcBef>
                <a:spcPct val="50000"/>
              </a:spcBef>
            </a:pPr>
            <a:endParaRPr lang="en-US" altLang="zh-CN" sz="2465"/>
          </a:p>
        </p:txBody>
      </p:sp>
      <p:pic>
        <p:nvPicPr>
          <p:cNvPr id="31747" name="Picture 3" descr="11 副本">
            <a:extLst>
              <a:ext uri="{FF2B5EF4-FFF2-40B4-BE49-F238E27FC236}">
                <a16:creationId xmlns:a16="http://schemas.microsoft.com/office/drawing/2014/main" id="{8A7D79D6-DA18-BE4B-33F4-CCC6544E4F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6909" y="4621412"/>
            <a:ext cx="7188861" cy="2194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矩形 6">
            <a:extLst>
              <a:ext uri="{FF2B5EF4-FFF2-40B4-BE49-F238E27FC236}">
                <a16:creationId xmlns:a16="http://schemas.microsoft.com/office/drawing/2014/main" id="{B1EAA7D8-5492-2CFA-1C0C-574C43C68435}"/>
              </a:ext>
            </a:extLst>
          </p:cNvPr>
          <p:cNvSpPr>
            <a:spLocks noChangeArrowheads="1"/>
          </p:cNvSpPr>
          <p:nvPr/>
        </p:nvSpPr>
        <p:spPr bwMode="auto">
          <a:xfrm>
            <a:off x="756841" y="1980606"/>
            <a:ext cx="7628996" cy="2431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2465" b="1"/>
              <a:t>年龄锥体：以不同宽度的横柱从下到上配置而成的图，横柱的高低位置表示从幼年到老年的不同年龄组，宽度表示各年龄组的个体数或在种群中所占的百分比。</a:t>
            </a:r>
            <a:r>
              <a:rPr lang="zh-CN" altLang="en-US" sz="2465"/>
              <a:t> </a:t>
            </a:r>
            <a:r>
              <a:rPr lang="en-US" altLang="zh-CN" sz="2465"/>
              <a:t>(1) </a:t>
            </a:r>
            <a:r>
              <a:rPr lang="zh-CN" altLang="en-US" sz="2465"/>
              <a:t>典型金字塔型锥体（图</a:t>
            </a:r>
            <a:r>
              <a:rPr lang="en-US" altLang="zh-CN" sz="2465"/>
              <a:t>4-2a</a:t>
            </a:r>
            <a:r>
              <a:rPr lang="zh-CN" altLang="en-US" sz="2465"/>
              <a:t>），</a:t>
            </a:r>
            <a:r>
              <a:rPr lang="zh-CN" altLang="en-US" sz="2465" b="1"/>
              <a:t> </a:t>
            </a:r>
            <a:r>
              <a:rPr lang="zh-CN" altLang="en-US" sz="2465"/>
              <a:t>基部宽，顶部狭。代表增长型种群</a:t>
            </a:r>
            <a:r>
              <a:rPr lang="en-US" altLang="zh-CN" sz="2465"/>
              <a:t>(2) </a:t>
            </a:r>
            <a:r>
              <a:rPr lang="zh-CN" altLang="en-US" sz="2465"/>
              <a:t>钟型锥体：代表稳定型种群。 </a:t>
            </a:r>
            <a:r>
              <a:rPr lang="en-US" altLang="zh-CN" sz="2465"/>
              <a:t>(3) </a:t>
            </a:r>
            <a:r>
              <a:rPr lang="zh-CN" altLang="en-US" sz="2465"/>
              <a:t>壶型锥体（图</a:t>
            </a:r>
            <a:r>
              <a:rPr lang="en-US" altLang="zh-CN" sz="2465"/>
              <a:t>4-2c</a:t>
            </a:r>
            <a:r>
              <a:rPr lang="zh-CN" altLang="en-US" sz="2465"/>
              <a:t>）：代表下降型种群。</a:t>
            </a:r>
          </a:p>
        </p:txBody>
      </p:sp>
      <p:sp>
        <p:nvSpPr>
          <p:cNvPr id="17413" name="TextBox 7">
            <a:extLst>
              <a:ext uri="{FF2B5EF4-FFF2-40B4-BE49-F238E27FC236}">
                <a16:creationId xmlns:a16="http://schemas.microsoft.com/office/drawing/2014/main" id="{9C81FBA5-D319-5B4B-6A49-610BCD4872EA}"/>
              </a:ext>
            </a:extLst>
          </p:cNvPr>
          <p:cNvSpPr txBox="1">
            <a:spLocks noChangeArrowheads="1"/>
          </p:cNvSpPr>
          <p:nvPr/>
        </p:nvSpPr>
        <p:spPr bwMode="auto">
          <a:xfrm>
            <a:off x="463418" y="953625"/>
            <a:ext cx="8069130" cy="1263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65" b="1"/>
              <a:t>年龄结构（时期结构）：种群内年龄群（龄期）对整个种群的比率。</a:t>
            </a:r>
          </a:p>
          <a:p>
            <a:pPr eaLnBrk="1" hangingPunct="1"/>
            <a:endParaRPr lang="zh-CN" altLang="en-US" sz="2465"/>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blinds(horizontal)">
                                      <p:cBhvr>
                                        <p:cTn id="7" dur="500"/>
                                        <p:tgtEl>
                                          <p:spTgt spid="317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xit" presetSubtype="4" fill="hold" grpId="1" nodeType="clickEffect">
                                  <p:stCondLst>
                                    <p:cond delay="0"/>
                                  </p:stCondLst>
                                  <p:childTnLst>
                                    <p:anim calcmode="lin" valueType="num">
                                      <p:cBhvr additive="base">
                                        <p:cTn id="11" dur="500"/>
                                        <p:tgtEl>
                                          <p:spTgt spid="31746"/>
                                        </p:tgtEl>
                                        <p:attrNameLst>
                                          <p:attrName>ppt_x</p:attrName>
                                        </p:attrNameLst>
                                      </p:cBhvr>
                                      <p:tavLst>
                                        <p:tav tm="0">
                                          <p:val>
                                            <p:strVal val="ppt_x"/>
                                          </p:val>
                                        </p:tav>
                                        <p:tav tm="100000">
                                          <p:val>
                                            <p:strVal val="ppt_x"/>
                                          </p:val>
                                        </p:tav>
                                      </p:tavLst>
                                    </p:anim>
                                    <p:anim calcmode="lin" valueType="num">
                                      <p:cBhvr additive="base">
                                        <p:cTn id="12" dur="500"/>
                                        <p:tgtEl>
                                          <p:spTgt spid="31746"/>
                                        </p:tgtEl>
                                        <p:attrNameLst>
                                          <p:attrName>ppt_y</p:attrName>
                                        </p:attrNameLst>
                                      </p:cBhvr>
                                      <p:tavLst>
                                        <p:tav tm="0">
                                          <p:val>
                                            <p:strVal val="ppt_y"/>
                                          </p:val>
                                        </p:tav>
                                        <p:tav tm="100000">
                                          <p:val>
                                            <p:strVal val="1+ppt_h/2"/>
                                          </p:val>
                                        </p:tav>
                                      </p:tavLst>
                                    </p:anim>
                                    <p:set>
                                      <p:cBhvr>
                                        <p:cTn id="13" dur="1" fill="hold">
                                          <p:stCondLst>
                                            <p:cond delay="499"/>
                                          </p:stCondLst>
                                        </p:cTn>
                                        <p:tgtEl>
                                          <p:spTgt spid="31746"/>
                                        </p:tgtEl>
                                        <p:attrNameLst>
                                          <p:attrName>style.visibility</p:attrName>
                                        </p:attrNameLst>
                                      </p:cBhvr>
                                      <p:to>
                                        <p:strVal val="hidden"/>
                                      </p:to>
                                    </p:set>
                                  </p:childTnLst>
                                </p:cTn>
                              </p:par>
                              <p:par>
                                <p:cTn id="14" presetID="3" presetClass="entr" presetSubtype="10" fill="hold" nodeType="withEffect">
                                  <p:stCondLst>
                                    <p:cond delay="0"/>
                                  </p:stCondLst>
                                  <p:childTnLst>
                                    <p:set>
                                      <p:cBhvr>
                                        <p:cTn id="15" dur="1" fill="hold">
                                          <p:stCondLst>
                                            <p:cond delay="0"/>
                                          </p:stCondLst>
                                        </p:cTn>
                                        <p:tgtEl>
                                          <p:spTgt spid="31747"/>
                                        </p:tgtEl>
                                        <p:attrNameLst>
                                          <p:attrName>style.visibility</p:attrName>
                                        </p:attrNameLst>
                                      </p:cBhvr>
                                      <p:to>
                                        <p:strVal val="visible"/>
                                      </p:to>
                                    </p:set>
                                    <p:animEffect transition="in" filter="blinds(horizontal)">
                                      <p:cBhvr>
                                        <p:cTn id="16" dur="500"/>
                                        <p:tgtEl>
                                          <p:spTgt spid="31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31746"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9463D183-E9C4-5527-C6A2-23E7F446BDF3}"/>
              </a:ext>
            </a:extLst>
          </p:cNvPr>
          <p:cNvSpPr txBox="1">
            <a:spLocks noChangeArrowheads="1"/>
          </p:cNvSpPr>
          <p:nvPr/>
        </p:nvSpPr>
        <p:spPr bwMode="auto">
          <a:xfrm>
            <a:off x="610130" y="513490"/>
            <a:ext cx="8069130" cy="3727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3286" b="1" dirty="0"/>
              <a:t>性比</a:t>
            </a:r>
            <a:r>
              <a:rPr lang="zh-CN" altLang="en-US" sz="3286" dirty="0"/>
              <a:t>（</a:t>
            </a:r>
            <a:r>
              <a:rPr lang="en-US" altLang="zh-CN" sz="3286" dirty="0"/>
              <a:t>sex ratio</a:t>
            </a:r>
            <a:r>
              <a:rPr lang="zh-CN" altLang="en-US" sz="3286" dirty="0"/>
              <a:t>）：</a:t>
            </a:r>
            <a:r>
              <a:rPr lang="zh-CN" altLang="en-US" sz="3286" b="1" dirty="0"/>
              <a:t>种群中雌雄个体的比例</a:t>
            </a:r>
          </a:p>
          <a:p>
            <a:pPr algn="just" eaLnBrk="1" hangingPunct="1">
              <a:spcBef>
                <a:spcPct val="50000"/>
              </a:spcBef>
            </a:pPr>
            <a:r>
              <a:rPr lang="zh-CN" altLang="en-US" sz="2465" dirty="0"/>
              <a:t>     大多数动物种群的性比接近</a:t>
            </a:r>
            <a:r>
              <a:rPr lang="en-US" altLang="zh-CN" sz="2465" dirty="0"/>
              <a:t>1:1</a:t>
            </a:r>
            <a:r>
              <a:rPr lang="zh-CN" altLang="en-US" sz="2465" dirty="0"/>
              <a:t>。有些种群以具有生殖能力的雌性个体为主，如轮虫、枝角类等 可进行孤雌生殖的动物种群。 还有一种情况是雄多于雌，常见于营社会生活的昆虫种群。同一种群中性比有可能随环境条件的改变而变化。另外有些动物有性转变的特点，如黄鳝，幼年都是雌性，繁殖后多数转为雄性。</a:t>
            </a:r>
          </a:p>
          <a:p>
            <a:pPr eaLnBrk="1" hangingPunct="1">
              <a:spcBef>
                <a:spcPct val="50000"/>
              </a:spcBef>
            </a:pPr>
            <a:endParaRPr lang="en-US" altLang="zh-CN" sz="2875" dirty="0"/>
          </a:p>
        </p:txBody>
      </p:sp>
      <p:pic>
        <p:nvPicPr>
          <p:cNvPr id="20483" name="Picture 7" descr="u=4274935610,963378052&amp;fm=23&amp;gp=0">
            <a:extLst>
              <a:ext uri="{FF2B5EF4-FFF2-40B4-BE49-F238E27FC236}">
                <a16:creationId xmlns:a16="http://schemas.microsoft.com/office/drawing/2014/main" id="{00B41C2C-AF2F-3C76-9F68-DCF9C96EC2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6123" y="4107921"/>
            <a:ext cx="3423267" cy="2562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Text Box 8">
            <a:extLst>
              <a:ext uri="{FF2B5EF4-FFF2-40B4-BE49-F238E27FC236}">
                <a16:creationId xmlns:a16="http://schemas.microsoft.com/office/drawing/2014/main" id="{AB73CDC6-24BA-C6E2-B2F1-6207181104F2}"/>
              </a:ext>
            </a:extLst>
          </p:cNvPr>
          <p:cNvSpPr txBox="1">
            <a:spLocks noChangeArrowheads="1"/>
          </p:cNvSpPr>
          <p:nvPr/>
        </p:nvSpPr>
        <p:spPr bwMode="auto">
          <a:xfrm>
            <a:off x="3406613" y="5575035"/>
            <a:ext cx="2476163" cy="322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438" dirty="0"/>
              <a:t>引自</a:t>
            </a:r>
            <a:r>
              <a:rPr lang="en-US" altLang="zh-CN" sz="1438" dirty="0"/>
              <a:t>http://</a:t>
            </a:r>
            <a:r>
              <a:rPr lang="en-US" altLang="zh-CN" sz="1438" dirty="0" err="1"/>
              <a:t>baike.baidu.com</a:t>
            </a:r>
            <a:endParaRPr lang="en-US" altLang="zh-CN" sz="1438" dirty="0"/>
          </a:p>
        </p:txBody>
      </p:sp>
      <p:sp>
        <p:nvSpPr>
          <p:cNvPr id="3" name="Rectangle 3">
            <a:extLst>
              <a:ext uri="{FF2B5EF4-FFF2-40B4-BE49-F238E27FC236}">
                <a16:creationId xmlns:a16="http://schemas.microsoft.com/office/drawing/2014/main" id="{1F8E0282-705F-2B0B-B2E6-634FCEF566EF}"/>
              </a:ext>
            </a:extLst>
          </p:cNvPr>
          <p:cNvSpPr txBox="1">
            <a:spLocks/>
          </p:cNvSpPr>
          <p:nvPr/>
        </p:nvSpPr>
        <p:spPr>
          <a:xfrm>
            <a:off x="375390" y="3521075"/>
            <a:ext cx="8450580" cy="2654573"/>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zh-CN" altLang="en-US" sz="2875" b="1" dirty="0">
                <a:latin typeface="黑体" panose="02010609060101010101" pitchFamily="49" charset="-122"/>
                <a:ea typeface="宋体" panose="02010600030101010101" pitchFamily="2" charset="-122"/>
              </a:rPr>
              <a:t>第一性比：受精卵时期的性比，♂</a:t>
            </a:r>
            <a:r>
              <a:rPr lang="en-US" altLang="zh-CN" sz="2875" b="1" dirty="0">
                <a:latin typeface="黑体" panose="02010609060101010101" pitchFamily="49" charset="-122"/>
                <a:ea typeface="宋体" panose="02010600030101010101" pitchFamily="2" charset="-122"/>
              </a:rPr>
              <a:t>/♀</a:t>
            </a:r>
            <a:r>
              <a:rPr lang="zh-CN" altLang="en-US" sz="2875" b="1" dirty="0">
                <a:latin typeface="黑体" panose="02010609060101010101" pitchFamily="49" charset="-122"/>
                <a:ea typeface="宋体" panose="02010600030101010101" pitchFamily="2" charset="-122"/>
              </a:rPr>
              <a:t>大致为</a:t>
            </a:r>
            <a:r>
              <a:rPr lang="en-US" altLang="zh-CN" sz="2875" b="1" dirty="0">
                <a:latin typeface="黑体" panose="02010609060101010101" pitchFamily="49" charset="-122"/>
                <a:ea typeface="宋体" panose="02010600030101010101" pitchFamily="2" charset="-122"/>
              </a:rPr>
              <a:t>50:50</a:t>
            </a:r>
            <a:r>
              <a:rPr lang="zh-CN" altLang="en-US" sz="2875" b="1" dirty="0">
                <a:latin typeface="黑体" panose="02010609060101010101" pitchFamily="49" charset="-122"/>
                <a:ea typeface="宋体" panose="02010600030101010101" pitchFamily="2" charset="-122"/>
              </a:rPr>
              <a:t>。</a:t>
            </a:r>
          </a:p>
          <a:p>
            <a:r>
              <a:rPr lang="zh-CN" altLang="en-US" sz="2875" b="1" dirty="0">
                <a:latin typeface="黑体" panose="02010609060101010101" pitchFamily="49" charset="-122"/>
                <a:ea typeface="宋体" panose="02010600030101010101" pitchFamily="2" charset="-122"/>
              </a:rPr>
              <a:t>第二性比：个体性成熟时的性比。</a:t>
            </a:r>
          </a:p>
          <a:p>
            <a:r>
              <a:rPr lang="zh-CN" altLang="en-US" sz="2875" b="1" dirty="0">
                <a:latin typeface="黑体" panose="02010609060101010101" pitchFamily="49" charset="-122"/>
                <a:ea typeface="宋体" panose="02010600030101010101" pitchFamily="2" charset="-122"/>
              </a:rPr>
              <a:t>第三性比：充分成熟的个体性比。</a:t>
            </a:r>
          </a:p>
          <a:p>
            <a:endParaRPr lang="zh-CN" altLang="en-US" sz="2875" b="1" dirty="0">
              <a:latin typeface="黑体" panose="02010609060101010101" pitchFamily="49" charset="-122"/>
              <a:ea typeface="宋体" panose="02010600030101010101" pitchFamily="2" charset="-122"/>
            </a:endParaRPr>
          </a:p>
          <a:p>
            <a:endParaRPr lang="zh-CN" altLang="en-US" sz="2875" dirty="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descr="年龄塔 副本">
            <a:extLst>
              <a:ext uri="{FF2B5EF4-FFF2-40B4-BE49-F238E27FC236}">
                <a16:creationId xmlns:a16="http://schemas.microsoft.com/office/drawing/2014/main" id="{5B54E19A-50B1-F313-605C-89787E3ED0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850" y="953626"/>
            <a:ext cx="7628996" cy="4376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Rectangle 4">
            <a:extLst>
              <a:ext uri="{FF2B5EF4-FFF2-40B4-BE49-F238E27FC236}">
                <a16:creationId xmlns:a16="http://schemas.microsoft.com/office/drawing/2014/main" id="{6F314F9A-9FEF-E0B3-786F-8C26083B7316}"/>
              </a:ext>
            </a:extLst>
          </p:cNvPr>
          <p:cNvSpPr>
            <a:spLocks noChangeArrowheads="1"/>
          </p:cNvSpPr>
          <p:nvPr/>
        </p:nvSpPr>
        <p:spPr bwMode="auto">
          <a:xfrm>
            <a:off x="1517650" y="5575036"/>
            <a:ext cx="6929672" cy="41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54" b="1"/>
              <a:t>        1982</a:t>
            </a:r>
            <a:r>
              <a:rPr lang="zh-CN" altLang="en-US" sz="2054" b="1"/>
              <a:t>年河北省人口年龄结构（仿孙儒泳等，</a:t>
            </a:r>
            <a:r>
              <a:rPr lang="en-US" altLang="zh-CN" sz="2054" b="1"/>
              <a:t>1993</a:t>
            </a:r>
            <a:r>
              <a:rPr lang="zh-CN" altLang="en-US" sz="2054" b="1"/>
              <a:t>）</a:t>
            </a:r>
            <a:r>
              <a:rPr lang="zh-CN" altLang="en-US" sz="1438"/>
              <a:t> </a:t>
            </a:r>
            <a:endParaRPr lang="zh-CN" altLang="en-US" sz="2465"/>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73" name="Picture 9">
            <a:extLst>
              <a:ext uri="{FF2B5EF4-FFF2-40B4-BE49-F238E27FC236}">
                <a16:creationId xmlns:a16="http://schemas.microsoft.com/office/drawing/2014/main" id="{677FE3DF-9575-575B-B9C2-F29B35E59A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760" y="312985"/>
            <a:ext cx="8528826" cy="59825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1" name="Rectangle 3">
            <a:extLst>
              <a:ext uri="{FF2B5EF4-FFF2-40B4-BE49-F238E27FC236}">
                <a16:creationId xmlns:a16="http://schemas.microsoft.com/office/drawing/2014/main" id="{0A7FC370-9AC7-D3D6-4BDD-C21A6F21E0B0}"/>
              </a:ext>
            </a:extLst>
          </p:cNvPr>
          <p:cNvSpPr>
            <a:spLocks noGrp="1"/>
          </p:cNvSpPr>
          <p:nvPr>
            <p:ph type="body" idx="1"/>
          </p:nvPr>
        </p:nvSpPr>
        <p:spPr>
          <a:xfrm>
            <a:off x="355829" y="1007419"/>
            <a:ext cx="8450580" cy="3634470"/>
          </a:xfrm>
        </p:spPr>
        <p:txBody>
          <a:bodyPr/>
          <a:lstStyle/>
          <a:p>
            <a:pPr eaLnBrk="1" hangingPunct="1"/>
            <a:r>
              <a:rPr lang="en-US" altLang="zh-CN" sz="2875" b="1" dirty="0">
                <a:latin typeface="黑体" panose="02010609060101010101" pitchFamily="49" charset="-122"/>
                <a:ea typeface="宋体" panose="02010600030101010101" pitchFamily="2" charset="-122"/>
              </a:rPr>
              <a:t>20.</a:t>
            </a:r>
            <a:r>
              <a:rPr lang="zh-CN" altLang="en-US" sz="2875" b="1" dirty="0">
                <a:latin typeface="黑体" panose="02010609060101010101" pitchFamily="49" charset="-122"/>
                <a:ea typeface="宋体" panose="02010600030101010101" pitchFamily="2" charset="-122"/>
              </a:rPr>
              <a:t>某动物种群的年龄结构组成图的基部比较狭窄而顶部较宽，下列哪个特征是错误的</a:t>
            </a:r>
          </a:p>
          <a:p>
            <a:pPr eaLnBrk="1" hangingPunct="1"/>
            <a:r>
              <a:rPr lang="en-US" altLang="zh-CN" sz="2875" b="1" dirty="0">
                <a:ea typeface="宋体" panose="02010600030101010101" pitchFamily="2" charset="-122"/>
              </a:rPr>
              <a:t>A.</a:t>
            </a:r>
            <a:r>
              <a:rPr lang="zh-CN" altLang="en-US" sz="2875" b="1" dirty="0">
                <a:ea typeface="宋体" panose="02010600030101010101" pitchFamily="2" charset="-122"/>
              </a:rPr>
              <a:t>这是一个下降型的种群    </a:t>
            </a:r>
          </a:p>
          <a:p>
            <a:pPr eaLnBrk="1" hangingPunct="1"/>
            <a:r>
              <a:rPr lang="en-US" altLang="zh-CN" sz="2875" b="1" dirty="0">
                <a:ea typeface="宋体" panose="02010600030101010101" pitchFamily="2" charset="-122"/>
              </a:rPr>
              <a:t>B.</a:t>
            </a:r>
            <a:r>
              <a:rPr lang="zh-CN" altLang="en-US" sz="2875" b="1" dirty="0">
                <a:ea typeface="宋体" panose="02010600030101010101" pitchFamily="2" charset="-122"/>
              </a:rPr>
              <a:t>幼体比例较大，而老年个体比例较小  </a:t>
            </a:r>
          </a:p>
          <a:p>
            <a:pPr eaLnBrk="1" hangingPunct="1"/>
            <a:r>
              <a:rPr lang="en-US" altLang="zh-CN" sz="2875" b="1" dirty="0">
                <a:ea typeface="宋体" panose="02010600030101010101" pitchFamily="2" charset="-122"/>
              </a:rPr>
              <a:t>C.</a:t>
            </a:r>
            <a:r>
              <a:rPr lang="zh-CN" altLang="en-US" sz="2875" b="1" dirty="0">
                <a:ea typeface="宋体" panose="02010600030101010101" pitchFamily="2" charset="-122"/>
              </a:rPr>
              <a:t>种群的死亡率较大        </a:t>
            </a:r>
          </a:p>
          <a:p>
            <a:pPr eaLnBrk="1" hangingPunct="1"/>
            <a:r>
              <a:rPr lang="en-US" altLang="zh-CN" sz="2875" b="1" dirty="0">
                <a:ea typeface="宋体" panose="02010600030101010101" pitchFamily="2" charset="-122"/>
              </a:rPr>
              <a:t>D.</a:t>
            </a:r>
            <a:r>
              <a:rPr lang="zh-CN" altLang="en-US" sz="2875" b="1" dirty="0">
                <a:ea typeface="宋体" panose="02010600030101010101" pitchFamily="2" charset="-122"/>
              </a:rPr>
              <a:t>种群的出生率较小</a:t>
            </a:r>
          </a:p>
          <a:p>
            <a:pPr eaLnBrk="1" hangingPunct="1"/>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2010</a:t>
            </a:r>
            <a:r>
              <a:rPr lang="zh-CN" altLang="en-US" sz="2875" b="1" dirty="0">
                <a:solidFill>
                  <a:srgbClr val="CC0000"/>
                </a:solidFill>
                <a:latin typeface="黑体" panose="02010609060101010101" pitchFamily="49" charset="-122"/>
                <a:ea typeface="宋体" panose="02010600030101010101" pitchFamily="2" charset="-122"/>
              </a:rPr>
              <a:t>年全国联赛试题）</a:t>
            </a:r>
          </a:p>
          <a:p>
            <a:endParaRPr lang="zh-CN" altLang="en-US" sz="2875" dirty="0">
              <a:solidFill>
                <a:srgbClr val="CC0000"/>
              </a:solidFill>
              <a:ea typeface="宋体" panose="02010600030101010101" pitchFamily="2" charset="-122"/>
            </a:endParaRPr>
          </a:p>
        </p:txBody>
      </p:sp>
      <p:sp>
        <p:nvSpPr>
          <p:cNvPr id="2" name="文本框 1">
            <a:extLst>
              <a:ext uri="{FF2B5EF4-FFF2-40B4-BE49-F238E27FC236}">
                <a16:creationId xmlns:a16="http://schemas.microsoft.com/office/drawing/2014/main" id="{BAED3501-7AD8-156E-6A67-0EEB006300B0}"/>
              </a:ext>
            </a:extLst>
          </p:cNvPr>
          <p:cNvSpPr txBox="1"/>
          <p:nvPr/>
        </p:nvSpPr>
        <p:spPr>
          <a:xfrm>
            <a:off x="6013450" y="14636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B</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5" name="Rectangle 3">
            <a:extLst>
              <a:ext uri="{FF2B5EF4-FFF2-40B4-BE49-F238E27FC236}">
                <a16:creationId xmlns:a16="http://schemas.microsoft.com/office/drawing/2014/main" id="{7039A648-B18E-7489-BEB6-C3A69799D438}"/>
              </a:ext>
            </a:extLst>
          </p:cNvPr>
          <p:cNvSpPr>
            <a:spLocks noGrp="1"/>
          </p:cNvSpPr>
          <p:nvPr>
            <p:ph type="body" idx="1"/>
          </p:nvPr>
        </p:nvSpPr>
        <p:spPr>
          <a:xfrm>
            <a:off x="504171" y="1007419"/>
            <a:ext cx="8450580" cy="3918907"/>
          </a:xfrm>
        </p:spPr>
        <p:txBody>
          <a:bodyPr/>
          <a:lstStyle/>
          <a:p>
            <a:pPr eaLnBrk="1" hangingPunct="1"/>
            <a:r>
              <a:rPr lang="en-US" altLang="zh-CN" sz="2875" b="1" dirty="0">
                <a:latin typeface="黑体" panose="02010609060101010101" pitchFamily="49" charset="-122"/>
                <a:ea typeface="宋体" panose="02010600030101010101" pitchFamily="2" charset="-122"/>
              </a:rPr>
              <a:t>21.</a:t>
            </a:r>
            <a:r>
              <a:rPr lang="zh-CN" altLang="en-US" sz="2875" b="1" dirty="0">
                <a:latin typeface="黑体" panose="02010609060101010101" pitchFamily="49" charset="-122"/>
                <a:ea typeface="宋体" panose="02010600030101010101" pitchFamily="2" charset="-122"/>
              </a:rPr>
              <a:t>种群的年龄结构是指：</a:t>
            </a:r>
            <a:r>
              <a:rPr lang="zh-CN" altLang="zh-CN" sz="2875" b="1" dirty="0">
                <a:latin typeface="黑体" panose="02010609060101010101" pitchFamily="49" charset="-122"/>
                <a:ea typeface="宋体" panose="02010600030101010101" pitchFamily="2" charset="-122"/>
              </a:rPr>
              <a:t> </a:t>
            </a:r>
            <a:endParaRPr lang="en-US" altLang="zh-CN" sz="2875" b="1" dirty="0">
              <a:latin typeface="黑体" panose="02010609060101010101" pitchFamily="49" charset="-122"/>
            </a:endParaRPr>
          </a:p>
          <a:p>
            <a:pPr eaLnBrk="1" hangingPunct="1"/>
            <a:r>
              <a:rPr lang="en-US" altLang="zh-CN" sz="2875" b="1" dirty="0">
                <a:ea typeface="宋体" panose="02010600030101010101" pitchFamily="2" charset="-122"/>
              </a:rPr>
              <a:t> A</a:t>
            </a:r>
            <a:r>
              <a:rPr lang="zh-CN" altLang="en-US" sz="2875" b="1" dirty="0">
                <a:ea typeface="宋体" panose="02010600030101010101" pitchFamily="2" charset="-122"/>
              </a:rPr>
              <a:t>．某一特定年龄个体的数量</a:t>
            </a:r>
          </a:p>
          <a:p>
            <a:pPr eaLnBrk="1" hangingPunct="1"/>
            <a:r>
              <a:rPr lang="zh-CN" altLang="en-US" sz="2875" b="1" dirty="0">
                <a:ea typeface="宋体" panose="02010600030101010101" pitchFamily="2" charset="-122"/>
              </a:rPr>
              <a:t> </a:t>
            </a:r>
            <a:r>
              <a:rPr lang="en-US" altLang="zh-CN" sz="2875" b="1" dirty="0">
                <a:ea typeface="宋体" panose="02010600030101010101" pitchFamily="2" charset="-122"/>
              </a:rPr>
              <a:t>B</a:t>
            </a:r>
            <a:r>
              <a:rPr lang="zh-CN" altLang="en-US" sz="2875" b="1" dirty="0">
                <a:ea typeface="宋体" panose="02010600030101010101" pitchFamily="2" charset="-122"/>
              </a:rPr>
              <a:t>．种群中不同年龄个体所占的数量比例</a:t>
            </a:r>
          </a:p>
          <a:p>
            <a:pPr eaLnBrk="1" hangingPunct="1"/>
            <a:r>
              <a:rPr lang="zh-CN" altLang="en-US" sz="2875" b="1" dirty="0">
                <a:ea typeface="宋体" panose="02010600030101010101" pitchFamily="2" charset="-122"/>
              </a:rPr>
              <a:t> </a:t>
            </a:r>
            <a:r>
              <a:rPr lang="en-US" altLang="zh-CN" sz="2875" b="1" dirty="0">
                <a:ea typeface="宋体" panose="02010600030101010101" pitchFamily="2" charset="-122"/>
              </a:rPr>
              <a:t>C</a:t>
            </a:r>
            <a:r>
              <a:rPr lang="zh-CN" altLang="en-US" sz="2875" b="1" dirty="0">
                <a:ea typeface="宋体" panose="02010600030101010101" pitchFamily="2" charset="-122"/>
              </a:rPr>
              <a:t>．对种群中个体不同年龄阶段的划分</a:t>
            </a:r>
          </a:p>
          <a:p>
            <a:pPr eaLnBrk="1" hangingPunct="1"/>
            <a:r>
              <a:rPr lang="zh-CN" altLang="en-US" sz="2875" b="1" dirty="0">
                <a:ea typeface="宋体" panose="02010600030101010101" pitchFamily="2" charset="-122"/>
              </a:rPr>
              <a:t> </a:t>
            </a:r>
            <a:r>
              <a:rPr lang="en-US" altLang="zh-CN" sz="2875" b="1" dirty="0">
                <a:ea typeface="宋体" panose="02010600030101010101" pitchFamily="2" charset="-122"/>
              </a:rPr>
              <a:t>D</a:t>
            </a:r>
            <a:r>
              <a:rPr lang="zh-CN" altLang="en-US" sz="2875" b="1" dirty="0">
                <a:ea typeface="宋体" panose="02010600030101010101" pitchFamily="2" charset="-122"/>
              </a:rPr>
              <a:t>．种群中处于繁殖期个体的年龄占个体平均寿命的比例</a:t>
            </a:r>
          </a:p>
          <a:p>
            <a:pPr eaLnBrk="1" hangingPunct="1"/>
            <a:r>
              <a:rPr lang="zh-CN" altLang="en-US" sz="2875" b="1" dirty="0">
                <a:latin typeface="黑体" panose="02010609060101010101" pitchFamily="49" charset="-122"/>
                <a:ea typeface="宋体" panose="02010600030101010101" pitchFamily="2" charset="-122"/>
              </a:rPr>
              <a:t>　 </a:t>
            </a:r>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2011</a:t>
            </a:r>
            <a:r>
              <a:rPr lang="zh-CN" altLang="en-US" sz="2875" b="1" dirty="0">
                <a:solidFill>
                  <a:srgbClr val="CC0000"/>
                </a:solidFill>
                <a:latin typeface="黑体" panose="02010609060101010101" pitchFamily="49" charset="-122"/>
                <a:ea typeface="宋体" panose="02010600030101010101" pitchFamily="2" charset="-122"/>
              </a:rPr>
              <a:t>年全国联赛试题）</a:t>
            </a:r>
          </a:p>
          <a:p>
            <a:endParaRPr lang="zh-CN" altLang="en-US" sz="2875" b="1" dirty="0">
              <a:solidFill>
                <a:srgbClr val="CC0000"/>
              </a:solidFill>
              <a:ea typeface="宋体" panose="02010600030101010101" pitchFamily="2" charset="-122"/>
            </a:endParaRPr>
          </a:p>
          <a:p>
            <a:endParaRPr lang="zh-CN" altLang="en-US" b="1" dirty="0">
              <a:ea typeface="宋体" panose="02010600030101010101" pitchFamily="2" charset="-122"/>
            </a:endParaRPr>
          </a:p>
        </p:txBody>
      </p:sp>
      <p:sp>
        <p:nvSpPr>
          <p:cNvPr id="2" name="文本框 1">
            <a:extLst>
              <a:ext uri="{FF2B5EF4-FFF2-40B4-BE49-F238E27FC236}">
                <a16:creationId xmlns:a16="http://schemas.microsoft.com/office/drawing/2014/main" id="{C60AAEE6-5D52-D23B-65A7-5EB8572CD027}"/>
              </a:ext>
            </a:extLst>
          </p:cNvPr>
          <p:cNvSpPr txBox="1"/>
          <p:nvPr/>
        </p:nvSpPr>
        <p:spPr>
          <a:xfrm>
            <a:off x="4729461" y="1004244"/>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B</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9" name="Rectangle 3">
            <a:extLst>
              <a:ext uri="{FF2B5EF4-FFF2-40B4-BE49-F238E27FC236}">
                <a16:creationId xmlns:a16="http://schemas.microsoft.com/office/drawing/2014/main" id="{A150B704-3820-D93C-4212-D76D78E1A641}"/>
              </a:ext>
            </a:extLst>
          </p:cNvPr>
          <p:cNvSpPr>
            <a:spLocks noGrp="1"/>
          </p:cNvSpPr>
          <p:nvPr>
            <p:ph type="body" idx="1"/>
          </p:nvPr>
        </p:nvSpPr>
        <p:spPr>
          <a:xfrm>
            <a:off x="492760" y="932433"/>
            <a:ext cx="8450580" cy="5097345"/>
          </a:xfrm>
        </p:spPr>
        <p:txBody>
          <a:bodyPr/>
          <a:lstStyle/>
          <a:p>
            <a:pPr eaLnBrk="1" hangingPunct="1">
              <a:lnSpc>
                <a:spcPct val="80000"/>
              </a:lnSpc>
            </a:pPr>
            <a:r>
              <a:rPr lang="en-US" altLang="zh-CN" sz="2875" b="1" dirty="0">
                <a:latin typeface="黑体" panose="02010609060101010101" pitchFamily="49" charset="-122"/>
                <a:ea typeface="宋体" panose="02010600030101010101" pitchFamily="2" charset="-122"/>
              </a:rPr>
              <a:t>22.</a:t>
            </a:r>
            <a:r>
              <a:rPr lang="zh-CN" altLang="en-US" sz="2875" b="1" dirty="0">
                <a:latin typeface="黑体" panose="02010609060101010101" pitchFamily="49" charset="-122"/>
                <a:ea typeface="宋体" panose="02010600030101010101" pitchFamily="2" charset="-122"/>
              </a:rPr>
              <a:t>年龄金字塔是一种分析种群年龄结构的有用方法，下列说法中哪个是正确的？</a:t>
            </a:r>
          </a:p>
          <a:p>
            <a:pPr eaLnBrk="1" hangingPunct="1">
              <a:lnSpc>
                <a:spcPct val="80000"/>
              </a:lnSpc>
            </a:pPr>
            <a:br>
              <a:rPr lang="zh-CN" altLang="en-US" sz="2875" b="1" dirty="0">
                <a:latin typeface="黑体" panose="02010609060101010101" pitchFamily="49" charset="-122"/>
                <a:ea typeface="宋体" panose="02010600030101010101" pitchFamily="2" charset="-122"/>
              </a:rPr>
            </a:br>
            <a:r>
              <a:rPr lang="en-US" altLang="zh-CN" sz="2875" b="1" dirty="0">
                <a:ea typeface="宋体" panose="02010600030101010101" pitchFamily="2" charset="-122"/>
              </a:rPr>
              <a:t>A. </a:t>
            </a:r>
            <a:r>
              <a:rPr lang="zh-CN" altLang="en-US" sz="2875" b="1" dirty="0">
                <a:ea typeface="宋体" panose="02010600030101010101" pitchFamily="2" charset="-122"/>
              </a:rPr>
              <a:t>年龄金字塔由一系列横柱组成，横柱位置表示不同年龄组，横柱的高度表示该年龄组个体所占百分比</a:t>
            </a:r>
            <a:br>
              <a:rPr lang="zh-CN" altLang="en-US" sz="2875" b="1" dirty="0">
                <a:ea typeface="宋体" panose="02010600030101010101" pitchFamily="2" charset="-122"/>
              </a:rPr>
            </a:br>
            <a:r>
              <a:rPr lang="en-US" altLang="zh-CN" sz="2875" b="1" dirty="0">
                <a:ea typeface="宋体" panose="02010600030101010101" pitchFamily="2" charset="-122"/>
              </a:rPr>
              <a:t>B.</a:t>
            </a:r>
            <a:r>
              <a:rPr lang="zh-CN" altLang="en-US" sz="2875" b="1" dirty="0">
                <a:ea typeface="宋体" panose="02010600030101010101" pitchFamily="2" charset="-122"/>
              </a:rPr>
              <a:t>增长型年龄金字塔呈钟形，上下宽度大体一致</a:t>
            </a:r>
            <a:br>
              <a:rPr lang="zh-CN" altLang="en-US" sz="2875" b="1" dirty="0">
                <a:ea typeface="宋体" panose="02010600030101010101" pitchFamily="2" charset="-122"/>
              </a:rPr>
            </a:br>
            <a:r>
              <a:rPr lang="en-US" altLang="zh-CN" sz="2875" b="1" dirty="0">
                <a:ea typeface="宋体" panose="02010600030101010101" pitchFamily="2" charset="-122"/>
              </a:rPr>
              <a:t>C.</a:t>
            </a:r>
            <a:r>
              <a:rPr lang="zh-CN" altLang="en-US" sz="2875" b="1" dirty="0">
                <a:ea typeface="宋体" panose="02010600030101010101" pitchFamily="2" charset="-122"/>
              </a:rPr>
              <a:t>稳定型幼年个体与中老年数量大致相等，出生死亡率也大致平衡</a:t>
            </a:r>
            <a:br>
              <a:rPr lang="zh-CN" altLang="en-US" sz="2875" b="1" dirty="0">
                <a:ea typeface="宋体" panose="02010600030101010101" pitchFamily="2" charset="-122"/>
              </a:rPr>
            </a:br>
            <a:r>
              <a:rPr lang="en-US" altLang="zh-CN" sz="2875" b="1" dirty="0">
                <a:ea typeface="宋体" panose="02010600030101010101" pitchFamily="2" charset="-122"/>
              </a:rPr>
              <a:t>D.</a:t>
            </a:r>
            <a:r>
              <a:rPr lang="zh-CN" altLang="en-US" sz="2875" b="1" dirty="0">
                <a:ea typeface="宋体" panose="02010600030101010101" pitchFamily="2" charset="-122"/>
              </a:rPr>
              <a:t>下降型基部较宽阔顶部较狭窄</a:t>
            </a:r>
            <a:br>
              <a:rPr lang="zh-CN" altLang="en-US" sz="2875" b="1" dirty="0">
                <a:latin typeface="黑体" panose="02010609060101010101" pitchFamily="49" charset="-122"/>
                <a:ea typeface="宋体" panose="02010600030101010101" pitchFamily="2" charset="-122"/>
              </a:rPr>
            </a:br>
            <a:endParaRPr lang="zh-CN" altLang="en-US" sz="2875" b="1" dirty="0">
              <a:latin typeface="黑体" panose="02010609060101010101" pitchFamily="49" charset="-122"/>
              <a:ea typeface="宋体" panose="02010600030101010101" pitchFamily="2" charset="-122"/>
            </a:endParaRPr>
          </a:p>
          <a:p>
            <a:pPr eaLnBrk="1" hangingPunct="1">
              <a:lnSpc>
                <a:spcPct val="80000"/>
              </a:lnSpc>
              <a:buFont typeface="Arial" panose="020B0604020202020204" pitchFamily="34" charset="0"/>
              <a:buNone/>
            </a:pPr>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2014</a:t>
            </a:r>
            <a:r>
              <a:rPr lang="zh-CN" altLang="en-US" sz="2875" b="1" dirty="0">
                <a:solidFill>
                  <a:srgbClr val="CC0000"/>
                </a:solidFill>
                <a:latin typeface="黑体" panose="02010609060101010101" pitchFamily="49" charset="-122"/>
                <a:ea typeface="宋体" panose="02010600030101010101" pitchFamily="2" charset="-122"/>
              </a:rPr>
              <a:t>年全国联赛试题）</a:t>
            </a:r>
            <a:br>
              <a:rPr lang="zh-CN" altLang="en-US" sz="2875" b="1" dirty="0">
                <a:solidFill>
                  <a:srgbClr val="CC0000"/>
                </a:solidFill>
                <a:latin typeface="黑体" panose="02010609060101010101" pitchFamily="49" charset="-122"/>
                <a:ea typeface="宋体" panose="02010600030101010101" pitchFamily="2" charset="-122"/>
              </a:rPr>
            </a:br>
            <a:endParaRPr lang="zh-CN" altLang="en-US" sz="2875" b="1" dirty="0">
              <a:solidFill>
                <a:srgbClr val="CC0000"/>
              </a:solidFill>
              <a:latin typeface="黑体" panose="02010609060101010101" pitchFamily="49" charset="-122"/>
              <a:ea typeface="宋体" panose="02010600030101010101" pitchFamily="2" charset="-122"/>
            </a:endParaRPr>
          </a:p>
          <a:p>
            <a:pPr>
              <a:lnSpc>
                <a:spcPct val="80000"/>
              </a:lnSpc>
            </a:pPr>
            <a:endParaRPr lang="zh-CN" altLang="en-US" sz="2875" dirty="0">
              <a:ea typeface="宋体" panose="02010600030101010101" pitchFamily="2" charset="-122"/>
            </a:endParaRPr>
          </a:p>
        </p:txBody>
      </p:sp>
      <p:sp>
        <p:nvSpPr>
          <p:cNvPr id="2" name="文本框 1">
            <a:extLst>
              <a:ext uri="{FF2B5EF4-FFF2-40B4-BE49-F238E27FC236}">
                <a16:creationId xmlns:a16="http://schemas.microsoft.com/office/drawing/2014/main" id="{E1B693D1-D063-576E-948A-CB53954C212B}"/>
              </a:ext>
            </a:extLst>
          </p:cNvPr>
          <p:cNvSpPr txBox="1"/>
          <p:nvPr/>
        </p:nvSpPr>
        <p:spPr>
          <a:xfrm>
            <a:off x="4870450" y="11588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C</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3" name="Rectangle 3">
            <a:extLst>
              <a:ext uri="{FF2B5EF4-FFF2-40B4-BE49-F238E27FC236}">
                <a16:creationId xmlns:a16="http://schemas.microsoft.com/office/drawing/2014/main" id="{A0562B72-31B2-CFFB-B757-F532DD5268CC}"/>
              </a:ext>
            </a:extLst>
          </p:cNvPr>
          <p:cNvSpPr>
            <a:spLocks noGrp="1"/>
          </p:cNvSpPr>
          <p:nvPr>
            <p:ph type="body" idx="1"/>
          </p:nvPr>
        </p:nvSpPr>
        <p:spPr>
          <a:xfrm>
            <a:off x="429186" y="859078"/>
            <a:ext cx="8450580" cy="3634470"/>
          </a:xfrm>
        </p:spPr>
        <p:txBody>
          <a:bodyPr/>
          <a:lstStyle/>
          <a:p>
            <a:r>
              <a:rPr lang="en-US" altLang="zh-CN" sz="2875" b="1" dirty="0">
                <a:latin typeface="黑体" panose="02010609060101010101" pitchFamily="49" charset="-122"/>
                <a:ea typeface="宋体" panose="02010600030101010101" pitchFamily="2" charset="-122"/>
              </a:rPr>
              <a:t>23.</a:t>
            </a:r>
            <a:r>
              <a:rPr lang="zh-CN" altLang="en-US" sz="2875" b="1" dirty="0">
                <a:latin typeface="黑体" panose="02010609060101010101" pitchFamily="49" charset="-122"/>
                <a:ea typeface="宋体" panose="02010600030101010101" pitchFamily="2" charset="-122"/>
              </a:rPr>
              <a:t>年龄结构是种群的重要特征，影响着种群的未来发展趋势。如果一个种群内，幼年个体数量最多，成年个体数量居中，老年最少，这个种群的年龄结构为：</a:t>
            </a:r>
          </a:p>
          <a:p>
            <a:r>
              <a:rPr lang="en-US" altLang="zh-CN" sz="2875" b="1" dirty="0">
                <a:ea typeface="宋体" panose="02010600030101010101" pitchFamily="2" charset="-122"/>
              </a:rPr>
              <a:t>A</a:t>
            </a:r>
            <a:r>
              <a:rPr lang="zh-CN" altLang="en-US" sz="2875" b="1" dirty="0">
                <a:ea typeface="宋体" panose="02010600030101010101" pitchFamily="2" charset="-122"/>
              </a:rPr>
              <a:t>．稳定型； </a:t>
            </a:r>
            <a:r>
              <a:rPr lang="en-US" altLang="zh-CN" sz="2875" b="1" dirty="0">
                <a:ea typeface="宋体" panose="02010600030101010101" pitchFamily="2" charset="-122"/>
              </a:rPr>
              <a:t>B</a:t>
            </a:r>
            <a:r>
              <a:rPr lang="zh-CN" altLang="en-US" sz="2875" b="1" dirty="0">
                <a:ea typeface="宋体" panose="02010600030101010101" pitchFamily="2" charset="-122"/>
              </a:rPr>
              <a:t>．增长型；</a:t>
            </a:r>
          </a:p>
          <a:p>
            <a:r>
              <a:rPr lang="en-US" altLang="zh-CN" sz="2875" b="1" dirty="0">
                <a:ea typeface="宋体" panose="02010600030101010101" pitchFamily="2" charset="-122"/>
              </a:rPr>
              <a:t>C</a:t>
            </a:r>
            <a:r>
              <a:rPr lang="zh-CN" altLang="en-US" sz="2875" b="1" dirty="0">
                <a:ea typeface="宋体" panose="02010600030101010101" pitchFamily="2" charset="-122"/>
              </a:rPr>
              <a:t>．衰退型； </a:t>
            </a:r>
            <a:r>
              <a:rPr lang="en-US" altLang="zh-CN" sz="2875" b="1" dirty="0">
                <a:ea typeface="宋体" panose="02010600030101010101" pitchFamily="2" charset="-122"/>
              </a:rPr>
              <a:t>D</a:t>
            </a:r>
            <a:r>
              <a:rPr lang="zh-CN" altLang="en-US" sz="2875" b="1" dirty="0">
                <a:ea typeface="宋体" panose="02010600030101010101" pitchFamily="2" charset="-122"/>
              </a:rPr>
              <a:t>．混合型。</a:t>
            </a:r>
          </a:p>
          <a:p>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2016</a:t>
            </a:r>
            <a:r>
              <a:rPr lang="zh-CN" altLang="en-US" sz="2875" b="1" dirty="0">
                <a:solidFill>
                  <a:srgbClr val="CC0000"/>
                </a:solidFill>
                <a:latin typeface="黑体" panose="02010609060101010101" pitchFamily="49" charset="-122"/>
                <a:ea typeface="宋体" panose="02010600030101010101" pitchFamily="2" charset="-122"/>
              </a:rPr>
              <a:t>年全国联赛试题　）</a:t>
            </a:r>
          </a:p>
          <a:p>
            <a:endParaRPr lang="zh-CN" altLang="en-US" sz="2875" dirty="0">
              <a:solidFill>
                <a:srgbClr val="CC0000"/>
              </a:solidFill>
              <a:ea typeface="宋体" panose="02010600030101010101" pitchFamily="2" charset="-122"/>
            </a:endParaRPr>
          </a:p>
        </p:txBody>
      </p:sp>
      <p:sp>
        <p:nvSpPr>
          <p:cNvPr id="2" name="文本框 1">
            <a:extLst>
              <a:ext uri="{FF2B5EF4-FFF2-40B4-BE49-F238E27FC236}">
                <a16:creationId xmlns:a16="http://schemas.microsoft.com/office/drawing/2014/main" id="{A8694D70-192B-F79D-9BE9-C04AF3E9FD3F}"/>
              </a:ext>
            </a:extLst>
          </p:cNvPr>
          <p:cNvSpPr txBox="1"/>
          <p:nvPr/>
        </p:nvSpPr>
        <p:spPr>
          <a:xfrm>
            <a:off x="1517650" y="2153093"/>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B</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7" name="Rectangle 3">
            <a:extLst>
              <a:ext uri="{FF2B5EF4-FFF2-40B4-BE49-F238E27FC236}">
                <a16:creationId xmlns:a16="http://schemas.microsoft.com/office/drawing/2014/main" id="{F1BB8057-9364-F0D2-E5FA-14BF8900EF17}"/>
              </a:ext>
            </a:extLst>
          </p:cNvPr>
          <p:cNvSpPr>
            <a:spLocks noGrp="1"/>
          </p:cNvSpPr>
          <p:nvPr>
            <p:ph type="body" idx="1"/>
          </p:nvPr>
        </p:nvSpPr>
        <p:spPr>
          <a:xfrm>
            <a:off x="504171" y="1007419"/>
            <a:ext cx="8450580" cy="4380045"/>
          </a:xfrm>
        </p:spPr>
        <p:txBody>
          <a:bodyPr/>
          <a:lstStyle/>
          <a:p>
            <a:pPr>
              <a:lnSpc>
                <a:spcPct val="90000"/>
              </a:lnSpc>
            </a:pPr>
            <a:r>
              <a:rPr lang="en-US" altLang="zh-CN" sz="2875" b="1" dirty="0">
                <a:latin typeface="黑体" panose="02010609060101010101" pitchFamily="49" charset="-122"/>
                <a:ea typeface="宋体" panose="02010600030101010101" pitchFamily="2" charset="-122"/>
              </a:rPr>
              <a:t>24.</a:t>
            </a:r>
            <a:r>
              <a:rPr lang="zh-CN" altLang="en-US" sz="2875" b="1" dirty="0">
                <a:latin typeface="黑体" panose="02010609060101010101" pitchFamily="49" charset="-122"/>
                <a:ea typeface="宋体" panose="02010600030101010101" pitchFamily="2" charset="-122"/>
              </a:rPr>
              <a:t>一项关于鸟类性比的研究发现，在幼龄鸟中，雄鸟和雌鸟的比例平均为 </a:t>
            </a:r>
            <a:r>
              <a:rPr lang="en-US" altLang="zh-CN" sz="2875" b="1" dirty="0">
                <a:latin typeface="黑体" panose="02010609060101010101" pitchFamily="49" charset="-122"/>
                <a:ea typeface="宋体" panose="02010600030101010101" pitchFamily="2" charset="-122"/>
              </a:rPr>
              <a:t>1:1</a:t>
            </a:r>
            <a:r>
              <a:rPr lang="zh-CN" altLang="en-US" sz="2875" b="1" dirty="0">
                <a:latin typeface="黑体" panose="02010609060101010101" pitchFamily="49" charset="-122"/>
                <a:ea typeface="宋体" panose="02010600030101010101" pitchFamily="2" charset="-122"/>
              </a:rPr>
              <a:t>，而在成年鸟中，雄鸟和雌鸟的比例平均为 </a:t>
            </a:r>
            <a:r>
              <a:rPr lang="en-US" altLang="zh-CN" sz="2875" b="1" dirty="0">
                <a:latin typeface="黑体" panose="02010609060101010101" pitchFamily="49" charset="-122"/>
                <a:ea typeface="宋体" panose="02010600030101010101" pitchFamily="2" charset="-122"/>
              </a:rPr>
              <a:t>3:2</a:t>
            </a:r>
            <a:r>
              <a:rPr lang="zh-CN" altLang="en-US" sz="2875" b="1" dirty="0">
                <a:latin typeface="黑体" panose="02010609060101010101" pitchFamily="49" charset="-122"/>
                <a:ea typeface="宋体" panose="02010600030101010101" pitchFamily="2" charset="-122"/>
              </a:rPr>
              <a:t>。导致雄鸟和雌鸟相对比例发生改变的可能原因是： （单选，</a:t>
            </a:r>
            <a:r>
              <a:rPr lang="en-US" altLang="zh-CN" sz="2875" b="1" dirty="0">
                <a:latin typeface="黑体" panose="02010609060101010101" pitchFamily="49" charset="-122"/>
                <a:ea typeface="宋体" panose="02010600030101010101" pitchFamily="2" charset="-122"/>
              </a:rPr>
              <a:t>1</a:t>
            </a:r>
            <a:r>
              <a:rPr lang="zh-CN" altLang="en-US" sz="2875" b="1" dirty="0">
                <a:latin typeface="黑体" panose="02010609060101010101" pitchFamily="49" charset="-122"/>
                <a:ea typeface="宋体" panose="02010600030101010101" pitchFamily="2" charset="-122"/>
              </a:rPr>
              <a:t>分）</a:t>
            </a:r>
          </a:p>
          <a:p>
            <a:pPr>
              <a:lnSpc>
                <a:spcPct val="90000"/>
              </a:lnSpc>
            </a:pPr>
            <a:r>
              <a:rPr lang="en-US" altLang="zh-CN" sz="2875" b="1" dirty="0">
                <a:ea typeface="宋体" panose="02010600030101010101" pitchFamily="2" charset="-122"/>
              </a:rPr>
              <a:t>A.</a:t>
            </a:r>
            <a:r>
              <a:rPr lang="zh-CN" altLang="en-US" sz="2875" b="1" dirty="0">
                <a:ea typeface="宋体" panose="02010600030101010101" pitchFamily="2" charset="-122"/>
              </a:rPr>
              <a:t>雄鸟扩散能力更强 </a:t>
            </a:r>
          </a:p>
          <a:p>
            <a:pPr>
              <a:lnSpc>
                <a:spcPct val="90000"/>
              </a:lnSpc>
            </a:pPr>
            <a:r>
              <a:rPr lang="en-US" altLang="zh-CN" sz="2875" b="1" dirty="0">
                <a:ea typeface="宋体" panose="02010600030101010101" pitchFamily="2" charset="-122"/>
              </a:rPr>
              <a:t>B.</a:t>
            </a:r>
            <a:r>
              <a:rPr lang="zh-CN" altLang="en-US" sz="2875" b="1" dirty="0">
                <a:ea typeface="宋体" panose="02010600030101010101" pitchFamily="2" charset="-122"/>
              </a:rPr>
              <a:t>雌鸟成长过程中更容易被捕食</a:t>
            </a:r>
          </a:p>
          <a:p>
            <a:pPr>
              <a:lnSpc>
                <a:spcPct val="90000"/>
              </a:lnSpc>
            </a:pPr>
            <a:r>
              <a:rPr lang="en-US" altLang="zh-CN" sz="2875" b="1" dirty="0">
                <a:ea typeface="宋体" panose="02010600030101010101" pitchFamily="2" charset="-122"/>
              </a:rPr>
              <a:t>C.</a:t>
            </a:r>
            <a:r>
              <a:rPr lang="zh-CN" altLang="en-US" sz="2875" b="1" dirty="0">
                <a:ea typeface="宋体" panose="02010600030101010101" pitchFamily="2" charset="-122"/>
              </a:rPr>
              <a:t>雌鸟对交配对象的选择行为 </a:t>
            </a:r>
          </a:p>
          <a:p>
            <a:pPr>
              <a:lnSpc>
                <a:spcPct val="90000"/>
              </a:lnSpc>
            </a:pPr>
            <a:r>
              <a:rPr lang="en-US" altLang="zh-CN" sz="2875" b="1" dirty="0">
                <a:ea typeface="宋体" panose="02010600030101010101" pitchFamily="2" charset="-122"/>
              </a:rPr>
              <a:t>D.</a:t>
            </a:r>
            <a:r>
              <a:rPr lang="zh-CN" altLang="en-US" sz="2875" b="1" dirty="0">
                <a:ea typeface="宋体" panose="02010600030101010101" pitchFamily="2" charset="-122"/>
              </a:rPr>
              <a:t>雄鸟承担了更多的觅食工作</a:t>
            </a:r>
          </a:p>
          <a:p>
            <a:pPr>
              <a:lnSpc>
                <a:spcPct val="90000"/>
              </a:lnSpc>
            </a:pPr>
            <a:endParaRPr lang="zh-CN" altLang="en-US" sz="2875" b="1" dirty="0">
              <a:latin typeface="黑体" panose="02010609060101010101" pitchFamily="49" charset="-122"/>
              <a:ea typeface="宋体" panose="02010600030101010101" pitchFamily="2" charset="-122"/>
            </a:endParaRPr>
          </a:p>
          <a:p>
            <a:pPr>
              <a:lnSpc>
                <a:spcPct val="90000"/>
              </a:lnSpc>
            </a:pPr>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2017</a:t>
            </a:r>
            <a:r>
              <a:rPr lang="zh-CN" altLang="en-US" sz="2875" b="1" dirty="0">
                <a:solidFill>
                  <a:srgbClr val="CC0000"/>
                </a:solidFill>
                <a:latin typeface="黑体" panose="02010609060101010101" pitchFamily="49" charset="-122"/>
                <a:ea typeface="宋体" panose="02010600030101010101" pitchFamily="2" charset="-122"/>
              </a:rPr>
              <a:t>年全国联赛试题）</a:t>
            </a:r>
          </a:p>
          <a:p>
            <a:pPr>
              <a:lnSpc>
                <a:spcPct val="90000"/>
              </a:lnSpc>
            </a:pPr>
            <a:endParaRPr lang="zh-CN" altLang="en-US" sz="2875" dirty="0">
              <a:solidFill>
                <a:srgbClr val="CC0000"/>
              </a:solidFill>
              <a:ea typeface="宋体" panose="02010600030101010101" pitchFamily="2" charset="-122"/>
            </a:endParaRPr>
          </a:p>
        </p:txBody>
      </p:sp>
      <p:sp>
        <p:nvSpPr>
          <p:cNvPr id="2" name="文本框 1">
            <a:extLst>
              <a:ext uri="{FF2B5EF4-FFF2-40B4-BE49-F238E27FC236}">
                <a16:creationId xmlns:a16="http://schemas.microsoft.com/office/drawing/2014/main" id="{A2F17278-B047-183A-81A8-B863688B6698}"/>
              </a:ext>
            </a:extLst>
          </p:cNvPr>
          <p:cNvSpPr txBox="1"/>
          <p:nvPr/>
        </p:nvSpPr>
        <p:spPr>
          <a:xfrm>
            <a:off x="4870450" y="21494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B</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3">
            <a:extLst>
              <a:ext uri="{FF2B5EF4-FFF2-40B4-BE49-F238E27FC236}">
                <a16:creationId xmlns:a16="http://schemas.microsoft.com/office/drawing/2014/main" id="{EBF11D5F-F6B5-A693-6A82-F87922A7C2A7}"/>
              </a:ext>
            </a:extLst>
          </p:cNvPr>
          <p:cNvSpPr>
            <a:spLocks noGrp="1"/>
          </p:cNvSpPr>
          <p:nvPr>
            <p:ph type="body" idx="1"/>
          </p:nvPr>
        </p:nvSpPr>
        <p:spPr>
          <a:xfrm>
            <a:off x="504171" y="859078"/>
            <a:ext cx="8450580" cy="908618"/>
          </a:xfrm>
        </p:spPr>
        <p:txBody>
          <a:bodyPr/>
          <a:lstStyle/>
          <a:p>
            <a:r>
              <a:rPr lang="en-US" altLang="zh-CN" sz="2875" b="1" dirty="0">
                <a:latin typeface="黑体" panose="02010609060101010101" pitchFamily="49" charset="-122"/>
                <a:ea typeface="宋体" panose="02010600030101010101" pitchFamily="2" charset="-122"/>
              </a:rPr>
              <a:t>25.</a:t>
            </a:r>
            <a:r>
              <a:rPr lang="zh-CN" altLang="en-US" sz="2875" b="1" dirty="0">
                <a:latin typeface="黑体" panose="02010609060101010101" pitchFamily="49" charset="-122"/>
                <a:ea typeface="宋体" panose="02010600030101010101" pitchFamily="2" charset="-122"/>
              </a:rPr>
              <a:t>下图表示种群的年龄结构，其中为增长型的是 </a:t>
            </a:r>
            <a:r>
              <a:rPr lang="en-US" altLang="zh-CN" sz="2875" b="1" dirty="0">
                <a:latin typeface="黑体" panose="02010609060101010101" pitchFamily="49" charset="-122"/>
                <a:ea typeface="宋体" panose="02010600030101010101" pitchFamily="2" charset="-122"/>
              </a:rPr>
              <a:t>:</a:t>
            </a:r>
          </a:p>
          <a:p>
            <a:endParaRPr lang="en-US" altLang="zh-CN" sz="2875" dirty="0">
              <a:ea typeface="宋体" panose="02010600030101010101" pitchFamily="2" charset="-122"/>
            </a:endParaRPr>
          </a:p>
        </p:txBody>
      </p:sp>
      <p:sp>
        <p:nvSpPr>
          <p:cNvPr id="112652" name="Text Box 12">
            <a:extLst>
              <a:ext uri="{FF2B5EF4-FFF2-40B4-BE49-F238E27FC236}">
                <a16:creationId xmlns:a16="http://schemas.microsoft.com/office/drawing/2014/main" id="{2A3A166F-4D80-9609-13AC-05645CBBC6DA}"/>
              </a:ext>
            </a:extLst>
          </p:cNvPr>
          <p:cNvSpPr txBox="1">
            <a:spLocks noChangeArrowheads="1"/>
          </p:cNvSpPr>
          <p:nvPr/>
        </p:nvSpPr>
        <p:spPr bwMode="auto">
          <a:xfrm>
            <a:off x="1390961" y="4334509"/>
            <a:ext cx="6527030" cy="386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endParaRPr lang="zh-CN" altLang="en-US" sz="1848"/>
          </a:p>
        </p:txBody>
      </p:sp>
      <p:sp>
        <p:nvSpPr>
          <p:cNvPr id="112653" name="Text Box 13">
            <a:extLst>
              <a:ext uri="{FF2B5EF4-FFF2-40B4-BE49-F238E27FC236}">
                <a16:creationId xmlns:a16="http://schemas.microsoft.com/office/drawing/2014/main" id="{A04545B4-7BB3-05DF-63A9-909A7AAAF4E2}"/>
              </a:ext>
            </a:extLst>
          </p:cNvPr>
          <p:cNvSpPr txBox="1">
            <a:spLocks noChangeArrowheads="1"/>
          </p:cNvSpPr>
          <p:nvPr/>
        </p:nvSpPr>
        <p:spPr bwMode="auto">
          <a:xfrm>
            <a:off x="1242619" y="4186167"/>
            <a:ext cx="5788583" cy="386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endParaRPr lang="zh-CN" altLang="en-US" sz="1848"/>
          </a:p>
        </p:txBody>
      </p:sp>
      <p:sp>
        <p:nvSpPr>
          <p:cNvPr id="112654" name="Text Box 14">
            <a:extLst>
              <a:ext uri="{FF2B5EF4-FFF2-40B4-BE49-F238E27FC236}">
                <a16:creationId xmlns:a16="http://schemas.microsoft.com/office/drawing/2014/main" id="{7DC693B2-AF40-6F15-F6EF-1F529E1D78C9}"/>
              </a:ext>
            </a:extLst>
          </p:cNvPr>
          <p:cNvSpPr txBox="1">
            <a:spLocks noChangeArrowheads="1"/>
          </p:cNvSpPr>
          <p:nvPr/>
        </p:nvSpPr>
        <p:spPr bwMode="auto">
          <a:xfrm>
            <a:off x="872581" y="4629562"/>
            <a:ext cx="5545693" cy="534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75" b="1" dirty="0">
                <a:solidFill>
                  <a:schemeClr val="tx1"/>
                </a:solidFill>
                <a:latin typeface="+mn-lt"/>
                <a:ea typeface="宋体" panose="02010600030101010101" pitchFamily="2" charset="-122"/>
                <a:cs typeface="+mn-cs"/>
              </a:rPr>
              <a:t>A.</a:t>
            </a:r>
            <a:r>
              <a:rPr lang="zh-CN" altLang="en-US" sz="2875" b="1" dirty="0">
                <a:solidFill>
                  <a:schemeClr val="tx1"/>
                </a:solidFill>
                <a:latin typeface="+mn-lt"/>
                <a:ea typeface="宋体" panose="02010600030101010101" pitchFamily="2" charset="-122"/>
                <a:cs typeface="+mn-cs"/>
              </a:rPr>
              <a:t>图１；</a:t>
            </a:r>
            <a:r>
              <a:rPr lang="en-US" altLang="zh-CN" sz="2875" b="1" dirty="0">
                <a:solidFill>
                  <a:schemeClr val="tx1"/>
                </a:solidFill>
                <a:latin typeface="+mn-lt"/>
                <a:ea typeface="宋体" panose="02010600030101010101" pitchFamily="2" charset="-122"/>
                <a:cs typeface="+mn-cs"/>
              </a:rPr>
              <a:t>B.</a:t>
            </a:r>
            <a:r>
              <a:rPr lang="zh-CN" altLang="en-US" sz="2875" b="1" dirty="0">
                <a:solidFill>
                  <a:schemeClr val="tx1"/>
                </a:solidFill>
                <a:latin typeface="+mn-lt"/>
                <a:ea typeface="宋体" panose="02010600030101010101" pitchFamily="2" charset="-122"/>
                <a:cs typeface="+mn-cs"/>
              </a:rPr>
              <a:t>图</a:t>
            </a:r>
            <a:r>
              <a:rPr lang="en-US" altLang="zh-CN" sz="2875" b="1" dirty="0">
                <a:solidFill>
                  <a:schemeClr val="tx1"/>
                </a:solidFill>
                <a:latin typeface="+mn-lt"/>
                <a:ea typeface="宋体" panose="02010600030101010101" pitchFamily="2" charset="-122"/>
                <a:cs typeface="+mn-cs"/>
              </a:rPr>
              <a:t>2</a:t>
            </a:r>
            <a:r>
              <a:rPr lang="zh-CN" altLang="en-US" sz="2875" b="1" dirty="0">
                <a:solidFill>
                  <a:schemeClr val="tx1"/>
                </a:solidFill>
                <a:latin typeface="+mn-lt"/>
                <a:ea typeface="宋体" panose="02010600030101010101" pitchFamily="2" charset="-122"/>
                <a:cs typeface="+mn-cs"/>
              </a:rPr>
              <a:t>；</a:t>
            </a:r>
            <a:r>
              <a:rPr lang="en-US" altLang="zh-CN" sz="2875" b="1" dirty="0">
                <a:solidFill>
                  <a:schemeClr val="tx1"/>
                </a:solidFill>
                <a:latin typeface="+mn-lt"/>
                <a:ea typeface="宋体" panose="02010600030101010101" pitchFamily="2" charset="-122"/>
                <a:cs typeface="+mn-cs"/>
              </a:rPr>
              <a:t>C.</a:t>
            </a:r>
            <a:r>
              <a:rPr lang="zh-CN" altLang="en-US" sz="2875" b="1" dirty="0">
                <a:solidFill>
                  <a:schemeClr val="tx1"/>
                </a:solidFill>
                <a:latin typeface="+mn-lt"/>
                <a:ea typeface="宋体" panose="02010600030101010101" pitchFamily="2" charset="-122"/>
                <a:cs typeface="+mn-cs"/>
              </a:rPr>
              <a:t>图</a:t>
            </a:r>
            <a:r>
              <a:rPr lang="en-US" altLang="zh-CN" sz="2875" b="1" dirty="0">
                <a:solidFill>
                  <a:schemeClr val="tx1"/>
                </a:solidFill>
                <a:latin typeface="+mn-lt"/>
                <a:ea typeface="宋体" panose="02010600030101010101" pitchFamily="2" charset="-122"/>
                <a:cs typeface="+mn-cs"/>
              </a:rPr>
              <a:t>3</a:t>
            </a:r>
            <a:r>
              <a:rPr lang="zh-CN" altLang="en-US" sz="2875" b="1" dirty="0">
                <a:solidFill>
                  <a:schemeClr val="tx1"/>
                </a:solidFill>
                <a:latin typeface="+mn-lt"/>
                <a:ea typeface="宋体" panose="02010600030101010101" pitchFamily="2" charset="-122"/>
                <a:cs typeface="+mn-cs"/>
              </a:rPr>
              <a:t>；</a:t>
            </a:r>
            <a:r>
              <a:rPr lang="en-US" altLang="zh-CN" sz="2875" b="1" dirty="0">
                <a:solidFill>
                  <a:schemeClr val="tx1"/>
                </a:solidFill>
                <a:latin typeface="+mn-lt"/>
                <a:ea typeface="宋体" panose="02010600030101010101" pitchFamily="2" charset="-122"/>
                <a:cs typeface="+mn-cs"/>
              </a:rPr>
              <a:t>D.</a:t>
            </a:r>
            <a:r>
              <a:rPr lang="zh-CN" altLang="en-US" sz="2875" b="1" dirty="0">
                <a:solidFill>
                  <a:schemeClr val="tx1"/>
                </a:solidFill>
                <a:latin typeface="+mn-lt"/>
                <a:ea typeface="宋体" panose="02010600030101010101" pitchFamily="2" charset="-122"/>
                <a:cs typeface="+mn-cs"/>
              </a:rPr>
              <a:t>图</a:t>
            </a:r>
            <a:r>
              <a:rPr lang="en-US" altLang="zh-CN" sz="2875" b="1" dirty="0">
                <a:solidFill>
                  <a:schemeClr val="tx1"/>
                </a:solidFill>
                <a:latin typeface="+mn-lt"/>
                <a:ea typeface="宋体" panose="02010600030101010101" pitchFamily="2" charset="-122"/>
                <a:cs typeface="+mn-cs"/>
              </a:rPr>
              <a:t>4.</a:t>
            </a:r>
          </a:p>
        </p:txBody>
      </p:sp>
      <p:pic>
        <p:nvPicPr>
          <p:cNvPr id="112655" name="Picture 15">
            <a:extLst>
              <a:ext uri="{FF2B5EF4-FFF2-40B4-BE49-F238E27FC236}">
                <a16:creationId xmlns:a16="http://schemas.microsoft.com/office/drawing/2014/main" id="{301825D3-F7AD-5DFE-D0F2-55160C0F0B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566" y="1599155"/>
            <a:ext cx="7511627" cy="2445191"/>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AB765B5E-FA68-78DD-CC33-62C87BED1AEC}"/>
              </a:ext>
            </a:extLst>
          </p:cNvPr>
          <p:cNvSpPr txBox="1"/>
          <p:nvPr/>
        </p:nvSpPr>
        <p:spPr>
          <a:xfrm>
            <a:off x="8485195" y="1338399"/>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3">
            <a:extLst>
              <a:ext uri="{FF2B5EF4-FFF2-40B4-BE49-F238E27FC236}">
                <a16:creationId xmlns:a16="http://schemas.microsoft.com/office/drawing/2014/main" id="{65F5ADB5-5E0F-6B8A-D2C7-821E5A74D3F0}"/>
              </a:ext>
            </a:extLst>
          </p:cNvPr>
          <p:cNvSpPr>
            <a:spLocks noGrp="1"/>
          </p:cNvSpPr>
          <p:nvPr>
            <p:ph type="body" idx="1"/>
          </p:nvPr>
        </p:nvSpPr>
        <p:spPr>
          <a:xfrm>
            <a:off x="429186" y="415683"/>
            <a:ext cx="8450580" cy="1362926"/>
          </a:xfrm>
        </p:spPr>
        <p:txBody>
          <a:bodyPr/>
          <a:lstStyle/>
          <a:p>
            <a:r>
              <a:rPr lang="en-US" altLang="zh-CN" sz="2875" b="1" dirty="0">
                <a:latin typeface="黑体" panose="02010609060101010101" pitchFamily="49" charset="-122"/>
                <a:ea typeface="宋体" panose="02010600030101010101" pitchFamily="2" charset="-122"/>
              </a:rPr>
              <a:t>26.</a:t>
            </a:r>
            <a:r>
              <a:rPr lang="zh-CN" altLang="en-US" sz="2875" b="1" dirty="0">
                <a:latin typeface="黑体" panose="02010609060101010101" pitchFamily="49" charset="-122"/>
                <a:ea typeface="宋体" panose="02010600030101010101" pitchFamily="2" charset="-122"/>
              </a:rPr>
              <a:t>下图为某地人口出生率及死亡率的变化图，请问其年龄结构应为哪一个图：</a:t>
            </a:r>
          </a:p>
          <a:p>
            <a:r>
              <a:rPr lang="en-US" altLang="zh-CN" sz="2875" b="1" dirty="0">
                <a:ea typeface="宋体" panose="02010600030101010101" pitchFamily="2" charset="-122"/>
              </a:rPr>
              <a:t>A.</a:t>
            </a:r>
            <a:r>
              <a:rPr lang="zh-CN" altLang="en-US" sz="2875" b="1" dirty="0">
                <a:ea typeface="宋体" panose="02010600030101010101" pitchFamily="2" charset="-122"/>
              </a:rPr>
              <a:t>图</a:t>
            </a:r>
            <a:r>
              <a:rPr lang="en-US" altLang="zh-CN" sz="2875" b="1" dirty="0">
                <a:ea typeface="宋体" panose="02010600030101010101" pitchFamily="2" charset="-122"/>
              </a:rPr>
              <a:t>1</a:t>
            </a:r>
            <a:r>
              <a:rPr lang="zh-CN" altLang="en-US" sz="2875" b="1" dirty="0">
                <a:ea typeface="宋体" panose="02010600030101010101" pitchFamily="2" charset="-122"/>
              </a:rPr>
              <a:t>； </a:t>
            </a:r>
            <a:r>
              <a:rPr lang="en-US" altLang="zh-CN" sz="2875" b="1" dirty="0">
                <a:ea typeface="宋体" panose="02010600030101010101" pitchFamily="2" charset="-122"/>
              </a:rPr>
              <a:t>B.</a:t>
            </a:r>
            <a:r>
              <a:rPr lang="zh-CN" altLang="en-US" sz="2875" b="1" dirty="0">
                <a:ea typeface="宋体" panose="02010600030101010101" pitchFamily="2" charset="-122"/>
              </a:rPr>
              <a:t>图</a:t>
            </a:r>
            <a:r>
              <a:rPr lang="en-US" altLang="zh-CN" sz="2875" b="1" dirty="0">
                <a:ea typeface="宋体" panose="02010600030101010101" pitchFamily="2" charset="-122"/>
              </a:rPr>
              <a:t>2</a:t>
            </a:r>
            <a:r>
              <a:rPr lang="zh-CN" altLang="en-US" sz="2875" b="1" dirty="0">
                <a:ea typeface="宋体" panose="02010600030101010101" pitchFamily="2" charset="-122"/>
              </a:rPr>
              <a:t>；</a:t>
            </a:r>
            <a:r>
              <a:rPr lang="en-US" altLang="zh-CN" sz="2875" b="1" dirty="0">
                <a:ea typeface="宋体" panose="02010600030101010101" pitchFamily="2" charset="-122"/>
              </a:rPr>
              <a:t>C.</a:t>
            </a:r>
            <a:r>
              <a:rPr lang="zh-CN" altLang="en-US" sz="2875" b="1" dirty="0">
                <a:ea typeface="宋体" panose="02010600030101010101" pitchFamily="2" charset="-122"/>
              </a:rPr>
              <a:t> 图</a:t>
            </a:r>
            <a:r>
              <a:rPr lang="en-US" altLang="zh-CN" sz="2875" b="1" dirty="0">
                <a:ea typeface="宋体" panose="02010600030101010101" pitchFamily="2" charset="-122"/>
              </a:rPr>
              <a:t>3</a:t>
            </a:r>
            <a:r>
              <a:rPr lang="zh-CN" altLang="en-US" sz="2875" b="1" dirty="0">
                <a:ea typeface="宋体" panose="02010600030101010101" pitchFamily="2" charset="-122"/>
              </a:rPr>
              <a:t>；</a:t>
            </a:r>
            <a:r>
              <a:rPr lang="en-US" altLang="zh-CN" sz="2875" b="1" dirty="0">
                <a:ea typeface="宋体" panose="02010600030101010101" pitchFamily="2" charset="-122"/>
              </a:rPr>
              <a:t>D.</a:t>
            </a:r>
            <a:r>
              <a:rPr lang="zh-CN" altLang="en-US" sz="2875" b="1" dirty="0">
                <a:ea typeface="宋体" panose="02010600030101010101" pitchFamily="2" charset="-122"/>
              </a:rPr>
              <a:t>皆不是。</a:t>
            </a:r>
          </a:p>
        </p:txBody>
      </p:sp>
      <p:pic>
        <p:nvPicPr>
          <p:cNvPr id="120838" name="Picture 6">
            <a:extLst>
              <a:ext uri="{FF2B5EF4-FFF2-40B4-BE49-F238E27FC236}">
                <a16:creationId xmlns:a16="http://schemas.microsoft.com/office/drawing/2014/main" id="{3F59B438-F708-501B-364D-278B3056D6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8012" y="2412588"/>
            <a:ext cx="4140523" cy="2218604"/>
          </a:xfrm>
          <a:prstGeom prst="rect">
            <a:avLst/>
          </a:prstGeom>
          <a:noFill/>
          <a:extLst>
            <a:ext uri="{909E8E84-426E-40DD-AFC4-6F175D3DCCD1}">
              <a14:hiddenFill xmlns:a14="http://schemas.microsoft.com/office/drawing/2010/main">
                <a:solidFill>
                  <a:srgbClr val="FFFFFF"/>
                </a:solidFill>
              </a14:hiddenFill>
            </a:ext>
          </a:extLst>
        </p:spPr>
      </p:pic>
      <p:pic>
        <p:nvPicPr>
          <p:cNvPr id="120839" name="Picture 7">
            <a:extLst>
              <a:ext uri="{FF2B5EF4-FFF2-40B4-BE49-F238E27FC236}">
                <a16:creationId xmlns:a16="http://schemas.microsoft.com/office/drawing/2014/main" id="{C9D641F4-F1DA-B4A0-C425-124A0CCE42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186" y="2412589"/>
            <a:ext cx="3622143" cy="2135467"/>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572D0E65-ED4A-6E92-907B-2B7B2C127504}"/>
              </a:ext>
            </a:extLst>
          </p:cNvPr>
          <p:cNvSpPr txBox="1"/>
          <p:nvPr/>
        </p:nvSpPr>
        <p:spPr>
          <a:xfrm>
            <a:off x="4730750" y="835536"/>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C</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a:extLst>
              <a:ext uri="{FF2B5EF4-FFF2-40B4-BE49-F238E27FC236}">
                <a16:creationId xmlns:a16="http://schemas.microsoft.com/office/drawing/2014/main" id="{75B9644E-6EB2-DB9B-8E83-DC63C0C7A1F6}"/>
              </a:ext>
            </a:extLst>
          </p:cNvPr>
          <p:cNvSpPr txBox="1">
            <a:spLocks noChangeArrowheads="1"/>
          </p:cNvSpPr>
          <p:nvPr/>
        </p:nvSpPr>
        <p:spPr bwMode="auto">
          <a:xfrm>
            <a:off x="649252" y="1956153"/>
            <a:ext cx="8137596" cy="48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sz="2465"/>
          </a:p>
        </p:txBody>
      </p:sp>
      <p:sp>
        <p:nvSpPr>
          <p:cNvPr id="21507" name="Text Box 3">
            <a:extLst>
              <a:ext uri="{FF2B5EF4-FFF2-40B4-BE49-F238E27FC236}">
                <a16:creationId xmlns:a16="http://schemas.microsoft.com/office/drawing/2014/main" id="{BBB62263-FD06-348F-81FF-7B18D492D0CC}"/>
              </a:ext>
            </a:extLst>
          </p:cNvPr>
          <p:cNvSpPr txBox="1">
            <a:spLocks noChangeArrowheads="1"/>
          </p:cNvSpPr>
          <p:nvPr/>
        </p:nvSpPr>
        <p:spPr bwMode="auto">
          <a:xfrm>
            <a:off x="650883" y="637381"/>
            <a:ext cx="7511627" cy="597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3286" b="1"/>
              <a:t>（三）生命表、存活曲线和种群增长率</a:t>
            </a:r>
            <a:r>
              <a:rPr lang="zh-CN" altLang="en-US" sz="2465"/>
              <a:t>  </a:t>
            </a:r>
          </a:p>
        </p:txBody>
      </p:sp>
      <p:sp>
        <p:nvSpPr>
          <p:cNvPr id="21508" name="Text Box 4">
            <a:extLst>
              <a:ext uri="{FF2B5EF4-FFF2-40B4-BE49-F238E27FC236}">
                <a16:creationId xmlns:a16="http://schemas.microsoft.com/office/drawing/2014/main" id="{10BF564D-09A8-1704-D01A-3632798FCF6A}"/>
              </a:ext>
            </a:extLst>
          </p:cNvPr>
          <p:cNvSpPr txBox="1">
            <a:spLocks noChangeArrowheads="1"/>
          </p:cNvSpPr>
          <p:nvPr/>
        </p:nvSpPr>
        <p:spPr bwMode="auto">
          <a:xfrm>
            <a:off x="725869" y="1501943"/>
            <a:ext cx="7689310" cy="350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75" b="1" dirty="0"/>
              <a:t>1 </a:t>
            </a:r>
            <a:r>
              <a:rPr lang="zh-CN" altLang="en-US" sz="2875" b="1" dirty="0"/>
              <a:t>生命表：用来描述种群死亡过程的一种有用的工具。</a:t>
            </a:r>
          </a:p>
          <a:p>
            <a:pPr eaLnBrk="1" hangingPunct="1"/>
            <a:endParaRPr lang="zh-CN" altLang="en-US" sz="2875" b="1" dirty="0"/>
          </a:p>
          <a:p>
            <a:pPr eaLnBrk="1" hangingPunct="1"/>
            <a:r>
              <a:rPr lang="en-US" altLang="zh-CN" sz="2875" b="1" dirty="0"/>
              <a:t>(1) </a:t>
            </a:r>
            <a:r>
              <a:rPr lang="zh-CN" altLang="en-US" sz="2875" b="1" dirty="0"/>
              <a:t>动态生命表：总结的是一组大约同时出生的个体从出生到死亡的命运，这样的一组个体称做同生群。</a:t>
            </a:r>
          </a:p>
          <a:p>
            <a:pPr eaLnBrk="1" hangingPunct="1">
              <a:spcBef>
                <a:spcPct val="50000"/>
              </a:spcBef>
            </a:pPr>
            <a:endParaRPr lang="en-US" altLang="zh-CN" sz="2875" b="1" dirty="0"/>
          </a:p>
        </p:txBody>
      </p:sp>
      <p:sp>
        <p:nvSpPr>
          <p:cNvPr id="2" name="Text Box 4">
            <a:extLst>
              <a:ext uri="{FF2B5EF4-FFF2-40B4-BE49-F238E27FC236}">
                <a16:creationId xmlns:a16="http://schemas.microsoft.com/office/drawing/2014/main" id="{5744657F-2088-653A-DC95-C6E6F81922EB}"/>
              </a:ext>
            </a:extLst>
          </p:cNvPr>
          <p:cNvSpPr txBox="1">
            <a:spLocks noChangeArrowheads="1"/>
          </p:cNvSpPr>
          <p:nvPr/>
        </p:nvSpPr>
        <p:spPr bwMode="auto">
          <a:xfrm>
            <a:off x="650883" y="4476696"/>
            <a:ext cx="8281047" cy="2496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75" b="1" dirty="0"/>
              <a:t>(2) </a:t>
            </a:r>
            <a:r>
              <a:rPr lang="zh-CN" altLang="en-US" sz="2875" b="1" dirty="0"/>
              <a:t>静态生命表</a:t>
            </a:r>
            <a:r>
              <a:rPr lang="zh-CN" altLang="en-US" sz="2875" dirty="0"/>
              <a:t>：根据某一特定时间对种群做一年龄结构的调查资料编制而成的生命表。一般用于难以获得动态生命表数据的情况下的补充。</a:t>
            </a:r>
          </a:p>
          <a:p>
            <a:pPr eaLnBrk="1" hangingPunct="1"/>
            <a:endParaRPr lang="zh-CN" altLang="en-US" sz="2875" dirty="0"/>
          </a:p>
          <a:p>
            <a:pPr eaLnBrk="1" hangingPunct="1">
              <a:spcBef>
                <a:spcPct val="50000"/>
              </a:spcBef>
            </a:pPr>
            <a:endParaRPr lang="en-US" altLang="zh-CN" sz="246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1" name="Picture 7">
            <a:hlinkClick r:id="rId2"/>
            <a:extLst>
              <a:ext uri="{FF2B5EF4-FFF2-40B4-BE49-F238E27FC236}">
                <a16:creationId xmlns:a16="http://schemas.microsoft.com/office/drawing/2014/main" id="{AF1D91A9-619E-D641-A377-38EA9122C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1668" y="2190891"/>
            <a:ext cx="2293589" cy="1623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Line 8">
            <a:hlinkClick r:id="rId4" action="ppaction://hlinksldjump"/>
            <a:extLst>
              <a:ext uri="{FF2B5EF4-FFF2-40B4-BE49-F238E27FC236}">
                <a16:creationId xmlns:a16="http://schemas.microsoft.com/office/drawing/2014/main" id="{BE1F13AE-A507-6D88-8D27-A18D560069E8}"/>
              </a:ext>
            </a:extLst>
          </p:cNvPr>
          <p:cNvSpPr>
            <a:spLocks noChangeShapeType="1"/>
          </p:cNvSpPr>
          <p:nvPr/>
        </p:nvSpPr>
        <p:spPr bwMode="auto">
          <a:xfrm>
            <a:off x="8120127" y="6774809"/>
            <a:ext cx="73844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22533" name="Picture 9">
            <a:extLst>
              <a:ext uri="{FF2B5EF4-FFF2-40B4-BE49-F238E27FC236}">
                <a16:creationId xmlns:a16="http://schemas.microsoft.com/office/drawing/2014/main" id="{FEE70A88-7EF9-4DC2-DFB9-F2E15B468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3" y="3891115"/>
            <a:ext cx="9138494" cy="2391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Text Box 10">
            <a:extLst>
              <a:ext uri="{FF2B5EF4-FFF2-40B4-BE49-F238E27FC236}">
                <a16:creationId xmlns:a16="http://schemas.microsoft.com/office/drawing/2014/main" id="{401A7E4B-C311-3FD5-8CB2-EA3C2F01402D}"/>
              </a:ext>
            </a:extLst>
          </p:cNvPr>
          <p:cNvSpPr txBox="1">
            <a:spLocks noChangeArrowheads="1"/>
          </p:cNvSpPr>
          <p:nvPr/>
        </p:nvSpPr>
        <p:spPr bwMode="auto">
          <a:xfrm>
            <a:off x="6714956" y="3816129"/>
            <a:ext cx="2476163" cy="322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438"/>
              <a:t>引自</a:t>
            </a:r>
            <a:r>
              <a:rPr lang="en-US" altLang="zh-CN" sz="1438"/>
              <a:t>http://www.nipic.com</a:t>
            </a:r>
          </a:p>
        </p:txBody>
      </p:sp>
      <p:pic>
        <p:nvPicPr>
          <p:cNvPr id="2" name="Picture 4">
            <a:extLst>
              <a:ext uri="{FF2B5EF4-FFF2-40B4-BE49-F238E27FC236}">
                <a16:creationId xmlns:a16="http://schemas.microsoft.com/office/drawing/2014/main" id="{719BBBC3-3D7C-9970-1284-384565E751F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a:xfrm>
            <a:off x="1365250" y="108500"/>
            <a:ext cx="4953000" cy="389617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12 副本">
            <a:extLst>
              <a:ext uri="{FF2B5EF4-FFF2-40B4-BE49-F238E27FC236}">
                <a16:creationId xmlns:a16="http://schemas.microsoft.com/office/drawing/2014/main" id="{064BF825-8899-471F-E7DF-48F83E3DF8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84" y="860707"/>
            <a:ext cx="9389533" cy="543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Text Box 3">
            <a:extLst>
              <a:ext uri="{FF2B5EF4-FFF2-40B4-BE49-F238E27FC236}">
                <a16:creationId xmlns:a16="http://schemas.microsoft.com/office/drawing/2014/main" id="{B44EF76F-0FDE-79DA-02B0-1E280C583AED}"/>
              </a:ext>
            </a:extLst>
          </p:cNvPr>
          <p:cNvSpPr txBox="1">
            <a:spLocks noChangeArrowheads="1"/>
          </p:cNvSpPr>
          <p:nvPr/>
        </p:nvSpPr>
        <p:spPr bwMode="auto">
          <a:xfrm>
            <a:off x="316706" y="513491"/>
            <a:ext cx="8215842" cy="549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75"/>
              <a:t>                                       </a:t>
            </a:r>
            <a:r>
              <a:rPr lang="zh-CN" altLang="en-US" sz="2875" b="1"/>
              <a:t>藤壶的生命表</a:t>
            </a:r>
            <a:r>
              <a:rPr lang="zh-CN" altLang="en-US" sz="2465"/>
              <a:t> </a:t>
            </a:r>
          </a:p>
        </p:txBody>
      </p:sp>
      <p:sp>
        <p:nvSpPr>
          <p:cNvPr id="23556" name="Text Box 4">
            <a:extLst>
              <a:ext uri="{FF2B5EF4-FFF2-40B4-BE49-F238E27FC236}">
                <a16:creationId xmlns:a16="http://schemas.microsoft.com/office/drawing/2014/main" id="{B2782C10-7E6A-26F5-7BD2-3233C274D88C}"/>
              </a:ext>
            </a:extLst>
          </p:cNvPr>
          <p:cNvSpPr txBox="1">
            <a:spLocks noChangeArrowheads="1"/>
          </p:cNvSpPr>
          <p:nvPr/>
        </p:nvSpPr>
        <p:spPr bwMode="auto">
          <a:xfrm>
            <a:off x="649252" y="6494428"/>
            <a:ext cx="3521075" cy="354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43" b="1"/>
              <a:t>L</a:t>
            </a:r>
            <a:r>
              <a:rPr lang="en-US" altLang="zh-CN" sz="1643" b="1" baseline="-30000"/>
              <a:t> x </a:t>
            </a:r>
            <a:r>
              <a:rPr lang="en-US" altLang="zh-CN" sz="1643" b="1"/>
              <a:t>=</a:t>
            </a:r>
            <a:r>
              <a:rPr lang="zh-CN" altLang="en-US" sz="1643" b="1">
                <a:latin typeface="宋体" panose="02010600030101010101" pitchFamily="2" charset="-122"/>
              </a:rPr>
              <a:t>（</a:t>
            </a:r>
            <a:r>
              <a:rPr lang="en-US" altLang="zh-CN" sz="1643" b="1"/>
              <a:t>n</a:t>
            </a:r>
            <a:r>
              <a:rPr lang="en-US" altLang="zh-CN" sz="1643" b="1" baseline="-30000"/>
              <a:t>x </a:t>
            </a:r>
            <a:r>
              <a:rPr lang="en-US" altLang="zh-CN" sz="1643" b="1"/>
              <a:t>+ n</a:t>
            </a:r>
            <a:r>
              <a:rPr lang="en-US" altLang="zh-CN" sz="1643" b="1" baseline="-30000"/>
              <a:t>x+1</a:t>
            </a:r>
            <a:r>
              <a:rPr lang="zh-CN" altLang="en-US" sz="1643" b="1">
                <a:latin typeface="宋体" panose="02010600030101010101" pitchFamily="2" charset="-122"/>
              </a:rPr>
              <a:t>）</a:t>
            </a:r>
            <a:r>
              <a:rPr lang="en-US" altLang="zh-CN" sz="1643" b="1"/>
              <a:t>/2 , T</a:t>
            </a:r>
            <a:r>
              <a:rPr lang="en-US" altLang="zh-CN" sz="1643" b="1" baseline="-30000"/>
              <a:t> x </a:t>
            </a:r>
            <a:r>
              <a:rPr lang="en-US" altLang="zh-CN" sz="1643" b="1"/>
              <a:t>= </a:t>
            </a:r>
            <a:r>
              <a:rPr lang="en-US" altLang="zh-CN" sz="1643" b="1">
                <a:latin typeface="宋体" panose="02010600030101010101" pitchFamily="2" charset="-122"/>
              </a:rPr>
              <a:t>Σ</a:t>
            </a:r>
            <a:r>
              <a:rPr lang="en-US" altLang="zh-CN" sz="1643" b="1"/>
              <a:t>L</a:t>
            </a:r>
            <a:r>
              <a:rPr lang="en-US" altLang="zh-CN" sz="1643" b="1" baseline="-30000"/>
              <a:t> x </a:t>
            </a:r>
          </a:p>
        </p:txBody>
      </p:sp>
      <p:sp>
        <p:nvSpPr>
          <p:cNvPr id="23557" name="Line 5">
            <a:hlinkClick r:id="rId3" action="ppaction://hlinksldjump"/>
            <a:extLst>
              <a:ext uri="{FF2B5EF4-FFF2-40B4-BE49-F238E27FC236}">
                <a16:creationId xmlns:a16="http://schemas.microsoft.com/office/drawing/2014/main" id="{EFD03C9E-CD1E-D60C-D9AA-67DAD4C2AC34}"/>
              </a:ext>
            </a:extLst>
          </p:cNvPr>
          <p:cNvSpPr>
            <a:spLocks noChangeShapeType="1"/>
          </p:cNvSpPr>
          <p:nvPr/>
        </p:nvSpPr>
        <p:spPr bwMode="auto">
          <a:xfrm>
            <a:off x="6566615" y="6774809"/>
            <a:ext cx="74007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23558" name="Picture 7">
            <a:hlinkClick r:id="rId4"/>
            <a:extLst>
              <a:ext uri="{FF2B5EF4-FFF2-40B4-BE49-F238E27FC236}">
                <a16:creationId xmlns:a16="http://schemas.microsoft.com/office/drawing/2014/main" id="{F0CE9508-6E10-9EFC-7512-7C1D31A024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7177" y="146712"/>
            <a:ext cx="1467115" cy="1100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9" name="Rectangle 9">
            <a:extLst>
              <a:ext uri="{FF2B5EF4-FFF2-40B4-BE49-F238E27FC236}">
                <a16:creationId xmlns:a16="http://schemas.microsoft.com/office/drawing/2014/main" id="{30F66386-DB10-B1BE-DFE7-F51E223553C9}"/>
              </a:ext>
            </a:extLst>
          </p:cNvPr>
          <p:cNvSpPr>
            <a:spLocks noChangeArrowheads="1"/>
          </p:cNvSpPr>
          <p:nvPr/>
        </p:nvSpPr>
        <p:spPr bwMode="auto">
          <a:xfrm>
            <a:off x="8415179" y="3447720"/>
            <a:ext cx="665092" cy="221697"/>
          </a:xfrm>
          <a:prstGeom prst="rect">
            <a:avLst/>
          </a:prstGeom>
          <a:solidFill>
            <a:schemeClr val="bg1">
              <a:alpha val="0"/>
            </a:schemeClr>
          </a:solidFill>
          <a:ln w="9525">
            <a:solidFill>
              <a:srgbClr val="FF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EAEC5635-2780-C17D-823F-DA96DACC3154}"/>
              </a:ext>
            </a:extLst>
          </p:cNvPr>
          <p:cNvSpPr txBox="1">
            <a:spLocks noChangeArrowheads="1"/>
          </p:cNvSpPr>
          <p:nvPr/>
        </p:nvSpPr>
        <p:spPr bwMode="auto">
          <a:xfrm>
            <a:off x="336268" y="234738"/>
            <a:ext cx="8372334" cy="873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65" b="1"/>
              <a:t>有的生命表中除</a:t>
            </a:r>
            <a:r>
              <a:rPr lang="en-US" altLang="zh-CN" sz="2465" b="1"/>
              <a:t>l</a:t>
            </a:r>
            <a:r>
              <a:rPr lang="en-US" altLang="zh-CN" sz="2465" b="1" baseline="-30000"/>
              <a:t>x</a:t>
            </a:r>
            <a:r>
              <a:rPr lang="zh-CN" altLang="en-US" sz="2465" b="1"/>
              <a:t>栏外，还增加了</a:t>
            </a:r>
            <a:r>
              <a:rPr lang="en-US" altLang="zh-CN" sz="2465" b="1"/>
              <a:t>m</a:t>
            </a:r>
            <a:r>
              <a:rPr lang="en-US" altLang="zh-CN" sz="2465" b="1" baseline="-30000"/>
              <a:t>x</a:t>
            </a:r>
            <a:r>
              <a:rPr lang="zh-CN" altLang="en-US" sz="2465" b="1"/>
              <a:t>栏，描述了各年龄的出生率，这样的生命表称为综合生命表。 </a:t>
            </a:r>
          </a:p>
        </p:txBody>
      </p:sp>
      <p:grpSp>
        <p:nvGrpSpPr>
          <p:cNvPr id="24579" name="Group 236">
            <a:extLst>
              <a:ext uri="{FF2B5EF4-FFF2-40B4-BE49-F238E27FC236}">
                <a16:creationId xmlns:a16="http://schemas.microsoft.com/office/drawing/2014/main" id="{5374B975-9704-5193-D8DD-465BE02B3C44}"/>
              </a:ext>
            </a:extLst>
          </p:cNvPr>
          <p:cNvGrpSpPr>
            <a:grpSpLocks/>
          </p:cNvGrpSpPr>
          <p:nvPr/>
        </p:nvGrpSpPr>
        <p:grpSpPr bwMode="auto">
          <a:xfrm>
            <a:off x="169995" y="1173691"/>
            <a:ext cx="9022755" cy="5648392"/>
            <a:chOff x="-3" y="-3"/>
            <a:chExt cx="5056" cy="3270"/>
          </a:xfrm>
        </p:grpSpPr>
        <p:grpSp>
          <p:nvGrpSpPr>
            <p:cNvPr id="24582" name="Group 234">
              <a:extLst>
                <a:ext uri="{FF2B5EF4-FFF2-40B4-BE49-F238E27FC236}">
                  <a16:creationId xmlns:a16="http://schemas.microsoft.com/office/drawing/2014/main" id="{C23892E6-55DE-45C4-A549-1BDAC7C7DAA6}"/>
                </a:ext>
              </a:extLst>
            </p:cNvPr>
            <p:cNvGrpSpPr>
              <a:grpSpLocks/>
            </p:cNvGrpSpPr>
            <p:nvPr/>
          </p:nvGrpSpPr>
          <p:grpSpPr bwMode="auto">
            <a:xfrm>
              <a:off x="0" y="0"/>
              <a:ext cx="5050" cy="3264"/>
              <a:chOff x="0" y="0"/>
              <a:chExt cx="5050" cy="3264"/>
            </a:xfrm>
          </p:grpSpPr>
          <p:grpSp>
            <p:nvGrpSpPr>
              <p:cNvPr id="24584" name="Group 81">
                <a:extLst>
                  <a:ext uri="{FF2B5EF4-FFF2-40B4-BE49-F238E27FC236}">
                    <a16:creationId xmlns:a16="http://schemas.microsoft.com/office/drawing/2014/main" id="{1292FBF1-CD99-7285-63FB-CF4B2826B499}"/>
                  </a:ext>
                </a:extLst>
              </p:cNvPr>
              <p:cNvGrpSpPr>
                <a:grpSpLocks/>
              </p:cNvGrpSpPr>
              <p:nvPr/>
            </p:nvGrpSpPr>
            <p:grpSpPr bwMode="auto">
              <a:xfrm>
                <a:off x="0" y="0"/>
                <a:ext cx="590" cy="960"/>
                <a:chOff x="0" y="0"/>
                <a:chExt cx="590" cy="960"/>
              </a:xfrm>
            </p:grpSpPr>
            <p:sp>
              <p:nvSpPr>
                <p:cNvPr id="24813" name="Rectangle 3">
                  <a:extLst>
                    <a:ext uri="{FF2B5EF4-FFF2-40B4-BE49-F238E27FC236}">
                      <a16:creationId xmlns:a16="http://schemas.microsoft.com/office/drawing/2014/main" id="{38F55033-B42F-329A-3C92-99746636D65E}"/>
                    </a:ext>
                  </a:extLst>
                </p:cNvPr>
                <p:cNvSpPr>
                  <a:spLocks noChangeArrowheads="1"/>
                </p:cNvSpPr>
                <p:nvPr/>
              </p:nvSpPr>
              <p:spPr bwMode="auto">
                <a:xfrm>
                  <a:off x="43" y="0"/>
                  <a:ext cx="504"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38"/>
                    <a:t> </a:t>
                  </a:r>
                  <a:r>
                    <a:rPr lang="zh-CN" altLang="en-US" sz="1438"/>
                    <a:t>期（</a:t>
                  </a:r>
                  <a:r>
                    <a:rPr lang="en-US" altLang="zh-CN" sz="1438"/>
                    <a:t>x</a:t>
                  </a:r>
                  <a:r>
                    <a:rPr lang="zh-CN" altLang="en-US" sz="1438"/>
                    <a:t>）</a:t>
                  </a:r>
                </a:p>
                <a:p>
                  <a:pPr algn="just"/>
                  <a:endParaRPr lang="en-US" altLang="zh-CN" sz="1438"/>
                </a:p>
              </p:txBody>
            </p:sp>
            <p:sp>
              <p:nvSpPr>
                <p:cNvPr id="24814" name="Rectangle 80">
                  <a:extLst>
                    <a:ext uri="{FF2B5EF4-FFF2-40B4-BE49-F238E27FC236}">
                      <a16:creationId xmlns:a16="http://schemas.microsoft.com/office/drawing/2014/main" id="{AB26027E-E4BB-3440-053E-A9EC5DB89355}"/>
                    </a:ext>
                  </a:extLst>
                </p:cNvPr>
                <p:cNvSpPr>
                  <a:spLocks noChangeArrowheads="1"/>
                </p:cNvSpPr>
                <p:nvPr/>
              </p:nvSpPr>
              <p:spPr bwMode="auto">
                <a:xfrm>
                  <a:off x="0" y="0"/>
                  <a:ext cx="590" cy="9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85" name="Group 83">
                <a:extLst>
                  <a:ext uri="{FF2B5EF4-FFF2-40B4-BE49-F238E27FC236}">
                    <a16:creationId xmlns:a16="http://schemas.microsoft.com/office/drawing/2014/main" id="{551E40E1-8EC5-CCDF-8A23-3623ECCDA7B0}"/>
                  </a:ext>
                </a:extLst>
              </p:cNvPr>
              <p:cNvGrpSpPr>
                <a:grpSpLocks/>
              </p:cNvGrpSpPr>
              <p:nvPr/>
            </p:nvGrpSpPr>
            <p:grpSpPr bwMode="auto">
              <a:xfrm>
                <a:off x="590" y="0"/>
                <a:ext cx="446" cy="960"/>
                <a:chOff x="590" y="0"/>
                <a:chExt cx="446" cy="960"/>
              </a:xfrm>
            </p:grpSpPr>
            <p:sp>
              <p:nvSpPr>
                <p:cNvPr id="24811" name="Rectangle 4">
                  <a:extLst>
                    <a:ext uri="{FF2B5EF4-FFF2-40B4-BE49-F238E27FC236}">
                      <a16:creationId xmlns:a16="http://schemas.microsoft.com/office/drawing/2014/main" id="{712859C8-0F1E-050B-7272-CC6E077DD19C}"/>
                    </a:ext>
                  </a:extLst>
                </p:cNvPr>
                <p:cNvSpPr>
                  <a:spLocks noChangeArrowheads="1"/>
                </p:cNvSpPr>
                <p:nvPr/>
              </p:nvSpPr>
              <p:spPr bwMode="auto">
                <a:xfrm>
                  <a:off x="633" y="0"/>
                  <a:ext cx="360"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38"/>
                    <a:t> </a:t>
                  </a:r>
                </a:p>
                <a:p>
                  <a:pPr algn="just"/>
                  <a:r>
                    <a:rPr lang="zh-CN" altLang="en-US" sz="1438"/>
                    <a:t>每期开始数量（</a:t>
                  </a:r>
                  <a:r>
                    <a:rPr lang="en-US" altLang="zh-CN" sz="1438"/>
                    <a:t>n</a:t>
                  </a:r>
                  <a:r>
                    <a:rPr lang="en-US" altLang="zh-CN" sz="1438" baseline="-30000"/>
                    <a:t>x</a:t>
                  </a:r>
                  <a:r>
                    <a:rPr lang="zh-CN" altLang="en-US" sz="1438" baseline="-30000"/>
                    <a:t>）</a:t>
                  </a:r>
                  <a:endParaRPr lang="zh-CN" altLang="en-US" sz="1438"/>
                </a:p>
                <a:p>
                  <a:pPr algn="just"/>
                  <a:endParaRPr lang="en-US" altLang="zh-CN" sz="1438"/>
                </a:p>
              </p:txBody>
            </p:sp>
            <p:sp>
              <p:nvSpPr>
                <p:cNvPr id="24812" name="Rectangle 82">
                  <a:extLst>
                    <a:ext uri="{FF2B5EF4-FFF2-40B4-BE49-F238E27FC236}">
                      <a16:creationId xmlns:a16="http://schemas.microsoft.com/office/drawing/2014/main" id="{1BC08049-DFDE-10AF-351C-8602E4923C0D}"/>
                    </a:ext>
                  </a:extLst>
                </p:cNvPr>
                <p:cNvSpPr>
                  <a:spLocks noChangeArrowheads="1"/>
                </p:cNvSpPr>
                <p:nvPr/>
              </p:nvSpPr>
              <p:spPr bwMode="auto">
                <a:xfrm>
                  <a:off x="590" y="0"/>
                  <a:ext cx="446" cy="9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86" name="Group 85">
                <a:extLst>
                  <a:ext uri="{FF2B5EF4-FFF2-40B4-BE49-F238E27FC236}">
                    <a16:creationId xmlns:a16="http://schemas.microsoft.com/office/drawing/2014/main" id="{CB09EC0E-837E-7583-6A5F-DB2E18D65743}"/>
                  </a:ext>
                </a:extLst>
              </p:cNvPr>
              <p:cNvGrpSpPr>
                <a:grpSpLocks/>
              </p:cNvGrpSpPr>
              <p:nvPr/>
            </p:nvGrpSpPr>
            <p:grpSpPr bwMode="auto">
              <a:xfrm>
                <a:off x="1036" y="0"/>
                <a:ext cx="446" cy="960"/>
                <a:chOff x="1036" y="0"/>
                <a:chExt cx="446" cy="960"/>
              </a:xfrm>
            </p:grpSpPr>
            <p:sp>
              <p:nvSpPr>
                <p:cNvPr id="24809" name="Rectangle 5">
                  <a:extLst>
                    <a:ext uri="{FF2B5EF4-FFF2-40B4-BE49-F238E27FC236}">
                      <a16:creationId xmlns:a16="http://schemas.microsoft.com/office/drawing/2014/main" id="{83CAA560-3D74-E06A-37AD-C37D446E4228}"/>
                    </a:ext>
                  </a:extLst>
                </p:cNvPr>
                <p:cNvSpPr>
                  <a:spLocks noChangeArrowheads="1"/>
                </p:cNvSpPr>
                <p:nvPr/>
              </p:nvSpPr>
              <p:spPr bwMode="auto">
                <a:xfrm>
                  <a:off x="1079" y="0"/>
                  <a:ext cx="360"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1438"/>
                    <a:t>同生群存活到每期开始比率</a:t>
                  </a:r>
                  <a:r>
                    <a:rPr lang="zh-CN" altLang="en-US" sz="1232"/>
                    <a:t>（</a:t>
                  </a:r>
                  <a:r>
                    <a:rPr lang="en-US" altLang="zh-CN" sz="1438"/>
                    <a:t>l</a:t>
                  </a:r>
                  <a:r>
                    <a:rPr lang="en-US" altLang="zh-CN" sz="1438" baseline="-30000"/>
                    <a:t>x</a:t>
                  </a:r>
                  <a:r>
                    <a:rPr lang="zh-CN" altLang="en-US" sz="1232"/>
                    <a:t>）</a:t>
                  </a:r>
                </a:p>
                <a:p>
                  <a:pPr algn="just"/>
                  <a:endParaRPr lang="en-US" altLang="zh-CN" sz="1438"/>
                </a:p>
              </p:txBody>
            </p:sp>
            <p:sp>
              <p:nvSpPr>
                <p:cNvPr id="24810" name="Rectangle 84">
                  <a:extLst>
                    <a:ext uri="{FF2B5EF4-FFF2-40B4-BE49-F238E27FC236}">
                      <a16:creationId xmlns:a16="http://schemas.microsoft.com/office/drawing/2014/main" id="{9CF6E2C2-AB64-32BF-D011-0B123AA078AB}"/>
                    </a:ext>
                  </a:extLst>
                </p:cNvPr>
                <p:cNvSpPr>
                  <a:spLocks noChangeArrowheads="1"/>
                </p:cNvSpPr>
                <p:nvPr/>
              </p:nvSpPr>
              <p:spPr bwMode="auto">
                <a:xfrm>
                  <a:off x="1036" y="0"/>
                  <a:ext cx="446" cy="9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87" name="Group 87">
                <a:extLst>
                  <a:ext uri="{FF2B5EF4-FFF2-40B4-BE49-F238E27FC236}">
                    <a16:creationId xmlns:a16="http://schemas.microsoft.com/office/drawing/2014/main" id="{878DCE56-019A-1EFE-289D-2880F01160AC}"/>
                  </a:ext>
                </a:extLst>
              </p:cNvPr>
              <p:cNvGrpSpPr>
                <a:grpSpLocks/>
              </p:cNvGrpSpPr>
              <p:nvPr/>
            </p:nvGrpSpPr>
            <p:grpSpPr bwMode="auto">
              <a:xfrm>
                <a:off x="1482" y="0"/>
                <a:ext cx="446" cy="960"/>
                <a:chOff x="1482" y="0"/>
                <a:chExt cx="446" cy="960"/>
              </a:xfrm>
            </p:grpSpPr>
            <p:sp>
              <p:nvSpPr>
                <p:cNvPr id="24807" name="Rectangle 6">
                  <a:extLst>
                    <a:ext uri="{FF2B5EF4-FFF2-40B4-BE49-F238E27FC236}">
                      <a16:creationId xmlns:a16="http://schemas.microsoft.com/office/drawing/2014/main" id="{DAD9C01E-51CE-B90D-88AC-C52BBF82835E}"/>
                    </a:ext>
                  </a:extLst>
                </p:cNvPr>
                <p:cNvSpPr>
                  <a:spLocks noChangeArrowheads="1"/>
                </p:cNvSpPr>
                <p:nvPr/>
              </p:nvSpPr>
              <p:spPr bwMode="auto">
                <a:xfrm>
                  <a:off x="1525" y="0"/>
                  <a:ext cx="360"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1438"/>
                    <a:t>同生群在每一期中死亡的比率</a:t>
                  </a:r>
                  <a:r>
                    <a:rPr lang="en-US" altLang="zh-CN" sz="1438"/>
                    <a:t>(d</a:t>
                  </a:r>
                  <a:r>
                    <a:rPr lang="en-US" altLang="zh-CN" sz="1438" baseline="-30000"/>
                    <a:t>x</a:t>
                  </a:r>
                  <a:r>
                    <a:rPr lang="en-US" altLang="zh-CN" sz="1438"/>
                    <a:t>)</a:t>
                  </a:r>
                </a:p>
                <a:p>
                  <a:pPr algn="just"/>
                  <a:endParaRPr lang="en-US" altLang="zh-CN" sz="1438"/>
                </a:p>
              </p:txBody>
            </p:sp>
            <p:sp>
              <p:nvSpPr>
                <p:cNvPr id="24808" name="Rectangle 86">
                  <a:extLst>
                    <a:ext uri="{FF2B5EF4-FFF2-40B4-BE49-F238E27FC236}">
                      <a16:creationId xmlns:a16="http://schemas.microsoft.com/office/drawing/2014/main" id="{9F3EBD87-4383-3FC5-46AB-CA36BA64F796}"/>
                    </a:ext>
                  </a:extLst>
                </p:cNvPr>
                <p:cNvSpPr>
                  <a:spLocks noChangeArrowheads="1"/>
                </p:cNvSpPr>
                <p:nvPr/>
              </p:nvSpPr>
              <p:spPr bwMode="auto">
                <a:xfrm>
                  <a:off x="1482" y="0"/>
                  <a:ext cx="446" cy="9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88" name="Group 89">
                <a:extLst>
                  <a:ext uri="{FF2B5EF4-FFF2-40B4-BE49-F238E27FC236}">
                    <a16:creationId xmlns:a16="http://schemas.microsoft.com/office/drawing/2014/main" id="{DAA6E41A-477D-8C17-6F04-BB2CB70B39B5}"/>
                  </a:ext>
                </a:extLst>
              </p:cNvPr>
              <p:cNvGrpSpPr>
                <a:grpSpLocks/>
              </p:cNvGrpSpPr>
              <p:nvPr/>
            </p:nvGrpSpPr>
            <p:grpSpPr bwMode="auto">
              <a:xfrm>
                <a:off x="1928" y="0"/>
                <a:ext cx="374" cy="960"/>
                <a:chOff x="1928" y="0"/>
                <a:chExt cx="374" cy="960"/>
              </a:xfrm>
            </p:grpSpPr>
            <p:sp>
              <p:nvSpPr>
                <p:cNvPr id="24805" name="Rectangle 7">
                  <a:extLst>
                    <a:ext uri="{FF2B5EF4-FFF2-40B4-BE49-F238E27FC236}">
                      <a16:creationId xmlns:a16="http://schemas.microsoft.com/office/drawing/2014/main" id="{B12052AB-1098-813A-55AA-95A206CA78C6}"/>
                    </a:ext>
                  </a:extLst>
                </p:cNvPr>
                <p:cNvSpPr>
                  <a:spLocks noChangeArrowheads="1"/>
                </p:cNvSpPr>
                <p:nvPr/>
              </p:nvSpPr>
              <p:spPr bwMode="auto">
                <a:xfrm>
                  <a:off x="1971" y="0"/>
                  <a:ext cx="288"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38"/>
                    <a:t> </a:t>
                  </a:r>
                </a:p>
                <a:p>
                  <a:pPr algn="just"/>
                  <a:r>
                    <a:rPr lang="en-US" altLang="zh-CN" sz="1438"/>
                    <a:t>  </a:t>
                  </a:r>
                </a:p>
                <a:p>
                  <a:pPr algn="just"/>
                  <a:r>
                    <a:rPr lang="zh-CN" altLang="en-US" sz="1438"/>
                    <a:t>死亡率</a:t>
                  </a:r>
                  <a:r>
                    <a:rPr lang="en-US" altLang="zh-CN" sz="1438"/>
                    <a:t>(q</a:t>
                  </a:r>
                  <a:r>
                    <a:rPr lang="en-US" altLang="zh-CN" sz="1438" baseline="-30000"/>
                    <a:t>x</a:t>
                  </a:r>
                  <a:r>
                    <a:rPr lang="en-US" altLang="zh-CN" sz="1438"/>
                    <a:t>)</a:t>
                  </a:r>
                </a:p>
                <a:p>
                  <a:pPr algn="just"/>
                  <a:endParaRPr lang="en-US" altLang="zh-CN" sz="1438"/>
                </a:p>
              </p:txBody>
            </p:sp>
            <p:sp>
              <p:nvSpPr>
                <p:cNvPr id="24806" name="Rectangle 88">
                  <a:extLst>
                    <a:ext uri="{FF2B5EF4-FFF2-40B4-BE49-F238E27FC236}">
                      <a16:creationId xmlns:a16="http://schemas.microsoft.com/office/drawing/2014/main" id="{37DA59AE-14F8-CF5C-F3FE-57D7129212B8}"/>
                    </a:ext>
                  </a:extLst>
                </p:cNvPr>
                <p:cNvSpPr>
                  <a:spLocks noChangeArrowheads="1"/>
                </p:cNvSpPr>
                <p:nvPr/>
              </p:nvSpPr>
              <p:spPr bwMode="auto">
                <a:xfrm>
                  <a:off x="1928" y="0"/>
                  <a:ext cx="374" cy="9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89" name="Group 91">
                <a:extLst>
                  <a:ext uri="{FF2B5EF4-FFF2-40B4-BE49-F238E27FC236}">
                    <a16:creationId xmlns:a16="http://schemas.microsoft.com/office/drawing/2014/main" id="{B894D8E8-B347-08F5-6EE0-21691CC39780}"/>
                  </a:ext>
                </a:extLst>
              </p:cNvPr>
              <p:cNvGrpSpPr>
                <a:grpSpLocks/>
              </p:cNvGrpSpPr>
              <p:nvPr/>
            </p:nvGrpSpPr>
            <p:grpSpPr bwMode="auto">
              <a:xfrm>
                <a:off x="2302" y="0"/>
                <a:ext cx="446" cy="960"/>
                <a:chOff x="2302" y="0"/>
                <a:chExt cx="446" cy="960"/>
              </a:xfrm>
            </p:grpSpPr>
            <p:sp>
              <p:nvSpPr>
                <p:cNvPr id="24803" name="Rectangle 8">
                  <a:extLst>
                    <a:ext uri="{FF2B5EF4-FFF2-40B4-BE49-F238E27FC236}">
                      <a16:creationId xmlns:a16="http://schemas.microsoft.com/office/drawing/2014/main" id="{AFF09840-E764-40C8-056F-2EACBD1D346C}"/>
                    </a:ext>
                  </a:extLst>
                </p:cNvPr>
                <p:cNvSpPr>
                  <a:spLocks noChangeArrowheads="1"/>
                </p:cNvSpPr>
                <p:nvPr/>
              </p:nvSpPr>
              <p:spPr bwMode="auto">
                <a:xfrm>
                  <a:off x="2345" y="0"/>
                  <a:ext cx="360"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38"/>
                    <a:t> </a:t>
                  </a:r>
                </a:p>
                <a:p>
                  <a:pPr algn="just"/>
                  <a:r>
                    <a:rPr lang="en-US" altLang="zh-CN" sz="1438"/>
                    <a:t>  </a:t>
                  </a:r>
                </a:p>
                <a:p>
                  <a:pPr algn="just"/>
                  <a:r>
                    <a:rPr lang="en-US" altLang="zh-CN" sz="1438"/>
                    <a:t> </a:t>
                  </a:r>
                </a:p>
                <a:p>
                  <a:pPr algn="just"/>
                  <a:r>
                    <a:rPr lang="en-US" altLang="zh-CN" sz="1438"/>
                    <a:t> </a:t>
                  </a:r>
                </a:p>
                <a:p>
                  <a:pPr algn="just"/>
                  <a:r>
                    <a:rPr lang="en-US" altLang="zh-CN" sz="1438"/>
                    <a:t>log</a:t>
                  </a:r>
                  <a:r>
                    <a:rPr lang="en-US" altLang="zh-CN" sz="1438" baseline="-30000"/>
                    <a:t>1 0 </a:t>
                  </a:r>
                  <a:r>
                    <a:rPr lang="en-US" altLang="zh-CN" sz="1438"/>
                    <a:t>n</a:t>
                  </a:r>
                  <a:r>
                    <a:rPr lang="en-US" altLang="zh-CN" sz="1438" baseline="-30000"/>
                    <a:t>x</a:t>
                  </a:r>
                  <a:endParaRPr lang="en-US" altLang="zh-CN" sz="1438"/>
                </a:p>
                <a:p>
                  <a:pPr algn="just"/>
                  <a:endParaRPr lang="en-US" altLang="zh-CN" sz="1438"/>
                </a:p>
              </p:txBody>
            </p:sp>
            <p:sp>
              <p:nvSpPr>
                <p:cNvPr id="24804" name="Rectangle 90">
                  <a:extLst>
                    <a:ext uri="{FF2B5EF4-FFF2-40B4-BE49-F238E27FC236}">
                      <a16:creationId xmlns:a16="http://schemas.microsoft.com/office/drawing/2014/main" id="{92C4A1D4-1E2B-863C-4F93-BC859075B57E}"/>
                    </a:ext>
                  </a:extLst>
                </p:cNvPr>
                <p:cNvSpPr>
                  <a:spLocks noChangeArrowheads="1"/>
                </p:cNvSpPr>
                <p:nvPr/>
              </p:nvSpPr>
              <p:spPr bwMode="auto">
                <a:xfrm>
                  <a:off x="2302" y="0"/>
                  <a:ext cx="446" cy="9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90" name="Group 93">
                <a:extLst>
                  <a:ext uri="{FF2B5EF4-FFF2-40B4-BE49-F238E27FC236}">
                    <a16:creationId xmlns:a16="http://schemas.microsoft.com/office/drawing/2014/main" id="{9B72BFEE-9E09-F17C-6F2C-816876CD5A2F}"/>
                  </a:ext>
                </a:extLst>
              </p:cNvPr>
              <p:cNvGrpSpPr>
                <a:grpSpLocks/>
              </p:cNvGrpSpPr>
              <p:nvPr/>
            </p:nvGrpSpPr>
            <p:grpSpPr bwMode="auto">
              <a:xfrm>
                <a:off x="2748" y="0"/>
                <a:ext cx="446" cy="960"/>
                <a:chOff x="2748" y="0"/>
                <a:chExt cx="446" cy="960"/>
              </a:xfrm>
            </p:grpSpPr>
            <p:sp>
              <p:nvSpPr>
                <p:cNvPr id="24801" name="Rectangle 9">
                  <a:extLst>
                    <a:ext uri="{FF2B5EF4-FFF2-40B4-BE49-F238E27FC236}">
                      <a16:creationId xmlns:a16="http://schemas.microsoft.com/office/drawing/2014/main" id="{C19DF226-9E33-C97A-6AF3-455363BFB753}"/>
                    </a:ext>
                  </a:extLst>
                </p:cNvPr>
                <p:cNvSpPr>
                  <a:spLocks noChangeArrowheads="1"/>
                </p:cNvSpPr>
                <p:nvPr/>
              </p:nvSpPr>
              <p:spPr bwMode="auto">
                <a:xfrm>
                  <a:off x="2791" y="0"/>
                  <a:ext cx="360"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38"/>
                    <a:t> </a:t>
                  </a:r>
                </a:p>
                <a:p>
                  <a:pPr algn="just"/>
                  <a:r>
                    <a:rPr lang="en-US" altLang="zh-CN" sz="1438"/>
                    <a:t>  </a:t>
                  </a:r>
                </a:p>
                <a:p>
                  <a:pPr algn="just"/>
                  <a:r>
                    <a:rPr lang="en-US" altLang="zh-CN" sz="1438"/>
                    <a:t> </a:t>
                  </a:r>
                </a:p>
                <a:p>
                  <a:pPr algn="just"/>
                  <a:r>
                    <a:rPr lang="en-US" altLang="zh-CN" sz="1438"/>
                    <a:t> </a:t>
                  </a:r>
                </a:p>
                <a:p>
                  <a:pPr algn="just"/>
                  <a:r>
                    <a:rPr lang="en-US" altLang="zh-CN" sz="1438"/>
                    <a:t>log</a:t>
                  </a:r>
                  <a:r>
                    <a:rPr lang="en-US" altLang="zh-CN" sz="1438" baseline="-30000"/>
                    <a:t>10</a:t>
                  </a:r>
                  <a:r>
                    <a:rPr lang="en-US" altLang="zh-CN" sz="1438"/>
                    <a:t>l</a:t>
                  </a:r>
                  <a:r>
                    <a:rPr lang="en-US" altLang="zh-CN" sz="1438" baseline="-30000"/>
                    <a:t>x</a:t>
                  </a:r>
                  <a:endParaRPr lang="en-US" altLang="zh-CN" sz="1438"/>
                </a:p>
                <a:p>
                  <a:pPr algn="just"/>
                  <a:endParaRPr lang="en-US" altLang="zh-CN" sz="1438"/>
                </a:p>
              </p:txBody>
            </p:sp>
            <p:sp>
              <p:nvSpPr>
                <p:cNvPr id="24802" name="Rectangle 92">
                  <a:extLst>
                    <a:ext uri="{FF2B5EF4-FFF2-40B4-BE49-F238E27FC236}">
                      <a16:creationId xmlns:a16="http://schemas.microsoft.com/office/drawing/2014/main" id="{276177E7-0044-A586-4440-DE4AE3CE2432}"/>
                    </a:ext>
                  </a:extLst>
                </p:cNvPr>
                <p:cNvSpPr>
                  <a:spLocks noChangeArrowheads="1"/>
                </p:cNvSpPr>
                <p:nvPr/>
              </p:nvSpPr>
              <p:spPr bwMode="auto">
                <a:xfrm>
                  <a:off x="2748" y="0"/>
                  <a:ext cx="446" cy="9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91" name="Group 95">
                <a:extLst>
                  <a:ext uri="{FF2B5EF4-FFF2-40B4-BE49-F238E27FC236}">
                    <a16:creationId xmlns:a16="http://schemas.microsoft.com/office/drawing/2014/main" id="{D99ECC77-0228-B5EF-5D17-6DFF27EF20B9}"/>
                  </a:ext>
                </a:extLst>
              </p:cNvPr>
              <p:cNvGrpSpPr>
                <a:grpSpLocks/>
              </p:cNvGrpSpPr>
              <p:nvPr/>
            </p:nvGrpSpPr>
            <p:grpSpPr bwMode="auto">
              <a:xfrm>
                <a:off x="3194" y="0"/>
                <a:ext cx="518" cy="960"/>
                <a:chOff x="3194" y="0"/>
                <a:chExt cx="518" cy="960"/>
              </a:xfrm>
            </p:grpSpPr>
            <p:sp>
              <p:nvSpPr>
                <p:cNvPr id="24799" name="Rectangle 10">
                  <a:extLst>
                    <a:ext uri="{FF2B5EF4-FFF2-40B4-BE49-F238E27FC236}">
                      <a16:creationId xmlns:a16="http://schemas.microsoft.com/office/drawing/2014/main" id="{F551DB35-B07F-5FE4-E4A3-3C34DCA9BA54}"/>
                    </a:ext>
                  </a:extLst>
                </p:cNvPr>
                <p:cNvSpPr>
                  <a:spLocks noChangeArrowheads="1"/>
                </p:cNvSpPr>
                <p:nvPr/>
              </p:nvSpPr>
              <p:spPr bwMode="auto">
                <a:xfrm>
                  <a:off x="3237" y="0"/>
                  <a:ext cx="432"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38"/>
                    <a:t>  </a:t>
                  </a:r>
                </a:p>
                <a:p>
                  <a:pPr algn="just"/>
                  <a:r>
                    <a:rPr lang="en-US" altLang="zh-CN" sz="1438"/>
                    <a:t> </a:t>
                  </a:r>
                </a:p>
                <a:p>
                  <a:pPr algn="just"/>
                  <a:r>
                    <a:rPr lang="en-US" altLang="zh-CN" sz="1438"/>
                    <a:t>log</a:t>
                  </a:r>
                  <a:r>
                    <a:rPr lang="en-US" altLang="zh-CN" sz="1438" baseline="-30000"/>
                    <a:t>10</a:t>
                  </a:r>
                  <a:r>
                    <a:rPr lang="en-US" altLang="zh-CN" sz="1438"/>
                    <a:t>n</a:t>
                  </a:r>
                  <a:r>
                    <a:rPr lang="en-US" altLang="zh-CN" sz="1438" baseline="-30000"/>
                    <a:t>x </a:t>
                  </a:r>
                  <a:r>
                    <a:rPr lang="en-US" altLang="zh-CN" sz="1438"/>
                    <a:t>- log</a:t>
                  </a:r>
                  <a:r>
                    <a:rPr lang="en-US" altLang="zh-CN" sz="1438" baseline="-30000"/>
                    <a:t>10</a:t>
                  </a:r>
                  <a:r>
                    <a:rPr lang="en-US" altLang="zh-CN" sz="1438"/>
                    <a:t>n</a:t>
                  </a:r>
                  <a:r>
                    <a:rPr lang="en-US" altLang="zh-CN" sz="1438" baseline="-30000"/>
                    <a:t>x+1 </a:t>
                  </a:r>
                  <a:r>
                    <a:rPr lang="en-US" altLang="zh-CN" sz="1438" b="1"/>
                    <a:t>=</a:t>
                  </a:r>
                  <a:r>
                    <a:rPr lang="en-US" altLang="zh-CN" sz="1438"/>
                    <a:t> k</a:t>
                  </a:r>
                  <a:r>
                    <a:rPr lang="en-US" altLang="zh-CN" sz="1438" baseline="-30000"/>
                    <a:t>x</a:t>
                  </a:r>
                  <a:endParaRPr lang="en-US" altLang="zh-CN" sz="1438"/>
                </a:p>
                <a:p>
                  <a:pPr algn="just"/>
                  <a:endParaRPr lang="en-US" altLang="zh-CN" sz="1438"/>
                </a:p>
              </p:txBody>
            </p:sp>
            <p:sp>
              <p:nvSpPr>
                <p:cNvPr id="24800" name="Rectangle 94">
                  <a:extLst>
                    <a:ext uri="{FF2B5EF4-FFF2-40B4-BE49-F238E27FC236}">
                      <a16:creationId xmlns:a16="http://schemas.microsoft.com/office/drawing/2014/main" id="{7ED286FB-D587-5923-ED7F-D571DA630BC0}"/>
                    </a:ext>
                  </a:extLst>
                </p:cNvPr>
                <p:cNvSpPr>
                  <a:spLocks noChangeArrowheads="1"/>
                </p:cNvSpPr>
                <p:nvPr/>
              </p:nvSpPr>
              <p:spPr bwMode="auto">
                <a:xfrm>
                  <a:off x="3194" y="0"/>
                  <a:ext cx="518" cy="9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92" name="Group 97">
                <a:extLst>
                  <a:ext uri="{FF2B5EF4-FFF2-40B4-BE49-F238E27FC236}">
                    <a16:creationId xmlns:a16="http://schemas.microsoft.com/office/drawing/2014/main" id="{9098F50F-B817-5BB0-F741-2CA801F35120}"/>
                  </a:ext>
                </a:extLst>
              </p:cNvPr>
              <p:cNvGrpSpPr>
                <a:grpSpLocks/>
              </p:cNvGrpSpPr>
              <p:nvPr/>
            </p:nvGrpSpPr>
            <p:grpSpPr bwMode="auto">
              <a:xfrm>
                <a:off x="3712" y="0"/>
                <a:ext cx="446" cy="960"/>
                <a:chOff x="3712" y="0"/>
                <a:chExt cx="446" cy="960"/>
              </a:xfrm>
            </p:grpSpPr>
            <p:sp>
              <p:nvSpPr>
                <p:cNvPr id="24797" name="Rectangle 11">
                  <a:extLst>
                    <a:ext uri="{FF2B5EF4-FFF2-40B4-BE49-F238E27FC236}">
                      <a16:creationId xmlns:a16="http://schemas.microsoft.com/office/drawing/2014/main" id="{99C995E1-8140-9E6A-91F8-287FD8198276}"/>
                    </a:ext>
                  </a:extLst>
                </p:cNvPr>
                <p:cNvSpPr>
                  <a:spLocks noChangeArrowheads="1"/>
                </p:cNvSpPr>
                <p:nvPr/>
              </p:nvSpPr>
              <p:spPr bwMode="auto">
                <a:xfrm>
                  <a:off x="3755" y="0"/>
                  <a:ext cx="360"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38"/>
                    <a:t>  </a:t>
                  </a:r>
                </a:p>
                <a:p>
                  <a:pPr algn="just"/>
                  <a:r>
                    <a:rPr lang="zh-CN" altLang="en-US" sz="1438">
                      <a:solidFill>
                        <a:srgbClr val="FF3300"/>
                      </a:solidFill>
                    </a:rPr>
                    <a:t>每期生产的卵数</a:t>
                  </a:r>
                  <a:r>
                    <a:rPr lang="en-US" altLang="zh-CN" sz="1438">
                      <a:solidFill>
                        <a:srgbClr val="FF3300"/>
                      </a:solidFill>
                    </a:rPr>
                    <a:t>(F</a:t>
                  </a:r>
                  <a:r>
                    <a:rPr lang="en-US" altLang="zh-CN" sz="1438" baseline="-30000">
                      <a:solidFill>
                        <a:srgbClr val="FF3300"/>
                      </a:solidFill>
                    </a:rPr>
                    <a:t>x</a:t>
                  </a:r>
                  <a:r>
                    <a:rPr lang="en-US" altLang="zh-CN" sz="1438">
                      <a:solidFill>
                        <a:srgbClr val="FF3300"/>
                      </a:solidFill>
                    </a:rPr>
                    <a:t>)</a:t>
                  </a:r>
                </a:p>
                <a:p>
                  <a:pPr algn="just"/>
                  <a:endParaRPr lang="en-US" altLang="zh-CN" sz="1438">
                    <a:solidFill>
                      <a:srgbClr val="FF3300"/>
                    </a:solidFill>
                  </a:endParaRPr>
                </a:p>
              </p:txBody>
            </p:sp>
            <p:sp>
              <p:nvSpPr>
                <p:cNvPr id="24798" name="Rectangle 96">
                  <a:extLst>
                    <a:ext uri="{FF2B5EF4-FFF2-40B4-BE49-F238E27FC236}">
                      <a16:creationId xmlns:a16="http://schemas.microsoft.com/office/drawing/2014/main" id="{FCFA8262-1905-0EA1-4DCA-2BFD556B4C38}"/>
                    </a:ext>
                  </a:extLst>
                </p:cNvPr>
                <p:cNvSpPr>
                  <a:spLocks noChangeArrowheads="1"/>
                </p:cNvSpPr>
                <p:nvPr/>
              </p:nvSpPr>
              <p:spPr bwMode="auto">
                <a:xfrm>
                  <a:off x="3712" y="0"/>
                  <a:ext cx="446" cy="9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93" name="Group 99">
                <a:extLst>
                  <a:ext uri="{FF2B5EF4-FFF2-40B4-BE49-F238E27FC236}">
                    <a16:creationId xmlns:a16="http://schemas.microsoft.com/office/drawing/2014/main" id="{B277A1E8-BBFA-32AA-C45C-29AF25947417}"/>
                  </a:ext>
                </a:extLst>
              </p:cNvPr>
              <p:cNvGrpSpPr>
                <a:grpSpLocks/>
              </p:cNvGrpSpPr>
              <p:nvPr/>
            </p:nvGrpSpPr>
            <p:grpSpPr bwMode="auto">
              <a:xfrm>
                <a:off x="4158" y="0"/>
                <a:ext cx="446" cy="960"/>
                <a:chOff x="4158" y="0"/>
                <a:chExt cx="446" cy="960"/>
              </a:xfrm>
            </p:grpSpPr>
            <p:sp>
              <p:nvSpPr>
                <p:cNvPr id="24795" name="Rectangle 12">
                  <a:extLst>
                    <a:ext uri="{FF2B5EF4-FFF2-40B4-BE49-F238E27FC236}">
                      <a16:creationId xmlns:a16="http://schemas.microsoft.com/office/drawing/2014/main" id="{B69170BB-CC8B-E792-956E-D216AF7CBCEC}"/>
                    </a:ext>
                  </a:extLst>
                </p:cNvPr>
                <p:cNvSpPr>
                  <a:spLocks noChangeArrowheads="1"/>
                </p:cNvSpPr>
                <p:nvPr/>
              </p:nvSpPr>
              <p:spPr bwMode="auto">
                <a:xfrm>
                  <a:off x="4201" y="0"/>
                  <a:ext cx="360"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1438">
                      <a:solidFill>
                        <a:srgbClr val="FF3300"/>
                      </a:solidFill>
                    </a:rPr>
                    <a:t>每期每存活个体生产的卵数 </a:t>
                  </a:r>
                  <a:r>
                    <a:rPr lang="en-US" altLang="zh-CN" sz="1438">
                      <a:solidFill>
                        <a:srgbClr val="FF3300"/>
                      </a:solidFill>
                    </a:rPr>
                    <a:t>(m</a:t>
                  </a:r>
                  <a:r>
                    <a:rPr lang="en-US" altLang="zh-CN" sz="1438" baseline="-30000">
                      <a:solidFill>
                        <a:srgbClr val="FF3300"/>
                      </a:solidFill>
                    </a:rPr>
                    <a:t>x</a:t>
                  </a:r>
                  <a:r>
                    <a:rPr lang="zh-CN" altLang="en-US" sz="1438">
                      <a:solidFill>
                        <a:srgbClr val="FF3300"/>
                      </a:solidFill>
                    </a:rPr>
                    <a:t>）</a:t>
                  </a:r>
                </a:p>
                <a:p>
                  <a:pPr algn="just"/>
                  <a:endParaRPr lang="en-US" altLang="zh-CN" sz="1438">
                    <a:solidFill>
                      <a:srgbClr val="FF3300"/>
                    </a:solidFill>
                  </a:endParaRPr>
                </a:p>
              </p:txBody>
            </p:sp>
            <p:sp>
              <p:nvSpPr>
                <p:cNvPr id="24796" name="Rectangle 98">
                  <a:extLst>
                    <a:ext uri="{FF2B5EF4-FFF2-40B4-BE49-F238E27FC236}">
                      <a16:creationId xmlns:a16="http://schemas.microsoft.com/office/drawing/2014/main" id="{8430AB74-56CA-5240-E2AC-35C07B59B62F}"/>
                    </a:ext>
                  </a:extLst>
                </p:cNvPr>
                <p:cNvSpPr>
                  <a:spLocks noChangeArrowheads="1"/>
                </p:cNvSpPr>
                <p:nvPr/>
              </p:nvSpPr>
              <p:spPr bwMode="auto">
                <a:xfrm>
                  <a:off x="4158" y="0"/>
                  <a:ext cx="446" cy="9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94" name="Group 101">
                <a:extLst>
                  <a:ext uri="{FF2B5EF4-FFF2-40B4-BE49-F238E27FC236}">
                    <a16:creationId xmlns:a16="http://schemas.microsoft.com/office/drawing/2014/main" id="{2D322A4A-08CD-0468-8A65-B05B51036E45}"/>
                  </a:ext>
                </a:extLst>
              </p:cNvPr>
              <p:cNvGrpSpPr>
                <a:grpSpLocks/>
              </p:cNvGrpSpPr>
              <p:nvPr/>
            </p:nvGrpSpPr>
            <p:grpSpPr bwMode="auto">
              <a:xfrm>
                <a:off x="4604" y="0"/>
                <a:ext cx="446" cy="960"/>
                <a:chOff x="4604" y="0"/>
                <a:chExt cx="446" cy="960"/>
              </a:xfrm>
            </p:grpSpPr>
            <p:sp>
              <p:nvSpPr>
                <p:cNvPr id="24793" name="Rectangle 13">
                  <a:extLst>
                    <a:ext uri="{FF2B5EF4-FFF2-40B4-BE49-F238E27FC236}">
                      <a16:creationId xmlns:a16="http://schemas.microsoft.com/office/drawing/2014/main" id="{3FE40285-48B1-AEF7-7BE8-B97AF26D7BD5}"/>
                    </a:ext>
                  </a:extLst>
                </p:cNvPr>
                <p:cNvSpPr>
                  <a:spLocks noChangeArrowheads="1"/>
                </p:cNvSpPr>
                <p:nvPr/>
              </p:nvSpPr>
              <p:spPr bwMode="auto">
                <a:xfrm>
                  <a:off x="4647" y="0"/>
                  <a:ext cx="360"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1438"/>
                    <a:t>每期原来个体生产的卵数</a:t>
                  </a:r>
                  <a:r>
                    <a:rPr lang="en-US" altLang="zh-CN" sz="1232"/>
                    <a:t>(</a:t>
                  </a:r>
                  <a:r>
                    <a:rPr lang="en-US" altLang="zh-CN" sz="1438"/>
                    <a:t>l</a:t>
                  </a:r>
                  <a:r>
                    <a:rPr lang="en-US" altLang="zh-CN" sz="1438" baseline="-30000"/>
                    <a:t>x</a:t>
                  </a:r>
                  <a:r>
                    <a:rPr lang="en-US" altLang="zh-CN" sz="1438"/>
                    <a:t>m</a:t>
                  </a:r>
                  <a:r>
                    <a:rPr lang="en-US" altLang="zh-CN" sz="1438" baseline="-30000"/>
                    <a:t>x</a:t>
                  </a:r>
                  <a:r>
                    <a:rPr lang="zh-CN" altLang="en-US" sz="1232"/>
                    <a:t>）</a:t>
                  </a:r>
                </a:p>
                <a:p>
                  <a:pPr algn="just"/>
                  <a:endParaRPr lang="en-US" altLang="zh-CN" sz="1438"/>
                </a:p>
              </p:txBody>
            </p:sp>
            <p:sp>
              <p:nvSpPr>
                <p:cNvPr id="24794" name="Rectangle 100">
                  <a:extLst>
                    <a:ext uri="{FF2B5EF4-FFF2-40B4-BE49-F238E27FC236}">
                      <a16:creationId xmlns:a16="http://schemas.microsoft.com/office/drawing/2014/main" id="{8F839AB6-41AE-EE0A-FB8D-9D099035497F}"/>
                    </a:ext>
                  </a:extLst>
                </p:cNvPr>
                <p:cNvSpPr>
                  <a:spLocks noChangeArrowheads="1"/>
                </p:cNvSpPr>
                <p:nvPr/>
              </p:nvSpPr>
              <p:spPr bwMode="auto">
                <a:xfrm>
                  <a:off x="4604" y="0"/>
                  <a:ext cx="446" cy="9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95" name="Group 103">
                <a:extLst>
                  <a:ext uri="{FF2B5EF4-FFF2-40B4-BE49-F238E27FC236}">
                    <a16:creationId xmlns:a16="http://schemas.microsoft.com/office/drawing/2014/main" id="{20212578-90B8-BE10-A2FF-79E146618162}"/>
                  </a:ext>
                </a:extLst>
              </p:cNvPr>
              <p:cNvGrpSpPr>
                <a:grpSpLocks/>
              </p:cNvGrpSpPr>
              <p:nvPr/>
            </p:nvGrpSpPr>
            <p:grpSpPr bwMode="auto">
              <a:xfrm>
                <a:off x="0" y="960"/>
                <a:ext cx="590" cy="384"/>
                <a:chOff x="0" y="960"/>
                <a:chExt cx="590" cy="384"/>
              </a:xfrm>
            </p:grpSpPr>
            <p:sp>
              <p:nvSpPr>
                <p:cNvPr id="24791" name="Rectangle 14">
                  <a:extLst>
                    <a:ext uri="{FF2B5EF4-FFF2-40B4-BE49-F238E27FC236}">
                      <a16:creationId xmlns:a16="http://schemas.microsoft.com/office/drawing/2014/main" id="{5B90FDC2-98A6-1BFE-C4FE-BA70825A8C69}"/>
                    </a:ext>
                  </a:extLst>
                </p:cNvPr>
                <p:cNvSpPr>
                  <a:spLocks noChangeArrowheads="1"/>
                </p:cNvSpPr>
                <p:nvPr/>
              </p:nvSpPr>
              <p:spPr bwMode="auto">
                <a:xfrm>
                  <a:off x="43" y="960"/>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1438"/>
                    <a:t>卵</a:t>
                  </a:r>
                  <a:r>
                    <a:rPr lang="en-US" altLang="zh-CN" sz="1438"/>
                    <a:t>(0)</a:t>
                  </a:r>
                </a:p>
                <a:p>
                  <a:pPr algn="just"/>
                  <a:endParaRPr lang="en-US" altLang="zh-CN" sz="1438"/>
                </a:p>
              </p:txBody>
            </p:sp>
            <p:sp>
              <p:nvSpPr>
                <p:cNvPr id="24792" name="Rectangle 102">
                  <a:extLst>
                    <a:ext uri="{FF2B5EF4-FFF2-40B4-BE49-F238E27FC236}">
                      <a16:creationId xmlns:a16="http://schemas.microsoft.com/office/drawing/2014/main" id="{573453C6-01AF-1F3E-00A2-3D11255EE72A}"/>
                    </a:ext>
                  </a:extLst>
                </p:cNvPr>
                <p:cNvSpPr>
                  <a:spLocks noChangeArrowheads="1"/>
                </p:cNvSpPr>
                <p:nvPr/>
              </p:nvSpPr>
              <p:spPr bwMode="auto">
                <a:xfrm>
                  <a:off x="0" y="960"/>
                  <a:ext cx="59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96" name="Group 105">
                <a:extLst>
                  <a:ext uri="{FF2B5EF4-FFF2-40B4-BE49-F238E27FC236}">
                    <a16:creationId xmlns:a16="http://schemas.microsoft.com/office/drawing/2014/main" id="{DF0DCFF2-23B8-6815-6BC9-778CE3638927}"/>
                  </a:ext>
                </a:extLst>
              </p:cNvPr>
              <p:cNvGrpSpPr>
                <a:grpSpLocks/>
              </p:cNvGrpSpPr>
              <p:nvPr/>
            </p:nvGrpSpPr>
            <p:grpSpPr bwMode="auto">
              <a:xfrm>
                <a:off x="590" y="960"/>
                <a:ext cx="446" cy="384"/>
                <a:chOff x="590" y="960"/>
                <a:chExt cx="446" cy="384"/>
              </a:xfrm>
            </p:grpSpPr>
            <p:sp>
              <p:nvSpPr>
                <p:cNvPr id="24789" name="Rectangle 15">
                  <a:extLst>
                    <a:ext uri="{FF2B5EF4-FFF2-40B4-BE49-F238E27FC236}">
                      <a16:creationId xmlns:a16="http://schemas.microsoft.com/office/drawing/2014/main" id="{1BDC9415-3F93-C4B7-F9DD-DA29296A3B17}"/>
                    </a:ext>
                  </a:extLst>
                </p:cNvPr>
                <p:cNvSpPr>
                  <a:spLocks noChangeArrowheads="1"/>
                </p:cNvSpPr>
                <p:nvPr/>
              </p:nvSpPr>
              <p:spPr bwMode="auto">
                <a:xfrm>
                  <a:off x="633" y="96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44000</a:t>
                  </a:r>
                </a:p>
                <a:p>
                  <a:pPr algn="just"/>
                  <a:endParaRPr lang="en-US" altLang="zh-CN" sz="1232"/>
                </a:p>
              </p:txBody>
            </p:sp>
            <p:sp>
              <p:nvSpPr>
                <p:cNvPr id="24790" name="Rectangle 104">
                  <a:extLst>
                    <a:ext uri="{FF2B5EF4-FFF2-40B4-BE49-F238E27FC236}">
                      <a16:creationId xmlns:a16="http://schemas.microsoft.com/office/drawing/2014/main" id="{2DB79448-0612-62BC-B650-FFA08633FFA4}"/>
                    </a:ext>
                  </a:extLst>
                </p:cNvPr>
                <p:cNvSpPr>
                  <a:spLocks noChangeArrowheads="1"/>
                </p:cNvSpPr>
                <p:nvPr/>
              </p:nvSpPr>
              <p:spPr bwMode="auto">
                <a:xfrm>
                  <a:off x="590" y="96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97" name="Group 107">
                <a:extLst>
                  <a:ext uri="{FF2B5EF4-FFF2-40B4-BE49-F238E27FC236}">
                    <a16:creationId xmlns:a16="http://schemas.microsoft.com/office/drawing/2014/main" id="{79FE319A-C278-46BD-D10B-5C239FE98A90}"/>
                  </a:ext>
                </a:extLst>
              </p:cNvPr>
              <p:cNvGrpSpPr>
                <a:grpSpLocks/>
              </p:cNvGrpSpPr>
              <p:nvPr/>
            </p:nvGrpSpPr>
            <p:grpSpPr bwMode="auto">
              <a:xfrm>
                <a:off x="1036" y="960"/>
                <a:ext cx="446" cy="384"/>
                <a:chOff x="1036" y="960"/>
                <a:chExt cx="446" cy="384"/>
              </a:xfrm>
            </p:grpSpPr>
            <p:sp>
              <p:nvSpPr>
                <p:cNvPr id="24787" name="Rectangle 16">
                  <a:extLst>
                    <a:ext uri="{FF2B5EF4-FFF2-40B4-BE49-F238E27FC236}">
                      <a16:creationId xmlns:a16="http://schemas.microsoft.com/office/drawing/2014/main" id="{40D92124-65BE-B042-D4DE-B800E9FDE04C}"/>
                    </a:ext>
                  </a:extLst>
                </p:cNvPr>
                <p:cNvSpPr>
                  <a:spLocks noChangeArrowheads="1"/>
                </p:cNvSpPr>
                <p:nvPr/>
              </p:nvSpPr>
              <p:spPr bwMode="auto">
                <a:xfrm>
                  <a:off x="1079" y="96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1.000</a:t>
                  </a:r>
                </a:p>
                <a:p>
                  <a:pPr algn="just"/>
                  <a:endParaRPr lang="en-US" altLang="zh-CN" sz="1232"/>
                </a:p>
              </p:txBody>
            </p:sp>
            <p:sp>
              <p:nvSpPr>
                <p:cNvPr id="24788" name="Rectangle 106">
                  <a:extLst>
                    <a:ext uri="{FF2B5EF4-FFF2-40B4-BE49-F238E27FC236}">
                      <a16:creationId xmlns:a16="http://schemas.microsoft.com/office/drawing/2014/main" id="{E7687DE8-F65A-49A2-E7A0-E8F752878E80}"/>
                    </a:ext>
                  </a:extLst>
                </p:cNvPr>
                <p:cNvSpPr>
                  <a:spLocks noChangeArrowheads="1"/>
                </p:cNvSpPr>
                <p:nvPr/>
              </p:nvSpPr>
              <p:spPr bwMode="auto">
                <a:xfrm>
                  <a:off x="1036" y="96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98" name="Group 109">
                <a:extLst>
                  <a:ext uri="{FF2B5EF4-FFF2-40B4-BE49-F238E27FC236}">
                    <a16:creationId xmlns:a16="http://schemas.microsoft.com/office/drawing/2014/main" id="{4F76C801-33D8-A979-2C91-EE4B5B827E31}"/>
                  </a:ext>
                </a:extLst>
              </p:cNvPr>
              <p:cNvGrpSpPr>
                <a:grpSpLocks/>
              </p:cNvGrpSpPr>
              <p:nvPr/>
            </p:nvGrpSpPr>
            <p:grpSpPr bwMode="auto">
              <a:xfrm>
                <a:off x="1482" y="960"/>
                <a:ext cx="446" cy="384"/>
                <a:chOff x="1482" y="960"/>
                <a:chExt cx="446" cy="384"/>
              </a:xfrm>
            </p:grpSpPr>
            <p:sp>
              <p:nvSpPr>
                <p:cNvPr id="24785" name="Rectangle 17">
                  <a:extLst>
                    <a:ext uri="{FF2B5EF4-FFF2-40B4-BE49-F238E27FC236}">
                      <a16:creationId xmlns:a16="http://schemas.microsoft.com/office/drawing/2014/main" id="{62158C77-2A10-2613-9038-8D9A0795CD44}"/>
                    </a:ext>
                  </a:extLst>
                </p:cNvPr>
                <p:cNvSpPr>
                  <a:spLocks noChangeArrowheads="1"/>
                </p:cNvSpPr>
                <p:nvPr/>
              </p:nvSpPr>
              <p:spPr bwMode="auto">
                <a:xfrm>
                  <a:off x="1525" y="96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0.920</a:t>
                  </a:r>
                </a:p>
                <a:p>
                  <a:pPr algn="just"/>
                  <a:endParaRPr lang="en-US" altLang="zh-CN" sz="1232"/>
                </a:p>
              </p:txBody>
            </p:sp>
            <p:sp>
              <p:nvSpPr>
                <p:cNvPr id="24786" name="Rectangle 108">
                  <a:extLst>
                    <a:ext uri="{FF2B5EF4-FFF2-40B4-BE49-F238E27FC236}">
                      <a16:creationId xmlns:a16="http://schemas.microsoft.com/office/drawing/2014/main" id="{FF4E9F6A-3156-6609-68BB-D221BC619CE8}"/>
                    </a:ext>
                  </a:extLst>
                </p:cNvPr>
                <p:cNvSpPr>
                  <a:spLocks noChangeArrowheads="1"/>
                </p:cNvSpPr>
                <p:nvPr/>
              </p:nvSpPr>
              <p:spPr bwMode="auto">
                <a:xfrm>
                  <a:off x="1482" y="96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599" name="Group 111">
                <a:extLst>
                  <a:ext uri="{FF2B5EF4-FFF2-40B4-BE49-F238E27FC236}">
                    <a16:creationId xmlns:a16="http://schemas.microsoft.com/office/drawing/2014/main" id="{CF99DFB3-ED0E-6187-393D-ED479A965913}"/>
                  </a:ext>
                </a:extLst>
              </p:cNvPr>
              <p:cNvGrpSpPr>
                <a:grpSpLocks/>
              </p:cNvGrpSpPr>
              <p:nvPr/>
            </p:nvGrpSpPr>
            <p:grpSpPr bwMode="auto">
              <a:xfrm>
                <a:off x="1928" y="960"/>
                <a:ext cx="374" cy="384"/>
                <a:chOff x="1928" y="960"/>
                <a:chExt cx="374" cy="384"/>
              </a:xfrm>
            </p:grpSpPr>
            <p:sp>
              <p:nvSpPr>
                <p:cNvPr id="24783" name="Rectangle 18">
                  <a:extLst>
                    <a:ext uri="{FF2B5EF4-FFF2-40B4-BE49-F238E27FC236}">
                      <a16:creationId xmlns:a16="http://schemas.microsoft.com/office/drawing/2014/main" id="{DA57DA1E-F34A-94C3-5866-B868BD7F6B18}"/>
                    </a:ext>
                  </a:extLst>
                </p:cNvPr>
                <p:cNvSpPr>
                  <a:spLocks noChangeArrowheads="1"/>
                </p:cNvSpPr>
                <p:nvPr/>
              </p:nvSpPr>
              <p:spPr bwMode="auto">
                <a:xfrm>
                  <a:off x="1971" y="960"/>
                  <a:ext cx="2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0.92</a:t>
                  </a:r>
                </a:p>
                <a:p>
                  <a:pPr algn="just"/>
                  <a:endParaRPr lang="en-US" altLang="zh-CN" sz="1232"/>
                </a:p>
              </p:txBody>
            </p:sp>
            <p:sp>
              <p:nvSpPr>
                <p:cNvPr id="24784" name="Rectangle 110">
                  <a:extLst>
                    <a:ext uri="{FF2B5EF4-FFF2-40B4-BE49-F238E27FC236}">
                      <a16:creationId xmlns:a16="http://schemas.microsoft.com/office/drawing/2014/main" id="{DA9B8F97-2CBA-0199-4ED1-600FCA533CB4}"/>
                    </a:ext>
                  </a:extLst>
                </p:cNvPr>
                <p:cNvSpPr>
                  <a:spLocks noChangeArrowheads="1"/>
                </p:cNvSpPr>
                <p:nvPr/>
              </p:nvSpPr>
              <p:spPr bwMode="auto">
                <a:xfrm>
                  <a:off x="1928" y="960"/>
                  <a:ext cx="37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00" name="Group 113">
                <a:extLst>
                  <a:ext uri="{FF2B5EF4-FFF2-40B4-BE49-F238E27FC236}">
                    <a16:creationId xmlns:a16="http://schemas.microsoft.com/office/drawing/2014/main" id="{0CD5BED8-86CB-0BE7-B1A2-D61400FE1EDD}"/>
                  </a:ext>
                </a:extLst>
              </p:cNvPr>
              <p:cNvGrpSpPr>
                <a:grpSpLocks/>
              </p:cNvGrpSpPr>
              <p:nvPr/>
            </p:nvGrpSpPr>
            <p:grpSpPr bwMode="auto">
              <a:xfrm>
                <a:off x="2302" y="960"/>
                <a:ext cx="446" cy="384"/>
                <a:chOff x="2302" y="960"/>
                <a:chExt cx="446" cy="384"/>
              </a:xfrm>
            </p:grpSpPr>
            <p:sp>
              <p:nvSpPr>
                <p:cNvPr id="24781" name="Rectangle 19">
                  <a:extLst>
                    <a:ext uri="{FF2B5EF4-FFF2-40B4-BE49-F238E27FC236}">
                      <a16:creationId xmlns:a16="http://schemas.microsoft.com/office/drawing/2014/main" id="{5E731C9F-0D05-BF6C-321E-2C9FC7A1F95C}"/>
                    </a:ext>
                  </a:extLst>
                </p:cNvPr>
                <p:cNvSpPr>
                  <a:spLocks noChangeArrowheads="1"/>
                </p:cNvSpPr>
                <p:nvPr/>
              </p:nvSpPr>
              <p:spPr bwMode="auto">
                <a:xfrm>
                  <a:off x="2345" y="96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4.64</a:t>
                  </a:r>
                </a:p>
                <a:p>
                  <a:pPr algn="just"/>
                  <a:endParaRPr lang="en-US" altLang="zh-CN" sz="1232"/>
                </a:p>
              </p:txBody>
            </p:sp>
            <p:sp>
              <p:nvSpPr>
                <p:cNvPr id="24782" name="Rectangle 112">
                  <a:extLst>
                    <a:ext uri="{FF2B5EF4-FFF2-40B4-BE49-F238E27FC236}">
                      <a16:creationId xmlns:a16="http://schemas.microsoft.com/office/drawing/2014/main" id="{74EE3C49-E1AE-0FA6-30A2-09221F1BD4A5}"/>
                    </a:ext>
                  </a:extLst>
                </p:cNvPr>
                <p:cNvSpPr>
                  <a:spLocks noChangeArrowheads="1"/>
                </p:cNvSpPr>
                <p:nvPr/>
              </p:nvSpPr>
              <p:spPr bwMode="auto">
                <a:xfrm>
                  <a:off x="2302" y="96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01" name="Group 115">
                <a:extLst>
                  <a:ext uri="{FF2B5EF4-FFF2-40B4-BE49-F238E27FC236}">
                    <a16:creationId xmlns:a16="http://schemas.microsoft.com/office/drawing/2014/main" id="{D0A657CB-FC94-544A-32F2-78A4F4B576B4}"/>
                  </a:ext>
                </a:extLst>
              </p:cNvPr>
              <p:cNvGrpSpPr>
                <a:grpSpLocks/>
              </p:cNvGrpSpPr>
              <p:nvPr/>
            </p:nvGrpSpPr>
            <p:grpSpPr bwMode="auto">
              <a:xfrm>
                <a:off x="2748" y="960"/>
                <a:ext cx="446" cy="384"/>
                <a:chOff x="2748" y="960"/>
                <a:chExt cx="446" cy="384"/>
              </a:xfrm>
            </p:grpSpPr>
            <p:sp>
              <p:nvSpPr>
                <p:cNvPr id="24779" name="Rectangle 20">
                  <a:extLst>
                    <a:ext uri="{FF2B5EF4-FFF2-40B4-BE49-F238E27FC236}">
                      <a16:creationId xmlns:a16="http://schemas.microsoft.com/office/drawing/2014/main" id="{1E553EE6-2B4C-3392-3462-E19564362FAF}"/>
                    </a:ext>
                  </a:extLst>
                </p:cNvPr>
                <p:cNvSpPr>
                  <a:spLocks noChangeArrowheads="1"/>
                </p:cNvSpPr>
                <p:nvPr/>
              </p:nvSpPr>
              <p:spPr bwMode="auto">
                <a:xfrm>
                  <a:off x="2791" y="96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0.00</a:t>
                  </a:r>
                </a:p>
                <a:p>
                  <a:pPr algn="just"/>
                  <a:endParaRPr lang="en-US" altLang="zh-CN" sz="1232"/>
                </a:p>
              </p:txBody>
            </p:sp>
            <p:sp>
              <p:nvSpPr>
                <p:cNvPr id="24780" name="Rectangle 114">
                  <a:extLst>
                    <a:ext uri="{FF2B5EF4-FFF2-40B4-BE49-F238E27FC236}">
                      <a16:creationId xmlns:a16="http://schemas.microsoft.com/office/drawing/2014/main" id="{F7D31E7C-7D78-F3E1-40D5-3847ADF43B85}"/>
                    </a:ext>
                  </a:extLst>
                </p:cNvPr>
                <p:cNvSpPr>
                  <a:spLocks noChangeArrowheads="1"/>
                </p:cNvSpPr>
                <p:nvPr/>
              </p:nvSpPr>
              <p:spPr bwMode="auto">
                <a:xfrm>
                  <a:off x="2748" y="96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02" name="Group 117">
                <a:extLst>
                  <a:ext uri="{FF2B5EF4-FFF2-40B4-BE49-F238E27FC236}">
                    <a16:creationId xmlns:a16="http://schemas.microsoft.com/office/drawing/2014/main" id="{308E4DC8-8367-02A5-518F-9F75F8A14D91}"/>
                  </a:ext>
                </a:extLst>
              </p:cNvPr>
              <p:cNvGrpSpPr>
                <a:grpSpLocks/>
              </p:cNvGrpSpPr>
              <p:nvPr/>
            </p:nvGrpSpPr>
            <p:grpSpPr bwMode="auto">
              <a:xfrm>
                <a:off x="3194" y="960"/>
                <a:ext cx="518" cy="384"/>
                <a:chOff x="3194" y="960"/>
                <a:chExt cx="518" cy="384"/>
              </a:xfrm>
            </p:grpSpPr>
            <p:sp>
              <p:nvSpPr>
                <p:cNvPr id="24777" name="Rectangle 21">
                  <a:extLst>
                    <a:ext uri="{FF2B5EF4-FFF2-40B4-BE49-F238E27FC236}">
                      <a16:creationId xmlns:a16="http://schemas.microsoft.com/office/drawing/2014/main" id="{2D6535AD-CF63-629C-4A1A-5297C04A781E}"/>
                    </a:ext>
                  </a:extLst>
                </p:cNvPr>
                <p:cNvSpPr>
                  <a:spLocks noChangeArrowheads="1"/>
                </p:cNvSpPr>
                <p:nvPr/>
              </p:nvSpPr>
              <p:spPr bwMode="auto">
                <a:xfrm>
                  <a:off x="3237" y="960"/>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1.09</a:t>
                  </a:r>
                </a:p>
                <a:p>
                  <a:pPr algn="just"/>
                  <a:endParaRPr lang="en-US" altLang="zh-CN" sz="1232"/>
                </a:p>
              </p:txBody>
            </p:sp>
            <p:sp>
              <p:nvSpPr>
                <p:cNvPr id="24778" name="Rectangle 116">
                  <a:extLst>
                    <a:ext uri="{FF2B5EF4-FFF2-40B4-BE49-F238E27FC236}">
                      <a16:creationId xmlns:a16="http://schemas.microsoft.com/office/drawing/2014/main" id="{FEDFC8ED-0C4B-66EF-0995-33B765016A7E}"/>
                    </a:ext>
                  </a:extLst>
                </p:cNvPr>
                <p:cNvSpPr>
                  <a:spLocks noChangeArrowheads="1"/>
                </p:cNvSpPr>
                <p:nvPr/>
              </p:nvSpPr>
              <p:spPr bwMode="auto">
                <a:xfrm>
                  <a:off x="3194" y="960"/>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03" name="Group 119">
                <a:extLst>
                  <a:ext uri="{FF2B5EF4-FFF2-40B4-BE49-F238E27FC236}">
                    <a16:creationId xmlns:a16="http://schemas.microsoft.com/office/drawing/2014/main" id="{371D1A4F-E52B-8E31-FC8C-AF58E6DCEE2A}"/>
                  </a:ext>
                </a:extLst>
              </p:cNvPr>
              <p:cNvGrpSpPr>
                <a:grpSpLocks/>
              </p:cNvGrpSpPr>
              <p:nvPr/>
            </p:nvGrpSpPr>
            <p:grpSpPr bwMode="auto">
              <a:xfrm>
                <a:off x="3712" y="960"/>
                <a:ext cx="446" cy="384"/>
                <a:chOff x="3712" y="960"/>
                <a:chExt cx="446" cy="384"/>
              </a:xfrm>
            </p:grpSpPr>
            <p:sp>
              <p:nvSpPr>
                <p:cNvPr id="24775" name="Rectangle 22">
                  <a:extLst>
                    <a:ext uri="{FF2B5EF4-FFF2-40B4-BE49-F238E27FC236}">
                      <a16:creationId xmlns:a16="http://schemas.microsoft.com/office/drawing/2014/main" id="{CE7CF68F-CDE4-BB61-3F2C-70F8E58E6EB3}"/>
                    </a:ext>
                  </a:extLst>
                </p:cNvPr>
                <p:cNvSpPr>
                  <a:spLocks noChangeArrowheads="1"/>
                </p:cNvSpPr>
                <p:nvPr/>
              </p:nvSpPr>
              <p:spPr bwMode="auto">
                <a:xfrm>
                  <a:off x="3755" y="96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776" name="Rectangle 118">
                  <a:extLst>
                    <a:ext uri="{FF2B5EF4-FFF2-40B4-BE49-F238E27FC236}">
                      <a16:creationId xmlns:a16="http://schemas.microsoft.com/office/drawing/2014/main" id="{2809051C-6B5B-1D9B-0E55-319217B83488}"/>
                    </a:ext>
                  </a:extLst>
                </p:cNvPr>
                <p:cNvSpPr>
                  <a:spLocks noChangeArrowheads="1"/>
                </p:cNvSpPr>
                <p:nvPr/>
              </p:nvSpPr>
              <p:spPr bwMode="auto">
                <a:xfrm>
                  <a:off x="3712" y="96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04" name="Group 121">
                <a:extLst>
                  <a:ext uri="{FF2B5EF4-FFF2-40B4-BE49-F238E27FC236}">
                    <a16:creationId xmlns:a16="http://schemas.microsoft.com/office/drawing/2014/main" id="{E810A1C3-A341-7C90-A989-8A0C1314BCCE}"/>
                  </a:ext>
                </a:extLst>
              </p:cNvPr>
              <p:cNvGrpSpPr>
                <a:grpSpLocks/>
              </p:cNvGrpSpPr>
              <p:nvPr/>
            </p:nvGrpSpPr>
            <p:grpSpPr bwMode="auto">
              <a:xfrm>
                <a:off x="4158" y="960"/>
                <a:ext cx="446" cy="384"/>
                <a:chOff x="4158" y="960"/>
                <a:chExt cx="446" cy="384"/>
              </a:xfrm>
            </p:grpSpPr>
            <p:sp>
              <p:nvSpPr>
                <p:cNvPr id="24773" name="Rectangle 23">
                  <a:extLst>
                    <a:ext uri="{FF2B5EF4-FFF2-40B4-BE49-F238E27FC236}">
                      <a16:creationId xmlns:a16="http://schemas.microsoft.com/office/drawing/2014/main" id="{E0263F3F-361E-FCAB-2870-7AA2FFB6A94C}"/>
                    </a:ext>
                  </a:extLst>
                </p:cNvPr>
                <p:cNvSpPr>
                  <a:spLocks noChangeArrowheads="1"/>
                </p:cNvSpPr>
                <p:nvPr/>
              </p:nvSpPr>
              <p:spPr bwMode="auto">
                <a:xfrm>
                  <a:off x="4201" y="96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774" name="Rectangle 120">
                  <a:extLst>
                    <a:ext uri="{FF2B5EF4-FFF2-40B4-BE49-F238E27FC236}">
                      <a16:creationId xmlns:a16="http://schemas.microsoft.com/office/drawing/2014/main" id="{EFDEC57F-8C57-A1A4-6EC9-B35FCB7E1097}"/>
                    </a:ext>
                  </a:extLst>
                </p:cNvPr>
                <p:cNvSpPr>
                  <a:spLocks noChangeArrowheads="1"/>
                </p:cNvSpPr>
                <p:nvPr/>
              </p:nvSpPr>
              <p:spPr bwMode="auto">
                <a:xfrm>
                  <a:off x="4158" y="96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05" name="Group 123">
                <a:extLst>
                  <a:ext uri="{FF2B5EF4-FFF2-40B4-BE49-F238E27FC236}">
                    <a16:creationId xmlns:a16="http://schemas.microsoft.com/office/drawing/2014/main" id="{BF2B5E2B-DCA4-869C-4A35-79DBF7DA5599}"/>
                  </a:ext>
                </a:extLst>
              </p:cNvPr>
              <p:cNvGrpSpPr>
                <a:grpSpLocks/>
              </p:cNvGrpSpPr>
              <p:nvPr/>
            </p:nvGrpSpPr>
            <p:grpSpPr bwMode="auto">
              <a:xfrm>
                <a:off x="4604" y="960"/>
                <a:ext cx="446" cy="384"/>
                <a:chOff x="4604" y="960"/>
                <a:chExt cx="446" cy="384"/>
              </a:xfrm>
            </p:grpSpPr>
            <p:sp>
              <p:nvSpPr>
                <p:cNvPr id="24771" name="Rectangle 24">
                  <a:extLst>
                    <a:ext uri="{FF2B5EF4-FFF2-40B4-BE49-F238E27FC236}">
                      <a16:creationId xmlns:a16="http://schemas.microsoft.com/office/drawing/2014/main" id="{771B89CE-574A-5260-354F-5716479EF375}"/>
                    </a:ext>
                  </a:extLst>
                </p:cNvPr>
                <p:cNvSpPr>
                  <a:spLocks noChangeArrowheads="1"/>
                </p:cNvSpPr>
                <p:nvPr/>
              </p:nvSpPr>
              <p:spPr bwMode="auto">
                <a:xfrm>
                  <a:off x="4647" y="96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772" name="Rectangle 122">
                  <a:extLst>
                    <a:ext uri="{FF2B5EF4-FFF2-40B4-BE49-F238E27FC236}">
                      <a16:creationId xmlns:a16="http://schemas.microsoft.com/office/drawing/2014/main" id="{59C38986-7EC3-4691-1A87-B46E756B7CBA}"/>
                    </a:ext>
                  </a:extLst>
                </p:cNvPr>
                <p:cNvSpPr>
                  <a:spLocks noChangeArrowheads="1"/>
                </p:cNvSpPr>
                <p:nvPr/>
              </p:nvSpPr>
              <p:spPr bwMode="auto">
                <a:xfrm>
                  <a:off x="4604" y="96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06" name="Group 125">
                <a:extLst>
                  <a:ext uri="{FF2B5EF4-FFF2-40B4-BE49-F238E27FC236}">
                    <a16:creationId xmlns:a16="http://schemas.microsoft.com/office/drawing/2014/main" id="{C2BB822D-416E-B5BC-DC92-C7A979A711D7}"/>
                  </a:ext>
                </a:extLst>
              </p:cNvPr>
              <p:cNvGrpSpPr>
                <a:grpSpLocks/>
              </p:cNvGrpSpPr>
              <p:nvPr/>
            </p:nvGrpSpPr>
            <p:grpSpPr bwMode="auto">
              <a:xfrm>
                <a:off x="0" y="1344"/>
                <a:ext cx="590" cy="384"/>
                <a:chOff x="0" y="1344"/>
                <a:chExt cx="590" cy="384"/>
              </a:xfrm>
            </p:grpSpPr>
            <p:sp>
              <p:nvSpPr>
                <p:cNvPr id="24769" name="Rectangle 25">
                  <a:extLst>
                    <a:ext uri="{FF2B5EF4-FFF2-40B4-BE49-F238E27FC236}">
                      <a16:creationId xmlns:a16="http://schemas.microsoft.com/office/drawing/2014/main" id="{4DD7EEE4-F1F4-FCD7-D491-084AA8260FC4}"/>
                    </a:ext>
                  </a:extLst>
                </p:cNvPr>
                <p:cNvSpPr>
                  <a:spLocks noChangeArrowheads="1"/>
                </p:cNvSpPr>
                <p:nvPr/>
              </p:nvSpPr>
              <p:spPr bwMode="auto">
                <a:xfrm>
                  <a:off x="43" y="1344"/>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1438"/>
                    <a:t>幼龄</a:t>
                  </a:r>
                  <a:r>
                    <a:rPr lang="en-US" altLang="zh-CN" sz="1438"/>
                    <a:t>I(1)</a:t>
                  </a:r>
                </a:p>
                <a:p>
                  <a:pPr algn="just"/>
                  <a:endParaRPr lang="en-US" altLang="zh-CN" sz="1438"/>
                </a:p>
              </p:txBody>
            </p:sp>
            <p:sp>
              <p:nvSpPr>
                <p:cNvPr id="24770" name="Rectangle 124">
                  <a:extLst>
                    <a:ext uri="{FF2B5EF4-FFF2-40B4-BE49-F238E27FC236}">
                      <a16:creationId xmlns:a16="http://schemas.microsoft.com/office/drawing/2014/main" id="{68B0E7B3-DCE0-4EE3-DA1D-2AC68C8615CC}"/>
                    </a:ext>
                  </a:extLst>
                </p:cNvPr>
                <p:cNvSpPr>
                  <a:spLocks noChangeArrowheads="1"/>
                </p:cNvSpPr>
                <p:nvPr/>
              </p:nvSpPr>
              <p:spPr bwMode="auto">
                <a:xfrm>
                  <a:off x="0" y="1344"/>
                  <a:ext cx="59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07" name="Group 127">
                <a:extLst>
                  <a:ext uri="{FF2B5EF4-FFF2-40B4-BE49-F238E27FC236}">
                    <a16:creationId xmlns:a16="http://schemas.microsoft.com/office/drawing/2014/main" id="{5B596397-BFC0-042B-2459-521F8B473F64}"/>
                  </a:ext>
                </a:extLst>
              </p:cNvPr>
              <p:cNvGrpSpPr>
                <a:grpSpLocks/>
              </p:cNvGrpSpPr>
              <p:nvPr/>
            </p:nvGrpSpPr>
            <p:grpSpPr bwMode="auto">
              <a:xfrm>
                <a:off x="590" y="1344"/>
                <a:ext cx="446" cy="384"/>
                <a:chOff x="590" y="1344"/>
                <a:chExt cx="446" cy="384"/>
              </a:xfrm>
            </p:grpSpPr>
            <p:sp>
              <p:nvSpPr>
                <p:cNvPr id="24767" name="Rectangle 26">
                  <a:extLst>
                    <a:ext uri="{FF2B5EF4-FFF2-40B4-BE49-F238E27FC236}">
                      <a16:creationId xmlns:a16="http://schemas.microsoft.com/office/drawing/2014/main" id="{2A1A2754-066E-CD46-3FEF-3FD793691595}"/>
                    </a:ext>
                  </a:extLst>
                </p:cNvPr>
                <p:cNvSpPr>
                  <a:spLocks noChangeArrowheads="1"/>
                </p:cNvSpPr>
                <p:nvPr/>
              </p:nvSpPr>
              <p:spPr bwMode="auto">
                <a:xfrm>
                  <a:off x="633" y="1344"/>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3513</a:t>
                  </a:r>
                </a:p>
                <a:p>
                  <a:pPr algn="just"/>
                  <a:endParaRPr lang="en-US" altLang="zh-CN" sz="1232"/>
                </a:p>
              </p:txBody>
            </p:sp>
            <p:sp>
              <p:nvSpPr>
                <p:cNvPr id="24768" name="Rectangle 126">
                  <a:extLst>
                    <a:ext uri="{FF2B5EF4-FFF2-40B4-BE49-F238E27FC236}">
                      <a16:creationId xmlns:a16="http://schemas.microsoft.com/office/drawing/2014/main" id="{2D1C67A1-EF3C-213A-D025-D982B27356BF}"/>
                    </a:ext>
                  </a:extLst>
                </p:cNvPr>
                <p:cNvSpPr>
                  <a:spLocks noChangeArrowheads="1"/>
                </p:cNvSpPr>
                <p:nvPr/>
              </p:nvSpPr>
              <p:spPr bwMode="auto">
                <a:xfrm>
                  <a:off x="590" y="1344"/>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08" name="Group 129">
                <a:extLst>
                  <a:ext uri="{FF2B5EF4-FFF2-40B4-BE49-F238E27FC236}">
                    <a16:creationId xmlns:a16="http://schemas.microsoft.com/office/drawing/2014/main" id="{56F34E22-4165-2245-3917-FBC9EA5848F3}"/>
                  </a:ext>
                </a:extLst>
              </p:cNvPr>
              <p:cNvGrpSpPr>
                <a:grpSpLocks/>
              </p:cNvGrpSpPr>
              <p:nvPr/>
            </p:nvGrpSpPr>
            <p:grpSpPr bwMode="auto">
              <a:xfrm>
                <a:off x="1036" y="1344"/>
                <a:ext cx="446" cy="384"/>
                <a:chOff x="1036" y="1344"/>
                <a:chExt cx="446" cy="384"/>
              </a:xfrm>
            </p:grpSpPr>
            <p:sp>
              <p:nvSpPr>
                <p:cNvPr id="24765" name="Rectangle 27">
                  <a:extLst>
                    <a:ext uri="{FF2B5EF4-FFF2-40B4-BE49-F238E27FC236}">
                      <a16:creationId xmlns:a16="http://schemas.microsoft.com/office/drawing/2014/main" id="{52E4263D-1804-8C92-F748-4A43D037F253}"/>
                    </a:ext>
                  </a:extLst>
                </p:cNvPr>
                <p:cNvSpPr>
                  <a:spLocks noChangeArrowheads="1"/>
                </p:cNvSpPr>
                <p:nvPr/>
              </p:nvSpPr>
              <p:spPr bwMode="auto">
                <a:xfrm>
                  <a:off x="1079" y="1344"/>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0.080</a:t>
                  </a:r>
                </a:p>
                <a:p>
                  <a:pPr algn="just"/>
                  <a:endParaRPr lang="en-US" altLang="zh-CN" sz="1232"/>
                </a:p>
              </p:txBody>
            </p:sp>
            <p:sp>
              <p:nvSpPr>
                <p:cNvPr id="24766" name="Rectangle 128">
                  <a:extLst>
                    <a:ext uri="{FF2B5EF4-FFF2-40B4-BE49-F238E27FC236}">
                      <a16:creationId xmlns:a16="http://schemas.microsoft.com/office/drawing/2014/main" id="{5FFD3543-A4D1-B6C9-6C13-DD2627D2C355}"/>
                    </a:ext>
                  </a:extLst>
                </p:cNvPr>
                <p:cNvSpPr>
                  <a:spLocks noChangeArrowheads="1"/>
                </p:cNvSpPr>
                <p:nvPr/>
              </p:nvSpPr>
              <p:spPr bwMode="auto">
                <a:xfrm>
                  <a:off x="1036" y="1344"/>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09" name="Group 131">
                <a:extLst>
                  <a:ext uri="{FF2B5EF4-FFF2-40B4-BE49-F238E27FC236}">
                    <a16:creationId xmlns:a16="http://schemas.microsoft.com/office/drawing/2014/main" id="{7F1A751B-DDCC-6976-55AF-5DA3B9809252}"/>
                  </a:ext>
                </a:extLst>
              </p:cNvPr>
              <p:cNvGrpSpPr>
                <a:grpSpLocks/>
              </p:cNvGrpSpPr>
              <p:nvPr/>
            </p:nvGrpSpPr>
            <p:grpSpPr bwMode="auto">
              <a:xfrm>
                <a:off x="1482" y="1344"/>
                <a:ext cx="446" cy="384"/>
                <a:chOff x="1482" y="1344"/>
                <a:chExt cx="446" cy="384"/>
              </a:xfrm>
            </p:grpSpPr>
            <p:sp>
              <p:nvSpPr>
                <p:cNvPr id="24763" name="Rectangle 28">
                  <a:extLst>
                    <a:ext uri="{FF2B5EF4-FFF2-40B4-BE49-F238E27FC236}">
                      <a16:creationId xmlns:a16="http://schemas.microsoft.com/office/drawing/2014/main" id="{F448A590-3562-7C34-3B11-EB320ED2007A}"/>
                    </a:ext>
                  </a:extLst>
                </p:cNvPr>
                <p:cNvSpPr>
                  <a:spLocks noChangeArrowheads="1"/>
                </p:cNvSpPr>
                <p:nvPr/>
              </p:nvSpPr>
              <p:spPr bwMode="auto">
                <a:xfrm>
                  <a:off x="1525" y="1344"/>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0.022</a:t>
                  </a:r>
                </a:p>
                <a:p>
                  <a:pPr algn="just"/>
                  <a:endParaRPr lang="en-US" altLang="zh-CN" sz="1232"/>
                </a:p>
              </p:txBody>
            </p:sp>
            <p:sp>
              <p:nvSpPr>
                <p:cNvPr id="24764" name="Rectangle 130">
                  <a:extLst>
                    <a:ext uri="{FF2B5EF4-FFF2-40B4-BE49-F238E27FC236}">
                      <a16:creationId xmlns:a16="http://schemas.microsoft.com/office/drawing/2014/main" id="{7B637E1C-8D72-1726-DF69-3912FE5A8DB4}"/>
                    </a:ext>
                  </a:extLst>
                </p:cNvPr>
                <p:cNvSpPr>
                  <a:spLocks noChangeArrowheads="1"/>
                </p:cNvSpPr>
                <p:nvPr/>
              </p:nvSpPr>
              <p:spPr bwMode="auto">
                <a:xfrm>
                  <a:off x="1482" y="1344"/>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10" name="Group 133">
                <a:extLst>
                  <a:ext uri="{FF2B5EF4-FFF2-40B4-BE49-F238E27FC236}">
                    <a16:creationId xmlns:a16="http://schemas.microsoft.com/office/drawing/2014/main" id="{907CBB0C-383C-4529-49DF-540930613930}"/>
                  </a:ext>
                </a:extLst>
              </p:cNvPr>
              <p:cNvGrpSpPr>
                <a:grpSpLocks/>
              </p:cNvGrpSpPr>
              <p:nvPr/>
            </p:nvGrpSpPr>
            <p:grpSpPr bwMode="auto">
              <a:xfrm>
                <a:off x="1928" y="1344"/>
                <a:ext cx="374" cy="384"/>
                <a:chOff x="1928" y="1344"/>
                <a:chExt cx="374" cy="384"/>
              </a:xfrm>
            </p:grpSpPr>
            <p:sp>
              <p:nvSpPr>
                <p:cNvPr id="24761" name="Rectangle 29">
                  <a:extLst>
                    <a:ext uri="{FF2B5EF4-FFF2-40B4-BE49-F238E27FC236}">
                      <a16:creationId xmlns:a16="http://schemas.microsoft.com/office/drawing/2014/main" id="{F6668B87-8B26-68C9-86D4-42FC1FD5DD64}"/>
                    </a:ext>
                  </a:extLst>
                </p:cNvPr>
                <p:cNvSpPr>
                  <a:spLocks noChangeArrowheads="1"/>
                </p:cNvSpPr>
                <p:nvPr/>
              </p:nvSpPr>
              <p:spPr bwMode="auto">
                <a:xfrm>
                  <a:off x="1971" y="1344"/>
                  <a:ext cx="2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0.28</a:t>
                  </a:r>
                </a:p>
                <a:p>
                  <a:pPr algn="just"/>
                  <a:endParaRPr lang="en-US" altLang="zh-CN" sz="1232"/>
                </a:p>
              </p:txBody>
            </p:sp>
            <p:sp>
              <p:nvSpPr>
                <p:cNvPr id="24762" name="Rectangle 132">
                  <a:extLst>
                    <a:ext uri="{FF2B5EF4-FFF2-40B4-BE49-F238E27FC236}">
                      <a16:creationId xmlns:a16="http://schemas.microsoft.com/office/drawing/2014/main" id="{F1E203E4-C025-09D7-AD8F-8BD13B029080}"/>
                    </a:ext>
                  </a:extLst>
                </p:cNvPr>
                <p:cNvSpPr>
                  <a:spLocks noChangeArrowheads="1"/>
                </p:cNvSpPr>
                <p:nvPr/>
              </p:nvSpPr>
              <p:spPr bwMode="auto">
                <a:xfrm>
                  <a:off x="1928" y="1344"/>
                  <a:ext cx="37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11" name="Group 135">
                <a:extLst>
                  <a:ext uri="{FF2B5EF4-FFF2-40B4-BE49-F238E27FC236}">
                    <a16:creationId xmlns:a16="http://schemas.microsoft.com/office/drawing/2014/main" id="{A60B85EB-162F-83DD-808A-E1BF69D63EAD}"/>
                  </a:ext>
                </a:extLst>
              </p:cNvPr>
              <p:cNvGrpSpPr>
                <a:grpSpLocks/>
              </p:cNvGrpSpPr>
              <p:nvPr/>
            </p:nvGrpSpPr>
            <p:grpSpPr bwMode="auto">
              <a:xfrm>
                <a:off x="2302" y="1344"/>
                <a:ext cx="446" cy="384"/>
                <a:chOff x="2302" y="1344"/>
                <a:chExt cx="446" cy="384"/>
              </a:xfrm>
            </p:grpSpPr>
            <p:sp>
              <p:nvSpPr>
                <p:cNvPr id="24759" name="Rectangle 30">
                  <a:extLst>
                    <a:ext uri="{FF2B5EF4-FFF2-40B4-BE49-F238E27FC236}">
                      <a16:creationId xmlns:a16="http://schemas.microsoft.com/office/drawing/2014/main" id="{3EA579AA-B234-DBA9-25B3-8E5823C16237}"/>
                    </a:ext>
                  </a:extLst>
                </p:cNvPr>
                <p:cNvSpPr>
                  <a:spLocks noChangeArrowheads="1"/>
                </p:cNvSpPr>
                <p:nvPr/>
              </p:nvSpPr>
              <p:spPr bwMode="auto">
                <a:xfrm>
                  <a:off x="2345" y="1344"/>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3.55</a:t>
                  </a:r>
                </a:p>
                <a:p>
                  <a:pPr algn="just"/>
                  <a:endParaRPr lang="en-US" altLang="zh-CN" sz="1232"/>
                </a:p>
              </p:txBody>
            </p:sp>
            <p:sp>
              <p:nvSpPr>
                <p:cNvPr id="24760" name="Rectangle 134">
                  <a:extLst>
                    <a:ext uri="{FF2B5EF4-FFF2-40B4-BE49-F238E27FC236}">
                      <a16:creationId xmlns:a16="http://schemas.microsoft.com/office/drawing/2014/main" id="{8791853E-66FE-F45D-3269-8B70BB4BA130}"/>
                    </a:ext>
                  </a:extLst>
                </p:cNvPr>
                <p:cNvSpPr>
                  <a:spLocks noChangeArrowheads="1"/>
                </p:cNvSpPr>
                <p:nvPr/>
              </p:nvSpPr>
              <p:spPr bwMode="auto">
                <a:xfrm>
                  <a:off x="2302" y="1344"/>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12" name="Group 137">
                <a:extLst>
                  <a:ext uri="{FF2B5EF4-FFF2-40B4-BE49-F238E27FC236}">
                    <a16:creationId xmlns:a16="http://schemas.microsoft.com/office/drawing/2014/main" id="{FFA6EB3A-838B-D006-9FF8-B975E895A473}"/>
                  </a:ext>
                </a:extLst>
              </p:cNvPr>
              <p:cNvGrpSpPr>
                <a:grpSpLocks/>
              </p:cNvGrpSpPr>
              <p:nvPr/>
            </p:nvGrpSpPr>
            <p:grpSpPr bwMode="auto">
              <a:xfrm>
                <a:off x="2748" y="1344"/>
                <a:ext cx="446" cy="384"/>
                <a:chOff x="2748" y="1344"/>
                <a:chExt cx="446" cy="384"/>
              </a:xfrm>
            </p:grpSpPr>
            <p:sp>
              <p:nvSpPr>
                <p:cNvPr id="24757" name="Rectangle 31">
                  <a:extLst>
                    <a:ext uri="{FF2B5EF4-FFF2-40B4-BE49-F238E27FC236}">
                      <a16:creationId xmlns:a16="http://schemas.microsoft.com/office/drawing/2014/main" id="{8B9E574D-1C1F-28B2-0F80-6BFFE21EC9CC}"/>
                    </a:ext>
                  </a:extLst>
                </p:cNvPr>
                <p:cNvSpPr>
                  <a:spLocks noChangeArrowheads="1"/>
                </p:cNvSpPr>
                <p:nvPr/>
              </p:nvSpPr>
              <p:spPr bwMode="auto">
                <a:xfrm>
                  <a:off x="2791" y="1344"/>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-1.09</a:t>
                  </a:r>
                </a:p>
                <a:p>
                  <a:pPr algn="just"/>
                  <a:endParaRPr lang="en-US" altLang="zh-CN" sz="1232"/>
                </a:p>
              </p:txBody>
            </p:sp>
            <p:sp>
              <p:nvSpPr>
                <p:cNvPr id="24758" name="Rectangle 136">
                  <a:extLst>
                    <a:ext uri="{FF2B5EF4-FFF2-40B4-BE49-F238E27FC236}">
                      <a16:creationId xmlns:a16="http://schemas.microsoft.com/office/drawing/2014/main" id="{11692CDD-DF07-E9E8-23C7-BAE630F9FE39}"/>
                    </a:ext>
                  </a:extLst>
                </p:cNvPr>
                <p:cNvSpPr>
                  <a:spLocks noChangeArrowheads="1"/>
                </p:cNvSpPr>
                <p:nvPr/>
              </p:nvSpPr>
              <p:spPr bwMode="auto">
                <a:xfrm>
                  <a:off x="2748" y="1344"/>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13" name="Group 139">
                <a:extLst>
                  <a:ext uri="{FF2B5EF4-FFF2-40B4-BE49-F238E27FC236}">
                    <a16:creationId xmlns:a16="http://schemas.microsoft.com/office/drawing/2014/main" id="{4C42EA9F-0B7A-9EF9-A0EC-4D9F36514CB5}"/>
                  </a:ext>
                </a:extLst>
              </p:cNvPr>
              <p:cNvGrpSpPr>
                <a:grpSpLocks/>
              </p:cNvGrpSpPr>
              <p:nvPr/>
            </p:nvGrpSpPr>
            <p:grpSpPr bwMode="auto">
              <a:xfrm>
                <a:off x="3194" y="1344"/>
                <a:ext cx="518" cy="384"/>
                <a:chOff x="3194" y="1344"/>
                <a:chExt cx="518" cy="384"/>
              </a:xfrm>
            </p:grpSpPr>
            <p:sp>
              <p:nvSpPr>
                <p:cNvPr id="24755" name="Rectangle 32">
                  <a:extLst>
                    <a:ext uri="{FF2B5EF4-FFF2-40B4-BE49-F238E27FC236}">
                      <a16:creationId xmlns:a16="http://schemas.microsoft.com/office/drawing/2014/main" id="{3880AA68-AC12-6F72-476E-61BFFA4C230D}"/>
                    </a:ext>
                  </a:extLst>
                </p:cNvPr>
                <p:cNvSpPr>
                  <a:spLocks noChangeArrowheads="1"/>
                </p:cNvSpPr>
                <p:nvPr/>
              </p:nvSpPr>
              <p:spPr bwMode="auto">
                <a:xfrm>
                  <a:off x="3237" y="1344"/>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0.15</a:t>
                  </a:r>
                </a:p>
                <a:p>
                  <a:pPr algn="just"/>
                  <a:endParaRPr lang="en-US" altLang="zh-CN" sz="1232"/>
                </a:p>
              </p:txBody>
            </p:sp>
            <p:sp>
              <p:nvSpPr>
                <p:cNvPr id="24756" name="Rectangle 138">
                  <a:extLst>
                    <a:ext uri="{FF2B5EF4-FFF2-40B4-BE49-F238E27FC236}">
                      <a16:creationId xmlns:a16="http://schemas.microsoft.com/office/drawing/2014/main" id="{3FF5095D-70E0-6990-5D1F-56F7C923E200}"/>
                    </a:ext>
                  </a:extLst>
                </p:cNvPr>
                <p:cNvSpPr>
                  <a:spLocks noChangeArrowheads="1"/>
                </p:cNvSpPr>
                <p:nvPr/>
              </p:nvSpPr>
              <p:spPr bwMode="auto">
                <a:xfrm>
                  <a:off x="3194" y="1344"/>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14" name="Group 141">
                <a:extLst>
                  <a:ext uri="{FF2B5EF4-FFF2-40B4-BE49-F238E27FC236}">
                    <a16:creationId xmlns:a16="http://schemas.microsoft.com/office/drawing/2014/main" id="{7C60AF56-D0AA-BCE3-A072-E88568CA78B6}"/>
                  </a:ext>
                </a:extLst>
              </p:cNvPr>
              <p:cNvGrpSpPr>
                <a:grpSpLocks/>
              </p:cNvGrpSpPr>
              <p:nvPr/>
            </p:nvGrpSpPr>
            <p:grpSpPr bwMode="auto">
              <a:xfrm>
                <a:off x="3712" y="1344"/>
                <a:ext cx="446" cy="384"/>
                <a:chOff x="3712" y="1344"/>
                <a:chExt cx="446" cy="384"/>
              </a:xfrm>
            </p:grpSpPr>
            <p:sp>
              <p:nvSpPr>
                <p:cNvPr id="24753" name="Rectangle 33">
                  <a:extLst>
                    <a:ext uri="{FF2B5EF4-FFF2-40B4-BE49-F238E27FC236}">
                      <a16:creationId xmlns:a16="http://schemas.microsoft.com/office/drawing/2014/main" id="{82189BB8-B117-9816-ABA5-650B006030AB}"/>
                    </a:ext>
                  </a:extLst>
                </p:cNvPr>
                <p:cNvSpPr>
                  <a:spLocks noChangeArrowheads="1"/>
                </p:cNvSpPr>
                <p:nvPr/>
              </p:nvSpPr>
              <p:spPr bwMode="auto">
                <a:xfrm>
                  <a:off x="3755" y="1344"/>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754" name="Rectangle 140">
                  <a:extLst>
                    <a:ext uri="{FF2B5EF4-FFF2-40B4-BE49-F238E27FC236}">
                      <a16:creationId xmlns:a16="http://schemas.microsoft.com/office/drawing/2014/main" id="{04817BD3-29E4-829E-E2D7-F9F95C6EACEA}"/>
                    </a:ext>
                  </a:extLst>
                </p:cNvPr>
                <p:cNvSpPr>
                  <a:spLocks noChangeArrowheads="1"/>
                </p:cNvSpPr>
                <p:nvPr/>
              </p:nvSpPr>
              <p:spPr bwMode="auto">
                <a:xfrm>
                  <a:off x="3712" y="1344"/>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15" name="Group 143">
                <a:extLst>
                  <a:ext uri="{FF2B5EF4-FFF2-40B4-BE49-F238E27FC236}">
                    <a16:creationId xmlns:a16="http://schemas.microsoft.com/office/drawing/2014/main" id="{B0DD7BF0-446E-9113-85B3-27E80EE6A044}"/>
                  </a:ext>
                </a:extLst>
              </p:cNvPr>
              <p:cNvGrpSpPr>
                <a:grpSpLocks/>
              </p:cNvGrpSpPr>
              <p:nvPr/>
            </p:nvGrpSpPr>
            <p:grpSpPr bwMode="auto">
              <a:xfrm>
                <a:off x="4158" y="1344"/>
                <a:ext cx="446" cy="384"/>
                <a:chOff x="4158" y="1344"/>
                <a:chExt cx="446" cy="384"/>
              </a:xfrm>
            </p:grpSpPr>
            <p:sp>
              <p:nvSpPr>
                <p:cNvPr id="24751" name="Rectangle 34">
                  <a:extLst>
                    <a:ext uri="{FF2B5EF4-FFF2-40B4-BE49-F238E27FC236}">
                      <a16:creationId xmlns:a16="http://schemas.microsoft.com/office/drawing/2014/main" id="{4AE192EA-2473-33D9-9D36-559E6F10AACD}"/>
                    </a:ext>
                  </a:extLst>
                </p:cNvPr>
                <p:cNvSpPr>
                  <a:spLocks noChangeArrowheads="1"/>
                </p:cNvSpPr>
                <p:nvPr/>
              </p:nvSpPr>
              <p:spPr bwMode="auto">
                <a:xfrm>
                  <a:off x="4201" y="1344"/>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752" name="Rectangle 142">
                  <a:extLst>
                    <a:ext uri="{FF2B5EF4-FFF2-40B4-BE49-F238E27FC236}">
                      <a16:creationId xmlns:a16="http://schemas.microsoft.com/office/drawing/2014/main" id="{77E1BC63-9B1A-3F61-D817-986A82C5A1FE}"/>
                    </a:ext>
                  </a:extLst>
                </p:cNvPr>
                <p:cNvSpPr>
                  <a:spLocks noChangeArrowheads="1"/>
                </p:cNvSpPr>
                <p:nvPr/>
              </p:nvSpPr>
              <p:spPr bwMode="auto">
                <a:xfrm>
                  <a:off x="4158" y="1344"/>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16" name="Group 145">
                <a:extLst>
                  <a:ext uri="{FF2B5EF4-FFF2-40B4-BE49-F238E27FC236}">
                    <a16:creationId xmlns:a16="http://schemas.microsoft.com/office/drawing/2014/main" id="{C4B70FF8-E5E3-3BF0-104A-F97937F9C785}"/>
                  </a:ext>
                </a:extLst>
              </p:cNvPr>
              <p:cNvGrpSpPr>
                <a:grpSpLocks/>
              </p:cNvGrpSpPr>
              <p:nvPr/>
            </p:nvGrpSpPr>
            <p:grpSpPr bwMode="auto">
              <a:xfrm>
                <a:off x="4604" y="1344"/>
                <a:ext cx="446" cy="384"/>
                <a:chOff x="4604" y="1344"/>
                <a:chExt cx="446" cy="384"/>
              </a:xfrm>
            </p:grpSpPr>
            <p:sp>
              <p:nvSpPr>
                <p:cNvPr id="24749" name="Rectangle 35">
                  <a:extLst>
                    <a:ext uri="{FF2B5EF4-FFF2-40B4-BE49-F238E27FC236}">
                      <a16:creationId xmlns:a16="http://schemas.microsoft.com/office/drawing/2014/main" id="{ADCCC199-1EC0-5690-4FC9-54F8E8030713}"/>
                    </a:ext>
                  </a:extLst>
                </p:cNvPr>
                <p:cNvSpPr>
                  <a:spLocks noChangeArrowheads="1"/>
                </p:cNvSpPr>
                <p:nvPr/>
              </p:nvSpPr>
              <p:spPr bwMode="auto">
                <a:xfrm>
                  <a:off x="4647" y="1344"/>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750" name="Rectangle 144">
                  <a:extLst>
                    <a:ext uri="{FF2B5EF4-FFF2-40B4-BE49-F238E27FC236}">
                      <a16:creationId xmlns:a16="http://schemas.microsoft.com/office/drawing/2014/main" id="{B5890E5F-965F-010B-3338-18763DF59393}"/>
                    </a:ext>
                  </a:extLst>
                </p:cNvPr>
                <p:cNvSpPr>
                  <a:spLocks noChangeArrowheads="1"/>
                </p:cNvSpPr>
                <p:nvPr/>
              </p:nvSpPr>
              <p:spPr bwMode="auto">
                <a:xfrm>
                  <a:off x="4604" y="1344"/>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17" name="Group 147">
                <a:extLst>
                  <a:ext uri="{FF2B5EF4-FFF2-40B4-BE49-F238E27FC236}">
                    <a16:creationId xmlns:a16="http://schemas.microsoft.com/office/drawing/2014/main" id="{65A3C179-3D10-67CA-17C7-2BACF36B9D8E}"/>
                  </a:ext>
                </a:extLst>
              </p:cNvPr>
              <p:cNvGrpSpPr>
                <a:grpSpLocks/>
              </p:cNvGrpSpPr>
              <p:nvPr/>
            </p:nvGrpSpPr>
            <p:grpSpPr bwMode="auto">
              <a:xfrm>
                <a:off x="0" y="1728"/>
                <a:ext cx="590" cy="384"/>
                <a:chOff x="0" y="1728"/>
                <a:chExt cx="590" cy="384"/>
              </a:xfrm>
            </p:grpSpPr>
            <p:sp>
              <p:nvSpPr>
                <p:cNvPr id="24747" name="Rectangle 36">
                  <a:extLst>
                    <a:ext uri="{FF2B5EF4-FFF2-40B4-BE49-F238E27FC236}">
                      <a16:creationId xmlns:a16="http://schemas.microsoft.com/office/drawing/2014/main" id="{83B03BCB-70BA-0960-CDE1-164F73F1630B}"/>
                    </a:ext>
                  </a:extLst>
                </p:cNvPr>
                <p:cNvSpPr>
                  <a:spLocks noChangeArrowheads="1"/>
                </p:cNvSpPr>
                <p:nvPr/>
              </p:nvSpPr>
              <p:spPr bwMode="auto">
                <a:xfrm>
                  <a:off x="43" y="1728"/>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1438"/>
                    <a:t>幼龄</a:t>
                  </a:r>
                  <a:r>
                    <a:rPr lang="en-US" altLang="zh-CN" sz="1438"/>
                    <a:t>II(2)</a:t>
                  </a:r>
                </a:p>
                <a:p>
                  <a:pPr algn="just"/>
                  <a:endParaRPr lang="en-US" altLang="zh-CN" sz="1438"/>
                </a:p>
              </p:txBody>
            </p:sp>
            <p:sp>
              <p:nvSpPr>
                <p:cNvPr id="24748" name="Rectangle 146">
                  <a:extLst>
                    <a:ext uri="{FF2B5EF4-FFF2-40B4-BE49-F238E27FC236}">
                      <a16:creationId xmlns:a16="http://schemas.microsoft.com/office/drawing/2014/main" id="{4C754EBE-4E45-1E62-AE86-06401CB89185}"/>
                    </a:ext>
                  </a:extLst>
                </p:cNvPr>
                <p:cNvSpPr>
                  <a:spLocks noChangeArrowheads="1"/>
                </p:cNvSpPr>
                <p:nvPr/>
              </p:nvSpPr>
              <p:spPr bwMode="auto">
                <a:xfrm>
                  <a:off x="0" y="1728"/>
                  <a:ext cx="59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18" name="Group 149">
                <a:extLst>
                  <a:ext uri="{FF2B5EF4-FFF2-40B4-BE49-F238E27FC236}">
                    <a16:creationId xmlns:a16="http://schemas.microsoft.com/office/drawing/2014/main" id="{66C7B44C-D7DA-A36B-744E-520A295D63F8}"/>
                  </a:ext>
                </a:extLst>
              </p:cNvPr>
              <p:cNvGrpSpPr>
                <a:grpSpLocks/>
              </p:cNvGrpSpPr>
              <p:nvPr/>
            </p:nvGrpSpPr>
            <p:grpSpPr bwMode="auto">
              <a:xfrm>
                <a:off x="590" y="1728"/>
                <a:ext cx="446" cy="384"/>
                <a:chOff x="590" y="1728"/>
                <a:chExt cx="446" cy="384"/>
              </a:xfrm>
            </p:grpSpPr>
            <p:sp>
              <p:nvSpPr>
                <p:cNvPr id="24745" name="Rectangle 37">
                  <a:extLst>
                    <a:ext uri="{FF2B5EF4-FFF2-40B4-BE49-F238E27FC236}">
                      <a16:creationId xmlns:a16="http://schemas.microsoft.com/office/drawing/2014/main" id="{DE364477-1821-4262-1BD3-8314CF837086}"/>
                    </a:ext>
                  </a:extLst>
                </p:cNvPr>
                <p:cNvSpPr>
                  <a:spLocks noChangeArrowheads="1"/>
                </p:cNvSpPr>
                <p:nvPr/>
              </p:nvSpPr>
              <p:spPr bwMode="auto">
                <a:xfrm>
                  <a:off x="633" y="1728"/>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2529</a:t>
                  </a:r>
                </a:p>
                <a:p>
                  <a:pPr algn="just"/>
                  <a:endParaRPr lang="en-US" altLang="zh-CN" sz="1232"/>
                </a:p>
              </p:txBody>
            </p:sp>
            <p:sp>
              <p:nvSpPr>
                <p:cNvPr id="24746" name="Rectangle 148">
                  <a:extLst>
                    <a:ext uri="{FF2B5EF4-FFF2-40B4-BE49-F238E27FC236}">
                      <a16:creationId xmlns:a16="http://schemas.microsoft.com/office/drawing/2014/main" id="{03BC9716-A0ED-3E93-6876-5D3E90C3454B}"/>
                    </a:ext>
                  </a:extLst>
                </p:cNvPr>
                <p:cNvSpPr>
                  <a:spLocks noChangeArrowheads="1"/>
                </p:cNvSpPr>
                <p:nvPr/>
              </p:nvSpPr>
              <p:spPr bwMode="auto">
                <a:xfrm>
                  <a:off x="590" y="1728"/>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19" name="Group 151">
                <a:extLst>
                  <a:ext uri="{FF2B5EF4-FFF2-40B4-BE49-F238E27FC236}">
                    <a16:creationId xmlns:a16="http://schemas.microsoft.com/office/drawing/2014/main" id="{29CA6D97-56BE-35C2-13FC-6D58E7A83059}"/>
                  </a:ext>
                </a:extLst>
              </p:cNvPr>
              <p:cNvGrpSpPr>
                <a:grpSpLocks/>
              </p:cNvGrpSpPr>
              <p:nvPr/>
            </p:nvGrpSpPr>
            <p:grpSpPr bwMode="auto">
              <a:xfrm>
                <a:off x="1036" y="1728"/>
                <a:ext cx="446" cy="384"/>
                <a:chOff x="1036" y="1728"/>
                <a:chExt cx="446" cy="384"/>
              </a:xfrm>
            </p:grpSpPr>
            <p:sp>
              <p:nvSpPr>
                <p:cNvPr id="24743" name="Rectangle 38">
                  <a:extLst>
                    <a:ext uri="{FF2B5EF4-FFF2-40B4-BE49-F238E27FC236}">
                      <a16:creationId xmlns:a16="http://schemas.microsoft.com/office/drawing/2014/main" id="{E4FB3F15-E56F-39A7-3CDC-F5DD2FB3057A}"/>
                    </a:ext>
                  </a:extLst>
                </p:cNvPr>
                <p:cNvSpPr>
                  <a:spLocks noChangeArrowheads="1"/>
                </p:cNvSpPr>
                <p:nvPr/>
              </p:nvSpPr>
              <p:spPr bwMode="auto">
                <a:xfrm>
                  <a:off x="1079" y="1728"/>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0.058</a:t>
                  </a:r>
                </a:p>
                <a:p>
                  <a:pPr algn="just"/>
                  <a:endParaRPr lang="en-US" altLang="zh-CN" sz="1232"/>
                </a:p>
              </p:txBody>
            </p:sp>
            <p:sp>
              <p:nvSpPr>
                <p:cNvPr id="24744" name="Rectangle 150">
                  <a:extLst>
                    <a:ext uri="{FF2B5EF4-FFF2-40B4-BE49-F238E27FC236}">
                      <a16:creationId xmlns:a16="http://schemas.microsoft.com/office/drawing/2014/main" id="{430F0456-3FA1-E70C-3C1B-7258505BB6EA}"/>
                    </a:ext>
                  </a:extLst>
                </p:cNvPr>
                <p:cNvSpPr>
                  <a:spLocks noChangeArrowheads="1"/>
                </p:cNvSpPr>
                <p:nvPr/>
              </p:nvSpPr>
              <p:spPr bwMode="auto">
                <a:xfrm>
                  <a:off x="1036" y="1728"/>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20" name="Group 153">
                <a:extLst>
                  <a:ext uri="{FF2B5EF4-FFF2-40B4-BE49-F238E27FC236}">
                    <a16:creationId xmlns:a16="http://schemas.microsoft.com/office/drawing/2014/main" id="{A7D96F03-A3C5-F234-7BF7-756CAE59979A}"/>
                  </a:ext>
                </a:extLst>
              </p:cNvPr>
              <p:cNvGrpSpPr>
                <a:grpSpLocks/>
              </p:cNvGrpSpPr>
              <p:nvPr/>
            </p:nvGrpSpPr>
            <p:grpSpPr bwMode="auto">
              <a:xfrm>
                <a:off x="1482" y="1728"/>
                <a:ext cx="446" cy="384"/>
                <a:chOff x="1482" y="1728"/>
                <a:chExt cx="446" cy="384"/>
              </a:xfrm>
            </p:grpSpPr>
            <p:sp>
              <p:nvSpPr>
                <p:cNvPr id="24741" name="Rectangle 39">
                  <a:extLst>
                    <a:ext uri="{FF2B5EF4-FFF2-40B4-BE49-F238E27FC236}">
                      <a16:creationId xmlns:a16="http://schemas.microsoft.com/office/drawing/2014/main" id="{936F5E61-A483-EE52-5B87-507CBD975ABD}"/>
                    </a:ext>
                  </a:extLst>
                </p:cNvPr>
                <p:cNvSpPr>
                  <a:spLocks noChangeArrowheads="1"/>
                </p:cNvSpPr>
                <p:nvPr/>
              </p:nvSpPr>
              <p:spPr bwMode="auto">
                <a:xfrm>
                  <a:off x="1525" y="1728"/>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0.014</a:t>
                  </a:r>
                </a:p>
                <a:p>
                  <a:pPr algn="just"/>
                  <a:endParaRPr lang="en-US" altLang="zh-CN" sz="1232"/>
                </a:p>
              </p:txBody>
            </p:sp>
            <p:sp>
              <p:nvSpPr>
                <p:cNvPr id="24742" name="Rectangle 152">
                  <a:extLst>
                    <a:ext uri="{FF2B5EF4-FFF2-40B4-BE49-F238E27FC236}">
                      <a16:creationId xmlns:a16="http://schemas.microsoft.com/office/drawing/2014/main" id="{D4AAC4BE-4DDE-ED09-9F87-33EC581A1CCE}"/>
                    </a:ext>
                  </a:extLst>
                </p:cNvPr>
                <p:cNvSpPr>
                  <a:spLocks noChangeArrowheads="1"/>
                </p:cNvSpPr>
                <p:nvPr/>
              </p:nvSpPr>
              <p:spPr bwMode="auto">
                <a:xfrm>
                  <a:off x="1482" y="1728"/>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21" name="Group 155">
                <a:extLst>
                  <a:ext uri="{FF2B5EF4-FFF2-40B4-BE49-F238E27FC236}">
                    <a16:creationId xmlns:a16="http://schemas.microsoft.com/office/drawing/2014/main" id="{8C4A9D28-8E7C-3C04-089F-BBB373838ECC}"/>
                  </a:ext>
                </a:extLst>
              </p:cNvPr>
              <p:cNvGrpSpPr>
                <a:grpSpLocks/>
              </p:cNvGrpSpPr>
              <p:nvPr/>
            </p:nvGrpSpPr>
            <p:grpSpPr bwMode="auto">
              <a:xfrm>
                <a:off x="1928" y="1728"/>
                <a:ext cx="374" cy="384"/>
                <a:chOff x="1928" y="1728"/>
                <a:chExt cx="374" cy="384"/>
              </a:xfrm>
            </p:grpSpPr>
            <p:sp>
              <p:nvSpPr>
                <p:cNvPr id="24739" name="Rectangle 40">
                  <a:extLst>
                    <a:ext uri="{FF2B5EF4-FFF2-40B4-BE49-F238E27FC236}">
                      <a16:creationId xmlns:a16="http://schemas.microsoft.com/office/drawing/2014/main" id="{90D16AE1-F100-13FD-8201-C8A3D63C1FB0}"/>
                    </a:ext>
                  </a:extLst>
                </p:cNvPr>
                <p:cNvSpPr>
                  <a:spLocks noChangeArrowheads="1"/>
                </p:cNvSpPr>
                <p:nvPr/>
              </p:nvSpPr>
              <p:spPr bwMode="auto">
                <a:xfrm>
                  <a:off x="1971" y="1728"/>
                  <a:ext cx="2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0.24</a:t>
                  </a:r>
                </a:p>
                <a:p>
                  <a:pPr algn="just"/>
                  <a:endParaRPr lang="en-US" altLang="zh-CN" sz="1643"/>
                </a:p>
              </p:txBody>
            </p:sp>
            <p:sp>
              <p:nvSpPr>
                <p:cNvPr id="24740" name="Rectangle 154">
                  <a:extLst>
                    <a:ext uri="{FF2B5EF4-FFF2-40B4-BE49-F238E27FC236}">
                      <a16:creationId xmlns:a16="http://schemas.microsoft.com/office/drawing/2014/main" id="{2108A0F5-EDBB-C64A-2C19-92248B3104E2}"/>
                    </a:ext>
                  </a:extLst>
                </p:cNvPr>
                <p:cNvSpPr>
                  <a:spLocks noChangeArrowheads="1"/>
                </p:cNvSpPr>
                <p:nvPr/>
              </p:nvSpPr>
              <p:spPr bwMode="auto">
                <a:xfrm>
                  <a:off x="1928" y="1728"/>
                  <a:ext cx="37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22" name="Group 157">
                <a:extLst>
                  <a:ext uri="{FF2B5EF4-FFF2-40B4-BE49-F238E27FC236}">
                    <a16:creationId xmlns:a16="http://schemas.microsoft.com/office/drawing/2014/main" id="{C750F4AF-6B88-E510-68B6-0F44DE38C173}"/>
                  </a:ext>
                </a:extLst>
              </p:cNvPr>
              <p:cNvGrpSpPr>
                <a:grpSpLocks/>
              </p:cNvGrpSpPr>
              <p:nvPr/>
            </p:nvGrpSpPr>
            <p:grpSpPr bwMode="auto">
              <a:xfrm>
                <a:off x="2302" y="1728"/>
                <a:ext cx="446" cy="384"/>
                <a:chOff x="2302" y="1728"/>
                <a:chExt cx="446" cy="384"/>
              </a:xfrm>
            </p:grpSpPr>
            <p:sp>
              <p:nvSpPr>
                <p:cNvPr id="24737" name="Rectangle 41">
                  <a:extLst>
                    <a:ext uri="{FF2B5EF4-FFF2-40B4-BE49-F238E27FC236}">
                      <a16:creationId xmlns:a16="http://schemas.microsoft.com/office/drawing/2014/main" id="{0EC81E2F-3CA3-5FE6-D58D-CA97764CEB1E}"/>
                    </a:ext>
                  </a:extLst>
                </p:cNvPr>
                <p:cNvSpPr>
                  <a:spLocks noChangeArrowheads="1"/>
                </p:cNvSpPr>
                <p:nvPr/>
              </p:nvSpPr>
              <p:spPr bwMode="auto">
                <a:xfrm>
                  <a:off x="2345" y="1728"/>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3.40</a:t>
                  </a:r>
                </a:p>
                <a:p>
                  <a:pPr algn="just"/>
                  <a:endParaRPr lang="en-US" altLang="zh-CN" sz="1232"/>
                </a:p>
              </p:txBody>
            </p:sp>
            <p:sp>
              <p:nvSpPr>
                <p:cNvPr id="24738" name="Rectangle 156">
                  <a:extLst>
                    <a:ext uri="{FF2B5EF4-FFF2-40B4-BE49-F238E27FC236}">
                      <a16:creationId xmlns:a16="http://schemas.microsoft.com/office/drawing/2014/main" id="{829C67B1-83D3-F1CD-4FCE-88DBB6A2EE57}"/>
                    </a:ext>
                  </a:extLst>
                </p:cNvPr>
                <p:cNvSpPr>
                  <a:spLocks noChangeArrowheads="1"/>
                </p:cNvSpPr>
                <p:nvPr/>
              </p:nvSpPr>
              <p:spPr bwMode="auto">
                <a:xfrm>
                  <a:off x="2302" y="1728"/>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23" name="Group 159">
                <a:extLst>
                  <a:ext uri="{FF2B5EF4-FFF2-40B4-BE49-F238E27FC236}">
                    <a16:creationId xmlns:a16="http://schemas.microsoft.com/office/drawing/2014/main" id="{B077672C-A42E-5EBB-DE74-374FDB640DE8}"/>
                  </a:ext>
                </a:extLst>
              </p:cNvPr>
              <p:cNvGrpSpPr>
                <a:grpSpLocks/>
              </p:cNvGrpSpPr>
              <p:nvPr/>
            </p:nvGrpSpPr>
            <p:grpSpPr bwMode="auto">
              <a:xfrm>
                <a:off x="2748" y="1728"/>
                <a:ext cx="446" cy="384"/>
                <a:chOff x="2748" y="1728"/>
                <a:chExt cx="446" cy="384"/>
              </a:xfrm>
            </p:grpSpPr>
            <p:sp>
              <p:nvSpPr>
                <p:cNvPr id="24735" name="Rectangle 42">
                  <a:extLst>
                    <a:ext uri="{FF2B5EF4-FFF2-40B4-BE49-F238E27FC236}">
                      <a16:creationId xmlns:a16="http://schemas.microsoft.com/office/drawing/2014/main" id="{B19ADAD8-EC1D-5C96-DF08-2CFE9717DE3B}"/>
                    </a:ext>
                  </a:extLst>
                </p:cNvPr>
                <p:cNvSpPr>
                  <a:spLocks noChangeArrowheads="1"/>
                </p:cNvSpPr>
                <p:nvPr/>
              </p:nvSpPr>
              <p:spPr bwMode="auto">
                <a:xfrm>
                  <a:off x="2791" y="1728"/>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-1.24</a:t>
                  </a:r>
                </a:p>
                <a:p>
                  <a:pPr algn="just"/>
                  <a:endParaRPr lang="en-US" altLang="zh-CN" sz="1232"/>
                </a:p>
              </p:txBody>
            </p:sp>
            <p:sp>
              <p:nvSpPr>
                <p:cNvPr id="24736" name="Rectangle 158">
                  <a:extLst>
                    <a:ext uri="{FF2B5EF4-FFF2-40B4-BE49-F238E27FC236}">
                      <a16:creationId xmlns:a16="http://schemas.microsoft.com/office/drawing/2014/main" id="{AD45C2A2-61E8-9D1D-9EC1-F4E952FEF7A7}"/>
                    </a:ext>
                  </a:extLst>
                </p:cNvPr>
                <p:cNvSpPr>
                  <a:spLocks noChangeArrowheads="1"/>
                </p:cNvSpPr>
                <p:nvPr/>
              </p:nvSpPr>
              <p:spPr bwMode="auto">
                <a:xfrm>
                  <a:off x="2748" y="1728"/>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24" name="Group 161">
                <a:extLst>
                  <a:ext uri="{FF2B5EF4-FFF2-40B4-BE49-F238E27FC236}">
                    <a16:creationId xmlns:a16="http://schemas.microsoft.com/office/drawing/2014/main" id="{263F92BF-D0A2-CD7F-FEDD-3884AF1FA88C}"/>
                  </a:ext>
                </a:extLst>
              </p:cNvPr>
              <p:cNvGrpSpPr>
                <a:grpSpLocks/>
              </p:cNvGrpSpPr>
              <p:nvPr/>
            </p:nvGrpSpPr>
            <p:grpSpPr bwMode="auto">
              <a:xfrm>
                <a:off x="3194" y="1728"/>
                <a:ext cx="518" cy="384"/>
                <a:chOff x="3194" y="1728"/>
                <a:chExt cx="518" cy="384"/>
              </a:xfrm>
            </p:grpSpPr>
            <p:sp>
              <p:nvSpPr>
                <p:cNvPr id="24733" name="Rectangle 43">
                  <a:extLst>
                    <a:ext uri="{FF2B5EF4-FFF2-40B4-BE49-F238E27FC236}">
                      <a16:creationId xmlns:a16="http://schemas.microsoft.com/office/drawing/2014/main" id="{B2B8C290-A53A-BAB1-8818-47BAA6EB0625}"/>
                    </a:ext>
                  </a:extLst>
                </p:cNvPr>
                <p:cNvSpPr>
                  <a:spLocks noChangeArrowheads="1"/>
                </p:cNvSpPr>
                <p:nvPr/>
              </p:nvSpPr>
              <p:spPr bwMode="auto">
                <a:xfrm>
                  <a:off x="3237" y="1728"/>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0.12</a:t>
                  </a:r>
                </a:p>
                <a:p>
                  <a:pPr algn="just"/>
                  <a:endParaRPr lang="en-US" altLang="zh-CN" sz="1232"/>
                </a:p>
              </p:txBody>
            </p:sp>
            <p:sp>
              <p:nvSpPr>
                <p:cNvPr id="24734" name="Rectangle 160">
                  <a:extLst>
                    <a:ext uri="{FF2B5EF4-FFF2-40B4-BE49-F238E27FC236}">
                      <a16:creationId xmlns:a16="http://schemas.microsoft.com/office/drawing/2014/main" id="{75831935-33BD-2956-5670-9E987C1F537C}"/>
                    </a:ext>
                  </a:extLst>
                </p:cNvPr>
                <p:cNvSpPr>
                  <a:spLocks noChangeArrowheads="1"/>
                </p:cNvSpPr>
                <p:nvPr/>
              </p:nvSpPr>
              <p:spPr bwMode="auto">
                <a:xfrm>
                  <a:off x="3194" y="1728"/>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25" name="Group 163">
                <a:extLst>
                  <a:ext uri="{FF2B5EF4-FFF2-40B4-BE49-F238E27FC236}">
                    <a16:creationId xmlns:a16="http://schemas.microsoft.com/office/drawing/2014/main" id="{43CC79E6-DDDA-644E-E7DF-3E3B90163BE4}"/>
                  </a:ext>
                </a:extLst>
              </p:cNvPr>
              <p:cNvGrpSpPr>
                <a:grpSpLocks/>
              </p:cNvGrpSpPr>
              <p:nvPr/>
            </p:nvGrpSpPr>
            <p:grpSpPr bwMode="auto">
              <a:xfrm>
                <a:off x="3712" y="1728"/>
                <a:ext cx="446" cy="384"/>
                <a:chOff x="3712" y="1728"/>
                <a:chExt cx="446" cy="384"/>
              </a:xfrm>
            </p:grpSpPr>
            <p:sp>
              <p:nvSpPr>
                <p:cNvPr id="24731" name="Rectangle 44">
                  <a:extLst>
                    <a:ext uri="{FF2B5EF4-FFF2-40B4-BE49-F238E27FC236}">
                      <a16:creationId xmlns:a16="http://schemas.microsoft.com/office/drawing/2014/main" id="{FB592E9D-2A26-8737-DA10-4526BCCB8DC7}"/>
                    </a:ext>
                  </a:extLst>
                </p:cNvPr>
                <p:cNvSpPr>
                  <a:spLocks noChangeArrowheads="1"/>
                </p:cNvSpPr>
                <p:nvPr/>
              </p:nvSpPr>
              <p:spPr bwMode="auto">
                <a:xfrm>
                  <a:off x="3755" y="1728"/>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732" name="Rectangle 162">
                  <a:extLst>
                    <a:ext uri="{FF2B5EF4-FFF2-40B4-BE49-F238E27FC236}">
                      <a16:creationId xmlns:a16="http://schemas.microsoft.com/office/drawing/2014/main" id="{18BF67AA-6BC2-2C5E-9E21-65E3249A8471}"/>
                    </a:ext>
                  </a:extLst>
                </p:cNvPr>
                <p:cNvSpPr>
                  <a:spLocks noChangeArrowheads="1"/>
                </p:cNvSpPr>
                <p:nvPr/>
              </p:nvSpPr>
              <p:spPr bwMode="auto">
                <a:xfrm>
                  <a:off x="3712" y="1728"/>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26" name="Group 165">
                <a:extLst>
                  <a:ext uri="{FF2B5EF4-FFF2-40B4-BE49-F238E27FC236}">
                    <a16:creationId xmlns:a16="http://schemas.microsoft.com/office/drawing/2014/main" id="{155702E0-A2FA-C526-0C5D-CC0BFC4791E1}"/>
                  </a:ext>
                </a:extLst>
              </p:cNvPr>
              <p:cNvGrpSpPr>
                <a:grpSpLocks/>
              </p:cNvGrpSpPr>
              <p:nvPr/>
            </p:nvGrpSpPr>
            <p:grpSpPr bwMode="auto">
              <a:xfrm>
                <a:off x="4158" y="1728"/>
                <a:ext cx="446" cy="384"/>
                <a:chOff x="4158" y="1728"/>
                <a:chExt cx="446" cy="384"/>
              </a:xfrm>
            </p:grpSpPr>
            <p:sp>
              <p:nvSpPr>
                <p:cNvPr id="24729" name="Rectangle 45">
                  <a:extLst>
                    <a:ext uri="{FF2B5EF4-FFF2-40B4-BE49-F238E27FC236}">
                      <a16:creationId xmlns:a16="http://schemas.microsoft.com/office/drawing/2014/main" id="{AE8B04B4-8635-7B85-213A-86F083634EA4}"/>
                    </a:ext>
                  </a:extLst>
                </p:cNvPr>
                <p:cNvSpPr>
                  <a:spLocks noChangeArrowheads="1"/>
                </p:cNvSpPr>
                <p:nvPr/>
              </p:nvSpPr>
              <p:spPr bwMode="auto">
                <a:xfrm>
                  <a:off x="4201" y="1728"/>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730" name="Rectangle 164">
                  <a:extLst>
                    <a:ext uri="{FF2B5EF4-FFF2-40B4-BE49-F238E27FC236}">
                      <a16:creationId xmlns:a16="http://schemas.microsoft.com/office/drawing/2014/main" id="{04FAE776-150D-2305-0699-1C97746852F6}"/>
                    </a:ext>
                  </a:extLst>
                </p:cNvPr>
                <p:cNvSpPr>
                  <a:spLocks noChangeArrowheads="1"/>
                </p:cNvSpPr>
                <p:nvPr/>
              </p:nvSpPr>
              <p:spPr bwMode="auto">
                <a:xfrm>
                  <a:off x="4158" y="1728"/>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27" name="Group 167">
                <a:extLst>
                  <a:ext uri="{FF2B5EF4-FFF2-40B4-BE49-F238E27FC236}">
                    <a16:creationId xmlns:a16="http://schemas.microsoft.com/office/drawing/2014/main" id="{6F54010F-5167-0ACB-C841-AE692B04D1E8}"/>
                  </a:ext>
                </a:extLst>
              </p:cNvPr>
              <p:cNvGrpSpPr>
                <a:grpSpLocks/>
              </p:cNvGrpSpPr>
              <p:nvPr/>
            </p:nvGrpSpPr>
            <p:grpSpPr bwMode="auto">
              <a:xfrm>
                <a:off x="4604" y="1728"/>
                <a:ext cx="446" cy="384"/>
                <a:chOff x="4604" y="1728"/>
                <a:chExt cx="446" cy="384"/>
              </a:xfrm>
            </p:grpSpPr>
            <p:sp>
              <p:nvSpPr>
                <p:cNvPr id="24727" name="Rectangle 46">
                  <a:extLst>
                    <a:ext uri="{FF2B5EF4-FFF2-40B4-BE49-F238E27FC236}">
                      <a16:creationId xmlns:a16="http://schemas.microsoft.com/office/drawing/2014/main" id="{A43EC3DA-3D21-802C-C5F1-0CAFFAF6F6B2}"/>
                    </a:ext>
                  </a:extLst>
                </p:cNvPr>
                <p:cNvSpPr>
                  <a:spLocks noChangeArrowheads="1"/>
                </p:cNvSpPr>
                <p:nvPr/>
              </p:nvSpPr>
              <p:spPr bwMode="auto">
                <a:xfrm>
                  <a:off x="4647" y="1728"/>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728" name="Rectangle 166">
                  <a:extLst>
                    <a:ext uri="{FF2B5EF4-FFF2-40B4-BE49-F238E27FC236}">
                      <a16:creationId xmlns:a16="http://schemas.microsoft.com/office/drawing/2014/main" id="{BDAEA58D-F752-EBF5-167C-2D5D48D78BE3}"/>
                    </a:ext>
                  </a:extLst>
                </p:cNvPr>
                <p:cNvSpPr>
                  <a:spLocks noChangeArrowheads="1"/>
                </p:cNvSpPr>
                <p:nvPr/>
              </p:nvSpPr>
              <p:spPr bwMode="auto">
                <a:xfrm>
                  <a:off x="4604" y="1728"/>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28" name="Group 169">
                <a:extLst>
                  <a:ext uri="{FF2B5EF4-FFF2-40B4-BE49-F238E27FC236}">
                    <a16:creationId xmlns:a16="http://schemas.microsoft.com/office/drawing/2014/main" id="{FA989283-80E6-7045-83BB-7066725239B5}"/>
                  </a:ext>
                </a:extLst>
              </p:cNvPr>
              <p:cNvGrpSpPr>
                <a:grpSpLocks/>
              </p:cNvGrpSpPr>
              <p:nvPr/>
            </p:nvGrpSpPr>
            <p:grpSpPr bwMode="auto">
              <a:xfrm>
                <a:off x="0" y="2112"/>
                <a:ext cx="590" cy="384"/>
                <a:chOff x="0" y="2112"/>
                <a:chExt cx="590" cy="384"/>
              </a:xfrm>
            </p:grpSpPr>
            <p:sp>
              <p:nvSpPr>
                <p:cNvPr id="24725" name="Rectangle 47">
                  <a:extLst>
                    <a:ext uri="{FF2B5EF4-FFF2-40B4-BE49-F238E27FC236}">
                      <a16:creationId xmlns:a16="http://schemas.microsoft.com/office/drawing/2014/main" id="{91A89D78-3E76-5BBA-C679-3C46AB71D29F}"/>
                    </a:ext>
                  </a:extLst>
                </p:cNvPr>
                <p:cNvSpPr>
                  <a:spLocks noChangeArrowheads="1"/>
                </p:cNvSpPr>
                <p:nvPr/>
              </p:nvSpPr>
              <p:spPr bwMode="auto">
                <a:xfrm>
                  <a:off x="43" y="2112"/>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1438"/>
                    <a:t>幼龄</a:t>
                  </a:r>
                  <a:r>
                    <a:rPr lang="en-US" altLang="zh-CN" sz="1438"/>
                    <a:t>III(3)</a:t>
                  </a:r>
                </a:p>
                <a:p>
                  <a:pPr algn="just"/>
                  <a:endParaRPr lang="en-US" altLang="zh-CN" sz="1438"/>
                </a:p>
              </p:txBody>
            </p:sp>
            <p:sp>
              <p:nvSpPr>
                <p:cNvPr id="24726" name="Rectangle 168">
                  <a:extLst>
                    <a:ext uri="{FF2B5EF4-FFF2-40B4-BE49-F238E27FC236}">
                      <a16:creationId xmlns:a16="http://schemas.microsoft.com/office/drawing/2014/main" id="{0E045E75-7A30-99D6-E425-BA1E19582745}"/>
                    </a:ext>
                  </a:extLst>
                </p:cNvPr>
                <p:cNvSpPr>
                  <a:spLocks noChangeArrowheads="1"/>
                </p:cNvSpPr>
                <p:nvPr/>
              </p:nvSpPr>
              <p:spPr bwMode="auto">
                <a:xfrm>
                  <a:off x="0" y="2112"/>
                  <a:ext cx="59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29" name="Group 171">
                <a:extLst>
                  <a:ext uri="{FF2B5EF4-FFF2-40B4-BE49-F238E27FC236}">
                    <a16:creationId xmlns:a16="http://schemas.microsoft.com/office/drawing/2014/main" id="{0FEE80F0-4CB2-57A5-BD78-4A4555873F84}"/>
                  </a:ext>
                </a:extLst>
              </p:cNvPr>
              <p:cNvGrpSpPr>
                <a:grpSpLocks/>
              </p:cNvGrpSpPr>
              <p:nvPr/>
            </p:nvGrpSpPr>
            <p:grpSpPr bwMode="auto">
              <a:xfrm>
                <a:off x="590" y="2112"/>
                <a:ext cx="446" cy="384"/>
                <a:chOff x="590" y="2112"/>
                <a:chExt cx="446" cy="384"/>
              </a:xfrm>
            </p:grpSpPr>
            <p:sp>
              <p:nvSpPr>
                <p:cNvPr id="24723" name="Rectangle 48">
                  <a:extLst>
                    <a:ext uri="{FF2B5EF4-FFF2-40B4-BE49-F238E27FC236}">
                      <a16:creationId xmlns:a16="http://schemas.microsoft.com/office/drawing/2014/main" id="{9A9D9134-3CE5-335A-1BFA-BDBD3415CA9F}"/>
                    </a:ext>
                  </a:extLst>
                </p:cNvPr>
                <p:cNvSpPr>
                  <a:spLocks noChangeArrowheads="1"/>
                </p:cNvSpPr>
                <p:nvPr/>
              </p:nvSpPr>
              <p:spPr bwMode="auto">
                <a:xfrm>
                  <a:off x="633" y="2112"/>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1922</a:t>
                  </a:r>
                </a:p>
                <a:p>
                  <a:pPr algn="just"/>
                  <a:endParaRPr lang="en-US" altLang="zh-CN" sz="1232"/>
                </a:p>
              </p:txBody>
            </p:sp>
            <p:sp>
              <p:nvSpPr>
                <p:cNvPr id="24724" name="Rectangle 170">
                  <a:extLst>
                    <a:ext uri="{FF2B5EF4-FFF2-40B4-BE49-F238E27FC236}">
                      <a16:creationId xmlns:a16="http://schemas.microsoft.com/office/drawing/2014/main" id="{E3679B4F-B7F7-DB46-9761-D8A0A143AAC5}"/>
                    </a:ext>
                  </a:extLst>
                </p:cNvPr>
                <p:cNvSpPr>
                  <a:spLocks noChangeArrowheads="1"/>
                </p:cNvSpPr>
                <p:nvPr/>
              </p:nvSpPr>
              <p:spPr bwMode="auto">
                <a:xfrm>
                  <a:off x="590" y="2112"/>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30" name="Group 173">
                <a:extLst>
                  <a:ext uri="{FF2B5EF4-FFF2-40B4-BE49-F238E27FC236}">
                    <a16:creationId xmlns:a16="http://schemas.microsoft.com/office/drawing/2014/main" id="{2F70C853-8DA8-3179-6BE8-4CD49DD9CE4D}"/>
                  </a:ext>
                </a:extLst>
              </p:cNvPr>
              <p:cNvGrpSpPr>
                <a:grpSpLocks/>
              </p:cNvGrpSpPr>
              <p:nvPr/>
            </p:nvGrpSpPr>
            <p:grpSpPr bwMode="auto">
              <a:xfrm>
                <a:off x="1036" y="2112"/>
                <a:ext cx="446" cy="384"/>
                <a:chOff x="1036" y="2112"/>
                <a:chExt cx="446" cy="384"/>
              </a:xfrm>
            </p:grpSpPr>
            <p:sp>
              <p:nvSpPr>
                <p:cNvPr id="24721" name="Rectangle 49">
                  <a:extLst>
                    <a:ext uri="{FF2B5EF4-FFF2-40B4-BE49-F238E27FC236}">
                      <a16:creationId xmlns:a16="http://schemas.microsoft.com/office/drawing/2014/main" id="{D94100CC-92AC-E6D9-97E5-436C5550EC65}"/>
                    </a:ext>
                  </a:extLst>
                </p:cNvPr>
                <p:cNvSpPr>
                  <a:spLocks noChangeArrowheads="1"/>
                </p:cNvSpPr>
                <p:nvPr/>
              </p:nvSpPr>
              <p:spPr bwMode="auto">
                <a:xfrm>
                  <a:off x="1079" y="2112"/>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0.044</a:t>
                  </a:r>
                </a:p>
                <a:p>
                  <a:pPr algn="just"/>
                  <a:endParaRPr lang="en-US" altLang="zh-CN" sz="1232"/>
                </a:p>
              </p:txBody>
            </p:sp>
            <p:sp>
              <p:nvSpPr>
                <p:cNvPr id="24722" name="Rectangle 172">
                  <a:extLst>
                    <a:ext uri="{FF2B5EF4-FFF2-40B4-BE49-F238E27FC236}">
                      <a16:creationId xmlns:a16="http://schemas.microsoft.com/office/drawing/2014/main" id="{F89C52A7-8E62-DAAB-426F-39688AA542DD}"/>
                    </a:ext>
                  </a:extLst>
                </p:cNvPr>
                <p:cNvSpPr>
                  <a:spLocks noChangeArrowheads="1"/>
                </p:cNvSpPr>
                <p:nvPr/>
              </p:nvSpPr>
              <p:spPr bwMode="auto">
                <a:xfrm>
                  <a:off x="1036" y="2112"/>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31" name="Group 175">
                <a:extLst>
                  <a:ext uri="{FF2B5EF4-FFF2-40B4-BE49-F238E27FC236}">
                    <a16:creationId xmlns:a16="http://schemas.microsoft.com/office/drawing/2014/main" id="{6432BC98-631A-581D-103E-9AC1A98D7A03}"/>
                  </a:ext>
                </a:extLst>
              </p:cNvPr>
              <p:cNvGrpSpPr>
                <a:grpSpLocks/>
              </p:cNvGrpSpPr>
              <p:nvPr/>
            </p:nvGrpSpPr>
            <p:grpSpPr bwMode="auto">
              <a:xfrm>
                <a:off x="1482" y="2112"/>
                <a:ext cx="446" cy="384"/>
                <a:chOff x="1482" y="2112"/>
                <a:chExt cx="446" cy="384"/>
              </a:xfrm>
            </p:grpSpPr>
            <p:sp>
              <p:nvSpPr>
                <p:cNvPr id="24719" name="Rectangle 50">
                  <a:extLst>
                    <a:ext uri="{FF2B5EF4-FFF2-40B4-BE49-F238E27FC236}">
                      <a16:creationId xmlns:a16="http://schemas.microsoft.com/office/drawing/2014/main" id="{E510E5C3-C35B-8BC2-64C6-125D98E3598C}"/>
                    </a:ext>
                  </a:extLst>
                </p:cNvPr>
                <p:cNvSpPr>
                  <a:spLocks noChangeArrowheads="1"/>
                </p:cNvSpPr>
                <p:nvPr/>
              </p:nvSpPr>
              <p:spPr bwMode="auto">
                <a:xfrm>
                  <a:off x="1525" y="2112"/>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0.011</a:t>
                  </a:r>
                </a:p>
                <a:p>
                  <a:pPr algn="just"/>
                  <a:endParaRPr lang="en-US" altLang="zh-CN" sz="1232"/>
                </a:p>
              </p:txBody>
            </p:sp>
            <p:sp>
              <p:nvSpPr>
                <p:cNvPr id="24720" name="Rectangle 174">
                  <a:extLst>
                    <a:ext uri="{FF2B5EF4-FFF2-40B4-BE49-F238E27FC236}">
                      <a16:creationId xmlns:a16="http://schemas.microsoft.com/office/drawing/2014/main" id="{12A9CA7C-8C63-1026-B1C3-4090E2722DFA}"/>
                    </a:ext>
                  </a:extLst>
                </p:cNvPr>
                <p:cNvSpPr>
                  <a:spLocks noChangeArrowheads="1"/>
                </p:cNvSpPr>
                <p:nvPr/>
              </p:nvSpPr>
              <p:spPr bwMode="auto">
                <a:xfrm>
                  <a:off x="1482" y="2112"/>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32" name="Group 177">
                <a:extLst>
                  <a:ext uri="{FF2B5EF4-FFF2-40B4-BE49-F238E27FC236}">
                    <a16:creationId xmlns:a16="http://schemas.microsoft.com/office/drawing/2014/main" id="{C27BC7D3-6A31-EB1A-3776-C7CDE6108D6B}"/>
                  </a:ext>
                </a:extLst>
              </p:cNvPr>
              <p:cNvGrpSpPr>
                <a:grpSpLocks/>
              </p:cNvGrpSpPr>
              <p:nvPr/>
            </p:nvGrpSpPr>
            <p:grpSpPr bwMode="auto">
              <a:xfrm>
                <a:off x="1928" y="2112"/>
                <a:ext cx="374" cy="384"/>
                <a:chOff x="1928" y="2112"/>
                <a:chExt cx="374" cy="384"/>
              </a:xfrm>
            </p:grpSpPr>
            <p:sp>
              <p:nvSpPr>
                <p:cNvPr id="24717" name="Rectangle 51">
                  <a:extLst>
                    <a:ext uri="{FF2B5EF4-FFF2-40B4-BE49-F238E27FC236}">
                      <a16:creationId xmlns:a16="http://schemas.microsoft.com/office/drawing/2014/main" id="{C51BE6BA-6C3F-BCF2-862F-96DB3EAD7716}"/>
                    </a:ext>
                  </a:extLst>
                </p:cNvPr>
                <p:cNvSpPr>
                  <a:spLocks noChangeArrowheads="1"/>
                </p:cNvSpPr>
                <p:nvPr/>
              </p:nvSpPr>
              <p:spPr bwMode="auto">
                <a:xfrm>
                  <a:off x="1971" y="2112"/>
                  <a:ext cx="2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0.25</a:t>
                  </a:r>
                </a:p>
                <a:p>
                  <a:pPr algn="just"/>
                  <a:endParaRPr lang="en-US" altLang="zh-CN" sz="1232"/>
                </a:p>
              </p:txBody>
            </p:sp>
            <p:sp>
              <p:nvSpPr>
                <p:cNvPr id="24718" name="Rectangle 176">
                  <a:extLst>
                    <a:ext uri="{FF2B5EF4-FFF2-40B4-BE49-F238E27FC236}">
                      <a16:creationId xmlns:a16="http://schemas.microsoft.com/office/drawing/2014/main" id="{EDBB18C3-2962-105D-F4CD-A9A3EBC2F975}"/>
                    </a:ext>
                  </a:extLst>
                </p:cNvPr>
                <p:cNvSpPr>
                  <a:spLocks noChangeArrowheads="1"/>
                </p:cNvSpPr>
                <p:nvPr/>
              </p:nvSpPr>
              <p:spPr bwMode="auto">
                <a:xfrm>
                  <a:off x="1928" y="2112"/>
                  <a:ext cx="37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33" name="Group 179">
                <a:extLst>
                  <a:ext uri="{FF2B5EF4-FFF2-40B4-BE49-F238E27FC236}">
                    <a16:creationId xmlns:a16="http://schemas.microsoft.com/office/drawing/2014/main" id="{0FA4380A-52F2-754B-FFA1-0EAE98562466}"/>
                  </a:ext>
                </a:extLst>
              </p:cNvPr>
              <p:cNvGrpSpPr>
                <a:grpSpLocks/>
              </p:cNvGrpSpPr>
              <p:nvPr/>
            </p:nvGrpSpPr>
            <p:grpSpPr bwMode="auto">
              <a:xfrm>
                <a:off x="2302" y="2112"/>
                <a:ext cx="446" cy="384"/>
                <a:chOff x="2302" y="2112"/>
                <a:chExt cx="446" cy="384"/>
              </a:xfrm>
            </p:grpSpPr>
            <p:sp>
              <p:nvSpPr>
                <p:cNvPr id="24715" name="Rectangle 52">
                  <a:extLst>
                    <a:ext uri="{FF2B5EF4-FFF2-40B4-BE49-F238E27FC236}">
                      <a16:creationId xmlns:a16="http://schemas.microsoft.com/office/drawing/2014/main" id="{3D6BD647-B0EF-0B7C-C9E7-1DA62F9BA128}"/>
                    </a:ext>
                  </a:extLst>
                </p:cNvPr>
                <p:cNvSpPr>
                  <a:spLocks noChangeArrowheads="1"/>
                </p:cNvSpPr>
                <p:nvPr/>
              </p:nvSpPr>
              <p:spPr bwMode="auto">
                <a:xfrm>
                  <a:off x="2345" y="2112"/>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3.28</a:t>
                  </a:r>
                </a:p>
                <a:p>
                  <a:pPr algn="just"/>
                  <a:endParaRPr lang="en-US" altLang="zh-CN" sz="1232"/>
                </a:p>
              </p:txBody>
            </p:sp>
            <p:sp>
              <p:nvSpPr>
                <p:cNvPr id="24716" name="Rectangle 178">
                  <a:extLst>
                    <a:ext uri="{FF2B5EF4-FFF2-40B4-BE49-F238E27FC236}">
                      <a16:creationId xmlns:a16="http://schemas.microsoft.com/office/drawing/2014/main" id="{642D55B0-65DD-3CDF-696D-7A91DF77D5FF}"/>
                    </a:ext>
                  </a:extLst>
                </p:cNvPr>
                <p:cNvSpPr>
                  <a:spLocks noChangeArrowheads="1"/>
                </p:cNvSpPr>
                <p:nvPr/>
              </p:nvSpPr>
              <p:spPr bwMode="auto">
                <a:xfrm>
                  <a:off x="2302" y="2112"/>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34" name="Group 181">
                <a:extLst>
                  <a:ext uri="{FF2B5EF4-FFF2-40B4-BE49-F238E27FC236}">
                    <a16:creationId xmlns:a16="http://schemas.microsoft.com/office/drawing/2014/main" id="{F1430E30-55BD-1353-66FE-F6AB2736FF39}"/>
                  </a:ext>
                </a:extLst>
              </p:cNvPr>
              <p:cNvGrpSpPr>
                <a:grpSpLocks/>
              </p:cNvGrpSpPr>
              <p:nvPr/>
            </p:nvGrpSpPr>
            <p:grpSpPr bwMode="auto">
              <a:xfrm>
                <a:off x="2748" y="2112"/>
                <a:ext cx="446" cy="384"/>
                <a:chOff x="2748" y="2112"/>
                <a:chExt cx="446" cy="384"/>
              </a:xfrm>
            </p:grpSpPr>
            <p:sp>
              <p:nvSpPr>
                <p:cNvPr id="24713" name="Rectangle 53">
                  <a:extLst>
                    <a:ext uri="{FF2B5EF4-FFF2-40B4-BE49-F238E27FC236}">
                      <a16:creationId xmlns:a16="http://schemas.microsoft.com/office/drawing/2014/main" id="{01A9DDFB-D7EC-C3B6-AF8D-69DF55B549F6}"/>
                    </a:ext>
                  </a:extLst>
                </p:cNvPr>
                <p:cNvSpPr>
                  <a:spLocks noChangeArrowheads="1"/>
                </p:cNvSpPr>
                <p:nvPr/>
              </p:nvSpPr>
              <p:spPr bwMode="auto">
                <a:xfrm>
                  <a:off x="2791" y="2112"/>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-1.36</a:t>
                  </a:r>
                </a:p>
                <a:p>
                  <a:pPr algn="just"/>
                  <a:endParaRPr lang="en-US" altLang="zh-CN" sz="1232"/>
                </a:p>
              </p:txBody>
            </p:sp>
            <p:sp>
              <p:nvSpPr>
                <p:cNvPr id="24714" name="Rectangle 180">
                  <a:extLst>
                    <a:ext uri="{FF2B5EF4-FFF2-40B4-BE49-F238E27FC236}">
                      <a16:creationId xmlns:a16="http://schemas.microsoft.com/office/drawing/2014/main" id="{3FF2B0A8-D536-87A1-6C7D-0FB54F906842}"/>
                    </a:ext>
                  </a:extLst>
                </p:cNvPr>
                <p:cNvSpPr>
                  <a:spLocks noChangeArrowheads="1"/>
                </p:cNvSpPr>
                <p:nvPr/>
              </p:nvSpPr>
              <p:spPr bwMode="auto">
                <a:xfrm>
                  <a:off x="2748" y="2112"/>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35" name="Group 183">
                <a:extLst>
                  <a:ext uri="{FF2B5EF4-FFF2-40B4-BE49-F238E27FC236}">
                    <a16:creationId xmlns:a16="http://schemas.microsoft.com/office/drawing/2014/main" id="{B5ED6F81-7ABC-A4E0-A3AC-AE9849D56008}"/>
                  </a:ext>
                </a:extLst>
              </p:cNvPr>
              <p:cNvGrpSpPr>
                <a:grpSpLocks/>
              </p:cNvGrpSpPr>
              <p:nvPr/>
            </p:nvGrpSpPr>
            <p:grpSpPr bwMode="auto">
              <a:xfrm>
                <a:off x="3194" y="2112"/>
                <a:ext cx="518" cy="384"/>
                <a:chOff x="3194" y="2112"/>
                <a:chExt cx="518" cy="384"/>
              </a:xfrm>
            </p:grpSpPr>
            <p:sp>
              <p:nvSpPr>
                <p:cNvPr id="24711" name="Rectangle 54">
                  <a:extLst>
                    <a:ext uri="{FF2B5EF4-FFF2-40B4-BE49-F238E27FC236}">
                      <a16:creationId xmlns:a16="http://schemas.microsoft.com/office/drawing/2014/main" id="{26312CFC-C2D2-8CD8-211B-EC8D6E3FE15E}"/>
                    </a:ext>
                  </a:extLst>
                </p:cNvPr>
                <p:cNvSpPr>
                  <a:spLocks noChangeArrowheads="1"/>
                </p:cNvSpPr>
                <p:nvPr/>
              </p:nvSpPr>
              <p:spPr bwMode="auto">
                <a:xfrm>
                  <a:off x="3237" y="2112"/>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0.12</a:t>
                  </a:r>
                </a:p>
                <a:p>
                  <a:pPr algn="just"/>
                  <a:endParaRPr lang="en-US" altLang="zh-CN" sz="1232"/>
                </a:p>
              </p:txBody>
            </p:sp>
            <p:sp>
              <p:nvSpPr>
                <p:cNvPr id="24712" name="Rectangle 182">
                  <a:extLst>
                    <a:ext uri="{FF2B5EF4-FFF2-40B4-BE49-F238E27FC236}">
                      <a16:creationId xmlns:a16="http://schemas.microsoft.com/office/drawing/2014/main" id="{5F1B2E41-A005-290C-33EF-5CD8989E36CB}"/>
                    </a:ext>
                  </a:extLst>
                </p:cNvPr>
                <p:cNvSpPr>
                  <a:spLocks noChangeArrowheads="1"/>
                </p:cNvSpPr>
                <p:nvPr/>
              </p:nvSpPr>
              <p:spPr bwMode="auto">
                <a:xfrm>
                  <a:off x="3194" y="2112"/>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36" name="Group 185">
                <a:extLst>
                  <a:ext uri="{FF2B5EF4-FFF2-40B4-BE49-F238E27FC236}">
                    <a16:creationId xmlns:a16="http://schemas.microsoft.com/office/drawing/2014/main" id="{E02A74CB-E478-368D-CB5C-5CDA4828EBBC}"/>
                  </a:ext>
                </a:extLst>
              </p:cNvPr>
              <p:cNvGrpSpPr>
                <a:grpSpLocks/>
              </p:cNvGrpSpPr>
              <p:nvPr/>
            </p:nvGrpSpPr>
            <p:grpSpPr bwMode="auto">
              <a:xfrm>
                <a:off x="3712" y="2112"/>
                <a:ext cx="446" cy="384"/>
                <a:chOff x="3712" y="2112"/>
                <a:chExt cx="446" cy="384"/>
              </a:xfrm>
            </p:grpSpPr>
            <p:sp>
              <p:nvSpPr>
                <p:cNvPr id="24709" name="Rectangle 55">
                  <a:extLst>
                    <a:ext uri="{FF2B5EF4-FFF2-40B4-BE49-F238E27FC236}">
                      <a16:creationId xmlns:a16="http://schemas.microsoft.com/office/drawing/2014/main" id="{345F9CDF-0C5E-D911-5766-53DEAA088C56}"/>
                    </a:ext>
                  </a:extLst>
                </p:cNvPr>
                <p:cNvSpPr>
                  <a:spLocks noChangeArrowheads="1"/>
                </p:cNvSpPr>
                <p:nvPr/>
              </p:nvSpPr>
              <p:spPr bwMode="auto">
                <a:xfrm>
                  <a:off x="3755" y="2112"/>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710" name="Rectangle 184">
                  <a:extLst>
                    <a:ext uri="{FF2B5EF4-FFF2-40B4-BE49-F238E27FC236}">
                      <a16:creationId xmlns:a16="http://schemas.microsoft.com/office/drawing/2014/main" id="{2F506B27-2634-7E7B-2101-7F645A772EAF}"/>
                    </a:ext>
                  </a:extLst>
                </p:cNvPr>
                <p:cNvSpPr>
                  <a:spLocks noChangeArrowheads="1"/>
                </p:cNvSpPr>
                <p:nvPr/>
              </p:nvSpPr>
              <p:spPr bwMode="auto">
                <a:xfrm>
                  <a:off x="3712" y="2112"/>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37" name="Group 187">
                <a:extLst>
                  <a:ext uri="{FF2B5EF4-FFF2-40B4-BE49-F238E27FC236}">
                    <a16:creationId xmlns:a16="http://schemas.microsoft.com/office/drawing/2014/main" id="{1E39F4DF-258A-E0AF-D16F-F0C987826C75}"/>
                  </a:ext>
                </a:extLst>
              </p:cNvPr>
              <p:cNvGrpSpPr>
                <a:grpSpLocks/>
              </p:cNvGrpSpPr>
              <p:nvPr/>
            </p:nvGrpSpPr>
            <p:grpSpPr bwMode="auto">
              <a:xfrm>
                <a:off x="4158" y="2112"/>
                <a:ext cx="446" cy="384"/>
                <a:chOff x="4158" y="2112"/>
                <a:chExt cx="446" cy="384"/>
              </a:xfrm>
            </p:grpSpPr>
            <p:sp>
              <p:nvSpPr>
                <p:cNvPr id="24707" name="Rectangle 56">
                  <a:extLst>
                    <a:ext uri="{FF2B5EF4-FFF2-40B4-BE49-F238E27FC236}">
                      <a16:creationId xmlns:a16="http://schemas.microsoft.com/office/drawing/2014/main" id="{7439A73C-769B-8C32-BEF4-7D85A9F07DE8}"/>
                    </a:ext>
                  </a:extLst>
                </p:cNvPr>
                <p:cNvSpPr>
                  <a:spLocks noChangeArrowheads="1"/>
                </p:cNvSpPr>
                <p:nvPr/>
              </p:nvSpPr>
              <p:spPr bwMode="auto">
                <a:xfrm>
                  <a:off x="4201" y="2112"/>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708" name="Rectangle 186">
                  <a:extLst>
                    <a:ext uri="{FF2B5EF4-FFF2-40B4-BE49-F238E27FC236}">
                      <a16:creationId xmlns:a16="http://schemas.microsoft.com/office/drawing/2014/main" id="{AB672B39-ED2B-44DF-95BB-CFB1181130BD}"/>
                    </a:ext>
                  </a:extLst>
                </p:cNvPr>
                <p:cNvSpPr>
                  <a:spLocks noChangeArrowheads="1"/>
                </p:cNvSpPr>
                <p:nvPr/>
              </p:nvSpPr>
              <p:spPr bwMode="auto">
                <a:xfrm>
                  <a:off x="4158" y="2112"/>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38" name="Group 189">
                <a:extLst>
                  <a:ext uri="{FF2B5EF4-FFF2-40B4-BE49-F238E27FC236}">
                    <a16:creationId xmlns:a16="http://schemas.microsoft.com/office/drawing/2014/main" id="{3FBD87C9-9958-3B34-8A9F-D72B8475F797}"/>
                  </a:ext>
                </a:extLst>
              </p:cNvPr>
              <p:cNvGrpSpPr>
                <a:grpSpLocks/>
              </p:cNvGrpSpPr>
              <p:nvPr/>
            </p:nvGrpSpPr>
            <p:grpSpPr bwMode="auto">
              <a:xfrm>
                <a:off x="4604" y="2112"/>
                <a:ext cx="446" cy="384"/>
                <a:chOff x="4604" y="2112"/>
                <a:chExt cx="446" cy="384"/>
              </a:xfrm>
            </p:grpSpPr>
            <p:sp>
              <p:nvSpPr>
                <p:cNvPr id="24705" name="Rectangle 57">
                  <a:extLst>
                    <a:ext uri="{FF2B5EF4-FFF2-40B4-BE49-F238E27FC236}">
                      <a16:creationId xmlns:a16="http://schemas.microsoft.com/office/drawing/2014/main" id="{6C17F759-7908-A6B8-5342-665CB8E7F5AE}"/>
                    </a:ext>
                  </a:extLst>
                </p:cNvPr>
                <p:cNvSpPr>
                  <a:spLocks noChangeArrowheads="1"/>
                </p:cNvSpPr>
                <p:nvPr/>
              </p:nvSpPr>
              <p:spPr bwMode="auto">
                <a:xfrm>
                  <a:off x="4647" y="2112"/>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706" name="Rectangle 188">
                  <a:extLst>
                    <a:ext uri="{FF2B5EF4-FFF2-40B4-BE49-F238E27FC236}">
                      <a16:creationId xmlns:a16="http://schemas.microsoft.com/office/drawing/2014/main" id="{1311300E-E97C-615F-8B84-0DFE2A20C6DA}"/>
                    </a:ext>
                  </a:extLst>
                </p:cNvPr>
                <p:cNvSpPr>
                  <a:spLocks noChangeArrowheads="1"/>
                </p:cNvSpPr>
                <p:nvPr/>
              </p:nvSpPr>
              <p:spPr bwMode="auto">
                <a:xfrm>
                  <a:off x="4604" y="2112"/>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39" name="Group 191">
                <a:extLst>
                  <a:ext uri="{FF2B5EF4-FFF2-40B4-BE49-F238E27FC236}">
                    <a16:creationId xmlns:a16="http://schemas.microsoft.com/office/drawing/2014/main" id="{D66261DC-E4B3-8A0E-18E7-32DBACA7641F}"/>
                  </a:ext>
                </a:extLst>
              </p:cNvPr>
              <p:cNvGrpSpPr>
                <a:grpSpLocks/>
              </p:cNvGrpSpPr>
              <p:nvPr/>
            </p:nvGrpSpPr>
            <p:grpSpPr bwMode="auto">
              <a:xfrm>
                <a:off x="0" y="2496"/>
                <a:ext cx="590" cy="384"/>
                <a:chOff x="0" y="2496"/>
                <a:chExt cx="590" cy="384"/>
              </a:xfrm>
            </p:grpSpPr>
            <p:sp>
              <p:nvSpPr>
                <p:cNvPr id="24703" name="Rectangle 58">
                  <a:extLst>
                    <a:ext uri="{FF2B5EF4-FFF2-40B4-BE49-F238E27FC236}">
                      <a16:creationId xmlns:a16="http://schemas.microsoft.com/office/drawing/2014/main" id="{DDD9B619-7AC5-1FD6-B515-E48AACDD2774}"/>
                    </a:ext>
                  </a:extLst>
                </p:cNvPr>
                <p:cNvSpPr>
                  <a:spLocks noChangeArrowheads="1"/>
                </p:cNvSpPr>
                <p:nvPr/>
              </p:nvSpPr>
              <p:spPr bwMode="auto">
                <a:xfrm>
                  <a:off x="43" y="2496"/>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1438"/>
                    <a:t>幼龄</a:t>
                  </a:r>
                  <a:r>
                    <a:rPr lang="en-US" altLang="zh-CN" sz="1438"/>
                    <a:t>IV(4)</a:t>
                  </a:r>
                </a:p>
                <a:p>
                  <a:pPr algn="just"/>
                  <a:endParaRPr lang="en-US" altLang="zh-CN" sz="1438"/>
                </a:p>
              </p:txBody>
            </p:sp>
            <p:sp>
              <p:nvSpPr>
                <p:cNvPr id="24704" name="Rectangle 190">
                  <a:extLst>
                    <a:ext uri="{FF2B5EF4-FFF2-40B4-BE49-F238E27FC236}">
                      <a16:creationId xmlns:a16="http://schemas.microsoft.com/office/drawing/2014/main" id="{25FFC2AC-A73F-B2E7-E76B-A159DD2FB125}"/>
                    </a:ext>
                  </a:extLst>
                </p:cNvPr>
                <p:cNvSpPr>
                  <a:spLocks noChangeArrowheads="1"/>
                </p:cNvSpPr>
                <p:nvPr/>
              </p:nvSpPr>
              <p:spPr bwMode="auto">
                <a:xfrm>
                  <a:off x="0" y="2496"/>
                  <a:ext cx="59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40" name="Group 193">
                <a:extLst>
                  <a:ext uri="{FF2B5EF4-FFF2-40B4-BE49-F238E27FC236}">
                    <a16:creationId xmlns:a16="http://schemas.microsoft.com/office/drawing/2014/main" id="{0C8C8E57-405E-45C2-F5B9-851755C43CD5}"/>
                  </a:ext>
                </a:extLst>
              </p:cNvPr>
              <p:cNvGrpSpPr>
                <a:grpSpLocks/>
              </p:cNvGrpSpPr>
              <p:nvPr/>
            </p:nvGrpSpPr>
            <p:grpSpPr bwMode="auto">
              <a:xfrm>
                <a:off x="590" y="2496"/>
                <a:ext cx="446" cy="384"/>
                <a:chOff x="590" y="2496"/>
                <a:chExt cx="446" cy="384"/>
              </a:xfrm>
            </p:grpSpPr>
            <p:sp>
              <p:nvSpPr>
                <p:cNvPr id="24701" name="Rectangle 59">
                  <a:extLst>
                    <a:ext uri="{FF2B5EF4-FFF2-40B4-BE49-F238E27FC236}">
                      <a16:creationId xmlns:a16="http://schemas.microsoft.com/office/drawing/2014/main" id="{3D66673B-4198-290A-C872-4457F26DA66D}"/>
                    </a:ext>
                  </a:extLst>
                </p:cNvPr>
                <p:cNvSpPr>
                  <a:spLocks noChangeArrowheads="1"/>
                </p:cNvSpPr>
                <p:nvPr/>
              </p:nvSpPr>
              <p:spPr bwMode="auto">
                <a:xfrm>
                  <a:off x="633" y="2496"/>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1461</a:t>
                  </a:r>
                </a:p>
                <a:p>
                  <a:pPr algn="just"/>
                  <a:endParaRPr lang="en-US" altLang="zh-CN" sz="1232"/>
                </a:p>
              </p:txBody>
            </p:sp>
            <p:sp>
              <p:nvSpPr>
                <p:cNvPr id="24702" name="Rectangle 192">
                  <a:extLst>
                    <a:ext uri="{FF2B5EF4-FFF2-40B4-BE49-F238E27FC236}">
                      <a16:creationId xmlns:a16="http://schemas.microsoft.com/office/drawing/2014/main" id="{B966FF94-224B-5885-012D-47B92C2DA10F}"/>
                    </a:ext>
                  </a:extLst>
                </p:cNvPr>
                <p:cNvSpPr>
                  <a:spLocks noChangeArrowheads="1"/>
                </p:cNvSpPr>
                <p:nvPr/>
              </p:nvSpPr>
              <p:spPr bwMode="auto">
                <a:xfrm>
                  <a:off x="590" y="2496"/>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41" name="Group 195">
                <a:extLst>
                  <a:ext uri="{FF2B5EF4-FFF2-40B4-BE49-F238E27FC236}">
                    <a16:creationId xmlns:a16="http://schemas.microsoft.com/office/drawing/2014/main" id="{8C72D472-5110-344E-1DD5-955F9F6A195B}"/>
                  </a:ext>
                </a:extLst>
              </p:cNvPr>
              <p:cNvGrpSpPr>
                <a:grpSpLocks/>
              </p:cNvGrpSpPr>
              <p:nvPr/>
            </p:nvGrpSpPr>
            <p:grpSpPr bwMode="auto">
              <a:xfrm>
                <a:off x="1036" y="2496"/>
                <a:ext cx="446" cy="384"/>
                <a:chOff x="1036" y="2496"/>
                <a:chExt cx="446" cy="384"/>
              </a:xfrm>
            </p:grpSpPr>
            <p:sp>
              <p:nvSpPr>
                <p:cNvPr id="24699" name="Rectangle 60">
                  <a:extLst>
                    <a:ext uri="{FF2B5EF4-FFF2-40B4-BE49-F238E27FC236}">
                      <a16:creationId xmlns:a16="http://schemas.microsoft.com/office/drawing/2014/main" id="{8FAEB906-6F3C-66D7-8E08-E0F02F87351D}"/>
                    </a:ext>
                  </a:extLst>
                </p:cNvPr>
                <p:cNvSpPr>
                  <a:spLocks noChangeArrowheads="1"/>
                </p:cNvSpPr>
                <p:nvPr/>
              </p:nvSpPr>
              <p:spPr bwMode="auto">
                <a:xfrm>
                  <a:off x="1079" y="2496"/>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0.033</a:t>
                  </a:r>
                </a:p>
                <a:p>
                  <a:pPr algn="just"/>
                  <a:endParaRPr lang="en-US" altLang="zh-CN" sz="1232"/>
                </a:p>
              </p:txBody>
            </p:sp>
            <p:sp>
              <p:nvSpPr>
                <p:cNvPr id="24700" name="Rectangle 194">
                  <a:extLst>
                    <a:ext uri="{FF2B5EF4-FFF2-40B4-BE49-F238E27FC236}">
                      <a16:creationId xmlns:a16="http://schemas.microsoft.com/office/drawing/2014/main" id="{AECAF5D9-1B59-29EF-906F-F49D90709156}"/>
                    </a:ext>
                  </a:extLst>
                </p:cNvPr>
                <p:cNvSpPr>
                  <a:spLocks noChangeArrowheads="1"/>
                </p:cNvSpPr>
                <p:nvPr/>
              </p:nvSpPr>
              <p:spPr bwMode="auto">
                <a:xfrm>
                  <a:off x="1036" y="2496"/>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42" name="Group 197">
                <a:extLst>
                  <a:ext uri="{FF2B5EF4-FFF2-40B4-BE49-F238E27FC236}">
                    <a16:creationId xmlns:a16="http://schemas.microsoft.com/office/drawing/2014/main" id="{453D7B17-0888-F052-C2FC-8A281032D449}"/>
                  </a:ext>
                </a:extLst>
              </p:cNvPr>
              <p:cNvGrpSpPr>
                <a:grpSpLocks/>
              </p:cNvGrpSpPr>
              <p:nvPr/>
            </p:nvGrpSpPr>
            <p:grpSpPr bwMode="auto">
              <a:xfrm>
                <a:off x="1482" y="2496"/>
                <a:ext cx="446" cy="384"/>
                <a:chOff x="1482" y="2496"/>
                <a:chExt cx="446" cy="384"/>
              </a:xfrm>
            </p:grpSpPr>
            <p:sp>
              <p:nvSpPr>
                <p:cNvPr id="24697" name="Rectangle 61">
                  <a:extLst>
                    <a:ext uri="{FF2B5EF4-FFF2-40B4-BE49-F238E27FC236}">
                      <a16:creationId xmlns:a16="http://schemas.microsoft.com/office/drawing/2014/main" id="{AE4F01DD-30BC-8CB1-D3E8-C1527CFF5FD7}"/>
                    </a:ext>
                  </a:extLst>
                </p:cNvPr>
                <p:cNvSpPr>
                  <a:spLocks noChangeArrowheads="1"/>
                </p:cNvSpPr>
                <p:nvPr/>
              </p:nvSpPr>
              <p:spPr bwMode="auto">
                <a:xfrm>
                  <a:off x="1525" y="2496"/>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0.003</a:t>
                  </a:r>
                </a:p>
                <a:p>
                  <a:pPr algn="just"/>
                  <a:endParaRPr lang="en-US" altLang="zh-CN" sz="1232"/>
                </a:p>
              </p:txBody>
            </p:sp>
            <p:sp>
              <p:nvSpPr>
                <p:cNvPr id="24698" name="Rectangle 196">
                  <a:extLst>
                    <a:ext uri="{FF2B5EF4-FFF2-40B4-BE49-F238E27FC236}">
                      <a16:creationId xmlns:a16="http://schemas.microsoft.com/office/drawing/2014/main" id="{CB7267B9-0304-CFE0-A3DF-9201F866047C}"/>
                    </a:ext>
                  </a:extLst>
                </p:cNvPr>
                <p:cNvSpPr>
                  <a:spLocks noChangeArrowheads="1"/>
                </p:cNvSpPr>
                <p:nvPr/>
              </p:nvSpPr>
              <p:spPr bwMode="auto">
                <a:xfrm>
                  <a:off x="1482" y="2496"/>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43" name="Group 199">
                <a:extLst>
                  <a:ext uri="{FF2B5EF4-FFF2-40B4-BE49-F238E27FC236}">
                    <a16:creationId xmlns:a16="http://schemas.microsoft.com/office/drawing/2014/main" id="{054536A3-43BC-9869-DC6A-2436C8C73C59}"/>
                  </a:ext>
                </a:extLst>
              </p:cNvPr>
              <p:cNvGrpSpPr>
                <a:grpSpLocks/>
              </p:cNvGrpSpPr>
              <p:nvPr/>
            </p:nvGrpSpPr>
            <p:grpSpPr bwMode="auto">
              <a:xfrm>
                <a:off x="1928" y="2496"/>
                <a:ext cx="374" cy="384"/>
                <a:chOff x="1928" y="2496"/>
                <a:chExt cx="374" cy="384"/>
              </a:xfrm>
            </p:grpSpPr>
            <p:sp>
              <p:nvSpPr>
                <p:cNvPr id="24695" name="Rectangle 62">
                  <a:extLst>
                    <a:ext uri="{FF2B5EF4-FFF2-40B4-BE49-F238E27FC236}">
                      <a16:creationId xmlns:a16="http://schemas.microsoft.com/office/drawing/2014/main" id="{2FCB6BA2-BDAB-1308-B44A-149889DA4741}"/>
                    </a:ext>
                  </a:extLst>
                </p:cNvPr>
                <p:cNvSpPr>
                  <a:spLocks noChangeArrowheads="1"/>
                </p:cNvSpPr>
                <p:nvPr/>
              </p:nvSpPr>
              <p:spPr bwMode="auto">
                <a:xfrm>
                  <a:off x="1971" y="2496"/>
                  <a:ext cx="2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0.11</a:t>
                  </a:r>
                </a:p>
                <a:p>
                  <a:pPr algn="just"/>
                  <a:endParaRPr lang="en-US" altLang="zh-CN" sz="1232"/>
                </a:p>
              </p:txBody>
            </p:sp>
            <p:sp>
              <p:nvSpPr>
                <p:cNvPr id="24696" name="Rectangle 198">
                  <a:extLst>
                    <a:ext uri="{FF2B5EF4-FFF2-40B4-BE49-F238E27FC236}">
                      <a16:creationId xmlns:a16="http://schemas.microsoft.com/office/drawing/2014/main" id="{2DF18086-429B-4D67-8CE1-8DE1D2BC022D}"/>
                    </a:ext>
                  </a:extLst>
                </p:cNvPr>
                <p:cNvSpPr>
                  <a:spLocks noChangeArrowheads="1"/>
                </p:cNvSpPr>
                <p:nvPr/>
              </p:nvSpPr>
              <p:spPr bwMode="auto">
                <a:xfrm>
                  <a:off x="1928" y="2496"/>
                  <a:ext cx="37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44" name="Group 201">
                <a:extLst>
                  <a:ext uri="{FF2B5EF4-FFF2-40B4-BE49-F238E27FC236}">
                    <a16:creationId xmlns:a16="http://schemas.microsoft.com/office/drawing/2014/main" id="{E34B49FD-2090-F6E9-EFD1-68F055823AC4}"/>
                  </a:ext>
                </a:extLst>
              </p:cNvPr>
              <p:cNvGrpSpPr>
                <a:grpSpLocks/>
              </p:cNvGrpSpPr>
              <p:nvPr/>
            </p:nvGrpSpPr>
            <p:grpSpPr bwMode="auto">
              <a:xfrm>
                <a:off x="2302" y="2496"/>
                <a:ext cx="446" cy="384"/>
                <a:chOff x="2302" y="2496"/>
                <a:chExt cx="446" cy="384"/>
              </a:xfrm>
            </p:grpSpPr>
            <p:sp>
              <p:nvSpPr>
                <p:cNvPr id="24693" name="Rectangle 63">
                  <a:extLst>
                    <a:ext uri="{FF2B5EF4-FFF2-40B4-BE49-F238E27FC236}">
                      <a16:creationId xmlns:a16="http://schemas.microsoft.com/office/drawing/2014/main" id="{EB669EE7-DC99-15D2-7ABA-A67C87FEFBCB}"/>
                    </a:ext>
                  </a:extLst>
                </p:cNvPr>
                <p:cNvSpPr>
                  <a:spLocks noChangeArrowheads="1"/>
                </p:cNvSpPr>
                <p:nvPr/>
              </p:nvSpPr>
              <p:spPr bwMode="auto">
                <a:xfrm>
                  <a:off x="2345" y="2496"/>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3.16</a:t>
                  </a:r>
                </a:p>
                <a:p>
                  <a:pPr algn="just"/>
                  <a:endParaRPr lang="en-US" altLang="zh-CN" sz="1232"/>
                </a:p>
              </p:txBody>
            </p:sp>
            <p:sp>
              <p:nvSpPr>
                <p:cNvPr id="24694" name="Rectangle 200">
                  <a:extLst>
                    <a:ext uri="{FF2B5EF4-FFF2-40B4-BE49-F238E27FC236}">
                      <a16:creationId xmlns:a16="http://schemas.microsoft.com/office/drawing/2014/main" id="{E58768E8-B1A9-F4EE-2342-9542EC3D4509}"/>
                    </a:ext>
                  </a:extLst>
                </p:cNvPr>
                <p:cNvSpPr>
                  <a:spLocks noChangeArrowheads="1"/>
                </p:cNvSpPr>
                <p:nvPr/>
              </p:nvSpPr>
              <p:spPr bwMode="auto">
                <a:xfrm>
                  <a:off x="2302" y="2496"/>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45" name="Group 203">
                <a:extLst>
                  <a:ext uri="{FF2B5EF4-FFF2-40B4-BE49-F238E27FC236}">
                    <a16:creationId xmlns:a16="http://schemas.microsoft.com/office/drawing/2014/main" id="{947D37CB-F9CD-F98F-F898-A1AFE06C7759}"/>
                  </a:ext>
                </a:extLst>
              </p:cNvPr>
              <p:cNvGrpSpPr>
                <a:grpSpLocks/>
              </p:cNvGrpSpPr>
              <p:nvPr/>
            </p:nvGrpSpPr>
            <p:grpSpPr bwMode="auto">
              <a:xfrm>
                <a:off x="2748" y="2496"/>
                <a:ext cx="446" cy="384"/>
                <a:chOff x="2748" y="2496"/>
                <a:chExt cx="446" cy="384"/>
              </a:xfrm>
            </p:grpSpPr>
            <p:sp>
              <p:nvSpPr>
                <p:cNvPr id="24691" name="Rectangle 64">
                  <a:extLst>
                    <a:ext uri="{FF2B5EF4-FFF2-40B4-BE49-F238E27FC236}">
                      <a16:creationId xmlns:a16="http://schemas.microsoft.com/office/drawing/2014/main" id="{A94A3305-EE26-6986-8655-5A18AA9F0EDB}"/>
                    </a:ext>
                  </a:extLst>
                </p:cNvPr>
                <p:cNvSpPr>
                  <a:spLocks noChangeArrowheads="1"/>
                </p:cNvSpPr>
                <p:nvPr/>
              </p:nvSpPr>
              <p:spPr bwMode="auto">
                <a:xfrm>
                  <a:off x="2791" y="2496"/>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-1.48</a:t>
                  </a:r>
                </a:p>
                <a:p>
                  <a:pPr algn="just"/>
                  <a:endParaRPr lang="en-US" altLang="zh-CN" sz="1232"/>
                </a:p>
              </p:txBody>
            </p:sp>
            <p:sp>
              <p:nvSpPr>
                <p:cNvPr id="24692" name="Rectangle 202">
                  <a:extLst>
                    <a:ext uri="{FF2B5EF4-FFF2-40B4-BE49-F238E27FC236}">
                      <a16:creationId xmlns:a16="http://schemas.microsoft.com/office/drawing/2014/main" id="{9FCF0219-239E-BC81-4D03-589621449731}"/>
                    </a:ext>
                  </a:extLst>
                </p:cNvPr>
                <p:cNvSpPr>
                  <a:spLocks noChangeArrowheads="1"/>
                </p:cNvSpPr>
                <p:nvPr/>
              </p:nvSpPr>
              <p:spPr bwMode="auto">
                <a:xfrm>
                  <a:off x="2748" y="2496"/>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46" name="Group 205">
                <a:extLst>
                  <a:ext uri="{FF2B5EF4-FFF2-40B4-BE49-F238E27FC236}">
                    <a16:creationId xmlns:a16="http://schemas.microsoft.com/office/drawing/2014/main" id="{1796095F-F15D-71ED-C85A-0320844AD3AE}"/>
                  </a:ext>
                </a:extLst>
              </p:cNvPr>
              <p:cNvGrpSpPr>
                <a:grpSpLocks/>
              </p:cNvGrpSpPr>
              <p:nvPr/>
            </p:nvGrpSpPr>
            <p:grpSpPr bwMode="auto">
              <a:xfrm>
                <a:off x="3194" y="2496"/>
                <a:ext cx="518" cy="384"/>
                <a:chOff x="3194" y="2496"/>
                <a:chExt cx="518" cy="384"/>
              </a:xfrm>
            </p:grpSpPr>
            <p:sp>
              <p:nvSpPr>
                <p:cNvPr id="24689" name="Rectangle 65">
                  <a:extLst>
                    <a:ext uri="{FF2B5EF4-FFF2-40B4-BE49-F238E27FC236}">
                      <a16:creationId xmlns:a16="http://schemas.microsoft.com/office/drawing/2014/main" id="{B15E5798-5FC1-9887-7B53-70643BEB2CF0}"/>
                    </a:ext>
                  </a:extLst>
                </p:cNvPr>
                <p:cNvSpPr>
                  <a:spLocks noChangeArrowheads="1"/>
                </p:cNvSpPr>
                <p:nvPr/>
              </p:nvSpPr>
              <p:spPr bwMode="auto">
                <a:xfrm>
                  <a:off x="3237" y="2496"/>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0.05</a:t>
                  </a:r>
                </a:p>
                <a:p>
                  <a:pPr algn="just"/>
                  <a:endParaRPr lang="en-US" altLang="zh-CN" sz="1232"/>
                </a:p>
              </p:txBody>
            </p:sp>
            <p:sp>
              <p:nvSpPr>
                <p:cNvPr id="24690" name="Rectangle 204">
                  <a:extLst>
                    <a:ext uri="{FF2B5EF4-FFF2-40B4-BE49-F238E27FC236}">
                      <a16:creationId xmlns:a16="http://schemas.microsoft.com/office/drawing/2014/main" id="{5293F5E3-9F4E-E9E1-451D-74A4237605E4}"/>
                    </a:ext>
                  </a:extLst>
                </p:cNvPr>
                <p:cNvSpPr>
                  <a:spLocks noChangeArrowheads="1"/>
                </p:cNvSpPr>
                <p:nvPr/>
              </p:nvSpPr>
              <p:spPr bwMode="auto">
                <a:xfrm>
                  <a:off x="3194" y="2496"/>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47" name="Group 207">
                <a:extLst>
                  <a:ext uri="{FF2B5EF4-FFF2-40B4-BE49-F238E27FC236}">
                    <a16:creationId xmlns:a16="http://schemas.microsoft.com/office/drawing/2014/main" id="{426D2680-DC85-5DD8-C002-F8872F3B623F}"/>
                  </a:ext>
                </a:extLst>
              </p:cNvPr>
              <p:cNvGrpSpPr>
                <a:grpSpLocks/>
              </p:cNvGrpSpPr>
              <p:nvPr/>
            </p:nvGrpSpPr>
            <p:grpSpPr bwMode="auto">
              <a:xfrm>
                <a:off x="3712" y="2496"/>
                <a:ext cx="446" cy="384"/>
                <a:chOff x="3712" y="2496"/>
                <a:chExt cx="446" cy="384"/>
              </a:xfrm>
            </p:grpSpPr>
            <p:sp>
              <p:nvSpPr>
                <p:cNvPr id="24687" name="Rectangle 66">
                  <a:extLst>
                    <a:ext uri="{FF2B5EF4-FFF2-40B4-BE49-F238E27FC236}">
                      <a16:creationId xmlns:a16="http://schemas.microsoft.com/office/drawing/2014/main" id="{DD33BD29-AAF2-4920-4C64-99E5EAEBBC5F}"/>
                    </a:ext>
                  </a:extLst>
                </p:cNvPr>
                <p:cNvSpPr>
                  <a:spLocks noChangeArrowheads="1"/>
                </p:cNvSpPr>
                <p:nvPr/>
              </p:nvSpPr>
              <p:spPr bwMode="auto">
                <a:xfrm>
                  <a:off x="3755" y="2496"/>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688" name="Rectangle 206">
                  <a:extLst>
                    <a:ext uri="{FF2B5EF4-FFF2-40B4-BE49-F238E27FC236}">
                      <a16:creationId xmlns:a16="http://schemas.microsoft.com/office/drawing/2014/main" id="{0EE5D07E-3BEB-7627-33A8-599342E0EA47}"/>
                    </a:ext>
                  </a:extLst>
                </p:cNvPr>
                <p:cNvSpPr>
                  <a:spLocks noChangeArrowheads="1"/>
                </p:cNvSpPr>
                <p:nvPr/>
              </p:nvSpPr>
              <p:spPr bwMode="auto">
                <a:xfrm>
                  <a:off x="3712" y="2496"/>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48" name="Group 209">
                <a:extLst>
                  <a:ext uri="{FF2B5EF4-FFF2-40B4-BE49-F238E27FC236}">
                    <a16:creationId xmlns:a16="http://schemas.microsoft.com/office/drawing/2014/main" id="{C9D5B33A-4486-08EF-43FA-BF1E03B0B2AE}"/>
                  </a:ext>
                </a:extLst>
              </p:cNvPr>
              <p:cNvGrpSpPr>
                <a:grpSpLocks/>
              </p:cNvGrpSpPr>
              <p:nvPr/>
            </p:nvGrpSpPr>
            <p:grpSpPr bwMode="auto">
              <a:xfrm>
                <a:off x="4158" y="2496"/>
                <a:ext cx="446" cy="384"/>
                <a:chOff x="4158" y="2496"/>
                <a:chExt cx="446" cy="384"/>
              </a:xfrm>
            </p:grpSpPr>
            <p:sp>
              <p:nvSpPr>
                <p:cNvPr id="24685" name="Rectangle 67">
                  <a:extLst>
                    <a:ext uri="{FF2B5EF4-FFF2-40B4-BE49-F238E27FC236}">
                      <a16:creationId xmlns:a16="http://schemas.microsoft.com/office/drawing/2014/main" id="{803B16FB-7F46-504A-5F66-00C8F42666A3}"/>
                    </a:ext>
                  </a:extLst>
                </p:cNvPr>
                <p:cNvSpPr>
                  <a:spLocks noChangeArrowheads="1"/>
                </p:cNvSpPr>
                <p:nvPr/>
              </p:nvSpPr>
              <p:spPr bwMode="auto">
                <a:xfrm>
                  <a:off x="4201" y="2496"/>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686" name="Rectangle 208">
                  <a:extLst>
                    <a:ext uri="{FF2B5EF4-FFF2-40B4-BE49-F238E27FC236}">
                      <a16:creationId xmlns:a16="http://schemas.microsoft.com/office/drawing/2014/main" id="{8A20C097-8721-A403-EBC6-8AA19BC3575F}"/>
                    </a:ext>
                  </a:extLst>
                </p:cNvPr>
                <p:cNvSpPr>
                  <a:spLocks noChangeArrowheads="1"/>
                </p:cNvSpPr>
                <p:nvPr/>
              </p:nvSpPr>
              <p:spPr bwMode="auto">
                <a:xfrm>
                  <a:off x="4158" y="2496"/>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49" name="Group 211">
                <a:extLst>
                  <a:ext uri="{FF2B5EF4-FFF2-40B4-BE49-F238E27FC236}">
                    <a16:creationId xmlns:a16="http://schemas.microsoft.com/office/drawing/2014/main" id="{6BA96101-86CF-DD3C-2ECE-F029B4D5AE35}"/>
                  </a:ext>
                </a:extLst>
              </p:cNvPr>
              <p:cNvGrpSpPr>
                <a:grpSpLocks/>
              </p:cNvGrpSpPr>
              <p:nvPr/>
            </p:nvGrpSpPr>
            <p:grpSpPr bwMode="auto">
              <a:xfrm>
                <a:off x="4604" y="2496"/>
                <a:ext cx="446" cy="384"/>
                <a:chOff x="4604" y="2496"/>
                <a:chExt cx="446" cy="384"/>
              </a:xfrm>
            </p:grpSpPr>
            <p:sp>
              <p:nvSpPr>
                <p:cNvPr id="24683" name="Rectangle 68">
                  <a:extLst>
                    <a:ext uri="{FF2B5EF4-FFF2-40B4-BE49-F238E27FC236}">
                      <a16:creationId xmlns:a16="http://schemas.microsoft.com/office/drawing/2014/main" id="{D403D5CB-BA02-E16B-6701-0F6146440A79}"/>
                    </a:ext>
                  </a:extLst>
                </p:cNvPr>
                <p:cNvSpPr>
                  <a:spLocks noChangeArrowheads="1"/>
                </p:cNvSpPr>
                <p:nvPr/>
              </p:nvSpPr>
              <p:spPr bwMode="auto">
                <a:xfrm>
                  <a:off x="4647" y="2496"/>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684" name="Rectangle 210">
                  <a:extLst>
                    <a:ext uri="{FF2B5EF4-FFF2-40B4-BE49-F238E27FC236}">
                      <a16:creationId xmlns:a16="http://schemas.microsoft.com/office/drawing/2014/main" id="{AAD9010D-241E-06AB-82F4-380FE9D504A1}"/>
                    </a:ext>
                  </a:extLst>
                </p:cNvPr>
                <p:cNvSpPr>
                  <a:spLocks noChangeArrowheads="1"/>
                </p:cNvSpPr>
                <p:nvPr/>
              </p:nvSpPr>
              <p:spPr bwMode="auto">
                <a:xfrm>
                  <a:off x="4604" y="2496"/>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50" name="Group 213">
                <a:extLst>
                  <a:ext uri="{FF2B5EF4-FFF2-40B4-BE49-F238E27FC236}">
                    <a16:creationId xmlns:a16="http://schemas.microsoft.com/office/drawing/2014/main" id="{9EA72161-FAC9-C368-84DA-235C950D4BD3}"/>
                  </a:ext>
                </a:extLst>
              </p:cNvPr>
              <p:cNvGrpSpPr>
                <a:grpSpLocks/>
              </p:cNvGrpSpPr>
              <p:nvPr/>
            </p:nvGrpSpPr>
            <p:grpSpPr bwMode="auto">
              <a:xfrm>
                <a:off x="0" y="2880"/>
                <a:ext cx="590" cy="384"/>
                <a:chOff x="0" y="2880"/>
                <a:chExt cx="590" cy="384"/>
              </a:xfrm>
            </p:grpSpPr>
            <p:sp>
              <p:nvSpPr>
                <p:cNvPr id="24681" name="Rectangle 69">
                  <a:extLst>
                    <a:ext uri="{FF2B5EF4-FFF2-40B4-BE49-F238E27FC236}">
                      <a16:creationId xmlns:a16="http://schemas.microsoft.com/office/drawing/2014/main" id="{115DDB99-1944-CFA0-05AD-CC7443707188}"/>
                    </a:ext>
                  </a:extLst>
                </p:cNvPr>
                <p:cNvSpPr>
                  <a:spLocks noChangeArrowheads="1"/>
                </p:cNvSpPr>
                <p:nvPr/>
              </p:nvSpPr>
              <p:spPr bwMode="auto">
                <a:xfrm>
                  <a:off x="43" y="2880"/>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1438"/>
                    <a:t>成虫（</a:t>
                  </a:r>
                  <a:r>
                    <a:rPr lang="en-US" altLang="zh-CN" sz="1438"/>
                    <a:t>5</a:t>
                  </a:r>
                  <a:r>
                    <a:rPr lang="zh-CN" altLang="en-US" sz="1438"/>
                    <a:t>）</a:t>
                  </a:r>
                </a:p>
                <a:p>
                  <a:pPr algn="just"/>
                  <a:endParaRPr lang="en-US" altLang="zh-CN" sz="1438"/>
                </a:p>
              </p:txBody>
            </p:sp>
            <p:sp>
              <p:nvSpPr>
                <p:cNvPr id="24682" name="Rectangle 212">
                  <a:extLst>
                    <a:ext uri="{FF2B5EF4-FFF2-40B4-BE49-F238E27FC236}">
                      <a16:creationId xmlns:a16="http://schemas.microsoft.com/office/drawing/2014/main" id="{15FB8B45-A5FA-4795-D598-D1D79115B713}"/>
                    </a:ext>
                  </a:extLst>
                </p:cNvPr>
                <p:cNvSpPr>
                  <a:spLocks noChangeArrowheads="1"/>
                </p:cNvSpPr>
                <p:nvPr/>
              </p:nvSpPr>
              <p:spPr bwMode="auto">
                <a:xfrm>
                  <a:off x="0" y="2880"/>
                  <a:ext cx="59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51" name="Group 215">
                <a:extLst>
                  <a:ext uri="{FF2B5EF4-FFF2-40B4-BE49-F238E27FC236}">
                    <a16:creationId xmlns:a16="http://schemas.microsoft.com/office/drawing/2014/main" id="{8B63CD6D-2D58-B3F3-FF3C-CA982C659B12}"/>
                  </a:ext>
                </a:extLst>
              </p:cNvPr>
              <p:cNvGrpSpPr>
                <a:grpSpLocks/>
              </p:cNvGrpSpPr>
              <p:nvPr/>
            </p:nvGrpSpPr>
            <p:grpSpPr bwMode="auto">
              <a:xfrm>
                <a:off x="590" y="2880"/>
                <a:ext cx="446" cy="384"/>
                <a:chOff x="590" y="2880"/>
                <a:chExt cx="446" cy="384"/>
              </a:xfrm>
            </p:grpSpPr>
            <p:sp>
              <p:nvSpPr>
                <p:cNvPr id="24679" name="Rectangle 70">
                  <a:extLst>
                    <a:ext uri="{FF2B5EF4-FFF2-40B4-BE49-F238E27FC236}">
                      <a16:creationId xmlns:a16="http://schemas.microsoft.com/office/drawing/2014/main" id="{FB3F6ADE-37B8-049E-144E-18E238953020}"/>
                    </a:ext>
                  </a:extLst>
                </p:cNvPr>
                <p:cNvSpPr>
                  <a:spLocks noChangeArrowheads="1"/>
                </p:cNvSpPr>
                <p:nvPr/>
              </p:nvSpPr>
              <p:spPr bwMode="auto">
                <a:xfrm>
                  <a:off x="633" y="288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1300</a:t>
                  </a:r>
                </a:p>
                <a:p>
                  <a:pPr algn="just"/>
                  <a:endParaRPr lang="en-US" altLang="zh-CN" sz="1643"/>
                </a:p>
              </p:txBody>
            </p:sp>
            <p:sp>
              <p:nvSpPr>
                <p:cNvPr id="24680" name="Rectangle 214">
                  <a:extLst>
                    <a:ext uri="{FF2B5EF4-FFF2-40B4-BE49-F238E27FC236}">
                      <a16:creationId xmlns:a16="http://schemas.microsoft.com/office/drawing/2014/main" id="{E5B02832-7304-326C-D60B-DECB5ED369C8}"/>
                    </a:ext>
                  </a:extLst>
                </p:cNvPr>
                <p:cNvSpPr>
                  <a:spLocks noChangeArrowheads="1"/>
                </p:cNvSpPr>
                <p:nvPr/>
              </p:nvSpPr>
              <p:spPr bwMode="auto">
                <a:xfrm>
                  <a:off x="590" y="288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52" name="Group 217">
                <a:extLst>
                  <a:ext uri="{FF2B5EF4-FFF2-40B4-BE49-F238E27FC236}">
                    <a16:creationId xmlns:a16="http://schemas.microsoft.com/office/drawing/2014/main" id="{BDED6557-85A7-6E06-EB15-1E69C3FA9176}"/>
                  </a:ext>
                </a:extLst>
              </p:cNvPr>
              <p:cNvGrpSpPr>
                <a:grpSpLocks/>
              </p:cNvGrpSpPr>
              <p:nvPr/>
            </p:nvGrpSpPr>
            <p:grpSpPr bwMode="auto">
              <a:xfrm>
                <a:off x="1036" y="2880"/>
                <a:ext cx="446" cy="384"/>
                <a:chOff x="1036" y="2880"/>
                <a:chExt cx="446" cy="384"/>
              </a:xfrm>
            </p:grpSpPr>
            <p:sp>
              <p:nvSpPr>
                <p:cNvPr id="24677" name="Rectangle 71">
                  <a:extLst>
                    <a:ext uri="{FF2B5EF4-FFF2-40B4-BE49-F238E27FC236}">
                      <a16:creationId xmlns:a16="http://schemas.microsoft.com/office/drawing/2014/main" id="{09B61B3A-ED9C-AB39-B6A9-55787A6E1735}"/>
                    </a:ext>
                  </a:extLst>
                </p:cNvPr>
                <p:cNvSpPr>
                  <a:spLocks noChangeArrowheads="1"/>
                </p:cNvSpPr>
                <p:nvPr/>
              </p:nvSpPr>
              <p:spPr bwMode="auto">
                <a:xfrm>
                  <a:off x="1079" y="288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0.030</a:t>
                  </a:r>
                </a:p>
                <a:p>
                  <a:pPr algn="just"/>
                  <a:endParaRPr lang="en-US" altLang="zh-CN" sz="1232"/>
                </a:p>
              </p:txBody>
            </p:sp>
            <p:sp>
              <p:nvSpPr>
                <p:cNvPr id="24678" name="Rectangle 216">
                  <a:extLst>
                    <a:ext uri="{FF2B5EF4-FFF2-40B4-BE49-F238E27FC236}">
                      <a16:creationId xmlns:a16="http://schemas.microsoft.com/office/drawing/2014/main" id="{7EE96771-B069-2A26-D0EF-4BBDB37A5DB8}"/>
                    </a:ext>
                  </a:extLst>
                </p:cNvPr>
                <p:cNvSpPr>
                  <a:spLocks noChangeArrowheads="1"/>
                </p:cNvSpPr>
                <p:nvPr/>
              </p:nvSpPr>
              <p:spPr bwMode="auto">
                <a:xfrm>
                  <a:off x="1036" y="288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53" name="Group 219">
                <a:extLst>
                  <a:ext uri="{FF2B5EF4-FFF2-40B4-BE49-F238E27FC236}">
                    <a16:creationId xmlns:a16="http://schemas.microsoft.com/office/drawing/2014/main" id="{3585EE35-581C-2D16-8A81-8B0DDF2669A2}"/>
                  </a:ext>
                </a:extLst>
              </p:cNvPr>
              <p:cNvGrpSpPr>
                <a:grpSpLocks/>
              </p:cNvGrpSpPr>
              <p:nvPr/>
            </p:nvGrpSpPr>
            <p:grpSpPr bwMode="auto">
              <a:xfrm>
                <a:off x="1482" y="2880"/>
                <a:ext cx="446" cy="384"/>
                <a:chOff x="1482" y="2880"/>
                <a:chExt cx="446" cy="384"/>
              </a:xfrm>
            </p:grpSpPr>
            <p:sp>
              <p:nvSpPr>
                <p:cNvPr id="24675" name="Rectangle 72">
                  <a:extLst>
                    <a:ext uri="{FF2B5EF4-FFF2-40B4-BE49-F238E27FC236}">
                      <a16:creationId xmlns:a16="http://schemas.microsoft.com/office/drawing/2014/main" id="{D2706B59-7542-5BC9-12DB-D8FA1D1AE931}"/>
                    </a:ext>
                  </a:extLst>
                </p:cNvPr>
                <p:cNvSpPr>
                  <a:spLocks noChangeArrowheads="1"/>
                </p:cNvSpPr>
                <p:nvPr/>
              </p:nvSpPr>
              <p:spPr bwMode="auto">
                <a:xfrm>
                  <a:off x="1525" y="288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676" name="Rectangle 218">
                  <a:extLst>
                    <a:ext uri="{FF2B5EF4-FFF2-40B4-BE49-F238E27FC236}">
                      <a16:creationId xmlns:a16="http://schemas.microsoft.com/office/drawing/2014/main" id="{2C7C86BE-B3F7-2AB7-01DD-AC570A8232D2}"/>
                    </a:ext>
                  </a:extLst>
                </p:cNvPr>
                <p:cNvSpPr>
                  <a:spLocks noChangeArrowheads="1"/>
                </p:cNvSpPr>
                <p:nvPr/>
              </p:nvSpPr>
              <p:spPr bwMode="auto">
                <a:xfrm>
                  <a:off x="1482" y="288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54" name="Group 221">
                <a:extLst>
                  <a:ext uri="{FF2B5EF4-FFF2-40B4-BE49-F238E27FC236}">
                    <a16:creationId xmlns:a16="http://schemas.microsoft.com/office/drawing/2014/main" id="{69DBAC28-DBB0-419B-3E89-B3AE5BAEFC7F}"/>
                  </a:ext>
                </a:extLst>
              </p:cNvPr>
              <p:cNvGrpSpPr>
                <a:grpSpLocks/>
              </p:cNvGrpSpPr>
              <p:nvPr/>
            </p:nvGrpSpPr>
            <p:grpSpPr bwMode="auto">
              <a:xfrm>
                <a:off x="1928" y="2880"/>
                <a:ext cx="374" cy="384"/>
                <a:chOff x="1928" y="2880"/>
                <a:chExt cx="374" cy="384"/>
              </a:xfrm>
            </p:grpSpPr>
            <p:sp>
              <p:nvSpPr>
                <p:cNvPr id="24673" name="Rectangle 73">
                  <a:extLst>
                    <a:ext uri="{FF2B5EF4-FFF2-40B4-BE49-F238E27FC236}">
                      <a16:creationId xmlns:a16="http://schemas.microsoft.com/office/drawing/2014/main" id="{58F7F6AB-4B57-DA81-5F48-CFED01E6D84E}"/>
                    </a:ext>
                  </a:extLst>
                </p:cNvPr>
                <p:cNvSpPr>
                  <a:spLocks noChangeArrowheads="1"/>
                </p:cNvSpPr>
                <p:nvPr/>
              </p:nvSpPr>
              <p:spPr bwMode="auto">
                <a:xfrm>
                  <a:off x="1971" y="2880"/>
                  <a:ext cx="2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674" name="Rectangle 220">
                  <a:extLst>
                    <a:ext uri="{FF2B5EF4-FFF2-40B4-BE49-F238E27FC236}">
                      <a16:creationId xmlns:a16="http://schemas.microsoft.com/office/drawing/2014/main" id="{7F41CF6B-5CEA-2DCD-2EBE-01762C6C1896}"/>
                    </a:ext>
                  </a:extLst>
                </p:cNvPr>
                <p:cNvSpPr>
                  <a:spLocks noChangeArrowheads="1"/>
                </p:cNvSpPr>
                <p:nvPr/>
              </p:nvSpPr>
              <p:spPr bwMode="auto">
                <a:xfrm>
                  <a:off x="1928" y="2880"/>
                  <a:ext cx="37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55" name="Group 223">
                <a:extLst>
                  <a:ext uri="{FF2B5EF4-FFF2-40B4-BE49-F238E27FC236}">
                    <a16:creationId xmlns:a16="http://schemas.microsoft.com/office/drawing/2014/main" id="{BA1AFAD9-92ED-0D58-CF4D-99414FE1EA5F}"/>
                  </a:ext>
                </a:extLst>
              </p:cNvPr>
              <p:cNvGrpSpPr>
                <a:grpSpLocks/>
              </p:cNvGrpSpPr>
              <p:nvPr/>
            </p:nvGrpSpPr>
            <p:grpSpPr bwMode="auto">
              <a:xfrm>
                <a:off x="2302" y="2880"/>
                <a:ext cx="446" cy="384"/>
                <a:chOff x="2302" y="2880"/>
                <a:chExt cx="446" cy="384"/>
              </a:xfrm>
            </p:grpSpPr>
            <p:sp>
              <p:nvSpPr>
                <p:cNvPr id="24671" name="Rectangle 74">
                  <a:extLst>
                    <a:ext uri="{FF2B5EF4-FFF2-40B4-BE49-F238E27FC236}">
                      <a16:creationId xmlns:a16="http://schemas.microsoft.com/office/drawing/2014/main" id="{4C39262D-B421-AE7D-4C4F-24E543D57254}"/>
                    </a:ext>
                  </a:extLst>
                </p:cNvPr>
                <p:cNvSpPr>
                  <a:spLocks noChangeArrowheads="1"/>
                </p:cNvSpPr>
                <p:nvPr/>
              </p:nvSpPr>
              <p:spPr bwMode="auto">
                <a:xfrm>
                  <a:off x="2345" y="288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3.11</a:t>
                  </a:r>
                </a:p>
                <a:p>
                  <a:pPr algn="just"/>
                  <a:endParaRPr lang="en-US" altLang="zh-CN" sz="1232"/>
                </a:p>
              </p:txBody>
            </p:sp>
            <p:sp>
              <p:nvSpPr>
                <p:cNvPr id="24672" name="Rectangle 222">
                  <a:extLst>
                    <a:ext uri="{FF2B5EF4-FFF2-40B4-BE49-F238E27FC236}">
                      <a16:creationId xmlns:a16="http://schemas.microsoft.com/office/drawing/2014/main" id="{2DCD0089-F254-4ACE-E564-613770561435}"/>
                    </a:ext>
                  </a:extLst>
                </p:cNvPr>
                <p:cNvSpPr>
                  <a:spLocks noChangeArrowheads="1"/>
                </p:cNvSpPr>
                <p:nvPr/>
              </p:nvSpPr>
              <p:spPr bwMode="auto">
                <a:xfrm>
                  <a:off x="2302" y="288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56" name="Group 225">
                <a:extLst>
                  <a:ext uri="{FF2B5EF4-FFF2-40B4-BE49-F238E27FC236}">
                    <a16:creationId xmlns:a16="http://schemas.microsoft.com/office/drawing/2014/main" id="{C0ED4F71-ADA6-0D4B-30E2-EF74968839F8}"/>
                  </a:ext>
                </a:extLst>
              </p:cNvPr>
              <p:cNvGrpSpPr>
                <a:grpSpLocks/>
              </p:cNvGrpSpPr>
              <p:nvPr/>
            </p:nvGrpSpPr>
            <p:grpSpPr bwMode="auto">
              <a:xfrm>
                <a:off x="2748" y="2880"/>
                <a:ext cx="446" cy="384"/>
                <a:chOff x="2748" y="2880"/>
                <a:chExt cx="446" cy="384"/>
              </a:xfrm>
            </p:grpSpPr>
            <p:sp>
              <p:nvSpPr>
                <p:cNvPr id="24669" name="Rectangle 75">
                  <a:extLst>
                    <a:ext uri="{FF2B5EF4-FFF2-40B4-BE49-F238E27FC236}">
                      <a16:creationId xmlns:a16="http://schemas.microsoft.com/office/drawing/2014/main" id="{BBCCEBD7-EB36-2034-1EB9-42A9461E7B97}"/>
                    </a:ext>
                  </a:extLst>
                </p:cNvPr>
                <p:cNvSpPr>
                  <a:spLocks noChangeArrowheads="1"/>
                </p:cNvSpPr>
                <p:nvPr/>
              </p:nvSpPr>
              <p:spPr bwMode="auto">
                <a:xfrm>
                  <a:off x="2791" y="288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-1.53</a:t>
                  </a:r>
                </a:p>
                <a:p>
                  <a:pPr algn="just"/>
                  <a:endParaRPr lang="en-US" altLang="zh-CN" sz="1232"/>
                </a:p>
              </p:txBody>
            </p:sp>
            <p:sp>
              <p:nvSpPr>
                <p:cNvPr id="24670" name="Rectangle 224">
                  <a:extLst>
                    <a:ext uri="{FF2B5EF4-FFF2-40B4-BE49-F238E27FC236}">
                      <a16:creationId xmlns:a16="http://schemas.microsoft.com/office/drawing/2014/main" id="{4D63EF27-BC3A-3EC2-F316-2516D8EA00AE}"/>
                    </a:ext>
                  </a:extLst>
                </p:cNvPr>
                <p:cNvSpPr>
                  <a:spLocks noChangeArrowheads="1"/>
                </p:cNvSpPr>
                <p:nvPr/>
              </p:nvSpPr>
              <p:spPr bwMode="auto">
                <a:xfrm>
                  <a:off x="2748" y="288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57" name="Group 227">
                <a:extLst>
                  <a:ext uri="{FF2B5EF4-FFF2-40B4-BE49-F238E27FC236}">
                    <a16:creationId xmlns:a16="http://schemas.microsoft.com/office/drawing/2014/main" id="{C7BAA697-000D-79F7-95A1-E46F44A0EEAF}"/>
                  </a:ext>
                </a:extLst>
              </p:cNvPr>
              <p:cNvGrpSpPr>
                <a:grpSpLocks/>
              </p:cNvGrpSpPr>
              <p:nvPr/>
            </p:nvGrpSpPr>
            <p:grpSpPr bwMode="auto">
              <a:xfrm>
                <a:off x="3194" y="2880"/>
                <a:ext cx="518" cy="384"/>
                <a:chOff x="3194" y="2880"/>
                <a:chExt cx="518" cy="384"/>
              </a:xfrm>
            </p:grpSpPr>
            <p:sp>
              <p:nvSpPr>
                <p:cNvPr id="24667" name="Rectangle 76">
                  <a:extLst>
                    <a:ext uri="{FF2B5EF4-FFF2-40B4-BE49-F238E27FC236}">
                      <a16:creationId xmlns:a16="http://schemas.microsoft.com/office/drawing/2014/main" id="{6A534739-7D96-9278-3991-BCF0101B29C7}"/>
                    </a:ext>
                  </a:extLst>
                </p:cNvPr>
                <p:cNvSpPr>
                  <a:spLocks noChangeArrowheads="1"/>
                </p:cNvSpPr>
                <p:nvPr/>
              </p:nvSpPr>
              <p:spPr bwMode="auto">
                <a:xfrm>
                  <a:off x="3237" y="2880"/>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43"/>
                    <a:t>-</a:t>
                  </a:r>
                </a:p>
                <a:p>
                  <a:pPr algn="just"/>
                  <a:endParaRPr lang="en-US" altLang="zh-CN" sz="1643"/>
                </a:p>
              </p:txBody>
            </p:sp>
            <p:sp>
              <p:nvSpPr>
                <p:cNvPr id="24668" name="Rectangle 226">
                  <a:extLst>
                    <a:ext uri="{FF2B5EF4-FFF2-40B4-BE49-F238E27FC236}">
                      <a16:creationId xmlns:a16="http://schemas.microsoft.com/office/drawing/2014/main" id="{F97AB2C1-E48B-2BEC-8CE3-07D3A3E4A365}"/>
                    </a:ext>
                  </a:extLst>
                </p:cNvPr>
                <p:cNvSpPr>
                  <a:spLocks noChangeArrowheads="1"/>
                </p:cNvSpPr>
                <p:nvPr/>
              </p:nvSpPr>
              <p:spPr bwMode="auto">
                <a:xfrm>
                  <a:off x="3194" y="2880"/>
                  <a:ext cx="518"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58" name="Group 229">
                <a:extLst>
                  <a:ext uri="{FF2B5EF4-FFF2-40B4-BE49-F238E27FC236}">
                    <a16:creationId xmlns:a16="http://schemas.microsoft.com/office/drawing/2014/main" id="{60501F5C-E167-A618-1162-91543172116A}"/>
                  </a:ext>
                </a:extLst>
              </p:cNvPr>
              <p:cNvGrpSpPr>
                <a:grpSpLocks/>
              </p:cNvGrpSpPr>
              <p:nvPr/>
            </p:nvGrpSpPr>
            <p:grpSpPr bwMode="auto">
              <a:xfrm>
                <a:off x="3712" y="2880"/>
                <a:ext cx="446" cy="384"/>
                <a:chOff x="3712" y="2880"/>
                <a:chExt cx="446" cy="384"/>
              </a:xfrm>
            </p:grpSpPr>
            <p:sp>
              <p:nvSpPr>
                <p:cNvPr id="24665" name="Rectangle 77">
                  <a:extLst>
                    <a:ext uri="{FF2B5EF4-FFF2-40B4-BE49-F238E27FC236}">
                      <a16:creationId xmlns:a16="http://schemas.microsoft.com/office/drawing/2014/main" id="{523B887E-44DA-6A3E-33A3-BBAC8A030837}"/>
                    </a:ext>
                  </a:extLst>
                </p:cNvPr>
                <p:cNvSpPr>
                  <a:spLocks noChangeArrowheads="1"/>
                </p:cNvSpPr>
                <p:nvPr/>
              </p:nvSpPr>
              <p:spPr bwMode="auto">
                <a:xfrm>
                  <a:off x="3755" y="288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22617</a:t>
                  </a:r>
                </a:p>
                <a:p>
                  <a:pPr algn="just"/>
                  <a:endParaRPr lang="en-US" altLang="zh-CN" sz="1643"/>
                </a:p>
              </p:txBody>
            </p:sp>
            <p:sp>
              <p:nvSpPr>
                <p:cNvPr id="24666" name="Rectangle 228">
                  <a:extLst>
                    <a:ext uri="{FF2B5EF4-FFF2-40B4-BE49-F238E27FC236}">
                      <a16:creationId xmlns:a16="http://schemas.microsoft.com/office/drawing/2014/main" id="{653EEF46-44AD-3EC9-F45A-44FDB4743755}"/>
                    </a:ext>
                  </a:extLst>
                </p:cNvPr>
                <p:cNvSpPr>
                  <a:spLocks noChangeArrowheads="1"/>
                </p:cNvSpPr>
                <p:nvPr/>
              </p:nvSpPr>
              <p:spPr bwMode="auto">
                <a:xfrm>
                  <a:off x="3712" y="288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59" name="Group 231">
                <a:extLst>
                  <a:ext uri="{FF2B5EF4-FFF2-40B4-BE49-F238E27FC236}">
                    <a16:creationId xmlns:a16="http://schemas.microsoft.com/office/drawing/2014/main" id="{66B8801A-CC4C-A1DE-9F6B-84A5CAA6F798}"/>
                  </a:ext>
                </a:extLst>
              </p:cNvPr>
              <p:cNvGrpSpPr>
                <a:grpSpLocks/>
              </p:cNvGrpSpPr>
              <p:nvPr/>
            </p:nvGrpSpPr>
            <p:grpSpPr bwMode="auto">
              <a:xfrm>
                <a:off x="4158" y="2880"/>
                <a:ext cx="446" cy="384"/>
                <a:chOff x="4158" y="2880"/>
                <a:chExt cx="446" cy="384"/>
              </a:xfrm>
            </p:grpSpPr>
            <p:sp>
              <p:nvSpPr>
                <p:cNvPr id="24663" name="Rectangle 78">
                  <a:extLst>
                    <a:ext uri="{FF2B5EF4-FFF2-40B4-BE49-F238E27FC236}">
                      <a16:creationId xmlns:a16="http://schemas.microsoft.com/office/drawing/2014/main" id="{7262B35D-75FB-9306-D712-F45091FCE2CC}"/>
                    </a:ext>
                  </a:extLst>
                </p:cNvPr>
                <p:cNvSpPr>
                  <a:spLocks noChangeArrowheads="1"/>
                </p:cNvSpPr>
                <p:nvPr/>
              </p:nvSpPr>
              <p:spPr bwMode="auto">
                <a:xfrm>
                  <a:off x="4201" y="288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17</a:t>
                  </a:r>
                </a:p>
                <a:p>
                  <a:pPr algn="just"/>
                  <a:endParaRPr lang="en-US" altLang="zh-CN" sz="1232"/>
                </a:p>
              </p:txBody>
            </p:sp>
            <p:sp>
              <p:nvSpPr>
                <p:cNvPr id="24664" name="Rectangle 230">
                  <a:extLst>
                    <a:ext uri="{FF2B5EF4-FFF2-40B4-BE49-F238E27FC236}">
                      <a16:creationId xmlns:a16="http://schemas.microsoft.com/office/drawing/2014/main" id="{9F26FEBF-C547-ACEE-2027-CA23D827EB3C}"/>
                    </a:ext>
                  </a:extLst>
                </p:cNvPr>
                <p:cNvSpPr>
                  <a:spLocks noChangeArrowheads="1"/>
                </p:cNvSpPr>
                <p:nvPr/>
              </p:nvSpPr>
              <p:spPr bwMode="auto">
                <a:xfrm>
                  <a:off x="4158" y="288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nvGrpSpPr>
              <p:cNvPr id="24660" name="Group 233">
                <a:extLst>
                  <a:ext uri="{FF2B5EF4-FFF2-40B4-BE49-F238E27FC236}">
                    <a16:creationId xmlns:a16="http://schemas.microsoft.com/office/drawing/2014/main" id="{9137C650-5092-C9CF-DF80-03FFCF9F6FF2}"/>
                  </a:ext>
                </a:extLst>
              </p:cNvPr>
              <p:cNvGrpSpPr>
                <a:grpSpLocks/>
              </p:cNvGrpSpPr>
              <p:nvPr/>
            </p:nvGrpSpPr>
            <p:grpSpPr bwMode="auto">
              <a:xfrm>
                <a:off x="4604" y="2880"/>
                <a:ext cx="446" cy="384"/>
                <a:chOff x="4604" y="2880"/>
                <a:chExt cx="446" cy="384"/>
              </a:xfrm>
            </p:grpSpPr>
            <p:sp>
              <p:nvSpPr>
                <p:cNvPr id="24661" name="Rectangle 79">
                  <a:extLst>
                    <a:ext uri="{FF2B5EF4-FFF2-40B4-BE49-F238E27FC236}">
                      <a16:creationId xmlns:a16="http://schemas.microsoft.com/office/drawing/2014/main" id="{FBC9F2FF-6C35-32C2-D468-B4F1A2D9FDB8}"/>
                    </a:ext>
                  </a:extLst>
                </p:cNvPr>
                <p:cNvSpPr>
                  <a:spLocks noChangeArrowheads="1"/>
                </p:cNvSpPr>
                <p:nvPr/>
              </p:nvSpPr>
              <p:spPr bwMode="auto">
                <a:xfrm>
                  <a:off x="4647" y="2880"/>
                  <a:ext cx="3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232"/>
                    <a:t>0.51</a:t>
                  </a:r>
                </a:p>
                <a:p>
                  <a:pPr algn="just"/>
                  <a:endParaRPr lang="en-US" altLang="zh-CN" sz="1232"/>
                </a:p>
              </p:txBody>
            </p:sp>
            <p:sp>
              <p:nvSpPr>
                <p:cNvPr id="24662" name="Rectangle 232">
                  <a:extLst>
                    <a:ext uri="{FF2B5EF4-FFF2-40B4-BE49-F238E27FC236}">
                      <a16:creationId xmlns:a16="http://schemas.microsoft.com/office/drawing/2014/main" id="{16180DCD-5C32-79B2-CED4-773928C90A2C}"/>
                    </a:ext>
                  </a:extLst>
                </p:cNvPr>
                <p:cNvSpPr>
                  <a:spLocks noChangeArrowheads="1"/>
                </p:cNvSpPr>
                <p:nvPr/>
              </p:nvSpPr>
              <p:spPr bwMode="auto">
                <a:xfrm>
                  <a:off x="4604" y="2880"/>
                  <a:ext cx="44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grpSp>
        <p:sp>
          <p:nvSpPr>
            <p:cNvPr id="24583" name="Rectangle 235">
              <a:extLst>
                <a:ext uri="{FF2B5EF4-FFF2-40B4-BE49-F238E27FC236}">
                  <a16:creationId xmlns:a16="http://schemas.microsoft.com/office/drawing/2014/main" id="{97F947BF-5C84-6188-F137-EB1E0F458FAE}"/>
                </a:ext>
              </a:extLst>
            </p:cNvPr>
            <p:cNvSpPr>
              <a:spLocks noChangeArrowheads="1"/>
            </p:cNvSpPr>
            <p:nvPr/>
          </p:nvSpPr>
          <p:spPr bwMode="auto">
            <a:xfrm>
              <a:off x="-3" y="-3"/>
              <a:ext cx="5056" cy="3270"/>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pSp>
      <p:sp>
        <p:nvSpPr>
          <p:cNvPr id="24580" name="Line 237">
            <a:hlinkClick r:id="rId2" action="ppaction://hlinksldjump"/>
            <a:extLst>
              <a:ext uri="{FF2B5EF4-FFF2-40B4-BE49-F238E27FC236}">
                <a16:creationId xmlns:a16="http://schemas.microsoft.com/office/drawing/2014/main" id="{A84C0D68-5F13-A0AF-C7BB-FE658889B99F}"/>
              </a:ext>
            </a:extLst>
          </p:cNvPr>
          <p:cNvSpPr>
            <a:spLocks noChangeShapeType="1"/>
          </p:cNvSpPr>
          <p:nvPr/>
        </p:nvSpPr>
        <p:spPr bwMode="auto">
          <a:xfrm>
            <a:off x="8004386" y="938953"/>
            <a:ext cx="39123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24581" name="Picture 239">
            <a:hlinkClick r:id="rId3"/>
            <a:extLst>
              <a:ext uri="{FF2B5EF4-FFF2-40B4-BE49-F238E27FC236}">
                <a16:creationId xmlns:a16="http://schemas.microsoft.com/office/drawing/2014/main" id="{37160D94-AAD2-81F9-17AB-72EF9CE4E0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995" y="1687182"/>
            <a:ext cx="917762" cy="748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a:extLst>
              <a:ext uri="{FF2B5EF4-FFF2-40B4-BE49-F238E27FC236}">
                <a16:creationId xmlns:a16="http://schemas.microsoft.com/office/drawing/2014/main" id="{2882DDE3-948C-95F9-1113-333FC4CE9C2E}"/>
              </a:ext>
            </a:extLst>
          </p:cNvPr>
          <p:cNvSpPr>
            <a:spLocks noGrp="1"/>
          </p:cNvSpPr>
          <p:nvPr>
            <p:ph type="body" idx="1"/>
          </p:nvPr>
        </p:nvSpPr>
        <p:spPr>
          <a:xfrm>
            <a:off x="355830" y="564024"/>
            <a:ext cx="8799427" cy="4518160"/>
          </a:xfrm>
        </p:spPr>
        <p:txBody>
          <a:bodyPr/>
          <a:lstStyle/>
          <a:p>
            <a:pPr eaLnBrk="1" hangingPunct="1">
              <a:lnSpc>
                <a:spcPct val="80000"/>
              </a:lnSpc>
            </a:pPr>
            <a:r>
              <a:rPr lang="en-US" altLang="zh-CN" sz="2875" b="1" dirty="0">
                <a:latin typeface="黑体" panose="02010609060101010101" pitchFamily="49" charset="-122"/>
                <a:ea typeface="宋体" panose="02010600030101010101" pitchFamily="2" charset="-122"/>
              </a:rPr>
              <a:t>27.</a:t>
            </a:r>
            <a:r>
              <a:rPr lang="zh-CN" altLang="en-US" sz="2875" b="1" dirty="0">
                <a:latin typeface="黑体" panose="02010609060101010101" pitchFamily="49" charset="-122"/>
                <a:ea typeface="宋体" panose="02010600030101010101" pitchFamily="2" charset="-122"/>
              </a:rPr>
              <a:t>下列关于生命表的叙述，不正确的是：</a:t>
            </a:r>
          </a:p>
          <a:p>
            <a:pPr eaLnBrk="1" hangingPunct="1">
              <a:lnSpc>
                <a:spcPct val="80000"/>
              </a:lnSpc>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A</a:t>
            </a:r>
            <a:r>
              <a:rPr lang="zh-CN" altLang="en-US" sz="2800" b="1" dirty="0">
                <a:latin typeface="Times New Roman" panose="02020603050405020304" pitchFamily="18" charset="0"/>
                <a:ea typeface="宋体" panose="02010600030101010101" pitchFamily="2" charset="-122"/>
              </a:rPr>
              <a:t>．生命表是用来描述种群生存与死亡的统计工</a:t>
            </a:r>
          </a:p>
          <a:p>
            <a:pPr eaLnBrk="1" hangingPunct="1">
              <a:lnSpc>
                <a:spcPct val="80000"/>
              </a:lnSpc>
            </a:pPr>
            <a:r>
              <a:rPr lang="zh-CN" altLang="en-US" sz="2800" b="1" dirty="0">
                <a:latin typeface="Times New Roman" panose="02020603050405020304" pitchFamily="18" charset="0"/>
                <a:ea typeface="宋体" panose="02010600030101010101" pitchFamily="2" charset="-122"/>
              </a:rPr>
              <a:t>   具；</a:t>
            </a:r>
          </a:p>
          <a:p>
            <a:pPr eaLnBrk="1" hangingPunct="1">
              <a:lnSpc>
                <a:spcPct val="80000"/>
              </a:lnSpc>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B</a:t>
            </a:r>
            <a:r>
              <a:rPr lang="zh-CN" altLang="en-US" sz="2800" b="1" dirty="0">
                <a:latin typeface="Times New Roman" panose="02020603050405020304" pitchFamily="18" charset="0"/>
                <a:ea typeface="宋体" panose="02010600030101010101" pitchFamily="2" charset="-122"/>
              </a:rPr>
              <a:t>．动态混合生命表是根据观察一群同一时间出生</a:t>
            </a:r>
          </a:p>
          <a:p>
            <a:pPr eaLnBrk="1" hangingPunct="1">
              <a:lnSpc>
                <a:spcPct val="80000"/>
              </a:lnSpc>
            </a:pPr>
            <a:r>
              <a:rPr lang="zh-CN" altLang="en-US" sz="2800" b="1" dirty="0">
                <a:latin typeface="Times New Roman" panose="02020603050405020304" pitchFamily="18" charset="0"/>
                <a:ea typeface="宋体" panose="02010600030101010101" pitchFamily="2" charset="-122"/>
              </a:rPr>
              <a:t>   的生物死亡或存活的动态过程而获得的生命表；</a:t>
            </a:r>
          </a:p>
          <a:p>
            <a:pPr eaLnBrk="1" hangingPunct="1">
              <a:lnSpc>
                <a:spcPct val="80000"/>
              </a:lnSpc>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C</a:t>
            </a:r>
            <a:r>
              <a:rPr lang="zh-CN" altLang="en-US" sz="2800" b="1" dirty="0">
                <a:latin typeface="Times New Roman" panose="02020603050405020304" pitchFamily="18" charset="0"/>
                <a:ea typeface="宋体" panose="02010600030101010101" pitchFamily="2" charset="-122"/>
              </a:rPr>
              <a:t>．静态生命表是根据某一特定时间对种群作一个</a:t>
            </a:r>
          </a:p>
          <a:p>
            <a:pPr eaLnBrk="1" hangingPunct="1">
              <a:lnSpc>
                <a:spcPct val="80000"/>
              </a:lnSpc>
            </a:pPr>
            <a:r>
              <a:rPr lang="zh-CN" altLang="en-US" sz="2800" b="1" dirty="0">
                <a:latin typeface="Times New Roman" panose="02020603050405020304" pitchFamily="18" charset="0"/>
                <a:ea typeface="宋体" panose="02010600030101010101" pitchFamily="2" charset="-122"/>
              </a:rPr>
              <a:t>  年龄结构调查，并根据结果而编制的生命表；</a:t>
            </a:r>
          </a:p>
          <a:p>
            <a:pPr eaLnBrk="1" hangingPunct="1">
              <a:lnSpc>
                <a:spcPct val="80000"/>
              </a:lnSpc>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D</a:t>
            </a:r>
            <a:r>
              <a:rPr lang="zh-CN" altLang="en-US" sz="2800" b="1" dirty="0">
                <a:latin typeface="Times New Roman" panose="02020603050405020304" pitchFamily="18" charset="0"/>
                <a:ea typeface="宋体" panose="02010600030101010101" pitchFamily="2" charset="-122"/>
              </a:rPr>
              <a:t>．动态生命表是根据观察一群同一时间出生的生</a:t>
            </a:r>
          </a:p>
          <a:p>
            <a:pPr eaLnBrk="1" hangingPunct="1">
              <a:lnSpc>
                <a:spcPct val="80000"/>
              </a:lnSpc>
            </a:pPr>
            <a:r>
              <a:rPr lang="zh-CN" altLang="en-US" sz="2800" b="1" dirty="0">
                <a:latin typeface="Times New Roman" panose="02020603050405020304" pitchFamily="18" charset="0"/>
                <a:ea typeface="宋体" panose="02010600030101010101" pitchFamily="2" charset="-122"/>
              </a:rPr>
              <a:t>  物死亡或存活的动态过程而获得的数据编制的生</a:t>
            </a:r>
          </a:p>
          <a:p>
            <a:pPr eaLnBrk="1" hangingPunct="1">
              <a:lnSpc>
                <a:spcPct val="80000"/>
              </a:lnSpc>
            </a:pPr>
            <a:r>
              <a:rPr lang="zh-CN" altLang="en-US" sz="2800" b="1" dirty="0">
                <a:latin typeface="Times New Roman" panose="02020603050405020304" pitchFamily="18" charset="0"/>
                <a:ea typeface="宋体" panose="02010600030101010101" pitchFamily="2" charset="-122"/>
              </a:rPr>
              <a:t>  命表。</a:t>
            </a:r>
          </a:p>
          <a:p>
            <a:pPr eaLnBrk="1" hangingPunct="1">
              <a:lnSpc>
                <a:spcPct val="80000"/>
              </a:lnSpc>
            </a:pPr>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2013</a:t>
            </a:r>
            <a:r>
              <a:rPr lang="zh-CN" altLang="en-US" sz="2875" b="1" dirty="0">
                <a:solidFill>
                  <a:srgbClr val="CC0000"/>
                </a:solidFill>
                <a:latin typeface="黑体" panose="02010609060101010101" pitchFamily="49" charset="-122"/>
                <a:ea typeface="宋体" panose="02010600030101010101" pitchFamily="2" charset="-122"/>
              </a:rPr>
              <a:t>年全国联赛试题）</a:t>
            </a:r>
          </a:p>
          <a:p>
            <a:pPr eaLnBrk="1" hangingPunct="1">
              <a:lnSpc>
                <a:spcPct val="80000"/>
              </a:lnSpc>
            </a:pPr>
            <a:endParaRPr lang="zh-CN" altLang="en-US" sz="2875" b="1" dirty="0">
              <a:solidFill>
                <a:srgbClr val="CC0000"/>
              </a:solidFill>
              <a:latin typeface="黑体" panose="02010609060101010101" pitchFamily="49" charset="-122"/>
              <a:ea typeface="宋体" panose="02010600030101010101" pitchFamily="2" charset="-122"/>
            </a:endParaRPr>
          </a:p>
          <a:p>
            <a:pPr>
              <a:lnSpc>
                <a:spcPct val="80000"/>
              </a:lnSpc>
            </a:pPr>
            <a:endParaRPr lang="zh-CN" altLang="en-US" sz="2875" b="1" dirty="0">
              <a:latin typeface="黑体" panose="02010609060101010101" pitchFamily="49" charset="-122"/>
              <a:ea typeface="宋体" panose="02010600030101010101" pitchFamily="2" charset="-122"/>
            </a:endParaRPr>
          </a:p>
        </p:txBody>
      </p:sp>
      <p:sp>
        <p:nvSpPr>
          <p:cNvPr id="2" name="文本框 1">
            <a:extLst>
              <a:ext uri="{FF2B5EF4-FFF2-40B4-BE49-F238E27FC236}">
                <a16:creationId xmlns:a16="http://schemas.microsoft.com/office/drawing/2014/main" id="{5E92E0F2-06C1-7670-CAD1-CDB40CEDFDE7}"/>
              </a:ext>
            </a:extLst>
          </p:cNvPr>
          <p:cNvSpPr txBox="1"/>
          <p:nvPr/>
        </p:nvSpPr>
        <p:spPr>
          <a:xfrm>
            <a:off x="7004050" y="40705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B</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5" name="Rectangle 3">
            <a:extLst>
              <a:ext uri="{FF2B5EF4-FFF2-40B4-BE49-F238E27FC236}">
                <a16:creationId xmlns:a16="http://schemas.microsoft.com/office/drawing/2014/main" id="{C50E70F9-5B56-5C2D-6520-BF01D778C8E5}"/>
              </a:ext>
            </a:extLst>
          </p:cNvPr>
          <p:cNvSpPr>
            <a:spLocks noGrp="1"/>
          </p:cNvSpPr>
          <p:nvPr>
            <p:ph type="body" idx="1"/>
          </p:nvPr>
        </p:nvSpPr>
        <p:spPr>
          <a:xfrm>
            <a:off x="480061" y="870461"/>
            <a:ext cx="8450580" cy="3180162"/>
          </a:xfrm>
        </p:spPr>
        <p:txBody>
          <a:bodyPr/>
          <a:lstStyle/>
          <a:p>
            <a:r>
              <a:rPr lang="en-US" altLang="zh-CN" sz="2875" b="1" dirty="0">
                <a:latin typeface="黑体" panose="02010609060101010101" pitchFamily="49" charset="-122"/>
                <a:ea typeface="宋体" panose="02010600030101010101" pitchFamily="2" charset="-122"/>
              </a:rPr>
              <a:t>28.</a:t>
            </a:r>
            <a:r>
              <a:rPr lang="zh-CN" altLang="en-US" sz="2875" b="1" dirty="0">
                <a:latin typeface="黑体" panose="02010609060101010101" pitchFamily="49" charset="-122"/>
                <a:ea typeface="宋体" panose="02010600030101010101" pitchFamily="2" charset="-122"/>
              </a:rPr>
              <a:t>从藤壶生命表，可以获得的信息有：</a:t>
            </a:r>
          </a:p>
          <a:p>
            <a:r>
              <a:rPr lang="en-US" altLang="zh-CN" sz="2800" b="1" dirty="0">
                <a:latin typeface="Times New Roman" panose="02020603050405020304" pitchFamily="18" charset="0"/>
                <a:ea typeface="宋体" panose="02010600030101010101" pitchFamily="2" charset="-122"/>
              </a:rPr>
              <a:t>A.</a:t>
            </a:r>
            <a:r>
              <a:rPr lang="zh-CN" altLang="en-US" sz="2800" b="1" dirty="0">
                <a:latin typeface="Times New Roman" panose="02020603050405020304" pitchFamily="18" charset="0"/>
                <a:ea typeface="宋体" panose="02010600030101010101" pitchFamily="2" charset="-122"/>
              </a:rPr>
              <a:t>存活曲线；</a:t>
            </a:r>
          </a:p>
          <a:p>
            <a:r>
              <a:rPr lang="en-US" altLang="zh-CN" sz="2800" b="1" dirty="0">
                <a:latin typeface="Times New Roman" panose="02020603050405020304" pitchFamily="18" charset="0"/>
                <a:ea typeface="宋体" panose="02010600030101010101" pitchFamily="2" charset="-122"/>
              </a:rPr>
              <a:t>B.</a:t>
            </a:r>
            <a:r>
              <a:rPr lang="zh-CN" altLang="en-US" sz="2800" b="1" dirty="0">
                <a:latin typeface="Times New Roman" panose="02020603050405020304" pitchFamily="18" charset="0"/>
                <a:ea typeface="宋体" panose="02010600030101010101" pitchFamily="2" charset="-122"/>
              </a:rPr>
              <a:t>死亡率曲线；</a:t>
            </a:r>
          </a:p>
          <a:p>
            <a:r>
              <a:rPr lang="en-US" altLang="zh-CN" sz="2800" b="1" dirty="0">
                <a:latin typeface="Times New Roman" panose="02020603050405020304" pitchFamily="18" charset="0"/>
                <a:ea typeface="宋体" panose="02010600030101010101" pitchFamily="2" charset="-122"/>
              </a:rPr>
              <a:t>C.</a:t>
            </a:r>
            <a:r>
              <a:rPr lang="zh-CN" altLang="en-US" sz="2800" b="1" dirty="0">
                <a:latin typeface="Times New Roman" panose="02020603050405020304" pitchFamily="18" charset="0"/>
                <a:ea typeface="宋体" panose="02010600030101010101" pitchFamily="2" charset="-122"/>
              </a:rPr>
              <a:t>生命平均余年；</a:t>
            </a:r>
          </a:p>
          <a:p>
            <a:r>
              <a:rPr lang="en-US" altLang="zh-CN" sz="2875" b="1" dirty="0">
                <a:latin typeface="黑体" panose="02010609060101010101" pitchFamily="49" charset="-122"/>
                <a:ea typeface="宋体" panose="02010600030101010101" pitchFamily="2" charset="-122"/>
              </a:rPr>
              <a:t>D.</a:t>
            </a:r>
            <a:r>
              <a:rPr lang="zh-CN" altLang="en-US" sz="2875" b="1" dirty="0">
                <a:latin typeface="黑体" panose="02010609060101010101" pitchFamily="49" charset="-122"/>
                <a:ea typeface="宋体" panose="02010600030101010101" pitchFamily="2" charset="-122"/>
              </a:rPr>
              <a:t>出生率和死亡率。</a:t>
            </a:r>
          </a:p>
          <a:p>
            <a:endParaRPr lang="zh-CN" altLang="en-US" sz="2875" b="1" dirty="0">
              <a:latin typeface="黑体" panose="02010609060101010101" pitchFamily="49" charset="-122"/>
              <a:ea typeface="宋体" panose="02010600030101010101" pitchFamily="2" charset="-122"/>
            </a:endParaRPr>
          </a:p>
          <a:p>
            <a:endParaRPr lang="zh-CN" altLang="en-US" sz="2875" dirty="0">
              <a:ea typeface="宋体" panose="02010600030101010101" pitchFamily="2" charset="-122"/>
            </a:endParaRPr>
          </a:p>
        </p:txBody>
      </p:sp>
      <p:sp>
        <p:nvSpPr>
          <p:cNvPr id="2" name="文本框 1">
            <a:extLst>
              <a:ext uri="{FF2B5EF4-FFF2-40B4-BE49-F238E27FC236}">
                <a16:creationId xmlns:a16="http://schemas.microsoft.com/office/drawing/2014/main" id="{27733B93-8026-B0CF-5676-F7E53BE7B9C2}"/>
              </a:ext>
            </a:extLst>
          </p:cNvPr>
          <p:cNvSpPr txBox="1"/>
          <p:nvPr/>
        </p:nvSpPr>
        <p:spPr>
          <a:xfrm>
            <a:off x="6775450" y="870461"/>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ABC</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6436" name="Picture 4">
            <a:extLst>
              <a:ext uri="{FF2B5EF4-FFF2-40B4-BE49-F238E27FC236}">
                <a16:creationId xmlns:a16="http://schemas.microsoft.com/office/drawing/2014/main" id="{F9A2ED51-6524-0C0F-EB19-2E86CE13FD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0723" y="777875"/>
            <a:ext cx="4811560" cy="6357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6437" name="Rectangle 5">
            <a:extLst>
              <a:ext uri="{FF2B5EF4-FFF2-40B4-BE49-F238E27FC236}">
                <a16:creationId xmlns:a16="http://schemas.microsoft.com/office/drawing/2014/main" id="{2766504D-CCEA-02D5-7A8E-A2B42868015F}"/>
              </a:ext>
            </a:extLst>
          </p:cNvPr>
          <p:cNvSpPr>
            <a:spLocks noChangeArrowheads="1"/>
          </p:cNvSpPr>
          <p:nvPr/>
        </p:nvSpPr>
        <p:spPr bwMode="auto">
          <a:xfrm>
            <a:off x="134132" y="372205"/>
            <a:ext cx="8945181" cy="47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r>
              <a:rPr lang="en-US" altLang="zh-CN" sz="2465" b="1" dirty="0"/>
              <a:t>29.</a:t>
            </a:r>
            <a:r>
              <a:rPr lang="zh-CN" altLang="en-US" sz="2465" b="1" dirty="0"/>
              <a:t>下图是褐色雏蝗的图解生命表，从图中可以看出：</a:t>
            </a:r>
            <a:r>
              <a:rPr lang="en-US" altLang="zh-CN" sz="2465" b="1" dirty="0"/>
              <a:t>(</a:t>
            </a:r>
            <a:r>
              <a:rPr lang="zh-CN" altLang="en-US" sz="2465" b="1" dirty="0"/>
              <a:t>单选）</a:t>
            </a:r>
          </a:p>
        </p:txBody>
      </p:sp>
      <p:sp>
        <p:nvSpPr>
          <p:cNvPr id="786438" name="Rectangle 6">
            <a:extLst>
              <a:ext uri="{FF2B5EF4-FFF2-40B4-BE49-F238E27FC236}">
                <a16:creationId xmlns:a16="http://schemas.microsoft.com/office/drawing/2014/main" id="{E5407314-12F6-177B-19F0-A5F91DE259A4}"/>
              </a:ext>
            </a:extLst>
          </p:cNvPr>
          <p:cNvSpPr>
            <a:spLocks noChangeArrowheads="1"/>
          </p:cNvSpPr>
          <p:nvPr/>
        </p:nvSpPr>
        <p:spPr bwMode="auto">
          <a:xfrm>
            <a:off x="134132" y="878798"/>
            <a:ext cx="517565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800" b="1" dirty="0">
                <a:latin typeface="Times New Roman" panose="02020603050405020304" pitchFamily="18" charset="0"/>
                <a:ea typeface="宋体" panose="02010600030101010101" pitchFamily="2" charset="-122"/>
              </a:rPr>
              <a:t>A.</a:t>
            </a:r>
            <a:r>
              <a:rPr lang="zh-CN" altLang="en-US" sz="2800" b="1" dirty="0">
                <a:latin typeface="Times New Roman" panose="02020603050405020304" pitchFamily="18" charset="0"/>
                <a:ea typeface="宋体" panose="02010600030101010101" pitchFamily="2" charset="-122"/>
              </a:rPr>
              <a:t>褐色雏蝗是二年生的；</a:t>
            </a:r>
          </a:p>
          <a:p>
            <a:r>
              <a:rPr lang="en-US" altLang="zh-CN" sz="2800" b="1" dirty="0">
                <a:latin typeface="Times New Roman" panose="02020603050405020304" pitchFamily="18" charset="0"/>
                <a:ea typeface="宋体" panose="02010600030101010101" pitchFamily="2" charset="-122"/>
              </a:rPr>
              <a:t>B.</a:t>
            </a:r>
            <a:r>
              <a:rPr lang="zh-CN" altLang="en-US" sz="2800" b="1" dirty="0">
                <a:latin typeface="Times New Roman" panose="02020603050405020304" pitchFamily="18" charset="0"/>
                <a:ea typeface="宋体" panose="02010600030101010101" pitchFamily="2" charset="-122"/>
              </a:rPr>
              <a:t>这个生命表说明生死过程与</a:t>
            </a:r>
          </a:p>
          <a:p>
            <a:r>
              <a:rPr lang="zh-CN" altLang="en-US" sz="2800" b="1" dirty="0">
                <a:latin typeface="Times New Roman" panose="02020603050405020304" pitchFamily="18" charset="0"/>
                <a:ea typeface="宋体" panose="02010600030101010101" pitchFamily="2" charset="-122"/>
              </a:rPr>
              <a:t>　生活史的复杂程度无关；</a:t>
            </a:r>
          </a:p>
          <a:p>
            <a:r>
              <a:rPr lang="en-US" altLang="zh-CN" sz="2800" b="1" dirty="0">
                <a:latin typeface="Times New Roman" panose="02020603050405020304" pitchFamily="18" charset="0"/>
                <a:ea typeface="宋体" panose="02010600030101010101" pitchFamily="2" charset="-122"/>
              </a:rPr>
              <a:t>C.</a:t>
            </a:r>
            <a:r>
              <a:rPr lang="zh-CN" altLang="en-US" sz="2800" b="1" dirty="0">
                <a:latin typeface="Times New Roman" panose="02020603050405020304" pitchFamily="18" charset="0"/>
                <a:ea typeface="宋体" panose="02010600030101010101" pitchFamily="2" charset="-122"/>
              </a:rPr>
              <a:t>这是一个世代重叠的种群；</a:t>
            </a:r>
          </a:p>
          <a:p>
            <a:r>
              <a:rPr lang="en-US" altLang="zh-CN" sz="2800" b="1" dirty="0">
                <a:latin typeface="Times New Roman" panose="02020603050405020304" pitchFamily="18" charset="0"/>
                <a:ea typeface="宋体" panose="02010600030101010101" pitchFamily="2" charset="-122"/>
              </a:rPr>
              <a:t>D.</a:t>
            </a:r>
            <a:r>
              <a:rPr lang="zh-CN" altLang="en-US" sz="2800" b="1" dirty="0">
                <a:latin typeface="Times New Roman" panose="02020603050405020304" pitchFamily="18" charset="0"/>
                <a:ea typeface="宋体" panose="02010600030101010101" pitchFamily="2" charset="-122"/>
              </a:rPr>
              <a:t>褐色雏蝗的种群数量变化是</a:t>
            </a:r>
          </a:p>
          <a:p>
            <a:r>
              <a:rPr lang="zh-CN" altLang="en-US" sz="2800" b="1" dirty="0">
                <a:latin typeface="Times New Roman" panose="02020603050405020304" pitchFamily="18" charset="0"/>
                <a:ea typeface="宋体" panose="02010600030101010101" pitchFamily="2" charset="-122"/>
              </a:rPr>
              <a:t>　离散型的。</a:t>
            </a:r>
          </a:p>
        </p:txBody>
      </p:sp>
      <p:sp>
        <p:nvSpPr>
          <p:cNvPr id="2" name="文本框 1">
            <a:extLst>
              <a:ext uri="{FF2B5EF4-FFF2-40B4-BE49-F238E27FC236}">
                <a16:creationId xmlns:a16="http://schemas.microsoft.com/office/drawing/2014/main" id="{DC1A5EEE-3E99-1662-44AD-E8103F3F04F0}"/>
              </a:ext>
            </a:extLst>
          </p:cNvPr>
          <p:cNvSpPr txBox="1"/>
          <p:nvPr/>
        </p:nvSpPr>
        <p:spPr>
          <a:xfrm>
            <a:off x="8434673" y="355578"/>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D</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63432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a:extLst>
              <a:ext uri="{FF2B5EF4-FFF2-40B4-BE49-F238E27FC236}">
                <a16:creationId xmlns:a16="http://schemas.microsoft.com/office/drawing/2014/main" id="{3CC763C4-CC7E-39E8-86F8-DD421ACC390B}"/>
              </a:ext>
            </a:extLst>
          </p:cNvPr>
          <p:cNvSpPr txBox="1">
            <a:spLocks noChangeArrowheads="1"/>
          </p:cNvSpPr>
          <p:nvPr/>
        </p:nvSpPr>
        <p:spPr bwMode="auto">
          <a:xfrm>
            <a:off x="336268" y="312984"/>
            <a:ext cx="8685318" cy="304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75" b="1">
                <a:latin typeface="宋体" panose="02010600030101010101" pitchFamily="2" charset="-122"/>
              </a:rPr>
              <a:t>(3) </a:t>
            </a:r>
            <a:r>
              <a:rPr lang="zh-CN" altLang="en-US" sz="2875" b="1">
                <a:latin typeface="宋体" panose="02010600030101010101" pitchFamily="2" charset="-122"/>
              </a:rPr>
              <a:t>净增殖率</a:t>
            </a:r>
            <a:r>
              <a:rPr lang="en-US" altLang="zh-CN" sz="2875" b="1">
                <a:latin typeface="宋体" panose="02010600030101010101" pitchFamily="2" charset="-122"/>
              </a:rPr>
              <a:t>:  </a:t>
            </a:r>
            <a:r>
              <a:rPr lang="zh-CN" altLang="en-US" sz="2875" b="1">
                <a:latin typeface="宋体" panose="02010600030101010101" pitchFamily="2" charset="-122"/>
              </a:rPr>
              <a:t>综合生命表中</a:t>
            </a:r>
            <a:r>
              <a:rPr lang="en-US" altLang="zh-CN" sz="2875" b="1">
                <a:latin typeface="宋体" panose="02010600030101010101" pitchFamily="2" charset="-122"/>
              </a:rPr>
              <a:t>m</a:t>
            </a:r>
            <a:r>
              <a:rPr lang="en-US" altLang="zh-CN" sz="2875" b="1" baseline="-30000">
                <a:latin typeface="宋体" panose="02010600030101010101" pitchFamily="2" charset="-122"/>
              </a:rPr>
              <a:t>x</a:t>
            </a:r>
            <a:r>
              <a:rPr lang="zh-CN" altLang="en-US" sz="2875" b="1">
                <a:latin typeface="宋体" panose="02010600030101010101" pitchFamily="2" charset="-122"/>
              </a:rPr>
              <a:t>为每一期每一存活个体生产的卵数。将存活率</a:t>
            </a:r>
            <a:r>
              <a:rPr lang="en-US" altLang="zh-CN" sz="2875" b="1">
                <a:latin typeface="宋体" panose="02010600030101010101" pitchFamily="2" charset="-122"/>
              </a:rPr>
              <a:t>l</a:t>
            </a:r>
            <a:r>
              <a:rPr lang="en-US" altLang="zh-CN" sz="2875" b="1" baseline="-30000">
                <a:latin typeface="宋体" panose="02010600030101010101" pitchFamily="2" charset="-122"/>
              </a:rPr>
              <a:t>x</a:t>
            </a:r>
            <a:r>
              <a:rPr lang="zh-CN" altLang="en-US" sz="2875" b="1">
                <a:latin typeface="宋体" panose="02010600030101010101" pitchFamily="2" charset="-122"/>
              </a:rPr>
              <a:t>与生殖率</a:t>
            </a:r>
            <a:r>
              <a:rPr lang="zh-CN" altLang="en-US" sz="2875" b="1" baseline="-30000">
                <a:latin typeface="宋体" panose="02010600030101010101" pitchFamily="2" charset="-122"/>
              </a:rPr>
              <a:t> </a:t>
            </a:r>
            <a:r>
              <a:rPr lang="en-US" altLang="zh-CN" sz="2875" b="1">
                <a:latin typeface="宋体" panose="02010600030101010101" pitchFamily="2" charset="-122"/>
              </a:rPr>
              <a:t>m</a:t>
            </a:r>
            <a:r>
              <a:rPr lang="en-US" altLang="zh-CN" sz="2875" b="1" baseline="-30000">
                <a:latin typeface="宋体" panose="02010600030101010101" pitchFamily="2" charset="-122"/>
              </a:rPr>
              <a:t>x</a:t>
            </a:r>
            <a:r>
              <a:rPr lang="zh-CN" altLang="en-US" sz="2875" b="1">
                <a:latin typeface="宋体" panose="02010600030101010101" pitchFamily="2" charset="-122"/>
              </a:rPr>
              <a:t>相乘，并累加起来，即得净增殖率（</a:t>
            </a:r>
            <a:r>
              <a:rPr lang="en-US" altLang="zh-CN" sz="2875" b="1">
                <a:latin typeface="宋体" panose="02010600030101010101" pitchFamily="2" charset="-122"/>
              </a:rPr>
              <a:t>net reproductive rate</a:t>
            </a:r>
            <a:r>
              <a:rPr lang="zh-CN" altLang="en-US" sz="2875" b="1">
                <a:latin typeface="宋体" panose="02010600030101010101" pitchFamily="2" charset="-122"/>
              </a:rPr>
              <a:t>）</a:t>
            </a:r>
            <a:r>
              <a:rPr lang="en-US" altLang="zh-CN" sz="2875" b="1">
                <a:latin typeface="宋体" panose="02010600030101010101" pitchFamily="2" charset="-122"/>
              </a:rPr>
              <a:t>R</a:t>
            </a:r>
            <a:r>
              <a:rPr lang="en-US" altLang="zh-CN" sz="2875" b="1" baseline="-30000">
                <a:latin typeface="宋体" panose="02010600030101010101" pitchFamily="2" charset="-122"/>
              </a:rPr>
              <a:t>0</a:t>
            </a:r>
            <a:r>
              <a:rPr lang="zh-CN" altLang="en-US" sz="2875" b="1">
                <a:latin typeface="宋体" panose="02010600030101010101" pitchFamily="2" charset="-122"/>
              </a:rPr>
              <a:t>（</a:t>
            </a:r>
            <a:r>
              <a:rPr lang="en-US" altLang="zh-CN" sz="2875" b="1">
                <a:latin typeface="宋体" panose="02010600030101010101" pitchFamily="2" charset="-122"/>
              </a:rPr>
              <a:t>R</a:t>
            </a:r>
            <a:r>
              <a:rPr lang="en-US" altLang="zh-CN" sz="2875" b="1" baseline="-30000">
                <a:latin typeface="宋体" panose="02010600030101010101" pitchFamily="2" charset="-122"/>
              </a:rPr>
              <a:t>0</a:t>
            </a:r>
            <a:r>
              <a:rPr lang="en-US" altLang="zh-CN" sz="2875" b="1">
                <a:latin typeface="宋体" panose="02010600030101010101" pitchFamily="2" charset="-122"/>
              </a:rPr>
              <a:t>=Σl</a:t>
            </a:r>
            <a:r>
              <a:rPr lang="en-US" altLang="zh-CN" sz="2875" b="1" baseline="-30000">
                <a:latin typeface="宋体" panose="02010600030101010101" pitchFamily="2" charset="-122"/>
              </a:rPr>
              <a:t> x</a:t>
            </a:r>
            <a:r>
              <a:rPr lang="en-US" altLang="zh-CN" sz="2875" b="1">
                <a:latin typeface="宋体" panose="02010600030101010101" pitchFamily="2" charset="-122"/>
              </a:rPr>
              <a:t>m</a:t>
            </a:r>
            <a:r>
              <a:rPr lang="en-US" altLang="zh-CN" sz="2875" b="1" baseline="-30000">
                <a:latin typeface="宋体" panose="02010600030101010101" pitchFamily="2" charset="-122"/>
              </a:rPr>
              <a:t>x</a:t>
            </a:r>
            <a:r>
              <a:rPr lang="zh-CN" altLang="en-US" sz="2875" b="1">
                <a:latin typeface="宋体" panose="02010600030101010101" pitchFamily="2" charset="-122"/>
              </a:rPr>
              <a:t>），同时，</a:t>
            </a:r>
            <a:r>
              <a:rPr lang="en-US" altLang="zh-CN" sz="2875" b="1">
                <a:latin typeface="宋体" panose="02010600030101010101" pitchFamily="2" charset="-122"/>
              </a:rPr>
              <a:t>R</a:t>
            </a:r>
            <a:r>
              <a:rPr lang="en-US" altLang="zh-CN" sz="2875" b="1" baseline="-30000">
                <a:latin typeface="宋体" panose="02010600030101010101" pitchFamily="2" charset="-122"/>
              </a:rPr>
              <a:t>0</a:t>
            </a:r>
            <a:r>
              <a:rPr lang="zh-CN" altLang="en-US" sz="2875" b="1">
                <a:latin typeface="宋体" panose="02010600030101010101" pitchFamily="2" charset="-122"/>
              </a:rPr>
              <a:t>还代表种群世代净增殖率。</a:t>
            </a:r>
          </a:p>
          <a:p>
            <a:pPr eaLnBrk="1" hangingPunct="1">
              <a:spcBef>
                <a:spcPct val="50000"/>
              </a:spcBef>
            </a:pPr>
            <a:endParaRPr lang="en-US" altLang="zh-CN" sz="2875" b="1">
              <a:latin typeface="宋体" panose="02010600030101010101" pitchFamily="2" charset="-122"/>
            </a:endParaRPr>
          </a:p>
        </p:txBody>
      </p:sp>
      <p:sp>
        <p:nvSpPr>
          <p:cNvPr id="25603" name="Text Box 3">
            <a:extLst>
              <a:ext uri="{FF2B5EF4-FFF2-40B4-BE49-F238E27FC236}">
                <a16:creationId xmlns:a16="http://schemas.microsoft.com/office/drawing/2014/main" id="{C2ED4C62-EC83-4DBE-B87C-045A3B817593}"/>
              </a:ext>
            </a:extLst>
          </p:cNvPr>
          <p:cNvSpPr txBox="1">
            <a:spLocks noChangeArrowheads="1"/>
          </p:cNvSpPr>
          <p:nvPr/>
        </p:nvSpPr>
        <p:spPr bwMode="auto">
          <a:xfrm>
            <a:off x="571006" y="3599321"/>
            <a:ext cx="8841811" cy="48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sz="2465"/>
          </a:p>
        </p:txBody>
      </p:sp>
      <p:sp>
        <p:nvSpPr>
          <p:cNvPr id="25604" name="Text Box 151">
            <a:extLst>
              <a:ext uri="{FF2B5EF4-FFF2-40B4-BE49-F238E27FC236}">
                <a16:creationId xmlns:a16="http://schemas.microsoft.com/office/drawing/2014/main" id="{41607160-EE56-2B7A-DC52-D2248CA41302}"/>
              </a:ext>
            </a:extLst>
          </p:cNvPr>
          <p:cNvSpPr txBox="1">
            <a:spLocks noChangeArrowheads="1"/>
          </p:cNvSpPr>
          <p:nvPr/>
        </p:nvSpPr>
        <p:spPr bwMode="auto">
          <a:xfrm>
            <a:off x="23284" y="2503876"/>
            <a:ext cx="9389533" cy="48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sz="2465"/>
          </a:p>
        </p:txBody>
      </p:sp>
      <p:sp>
        <p:nvSpPr>
          <p:cNvPr id="25605" name="Rectangle 154">
            <a:extLst>
              <a:ext uri="{FF2B5EF4-FFF2-40B4-BE49-F238E27FC236}">
                <a16:creationId xmlns:a16="http://schemas.microsoft.com/office/drawing/2014/main" id="{693DC332-8C21-40C0-4215-7338430D5927}"/>
              </a:ext>
            </a:extLst>
          </p:cNvPr>
          <p:cNvSpPr>
            <a:spLocks noChangeArrowheads="1"/>
          </p:cNvSpPr>
          <p:nvPr/>
        </p:nvSpPr>
        <p:spPr bwMode="auto">
          <a:xfrm>
            <a:off x="243351" y="2855983"/>
            <a:ext cx="9169466" cy="2719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1352550" algn="l"/>
                <a:tab pos="2705100" algn="l"/>
                <a:tab pos="4057650" algn="l"/>
                <a:tab pos="5411788"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1352550" algn="l"/>
                <a:tab pos="2705100" algn="l"/>
                <a:tab pos="4057650" algn="l"/>
                <a:tab pos="5411788"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1352550" algn="l"/>
                <a:tab pos="2705100" algn="l"/>
                <a:tab pos="4057650" algn="l"/>
                <a:tab pos="5411788"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1352550" algn="l"/>
                <a:tab pos="2705100" algn="l"/>
                <a:tab pos="4057650" algn="l"/>
                <a:tab pos="5411788"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1352550" algn="l"/>
                <a:tab pos="2705100" algn="l"/>
                <a:tab pos="4057650" algn="l"/>
                <a:tab pos="5411788"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1352550" algn="l"/>
                <a:tab pos="2705100" algn="l"/>
                <a:tab pos="4057650" algn="l"/>
                <a:tab pos="5411788"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1352550" algn="l"/>
                <a:tab pos="2705100" algn="l"/>
                <a:tab pos="4057650" algn="l"/>
                <a:tab pos="5411788"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1352550" algn="l"/>
                <a:tab pos="2705100" algn="l"/>
                <a:tab pos="4057650" algn="l"/>
                <a:tab pos="5411788"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1352550" algn="l"/>
                <a:tab pos="2705100" algn="l"/>
                <a:tab pos="4057650" algn="l"/>
                <a:tab pos="5411788" algn="l"/>
              </a:tabLs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54" b="1">
                <a:latin typeface="宋体" panose="02010600030101010101" pitchFamily="2" charset="-122"/>
              </a:rPr>
              <a:t>年龄   存活率（</a:t>
            </a:r>
            <a:r>
              <a:rPr lang="en-US" altLang="zh-CN" sz="2054" b="1">
                <a:latin typeface="宋体" panose="02010600030101010101" pitchFamily="2" charset="-122"/>
              </a:rPr>
              <a:t>l</a:t>
            </a:r>
            <a:r>
              <a:rPr lang="en-US" altLang="zh-CN" sz="2054" b="1" baseline="-30000">
                <a:latin typeface="宋体" panose="02010600030101010101" pitchFamily="2" charset="-122"/>
              </a:rPr>
              <a:t>x</a:t>
            </a:r>
            <a:r>
              <a:rPr lang="zh-CN" altLang="en-US" sz="2054" b="1">
                <a:latin typeface="宋体" panose="02010600030101010101" pitchFamily="2" charset="-122"/>
              </a:rPr>
              <a:t>） 生育力（</a:t>
            </a:r>
            <a:r>
              <a:rPr lang="en-US" altLang="zh-CN" sz="2054" b="1">
                <a:latin typeface="宋体" panose="02010600030101010101" pitchFamily="2" charset="-122"/>
              </a:rPr>
              <a:t>5</a:t>
            </a:r>
            <a:r>
              <a:rPr lang="zh-CN" altLang="en-US" sz="2054" b="1">
                <a:latin typeface="宋体" panose="02010600030101010101" pitchFamily="2" charset="-122"/>
              </a:rPr>
              <a:t>年</a:t>
            </a:r>
            <a:r>
              <a:rPr lang="en-US" altLang="zh-CN" sz="2054" b="1">
                <a:latin typeface="宋体" panose="02010600030101010101" pitchFamily="2" charset="-122"/>
              </a:rPr>
              <a:t>×</a:t>
            </a:r>
            <a:r>
              <a:rPr lang="zh-CN" altLang="en-US" sz="2054" b="1">
                <a:latin typeface="宋体" panose="02010600030101010101" pitchFamily="2" charset="-122"/>
              </a:rPr>
              <a:t>每人产后代数 </a:t>
            </a:r>
            <a:r>
              <a:rPr lang="en-US" altLang="zh-CN" sz="2054" b="1">
                <a:latin typeface="宋体" panose="02010600030101010101" pitchFamily="2" charset="-122"/>
              </a:rPr>
              <a:t>m</a:t>
            </a:r>
            <a:r>
              <a:rPr lang="en-US" altLang="zh-CN" sz="2054" b="1" baseline="-30000">
                <a:latin typeface="宋体" panose="02010600030101010101" pitchFamily="2" charset="-122"/>
              </a:rPr>
              <a:t>x</a:t>
            </a:r>
            <a:r>
              <a:rPr lang="zh-CN" altLang="en-US" sz="2054" b="1">
                <a:latin typeface="宋体" panose="02010600030101010101" pitchFamily="2" charset="-122"/>
              </a:rPr>
              <a:t>）      </a:t>
            </a:r>
            <a:r>
              <a:rPr lang="en-US" altLang="zh-CN" sz="2054" b="1">
                <a:latin typeface="宋体" panose="02010600030101010101" pitchFamily="2" charset="-122"/>
              </a:rPr>
              <a:t>l</a:t>
            </a:r>
            <a:r>
              <a:rPr lang="en-US" altLang="zh-CN" sz="2054" b="1" baseline="-30000">
                <a:latin typeface="宋体" panose="02010600030101010101" pitchFamily="2" charset="-122"/>
              </a:rPr>
              <a:t>x</a:t>
            </a:r>
            <a:r>
              <a:rPr lang="en-US" altLang="zh-CN" sz="2054" b="1">
                <a:latin typeface="宋体" panose="02010600030101010101" pitchFamily="2" charset="-122"/>
              </a:rPr>
              <a:t>× m</a:t>
            </a:r>
            <a:r>
              <a:rPr lang="en-US" altLang="zh-CN" sz="2054" b="1" baseline="-30000">
                <a:latin typeface="宋体" panose="02010600030101010101" pitchFamily="2" charset="-122"/>
              </a:rPr>
              <a:t>x</a:t>
            </a:r>
            <a:endParaRPr lang="en-US" altLang="zh-CN" sz="2054" b="1">
              <a:latin typeface="宋体" panose="02010600030101010101" pitchFamily="2" charset="-122"/>
            </a:endParaRPr>
          </a:p>
          <a:p>
            <a:pPr algn="just"/>
            <a:r>
              <a:rPr lang="en-US" altLang="zh-CN" sz="2054" b="1">
                <a:latin typeface="宋体" panose="02010600030101010101" pitchFamily="2" charset="-122"/>
              </a:rPr>
              <a:t>0-9	0.9932	        	 0                         0</a:t>
            </a:r>
          </a:p>
          <a:p>
            <a:pPr algn="just"/>
            <a:r>
              <a:rPr lang="en-US" altLang="zh-CN" sz="2054" b="1">
                <a:latin typeface="宋体" panose="02010600030101010101" pitchFamily="2" charset="-122"/>
              </a:rPr>
              <a:t>10-14	0.9921	     	 0.003				0.0030</a:t>
            </a:r>
          </a:p>
          <a:p>
            <a:pPr algn="just"/>
            <a:r>
              <a:rPr lang="en-US" altLang="zh-CN" sz="2054" b="1">
                <a:latin typeface="宋体" panose="02010600030101010101" pitchFamily="2" charset="-122"/>
              </a:rPr>
              <a:t>15-19	0.9905	     	0.137				0.1357</a:t>
            </a:r>
          </a:p>
          <a:p>
            <a:pPr algn="just"/>
            <a:r>
              <a:rPr lang="en-US" altLang="zh-CN" sz="2054" b="1">
                <a:latin typeface="宋体" panose="02010600030101010101" pitchFamily="2" charset="-122"/>
              </a:rPr>
              <a:t>20-24	0.9883	     	0.278				0.2747</a:t>
            </a:r>
          </a:p>
          <a:p>
            <a:pPr algn="just"/>
            <a:r>
              <a:rPr lang="en-US" altLang="zh-CN" sz="2054" b="1">
                <a:latin typeface="宋体" panose="02010600030101010101" pitchFamily="2" charset="-122"/>
              </a:rPr>
              <a:t>25-29	0.9860	     	0.285				0.281</a:t>
            </a:r>
          </a:p>
          <a:p>
            <a:pPr algn="just"/>
            <a:r>
              <a:rPr lang="en-US" altLang="zh-CN" sz="2054" b="1">
                <a:latin typeface="宋体" panose="02010600030101010101" pitchFamily="2" charset="-122"/>
              </a:rPr>
              <a:t>30-34	0.9829	   	0.211				0.2074</a:t>
            </a:r>
          </a:p>
          <a:p>
            <a:pPr algn="just"/>
            <a:r>
              <a:rPr lang="en-US" altLang="zh-CN" sz="2054" b="1">
                <a:latin typeface="宋体" panose="02010600030101010101" pitchFamily="2" charset="-122"/>
              </a:rPr>
              <a:t>35-39      0.9785	   	0.089		 		0.0871</a:t>
            </a:r>
          </a:p>
          <a:p>
            <a:pPr algn="just"/>
            <a:r>
              <a:rPr lang="en-US" altLang="zh-CN" sz="2054" b="1">
                <a:latin typeface="宋体" panose="02010600030101010101" pitchFamily="2" charset="-122"/>
              </a:rPr>
              <a:t>40-44	0.9725               0.017		              0.0165  </a:t>
            </a:r>
          </a:p>
          <a:p>
            <a:pPr algn="just"/>
            <a:r>
              <a:rPr lang="en-US" altLang="zh-CN" sz="2054" b="1">
                <a:latin typeface="宋体" panose="02010600030101010101" pitchFamily="2" charset="-122"/>
              </a:rPr>
              <a:t>45-49	0.9636	  	0.0007		              0.0007</a:t>
            </a:r>
          </a:p>
          <a:p>
            <a:pPr algn="just"/>
            <a:r>
              <a:rPr lang="en-US" altLang="zh-CN" sz="2054" b="1">
                <a:latin typeface="宋体" panose="02010600030101010101" pitchFamily="2" charset="-122"/>
              </a:rPr>
              <a:t>50+	-                       0		                0</a:t>
            </a:r>
          </a:p>
          <a:p>
            <a:pPr algn="just"/>
            <a:r>
              <a:rPr lang="en-US" altLang="zh-CN" sz="2054" b="1">
                <a:latin typeface="宋体" panose="02010600030101010101" pitchFamily="2" charset="-122"/>
              </a:rPr>
              <a:t>							R</a:t>
            </a:r>
            <a:r>
              <a:rPr lang="en-US" altLang="zh-CN" sz="2054" b="1" baseline="-30000">
                <a:latin typeface="宋体" panose="02010600030101010101" pitchFamily="2" charset="-122"/>
              </a:rPr>
              <a:t>0</a:t>
            </a:r>
            <a:r>
              <a:rPr lang="en-US" altLang="zh-CN" sz="2054" b="1">
                <a:latin typeface="宋体" panose="02010600030101010101" pitchFamily="2" charset="-122"/>
              </a:rPr>
              <a:t> = ?</a:t>
            </a:r>
          </a:p>
          <a:p>
            <a:pPr algn="just"/>
            <a:endParaRPr lang="en-US" altLang="zh-CN" sz="2054" b="1">
              <a:latin typeface="宋体" panose="02010600030101010101" pitchFamily="2" charset="-122"/>
            </a:endParaRPr>
          </a:p>
        </p:txBody>
      </p:sp>
      <p:sp>
        <p:nvSpPr>
          <p:cNvPr id="25606" name="Rectangle 155">
            <a:extLst>
              <a:ext uri="{FF2B5EF4-FFF2-40B4-BE49-F238E27FC236}">
                <a16:creationId xmlns:a16="http://schemas.microsoft.com/office/drawing/2014/main" id="{3F352285-CE97-1CD3-AA8A-17C94946D2B7}"/>
              </a:ext>
            </a:extLst>
          </p:cNvPr>
          <p:cNvSpPr>
            <a:spLocks noChangeArrowheads="1"/>
          </p:cNvSpPr>
          <p:nvPr/>
        </p:nvSpPr>
        <p:spPr bwMode="auto">
          <a:xfrm>
            <a:off x="23284" y="4145414"/>
            <a:ext cx="9389533" cy="873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br>
              <a:rPr lang="en-US" altLang="zh-CN" sz="1438"/>
            </a:br>
            <a:endParaRPr lang="en-US" altLang="zh-CN" sz="1027"/>
          </a:p>
          <a:p>
            <a:endParaRPr lang="en-US" altLang="zh-CN" sz="2465"/>
          </a:p>
        </p:txBody>
      </p:sp>
      <p:sp>
        <p:nvSpPr>
          <p:cNvPr id="25607" name="Line 157">
            <a:extLst>
              <a:ext uri="{FF2B5EF4-FFF2-40B4-BE49-F238E27FC236}">
                <a16:creationId xmlns:a16="http://schemas.microsoft.com/office/drawing/2014/main" id="{F43A46D3-2B71-1F18-1223-9E0C1350AC2B}"/>
              </a:ext>
            </a:extLst>
          </p:cNvPr>
          <p:cNvSpPr>
            <a:spLocks noChangeShapeType="1"/>
          </p:cNvSpPr>
          <p:nvPr/>
        </p:nvSpPr>
        <p:spPr bwMode="auto">
          <a:xfrm>
            <a:off x="23283" y="2640806"/>
            <a:ext cx="90765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8" name="Line 158">
            <a:extLst>
              <a:ext uri="{FF2B5EF4-FFF2-40B4-BE49-F238E27FC236}">
                <a16:creationId xmlns:a16="http://schemas.microsoft.com/office/drawing/2014/main" id="{7D7B758D-2B85-273B-CC41-606553A47BBB}"/>
              </a:ext>
            </a:extLst>
          </p:cNvPr>
          <p:cNvSpPr>
            <a:spLocks noChangeShapeType="1"/>
          </p:cNvSpPr>
          <p:nvPr/>
        </p:nvSpPr>
        <p:spPr bwMode="auto">
          <a:xfrm>
            <a:off x="23284" y="6331414"/>
            <a:ext cx="938953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9" name="Line 160">
            <a:hlinkClick r:id="rId2" action="ppaction://hlinksldjump"/>
            <a:extLst>
              <a:ext uri="{FF2B5EF4-FFF2-40B4-BE49-F238E27FC236}">
                <a16:creationId xmlns:a16="http://schemas.microsoft.com/office/drawing/2014/main" id="{4980A233-6B62-CAEB-4ACD-9A866D90C6C8}"/>
              </a:ext>
            </a:extLst>
          </p:cNvPr>
          <p:cNvSpPr>
            <a:spLocks noChangeShapeType="1"/>
          </p:cNvSpPr>
          <p:nvPr/>
        </p:nvSpPr>
        <p:spPr bwMode="auto">
          <a:xfrm>
            <a:off x="8415179" y="6848165"/>
            <a:ext cx="5917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3">
            <a:extLst>
              <a:ext uri="{FF2B5EF4-FFF2-40B4-BE49-F238E27FC236}">
                <a16:creationId xmlns:a16="http://schemas.microsoft.com/office/drawing/2014/main" id="{80812D37-3941-BD0C-C376-61114FA81DE6}"/>
              </a:ext>
            </a:extLst>
          </p:cNvPr>
          <p:cNvSpPr txBox="1">
            <a:spLocks noChangeArrowheads="1"/>
          </p:cNvSpPr>
          <p:nvPr/>
        </p:nvSpPr>
        <p:spPr bwMode="auto">
          <a:xfrm>
            <a:off x="683486" y="3667786"/>
            <a:ext cx="8059349" cy="304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sz="2875" b="1"/>
              <a:t>(4) K-</a:t>
            </a:r>
            <a:r>
              <a:rPr lang="zh-CN" altLang="en-US" sz="2875" b="1"/>
              <a:t>因子分析：   根据观察连续几年的生命表系列，我们就能看出在哪一时期，死亡率对种群大小的影响最大。这样我们就可以看出哪一个关键因子（</a:t>
            </a:r>
            <a:r>
              <a:rPr lang="en-US" altLang="zh-CN" sz="2875" b="1"/>
              <a:t>key factors</a:t>
            </a:r>
            <a:r>
              <a:rPr lang="zh-CN" altLang="en-US" sz="2875" b="1"/>
              <a:t>）对 </a:t>
            </a:r>
            <a:r>
              <a:rPr lang="en-US" altLang="zh-CN" sz="2875" b="1"/>
              <a:t>k</a:t>
            </a:r>
            <a:r>
              <a:rPr lang="en-US" altLang="zh-CN" sz="2875" b="1" baseline="-30000"/>
              <a:t>total</a:t>
            </a:r>
            <a:r>
              <a:rPr lang="zh-CN" altLang="en-US" sz="2875" b="1"/>
              <a:t>的影响最大，这一技术称为</a:t>
            </a:r>
            <a:r>
              <a:rPr lang="en-US" altLang="zh-CN" sz="2875" b="1"/>
              <a:t>k-</a:t>
            </a:r>
            <a:r>
              <a:rPr lang="zh-CN" altLang="en-US" sz="2875" b="1"/>
              <a:t>因子分析（</a:t>
            </a:r>
            <a:r>
              <a:rPr lang="en-US" altLang="zh-CN" sz="2875" b="1"/>
              <a:t>K-factor analysis</a:t>
            </a:r>
            <a:r>
              <a:rPr lang="zh-CN" altLang="en-US" sz="2875" b="1"/>
              <a:t>）。</a:t>
            </a:r>
          </a:p>
          <a:p>
            <a:pPr eaLnBrk="1" hangingPunct="1">
              <a:spcBef>
                <a:spcPct val="50000"/>
              </a:spcBef>
            </a:pPr>
            <a:endParaRPr lang="en-US" altLang="zh-CN" sz="2875" b="1"/>
          </a:p>
        </p:txBody>
      </p:sp>
      <p:sp>
        <p:nvSpPr>
          <p:cNvPr id="26627" name="Text Box 4">
            <a:extLst>
              <a:ext uri="{FF2B5EF4-FFF2-40B4-BE49-F238E27FC236}">
                <a16:creationId xmlns:a16="http://schemas.microsoft.com/office/drawing/2014/main" id="{40B03A20-35C3-5A1F-A99E-193736E2DE5D}"/>
              </a:ext>
            </a:extLst>
          </p:cNvPr>
          <p:cNvSpPr txBox="1">
            <a:spLocks noChangeArrowheads="1"/>
          </p:cNvSpPr>
          <p:nvPr/>
        </p:nvSpPr>
        <p:spPr bwMode="auto">
          <a:xfrm>
            <a:off x="492760" y="625969"/>
            <a:ext cx="8294088" cy="48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sz="2465"/>
          </a:p>
        </p:txBody>
      </p:sp>
      <p:sp>
        <p:nvSpPr>
          <p:cNvPr id="26628" name="Text Box 5">
            <a:extLst>
              <a:ext uri="{FF2B5EF4-FFF2-40B4-BE49-F238E27FC236}">
                <a16:creationId xmlns:a16="http://schemas.microsoft.com/office/drawing/2014/main" id="{4B106CFA-930D-6688-C6DD-AC4A9689BA75}"/>
              </a:ext>
            </a:extLst>
          </p:cNvPr>
          <p:cNvSpPr txBox="1">
            <a:spLocks noChangeArrowheads="1"/>
          </p:cNvSpPr>
          <p:nvPr/>
        </p:nvSpPr>
        <p:spPr bwMode="auto">
          <a:xfrm>
            <a:off x="727498" y="704215"/>
            <a:ext cx="7668119" cy="350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75"/>
              <a:t>k</a:t>
            </a:r>
            <a:r>
              <a:rPr lang="en-US" altLang="zh-CN" sz="2875" baseline="-25000"/>
              <a:t>x</a:t>
            </a:r>
            <a:r>
              <a:rPr lang="en-US" altLang="zh-CN" sz="2875"/>
              <a:t> =</a:t>
            </a:r>
            <a:r>
              <a:rPr lang="zh-CN" altLang="en-US" sz="2875"/>
              <a:t>（</a:t>
            </a:r>
            <a:r>
              <a:rPr lang="en-US" altLang="zh-CN" sz="2875"/>
              <a:t>logn</a:t>
            </a:r>
            <a:r>
              <a:rPr lang="en-US" altLang="zh-CN" sz="2875" baseline="-25000"/>
              <a:t>x</a:t>
            </a:r>
            <a:r>
              <a:rPr lang="en-US" altLang="zh-CN" sz="2875"/>
              <a:t>-logn</a:t>
            </a:r>
            <a:r>
              <a:rPr lang="en-US" altLang="zh-CN" sz="2875" baseline="-25000"/>
              <a:t>x+1</a:t>
            </a:r>
            <a:r>
              <a:rPr lang="en-US" altLang="zh-CN" sz="2875"/>
              <a:t>) , </a:t>
            </a:r>
            <a:r>
              <a:rPr lang="zh-CN" altLang="en-US" sz="2875"/>
              <a:t>一个时期存活数的对数减去下一时期存活数的对数。</a:t>
            </a:r>
          </a:p>
          <a:p>
            <a:pPr eaLnBrk="1" hangingPunct="1">
              <a:spcBef>
                <a:spcPct val="50000"/>
              </a:spcBef>
            </a:pPr>
            <a:r>
              <a:rPr lang="zh-CN" altLang="en-US" sz="2875"/>
              <a:t>致死力：一个生活史时期的</a:t>
            </a:r>
            <a:r>
              <a:rPr lang="en-US" altLang="zh-CN" sz="2875"/>
              <a:t>k</a:t>
            </a:r>
            <a:r>
              <a:rPr lang="zh-CN" altLang="en-US" sz="2875"/>
              <a:t>值（如卵期、幼虫期）。</a:t>
            </a:r>
          </a:p>
          <a:p>
            <a:pPr eaLnBrk="1" hangingPunct="1">
              <a:spcBef>
                <a:spcPct val="50000"/>
              </a:spcBef>
            </a:pPr>
            <a:r>
              <a:rPr lang="zh-CN" altLang="en-US" sz="2875"/>
              <a:t>总死亡率效应：整个生命周期致死力之和。</a:t>
            </a:r>
          </a:p>
          <a:p>
            <a:pPr eaLnBrk="1" hangingPunct="1">
              <a:spcBef>
                <a:spcPct val="50000"/>
              </a:spcBef>
            </a:pPr>
            <a:endParaRPr lang="en-US" altLang="zh-CN" sz="2875"/>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k因子 副本">
            <a:extLst>
              <a:ext uri="{FF2B5EF4-FFF2-40B4-BE49-F238E27FC236}">
                <a16:creationId xmlns:a16="http://schemas.microsoft.com/office/drawing/2014/main" id="{70F0EAA9-EDF1-877F-F45E-B9BF5D8C03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706" y="1"/>
            <a:ext cx="7981103" cy="6445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Text Box 3">
            <a:extLst>
              <a:ext uri="{FF2B5EF4-FFF2-40B4-BE49-F238E27FC236}">
                <a16:creationId xmlns:a16="http://schemas.microsoft.com/office/drawing/2014/main" id="{0BB76F48-FE29-E552-FE4B-EF50116D34A6}"/>
              </a:ext>
            </a:extLst>
          </p:cNvPr>
          <p:cNvSpPr txBox="1">
            <a:spLocks noChangeArrowheads="1"/>
          </p:cNvSpPr>
          <p:nvPr/>
        </p:nvSpPr>
        <p:spPr bwMode="auto">
          <a:xfrm>
            <a:off x="649252" y="5946705"/>
            <a:ext cx="7824611" cy="48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65"/>
              <a:t>图</a:t>
            </a:r>
            <a:r>
              <a:rPr lang="en-US" altLang="zh-CN" sz="2465"/>
              <a:t>4-4  </a:t>
            </a:r>
            <a:r>
              <a:rPr lang="zh-CN" altLang="en-US" sz="2465"/>
              <a:t>鲑鱼生活周期的</a:t>
            </a:r>
            <a:r>
              <a:rPr lang="en-US" altLang="zh-CN" sz="2465"/>
              <a:t>k-</a:t>
            </a:r>
            <a:r>
              <a:rPr lang="zh-CN" altLang="en-US" sz="2465"/>
              <a:t>值（防</a:t>
            </a:r>
            <a:r>
              <a:rPr lang="en-US" altLang="zh-CN" sz="2465"/>
              <a:t>Mackenzie</a:t>
            </a:r>
            <a:r>
              <a:rPr lang="zh-CN" altLang="en-US" sz="2465"/>
              <a:t>等，</a:t>
            </a:r>
            <a:r>
              <a:rPr lang="en-US" altLang="zh-CN" sz="2465"/>
              <a:t>1998</a:t>
            </a:r>
            <a:r>
              <a:rPr lang="zh-CN" altLang="en-US" sz="2465"/>
              <a:t>） </a:t>
            </a:r>
          </a:p>
        </p:txBody>
      </p:sp>
      <p:sp>
        <p:nvSpPr>
          <p:cNvPr id="27652" name="Line 4">
            <a:hlinkClick r:id="rId3" action="ppaction://hlinksldjump"/>
            <a:extLst>
              <a:ext uri="{FF2B5EF4-FFF2-40B4-BE49-F238E27FC236}">
                <a16:creationId xmlns:a16="http://schemas.microsoft.com/office/drawing/2014/main" id="{D33DE7A6-125F-B0C2-BD13-F25C08DA0DEE}"/>
              </a:ext>
            </a:extLst>
          </p:cNvPr>
          <p:cNvSpPr>
            <a:spLocks noChangeShapeType="1"/>
          </p:cNvSpPr>
          <p:nvPr/>
        </p:nvSpPr>
        <p:spPr bwMode="auto">
          <a:xfrm>
            <a:off x="7675101" y="489038"/>
            <a:ext cx="66672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5" name="Rectangle 3">
            <a:extLst>
              <a:ext uri="{FF2B5EF4-FFF2-40B4-BE49-F238E27FC236}">
                <a16:creationId xmlns:a16="http://schemas.microsoft.com/office/drawing/2014/main" id="{01029D5A-8C35-1D8D-928F-EB28C31B4325}"/>
              </a:ext>
            </a:extLst>
          </p:cNvPr>
          <p:cNvSpPr>
            <a:spLocks noGrp="1"/>
          </p:cNvSpPr>
          <p:nvPr>
            <p:ph type="body" idx="1"/>
          </p:nvPr>
        </p:nvSpPr>
        <p:spPr>
          <a:xfrm>
            <a:off x="355830" y="119000"/>
            <a:ext cx="8799427" cy="2758447"/>
          </a:xfrm>
        </p:spPr>
        <p:txBody>
          <a:bodyPr/>
          <a:lstStyle/>
          <a:p>
            <a:r>
              <a:rPr lang="en-US" altLang="zh-CN" sz="2465" b="1" dirty="0">
                <a:latin typeface="黑体" panose="02010609060101010101" pitchFamily="49" charset="-122"/>
                <a:ea typeface="宋体" panose="02010600030101010101" pitchFamily="2" charset="-122"/>
              </a:rPr>
              <a:t>30.</a:t>
            </a:r>
            <a:r>
              <a:rPr lang="zh-CN" altLang="en-US" sz="2465" b="1" dirty="0">
                <a:latin typeface="黑体" panose="02010609060101010101" pitchFamily="49" charset="-122"/>
                <a:ea typeface="宋体" panose="02010600030101010101" pitchFamily="2" charset="-122"/>
              </a:rPr>
              <a:t>下图是某种植物的关键因子分析曲线图，Ｋ表示世代总死亡，</a:t>
            </a:r>
            <a:r>
              <a:rPr lang="en-US" altLang="zh-CN" sz="2465" b="1" dirty="0">
                <a:latin typeface="黑体" panose="02010609060101010101" pitchFamily="49" charset="-122"/>
                <a:ea typeface="宋体" panose="02010600030101010101" pitchFamily="2" charset="-122"/>
              </a:rPr>
              <a:t>k</a:t>
            </a:r>
            <a:r>
              <a:rPr lang="zh-CN" altLang="en-US" sz="2465" b="1" dirty="0">
                <a:latin typeface="黑体" panose="02010609060101010101" pitchFamily="49" charset="-122"/>
                <a:ea typeface="宋体" panose="02010600030101010101" pitchFamily="2" charset="-122"/>
              </a:rPr>
              <a:t>值乃前后两个阶段存活数对数之差，从图中可以看出，关键因子是： </a:t>
            </a:r>
            <a:endParaRPr lang="en-US" altLang="zh-CN" sz="2465" b="1" dirty="0">
              <a:latin typeface="黑体" panose="02010609060101010101" pitchFamily="49" charset="-122"/>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A.</a:t>
            </a:r>
            <a:r>
              <a:rPr lang="zh-CN" altLang="en-US" sz="2800" b="1" dirty="0">
                <a:latin typeface="Times New Roman" panose="02020603050405020304" pitchFamily="18" charset="0"/>
                <a:ea typeface="宋体" panose="02010600030101010101" pitchFamily="2" charset="-122"/>
              </a:rPr>
              <a:t>开花期死亡；</a:t>
            </a:r>
            <a:r>
              <a:rPr lang="en-US" altLang="zh-CN" sz="2800" b="1" dirty="0">
                <a:latin typeface="Times New Roman" panose="02020603050405020304" pitchFamily="18" charset="0"/>
                <a:ea typeface="宋体" panose="02010600030101010101" pitchFamily="2" charset="-122"/>
              </a:rPr>
              <a:t>	B.</a:t>
            </a:r>
            <a:r>
              <a:rPr lang="zh-CN" altLang="en-US" sz="2800" b="1" dirty="0">
                <a:latin typeface="Times New Roman" panose="02020603050405020304" pitchFamily="18" charset="0"/>
                <a:ea typeface="宋体" panose="02010600030101010101" pitchFamily="2" charset="-122"/>
              </a:rPr>
              <a:t>未发芽种子；</a:t>
            </a:r>
            <a:endParaRPr lang="en-US" altLang="zh-CN" sz="2800" b="1" dirty="0">
              <a:latin typeface="Times New Roman" panose="02020603050405020304" pitchFamily="18" charset="0"/>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C.</a:t>
            </a:r>
            <a:r>
              <a:rPr lang="zh-CN" altLang="en-US" sz="2800" b="1" dirty="0">
                <a:latin typeface="Times New Roman" panose="02020603050405020304" pitchFamily="18" charset="0"/>
                <a:ea typeface="宋体" panose="02010600030101010101" pitchFamily="2" charset="-122"/>
              </a:rPr>
              <a:t>幼苗死亡；</a:t>
            </a:r>
            <a:r>
              <a:rPr lang="en-US" altLang="zh-CN" sz="2800" b="1" dirty="0">
                <a:latin typeface="Times New Roman" panose="02020603050405020304" pitchFamily="18" charset="0"/>
                <a:ea typeface="宋体" panose="02010600030101010101" pitchFamily="2" charset="-122"/>
              </a:rPr>
              <a:t>	D.</a:t>
            </a:r>
            <a:r>
              <a:rPr lang="zh-CN" altLang="en-US" sz="2800" b="1" dirty="0">
                <a:latin typeface="Times New Roman" panose="02020603050405020304" pitchFamily="18" charset="0"/>
                <a:ea typeface="宋体" panose="02010600030101010101" pitchFamily="2" charset="-122"/>
              </a:rPr>
              <a:t>未形成种子。</a:t>
            </a:r>
          </a:p>
          <a:p>
            <a:r>
              <a:rPr lang="zh-CN" altLang="en-US" sz="2465" b="1" dirty="0">
                <a:latin typeface="黑体" panose="02010609060101010101" pitchFamily="49" charset="-122"/>
                <a:ea typeface="宋体" panose="02010600030101010101" pitchFamily="2" charset="-122"/>
              </a:rPr>
              <a:t> </a:t>
            </a:r>
          </a:p>
          <a:p>
            <a:endParaRPr lang="zh-CN" altLang="en-US" sz="2465" b="1" dirty="0">
              <a:latin typeface="黑体" panose="02010609060101010101" pitchFamily="49" charset="-122"/>
              <a:ea typeface="宋体" panose="02010600030101010101" pitchFamily="2" charset="-122"/>
            </a:endParaRPr>
          </a:p>
        </p:txBody>
      </p:sp>
      <p:pic>
        <p:nvPicPr>
          <p:cNvPr id="463876" name="Picture 4">
            <a:extLst>
              <a:ext uri="{FF2B5EF4-FFF2-40B4-BE49-F238E27FC236}">
                <a16:creationId xmlns:a16="http://schemas.microsoft.com/office/drawing/2014/main" id="{E5C6D0F6-AFB4-D20C-1BB6-88C8D469DD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1183" y="2062110"/>
            <a:ext cx="4712699" cy="486104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5860C01F-D995-4D36-DE9A-A6659A82F4E0}"/>
              </a:ext>
            </a:extLst>
          </p:cNvPr>
          <p:cNvSpPr txBox="1"/>
          <p:nvPr/>
        </p:nvSpPr>
        <p:spPr>
          <a:xfrm>
            <a:off x="1136650" y="78805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B</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510473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87B7234B-AAA2-52CF-B45D-4AC81D984997}"/>
              </a:ext>
            </a:extLst>
          </p:cNvPr>
          <p:cNvSpPr txBox="1">
            <a:spLocks noChangeArrowheads="1"/>
          </p:cNvSpPr>
          <p:nvPr/>
        </p:nvSpPr>
        <p:spPr bwMode="auto">
          <a:xfrm>
            <a:off x="336268" y="312985"/>
            <a:ext cx="8294088" cy="2593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sz="2465" b="1"/>
              <a:t>(5) </a:t>
            </a:r>
            <a:r>
              <a:rPr lang="zh-CN" altLang="en-US" sz="2875" b="1"/>
              <a:t>存活曲线  </a:t>
            </a:r>
            <a:r>
              <a:rPr lang="zh-CN" altLang="en-US" sz="2875"/>
              <a:t>存活率数据通常表示为</a:t>
            </a:r>
            <a:r>
              <a:rPr lang="zh-CN" altLang="en-US" sz="2875" b="1"/>
              <a:t>存活曲线</a:t>
            </a:r>
            <a:r>
              <a:rPr lang="zh-CN" altLang="en-US" sz="2875"/>
              <a:t>（</a:t>
            </a:r>
            <a:r>
              <a:rPr lang="en-US" altLang="zh-CN" sz="2875"/>
              <a:t>survivorship curve</a:t>
            </a:r>
            <a:r>
              <a:rPr lang="zh-CN" altLang="en-US" sz="2875"/>
              <a:t>）。以</a:t>
            </a:r>
            <a:r>
              <a:rPr lang="en-US" altLang="zh-CN" sz="2875"/>
              <a:t>lgn</a:t>
            </a:r>
            <a:r>
              <a:rPr lang="en-US" altLang="zh-CN" sz="2875" baseline="-30000"/>
              <a:t>x</a:t>
            </a:r>
            <a:r>
              <a:rPr lang="zh-CN" altLang="en-US" sz="2875"/>
              <a:t>栏对</a:t>
            </a:r>
            <a:r>
              <a:rPr lang="en-US" altLang="zh-CN" sz="2875"/>
              <a:t>x</a:t>
            </a:r>
            <a:r>
              <a:rPr lang="zh-CN" altLang="en-US" sz="2875"/>
              <a:t>栏作图即可得存活曲线。一般可将存活曲线分为如下三种基本类型：</a:t>
            </a:r>
          </a:p>
          <a:p>
            <a:pPr eaLnBrk="1" hangingPunct="1">
              <a:spcBef>
                <a:spcPct val="50000"/>
              </a:spcBef>
            </a:pPr>
            <a:r>
              <a:rPr lang="zh-CN" altLang="en-US" sz="2875">
                <a:latin typeface="Arial" panose="020B0604020202020204" pitchFamily="34" charset="0"/>
                <a:cs typeface="Arial" panose="020B0604020202020204" pitchFamily="34" charset="0"/>
                <a:hlinkClick r:id="rId2"/>
              </a:rPr>
              <a:t> </a:t>
            </a:r>
            <a:endParaRPr lang="zh-CN" altLang="en-US" sz="2875">
              <a:latin typeface="Arial" panose="020B0604020202020204" pitchFamily="34" charset="0"/>
              <a:cs typeface="Arial" panose="020B0604020202020204" pitchFamily="34" charset="0"/>
            </a:endParaRPr>
          </a:p>
        </p:txBody>
      </p:sp>
      <p:sp>
        <p:nvSpPr>
          <p:cNvPr id="28675" name="Text Box 3">
            <a:extLst>
              <a:ext uri="{FF2B5EF4-FFF2-40B4-BE49-F238E27FC236}">
                <a16:creationId xmlns:a16="http://schemas.microsoft.com/office/drawing/2014/main" id="{0AD88A27-7743-0504-0AC8-DD6BEC87DAE3}"/>
              </a:ext>
            </a:extLst>
          </p:cNvPr>
          <p:cNvSpPr txBox="1">
            <a:spLocks noChangeArrowheads="1"/>
          </p:cNvSpPr>
          <p:nvPr/>
        </p:nvSpPr>
        <p:spPr bwMode="auto">
          <a:xfrm>
            <a:off x="336268" y="3129845"/>
            <a:ext cx="8607072" cy="48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sz="2465"/>
          </a:p>
        </p:txBody>
      </p:sp>
      <p:pic>
        <p:nvPicPr>
          <p:cNvPr id="28676" name="Picture 4" descr="13 副本">
            <a:extLst>
              <a:ext uri="{FF2B5EF4-FFF2-40B4-BE49-F238E27FC236}">
                <a16:creationId xmlns:a16="http://schemas.microsoft.com/office/drawing/2014/main" id="{15B6DC38-3755-9417-617D-0043C2A36B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452" y="1956153"/>
            <a:ext cx="5868458" cy="4996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8" descr="u=3090703420,563344725&amp;gp=30">
            <a:hlinkClick r:id="rId2"/>
            <a:extLst>
              <a:ext uri="{FF2B5EF4-FFF2-40B4-BE49-F238E27FC236}">
                <a16:creationId xmlns:a16="http://schemas.microsoft.com/office/drawing/2014/main" id="{823B751C-4F5F-4521-B15F-D705DB7D30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3260" y="2485945"/>
            <a:ext cx="1631757" cy="1220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10" descr="u=700555918,3921926341&amp;gp=10">
            <a:hlinkClick r:id="rId5"/>
            <a:extLst>
              <a:ext uri="{FF2B5EF4-FFF2-40B4-BE49-F238E27FC236}">
                <a16:creationId xmlns:a16="http://schemas.microsoft.com/office/drawing/2014/main" id="{4206E86A-0D82-D5B7-01D1-AEA9A94E27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0327" y="2738614"/>
            <a:ext cx="1330184" cy="99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12" descr="u=3748411555,2180796855&amp;gp=32">
            <a:hlinkClick r:id="rId7"/>
            <a:extLst>
              <a:ext uri="{FF2B5EF4-FFF2-40B4-BE49-F238E27FC236}">
                <a16:creationId xmlns:a16="http://schemas.microsoft.com/office/drawing/2014/main" id="{6B97CAA5-A851-5BE4-7832-C7571339B8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09620" y="4381783"/>
            <a:ext cx="1408430" cy="935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a:extLst>
              <a:ext uri="{FF2B5EF4-FFF2-40B4-BE49-F238E27FC236}">
                <a16:creationId xmlns:a16="http://schemas.microsoft.com/office/drawing/2014/main" id="{2D52F70C-92BB-220C-69AA-779CC44DB86D}"/>
              </a:ext>
            </a:extLst>
          </p:cNvPr>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316706" y="293423"/>
            <a:ext cx="8876044" cy="6279250"/>
          </a:xfrm>
        </p:spPr>
      </p:pic>
      <p:sp>
        <p:nvSpPr>
          <p:cNvPr id="29699" name="Text Box 3">
            <a:extLst>
              <a:ext uri="{FF2B5EF4-FFF2-40B4-BE49-F238E27FC236}">
                <a16:creationId xmlns:a16="http://schemas.microsoft.com/office/drawing/2014/main" id="{3C6D3C4E-4B7E-262F-0B46-40D6FD7E0452}"/>
              </a:ext>
            </a:extLst>
          </p:cNvPr>
          <p:cNvSpPr txBox="1">
            <a:spLocks noChangeArrowheads="1"/>
          </p:cNvSpPr>
          <p:nvPr/>
        </p:nvSpPr>
        <p:spPr bwMode="auto">
          <a:xfrm>
            <a:off x="4718050" y="1721415"/>
            <a:ext cx="625969" cy="48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sz="2465"/>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a:extLst>
              <a:ext uri="{FF2B5EF4-FFF2-40B4-BE49-F238E27FC236}">
                <a16:creationId xmlns:a16="http://schemas.microsoft.com/office/drawing/2014/main" id="{2831561E-0063-4B4A-34EC-B0CDE5E69549}"/>
              </a:ext>
            </a:extLst>
          </p:cNvPr>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316707" y="220068"/>
            <a:ext cx="8729332" cy="6403140"/>
          </a:xfr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7" name="Text Box 7">
            <a:extLst>
              <a:ext uri="{FF2B5EF4-FFF2-40B4-BE49-F238E27FC236}">
                <a16:creationId xmlns:a16="http://schemas.microsoft.com/office/drawing/2014/main" id="{DB0B7589-402B-0B27-7309-45D726177BB9}"/>
              </a:ext>
            </a:extLst>
          </p:cNvPr>
          <p:cNvSpPr txBox="1">
            <a:spLocks noChangeArrowheads="1"/>
          </p:cNvSpPr>
          <p:nvPr/>
        </p:nvSpPr>
        <p:spPr bwMode="auto">
          <a:xfrm>
            <a:off x="280843" y="119000"/>
            <a:ext cx="8889085" cy="343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65" b="1" dirty="0">
                <a:latin typeface="黑体" panose="02010609060101010101" pitchFamily="49" charset="-122"/>
              </a:rPr>
              <a:t>31.</a:t>
            </a:r>
            <a:r>
              <a:rPr lang="zh-CN" altLang="en-US" sz="2465" b="1" dirty="0">
                <a:latin typeface="黑体" panose="02010609060101010101" pitchFamily="49" charset="-122"/>
              </a:rPr>
              <a:t>下图是马鹿</a:t>
            </a:r>
            <a:r>
              <a:rPr lang="en-US" altLang="zh-CN" sz="2465" b="1" dirty="0">
                <a:latin typeface="黑体" panose="02010609060101010101" pitchFamily="49" charset="-122"/>
              </a:rPr>
              <a:t>1957</a:t>
            </a:r>
            <a:r>
              <a:rPr lang="zh-CN" altLang="en-US" sz="2465" b="1" dirty="0">
                <a:latin typeface="黑体" panose="02010609060101010101" pitchFamily="49" charset="-122"/>
              </a:rPr>
              <a:t>年出生的动态存活曲线和</a:t>
            </a:r>
            <a:r>
              <a:rPr lang="en-US" altLang="zh-CN" sz="2465" b="1" dirty="0">
                <a:latin typeface="黑体" panose="02010609060101010101" pitchFamily="49" charset="-122"/>
              </a:rPr>
              <a:t>1957</a:t>
            </a:r>
            <a:r>
              <a:rPr lang="zh-CN" altLang="en-US" sz="2465" b="1" dirty="0">
                <a:latin typeface="黑体" panose="02010609060101010101" pitchFamily="49" charset="-122"/>
              </a:rPr>
              <a:t>年静态存活曲线，据此图，以下推断是合理的：</a:t>
            </a:r>
          </a:p>
          <a:p>
            <a:r>
              <a:rPr lang="en-US" altLang="zh-CN" sz="2800" b="1" dirty="0">
                <a:latin typeface="Times New Roman" panose="02020603050405020304" pitchFamily="18" charset="0"/>
                <a:ea typeface="宋体" panose="02010600030101010101" pitchFamily="2" charset="-122"/>
              </a:rPr>
              <a:t>A.1957</a:t>
            </a:r>
            <a:r>
              <a:rPr lang="zh-CN" altLang="en-US" sz="2800" b="1" dirty="0">
                <a:latin typeface="Times New Roman" panose="02020603050405020304" pitchFamily="18" charset="0"/>
                <a:ea typeface="宋体" panose="02010600030101010101" pitchFamily="2" charset="-122"/>
              </a:rPr>
              <a:t>年静态存活曲线的马鹿存活情况较</a:t>
            </a:r>
            <a:r>
              <a:rPr lang="en-US" altLang="zh-CN" sz="2800" b="1" dirty="0">
                <a:latin typeface="Times New Roman" panose="02020603050405020304" pitchFamily="18" charset="0"/>
                <a:ea typeface="宋体" panose="02010600030101010101" pitchFamily="2" charset="-122"/>
              </a:rPr>
              <a:t>1957</a:t>
            </a:r>
            <a:r>
              <a:rPr lang="zh-CN" altLang="en-US" sz="2800" b="1" dirty="0">
                <a:latin typeface="Times New Roman" panose="02020603050405020304" pitchFamily="18" charset="0"/>
                <a:ea typeface="宋体" panose="02010600030101010101" pitchFamily="2" charset="-122"/>
              </a:rPr>
              <a:t>年的动态存活曲线优越得多</a:t>
            </a:r>
            <a:r>
              <a:rPr lang="en-US" altLang="zh-CN" sz="2800" b="1" dirty="0">
                <a:latin typeface="Times New Roman" panose="02020603050405020304" pitchFamily="18" charset="0"/>
                <a:ea typeface="宋体" panose="02010600030101010101" pitchFamily="2" charset="-122"/>
              </a:rPr>
              <a:t>;</a:t>
            </a:r>
          </a:p>
          <a:p>
            <a:r>
              <a:rPr lang="en-US" altLang="zh-CN" sz="2800" b="1" dirty="0">
                <a:latin typeface="Times New Roman" panose="02020603050405020304" pitchFamily="18" charset="0"/>
                <a:ea typeface="宋体" panose="02010600030101010101" pitchFamily="2" charset="-122"/>
              </a:rPr>
              <a:t>B.1957</a:t>
            </a:r>
            <a:r>
              <a:rPr lang="zh-CN" altLang="en-US" sz="2800" b="1" dirty="0">
                <a:latin typeface="Times New Roman" panose="02020603050405020304" pitchFamily="18" charset="0"/>
                <a:ea typeface="宋体" panose="02010600030101010101" pitchFamily="2" charset="-122"/>
              </a:rPr>
              <a:t>年后允许人们到到马鹿栖息地进行溜冰运动影响了马鹿的存活率 ；</a:t>
            </a:r>
            <a:endParaRPr lang="en-US" altLang="zh-CN" sz="2800" b="1" dirty="0">
              <a:latin typeface="Times New Roman" panose="02020603050405020304" pitchFamily="18" charset="0"/>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C.</a:t>
            </a:r>
            <a:r>
              <a:rPr lang="zh-CN" altLang="en-US" sz="2800" b="1" dirty="0">
                <a:latin typeface="Times New Roman" panose="02020603050405020304" pitchFamily="18" charset="0"/>
                <a:ea typeface="宋体" panose="02010600030101010101" pitchFamily="2" charset="-122"/>
              </a:rPr>
              <a:t>两条曲线的马鹿都是同时出生的；</a:t>
            </a:r>
          </a:p>
          <a:p>
            <a:r>
              <a:rPr lang="en-US" altLang="zh-CN" sz="2800" b="1" dirty="0">
                <a:latin typeface="Times New Roman" panose="02020603050405020304" pitchFamily="18" charset="0"/>
                <a:ea typeface="宋体" panose="02010600030101010101" pitchFamily="2" charset="-122"/>
              </a:rPr>
              <a:t>D.</a:t>
            </a:r>
            <a:r>
              <a:rPr lang="zh-CN" altLang="en-US" sz="2800" b="1" dirty="0">
                <a:latin typeface="Times New Roman" panose="02020603050405020304" pitchFamily="18" charset="0"/>
                <a:ea typeface="宋体" panose="02010600030101010101" pitchFamily="2" charset="-122"/>
              </a:rPr>
              <a:t>两条曲线的马鹿都经历了相同的环境条件。</a:t>
            </a:r>
          </a:p>
        </p:txBody>
      </p:sp>
      <p:pic>
        <p:nvPicPr>
          <p:cNvPr id="204808" name="Picture 8">
            <a:extLst>
              <a:ext uri="{FF2B5EF4-FFF2-40B4-BE49-F238E27FC236}">
                <a16:creationId xmlns:a16="http://schemas.microsoft.com/office/drawing/2014/main" id="{65C93BAA-AA88-0068-D048-32481643CD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8650" y="3423278"/>
            <a:ext cx="4953956" cy="3679197"/>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69CE9414-D998-0321-0114-782BA543CFF5}"/>
              </a:ext>
            </a:extLst>
          </p:cNvPr>
          <p:cNvSpPr txBox="1"/>
          <p:nvPr/>
        </p:nvSpPr>
        <p:spPr>
          <a:xfrm>
            <a:off x="5327650" y="4730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AB</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852044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3">
            <a:extLst>
              <a:ext uri="{FF2B5EF4-FFF2-40B4-BE49-F238E27FC236}">
                <a16:creationId xmlns:a16="http://schemas.microsoft.com/office/drawing/2014/main" id="{4F3D1695-1BF4-DB90-7FF2-1EDC99AC4151}"/>
              </a:ext>
            </a:extLst>
          </p:cNvPr>
          <p:cNvSpPr>
            <a:spLocks noGrp="1"/>
          </p:cNvSpPr>
          <p:nvPr>
            <p:ph type="body" idx="1"/>
          </p:nvPr>
        </p:nvSpPr>
        <p:spPr>
          <a:xfrm>
            <a:off x="577527" y="1080775"/>
            <a:ext cx="8651086" cy="5103705"/>
          </a:xfrm>
        </p:spPr>
        <p:txBody>
          <a:bodyPr/>
          <a:lstStyle/>
          <a:p>
            <a:pPr eaLnBrk="1" hangingPunct="1">
              <a:lnSpc>
                <a:spcPct val="90000"/>
              </a:lnSpc>
            </a:pPr>
            <a:r>
              <a:rPr lang="en-US" altLang="zh-CN" sz="2875" b="1" dirty="0">
                <a:latin typeface="黑体" panose="02010609060101010101" pitchFamily="49" charset="-122"/>
                <a:ea typeface="宋体" panose="02010600030101010101" pitchFamily="2" charset="-122"/>
              </a:rPr>
              <a:t>32.</a:t>
            </a:r>
            <a:r>
              <a:rPr lang="zh-CN" altLang="en-US" sz="2875" b="1" dirty="0">
                <a:latin typeface="黑体" panose="02010609060101010101" pitchFamily="49" charset="-122"/>
                <a:ea typeface="宋体" panose="02010600030101010101" pitchFamily="2" charset="-122"/>
              </a:rPr>
              <a:t>存活曲线图是以相对年龄为横坐标，相对应的存活数作为纵坐标。下面关于存活曲线的说法中唯一正确的是：</a:t>
            </a:r>
            <a:endParaRPr lang="en-US" altLang="zh-CN" sz="2875" b="1" dirty="0">
              <a:latin typeface="黑体" panose="02010609060101010101" pitchFamily="49" charset="-122"/>
              <a:ea typeface="宋体" panose="02010600030101010101" pitchFamily="2" charset="-122"/>
            </a:endParaRPr>
          </a:p>
          <a:p>
            <a:pPr eaLnBrk="1" hangingPunct="1">
              <a:lnSpc>
                <a:spcPct val="90000"/>
              </a:lnSpc>
            </a:pPr>
            <a:r>
              <a:rPr lang="en-US" altLang="zh-CN" sz="2800" b="1" dirty="0">
                <a:latin typeface="Times New Roman" panose="02020603050405020304" pitchFamily="18" charset="0"/>
                <a:ea typeface="宋体" panose="02010600030101010101" pitchFamily="2" charset="-122"/>
              </a:rPr>
              <a:t>  A.</a:t>
            </a:r>
            <a:r>
              <a:rPr lang="zh-CN" altLang="en-US" sz="2800" b="1" dirty="0">
                <a:latin typeface="Times New Roman" panose="02020603050405020304" pitchFamily="18" charset="0"/>
                <a:ea typeface="宋体" panose="02010600030101010101" pitchFamily="2" charset="-122"/>
              </a:rPr>
              <a:t>呈直线的存活曲线，表示年龄越大的个体死</a:t>
            </a:r>
          </a:p>
          <a:p>
            <a:pPr eaLnBrk="1" hangingPunct="1">
              <a:lnSpc>
                <a:spcPct val="90000"/>
              </a:lnSpc>
            </a:pPr>
            <a:r>
              <a:rPr lang="zh-CN" altLang="en-US" sz="2800" b="1" dirty="0">
                <a:latin typeface="Times New Roman" panose="02020603050405020304" pitchFamily="18" charset="0"/>
                <a:ea typeface="宋体" panose="02010600030101010101" pitchFamily="2" charset="-122"/>
              </a:rPr>
              <a:t>　　亡率越高</a:t>
            </a:r>
          </a:p>
          <a:p>
            <a:pPr eaLnBrk="1" hangingPunct="1">
              <a:lnSpc>
                <a:spcPct val="90000"/>
              </a:lnSpc>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B.</a:t>
            </a:r>
            <a:r>
              <a:rPr lang="zh-CN" altLang="en-US" sz="2800" b="1" dirty="0">
                <a:latin typeface="Times New Roman" panose="02020603050405020304" pitchFamily="18" charset="0"/>
                <a:ea typeface="宋体" panose="02010600030101010101" pitchFamily="2" charset="-122"/>
              </a:rPr>
              <a:t>凸型的存活曲线，表示各年龄期的死亡率是</a:t>
            </a:r>
          </a:p>
          <a:p>
            <a:pPr eaLnBrk="1" hangingPunct="1">
              <a:lnSpc>
                <a:spcPct val="90000"/>
              </a:lnSpc>
            </a:pPr>
            <a:r>
              <a:rPr lang="zh-CN" altLang="en-US" sz="2800" b="1" dirty="0">
                <a:latin typeface="Times New Roman" panose="02020603050405020304" pitchFamily="18" charset="0"/>
                <a:ea typeface="宋体" panose="02010600030101010101" pitchFamily="2" charset="-122"/>
              </a:rPr>
              <a:t>　　相等的</a:t>
            </a:r>
          </a:p>
          <a:p>
            <a:pPr eaLnBrk="1" hangingPunct="1">
              <a:lnSpc>
                <a:spcPct val="90000"/>
              </a:lnSpc>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C.</a:t>
            </a:r>
            <a:r>
              <a:rPr lang="zh-CN" altLang="en-US" sz="2800" b="1" dirty="0">
                <a:latin typeface="Times New Roman" panose="02020603050405020304" pitchFamily="18" charset="0"/>
                <a:ea typeface="宋体" panose="02010600030101010101" pitchFamily="2" charset="-122"/>
              </a:rPr>
              <a:t>凹型的存活曲线，表示幼体的死亡率高</a:t>
            </a:r>
          </a:p>
          <a:p>
            <a:pPr eaLnBrk="1" hangingPunct="1">
              <a:lnSpc>
                <a:spcPct val="90000"/>
              </a:lnSpc>
            </a:pP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D.</a:t>
            </a:r>
            <a:r>
              <a:rPr lang="zh-CN" altLang="en-US" sz="2800" b="1" dirty="0">
                <a:latin typeface="Times New Roman" panose="02020603050405020304" pitchFamily="18" charset="0"/>
                <a:ea typeface="宋体" panose="02010600030101010101" pitchFamily="2" charset="-122"/>
              </a:rPr>
              <a:t>自然界中动物种群的存活曲线就是上述三种</a:t>
            </a:r>
          </a:p>
          <a:p>
            <a:pPr eaLnBrk="1" hangingPunct="1">
              <a:lnSpc>
                <a:spcPct val="90000"/>
              </a:lnSpc>
            </a:pPr>
            <a:r>
              <a:rPr lang="zh-CN" altLang="en-US" sz="2800" b="1" dirty="0">
                <a:latin typeface="Times New Roman" panose="02020603050405020304" pitchFamily="18" charset="0"/>
                <a:ea typeface="宋体" panose="02010600030101010101" pitchFamily="2" charset="-122"/>
              </a:rPr>
              <a:t>　　之一</a:t>
            </a:r>
          </a:p>
          <a:p>
            <a:pPr>
              <a:lnSpc>
                <a:spcPct val="90000"/>
              </a:lnSpc>
            </a:pPr>
            <a:r>
              <a:rPr lang="zh-CN" altLang="en-US" sz="2875" b="1" dirty="0">
                <a:solidFill>
                  <a:srgbClr val="CC0000"/>
                </a:solidFill>
                <a:latin typeface="黑体" panose="02010609060101010101" pitchFamily="49" charset="-122"/>
                <a:ea typeface="宋体" panose="02010600030101010101" pitchFamily="2" charset="-122"/>
              </a:rPr>
              <a:t>（</a:t>
            </a:r>
            <a:r>
              <a:rPr lang="en-US" altLang="zh-CN" sz="2875" b="1" dirty="0">
                <a:solidFill>
                  <a:srgbClr val="CC0000"/>
                </a:solidFill>
                <a:latin typeface="黑体" panose="02010609060101010101" pitchFamily="49" charset="-122"/>
                <a:ea typeface="宋体" panose="02010600030101010101" pitchFamily="2" charset="-122"/>
              </a:rPr>
              <a:t>2010</a:t>
            </a:r>
            <a:r>
              <a:rPr lang="zh-CN" altLang="en-US" sz="2875" b="1" dirty="0">
                <a:solidFill>
                  <a:srgbClr val="CC0000"/>
                </a:solidFill>
                <a:latin typeface="黑体" panose="02010609060101010101" pitchFamily="49" charset="-122"/>
                <a:ea typeface="宋体" panose="02010600030101010101" pitchFamily="2" charset="-122"/>
              </a:rPr>
              <a:t>年全国联赛试题）</a:t>
            </a:r>
          </a:p>
          <a:p>
            <a:pPr eaLnBrk="1" hangingPunct="1">
              <a:lnSpc>
                <a:spcPct val="90000"/>
              </a:lnSpc>
            </a:pPr>
            <a:endParaRPr lang="zh-CN" altLang="en-US" sz="2875" b="1" dirty="0">
              <a:solidFill>
                <a:srgbClr val="CC0000"/>
              </a:solidFill>
              <a:latin typeface="黑体" panose="02010609060101010101" pitchFamily="49" charset="-122"/>
              <a:ea typeface="宋体" panose="02010600030101010101" pitchFamily="2" charset="-122"/>
            </a:endParaRPr>
          </a:p>
          <a:p>
            <a:pPr>
              <a:lnSpc>
                <a:spcPct val="90000"/>
              </a:lnSpc>
            </a:pPr>
            <a:endParaRPr lang="zh-CN" altLang="en-US" sz="2875" b="1" dirty="0">
              <a:latin typeface="黑体" panose="02010609060101010101" pitchFamily="49" charset="-122"/>
              <a:ea typeface="宋体" panose="02010600030101010101" pitchFamily="2" charset="-122"/>
            </a:endParaRPr>
          </a:p>
        </p:txBody>
      </p:sp>
      <p:sp>
        <p:nvSpPr>
          <p:cNvPr id="2" name="文本框 1">
            <a:extLst>
              <a:ext uri="{FF2B5EF4-FFF2-40B4-BE49-F238E27FC236}">
                <a16:creationId xmlns:a16="http://schemas.microsoft.com/office/drawing/2014/main" id="{401D00F2-AED7-0C7A-D2CB-F79F6018DAE2}"/>
              </a:ext>
            </a:extLst>
          </p:cNvPr>
          <p:cNvSpPr txBox="1"/>
          <p:nvPr/>
        </p:nvSpPr>
        <p:spPr>
          <a:xfrm>
            <a:off x="1898650" y="185485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C</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818966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2" name="Picture 4">
            <a:extLst>
              <a:ext uri="{FF2B5EF4-FFF2-40B4-BE49-F238E27FC236}">
                <a16:creationId xmlns:a16="http://schemas.microsoft.com/office/drawing/2014/main" id="{F48947BB-995E-8A17-0112-395F0CD5E0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8041" y="3478692"/>
            <a:ext cx="3940017" cy="3563458"/>
          </a:xfrm>
          <a:prstGeom prst="rect">
            <a:avLst/>
          </a:prstGeom>
          <a:noFill/>
          <a:extLst>
            <a:ext uri="{909E8E84-426E-40DD-AFC4-6F175D3DCCD1}">
              <a14:hiddenFill xmlns:a14="http://schemas.microsoft.com/office/drawing/2010/main">
                <a:solidFill>
                  <a:srgbClr val="FFFFFF"/>
                </a:solidFill>
              </a14:hiddenFill>
            </a:ext>
          </a:extLst>
        </p:spPr>
      </p:pic>
      <p:sp>
        <p:nvSpPr>
          <p:cNvPr id="104453" name="Text Box 5">
            <a:extLst>
              <a:ext uri="{FF2B5EF4-FFF2-40B4-BE49-F238E27FC236}">
                <a16:creationId xmlns:a16="http://schemas.microsoft.com/office/drawing/2014/main" id="{24E63E5F-DFE1-9A64-8AE7-92CB6D0C5A48}"/>
              </a:ext>
            </a:extLst>
          </p:cNvPr>
          <p:cNvSpPr txBox="1">
            <a:spLocks noChangeArrowheads="1"/>
          </p:cNvSpPr>
          <p:nvPr/>
        </p:nvSpPr>
        <p:spPr bwMode="auto">
          <a:xfrm>
            <a:off x="853019" y="568915"/>
            <a:ext cx="6970424" cy="386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endParaRPr lang="zh-CN" altLang="en-US" sz="1848"/>
          </a:p>
        </p:txBody>
      </p:sp>
      <p:sp>
        <p:nvSpPr>
          <p:cNvPr id="104454" name="Text Box 6">
            <a:extLst>
              <a:ext uri="{FF2B5EF4-FFF2-40B4-BE49-F238E27FC236}">
                <a16:creationId xmlns:a16="http://schemas.microsoft.com/office/drawing/2014/main" id="{3835DA41-DD54-5ECB-3FBD-1261108CCA9F}"/>
              </a:ext>
            </a:extLst>
          </p:cNvPr>
          <p:cNvSpPr txBox="1">
            <a:spLocks noChangeArrowheads="1"/>
          </p:cNvSpPr>
          <p:nvPr/>
        </p:nvSpPr>
        <p:spPr bwMode="auto">
          <a:xfrm>
            <a:off x="429186" y="489038"/>
            <a:ext cx="865108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latin typeface="Times New Roman" panose="02020603050405020304" pitchFamily="18" charset="0"/>
                <a:ea typeface="宋体" panose="02010600030101010101" pitchFamily="2" charset="-122"/>
              </a:rPr>
              <a:t>33.</a:t>
            </a:r>
            <a:r>
              <a:rPr lang="zh-CN" altLang="en-US" sz="2800" b="1" dirty="0">
                <a:latin typeface="Times New Roman" panose="02020603050405020304" pitchFamily="18" charset="0"/>
                <a:ea typeface="宋体" panose="02010600030101010101" pitchFamily="2" charset="-122"/>
              </a:rPr>
              <a:t>下图是欧洲某个发达国家个不同时期的人口曲线变化图，根据下图，合理的推论是：</a:t>
            </a:r>
          </a:p>
          <a:p>
            <a:r>
              <a:rPr lang="en-US" altLang="zh-CN" sz="2800" b="1" dirty="0">
                <a:latin typeface="Times New Roman" panose="02020603050405020304" pitchFamily="18" charset="0"/>
                <a:ea typeface="宋体" panose="02010600030101010101" pitchFamily="2" charset="-122"/>
              </a:rPr>
              <a:t>A.</a:t>
            </a:r>
            <a:r>
              <a:rPr lang="zh-CN" altLang="en-US" sz="2800" b="1" dirty="0">
                <a:latin typeface="Times New Roman" panose="02020603050405020304" pitchFamily="18" charset="0"/>
                <a:ea typeface="宋体" panose="02010600030101010101" pitchFamily="2" charset="-122"/>
              </a:rPr>
              <a:t>同一物种的存活曲线不是一成不变的，会随着环境　条件的变化而变化；</a:t>
            </a:r>
            <a:endParaRPr lang="en-US" altLang="zh-CN" sz="2800" b="1" dirty="0">
              <a:latin typeface="Times New Roman" panose="02020603050405020304" pitchFamily="18" charset="0"/>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B.5</a:t>
            </a:r>
            <a:r>
              <a:rPr lang="zh-CN" altLang="en-US" sz="2800" b="1" dirty="0">
                <a:latin typeface="Times New Roman" panose="02020603050405020304" pitchFamily="18" charset="0"/>
                <a:ea typeface="宋体" panose="02010600030101010101" pitchFamily="2" charset="-122"/>
              </a:rPr>
              <a:t>条曲线中，曲线</a:t>
            </a:r>
            <a:r>
              <a:rPr lang="en-US" altLang="zh-CN" sz="2800" b="1" dirty="0">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是最近年代的曲线图；</a:t>
            </a:r>
            <a:endParaRPr lang="en-US" altLang="zh-CN" sz="2800" b="1" dirty="0">
              <a:latin typeface="Times New Roman" panose="02020603050405020304" pitchFamily="18" charset="0"/>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C.</a:t>
            </a:r>
            <a:r>
              <a:rPr lang="zh-CN" altLang="en-US" sz="2800" b="1" dirty="0">
                <a:latin typeface="Times New Roman" panose="02020603050405020304" pitchFamily="18" charset="0"/>
                <a:ea typeface="宋体" panose="02010600030101010101" pitchFamily="2" charset="-122"/>
              </a:rPr>
              <a:t>随着时间的推移，婴儿的死亡率在不断降低；</a:t>
            </a:r>
            <a:endParaRPr lang="en-US" altLang="zh-CN" sz="2800" b="1" dirty="0">
              <a:latin typeface="Times New Roman" panose="02020603050405020304" pitchFamily="18" charset="0"/>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D.5</a:t>
            </a:r>
            <a:r>
              <a:rPr lang="zh-CN" altLang="en-US" sz="2800" b="1" dirty="0">
                <a:latin typeface="Times New Roman" panose="02020603050405020304" pitchFamily="18" charset="0"/>
                <a:ea typeface="宋体" panose="02010600030101010101" pitchFamily="2" charset="-122"/>
              </a:rPr>
              <a:t>条曲线中，曲线</a:t>
            </a:r>
            <a:r>
              <a:rPr lang="en-US" altLang="zh-CN" sz="2800" b="1" dirty="0">
                <a:latin typeface="Times New Roman" panose="02020603050405020304" pitchFamily="18" charset="0"/>
                <a:ea typeface="宋体" panose="02010600030101010101" pitchFamily="2" charset="-122"/>
              </a:rPr>
              <a:t>5</a:t>
            </a:r>
            <a:r>
              <a:rPr lang="zh-CN" altLang="en-US" sz="2800" b="1" dirty="0">
                <a:latin typeface="Times New Roman" panose="02020603050405020304" pitchFamily="18" charset="0"/>
                <a:ea typeface="宋体" panose="02010600030101010101" pitchFamily="2" charset="-122"/>
              </a:rPr>
              <a:t>是最近年代的曲线图。</a:t>
            </a:r>
          </a:p>
        </p:txBody>
      </p:sp>
      <p:sp>
        <p:nvSpPr>
          <p:cNvPr id="2" name="文本框 1">
            <a:extLst>
              <a:ext uri="{FF2B5EF4-FFF2-40B4-BE49-F238E27FC236}">
                <a16:creationId xmlns:a16="http://schemas.microsoft.com/office/drawing/2014/main" id="{5763942E-74CF-CA9E-5E71-E205930AEFA5}"/>
              </a:ext>
            </a:extLst>
          </p:cNvPr>
          <p:cNvSpPr txBox="1"/>
          <p:nvPr/>
        </p:nvSpPr>
        <p:spPr>
          <a:xfrm>
            <a:off x="5784850" y="955736"/>
            <a:ext cx="1358900"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ABC</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550869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30" name="Text Box 6">
            <a:extLst>
              <a:ext uri="{FF2B5EF4-FFF2-40B4-BE49-F238E27FC236}">
                <a16:creationId xmlns:a16="http://schemas.microsoft.com/office/drawing/2014/main" id="{FE83ABA4-EA34-20B2-DCE3-373D715099E1}"/>
              </a:ext>
            </a:extLst>
          </p:cNvPr>
          <p:cNvSpPr txBox="1">
            <a:spLocks noChangeArrowheads="1"/>
          </p:cNvSpPr>
          <p:nvPr/>
        </p:nvSpPr>
        <p:spPr bwMode="auto">
          <a:xfrm>
            <a:off x="725869" y="1007419"/>
            <a:ext cx="8059349"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800100" indent="-342900" eaLnBrk="0" hangingPunct="0">
              <a:defRPr>
                <a:solidFill>
                  <a:schemeClr val="tx1"/>
                </a:solidFill>
                <a:latin typeface="Arial" panose="020B0604020202020204" pitchFamily="34" charset="0"/>
                <a:ea typeface="宋体" panose="02010600030101010101" pitchFamily="2" charset="-122"/>
              </a:defRPr>
            </a:lvl2pPr>
            <a:lvl3pPr marL="1257300" indent="-342900" eaLnBrk="0" hangingPunct="0">
              <a:defRPr>
                <a:solidFill>
                  <a:schemeClr val="tx1"/>
                </a:solidFill>
                <a:latin typeface="Arial" panose="020B0604020202020204" pitchFamily="34" charset="0"/>
                <a:ea typeface="宋体" panose="02010600030101010101" pitchFamily="2" charset="-122"/>
              </a:defRPr>
            </a:lvl3pPr>
            <a:lvl4pPr marL="1714500" indent="-342900" eaLnBrk="0" hangingPunct="0">
              <a:defRPr>
                <a:solidFill>
                  <a:schemeClr val="tx1"/>
                </a:solidFill>
                <a:latin typeface="Arial" panose="020B0604020202020204" pitchFamily="34" charset="0"/>
                <a:ea typeface="宋体" panose="02010600030101010101" pitchFamily="2" charset="-122"/>
              </a:defRPr>
            </a:lvl4pPr>
            <a:lvl5pPr marL="2171700" indent="-342900" eaLnBrk="0" hangingPunct="0">
              <a:defRPr>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a:latin typeface="Times New Roman" panose="02020603050405020304" pitchFamily="18" charset="0"/>
              </a:rPr>
              <a:t>34.</a:t>
            </a:r>
            <a:r>
              <a:rPr lang="zh-CN" altLang="en-US" sz="2800" b="1" dirty="0">
                <a:latin typeface="Times New Roman" panose="02020603050405020304" pitchFamily="18" charset="0"/>
              </a:rPr>
              <a:t>下图是将存活曲线的纵轴改为死亡的个体数，则</a:t>
            </a:r>
            <a:r>
              <a:rPr lang="en-US" altLang="zh-CN" sz="2800" b="1" dirty="0">
                <a:latin typeface="Times New Roman" panose="02020603050405020304" pitchFamily="18" charset="0"/>
              </a:rPr>
              <a:t>3</a:t>
            </a:r>
            <a:r>
              <a:rPr lang="zh-CN" altLang="en-US" sz="2800" b="1" dirty="0">
                <a:latin typeface="Times New Roman" panose="02020603050405020304" pitchFamily="18" charset="0"/>
              </a:rPr>
              <a:t>种存活曲线将成下列何曲线：</a:t>
            </a:r>
          </a:p>
          <a:p>
            <a:pPr eaLnBrk="1" hangingPunct="1">
              <a:buFontTx/>
              <a:buAutoNum type="alphaUcPeriod"/>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A</a:t>
            </a:r>
            <a:r>
              <a:rPr lang="zh-CN" altLang="en-US" sz="2800" b="1" dirty="0">
                <a:latin typeface="Times New Roman" panose="02020603050405020304" pitchFamily="18" charset="0"/>
              </a:rPr>
              <a:t>）图； </a:t>
            </a:r>
            <a:r>
              <a:rPr lang="en-US" altLang="zh-CN" sz="2800" b="1" dirty="0">
                <a:latin typeface="Times New Roman" panose="02020603050405020304" pitchFamily="18" charset="0"/>
              </a:rPr>
              <a:t>B. </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 B</a:t>
            </a:r>
            <a:r>
              <a:rPr lang="zh-CN" altLang="en-US" sz="2800" b="1" dirty="0">
                <a:latin typeface="Times New Roman" panose="02020603050405020304" pitchFamily="18" charset="0"/>
              </a:rPr>
              <a:t>）图； </a:t>
            </a:r>
            <a:r>
              <a:rPr lang="en-US" altLang="zh-CN" sz="2800" b="1" dirty="0">
                <a:latin typeface="Times New Roman" panose="02020603050405020304" pitchFamily="18" charset="0"/>
              </a:rPr>
              <a:t>C.</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C</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D.</a:t>
            </a:r>
            <a:endParaRPr lang="zh-CN" altLang="en-US" sz="2800" b="1" dirty="0">
              <a:latin typeface="Times New Roman" panose="02020603050405020304" pitchFamily="18" charset="0"/>
            </a:endParaRPr>
          </a:p>
          <a:p>
            <a:pPr eaLnBrk="1" hangingPunct="1">
              <a:buFontTx/>
              <a:buAutoNum type="alphaUcPeriod"/>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 D</a:t>
            </a:r>
            <a:r>
              <a:rPr lang="zh-CN" altLang="en-US" sz="2800" b="1" dirty="0">
                <a:latin typeface="Times New Roman" panose="02020603050405020304" pitchFamily="18" charset="0"/>
              </a:rPr>
              <a:t>）图；</a:t>
            </a:r>
            <a:r>
              <a:rPr lang="en-US" altLang="zh-CN" sz="2800" b="1" dirty="0">
                <a:latin typeface="Times New Roman" panose="02020603050405020304" pitchFamily="18" charset="0"/>
              </a:rPr>
              <a:t>E.</a:t>
            </a:r>
            <a:r>
              <a:rPr lang="zh-CN" altLang="en-US" sz="2800" b="1" dirty="0">
                <a:latin typeface="Times New Roman" panose="02020603050405020304" pitchFamily="18" charset="0"/>
              </a:rPr>
              <a:t>以上皆不是。</a:t>
            </a:r>
          </a:p>
          <a:p>
            <a:pPr eaLnBrk="1" hangingPunct="1"/>
            <a:endParaRPr lang="zh-CN" altLang="en-US" b="1" dirty="0">
              <a:solidFill>
                <a:srgbClr val="CC0000"/>
              </a:solidFill>
              <a:latin typeface="黑体" panose="02010609060101010101" pitchFamily="49" charset="-122"/>
            </a:endParaRPr>
          </a:p>
        </p:txBody>
      </p:sp>
      <p:pic>
        <p:nvPicPr>
          <p:cNvPr id="129032" name="Picture 8">
            <a:extLst>
              <a:ext uri="{FF2B5EF4-FFF2-40B4-BE49-F238E27FC236}">
                <a16:creationId xmlns:a16="http://schemas.microsoft.com/office/drawing/2014/main" id="{12C042CA-9CF7-423E-771A-9E021D7E22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172" y="3077680"/>
            <a:ext cx="8465251" cy="2896737"/>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20633E0B-211B-286B-B084-88693133CCA4}"/>
              </a:ext>
            </a:extLst>
          </p:cNvPr>
          <p:cNvSpPr txBox="1"/>
          <p:nvPr/>
        </p:nvSpPr>
        <p:spPr>
          <a:xfrm>
            <a:off x="6242050" y="147385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E</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045608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3">
            <a:extLst>
              <a:ext uri="{FF2B5EF4-FFF2-40B4-BE49-F238E27FC236}">
                <a16:creationId xmlns:a16="http://schemas.microsoft.com/office/drawing/2014/main" id="{4B2BFE7B-7885-1D45-B320-881F5382E0D7}"/>
              </a:ext>
            </a:extLst>
          </p:cNvPr>
          <p:cNvSpPr>
            <a:spLocks noGrp="1"/>
          </p:cNvSpPr>
          <p:nvPr>
            <p:ph type="body" idx="1"/>
          </p:nvPr>
        </p:nvSpPr>
        <p:spPr>
          <a:xfrm>
            <a:off x="163765" y="342327"/>
            <a:ext cx="9278685" cy="2608406"/>
          </a:xfrm>
        </p:spPr>
        <p:txBody>
          <a:bodyPr/>
          <a:lstStyle/>
          <a:p>
            <a:r>
              <a:rPr lang="en-US" altLang="zh-CN" sz="2875" b="1" dirty="0">
                <a:latin typeface="黑体" panose="02010609060101010101" pitchFamily="49" charset="-122"/>
                <a:ea typeface="宋体" panose="02010600030101010101" pitchFamily="2" charset="-122"/>
              </a:rPr>
              <a:t>35.</a:t>
            </a:r>
            <a:r>
              <a:rPr lang="zh-CN" altLang="en-US" sz="2875" b="1" dirty="0">
                <a:latin typeface="黑体" panose="02010609060101010101" pitchFamily="49" charset="-122"/>
                <a:ea typeface="宋体" panose="02010600030101010101" pitchFamily="2" charset="-122"/>
              </a:rPr>
              <a:t>下图是蒲公英种群的死亡率曲线图，</a:t>
            </a:r>
            <a:r>
              <a:rPr lang="en-US" altLang="zh-CN" sz="2875" b="1" dirty="0">
                <a:latin typeface="黑体" panose="02010609060101010101" pitchFamily="49" charset="-122"/>
                <a:ea typeface="宋体" panose="02010600030101010101" pitchFamily="2" charset="-122"/>
              </a:rPr>
              <a:t>4</a:t>
            </a:r>
            <a:r>
              <a:rPr lang="zh-CN" altLang="en-US" sz="2875" b="1" dirty="0">
                <a:latin typeface="黑体" panose="02010609060101010101" pitchFamily="49" charset="-122"/>
                <a:ea typeface="宋体" panose="02010600030101010101" pitchFamily="2" charset="-122"/>
              </a:rPr>
              <a:t>条曲线代表</a:t>
            </a:r>
            <a:r>
              <a:rPr lang="en-US" altLang="zh-CN" sz="2875" b="1" dirty="0">
                <a:latin typeface="黑体" panose="02010609060101010101" pitchFamily="49" charset="-122"/>
                <a:ea typeface="宋体" panose="02010600030101010101" pitchFamily="2" charset="-122"/>
              </a:rPr>
              <a:t>4</a:t>
            </a:r>
            <a:r>
              <a:rPr lang="zh-CN" altLang="en-US" sz="2875" b="1" dirty="0">
                <a:latin typeface="黑体" panose="02010609060101010101" pitchFamily="49" charset="-122"/>
                <a:ea typeface="宋体" panose="02010600030101010101" pitchFamily="2" charset="-122"/>
              </a:rPr>
              <a:t>种生态条件。选项中错误的是：</a:t>
            </a:r>
          </a:p>
          <a:p>
            <a:r>
              <a:rPr lang="en-US" altLang="zh-CN" sz="2800" b="1" dirty="0">
                <a:latin typeface="Times New Roman" panose="02020603050405020304" pitchFamily="18" charset="0"/>
                <a:ea typeface="宋体" panose="02010600030101010101" pitchFamily="2" charset="-122"/>
              </a:rPr>
              <a:t>A.</a:t>
            </a:r>
            <a:r>
              <a:rPr lang="zh-CN" altLang="en-US" sz="2800" b="1" dirty="0">
                <a:latin typeface="Times New Roman" panose="02020603050405020304" pitchFamily="18" charset="0"/>
                <a:ea typeface="宋体" panose="02010600030101010101" pitchFamily="2" charset="-122"/>
              </a:rPr>
              <a:t>曲线１＝高密度，弱光照</a:t>
            </a:r>
            <a:r>
              <a:rPr lang="en-US" altLang="zh-CN" sz="2800" b="1" dirty="0">
                <a:latin typeface="Times New Roman" panose="02020603050405020304" pitchFamily="18" charset="0"/>
                <a:ea typeface="宋体" panose="02010600030101010101" pitchFamily="2" charset="-122"/>
              </a:rPr>
              <a:t>		</a:t>
            </a:r>
          </a:p>
          <a:p>
            <a:r>
              <a:rPr lang="en-US" altLang="zh-CN" sz="2800" b="1" dirty="0">
                <a:latin typeface="Times New Roman" panose="02020603050405020304" pitchFamily="18" charset="0"/>
                <a:ea typeface="宋体" panose="02010600030101010101" pitchFamily="2" charset="-122"/>
              </a:rPr>
              <a:t>B.</a:t>
            </a:r>
            <a:r>
              <a:rPr lang="zh-CN" altLang="en-US" sz="2800" b="1" dirty="0">
                <a:latin typeface="Times New Roman" panose="02020603050405020304" pitchFamily="18" charset="0"/>
                <a:ea typeface="宋体" panose="02010600030101010101" pitchFamily="2" charset="-122"/>
              </a:rPr>
              <a:t>曲线</a:t>
            </a:r>
            <a:r>
              <a:rPr lang="en-US" altLang="zh-CN" sz="2800" b="1" dirty="0">
                <a:latin typeface="Times New Roman" panose="02020603050405020304" pitchFamily="18" charset="0"/>
                <a:ea typeface="宋体" panose="02010600030101010101" pitchFamily="2" charset="-122"/>
              </a:rPr>
              <a:t>2</a:t>
            </a:r>
            <a:r>
              <a:rPr lang="zh-CN" altLang="en-US" sz="2800" b="1" dirty="0">
                <a:latin typeface="Times New Roman" panose="02020603050405020304" pitchFamily="18" charset="0"/>
                <a:ea typeface="宋体" panose="02010600030101010101" pitchFamily="2" charset="-122"/>
              </a:rPr>
              <a:t>＝低密度；弱光照；</a:t>
            </a:r>
          </a:p>
          <a:p>
            <a:r>
              <a:rPr lang="en-US" altLang="zh-CN" sz="2800" b="1" dirty="0">
                <a:latin typeface="Times New Roman" panose="02020603050405020304" pitchFamily="18" charset="0"/>
                <a:ea typeface="宋体" panose="02010600030101010101" pitchFamily="2" charset="-122"/>
              </a:rPr>
              <a:t>C.</a:t>
            </a:r>
            <a:r>
              <a:rPr lang="zh-CN" altLang="en-US" sz="2800" b="1" dirty="0">
                <a:latin typeface="Times New Roman" panose="02020603050405020304" pitchFamily="18" charset="0"/>
                <a:ea typeface="宋体" panose="02010600030101010101" pitchFamily="2" charset="-122"/>
              </a:rPr>
              <a:t>曲线</a:t>
            </a:r>
            <a:r>
              <a:rPr lang="en-US" altLang="zh-CN" sz="2800" b="1" dirty="0">
                <a:latin typeface="Times New Roman" panose="02020603050405020304" pitchFamily="18" charset="0"/>
                <a:ea typeface="宋体" panose="02010600030101010101" pitchFamily="2" charset="-122"/>
              </a:rPr>
              <a:t>3</a:t>
            </a:r>
            <a:r>
              <a:rPr lang="zh-CN" altLang="en-US" sz="2800" b="1" dirty="0">
                <a:latin typeface="Times New Roman" panose="02020603050405020304" pitchFamily="18" charset="0"/>
                <a:ea typeface="宋体" panose="02010600030101010101" pitchFamily="2" charset="-122"/>
              </a:rPr>
              <a:t>＝低密度，自然光照</a:t>
            </a:r>
            <a:r>
              <a:rPr lang="en-US" altLang="zh-CN" sz="2800" b="1" dirty="0">
                <a:latin typeface="Times New Roman" panose="02020603050405020304" pitchFamily="18" charset="0"/>
                <a:ea typeface="宋体" panose="02010600030101010101" pitchFamily="2" charset="-122"/>
              </a:rPr>
              <a:t>;	</a:t>
            </a:r>
          </a:p>
          <a:p>
            <a:r>
              <a:rPr lang="en-US" altLang="zh-CN" sz="2800" b="1" dirty="0">
                <a:latin typeface="Times New Roman" panose="02020603050405020304" pitchFamily="18" charset="0"/>
                <a:ea typeface="宋体" panose="02010600030101010101" pitchFamily="2" charset="-122"/>
              </a:rPr>
              <a:t>D.</a:t>
            </a:r>
            <a:r>
              <a:rPr lang="zh-CN" altLang="en-US" sz="2800" b="1" dirty="0">
                <a:latin typeface="Times New Roman" panose="02020603050405020304" pitchFamily="18" charset="0"/>
                <a:ea typeface="宋体" panose="02010600030101010101" pitchFamily="2" charset="-122"/>
              </a:rPr>
              <a:t>曲线</a:t>
            </a:r>
            <a:r>
              <a:rPr lang="en-US" altLang="zh-CN" sz="2800" b="1" dirty="0">
                <a:latin typeface="Times New Roman" panose="02020603050405020304" pitchFamily="18" charset="0"/>
                <a:ea typeface="宋体" panose="02010600030101010101" pitchFamily="2" charset="-122"/>
              </a:rPr>
              <a:t>4</a:t>
            </a:r>
            <a:r>
              <a:rPr lang="zh-CN" altLang="en-US" sz="2800" b="1" dirty="0">
                <a:latin typeface="Times New Roman" panose="02020603050405020304" pitchFamily="18" charset="0"/>
                <a:ea typeface="宋体" panose="02010600030101010101" pitchFamily="2" charset="-122"/>
              </a:rPr>
              <a:t>＝水分缺乏。</a:t>
            </a:r>
          </a:p>
        </p:txBody>
      </p:sp>
      <p:pic>
        <p:nvPicPr>
          <p:cNvPr id="123908" name="Picture 4">
            <a:extLst>
              <a:ext uri="{FF2B5EF4-FFF2-40B4-BE49-F238E27FC236}">
                <a16:creationId xmlns:a16="http://schemas.microsoft.com/office/drawing/2014/main" id="{4162E995-798F-F1CB-D016-D43D3ACBEB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1000" y="3077681"/>
            <a:ext cx="4880601" cy="3794936"/>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21D6E353-7BD2-4C46-58E3-87136D095A4E}"/>
              </a:ext>
            </a:extLst>
          </p:cNvPr>
          <p:cNvSpPr txBox="1"/>
          <p:nvPr/>
        </p:nvSpPr>
        <p:spPr>
          <a:xfrm>
            <a:off x="4730750" y="78805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D</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82817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a:extLst>
              <a:ext uri="{FF2B5EF4-FFF2-40B4-BE49-F238E27FC236}">
                <a16:creationId xmlns:a16="http://schemas.microsoft.com/office/drawing/2014/main" id="{C40F453B-B045-9EEE-BC40-FAFAF6766D12}"/>
              </a:ext>
            </a:extLst>
          </p:cNvPr>
          <p:cNvSpPr>
            <a:spLocks noGrp="1" noChangeArrowheads="1"/>
          </p:cNvSpPr>
          <p:nvPr>
            <p:ph type="title"/>
          </p:nvPr>
        </p:nvSpPr>
        <p:spPr>
          <a:xfrm>
            <a:off x="407637" y="161381"/>
            <a:ext cx="8156505" cy="1038457"/>
          </a:xfrm>
        </p:spPr>
        <p:txBody>
          <a:bodyPr/>
          <a:lstStyle/>
          <a:p>
            <a:pPr algn="l" eaLnBrk="1" hangingPunct="1"/>
            <a:r>
              <a:rPr lang="en-US" altLang="zh-CN" sz="2875" b="1" dirty="0">
                <a:latin typeface="宋体" panose="02010600030101010101" pitchFamily="2" charset="-122"/>
              </a:rPr>
              <a:t>(6) </a:t>
            </a:r>
            <a:r>
              <a:rPr lang="zh-CN" altLang="en-US" sz="2875" b="1" dirty="0">
                <a:latin typeface="宋体" panose="02010600030101010101" pitchFamily="2" charset="-122"/>
              </a:rPr>
              <a:t>生殖价（</a:t>
            </a:r>
            <a:r>
              <a:rPr lang="en-US" altLang="zh-CN" sz="2875" b="1" dirty="0">
                <a:latin typeface="宋体" panose="02010600030101010101" pitchFamily="2" charset="-122"/>
              </a:rPr>
              <a:t>Vx):</a:t>
            </a:r>
            <a:r>
              <a:rPr lang="zh-CN" altLang="en-US" sz="3286" b="1" dirty="0"/>
              <a:t>用来描述某一年龄的雌体平均能对未来种群增长所做的贡献。</a:t>
            </a:r>
          </a:p>
        </p:txBody>
      </p:sp>
      <p:sp>
        <p:nvSpPr>
          <p:cNvPr id="3077" name="Rectangle 5">
            <a:extLst>
              <a:ext uri="{FF2B5EF4-FFF2-40B4-BE49-F238E27FC236}">
                <a16:creationId xmlns:a16="http://schemas.microsoft.com/office/drawing/2014/main" id="{195D0C39-6F03-3D32-500B-4CEFE94FBF85}"/>
              </a:ext>
            </a:extLst>
          </p:cNvPr>
          <p:cNvSpPr>
            <a:spLocks noChangeArrowheads="1"/>
          </p:cNvSpPr>
          <p:nvPr/>
        </p:nvSpPr>
        <p:spPr bwMode="auto">
          <a:xfrm>
            <a:off x="23284" y="-242167"/>
            <a:ext cx="189691" cy="48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aphicFrame>
        <p:nvGraphicFramePr>
          <p:cNvPr id="3074" name="Object 4">
            <a:extLst>
              <a:ext uri="{FF2B5EF4-FFF2-40B4-BE49-F238E27FC236}">
                <a16:creationId xmlns:a16="http://schemas.microsoft.com/office/drawing/2014/main" id="{EF728A1F-B874-33D0-44BE-E250402790A0}"/>
              </a:ext>
            </a:extLst>
          </p:cNvPr>
          <p:cNvGraphicFramePr>
            <a:graphicFrameLocks noChangeAspect="1"/>
          </p:cNvGraphicFramePr>
          <p:nvPr>
            <p:extLst>
              <p:ext uri="{D42A27DB-BD31-4B8C-83A1-F6EECF244321}">
                <p14:modId xmlns:p14="http://schemas.microsoft.com/office/powerpoint/2010/main" val="605416645"/>
              </p:ext>
            </p:extLst>
          </p:nvPr>
        </p:nvGraphicFramePr>
        <p:xfrm>
          <a:off x="1441450" y="1519865"/>
          <a:ext cx="1848564" cy="1048172"/>
        </p:xfrm>
        <a:graphic>
          <a:graphicData uri="http://schemas.openxmlformats.org/presentationml/2006/ole">
            <mc:AlternateContent xmlns:mc="http://schemas.openxmlformats.org/markup-compatibility/2006">
              <mc:Choice xmlns:v="urn:schemas-microsoft-com:vml" Requires="v">
                <p:oleObj name="公式" r:id="rId2" imgW="27800300" imgH="15798800" progId="Equation.3">
                  <p:embed/>
                </p:oleObj>
              </mc:Choice>
              <mc:Fallback>
                <p:oleObj name="公式" r:id="rId2" imgW="27800300" imgH="15798800" progId="Equation.3">
                  <p:embed/>
                  <p:pic>
                    <p:nvPicPr>
                      <p:cNvPr id="3074" name="Object 4">
                        <a:extLst>
                          <a:ext uri="{FF2B5EF4-FFF2-40B4-BE49-F238E27FC236}">
                            <a16:creationId xmlns:a16="http://schemas.microsoft.com/office/drawing/2014/main" id="{EF728A1F-B874-33D0-44BE-E250402790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1450" y="1519865"/>
                        <a:ext cx="1848564" cy="10481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8" name="Text Box 6">
            <a:extLst>
              <a:ext uri="{FF2B5EF4-FFF2-40B4-BE49-F238E27FC236}">
                <a16:creationId xmlns:a16="http://schemas.microsoft.com/office/drawing/2014/main" id="{4238D9D3-87F9-E730-4C3D-BACA040057CF}"/>
              </a:ext>
            </a:extLst>
          </p:cNvPr>
          <p:cNvSpPr txBox="1">
            <a:spLocks noChangeArrowheads="1"/>
          </p:cNvSpPr>
          <p:nvPr/>
        </p:nvSpPr>
        <p:spPr bwMode="auto">
          <a:xfrm>
            <a:off x="536775" y="2612487"/>
            <a:ext cx="8427758" cy="165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65" dirty="0">
                <a:latin typeface="宋体" panose="02010600030101010101" pitchFamily="2" charset="-122"/>
              </a:rPr>
              <a:t>Vx: x</a:t>
            </a:r>
            <a:r>
              <a:rPr lang="zh-CN" altLang="en-US" sz="2465" dirty="0">
                <a:latin typeface="宋体" panose="02010600030101010101" pitchFamily="2" charset="-122"/>
              </a:rPr>
              <a:t>龄雌体的生殖价。</a:t>
            </a:r>
            <a:r>
              <a:rPr lang="en-US" altLang="zh-CN" sz="2465" dirty="0">
                <a:latin typeface="宋体" panose="02010600030101010101" pitchFamily="2" charset="-122"/>
              </a:rPr>
              <a:t>X</a:t>
            </a:r>
            <a:r>
              <a:rPr lang="zh-CN" altLang="en-US" sz="2465" dirty="0">
                <a:latin typeface="宋体" panose="02010600030101010101" pitchFamily="2" charset="-122"/>
              </a:rPr>
              <a:t>：估计生殖价时雌体的年龄。</a:t>
            </a:r>
          </a:p>
          <a:p>
            <a:pPr eaLnBrk="1" hangingPunct="1">
              <a:spcBef>
                <a:spcPct val="50000"/>
              </a:spcBef>
            </a:pPr>
            <a:r>
              <a:rPr lang="en-US" altLang="zh-CN" sz="2465" dirty="0">
                <a:latin typeface="宋体" panose="02010600030101010101" pitchFamily="2" charset="-122"/>
              </a:rPr>
              <a:t>T</a:t>
            </a:r>
            <a:r>
              <a:rPr lang="zh-CN" altLang="en-US" sz="2465" dirty="0">
                <a:latin typeface="宋体" panose="02010600030101010101" pitchFamily="2" charset="-122"/>
              </a:rPr>
              <a:t>：</a:t>
            </a:r>
            <a:r>
              <a:rPr lang="en-US" altLang="zh-CN" sz="2465" dirty="0">
                <a:latin typeface="宋体" panose="02010600030101010101" pitchFamily="2" charset="-122"/>
              </a:rPr>
              <a:t>x</a:t>
            </a:r>
            <a:r>
              <a:rPr lang="zh-CN" altLang="en-US" sz="2465" dirty="0">
                <a:latin typeface="宋体" panose="02010600030101010101" pitchFamily="2" charset="-122"/>
              </a:rPr>
              <a:t>龄以后的年龄。</a:t>
            </a:r>
            <a:r>
              <a:rPr lang="en-US" altLang="zh-CN" sz="2465" dirty="0">
                <a:latin typeface="宋体" panose="02010600030101010101" pitchFamily="2" charset="-122"/>
              </a:rPr>
              <a:t>W</a:t>
            </a:r>
            <a:r>
              <a:rPr lang="zh-CN" altLang="en-US" sz="2465" dirty="0">
                <a:latin typeface="宋体" panose="02010600030101010101" pitchFamily="2" charset="-122"/>
              </a:rPr>
              <a:t>：最后一次生殖的年龄。</a:t>
            </a:r>
          </a:p>
          <a:p>
            <a:pPr eaLnBrk="1" hangingPunct="1">
              <a:spcBef>
                <a:spcPct val="50000"/>
              </a:spcBef>
            </a:pPr>
            <a:r>
              <a:rPr lang="zh-CN" altLang="en-US" sz="2465" dirty="0">
                <a:latin typeface="宋体" panose="02010600030101010101" pitchFamily="2" charset="-122"/>
              </a:rPr>
              <a:t>雌体在年龄为</a:t>
            </a:r>
            <a:r>
              <a:rPr lang="en-US" altLang="zh-CN" sz="2465" dirty="0">
                <a:latin typeface="宋体" panose="02010600030101010101" pitchFamily="2" charset="-122"/>
              </a:rPr>
              <a:t>0</a:t>
            </a:r>
            <a:r>
              <a:rPr lang="zh-CN" altLang="en-US" sz="2465" dirty="0">
                <a:latin typeface="宋体" panose="02010600030101010101" pitchFamily="2" charset="-122"/>
              </a:rPr>
              <a:t>时的生殖价即等同于世代净增值率</a:t>
            </a:r>
            <a:r>
              <a:rPr lang="en-US" altLang="zh-CN" sz="2465" dirty="0">
                <a:latin typeface="宋体" panose="02010600030101010101" pitchFamily="2" charset="-122"/>
              </a:rPr>
              <a:t>R0</a:t>
            </a:r>
            <a:r>
              <a:rPr lang="zh-CN" altLang="en-US" sz="2465" dirty="0">
                <a:latin typeface="宋体" panose="02010600030101010101" pitchFamily="2" charset="-122"/>
              </a:rPr>
              <a:t>。</a:t>
            </a:r>
          </a:p>
        </p:txBody>
      </p:sp>
      <p:sp>
        <p:nvSpPr>
          <p:cNvPr id="3079" name="Rectangle 8">
            <a:extLst>
              <a:ext uri="{FF2B5EF4-FFF2-40B4-BE49-F238E27FC236}">
                <a16:creationId xmlns:a16="http://schemas.microsoft.com/office/drawing/2014/main" id="{B6B8F9BC-AD1D-AA17-7AB2-020B4D666268}"/>
              </a:ext>
            </a:extLst>
          </p:cNvPr>
          <p:cNvSpPr>
            <a:spLocks noChangeArrowheads="1"/>
          </p:cNvSpPr>
          <p:nvPr/>
        </p:nvSpPr>
        <p:spPr bwMode="auto">
          <a:xfrm>
            <a:off x="23284" y="2464507"/>
            <a:ext cx="189691" cy="48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65"/>
          </a:p>
        </p:txBody>
      </p:sp>
      <p:graphicFrame>
        <p:nvGraphicFramePr>
          <p:cNvPr id="3075" name="Object 7">
            <a:extLst>
              <a:ext uri="{FF2B5EF4-FFF2-40B4-BE49-F238E27FC236}">
                <a16:creationId xmlns:a16="http://schemas.microsoft.com/office/drawing/2014/main" id="{E0AEE8D4-F801-7F9A-C848-E188943C3434}"/>
              </a:ext>
            </a:extLst>
          </p:cNvPr>
          <p:cNvGraphicFramePr>
            <a:graphicFrameLocks noChangeAspect="1"/>
          </p:cNvGraphicFramePr>
          <p:nvPr>
            <p:extLst>
              <p:ext uri="{D42A27DB-BD31-4B8C-83A1-F6EECF244321}">
                <p14:modId xmlns:p14="http://schemas.microsoft.com/office/powerpoint/2010/main" val="3798660911"/>
              </p:ext>
            </p:extLst>
          </p:nvPr>
        </p:nvGraphicFramePr>
        <p:xfrm>
          <a:off x="3651250" y="1320393"/>
          <a:ext cx="3032037" cy="1269869"/>
        </p:xfrm>
        <a:graphic>
          <a:graphicData uri="http://schemas.openxmlformats.org/presentationml/2006/ole">
            <mc:AlternateContent xmlns:mc="http://schemas.openxmlformats.org/markup-compatibility/2006">
              <mc:Choice xmlns:v="urn:schemas-microsoft-com:vml" Requires="v">
                <p:oleObj name="公式" r:id="rId4" imgW="37744400" imgH="15798800" progId="Equation.3">
                  <p:embed/>
                </p:oleObj>
              </mc:Choice>
              <mc:Fallback>
                <p:oleObj name="公式" r:id="rId4" imgW="37744400" imgH="15798800" progId="Equation.3">
                  <p:embed/>
                  <p:pic>
                    <p:nvPicPr>
                      <p:cNvPr id="3075" name="Object 7">
                        <a:extLst>
                          <a:ext uri="{FF2B5EF4-FFF2-40B4-BE49-F238E27FC236}">
                            <a16:creationId xmlns:a16="http://schemas.microsoft.com/office/drawing/2014/main" id="{E0AEE8D4-F801-7F9A-C848-E188943C34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1250" y="1320393"/>
                        <a:ext cx="3032037" cy="12698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2DDDEAF4-CCA1-F0C0-DD23-EEAF9F9E9512}"/>
                  </a:ext>
                </a:extLst>
              </p:cNvPr>
              <p:cNvGraphicFramePr>
                <a:graphicFrameLocks noGrp="1"/>
              </p:cNvGraphicFramePr>
              <p:nvPr>
                <p:extLst>
                  <p:ext uri="{D42A27DB-BD31-4B8C-83A1-F6EECF244321}">
                    <p14:modId xmlns:p14="http://schemas.microsoft.com/office/powerpoint/2010/main" val="568988796"/>
                  </p:ext>
                </p:extLst>
              </p:nvPr>
            </p:nvGraphicFramePr>
            <p:xfrm>
              <a:off x="768350" y="-3175"/>
              <a:ext cx="8855076" cy="3108960"/>
            </p:xfrm>
            <a:graphic>
              <a:graphicData uri="http://schemas.openxmlformats.org/drawingml/2006/table">
                <a:tbl>
                  <a:tblPr/>
                  <a:tblGrid>
                    <a:gridCol w="2951692">
                      <a:extLst>
                        <a:ext uri="{9D8B030D-6E8A-4147-A177-3AD203B41FA5}">
                          <a16:colId xmlns:a16="http://schemas.microsoft.com/office/drawing/2014/main" val="3221588983"/>
                        </a:ext>
                      </a:extLst>
                    </a:gridCol>
                    <a:gridCol w="1940983">
                      <a:extLst>
                        <a:ext uri="{9D8B030D-6E8A-4147-A177-3AD203B41FA5}">
                          <a16:colId xmlns:a16="http://schemas.microsoft.com/office/drawing/2014/main" val="3048282920"/>
                        </a:ext>
                      </a:extLst>
                    </a:gridCol>
                    <a:gridCol w="3962401">
                      <a:extLst>
                        <a:ext uri="{9D8B030D-6E8A-4147-A177-3AD203B41FA5}">
                          <a16:colId xmlns:a16="http://schemas.microsoft.com/office/drawing/2014/main" val="827552608"/>
                        </a:ext>
                      </a:extLst>
                    </a:gridCol>
                  </a:tblGrid>
                  <a:tr h="0">
                    <a:tc>
                      <a:txBody>
                        <a:bodyPr/>
                        <a:lstStyle/>
                        <a:p>
                          <a:pPr>
                            <a:buNone/>
                          </a:pPr>
                          <a:r>
                            <a:rPr lang="zh-CN" altLang="en-US" sz="2800" b="1">
                              <a:latin typeface="Times New Roman" panose="02020603050405020304" pitchFamily="18" charset="0"/>
                              <a:ea typeface="宋体" panose="02010600030101010101" pitchFamily="2" charset="-122"/>
                            </a:rPr>
                            <a:t>年龄 </a:t>
                          </a:r>
                          <a14:m>
                            <m:oMath xmlns:m="http://schemas.openxmlformats.org/officeDocument/2006/math">
                              <m:r>
                                <a:rPr lang="zh-CN" altLang="en-US" sz="2800" b="1">
                                  <a:latin typeface="Cambria Math" panose="02040503050406030204" pitchFamily="18" charset="0"/>
                                </a:rPr>
                                <m:t>𝑥</m:t>
                              </m:r>
                            </m:oMath>
                          </a14:m>
                          <a:endParaRPr lang="zh-CN" altLang="en-US" sz="2800" b="1">
                            <a:latin typeface="Times New Roman" panose="02020603050405020304" pitchFamily="18" charset="0"/>
                            <a:ea typeface="宋体" panose="02010600030101010101" pitchFamily="2" charset="-122"/>
                          </a:endParaRPr>
                        </a:p>
                      </a:txBody>
                      <a:tcPr anchor="ctr">
                        <a:lnL>
                          <a:noFill/>
                        </a:lnL>
                        <a:lnR>
                          <a:noFill/>
                        </a:lnR>
                        <a:lnT>
                          <a:noFill/>
                        </a:lnT>
                        <a:lnB>
                          <a:noFill/>
                        </a:lnB>
                        <a:noFill/>
                      </a:tcPr>
                    </a:tc>
                    <a:tc>
                      <a:txBody>
                        <a:bodyPr/>
                        <a:lstStyle/>
                        <a:p>
                          <a:pPr>
                            <a:buNone/>
                          </a:pPr>
                          <a:r>
                            <a:rPr lang="zh-CN" altLang="en-US" sz="2800" b="1">
                              <a:latin typeface="Times New Roman" panose="02020603050405020304" pitchFamily="18" charset="0"/>
                              <a:ea typeface="宋体" panose="02010600030101010101" pitchFamily="2" charset="-122"/>
                            </a:rPr>
                            <a:t>存活率 </a:t>
                          </a:r>
                          <a14:m>
                            <m:oMath xmlns:m="http://schemas.openxmlformats.org/officeDocument/2006/math">
                              <m:sSub>
                                <m:sSubPr>
                                  <m:ctrlPr>
                                    <a:rPr lang="ar-AE" altLang="zh-CN" sz="2800" b="1" i="1">
                                      <a:latin typeface="Cambria Math" panose="02040503050406030204" pitchFamily="18" charset="0"/>
                                    </a:rPr>
                                  </m:ctrlPr>
                                </m:sSubPr>
                                <m:e>
                                  <m:r>
                                    <a:rPr lang="ar-AE" altLang="zh-CN" sz="2800" b="1">
                                      <a:latin typeface="Cambria Math" panose="02040503050406030204" pitchFamily="18" charset="0"/>
                                    </a:rPr>
                                    <m:t>𝑙</m:t>
                                  </m:r>
                                </m:e>
                                <m:sub>
                                  <m:r>
                                    <a:rPr lang="ar-AE" altLang="zh-CN" sz="2800" b="1">
                                      <a:latin typeface="Cambria Math" panose="02040503050406030204" pitchFamily="18" charset="0"/>
                                    </a:rPr>
                                    <m:t>𝑥</m:t>
                                  </m:r>
                                </m:sub>
                              </m:sSub>
                            </m:oMath>
                          </a14:m>
                          <a:endParaRPr lang="ar-AE" sz="2800" b="1">
                            <a:latin typeface="Times New Roman" panose="02020603050405020304" pitchFamily="18" charset="0"/>
                            <a:ea typeface="宋体" panose="02010600030101010101" pitchFamily="2" charset="-122"/>
                          </a:endParaRPr>
                        </a:p>
                      </a:txBody>
                      <a:tcPr anchor="ctr">
                        <a:lnL>
                          <a:noFill/>
                        </a:lnL>
                        <a:lnR>
                          <a:noFill/>
                        </a:lnR>
                        <a:lnT>
                          <a:noFill/>
                        </a:lnT>
                        <a:lnB>
                          <a:noFill/>
                        </a:lnB>
                        <a:noFill/>
                      </a:tcPr>
                    </a:tc>
                    <a:tc>
                      <a:txBody>
                        <a:bodyPr/>
                        <a:lstStyle/>
                        <a:p>
                          <a:pPr>
                            <a:buNone/>
                          </a:pPr>
                          <a:r>
                            <a:rPr lang="zh-CN" altLang="en-US" sz="2800" b="1" dirty="0">
                              <a:latin typeface="Times New Roman" panose="02020603050405020304" pitchFamily="18" charset="0"/>
                              <a:ea typeface="宋体" panose="02010600030101010101" pitchFamily="2" charset="-122"/>
                            </a:rPr>
                            <a:t>繁殖力 </a:t>
                          </a:r>
                          <a14:m>
                            <m:oMath xmlns:m="http://schemas.openxmlformats.org/officeDocument/2006/math">
                              <m:sSub>
                                <m:sSubPr>
                                  <m:ctrlPr>
                                    <a:rPr lang="ar-AE" altLang="zh-CN" sz="2800" b="1" i="1">
                                      <a:latin typeface="Cambria Math" panose="02040503050406030204" pitchFamily="18" charset="0"/>
                                    </a:rPr>
                                  </m:ctrlPr>
                                </m:sSubPr>
                                <m:e>
                                  <m:r>
                                    <a:rPr lang="ar-AE" altLang="zh-CN" sz="2800" b="1">
                                      <a:latin typeface="Cambria Math" panose="02040503050406030204" pitchFamily="18" charset="0"/>
                                    </a:rPr>
                                    <m:t>𝑚</m:t>
                                  </m:r>
                                </m:e>
                                <m:sub>
                                  <m:r>
                                    <a:rPr lang="ar-AE" altLang="zh-CN" sz="2800" b="1">
                                      <a:latin typeface="Cambria Math" panose="02040503050406030204" pitchFamily="18" charset="0"/>
                                    </a:rPr>
                                    <m:t>𝑥</m:t>
                                  </m:r>
                                </m:sub>
                              </m:sSub>
                            </m:oMath>
                          </a14:m>
                          <a:r>
                            <a:rPr lang="ar-AE"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（产卵数）</a:t>
                          </a:r>
                          <a:endParaRPr lang="en-US" altLang="zh-CN" sz="2800" b="1" dirty="0">
                            <a:latin typeface="Times New Roman" panose="02020603050405020304" pitchFamily="18" charset="0"/>
                            <a:ea typeface="宋体" panose="02010600030101010101" pitchFamily="2" charset="-122"/>
                          </a:endParaRPr>
                        </a:p>
                      </a:txBody>
                      <a:tcPr anchor="ctr">
                        <a:lnL>
                          <a:noFill/>
                        </a:lnL>
                        <a:lnR>
                          <a:noFill/>
                        </a:lnR>
                        <a:lnT>
                          <a:noFill/>
                        </a:lnT>
                        <a:lnB>
                          <a:noFill/>
                        </a:lnB>
                        <a:noFill/>
                      </a:tcPr>
                    </a:tc>
                    <a:extLst>
                      <a:ext uri="{0D108BD9-81ED-4DB2-BD59-A6C34878D82A}">
                        <a16:rowId xmlns:a16="http://schemas.microsoft.com/office/drawing/2014/main" val="715000420"/>
                      </a:ext>
                    </a:extLst>
                  </a:tr>
                  <a:tr h="0">
                    <a:tc>
                      <a:txBody>
                        <a:bodyPr/>
                        <a:lstStyle/>
                        <a:p>
                          <a:pPr>
                            <a:buNone/>
                          </a:pPr>
                          <a:r>
                            <a:rPr lang="en-US" altLang="zh-CN" sz="2800" b="1">
                              <a:latin typeface="Times New Roman" panose="02020603050405020304" pitchFamily="18" charset="0"/>
                              <a:ea typeface="宋体" panose="02010600030101010101" pitchFamily="2" charset="-122"/>
                            </a:rPr>
                            <a:t>0</a:t>
                          </a:r>
                          <a:r>
                            <a:rPr lang="zh-CN" altLang="en-US" sz="2800" b="1">
                              <a:latin typeface="Times New Roman" panose="02020603050405020304" pitchFamily="18" charset="0"/>
                              <a:ea typeface="宋体" panose="02010600030101010101" pitchFamily="2" charset="-122"/>
                            </a:rPr>
                            <a:t>（刚出生）</a:t>
                          </a:r>
                        </a:p>
                      </a:txBody>
                      <a:tcPr anchor="ctr">
                        <a:lnL>
                          <a:noFill/>
                        </a:lnL>
                        <a:lnR>
                          <a:noFill/>
                        </a:lnR>
                        <a:lnT>
                          <a:noFill/>
                        </a:lnT>
                        <a:lnB>
                          <a:noFill/>
                        </a:lnB>
                        <a:noFill/>
                      </a:tcPr>
                    </a:tc>
                    <a:tc>
                      <a:txBody>
                        <a:bodyPr/>
                        <a:lstStyle/>
                        <a:p>
                          <a:pPr>
                            <a:buNone/>
                          </a:pPr>
                          <a:r>
                            <a:rPr lang="en-US" altLang="zh-CN" sz="2800" b="1">
                              <a:latin typeface="Times New Roman" panose="02020603050405020304" pitchFamily="18" charset="0"/>
                              <a:ea typeface="宋体" panose="02010600030101010101" pitchFamily="2" charset="-122"/>
                            </a:rPr>
                            <a:t>1.0</a:t>
                          </a:r>
                        </a:p>
                      </a:txBody>
                      <a:tcPr anchor="ctr">
                        <a:lnL>
                          <a:noFill/>
                        </a:lnL>
                        <a:lnR>
                          <a:noFill/>
                        </a:lnR>
                        <a:lnT>
                          <a:noFill/>
                        </a:lnT>
                        <a:lnB>
                          <a:noFill/>
                        </a:lnB>
                        <a:noFill/>
                      </a:tcPr>
                    </a:tc>
                    <a:tc>
                      <a:txBody>
                        <a:bodyPr/>
                        <a:lstStyle/>
                        <a:p>
                          <a:pPr>
                            <a:buNone/>
                          </a:pPr>
                          <a:r>
                            <a:rPr lang="en-US" altLang="zh-CN" sz="2800" b="1">
                              <a:latin typeface="Times New Roman" panose="02020603050405020304" pitchFamily="18" charset="0"/>
                              <a:ea typeface="宋体" panose="02010600030101010101" pitchFamily="2" charset="-122"/>
                            </a:rPr>
                            <a:t>0</a:t>
                          </a:r>
                        </a:p>
                      </a:txBody>
                      <a:tcPr anchor="ctr">
                        <a:lnL>
                          <a:noFill/>
                        </a:lnL>
                        <a:lnR>
                          <a:noFill/>
                        </a:lnR>
                        <a:lnT>
                          <a:noFill/>
                        </a:lnT>
                        <a:lnB>
                          <a:noFill/>
                        </a:lnB>
                        <a:noFill/>
                      </a:tcPr>
                    </a:tc>
                    <a:extLst>
                      <a:ext uri="{0D108BD9-81ED-4DB2-BD59-A6C34878D82A}">
                        <a16:rowId xmlns:a16="http://schemas.microsoft.com/office/drawing/2014/main" val="2550188526"/>
                      </a:ext>
                    </a:extLst>
                  </a:tr>
                  <a:tr h="0">
                    <a:tc>
                      <a:txBody>
                        <a:bodyPr/>
                        <a:lstStyle/>
                        <a:p>
                          <a:pPr>
                            <a:buNone/>
                          </a:pPr>
                          <a:r>
                            <a:rPr lang="en-US" altLang="zh-CN" sz="2800" b="1">
                              <a:latin typeface="Times New Roman" panose="02020603050405020304" pitchFamily="18" charset="0"/>
                              <a:ea typeface="宋体" panose="02010600030101010101" pitchFamily="2" charset="-122"/>
                            </a:rPr>
                            <a:t>1</a:t>
                          </a:r>
                          <a:r>
                            <a:rPr lang="zh-CN" altLang="en-US" sz="2800" b="1">
                              <a:latin typeface="Times New Roman" panose="02020603050405020304" pitchFamily="18" charset="0"/>
                              <a:ea typeface="宋体" panose="02010600030101010101" pitchFamily="2" charset="-122"/>
                            </a:rPr>
                            <a:t>（幼体）</a:t>
                          </a:r>
                        </a:p>
                      </a:txBody>
                      <a:tcPr anchor="ctr">
                        <a:lnL>
                          <a:noFill/>
                        </a:lnL>
                        <a:lnR>
                          <a:noFill/>
                        </a:lnR>
                        <a:lnT>
                          <a:noFill/>
                        </a:lnT>
                        <a:lnB>
                          <a:noFill/>
                        </a:lnB>
                        <a:noFill/>
                      </a:tcPr>
                    </a:tc>
                    <a:tc>
                      <a:txBody>
                        <a:bodyPr/>
                        <a:lstStyle/>
                        <a:p>
                          <a:pPr>
                            <a:buNone/>
                          </a:pPr>
                          <a:r>
                            <a:rPr lang="en-US" altLang="zh-CN" sz="2800" b="1">
                              <a:latin typeface="Times New Roman" panose="02020603050405020304" pitchFamily="18" charset="0"/>
                              <a:ea typeface="宋体" panose="02010600030101010101" pitchFamily="2" charset="-122"/>
                            </a:rPr>
                            <a:t>0.5</a:t>
                          </a:r>
                        </a:p>
                      </a:txBody>
                      <a:tcPr anchor="ctr">
                        <a:lnL>
                          <a:noFill/>
                        </a:lnL>
                        <a:lnR>
                          <a:noFill/>
                        </a:lnR>
                        <a:lnT>
                          <a:noFill/>
                        </a:lnT>
                        <a:lnB>
                          <a:noFill/>
                        </a:lnB>
                        <a:noFill/>
                      </a:tcPr>
                    </a:tc>
                    <a:tc>
                      <a:txBody>
                        <a:bodyPr/>
                        <a:lstStyle/>
                        <a:p>
                          <a:pPr>
                            <a:buNone/>
                          </a:pPr>
                          <a:r>
                            <a:rPr lang="en-US" altLang="zh-CN" sz="2800" b="1" dirty="0">
                              <a:latin typeface="Times New Roman" panose="02020603050405020304" pitchFamily="18" charset="0"/>
                              <a:ea typeface="宋体" panose="02010600030101010101" pitchFamily="2" charset="-122"/>
                            </a:rPr>
                            <a:t>0</a:t>
                          </a:r>
                        </a:p>
                      </a:txBody>
                      <a:tcPr anchor="ctr">
                        <a:lnL>
                          <a:noFill/>
                        </a:lnL>
                        <a:lnR>
                          <a:noFill/>
                        </a:lnR>
                        <a:lnT>
                          <a:noFill/>
                        </a:lnT>
                        <a:lnB>
                          <a:noFill/>
                        </a:lnB>
                        <a:noFill/>
                      </a:tcPr>
                    </a:tc>
                    <a:extLst>
                      <a:ext uri="{0D108BD9-81ED-4DB2-BD59-A6C34878D82A}">
                        <a16:rowId xmlns:a16="http://schemas.microsoft.com/office/drawing/2014/main" val="3716033400"/>
                      </a:ext>
                    </a:extLst>
                  </a:tr>
                  <a:tr h="0">
                    <a:tc>
                      <a:txBody>
                        <a:bodyPr/>
                        <a:lstStyle/>
                        <a:p>
                          <a:pPr>
                            <a:buNone/>
                          </a:pPr>
                          <a:r>
                            <a:rPr lang="en-US" altLang="zh-CN" sz="2800" b="1">
                              <a:latin typeface="Times New Roman" panose="02020603050405020304" pitchFamily="18" charset="0"/>
                              <a:ea typeface="宋体" panose="02010600030101010101" pitchFamily="2" charset="-122"/>
                            </a:rPr>
                            <a:t>2</a:t>
                          </a:r>
                          <a:r>
                            <a:rPr lang="zh-CN" altLang="en-US" sz="2800" b="1">
                              <a:latin typeface="Times New Roman" panose="02020603050405020304" pitchFamily="18" charset="0"/>
                              <a:ea typeface="宋体" panose="02010600030101010101" pitchFamily="2" charset="-122"/>
                            </a:rPr>
                            <a:t>（亚成虫）</a:t>
                          </a:r>
                        </a:p>
                      </a:txBody>
                      <a:tcPr anchor="ctr">
                        <a:lnL>
                          <a:noFill/>
                        </a:lnL>
                        <a:lnR>
                          <a:noFill/>
                        </a:lnR>
                        <a:lnT>
                          <a:noFill/>
                        </a:lnT>
                        <a:lnB>
                          <a:noFill/>
                        </a:lnB>
                        <a:noFill/>
                      </a:tcPr>
                    </a:tc>
                    <a:tc>
                      <a:txBody>
                        <a:bodyPr/>
                        <a:lstStyle/>
                        <a:p>
                          <a:pPr>
                            <a:buNone/>
                          </a:pPr>
                          <a:r>
                            <a:rPr lang="en-US" altLang="zh-CN" sz="2800" b="1" dirty="0">
                              <a:latin typeface="Times New Roman" panose="02020603050405020304" pitchFamily="18" charset="0"/>
                              <a:ea typeface="宋体" panose="02010600030101010101" pitchFamily="2" charset="-122"/>
                            </a:rPr>
                            <a:t>0.3</a:t>
                          </a:r>
                        </a:p>
                      </a:txBody>
                      <a:tcPr anchor="ctr">
                        <a:lnL>
                          <a:noFill/>
                        </a:lnL>
                        <a:lnR>
                          <a:noFill/>
                        </a:lnR>
                        <a:lnT>
                          <a:noFill/>
                        </a:lnT>
                        <a:lnB>
                          <a:noFill/>
                        </a:lnB>
                        <a:noFill/>
                      </a:tcPr>
                    </a:tc>
                    <a:tc>
                      <a:txBody>
                        <a:bodyPr/>
                        <a:lstStyle/>
                        <a:p>
                          <a:pPr>
                            <a:buNone/>
                          </a:pPr>
                          <a:r>
                            <a:rPr lang="en-US" altLang="zh-CN" sz="2800" b="1">
                              <a:latin typeface="Times New Roman" panose="02020603050405020304" pitchFamily="18" charset="0"/>
                              <a:ea typeface="宋体" panose="02010600030101010101" pitchFamily="2" charset="-122"/>
                            </a:rPr>
                            <a:t>2</a:t>
                          </a:r>
                        </a:p>
                      </a:txBody>
                      <a:tcPr anchor="ctr">
                        <a:lnL>
                          <a:noFill/>
                        </a:lnL>
                        <a:lnR>
                          <a:noFill/>
                        </a:lnR>
                        <a:lnT>
                          <a:noFill/>
                        </a:lnT>
                        <a:lnB>
                          <a:noFill/>
                        </a:lnB>
                        <a:noFill/>
                      </a:tcPr>
                    </a:tc>
                    <a:extLst>
                      <a:ext uri="{0D108BD9-81ED-4DB2-BD59-A6C34878D82A}">
                        <a16:rowId xmlns:a16="http://schemas.microsoft.com/office/drawing/2014/main" val="1373329859"/>
                      </a:ext>
                    </a:extLst>
                  </a:tr>
                  <a:tr h="0">
                    <a:tc>
                      <a:txBody>
                        <a:bodyPr/>
                        <a:lstStyle/>
                        <a:p>
                          <a:pPr>
                            <a:buNone/>
                          </a:pPr>
                          <a:r>
                            <a:rPr lang="en-US" altLang="zh-CN" sz="2800" b="1" dirty="0">
                              <a:latin typeface="Times New Roman" panose="02020603050405020304" pitchFamily="18" charset="0"/>
                              <a:ea typeface="宋体" panose="02010600030101010101" pitchFamily="2" charset="-122"/>
                            </a:rPr>
                            <a:t>3</a:t>
                          </a:r>
                          <a:r>
                            <a:rPr lang="zh-CN" altLang="en-US" sz="2800" b="1" dirty="0">
                              <a:latin typeface="Times New Roman" panose="02020603050405020304" pitchFamily="18" charset="0"/>
                              <a:ea typeface="宋体" panose="02010600030101010101" pitchFamily="2" charset="-122"/>
                            </a:rPr>
                            <a:t>（成虫）</a:t>
                          </a:r>
                        </a:p>
                      </a:txBody>
                      <a:tcPr anchor="ctr">
                        <a:lnL>
                          <a:noFill/>
                        </a:lnL>
                        <a:lnR>
                          <a:noFill/>
                        </a:lnR>
                        <a:lnT>
                          <a:noFill/>
                        </a:lnT>
                        <a:lnB>
                          <a:noFill/>
                        </a:lnB>
                        <a:noFill/>
                      </a:tcPr>
                    </a:tc>
                    <a:tc>
                      <a:txBody>
                        <a:bodyPr/>
                        <a:lstStyle/>
                        <a:p>
                          <a:pPr>
                            <a:buNone/>
                          </a:pPr>
                          <a:r>
                            <a:rPr lang="en-US" altLang="zh-CN" sz="2800" b="1">
                              <a:latin typeface="Times New Roman" panose="02020603050405020304" pitchFamily="18" charset="0"/>
                              <a:ea typeface="宋体" panose="02010600030101010101" pitchFamily="2" charset="-122"/>
                            </a:rPr>
                            <a:t>0.1</a:t>
                          </a:r>
                        </a:p>
                      </a:txBody>
                      <a:tcPr anchor="ctr">
                        <a:lnL>
                          <a:noFill/>
                        </a:lnL>
                        <a:lnR>
                          <a:noFill/>
                        </a:lnR>
                        <a:lnT>
                          <a:noFill/>
                        </a:lnT>
                        <a:lnB>
                          <a:noFill/>
                        </a:lnB>
                        <a:noFill/>
                      </a:tcPr>
                    </a:tc>
                    <a:tc>
                      <a:txBody>
                        <a:bodyPr/>
                        <a:lstStyle/>
                        <a:p>
                          <a:pPr>
                            <a:buNone/>
                          </a:pPr>
                          <a:r>
                            <a:rPr lang="en-US" altLang="zh-CN" sz="2800" b="1">
                              <a:latin typeface="Times New Roman" panose="02020603050405020304" pitchFamily="18" charset="0"/>
                              <a:ea typeface="宋体" panose="02010600030101010101" pitchFamily="2" charset="-122"/>
                            </a:rPr>
                            <a:t>4</a:t>
                          </a:r>
                        </a:p>
                      </a:txBody>
                      <a:tcPr anchor="ctr">
                        <a:lnL>
                          <a:noFill/>
                        </a:lnL>
                        <a:lnR>
                          <a:noFill/>
                        </a:lnR>
                        <a:lnT>
                          <a:noFill/>
                        </a:lnT>
                        <a:lnB>
                          <a:noFill/>
                        </a:lnB>
                        <a:noFill/>
                      </a:tcPr>
                    </a:tc>
                    <a:extLst>
                      <a:ext uri="{0D108BD9-81ED-4DB2-BD59-A6C34878D82A}">
                        <a16:rowId xmlns:a16="http://schemas.microsoft.com/office/drawing/2014/main" val="1368625949"/>
                      </a:ext>
                    </a:extLst>
                  </a:tr>
                  <a:tr h="0">
                    <a:tc>
                      <a:txBody>
                        <a:bodyPr/>
                        <a:lstStyle/>
                        <a:p>
                          <a:pPr>
                            <a:buNone/>
                          </a:pPr>
                          <a:r>
                            <a:rPr lang="en-US" altLang="zh-CN" sz="2800" b="1">
                              <a:latin typeface="Times New Roman" panose="02020603050405020304" pitchFamily="18" charset="0"/>
                              <a:ea typeface="宋体" panose="02010600030101010101" pitchFamily="2" charset="-122"/>
                            </a:rPr>
                            <a:t>4</a:t>
                          </a:r>
                          <a:r>
                            <a:rPr lang="zh-CN" altLang="en-US" sz="2800" b="1">
                              <a:latin typeface="Times New Roman" panose="02020603050405020304" pitchFamily="18" charset="0"/>
                              <a:ea typeface="宋体" panose="02010600030101010101" pitchFamily="2" charset="-122"/>
                            </a:rPr>
                            <a:t>（老成虫）</a:t>
                          </a:r>
                        </a:p>
                      </a:txBody>
                      <a:tcPr anchor="ctr">
                        <a:lnL>
                          <a:noFill/>
                        </a:lnL>
                        <a:lnR>
                          <a:noFill/>
                        </a:lnR>
                        <a:lnT>
                          <a:noFill/>
                        </a:lnT>
                        <a:lnB>
                          <a:noFill/>
                        </a:lnB>
                        <a:noFill/>
                      </a:tcPr>
                    </a:tc>
                    <a:tc>
                      <a:txBody>
                        <a:bodyPr/>
                        <a:lstStyle/>
                        <a:p>
                          <a:pPr>
                            <a:buNone/>
                          </a:pPr>
                          <a:r>
                            <a:rPr lang="en-US" altLang="zh-CN" sz="2800" b="1" dirty="0">
                              <a:latin typeface="Times New Roman" panose="02020603050405020304" pitchFamily="18" charset="0"/>
                              <a:ea typeface="宋体" panose="02010600030101010101" pitchFamily="2" charset="-122"/>
                            </a:rPr>
                            <a:t>0.05</a:t>
                          </a:r>
                        </a:p>
                      </a:txBody>
                      <a:tcPr anchor="ctr">
                        <a:lnL>
                          <a:noFill/>
                        </a:lnL>
                        <a:lnR>
                          <a:noFill/>
                        </a:lnR>
                        <a:lnT>
                          <a:noFill/>
                        </a:lnT>
                        <a:lnB>
                          <a:noFill/>
                        </a:lnB>
                        <a:noFill/>
                      </a:tcPr>
                    </a:tc>
                    <a:tc>
                      <a:txBody>
                        <a:bodyPr/>
                        <a:lstStyle/>
                        <a:p>
                          <a:pPr>
                            <a:buNone/>
                          </a:pPr>
                          <a:r>
                            <a:rPr lang="en-US" altLang="zh-CN" sz="2800" b="1" dirty="0">
                              <a:latin typeface="Times New Roman" panose="02020603050405020304" pitchFamily="18" charset="0"/>
                              <a:ea typeface="宋体" panose="02010600030101010101" pitchFamily="2" charset="-122"/>
                            </a:rPr>
                            <a:t>1</a:t>
                          </a:r>
                        </a:p>
                      </a:txBody>
                      <a:tcPr anchor="ctr">
                        <a:lnL>
                          <a:noFill/>
                        </a:lnL>
                        <a:lnR>
                          <a:noFill/>
                        </a:lnR>
                        <a:lnT>
                          <a:noFill/>
                        </a:lnT>
                        <a:lnB>
                          <a:noFill/>
                        </a:lnB>
                        <a:noFill/>
                      </a:tcPr>
                    </a:tc>
                    <a:extLst>
                      <a:ext uri="{0D108BD9-81ED-4DB2-BD59-A6C34878D82A}">
                        <a16:rowId xmlns:a16="http://schemas.microsoft.com/office/drawing/2014/main" val="3696283745"/>
                      </a:ext>
                    </a:extLst>
                  </a:tr>
                </a:tbl>
              </a:graphicData>
            </a:graphic>
          </p:graphicFrame>
        </mc:Choice>
        <mc:Fallback xmlns="">
          <p:graphicFrame>
            <p:nvGraphicFramePr>
              <p:cNvPr id="4" name="表格 3">
                <a:extLst>
                  <a:ext uri="{FF2B5EF4-FFF2-40B4-BE49-F238E27FC236}">
                    <a16:creationId xmlns:a16="http://schemas.microsoft.com/office/drawing/2014/main" id="{2DDDEAF4-CCA1-F0C0-DD23-EEAF9F9E9512}"/>
                  </a:ext>
                </a:extLst>
              </p:cNvPr>
              <p:cNvGraphicFramePr>
                <a:graphicFrameLocks noGrp="1"/>
              </p:cNvGraphicFramePr>
              <p:nvPr>
                <p:extLst>
                  <p:ext uri="{D42A27DB-BD31-4B8C-83A1-F6EECF244321}">
                    <p14:modId xmlns:p14="http://schemas.microsoft.com/office/powerpoint/2010/main" val="568988796"/>
                  </p:ext>
                </p:extLst>
              </p:nvPr>
            </p:nvGraphicFramePr>
            <p:xfrm>
              <a:off x="768350" y="-3175"/>
              <a:ext cx="8855076" cy="3108960"/>
            </p:xfrm>
            <a:graphic>
              <a:graphicData uri="http://schemas.openxmlformats.org/drawingml/2006/table">
                <a:tbl>
                  <a:tblPr/>
                  <a:tblGrid>
                    <a:gridCol w="2951692">
                      <a:extLst>
                        <a:ext uri="{9D8B030D-6E8A-4147-A177-3AD203B41FA5}">
                          <a16:colId xmlns:a16="http://schemas.microsoft.com/office/drawing/2014/main" val="3221588983"/>
                        </a:ext>
                      </a:extLst>
                    </a:gridCol>
                    <a:gridCol w="1940983">
                      <a:extLst>
                        <a:ext uri="{9D8B030D-6E8A-4147-A177-3AD203B41FA5}">
                          <a16:colId xmlns:a16="http://schemas.microsoft.com/office/drawing/2014/main" val="3048282920"/>
                        </a:ext>
                      </a:extLst>
                    </a:gridCol>
                    <a:gridCol w="3962401">
                      <a:extLst>
                        <a:ext uri="{9D8B030D-6E8A-4147-A177-3AD203B41FA5}">
                          <a16:colId xmlns:a16="http://schemas.microsoft.com/office/drawing/2014/main" val="827552608"/>
                        </a:ext>
                      </a:extLst>
                    </a:gridCol>
                  </a:tblGrid>
                  <a:tr h="518160">
                    <a:tc>
                      <a:txBody>
                        <a:bodyPr/>
                        <a:lstStyle/>
                        <a:p>
                          <a:endParaRPr lang="zh-CN"/>
                        </a:p>
                      </a:txBody>
                      <a:tcPr anchor="ctr">
                        <a:lnL>
                          <a:noFill/>
                        </a:lnL>
                        <a:lnR>
                          <a:noFill/>
                        </a:lnR>
                        <a:lnT>
                          <a:noFill/>
                        </a:lnT>
                        <a:lnB>
                          <a:noFill/>
                        </a:lnB>
                        <a:blipFill>
                          <a:blip r:embed="rId2"/>
                          <a:stretch>
                            <a:fillRect t="-17073" r="-199571" b="-534146"/>
                          </a:stretch>
                        </a:blipFill>
                      </a:tcPr>
                    </a:tc>
                    <a:tc>
                      <a:txBody>
                        <a:bodyPr/>
                        <a:lstStyle/>
                        <a:p>
                          <a:endParaRPr lang="zh-CN"/>
                        </a:p>
                      </a:txBody>
                      <a:tcPr anchor="ctr">
                        <a:lnL>
                          <a:noFill/>
                        </a:lnL>
                        <a:lnR>
                          <a:noFill/>
                        </a:lnR>
                        <a:lnT>
                          <a:noFill/>
                        </a:lnT>
                        <a:lnB>
                          <a:noFill/>
                        </a:lnB>
                        <a:blipFill>
                          <a:blip r:embed="rId2"/>
                          <a:stretch>
                            <a:fillRect l="-152288" t="-17073" r="-203922" b="-534146"/>
                          </a:stretch>
                        </a:blipFill>
                      </a:tcPr>
                    </a:tc>
                    <a:tc>
                      <a:txBody>
                        <a:bodyPr/>
                        <a:lstStyle/>
                        <a:p>
                          <a:endParaRPr lang="zh-CN"/>
                        </a:p>
                      </a:txBody>
                      <a:tcPr anchor="ctr">
                        <a:lnL>
                          <a:noFill/>
                        </a:lnL>
                        <a:lnR>
                          <a:noFill/>
                        </a:lnR>
                        <a:lnT>
                          <a:noFill/>
                        </a:lnT>
                        <a:lnB>
                          <a:noFill/>
                        </a:lnB>
                        <a:blipFill>
                          <a:blip r:embed="rId2"/>
                          <a:stretch>
                            <a:fillRect l="-123718" t="-17073" b="-534146"/>
                          </a:stretch>
                        </a:blipFill>
                      </a:tcPr>
                    </a:tc>
                    <a:extLst>
                      <a:ext uri="{0D108BD9-81ED-4DB2-BD59-A6C34878D82A}">
                        <a16:rowId xmlns:a16="http://schemas.microsoft.com/office/drawing/2014/main" val="715000420"/>
                      </a:ext>
                    </a:extLst>
                  </a:tr>
                  <a:tr h="518160">
                    <a:tc>
                      <a:txBody>
                        <a:bodyPr/>
                        <a:lstStyle/>
                        <a:p>
                          <a:pPr>
                            <a:buNone/>
                          </a:pPr>
                          <a:r>
                            <a:rPr lang="en-US" altLang="zh-CN" sz="2800" b="1">
                              <a:latin typeface="Times New Roman" panose="02020603050405020304" pitchFamily="18" charset="0"/>
                              <a:ea typeface="宋体" panose="02010600030101010101" pitchFamily="2" charset="-122"/>
                            </a:rPr>
                            <a:t>0</a:t>
                          </a:r>
                          <a:r>
                            <a:rPr lang="zh-CN" altLang="en-US" sz="2800" b="1">
                              <a:latin typeface="Times New Roman" panose="02020603050405020304" pitchFamily="18" charset="0"/>
                              <a:ea typeface="宋体" panose="02010600030101010101" pitchFamily="2" charset="-122"/>
                            </a:rPr>
                            <a:t>（刚出生）</a:t>
                          </a:r>
                        </a:p>
                      </a:txBody>
                      <a:tcPr anchor="ctr">
                        <a:lnL>
                          <a:noFill/>
                        </a:lnL>
                        <a:lnR>
                          <a:noFill/>
                        </a:lnR>
                        <a:lnT>
                          <a:noFill/>
                        </a:lnT>
                        <a:lnB>
                          <a:noFill/>
                        </a:lnB>
                        <a:noFill/>
                      </a:tcPr>
                    </a:tc>
                    <a:tc>
                      <a:txBody>
                        <a:bodyPr/>
                        <a:lstStyle/>
                        <a:p>
                          <a:pPr>
                            <a:buNone/>
                          </a:pPr>
                          <a:r>
                            <a:rPr lang="en-US" altLang="zh-CN" sz="2800" b="1">
                              <a:latin typeface="Times New Roman" panose="02020603050405020304" pitchFamily="18" charset="0"/>
                              <a:ea typeface="宋体" panose="02010600030101010101" pitchFamily="2" charset="-122"/>
                            </a:rPr>
                            <a:t>1.0</a:t>
                          </a:r>
                        </a:p>
                      </a:txBody>
                      <a:tcPr anchor="ctr">
                        <a:lnL>
                          <a:noFill/>
                        </a:lnL>
                        <a:lnR>
                          <a:noFill/>
                        </a:lnR>
                        <a:lnT>
                          <a:noFill/>
                        </a:lnT>
                        <a:lnB>
                          <a:noFill/>
                        </a:lnB>
                        <a:noFill/>
                      </a:tcPr>
                    </a:tc>
                    <a:tc>
                      <a:txBody>
                        <a:bodyPr/>
                        <a:lstStyle/>
                        <a:p>
                          <a:pPr>
                            <a:buNone/>
                          </a:pPr>
                          <a:r>
                            <a:rPr lang="en-US" altLang="zh-CN" sz="2800" b="1">
                              <a:latin typeface="Times New Roman" panose="02020603050405020304" pitchFamily="18" charset="0"/>
                              <a:ea typeface="宋体" panose="02010600030101010101" pitchFamily="2" charset="-122"/>
                            </a:rPr>
                            <a:t>0</a:t>
                          </a:r>
                        </a:p>
                      </a:txBody>
                      <a:tcPr anchor="ctr">
                        <a:lnL>
                          <a:noFill/>
                        </a:lnL>
                        <a:lnR>
                          <a:noFill/>
                        </a:lnR>
                        <a:lnT>
                          <a:noFill/>
                        </a:lnT>
                        <a:lnB>
                          <a:noFill/>
                        </a:lnB>
                        <a:noFill/>
                      </a:tcPr>
                    </a:tc>
                    <a:extLst>
                      <a:ext uri="{0D108BD9-81ED-4DB2-BD59-A6C34878D82A}">
                        <a16:rowId xmlns:a16="http://schemas.microsoft.com/office/drawing/2014/main" val="2550188526"/>
                      </a:ext>
                    </a:extLst>
                  </a:tr>
                  <a:tr h="518160">
                    <a:tc>
                      <a:txBody>
                        <a:bodyPr/>
                        <a:lstStyle/>
                        <a:p>
                          <a:pPr>
                            <a:buNone/>
                          </a:pPr>
                          <a:r>
                            <a:rPr lang="en-US" altLang="zh-CN" sz="2800" b="1">
                              <a:latin typeface="Times New Roman" panose="02020603050405020304" pitchFamily="18" charset="0"/>
                              <a:ea typeface="宋体" panose="02010600030101010101" pitchFamily="2" charset="-122"/>
                            </a:rPr>
                            <a:t>1</a:t>
                          </a:r>
                          <a:r>
                            <a:rPr lang="zh-CN" altLang="en-US" sz="2800" b="1">
                              <a:latin typeface="Times New Roman" panose="02020603050405020304" pitchFamily="18" charset="0"/>
                              <a:ea typeface="宋体" panose="02010600030101010101" pitchFamily="2" charset="-122"/>
                            </a:rPr>
                            <a:t>（幼体）</a:t>
                          </a:r>
                        </a:p>
                      </a:txBody>
                      <a:tcPr anchor="ctr">
                        <a:lnL>
                          <a:noFill/>
                        </a:lnL>
                        <a:lnR>
                          <a:noFill/>
                        </a:lnR>
                        <a:lnT>
                          <a:noFill/>
                        </a:lnT>
                        <a:lnB>
                          <a:noFill/>
                        </a:lnB>
                        <a:noFill/>
                      </a:tcPr>
                    </a:tc>
                    <a:tc>
                      <a:txBody>
                        <a:bodyPr/>
                        <a:lstStyle/>
                        <a:p>
                          <a:pPr>
                            <a:buNone/>
                          </a:pPr>
                          <a:r>
                            <a:rPr lang="en-US" altLang="zh-CN" sz="2800" b="1">
                              <a:latin typeface="Times New Roman" panose="02020603050405020304" pitchFamily="18" charset="0"/>
                              <a:ea typeface="宋体" panose="02010600030101010101" pitchFamily="2" charset="-122"/>
                            </a:rPr>
                            <a:t>0.5</a:t>
                          </a:r>
                        </a:p>
                      </a:txBody>
                      <a:tcPr anchor="ctr">
                        <a:lnL>
                          <a:noFill/>
                        </a:lnL>
                        <a:lnR>
                          <a:noFill/>
                        </a:lnR>
                        <a:lnT>
                          <a:noFill/>
                        </a:lnT>
                        <a:lnB>
                          <a:noFill/>
                        </a:lnB>
                        <a:noFill/>
                      </a:tcPr>
                    </a:tc>
                    <a:tc>
                      <a:txBody>
                        <a:bodyPr/>
                        <a:lstStyle/>
                        <a:p>
                          <a:pPr>
                            <a:buNone/>
                          </a:pPr>
                          <a:r>
                            <a:rPr lang="en-US" altLang="zh-CN" sz="2800" b="1" dirty="0">
                              <a:latin typeface="Times New Roman" panose="02020603050405020304" pitchFamily="18" charset="0"/>
                              <a:ea typeface="宋体" panose="02010600030101010101" pitchFamily="2" charset="-122"/>
                            </a:rPr>
                            <a:t>0</a:t>
                          </a:r>
                        </a:p>
                      </a:txBody>
                      <a:tcPr anchor="ctr">
                        <a:lnL>
                          <a:noFill/>
                        </a:lnL>
                        <a:lnR>
                          <a:noFill/>
                        </a:lnR>
                        <a:lnT>
                          <a:noFill/>
                        </a:lnT>
                        <a:lnB>
                          <a:noFill/>
                        </a:lnB>
                        <a:noFill/>
                      </a:tcPr>
                    </a:tc>
                    <a:extLst>
                      <a:ext uri="{0D108BD9-81ED-4DB2-BD59-A6C34878D82A}">
                        <a16:rowId xmlns:a16="http://schemas.microsoft.com/office/drawing/2014/main" val="3716033400"/>
                      </a:ext>
                    </a:extLst>
                  </a:tr>
                  <a:tr h="518160">
                    <a:tc>
                      <a:txBody>
                        <a:bodyPr/>
                        <a:lstStyle/>
                        <a:p>
                          <a:pPr>
                            <a:buNone/>
                          </a:pPr>
                          <a:r>
                            <a:rPr lang="en-US" altLang="zh-CN" sz="2800" b="1">
                              <a:latin typeface="Times New Roman" panose="02020603050405020304" pitchFamily="18" charset="0"/>
                              <a:ea typeface="宋体" panose="02010600030101010101" pitchFamily="2" charset="-122"/>
                            </a:rPr>
                            <a:t>2</a:t>
                          </a:r>
                          <a:r>
                            <a:rPr lang="zh-CN" altLang="en-US" sz="2800" b="1">
                              <a:latin typeface="Times New Roman" panose="02020603050405020304" pitchFamily="18" charset="0"/>
                              <a:ea typeface="宋体" panose="02010600030101010101" pitchFamily="2" charset="-122"/>
                            </a:rPr>
                            <a:t>（亚成虫）</a:t>
                          </a:r>
                        </a:p>
                      </a:txBody>
                      <a:tcPr anchor="ctr">
                        <a:lnL>
                          <a:noFill/>
                        </a:lnL>
                        <a:lnR>
                          <a:noFill/>
                        </a:lnR>
                        <a:lnT>
                          <a:noFill/>
                        </a:lnT>
                        <a:lnB>
                          <a:noFill/>
                        </a:lnB>
                        <a:noFill/>
                      </a:tcPr>
                    </a:tc>
                    <a:tc>
                      <a:txBody>
                        <a:bodyPr/>
                        <a:lstStyle/>
                        <a:p>
                          <a:pPr>
                            <a:buNone/>
                          </a:pPr>
                          <a:r>
                            <a:rPr lang="en-US" altLang="zh-CN" sz="2800" b="1" dirty="0">
                              <a:latin typeface="Times New Roman" panose="02020603050405020304" pitchFamily="18" charset="0"/>
                              <a:ea typeface="宋体" panose="02010600030101010101" pitchFamily="2" charset="-122"/>
                            </a:rPr>
                            <a:t>0.3</a:t>
                          </a:r>
                        </a:p>
                      </a:txBody>
                      <a:tcPr anchor="ctr">
                        <a:lnL>
                          <a:noFill/>
                        </a:lnL>
                        <a:lnR>
                          <a:noFill/>
                        </a:lnR>
                        <a:lnT>
                          <a:noFill/>
                        </a:lnT>
                        <a:lnB>
                          <a:noFill/>
                        </a:lnB>
                        <a:noFill/>
                      </a:tcPr>
                    </a:tc>
                    <a:tc>
                      <a:txBody>
                        <a:bodyPr/>
                        <a:lstStyle/>
                        <a:p>
                          <a:pPr>
                            <a:buNone/>
                          </a:pPr>
                          <a:r>
                            <a:rPr lang="en-US" altLang="zh-CN" sz="2800" b="1">
                              <a:latin typeface="Times New Roman" panose="02020603050405020304" pitchFamily="18" charset="0"/>
                              <a:ea typeface="宋体" panose="02010600030101010101" pitchFamily="2" charset="-122"/>
                            </a:rPr>
                            <a:t>2</a:t>
                          </a:r>
                        </a:p>
                      </a:txBody>
                      <a:tcPr anchor="ctr">
                        <a:lnL>
                          <a:noFill/>
                        </a:lnL>
                        <a:lnR>
                          <a:noFill/>
                        </a:lnR>
                        <a:lnT>
                          <a:noFill/>
                        </a:lnT>
                        <a:lnB>
                          <a:noFill/>
                        </a:lnB>
                        <a:noFill/>
                      </a:tcPr>
                    </a:tc>
                    <a:extLst>
                      <a:ext uri="{0D108BD9-81ED-4DB2-BD59-A6C34878D82A}">
                        <a16:rowId xmlns:a16="http://schemas.microsoft.com/office/drawing/2014/main" val="1373329859"/>
                      </a:ext>
                    </a:extLst>
                  </a:tr>
                  <a:tr h="518160">
                    <a:tc>
                      <a:txBody>
                        <a:bodyPr/>
                        <a:lstStyle/>
                        <a:p>
                          <a:pPr>
                            <a:buNone/>
                          </a:pPr>
                          <a:r>
                            <a:rPr lang="en-US" altLang="zh-CN" sz="2800" b="1" dirty="0">
                              <a:latin typeface="Times New Roman" panose="02020603050405020304" pitchFamily="18" charset="0"/>
                              <a:ea typeface="宋体" panose="02010600030101010101" pitchFamily="2" charset="-122"/>
                            </a:rPr>
                            <a:t>3</a:t>
                          </a:r>
                          <a:r>
                            <a:rPr lang="zh-CN" altLang="en-US" sz="2800" b="1" dirty="0">
                              <a:latin typeface="Times New Roman" panose="02020603050405020304" pitchFamily="18" charset="0"/>
                              <a:ea typeface="宋体" panose="02010600030101010101" pitchFamily="2" charset="-122"/>
                            </a:rPr>
                            <a:t>（成虫）</a:t>
                          </a:r>
                        </a:p>
                      </a:txBody>
                      <a:tcPr anchor="ctr">
                        <a:lnL>
                          <a:noFill/>
                        </a:lnL>
                        <a:lnR>
                          <a:noFill/>
                        </a:lnR>
                        <a:lnT>
                          <a:noFill/>
                        </a:lnT>
                        <a:lnB>
                          <a:noFill/>
                        </a:lnB>
                        <a:noFill/>
                      </a:tcPr>
                    </a:tc>
                    <a:tc>
                      <a:txBody>
                        <a:bodyPr/>
                        <a:lstStyle/>
                        <a:p>
                          <a:pPr>
                            <a:buNone/>
                          </a:pPr>
                          <a:r>
                            <a:rPr lang="en-US" altLang="zh-CN" sz="2800" b="1">
                              <a:latin typeface="Times New Roman" panose="02020603050405020304" pitchFamily="18" charset="0"/>
                              <a:ea typeface="宋体" panose="02010600030101010101" pitchFamily="2" charset="-122"/>
                            </a:rPr>
                            <a:t>0.1</a:t>
                          </a:r>
                        </a:p>
                      </a:txBody>
                      <a:tcPr anchor="ctr">
                        <a:lnL>
                          <a:noFill/>
                        </a:lnL>
                        <a:lnR>
                          <a:noFill/>
                        </a:lnR>
                        <a:lnT>
                          <a:noFill/>
                        </a:lnT>
                        <a:lnB>
                          <a:noFill/>
                        </a:lnB>
                        <a:noFill/>
                      </a:tcPr>
                    </a:tc>
                    <a:tc>
                      <a:txBody>
                        <a:bodyPr/>
                        <a:lstStyle/>
                        <a:p>
                          <a:pPr>
                            <a:buNone/>
                          </a:pPr>
                          <a:r>
                            <a:rPr lang="en-US" altLang="zh-CN" sz="2800" b="1">
                              <a:latin typeface="Times New Roman" panose="02020603050405020304" pitchFamily="18" charset="0"/>
                              <a:ea typeface="宋体" panose="02010600030101010101" pitchFamily="2" charset="-122"/>
                            </a:rPr>
                            <a:t>4</a:t>
                          </a:r>
                        </a:p>
                      </a:txBody>
                      <a:tcPr anchor="ctr">
                        <a:lnL>
                          <a:noFill/>
                        </a:lnL>
                        <a:lnR>
                          <a:noFill/>
                        </a:lnR>
                        <a:lnT>
                          <a:noFill/>
                        </a:lnT>
                        <a:lnB>
                          <a:noFill/>
                        </a:lnB>
                        <a:noFill/>
                      </a:tcPr>
                    </a:tc>
                    <a:extLst>
                      <a:ext uri="{0D108BD9-81ED-4DB2-BD59-A6C34878D82A}">
                        <a16:rowId xmlns:a16="http://schemas.microsoft.com/office/drawing/2014/main" val="1368625949"/>
                      </a:ext>
                    </a:extLst>
                  </a:tr>
                  <a:tr h="518160">
                    <a:tc>
                      <a:txBody>
                        <a:bodyPr/>
                        <a:lstStyle/>
                        <a:p>
                          <a:pPr>
                            <a:buNone/>
                          </a:pPr>
                          <a:r>
                            <a:rPr lang="en-US" altLang="zh-CN" sz="2800" b="1">
                              <a:latin typeface="Times New Roman" panose="02020603050405020304" pitchFamily="18" charset="0"/>
                              <a:ea typeface="宋体" panose="02010600030101010101" pitchFamily="2" charset="-122"/>
                            </a:rPr>
                            <a:t>4</a:t>
                          </a:r>
                          <a:r>
                            <a:rPr lang="zh-CN" altLang="en-US" sz="2800" b="1">
                              <a:latin typeface="Times New Roman" panose="02020603050405020304" pitchFamily="18" charset="0"/>
                              <a:ea typeface="宋体" panose="02010600030101010101" pitchFamily="2" charset="-122"/>
                            </a:rPr>
                            <a:t>（老成虫）</a:t>
                          </a:r>
                        </a:p>
                      </a:txBody>
                      <a:tcPr anchor="ctr">
                        <a:lnL>
                          <a:noFill/>
                        </a:lnL>
                        <a:lnR>
                          <a:noFill/>
                        </a:lnR>
                        <a:lnT>
                          <a:noFill/>
                        </a:lnT>
                        <a:lnB>
                          <a:noFill/>
                        </a:lnB>
                        <a:noFill/>
                      </a:tcPr>
                    </a:tc>
                    <a:tc>
                      <a:txBody>
                        <a:bodyPr/>
                        <a:lstStyle/>
                        <a:p>
                          <a:pPr>
                            <a:buNone/>
                          </a:pPr>
                          <a:r>
                            <a:rPr lang="en-US" altLang="zh-CN" sz="2800" b="1" dirty="0">
                              <a:latin typeface="Times New Roman" panose="02020603050405020304" pitchFamily="18" charset="0"/>
                              <a:ea typeface="宋体" panose="02010600030101010101" pitchFamily="2" charset="-122"/>
                            </a:rPr>
                            <a:t>0.05</a:t>
                          </a:r>
                        </a:p>
                      </a:txBody>
                      <a:tcPr anchor="ctr">
                        <a:lnL>
                          <a:noFill/>
                        </a:lnL>
                        <a:lnR>
                          <a:noFill/>
                        </a:lnR>
                        <a:lnT>
                          <a:noFill/>
                        </a:lnT>
                        <a:lnB>
                          <a:noFill/>
                        </a:lnB>
                        <a:noFill/>
                      </a:tcPr>
                    </a:tc>
                    <a:tc>
                      <a:txBody>
                        <a:bodyPr/>
                        <a:lstStyle/>
                        <a:p>
                          <a:pPr>
                            <a:buNone/>
                          </a:pPr>
                          <a:r>
                            <a:rPr lang="en-US" altLang="zh-CN" sz="2800" b="1" dirty="0">
                              <a:latin typeface="Times New Roman" panose="02020603050405020304" pitchFamily="18" charset="0"/>
                              <a:ea typeface="宋体" panose="02010600030101010101" pitchFamily="2" charset="-122"/>
                            </a:rPr>
                            <a:t>1</a:t>
                          </a:r>
                        </a:p>
                      </a:txBody>
                      <a:tcPr anchor="ctr">
                        <a:lnL>
                          <a:noFill/>
                        </a:lnL>
                        <a:lnR>
                          <a:noFill/>
                        </a:lnR>
                        <a:lnT>
                          <a:noFill/>
                        </a:lnT>
                        <a:lnB>
                          <a:noFill/>
                        </a:lnB>
                        <a:noFill/>
                      </a:tcPr>
                    </a:tc>
                    <a:extLst>
                      <a:ext uri="{0D108BD9-81ED-4DB2-BD59-A6C34878D82A}">
                        <a16:rowId xmlns:a16="http://schemas.microsoft.com/office/drawing/2014/main" val="3696283745"/>
                      </a:ext>
                    </a:extLst>
                  </a:tr>
                </a:tbl>
              </a:graphicData>
            </a:graphic>
          </p:graphicFrame>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2213B10E-7369-F9E8-65DF-C5ADA84247B1}"/>
                  </a:ext>
                </a:extLst>
              </p:cNvPr>
              <p:cNvSpPr txBox="1"/>
              <p:nvPr/>
            </p:nvSpPr>
            <p:spPr>
              <a:xfrm>
                <a:off x="679450" y="3368675"/>
                <a:ext cx="7848600" cy="286232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r>
                  <a:rPr lang="zh-CN" altLang="en-US" sz="2000" b="1" dirty="0"/>
                  <a:t>新生个体（</a:t>
                </a:r>
                <a:r>
                  <a:rPr lang="en" altLang="zh-CN" sz="2000" b="1" dirty="0"/>
                  <a:t>x=0</a:t>
                </a:r>
                <a:r>
                  <a:rPr lang="zh-CN" altLang="en" sz="2000" b="1" dirty="0"/>
                  <a:t>）</a:t>
                </a:r>
                <a:r>
                  <a:rPr lang="zh-CN" altLang="en" sz="2000" dirty="0"/>
                  <a:t>：</a:t>
                </a:r>
                <a:br>
                  <a:rPr lang="zh-CN" altLang="en" sz="2000" dirty="0"/>
                </a:br>
                <a:r>
                  <a:rPr lang="zh-CN" altLang="en-US" sz="2000" dirty="0"/>
                  <a:t>最终平均能留下</a:t>
                </a:r>
                <a:r>
                  <a:rPr lang="en-US" altLang="zh-CN" sz="2000" dirty="0"/>
                  <a:t>R</a:t>
                </a:r>
                <a:r>
                  <a:rPr lang="en-US" altLang="zh-CN" sz="2000" baseline="-25000" dirty="0"/>
                  <a:t>0</a:t>
                </a:r>
                <a:r>
                  <a:rPr lang="zh-CN" altLang="en-US" sz="2000" dirty="0"/>
                  <a:t> 即</a:t>
                </a:r>
                <a:r>
                  <a:rPr lang="en-US" altLang="zh-CN" sz="2000" dirty="0"/>
                  <a:t>1.05 </a:t>
                </a:r>
                <a:r>
                  <a:rPr lang="zh-CN" altLang="en-US" sz="2000" dirty="0"/>
                  <a:t>个后代</a:t>
                </a:r>
                <a:endParaRPr lang="en-US" altLang="zh-CN" sz="2000" dirty="0"/>
              </a:p>
              <a:p>
                <a:r>
                  <a:rPr lang="zh-CN" altLang="en-US" sz="2000" b="1" dirty="0"/>
                  <a:t>亚成虫（</a:t>
                </a:r>
                <a:r>
                  <a:rPr lang="en" altLang="zh-CN" sz="2000" b="1" dirty="0"/>
                  <a:t>x=2</a:t>
                </a:r>
                <a:r>
                  <a:rPr lang="zh-CN" altLang="en" sz="2000" b="1" dirty="0"/>
                  <a:t>）</a:t>
                </a:r>
                <a:r>
                  <a:rPr lang="zh-CN" altLang="en" sz="2000" dirty="0"/>
                  <a:t>：</a:t>
                </a:r>
                <a:br>
                  <a:rPr lang="zh-CN" altLang="en-US" sz="2000" dirty="0"/>
                </a:br>
                <a:r>
                  <a:rPr lang="zh-CN" altLang="en-US" sz="2000" dirty="0"/>
                  <a:t>未来期望繁殖后代数</a:t>
                </a:r>
                <a:r>
                  <a:rPr lang="en-US" altLang="zh-CN" sz="2000" dirty="0"/>
                  <a:t> </a:t>
                </a:r>
                <a14:m>
                  <m:oMath xmlns:m="http://schemas.openxmlformats.org/officeDocument/2006/math">
                    <m:r>
                      <a:rPr lang="en-US" altLang="zh-CN" sz="2000">
                        <a:latin typeface="Cambria Math" panose="02040503050406030204" pitchFamily="18" charset="0"/>
                      </a:rPr>
                      <m:t>2</m:t>
                    </m:r>
                    <m:r>
                      <a:rPr lang="en-US" altLang="zh-CN" sz="2000" i="0">
                        <a:latin typeface="Cambria Math" panose="02040503050406030204" pitchFamily="18" charset="0"/>
                      </a:rPr>
                      <m:t>+</m:t>
                    </m:r>
                    <m:d>
                      <m:dPr>
                        <m:ctrlPr>
                          <a:rPr lang="ar-AE" altLang="zh-CN" sz="2000" i="1">
                            <a:latin typeface="Cambria Math" panose="02040503050406030204" pitchFamily="18" charset="0"/>
                          </a:rPr>
                        </m:ctrlPr>
                      </m:dPr>
                      <m:e>
                        <m:r>
                          <a:rPr lang="ar-AE" altLang="zh-CN" sz="2000" i="0">
                            <a:latin typeface="Cambria Math" panose="02040503050406030204" pitchFamily="18" charset="0"/>
                          </a:rPr>
                          <m:t>0.1/0.3</m:t>
                        </m:r>
                      </m:e>
                    </m:d>
                    <m:r>
                      <a:rPr lang="ar-AE" altLang="zh-CN" sz="2000" i="0">
                        <a:latin typeface="Cambria Math" panose="02040503050406030204" pitchFamily="18" charset="0"/>
                      </a:rPr>
                      <m:t>×4+</m:t>
                    </m:r>
                    <m:d>
                      <m:dPr>
                        <m:ctrlPr>
                          <a:rPr lang="ar-AE" altLang="zh-CN" sz="2000" i="1">
                            <a:latin typeface="Cambria Math" panose="02040503050406030204" pitchFamily="18" charset="0"/>
                          </a:rPr>
                        </m:ctrlPr>
                      </m:dPr>
                      <m:e>
                        <m:r>
                          <a:rPr lang="ar-AE" altLang="zh-CN" sz="2000" i="0">
                            <a:latin typeface="Cambria Math" panose="02040503050406030204" pitchFamily="18" charset="0"/>
                          </a:rPr>
                          <m:t>0.05/0.3</m:t>
                        </m:r>
                      </m:e>
                    </m:d>
                    <m:r>
                      <a:rPr lang="ar-AE" altLang="zh-CN" sz="2000" i="0">
                        <a:latin typeface="Cambria Math" panose="02040503050406030204" pitchFamily="18" charset="0"/>
                      </a:rPr>
                      <m:t>×1≈2+1.33+0.17=3.5</m:t>
                    </m:r>
                  </m:oMath>
                </a14:m>
                <a:br>
                  <a:rPr lang="ar-AE" altLang="zh-CN" sz="2000" dirty="0"/>
                </a:br>
                <a:r>
                  <a:rPr lang="zh-CN" altLang="en-US" sz="2000" dirty="0"/>
                  <a:t>已经活过了前两个高风险阶段，虽然数量少，但只要活着，它繁殖的机会比“刚出生的个体”更大。</a:t>
                </a:r>
                <a:endParaRPr lang="en-US" altLang="zh-CN" sz="2000" dirty="0"/>
              </a:p>
              <a:p>
                <a:r>
                  <a:rPr lang="zh-CN" altLang="en-US" sz="2000" b="1" dirty="0"/>
                  <a:t>老成虫（</a:t>
                </a:r>
                <a:r>
                  <a:rPr lang="en" altLang="zh-CN" sz="2000" b="1" dirty="0"/>
                  <a:t>x=4</a:t>
                </a:r>
                <a:r>
                  <a:rPr lang="zh-CN" altLang="en" sz="2000" b="1" dirty="0"/>
                  <a:t>）</a:t>
                </a:r>
                <a:r>
                  <a:rPr lang="zh-CN" altLang="en" sz="2000" dirty="0"/>
                  <a:t>：</a:t>
                </a:r>
                <a:br>
                  <a:rPr lang="zh-CN" altLang="en" sz="2000" dirty="0"/>
                </a:br>
                <a:r>
                  <a:rPr lang="zh-CN" altLang="en-US" sz="2000" dirty="0"/>
                  <a:t>它几乎没有未来繁殖机会，只能再产少量卵（</a:t>
                </a:r>
                <a:r>
                  <a:rPr lang="en-US" altLang="zh-CN" sz="2000" dirty="0"/>
                  <a:t>1</a:t>
                </a:r>
                <a:r>
                  <a:rPr lang="zh-CN" altLang="en-US" sz="2000" dirty="0"/>
                  <a:t>）</a:t>
                </a:r>
                <a:endParaRPr lang="zh-CN" altLang="ar-AE" sz="2000" dirty="0"/>
              </a:p>
            </p:txBody>
          </p:sp>
        </mc:Choice>
        <mc:Fallback xmlns="">
          <p:sp>
            <p:nvSpPr>
              <p:cNvPr id="5" name="文本框 4">
                <a:extLst>
                  <a:ext uri="{FF2B5EF4-FFF2-40B4-BE49-F238E27FC236}">
                    <a16:creationId xmlns:a16="http://schemas.microsoft.com/office/drawing/2014/main" id="{2213B10E-7369-F9E8-65DF-C5ADA84247B1}"/>
                  </a:ext>
                </a:extLst>
              </p:cNvPr>
              <p:cNvSpPr txBox="1">
                <a:spLocks noRot="1" noChangeAspect="1" noMove="1" noResize="1" noEditPoints="1" noAdjustHandles="1" noChangeArrowheads="1" noChangeShapeType="1" noTextEdit="1"/>
              </p:cNvSpPr>
              <p:nvPr/>
            </p:nvSpPr>
            <p:spPr>
              <a:xfrm>
                <a:off x="679450" y="3368675"/>
                <a:ext cx="7848600" cy="2862322"/>
              </a:xfrm>
              <a:prstGeom prst="rect">
                <a:avLst/>
              </a:prstGeom>
              <a:blipFill>
                <a:blip r:embed="rId3"/>
                <a:stretch>
                  <a:fillRect l="-808" t="-1327" r="-162" b="-309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2" name="Object 7">
            <a:extLst>
              <a:ext uri="{FF2B5EF4-FFF2-40B4-BE49-F238E27FC236}">
                <a16:creationId xmlns:a16="http://schemas.microsoft.com/office/drawing/2014/main" id="{19B2FA12-3D34-1E6E-0EEB-056F705417FA}"/>
              </a:ext>
            </a:extLst>
          </p:cNvPr>
          <p:cNvGraphicFramePr>
            <a:graphicFrameLocks noChangeAspect="1"/>
          </p:cNvGraphicFramePr>
          <p:nvPr>
            <p:extLst>
              <p:ext uri="{D42A27DB-BD31-4B8C-83A1-F6EECF244321}">
                <p14:modId xmlns:p14="http://schemas.microsoft.com/office/powerpoint/2010/main" val="4249552730"/>
              </p:ext>
            </p:extLst>
          </p:nvPr>
        </p:nvGraphicFramePr>
        <p:xfrm>
          <a:off x="6165850" y="1235075"/>
          <a:ext cx="3032037" cy="1269869"/>
        </p:xfrm>
        <a:graphic>
          <a:graphicData uri="http://schemas.openxmlformats.org/presentationml/2006/ole">
            <mc:AlternateContent xmlns:mc="http://schemas.openxmlformats.org/markup-compatibility/2006">
              <mc:Choice xmlns:v="urn:schemas-microsoft-com:vml" Requires="v">
                <p:oleObj name="公式" r:id="rId4" imgW="37744400" imgH="15798800" progId="Equation.3">
                  <p:embed/>
                </p:oleObj>
              </mc:Choice>
              <mc:Fallback>
                <p:oleObj name="公式" r:id="rId4" imgW="37744400" imgH="15798800" progId="Equation.3">
                  <p:embed/>
                  <p:pic>
                    <p:nvPicPr>
                      <p:cNvPr id="2" name="Object 7">
                        <a:extLst>
                          <a:ext uri="{FF2B5EF4-FFF2-40B4-BE49-F238E27FC236}">
                            <a16:creationId xmlns:a16="http://schemas.microsoft.com/office/drawing/2014/main" id="{19B2FA12-3D34-1E6E-0EEB-056F705417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5850" y="1235075"/>
                        <a:ext cx="3032037" cy="12698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5102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2511</TotalTime>
  <Words>5438</Words>
  <Application>Microsoft Macintosh PowerPoint</Application>
  <PresentationFormat>自定义</PresentationFormat>
  <Paragraphs>457</Paragraphs>
  <Slides>61</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61</vt:i4>
      </vt:variant>
    </vt:vector>
  </HeadingPairs>
  <TitlesOfParts>
    <vt:vector size="71" baseType="lpstr">
      <vt:lpstr>黑体</vt:lpstr>
      <vt:lpstr>宋体</vt:lpstr>
      <vt:lpstr>Arial</vt:lpstr>
      <vt:lpstr>Calibri</vt:lpstr>
      <vt:lpstr>Cambria</vt:lpstr>
      <vt:lpstr>Cambria Math</vt:lpstr>
      <vt:lpstr>Times New Roman</vt:lpstr>
      <vt:lpstr>Office Theme</vt:lpstr>
      <vt:lpstr>BMP 图象</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 生殖价（Vx):用来描述某一年龄的雌体平均能对未来种群增长所做的贡献。</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邦 肖</cp:lastModifiedBy>
  <cp:revision>4</cp:revision>
  <dcterms:created xsi:type="dcterms:W3CDTF">2025-09-13T07:45:33Z</dcterms:created>
  <dcterms:modified xsi:type="dcterms:W3CDTF">2025-09-27T02:42:28Z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2025-09-07T00:00:00Z</vt:filetime>
  </property>
  <property fmtid="{D5CDD505-2E9C-101B-9397-08002B2CF9AE}" pid="3" name="Creator">
    <vt:lpwstr>Adobe Acrobat 11.0.23</vt:lpwstr>
  </property>
  <property fmtid="{D5CDD505-2E9C-101B-9397-08002B2CF9AE}" pid="4" name="LastSaved">
    <vt:filetime>2025-09-13T00:00:00Z</vt:filetime>
  </property>
  <property fmtid="{D5CDD505-2E9C-101B-9397-08002B2CF9AE}" pid="5" name="Producer">
    <vt:lpwstr>Adobe Acrobat Pro 11.0.23 Paper Capture Plug-in</vt:lpwstr>
  </property>
</Properties>
</file>