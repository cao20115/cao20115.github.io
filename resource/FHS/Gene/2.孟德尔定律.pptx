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wav"/>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4362" r:id="rId2"/>
    <p:sldId id="4505" r:id="rId3"/>
    <p:sldId id="4363" r:id="rId4"/>
    <p:sldId id="4364" r:id="rId5"/>
    <p:sldId id="4365" r:id="rId6"/>
    <p:sldId id="4367" r:id="rId7"/>
    <p:sldId id="4371" r:id="rId8"/>
    <p:sldId id="4369" r:id="rId9"/>
    <p:sldId id="4372" r:id="rId10"/>
    <p:sldId id="4373" r:id="rId11"/>
    <p:sldId id="423" r:id="rId12"/>
    <p:sldId id="4375" r:id="rId13"/>
    <p:sldId id="4377" r:id="rId14"/>
    <p:sldId id="432" r:id="rId15"/>
    <p:sldId id="4483" r:id="rId16"/>
    <p:sldId id="4180" r:id="rId17"/>
    <p:sldId id="4390" r:id="rId18"/>
    <p:sldId id="448" r:id="rId19"/>
    <p:sldId id="451" r:id="rId20"/>
    <p:sldId id="4506" r:id="rId21"/>
    <p:sldId id="4391" r:id="rId22"/>
    <p:sldId id="457" r:id="rId23"/>
    <p:sldId id="459" r:id="rId24"/>
    <p:sldId id="458" r:id="rId25"/>
    <p:sldId id="4507" r:id="rId26"/>
    <p:sldId id="4392" r:id="rId27"/>
    <p:sldId id="272" r:id="rId28"/>
    <p:sldId id="260" r:id="rId29"/>
    <p:sldId id="276" r:id="rId30"/>
    <p:sldId id="355" r:id="rId31"/>
    <p:sldId id="258" r:id="rId32"/>
    <p:sldId id="4515" r:id="rId33"/>
    <p:sldId id="4516" r:id="rId34"/>
    <p:sldId id="281" r:id="rId35"/>
    <p:sldId id="279" r:id="rId36"/>
    <p:sldId id="4484" r:id="rId37"/>
    <p:sldId id="4488" r:id="rId38"/>
    <p:sldId id="4489" r:id="rId39"/>
    <p:sldId id="4491" r:id="rId40"/>
    <p:sldId id="4492" r:id="rId41"/>
    <p:sldId id="4494" r:id="rId42"/>
    <p:sldId id="4509" r:id="rId43"/>
    <p:sldId id="4510" r:id="rId44"/>
    <p:sldId id="4511" r:id="rId45"/>
    <p:sldId id="4495" r:id="rId46"/>
    <p:sldId id="4396" r:id="rId47"/>
    <p:sldId id="4498" r:id="rId48"/>
    <p:sldId id="4496" r:id="rId49"/>
    <p:sldId id="4497" r:id="rId50"/>
    <p:sldId id="4499" r:id="rId51"/>
    <p:sldId id="4500" r:id="rId52"/>
    <p:sldId id="4501" r:id="rId53"/>
    <p:sldId id="4502" r:id="rId54"/>
    <p:sldId id="4503" r:id="rId55"/>
    <p:sldId id="4334" r:id="rId56"/>
    <p:sldId id="4504" r:id="rId57"/>
    <p:sldId id="4336" r:id="rId58"/>
    <p:sldId id="4337" r:id="rId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24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66" autoAdjust="0"/>
  </p:normalViewPr>
  <p:slideViewPr>
    <p:cSldViewPr snapToGrid="0">
      <p:cViewPr>
        <p:scale>
          <a:sx n="50" d="100"/>
          <a:sy n="50" d="100"/>
        </p:scale>
        <p:origin x="2874" y="1482"/>
      </p:cViewPr>
      <p:guideLst>
        <p:guide orient="horz" pos="2160"/>
        <p:guide pos="3840"/>
      </p:guideLst>
    </p:cSldViewPr>
  </p:slideViewPr>
  <p:notesTextViewPr>
    <p:cViewPr>
      <p:scale>
        <a:sx n="50" d="100"/>
        <a:sy n="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B36B57-29E9-4352-9A98-8A2769577D8F}" type="datetimeFigureOut">
              <a:rPr lang="zh-CN" altLang="en-US" smtClean="0"/>
              <a:t>2024/1/9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EDC974-DA10-4EAB-A83A-51F21F67F87F}" type="slidenum">
              <a:rPr lang="zh-CN" altLang="en-US" smtClean="0"/>
              <a:t>‹#›</a:t>
            </a:fld>
            <a:endParaRPr lang="zh-CN" altLang="en-US"/>
          </a:p>
        </p:txBody>
      </p:sp>
    </p:spTree>
    <p:extLst>
      <p:ext uri="{BB962C8B-B14F-4D97-AF65-F5344CB8AC3E}">
        <p14:creationId xmlns:p14="http://schemas.microsoft.com/office/powerpoint/2010/main" val="3169170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baike.baidu.com/view/66878.htm" TargetMode="External"/><Relationship Id="rId2" Type="http://schemas.openxmlformats.org/officeDocument/2006/relationships/slide" Target="../slides/slide55.xml"/><Relationship Id="rId1" Type="http://schemas.openxmlformats.org/officeDocument/2006/relationships/notesMaster" Target="../notesMasters/notesMaster1.xml"/><Relationship Id="rId5" Type="http://schemas.openxmlformats.org/officeDocument/2006/relationships/hyperlink" Target="http://baike.baidu.com/view/15061.htm" TargetMode="External"/><Relationship Id="rId4" Type="http://schemas.openxmlformats.org/officeDocument/2006/relationships/hyperlink" Target="http://baike.baidu.com/view/27242.htm"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DC974-DA10-4EAB-A83A-51F21F67F87F}" type="slidenum">
              <a:rPr lang="zh-CN" altLang="en-US" smtClean="0"/>
              <a:t>1</a:t>
            </a:fld>
            <a:endParaRPr lang="zh-CN" altLang="en-US"/>
          </a:p>
        </p:txBody>
      </p:sp>
    </p:spTree>
    <p:extLst>
      <p:ext uri="{BB962C8B-B14F-4D97-AF65-F5344CB8AC3E}">
        <p14:creationId xmlns:p14="http://schemas.microsoft.com/office/powerpoint/2010/main" val="3686686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DC974-DA10-4EAB-A83A-51F21F67F87F}" type="slidenum">
              <a:rPr lang="zh-CN" altLang="en-US" smtClean="0"/>
              <a:t>8</a:t>
            </a:fld>
            <a:endParaRPr lang="zh-CN" altLang="en-US"/>
          </a:p>
        </p:txBody>
      </p:sp>
    </p:spTree>
    <p:extLst>
      <p:ext uri="{BB962C8B-B14F-4D97-AF65-F5344CB8AC3E}">
        <p14:creationId xmlns:p14="http://schemas.microsoft.com/office/powerpoint/2010/main" val="851707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t>统计学分析的需求：杂交的分离比要子代个体数较多时才比较接近，子代个体数不多时，常有明显的波动。最初唯有尽可能得到较多的后代个体才能掩盖这种机遇性的波动，但这一做法有明显的局限。</a:t>
            </a:r>
          </a:p>
          <a:p>
            <a:endParaRPr lang="zh-CN" altLang="en-US" dirty="0"/>
          </a:p>
        </p:txBody>
      </p:sp>
      <p:sp>
        <p:nvSpPr>
          <p:cNvPr id="4" name="灯片编号占位符 3"/>
          <p:cNvSpPr>
            <a:spLocks noGrp="1"/>
          </p:cNvSpPr>
          <p:nvPr>
            <p:ph type="sldNum" sz="quarter" idx="10"/>
          </p:nvPr>
        </p:nvSpPr>
        <p:spPr/>
        <p:txBody>
          <a:bodyPr/>
          <a:lstStyle/>
          <a:p>
            <a:fld id="{6FEDC974-DA10-4EAB-A83A-51F21F67F87F}" type="slidenum">
              <a:rPr lang="zh-CN" altLang="en-US" smtClean="0"/>
              <a:t>19</a:t>
            </a:fld>
            <a:endParaRPr lang="zh-CN" altLang="en-US"/>
          </a:p>
        </p:txBody>
      </p:sp>
    </p:spTree>
    <p:extLst>
      <p:ext uri="{BB962C8B-B14F-4D97-AF65-F5344CB8AC3E}">
        <p14:creationId xmlns:p14="http://schemas.microsoft.com/office/powerpoint/2010/main" val="4287451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CE00165-D9B9-4154-932F-36C8F8D2EDDC}"/>
              </a:ext>
            </a:extLst>
          </p:cNvPr>
          <p:cNvSpPr>
            <a:spLocks noGrp="1" noChangeArrowheads="1"/>
          </p:cNvSpPr>
          <p:nvPr>
            <p:ph type="sldNum" sz="quarter" idx="5"/>
          </p:nvPr>
        </p:nvSpPr>
        <p:spPr>
          <a:ln/>
        </p:spPr>
        <p:txBody>
          <a:bodyPr/>
          <a:lstStyle/>
          <a:p>
            <a:fld id="{84C9AD7E-CD65-46E5-8567-7DB663432F19}" type="slidenum">
              <a:rPr lang="en-US" altLang="zh-CN"/>
              <a:pPr/>
              <a:t>22</a:t>
            </a:fld>
            <a:endParaRPr lang="en-US" altLang="zh-CN"/>
          </a:p>
        </p:txBody>
      </p:sp>
      <p:sp>
        <p:nvSpPr>
          <p:cNvPr id="403458" name="Rectangle 2">
            <a:extLst>
              <a:ext uri="{FF2B5EF4-FFF2-40B4-BE49-F238E27FC236}">
                <a16:creationId xmlns:a16="http://schemas.microsoft.com/office/drawing/2014/main" id="{879C9A61-694C-4559-9B9A-58FB5EACDBD8}"/>
              </a:ext>
            </a:extLst>
          </p:cNvPr>
          <p:cNvSpPr>
            <a:spLocks noGrp="1" noRot="1" noChangeAspect="1" noChangeArrowheads="1" noTextEdit="1"/>
          </p:cNvSpPr>
          <p:nvPr>
            <p:ph type="sldImg"/>
          </p:nvPr>
        </p:nvSpPr>
        <p:spPr>
          <a:ln/>
        </p:spPr>
      </p:sp>
      <p:sp>
        <p:nvSpPr>
          <p:cNvPr id="403459" name="Rectangle 3">
            <a:extLst>
              <a:ext uri="{FF2B5EF4-FFF2-40B4-BE49-F238E27FC236}">
                <a16:creationId xmlns:a16="http://schemas.microsoft.com/office/drawing/2014/main" id="{FA6D95ED-7FD2-4A6D-A5AA-D48B62E137A4}"/>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EDC974-DA10-4EAB-A83A-51F21F67F87F}" type="slidenum">
              <a:rPr lang="zh-CN" altLang="en-US" smtClean="0"/>
              <a:t>25</a:t>
            </a:fld>
            <a:endParaRPr lang="zh-CN" altLang="en-US"/>
          </a:p>
        </p:txBody>
      </p:sp>
    </p:spTree>
    <p:extLst>
      <p:ext uri="{BB962C8B-B14F-4D97-AF65-F5344CB8AC3E}">
        <p14:creationId xmlns:p14="http://schemas.microsoft.com/office/powerpoint/2010/main" val="149643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DC974-DA10-4EAB-A83A-51F21F67F87F}" type="slidenum">
              <a:rPr lang="zh-CN" altLang="en-US" smtClean="0"/>
              <a:t>26</a:t>
            </a:fld>
            <a:endParaRPr lang="zh-CN" altLang="en-US"/>
          </a:p>
        </p:txBody>
      </p:sp>
    </p:spTree>
    <p:extLst>
      <p:ext uri="{BB962C8B-B14F-4D97-AF65-F5344CB8AC3E}">
        <p14:creationId xmlns:p14="http://schemas.microsoft.com/office/powerpoint/2010/main" val="639746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DC974-DA10-4EAB-A83A-51F21F67F87F}" type="slidenum">
              <a:rPr lang="zh-CN" altLang="en-US" smtClean="0"/>
              <a:t>40</a:t>
            </a:fld>
            <a:endParaRPr lang="zh-CN" altLang="en-US"/>
          </a:p>
        </p:txBody>
      </p:sp>
    </p:spTree>
    <p:extLst>
      <p:ext uri="{BB962C8B-B14F-4D97-AF65-F5344CB8AC3E}">
        <p14:creationId xmlns:p14="http://schemas.microsoft.com/office/powerpoint/2010/main" val="2675900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DC974-DA10-4EAB-A83A-51F21F67F87F}" type="slidenum">
              <a:rPr lang="zh-CN" altLang="en-US" smtClean="0"/>
              <a:t>41</a:t>
            </a:fld>
            <a:endParaRPr lang="zh-CN" altLang="en-US"/>
          </a:p>
        </p:txBody>
      </p:sp>
    </p:spTree>
    <p:extLst>
      <p:ext uri="{BB962C8B-B14F-4D97-AF65-F5344CB8AC3E}">
        <p14:creationId xmlns:p14="http://schemas.microsoft.com/office/powerpoint/2010/main" val="836494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ea typeface="Microsoft YaHei Light" panose="020B0502040204020203" pitchFamily="34" charset="-122"/>
                <a:cs typeface="Times New Roman" panose="02020603050405020304" pitchFamily="18" charset="0"/>
              </a:rPr>
              <a:t>从上表可看到，当理论比例为 </a:t>
            </a:r>
            <a:r>
              <a:rPr lang="en-US" altLang="zh-CN" sz="1200" dirty="0">
                <a:latin typeface="Times New Roman" panose="02020603050405020304" pitchFamily="18" charset="0"/>
                <a:ea typeface="Microsoft YaHei Light" panose="020B0502040204020203" pitchFamily="34" charset="-122"/>
                <a:cs typeface="Times New Roman" panose="02020603050405020304" pitchFamily="18" charset="0"/>
              </a:rPr>
              <a:t>1∶1</a:t>
            </a:r>
            <a:r>
              <a:rPr lang="zh-CN" altLang="en-US" sz="1200" dirty="0">
                <a:latin typeface="Times New Roman" panose="02020603050405020304" pitchFamily="18" charset="0"/>
                <a:ea typeface="Microsoft YaHei Light" panose="020B0502040204020203" pitchFamily="34" charset="-122"/>
                <a:cs typeface="Times New Roman" panose="02020603050405020304" pitchFamily="18" charset="0"/>
              </a:rPr>
              <a:t>，</a:t>
            </a:r>
            <a:r>
              <a:rPr lang="en-US" altLang="zh-CN" sz="1200" dirty="0">
                <a:latin typeface="Times New Roman" panose="02020603050405020304" pitchFamily="18" charset="0"/>
                <a:ea typeface="Microsoft YaHei Light" panose="020B0502040204020203" pitchFamily="34" charset="-122"/>
                <a:cs typeface="Times New Roman" panose="02020603050405020304" pitchFamily="18" charset="0"/>
              </a:rPr>
              <a:t>2 </a:t>
            </a:r>
            <a:r>
              <a:rPr lang="zh-CN" altLang="en-US" sz="1200" dirty="0">
                <a:latin typeface="Times New Roman" panose="02020603050405020304" pitchFamily="18" charset="0"/>
                <a:ea typeface="Microsoft YaHei Light" panose="020B0502040204020203" pitchFamily="34" charset="-122"/>
                <a:cs typeface="Times New Roman" panose="02020603050405020304" pitchFamily="18" charset="0"/>
              </a:rPr>
              <a:t>个子代个体分离为 </a:t>
            </a:r>
            <a:r>
              <a:rPr lang="en-US" altLang="zh-CN" sz="1200" dirty="0">
                <a:latin typeface="Times New Roman" panose="02020603050405020304" pitchFamily="18" charset="0"/>
                <a:ea typeface="Microsoft YaHei Light" panose="020B0502040204020203" pitchFamily="34" charset="-122"/>
                <a:cs typeface="Times New Roman" panose="02020603050405020304" pitchFamily="18" charset="0"/>
              </a:rPr>
              <a:t>1 </a:t>
            </a:r>
            <a:r>
              <a:rPr lang="zh-CN" altLang="en-US" sz="1200" dirty="0">
                <a:latin typeface="Times New Roman" panose="02020603050405020304" pitchFamily="18" charset="0"/>
                <a:ea typeface="Microsoft YaHei Light" panose="020B0502040204020203" pitchFamily="34" charset="-122"/>
                <a:cs typeface="Times New Roman" panose="02020603050405020304" pitchFamily="18" charset="0"/>
              </a:rPr>
              <a:t>个与 </a:t>
            </a:r>
            <a:r>
              <a:rPr lang="en-US" altLang="zh-CN" sz="1200" dirty="0">
                <a:latin typeface="Times New Roman" panose="02020603050405020304" pitchFamily="18" charset="0"/>
                <a:ea typeface="Microsoft YaHei Light" panose="020B0502040204020203" pitchFamily="34" charset="-122"/>
                <a:cs typeface="Times New Roman" panose="02020603050405020304" pitchFamily="18" charset="0"/>
              </a:rPr>
              <a:t>1 </a:t>
            </a:r>
            <a:r>
              <a:rPr lang="zh-CN" altLang="en-US" sz="1200" dirty="0">
                <a:latin typeface="Times New Roman" panose="02020603050405020304" pitchFamily="18" charset="0"/>
                <a:ea typeface="Microsoft YaHei Light" panose="020B0502040204020203" pitchFamily="34" charset="-122"/>
                <a:cs typeface="Times New Roman" panose="02020603050405020304" pitchFamily="18" charset="0"/>
              </a:rPr>
              <a:t>个时，出现概率是 </a:t>
            </a:r>
            <a:r>
              <a:rPr lang="en-US" altLang="zh-CN" sz="1200" dirty="0">
                <a:latin typeface="Times New Roman" panose="02020603050405020304" pitchFamily="18" charset="0"/>
                <a:ea typeface="Microsoft YaHei Light" panose="020B0502040204020203" pitchFamily="34" charset="-122"/>
                <a:cs typeface="Times New Roman" panose="02020603050405020304" pitchFamily="18" charset="0"/>
              </a:rPr>
              <a:t>0.50</a:t>
            </a:r>
            <a:r>
              <a:rPr lang="zh-CN" altLang="en-US" sz="1200" dirty="0">
                <a:latin typeface="Times New Roman" panose="02020603050405020304" pitchFamily="18" charset="0"/>
                <a:ea typeface="Microsoft YaHei Light" panose="020B0502040204020203" pitchFamily="34" charset="-122"/>
                <a:cs typeface="Times New Roman" panose="02020603050405020304" pitchFamily="18" charset="0"/>
              </a:rPr>
              <a:t>。 而子代个体数增加到 </a:t>
            </a:r>
            <a:r>
              <a:rPr lang="en-US" altLang="zh-CN" sz="1200" dirty="0">
                <a:latin typeface="Times New Roman" panose="02020603050405020304" pitchFamily="18" charset="0"/>
                <a:ea typeface="Microsoft YaHei Light" panose="020B0502040204020203" pitchFamily="34" charset="-122"/>
                <a:cs typeface="Times New Roman" panose="02020603050405020304" pitchFamily="18" charset="0"/>
              </a:rPr>
              <a:t>80 </a:t>
            </a:r>
            <a:r>
              <a:rPr lang="zh-CN" altLang="en-US" sz="1200" dirty="0">
                <a:latin typeface="Times New Roman" panose="02020603050405020304" pitchFamily="18" charset="0"/>
                <a:ea typeface="Microsoft YaHei Light" panose="020B0502040204020203" pitchFamily="34" charset="-122"/>
                <a:cs typeface="Times New Roman" panose="02020603050405020304" pitchFamily="18" charset="0"/>
              </a:rPr>
              <a:t>时，分离比为 </a:t>
            </a:r>
            <a:r>
              <a:rPr lang="en-US" altLang="zh-CN" sz="1200" dirty="0">
                <a:latin typeface="Times New Roman" panose="02020603050405020304" pitchFamily="18" charset="0"/>
                <a:ea typeface="Microsoft YaHei Light" panose="020B0502040204020203" pitchFamily="34" charset="-122"/>
                <a:cs typeface="Times New Roman" panose="02020603050405020304" pitchFamily="18" charset="0"/>
              </a:rPr>
              <a:t>40 </a:t>
            </a:r>
            <a:r>
              <a:rPr lang="zh-CN" altLang="en-US" sz="1200" dirty="0">
                <a:latin typeface="Times New Roman" panose="02020603050405020304" pitchFamily="18" charset="0"/>
                <a:ea typeface="Microsoft YaHei Light" panose="020B0502040204020203" pitchFamily="34" charset="-122"/>
                <a:cs typeface="Times New Roman" panose="02020603050405020304" pitchFamily="18" charset="0"/>
              </a:rPr>
              <a:t>个与 </a:t>
            </a:r>
            <a:r>
              <a:rPr lang="en-US" altLang="zh-CN" sz="1200" dirty="0">
                <a:latin typeface="Times New Roman" panose="02020603050405020304" pitchFamily="18" charset="0"/>
                <a:ea typeface="Microsoft YaHei Light" panose="020B0502040204020203" pitchFamily="34" charset="-122"/>
                <a:cs typeface="Times New Roman" panose="02020603050405020304" pitchFamily="18" charset="0"/>
              </a:rPr>
              <a:t>40 </a:t>
            </a:r>
            <a:r>
              <a:rPr lang="zh-CN" altLang="en-US" sz="1200" dirty="0">
                <a:latin typeface="Times New Roman" panose="02020603050405020304" pitchFamily="18" charset="0"/>
                <a:ea typeface="Microsoft YaHei Light" panose="020B0502040204020203" pitchFamily="34" charset="-122"/>
                <a:cs typeface="Times New Roman" panose="02020603050405020304" pitchFamily="18" charset="0"/>
              </a:rPr>
              <a:t>个的出现概率只有 </a:t>
            </a:r>
            <a:r>
              <a:rPr lang="en-US" altLang="zh-CN" sz="1200" dirty="0">
                <a:latin typeface="Times New Roman" panose="02020603050405020304" pitchFamily="18" charset="0"/>
                <a:ea typeface="Microsoft YaHei Light" panose="020B0502040204020203" pitchFamily="34" charset="-122"/>
                <a:cs typeface="Times New Roman" panose="02020603050405020304" pitchFamily="18" charset="0"/>
              </a:rPr>
              <a:t>0.09</a:t>
            </a:r>
            <a:r>
              <a:rPr lang="zh-CN" altLang="en-US" sz="1200" dirty="0">
                <a:latin typeface="Times New Roman" panose="02020603050405020304" pitchFamily="18" charset="0"/>
                <a:ea typeface="Microsoft YaHei Light" panose="020B0502040204020203" pitchFamily="34" charset="-122"/>
                <a:cs typeface="Times New Roman" panose="02020603050405020304" pitchFamily="18" charset="0"/>
              </a:rPr>
              <a:t>。可见单是根据实得比例的出现概率，很容易被引入歧途，显然不能用于适合度测验。</a:t>
            </a:r>
          </a:p>
          <a:p>
            <a:endParaRPr lang="zh-CN" altLang="en-US" dirty="0"/>
          </a:p>
        </p:txBody>
      </p:sp>
      <p:sp>
        <p:nvSpPr>
          <p:cNvPr id="4" name="灯片编号占位符 3"/>
          <p:cNvSpPr>
            <a:spLocks noGrp="1"/>
          </p:cNvSpPr>
          <p:nvPr>
            <p:ph type="sldNum" sz="quarter" idx="10"/>
          </p:nvPr>
        </p:nvSpPr>
        <p:spPr/>
        <p:txBody>
          <a:bodyPr/>
          <a:lstStyle/>
          <a:p>
            <a:fld id="{6FEDC974-DA10-4EAB-A83A-51F21F67F87F}" type="slidenum">
              <a:rPr lang="zh-CN" altLang="en-US" smtClean="0"/>
              <a:t>43</a:t>
            </a:fld>
            <a:endParaRPr lang="zh-CN" altLang="en-US"/>
          </a:p>
        </p:txBody>
      </p:sp>
    </p:spTree>
    <p:extLst>
      <p:ext uri="{BB962C8B-B14F-4D97-AF65-F5344CB8AC3E}">
        <p14:creationId xmlns:p14="http://schemas.microsoft.com/office/powerpoint/2010/main" val="334132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t>在水稻抗性的一对基因回交实验中，从对理论比例 </a:t>
            </a:r>
            <a:r>
              <a:rPr lang="en-US" altLang="zh-CN" dirty="0"/>
              <a:t>1∶1 </a:t>
            </a:r>
            <a:r>
              <a:rPr lang="zh-CN" altLang="en-US" dirty="0"/>
              <a:t>的偏差来说，更多的抗性型和更多的敏感型是同样的偏差，所以把有</a:t>
            </a:r>
            <a:r>
              <a:rPr lang="en-US" altLang="zh-CN" dirty="0"/>
              <a:t>14</a:t>
            </a:r>
            <a:r>
              <a:rPr lang="zh-CN" altLang="en-US" dirty="0"/>
              <a:t>株以上抗性型或</a:t>
            </a:r>
            <a:r>
              <a:rPr lang="en-US" altLang="zh-CN" dirty="0"/>
              <a:t>14</a:t>
            </a:r>
            <a:r>
              <a:rPr lang="zh-CN" altLang="en-US" dirty="0"/>
              <a:t>株以上敏感型的那些组合的概率加起来，就是有着同样偏差或更大偏差的概率。</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6FEDC974-DA10-4EAB-A83A-51F21F67F87F}" type="slidenum">
              <a:rPr lang="zh-CN" altLang="en-US" smtClean="0"/>
              <a:t>44</a:t>
            </a:fld>
            <a:endParaRPr lang="zh-CN" altLang="en-US"/>
          </a:p>
        </p:txBody>
      </p:sp>
    </p:spTree>
    <p:extLst>
      <p:ext uri="{BB962C8B-B14F-4D97-AF65-F5344CB8AC3E}">
        <p14:creationId xmlns:p14="http://schemas.microsoft.com/office/powerpoint/2010/main" val="10433759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DC974-DA10-4EAB-A83A-51F21F67F87F}" type="slidenum">
              <a:rPr lang="zh-CN" altLang="en-US" smtClean="0"/>
              <a:t>46</a:t>
            </a:fld>
            <a:endParaRPr lang="zh-CN" altLang="en-US"/>
          </a:p>
        </p:txBody>
      </p:sp>
    </p:spTree>
    <p:extLst>
      <p:ext uri="{BB962C8B-B14F-4D97-AF65-F5344CB8AC3E}">
        <p14:creationId xmlns:p14="http://schemas.microsoft.com/office/powerpoint/2010/main" val="1342580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FEDC974-DA10-4EAB-A83A-51F21F67F87F}" type="slidenum">
              <a:rPr lang="zh-CN" altLang="en-US" smtClean="0"/>
              <a:t>48</a:t>
            </a:fld>
            <a:endParaRPr lang="zh-CN" altLang="en-US"/>
          </a:p>
        </p:txBody>
      </p:sp>
    </p:spTree>
    <p:extLst>
      <p:ext uri="{BB962C8B-B14F-4D97-AF65-F5344CB8AC3E}">
        <p14:creationId xmlns:p14="http://schemas.microsoft.com/office/powerpoint/2010/main" val="925848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幻灯片图像占位符 1"/>
          <p:cNvSpPr>
            <a:spLocks noGrp="1" noRot="1" noChangeAspect="1" noTextEdit="1"/>
          </p:cNvSpPr>
          <p:nvPr>
            <p:ph type="sldImg"/>
          </p:nvPr>
        </p:nvSpPr>
        <p:spPr>
          <a:xfrm>
            <a:off x="381000" y="685800"/>
            <a:ext cx="6096000" cy="3429000"/>
          </a:xfrm>
          <a:ln/>
        </p:spPr>
      </p:sp>
      <p:sp>
        <p:nvSpPr>
          <p:cNvPr id="58370" name="备注占位符 2"/>
          <p:cNvSpPr>
            <a:spLocks noGrp="1"/>
          </p:cNvSpPr>
          <p:nvPr>
            <p:ph type="body"/>
          </p:nvPr>
        </p:nvSpPr>
        <p:spPr>
          <a:ln/>
        </p:spPr>
        <p:txBody>
          <a:bodyPr wrap="square" lIns="91440" tIns="45720" rIns="91440" bIns="45720" anchor="t" anchorCtr="0"/>
          <a:lstStyle/>
          <a:p>
            <a:pPr lvl="0" eaLnBrk="1" hangingPunct="1">
              <a:lnSpc>
                <a:spcPct val="80000"/>
              </a:lnSpc>
            </a:pPr>
            <a:r>
              <a:rPr lang="zh-CN" altLang="en-US" b="1" dirty="0"/>
              <a:t>贝叶斯 </a:t>
            </a:r>
            <a:r>
              <a:rPr lang="en-US" altLang="zh-CN" b="1" dirty="0"/>
              <a:t>Thomas Bayes</a:t>
            </a:r>
            <a:r>
              <a:rPr lang="zh-CN" altLang="en-US" dirty="0"/>
              <a:t>，英国</a:t>
            </a:r>
            <a:r>
              <a:rPr lang="zh-CN" altLang="en-US" dirty="0">
                <a:hlinkClick r:id="rId3"/>
              </a:rPr>
              <a:t>数学家</a:t>
            </a:r>
            <a:r>
              <a:rPr lang="en-US" altLang="zh-CN" dirty="0"/>
              <a:t>.1702</a:t>
            </a:r>
            <a:r>
              <a:rPr lang="zh-CN" altLang="en-US" dirty="0"/>
              <a:t>年出生于</a:t>
            </a:r>
            <a:r>
              <a:rPr lang="zh-CN" altLang="en-US" dirty="0">
                <a:hlinkClick r:id="rId4"/>
              </a:rPr>
              <a:t>伦敦</a:t>
            </a:r>
            <a:r>
              <a:rPr lang="zh-CN" altLang="en-US" dirty="0"/>
              <a:t>，做过神甫。</a:t>
            </a:r>
            <a:r>
              <a:rPr lang="en-US" altLang="zh-CN" dirty="0"/>
              <a:t>1742</a:t>
            </a:r>
            <a:r>
              <a:rPr lang="zh-CN" altLang="en-US" dirty="0"/>
              <a:t>年成为英国皇家学会会员。</a:t>
            </a:r>
            <a:r>
              <a:rPr lang="en-US" altLang="zh-CN" dirty="0"/>
              <a:t>1763</a:t>
            </a:r>
            <a:r>
              <a:rPr lang="zh-CN" altLang="en-US" dirty="0"/>
              <a:t>年</a:t>
            </a:r>
            <a:r>
              <a:rPr lang="en-US" altLang="zh-CN" dirty="0"/>
              <a:t>4</a:t>
            </a:r>
            <a:r>
              <a:rPr lang="zh-CN" altLang="en-US" dirty="0"/>
              <a:t>月</a:t>
            </a:r>
            <a:r>
              <a:rPr lang="en-US" altLang="zh-CN" dirty="0"/>
              <a:t>7</a:t>
            </a:r>
            <a:r>
              <a:rPr lang="zh-CN" altLang="en-US" dirty="0"/>
              <a:t>日逝世。贝叶斯在数学方面主要研究概率论。他首先将归纳推理法用于概率论基础理论，并创立了贝叶斯统计理论，对于统计决策</a:t>
            </a:r>
            <a:r>
              <a:rPr lang="zh-CN" altLang="en-US" dirty="0">
                <a:hlinkClick r:id="rId5"/>
              </a:rPr>
              <a:t>函数</a:t>
            </a:r>
            <a:r>
              <a:rPr lang="zh-CN" altLang="en-US" dirty="0"/>
              <a:t>、统计推断、统计的估算等做出了贡献</a:t>
            </a:r>
            <a:r>
              <a:rPr lang="en-US" altLang="zh-CN" dirty="0"/>
              <a:t>.1763</a:t>
            </a:r>
            <a:r>
              <a:rPr lang="zh-CN" altLang="en-US" dirty="0"/>
              <a:t>年发表了这方面的论著，对于现代概率论和数理统计都有很重要的作用。贝叶斯的另一著作</a:t>
            </a:r>
            <a:r>
              <a:rPr lang="en-US" altLang="zh-CN" dirty="0"/>
              <a:t>《</a:t>
            </a:r>
            <a:r>
              <a:rPr lang="zh-CN" altLang="en-US" dirty="0"/>
              <a:t>机会的学说概论</a:t>
            </a:r>
            <a:r>
              <a:rPr lang="en-US" altLang="zh-CN" dirty="0"/>
              <a:t>》</a:t>
            </a:r>
            <a:r>
              <a:rPr lang="zh-CN" altLang="en-US" dirty="0"/>
              <a:t>发表于</a:t>
            </a:r>
            <a:r>
              <a:rPr lang="en-US" altLang="zh-CN" dirty="0"/>
              <a:t>1758</a:t>
            </a:r>
            <a:r>
              <a:rPr lang="zh-CN" altLang="en-US" dirty="0"/>
              <a:t>年。贝叶斯所采用的许多术语被沿用至今。</a:t>
            </a:r>
            <a:br>
              <a:rPr lang="zh-CN" altLang="en-US" dirty="0"/>
            </a:br>
            <a:r>
              <a:rPr lang="zh-CN" altLang="en-US" dirty="0"/>
              <a:t>　　贝叶斯决策理论是主观贝叶斯派归纳理论的重要组成部分。</a:t>
            </a:r>
            <a:br>
              <a:rPr lang="zh-CN" altLang="en-US" dirty="0"/>
            </a:br>
            <a:r>
              <a:rPr lang="zh-CN" altLang="en-US" dirty="0"/>
              <a:t>　　贝叶斯决策就是在不完全情报下，对部分未知的状态用主观概率估计，然后用贝叶斯公式对发生概率进行修正，最后再利用期望值和修正概率做出最优决策。</a:t>
            </a:r>
            <a:br>
              <a:rPr lang="zh-CN" altLang="en-US" dirty="0"/>
            </a:br>
            <a:r>
              <a:rPr lang="zh-CN" altLang="en-US" dirty="0"/>
              <a:t>　　贝叶斯决策理论方法是统计模型决策中的一个基本方法，其基本思想是：</a:t>
            </a:r>
            <a:br>
              <a:rPr lang="zh-CN" altLang="en-US" dirty="0"/>
            </a:br>
            <a:r>
              <a:rPr lang="zh-CN" altLang="en-US" dirty="0"/>
              <a:t>        </a:t>
            </a:r>
            <a:r>
              <a:rPr lang="en-US" altLang="zh-CN" dirty="0"/>
              <a:t>1</a:t>
            </a:r>
            <a:r>
              <a:rPr lang="zh-CN" altLang="en-US" dirty="0"/>
              <a:t>、已知类条件概率密度参数表达式和先验概率。</a:t>
            </a:r>
            <a:br>
              <a:rPr lang="zh-CN" altLang="en-US" dirty="0"/>
            </a:br>
            <a:r>
              <a:rPr lang="zh-CN" altLang="en-US" dirty="0"/>
              <a:t>        </a:t>
            </a:r>
            <a:r>
              <a:rPr lang="en-US" altLang="zh-CN" dirty="0"/>
              <a:t>2</a:t>
            </a:r>
            <a:r>
              <a:rPr lang="zh-CN" altLang="en-US" dirty="0"/>
              <a:t>、利用贝叶斯公式转换成后验概率。</a:t>
            </a:r>
            <a:br>
              <a:rPr lang="zh-CN" altLang="en-US" dirty="0"/>
            </a:br>
            <a:r>
              <a:rPr lang="zh-CN" altLang="en-US" dirty="0"/>
              <a:t>        </a:t>
            </a:r>
            <a:r>
              <a:rPr lang="en-US" altLang="zh-CN" dirty="0"/>
              <a:t>3</a:t>
            </a:r>
            <a:r>
              <a:rPr lang="zh-CN" altLang="en-US" dirty="0"/>
              <a:t>、根据后验概率大小进行决策分类。</a:t>
            </a:r>
            <a:br>
              <a:rPr lang="zh-CN" altLang="en-US" dirty="0"/>
            </a:br>
            <a:endParaRPr lang="zh-CN" altLang="en-US" dirty="0"/>
          </a:p>
        </p:txBody>
      </p:sp>
      <p:sp>
        <p:nvSpPr>
          <p:cNvPr id="58371"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a:buFont typeface="Arial" panose="020B0604020202020204" pitchFamily="34" charset="0"/>
              <a:buChar char="•"/>
            </a:pPr>
            <a:fld id="{9A0DB2DC-4C9A-4742-B13C-FB6460FD3503}" type="slidenum">
              <a:rPr lang="" altLang="en-US" sz="1200" b="0" dirty="0">
                <a:solidFill>
                  <a:schemeClr val="bg2"/>
                </a:solidFill>
                <a:latin typeface="Comic Sans MS" panose="030F0702030302020204" pitchFamily="66" charset="0"/>
                <a:ea typeface="宋体" panose="02010600030101010101" pitchFamily="2" charset="-122"/>
              </a:rPr>
              <a:t>55</a:t>
            </a:fld>
            <a:endParaRPr lang="" altLang="en-US" sz="1200" b="0" dirty="0">
              <a:solidFill>
                <a:schemeClr val="bg2"/>
              </a:solidFill>
              <a:latin typeface="Comic Sans MS" panose="030F0702030302020204" pitchFamily="66"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FA8403-5184-CD00-3A85-AC0D78D8A32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209AE68-06B8-3806-D20C-2795DB9653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4E15BC5-9227-13BE-6D6B-44FB5B2B8A27}"/>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70DF4C06-1D0F-72E1-E5EA-955ACB7837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B359E1-7245-153A-322E-5DC13E4BD209}"/>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274372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E0B7C0-1387-F0A7-E4F1-6B1CDD4CC31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9C0AC7B-DF0B-E856-BF47-C96E2DF3D30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6C9B86C-0AC2-26DC-9283-A216E53F2C6E}"/>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7D81360C-ACB2-4B55-0E69-1BCD1B4E1C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86DFB6D-D947-7D89-F33F-5A419DE8D492}"/>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251339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B17560-C0B9-60F3-1F05-DBEF277AE3E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700D1B7-AAE7-EE6D-1F9F-2D7918D69C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55E0123-6C7B-3680-47DF-28B4D54BADEC}"/>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6F424FB8-6F98-6900-B02D-E53B6D2498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6775E3A-2C8E-2565-9BA8-21CE0049577F}"/>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3903372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33770D-9CC2-D08E-8784-8A96B9349C2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E9410F-A442-5DCB-D10F-4135A680A43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5C46AA0-7E1F-D4CF-C11C-2FBA5559613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ADFECF0-4585-7D2B-0069-397BC8FDC137}"/>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6" name="页脚占位符 5">
            <a:extLst>
              <a:ext uri="{FF2B5EF4-FFF2-40B4-BE49-F238E27FC236}">
                <a16:creationId xmlns:a16="http://schemas.microsoft.com/office/drawing/2014/main" id="{788B925B-F1C0-7AC9-DF0A-BD2D75B8E1C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8B5163E-A78F-2C06-E3C7-617FB28D505E}"/>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3954096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07180B-49B5-9D8D-6528-94D00F07B37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B57170D-CE0C-1382-8D8D-157F8ADBB6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04D1237-76B5-93AA-E326-66D4006E840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9D33705-9198-6EEA-8C88-B559877ED4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B60D8E1-1A33-CFEE-B1A3-DE88997A479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692D4C5-3AC6-72F6-9D23-B3893F6E4ADE}"/>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8" name="页脚占位符 7">
            <a:extLst>
              <a:ext uri="{FF2B5EF4-FFF2-40B4-BE49-F238E27FC236}">
                <a16:creationId xmlns:a16="http://schemas.microsoft.com/office/drawing/2014/main" id="{66880277-10D6-4B9E-A480-63E3DE89CF2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09EBDF3-D517-F630-3073-ED618F483E3F}"/>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1124392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FBB676-37DC-679A-8CE8-12A9F6751EF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BEEBEBC-4FBC-9DC8-EE68-4D25BD22B2C7}"/>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4" name="页脚占位符 3">
            <a:extLst>
              <a:ext uri="{FF2B5EF4-FFF2-40B4-BE49-F238E27FC236}">
                <a16:creationId xmlns:a16="http://schemas.microsoft.com/office/drawing/2014/main" id="{F72E161F-ED3D-F89B-D100-A12EBF3B5FC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3B8748F-0DCF-FA82-5FC2-9B1DAB32B497}"/>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1601383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3B7B1E-0E5A-7E92-2121-E81A21E0269F}"/>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3" name="页脚占位符 2">
            <a:extLst>
              <a:ext uri="{FF2B5EF4-FFF2-40B4-BE49-F238E27FC236}">
                <a16:creationId xmlns:a16="http://schemas.microsoft.com/office/drawing/2014/main" id="{3B01532C-1A53-E85F-623D-5A7C5807F55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CE98F81-3548-BCCB-99FC-FCBB3749FA6E}"/>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2257396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580957-605B-63FE-93FC-6F2BE0C2DA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C877EF5-03DB-86E7-F355-88A64CC72C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E936657-F7F0-732C-7B32-45B99AA935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CBCBDD6-6A62-FA78-72D6-9272F4DC62FA}"/>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6" name="页脚占位符 5">
            <a:extLst>
              <a:ext uri="{FF2B5EF4-FFF2-40B4-BE49-F238E27FC236}">
                <a16:creationId xmlns:a16="http://schemas.microsoft.com/office/drawing/2014/main" id="{575D4FA5-FEF7-A3DE-29EB-AC189A39787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E3A8950-080D-66A1-7F4F-6620D41B89C4}"/>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3226179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A7C6B0-2506-0B6D-B43F-4C9AE719826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8094ECD-CA3F-BF23-BD77-A425350FE6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DEFF5D8-8501-B044-6602-80EFA79648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9C1758B-0FEF-DAF3-2DFD-B14EAF00EA5F}"/>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6" name="页脚占位符 5">
            <a:extLst>
              <a:ext uri="{FF2B5EF4-FFF2-40B4-BE49-F238E27FC236}">
                <a16:creationId xmlns:a16="http://schemas.microsoft.com/office/drawing/2014/main" id="{3FB61D01-1E0F-6525-2FB8-E3D36734168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27BCA7B-BA28-98F7-E6F1-362954C6014C}"/>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154747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BA9D63-94EE-25CF-9A6A-BC908144ED0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3D3FFC-B2EC-9CE3-28DC-3AA5AF96E31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740CE34-3FC6-A2E4-FBE1-03A39F3FF02D}"/>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01026E8D-1A7B-7C55-14AB-36B1A1E8DE5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B0102C-9214-C302-76C7-0693FD792A55}"/>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301016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3DAF3CB-387B-4280-EC99-F9D6DE3ECBE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AFEC04B-1565-F04C-A6DF-D3EB2C898C6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C2945C1-F17E-725D-B070-6E22808E2D3F}"/>
              </a:ext>
            </a:extLst>
          </p:cNvPr>
          <p:cNvSpPr>
            <a:spLocks noGrp="1"/>
          </p:cNvSpPr>
          <p:nvPr>
            <p:ph type="dt" sz="half" idx="10"/>
          </p:nvPr>
        </p:nvSpPr>
        <p:spPr/>
        <p:txBody>
          <a:bodyPr/>
          <a:lstStyle/>
          <a:p>
            <a:fld id="{FFC624B6-99A4-4240-A5F6-3AB73A6BDA8C}"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C232316C-78E3-9BD0-E2BB-69AA02ED71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DD68705-1CD1-9193-BE54-D680C6E4D4D4}"/>
              </a:ext>
            </a:extLst>
          </p:cNvPr>
          <p:cNvSpPr>
            <a:spLocks noGrp="1"/>
          </p:cNvSpPr>
          <p:nvPr>
            <p:ph type="sldNum" sz="quarter" idx="12"/>
          </p:nvPr>
        </p:nvSpPr>
        <p:spPr/>
        <p:txBody>
          <a:body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1096756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40"/>
            <a:ext cx="10972800" cy="5851525"/>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extLst>
      <p:ext uri="{BB962C8B-B14F-4D97-AF65-F5344CB8AC3E}">
        <p14:creationId xmlns:p14="http://schemas.microsoft.com/office/powerpoint/2010/main" val="10645037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3EE1C2-4234-4D32-8D04-DCB081BC7530}"/>
              </a:ext>
            </a:extLst>
          </p:cNvPr>
          <p:cNvSpPr>
            <a:spLocks noGrp="1"/>
          </p:cNvSpPr>
          <p:nvPr>
            <p:ph type="title"/>
          </p:nvPr>
        </p:nvSpPr>
        <p:spPr>
          <a:xfrm>
            <a:off x="304800" y="0"/>
            <a:ext cx="11684000" cy="762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72EF649-A5D2-4557-B304-2EA4EBEAA043}"/>
              </a:ext>
            </a:extLst>
          </p:cNvPr>
          <p:cNvSpPr>
            <a:spLocks noGrp="1"/>
          </p:cNvSpPr>
          <p:nvPr>
            <p:ph type="body" sz="half" idx="1"/>
          </p:nvPr>
        </p:nvSpPr>
        <p:spPr>
          <a:xfrm>
            <a:off x="256118" y="927101"/>
            <a:ext cx="11781367" cy="258921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B2A0090-8412-4686-97DD-9E0E7AF27E25}"/>
              </a:ext>
            </a:extLst>
          </p:cNvPr>
          <p:cNvSpPr>
            <a:spLocks noGrp="1"/>
          </p:cNvSpPr>
          <p:nvPr>
            <p:ph sz="half" idx="2"/>
          </p:nvPr>
        </p:nvSpPr>
        <p:spPr>
          <a:xfrm>
            <a:off x="256118" y="3668713"/>
            <a:ext cx="11781367" cy="25892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灯片编号占位符 4">
            <a:extLst>
              <a:ext uri="{FF2B5EF4-FFF2-40B4-BE49-F238E27FC236}">
                <a16:creationId xmlns:a16="http://schemas.microsoft.com/office/drawing/2014/main" id="{7BBBF5D6-ECF0-450F-BA87-2F155556D8C8}"/>
              </a:ext>
            </a:extLst>
          </p:cNvPr>
          <p:cNvSpPr>
            <a:spLocks noGrp="1"/>
          </p:cNvSpPr>
          <p:nvPr>
            <p:ph type="sldNum" sz="quarter" idx="10"/>
          </p:nvPr>
        </p:nvSpPr>
        <p:spPr>
          <a:xfrm>
            <a:off x="4572000" y="6510338"/>
            <a:ext cx="2540000" cy="347662"/>
          </a:xfrm>
        </p:spPr>
        <p:txBody>
          <a:bodyPr/>
          <a:lstStyle>
            <a:lvl1pPr>
              <a:defRPr/>
            </a:lvl1pPr>
          </a:lstStyle>
          <a:p>
            <a:fld id="{058A9490-DB4D-4E8E-92F2-043C1C1FF3D9}" type="slidenum">
              <a:rPr lang="en-US" altLang="zh-CN"/>
              <a:pPr/>
              <a:t>‹#›</a:t>
            </a:fld>
            <a:r>
              <a:rPr lang="en-US" altLang="zh-CN"/>
              <a:t>/55</a:t>
            </a:r>
          </a:p>
        </p:txBody>
      </p:sp>
    </p:spTree>
    <p:extLst>
      <p:ext uri="{BB962C8B-B14F-4D97-AF65-F5344CB8AC3E}">
        <p14:creationId xmlns:p14="http://schemas.microsoft.com/office/powerpoint/2010/main" val="1608296740"/>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E04E69-3508-4442-912D-F5BD7D958F9F}"/>
              </a:ext>
            </a:extLst>
          </p:cNvPr>
          <p:cNvSpPr>
            <a:spLocks noGrp="1"/>
          </p:cNvSpPr>
          <p:nvPr>
            <p:ph type="title"/>
          </p:nvPr>
        </p:nvSpPr>
        <p:spPr>
          <a:xfrm>
            <a:off x="304800" y="0"/>
            <a:ext cx="11684000" cy="762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19ACD3B-F5D5-4415-86E2-9C056A727C56}"/>
              </a:ext>
            </a:extLst>
          </p:cNvPr>
          <p:cNvSpPr>
            <a:spLocks noGrp="1"/>
          </p:cNvSpPr>
          <p:nvPr>
            <p:ph type="body" sz="half" idx="1"/>
          </p:nvPr>
        </p:nvSpPr>
        <p:spPr>
          <a:xfrm>
            <a:off x="256117" y="927101"/>
            <a:ext cx="5789083" cy="53308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11E0611-F32A-4BD3-BB54-8B617F7C14BE}"/>
              </a:ext>
            </a:extLst>
          </p:cNvPr>
          <p:cNvSpPr>
            <a:spLocks noGrp="1"/>
          </p:cNvSpPr>
          <p:nvPr>
            <p:ph sz="half" idx="2"/>
          </p:nvPr>
        </p:nvSpPr>
        <p:spPr>
          <a:xfrm>
            <a:off x="6248401" y="927101"/>
            <a:ext cx="5789084" cy="53308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灯片编号占位符 4">
            <a:extLst>
              <a:ext uri="{FF2B5EF4-FFF2-40B4-BE49-F238E27FC236}">
                <a16:creationId xmlns:a16="http://schemas.microsoft.com/office/drawing/2014/main" id="{3B5DA91F-B69D-4810-B233-0D1EC6389003}"/>
              </a:ext>
            </a:extLst>
          </p:cNvPr>
          <p:cNvSpPr>
            <a:spLocks noGrp="1"/>
          </p:cNvSpPr>
          <p:nvPr>
            <p:ph type="sldNum" sz="quarter" idx="10"/>
          </p:nvPr>
        </p:nvSpPr>
        <p:spPr>
          <a:xfrm>
            <a:off x="4572000" y="6510338"/>
            <a:ext cx="2540000" cy="347662"/>
          </a:xfrm>
        </p:spPr>
        <p:txBody>
          <a:bodyPr/>
          <a:lstStyle>
            <a:lvl1pPr>
              <a:defRPr/>
            </a:lvl1pPr>
          </a:lstStyle>
          <a:p>
            <a:fld id="{C7427F89-A449-4F40-A866-E19F0227DEA2}" type="slidenum">
              <a:rPr lang="en-US" altLang="zh-CN"/>
              <a:pPr/>
              <a:t>‹#›</a:t>
            </a:fld>
            <a:r>
              <a:rPr lang="en-US" altLang="zh-CN"/>
              <a:t>/55</a:t>
            </a:r>
          </a:p>
        </p:txBody>
      </p:sp>
    </p:spTree>
    <p:extLst>
      <p:ext uri="{BB962C8B-B14F-4D97-AF65-F5344CB8AC3E}">
        <p14:creationId xmlns:p14="http://schemas.microsoft.com/office/powerpoint/2010/main" val="2335352241"/>
      </p:ext>
    </p:extLst>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97933" y="228600"/>
            <a:ext cx="11387667" cy="11430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812800" y="1600200"/>
            <a:ext cx="5334000" cy="4498975"/>
          </a:xfr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4" name="内容占位符 3"/>
          <p:cNvSpPr>
            <a:spLocks noGrp="1"/>
          </p:cNvSpPr>
          <p:nvPr>
            <p:ph sz="quarter" idx="2"/>
          </p:nvPr>
        </p:nvSpPr>
        <p:spPr>
          <a:xfrm>
            <a:off x="6350000" y="1600200"/>
            <a:ext cx="5334000" cy="2173288"/>
          </a:xfr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5" name="内容占位符 4"/>
          <p:cNvSpPr>
            <a:spLocks noGrp="1"/>
          </p:cNvSpPr>
          <p:nvPr>
            <p:ph sz="quarter" idx="3"/>
          </p:nvPr>
        </p:nvSpPr>
        <p:spPr>
          <a:xfrm>
            <a:off x="6350000" y="3925889"/>
            <a:ext cx="5334000" cy="2173287"/>
          </a:xfrm>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2052" name="日期占位符 5"/>
          <p:cNvSpPr>
            <a:spLocks noGrp="1"/>
          </p:cNvSpPr>
          <p:nvPr>
            <p:ph type="dt" sz="half" idx="10"/>
          </p:nvPr>
        </p:nvSpPr>
        <p:spPr bwMode="auto">
          <a:xfrm>
            <a:off x="397934" y="6245225"/>
            <a:ext cx="3052233" cy="47625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endParaRPr lang="en-US" altLang="zh-CN" sz="1400" b="0">
              <a:latin typeface="Arial" pitchFamily="34" charset="0"/>
              <a:ea typeface="宋体" pitchFamily="2" charset="-122"/>
            </a:endParaRPr>
          </a:p>
        </p:txBody>
      </p:sp>
      <p:sp>
        <p:nvSpPr>
          <p:cNvPr id="2053" name="页脚占位符 6"/>
          <p:cNvSpPr>
            <a:spLocks noGrp="1"/>
          </p:cNvSpPr>
          <p:nvPr>
            <p:ph type="ftr" sz="quarter" idx="11"/>
          </p:nvPr>
        </p:nvSpPr>
        <p:spPr bwMode="auto">
          <a:xfrm>
            <a:off x="4161367" y="6245225"/>
            <a:ext cx="3860800" cy="47625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lgn="ctr"/>
            <a:endParaRPr lang="en-US" altLang="zh-CN" sz="1400" b="0">
              <a:latin typeface="Arial" pitchFamily="34" charset="0"/>
              <a:ea typeface="宋体" pitchFamily="2" charset="-122"/>
            </a:endParaRPr>
          </a:p>
        </p:txBody>
      </p:sp>
      <p:sp>
        <p:nvSpPr>
          <p:cNvPr id="2054" name="灯片编号占位符 7"/>
          <p:cNvSpPr>
            <a:spLocks noGrp="1"/>
          </p:cNvSpPr>
          <p:nvPr>
            <p:ph type="sldNum" sz="quarter" idx="12"/>
          </p:nvPr>
        </p:nvSpPr>
        <p:spPr bwMode="auto">
          <a:xfrm>
            <a:off x="8733368" y="6245225"/>
            <a:ext cx="3052233" cy="47625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lgn="r"/>
            <a:fld id="{1FE87E26-C0E0-45EF-A85C-F6B5138F41FA}" type="slidenum">
              <a:rPr lang="en-US" altLang="zh-CN" sz="1400" b="0">
                <a:latin typeface="Arial" pitchFamily="34" charset="0"/>
                <a:ea typeface="宋体" pitchFamily="2" charset="-122"/>
              </a:rPr>
              <a:t>‹#›</a:t>
            </a:fld>
            <a:endParaRPr lang="en-US" altLang="zh-CN" sz="1400" b="0">
              <a:latin typeface="Arial" pitchFamily="34" charset="0"/>
              <a:ea typeface="宋体" pitchFamily="2" charset="-122"/>
            </a:endParaRPr>
          </a:p>
        </p:txBody>
      </p:sp>
    </p:spTree>
    <p:extLst>
      <p:ext uri="{BB962C8B-B14F-4D97-AF65-F5344CB8AC3E}">
        <p14:creationId xmlns:p14="http://schemas.microsoft.com/office/powerpoint/2010/main" val="1600080094"/>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EECC648-CDBD-A641-8F72-3B17A0675A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08B8B65-A40C-1E2C-69AB-D9078CDD98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BD2DF7-AD51-F24F-6167-1B603DF65F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C624B6-99A4-4240-A5F6-3AB73A6BDA8C}" type="datetimeFigureOut">
              <a:rPr lang="zh-CN" altLang="en-US" smtClean="0"/>
              <a:t>2024/1/9</a:t>
            </a:fld>
            <a:endParaRPr lang="zh-CN" altLang="en-US"/>
          </a:p>
        </p:txBody>
      </p:sp>
      <p:sp>
        <p:nvSpPr>
          <p:cNvPr id="5" name="页脚占位符 4">
            <a:extLst>
              <a:ext uri="{FF2B5EF4-FFF2-40B4-BE49-F238E27FC236}">
                <a16:creationId xmlns:a16="http://schemas.microsoft.com/office/drawing/2014/main" id="{5D2B1A70-534F-842F-12F2-B688CBF6D9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0852151-0938-E018-7EDB-93468FB515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6559B2-938F-4EE4-B13C-BF2946A21348}" type="slidenum">
              <a:rPr lang="zh-CN" altLang="en-US" smtClean="0"/>
              <a:t>‹#›</a:t>
            </a:fld>
            <a:endParaRPr lang="zh-CN" altLang="en-US"/>
          </a:p>
        </p:txBody>
      </p:sp>
    </p:spTree>
    <p:extLst>
      <p:ext uri="{BB962C8B-B14F-4D97-AF65-F5344CB8AC3E}">
        <p14:creationId xmlns:p14="http://schemas.microsoft.com/office/powerpoint/2010/main" val="3415883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7.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2.bin"/><Relationship Id="rId4" Type="http://schemas.openxmlformats.org/officeDocument/2006/relationships/image" Target="../media/image18.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11" Type="http://schemas.openxmlformats.org/officeDocument/2006/relationships/image" Target="../media/image24.wmf"/><Relationship Id="rId5" Type="http://schemas.openxmlformats.org/officeDocument/2006/relationships/image" Target="../media/image21.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23.wmf"/></Relationships>
</file>

<file path=ppt/slides/_rels/slide3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8.bin"/><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9.bin"/><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32.wmf"/><Relationship Id="rId3" Type="http://schemas.openxmlformats.org/officeDocument/2006/relationships/image" Target="../media/image27.emf"/><Relationship Id="rId7" Type="http://schemas.openxmlformats.org/officeDocument/2006/relationships/image" Target="../media/image29.wmf"/><Relationship Id="rId12" Type="http://schemas.openxmlformats.org/officeDocument/2006/relationships/oleObject" Target="../embeddings/oleObject15.bin"/><Relationship Id="rId2"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12.bin"/><Relationship Id="rId11" Type="http://schemas.openxmlformats.org/officeDocument/2006/relationships/image" Target="../media/image31.wmf"/><Relationship Id="rId5" Type="http://schemas.openxmlformats.org/officeDocument/2006/relationships/image" Target="../media/image28.emf"/><Relationship Id="rId15" Type="http://schemas.openxmlformats.org/officeDocument/2006/relationships/image" Target="../media/image33.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30.wmf"/><Relationship Id="rId14" Type="http://schemas.openxmlformats.org/officeDocument/2006/relationships/oleObject" Target="../embeddings/oleObject16.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34.wmf"/><Relationship Id="rId7" Type="http://schemas.openxmlformats.org/officeDocument/2006/relationships/image" Target="../media/image36.w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35.wmf"/><Relationship Id="rId4" Type="http://schemas.openxmlformats.org/officeDocument/2006/relationships/oleObject" Target="../embeddings/oleObject18.bin"/><Relationship Id="rId9" Type="http://schemas.openxmlformats.org/officeDocument/2006/relationships/image" Target="../media/image37.emf"/></Relationships>
</file>

<file path=ppt/slides/_rels/slide36.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22.bin"/><Relationship Id="rId4" Type="http://schemas.openxmlformats.org/officeDocument/2006/relationships/image" Target="../media/image43.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23.bin"/><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txBox="1"/>
          <p:nvPr/>
        </p:nvSpPr>
        <p:spPr>
          <a:xfrm>
            <a:off x="2499770" y="2572689"/>
            <a:ext cx="7924800" cy="762000"/>
          </a:xfrm>
          <a:prstGeom prst="rect">
            <a:avLst/>
          </a:prstGeom>
          <a:noFill/>
          <a:ln w="9525">
            <a:noFill/>
          </a:ln>
        </p:spPr>
        <p:txBody>
          <a:bodyPr anchor="t" anchorCtr="0"/>
          <a:lstStyle/>
          <a:p>
            <a:pPr algn="ctr" eaLnBrk="0" hangingPunct="0"/>
            <a:r>
              <a:rPr lang="zh-CN" altLang="en-US" sz="5400" dirty="0">
                <a:latin typeface="黑体" panose="02010609060101010101" pitchFamily="49" charset="-122"/>
                <a:ea typeface="黑体" panose="02010609060101010101" pitchFamily="49" charset="-122"/>
              </a:rPr>
              <a:t>第二章  孟德尔定律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DC3BB2E1-B566-4169-836C-B8A45C657337}"/>
              </a:ext>
            </a:extLst>
          </p:cNvPr>
          <p:cNvSpPr>
            <a:spLocks noGrp="1"/>
          </p:cNvSpPr>
          <p:nvPr>
            <p:ph type="title"/>
          </p:nvPr>
        </p:nvSpPr>
        <p:spPr>
          <a:xfrm>
            <a:off x="659295" y="0"/>
            <a:ext cx="10515600" cy="1325563"/>
          </a:xfrm>
        </p:spPr>
        <p:txBody>
          <a:bodyPr/>
          <a:lstStyle/>
          <a:p>
            <a:r>
              <a:rPr lang="zh-CN" altLang="en-US" b="1" dirty="0">
                <a:solidFill>
                  <a:srgbClr val="3324FA"/>
                </a:solidFill>
              </a:rPr>
              <a:t>孟德尔生平</a:t>
            </a:r>
          </a:p>
        </p:txBody>
      </p:sp>
      <p:pic>
        <p:nvPicPr>
          <p:cNvPr id="5" name="Picture 2" descr="C:\Users\aurora\Desktop\在线课程录制\正式录制\TQJ PPT\孟德尔论文英译本封面.jpg">
            <a:extLst>
              <a:ext uri="{FF2B5EF4-FFF2-40B4-BE49-F238E27FC236}">
                <a16:creationId xmlns:a16="http://schemas.microsoft.com/office/drawing/2014/main" id="{15689A4D-4A27-49E3-843D-6A371433452B}"/>
              </a:ext>
            </a:extLst>
          </p:cNvPr>
          <p:cNvPicPr>
            <a:picLocks noGrp="1" noChangeAspect="1" noChangeArrowheads="1"/>
          </p:cNvPicPr>
          <p:nvPr>
            <p:ph idx="4294967295"/>
          </p:nvPr>
        </p:nvPicPr>
        <p:blipFill rotWithShape="1">
          <a:blip r:embed="rId2" cstate="print">
            <a:extLst>
              <a:ext uri="{28A0092B-C50C-407E-A947-70E740481C1C}">
                <a14:useLocalDpi xmlns:a14="http://schemas.microsoft.com/office/drawing/2010/main" val="0"/>
              </a:ext>
            </a:extLst>
          </a:blip>
          <a:stretch/>
        </p:blipFill>
        <p:spPr bwMode="auto">
          <a:xfrm>
            <a:off x="391939" y="1224535"/>
            <a:ext cx="3382963" cy="50720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文本框 6">
            <a:extLst>
              <a:ext uri="{FF2B5EF4-FFF2-40B4-BE49-F238E27FC236}">
                <a16:creationId xmlns:a16="http://schemas.microsoft.com/office/drawing/2014/main" id="{46A177A7-B56A-46CE-8CBC-84B28B505236}"/>
              </a:ext>
            </a:extLst>
          </p:cNvPr>
          <p:cNvSpPr txBox="1"/>
          <p:nvPr/>
        </p:nvSpPr>
        <p:spPr>
          <a:xfrm>
            <a:off x="3918675" y="821576"/>
            <a:ext cx="7435124" cy="6001643"/>
          </a:xfrm>
          <a:prstGeom prst="rect">
            <a:avLst/>
          </a:prstGeom>
          <a:noFill/>
        </p:spPr>
        <p:txBody>
          <a:bodyPr wrap="square">
            <a:spAutoFit/>
          </a:bodyPr>
          <a:lstStyle/>
          <a:p>
            <a:pPr>
              <a:lnSpc>
                <a:spcPct val="200000"/>
              </a:lnSpc>
            </a:pPr>
            <a:r>
              <a:rPr lang="en-US" altLang="zh-CN" sz="2400" b="1" dirty="0">
                <a:latin typeface="黑体" pitchFamily="49" charset="-122"/>
                <a:ea typeface="黑体" pitchFamily="49" charset="-122"/>
              </a:rPr>
              <a:t>1822</a:t>
            </a:r>
            <a:r>
              <a:rPr lang="zh-CN" altLang="en-US" sz="2400" b="1" dirty="0">
                <a:latin typeface="黑体" pitchFamily="49" charset="-122"/>
                <a:ea typeface="黑体" pitchFamily="49" charset="-122"/>
              </a:rPr>
              <a:t>年：出生于奥地利的农民家庭。</a:t>
            </a:r>
          </a:p>
          <a:p>
            <a:pPr>
              <a:lnSpc>
                <a:spcPct val="200000"/>
              </a:lnSpc>
            </a:pPr>
            <a:r>
              <a:rPr lang="en-US" altLang="zh-CN" sz="2400" b="1" dirty="0">
                <a:latin typeface="黑体" pitchFamily="49" charset="-122"/>
                <a:ea typeface="黑体" pitchFamily="49" charset="-122"/>
              </a:rPr>
              <a:t>1847</a:t>
            </a:r>
            <a:r>
              <a:rPr lang="zh-CN" altLang="en-US" sz="2400" b="1" dirty="0">
                <a:latin typeface="黑体" pitchFamily="49" charset="-122"/>
                <a:ea typeface="黑体" pitchFamily="49" charset="-122"/>
              </a:rPr>
              <a:t>年：成为修道士。</a:t>
            </a:r>
          </a:p>
          <a:p>
            <a:pPr>
              <a:lnSpc>
                <a:spcPct val="200000"/>
              </a:lnSpc>
            </a:pPr>
            <a:r>
              <a:rPr lang="en-US" altLang="zh-CN" sz="2400" b="1" dirty="0">
                <a:latin typeface="黑体" pitchFamily="49" charset="-122"/>
                <a:ea typeface="黑体" pitchFamily="49" charset="-122"/>
              </a:rPr>
              <a:t>1851-1853</a:t>
            </a:r>
            <a:r>
              <a:rPr lang="zh-CN" altLang="en-US" sz="2400" b="1" dirty="0">
                <a:latin typeface="黑体" pitchFamily="49" charset="-122"/>
                <a:ea typeface="黑体" pitchFamily="49" charset="-122"/>
              </a:rPr>
              <a:t>年：维也纳大学学习数学和物理。</a:t>
            </a:r>
          </a:p>
          <a:p>
            <a:pPr>
              <a:lnSpc>
                <a:spcPct val="200000"/>
              </a:lnSpc>
            </a:pPr>
            <a:r>
              <a:rPr lang="en-US" altLang="zh-CN" sz="2400" b="1" dirty="0">
                <a:latin typeface="黑体" pitchFamily="49" charset="-122"/>
                <a:ea typeface="黑体" pitchFamily="49" charset="-122"/>
              </a:rPr>
              <a:t>1854-1865</a:t>
            </a:r>
            <a:r>
              <a:rPr lang="zh-CN" altLang="en-US" sz="2400" b="1" dirty="0">
                <a:latin typeface="黑体" pitchFamily="49" charset="-122"/>
                <a:ea typeface="黑体" pitchFamily="49" charset="-122"/>
              </a:rPr>
              <a:t>年： 在布尔诺的修道院进行豌豆杂交实验。</a:t>
            </a:r>
          </a:p>
          <a:p>
            <a:pPr>
              <a:lnSpc>
                <a:spcPct val="200000"/>
              </a:lnSpc>
            </a:pPr>
            <a:r>
              <a:rPr lang="en-US" altLang="zh-CN" sz="2400" b="1" dirty="0">
                <a:latin typeface="黑体" pitchFamily="49" charset="-122"/>
                <a:ea typeface="黑体" pitchFamily="49" charset="-122"/>
              </a:rPr>
              <a:t>1865</a:t>
            </a:r>
            <a:r>
              <a:rPr lang="zh-CN" altLang="en-US" sz="2400" b="1" dirty="0">
                <a:latin typeface="黑体" pitchFamily="49" charset="-122"/>
                <a:ea typeface="黑体" pitchFamily="49" charset="-122"/>
              </a:rPr>
              <a:t>年</a:t>
            </a:r>
            <a:r>
              <a:rPr lang="en-US" altLang="zh-CN" sz="2400" b="1" dirty="0">
                <a:latin typeface="黑体" pitchFamily="49" charset="-122"/>
                <a:ea typeface="黑体" pitchFamily="49" charset="-122"/>
              </a:rPr>
              <a:t>2</a:t>
            </a:r>
            <a:r>
              <a:rPr lang="zh-CN" altLang="en-US" sz="2400" b="1" dirty="0">
                <a:latin typeface="黑体" pitchFamily="49" charset="-122"/>
                <a:ea typeface="黑体" pitchFamily="49" charset="-122"/>
              </a:rPr>
              <a:t>月</a:t>
            </a:r>
            <a:r>
              <a:rPr lang="en-US" altLang="zh-CN" sz="2400" b="1" dirty="0">
                <a:latin typeface="黑体" pitchFamily="49" charset="-122"/>
                <a:ea typeface="黑体" pitchFamily="49" charset="-122"/>
              </a:rPr>
              <a:t>8</a:t>
            </a:r>
            <a:r>
              <a:rPr lang="zh-CN" altLang="en-US" sz="2400" b="1" dirty="0">
                <a:latin typeface="黑体" pitchFamily="49" charset="-122"/>
                <a:ea typeface="黑体" pitchFamily="49" charset="-122"/>
              </a:rPr>
              <a:t>日、</a:t>
            </a:r>
            <a:r>
              <a:rPr lang="en-US" altLang="zh-CN" sz="2400" b="1" dirty="0">
                <a:latin typeface="黑体" pitchFamily="49" charset="-122"/>
                <a:ea typeface="黑体" pitchFamily="49" charset="-122"/>
              </a:rPr>
              <a:t>3</a:t>
            </a:r>
            <a:r>
              <a:rPr lang="zh-CN" altLang="en-US" sz="2400" b="1" dirty="0">
                <a:latin typeface="黑体" pitchFamily="49" charset="-122"/>
                <a:ea typeface="黑体" pitchFamily="49" charset="-122"/>
              </a:rPr>
              <a:t>月</a:t>
            </a:r>
            <a:r>
              <a:rPr lang="en-US" altLang="zh-CN" sz="2400" b="1" dirty="0">
                <a:latin typeface="黑体" pitchFamily="49" charset="-122"/>
                <a:ea typeface="黑体" pitchFamily="49" charset="-122"/>
              </a:rPr>
              <a:t>8</a:t>
            </a:r>
            <a:r>
              <a:rPr lang="zh-CN" altLang="en-US" sz="2400" b="1" dirty="0">
                <a:latin typeface="黑体" pitchFamily="49" charset="-122"/>
                <a:ea typeface="黑体" pitchFamily="49" charset="-122"/>
              </a:rPr>
              <a:t>日： 在“布尔诺自然科学学会”宣读豌豆杂交论文。</a:t>
            </a:r>
          </a:p>
          <a:p>
            <a:pPr>
              <a:lnSpc>
                <a:spcPct val="200000"/>
              </a:lnSpc>
            </a:pPr>
            <a:r>
              <a:rPr lang="en-US" altLang="zh-CN" sz="2400" b="1" dirty="0">
                <a:latin typeface="黑体" pitchFamily="49" charset="-122"/>
                <a:ea typeface="黑体" pitchFamily="49" charset="-122"/>
              </a:rPr>
              <a:t>1866</a:t>
            </a:r>
            <a:r>
              <a:rPr lang="zh-CN" altLang="en-US" sz="2400" b="1" dirty="0">
                <a:latin typeface="黑体" pitchFamily="49" charset="-122"/>
                <a:ea typeface="黑体" pitchFamily="49" charset="-122"/>
              </a:rPr>
              <a:t>年刊登在</a:t>
            </a:r>
            <a:r>
              <a:rPr lang="en-US" altLang="zh-CN" sz="2400" b="1" dirty="0">
                <a:latin typeface="黑体" pitchFamily="49" charset="-122"/>
                <a:ea typeface="黑体" pitchFamily="49" charset="-122"/>
              </a:rPr>
              <a:t>《</a:t>
            </a:r>
            <a:r>
              <a:rPr lang="zh-CN" altLang="en-US" sz="2400" b="1" dirty="0">
                <a:latin typeface="黑体" pitchFamily="49" charset="-122"/>
                <a:ea typeface="黑体" pitchFamily="49" charset="-122"/>
              </a:rPr>
              <a:t>布尔诺自然史学会杂志</a:t>
            </a:r>
            <a:r>
              <a:rPr lang="en-US" altLang="zh-CN" sz="2400" b="1" dirty="0">
                <a:latin typeface="黑体" pitchFamily="49" charset="-122"/>
                <a:ea typeface="黑体" pitchFamily="49" charset="-122"/>
              </a:rPr>
              <a:t>》</a:t>
            </a:r>
            <a:r>
              <a:rPr lang="zh-CN" altLang="en-US" sz="2400" b="1" dirty="0">
                <a:latin typeface="黑体" pitchFamily="49" charset="-122"/>
                <a:ea typeface="黑体" pitchFamily="49" charset="-122"/>
              </a:rPr>
              <a:t>上。</a:t>
            </a:r>
          </a:p>
          <a:p>
            <a:pPr>
              <a:lnSpc>
                <a:spcPct val="200000"/>
              </a:lnSpc>
            </a:pPr>
            <a:r>
              <a:rPr lang="en-US" altLang="zh-CN" sz="2400" b="1" dirty="0">
                <a:latin typeface="黑体" pitchFamily="49" charset="-122"/>
                <a:ea typeface="黑体" pitchFamily="49" charset="-122"/>
              </a:rPr>
              <a:t>1869</a:t>
            </a:r>
            <a:r>
              <a:rPr lang="zh-CN" altLang="en-US" sz="2400" b="1" dirty="0">
                <a:latin typeface="黑体" pitchFamily="49" charset="-122"/>
                <a:ea typeface="黑体" pitchFamily="49" charset="-122"/>
              </a:rPr>
              <a:t>年，发表山柳菊的杂交实验结果。</a:t>
            </a:r>
          </a:p>
        </p:txBody>
      </p:sp>
      <p:pic>
        <p:nvPicPr>
          <p:cNvPr id="8" name="Picture 2" descr="Gregor Mendel oval.jpg">
            <a:extLst>
              <a:ext uri="{FF2B5EF4-FFF2-40B4-BE49-F238E27FC236}">
                <a16:creationId xmlns:a16="http://schemas.microsoft.com/office/drawing/2014/main" id="{C3AE5B76-A010-4FFB-805C-5B333D4EA5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68072" y="130191"/>
            <a:ext cx="2368983" cy="2997677"/>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2">
            <a:extLst>
              <a:ext uri="{FF2B5EF4-FFF2-40B4-BE49-F238E27FC236}">
                <a16:creationId xmlns:a16="http://schemas.microsoft.com/office/drawing/2014/main" id="{55A2E986-92EF-4FC1-8D8B-63B9514341B9}"/>
              </a:ext>
            </a:extLst>
          </p:cNvPr>
          <p:cNvSpPr txBox="1">
            <a:spLocks/>
          </p:cNvSpPr>
          <p:nvPr/>
        </p:nvSpPr>
        <p:spPr>
          <a:xfrm>
            <a:off x="11353799" y="6356350"/>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a:pPr/>
              <a:t>2</a:t>
            </a:fld>
            <a:endParaRPr lang="zh-CN" altLang="en-US" dirty="0"/>
          </a:p>
        </p:txBody>
      </p:sp>
    </p:spTree>
    <p:extLst>
      <p:ext uri="{BB962C8B-B14F-4D97-AF65-F5344CB8AC3E}">
        <p14:creationId xmlns:p14="http://schemas.microsoft.com/office/powerpoint/2010/main" val="501807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a:xfrm>
            <a:off x="2819400" y="0"/>
            <a:ext cx="7543800" cy="685800"/>
          </a:xfrm>
          <a:noFill/>
          <a:ln>
            <a:noFill/>
          </a:ln>
        </p:spPr>
        <p:txBody>
          <a:bodyPr anchor="t" anchorCtr="0"/>
          <a:lstStyle/>
          <a:p>
            <a:r>
              <a:rPr lang="en-US" altLang="zh-CN" sz="3600" b="1" dirty="0">
                <a:latin typeface="黑体" panose="02010609060101010101" pitchFamily="49" charset="-122"/>
                <a:ea typeface="黑体" panose="02010609060101010101" pitchFamily="49" charset="-122"/>
              </a:rPr>
              <a:t>2</a:t>
            </a:r>
            <a:r>
              <a:rPr lang="zh-CN" altLang="en-US" sz="3600" b="1" dirty="0">
                <a:latin typeface="黑体" panose="02010609060101010101" pitchFamily="49" charset="-122"/>
                <a:ea typeface="黑体" panose="02010609060101010101" pitchFamily="49" charset="-122"/>
              </a:rPr>
              <a:t>.1 分离定律</a:t>
            </a:r>
          </a:p>
        </p:txBody>
      </p:sp>
      <p:sp>
        <p:nvSpPr>
          <p:cNvPr id="18434" name="Rectangle 3"/>
          <p:cNvSpPr>
            <a:spLocks noGrp="1"/>
          </p:cNvSpPr>
          <p:nvPr>
            <p:ph idx="1"/>
          </p:nvPr>
        </p:nvSpPr>
        <p:spPr>
          <a:xfrm>
            <a:off x="2166939" y="714375"/>
            <a:ext cx="7391400" cy="2895600"/>
          </a:xfrm>
          <a:noFill/>
          <a:ln>
            <a:noFill/>
          </a:ln>
        </p:spPr>
        <p:txBody>
          <a:bodyPr anchor="t" anchorCtr="0"/>
          <a:lstStyle/>
          <a:p>
            <a:pPr>
              <a:lnSpc>
                <a:spcPct val="90000"/>
              </a:lnSpc>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一、一对相对性状的杂交实验</a:t>
            </a:r>
          </a:p>
          <a:p>
            <a:pPr>
              <a:lnSpc>
                <a:spcPct val="90000"/>
              </a:lnSpc>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二、性状分离现象的解释</a:t>
            </a:r>
          </a:p>
          <a:p>
            <a:pPr>
              <a:lnSpc>
                <a:spcPct val="90000"/>
              </a:lnSpc>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三、分离规律的验证</a:t>
            </a:r>
          </a:p>
          <a:p>
            <a:pPr>
              <a:lnSpc>
                <a:spcPct val="90000"/>
              </a:lnSpc>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四、分离定律的普遍性</a:t>
            </a:r>
          </a:p>
          <a:p>
            <a:pPr>
              <a:lnSpc>
                <a:spcPct val="90000"/>
              </a:lnSpc>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五、分离定律的意义</a:t>
            </a:r>
          </a:p>
        </p:txBody>
      </p:sp>
      <p:pic>
        <p:nvPicPr>
          <p:cNvPr id="18435" name="Picture 4" descr="E:\My Files\遗传学CAI2002\Figures\C02\0-2-21.jpg"/>
          <p:cNvPicPr>
            <a:picLocks noChangeAspect="1"/>
          </p:cNvPicPr>
          <p:nvPr/>
        </p:nvPicPr>
        <p:blipFill>
          <a:blip r:embed="rId2"/>
          <a:stretch>
            <a:fillRect/>
          </a:stretch>
        </p:blipFill>
        <p:spPr>
          <a:xfrm>
            <a:off x="2971802" y="3657600"/>
            <a:ext cx="3681413" cy="3200400"/>
          </a:xfrm>
          <a:prstGeom prst="rect">
            <a:avLst/>
          </a:prstGeom>
          <a:noFill/>
          <a:ln w="9525">
            <a:noFill/>
          </a:ln>
        </p:spPr>
      </p:pic>
      <p:pic>
        <p:nvPicPr>
          <p:cNvPr id="18436" name="Picture 5" descr="E:\My Files\遗传学CAI2002\Figures\Other\roundwrink.jpg"/>
          <p:cNvPicPr>
            <a:picLocks noChangeAspect="1"/>
          </p:cNvPicPr>
          <p:nvPr/>
        </p:nvPicPr>
        <p:blipFill>
          <a:blip r:embed="rId3"/>
          <a:stretch>
            <a:fillRect/>
          </a:stretch>
        </p:blipFill>
        <p:spPr>
          <a:xfrm>
            <a:off x="6326189" y="3657600"/>
            <a:ext cx="4341812" cy="1524000"/>
          </a:xfrm>
          <a:prstGeom prst="rect">
            <a:avLst/>
          </a:prstGeom>
          <a:noFill/>
          <a:ln w="9525">
            <a:noFill/>
          </a:ln>
        </p:spPr>
      </p:pic>
      <p:pic>
        <p:nvPicPr>
          <p:cNvPr id="18437" name="Picture 6" descr="E:\My Files\遗传学CAI2002\Figures\Other\flowercolor.jpg"/>
          <p:cNvPicPr>
            <a:picLocks noChangeAspect="1"/>
          </p:cNvPicPr>
          <p:nvPr/>
        </p:nvPicPr>
        <p:blipFill>
          <a:blip r:embed="rId4"/>
          <a:stretch>
            <a:fillRect/>
          </a:stretch>
        </p:blipFill>
        <p:spPr>
          <a:xfrm>
            <a:off x="6326189" y="5105400"/>
            <a:ext cx="4341812" cy="17526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p:cNvSpPr>
          <p:nvPr>
            <p:ph idx="1"/>
          </p:nvPr>
        </p:nvSpPr>
        <p:spPr>
          <a:xfrm>
            <a:off x="561473" y="0"/>
            <a:ext cx="11518231" cy="5967663"/>
          </a:xfrm>
          <a:noFill/>
          <a:ln>
            <a:noFill/>
          </a:ln>
        </p:spPr>
        <p:txBody>
          <a:bodyPr anchor="t" anchorCtr="0">
            <a:normAutofit/>
          </a:bodyPr>
          <a:lstStyle/>
          <a:p>
            <a:pPr marL="87628" indent="-87628" algn="ctr">
              <a:buClr>
                <a:srgbClr val="FF0000"/>
              </a:buClr>
              <a:buNone/>
            </a:pPr>
            <a:r>
              <a:rPr lang="en-US" altLang="zh-CN" sz="3600" b="1" dirty="0">
                <a:solidFill>
                  <a:srgbClr val="FF0000"/>
                </a:solidFill>
                <a:latin typeface="黑体" panose="02010609060101010101" pitchFamily="49" charset="-122"/>
                <a:ea typeface="黑体" panose="02010609060101010101" pitchFamily="49" charset="-122"/>
              </a:rPr>
              <a:t>Mendel </a:t>
            </a:r>
            <a:r>
              <a:rPr lang="zh-CN" altLang="en-US" sz="3600" b="1" dirty="0">
                <a:solidFill>
                  <a:srgbClr val="FF0000"/>
                </a:solidFill>
                <a:latin typeface="黑体" panose="02010609060101010101" pitchFamily="49" charset="-122"/>
                <a:ea typeface="黑体" panose="02010609060101010101" pitchFamily="49" charset="-122"/>
              </a:rPr>
              <a:t>实验的特点</a:t>
            </a:r>
          </a:p>
          <a:p>
            <a:pPr marL="87628" indent="-87628">
              <a:buClr>
                <a:srgbClr val="FF0000"/>
              </a:buClr>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严格选材</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豌豆</a:t>
            </a:r>
          </a:p>
          <a:p>
            <a:pPr marL="87628" indent="-87628">
              <a:buClr>
                <a:srgbClr val="FF0000"/>
              </a:buClr>
              <a:buNone/>
            </a:pPr>
            <a:r>
              <a:rPr lang="zh-CN" altLang="en-US" b="1" dirty="0">
                <a:latin typeface="黑体" panose="02010609060101010101" pitchFamily="49" charset="-122"/>
                <a:ea typeface="黑体" panose="02010609060101010101" pitchFamily="49" charset="-122"/>
              </a:rPr>
              <a:t>    有稳定的可以区分的性状；</a:t>
            </a:r>
          </a:p>
          <a:p>
            <a:pPr marL="87628" indent="-87628">
              <a:buClr>
                <a:srgbClr val="FF0000"/>
              </a:buClr>
              <a:buNone/>
            </a:pPr>
            <a:r>
              <a:rPr lang="zh-CN" altLang="en-US" b="1" dirty="0">
                <a:latin typeface="黑体" panose="02010609060101010101" pitchFamily="49" charset="-122"/>
                <a:ea typeface="黑体" panose="02010609060101010101" pitchFamily="49" charset="-122"/>
              </a:rPr>
              <a:t>    自花授粉且是闭花授粉； </a:t>
            </a:r>
          </a:p>
          <a:p>
            <a:pPr marL="87628" indent="-87628">
              <a:buClr>
                <a:srgbClr val="FF0000"/>
              </a:buClr>
              <a:buNone/>
            </a:pPr>
            <a:r>
              <a:rPr lang="zh-CN" altLang="en-US" b="1" dirty="0">
                <a:latin typeface="黑体" panose="02010609060101010101" pitchFamily="49" charset="-122"/>
                <a:ea typeface="黑体" panose="02010609060101010101" pitchFamily="49" charset="-122"/>
              </a:rPr>
              <a:t>    豆荚成熟后，子粒都留在豆荚中，便于分类记数统计。</a:t>
            </a:r>
          </a:p>
          <a:p>
            <a:pPr marL="87628" indent="-87628">
              <a:buClr>
                <a:srgbClr val="FF0000"/>
              </a:buClr>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精心设计</a:t>
            </a:r>
          </a:p>
          <a:p>
            <a:pPr marL="87628" indent="-87628">
              <a:buClr>
                <a:srgbClr val="FF0000"/>
              </a:buClr>
              <a:buNone/>
            </a:pPr>
            <a:r>
              <a:rPr lang="zh-CN" altLang="en-US" b="1" dirty="0">
                <a:latin typeface="黑体" panose="02010609060101010101" pitchFamily="49" charset="-122"/>
                <a:ea typeface="黑体" panose="02010609060101010101" pitchFamily="49" charset="-122"/>
              </a:rPr>
              <a:t>    单因子分析       双因子分析       多因子分析</a:t>
            </a:r>
          </a:p>
          <a:p>
            <a:pPr marL="87628" indent="-87628">
              <a:buClr>
                <a:srgbClr val="FF0000"/>
              </a:buClr>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定量分析</a:t>
            </a:r>
          </a:p>
          <a:p>
            <a:pPr marL="87628" indent="-87628">
              <a:buClr>
                <a:srgbClr val="FF0000"/>
              </a:buClr>
              <a:buNone/>
            </a:pPr>
            <a:r>
              <a:rPr lang="zh-CN" altLang="en-US" b="1" dirty="0">
                <a:latin typeface="黑体" panose="02010609060101010101" pitchFamily="49" charset="-122"/>
                <a:ea typeface="黑体" panose="02010609060101010101" pitchFamily="49" charset="-122"/>
              </a:rPr>
              <a:t>    利用数学和统计学方法，对杂交实验子代中出现的性状进行分类、记数和数学归纳。</a:t>
            </a:r>
          </a:p>
          <a:p>
            <a:pPr marL="87628" indent="-87628">
              <a:buClr>
                <a:srgbClr val="FF0000"/>
              </a:buClr>
              <a:buFont typeface="Wingdings" panose="05000000000000000000" pitchFamily="2" charset="2"/>
              <a:buChar char="Ø"/>
            </a:pPr>
            <a:r>
              <a:rPr lang="zh-CN" altLang="en-US" b="1" dirty="0">
                <a:solidFill>
                  <a:srgbClr val="FF0000"/>
                </a:solidFill>
                <a:latin typeface="黑体" panose="02010609060101010101" pitchFamily="49" charset="-122"/>
                <a:ea typeface="黑体" panose="02010609060101010101" pitchFamily="49" charset="-122"/>
              </a:rPr>
              <a:t>首创了测交法</a:t>
            </a:r>
          </a:p>
        </p:txBody>
      </p:sp>
      <p:sp>
        <p:nvSpPr>
          <p:cNvPr id="19459" name="AutoShape 9"/>
          <p:cNvSpPr/>
          <p:nvPr/>
        </p:nvSpPr>
        <p:spPr>
          <a:xfrm>
            <a:off x="3524584" y="3352800"/>
            <a:ext cx="533400" cy="76200"/>
          </a:xfrm>
          <a:prstGeom prst="rightArrow">
            <a:avLst>
              <a:gd name="adj1" fmla="val 50000"/>
              <a:gd name="adj2" fmla="val 175000"/>
            </a:avLst>
          </a:prstGeom>
          <a:solidFill>
            <a:schemeClr val="accent1"/>
          </a:solidFill>
          <a:ln w="12700" cap="sq" cmpd="sng">
            <a:solidFill>
              <a:schemeClr val="tx1"/>
            </a:solidFill>
            <a:prstDash val="solid"/>
            <a:miter/>
            <a:headEnd type="none" w="sm" len="sm"/>
            <a:tailEnd type="none" w="sm" len="sm"/>
          </a:ln>
        </p:spPr>
        <p:txBody>
          <a:bodyPr wrap="none" anchor="ctr" anchorCtr="0"/>
          <a:lstStyle/>
          <a:p>
            <a:pPr algn="ctr"/>
            <a:r>
              <a:rPr lang="en-US" altLang="zh-CN" sz="1351" b="1" dirty="0">
                <a:latin typeface="黑体" panose="02010609060101010101" pitchFamily="49" charset="-122"/>
                <a:ea typeface="黑体" panose="02010609060101010101" pitchFamily="49" charset="-122"/>
              </a:rPr>
              <a:t> </a:t>
            </a:r>
            <a:endParaRPr lang="zh-CN" altLang="en-US" sz="1351" b="1" dirty="0">
              <a:latin typeface="黑体" panose="02010609060101010101" pitchFamily="49" charset="-122"/>
              <a:ea typeface="黑体" panose="02010609060101010101" pitchFamily="49" charset="-122"/>
            </a:endParaRPr>
          </a:p>
        </p:txBody>
      </p:sp>
      <p:sp>
        <p:nvSpPr>
          <p:cNvPr id="19460" name="AutoShape 10"/>
          <p:cNvSpPr/>
          <p:nvPr/>
        </p:nvSpPr>
        <p:spPr>
          <a:xfrm>
            <a:off x="6563895" y="3380874"/>
            <a:ext cx="457200" cy="76200"/>
          </a:xfrm>
          <a:prstGeom prst="rightArrow">
            <a:avLst>
              <a:gd name="adj1" fmla="val 50000"/>
              <a:gd name="adj2" fmla="val 150000"/>
            </a:avLst>
          </a:prstGeom>
          <a:solidFill>
            <a:schemeClr val="accent1"/>
          </a:solidFill>
          <a:ln w="12700" cap="sq" cmpd="sng">
            <a:solidFill>
              <a:schemeClr val="tx1"/>
            </a:solidFill>
            <a:prstDash val="solid"/>
            <a:miter/>
            <a:headEnd type="none" w="sm" len="sm"/>
            <a:tailEnd type="none" w="sm" len="sm"/>
          </a:ln>
        </p:spPr>
        <p:txBody>
          <a:bodyPr wrap="none" anchor="ctr" anchorCtr="0"/>
          <a:lstStyle/>
          <a:p>
            <a:pPr algn="ctr"/>
            <a:r>
              <a:rPr lang="en-US" altLang="zh-CN" sz="1351" b="1" dirty="0">
                <a:latin typeface="黑体" panose="02010609060101010101" pitchFamily="49" charset="-122"/>
                <a:ea typeface="黑体" panose="02010609060101010101" pitchFamily="49" charset="-122"/>
              </a:rPr>
              <a:t>                           </a:t>
            </a:r>
            <a:endParaRPr lang="zh-CN" altLang="en-US" sz="1351" b="1" dirty="0">
              <a:latin typeface="黑体" panose="02010609060101010101" pitchFamily="49" charset="-122"/>
              <a:ea typeface="黑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D:\liuxd\遗传学\教学图\九对性状.tif"/>
          <p:cNvPicPr>
            <a:picLocks noGrp="1" noChangeAspect="1"/>
          </p:cNvPicPr>
          <p:nvPr>
            <p:ph type="body" idx="4294967295"/>
          </p:nvPr>
        </p:nvPicPr>
        <p:blipFill>
          <a:blip r:embed="rId2">
            <a:lum contrast="41999"/>
          </a:blip>
          <a:stretch>
            <a:fillRect/>
          </a:stretch>
        </p:blipFill>
        <p:spPr>
          <a:xfrm>
            <a:off x="2015836" y="6927"/>
            <a:ext cx="7543800" cy="3731342"/>
          </a:xfrm>
          <a:prstGeom prst="rect">
            <a:avLst/>
          </a:prstGeom>
          <a:noFill/>
          <a:ln w="9525">
            <a:noFill/>
          </a:ln>
        </p:spPr>
      </p:pic>
      <p:pic>
        <p:nvPicPr>
          <p:cNvPr id="20482" name="Picture 5"/>
          <p:cNvPicPr>
            <a:picLocks noChangeAspect="1"/>
          </p:cNvPicPr>
          <p:nvPr/>
        </p:nvPicPr>
        <p:blipFill rotWithShape="1">
          <a:blip r:embed="rId3"/>
          <a:srcRect l="12415" t="31719" r="21309" b="7806"/>
          <a:stretch/>
        </p:blipFill>
        <p:spPr>
          <a:xfrm>
            <a:off x="3324540" y="3539836"/>
            <a:ext cx="5542919" cy="310341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p:cNvSpPr>
          <p:nvPr>
            <p:ph idx="1"/>
          </p:nvPr>
        </p:nvSpPr>
        <p:spPr>
          <a:xfrm>
            <a:off x="609973" y="-385011"/>
            <a:ext cx="699247" cy="6858000"/>
          </a:xfrm>
          <a:noFill/>
          <a:ln>
            <a:noFill/>
          </a:ln>
        </p:spPr>
        <p:txBody>
          <a:bodyPr anchor="t" anchorCtr="0"/>
          <a:lstStyle/>
          <a:p>
            <a:pPr algn="ctr">
              <a:buFont typeface="Wingdings" panose="05000000000000000000" pitchFamily="2" charset="2"/>
              <a:buNone/>
            </a:pPr>
            <a:r>
              <a:rPr lang="zh-CN" altLang="en-US" sz="3600" b="1" dirty="0">
                <a:solidFill>
                  <a:srgbClr val="FF0000"/>
                </a:solidFill>
              </a:rPr>
              <a:t> 一对相对性状的分离现象</a:t>
            </a:r>
          </a:p>
        </p:txBody>
      </p:sp>
      <p:sp>
        <p:nvSpPr>
          <p:cNvPr id="11268" name="Rectangle 4"/>
          <p:cNvSpPr/>
          <p:nvPr/>
        </p:nvSpPr>
        <p:spPr>
          <a:xfrm>
            <a:off x="6615206" y="542365"/>
            <a:ext cx="4114800" cy="4743068"/>
          </a:xfrm>
          <a:prstGeom prst="rect">
            <a:avLst/>
          </a:prstGeom>
          <a:solidFill>
            <a:schemeClr val="bg1"/>
          </a:solidFill>
          <a:ln w="28575" cap="flat" cmpd="sng">
            <a:solidFill>
              <a:srgbClr val="FFFFFF"/>
            </a:solidFill>
            <a:prstDash val="solid"/>
            <a:miter/>
            <a:headEnd type="none" w="med" len="med"/>
            <a:tailEnd type="none" w="med" len="med"/>
          </a:ln>
        </p:spPr>
        <p:txBody>
          <a:bodyPr lIns="92075" tIns="46039" rIns="92075" bIns="46039" anchor="t" anchorCtr="0"/>
          <a:lstStyle/>
          <a:p>
            <a:pPr marL="342891" indent="-342891" algn="ctr">
              <a:lnSpc>
                <a:spcPct val="120000"/>
              </a:lnSpc>
              <a:spcBef>
                <a:spcPct val="30000"/>
              </a:spcBef>
              <a:buClr>
                <a:schemeClr val="tx2"/>
              </a:buClr>
            </a:pPr>
            <a:r>
              <a:rPr lang="zh-CN" altLang="en-US" sz="1351" b="1" dirty="0">
                <a:solidFill>
                  <a:schemeClr val="accent2"/>
                </a:solidFill>
                <a:latin typeface="黑体" panose="02010609060101010101" pitchFamily="49" charset="-122"/>
                <a:ea typeface="黑体" panose="02010609060101010101" pitchFamily="49" charset="-122"/>
                <a:sym typeface="Symbol" panose="05050102010706020507" pitchFamily="18" charset="2"/>
              </a:rPr>
              <a:t>      </a:t>
            </a:r>
            <a:r>
              <a:rPr lang="zh-CN" altLang="en-US" sz="2400" b="1" dirty="0">
                <a:solidFill>
                  <a:srgbClr val="9900CC"/>
                </a:solidFill>
                <a:latin typeface="黑体" panose="02010609060101010101" pitchFamily="49" charset="-122"/>
                <a:ea typeface="黑体" panose="02010609060101010101" pitchFamily="49" charset="-122"/>
                <a:sym typeface="Symbol" panose="05050102010706020507" pitchFamily="18" charset="2"/>
              </a:rPr>
              <a:t>反交</a:t>
            </a:r>
          </a:p>
          <a:p>
            <a:pPr marL="342891" indent="-342891" algn="ctr">
              <a:lnSpc>
                <a:spcPct val="120000"/>
              </a:lnSpc>
              <a:spcBef>
                <a:spcPct val="30000"/>
              </a:spcBef>
              <a:buClr>
                <a:schemeClr val="tx2"/>
              </a:buClr>
            </a:pPr>
            <a:r>
              <a:rPr lang="en-US" altLang="zh-CN" sz="2400" b="1" dirty="0">
                <a:solidFill>
                  <a:srgbClr val="3324FA"/>
                </a:solidFill>
                <a:latin typeface="黑体" panose="02010609060101010101" pitchFamily="49" charset="-122"/>
                <a:ea typeface="黑体" panose="02010609060101010101" pitchFamily="49" charset="-122"/>
              </a:rPr>
              <a:t>P   </a:t>
            </a:r>
            <a:r>
              <a:rPr lang="zh-CN" altLang="en-US" sz="2400" b="1" dirty="0">
                <a:solidFill>
                  <a:srgbClr val="3324FA"/>
                </a:solidFill>
                <a:latin typeface="黑体" panose="02010609060101010101" pitchFamily="49" charset="-122"/>
                <a:ea typeface="黑体" panose="02010609060101010101" pitchFamily="49" charset="-122"/>
              </a:rPr>
              <a:t>红花(♂)  ×  白花(♀)           ↓</a:t>
            </a:r>
          </a:p>
          <a:p>
            <a:pPr marL="342891" indent="-342891">
              <a:lnSpc>
                <a:spcPct val="120000"/>
              </a:lnSpc>
              <a:spcBef>
                <a:spcPct val="30000"/>
              </a:spcBef>
              <a:buClr>
                <a:schemeClr val="tx2"/>
              </a:buClr>
            </a:pPr>
            <a:r>
              <a:rPr lang="en-US" altLang="zh-CN" sz="2400" b="1" dirty="0">
                <a:solidFill>
                  <a:srgbClr val="3324FA"/>
                </a:solidFill>
                <a:latin typeface="黑体" panose="02010609060101010101" pitchFamily="49" charset="-122"/>
                <a:ea typeface="黑体" panose="02010609060101010101" pitchFamily="49" charset="-122"/>
              </a:rPr>
              <a:t>F</a:t>
            </a:r>
            <a:r>
              <a:rPr lang="en-US" altLang="zh-CN" sz="2400" b="1" baseline="-25000" dirty="0">
                <a:solidFill>
                  <a:srgbClr val="3324FA"/>
                </a:solidFill>
                <a:latin typeface="黑体" panose="02010609060101010101" pitchFamily="49" charset="-122"/>
                <a:ea typeface="黑体" panose="02010609060101010101" pitchFamily="49" charset="-122"/>
              </a:rPr>
              <a:t>1</a:t>
            </a:r>
            <a:r>
              <a:rPr lang="en-US" altLang="zh-CN" sz="2400" b="1" dirty="0">
                <a:solidFill>
                  <a:srgbClr val="3324FA"/>
                </a:solidFill>
                <a:latin typeface="黑体" panose="02010609060101010101" pitchFamily="49" charset="-122"/>
                <a:ea typeface="黑体" panose="02010609060101010101" pitchFamily="49" charset="-122"/>
              </a:rPr>
              <a:t>           </a:t>
            </a:r>
            <a:r>
              <a:rPr lang="zh-CN" altLang="en-US" sz="2400" b="1" dirty="0">
                <a:solidFill>
                  <a:srgbClr val="3324FA"/>
                </a:solidFill>
                <a:latin typeface="黑体" panose="02010609060101010101" pitchFamily="49" charset="-122"/>
                <a:ea typeface="黑体" panose="02010609060101010101" pitchFamily="49" charset="-122"/>
              </a:rPr>
              <a:t>红花</a:t>
            </a:r>
          </a:p>
          <a:p>
            <a:pPr marL="342891" indent="-342891" algn="ctr">
              <a:lnSpc>
                <a:spcPct val="120000"/>
              </a:lnSpc>
              <a:spcBef>
                <a:spcPct val="30000"/>
              </a:spcBef>
              <a:buClr>
                <a:schemeClr val="tx2"/>
              </a:buClr>
            </a:pPr>
            <a:r>
              <a:rPr lang="zh-CN" altLang="en-US" sz="2400" b="1" dirty="0">
                <a:solidFill>
                  <a:srgbClr val="3324FA"/>
                </a:solidFill>
                <a:latin typeface="黑体" panose="02010609060101010101" pitchFamily="49" charset="-122"/>
                <a:ea typeface="黑体" panose="02010609060101010101" pitchFamily="49" charset="-122"/>
              </a:rPr>
              <a:t>       ↓</a:t>
            </a:r>
            <a:r>
              <a:rPr lang="zh-CN" altLang="en-US" sz="2400" b="1" dirty="0">
                <a:solidFill>
                  <a:srgbClr val="3324FA"/>
                </a:solidFill>
                <a:latin typeface="黑体" panose="02010609060101010101" pitchFamily="49" charset="-122"/>
                <a:ea typeface="黑体" panose="02010609060101010101" pitchFamily="49" charset="-122"/>
                <a:sym typeface="Symbol" panose="05050102010706020507" pitchFamily="18" charset="2"/>
              </a:rPr>
              <a:t></a:t>
            </a:r>
            <a:r>
              <a:rPr lang="zh-CN" altLang="en-US" sz="2400" b="1" dirty="0">
                <a:solidFill>
                  <a:srgbClr val="3324FA"/>
                </a:solidFill>
                <a:latin typeface="黑体" panose="02010609060101010101" pitchFamily="49" charset="-122"/>
                <a:ea typeface="黑体" panose="02010609060101010101" pitchFamily="49" charset="-122"/>
              </a:rPr>
              <a:t> </a:t>
            </a:r>
          </a:p>
          <a:p>
            <a:pPr marL="342891" indent="-342891">
              <a:lnSpc>
                <a:spcPct val="120000"/>
              </a:lnSpc>
              <a:spcBef>
                <a:spcPct val="30000"/>
              </a:spcBef>
              <a:buClr>
                <a:schemeClr val="tx2"/>
              </a:buClr>
            </a:pPr>
            <a:r>
              <a:rPr lang="en-US" altLang="zh-CN" sz="2400" b="1" dirty="0">
                <a:solidFill>
                  <a:srgbClr val="3324FA"/>
                </a:solidFill>
                <a:latin typeface="黑体" panose="02010609060101010101" pitchFamily="49" charset="-122"/>
                <a:ea typeface="黑体" panose="02010609060101010101" pitchFamily="49" charset="-122"/>
              </a:rPr>
              <a:t>F</a:t>
            </a:r>
            <a:r>
              <a:rPr lang="en-US" altLang="zh-CN" sz="2400" b="1" baseline="-25000" dirty="0">
                <a:solidFill>
                  <a:srgbClr val="3324FA"/>
                </a:solidFill>
                <a:latin typeface="黑体" panose="02010609060101010101" pitchFamily="49" charset="-122"/>
                <a:ea typeface="黑体" panose="02010609060101010101" pitchFamily="49" charset="-122"/>
              </a:rPr>
              <a:t>2</a:t>
            </a:r>
            <a:r>
              <a:rPr lang="en-US" altLang="zh-CN" sz="2400" b="1" dirty="0">
                <a:solidFill>
                  <a:srgbClr val="3324FA"/>
                </a:solidFill>
                <a:latin typeface="黑体" panose="02010609060101010101" pitchFamily="49" charset="-122"/>
                <a:ea typeface="黑体" panose="02010609060101010101" pitchFamily="49" charset="-122"/>
              </a:rPr>
              <a:t>       </a:t>
            </a:r>
            <a:r>
              <a:rPr lang="zh-CN" altLang="en-US" sz="2400" b="1" dirty="0">
                <a:solidFill>
                  <a:srgbClr val="3324FA"/>
                </a:solidFill>
                <a:latin typeface="黑体" panose="02010609060101010101" pitchFamily="49" charset="-122"/>
                <a:ea typeface="黑体" panose="02010609060101010101" pitchFamily="49" charset="-122"/>
              </a:rPr>
              <a:t>红花      白花</a:t>
            </a:r>
          </a:p>
          <a:p>
            <a:pPr marL="342891" indent="-342891">
              <a:lnSpc>
                <a:spcPct val="120000"/>
              </a:lnSpc>
              <a:spcBef>
                <a:spcPct val="30000"/>
              </a:spcBef>
              <a:buClr>
                <a:schemeClr val="tx2"/>
              </a:buClr>
            </a:pPr>
            <a:r>
              <a:rPr lang="zh-CN" altLang="en-US" sz="2400" b="1" dirty="0">
                <a:solidFill>
                  <a:srgbClr val="3324FA"/>
                </a:solidFill>
                <a:latin typeface="黑体" panose="02010609060101010101" pitchFamily="49" charset="-122"/>
                <a:ea typeface="黑体" panose="02010609060101010101" pitchFamily="49" charset="-122"/>
              </a:rPr>
              <a:t>株数     690       234</a:t>
            </a:r>
          </a:p>
          <a:p>
            <a:pPr marL="342891" indent="-342891">
              <a:lnSpc>
                <a:spcPct val="120000"/>
              </a:lnSpc>
              <a:spcBef>
                <a:spcPct val="30000"/>
              </a:spcBef>
              <a:buClr>
                <a:schemeClr val="tx2"/>
              </a:buClr>
            </a:pPr>
            <a:r>
              <a:rPr lang="zh-CN" altLang="en-US" sz="2400" b="1" dirty="0">
                <a:solidFill>
                  <a:srgbClr val="3324FA"/>
                </a:solidFill>
                <a:latin typeface="黑体" panose="02010609060101010101" pitchFamily="49" charset="-122"/>
                <a:ea typeface="黑体" panose="02010609060101010101" pitchFamily="49" charset="-122"/>
              </a:rPr>
              <a:t>比例     2.95    ：  1</a:t>
            </a:r>
          </a:p>
        </p:txBody>
      </p:sp>
      <p:sp>
        <p:nvSpPr>
          <p:cNvPr id="11269" name="Rectangle 5"/>
          <p:cNvSpPr/>
          <p:nvPr/>
        </p:nvSpPr>
        <p:spPr>
          <a:xfrm>
            <a:off x="1837764" y="618565"/>
            <a:ext cx="4419600" cy="4666868"/>
          </a:xfrm>
          <a:prstGeom prst="rect">
            <a:avLst/>
          </a:prstGeom>
          <a:solidFill>
            <a:schemeClr val="bg1"/>
          </a:solidFill>
          <a:ln w="9525">
            <a:noFill/>
          </a:ln>
        </p:spPr>
        <p:txBody>
          <a:bodyPr lIns="92075" tIns="46039" rIns="92075" bIns="46039" anchor="t" anchorCtr="0"/>
          <a:lstStyle/>
          <a:p>
            <a:pPr marL="342891" indent="-342891" algn="ctr">
              <a:lnSpc>
                <a:spcPct val="120000"/>
              </a:lnSpc>
              <a:spcBef>
                <a:spcPct val="30000"/>
              </a:spcBef>
              <a:buClr>
                <a:schemeClr val="tx2"/>
              </a:buClr>
            </a:pPr>
            <a:r>
              <a:rPr lang="zh-CN" altLang="en-US" sz="1351" b="1" dirty="0">
                <a:solidFill>
                  <a:srgbClr val="0000CC"/>
                </a:solidFill>
                <a:latin typeface="黑体" panose="02010609060101010101" pitchFamily="49" charset="-122"/>
                <a:ea typeface="黑体" panose="02010609060101010101" pitchFamily="49" charset="-122"/>
                <a:sym typeface="Symbol" panose="05050102010706020507" pitchFamily="18" charset="2"/>
              </a:rPr>
              <a:t>     </a:t>
            </a:r>
            <a:r>
              <a:rPr lang="zh-CN" altLang="en-US" sz="2400" b="1" dirty="0">
                <a:solidFill>
                  <a:srgbClr val="9900CC"/>
                </a:solidFill>
                <a:latin typeface="黑体" panose="02010609060101010101" pitchFamily="49" charset="-122"/>
                <a:ea typeface="黑体" panose="02010609060101010101" pitchFamily="49" charset="-122"/>
                <a:sym typeface="Symbol" panose="05050102010706020507" pitchFamily="18" charset="2"/>
              </a:rPr>
              <a:t>正交</a:t>
            </a:r>
          </a:p>
          <a:p>
            <a:pPr marL="342891" indent="-342891" algn="ctr">
              <a:lnSpc>
                <a:spcPct val="120000"/>
              </a:lnSpc>
              <a:spcBef>
                <a:spcPct val="30000"/>
              </a:spcBef>
              <a:buClr>
                <a:schemeClr val="tx2"/>
              </a:buClr>
            </a:pPr>
            <a:r>
              <a:rPr lang="en-US" altLang="zh-CN" sz="2400" b="1" dirty="0">
                <a:latin typeface="黑体" panose="02010609060101010101" pitchFamily="49" charset="-122"/>
                <a:ea typeface="黑体" panose="02010609060101010101" pitchFamily="49" charset="-122"/>
              </a:rPr>
              <a:t>P   </a:t>
            </a:r>
            <a:r>
              <a:rPr lang="zh-CN" altLang="en-US" sz="2400" b="1" dirty="0">
                <a:latin typeface="黑体" panose="02010609060101010101" pitchFamily="49" charset="-122"/>
                <a:ea typeface="黑体" panose="02010609060101010101" pitchFamily="49" charset="-122"/>
              </a:rPr>
              <a:t>红花(♀)  ×  白花(♂)              ↓</a:t>
            </a:r>
          </a:p>
          <a:p>
            <a:pPr marL="342891" indent="-342891">
              <a:lnSpc>
                <a:spcPct val="120000"/>
              </a:lnSpc>
              <a:spcBef>
                <a:spcPct val="30000"/>
              </a:spcBef>
              <a:buClr>
                <a:schemeClr val="tx2"/>
              </a:buClr>
            </a:pPr>
            <a:r>
              <a:rPr lang="en-US" altLang="zh-CN" sz="2400" b="1" dirty="0">
                <a:latin typeface="黑体" panose="02010609060101010101" pitchFamily="49" charset="-122"/>
                <a:ea typeface="黑体" panose="02010609060101010101" pitchFamily="49" charset="-122"/>
              </a:rPr>
              <a:t>F</a:t>
            </a:r>
            <a:r>
              <a:rPr lang="en-US" altLang="zh-CN" sz="2400" b="1" baseline="-25000" dirty="0">
                <a:latin typeface="黑体" panose="02010609060101010101" pitchFamily="49" charset="-122"/>
                <a:ea typeface="黑体" panose="02010609060101010101" pitchFamily="49" charset="-122"/>
              </a:rPr>
              <a:t>1</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红花</a:t>
            </a:r>
          </a:p>
          <a:p>
            <a:pPr marL="342891" indent="-342891">
              <a:lnSpc>
                <a:spcPct val="120000"/>
              </a:lnSpc>
              <a:spcBef>
                <a:spcPct val="30000"/>
              </a:spcBef>
              <a:buClr>
                <a:schemeClr val="tx2"/>
              </a:buClr>
            </a:pPr>
            <a:r>
              <a:rPr lang="zh-CN" altLang="en-US"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sym typeface="Symbol" panose="05050102010706020507" pitchFamily="18" charset="2"/>
              </a:rPr>
              <a:t></a:t>
            </a:r>
            <a:r>
              <a:rPr lang="zh-CN" altLang="en-US" sz="2400" b="1" dirty="0">
                <a:latin typeface="黑体" panose="02010609060101010101" pitchFamily="49" charset="-122"/>
                <a:ea typeface="黑体" panose="02010609060101010101" pitchFamily="49" charset="-122"/>
              </a:rPr>
              <a:t> </a:t>
            </a:r>
          </a:p>
          <a:p>
            <a:pPr marL="342891" indent="-342891">
              <a:lnSpc>
                <a:spcPct val="120000"/>
              </a:lnSpc>
              <a:spcBef>
                <a:spcPct val="30000"/>
              </a:spcBef>
              <a:buClr>
                <a:schemeClr val="tx2"/>
              </a:buClr>
            </a:pPr>
            <a:r>
              <a:rPr lang="en-US" altLang="zh-CN" sz="2400" b="1" dirty="0">
                <a:latin typeface="黑体" panose="02010609060101010101" pitchFamily="49" charset="-122"/>
                <a:ea typeface="黑体" panose="02010609060101010101" pitchFamily="49" charset="-122"/>
              </a:rPr>
              <a:t>F</a:t>
            </a:r>
            <a:r>
              <a:rPr lang="en-US" altLang="zh-CN" sz="2400" b="1" baseline="-25000" dirty="0">
                <a:latin typeface="黑体" panose="02010609060101010101" pitchFamily="49" charset="-122"/>
                <a:ea typeface="黑体" panose="02010609060101010101" pitchFamily="49" charset="-122"/>
              </a:rPr>
              <a:t>2</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红花    白花</a:t>
            </a:r>
          </a:p>
          <a:p>
            <a:pPr marL="342891" indent="-342891">
              <a:lnSpc>
                <a:spcPct val="120000"/>
              </a:lnSpc>
              <a:spcBef>
                <a:spcPct val="30000"/>
              </a:spcBef>
              <a:buClr>
                <a:schemeClr val="tx2"/>
              </a:buClr>
            </a:pPr>
            <a:r>
              <a:rPr lang="zh-CN" altLang="en-US" sz="2400" b="1" dirty="0">
                <a:latin typeface="黑体" panose="02010609060101010101" pitchFamily="49" charset="-122"/>
                <a:ea typeface="黑体" panose="02010609060101010101" pitchFamily="49" charset="-122"/>
              </a:rPr>
              <a:t>株数     705     224</a:t>
            </a:r>
            <a:endParaRPr lang="en-US" altLang="zh-CN" sz="2400" b="1" dirty="0">
              <a:latin typeface="黑体" panose="02010609060101010101" pitchFamily="49" charset="-122"/>
              <a:ea typeface="黑体" panose="02010609060101010101" pitchFamily="49" charset="-122"/>
            </a:endParaRPr>
          </a:p>
          <a:p>
            <a:pPr marL="342891" indent="-342891">
              <a:lnSpc>
                <a:spcPct val="120000"/>
              </a:lnSpc>
              <a:spcBef>
                <a:spcPct val="30000"/>
              </a:spcBef>
              <a:buClr>
                <a:schemeClr val="tx2"/>
              </a:buClr>
            </a:pPr>
            <a:r>
              <a:rPr lang="zh-CN" altLang="en-US" sz="2400" b="1" dirty="0">
                <a:latin typeface="黑体" panose="02010609060101010101" pitchFamily="49" charset="-122"/>
                <a:ea typeface="黑体" panose="02010609060101010101" pitchFamily="49" charset="-122"/>
              </a:rPr>
              <a:t>比例     3.15  ：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slide(fromBottom)">
                                      <p:cBhvr>
                                        <p:cTn id="7" dur="500"/>
                                        <p:tgtEl>
                                          <p:spTgt spid="11268"/>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11269"/>
                                        </p:tgtEl>
                                        <p:attrNameLst>
                                          <p:attrName>style.visibility</p:attrName>
                                        </p:attrNameLst>
                                      </p:cBhvr>
                                      <p:to>
                                        <p:strVal val="visible"/>
                                      </p:to>
                                    </p:set>
                                    <p:animEffect transition="in" filter="slide(fromBottom)">
                                      <p:cBhvr>
                                        <p:cTn id="11" dur="500"/>
                                        <p:tgtEl>
                                          <p:spTgt spid="1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ldLvl="0" animBg="1"/>
      <p:bldP spid="1126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5"/>
          <p:cNvSpPr>
            <a:spLocks noGrp="1"/>
          </p:cNvSpPr>
          <p:nvPr>
            <p:ph type="title"/>
          </p:nvPr>
        </p:nvSpPr>
        <p:spPr>
          <a:xfrm>
            <a:off x="3823855" y="0"/>
            <a:ext cx="7543800" cy="685800"/>
          </a:xfrm>
          <a:noFill/>
          <a:ln>
            <a:noFill/>
          </a:ln>
        </p:spPr>
        <p:txBody>
          <a:bodyPr anchor="t" anchorCtr="0"/>
          <a:lstStyle/>
          <a:p>
            <a:r>
              <a:rPr lang="zh-CN" altLang="en-US" sz="3600" b="1" dirty="0">
                <a:latin typeface="黑体" panose="02010609060101010101" pitchFamily="49" charset="-122"/>
                <a:ea typeface="黑体" panose="02010609060101010101" pitchFamily="49" charset="-122"/>
              </a:rPr>
              <a:t>相关符号</a:t>
            </a:r>
          </a:p>
        </p:txBody>
      </p:sp>
      <p:sp>
        <p:nvSpPr>
          <p:cNvPr id="25602" name="Rectangle 6"/>
          <p:cNvSpPr>
            <a:spLocks noGrp="1"/>
          </p:cNvSpPr>
          <p:nvPr>
            <p:ph idx="1"/>
          </p:nvPr>
        </p:nvSpPr>
        <p:spPr>
          <a:xfrm>
            <a:off x="2064327" y="685800"/>
            <a:ext cx="9060873" cy="5715000"/>
          </a:xfrm>
          <a:noFill/>
          <a:ln>
            <a:noFill/>
          </a:ln>
        </p:spPr>
        <p:txBody>
          <a:bodyPr anchor="t" anchorCtr="0"/>
          <a:lstStyle/>
          <a:p>
            <a:pPr marL="0" indent="0">
              <a:lnSpc>
                <a:spcPct val="105000"/>
              </a:lnSpc>
              <a:buNone/>
            </a:pPr>
            <a:r>
              <a:rPr lang="en-US" altLang="zh-CN" b="1" dirty="0">
                <a:latin typeface="黑体" panose="02010609060101010101" pitchFamily="49" charset="-122"/>
                <a:ea typeface="黑体" panose="02010609060101010101" pitchFamily="49" charset="-122"/>
              </a:rPr>
              <a:t> P: </a:t>
            </a:r>
            <a:r>
              <a:rPr lang="zh-CN" altLang="en-US" b="1" dirty="0">
                <a:latin typeface="黑体" panose="02010609060101010101" pitchFamily="49" charset="-122"/>
                <a:ea typeface="黑体" panose="02010609060101010101" pitchFamily="49" charset="-122"/>
              </a:rPr>
              <a:t>表示亲本(</a:t>
            </a:r>
            <a:r>
              <a:rPr lang="en-US" altLang="zh-CN" b="1" dirty="0">
                <a:latin typeface="黑体" panose="02010609060101010101" pitchFamily="49" charset="-122"/>
                <a:ea typeface="黑体" panose="02010609060101010101" pitchFamily="49" charset="-122"/>
              </a:rPr>
              <a:t>parent)</a:t>
            </a:r>
          </a:p>
          <a:p>
            <a:pPr marL="0" indent="0">
              <a:lnSpc>
                <a:spcPct val="105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表示母本(</a:t>
            </a:r>
            <a:r>
              <a:rPr lang="en-US" altLang="zh-CN" b="1" dirty="0">
                <a:latin typeface="黑体" panose="02010609060101010101" pitchFamily="49" charset="-122"/>
                <a:ea typeface="黑体" panose="02010609060101010101" pitchFamily="49" charset="-122"/>
              </a:rPr>
              <a:t>female parent)</a:t>
            </a:r>
          </a:p>
          <a:p>
            <a:pPr marL="0" indent="0">
              <a:lnSpc>
                <a:spcPct val="105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表示父本(</a:t>
            </a:r>
            <a:r>
              <a:rPr lang="en-US" altLang="zh-CN" b="1" dirty="0">
                <a:latin typeface="黑体" panose="02010609060101010101" pitchFamily="49" charset="-122"/>
                <a:ea typeface="黑体" panose="02010609060101010101" pitchFamily="49" charset="-122"/>
              </a:rPr>
              <a:t>male parent)</a:t>
            </a:r>
          </a:p>
          <a:p>
            <a:pPr marL="0" indent="0">
              <a:lnSpc>
                <a:spcPct val="105000"/>
              </a:lnSpc>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表示杂交</a:t>
            </a:r>
            <a:endParaRPr lang="en-US" altLang="zh-CN" b="1" dirty="0">
              <a:latin typeface="黑体" panose="02010609060101010101" pitchFamily="49" charset="-122"/>
              <a:ea typeface="黑体" panose="02010609060101010101" pitchFamily="49" charset="-122"/>
            </a:endParaRPr>
          </a:p>
          <a:p>
            <a:pPr marL="0" indent="0">
              <a:lnSpc>
                <a:spcPct val="105000"/>
              </a:lnSpc>
              <a:buNone/>
            </a:pPr>
            <a:r>
              <a:rPr lang="en-US" altLang="zh-CN" b="1" dirty="0">
                <a:latin typeface="黑体" panose="02010609060101010101" pitchFamily="49" charset="-122"/>
                <a:ea typeface="黑体" panose="02010609060101010101" pitchFamily="49" charset="-122"/>
              </a:rPr>
              <a:t>F (filial generation): </a:t>
            </a:r>
            <a:r>
              <a:rPr lang="zh-CN" altLang="en-US" b="1" dirty="0">
                <a:latin typeface="黑体" panose="02010609060101010101" pitchFamily="49" charset="-122"/>
                <a:ea typeface="黑体" panose="02010609060101010101" pitchFamily="49" charset="-122"/>
              </a:rPr>
              <a:t>表示杂种后代</a:t>
            </a:r>
          </a:p>
          <a:p>
            <a:pPr marL="0" indent="0">
              <a:lnSpc>
                <a:spcPct val="105000"/>
              </a:lnSpc>
              <a:buNone/>
            </a:pPr>
            <a:r>
              <a:rPr lang="en-US" altLang="zh-CN" b="1" dirty="0">
                <a:latin typeface="黑体" panose="02010609060101010101" pitchFamily="49" charset="-122"/>
                <a:ea typeface="黑体" panose="02010609060101010101" pitchFamily="49" charset="-122"/>
              </a:rPr>
              <a:t>F</a:t>
            </a:r>
            <a:r>
              <a:rPr lang="en-US" altLang="zh-CN" b="1" baseline="-25000" dirty="0">
                <a:latin typeface="黑体" panose="02010609060101010101" pitchFamily="49" charset="-122"/>
                <a:ea typeface="黑体" panose="02010609060101010101" pitchFamily="49" charset="-122"/>
              </a:rPr>
              <a:t>1</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杂种一代</a:t>
            </a:r>
          </a:p>
          <a:p>
            <a:pPr marL="0" indent="0">
              <a:lnSpc>
                <a:spcPct val="105000"/>
              </a:lnSpc>
              <a:buNone/>
            </a:pPr>
            <a:r>
              <a:rPr lang="en-US" altLang="zh-CN" b="1" dirty="0">
                <a:latin typeface="黑体" panose="02010609060101010101" pitchFamily="49" charset="-122"/>
                <a:ea typeface="黑体" panose="02010609060101010101" pitchFamily="49" charset="-122"/>
              </a:rPr>
              <a:t>F</a:t>
            </a:r>
            <a:r>
              <a:rPr lang="en-US" altLang="zh-CN" b="1" baseline="-25000" dirty="0">
                <a:latin typeface="黑体" panose="02010609060101010101" pitchFamily="49" charset="-122"/>
                <a:ea typeface="黑体" panose="02010609060101010101" pitchFamily="49" charset="-122"/>
              </a:rPr>
              <a:t>2</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杂种二代</a:t>
            </a:r>
          </a:p>
          <a:p>
            <a:pPr marL="0" indent="0">
              <a:lnSpc>
                <a:spcPct val="105000"/>
              </a:lnSpc>
              <a:buNone/>
            </a:pPr>
            <a:r>
              <a:rPr lang="en-US" altLang="zh-CN" b="1" dirty="0">
                <a:latin typeface="黑体" panose="02010609060101010101" pitchFamily="49" charset="-122"/>
                <a:ea typeface="黑体" panose="02010609060101010101" pitchFamily="49" charset="-122"/>
              </a:rPr>
              <a:t>F</a:t>
            </a:r>
            <a:r>
              <a:rPr lang="en-US" altLang="zh-CN" b="1" baseline="-25000" dirty="0">
                <a:latin typeface="黑体" panose="02010609060101010101" pitchFamily="49" charset="-122"/>
                <a:ea typeface="黑体" panose="02010609060101010101" pitchFamily="49" charset="-122"/>
              </a:rPr>
              <a:t>n</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杂种</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代</a:t>
            </a:r>
          </a:p>
          <a:p>
            <a:pPr marL="0" indent="0">
              <a:lnSpc>
                <a:spcPct val="105000"/>
              </a:lnSpc>
              <a:buNone/>
            </a:pPr>
            <a:r>
              <a:rPr lang="zh-CN" altLang="en-US" b="1" dirty="0">
                <a:latin typeface="黑体" panose="02010609060101010101" pitchFamily="49" charset="-122"/>
                <a:ea typeface="黑体" panose="02010609060101010101" pitchFamily="49" charset="-122"/>
                <a:sym typeface="Symbol" panose="05050102010706020507" pitchFamily="18" charset="2"/>
              </a:rPr>
              <a:t>: 自交,指同一植株上的自花授粉或同株上的异花授粉。</a:t>
            </a:r>
          </a:p>
          <a:p>
            <a:pPr marL="0" indent="0">
              <a:lnSpc>
                <a:spcPct val="105000"/>
              </a:lnSpc>
              <a:buNone/>
            </a:pPr>
            <a:endParaRPr lang="zh-CN" altLang="en-US" b="1" dirty="0">
              <a:latin typeface="黑体" panose="02010609060101010101" pitchFamily="49" charset="-122"/>
              <a:ea typeface="黑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354746" y="90435"/>
            <a:ext cx="7543800" cy="609600"/>
          </a:xfrm>
          <a:noFill/>
          <a:ln>
            <a:noFill/>
          </a:ln>
        </p:spPr>
        <p:txBody>
          <a:bodyPr anchor="t" anchorCtr="0">
            <a:normAutofit/>
          </a:bodyPr>
          <a:lstStyle/>
          <a:p>
            <a:r>
              <a:rPr lang="zh-CN" altLang="en-US" sz="3600" b="1" dirty="0">
                <a:latin typeface="黑体" panose="02010609060101010101" pitchFamily="49" charset="-122"/>
                <a:ea typeface="黑体" panose="02010609060101010101" pitchFamily="49" charset="-122"/>
              </a:rPr>
              <a:t>二、性状分离现象的解释</a:t>
            </a:r>
          </a:p>
        </p:txBody>
      </p:sp>
      <p:sp>
        <p:nvSpPr>
          <p:cNvPr id="23554" name="Rectangle 3"/>
          <p:cNvSpPr>
            <a:spLocks noGrp="1"/>
          </p:cNvSpPr>
          <p:nvPr>
            <p:ph idx="1"/>
          </p:nvPr>
        </p:nvSpPr>
        <p:spPr>
          <a:xfrm>
            <a:off x="211431" y="962966"/>
            <a:ext cx="6394759" cy="5895034"/>
          </a:xfrm>
          <a:noFill/>
          <a:ln>
            <a:noFill/>
          </a:ln>
        </p:spPr>
        <p:txBody>
          <a:bodyPr anchor="t" anchorCtr="0">
            <a:normAutofit/>
          </a:bodyPr>
          <a:lstStyle/>
          <a:p>
            <a:pPr>
              <a:buClr>
                <a:schemeClr val="tx1"/>
              </a:buClr>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孟德尔分离假说：</a:t>
            </a:r>
          </a:p>
          <a:p>
            <a:pPr>
              <a:buClr>
                <a:schemeClr val="tx1"/>
              </a:buClr>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性状是由遗传因子控制的，相对性状由相对的遗传因子控制。</a:t>
            </a:r>
          </a:p>
          <a:p>
            <a:pPr>
              <a:buClr>
                <a:schemeClr val="tx1"/>
              </a:buClr>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遗传因子在体细胞中成对存在，一个来自母本，一个来自父本。</a:t>
            </a:r>
          </a:p>
          <a:p>
            <a:pPr>
              <a:buClr>
                <a:schemeClr val="tx1"/>
              </a:buClr>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在形成配子时，成对的遗传因子彼此分离，分别进入不同的配子。配子中只含有成对遗传因子中的一个。</a:t>
            </a:r>
          </a:p>
          <a:p>
            <a:pPr>
              <a:buClr>
                <a:schemeClr val="tx1"/>
              </a:buClr>
              <a:buFont typeface="Wingdings" panose="05000000000000000000" pitchFamily="2" charset="2"/>
              <a:buChar char="Ø"/>
            </a:pPr>
            <a:r>
              <a:rPr lang="zh-CN" altLang="en-US" b="1" dirty="0">
                <a:latin typeface="黑体" panose="02010609060101010101" pitchFamily="49" charset="-122"/>
                <a:ea typeface="黑体" panose="02010609060101010101" pitchFamily="49" charset="-122"/>
              </a:rPr>
              <a:t>形成合子时，雌雄配子的结合是随机的，机会是均等的。</a:t>
            </a:r>
          </a:p>
        </p:txBody>
      </p:sp>
      <p:pic>
        <p:nvPicPr>
          <p:cNvPr id="4" name="图片 3">
            <a:extLst>
              <a:ext uri="{FF2B5EF4-FFF2-40B4-BE49-F238E27FC236}">
                <a16:creationId xmlns:a16="http://schemas.microsoft.com/office/drawing/2014/main" id="{FC894EFB-61A3-426E-A6B2-F5AF91201E6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21601"/>
          <a:stretch/>
        </p:blipFill>
        <p:spPr>
          <a:xfrm>
            <a:off x="6606191" y="0"/>
            <a:ext cx="534727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a:xfrm>
            <a:off x="938650" y="157020"/>
            <a:ext cx="5611378" cy="760119"/>
          </a:xfrm>
          <a:noFill/>
          <a:ln>
            <a:noFill/>
          </a:ln>
        </p:spPr>
        <p:txBody>
          <a:bodyPr anchor="t" anchorCtr="0">
            <a:noAutofit/>
          </a:bodyPr>
          <a:lstStyle/>
          <a:p>
            <a:r>
              <a:rPr lang="zh-CN" altLang="en-US" sz="3600" b="1" dirty="0">
                <a:latin typeface="黑体" panose="02010609060101010101" pitchFamily="49" charset="-122"/>
                <a:ea typeface="黑体" panose="02010609060101010101" pitchFamily="49" charset="-122"/>
              </a:rPr>
              <a:t>三、分离规律的验证</a:t>
            </a:r>
          </a:p>
        </p:txBody>
      </p:sp>
      <p:sp>
        <p:nvSpPr>
          <p:cNvPr id="26626" name="Rectangle 3"/>
          <p:cNvSpPr>
            <a:spLocks noGrp="1"/>
          </p:cNvSpPr>
          <p:nvPr>
            <p:ph idx="1"/>
          </p:nvPr>
        </p:nvSpPr>
        <p:spPr>
          <a:xfrm>
            <a:off x="2127394" y="804720"/>
            <a:ext cx="5105400" cy="1524000"/>
          </a:xfrm>
          <a:noFill/>
          <a:ln>
            <a:noFill/>
          </a:ln>
        </p:spPr>
        <p:txBody>
          <a:bodyPr anchor="t" anchorCtr="0">
            <a:normAutofit/>
          </a:bodyPr>
          <a:lstStyle/>
          <a:p>
            <a:pPr>
              <a:lnSpc>
                <a:spcPct val="90000"/>
              </a:lnSpc>
            </a:pPr>
            <a:r>
              <a:rPr lang="zh-CN" altLang="en-US" b="1" dirty="0">
                <a:latin typeface="黑体" panose="02010609060101010101" pitchFamily="49" charset="-122"/>
                <a:ea typeface="黑体" panose="02010609060101010101" pitchFamily="49" charset="-122"/>
              </a:rPr>
              <a:t>测交法</a:t>
            </a:r>
          </a:p>
          <a:p>
            <a:pPr>
              <a:lnSpc>
                <a:spcPct val="90000"/>
              </a:lnSpc>
            </a:pPr>
            <a:r>
              <a:rPr lang="zh-CN" altLang="en-US" b="1" dirty="0">
                <a:latin typeface="黑体" panose="02010609060101010101" pitchFamily="49" charset="-122"/>
                <a:ea typeface="黑体" panose="02010609060101010101" pitchFamily="49" charset="-122"/>
              </a:rPr>
              <a:t>自交法</a:t>
            </a:r>
          </a:p>
          <a:p>
            <a:pPr>
              <a:lnSpc>
                <a:spcPct val="90000"/>
              </a:lnSpc>
            </a:pPr>
            <a:r>
              <a:rPr lang="en-US" altLang="zh-CN" b="1" dirty="0">
                <a:latin typeface="黑体" panose="02010609060101010101" pitchFamily="49" charset="-122"/>
                <a:ea typeface="黑体" panose="02010609060101010101" pitchFamily="49" charset="-122"/>
              </a:rPr>
              <a:t>F</a:t>
            </a:r>
            <a:r>
              <a:rPr lang="en-US" altLang="zh-CN" b="1" baseline="-25000"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花粉鉴定法</a:t>
            </a:r>
          </a:p>
        </p:txBody>
      </p:sp>
      <p:sp>
        <p:nvSpPr>
          <p:cNvPr id="26627" name="Text Box 4"/>
          <p:cNvSpPr txBox="1"/>
          <p:nvPr/>
        </p:nvSpPr>
        <p:spPr>
          <a:xfrm>
            <a:off x="0" y="2602453"/>
            <a:ext cx="6705600" cy="646331"/>
          </a:xfrm>
          <a:prstGeom prst="rect">
            <a:avLst/>
          </a:prstGeom>
          <a:noFill/>
          <a:ln w="12700">
            <a:noFill/>
          </a:ln>
        </p:spPr>
        <p:txBody>
          <a:bodyPr anchor="t" anchorCtr="0">
            <a:spAutoFit/>
          </a:bodyPr>
          <a:lstStyle/>
          <a:p>
            <a:pPr algn="ctr">
              <a:spcBef>
                <a:spcPct val="50000"/>
              </a:spcBef>
            </a:pPr>
            <a:r>
              <a:rPr lang="zh-CN" altLang="en-US" sz="3600" b="1" dirty="0">
                <a:latin typeface="黑体" panose="02010609060101010101" pitchFamily="49" charset="-122"/>
                <a:ea typeface="黑体" panose="02010609060101010101" pitchFamily="49" charset="-122"/>
              </a:rPr>
              <a:t>四、分离定律的普遍性</a:t>
            </a:r>
          </a:p>
        </p:txBody>
      </p:sp>
      <p:sp>
        <p:nvSpPr>
          <p:cNvPr id="26628" name="Text Box 5"/>
          <p:cNvSpPr txBox="1"/>
          <p:nvPr/>
        </p:nvSpPr>
        <p:spPr>
          <a:xfrm>
            <a:off x="675262" y="3420733"/>
            <a:ext cx="9590809" cy="2462213"/>
          </a:xfrm>
          <a:prstGeom prst="rect">
            <a:avLst/>
          </a:prstGeom>
          <a:noFill/>
          <a:ln w="12700">
            <a:noFill/>
          </a:ln>
        </p:spPr>
        <p:txBody>
          <a:bodyPr wrap="square" anchor="t" anchorCtr="0">
            <a:spAutoFit/>
          </a:bodyPr>
          <a:lstStyle/>
          <a:p>
            <a:pPr algn="ctr">
              <a:spcBef>
                <a:spcPct val="50000"/>
              </a:spcBef>
            </a:pPr>
            <a:r>
              <a:rPr lang="zh-CN" altLang="en-US" sz="2800" b="1" dirty="0">
                <a:latin typeface="黑体" panose="02010609060101010101" pitchFamily="49" charset="-122"/>
                <a:ea typeface="黑体" panose="02010609060101010101" pitchFamily="49" charset="-122"/>
              </a:rPr>
              <a:t>水稻：有芒×无芒        有芒     </a:t>
            </a:r>
            <a:r>
              <a:rPr lang="zh-CN" altLang="en-US" sz="2800" b="1" dirty="0">
                <a:latin typeface="黑体" panose="02010609060101010101" pitchFamily="49" charset="-122"/>
                <a:ea typeface="黑体" panose="02010609060101010101" pitchFamily="49" charset="-122"/>
                <a:sym typeface="Symbol" panose="05050102010706020507" pitchFamily="18" charset="2"/>
              </a:rPr>
              <a:t>  </a:t>
            </a:r>
            <a:r>
              <a:rPr lang="zh-CN" altLang="en-US" sz="2800" b="1" dirty="0">
                <a:latin typeface="黑体" panose="02010609060101010101" pitchFamily="49" charset="-122"/>
                <a:ea typeface="黑体" panose="02010609060101010101" pitchFamily="49" charset="-122"/>
              </a:rPr>
              <a:t> 3有芒∶1无芒</a:t>
            </a:r>
          </a:p>
          <a:p>
            <a:pPr algn="ctr">
              <a:spcBef>
                <a:spcPct val="50000"/>
              </a:spcBef>
            </a:pPr>
            <a:r>
              <a:rPr lang="zh-CN" altLang="en-US" sz="2800" b="1" dirty="0">
                <a:latin typeface="黑体" panose="02010609060101010101" pitchFamily="49" charset="-122"/>
                <a:ea typeface="黑体" panose="02010609060101010101" pitchFamily="49" charset="-122"/>
              </a:rPr>
              <a:t>小麦：无芒×有芒        无芒     </a:t>
            </a:r>
            <a:r>
              <a:rPr lang="zh-CN" altLang="en-US" sz="2800" b="1" dirty="0">
                <a:latin typeface="黑体" panose="02010609060101010101" pitchFamily="49" charset="-122"/>
                <a:ea typeface="黑体" panose="02010609060101010101" pitchFamily="49" charset="-122"/>
                <a:sym typeface="Symbol" panose="05050102010706020507" pitchFamily="18" charset="2"/>
              </a:rPr>
              <a:t>  </a:t>
            </a:r>
            <a:r>
              <a:rPr lang="zh-CN" altLang="en-US" sz="2800" b="1" dirty="0">
                <a:latin typeface="黑体" panose="02010609060101010101" pitchFamily="49" charset="-122"/>
                <a:ea typeface="黑体" panose="02010609060101010101" pitchFamily="49" charset="-122"/>
              </a:rPr>
              <a:t> 3无芒∶1有芒</a:t>
            </a:r>
          </a:p>
          <a:p>
            <a:pPr algn="ctr">
              <a:spcBef>
                <a:spcPct val="50000"/>
              </a:spcBef>
            </a:pPr>
            <a:r>
              <a:rPr lang="zh-CN" altLang="en-US" sz="2800" b="1" dirty="0">
                <a:latin typeface="黑体" panose="02010609060101010101" pitchFamily="49" charset="-122"/>
                <a:ea typeface="黑体" panose="02010609060101010101" pitchFamily="49" charset="-122"/>
              </a:rPr>
              <a:t>果蝇：红眼×白眼        红眼     </a:t>
            </a:r>
            <a:r>
              <a:rPr lang="zh-CN" altLang="en-US" sz="2800" b="1" dirty="0">
                <a:latin typeface="黑体" panose="02010609060101010101" pitchFamily="49" charset="-122"/>
                <a:ea typeface="黑体" panose="02010609060101010101" pitchFamily="49" charset="-122"/>
                <a:sym typeface="Symbol" panose="05050102010706020507" pitchFamily="18" charset="2"/>
              </a:rPr>
              <a:t>  </a:t>
            </a:r>
            <a:r>
              <a:rPr lang="zh-CN" altLang="en-US" sz="2800" b="1" dirty="0">
                <a:latin typeface="黑体" panose="02010609060101010101" pitchFamily="49" charset="-122"/>
                <a:ea typeface="黑体" panose="02010609060101010101" pitchFamily="49" charset="-122"/>
              </a:rPr>
              <a:t> 3红眼∶1白眼</a:t>
            </a:r>
          </a:p>
          <a:p>
            <a:pPr algn="ctr">
              <a:spcBef>
                <a:spcPct val="50000"/>
              </a:spcBef>
            </a:pPr>
            <a:r>
              <a:rPr lang="zh-CN" altLang="en-US" sz="2800" b="1" dirty="0">
                <a:latin typeface="黑体" panose="02010609060101010101" pitchFamily="49" charset="-122"/>
                <a:ea typeface="黑体" panose="02010609060101010101" pitchFamily="49" charset="-122"/>
              </a:rPr>
              <a:t>番茄：红果×黄果        红果     </a:t>
            </a:r>
            <a:r>
              <a:rPr lang="zh-CN" altLang="en-US" sz="2800" b="1" dirty="0">
                <a:latin typeface="黑体" panose="02010609060101010101" pitchFamily="49" charset="-122"/>
                <a:ea typeface="黑体" panose="02010609060101010101" pitchFamily="49" charset="-122"/>
                <a:sym typeface="Symbol" panose="05050102010706020507" pitchFamily="18" charset="2"/>
              </a:rPr>
              <a:t>  </a:t>
            </a:r>
            <a:r>
              <a:rPr lang="zh-CN" altLang="en-US" sz="2800" b="1" dirty="0">
                <a:latin typeface="黑体" panose="02010609060101010101" pitchFamily="49" charset="-122"/>
                <a:ea typeface="黑体" panose="02010609060101010101" pitchFamily="49" charset="-122"/>
              </a:rPr>
              <a:t> 3红果∶1黄果</a:t>
            </a:r>
          </a:p>
        </p:txBody>
      </p:sp>
      <p:sp>
        <p:nvSpPr>
          <p:cNvPr id="26629" name="Line 10"/>
          <p:cNvSpPr/>
          <p:nvPr/>
        </p:nvSpPr>
        <p:spPr>
          <a:xfrm>
            <a:off x="4371831" y="3693823"/>
            <a:ext cx="457200" cy="0"/>
          </a:xfrm>
          <a:prstGeom prst="line">
            <a:avLst/>
          </a:prstGeom>
          <a:ln w="12700" cap="sq" cmpd="sng">
            <a:solidFill>
              <a:schemeClr val="tx1"/>
            </a:solidFill>
            <a:prstDash val="solid"/>
            <a:round/>
            <a:headEnd type="none" w="sm" len="sm"/>
            <a:tailEnd type="triangle" w="sm" len="sm"/>
          </a:ln>
        </p:spPr>
      </p:sp>
      <p:sp>
        <p:nvSpPr>
          <p:cNvPr id="26630" name="Line 12"/>
          <p:cNvSpPr/>
          <p:nvPr/>
        </p:nvSpPr>
        <p:spPr>
          <a:xfrm>
            <a:off x="6660139" y="3831213"/>
            <a:ext cx="838200" cy="0"/>
          </a:xfrm>
          <a:prstGeom prst="line">
            <a:avLst/>
          </a:prstGeom>
          <a:ln w="12700" cap="sq" cmpd="sng">
            <a:solidFill>
              <a:schemeClr val="tx1"/>
            </a:solidFill>
            <a:prstDash val="solid"/>
            <a:round/>
            <a:headEnd type="none" w="sm" len="sm"/>
            <a:tailEnd type="triangle" w="sm" len="sm"/>
          </a:ln>
        </p:spPr>
      </p:sp>
      <p:sp>
        <p:nvSpPr>
          <p:cNvPr id="26631" name="Line 15"/>
          <p:cNvSpPr/>
          <p:nvPr/>
        </p:nvSpPr>
        <p:spPr>
          <a:xfrm>
            <a:off x="4371831" y="4341523"/>
            <a:ext cx="457200" cy="0"/>
          </a:xfrm>
          <a:prstGeom prst="line">
            <a:avLst/>
          </a:prstGeom>
          <a:ln w="12700" cap="sq" cmpd="sng">
            <a:solidFill>
              <a:schemeClr val="tx1"/>
            </a:solidFill>
            <a:prstDash val="solid"/>
            <a:round/>
            <a:headEnd type="none" w="sm" len="sm"/>
            <a:tailEnd type="triangle" w="sm" len="sm"/>
          </a:ln>
        </p:spPr>
      </p:sp>
      <p:sp>
        <p:nvSpPr>
          <p:cNvPr id="26632" name="Line 16"/>
          <p:cNvSpPr/>
          <p:nvPr/>
        </p:nvSpPr>
        <p:spPr>
          <a:xfrm>
            <a:off x="6660139" y="4428113"/>
            <a:ext cx="838200" cy="0"/>
          </a:xfrm>
          <a:prstGeom prst="line">
            <a:avLst/>
          </a:prstGeom>
          <a:ln w="12700" cap="sq" cmpd="sng">
            <a:solidFill>
              <a:schemeClr val="tx1"/>
            </a:solidFill>
            <a:prstDash val="solid"/>
            <a:round/>
            <a:headEnd type="none" w="sm" len="sm"/>
            <a:tailEnd type="triangle" w="sm" len="sm"/>
          </a:ln>
        </p:spPr>
      </p:sp>
      <p:sp>
        <p:nvSpPr>
          <p:cNvPr id="26633" name="Line 17"/>
          <p:cNvSpPr/>
          <p:nvPr/>
        </p:nvSpPr>
        <p:spPr>
          <a:xfrm>
            <a:off x="4371831" y="4989223"/>
            <a:ext cx="457200" cy="0"/>
          </a:xfrm>
          <a:prstGeom prst="line">
            <a:avLst/>
          </a:prstGeom>
          <a:ln w="12700" cap="sq" cmpd="sng">
            <a:solidFill>
              <a:schemeClr val="tx1"/>
            </a:solidFill>
            <a:prstDash val="solid"/>
            <a:round/>
            <a:headEnd type="none" w="sm" len="sm"/>
            <a:tailEnd type="triangle" w="sm" len="sm"/>
          </a:ln>
        </p:spPr>
      </p:sp>
      <p:sp>
        <p:nvSpPr>
          <p:cNvPr id="26634" name="Line 18"/>
          <p:cNvSpPr/>
          <p:nvPr/>
        </p:nvSpPr>
        <p:spPr>
          <a:xfrm>
            <a:off x="6660139" y="5107564"/>
            <a:ext cx="838200" cy="0"/>
          </a:xfrm>
          <a:prstGeom prst="line">
            <a:avLst/>
          </a:prstGeom>
          <a:ln w="12700" cap="sq" cmpd="sng">
            <a:solidFill>
              <a:schemeClr val="tx1"/>
            </a:solidFill>
            <a:prstDash val="solid"/>
            <a:round/>
            <a:headEnd type="none" w="sm" len="sm"/>
            <a:tailEnd type="triangle" w="sm" len="sm"/>
          </a:ln>
        </p:spPr>
      </p:sp>
      <p:sp>
        <p:nvSpPr>
          <p:cNvPr id="26635" name="Line 19"/>
          <p:cNvSpPr/>
          <p:nvPr/>
        </p:nvSpPr>
        <p:spPr>
          <a:xfrm>
            <a:off x="4371831" y="5649623"/>
            <a:ext cx="457200" cy="0"/>
          </a:xfrm>
          <a:prstGeom prst="line">
            <a:avLst/>
          </a:prstGeom>
          <a:ln w="12700" cap="sq" cmpd="sng">
            <a:solidFill>
              <a:schemeClr val="tx1"/>
            </a:solidFill>
            <a:prstDash val="solid"/>
            <a:round/>
            <a:headEnd type="none" w="sm" len="sm"/>
            <a:tailEnd type="triangle" w="sm" len="sm"/>
          </a:ln>
        </p:spPr>
      </p:sp>
      <p:sp>
        <p:nvSpPr>
          <p:cNvPr id="26636" name="Line 20"/>
          <p:cNvSpPr/>
          <p:nvPr/>
        </p:nvSpPr>
        <p:spPr>
          <a:xfrm>
            <a:off x="6660139" y="5698113"/>
            <a:ext cx="838200" cy="0"/>
          </a:xfrm>
          <a:prstGeom prst="line">
            <a:avLst/>
          </a:prstGeom>
          <a:ln w="12700" cap="sq" cmpd="sng">
            <a:solidFill>
              <a:schemeClr val="tx1"/>
            </a:solidFill>
            <a:prstDash val="solid"/>
            <a:round/>
            <a:headEnd type="none" w="sm" len="sm"/>
            <a:tailEnd type="triangl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26">
                                            <p:txEl>
                                              <p:pRg st="0" end="0"/>
                                            </p:txEl>
                                          </p:spTgt>
                                        </p:tgtEl>
                                        <p:attrNameLst>
                                          <p:attrName>style.visibility</p:attrName>
                                        </p:attrNameLst>
                                      </p:cBhvr>
                                      <p:to>
                                        <p:strVal val="visible"/>
                                      </p:to>
                                    </p:set>
                                    <p:animEffect transition="in" filter="fade">
                                      <p:cBhvr>
                                        <p:cTn id="7" dur="500"/>
                                        <p:tgtEl>
                                          <p:spTgt spid="266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626">
                                            <p:txEl>
                                              <p:pRg st="1" end="1"/>
                                            </p:txEl>
                                          </p:spTgt>
                                        </p:tgtEl>
                                        <p:attrNameLst>
                                          <p:attrName>style.visibility</p:attrName>
                                        </p:attrNameLst>
                                      </p:cBhvr>
                                      <p:to>
                                        <p:strVal val="visible"/>
                                      </p:to>
                                    </p:set>
                                    <p:animEffect transition="in" filter="fade">
                                      <p:cBhvr>
                                        <p:cTn id="12" dur="500"/>
                                        <p:tgtEl>
                                          <p:spTgt spid="266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626">
                                            <p:txEl>
                                              <p:pRg st="2" end="2"/>
                                            </p:txEl>
                                          </p:spTgt>
                                        </p:tgtEl>
                                        <p:attrNameLst>
                                          <p:attrName>style.visibility</p:attrName>
                                        </p:attrNameLst>
                                      </p:cBhvr>
                                      <p:to>
                                        <p:strVal val="visible"/>
                                      </p:to>
                                    </p:set>
                                    <p:animEffect transition="in" filter="fade">
                                      <p:cBhvr>
                                        <p:cTn id="17" dur="500"/>
                                        <p:tgtEl>
                                          <p:spTgt spid="266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627"/>
                                        </p:tgtEl>
                                        <p:attrNameLst>
                                          <p:attrName>style.visibility</p:attrName>
                                        </p:attrNameLst>
                                      </p:cBhvr>
                                      <p:to>
                                        <p:strVal val="visible"/>
                                      </p:to>
                                    </p:set>
                                    <p:animEffect transition="in" filter="fade">
                                      <p:cBhvr>
                                        <p:cTn id="22" dur="500"/>
                                        <p:tgtEl>
                                          <p:spTgt spid="266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628"/>
                                        </p:tgtEl>
                                        <p:attrNameLst>
                                          <p:attrName>style.visibility</p:attrName>
                                        </p:attrNameLst>
                                      </p:cBhvr>
                                      <p:to>
                                        <p:strVal val="visible"/>
                                      </p:to>
                                    </p:set>
                                    <p:animEffect transition="in" filter="fade">
                                      <p:cBhvr>
                                        <p:cTn id="27" dur="500"/>
                                        <p:tgtEl>
                                          <p:spTgt spid="26628"/>
                                        </p:tgtEl>
                                      </p:cBhvr>
                                    </p:animEffect>
                                  </p:childTnLst>
                                </p:cTn>
                              </p:par>
                              <p:par>
                                <p:cTn id="28" presetID="10" presetClass="entr" presetSubtype="0" fill="hold" nodeType="withEffect">
                                  <p:stCondLst>
                                    <p:cond delay="0"/>
                                  </p:stCondLst>
                                  <p:childTnLst>
                                    <p:set>
                                      <p:cBhvr>
                                        <p:cTn id="29" dur="1" fill="hold">
                                          <p:stCondLst>
                                            <p:cond delay="0"/>
                                          </p:stCondLst>
                                        </p:cTn>
                                        <p:tgtEl>
                                          <p:spTgt spid="26629"/>
                                        </p:tgtEl>
                                        <p:attrNameLst>
                                          <p:attrName>style.visibility</p:attrName>
                                        </p:attrNameLst>
                                      </p:cBhvr>
                                      <p:to>
                                        <p:strVal val="visible"/>
                                      </p:to>
                                    </p:set>
                                    <p:animEffect transition="in" filter="fade">
                                      <p:cBhvr>
                                        <p:cTn id="30" dur="500"/>
                                        <p:tgtEl>
                                          <p:spTgt spid="26629"/>
                                        </p:tgtEl>
                                      </p:cBhvr>
                                    </p:animEffect>
                                  </p:childTnLst>
                                </p:cTn>
                              </p:par>
                              <p:par>
                                <p:cTn id="31" presetID="10" presetClass="entr" presetSubtype="0" fill="hold" nodeType="withEffect">
                                  <p:stCondLst>
                                    <p:cond delay="0"/>
                                  </p:stCondLst>
                                  <p:childTnLst>
                                    <p:set>
                                      <p:cBhvr>
                                        <p:cTn id="32" dur="1" fill="hold">
                                          <p:stCondLst>
                                            <p:cond delay="0"/>
                                          </p:stCondLst>
                                        </p:cTn>
                                        <p:tgtEl>
                                          <p:spTgt spid="26630"/>
                                        </p:tgtEl>
                                        <p:attrNameLst>
                                          <p:attrName>style.visibility</p:attrName>
                                        </p:attrNameLst>
                                      </p:cBhvr>
                                      <p:to>
                                        <p:strVal val="visible"/>
                                      </p:to>
                                    </p:set>
                                    <p:animEffect transition="in" filter="fade">
                                      <p:cBhvr>
                                        <p:cTn id="33" dur="500"/>
                                        <p:tgtEl>
                                          <p:spTgt spid="26630"/>
                                        </p:tgtEl>
                                      </p:cBhvr>
                                    </p:animEffect>
                                  </p:childTnLst>
                                </p:cTn>
                              </p:par>
                              <p:par>
                                <p:cTn id="34" presetID="10" presetClass="entr" presetSubtype="0" fill="hold" nodeType="withEffect">
                                  <p:stCondLst>
                                    <p:cond delay="0"/>
                                  </p:stCondLst>
                                  <p:childTnLst>
                                    <p:set>
                                      <p:cBhvr>
                                        <p:cTn id="35" dur="1" fill="hold">
                                          <p:stCondLst>
                                            <p:cond delay="0"/>
                                          </p:stCondLst>
                                        </p:cTn>
                                        <p:tgtEl>
                                          <p:spTgt spid="26631"/>
                                        </p:tgtEl>
                                        <p:attrNameLst>
                                          <p:attrName>style.visibility</p:attrName>
                                        </p:attrNameLst>
                                      </p:cBhvr>
                                      <p:to>
                                        <p:strVal val="visible"/>
                                      </p:to>
                                    </p:set>
                                    <p:animEffect transition="in" filter="fade">
                                      <p:cBhvr>
                                        <p:cTn id="36" dur="500"/>
                                        <p:tgtEl>
                                          <p:spTgt spid="26631"/>
                                        </p:tgtEl>
                                      </p:cBhvr>
                                    </p:animEffect>
                                  </p:childTnLst>
                                </p:cTn>
                              </p:par>
                              <p:par>
                                <p:cTn id="37" presetID="10" presetClass="entr" presetSubtype="0" fill="hold" nodeType="withEffect">
                                  <p:stCondLst>
                                    <p:cond delay="0"/>
                                  </p:stCondLst>
                                  <p:childTnLst>
                                    <p:set>
                                      <p:cBhvr>
                                        <p:cTn id="38" dur="1" fill="hold">
                                          <p:stCondLst>
                                            <p:cond delay="0"/>
                                          </p:stCondLst>
                                        </p:cTn>
                                        <p:tgtEl>
                                          <p:spTgt spid="26632"/>
                                        </p:tgtEl>
                                        <p:attrNameLst>
                                          <p:attrName>style.visibility</p:attrName>
                                        </p:attrNameLst>
                                      </p:cBhvr>
                                      <p:to>
                                        <p:strVal val="visible"/>
                                      </p:to>
                                    </p:set>
                                    <p:animEffect transition="in" filter="fade">
                                      <p:cBhvr>
                                        <p:cTn id="39" dur="500"/>
                                        <p:tgtEl>
                                          <p:spTgt spid="26632"/>
                                        </p:tgtEl>
                                      </p:cBhvr>
                                    </p:animEffect>
                                  </p:childTnLst>
                                </p:cTn>
                              </p:par>
                              <p:par>
                                <p:cTn id="40" presetID="10" presetClass="entr" presetSubtype="0" fill="hold" nodeType="withEffect">
                                  <p:stCondLst>
                                    <p:cond delay="0"/>
                                  </p:stCondLst>
                                  <p:childTnLst>
                                    <p:set>
                                      <p:cBhvr>
                                        <p:cTn id="41" dur="1" fill="hold">
                                          <p:stCondLst>
                                            <p:cond delay="0"/>
                                          </p:stCondLst>
                                        </p:cTn>
                                        <p:tgtEl>
                                          <p:spTgt spid="26633"/>
                                        </p:tgtEl>
                                        <p:attrNameLst>
                                          <p:attrName>style.visibility</p:attrName>
                                        </p:attrNameLst>
                                      </p:cBhvr>
                                      <p:to>
                                        <p:strVal val="visible"/>
                                      </p:to>
                                    </p:set>
                                    <p:animEffect transition="in" filter="fade">
                                      <p:cBhvr>
                                        <p:cTn id="42" dur="500"/>
                                        <p:tgtEl>
                                          <p:spTgt spid="26633"/>
                                        </p:tgtEl>
                                      </p:cBhvr>
                                    </p:animEffect>
                                  </p:childTnLst>
                                </p:cTn>
                              </p:par>
                              <p:par>
                                <p:cTn id="43" presetID="10" presetClass="entr" presetSubtype="0" fill="hold" nodeType="withEffect">
                                  <p:stCondLst>
                                    <p:cond delay="0"/>
                                  </p:stCondLst>
                                  <p:childTnLst>
                                    <p:set>
                                      <p:cBhvr>
                                        <p:cTn id="44" dur="1" fill="hold">
                                          <p:stCondLst>
                                            <p:cond delay="0"/>
                                          </p:stCondLst>
                                        </p:cTn>
                                        <p:tgtEl>
                                          <p:spTgt spid="26634"/>
                                        </p:tgtEl>
                                        <p:attrNameLst>
                                          <p:attrName>style.visibility</p:attrName>
                                        </p:attrNameLst>
                                      </p:cBhvr>
                                      <p:to>
                                        <p:strVal val="visible"/>
                                      </p:to>
                                    </p:set>
                                    <p:animEffect transition="in" filter="fade">
                                      <p:cBhvr>
                                        <p:cTn id="45" dur="500"/>
                                        <p:tgtEl>
                                          <p:spTgt spid="26634"/>
                                        </p:tgtEl>
                                      </p:cBhvr>
                                    </p:animEffect>
                                  </p:childTnLst>
                                </p:cTn>
                              </p:par>
                              <p:par>
                                <p:cTn id="46" presetID="10" presetClass="entr" presetSubtype="0" fill="hold" nodeType="withEffect">
                                  <p:stCondLst>
                                    <p:cond delay="0"/>
                                  </p:stCondLst>
                                  <p:childTnLst>
                                    <p:set>
                                      <p:cBhvr>
                                        <p:cTn id="47" dur="1" fill="hold">
                                          <p:stCondLst>
                                            <p:cond delay="0"/>
                                          </p:stCondLst>
                                        </p:cTn>
                                        <p:tgtEl>
                                          <p:spTgt spid="26635"/>
                                        </p:tgtEl>
                                        <p:attrNameLst>
                                          <p:attrName>style.visibility</p:attrName>
                                        </p:attrNameLst>
                                      </p:cBhvr>
                                      <p:to>
                                        <p:strVal val="visible"/>
                                      </p:to>
                                    </p:set>
                                    <p:animEffect transition="in" filter="fade">
                                      <p:cBhvr>
                                        <p:cTn id="48" dur="500"/>
                                        <p:tgtEl>
                                          <p:spTgt spid="26635"/>
                                        </p:tgtEl>
                                      </p:cBhvr>
                                    </p:animEffect>
                                  </p:childTnLst>
                                </p:cTn>
                              </p:par>
                              <p:par>
                                <p:cTn id="49" presetID="10" presetClass="entr" presetSubtype="0" fill="hold" nodeType="withEffect">
                                  <p:stCondLst>
                                    <p:cond delay="0"/>
                                  </p:stCondLst>
                                  <p:childTnLst>
                                    <p:set>
                                      <p:cBhvr>
                                        <p:cTn id="50" dur="1" fill="hold">
                                          <p:stCondLst>
                                            <p:cond delay="0"/>
                                          </p:stCondLst>
                                        </p:cTn>
                                        <p:tgtEl>
                                          <p:spTgt spid="26636"/>
                                        </p:tgtEl>
                                        <p:attrNameLst>
                                          <p:attrName>style.visibility</p:attrName>
                                        </p:attrNameLst>
                                      </p:cBhvr>
                                      <p:to>
                                        <p:strVal val="visible"/>
                                      </p:to>
                                    </p:set>
                                    <p:animEffect transition="in" filter="fade">
                                      <p:cBhvr>
                                        <p:cTn id="51" dur="500"/>
                                        <p:tgtEl>
                                          <p:spTgt spid="26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build="p"/>
      <p:bldP spid="26627" grpId="0"/>
      <p:bldP spid="266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a:xfrm>
            <a:off x="2381251" y="0"/>
            <a:ext cx="7543800" cy="609600"/>
          </a:xfrm>
          <a:noFill/>
          <a:ln>
            <a:noFill/>
          </a:ln>
        </p:spPr>
        <p:txBody>
          <a:bodyPr anchor="t" anchorCtr="0">
            <a:normAutofit/>
          </a:bodyPr>
          <a:lstStyle/>
          <a:p>
            <a:r>
              <a:rPr lang="zh-CN" altLang="en-US" sz="3600" b="1" dirty="0">
                <a:latin typeface="黑体" panose="02010609060101010101" pitchFamily="49" charset="-122"/>
                <a:ea typeface="黑体" panose="02010609060101010101" pitchFamily="49" charset="-122"/>
              </a:rPr>
              <a:t>五、分离定律的意义</a:t>
            </a:r>
          </a:p>
        </p:txBody>
      </p:sp>
      <p:sp>
        <p:nvSpPr>
          <p:cNvPr id="27650" name="Rectangle 3"/>
          <p:cNvSpPr>
            <a:spLocks noGrp="1"/>
          </p:cNvSpPr>
          <p:nvPr>
            <p:ph idx="1"/>
          </p:nvPr>
        </p:nvSpPr>
        <p:spPr>
          <a:xfrm>
            <a:off x="817418" y="685800"/>
            <a:ext cx="11180618" cy="5493327"/>
          </a:xfrm>
          <a:noFill/>
          <a:ln>
            <a:noFill/>
          </a:ln>
        </p:spPr>
        <p:txBody>
          <a:bodyPr anchor="t" anchorCtr="0"/>
          <a:lstStyle/>
          <a:p>
            <a:pPr lvl="1">
              <a:lnSpc>
                <a:spcPct val="140000"/>
              </a:lnSpc>
              <a:buFont typeface="Wingdings" panose="05000000000000000000" pitchFamily="2" charset="2"/>
              <a:buNone/>
            </a:pP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形成了</a:t>
            </a:r>
            <a:r>
              <a:rPr lang="zh-CN" altLang="en-US" sz="2800" b="1" dirty="0">
                <a:solidFill>
                  <a:srgbClr val="FF0000"/>
                </a:solidFill>
                <a:latin typeface="黑体" panose="02010609060101010101" pitchFamily="49" charset="-122"/>
                <a:ea typeface="黑体" panose="02010609060101010101" pitchFamily="49" charset="-122"/>
              </a:rPr>
              <a:t>颗粒遗传</a:t>
            </a:r>
            <a:r>
              <a:rPr lang="zh-CN" altLang="en-US" sz="2800" b="1" dirty="0">
                <a:latin typeface="黑体" panose="02010609060101010101" pitchFamily="49" charset="-122"/>
                <a:ea typeface="黑体" panose="02010609060101010101" pitchFamily="49" charset="-122"/>
              </a:rPr>
              <a:t>的正确遗传观念；</a:t>
            </a:r>
          </a:p>
          <a:p>
            <a:pPr lvl="1">
              <a:lnSpc>
                <a:spcPct val="140000"/>
              </a:lnSpc>
              <a:buFont typeface="Wingdings" panose="05000000000000000000" pitchFamily="2" charset="2"/>
              <a:buNone/>
            </a:pP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指出了区分基因型与表现型的重要性；</a:t>
            </a:r>
          </a:p>
          <a:p>
            <a:pPr lvl="1">
              <a:lnSpc>
                <a:spcPct val="140000"/>
              </a:lnSpc>
              <a:buFont typeface="Wingdings" panose="05000000000000000000" pitchFamily="2" charset="2"/>
              <a:buNone/>
            </a:pPr>
            <a:r>
              <a:rPr lang="en-US" altLang="zh-CN" sz="2800" b="1" dirty="0">
                <a:latin typeface="黑体" panose="02010609060101010101" pitchFamily="49" charset="-122"/>
                <a:ea typeface="黑体" panose="02010609060101010101" pitchFamily="49" charset="-122"/>
              </a:rPr>
              <a:t>3.</a:t>
            </a:r>
            <a:r>
              <a:rPr lang="zh-CN" altLang="en-US" sz="2800" b="1" dirty="0">
                <a:latin typeface="黑体" panose="02010609060101010101" pitchFamily="49" charset="-122"/>
                <a:ea typeface="黑体" panose="02010609060101010101" pitchFamily="49" charset="-122"/>
              </a:rPr>
              <a:t>解释了生物变异产生的部分原因；</a:t>
            </a:r>
          </a:p>
          <a:p>
            <a:pPr lvl="1">
              <a:lnSpc>
                <a:spcPct val="140000"/>
              </a:lnSpc>
              <a:buFont typeface="Wingdings" panose="05000000000000000000" pitchFamily="2" charset="2"/>
              <a:buNone/>
            </a:pPr>
            <a:r>
              <a:rPr lang="en-US" altLang="zh-CN" sz="2800" b="1" dirty="0">
                <a:latin typeface="黑体" panose="02010609060101010101" pitchFamily="49" charset="-122"/>
                <a:ea typeface="黑体" panose="02010609060101010101" pitchFamily="49" charset="-122"/>
              </a:rPr>
              <a:t>4.</a:t>
            </a:r>
            <a:r>
              <a:rPr lang="zh-CN" altLang="en-US" sz="2800" b="1" dirty="0">
                <a:latin typeface="黑体" panose="02010609060101010101" pitchFamily="49" charset="-122"/>
                <a:ea typeface="黑体" panose="02010609060101010101" pitchFamily="49" charset="-122"/>
              </a:rPr>
              <a:t>建立了遗传研究的基本方法。</a:t>
            </a:r>
            <a:endParaRPr lang="en-US" altLang="zh-CN" sz="2800" b="1" dirty="0">
              <a:latin typeface="黑体" panose="02010609060101010101" pitchFamily="49" charset="-122"/>
              <a:ea typeface="黑体" panose="02010609060101010101" pitchFamily="49" charset="-122"/>
            </a:endParaRPr>
          </a:p>
          <a:p>
            <a:pPr lvl="1">
              <a:lnSpc>
                <a:spcPct val="140000"/>
              </a:lnSpc>
              <a:buFont typeface="Wingdings" panose="05000000000000000000" pitchFamily="2" charset="2"/>
              <a:buNone/>
            </a:pPr>
            <a:r>
              <a:rPr lang="en-US" altLang="zh-CN" sz="2800" b="1" dirty="0">
                <a:latin typeface="黑体" panose="02010609060101010101" pitchFamily="49" charset="-122"/>
                <a:ea typeface="黑体" panose="02010609060101010101" pitchFamily="49" charset="-122"/>
              </a:rPr>
              <a:t>5.</a:t>
            </a:r>
            <a:r>
              <a:rPr lang="zh-CN" altLang="en-US" sz="2800" b="1" dirty="0">
                <a:latin typeface="黑体" panose="02010609060101010101" pitchFamily="49" charset="-122"/>
                <a:ea typeface="黑体" panose="02010609060101010101" pitchFamily="49" charset="-122"/>
              </a:rPr>
              <a:t>指导育种实践</a:t>
            </a:r>
            <a:endParaRPr lang="en-US" altLang="zh-CN" sz="2800" b="1" dirty="0">
              <a:latin typeface="黑体" panose="02010609060101010101" pitchFamily="49" charset="-122"/>
              <a:ea typeface="黑体" panose="02010609060101010101" pitchFamily="49" charset="-122"/>
            </a:endParaRPr>
          </a:p>
          <a:p>
            <a:pPr lvl="1">
              <a:lnSpc>
                <a:spcPct val="100000"/>
              </a:lnSpc>
              <a:buFont typeface="Wingdings" panose="05000000000000000000" pitchFamily="2" charset="2"/>
              <a:buNone/>
            </a:pPr>
            <a:r>
              <a:rPr lang="zh-CN" altLang="en-US" sz="2800" b="1" dirty="0">
                <a:latin typeface="楷体" panose="02010609060101010101" pitchFamily="49" charset="-122"/>
                <a:ea typeface="楷体" panose="02010609060101010101" pitchFamily="49" charset="-122"/>
              </a:rPr>
              <a:t>      选种要选纯合子；</a:t>
            </a:r>
            <a:endParaRPr lang="en-US" altLang="zh-CN" sz="2800" b="1" dirty="0">
              <a:latin typeface="楷体" panose="02010609060101010101" pitchFamily="49" charset="-122"/>
              <a:ea typeface="楷体" panose="02010609060101010101" pitchFamily="49" charset="-122"/>
            </a:endParaRPr>
          </a:p>
          <a:p>
            <a:pPr lvl="1">
              <a:lnSpc>
                <a:spcPct val="100000"/>
              </a:lnSpc>
              <a:buFont typeface="Wingdings" panose="05000000000000000000" pitchFamily="2" charset="2"/>
              <a:buNone/>
            </a:pPr>
            <a:r>
              <a:rPr lang="zh-CN" altLang="en-US" sz="2800" b="1" dirty="0">
                <a:latin typeface="楷体" panose="02010609060101010101" pitchFamily="49" charset="-122"/>
                <a:ea typeface="楷体" panose="02010609060101010101" pitchFamily="49" charset="-122"/>
              </a:rPr>
              <a:t>      测交验证种子（畜）的纯度；</a:t>
            </a:r>
            <a:endParaRPr lang="en-US" altLang="zh-CN" sz="2800" b="1" dirty="0">
              <a:latin typeface="楷体" panose="02010609060101010101" pitchFamily="49" charset="-122"/>
              <a:ea typeface="楷体" panose="02010609060101010101" pitchFamily="49" charset="-122"/>
            </a:endParaRPr>
          </a:p>
          <a:p>
            <a:pPr lvl="1">
              <a:lnSpc>
                <a:spcPct val="100000"/>
              </a:lnSpc>
              <a:buFont typeface="Wingdings" panose="05000000000000000000" pitchFamily="2" charset="2"/>
              <a:buNone/>
            </a:pPr>
            <a:r>
              <a:rPr lang="zh-CN" altLang="en-US" sz="2800" b="1" dirty="0">
                <a:latin typeface="楷体" panose="02010609060101010101" pitchFamily="49" charset="-122"/>
                <a:ea typeface="楷体" panose="02010609060101010101" pitchFamily="49" charset="-122"/>
              </a:rPr>
              <a:t>      连续近交，提纯种群，培育优良纯系；</a:t>
            </a:r>
            <a:endParaRPr lang="en-US" altLang="zh-CN" sz="2800" b="1" dirty="0">
              <a:latin typeface="楷体" panose="02010609060101010101" pitchFamily="49" charset="-122"/>
              <a:ea typeface="楷体" panose="02010609060101010101" pitchFamily="49" charset="-122"/>
            </a:endParaRPr>
          </a:p>
          <a:p>
            <a:pPr lvl="1">
              <a:lnSpc>
                <a:spcPct val="100000"/>
              </a:lnSpc>
              <a:buFont typeface="Wingdings" panose="05000000000000000000" pitchFamily="2" charset="2"/>
              <a:buNone/>
            </a:pPr>
            <a:r>
              <a:rPr lang="zh-CN" altLang="en-US" sz="2800" b="1" dirty="0">
                <a:latin typeface="楷体" panose="02010609060101010101" pitchFamily="49" charset="-122"/>
                <a:ea typeface="楷体" panose="02010609060101010101" pitchFamily="49" charset="-122"/>
              </a:rPr>
              <a:t>      </a:t>
            </a:r>
            <a:endParaRPr lang="en-US" altLang="zh-CN" sz="28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animEffect transition="in" filter="fade">
                                      <p:cBhvr>
                                        <p:cTn id="7" dur="500"/>
                                        <p:tgtEl>
                                          <p:spTgt spid="2765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650">
                                            <p:txEl>
                                              <p:pRg st="1" end="1"/>
                                            </p:txEl>
                                          </p:spTgt>
                                        </p:tgtEl>
                                        <p:attrNameLst>
                                          <p:attrName>style.visibility</p:attrName>
                                        </p:attrNameLst>
                                      </p:cBhvr>
                                      <p:to>
                                        <p:strVal val="visible"/>
                                      </p:to>
                                    </p:set>
                                    <p:animEffect transition="in" filter="fade">
                                      <p:cBhvr>
                                        <p:cTn id="10" dur="500"/>
                                        <p:tgtEl>
                                          <p:spTgt spid="27650">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650">
                                            <p:txEl>
                                              <p:pRg st="2" end="2"/>
                                            </p:txEl>
                                          </p:spTgt>
                                        </p:tgtEl>
                                        <p:attrNameLst>
                                          <p:attrName>style.visibility</p:attrName>
                                        </p:attrNameLst>
                                      </p:cBhvr>
                                      <p:to>
                                        <p:strVal val="visible"/>
                                      </p:to>
                                    </p:set>
                                    <p:animEffect transition="in" filter="fade">
                                      <p:cBhvr>
                                        <p:cTn id="13" dur="500"/>
                                        <p:tgtEl>
                                          <p:spTgt spid="27650">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650">
                                            <p:txEl>
                                              <p:pRg st="3" end="3"/>
                                            </p:txEl>
                                          </p:spTgt>
                                        </p:tgtEl>
                                        <p:attrNameLst>
                                          <p:attrName>style.visibility</p:attrName>
                                        </p:attrNameLst>
                                      </p:cBhvr>
                                      <p:to>
                                        <p:strVal val="visible"/>
                                      </p:to>
                                    </p:set>
                                    <p:animEffect transition="in" filter="fade">
                                      <p:cBhvr>
                                        <p:cTn id="16" dur="500"/>
                                        <p:tgtEl>
                                          <p:spTgt spid="27650">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650">
                                            <p:txEl>
                                              <p:pRg st="4" end="4"/>
                                            </p:txEl>
                                          </p:spTgt>
                                        </p:tgtEl>
                                        <p:attrNameLst>
                                          <p:attrName>style.visibility</p:attrName>
                                        </p:attrNameLst>
                                      </p:cBhvr>
                                      <p:to>
                                        <p:strVal val="visible"/>
                                      </p:to>
                                    </p:set>
                                    <p:animEffect transition="in" filter="fade">
                                      <p:cBhvr>
                                        <p:cTn id="19" dur="500"/>
                                        <p:tgtEl>
                                          <p:spTgt spid="27650">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650">
                                            <p:txEl>
                                              <p:pRg st="5" end="5"/>
                                            </p:txEl>
                                          </p:spTgt>
                                        </p:tgtEl>
                                        <p:attrNameLst>
                                          <p:attrName>style.visibility</p:attrName>
                                        </p:attrNameLst>
                                      </p:cBhvr>
                                      <p:to>
                                        <p:strVal val="visible"/>
                                      </p:to>
                                    </p:set>
                                    <p:animEffect transition="in" filter="fade">
                                      <p:cBhvr>
                                        <p:cTn id="22" dur="500"/>
                                        <p:tgtEl>
                                          <p:spTgt spid="27650">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650">
                                            <p:txEl>
                                              <p:pRg st="6" end="6"/>
                                            </p:txEl>
                                          </p:spTgt>
                                        </p:tgtEl>
                                        <p:attrNameLst>
                                          <p:attrName>style.visibility</p:attrName>
                                        </p:attrNameLst>
                                      </p:cBhvr>
                                      <p:to>
                                        <p:strVal val="visible"/>
                                      </p:to>
                                    </p:set>
                                    <p:animEffect transition="in" filter="fade">
                                      <p:cBhvr>
                                        <p:cTn id="25" dur="500"/>
                                        <p:tgtEl>
                                          <p:spTgt spid="27650">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650">
                                            <p:txEl>
                                              <p:pRg st="7" end="7"/>
                                            </p:txEl>
                                          </p:spTgt>
                                        </p:tgtEl>
                                        <p:attrNameLst>
                                          <p:attrName>style.visibility</p:attrName>
                                        </p:attrNameLst>
                                      </p:cBhvr>
                                      <p:to>
                                        <p:strVal val="visible"/>
                                      </p:to>
                                    </p:set>
                                    <p:animEffect transition="in" filter="fade">
                                      <p:cBhvr>
                                        <p:cTn id="28" dur="500"/>
                                        <p:tgtEl>
                                          <p:spTgt spid="27650">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650">
                                            <p:txEl>
                                              <p:pRg st="8" end="8"/>
                                            </p:txEl>
                                          </p:spTgt>
                                        </p:tgtEl>
                                        <p:attrNameLst>
                                          <p:attrName>style.visibility</p:attrName>
                                        </p:attrNameLst>
                                      </p:cBhvr>
                                      <p:to>
                                        <p:strVal val="visible"/>
                                      </p:to>
                                    </p:set>
                                    <p:animEffect transition="in" filter="fade">
                                      <p:cBhvr>
                                        <p:cTn id="31" dur="500"/>
                                        <p:tgtEl>
                                          <p:spTgt spid="2765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594" name="Rectangle 2">
            <a:extLst>
              <a:ext uri="{FF2B5EF4-FFF2-40B4-BE49-F238E27FC236}">
                <a16:creationId xmlns:a16="http://schemas.microsoft.com/office/drawing/2014/main" id="{155A3273-FC16-41AF-99DA-A2A0D22BD2BA}"/>
              </a:ext>
            </a:extLst>
          </p:cNvPr>
          <p:cNvSpPr>
            <a:spLocks noGrp="1" noChangeArrowheads="1"/>
          </p:cNvSpPr>
          <p:nvPr>
            <p:ph type="ctrTitle"/>
          </p:nvPr>
        </p:nvSpPr>
        <p:spPr>
          <a:xfrm>
            <a:off x="1239914" y="-102185"/>
            <a:ext cx="9089791" cy="1760164"/>
          </a:xfrm>
        </p:spPr>
        <p:txBody>
          <a:bodyPr/>
          <a:lstStyle/>
          <a:p>
            <a:r>
              <a:rPr lang="en-US" altLang="zh-CN" sz="4800" b="1" noProof="1">
                <a:solidFill>
                  <a:srgbClr val="FF0000"/>
                </a:solidFill>
                <a:latin typeface="黑体" panose="02010609060101010101" pitchFamily="49" charset="-122"/>
                <a:ea typeface="黑体" panose="02010609060101010101" pitchFamily="49" charset="-122"/>
                <a:sym typeface="Wingdings" panose="05000000000000000000" pitchFamily="2" charset="2"/>
              </a:rPr>
              <a:t>2.2</a:t>
            </a:r>
            <a:r>
              <a:rPr lang="en-US" altLang="zh-CN" sz="4800" b="1" dirty="0" err="1">
                <a:solidFill>
                  <a:srgbClr val="FF0000"/>
                </a:solidFill>
                <a:latin typeface="黑体" panose="02010609060101010101" pitchFamily="49" charset="-122"/>
                <a:ea typeface="黑体" panose="02010609060101010101" pitchFamily="49" charset="-122"/>
                <a:sym typeface="Wingdings" panose="05000000000000000000" pitchFamily="2" charset="2"/>
              </a:rPr>
              <a:t>独立分配规律</a:t>
            </a:r>
            <a:br>
              <a:rPr lang="en-US" altLang="zh-CN" sz="5300" dirty="0">
                <a:sym typeface="Wingdings" panose="05000000000000000000" pitchFamily="2" charset="2"/>
              </a:rPr>
            </a:br>
            <a:endParaRPr lang="en-US" altLang="zh-CN" sz="4400" dirty="0">
              <a:sym typeface="Wingdings" panose="05000000000000000000" pitchFamily="2" charset="2"/>
            </a:endParaRPr>
          </a:p>
        </p:txBody>
      </p:sp>
      <p:sp>
        <p:nvSpPr>
          <p:cNvPr id="366595" name="Rectangle 3">
            <a:extLst>
              <a:ext uri="{FF2B5EF4-FFF2-40B4-BE49-F238E27FC236}">
                <a16:creationId xmlns:a16="http://schemas.microsoft.com/office/drawing/2014/main" id="{E2F27998-2874-4ACA-B091-C96CDD0AD280}"/>
              </a:ext>
            </a:extLst>
          </p:cNvPr>
          <p:cNvSpPr>
            <a:spLocks noGrp="1" noChangeArrowheads="1"/>
          </p:cNvSpPr>
          <p:nvPr>
            <p:ph type="subTitle" idx="1"/>
          </p:nvPr>
        </p:nvSpPr>
        <p:spPr>
          <a:xfrm>
            <a:off x="736845" y="1155853"/>
            <a:ext cx="11159231" cy="4909351"/>
          </a:xfrm>
        </p:spPr>
        <p:txBody>
          <a:bodyPr>
            <a:normAutofit/>
          </a:bodyPr>
          <a:lstStyle/>
          <a:p>
            <a:pPr algn="l"/>
            <a:r>
              <a:rPr lang="zh-CN" altLang="en-US" sz="3200" b="1" dirty="0">
                <a:latin typeface="黑体" panose="02010609060101010101" pitchFamily="49" charset="-122"/>
                <a:ea typeface="黑体" panose="02010609060101010101" pitchFamily="49" charset="-122"/>
              </a:rPr>
              <a:t>“自由组合规律”：两对及两以上相对性状</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等位基因</a:t>
            </a:r>
            <a:r>
              <a:rPr lang="en-US" altLang="zh-CN" sz="3200" b="1" dirty="0">
                <a:latin typeface="黑体" panose="02010609060101010101" pitchFamily="49" charset="-122"/>
                <a:ea typeface="黑体" panose="02010609060101010101" pitchFamily="49" charset="-122"/>
              </a:rPr>
              <a:t>)</a:t>
            </a:r>
            <a:r>
              <a:rPr lang="zh-CN" altLang="en-US" sz="3200" b="1" dirty="0">
                <a:latin typeface="黑体" panose="02010609060101010101" pitchFamily="49" charset="-122"/>
                <a:ea typeface="黑体" panose="02010609060101010101" pitchFamily="49" charset="-122"/>
              </a:rPr>
              <a:t>在世</a:t>
            </a:r>
            <a:endParaRPr lang="en-US" altLang="zh-CN" sz="3200" b="1" dirty="0">
              <a:latin typeface="黑体" panose="02010609060101010101" pitchFamily="49" charset="-122"/>
              <a:ea typeface="黑体" panose="02010609060101010101" pitchFamily="49" charset="-122"/>
            </a:endParaRPr>
          </a:p>
          <a:p>
            <a:pPr algn="l"/>
            <a:r>
              <a:rPr lang="en-US" altLang="zh-CN" sz="3200" b="1" dirty="0">
                <a:latin typeface="黑体" panose="02010609060101010101" pitchFamily="49" charset="-122"/>
                <a:ea typeface="黑体" panose="02010609060101010101" pitchFamily="49" charset="-122"/>
              </a:rPr>
              <a:t>                  </a:t>
            </a:r>
            <a:r>
              <a:rPr lang="zh-CN" altLang="en-US" sz="3200" b="1" dirty="0">
                <a:latin typeface="黑体" panose="02010609060101010101" pitchFamily="49" charset="-122"/>
                <a:ea typeface="黑体" panose="02010609060101010101" pitchFamily="49" charset="-122"/>
              </a:rPr>
              <a:t>代传递过程中表现出来的相互关系。</a:t>
            </a:r>
          </a:p>
          <a:p>
            <a:pPr algn="l"/>
            <a:r>
              <a:rPr lang="zh-CN" altLang="en-US" sz="3200" b="1" dirty="0">
                <a:solidFill>
                  <a:srgbClr val="0000FF"/>
                </a:solidFill>
                <a:latin typeface="黑体" panose="02010609060101010101" pitchFamily="49" charset="-122"/>
                <a:ea typeface="黑体" panose="02010609060101010101" pitchFamily="49" charset="-122"/>
                <a:sym typeface="Wingdings" panose="05000000000000000000" pitchFamily="2" charset="2"/>
              </a:rPr>
              <a:t>  一、两对相对性状的遗传</a:t>
            </a:r>
            <a:endParaRPr lang="en-US" altLang="zh-CN" sz="3200" b="1" dirty="0">
              <a:solidFill>
                <a:srgbClr val="0000FF"/>
              </a:solidFill>
              <a:latin typeface="黑体" panose="02010609060101010101" pitchFamily="49" charset="-122"/>
              <a:ea typeface="黑体" panose="02010609060101010101" pitchFamily="49" charset="-122"/>
              <a:sym typeface="Wingdings" panose="05000000000000000000" pitchFamily="2" charset="2"/>
            </a:endParaRPr>
          </a:p>
          <a:p>
            <a:pPr algn="l"/>
            <a:r>
              <a:rPr lang="zh-CN" altLang="en-US" sz="3200" b="1" noProof="1">
                <a:solidFill>
                  <a:srgbClr val="0000FF"/>
                </a:solidFill>
                <a:latin typeface="黑体" panose="02010609060101010101" pitchFamily="49" charset="-122"/>
                <a:ea typeface="黑体" panose="02010609060101010101" pitchFamily="49" charset="-122"/>
                <a:sym typeface="Wingdings" panose="05000000000000000000" pitchFamily="2" charset="2"/>
              </a:rPr>
              <a:t>  二</a:t>
            </a:r>
            <a:r>
              <a:rPr lang="en-US" altLang="en-US" sz="3200" b="1" dirty="0">
                <a:solidFill>
                  <a:srgbClr val="0000FF"/>
                </a:solidFill>
                <a:latin typeface="黑体" panose="02010609060101010101" pitchFamily="49" charset="-122"/>
                <a:ea typeface="黑体" panose="02010609060101010101" pitchFamily="49" charset="-122"/>
                <a:sym typeface="Wingdings" panose="05000000000000000000" pitchFamily="2" charset="2"/>
              </a:rPr>
              <a:t>、</a:t>
            </a:r>
            <a:r>
              <a:rPr lang="zh-CN" altLang="en-US" sz="3200" b="1" dirty="0">
                <a:solidFill>
                  <a:srgbClr val="0000FF"/>
                </a:solidFill>
                <a:latin typeface="黑体" panose="02010609060101010101" pitchFamily="49" charset="-122"/>
                <a:ea typeface="黑体" panose="02010609060101010101" pitchFamily="49" charset="-122"/>
                <a:sym typeface="Wingdings" panose="05000000000000000000" pitchFamily="2" charset="2"/>
              </a:rPr>
              <a:t>独立分配</a:t>
            </a:r>
            <a:r>
              <a:rPr lang="en-US" altLang="zh-CN" sz="3200" b="1" dirty="0">
                <a:solidFill>
                  <a:srgbClr val="0000FF"/>
                </a:solidFill>
                <a:latin typeface="黑体" panose="02010609060101010101" pitchFamily="49" charset="-122"/>
                <a:ea typeface="黑体" panose="02010609060101010101" pitchFamily="49" charset="-122"/>
                <a:sym typeface="Wingdings" panose="05000000000000000000" pitchFamily="2" charset="2"/>
              </a:rPr>
              <a:t>现象的解释</a:t>
            </a:r>
          </a:p>
          <a:p>
            <a:pPr algn="l"/>
            <a:r>
              <a:rPr lang="zh-CN" altLang="en-US" sz="3200" b="1" noProof="1">
                <a:solidFill>
                  <a:srgbClr val="0000FF"/>
                </a:solidFill>
                <a:latin typeface="黑体" panose="02010609060101010101" pitchFamily="49" charset="-122"/>
                <a:ea typeface="黑体" panose="02010609060101010101" pitchFamily="49" charset="-122"/>
                <a:sym typeface="Wingdings" panose="05000000000000000000" pitchFamily="2" charset="2"/>
              </a:rPr>
              <a:t>  三</a:t>
            </a:r>
            <a:r>
              <a:rPr lang="en-US" altLang="en-US" sz="3200" b="1" dirty="0">
                <a:solidFill>
                  <a:srgbClr val="0000FF"/>
                </a:solidFill>
                <a:latin typeface="黑体" panose="02010609060101010101" pitchFamily="49" charset="-122"/>
                <a:ea typeface="黑体" panose="02010609060101010101" pitchFamily="49" charset="-122"/>
                <a:sym typeface="Wingdings" panose="05000000000000000000" pitchFamily="2" charset="2"/>
              </a:rPr>
              <a:t>、</a:t>
            </a:r>
            <a:r>
              <a:rPr lang="en-US" altLang="zh-CN" sz="3200" b="1" dirty="0">
                <a:solidFill>
                  <a:srgbClr val="0000FF"/>
                </a:solidFill>
                <a:latin typeface="黑体" panose="02010609060101010101" pitchFamily="49" charset="-122"/>
                <a:ea typeface="黑体" panose="02010609060101010101" pitchFamily="49" charset="-122"/>
                <a:sym typeface="Wingdings" panose="05000000000000000000" pitchFamily="2" charset="2"/>
              </a:rPr>
              <a:t>独立分配规律的验证</a:t>
            </a:r>
          </a:p>
          <a:p>
            <a:pPr algn="l"/>
            <a:r>
              <a:rPr lang="zh-CN" altLang="en-US" sz="3200" b="1" noProof="1">
                <a:solidFill>
                  <a:srgbClr val="0000FF"/>
                </a:solidFill>
                <a:latin typeface="黑体" panose="02010609060101010101" pitchFamily="49" charset="-122"/>
                <a:ea typeface="黑体" panose="02010609060101010101" pitchFamily="49" charset="-122"/>
                <a:sym typeface="Wingdings" panose="05000000000000000000" pitchFamily="2" charset="2"/>
              </a:rPr>
              <a:t>  四</a:t>
            </a:r>
            <a:r>
              <a:rPr lang="en-US" altLang="en-US" sz="3200" b="1" dirty="0">
                <a:solidFill>
                  <a:srgbClr val="0000FF"/>
                </a:solidFill>
                <a:latin typeface="黑体" panose="02010609060101010101" pitchFamily="49" charset="-122"/>
                <a:ea typeface="黑体" panose="02010609060101010101" pitchFamily="49" charset="-122"/>
                <a:sym typeface="Wingdings" panose="05000000000000000000" pitchFamily="2" charset="2"/>
              </a:rPr>
              <a:t>、</a:t>
            </a:r>
            <a:r>
              <a:rPr lang="zh-CN" altLang="en-US" sz="3200" b="1" noProof="1">
                <a:solidFill>
                  <a:srgbClr val="0000FF"/>
                </a:solidFill>
                <a:latin typeface="黑体" panose="02010609060101010101" pitchFamily="49" charset="-122"/>
                <a:ea typeface="黑体" panose="02010609060101010101" pitchFamily="49" charset="-122"/>
                <a:sym typeface="Wingdings" panose="05000000000000000000" pitchFamily="2" charset="2"/>
              </a:rPr>
              <a:t>多对</a:t>
            </a:r>
            <a:r>
              <a:rPr lang="en-US" altLang="en-US" sz="32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相对性状</a:t>
            </a:r>
            <a:r>
              <a:rPr lang="zh-CN" altLang="en-US" sz="3200" b="1" noProof="1">
                <a:solidFill>
                  <a:srgbClr val="0000FF"/>
                </a:solidFill>
                <a:latin typeface="黑体" panose="02010609060101010101" pitchFamily="49" charset="-122"/>
                <a:ea typeface="黑体" panose="02010609060101010101" pitchFamily="49" charset="-122"/>
                <a:sym typeface="Wingdings" panose="05000000000000000000" pitchFamily="2" charset="2"/>
              </a:rPr>
              <a:t>的遗传</a:t>
            </a:r>
          </a:p>
          <a:p>
            <a:pPr algn="l"/>
            <a:r>
              <a:rPr lang="zh-CN" altLang="en-US" sz="3200" b="1" dirty="0">
                <a:solidFill>
                  <a:srgbClr val="0000FF"/>
                </a:solidFill>
                <a:latin typeface="黑体" panose="02010609060101010101" pitchFamily="49" charset="-122"/>
                <a:ea typeface="黑体" panose="02010609060101010101" pitchFamily="49" charset="-122"/>
                <a:sym typeface="Wingdings" panose="05000000000000000000" pitchFamily="2" charset="2"/>
              </a:rPr>
              <a:t>  五、独立分配规律的意义</a:t>
            </a:r>
            <a:endParaRPr lang="en-US" altLang="zh-CN" sz="3200" b="1" dirty="0">
              <a:solidFill>
                <a:srgbClr val="0000FF"/>
              </a:solidFill>
              <a:latin typeface="黑体" panose="02010609060101010101" pitchFamily="49" charset="-122"/>
              <a:ea typeface="黑体" panose="02010609060101010101" pitchFamily="49"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366594"/>
                                        </p:tgtEl>
                                        <p:attrNameLst>
                                          <p:attrName>style.visibility</p:attrName>
                                        </p:attrNameLst>
                                      </p:cBhvr>
                                      <p:to>
                                        <p:strVal val="visible"/>
                                      </p:to>
                                    </p:set>
                                    <p:animEffect transition="in" filter="barn(outVertical)">
                                      <p:cBhvr>
                                        <p:cTn id="7" dur="500"/>
                                        <p:tgtEl>
                                          <p:spTgt spid="366594"/>
                                        </p:tgtEl>
                                      </p:cBhvr>
                                    </p:animEffect>
                                  </p:childTnLst>
                                  <p:subTnLst>
                                    <p:audio>
                                      <p:cMediaNode>
                                        <p:cTn display="0" masterRel="sameClick">
                                          <p:stCondLst>
                                            <p:cond evt="begin" delay="0">
                                              <p:tn val="5"/>
                                            </p:cond>
                                          </p:stCondLst>
                                          <p:endCondLst>
                                            <p:cond evt="onStopAudio" delay="0">
                                              <p:tgtEl>
                                                <p:sldTgt/>
                                              </p:tgtEl>
                                            </p:cond>
                                          </p:endCondLst>
                                        </p:cTn>
                                        <p:tgtEl>
                                          <p:sndTgt r:embed="rId2" name="ZR530.WAV"/>
                                        </p:tgtEl>
                                      </p:cMediaNode>
                                    </p:audio>
                                  </p:subTnLst>
                                </p:cTn>
                              </p:par>
                            </p:childTnLst>
                          </p:cTn>
                        </p:par>
                        <p:par>
                          <p:cTn id="8" fill="hold" nodeType="afterGroup">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366595">
                                            <p:txEl>
                                              <p:pRg st="0" end="0"/>
                                            </p:txEl>
                                          </p:spTgt>
                                        </p:tgtEl>
                                        <p:attrNameLst>
                                          <p:attrName>style.visibility</p:attrName>
                                        </p:attrNameLst>
                                      </p:cBhvr>
                                      <p:to>
                                        <p:strVal val="visible"/>
                                      </p:to>
                                    </p:set>
                                    <p:anim calcmode="lin" valueType="num">
                                      <p:cBhvr additive="base">
                                        <p:cTn id="11" dur="500" fill="hold"/>
                                        <p:tgtEl>
                                          <p:spTgt spid="36659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6595">
                                            <p:txEl>
                                              <p:pRg st="0" end="0"/>
                                            </p:txEl>
                                          </p:spTgt>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66595">
                                            <p:txEl>
                                              <p:pRg st="1" end="1"/>
                                            </p:txEl>
                                          </p:spTgt>
                                        </p:tgtEl>
                                        <p:attrNameLst>
                                          <p:attrName>style.visibility</p:attrName>
                                        </p:attrNameLst>
                                      </p:cBhvr>
                                      <p:to>
                                        <p:strVal val="visible"/>
                                      </p:to>
                                    </p:set>
                                    <p:anim calcmode="lin" valueType="num">
                                      <p:cBhvr additive="base">
                                        <p:cTn id="16" dur="500" fill="hold"/>
                                        <p:tgtEl>
                                          <p:spTgt spid="366595">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66595">
                                            <p:txEl>
                                              <p:pRg st="1" end="1"/>
                                            </p:txEl>
                                          </p:spTgt>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366595">
                                            <p:txEl>
                                              <p:pRg st="2" end="2"/>
                                            </p:txEl>
                                          </p:spTgt>
                                        </p:tgtEl>
                                        <p:attrNameLst>
                                          <p:attrName>style.visibility</p:attrName>
                                        </p:attrNameLst>
                                      </p:cBhvr>
                                      <p:to>
                                        <p:strVal val="visible"/>
                                      </p:to>
                                    </p:set>
                                    <p:anim calcmode="lin" valueType="num">
                                      <p:cBhvr additive="base">
                                        <p:cTn id="21" dur="500" fill="hold"/>
                                        <p:tgtEl>
                                          <p:spTgt spid="366595">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6595">
                                            <p:txEl>
                                              <p:pRg st="2" end="2"/>
                                            </p:txEl>
                                          </p:spTgt>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366595">
                                            <p:txEl>
                                              <p:pRg st="3" end="3"/>
                                            </p:txEl>
                                          </p:spTgt>
                                        </p:tgtEl>
                                        <p:attrNameLst>
                                          <p:attrName>style.visibility</p:attrName>
                                        </p:attrNameLst>
                                      </p:cBhvr>
                                      <p:to>
                                        <p:strVal val="visible"/>
                                      </p:to>
                                    </p:set>
                                    <p:anim calcmode="lin" valueType="num">
                                      <p:cBhvr additive="base">
                                        <p:cTn id="26" dur="500" fill="hold"/>
                                        <p:tgtEl>
                                          <p:spTgt spid="366595">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66595">
                                            <p:txEl>
                                              <p:pRg st="3" end="3"/>
                                            </p:txEl>
                                          </p:spTgt>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366595">
                                            <p:txEl>
                                              <p:pRg st="4" end="4"/>
                                            </p:txEl>
                                          </p:spTgt>
                                        </p:tgtEl>
                                        <p:attrNameLst>
                                          <p:attrName>style.visibility</p:attrName>
                                        </p:attrNameLst>
                                      </p:cBhvr>
                                      <p:to>
                                        <p:strVal val="visible"/>
                                      </p:to>
                                    </p:set>
                                    <p:anim calcmode="lin" valueType="num">
                                      <p:cBhvr additive="base">
                                        <p:cTn id="31" dur="500" fill="hold"/>
                                        <p:tgtEl>
                                          <p:spTgt spid="36659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6595">
                                            <p:txEl>
                                              <p:pRg st="4" end="4"/>
                                            </p:txEl>
                                          </p:spTgt>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366595">
                                            <p:txEl>
                                              <p:pRg st="5" end="5"/>
                                            </p:txEl>
                                          </p:spTgt>
                                        </p:tgtEl>
                                        <p:attrNameLst>
                                          <p:attrName>style.visibility</p:attrName>
                                        </p:attrNameLst>
                                      </p:cBhvr>
                                      <p:to>
                                        <p:strVal val="visible"/>
                                      </p:to>
                                    </p:set>
                                    <p:anim calcmode="lin" valueType="num">
                                      <p:cBhvr additive="base">
                                        <p:cTn id="36" dur="500" fill="hold"/>
                                        <p:tgtEl>
                                          <p:spTgt spid="366595">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66595">
                                            <p:txEl>
                                              <p:pRg st="5" end="5"/>
                                            </p:txEl>
                                          </p:spTgt>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 presetClass="entr" presetSubtype="4" fill="hold" grpId="0" nodeType="afterEffect">
                                  <p:stCondLst>
                                    <p:cond delay="0"/>
                                  </p:stCondLst>
                                  <p:childTnLst>
                                    <p:set>
                                      <p:cBhvr>
                                        <p:cTn id="40" dur="1" fill="hold">
                                          <p:stCondLst>
                                            <p:cond delay="0"/>
                                          </p:stCondLst>
                                        </p:cTn>
                                        <p:tgtEl>
                                          <p:spTgt spid="366595">
                                            <p:txEl>
                                              <p:pRg st="6" end="6"/>
                                            </p:txEl>
                                          </p:spTgt>
                                        </p:tgtEl>
                                        <p:attrNameLst>
                                          <p:attrName>style.visibility</p:attrName>
                                        </p:attrNameLst>
                                      </p:cBhvr>
                                      <p:to>
                                        <p:strVal val="visible"/>
                                      </p:to>
                                    </p:set>
                                    <p:anim calcmode="lin" valueType="num">
                                      <p:cBhvr additive="base">
                                        <p:cTn id="41" dur="500" fill="hold"/>
                                        <p:tgtEl>
                                          <p:spTgt spid="366595">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6659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4" grpId="0" autoUpdateAnimBg="0"/>
      <p:bldP spid="366595" grpId="0" build="p" autoUpdateAnimBg="0"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5" name="Picture 7"/>
          <p:cNvPicPr>
            <a:picLocks noChangeAspect="1"/>
          </p:cNvPicPr>
          <p:nvPr/>
        </p:nvPicPr>
        <p:blipFill>
          <a:blip r:embed="rId2"/>
          <a:stretch>
            <a:fillRect/>
          </a:stretch>
        </p:blipFill>
        <p:spPr>
          <a:xfrm>
            <a:off x="1491654" y="834737"/>
            <a:ext cx="9716692" cy="5188525"/>
          </a:xfrm>
          <a:prstGeom prst="rect">
            <a:avLst/>
          </a:prstGeom>
          <a:noFill/>
          <a:ln w="9525">
            <a:noFill/>
          </a:ln>
        </p:spPr>
      </p:pic>
      <p:sp>
        <p:nvSpPr>
          <p:cNvPr id="2" name="Rectangle 2">
            <a:extLst>
              <a:ext uri="{FF2B5EF4-FFF2-40B4-BE49-F238E27FC236}">
                <a16:creationId xmlns:a16="http://schemas.microsoft.com/office/drawing/2014/main" id="{E4A51987-8CEF-238F-F3E8-135808E05DAC}"/>
              </a:ext>
            </a:extLst>
          </p:cNvPr>
          <p:cNvSpPr txBox="1">
            <a:spLocks noChangeArrowheads="1"/>
          </p:cNvSpPr>
          <p:nvPr/>
        </p:nvSpPr>
        <p:spPr>
          <a:xfrm>
            <a:off x="508000" y="320321"/>
            <a:ext cx="11684000" cy="762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solidFill>
                  <a:srgbClr val="0000FF"/>
                </a:solidFill>
                <a:latin typeface="黑体" panose="02010609060101010101" pitchFamily="49" charset="-122"/>
                <a:ea typeface="黑体" panose="02010609060101010101" pitchFamily="49" charset="-122"/>
                <a:sym typeface="Wingdings" panose="05000000000000000000" pitchFamily="2" charset="2"/>
              </a:rPr>
              <a:t>一、</a:t>
            </a:r>
            <a:r>
              <a:rPr lang="zh-CN" altLang="en-US" sz="4000" b="1" noProof="1">
                <a:solidFill>
                  <a:srgbClr val="0000FF"/>
                </a:solidFill>
                <a:latin typeface="黑体" panose="02010609060101010101" pitchFamily="49" charset="-122"/>
                <a:ea typeface="黑体" panose="02010609060101010101" pitchFamily="49" charset="-122"/>
                <a:sym typeface="Wingdings" panose="05000000000000000000" pitchFamily="2" charset="2"/>
              </a:rPr>
              <a:t>两对相对性状的</a:t>
            </a:r>
            <a:r>
              <a:rPr lang="en-US" altLang="en-US" sz="40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遗传</a:t>
            </a:r>
            <a:endParaRPr lang="en-US" altLang="zh-CN" sz="4000" b="1" dirty="0">
              <a:solidFill>
                <a:srgbClr val="0000FF"/>
              </a:solidFill>
              <a:latin typeface="黑体" panose="02010609060101010101" pitchFamily="49" charset="-122"/>
              <a:ea typeface="黑体" panose="02010609060101010101" pitchFamily="49"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nodePh="1">
                                  <p:stCondLst>
                                    <p:cond delay="0"/>
                                  </p:stCondLst>
                                  <p:endCondLst>
                                    <p:cond delay="0"/>
                                  </p:endCondLst>
                                  <p:childTnLst>
                                    <p:set>
                                      <p:cBhvr>
                                        <p:cTn id="6" dur="1" fill="hold">
                                          <p:stCondLst>
                                            <p:cond delay="0"/>
                                          </p:stCondLst>
                                        </p:cTn>
                                        <p:tgtEl>
                                          <p:spTgt spid="22535"/>
                                        </p:tgtEl>
                                        <p:attrNameLst>
                                          <p:attrName>style.visibility</p:attrName>
                                        </p:attrNameLst>
                                      </p:cBhvr>
                                      <p:to>
                                        <p:strVal val="visible"/>
                                      </p:to>
                                    </p:set>
                                    <p:animEffect transition="in" filter="wipe(up)">
                                      <p:cBhvr>
                                        <p:cTn id="7" dur="500"/>
                                        <p:tgtEl>
                                          <p:spTgt spid="22535"/>
                                        </p:tgtEl>
                                      </p:cBhvr>
                                    </p:animEffect>
                                  </p:childTnLst>
                                </p:cTn>
                              </p:par>
                            </p:childTnLst>
                          </p:cTn>
                        </p:par>
                        <p:par>
                          <p:cTn id="8" fill="hold">
                            <p:stCondLst>
                              <p:cond delay="500"/>
                            </p:stCondLst>
                            <p:childTnLst>
                              <p:par>
                                <p:cTn id="9" presetID="17"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ppt_w/2"/>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p:bldP spid="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图3-2-1">
            <a:extLst>
              <a:ext uri="{FF2B5EF4-FFF2-40B4-BE49-F238E27FC236}">
                <a16:creationId xmlns:a16="http://schemas.microsoft.com/office/drawing/2014/main" id="{DC0A5AD3-151E-D6F2-5BFE-1A036A56B9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495" r="24287"/>
          <a:stretch>
            <a:fillRect/>
          </a:stretch>
        </p:blipFill>
        <p:spPr>
          <a:xfrm>
            <a:off x="6096000" y="99838"/>
            <a:ext cx="6266007" cy="6658324"/>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5" name="Rectangle 2"/>
          <p:cNvSpPr>
            <a:spLocks noGrp="1"/>
          </p:cNvSpPr>
          <p:nvPr>
            <p:ph type="title"/>
          </p:nvPr>
        </p:nvSpPr>
        <p:spPr>
          <a:xfrm>
            <a:off x="386196" y="99838"/>
            <a:ext cx="7543800" cy="609600"/>
          </a:xfrm>
        </p:spPr>
        <p:txBody>
          <a:bodyPr>
            <a:noAutofit/>
          </a:bodyPr>
          <a:lstStyle/>
          <a:p>
            <a:r>
              <a:rPr lang="" altLang="en-US" sz="4000" b="1" dirty="0">
                <a:solidFill>
                  <a:srgbClr val="0000FF"/>
                </a:solidFill>
                <a:latin typeface="黑体" panose="02010609060101010101" pitchFamily="49" charset="-122"/>
                <a:ea typeface="黑体" panose="02010609060101010101" pitchFamily="49" charset="-122"/>
                <a:sym typeface="Wingdings" panose="05000000000000000000" pitchFamily="2" charset="2"/>
              </a:rPr>
              <a:t>二</a:t>
            </a:r>
            <a:r>
              <a:rPr lang="en-US" altLang="en-US" sz="4000" b="1" dirty="0">
                <a:solidFill>
                  <a:srgbClr val="0000FF"/>
                </a:solidFill>
                <a:latin typeface="黑体" panose="02010609060101010101" pitchFamily="49" charset="-122"/>
                <a:ea typeface="黑体" panose="02010609060101010101" pitchFamily="49" charset="-122"/>
                <a:sym typeface="Wingdings" panose="05000000000000000000" pitchFamily="2" charset="2"/>
              </a:rPr>
              <a:t>、</a:t>
            </a:r>
            <a:r>
              <a:rPr lang="zh-CN" altLang="en-US" sz="4000" b="1" dirty="0">
                <a:solidFill>
                  <a:srgbClr val="0000FF"/>
                </a:solidFill>
                <a:latin typeface="黑体" panose="02010609060101010101" pitchFamily="49" charset="-122"/>
                <a:ea typeface="黑体" panose="02010609060101010101" pitchFamily="49" charset="-122"/>
              </a:rPr>
              <a:t>自由组合</a:t>
            </a:r>
            <a:r>
              <a:rPr lang="zh-CN" altLang="en-US" sz="4000" b="1" dirty="0">
                <a:solidFill>
                  <a:srgbClr val="0000FF"/>
                </a:solidFill>
                <a:latin typeface="黑体" panose="02010609060101010101" pitchFamily="49" charset="-122"/>
                <a:ea typeface="黑体" panose="02010609060101010101" pitchFamily="49" charset="-122"/>
                <a:sym typeface="Wingdings" panose="05000000000000000000" pitchFamily="2" charset="2"/>
              </a:rPr>
              <a:t>现象的解释</a:t>
            </a:r>
          </a:p>
        </p:txBody>
      </p:sp>
      <p:sp>
        <p:nvSpPr>
          <p:cNvPr id="31746" name="Rectangle 3"/>
          <p:cNvSpPr>
            <a:spLocks noGrp="1"/>
          </p:cNvSpPr>
          <p:nvPr>
            <p:ph idx="1"/>
          </p:nvPr>
        </p:nvSpPr>
        <p:spPr>
          <a:xfrm>
            <a:off x="386196" y="1205346"/>
            <a:ext cx="5709804" cy="4682836"/>
          </a:xfrm>
          <a:noFill/>
          <a:ln>
            <a:noFill/>
          </a:ln>
        </p:spPr>
        <p:txBody>
          <a:bodyPr anchor="t" anchorCtr="0">
            <a:noAutofit/>
          </a:bodyPr>
          <a:lstStyle/>
          <a:p>
            <a:pPr marL="0" indent="0">
              <a:lnSpc>
                <a:spcPct val="120000"/>
              </a:lnSpc>
              <a:buNone/>
            </a:pPr>
            <a:r>
              <a:rPr lang="zh-CN" altLang="en-US" b="1" dirty="0">
                <a:latin typeface="黑体" panose="02010609060101010101" pitchFamily="49" charset="-122"/>
                <a:ea typeface="黑体" panose="02010609060101010101" pitchFamily="49" charset="-122"/>
              </a:rPr>
              <a:t>1.</a:t>
            </a:r>
            <a:r>
              <a:rPr lang="zh-CN" altLang="en-US" b="1" dirty="0">
                <a:solidFill>
                  <a:srgbClr val="000000"/>
                </a:solidFill>
                <a:latin typeface="黑体" panose="02010609060101010101" pitchFamily="49" charset="-122"/>
                <a:ea typeface="黑体" panose="02010609060101010101" pitchFamily="49" charset="-122"/>
              </a:rPr>
              <a:t>控制不同性状的遗传因子相互独立，在形成配子时遗传因子</a:t>
            </a:r>
            <a:r>
              <a:rPr lang="zh-CN" altLang="en-US" b="1" dirty="0">
                <a:latin typeface="黑体" panose="02010609060101010101" pitchFamily="49" charset="-122"/>
                <a:ea typeface="黑体" panose="02010609060101010101" pitchFamily="49" charset="-122"/>
              </a:rPr>
              <a:t>的分离和组合是完全自由、随机的，互不干扰；</a:t>
            </a:r>
          </a:p>
          <a:p>
            <a:pPr marL="0" indent="0">
              <a:lnSpc>
                <a:spcPct val="120000"/>
              </a:lnSpc>
              <a:buNone/>
            </a:pPr>
            <a:r>
              <a:rPr lang="zh-CN" altLang="en-US" b="1" dirty="0">
                <a:latin typeface="黑体" panose="02010609060101010101" pitchFamily="49" charset="-122"/>
                <a:ea typeface="黑体" panose="02010609060101010101" pitchFamily="49" charset="-122"/>
              </a:rPr>
              <a:t>2.配子在形成合子时，雌雄配子的结合也是独立的、自由的、随机的。</a:t>
            </a:r>
          </a:p>
          <a:p>
            <a:pPr marL="0" indent="0">
              <a:lnSpc>
                <a:spcPct val="120000"/>
              </a:lnSpc>
              <a:buNone/>
            </a:pPr>
            <a:r>
              <a:rPr lang="zh-CN" altLang="en-US" b="1" dirty="0">
                <a:latin typeface="黑体" panose="02010609060101010101" pitchFamily="49" charset="-122"/>
                <a:ea typeface="黑体" panose="02010609060101010101" pitchFamily="49" charset="-122"/>
              </a:rPr>
              <a:t>  </a:t>
            </a:r>
            <a:endParaRPr lang="en-US" altLang="zh-CN" b="1" dirty="0">
              <a:latin typeface="黑体" panose="02010609060101010101" pitchFamily="49" charset="-122"/>
              <a:ea typeface="黑体" panose="02010609060101010101" pitchFamily="49" charset="-122"/>
              <a:sym typeface="Wingdings" panose="05000000000000000000" pitchFamily="2" charset="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a:extLst>
              <a:ext uri="{FF2B5EF4-FFF2-40B4-BE49-F238E27FC236}">
                <a16:creationId xmlns:a16="http://schemas.microsoft.com/office/drawing/2014/main" id="{BB59A4A8-CF36-4DE5-B3F6-5C59FB209596}"/>
              </a:ext>
            </a:extLst>
          </p:cNvPr>
          <p:cNvSpPr>
            <a:spLocks noGrp="1" noChangeArrowheads="1"/>
          </p:cNvSpPr>
          <p:nvPr>
            <p:ph type="ctrTitle"/>
          </p:nvPr>
        </p:nvSpPr>
        <p:spPr>
          <a:xfrm>
            <a:off x="-993851" y="429444"/>
            <a:ext cx="9144000" cy="914545"/>
          </a:xfrm>
        </p:spPr>
        <p:txBody>
          <a:bodyPr>
            <a:normAutofit/>
          </a:bodyPr>
          <a:lstStyle/>
          <a:p>
            <a:r>
              <a:rPr lang="en-US" altLang="en-US" sz="4000" b="1" dirty="0">
                <a:solidFill>
                  <a:srgbClr val="0000FF"/>
                </a:solidFill>
                <a:latin typeface="黑体" panose="02010609060101010101" pitchFamily="49" charset="-122"/>
                <a:ea typeface="黑体" panose="02010609060101010101" pitchFamily="49" charset="-122"/>
                <a:sym typeface="Wingdings" panose="05000000000000000000" pitchFamily="2" charset="2"/>
              </a:rPr>
              <a:t>三</a:t>
            </a:r>
            <a:r>
              <a:rPr lang="zh-CN" altLang="en-US" sz="4000" b="1" dirty="0">
                <a:solidFill>
                  <a:srgbClr val="0000FF"/>
                </a:solidFill>
                <a:latin typeface="黑体" panose="02010609060101010101" pitchFamily="49" charset="-122"/>
                <a:ea typeface="黑体" panose="02010609060101010101" pitchFamily="49" charset="-122"/>
                <a:sym typeface="Wingdings" panose="05000000000000000000" pitchFamily="2" charset="2"/>
              </a:rPr>
              <a:t>、</a:t>
            </a:r>
            <a:r>
              <a:rPr lang="en-US" altLang="zh-CN" sz="4000" b="1" dirty="0">
                <a:solidFill>
                  <a:srgbClr val="0000FF"/>
                </a:solidFill>
                <a:latin typeface="黑体" panose="02010609060101010101" pitchFamily="49" charset="-122"/>
                <a:ea typeface="黑体" panose="02010609060101010101" pitchFamily="49" charset="-122"/>
                <a:sym typeface="Wingdings" panose="05000000000000000000" pitchFamily="2" charset="2"/>
              </a:rPr>
              <a:t>独立分配规律的验证</a:t>
            </a:r>
          </a:p>
        </p:txBody>
      </p:sp>
      <p:sp>
        <p:nvSpPr>
          <p:cNvPr id="376835" name="Rectangle 3">
            <a:extLst>
              <a:ext uri="{FF2B5EF4-FFF2-40B4-BE49-F238E27FC236}">
                <a16:creationId xmlns:a16="http://schemas.microsoft.com/office/drawing/2014/main" id="{53631394-9C9B-40EA-8612-488DC38D166A}"/>
              </a:ext>
            </a:extLst>
          </p:cNvPr>
          <p:cNvSpPr>
            <a:spLocks noGrp="1" noChangeArrowheads="1"/>
          </p:cNvSpPr>
          <p:nvPr>
            <p:ph type="subTitle" idx="1"/>
          </p:nvPr>
        </p:nvSpPr>
        <p:spPr>
          <a:xfrm>
            <a:off x="491489" y="1930256"/>
            <a:ext cx="6925311" cy="1655762"/>
          </a:xfrm>
        </p:spPr>
        <p:txBody>
          <a:bodyPr>
            <a:normAutofit lnSpcReduction="10000"/>
          </a:bodyPr>
          <a:lstStyle/>
          <a:p>
            <a:pPr>
              <a:lnSpc>
                <a:spcPct val="150000"/>
              </a:lnSpc>
            </a:pPr>
            <a:r>
              <a:rPr lang="en-US" altLang="zh-CN" sz="3600" b="1" dirty="0">
                <a:latin typeface="黑体" panose="02010609060101010101" pitchFamily="49" charset="-122"/>
                <a:ea typeface="黑体" panose="02010609060101010101" pitchFamily="49" charset="-122"/>
                <a:sym typeface="Wingdings" panose="05000000000000000000" pitchFamily="2" charset="2"/>
              </a:rPr>
              <a:t>(一) </a:t>
            </a:r>
            <a:r>
              <a:rPr lang="en-US" altLang="zh-CN" sz="3600" b="1" dirty="0" err="1">
                <a:latin typeface="黑体" panose="02010609060101010101" pitchFamily="49" charset="-122"/>
                <a:ea typeface="黑体" panose="02010609060101010101" pitchFamily="49" charset="-122"/>
                <a:sym typeface="Wingdings" panose="05000000000000000000" pitchFamily="2" charset="2"/>
              </a:rPr>
              <a:t>测交法</a:t>
            </a:r>
            <a:endParaRPr lang="en-US" altLang="zh-CN" sz="3600" b="1" dirty="0">
              <a:latin typeface="黑体" panose="02010609060101010101" pitchFamily="49" charset="-122"/>
              <a:ea typeface="黑体" panose="02010609060101010101" pitchFamily="49" charset="-122"/>
              <a:sym typeface="Wingdings" panose="05000000000000000000" pitchFamily="2" charset="2"/>
            </a:endParaRPr>
          </a:p>
          <a:p>
            <a:pPr>
              <a:lnSpc>
                <a:spcPct val="150000"/>
              </a:lnSpc>
            </a:pPr>
            <a:r>
              <a:rPr lang="en-US" altLang="zh-CN" sz="3600" b="1" dirty="0">
                <a:latin typeface="黑体" panose="02010609060101010101" pitchFamily="49" charset="-122"/>
                <a:ea typeface="黑体" panose="02010609060101010101" pitchFamily="49" charset="-122"/>
                <a:sym typeface="Wingdings" panose="05000000000000000000" pitchFamily="2" charset="2"/>
              </a:rPr>
              <a:t>(二) </a:t>
            </a:r>
            <a:r>
              <a:rPr lang="en-US" altLang="zh-CN" sz="3600" b="1" dirty="0" err="1">
                <a:latin typeface="黑体" panose="02010609060101010101" pitchFamily="49" charset="-122"/>
                <a:ea typeface="黑体" panose="02010609060101010101" pitchFamily="49" charset="-122"/>
                <a:sym typeface="Wingdings" panose="05000000000000000000" pitchFamily="2" charset="2"/>
              </a:rPr>
              <a:t>自交法</a:t>
            </a:r>
            <a:endParaRPr lang="en-US" altLang="zh-CN" sz="3600" b="1" dirty="0">
              <a:latin typeface="黑体" panose="02010609060101010101" pitchFamily="49" charset="-122"/>
              <a:ea typeface="黑体" panose="02010609060101010101" pitchFamily="49"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6835">
                                            <p:txEl>
                                              <p:pRg st="0" end="0"/>
                                            </p:txEl>
                                          </p:spTgt>
                                        </p:tgtEl>
                                        <p:attrNameLst>
                                          <p:attrName>style.visibility</p:attrName>
                                        </p:attrNameLst>
                                      </p:cBhvr>
                                      <p:to>
                                        <p:strVal val="visible"/>
                                      </p:to>
                                    </p:set>
                                    <p:animEffect transition="in" filter="fade">
                                      <p:cBhvr>
                                        <p:cTn id="7" dur="500"/>
                                        <p:tgtEl>
                                          <p:spTgt spid="376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76835">
                                            <p:txEl>
                                              <p:pRg st="1" end="1"/>
                                            </p:txEl>
                                          </p:spTgt>
                                        </p:tgtEl>
                                        <p:attrNameLst>
                                          <p:attrName>style.visibility</p:attrName>
                                        </p:attrNameLst>
                                      </p:cBhvr>
                                      <p:to>
                                        <p:strVal val="visible"/>
                                      </p:to>
                                    </p:set>
                                    <p:animEffect transition="in" filter="fade">
                                      <p:cBhvr>
                                        <p:cTn id="12" dur="500"/>
                                        <p:tgtEl>
                                          <p:spTgt spid="3768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B54A81B6-011A-4658-9F0B-6179D1E18460}"/>
              </a:ext>
            </a:extLst>
          </p:cNvPr>
          <p:cNvSpPr>
            <a:spLocks noGrp="1" noChangeArrowheads="1"/>
          </p:cNvSpPr>
          <p:nvPr>
            <p:ph idx="1"/>
          </p:nvPr>
        </p:nvSpPr>
        <p:spPr bwMode="auto">
          <a:xfrm>
            <a:off x="941031" y="985421"/>
            <a:ext cx="10697593" cy="41684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a:lnSpc>
                <a:spcPct val="150000"/>
              </a:lnSpc>
              <a:buNone/>
            </a:pPr>
            <a:r>
              <a:rPr lang="zh-CN" altLang="en-US" sz="3600" dirty="0">
                <a:latin typeface="黑体" panose="02010609060101010101" pitchFamily="49" charset="-122"/>
                <a:ea typeface="黑体" panose="02010609060101010101" pitchFamily="49" charset="-122"/>
              </a:rPr>
              <a:t>     在减数分裂形成配子的过程中，位于不同对染色体上的、控制不同相对性状的等位基因随着同源染色体的分离和非同源染色体的自由组合，在等位基因分离的基础上，非等位基因随机组合在一起进入不同的配子中。</a:t>
            </a:r>
          </a:p>
        </p:txBody>
      </p:sp>
      <p:sp>
        <p:nvSpPr>
          <p:cNvPr id="36867" name="Text Box 4">
            <a:extLst>
              <a:ext uri="{FF2B5EF4-FFF2-40B4-BE49-F238E27FC236}">
                <a16:creationId xmlns:a16="http://schemas.microsoft.com/office/drawing/2014/main" id="{B2032E3A-A559-44AB-8360-E55EB2ECC151}"/>
              </a:ext>
            </a:extLst>
          </p:cNvPr>
          <p:cNvSpPr txBox="1">
            <a:spLocks noChangeArrowheads="1"/>
          </p:cNvSpPr>
          <p:nvPr/>
        </p:nvSpPr>
        <p:spPr bwMode="auto">
          <a:xfrm>
            <a:off x="-405414" y="344071"/>
            <a:ext cx="6781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spcBef>
                <a:spcPct val="50000"/>
              </a:spcBef>
            </a:pPr>
            <a:r>
              <a:rPr lang="zh-CN" altLang="en-US" sz="3600" dirty="0">
                <a:solidFill>
                  <a:srgbClr val="FF0000"/>
                </a:solidFill>
              </a:rPr>
              <a:t>自由组合规律的实质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371A608-EB5A-43F7-B02B-A40F815DDD61}"/>
              </a:ext>
            </a:extLst>
          </p:cNvPr>
          <p:cNvSpPr>
            <a:spLocks noGrp="1" noChangeArrowheads="1"/>
          </p:cNvSpPr>
          <p:nvPr>
            <p:ph type="title"/>
          </p:nvPr>
        </p:nvSpPr>
        <p:spPr bwMode="auto">
          <a:xfrm>
            <a:off x="685800" y="114301"/>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eaLnBrk="1" hangingPunct="1"/>
            <a:r>
              <a:rPr lang="zh-CN" altLang="en-US" sz="3600" b="1" noProof="1">
                <a:solidFill>
                  <a:srgbClr val="0000FF"/>
                </a:solidFill>
                <a:latin typeface="黑体" panose="02010609060101010101" pitchFamily="49" charset="-122"/>
                <a:ea typeface="黑体" panose="02010609060101010101" pitchFamily="49" charset="-122"/>
                <a:sym typeface="Wingdings" panose="05000000000000000000" pitchFamily="2" charset="2"/>
              </a:rPr>
              <a:t>四、多对</a:t>
            </a:r>
            <a:r>
              <a:rPr lang="en-US" altLang="zh-CN" sz="36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相对</a:t>
            </a:r>
            <a:r>
              <a:rPr lang="en-US" altLang="en-US" sz="3600" b="1" dirty="0" err="1">
                <a:solidFill>
                  <a:srgbClr val="0000FF"/>
                </a:solidFill>
                <a:latin typeface="黑体" panose="02010609060101010101" pitchFamily="49" charset="-122"/>
                <a:ea typeface="黑体" panose="02010609060101010101" pitchFamily="49" charset="-122"/>
                <a:sym typeface="Wingdings" panose="05000000000000000000" pitchFamily="2" charset="2"/>
              </a:rPr>
              <a:t>性状</a:t>
            </a:r>
            <a:r>
              <a:rPr lang="zh-CN" altLang="en-US" sz="3600" b="1" noProof="1">
                <a:solidFill>
                  <a:srgbClr val="0000FF"/>
                </a:solidFill>
                <a:latin typeface="黑体" panose="02010609060101010101" pitchFamily="49" charset="-122"/>
                <a:ea typeface="黑体" panose="02010609060101010101" pitchFamily="49" charset="-122"/>
                <a:sym typeface="Wingdings" panose="05000000000000000000" pitchFamily="2" charset="2"/>
              </a:rPr>
              <a:t>的遗传</a:t>
            </a:r>
            <a:endParaRPr lang="zh-CN" altLang="en-US" sz="3600" b="1" dirty="0">
              <a:solidFill>
                <a:srgbClr val="0000FF"/>
              </a:solidFill>
              <a:latin typeface="黑体" panose="02010609060101010101" pitchFamily="49" charset="-122"/>
              <a:ea typeface="黑体" panose="02010609060101010101" pitchFamily="49" charset="-122"/>
              <a:sym typeface="Wingdings" panose="05000000000000000000" pitchFamily="2" charset="2"/>
            </a:endParaRPr>
          </a:p>
        </p:txBody>
      </p:sp>
      <p:sp>
        <p:nvSpPr>
          <p:cNvPr id="73731" name="Text Box 5">
            <a:extLst>
              <a:ext uri="{FF2B5EF4-FFF2-40B4-BE49-F238E27FC236}">
                <a16:creationId xmlns:a16="http://schemas.microsoft.com/office/drawing/2014/main" id="{EC41EE35-23A6-4EF0-B483-9C68C519181C}"/>
              </a:ext>
            </a:extLst>
          </p:cNvPr>
          <p:cNvSpPr txBox="1">
            <a:spLocks noChangeArrowheads="1"/>
          </p:cNvSpPr>
          <p:nvPr/>
        </p:nvSpPr>
        <p:spPr bwMode="auto">
          <a:xfrm>
            <a:off x="2819400" y="609601"/>
            <a:ext cx="7848600" cy="588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800" b="1">
                <a:solidFill>
                  <a:schemeClr val="tx1"/>
                </a:solidFill>
                <a:latin typeface="Arial" panose="020B0604020202020204" pitchFamily="34" charset="0"/>
                <a:ea typeface="黑体" panose="02010609060101010101" pitchFamily="49" charset="-122"/>
              </a:defRPr>
            </a:lvl1pPr>
            <a:lvl2pPr marL="742950" indent="-285750" eaLnBrk="0" hangingPunct="0">
              <a:defRPr sz="2800" b="1">
                <a:solidFill>
                  <a:schemeClr val="tx1"/>
                </a:solidFill>
                <a:latin typeface="Arial" panose="020B0604020202020204" pitchFamily="34" charset="0"/>
                <a:ea typeface="黑体" panose="02010609060101010101" pitchFamily="49" charset="-122"/>
              </a:defRPr>
            </a:lvl2pPr>
            <a:lvl3pPr marL="1143000" indent="-228600" eaLnBrk="0" hangingPunct="0">
              <a:defRPr sz="2800" b="1">
                <a:solidFill>
                  <a:schemeClr val="tx1"/>
                </a:solidFill>
                <a:latin typeface="Arial" panose="020B0604020202020204" pitchFamily="34" charset="0"/>
                <a:ea typeface="黑体" panose="02010609060101010101" pitchFamily="49" charset="-122"/>
              </a:defRPr>
            </a:lvl3pPr>
            <a:lvl4pPr marL="1600200" indent="-228600" eaLnBrk="0" hangingPunct="0">
              <a:defRPr sz="2800" b="1">
                <a:solidFill>
                  <a:schemeClr val="tx1"/>
                </a:solidFill>
                <a:latin typeface="Arial" panose="020B0604020202020204" pitchFamily="34" charset="0"/>
                <a:ea typeface="黑体" panose="02010609060101010101" pitchFamily="49" charset="-122"/>
              </a:defRPr>
            </a:lvl4pPr>
            <a:lvl5pPr marL="2057400" indent="-228600" eaLnBrk="0" hangingPunct="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spcBef>
                <a:spcPct val="50000"/>
              </a:spcBef>
            </a:pPr>
            <a:r>
              <a:rPr lang="zh-CN" altLang="en-US" sz="2000" dirty="0">
                <a:latin typeface="宋体" panose="02010600030101010101" pitchFamily="2" charset="-122"/>
              </a:rPr>
              <a:t>如3对    黄色圆粒红花 </a:t>
            </a:r>
            <a:r>
              <a:rPr lang="zh-CN" altLang="en-US" sz="2000" dirty="0"/>
              <a:t>×</a:t>
            </a:r>
            <a:r>
              <a:rPr lang="zh-CN" altLang="en-US" sz="2000" dirty="0">
                <a:latin typeface="宋体" panose="02010600030101010101" pitchFamily="2" charset="-122"/>
              </a:rPr>
              <a:t> 绿色皱粒白花</a:t>
            </a:r>
          </a:p>
          <a:p>
            <a:pPr eaLnBrk="1" hangingPunct="1">
              <a:spcBef>
                <a:spcPct val="50000"/>
              </a:spcBef>
            </a:pPr>
            <a:r>
              <a:rPr lang="en-US" altLang="zh-CN" sz="2000">
                <a:latin typeface="宋体" panose="02010600030101010101" pitchFamily="2" charset="-122"/>
              </a:rPr>
              <a:t>P              YYRRCC </a:t>
            </a:r>
            <a:r>
              <a:rPr lang="zh-CN" altLang="en-US" sz="2000" dirty="0">
                <a:latin typeface="宋体" panose="02010600030101010101" pitchFamily="2" charset="-122"/>
              </a:rPr>
              <a:t>×</a:t>
            </a:r>
            <a:r>
              <a:rPr lang="en-US" altLang="zh-CN" sz="2000" dirty="0">
                <a:latin typeface="宋体" panose="02010600030101010101" pitchFamily="2" charset="-122"/>
              </a:rPr>
              <a:t> </a:t>
            </a:r>
            <a:r>
              <a:rPr lang="en-US" altLang="zh-CN" sz="2000" dirty="0" err="1">
                <a:latin typeface="宋体" panose="02010600030101010101" pitchFamily="2" charset="-122"/>
              </a:rPr>
              <a:t>yyrrcc</a:t>
            </a:r>
            <a:endParaRPr lang="en-US" altLang="zh-CN" sz="2000" dirty="0">
              <a:latin typeface="宋体" panose="02010600030101010101" pitchFamily="2" charset="-122"/>
            </a:endParaRPr>
          </a:p>
          <a:p>
            <a:pPr eaLnBrk="1" hangingPunct="1">
              <a:spcBef>
                <a:spcPct val="50000"/>
              </a:spcBef>
            </a:pPr>
            <a:r>
              <a:rPr lang="en-US" altLang="zh-CN" sz="2000">
                <a:latin typeface="宋体" panose="02010600030101010101" pitchFamily="2" charset="-122"/>
              </a:rPr>
              <a:t>F</a:t>
            </a:r>
            <a:r>
              <a:rPr lang="en-US" altLang="zh-CN" sz="2000" baseline="-25000">
                <a:latin typeface="宋体" panose="02010600030101010101" pitchFamily="2" charset="-122"/>
              </a:rPr>
              <a:t>1</a:t>
            </a:r>
            <a:r>
              <a:rPr lang="en-US" altLang="zh-CN" sz="2000">
                <a:latin typeface="宋体" panose="02010600030101010101" pitchFamily="2" charset="-122"/>
              </a:rPr>
              <a:t>                  YyRrCc</a:t>
            </a:r>
            <a:endParaRPr lang="en-US" altLang="zh-CN" sz="2000" dirty="0">
              <a:latin typeface="宋体" panose="02010600030101010101" pitchFamily="2" charset="-122"/>
            </a:endParaRPr>
          </a:p>
          <a:p>
            <a:pPr eaLnBrk="1" hangingPunct="1">
              <a:spcBef>
                <a:spcPct val="50000"/>
              </a:spcBef>
            </a:pPr>
            <a:r>
              <a:rPr lang="en-US" altLang="zh-CN" sz="2000" dirty="0">
                <a:latin typeface="宋体" panose="02010600030101010101" pitchFamily="2" charset="-122"/>
              </a:rPr>
              <a:t>F</a:t>
            </a:r>
            <a:r>
              <a:rPr lang="en-US" altLang="zh-CN" sz="2000" baseline="-25000" dirty="0">
                <a:latin typeface="宋体" panose="02010600030101010101" pitchFamily="2" charset="-122"/>
              </a:rPr>
              <a:t>2                   </a:t>
            </a:r>
            <a:r>
              <a:rPr lang="en-US" altLang="zh-CN" sz="2000" dirty="0">
                <a:latin typeface="宋体" panose="02010600030101010101" pitchFamily="2" charset="-122"/>
              </a:rPr>
              <a:t>1/4RR    1/4CC→</a:t>
            </a:r>
            <a:r>
              <a:rPr lang="en-US" altLang="zh-CN" sz="2000">
                <a:latin typeface="宋体" panose="02010600030101010101" pitchFamily="2" charset="-122"/>
              </a:rPr>
              <a:t>2/64 YYRrCC</a:t>
            </a:r>
            <a:endParaRPr lang="en-US" altLang="zh-CN" sz="2000" dirty="0">
              <a:latin typeface="宋体" panose="02010600030101010101" pitchFamily="2" charset="-122"/>
            </a:endParaRPr>
          </a:p>
          <a:p>
            <a:pPr eaLnBrk="1" hangingPunct="1">
              <a:spcBef>
                <a:spcPct val="50000"/>
              </a:spcBef>
            </a:pPr>
            <a:r>
              <a:rPr lang="en-US" altLang="zh-CN" sz="2000">
                <a:latin typeface="宋体" panose="02010600030101010101" pitchFamily="2" charset="-122"/>
              </a:rPr>
              <a:t>       1/4YY  </a:t>
            </a:r>
            <a:r>
              <a:rPr lang="en-US" altLang="zh-CN" sz="2000" dirty="0">
                <a:latin typeface="宋体" panose="02010600030101010101" pitchFamily="2" charset="-122"/>
              </a:rPr>
              <a:t>2/4Rr    2/4Cc→</a:t>
            </a:r>
            <a:r>
              <a:rPr lang="en-US" altLang="zh-CN" sz="2000">
                <a:latin typeface="宋体" panose="02010600030101010101" pitchFamily="2" charset="-122"/>
              </a:rPr>
              <a:t>4/64 YYRrCc</a:t>
            </a:r>
            <a:endParaRPr lang="en-US" altLang="zh-CN" sz="2000" dirty="0">
              <a:latin typeface="宋体" panose="02010600030101010101" pitchFamily="2" charset="-122"/>
            </a:endParaRPr>
          </a:p>
          <a:p>
            <a:pPr eaLnBrk="1" hangingPunct="1">
              <a:spcBef>
                <a:spcPct val="50000"/>
              </a:spcBef>
            </a:pPr>
            <a:r>
              <a:rPr lang="en-US" altLang="zh-CN" sz="2000" dirty="0">
                <a:latin typeface="宋体" panose="02010600030101010101" pitchFamily="2" charset="-122"/>
              </a:rPr>
              <a:t>              1/4rr    1/4cc→</a:t>
            </a:r>
            <a:r>
              <a:rPr lang="en-US" altLang="zh-CN" sz="2000">
                <a:latin typeface="宋体" panose="02010600030101010101" pitchFamily="2" charset="-122"/>
              </a:rPr>
              <a:t>2/64 YYRrcc</a:t>
            </a:r>
            <a:endParaRPr lang="en-US" altLang="zh-CN" sz="2000" dirty="0">
              <a:latin typeface="宋体" panose="02010600030101010101" pitchFamily="2" charset="-122"/>
            </a:endParaRPr>
          </a:p>
          <a:p>
            <a:pPr eaLnBrk="1" hangingPunct="1">
              <a:spcBef>
                <a:spcPct val="50000"/>
              </a:spcBef>
            </a:pPr>
            <a:r>
              <a:rPr lang="en-US" altLang="zh-CN" sz="2000" dirty="0">
                <a:latin typeface="宋体" panose="02010600030101010101" pitchFamily="2" charset="-122"/>
              </a:rPr>
              <a:t>              1/4RR    1/4CC</a:t>
            </a:r>
          </a:p>
          <a:p>
            <a:pPr eaLnBrk="1" hangingPunct="1">
              <a:spcBef>
                <a:spcPct val="50000"/>
              </a:spcBef>
            </a:pPr>
            <a:r>
              <a:rPr lang="zh-CN" altLang="en-US" sz="2000">
                <a:latin typeface="宋体" panose="02010600030101010101" pitchFamily="2" charset="-122"/>
              </a:rPr>
              <a:t>基因   2/4</a:t>
            </a:r>
            <a:r>
              <a:rPr lang="en-US" altLang="zh-CN" sz="2000">
                <a:latin typeface="宋体" panose="02010600030101010101" pitchFamily="2" charset="-122"/>
              </a:rPr>
              <a:t>Yy  </a:t>
            </a:r>
            <a:r>
              <a:rPr lang="en-US" altLang="zh-CN" sz="2000" dirty="0">
                <a:latin typeface="宋体" panose="02010600030101010101" pitchFamily="2" charset="-122"/>
              </a:rPr>
              <a:t>2/4Rr    2/4Cc</a:t>
            </a:r>
          </a:p>
          <a:p>
            <a:pPr eaLnBrk="1" hangingPunct="1">
              <a:spcBef>
                <a:spcPct val="50000"/>
              </a:spcBef>
            </a:pPr>
            <a:r>
              <a:rPr lang="zh-CN" altLang="en-US" sz="2000" dirty="0">
                <a:latin typeface="宋体" panose="02010600030101010101" pitchFamily="2" charset="-122"/>
              </a:rPr>
              <a:t>分离          </a:t>
            </a:r>
            <a:r>
              <a:rPr lang="en-US" altLang="zh-CN" sz="2000" dirty="0">
                <a:latin typeface="宋体" panose="02010600030101010101" pitchFamily="2" charset="-122"/>
              </a:rPr>
              <a:t>1/4rr    1/4cc</a:t>
            </a:r>
          </a:p>
          <a:p>
            <a:pPr eaLnBrk="1" hangingPunct="1">
              <a:spcBef>
                <a:spcPct val="50000"/>
              </a:spcBef>
            </a:pPr>
            <a:r>
              <a:rPr lang="en-US" altLang="zh-CN" sz="2000" dirty="0">
                <a:latin typeface="宋体" panose="02010600030101010101" pitchFamily="2" charset="-122"/>
              </a:rPr>
              <a:t>              1/4RR    1/4CC</a:t>
            </a:r>
          </a:p>
          <a:p>
            <a:pPr eaLnBrk="1" hangingPunct="1">
              <a:spcBef>
                <a:spcPct val="50000"/>
              </a:spcBef>
            </a:pPr>
            <a:r>
              <a:rPr lang="en-US" altLang="zh-CN" sz="2000" dirty="0">
                <a:latin typeface="宋体" panose="02010600030101010101" pitchFamily="2" charset="-122"/>
              </a:rPr>
              <a:t>       1/4yy  2/4Rr    2/4Cc</a:t>
            </a:r>
          </a:p>
          <a:p>
            <a:pPr eaLnBrk="1" hangingPunct="1">
              <a:spcBef>
                <a:spcPct val="50000"/>
              </a:spcBef>
            </a:pPr>
            <a:r>
              <a:rPr lang="en-US" altLang="zh-CN" sz="2000" dirty="0">
                <a:latin typeface="宋体" panose="02010600030101010101" pitchFamily="2" charset="-122"/>
              </a:rPr>
              <a:t>              1/4rr    1/4cc</a:t>
            </a:r>
          </a:p>
          <a:p>
            <a:pPr eaLnBrk="1" hangingPunct="1">
              <a:spcBef>
                <a:spcPct val="50000"/>
              </a:spcBef>
            </a:pPr>
            <a:r>
              <a:rPr lang="zh-CN" altLang="en-US" sz="2000" dirty="0">
                <a:latin typeface="宋体" panose="02010600030101010101" pitchFamily="2" charset="-122"/>
              </a:rPr>
              <a:t>更多对呢？？ 如</a:t>
            </a:r>
            <a:r>
              <a:rPr lang="en-US" altLang="zh-CN" sz="2000" dirty="0">
                <a:solidFill>
                  <a:srgbClr val="FF0000"/>
                </a:solidFill>
                <a:latin typeface="宋体" panose="02010600030101010101" pitchFamily="2" charset="-122"/>
              </a:rPr>
              <a:t>AABBCCDDEEFF</a:t>
            </a:r>
            <a:r>
              <a:rPr lang="zh-CN" altLang="en-US" sz="2000" dirty="0">
                <a:solidFill>
                  <a:srgbClr val="FF0000"/>
                </a:solidFill>
              </a:rPr>
              <a:t>×</a:t>
            </a:r>
            <a:r>
              <a:rPr lang="en-US" altLang="zh-CN" sz="2000" dirty="0" err="1">
                <a:solidFill>
                  <a:srgbClr val="FF0000"/>
                </a:solidFill>
              </a:rPr>
              <a:t>aabbccDDeeFF</a:t>
            </a:r>
            <a:r>
              <a:rPr lang="zh-CN" altLang="en-US" sz="2000" dirty="0"/>
              <a:t>的结果如何？？</a:t>
            </a:r>
          </a:p>
        </p:txBody>
      </p:sp>
      <p:sp>
        <p:nvSpPr>
          <p:cNvPr id="73732" name="AutoShape 10">
            <a:extLst>
              <a:ext uri="{FF2B5EF4-FFF2-40B4-BE49-F238E27FC236}">
                <a16:creationId xmlns:a16="http://schemas.microsoft.com/office/drawing/2014/main" id="{4A8FA834-0059-4EDF-9BD4-48F33F4BB4C3}"/>
              </a:ext>
            </a:extLst>
          </p:cNvPr>
          <p:cNvSpPr>
            <a:spLocks/>
          </p:cNvSpPr>
          <p:nvPr/>
        </p:nvSpPr>
        <p:spPr bwMode="auto">
          <a:xfrm>
            <a:off x="4572000" y="2209800"/>
            <a:ext cx="152400" cy="914400"/>
          </a:xfrm>
          <a:prstGeom prst="leftBrace">
            <a:avLst>
              <a:gd name="adj1" fmla="val 50000"/>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黑体" panose="02010609060101010101" pitchFamily="49" charset="-122"/>
              </a:defRPr>
            </a:lvl1pPr>
            <a:lvl2pPr marL="742950" indent="-285750" eaLnBrk="0" hangingPunct="0">
              <a:defRPr sz="2800" b="1">
                <a:solidFill>
                  <a:schemeClr val="tx1"/>
                </a:solidFill>
                <a:latin typeface="Arial" panose="020B0604020202020204" pitchFamily="34" charset="0"/>
                <a:ea typeface="黑体" panose="02010609060101010101" pitchFamily="49" charset="-122"/>
              </a:defRPr>
            </a:lvl2pPr>
            <a:lvl3pPr marL="1143000" indent="-228600" eaLnBrk="0" hangingPunct="0">
              <a:defRPr sz="2800" b="1">
                <a:solidFill>
                  <a:schemeClr val="tx1"/>
                </a:solidFill>
                <a:latin typeface="Arial" panose="020B0604020202020204" pitchFamily="34" charset="0"/>
                <a:ea typeface="黑体" panose="02010609060101010101" pitchFamily="49" charset="-122"/>
              </a:defRPr>
            </a:lvl3pPr>
            <a:lvl4pPr marL="1600200" indent="-228600" eaLnBrk="0" hangingPunct="0">
              <a:defRPr sz="2800" b="1">
                <a:solidFill>
                  <a:schemeClr val="tx1"/>
                </a:solidFill>
                <a:latin typeface="Arial" panose="020B0604020202020204" pitchFamily="34" charset="0"/>
                <a:ea typeface="黑体" panose="02010609060101010101" pitchFamily="49" charset="-122"/>
              </a:defRPr>
            </a:lvl4pPr>
            <a:lvl5pPr marL="2057400" indent="-228600" eaLnBrk="0" hangingPunct="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73733" name="AutoShape 11">
            <a:extLst>
              <a:ext uri="{FF2B5EF4-FFF2-40B4-BE49-F238E27FC236}">
                <a16:creationId xmlns:a16="http://schemas.microsoft.com/office/drawing/2014/main" id="{EFDEEAB8-FA6C-417C-9181-45CB9C95DE4B}"/>
              </a:ext>
            </a:extLst>
          </p:cNvPr>
          <p:cNvSpPr>
            <a:spLocks/>
          </p:cNvSpPr>
          <p:nvPr/>
        </p:nvSpPr>
        <p:spPr bwMode="auto">
          <a:xfrm>
            <a:off x="4495800" y="3581400"/>
            <a:ext cx="228600" cy="914400"/>
          </a:xfrm>
          <a:prstGeom prst="leftBrace">
            <a:avLst>
              <a:gd name="adj1" fmla="val 33333"/>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黑体" panose="02010609060101010101" pitchFamily="49" charset="-122"/>
              </a:defRPr>
            </a:lvl1pPr>
            <a:lvl2pPr marL="742950" indent="-285750" eaLnBrk="0" hangingPunct="0">
              <a:defRPr sz="2800" b="1">
                <a:solidFill>
                  <a:schemeClr val="tx1"/>
                </a:solidFill>
                <a:latin typeface="Arial" panose="020B0604020202020204" pitchFamily="34" charset="0"/>
                <a:ea typeface="黑体" panose="02010609060101010101" pitchFamily="49" charset="-122"/>
              </a:defRPr>
            </a:lvl2pPr>
            <a:lvl3pPr marL="1143000" indent="-228600" eaLnBrk="0" hangingPunct="0">
              <a:defRPr sz="2800" b="1">
                <a:solidFill>
                  <a:schemeClr val="tx1"/>
                </a:solidFill>
                <a:latin typeface="Arial" panose="020B0604020202020204" pitchFamily="34" charset="0"/>
                <a:ea typeface="黑体" panose="02010609060101010101" pitchFamily="49" charset="-122"/>
              </a:defRPr>
            </a:lvl3pPr>
            <a:lvl4pPr marL="1600200" indent="-228600" eaLnBrk="0" hangingPunct="0">
              <a:defRPr sz="2800" b="1">
                <a:solidFill>
                  <a:schemeClr val="tx1"/>
                </a:solidFill>
                <a:latin typeface="Arial" panose="020B0604020202020204" pitchFamily="34" charset="0"/>
                <a:ea typeface="黑体" panose="02010609060101010101" pitchFamily="49" charset="-122"/>
              </a:defRPr>
            </a:lvl4pPr>
            <a:lvl5pPr marL="2057400" indent="-228600" eaLnBrk="0" hangingPunct="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73734" name="AutoShape 12">
            <a:extLst>
              <a:ext uri="{FF2B5EF4-FFF2-40B4-BE49-F238E27FC236}">
                <a16:creationId xmlns:a16="http://schemas.microsoft.com/office/drawing/2014/main" id="{CE519202-0B90-47BD-B5C9-87B2A078B14B}"/>
              </a:ext>
            </a:extLst>
          </p:cNvPr>
          <p:cNvSpPr>
            <a:spLocks/>
          </p:cNvSpPr>
          <p:nvPr/>
        </p:nvSpPr>
        <p:spPr bwMode="auto">
          <a:xfrm>
            <a:off x="4495800" y="4953000"/>
            <a:ext cx="152400" cy="914400"/>
          </a:xfrm>
          <a:prstGeom prst="leftBrace">
            <a:avLst>
              <a:gd name="adj1" fmla="val 50000"/>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黑体" panose="02010609060101010101" pitchFamily="49" charset="-122"/>
              </a:defRPr>
            </a:lvl1pPr>
            <a:lvl2pPr marL="742950" indent="-285750" eaLnBrk="0" hangingPunct="0">
              <a:defRPr sz="2800" b="1">
                <a:solidFill>
                  <a:schemeClr val="tx1"/>
                </a:solidFill>
                <a:latin typeface="Arial" panose="020B0604020202020204" pitchFamily="34" charset="0"/>
                <a:ea typeface="黑体" panose="02010609060101010101" pitchFamily="49" charset="-122"/>
              </a:defRPr>
            </a:lvl2pPr>
            <a:lvl3pPr marL="1143000" indent="-228600" eaLnBrk="0" hangingPunct="0">
              <a:defRPr sz="2800" b="1">
                <a:solidFill>
                  <a:schemeClr val="tx1"/>
                </a:solidFill>
                <a:latin typeface="Arial" panose="020B0604020202020204" pitchFamily="34" charset="0"/>
                <a:ea typeface="黑体" panose="02010609060101010101" pitchFamily="49" charset="-122"/>
              </a:defRPr>
            </a:lvl3pPr>
            <a:lvl4pPr marL="1600200" indent="-228600" eaLnBrk="0" hangingPunct="0">
              <a:defRPr sz="2800" b="1">
                <a:solidFill>
                  <a:schemeClr val="tx1"/>
                </a:solidFill>
                <a:latin typeface="Arial" panose="020B0604020202020204" pitchFamily="34" charset="0"/>
                <a:ea typeface="黑体" panose="02010609060101010101" pitchFamily="49" charset="-122"/>
              </a:defRPr>
            </a:lvl4pPr>
            <a:lvl5pPr marL="2057400" indent="-228600" eaLnBrk="0" hangingPunct="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73735" name="AutoShape 13">
            <a:extLst>
              <a:ext uri="{FF2B5EF4-FFF2-40B4-BE49-F238E27FC236}">
                <a16:creationId xmlns:a16="http://schemas.microsoft.com/office/drawing/2014/main" id="{442D1028-6DF9-4941-B8C2-8E3240F2CC57}"/>
              </a:ext>
            </a:extLst>
          </p:cNvPr>
          <p:cNvSpPr>
            <a:spLocks/>
          </p:cNvSpPr>
          <p:nvPr/>
        </p:nvSpPr>
        <p:spPr bwMode="auto">
          <a:xfrm>
            <a:off x="3505200" y="2667000"/>
            <a:ext cx="304800" cy="2819400"/>
          </a:xfrm>
          <a:prstGeom prst="leftBrace">
            <a:avLst>
              <a:gd name="adj1" fmla="val 77083"/>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黑体" panose="02010609060101010101" pitchFamily="49" charset="-122"/>
              </a:defRPr>
            </a:lvl1pPr>
            <a:lvl2pPr marL="742950" indent="-285750" eaLnBrk="0" hangingPunct="0">
              <a:defRPr sz="2800" b="1">
                <a:solidFill>
                  <a:schemeClr val="tx1"/>
                </a:solidFill>
                <a:latin typeface="Arial" panose="020B0604020202020204" pitchFamily="34" charset="0"/>
                <a:ea typeface="黑体" panose="02010609060101010101" pitchFamily="49" charset="-122"/>
              </a:defRPr>
            </a:lvl2pPr>
            <a:lvl3pPr marL="1143000" indent="-228600" eaLnBrk="0" hangingPunct="0">
              <a:defRPr sz="2800" b="1">
                <a:solidFill>
                  <a:schemeClr val="tx1"/>
                </a:solidFill>
                <a:latin typeface="Arial" panose="020B0604020202020204" pitchFamily="34" charset="0"/>
                <a:ea typeface="黑体" panose="02010609060101010101" pitchFamily="49" charset="-122"/>
              </a:defRPr>
            </a:lvl3pPr>
            <a:lvl4pPr marL="1600200" indent="-228600" eaLnBrk="0" hangingPunct="0">
              <a:defRPr sz="2800" b="1">
                <a:solidFill>
                  <a:schemeClr val="tx1"/>
                </a:solidFill>
                <a:latin typeface="Arial" panose="020B0604020202020204" pitchFamily="34" charset="0"/>
                <a:ea typeface="黑体" panose="02010609060101010101" pitchFamily="49" charset="-122"/>
              </a:defRPr>
            </a:lvl4pPr>
            <a:lvl5pPr marL="2057400" indent="-228600" eaLnBrk="0" hangingPunct="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73736" name="AutoShape 14">
            <a:extLst>
              <a:ext uri="{FF2B5EF4-FFF2-40B4-BE49-F238E27FC236}">
                <a16:creationId xmlns:a16="http://schemas.microsoft.com/office/drawing/2014/main" id="{2AC9C411-84F0-4B18-AACA-9B435A8FB240}"/>
              </a:ext>
            </a:extLst>
          </p:cNvPr>
          <p:cNvSpPr>
            <a:spLocks/>
          </p:cNvSpPr>
          <p:nvPr/>
        </p:nvSpPr>
        <p:spPr bwMode="auto">
          <a:xfrm>
            <a:off x="5562600" y="2133600"/>
            <a:ext cx="304800" cy="1066800"/>
          </a:xfrm>
          <a:prstGeom prst="leftBrace">
            <a:avLst>
              <a:gd name="adj1" fmla="val 29167"/>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黑体" panose="02010609060101010101" pitchFamily="49" charset="-122"/>
              </a:defRPr>
            </a:lvl1pPr>
            <a:lvl2pPr marL="742950" indent="-285750" eaLnBrk="0" hangingPunct="0">
              <a:defRPr sz="2800" b="1">
                <a:solidFill>
                  <a:schemeClr val="tx1"/>
                </a:solidFill>
                <a:latin typeface="Arial" panose="020B0604020202020204" pitchFamily="34" charset="0"/>
                <a:ea typeface="黑体" panose="02010609060101010101" pitchFamily="49" charset="-122"/>
              </a:defRPr>
            </a:lvl2pPr>
            <a:lvl3pPr marL="1143000" indent="-228600" eaLnBrk="0" hangingPunct="0">
              <a:defRPr sz="2800" b="1">
                <a:solidFill>
                  <a:schemeClr val="tx1"/>
                </a:solidFill>
                <a:latin typeface="Arial" panose="020B0604020202020204" pitchFamily="34" charset="0"/>
                <a:ea typeface="黑体" panose="02010609060101010101" pitchFamily="49" charset="-122"/>
              </a:defRPr>
            </a:lvl3pPr>
            <a:lvl4pPr marL="1600200" indent="-228600" eaLnBrk="0" hangingPunct="0">
              <a:defRPr sz="2800" b="1">
                <a:solidFill>
                  <a:schemeClr val="tx1"/>
                </a:solidFill>
                <a:latin typeface="Arial" panose="020B0604020202020204" pitchFamily="34" charset="0"/>
                <a:ea typeface="黑体" panose="02010609060101010101" pitchFamily="49" charset="-122"/>
              </a:defRPr>
            </a:lvl4pPr>
            <a:lvl5pPr marL="2057400" indent="-228600" eaLnBrk="0" hangingPunct="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73737" name="AutoShape 15">
            <a:extLst>
              <a:ext uri="{FF2B5EF4-FFF2-40B4-BE49-F238E27FC236}">
                <a16:creationId xmlns:a16="http://schemas.microsoft.com/office/drawing/2014/main" id="{EA3B708B-4292-4C9F-AE80-3544FC3B140D}"/>
              </a:ext>
            </a:extLst>
          </p:cNvPr>
          <p:cNvSpPr>
            <a:spLocks/>
          </p:cNvSpPr>
          <p:nvPr/>
        </p:nvSpPr>
        <p:spPr bwMode="auto">
          <a:xfrm>
            <a:off x="5638800" y="3581400"/>
            <a:ext cx="228600" cy="990600"/>
          </a:xfrm>
          <a:prstGeom prst="leftBrace">
            <a:avLst>
              <a:gd name="adj1" fmla="val 36111"/>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黑体" panose="02010609060101010101" pitchFamily="49" charset="-122"/>
              </a:defRPr>
            </a:lvl1pPr>
            <a:lvl2pPr marL="742950" indent="-285750" eaLnBrk="0" hangingPunct="0">
              <a:defRPr sz="2800" b="1">
                <a:solidFill>
                  <a:schemeClr val="tx1"/>
                </a:solidFill>
                <a:latin typeface="Arial" panose="020B0604020202020204" pitchFamily="34" charset="0"/>
                <a:ea typeface="黑体" panose="02010609060101010101" pitchFamily="49" charset="-122"/>
              </a:defRPr>
            </a:lvl2pPr>
            <a:lvl3pPr marL="1143000" indent="-228600" eaLnBrk="0" hangingPunct="0">
              <a:defRPr sz="2800" b="1">
                <a:solidFill>
                  <a:schemeClr val="tx1"/>
                </a:solidFill>
                <a:latin typeface="Arial" panose="020B0604020202020204" pitchFamily="34" charset="0"/>
                <a:ea typeface="黑体" panose="02010609060101010101" pitchFamily="49" charset="-122"/>
              </a:defRPr>
            </a:lvl3pPr>
            <a:lvl4pPr marL="1600200" indent="-228600" eaLnBrk="0" hangingPunct="0">
              <a:defRPr sz="2800" b="1">
                <a:solidFill>
                  <a:schemeClr val="tx1"/>
                </a:solidFill>
                <a:latin typeface="Arial" panose="020B0604020202020204" pitchFamily="34" charset="0"/>
                <a:ea typeface="黑体" panose="02010609060101010101" pitchFamily="49" charset="-122"/>
              </a:defRPr>
            </a:lvl4pPr>
            <a:lvl5pPr marL="2057400" indent="-228600" eaLnBrk="0" hangingPunct="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
        <p:nvSpPr>
          <p:cNvPr id="73738" name="AutoShape 16">
            <a:extLst>
              <a:ext uri="{FF2B5EF4-FFF2-40B4-BE49-F238E27FC236}">
                <a16:creationId xmlns:a16="http://schemas.microsoft.com/office/drawing/2014/main" id="{103C1867-8E7D-4779-B29C-FA7F0078FEB1}"/>
              </a:ext>
            </a:extLst>
          </p:cNvPr>
          <p:cNvSpPr>
            <a:spLocks/>
          </p:cNvSpPr>
          <p:nvPr/>
        </p:nvSpPr>
        <p:spPr bwMode="auto">
          <a:xfrm>
            <a:off x="5562600" y="4876800"/>
            <a:ext cx="228600" cy="1066800"/>
          </a:xfrm>
          <a:prstGeom prst="leftBrace">
            <a:avLst>
              <a:gd name="adj1" fmla="val 38889"/>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黑体" panose="02010609060101010101" pitchFamily="49" charset="-122"/>
              </a:defRPr>
            </a:lvl1pPr>
            <a:lvl2pPr marL="742950" indent="-285750" eaLnBrk="0" hangingPunct="0">
              <a:defRPr sz="2800" b="1">
                <a:solidFill>
                  <a:schemeClr val="tx1"/>
                </a:solidFill>
                <a:latin typeface="Arial" panose="020B0604020202020204" pitchFamily="34" charset="0"/>
                <a:ea typeface="黑体" panose="02010609060101010101" pitchFamily="49" charset="-122"/>
              </a:defRPr>
            </a:lvl2pPr>
            <a:lvl3pPr marL="1143000" indent="-228600" eaLnBrk="0" hangingPunct="0">
              <a:defRPr sz="2800" b="1">
                <a:solidFill>
                  <a:schemeClr val="tx1"/>
                </a:solidFill>
                <a:latin typeface="Arial" panose="020B0604020202020204" pitchFamily="34" charset="0"/>
                <a:ea typeface="黑体" panose="02010609060101010101" pitchFamily="49" charset="-122"/>
              </a:defRPr>
            </a:lvl3pPr>
            <a:lvl4pPr marL="1600200" indent="-228600" eaLnBrk="0" hangingPunct="0">
              <a:defRPr sz="2800" b="1">
                <a:solidFill>
                  <a:schemeClr val="tx1"/>
                </a:solidFill>
                <a:latin typeface="Arial" panose="020B0604020202020204" pitchFamily="34" charset="0"/>
                <a:ea typeface="黑体" panose="02010609060101010101" pitchFamily="49" charset="-122"/>
              </a:defRPr>
            </a:lvl4pPr>
            <a:lvl5pPr marL="2057400" indent="-228600" eaLnBrk="0" hangingPunct="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a:xfrm>
            <a:off x="3124200" y="0"/>
            <a:ext cx="7543800" cy="609600"/>
          </a:xfrm>
          <a:noFill/>
          <a:ln>
            <a:noFill/>
          </a:ln>
        </p:spPr>
        <p:txBody>
          <a:bodyPr anchor="t" anchorCtr="0">
            <a:normAutofit/>
          </a:bodyPr>
          <a:lstStyle/>
          <a:p>
            <a:r>
              <a:rPr lang="zh-CN" altLang="en-US" sz="3600" b="1" dirty="0">
                <a:solidFill>
                  <a:srgbClr val="3324FA"/>
                </a:solidFill>
                <a:latin typeface="黑体" panose="02010609060101010101" pitchFamily="49" charset="-122"/>
                <a:ea typeface="黑体" panose="02010609060101010101" pitchFamily="49" charset="-122"/>
                <a:sym typeface="Wingdings" panose="05000000000000000000" pitchFamily="2" charset="2"/>
              </a:rPr>
              <a:t>五、</a:t>
            </a:r>
            <a:r>
              <a:rPr lang="zh-CN" altLang="en-US" sz="3600" b="1" dirty="0">
                <a:solidFill>
                  <a:srgbClr val="3324FA"/>
                </a:solidFill>
                <a:latin typeface="黑体" panose="02010609060101010101" pitchFamily="49" charset="-122"/>
                <a:ea typeface="黑体" panose="02010609060101010101" pitchFamily="49" charset="-122"/>
              </a:rPr>
              <a:t>自由组合</a:t>
            </a:r>
            <a:r>
              <a:rPr lang="zh-CN" altLang="en-US" sz="3600" b="1" dirty="0">
                <a:solidFill>
                  <a:srgbClr val="3324FA"/>
                </a:solidFill>
                <a:latin typeface="黑体" panose="02010609060101010101" pitchFamily="49" charset="-122"/>
                <a:ea typeface="黑体" panose="02010609060101010101" pitchFamily="49" charset="-122"/>
                <a:sym typeface="Wingdings" panose="05000000000000000000" pitchFamily="2" charset="2"/>
              </a:rPr>
              <a:t>规律的意义</a:t>
            </a:r>
            <a:endParaRPr lang="zh-CN" altLang="en-US" sz="4000" b="1" dirty="0">
              <a:solidFill>
                <a:srgbClr val="3324FA"/>
              </a:solidFill>
              <a:latin typeface="黑体" panose="02010609060101010101" pitchFamily="49" charset="-122"/>
              <a:ea typeface="黑体" panose="02010609060101010101" pitchFamily="49" charset="-122"/>
              <a:sym typeface="Wingdings" panose="05000000000000000000" pitchFamily="2" charset="2"/>
            </a:endParaRPr>
          </a:p>
        </p:txBody>
      </p:sp>
      <p:sp>
        <p:nvSpPr>
          <p:cNvPr id="43010" name="Rectangle 3"/>
          <p:cNvSpPr>
            <a:spLocks noGrp="1"/>
          </p:cNvSpPr>
          <p:nvPr>
            <p:ph idx="1"/>
          </p:nvPr>
        </p:nvSpPr>
        <p:spPr>
          <a:xfrm>
            <a:off x="166256" y="762000"/>
            <a:ext cx="11748654" cy="6096000"/>
          </a:xfrm>
          <a:noFill/>
          <a:ln>
            <a:noFill/>
          </a:ln>
        </p:spPr>
        <p:txBody>
          <a:bodyPr anchor="t" anchorCtr="0"/>
          <a:lstStyle/>
          <a:p>
            <a:pPr marL="285744" indent="-285744">
              <a:lnSpc>
                <a:spcPct val="130000"/>
              </a:lnSpc>
              <a:buNone/>
            </a:pPr>
            <a:r>
              <a:rPr lang="zh-CN" altLang="en-US" b="1" dirty="0">
                <a:latin typeface="黑体" panose="02010609060101010101" pitchFamily="49" charset="-122"/>
                <a:ea typeface="黑体" panose="02010609060101010101" pitchFamily="49" charset="-122"/>
              </a:rPr>
              <a:t>(一)揭示了位于非同源染色体上基因间的遗传关系。——理论意义</a:t>
            </a:r>
            <a:endParaRPr lang="en-US" altLang="zh-CN" b="1" dirty="0">
              <a:latin typeface="黑体" panose="02010609060101010101" pitchFamily="49" charset="-122"/>
              <a:ea typeface="黑体" panose="02010609060101010101" pitchFamily="49" charset="-122"/>
            </a:endParaRPr>
          </a:p>
          <a:p>
            <a:pPr marL="285744" indent="-285744">
              <a:lnSpc>
                <a:spcPct val="130000"/>
              </a:lnSpc>
              <a:buNone/>
            </a:pPr>
            <a:r>
              <a:rPr lang="zh-CN" altLang="en-US" b="1" dirty="0">
                <a:latin typeface="黑体" panose="02010609060101010101" pitchFamily="49" charset="-122"/>
                <a:ea typeface="黑体" panose="02010609060101010101" pitchFamily="49" charset="-122"/>
              </a:rPr>
              <a:t>(二)不同对基因自由组合产生的基因重组是生物发生变异的一个重要来源，也是生物界出现多样性的一个重要原因。</a:t>
            </a:r>
          </a:p>
          <a:p>
            <a:pPr marL="285744" indent="-285744">
              <a:lnSpc>
                <a:spcPct val="130000"/>
              </a:lnSpc>
              <a:buNone/>
            </a:pPr>
            <a:r>
              <a:rPr lang="zh-CN" altLang="en-US" b="1" dirty="0">
                <a:latin typeface="黑体" panose="02010609060101010101" pitchFamily="49" charset="-122"/>
                <a:ea typeface="黑体" panose="02010609060101010101" pitchFamily="49" charset="-122"/>
              </a:rPr>
              <a:t>(三)在杂交育种工作中，可按照人类的意愿组合两个亲本的优良特性，培育新的物种类型。</a:t>
            </a:r>
          </a:p>
          <a:p>
            <a:pPr marL="285744" indent="-285744">
              <a:lnSpc>
                <a:spcPct val="130000"/>
              </a:lnSpc>
              <a:buNone/>
            </a:pPr>
            <a:r>
              <a:rPr lang="zh-CN" altLang="en-US" b="1" dirty="0">
                <a:latin typeface="黑体" panose="02010609060101010101" pitchFamily="49" charset="-122"/>
                <a:ea typeface="黑体" panose="02010609060101010101" pitchFamily="49" charset="-122"/>
              </a:rPr>
              <a:t>(四)预测杂交后代中出现优良性状组合的大致比例，便于确定育种规模。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a:extLst>
              <a:ext uri="{FF2B5EF4-FFF2-40B4-BE49-F238E27FC236}">
                <a16:creationId xmlns:a16="http://schemas.microsoft.com/office/drawing/2014/main" id="{1F3D3D6B-E274-4DB9-82A6-0B5CE95970C4}"/>
              </a:ext>
            </a:extLst>
          </p:cNvPr>
          <p:cNvSpPr>
            <a:spLocks noGrp="1" noChangeArrowheads="1"/>
          </p:cNvSpPr>
          <p:nvPr>
            <p:ph type="ctrTitle"/>
          </p:nvPr>
        </p:nvSpPr>
        <p:spPr>
          <a:xfrm>
            <a:off x="1071238" y="248574"/>
            <a:ext cx="10221158" cy="1759721"/>
          </a:xfrm>
        </p:spPr>
        <p:txBody>
          <a:bodyPr/>
          <a:lstStyle/>
          <a:p>
            <a:r>
              <a:rPr lang="zh-CN" altLang="en-US" sz="5400" b="1" dirty="0">
                <a:solidFill>
                  <a:srgbClr val="FF0000"/>
                </a:solidFill>
                <a:latin typeface="黑体" panose="02010609060101010101" pitchFamily="49" charset="-122"/>
                <a:ea typeface="黑体" panose="02010609060101010101" pitchFamily="49" charset="-122"/>
              </a:rPr>
              <a:t>第三节 遗传学数据的统计处理</a:t>
            </a:r>
            <a:br>
              <a:rPr lang="zh-CN" altLang="en-US" dirty="0"/>
            </a:br>
            <a:endParaRPr lang="en-US" altLang="zh-CN" sz="3200" dirty="0"/>
          </a:p>
        </p:txBody>
      </p:sp>
      <p:sp>
        <p:nvSpPr>
          <p:cNvPr id="393219" name="Rectangle 3">
            <a:extLst>
              <a:ext uri="{FF2B5EF4-FFF2-40B4-BE49-F238E27FC236}">
                <a16:creationId xmlns:a16="http://schemas.microsoft.com/office/drawing/2014/main" id="{C40C6AC0-6DAD-4016-9AF9-D8F30B02662D}"/>
              </a:ext>
            </a:extLst>
          </p:cNvPr>
          <p:cNvSpPr>
            <a:spLocks noGrp="1" noChangeArrowheads="1"/>
          </p:cNvSpPr>
          <p:nvPr>
            <p:ph type="subTitle" idx="1"/>
          </p:nvPr>
        </p:nvSpPr>
        <p:spPr>
          <a:xfrm>
            <a:off x="2538274" y="2008295"/>
            <a:ext cx="7772400" cy="4086225"/>
          </a:xfrm>
        </p:spPr>
        <p:txBody>
          <a:bodyPr>
            <a:normAutofit/>
          </a:bodyPr>
          <a:lstStyle/>
          <a:p>
            <a:pPr algn="l">
              <a:lnSpc>
                <a:spcPct val="150000"/>
              </a:lnSpc>
            </a:pPr>
            <a:r>
              <a:rPr lang="zh-CN" altLang="en-US" sz="3600" b="1" dirty="0">
                <a:solidFill>
                  <a:srgbClr val="0000FF"/>
                </a:solidFill>
                <a:latin typeface="黑体" panose="02010609060101010101" pitchFamily="49" charset="-122"/>
                <a:ea typeface="黑体" panose="02010609060101010101" pitchFamily="49" charset="-122"/>
              </a:rPr>
              <a:t>一、概率原理与应用</a:t>
            </a:r>
          </a:p>
          <a:p>
            <a:pPr algn="l">
              <a:lnSpc>
                <a:spcPct val="150000"/>
              </a:lnSpc>
            </a:pPr>
            <a:r>
              <a:rPr lang="zh-CN" altLang="en-US" sz="3600" b="1" dirty="0">
                <a:solidFill>
                  <a:srgbClr val="0000FF"/>
                </a:solidFill>
                <a:latin typeface="黑体" panose="02010609060101010101" pitchFamily="49" charset="-122"/>
                <a:ea typeface="黑体" panose="02010609060101010101" pitchFamily="49" charset="-122"/>
              </a:rPr>
              <a:t>二、二项式展开与应用</a:t>
            </a:r>
          </a:p>
          <a:p>
            <a:pPr algn="l">
              <a:lnSpc>
                <a:spcPct val="150000"/>
              </a:lnSpc>
            </a:pPr>
            <a:r>
              <a:rPr lang="zh-CN" altLang="en-US" sz="3600" b="1" dirty="0">
                <a:solidFill>
                  <a:srgbClr val="0000FF"/>
                </a:solidFill>
                <a:latin typeface="黑体" panose="02010609060101010101" pitchFamily="49" charset="-122"/>
                <a:ea typeface="黑体" panose="02010609060101010101" pitchFamily="49" charset="-122"/>
              </a:rPr>
              <a:t>三、</a:t>
            </a:r>
            <a:r>
              <a:rPr lang="zh-CN" altLang="en-US" sz="3600" b="1" dirty="0">
                <a:solidFill>
                  <a:srgbClr val="0000FF"/>
                </a:solidFill>
                <a:latin typeface="黑体" panose="02010609060101010101" pitchFamily="49" charset="-122"/>
                <a:ea typeface="黑体" panose="02010609060101010101" pitchFamily="49" charset="-122"/>
                <a:sym typeface="Symbol" panose="05050102010706020507" pitchFamily="18" charset="2"/>
              </a:rPr>
              <a:t></a:t>
            </a:r>
            <a:r>
              <a:rPr lang="en-US" altLang="zh-CN" sz="3600" b="1" baseline="30000" dirty="0">
                <a:solidFill>
                  <a:srgbClr val="0000FF"/>
                </a:solidFill>
                <a:latin typeface="黑体" panose="02010609060101010101" pitchFamily="49" charset="-122"/>
                <a:ea typeface="黑体" panose="02010609060101010101" pitchFamily="49" charset="-122"/>
              </a:rPr>
              <a:t>2</a:t>
            </a:r>
            <a:r>
              <a:rPr lang="zh-CN" altLang="en-US" sz="3600" b="1" dirty="0">
                <a:solidFill>
                  <a:srgbClr val="0000FF"/>
                </a:solidFill>
                <a:latin typeface="黑体" panose="02010609060101010101" pitchFamily="49" charset="-122"/>
                <a:ea typeface="黑体" panose="02010609060101010101" pitchFamily="49" charset="-122"/>
              </a:rPr>
              <a:t>测验</a:t>
            </a:r>
            <a:r>
              <a:rPr lang="en-US" altLang="zh-CN" sz="3600" b="1" dirty="0">
                <a:solidFill>
                  <a:srgbClr val="0000FF"/>
                </a:solidFill>
                <a:latin typeface="黑体" panose="02010609060101010101" pitchFamily="49" charset="-122"/>
                <a:ea typeface="黑体" panose="02010609060101010101" pitchFamily="49" charset="-122"/>
              </a:rPr>
              <a:t>(Chi</a:t>
            </a:r>
            <a:r>
              <a:rPr lang="zh-CN" altLang="en-US" sz="3600" b="1" dirty="0">
                <a:solidFill>
                  <a:srgbClr val="0000FF"/>
                </a:solidFill>
                <a:latin typeface="黑体" panose="02010609060101010101" pitchFamily="49" charset="-122"/>
                <a:ea typeface="黑体" panose="02010609060101010101" pitchFamily="49" charset="-122"/>
              </a:rPr>
              <a:t>平方测验</a:t>
            </a:r>
            <a:r>
              <a:rPr lang="en-US" altLang="zh-CN" sz="3600" b="1" dirty="0">
                <a:solidFill>
                  <a:srgbClr val="0000FF"/>
                </a:solidFill>
                <a:latin typeface="黑体" panose="02010609060101010101" pitchFamily="49" charset="-122"/>
                <a:ea typeface="黑体" panose="02010609060101010101" pitchFamily="49" charset="-122"/>
              </a:rPr>
              <a:t>)</a:t>
            </a:r>
            <a:r>
              <a:rPr lang="zh-CN" altLang="en-US" sz="3600" b="1" dirty="0">
                <a:solidFill>
                  <a:srgbClr val="0000FF"/>
                </a:solidFill>
                <a:latin typeface="黑体" panose="02010609060101010101" pitchFamily="49" charset="-122"/>
                <a:ea typeface="黑体" panose="02010609060101010101" pitchFamily="49" charset="-122"/>
              </a:rPr>
              <a:t>与应用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2E1A878-43A2-4678-8242-1643B23F5645}"/>
              </a:ext>
            </a:extLst>
          </p:cNvPr>
          <p:cNvPicPr>
            <a:picLocks noChangeAspect="1"/>
          </p:cNvPicPr>
          <p:nvPr/>
        </p:nvPicPr>
        <p:blipFill>
          <a:blip r:embed="rId3"/>
          <a:stretch>
            <a:fillRect/>
          </a:stretch>
        </p:blipFill>
        <p:spPr>
          <a:xfrm>
            <a:off x="1" y="222212"/>
            <a:ext cx="12026348" cy="4222179"/>
          </a:xfrm>
          <a:prstGeom prst="rect">
            <a:avLst/>
          </a:prstGeom>
        </p:spPr>
      </p:pic>
      <p:sp>
        <p:nvSpPr>
          <p:cNvPr id="3" name="Rectangle 2">
            <a:extLst>
              <a:ext uri="{FF2B5EF4-FFF2-40B4-BE49-F238E27FC236}">
                <a16:creationId xmlns:a16="http://schemas.microsoft.com/office/drawing/2014/main" id="{39D490D1-FEE8-F483-CDE9-36956D97DF2A}"/>
              </a:ext>
            </a:extLst>
          </p:cNvPr>
          <p:cNvSpPr>
            <a:spLocks noGrp="1" noChangeArrowheads="1"/>
          </p:cNvSpPr>
          <p:nvPr>
            <p:ph type="title"/>
          </p:nvPr>
        </p:nvSpPr>
        <p:spPr>
          <a:xfrm>
            <a:off x="293031" y="-290945"/>
            <a:ext cx="10515600" cy="1325563"/>
          </a:xfrm>
        </p:spPr>
        <p:txBody>
          <a:bodyPr>
            <a:normAutofit/>
          </a:bodyPr>
          <a:lstStyle/>
          <a:p>
            <a:r>
              <a:rPr lang="zh-CN" altLang="en-US" sz="4000" b="1" dirty="0">
                <a:latin typeface="黑体" panose="02010609060101010101" pitchFamily="49" charset="-122"/>
                <a:ea typeface="黑体" panose="02010609060101010101" pitchFamily="49" charset="-122"/>
              </a:rPr>
              <a:t>为什么要应用统计方法分析数据？</a:t>
            </a:r>
          </a:p>
        </p:txBody>
      </p:sp>
      <p:sp>
        <p:nvSpPr>
          <p:cNvPr id="6" name="矩形 5"/>
          <p:cNvSpPr/>
          <p:nvPr/>
        </p:nvSpPr>
        <p:spPr>
          <a:xfrm>
            <a:off x="149087" y="4549676"/>
            <a:ext cx="11877261" cy="1393924"/>
          </a:xfrm>
          <a:prstGeom prst="rect">
            <a:avLst/>
          </a:prstGeom>
        </p:spPr>
        <p:txBody>
          <a:bodyPr vert="horz" lIns="91440" tIns="45720" rIns="91440" bIns="45720" rtlCol="0" anchor="ctr">
            <a:normAutofit/>
          </a:bodyPr>
          <a:lstStyle/>
          <a:p>
            <a:pPr>
              <a:lnSpc>
                <a:spcPct val="90000"/>
              </a:lnSpc>
              <a:spcBef>
                <a:spcPct val="0"/>
              </a:spcBef>
            </a:pPr>
            <a:r>
              <a:rPr lang="zh-CN" altLang="en-US" sz="2800" b="1" dirty="0">
                <a:solidFill>
                  <a:srgbClr val="FF0000"/>
                </a:solidFill>
                <a:latin typeface="黑体" panose="02010609060101010101" pitchFamily="49" charset="-122"/>
                <a:ea typeface="黑体" panose="02010609060101010101" pitchFamily="49" charset="-122"/>
                <a:cs typeface="+mj-cs"/>
              </a:rPr>
              <a:t>    杂交的分离比要子代个体数较多时才比较接近，子代个体数不多时，常有明显的波动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6291" name="Picture 3">
            <a:extLst>
              <a:ext uri="{FF2B5EF4-FFF2-40B4-BE49-F238E27FC236}">
                <a16:creationId xmlns:a16="http://schemas.microsoft.com/office/drawing/2014/main" id="{3FDFA923-D1FD-4977-B5E7-AB559C37D7C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991" t="4118" r="3157" b="7286"/>
          <a:stretch/>
        </p:blipFill>
        <p:spPr>
          <a:xfrm>
            <a:off x="0" y="878781"/>
            <a:ext cx="5952565" cy="4378334"/>
          </a:xfr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3">
            <a:extLst>
              <a:ext uri="{FF2B5EF4-FFF2-40B4-BE49-F238E27FC236}">
                <a16:creationId xmlns:a16="http://schemas.microsoft.com/office/drawing/2014/main" id="{7276B3C1-53F6-B7C4-8BBB-89DCC20C78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90" t="3321" r="3439" b="7331"/>
          <a:stretch/>
        </p:blipFill>
        <p:spPr>
          <a:xfrm>
            <a:off x="6096000" y="831328"/>
            <a:ext cx="5841128" cy="4341362"/>
          </a:xfrm>
          <a:prstGeom prst="rect">
            <a:avLst/>
          </a:prstGeo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39D490D1-FEE8-F483-CDE9-36956D97DF2A}"/>
              </a:ext>
            </a:extLst>
          </p:cNvPr>
          <p:cNvSpPr>
            <a:spLocks noGrp="1" noChangeArrowheads="1"/>
          </p:cNvSpPr>
          <p:nvPr>
            <p:ph type="title"/>
          </p:nvPr>
        </p:nvSpPr>
        <p:spPr>
          <a:xfrm>
            <a:off x="293031" y="-290945"/>
            <a:ext cx="10515600" cy="1325563"/>
          </a:xfrm>
        </p:spPr>
        <p:txBody>
          <a:bodyPr>
            <a:normAutofit/>
          </a:bodyPr>
          <a:lstStyle/>
          <a:p>
            <a:r>
              <a:rPr lang="zh-CN" altLang="en-US" sz="4000" b="1" dirty="0">
                <a:latin typeface="黑体" panose="02010609060101010101" pitchFamily="49" charset="-122"/>
                <a:ea typeface="黑体" panose="02010609060101010101" pitchFamily="49" charset="-122"/>
              </a:rPr>
              <a:t>为什么要应用统计方法分析数据？</a:t>
            </a:r>
          </a:p>
        </p:txBody>
      </p:sp>
      <p:sp>
        <p:nvSpPr>
          <p:cNvPr id="4" name="Rectangle 3">
            <a:extLst>
              <a:ext uri="{FF2B5EF4-FFF2-40B4-BE49-F238E27FC236}">
                <a16:creationId xmlns:a16="http://schemas.microsoft.com/office/drawing/2014/main" id="{ABC285A0-2DD9-8278-52BB-F2110FF5DB02}"/>
              </a:ext>
            </a:extLst>
          </p:cNvPr>
          <p:cNvSpPr txBox="1">
            <a:spLocks noChangeArrowheads="1"/>
          </p:cNvSpPr>
          <p:nvPr/>
        </p:nvSpPr>
        <p:spPr>
          <a:xfrm>
            <a:off x="436418" y="5294904"/>
            <a:ext cx="11500710" cy="10475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a:solidFill>
                  <a:srgbClr val="FF0000"/>
                </a:solidFill>
                <a:latin typeface="黑体" panose="02010609060101010101" pitchFamily="49" charset="-122"/>
                <a:ea typeface="黑体" panose="02010609060101010101" pitchFamily="49" charset="-122"/>
              </a:rPr>
              <a:t>    本</a:t>
            </a:r>
            <a:r>
              <a:rPr lang="zh-CN" altLang="en-US" b="1" dirty="0">
                <a:solidFill>
                  <a:srgbClr val="FF0000"/>
                </a:solidFill>
                <a:latin typeface="黑体" panose="02010609060101010101" pitchFamily="49" charset="-122"/>
                <a:ea typeface="黑体" panose="02010609060101010101" pitchFamily="49" charset="-122"/>
              </a:rPr>
              <a:t>节中概率定理及二项式公式是用于推算理论比例，而</a:t>
            </a:r>
            <a:r>
              <a:rPr lang="zh-CN" altLang="en-US" b="1" dirty="0">
                <a:solidFill>
                  <a:srgbClr val="FF0000"/>
                </a:solidFill>
                <a:latin typeface="黑体" panose="02010609060101010101" pitchFamily="49" charset="-122"/>
                <a:ea typeface="黑体" panose="02010609060101010101" pitchFamily="49" charset="-122"/>
                <a:sym typeface="Symbol" panose="05050102010706020507" pitchFamily="18" charset="2"/>
              </a:rPr>
              <a:t></a:t>
            </a:r>
            <a:r>
              <a:rPr lang="en-US" altLang="zh-CN" b="1" baseline="30000" dirty="0">
                <a:solidFill>
                  <a:srgbClr val="FF0000"/>
                </a:solidFill>
                <a:latin typeface="黑体" panose="02010609060101010101" pitchFamily="49" charset="-122"/>
                <a:ea typeface="黑体" panose="02010609060101010101" pitchFamily="49" charset="-122"/>
              </a:rPr>
              <a:t>2</a:t>
            </a:r>
            <a:r>
              <a:rPr lang="zh-CN" altLang="en-US" b="1" dirty="0">
                <a:solidFill>
                  <a:srgbClr val="FF0000"/>
                </a:solidFill>
                <a:latin typeface="黑体" panose="02010609060101010101" pitchFamily="49" charset="-122"/>
                <a:ea typeface="黑体" panose="02010609060101010101" pitchFamily="49" charset="-122"/>
              </a:rPr>
              <a:t>测验则是用于测定试验结果是否符合理论比例。</a:t>
            </a:r>
          </a:p>
        </p:txBody>
      </p:sp>
    </p:spTree>
    <p:extLst>
      <p:ext uri="{BB962C8B-B14F-4D97-AF65-F5344CB8AC3E}">
        <p14:creationId xmlns:p14="http://schemas.microsoft.com/office/powerpoint/2010/main" val="7112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p:cNvSpPr>
          <p:nvPr>
            <p:ph idx="1"/>
          </p:nvPr>
        </p:nvSpPr>
        <p:spPr>
          <a:xfrm>
            <a:off x="262890" y="0"/>
            <a:ext cx="11666219" cy="2385060"/>
          </a:xfrm>
        </p:spPr>
        <p:txBody>
          <a:bodyPr vert="horz" lIns="91440" tIns="45720" rIns="91440" bIns="45720" rtlCol="0">
            <a:normAutofit/>
          </a:bodyPr>
          <a:lstStyle/>
          <a:p>
            <a:pPr marL="0" indent="0">
              <a:buNone/>
            </a:pPr>
            <a:r>
              <a:rPr lang="zh-CN" altLang="en-US" sz="3200" b="1" dirty="0">
                <a:latin typeface="黑体" panose="02010609060101010101" pitchFamily="49" charset="-122"/>
                <a:ea typeface="黑体" panose="02010609060101010101" pitchFamily="49" charset="-122"/>
              </a:rPr>
              <a:t>一、概率定律的应用</a:t>
            </a:r>
          </a:p>
          <a:p>
            <a:pPr marL="0" indent="0">
              <a:buNone/>
            </a:pPr>
            <a:r>
              <a:rPr lang="zh-CN" altLang="en-US" sz="3200" b="1" dirty="0">
                <a:latin typeface="黑体" panose="02010609060101010101" pitchFamily="49" charset="-122"/>
                <a:ea typeface="黑体" panose="02010609060101010101" pitchFamily="49" charset="-122"/>
              </a:rPr>
              <a:t>(一) </a:t>
            </a:r>
            <a:r>
              <a:rPr lang="zh-CN" altLang="en-US" sz="3200" b="1" dirty="0">
                <a:solidFill>
                  <a:srgbClr val="3324FA"/>
                </a:solidFill>
                <a:latin typeface="黑体" panose="02010609060101010101" pitchFamily="49" charset="-122"/>
                <a:ea typeface="黑体" panose="02010609060101010101" pitchFamily="49" charset="-122"/>
              </a:rPr>
              <a:t>乘法定理</a:t>
            </a:r>
            <a:r>
              <a:rPr lang="zh-CN" altLang="en-US" sz="3200" b="1" dirty="0">
                <a:latin typeface="黑体" panose="02010609060101010101" pitchFamily="49" charset="-122"/>
                <a:ea typeface="黑体" panose="02010609060101010101" pitchFamily="49" charset="-122"/>
              </a:rPr>
              <a:t>——两个或两个以上的独立事件同时发生的概率等于各个事件发生的概率的乘积。</a:t>
            </a:r>
          </a:p>
        </p:txBody>
      </p:sp>
      <p:sp>
        <p:nvSpPr>
          <p:cNvPr id="5" name="文本框 4">
            <a:extLst>
              <a:ext uri="{FF2B5EF4-FFF2-40B4-BE49-F238E27FC236}">
                <a16:creationId xmlns:a16="http://schemas.microsoft.com/office/drawing/2014/main" id="{9FEC1D10-07CD-A81F-F3F9-14E9BEE860CF}"/>
              </a:ext>
            </a:extLst>
          </p:cNvPr>
          <p:cNvSpPr txBox="1"/>
          <p:nvPr/>
        </p:nvSpPr>
        <p:spPr>
          <a:xfrm>
            <a:off x="262890" y="3798808"/>
            <a:ext cx="11369040" cy="978729"/>
          </a:xfrm>
          <a:prstGeom prst="rect">
            <a:avLst/>
          </a:prstGeom>
        </p:spPr>
        <p:txBody>
          <a:bodyPr vert="horz" lIns="91440" tIns="45720" rIns="91440" bIns="45720" rtlCol="0">
            <a:normAutofit/>
          </a:bodyPr>
          <a:lstStyle>
            <a:lvl1pPr indent="0">
              <a:lnSpc>
                <a:spcPct val="90000"/>
              </a:lnSpc>
              <a:spcBef>
                <a:spcPts val="1000"/>
              </a:spcBef>
              <a:buFont typeface="Arial" panose="020B0604020202020204" pitchFamily="34" charset="0"/>
              <a:buNone/>
              <a:defRPr sz="3200" b="1">
                <a:solidFill>
                  <a:srgbClr val="0000FF"/>
                </a:solidFill>
                <a:latin typeface="黑体" panose="02010609060101010101" pitchFamily="49" charset="-122"/>
                <a:ea typeface="黑体" panose="02010609060101010101" pitchFamily="49" charset="-122"/>
              </a:defRPr>
            </a:lvl1pPr>
            <a:lvl2pPr lvl="1" indent="0">
              <a:lnSpc>
                <a:spcPct val="90000"/>
              </a:lnSpc>
              <a:spcBef>
                <a:spcPts val="500"/>
              </a:spcBef>
              <a:buFont typeface="Arial" panose="020B0604020202020204" pitchFamily="34" charset="0"/>
              <a:buNone/>
              <a:defRPr sz="2800" b="1">
                <a:solidFill>
                  <a:srgbClr val="0000FF"/>
                </a:solidFill>
                <a:latin typeface="黑体" panose="02010609060101010101" pitchFamily="49" charset="-122"/>
                <a:ea typeface="黑体" panose="02010609060101010101" pitchFamily="49"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solidFill>
                  <a:schemeClr val="tx1"/>
                </a:solidFill>
              </a:rPr>
              <a:t>(二) </a:t>
            </a:r>
            <a:r>
              <a:rPr lang="zh-CN" altLang="en-US" dirty="0">
                <a:solidFill>
                  <a:srgbClr val="3324FA"/>
                </a:solidFill>
              </a:rPr>
              <a:t>加法定理</a:t>
            </a:r>
            <a:r>
              <a:rPr lang="zh-CN" altLang="en-US" dirty="0">
                <a:solidFill>
                  <a:schemeClr val="tx1"/>
                </a:solidFill>
              </a:rPr>
              <a:t>——两个</a:t>
            </a:r>
            <a:r>
              <a:rPr lang="zh-CN" altLang="en-US" dirty="0">
                <a:solidFill>
                  <a:srgbClr val="3324FA"/>
                </a:solidFill>
              </a:rPr>
              <a:t>互斥事件</a:t>
            </a:r>
            <a:r>
              <a:rPr lang="zh-CN" altLang="en-US" dirty="0">
                <a:solidFill>
                  <a:schemeClr val="tx1"/>
                </a:solidFill>
              </a:rPr>
              <a:t>同时发生的概率是各个事件各自发生的概率之和。</a:t>
            </a:r>
          </a:p>
        </p:txBody>
      </p:sp>
      <p:sp>
        <p:nvSpPr>
          <p:cNvPr id="7" name="文本框 6">
            <a:extLst>
              <a:ext uri="{FF2B5EF4-FFF2-40B4-BE49-F238E27FC236}">
                <a16:creationId xmlns:a16="http://schemas.microsoft.com/office/drawing/2014/main" id="{3AA060CF-0F10-0650-D33A-1ADAFBD21F26}"/>
              </a:ext>
            </a:extLst>
          </p:cNvPr>
          <p:cNvSpPr txBox="1"/>
          <p:nvPr/>
        </p:nvSpPr>
        <p:spPr>
          <a:xfrm>
            <a:off x="-457198" y="1552039"/>
            <a:ext cx="12496798" cy="2246769"/>
          </a:xfrm>
          <a:prstGeom prst="rect">
            <a:avLst/>
          </a:prstGeom>
          <a:noFill/>
        </p:spPr>
        <p:txBody>
          <a:bodyPr wrap="square">
            <a:spAutoFit/>
          </a:bodyPr>
          <a:lstStyle/>
          <a:p>
            <a:pPr marL="457200" lvl="1" indent="0">
              <a:buNone/>
            </a:pPr>
            <a:r>
              <a:rPr lang="zh-CN" altLang="en-US" sz="2800" b="1" dirty="0">
                <a:latin typeface="楷体" panose="02010609060101010101" pitchFamily="49" charset="-122"/>
                <a:ea typeface="楷体" panose="02010609060101010101" pitchFamily="49" charset="-122"/>
              </a:rPr>
              <a:t>例：双杂合体</a:t>
            </a:r>
            <a:r>
              <a:rPr lang="en-US" altLang="zh-CN" sz="2800" b="1" dirty="0">
                <a:latin typeface="楷体" panose="02010609060101010101" pitchFamily="49" charset="-122"/>
                <a:ea typeface="楷体" panose="02010609060101010101" pitchFamily="49" charset="-122"/>
              </a:rPr>
              <a:t>(</a:t>
            </a:r>
            <a:r>
              <a:rPr lang="en-US" altLang="zh-CN" sz="2800" b="1" dirty="0" err="1">
                <a:latin typeface="楷体" panose="02010609060101010101" pitchFamily="49" charset="-122"/>
                <a:ea typeface="楷体" panose="02010609060101010101" pitchFamily="49" charset="-122"/>
              </a:rPr>
              <a:t>YyRr</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中，</a:t>
            </a:r>
            <a:r>
              <a:rPr lang="en-US" altLang="zh-CN" sz="2800" b="1" dirty="0" err="1">
                <a:latin typeface="楷体" panose="02010609060101010101" pitchFamily="49" charset="-122"/>
                <a:ea typeface="楷体" panose="02010609060101010101" pitchFamily="49" charset="-122"/>
              </a:rPr>
              <a:t>Yy</a:t>
            </a:r>
            <a:r>
              <a:rPr lang="zh-CN" altLang="en-US" sz="2800" b="1" dirty="0">
                <a:latin typeface="楷体" panose="02010609060101010101" pitchFamily="49" charset="-122"/>
                <a:ea typeface="楷体" panose="02010609060101010101" pitchFamily="49" charset="-122"/>
              </a:rPr>
              <a:t>的分离与</a:t>
            </a:r>
            <a:r>
              <a:rPr lang="en-US" altLang="zh-CN" sz="2800" b="1" dirty="0">
                <a:latin typeface="楷体" panose="02010609060101010101" pitchFamily="49" charset="-122"/>
                <a:ea typeface="楷体" panose="02010609060101010101" pitchFamily="49" charset="-122"/>
              </a:rPr>
              <a:t>Rr</a:t>
            </a:r>
            <a:r>
              <a:rPr lang="zh-CN" altLang="en-US" sz="2800" b="1" dirty="0">
                <a:latin typeface="楷体" panose="02010609060101010101" pitchFamily="49" charset="-122"/>
                <a:ea typeface="楷体" panose="02010609060101010101" pitchFamily="49" charset="-122"/>
              </a:rPr>
              <a:t>的分离是相互独立的，在</a:t>
            </a:r>
            <a:r>
              <a:rPr lang="en-US" altLang="zh-CN" sz="2800" b="1" dirty="0">
                <a:latin typeface="楷体" panose="02010609060101010101" pitchFamily="49" charset="-122"/>
                <a:ea typeface="楷体" panose="02010609060101010101" pitchFamily="49" charset="-122"/>
              </a:rPr>
              <a:t>F</a:t>
            </a:r>
            <a:r>
              <a:rPr lang="en-US" altLang="zh-CN" sz="2800" b="1" baseline="-25000"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的配子中</a:t>
            </a:r>
            <a:r>
              <a:rPr lang="en-US" altLang="zh-CN" sz="2800" b="1" dirty="0">
                <a:latin typeface="楷体" panose="02010609060101010101" pitchFamily="49" charset="-122"/>
                <a:ea typeface="楷体" panose="02010609060101010101" pitchFamily="49" charset="-122"/>
              </a:rPr>
              <a:t>:</a:t>
            </a:r>
          </a:p>
          <a:p>
            <a:pPr lvl="2"/>
            <a:r>
              <a:rPr lang="zh-CN" altLang="en-US" sz="2800" b="1" dirty="0">
                <a:latin typeface="楷体" panose="02010609060101010101" pitchFamily="49" charset="-122"/>
                <a:ea typeface="楷体" panose="02010609060101010101" pitchFamily="49" charset="-122"/>
              </a:rPr>
              <a:t>具有</a:t>
            </a:r>
            <a:r>
              <a:rPr lang="en-US" altLang="zh-CN" sz="2800" b="1" dirty="0">
                <a:latin typeface="楷体" panose="02010609060101010101" pitchFamily="49" charset="-122"/>
                <a:ea typeface="楷体" panose="02010609060101010101" pitchFamily="49" charset="-122"/>
              </a:rPr>
              <a:t>Y</a:t>
            </a:r>
            <a:r>
              <a:rPr lang="zh-CN" altLang="en-US" sz="2800" b="1" dirty="0">
                <a:latin typeface="楷体" panose="02010609060101010101" pitchFamily="49" charset="-122"/>
                <a:ea typeface="楷体" panose="02010609060101010101" pitchFamily="49" charset="-122"/>
              </a:rPr>
              <a:t>的概率是</a:t>
            </a:r>
            <a:r>
              <a:rPr lang="en-US" altLang="zh-CN" sz="2800" b="1" dirty="0">
                <a:latin typeface="楷体" panose="02010609060101010101" pitchFamily="49" charset="-122"/>
                <a:ea typeface="楷体" panose="02010609060101010101" pitchFamily="49" charset="-122"/>
              </a:rPr>
              <a:t>1/2</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y</a:t>
            </a:r>
            <a:r>
              <a:rPr lang="zh-CN" altLang="en-US" sz="2800" b="1" dirty="0">
                <a:latin typeface="楷体" panose="02010609060101010101" pitchFamily="49" charset="-122"/>
                <a:ea typeface="楷体" panose="02010609060101010101" pitchFamily="49" charset="-122"/>
              </a:rPr>
              <a:t>的概率也</a:t>
            </a:r>
            <a:r>
              <a:rPr lang="en-US" altLang="zh-CN" sz="2800" b="1" dirty="0">
                <a:latin typeface="楷体" panose="02010609060101010101" pitchFamily="49" charset="-122"/>
                <a:ea typeface="楷体" panose="02010609060101010101" pitchFamily="49" charset="-122"/>
              </a:rPr>
              <a:t>1/2</a:t>
            </a:r>
            <a:r>
              <a:rPr lang="zh-CN" altLang="en-US" sz="2800" b="1" dirty="0">
                <a:latin typeface="楷体" panose="02010609060101010101" pitchFamily="49" charset="-122"/>
                <a:ea typeface="楷体" panose="02010609060101010101" pitchFamily="49" charset="-122"/>
              </a:rPr>
              <a:t>；</a:t>
            </a:r>
          </a:p>
          <a:p>
            <a:pPr lvl="2"/>
            <a:r>
              <a:rPr lang="zh-CN" altLang="en-US" sz="2800" b="1" dirty="0">
                <a:latin typeface="楷体" panose="02010609060101010101" pitchFamily="49" charset="-122"/>
                <a:ea typeface="楷体" panose="02010609060101010101" pitchFamily="49" charset="-122"/>
              </a:rPr>
              <a:t>具有</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的概率是</a:t>
            </a:r>
            <a:r>
              <a:rPr lang="en-US" altLang="zh-CN" sz="2800" b="1" dirty="0">
                <a:latin typeface="楷体" panose="02010609060101010101" pitchFamily="49" charset="-122"/>
                <a:ea typeface="楷体" panose="02010609060101010101" pitchFamily="49" charset="-122"/>
              </a:rPr>
              <a:t>1/2</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的概率是</a:t>
            </a:r>
            <a:r>
              <a:rPr lang="en-US" altLang="zh-CN" sz="2800" b="1" dirty="0">
                <a:latin typeface="楷体" panose="02010609060101010101" pitchFamily="49" charset="-122"/>
                <a:ea typeface="楷体" panose="02010609060101010101" pitchFamily="49" charset="-122"/>
              </a:rPr>
              <a:t>1/2</a:t>
            </a:r>
            <a:r>
              <a:rPr lang="zh-CN" altLang="en-US" sz="2800" b="1" dirty="0">
                <a:latin typeface="楷体" panose="02010609060101010101" pitchFamily="49" charset="-122"/>
                <a:ea typeface="楷体" panose="02010609060101010101" pitchFamily="49" charset="-122"/>
              </a:rPr>
              <a:t>。</a:t>
            </a:r>
          </a:p>
          <a:p>
            <a:pPr lvl="2"/>
            <a:r>
              <a:rPr lang="zh-CN" altLang="en-US" sz="2800" b="1" dirty="0">
                <a:latin typeface="楷体" panose="02010609060101010101" pitchFamily="49" charset="-122"/>
                <a:ea typeface="楷体" panose="02010609060101010101" pitchFamily="49" charset="-122"/>
              </a:rPr>
              <a:t>而同时具有</a:t>
            </a:r>
            <a:r>
              <a:rPr lang="en-US" altLang="zh-CN" sz="2800" b="1" dirty="0">
                <a:latin typeface="楷体" panose="02010609060101010101" pitchFamily="49" charset="-122"/>
                <a:ea typeface="楷体" panose="02010609060101010101" pitchFamily="49" charset="-122"/>
              </a:rPr>
              <a:t>Y</a:t>
            </a:r>
            <a:r>
              <a:rPr lang="zh-CN" altLang="en-US" sz="2800" b="1" dirty="0">
                <a:latin typeface="楷体" panose="02010609060101010101" pitchFamily="49" charset="-122"/>
                <a:ea typeface="楷体" panose="02010609060101010101" pitchFamily="49" charset="-122"/>
              </a:rPr>
              <a:t>和</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的概率是两个独立事件</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具有</a:t>
            </a:r>
            <a:r>
              <a:rPr lang="en-US" altLang="zh-CN" sz="2800" b="1" dirty="0">
                <a:latin typeface="楷体" panose="02010609060101010101" pitchFamily="49" charset="-122"/>
                <a:ea typeface="楷体" panose="02010609060101010101" pitchFamily="49" charset="-122"/>
              </a:rPr>
              <a:t>Y</a:t>
            </a:r>
            <a:r>
              <a:rPr lang="zh-CN" altLang="en-US" sz="2800" b="1" dirty="0">
                <a:latin typeface="楷体" panose="02010609060101010101" pitchFamily="49" charset="-122"/>
                <a:ea typeface="楷体" panose="02010609060101010101" pitchFamily="49" charset="-122"/>
              </a:rPr>
              <a:t>和</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概率的乘积：</a:t>
            </a:r>
            <a:r>
              <a:rPr lang="en-US" altLang="zh-CN" sz="2800" b="1" dirty="0">
                <a:latin typeface="楷体" panose="02010609060101010101" pitchFamily="49" charset="-122"/>
                <a:ea typeface="楷体" panose="02010609060101010101" pitchFamily="49" charset="-122"/>
              </a:rPr>
              <a:t>1/2×1/2=1/4</a:t>
            </a:r>
            <a:r>
              <a:rPr lang="zh-CN" altLang="en-US" sz="2800" b="1" dirty="0">
                <a:latin typeface="楷体" panose="02010609060101010101" pitchFamily="49" charset="-122"/>
                <a:ea typeface="楷体" panose="02010609060101010101" pitchFamily="49" charset="-122"/>
              </a:rPr>
              <a:t>。</a:t>
            </a:r>
          </a:p>
        </p:txBody>
      </p:sp>
      <p:sp>
        <p:nvSpPr>
          <p:cNvPr id="9" name="文本框 8">
            <a:extLst>
              <a:ext uri="{FF2B5EF4-FFF2-40B4-BE49-F238E27FC236}">
                <a16:creationId xmlns:a16="http://schemas.microsoft.com/office/drawing/2014/main" id="{D73A2D3A-5C98-AC1B-6A40-CC40AAD0FDB5}"/>
              </a:ext>
            </a:extLst>
          </p:cNvPr>
          <p:cNvSpPr txBox="1"/>
          <p:nvPr/>
        </p:nvSpPr>
        <p:spPr>
          <a:xfrm>
            <a:off x="30479" y="4777537"/>
            <a:ext cx="12098767" cy="1384995"/>
          </a:xfrm>
          <a:prstGeom prst="rect">
            <a:avLst/>
          </a:prstGeom>
          <a:noFill/>
        </p:spPr>
        <p:txBody>
          <a:bodyPr wrap="square">
            <a:spAutoFit/>
          </a:bodyPr>
          <a:lstStyle>
            <a:defPPr>
              <a:defRPr lang="zh-CN"/>
            </a:defPPr>
            <a:lvl2pPr lvl="1" indent="0">
              <a:buNone/>
              <a:defRPr sz="2800" b="1">
                <a:latin typeface="楷体" panose="02010609060101010101" pitchFamily="49" charset="-122"/>
                <a:ea typeface="楷体" panose="02010609060101010101" pitchFamily="49" charset="-122"/>
              </a:defRPr>
            </a:lvl2pPr>
            <a:lvl3pPr lvl="2">
              <a:defRPr sz="2800" b="1">
                <a:latin typeface="楷体" panose="02010609060101010101" pitchFamily="49" charset="-122"/>
                <a:ea typeface="楷体" panose="02010609060101010101" pitchFamily="49" charset="-122"/>
              </a:defRPr>
            </a:lvl3pPr>
          </a:lstStyle>
          <a:p>
            <a:r>
              <a:rPr lang="zh-CN" altLang="en-US" sz="2800" b="1" dirty="0">
                <a:latin typeface="楷体" panose="02010609060101010101" pitchFamily="49" charset="-122"/>
                <a:ea typeface="楷体" panose="02010609060101010101" pitchFamily="49" charset="-122"/>
              </a:rPr>
              <a:t>例：杂种</a:t>
            </a:r>
            <a:r>
              <a:rPr lang="en-US" altLang="zh-CN" sz="2800" b="1" dirty="0">
                <a:latin typeface="楷体" panose="02010609060101010101" pitchFamily="49" charset="-122"/>
                <a:ea typeface="楷体" panose="02010609060101010101" pitchFamily="49" charset="-122"/>
              </a:rPr>
              <a:t>F1(Cc)</a:t>
            </a:r>
            <a:r>
              <a:rPr lang="zh-CN" altLang="en-US" sz="2800" b="1" dirty="0">
                <a:latin typeface="楷体" panose="02010609060101010101" pitchFamily="49" charset="-122"/>
                <a:ea typeface="楷体" panose="02010609060101010101" pitchFamily="49" charset="-122"/>
              </a:rPr>
              <a:t>自交</a:t>
            </a:r>
            <a:r>
              <a:rPr lang="en-US" altLang="zh-CN" sz="2800" b="1" dirty="0">
                <a:latin typeface="楷体" panose="02010609060101010101" pitchFamily="49" charset="-122"/>
                <a:ea typeface="楷体" panose="02010609060101010101" pitchFamily="49" charset="-122"/>
              </a:rPr>
              <a:t>F</a:t>
            </a:r>
            <a:r>
              <a:rPr lang="en-US" altLang="zh-CN" sz="2800" b="1" baseline="-25000" dirty="0">
                <a:latin typeface="楷体" panose="02010609060101010101" pitchFamily="49" charset="-122"/>
                <a:ea typeface="楷体" panose="02010609060101010101" pitchFamily="49" charset="-122"/>
              </a:rPr>
              <a:t>2</a:t>
            </a:r>
            <a:r>
              <a:rPr lang="zh-CN" altLang="en-US" sz="2800" b="1" dirty="0">
                <a:latin typeface="楷体" panose="02010609060101010101" pitchFamily="49" charset="-122"/>
                <a:ea typeface="楷体" panose="02010609060101010101" pitchFamily="49" charset="-122"/>
              </a:rPr>
              <a:t>基因型为</a:t>
            </a:r>
            <a:r>
              <a:rPr lang="en-US" altLang="zh-CN" sz="2800" b="1" dirty="0">
                <a:latin typeface="楷体" panose="02010609060101010101" pitchFamily="49" charset="-122"/>
                <a:ea typeface="楷体" panose="02010609060101010101" pitchFamily="49" charset="-122"/>
              </a:rPr>
              <a:t>CC</a:t>
            </a:r>
            <a:r>
              <a:rPr lang="zh-CN" altLang="en-US" sz="2800" b="1" dirty="0">
                <a:latin typeface="楷体" panose="02010609060101010101" pitchFamily="49" charset="-122"/>
                <a:ea typeface="楷体" panose="02010609060101010101" pitchFamily="49" charset="-122"/>
              </a:rPr>
              <a:t>与</a:t>
            </a:r>
            <a:r>
              <a:rPr lang="en-US" altLang="zh-CN" sz="2800" b="1" dirty="0">
                <a:latin typeface="楷体" panose="02010609060101010101" pitchFamily="49" charset="-122"/>
                <a:ea typeface="楷体" panose="02010609060101010101" pitchFamily="49" charset="-122"/>
              </a:rPr>
              <a:t>Cc</a:t>
            </a:r>
            <a:r>
              <a:rPr lang="zh-CN" altLang="en-US" sz="2800" b="1" dirty="0">
                <a:latin typeface="楷体" panose="02010609060101010101" pitchFamily="49" charset="-122"/>
                <a:ea typeface="楷体" panose="02010609060101010101" pitchFamily="49" charset="-122"/>
              </a:rPr>
              <a:t>是互斥事件，两者的概率分别为</a:t>
            </a:r>
            <a:r>
              <a:rPr lang="en-US" altLang="zh-CN" sz="2800" b="1" dirty="0">
                <a:latin typeface="楷体" panose="02010609060101010101" pitchFamily="49" charset="-122"/>
                <a:ea typeface="楷体" panose="02010609060101010101" pitchFamily="49" charset="-122"/>
              </a:rPr>
              <a:t>1/4</a:t>
            </a:r>
            <a:r>
              <a:rPr lang="zh-CN" altLang="en-US" sz="2800" b="1" dirty="0">
                <a:latin typeface="楷体" panose="02010609060101010101" pitchFamily="49" charset="-122"/>
                <a:ea typeface="楷体" panose="02010609060101010101" pitchFamily="49" charset="-122"/>
              </a:rPr>
              <a:t>和</a:t>
            </a:r>
            <a:r>
              <a:rPr lang="en-US" altLang="zh-CN" sz="2800" b="1" dirty="0">
                <a:latin typeface="楷体" panose="02010609060101010101" pitchFamily="49" charset="-122"/>
                <a:ea typeface="楷体" panose="02010609060101010101" pitchFamily="49" charset="-122"/>
              </a:rPr>
              <a:t>2/4</a:t>
            </a:r>
            <a:r>
              <a:rPr lang="zh-CN" altLang="en-US" sz="2800" b="1" dirty="0">
                <a:latin typeface="楷体" panose="02010609060101010101" pitchFamily="49" charset="-122"/>
                <a:ea typeface="楷体" panose="02010609060101010101" pitchFamily="49" charset="-122"/>
              </a:rPr>
              <a:t>，因此</a:t>
            </a:r>
            <a:r>
              <a:rPr lang="en-US" altLang="zh-CN" sz="2800" b="1" dirty="0">
                <a:latin typeface="楷体" panose="02010609060101010101" pitchFamily="49" charset="-122"/>
                <a:ea typeface="楷体" panose="02010609060101010101" pitchFamily="49" charset="-122"/>
              </a:rPr>
              <a:t>F</a:t>
            </a:r>
            <a:r>
              <a:rPr lang="en-US" altLang="zh-CN" sz="2800" b="1" baseline="-25000" dirty="0">
                <a:latin typeface="楷体" panose="02010609060101010101" pitchFamily="49" charset="-122"/>
                <a:ea typeface="楷体" panose="02010609060101010101" pitchFamily="49" charset="-122"/>
              </a:rPr>
              <a:t>2</a:t>
            </a:r>
            <a:r>
              <a:rPr lang="zh-CN" altLang="en-US" sz="2800" b="1" dirty="0">
                <a:latin typeface="楷体" panose="02010609060101010101" pitchFamily="49" charset="-122"/>
                <a:ea typeface="楷体" panose="02010609060101010101" pitchFamily="49" charset="-122"/>
              </a:rPr>
              <a:t>表现为显性性状</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开红花</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的概率为两者概率之和</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基因型为</a:t>
            </a:r>
            <a:r>
              <a:rPr lang="en-US" altLang="zh-CN" sz="2800" b="1" dirty="0">
                <a:latin typeface="楷体" panose="02010609060101010101" pitchFamily="49" charset="-122"/>
                <a:ea typeface="楷体" panose="02010609060101010101" pitchFamily="49" charset="-122"/>
              </a:rPr>
              <a:t>CC</a:t>
            </a:r>
            <a:r>
              <a:rPr lang="zh-CN" altLang="en-US" sz="2800" b="1" dirty="0">
                <a:latin typeface="楷体" panose="02010609060101010101" pitchFamily="49" charset="-122"/>
                <a:ea typeface="楷体" panose="02010609060101010101" pitchFamily="49" charset="-122"/>
              </a:rPr>
              <a:t>或</a:t>
            </a:r>
            <a:r>
              <a:rPr lang="en-US" altLang="zh-CN" sz="2800" b="1" dirty="0">
                <a:latin typeface="楷体" panose="02010609060101010101" pitchFamily="49" charset="-122"/>
                <a:ea typeface="楷体" panose="02010609060101010101" pitchFamily="49" charset="-122"/>
              </a:rPr>
              <a:t>Cc</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6DCED6A5-E977-46AA-8DD4-FD07D0E3D8EE}"/>
              </a:ext>
            </a:extLst>
          </p:cNvPr>
          <p:cNvSpPr>
            <a:spLocks noGrp="1" noChangeArrowheads="1"/>
          </p:cNvSpPr>
          <p:nvPr>
            <p:ph type="title"/>
          </p:nvPr>
        </p:nvSpPr>
        <p:spPr>
          <a:xfrm>
            <a:off x="221762" y="0"/>
            <a:ext cx="11684000" cy="762000"/>
          </a:xfrm>
        </p:spPr>
        <p:txBody>
          <a:bodyPr>
            <a:normAutofit/>
          </a:bodyPr>
          <a:lstStyle/>
          <a:p>
            <a:r>
              <a:rPr lang="en-US" altLang="zh-CN" sz="3600" b="1" dirty="0">
                <a:latin typeface="黑体" panose="02010609060101010101" pitchFamily="49" charset="-122"/>
                <a:ea typeface="黑体" panose="02010609060101010101" pitchFamily="49" charset="-122"/>
              </a:rPr>
              <a:t>(</a:t>
            </a:r>
            <a:r>
              <a:rPr lang="zh-CN" altLang="en-US" sz="3600" b="1" dirty="0">
                <a:latin typeface="黑体" panose="02010609060101010101" pitchFamily="49" charset="-122"/>
                <a:ea typeface="黑体" panose="02010609060101010101" pitchFamily="49" charset="-122"/>
              </a:rPr>
              <a:t>三</a:t>
            </a:r>
            <a:r>
              <a:rPr lang="en-US" altLang="zh-CN" sz="3600" b="1" dirty="0">
                <a:latin typeface="黑体" panose="02010609060101010101" pitchFamily="49" charset="-122"/>
                <a:ea typeface="黑体" panose="02010609060101010101" pitchFamily="49" charset="-122"/>
              </a:rPr>
              <a:t>)</a:t>
            </a:r>
            <a:r>
              <a:rPr lang="zh-CN" altLang="en-US" sz="3600" b="1" dirty="0">
                <a:latin typeface="黑体" panose="02010609060101010101" pitchFamily="49" charset="-122"/>
                <a:ea typeface="黑体" panose="02010609060101010101" pitchFamily="49" charset="-122"/>
              </a:rPr>
              <a:t>概率定理的应用示例</a:t>
            </a:r>
          </a:p>
        </p:txBody>
      </p:sp>
      <p:sp>
        <p:nvSpPr>
          <p:cNvPr id="402435" name="Rectangle 3">
            <a:extLst>
              <a:ext uri="{FF2B5EF4-FFF2-40B4-BE49-F238E27FC236}">
                <a16:creationId xmlns:a16="http://schemas.microsoft.com/office/drawing/2014/main" id="{6B707F70-D2E3-44E9-AD7C-8AE5E9364DA0}"/>
              </a:ext>
            </a:extLst>
          </p:cNvPr>
          <p:cNvSpPr>
            <a:spLocks noGrp="1" noChangeArrowheads="1"/>
          </p:cNvSpPr>
          <p:nvPr>
            <p:ph type="body" sz="half" idx="1"/>
          </p:nvPr>
        </p:nvSpPr>
        <p:spPr>
          <a:xfrm>
            <a:off x="1136924" y="675839"/>
            <a:ext cx="10692637" cy="2592388"/>
          </a:xfrm>
        </p:spPr>
        <p:txBody>
          <a:bodyPr>
            <a:normAutofit/>
          </a:bodyPr>
          <a:lstStyle/>
          <a:p>
            <a:pPr>
              <a:buFont typeface="Wingdings" panose="05000000000000000000" pitchFamily="2" charset="2"/>
              <a:buNone/>
            </a:pPr>
            <a:r>
              <a:rPr lang="en-US" altLang="zh-CN" sz="3200" b="1" dirty="0">
                <a:solidFill>
                  <a:srgbClr val="3324FA"/>
                </a:solidFill>
                <a:latin typeface="黑体" panose="02010609060101010101" pitchFamily="49" charset="-122"/>
                <a:ea typeface="黑体" panose="02010609060101010101" pitchFamily="49" charset="-122"/>
              </a:rPr>
              <a:t>1.</a:t>
            </a:r>
            <a:r>
              <a:rPr lang="zh-CN" altLang="en-US" sz="3200" b="1" dirty="0">
                <a:solidFill>
                  <a:srgbClr val="3324FA"/>
                </a:solidFill>
                <a:latin typeface="黑体" panose="02010609060101010101" pitchFamily="49" charset="-122"/>
                <a:ea typeface="黑体" panose="02010609060101010101" pitchFamily="49" charset="-122"/>
              </a:rPr>
              <a:t>用乘法定理推算</a:t>
            </a:r>
            <a:r>
              <a:rPr lang="en-US" altLang="zh-CN" sz="3200" b="1" dirty="0">
                <a:solidFill>
                  <a:srgbClr val="3324FA"/>
                </a:solidFill>
                <a:latin typeface="黑体" panose="02010609060101010101" pitchFamily="49" charset="-122"/>
                <a:ea typeface="黑体" panose="02010609060101010101" pitchFamily="49" charset="-122"/>
              </a:rPr>
              <a:t>F</a:t>
            </a:r>
            <a:r>
              <a:rPr lang="en-US" altLang="zh-CN" sz="3200" b="1" baseline="-25000" dirty="0">
                <a:solidFill>
                  <a:srgbClr val="3324FA"/>
                </a:solidFill>
                <a:latin typeface="黑体" panose="02010609060101010101" pitchFamily="49" charset="-122"/>
                <a:ea typeface="黑体" panose="02010609060101010101" pitchFamily="49" charset="-122"/>
              </a:rPr>
              <a:t>2</a:t>
            </a:r>
            <a:r>
              <a:rPr lang="zh-CN" altLang="en-US" sz="3200" b="1" dirty="0">
                <a:solidFill>
                  <a:srgbClr val="3324FA"/>
                </a:solidFill>
                <a:latin typeface="黑体" panose="02010609060101010101" pitchFamily="49" charset="-122"/>
                <a:ea typeface="黑体" panose="02010609060101010101" pitchFamily="49" charset="-122"/>
              </a:rPr>
              <a:t>表现型种类与比例</a:t>
            </a:r>
            <a:endParaRPr lang="en-US" altLang="zh-CN" sz="3200" b="1" dirty="0">
              <a:solidFill>
                <a:srgbClr val="3324FA"/>
              </a:solidFill>
              <a:latin typeface="黑体" panose="02010609060101010101" pitchFamily="49" charset="-122"/>
              <a:ea typeface="黑体" panose="02010609060101010101" pitchFamily="49" charset="-122"/>
            </a:endParaRPr>
          </a:p>
          <a:p>
            <a:pPr marL="0" indent="0">
              <a:buNone/>
            </a:pPr>
            <a:r>
              <a:rPr lang="zh-CN" altLang="en-US" b="1" dirty="0">
                <a:latin typeface="黑体" panose="02010609060101010101" pitchFamily="49" charset="-122"/>
                <a:ea typeface="黑体" panose="02010609060101010101" pitchFamily="49" charset="-122"/>
              </a:rPr>
              <a:t>如前所述，</a:t>
            </a:r>
            <a:r>
              <a:rPr lang="zh-CN" altLang="zh-CN" b="1" dirty="0">
                <a:latin typeface="黑体" panose="02010609060101010101" pitchFamily="49" charset="-122"/>
                <a:ea typeface="黑体" panose="02010609060101010101" pitchFamily="49" charset="-122"/>
              </a:rPr>
              <a:t>根据分离规律</a:t>
            </a:r>
            <a:r>
              <a:rPr lang="zh-CN" altLang="en-US" b="1">
                <a:latin typeface="黑体" panose="02010609060101010101" pitchFamily="49" charset="-122"/>
                <a:ea typeface="黑体" panose="02010609060101010101" pitchFamily="49" charset="-122"/>
              </a:rPr>
              <a:t>，</a:t>
            </a:r>
            <a:r>
              <a:rPr lang="en-US" altLang="zh-CN" b="1">
                <a:latin typeface="黑体" panose="02010609060101010101" pitchFamily="49" charset="-122"/>
                <a:ea typeface="黑体" panose="02010609060101010101" pitchFamily="49" charset="-122"/>
              </a:rPr>
              <a:t>F</a:t>
            </a:r>
            <a:r>
              <a:rPr lang="en-US" altLang="zh-CN" b="1" baseline="-25000">
                <a:latin typeface="黑体" panose="02010609060101010101" pitchFamily="49" charset="-122"/>
                <a:ea typeface="黑体" panose="02010609060101010101" pitchFamily="49" charset="-122"/>
              </a:rPr>
              <a:t>1</a:t>
            </a:r>
            <a:r>
              <a:rPr lang="en-US" altLang="zh-CN" b="1">
                <a:latin typeface="黑体" panose="02010609060101010101" pitchFamily="49" charset="-122"/>
                <a:ea typeface="黑体" panose="02010609060101010101" pitchFamily="49" charset="-122"/>
              </a:rPr>
              <a:t>(YyRr</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自交得到的</a:t>
            </a:r>
            <a:r>
              <a:rPr lang="en-US" altLang="zh-CN" b="1" dirty="0">
                <a:latin typeface="黑体" panose="02010609060101010101" pitchFamily="49" charset="-122"/>
                <a:ea typeface="黑体" panose="02010609060101010101" pitchFamily="49" charset="-122"/>
              </a:rPr>
              <a:t>F</a:t>
            </a:r>
            <a:r>
              <a:rPr lang="en-US" altLang="zh-CN" b="1" baseline="-25000" dirty="0">
                <a:latin typeface="黑体" panose="02010609060101010101" pitchFamily="49" charset="-122"/>
                <a:ea typeface="黑体" panose="02010609060101010101" pitchFamily="49" charset="-122"/>
              </a:rPr>
              <a:t>2</a:t>
            </a:r>
            <a:r>
              <a:rPr lang="zh-CN" altLang="zh-CN" b="1" dirty="0">
                <a:latin typeface="黑体" panose="02010609060101010101" pitchFamily="49" charset="-122"/>
                <a:ea typeface="黑体" panose="02010609060101010101" pitchFamily="49" charset="-122"/>
              </a:rPr>
              <a:t>代</a:t>
            </a:r>
            <a:r>
              <a:rPr lang="zh-CN" altLang="en-US" b="1" dirty="0">
                <a:latin typeface="黑体" panose="02010609060101010101" pitchFamily="49" charset="-122"/>
                <a:ea typeface="黑体" panose="02010609060101010101" pitchFamily="49" charset="-122"/>
              </a:rPr>
              <a:t>中：</a:t>
            </a:r>
          </a:p>
          <a:p>
            <a:pPr marL="457200" lvl="1" indent="0">
              <a:buNone/>
            </a:pPr>
            <a:r>
              <a:rPr lang="zh-CN" altLang="zh-CN" sz="2800" b="1" dirty="0">
                <a:latin typeface="黑体" panose="02010609060101010101" pitchFamily="49" charset="-122"/>
                <a:ea typeface="黑体" panose="02010609060101010101" pitchFamily="49" charset="-122"/>
              </a:rPr>
              <a:t>子叶色呈</a:t>
            </a:r>
            <a:r>
              <a:rPr lang="zh-CN" altLang="en-US" sz="2800" b="1" dirty="0">
                <a:latin typeface="黑体" panose="02010609060101010101" pitchFamily="49" charset="-122"/>
                <a:ea typeface="黑体" panose="02010609060101010101" pitchFamily="49" charset="-122"/>
              </a:rPr>
              <a:t>黄色的概率为</a:t>
            </a:r>
            <a:r>
              <a:rPr lang="en-US" altLang="zh-CN" sz="2800" b="1" dirty="0">
                <a:latin typeface="黑体" panose="02010609060101010101" pitchFamily="49" charset="-122"/>
                <a:ea typeface="黑体" panose="02010609060101010101" pitchFamily="49" charset="-122"/>
              </a:rPr>
              <a:t>3/4</a:t>
            </a:r>
            <a:r>
              <a:rPr lang="zh-CN" altLang="en-US" sz="2800" b="1" dirty="0">
                <a:latin typeface="黑体" panose="02010609060101010101" pitchFamily="49" charset="-122"/>
                <a:ea typeface="黑体" panose="02010609060101010101" pitchFamily="49" charset="-122"/>
              </a:rPr>
              <a:t>，绿色的概率为</a:t>
            </a:r>
            <a:r>
              <a:rPr lang="en-US" altLang="zh-CN" sz="2800" b="1" dirty="0">
                <a:latin typeface="黑体" panose="02010609060101010101" pitchFamily="49" charset="-122"/>
                <a:ea typeface="黑体" panose="02010609060101010101" pitchFamily="49" charset="-122"/>
              </a:rPr>
              <a:t>1/4</a:t>
            </a:r>
            <a:r>
              <a:rPr lang="zh-CN" altLang="en-US" sz="2800" b="1" dirty="0">
                <a:latin typeface="黑体" panose="02010609060101010101" pitchFamily="49" charset="-122"/>
                <a:ea typeface="黑体" panose="02010609060101010101" pitchFamily="49" charset="-122"/>
              </a:rPr>
              <a:t>；</a:t>
            </a:r>
          </a:p>
          <a:p>
            <a:pPr marL="457200" lvl="1" indent="0">
              <a:buNone/>
            </a:pPr>
            <a:r>
              <a:rPr lang="zh-CN" altLang="en-US" sz="2800" b="1" dirty="0">
                <a:latin typeface="黑体" panose="02010609060101010101" pitchFamily="49" charset="-122"/>
                <a:ea typeface="黑体" panose="02010609060101010101" pitchFamily="49" charset="-122"/>
              </a:rPr>
              <a:t>种子形态圆粒的概率为</a:t>
            </a:r>
            <a:r>
              <a:rPr lang="en-US" altLang="zh-CN" sz="2800" b="1" dirty="0">
                <a:latin typeface="黑体" panose="02010609060101010101" pitchFamily="49" charset="-122"/>
                <a:ea typeface="黑体" panose="02010609060101010101" pitchFamily="49" charset="-122"/>
              </a:rPr>
              <a:t>3/4</a:t>
            </a:r>
            <a:r>
              <a:rPr lang="zh-CN" altLang="en-US" sz="2800" b="1" dirty="0">
                <a:latin typeface="黑体" panose="02010609060101010101" pitchFamily="49" charset="-122"/>
                <a:ea typeface="黑体" panose="02010609060101010101" pitchFamily="49" charset="-122"/>
              </a:rPr>
              <a:t>，皱粒的概率为</a:t>
            </a:r>
            <a:r>
              <a:rPr lang="en-US" altLang="zh-CN" sz="2800" b="1" dirty="0">
                <a:latin typeface="黑体" panose="02010609060101010101" pitchFamily="49" charset="-122"/>
                <a:ea typeface="黑体" panose="02010609060101010101" pitchFamily="49" charset="-122"/>
              </a:rPr>
              <a:t>1/4</a:t>
            </a:r>
            <a:r>
              <a:rPr lang="zh-CN" altLang="en-US" sz="2800" b="1" dirty="0">
                <a:latin typeface="黑体" panose="02010609060101010101" pitchFamily="49" charset="-122"/>
                <a:ea typeface="黑体" panose="02010609060101010101" pitchFamily="49" charset="-122"/>
              </a:rPr>
              <a:t>。</a:t>
            </a:r>
          </a:p>
          <a:p>
            <a:pPr marL="457200" lvl="1" indent="0">
              <a:buNone/>
            </a:pPr>
            <a:r>
              <a:rPr lang="zh-CN" altLang="en-US" sz="2800" b="1" dirty="0">
                <a:latin typeface="黑体" panose="02010609060101010101" pitchFamily="49" charset="-122"/>
                <a:ea typeface="黑体" panose="02010609060101010101" pitchFamily="49" charset="-122"/>
              </a:rPr>
              <a:t>因此根据乘法定理：</a:t>
            </a:r>
          </a:p>
        </p:txBody>
      </p:sp>
      <p:pic>
        <p:nvPicPr>
          <p:cNvPr id="402436" name="Picture 4">
            <a:extLst>
              <a:ext uri="{FF2B5EF4-FFF2-40B4-BE49-F238E27FC236}">
                <a16:creationId xmlns:a16="http://schemas.microsoft.com/office/drawing/2014/main" id="{F26386BD-A6DE-4B4A-BF5B-71D9268C3AE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148713" y="3199893"/>
            <a:ext cx="7011987" cy="2592387"/>
          </a:xfrm>
          <a:noFill/>
          <a:ln/>
        </p:spPr>
      </p:pic>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a:extLst>
              <a:ext uri="{FF2B5EF4-FFF2-40B4-BE49-F238E27FC236}">
                <a16:creationId xmlns:a16="http://schemas.microsoft.com/office/drawing/2014/main" id="{2F29362A-E878-43C6-A716-DD2FA7A62029}"/>
              </a:ext>
            </a:extLst>
          </p:cNvPr>
          <p:cNvSpPr>
            <a:spLocks noGrp="1" noChangeArrowheads="1"/>
          </p:cNvSpPr>
          <p:nvPr>
            <p:ph type="title"/>
          </p:nvPr>
        </p:nvSpPr>
        <p:spPr>
          <a:xfrm>
            <a:off x="325438" y="-3568"/>
            <a:ext cx="11684000" cy="762000"/>
          </a:xfrm>
        </p:spPr>
        <p:txBody>
          <a:bodyPr>
            <a:normAutofit/>
          </a:bodyPr>
          <a:lstStyle/>
          <a:p>
            <a:r>
              <a:rPr lang="en-US" altLang="zh-CN" sz="3600" b="1" dirty="0">
                <a:latin typeface="黑体" panose="02010609060101010101" pitchFamily="49" charset="-122"/>
                <a:ea typeface="黑体" panose="02010609060101010101" pitchFamily="49" charset="-122"/>
              </a:rPr>
              <a:t>(</a:t>
            </a:r>
            <a:r>
              <a:rPr lang="zh-CN" altLang="en-US" sz="3600" b="1" dirty="0">
                <a:latin typeface="黑体" panose="02010609060101010101" pitchFamily="49" charset="-122"/>
                <a:ea typeface="黑体" panose="02010609060101010101" pitchFamily="49" charset="-122"/>
              </a:rPr>
              <a:t>三</a:t>
            </a:r>
            <a:r>
              <a:rPr lang="en-US" altLang="zh-CN" sz="3600" b="1" dirty="0">
                <a:latin typeface="黑体" panose="02010609060101010101" pitchFamily="49" charset="-122"/>
                <a:ea typeface="黑体" panose="02010609060101010101" pitchFamily="49" charset="-122"/>
              </a:rPr>
              <a:t>)</a:t>
            </a:r>
            <a:r>
              <a:rPr lang="zh-CN" altLang="en-US" sz="3600" b="1" dirty="0">
                <a:latin typeface="黑体" panose="02010609060101010101" pitchFamily="49" charset="-122"/>
                <a:ea typeface="黑体" panose="02010609060101010101" pitchFamily="49" charset="-122"/>
              </a:rPr>
              <a:t>概率定理的应用示例</a:t>
            </a:r>
          </a:p>
        </p:txBody>
      </p:sp>
      <p:sp>
        <p:nvSpPr>
          <p:cNvPr id="405507" name="Rectangle 3">
            <a:extLst>
              <a:ext uri="{FF2B5EF4-FFF2-40B4-BE49-F238E27FC236}">
                <a16:creationId xmlns:a16="http://schemas.microsoft.com/office/drawing/2014/main" id="{6299D94B-C9D2-4155-B291-4332E7522B6F}"/>
              </a:ext>
            </a:extLst>
          </p:cNvPr>
          <p:cNvSpPr>
            <a:spLocks noGrp="1" noChangeArrowheads="1"/>
          </p:cNvSpPr>
          <p:nvPr>
            <p:ph type="body" sz="half" idx="1"/>
          </p:nvPr>
        </p:nvSpPr>
        <p:spPr>
          <a:xfrm>
            <a:off x="1320550" y="775619"/>
            <a:ext cx="8836025" cy="625475"/>
          </a:xfrm>
        </p:spPr>
        <p:txBody>
          <a:bodyPr>
            <a:normAutofit/>
          </a:bodyPr>
          <a:lstStyle/>
          <a:p>
            <a:pPr>
              <a:buFont typeface="Wingdings" panose="05000000000000000000" pitchFamily="2" charset="2"/>
              <a:buNone/>
            </a:pPr>
            <a:r>
              <a:rPr lang="en-US" altLang="zh-CN" sz="3200" b="1" dirty="0">
                <a:solidFill>
                  <a:srgbClr val="3324FA"/>
                </a:solidFill>
                <a:latin typeface="黑体" panose="02010609060101010101" pitchFamily="49" charset="-122"/>
                <a:ea typeface="黑体" panose="02010609060101010101" pitchFamily="49" charset="-122"/>
              </a:rPr>
              <a:t>2.</a:t>
            </a:r>
            <a:r>
              <a:rPr lang="zh-CN" altLang="en-US" sz="3200" b="1" dirty="0">
                <a:solidFill>
                  <a:srgbClr val="3324FA"/>
                </a:solidFill>
                <a:latin typeface="黑体" panose="02010609060101010101" pitchFamily="49" charset="-122"/>
                <a:ea typeface="黑体" panose="02010609060101010101" pitchFamily="49" charset="-122"/>
              </a:rPr>
              <a:t>按棋盘方法推算</a:t>
            </a:r>
            <a:r>
              <a:rPr lang="en-US" altLang="zh-CN" sz="3200" b="1" dirty="0">
                <a:solidFill>
                  <a:srgbClr val="3324FA"/>
                </a:solidFill>
                <a:latin typeface="黑体" panose="02010609060101010101" pitchFamily="49" charset="-122"/>
                <a:ea typeface="黑体" panose="02010609060101010101" pitchFamily="49" charset="-122"/>
              </a:rPr>
              <a:t>F</a:t>
            </a:r>
            <a:r>
              <a:rPr lang="en-US" altLang="zh-CN" sz="3200" b="1" baseline="-25000" dirty="0">
                <a:solidFill>
                  <a:srgbClr val="3324FA"/>
                </a:solidFill>
                <a:latin typeface="黑体" panose="02010609060101010101" pitchFamily="49" charset="-122"/>
                <a:ea typeface="黑体" panose="02010609060101010101" pitchFamily="49" charset="-122"/>
              </a:rPr>
              <a:t>2</a:t>
            </a:r>
            <a:r>
              <a:rPr lang="zh-CN" altLang="en-US" sz="3200" b="1" dirty="0">
                <a:solidFill>
                  <a:srgbClr val="3324FA"/>
                </a:solidFill>
                <a:latin typeface="黑体" panose="02010609060101010101" pitchFamily="49" charset="-122"/>
                <a:ea typeface="黑体" panose="02010609060101010101" pitchFamily="49" charset="-122"/>
              </a:rPr>
              <a:t>基因型种类与比例</a:t>
            </a:r>
            <a:endParaRPr lang="en-US" altLang="zh-CN" sz="3200" b="1" dirty="0">
              <a:solidFill>
                <a:srgbClr val="3324FA"/>
              </a:solidFill>
              <a:latin typeface="黑体" panose="02010609060101010101" pitchFamily="49" charset="-122"/>
              <a:ea typeface="黑体" panose="02010609060101010101" pitchFamily="49" charset="-122"/>
            </a:endParaRPr>
          </a:p>
        </p:txBody>
      </p:sp>
      <p:pic>
        <p:nvPicPr>
          <p:cNvPr id="405508" name="Picture 4" descr="加法定理表">
            <a:extLst>
              <a:ext uri="{FF2B5EF4-FFF2-40B4-BE49-F238E27FC236}">
                <a16:creationId xmlns:a16="http://schemas.microsoft.com/office/drawing/2014/main" id="{7CECF3C3-CDD7-4E01-9102-F43E23DF4025}"/>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920875" y="1321837"/>
            <a:ext cx="8350250" cy="4473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miter lim="800000"/>
                <a:headEnd type="none" w="med" len="med"/>
                <a:tailEnd type="none" w="med" len="med"/>
              </a14:hiddenLine>
            </a:ext>
          </a:extLst>
        </p:spPr>
      </p:pic>
      <p:sp>
        <p:nvSpPr>
          <p:cNvPr id="405509" name="Rectangle 5">
            <a:extLst>
              <a:ext uri="{FF2B5EF4-FFF2-40B4-BE49-F238E27FC236}">
                <a16:creationId xmlns:a16="http://schemas.microsoft.com/office/drawing/2014/main" id="{2EAA0C3C-2F8C-42DE-8280-67E5C52BFB26}"/>
              </a:ext>
            </a:extLst>
          </p:cNvPr>
          <p:cNvSpPr>
            <a:spLocks noChangeArrowheads="1"/>
          </p:cNvSpPr>
          <p:nvPr/>
        </p:nvSpPr>
        <p:spPr bwMode="auto">
          <a:xfrm>
            <a:off x="5016500" y="3148759"/>
            <a:ext cx="1150938" cy="865187"/>
          </a:xfrm>
          <a:prstGeom prst="rect">
            <a:avLst/>
          </a:prstGeom>
          <a:noFill/>
          <a:ln w="19050" cap="sq">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5510" name="Rectangle 6">
            <a:extLst>
              <a:ext uri="{FF2B5EF4-FFF2-40B4-BE49-F238E27FC236}">
                <a16:creationId xmlns:a16="http://schemas.microsoft.com/office/drawing/2014/main" id="{0743382F-5A4F-4817-98C2-7732F22B5554}"/>
              </a:ext>
            </a:extLst>
          </p:cNvPr>
          <p:cNvSpPr>
            <a:spLocks noChangeArrowheads="1"/>
          </p:cNvSpPr>
          <p:nvPr/>
        </p:nvSpPr>
        <p:spPr bwMode="auto">
          <a:xfrm>
            <a:off x="6383339" y="2356596"/>
            <a:ext cx="1152525" cy="792163"/>
          </a:xfrm>
          <a:prstGeom prst="rect">
            <a:avLst/>
          </a:prstGeom>
          <a:noFill/>
          <a:ln w="19050" cap="sq">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AB9BC7D0-A5A3-46AA-9031-8D62D3C63375}"/>
              </a:ext>
            </a:extLst>
          </p:cNvPr>
          <p:cNvSpPr>
            <a:spLocks noGrp="1" noChangeArrowheads="1"/>
          </p:cNvSpPr>
          <p:nvPr>
            <p:ph type="title"/>
          </p:nvPr>
        </p:nvSpPr>
        <p:spPr>
          <a:xfrm>
            <a:off x="254000" y="83972"/>
            <a:ext cx="11684000" cy="762000"/>
          </a:xfrm>
        </p:spPr>
        <p:txBody>
          <a:bodyPr>
            <a:normAutofit/>
          </a:bodyPr>
          <a:lstStyle/>
          <a:p>
            <a:r>
              <a:rPr lang="en-US" altLang="zh-CN" sz="3600" b="1" dirty="0">
                <a:latin typeface="黑体" panose="02010609060101010101" pitchFamily="49" charset="-122"/>
                <a:ea typeface="黑体" panose="02010609060101010101" pitchFamily="49" charset="-122"/>
              </a:rPr>
              <a:t>(</a:t>
            </a:r>
            <a:r>
              <a:rPr lang="zh-CN" altLang="en-US" sz="3600" b="1" dirty="0">
                <a:latin typeface="黑体" panose="02010609060101010101" pitchFamily="49" charset="-122"/>
                <a:ea typeface="黑体" panose="02010609060101010101" pitchFamily="49" charset="-122"/>
              </a:rPr>
              <a:t>三</a:t>
            </a:r>
            <a:r>
              <a:rPr lang="en-US" altLang="zh-CN" sz="3600" b="1" dirty="0">
                <a:latin typeface="黑体" panose="02010609060101010101" pitchFamily="49" charset="-122"/>
                <a:ea typeface="黑体" panose="02010609060101010101" pitchFamily="49" charset="-122"/>
              </a:rPr>
              <a:t>)</a:t>
            </a:r>
            <a:r>
              <a:rPr lang="zh-CN" altLang="en-US" sz="3600" b="1" dirty="0">
                <a:latin typeface="黑体" panose="02010609060101010101" pitchFamily="49" charset="-122"/>
                <a:ea typeface="黑体" panose="02010609060101010101" pitchFamily="49" charset="-122"/>
              </a:rPr>
              <a:t>概率定理的应用示例</a:t>
            </a:r>
          </a:p>
        </p:txBody>
      </p:sp>
      <p:sp>
        <p:nvSpPr>
          <p:cNvPr id="404483" name="Rectangle 3">
            <a:extLst>
              <a:ext uri="{FF2B5EF4-FFF2-40B4-BE49-F238E27FC236}">
                <a16:creationId xmlns:a16="http://schemas.microsoft.com/office/drawing/2014/main" id="{201BF4D7-F230-4B95-B5DF-6C5EB01CAB19}"/>
              </a:ext>
            </a:extLst>
          </p:cNvPr>
          <p:cNvSpPr>
            <a:spLocks noGrp="1" noChangeArrowheads="1"/>
          </p:cNvSpPr>
          <p:nvPr>
            <p:ph type="body" sz="half" idx="1"/>
          </p:nvPr>
        </p:nvSpPr>
        <p:spPr>
          <a:xfrm>
            <a:off x="1124961" y="825875"/>
            <a:ext cx="9690820" cy="5172075"/>
          </a:xfrm>
        </p:spPr>
        <p:txBody>
          <a:bodyPr/>
          <a:lstStyle/>
          <a:p>
            <a:pPr>
              <a:buFont typeface="Wingdings" panose="05000000000000000000" pitchFamily="2" charset="2"/>
              <a:buNone/>
            </a:pPr>
            <a:r>
              <a:rPr lang="en-US" altLang="zh-CN" sz="3200" b="1" dirty="0">
                <a:solidFill>
                  <a:srgbClr val="3324FA"/>
                </a:solidFill>
                <a:latin typeface="黑体" panose="02010609060101010101" pitchFamily="49" charset="-122"/>
                <a:ea typeface="黑体" panose="02010609060101010101" pitchFamily="49" charset="-122"/>
              </a:rPr>
              <a:t>2.</a:t>
            </a:r>
            <a:r>
              <a:rPr lang="zh-CN" altLang="en-US" sz="3200" b="1" dirty="0">
                <a:solidFill>
                  <a:srgbClr val="3324FA"/>
                </a:solidFill>
                <a:latin typeface="黑体" panose="02010609060101010101" pitchFamily="49" charset="-122"/>
                <a:ea typeface="黑体" panose="02010609060101010101" pitchFamily="49" charset="-122"/>
              </a:rPr>
              <a:t>按棋盘方法推算</a:t>
            </a:r>
            <a:r>
              <a:rPr lang="en-US" altLang="zh-CN" sz="3200" b="1" dirty="0">
                <a:solidFill>
                  <a:srgbClr val="3324FA"/>
                </a:solidFill>
                <a:latin typeface="黑体" panose="02010609060101010101" pitchFamily="49" charset="-122"/>
                <a:ea typeface="黑体" panose="02010609060101010101" pitchFamily="49" charset="-122"/>
              </a:rPr>
              <a:t>F</a:t>
            </a:r>
            <a:r>
              <a:rPr lang="en-US" altLang="zh-CN" sz="3200" b="1" baseline="-25000" dirty="0">
                <a:solidFill>
                  <a:srgbClr val="3324FA"/>
                </a:solidFill>
                <a:latin typeface="黑体" panose="02010609060101010101" pitchFamily="49" charset="-122"/>
                <a:ea typeface="黑体" panose="02010609060101010101" pitchFamily="49" charset="-122"/>
              </a:rPr>
              <a:t>2</a:t>
            </a:r>
            <a:r>
              <a:rPr lang="zh-CN" altLang="en-US" sz="3200" b="1" dirty="0">
                <a:solidFill>
                  <a:srgbClr val="3324FA"/>
                </a:solidFill>
                <a:latin typeface="黑体" panose="02010609060101010101" pitchFamily="49" charset="-122"/>
                <a:ea typeface="黑体" panose="02010609060101010101" pitchFamily="49" charset="-122"/>
              </a:rPr>
              <a:t>基因型种类与比例</a:t>
            </a:r>
            <a:endParaRPr lang="en-US" altLang="zh-CN" sz="3200" b="1" dirty="0">
              <a:solidFill>
                <a:srgbClr val="3324FA"/>
              </a:solidFill>
              <a:latin typeface="黑体" panose="02010609060101010101" pitchFamily="49" charset="-122"/>
              <a:ea typeface="黑体" panose="02010609060101010101" pitchFamily="49" charset="-122"/>
            </a:endParaRPr>
          </a:p>
          <a:p>
            <a:pPr lvl="1"/>
            <a:r>
              <a:rPr lang="en-US" altLang="zh-CN" sz="2800" b="1" dirty="0">
                <a:latin typeface="黑体" panose="02010609060101010101" pitchFamily="49" charset="-122"/>
                <a:ea typeface="黑体" panose="02010609060101010101" pitchFamily="49" charset="-122"/>
              </a:rPr>
              <a:t>F</a:t>
            </a:r>
            <a:r>
              <a:rPr lang="en-US" altLang="zh-CN" sz="2800" b="1" baseline="-25000"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雌雄配子均有四种，且每种的概率为</a:t>
            </a:r>
            <a:r>
              <a:rPr lang="en-US" altLang="zh-CN" sz="2800" b="1" dirty="0">
                <a:latin typeface="黑体" panose="02010609060101010101" pitchFamily="49" charset="-122"/>
                <a:ea typeface="黑体" panose="02010609060101010101" pitchFamily="49" charset="-122"/>
              </a:rPr>
              <a:t>1/4</a:t>
            </a:r>
            <a:r>
              <a:rPr lang="zh-CN" altLang="en-US" sz="2800" b="1" dirty="0">
                <a:latin typeface="黑体" panose="02010609060101010101" pitchFamily="49" charset="-122"/>
                <a:ea typeface="黑体" panose="02010609060101010101" pitchFamily="49" charset="-122"/>
              </a:rPr>
              <a:t>；并且各种雌雄配子结合的机会是均等的。</a:t>
            </a:r>
          </a:p>
          <a:p>
            <a:pPr lvl="1"/>
            <a:r>
              <a:rPr lang="zh-CN" altLang="en-US" sz="2800" b="1" dirty="0">
                <a:latin typeface="黑体" panose="02010609060101010101" pitchFamily="49" charset="-122"/>
                <a:ea typeface="黑体" panose="02010609060101010101" pitchFamily="49" charset="-122"/>
              </a:rPr>
              <a:t>根据乘法定理，</a:t>
            </a:r>
            <a:r>
              <a:rPr lang="en-US" altLang="zh-CN" sz="2800" b="1" dirty="0">
                <a:latin typeface="黑体" panose="02010609060101010101" pitchFamily="49" charset="-122"/>
                <a:ea typeface="黑体" panose="02010609060101010101" pitchFamily="49" charset="-122"/>
              </a:rPr>
              <a:t>F</a:t>
            </a:r>
            <a:r>
              <a:rPr lang="en-US" altLang="zh-CN" sz="2800" b="1" baseline="-25000" dirty="0">
                <a:latin typeface="黑体" panose="02010609060101010101" pitchFamily="49" charset="-122"/>
                <a:ea typeface="黑体" panose="02010609060101010101" pitchFamily="49" charset="-122"/>
              </a:rPr>
              <a:t>2</a:t>
            </a:r>
            <a:r>
              <a:rPr lang="zh-CN" altLang="zh-CN" sz="2800" b="1" dirty="0">
                <a:latin typeface="黑体" panose="02010609060101010101" pitchFamily="49" charset="-122"/>
                <a:ea typeface="黑体" panose="02010609060101010101" pitchFamily="49" charset="-122"/>
              </a:rPr>
              <a:t>产生的16种组合方式</a:t>
            </a:r>
            <a:r>
              <a:rPr lang="zh-CN" altLang="en-US" sz="2800" b="1" dirty="0">
                <a:latin typeface="黑体" panose="02010609060101010101" pitchFamily="49" charset="-122"/>
                <a:ea typeface="黑体" panose="02010609060101010101" pitchFamily="49" charset="-122"/>
              </a:rPr>
              <a:t>；</a:t>
            </a:r>
          </a:p>
          <a:p>
            <a:pPr lvl="1"/>
            <a:r>
              <a:rPr lang="zh-CN" altLang="en-US" sz="2800" b="1" dirty="0">
                <a:latin typeface="黑体" panose="02010609060101010101" pitchFamily="49" charset="-122"/>
                <a:ea typeface="黑体" panose="02010609060101010101" pitchFamily="49" charset="-122"/>
              </a:rPr>
              <a:t>再根据加法定理，其中基因型</a:t>
            </a:r>
            <a:r>
              <a:rPr lang="en-US" altLang="zh-CN" sz="2800" b="1" dirty="0" err="1">
                <a:latin typeface="黑体" panose="02010609060101010101" pitchFamily="49" charset="-122"/>
                <a:ea typeface="黑体" panose="02010609060101010101" pitchFamily="49" charset="-122"/>
              </a:rPr>
              <a:t>YYRr</a:t>
            </a:r>
            <a:r>
              <a:rPr lang="zh-CN" altLang="en-US" sz="2800" b="1" dirty="0">
                <a:latin typeface="黑体" panose="02010609060101010101" pitchFamily="49" charset="-122"/>
                <a:ea typeface="黑体" panose="02010609060101010101" pitchFamily="49" charset="-122"/>
              </a:rPr>
              <a:t>出现的概率是</a:t>
            </a:r>
            <a:r>
              <a:rPr lang="en-US" altLang="zh-CN" sz="2800" b="1" dirty="0">
                <a:latin typeface="黑体" panose="02010609060101010101" pitchFamily="49" charset="-122"/>
                <a:ea typeface="黑体" panose="02010609060101010101" pitchFamily="49" charset="-122"/>
              </a:rPr>
              <a:t>1/16+1/16</a:t>
            </a:r>
            <a:r>
              <a:rPr lang="zh-CN" altLang="en-US" sz="2800" b="1" dirty="0">
                <a:latin typeface="黑体" panose="02010609060101010101" pitchFamily="49" charset="-122"/>
                <a:ea typeface="黑体" panose="02010609060101010101" pitchFamily="49" charset="-122"/>
              </a:rPr>
              <a:t>。</a:t>
            </a:r>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1E10F24-EF1C-4B23-B6E4-61E284D3117B}"/>
              </a:ext>
            </a:extLst>
          </p:cNvPr>
          <p:cNvSpPr>
            <a:spLocks noGrp="1"/>
          </p:cNvSpPr>
          <p:nvPr>
            <p:ph idx="1"/>
          </p:nvPr>
        </p:nvSpPr>
        <p:spPr>
          <a:xfrm>
            <a:off x="125951" y="119895"/>
            <a:ext cx="11336784" cy="727970"/>
          </a:xfrm>
        </p:spPr>
        <p:txBody>
          <a:bodyPr vert="horz" lIns="91440" tIns="45720" rIns="91440" bIns="45720" rtlCol="0">
            <a:normAutofit/>
          </a:bodyPr>
          <a:lstStyle/>
          <a:p>
            <a:pPr lvl="1"/>
            <a:r>
              <a:rPr lang="zh-CN" altLang="en-US" sz="3200" b="1" dirty="0">
                <a:solidFill>
                  <a:srgbClr val="3324FA"/>
                </a:solidFill>
              </a:rPr>
              <a:t>分支法（</a:t>
            </a:r>
            <a:r>
              <a:rPr lang="en-US" altLang="zh-CN" sz="3200" b="1" dirty="0">
                <a:solidFill>
                  <a:srgbClr val="3324FA"/>
                </a:solidFill>
              </a:rPr>
              <a:t>branching process</a:t>
            </a:r>
            <a:r>
              <a:rPr lang="zh-CN" altLang="en-US" sz="3200" b="1" dirty="0">
                <a:solidFill>
                  <a:srgbClr val="3324FA"/>
                </a:solidFill>
              </a:rPr>
              <a:t>）</a:t>
            </a:r>
          </a:p>
        </p:txBody>
      </p:sp>
      <p:pic>
        <p:nvPicPr>
          <p:cNvPr id="4" name="图片 3">
            <a:extLst>
              <a:ext uri="{FF2B5EF4-FFF2-40B4-BE49-F238E27FC236}">
                <a16:creationId xmlns:a16="http://schemas.microsoft.com/office/drawing/2014/main" id="{A990FDEC-77F0-4517-B79C-19D909FF0980}"/>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675661" y="685069"/>
            <a:ext cx="2538598" cy="5592233"/>
          </a:xfrm>
          <a:prstGeom prst="rect">
            <a:avLst/>
          </a:prstGeom>
        </p:spPr>
      </p:pic>
      <p:pic>
        <p:nvPicPr>
          <p:cNvPr id="8" name="图片 7">
            <a:extLst>
              <a:ext uri="{FF2B5EF4-FFF2-40B4-BE49-F238E27FC236}">
                <a16:creationId xmlns:a16="http://schemas.microsoft.com/office/drawing/2014/main" id="{FE07E989-2050-4316-9A7F-093491CC6438}"/>
              </a:ext>
            </a:extLst>
          </p:cNvPr>
          <p:cNvPicPr>
            <a:picLocks noChangeAspect="1"/>
          </p:cNvPicPr>
          <p:nvPr/>
        </p:nvPicPr>
        <p:blipFill>
          <a:blip r:embed="rId5" cstate="print">
            <a:extLst>
              <a:ext uri="{BEBA8EAE-BF5A-486C-A8C5-ECC9F3942E4B}">
                <a14:imgProps xmlns:a14="http://schemas.microsoft.com/office/drawing/2010/main">
                  <a14:imgLayer r:embed="rId6">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589987" y="372380"/>
            <a:ext cx="4500096" cy="5904922"/>
          </a:xfrm>
          <a:prstGeom prst="rect">
            <a:avLst/>
          </a:prstGeom>
        </p:spPr>
      </p:pic>
      <p:sp>
        <p:nvSpPr>
          <p:cNvPr id="12" name="文本框 11">
            <a:extLst>
              <a:ext uri="{FF2B5EF4-FFF2-40B4-BE49-F238E27FC236}">
                <a16:creationId xmlns:a16="http://schemas.microsoft.com/office/drawing/2014/main" id="{E2846F8E-B05C-4847-B29E-9B1F7161928A}"/>
              </a:ext>
            </a:extLst>
          </p:cNvPr>
          <p:cNvSpPr txBox="1"/>
          <p:nvPr/>
        </p:nvSpPr>
        <p:spPr>
          <a:xfrm>
            <a:off x="1001599" y="6277302"/>
            <a:ext cx="3560974" cy="523220"/>
          </a:xfrm>
          <a:prstGeom prst="rect">
            <a:avLst/>
          </a:prstGeom>
          <a:noFill/>
        </p:spPr>
        <p:txBody>
          <a:bodyPr wrap="square">
            <a:spAutoFit/>
          </a:bodyPr>
          <a:lstStyle>
            <a:defPPr>
              <a:defRPr lang="zh-CN"/>
            </a:defPPr>
            <a:lvl1pPr algn="ctr">
              <a:defRPr sz="1400">
                <a:solidFill>
                  <a:srgbClr val="3A5991"/>
                </a:solidFill>
                <a:latin typeface="Times New Roman" panose="02020603050405020304" pitchFamily="18" charset="0"/>
                <a:ea typeface="Microsoft YaHei Light" panose="020B0502040204020203" pitchFamily="34" charset="-122"/>
                <a:cs typeface="Times New Roman" panose="02020603050405020304" pitchFamily="18" charset="0"/>
              </a:defRPr>
            </a:lvl1pPr>
          </a:lstStyle>
          <a:p>
            <a:r>
              <a:rPr lang="zh-CN" altLang="en-US" dirty="0"/>
              <a:t>　用分支法推算孟德尔两对基因杂种产生的基因型和表型</a:t>
            </a:r>
          </a:p>
        </p:txBody>
      </p:sp>
      <p:sp>
        <p:nvSpPr>
          <p:cNvPr id="14" name="文本框 13">
            <a:extLst>
              <a:ext uri="{FF2B5EF4-FFF2-40B4-BE49-F238E27FC236}">
                <a16:creationId xmlns:a16="http://schemas.microsoft.com/office/drawing/2014/main" id="{B34A5D2F-68E4-4AB4-8573-B6BDB05C3628}"/>
              </a:ext>
            </a:extLst>
          </p:cNvPr>
          <p:cNvSpPr txBox="1"/>
          <p:nvPr/>
        </p:nvSpPr>
        <p:spPr>
          <a:xfrm>
            <a:off x="7079816" y="6413698"/>
            <a:ext cx="4010266" cy="307777"/>
          </a:xfrm>
          <a:prstGeom prst="rect">
            <a:avLst/>
          </a:prstGeom>
          <a:noFill/>
        </p:spPr>
        <p:txBody>
          <a:bodyPr wrap="square">
            <a:spAutoFit/>
          </a:bodyPr>
          <a:lstStyle>
            <a:defPPr>
              <a:defRPr lang="zh-CN"/>
            </a:defPPr>
            <a:lvl1pPr algn="ctr">
              <a:defRPr sz="1400">
                <a:solidFill>
                  <a:srgbClr val="3A5991"/>
                </a:solidFill>
                <a:latin typeface="Times New Roman" panose="02020603050405020304" pitchFamily="18" charset="0"/>
                <a:ea typeface="Microsoft YaHei Light" panose="020B0502040204020203" pitchFamily="34" charset="-122"/>
                <a:cs typeface="Times New Roman" panose="02020603050405020304" pitchFamily="18" charset="0"/>
              </a:defRPr>
            </a:lvl1pPr>
          </a:lstStyle>
          <a:p>
            <a:r>
              <a:rPr lang="zh-CN" altLang="en-US" dirty="0"/>
              <a:t>用分支法推算 </a:t>
            </a:r>
            <a:r>
              <a:rPr lang="en-US" altLang="zh-CN" dirty="0"/>
              <a:t>3 </a:t>
            </a:r>
            <a:r>
              <a:rPr lang="zh-CN" altLang="en-US" dirty="0"/>
              <a:t>对基因杂交产生的基因型和表型</a:t>
            </a:r>
          </a:p>
        </p:txBody>
      </p:sp>
      <p:sp>
        <p:nvSpPr>
          <p:cNvPr id="7" name="灯片编号占位符 2">
            <a:extLst>
              <a:ext uri="{FF2B5EF4-FFF2-40B4-BE49-F238E27FC236}">
                <a16:creationId xmlns:a16="http://schemas.microsoft.com/office/drawing/2014/main" id="{E80A05CD-9AAA-472E-BDB3-804637AEE70D}"/>
              </a:ext>
            </a:extLst>
          </p:cNvPr>
          <p:cNvSpPr txBox="1">
            <a:spLocks/>
          </p:cNvSpPr>
          <p:nvPr/>
        </p:nvSpPr>
        <p:spPr>
          <a:xfrm>
            <a:off x="11353799" y="6356350"/>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a:pPr/>
              <a:t>25</a:t>
            </a:fld>
            <a:endParaRPr lang="zh-CN" altLang="en-US" dirty="0"/>
          </a:p>
        </p:txBody>
      </p:sp>
    </p:spTree>
    <p:extLst>
      <p:ext uri="{BB962C8B-B14F-4D97-AF65-F5344CB8AC3E}">
        <p14:creationId xmlns:p14="http://schemas.microsoft.com/office/powerpoint/2010/main" val="1273263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p:cNvSpPr>
          <p:nvPr>
            <p:ph idx="1"/>
          </p:nvPr>
        </p:nvSpPr>
        <p:spPr>
          <a:xfrm>
            <a:off x="540789" y="4584753"/>
            <a:ext cx="11651211" cy="1658003"/>
          </a:xfrm>
        </p:spPr>
        <p:txBody>
          <a:bodyPr vert="horz" lIns="91440" tIns="45720" rIns="91440" bIns="45720" rtlCol="0" anchor="ctr">
            <a:normAutofit/>
          </a:bodyPr>
          <a:lstStyle/>
          <a:p>
            <a:pPr marL="0" indent="0">
              <a:spcBef>
                <a:spcPct val="0"/>
              </a:spcBef>
              <a:buNone/>
            </a:pPr>
            <a:r>
              <a:rPr lang="en-US" altLang="zh-CN" sz="3600" b="1" dirty="0">
                <a:latin typeface="黑体" panose="02010609060101010101" pitchFamily="49" charset="-122"/>
                <a:ea typeface="黑体" panose="02010609060101010101" pitchFamily="49" charset="-122"/>
                <a:cs typeface="+mj-cs"/>
              </a:rPr>
              <a:t>P</a:t>
            </a:r>
            <a:r>
              <a:rPr lang="zh-CN" altLang="en-US" sz="3600" b="1" dirty="0">
                <a:latin typeface="黑体" panose="02010609060101010101" pitchFamily="49" charset="-122"/>
                <a:ea typeface="黑体" panose="02010609060101010101" pitchFamily="49" charset="-122"/>
                <a:cs typeface="+mj-cs"/>
              </a:rPr>
              <a:t>：某一事件的概率；</a:t>
            </a:r>
            <a:r>
              <a:rPr lang="en-US" altLang="zh-CN" sz="3600" b="1" dirty="0">
                <a:latin typeface="黑体" panose="02010609060101010101" pitchFamily="49" charset="-122"/>
                <a:ea typeface="黑体" panose="02010609060101010101" pitchFamily="49" charset="-122"/>
                <a:cs typeface="+mj-cs"/>
              </a:rPr>
              <a:t>q</a:t>
            </a:r>
            <a:r>
              <a:rPr lang="zh-CN" altLang="en-US" sz="3600" b="1" dirty="0">
                <a:latin typeface="黑体" panose="02010609060101010101" pitchFamily="49" charset="-122"/>
                <a:ea typeface="黑体" panose="02010609060101010101" pitchFamily="49" charset="-122"/>
                <a:cs typeface="+mj-cs"/>
              </a:rPr>
              <a:t>：另一事件的概率  且 </a:t>
            </a:r>
            <a:r>
              <a:rPr lang="en-US" altLang="zh-CN" sz="3600" b="1" dirty="0" err="1">
                <a:latin typeface="黑体" panose="02010609060101010101" pitchFamily="49" charset="-122"/>
                <a:ea typeface="黑体" panose="02010609060101010101" pitchFamily="49" charset="-122"/>
                <a:cs typeface="+mj-cs"/>
              </a:rPr>
              <a:t>p+q</a:t>
            </a:r>
            <a:r>
              <a:rPr lang="en-US" altLang="zh-CN" sz="3600" b="1" dirty="0">
                <a:latin typeface="黑体" panose="02010609060101010101" pitchFamily="49" charset="-122"/>
                <a:ea typeface="黑体" panose="02010609060101010101" pitchFamily="49" charset="-122"/>
                <a:cs typeface="+mj-cs"/>
              </a:rPr>
              <a:t>=1</a:t>
            </a:r>
            <a:endParaRPr lang="zh-CN" altLang="en-US" sz="3600" b="1" dirty="0">
              <a:latin typeface="黑体" panose="02010609060101010101" pitchFamily="49" charset="-122"/>
              <a:ea typeface="黑体" panose="02010609060101010101" pitchFamily="49" charset="-122"/>
              <a:cs typeface="+mj-cs"/>
            </a:endParaRPr>
          </a:p>
          <a:p>
            <a:pPr marL="0" indent="0">
              <a:spcBef>
                <a:spcPct val="0"/>
              </a:spcBef>
              <a:buNone/>
            </a:pPr>
            <a:r>
              <a:rPr lang="en-US" altLang="zh-CN" sz="3600" b="1" dirty="0">
                <a:latin typeface="黑体" panose="02010609060101010101" pitchFamily="49" charset="-122"/>
                <a:ea typeface="黑体" panose="02010609060101010101" pitchFamily="49" charset="-122"/>
                <a:cs typeface="+mj-cs"/>
              </a:rPr>
              <a:t>n</a:t>
            </a:r>
            <a:r>
              <a:rPr lang="zh-CN" altLang="en-US" sz="3600" b="1" dirty="0">
                <a:latin typeface="黑体" panose="02010609060101010101" pitchFamily="49" charset="-122"/>
                <a:ea typeface="黑体" panose="02010609060101010101" pitchFamily="49" charset="-122"/>
                <a:cs typeface="+mj-cs"/>
              </a:rPr>
              <a:t>：事件总数</a:t>
            </a:r>
          </a:p>
          <a:p>
            <a:pPr marL="0" indent="0">
              <a:spcBef>
                <a:spcPct val="0"/>
              </a:spcBef>
              <a:buNone/>
            </a:pPr>
            <a:r>
              <a:rPr lang="en-US" altLang="zh-CN" sz="3600" b="1" dirty="0">
                <a:latin typeface="黑体" panose="02010609060101010101" pitchFamily="49" charset="-122"/>
                <a:ea typeface="黑体" panose="02010609060101010101" pitchFamily="49" charset="-122"/>
                <a:cs typeface="+mj-cs"/>
              </a:rPr>
              <a:t>r</a:t>
            </a:r>
            <a:r>
              <a:rPr lang="zh-CN" altLang="en-US" sz="3600" b="1" dirty="0">
                <a:latin typeface="黑体" panose="02010609060101010101" pitchFamily="49" charset="-122"/>
                <a:ea typeface="黑体" panose="02010609060101010101" pitchFamily="49" charset="-122"/>
                <a:cs typeface="+mj-cs"/>
              </a:rPr>
              <a:t>：</a:t>
            </a:r>
            <a:r>
              <a:rPr lang="en-US" altLang="zh-CN" sz="3600" b="1" dirty="0">
                <a:latin typeface="黑体" panose="02010609060101010101" pitchFamily="49" charset="-122"/>
                <a:ea typeface="黑体" panose="02010609060101010101" pitchFamily="49" charset="-122"/>
                <a:cs typeface="+mj-cs"/>
              </a:rPr>
              <a:t>q</a:t>
            </a:r>
            <a:r>
              <a:rPr lang="zh-CN" altLang="en-US" sz="3600" b="1" dirty="0">
                <a:latin typeface="黑体" panose="02010609060101010101" pitchFamily="49" charset="-122"/>
                <a:ea typeface="黑体" panose="02010609060101010101" pitchFamily="49" charset="-122"/>
                <a:cs typeface="+mj-cs"/>
              </a:rPr>
              <a:t>事件出现的次数   </a:t>
            </a:r>
            <a:r>
              <a:rPr lang="en-US" altLang="zh-CN" sz="3600" b="1" dirty="0">
                <a:latin typeface="黑体" panose="02010609060101010101" pitchFamily="49" charset="-122"/>
                <a:ea typeface="黑体" panose="02010609060101010101" pitchFamily="49" charset="-122"/>
                <a:cs typeface="+mj-cs"/>
              </a:rPr>
              <a:t>n-r</a:t>
            </a:r>
            <a:r>
              <a:rPr lang="zh-CN" altLang="en-US" sz="3600" b="1" dirty="0">
                <a:latin typeface="黑体" panose="02010609060101010101" pitchFamily="49" charset="-122"/>
                <a:ea typeface="黑体" panose="02010609060101010101" pitchFamily="49" charset="-122"/>
                <a:cs typeface="+mj-cs"/>
              </a:rPr>
              <a:t>：</a:t>
            </a:r>
            <a:r>
              <a:rPr lang="en-US" altLang="zh-CN" sz="3600" b="1" dirty="0">
                <a:latin typeface="黑体" panose="02010609060101010101" pitchFamily="49" charset="-122"/>
                <a:ea typeface="黑体" panose="02010609060101010101" pitchFamily="49" charset="-122"/>
                <a:cs typeface="+mj-cs"/>
              </a:rPr>
              <a:t>p</a:t>
            </a:r>
            <a:r>
              <a:rPr lang="zh-CN" altLang="en-US" sz="3600" b="1" dirty="0">
                <a:latin typeface="黑体" panose="02010609060101010101" pitchFamily="49" charset="-122"/>
                <a:ea typeface="黑体" panose="02010609060101010101" pitchFamily="49" charset="-122"/>
                <a:cs typeface="+mj-cs"/>
              </a:rPr>
              <a:t>事件出现的次数</a:t>
            </a:r>
            <a:endParaRPr lang="en-US" altLang="zh-CN" sz="3600" b="1" dirty="0">
              <a:latin typeface="黑体" panose="02010609060101010101" pitchFamily="49" charset="-122"/>
              <a:ea typeface="黑体" panose="02010609060101010101" pitchFamily="49" charset="-122"/>
              <a:cs typeface="+mj-cs"/>
            </a:endParaRPr>
          </a:p>
        </p:txBody>
      </p:sp>
      <p:graphicFrame>
        <p:nvGraphicFramePr>
          <p:cNvPr id="46083" name="Object 2"/>
          <p:cNvGraphicFramePr/>
          <p:nvPr>
            <p:extLst>
              <p:ext uri="{D42A27DB-BD31-4B8C-83A1-F6EECF244321}">
                <p14:modId xmlns:p14="http://schemas.microsoft.com/office/powerpoint/2010/main" val="294716586"/>
              </p:ext>
            </p:extLst>
          </p:nvPr>
        </p:nvGraphicFramePr>
        <p:xfrm>
          <a:off x="0" y="1828801"/>
          <a:ext cx="12192000" cy="981390"/>
        </p:xfrm>
        <a:graphic>
          <a:graphicData uri="http://schemas.openxmlformats.org/presentationml/2006/ole">
            <mc:AlternateContent xmlns:mc="http://schemas.openxmlformats.org/markup-compatibility/2006">
              <mc:Choice xmlns:v="urn:schemas-microsoft-com:vml" Requires="v">
                <p:oleObj r:id="rId3" imgW="3898900" imgH="279400" progId="Equation.3">
                  <p:embed/>
                </p:oleObj>
              </mc:Choice>
              <mc:Fallback>
                <p:oleObj r:id="rId3" imgW="3898900" imgH="279400" progId="Equation.3">
                  <p:embed/>
                  <p:pic>
                    <p:nvPicPr>
                      <p:cNvPr id="46083" name="Object 2"/>
                      <p:cNvPicPr/>
                      <p:nvPr/>
                    </p:nvPicPr>
                    <p:blipFill>
                      <a:blip r:embed="rId4"/>
                      <a:stretch>
                        <a:fillRect/>
                      </a:stretch>
                    </p:blipFill>
                    <p:spPr>
                      <a:xfrm>
                        <a:off x="0" y="1828801"/>
                        <a:ext cx="12192000" cy="981390"/>
                      </a:xfrm>
                      <a:prstGeom prst="rect">
                        <a:avLst/>
                      </a:prstGeom>
                      <a:noFill/>
                      <a:ln w="38100">
                        <a:noFill/>
                        <a:miter/>
                      </a:ln>
                    </p:spPr>
                  </p:pic>
                </p:oleObj>
              </mc:Fallback>
            </mc:AlternateContent>
          </a:graphicData>
        </a:graphic>
      </p:graphicFrame>
      <p:graphicFrame>
        <p:nvGraphicFramePr>
          <p:cNvPr id="46084" name="Object 3"/>
          <p:cNvGraphicFramePr/>
          <p:nvPr>
            <p:extLst>
              <p:ext uri="{D42A27DB-BD31-4B8C-83A1-F6EECF244321}">
                <p14:modId xmlns:p14="http://schemas.microsoft.com/office/powerpoint/2010/main" val="3432007171"/>
              </p:ext>
            </p:extLst>
          </p:nvPr>
        </p:nvGraphicFramePr>
        <p:xfrm>
          <a:off x="1277388" y="2861252"/>
          <a:ext cx="9410007" cy="1759527"/>
        </p:xfrm>
        <a:graphic>
          <a:graphicData uri="http://schemas.openxmlformats.org/presentationml/2006/ole">
            <mc:AlternateContent xmlns:mc="http://schemas.openxmlformats.org/markup-compatibility/2006">
              <mc:Choice xmlns:v="urn:schemas-microsoft-com:vml" Requires="v">
                <p:oleObj r:id="rId5" imgW="1790700" imgH="419100" progId="Equation.3">
                  <p:embed/>
                </p:oleObj>
              </mc:Choice>
              <mc:Fallback>
                <p:oleObj r:id="rId5" imgW="1790700" imgH="419100" progId="Equation.3">
                  <p:embed/>
                  <p:pic>
                    <p:nvPicPr>
                      <p:cNvPr id="46084" name="Object 3"/>
                      <p:cNvPicPr/>
                      <p:nvPr/>
                    </p:nvPicPr>
                    <p:blipFill>
                      <a:blip r:embed="rId6"/>
                      <a:stretch>
                        <a:fillRect/>
                      </a:stretch>
                    </p:blipFill>
                    <p:spPr>
                      <a:xfrm>
                        <a:off x="1277388" y="2861252"/>
                        <a:ext cx="9410007" cy="1759527"/>
                      </a:xfrm>
                      <a:prstGeom prst="rect">
                        <a:avLst/>
                      </a:prstGeom>
                      <a:noFill/>
                      <a:ln w="38100">
                        <a:noFill/>
                        <a:miter/>
                      </a:ln>
                    </p:spPr>
                  </p:pic>
                </p:oleObj>
              </mc:Fallback>
            </mc:AlternateContent>
          </a:graphicData>
        </a:graphic>
      </p:graphicFrame>
      <p:sp>
        <p:nvSpPr>
          <p:cNvPr id="7" name="Rectangle 2">
            <a:extLst>
              <a:ext uri="{FF2B5EF4-FFF2-40B4-BE49-F238E27FC236}">
                <a16:creationId xmlns:a16="http://schemas.microsoft.com/office/drawing/2014/main" id="{56B3E6FD-1C5B-49F6-A315-E0E7FC0C8E73}"/>
              </a:ext>
            </a:extLst>
          </p:cNvPr>
          <p:cNvSpPr>
            <a:spLocks noGrp="1" noChangeArrowheads="1"/>
          </p:cNvSpPr>
          <p:nvPr>
            <p:ph type="title"/>
          </p:nvPr>
        </p:nvSpPr>
        <p:spPr>
          <a:xfrm>
            <a:off x="319882" y="0"/>
            <a:ext cx="11684000" cy="762000"/>
          </a:xfrm>
        </p:spPr>
        <p:txBody>
          <a:bodyPr>
            <a:normAutofit/>
          </a:bodyPr>
          <a:lstStyle/>
          <a:p>
            <a:r>
              <a:rPr lang="zh-CN" altLang="zh-CN" sz="4000" b="1" dirty="0">
                <a:solidFill>
                  <a:srgbClr val="0000FF"/>
                </a:solidFill>
                <a:latin typeface="黑体" panose="02010609060101010101" pitchFamily="49" charset="-122"/>
                <a:ea typeface="黑体" panose="02010609060101010101" pitchFamily="49" charset="-122"/>
                <a:sym typeface="Wingdings" panose="05000000000000000000" pitchFamily="2" charset="2"/>
              </a:rPr>
              <a:t>二、二项式展开</a:t>
            </a:r>
          </a:p>
        </p:txBody>
      </p:sp>
      <p:sp>
        <p:nvSpPr>
          <p:cNvPr id="3" name="矩形 2"/>
          <p:cNvSpPr/>
          <p:nvPr/>
        </p:nvSpPr>
        <p:spPr>
          <a:xfrm>
            <a:off x="199505" y="548641"/>
            <a:ext cx="11565775" cy="1280160"/>
          </a:xfrm>
          <a:prstGeom prst="rect">
            <a:avLst/>
          </a:prstGeom>
        </p:spPr>
        <p:txBody>
          <a:bodyPr vert="horz" lIns="91440" tIns="45720" rIns="91440" bIns="45720" rtlCol="0" anchor="ctr">
            <a:normAutofit/>
          </a:bodyPr>
          <a:lstStyle/>
          <a:p>
            <a:pPr>
              <a:spcBef>
                <a:spcPct val="0"/>
              </a:spcBef>
            </a:pPr>
            <a:r>
              <a:rPr lang="zh-CN" altLang="en-US" sz="3600" b="1" dirty="0">
                <a:latin typeface="黑体" panose="02010609060101010101" pitchFamily="49" charset="-122"/>
                <a:ea typeface="黑体" panose="02010609060101010101" pitchFamily="49" charset="-122"/>
                <a:cs typeface="+mj-cs"/>
              </a:rPr>
              <a:t>遗传学问题不单是研究某一事件出现的概率，有时也牵涉到某些事件组合出现的概率</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body" idx="4294967295"/>
          </p:nvPr>
        </p:nvSpPr>
        <p:spPr>
          <a:xfrm>
            <a:off x="166688" y="202247"/>
            <a:ext cx="11382374" cy="1447800"/>
          </a:xfrm>
        </p:spPr>
        <p:txBody>
          <a:bodyPr vert="horz" wrap="square" anchor="t"/>
          <a:lstStyle/>
          <a:p>
            <a:pPr algn="just" eaLnBrk="1" hangingPunct="1">
              <a:buNone/>
            </a:pPr>
            <a:r>
              <a:rPr lang="en-US" altLang="zh-CN" sz="2800" b="1" dirty="0">
                <a:solidFill>
                  <a:srgbClr val="FF3300"/>
                </a:solidFill>
                <a:effectLst>
                  <a:outerShdw blurRad="38100" dist="38100" dir="2700000">
                    <a:srgbClr val="000000"/>
                  </a:outerShdw>
                </a:effectLst>
                <a:latin typeface="宋体" panose="02010600030101010101" pitchFamily="2" charset="-122"/>
              </a:rPr>
              <a:t>  </a:t>
            </a:r>
            <a:r>
              <a:rPr lang="zh-CN" altLang="en-US" sz="2800" b="1" dirty="0">
                <a:solidFill>
                  <a:srgbClr val="FF3300"/>
                </a:solidFill>
                <a:effectLst>
                  <a:outerShdw blurRad="38100" dist="38100" dir="2700000">
                    <a:srgbClr val="000000"/>
                  </a:outerShdw>
                </a:effectLst>
                <a:latin typeface="宋体" panose="02010600030101010101" pitchFamily="2" charset="-122"/>
              </a:rPr>
              <a:t>问题</a:t>
            </a:r>
            <a:r>
              <a:rPr lang="en-US" altLang="zh-CN" sz="2800" b="1" dirty="0">
                <a:solidFill>
                  <a:srgbClr val="FF3300"/>
                </a:solidFill>
                <a:effectLst>
                  <a:outerShdw blurRad="38100" dist="38100" dir="2700000">
                    <a:srgbClr val="000000"/>
                  </a:outerShdw>
                </a:effectLst>
                <a:latin typeface="宋体" panose="02010600030101010101" pitchFamily="2" charset="-122"/>
              </a:rPr>
              <a:t>1</a:t>
            </a:r>
            <a:r>
              <a:rPr lang="en-US" altLang="zh-CN" b="1" dirty="0">
                <a:latin typeface="宋体" panose="02010600030101010101" pitchFamily="2" charset="-122"/>
              </a:rPr>
              <a:t>  </a:t>
            </a:r>
            <a:r>
              <a:rPr lang="zh-CN" altLang="en-US" sz="2800" b="1" dirty="0">
                <a:latin typeface="华文楷体" panose="02010600040101010101" charset="-122"/>
                <a:ea typeface="华文楷体" panose="02010600040101010101" charset="-122"/>
                <a:cs typeface="华文楷体" panose="02010600040101010101" charset="-122"/>
              </a:rPr>
              <a:t>从甲、乙、丙</a:t>
            </a:r>
            <a:r>
              <a:rPr lang="en-US" altLang="zh-CN" sz="2800" b="1" dirty="0">
                <a:latin typeface="华文楷体" panose="02010600040101010101" charset="-122"/>
                <a:ea typeface="华文楷体" panose="02010600040101010101" charset="-122"/>
                <a:cs typeface="华文楷体" panose="02010600040101010101" charset="-122"/>
              </a:rPr>
              <a:t>3</a:t>
            </a:r>
            <a:r>
              <a:rPr lang="zh-CN" altLang="en-US" sz="2800" b="1" dirty="0">
                <a:latin typeface="华文楷体" panose="02010600040101010101" charset="-122"/>
                <a:ea typeface="华文楷体" panose="02010600040101010101" charset="-122"/>
                <a:cs typeface="华文楷体" panose="02010600040101010101" charset="-122"/>
              </a:rPr>
              <a:t>名同学中选出</a:t>
            </a:r>
            <a:r>
              <a:rPr lang="en-US" altLang="zh-CN" sz="2800" b="1" dirty="0">
                <a:latin typeface="华文楷体" panose="02010600040101010101" charset="-122"/>
                <a:ea typeface="华文楷体" panose="02010600040101010101" charset="-122"/>
                <a:cs typeface="华文楷体" panose="02010600040101010101" charset="-122"/>
              </a:rPr>
              <a:t>2</a:t>
            </a:r>
            <a:r>
              <a:rPr lang="zh-CN" altLang="en-US" sz="2800" b="1" dirty="0">
                <a:latin typeface="华文楷体" panose="02010600040101010101" charset="-122"/>
                <a:ea typeface="华文楷体" panose="02010600040101010101" charset="-122"/>
                <a:cs typeface="华文楷体" panose="02010600040101010101" charset="-122"/>
              </a:rPr>
              <a:t>名参加某天的一项活动，其中</a:t>
            </a:r>
            <a:r>
              <a:rPr lang="en-US" altLang="zh-CN" sz="2800" b="1" dirty="0">
                <a:latin typeface="华文楷体" panose="02010600040101010101" charset="-122"/>
                <a:ea typeface="华文楷体" panose="02010600040101010101" charset="-122"/>
                <a:cs typeface="华文楷体" panose="02010600040101010101" charset="-122"/>
              </a:rPr>
              <a:t>1</a:t>
            </a:r>
            <a:r>
              <a:rPr lang="zh-CN" altLang="en-US" sz="2800" b="1" dirty="0">
                <a:latin typeface="华文楷体" panose="02010600040101010101" charset="-122"/>
                <a:ea typeface="华文楷体" panose="02010600040101010101" charset="-122"/>
                <a:cs typeface="华文楷体" panose="02010600040101010101" charset="-122"/>
              </a:rPr>
              <a:t>名同学参加上午的活动，另</a:t>
            </a:r>
            <a:r>
              <a:rPr lang="en-US" altLang="zh-CN" sz="2800" b="1" dirty="0">
                <a:latin typeface="华文楷体" panose="02010600040101010101" charset="-122"/>
                <a:ea typeface="华文楷体" panose="02010600040101010101" charset="-122"/>
                <a:cs typeface="华文楷体" panose="02010600040101010101" charset="-122"/>
              </a:rPr>
              <a:t>1</a:t>
            </a:r>
            <a:r>
              <a:rPr lang="zh-CN" altLang="en-US" sz="2800" b="1" dirty="0">
                <a:latin typeface="华文楷体" panose="02010600040101010101" charset="-122"/>
                <a:ea typeface="华文楷体" panose="02010600040101010101" charset="-122"/>
                <a:cs typeface="华文楷体" panose="02010600040101010101" charset="-122"/>
              </a:rPr>
              <a:t>名同学参加下午的活动，有多少种不同的方法？</a:t>
            </a:r>
          </a:p>
          <a:p>
            <a:pPr eaLnBrk="1" hangingPunct="1">
              <a:buNone/>
            </a:pPr>
            <a:endParaRPr lang="en-US" altLang="zh-CN" b="1" dirty="0">
              <a:latin typeface="华文楷体" panose="02010600040101010101" charset="-122"/>
              <a:ea typeface="华文楷体" panose="02010600040101010101" charset="-122"/>
              <a:cs typeface="华文楷体" panose="02010600040101010101" charset="-122"/>
            </a:endParaRPr>
          </a:p>
        </p:txBody>
      </p:sp>
      <p:grpSp>
        <p:nvGrpSpPr>
          <p:cNvPr id="9220" name="组合 9219"/>
          <p:cNvGrpSpPr/>
          <p:nvPr/>
        </p:nvGrpSpPr>
        <p:grpSpPr>
          <a:xfrm>
            <a:off x="1851100" y="2442210"/>
            <a:ext cx="1438275" cy="476250"/>
            <a:chOff x="0" y="0"/>
            <a:chExt cx="906" cy="300"/>
          </a:xfrm>
        </p:grpSpPr>
        <p:sp>
          <p:nvSpPr>
            <p:cNvPr id="9221" name="Text Box 3"/>
            <p:cNvSpPr txBox="1"/>
            <p:nvPr/>
          </p:nvSpPr>
          <p:spPr>
            <a:xfrm>
              <a:off x="0" y="0"/>
              <a:ext cx="453" cy="300"/>
            </a:xfrm>
            <a:prstGeom prst="rect">
              <a:avLst/>
            </a:prstGeom>
            <a:noFill/>
            <a:ln w="19050" cap="sq" cmpd="sng">
              <a:solidFill>
                <a:schemeClr val="tx1"/>
              </a:solidFill>
              <a:prstDash val="solid"/>
              <a:miter/>
              <a:headEnd type="none" w="med" len="med"/>
              <a:tailEnd type="none" w="med" len="med"/>
            </a:ln>
          </p:spPr>
          <p:txBody>
            <a:bodyPr>
              <a:spAutoFit/>
            </a:bodyPr>
            <a:lstStyle/>
            <a:p>
              <a:pPr fontAlgn="base">
                <a:spcBef>
                  <a:spcPct val="50000"/>
                </a:spcBef>
                <a:spcAft>
                  <a:spcPct val="0"/>
                </a:spcAft>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9222" name="Text Box 4"/>
            <p:cNvSpPr txBox="1"/>
            <p:nvPr/>
          </p:nvSpPr>
          <p:spPr>
            <a:xfrm>
              <a:off x="453" y="0"/>
              <a:ext cx="453" cy="300"/>
            </a:xfrm>
            <a:prstGeom prst="rect">
              <a:avLst/>
            </a:prstGeom>
            <a:noFill/>
            <a:ln w="19050" cap="sq" cmpd="sng">
              <a:solidFill>
                <a:schemeClr val="tx1"/>
              </a:solidFill>
              <a:prstDash val="solid"/>
              <a:miter/>
              <a:headEnd type="none" w="med" len="med"/>
              <a:tailEnd type="none" w="med" len="med"/>
            </a:ln>
          </p:spPr>
          <p:txBody>
            <a:bodyPr>
              <a:spAutoFit/>
            </a:bodyPr>
            <a:lstStyle/>
            <a:p>
              <a:pPr fontAlgn="base">
                <a:spcBef>
                  <a:spcPct val="50000"/>
                </a:spcBef>
                <a:spcAft>
                  <a:spcPct val="0"/>
                </a:spcAft>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9223" name="组合 9222"/>
          <p:cNvGrpSpPr/>
          <p:nvPr/>
        </p:nvGrpSpPr>
        <p:grpSpPr>
          <a:xfrm>
            <a:off x="1805062" y="2900997"/>
            <a:ext cx="938212" cy="788988"/>
            <a:chOff x="0" y="0"/>
            <a:chExt cx="591" cy="497"/>
          </a:xfrm>
        </p:grpSpPr>
        <p:sp>
          <p:nvSpPr>
            <p:cNvPr id="9224" name="Line 6"/>
            <p:cNvSpPr/>
            <p:nvPr/>
          </p:nvSpPr>
          <p:spPr>
            <a:xfrm flipH="1" flipV="1">
              <a:off x="256" y="0"/>
              <a:ext cx="0" cy="272"/>
            </a:xfrm>
            <a:prstGeom prst="line">
              <a:avLst/>
            </a:prstGeom>
            <a:ln w="19050" cap="sq" cmpd="sng">
              <a:solidFill>
                <a:schemeClr val="tx1"/>
              </a:solidFill>
              <a:prstDash val="solid"/>
              <a:headEnd type="none" w="med" len="med"/>
              <a:tailEnd type="triangle" w="lg" len="lg"/>
            </a:ln>
          </p:spPr>
          <p:txBody>
            <a:bodyPr/>
            <a:lstStyle/>
            <a:p>
              <a:endParaRPr/>
            </a:p>
          </p:txBody>
        </p:sp>
        <p:sp>
          <p:nvSpPr>
            <p:cNvPr id="9225" name="Text Box 7"/>
            <p:cNvSpPr txBox="1"/>
            <p:nvPr/>
          </p:nvSpPr>
          <p:spPr>
            <a:xfrm>
              <a:off x="0" y="209"/>
              <a:ext cx="591" cy="288"/>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３种</a:t>
              </a:r>
            </a:p>
          </p:txBody>
        </p:sp>
      </p:grpSp>
      <p:grpSp>
        <p:nvGrpSpPr>
          <p:cNvPr id="9226" name="组合 9225"/>
          <p:cNvGrpSpPr/>
          <p:nvPr/>
        </p:nvGrpSpPr>
        <p:grpSpPr>
          <a:xfrm>
            <a:off x="2541662" y="2900998"/>
            <a:ext cx="938212" cy="790575"/>
            <a:chOff x="0" y="0"/>
            <a:chExt cx="591" cy="498"/>
          </a:xfrm>
        </p:grpSpPr>
        <p:sp>
          <p:nvSpPr>
            <p:cNvPr id="9227" name="Line 9"/>
            <p:cNvSpPr/>
            <p:nvPr/>
          </p:nvSpPr>
          <p:spPr>
            <a:xfrm flipH="1" flipV="1">
              <a:off x="245" y="0"/>
              <a:ext cx="0" cy="272"/>
            </a:xfrm>
            <a:prstGeom prst="line">
              <a:avLst/>
            </a:prstGeom>
            <a:ln w="19050" cap="sq" cmpd="sng">
              <a:solidFill>
                <a:schemeClr val="tx1"/>
              </a:solidFill>
              <a:prstDash val="solid"/>
              <a:headEnd type="none" w="med" len="med"/>
              <a:tailEnd type="triangle" w="lg" len="lg"/>
            </a:ln>
          </p:spPr>
          <p:txBody>
            <a:bodyPr/>
            <a:lstStyle/>
            <a:p>
              <a:endParaRPr/>
            </a:p>
          </p:txBody>
        </p:sp>
        <p:sp>
          <p:nvSpPr>
            <p:cNvPr id="9228" name="Text Box 10"/>
            <p:cNvSpPr txBox="1"/>
            <p:nvPr/>
          </p:nvSpPr>
          <p:spPr>
            <a:xfrm>
              <a:off x="0" y="210"/>
              <a:ext cx="591" cy="288"/>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２种</a:t>
              </a:r>
            </a:p>
          </p:txBody>
        </p:sp>
      </p:grpSp>
      <p:sp>
        <p:nvSpPr>
          <p:cNvPr id="9229" name="Text Box 11"/>
          <p:cNvSpPr txBox="1"/>
          <p:nvPr/>
        </p:nvSpPr>
        <p:spPr>
          <a:xfrm>
            <a:off x="1562175" y="3882073"/>
            <a:ext cx="2232025" cy="460375"/>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华文楷体" panose="02010600040101010101" charset="-122"/>
                <a:ea typeface="华文楷体" panose="02010600040101010101" charset="-122"/>
              </a:rPr>
              <a:t>３</a:t>
            </a:r>
            <a:r>
              <a:rPr lang="en-US" altLang="zh-CN" sz="2400" b="1">
                <a:solidFill>
                  <a:srgbClr val="000000"/>
                </a:solidFill>
                <a:latin typeface="华文楷体" panose="02010600040101010101" charset="-122"/>
                <a:ea typeface="华文楷体" panose="02010600040101010101" charset="-122"/>
              </a:rPr>
              <a:t>×</a:t>
            </a:r>
            <a:r>
              <a:rPr lang="zh-CN" altLang="en-US" sz="2400" b="1">
                <a:solidFill>
                  <a:srgbClr val="000000"/>
                </a:solidFill>
                <a:latin typeface="华文楷体" panose="02010600040101010101" charset="-122"/>
                <a:ea typeface="华文楷体" panose="02010600040101010101" charset="-122"/>
              </a:rPr>
              <a:t>２＝６种</a:t>
            </a:r>
          </a:p>
        </p:txBody>
      </p:sp>
      <p:sp>
        <p:nvSpPr>
          <p:cNvPr id="9230" name="Text Box 2"/>
          <p:cNvSpPr txBox="1"/>
          <p:nvPr/>
        </p:nvSpPr>
        <p:spPr>
          <a:xfrm>
            <a:off x="5522987" y="2513648"/>
            <a:ext cx="569912" cy="461665"/>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甲</a:t>
            </a:r>
          </a:p>
        </p:txBody>
      </p:sp>
      <p:grpSp>
        <p:nvGrpSpPr>
          <p:cNvPr id="9231" name="组合 9230"/>
          <p:cNvGrpSpPr/>
          <p:nvPr/>
        </p:nvGrpSpPr>
        <p:grpSpPr>
          <a:xfrm>
            <a:off x="4995937" y="3129597"/>
            <a:ext cx="1579562" cy="1214438"/>
            <a:chOff x="0" y="0"/>
            <a:chExt cx="995" cy="765"/>
          </a:xfrm>
        </p:grpSpPr>
        <p:sp>
          <p:nvSpPr>
            <p:cNvPr id="9232" name="Text Box 4"/>
            <p:cNvSpPr txBox="1"/>
            <p:nvPr/>
          </p:nvSpPr>
          <p:spPr>
            <a:xfrm>
              <a:off x="0" y="474"/>
              <a:ext cx="359" cy="291"/>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乙</a:t>
              </a:r>
            </a:p>
          </p:txBody>
        </p:sp>
        <p:sp>
          <p:nvSpPr>
            <p:cNvPr id="9233" name="Text Box 5"/>
            <p:cNvSpPr txBox="1"/>
            <p:nvPr/>
          </p:nvSpPr>
          <p:spPr>
            <a:xfrm>
              <a:off x="636" y="474"/>
              <a:ext cx="359" cy="291"/>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丙</a:t>
              </a:r>
            </a:p>
          </p:txBody>
        </p:sp>
        <p:sp>
          <p:nvSpPr>
            <p:cNvPr id="9234" name="Line 6"/>
            <p:cNvSpPr/>
            <p:nvPr/>
          </p:nvSpPr>
          <p:spPr>
            <a:xfrm flipH="1">
              <a:off x="227" y="0"/>
              <a:ext cx="182" cy="428"/>
            </a:xfrm>
            <a:prstGeom prst="line">
              <a:avLst/>
            </a:prstGeom>
            <a:ln w="19050" cap="sq" cmpd="sng">
              <a:solidFill>
                <a:schemeClr val="tx1"/>
              </a:solidFill>
              <a:prstDash val="solid"/>
              <a:headEnd type="none" w="med" len="med"/>
              <a:tailEnd type="none" w="med" len="med"/>
            </a:ln>
          </p:spPr>
          <p:txBody>
            <a:bodyPr/>
            <a:lstStyle/>
            <a:p>
              <a:endParaRPr/>
            </a:p>
          </p:txBody>
        </p:sp>
        <p:sp>
          <p:nvSpPr>
            <p:cNvPr id="9235" name="Line 7"/>
            <p:cNvSpPr/>
            <p:nvPr/>
          </p:nvSpPr>
          <p:spPr>
            <a:xfrm>
              <a:off x="588" y="0"/>
              <a:ext cx="184" cy="428"/>
            </a:xfrm>
            <a:prstGeom prst="line">
              <a:avLst/>
            </a:prstGeom>
            <a:ln w="19050" cap="sq" cmpd="sng">
              <a:solidFill>
                <a:schemeClr val="tx1"/>
              </a:solidFill>
              <a:prstDash val="solid"/>
              <a:headEnd type="none" w="med" len="med"/>
              <a:tailEnd type="none" w="med" len="med"/>
            </a:ln>
          </p:spPr>
          <p:txBody>
            <a:bodyPr/>
            <a:lstStyle/>
            <a:p>
              <a:endParaRPr/>
            </a:p>
          </p:txBody>
        </p:sp>
      </p:grpSp>
      <p:sp>
        <p:nvSpPr>
          <p:cNvPr id="9236" name="Text Box 2"/>
          <p:cNvSpPr txBox="1"/>
          <p:nvPr/>
        </p:nvSpPr>
        <p:spPr>
          <a:xfrm>
            <a:off x="7323212" y="2513648"/>
            <a:ext cx="569912" cy="461963"/>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乙</a:t>
            </a:r>
          </a:p>
        </p:txBody>
      </p:sp>
      <p:grpSp>
        <p:nvGrpSpPr>
          <p:cNvPr id="9237" name="组合 9236"/>
          <p:cNvGrpSpPr/>
          <p:nvPr/>
        </p:nvGrpSpPr>
        <p:grpSpPr>
          <a:xfrm>
            <a:off x="6796162" y="3129597"/>
            <a:ext cx="1579562" cy="1214438"/>
            <a:chOff x="0" y="0"/>
            <a:chExt cx="995" cy="765"/>
          </a:xfrm>
        </p:grpSpPr>
        <p:sp>
          <p:nvSpPr>
            <p:cNvPr id="9238" name="Text Box 4"/>
            <p:cNvSpPr txBox="1"/>
            <p:nvPr/>
          </p:nvSpPr>
          <p:spPr>
            <a:xfrm>
              <a:off x="0" y="474"/>
              <a:ext cx="359" cy="291"/>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甲</a:t>
              </a:r>
            </a:p>
          </p:txBody>
        </p:sp>
        <p:sp>
          <p:nvSpPr>
            <p:cNvPr id="9239" name="Text Box 5"/>
            <p:cNvSpPr txBox="1"/>
            <p:nvPr/>
          </p:nvSpPr>
          <p:spPr>
            <a:xfrm>
              <a:off x="636" y="474"/>
              <a:ext cx="359" cy="291"/>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丙</a:t>
              </a:r>
            </a:p>
          </p:txBody>
        </p:sp>
        <p:sp>
          <p:nvSpPr>
            <p:cNvPr id="9240" name="Line 6"/>
            <p:cNvSpPr/>
            <p:nvPr/>
          </p:nvSpPr>
          <p:spPr>
            <a:xfrm flipH="1">
              <a:off x="227" y="0"/>
              <a:ext cx="182" cy="428"/>
            </a:xfrm>
            <a:prstGeom prst="line">
              <a:avLst/>
            </a:prstGeom>
            <a:ln w="19050" cap="sq" cmpd="sng">
              <a:solidFill>
                <a:schemeClr val="tx1"/>
              </a:solidFill>
              <a:prstDash val="solid"/>
              <a:headEnd type="none" w="med" len="med"/>
              <a:tailEnd type="none" w="med" len="med"/>
            </a:ln>
          </p:spPr>
          <p:txBody>
            <a:bodyPr/>
            <a:lstStyle/>
            <a:p>
              <a:endParaRPr/>
            </a:p>
          </p:txBody>
        </p:sp>
        <p:sp>
          <p:nvSpPr>
            <p:cNvPr id="9241" name="Line 7"/>
            <p:cNvSpPr/>
            <p:nvPr/>
          </p:nvSpPr>
          <p:spPr>
            <a:xfrm>
              <a:off x="588" y="0"/>
              <a:ext cx="184" cy="428"/>
            </a:xfrm>
            <a:prstGeom prst="line">
              <a:avLst/>
            </a:prstGeom>
            <a:ln w="19050" cap="sq" cmpd="sng">
              <a:solidFill>
                <a:schemeClr val="tx1"/>
              </a:solidFill>
              <a:prstDash val="solid"/>
              <a:headEnd type="none" w="med" len="med"/>
              <a:tailEnd type="none" w="med" len="med"/>
            </a:ln>
          </p:spPr>
          <p:txBody>
            <a:bodyPr/>
            <a:lstStyle/>
            <a:p>
              <a:endParaRPr/>
            </a:p>
          </p:txBody>
        </p:sp>
      </p:grpSp>
      <p:sp>
        <p:nvSpPr>
          <p:cNvPr id="9242" name="Text Box 2"/>
          <p:cNvSpPr txBox="1"/>
          <p:nvPr/>
        </p:nvSpPr>
        <p:spPr>
          <a:xfrm>
            <a:off x="8978975" y="2513648"/>
            <a:ext cx="569913" cy="461963"/>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丙</a:t>
            </a:r>
          </a:p>
        </p:txBody>
      </p:sp>
      <p:grpSp>
        <p:nvGrpSpPr>
          <p:cNvPr id="9243" name="组合 9242"/>
          <p:cNvGrpSpPr/>
          <p:nvPr/>
        </p:nvGrpSpPr>
        <p:grpSpPr>
          <a:xfrm>
            <a:off x="8451925" y="3129597"/>
            <a:ext cx="1579563" cy="1214438"/>
            <a:chOff x="0" y="0"/>
            <a:chExt cx="995" cy="765"/>
          </a:xfrm>
        </p:grpSpPr>
        <p:sp>
          <p:nvSpPr>
            <p:cNvPr id="9244" name="Text Box 4"/>
            <p:cNvSpPr txBox="1"/>
            <p:nvPr/>
          </p:nvSpPr>
          <p:spPr>
            <a:xfrm>
              <a:off x="0" y="474"/>
              <a:ext cx="359" cy="291"/>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甲</a:t>
              </a:r>
            </a:p>
          </p:txBody>
        </p:sp>
        <p:sp>
          <p:nvSpPr>
            <p:cNvPr id="9245" name="Text Box 5"/>
            <p:cNvSpPr txBox="1"/>
            <p:nvPr/>
          </p:nvSpPr>
          <p:spPr>
            <a:xfrm>
              <a:off x="636" y="474"/>
              <a:ext cx="359" cy="291"/>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乙</a:t>
              </a:r>
            </a:p>
          </p:txBody>
        </p:sp>
        <p:sp>
          <p:nvSpPr>
            <p:cNvPr id="9246" name="Line 6"/>
            <p:cNvSpPr/>
            <p:nvPr/>
          </p:nvSpPr>
          <p:spPr>
            <a:xfrm flipH="1">
              <a:off x="227" y="0"/>
              <a:ext cx="182" cy="428"/>
            </a:xfrm>
            <a:prstGeom prst="line">
              <a:avLst/>
            </a:prstGeom>
            <a:ln w="19050" cap="sq" cmpd="sng">
              <a:solidFill>
                <a:schemeClr val="tx1"/>
              </a:solidFill>
              <a:prstDash val="solid"/>
              <a:headEnd type="none" w="med" len="med"/>
              <a:tailEnd type="none" w="med" len="med"/>
            </a:ln>
          </p:spPr>
          <p:txBody>
            <a:bodyPr/>
            <a:lstStyle/>
            <a:p>
              <a:endParaRPr/>
            </a:p>
          </p:txBody>
        </p:sp>
        <p:sp>
          <p:nvSpPr>
            <p:cNvPr id="9247" name="Line 7"/>
            <p:cNvSpPr/>
            <p:nvPr/>
          </p:nvSpPr>
          <p:spPr>
            <a:xfrm>
              <a:off x="588" y="0"/>
              <a:ext cx="184" cy="428"/>
            </a:xfrm>
            <a:prstGeom prst="line">
              <a:avLst/>
            </a:prstGeom>
            <a:ln w="19050" cap="sq" cmpd="sng">
              <a:solidFill>
                <a:schemeClr val="tx1"/>
              </a:solidFill>
              <a:prstDash val="solid"/>
              <a:headEnd type="none" w="med" len="med"/>
              <a:tailEnd type="none" w="med" len="med"/>
            </a:ln>
          </p:spPr>
          <p:txBody>
            <a:bodyPr/>
            <a:lstStyle/>
            <a:p>
              <a:endParaRPr/>
            </a:p>
          </p:txBody>
        </p:sp>
      </p:grpSp>
      <p:sp>
        <p:nvSpPr>
          <p:cNvPr id="9248" name="TextBox 68"/>
          <p:cNvSpPr txBox="1"/>
          <p:nvPr/>
        </p:nvSpPr>
        <p:spPr>
          <a:xfrm>
            <a:off x="1741244" y="1650047"/>
            <a:ext cx="1873250" cy="521970"/>
          </a:xfrm>
          <a:prstGeom prst="rect">
            <a:avLst/>
          </a:prstGeom>
          <a:noFill/>
          <a:ln w="9525">
            <a:noFill/>
          </a:ln>
        </p:spPr>
        <p:txBody>
          <a:bodyPr>
            <a:spAutoFit/>
          </a:bodyPr>
          <a:lstStyle/>
          <a:p>
            <a:pPr fontAlgn="base">
              <a:spcBef>
                <a:spcPct val="0"/>
              </a:spcBef>
              <a:spcAft>
                <a:spcPct val="0"/>
              </a:spcAft>
            </a:pPr>
            <a:r>
              <a:rPr lang="zh-CN" altLang="en-US" sz="2800" b="1">
                <a:solidFill>
                  <a:srgbClr val="000000"/>
                </a:solidFill>
                <a:latin typeface="华文楷体" panose="02010600040101010101" charset="-122"/>
                <a:ea typeface="华文楷体" panose="02010600040101010101" charset="-122"/>
              </a:rPr>
              <a:t>分析</a:t>
            </a:r>
            <a:r>
              <a:rPr lang="zh-CN" altLang="en-US" sz="2400" b="1">
                <a:solidFill>
                  <a:srgbClr val="000000"/>
                </a:solidFill>
                <a:latin typeface="华文楷体" panose="02010600040101010101" charset="-122"/>
                <a:ea typeface="华文楷体" panose="02010600040101010101" charset="-122"/>
              </a:rPr>
              <a:t>：</a:t>
            </a:r>
          </a:p>
        </p:txBody>
      </p:sp>
      <p:sp>
        <p:nvSpPr>
          <p:cNvPr id="9249" name="TextBox 69"/>
          <p:cNvSpPr txBox="1"/>
          <p:nvPr/>
        </p:nvSpPr>
        <p:spPr>
          <a:xfrm>
            <a:off x="4730824" y="1650047"/>
            <a:ext cx="2592388" cy="521970"/>
          </a:xfrm>
          <a:prstGeom prst="rect">
            <a:avLst/>
          </a:prstGeom>
          <a:noFill/>
          <a:ln w="9525">
            <a:noFill/>
          </a:ln>
        </p:spPr>
        <p:txBody>
          <a:bodyPr>
            <a:spAutoFit/>
          </a:bodyPr>
          <a:lstStyle/>
          <a:p>
            <a:pPr fontAlgn="base">
              <a:spcBef>
                <a:spcPct val="0"/>
              </a:spcBef>
              <a:spcAft>
                <a:spcPct val="0"/>
              </a:spcAft>
            </a:pPr>
            <a:r>
              <a:rPr lang="zh-CN" altLang="en-US" sz="2800" b="1">
                <a:solidFill>
                  <a:srgbClr val="000000"/>
                </a:solidFill>
                <a:latin typeface="华文楷体" panose="02010600040101010101" charset="-122"/>
                <a:ea typeface="华文楷体" panose="02010600040101010101" charset="-122"/>
              </a:rPr>
              <a:t>树形图：</a:t>
            </a:r>
          </a:p>
        </p:txBody>
      </p:sp>
      <p:sp>
        <p:nvSpPr>
          <p:cNvPr id="9250" name="TextBox 71"/>
          <p:cNvSpPr txBox="1"/>
          <p:nvPr/>
        </p:nvSpPr>
        <p:spPr>
          <a:xfrm>
            <a:off x="1490738" y="4458335"/>
            <a:ext cx="3024187" cy="521970"/>
          </a:xfrm>
          <a:prstGeom prst="rect">
            <a:avLst/>
          </a:prstGeom>
          <a:noFill/>
          <a:ln w="9525">
            <a:noFill/>
          </a:ln>
        </p:spPr>
        <p:txBody>
          <a:bodyPr>
            <a:spAutoFit/>
          </a:bodyPr>
          <a:lstStyle/>
          <a:p>
            <a:pPr fontAlgn="base">
              <a:spcBef>
                <a:spcPct val="0"/>
              </a:spcBef>
              <a:spcAft>
                <a:spcPct val="0"/>
              </a:spcAft>
            </a:pPr>
            <a:r>
              <a:rPr lang="zh-CN" altLang="en-US" sz="2800" b="1">
                <a:solidFill>
                  <a:srgbClr val="000000"/>
                </a:solidFill>
                <a:latin typeface="华文楷体" panose="02010600040101010101" charset="-122"/>
                <a:ea typeface="华文楷体" panose="02010600040101010101" charset="-122"/>
              </a:rPr>
              <a:t>相应的排列：</a:t>
            </a:r>
          </a:p>
        </p:txBody>
      </p:sp>
      <p:sp>
        <p:nvSpPr>
          <p:cNvPr id="9251" name="TextBox 72"/>
          <p:cNvSpPr txBox="1"/>
          <p:nvPr/>
        </p:nvSpPr>
        <p:spPr>
          <a:xfrm>
            <a:off x="3651324" y="4437697"/>
            <a:ext cx="6840538" cy="521970"/>
          </a:xfrm>
          <a:prstGeom prst="rect">
            <a:avLst/>
          </a:prstGeom>
          <a:noFill/>
          <a:ln w="9525">
            <a:noFill/>
          </a:ln>
        </p:spPr>
        <p:txBody>
          <a:bodyPr>
            <a:spAutoFit/>
          </a:bodyPr>
          <a:lstStyle/>
          <a:p>
            <a:pPr fontAlgn="base">
              <a:spcBef>
                <a:spcPct val="0"/>
              </a:spcBef>
              <a:spcAft>
                <a:spcPct val="0"/>
              </a:spcAft>
            </a:pPr>
            <a:r>
              <a:rPr lang="zh-CN" altLang="en-US" sz="2800" b="1">
                <a:solidFill>
                  <a:srgbClr val="000000"/>
                </a:solidFill>
                <a:latin typeface="华文楷体" panose="02010600040101010101" charset="-122"/>
                <a:ea typeface="华文楷体" panose="02010600040101010101" charset="-122"/>
              </a:rPr>
              <a:t>甲乙，甲丙，乙甲，乙丙，丙甲，丙乙</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Effect transition="in" filter="slide(fromTop)">
                                      <p:cBhvr>
                                        <p:cTn id="7" dur="500"/>
                                        <p:tgtEl>
                                          <p:spTgt spid="9218">
                                            <p:txEl>
                                              <p:pRg st="0" end="0"/>
                                            </p:txEl>
                                          </p:spTgt>
                                        </p:tgtEl>
                                      </p:cBhvr>
                                    </p:animEffect>
                                  </p:childTnLst>
                                </p:cTn>
                              </p:par>
                            </p:childTnLst>
                          </p:cTn>
                        </p:par>
                      </p:childTnLst>
                    </p:cTn>
                  </p:par>
                  <p:par>
                    <p:cTn id="8" fill="hold" nodeType="clickPar">
                      <p:stCondLst>
                        <p:cond delay="indefinite"/>
                        <p:cond evt="onBegin" delay="0">
                          <p:tn val="7"/>
                        </p:cond>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48"/>
                                        </p:tgtEl>
                                        <p:attrNameLst>
                                          <p:attrName>style.visibility</p:attrName>
                                        </p:attrNameLst>
                                      </p:cBhvr>
                                      <p:to>
                                        <p:strVal val="visible"/>
                                      </p:to>
                                    </p:set>
                                    <p:animEffect transition="in" filter="blinds(horizontal)">
                                      <p:cBhvr>
                                        <p:cTn id="12" dur="500"/>
                                        <p:tgtEl>
                                          <p:spTgt spid="9248"/>
                                        </p:tgtEl>
                                      </p:cBhvr>
                                    </p:animEffect>
                                  </p:childTnLst>
                                </p:cTn>
                              </p:par>
                            </p:childTnLst>
                          </p:cTn>
                        </p:par>
                        <p:par>
                          <p:cTn id="13" fill="hold" nodeType="afterGroup">
                            <p:stCondLst>
                              <p:cond delay="500"/>
                            </p:stCondLst>
                            <p:childTnLst>
                              <p:par>
                                <p:cTn id="14" presetID="4" presetClass="entr" presetSubtype="16" fill="hold" nodeType="afterEffect">
                                  <p:stCondLst>
                                    <p:cond delay="0"/>
                                  </p:stCondLst>
                                  <p:childTnLst>
                                    <p:set>
                                      <p:cBhvr>
                                        <p:cTn id="15" dur="1" fill="hold">
                                          <p:stCondLst>
                                            <p:cond delay="0"/>
                                          </p:stCondLst>
                                        </p:cTn>
                                        <p:tgtEl>
                                          <p:spTgt spid="9220"/>
                                        </p:tgtEl>
                                        <p:attrNameLst>
                                          <p:attrName>style.visibility</p:attrName>
                                        </p:attrNameLst>
                                      </p:cBhvr>
                                      <p:to>
                                        <p:strVal val="visible"/>
                                      </p:to>
                                    </p:set>
                                    <p:animEffect transition="in" filter="box(in)">
                                      <p:cBhvr>
                                        <p:cTn id="16" dur="500"/>
                                        <p:tgtEl>
                                          <p:spTgt spid="9220"/>
                                        </p:tgtEl>
                                      </p:cBhvr>
                                    </p:animEffect>
                                  </p:childTnLst>
                                </p:cTn>
                              </p:par>
                            </p:childTnLst>
                          </p:cTn>
                        </p:par>
                      </p:childTnLst>
                    </p:cTn>
                  </p:par>
                  <p:par>
                    <p:cTn id="17" fill="hold" nodeType="clickPar">
                      <p:stCondLst>
                        <p:cond delay="indefinite"/>
                        <p:cond evt="onBegin" delay="0">
                          <p:tn val="16"/>
                        </p:cond>
                      </p:stCondLst>
                      <p:childTnLst>
                        <p:par>
                          <p:cTn id="18" fill="hold" nodeType="after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9223"/>
                                        </p:tgtEl>
                                        <p:attrNameLst>
                                          <p:attrName>style.visibility</p:attrName>
                                        </p:attrNameLst>
                                      </p:cBhvr>
                                      <p:to>
                                        <p:strVal val="visible"/>
                                      </p:to>
                                    </p:set>
                                    <p:animEffect transition="in" filter="box(in)">
                                      <p:cBhvr>
                                        <p:cTn id="21" dur="500"/>
                                        <p:tgtEl>
                                          <p:spTgt spid="9223"/>
                                        </p:tgtEl>
                                      </p:cBhvr>
                                    </p:animEffect>
                                  </p:childTnLst>
                                </p:cTn>
                              </p:par>
                            </p:childTnLst>
                          </p:cTn>
                        </p:par>
                      </p:childTnLst>
                    </p:cTn>
                  </p:par>
                  <p:par>
                    <p:cTn id="22" fill="hold" nodeType="clickPar">
                      <p:stCondLst>
                        <p:cond delay="indefinite"/>
                        <p:cond evt="onBegin" delay="0">
                          <p:tn val="21"/>
                        </p:cond>
                      </p:stCondLst>
                      <p:childTnLst>
                        <p:par>
                          <p:cTn id="23" fill="hold" nodeType="afterGroup">
                            <p:stCondLst>
                              <p:cond delay="0"/>
                            </p:stCondLst>
                            <p:childTnLst>
                              <p:par>
                                <p:cTn id="24" presetID="18" presetClass="entr" presetSubtype="12" fill="hold" nodeType="clickEffect">
                                  <p:stCondLst>
                                    <p:cond delay="0"/>
                                  </p:stCondLst>
                                  <p:childTnLst>
                                    <p:set>
                                      <p:cBhvr>
                                        <p:cTn id="25" dur="1" fill="hold">
                                          <p:stCondLst>
                                            <p:cond delay="0"/>
                                          </p:stCondLst>
                                        </p:cTn>
                                        <p:tgtEl>
                                          <p:spTgt spid="9226"/>
                                        </p:tgtEl>
                                        <p:attrNameLst>
                                          <p:attrName>style.visibility</p:attrName>
                                        </p:attrNameLst>
                                      </p:cBhvr>
                                      <p:to>
                                        <p:strVal val="visible"/>
                                      </p:to>
                                    </p:set>
                                    <p:animEffect transition="in" filter="strips(downLeft)">
                                      <p:cBhvr>
                                        <p:cTn id="26" dur="500"/>
                                        <p:tgtEl>
                                          <p:spTgt spid="9226"/>
                                        </p:tgtEl>
                                      </p:cBhvr>
                                    </p:animEffect>
                                  </p:childTnLst>
                                </p:cTn>
                              </p:par>
                            </p:childTnLst>
                          </p:cTn>
                        </p:par>
                      </p:childTnLst>
                    </p:cTn>
                  </p:par>
                  <p:par>
                    <p:cTn id="27" fill="hold" nodeType="clickPar">
                      <p:stCondLst>
                        <p:cond delay="indefinite"/>
                        <p:cond evt="onBegin" delay="0">
                          <p:tn val="26"/>
                        </p:cond>
                      </p:stCondLst>
                      <p:childTnLst>
                        <p:par>
                          <p:cTn id="28" fill="hold" nodeType="afterGroup">
                            <p:stCondLst>
                              <p:cond delay="0"/>
                            </p:stCondLst>
                            <p:childTnLst>
                              <p:par>
                                <p:cTn id="29" presetID="18" presetClass="entr" presetSubtype="12" fill="hold" grpId="0" nodeType="clickEffect">
                                  <p:stCondLst>
                                    <p:cond delay="0"/>
                                  </p:stCondLst>
                                  <p:childTnLst>
                                    <p:set>
                                      <p:cBhvr>
                                        <p:cTn id="30" dur="1" fill="hold">
                                          <p:stCondLst>
                                            <p:cond delay="0"/>
                                          </p:stCondLst>
                                        </p:cTn>
                                        <p:tgtEl>
                                          <p:spTgt spid="9229"/>
                                        </p:tgtEl>
                                        <p:attrNameLst>
                                          <p:attrName>style.visibility</p:attrName>
                                        </p:attrNameLst>
                                      </p:cBhvr>
                                      <p:to>
                                        <p:strVal val="visible"/>
                                      </p:to>
                                    </p:set>
                                    <p:animEffect transition="in" filter="strips(downLeft)">
                                      <p:cBhvr>
                                        <p:cTn id="31" dur="500"/>
                                        <p:tgtEl>
                                          <p:spTgt spid="9229"/>
                                        </p:tgtEl>
                                      </p:cBhvr>
                                    </p:animEffect>
                                  </p:childTnLst>
                                </p:cTn>
                              </p:par>
                            </p:childTnLst>
                          </p:cTn>
                        </p:par>
                      </p:childTnLst>
                    </p:cTn>
                  </p:par>
                  <p:par>
                    <p:cTn id="32" fill="hold" nodeType="clickPar">
                      <p:stCondLst>
                        <p:cond delay="indefinite"/>
                        <p:cond evt="onBegin" delay="0">
                          <p:tn val="31"/>
                        </p:cond>
                      </p:stCondLst>
                      <p:childTnLst>
                        <p:par>
                          <p:cTn id="33" fill="hold" nodeType="afterGroup">
                            <p:stCondLst>
                              <p:cond delay="0"/>
                            </p:stCondLst>
                            <p:childTnLst>
                              <p:par>
                                <p:cTn id="34" presetID="18" presetClass="entr" presetSubtype="12" fill="hold" grpId="0" nodeType="clickEffect">
                                  <p:stCondLst>
                                    <p:cond delay="0"/>
                                  </p:stCondLst>
                                  <p:childTnLst>
                                    <p:set>
                                      <p:cBhvr>
                                        <p:cTn id="35" dur="1" fill="hold">
                                          <p:stCondLst>
                                            <p:cond delay="0"/>
                                          </p:stCondLst>
                                        </p:cTn>
                                        <p:tgtEl>
                                          <p:spTgt spid="9249"/>
                                        </p:tgtEl>
                                        <p:attrNameLst>
                                          <p:attrName>style.visibility</p:attrName>
                                        </p:attrNameLst>
                                      </p:cBhvr>
                                      <p:to>
                                        <p:strVal val="visible"/>
                                      </p:to>
                                    </p:set>
                                    <p:animEffect transition="in" filter="strips(downLeft)">
                                      <p:cBhvr>
                                        <p:cTn id="36" dur="500"/>
                                        <p:tgtEl>
                                          <p:spTgt spid="9249"/>
                                        </p:tgtEl>
                                      </p:cBhvr>
                                    </p:animEffect>
                                  </p:childTnLst>
                                </p:cTn>
                              </p:par>
                            </p:childTnLst>
                          </p:cTn>
                        </p:par>
                      </p:childTnLst>
                    </p:cTn>
                  </p:par>
                  <p:par>
                    <p:cTn id="37" fill="hold" nodeType="clickPar">
                      <p:stCondLst>
                        <p:cond delay="indefinite"/>
                        <p:cond evt="onBegin" delay="0">
                          <p:tn val="36"/>
                        </p:cond>
                      </p:stCondLst>
                      <p:childTnLst>
                        <p:par>
                          <p:cTn id="38" fill="hold" nodeType="after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9230"/>
                                        </p:tgtEl>
                                        <p:attrNameLst>
                                          <p:attrName>style.visibility</p:attrName>
                                        </p:attrNameLst>
                                      </p:cBhvr>
                                      <p:to>
                                        <p:strVal val="visible"/>
                                      </p:to>
                                    </p:set>
                                    <p:animEffect transition="in" filter="blinds(horizontal)">
                                      <p:cBhvr>
                                        <p:cTn id="41" dur="500"/>
                                        <p:tgtEl>
                                          <p:spTgt spid="9230"/>
                                        </p:tgtEl>
                                      </p:cBhvr>
                                    </p:animEffect>
                                  </p:childTnLst>
                                </p:cTn>
                              </p:par>
                              <p:par>
                                <p:cTn id="42" presetID="3" presetClass="entr" presetSubtype="10" fill="hold" nodeType="withEffect">
                                  <p:stCondLst>
                                    <p:cond delay="0"/>
                                  </p:stCondLst>
                                  <p:childTnLst>
                                    <p:set>
                                      <p:cBhvr>
                                        <p:cTn id="43" dur="1" fill="hold">
                                          <p:stCondLst>
                                            <p:cond delay="0"/>
                                          </p:stCondLst>
                                        </p:cTn>
                                        <p:tgtEl>
                                          <p:spTgt spid="9231"/>
                                        </p:tgtEl>
                                        <p:attrNameLst>
                                          <p:attrName>style.visibility</p:attrName>
                                        </p:attrNameLst>
                                      </p:cBhvr>
                                      <p:to>
                                        <p:strVal val="visible"/>
                                      </p:to>
                                    </p:set>
                                    <p:animEffect transition="in" filter="blinds(horizontal)">
                                      <p:cBhvr>
                                        <p:cTn id="44" dur="500"/>
                                        <p:tgtEl>
                                          <p:spTgt spid="9231"/>
                                        </p:tgtEl>
                                      </p:cBhvr>
                                    </p:animEffect>
                                  </p:childTnLst>
                                </p:cTn>
                              </p:par>
                            </p:childTnLst>
                          </p:cTn>
                        </p:par>
                        <p:par>
                          <p:cTn id="45" fill="hold" nodeType="afterGroup">
                            <p:stCondLst>
                              <p:cond delay="500"/>
                            </p:stCondLst>
                            <p:childTnLst>
                              <p:par>
                                <p:cTn id="46" presetID="3" presetClass="entr" presetSubtype="10" fill="hold" grpId="0" nodeType="afterEffect">
                                  <p:stCondLst>
                                    <p:cond delay="0"/>
                                  </p:stCondLst>
                                  <p:childTnLst>
                                    <p:set>
                                      <p:cBhvr>
                                        <p:cTn id="47" dur="1" fill="hold">
                                          <p:stCondLst>
                                            <p:cond delay="0"/>
                                          </p:stCondLst>
                                        </p:cTn>
                                        <p:tgtEl>
                                          <p:spTgt spid="9236"/>
                                        </p:tgtEl>
                                        <p:attrNameLst>
                                          <p:attrName>style.visibility</p:attrName>
                                        </p:attrNameLst>
                                      </p:cBhvr>
                                      <p:to>
                                        <p:strVal val="visible"/>
                                      </p:to>
                                    </p:set>
                                    <p:animEffect transition="in" filter="blinds(horizontal)">
                                      <p:cBhvr>
                                        <p:cTn id="48" dur="500"/>
                                        <p:tgtEl>
                                          <p:spTgt spid="9236"/>
                                        </p:tgtEl>
                                      </p:cBhvr>
                                    </p:animEffect>
                                  </p:childTnLst>
                                </p:cTn>
                              </p:par>
                              <p:par>
                                <p:cTn id="49" presetID="3" presetClass="entr" presetSubtype="10" fill="hold" nodeType="withEffect">
                                  <p:stCondLst>
                                    <p:cond delay="0"/>
                                  </p:stCondLst>
                                  <p:childTnLst>
                                    <p:set>
                                      <p:cBhvr>
                                        <p:cTn id="50" dur="1" fill="hold">
                                          <p:stCondLst>
                                            <p:cond delay="0"/>
                                          </p:stCondLst>
                                        </p:cTn>
                                        <p:tgtEl>
                                          <p:spTgt spid="9237"/>
                                        </p:tgtEl>
                                        <p:attrNameLst>
                                          <p:attrName>style.visibility</p:attrName>
                                        </p:attrNameLst>
                                      </p:cBhvr>
                                      <p:to>
                                        <p:strVal val="visible"/>
                                      </p:to>
                                    </p:set>
                                    <p:animEffect transition="in" filter="blinds(horizontal)">
                                      <p:cBhvr>
                                        <p:cTn id="51" dur="500"/>
                                        <p:tgtEl>
                                          <p:spTgt spid="9237"/>
                                        </p:tgtEl>
                                      </p:cBhvr>
                                    </p:animEffect>
                                  </p:childTnLst>
                                </p:cTn>
                              </p:par>
                            </p:childTnLst>
                          </p:cTn>
                        </p:par>
                        <p:par>
                          <p:cTn id="52" fill="hold" nodeType="afterGroup">
                            <p:stCondLst>
                              <p:cond delay="1000"/>
                            </p:stCondLst>
                            <p:childTnLst>
                              <p:par>
                                <p:cTn id="53" presetID="3" presetClass="entr" presetSubtype="10" fill="hold" grpId="0" nodeType="afterEffect">
                                  <p:stCondLst>
                                    <p:cond delay="0"/>
                                  </p:stCondLst>
                                  <p:childTnLst>
                                    <p:set>
                                      <p:cBhvr>
                                        <p:cTn id="54" dur="1" fill="hold">
                                          <p:stCondLst>
                                            <p:cond delay="0"/>
                                          </p:stCondLst>
                                        </p:cTn>
                                        <p:tgtEl>
                                          <p:spTgt spid="9242"/>
                                        </p:tgtEl>
                                        <p:attrNameLst>
                                          <p:attrName>style.visibility</p:attrName>
                                        </p:attrNameLst>
                                      </p:cBhvr>
                                      <p:to>
                                        <p:strVal val="visible"/>
                                      </p:to>
                                    </p:set>
                                    <p:animEffect transition="in" filter="blinds(horizontal)">
                                      <p:cBhvr>
                                        <p:cTn id="55" dur="500"/>
                                        <p:tgtEl>
                                          <p:spTgt spid="9242"/>
                                        </p:tgtEl>
                                      </p:cBhvr>
                                    </p:animEffect>
                                  </p:childTnLst>
                                </p:cTn>
                              </p:par>
                              <p:par>
                                <p:cTn id="56" presetID="3" presetClass="entr" presetSubtype="10" fill="hold" nodeType="withEffect">
                                  <p:stCondLst>
                                    <p:cond delay="0"/>
                                  </p:stCondLst>
                                  <p:childTnLst>
                                    <p:set>
                                      <p:cBhvr>
                                        <p:cTn id="57" dur="1" fill="hold">
                                          <p:stCondLst>
                                            <p:cond delay="0"/>
                                          </p:stCondLst>
                                        </p:cTn>
                                        <p:tgtEl>
                                          <p:spTgt spid="9243"/>
                                        </p:tgtEl>
                                        <p:attrNameLst>
                                          <p:attrName>style.visibility</p:attrName>
                                        </p:attrNameLst>
                                      </p:cBhvr>
                                      <p:to>
                                        <p:strVal val="visible"/>
                                      </p:to>
                                    </p:set>
                                    <p:animEffect transition="in" filter="blinds(horizontal)">
                                      <p:cBhvr>
                                        <p:cTn id="58" dur="500"/>
                                        <p:tgtEl>
                                          <p:spTgt spid="9243"/>
                                        </p:tgtEl>
                                      </p:cBhvr>
                                    </p:animEffect>
                                  </p:childTnLst>
                                </p:cTn>
                              </p:par>
                            </p:childTnLst>
                          </p:cTn>
                        </p:par>
                      </p:childTnLst>
                    </p:cTn>
                  </p:par>
                  <p:par>
                    <p:cTn id="59" fill="hold" nodeType="clickPar">
                      <p:stCondLst>
                        <p:cond delay="indefinite"/>
                        <p:cond evt="onBegin" delay="0">
                          <p:tn val="58"/>
                        </p:cond>
                      </p:stCondLst>
                      <p:childTnLst>
                        <p:par>
                          <p:cTn id="60" fill="hold" nodeType="afterGroup">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9250"/>
                                        </p:tgtEl>
                                        <p:attrNameLst>
                                          <p:attrName>style.visibility</p:attrName>
                                        </p:attrNameLst>
                                      </p:cBhvr>
                                      <p:to>
                                        <p:strVal val="visible"/>
                                      </p:to>
                                    </p:set>
                                    <p:animEffect transition="in" filter="blinds(horizontal)">
                                      <p:cBhvr>
                                        <p:cTn id="63" dur="500"/>
                                        <p:tgtEl>
                                          <p:spTgt spid="9250"/>
                                        </p:tgtEl>
                                      </p:cBhvr>
                                    </p:animEffect>
                                  </p:childTnLst>
                                </p:cTn>
                              </p:par>
                            </p:childTnLst>
                          </p:cTn>
                        </p:par>
                      </p:childTnLst>
                    </p:cTn>
                  </p:par>
                  <p:par>
                    <p:cTn id="64" fill="hold" nodeType="clickPar">
                      <p:stCondLst>
                        <p:cond delay="indefinite"/>
                        <p:cond evt="onBegin" delay="0">
                          <p:tn val="63"/>
                        </p:cond>
                      </p:stCondLst>
                      <p:childTnLst>
                        <p:par>
                          <p:cTn id="65" fill="hold" nodeType="after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9251"/>
                                        </p:tgtEl>
                                        <p:attrNameLst>
                                          <p:attrName>style.visibility</p:attrName>
                                        </p:attrNameLst>
                                      </p:cBhvr>
                                      <p:to>
                                        <p:strVal val="visible"/>
                                      </p:to>
                                    </p:set>
                                    <p:animEffect transition="in" filter="blinds(horizontal)">
                                      <p:cBhvr>
                                        <p:cTn id="68" dur="500"/>
                                        <p:tgtEl>
                                          <p:spTgt spid="9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advAuto="1000"/>
      <p:bldP spid="9229" grpId="0"/>
      <p:bldP spid="9230" grpId="0"/>
      <p:bldP spid="9236" grpId="0"/>
      <p:bldP spid="9242" grpId="0"/>
      <p:bldP spid="9248" grpId="0"/>
      <p:bldP spid="9249" grpId="0"/>
      <p:bldP spid="9250" grpId="0"/>
      <p:bldP spid="925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组合 11265"/>
          <p:cNvGrpSpPr/>
          <p:nvPr/>
        </p:nvGrpSpPr>
        <p:grpSpPr>
          <a:xfrm>
            <a:off x="4033838" y="2352675"/>
            <a:ext cx="938212" cy="788988"/>
            <a:chOff x="0" y="0"/>
            <a:chExt cx="591" cy="497"/>
          </a:xfrm>
        </p:grpSpPr>
        <p:sp>
          <p:nvSpPr>
            <p:cNvPr id="11267" name="Line 13"/>
            <p:cNvSpPr/>
            <p:nvPr/>
          </p:nvSpPr>
          <p:spPr>
            <a:xfrm flipH="1" flipV="1">
              <a:off x="256" y="0"/>
              <a:ext cx="0" cy="272"/>
            </a:xfrm>
            <a:prstGeom prst="line">
              <a:avLst/>
            </a:prstGeom>
            <a:ln w="19050" cap="sq" cmpd="sng">
              <a:solidFill>
                <a:schemeClr val="tx1"/>
              </a:solidFill>
              <a:prstDash val="solid"/>
              <a:headEnd type="none" w="med" len="med"/>
              <a:tailEnd type="triangle" w="lg" len="lg"/>
            </a:ln>
          </p:spPr>
          <p:txBody>
            <a:bodyPr/>
            <a:lstStyle/>
            <a:p>
              <a:endParaRPr/>
            </a:p>
          </p:txBody>
        </p:sp>
        <p:sp>
          <p:nvSpPr>
            <p:cNvPr id="11268" name="Text Box 14"/>
            <p:cNvSpPr txBox="1"/>
            <p:nvPr/>
          </p:nvSpPr>
          <p:spPr>
            <a:xfrm>
              <a:off x="0" y="209"/>
              <a:ext cx="591" cy="288"/>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４种</a:t>
              </a:r>
            </a:p>
          </p:txBody>
        </p:sp>
      </p:grpSp>
      <p:grpSp>
        <p:nvGrpSpPr>
          <p:cNvPr id="11269" name="组合 11268"/>
          <p:cNvGrpSpPr/>
          <p:nvPr/>
        </p:nvGrpSpPr>
        <p:grpSpPr>
          <a:xfrm>
            <a:off x="4770438" y="2352676"/>
            <a:ext cx="938212" cy="790575"/>
            <a:chOff x="0" y="0"/>
            <a:chExt cx="591" cy="498"/>
          </a:xfrm>
        </p:grpSpPr>
        <p:sp>
          <p:nvSpPr>
            <p:cNvPr id="11270" name="Line 16"/>
            <p:cNvSpPr/>
            <p:nvPr/>
          </p:nvSpPr>
          <p:spPr>
            <a:xfrm flipH="1" flipV="1">
              <a:off x="245" y="0"/>
              <a:ext cx="0" cy="272"/>
            </a:xfrm>
            <a:prstGeom prst="line">
              <a:avLst/>
            </a:prstGeom>
            <a:ln w="19050" cap="sq" cmpd="sng">
              <a:solidFill>
                <a:schemeClr val="tx1"/>
              </a:solidFill>
              <a:prstDash val="solid"/>
              <a:headEnd type="none" w="med" len="med"/>
              <a:tailEnd type="triangle" w="lg" len="lg"/>
            </a:ln>
          </p:spPr>
          <p:txBody>
            <a:bodyPr/>
            <a:lstStyle/>
            <a:p>
              <a:endParaRPr/>
            </a:p>
          </p:txBody>
        </p:sp>
        <p:sp>
          <p:nvSpPr>
            <p:cNvPr id="11271" name="Text Box 17"/>
            <p:cNvSpPr txBox="1"/>
            <p:nvPr/>
          </p:nvSpPr>
          <p:spPr>
            <a:xfrm>
              <a:off x="0" y="210"/>
              <a:ext cx="591" cy="288"/>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３种</a:t>
              </a:r>
            </a:p>
          </p:txBody>
        </p:sp>
      </p:grpSp>
      <p:sp>
        <p:nvSpPr>
          <p:cNvPr id="11272" name="Text Box 18"/>
          <p:cNvSpPr txBox="1"/>
          <p:nvPr/>
        </p:nvSpPr>
        <p:spPr>
          <a:xfrm>
            <a:off x="3648075" y="3332163"/>
            <a:ext cx="3024188" cy="457200"/>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r>
              <a:rPr lang="en-US" altLang="zh-CN" sz="2400" b="1">
                <a:solidFill>
                  <a:srgbClr val="000000"/>
                </a:solidFill>
                <a:latin typeface="Times New Roman" panose="02020603050405020304" pitchFamily="18" charset="0"/>
                <a:ea typeface="宋体" panose="02010600030101010101" pitchFamily="2" charset="-122"/>
              </a:rPr>
              <a:t>× </a:t>
            </a:r>
            <a:r>
              <a:rPr lang="zh-CN" altLang="en-US" sz="2400" b="1">
                <a:solidFill>
                  <a:srgbClr val="000000"/>
                </a:solidFill>
                <a:latin typeface="Times New Roman" panose="02020603050405020304" pitchFamily="18" charset="0"/>
                <a:ea typeface="宋体" panose="02010600030101010101" pitchFamily="2" charset="-122"/>
              </a:rPr>
              <a:t>３</a:t>
            </a:r>
            <a:r>
              <a:rPr lang="en-US" altLang="zh-CN" sz="2400" b="1">
                <a:solidFill>
                  <a:srgbClr val="000000"/>
                </a:solidFill>
                <a:latin typeface="Times New Roman" panose="02020603050405020304" pitchFamily="18" charset="0"/>
                <a:ea typeface="宋体" panose="02010600030101010101" pitchFamily="2" charset="-122"/>
              </a:rPr>
              <a:t>×</a:t>
            </a:r>
            <a:r>
              <a:rPr lang="zh-CN" altLang="en-US" sz="2400" b="1">
                <a:solidFill>
                  <a:srgbClr val="000000"/>
                </a:solidFill>
                <a:latin typeface="Times New Roman" panose="02020603050405020304" pitchFamily="18" charset="0"/>
                <a:ea typeface="宋体" panose="02010600030101010101" pitchFamily="2" charset="-122"/>
              </a:rPr>
              <a:t>２＝２４种</a:t>
            </a:r>
          </a:p>
        </p:txBody>
      </p:sp>
      <p:grpSp>
        <p:nvGrpSpPr>
          <p:cNvPr id="11273" name="组合 11272"/>
          <p:cNvGrpSpPr/>
          <p:nvPr/>
        </p:nvGrpSpPr>
        <p:grpSpPr>
          <a:xfrm>
            <a:off x="4079875" y="1892300"/>
            <a:ext cx="2159000" cy="477838"/>
            <a:chOff x="0" y="0"/>
            <a:chExt cx="1360" cy="301"/>
          </a:xfrm>
        </p:grpSpPr>
        <p:sp>
          <p:nvSpPr>
            <p:cNvPr id="11274" name="Text Box 20"/>
            <p:cNvSpPr txBox="1"/>
            <p:nvPr/>
          </p:nvSpPr>
          <p:spPr>
            <a:xfrm>
              <a:off x="0" y="1"/>
              <a:ext cx="453" cy="300"/>
            </a:xfrm>
            <a:prstGeom prst="rect">
              <a:avLst/>
            </a:prstGeom>
            <a:noFill/>
            <a:ln w="19050" cap="sq" cmpd="sng">
              <a:solidFill>
                <a:schemeClr val="tx1"/>
              </a:solidFill>
              <a:prstDash val="solid"/>
              <a:miter/>
              <a:headEnd type="none" w="med" len="med"/>
              <a:tailEnd type="none" w="med" len="med"/>
            </a:ln>
          </p:spPr>
          <p:txBody>
            <a:bodyPr>
              <a:spAutoFit/>
            </a:bodyPr>
            <a:lstStyle/>
            <a:p>
              <a:pPr fontAlgn="base">
                <a:spcBef>
                  <a:spcPct val="50000"/>
                </a:spcBef>
                <a:spcAft>
                  <a:spcPct val="0"/>
                </a:spcAft>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1275" name="Text Box 21"/>
            <p:cNvSpPr txBox="1"/>
            <p:nvPr/>
          </p:nvSpPr>
          <p:spPr>
            <a:xfrm>
              <a:off x="453" y="1"/>
              <a:ext cx="453" cy="300"/>
            </a:xfrm>
            <a:prstGeom prst="rect">
              <a:avLst/>
            </a:prstGeom>
            <a:noFill/>
            <a:ln w="19050" cap="sq" cmpd="sng">
              <a:solidFill>
                <a:schemeClr val="tx1"/>
              </a:solidFill>
              <a:prstDash val="solid"/>
              <a:miter/>
              <a:headEnd type="none" w="med" len="med"/>
              <a:tailEnd type="none" w="med" len="med"/>
            </a:ln>
          </p:spPr>
          <p:txBody>
            <a:bodyPr>
              <a:spAutoFit/>
            </a:bodyPr>
            <a:lstStyle/>
            <a:p>
              <a:pPr fontAlgn="base">
                <a:spcBef>
                  <a:spcPct val="50000"/>
                </a:spcBef>
                <a:spcAft>
                  <a:spcPct val="0"/>
                </a:spcAft>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1276" name="Text Box 22"/>
            <p:cNvSpPr txBox="1"/>
            <p:nvPr/>
          </p:nvSpPr>
          <p:spPr>
            <a:xfrm>
              <a:off x="907" y="0"/>
              <a:ext cx="453" cy="300"/>
            </a:xfrm>
            <a:prstGeom prst="rect">
              <a:avLst/>
            </a:prstGeom>
            <a:noFill/>
            <a:ln w="19050" cap="sq" cmpd="sng">
              <a:solidFill>
                <a:schemeClr val="tx1"/>
              </a:solidFill>
              <a:prstDash val="solid"/>
              <a:miter/>
              <a:headEnd type="none" w="med" len="med"/>
              <a:tailEnd type="none" w="med" len="med"/>
            </a:ln>
          </p:spPr>
          <p:txBody>
            <a:bodyPr>
              <a:spAutoFit/>
            </a:bodyPr>
            <a:lstStyle/>
            <a:p>
              <a:pPr fontAlgn="base">
                <a:spcBef>
                  <a:spcPct val="50000"/>
                </a:spcBef>
                <a:spcAft>
                  <a:spcPct val="0"/>
                </a:spcAft>
              </a:pPr>
              <a:endParaRPr lang="zh-CN" altLang="en-US" sz="2400">
                <a:solidFill>
                  <a:srgbClr val="000000"/>
                </a:solidFill>
                <a:latin typeface="Times New Roman" panose="02020603050405020304" pitchFamily="18" charset="0"/>
                <a:ea typeface="宋体" panose="02010600030101010101" pitchFamily="2" charset="-122"/>
              </a:endParaRPr>
            </a:p>
          </p:txBody>
        </p:sp>
      </p:grpSp>
      <p:grpSp>
        <p:nvGrpSpPr>
          <p:cNvPr id="11277" name="组合 11276"/>
          <p:cNvGrpSpPr/>
          <p:nvPr/>
        </p:nvGrpSpPr>
        <p:grpSpPr>
          <a:xfrm>
            <a:off x="5519738" y="2352676"/>
            <a:ext cx="938212" cy="790575"/>
            <a:chOff x="0" y="0"/>
            <a:chExt cx="591" cy="498"/>
          </a:xfrm>
        </p:grpSpPr>
        <p:sp>
          <p:nvSpPr>
            <p:cNvPr id="11278" name="Line 24"/>
            <p:cNvSpPr/>
            <p:nvPr/>
          </p:nvSpPr>
          <p:spPr>
            <a:xfrm flipH="1" flipV="1">
              <a:off x="245" y="0"/>
              <a:ext cx="0" cy="272"/>
            </a:xfrm>
            <a:prstGeom prst="line">
              <a:avLst/>
            </a:prstGeom>
            <a:ln w="19050" cap="sq" cmpd="sng">
              <a:solidFill>
                <a:schemeClr val="tx1"/>
              </a:solidFill>
              <a:prstDash val="solid"/>
              <a:headEnd type="none" w="med" len="med"/>
              <a:tailEnd type="triangle" w="lg" len="lg"/>
            </a:ln>
          </p:spPr>
          <p:txBody>
            <a:bodyPr/>
            <a:lstStyle/>
            <a:p>
              <a:endParaRPr/>
            </a:p>
          </p:txBody>
        </p:sp>
        <p:sp>
          <p:nvSpPr>
            <p:cNvPr id="11279" name="Text Box 25"/>
            <p:cNvSpPr txBox="1"/>
            <p:nvPr/>
          </p:nvSpPr>
          <p:spPr>
            <a:xfrm>
              <a:off x="0" y="210"/>
              <a:ext cx="591" cy="288"/>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２种</a:t>
              </a:r>
            </a:p>
          </p:txBody>
        </p:sp>
      </p:grpSp>
      <p:sp>
        <p:nvSpPr>
          <p:cNvPr id="11280" name="Rectangle 3"/>
          <p:cNvSpPr/>
          <p:nvPr/>
        </p:nvSpPr>
        <p:spPr>
          <a:xfrm>
            <a:off x="195448" y="222885"/>
            <a:ext cx="11578855" cy="990600"/>
          </a:xfrm>
          <a:prstGeom prst="rect">
            <a:avLst/>
          </a:prstGeom>
          <a:noFill/>
          <a:ln w="9525">
            <a:noFill/>
          </a:ln>
        </p:spPr>
        <p:txBody>
          <a:bodyPr/>
          <a:lstStyle/>
          <a:p>
            <a:pPr marL="342900" indent="-342900" fontAlgn="base">
              <a:lnSpc>
                <a:spcPct val="90000"/>
              </a:lnSpc>
              <a:spcBef>
                <a:spcPct val="20000"/>
              </a:spcBef>
              <a:spcAft>
                <a:spcPct val="0"/>
              </a:spcAft>
            </a:pPr>
            <a:r>
              <a:rPr lang="en-US" altLang="zh-CN" sz="2800" b="1" dirty="0">
                <a:solidFill>
                  <a:srgbClr val="FF3300"/>
                </a:solidFill>
                <a:effectLst>
                  <a:outerShdw blurRad="38100" dist="38100" dir="2700000">
                    <a:srgbClr val="000000"/>
                  </a:outerShdw>
                </a:effectLst>
                <a:latin typeface="宋体" panose="02010600030101010101" pitchFamily="2" charset="-122"/>
                <a:ea typeface="宋体" panose="02010600030101010101" pitchFamily="2" charset="-122"/>
              </a:rPr>
              <a:t>  </a:t>
            </a:r>
            <a:r>
              <a:rPr lang="zh-CN" altLang="en-US" sz="2800" b="1" dirty="0">
                <a:solidFill>
                  <a:srgbClr val="FF3300"/>
                </a:solidFill>
                <a:effectLst>
                  <a:outerShdw blurRad="38100" dist="38100" dir="2700000">
                    <a:srgbClr val="000000"/>
                  </a:outerShdw>
                </a:effectLst>
                <a:latin typeface="宋体" panose="02010600030101010101" pitchFamily="2" charset="-122"/>
                <a:ea typeface="宋体" panose="02010600030101010101" pitchFamily="2" charset="-122"/>
              </a:rPr>
              <a:t>问题</a:t>
            </a:r>
            <a:r>
              <a:rPr lang="en-US" altLang="zh-CN" sz="2800" b="1" dirty="0">
                <a:solidFill>
                  <a:srgbClr val="FF3300"/>
                </a:solidFill>
                <a:effectLst>
                  <a:outerShdw blurRad="38100" dist="38100" dir="2700000">
                    <a:srgbClr val="000000"/>
                  </a:outerShdw>
                </a:effectLst>
                <a:latin typeface="宋体" panose="02010600030101010101" pitchFamily="2" charset="-122"/>
                <a:ea typeface="宋体" panose="02010600030101010101" pitchFamily="2" charset="-122"/>
              </a:rPr>
              <a:t>2</a:t>
            </a:r>
            <a:r>
              <a:rPr lang="en-US" altLang="zh-CN" sz="3200" b="1" dirty="0">
                <a:solidFill>
                  <a:srgbClr val="000000"/>
                </a:solidFill>
                <a:latin typeface="宋体" panose="02010600030101010101" pitchFamily="2" charset="-122"/>
                <a:ea typeface="宋体" panose="02010600030101010101" pitchFamily="2" charset="-122"/>
              </a:rPr>
              <a:t>  </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rPr>
              <a:t>从１、２、３、４这四个数字中，取出</a:t>
            </a: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rPr>
              <a:t>3</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rPr>
              <a:t>个数字排成一个三位数，共可得多少个不同的三位数？ </a:t>
            </a:r>
          </a:p>
        </p:txBody>
      </p:sp>
      <p:sp>
        <p:nvSpPr>
          <p:cNvPr id="11281" name="TextBox 30"/>
          <p:cNvSpPr txBox="1"/>
          <p:nvPr/>
        </p:nvSpPr>
        <p:spPr>
          <a:xfrm>
            <a:off x="1774825" y="1676400"/>
            <a:ext cx="2160588" cy="521970"/>
          </a:xfrm>
          <a:prstGeom prst="rect">
            <a:avLst/>
          </a:prstGeom>
          <a:noFill/>
          <a:ln w="9525">
            <a:noFill/>
          </a:ln>
        </p:spPr>
        <p:txBody>
          <a:bodyPr>
            <a:spAutoFit/>
          </a:bodyPr>
          <a:lstStyle/>
          <a:p>
            <a:pPr fontAlgn="base">
              <a:spcBef>
                <a:spcPct val="0"/>
              </a:spcBef>
              <a:spcAft>
                <a:spcPct val="0"/>
              </a:spcAft>
            </a:pPr>
            <a:r>
              <a:rPr lang="zh-CN" altLang="en-US" sz="2800" b="1">
                <a:solidFill>
                  <a:srgbClr val="000000"/>
                </a:solidFill>
                <a:latin typeface="华文楷体" panose="02010600040101010101" charset="-122"/>
                <a:ea typeface="华文楷体" panose="02010600040101010101" charset="-122"/>
              </a:rPr>
              <a:t>分析：</a:t>
            </a:r>
          </a:p>
        </p:txBody>
      </p:sp>
      <p:sp>
        <p:nvSpPr>
          <p:cNvPr id="11282" name="Text Box 2"/>
          <p:cNvSpPr txBox="1"/>
          <p:nvPr/>
        </p:nvSpPr>
        <p:spPr>
          <a:xfrm>
            <a:off x="2511425" y="3960814"/>
            <a:ext cx="433388" cy="458787"/>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１</a:t>
            </a:r>
          </a:p>
        </p:txBody>
      </p:sp>
      <p:grpSp>
        <p:nvGrpSpPr>
          <p:cNvPr id="11283" name="组合 11282"/>
          <p:cNvGrpSpPr/>
          <p:nvPr/>
        </p:nvGrpSpPr>
        <p:grpSpPr>
          <a:xfrm>
            <a:off x="1898650" y="4497388"/>
            <a:ext cx="1614488" cy="944562"/>
            <a:chOff x="0" y="0"/>
            <a:chExt cx="1017" cy="595"/>
          </a:xfrm>
        </p:grpSpPr>
        <p:sp>
          <p:nvSpPr>
            <p:cNvPr id="11284" name="Text Box 4"/>
            <p:cNvSpPr txBox="1"/>
            <p:nvPr/>
          </p:nvSpPr>
          <p:spPr>
            <a:xfrm>
              <a:off x="0"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a:t>
              </a:r>
            </a:p>
          </p:txBody>
        </p:sp>
        <p:sp>
          <p:nvSpPr>
            <p:cNvPr id="11285" name="Text Box 5"/>
            <p:cNvSpPr txBox="1"/>
            <p:nvPr/>
          </p:nvSpPr>
          <p:spPr>
            <a:xfrm>
              <a:off x="381"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a:t>
              </a:r>
            </a:p>
          </p:txBody>
        </p:sp>
        <p:sp>
          <p:nvSpPr>
            <p:cNvPr id="11286" name="Text Box 6"/>
            <p:cNvSpPr txBox="1"/>
            <p:nvPr/>
          </p:nvSpPr>
          <p:spPr>
            <a:xfrm>
              <a:off x="744"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p>
          </p:txBody>
        </p:sp>
        <p:sp>
          <p:nvSpPr>
            <p:cNvPr id="11287" name="Line 7"/>
            <p:cNvSpPr/>
            <p:nvPr/>
          </p:nvSpPr>
          <p:spPr>
            <a:xfrm flipH="1">
              <a:off x="193" y="0"/>
              <a:ext cx="272" cy="328"/>
            </a:xfrm>
            <a:prstGeom prst="line">
              <a:avLst/>
            </a:prstGeom>
            <a:ln w="19050" cap="sq" cmpd="sng">
              <a:solidFill>
                <a:schemeClr val="tx1"/>
              </a:solidFill>
              <a:prstDash val="solid"/>
              <a:headEnd type="none" w="med" len="med"/>
              <a:tailEnd type="none" w="med" len="med"/>
            </a:ln>
          </p:spPr>
          <p:txBody>
            <a:bodyPr/>
            <a:lstStyle/>
            <a:p>
              <a:endParaRPr/>
            </a:p>
          </p:txBody>
        </p:sp>
        <p:sp>
          <p:nvSpPr>
            <p:cNvPr id="11288" name="Line 8"/>
            <p:cNvSpPr/>
            <p:nvPr/>
          </p:nvSpPr>
          <p:spPr>
            <a:xfrm flipH="1">
              <a:off x="547" y="1"/>
              <a:ext cx="0" cy="327"/>
            </a:xfrm>
            <a:prstGeom prst="line">
              <a:avLst/>
            </a:prstGeom>
            <a:ln w="19050" cap="sq" cmpd="sng">
              <a:solidFill>
                <a:schemeClr val="tx1"/>
              </a:solidFill>
              <a:prstDash val="solid"/>
              <a:headEnd type="none" w="med" len="med"/>
              <a:tailEnd type="none" w="med" len="med"/>
            </a:ln>
          </p:spPr>
          <p:txBody>
            <a:bodyPr/>
            <a:lstStyle/>
            <a:p>
              <a:endParaRPr/>
            </a:p>
          </p:txBody>
        </p:sp>
        <p:sp>
          <p:nvSpPr>
            <p:cNvPr id="11289" name="Line 9"/>
            <p:cNvSpPr/>
            <p:nvPr/>
          </p:nvSpPr>
          <p:spPr>
            <a:xfrm>
              <a:off x="601" y="0"/>
              <a:ext cx="273" cy="328"/>
            </a:xfrm>
            <a:prstGeom prst="line">
              <a:avLst/>
            </a:prstGeom>
            <a:ln w="19050" cap="sq" cmpd="sng">
              <a:solidFill>
                <a:schemeClr val="tx1"/>
              </a:solidFill>
              <a:prstDash val="solid"/>
              <a:headEnd type="none" w="med" len="med"/>
              <a:tailEnd type="none" w="med" len="med"/>
            </a:ln>
          </p:spPr>
          <p:txBody>
            <a:bodyPr/>
            <a:lstStyle/>
            <a:p>
              <a:endParaRPr/>
            </a:p>
          </p:txBody>
        </p:sp>
      </p:grpSp>
      <p:grpSp>
        <p:nvGrpSpPr>
          <p:cNvPr id="11290" name="组合 11289"/>
          <p:cNvGrpSpPr/>
          <p:nvPr/>
        </p:nvGrpSpPr>
        <p:grpSpPr>
          <a:xfrm>
            <a:off x="1743076" y="5556251"/>
            <a:ext cx="1939925" cy="822325"/>
            <a:chOff x="0" y="0"/>
            <a:chExt cx="1222" cy="518"/>
          </a:xfrm>
        </p:grpSpPr>
        <p:sp>
          <p:nvSpPr>
            <p:cNvPr id="11291" name="Text Box 11"/>
            <p:cNvSpPr txBox="1"/>
            <p:nvPr/>
          </p:nvSpPr>
          <p:spPr>
            <a:xfrm>
              <a:off x="0"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a:t>
              </a:r>
            </a:p>
          </p:txBody>
        </p:sp>
        <p:sp>
          <p:nvSpPr>
            <p:cNvPr id="11292" name="Text Box 12"/>
            <p:cNvSpPr txBox="1"/>
            <p:nvPr/>
          </p:nvSpPr>
          <p:spPr>
            <a:xfrm>
              <a:off x="173"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p>
          </p:txBody>
        </p:sp>
        <p:sp>
          <p:nvSpPr>
            <p:cNvPr id="11293" name="Text Box 13"/>
            <p:cNvSpPr txBox="1"/>
            <p:nvPr/>
          </p:nvSpPr>
          <p:spPr>
            <a:xfrm>
              <a:off x="410"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a:t>
              </a:r>
            </a:p>
          </p:txBody>
        </p:sp>
        <p:sp>
          <p:nvSpPr>
            <p:cNvPr id="11294" name="Text Box 14"/>
            <p:cNvSpPr txBox="1"/>
            <p:nvPr/>
          </p:nvSpPr>
          <p:spPr>
            <a:xfrm>
              <a:off x="583"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p>
          </p:txBody>
        </p:sp>
        <p:sp>
          <p:nvSpPr>
            <p:cNvPr id="11295" name="Text Box 15"/>
            <p:cNvSpPr txBox="1"/>
            <p:nvPr/>
          </p:nvSpPr>
          <p:spPr>
            <a:xfrm>
              <a:off x="775"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a:t>
              </a:r>
            </a:p>
          </p:txBody>
        </p:sp>
        <p:sp>
          <p:nvSpPr>
            <p:cNvPr id="11296" name="Text Box 16"/>
            <p:cNvSpPr txBox="1"/>
            <p:nvPr/>
          </p:nvSpPr>
          <p:spPr>
            <a:xfrm>
              <a:off x="949"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a:t>
              </a:r>
            </a:p>
          </p:txBody>
        </p:sp>
        <p:sp>
          <p:nvSpPr>
            <p:cNvPr id="11297" name="Line 17"/>
            <p:cNvSpPr/>
            <p:nvPr/>
          </p:nvSpPr>
          <p:spPr>
            <a:xfrm flipH="1">
              <a:off x="155" y="0"/>
              <a:ext cx="63"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298" name="Line 18"/>
            <p:cNvSpPr/>
            <p:nvPr/>
          </p:nvSpPr>
          <p:spPr>
            <a:xfrm>
              <a:off x="267" y="0"/>
              <a:ext cx="60"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299" name="Line 19"/>
            <p:cNvSpPr/>
            <p:nvPr/>
          </p:nvSpPr>
          <p:spPr>
            <a:xfrm flipH="1">
              <a:off x="563" y="0"/>
              <a:ext cx="46"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00" name="Line 20"/>
            <p:cNvSpPr/>
            <p:nvPr/>
          </p:nvSpPr>
          <p:spPr>
            <a:xfrm>
              <a:off x="672" y="0"/>
              <a:ext cx="73" cy="280"/>
            </a:xfrm>
            <a:prstGeom prst="line">
              <a:avLst/>
            </a:prstGeom>
            <a:ln w="19050" cap="sq" cmpd="sng">
              <a:solidFill>
                <a:schemeClr val="tx1"/>
              </a:solidFill>
              <a:prstDash val="solid"/>
              <a:headEnd type="none" w="med" len="med"/>
              <a:tailEnd type="none" w="med" len="med"/>
            </a:ln>
          </p:spPr>
          <p:txBody>
            <a:bodyPr/>
            <a:lstStyle/>
            <a:p>
              <a:endParaRPr/>
            </a:p>
          </p:txBody>
        </p:sp>
        <p:sp>
          <p:nvSpPr>
            <p:cNvPr id="11301" name="Line 21"/>
            <p:cNvSpPr/>
            <p:nvPr/>
          </p:nvSpPr>
          <p:spPr>
            <a:xfrm flipH="1">
              <a:off x="950" y="0"/>
              <a:ext cx="34"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02" name="Line 22"/>
            <p:cNvSpPr/>
            <p:nvPr/>
          </p:nvSpPr>
          <p:spPr>
            <a:xfrm>
              <a:off x="1018" y="0"/>
              <a:ext cx="82" cy="271"/>
            </a:xfrm>
            <a:prstGeom prst="line">
              <a:avLst/>
            </a:prstGeom>
            <a:ln w="19050" cap="sq" cmpd="sng">
              <a:solidFill>
                <a:schemeClr val="tx1"/>
              </a:solidFill>
              <a:prstDash val="solid"/>
              <a:headEnd type="none" w="med" len="med"/>
              <a:tailEnd type="none" w="med" len="med"/>
            </a:ln>
          </p:spPr>
          <p:txBody>
            <a:bodyPr/>
            <a:lstStyle/>
            <a:p>
              <a:endParaRPr/>
            </a:p>
          </p:txBody>
        </p:sp>
      </p:grpSp>
      <p:grpSp>
        <p:nvGrpSpPr>
          <p:cNvPr id="11303" name="组合 11302"/>
          <p:cNvGrpSpPr/>
          <p:nvPr/>
        </p:nvGrpSpPr>
        <p:grpSpPr>
          <a:xfrm>
            <a:off x="3863976" y="3946526"/>
            <a:ext cx="6181725" cy="2435225"/>
            <a:chOff x="0" y="0"/>
            <a:chExt cx="3894" cy="1534"/>
          </a:xfrm>
        </p:grpSpPr>
        <p:grpSp>
          <p:nvGrpSpPr>
            <p:cNvPr id="11304" name="组合 11303"/>
            <p:cNvGrpSpPr/>
            <p:nvPr/>
          </p:nvGrpSpPr>
          <p:grpSpPr>
            <a:xfrm>
              <a:off x="0" y="11"/>
              <a:ext cx="1222" cy="1523"/>
              <a:chOff x="0" y="0"/>
              <a:chExt cx="1222" cy="1523"/>
            </a:xfrm>
          </p:grpSpPr>
          <p:sp>
            <p:nvSpPr>
              <p:cNvPr id="11305" name="Text Box 25"/>
              <p:cNvSpPr txBox="1"/>
              <p:nvPr/>
            </p:nvSpPr>
            <p:spPr>
              <a:xfrm>
                <a:off x="484" y="0"/>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a:t>
                </a:r>
              </a:p>
            </p:txBody>
          </p:sp>
          <p:grpSp>
            <p:nvGrpSpPr>
              <p:cNvPr id="11306" name="组合 11305"/>
              <p:cNvGrpSpPr/>
              <p:nvPr/>
            </p:nvGrpSpPr>
            <p:grpSpPr>
              <a:xfrm>
                <a:off x="98" y="338"/>
                <a:ext cx="1017" cy="595"/>
                <a:chOff x="0" y="0"/>
                <a:chExt cx="1017" cy="595"/>
              </a:xfrm>
            </p:grpSpPr>
            <p:sp>
              <p:nvSpPr>
                <p:cNvPr id="11307" name="Text Box 27"/>
                <p:cNvSpPr txBox="1"/>
                <p:nvPr/>
              </p:nvSpPr>
              <p:spPr>
                <a:xfrm>
                  <a:off x="0"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１</a:t>
                  </a:r>
                </a:p>
              </p:txBody>
            </p:sp>
            <p:sp>
              <p:nvSpPr>
                <p:cNvPr id="11308" name="Text Box 28"/>
                <p:cNvSpPr txBox="1"/>
                <p:nvPr/>
              </p:nvSpPr>
              <p:spPr>
                <a:xfrm>
                  <a:off x="381"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a:t>
                  </a:r>
                </a:p>
              </p:txBody>
            </p:sp>
            <p:sp>
              <p:nvSpPr>
                <p:cNvPr id="11309" name="Text Box 29"/>
                <p:cNvSpPr txBox="1"/>
                <p:nvPr/>
              </p:nvSpPr>
              <p:spPr>
                <a:xfrm>
                  <a:off x="744"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p>
              </p:txBody>
            </p:sp>
            <p:sp>
              <p:nvSpPr>
                <p:cNvPr id="11310" name="Line 30"/>
                <p:cNvSpPr/>
                <p:nvPr/>
              </p:nvSpPr>
              <p:spPr>
                <a:xfrm flipH="1">
                  <a:off x="193" y="0"/>
                  <a:ext cx="272" cy="328"/>
                </a:xfrm>
                <a:prstGeom prst="line">
                  <a:avLst/>
                </a:prstGeom>
                <a:ln w="19050" cap="sq" cmpd="sng">
                  <a:solidFill>
                    <a:schemeClr val="tx1"/>
                  </a:solidFill>
                  <a:prstDash val="solid"/>
                  <a:headEnd type="none" w="med" len="med"/>
                  <a:tailEnd type="none" w="med" len="med"/>
                </a:ln>
              </p:spPr>
              <p:txBody>
                <a:bodyPr/>
                <a:lstStyle/>
                <a:p>
                  <a:endParaRPr/>
                </a:p>
              </p:txBody>
            </p:sp>
            <p:sp>
              <p:nvSpPr>
                <p:cNvPr id="11311" name="Line 31"/>
                <p:cNvSpPr/>
                <p:nvPr/>
              </p:nvSpPr>
              <p:spPr>
                <a:xfrm flipH="1">
                  <a:off x="547" y="1"/>
                  <a:ext cx="0" cy="327"/>
                </a:xfrm>
                <a:prstGeom prst="line">
                  <a:avLst/>
                </a:prstGeom>
                <a:ln w="19050" cap="sq" cmpd="sng">
                  <a:solidFill>
                    <a:schemeClr val="tx1"/>
                  </a:solidFill>
                  <a:prstDash val="solid"/>
                  <a:headEnd type="none" w="med" len="med"/>
                  <a:tailEnd type="none" w="med" len="med"/>
                </a:ln>
              </p:spPr>
              <p:txBody>
                <a:bodyPr/>
                <a:lstStyle/>
                <a:p>
                  <a:endParaRPr/>
                </a:p>
              </p:txBody>
            </p:sp>
            <p:sp>
              <p:nvSpPr>
                <p:cNvPr id="11312" name="Line 32"/>
                <p:cNvSpPr/>
                <p:nvPr/>
              </p:nvSpPr>
              <p:spPr>
                <a:xfrm>
                  <a:off x="601" y="0"/>
                  <a:ext cx="273" cy="328"/>
                </a:xfrm>
                <a:prstGeom prst="line">
                  <a:avLst/>
                </a:prstGeom>
                <a:ln w="19050" cap="sq" cmpd="sng">
                  <a:solidFill>
                    <a:schemeClr val="tx1"/>
                  </a:solidFill>
                  <a:prstDash val="solid"/>
                  <a:headEnd type="none" w="med" len="med"/>
                  <a:tailEnd type="none" w="med" len="med"/>
                </a:ln>
              </p:spPr>
              <p:txBody>
                <a:bodyPr/>
                <a:lstStyle/>
                <a:p>
                  <a:endParaRPr/>
                </a:p>
              </p:txBody>
            </p:sp>
          </p:grpSp>
          <p:grpSp>
            <p:nvGrpSpPr>
              <p:cNvPr id="11313" name="组合 11312"/>
              <p:cNvGrpSpPr/>
              <p:nvPr/>
            </p:nvGrpSpPr>
            <p:grpSpPr>
              <a:xfrm>
                <a:off x="0" y="1005"/>
                <a:ext cx="1222" cy="518"/>
                <a:chOff x="0" y="0"/>
                <a:chExt cx="1222" cy="518"/>
              </a:xfrm>
            </p:grpSpPr>
            <p:sp>
              <p:nvSpPr>
                <p:cNvPr id="11314" name="Text Box 34"/>
                <p:cNvSpPr txBox="1"/>
                <p:nvPr/>
              </p:nvSpPr>
              <p:spPr>
                <a:xfrm>
                  <a:off x="0"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a:t>
                  </a:r>
                </a:p>
              </p:txBody>
            </p:sp>
            <p:sp>
              <p:nvSpPr>
                <p:cNvPr id="11315" name="Text Box 35"/>
                <p:cNvSpPr txBox="1"/>
                <p:nvPr/>
              </p:nvSpPr>
              <p:spPr>
                <a:xfrm>
                  <a:off x="173"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p>
              </p:txBody>
            </p:sp>
            <p:sp>
              <p:nvSpPr>
                <p:cNvPr id="11316" name="Text Box 36"/>
                <p:cNvSpPr txBox="1"/>
                <p:nvPr/>
              </p:nvSpPr>
              <p:spPr>
                <a:xfrm>
                  <a:off x="410"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１</a:t>
                  </a:r>
                </a:p>
              </p:txBody>
            </p:sp>
            <p:sp>
              <p:nvSpPr>
                <p:cNvPr id="11317" name="Text Box 37"/>
                <p:cNvSpPr txBox="1"/>
                <p:nvPr/>
              </p:nvSpPr>
              <p:spPr>
                <a:xfrm>
                  <a:off x="583"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p>
              </p:txBody>
            </p:sp>
            <p:sp>
              <p:nvSpPr>
                <p:cNvPr id="11318" name="Text Box 38"/>
                <p:cNvSpPr txBox="1"/>
                <p:nvPr/>
              </p:nvSpPr>
              <p:spPr>
                <a:xfrm>
                  <a:off x="775"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１</a:t>
                  </a:r>
                </a:p>
              </p:txBody>
            </p:sp>
            <p:sp>
              <p:nvSpPr>
                <p:cNvPr id="11319" name="Text Box 39"/>
                <p:cNvSpPr txBox="1"/>
                <p:nvPr/>
              </p:nvSpPr>
              <p:spPr>
                <a:xfrm>
                  <a:off x="949"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a:t>
                  </a:r>
                </a:p>
              </p:txBody>
            </p:sp>
            <p:sp>
              <p:nvSpPr>
                <p:cNvPr id="11320" name="Line 40"/>
                <p:cNvSpPr/>
                <p:nvPr/>
              </p:nvSpPr>
              <p:spPr>
                <a:xfrm flipH="1">
                  <a:off x="155" y="0"/>
                  <a:ext cx="63"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21" name="Line 41"/>
                <p:cNvSpPr/>
                <p:nvPr/>
              </p:nvSpPr>
              <p:spPr>
                <a:xfrm>
                  <a:off x="267" y="0"/>
                  <a:ext cx="60"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22" name="Line 42"/>
                <p:cNvSpPr/>
                <p:nvPr/>
              </p:nvSpPr>
              <p:spPr>
                <a:xfrm flipH="1">
                  <a:off x="563" y="0"/>
                  <a:ext cx="46"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23" name="Line 43"/>
                <p:cNvSpPr/>
                <p:nvPr/>
              </p:nvSpPr>
              <p:spPr>
                <a:xfrm>
                  <a:off x="672" y="0"/>
                  <a:ext cx="73" cy="280"/>
                </a:xfrm>
                <a:prstGeom prst="line">
                  <a:avLst/>
                </a:prstGeom>
                <a:ln w="19050" cap="sq" cmpd="sng">
                  <a:solidFill>
                    <a:schemeClr val="tx1"/>
                  </a:solidFill>
                  <a:prstDash val="solid"/>
                  <a:headEnd type="none" w="med" len="med"/>
                  <a:tailEnd type="none" w="med" len="med"/>
                </a:ln>
              </p:spPr>
              <p:txBody>
                <a:bodyPr/>
                <a:lstStyle/>
                <a:p>
                  <a:endParaRPr/>
                </a:p>
              </p:txBody>
            </p:sp>
            <p:sp>
              <p:nvSpPr>
                <p:cNvPr id="11324" name="Line 44"/>
                <p:cNvSpPr/>
                <p:nvPr/>
              </p:nvSpPr>
              <p:spPr>
                <a:xfrm flipH="1">
                  <a:off x="950" y="0"/>
                  <a:ext cx="34"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25" name="Line 45"/>
                <p:cNvSpPr/>
                <p:nvPr/>
              </p:nvSpPr>
              <p:spPr>
                <a:xfrm>
                  <a:off x="1018" y="0"/>
                  <a:ext cx="82" cy="271"/>
                </a:xfrm>
                <a:prstGeom prst="line">
                  <a:avLst/>
                </a:prstGeom>
                <a:ln w="19050" cap="sq" cmpd="sng">
                  <a:solidFill>
                    <a:schemeClr val="tx1"/>
                  </a:solidFill>
                  <a:prstDash val="solid"/>
                  <a:headEnd type="none" w="med" len="med"/>
                  <a:tailEnd type="none" w="med" len="med"/>
                </a:ln>
              </p:spPr>
              <p:txBody>
                <a:bodyPr/>
                <a:lstStyle/>
                <a:p>
                  <a:endParaRPr/>
                </a:p>
              </p:txBody>
            </p:sp>
          </p:grpSp>
        </p:grpSp>
        <p:grpSp>
          <p:nvGrpSpPr>
            <p:cNvPr id="11326" name="组合 11325"/>
            <p:cNvGrpSpPr/>
            <p:nvPr/>
          </p:nvGrpSpPr>
          <p:grpSpPr>
            <a:xfrm>
              <a:off x="1336" y="11"/>
              <a:ext cx="1222" cy="1523"/>
              <a:chOff x="0" y="0"/>
              <a:chExt cx="1222" cy="1523"/>
            </a:xfrm>
          </p:grpSpPr>
          <p:sp>
            <p:nvSpPr>
              <p:cNvPr id="11327" name="Text Box 47"/>
              <p:cNvSpPr txBox="1"/>
              <p:nvPr/>
            </p:nvSpPr>
            <p:spPr>
              <a:xfrm>
                <a:off x="484" y="0"/>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a:t>
                </a:r>
              </a:p>
            </p:txBody>
          </p:sp>
          <p:grpSp>
            <p:nvGrpSpPr>
              <p:cNvPr id="11328" name="组合 11327"/>
              <p:cNvGrpSpPr/>
              <p:nvPr/>
            </p:nvGrpSpPr>
            <p:grpSpPr>
              <a:xfrm>
                <a:off x="98" y="338"/>
                <a:ext cx="1017" cy="595"/>
                <a:chOff x="0" y="0"/>
                <a:chExt cx="1017" cy="595"/>
              </a:xfrm>
            </p:grpSpPr>
            <p:sp>
              <p:nvSpPr>
                <p:cNvPr id="11329" name="Text Box 49"/>
                <p:cNvSpPr txBox="1"/>
                <p:nvPr/>
              </p:nvSpPr>
              <p:spPr>
                <a:xfrm>
                  <a:off x="0"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１</a:t>
                  </a:r>
                </a:p>
              </p:txBody>
            </p:sp>
            <p:sp>
              <p:nvSpPr>
                <p:cNvPr id="11330" name="Text Box 50"/>
                <p:cNvSpPr txBox="1"/>
                <p:nvPr/>
              </p:nvSpPr>
              <p:spPr>
                <a:xfrm>
                  <a:off x="381"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a:t>
                  </a:r>
                </a:p>
              </p:txBody>
            </p:sp>
            <p:sp>
              <p:nvSpPr>
                <p:cNvPr id="11331" name="Text Box 51"/>
                <p:cNvSpPr txBox="1"/>
                <p:nvPr/>
              </p:nvSpPr>
              <p:spPr>
                <a:xfrm>
                  <a:off x="744"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p>
              </p:txBody>
            </p:sp>
            <p:sp>
              <p:nvSpPr>
                <p:cNvPr id="11332" name="Line 52"/>
                <p:cNvSpPr/>
                <p:nvPr/>
              </p:nvSpPr>
              <p:spPr>
                <a:xfrm flipH="1">
                  <a:off x="193" y="0"/>
                  <a:ext cx="272" cy="328"/>
                </a:xfrm>
                <a:prstGeom prst="line">
                  <a:avLst/>
                </a:prstGeom>
                <a:ln w="19050" cap="sq" cmpd="sng">
                  <a:solidFill>
                    <a:schemeClr val="tx1"/>
                  </a:solidFill>
                  <a:prstDash val="solid"/>
                  <a:headEnd type="none" w="med" len="med"/>
                  <a:tailEnd type="none" w="med" len="med"/>
                </a:ln>
              </p:spPr>
              <p:txBody>
                <a:bodyPr/>
                <a:lstStyle/>
                <a:p>
                  <a:endParaRPr/>
                </a:p>
              </p:txBody>
            </p:sp>
            <p:sp>
              <p:nvSpPr>
                <p:cNvPr id="11333" name="Line 53"/>
                <p:cNvSpPr/>
                <p:nvPr/>
              </p:nvSpPr>
              <p:spPr>
                <a:xfrm flipH="1">
                  <a:off x="547" y="1"/>
                  <a:ext cx="0" cy="327"/>
                </a:xfrm>
                <a:prstGeom prst="line">
                  <a:avLst/>
                </a:prstGeom>
                <a:ln w="19050" cap="sq" cmpd="sng">
                  <a:solidFill>
                    <a:schemeClr val="tx1"/>
                  </a:solidFill>
                  <a:prstDash val="solid"/>
                  <a:headEnd type="none" w="med" len="med"/>
                  <a:tailEnd type="none" w="med" len="med"/>
                </a:ln>
              </p:spPr>
              <p:txBody>
                <a:bodyPr/>
                <a:lstStyle/>
                <a:p>
                  <a:endParaRPr/>
                </a:p>
              </p:txBody>
            </p:sp>
            <p:sp>
              <p:nvSpPr>
                <p:cNvPr id="11334" name="Line 54"/>
                <p:cNvSpPr/>
                <p:nvPr/>
              </p:nvSpPr>
              <p:spPr>
                <a:xfrm>
                  <a:off x="601" y="0"/>
                  <a:ext cx="273" cy="328"/>
                </a:xfrm>
                <a:prstGeom prst="line">
                  <a:avLst/>
                </a:prstGeom>
                <a:ln w="19050" cap="sq" cmpd="sng">
                  <a:solidFill>
                    <a:schemeClr val="tx1"/>
                  </a:solidFill>
                  <a:prstDash val="solid"/>
                  <a:headEnd type="none" w="med" len="med"/>
                  <a:tailEnd type="none" w="med" len="med"/>
                </a:ln>
              </p:spPr>
              <p:txBody>
                <a:bodyPr/>
                <a:lstStyle/>
                <a:p>
                  <a:endParaRPr/>
                </a:p>
              </p:txBody>
            </p:sp>
          </p:grpSp>
          <p:grpSp>
            <p:nvGrpSpPr>
              <p:cNvPr id="11335" name="组合 11334"/>
              <p:cNvGrpSpPr/>
              <p:nvPr/>
            </p:nvGrpSpPr>
            <p:grpSpPr>
              <a:xfrm>
                <a:off x="0" y="1005"/>
                <a:ext cx="1222" cy="518"/>
                <a:chOff x="0" y="0"/>
                <a:chExt cx="1222" cy="518"/>
              </a:xfrm>
            </p:grpSpPr>
            <p:sp>
              <p:nvSpPr>
                <p:cNvPr id="11336" name="Text Box 56"/>
                <p:cNvSpPr txBox="1"/>
                <p:nvPr/>
              </p:nvSpPr>
              <p:spPr>
                <a:xfrm>
                  <a:off x="0"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a:t>
                  </a:r>
                </a:p>
              </p:txBody>
            </p:sp>
            <p:sp>
              <p:nvSpPr>
                <p:cNvPr id="11337" name="Text Box 57"/>
                <p:cNvSpPr txBox="1"/>
                <p:nvPr/>
              </p:nvSpPr>
              <p:spPr>
                <a:xfrm>
                  <a:off x="173"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p>
              </p:txBody>
            </p:sp>
            <p:sp>
              <p:nvSpPr>
                <p:cNvPr id="11338" name="Text Box 58"/>
                <p:cNvSpPr txBox="1"/>
                <p:nvPr/>
              </p:nvSpPr>
              <p:spPr>
                <a:xfrm>
                  <a:off x="410"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１</a:t>
                  </a:r>
                </a:p>
              </p:txBody>
            </p:sp>
            <p:sp>
              <p:nvSpPr>
                <p:cNvPr id="11339" name="Text Box 59"/>
                <p:cNvSpPr txBox="1"/>
                <p:nvPr/>
              </p:nvSpPr>
              <p:spPr>
                <a:xfrm>
                  <a:off x="583"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p>
              </p:txBody>
            </p:sp>
            <p:sp>
              <p:nvSpPr>
                <p:cNvPr id="11340" name="Text Box 60"/>
                <p:cNvSpPr txBox="1"/>
                <p:nvPr/>
              </p:nvSpPr>
              <p:spPr>
                <a:xfrm>
                  <a:off x="775"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１</a:t>
                  </a:r>
                </a:p>
              </p:txBody>
            </p:sp>
            <p:sp>
              <p:nvSpPr>
                <p:cNvPr id="11341" name="Text Box 61"/>
                <p:cNvSpPr txBox="1"/>
                <p:nvPr/>
              </p:nvSpPr>
              <p:spPr>
                <a:xfrm>
                  <a:off x="949"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a:t>
                  </a:r>
                </a:p>
              </p:txBody>
            </p:sp>
            <p:sp>
              <p:nvSpPr>
                <p:cNvPr id="11342" name="Line 62"/>
                <p:cNvSpPr/>
                <p:nvPr/>
              </p:nvSpPr>
              <p:spPr>
                <a:xfrm flipH="1">
                  <a:off x="155" y="0"/>
                  <a:ext cx="63"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43" name="Line 63"/>
                <p:cNvSpPr/>
                <p:nvPr/>
              </p:nvSpPr>
              <p:spPr>
                <a:xfrm>
                  <a:off x="267" y="0"/>
                  <a:ext cx="60"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44" name="Line 64"/>
                <p:cNvSpPr/>
                <p:nvPr/>
              </p:nvSpPr>
              <p:spPr>
                <a:xfrm flipH="1">
                  <a:off x="563" y="0"/>
                  <a:ext cx="46"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45" name="Line 65"/>
                <p:cNvSpPr/>
                <p:nvPr/>
              </p:nvSpPr>
              <p:spPr>
                <a:xfrm>
                  <a:off x="672" y="0"/>
                  <a:ext cx="73" cy="280"/>
                </a:xfrm>
                <a:prstGeom prst="line">
                  <a:avLst/>
                </a:prstGeom>
                <a:ln w="19050" cap="sq" cmpd="sng">
                  <a:solidFill>
                    <a:schemeClr val="tx1"/>
                  </a:solidFill>
                  <a:prstDash val="solid"/>
                  <a:headEnd type="none" w="med" len="med"/>
                  <a:tailEnd type="none" w="med" len="med"/>
                </a:ln>
              </p:spPr>
              <p:txBody>
                <a:bodyPr/>
                <a:lstStyle/>
                <a:p>
                  <a:endParaRPr/>
                </a:p>
              </p:txBody>
            </p:sp>
            <p:sp>
              <p:nvSpPr>
                <p:cNvPr id="11346" name="Line 66"/>
                <p:cNvSpPr/>
                <p:nvPr/>
              </p:nvSpPr>
              <p:spPr>
                <a:xfrm flipH="1">
                  <a:off x="950" y="0"/>
                  <a:ext cx="34"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47" name="Line 67"/>
                <p:cNvSpPr/>
                <p:nvPr/>
              </p:nvSpPr>
              <p:spPr>
                <a:xfrm>
                  <a:off x="1018" y="0"/>
                  <a:ext cx="82" cy="271"/>
                </a:xfrm>
                <a:prstGeom prst="line">
                  <a:avLst/>
                </a:prstGeom>
                <a:ln w="19050" cap="sq" cmpd="sng">
                  <a:solidFill>
                    <a:schemeClr val="tx1"/>
                  </a:solidFill>
                  <a:prstDash val="solid"/>
                  <a:headEnd type="none" w="med" len="med"/>
                  <a:tailEnd type="none" w="med" len="med"/>
                </a:ln>
              </p:spPr>
              <p:txBody>
                <a:bodyPr/>
                <a:lstStyle/>
                <a:p>
                  <a:endParaRPr/>
                </a:p>
              </p:txBody>
            </p:sp>
          </p:grpSp>
        </p:grpSp>
        <p:grpSp>
          <p:nvGrpSpPr>
            <p:cNvPr id="11348" name="组合 11347"/>
            <p:cNvGrpSpPr/>
            <p:nvPr/>
          </p:nvGrpSpPr>
          <p:grpSpPr>
            <a:xfrm>
              <a:off x="2672" y="0"/>
              <a:ext cx="1222" cy="1523"/>
              <a:chOff x="0" y="0"/>
              <a:chExt cx="1222" cy="1523"/>
            </a:xfrm>
          </p:grpSpPr>
          <p:sp>
            <p:nvSpPr>
              <p:cNvPr id="11349" name="Text Box 69"/>
              <p:cNvSpPr txBox="1"/>
              <p:nvPr/>
            </p:nvSpPr>
            <p:spPr>
              <a:xfrm>
                <a:off x="484" y="0"/>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４</a:t>
                </a:r>
              </a:p>
            </p:txBody>
          </p:sp>
          <p:grpSp>
            <p:nvGrpSpPr>
              <p:cNvPr id="11350" name="组合 11349"/>
              <p:cNvGrpSpPr/>
              <p:nvPr/>
            </p:nvGrpSpPr>
            <p:grpSpPr>
              <a:xfrm>
                <a:off x="98" y="338"/>
                <a:ext cx="1017" cy="595"/>
                <a:chOff x="0" y="0"/>
                <a:chExt cx="1017" cy="595"/>
              </a:xfrm>
            </p:grpSpPr>
            <p:sp>
              <p:nvSpPr>
                <p:cNvPr id="11351" name="Text Box 71"/>
                <p:cNvSpPr txBox="1"/>
                <p:nvPr/>
              </p:nvSpPr>
              <p:spPr>
                <a:xfrm>
                  <a:off x="0"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１</a:t>
                  </a:r>
                </a:p>
              </p:txBody>
            </p:sp>
            <p:sp>
              <p:nvSpPr>
                <p:cNvPr id="11352" name="Text Box 72"/>
                <p:cNvSpPr txBox="1"/>
                <p:nvPr/>
              </p:nvSpPr>
              <p:spPr>
                <a:xfrm>
                  <a:off x="381"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a:t>
                  </a:r>
                </a:p>
              </p:txBody>
            </p:sp>
            <p:sp>
              <p:nvSpPr>
                <p:cNvPr id="11353" name="Text Box 73"/>
                <p:cNvSpPr txBox="1"/>
                <p:nvPr/>
              </p:nvSpPr>
              <p:spPr>
                <a:xfrm>
                  <a:off x="744" y="306"/>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a:t>
                  </a:r>
                </a:p>
              </p:txBody>
            </p:sp>
            <p:sp>
              <p:nvSpPr>
                <p:cNvPr id="11354" name="Line 74"/>
                <p:cNvSpPr/>
                <p:nvPr/>
              </p:nvSpPr>
              <p:spPr>
                <a:xfrm flipH="1">
                  <a:off x="193" y="0"/>
                  <a:ext cx="272" cy="328"/>
                </a:xfrm>
                <a:prstGeom prst="line">
                  <a:avLst/>
                </a:prstGeom>
                <a:ln w="19050" cap="sq" cmpd="sng">
                  <a:solidFill>
                    <a:schemeClr val="tx1"/>
                  </a:solidFill>
                  <a:prstDash val="solid"/>
                  <a:headEnd type="none" w="med" len="med"/>
                  <a:tailEnd type="none" w="med" len="med"/>
                </a:ln>
              </p:spPr>
              <p:txBody>
                <a:bodyPr/>
                <a:lstStyle/>
                <a:p>
                  <a:endParaRPr/>
                </a:p>
              </p:txBody>
            </p:sp>
            <p:sp>
              <p:nvSpPr>
                <p:cNvPr id="11355" name="Line 75"/>
                <p:cNvSpPr/>
                <p:nvPr/>
              </p:nvSpPr>
              <p:spPr>
                <a:xfrm flipH="1">
                  <a:off x="547" y="1"/>
                  <a:ext cx="0" cy="327"/>
                </a:xfrm>
                <a:prstGeom prst="line">
                  <a:avLst/>
                </a:prstGeom>
                <a:ln w="19050" cap="sq" cmpd="sng">
                  <a:solidFill>
                    <a:schemeClr val="tx1"/>
                  </a:solidFill>
                  <a:prstDash val="solid"/>
                  <a:headEnd type="none" w="med" len="med"/>
                  <a:tailEnd type="none" w="med" len="med"/>
                </a:ln>
              </p:spPr>
              <p:txBody>
                <a:bodyPr/>
                <a:lstStyle/>
                <a:p>
                  <a:endParaRPr/>
                </a:p>
              </p:txBody>
            </p:sp>
            <p:sp>
              <p:nvSpPr>
                <p:cNvPr id="11356" name="Line 76"/>
                <p:cNvSpPr/>
                <p:nvPr/>
              </p:nvSpPr>
              <p:spPr>
                <a:xfrm>
                  <a:off x="601" y="0"/>
                  <a:ext cx="273" cy="328"/>
                </a:xfrm>
                <a:prstGeom prst="line">
                  <a:avLst/>
                </a:prstGeom>
                <a:ln w="19050" cap="sq" cmpd="sng">
                  <a:solidFill>
                    <a:schemeClr val="tx1"/>
                  </a:solidFill>
                  <a:prstDash val="solid"/>
                  <a:headEnd type="none" w="med" len="med"/>
                  <a:tailEnd type="none" w="med" len="med"/>
                </a:ln>
              </p:spPr>
              <p:txBody>
                <a:bodyPr/>
                <a:lstStyle/>
                <a:p>
                  <a:endParaRPr/>
                </a:p>
              </p:txBody>
            </p:sp>
          </p:grpSp>
          <p:grpSp>
            <p:nvGrpSpPr>
              <p:cNvPr id="11357" name="组合 11356"/>
              <p:cNvGrpSpPr/>
              <p:nvPr/>
            </p:nvGrpSpPr>
            <p:grpSpPr>
              <a:xfrm>
                <a:off x="0" y="1005"/>
                <a:ext cx="1222" cy="518"/>
                <a:chOff x="0" y="0"/>
                <a:chExt cx="1222" cy="518"/>
              </a:xfrm>
            </p:grpSpPr>
            <p:sp>
              <p:nvSpPr>
                <p:cNvPr id="11358" name="Text Box 78"/>
                <p:cNvSpPr txBox="1"/>
                <p:nvPr/>
              </p:nvSpPr>
              <p:spPr>
                <a:xfrm>
                  <a:off x="0"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a:t>
                  </a:r>
                </a:p>
              </p:txBody>
            </p:sp>
            <p:sp>
              <p:nvSpPr>
                <p:cNvPr id="11359" name="Text Box 79"/>
                <p:cNvSpPr txBox="1"/>
                <p:nvPr/>
              </p:nvSpPr>
              <p:spPr>
                <a:xfrm>
                  <a:off x="173"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a:t>
                  </a:r>
                </a:p>
              </p:txBody>
            </p:sp>
            <p:sp>
              <p:nvSpPr>
                <p:cNvPr id="11360" name="Text Box 80"/>
                <p:cNvSpPr txBox="1"/>
                <p:nvPr/>
              </p:nvSpPr>
              <p:spPr>
                <a:xfrm>
                  <a:off x="410"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１</a:t>
                  </a:r>
                </a:p>
              </p:txBody>
            </p:sp>
            <p:sp>
              <p:nvSpPr>
                <p:cNvPr id="11361" name="Text Box 81"/>
                <p:cNvSpPr txBox="1"/>
                <p:nvPr/>
              </p:nvSpPr>
              <p:spPr>
                <a:xfrm>
                  <a:off x="583"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３</a:t>
                  </a:r>
                </a:p>
              </p:txBody>
            </p:sp>
            <p:sp>
              <p:nvSpPr>
                <p:cNvPr id="11362" name="Text Box 82"/>
                <p:cNvSpPr txBox="1"/>
                <p:nvPr/>
              </p:nvSpPr>
              <p:spPr>
                <a:xfrm>
                  <a:off x="775"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１</a:t>
                  </a:r>
                </a:p>
              </p:txBody>
            </p:sp>
            <p:sp>
              <p:nvSpPr>
                <p:cNvPr id="11363" name="Text Box 83"/>
                <p:cNvSpPr txBox="1"/>
                <p:nvPr/>
              </p:nvSpPr>
              <p:spPr>
                <a:xfrm>
                  <a:off x="949" y="229"/>
                  <a:ext cx="273" cy="289"/>
                </a:xfrm>
                <a:prstGeom prst="rect">
                  <a:avLst/>
                </a:prstGeom>
                <a:noFill/>
                <a:ln w="9525">
                  <a:noFill/>
                </a:ln>
              </p:spPr>
              <p:txBody>
                <a:bodyPr>
                  <a:spAutoFit/>
                </a:body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２</a:t>
                  </a:r>
                </a:p>
              </p:txBody>
            </p:sp>
            <p:sp>
              <p:nvSpPr>
                <p:cNvPr id="11364" name="Line 84"/>
                <p:cNvSpPr/>
                <p:nvPr/>
              </p:nvSpPr>
              <p:spPr>
                <a:xfrm flipH="1">
                  <a:off x="155" y="0"/>
                  <a:ext cx="63"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65" name="Line 85"/>
                <p:cNvSpPr/>
                <p:nvPr/>
              </p:nvSpPr>
              <p:spPr>
                <a:xfrm>
                  <a:off x="267" y="0"/>
                  <a:ext cx="60"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66" name="Line 86"/>
                <p:cNvSpPr/>
                <p:nvPr/>
              </p:nvSpPr>
              <p:spPr>
                <a:xfrm flipH="1">
                  <a:off x="563" y="0"/>
                  <a:ext cx="46"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67" name="Line 87"/>
                <p:cNvSpPr/>
                <p:nvPr/>
              </p:nvSpPr>
              <p:spPr>
                <a:xfrm>
                  <a:off x="672" y="0"/>
                  <a:ext cx="73" cy="280"/>
                </a:xfrm>
                <a:prstGeom prst="line">
                  <a:avLst/>
                </a:prstGeom>
                <a:ln w="19050" cap="sq" cmpd="sng">
                  <a:solidFill>
                    <a:schemeClr val="tx1"/>
                  </a:solidFill>
                  <a:prstDash val="solid"/>
                  <a:headEnd type="none" w="med" len="med"/>
                  <a:tailEnd type="none" w="med" len="med"/>
                </a:ln>
              </p:spPr>
              <p:txBody>
                <a:bodyPr/>
                <a:lstStyle/>
                <a:p>
                  <a:endParaRPr/>
                </a:p>
              </p:txBody>
            </p:sp>
            <p:sp>
              <p:nvSpPr>
                <p:cNvPr id="11368" name="Line 88"/>
                <p:cNvSpPr/>
                <p:nvPr/>
              </p:nvSpPr>
              <p:spPr>
                <a:xfrm flipH="1">
                  <a:off x="950" y="0"/>
                  <a:ext cx="34" cy="271"/>
                </a:xfrm>
                <a:prstGeom prst="line">
                  <a:avLst/>
                </a:prstGeom>
                <a:ln w="19050" cap="sq" cmpd="sng">
                  <a:solidFill>
                    <a:schemeClr val="tx1"/>
                  </a:solidFill>
                  <a:prstDash val="solid"/>
                  <a:headEnd type="none" w="med" len="med"/>
                  <a:tailEnd type="none" w="med" len="med"/>
                </a:ln>
              </p:spPr>
              <p:txBody>
                <a:bodyPr/>
                <a:lstStyle/>
                <a:p>
                  <a:endParaRPr/>
                </a:p>
              </p:txBody>
            </p:sp>
            <p:sp>
              <p:nvSpPr>
                <p:cNvPr id="11369" name="Line 89"/>
                <p:cNvSpPr/>
                <p:nvPr/>
              </p:nvSpPr>
              <p:spPr>
                <a:xfrm>
                  <a:off x="1018" y="0"/>
                  <a:ext cx="82" cy="271"/>
                </a:xfrm>
                <a:prstGeom prst="line">
                  <a:avLst/>
                </a:prstGeom>
                <a:ln w="19050" cap="sq" cmpd="sng">
                  <a:solidFill>
                    <a:schemeClr val="tx1"/>
                  </a:solidFill>
                  <a:prstDash val="solid"/>
                  <a:headEnd type="none" w="med" len="med"/>
                  <a:tailEnd type="none" w="med" len="med"/>
                </a:ln>
              </p:spPr>
              <p:txBody>
                <a:bodyPr/>
                <a:lstStyle/>
                <a:p>
                  <a:endParaRPr/>
                </a:p>
              </p:txBody>
            </p:sp>
          </p:grpSp>
        </p:grpSp>
      </p:grpSp>
      <p:sp>
        <p:nvSpPr>
          <p:cNvPr id="11370" name="TextBox 119"/>
          <p:cNvSpPr txBox="1"/>
          <p:nvPr/>
        </p:nvSpPr>
        <p:spPr>
          <a:xfrm>
            <a:off x="1631950" y="3486150"/>
            <a:ext cx="1512888" cy="521970"/>
          </a:xfrm>
          <a:prstGeom prst="rect">
            <a:avLst/>
          </a:prstGeom>
          <a:noFill/>
          <a:ln w="9525">
            <a:noFill/>
          </a:ln>
        </p:spPr>
        <p:txBody>
          <a:bodyPr>
            <a:spAutoFit/>
          </a:bodyPr>
          <a:lstStyle/>
          <a:p>
            <a:pPr fontAlgn="base">
              <a:spcBef>
                <a:spcPct val="0"/>
              </a:spcBef>
              <a:spcAft>
                <a:spcPct val="0"/>
              </a:spcAft>
            </a:pPr>
            <a:r>
              <a:rPr lang="zh-CN" altLang="en-US" sz="2800" b="1">
                <a:solidFill>
                  <a:srgbClr val="000000"/>
                </a:solidFill>
                <a:latin typeface="华文楷体" panose="02010600040101010101" charset="-122"/>
                <a:ea typeface="华文楷体" panose="02010600040101010101" charset="-122"/>
              </a:rPr>
              <a:t>树形图：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81"/>
                                        </p:tgtEl>
                                        <p:attrNameLst>
                                          <p:attrName>style.visibility</p:attrName>
                                        </p:attrNameLst>
                                      </p:cBhvr>
                                      <p:to>
                                        <p:strVal val="visible"/>
                                      </p:to>
                                    </p:set>
                                    <p:animEffect transition="in" filter="blinds(horizontal)">
                                      <p:cBhvr>
                                        <p:cTn id="7" dur="500"/>
                                        <p:tgtEl>
                                          <p:spTgt spid="1128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1273"/>
                                        </p:tgtEl>
                                        <p:attrNameLst>
                                          <p:attrName>style.visibility</p:attrName>
                                        </p:attrNameLst>
                                      </p:cBhvr>
                                      <p:to>
                                        <p:strVal val="visible"/>
                                      </p:to>
                                    </p:set>
                                    <p:animEffect transition="in" filter="wipe(left)">
                                      <p:cBhvr>
                                        <p:cTn id="11" dur="500"/>
                                        <p:tgtEl>
                                          <p:spTgt spid="11273"/>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11266"/>
                                        </p:tgtEl>
                                        <p:attrNameLst>
                                          <p:attrName>style.visibility</p:attrName>
                                        </p:attrNameLst>
                                      </p:cBhvr>
                                      <p:to>
                                        <p:strVal val="visible"/>
                                      </p:to>
                                    </p:set>
                                    <p:animEffect transition="in" filter="wipe(down)">
                                      <p:cBhvr>
                                        <p:cTn id="16" dur="500"/>
                                        <p:tgtEl>
                                          <p:spTgt spid="11266"/>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11269"/>
                                        </p:tgtEl>
                                        <p:attrNameLst>
                                          <p:attrName>style.visibility</p:attrName>
                                        </p:attrNameLst>
                                      </p:cBhvr>
                                      <p:to>
                                        <p:strVal val="visible"/>
                                      </p:to>
                                    </p:set>
                                    <p:animEffect transition="in" filter="wipe(down)">
                                      <p:cBhvr>
                                        <p:cTn id="21" dur="500"/>
                                        <p:tgtEl>
                                          <p:spTgt spid="11269"/>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11277"/>
                                        </p:tgtEl>
                                        <p:attrNameLst>
                                          <p:attrName>style.visibility</p:attrName>
                                        </p:attrNameLst>
                                      </p:cBhvr>
                                      <p:to>
                                        <p:strVal val="visible"/>
                                      </p:to>
                                    </p:set>
                                    <p:animEffect transition="in" filter="wipe(down)">
                                      <p:cBhvr>
                                        <p:cTn id="26" dur="500"/>
                                        <p:tgtEl>
                                          <p:spTgt spid="11277"/>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8" presetClass="entr" presetSubtype="16" fill="hold" grpId="0" nodeType="clickEffect">
                                  <p:stCondLst>
                                    <p:cond delay="0"/>
                                  </p:stCondLst>
                                  <p:childTnLst>
                                    <p:set>
                                      <p:cBhvr>
                                        <p:cTn id="30" dur="1" fill="hold">
                                          <p:stCondLst>
                                            <p:cond delay="0"/>
                                          </p:stCondLst>
                                        </p:cTn>
                                        <p:tgtEl>
                                          <p:spTgt spid="11272"/>
                                        </p:tgtEl>
                                        <p:attrNameLst>
                                          <p:attrName>style.visibility</p:attrName>
                                        </p:attrNameLst>
                                      </p:cBhvr>
                                      <p:to>
                                        <p:strVal val="visible"/>
                                      </p:to>
                                    </p:set>
                                    <p:animEffect transition="in" filter="diamond(in)">
                                      <p:cBhvr>
                                        <p:cTn id="31" dur="1000"/>
                                        <p:tgtEl>
                                          <p:spTgt spid="11272"/>
                                        </p:tgtEl>
                                      </p:cBhvr>
                                    </p:animEffect>
                                  </p:childTnLst>
                                </p:cTn>
                              </p:par>
                            </p:childTnLst>
                          </p:cTn>
                        </p:par>
                      </p:childTnLst>
                    </p:cTn>
                  </p:par>
                  <p:par>
                    <p:cTn id="32" fill="hold" nodeType="clickPar">
                      <p:stCondLst>
                        <p:cond delay="indefinite"/>
                      </p:stCondLst>
                      <p:childTnLst>
                        <p:par>
                          <p:cTn id="33" fill="hold" nodeType="after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1370"/>
                                        </p:tgtEl>
                                        <p:attrNameLst>
                                          <p:attrName>style.visibility</p:attrName>
                                        </p:attrNameLst>
                                      </p:cBhvr>
                                      <p:to>
                                        <p:strVal val="visible"/>
                                      </p:to>
                                    </p:set>
                                    <p:animEffect transition="in" filter="blinds(horizontal)">
                                      <p:cBhvr>
                                        <p:cTn id="36" dur="500"/>
                                        <p:tgtEl>
                                          <p:spTgt spid="11370"/>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1282"/>
                                        </p:tgtEl>
                                        <p:attrNameLst>
                                          <p:attrName>style.visibility</p:attrName>
                                        </p:attrNameLst>
                                      </p:cBhvr>
                                      <p:to>
                                        <p:strVal val="visible"/>
                                      </p:to>
                                    </p:set>
                                    <p:animEffect transition="in" filter="wipe(down)">
                                      <p:cBhvr>
                                        <p:cTn id="39" dur="500"/>
                                        <p:tgtEl>
                                          <p:spTgt spid="11282"/>
                                        </p:tgtEl>
                                      </p:cBhvr>
                                    </p:animEffect>
                                  </p:childTnLst>
                                </p:cTn>
                              </p:par>
                              <p:par>
                                <p:cTn id="40" presetID="22" presetClass="entr" presetSubtype="1" fill="hold" nodeType="withEffect">
                                  <p:stCondLst>
                                    <p:cond delay="0"/>
                                  </p:stCondLst>
                                  <p:childTnLst>
                                    <p:set>
                                      <p:cBhvr>
                                        <p:cTn id="41" dur="1" fill="hold">
                                          <p:stCondLst>
                                            <p:cond delay="0"/>
                                          </p:stCondLst>
                                        </p:cTn>
                                        <p:tgtEl>
                                          <p:spTgt spid="11283"/>
                                        </p:tgtEl>
                                        <p:attrNameLst>
                                          <p:attrName>style.visibility</p:attrName>
                                        </p:attrNameLst>
                                      </p:cBhvr>
                                      <p:to>
                                        <p:strVal val="visible"/>
                                      </p:to>
                                    </p:set>
                                    <p:animEffect transition="in" filter="wipe(up)">
                                      <p:cBhvr>
                                        <p:cTn id="42" dur="2000"/>
                                        <p:tgtEl>
                                          <p:spTgt spid="11283"/>
                                        </p:tgtEl>
                                      </p:cBhvr>
                                    </p:animEffect>
                                  </p:childTnLst>
                                </p:cTn>
                              </p:par>
                              <p:par>
                                <p:cTn id="43" presetID="22" presetClass="entr" presetSubtype="1" fill="hold" nodeType="withEffect">
                                  <p:stCondLst>
                                    <p:cond delay="0"/>
                                  </p:stCondLst>
                                  <p:childTnLst>
                                    <p:set>
                                      <p:cBhvr>
                                        <p:cTn id="44" dur="1" fill="hold">
                                          <p:stCondLst>
                                            <p:cond delay="0"/>
                                          </p:stCondLst>
                                        </p:cTn>
                                        <p:tgtEl>
                                          <p:spTgt spid="11290"/>
                                        </p:tgtEl>
                                        <p:attrNameLst>
                                          <p:attrName>style.visibility</p:attrName>
                                        </p:attrNameLst>
                                      </p:cBhvr>
                                      <p:to>
                                        <p:strVal val="visible"/>
                                      </p:to>
                                    </p:set>
                                    <p:animEffect transition="in" filter="wipe(up)">
                                      <p:cBhvr>
                                        <p:cTn id="45" dur="2000"/>
                                        <p:tgtEl>
                                          <p:spTgt spid="11290"/>
                                        </p:tgtEl>
                                      </p:cBhvr>
                                    </p:animEffect>
                                  </p:childTnLst>
                                </p:cTn>
                              </p:par>
                              <p:par>
                                <p:cTn id="46" presetID="22" presetClass="entr" presetSubtype="1" fill="hold" nodeType="withEffect">
                                  <p:stCondLst>
                                    <p:cond delay="0"/>
                                  </p:stCondLst>
                                  <p:childTnLst>
                                    <p:set>
                                      <p:cBhvr>
                                        <p:cTn id="47" dur="1" fill="hold">
                                          <p:stCondLst>
                                            <p:cond delay="0"/>
                                          </p:stCondLst>
                                        </p:cTn>
                                        <p:tgtEl>
                                          <p:spTgt spid="11303"/>
                                        </p:tgtEl>
                                        <p:attrNameLst>
                                          <p:attrName>style.visibility</p:attrName>
                                        </p:attrNameLst>
                                      </p:cBhvr>
                                      <p:to>
                                        <p:strVal val="visible"/>
                                      </p:to>
                                    </p:set>
                                    <p:animEffect transition="in" filter="wipe(up)">
                                      <p:cBhvr>
                                        <p:cTn id="48" dur="2000"/>
                                        <p:tgtEl>
                                          <p:spTgt spid="11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2" grpId="0"/>
      <p:bldP spid="11281" grpId="0"/>
      <p:bldP spid="11282" grpId="0"/>
      <p:bldP spid="1137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5"/>
          <p:cNvSpPr txBox="1"/>
          <p:nvPr/>
        </p:nvSpPr>
        <p:spPr>
          <a:xfrm>
            <a:off x="351163" y="76081"/>
            <a:ext cx="11536037" cy="1315040"/>
          </a:xfrm>
          <a:prstGeom prst="rect">
            <a:avLst/>
          </a:prstGeom>
          <a:noFill/>
          <a:ln w="9525">
            <a:noFill/>
          </a:ln>
        </p:spPr>
        <p:txBody>
          <a:bodyPr wrap="square">
            <a:spAutoFit/>
          </a:bodyPr>
          <a:lstStyle/>
          <a:p>
            <a:pPr fontAlgn="base">
              <a:lnSpc>
                <a:spcPct val="150000"/>
              </a:lnSpc>
              <a:spcBef>
                <a:spcPct val="50000"/>
              </a:spcBef>
              <a:spcAft>
                <a:spcPct val="0"/>
              </a:spcAft>
            </a:pPr>
            <a:r>
              <a:rPr lang="en-US" altLang="zh-CN" sz="2800" b="1" dirty="0">
                <a:solidFill>
                  <a:srgbClr val="000000"/>
                </a:solidFill>
                <a:latin typeface="宋体" panose="02010600030101010101" pitchFamily="2" charset="-122"/>
                <a:ea typeface="宋体" panose="02010600030101010101" pitchFamily="2" charset="-122"/>
              </a:rPr>
              <a:t>    </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rPr>
              <a:t>从 </a:t>
            </a: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rPr>
              <a:t>n </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rPr>
              <a:t>个</a:t>
            </a:r>
            <a:r>
              <a:rPr lang="zh-CN" altLang="en-US" sz="2800" b="1" dirty="0">
                <a:solidFill>
                  <a:srgbClr val="FF0000"/>
                </a:solidFill>
                <a:latin typeface="华文楷体" panose="02010600040101010101" charset="-122"/>
                <a:ea typeface="华文楷体" panose="02010600040101010101" charset="-122"/>
                <a:cs typeface="华文楷体" panose="02010600040101010101" charset="-122"/>
              </a:rPr>
              <a:t>不同</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rPr>
              <a:t>元素中，任取 </a:t>
            </a: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rPr>
              <a:t>m (</a:t>
            </a:r>
            <a:r>
              <a:rPr lang="en-US" altLang="zh-CN" sz="2800" b="1" dirty="0" err="1">
                <a:solidFill>
                  <a:srgbClr val="000000"/>
                </a:solidFill>
                <a:latin typeface="华文楷体" panose="02010600040101010101" charset="-122"/>
                <a:ea typeface="华文楷体" panose="02010600040101010101" charset="-122"/>
                <a:cs typeface="华文楷体" panose="02010600040101010101" charset="-122"/>
              </a:rPr>
              <a:t>m≤n</a:t>
            </a: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rPr>
              <a:t>) </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rPr>
              <a:t>个元素的所有不同</a:t>
            </a:r>
            <a:r>
              <a:rPr lang="zh-CN" altLang="en-US" sz="2800" b="1" dirty="0">
                <a:solidFill>
                  <a:srgbClr val="7030A0"/>
                </a:solidFill>
                <a:latin typeface="华文楷体" panose="02010600040101010101" charset="-122"/>
                <a:ea typeface="华文楷体" panose="02010600040101010101" charset="-122"/>
                <a:cs typeface="华文楷体" panose="02010600040101010101" charset="-122"/>
              </a:rPr>
              <a:t>排列的个数</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rPr>
              <a:t>，叫做从 </a:t>
            </a: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rPr>
              <a:t>n </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rPr>
              <a:t>个不同元素中取出 </a:t>
            </a:r>
            <a:r>
              <a:rPr lang="en-US" altLang="zh-CN" sz="2800" b="1" dirty="0">
                <a:solidFill>
                  <a:srgbClr val="000000"/>
                </a:solidFill>
                <a:latin typeface="华文楷体" panose="02010600040101010101" charset="-122"/>
                <a:ea typeface="华文楷体" panose="02010600040101010101" charset="-122"/>
                <a:cs typeface="华文楷体" panose="02010600040101010101" charset="-122"/>
              </a:rPr>
              <a:t>m </a:t>
            </a: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rPr>
              <a:t>个元素的</a:t>
            </a:r>
            <a:r>
              <a:rPr lang="zh-CN" altLang="en-US" sz="2800" b="1" dirty="0">
                <a:solidFill>
                  <a:srgbClr val="FF0000"/>
                </a:solidFill>
                <a:latin typeface="华文楷体" panose="02010600040101010101" charset="-122"/>
                <a:ea typeface="华文楷体" panose="02010600040101010101" charset="-122"/>
                <a:cs typeface="华文楷体" panose="02010600040101010101" charset="-122"/>
              </a:rPr>
              <a:t>排列数</a:t>
            </a:r>
            <a:r>
              <a:rPr lang="en-US" altLang="zh-CN" sz="2800" b="1" dirty="0">
                <a:solidFill>
                  <a:srgbClr val="FF0000"/>
                </a:solidFill>
                <a:latin typeface="华文楷体" panose="02010600040101010101" charset="-122"/>
                <a:ea typeface="华文楷体" panose="02010600040101010101" charset="-122"/>
                <a:cs typeface="华文楷体" panose="02010600040101010101" charset="-122"/>
              </a:rPr>
              <a:t>.  </a:t>
            </a:r>
            <a:endParaRPr lang="zh-CN" altLang="en-US" sz="2800" b="1" dirty="0">
              <a:solidFill>
                <a:srgbClr val="000000"/>
              </a:solidFill>
              <a:latin typeface="宋体" panose="02010600030101010101" pitchFamily="2" charset="-122"/>
              <a:ea typeface="宋体" panose="02010600030101010101" pitchFamily="2" charset="-122"/>
            </a:endParaRPr>
          </a:p>
        </p:txBody>
      </p:sp>
      <p:grpSp>
        <p:nvGrpSpPr>
          <p:cNvPr id="19464" name="组合 19463"/>
          <p:cNvGrpSpPr/>
          <p:nvPr/>
        </p:nvGrpSpPr>
        <p:grpSpPr>
          <a:xfrm>
            <a:off x="8986781" y="684262"/>
            <a:ext cx="1329370" cy="706859"/>
            <a:chOff x="-91" y="0"/>
            <a:chExt cx="723" cy="452"/>
          </a:xfrm>
        </p:grpSpPr>
        <p:sp>
          <p:nvSpPr>
            <p:cNvPr id="19465" name="Text Box 8"/>
            <p:cNvSpPr txBox="1"/>
            <p:nvPr/>
          </p:nvSpPr>
          <p:spPr>
            <a:xfrm>
              <a:off x="-91" y="0"/>
              <a:ext cx="454" cy="452"/>
            </a:xfrm>
            <a:prstGeom prst="rect">
              <a:avLst/>
            </a:prstGeom>
            <a:noFill/>
            <a:ln w="9525">
              <a:noFill/>
            </a:ln>
          </p:spPr>
          <p:txBody>
            <a:bodyPr>
              <a:spAutoFit/>
            </a:bodyPr>
            <a:lstStyle/>
            <a:p>
              <a:pPr fontAlgn="base">
                <a:spcBef>
                  <a:spcPct val="50000"/>
                </a:spcBef>
                <a:spcAft>
                  <a:spcPct val="0"/>
                </a:spcAft>
              </a:pPr>
              <a:r>
                <a:rPr lang="zh-CN" altLang="en-US" sz="4000" dirty="0">
                  <a:solidFill>
                    <a:srgbClr val="000000"/>
                  </a:solidFill>
                  <a:latin typeface="Times New Roman" panose="02020603050405020304" pitchFamily="18" charset="0"/>
                  <a:ea typeface="宋体" panose="02010600030101010101" pitchFamily="2" charset="-122"/>
                </a:rPr>
                <a:t>Ａ</a:t>
              </a:r>
            </a:p>
          </p:txBody>
        </p:sp>
        <p:sp>
          <p:nvSpPr>
            <p:cNvPr id="19466" name="Text Box 9"/>
            <p:cNvSpPr txBox="1"/>
            <p:nvPr/>
          </p:nvSpPr>
          <p:spPr>
            <a:xfrm>
              <a:off x="241" y="0"/>
              <a:ext cx="363" cy="236"/>
            </a:xfrm>
            <a:prstGeom prst="rect">
              <a:avLst/>
            </a:prstGeom>
            <a:noFill/>
            <a:ln w="9525">
              <a:noFill/>
            </a:ln>
          </p:spPr>
          <p:txBody>
            <a:bodyPr>
              <a:spAutoFit/>
            </a:bodyPr>
            <a:lstStyle/>
            <a:p>
              <a:pPr fontAlgn="base">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m</a:t>
              </a:r>
            </a:p>
          </p:txBody>
        </p:sp>
        <p:sp>
          <p:nvSpPr>
            <p:cNvPr id="19467" name="Text Box 10"/>
            <p:cNvSpPr txBox="1"/>
            <p:nvPr/>
          </p:nvSpPr>
          <p:spPr>
            <a:xfrm>
              <a:off x="269" y="205"/>
              <a:ext cx="363" cy="236"/>
            </a:xfrm>
            <a:prstGeom prst="rect">
              <a:avLst/>
            </a:prstGeom>
            <a:noFill/>
            <a:ln w="9525">
              <a:noFill/>
            </a:ln>
          </p:spPr>
          <p:txBody>
            <a:bodyPr>
              <a:spAutoFit/>
            </a:bodyPr>
            <a:lstStyle/>
            <a:p>
              <a:pPr fontAlgn="base">
                <a:spcBef>
                  <a:spcPct val="50000"/>
                </a:spcBef>
                <a:spcAft>
                  <a:spcPct val="0"/>
                </a:spcAft>
              </a:pPr>
              <a:r>
                <a:rPr lang="en-US" altLang="zh-CN">
                  <a:solidFill>
                    <a:srgbClr val="000000"/>
                  </a:solidFill>
                  <a:latin typeface="Times New Roman" panose="02020603050405020304" pitchFamily="18" charset="0"/>
                  <a:ea typeface="宋体" panose="02010600030101010101" pitchFamily="2" charset="-122"/>
                </a:rPr>
                <a:t>n</a:t>
              </a:r>
            </a:p>
          </p:txBody>
        </p:sp>
      </p:grpSp>
      <p:sp>
        <p:nvSpPr>
          <p:cNvPr id="2" name="文本框 1"/>
          <p:cNvSpPr txBox="1"/>
          <p:nvPr/>
        </p:nvSpPr>
        <p:spPr>
          <a:xfrm>
            <a:off x="7910772" y="825231"/>
            <a:ext cx="1463675" cy="521970"/>
          </a:xfrm>
          <a:prstGeom prst="rect">
            <a:avLst/>
          </a:prstGeom>
          <a:noFill/>
        </p:spPr>
        <p:txBody>
          <a:bodyPr wrap="square" rtlCol="0">
            <a:spAutoFit/>
          </a:bodyPr>
          <a:lstStyle/>
          <a:p>
            <a:pPr fontAlgn="base">
              <a:spcBef>
                <a:spcPct val="0"/>
              </a:spcBef>
              <a:spcAft>
                <a:spcPct val="0"/>
              </a:spcAft>
            </a:pPr>
            <a:r>
              <a:rPr lang="zh-CN" altLang="en-US" sz="2800" b="1" dirty="0">
                <a:solidFill>
                  <a:srgbClr val="000000"/>
                </a:solidFill>
                <a:latin typeface="华文楷体" panose="02010600040101010101" charset="-122"/>
                <a:ea typeface="华文楷体" panose="02010600040101010101" charset="-122"/>
                <a:cs typeface="华文楷体" panose="02010600040101010101" charset="-122"/>
                <a:sym typeface="+mn-ea"/>
              </a:rPr>
              <a:t>记作：</a:t>
            </a:r>
            <a:endParaRPr lang="zh-CN" altLang="en-US" sz="2800" b="1" dirty="0">
              <a:solidFill>
                <a:srgbClr val="000000"/>
              </a:solidFill>
              <a:latin typeface="宋体" panose="02010600030101010101" pitchFamily="2" charset="-122"/>
              <a:ea typeface="宋体" panose="02010600030101010101" pitchFamily="2" charset="-122"/>
            </a:endParaRPr>
          </a:p>
        </p:txBody>
      </p:sp>
      <p:grpSp>
        <p:nvGrpSpPr>
          <p:cNvPr id="3" name="组合 2">
            <a:extLst>
              <a:ext uri="{FF2B5EF4-FFF2-40B4-BE49-F238E27FC236}">
                <a16:creationId xmlns:a16="http://schemas.microsoft.com/office/drawing/2014/main" id="{F91B959C-9195-F33C-3545-B4EEE1846264}"/>
              </a:ext>
            </a:extLst>
          </p:cNvPr>
          <p:cNvGrpSpPr/>
          <p:nvPr/>
        </p:nvGrpSpPr>
        <p:grpSpPr>
          <a:xfrm>
            <a:off x="3061299" y="2104464"/>
            <a:ext cx="938212" cy="788988"/>
            <a:chOff x="0" y="0"/>
            <a:chExt cx="591" cy="497"/>
          </a:xfrm>
        </p:grpSpPr>
        <p:sp>
          <p:nvSpPr>
            <p:cNvPr id="4" name="Line 4">
              <a:extLst>
                <a:ext uri="{FF2B5EF4-FFF2-40B4-BE49-F238E27FC236}">
                  <a16:creationId xmlns:a16="http://schemas.microsoft.com/office/drawing/2014/main" id="{6F3CC201-6C8C-DAF7-1EC5-206B85E4ECC6}"/>
                </a:ext>
              </a:extLst>
            </p:cNvPr>
            <p:cNvSpPr/>
            <p:nvPr/>
          </p:nvSpPr>
          <p:spPr>
            <a:xfrm flipH="1" flipV="1">
              <a:off x="256" y="0"/>
              <a:ext cx="0" cy="272"/>
            </a:xfrm>
            <a:prstGeom prst="line">
              <a:avLst/>
            </a:prstGeom>
            <a:ln w="19050" cap="sq" cmpd="sng">
              <a:solidFill>
                <a:schemeClr val="tx1"/>
              </a:solidFill>
              <a:prstDash val="solid"/>
              <a:headEnd type="none" w="med" len="med"/>
              <a:tailEnd type="triangle" w="lg" len="lg"/>
            </a:ln>
          </p:spPr>
          <p:txBody>
            <a:bodyPr/>
            <a:lstStyle/>
            <a:p>
              <a:endParaRPr/>
            </a:p>
          </p:txBody>
        </p:sp>
        <p:sp>
          <p:nvSpPr>
            <p:cNvPr id="5" name="Text Box 5">
              <a:extLst>
                <a:ext uri="{FF2B5EF4-FFF2-40B4-BE49-F238E27FC236}">
                  <a16:creationId xmlns:a16="http://schemas.microsoft.com/office/drawing/2014/main" id="{FF862B02-31DA-EC4B-FE05-B999E7DAABDA}"/>
                </a:ext>
              </a:extLst>
            </p:cNvPr>
            <p:cNvSpPr txBox="1"/>
            <p:nvPr/>
          </p:nvSpPr>
          <p:spPr>
            <a:xfrm>
              <a:off x="0" y="209"/>
              <a:ext cx="591" cy="288"/>
            </a:xfrm>
            <a:prstGeom prst="rect">
              <a:avLst/>
            </a:prstGeom>
            <a:noFill/>
            <a:ln w="9525">
              <a:noFill/>
            </a:ln>
          </p:spPr>
          <p:txBody>
            <a:bodyPr>
              <a:spAutoFit/>
            </a:bodyPr>
            <a:lstStyle/>
            <a:p>
              <a:pPr fontAlgn="base">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n</a:t>
              </a:r>
              <a:r>
                <a:rPr lang="zh-CN" altLang="en-US" sz="2400" b="1">
                  <a:solidFill>
                    <a:srgbClr val="000000"/>
                  </a:solidFill>
                  <a:latin typeface="Times New Roman" panose="02020603050405020304" pitchFamily="18" charset="0"/>
                  <a:ea typeface="宋体" panose="02010600030101010101" pitchFamily="2" charset="-122"/>
                </a:rPr>
                <a:t>种</a:t>
              </a:r>
            </a:p>
          </p:txBody>
        </p:sp>
      </p:grpSp>
      <p:grpSp>
        <p:nvGrpSpPr>
          <p:cNvPr id="6" name="组合 5">
            <a:extLst>
              <a:ext uri="{FF2B5EF4-FFF2-40B4-BE49-F238E27FC236}">
                <a16:creationId xmlns:a16="http://schemas.microsoft.com/office/drawing/2014/main" id="{298580BE-642F-8582-7990-BF26754AD8B9}"/>
              </a:ext>
            </a:extLst>
          </p:cNvPr>
          <p:cNvGrpSpPr/>
          <p:nvPr/>
        </p:nvGrpSpPr>
        <p:grpSpPr>
          <a:xfrm>
            <a:off x="3682011" y="2104465"/>
            <a:ext cx="1295400" cy="790575"/>
            <a:chOff x="0" y="0"/>
            <a:chExt cx="816" cy="498"/>
          </a:xfrm>
        </p:grpSpPr>
        <p:sp>
          <p:nvSpPr>
            <p:cNvPr id="7" name="Line 7">
              <a:extLst>
                <a:ext uri="{FF2B5EF4-FFF2-40B4-BE49-F238E27FC236}">
                  <a16:creationId xmlns:a16="http://schemas.microsoft.com/office/drawing/2014/main" id="{7A8B4F65-FB7C-1160-03C1-12DF633BEFDC}"/>
                </a:ext>
              </a:extLst>
            </p:cNvPr>
            <p:cNvSpPr/>
            <p:nvPr/>
          </p:nvSpPr>
          <p:spPr>
            <a:xfrm flipH="1" flipV="1">
              <a:off x="363" y="0"/>
              <a:ext cx="0" cy="272"/>
            </a:xfrm>
            <a:prstGeom prst="line">
              <a:avLst/>
            </a:prstGeom>
            <a:ln w="19050" cap="sq" cmpd="sng">
              <a:solidFill>
                <a:schemeClr val="tx1"/>
              </a:solidFill>
              <a:prstDash val="solid"/>
              <a:headEnd type="none" w="med" len="med"/>
              <a:tailEnd type="triangle" w="lg" len="lg"/>
            </a:ln>
          </p:spPr>
          <p:txBody>
            <a:bodyPr/>
            <a:lstStyle/>
            <a:p>
              <a:endParaRPr/>
            </a:p>
          </p:txBody>
        </p:sp>
        <p:sp>
          <p:nvSpPr>
            <p:cNvPr id="8" name="Text Box 8">
              <a:extLst>
                <a:ext uri="{FF2B5EF4-FFF2-40B4-BE49-F238E27FC236}">
                  <a16:creationId xmlns:a16="http://schemas.microsoft.com/office/drawing/2014/main" id="{F5E7B965-E4F9-2270-E24C-F3E24592911B}"/>
                </a:ext>
              </a:extLst>
            </p:cNvPr>
            <p:cNvSpPr txBox="1"/>
            <p:nvPr/>
          </p:nvSpPr>
          <p:spPr>
            <a:xfrm>
              <a:off x="0" y="210"/>
              <a:ext cx="816" cy="288"/>
            </a:xfrm>
            <a:prstGeom prst="rect">
              <a:avLst/>
            </a:prstGeom>
            <a:noFill/>
            <a:ln w="9525">
              <a:noFill/>
            </a:ln>
          </p:spPr>
          <p:txBody>
            <a:bodyPr>
              <a:spAutoFit/>
            </a:bodyPr>
            <a:lstStyle/>
            <a:p>
              <a:pPr fontAlgn="base">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(n-1)</a:t>
              </a:r>
              <a:r>
                <a:rPr lang="zh-CN" altLang="en-US" sz="2400" b="1">
                  <a:solidFill>
                    <a:srgbClr val="000000"/>
                  </a:solidFill>
                  <a:latin typeface="Times New Roman" panose="02020603050405020304" pitchFamily="18" charset="0"/>
                  <a:ea typeface="宋体" panose="02010600030101010101" pitchFamily="2" charset="-122"/>
                </a:rPr>
                <a:t>种</a:t>
              </a:r>
            </a:p>
          </p:txBody>
        </p:sp>
      </p:grpSp>
      <p:grpSp>
        <p:nvGrpSpPr>
          <p:cNvPr id="9" name="组合 8">
            <a:extLst>
              <a:ext uri="{FF2B5EF4-FFF2-40B4-BE49-F238E27FC236}">
                <a16:creationId xmlns:a16="http://schemas.microsoft.com/office/drawing/2014/main" id="{3438BD56-8E97-F4BB-C847-8F819EC36274}"/>
              </a:ext>
            </a:extLst>
          </p:cNvPr>
          <p:cNvGrpSpPr/>
          <p:nvPr/>
        </p:nvGrpSpPr>
        <p:grpSpPr>
          <a:xfrm>
            <a:off x="4704362" y="2104465"/>
            <a:ext cx="1439863" cy="790575"/>
            <a:chOff x="0" y="0"/>
            <a:chExt cx="907" cy="498"/>
          </a:xfrm>
        </p:grpSpPr>
        <p:sp>
          <p:nvSpPr>
            <p:cNvPr id="10" name="Line 11">
              <a:extLst>
                <a:ext uri="{FF2B5EF4-FFF2-40B4-BE49-F238E27FC236}">
                  <a16:creationId xmlns:a16="http://schemas.microsoft.com/office/drawing/2014/main" id="{524DA331-4601-94EE-3531-8A712E8085E9}"/>
                </a:ext>
              </a:extLst>
            </p:cNvPr>
            <p:cNvSpPr/>
            <p:nvPr/>
          </p:nvSpPr>
          <p:spPr>
            <a:xfrm flipH="1" flipV="1">
              <a:off x="227" y="0"/>
              <a:ext cx="0" cy="272"/>
            </a:xfrm>
            <a:prstGeom prst="line">
              <a:avLst/>
            </a:prstGeom>
            <a:ln w="19050" cap="sq" cmpd="sng">
              <a:solidFill>
                <a:schemeClr val="tx1"/>
              </a:solidFill>
              <a:prstDash val="solid"/>
              <a:headEnd type="none" w="med" len="med"/>
              <a:tailEnd type="triangle" w="lg" len="lg"/>
            </a:ln>
          </p:spPr>
          <p:txBody>
            <a:bodyPr/>
            <a:lstStyle/>
            <a:p>
              <a:endParaRPr/>
            </a:p>
          </p:txBody>
        </p:sp>
        <p:sp>
          <p:nvSpPr>
            <p:cNvPr id="11" name="Text Box 12">
              <a:extLst>
                <a:ext uri="{FF2B5EF4-FFF2-40B4-BE49-F238E27FC236}">
                  <a16:creationId xmlns:a16="http://schemas.microsoft.com/office/drawing/2014/main" id="{26D56819-E8BD-5FBD-0D18-9D5E257BB264}"/>
                </a:ext>
              </a:extLst>
            </p:cNvPr>
            <p:cNvSpPr txBox="1"/>
            <p:nvPr/>
          </p:nvSpPr>
          <p:spPr>
            <a:xfrm>
              <a:off x="0" y="210"/>
              <a:ext cx="907" cy="288"/>
            </a:xfrm>
            <a:prstGeom prst="rect">
              <a:avLst/>
            </a:prstGeom>
            <a:noFill/>
            <a:ln w="9525">
              <a:noFill/>
            </a:ln>
          </p:spPr>
          <p:txBody>
            <a:bodyPr>
              <a:spAutoFit/>
            </a:bodyPr>
            <a:lstStyle/>
            <a:p>
              <a:pPr fontAlgn="base">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(n-2)</a:t>
              </a:r>
              <a:r>
                <a:rPr lang="zh-CN" altLang="en-US" sz="2400" b="1">
                  <a:solidFill>
                    <a:srgbClr val="000000"/>
                  </a:solidFill>
                  <a:latin typeface="Times New Roman" panose="02020603050405020304" pitchFamily="18" charset="0"/>
                  <a:ea typeface="宋体" panose="02010600030101010101" pitchFamily="2" charset="-122"/>
                </a:rPr>
                <a:t>种</a:t>
              </a:r>
            </a:p>
          </p:txBody>
        </p:sp>
      </p:grpSp>
      <p:grpSp>
        <p:nvGrpSpPr>
          <p:cNvPr id="12" name="组合 11">
            <a:extLst>
              <a:ext uri="{FF2B5EF4-FFF2-40B4-BE49-F238E27FC236}">
                <a16:creationId xmlns:a16="http://schemas.microsoft.com/office/drawing/2014/main" id="{5B8CACFE-9621-1638-9DB4-B7AE6DD52300}"/>
              </a:ext>
            </a:extLst>
          </p:cNvPr>
          <p:cNvGrpSpPr/>
          <p:nvPr/>
        </p:nvGrpSpPr>
        <p:grpSpPr>
          <a:xfrm>
            <a:off x="7138000" y="2101290"/>
            <a:ext cx="1766887" cy="790575"/>
            <a:chOff x="0" y="0"/>
            <a:chExt cx="1113" cy="498"/>
          </a:xfrm>
        </p:grpSpPr>
        <p:sp>
          <p:nvSpPr>
            <p:cNvPr id="13" name="Text Box 14">
              <a:extLst>
                <a:ext uri="{FF2B5EF4-FFF2-40B4-BE49-F238E27FC236}">
                  <a16:creationId xmlns:a16="http://schemas.microsoft.com/office/drawing/2014/main" id="{CF924A04-70F4-D5F0-8487-237E480ABED3}"/>
                </a:ext>
              </a:extLst>
            </p:cNvPr>
            <p:cNvSpPr txBox="1"/>
            <p:nvPr/>
          </p:nvSpPr>
          <p:spPr>
            <a:xfrm>
              <a:off x="0" y="210"/>
              <a:ext cx="1113" cy="288"/>
            </a:xfrm>
            <a:prstGeom prst="rect">
              <a:avLst/>
            </a:prstGeom>
            <a:noFill/>
            <a:ln w="9525">
              <a:noFill/>
            </a:ln>
          </p:spPr>
          <p:txBody>
            <a:bodyPr>
              <a:spAutoFit/>
            </a:bodyPr>
            <a:lstStyle/>
            <a:p>
              <a:pPr fontAlgn="base">
                <a:spcBef>
                  <a:spcPct val="5000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(n-m+1)</a:t>
              </a:r>
              <a:r>
                <a:rPr lang="zh-CN" altLang="en-US" sz="2400" b="1">
                  <a:solidFill>
                    <a:srgbClr val="000000"/>
                  </a:solidFill>
                  <a:latin typeface="Times New Roman" panose="02020603050405020304" pitchFamily="18" charset="0"/>
                  <a:ea typeface="宋体" panose="02010600030101010101" pitchFamily="2" charset="-122"/>
                </a:rPr>
                <a:t>种</a:t>
              </a:r>
            </a:p>
          </p:txBody>
        </p:sp>
        <p:sp>
          <p:nvSpPr>
            <p:cNvPr id="14" name="Line 15">
              <a:extLst>
                <a:ext uri="{FF2B5EF4-FFF2-40B4-BE49-F238E27FC236}">
                  <a16:creationId xmlns:a16="http://schemas.microsoft.com/office/drawing/2014/main" id="{58CCDC79-73C2-0AFD-4D29-C2B537B7AB6D}"/>
                </a:ext>
              </a:extLst>
            </p:cNvPr>
            <p:cNvSpPr/>
            <p:nvPr/>
          </p:nvSpPr>
          <p:spPr>
            <a:xfrm flipH="1" flipV="1">
              <a:off x="433" y="0"/>
              <a:ext cx="0" cy="272"/>
            </a:xfrm>
            <a:prstGeom prst="line">
              <a:avLst/>
            </a:prstGeom>
            <a:ln w="19050" cap="sq" cmpd="sng">
              <a:solidFill>
                <a:schemeClr val="tx1"/>
              </a:solidFill>
              <a:prstDash val="solid"/>
              <a:headEnd type="none" w="med" len="med"/>
              <a:tailEnd type="triangle" w="lg" len="lg"/>
            </a:ln>
          </p:spPr>
          <p:txBody>
            <a:bodyPr/>
            <a:lstStyle/>
            <a:p>
              <a:endParaRPr/>
            </a:p>
          </p:txBody>
        </p:sp>
      </p:grpSp>
      <p:grpSp>
        <p:nvGrpSpPr>
          <p:cNvPr id="15" name="组合 14">
            <a:extLst>
              <a:ext uri="{FF2B5EF4-FFF2-40B4-BE49-F238E27FC236}">
                <a16:creationId xmlns:a16="http://schemas.microsoft.com/office/drawing/2014/main" id="{34E35FDE-12C1-82F5-0686-AC6EF21E6C31}"/>
              </a:ext>
            </a:extLst>
          </p:cNvPr>
          <p:cNvGrpSpPr/>
          <p:nvPr/>
        </p:nvGrpSpPr>
        <p:grpSpPr>
          <a:xfrm>
            <a:off x="3178774" y="1585353"/>
            <a:ext cx="5048250" cy="536575"/>
            <a:chOff x="0" y="0"/>
            <a:chExt cx="3180" cy="338"/>
          </a:xfrm>
        </p:grpSpPr>
        <p:sp>
          <p:nvSpPr>
            <p:cNvPr id="16" name="Text Box 17">
              <a:extLst>
                <a:ext uri="{FF2B5EF4-FFF2-40B4-BE49-F238E27FC236}">
                  <a16:creationId xmlns:a16="http://schemas.microsoft.com/office/drawing/2014/main" id="{8268DBAB-1C50-2584-C316-4361721D8B1A}"/>
                </a:ext>
              </a:extLst>
            </p:cNvPr>
            <p:cNvSpPr txBox="1"/>
            <p:nvPr/>
          </p:nvSpPr>
          <p:spPr>
            <a:xfrm>
              <a:off x="0" y="38"/>
              <a:ext cx="453" cy="300"/>
            </a:xfrm>
            <a:prstGeom prst="rect">
              <a:avLst/>
            </a:prstGeom>
            <a:noFill/>
            <a:ln w="19050" cap="sq" cmpd="sng">
              <a:solidFill>
                <a:schemeClr val="tx1"/>
              </a:solidFill>
              <a:prstDash val="solid"/>
              <a:miter/>
              <a:headEnd type="none" w="med" len="med"/>
              <a:tailEnd type="none" w="med" len="med"/>
            </a:ln>
          </p:spPr>
          <p:txBody>
            <a:bodyPr>
              <a:spAutoFit/>
            </a:bodyPr>
            <a:lstStyle/>
            <a:p>
              <a:pPr fontAlgn="base">
                <a:spcBef>
                  <a:spcPct val="50000"/>
                </a:spcBef>
                <a:spcAft>
                  <a:spcPct val="0"/>
                </a:spcAft>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7" name="Text Box 18">
              <a:extLst>
                <a:ext uri="{FF2B5EF4-FFF2-40B4-BE49-F238E27FC236}">
                  <a16:creationId xmlns:a16="http://schemas.microsoft.com/office/drawing/2014/main" id="{FB2D4D72-8042-9324-543F-2E0AC5BD4A72}"/>
                </a:ext>
              </a:extLst>
            </p:cNvPr>
            <p:cNvSpPr txBox="1"/>
            <p:nvPr/>
          </p:nvSpPr>
          <p:spPr>
            <a:xfrm>
              <a:off x="453" y="38"/>
              <a:ext cx="453" cy="300"/>
            </a:xfrm>
            <a:prstGeom prst="rect">
              <a:avLst/>
            </a:prstGeom>
            <a:noFill/>
            <a:ln w="19050" cap="sq" cmpd="sng">
              <a:solidFill>
                <a:schemeClr val="tx1"/>
              </a:solidFill>
              <a:prstDash val="solid"/>
              <a:miter/>
              <a:headEnd type="none" w="med" len="med"/>
              <a:tailEnd type="none" w="med" len="med"/>
            </a:ln>
          </p:spPr>
          <p:txBody>
            <a:bodyPr>
              <a:spAutoFit/>
            </a:bodyPr>
            <a:lstStyle/>
            <a:p>
              <a:pPr fontAlgn="base">
                <a:spcBef>
                  <a:spcPct val="50000"/>
                </a:spcBef>
                <a:spcAft>
                  <a:spcPct val="0"/>
                </a:spcAft>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8" name="Text Box 19">
              <a:extLst>
                <a:ext uri="{FF2B5EF4-FFF2-40B4-BE49-F238E27FC236}">
                  <a16:creationId xmlns:a16="http://schemas.microsoft.com/office/drawing/2014/main" id="{B1B7CEBE-DF5E-26BF-1656-9682C99FD182}"/>
                </a:ext>
              </a:extLst>
            </p:cNvPr>
            <p:cNvSpPr txBox="1"/>
            <p:nvPr/>
          </p:nvSpPr>
          <p:spPr>
            <a:xfrm>
              <a:off x="907" y="37"/>
              <a:ext cx="453" cy="300"/>
            </a:xfrm>
            <a:prstGeom prst="rect">
              <a:avLst/>
            </a:prstGeom>
            <a:noFill/>
            <a:ln w="19050" cap="sq" cmpd="sng">
              <a:solidFill>
                <a:schemeClr val="tx1"/>
              </a:solidFill>
              <a:prstDash val="solid"/>
              <a:miter/>
              <a:headEnd type="none" w="med" len="med"/>
              <a:tailEnd type="none" w="med" len="med"/>
            </a:ln>
          </p:spPr>
          <p:txBody>
            <a:bodyPr>
              <a:spAutoFit/>
            </a:bodyPr>
            <a:lstStyle/>
            <a:p>
              <a:pPr fontAlgn="base">
                <a:spcBef>
                  <a:spcPct val="50000"/>
                </a:spcBef>
                <a:spcAft>
                  <a:spcPct val="0"/>
                </a:spcAft>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19" name="Text Box 20">
              <a:extLst>
                <a:ext uri="{FF2B5EF4-FFF2-40B4-BE49-F238E27FC236}">
                  <a16:creationId xmlns:a16="http://schemas.microsoft.com/office/drawing/2014/main" id="{58B3FF82-991D-E96F-40DF-B30D8EBC02BE}"/>
                </a:ext>
              </a:extLst>
            </p:cNvPr>
            <p:cNvSpPr txBox="1"/>
            <p:nvPr/>
          </p:nvSpPr>
          <p:spPr>
            <a:xfrm>
              <a:off x="1360" y="38"/>
              <a:ext cx="1368" cy="300"/>
            </a:xfrm>
            <a:prstGeom prst="rect">
              <a:avLst/>
            </a:prstGeom>
            <a:noFill/>
            <a:ln w="19050" cap="sq" cmpd="sng">
              <a:solidFill>
                <a:schemeClr val="tx1"/>
              </a:solidFill>
              <a:prstDash val="solid"/>
              <a:miter/>
              <a:headEnd type="none" w="med" len="med"/>
              <a:tailEnd type="none" w="med" len="med"/>
            </a:ln>
          </p:spPr>
          <p:txBody>
            <a:bodyPr>
              <a:spAutoFit/>
            </a:bodyPr>
            <a:lstStyle/>
            <a:p>
              <a:pPr fontAlgn="base">
                <a:spcBef>
                  <a:spcPct val="50000"/>
                </a:spcBef>
                <a:spcAft>
                  <a:spcPct val="0"/>
                </a:spcAft>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20" name="Text Box 21">
              <a:extLst>
                <a:ext uri="{FF2B5EF4-FFF2-40B4-BE49-F238E27FC236}">
                  <a16:creationId xmlns:a16="http://schemas.microsoft.com/office/drawing/2014/main" id="{C87FE2C0-C40D-FCE8-B185-9AD2ECD54885}"/>
                </a:ext>
              </a:extLst>
            </p:cNvPr>
            <p:cNvSpPr txBox="1"/>
            <p:nvPr/>
          </p:nvSpPr>
          <p:spPr>
            <a:xfrm>
              <a:off x="2727" y="38"/>
              <a:ext cx="453" cy="300"/>
            </a:xfrm>
            <a:prstGeom prst="rect">
              <a:avLst/>
            </a:prstGeom>
            <a:noFill/>
            <a:ln w="19050" cap="sq" cmpd="sng">
              <a:solidFill>
                <a:schemeClr val="tx1"/>
              </a:solidFill>
              <a:prstDash val="solid"/>
              <a:miter/>
              <a:headEnd type="none" w="med" len="med"/>
              <a:tailEnd type="none" w="med" len="med"/>
            </a:ln>
          </p:spPr>
          <p:txBody>
            <a:bodyPr>
              <a:spAutoFit/>
            </a:bodyPr>
            <a:lstStyle/>
            <a:p>
              <a:pPr fontAlgn="base">
                <a:spcBef>
                  <a:spcPct val="50000"/>
                </a:spcBef>
                <a:spcAft>
                  <a:spcPct val="0"/>
                </a:spcAft>
              </a:pP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21" name="Rectangle 22">
              <a:extLst>
                <a:ext uri="{FF2B5EF4-FFF2-40B4-BE49-F238E27FC236}">
                  <a16:creationId xmlns:a16="http://schemas.microsoft.com/office/drawing/2014/main" id="{7981056E-28C6-CC50-C178-36829717BB1D}"/>
                </a:ext>
              </a:extLst>
            </p:cNvPr>
            <p:cNvSpPr/>
            <p:nvPr/>
          </p:nvSpPr>
          <p:spPr>
            <a:xfrm>
              <a:off x="1771" y="2"/>
              <a:ext cx="308" cy="288"/>
            </a:xfrm>
            <a:prstGeom prst="rect">
              <a:avLst/>
            </a:prstGeom>
            <a:noFill/>
            <a:ln w="9525">
              <a:noFill/>
            </a:ln>
          </p:spPr>
          <p:txBody>
            <a:bodyPr wrap="none">
              <a:spAutoFit/>
            </a:bodyPr>
            <a:lstStyle/>
            <a:p>
              <a:pPr fontAlgn="base">
                <a:spcBef>
                  <a:spcPct val="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a:t>
              </a:r>
            </a:p>
          </p:txBody>
        </p:sp>
        <p:sp>
          <p:nvSpPr>
            <p:cNvPr id="22" name="Rectangle 23">
              <a:extLst>
                <a:ext uri="{FF2B5EF4-FFF2-40B4-BE49-F238E27FC236}">
                  <a16:creationId xmlns:a16="http://schemas.microsoft.com/office/drawing/2014/main" id="{28C2411F-8C6A-7A55-0048-24F3F1DEA3C7}"/>
                </a:ext>
              </a:extLst>
            </p:cNvPr>
            <p:cNvSpPr/>
            <p:nvPr/>
          </p:nvSpPr>
          <p:spPr>
            <a:xfrm>
              <a:off x="1963" y="0"/>
              <a:ext cx="308" cy="288"/>
            </a:xfrm>
            <a:prstGeom prst="rect">
              <a:avLst/>
            </a:prstGeom>
            <a:noFill/>
            <a:ln w="9525">
              <a:noFill/>
            </a:ln>
          </p:spPr>
          <p:txBody>
            <a:bodyPr wrap="none">
              <a:spAutoFit/>
            </a:bodyPr>
            <a:lstStyle/>
            <a:p>
              <a:pPr fontAlgn="base">
                <a:spcBef>
                  <a:spcPct val="0"/>
                </a:spcBef>
                <a:spcAft>
                  <a:spcPct val="0"/>
                </a:spcAft>
              </a:pPr>
              <a:r>
                <a:rPr lang="en-US" altLang="zh-CN" sz="2400" b="1">
                  <a:solidFill>
                    <a:srgbClr val="000000"/>
                  </a:solidFill>
                  <a:latin typeface="Times New Roman" panose="02020603050405020304" pitchFamily="18" charset="0"/>
                  <a:ea typeface="宋体" panose="02010600030101010101" pitchFamily="2" charset="-122"/>
                </a:rPr>
                <a:t>…</a:t>
              </a:r>
            </a:p>
          </p:txBody>
        </p:sp>
      </p:grpSp>
      <p:sp>
        <p:nvSpPr>
          <p:cNvPr id="23" name="Rectangle 4">
            <a:extLst>
              <a:ext uri="{FF2B5EF4-FFF2-40B4-BE49-F238E27FC236}">
                <a16:creationId xmlns:a16="http://schemas.microsoft.com/office/drawing/2014/main" id="{DD2954CF-6AC0-30E1-8F76-6981ABC60F35}"/>
              </a:ext>
            </a:extLst>
          </p:cNvPr>
          <p:cNvSpPr/>
          <p:nvPr/>
        </p:nvSpPr>
        <p:spPr>
          <a:xfrm>
            <a:off x="1999897" y="3160573"/>
            <a:ext cx="2836863" cy="521970"/>
          </a:xfrm>
          <a:prstGeom prst="rect">
            <a:avLst/>
          </a:prstGeom>
          <a:noFill/>
          <a:ln w="9525">
            <a:noFill/>
          </a:ln>
        </p:spPr>
        <p:txBody>
          <a:bodyPr anchor="ctr">
            <a:spAutoFit/>
          </a:bodyPr>
          <a:lstStyle/>
          <a:p>
            <a:pPr fontAlgn="base">
              <a:spcBef>
                <a:spcPct val="0"/>
              </a:spcBef>
              <a:spcAft>
                <a:spcPct val="0"/>
              </a:spcAft>
            </a:pPr>
            <a:r>
              <a:rPr lang="en-US" altLang="zh-CN" sz="1000">
                <a:solidFill>
                  <a:srgbClr val="000000"/>
                </a:solidFill>
                <a:latin typeface="Arial" panose="020B0604020202020204" pitchFamily="34" charset="0"/>
                <a:ea typeface="宋体" panose="02010600030101010101" pitchFamily="2" charset="-122"/>
              </a:rPr>
              <a:t> </a:t>
            </a:r>
            <a:r>
              <a:rPr lang="zh-CN" altLang="en-US" sz="2800" b="1">
                <a:solidFill>
                  <a:srgbClr val="000000"/>
                </a:solidFill>
                <a:latin typeface="华文楷体" panose="02010600040101010101" charset="-122"/>
                <a:ea typeface="华文楷体" panose="02010600040101010101" charset="-122"/>
              </a:rPr>
              <a:t>排列数公式：</a:t>
            </a:r>
          </a:p>
        </p:txBody>
      </p:sp>
      <p:graphicFrame>
        <p:nvGraphicFramePr>
          <p:cNvPr id="24" name="对象 23">
            <a:extLst>
              <a:ext uri="{FF2B5EF4-FFF2-40B4-BE49-F238E27FC236}">
                <a16:creationId xmlns:a16="http://schemas.microsoft.com/office/drawing/2014/main" id="{DA2F4565-1E25-2FE3-2432-866460D8146B}"/>
              </a:ext>
            </a:extLst>
          </p:cNvPr>
          <p:cNvGraphicFramePr>
            <a:graphicFrameLocks noChangeAspect="1"/>
          </p:cNvGraphicFramePr>
          <p:nvPr>
            <p:extLst>
              <p:ext uri="{D42A27DB-BD31-4B8C-83A1-F6EECF244321}">
                <p14:modId xmlns:p14="http://schemas.microsoft.com/office/powerpoint/2010/main" val="3356763561"/>
              </p:ext>
            </p:extLst>
          </p:nvPr>
        </p:nvGraphicFramePr>
        <p:xfrm>
          <a:off x="4069996" y="3075801"/>
          <a:ext cx="5919470" cy="691515"/>
        </p:xfrm>
        <a:graphic>
          <a:graphicData uri="http://schemas.openxmlformats.org/presentationml/2006/ole">
            <mc:AlternateContent xmlns:mc="http://schemas.openxmlformats.org/markup-compatibility/2006">
              <mc:Choice xmlns:v="urn:schemas-microsoft-com:vml" Requires="v">
                <p:oleObj r:id="rId2" imgW="2044065" imgH="241300" progId="Equation.DSMT4">
                  <p:embed/>
                </p:oleObj>
              </mc:Choice>
              <mc:Fallback>
                <p:oleObj r:id="rId2" imgW="2044065" imgH="241300" progId="Equation.DSMT4">
                  <p:embed/>
                  <p:pic>
                    <p:nvPicPr>
                      <p:cNvPr id="26628" name="对象 26627"/>
                      <p:cNvPicPr/>
                      <p:nvPr/>
                    </p:nvPicPr>
                    <p:blipFill>
                      <a:blip r:embed="rId3"/>
                      <a:stretch>
                        <a:fillRect/>
                      </a:stretch>
                    </p:blipFill>
                    <p:spPr>
                      <a:xfrm>
                        <a:off x="4069996" y="3075801"/>
                        <a:ext cx="5919470" cy="691515"/>
                      </a:xfrm>
                      <a:prstGeom prst="rect">
                        <a:avLst/>
                      </a:prstGeom>
                      <a:noFill/>
                      <a:ln w="38100">
                        <a:noFill/>
                        <a:miter/>
                      </a:ln>
                    </p:spPr>
                  </p:pic>
                </p:oleObj>
              </mc:Fallback>
            </mc:AlternateContent>
          </a:graphicData>
        </a:graphic>
      </p:graphicFrame>
      <p:grpSp>
        <p:nvGrpSpPr>
          <p:cNvPr id="25" name="组合 24">
            <a:extLst>
              <a:ext uri="{FF2B5EF4-FFF2-40B4-BE49-F238E27FC236}">
                <a16:creationId xmlns:a16="http://schemas.microsoft.com/office/drawing/2014/main" id="{98CC5524-9D45-D56A-BDC9-D5D97907C6FC}"/>
              </a:ext>
            </a:extLst>
          </p:cNvPr>
          <p:cNvGrpSpPr/>
          <p:nvPr/>
        </p:nvGrpSpPr>
        <p:grpSpPr>
          <a:xfrm>
            <a:off x="2058036" y="3948695"/>
            <a:ext cx="1061085" cy="708660"/>
            <a:chOff x="0" y="0"/>
            <a:chExt cx="632" cy="478"/>
          </a:xfrm>
        </p:grpSpPr>
        <p:sp>
          <p:nvSpPr>
            <p:cNvPr id="26" name="Text Box 8">
              <a:extLst>
                <a:ext uri="{FF2B5EF4-FFF2-40B4-BE49-F238E27FC236}">
                  <a16:creationId xmlns:a16="http://schemas.microsoft.com/office/drawing/2014/main" id="{61D90015-BD8A-9D80-16E8-3D3AF5E6D26F}"/>
                </a:ext>
              </a:extLst>
            </p:cNvPr>
            <p:cNvSpPr txBox="1"/>
            <p:nvPr/>
          </p:nvSpPr>
          <p:spPr>
            <a:xfrm>
              <a:off x="0" y="1"/>
              <a:ext cx="454" cy="477"/>
            </a:xfrm>
            <a:prstGeom prst="rect">
              <a:avLst/>
            </a:prstGeom>
            <a:noFill/>
            <a:ln w="9525">
              <a:noFill/>
            </a:ln>
          </p:spPr>
          <p:txBody>
            <a:bodyPr>
              <a:spAutoFit/>
            </a:bodyPr>
            <a:lstStyle/>
            <a:p>
              <a:pPr fontAlgn="base">
                <a:spcBef>
                  <a:spcPct val="50000"/>
                </a:spcBef>
                <a:spcAft>
                  <a:spcPct val="0"/>
                </a:spcAft>
              </a:pPr>
              <a:r>
                <a:rPr lang="zh-CN" altLang="en-US" sz="4000" b="1">
                  <a:solidFill>
                    <a:srgbClr val="000000"/>
                  </a:solidFill>
                  <a:latin typeface="Times New Roman" panose="02020603050405020304" pitchFamily="18" charset="0"/>
                  <a:ea typeface="宋体" panose="02010600030101010101" pitchFamily="2" charset="-122"/>
                </a:rPr>
                <a:t>Ａ</a:t>
              </a:r>
            </a:p>
          </p:txBody>
        </p:sp>
        <p:sp>
          <p:nvSpPr>
            <p:cNvPr id="27" name="Text Box 9">
              <a:extLst>
                <a:ext uri="{FF2B5EF4-FFF2-40B4-BE49-F238E27FC236}">
                  <a16:creationId xmlns:a16="http://schemas.microsoft.com/office/drawing/2014/main" id="{7E631866-B298-B4EE-C763-2E0ECB72AD0B}"/>
                </a:ext>
              </a:extLst>
            </p:cNvPr>
            <p:cNvSpPr txBox="1"/>
            <p:nvPr/>
          </p:nvSpPr>
          <p:spPr>
            <a:xfrm>
              <a:off x="241" y="0"/>
              <a:ext cx="363" cy="248"/>
            </a:xfrm>
            <a:prstGeom prst="rect">
              <a:avLst/>
            </a:prstGeom>
            <a:noFill/>
            <a:ln w="9525">
              <a:noFill/>
            </a:ln>
          </p:spPr>
          <p:txBody>
            <a:bodyPr>
              <a:spAutoFit/>
            </a:bodyPr>
            <a:lstStyle/>
            <a:p>
              <a:pPr fontAlgn="base">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n</a:t>
              </a:r>
            </a:p>
          </p:txBody>
        </p:sp>
        <p:sp>
          <p:nvSpPr>
            <p:cNvPr id="28" name="Text Box 10">
              <a:extLst>
                <a:ext uri="{FF2B5EF4-FFF2-40B4-BE49-F238E27FC236}">
                  <a16:creationId xmlns:a16="http://schemas.microsoft.com/office/drawing/2014/main" id="{186139C9-BB9D-BCFE-E8A4-6C8A3B40CE07}"/>
                </a:ext>
              </a:extLst>
            </p:cNvPr>
            <p:cNvSpPr txBox="1"/>
            <p:nvPr/>
          </p:nvSpPr>
          <p:spPr>
            <a:xfrm>
              <a:off x="269" y="205"/>
              <a:ext cx="363" cy="248"/>
            </a:xfrm>
            <a:prstGeom prst="rect">
              <a:avLst/>
            </a:prstGeom>
            <a:noFill/>
            <a:ln w="9525">
              <a:noFill/>
            </a:ln>
          </p:spPr>
          <p:txBody>
            <a:bodyPr>
              <a:spAutoFit/>
            </a:bodyPr>
            <a:lstStyle/>
            <a:p>
              <a:pPr fontAlgn="base">
                <a:spcBef>
                  <a:spcPct val="50000"/>
                </a:spcBef>
                <a:spcAft>
                  <a:spcPct val="0"/>
                </a:spcAft>
              </a:pPr>
              <a:r>
                <a:rPr lang="en-US" altLang="zh-CN" b="1">
                  <a:solidFill>
                    <a:srgbClr val="000000"/>
                  </a:solidFill>
                  <a:latin typeface="Times New Roman" panose="02020603050405020304" pitchFamily="18" charset="0"/>
                  <a:ea typeface="宋体" panose="02010600030101010101" pitchFamily="2" charset="-122"/>
                </a:rPr>
                <a:t>n</a:t>
              </a:r>
            </a:p>
          </p:txBody>
        </p:sp>
      </p:grpSp>
      <p:graphicFrame>
        <p:nvGraphicFramePr>
          <p:cNvPr id="29" name="对象 28">
            <a:extLst>
              <a:ext uri="{FF2B5EF4-FFF2-40B4-BE49-F238E27FC236}">
                <a16:creationId xmlns:a16="http://schemas.microsoft.com/office/drawing/2014/main" id="{37515E68-91A9-C237-3F6C-E7C98BA22D43}"/>
              </a:ext>
            </a:extLst>
          </p:cNvPr>
          <p:cNvGraphicFramePr>
            <a:graphicFrameLocks noChangeAspect="1"/>
          </p:cNvGraphicFramePr>
          <p:nvPr>
            <p:extLst>
              <p:ext uri="{D42A27DB-BD31-4B8C-83A1-F6EECF244321}">
                <p14:modId xmlns:p14="http://schemas.microsoft.com/office/powerpoint/2010/main" val="4185666371"/>
              </p:ext>
            </p:extLst>
          </p:nvPr>
        </p:nvGraphicFramePr>
        <p:xfrm>
          <a:off x="2705735" y="4021720"/>
          <a:ext cx="4490720" cy="546100"/>
        </p:xfrm>
        <a:graphic>
          <a:graphicData uri="http://schemas.openxmlformats.org/presentationml/2006/ole">
            <mc:AlternateContent xmlns:mc="http://schemas.openxmlformats.org/markup-compatibility/2006">
              <mc:Choice xmlns:v="urn:schemas-microsoft-com:vml" Requires="v">
                <p:oleObj r:id="rId4" imgW="2030095" imgH="203200" progId="Equation.DSMT4">
                  <p:embed/>
                </p:oleObj>
              </mc:Choice>
              <mc:Fallback>
                <p:oleObj r:id="rId4" imgW="2030095" imgH="203200" progId="Equation.DSMT4">
                  <p:embed/>
                  <p:pic>
                    <p:nvPicPr>
                      <p:cNvPr id="23565" name="对象 23564"/>
                      <p:cNvPicPr/>
                      <p:nvPr/>
                    </p:nvPicPr>
                    <p:blipFill>
                      <a:blip r:embed="rId5"/>
                      <a:stretch>
                        <a:fillRect/>
                      </a:stretch>
                    </p:blipFill>
                    <p:spPr>
                      <a:xfrm>
                        <a:off x="2705735" y="4021720"/>
                        <a:ext cx="4490720" cy="546100"/>
                      </a:xfrm>
                      <a:prstGeom prst="rect">
                        <a:avLst/>
                      </a:prstGeom>
                      <a:noFill/>
                      <a:ln w="38100">
                        <a:noFill/>
                        <a:miter/>
                      </a:ln>
                    </p:spPr>
                  </p:pic>
                </p:oleObj>
              </mc:Fallback>
            </mc:AlternateContent>
          </a:graphicData>
        </a:graphic>
      </p:graphicFrame>
      <p:graphicFrame>
        <p:nvGraphicFramePr>
          <p:cNvPr id="30" name="对象 29">
            <a:extLst>
              <a:ext uri="{FF2B5EF4-FFF2-40B4-BE49-F238E27FC236}">
                <a16:creationId xmlns:a16="http://schemas.microsoft.com/office/drawing/2014/main" id="{B064C653-AE4D-5230-6051-BF6EE19C6B48}"/>
              </a:ext>
            </a:extLst>
          </p:cNvPr>
          <p:cNvGraphicFramePr>
            <a:graphicFrameLocks noChangeAspect="1"/>
          </p:cNvGraphicFramePr>
          <p:nvPr>
            <p:extLst>
              <p:ext uri="{D42A27DB-BD31-4B8C-83A1-F6EECF244321}">
                <p14:modId xmlns:p14="http://schemas.microsoft.com/office/powerpoint/2010/main" val="1921072689"/>
              </p:ext>
            </p:extLst>
          </p:nvPr>
        </p:nvGraphicFramePr>
        <p:xfrm>
          <a:off x="7298690" y="3949966"/>
          <a:ext cx="693420" cy="512445"/>
        </p:xfrm>
        <a:graphic>
          <a:graphicData uri="http://schemas.openxmlformats.org/presentationml/2006/ole">
            <mc:AlternateContent xmlns:mc="http://schemas.openxmlformats.org/markup-compatibility/2006">
              <mc:Choice xmlns:v="urn:schemas-microsoft-com:vml" Requires="v">
                <p:oleObj r:id="rId6" imgW="280035" imgH="178435" progId="Equation.DSMT4">
                  <p:embed/>
                </p:oleObj>
              </mc:Choice>
              <mc:Fallback>
                <p:oleObj r:id="rId6" imgW="280035" imgH="178435" progId="Equation.DSMT4">
                  <p:embed/>
                  <p:pic>
                    <p:nvPicPr>
                      <p:cNvPr id="23566" name="对象 23565"/>
                      <p:cNvPicPr/>
                      <p:nvPr/>
                    </p:nvPicPr>
                    <p:blipFill>
                      <a:blip r:embed="rId7"/>
                      <a:stretch>
                        <a:fillRect/>
                      </a:stretch>
                    </p:blipFill>
                    <p:spPr>
                      <a:xfrm>
                        <a:off x="7298690" y="3949966"/>
                        <a:ext cx="693420" cy="512445"/>
                      </a:xfrm>
                      <a:prstGeom prst="rect">
                        <a:avLst/>
                      </a:prstGeom>
                      <a:noFill/>
                      <a:ln w="38100">
                        <a:noFill/>
                        <a:miter/>
                      </a:ln>
                    </p:spPr>
                  </p:pic>
                </p:oleObj>
              </mc:Fallback>
            </mc:AlternateContent>
          </a:graphicData>
        </a:graphic>
      </p:graphicFrame>
      <p:sp>
        <p:nvSpPr>
          <p:cNvPr id="31" name="TextBox 22">
            <a:extLst>
              <a:ext uri="{FF2B5EF4-FFF2-40B4-BE49-F238E27FC236}">
                <a16:creationId xmlns:a16="http://schemas.microsoft.com/office/drawing/2014/main" id="{61191171-F5E4-8353-D294-E4025B519288}"/>
              </a:ext>
            </a:extLst>
          </p:cNvPr>
          <p:cNvSpPr txBox="1"/>
          <p:nvPr/>
        </p:nvSpPr>
        <p:spPr>
          <a:xfrm>
            <a:off x="7992111" y="4021720"/>
            <a:ext cx="1993265" cy="521970"/>
          </a:xfrm>
          <a:prstGeom prst="rect">
            <a:avLst/>
          </a:prstGeom>
          <a:noFill/>
          <a:ln w="9525">
            <a:noFill/>
          </a:ln>
        </p:spPr>
        <p:txBody>
          <a:bodyPr wrap="square">
            <a:spAutoFit/>
          </a:bodyPr>
          <a:lstStyle/>
          <a:p>
            <a:pPr fontAlgn="base">
              <a:spcBef>
                <a:spcPct val="0"/>
              </a:spcBef>
              <a:spcAft>
                <a:spcPct val="0"/>
              </a:spcAft>
            </a:pPr>
            <a:r>
              <a:rPr lang="zh-CN" altLang="en-US" sz="2800" b="1">
                <a:solidFill>
                  <a:srgbClr val="000000"/>
                </a:solidFill>
                <a:latin typeface="Arial" panose="020B0604020202020204" pitchFamily="34" charset="0"/>
                <a:ea typeface="宋体" panose="02010600030101010101" pitchFamily="2" charset="-122"/>
              </a:rPr>
              <a:t>（</a:t>
            </a:r>
            <a:r>
              <a:rPr lang="en-US" altLang="zh-CN" sz="2800" b="1">
                <a:solidFill>
                  <a:srgbClr val="000000"/>
                </a:solidFill>
                <a:latin typeface="Arial" panose="020B0604020202020204" pitchFamily="34" charset="0"/>
                <a:ea typeface="宋体" panose="02010600030101010101" pitchFamily="2" charset="-122"/>
              </a:rPr>
              <a:t>n</a:t>
            </a:r>
            <a:r>
              <a:rPr lang="zh-CN" altLang="en-US" sz="2800" b="1">
                <a:solidFill>
                  <a:srgbClr val="000000"/>
                </a:solidFill>
                <a:latin typeface="Arial" panose="020B0604020202020204" pitchFamily="34" charset="0"/>
                <a:ea typeface="宋体" panose="02010600030101010101" pitchFamily="2" charset="-122"/>
              </a:rPr>
              <a:t>的</a:t>
            </a:r>
            <a:r>
              <a:rPr lang="zh-CN" altLang="en-US" sz="2800" b="1">
                <a:solidFill>
                  <a:srgbClr val="FF0000"/>
                </a:solidFill>
                <a:latin typeface="Arial" panose="020B0604020202020204" pitchFamily="34" charset="0"/>
                <a:ea typeface="宋体" panose="02010600030101010101" pitchFamily="2" charset="-122"/>
              </a:rPr>
              <a:t>阶乘</a:t>
            </a:r>
            <a:r>
              <a:rPr lang="zh-CN" altLang="en-US" sz="2800" b="1">
                <a:solidFill>
                  <a:srgbClr val="000000"/>
                </a:solidFill>
                <a:latin typeface="Arial" panose="020B0604020202020204" pitchFamily="34" charset="0"/>
                <a:ea typeface="宋体" panose="02010600030101010101" pitchFamily="2" charset="-122"/>
              </a:rPr>
              <a:t>）</a:t>
            </a:r>
          </a:p>
        </p:txBody>
      </p:sp>
      <p:sp>
        <p:nvSpPr>
          <p:cNvPr id="32" name="TextBox 25">
            <a:extLst>
              <a:ext uri="{FF2B5EF4-FFF2-40B4-BE49-F238E27FC236}">
                <a16:creationId xmlns:a16="http://schemas.microsoft.com/office/drawing/2014/main" id="{62AD5368-A0D8-7D6F-45CD-3E4B7927041E}"/>
              </a:ext>
            </a:extLst>
          </p:cNvPr>
          <p:cNvSpPr txBox="1"/>
          <p:nvPr/>
        </p:nvSpPr>
        <p:spPr>
          <a:xfrm>
            <a:off x="2047240" y="5790195"/>
            <a:ext cx="2871470" cy="521970"/>
          </a:xfrm>
          <a:prstGeom prst="rect">
            <a:avLst/>
          </a:prstGeom>
          <a:noFill/>
          <a:ln w="9525">
            <a:noFill/>
          </a:ln>
        </p:spPr>
        <p:txBody>
          <a:bodyPr wrap="square">
            <a:spAutoFit/>
          </a:bodyPr>
          <a:lstStyle/>
          <a:p>
            <a:pPr fontAlgn="base">
              <a:spcBef>
                <a:spcPct val="0"/>
              </a:spcBef>
              <a:spcAft>
                <a:spcPct val="0"/>
              </a:spcAft>
            </a:pPr>
            <a:r>
              <a:rPr lang="zh-CN" altLang="en-US" sz="2800" b="1">
                <a:solidFill>
                  <a:srgbClr val="000000"/>
                </a:solidFill>
                <a:latin typeface="华文楷体" panose="02010600040101010101" charset="-122"/>
                <a:ea typeface="华文楷体" panose="02010600040101010101" charset="-122"/>
              </a:rPr>
              <a:t>规定：</a:t>
            </a:r>
          </a:p>
        </p:txBody>
      </p:sp>
      <p:graphicFrame>
        <p:nvGraphicFramePr>
          <p:cNvPr id="33" name="对象 32">
            <a:extLst>
              <a:ext uri="{FF2B5EF4-FFF2-40B4-BE49-F238E27FC236}">
                <a16:creationId xmlns:a16="http://schemas.microsoft.com/office/drawing/2014/main" id="{74C4EFF5-8833-EA3A-CD15-D6C1D8D97F24}"/>
              </a:ext>
            </a:extLst>
          </p:cNvPr>
          <p:cNvGraphicFramePr>
            <a:graphicFrameLocks noChangeAspect="1"/>
          </p:cNvGraphicFramePr>
          <p:nvPr>
            <p:extLst>
              <p:ext uri="{D42A27DB-BD31-4B8C-83A1-F6EECF244321}">
                <p14:modId xmlns:p14="http://schemas.microsoft.com/office/powerpoint/2010/main" val="2201728341"/>
              </p:ext>
            </p:extLst>
          </p:nvPr>
        </p:nvGraphicFramePr>
        <p:xfrm>
          <a:off x="3314065" y="5881635"/>
          <a:ext cx="859790" cy="430530"/>
        </p:xfrm>
        <a:graphic>
          <a:graphicData uri="http://schemas.openxmlformats.org/presentationml/2006/ole">
            <mc:AlternateContent xmlns:mc="http://schemas.openxmlformats.org/markup-compatibility/2006">
              <mc:Choice xmlns:v="urn:schemas-microsoft-com:vml" Requires="v">
                <p:oleObj r:id="rId8" imgW="355600" imgH="177800" progId="Equation.DSMT4">
                  <p:embed/>
                </p:oleObj>
              </mc:Choice>
              <mc:Fallback>
                <p:oleObj r:id="rId8" imgW="355600" imgH="177800" progId="Equation.DSMT4">
                  <p:embed/>
                  <p:pic>
                    <p:nvPicPr>
                      <p:cNvPr id="23569" name="对象 23568"/>
                      <p:cNvPicPr/>
                      <p:nvPr/>
                    </p:nvPicPr>
                    <p:blipFill>
                      <a:blip r:embed="rId9"/>
                      <a:stretch>
                        <a:fillRect/>
                      </a:stretch>
                    </p:blipFill>
                    <p:spPr>
                      <a:xfrm>
                        <a:off x="3314065" y="5881635"/>
                        <a:ext cx="859790" cy="430530"/>
                      </a:xfrm>
                      <a:prstGeom prst="rect">
                        <a:avLst/>
                      </a:prstGeom>
                      <a:noFill/>
                      <a:ln w="38100">
                        <a:noFill/>
                        <a:miter/>
                      </a:ln>
                    </p:spPr>
                  </p:pic>
                </p:oleObj>
              </mc:Fallback>
            </mc:AlternateContent>
          </a:graphicData>
        </a:graphic>
      </p:graphicFrame>
      <p:graphicFrame>
        <p:nvGraphicFramePr>
          <p:cNvPr id="34" name="对象 33">
            <a:extLst>
              <a:ext uri="{FF2B5EF4-FFF2-40B4-BE49-F238E27FC236}">
                <a16:creationId xmlns:a16="http://schemas.microsoft.com/office/drawing/2014/main" id="{77B78285-FED9-A953-5DED-75A04FF1CB62}"/>
              </a:ext>
            </a:extLst>
          </p:cNvPr>
          <p:cNvGraphicFramePr>
            <a:graphicFrameLocks noChangeAspect="1"/>
          </p:cNvGraphicFramePr>
          <p:nvPr>
            <p:extLst>
              <p:ext uri="{D42A27DB-BD31-4B8C-83A1-F6EECF244321}">
                <p14:modId xmlns:p14="http://schemas.microsoft.com/office/powerpoint/2010/main" val="1332932881"/>
              </p:ext>
            </p:extLst>
          </p:nvPr>
        </p:nvGraphicFramePr>
        <p:xfrm>
          <a:off x="2152650" y="4657355"/>
          <a:ext cx="2369820" cy="1132840"/>
        </p:xfrm>
        <a:graphic>
          <a:graphicData uri="http://schemas.openxmlformats.org/presentationml/2006/ole">
            <mc:AlternateContent xmlns:mc="http://schemas.openxmlformats.org/markup-compatibility/2006">
              <mc:Choice xmlns:v="urn:schemas-microsoft-com:vml" Requires="v">
                <p:oleObj r:id="rId10" imgW="877570" imgH="419735" progId="Equation.DSMT4">
                  <p:embed/>
                </p:oleObj>
              </mc:Choice>
              <mc:Fallback>
                <p:oleObj r:id="rId10" imgW="877570" imgH="419735" progId="Equation.DSMT4">
                  <p:embed/>
                  <p:pic>
                    <p:nvPicPr>
                      <p:cNvPr id="23570" name="对象 23569"/>
                      <p:cNvPicPr/>
                      <p:nvPr/>
                    </p:nvPicPr>
                    <p:blipFill>
                      <a:blip r:embed="rId11"/>
                      <a:stretch>
                        <a:fillRect/>
                      </a:stretch>
                    </p:blipFill>
                    <p:spPr>
                      <a:xfrm>
                        <a:off x="2152650" y="4657355"/>
                        <a:ext cx="2369820" cy="113284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blinds(horizontal)">
                                      <p:cBhvr>
                                        <p:cTn id="7" dur="500"/>
                                        <p:tgtEl>
                                          <p:spTgt spid="19459"/>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500" fill="hold">
                                          <p:stCondLst>
                                            <p:cond delay="0"/>
                                          </p:stCondLst>
                                        </p:cTn>
                                        <p:tgtEl>
                                          <p:spTgt spid="19464"/>
                                        </p:tgtEl>
                                        <p:attrNameLst>
                                          <p:attrName>style.visibility</p:attrName>
                                        </p:attrNameLst>
                                      </p:cBhvr>
                                      <p:to>
                                        <p:strVal val="visible"/>
                                      </p:to>
                                    </p:set>
                                    <p:animEffect transition="in" filter="blinds(horizontal)">
                                      <p:cBhvr>
                                        <p:cTn id="12" dur="500"/>
                                        <p:tgtEl>
                                          <p:spTgt spid="1946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ppt_x"/>
                                          </p:val>
                                        </p:tav>
                                        <p:tav tm="100000">
                                          <p:val>
                                            <p:strVal val="#ppt_x"/>
                                          </p:val>
                                        </p:tav>
                                      </p:tavLst>
                                    </p:anim>
                                    <p:anim calcmode="lin" valueType="num">
                                      <p:cBhvr additive="base">
                                        <p:cTn id="2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ppt_x</p:attrName>
                                        </p:attrNameLst>
                                      </p:cBhvr>
                                      <p:tavLst>
                                        <p:tav tm="0">
                                          <p:val>
                                            <p:strVal val="#ppt_x"/>
                                          </p:val>
                                        </p:tav>
                                        <p:tav tm="100000">
                                          <p:val>
                                            <p:strVal val="#ppt_x"/>
                                          </p:val>
                                        </p:tav>
                                      </p:tavLst>
                                    </p:anim>
                                    <p:anim calcmode="lin" valueType="num">
                                      <p:cBhvr additive="base">
                                        <p:cTn id="3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blinds(horizontal)">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p:cTn id="49" dur="500" fill="hold"/>
                                        <p:tgtEl>
                                          <p:spTgt spid="24"/>
                                        </p:tgtEl>
                                        <p:attrNameLst>
                                          <p:attrName>ppt_w</p:attrName>
                                        </p:attrNameLst>
                                      </p:cBhvr>
                                      <p:tavLst>
                                        <p:tav tm="0">
                                          <p:val>
                                            <p:fltVal val="0"/>
                                          </p:val>
                                        </p:tav>
                                        <p:tav tm="100000">
                                          <p:val>
                                            <p:strVal val="#ppt_w"/>
                                          </p:val>
                                        </p:tav>
                                      </p:tavLst>
                                    </p:anim>
                                    <p:anim calcmode="lin" valueType="num">
                                      <p:cBhvr>
                                        <p:cTn id="50"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blinds(horizontal)">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blinds(horizontal)">
                                      <p:cBhvr>
                                        <p:cTn id="60" dur="5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blinds(horizontal)">
                                      <p:cBhvr>
                                        <p:cTn id="65" dur="500"/>
                                        <p:tgtEl>
                                          <p:spTgt spid="30"/>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blinds(horizontal)">
                                      <p:cBhvr>
                                        <p:cTn id="70" dur="500"/>
                                        <p:tgtEl>
                                          <p:spTgt spid="31"/>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blinds(horizontal)">
                                      <p:cBhvr>
                                        <p:cTn id="75" dur="500"/>
                                        <p:tgtEl>
                                          <p:spTgt spid="34"/>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blinds(horizontal)">
                                      <p:cBhvr>
                                        <p:cTn id="80" dur="500"/>
                                        <p:tgtEl>
                                          <p:spTgt spid="32"/>
                                        </p:tgtEl>
                                      </p:cBhvr>
                                    </p:animEffect>
                                  </p:childTnLst>
                                </p:cTn>
                              </p:par>
                              <p:par>
                                <p:cTn id="81" presetID="3" presetClass="entr" presetSubtype="10" fill="hold"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blinds(horizontal)">
                                      <p:cBhvr>
                                        <p:cTn id="8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2" grpId="0"/>
      <p:bldP spid="23" grpId="0"/>
      <p:bldP spid="31" grpId="0"/>
      <p:bldP spid="3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ext Box 4"/>
          <p:cNvSpPr/>
          <p:nvPr/>
        </p:nvSpPr>
        <p:spPr>
          <a:xfrm>
            <a:off x="4598583" y="5370121"/>
            <a:ext cx="2663825" cy="366713"/>
          </a:xfrm>
          <a:prstGeom prst="rect">
            <a:avLst/>
          </a:prstGeom>
          <a:noFill/>
          <a:ln>
            <a:noFill/>
            <a:miter lim="800000"/>
          </a:ln>
        </p:spPr>
        <p:txBody>
          <a:bodyPr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spcBef>
                <a:spcPct val="50000"/>
              </a:spcBef>
            </a:pPr>
            <a:endParaRPr lang="zh-CN" altLang="zh-CN" sz="1800" b="0">
              <a:latin typeface="隶书" pitchFamily="49" charset="-122"/>
              <a:ea typeface="隶书" pitchFamily="49" charset="-122"/>
            </a:endParaRPr>
          </a:p>
        </p:txBody>
      </p:sp>
      <p:graphicFrame>
        <p:nvGraphicFramePr>
          <p:cNvPr id="5122" name="Object 5"/>
          <p:cNvGraphicFramePr>
            <a:graphicFrameLocks noGrp="1" noChangeAspect="1"/>
          </p:cNvGraphicFramePr>
          <p:nvPr>
            <p:ph/>
            <p:extLst>
              <p:ext uri="{D42A27DB-BD31-4B8C-83A1-F6EECF244321}">
                <p14:modId xmlns:p14="http://schemas.microsoft.com/office/powerpoint/2010/main" val="4040801072"/>
              </p:ext>
            </p:extLst>
          </p:nvPr>
        </p:nvGraphicFramePr>
        <p:xfrm>
          <a:off x="4957357" y="1334302"/>
          <a:ext cx="1439863" cy="808038"/>
        </p:xfrm>
        <a:graphic>
          <a:graphicData uri="http://schemas.openxmlformats.org/presentationml/2006/ole">
            <mc:AlternateContent xmlns:mc="http://schemas.openxmlformats.org/markup-compatibility/2006">
              <mc:Choice xmlns:v="urn:schemas-microsoft-com:vml" Requires="v">
                <p:oleObj r:id="rId2" imgW="1439863" imgH="808038" progId="Equation.DSMT4">
                  <p:embed/>
                </p:oleObj>
              </mc:Choice>
              <mc:Fallback>
                <p:oleObj r:id="rId2" imgW="1439863" imgH="808038" progId="Equation.DSMT4">
                  <p:embed/>
                  <p:pic>
                    <p:nvPicPr>
                      <p:cNvPr id="5122" name="Object 5"/>
                      <p:cNvPicPr/>
                      <p:nvPr/>
                    </p:nvPicPr>
                    <p:blipFill>
                      <a:blip r:embed="rId3">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clrChange useA="0">
                          <a:clrFrom>
                            <a:srgbClr val="0000FF"/>
                          </a:clrFrom>
                          <a:clrTo>
                            <a:srgbClr val="FF3300"/>
                          </a:clrTo>
                        </a:clrChange>
                      </a:blip>
                      <a:stretch>
                        <a:fillRect/>
                      </a:stretch>
                    </p:blipFill>
                    <p:spPr>
                      <a:xfrm>
                        <a:off x="4957357" y="1334302"/>
                        <a:ext cx="1439863" cy="808038"/>
                      </a:xfrm>
                      <a:prstGeom prst="rect">
                        <a:avLst/>
                      </a:prstGeom>
                      <a:noFill/>
                      <a:ln w="38100">
                        <a:noFill/>
                        <a:miter lim="800000"/>
                      </a:ln>
                    </p:spPr>
                  </p:pic>
                </p:oleObj>
              </mc:Fallback>
            </mc:AlternateContent>
          </a:graphicData>
        </a:graphic>
      </p:graphicFrame>
      <p:sp>
        <p:nvSpPr>
          <p:cNvPr id="5123" name="Rectangle 12"/>
          <p:cNvSpPr>
            <a:spLocks noChangeArrowheads="1"/>
          </p:cNvSpPr>
          <p:nvPr/>
        </p:nvSpPr>
        <p:spPr bwMode="auto">
          <a:xfrm>
            <a:off x="488949" y="334961"/>
            <a:ext cx="11493943" cy="954107"/>
          </a:xfrm>
          <a:prstGeom prst="rect">
            <a:avLst/>
          </a:prstGeom>
          <a:noFill/>
          <a:ln w="9525">
            <a:noFill/>
            <a:miter lim="800000"/>
          </a:ln>
          <a:effectLst/>
        </p:spPr>
        <p:txBody>
          <a:bodyPr wrap="squar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r>
              <a:rPr lang="zh-CN" altLang="en-US" dirty="0">
                <a:effectLst>
                  <a:outerShdw blurRad="38100" dist="38100" dir="2700000" algn="tl">
                    <a:srgbClr val="FFFFFF"/>
                  </a:outerShdw>
                </a:effectLst>
              </a:rPr>
              <a:t>从甲、乙、丙</a:t>
            </a:r>
            <a:r>
              <a:rPr lang="en-US" altLang="zh-CN" dirty="0">
                <a:effectLst>
                  <a:outerShdw blurRad="38100" dist="38100" dir="2700000" algn="tl">
                    <a:srgbClr val="FFFFFF"/>
                  </a:outerShdw>
                </a:effectLst>
              </a:rPr>
              <a:t>3</a:t>
            </a:r>
            <a:r>
              <a:rPr lang="zh-CN" altLang="en-US" dirty="0">
                <a:effectLst>
                  <a:outerShdw blurRad="38100" dist="38100" dir="2700000" algn="tl">
                    <a:srgbClr val="FFFFFF"/>
                  </a:outerShdw>
                </a:effectLst>
              </a:rPr>
              <a:t>名同学中选出</a:t>
            </a:r>
            <a:r>
              <a:rPr lang="en-US" altLang="zh-CN" dirty="0">
                <a:effectLst>
                  <a:outerShdw blurRad="38100" dist="38100" dir="2700000" algn="tl">
                    <a:srgbClr val="FFFFFF"/>
                  </a:outerShdw>
                </a:effectLst>
              </a:rPr>
              <a:t>2</a:t>
            </a:r>
            <a:r>
              <a:rPr lang="zh-CN" altLang="en-US" dirty="0">
                <a:effectLst>
                  <a:outerShdw blurRad="38100" dist="38100" dir="2700000" algn="tl">
                    <a:srgbClr val="FFFFFF"/>
                  </a:outerShdw>
                </a:effectLst>
              </a:rPr>
              <a:t>名去参加一项活动，其中</a:t>
            </a:r>
            <a:r>
              <a:rPr lang="en-US" altLang="zh-CN" dirty="0">
                <a:effectLst>
                  <a:outerShdw blurRad="38100" dist="38100" dir="2700000" algn="tl">
                    <a:srgbClr val="FFFFFF"/>
                  </a:outerShdw>
                </a:effectLst>
              </a:rPr>
              <a:t>1</a:t>
            </a:r>
            <a:r>
              <a:rPr lang="zh-CN" altLang="en-US" dirty="0">
                <a:effectLst>
                  <a:outerShdw blurRad="38100" dist="38100" dir="2700000" algn="tl">
                    <a:srgbClr val="FFFFFF"/>
                  </a:outerShdw>
                </a:effectLst>
              </a:rPr>
              <a:t>名同学参加上午的活动，</a:t>
            </a:r>
            <a:r>
              <a:rPr lang="en-US" altLang="zh-CN" dirty="0">
                <a:effectLst>
                  <a:outerShdw blurRad="38100" dist="38100" dir="2700000" algn="tl">
                    <a:srgbClr val="FFFFFF"/>
                  </a:outerShdw>
                </a:effectLst>
              </a:rPr>
              <a:t>1</a:t>
            </a:r>
            <a:r>
              <a:rPr lang="zh-CN" altLang="en-US" dirty="0">
                <a:effectLst>
                  <a:outerShdw blurRad="38100" dist="38100" dir="2700000" algn="tl">
                    <a:srgbClr val="FFFFFF"/>
                  </a:outerShdw>
                </a:effectLst>
              </a:rPr>
              <a:t>名同学参加下午的活动，有多少种不同的选法？</a:t>
            </a:r>
          </a:p>
        </p:txBody>
      </p:sp>
      <p:sp>
        <p:nvSpPr>
          <p:cNvPr id="5124" name="Rectangle 13"/>
          <p:cNvSpPr>
            <a:spLocks noChangeArrowheads="1"/>
          </p:cNvSpPr>
          <p:nvPr/>
        </p:nvSpPr>
        <p:spPr bwMode="auto">
          <a:xfrm>
            <a:off x="454320" y="2606547"/>
            <a:ext cx="11283359" cy="523220"/>
          </a:xfrm>
          <a:prstGeom prst="rect">
            <a:avLst/>
          </a:prstGeom>
          <a:noFill/>
          <a:ln w="9525">
            <a:noFill/>
            <a:miter lim="800000"/>
          </a:ln>
          <a:effectLst/>
        </p:spPr>
        <p:txBody>
          <a:bodyPr wrap="squar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r>
              <a:rPr lang="zh-CN" altLang="en-US" dirty="0">
                <a:effectLst>
                  <a:outerShdw blurRad="38100" dist="38100" dir="2700000" algn="tl">
                    <a:srgbClr val="FFFFFF"/>
                  </a:outerShdw>
                </a:effectLst>
              </a:rPr>
              <a:t>从甲、乙、丙</a:t>
            </a:r>
            <a:r>
              <a:rPr lang="en-US" altLang="zh-CN" dirty="0">
                <a:effectLst>
                  <a:outerShdw blurRad="38100" dist="38100" dir="2700000" algn="tl">
                    <a:srgbClr val="FFFFFF"/>
                  </a:outerShdw>
                </a:effectLst>
              </a:rPr>
              <a:t>3</a:t>
            </a:r>
            <a:r>
              <a:rPr lang="zh-CN" altLang="en-US" dirty="0">
                <a:effectLst>
                  <a:outerShdw blurRad="38100" dist="38100" dir="2700000" algn="tl">
                    <a:srgbClr val="FFFFFF"/>
                  </a:outerShdw>
                </a:effectLst>
              </a:rPr>
              <a:t>名同学中选出</a:t>
            </a:r>
            <a:r>
              <a:rPr lang="en-US" altLang="zh-CN" dirty="0">
                <a:effectLst>
                  <a:outerShdw blurRad="38100" dist="38100" dir="2700000" algn="tl">
                    <a:srgbClr val="FFFFFF"/>
                  </a:outerShdw>
                </a:effectLst>
              </a:rPr>
              <a:t>2</a:t>
            </a:r>
            <a:r>
              <a:rPr lang="zh-CN" altLang="en-US" dirty="0">
                <a:effectLst>
                  <a:outerShdw blurRad="38100" dist="38100" dir="2700000" algn="tl">
                    <a:srgbClr val="FFFFFF"/>
                  </a:outerShdw>
                </a:effectLst>
              </a:rPr>
              <a:t>名去参加一项活动，有多少种不同的选法？</a:t>
            </a:r>
          </a:p>
        </p:txBody>
      </p:sp>
      <p:sp>
        <p:nvSpPr>
          <p:cNvPr id="5125" name="Rectangle 14"/>
          <p:cNvSpPr>
            <a:spLocks noChangeArrowheads="1"/>
          </p:cNvSpPr>
          <p:nvPr/>
        </p:nvSpPr>
        <p:spPr bwMode="auto">
          <a:xfrm>
            <a:off x="4957357" y="3196834"/>
            <a:ext cx="1612900" cy="1820863"/>
          </a:xfrm>
          <a:prstGeom prst="rect">
            <a:avLst/>
          </a:prstGeom>
          <a:noFill/>
          <a:ln w="9525">
            <a:noFill/>
            <a:miter lim="800000"/>
          </a:ln>
          <a:effectLst/>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a:lnSpc>
                <a:spcPct val="135000"/>
              </a:lnSpc>
            </a:pPr>
            <a:r>
              <a:rPr lang="zh-CN" altLang="en-US">
                <a:solidFill>
                  <a:srgbClr val="0000FF"/>
                </a:solidFill>
                <a:effectLst>
                  <a:outerShdw blurRad="38100" dist="38100" dir="2700000" algn="tl">
                    <a:srgbClr val="000000"/>
                  </a:outerShdw>
                </a:effectLst>
              </a:rPr>
              <a:t>甲、乙；</a:t>
            </a:r>
          </a:p>
          <a:p>
            <a:pPr>
              <a:lnSpc>
                <a:spcPct val="135000"/>
              </a:lnSpc>
            </a:pPr>
            <a:r>
              <a:rPr lang="zh-CN" altLang="en-US">
                <a:solidFill>
                  <a:srgbClr val="0000FF"/>
                </a:solidFill>
                <a:effectLst>
                  <a:outerShdw blurRad="38100" dist="38100" dir="2700000" algn="tl">
                    <a:srgbClr val="000000"/>
                  </a:outerShdw>
                </a:effectLst>
              </a:rPr>
              <a:t>甲、丙；</a:t>
            </a:r>
          </a:p>
          <a:p>
            <a:pPr>
              <a:lnSpc>
                <a:spcPct val="135000"/>
              </a:lnSpc>
            </a:pPr>
            <a:r>
              <a:rPr lang="zh-CN" altLang="en-US">
                <a:solidFill>
                  <a:srgbClr val="0000FF"/>
                </a:solidFill>
                <a:effectLst>
                  <a:outerShdw blurRad="38100" dist="38100" dir="2700000" algn="tl">
                    <a:srgbClr val="000000"/>
                  </a:outerShdw>
                </a:effectLst>
              </a:rPr>
              <a:t>乙、丙</a:t>
            </a:r>
            <a:r>
              <a:rPr lang="en-US" altLang="zh-CN">
                <a:solidFill>
                  <a:srgbClr val="0000FF"/>
                </a:solidFill>
                <a:effectLst>
                  <a:outerShdw blurRad="38100" dist="38100" dir="2700000" algn="tl">
                    <a:srgbClr val="000000"/>
                  </a:outerShdw>
                </a:effectLst>
              </a:rPr>
              <a:t>.</a:t>
            </a:r>
          </a:p>
        </p:txBody>
      </p:sp>
      <p:sp>
        <p:nvSpPr>
          <p:cNvPr id="5126" name="Rectangle 15"/>
          <p:cNvSpPr/>
          <p:nvPr/>
        </p:nvSpPr>
        <p:spPr>
          <a:xfrm>
            <a:off x="7189382" y="3936608"/>
            <a:ext cx="361950" cy="519112"/>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r>
              <a:rPr lang="en-US" altLang="zh-CN">
                <a:solidFill>
                  <a:srgbClr val="FF3300"/>
                </a:solidFill>
              </a:rPr>
              <a:t>3</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linds(horizontal)">
                                      <p:cBhvr>
                                        <p:cTn id="7" dur="500" fill="hold"/>
                                        <p:tgtEl>
                                          <p:spTgt spid="512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4"/>
                                        </p:tgtEl>
                                        <p:attrNameLst>
                                          <p:attrName>style.visibility</p:attrName>
                                        </p:attrNameLst>
                                      </p:cBhvr>
                                      <p:to>
                                        <p:strVal val="visible"/>
                                      </p:to>
                                    </p:set>
                                    <p:animEffect transition="in" filter="blinds(horizontal)">
                                      <p:cBhvr>
                                        <p:cTn id="12" dur="500" fill="hold"/>
                                        <p:tgtEl>
                                          <p:spTgt spid="5124"/>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125"/>
                                        </p:tgtEl>
                                        <p:attrNameLst>
                                          <p:attrName>style.visibility</p:attrName>
                                        </p:attrNameLst>
                                      </p:cBhvr>
                                      <p:to>
                                        <p:strVal val="visible"/>
                                      </p:to>
                                    </p:set>
                                    <p:animEffect transition="in" filter="blinds(horizontal)">
                                      <p:cBhvr>
                                        <p:cTn id="17" dur="500" fill="hold"/>
                                        <p:tgtEl>
                                          <p:spTgt spid="5125"/>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6"/>
                                        </p:tgtEl>
                                        <p:attrNameLst>
                                          <p:attrName>style.visibility</p:attrName>
                                        </p:attrNameLst>
                                      </p:cBhvr>
                                      <p:to>
                                        <p:strVal val="visible"/>
                                      </p:to>
                                    </p:set>
                                    <p:animEffect transition="in" filter="blinds(horizontal)">
                                      <p:cBhvr>
                                        <p:cTn id="22" dur="500" fill="hold"/>
                                        <p:tgtEl>
                                          <p:spTgt spid="5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p:bldP spid="5125" grpId="0"/>
      <p:bldP spid="512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3"/>
          <p:cNvSpPr/>
          <p:nvPr/>
        </p:nvSpPr>
        <p:spPr>
          <a:xfrm>
            <a:off x="371142" y="214863"/>
            <a:ext cx="11664913" cy="1133195"/>
          </a:xfrm>
          <a:prstGeom prst="rect">
            <a:avLst/>
          </a:prstGeom>
          <a:noFill/>
          <a:ln w="9525">
            <a:noFill/>
          </a:ln>
        </p:spPr>
        <p:txBody>
          <a:bodyPr wrap="square">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a:lnSpc>
                <a:spcPct val="130000"/>
              </a:lnSpc>
              <a:spcBef>
                <a:spcPct val="50000"/>
              </a:spcBef>
            </a:pPr>
            <a:r>
              <a:rPr lang="zh-CN" altLang="en-US" dirty="0">
                <a:solidFill>
                  <a:srgbClr val="000000"/>
                </a:solidFill>
                <a:latin typeface="宋体" panose="02010600030101010101" pitchFamily="2" charset="-122"/>
                <a:ea typeface="宋体" panose="02010600030101010101" pitchFamily="2" charset="-122"/>
              </a:rPr>
              <a:t>从</a:t>
            </a:r>
            <a:r>
              <a:rPr lang="en-US" altLang="zh-CN" dirty="0">
                <a:solidFill>
                  <a:srgbClr val="000000"/>
                </a:solidFill>
                <a:latin typeface="宋体" panose="02010600030101010101" pitchFamily="2" charset="-122"/>
                <a:ea typeface="宋体" panose="02010600030101010101" pitchFamily="2" charset="-122"/>
              </a:rPr>
              <a:t>n</a:t>
            </a:r>
            <a:r>
              <a:rPr lang="zh-CN" altLang="en-US" dirty="0">
                <a:solidFill>
                  <a:srgbClr val="000000"/>
                </a:solidFill>
                <a:latin typeface="宋体" panose="02010600030101010101" pitchFamily="2" charset="-122"/>
                <a:ea typeface="宋体" panose="02010600030101010101" pitchFamily="2" charset="-122"/>
              </a:rPr>
              <a:t>个不同元素中取出</a:t>
            </a:r>
            <a:r>
              <a:rPr lang="en-US" altLang="zh-CN" dirty="0">
                <a:solidFill>
                  <a:srgbClr val="000000"/>
                </a:solidFill>
                <a:latin typeface="宋体" panose="02010600030101010101" pitchFamily="2" charset="-122"/>
                <a:ea typeface="宋体" panose="02010600030101010101" pitchFamily="2" charset="-122"/>
              </a:rPr>
              <a:t>m</a:t>
            </a:r>
            <a:r>
              <a:rPr lang="zh-CN" altLang="en-US" dirty="0">
                <a:solidFill>
                  <a:srgbClr val="000000"/>
                </a:solidFill>
                <a:latin typeface="宋体" panose="02010600030101010101" pitchFamily="2" charset="-122"/>
                <a:ea typeface="宋体" panose="02010600030101010101" pitchFamily="2" charset="-122"/>
              </a:rPr>
              <a:t>（</a:t>
            </a:r>
            <a:r>
              <a:rPr lang="en-US" altLang="zh-CN" dirty="0" err="1">
                <a:solidFill>
                  <a:srgbClr val="000000"/>
                </a:solidFill>
                <a:latin typeface="宋体" panose="02010600030101010101" pitchFamily="2" charset="-122"/>
                <a:ea typeface="宋体" panose="02010600030101010101" pitchFamily="2" charset="-122"/>
              </a:rPr>
              <a:t>m≤n</a:t>
            </a:r>
            <a:r>
              <a:rPr lang="zh-CN" altLang="en-US" dirty="0">
                <a:solidFill>
                  <a:srgbClr val="000000"/>
                </a:solidFill>
                <a:latin typeface="宋体" panose="02010600030101010101" pitchFamily="2" charset="-122"/>
                <a:ea typeface="宋体" panose="02010600030101010101" pitchFamily="2" charset="-122"/>
              </a:rPr>
              <a:t>）个元素并成一组，叫做从</a:t>
            </a:r>
            <a:r>
              <a:rPr lang="en-US" altLang="zh-CN" dirty="0">
                <a:solidFill>
                  <a:srgbClr val="000000"/>
                </a:solidFill>
                <a:latin typeface="宋体" panose="02010600030101010101" pitchFamily="2" charset="-122"/>
                <a:ea typeface="宋体" panose="02010600030101010101" pitchFamily="2" charset="-122"/>
              </a:rPr>
              <a:t>n</a:t>
            </a:r>
            <a:r>
              <a:rPr lang="zh-CN" altLang="en-US" dirty="0">
                <a:solidFill>
                  <a:srgbClr val="000000"/>
                </a:solidFill>
                <a:latin typeface="宋体" panose="02010600030101010101" pitchFamily="2" charset="-122"/>
                <a:ea typeface="宋体" panose="02010600030101010101" pitchFamily="2" charset="-122"/>
              </a:rPr>
              <a:t>个不同元素中取出</a:t>
            </a:r>
            <a:r>
              <a:rPr lang="en-US" altLang="zh-CN" dirty="0">
                <a:solidFill>
                  <a:srgbClr val="000000"/>
                </a:solidFill>
                <a:latin typeface="宋体" panose="02010600030101010101" pitchFamily="2" charset="-122"/>
                <a:ea typeface="宋体" panose="02010600030101010101" pitchFamily="2" charset="-122"/>
              </a:rPr>
              <a:t>m</a:t>
            </a:r>
            <a:r>
              <a:rPr lang="zh-CN" altLang="en-US" dirty="0">
                <a:solidFill>
                  <a:srgbClr val="000000"/>
                </a:solidFill>
                <a:latin typeface="宋体" panose="02010600030101010101" pitchFamily="2" charset="-122"/>
                <a:ea typeface="宋体" panose="02010600030101010101" pitchFamily="2" charset="-122"/>
              </a:rPr>
              <a:t>个元素的一个</a:t>
            </a:r>
            <a:r>
              <a:rPr lang="zh-CN" altLang="en-US" dirty="0">
                <a:solidFill>
                  <a:srgbClr val="FF0000"/>
                </a:solidFill>
                <a:latin typeface="宋体" panose="02010600030101010101" pitchFamily="2" charset="-122"/>
                <a:ea typeface="宋体" panose="02010600030101010101" pitchFamily="2" charset="-122"/>
              </a:rPr>
              <a:t>组合</a:t>
            </a:r>
            <a:r>
              <a:rPr lang="zh-CN" altLang="en-US" dirty="0">
                <a:solidFill>
                  <a:srgbClr val="000000"/>
                </a:solidFill>
                <a:latin typeface="宋体" panose="02010600030101010101" pitchFamily="2" charset="-122"/>
                <a:ea typeface="宋体" panose="02010600030101010101" pitchFamily="2" charset="-122"/>
              </a:rPr>
              <a:t>．</a:t>
            </a:r>
          </a:p>
        </p:txBody>
      </p:sp>
      <p:sp>
        <p:nvSpPr>
          <p:cNvPr id="7171" name="Text Box 4"/>
          <p:cNvSpPr/>
          <p:nvPr/>
        </p:nvSpPr>
        <p:spPr>
          <a:xfrm>
            <a:off x="371142" y="1620385"/>
            <a:ext cx="11664912" cy="1133195"/>
          </a:xfrm>
          <a:prstGeom prst="rect">
            <a:avLst/>
          </a:prstGeom>
          <a:noFill/>
          <a:ln w="9525">
            <a:noFill/>
          </a:ln>
        </p:spPr>
        <p:txBody>
          <a:bodyPr wrap="square">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a:lnSpc>
                <a:spcPct val="130000"/>
              </a:lnSpc>
              <a:spcBef>
                <a:spcPct val="50000"/>
              </a:spcBef>
            </a:pPr>
            <a:r>
              <a:rPr lang="zh-CN" altLang="en-US" dirty="0">
                <a:solidFill>
                  <a:srgbClr val="000000"/>
                </a:solidFill>
                <a:latin typeface="宋体" panose="02010600030101010101" pitchFamily="2" charset="-122"/>
                <a:ea typeface="宋体" panose="02010600030101010101" pitchFamily="2" charset="-122"/>
              </a:rPr>
              <a:t>从</a:t>
            </a:r>
            <a:r>
              <a:rPr lang="en-US" altLang="zh-CN" dirty="0">
                <a:solidFill>
                  <a:srgbClr val="000000"/>
                </a:solidFill>
                <a:latin typeface="宋体" panose="02010600030101010101" pitchFamily="2" charset="-122"/>
                <a:ea typeface="宋体" panose="02010600030101010101" pitchFamily="2" charset="-122"/>
              </a:rPr>
              <a:t>n</a:t>
            </a:r>
            <a:r>
              <a:rPr lang="zh-CN" altLang="en-US" dirty="0">
                <a:solidFill>
                  <a:srgbClr val="000000"/>
                </a:solidFill>
                <a:latin typeface="宋体" panose="02010600030101010101" pitchFamily="2" charset="-122"/>
                <a:ea typeface="宋体" panose="02010600030101010101" pitchFamily="2" charset="-122"/>
              </a:rPr>
              <a:t>个不同元素中取出</a:t>
            </a:r>
            <a:r>
              <a:rPr lang="en-US" altLang="zh-CN" dirty="0">
                <a:solidFill>
                  <a:srgbClr val="000000"/>
                </a:solidFill>
                <a:latin typeface="宋体" panose="02010600030101010101" pitchFamily="2" charset="-122"/>
                <a:ea typeface="宋体" panose="02010600030101010101" pitchFamily="2" charset="-122"/>
              </a:rPr>
              <a:t>m (</a:t>
            </a:r>
            <a:r>
              <a:rPr lang="en-US" altLang="zh-CN" dirty="0" err="1">
                <a:solidFill>
                  <a:srgbClr val="000000"/>
                </a:solidFill>
                <a:latin typeface="宋体" panose="02010600030101010101" pitchFamily="2" charset="-122"/>
                <a:ea typeface="宋体" panose="02010600030101010101" pitchFamily="2" charset="-122"/>
              </a:rPr>
              <a:t>m≤n</a:t>
            </a:r>
            <a:r>
              <a:rPr lang="en-US" altLang="zh-CN" dirty="0">
                <a:solidFill>
                  <a:srgbClr val="000000"/>
                </a:solidFill>
                <a:latin typeface="宋体" panose="02010600030101010101" pitchFamily="2" charset="-122"/>
                <a:ea typeface="宋体" panose="02010600030101010101" pitchFamily="2" charset="-122"/>
              </a:rPr>
              <a:t>) </a:t>
            </a:r>
            <a:r>
              <a:rPr lang="zh-CN" altLang="en-US" dirty="0">
                <a:solidFill>
                  <a:srgbClr val="000000"/>
                </a:solidFill>
                <a:latin typeface="宋体" panose="02010600030101010101" pitchFamily="2" charset="-122"/>
                <a:ea typeface="宋体" panose="02010600030101010101" pitchFamily="2" charset="-122"/>
              </a:rPr>
              <a:t>个元素，</a:t>
            </a:r>
            <a:r>
              <a:rPr lang="zh-CN" altLang="en-US" dirty="0">
                <a:solidFill>
                  <a:srgbClr val="FF0000"/>
                </a:solidFill>
                <a:latin typeface="宋体" panose="02010600030101010101" pitchFamily="2" charset="-122"/>
                <a:ea typeface="宋体" panose="02010600030101010101" pitchFamily="2" charset="-122"/>
              </a:rPr>
              <a:t>按照一定的顺序排成一列</a:t>
            </a:r>
            <a:r>
              <a:rPr lang="zh-CN" altLang="en-US" dirty="0">
                <a:solidFill>
                  <a:srgbClr val="000000"/>
                </a:solidFill>
                <a:latin typeface="宋体" panose="02010600030101010101" pitchFamily="2" charset="-122"/>
                <a:ea typeface="宋体" panose="02010600030101010101" pitchFamily="2" charset="-122"/>
              </a:rPr>
              <a:t>，叫做从</a:t>
            </a:r>
            <a:r>
              <a:rPr lang="en-US" altLang="zh-CN" dirty="0">
                <a:solidFill>
                  <a:srgbClr val="000000"/>
                </a:solidFill>
                <a:latin typeface="宋体" panose="02010600030101010101" pitchFamily="2" charset="-122"/>
                <a:ea typeface="宋体" panose="02010600030101010101" pitchFamily="2" charset="-122"/>
              </a:rPr>
              <a:t>n</a:t>
            </a:r>
            <a:r>
              <a:rPr lang="zh-CN" altLang="en-US" dirty="0">
                <a:solidFill>
                  <a:srgbClr val="000000"/>
                </a:solidFill>
                <a:latin typeface="宋体" panose="02010600030101010101" pitchFamily="2" charset="-122"/>
                <a:ea typeface="宋体" panose="02010600030101010101" pitchFamily="2" charset="-122"/>
              </a:rPr>
              <a:t>个不同元素中取出</a:t>
            </a:r>
            <a:r>
              <a:rPr lang="en-US" altLang="zh-CN" dirty="0">
                <a:solidFill>
                  <a:srgbClr val="000000"/>
                </a:solidFill>
                <a:latin typeface="宋体" panose="02010600030101010101" pitchFamily="2" charset="-122"/>
                <a:ea typeface="宋体" panose="02010600030101010101" pitchFamily="2" charset="-122"/>
              </a:rPr>
              <a:t>m</a:t>
            </a:r>
            <a:r>
              <a:rPr lang="zh-CN" altLang="en-US" dirty="0">
                <a:solidFill>
                  <a:srgbClr val="000000"/>
                </a:solidFill>
                <a:latin typeface="宋体" panose="02010600030101010101" pitchFamily="2" charset="-122"/>
                <a:ea typeface="宋体" panose="02010600030101010101" pitchFamily="2" charset="-122"/>
              </a:rPr>
              <a:t>个元素的一个</a:t>
            </a:r>
            <a:r>
              <a:rPr lang="zh-CN" altLang="en-US" dirty="0">
                <a:solidFill>
                  <a:srgbClr val="FF0000"/>
                </a:solidFill>
                <a:latin typeface="宋体" panose="02010600030101010101" pitchFamily="2" charset="-122"/>
                <a:ea typeface="宋体" panose="02010600030101010101" pitchFamily="2" charset="-122"/>
              </a:rPr>
              <a:t>排列</a:t>
            </a:r>
            <a:r>
              <a:rPr lang="en-US" altLang="zh-CN" dirty="0">
                <a:solidFill>
                  <a:srgbClr val="000000"/>
                </a:solidFill>
                <a:latin typeface="宋体" panose="02010600030101010101" pitchFamily="2" charset="-122"/>
                <a:ea typeface="宋体" panose="02010600030101010101" pitchFamily="2" charset="-122"/>
              </a:rPr>
              <a:t>.</a:t>
            </a:r>
          </a:p>
        </p:txBody>
      </p:sp>
      <p:sp>
        <p:nvSpPr>
          <p:cNvPr id="7173" name="Rectangle 10"/>
          <p:cNvSpPr/>
          <p:nvPr/>
        </p:nvSpPr>
        <p:spPr>
          <a:xfrm>
            <a:off x="1976400" y="3789733"/>
            <a:ext cx="7632700" cy="1077218"/>
          </a:xfrm>
          <a:prstGeom prst="rect">
            <a:avLst/>
          </a:prstGeom>
          <a:noFill/>
          <a:ln>
            <a:noFill/>
            <a:miter lim="800000"/>
          </a:ln>
        </p:spPr>
        <p:txBody>
          <a:bodyPr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r>
              <a:rPr lang="zh-CN" altLang="en-US" sz="3200" dirty="0">
                <a:solidFill>
                  <a:srgbClr val="0000CC"/>
                </a:solidFill>
                <a:latin typeface="宋体" panose="02010600030101010101" pitchFamily="2" charset="-122"/>
              </a:rPr>
              <a:t>不同点</a:t>
            </a:r>
            <a:r>
              <a:rPr lang="en-US" altLang="zh-CN" sz="3200" dirty="0">
                <a:solidFill>
                  <a:srgbClr val="0000CC"/>
                </a:solidFill>
                <a:latin typeface="宋体" panose="02010600030101010101" pitchFamily="2" charset="-122"/>
              </a:rPr>
              <a:t>:  </a:t>
            </a:r>
            <a:r>
              <a:rPr lang="zh-CN" altLang="en-US" sz="3200" dirty="0">
                <a:latin typeface="宋体" panose="02010600030101010101" pitchFamily="2" charset="-122"/>
              </a:rPr>
              <a:t>排列</a:t>
            </a:r>
            <a:r>
              <a:rPr lang="zh-CN" altLang="en-US" sz="3200" dirty="0">
                <a:solidFill>
                  <a:srgbClr val="0000CC"/>
                </a:solidFill>
                <a:latin typeface="宋体" panose="02010600030101010101" pitchFamily="2" charset="-122"/>
              </a:rPr>
              <a:t>与元素的顺序有关，</a:t>
            </a:r>
          </a:p>
          <a:p>
            <a:pPr lvl="0" eaLnBrk="0" hangingPunct="0"/>
            <a:r>
              <a:rPr lang="zh-CN" altLang="en-US" sz="3200" dirty="0">
                <a:latin typeface="宋体" panose="02010600030101010101" pitchFamily="2" charset="-122"/>
              </a:rPr>
              <a:t>         而组合</a:t>
            </a:r>
            <a:r>
              <a:rPr lang="zh-CN" altLang="en-US" sz="3200" dirty="0">
                <a:solidFill>
                  <a:srgbClr val="0000CC"/>
                </a:solidFill>
                <a:latin typeface="宋体" panose="02010600030101010101" pitchFamily="2" charset="-122"/>
              </a:rPr>
              <a:t>则与元素的顺序无关</a:t>
            </a:r>
            <a:r>
              <a:rPr lang="en-US" altLang="zh-CN" sz="3200" dirty="0">
                <a:solidFill>
                  <a:srgbClr val="0000CC"/>
                </a:solidFill>
                <a:latin typeface="宋体" panose="02010600030101010101" pitchFamily="2"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blinds(horizontal)">
                                      <p:cBhvr>
                                        <p:cTn id="7" dur="500" fill="hold"/>
                                        <p:tgtEl>
                                          <p:spTgt spid="7170"/>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171"/>
                                        </p:tgtEl>
                                        <p:attrNameLst>
                                          <p:attrName>style.visibility</p:attrName>
                                        </p:attrNameLst>
                                      </p:cBhvr>
                                      <p:to>
                                        <p:strVal val="visible"/>
                                      </p:to>
                                    </p:set>
                                    <p:anim calcmode="lin" valueType="num">
                                      <p:cBhvr additive="base">
                                        <p:cTn id="12" dur="500" fill="hold"/>
                                        <p:tgtEl>
                                          <p:spTgt spid="7171"/>
                                        </p:tgtEl>
                                        <p:attrNameLst>
                                          <p:attrName>ppt_x</p:attrName>
                                        </p:attrNameLst>
                                      </p:cBhvr>
                                      <p:tavLst>
                                        <p:tav tm="0">
                                          <p:val>
                                            <p:strVal val="#ppt_x"/>
                                          </p:val>
                                        </p:tav>
                                        <p:tav tm="100000">
                                          <p:val>
                                            <p:strVal val="#ppt_x"/>
                                          </p:val>
                                        </p:tav>
                                      </p:tavLst>
                                    </p:anim>
                                    <p:anim calcmode="lin" valueType="num">
                                      <p:cBhvr additive="base">
                                        <p:cTn id="13"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after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7173"/>
                                        </p:tgtEl>
                                        <p:attrNameLst>
                                          <p:attrName>style.visibility</p:attrName>
                                        </p:attrNameLst>
                                      </p:cBhvr>
                                      <p:to>
                                        <p:strVal val="visible"/>
                                      </p:to>
                                    </p:set>
                                    <p:animEffect transition="in" filter="box(in)">
                                      <p:cBhvr>
                                        <p:cTn id="18" dur="500" fill="hold"/>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7171" grpId="0"/>
      <p:bldP spid="717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89" name="Group 46"/>
          <p:cNvGrpSpPr/>
          <p:nvPr/>
        </p:nvGrpSpPr>
        <p:grpSpPr>
          <a:xfrm>
            <a:off x="350839" y="277814"/>
            <a:ext cx="11398250" cy="1397000"/>
            <a:chOff x="-738" y="-57"/>
            <a:chExt cx="7180" cy="880"/>
          </a:xfrm>
        </p:grpSpPr>
        <p:sp>
          <p:nvSpPr>
            <p:cNvPr id="12290" name="Rectangle 5"/>
            <p:cNvSpPr/>
            <p:nvPr/>
          </p:nvSpPr>
          <p:spPr>
            <a:xfrm>
              <a:off x="-738" y="-57"/>
              <a:ext cx="7180" cy="809"/>
            </a:xfrm>
            <a:prstGeom prst="rect">
              <a:avLst/>
            </a:prstGeom>
            <a:noFill/>
            <a:ln w="9525">
              <a:noFill/>
            </a:ln>
          </p:spPr>
          <p:txBody>
            <a:bodyPr wrap="square">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a:lnSpc>
                  <a:spcPct val="150000"/>
                </a:lnSpc>
                <a:spcBef>
                  <a:spcPct val="50000"/>
                </a:spcBef>
              </a:pPr>
              <a:r>
                <a:rPr lang="en-US" altLang="zh-CN" dirty="0">
                  <a:solidFill>
                    <a:srgbClr val="000000"/>
                  </a:solidFill>
                  <a:latin typeface="宋体" panose="02010600030101010101" pitchFamily="2" charset="-122"/>
                  <a:ea typeface="宋体" panose="02010600030101010101" pitchFamily="2" charset="-122"/>
                </a:rPr>
                <a:t> </a:t>
              </a:r>
              <a:r>
                <a:rPr lang="zh-CN" altLang="en-US" dirty="0">
                  <a:solidFill>
                    <a:srgbClr val="000000"/>
                  </a:solidFill>
                  <a:latin typeface="宋体" panose="02010600030101010101" pitchFamily="2" charset="-122"/>
                  <a:ea typeface="宋体" panose="02010600030101010101" pitchFamily="2" charset="-122"/>
                </a:rPr>
                <a:t>从</a:t>
              </a:r>
              <a:r>
                <a:rPr lang="en-US" altLang="zh-CN" dirty="0">
                  <a:solidFill>
                    <a:srgbClr val="000000"/>
                  </a:solidFill>
                  <a:latin typeface="宋体" panose="02010600030101010101" pitchFamily="2" charset="-122"/>
                  <a:ea typeface="宋体" panose="02010600030101010101" pitchFamily="2" charset="-122"/>
                </a:rPr>
                <a:t>n</a:t>
              </a:r>
              <a:r>
                <a:rPr lang="zh-CN" altLang="en-US" dirty="0">
                  <a:solidFill>
                    <a:srgbClr val="000000"/>
                  </a:solidFill>
                  <a:latin typeface="宋体" panose="02010600030101010101" pitchFamily="2" charset="-122"/>
                  <a:ea typeface="宋体" panose="02010600030101010101" pitchFamily="2" charset="-122"/>
                </a:rPr>
                <a:t>个不同元素中取出</a:t>
              </a:r>
              <a:r>
                <a:rPr lang="en-US" altLang="zh-CN" dirty="0">
                  <a:solidFill>
                    <a:srgbClr val="000000"/>
                  </a:solidFill>
                  <a:latin typeface="宋体" panose="02010600030101010101" pitchFamily="2" charset="-122"/>
                  <a:ea typeface="宋体" panose="02010600030101010101" pitchFamily="2" charset="-122"/>
                </a:rPr>
                <a:t>m</a:t>
              </a:r>
              <a:r>
                <a:rPr lang="zh-CN" altLang="en-US" dirty="0">
                  <a:solidFill>
                    <a:srgbClr val="000000"/>
                  </a:solidFill>
                  <a:latin typeface="宋体" panose="02010600030101010101" pitchFamily="2" charset="-122"/>
                  <a:ea typeface="宋体" panose="02010600030101010101" pitchFamily="2" charset="-122"/>
                </a:rPr>
                <a:t>（</a:t>
              </a:r>
              <a:r>
                <a:rPr lang="en-US" altLang="zh-CN" dirty="0" err="1">
                  <a:solidFill>
                    <a:srgbClr val="000000"/>
                  </a:solidFill>
                  <a:latin typeface="宋体" panose="02010600030101010101" pitchFamily="2" charset="-122"/>
                  <a:ea typeface="宋体" panose="02010600030101010101" pitchFamily="2" charset="-122"/>
                </a:rPr>
                <a:t>m≤n</a:t>
              </a:r>
              <a:r>
                <a:rPr lang="zh-CN" altLang="en-US" dirty="0">
                  <a:solidFill>
                    <a:srgbClr val="000000"/>
                  </a:solidFill>
                  <a:latin typeface="宋体" panose="02010600030101010101" pitchFamily="2" charset="-122"/>
                  <a:ea typeface="宋体" panose="02010600030101010101" pitchFamily="2" charset="-122"/>
                </a:rPr>
                <a:t>）个元素的所有组合的个数，叫做从</a:t>
              </a:r>
              <a:r>
                <a:rPr lang="en-US" altLang="zh-CN" dirty="0">
                  <a:solidFill>
                    <a:srgbClr val="000000"/>
                  </a:solidFill>
                  <a:latin typeface="宋体" panose="02010600030101010101" pitchFamily="2" charset="-122"/>
                  <a:ea typeface="宋体" panose="02010600030101010101" pitchFamily="2" charset="-122"/>
                </a:rPr>
                <a:t>n</a:t>
              </a:r>
              <a:r>
                <a:rPr lang="zh-CN" altLang="en-US" dirty="0">
                  <a:solidFill>
                    <a:srgbClr val="000000"/>
                  </a:solidFill>
                  <a:latin typeface="宋体" panose="02010600030101010101" pitchFamily="2" charset="-122"/>
                  <a:ea typeface="宋体" panose="02010600030101010101" pitchFamily="2" charset="-122"/>
                </a:rPr>
                <a:t>个不同元素中取出</a:t>
              </a:r>
              <a:r>
                <a:rPr lang="en-US" altLang="zh-CN" dirty="0">
                  <a:solidFill>
                    <a:srgbClr val="000000"/>
                  </a:solidFill>
                  <a:latin typeface="宋体" panose="02010600030101010101" pitchFamily="2" charset="-122"/>
                  <a:ea typeface="宋体" panose="02010600030101010101" pitchFamily="2" charset="-122"/>
                </a:rPr>
                <a:t>m</a:t>
              </a:r>
              <a:r>
                <a:rPr lang="zh-CN" altLang="en-US" dirty="0">
                  <a:solidFill>
                    <a:srgbClr val="000000"/>
                  </a:solidFill>
                  <a:latin typeface="宋体" panose="02010600030101010101" pitchFamily="2" charset="-122"/>
                  <a:ea typeface="宋体" panose="02010600030101010101" pitchFamily="2" charset="-122"/>
                </a:rPr>
                <a:t>个元素的</a:t>
              </a:r>
              <a:r>
                <a:rPr lang="zh-CN" altLang="en-US" dirty="0">
                  <a:solidFill>
                    <a:srgbClr val="FF0000"/>
                  </a:solidFill>
                  <a:latin typeface="宋体" panose="02010600030101010101" pitchFamily="2" charset="-122"/>
                  <a:ea typeface="宋体" panose="02010600030101010101" pitchFamily="2" charset="-122"/>
                </a:rPr>
                <a:t>组合数</a:t>
              </a:r>
              <a:r>
                <a:rPr lang="zh-CN" altLang="en-US" dirty="0">
                  <a:solidFill>
                    <a:srgbClr val="000000"/>
                  </a:solidFill>
                  <a:latin typeface="宋体" panose="02010600030101010101" pitchFamily="2" charset="-122"/>
                  <a:ea typeface="宋体" panose="02010600030101010101" pitchFamily="2" charset="-122"/>
                </a:rPr>
                <a:t>，用符号    表示</a:t>
              </a:r>
              <a:r>
                <a:rPr lang="en-US" altLang="zh-CN" dirty="0">
                  <a:solidFill>
                    <a:srgbClr val="000000"/>
                  </a:solidFill>
                  <a:latin typeface="宋体" panose="02010600030101010101" pitchFamily="2" charset="-122"/>
                  <a:ea typeface="宋体" panose="02010600030101010101" pitchFamily="2" charset="-122"/>
                </a:rPr>
                <a:t>.</a:t>
              </a:r>
            </a:p>
          </p:txBody>
        </p:sp>
        <p:graphicFrame>
          <p:nvGraphicFramePr>
            <p:cNvPr id="12291" name="Object 4"/>
            <p:cNvGraphicFramePr>
              <a:graphicFrameLocks noChangeAspect="1"/>
            </p:cNvGraphicFramePr>
            <p:nvPr>
              <p:extLst>
                <p:ext uri="{D42A27DB-BD31-4B8C-83A1-F6EECF244321}">
                  <p14:modId xmlns:p14="http://schemas.microsoft.com/office/powerpoint/2010/main" val="937160388"/>
                </p:ext>
              </p:extLst>
            </p:nvPr>
          </p:nvGraphicFramePr>
          <p:xfrm>
            <a:off x="3465" y="384"/>
            <a:ext cx="527" cy="439"/>
          </p:xfrm>
          <a:graphic>
            <a:graphicData uri="http://schemas.openxmlformats.org/presentationml/2006/ole">
              <mc:AlternateContent xmlns:mc="http://schemas.openxmlformats.org/markup-compatibility/2006">
                <mc:Choice xmlns:v="urn:schemas-microsoft-com:vml" Requires="v">
                  <p:oleObj r:id="rId2" imgW="836612" imgH="696912" progId="Equation.DSMT4">
                    <p:embed/>
                  </p:oleObj>
                </mc:Choice>
                <mc:Fallback>
                  <p:oleObj r:id="rId2" imgW="836612" imgH="696912" progId="Equation.DSMT4">
                    <p:embed/>
                    <p:pic>
                      <p:nvPicPr>
                        <p:cNvPr id="12291" name="Object 4"/>
                        <p:cNvPicPr/>
                        <p:nvPr/>
                      </p:nvPicPr>
                      <p:blipFill>
                        <a:blip r:embed="rId3"/>
                        <a:stretch>
                          <a:fillRect/>
                        </a:stretch>
                      </p:blipFill>
                      <p:spPr>
                        <a:xfrm>
                          <a:off x="3465" y="384"/>
                          <a:ext cx="527" cy="439"/>
                        </a:xfrm>
                        <a:prstGeom prst="rect">
                          <a:avLst/>
                        </a:prstGeom>
                        <a:noFill/>
                        <a:ln w="38100">
                          <a:noFill/>
                          <a:miter lim="800000"/>
                        </a:ln>
                      </p:spPr>
                    </p:pic>
                  </p:oleObj>
                </mc:Fallback>
              </mc:AlternateContent>
            </a:graphicData>
          </a:graphic>
        </p:graphicFrame>
      </p:grpSp>
      <p:sp>
        <p:nvSpPr>
          <p:cNvPr id="12301" name="文本框 1"/>
          <p:cNvSpPr/>
          <p:nvPr/>
        </p:nvSpPr>
        <p:spPr>
          <a:xfrm>
            <a:off x="2241255" y="2743311"/>
            <a:ext cx="8624888" cy="523220"/>
          </a:xfrm>
          <a:prstGeom prst="rect">
            <a:avLst/>
          </a:prstGeom>
          <a:noFill/>
          <a:ln>
            <a:noFill/>
            <a:miter lim="800000"/>
          </a:ln>
        </p:spPr>
        <p:txBody>
          <a:bodyPr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r>
              <a:rPr lang="zh-CN" altLang="en-US" dirty="0">
                <a:solidFill>
                  <a:srgbClr val="0000FF"/>
                </a:solidFill>
              </a:rPr>
              <a:t>如何由排列数来求组合数呢？</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3" presetClass="entr" presetSubtype="288" fill="hold" nodeType="clickEffect">
                                  <p:stCondLst>
                                    <p:cond delay="0"/>
                                  </p:stCondLst>
                                  <p:childTnLst>
                                    <p:set>
                                      <p:cBhvr>
                                        <p:cTn id="6" dur="1" fill="hold">
                                          <p:stCondLst>
                                            <p:cond delay="0"/>
                                          </p:stCondLst>
                                        </p:cTn>
                                        <p:tgtEl>
                                          <p:spTgt spid="12289"/>
                                        </p:tgtEl>
                                        <p:attrNameLst>
                                          <p:attrName>style.visibility</p:attrName>
                                        </p:attrNameLst>
                                      </p:cBhvr>
                                      <p:to>
                                        <p:strVal val="visible"/>
                                      </p:to>
                                    </p:set>
                                    <p:anim calcmode="lin" valueType="num">
                                      <p:cBhvr>
                                        <p:cTn id="7" dur="500" fill="hold"/>
                                        <p:tgtEl>
                                          <p:spTgt spid="12289"/>
                                        </p:tgtEl>
                                        <p:attrNameLst>
                                          <p:attrName>ppt_w</p:attrName>
                                        </p:attrNameLst>
                                      </p:cBhvr>
                                      <p:tavLst>
                                        <p:tav tm="0">
                                          <p:val>
                                            <p:strVal val="4/3*#ppt_w"/>
                                          </p:val>
                                        </p:tav>
                                        <p:tav tm="100000">
                                          <p:val>
                                            <p:strVal val="#ppt_w"/>
                                          </p:val>
                                        </p:tav>
                                      </p:tavLst>
                                    </p:anim>
                                    <p:anim calcmode="lin" valueType="num">
                                      <p:cBhvr>
                                        <p:cTn id="8" dur="500" fill="hold"/>
                                        <p:tgtEl>
                                          <p:spTgt spid="12289"/>
                                        </p:tgtEl>
                                        <p:attrNameLst>
                                          <p:attrName>ppt_h</p:attrName>
                                        </p:attrNameLst>
                                      </p:cBhvr>
                                      <p:tavLst>
                                        <p:tav tm="0">
                                          <p:val>
                                            <p:strVal val="4/3*#ppt_h"/>
                                          </p:val>
                                        </p:tav>
                                        <p:tav tm="100000">
                                          <p:val>
                                            <p:strVal val="#ppt_h"/>
                                          </p:val>
                                        </p:tav>
                                      </p:tavLst>
                                    </p:anim>
                                  </p:childTnLst>
                                </p:cTn>
                              </p:par>
                            </p:childTnLst>
                          </p:cTn>
                        </p:par>
                      </p:childTnLst>
                    </p:cTn>
                  </p:par>
                  <p:par>
                    <p:cTn id="9" fill="hold" nodeType="clickPar">
                      <p:stCondLst>
                        <p:cond delay="indefinite"/>
                      </p:stCondLst>
                      <p:childTnLst>
                        <p:par>
                          <p:cTn id="10" fill="hold" nodeType="after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301"/>
                                        </p:tgtEl>
                                        <p:attrNameLst>
                                          <p:attrName>style.visibility</p:attrName>
                                        </p:attrNameLst>
                                      </p:cBhvr>
                                      <p:to>
                                        <p:strVal val="visible"/>
                                      </p:to>
                                    </p:set>
                                    <p:anim calcmode="lin" valueType="num">
                                      <p:cBhvr additive="base">
                                        <p:cTn id="13" dur="500" fill="hold"/>
                                        <p:tgtEl>
                                          <p:spTgt spid="12301"/>
                                        </p:tgtEl>
                                        <p:attrNameLst>
                                          <p:attrName>ppt_x</p:attrName>
                                        </p:attrNameLst>
                                      </p:cBhvr>
                                      <p:tavLst>
                                        <p:tav tm="0">
                                          <p:val>
                                            <p:strVal val="#ppt_x"/>
                                          </p:val>
                                        </p:tav>
                                        <p:tav tm="100000">
                                          <p:val>
                                            <p:strVal val="#ppt_x"/>
                                          </p:val>
                                        </p:tav>
                                      </p:tavLst>
                                    </p:anim>
                                    <p:anim calcmode="lin" valueType="num">
                                      <p:cBhvr additive="base">
                                        <p:cTn id="14" dur="500" fill="hold"/>
                                        <p:tgtEl>
                                          <p:spTgt spid="123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Box 2"/>
          <p:cNvSpPr/>
          <p:nvPr/>
        </p:nvSpPr>
        <p:spPr>
          <a:xfrm>
            <a:off x="372140" y="0"/>
            <a:ext cx="4860260" cy="954107"/>
          </a:xfrm>
          <a:prstGeom prst="rect">
            <a:avLst/>
          </a:prstGeom>
          <a:noFill/>
          <a:ln>
            <a:noFill/>
            <a:miter lim="800000"/>
          </a:ln>
        </p:spPr>
        <p:txBody>
          <a:bodyPr wrap="squar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spcBef>
                <a:spcPct val="50000"/>
              </a:spcBef>
            </a:pPr>
            <a:r>
              <a:rPr lang="zh-CN" altLang="en-US" b="0" dirty="0"/>
              <a:t>从</a:t>
            </a:r>
            <a:r>
              <a:rPr lang="en-US" altLang="zh-CN" b="0" i="1" dirty="0" err="1"/>
              <a:t>a,b,c,d</a:t>
            </a:r>
            <a:r>
              <a:rPr lang="en-US" altLang="zh-CN" b="0" i="1" dirty="0">
                <a:latin typeface="宋体" panose="02010600030101010101" pitchFamily="2" charset="-122"/>
              </a:rPr>
              <a:t> </a:t>
            </a:r>
            <a:r>
              <a:rPr lang="zh-CN" altLang="en-US" b="0" dirty="0">
                <a:latin typeface="宋体" panose="02010600030101010101" pitchFamily="2" charset="-122"/>
              </a:rPr>
              <a:t>四个元素中任取三个元素的</a:t>
            </a:r>
            <a:r>
              <a:rPr lang="zh-CN" altLang="en-US" b="0" dirty="0">
                <a:latin typeface="黑体" pitchFamily="49" charset="-122"/>
                <a:ea typeface="黑体" pitchFamily="49" charset="-122"/>
              </a:rPr>
              <a:t>所有</a:t>
            </a:r>
            <a:r>
              <a:rPr lang="zh-CN" altLang="en-US" b="0" dirty="0">
                <a:solidFill>
                  <a:srgbClr val="FF0000"/>
                </a:solidFill>
                <a:latin typeface="黑体" pitchFamily="49" charset="-122"/>
                <a:ea typeface="黑体" pitchFamily="49" charset="-122"/>
              </a:rPr>
              <a:t>组合</a:t>
            </a:r>
            <a:r>
              <a:rPr lang="zh-CN" altLang="en-US" b="0" dirty="0">
                <a:latin typeface="宋体" panose="02010600030101010101" pitchFamily="2" charset="-122"/>
              </a:rPr>
              <a:t>。</a:t>
            </a:r>
            <a:endParaRPr lang="zh-CN" altLang="en-US" b="0" dirty="0">
              <a:ea typeface="黑体" pitchFamily="49" charset="-122"/>
            </a:endParaRPr>
          </a:p>
        </p:txBody>
      </p:sp>
      <p:sp>
        <p:nvSpPr>
          <p:cNvPr id="13314" name="Text Box 3"/>
          <p:cNvSpPr/>
          <p:nvPr/>
        </p:nvSpPr>
        <p:spPr>
          <a:xfrm>
            <a:off x="5908750" y="-50356"/>
            <a:ext cx="4968875" cy="954088"/>
          </a:xfrm>
          <a:prstGeom prst="rect">
            <a:avLst/>
          </a:prstGeom>
          <a:noFill/>
          <a:ln>
            <a:noFill/>
            <a:miter lim="800000"/>
          </a:ln>
        </p:spPr>
        <p:txBody>
          <a:bodyPr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spcBef>
                <a:spcPct val="50000"/>
              </a:spcBef>
            </a:pPr>
            <a:r>
              <a:rPr lang="zh-CN" altLang="en-US" b="0" dirty="0"/>
              <a:t>从</a:t>
            </a:r>
            <a:r>
              <a:rPr lang="en-US" altLang="zh-CN" b="0" i="1" dirty="0" err="1"/>
              <a:t>a,b,c,d</a:t>
            </a:r>
            <a:r>
              <a:rPr lang="en-US" altLang="zh-CN" b="0" i="1" dirty="0">
                <a:latin typeface="宋体" panose="02010600030101010101" pitchFamily="2" charset="-122"/>
              </a:rPr>
              <a:t> </a:t>
            </a:r>
            <a:r>
              <a:rPr lang="zh-CN" altLang="en-US" b="0" dirty="0">
                <a:latin typeface="宋体" panose="02010600030101010101" pitchFamily="2" charset="-122"/>
              </a:rPr>
              <a:t>四个元素中任取三个元素的所有排列</a:t>
            </a:r>
            <a:r>
              <a:rPr lang="zh-CN" altLang="en-US" b="0" dirty="0">
                <a:ea typeface="黑体" pitchFamily="49" charset="-122"/>
              </a:rPr>
              <a:t>所有的</a:t>
            </a:r>
            <a:r>
              <a:rPr lang="zh-CN" altLang="en-US" b="0" dirty="0">
                <a:solidFill>
                  <a:srgbClr val="FF0000"/>
                </a:solidFill>
                <a:ea typeface="黑体" pitchFamily="49" charset="-122"/>
              </a:rPr>
              <a:t>排列</a:t>
            </a:r>
          </a:p>
        </p:txBody>
      </p:sp>
      <p:grpSp>
        <p:nvGrpSpPr>
          <p:cNvPr id="13315" name="Group 4"/>
          <p:cNvGrpSpPr/>
          <p:nvPr/>
        </p:nvGrpSpPr>
        <p:grpSpPr>
          <a:xfrm>
            <a:off x="2095722" y="1081108"/>
            <a:ext cx="1298575" cy="4265613"/>
            <a:chOff x="384" y="816"/>
            <a:chExt cx="960" cy="2976"/>
          </a:xfrm>
        </p:grpSpPr>
        <p:sp>
          <p:nvSpPr>
            <p:cNvPr id="13316" name="Rectangle 5"/>
            <p:cNvSpPr/>
            <p:nvPr/>
          </p:nvSpPr>
          <p:spPr>
            <a:xfrm>
              <a:off x="384" y="816"/>
              <a:ext cx="912" cy="384"/>
            </a:xfrm>
            <a:prstGeom prst="rect">
              <a:avLst/>
            </a:prstGeom>
            <a:no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lgn="ctr" eaLnBrk="0" hangingPunct="0"/>
              <a:r>
                <a:rPr lang="en-US" altLang="zh-CN" i="1"/>
                <a:t>abc</a:t>
              </a:r>
            </a:p>
          </p:txBody>
        </p:sp>
        <p:sp>
          <p:nvSpPr>
            <p:cNvPr id="13317" name="Rectangle 6"/>
            <p:cNvSpPr/>
            <p:nvPr/>
          </p:nvSpPr>
          <p:spPr>
            <a:xfrm>
              <a:off x="384" y="1680"/>
              <a:ext cx="912" cy="384"/>
            </a:xfrm>
            <a:prstGeom prst="rect">
              <a:avLst/>
            </a:prstGeom>
            <a:no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lgn="ctr" eaLnBrk="0" hangingPunct="0"/>
              <a:r>
                <a:rPr lang="en-US" altLang="zh-CN" i="1"/>
                <a:t>abd</a:t>
              </a:r>
            </a:p>
          </p:txBody>
        </p:sp>
        <p:sp>
          <p:nvSpPr>
            <p:cNvPr id="13318" name="Rectangle 7"/>
            <p:cNvSpPr/>
            <p:nvPr/>
          </p:nvSpPr>
          <p:spPr>
            <a:xfrm>
              <a:off x="384" y="2496"/>
              <a:ext cx="912" cy="384"/>
            </a:xfrm>
            <a:prstGeom prst="rect">
              <a:avLst/>
            </a:prstGeom>
            <a:no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lgn="ctr" eaLnBrk="0" hangingPunct="0"/>
              <a:r>
                <a:rPr lang="en-US" altLang="zh-CN" i="1"/>
                <a:t>acd</a:t>
              </a:r>
            </a:p>
          </p:txBody>
        </p:sp>
        <p:sp>
          <p:nvSpPr>
            <p:cNvPr id="13319" name="Rectangle 8"/>
            <p:cNvSpPr/>
            <p:nvPr/>
          </p:nvSpPr>
          <p:spPr>
            <a:xfrm>
              <a:off x="432" y="3408"/>
              <a:ext cx="912" cy="384"/>
            </a:xfrm>
            <a:prstGeom prst="rect">
              <a:avLst/>
            </a:prstGeom>
            <a:no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lgn="ctr" eaLnBrk="0" hangingPunct="0"/>
              <a:r>
                <a:rPr lang="en-US" altLang="zh-CN" i="1"/>
                <a:t>bcd</a:t>
              </a:r>
            </a:p>
          </p:txBody>
        </p:sp>
      </p:grpSp>
      <p:sp>
        <p:nvSpPr>
          <p:cNvPr id="13320" name="Rectangle 9"/>
          <p:cNvSpPr/>
          <p:nvPr/>
        </p:nvSpPr>
        <p:spPr>
          <a:xfrm>
            <a:off x="5500909" y="954107"/>
            <a:ext cx="4951412" cy="960438"/>
          </a:xfrm>
          <a:prstGeom prst="rect">
            <a:avLst/>
          </a:prstGeom>
          <a:no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lgn="ctr" eaLnBrk="0" hangingPunct="0"/>
            <a:r>
              <a:rPr lang="en-US" altLang="zh-CN" i="1">
                <a:solidFill>
                  <a:srgbClr val="0000FF"/>
                </a:solidFill>
              </a:rPr>
              <a:t>abc        bac        cab</a:t>
            </a:r>
          </a:p>
          <a:p>
            <a:pPr lvl="0" algn="ctr" eaLnBrk="0" hangingPunct="0"/>
            <a:r>
              <a:rPr lang="en-US" altLang="zh-CN" i="1">
                <a:solidFill>
                  <a:srgbClr val="0000FF"/>
                </a:solidFill>
              </a:rPr>
              <a:t>acb        bca        cba</a:t>
            </a:r>
          </a:p>
        </p:txBody>
      </p:sp>
      <p:sp>
        <p:nvSpPr>
          <p:cNvPr id="13321" name="AutoShape 10"/>
          <p:cNvSpPr/>
          <p:nvPr/>
        </p:nvSpPr>
        <p:spPr>
          <a:xfrm>
            <a:off x="3629247" y="1373208"/>
            <a:ext cx="1781175" cy="180975"/>
          </a:xfrm>
          <a:prstGeom prst="rightArrow">
            <a:avLst>
              <a:gd name="adj1" fmla="val 50000"/>
              <a:gd name="adj2" fmla="val 108035"/>
            </a:avLst>
          </a:prstGeom>
          <a:solidFill>
            <a:schemeClr val="tx1"/>
          </a:solid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endParaRPr lang="zh-CN" altLang="en-US"/>
          </a:p>
        </p:txBody>
      </p:sp>
      <p:sp>
        <p:nvSpPr>
          <p:cNvPr id="13322" name="Rectangle 11"/>
          <p:cNvSpPr/>
          <p:nvPr/>
        </p:nvSpPr>
        <p:spPr>
          <a:xfrm>
            <a:off x="5500909" y="2178071"/>
            <a:ext cx="4951412" cy="960437"/>
          </a:xfrm>
          <a:prstGeom prst="rect">
            <a:avLst/>
          </a:prstGeom>
          <a:no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lgn="ctr" eaLnBrk="0" hangingPunct="0"/>
            <a:r>
              <a:rPr lang="en-US" altLang="zh-CN" i="1">
                <a:solidFill>
                  <a:srgbClr val="0000FF"/>
                </a:solidFill>
              </a:rPr>
              <a:t>abd        bad       dab</a:t>
            </a:r>
          </a:p>
          <a:p>
            <a:pPr lvl="0" algn="ctr" eaLnBrk="0" hangingPunct="0"/>
            <a:r>
              <a:rPr lang="en-US" altLang="zh-CN" i="1">
                <a:solidFill>
                  <a:srgbClr val="0000FF"/>
                </a:solidFill>
              </a:rPr>
              <a:t>adb        bda       dba</a:t>
            </a:r>
          </a:p>
        </p:txBody>
      </p:sp>
      <p:sp>
        <p:nvSpPr>
          <p:cNvPr id="13323" name="AutoShape 12"/>
          <p:cNvSpPr/>
          <p:nvPr/>
        </p:nvSpPr>
        <p:spPr>
          <a:xfrm>
            <a:off x="3629247" y="2538433"/>
            <a:ext cx="1781175" cy="239713"/>
          </a:xfrm>
          <a:prstGeom prst="rightArrow">
            <a:avLst>
              <a:gd name="adj1" fmla="val 50000"/>
              <a:gd name="adj2" fmla="val 108154"/>
            </a:avLst>
          </a:prstGeom>
          <a:solidFill>
            <a:schemeClr val="tx1"/>
          </a:solid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endParaRPr lang="zh-CN" altLang="en-US"/>
          </a:p>
        </p:txBody>
      </p:sp>
      <p:sp>
        <p:nvSpPr>
          <p:cNvPr id="13324" name="Rectangle 13"/>
          <p:cNvSpPr/>
          <p:nvPr/>
        </p:nvSpPr>
        <p:spPr>
          <a:xfrm>
            <a:off x="5500909" y="3402032"/>
            <a:ext cx="4951412" cy="960438"/>
          </a:xfrm>
          <a:prstGeom prst="rect">
            <a:avLst/>
          </a:prstGeom>
          <a:no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lgn="ctr" eaLnBrk="0" hangingPunct="0"/>
            <a:r>
              <a:rPr lang="en-US" altLang="zh-CN" i="1">
                <a:solidFill>
                  <a:srgbClr val="0000FF"/>
                </a:solidFill>
              </a:rPr>
              <a:t>acd        cad        dac</a:t>
            </a:r>
          </a:p>
          <a:p>
            <a:pPr lvl="0" algn="ctr" eaLnBrk="0" hangingPunct="0"/>
            <a:r>
              <a:rPr lang="en-US" altLang="zh-CN" i="1">
                <a:solidFill>
                  <a:srgbClr val="0000FF"/>
                </a:solidFill>
              </a:rPr>
              <a:t>adc        cda        dca</a:t>
            </a:r>
          </a:p>
        </p:txBody>
      </p:sp>
      <p:sp>
        <p:nvSpPr>
          <p:cNvPr id="13325" name="AutoShape 14"/>
          <p:cNvSpPr/>
          <p:nvPr/>
        </p:nvSpPr>
        <p:spPr>
          <a:xfrm>
            <a:off x="3705447" y="3762396"/>
            <a:ext cx="1704975" cy="166687"/>
          </a:xfrm>
          <a:prstGeom prst="rightArrow">
            <a:avLst>
              <a:gd name="adj1" fmla="val 50000"/>
              <a:gd name="adj2" fmla="val 108916"/>
            </a:avLst>
          </a:prstGeom>
          <a:solidFill>
            <a:schemeClr val="tx1"/>
          </a:solid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endParaRPr lang="zh-CN" altLang="en-US"/>
          </a:p>
        </p:txBody>
      </p:sp>
      <p:sp>
        <p:nvSpPr>
          <p:cNvPr id="13326" name="Rectangle 15"/>
          <p:cNvSpPr/>
          <p:nvPr/>
        </p:nvSpPr>
        <p:spPr>
          <a:xfrm>
            <a:off x="5500909" y="4625996"/>
            <a:ext cx="4951412" cy="960437"/>
          </a:xfrm>
          <a:prstGeom prst="rect">
            <a:avLst/>
          </a:prstGeom>
          <a:no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algn="ctr" eaLnBrk="0" hangingPunct="0"/>
            <a:r>
              <a:rPr lang="en-US" altLang="zh-CN" i="1">
                <a:solidFill>
                  <a:srgbClr val="0000FF"/>
                </a:solidFill>
              </a:rPr>
              <a:t>bcd        cbd        dbc</a:t>
            </a:r>
          </a:p>
          <a:p>
            <a:pPr lvl="0" algn="ctr" eaLnBrk="0" hangingPunct="0"/>
            <a:r>
              <a:rPr lang="en-US" altLang="zh-CN" i="1">
                <a:solidFill>
                  <a:srgbClr val="0000FF"/>
                </a:solidFill>
              </a:rPr>
              <a:t>bdc        cdb        dcb</a:t>
            </a:r>
          </a:p>
        </p:txBody>
      </p:sp>
      <p:sp>
        <p:nvSpPr>
          <p:cNvPr id="13327" name="AutoShape 16"/>
          <p:cNvSpPr/>
          <p:nvPr/>
        </p:nvSpPr>
        <p:spPr>
          <a:xfrm>
            <a:off x="3705447" y="5059382"/>
            <a:ext cx="1704975" cy="166688"/>
          </a:xfrm>
          <a:prstGeom prst="rightArrow">
            <a:avLst>
              <a:gd name="adj1" fmla="val 50000"/>
              <a:gd name="adj2" fmla="val 108347"/>
            </a:avLst>
          </a:prstGeom>
          <a:solidFill>
            <a:schemeClr val="tx1"/>
          </a:solidFill>
          <a:ln>
            <a:solidFill>
              <a:schemeClr val="tx1"/>
            </a:solid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endParaRPr lang="zh-CN" altLang="en-US"/>
          </a:p>
        </p:txBody>
      </p:sp>
      <p:sp>
        <p:nvSpPr>
          <p:cNvPr id="13328" name="AutoShape 18"/>
          <p:cNvSpPr/>
          <p:nvPr/>
        </p:nvSpPr>
        <p:spPr>
          <a:xfrm>
            <a:off x="1703387" y="5682604"/>
            <a:ext cx="8785225" cy="620713"/>
          </a:xfrm>
          <a:prstGeom prst="flowChartProcess">
            <a:avLst/>
          </a:prstGeom>
          <a:solidFill>
            <a:schemeClr val="bg1"/>
          </a:solidFill>
          <a:ln w="28575">
            <a:noFill/>
            <a:miter lim="800000"/>
          </a:ln>
        </p:spPr>
        <p:txBody>
          <a:bodyPr wrap="none" anchor="ctr" anchorCtr="0"/>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r>
              <a:rPr lang="zh-CN" altLang="en-US" sz="3200" dirty="0">
                <a:solidFill>
                  <a:srgbClr val="FF0000"/>
                </a:solidFill>
                <a:ea typeface="隶书" pitchFamily="49" charset="-122"/>
              </a:rPr>
              <a:t>将每个组合分别进行全排列，就得到了所有排列</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blinds(horizontal)">
                                      <p:cBhvr>
                                        <p:cTn id="7" dur="500" fill="hold"/>
                                        <p:tgtEl>
                                          <p:spTgt spid="1331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321"/>
                                        </p:tgtEl>
                                        <p:attrNameLst>
                                          <p:attrName>style.visibility</p:attrName>
                                        </p:attrNameLst>
                                      </p:cBhvr>
                                      <p:to>
                                        <p:strVal val="visible"/>
                                      </p:to>
                                    </p:set>
                                    <p:animEffect transition="in" filter="wipe(left)">
                                      <p:cBhvr>
                                        <p:cTn id="12" dur="500" fill="hold"/>
                                        <p:tgtEl>
                                          <p:spTgt spid="13321"/>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20"/>
                                        </p:tgtEl>
                                        <p:attrNameLst>
                                          <p:attrName>style.visibility</p:attrName>
                                        </p:attrNameLst>
                                      </p:cBhvr>
                                      <p:to>
                                        <p:strVal val="visible"/>
                                      </p:to>
                                    </p:set>
                                    <p:animEffect transition="in" filter="blinds(horizontal)">
                                      <p:cBhvr>
                                        <p:cTn id="17" dur="500" fill="hold"/>
                                        <p:tgtEl>
                                          <p:spTgt spid="13320"/>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323"/>
                                        </p:tgtEl>
                                        <p:attrNameLst>
                                          <p:attrName>style.visibility</p:attrName>
                                        </p:attrNameLst>
                                      </p:cBhvr>
                                      <p:to>
                                        <p:strVal val="visible"/>
                                      </p:to>
                                    </p:set>
                                    <p:animEffect transition="in" filter="wipe(left)">
                                      <p:cBhvr>
                                        <p:cTn id="22" dur="500" fill="hold"/>
                                        <p:tgtEl>
                                          <p:spTgt spid="13323"/>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322"/>
                                        </p:tgtEl>
                                        <p:attrNameLst>
                                          <p:attrName>style.visibility</p:attrName>
                                        </p:attrNameLst>
                                      </p:cBhvr>
                                      <p:to>
                                        <p:strVal val="visible"/>
                                      </p:to>
                                    </p:set>
                                    <p:animEffect transition="in" filter="blinds(horizontal)">
                                      <p:cBhvr>
                                        <p:cTn id="27" dur="500" fill="hold"/>
                                        <p:tgtEl>
                                          <p:spTgt spid="13322"/>
                                        </p:tgtEl>
                                      </p:cBhvr>
                                    </p:animEffect>
                                  </p:childTnLst>
                                </p:cTn>
                              </p:par>
                            </p:childTnLst>
                          </p:cTn>
                        </p:par>
                      </p:childTnLst>
                    </p:cTn>
                  </p:par>
                  <p:par>
                    <p:cTn id="28" fill="hold" nodeType="clickPar">
                      <p:stCondLst>
                        <p:cond delay="indefinite"/>
                      </p:stCondLst>
                      <p:childTnLst>
                        <p:par>
                          <p:cTn id="29" fill="hold" nodeType="after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3325"/>
                                        </p:tgtEl>
                                        <p:attrNameLst>
                                          <p:attrName>style.visibility</p:attrName>
                                        </p:attrNameLst>
                                      </p:cBhvr>
                                      <p:to>
                                        <p:strVal val="visible"/>
                                      </p:to>
                                    </p:set>
                                    <p:animEffect transition="in" filter="wipe(left)">
                                      <p:cBhvr>
                                        <p:cTn id="32" dur="500" fill="hold"/>
                                        <p:tgtEl>
                                          <p:spTgt spid="13325"/>
                                        </p:tgtEl>
                                      </p:cBhvr>
                                    </p:animEffect>
                                  </p:childTnLst>
                                </p:cTn>
                              </p:par>
                            </p:childTnLst>
                          </p:cTn>
                        </p:par>
                      </p:childTnLst>
                    </p:cTn>
                  </p:par>
                  <p:par>
                    <p:cTn id="33" fill="hold" nodeType="clickPar">
                      <p:stCondLst>
                        <p:cond delay="indefinite"/>
                      </p:stCondLst>
                      <p:childTnLst>
                        <p:par>
                          <p:cTn id="34" fill="hold" nodeType="after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324"/>
                                        </p:tgtEl>
                                        <p:attrNameLst>
                                          <p:attrName>style.visibility</p:attrName>
                                        </p:attrNameLst>
                                      </p:cBhvr>
                                      <p:to>
                                        <p:strVal val="visible"/>
                                      </p:to>
                                    </p:set>
                                    <p:animEffect transition="in" filter="blinds(horizontal)">
                                      <p:cBhvr>
                                        <p:cTn id="37" dur="500" fill="hold"/>
                                        <p:tgtEl>
                                          <p:spTgt spid="13324"/>
                                        </p:tgtEl>
                                      </p:cBhvr>
                                    </p:animEffect>
                                  </p:childTnLst>
                                </p:cTn>
                              </p:par>
                            </p:childTnLst>
                          </p:cTn>
                        </p:par>
                      </p:childTnLst>
                    </p:cTn>
                  </p:par>
                  <p:par>
                    <p:cTn id="38" fill="hold" nodeType="clickPar">
                      <p:stCondLst>
                        <p:cond delay="indefinite"/>
                      </p:stCondLst>
                      <p:childTnLst>
                        <p:par>
                          <p:cTn id="39" fill="hold" nodeType="after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3327"/>
                                        </p:tgtEl>
                                        <p:attrNameLst>
                                          <p:attrName>style.visibility</p:attrName>
                                        </p:attrNameLst>
                                      </p:cBhvr>
                                      <p:to>
                                        <p:strVal val="visible"/>
                                      </p:to>
                                    </p:set>
                                    <p:animEffect transition="in" filter="wipe(left)">
                                      <p:cBhvr>
                                        <p:cTn id="42" dur="500" fill="hold"/>
                                        <p:tgtEl>
                                          <p:spTgt spid="13327"/>
                                        </p:tgtEl>
                                      </p:cBhvr>
                                    </p:animEffect>
                                  </p:childTnLst>
                                </p:cTn>
                              </p:par>
                            </p:childTnLst>
                          </p:cTn>
                        </p:par>
                      </p:childTnLst>
                    </p:cTn>
                  </p:par>
                  <p:par>
                    <p:cTn id="43" fill="hold" nodeType="clickPar">
                      <p:stCondLst>
                        <p:cond delay="indefinite"/>
                      </p:stCondLst>
                      <p:childTnLst>
                        <p:par>
                          <p:cTn id="44" fill="hold" nodeType="after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326"/>
                                        </p:tgtEl>
                                        <p:attrNameLst>
                                          <p:attrName>style.visibility</p:attrName>
                                        </p:attrNameLst>
                                      </p:cBhvr>
                                      <p:to>
                                        <p:strVal val="visible"/>
                                      </p:to>
                                    </p:set>
                                    <p:animEffect transition="in" filter="blinds(horizontal)">
                                      <p:cBhvr>
                                        <p:cTn id="47" dur="500" fill="hold"/>
                                        <p:tgtEl>
                                          <p:spTgt spid="13326"/>
                                        </p:tgtEl>
                                      </p:cBhvr>
                                    </p:animEffect>
                                  </p:childTnLst>
                                </p:cTn>
                              </p:par>
                            </p:childTnLst>
                          </p:cTn>
                        </p:par>
                      </p:childTnLst>
                    </p:cTn>
                  </p:par>
                  <p:par>
                    <p:cTn id="48" fill="hold" nodeType="clickPar">
                      <p:stCondLst>
                        <p:cond delay="indefinite"/>
                      </p:stCondLst>
                      <p:childTnLst>
                        <p:par>
                          <p:cTn id="49" fill="hold" nodeType="afterGroup">
                            <p:stCondLst>
                              <p:cond delay="0"/>
                            </p:stCondLst>
                            <p:childTnLst>
                              <p:par>
                                <p:cTn id="50" presetID="16" presetClass="entr" presetSubtype="42" fill="hold" grpId="0" nodeType="clickEffect">
                                  <p:stCondLst>
                                    <p:cond delay="0"/>
                                  </p:stCondLst>
                                  <p:childTnLst>
                                    <p:set>
                                      <p:cBhvr>
                                        <p:cTn id="51" dur="1" fill="hold">
                                          <p:stCondLst>
                                            <p:cond delay="0"/>
                                          </p:stCondLst>
                                        </p:cTn>
                                        <p:tgtEl>
                                          <p:spTgt spid="13328"/>
                                        </p:tgtEl>
                                        <p:attrNameLst>
                                          <p:attrName>style.visibility</p:attrName>
                                        </p:attrNameLst>
                                      </p:cBhvr>
                                      <p:to>
                                        <p:strVal val="visible"/>
                                      </p:to>
                                    </p:set>
                                    <p:animEffect transition="in" filter="barn(outHorizontal)">
                                      <p:cBhvr>
                                        <p:cTn id="52" dur="500" fill="hold"/>
                                        <p:tgtEl>
                                          <p:spTgt spid="13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20" grpId="0" animBg="1"/>
      <p:bldP spid="13322" grpId="0" animBg="1"/>
      <p:bldP spid="13324" grpId="0" animBg="1"/>
      <p:bldP spid="13326" grpId="0" animBg="1"/>
      <p:bldP spid="1332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2"/>
          <p:cNvSpPr/>
          <p:nvPr/>
        </p:nvSpPr>
        <p:spPr>
          <a:xfrm>
            <a:off x="2819400" y="1905001"/>
            <a:ext cx="4876800" cy="701675"/>
          </a:xfrm>
          <a:prstGeom prst="rect">
            <a:avLst/>
          </a:prstGeom>
          <a:noFill/>
          <a:ln>
            <a:noFill/>
            <a:miter lim="800000"/>
          </a:ln>
        </p:spPr>
        <p:txBody>
          <a:bodyPr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spcBef>
                <a:spcPct val="50000"/>
              </a:spcBef>
            </a:pPr>
            <a:endParaRPr lang="zh-CN" altLang="zh-CN" sz="4000"/>
          </a:p>
        </p:txBody>
      </p:sp>
      <p:graphicFrame>
        <p:nvGraphicFramePr>
          <p:cNvPr id="14338" name="Object 3"/>
          <p:cNvGraphicFramePr>
            <a:graphicFrameLocks noChangeAspect="1"/>
          </p:cNvGraphicFramePr>
          <p:nvPr/>
        </p:nvGraphicFramePr>
        <p:xfrm>
          <a:off x="2819400" y="685801"/>
          <a:ext cx="4597400" cy="784225"/>
        </p:xfrm>
        <a:graphic>
          <a:graphicData uri="http://schemas.openxmlformats.org/presentationml/2006/ole">
            <mc:AlternateContent xmlns:mc="http://schemas.openxmlformats.org/markup-compatibility/2006">
              <mc:Choice xmlns:v="urn:schemas-microsoft-com:vml" Requires="v">
                <p:oleObj r:id="rId2" imgW="4597400" imgH="784225" progId="Equation.3">
                  <p:embed/>
                </p:oleObj>
              </mc:Choice>
              <mc:Fallback>
                <p:oleObj r:id="rId2" imgW="4597400" imgH="784225" progId="Equation.3">
                  <p:embed/>
                  <p:pic>
                    <p:nvPicPr>
                      <p:cNvPr id="14338" name="Object 3"/>
                      <p:cNvPicPr/>
                      <p:nvPr/>
                    </p:nvPicPr>
                    <p:blipFill>
                      <a:blip r:embed="rId3">
                        <a:clrChange useA="0">
                          <a:clrFrom>
                            <a:srgbClr val="000000"/>
                          </a:clrFrom>
                          <a:clrTo>
                            <a:srgbClr val="FFFFFF"/>
                          </a:clrTo>
                        </a:clrChange>
                      </a:blip>
                      <a:stretch>
                        <a:fillRect/>
                      </a:stretch>
                    </p:blipFill>
                    <p:spPr>
                      <a:xfrm>
                        <a:off x="2819400" y="685801"/>
                        <a:ext cx="4597400" cy="784225"/>
                      </a:xfrm>
                      <a:prstGeom prst="rect">
                        <a:avLst/>
                      </a:prstGeom>
                      <a:noFill/>
                      <a:ln w="38100">
                        <a:noFill/>
                        <a:miter lim="800000"/>
                      </a:ln>
                    </p:spPr>
                  </p:pic>
                </p:oleObj>
              </mc:Fallback>
            </mc:AlternateContent>
          </a:graphicData>
        </a:graphic>
      </p:graphicFrame>
      <p:graphicFrame>
        <p:nvGraphicFramePr>
          <p:cNvPr id="14339" name="Object 4"/>
          <p:cNvGraphicFramePr>
            <a:graphicFrameLocks noChangeAspect="1"/>
          </p:cNvGraphicFramePr>
          <p:nvPr/>
        </p:nvGraphicFramePr>
        <p:xfrm>
          <a:off x="3733801" y="4724401"/>
          <a:ext cx="3154363" cy="1408113"/>
        </p:xfrm>
        <a:graphic>
          <a:graphicData uri="http://schemas.openxmlformats.org/presentationml/2006/ole">
            <mc:AlternateContent xmlns:mc="http://schemas.openxmlformats.org/markup-compatibility/2006">
              <mc:Choice xmlns:v="urn:schemas-microsoft-com:vml" Requires="v">
                <p:oleObj r:id="rId4" imgW="3154363" imgH="1408113" progId="Equation.3">
                  <p:embed/>
                </p:oleObj>
              </mc:Choice>
              <mc:Fallback>
                <p:oleObj r:id="rId4" imgW="3154363" imgH="1408113" progId="Equation.3">
                  <p:embed/>
                  <p:pic>
                    <p:nvPicPr>
                      <p:cNvPr id="14339" name="Object 4"/>
                      <p:cNvPicPr/>
                      <p:nvPr/>
                    </p:nvPicPr>
                    <p:blipFill>
                      <a:blip r:embed="rId5">
                        <a:clrChange useA="0">
                          <a:clrFrom>
                            <a:srgbClr val="000000"/>
                          </a:clrFrom>
                          <a:clrTo>
                            <a:srgbClr val="FFFFFF"/>
                          </a:clrTo>
                        </a:clrChange>
                      </a:blip>
                      <a:stretch>
                        <a:fillRect/>
                      </a:stretch>
                    </p:blipFill>
                    <p:spPr>
                      <a:xfrm>
                        <a:off x="3733801" y="4724401"/>
                        <a:ext cx="3154363" cy="1408113"/>
                      </a:xfrm>
                      <a:prstGeom prst="rect">
                        <a:avLst/>
                      </a:prstGeom>
                      <a:noFill/>
                      <a:ln w="38100">
                        <a:noFill/>
                        <a:miter lim="800000"/>
                      </a:ln>
                    </p:spPr>
                  </p:pic>
                </p:oleObj>
              </mc:Fallback>
            </mc:AlternateContent>
          </a:graphicData>
        </a:graphic>
      </p:graphicFrame>
      <p:graphicFrame>
        <p:nvGraphicFramePr>
          <p:cNvPr id="14340" name="Object 5"/>
          <p:cNvGraphicFramePr>
            <a:graphicFrameLocks noChangeAspect="1"/>
          </p:cNvGraphicFramePr>
          <p:nvPr>
            <p:extLst>
              <p:ext uri="{D42A27DB-BD31-4B8C-83A1-F6EECF244321}">
                <p14:modId xmlns:p14="http://schemas.microsoft.com/office/powerpoint/2010/main" val="3775856437"/>
              </p:ext>
            </p:extLst>
          </p:nvPr>
        </p:nvGraphicFramePr>
        <p:xfrm>
          <a:off x="1919289" y="1"/>
          <a:ext cx="5583237" cy="1158875"/>
        </p:xfrm>
        <a:graphic>
          <a:graphicData uri="http://schemas.openxmlformats.org/presentationml/2006/ole">
            <mc:AlternateContent xmlns:mc="http://schemas.openxmlformats.org/markup-compatibility/2006">
              <mc:Choice xmlns:v="urn:schemas-microsoft-com:vml" Requires="v">
                <p:oleObj r:id="rId6" imgW="5583237" imgH="1158875" progId="Equation.DSMT4">
                  <p:embed/>
                </p:oleObj>
              </mc:Choice>
              <mc:Fallback>
                <p:oleObj r:id="rId6" imgW="5583237" imgH="1158875" progId="Equation.DSMT4">
                  <p:embed/>
                  <p:pic>
                    <p:nvPicPr>
                      <p:cNvPr id="14340" name="Object 5"/>
                      <p:cNvPicPr/>
                      <p:nvPr/>
                    </p:nvPicPr>
                    <p:blipFill>
                      <a:blip r:embed="rId7"/>
                      <a:stretch>
                        <a:fillRect/>
                      </a:stretch>
                    </p:blipFill>
                    <p:spPr>
                      <a:xfrm>
                        <a:off x="1919289" y="1"/>
                        <a:ext cx="5583237" cy="1158875"/>
                      </a:xfrm>
                      <a:prstGeom prst="rect">
                        <a:avLst/>
                      </a:prstGeom>
                      <a:solidFill>
                        <a:schemeClr val="bg1"/>
                      </a:solidFill>
                      <a:ln w="38100">
                        <a:noFill/>
                        <a:miter lim="800000"/>
                      </a:ln>
                    </p:spPr>
                  </p:pic>
                </p:oleObj>
              </mc:Fallback>
            </mc:AlternateContent>
          </a:graphicData>
        </a:graphic>
      </p:graphicFrame>
      <p:graphicFrame>
        <p:nvGraphicFramePr>
          <p:cNvPr id="14341" name="Object 6"/>
          <p:cNvGraphicFramePr>
            <a:graphicFrameLocks noChangeAspect="1"/>
          </p:cNvGraphicFramePr>
          <p:nvPr>
            <p:extLst>
              <p:ext uri="{D42A27DB-BD31-4B8C-83A1-F6EECF244321}">
                <p14:modId xmlns:p14="http://schemas.microsoft.com/office/powerpoint/2010/main" val="794649275"/>
              </p:ext>
            </p:extLst>
          </p:nvPr>
        </p:nvGraphicFramePr>
        <p:xfrm>
          <a:off x="2585244" y="1304187"/>
          <a:ext cx="5065712" cy="1031875"/>
        </p:xfrm>
        <a:graphic>
          <a:graphicData uri="http://schemas.openxmlformats.org/presentationml/2006/ole">
            <mc:AlternateContent xmlns:mc="http://schemas.openxmlformats.org/markup-compatibility/2006">
              <mc:Choice xmlns:v="urn:schemas-microsoft-com:vml" Requires="v">
                <p:oleObj r:id="rId8" imgW="5065713" imgH="1031875" progId="Equation.DSMT4">
                  <p:embed/>
                </p:oleObj>
              </mc:Choice>
              <mc:Fallback>
                <p:oleObj r:id="rId8" imgW="5065713" imgH="1031875" progId="Equation.DSMT4">
                  <p:embed/>
                  <p:pic>
                    <p:nvPicPr>
                      <p:cNvPr id="14341" name="Object 6"/>
                      <p:cNvPicPr/>
                      <p:nvPr/>
                    </p:nvPicPr>
                    <p:blipFill>
                      <a:blip r:embed="rId9"/>
                      <a:stretch>
                        <a:fillRect/>
                      </a:stretch>
                    </p:blipFill>
                    <p:spPr>
                      <a:xfrm>
                        <a:off x="2585244" y="1304187"/>
                        <a:ext cx="5065712" cy="1031875"/>
                      </a:xfrm>
                      <a:prstGeom prst="rect">
                        <a:avLst/>
                      </a:prstGeom>
                      <a:noFill/>
                      <a:ln w="38100">
                        <a:noFill/>
                        <a:miter lim="800000"/>
                      </a:ln>
                    </p:spPr>
                  </p:pic>
                </p:oleObj>
              </mc:Fallback>
            </mc:AlternateContent>
          </a:graphicData>
        </a:graphic>
      </p:graphicFrame>
      <p:graphicFrame>
        <p:nvGraphicFramePr>
          <p:cNvPr id="14342" name="Object 7"/>
          <p:cNvGraphicFramePr>
            <a:graphicFrameLocks noChangeAspect="1"/>
          </p:cNvGraphicFramePr>
          <p:nvPr/>
        </p:nvGraphicFramePr>
        <p:xfrm>
          <a:off x="2619375" y="2667000"/>
          <a:ext cx="4794250" cy="1023938"/>
        </p:xfrm>
        <a:graphic>
          <a:graphicData uri="http://schemas.openxmlformats.org/presentationml/2006/ole">
            <mc:AlternateContent xmlns:mc="http://schemas.openxmlformats.org/markup-compatibility/2006">
              <mc:Choice xmlns:v="urn:schemas-microsoft-com:vml" Requires="v">
                <p:oleObj r:id="rId10" imgW="4794250" imgH="1023938" progId="Equation.DSMT4">
                  <p:embed/>
                </p:oleObj>
              </mc:Choice>
              <mc:Fallback>
                <p:oleObj r:id="rId10" imgW="4794250" imgH="1023938" progId="Equation.DSMT4">
                  <p:embed/>
                  <p:pic>
                    <p:nvPicPr>
                      <p:cNvPr id="14342" name="Object 7"/>
                      <p:cNvPicPr/>
                      <p:nvPr/>
                    </p:nvPicPr>
                    <p:blipFill>
                      <a:blip r:embed="rId11"/>
                      <a:stretch>
                        <a:fillRect/>
                      </a:stretch>
                    </p:blipFill>
                    <p:spPr>
                      <a:xfrm>
                        <a:off x="2619375" y="2667000"/>
                        <a:ext cx="4794250" cy="1023938"/>
                      </a:xfrm>
                      <a:prstGeom prst="rect">
                        <a:avLst/>
                      </a:prstGeom>
                      <a:noFill/>
                      <a:ln w="38100">
                        <a:noFill/>
                        <a:miter lim="800000"/>
                      </a:ln>
                    </p:spPr>
                  </p:pic>
                </p:oleObj>
              </mc:Fallback>
            </mc:AlternateContent>
          </a:graphicData>
        </a:graphic>
      </p:graphicFrame>
      <p:graphicFrame>
        <p:nvGraphicFramePr>
          <p:cNvPr id="14343" name="Object 8"/>
          <p:cNvGraphicFramePr>
            <a:graphicFrameLocks noChangeAspect="1"/>
          </p:cNvGraphicFramePr>
          <p:nvPr/>
        </p:nvGraphicFramePr>
        <p:xfrm>
          <a:off x="1998664" y="3810000"/>
          <a:ext cx="7697787" cy="850900"/>
        </p:xfrm>
        <a:graphic>
          <a:graphicData uri="http://schemas.openxmlformats.org/presentationml/2006/ole">
            <mc:AlternateContent xmlns:mc="http://schemas.openxmlformats.org/markup-compatibility/2006">
              <mc:Choice xmlns:v="urn:schemas-microsoft-com:vml" Requires="v">
                <p:oleObj r:id="rId12" imgW="7697787" imgH="850900" progId="Equation.DSMT4">
                  <p:embed/>
                </p:oleObj>
              </mc:Choice>
              <mc:Fallback>
                <p:oleObj r:id="rId12" imgW="7697787" imgH="850900" progId="Equation.DSMT4">
                  <p:embed/>
                  <p:pic>
                    <p:nvPicPr>
                      <p:cNvPr id="14343" name="Object 8"/>
                      <p:cNvPicPr/>
                      <p:nvPr/>
                    </p:nvPicPr>
                    <p:blipFill>
                      <a:blip r:embed="rId13"/>
                      <a:stretch>
                        <a:fillRect/>
                      </a:stretch>
                    </p:blipFill>
                    <p:spPr>
                      <a:xfrm>
                        <a:off x="1998664" y="3810000"/>
                        <a:ext cx="7697787" cy="850900"/>
                      </a:xfrm>
                      <a:prstGeom prst="rect">
                        <a:avLst/>
                      </a:prstGeom>
                      <a:noFill/>
                      <a:ln w="38100">
                        <a:noFill/>
                        <a:miter lim="800000"/>
                      </a:ln>
                    </p:spPr>
                  </p:pic>
                </p:oleObj>
              </mc:Fallback>
            </mc:AlternateContent>
          </a:graphicData>
        </a:graphic>
      </p:graphicFrame>
      <p:graphicFrame>
        <p:nvGraphicFramePr>
          <p:cNvPr id="14344" name="Object 9"/>
          <p:cNvGraphicFramePr>
            <a:graphicFrameLocks noChangeAspect="1"/>
          </p:cNvGraphicFramePr>
          <p:nvPr/>
        </p:nvGraphicFramePr>
        <p:xfrm>
          <a:off x="2782888" y="4572000"/>
          <a:ext cx="3097212" cy="1757363"/>
        </p:xfrm>
        <a:graphic>
          <a:graphicData uri="http://schemas.openxmlformats.org/presentationml/2006/ole">
            <mc:AlternateContent xmlns:mc="http://schemas.openxmlformats.org/markup-compatibility/2006">
              <mc:Choice xmlns:v="urn:schemas-microsoft-com:vml" Requires="v">
                <p:oleObj r:id="rId14" imgW="3097212" imgH="1757363" progId="Equation.DSMT4">
                  <p:embed/>
                </p:oleObj>
              </mc:Choice>
              <mc:Fallback>
                <p:oleObj r:id="rId14" imgW="3097212" imgH="1757363" progId="Equation.DSMT4">
                  <p:embed/>
                  <p:pic>
                    <p:nvPicPr>
                      <p:cNvPr id="14344" name="Object 9"/>
                      <p:cNvPicPr/>
                      <p:nvPr/>
                    </p:nvPicPr>
                    <p:blipFill>
                      <a:blip r:embed="rId15"/>
                      <a:stretch>
                        <a:fillRect/>
                      </a:stretch>
                    </p:blipFill>
                    <p:spPr>
                      <a:xfrm>
                        <a:off x="2782888" y="4572000"/>
                        <a:ext cx="3097212" cy="1757363"/>
                      </a:xfrm>
                      <a:prstGeom prst="rect">
                        <a:avLst/>
                      </a:prstGeom>
                      <a:noFill/>
                      <a:ln w="38100">
                        <a:noFill/>
                        <a:miter lim="800000"/>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341"/>
                                        </p:tgtEl>
                                        <p:attrNameLst>
                                          <p:attrName>style.visibility</p:attrName>
                                        </p:attrNameLst>
                                      </p:cBhvr>
                                      <p:to>
                                        <p:strVal val="visible"/>
                                      </p:to>
                                    </p:set>
                                    <p:animEffect transition="in" filter="blinds(horizontal)">
                                      <p:cBhvr>
                                        <p:cTn id="7" dur="500" fill="hold"/>
                                        <p:tgtEl>
                                          <p:spTgt spid="14341"/>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342"/>
                                        </p:tgtEl>
                                        <p:attrNameLst>
                                          <p:attrName>style.visibility</p:attrName>
                                        </p:attrNameLst>
                                      </p:cBhvr>
                                      <p:to>
                                        <p:strVal val="visible"/>
                                      </p:to>
                                    </p:set>
                                    <p:animEffect transition="in" filter="blinds(horizontal)">
                                      <p:cBhvr>
                                        <p:cTn id="12" dur="500" fill="hold"/>
                                        <p:tgtEl>
                                          <p:spTgt spid="14342"/>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343"/>
                                        </p:tgtEl>
                                        <p:attrNameLst>
                                          <p:attrName>style.visibility</p:attrName>
                                        </p:attrNameLst>
                                      </p:cBhvr>
                                      <p:to>
                                        <p:strVal val="visible"/>
                                      </p:to>
                                    </p:set>
                                    <p:animEffect transition="in" filter="blinds(horizontal)">
                                      <p:cBhvr>
                                        <p:cTn id="17" dur="500" fill="hold"/>
                                        <p:tgtEl>
                                          <p:spTgt spid="14343"/>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4344"/>
                                        </p:tgtEl>
                                        <p:attrNameLst>
                                          <p:attrName>style.visibility</p:attrName>
                                        </p:attrNameLst>
                                      </p:cBhvr>
                                      <p:to>
                                        <p:strVal val="visible"/>
                                      </p:to>
                                    </p:set>
                                    <p:animEffect transition="in" filter="blinds(horizontal)">
                                      <p:cBhvr>
                                        <p:cTn id="22" dur="500" fill="hold"/>
                                        <p:tgtEl>
                                          <p:spTgt spid="14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p:nvPr/>
        </p:nvSpPr>
        <p:spPr>
          <a:xfrm>
            <a:off x="1338976" y="2936876"/>
            <a:ext cx="5083175" cy="584200"/>
          </a:xfrm>
          <a:prstGeom prst="rect">
            <a:avLst/>
          </a:prstGeom>
          <a:noFill/>
          <a:ln w="12700">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r>
              <a:rPr lang="zh-CN" altLang="en-US" sz="3200" dirty="0">
                <a:latin typeface="宋体" panose="02010600030101010101" pitchFamily="2" charset="-122"/>
              </a:rPr>
              <a:t>根据分步计数原理，得到：</a:t>
            </a:r>
          </a:p>
        </p:txBody>
      </p:sp>
      <p:sp>
        <p:nvSpPr>
          <p:cNvPr id="15363" name="Text Box 5"/>
          <p:cNvSpPr/>
          <p:nvPr/>
        </p:nvSpPr>
        <p:spPr>
          <a:xfrm>
            <a:off x="1724247" y="3880645"/>
            <a:ext cx="1518364" cy="584775"/>
          </a:xfrm>
          <a:prstGeom prst="rect">
            <a:avLst/>
          </a:prstGeom>
          <a:noFill/>
          <a:ln w="12700">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r>
              <a:rPr lang="zh-CN" altLang="en-US" sz="3200">
                <a:latin typeface="宋体" panose="02010600030101010101" pitchFamily="2" charset="-122"/>
              </a:rPr>
              <a:t>因此：</a:t>
            </a:r>
            <a:r>
              <a:rPr lang="zh-CN" altLang="en-US" sz="3200"/>
              <a:t> </a:t>
            </a:r>
          </a:p>
        </p:txBody>
      </p:sp>
      <p:sp>
        <p:nvSpPr>
          <p:cNvPr id="15364" name="Rectangle 7"/>
          <p:cNvSpPr/>
          <p:nvPr/>
        </p:nvSpPr>
        <p:spPr>
          <a:xfrm>
            <a:off x="145312" y="71149"/>
            <a:ext cx="12046688" cy="584775"/>
          </a:xfrm>
          <a:prstGeom prst="rect">
            <a:avLst/>
          </a:prstGeom>
          <a:noFill/>
          <a:ln w="12700">
            <a:noFill/>
            <a:miter lim="800000"/>
          </a:ln>
        </p:spPr>
        <p:txBody>
          <a:bodyPr wrap="squar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r>
              <a:rPr lang="zh-CN" altLang="en-US" sz="3200" dirty="0">
                <a:latin typeface="宋体" panose="02010600030101010101" pitchFamily="2" charset="-122"/>
              </a:rPr>
              <a:t>求从</a:t>
            </a:r>
            <a:r>
              <a:rPr lang="en-US" altLang="zh-CN" sz="3200" i="1" dirty="0"/>
              <a:t>n</a:t>
            </a:r>
            <a:r>
              <a:rPr lang="zh-CN" altLang="en-US" sz="3200" dirty="0">
                <a:latin typeface="宋体" panose="02010600030101010101" pitchFamily="2" charset="-122"/>
              </a:rPr>
              <a:t>个不同元素中取出</a:t>
            </a:r>
            <a:r>
              <a:rPr lang="en-US" altLang="zh-CN" sz="3200" i="1" dirty="0"/>
              <a:t>m</a:t>
            </a:r>
            <a:r>
              <a:rPr lang="zh-CN" altLang="en-US" sz="3200" dirty="0">
                <a:latin typeface="宋体" panose="02010600030101010101" pitchFamily="2" charset="-122"/>
              </a:rPr>
              <a:t>个元素的排列数，可以分为以下</a:t>
            </a:r>
            <a:r>
              <a:rPr lang="en-US" altLang="zh-CN" sz="3200" dirty="0"/>
              <a:t>2</a:t>
            </a:r>
            <a:r>
              <a:rPr lang="zh-CN" altLang="en-US" sz="3200" dirty="0">
                <a:latin typeface="宋体" panose="02010600030101010101" pitchFamily="2" charset="-122"/>
              </a:rPr>
              <a:t>步：</a:t>
            </a:r>
            <a:r>
              <a:rPr lang="zh-CN" altLang="en-US" sz="3200" dirty="0"/>
              <a:t> </a:t>
            </a:r>
          </a:p>
        </p:txBody>
      </p:sp>
      <p:grpSp>
        <p:nvGrpSpPr>
          <p:cNvPr id="15365" name="Group 10"/>
          <p:cNvGrpSpPr/>
          <p:nvPr/>
        </p:nvGrpSpPr>
        <p:grpSpPr>
          <a:xfrm>
            <a:off x="317501" y="755651"/>
            <a:ext cx="11664951" cy="801688"/>
            <a:chOff x="-322" y="1320"/>
            <a:chExt cx="7348" cy="505"/>
          </a:xfrm>
        </p:grpSpPr>
        <p:sp>
          <p:nvSpPr>
            <p:cNvPr id="15366" name="Text Box 11"/>
            <p:cNvSpPr/>
            <p:nvPr/>
          </p:nvSpPr>
          <p:spPr>
            <a:xfrm>
              <a:off x="-322" y="1320"/>
              <a:ext cx="7348" cy="465"/>
            </a:xfrm>
            <a:prstGeom prst="rect">
              <a:avLst/>
            </a:prstGeom>
            <a:noFill/>
            <a:ln w="12700">
              <a:noFill/>
              <a:miter lim="800000"/>
            </a:ln>
          </p:spPr>
          <p:txBody>
            <a:bodyPr wrap="squar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lnSpc>
                  <a:spcPct val="150000"/>
                </a:lnSpc>
              </a:pPr>
              <a:r>
                <a:rPr lang="zh-CN" altLang="en-US" sz="3200" dirty="0">
                  <a:latin typeface="宋体" panose="02010600030101010101" pitchFamily="2" charset="-122"/>
                </a:rPr>
                <a:t>第</a:t>
              </a:r>
              <a:r>
                <a:rPr lang="en-US" altLang="zh-CN" sz="3200" dirty="0"/>
                <a:t>1</a:t>
              </a:r>
              <a:r>
                <a:rPr lang="zh-CN" altLang="en-US" sz="3200" dirty="0">
                  <a:latin typeface="宋体" panose="02010600030101010101" pitchFamily="2" charset="-122"/>
                </a:rPr>
                <a:t>步，先求出从这</a:t>
              </a:r>
              <a:r>
                <a:rPr lang="en-US" altLang="zh-CN" sz="3200" i="1" dirty="0"/>
                <a:t>n</a:t>
              </a:r>
              <a:r>
                <a:rPr lang="zh-CN" altLang="en-US" sz="3200" dirty="0">
                  <a:latin typeface="宋体" panose="02010600030101010101" pitchFamily="2" charset="-122"/>
                </a:rPr>
                <a:t>个不同元素中取出</a:t>
              </a:r>
              <a:r>
                <a:rPr lang="en-US" altLang="zh-CN" sz="3200" i="1" dirty="0"/>
                <a:t>m</a:t>
              </a:r>
              <a:r>
                <a:rPr lang="zh-CN" altLang="en-US" sz="3200" i="1" dirty="0"/>
                <a:t> </a:t>
              </a:r>
              <a:r>
                <a:rPr lang="zh-CN" altLang="en-US" sz="3200" dirty="0">
                  <a:latin typeface="宋体" panose="02010600030101010101" pitchFamily="2" charset="-122"/>
                </a:rPr>
                <a:t>个元素的组合数   ．</a:t>
              </a:r>
              <a:r>
                <a:rPr lang="zh-CN" altLang="en-US" sz="3200" dirty="0"/>
                <a:t> </a:t>
              </a:r>
            </a:p>
          </p:txBody>
        </p:sp>
        <p:graphicFrame>
          <p:nvGraphicFramePr>
            <p:cNvPr id="15367" name="Object 12"/>
            <p:cNvGraphicFramePr>
              <a:graphicFrameLocks noChangeAspect="1"/>
            </p:cNvGraphicFramePr>
            <p:nvPr>
              <p:extLst>
                <p:ext uri="{D42A27DB-BD31-4B8C-83A1-F6EECF244321}">
                  <p14:modId xmlns:p14="http://schemas.microsoft.com/office/powerpoint/2010/main" val="2043566512"/>
                </p:ext>
              </p:extLst>
            </p:nvPr>
          </p:nvGraphicFramePr>
          <p:xfrm>
            <a:off x="6180" y="1385"/>
            <a:ext cx="421" cy="440"/>
          </p:xfrm>
          <a:graphic>
            <a:graphicData uri="http://schemas.openxmlformats.org/presentationml/2006/ole">
              <mc:AlternateContent xmlns:mc="http://schemas.openxmlformats.org/markup-compatibility/2006">
                <mc:Choice xmlns:v="urn:schemas-microsoft-com:vml" Requires="v">
                  <p:oleObj r:id="rId2" imgW="668338" imgH="698500" progId="Equation.3">
                    <p:embed/>
                  </p:oleObj>
                </mc:Choice>
                <mc:Fallback>
                  <p:oleObj r:id="rId2" imgW="668338" imgH="698500" progId="Equation.3">
                    <p:embed/>
                    <p:pic>
                      <p:nvPicPr>
                        <p:cNvPr id="15367" name="Object 12"/>
                        <p:cNvPicPr/>
                        <p:nvPr/>
                      </p:nvPicPr>
                      <p:blipFill>
                        <a:blip r:embed="rId3"/>
                        <a:stretch>
                          <a:fillRect/>
                        </a:stretch>
                      </p:blipFill>
                      <p:spPr>
                        <a:xfrm>
                          <a:off x="6180" y="1385"/>
                          <a:ext cx="421" cy="440"/>
                        </a:xfrm>
                        <a:prstGeom prst="rect">
                          <a:avLst/>
                        </a:prstGeom>
                        <a:noFill/>
                        <a:ln w="38100">
                          <a:noFill/>
                          <a:miter lim="800000"/>
                        </a:ln>
                      </p:spPr>
                    </p:pic>
                  </p:oleObj>
                </mc:Fallback>
              </mc:AlternateContent>
            </a:graphicData>
          </a:graphic>
        </p:graphicFrame>
      </p:grpSp>
      <p:grpSp>
        <p:nvGrpSpPr>
          <p:cNvPr id="15368" name="Group 15"/>
          <p:cNvGrpSpPr/>
          <p:nvPr/>
        </p:nvGrpSpPr>
        <p:grpSpPr>
          <a:xfrm>
            <a:off x="317502" y="1628777"/>
            <a:ext cx="9767887" cy="750887"/>
            <a:chOff x="429" y="1787"/>
            <a:chExt cx="6153" cy="473"/>
          </a:xfrm>
        </p:grpSpPr>
        <p:sp>
          <p:nvSpPr>
            <p:cNvPr id="15369" name="Text Box 16"/>
            <p:cNvSpPr/>
            <p:nvPr/>
          </p:nvSpPr>
          <p:spPr>
            <a:xfrm>
              <a:off x="429" y="1840"/>
              <a:ext cx="6153" cy="368"/>
            </a:xfrm>
            <a:prstGeom prst="rect">
              <a:avLst/>
            </a:prstGeom>
            <a:noFill/>
            <a:ln w="12700">
              <a:noFill/>
              <a:miter lim="800000"/>
            </a:ln>
          </p:spPr>
          <p:txBody>
            <a:bodyPr wrap="squar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1pPr>
              <a:lvl2pPr marL="4572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2pPr>
              <a:lvl3pPr marL="9144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3pPr>
              <a:lvl4pPr marL="13716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4pPr>
              <a:lvl5pPr marL="1828800" indent="0" algn="l" defTabSz="914400" rtl="0" eaLnBrk="1" fontAlgn="base" hangingPunct="1">
                <a:lnSpc>
                  <a:spcPct val="100000"/>
                </a:lnSpc>
                <a:spcBef>
                  <a:spcPct val="0"/>
                </a:spcBef>
                <a:spcAft>
                  <a:spcPct val="0"/>
                </a:spcAft>
                <a:buClrTx/>
                <a:buSzTx/>
                <a:buFontTx/>
                <a:buNone/>
                <a:defRPr lang="zh-CN" altLang="en-US" sz="2800" b="1" i="0" u="none" baseline="0">
                  <a:solidFill>
                    <a:schemeClr val="tx1"/>
                  </a:solidFill>
                  <a:latin typeface="Times New Roman" pitchFamily="18" charset="0"/>
                  <a:ea typeface="楷体_GB2312" pitchFamily="49" charset="-122"/>
                </a:defRPr>
              </a:lvl5pPr>
            </a:lstStyle>
            <a:p>
              <a:pPr lvl="0" eaLnBrk="0" hangingPunct="0"/>
              <a:r>
                <a:rPr lang="zh-CN" altLang="en-US" sz="3200" dirty="0">
                  <a:latin typeface="宋体" panose="02010600030101010101" pitchFamily="2" charset="-122"/>
                </a:rPr>
                <a:t>第</a:t>
              </a:r>
              <a:r>
                <a:rPr lang="en-US" altLang="zh-CN" sz="3200" dirty="0"/>
                <a:t>2</a:t>
              </a:r>
              <a:r>
                <a:rPr lang="zh-CN" altLang="en-US" sz="3200" dirty="0">
                  <a:latin typeface="宋体" panose="02010600030101010101" pitchFamily="2" charset="-122"/>
                </a:rPr>
                <a:t>步，求每一个组合中</a:t>
              </a:r>
              <a:r>
                <a:rPr lang="en-US" altLang="zh-CN" sz="3200" i="1" dirty="0"/>
                <a:t>m</a:t>
              </a:r>
              <a:r>
                <a:rPr lang="zh-CN" altLang="en-US" sz="3200" dirty="0">
                  <a:latin typeface="宋体" panose="02010600030101010101" pitchFamily="2" charset="-122"/>
                </a:rPr>
                <a:t>个元素的全排列数   ．</a:t>
              </a:r>
              <a:r>
                <a:rPr lang="zh-CN" altLang="en-US" sz="3200" dirty="0"/>
                <a:t> </a:t>
              </a:r>
            </a:p>
          </p:txBody>
        </p:sp>
        <p:graphicFrame>
          <p:nvGraphicFramePr>
            <p:cNvPr id="15370" name="Object 17"/>
            <p:cNvGraphicFramePr>
              <a:graphicFrameLocks noChangeAspect="1"/>
            </p:cNvGraphicFramePr>
            <p:nvPr>
              <p:extLst>
                <p:ext uri="{D42A27DB-BD31-4B8C-83A1-F6EECF244321}">
                  <p14:modId xmlns:p14="http://schemas.microsoft.com/office/powerpoint/2010/main" val="3521105317"/>
                </p:ext>
              </p:extLst>
            </p:nvPr>
          </p:nvGraphicFramePr>
          <p:xfrm>
            <a:off x="5426" y="1787"/>
            <a:ext cx="454" cy="473"/>
          </p:xfrm>
          <a:graphic>
            <a:graphicData uri="http://schemas.openxmlformats.org/presentationml/2006/ole">
              <mc:AlternateContent xmlns:mc="http://schemas.openxmlformats.org/markup-compatibility/2006">
                <mc:Choice xmlns:v="urn:schemas-microsoft-com:vml" Requires="v">
                  <p:oleObj r:id="rId4" imgW="720725" imgH="750887" progId="Equation.3">
                    <p:embed/>
                  </p:oleObj>
                </mc:Choice>
                <mc:Fallback>
                  <p:oleObj r:id="rId4" imgW="720725" imgH="750887" progId="Equation.3">
                    <p:embed/>
                    <p:pic>
                      <p:nvPicPr>
                        <p:cNvPr id="15370" name="Object 17"/>
                        <p:cNvPicPr/>
                        <p:nvPr/>
                      </p:nvPicPr>
                      <p:blipFill>
                        <a:blip r:embed="rId5"/>
                        <a:stretch>
                          <a:fillRect/>
                        </a:stretch>
                      </p:blipFill>
                      <p:spPr>
                        <a:xfrm>
                          <a:off x="5426" y="1787"/>
                          <a:ext cx="454" cy="473"/>
                        </a:xfrm>
                        <a:prstGeom prst="rect">
                          <a:avLst/>
                        </a:prstGeom>
                        <a:noFill/>
                        <a:ln w="38100">
                          <a:noFill/>
                          <a:miter lim="800000"/>
                        </a:ln>
                      </p:spPr>
                    </p:pic>
                  </p:oleObj>
                </mc:Fallback>
              </mc:AlternateContent>
            </a:graphicData>
          </a:graphic>
        </p:graphicFrame>
      </p:grpSp>
      <p:graphicFrame>
        <p:nvGraphicFramePr>
          <p:cNvPr id="15371" name="Object 19"/>
          <p:cNvGraphicFramePr>
            <a:graphicFrameLocks noChangeAspect="1"/>
          </p:cNvGraphicFramePr>
          <p:nvPr>
            <p:extLst>
              <p:ext uri="{D42A27DB-BD31-4B8C-83A1-F6EECF244321}">
                <p14:modId xmlns:p14="http://schemas.microsoft.com/office/powerpoint/2010/main" val="3807606754"/>
              </p:ext>
            </p:extLst>
          </p:nvPr>
        </p:nvGraphicFramePr>
        <p:xfrm>
          <a:off x="6422151" y="2957513"/>
          <a:ext cx="1905000" cy="542925"/>
        </p:xfrm>
        <a:graphic>
          <a:graphicData uri="http://schemas.openxmlformats.org/presentationml/2006/ole">
            <mc:AlternateContent xmlns:mc="http://schemas.openxmlformats.org/markup-compatibility/2006">
              <mc:Choice xmlns:v="urn:schemas-microsoft-com:vml" Requires="v">
                <p:oleObj r:id="rId6" imgW="1905000" imgH="542925" progId="Equation.3">
                  <p:embed/>
                </p:oleObj>
              </mc:Choice>
              <mc:Fallback>
                <p:oleObj r:id="rId6" imgW="1905000" imgH="542925" progId="Equation.3">
                  <p:embed/>
                  <p:pic>
                    <p:nvPicPr>
                      <p:cNvPr id="15371" name="Object 19"/>
                      <p:cNvPicPr/>
                      <p:nvPr/>
                    </p:nvPicPr>
                    <p:blipFill>
                      <a:blip r:embed="rId7"/>
                      <a:stretch>
                        <a:fillRect/>
                      </a:stretch>
                    </p:blipFill>
                    <p:spPr>
                      <a:xfrm>
                        <a:off x="6422151" y="2957513"/>
                        <a:ext cx="1905000" cy="542925"/>
                      </a:xfrm>
                      <a:prstGeom prst="rect">
                        <a:avLst/>
                      </a:prstGeom>
                      <a:noFill/>
                      <a:ln w="38100">
                        <a:noFill/>
                        <a:miter lim="800000"/>
                      </a:ln>
                    </p:spPr>
                  </p:pic>
                </p:oleObj>
              </mc:Fallback>
            </mc:AlternateContent>
          </a:graphicData>
        </a:graphic>
      </p:graphicFrame>
      <p:graphicFrame>
        <p:nvGraphicFramePr>
          <p:cNvPr id="15372" name="Object 20"/>
          <p:cNvGraphicFramePr>
            <a:graphicFrameLocks noChangeAspect="1"/>
          </p:cNvGraphicFramePr>
          <p:nvPr>
            <p:extLst>
              <p:ext uri="{D42A27DB-BD31-4B8C-83A1-F6EECF244321}">
                <p14:modId xmlns:p14="http://schemas.microsoft.com/office/powerpoint/2010/main" val="3386921204"/>
              </p:ext>
            </p:extLst>
          </p:nvPr>
        </p:nvGraphicFramePr>
        <p:xfrm>
          <a:off x="2943447" y="3621881"/>
          <a:ext cx="5791200" cy="1119188"/>
        </p:xfrm>
        <a:graphic>
          <a:graphicData uri="http://schemas.openxmlformats.org/presentationml/2006/ole">
            <mc:AlternateContent xmlns:mc="http://schemas.openxmlformats.org/markup-compatibility/2006">
              <mc:Choice xmlns:v="urn:schemas-microsoft-com:vml" Requires="v">
                <p:oleObj r:id="rId8" imgW="5791200" imgH="1119188" progId="Equation.3">
                  <p:embed/>
                </p:oleObj>
              </mc:Choice>
              <mc:Fallback>
                <p:oleObj r:id="rId8" imgW="5791200" imgH="1119188" progId="Equation.3">
                  <p:embed/>
                  <p:pic>
                    <p:nvPicPr>
                      <p:cNvPr id="15372" name="Object 20"/>
                      <p:cNvPicPr/>
                      <p:nvPr/>
                    </p:nvPicPr>
                    <p:blipFill>
                      <a:blip r:embed="rId9">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clrChange useA="0">
                          <a:clrFrom>
                            <a:srgbClr val="000000"/>
                          </a:clrFrom>
                          <a:clrTo>
                            <a:srgbClr val="FF3300"/>
                          </a:clrTo>
                        </a:clrChange>
                      </a:blip>
                      <a:stretch>
                        <a:fillRect/>
                      </a:stretch>
                    </p:blipFill>
                    <p:spPr>
                      <a:xfrm>
                        <a:off x="2943447" y="3621881"/>
                        <a:ext cx="5791200" cy="1119188"/>
                      </a:xfrm>
                      <a:prstGeom prst="rect">
                        <a:avLst/>
                      </a:prstGeom>
                      <a:noFill/>
                      <a:ln w="38100">
                        <a:noFill/>
                        <a:miter lim="800000"/>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42" fill="hold" nodeType="clickEffect">
                                  <p:stCondLst>
                                    <p:cond delay="0"/>
                                  </p:stCondLst>
                                  <p:childTnLst>
                                    <p:set>
                                      <p:cBhvr>
                                        <p:cTn id="6" dur="1" fill="hold">
                                          <p:stCondLst>
                                            <p:cond delay="0"/>
                                          </p:stCondLst>
                                        </p:cTn>
                                        <p:tgtEl>
                                          <p:spTgt spid="15365"/>
                                        </p:tgtEl>
                                        <p:attrNameLst>
                                          <p:attrName>style.visibility</p:attrName>
                                        </p:attrNameLst>
                                      </p:cBhvr>
                                      <p:to>
                                        <p:strVal val="visible"/>
                                      </p:to>
                                    </p:set>
                                    <p:animEffect transition="in" filter="barn(outHorizontal)">
                                      <p:cBhvr>
                                        <p:cTn id="7" dur="500" fill="hold"/>
                                        <p:tgtEl>
                                          <p:spTgt spid="15365"/>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15368"/>
                                        </p:tgtEl>
                                        <p:attrNameLst>
                                          <p:attrName>style.visibility</p:attrName>
                                        </p:attrNameLst>
                                      </p:cBhvr>
                                      <p:to>
                                        <p:strVal val="visible"/>
                                      </p:to>
                                    </p:set>
                                    <p:animEffect transition="in" filter="barn(inVertical)">
                                      <p:cBhvr>
                                        <p:cTn id="12" dur="500" fill="hold"/>
                                        <p:tgtEl>
                                          <p:spTgt spid="15368"/>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 presetClass="entr" presetSubtype="0" fill="hold" grpId="0" nodeType="clickEffect">
                                  <p:stCondLst>
                                    <p:cond delay="0"/>
                                  </p:stCondLst>
                                  <p:iterate type="lt">
                                    <p:tmAbs val="75"/>
                                  </p:iterate>
                                  <p:childTnLst>
                                    <p:set>
                                      <p:cBhvr>
                                        <p:cTn id="16" dur="1" fill="hold">
                                          <p:stCondLst>
                                            <p:cond delay="74"/>
                                          </p:stCondLst>
                                        </p:cTn>
                                        <p:tgtEl>
                                          <p:spTgt spid="15362"/>
                                        </p:tgtEl>
                                        <p:attrNameLst>
                                          <p:attrName>style.visibility</p:attrName>
                                        </p:attrNameLst>
                                      </p:cBhvr>
                                      <p:to>
                                        <p:strVal val="visible"/>
                                      </p:to>
                                    </p:set>
                                  </p:childTnLst>
                                </p:cTn>
                              </p:par>
                            </p:childTnLst>
                          </p:cTn>
                        </p:par>
                        <p:par>
                          <p:cTn id="17" fill="hold" nodeType="afterGroup">
                            <p:stCondLst>
                              <p:cond delay="75"/>
                            </p:stCondLst>
                            <p:childTnLst>
                              <p:par>
                                <p:cTn id="18" presetID="12" presetClass="entr" presetSubtype="8" fill="hold" nodeType="afterEffect">
                                  <p:stCondLst>
                                    <p:cond delay="0"/>
                                  </p:stCondLst>
                                  <p:childTnLst>
                                    <p:set>
                                      <p:cBhvr>
                                        <p:cTn id="19" dur="1" fill="hold">
                                          <p:stCondLst>
                                            <p:cond delay="0"/>
                                          </p:stCondLst>
                                        </p:cTn>
                                        <p:tgtEl>
                                          <p:spTgt spid="15371"/>
                                        </p:tgtEl>
                                        <p:attrNameLst>
                                          <p:attrName>style.visibility</p:attrName>
                                        </p:attrNameLst>
                                      </p:cBhvr>
                                      <p:to>
                                        <p:strVal val="visible"/>
                                      </p:to>
                                    </p:set>
                                    <p:animEffect transition="in" filter="slide(fromLeft)">
                                      <p:cBhvr>
                                        <p:cTn id="20" dur="500" fill="hold"/>
                                        <p:tgtEl>
                                          <p:spTgt spid="15371"/>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1" presetClass="entr" presetSubtype="0" fill="hold" grpId="0" nodeType="clickEffect">
                                  <p:stCondLst>
                                    <p:cond delay="0"/>
                                  </p:stCondLst>
                                  <p:iterate type="lt">
                                    <p:tmAbs val="75"/>
                                  </p:iterate>
                                  <p:childTnLst>
                                    <p:set>
                                      <p:cBhvr>
                                        <p:cTn id="24" dur="1" fill="hold">
                                          <p:stCondLst>
                                            <p:cond delay="74"/>
                                          </p:stCondLst>
                                        </p:cTn>
                                        <p:tgtEl>
                                          <p:spTgt spid="1536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afterGroup">
                            <p:stCondLst>
                              <p:cond delay="0"/>
                            </p:stCondLst>
                            <p:childTnLst>
                              <p:par>
                                <p:cTn id="27" presetID="12" presetClass="entr" presetSubtype="8" fill="hold" nodeType="clickEffect">
                                  <p:stCondLst>
                                    <p:cond delay="0"/>
                                  </p:stCondLst>
                                  <p:childTnLst>
                                    <p:set>
                                      <p:cBhvr>
                                        <p:cTn id="28" dur="1" fill="hold">
                                          <p:stCondLst>
                                            <p:cond delay="0"/>
                                          </p:stCondLst>
                                        </p:cTn>
                                        <p:tgtEl>
                                          <p:spTgt spid="15372"/>
                                        </p:tgtEl>
                                        <p:attrNameLst>
                                          <p:attrName>style.visibility</p:attrName>
                                        </p:attrNameLst>
                                      </p:cBhvr>
                                      <p:to>
                                        <p:strVal val="visible"/>
                                      </p:to>
                                    </p:set>
                                    <p:animEffect transition="in" filter="slide(fromLeft)">
                                      <p:cBhvr>
                                        <p:cTn id="29" dur="500" fill="hold"/>
                                        <p:tgtEl>
                                          <p:spTgt spid="15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36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7" name="Rectangle 3">
            <a:extLst>
              <a:ext uri="{FF2B5EF4-FFF2-40B4-BE49-F238E27FC236}">
                <a16:creationId xmlns:a16="http://schemas.microsoft.com/office/drawing/2014/main" id="{82361067-D66C-435C-81CD-C79668C9E763}"/>
              </a:ext>
            </a:extLst>
          </p:cNvPr>
          <p:cNvSpPr>
            <a:spLocks noGrp="1" noChangeArrowheads="1"/>
          </p:cNvSpPr>
          <p:nvPr>
            <p:ph type="body" sz="half" idx="1"/>
          </p:nvPr>
        </p:nvSpPr>
        <p:spPr>
          <a:xfrm>
            <a:off x="170743" y="79023"/>
            <a:ext cx="12021257" cy="1682044"/>
          </a:xfrm>
        </p:spPr>
        <p:txBody>
          <a:bodyPr>
            <a:normAutofit/>
          </a:bodyPr>
          <a:lstStyle/>
          <a:p>
            <a:pPr marL="0" indent="0">
              <a:buNone/>
            </a:pPr>
            <a:r>
              <a:rPr lang="zh-CN" altLang="en-US" b="1" dirty="0">
                <a:solidFill>
                  <a:srgbClr val="3324FA"/>
                </a:solidFill>
                <a:latin typeface="Times New Roman" pitchFamily="18" charset="0"/>
                <a:ea typeface="黑体" panose="02010609060101010101" pitchFamily="49" charset="-122"/>
                <a:cs typeface="Times New Roman" pitchFamily="18" charset="0"/>
              </a:rPr>
              <a:t>例：以</a:t>
            </a:r>
            <a:r>
              <a:rPr lang="en-US" altLang="zh-CN" b="1" dirty="0" err="1">
                <a:solidFill>
                  <a:srgbClr val="3324FA"/>
                </a:solidFill>
                <a:latin typeface="Times New Roman" pitchFamily="18" charset="0"/>
                <a:ea typeface="黑体" panose="02010609060101010101" pitchFamily="49" charset="-122"/>
                <a:cs typeface="Times New Roman" pitchFamily="18" charset="0"/>
              </a:rPr>
              <a:t>AaBb</a:t>
            </a:r>
            <a:r>
              <a:rPr lang="zh-CN" altLang="en-US" b="1" dirty="0">
                <a:solidFill>
                  <a:srgbClr val="3324FA"/>
                </a:solidFill>
                <a:latin typeface="Times New Roman" pitchFamily="18" charset="0"/>
                <a:ea typeface="黑体" panose="02010609060101010101" pitchFamily="49" charset="-122"/>
                <a:cs typeface="Times New Roman" pitchFamily="18" charset="0"/>
              </a:rPr>
              <a:t>为例，用二项式展开分析其后代群体的</a:t>
            </a:r>
            <a:r>
              <a:rPr lang="zh-CN" altLang="en-US" b="1" dirty="0">
                <a:solidFill>
                  <a:srgbClr val="FF0000"/>
                </a:solidFill>
                <a:latin typeface="Times New Roman" pitchFamily="18" charset="0"/>
                <a:ea typeface="黑体" panose="02010609060101010101" pitchFamily="49" charset="-122"/>
                <a:cs typeface="Times New Roman" pitchFamily="18" charset="0"/>
              </a:rPr>
              <a:t>基因</a:t>
            </a:r>
            <a:r>
              <a:rPr lang="zh-CN" altLang="en-US" b="1" dirty="0">
                <a:solidFill>
                  <a:srgbClr val="3324FA"/>
                </a:solidFill>
                <a:latin typeface="Times New Roman" pitchFamily="18" charset="0"/>
                <a:ea typeface="黑体" panose="02010609060101010101" pitchFamily="49" charset="-122"/>
                <a:cs typeface="Times New Roman" pitchFamily="18" charset="0"/>
              </a:rPr>
              <a:t>结构：</a:t>
            </a:r>
          </a:p>
          <a:p>
            <a:pPr marL="0" indent="0">
              <a:buNone/>
            </a:pPr>
            <a:r>
              <a:rPr lang="zh-CN" altLang="en-US" b="1" dirty="0">
                <a:latin typeface="Times New Roman" pitchFamily="18" charset="0"/>
                <a:ea typeface="黑体" panose="02010609060101010101" pitchFamily="49" charset="-122"/>
                <a:cs typeface="Times New Roman" pitchFamily="18" charset="0"/>
              </a:rPr>
              <a:t>显性基因</a:t>
            </a:r>
            <a:r>
              <a:rPr lang="en-US" altLang="zh-CN" b="1" dirty="0">
                <a:latin typeface="Times New Roman" pitchFamily="18" charset="0"/>
                <a:ea typeface="黑体" panose="02010609060101010101" pitchFamily="49" charset="-122"/>
                <a:cs typeface="Times New Roman" pitchFamily="18" charset="0"/>
              </a:rPr>
              <a:t>A</a:t>
            </a:r>
            <a:r>
              <a:rPr lang="zh-CN" altLang="en-US" b="1" dirty="0">
                <a:latin typeface="Times New Roman" pitchFamily="18" charset="0"/>
                <a:ea typeface="黑体" panose="02010609060101010101" pitchFamily="49" charset="-122"/>
                <a:cs typeface="Times New Roman" pitchFamily="18" charset="0"/>
              </a:rPr>
              <a:t>或</a:t>
            </a:r>
            <a:r>
              <a:rPr lang="en-US" altLang="zh-CN" b="1" dirty="0">
                <a:latin typeface="Times New Roman" pitchFamily="18" charset="0"/>
                <a:ea typeface="黑体" panose="02010609060101010101" pitchFamily="49" charset="-122"/>
                <a:cs typeface="Times New Roman" pitchFamily="18" charset="0"/>
              </a:rPr>
              <a:t>B</a:t>
            </a:r>
            <a:r>
              <a:rPr lang="zh-CN" altLang="en-US" b="1" dirty="0">
                <a:latin typeface="Times New Roman" pitchFamily="18" charset="0"/>
                <a:ea typeface="黑体" panose="02010609060101010101" pitchFamily="49" charset="-122"/>
                <a:cs typeface="Times New Roman" pitchFamily="18" charset="0"/>
              </a:rPr>
              <a:t>出现的概率</a:t>
            </a:r>
            <a:r>
              <a:rPr lang="en-US" altLang="zh-CN" b="1" dirty="0">
                <a:latin typeface="Times New Roman" pitchFamily="18" charset="0"/>
                <a:ea typeface="黑体" panose="02010609060101010101" pitchFamily="49" charset="-122"/>
                <a:cs typeface="Times New Roman" pitchFamily="18" charset="0"/>
              </a:rPr>
              <a:t>p = 1/2</a:t>
            </a:r>
            <a:r>
              <a:rPr lang="zh-CN" altLang="en-US" b="1" dirty="0">
                <a:latin typeface="Times New Roman" pitchFamily="18" charset="0"/>
                <a:ea typeface="黑体" panose="02010609060101010101" pitchFamily="49" charset="-122"/>
                <a:cs typeface="Times New Roman" pitchFamily="18" charset="0"/>
              </a:rPr>
              <a:t>，隐性基因</a:t>
            </a:r>
            <a:r>
              <a:rPr lang="en-US" altLang="zh-CN" b="1" dirty="0">
                <a:latin typeface="Times New Roman" pitchFamily="18" charset="0"/>
                <a:ea typeface="黑体" panose="02010609060101010101" pitchFamily="49" charset="-122"/>
                <a:cs typeface="Times New Roman" pitchFamily="18" charset="0"/>
              </a:rPr>
              <a:t>a</a:t>
            </a:r>
            <a:r>
              <a:rPr lang="zh-CN" altLang="en-US" b="1" dirty="0">
                <a:latin typeface="Times New Roman" pitchFamily="18" charset="0"/>
                <a:ea typeface="黑体" panose="02010609060101010101" pitchFamily="49" charset="-122"/>
                <a:cs typeface="Times New Roman" pitchFamily="18" charset="0"/>
              </a:rPr>
              <a:t>或</a:t>
            </a:r>
            <a:r>
              <a:rPr lang="en-US" altLang="zh-CN" b="1" dirty="0">
                <a:latin typeface="Times New Roman" pitchFamily="18" charset="0"/>
                <a:ea typeface="黑体" panose="02010609060101010101" pitchFamily="49" charset="-122"/>
                <a:cs typeface="Times New Roman" pitchFamily="18" charset="0"/>
              </a:rPr>
              <a:t>b</a:t>
            </a:r>
            <a:r>
              <a:rPr lang="zh-CN" altLang="en-US" b="1" dirty="0">
                <a:latin typeface="Times New Roman" pitchFamily="18" charset="0"/>
                <a:ea typeface="黑体" panose="02010609060101010101" pitchFamily="49" charset="-122"/>
                <a:cs typeface="Times New Roman" pitchFamily="18" charset="0"/>
              </a:rPr>
              <a:t>出现的概率</a:t>
            </a:r>
            <a:r>
              <a:rPr lang="en-US" altLang="zh-CN" b="1" dirty="0">
                <a:latin typeface="Times New Roman" pitchFamily="18" charset="0"/>
                <a:ea typeface="黑体" panose="02010609060101010101" pitchFamily="49" charset="-122"/>
                <a:cs typeface="Times New Roman" pitchFamily="18" charset="0"/>
              </a:rPr>
              <a:t>q = 1/2</a:t>
            </a:r>
            <a:r>
              <a:rPr lang="zh-CN" altLang="en-US" b="1" dirty="0">
                <a:latin typeface="Times New Roman" pitchFamily="18" charset="0"/>
                <a:ea typeface="黑体" panose="02010609060101010101" pitchFamily="49" charset="-122"/>
                <a:cs typeface="Times New Roman" pitchFamily="18" charset="0"/>
              </a:rPr>
              <a:t>。</a:t>
            </a:r>
            <a:endParaRPr lang="en-US" altLang="zh-CN" b="1" dirty="0">
              <a:latin typeface="Times New Roman" pitchFamily="18" charset="0"/>
              <a:ea typeface="黑体" panose="02010609060101010101" pitchFamily="49" charset="-122"/>
              <a:cs typeface="Times New Roman" pitchFamily="18" charset="0"/>
            </a:endParaRPr>
          </a:p>
          <a:p>
            <a:pPr marL="0" indent="0">
              <a:buNone/>
            </a:pPr>
            <a:r>
              <a:rPr lang="en-US" altLang="zh-CN" b="1" dirty="0">
                <a:latin typeface="Times New Roman" pitchFamily="18" charset="0"/>
                <a:ea typeface="黑体" panose="02010609060101010101" pitchFamily="49" charset="-122"/>
                <a:cs typeface="Times New Roman" pitchFamily="18" charset="0"/>
              </a:rPr>
              <a:t>n = </a:t>
            </a:r>
            <a:r>
              <a:rPr lang="zh-CN" altLang="en-US" b="1" dirty="0">
                <a:latin typeface="Times New Roman" pitchFamily="18" charset="0"/>
                <a:ea typeface="黑体" panose="02010609060101010101" pitchFamily="49" charset="-122"/>
                <a:cs typeface="Times New Roman" pitchFamily="18" charset="0"/>
              </a:rPr>
              <a:t>杂合基因个数</a:t>
            </a:r>
            <a:r>
              <a:rPr lang="en-US" altLang="zh-CN" b="1" dirty="0">
                <a:latin typeface="Times New Roman" pitchFamily="18" charset="0"/>
                <a:ea typeface="黑体" panose="02010609060101010101" pitchFamily="49" charset="-122"/>
                <a:cs typeface="Times New Roman" pitchFamily="18" charset="0"/>
              </a:rPr>
              <a:t>= 4</a:t>
            </a:r>
            <a:r>
              <a:rPr lang="zh-CN" altLang="en-US" b="1" dirty="0">
                <a:latin typeface="Times New Roman" pitchFamily="18" charset="0"/>
                <a:ea typeface="黑体" panose="02010609060101010101" pitchFamily="49" charset="-122"/>
                <a:cs typeface="Times New Roman" pitchFamily="18" charset="0"/>
              </a:rPr>
              <a:t>。则代入二项式展开为：</a:t>
            </a:r>
          </a:p>
        </p:txBody>
      </p:sp>
      <p:pic>
        <p:nvPicPr>
          <p:cNvPr id="420868" name="Picture 4">
            <a:extLst>
              <a:ext uri="{FF2B5EF4-FFF2-40B4-BE49-F238E27FC236}">
                <a16:creationId xmlns:a16="http://schemas.microsoft.com/office/drawing/2014/main" id="{27F994CF-B1E7-4367-A3CD-52D92A01DE0E}"/>
              </a:ext>
            </a:extLst>
          </p:cNvPr>
          <p:cNvPicPr>
            <a:picLocks noGrp="1" noChangeAspect="1" noChangeArrowheads="1"/>
          </p:cNvPicPr>
          <p:nvPr>
            <p:ph sz="half" idx="2"/>
          </p:nvPr>
        </p:nvPicPr>
        <p:blipFill>
          <a:blip r:embed="rId2" cstate="print">
            <a:biLevel thresh="75000"/>
            <a:extLst>
              <a:ext uri="{28A0092B-C50C-407E-A947-70E740481C1C}">
                <a14:useLocalDpi xmlns:a14="http://schemas.microsoft.com/office/drawing/2010/main" val="0"/>
              </a:ext>
            </a:extLst>
          </a:blip>
          <a:srcRect/>
          <a:stretch>
            <a:fillRect/>
          </a:stretch>
        </p:blipFill>
        <p:spPr>
          <a:xfrm>
            <a:off x="615245" y="1569155"/>
            <a:ext cx="10588977" cy="2794000"/>
          </a:xfr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282223" y="4445630"/>
            <a:ext cx="11255022" cy="1242873"/>
          </a:xfrm>
          <a:prstGeom prst="rect">
            <a:avLst/>
          </a:prstGeom>
        </p:spPr>
        <p:txBody>
          <a:bodyPr vert="horz" lIns="91440" tIns="45720" rIns="91440" bIns="45720" rtlCol="0">
            <a:noAutofit/>
          </a:bodyPr>
          <a:lstStyle/>
          <a:p>
            <a:pPr>
              <a:lnSpc>
                <a:spcPct val="90000"/>
              </a:lnSpc>
              <a:spcBef>
                <a:spcPts val="1000"/>
              </a:spcBef>
              <a:buFont typeface="Arial" panose="020B0604020202020204" pitchFamily="34" charset="0"/>
              <a:buNone/>
            </a:pPr>
            <a:r>
              <a:rPr lang="zh-CN" altLang="en-US" sz="3200" b="1" dirty="0">
                <a:solidFill>
                  <a:srgbClr val="FF0000"/>
                </a:solidFill>
                <a:latin typeface="Times New Roman" pitchFamily="18" charset="0"/>
                <a:ea typeface="黑体" panose="02010609060101010101" pitchFamily="49" charset="-122"/>
                <a:cs typeface="Times New Roman" pitchFamily="18" charset="0"/>
              </a:rPr>
              <a:t>计算所得的各项概率：</a:t>
            </a:r>
            <a:r>
              <a:rPr lang="en-US" altLang="zh-CN" sz="3200" b="1" dirty="0">
                <a:solidFill>
                  <a:srgbClr val="FF0000"/>
                </a:solidFill>
                <a:latin typeface="Times New Roman" pitchFamily="18" charset="0"/>
                <a:ea typeface="黑体" panose="02010609060101010101" pitchFamily="49" charset="-122"/>
                <a:cs typeface="Times New Roman" pitchFamily="18" charset="0"/>
              </a:rPr>
              <a:t>4</a:t>
            </a:r>
            <a:r>
              <a:rPr lang="zh-CN" altLang="en-US" sz="3200" b="1" dirty="0">
                <a:solidFill>
                  <a:srgbClr val="FF0000"/>
                </a:solidFill>
                <a:latin typeface="Times New Roman" pitchFamily="18" charset="0"/>
                <a:ea typeface="黑体" panose="02010609060101010101" pitchFamily="49" charset="-122"/>
                <a:cs typeface="Times New Roman" pitchFamily="18" charset="0"/>
              </a:rPr>
              <a:t>显性基因为</a:t>
            </a:r>
            <a:r>
              <a:rPr lang="en-US" altLang="zh-CN" sz="3200" b="1" dirty="0">
                <a:solidFill>
                  <a:srgbClr val="FF0000"/>
                </a:solidFill>
                <a:latin typeface="Times New Roman" pitchFamily="18" charset="0"/>
                <a:ea typeface="黑体" panose="02010609060101010101" pitchFamily="49" charset="-122"/>
                <a:cs typeface="Times New Roman" pitchFamily="18" charset="0"/>
              </a:rPr>
              <a:t>1/16</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3</a:t>
            </a:r>
            <a:r>
              <a:rPr lang="zh-CN" altLang="en-US" sz="3200" b="1" dirty="0">
                <a:solidFill>
                  <a:srgbClr val="FF0000"/>
                </a:solidFill>
                <a:latin typeface="Times New Roman" pitchFamily="18" charset="0"/>
                <a:ea typeface="黑体" panose="02010609060101010101" pitchFamily="49" charset="-122"/>
                <a:cs typeface="Times New Roman" pitchFamily="18" charset="0"/>
              </a:rPr>
              <a:t>显性和</a:t>
            </a:r>
            <a:r>
              <a:rPr lang="en-US" altLang="zh-CN" sz="3200" b="1" dirty="0">
                <a:solidFill>
                  <a:srgbClr val="FF0000"/>
                </a:solidFill>
                <a:latin typeface="Times New Roman" pitchFamily="18" charset="0"/>
                <a:ea typeface="黑体" panose="02010609060101010101" pitchFamily="49" charset="-122"/>
                <a:cs typeface="Times New Roman" pitchFamily="18" charset="0"/>
              </a:rPr>
              <a:t>1</a:t>
            </a:r>
            <a:r>
              <a:rPr lang="zh-CN" altLang="en-US" sz="3200" b="1" dirty="0">
                <a:solidFill>
                  <a:srgbClr val="FF0000"/>
                </a:solidFill>
                <a:latin typeface="Times New Roman" pitchFamily="18" charset="0"/>
                <a:ea typeface="黑体" panose="02010609060101010101" pitchFamily="49" charset="-122"/>
                <a:cs typeface="Times New Roman" pitchFamily="18" charset="0"/>
              </a:rPr>
              <a:t>隐性基因为</a:t>
            </a:r>
            <a:r>
              <a:rPr lang="en-US" altLang="zh-CN" sz="3200" b="1" dirty="0">
                <a:solidFill>
                  <a:srgbClr val="FF0000"/>
                </a:solidFill>
                <a:latin typeface="Times New Roman" pitchFamily="18" charset="0"/>
                <a:ea typeface="黑体" panose="02010609060101010101" pitchFamily="49" charset="-122"/>
                <a:cs typeface="Times New Roman" pitchFamily="18" charset="0"/>
              </a:rPr>
              <a:t>4/16</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2</a:t>
            </a:r>
            <a:r>
              <a:rPr lang="zh-CN" altLang="en-US" sz="3200" b="1" dirty="0">
                <a:solidFill>
                  <a:srgbClr val="FF0000"/>
                </a:solidFill>
                <a:latin typeface="Times New Roman" pitchFamily="18" charset="0"/>
                <a:ea typeface="黑体" panose="02010609060101010101" pitchFamily="49" charset="-122"/>
                <a:cs typeface="Times New Roman" pitchFamily="18" charset="0"/>
              </a:rPr>
              <a:t>显性和</a:t>
            </a:r>
            <a:r>
              <a:rPr lang="en-US" altLang="zh-CN" sz="3200" b="1" dirty="0">
                <a:solidFill>
                  <a:srgbClr val="FF0000"/>
                </a:solidFill>
                <a:latin typeface="Times New Roman" pitchFamily="18" charset="0"/>
                <a:ea typeface="黑体" panose="02010609060101010101" pitchFamily="49" charset="-122"/>
                <a:cs typeface="Times New Roman" pitchFamily="18" charset="0"/>
              </a:rPr>
              <a:t>2</a:t>
            </a:r>
            <a:r>
              <a:rPr lang="zh-CN" altLang="en-US" sz="3200" b="1" dirty="0">
                <a:solidFill>
                  <a:srgbClr val="FF0000"/>
                </a:solidFill>
                <a:latin typeface="Times New Roman" pitchFamily="18" charset="0"/>
                <a:ea typeface="黑体" panose="02010609060101010101" pitchFamily="49" charset="-122"/>
                <a:cs typeface="Times New Roman" pitchFamily="18" charset="0"/>
              </a:rPr>
              <a:t>隐性基因为</a:t>
            </a:r>
            <a:r>
              <a:rPr lang="en-US" altLang="zh-CN" sz="3200" b="1" dirty="0">
                <a:solidFill>
                  <a:srgbClr val="FF0000"/>
                </a:solidFill>
                <a:latin typeface="Times New Roman" pitchFamily="18" charset="0"/>
                <a:ea typeface="黑体" panose="02010609060101010101" pitchFamily="49" charset="-122"/>
                <a:cs typeface="Times New Roman" pitchFamily="18" charset="0"/>
              </a:rPr>
              <a:t>6/16</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1</a:t>
            </a:r>
            <a:r>
              <a:rPr lang="zh-CN" altLang="en-US" sz="3200" b="1" dirty="0">
                <a:solidFill>
                  <a:srgbClr val="FF0000"/>
                </a:solidFill>
                <a:latin typeface="Times New Roman" pitchFamily="18" charset="0"/>
                <a:ea typeface="黑体" panose="02010609060101010101" pitchFamily="49" charset="-122"/>
                <a:cs typeface="Times New Roman" pitchFamily="18" charset="0"/>
              </a:rPr>
              <a:t>显性和</a:t>
            </a:r>
            <a:r>
              <a:rPr lang="en-US" altLang="zh-CN" sz="3200" b="1" dirty="0">
                <a:solidFill>
                  <a:srgbClr val="FF0000"/>
                </a:solidFill>
                <a:latin typeface="Times New Roman" pitchFamily="18" charset="0"/>
                <a:ea typeface="黑体" panose="02010609060101010101" pitchFamily="49" charset="-122"/>
                <a:cs typeface="Times New Roman" pitchFamily="18" charset="0"/>
              </a:rPr>
              <a:t>3</a:t>
            </a:r>
            <a:r>
              <a:rPr lang="zh-CN" altLang="en-US" sz="3200" b="1" dirty="0">
                <a:solidFill>
                  <a:srgbClr val="FF0000"/>
                </a:solidFill>
                <a:latin typeface="Times New Roman" pitchFamily="18" charset="0"/>
                <a:ea typeface="黑体" panose="02010609060101010101" pitchFamily="49" charset="-122"/>
                <a:cs typeface="Times New Roman" pitchFamily="18" charset="0"/>
              </a:rPr>
              <a:t>隐性基因为</a:t>
            </a:r>
            <a:r>
              <a:rPr lang="en-US" altLang="zh-CN" sz="3200" b="1" dirty="0">
                <a:solidFill>
                  <a:srgbClr val="FF0000"/>
                </a:solidFill>
                <a:latin typeface="Times New Roman" pitchFamily="18" charset="0"/>
                <a:ea typeface="黑体" panose="02010609060101010101" pitchFamily="49" charset="-122"/>
                <a:cs typeface="Times New Roman" pitchFamily="18" charset="0"/>
              </a:rPr>
              <a:t>4/16</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4</a:t>
            </a:r>
            <a:r>
              <a:rPr lang="zh-CN" altLang="en-US" sz="3200" b="1" dirty="0">
                <a:solidFill>
                  <a:srgbClr val="FF0000"/>
                </a:solidFill>
                <a:latin typeface="Times New Roman" pitchFamily="18" charset="0"/>
                <a:ea typeface="黑体" panose="02010609060101010101" pitchFamily="49" charset="-122"/>
                <a:cs typeface="Times New Roman" pitchFamily="18" charset="0"/>
              </a:rPr>
              <a:t>隐性基因为</a:t>
            </a:r>
            <a:r>
              <a:rPr lang="en-US" altLang="zh-CN" sz="3200" b="1" dirty="0">
                <a:solidFill>
                  <a:srgbClr val="FF0000"/>
                </a:solidFill>
                <a:latin typeface="Times New Roman" pitchFamily="18" charset="0"/>
                <a:ea typeface="黑体" panose="02010609060101010101" pitchFamily="49" charset="-122"/>
                <a:cs typeface="Times New Roman" pitchFamily="18" charset="0"/>
              </a:rPr>
              <a:t>1/16</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p>
        </p:txBody>
      </p:sp>
    </p:spTree>
    <p:extLst>
      <p:ext uri="{BB962C8B-B14F-4D97-AF65-F5344CB8AC3E}">
        <p14:creationId xmlns:p14="http://schemas.microsoft.com/office/powerpoint/2010/main" val="428881677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0868"/>
                                        </p:tgtEl>
                                        <p:attrNameLst>
                                          <p:attrName>style.visibility</p:attrName>
                                        </p:attrNameLst>
                                      </p:cBhvr>
                                      <p:to>
                                        <p:strVal val="visible"/>
                                      </p:to>
                                    </p:set>
                                    <p:animEffect transition="in" filter="fade">
                                      <p:cBhvr>
                                        <p:cTn id="7" dur="500"/>
                                        <p:tgtEl>
                                          <p:spTgt spid="4208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3" name="Rectangle 3">
            <a:extLst>
              <a:ext uri="{FF2B5EF4-FFF2-40B4-BE49-F238E27FC236}">
                <a16:creationId xmlns:a16="http://schemas.microsoft.com/office/drawing/2014/main" id="{65CE2347-8F0E-4B62-9F45-46FABDB80CBC}"/>
              </a:ext>
            </a:extLst>
          </p:cNvPr>
          <p:cNvSpPr>
            <a:spLocks noGrp="1" noChangeArrowheads="1"/>
          </p:cNvSpPr>
          <p:nvPr>
            <p:ph type="body" sz="half" idx="1"/>
          </p:nvPr>
        </p:nvSpPr>
        <p:spPr>
          <a:xfrm>
            <a:off x="820788" y="674863"/>
            <a:ext cx="8605434" cy="4439004"/>
          </a:xfrm>
        </p:spPr>
        <p:txBody>
          <a:bodyPr/>
          <a:lstStyle/>
          <a:p>
            <a:pPr marL="0" indent="0">
              <a:buNone/>
            </a:pPr>
            <a:r>
              <a:rPr lang="en-US" altLang="zh-CN" sz="3200" b="1" i="1" dirty="0">
                <a:latin typeface="黑体" panose="02010609060101010101" pitchFamily="49" charset="-122"/>
                <a:ea typeface="黑体" panose="02010609060101010101" pitchFamily="49" charset="-122"/>
              </a:rPr>
              <a:t>n</a:t>
            </a:r>
            <a:r>
              <a:rPr lang="zh-CN" altLang="en-US" sz="3200" b="1" dirty="0">
                <a:latin typeface="黑体" panose="02010609060101010101" pitchFamily="49" charset="-122"/>
                <a:ea typeface="黑体" panose="02010609060101010101" pitchFamily="49" charset="-122"/>
              </a:rPr>
              <a:t>代表杂合基因对数，则其二项式展开为： </a:t>
            </a:r>
          </a:p>
        </p:txBody>
      </p:sp>
      <p:pic>
        <p:nvPicPr>
          <p:cNvPr id="424964" name="Picture 4">
            <a:extLst>
              <a:ext uri="{FF2B5EF4-FFF2-40B4-BE49-F238E27FC236}">
                <a16:creationId xmlns:a16="http://schemas.microsoft.com/office/drawing/2014/main" id="{8CC22BFD-BE5E-4DE6-A167-5E28CB427991}"/>
              </a:ext>
            </a:extLst>
          </p:cNvPr>
          <p:cNvPicPr>
            <a:picLocks noGrp="1" noChangeAspect="1" noChangeArrowheads="1"/>
          </p:cNvPicPr>
          <p:nvPr>
            <p:ph sz="half" idx="2"/>
          </p:nvPr>
        </p:nvPicPr>
        <p:blipFill>
          <a:blip r:embed="rId2" cstate="print">
            <a:biLevel thresh="75000"/>
            <a:extLst>
              <a:ext uri="{28A0092B-C50C-407E-A947-70E740481C1C}">
                <a14:useLocalDpi xmlns:a14="http://schemas.microsoft.com/office/drawing/2010/main" val="0"/>
              </a:ext>
            </a:extLst>
          </a:blip>
          <a:srcRect/>
          <a:stretch>
            <a:fillRect/>
          </a:stretch>
        </p:blipFill>
        <p:spPr>
          <a:xfrm>
            <a:off x="1449298" y="1312170"/>
            <a:ext cx="7502790" cy="3802359"/>
          </a:xfr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39698" y="49579"/>
            <a:ext cx="8012130" cy="535531"/>
          </a:xfrm>
          <a:prstGeom prst="rect">
            <a:avLst/>
          </a:prstGeom>
        </p:spPr>
        <p:txBody>
          <a:bodyPr vert="horz" lIns="91440" tIns="45720" rIns="91440" bIns="45720" rtlCol="0">
            <a:noAutofit/>
          </a:bodyPr>
          <a:lstStyle/>
          <a:p>
            <a:pPr>
              <a:lnSpc>
                <a:spcPct val="90000"/>
              </a:lnSpc>
              <a:spcBef>
                <a:spcPts val="1000"/>
              </a:spcBef>
              <a:buFont typeface="Arial" panose="020B0604020202020204" pitchFamily="34" charset="0"/>
              <a:buNone/>
            </a:pPr>
            <a:r>
              <a:rPr lang="zh-CN" altLang="en-US" sz="3200" b="1" dirty="0">
                <a:solidFill>
                  <a:srgbClr val="3324FA"/>
                </a:solidFill>
                <a:latin typeface="Times New Roman" pitchFamily="18" charset="0"/>
                <a:ea typeface="黑体" panose="02010609060101010101" pitchFamily="49" charset="-122"/>
                <a:cs typeface="Times New Roman" pitchFamily="18" charset="0"/>
              </a:rPr>
              <a:t>用二项式展开分析后代群体的</a:t>
            </a:r>
            <a:r>
              <a:rPr lang="zh-CN" altLang="en-US" sz="3200" b="1" dirty="0">
                <a:solidFill>
                  <a:srgbClr val="FF0000"/>
                </a:solidFill>
                <a:latin typeface="Times New Roman" pitchFamily="18" charset="0"/>
                <a:ea typeface="黑体" panose="02010609060101010101" pitchFamily="49" charset="-122"/>
                <a:cs typeface="Times New Roman" pitchFamily="18" charset="0"/>
              </a:rPr>
              <a:t>性状表现</a:t>
            </a:r>
          </a:p>
        </p:txBody>
      </p:sp>
    </p:spTree>
    <p:extLst>
      <p:ext uri="{BB962C8B-B14F-4D97-AF65-F5344CB8AC3E}">
        <p14:creationId xmlns:p14="http://schemas.microsoft.com/office/powerpoint/2010/main" val="1993542018"/>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7" name="Rectangle 3">
            <a:extLst>
              <a:ext uri="{FF2B5EF4-FFF2-40B4-BE49-F238E27FC236}">
                <a16:creationId xmlns:a16="http://schemas.microsoft.com/office/drawing/2014/main" id="{1184C111-AD0F-40D8-ACE6-D1ECC2ABE035}"/>
              </a:ext>
            </a:extLst>
          </p:cNvPr>
          <p:cNvSpPr>
            <a:spLocks noGrp="1" noChangeArrowheads="1"/>
          </p:cNvSpPr>
          <p:nvPr>
            <p:ph type="body" sz="half" idx="1"/>
          </p:nvPr>
        </p:nvSpPr>
        <p:spPr>
          <a:xfrm>
            <a:off x="119945" y="271640"/>
            <a:ext cx="11891433" cy="879828"/>
          </a:xfrm>
        </p:spPr>
        <p:txBody>
          <a:bodyPr/>
          <a:lstStyle/>
          <a:p>
            <a:pPr marL="0" indent="0">
              <a:buNone/>
            </a:pPr>
            <a:r>
              <a:rPr lang="zh-CN" altLang="en-US" b="1" dirty="0">
                <a:latin typeface="黑体" panose="02010609060101010101" pitchFamily="49" charset="-122"/>
                <a:ea typeface="黑体" panose="02010609060101010101" pitchFamily="49" charset="-122"/>
              </a:rPr>
              <a:t>例：</a:t>
            </a:r>
            <a:r>
              <a:rPr lang="en-US" altLang="zh-CN" b="1" dirty="0" err="1">
                <a:latin typeface="黑体" panose="02010609060101010101" pitchFamily="49" charset="-122"/>
                <a:ea typeface="黑体" panose="02010609060101010101" pitchFamily="49" charset="-122"/>
              </a:rPr>
              <a:t>AaBb</a:t>
            </a:r>
            <a:r>
              <a:rPr lang="zh-CN" altLang="en-US" b="1" dirty="0">
                <a:latin typeface="黑体" panose="02010609060101010101" pitchFamily="49" charset="-122"/>
                <a:ea typeface="黑体" panose="02010609060101010101" pitchFamily="49" charset="-122"/>
              </a:rPr>
              <a:t>自交产生的</a:t>
            </a:r>
            <a:r>
              <a:rPr lang="en-US" altLang="zh-CN" b="1" dirty="0">
                <a:latin typeface="黑体" panose="02010609060101010101" pitchFamily="49" charset="-122"/>
                <a:ea typeface="黑体" panose="02010609060101010101" pitchFamily="49" charset="-122"/>
              </a:rPr>
              <a:t>F</a:t>
            </a:r>
            <a:r>
              <a:rPr lang="en-US" altLang="zh-CN" b="1" baseline="-25000"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群体，其表现型个体的概率按上述</a:t>
            </a:r>
            <a:r>
              <a:rPr lang="en-US" altLang="zh-CN" b="1" dirty="0">
                <a:latin typeface="黑体" panose="02010609060101010101" pitchFamily="49" charset="-122"/>
                <a:ea typeface="黑体" panose="02010609060101010101" pitchFamily="49" charset="-122"/>
              </a:rPr>
              <a:t>3/4</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1/4</a:t>
            </a:r>
            <a:r>
              <a:rPr lang="zh-CN" altLang="en-US" b="1" dirty="0">
                <a:latin typeface="黑体" panose="02010609060101010101" pitchFamily="49" charset="-122"/>
                <a:ea typeface="黑体" panose="02010609060101010101" pitchFamily="49" charset="-122"/>
              </a:rPr>
              <a:t>的概率代入二项式展开为：</a:t>
            </a:r>
          </a:p>
        </p:txBody>
      </p:sp>
      <p:pic>
        <p:nvPicPr>
          <p:cNvPr id="425988" name="Picture 4">
            <a:extLst>
              <a:ext uri="{FF2B5EF4-FFF2-40B4-BE49-F238E27FC236}">
                <a16:creationId xmlns:a16="http://schemas.microsoft.com/office/drawing/2014/main" id="{9387F865-3265-4885-BAD6-9CAD1760E1EB}"/>
              </a:ext>
            </a:extLst>
          </p:cNvPr>
          <p:cNvPicPr>
            <a:picLocks noGrp="1" noChangeAspect="1" noChangeArrowheads="1"/>
          </p:cNvPicPr>
          <p:nvPr>
            <p:ph sz="half" idx="2"/>
          </p:nvPr>
        </p:nvPicPr>
        <p:blipFill>
          <a:blip r:embed="rId2" cstate="print">
            <a:biLevel thresh="75000"/>
            <a:extLst>
              <a:ext uri="{28A0092B-C50C-407E-A947-70E740481C1C}">
                <a14:useLocalDpi xmlns:a14="http://schemas.microsoft.com/office/drawing/2010/main" val="0"/>
              </a:ext>
            </a:extLst>
          </a:blip>
          <a:srcRect/>
          <a:stretch>
            <a:fillRect/>
          </a:stretch>
        </p:blipFill>
        <p:spPr>
          <a:xfrm>
            <a:off x="2888280" y="1125036"/>
            <a:ext cx="6494462" cy="2325688"/>
          </a:xfr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304800" y="3702755"/>
            <a:ext cx="11029244" cy="835378"/>
          </a:xfrm>
          <a:prstGeom prst="rect">
            <a:avLst/>
          </a:prstGeom>
        </p:spPr>
        <p:txBody>
          <a:bodyPr vert="horz" lIns="91440" tIns="45720" rIns="91440" bIns="45720" rtlCol="0">
            <a:noAutofit/>
          </a:bodyPr>
          <a:lstStyle/>
          <a:p>
            <a:pPr>
              <a:lnSpc>
                <a:spcPct val="90000"/>
              </a:lnSpc>
              <a:spcBef>
                <a:spcPts val="1000"/>
              </a:spcBef>
              <a:buFont typeface="Arial" panose="020B0604020202020204" pitchFamily="34" charset="0"/>
              <a:buNone/>
            </a:pPr>
            <a:r>
              <a:rPr lang="zh-CN" altLang="en-US" sz="2800" b="1" dirty="0">
                <a:latin typeface="Times New Roman" pitchFamily="18" charset="0"/>
                <a:ea typeface="黑体" panose="02010609060101010101" pitchFamily="49" charset="-122"/>
                <a:cs typeface="Times New Roman" pitchFamily="18" charset="0"/>
              </a:rPr>
              <a:t>这表明具有两</a:t>
            </a:r>
            <a:r>
              <a:rPr lang="zh-CN" altLang="en-US" sz="2800" b="1" dirty="0">
                <a:solidFill>
                  <a:srgbClr val="FF0000"/>
                </a:solidFill>
                <a:latin typeface="Times New Roman" pitchFamily="18" charset="0"/>
                <a:ea typeface="黑体" panose="02010609060101010101" pitchFamily="49" charset="-122"/>
                <a:cs typeface="Times New Roman" pitchFamily="18" charset="0"/>
              </a:rPr>
              <a:t>个显性性状</a:t>
            </a:r>
            <a:r>
              <a:rPr lang="en-US" altLang="zh-CN" sz="2800" b="1" dirty="0">
                <a:latin typeface="Times New Roman" pitchFamily="18" charset="0"/>
                <a:ea typeface="黑体" panose="02010609060101010101" pitchFamily="49" charset="-122"/>
                <a:cs typeface="Times New Roman" pitchFamily="18" charset="0"/>
              </a:rPr>
              <a:t>(Y_R_)</a:t>
            </a:r>
            <a:r>
              <a:rPr lang="zh-CN" altLang="en-US" sz="2800" b="1" dirty="0">
                <a:latin typeface="Times New Roman" pitchFamily="18" charset="0"/>
                <a:ea typeface="黑体" panose="02010609060101010101" pitchFamily="49" charset="-122"/>
                <a:cs typeface="Times New Roman" pitchFamily="18" charset="0"/>
              </a:rPr>
              <a:t>的个体概率为</a:t>
            </a:r>
            <a:r>
              <a:rPr lang="en-US" altLang="zh-CN" sz="2800" b="1" dirty="0">
                <a:latin typeface="Times New Roman" pitchFamily="18" charset="0"/>
                <a:ea typeface="黑体" panose="02010609060101010101" pitchFamily="49" charset="-122"/>
                <a:cs typeface="Times New Roman" pitchFamily="18" charset="0"/>
              </a:rPr>
              <a:t>9/16</a:t>
            </a:r>
            <a:r>
              <a:rPr lang="zh-CN" altLang="en-US" sz="2800" b="1" dirty="0">
                <a:latin typeface="Times New Roman" pitchFamily="18" charset="0"/>
                <a:ea typeface="黑体" panose="02010609060101010101" pitchFamily="49" charset="-122"/>
                <a:cs typeface="Times New Roman" pitchFamily="18" charset="0"/>
              </a:rPr>
              <a:t>；</a:t>
            </a:r>
            <a:endParaRPr lang="en-US" altLang="zh-CN" sz="2800" b="1" dirty="0">
              <a:latin typeface="Times New Roman" pitchFamily="18" charset="0"/>
              <a:ea typeface="黑体" panose="02010609060101010101" pitchFamily="49" charset="-122"/>
              <a:cs typeface="Times New Roman" pitchFamily="18" charset="0"/>
            </a:endParaRPr>
          </a:p>
          <a:p>
            <a:pPr>
              <a:lnSpc>
                <a:spcPct val="90000"/>
              </a:lnSpc>
              <a:spcBef>
                <a:spcPts val="1000"/>
              </a:spcBef>
              <a:buFont typeface="Arial" panose="020B0604020202020204" pitchFamily="34" charset="0"/>
              <a:buNone/>
            </a:pPr>
            <a:r>
              <a:rPr lang="zh-CN" altLang="en-US" sz="2800" b="1" dirty="0">
                <a:solidFill>
                  <a:srgbClr val="FF0000"/>
                </a:solidFill>
                <a:latin typeface="Times New Roman" pitchFamily="18" charset="0"/>
                <a:ea typeface="黑体" panose="02010609060101010101" pitchFamily="49" charset="-122"/>
                <a:cs typeface="Times New Roman" pitchFamily="18" charset="0"/>
              </a:rPr>
              <a:t>一个显性性状和一个隐性性状</a:t>
            </a:r>
            <a:r>
              <a:rPr lang="en-US" altLang="zh-CN" sz="2800" b="1" dirty="0">
                <a:latin typeface="Times New Roman" pitchFamily="18" charset="0"/>
                <a:ea typeface="黑体" panose="02010609060101010101" pitchFamily="49" charset="-122"/>
                <a:cs typeface="Times New Roman" pitchFamily="18" charset="0"/>
              </a:rPr>
              <a:t>(</a:t>
            </a:r>
            <a:r>
              <a:rPr lang="en-US" altLang="zh-CN" sz="2800" b="1" dirty="0" err="1">
                <a:latin typeface="Times New Roman" pitchFamily="18" charset="0"/>
                <a:ea typeface="黑体" panose="02010609060101010101" pitchFamily="49" charset="-122"/>
                <a:cs typeface="Times New Roman" pitchFamily="18" charset="0"/>
              </a:rPr>
              <a:t>Y_rr</a:t>
            </a:r>
            <a:r>
              <a:rPr lang="zh-CN" altLang="en-US" sz="2800" b="1" dirty="0">
                <a:latin typeface="Times New Roman" pitchFamily="18" charset="0"/>
                <a:ea typeface="黑体" panose="02010609060101010101" pitchFamily="49" charset="-122"/>
                <a:cs typeface="Times New Roman" pitchFamily="18" charset="0"/>
              </a:rPr>
              <a:t>和</a:t>
            </a:r>
            <a:r>
              <a:rPr lang="en-US" altLang="zh-CN" sz="2800" b="1" dirty="0" err="1">
                <a:latin typeface="Times New Roman" pitchFamily="18" charset="0"/>
                <a:ea typeface="黑体" panose="02010609060101010101" pitchFamily="49" charset="-122"/>
                <a:cs typeface="Times New Roman" pitchFamily="18" charset="0"/>
              </a:rPr>
              <a:t>yyR</a:t>
            </a:r>
            <a:r>
              <a:rPr lang="en-US" altLang="zh-CN" sz="2800" b="1" dirty="0">
                <a:latin typeface="Times New Roman" pitchFamily="18" charset="0"/>
                <a:ea typeface="黑体" panose="02010609060101010101" pitchFamily="49" charset="-122"/>
                <a:cs typeface="Times New Roman" pitchFamily="18" charset="0"/>
              </a:rPr>
              <a:t>_)</a:t>
            </a:r>
            <a:r>
              <a:rPr lang="zh-CN" altLang="en-US" sz="2800" b="1" dirty="0">
                <a:latin typeface="Times New Roman" pitchFamily="18" charset="0"/>
                <a:ea typeface="黑体" panose="02010609060101010101" pitchFamily="49" charset="-122"/>
                <a:cs typeface="Times New Roman" pitchFamily="18" charset="0"/>
              </a:rPr>
              <a:t>的个体概率为</a:t>
            </a:r>
            <a:r>
              <a:rPr lang="en-US" altLang="zh-CN" sz="2800" b="1" dirty="0">
                <a:latin typeface="Times New Roman" pitchFamily="18" charset="0"/>
                <a:ea typeface="黑体" panose="02010609060101010101" pitchFamily="49" charset="-122"/>
                <a:cs typeface="Times New Roman" pitchFamily="18" charset="0"/>
              </a:rPr>
              <a:t>6/16</a:t>
            </a:r>
            <a:r>
              <a:rPr lang="zh-CN" altLang="en-US" sz="2800" b="1" dirty="0">
                <a:latin typeface="Times New Roman" pitchFamily="18" charset="0"/>
                <a:ea typeface="黑体" panose="02010609060101010101" pitchFamily="49" charset="-122"/>
                <a:cs typeface="Times New Roman" pitchFamily="18" charset="0"/>
              </a:rPr>
              <a:t>；</a:t>
            </a:r>
            <a:endParaRPr lang="en-US" altLang="zh-CN" sz="2800" b="1" dirty="0">
              <a:latin typeface="Times New Roman" pitchFamily="18" charset="0"/>
              <a:ea typeface="黑体" panose="02010609060101010101" pitchFamily="49" charset="-122"/>
              <a:cs typeface="Times New Roman" pitchFamily="18" charset="0"/>
            </a:endParaRPr>
          </a:p>
          <a:p>
            <a:pPr>
              <a:lnSpc>
                <a:spcPct val="90000"/>
              </a:lnSpc>
              <a:spcBef>
                <a:spcPts val="1000"/>
              </a:spcBef>
              <a:buFont typeface="Arial" panose="020B0604020202020204" pitchFamily="34" charset="0"/>
              <a:buNone/>
            </a:pPr>
            <a:r>
              <a:rPr lang="zh-CN" altLang="en-US" sz="2800" b="1" dirty="0">
                <a:solidFill>
                  <a:srgbClr val="FF0000"/>
                </a:solidFill>
                <a:latin typeface="Times New Roman" pitchFamily="18" charset="0"/>
                <a:ea typeface="黑体" panose="02010609060101010101" pitchFamily="49" charset="-122"/>
                <a:cs typeface="Times New Roman" pitchFamily="18" charset="0"/>
              </a:rPr>
              <a:t>两个隐性性状</a:t>
            </a:r>
            <a:r>
              <a:rPr lang="en-US" altLang="zh-CN" sz="2800" b="1" dirty="0">
                <a:latin typeface="Times New Roman" pitchFamily="18" charset="0"/>
                <a:ea typeface="黑体" panose="02010609060101010101" pitchFamily="49" charset="-122"/>
                <a:cs typeface="Times New Roman" pitchFamily="18" charset="0"/>
              </a:rPr>
              <a:t>(</a:t>
            </a:r>
            <a:r>
              <a:rPr lang="en-US" altLang="zh-CN" sz="2800" b="1" dirty="0" err="1">
                <a:latin typeface="Times New Roman" pitchFamily="18" charset="0"/>
                <a:ea typeface="黑体" panose="02010609060101010101" pitchFamily="49" charset="-122"/>
                <a:cs typeface="Times New Roman" pitchFamily="18" charset="0"/>
              </a:rPr>
              <a:t>yyrr</a:t>
            </a:r>
            <a:r>
              <a:rPr lang="en-US" altLang="zh-CN" sz="2800" b="1" dirty="0">
                <a:latin typeface="Times New Roman" pitchFamily="18" charset="0"/>
                <a:ea typeface="黑体" panose="02010609060101010101" pitchFamily="49" charset="-122"/>
                <a:cs typeface="Times New Roman" pitchFamily="18" charset="0"/>
              </a:rPr>
              <a:t>)</a:t>
            </a:r>
            <a:r>
              <a:rPr lang="zh-CN" altLang="en-US" sz="2800" b="1" dirty="0">
                <a:latin typeface="Times New Roman" pitchFamily="18" charset="0"/>
                <a:ea typeface="黑体" panose="02010609060101010101" pitchFamily="49" charset="-122"/>
                <a:cs typeface="Times New Roman" pitchFamily="18" charset="0"/>
              </a:rPr>
              <a:t>的个体概率为</a:t>
            </a:r>
            <a:r>
              <a:rPr lang="en-US" altLang="zh-CN" sz="2800" b="1" dirty="0">
                <a:latin typeface="Times New Roman" pitchFamily="18" charset="0"/>
                <a:ea typeface="黑体" panose="02010609060101010101" pitchFamily="49" charset="-122"/>
                <a:cs typeface="Times New Roman" pitchFamily="18" charset="0"/>
              </a:rPr>
              <a:t>1/16</a:t>
            </a:r>
            <a:endParaRPr lang="zh-CN" altLang="en-US" sz="2800" b="1" dirty="0">
              <a:latin typeface="Times New Roman" pitchFamily="18" charset="0"/>
              <a:ea typeface="黑体" panose="02010609060101010101" pitchFamily="49" charset="-122"/>
              <a:cs typeface="Times New Roman" pitchFamily="18" charset="0"/>
            </a:endParaRPr>
          </a:p>
        </p:txBody>
      </p:sp>
    </p:spTree>
    <p:extLst>
      <p:ext uri="{BB962C8B-B14F-4D97-AF65-F5344CB8AC3E}">
        <p14:creationId xmlns:p14="http://schemas.microsoft.com/office/powerpoint/2010/main" val="366212671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5988"/>
                                        </p:tgtEl>
                                        <p:attrNameLst>
                                          <p:attrName>style.visibility</p:attrName>
                                        </p:attrNameLst>
                                      </p:cBhvr>
                                      <p:to>
                                        <p:strVal val="visible"/>
                                      </p:to>
                                    </p:set>
                                    <p:animEffect transition="in" filter="fade">
                                      <p:cBhvr>
                                        <p:cTn id="7" dur="500"/>
                                        <p:tgtEl>
                                          <p:spTgt spid="4259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5" name="Rectangle 3">
            <a:extLst>
              <a:ext uri="{FF2B5EF4-FFF2-40B4-BE49-F238E27FC236}">
                <a16:creationId xmlns:a16="http://schemas.microsoft.com/office/drawing/2014/main" id="{A72121B0-77E5-477D-AF1F-F767026CEABA}"/>
              </a:ext>
            </a:extLst>
          </p:cNvPr>
          <p:cNvSpPr>
            <a:spLocks noGrp="1" noChangeArrowheads="1"/>
          </p:cNvSpPr>
          <p:nvPr>
            <p:ph type="body" sz="half" idx="1"/>
          </p:nvPr>
        </p:nvSpPr>
        <p:spPr>
          <a:xfrm>
            <a:off x="169332" y="225778"/>
            <a:ext cx="11921068" cy="891823"/>
          </a:xfrm>
        </p:spPr>
        <p:txBody>
          <a:bodyPr>
            <a:noAutofit/>
          </a:bodyPr>
          <a:lstStyle/>
          <a:p>
            <a:pPr marL="0" indent="0">
              <a:buNone/>
            </a:pPr>
            <a:r>
              <a:rPr lang="zh-CN" altLang="en-US" sz="3200" b="1" dirty="0">
                <a:latin typeface="黑体" panose="02010609060101010101" pitchFamily="49" charset="-122"/>
                <a:ea typeface="黑体" panose="02010609060101010101" pitchFamily="49" charset="-122"/>
              </a:rPr>
              <a:t>练习</a:t>
            </a:r>
            <a:r>
              <a:rPr lang="en-US" altLang="zh-CN" sz="3200" b="1" dirty="0">
                <a:latin typeface="黑体" panose="02010609060101010101" pitchFamily="49" charset="-122"/>
                <a:ea typeface="黑体" panose="02010609060101010101" pitchFamily="49" charset="-122"/>
              </a:rPr>
              <a:t>1</a:t>
            </a:r>
            <a:r>
              <a:rPr lang="zh-CN" altLang="en-US" sz="3200" b="1" dirty="0">
                <a:latin typeface="黑体" panose="02010609060101010101" pitchFamily="49" charset="-122"/>
                <a:ea typeface="黑体" panose="02010609060101010101" pitchFamily="49" charset="-122"/>
              </a:rPr>
              <a:t>：在三对基因杂种</a:t>
            </a:r>
            <a:r>
              <a:rPr lang="en-US" altLang="zh-CN" sz="3200" b="1" dirty="0" err="1">
                <a:latin typeface="黑体" panose="02010609060101010101" pitchFamily="49" charset="-122"/>
                <a:ea typeface="黑体" panose="02010609060101010101" pitchFamily="49" charset="-122"/>
              </a:rPr>
              <a:t>AaBbCc</a:t>
            </a:r>
            <a:r>
              <a:rPr lang="zh-CN" altLang="en-US" sz="3200" b="1" dirty="0">
                <a:latin typeface="黑体" panose="02010609060101010101" pitchFamily="49" charset="-122"/>
                <a:ea typeface="黑体" panose="02010609060101010101" pitchFamily="49" charset="-122"/>
              </a:rPr>
              <a:t>的</a:t>
            </a:r>
            <a:r>
              <a:rPr lang="en-US" altLang="zh-CN" sz="3200" b="1" dirty="0">
                <a:latin typeface="黑体" panose="02010609060101010101" pitchFamily="49" charset="-122"/>
                <a:ea typeface="黑体" panose="02010609060101010101" pitchFamily="49" charset="-122"/>
              </a:rPr>
              <a:t>F2</a:t>
            </a:r>
            <a:r>
              <a:rPr lang="zh-CN" altLang="en-US" sz="3200" b="1" dirty="0">
                <a:latin typeface="黑体" panose="02010609060101010101" pitchFamily="49" charset="-122"/>
                <a:ea typeface="黑体" panose="02010609060101010101" pitchFamily="49" charset="-122"/>
              </a:rPr>
              <a:t>群体中，试问两显性性状和一隐性性状个体出现的概率是多少？性状分离比为多少？</a:t>
            </a:r>
          </a:p>
        </p:txBody>
      </p:sp>
      <p:pic>
        <p:nvPicPr>
          <p:cNvPr id="428036" name="Picture 4">
            <a:extLst>
              <a:ext uri="{FF2B5EF4-FFF2-40B4-BE49-F238E27FC236}">
                <a16:creationId xmlns:a16="http://schemas.microsoft.com/office/drawing/2014/main" id="{4927C651-E681-454E-9194-26CC9AAE55BA}"/>
              </a:ext>
            </a:extLst>
          </p:cNvPr>
          <p:cNvPicPr>
            <a:picLocks noGrp="1" noChangeAspect="1" noChangeArrowheads="1"/>
          </p:cNvPicPr>
          <p:nvPr>
            <p:ph sz="half" idx="2"/>
          </p:nvPr>
        </p:nvPicPr>
        <p:blipFill>
          <a:blip r:embed="rId2" cstate="print">
            <a:biLevel thresh="75000"/>
            <a:extLst>
              <a:ext uri="{28A0092B-C50C-407E-A947-70E740481C1C}">
                <a14:useLocalDpi xmlns:a14="http://schemas.microsoft.com/office/drawing/2010/main" val="0"/>
              </a:ext>
            </a:extLst>
          </a:blip>
          <a:srcRect/>
          <a:stretch>
            <a:fillRect/>
          </a:stretch>
        </p:blipFill>
        <p:spPr>
          <a:xfrm>
            <a:off x="622299" y="1186092"/>
            <a:ext cx="10728785" cy="1296571"/>
          </a:xfr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4">
            <a:extLst>
              <a:ext uri="{FF2B5EF4-FFF2-40B4-BE49-F238E27FC236}">
                <a16:creationId xmlns:a16="http://schemas.microsoft.com/office/drawing/2014/main" id="{C1112ECA-E156-48C4-B730-4DCBBBB1D7E9}"/>
              </a:ext>
            </a:extLst>
          </p:cNvPr>
          <p:cNvPicPr>
            <a:picLocks noChangeAspect="1" noChangeArrowheads="1"/>
          </p:cNvPicPr>
          <p:nvPr/>
        </p:nvPicPr>
        <p:blipFill>
          <a:blip r:embed="rId3" cstate="print">
            <a:biLevel thresh="75000"/>
            <a:extLst>
              <a:ext uri="{28A0092B-C50C-407E-A947-70E740481C1C}">
                <a14:useLocalDpi xmlns:a14="http://schemas.microsoft.com/office/drawing/2010/main" val="0"/>
              </a:ext>
            </a:extLst>
          </a:blip>
          <a:srcRect/>
          <a:stretch>
            <a:fillRect/>
          </a:stretch>
        </p:blipFill>
        <p:spPr>
          <a:xfrm>
            <a:off x="1365341" y="2539108"/>
            <a:ext cx="8827652" cy="2150204"/>
          </a:xfrm>
          <a:prstGeom prst="rect">
            <a:avLst/>
          </a:prstGeo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1365341" y="4840491"/>
            <a:ext cx="8622873" cy="535531"/>
          </a:xfrm>
          <a:prstGeom prst="rect">
            <a:avLst/>
          </a:prstGeom>
        </p:spPr>
        <p:txBody>
          <a:bodyPr vert="horz" lIns="91440" tIns="45720" rIns="91440" bIns="45720" rtlCol="0">
            <a:noAutofit/>
          </a:bodyPr>
          <a:lstStyle/>
          <a:p>
            <a:pPr>
              <a:lnSpc>
                <a:spcPct val="90000"/>
              </a:lnSpc>
              <a:spcBef>
                <a:spcPts val="1000"/>
              </a:spcBef>
              <a:buFont typeface="Arial" panose="020B0604020202020204" pitchFamily="34" charset="0"/>
              <a:buNone/>
            </a:pPr>
            <a:r>
              <a:rPr lang="zh-CN" altLang="en-US" sz="3200" b="1" dirty="0">
                <a:solidFill>
                  <a:srgbClr val="FF0000"/>
                </a:solidFill>
                <a:latin typeface="Times New Roman" pitchFamily="18" charset="0"/>
                <a:ea typeface="黑体" panose="02010609060101010101" pitchFamily="49" charset="-122"/>
                <a:cs typeface="Times New Roman" pitchFamily="18" charset="0"/>
              </a:rPr>
              <a:t>表现型的遗传比率为</a:t>
            </a:r>
            <a:r>
              <a:rPr lang="en-US" altLang="zh-CN" sz="3200" b="1" dirty="0">
                <a:solidFill>
                  <a:srgbClr val="FF0000"/>
                </a:solidFill>
                <a:latin typeface="Times New Roman" pitchFamily="18" charset="0"/>
                <a:ea typeface="黑体" panose="02010609060101010101" pitchFamily="49" charset="-122"/>
                <a:cs typeface="Times New Roman" pitchFamily="18" charset="0"/>
              </a:rPr>
              <a:t>27</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9</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9</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9</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3</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3</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3</a:t>
            </a:r>
            <a:r>
              <a:rPr lang="zh-CN" altLang="en-US" sz="3200" b="1" dirty="0">
                <a:solidFill>
                  <a:srgbClr val="FF0000"/>
                </a:solidFill>
                <a:latin typeface="Times New Roman" pitchFamily="18" charset="0"/>
                <a:ea typeface="黑体" panose="02010609060101010101" pitchFamily="49" charset="-122"/>
                <a:cs typeface="Times New Roman" pitchFamily="18" charset="0"/>
              </a:rPr>
              <a:t>：</a:t>
            </a:r>
            <a:r>
              <a:rPr lang="en-US" altLang="zh-CN" sz="3200" b="1" dirty="0">
                <a:solidFill>
                  <a:srgbClr val="FF0000"/>
                </a:solidFill>
                <a:latin typeface="Times New Roman" pitchFamily="18" charset="0"/>
                <a:ea typeface="黑体" panose="02010609060101010101" pitchFamily="49" charset="-122"/>
                <a:cs typeface="Times New Roman" pitchFamily="18" charset="0"/>
              </a:rPr>
              <a:t>1</a:t>
            </a:r>
            <a:endParaRPr lang="zh-CN" altLang="en-US" sz="3200" b="1" dirty="0">
              <a:solidFill>
                <a:srgbClr val="FF0000"/>
              </a:solidFill>
              <a:latin typeface="Times New Roman" pitchFamily="18" charset="0"/>
              <a:ea typeface="黑体" panose="02010609060101010101" pitchFamily="49" charset="-122"/>
              <a:cs typeface="Times New Roman" pitchFamily="18" charset="0"/>
            </a:endParaRPr>
          </a:p>
        </p:txBody>
      </p:sp>
    </p:spTree>
    <p:extLst>
      <p:ext uri="{BB962C8B-B14F-4D97-AF65-F5344CB8AC3E}">
        <p14:creationId xmlns:p14="http://schemas.microsoft.com/office/powerpoint/2010/main" val="67655312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idx="1"/>
          </p:nvPr>
        </p:nvSpPr>
        <p:spPr bwMode="auto">
          <a:xfrm>
            <a:off x="-90311" y="147481"/>
            <a:ext cx="12282311" cy="1049142"/>
          </a:xfrm>
        </p:spPr>
        <p:txBody>
          <a:bodyPr vert="horz" lIns="91440" tIns="45720" rIns="91440" bIns="45720" rtlCol="0">
            <a:noAutofit/>
          </a:bodyPr>
          <a:lstStyle/>
          <a:p>
            <a:pPr marL="0" indent="0">
              <a:buNone/>
            </a:pPr>
            <a:r>
              <a:rPr lang="zh-CN" altLang="en-US" sz="3200" b="1" dirty="0">
                <a:latin typeface="黑体" panose="02010609060101010101" pitchFamily="49" charset="-122"/>
                <a:ea typeface="黑体" panose="02010609060101010101" pitchFamily="49" charset="-122"/>
              </a:rPr>
              <a:t>练习</a:t>
            </a:r>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：白化病为隐性常染色体遗传，夫妇均为携带者，如该夫妻生4个孩子，生两个正常两个患病孩子的概率为多少？</a:t>
            </a:r>
          </a:p>
        </p:txBody>
      </p:sp>
      <p:graphicFrame>
        <p:nvGraphicFramePr>
          <p:cNvPr id="47107" name="Object 2"/>
          <p:cNvGraphicFramePr>
            <a:graphicFrameLocks/>
          </p:cNvGraphicFramePr>
          <p:nvPr>
            <p:extLst>
              <p:ext uri="{D42A27DB-BD31-4B8C-83A1-F6EECF244321}">
                <p14:modId xmlns:p14="http://schemas.microsoft.com/office/powerpoint/2010/main" val="3979471483"/>
              </p:ext>
            </p:extLst>
          </p:nvPr>
        </p:nvGraphicFramePr>
        <p:xfrm>
          <a:off x="2223911" y="1304592"/>
          <a:ext cx="7213600" cy="1371600"/>
        </p:xfrm>
        <a:graphic>
          <a:graphicData uri="http://schemas.openxmlformats.org/presentationml/2006/ole">
            <mc:AlternateContent xmlns:mc="http://schemas.openxmlformats.org/markup-compatibility/2006">
              <mc:Choice xmlns:v="urn:schemas-microsoft-com:vml" Requires="v">
                <p:oleObj r:id="rId3" imgW="1320227" imgH="393529" progId="">
                  <p:embed/>
                </p:oleObj>
              </mc:Choice>
              <mc:Fallback>
                <p:oleObj r:id="rId3" imgW="1320227" imgH="393529" progId="">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3911" y="1304592"/>
                        <a:ext cx="7213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108" name="Object 3"/>
          <p:cNvGraphicFramePr>
            <a:graphicFrameLocks/>
          </p:cNvGraphicFramePr>
          <p:nvPr>
            <p:extLst>
              <p:ext uri="{D42A27DB-BD31-4B8C-83A1-F6EECF244321}">
                <p14:modId xmlns:p14="http://schemas.microsoft.com/office/powerpoint/2010/main" val="2895450698"/>
              </p:ext>
            </p:extLst>
          </p:nvPr>
        </p:nvGraphicFramePr>
        <p:xfrm>
          <a:off x="2241955" y="3996991"/>
          <a:ext cx="6400800" cy="1295400"/>
        </p:xfrm>
        <a:graphic>
          <a:graphicData uri="http://schemas.openxmlformats.org/presentationml/2006/ole">
            <mc:AlternateContent xmlns:mc="http://schemas.openxmlformats.org/markup-compatibility/2006">
              <mc:Choice xmlns:v="urn:schemas-microsoft-com:vml" Requires="v">
                <p:oleObj r:id="rId5" imgW="1066337" imgH="393529" progId="">
                  <p:embed/>
                </p:oleObj>
              </mc:Choice>
              <mc:Fallback>
                <p:oleObj r:id="rId5" imgW="1066337" imgH="393529" progId="">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1955" y="3996991"/>
                        <a:ext cx="6400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p:cNvSpPr/>
          <p:nvPr/>
        </p:nvSpPr>
        <p:spPr>
          <a:xfrm>
            <a:off x="-1" y="2985912"/>
            <a:ext cx="11661423" cy="1421928"/>
          </a:xfrm>
          <a:prstGeom prst="rect">
            <a:avLst/>
          </a:prstGeom>
        </p:spPr>
        <p:txBody>
          <a:bodyPr vert="horz" lIns="91440" tIns="45720" rIns="91440" bIns="45720" rtlCol="0">
            <a:noAutofit/>
          </a:bodyPr>
          <a:lstStyle/>
          <a:p>
            <a:pPr>
              <a:lnSpc>
                <a:spcPct val="90000"/>
              </a:lnSpc>
              <a:spcBef>
                <a:spcPts val="1000"/>
              </a:spcBef>
              <a:buFont typeface="Arial" panose="020B0604020202020204" pitchFamily="34" charset="0"/>
              <a:buNone/>
            </a:pPr>
            <a:r>
              <a:rPr lang="zh-CN" altLang="en-US" sz="3200" b="1" dirty="0">
                <a:latin typeface="黑体" panose="02010609060101010101" pitchFamily="49" charset="-122"/>
                <a:ea typeface="黑体" panose="02010609060101010101" pitchFamily="49" charset="-122"/>
              </a:rPr>
              <a:t>练习</a:t>
            </a:r>
            <a:r>
              <a:rPr lang="en-US" altLang="zh-CN" sz="3200" b="1" dirty="0">
                <a:latin typeface="黑体" panose="02010609060101010101" pitchFamily="49" charset="-122"/>
                <a:ea typeface="黑体" panose="02010609060101010101" pitchFamily="49" charset="-122"/>
              </a:rPr>
              <a:t>3</a:t>
            </a:r>
            <a:r>
              <a:rPr lang="zh-CN" altLang="en-US" sz="3200" b="1" dirty="0">
                <a:latin typeface="黑体" panose="02010609060101010101" pitchFamily="49" charset="-122"/>
                <a:ea typeface="黑体" panose="02010609060101010101" pitchFamily="49" charset="-122"/>
              </a:rPr>
              <a:t>：</a:t>
            </a:r>
            <a:r>
              <a:rPr lang="en-US" altLang="zh-CN" sz="3200" b="1" dirty="0" err="1">
                <a:latin typeface="黑体" panose="02010609060101010101" pitchFamily="49" charset="-122"/>
                <a:ea typeface="黑体" panose="02010609060101010101" pitchFamily="49" charset="-122"/>
              </a:rPr>
              <a:t>YyRr</a:t>
            </a:r>
            <a:r>
              <a:rPr lang="zh-CN" altLang="en-US" sz="3200" b="1" dirty="0">
                <a:latin typeface="黑体" panose="02010609060101010101" pitchFamily="49" charset="-122"/>
                <a:ea typeface="黑体" panose="02010609060101010101" pitchFamily="49" charset="-122"/>
              </a:rPr>
              <a:t>自交后代的10粒豌豆种子中，出现5粒全显5粒全隐的概率为多少？</a:t>
            </a:r>
          </a:p>
        </p:txBody>
      </p:sp>
    </p:spTree>
    <p:extLst>
      <p:ext uri="{BB962C8B-B14F-4D97-AF65-F5344CB8AC3E}">
        <p14:creationId xmlns:p14="http://schemas.microsoft.com/office/powerpoint/2010/main" val="358146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107"/>
                                        </p:tgtEl>
                                        <p:attrNameLst>
                                          <p:attrName>style.visibility</p:attrName>
                                        </p:attrNameLst>
                                      </p:cBhvr>
                                      <p:to>
                                        <p:strVal val="visible"/>
                                      </p:to>
                                    </p:set>
                                    <p:animEffect transition="in" filter="fade">
                                      <p:cBhvr>
                                        <p:cTn id="7" dur="500"/>
                                        <p:tgtEl>
                                          <p:spTgt spid="47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108"/>
                                        </p:tgtEl>
                                        <p:attrNameLst>
                                          <p:attrName>style.visibility</p:attrName>
                                        </p:attrNameLst>
                                      </p:cBhvr>
                                      <p:to>
                                        <p:strVal val="visible"/>
                                      </p:to>
                                    </p:set>
                                    <p:animEffect transition="in" filter="fade">
                                      <p:cBhvr>
                                        <p:cTn id="12" dur="500"/>
                                        <p:tgtEl>
                                          <p:spTgt spid="4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3598" y="218102"/>
            <a:ext cx="3427541" cy="590931"/>
          </a:xfrm>
          <a:prstGeom prst="rect">
            <a:avLst/>
          </a:prstGeom>
        </p:spPr>
        <p:txBody>
          <a:bodyPr vert="horz" lIns="91440" tIns="45720" rIns="91440" bIns="45720" rtlCol="0" anchor="ctr">
            <a:normAutofit/>
          </a:bodyPr>
          <a:lstStyle/>
          <a:p>
            <a:pPr>
              <a:lnSpc>
                <a:spcPct val="90000"/>
              </a:lnSpc>
              <a:spcBef>
                <a:spcPct val="0"/>
              </a:spcBef>
            </a:pPr>
            <a:r>
              <a:rPr lang="zh-CN" altLang="en-US" sz="3600" b="1" dirty="0">
                <a:solidFill>
                  <a:srgbClr val="0000FF"/>
                </a:solidFill>
                <a:latin typeface="黑体" panose="02010609060101010101" pitchFamily="49" charset="-122"/>
                <a:ea typeface="黑体" panose="02010609060101010101" pitchFamily="49" charset="-122"/>
                <a:cs typeface="+mj-cs"/>
              </a:rPr>
              <a:t>三、适合度测验</a:t>
            </a:r>
          </a:p>
        </p:txBody>
      </p:sp>
      <p:sp>
        <p:nvSpPr>
          <p:cNvPr id="3" name="矩形 2"/>
          <p:cNvSpPr/>
          <p:nvPr/>
        </p:nvSpPr>
        <p:spPr>
          <a:xfrm>
            <a:off x="288175" y="850287"/>
            <a:ext cx="11621192" cy="1854047"/>
          </a:xfrm>
          <a:prstGeom prst="rect">
            <a:avLst/>
          </a:prstGeom>
        </p:spPr>
        <p:txBody>
          <a:bodyPr vert="horz" lIns="91440" tIns="45720" rIns="91440" bIns="45720" rtlCol="0" anchor="ctr">
            <a:normAutofit/>
          </a:bodyPr>
          <a:lstStyle/>
          <a:p>
            <a:pPr>
              <a:lnSpc>
                <a:spcPct val="90000"/>
              </a:lnSpc>
              <a:spcBef>
                <a:spcPct val="0"/>
              </a:spcBef>
            </a:pPr>
            <a:r>
              <a:rPr lang="zh-CN" altLang="en-US" sz="3600" b="1" dirty="0">
                <a:latin typeface="黑体" panose="02010609060101010101" pitchFamily="49" charset="-122"/>
                <a:ea typeface="黑体" panose="02010609060101010101" pitchFamily="49" charset="-122"/>
                <a:cs typeface="+mj-cs"/>
              </a:rPr>
              <a:t>有两株水稻植株，一为抗性植株（</a:t>
            </a:r>
            <a:r>
              <a:rPr lang="en-US" altLang="zh-CN" sz="3600" b="1" dirty="0" err="1">
                <a:latin typeface="黑体" panose="02010609060101010101" pitchFamily="49" charset="-122"/>
                <a:ea typeface="黑体" panose="02010609060101010101" pitchFamily="49" charset="-122"/>
                <a:cs typeface="+mj-cs"/>
              </a:rPr>
              <a:t>Ss</a:t>
            </a:r>
            <a:r>
              <a:rPr lang="zh-CN" altLang="en-US" sz="3600" b="1" dirty="0">
                <a:latin typeface="黑体" panose="02010609060101010101" pitchFamily="49" charset="-122"/>
                <a:ea typeface="黑体" panose="02010609060101010101" pitchFamily="49" charset="-122"/>
                <a:cs typeface="+mj-cs"/>
              </a:rPr>
              <a:t>），一为敏感植株（</a:t>
            </a:r>
            <a:r>
              <a:rPr lang="en-US" altLang="zh-CN" sz="3600" b="1" dirty="0" err="1">
                <a:latin typeface="黑体" panose="02010609060101010101" pitchFamily="49" charset="-122"/>
                <a:ea typeface="黑体" panose="02010609060101010101" pitchFamily="49" charset="-122"/>
                <a:cs typeface="+mj-cs"/>
              </a:rPr>
              <a:t>ss</a:t>
            </a:r>
            <a:r>
              <a:rPr lang="zh-CN" altLang="en-US" sz="3600" b="1" dirty="0">
                <a:latin typeface="黑体" panose="02010609060101010101" pitchFamily="49" charset="-122"/>
                <a:ea typeface="黑体" panose="02010609060101010101" pitchFamily="49" charset="-122"/>
                <a:cs typeface="+mj-cs"/>
              </a:rPr>
              <a:t>），他们杂交得到</a:t>
            </a:r>
            <a:r>
              <a:rPr lang="en-US" altLang="zh-CN" sz="3600" b="1" dirty="0">
                <a:latin typeface="黑体" panose="02010609060101010101" pitchFamily="49" charset="-122"/>
                <a:ea typeface="黑体" panose="02010609060101010101" pitchFamily="49" charset="-122"/>
                <a:cs typeface="+mj-cs"/>
              </a:rPr>
              <a:t>20</a:t>
            </a:r>
            <a:r>
              <a:rPr lang="zh-CN" altLang="en-US" sz="3600" b="1" dirty="0">
                <a:latin typeface="黑体" panose="02010609060101010101" pitchFamily="49" charset="-122"/>
                <a:ea typeface="黑体" panose="02010609060101010101" pitchFamily="49" charset="-122"/>
                <a:cs typeface="+mj-cs"/>
              </a:rPr>
              <a:t>个植株，其中</a:t>
            </a:r>
            <a:r>
              <a:rPr lang="en-US" altLang="zh-CN" sz="3600" b="1" dirty="0">
                <a:latin typeface="黑体" panose="02010609060101010101" pitchFamily="49" charset="-122"/>
                <a:ea typeface="黑体" panose="02010609060101010101" pitchFamily="49" charset="-122"/>
                <a:cs typeface="+mj-cs"/>
              </a:rPr>
              <a:t>14</a:t>
            </a:r>
            <a:r>
              <a:rPr lang="zh-CN" altLang="en-US" sz="3600" b="1" dirty="0">
                <a:latin typeface="黑体" panose="02010609060101010101" pitchFamily="49" charset="-122"/>
                <a:ea typeface="黑体" panose="02010609060101010101" pitchFamily="49" charset="-122"/>
                <a:cs typeface="+mj-cs"/>
              </a:rPr>
              <a:t>株是抗性植株，</a:t>
            </a:r>
            <a:r>
              <a:rPr lang="en-US" altLang="zh-CN" sz="3600" b="1" dirty="0">
                <a:latin typeface="黑体" panose="02010609060101010101" pitchFamily="49" charset="-122"/>
                <a:ea typeface="黑体" panose="02010609060101010101" pitchFamily="49" charset="-122"/>
                <a:cs typeface="+mj-cs"/>
              </a:rPr>
              <a:t>6</a:t>
            </a:r>
            <a:r>
              <a:rPr lang="zh-CN" altLang="en-US" sz="3600" b="1" dirty="0">
                <a:latin typeface="黑体" panose="02010609060101010101" pitchFamily="49" charset="-122"/>
                <a:ea typeface="黑体" panose="02010609060101010101" pitchFamily="49" charset="-122"/>
                <a:cs typeface="+mj-cs"/>
              </a:rPr>
              <a:t>株是敏感植株，上述结果是否符合</a:t>
            </a:r>
            <a:r>
              <a:rPr lang="en-US" altLang="zh-CN" sz="3600" b="1" dirty="0">
                <a:latin typeface="黑体" panose="02010609060101010101" pitchFamily="49" charset="-122"/>
                <a:ea typeface="黑体" panose="02010609060101010101" pitchFamily="49" charset="-122"/>
                <a:cs typeface="+mj-cs"/>
              </a:rPr>
              <a:t>1:1</a:t>
            </a:r>
            <a:r>
              <a:rPr lang="zh-CN" altLang="en-US" sz="3600" b="1" dirty="0">
                <a:latin typeface="黑体" panose="02010609060101010101" pitchFamily="49" charset="-122"/>
                <a:ea typeface="黑体" panose="02010609060101010101" pitchFamily="49" charset="-122"/>
                <a:cs typeface="+mj-cs"/>
              </a:rPr>
              <a:t>的测交结果？</a:t>
            </a:r>
          </a:p>
        </p:txBody>
      </p:sp>
      <p:sp>
        <p:nvSpPr>
          <p:cNvPr id="5" name="矩形 4"/>
          <p:cNvSpPr/>
          <p:nvPr/>
        </p:nvSpPr>
        <p:spPr>
          <a:xfrm>
            <a:off x="228313" y="2850984"/>
            <a:ext cx="11740915" cy="1384995"/>
          </a:xfrm>
          <a:prstGeom prst="rect">
            <a:avLst/>
          </a:prstGeom>
          <a:noFill/>
          <a:ln>
            <a:noFill/>
          </a:ln>
          <a:effectLst/>
        </p:spPr>
        <p:txBody>
          <a:bodyPr wrap="square">
            <a:spAutoFit/>
          </a:bodyPr>
          <a:lstStyle/>
          <a:p>
            <a:pPr marL="0" lvl="1"/>
            <a:r>
              <a:rPr lang="zh-CN" altLang="en-US" sz="2800" b="1" dirty="0">
                <a:solidFill>
                  <a:srgbClr val="3324FA"/>
                </a:solidFill>
                <a:latin typeface="楷体" pitchFamily="49" charset="-122"/>
                <a:ea typeface="楷体" pitchFamily="49" charset="-122"/>
              </a:rPr>
              <a:t>适合度测验</a:t>
            </a:r>
            <a:r>
              <a:rPr lang="zh-CN" altLang="en-US" sz="2800" b="1" dirty="0">
                <a:latin typeface="楷体" pitchFamily="49" charset="-122"/>
                <a:ea typeface="楷体" pitchFamily="49" charset="-122"/>
              </a:rPr>
              <a:t>：根据实得比例符合理论比例的程度如何，从而判断这次实验结果是否可用这个理论比例来说明，还是必须抛弃这个理论比例， 认为另有其他理论比例，或者这次实验结果根本不能用孟德尔定律来说明。</a:t>
            </a:r>
            <a:endParaRPr lang="en-US" altLang="zh-CN" sz="2800" b="1" dirty="0">
              <a:latin typeface="楷体" pitchFamily="49" charset="-122"/>
              <a:ea typeface="楷体" pitchFamily="49" charset="-122"/>
            </a:endParaRPr>
          </a:p>
        </p:txBody>
      </p:sp>
    </p:spTree>
    <p:extLst>
      <p:ext uri="{BB962C8B-B14F-4D97-AF65-F5344CB8AC3E}">
        <p14:creationId xmlns:p14="http://schemas.microsoft.com/office/powerpoint/2010/main" val="19633747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5222EA6-5BA6-485F-9DD5-AF97F79487D2}"/>
              </a:ext>
            </a:extLst>
          </p:cNvPr>
          <p:cNvSpPr>
            <a:spLocks noGrp="1"/>
          </p:cNvSpPr>
          <p:nvPr>
            <p:ph idx="1"/>
          </p:nvPr>
        </p:nvSpPr>
        <p:spPr>
          <a:xfrm>
            <a:off x="171301" y="4438143"/>
            <a:ext cx="11952673" cy="911613"/>
          </a:xfrm>
        </p:spPr>
        <p:txBody>
          <a:bodyPr>
            <a:noAutofit/>
          </a:bodyPr>
          <a:lstStyle/>
          <a:p>
            <a:pPr marL="0" indent="0">
              <a:buNone/>
            </a:pPr>
            <a:r>
              <a:rPr lang="zh-CN" altLang="en-US" sz="3200" b="1" dirty="0">
                <a:solidFill>
                  <a:schemeClr val="tx1"/>
                </a:solidFill>
              </a:rPr>
              <a:t>当理论比为 </a:t>
            </a:r>
            <a:r>
              <a:rPr lang="en-US" altLang="zh-CN" sz="3200" b="1" dirty="0">
                <a:solidFill>
                  <a:schemeClr val="tx1"/>
                </a:solidFill>
              </a:rPr>
              <a:t>1∶1 </a:t>
            </a:r>
            <a:r>
              <a:rPr lang="zh-CN" altLang="en-US" sz="3200" b="1" dirty="0">
                <a:solidFill>
                  <a:schemeClr val="tx1"/>
                </a:solidFill>
              </a:rPr>
              <a:t>时，</a:t>
            </a:r>
            <a:r>
              <a:rPr lang="en-US" altLang="zh-CN" sz="3200" b="1" dirty="0">
                <a:solidFill>
                  <a:schemeClr val="tx1"/>
                </a:solidFill>
              </a:rPr>
              <a:t>20 </a:t>
            </a:r>
            <a:r>
              <a:rPr lang="zh-CN" altLang="en-US" sz="3200" b="1" dirty="0">
                <a:solidFill>
                  <a:schemeClr val="tx1"/>
                </a:solidFill>
              </a:rPr>
              <a:t>个子代中得到 </a:t>
            </a:r>
            <a:r>
              <a:rPr lang="en-US" altLang="zh-CN" sz="3200" b="1" dirty="0">
                <a:solidFill>
                  <a:schemeClr val="tx1"/>
                </a:solidFill>
              </a:rPr>
              <a:t>14 </a:t>
            </a:r>
            <a:r>
              <a:rPr lang="zh-CN" altLang="en-US" sz="3200" b="1" dirty="0">
                <a:solidFill>
                  <a:schemeClr val="tx1"/>
                </a:solidFill>
              </a:rPr>
              <a:t>抗性、 </a:t>
            </a:r>
            <a:r>
              <a:rPr lang="en-US" altLang="zh-CN" sz="3200" b="1" dirty="0">
                <a:solidFill>
                  <a:schemeClr val="tx1"/>
                </a:solidFill>
              </a:rPr>
              <a:t>6 </a:t>
            </a:r>
            <a:r>
              <a:rPr lang="zh-CN" altLang="en-US" sz="3200" b="1" dirty="0">
                <a:solidFill>
                  <a:schemeClr val="tx1"/>
                </a:solidFill>
              </a:rPr>
              <a:t>敏感的概率是：</a:t>
            </a:r>
          </a:p>
        </p:txBody>
      </p:sp>
      <p:pic>
        <p:nvPicPr>
          <p:cNvPr id="5" name="图片 4">
            <a:extLst>
              <a:ext uri="{FF2B5EF4-FFF2-40B4-BE49-F238E27FC236}">
                <a16:creationId xmlns:a16="http://schemas.microsoft.com/office/drawing/2014/main" id="{DFC78E2A-3F9A-4C96-8E92-9A1DB698ACE6}"/>
              </a:ext>
            </a:extLst>
          </p:cNvPr>
          <p:cNvPicPr>
            <a:picLocks noChangeAspect="1"/>
          </p:cNvPicPr>
          <p:nvPr/>
        </p:nvPicPr>
        <p:blipFill>
          <a:blip r:embed="rId2"/>
          <a:stretch>
            <a:fillRect/>
          </a:stretch>
        </p:blipFill>
        <p:spPr>
          <a:xfrm>
            <a:off x="0" y="190172"/>
            <a:ext cx="12123975" cy="4247971"/>
          </a:xfrm>
          <a:prstGeom prst="rect">
            <a:avLst/>
          </a:prstGeom>
        </p:spPr>
      </p:pic>
      <p:pic>
        <p:nvPicPr>
          <p:cNvPr id="7" name="图片 6">
            <a:extLst>
              <a:ext uri="{FF2B5EF4-FFF2-40B4-BE49-F238E27FC236}">
                <a16:creationId xmlns:a16="http://schemas.microsoft.com/office/drawing/2014/main" id="{2B5ABDC3-BD04-4A31-B6CE-844392A628AD}"/>
              </a:ext>
            </a:extLst>
          </p:cNvPr>
          <p:cNvPicPr>
            <a:picLocks noChangeAspect="1"/>
          </p:cNvPicPr>
          <p:nvPr/>
        </p:nvPicPr>
        <p:blipFill>
          <a:blip r:embed="rId3"/>
          <a:stretch>
            <a:fillRect/>
          </a:stretch>
        </p:blipFill>
        <p:spPr>
          <a:xfrm>
            <a:off x="3844710" y="4966138"/>
            <a:ext cx="4730698" cy="1177963"/>
          </a:xfrm>
          <a:prstGeom prst="rect">
            <a:avLst/>
          </a:prstGeom>
        </p:spPr>
      </p:pic>
      <p:sp>
        <p:nvSpPr>
          <p:cNvPr id="6" name="灯片编号占位符 2">
            <a:extLst>
              <a:ext uri="{FF2B5EF4-FFF2-40B4-BE49-F238E27FC236}">
                <a16:creationId xmlns:a16="http://schemas.microsoft.com/office/drawing/2014/main" id="{9B50386E-BA26-48F5-8FDA-F4952B27754E}"/>
              </a:ext>
            </a:extLst>
          </p:cNvPr>
          <p:cNvSpPr txBox="1">
            <a:spLocks/>
          </p:cNvSpPr>
          <p:nvPr/>
        </p:nvSpPr>
        <p:spPr>
          <a:xfrm>
            <a:off x="11353799" y="6356350"/>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a:pPr/>
              <a:t>42</a:t>
            </a:fld>
            <a:endParaRPr lang="zh-CN" altLang="en-US" dirty="0"/>
          </a:p>
        </p:txBody>
      </p:sp>
    </p:spTree>
    <p:extLst>
      <p:ext uri="{BB962C8B-B14F-4D97-AF65-F5344CB8AC3E}">
        <p14:creationId xmlns:p14="http://schemas.microsoft.com/office/powerpoint/2010/main" val="1280483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5222EA6-5BA6-485F-9DD5-AF97F79487D2}"/>
              </a:ext>
            </a:extLst>
          </p:cNvPr>
          <p:cNvSpPr>
            <a:spLocks noGrp="1"/>
          </p:cNvSpPr>
          <p:nvPr>
            <p:ph idx="1"/>
          </p:nvPr>
        </p:nvSpPr>
        <p:spPr>
          <a:xfrm>
            <a:off x="0" y="260711"/>
            <a:ext cx="11931162" cy="1284309"/>
          </a:xfrm>
        </p:spPr>
        <p:txBody>
          <a:bodyPr>
            <a:normAutofit/>
          </a:bodyPr>
          <a:lstStyle/>
          <a:p>
            <a:pPr marL="0" lvl="1" indent="0">
              <a:lnSpc>
                <a:spcPct val="150000"/>
              </a:lnSpc>
              <a:buNone/>
            </a:pPr>
            <a:r>
              <a:rPr lang="zh-CN" altLang="en-US" b="1" dirty="0"/>
              <a:t>       单是计算实得比例这一项的概率，就作为适合度测验的根据，有一个很明显的缺点，因为植株数目增加时，即使是完全符合理论比例的资料，它们的概率也不断下降。</a:t>
            </a:r>
          </a:p>
          <a:p>
            <a:pPr marL="0">
              <a:lnSpc>
                <a:spcPct val="150000"/>
              </a:lnSpc>
            </a:pPr>
            <a:endParaRPr lang="zh-CN" altLang="en-US" b="1" dirty="0"/>
          </a:p>
        </p:txBody>
      </p:sp>
      <p:pic>
        <p:nvPicPr>
          <p:cNvPr id="7" name="图片 6">
            <a:extLst>
              <a:ext uri="{FF2B5EF4-FFF2-40B4-BE49-F238E27FC236}">
                <a16:creationId xmlns:a16="http://schemas.microsoft.com/office/drawing/2014/main" id="{150165F6-1796-4964-8D65-842AE26CE941}"/>
              </a:ext>
            </a:extLst>
          </p:cNvPr>
          <p:cNvPicPr>
            <a:picLocks noChangeAspect="1"/>
          </p:cNvPicPr>
          <p:nvPr/>
        </p:nvPicPr>
        <p:blipFill>
          <a:blip r:embed="rId3"/>
          <a:stretch>
            <a:fillRect/>
          </a:stretch>
        </p:blipFill>
        <p:spPr>
          <a:xfrm>
            <a:off x="-31532" y="1540314"/>
            <a:ext cx="12291170" cy="2205909"/>
          </a:xfrm>
          <a:prstGeom prst="rect">
            <a:avLst/>
          </a:prstGeom>
        </p:spPr>
      </p:pic>
      <p:sp>
        <p:nvSpPr>
          <p:cNvPr id="5" name="灯片编号占位符 2">
            <a:extLst>
              <a:ext uri="{FF2B5EF4-FFF2-40B4-BE49-F238E27FC236}">
                <a16:creationId xmlns:a16="http://schemas.microsoft.com/office/drawing/2014/main" id="{A3DF95BE-0B3B-4282-86F6-F54E6DA6D130}"/>
              </a:ext>
            </a:extLst>
          </p:cNvPr>
          <p:cNvSpPr txBox="1">
            <a:spLocks/>
          </p:cNvSpPr>
          <p:nvPr/>
        </p:nvSpPr>
        <p:spPr>
          <a:xfrm>
            <a:off x="11353799" y="6356350"/>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a:pPr/>
              <a:t>43</a:t>
            </a:fld>
            <a:endParaRPr lang="zh-CN" altLang="en-US" dirty="0"/>
          </a:p>
        </p:txBody>
      </p:sp>
      <p:sp>
        <p:nvSpPr>
          <p:cNvPr id="2" name="矩形 1"/>
          <p:cNvSpPr/>
          <p:nvPr/>
        </p:nvSpPr>
        <p:spPr>
          <a:xfrm>
            <a:off x="0" y="3972967"/>
            <a:ext cx="12192000" cy="1965666"/>
          </a:xfrm>
          <a:prstGeom prst="rect">
            <a:avLst/>
          </a:prstGeom>
        </p:spPr>
        <p:txBody>
          <a:bodyPr vert="horz" lIns="91440" tIns="45720" rIns="91440" bIns="45720" rtlCol="0">
            <a:normAutofit/>
          </a:bodyPr>
          <a:lstStyle/>
          <a:p>
            <a:pPr>
              <a:lnSpc>
                <a:spcPct val="150000"/>
              </a:lnSpc>
              <a:spcBef>
                <a:spcPts val="1000"/>
              </a:spcBef>
            </a:pPr>
            <a:r>
              <a:rPr lang="zh-CN" altLang="en-US" sz="2800" b="1" dirty="0">
                <a:solidFill>
                  <a:srgbClr val="FF0000"/>
                </a:solidFill>
              </a:rPr>
              <a:t>        可见单是根据实得比例的出现概率，很容易被引入歧途，显然不能用于适合度测验</a:t>
            </a:r>
          </a:p>
        </p:txBody>
      </p:sp>
    </p:spTree>
    <p:extLst>
      <p:ext uri="{BB962C8B-B14F-4D97-AF65-F5344CB8AC3E}">
        <p14:creationId xmlns:p14="http://schemas.microsoft.com/office/powerpoint/2010/main" val="4023876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5222EA6-5BA6-485F-9DD5-AF97F79487D2}"/>
              </a:ext>
            </a:extLst>
          </p:cNvPr>
          <p:cNvSpPr>
            <a:spLocks noGrp="1"/>
          </p:cNvSpPr>
          <p:nvPr>
            <p:ph idx="1"/>
          </p:nvPr>
        </p:nvSpPr>
        <p:spPr>
          <a:xfrm>
            <a:off x="484729" y="3482232"/>
            <a:ext cx="11157751" cy="2291582"/>
          </a:xfrm>
        </p:spPr>
        <p:txBody>
          <a:bodyPr>
            <a:normAutofit/>
          </a:bodyPr>
          <a:lstStyle/>
          <a:p>
            <a:pPr lvl="1">
              <a:lnSpc>
                <a:spcPct val="150000"/>
              </a:lnSpc>
              <a:buClrTx/>
              <a:buFont typeface="Wingdings" panose="05000000000000000000" pitchFamily="2" charset="2"/>
              <a:buChar char="Ø"/>
            </a:pPr>
            <a:r>
              <a:rPr lang="zh-CN" altLang="en-US" sz="2800" b="1" dirty="0"/>
              <a:t>如表</a:t>
            </a:r>
            <a:r>
              <a:rPr lang="en-US" altLang="zh-CN" sz="2800" b="1" dirty="0"/>
              <a:t>2-9</a:t>
            </a:r>
            <a:r>
              <a:rPr lang="zh-CN" altLang="en-US" sz="2800" b="1" dirty="0"/>
              <a:t>所示，</a:t>
            </a:r>
            <a:r>
              <a:rPr lang="en-US" altLang="zh-CN" sz="2800" b="1" i="1" dirty="0"/>
              <a:t>P</a:t>
            </a:r>
            <a:r>
              <a:rPr lang="en-US" altLang="zh-CN" sz="2800" b="1" dirty="0"/>
              <a:t> = 0.116</a:t>
            </a:r>
          </a:p>
          <a:p>
            <a:pPr lvl="1">
              <a:lnSpc>
                <a:spcPct val="150000"/>
              </a:lnSpc>
              <a:buClrTx/>
              <a:buFont typeface="Wingdings" panose="05000000000000000000" pitchFamily="2" charset="2"/>
              <a:buChar char="Ø"/>
            </a:pPr>
            <a:r>
              <a:rPr lang="zh-CN" altLang="en-US" sz="2800" b="1" dirty="0"/>
              <a:t>这样看来，实得比例和理论比例符合的情况并不像最初想象的那样坏，而且一般并不认为太坏。</a:t>
            </a:r>
          </a:p>
          <a:p>
            <a:pPr>
              <a:lnSpc>
                <a:spcPct val="150000"/>
              </a:lnSpc>
            </a:pPr>
            <a:endParaRPr lang="zh-CN" altLang="en-US" sz="2800" dirty="0"/>
          </a:p>
        </p:txBody>
      </p:sp>
      <p:pic>
        <p:nvPicPr>
          <p:cNvPr id="5" name="图片 4">
            <a:extLst>
              <a:ext uri="{FF2B5EF4-FFF2-40B4-BE49-F238E27FC236}">
                <a16:creationId xmlns:a16="http://schemas.microsoft.com/office/drawing/2014/main" id="{415B7032-0405-43FB-99DE-BCDDD4A0E989}"/>
              </a:ext>
            </a:extLst>
          </p:cNvPr>
          <p:cNvPicPr>
            <a:picLocks noChangeAspect="1"/>
          </p:cNvPicPr>
          <p:nvPr/>
        </p:nvPicPr>
        <p:blipFill>
          <a:blip r:embed="rId3"/>
          <a:stretch>
            <a:fillRect/>
          </a:stretch>
        </p:blipFill>
        <p:spPr>
          <a:xfrm>
            <a:off x="0" y="451318"/>
            <a:ext cx="12192000" cy="3016863"/>
          </a:xfrm>
          <a:prstGeom prst="rect">
            <a:avLst/>
          </a:prstGeom>
        </p:spPr>
      </p:pic>
      <p:cxnSp>
        <p:nvCxnSpPr>
          <p:cNvPr id="7" name="直接连接符 6"/>
          <p:cNvCxnSpPr/>
          <p:nvPr/>
        </p:nvCxnSpPr>
        <p:spPr>
          <a:xfrm>
            <a:off x="11217165" y="788264"/>
            <a:ext cx="974835" cy="0"/>
          </a:xfrm>
          <a:prstGeom prst="line">
            <a:avLst/>
          </a:prstGeom>
        </p:spPr>
        <p:style>
          <a:lnRef idx="3">
            <a:schemeClr val="accent2"/>
          </a:lnRef>
          <a:fillRef idx="0">
            <a:schemeClr val="accent2"/>
          </a:fillRef>
          <a:effectRef idx="2">
            <a:schemeClr val="accent2"/>
          </a:effectRef>
          <a:fontRef idx="minor">
            <a:schemeClr val="tx1"/>
          </a:fontRef>
        </p:style>
      </p:cxnSp>
      <p:sp>
        <p:nvSpPr>
          <p:cNvPr id="8" name="Text Box 7"/>
          <p:cNvSpPr txBox="1">
            <a:spLocks noChangeArrowheads="1"/>
          </p:cNvSpPr>
          <p:nvPr/>
        </p:nvSpPr>
        <p:spPr bwMode="auto">
          <a:xfrm>
            <a:off x="254709" y="5549940"/>
            <a:ext cx="11449873" cy="954107"/>
          </a:xfrm>
          <a:prstGeom prst="rect">
            <a:avLst/>
          </a:prstGeom>
          <a:noFill/>
          <a:ln>
            <a:noFill/>
          </a:ln>
          <a:effectLst/>
        </p:spPr>
        <p:txBody>
          <a:bodyPr wrap="square">
            <a:spAutoFit/>
          </a:bodyPr>
          <a:lstStyle/>
          <a:p>
            <a:pPr eaLnBrk="1" hangingPunct="1">
              <a:spcBef>
                <a:spcPct val="50000"/>
              </a:spcBef>
              <a:defRPr/>
            </a:pPr>
            <a:r>
              <a:rPr lang="zh-CN" altLang="en-US" sz="2800" b="1" dirty="0">
                <a:solidFill>
                  <a:srgbClr val="FF0000"/>
                </a:solidFill>
                <a:latin typeface="黑体" pitchFamily="49" charset="-122"/>
                <a:ea typeface="黑体" pitchFamily="49" charset="-122"/>
                <a:sym typeface="+mn-ea"/>
              </a:rPr>
              <a:t>注意</a:t>
            </a:r>
            <a:r>
              <a:rPr lang="zh-CN" altLang="en-US" sz="2800" b="1" dirty="0">
                <a:latin typeface="黑体" pitchFamily="49" charset="-122"/>
                <a:ea typeface="黑体" pitchFamily="49" charset="-122"/>
                <a:sym typeface="+mn-ea"/>
              </a:rPr>
              <a:t>：用二项式展开进行适合度测验，但在子代</a:t>
            </a:r>
            <a:r>
              <a:rPr lang="zh-CN" altLang="en-US" sz="2800" b="1" dirty="0">
                <a:solidFill>
                  <a:srgbClr val="FF0000"/>
                </a:solidFill>
                <a:latin typeface="黑体" pitchFamily="49" charset="-122"/>
                <a:ea typeface="黑体" pitchFamily="49" charset="-122"/>
                <a:sym typeface="+mn-ea"/>
              </a:rPr>
              <a:t>个体数多时非常费力</a:t>
            </a:r>
            <a:r>
              <a:rPr lang="zh-CN" altLang="en-US" sz="2800" b="1" dirty="0">
                <a:latin typeface="黑体" pitchFamily="49" charset="-122"/>
                <a:ea typeface="黑体" pitchFamily="49" charset="-122"/>
                <a:sym typeface="+mn-ea"/>
              </a:rPr>
              <a:t>，子代个体数分成</a:t>
            </a:r>
            <a:r>
              <a:rPr lang="zh-CN" altLang="en-US" sz="2800" b="1" dirty="0">
                <a:solidFill>
                  <a:srgbClr val="FF0000"/>
                </a:solidFill>
                <a:latin typeface="黑体" pitchFamily="49" charset="-122"/>
                <a:ea typeface="黑体" pitchFamily="49" charset="-122"/>
                <a:sym typeface="+mn-ea"/>
              </a:rPr>
              <a:t>两类以上</a:t>
            </a:r>
            <a:r>
              <a:rPr lang="zh-CN" altLang="en-US" sz="2800" b="1" dirty="0">
                <a:latin typeface="黑体" pitchFamily="49" charset="-122"/>
                <a:ea typeface="黑体" pitchFamily="49" charset="-122"/>
                <a:sym typeface="+mn-ea"/>
              </a:rPr>
              <a:t>时更为困难。</a:t>
            </a:r>
          </a:p>
        </p:txBody>
      </p:sp>
    </p:spTree>
    <p:extLst>
      <p:ext uri="{BB962C8B-B14F-4D97-AF65-F5344CB8AC3E}">
        <p14:creationId xmlns:p14="http://schemas.microsoft.com/office/powerpoint/2010/main" val="142287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082" name="Rectangle 2">
            <a:extLst>
              <a:ext uri="{FF2B5EF4-FFF2-40B4-BE49-F238E27FC236}">
                <a16:creationId xmlns:a16="http://schemas.microsoft.com/office/drawing/2014/main" id="{144FD5BD-7D79-4ECE-9EC6-2223A2D40FF3}"/>
              </a:ext>
            </a:extLst>
          </p:cNvPr>
          <p:cNvSpPr>
            <a:spLocks noGrp="1" noChangeArrowheads="1"/>
          </p:cNvSpPr>
          <p:nvPr>
            <p:ph type="title"/>
          </p:nvPr>
        </p:nvSpPr>
        <p:spPr>
          <a:xfrm>
            <a:off x="472440" y="1"/>
            <a:ext cx="10515600" cy="980902"/>
          </a:xfrm>
        </p:spPr>
        <p:txBody>
          <a:bodyPr>
            <a:normAutofit/>
          </a:bodyPr>
          <a:lstStyle/>
          <a:p>
            <a:r>
              <a:rPr lang="zh-CN" altLang="en-US" sz="3600" b="1" dirty="0">
                <a:solidFill>
                  <a:srgbClr val="0000FF"/>
                </a:solidFill>
                <a:latin typeface="黑体" panose="02010609060101010101" pitchFamily="49" charset="-122"/>
                <a:ea typeface="黑体" panose="02010609060101010101" pitchFamily="49" charset="-122"/>
              </a:rPr>
              <a:t>四、</a:t>
            </a:r>
            <a:r>
              <a:rPr lang="zh-CN" altLang="en-US" sz="3600" b="1" dirty="0">
                <a:solidFill>
                  <a:srgbClr val="0000FF"/>
                </a:solidFill>
                <a:latin typeface="黑体" panose="02010609060101010101" pitchFamily="49" charset="-122"/>
                <a:ea typeface="黑体" panose="02010609060101010101" pitchFamily="49" charset="-122"/>
                <a:sym typeface="Symbol" panose="05050102010706020507" pitchFamily="18" charset="2"/>
              </a:rPr>
              <a:t></a:t>
            </a:r>
            <a:r>
              <a:rPr lang="en-US" altLang="zh-CN" sz="3600" b="1" baseline="30000" dirty="0">
                <a:solidFill>
                  <a:srgbClr val="0000FF"/>
                </a:solidFill>
                <a:latin typeface="黑体" panose="02010609060101010101" pitchFamily="49" charset="-122"/>
                <a:ea typeface="黑体" panose="02010609060101010101" pitchFamily="49" charset="-122"/>
              </a:rPr>
              <a:t>2</a:t>
            </a:r>
            <a:r>
              <a:rPr lang="zh-CN" altLang="en-US" sz="3600" b="1" dirty="0">
                <a:solidFill>
                  <a:srgbClr val="0000FF"/>
                </a:solidFill>
                <a:latin typeface="黑体" panose="02010609060101010101" pitchFamily="49" charset="-122"/>
                <a:ea typeface="黑体" panose="02010609060101010101" pitchFamily="49" charset="-122"/>
              </a:rPr>
              <a:t>测验：检测适合度</a:t>
            </a:r>
            <a:endParaRPr lang="en-US" altLang="zh-CN" sz="3600" b="1" dirty="0">
              <a:solidFill>
                <a:srgbClr val="0000FF"/>
              </a:solidFill>
              <a:latin typeface="黑体" panose="02010609060101010101" pitchFamily="49" charset="-122"/>
              <a:ea typeface="黑体" panose="02010609060101010101" pitchFamily="49" charset="-122"/>
            </a:endParaRPr>
          </a:p>
        </p:txBody>
      </p:sp>
      <p:pic>
        <p:nvPicPr>
          <p:cNvPr id="5" name="Picture 4">
            <a:extLst>
              <a:ext uri="{FF2B5EF4-FFF2-40B4-BE49-F238E27FC236}">
                <a16:creationId xmlns:a16="http://schemas.microsoft.com/office/drawing/2014/main" id="{8CE9EE26-0FF2-4035-A497-B8E1610E570B}"/>
              </a:ext>
            </a:extLst>
          </p:cNvPr>
          <p:cNvPicPr>
            <a:picLocks noGrp="1" noChangeAspect="1" noChangeArrowheads="1"/>
          </p:cNvPicPr>
          <p:nvPr>
            <p:ph sz="half" idx="4294967295"/>
          </p:nvPr>
        </p:nvPicPr>
        <p:blipFill>
          <a:blip r:embed="rId2" cstate="print">
            <a:biLevel thresh="75000"/>
            <a:extLst>
              <a:ext uri="{28A0092B-C50C-407E-A947-70E740481C1C}">
                <a14:useLocalDpi xmlns:a14="http://schemas.microsoft.com/office/drawing/2010/main" val="0"/>
              </a:ext>
            </a:extLst>
          </a:blip>
          <a:srcRect/>
          <a:stretch>
            <a:fillRect/>
          </a:stretch>
        </p:blipFill>
        <p:spPr>
          <a:xfrm>
            <a:off x="3511781" y="979198"/>
            <a:ext cx="4257211" cy="1630997"/>
          </a:xfrm>
          <a:prstGeom prst="rect">
            <a:avLst/>
          </a:prstGeo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2454443" y="2812456"/>
            <a:ext cx="6340642" cy="1783606"/>
          </a:xfrm>
          <a:prstGeom prst="rect">
            <a:avLst/>
          </a:prstGeom>
        </p:spPr>
        <p:txBody>
          <a:bodyPr vert="horz" lIns="91440" tIns="45720" rIns="91440" bIns="45720" rtlCol="0" anchor="ctr">
            <a:normAutofit/>
          </a:bodyPr>
          <a:lstStyle/>
          <a:p>
            <a:pPr>
              <a:lnSpc>
                <a:spcPct val="90000"/>
              </a:lnSpc>
              <a:spcBef>
                <a:spcPct val="0"/>
              </a:spcBef>
            </a:pPr>
            <a:r>
              <a:rPr lang="en-US" altLang="zh-CN" sz="3600" b="1" dirty="0">
                <a:latin typeface="Times New Roman" pitchFamily="18" charset="0"/>
                <a:ea typeface="黑体" panose="02010609060101010101" pitchFamily="49" charset="-122"/>
                <a:cs typeface="Times New Roman" pitchFamily="18" charset="0"/>
              </a:rPr>
              <a:t>O</a:t>
            </a:r>
            <a:r>
              <a:rPr lang="zh-CN" altLang="en-US" sz="3600" b="1" dirty="0">
                <a:latin typeface="Times New Roman" pitchFamily="18" charset="0"/>
                <a:ea typeface="黑体" panose="02010609060101010101" pitchFamily="49" charset="-122"/>
                <a:cs typeface="Times New Roman" pitchFamily="18" charset="0"/>
              </a:rPr>
              <a:t>是实测值</a:t>
            </a:r>
            <a:r>
              <a:rPr lang="en-US" altLang="zh-CN" sz="3600" b="1" dirty="0">
                <a:latin typeface="Times New Roman" pitchFamily="18" charset="0"/>
                <a:ea typeface="黑体" panose="02010609060101010101" pitchFamily="49" charset="-122"/>
                <a:cs typeface="Times New Roman" pitchFamily="18" charset="0"/>
              </a:rPr>
              <a:t>(Observed values)</a:t>
            </a:r>
          </a:p>
          <a:p>
            <a:pPr>
              <a:lnSpc>
                <a:spcPct val="90000"/>
              </a:lnSpc>
              <a:spcBef>
                <a:spcPct val="0"/>
              </a:spcBef>
            </a:pPr>
            <a:r>
              <a:rPr lang="en-US" altLang="zh-CN" sz="3600" b="1" dirty="0">
                <a:latin typeface="Times New Roman" pitchFamily="18" charset="0"/>
                <a:ea typeface="黑体" panose="02010609060101010101" pitchFamily="49" charset="-122"/>
                <a:cs typeface="Times New Roman" pitchFamily="18" charset="0"/>
              </a:rPr>
              <a:t>E</a:t>
            </a:r>
            <a:r>
              <a:rPr lang="zh-CN" altLang="en-US" sz="3600" b="1" dirty="0">
                <a:latin typeface="Times New Roman" pitchFamily="18" charset="0"/>
                <a:ea typeface="黑体" panose="02010609060101010101" pitchFamily="49" charset="-122"/>
                <a:cs typeface="Times New Roman" pitchFamily="18" charset="0"/>
              </a:rPr>
              <a:t>是理论值</a:t>
            </a:r>
            <a:r>
              <a:rPr lang="en-US" altLang="zh-CN" sz="3600" b="1" dirty="0">
                <a:latin typeface="Times New Roman" pitchFamily="18" charset="0"/>
                <a:ea typeface="黑体" panose="02010609060101010101" pitchFamily="49" charset="-122"/>
                <a:cs typeface="Times New Roman" pitchFamily="18" charset="0"/>
              </a:rPr>
              <a:t>(Expected values)</a:t>
            </a:r>
          </a:p>
          <a:p>
            <a:pPr>
              <a:lnSpc>
                <a:spcPct val="90000"/>
              </a:lnSpc>
              <a:spcBef>
                <a:spcPct val="0"/>
              </a:spcBef>
            </a:pPr>
            <a:r>
              <a:rPr lang="zh-CN" altLang="en-US" sz="3600" b="1" dirty="0">
                <a:latin typeface="Times New Roman" pitchFamily="18" charset="0"/>
                <a:ea typeface="黑体" panose="02010609060101010101" pitchFamily="49" charset="-122"/>
                <a:cs typeface="Times New Roman" pitchFamily="18" charset="0"/>
                <a:sym typeface="Symbol" panose="05050102010706020507" pitchFamily="18" charset="2"/>
              </a:rPr>
              <a:t></a:t>
            </a:r>
            <a:r>
              <a:rPr lang="zh-CN" altLang="en-US" sz="3600" b="1" dirty="0">
                <a:latin typeface="Times New Roman" pitchFamily="18" charset="0"/>
                <a:ea typeface="黑体" panose="02010609060101010101" pitchFamily="49" charset="-122"/>
                <a:cs typeface="Times New Roman" pitchFamily="18" charset="0"/>
              </a:rPr>
              <a:t> </a:t>
            </a:r>
            <a:r>
              <a:rPr lang="en-US" altLang="zh-CN" sz="3600" b="1" dirty="0">
                <a:latin typeface="Times New Roman" pitchFamily="18" charset="0"/>
                <a:ea typeface="黑体" panose="02010609060101010101" pitchFamily="49" charset="-122"/>
                <a:cs typeface="Times New Roman" pitchFamily="18" charset="0"/>
              </a:rPr>
              <a:t>(sigma)</a:t>
            </a:r>
            <a:r>
              <a:rPr lang="zh-CN" altLang="en-US" sz="3600" b="1" dirty="0">
                <a:latin typeface="Times New Roman" pitchFamily="18" charset="0"/>
                <a:ea typeface="黑体" panose="02010609060101010101" pitchFamily="49" charset="-122"/>
                <a:cs typeface="Times New Roman" pitchFamily="18" charset="0"/>
              </a:rPr>
              <a:t>是总和的符号。</a:t>
            </a:r>
          </a:p>
        </p:txBody>
      </p:sp>
    </p:spTree>
    <p:extLst>
      <p:ext uri="{BB962C8B-B14F-4D97-AF65-F5344CB8AC3E}">
        <p14:creationId xmlns:p14="http://schemas.microsoft.com/office/powerpoint/2010/main" val="29605261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30082"/>
                                        </p:tgtEl>
                                        <p:attrNameLst>
                                          <p:attrName>style.visibility</p:attrName>
                                        </p:attrNameLst>
                                      </p:cBhvr>
                                      <p:to>
                                        <p:strVal val="visible"/>
                                      </p:to>
                                    </p:set>
                                    <p:anim calcmode="lin" valueType="num">
                                      <p:cBhvr additive="base">
                                        <p:cTn id="7" dur="500" fill="hold"/>
                                        <p:tgtEl>
                                          <p:spTgt spid="430082"/>
                                        </p:tgtEl>
                                        <p:attrNameLst>
                                          <p:attrName>ppt_x</p:attrName>
                                        </p:attrNameLst>
                                      </p:cBhvr>
                                      <p:tavLst>
                                        <p:tav tm="0">
                                          <p:val>
                                            <p:strVal val="1+#ppt_w/2"/>
                                          </p:val>
                                        </p:tav>
                                        <p:tav tm="100000">
                                          <p:val>
                                            <p:strVal val="#ppt_x"/>
                                          </p:val>
                                        </p:tav>
                                      </p:tavLst>
                                    </p:anim>
                                    <p:anim calcmode="lin" valueType="num">
                                      <p:cBhvr additive="base">
                                        <p:cTn id="8" dur="500" fill="hold"/>
                                        <p:tgtEl>
                                          <p:spTgt spid="4300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2"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4" descr="_OLE554"/>
          <p:cNvPicPr>
            <a:picLocks noChangeAspect="1"/>
          </p:cNvPicPr>
          <p:nvPr/>
        </p:nvPicPr>
        <p:blipFill rotWithShape="1">
          <a:blip r:embed="rId3"/>
          <a:srcRect l="2498" t="23580" b="7928"/>
          <a:stretch/>
        </p:blipFill>
        <p:spPr>
          <a:xfrm>
            <a:off x="1330036" y="0"/>
            <a:ext cx="10303043" cy="3548134"/>
          </a:xfrm>
          <a:prstGeom prst="rect">
            <a:avLst/>
          </a:prstGeom>
          <a:noFill/>
          <a:ln w="9525">
            <a:noFill/>
          </a:ln>
        </p:spPr>
      </p:pic>
      <p:sp>
        <p:nvSpPr>
          <p:cNvPr id="133125" name="Rectangle 5"/>
          <p:cNvSpPr>
            <a:spLocks noChangeArrowheads="1"/>
          </p:cNvSpPr>
          <p:nvPr/>
        </p:nvSpPr>
        <p:spPr bwMode="auto">
          <a:xfrm>
            <a:off x="-2" y="3536104"/>
            <a:ext cx="12191999" cy="2936885"/>
          </a:xfrm>
          <a:prstGeom prst="rect">
            <a:avLst/>
          </a:prstGeom>
        </p:spPr>
        <p:txBody>
          <a:bodyPr vert="horz" lIns="91440" tIns="45720" rIns="91440" bIns="45720" rtlCol="0" anchor="ctr">
            <a:normAutofit/>
          </a:bodyPr>
          <a:lstStyle/>
          <a:p>
            <a:pPr>
              <a:lnSpc>
                <a:spcPct val="90000"/>
              </a:lnSpc>
              <a:spcBef>
                <a:spcPct val="0"/>
              </a:spcBef>
            </a:pPr>
            <a:r>
              <a:rPr lang="zh-CN" altLang="en-US" sz="3200" b="1" dirty="0">
                <a:solidFill>
                  <a:srgbClr val="3324FA"/>
                </a:solidFill>
                <a:latin typeface="Times New Roman" pitchFamily="18" charset="0"/>
                <a:ea typeface="黑体" panose="02010609060101010101" pitchFamily="49" charset="-122"/>
                <a:cs typeface="Times New Roman" pitchFamily="18" charset="0"/>
              </a:rPr>
              <a:t>表内数字是</a:t>
            </a:r>
            <a:r>
              <a:rPr lang="zh-CN" altLang="en-US" sz="3200" b="1" dirty="0">
                <a:solidFill>
                  <a:srgbClr val="3324FA"/>
                </a:solidFill>
                <a:latin typeface="Times New Roman" pitchFamily="18" charset="0"/>
                <a:ea typeface="黑体" panose="02010609060101010101" pitchFamily="49" charset="-122"/>
                <a:cs typeface="Times New Roman" pitchFamily="18" charset="0"/>
                <a:sym typeface="Symbol" panose="05050102010706020507" pitchFamily="18" charset="2"/>
              </a:rPr>
              <a:t></a:t>
            </a:r>
            <a:r>
              <a:rPr lang="en-US" altLang="zh-CN" sz="3200" b="1" dirty="0">
                <a:solidFill>
                  <a:srgbClr val="3324FA"/>
                </a:solidFill>
                <a:latin typeface="Times New Roman" pitchFamily="18" charset="0"/>
                <a:ea typeface="黑体" panose="02010609060101010101" pitchFamily="49" charset="-122"/>
                <a:cs typeface="Times New Roman" pitchFamily="18" charset="0"/>
              </a:rPr>
              <a:t>2</a:t>
            </a:r>
            <a:r>
              <a:rPr lang="zh-CN" altLang="en-US" sz="3200" b="1" dirty="0">
                <a:solidFill>
                  <a:srgbClr val="3324FA"/>
                </a:solidFill>
                <a:latin typeface="Times New Roman" pitchFamily="18" charset="0"/>
                <a:ea typeface="黑体" panose="02010609060101010101" pitchFamily="49" charset="-122"/>
                <a:cs typeface="Times New Roman" pitchFamily="18" charset="0"/>
              </a:rPr>
              <a:t>值，</a:t>
            </a:r>
            <a:r>
              <a:rPr lang="en-US" altLang="zh-CN" sz="3200" b="1" dirty="0">
                <a:solidFill>
                  <a:srgbClr val="3324FA"/>
                </a:solidFill>
                <a:latin typeface="Times New Roman" pitchFamily="18" charset="0"/>
                <a:ea typeface="黑体" panose="02010609060101010101" pitchFamily="49" charset="-122"/>
                <a:cs typeface="Times New Roman" pitchFamily="18" charset="0"/>
                <a:sym typeface="+mn-ea"/>
              </a:rPr>
              <a:t>n</a:t>
            </a:r>
            <a:r>
              <a:rPr lang="zh-CN" altLang="en-US" sz="3200" b="1" dirty="0">
                <a:solidFill>
                  <a:srgbClr val="3324FA"/>
                </a:solidFill>
                <a:latin typeface="Times New Roman" pitchFamily="18" charset="0"/>
                <a:ea typeface="黑体" panose="02010609060101010101" pitchFamily="49" charset="-122"/>
                <a:cs typeface="Times New Roman" pitchFamily="18" charset="0"/>
                <a:sym typeface="+mn-ea"/>
              </a:rPr>
              <a:t>表示“自由度”</a:t>
            </a:r>
            <a:r>
              <a:rPr lang="zh-CN" altLang="en-US" sz="3200" b="1" dirty="0">
                <a:latin typeface="Times New Roman" pitchFamily="18" charset="0"/>
                <a:ea typeface="黑体" panose="02010609060101010101" pitchFamily="49" charset="-122"/>
                <a:cs typeface="Times New Roman" pitchFamily="18" charset="0"/>
                <a:sym typeface="+mn-ea"/>
              </a:rPr>
              <a:t>（</a:t>
            </a:r>
            <a:r>
              <a:rPr lang="zh-CN" altLang="en-US" sz="3200" b="1" dirty="0">
                <a:latin typeface="楷体" pitchFamily="49" charset="-122"/>
                <a:ea typeface="楷体" pitchFamily="49" charset="-122"/>
                <a:cs typeface="Times New Roman" pitchFamily="18" charset="0"/>
                <a:sym typeface="+mn-ea"/>
              </a:rPr>
              <a:t>意思是在各项预期值决定后，实得数中有几项能自由变动。在分离比数的适合度测验中，自由度一般等于子代分类数减</a:t>
            </a:r>
            <a:r>
              <a:rPr lang="en-US" altLang="zh-CN" sz="3200" b="1" dirty="0">
                <a:latin typeface="楷体" pitchFamily="49" charset="-122"/>
                <a:ea typeface="楷体" pitchFamily="49" charset="-122"/>
                <a:cs typeface="Times New Roman" pitchFamily="18" charset="0"/>
                <a:sym typeface="+mn-ea"/>
              </a:rPr>
              <a:t>1</a:t>
            </a:r>
            <a:r>
              <a:rPr lang="zh-CN" altLang="en-US" sz="3200" b="1" dirty="0">
                <a:latin typeface="Times New Roman" pitchFamily="18" charset="0"/>
                <a:ea typeface="黑体" panose="02010609060101010101" pitchFamily="49" charset="-122"/>
                <a:cs typeface="Times New Roman" pitchFamily="18" charset="0"/>
                <a:sym typeface="+mn-ea"/>
              </a:rPr>
              <a:t>）</a:t>
            </a:r>
            <a:endParaRPr lang="en-US" altLang="zh-CN" sz="3200" b="1" dirty="0">
              <a:latin typeface="Times New Roman" pitchFamily="18" charset="0"/>
              <a:ea typeface="黑体" panose="02010609060101010101" pitchFamily="49" charset="-122"/>
              <a:cs typeface="Times New Roman" pitchFamily="18" charset="0"/>
              <a:sym typeface="+mn-ea"/>
            </a:endParaRPr>
          </a:p>
          <a:p>
            <a:pPr>
              <a:lnSpc>
                <a:spcPct val="90000"/>
              </a:lnSpc>
              <a:spcBef>
                <a:spcPct val="0"/>
              </a:spcBef>
            </a:pPr>
            <a:r>
              <a:rPr lang="en-US" altLang="zh-CN" sz="3200" b="1" dirty="0">
                <a:solidFill>
                  <a:srgbClr val="3324FA"/>
                </a:solidFill>
                <a:latin typeface="Times New Roman" pitchFamily="18" charset="0"/>
                <a:ea typeface="黑体" panose="02010609060101010101" pitchFamily="49" charset="-122"/>
                <a:cs typeface="Times New Roman" pitchFamily="18" charset="0"/>
                <a:sym typeface="+mn-ea"/>
              </a:rPr>
              <a:t>P</a:t>
            </a:r>
            <a:r>
              <a:rPr lang="zh-CN" altLang="en-US" sz="3200" b="1" dirty="0">
                <a:solidFill>
                  <a:srgbClr val="3324FA"/>
                </a:solidFill>
                <a:latin typeface="Times New Roman" pitchFamily="18" charset="0"/>
                <a:ea typeface="黑体" panose="02010609060101010101" pitchFamily="49" charset="-122"/>
                <a:cs typeface="Times New Roman" pitchFamily="18" charset="0"/>
                <a:sym typeface="+mn-ea"/>
              </a:rPr>
              <a:t>是实得数与理论数相差一样大以及更大的积加概率</a:t>
            </a:r>
            <a:r>
              <a:rPr lang="zh-CN" altLang="en-US" sz="3200" b="1" dirty="0">
                <a:latin typeface="Times New Roman" pitchFamily="18" charset="0"/>
                <a:ea typeface="黑体" panose="02010609060101010101" pitchFamily="49" charset="-122"/>
                <a:cs typeface="Times New Roman" pitchFamily="18" charset="0"/>
                <a:sym typeface="+mn-ea"/>
              </a:rPr>
              <a:t>。</a:t>
            </a:r>
            <a:r>
              <a:rPr lang="zh-CN" altLang="en-US" sz="3200" b="1" dirty="0">
                <a:latin typeface="楷体" pitchFamily="49" charset="-122"/>
                <a:ea typeface="楷体" pitchFamily="49" charset="-122"/>
                <a:cs typeface="Times New Roman" pitchFamily="18" charset="0"/>
                <a:sym typeface="+mn-ea"/>
              </a:rPr>
              <a:t>在上述一对基因回交试验中，子代分成</a:t>
            </a:r>
            <a:r>
              <a:rPr lang="en-US" altLang="zh-CN" sz="3200" b="1" dirty="0">
                <a:latin typeface="楷体" pitchFamily="49" charset="-122"/>
                <a:ea typeface="楷体" pitchFamily="49" charset="-122"/>
                <a:cs typeface="Times New Roman" pitchFamily="18" charset="0"/>
                <a:sym typeface="+mn-ea"/>
              </a:rPr>
              <a:t>2</a:t>
            </a:r>
            <a:r>
              <a:rPr lang="zh-CN" altLang="en-US" sz="3200" b="1" dirty="0">
                <a:latin typeface="楷体" pitchFamily="49" charset="-122"/>
                <a:ea typeface="楷体" pitchFamily="49" charset="-122"/>
                <a:cs typeface="Times New Roman" pitchFamily="18" charset="0"/>
                <a:sym typeface="+mn-ea"/>
              </a:rPr>
              <a:t>类，自由度</a:t>
            </a:r>
            <a:r>
              <a:rPr lang="en-US" altLang="zh-CN" sz="3200" b="1" dirty="0">
                <a:latin typeface="楷体" pitchFamily="49" charset="-122"/>
                <a:ea typeface="楷体" pitchFamily="49" charset="-122"/>
                <a:cs typeface="Times New Roman" pitchFamily="18" charset="0"/>
                <a:sym typeface="+mn-ea"/>
              </a:rPr>
              <a:t>n=2-1=1</a:t>
            </a:r>
            <a:r>
              <a:rPr lang="zh-CN" altLang="en-US" sz="3200" b="1" dirty="0">
                <a:latin typeface="楷体" pitchFamily="49" charset="-122"/>
                <a:ea typeface="楷体" pitchFamily="49" charset="-122"/>
                <a:cs typeface="Times New Roman" pitchFamily="18" charset="0"/>
                <a:sym typeface="+mn-ea"/>
              </a:rPr>
              <a:t>，因为这两个实得数值中，只有一个可以自由变动</a:t>
            </a:r>
            <a:r>
              <a:rPr lang="zh-CN" altLang="en-US" sz="3200" b="1" dirty="0">
                <a:latin typeface="Times New Roman" pitchFamily="18" charset="0"/>
                <a:ea typeface="黑体" panose="02010609060101010101" pitchFamily="49" charset="-122"/>
                <a:cs typeface="Times New Roman" pitchFamily="18" charset="0"/>
                <a:sym typeface="+mn-ea"/>
              </a:rPr>
              <a:t>。</a:t>
            </a:r>
          </a:p>
        </p:txBody>
      </p:sp>
      <p:sp>
        <p:nvSpPr>
          <p:cNvPr id="4" name="Rectangle 2">
            <a:extLst>
              <a:ext uri="{FF2B5EF4-FFF2-40B4-BE49-F238E27FC236}">
                <a16:creationId xmlns:a16="http://schemas.microsoft.com/office/drawing/2014/main" id="{A2F9DB2B-488A-493A-B4A4-389A58A36492}"/>
              </a:ext>
            </a:extLst>
          </p:cNvPr>
          <p:cNvSpPr txBox="1">
            <a:spLocks noChangeArrowheads="1"/>
          </p:cNvSpPr>
          <p:nvPr/>
        </p:nvSpPr>
        <p:spPr>
          <a:xfrm>
            <a:off x="-125412" y="939511"/>
            <a:ext cx="1455448" cy="679450"/>
          </a:xfrm>
          <a:prstGeom prst="rect">
            <a:avLst/>
          </a:prstGeom>
        </p:spPr>
        <p:txBody>
          <a:bodyP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b="1">
                <a:solidFill>
                  <a:srgbClr val="FF0000"/>
                </a:solidFill>
                <a:latin typeface="黑体" panose="02010609060101010101" pitchFamily="49" charset="-122"/>
                <a:ea typeface="黑体" panose="02010609060101010101" pitchFamily="49" charset="-122"/>
                <a:sym typeface="Symbol" panose="05050102010706020507" pitchFamily="18" charset="2"/>
              </a:rPr>
              <a:t></a:t>
            </a:r>
            <a:r>
              <a:rPr lang="en-US" altLang="zh-CN" b="1">
                <a:solidFill>
                  <a:srgbClr val="FF0000"/>
                </a:solidFill>
                <a:latin typeface="黑体" panose="02010609060101010101" pitchFamily="49" charset="-122"/>
                <a:ea typeface="黑体" panose="02010609060101010101" pitchFamily="49" charset="-122"/>
              </a:rPr>
              <a:t>2</a:t>
            </a:r>
            <a:r>
              <a:rPr lang="zh-CN" altLang="en-US" b="1">
                <a:solidFill>
                  <a:srgbClr val="FF0000"/>
                </a:solidFill>
                <a:latin typeface="黑体" panose="02010609060101010101" pitchFamily="49" charset="-122"/>
                <a:ea typeface="黑体" panose="02010609060101010101" pitchFamily="49" charset="-122"/>
              </a:rPr>
              <a:t>表 </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3125"/>
                                        </p:tgtEl>
                                        <p:attrNameLst>
                                          <p:attrName>style.visibility</p:attrName>
                                        </p:attrNameLst>
                                      </p:cBhvr>
                                      <p:to>
                                        <p:strVal val="visible"/>
                                      </p:to>
                                    </p:set>
                                    <p:animEffect transition="in" filter="fade">
                                      <p:cBhvr>
                                        <p:cTn id="7" dur="500"/>
                                        <p:tgtEl>
                                          <p:spTgt spid="133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descr="X值表"/>
          <p:cNvPicPr>
            <a:picLocks noGrp="1" noChangeAspect="1" noChangeArrowheads="1"/>
          </p:cNvPicPr>
          <p:nvPr>
            <p:ph/>
          </p:nvPr>
        </p:nvPicPr>
        <p:blipFill>
          <a:blip r:embed="rId2"/>
          <a:srcRect/>
          <a:stretch>
            <a:fillRect/>
          </a:stretch>
        </p:blipFill>
        <p:spPr bwMode="auto">
          <a:xfrm>
            <a:off x="0" y="0"/>
            <a:ext cx="12192000" cy="4392613"/>
          </a:xfrm>
          <a:noFill/>
          <a:ln>
            <a:miter lim="800000"/>
            <a:headEnd/>
            <a:tailEnd/>
          </a:ln>
        </p:spPr>
      </p:pic>
      <p:sp>
        <p:nvSpPr>
          <p:cNvPr id="6421507" name="Rectangle 3"/>
          <p:cNvSpPr>
            <a:spLocks noChangeArrowheads="1"/>
          </p:cNvSpPr>
          <p:nvPr/>
        </p:nvSpPr>
        <p:spPr bwMode="auto">
          <a:xfrm>
            <a:off x="143934" y="4903213"/>
            <a:ext cx="11808884" cy="1613965"/>
          </a:xfrm>
          <a:prstGeom prst="rect">
            <a:avLst/>
          </a:prstGeom>
          <a:noFill/>
          <a:ln w="9525">
            <a:noFill/>
            <a:miter lim="800000"/>
            <a:headEnd/>
            <a:tailEnd/>
          </a:ln>
        </p:spPr>
        <p:txBody>
          <a:bodyPr/>
          <a:lstStyle/>
          <a:p>
            <a:pPr marL="342900" indent="-342900" algn="just" eaLnBrk="1" hangingPunct="1">
              <a:spcBef>
                <a:spcPct val="20000"/>
              </a:spcBef>
            </a:pPr>
            <a:r>
              <a:rPr lang="zh-CN" altLang="en-US" sz="2800" b="1" dirty="0">
                <a:latin typeface="黑体" pitchFamily="49" charset="-122"/>
                <a:ea typeface="黑体" pitchFamily="49" charset="-122"/>
              </a:rPr>
              <a:t>当</a:t>
            </a:r>
            <a:r>
              <a:rPr lang="en-US" altLang="zh-CN" sz="2800" b="1" dirty="0">
                <a:solidFill>
                  <a:srgbClr val="FF0000"/>
                </a:solidFill>
                <a:latin typeface="黑体" pitchFamily="49" charset="-122"/>
                <a:ea typeface="黑体" pitchFamily="49" charset="-122"/>
              </a:rPr>
              <a:t>P&lt;0.05</a:t>
            </a:r>
            <a:r>
              <a:rPr lang="zh-CN" altLang="en-US" sz="2800" b="1" dirty="0">
                <a:latin typeface="黑体" pitchFamily="49" charset="-122"/>
                <a:ea typeface="黑体" pitchFamily="49" charset="-122"/>
              </a:rPr>
              <a:t>时，一般认为实得资料与理论比数之间</a:t>
            </a:r>
            <a:r>
              <a:rPr lang="zh-CN" altLang="en-US" sz="2800" b="1" dirty="0">
                <a:solidFill>
                  <a:srgbClr val="FF0000"/>
                </a:solidFill>
                <a:latin typeface="黑体" pitchFamily="49" charset="-122"/>
                <a:ea typeface="黑体" pitchFamily="49" charset="-122"/>
              </a:rPr>
              <a:t>差异显著</a:t>
            </a:r>
            <a:r>
              <a:rPr lang="zh-CN" altLang="en-US" sz="2800" b="1" dirty="0">
                <a:latin typeface="黑体" pitchFamily="49" charset="-122"/>
                <a:ea typeface="黑体" pitchFamily="49" charset="-122"/>
              </a:rPr>
              <a:t>，或者说，两者不符合，应把假设的理论比数否定。</a:t>
            </a:r>
          </a:p>
          <a:p>
            <a:pPr marL="342900" indent="-342900" algn="just" eaLnBrk="1" hangingPunct="1">
              <a:spcBef>
                <a:spcPct val="20000"/>
              </a:spcBef>
            </a:pPr>
            <a:r>
              <a:rPr lang="zh-CN" altLang="en-US" sz="2800" b="1" dirty="0">
                <a:latin typeface="黑体" pitchFamily="49" charset="-122"/>
                <a:ea typeface="黑体" pitchFamily="49" charset="-122"/>
              </a:rPr>
              <a:t>当</a:t>
            </a:r>
            <a:r>
              <a:rPr lang="en-US" altLang="zh-CN" sz="2800" b="1" dirty="0">
                <a:solidFill>
                  <a:srgbClr val="FF0000"/>
                </a:solidFill>
                <a:latin typeface="黑体" pitchFamily="49" charset="-122"/>
                <a:ea typeface="黑体" pitchFamily="49" charset="-122"/>
              </a:rPr>
              <a:t>P&lt;0.01</a:t>
            </a:r>
            <a:r>
              <a:rPr lang="zh-CN" altLang="en-US" sz="2800" b="1" dirty="0">
                <a:latin typeface="黑体" pitchFamily="49" charset="-122"/>
                <a:ea typeface="黑体" pitchFamily="49" charset="-122"/>
              </a:rPr>
              <a:t>时，认为实得资料与理论比数</a:t>
            </a:r>
            <a:r>
              <a:rPr lang="zh-CN" altLang="en-US" sz="2800" b="1" dirty="0">
                <a:solidFill>
                  <a:srgbClr val="FF0000"/>
                </a:solidFill>
                <a:latin typeface="黑体" pitchFamily="49" charset="-122"/>
                <a:ea typeface="黑体" pitchFamily="49" charset="-122"/>
              </a:rPr>
              <a:t>差异极显著</a:t>
            </a:r>
            <a:r>
              <a:rPr lang="zh-CN" altLang="en-US" sz="2800" b="1" dirty="0">
                <a:latin typeface="黑体" pitchFamily="49" charset="-122"/>
                <a:ea typeface="黑体" pitchFamily="49" charset="-122"/>
              </a:rPr>
              <a:t>，两者不符合。</a:t>
            </a:r>
          </a:p>
        </p:txBody>
      </p:sp>
      <p:sp>
        <p:nvSpPr>
          <p:cNvPr id="6421508" name="Rectangle 4"/>
          <p:cNvSpPr>
            <a:spLocks noChangeArrowheads="1"/>
          </p:cNvSpPr>
          <p:nvPr/>
        </p:nvSpPr>
        <p:spPr bwMode="auto">
          <a:xfrm>
            <a:off x="142743" y="4376739"/>
            <a:ext cx="11664949" cy="480131"/>
          </a:xfrm>
          <a:prstGeom prst="rect">
            <a:avLst/>
          </a:prstGeom>
          <a:noFill/>
          <a:ln w="9525">
            <a:noFill/>
            <a:miter lim="800000"/>
            <a:headEnd/>
            <a:tailEnd/>
          </a:ln>
        </p:spPr>
        <p:txBody>
          <a:bodyPr>
            <a:spAutoFit/>
          </a:bodyPr>
          <a:lstStyle/>
          <a:p>
            <a:pPr eaLnBrk="1" hangingPunct="1">
              <a:lnSpc>
                <a:spcPct val="90000"/>
              </a:lnSpc>
              <a:spcBef>
                <a:spcPct val="20000"/>
              </a:spcBef>
            </a:pPr>
            <a:r>
              <a:rPr lang="zh-CN" altLang="en-US" sz="2800" b="1" dirty="0">
                <a:latin typeface="黑体" pitchFamily="49" charset="-122"/>
                <a:ea typeface="黑体" pitchFamily="49" charset="-122"/>
              </a:rPr>
              <a:t>当</a:t>
            </a:r>
            <a:r>
              <a:rPr lang="en-US" altLang="zh-CN" sz="2800" b="1" dirty="0">
                <a:solidFill>
                  <a:srgbClr val="FF0000"/>
                </a:solidFill>
                <a:latin typeface="黑体" pitchFamily="49" charset="-122"/>
                <a:ea typeface="黑体" pitchFamily="49" charset="-122"/>
              </a:rPr>
              <a:t>P</a:t>
            </a:r>
            <a:r>
              <a:rPr lang="zh-CN" altLang="en-US" sz="2800" b="1" dirty="0">
                <a:solidFill>
                  <a:srgbClr val="FF0000"/>
                </a:solidFill>
                <a:latin typeface="黑体" pitchFamily="49" charset="-122"/>
                <a:ea typeface="黑体" pitchFamily="49" charset="-122"/>
              </a:rPr>
              <a:t>＞</a:t>
            </a:r>
            <a:r>
              <a:rPr lang="en-US" altLang="zh-CN" sz="2800" b="1" dirty="0">
                <a:solidFill>
                  <a:srgbClr val="FF0000"/>
                </a:solidFill>
                <a:latin typeface="黑体" pitchFamily="49" charset="-122"/>
                <a:ea typeface="黑体" pitchFamily="49" charset="-122"/>
              </a:rPr>
              <a:t>0.05</a:t>
            </a:r>
            <a:r>
              <a:rPr lang="zh-CN" altLang="en-US" sz="2800" b="1" dirty="0">
                <a:latin typeface="黑体" pitchFamily="49" charset="-122"/>
                <a:ea typeface="黑体" pitchFamily="49" charset="-122"/>
              </a:rPr>
              <a:t>，实得资料与理论比数</a:t>
            </a:r>
            <a:r>
              <a:rPr lang="zh-CN" altLang="en-US" sz="2800" b="1" dirty="0">
                <a:solidFill>
                  <a:srgbClr val="FF0000"/>
                </a:solidFill>
                <a:latin typeface="黑体" pitchFamily="49" charset="-122"/>
                <a:ea typeface="黑体" pitchFamily="49" charset="-122"/>
              </a:rPr>
              <a:t>差异不显著。</a:t>
            </a:r>
          </a:p>
        </p:txBody>
      </p:sp>
    </p:spTree>
    <p:extLst>
      <p:ext uri="{BB962C8B-B14F-4D97-AF65-F5344CB8AC3E}">
        <p14:creationId xmlns:p14="http://schemas.microsoft.com/office/powerpoint/2010/main" val="997740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21508"/>
                                        </p:tgtEl>
                                        <p:attrNameLst>
                                          <p:attrName>style.visibility</p:attrName>
                                        </p:attrNameLst>
                                      </p:cBhvr>
                                      <p:to>
                                        <p:strVal val="visible"/>
                                      </p:to>
                                    </p:set>
                                    <p:anim calcmode="lin" valueType="num">
                                      <p:cBhvr additive="base">
                                        <p:cTn id="7" dur="500" fill="hold"/>
                                        <p:tgtEl>
                                          <p:spTgt spid="6421508"/>
                                        </p:tgtEl>
                                        <p:attrNameLst>
                                          <p:attrName>ppt_x</p:attrName>
                                        </p:attrNameLst>
                                      </p:cBhvr>
                                      <p:tavLst>
                                        <p:tav tm="0">
                                          <p:val>
                                            <p:strVal val="#ppt_x"/>
                                          </p:val>
                                        </p:tav>
                                        <p:tav tm="100000">
                                          <p:val>
                                            <p:strVal val="#ppt_x"/>
                                          </p:val>
                                        </p:tav>
                                      </p:tavLst>
                                    </p:anim>
                                    <p:anim calcmode="lin" valueType="num">
                                      <p:cBhvr additive="base">
                                        <p:cTn id="8" dur="500" fill="hold"/>
                                        <p:tgtEl>
                                          <p:spTgt spid="642150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421507"/>
                                        </p:tgtEl>
                                        <p:attrNameLst>
                                          <p:attrName>style.visibility</p:attrName>
                                        </p:attrNameLst>
                                      </p:cBhvr>
                                      <p:to>
                                        <p:strVal val="visible"/>
                                      </p:to>
                                    </p:set>
                                    <p:anim calcmode="lin" valueType="num">
                                      <p:cBhvr additive="base">
                                        <p:cTn id="13" dur="500" fill="hold"/>
                                        <p:tgtEl>
                                          <p:spTgt spid="6421507"/>
                                        </p:tgtEl>
                                        <p:attrNameLst>
                                          <p:attrName>ppt_x</p:attrName>
                                        </p:attrNameLst>
                                      </p:cBhvr>
                                      <p:tavLst>
                                        <p:tav tm="0">
                                          <p:val>
                                            <p:strVal val="#ppt_x"/>
                                          </p:val>
                                        </p:tav>
                                        <p:tav tm="100000">
                                          <p:val>
                                            <p:strVal val="#ppt_x"/>
                                          </p:val>
                                        </p:tav>
                                      </p:tavLst>
                                    </p:anim>
                                    <p:anim calcmode="lin" valueType="num">
                                      <p:cBhvr additive="base">
                                        <p:cTn id="14" dur="500" fill="hold"/>
                                        <p:tgtEl>
                                          <p:spTgt spid="64215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1507" grpId="0"/>
      <p:bldP spid="642150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5"/>
          <p:cNvSpPr>
            <a:spLocks noChangeArrowheads="1"/>
          </p:cNvSpPr>
          <p:nvPr/>
        </p:nvSpPr>
        <p:spPr bwMode="auto">
          <a:xfrm>
            <a:off x="276540" y="1126746"/>
            <a:ext cx="10464800" cy="3162621"/>
          </a:xfrm>
          <a:prstGeom prst="rect">
            <a:avLst/>
          </a:prstGeom>
          <a:noFill/>
          <a:ln w="9525">
            <a:noFill/>
            <a:miter lim="800000"/>
            <a:headEnd/>
            <a:tailEnd/>
          </a:ln>
        </p:spPr>
        <p:txBody>
          <a:bodyPr/>
          <a:lstStyle/>
          <a:p>
            <a:pPr marL="342900" indent="-342900" eaLnBrk="1" hangingPunct="1">
              <a:lnSpc>
                <a:spcPct val="90000"/>
              </a:lnSpc>
              <a:spcBef>
                <a:spcPct val="20000"/>
              </a:spcBef>
            </a:pPr>
            <a:r>
              <a:rPr lang="zh-CN" altLang="en-US" sz="3600" b="1" dirty="0">
                <a:latin typeface="Times New Roman" pitchFamily="18" charset="0"/>
                <a:ea typeface="宋体" pitchFamily="2" charset="-122"/>
              </a:rPr>
              <a:t>                                 抗性                敏感性</a:t>
            </a:r>
          </a:p>
          <a:p>
            <a:pPr marL="342900" indent="-342900" eaLnBrk="1" hangingPunct="1">
              <a:lnSpc>
                <a:spcPct val="90000"/>
              </a:lnSpc>
              <a:spcBef>
                <a:spcPct val="20000"/>
              </a:spcBef>
            </a:pPr>
            <a:r>
              <a:rPr lang="zh-CN" altLang="en-US" sz="3600" b="1" dirty="0">
                <a:latin typeface="Times New Roman" pitchFamily="18" charset="0"/>
                <a:ea typeface="宋体" pitchFamily="2" charset="-122"/>
              </a:rPr>
              <a:t>    实得数</a:t>
            </a:r>
            <a:r>
              <a:rPr lang="en-US" altLang="zh-CN" sz="3600" b="1" dirty="0">
                <a:latin typeface="Times New Roman" pitchFamily="18" charset="0"/>
                <a:ea typeface="宋体" pitchFamily="2" charset="-122"/>
              </a:rPr>
              <a:t>(O)             14                        6</a:t>
            </a:r>
          </a:p>
          <a:p>
            <a:pPr marL="342900" indent="-342900" algn="just" eaLnBrk="1" hangingPunct="1">
              <a:lnSpc>
                <a:spcPct val="90000"/>
              </a:lnSpc>
              <a:spcBef>
                <a:spcPct val="20000"/>
              </a:spcBef>
            </a:pPr>
            <a:r>
              <a:rPr lang="en-US" altLang="zh-CN" sz="3600" b="1" dirty="0">
                <a:latin typeface="Times New Roman" pitchFamily="18" charset="0"/>
                <a:ea typeface="宋体" pitchFamily="2" charset="-122"/>
              </a:rPr>
              <a:t>    </a:t>
            </a:r>
            <a:r>
              <a:rPr lang="zh-CN" altLang="en-US" sz="3600" b="1" dirty="0">
                <a:latin typeface="Times New Roman" pitchFamily="18" charset="0"/>
                <a:ea typeface="宋体" pitchFamily="2" charset="-122"/>
              </a:rPr>
              <a:t>预期数</a:t>
            </a:r>
            <a:r>
              <a:rPr lang="en-US" altLang="zh-CN" sz="3600" b="1" dirty="0">
                <a:latin typeface="Times New Roman" pitchFamily="18" charset="0"/>
                <a:ea typeface="宋体" pitchFamily="2" charset="-122"/>
              </a:rPr>
              <a:t>(E)             10                       10  </a:t>
            </a:r>
          </a:p>
          <a:p>
            <a:pPr marL="342900" indent="-342900" algn="just" eaLnBrk="1" hangingPunct="1">
              <a:lnSpc>
                <a:spcPct val="90000"/>
              </a:lnSpc>
              <a:spcBef>
                <a:spcPct val="20000"/>
              </a:spcBef>
            </a:pPr>
            <a:r>
              <a:rPr lang="en-US" altLang="zh-CN" sz="3600" b="1" dirty="0">
                <a:latin typeface="Times New Roman" pitchFamily="18" charset="0"/>
                <a:ea typeface="宋体" pitchFamily="2" charset="-122"/>
              </a:rPr>
              <a:t>    </a:t>
            </a:r>
            <a:r>
              <a:rPr lang="zh-CN" altLang="en-US" sz="3600" b="1" dirty="0">
                <a:latin typeface="Times New Roman" pitchFamily="18" charset="0"/>
                <a:ea typeface="宋体" pitchFamily="2" charset="-122"/>
              </a:rPr>
              <a:t>偏差</a:t>
            </a:r>
            <a:r>
              <a:rPr lang="en-US" altLang="zh-CN" sz="3600" b="1" dirty="0">
                <a:latin typeface="Times New Roman" pitchFamily="18" charset="0"/>
                <a:ea typeface="宋体" pitchFamily="2" charset="-122"/>
              </a:rPr>
              <a:t>(O-E)              4                        - 4</a:t>
            </a:r>
          </a:p>
          <a:p>
            <a:pPr marL="342900" indent="-342900" algn="just" eaLnBrk="1" hangingPunct="1">
              <a:lnSpc>
                <a:spcPct val="90000"/>
              </a:lnSpc>
              <a:spcBef>
                <a:spcPct val="20000"/>
              </a:spcBef>
            </a:pPr>
            <a:r>
              <a:rPr lang="en-US" altLang="zh-CN" sz="3600" b="1" dirty="0">
                <a:latin typeface="Times New Roman" pitchFamily="18" charset="0"/>
                <a:ea typeface="宋体" pitchFamily="2" charset="-122"/>
              </a:rPr>
              <a:t>     (O-E)</a:t>
            </a:r>
            <a:r>
              <a:rPr lang="en-US" altLang="zh-CN" sz="3600" b="1" baseline="30000" dirty="0">
                <a:latin typeface="Times New Roman" pitchFamily="18" charset="0"/>
                <a:ea typeface="宋体" pitchFamily="2" charset="-122"/>
              </a:rPr>
              <a:t>2</a:t>
            </a:r>
            <a:r>
              <a:rPr lang="en-US" altLang="zh-CN" sz="3600" b="1" dirty="0">
                <a:latin typeface="Times New Roman" pitchFamily="18" charset="0"/>
                <a:ea typeface="宋体" pitchFamily="2" charset="-122"/>
              </a:rPr>
              <a:t>/E               1.6                      1.6</a:t>
            </a:r>
          </a:p>
          <a:p>
            <a:pPr marL="342900" indent="-342900" algn="just" eaLnBrk="1" hangingPunct="1">
              <a:lnSpc>
                <a:spcPct val="90000"/>
              </a:lnSpc>
              <a:spcBef>
                <a:spcPct val="20000"/>
              </a:spcBef>
            </a:pPr>
            <a:endParaRPr lang="en-US" altLang="zh-CN" sz="3600" dirty="0">
              <a:latin typeface="Times New Roman" pitchFamily="18" charset="0"/>
              <a:ea typeface="宋体" pitchFamily="2" charset="-122"/>
            </a:endParaRPr>
          </a:p>
        </p:txBody>
      </p:sp>
      <p:sp>
        <p:nvSpPr>
          <p:cNvPr id="48132" name="Rectangle 6"/>
          <p:cNvSpPr>
            <a:spLocks noGrp="1" noChangeArrowheads="1"/>
          </p:cNvSpPr>
          <p:nvPr>
            <p:ph type="title"/>
          </p:nvPr>
        </p:nvSpPr>
        <p:spPr bwMode="auto">
          <a:xfrm>
            <a:off x="891913" y="0"/>
            <a:ext cx="10896600" cy="1311128"/>
          </a:xfrm>
          <a:noFill/>
          <a:ln>
            <a:miter lim="800000"/>
            <a:headEnd/>
            <a:tailEnd/>
          </a:ln>
        </p:spPr>
        <p:txBody>
          <a:bodyPr vert="horz" wrap="square" lIns="91440" tIns="45720" rIns="91440" bIns="45720" numCol="1" anchor="b" anchorCtr="0" compatLnSpc="1">
            <a:prstTxWarp prst="textNoShape">
              <a:avLst/>
            </a:prstTxWarp>
            <a:spAutoFit/>
          </a:bodyPr>
          <a:lstStyle/>
          <a:p>
            <a:pPr eaLnBrk="1" hangingPunct="1"/>
            <a:r>
              <a:rPr lang="en-US" altLang="zh-CN" b="1" dirty="0">
                <a:solidFill>
                  <a:srgbClr val="3324FA"/>
                </a:solidFill>
                <a:latin typeface="黑体" pitchFamily="49" charset="-122"/>
                <a:ea typeface="黑体" pitchFamily="49" charset="-122"/>
              </a:rPr>
              <a:t>X</a:t>
            </a:r>
            <a:r>
              <a:rPr lang="en-US" altLang="zh-CN" b="1" baseline="30000" dirty="0">
                <a:solidFill>
                  <a:srgbClr val="3324FA"/>
                </a:solidFill>
                <a:latin typeface="黑体" pitchFamily="49" charset="-122"/>
                <a:ea typeface="黑体" pitchFamily="49" charset="-122"/>
              </a:rPr>
              <a:t>2</a:t>
            </a:r>
            <a:r>
              <a:rPr lang="en-US" altLang="zh-CN" b="1" dirty="0">
                <a:solidFill>
                  <a:srgbClr val="3324FA"/>
                </a:solidFill>
                <a:latin typeface="黑体" pitchFamily="49" charset="-122"/>
                <a:ea typeface="黑体" pitchFamily="49" charset="-122"/>
              </a:rPr>
              <a:t>(</a:t>
            </a:r>
            <a:r>
              <a:rPr lang="zh-CN" altLang="en-US" sz="3600" b="1" dirty="0">
                <a:solidFill>
                  <a:srgbClr val="3324FA"/>
                </a:solidFill>
                <a:latin typeface="黑体" pitchFamily="49" charset="-122"/>
                <a:ea typeface="黑体" pitchFamily="49" charset="-122"/>
              </a:rPr>
              <a:t>卡平方</a:t>
            </a:r>
            <a:r>
              <a:rPr lang="en-US" altLang="zh-CN" b="1" dirty="0">
                <a:solidFill>
                  <a:srgbClr val="3324FA"/>
                </a:solidFill>
                <a:latin typeface="黑体" pitchFamily="49" charset="-122"/>
                <a:ea typeface="黑体" pitchFamily="49" charset="-122"/>
              </a:rPr>
              <a:t>)</a:t>
            </a:r>
            <a:r>
              <a:rPr lang="zh-CN" altLang="en-US" b="1" dirty="0">
                <a:solidFill>
                  <a:srgbClr val="3324FA"/>
                </a:solidFill>
                <a:latin typeface="黑体" pitchFamily="49" charset="-122"/>
                <a:ea typeface="黑体" pitchFamily="49" charset="-122"/>
              </a:rPr>
              <a:t>测验实例：</a:t>
            </a:r>
            <a:br>
              <a:rPr lang="zh-CN" altLang="en-US" b="1" dirty="0">
                <a:solidFill>
                  <a:srgbClr val="3324FA"/>
                </a:solidFill>
                <a:latin typeface="黑体" pitchFamily="49" charset="-122"/>
                <a:ea typeface="黑体" pitchFamily="49" charset="-122"/>
              </a:rPr>
            </a:br>
            <a:r>
              <a:rPr lang="zh-CN" altLang="en-US" b="1" dirty="0">
                <a:solidFill>
                  <a:srgbClr val="3324FA"/>
                </a:solidFill>
                <a:latin typeface="黑体" pitchFamily="49" charset="-122"/>
                <a:ea typeface="黑体" pitchFamily="49" charset="-122"/>
              </a:rPr>
              <a:t>     </a:t>
            </a:r>
          </a:p>
        </p:txBody>
      </p:sp>
      <p:sp>
        <p:nvSpPr>
          <p:cNvPr id="2" name="矩形 1"/>
          <p:cNvSpPr/>
          <p:nvPr/>
        </p:nvSpPr>
        <p:spPr>
          <a:xfrm>
            <a:off x="705555" y="4289366"/>
            <a:ext cx="9606770" cy="2062103"/>
          </a:xfrm>
          <a:prstGeom prst="rect">
            <a:avLst/>
          </a:prstGeom>
          <a:noFill/>
          <a:ln>
            <a:noFill/>
          </a:ln>
          <a:effectLst/>
        </p:spPr>
        <p:txBody>
          <a:bodyPr wrap="square">
            <a:spAutoFit/>
          </a:bodyPr>
          <a:lstStyle/>
          <a:p>
            <a:pPr algn="ctr">
              <a:spcBef>
                <a:spcPct val="50000"/>
              </a:spcBef>
            </a:pPr>
            <a:r>
              <a:rPr lang="en-US" altLang="zh-CN" sz="3200" b="1" dirty="0">
                <a:solidFill>
                  <a:srgbClr val="FF0000"/>
                </a:solidFill>
                <a:latin typeface="黑体" pitchFamily="49" charset="-122"/>
                <a:ea typeface="黑体" pitchFamily="49" charset="-122"/>
              </a:rPr>
              <a:t> X</a:t>
            </a:r>
            <a:r>
              <a:rPr lang="en-US" altLang="zh-CN" sz="3200" b="1" baseline="30000" dirty="0">
                <a:solidFill>
                  <a:srgbClr val="FF0000"/>
                </a:solidFill>
                <a:latin typeface="黑体" pitchFamily="49" charset="-122"/>
                <a:ea typeface="黑体" pitchFamily="49" charset="-122"/>
              </a:rPr>
              <a:t>2</a:t>
            </a:r>
            <a:r>
              <a:rPr lang="en-US" altLang="zh-CN" sz="3200" b="1" dirty="0">
                <a:solidFill>
                  <a:srgbClr val="FF0000"/>
                </a:solidFill>
                <a:latin typeface="黑体" pitchFamily="49" charset="-122"/>
                <a:ea typeface="黑体" pitchFamily="49" charset="-122"/>
              </a:rPr>
              <a:t> = 3.2      n = 1        P </a:t>
            </a:r>
            <a:r>
              <a:rPr lang="zh-CN" altLang="en-US" sz="3200" b="1" dirty="0">
                <a:solidFill>
                  <a:srgbClr val="FF0000"/>
                </a:solidFill>
                <a:latin typeface="黑体" pitchFamily="49" charset="-122"/>
                <a:ea typeface="黑体" pitchFamily="49" charset="-122"/>
              </a:rPr>
              <a:t>＞</a:t>
            </a:r>
            <a:r>
              <a:rPr lang="en-US" altLang="zh-CN" sz="3200" b="1" dirty="0">
                <a:solidFill>
                  <a:srgbClr val="FF0000"/>
                </a:solidFill>
                <a:latin typeface="黑体" pitchFamily="49" charset="-122"/>
                <a:ea typeface="黑体" pitchFamily="49" charset="-122"/>
              </a:rPr>
              <a:t>0.05</a:t>
            </a:r>
          </a:p>
          <a:p>
            <a:pPr algn="ctr">
              <a:spcBef>
                <a:spcPct val="50000"/>
              </a:spcBef>
            </a:pPr>
            <a:r>
              <a:rPr lang="en-US" altLang="zh-CN" sz="3200" b="1" dirty="0">
                <a:solidFill>
                  <a:srgbClr val="FF0000"/>
                </a:solidFill>
                <a:latin typeface="黑体" pitchFamily="49" charset="-122"/>
                <a:ea typeface="黑体" pitchFamily="49" charset="-122"/>
              </a:rPr>
              <a:t>14:6</a:t>
            </a:r>
            <a:r>
              <a:rPr lang="zh-CN" altLang="en-US" sz="3200" b="1" dirty="0">
                <a:solidFill>
                  <a:srgbClr val="FF0000"/>
                </a:solidFill>
                <a:latin typeface="黑体" pitchFamily="49" charset="-122"/>
                <a:ea typeface="黑体" pitchFamily="49" charset="-122"/>
              </a:rPr>
              <a:t>与理论比</a:t>
            </a:r>
            <a:r>
              <a:rPr lang="en-US" altLang="zh-CN" sz="3200" b="1" dirty="0">
                <a:solidFill>
                  <a:srgbClr val="FF0000"/>
                </a:solidFill>
                <a:latin typeface="黑体" pitchFamily="49" charset="-122"/>
                <a:ea typeface="黑体" pitchFamily="49" charset="-122"/>
              </a:rPr>
              <a:t>1:1</a:t>
            </a:r>
            <a:r>
              <a:rPr lang="zh-CN" altLang="en-US" sz="3200" b="1" dirty="0">
                <a:solidFill>
                  <a:srgbClr val="FF0000"/>
                </a:solidFill>
                <a:latin typeface="黑体" pitchFamily="49" charset="-122"/>
                <a:ea typeface="黑体" pitchFamily="49" charset="-122"/>
              </a:rPr>
              <a:t>之间没有显著差异</a:t>
            </a:r>
          </a:p>
          <a:p>
            <a:pPr algn="ctr">
              <a:spcBef>
                <a:spcPct val="50000"/>
              </a:spcBef>
            </a:pPr>
            <a:endParaRPr lang="zh-CN" altLang="en-US" sz="3200" b="1" dirty="0">
              <a:solidFill>
                <a:srgbClr val="FF0000"/>
              </a:solidFill>
              <a:latin typeface="黑体" pitchFamily="49" charset="-122"/>
              <a:ea typeface="黑体" pitchFamily="49" charset="-122"/>
            </a:endParaRPr>
          </a:p>
        </p:txBody>
      </p:sp>
    </p:spTree>
    <p:extLst>
      <p:ext uri="{BB962C8B-B14F-4D97-AF65-F5344CB8AC3E}">
        <p14:creationId xmlns:p14="http://schemas.microsoft.com/office/powerpoint/2010/main" val="3620956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5203" name="Rectangle 3">
            <a:extLst>
              <a:ext uri="{FF2B5EF4-FFF2-40B4-BE49-F238E27FC236}">
                <a16:creationId xmlns:a16="http://schemas.microsoft.com/office/drawing/2014/main" id="{2B0531B5-A061-41C8-818D-05491B8FAB07}"/>
              </a:ext>
            </a:extLst>
          </p:cNvPr>
          <p:cNvSpPr>
            <a:spLocks noGrp="1" noChangeArrowheads="1"/>
          </p:cNvSpPr>
          <p:nvPr>
            <p:ph type="body" sz="half" idx="1"/>
          </p:nvPr>
        </p:nvSpPr>
        <p:spPr>
          <a:xfrm>
            <a:off x="132346" y="145049"/>
            <a:ext cx="12200021" cy="985919"/>
          </a:xfrm>
        </p:spPr>
        <p:txBody>
          <a:bodyPr>
            <a:normAutofit/>
          </a:bodyPr>
          <a:lstStyle/>
          <a:p>
            <a:pPr marL="0" indent="0" algn="just">
              <a:buNone/>
            </a:pPr>
            <a:r>
              <a:rPr lang="zh-CN" altLang="en-US" sz="3200" b="1" dirty="0">
                <a:latin typeface="黑体" panose="02010609060101010101" pitchFamily="49" charset="-122"/>
                <a:ea typeface="黑体" panose="02010609060101010101" pitchFamily="49" charset="-122"/>
              </a:rPr>
              <a:t>练习：请用</a:t>
            </a:r>
            <a:r>
              <a:rPr lang="zh-CN" altLang="en-US" b="1" dirty="0">
                <a:latin typeface="黑体" panose="02010609060101010101" pitchFamily="49" charset="-122"/>
                <a:ea typeface="黑体" panose="02010609060101010101" pitchFamily="49" charset="-122"/>
                <a:sym typeface="Symbol" panose="05050102010706020507" pitchFamily="18" charset="2"/>
              </a:rPr>
              <a:t></a:t>
            </a:r>
            <a:r>
              <a:rPr lang="en-US" altLang="zh-CN" b="1" baseline="30000"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测验检验</a:t>
            </a:r>
            <a:r>
              <a:rPr lang="en-US" altLang="zh-CN" sz="3200" b="1" dirty="0">
                <a:latin typeface="黑体" panose="02010609060101010101" pitchFamily="49" charset="-122"/>
                <a:ea typeface="黑体" panose="02010609060101010101" pitchFamily="49" charset="-122"/>
              </a:rPr>
              <a:t>P16</a:t>
            </a:r>
            <a:r>
              <a:rPr lang="zh-CN" altLang="en-US" sz="3200" b="1" dirty="0">
                <a:latin typeface="黑体" panose="02010609060101010101" pitchFamily="49" charset="-122"/>
                <a:ea typeface="黑体" panose="02010609060101010101" pitchFamily="49" charset="-122"/>
              </a:rPr>
              <a:t>中孟德尔两对相对性状的杂交试验结果</a:t>
            </a:r>
          </a:p>
        </p:txBody>
      </p:sp>
      <p:pic>
        <p:nvPicPr>
          <p:cNvPr id="435204" name="Picture 4" descr="tab4-7">
            <a:extLst>
              <a:ext uri="{FF2B5EF4-FFF2-40B4-BE49-F238E27FC236}">
                <a16:creationId xmlns:a16="http://schemas.microsoft.com/office/drawing/2014/main" id="{D16C9E4B-81A4-4EE5-A348-D10B5FC49F57}"/>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t="8431"/>
          <a:stretch/>
        </p:blipFill>
        <p:spPr>
          <a:xfrm>
            <a:off x="1725725" y="757989"/>
            <a:ext cx="8994412" cy="536871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miter lim="800000"/>
                <a:headEnd type="none" w="med" len="med"/>
                <a:tailEnd type="none" w="med" len="med"/>
              </a14:hiddenLine>
            </a:ext>
          </a:extLst>
        </p:spPr>
      </p:pic>
    </p:spTree>
    <p:extLst>
      <p:ext uri="{BB962C8B-B14F-4D97-AF65-F5344CB8AC3E}">
        <p14:creationId xmlns:p14="http://schemas.microsoft.com/office/powerpoint/2010/main" val="95322395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5204"/>
                                        </p:tgtEl>
                                        <p:attrNameLst>
                                          <p:attrName>style.visibility</p:attrName>
                                        </p:attrNameLst>
                                      </p:cBhvr>
                                      <p:to>
                                        <p:strVal val="visible"/>
                                      </p:to>
                                    </p:set>
                                    <p:animEffect transition="in" filter="fade">
                                      <p:cBhvr>
                                        <p:cTn id="7" dur="500"/>
                                        <p:tgtEl>
                                          <p:spTgt spid="435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2" name="Group 59">
            <a:extLst>
              <a:ext uri="{FF2B5EF4-FFF2-40B4-BE49-F238E27FC236}">
                <a16:creationId xmlns:a16="http://schemas.microsoft.com/office/drawing/2014/main" id="{A4989022-11D7-4AC1-ABEF-940FB28B9D78}"/>
              </a:ext>
            </a:extLst>
          </p:cNvPr>
          <p:cNvGrpSpPr>
            <a:grpSpLocks/>
          </p:cNvGrpSpPr>
          <p:nvPr/>
        </p:nvGrpSpPr>
        <p:grpSpPr bwMode="auto">
          <a:xfrm>
            <a:off x="2848993" y="1300579"/>
            <a:ext cx="5629275" cy="4597400"/>
            <a:chOff x="2535" y="4957"/>
            <a:chExt cx="6465" cy="5798"/>
          </a:xfrm>
        </p:grpSpPr>
        <p:sp>
          <p:nvSpPr>
            <p:cNvPr id="51204" name="Rectangle 60">
              <a:extLst>
                <a:ext uri="{FF2B5EF4-FFF2-40B4-BE49-F238E27FC236}">
                  <a16:creationId xmlns:a16="http://schemas.microsoft.com/office/drawing/2014/main" id="{6E1AD7C3-4BE1-4B39-AFAF-FF5835E91043}"/>
                </a:ext>
              </a:extLst>
            </p:cNvPr>
            <p:cNvSpPr>
              <a:spLocks noChangeArrowheads="1"/>
            </p:cNvSpPr>
            <p:nvPr/>
          </p:nvSpPr>
          <p:spPr bwMode="auto">
            <a:xfrm>
              <a:off x="2775" y="5063"/>
              <a:ext cx="330" cy="300"/>
            </a:xfrm>
            <a:prstGeom prst="rect">
              <a:avLst/>
            </a:prstGeom>
            <a:solidFill>
              <a:srgbClr val="FFFFFF"/>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05" name="Oval 61">
              <a:extLst>
                <a:ext uri="{FF2B5EF4-FFF2-40B4-BE49-F238E27FC236}">
                  <a16:creationId xmlns:a16="http://schemas.microsoft.com/office/drawing/2014/main" id="{5D5A8202-FE6D-4FFE-A713-E98030D45CCD}"/>
                </a:ext>
              </a:extLst>
            </p:cNvPr>
            <p:cNvSpPr>
              <a:spLocks noChangeArrowheads="1"/>
            </p:cNvSpPr>
            <p:nvPr/>
          </p:nvSpPr>
          <p:spPr bwMode="auto">
            <a:xfrm>
              <a:off x="5820" y="5025"/>
              <a:ext cx="360" cy="375"/>
            </a:xfrm>
            <a:prstGeom prst="ellipse">
              <a:avLst/>
            </a:prstGeom>
            <a:solidFill>
              <a:srgbClr val="FFFFFF"/>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06" name="Text Box 62">
              <a:extLst>
                <a:ext uri="{FF2B5EF4-FFF2-40B4-BE49-F238E27FC236}">
                  <a16:creationId xmlns:a16="http://schemas.microsoft.com/office/drawing/2014/main" id="{EDC510FF-CBDC-4834-A188-12AC632EC4CC}"/>
                </a:ext>
              </a:extLst>
            </p:cNvPr>
            <p:cNvSpPr txBox="1">
              <a:spLocks noChangeArrowheads="1"/>
            </p:cNvSpPr>
            <p:nvPr/>
          </p:nvSpPr>
          <p:spPr bwMode="auto">
            <a:xfrm>
              <a:off x="3555" y="4958"/>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a:t>正常男性</a:t>
              </a:r>
            </a:p>
          </p:txBody>
        </p:sp>
        <p:sp>
          <p:nvSpPr>
            <p:cNvPr id="51207" name="Text Box 63">
              <a:extLst>
                <a:ext uri="{FF2B5EF4-FFF2-40B4-BE49-F238E27FC236}">
                  <a16:creationId xmlns:a16="http://schemas.microsoft.com/office/drawing/2014/main" id="{BD659BDF-5750-4AC5-8CDF-9C8E700E7B83}"/>
                </a:ext>
              </a:extLst>
            </p:cNvPr>
            <p:cNvSpPr txBox="1">
              <a:spLocks noChangeArrowheads="1"/>
            </p:cNvSpPr>
            <p:nvPr/>
          </p:nvSpPr>
          <p:spPr bwMode="auto">
            <a:xfrm>
              <a:off x="6525" y="4957"/>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a:t>正常女性</a:t>
              </a:r>
            </a:p>
          </p:txBody>
        </p:sp>
        <p:sp>
          <p:nvSpPr>
            <p:cNvPr id="51208" name="Rectangle 64">
              <a:extLst>
                <a:ext uri="{FF2B5EF4-FFF2-40B4-BE49-F238E27FC236}">
                  <a16:creationId xmlns:a16="http://schemas.microsoft.com/office/drawing/2014/main" id="{D82DE57A-E2A8-4C9B-B5EB-4A9A88815042}"/>
                </a:ext>
              </a:extLst>
            </p:cNvPr>
            <p:cNvSpPr>
              <a:spLocks noChangeArrowheads="1"/>
            </p:cNvSpPr>
            <p:nvPr/>
          </p:nvSpPr>
          <p:spPr bwMode="auto">
            <a:xfrm>
              <a:off x="2745" y="5752"/>
              <a:ext cx="330" cy="300"/>
            </a:xfrm>
            <a:prstGeom prst="rect">
              <a:avLst/>
            </a:prstGeom>
            <a:solidFill>
              <a:srgbClr val="FFFFFF"/>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09" name="Oval 65">
              <a:extLst>
                <a:ext uri="{FF2B5EF4-FFF2-40B4-BE49-F238E27FC236}">
                  <a16:creationId xmlns:a16="http://schemas.microsoft.com/office/drawing/2014/main" id="{0BE57DC5-E299-4363-AC68-33CB40350796}"/>
                </a:ext>
              </a:extLst>
            </p:cNvPr>
            <p:cNvSpPr>
              <a:spLocks noChangeArrowheads="1"/>
            </p:cNvSpPr>
            <p:nvPr/>
          </p:nvSpPr>
          <p:spPr bwMode="auto">
            <a:xfrm>
              <a:off x="3780" y="5715"/>
              <a:ext cx="360" cy="375"/>
            </a:xfrm>
            <a:prstGeom prst="ellipse">
              <a:avLst/>
            </a:prstGeom>
            <a:solidFill>
              <a:srgbClr val="FFFFFF"/>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10" name="Line 66">
              <a:extLst>
                <a:ext uri="{FF2B5EF4-FFF2-40B4-BE49-F238E27FC236}">
                  <a16:creationId xmlns:a16="http://schemas.microsoft.com/office/drawing/2014/main" id="{4ED0708B-83C5-4733-A0E1-69808F76677B}"/>
                </a:ext>
              </a:extLst>
            </p:cNvPr>
            <p:cNvSpPr>
              <a:spLocks noChangeShapeType="1"/>
            </p:cNvSpPr>
            <p:nvPr/>
          </p:nvSpPr>
          <p:spPr bwMode="auto">
            <a:xfrm>
              <a:off x="3075" y="5903"/>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1" name="Text Box 67">
              <a:extLst>
                <a:ext uri="{FF2B5EF4-FFF2-40B4-BE49-F238E27FC236}">
                  <a16:creationId xmlns:a16="http://schemas.microsoft.com/office/drawing/2014/main" id="{C192781B-2580-47CE-8F20-3D0F26D872BE}"/>
                </a:ext>
              </a:extLst>
            </p:cNvPr>
            <p:cNvSpPr txBox="1">
              <a:spLocks noChangeArrowheads="1"/>
            </p:cNvSpPr>
            <p:nvPr/>
          </p:nvSpPr>
          <p:spPr bwMode="auto">
            <a:xfrm>
              <a:off x="4320" y="5647"/>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a:t>婚配关系</a:t>
              </a:r>
            </a:p>
          </p:txBody>
        </p:sp>
        <p:sp>
          <p:nvSpPr>
            <p:cNvPr id="51212" name="Rectangle 68">
              <a:extLst>
                <a:ext uri="{FF2B5EF4-FFF2-40B4-BE49-F238E27FC236}">
                  <a16:creationId xmlns:a16="http://schemas.microsoft.com/office/drawing/2014/main" id="{10B6B17B-6C1D-4EBE-B1F0-054157B8D515}"/>
                </a:ext>
              </a:extLst>
            </p:cNvPr>
            <p:cNvSpPr>
              <a:spLocks noChangeArrowheads="1"/>
            </p:cNvSpPr>
            <p:nvPr/>
          </p:nvSpPr>
          <p:spPr bwMode="auto">
            <a:xfrm>
              <a:off x="5940" y="5753"/>
              <a:ext cx="330" cy="300"/>
            </a:xfrm>
            <a:prstGeom prst="rect">
              <a:avLst/>
            </a:prstGeom>
            <a:solidFill>
              <a:srgbClr val="FFFFFF"/>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13" name="Oval 69">
              <a:extLst>
                <a:ext uri="{FF2B5EF4-FFF2-40B4-BE49-F238E27FC236}">
                  <a16:creationId xmlns:a16="http://schemas.microsoft.com/office/drawing/2014/main" id="{8C6B9683-8E8D-4F64-8FBC-A2E0EBC01351}"/>
                </a:ext>
              </a:extLst>
            </p:cNvPr>
            <p:cNvSpPr>
              <a:spLocks noChangeArrowheads="1"/>
            </p:cNvSpPr>
            <p:nvPr/>
          </p:nvSpPr>
          <p:spPr bwMode="auto">
            <a:xfrm>
              <a:off x="6975" y="5715"/>
              <a:ext cx="360" cy="375"/>
            </a:xfrm>
            <a:prstGeom prst="ellipse">
              <a:avLst/>
            </a:prstGeom>
            <a:solidFill>
              <a:srgbClr val="FFFFFF"/>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14" name="Line 70">
              <a:extLst>
                <a:ext uri="{FF2B5EF4-FFF2-40B4-BE49-F238E27FC236}">
                  <a16:creationId xmlns:a16="http://schemas.microsoft.com/office/drawing/2014/main" id="{C3356854-6254-498F-8B8E-30A3CDAD8382}"/>
                </a:ext>
              </a:extLst>
            </p:cNvPr>
            <p:cNvSpPr>
              <a:spLocks noChangeShapeType="1"/>
            </p:cNvSpPr>
            <p:nvPr/>
          </p:nvSpPr>
          <p:spPr bwMode="auto">
            <a:xfrm>
              <a:off x="6270" y="5903"/>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5" name="Line 71">
              <a:extLst>
                <a:ext uri="{FF2B5EF4-FFF2-40B4-BE49-F238E27FC236}">
                  <a16:creationId xmlns:a16="http://schemas.microsoft.com/office/drawing/2014/main" id="{25F1FD47-C73E-46E7-AAE3-747712B99031}"/>
                </a:ext>
              </a:extLst>
            </p:cNvPr>
            <p:cNvSpPr>
              <a:spLocks noChangeShapeType="1"/>
            </p:cNvSpPr>
            <p:nvPr/>
          </p:nvSpPr>
          <p:spPr bwMode="auto">
            <a:xfrm>
              <a:off x="6285" y="5977"/>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6" name="Text Box 72">
              <a:extLst>
                <a:ext uri="{FF2B5EF4-FFF2-40B4-BE49-F238E27FC236}">
                  <a16:creationId xmlns:a16="http://schemas.microsoft.com/office/drawing/2014/main" id="{25F9177B-4A44-41E0-AA03-6338363F7C1F}"/>
                </a:ext>
              </a:extLst>
            </p:cNvPr>
            <p:cNvSpPr txBox="1">
              <a:spLocks noChangeArrowheads="1"/>
            </p:cNvSpPr>
            <p:nvPr/>
          </p:nvSpPr>
          <p:spPr bwMode="auto">
            <a:xfrm>
              <a:off x="7695" y="5648"/>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a:t>近亲结婚</a:t>
              </a:r>
            </a:p>
          </p:txBody>
        </p:sp>
        <p:sp>
          <p:nvSpPr>
            <p:cNvPr id="51217" name="Rectangle 73">
              <a:extLst>
                <a:ext uri="{FF2B5EF4-FFF2-40B4-BE49-F238E27FC236}">
                  <a16:creationId xmlns:a16="http://schemas.microsoft.com/office/drawing/2014/main" id="{FF1B7D9E-D15F-41C6-8C73-3DD15D99EC1F}"/>
                </a:ext>
              </a:extLst>
            </p:cNvPr>
            <p:cNvSpPr>
              <a:spLocks noChangeArrowheads="1"/>
            </p:cNvSpPr>
            <p:nvPr/>
          </p:nvSpPr>
          <p:spPr bwMode="auto">
            <a:xfrm>
              <a:off x="2715" y="6345"/>
              <a:ext cx="330" cy="300"/>
            </a:xfrm>
            <a:prstGeom prst="rect">
              <a:avLst/>
            </a:prstGeom>
            <a:solidFill>
              <a:srgbClr val="FFFFFF"/>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18" name="Oval 74">
              <a:extLst>
                <a:ext uri="{FF2B5EF4-FFF2-40B4-BE49-F238E27FC236}">
                  <a16:creationId xmlns:a16="http://schemas.microsoft.com/office/drawing/2014/main" id="{B7EDFE78-E3C8-4BB4-BF89-9780F8DB7A82}"/>
                </a:ext>
              </a:extLst>
            </p:cNvPr>
            <p:cNvSpPr>
              <a:spLocks noChangeArrowheads="1"/>
            </p:cNvSpPr>
            <p:nvPr/>
          </p:nvSpPr>
          <p:spPr bwMode="auto">
            <a:xfrm>
              <a:off x="3750" y="6315"/>
              <a:ext cx="360" cy="375"/>
            </a:xfrm>
            <a:prstGeom prst="ellipse">
              <a:avLst/>
            </a:prstGeom>
            <a:solidFill>
              <a:srgbClr val="FFFFFF"/>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19" name="Line 75">
              <a:extLst>
                <a:ext uri="{FF2B5EF4-FFF2-40B4-BE49-F238E27FC236}">
                  <a16:creationId xmlns:a16="http://schemas.microsoft.com/office/drawing/2014/main" id="{3F9FF950-8D78-4923-A61E-F77D0C0BD142}"/>
                </a:ext>
              </a:extLst>
            </p:cNvPr>
            <p:cNvSpPr>
              <a:spLocks noChangeShapeType="1"/>
            </p:cNvSpPr>
            <p:nvPr/>
          </p:nvSpPr>
          <p:spPr bwMode="auto">
            <a:xfrm>
              <a:off x="3045" y="651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0" name="Line 76">
              <a:extLst>
                <a:ext uri="{FF2B5EF4-FFF2-40B4-BE49-F238E27FC236}">
                  <a16:creationId xmlns:a16="http://schemas.microsoft.com/office/drawing/2014/main" id="{26D68B82-FE20-4E08-A60D-4F6275AA4D30}"/>
                </a:ext>
              </a:extLst>
            </p:cNvPr>
            <p:cNvSpPr>
              <a:spLocks noChangeShapeType="1"/>
            </p:cNvSpPr>
            <p:nvPr/>
          </p:nvSpPr>
          <p:spPr bwMode="auto">
            <a:xfrm>
              <a:off x="3390" y="6510"/>
              <a:ext cx="0" cy="34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1" name="Line 77">
              <a:extLst>
                <a:ext uri="{FF2B5EF4-FFF2-40B4-BE49-F238E27FC236}">
                  <a16:creationId xmlns:a16="http://schemas.microsoft.com/office/drawing/2014/main" id="{14EE68AD-526C-4735-83B2-B3E93F882B06}"/>
                </a:ext>
              </a:extLst>
            </p:cNvPr>
            <p:cNvSpPr>
              <a:spLocks noChangeShapeType="1"/>
            </p:cNvSpPr>
            <p:nvPr/>
          </p:nvSpPr>
          <p:spPr bwMode="auto">
            <a:xfrm>
              <a:off x="2940" y="6855"/>
              <a:ext cx="94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2" name="Line 78">
              <a:extLst>
                <a:ext uri="{FF2B5EF4-FFF2-40B4-BE49-F238E27FC236}">
                  <a16:creationId xmlns:a16="http://schemas.microsoft.com/office/drawing/2014/main" id="{1E54CC93-89FC-48D6-81AD-5655E468FA9F}"/>
                </a:ext>
              </a:extLst>
            </p:cNvPr>
            <p:cNvSpPr>
              <a:spLocks noChangeShapeType="1"/>
            </p:cNvSpPr>
            <p:nvPr/>
          </p:nvSpPr>
          <p:spPr bwMode="auto">
            <a:xfrm>
              <a:off x="2940" y="6855"/>
              <a:ext cx="0"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3" name="Line 79">
              <a:extLst>
                <a:ext uri="{FF2B5EF4-FFF2-40B4-BE49-F238E27FC236}">
                  <a16:creationId xmlns:a16="http://schemas.microsoft.com/office/drawing/2014/main" id="{E1D12C10-FADA-4E66-8384-F5B630632614}"/>
                </a:ext>
              </a:extLst>
            </p:cNvPr>
            <p:cNvSpPr>
              <a:spLocks noChangeShapeType="1"/>
            </p:cNvSpPr>
            <p:nvPr/>
          </p:nvSpPr>
          <p:spPr bwMode="auto">
            <a:xfrm>
              <a:off x="3870" y="6855"/>
              <a:ext cx="0" cy="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24" name="Rectangle 80">
              <a:extLst>
                <a:ext uri="{FF2B5EF4-FFF2-40B4-BE49-F238E27FC236}">
                  <a16:creationId xmlns:a16="http://schemas.microsoft.com/office/drawing/2014/main" id="{135EACE4-1811-41B0-B43E-CD8ABE4052F1}"/>
                </a:ext>
              </a:extLst>
            </p:cNvPr>
            <p:cNvSpPr>
              <a:spLocks noChangeArrowheads="1"/>
            </p:cNvSpPr>
            <p:nvPr/>
          </p:nvSpPr>
          <p:spPr bwMode="auto">
            <a:xfrm>
              <a:off x="2775" y="7095"/>
              <a:ext cx="330" cy="300"/>
            </a:xfrm>
            <a:prstGeom prst="rect">
              <a:avLst/>
            </a:prstGeom>
            <a:solidFill>
              <a:srgbClr val="FFFFFF"/>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25" name="Oval 81">
              <a:extLst>
                <a:ext uri="{FF2B5EF4-FFF2-40B4-BE49-F238E27FC236}">
                  <a16:creationId xmlns:a16="http://schemas.microsoft.com/office/drawing/2014/main" id="{713499DE-D633-4AB0-A148-025069B5C459}"/>
                </a:ext>
              </a:extLst>
            </p:cNvPr>
            <p:cNvSpPr>
              <a:spLocks noChangeArrowheads="1"/>
            </p:cNvSpPr>
            <p:nvPr/>
          </p:nvSpPr>
          <p:spPr bwMode="auto">
            <a:xfrm>
              <a:off x="3690" y="7080"/>
              <a:ext cx="360" cy="375"/>
            </a:xfrm>
            <a:prstGeom prst="ellipse">
              <a:avLst/>
            </a:prstGeom>
            <a:solidFill>
              <a:srgbClr val="FFFFFF"/>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26" name="Text Box 82">
              <a:extLst>
                <a:ext uri="{FF2B5EF4-FFF2-40B4-BE49-F238E27FC236}">
                  <a16:creationId xmlns:a16="http://schemas.microsoft.com/office/drawing/2014/main" id="{E73A8E20-D300-4F65-ACD3-9EA524FBCA9C}"/>
                </a:ext>
              </a:extLst>
            </p:cNvPr>
            <p:cNvSpPr txBox="1">
              <a:spLocks noChangeArrowheads="1"/>
            </p:cNvSpPr>
            <p:nvPr/>
          </p:nvSpPr>
          <p:spPr bwMode="auto">
            <a:xfrm>
              <a:off x="4379" y="6928"/>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dirty="0"/>
                <a:t>子代</a:t>
              </a:r>
            </a:p>
          </p:txBody>
        </p:sp>
        <p:sp>
          <p:nvSpPr>
            <p:cNvPr id="51227" name="Rectangle 83">
              <a:extLst>
                <a:ext uri="{FF2B5EF4-FFF2-40B4-BE49-F238E27FC236}">
                  <a16:creationId xmlns:a16="http://schemas.microsoft.com/office/drawing/2014/main" id="{52CFBA19-E410-4FAE-952C-0F6671C81F37}"/>
                </a:ext>
              </a:extLst>
            </p:cNvPr>
            <p:cNvSpPr>
              <a:spLocks noChangeArrowheads="1"/>
            </p:cNvSpPr>
            <p:nvPr/>
          </p:nvSpPr>
          <p:spPr bwMode="auto">
            <a:xfrm>
              <a:off x="5820" y="6510"/>
              <a:ext cx="330" cy="300"/>
            </a:xfrm>
            <a:prstGeom prst="rect">
              <a:avLst/>
            </a:prstGeom>
            <a:solidFill>
              <a:srgbClr val="000000"/>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28" name="Oval 84">
              <a:extLst>
                <a:ext uri="{FF2B5EF4-FFF2-40B4-BE49-F238E27FC236}">
                  <a16:creationId xmlns:a16="http://schemas.microsoft.com/office/drawing/2014/main" id="{B567FFA4-371A-4DDA-8525-2A0270A5454A}"/>
                </a:ext>
              </a:extLst>
            </p:cNvPr>
            <p:cNvSpPr>
              <a:spLocks noChangeArrowheads="1"/>
            </p:cNvSpPr>
            <p:nvPr/>
          </p:nvSpPr>
          <p:spPr bwMode="auto">
            <a:xfrm>
              <a:off x="6540" y="6480"/>
              <a:ext cx="360" cy="375"/>
            </a:xfrm>
            <a:prstGeom prst="ellipse">
              <a:avLst/>
            </a:prstGeom>
            <a:solidFill>
              <a:srgbClr val="000000"/>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29" name="Text Box 85">
              <a:extLst>
                <a:ext uri="{FF2B5EF4-FFF2-40B4-BE49-F238E27FC236}">
                  <a16:creationId xmlns:a16="http://schemas.microsoft.com/office/drawing/2014/main" id="{B639EFB6-C008-466A-8060-9EE004888819}"/>
                </a:ext>
              </a:extLst>
            </p:cNvPr>
            <p:cNvSpPr txBox="1">
              <a:spLocks noChangeArrowheads="1"/>
            </p:cNvSpPr>
            <p:nvPr/>
          </p:nvSpPr>
          <p:spPr bwMode="auto">
            <a:xfrm>
              <a:off x="7184" y="6418"/>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a:t>男女患者</a:t>
              </a:r>
            </a:p>
          </p:txBody>
        </p:sp>
        <p:sp>
          <p:nvSpPr>
            <p:cNvPr id="51230" name="Rectangle 86">
              <a:extLst>
                <a:ext uri="{FF2B5EF4-FFF2-40B4-BE49-F238E27FC236}">
                  <a16:creationId xmlns:a16="http://schemas.microsoft.com/office/drawing/2014/main" id="{6738E88C-F02D-4DDA-9160-E8D20D7CF7B2}"/>
                </a:ext>
              </a:extLst>
            </p:cNvPr>
            <p:cNvSpPr>
              <a:spLocks noChangeArrowheads="1"/>
            </p:cNvSpPr>
            <p:nvPr/>
          </p:nvSpPr>
          <p:spPr bwMode="auto">
            <a:xfrm>
              <a:off x="2835" y="8100"/>
              <a:ext cx="330" cy="300"/>
            </a:xfrm>
            <a:prstGeom prst="rect">
              <a:avLst/>
            </a:prstGeom>
            <a:solidFill>
              <a:srgbClr val="FFFFFF"/>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31" name="Oval 87">
              <a:extLst>
                <a:ext uri="{FF2B5EF4-FFF2-40B4-BE49-F238E27FC236}">
                  <a16:creationId xmlns:a16="http://schemas.microsoft.com/office/drawing/2014/main" id="{26CC39F0-8CEC-490A-96E2-39767600F519}"/>
                </a:ext>
              </a:extLst>
            </p:cNvPr>
            <p:cNvSpPr>
              <a:spLocks noChangeArrowheads="1"/>
            </p:cNvSpPr>
            <p:nvPr/>
          </p:nvSpPr>
          <p:spPr bwMode="auto">
            <a:xfrm>
              <a:off x="3750" y="8040"/>
              <a:ext cx="360" cy="375"/>
            </a:xfrm>
            <a:prstGeom prst="ellipse">
              <a:avLst/>
            </a:prstGeom>
            <a:solidFill>
              <a:srgbClr val="FFFFFF"/>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32" name="Line 88">
              <a:extLst>
                <a:ext uri="{FF2B5EF4-FFF2-40B4-BE49-F238E27FC236}">
                  <a16:creationId xmlns:a16="http://schemas.microsoft.com/office/drawing/2014/main" id="{993F34C3-2657-4A7B-A614-3DAA452AD663}"/>
                </a:ext>
              </a:extLst>
            </p:cNvPr>
            <p:cNvSpPr>
              <a:spLocks noChangeShapeType="1"/>
            </p:cNvSpPr>
            <p:nvPr/>
          </p:nvSpPr>
          <p:spPr bwMode="auto">
            <a:xfrm flipV="1">
              <a:off x="3015" y="7710"/>
              <a:ext cx="420" cy="3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3" name="Line 89">
              <a:extLst>
                <a:ext uri="{FF2B5EF4-FFF2-40B4-BE49-F238E27FC236}">
                  <a16:creationId xmlns:a16="http://schemas.microsoft.com/office/drawing/2014/main" id="{2554D51D-877C-4FF5-B49F-88F7C4E8CA6F}"/>
                </a:ext>
              </a:extLst>
            </p:cNvPr>
            <p:cNvSpPr>
              <a:spLocks noChangeShapeType="1"/>
            </p:cNvSpPr>
            <p:nvPr/>
          </p:nvSpPr>
          <p:spPr bwMode="auto">
            <a:xfrm>
              <a:off x="3450" y="7725"/>
              <a:ext cx="435" cy="3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4" name="Rectangle 90">
              <a:extLst>
                <a:ext uri="{FF2B5EF4-FFF2-40B4-BE49-F238E27FC236}">
                  <a16:creationId xmlns:a16="http://schemas.microsoft.com/office/drawing/2014/main" id="{32EE911C-BF08-4C8F-93CF-9FE9CC4F9805}"/>
                </a:ext>
              </a:extLst>
            </p:cNvPr>
            <p:cNvSpPr>
              <a:spLocks noChangeArrowheads="1"/>
            </p:cNvSpPr>
            <p:nvPr/>
          </p:nvSpPr>
          <p:spPr bwMode="auto">
            <a:xfrm>
              <a:off x="6135" y="7980"/>
              <a:ext cx="330" cy="300"/>
            </a:xfrm>
            <a:prstGeom prst="rect">
              <a:avLst/>
            </a:prstGeom>
            <a:solidFill>
              <a:srgbClr val="FFFFFF"/>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35" name="Oval 91">
              <a:extLst>
                <a:ext uri="{FF2B5EF4-FFF2-40B4-BE49-F238E27FC236}">
                  <a16:creationId xmlns:a16="http://schemas.microsoft.com/office/drawing/2014/main" id="{70F18FDB-A6EB-4B5F-B3A4-2CB4E4C71E92}"/>
                </a:ext>
              </a:extLst>
            </p:cNvPr>
            <p:cNvSpPr>
              <a:spLocks noChangeArrowheads="1"/>
            </p:cNvSpPr>
            <p:nvPr/>
          </p:nvSpPr>
          <p:spPr bwMode="auto">
            <a:xfrm>
              <a:off x="7050" y="7920"/>
              <a:ext cx="360" cy="375"/>
            </a:xfrm>
            <a:prstGeom prst="ellipse">
              <a:avLst/>
            </a:prstGeom>
            <a:solidFill>
              <a:srgbClr val="FFFFFF"/>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36" name="Line 92">
              <a:extLst>
                <a:ext uri="{FF2B5EF4-FFF2-40B4-BE49-F238E27FC236}">
                  <a16:creationId xmlns:a16="http://schemas.microsoft.com/office/drawing/2014/main" id="{1C0E4009-0A48-41B9-A02C-1C61A8260F4C}"/>
                </a:ext>
              </a:extLst>
            </p:cNvPr>
            <p:cNvSpPr>
              <a:spLocks noChangeShapeType="1"/>
            </p:cNvSpPr>
            <p:nvPr/>
          </p:nvSpPr>
          <p:spPr bwMode="auto">
            <a:xfrm flipV="1">
              <a:off x="6315" y="7590"/>
              <a:ext cx="420" cy="3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7" name="Line 93">
              <a:extLst>
                <a:ext uri="{FF2B5EF4-FFF2-40B4-BE49-F238E27FC236}">
                  <a16:creationId xmlns:a16="http://schemas.microsoft.com/office/drawing/2014/main" id="{A9593A22-C9CE-48D6-A508-43D041E7ADEC}"/>
                </a:ext>
              </a:extLst>
            </p:cNvPr>
            <p:cNvSpPr>
              <a:spLocks noChangeShapeType="1"/>
            </p:cNvSpPr>
            <p:nvPr/>
          </p:nvSpPr>
          <p:spPr bwMode="auto">
            <a:xfrm>
              <a:off x="6750" y="7605"/>
              <a:ext cx="435" cy="3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8" name="Line 94">
              <a:extLst>
                <a:ext uri="{FF2B5EF4-FFF2-40B4-BE49-F238E27FC236}">
                  <a16:creationId xmlns:a16="http://schemas.microsoft.com/office/drawing/2014/main" id="{D6F66949-6310-40D2-87AE-49EDEC2B8DCB}"/>
                </a:ext>
              </a:extLst>
            </p:cNvPr>
            <p:cNvSpPr>
              <a:spLocks noChangeShapeType="1"/>
            </p:cNvSpPr>
            <p:nvPr/>
          </p:nvSpPr>
          <p:spPr bwMode="auto">
            <a:xfrm>
              <a:off x="6465" y="8130"/>
              <a:ext cx="58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9" name="Text Box 95">
              <a:extLst>
                <a:ext uri="{FF2B5EF4-FFF2-40B4-BE49-F238E27FC236}">
                  <a16:creationId xmlns:a16="http://schemas.microsoft.com/office/drawing/2014/main" id="{53C163AD-C79D-4CFB-8796-E0829DA6061D}"/>
                </a:ext>
              </a:extLst>
            </p:cNvPr>
            <p:cNvSpPr txBox="1">
              <a:spLocks noChangeArrowheads="1"/>
            </p:cNvSpPr>
            <p:nvPr/>
          </p:nvSpPr>
          <p:spPr bwMode="auto">
            <a:xfrm>
              <a:off x="4289" y="7903"/>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a:t>异卵双生</a:t>
              </a:r>
            </a:p>
          </p:txBody>
        </p:sp>
        <p:sp>
          <p:nvSpPr>
            <p:cNvPr id="51240" name="Text Box 96">
              <a:extLst>
                <a:ext uri="{FF2B5EF4-FFF2-40B4-BE49-F238E27FC236}">
                  <a16:creationId xmlns:a16="http://schemas.microsoft.com/office/drawing/2014/main" id="{30D349EA-7997-4DDF-A1C0-1824865DEA74}"/>
                </a:ext>
              </a:extLst>
            </p:cNvPr>
            <p:cNvSpPr txBox="1">
              <a:spLocks noChangeArrowheads="1"/>
            </p:cNvSpPr>
            <p:nvPr/>
          </p:nvSpPr>
          <p:spPr bwMode="auto">
            <a:xfrm>
              <a:off x="7559" y="7843"/>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a:t>同卵双生</a:t>
              </a:r>
            </a:p>
          </p:txBody>
        </p:sp>
        <p:sp>
          <p:nvSpPr>
            <p:cNvPr id="51241" name="Rectangle 97">
              <a:extLst>
                <a:ext uri="{FF2B5EF4-FFF2-40B4-BE49-F238E27FC236}">
                  <a16:creationId xmlns:a16="http://schemas.microsoft.com/office/drawing/2014/main" id="{FE4FFFBE-251B-40EC-A051-D312BCD3D9F5}"/>
                </a:ext>
              </a:extLst>
            </p:cNvPr>
            <p:cNvSpPr>
              <a:spLocks noChangeArrowheads="1"/>
            </p:cNvSpPr>
            <p:nvPr/>
          </p:nvSpPr>
          <p:spPr bwMode="auto">
            <a:xfrm>
              <a:off x="2835" y="8910"/>
              <a:ext cx="330" cy="300"/>
            </a:xfrm>
            <a:prstGeom prst="rect">
              <a:avLst/>
            </a:prstGeom>
            <a:solidFill>
              <a:srgbClr val="000000"/>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42" name="Oval 98">
              <a:extLst>
                <a:ext uri="{FF2B5EF4-FFF2-40B4-BE49-F238E27FC236}">
                  <a16:creationId xmlns:a16="http://schemas.microsoft.com/office/drawing/2014/main" id="{76931EAC-5EF6-4080-BB68-6E6FB99F6078}"/>
                </a:ext>
              </a:extLst>
            </p:cNvPr>
            <p:cNvSpPr>
              <a:spLocks noChangeArrowheads="1"/>
            </p:cNvSpPr>
            <p:nvPr/>
          </p:nvSpPr>
          <p:spPr bwMode="auto">
            <a:xfrm>
              <a:off x="3555" y="8880"/>
              <a:ext cx="360" cy="375"/>
            </a:xfrm>
            <a:prstGeom prst="ellipse">
              <a:avLst/>
            </a:prstGeom>
            <a:solidFill>
              <a:srgbClr val="000000"/>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43" name="Line 99">
              <a:extLst>
                <a:ext uri="{FF2B5EF4-FFF2-40B4-BE49-F238E27FC236}">
                  <a16:creationId xmlns:a16="http://schemas.microsoft.com/office/drawing/2014/main" id="{E311BDAC-4D43-41D0-8959-0D3C41359A87}"/>
                </a:ext>
              </a:extLst>
            </p:cNvPr>
            <p:cNvSpPr>
              <a:spLocks noChangeShapeType="1"/>
            </p:cNvSpPr>
            <p:nvPr/>
          </p:nvSpPr>
          <p:spPr bwMode="auto">
            <a:xfrm flipV="1">
              <a:off x="2535" y="9300"/>
              <a:ext cx="300" cy="2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44" name="Line 100">
              <a:extLst>
                <a:ext uri="{FF2B5EF4-FFF2-40B4-BE49-F238E27FC236}">
                  <a16:creationId xmlns:a16="http://schemas.microsoft.com/office/drawing/2014/main" id="{ABC1C3EE-D424-4420-A8CF-937B34865B30}"/>
                </a:ext>
              </a:extLst>
            </p:cNvPr>
            <p:cNvSpPr>
              <a:spLocks noChangeShapeType="1"/>
            </p:cNvSpPr>
            <p:nvPr/>
          </p:nvSpPr>
          <p:spPr bwMode="auto">
            <a:xfrm flipV="1">
              <a:off x="3285" y="9240"/>
              <a:ext cx="300" cy="2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45" name="Text Box 101">
              <a:extLst>
                <a:ext uri="{FF2B5EF4-FFF2-40B4-BE49-F238E27FC236}">
                  <a16:creationId xmlns:a16="http://schemas.microsoft.com/office/drawing/2014/main" id="{2ADFA260-A4F0-4254-81C2-FED2E4646EA2}"/>
                </a:ext>
              </a:extLst>
            </p:cNvPr>
            <p:cNvSpPr txBox="1">
              <a:spLocks noChangeArrowheads="1"/>
            </p:cNvSpPr>
            <p:nvPr/>
          </p:nvSpPr>
          <p:spPr bwMode="auto">
            <a:xfrm>
              <a:off x="4094" y="8833"/>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a:t>先证者</a:t>
              </a:r>
            </a:p>
          </p:txBody>
        </p:sp>
        <p:sp>
          <p:nvSpPr>
            <p:cNvPr id="51246" name="Oval 102">
              <a:extLst>
                <a:ext uri="{FF2B5EF4-FFF2-40B4-BE49-F238E27FC236}">
                  <a16:creationId xmlns:a16="http://schemas.microsoft.com/office/drawing/2014/main" id="{2BAFC9B5-6FB6-45ED-B6CD-7C0F78C4CE2D}"/>
                </a:ext>
              </a:extLst>
            </p:cNvPr>
            <p:cNvSpPr>
              <a:spLocks noChangeArrowheads="1"/>
            </p:cNvSpPr>
            <p:nvPr/>
          </p:nvSpPr>
          <p:spPr bwMode="auto">
            <a:xfrm>
              <a:off x="6930" y="8850"/>
              <a:ext cx="360" cy="375"/>
            </a:xfrm>
            <a:prstGeom prst="ellipse">
              <a:avLst/>
            </a:prstGeom>
            <a:solidFill>
              <a:srgbClr val="FFFFFF"/>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47" name="Rectangle 103">
              <a:extLst>
                <a:ext uri="{FF2B5EF4-FFF2-40B4-BE49-F238E27FC236}">
                  <a16:creationId xmlns:a16="http://schemas.microsoft.com/office/drawing/2014/main" id="{43FE640A-B773-4735-A69D-B52C0F54DD62}"/>
                </a:ext>
              </a:extLst>
            </p:cNvPr>
            <p:cNvSpPr>
              <a:spLocks noChangeArrowheads="1"/>
            </p:cNvSpPr>
            <p:nvPr/>
          </p:nvSpPr>
          <p:spPr bwMode="auto">
            <a:xfrm>
              <a:off x="6180" y="8880"/>
              <a:ext cx="330" cy="300"/>
            </a:xfrm>
            <a:prstGeom prst="rect">
              <a:avLst/>
            </a:prstGeom>
            <a:solidFill>
              <a:srgbClr val="000000"/>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48" name="Line 104">
              <a:extLst>
                <a:ext uri="{FF2B5EF4-FFF2-40B4-BE49-F238E27FC236}">
                  <a16:creationId xmlns:a16="http://schemas.microsoft.com/office/drawing/2014/main" id="{2F7008A4-D126-4877-BAA7-8E385FD9AF77}"/>
                </a:ext>
              </a:extLst>
            </p:cNvPr>
            <p:cNvSpPr>
              <a:spLocks noChangeShapeType="1"/>
            </p:cNvSpPr>
            <p:nvPr/>
          </p:nvSpPr>
          <p:spPr bwMode="auto">
            <a:xfrm flipV="1">
              <a:off x="6075" y="8820"/>
              <a:ext cx="555" cy="4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9" name="Line 105">
              <a:extLst>
                <a:ext uri="{FF2B5EF4-FFF2-40B4-BE49-F238E27FC236}">
                  <a16:creationId xmlns:a16="http://schemas.microsoft.com/office/drawing/2014/main" id="{763B256A-56D2-4EC4-93FD-E287FD42A9E0}"/>
                </a:ext>
              </a:extLst>
            </p:cNvPr>
            <p:cNvSpPr>
              <a:spLocks noChangeShapeType="1"/>
            </p:cNvSpPr>
            <p:nvPr/>
          </p:nvSpPr>
          <p:spPr bwMode="auto">
            <a:xfrm flipV="1">
              <a:off x="6825" y="8820"/>
              <a:ext cx="585" cy="4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0" name="Text Box 106">
              <a:extLst>
                <a:ext uri="{FF2B5EF4-FFF2-40B4-BE49-F238E27FC236}">
                  <a16:creationId xmlns:a16="http://schemas.microsoft.com/office/drawing/2014/main" id="{A8867627-5966-4E9E-9BB9-9D1A91CCE96B}"/>
                </a:ext>
              </a:extLst>
            </p:cNvPr>
            <p:cNvSpPr txBox="1">
              <a:spLocks noChangeArrowheads="1"/>
            </p:cNvSpPr>
            <p:nvPr/>
          </p:nvSpPr>
          <p:spPr bwMode="auto">
            <a:xfrm>
              <a:off x="7529" y="8833"/>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a:t>死亡</a:t>
              </a:r>
            </a:p>
          </p:txBody>
        </p:sp>
        <p:sp>
          <p:nvSpPr>
            <p:cNvPr id="51251" name="Rectangle 107">
              <a:extLst>
                <a:ext uri="{FF2B5EF4-FFF2-40B4-BE49-F238E27FC236}">
                  <a16:creationId xmlns:a16="http://schemas.microsoft.com/office/drawing/2014/main" id="{1C5B5DEB-648B-42AA-B1DF-96987CEC1C2A}"/>
                </a:ext>
              </a:extLst>
            </p:cNvPr>
            <p:cNvSpPr>
              <a:spLocks noChangeArrowheads="1"/>
            </p:cNvSpPr>
            <p:nvPr/>
          </p:nvSpPr>
          <p:spPr bwMode="auto">
            <a:xfrm>
              <a:off x="2610" y="9975"/>
              <a:ext cx="330" cy="300"/>
            </a:xfrm>
            <a:prstGeom prst="rect">
              <a:avLst/>
            </a:prstGeom>
            <a:solidFill>
              <a:srgbClr val="FFFFFF"/>
            </a:solidFill>
            <a:ln w="9525">
              <a:solidFill>
                <a:srgbClr val="000000"/>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52" name="Oval 108">
              <a:extLst>
                <a:ext uri="{FF2B5EF4-FFF2-40B4-BE49-F238E27FC236}">
                  <a16:creationId xmlns:a16="http://schemas.microsoft.com/office/drawing/2014/main" id="{42C65142-EE67-43A4-A8B8-D181D8E0BEB8}"/>
                </a:ext>
              </a:extLst>
            </p:cNvPr>
            <p:cNvSpPr>
              <a:spLocks noChangeArrowheads="1"/>
            </p:cNvSpPr>
            <p:nvPr/>
          </p:nvSpPr>
          <p:spPr bwMode="auto">
            <a:xfrm>
              <a:off x="3645" y="9945"/>
              <a:ext cx="360" cy="375"/>
            </a:xfrm>
            <a:prstGeom prst="ellipse">
              <a:avLst/>
            </a:prstGeom>
            <a:solidFill>
              <a:srgbClr val="FFFFFF"/>
            </a:solidFill>
            <a:ln w="9525">
              <a:solidFill>
                <a:srgbClr val="000000"/>
              </a:solidFill>
              <a:round/>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ctr" eaLnBrk="1" hangingPunct="1"/>
              <a:endParaRPr lang="zh-CN" altLang="en-US"/>
            </a:p>
          </p:txBody>
        </p:sp>
        <p:sp>
          <p:nvSpPr>
            <p:cNvPr id="51253" name="Line 109">
              <a:extLst>
                <a:ext uri="{FF2B5EF4-FFF2-40B4-BE49-F238E27FC236}">
                  <a16:creationId xmlns:a16="http://schemas.microsoft.com/office/drawing/2014/main" id="{0F37BAE1-645D-4082-B39C-F9903F2117A9}"/>
                </a:ext>
              </a:extLst>
            </p:cNvPr>
            <p:cNvSpPr>
              <a:spLocks noChangeShapeType="1"/>
            </p:cNvSpPr>
            <p:nvPr/>
          </p:nvSpPr>
          <p:spPr bwMode="auto">
            <a:xfrm>
              <a:off x="2940" y="1014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4" name="Line 110">
              <a:extLst>
                <a:ext uri="{FF2B5EF4-FFF2-40B4-BE49-F238E27FC236}">
                  <a16:creationId xmlns:a16="http://schemas.microsoft.com/office/drawing/2014/main" id="{EF689079-B2F7-4D31-B5D8-1164DC391CA5}"/>
                </a:ext>
              </a:extLst>
            </p:cNvPr>
            <p:cNvSpPr>
              <a:spLocks noChangeShapeType="1"/>
            </p:cNvSpPr>
            <p:nvPr/>
          </p:nvSpPr>
          <p:spPr bwMode="auto">
            <a:xfrm>
              <a:off x="3300" y="10140"/>
              <a:ext cx="0" cy="5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5" name="Line 111">
              <a:extLst>
                <a:ext uri="{FF2B5EF4-FFF2-40B4-BE49-F238E27FC236}">
                  <a16:creationId xmlns:a16="http://schemas.microsoft.com/office/drawing/2014/main" id="{F8914546-FDAD-45C9-B7A0-C49BB1A8C1D2}"/>
                </a:ext>
              </a:extLst>
            </p:cNvPr>
            <p:cNvSpPr>
              <a:spLocks noChangeShapeType="1"/>
            </p:cNvSpPr>
            <p:nvPr/>
          </p:nvSpPr>
          <p:spPr bwMode="auto">
            <a:xfrm flipV="1">
              <a:off x="3015" y="10665"/>
              <a:ext cx="5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6" name="Line 112">
              <a:extLst>
                <a:ext uri="{FF2B5EF4-FFF2-40B4-BE49-F238E27FC236}">
                  <a16:creationId xmlns:a16="http://schemas.microsoft.com/office/drawing/2014/main" id="{7DF5E156-3E08-438D-8717-510855905C7B}"/>
                </a:ext>
              </a:extLst>
            </p:cNvPr>
            <p:cNvSpPr>
              <a:spLocks noChangeShapeType="1"/>
            </p:cNvSpPr>
            <p:nvPr/>
          </p:nvSpPr>
          <p:spPr bwMode="auto">
            <a:xfrm flipV="1">
              <a:off x="3180" y="10755"/>
              <a:ext cx="25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7" name="Text Box 113">
              <a:extLst>
                <a:ext uri="{FF2B5EF4-FFF2-40B4-BE49-F238E27FC236}">
                  <a16:creationId xmlns:a16="http://schemas.microsoft.com/office/drawing/2014/main" id="{AAC0925A-26F4-4589-8F45-6B0599B0B48E}"/>
                </a:ext>
              </a:extLst>
            </p:cNvPr>
            <p:cNvSpPr txBox="1">
              <a:spLocks noChangeArrowheads="1"/>
            </p:cNvSpPr>
            <p:nvPr/>
          </p:nvSpPr>
          <p:spPr bwMode="auto">
            <a:xfrm>
              <a:off x="4154" y="10123"/>
              <a:ext cx="1305" cy="510"/>
            </a:xfrm>
            <a:prstGeom prst="rect">
              <a:avLst/>
            </a:prstGeom>
            <a:solidFill>
              <a:srgbClr val="FFFFFF"/>
            </a:solidFill>
            <a:ln w="9525">
              <a:solidFill>
                <a:srgbClr val="FFFFFF"/>
              </a:solidFill>
              <a:miter lim="800000"/>
              <a:headEnd/>
              <a:tailEnd/>
            </a:ln>
          </p:spPr>
          <p:txBody>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algn="just"/>
              <a:r>
                <a:rPr lang="zh-CN" altLang="en-US" sz="1800"/>
                <a:t>婚后不育</a:t>
              </a:r>
            </a:p>
          </p:txBody>
        </p:sp>
      </p:grpSp>
      <p:sp>
        <p:nvSpPr>
          <p:cNvPr id="51203" name="Text Box 114">
            <a:extLst>
              <a:ext uri="{FF2B5EF4-FFF2-40B4-BE49-F238E27FC236}">
                <a16:creationId xmlns:a16="http://schemas.microsoft.com/office/drawing/2014/main" id="{7E7DC816-61E0-4A74-86C1-3DAE10D89A68}"/>
              </a:ext>
            </a:extLst>
          </p:cNvPr>
          <p:cNvSpPr txBox="1">
            <a:spLocks noChangeArrowheads="1"/>
          </p:cNvSpPr>
          <p:nvPr/>
        </p:nvSpPr>
        <p:spPr bwMode="auto">
          <a:xfrm>
            <a:off x="3886200" y="304800"/>
            <a:ext cx="5715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2800" b="1">
                <a:solidFill>
                  <a:schemeClr val="tx1"/>
                </a:solidFill>
                <a:latin typeface="Arial" panose="020B0604020202020204" pitchFamily="34" charset="0"/>
                <a:ea typeface="黑体" panose="02010609060101010101" pitchFamily="49" charset="-122"/>
              </a:defRPr>
            </a:lvl1pPr>
            <a:lvl2pPr marL="742950" indent="-285750">
              <a:defRPr sz="2800" b="1">
                <a:solidFill>
                  <a:schemeClr val="tx1"/>
                </a:solidFill>
                <a:latin typeface="Arial" panose="020B0604020202020204" pitchFamily="34" charset="0"/>
                <a:ea typeface="黑体" panose="02010609060101010101" pitchFamily="49" charset="-122"/>
              </a:defRPr>
            </a:lvl2pPr>
            <a:lvl3pPr marL="1143000" indent="-228600">
              <a:defRPr sz="2800" b="1">
                <a:solidFill>
                  <a:schemeClr val="tx1"/>
                </a:solidFill>
                <a:latin typeface="Arial" panose="020B0604020202020204" pitchFamily="34" charset="0"/>
                <a:ea typeface="黑体" panose="02010609060101010101" pitchFamily="49" charset="-122"/>
              </a:defRPr>
            </a:lvl3pPr>
            <a:lvl4pPr marL="1600200" indent="-228600">
              <a:defRPr sz="2800" b="1">
                <a:solidFill>
                  <a:schemeClr val="tx1"/>
                </a:solidFill>
                <a:latin typeface="Arial" panose="020B0604020202020204" pitchFamily="34" charset="0"/>
                <a:ea typeface="黑体" panose="02010609060101010101" pitchFamily="49" charset="-122"/>
              </a:defRPr>
            </a:lvl4pPr>
            <a:lvl5pPr marL="2057400" indent="-228600">
              <a:defRPr sz="2800" b="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黑体" panose="02010609060101010101" pitchFamily="49" charset="-122"/>
              </a:defRPr>
            </a:lvl9pPr>
          </a:lstStyle>
          <a:p>
            <a:pPr eaLnBrk="1" hangingPunct="1">
              <a:spcBef>
                <a:spcPct val="50000"/>
              </a:spcBef>
            </a:pPr>
            <a:r>
              <a:rPr lang="zh-CN" altLang="en-US" sz="3600" dirty="0">
                <a:solidFill>
                  <a:schemeClr val="tx2"/>
                </a:solidFill>
              </a:rPr>
              <a:t> </a:t>
            </a:r>
            <a:r>
              <a:rPr lang="zh-CN" altLang="en-US" sz="3600" dirty="0">
                <a:solidFill>
                  <a:srgbClr val="0000FF"/>
                </a:solidFill>
              </a:rPr>
              <a:t>人类系谱图式</a:t>
            </a:r>
          </a:p>
        </p:txBody>
      </p:sp>
    </p:spTree>
    <p:extLst>
      <p:ext uri="{BB962C8B-B14F-4D97-AF65-F5344CB8AC3E}">
        <p14:creationId xmlns:p14="http://schemas.microsoft.com/office/powerpoint/2010/main" val="12272266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4">
            <a:extLst>
              <a:ext uri="{FF2B5EF4-FFF2-40B4-BE49-F238E27FC236}">
                <a16:creationId xmlns:a16="http://schemas.microsoft.com/office/drawing/2014/main" id="{51617859-042A-40F4-A710-6CA189885C4F}"/>
              </a:ext>
            </a:extLst>
          </p:cNvPr>
          <p:cNvSpPr>
            <a:spLocks noChangeArrowheads="1"/>
          </p:cNvSpPr>
          <p:nvPr/>
        </p:nvSpPr>
        <p:spPr bwMode="auto">
          <a:xfrm>
            <a:off x="1262109" y="816746"/>
            <a:ext cx="9667781" cy="4145366"/>
          </a:xfrm>
          <a:prstGeom prst="rect">
            <a:avLst/>
          </a:prstGeom>
          <a:noFill/>
          <a:ln>
            <a:noFill/>
          </a:ln>
        </p:spPr>
        <p:txBody>
          <a:bodyPr wrap="square">
            <a:spAutoFit/>
          </a:bodyPr>
          <a:lstStyle>
            <a:lvl1pPr algn="ctr">
              <a:defRPr sz="2800" b="1">
                <a:solidFill>
                  <a:schemeClr val="tx1"/>
                </a:solidFill>
                <a:latin typeface="Arial" panose="020B0604020202020204" pitchFamily="34" charset="0"/>
                <a:ea typeface="黑体" panose="02010609060101010101" pitchFamily="49" charset="-122"/>
              </a:defRPr>
            </a:lvl1pPr>
            <a:lvl2pPr algn="ctr">
              <a:defRPr sz="2800" b="1">
                <a:solidFill>
                  <a:schemeClr val="tx1"/>
                </a:solidFill>
                <a:latin typeface="Arial" panose="020B0604020202020204" pitchFamily="34" charset="0"/>
                <a:ea typeface="黑体" panose="02010609060101010101" pitchFamily="49" charset="-122"/>
              </a:defRPr>
            </a:lvl2pPr>
            <a:lvl3pPr algn="ctr">
              <a:defRPr sz="2800" b="1">
                <a:solidFill>
                  <a:schemeClr val="tx1"/>
                </a:solidFill>
                <a:latin typeface="Arial" panose="020B0604020202020204" pitchFamily="34" charset="0"/>
                <a:ea typeface="黑体" panose="02010609060101010101" pitchFamily="49" charset="-122"/>
              </a:defRPr>
            </a:lvl3pPr>
            <a:lvl4pPr algn="ctr">
              <a:defRPr sz="2800" b="1">
                <a:solidFill>
                  <a:schemeClr val="tx1"/>
                </a:solidFill>
                <a:latin typeface="Arial" panose="020B0604020202020204" pitchFamily="34" charset="0"/>
                <a:ea typeface="黑体" panose="02010609060101010101" pitchFamily="49" charset="-122"/>
              </a:defRPr>
            </a:lvl4pPr>
            <a:lvl5pPr algn="ctr">
              <a:defRPr sz="2800" b="1">
                <a:solidFill>
                  <a:schemeClr val="tx1"/>
                </a:solidFill>
                <a:latin typeface="Arial" panose="020B0604020202020204" pitchFamily="34" charset="0"/>
                <a:ea typeface="黑体" panose="02010609060101010101" pitchFamily="49" charset="-122"/>
              </a:defRPr>
            </a:lvl5pPr>
            <a:lvl6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6pPr>
            <a:lvl7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7pPr>
            <a:lvl8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8pPr>
            <a:lvl9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9pPr>
          </a:lstStyle>
          <a:p>
            <a:pPr algn="l">
              <a:lnSpc>
                <a:spcPts val="3200"/>
              </a:lnSpc>
              <a:buFont typeface="Arial" panose="020B0604020202020204" pitchFamily="34" charset="0"/>
              <a:buNone/>
              <a:defRPr/>
            </a:pPr>
            <a:r>
              <a:rPr lang="en-US" altLang="zh-CN" sz="2400" dirty="0">
                <a:latin typeface="黑体" panose="02010609060101010101" pitchFamily="49" charset="-122"/>
              </a:rPr>
              <a:t>1</a:t>
            </a:r>
            <a:r>
              <a:rPr lang="zh-CN" altLang="en-US" sz="2400" dirty="0">
                <a:latin typeface="黑体" panose="02010609060101010101" pitchFamily="49" charset="-122"/>
              </a:rPr>
              <a:t>．（</a:t>
            </a:r>
            <a:r>
              <a:rPr lang="en-US" altLang="zh-CN" sz="2400" dirty="0">
                <a:latin typeface="黑体" panose="02010609060101010101" pitchFamily="49" charset="-122"/>
              </a:rPr>
              <a:t>09</a:t>
            </a:r>
            <a:r>
              <a:rPr lang="zh-CN" altLang="en-US" sz="2400" dirty="0">
                <a:latin typeface="黑体" panose="02010609060101010101" pitchFamily="49" charset="-122"/>
              </a:rPr>
              <a:t>年全国联赛）苯丙酮尿症的隐性纯合个体是一种严重的代谢缺陷患者。如果双亲表现正常，却生了一个患病的女儿，一个正常表现的儿子，那么这对夫妇再生一个正常的儿子并且不携带致病基因的概率是</a:t>
            </a:r>
          </a:p>
          <a:p>
            <a:pPr algn="l">
              <a:lnSpc>
                <a:spcPts val="3200"/>
              </a:lnSpc>
              <a:buFont typeface="Arial" panose="020B0604020202020204" pitchFamily="34" charset="0"/>
              <a:buNone/>
              <a:defRPr/>
            </a:pPr>
            <a:r>
              <a:rPr lang="en-US" altLang="zh-CN" sz="2400" dirty="0">
                <a:latin typeface="黑体" panose="02010609060101010101" pitchFamily="49" charset="-122"/>
              </a:rPr>
              <a:t>	A</a:t>
            </a:r>
            <a:r>
              <a:rPr lang="zh-CN" altLang="en-US" sz="2400" dirty="0">
                <a:latin typeface="黑体" panose="02010609060101010101" pitchFamily="49" charset="-122"/>
              </a:rPr>
              <a:t>．</a:t>
            </a:r>
            <a:r>
              <a:rPr lang="en-US" altLang="zh-CN" sz="2400" dirty="0">
                <a:latin typeface="黑体" panose="02010609060101010101" pitchFamily="49" charset="-122"/>
              </a:rPr>
              <a:t>3</a:t>
            </a:r>
            <a:r>
              <a:rPr lang="zh-CN" altLang="en-US" sz="2400" dirty="0">
                <a:latin typeface="黑体" panose="02010609060101010101" pitchFamily="49" charset="-122"/>
              </a:rPr>
              <a:t>／</a:t>
            </a:r>
            <a:r>
              <a:rPr lang="en-US" altLang="zh-CN" sz="2400" dirty="0">
                <a:latin typeface="黑体" panose="02010609060101010101" pitchFamily="49" charset="-122"/>
              </a:rPr>
              <a:t>4    B</a:t>
            </a:r>
            <a:r>
              <a:rPr lang="zh-CN" altLang="en-US" sz="2400" dirty="0">
                <a:latin typeface="黑体" panose="02010609060101010101" pitchFamily="49" charset="-122"/>
              </a:rPr>
              <a:t>．</a:t>
            </a:r>
            <a:r>
              <a:rPr lang="en-US" altLang="zh-CN" sz="2400" dirty="0">
                <a:latin typeface="黑体" panose="02010609060101010101" pitchFamily="49" charset="-122"/>
              </a:rPr>
              <a:t>1</a:t>
            </a:r>
            <a:r>
              <a:rPr lang="zh-CN" altLang="en-US" sz="2400" dirty="0">
                <a:latin typeface="黑体" panose="02010609060101010101" pitchFamily="49" charset="-122"/>
              </a:rPr>
              <a:t>／</a:t>
            </a:r>
            <a:r>
              <a:rPr lang="en-US" altLang="zh-CN" sz="2400" dirty="0">
                <a:latin typeface="黑体" panose="02010609060101010101" pitchFamily="49" charset="-122"/>
              </a:rPr>
              <a:t>3    C</a:t>
            </a:r>
            <a:r>
              <a:rPr lang="zh-CN" altLang="en-US" sz="2400" dirty="0">
                <a:latin typeface="黑体" panose="02010609060101010101" pitchFamily="49" charset="-122"/>
              </a:rPr>
              <a:t>．</a:t>
            </a:r>
            <a:r>
              <a:rPr lang="en-US" altLang="zh-CN" sz="2400" dirty="0">
                <a:latin typeface="黑体" panose="02010609060101010101" pitchFamily="49" charset="-122"/>
              </a:rPr>
              <a:t>1</a:t>
            </a:r>
            <a:r>
              <a:rPr lang="zh-CN" altLang="en-US" sz="2400" dirty="0">
                <a:latin typeface="黑体" panose="02010609060101010101" pitchFamily="49" charset="-122"/>
              </a:rPr>
              <a:t>／</a:t>
            </a:r>
            <a:r>
              <a:rPr lang="en-US" altLang="zh-CN" sz="2400" dirty="0">
                <a:latin typeface="黑体" panose="02010609060101010101" pitchFamily="49" charset="-122"/>
              </a:rPr>
              <a:t>8     D</a:t>
            </a:r>
            <a:r>
              <a:rPr lang="zh-CN" altLang="en-US" sz="2400" dirty="0">
                <a:latin typeface="黑体" panose="02010609060101010101" pitchFamily="49" charset="-122"/>
              </a:rPr>
              <a:t>．</a:t>
            </a:r>
            <a:r>
              <a:rPr lang="en-US" altLang="zh-CN" sz="2400" dirty="0">
                <a:latin typeface="黑体" panose="02010609060101010101" pitchFamily="49" charset="-122"/>
              </a:rPr>
              <a:t>1</a:t>
            </a:r>
            <a:r>
              <a:rPr lang="zh-CN" altLang="en-US" sz="2400" dirty="0">
                <a:latin typeface="黑体" panose="02010609060101010101" pitchFamily="49" charset="-122"/>
              </a:rPr>
              <a:t>／</a:t>
            </a:r>
            <a:r>
              <a:rPr lang="en-US" altLang="zh-CN" sz="2400" dirty="0">
                <a:latin typeface="黑体" panose="02010609060101010101" pitchFamily="49" charset="-122"/>
              </a:rPr>
              <a:t>4</a:t>
            </a:r>
          </a:p>
          <a:p>
            <a:pPr algn="l" eaLnBrk="1" hangingPunct="1">
              <a:lnSpc>
                <a:spcPts val="3200"/>
              </a:lnSpc>
              <a:buFont typeface="Arial" panose="020B0604020202020204" pitchFamily="34" charset="0"/>
              <a:buNone/>
              <a:defRPr/>
            </a:pPr>
            <a:r>
              <a:rPr lang="en-US" altLang="zh-CN" sz="2400" dirty="0">
                <a:latin typeface="黑体" panose="02010609060101010101" pitchFamily="49" charset="-122"/>
              </a:rPr>
              <a:t>2</a:t>
            </a:r>
            <a:r>
              <a:rPr lang="zh-CN" altLang="en-US" sz="2400" dirty="0">
                <a:latin typeface="黑体" panose="02010609060101010101" pitchFamily="49" charset="-122"/>
              </a:rPr>
              <a:t>．（</a:t>
            </a:r>
            <a:r>
              <a:rPr lang="en-US" altLang="zh-CN" sz="2400" dirty="0">
                <a:latin typeface="黑体" panose="02010609060101010101" pitchFamily="49" charset="-122"/>
              </a:rPr>
              <a:t>13</a:t>
            </a:r>
            <a:r>
              <a:rPr lang="zh-CN" altLang="en-US" sz="2400" dirty="0">
                <a:latin typeface="黑体" panose="02010609060101010101" pitchFamily="49" charset="-122"/>
              </a:rPr>
              <a:t>年全国联赛）小麦种皮的颜色由多拷贝基因决定，等位基因</a:t>
            </a:r>
            <a:r>
              <a:rPr lang="en-US" altLang="zh-CN" sz="2400" dirty="0">
                <a:latin typeface="黑体" panose="02010609060101010101" pitchFamily="49" charset="-122"/>
              </a:rPr>
              <a:t>R</a:t>
            </a:r>
            <a:r>
              <a:rPr lang="zh-CN" altLang="en-US" sz="2400" dirty="0">
                <a:latin typeface="黑体" panose="02010609060101010101" pitchFamily="49" charset="-122"/>
              </a:rPr>
              <a:t>越多，种皮越红，</a:t>
            </a:r>
            <a:r>
              <a:rPr lang="en-US" altLang="zh-CN" sz="2400" dirty="0">
                <a:latin typeface="黑体" panose="02010609060101010101" pitchFamily="49" charset="-122"/>
              </a:rPr>
              <a:t>r</a:t>
            </a:r>
            <a:r>
              <a:rPr lang="zh-CN" altLang="en-US" sz="2400" dirty="0">
                <a:latin typeface="黑体" panose="02010609060101010101" pitchFamily="49" charset="-122"/>
              </a:rPr>
              <a:t>越多，种皮越白。真实遗传的红色种皮小麦和真实遗传的白色种皮小麦杂交，</a:t>
            </a:r>
            <a:r>
              <a:rPr lang="en-US" altLang="zh-CN" sz="2400" dirty="0">
                <a:latin typeface="黑体" panose="02010609060101010101" pitchFamily="49" charset="-122"/>
              </a:rPr>
              <a:t>F</a:t>
            </a:r>
            <a:r>
              <a:rPr lang="en-US" altLang="zh-CN" sz="2400" baseline="-25000" dirty="0">
                <a:latin typeface="黑体" panose="02010609060101010101" pitchFamily="49" charset="-122"/>
              </a:rPr>
              <a:t>2</a:t>
            </a:r>
            <a:r>
              <a:rPr lang="zh-CN" altLang="en-US" sz="2400" dirty="0">
                <a:latin typeface="黑体" panose="02010609060101010101" pitchFamily="49" charset="-122"/>
              </a:rPr>
              <a:t>红色种皮和白色种皮小麦的比例为</a:t>
            </a:r>
            <a:r>
              <a:rPr lang="en-US" altLang="zh-CN" sz="2400" dirty="0">
                <a:latin typeface="黑体" panose="02010609060101010101" pitchFamily="49" charset="-122"/>
              </a:rPr>
              <a:t>63:1</a:t>
            </a:r>
            <a:r>
              <a:rPr lang="zh-CN" altLang="en-US" sz="2400" dirty="0">
                <a:latin typeface="黑体" panose="02010609060101010101" pitchFamily="49" charset="-122"/>
              </a:rPr>
              <a:t>，那么杂交中产生分离的</a:t>
            </a:r>
            <a:r>
              <a:rPr lang="en-US" altLang="zh-CN" sz="2400" dirty="0">
                <a:latin typeface="黑体" panose="02010609060101010101" pitchFamily="49" charset="-122"/>
              </a:rPr>
              <a:t>R</a:t>
            </a:r>
            <a:r>
              <a:rPr lang="zh-CN" altLang="en-US" sz="2400" dirty="0">
                <a:latin typeface="黑体" panose="02010609060101010101" pitchFamily="49" charset="-122"/>
              </a:rPr>
              <a:t>基因座有  </a:t>
            </a:r>
            <a:r>
              <a:rPr lang="en-US" altLang="zh-CN" sz="2400" dirty="0">
                <a:latin typeface="黑体" panose="02010609060101010101" pitchFamily="49" charset="-122"/>
              </a:rPr>
              <a:t>(</a:t>
            </a:r>
            <a:r>
              <a:rPr lang="zh-CN" altLang="en-US" sz="2400" dirty="0">
                <a:latin typeface="黑体" panose="02010609060101010101" pitchFamily="49" charset="-122"/>
              </a:rPr>
              <a:t>单选</a:t>
            </a:r>
            <a:r>
              <a:rPr lang="en-US" altLang="zh-CN" sz="2400" dirty="0">
                <a:latin typeface="黑体" panose="02010609060101010101" pitchFamily="49" charset="-122"/>
              </a:rPr>
              <a:t>1</a:t>
            </a:r>
            <a:r>
              <a:rPr lang="zh-CN" altLang="en-US" sz="2400" dirty="0">
                <a:latin typeface="黑体" panose="02010609060101010101" pitchFamily="49" charset="-122"/>
              </a:rPr>
              <a:t>分</a:t>
            </a:r>
            <a:r>
              <a:rPr lang="en-US" altLang="zh-CN" sz="2400" dirty="0">
                <a:latin typeface="黑体" panose="02010609060101010101" pitchFamily="49" charset="-122"/>
              </a:rPr>
              <a:t>)</a:t>
            </a:r>
          </a:p>
          <a:p>
            <a:pPr algn="l" eaLnBrk="1" hangingPunct="1">
              <a:lnSpc>
                <a:spcPts val="3200"/>
              </a:lnSpc>
              <a:buFont typeface="Arial" panose="020B0604020202020204" pitchFamily="34" charset="0"/>
              <a:buNone/>
              <a:defRPr/>
            </a:pPr>
            <a:r>
              <a:rPr lang="en-US" altLang="zh-CN" sz="2400" dirty="0">
                <a:latin typeface="黑体" panose="02010609060101010101" pitchFamily="49" charset="-122"/>
              </a:rPr>
              <a:t>  	A</a:t>
            </a:r>
            <a:r>
              <a:rPr lang="zh-CN" altLang="en-US" sz="2400" dirty="0">
                <a:latin typeface="黑体" panose="02010609060101010101" pitchFamily="49" charset="-122"/>
              </a:rPr>
              <a:t>．</a:t>
            </a:r>
            <a:r>
              <a:rPr lang="en-US" altLang="zh-CN" sz="2400" dirty="0">
                <a:latin typeface="黑体" panose="02010609060101010101" pitchFamily="49" charset="-122"/>
              </a:rPr>
              <a:t>2</a:t>
            </a:r>
            <a:r>
              <a:rPr lang="zh-CN" altLang="en-US" sz="2400" dirty="0">
                <a:latin typeface="黑体" panose="02010609060101010101" pitchFamily="49" charset="-122"/>
              </a:rPr>
              <a:t>个    </a:t>
            </a:r>
            <a:r>
              <a:rPr lang="en-US" altLang="zh-CN" sz="2400" dirty="0">
                <a:latin typeface="黑体" panose="02010609060101010101" pitchFamily="49" charset="-122"/>
              </a:rPr>
              <a:t>B</a:t>
            </a:r>
            <a:r>
              <a:rPr lang="zh-CN" altLang="en-US" sz="2400" dirty="0">
                <a:latin typeface="黑体" panose="02010609060101010101" pitchFamily="49" charset="-122"/>
              </a:rPr>
              <a:t>．</a:t>
            </a:r>
            <a:r>
              <a:rPr lang="en-US" altLang="zh-CN" sz="2400" dirty="0">
                <a:latin typeface="黑体" panose="02010609060101010101" pitchFamily="49" charset="-122"/>
              </a:rPr>
              <a:t>3</a:t>
            </a:r>
            <a:r>
              <a:rPr lang="zh-CN" altLang="en-US" sz="2400" dirty="0">
                <a:latin typeface="黑体" panose="02010609060101010101" pitchFamily="49" charset="-122"/>
              </a:rPr>
              <a:t>个    </a:t>
            </a:r>
            <a:r>
              <a:rPr lang="en-US" altLang="zh-CN" sz="2400" dirty="0">
                <a:latin typeface="黑体" panose="02010609060101010101" pitchFamily="49" charset="-122"/>
              </a:rPr>
              <a:t>C</a:t>
            </a:r>
            <a:r>
              <a:rPr lang="zh-CN" altLang="en-US" sz="2400" dirty="0">
                <a:latin typeface="黑体" panose="02010609060101010101" pitchFamily="49" charset="-122"/>
              </a:rPr>
              <a:t>．</a:t>
            </a:r>
            <a:r>
              <a:rPr lang="en-US" altLang="zh-CN" sz="2400" dirty="0">
                <a:latin typeface="黑体" panose="02010609060101010101" pitchFamily="49" charset="-122"/>
              </a:rPr>
              <a:t>4</a:t>
            </a:r>
            <a:r>
              <a:rPr lang="zh-CN" altLang="en-US" sz="2400" dirty="0">
                <a:latin typeface="黑体" panose="02010609060101010101" pitchFamily="49" charset="-122"/>
              </a:rPr>
              <a:t>个    </a:t>
            </a:r>
            <a:r>
              <a:rPr lang="en-US" altLang="zh-CN" sz="2400" dirty="0">
                <a:latin typeface="黑体" panose="02010609060101010101" pitchFamily="49" charset="-122"/>
              </a:rPr>
              <a:t>D</a:t>
            </a:r>
            <a:r>
              <a:rPr lang="zh-CN" altLang="en-US" sz="2400" dirty="0">
                <a:latin typeface="黑体" panose="02010609060101010101" pitchFamily="49" charset="-122"/>
              </a:rPr>
              <a:t>．</a:t>
            </a:r>
            <a:r>
              <a:rPr lang="en-US" altLang="zh-CN" sz="2400" dirty="0">
                <a:latin typeface="黑体" panose="02010609060101010101" pitchFamily="49" charset="-122"/>
              </a:rPr>
              <a:t>5</a:t>
            </a:r>
            <a:r>
              <a:rPr lang="zh-CN" altLang="en-US" sz="2400" dirty="0">
                <a:latin typeface="黑体" panose="02010609060101010101" pitchFamily="49" charset="-122"/>
              </a:rPr>
              <a:t>个</a:t>
            </a:r>
          </a:p>
        </p:txBody>
      </p:sp>
      <p:sp>
        <p:nvSpPr>
          <p:cNvPr id="52229" name="Rectangle 5">
            <a:extLst>
              <a:ext uri="{FF2B5EF4-FFF2-40B4-BE49-F238E27FC236}">
                <a16:creationId xmlns:a16="http://schemas.microsoft.com/office/drawing/2014/main" id="{1536BBCE-3093-492B-9245-B875B5781491}"/>
              </a:ext>
            </a:extLst>
          </p:cNvPr>
          <p:cNvSpPr>
            <a:spLocks noChangeArrowheads="1"/>
          </p:cNvSpPr>
          <p:nvPr/>
        </p:nvSpPr>
        <p:spPr bwMode="auto">
          <a:xfrm>
            <a:off x="9035927" y="1968778"/>
            <a:ext cx="471604" cy="646331"/>
          </a:xfrm>
          <a:prstGeom prst="rect">
            <a:avLst/>
          </a:prstGeom>
          <a:noFill/>
          <a:ln w="9525">
            <a:noFill/>
            <a:miter lim="800000"/>
          </a:ln>
          <a:effectLst/>
        </p:spPr>
        <p:txBody>
          <a:bodyPr wrap="none">
            <a:spAutoFit/>
          </a:bodyPr>
          <a:lstStyle/>
          <a:p>
            <a:pPr eaLnBrk="1" hangingPunct="1">
              <a:buFont typeface="Arial" panose="020B0604020202020204" pitchFamily="34" charset="0"/>
              <a:buNone/>
              <a:defRPr/>
            </a:pPr>
            <a:r>
              <a:rPr lang="en-US" altLang="zh-CN" sz="3600" noProof="1">
                <a:solidFill>
                  <a:srgbClr val="FF0000"/>
                </a:solidFill>
                <a:effectLst>
                  <a:outerShdw blurRad="38100" dist="38100" dir="2700000">
                    <a:srgbClr val="000000"/>
                  </a:outerShdw>
                </a:effectLst>
                <a:ea typeface="宋体" panose="02010600030101010101" pitchFamily="2" charset="-122"/>
                <a:sym typeface="+mn-ea"/>
              </a:rPr>
              <a:t>C</a:t>
            </a:r>
          </a:p>
        </p:txBody>
      </p:sp>
      <p:sp>
        <p:nvSpPr>
          <p:cNvPr id="2" name="Rectangle 5">
            <a:extLst>
              <a:ext uri="{FF2B5EF4-FFF2-40B4-BE49-F238E27FC236}">
                <a16:creationId xmlns:a16="http://schemas.microsoft.com/office/drawing/2014/main" id="{A367EF83-1586-438B-9238-489F1A5B054B}"/>
              </a:ext>
            </a:extLst>
          </p:cNvPr>
          <p:cNvSpPr>
            <a:spLocks noChangeArrowheads="1"/>
          </p:cNvSpPr>
          <p:nvPr/>
        </p:nvSpPr>
        <p:spPr bwMode="auto">
          <a:xfrm>
            <a:off x="8925249" y="3919726"/>
            <a:ext cx="442750" cy="646331"/>
          </a:xfrm>
          <a:prstGeom prst="rect">
            <a:avLst/>
          </a:prstGeom>
          <a:noFill/>
          <a:ln w="9525">
            <a:noFill/>
            <a:miter lim="800000"/>
          </a:ln>
          <a:effectLst/>
        </p:spPr>
        <p:txBody>
          <a:bodyPr wrap="none">
            <a:spAutoFit/>
          </a:bodyPr>
          <a:lstStyle/>
          <a:p>
            <a:pPr eaLnBrk="1" hangingPunct="1">
              <a:buFont typeface="Arial" panose="020B0604020202020204" pitchFamily="34" charset="0"/>
              <a:buNone/>
              <a:defRPr/>
            </a:pPr>
            <a:r>
              <a:rPr lang="en-US" altLang="zh-CN" sz="3600" noProof="1">
                <a:solidFill>
                  <a:srgbClr val="FF0000"/>
                </a:solidFill>
                <a:effectLst>
                  <a:outerShdw blurRad="38100" dist="38100" dir="2700000">
                    <a:srgbClr val="000000"/>
                  </a:outerShdw>
                </a:effectLst>
                <a:ea typeface="宋体" panose="02010600030101010101" pitchFamily="2" charset="-122"/>
                <a:sym typeface="+mn-ea"/>
              </a:rPr>
              <a:t>B</a:t>
            </a:r>
          </a:p>
        </p:txBody>
      </p:sp>
      <p:sp>
        <p:nvSpPr>
          <p:cNvPr id="3" name="文本框 2">
            <a:extLst>
              <a:ext uri="{FF2B5EF4-FFF2-40B4-BE49-F238E27FC236}">
                <a16:creationId xmlns:a16="http://schemas.microsoft.com/office/drawing/2014/main" id="{5E59024E-E3F1-485F-8607-6BAF6904F8BC}"/>
              </a:ext>
            </a:extLst>
          </p:cNvPr>
          <p:cNvSpPr txBox="1"/>
          <p:nvPr/>
        </p:nvSpPr>
        <p:spPr>
          <a:xfrm>
            <a:off x="683580" y="231971"/>
            <a:ext cx="2236510" cy="584775"/>
          </a:xfrm>
          <a:prstGeom prst="rect">
            <a:avLst/>
          </a:prstGeom>
          <a:noFill/>
        </p:spPr>
        <p:txBody>
          <a:bodyPr wrap="none" rtlCol="0">
            <a:spAutoFit/>
          </a:bodyPr>
          <a:lstStyle/>
          <a:p>
            <a:r>
              <a:rPr lang="zh-CN" altLang="en-US" sz="3200" b="1" dirty="0">
                <a:solidFill>
                  <a:srgbClr val="FF0000"/>
                </a:solidFill>
                <a:latin typeface="黑体" panose="02010609060101010101" pitchFamily="49" charset="-122"/>
                <a:ea typeface="黑体" panose="02010609060101010101" pitchFamily="49" charset="-122"/>
              </a:rPr>
              <a:t>真题演练：</a:t>
            </a:r>
          </a:p>
        </p:txBody>
      </p:sp>
    </p:spTree>
    <p:extLst>
      <p:ext uri="{BB962C8B-B14F-4D97-AF65-F5344CB8AC3E}">
        <p14:creationId xmlns:p14="http://schemas.microsoft.com/office/powerpoint/2010/main" val="25265498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blinds(horizontal)">
                                      <p:cBhvr>
                                        <p:cTn id="7" dur="500"/>
                                        <p:tgtEl>
                                          <p:spTgt spid="522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2229"/>
                                        </p:tgtEl>
                                        <p:attrNameLst>
                                          <p:attrName>style.visibility</p:attrName>
                                        </p:attrNameLst>
                                      </p:cBhvr>
                                      <p:to>
                                        <p:strVal val="visible"/>
                                      </p:to>
                                    </p:set>
                                    <p:animEffect transition="in" filter="blinds(horizontal)">
                                      <p:cBhvr>
                                        <p:cTn id="12" dur="500"/>
                                        <p:tgtEl>
                                          <p:spTgt spid="522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p:bldP spid="52229" grpId="0"/>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95202C77-5794-4A48-8545-A63628088E59}"/>
              </a:ext>
            </a:extLst>
          </p:cNvPr>
          <p:cNvSpPr>
            <a:spLocks noChangeArrowheads="1"/>
          </p:cNvSpPr>
          <p:nvPr/>
        </p:nvSpPr>
        <p:spPr bwMode="auto">
          <a:xfrm>
            <a:off x="932156" y="808038"/>
            <a:ext cx="9996256" cy="5262562"/>
          </a:xfrm>
          <a:prstGeom prst="rect">
            <a:avLst/>
          </a:prstGeom>
          <a:noFill/>
          <a:ln w="9525">
            <a:noFill/>
            <a:miter lim="800000"/>
          </a:ln>
          <a:effectLst/>
        </p:spPr>
        <p:txBody>
          <a:bodyPr wrap="square" anchor="ctr">
            <a:spAutoFit/>
          </a:bodyPr>
          <a:lstStyle/>
          <a:p>
            <a:pPr eaLnBrk="1" hangingPunct="1">
              <a:defRPr/>
            </a:pP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(08)3</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半乳糖血症是人类的一种隐性遗传病，可以通过限制食物中乳糖和葡萄糖的浓度加以治疗。小苏和她的丈夫都是半乳糖血症基因的携带者，那么如果小苏已经孕有异卵双胞胎，她们都是女孩且都患有半乳糖血症的概率是</a:t>
            </a:r>
            <a:endParaRPr lang="zh-CN" altLang="en-US" sz="2400" b="1" dirty="0">
              <a:latin typeface="黑体" panose="02010609060101010101" pitchFamily="49" charset="-122"/>
              <a:ea typeface="黑体" panose="02010609060101010101" pitchFamily="49" charset="-122"/>
              <a:sym typeface="+mn-ea"/>
            </a:endParaRPr>
          </a:p>
          <a:p>
            <a:pPr>
              <a:defRPr/>
            </a:pP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    </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A</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1/8     B</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1/16      C</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1/32       D</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1/64</a:t>
            </a:r>
            <a:endParaRPr lang="en-US" altLang="zh-CN" sz="2400" b="1" dirty="0">
              <a:latin typeface="黑体" panose="02010609060101010101" pitchFamily="49" charset="-122"/>
              <a:ea typeface="黑体" panose="02010609060101010101" pitchFamily="49" charset="-122"/>
              <a:sym typeface="+mn-ea"/>
            </a:endParaRPr>
          </a:p>
          <a:p>
            <a:pPr>
              <a:defRPr/>
            </a:pP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4</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接上题</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如果小苏怀的是同卵双胞胎，她们都是女孩且都患有半乳糖血症的概率是 </a:t>
            </a:r>
            <a:endParaRPr lang="zh-CN" altLang="en-US" sz="2400" b="1" dirty="0">
              <a:latin typeface="黑体" panose="02010609060101010101" pitchFamily="49" charset="-122"/>
              <a:ea typeface="黑体" panose="02010609060101010101" pitchFamily="49" charset="-122"/>
              <a:sym typeface="+mn-ea"/>
            </a:endParaRPr>
          </a:p>
          <a:p>
            <a:pPr>
              <a:defRPr/>
            </a:pP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    </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A</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1/8     B</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1/16      C</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1/32       D</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1/64</a:t>
            </a:r>
            <a:endParaRPr lang="en-US" altLang="zh-CN" sz="2400" b="1" dirty="0">
              <a:latin typeface="黑体" panose="02010609060101010101" pitchFamily="49" charset="-122"/>
              <a:ea typeface="黑体" panose="02010609060101010101" pitchFamily="49" charset="-122"/>
              <a:sym typeface="+mn-ea"/>
            </a:endParaRPr>
          </a:p>
          <a:p>
            <a:pPr>
              <a:defRPr/>
            </a:pP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5</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接上题</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在不考虑双胞胎的情形下，夫妇两个如果有</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4</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个孩子，他们都正常的概率是 </a:t>
            </a:r>
            <a:endParaRPr lang="zh-CN" altLang="en-US" sz="2400" b="1" dirty="0">
              <a:latin typeface="黑体" panose="02010609060101010101" pitchFamily="49" charset="-122"/>
              <a:ea typeface="黑体" panose="02010609060101010101" pitchFamily="49" charset="-122"/>
              <a:sym typeface="+mn-ea"/>
            </a:endParaRPr>
          </a:p>
          <a:p>
            <a:pPr>
              <a:defRPr/>
            </a:pP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    </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A</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19%      B</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25</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     </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C</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32%       D</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75</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endParaRPr lang="zh-CN" altLang="en-US" sz="2400" b="1" dirty="0">
              <a:latin typeface="黑体" panose="02010609060101010101" pitchFamily="49" charset="-122"/>
              <a:ea typeface="黑体" panose="02010609060101010101" pitchFamily="49" charset="-122"/>
              <a:sym typeface="+mn-ea"/>
            </a:endParaRPr>
          </a:p>
          <a:p>
            <a:pPr>
              <a:defRPr/>
            </a:pP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6</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接上题</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)4</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个孩子中至少有一个患病的概率是</a:t>
            </a:r>
          </a:p>
          <a:p>
            <a:pPr>
              <a:defRPr/>
            </a:pP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    A</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25</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     </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B</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68</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       </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C</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75</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      </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D</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sym typeface="+mn-ea"/>
              </a:rPr>
              <a:t>81</a:t>
            </a:r>
            <a:r>
              <a:rPr lang="zh-CN" altLang="en-US" sz="2400" b="1" dirty="0">
                <a:latin typeface="黑体" panose="02010609060101010101" pitchFamily="49" charset="-122"/>
                <a:ea typeface="黑体" panose="02010609060101010101" pitchFamily="49" charset="-122"/>
                <a:cs typeface="Times New Roman" panose="02020603050405020304" pitchFamily="18" charset="0"/>
                <a:sym typeface="+mn-ea"/>
              </a:rPr>
              <a:t>％</a:t>
            </a:r>
          </a:p>
          <a:p>
            <a:pPr>
              <a:defRPr/>
            </a:pPr>
            <a:endParaRPr lang="en-US" altLang="zh-CN" sz="2400" dirty="0">
              <a:effectLst>
                <a:outerShdw blurRad="38100" dist="38100" dir="2700000" algn="tl">
                  <a:srgbClr val="C0C0C0"/>
                </a:outerShdw>
              </a:effectLst>
              <a:latin typeface="黑体" panose="02010609060101010101" pitchFamily="49" charset="-122"/>
              <a:cs typeface="Times New Roman" panose="02020603050405020304" pitchFamily="18" charset="0"/>
              <a:sym typeface="+mn-ea"/>
            </a:endParaRPr>
          </a:p>
        </p:txBody>
      </p:sp>
      <p:sp>
        <p:nvSpPr>
          <p:cNvPr id="139267" name="Rectangle 3">
            <a:extLst>
              <a:ext uri="{FF2B5EF4-FFF2-40B4-BE49-F238E27FC236}">
                <a16:creationId xmlns:a16="http://schemas.microsoft.com/office/drawing/2014/main" id="{30A2D798-0189-48A2-8A82-60979A16D4E9}"/>
              </a:ext>
            </a:extLst>
          </p:cNvPr>
          <p:cNvSpPr>
            <a:spLocks noChangeArrowheads="1"/>
          </p:cNvSpPr>
          <p:nvPr/>
        </p:nvSpPr>
        <p:spPr bwMode="auto">
          <a:xfrm>
            <a:off x="8472488" y="1916113"/>
            <a:ext cx="514350" cy="641350"/>
          </a:xfrm>
          <a:prstGeom prst="rect">
            <a:avLst/>
          </a:prstGeom>
          <a:noFill/>
          <a:ln w="9525">
            <a:noFill/>
            <a:miter lim="800000"/>
          </a:ln>
          <a:effectLst/>
        </p:spPr>
        <p:txBody>
          <a:bodyPr wrap="none">
            <a:spAutoFit/>
          </a:bodyPr>
          <a:lstStyle/>
          <a:p>
            <a:pPr eaLnBrk="1" hangingPunct="1">
              <a:buFont typeface="Arial" panose="020B0604020202020204" pitchFamily="34" charset="0"/>
              <a:buNone/>
              <a:defRPr/>
            </a:pPr>
            <a:r>
              <a:rPr lang="en-US" altLang="zh-CN" sz="3600" noProof="1">
                <a:solidFill>
                  <a:srgbClr val="FF0000"/>
                </a:solidFill>
                <a:effectLst>
                  <a:outerShdw blurRad="38100" dist="38100" dir="2700000">
                    <a:srgbClr val="000000"/>
                  </a:outerShdw>
                </a:effectLst>
                <a:ea typeface="宋体" panose="02010600030101010101" pitchFamily="2" charset="-122"/>
                <a:sym typeface="+mn-ea"/>
              </a:rPr>
              <a:t>D</a:t>
            </a:r>
          </a:p>
        </p:txBody>
      </p:sp>
      <p:sp>
        <p:nvSpPr>
          <p:cNvPr id="139268" name="Rectangle 4">
            <a:extLst>
              <a:ext uri="{FF2B5EF4-FFF2-40B4-BE49-F238E27FC236}">
                <a16:creationId xmlns:a16="http://schemas.microsoft.com/office/drawing/2014/main" id="{4266079D-24BF-4C44-BCB3-FAEFB17E0253}"/>
              </a:ext>
            </a:extLst>
          </p:cNvPr>
          <p:cNvSpPr>
            <a:spLocks noChangeArrowheads="1"/>
          </p:cNvSpPr>
          <p:nvPr/>
        </p:nvSpPr>
        <p:spPr bwMode="auto">
          <a:xfrm>
            <a:off x="7680325" y="2924176"/>
            <a:ext cx="478016" cy="646331"/>
          </a:xfrm>
          <a:prstGeom prst="rect">
            <a:avLst/>
          </a:prstGeom>
          <a:noFill/>
          <a:ln w="9525">
            <a:noFill/>
            <a:miter lim="800000"/>
          </a:ln>
          <a:effectLst/>
        </p:spPr>
        <p:txBody>
          <a:bodyPr wrap="none">
            <a:spAutoFit/>
          </a:bodyPr>
          <a:lstStyle/>
          <a:p>
            <a:pPr eaLnBrk="1" hangingPunct="1">
              <a:buFont typeface="Arial" panose="020B0604020202020204" pitchFamily="34" charset="0"/>
              <a:buNone/>
              <a:defRPr/>
            </a:pPr>
            <a:r>
              <a:rPr lang="en-US" altLang="zh-CN" sz="3600" noProof="1">
                <a:solidFill>
                  <a:srgbClr val="FF0000"/>
                </a:solidFill>
                <a:effectLst>
                  <a:outerShdw blurRad="38100" dist="38100" dir="2700000">
                    <a:srgbClr val="000000"/>
                  </a:outerShdw>
                </a:effectLst>
                <a:ea typeface="宋体" panose="02010600030101010101" pitchFamily="2" charset="-122"/>
                <a:sym typeface="+mn-ea"/>
              </a:rPr>
              <a:t>A</a:t>
            </a:r>
          </a:p>
        </p:txBody>
      </p:sp>
      <p:sp>
        <p:nvSpPr>
          <p:cNvPr id="139269" name="Rectangle 5">
            <a:extLst>
              <a:ext uri="{FF2B5EF4-FFF2-40B4-BE49-F238E27FC236}">
                <a16:creationId xmlns:a16="http://schemas.microsoft.com/office/drawing/2014/main" id="{E4E8C139-BBF2-4C3F-98B3-9F1E2AEB5475}"/>
              </a:ext>
            </a:extLst>
          </p:cNvPr>
          <p:cNvSpPr>
            <a:spLocks noChangeArrowheads="1"/>
          </p:cNvSpPr>
          <p:nvPr/>
        </p:nvSpPr>
        <p:spPr bwMode="auto">
          <a:xfrm>
            <a:off x="8616950" y="4005264"/>
            <a:ext cx="471604" cy="646331"/>
          </a:xfrm>
          <a:prstGeom prst="rect">
            <a:avLst/>
          </a:prstGeom>
          <a:noFill/>
          <a:ln w="9525">
            <a:noFill/>
            <a:miter lim="800000"/>
          </a:ln>
          <a:effectLst/>
        </p:spPr>
        <p:txBody>
          <a:bodyPr wrap="none">
            <a:spAutoFit/>
          </a:bodyPr>
          <a:lstStyle/>
          <a:p>
            <a:pPr eaLnBrk="1" hangingPunct="1">
              <a:buFont typeface="Arial" panose="020B0604020202020204" pitchFamily="34" charset="0"/>
              <a:buNone/>
              <a:defRPr/>
            </a:pPr>
            <a:r>
              <a:rPr lang="en-US" altLang="zh-CN" sz="3600" noProof="1">
                <a:solidFill>
                  <a:srgbClr val="FF0000"/>
                </a:solidFill>
                <a:effectLst>
                  <a:outerShdw blurRad="38100" dist="38100" dir="2700000">
                    <a:srgbClr val="000000"/>
                  </a:outerShdw>
                </a:effectLst>
                <a:ea typeface="宋体" panose="02010600030101010101" pitchFamily="2" charset="-122"/>
                <a:sym typeface="+mn-ea"/>
              </a:rPr>
              <a:t>C</a:t>
            </a:r>
          </a:p>
        </p:txBody>
      </p:sp>
      <p:sp>
        <p:nvSpPr>
          <p:cNvPr id="139270" name="Rectangle 6">
            <a:extLst>
              <a:ext uri="{FF2B5EF4-FFF2-40B4-BE49-F238E27FC236}">
                <a16:creationId xmlns:a16="http://schemas.microsoft.com/office/drawing/2014/main" id="{972F4409-6885-4EAE-A974-06F42D8E11A2}"/>
              </a:ext>
            </a:extLst>
          </p:cNvPr>
          <p:cNvSpPr>
            <a:spLocks noChangeArrowheads="1"/>
          </p:cNvSpPr>
          <p:nvPr/>
        </p:nvSpPr>
        <p:spPr bwMode="auto">
          <a:xfrm>
            <a:off x="8759825" y="4797426"/>
            <a:ext cx="442750" cy="646331"/>
          </a:xfrm>
          <a:prstGeom prst="rect">
            <a:avLst/>
          </a:prstGeom>
          <a:noFill/>
          <a:ln w="9525">
            <a:noFill/>
            <a:miter lim="800000"/>
          </a:ln>
          <a:effectLst/>
        </p:spPr>
        <p:txBody>
          <a:bodyPr wrap="none">
            <a:spAutoFit/>
          </a:bodyPr>
          <a:lstStyle/>
          <a:p>
            <a:pPr eaLnBrk="1" hangingPunct="1">
              <a:buFont typeface="Arial" panose="020B0604020202020204" pitchFamily="34" charset="0"/>
              <a:buNone/>
              <a:defRPr/>
            </a:pPr>
            <a:r>
              <a:rPr lang="en-US" altLang="zh-CN" sz="3600" noProof="1">
                <a:solidFill>
                  <a:srgbClr val="FF0000"/>
                </a:solidFill>
                <a:effectLst>
                  <a:outerShdw blurRad="38100" dist="38100" dir="2700000">
                    <a:srgbClr val="000000"/>
                  </a:outerShdw>
                </a:effectLst>
                <a:ea typeface="宋体" panose="02010600030101010101" pitchFamily="2" charset="-122"/>
                <a:sym typeface="+mn-ea"/>
              </a:rPr>
              <a:t>B</a:t>
            </a:r>
          </a:p>
        </p:txBody>
      </p:sp>
      <p:graphicFrame>
        <p:nvGraphicFramePr>
          <p:cNvPr id="53255" name="Object 9">
            <a:extLst>
              <a:ext uri="{FF2B5EF4-FFF2-40B4-BE49-F238E27FC236}">
                <a16:creationId xmlns:a16="http://schemas.microsoft.com/office/drawing/2014/main" id="{27C382D1-51E8-4B2D-AF2D-1398A25400B6}"/>
              </a:ext>
            </a:extLst>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r:id="rId2" imgW="114151" imgH="215619" progId="Equation.3">
                  <p:embed/>
                </p:oleObj>
              </mc:Choice>
              <mc:Fallback>
                <p:oleObj r:id="rId2" imgW="114151" imgH="215619"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66552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9267"/>
                                        </p:tgtEl>
                                        <p:attrNameLst>
                                          <p:attrName>style.visibility</p:attrName>
                                        </p:attrNameLst>
                                      </p:cBhvr>
                                      <p:to>
                                        <p:strVal val="visible"/>
                                      </p:to>
                                    </p:set>
                                    <p:animEffect transition="in" filter="blinds(horizontal)">
                                      <p:cBhvr>
                                        <p:cTn id="7" dur="500"/>
                                        <p:tgtEl>
                                          <p:spTgt spid="139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9268"/>
                                        </p:tgtEl>
                                        <p:attrNameLst>
                                          <p:attrName>style.visibility</p:attrName>
                                        </p:attrNameLst>
                                      </p:cBhvr>
                                      <p:to>
                                        <p:strVal val="visible"/>
                                      </p:to>
                                    </p:set>
                                    <p:animEffect transition="in" filter="blinds(horizontal)">
                                      <p:cBhvr>
                                        <p:cTn id="12" dur="500"/>
                                        <p:tgtEl>
                                          <p:spTgt spid="1392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9269"/>
                                        </p:tgtEl>
                                        <p:attrNameLst>
                                          <p:attrName>style.visibility</p:attrName>
                                        </p:attrNameLst>
                                      </p:cBhvr>
                                      <p:to>
                                        <p:strVal val="visible"/>
                                      </p:to>
                                    </p:set>
                                    <p:animEffect transition="in" filter="blinds(horizontal)">
                                      <p:cBhvr>
                                        <p:cTn id="17" dur="500"/>
                                        <p:tgtEl>
                                          <p:spTgt spid="1392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9270"/>
                                        </p:tgtEl>
                                        <p:attrNameLst>
                                          <p:attrName>style.visibility</p:attrName>
                                        </p:attrNameLst>
                                      </p:cBhvr>
                                      <p:to>
                                        <p:strVal val="visible"/>
                                      </p:to>
                                    </p:set>
                                    <p:animEffect transition="in" filter="blinds(horizontal)">
                                      <p:cBhvr>
                                        <p:cTn id="22" dur="500"/>
                                        <p:tgtEl>
                                          <p:spTgt spid="139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p:bldP spid="139268" grpId="0"/>
      <p:bldP spid="139269" grpId="0"/>
      <p:bldP spid="13927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5" name="Rectangle 5">
            <a:extLst>
              <a:ext uri="{FF2B5EF4-FFF2-40B4-BE49-F238E27FC236}">
                <a16:creationId xmlns:a16="http://schemas.microsoft.com/office/drawing/2014/main" id="{F771B846-9025-4BE2-9E04-27E13EB23764}"/>
              </a:ext>
            </a:extLst>
          </p:cNvPr>
          <p:cNvSpPr>
            <a:spLocks noChangeArrowheads="1"/>
          </p:cNvSpPr>
          <p:nvPr/>
        </p:nvSpPr>
        <p:spPr bwMode="auto">
          <a:xfrm>
            <a:off x="683581" y="147339"/>
            <a:ext cx="10520038" cy="6463308"/>
          </a:xfrm>
          <a:prstGeom prst="rect">
            <a:avLst/>
          </a:prstGeom>
          <a:noFill/>
          <a:ln>
            <a:noFill/>
          </a:ln>
        </p:spPr>
        <p:txBody>
          <a:bodyPr wrap="square" anchor="ctr">
            <a:spAutoFit/>
          </a:bodyPr>
          <a:lstStyle>
            <a:lvl1pPr algn="ctr">
              <a:defRPr sz="2800" b="1">
                <a:solidFill>
                  <a:schemeClr val="tx1"/>
                </a:solidFill>
                <a:latin typeface="Arial" panose="020B0604020202020204" pitchFamily="34" charset="0"/>
                <a:ea typeface="黑体" panose="02010609060101010101" pitchFamily="49" charset="-122"/>
              </a:defRPr>
            </a:lvl1pPr>
            <a:lvl2pPr algn="ctr">
              <a:defRPr sz="2800" b="1">
                <a:solidFill>
                  <a:schemeClr val="tx1"/>
                </a:solidFill>
                <a:latin typeface="Arial" panose="020B0604020202020204" pitchFamily="34" charset="0"/>
                <a:ea typeface="黑体" panose="02010609060101010101" pitchFamily="49" charset="-122"/>
              </a:defRPr>
            </a:lvl2pPr>
            <a:lvl3pPr algn="ctr">
              <a:defRPr sz="2800" b="1">
                <a:solidFill>
                  <a:schemeClr val="tx1"/>
                </a:solidFill>
                <a:latin typeface="Arial" panose="020B0604020202020204" pitchFamily="34" charset="0"/>
                <a:ea typeface="黑体" panose="02010609060101010101" pitchFamily="49" charset="-122"/>
              </a:defRPr>
            </a:lvl3pPr>
            <a:lvl4pPr algn="ctr">
              <a:defRPr sz="2800" b="1">
                <a:solidFill>
                  <a:schemeClr val="tx1"/>
                </a:solidFill>
                <a:latin typeface="Arial" panose="020B0604020202020204" pitchFamily="34" charset="0"/>
                <a:ea typeface="黑体" panose="02010609060101010101" pitchFamily="49" charset="-122"/>
              </a:defRPr>
            </a:lvl4pPr>
            <a:lvl5pPr algn="ctr">
              <a:defRPr sz="2800" b="1">
                <a:solidFill>
                  <a:schemeClr val="tx1"/>
                </a:solidFill>
                <a:latin typeface="Arial" panose="020B0604020202020204" pitchFamily="34" charset="0"/>
                <a:ea typeface="黑体" panose="02010609060101010101" pitchFamily="49" charset="-122"/>
              </a:defRPr>
            </a:lvl5pPr>
            <a:lvl6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6pPr>
            <a:lvl7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7pPr>
            <a:lvl8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8pPr>
            <a:lvl9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9pPr>
          </a:lstStyle>
          <a:p>
            <a:pPr algn="l" eaLnBrk="1" hangingPunct="1">
              <a:buFont typeface="Arial" panose="020B0604020202020204" pitchFamily="34" charset="0"/>
              <a:buNone/>
              <a:defRPr/>
            </a:pPr>
            <a:r>
              <a:rPr lang="en-US" altLang="zh-CN" sz="2300" dirty="0">
                <a:latin typeface="黑体" panose="02010609060101010101" pitchFamily="49" charset="-122"/>
              </a:rPr>
              <a:t>(08)7</a:t>
            </a:r>
            <a:r>
              <a:rPr lang="zh-CN" altLang="en-US" sz="2300" dirty="0">
                <a:latin typeface="黑体" panose="02010609060101010101" pitchFamily="49" charset="-122"/>
              </a:rPr>
              <a:t>．一位喜欢钓鱼的学生，一次从湖中钓到二条无鳞的草鱼，她想确定一下这种特殊的表型是否有遗传基础，于是做了一系列实验。她首先应该做的是 </a:t>
            </a:r>
          </a:p>
          <a:p>
            <a:pPr algn="l">
              <a:buFont typeface="Arial" panose="020B0604020202020204" pitchFamily="34" charset="0"/>
              <a:buNone/>
              <a:defRPr/>
            </a:pPr>
            <a:r>
              <a:rPr lang="en-US" altLang="zh-CN" sz="2300" dirty="0">
                <a:latin typeface="黑体" panose="02010609060101010101" pitchFamily="49" charset="-122"/>
              </a:rPr>
              <a:t>    A</a:t>
            </a:r>
            <a:r>
              <a:rPr lang="zh-CN" altLang="en-US" sz="2300" dirty="0">
                <a:latin typeface="黑体" panose="02010609060101010101" pitchFamily="49" charset="-122"/>
              </a:rPr>
              <a:t>．培养大量的野生型鱼   </a:t>
            </a:r>
            <a:r>
              <a:rPr lang="en-US" altLang="zh-CN" sz="2300" dirty="0">
                <a:latin typeface="黑体" panose="02010609060101010101" pitchFamily="49" charset="-122"/>
              </a:rPr>
              <a:t>B</a:t>
            </a:r>
            <a:r>
              <a:rPr lang="zh-CN" altLang="en-US" sz="2300" dirty="0">
                <a:latin typeface="黑体" panose="02010609060101010101" pitchFamily="49" charset="-122"/>
              </a:rPr>
              <a:t>．确定野生型鱼有鳞表型能够真实遗传</a:t>
            </a:r>
          </a:p>
          <a:p>
            <a:pPr algn="l">
              <a:buFont typeface="Arial" panose="020B0604020202020204" pitchFamily="34" charset="0"/>
              <a:buNone/>
              <a:defRPr/>
            </a:pPr>
            <a:r>
              <a:rPr lang="en-US" altLang="zh-CN" sz="2300" dirty="0">
                <a:latin typeface="黑体" panose="02010609060101010101" pitchFamily="49" charset="-122"/>
              </a:rPr>
              <a:t>    C</a:t>
            </a:r>
            <a:r>
              <a:rPr lang="zh-CN" altLang="en-US" sz="2300" dirty="0">
                <a:latin typeface="黑体" panose="02010609060101010101" pitchFamily="49" charset="-122"/>
              </a:rPr>
              <a:t>．培养大量无鳞鱼，研究表型特征     </a:t>
            </a:r>
            <a:r>
              <a:rPr lang="en-US" altLang="zh-CN" sz="2300" dirty="0">
                <a:latin typeface="黑体" panose="02010609060101010101" pitchFamily="49" charset="-122"/>
              </a:rPr>
              <a:t>D</a:t>
            </a:r>
            <a:r>
              <a:rPr lang="zh-CN" altLang="en-US" sz="2300" dirty="0">
                <a:latin typeface="黑体" panose="02010609060101010101" pitchFamily="49" charset="-122"/>
              </a:rPr>
              <a:t>．用无鳞鱼和有鳞鱼杂交</a:t>
            </a:r>
          </a:p>
          <a:p>
            <a:pPr algn="l">
              <a:buFont typeface="Arial" panose="020B0604020202020204" pitchFamily="34" charset="0"/>
              <a:buNone/>
              <a:defRPr/>
            </a:pPr>
            <a:r>
              <a:rPr lang="en-US" altLang="zh-CN" sz="2300" dirty="0">
                <a:latin typeface="黑体" panose="02010609060101010101" pitchFamily="49" charset="-122"/>
              </a:rPr>
              <a:t>8</a:t>
            </a:r>
            <a:r>
              <a:rPr lang="zh-CN" altLang="en-US" sz="2300" dirty="0">
                <a:latin typeface="黑体" panose="02010609060101010101" pitchFamily="49" charset="-122"/>
              </a:rPr>
              <a:t>．</a:t>
            </a:r>
            <a:r>
              <a:rPr lang="en-US" altLang="zh-CN" sz="2300" dirty="0">
                <a:latin typeface="黑体" panose="02010609060101010101" pitchFamily="49" charset="-122"/>
              </a:rPr>
              <a:t>(</a:t>
            </a:r>
            <a:r>
              <a:rPr lang="zh-CN" altLang="en-US" sz="2300" dirty="0">
                <a:latin typeface="黑体" panose="02010609060101010101" pitchFamily="49" charset="-122"/>
              </a:rPr>
              <a:t>接上题</a:t>
            </a:r>
            <a:r>
              <a:rPr lang="en-US" altLang="zh-CN" sz="2300" dirty="0">
                <a:latin typeface="黑体" panose="02010609060101010101" pitchFamily="49" charset="-122"/>
              </a:rPr>
              <a:t>)</a:t>
            </a:r>
            <a:r>
              <a:rPr lang="zh-CN" altLang="en-US" sz="2300" dirty="0">
                <a:latin typeface="黑体" panose="02010609060101010101" pitchFamily="49" charset="-122"/>
              </a:rPr>
              <a:t>当她将无鳞鱼和纯合体野生型鱼杂交，</a:t>
            </a:r>
            <a:r>
              <a:rPr lang="en-US" altLang="zh-CN" sz="2300" dirty="0">
                <a:latin typeface="黑体" panose="02010609060101010101" pitchFamily="49" charset="-122"/>
              </a:rPr>
              <a:t>F</a:t>
            </a:r>
            <a:r>
              <a:rPr lang="en-US" altLang="zh-CN" sz="2300" baseline="-30000" dirty="0">
                <a:latin typeface="黑体" panose="02010609060101010101" pitchFamily="49" charset="-122"/>
              </a:rPr>
              <a:t>1</a:t>
            </a:r>
            <a:r>
              <a:rPr lang="zh-CN" altLang="en-US" sz="2300" dirty="0">
                <a:latin typeface="黑体" panose="02010609060101010101" pitchFamily="49" charset="-122"/>
              </a:rPr>
              <a:t>代有两种表型</a:t>
            </a:r>
            <a:r>
              <a:rPr lang="en-US" altLang="zh-CN" sz="2300" dirty="0">
                <a:latin typeface="黑体" panose="02010609060101010101" pitchFamily="49" charset="-122"/>
              </a:rPr>
              <a:t>,</a:t>
            </a:r>
            <a:r>
              <a:rPr lang="zh-CN" altLang="en-US" sz="2300" dirty="0">
                <a:latin typeface="黑体" panose="02010609060101010101" pitchFamily="49" charset="-122"/>
              </a:rPr>
              <a:t>有鳞鱼占</a:t>
            </a:r>
            <a:r>
              <a:rPr lang="en-US" altLang="zh-CN" sz="2300" dirty="0">
                <a:latin typeface="黑体" panose="02010609060101010101" pitchFamily="49" charset="-122"/>
              </a:rPr>
              <a:t>50%</a:t>
            </a:r>
            <a:r>
              <a:rPr lang="zh-CN" altLang="en-US" sz="2300" dirty="0">
                <a:latin typeface="黑体" panose="02010609060101010101" pitchFamily="49" charset="-122"/>
              </a:rPr>
              <a:t>，另</a:t>
            </a:r>
            <a:r>
              <a:rPr lang="en-US" altLang="zh-CN" sz="2300" dirty="0">
                <a:latin typeface="黑体" panose="02010609060101010101" pitchFamily="49" charset="-122"/>
              </a:rPr>
              <a:t>50</a:t>
            </a:r>
            <a:r>
              <a:rPr lang="zh-CN" altLang="en-US" sz="2300" dirty="0">
                <a:latin typeface="黑体" panose="02010609060101010101" pitchFamily="49" charset="-122"/>
              </a:rPr>
              <a:t>％的鱼在两侧各有一列鳞片，由此可知：  </a:t>
            </a:r>
          </a:p>
          <a:p>
            <a:pPr algn="l">
              <a:buFont typeface="Arial" panose="020B0604020202020204" pitchFamily="34" charset="0"/>
              <a:buNone/>
              <a:defRPr/>
            </a:pPr>
            <a:r>
              <a:rPr lang="zh-CN" altLang="en-US" sz="2300" dirty="0">
                <a:latin typeface="黑体" panose="02010609060101010101" pitchFamily="49" charset="-122"/>
              </a:rPr>
              <a:t>    </a:t>
            </a:r>
            <a:r>
              <a:rPr lang="en-US" altLang="zh-CN" sz="2300" dirty="0">
                <a:latin typeface="黑体" panose="02010609060101010101" pitchFamily="49" charset="-122"/>
              </a:rPr>
              <a:t>A</a:t>
            </a:r>
            <a:r>
              <a:rPr lang="zh-CN" altLang="en-US" sz="2300" dirty="0">
                <a:latin typeface="黑体" panose="02010609060101010101" pitchFamily="49" charset="-122"/>
              </a:rPr>
              <a:t>．决定鳞片这一性状的基因肯定不只一个  </a:t>
            </a:r>
          </a:p>
          <a:p>
            <a:pPr algn="l">
              <a:buFont typeface="Arial" panose="020B0604020202020204" pitchFamily="34" charset="0"/>
              <a:buNone/>
              <a:defRPr/>
            </a:pPr>
            <a:r>
              <a:rPr lang="zh-CN" altLang="en-US" sz="2300" dirty="0">
                <a:latin typeface="黑体" panose="02010609060101010101" pitchFamily="49" charset="-122"/>
              </a:rPr>
              <a:t>    </a:t>
            </a:r>
            <a:r>
              <a:rPr lang="en-US" altLang="zh-CN" sz="2300" dirty="0">
                <a:latin typeface="黑体" panose="02010609060101010101" pitchFamily="49" charset="-122"/>
              </a:rPr>
              <a:t>B</a:t>
            </a:r>
            <a:r>
              <a:rPr lang="zh-CN" altLang="en-US" sz="2300" dirty="0">
                <a:latin typeface="黑体" panose="02010609060101010101" pitchFamily="49" charset="-122"/>
              </a:rPr>
              <a:t>．决定鳞片这一性状的基因可能只有一个</a:t>
            </a:r>
          </a:p>
          <a:p>
            <a:pPr algn="l">
              <a:buFont typeface="Arial" panose="020B0604020202020204" pitchFamily="34" charset="0"/>
              <a:buNone/>
              <a:defRPr/>
            </a:pPr>
            <a:r>
              <a:rPr lang="zh-CN" altLang="en-US" sz="2300" dirty="0">
                <a:latin typeface="黑体" panose="02010609060101010101" pitchFamily="49" charset="-122"/>
              </a:rPr>
              <a:t>    </a:t>
            </a:r>
            <a:r>
              <a:rPr lang="en-US" altLang="zh-CN" sz="2300" dirty="0">
                <a:latin typeface="黑体" panose="02010609060101010101" pitchFamily="49" charset="-122"/>
              </a:rPr>
              <a:t>C</a:t>
            </a:r>
            <a:r>
              <a:rPr lang="zh-CN" altLang="en-US" sz="2300" dirty="0">
                <a:latin typeface="黑体" panose="02010609060101010101" pitchFamily="49" charset="-122"/>
              </a:rPr>
              <a:t>．有鳞片是显性性状                </a:t>
            </a:r>
            <a:r>
              <a:rPr lang="en-US" altLang="zh-CN" sz="2300" dirty="0">
                <a:latin typeface="黑体" panose="02010609060101010101" pitchFamily="49" charset="-122"/>
              </a:rPr>
              <a:t>D</a:t>
            </a:r>
            <a:r>
              <a:rPr lang="zh-CN" altLang="en-US" sz="2300" dirty="0">
                <a:latin typeface="黑体" panose="02010609060101010101" pitchFamily="49" charset="-122"/>
              </a:rPr>
              <a:t>．有鳞片是隐性性状</a:t>
            </a:r>
          </a:p>
          <a:p>
            <a:pPr algn="l">
              <a:buFont typeface="Arial" panose="020B0604020202020204" pitchFamily="34" charset="0"/>
              <a:buNone/>
              <a:defRPr/>
            </a:pPr>
            <a:r>
              <a:rPr lang="en-US" altLang="zh-CN" sz="2300" dirty="0">
                <a:latin typeface="黑体" panose="02010609060101010101" pitchFamily="49" charset="-122"/>
              </a:rPr>
              <a:t>9</a:t>
            </a:r>
            <a:r>
              <a:rPr lang="zh-CN" altLang="en-US" sz="2300" dirty="0">
                <a:latin typeface="黑体" panose="02010609060101010101" pitchFamily="49" charset="-122"/>
              </a:rPr>
              <a:t>．</a:t>
            </a:r>
            <a:r>
              <a:rPr lang="en-US" altLang="zh-CN" sz="2300" dirty="0">
                <a:latin typeface="黑体" panose="02010609060101010101" pitchFamily="49" charset="-122"/>
              </a:rPr>
              <a:t>(</a:t>
            </a:r>
            <a:r>
              <a:rPr lang="zh-CN" altLang="en-US" sz="2300" dirty="0">
                <a:latin typeface="黑体" panose="02010609060101010101" pitchFamily="49" charset="-122"/>
              </a:rPr>
              <a:t>接上题</a:t>
            </a:r>
            <a:r>
              <a:rPr lang="en-US" altLang="zh-CN" sz="2300" dirty="0">
                <a:latin typeface="黑体" panose="02010609060101010101" pitchFamily="49" charset="-122"/>
              </a:rPr>
              <a:t>)</a:t>
            </a:r>
            <a:r>
              <a:rPr lang="zh-CN" altLang="en-US" sz="2300" dirty="0">
                <a:latin typeface="黑体" panose="02010609060101010101" pitchFamily="49" charset="-122"/>
              </a:rPr>
              <a:t>这位学生又将单列鳞片的鱼进行互交，后代出现</a:t>
            </a:r>
            <a:r>
              <a:rPr lang="en-US" altLang="zh-CN" sz="2300" dirty="0">
                <a:latin typeface="黑体" panose="02010609060101010101" pitchFamily="49" charset="-122"/>
              </a:rPr>
              <a:t>4</a:t>
            </a:r>
            <a:r>
              <a:rPr lang="zh-CN" altLang="en-US" sz="2300" dirty="0">
                <a:latin typeface="黑体" panose="02010609060101010101" pitchFamily="49" charset="-122"/>
              </a:rPr>
              <a:t>种表型：单列鳞、野生型鳞、无鳞和散鳞（鳞片不规则覆盖于一部分表皮上），它们的比例是</a:t>
            </a:r>
            <a:r>
              <a:rPr lang="en-US" altLang="zh-CN" sz="2300" dirty="0">
                <a:latin typeface="黑体" panose="02010609060101010101" pitchFamily="49" charset="-122"/>
              </a:rPr>
              <a:t>6:3:2:1</a:t>
            </a:r>
            <a:r>
              <a:rPr lang="zh-CN" altLang="en-US" sz="2300" dirty="0">
                <a:latin typeface="黑体" panose="02010609060101010101" pitchFamily="49" charset="-122"/>
              </a:rPr>
              <a:t>。这样，决定鳞片表型的基因有： </a:t>
            </a:r>
          </a:p>
          <a:p>
            <a:pPr algn="l">
              <a:buFont typeface="Arial" panose="020B0604020202020204" pitchFamily="34" charset="0"/>
              <a:buNone/>
              <a:defRPr/>
            </a:pPr>
            <a:r>
              <a:rPr lang="zh-CN" altLang="en-US" sz="2300" dirty="0">
                <a:latin typeface="黑体" panose="02010609060101010101" pitchFamily="49" charset="-122"/>
              </a:rPr>
              <a:t>    </a:t>
            </a:r>
            <a:r>
              <a:rPr lang="en-US" altLang="zh-CN" sz="2300" dirty="0">
                <a:latin typeface="黑体" panose="02010609060101010101" pitchFamily="49" charset="-122"/>
              </a:rPr>
              <a:t>A</a:t>
            </a:r>
            <a:r>
              <a:rPr lang="zh-CN" altLang="en-US" sz="2300" dirty="0">
                <a:latin typeface="黑体" panose="02010609060101010101" pitchFamily="49" charset="-122"/>
              </a:rPr>
              <a:t>．</a:t>
            </a:r>
            <a:r>
              <a:rPr lang="en-US" altLang="zh-CN" sz="2300" dirty="0">
                <a:latin typeface="黑体" panose="02010609060101010101" pitchFamily="49" charset="-122"/>
              </a:rPr>
              <a:t>1</a:t>
            </a:r>
            <a:r>
              <a:rPr lang="zh-CN" altLang="en-US" sz="2300" dirty="0">
                <a:latin typeface="黑体" panose="02010609060101010101" pitchFamily="49" charset="-122"/>
              </a:rPr>
              <a:t>个       </a:t>
            </a:r>
            <a:r>
              <a:rPr lang="en-US" altLang="zh-CN" sz="2300" dirty="0">
                <a:latin typeface="黑体" panose="02010609060101010101" pitchFamily="49" charset="-122"/>
              </a:rPr>
              <a:t>B</a:t>
            </a:r>
            <a:r>
              <a:rPr lang="zh-CN" altLang="en-US" sz="2300" dirty="0">
                <a:latin typeface="黑体" panose="02010609060101010101" pitchFamily="49" charset="-122"/>
              </a:rPr>
              <a:t>．</a:t>
            </a:r>
            <a:r>
              <a:rPr lang="en-US" altLang="zh-CN" sz="2300" dirty="0">
                <a:latin typeface="黑体" panose="02010609060101010101" pitchFamily="49" charset="-122"/>
              </a:rPr>
              <a:t>2</a:t>
            </a:r>
            <a:r>
              <a:rPr lang="zh-CN" altLang="en-US" sz="2300" dirty="0">
                <a:latin typeface="黑体" panose="02010609060101010101" pitchFamily="49" charset="-122"/>
              </a:rPr>
              <a:t>个      </a:t>
            </a:r>
            <a:r>
              <a:rPr lang="en-US" altLang="zh-CN" sz="2300" dirty="0">
                <a:latin typeface="黑体" panose="02010609060101010101" pitchFamily="49" charset="-122"/>
              </a:rPr>
              <a:t>C</a:t>
            </a:r>
            <a:r>
              <a:rPr lang="zh-CN" altLang="en-US" sz="2300" dirty="0">
                <a:latin typeface="黑体" panose="02010609060101010101" pitchFamily="49" charset="-122"/>
              </a:rPr>
              <a:t>．</a:t>
            </a:r>
            <a:r>
              <a:rPr lang="en-US" altLang="zh-CN" sz="2300" dirty="0">
                <a:latin typeface="黑体" panose="02010609060101010101" pitchFamily="49" charset="-122"/>
              </a:rPr>
              <a:t>3</a:t>
            </a:r>
            <a:r>
              <a:rPr lang="zh-CN" altLang="en-US" sz="2300" dirty="0">
                <a:latin typeface="黑体" panose="02010609060101010101" pitchFamily="49" charset="-122"/>
              </a:rPr>
              <a:t>个      </a:t>
            </a:r>
            <a:r>
              <a:rPr lang="en-US" altLang="zh-CN" sz="2300" dirty="0">
                <a:latin typeface="黑体" panose="02010609060101010101" pitchFamily="49" charset="-122"/>
              </a:rPr>
              <a:t>D</a:t>
            </a:r>
            <a:r>
              <a:rPr lang="zh-CN" altLang="en-US" sz="2300" dirty="0">
                <a:latin typeface="黑体" panose="02010609060101010101" pitchFamily="49" charset="-122"/>
              </a:rPr>
              <a:t>．无法确定</a:t>
            </a:r>
          </a:p>
          <a:p>
            <a:pPr algn="l">
              <a:buFont typeface="Arial" panose="020B0604020202020204" pitchFamily="34" charset="0"/>
              <a:buNone/>
              <a:defRPr/>
            </a:pPr>
            <a:r>
              <a:rPr lang="en-US" altLang="zh-CN" sz="2300" dirty="0">
                <a:latin typeface="黑体" panose="02010609060101010101" pitchFamily="49" charset="-122"/>
              </a:rPr>
              <a:t>10</a:t>
            </a:r>
            <a:r>
              <a:rPr lang="zh-CN" altLang="en-US" sz="2300" dirty="0">
                <a:latin typeface="黑体" panose="02010609060101010101" pitchFamily="49" charset="-122"/>
              </a:rPr>
              <a:t>．</a:t>
            </a:r>
            <a:r>
              <a:rPr lang="en-US" altLang="zh-CN" sz="2300" dirty="0">
                <a:latin typeface="黑体" panose="02010609060101010101" pitchFamily="49" charset="-122"/>
              </a:rPr>
              <a:t>(</a:t>
            </a:r>
            <a:r>
              <a:rPr lang="zh-CN" altLang="en-US" sz="2300" dirty="0">
                <a:latin typeface="黑体" panose="02010609060101010101" pitchFamily="49" charset="-122"/>
              </a:rPr>
              <a:t>接上题</a:t>
            </a:r>
            <a:r>
              <a:rPr lang="en-US" altLang="zh-CN" sz="2300" dirty="0">
                <a:latin typeface="黑体" panose="02010609060101010101" pitchFamily="49" charset="-122"/>
              </a:rPr>
              <a:t>)</a:t>
            </a:r>
            <a:r>
              <a:rPr lang="zh-CN" altLang="en-US" sz="2300" dirty="0">
                <a:latin typeface="黑体" panose="02010609060101010101" pitchFamily="49" charset="-122"/>
              </a:rPr>
              <a:t>她也将</a:t>
            </a:r>
            <a:r>
              <a:rPr lang="en-US" altLang="zh-CN" sz="2300" dirty="0">
                <a:latin typeface="黑体" panose="02010609060101010101" pitchFamily="49" charset="-122"/>
              </a:rPr>
              <a:t>F</a:t>
            </a:r>
            <a:r>
              <a:rPr lang="en-US" altLang="zh-CN" sz="2300" baseline="-30000" dirty="0">
                <a:latin typeface="黑体" panose="02010609060101010101" pitchFamily="49" charset="-122"/>
              </a:rPr>
              <a:t>1</a:t>
            </a:r>
            <a:r>
              <a:rPr lang="zh-CN" altLang="en-US" sz="2300" dirty="0">
                <a:latin typeface="黑体" panose="02010609060101010101" pitchFamily="49" charset="-122"/>
              </a:rPr>
              <a:t>代具有野生型表型的鱼进行互交</a:t>
            </a:r>
            <a:r>
              <a:rPr lang="en-US" altLang="zh-CN" sz="2300" dirty="0">
                <a:latin typeface="黑体" panose="02010609060101010101" pitchFamily="49" charset="-122"/>
              </a:rPr>
              <a:t>,</a:t>
            </a:r>
            <a:r>
              <a:rPr lang="zh-CN" altLang="en-US" sz="2300" dirty="0">
                <a:latin typeface="黑体" panose="02010609060101010101" pitchFamily="49" charset="-122"/>
              </a:rPr>
              <a:t>后代中野生型与散鳞鱼的比例为</a:t>
            </a:r>
            <a:r>
              <a:rPr lang="en-US" altLang="zh-CN" sz="2300" dirty="0">
                <a:latin typeface="黑体" panose="02010609060101010101" pitchFamily="49" charset="-122"/>
              </a:rPr>
              <a:t>3</a:t>
            </a:r>
            <a:r>
              <a:rPr lang="zh-CN" altLang="en-US" sz="2300" dirty="0">
                <a:latin typeface="黑体" panose="02010609060101010101" pitchFamily="49" charset="-122"/>
              </a:rPr>
              <a:t>：</a:t>
            </a:r>
            <a:r>
              <a:rPr lang="en-US" altLang="zh-CN" sz="2300" dirty="0">
                <a:latin typeface="黑体" panose="02010609060101010101" pitchFamily="49" charset="-122"/>
              </a:rPr>
              <a:t>1</a:t>
            </a:r>
            <a:r>
              <a:rPr lang="zh-CN" altLang="en-US" sz="2300" dirty="0">
                <a:latin typeface="黑体" panose="02010609060101010101" pitchFamily="49" charset="-122"/>
              </a:rPr>
              <a:t>，那么决定这种相对性状的基因有： </a:t>
            </a:r>
          </a:p>
          <a:p>
            <a:pPr algn="l">
              <a:buFont typeface="Arial" panose="020B0604020202020204" pitchFamily="34" charset="0"/>
              <a:buNone/>
              <a:defRPr/>
            </a:pPr>
            <a:r>
              <a:rPr lang="zh-CN" altLang="en-US" sz="2300" dirty="0">
                <a:latin typeface="黑体" panose="02010609060101010101" pitchFamily="49" charset="-122"/>
              </a:rPr>
              <a:t>    </a:t>
            </a:r>
            <a:r>
              <a:rPr lang="en-US" altLang="zh-CN" sz="2300" dirty="0">
                <a:latin typeface="黑体" panose="02010609060101010101" pitchFamily="49" charset="-122"/>
              </a:rPr>
              <a:t>A</a:t>
            </a:r>
            <a:r>
              <a:rPr lang="zh-CN" altLang="en-US" sz="2300" dirty="0">
                <a:latin typeface="黑体" panose="02010609060101010101" pitchFamily="49" charset="-122"/>
              </a:rPr>
              <a:t>．</a:t>
            </a:r>
            <a:r>
              <a:rPr lang="en-US" altLang="zh-CN" sz="2300" dirty="0">
                <a:latin typeface="黑体" panose="02010609060101010101" pitchFamily="49" charset="-122"/>
              </a:rPr>
              <a:t>1</a:t>
            </a:r>
            <a:r>
              <a:rPr lang="zh-CN" altLang="en-US" sz="2300" dirty="0">
                <a:latin typeface="黑体" panose="02010609060101010101" pitchFamily="49" charset="-122"/>
              </a:rPr>
              <a:t>个       </a:t>
            </a:r>
            <a:r>
              <a:rPr lang="en-US" altLang="zh-CN" sz="2300" dirty="0">
                <a:latin typeface="黑体" panose="02010609060101010101" pitchFamily="49" charset="-122"/>
              </a:rPr>
              <a:t>B</a:t>
            </a:r>
            <a:r>
              <a:rPr lang="zh-CN" altLang="en-US" sz="2300" dirty="0">
                <a:latin typeface="黑体" panose="02010609060101010101" pitchFamily="49" charset="-122"/>
              </a:rPr>
              <a:t>．</a:t>
            </a:r>
            <a:r>
              <a:rPr lang="en-US" altLang="zh-CN" sz="2300" dirty="0">
                <a:latin typeface="黑体" panose="02010609060101010101" pitchFamily="49" charset="-122"/>
              </a:rPr>
              <a:t>2</a:t>
            </a:r>
            <a:r>
              <a:rPr lang="zh-CN" altLang="en-US" sz="2300" dirty="0">
                <a:latin typeface="黑体" panose="02010609060101010101" pitchFamily="49" charset="-122"/>
              </a:rPr>
              <a:t>个      </a:t>
            </a:r>
            <a:r>
              <a:rPr lang="en-US" altLang="zh-CN" sz="2300" dirty="0">
                <a:latin typeface="黑体" panose="02010609060101010101" pitchFamily="49" charset="-122"/>
              </a:rPr>
              <a:t>C</a:t>
            </a:r>
            <a:r>
              <a:rPr lang="zh-CN" altLang="en-US" sz="2300" dirty="0">
                <a:latin typeface="黑体" panose="02010609060101010101" pitchFamily="49" charset="-122"/>
              </a:rPr>
              <a:t>．</a:t>
            </a:r>
            <a:r>
              <a:rPr lang="en-US" altLang="zh-CN" sz="2300" dirty="0">
                <a:latin typeface="黑体" panose="02010609060101010101" pitchFamily="49" charset="-122"/>
              </a:rPr>
              <a:t>3</a:t>
            </a:r>
            <a:r>
              <a:rPr lang="zh-CN" altLang="en-US" sz="2300" dirty="0">
                <a:latin typeface="黑体" panose="02010609060101010101" pitchFamily="49" charset="-122"/>
              </a:rPr>
              <a:t>个      </a:t>
            </a:r>
            <a:r>
              <a:rPr lang="en-US" altLang="zh-CN" sz="2300" dirty="0">
                <a:latin typeface="黑体" panose="02010609060101010101" pitchFamily="49" charset="-122"/>
              </a:rPr>
              <a:t>D</a:t>
            </a:r>
            <a:r>
              <a:rPr lang="zh-CN" altLang="en-US" sz="2300" dirty="0">
                <a:latin typeface="黑体" panose="02010609060101010101" pitchFamily="49" charset="-122"/>
              </a:rPr>
              <a:t>．无法确定</a:t>
            </a:r>
          </a:p>
          <a:p>
            <a:pPr algn="l">
              <a:buFont typeface="Arial" panose="020B0604020202020204" pitchFamily="34" charset="0"/>
              <a:buNone/>
              <a:defRPr/>
            </a:pPr>
            <a:r>
              <a:rPr lang="en-US" altLang="zh-CN" sz="2300" dirty="0">
                <a:latin typeface="黑体" panose="02010609060101010101" pitchFamily="49" charset="-122"/>
              </a:rPr>
              <a:t>11</a:t>
            </a:r>
            <a:r>
              <a:rPr lang="zh-CN" altLang="en-US" sz="2300" dirty="0">
                <a:latin typeface="黑体" panose="02010609060101010101" pitchFamily="49" charset="-122"/>
              </a:rPr>
              <a:t>．上题中每个基因拥有的等位基因数目为</a:t>
            </a:r>
          </a:p>
          <a:p>
            <a:pPr algn="l">
              <a:buFont typeface="Arial" panose="020B0604020202020204" pitchFamily="34" charset="0"/>
              <a:buNone/>
              <a:defRPr/>
            </a:pPr>
            <a:r>
              <a:rPr lang="zh-CN" altLang="en-US" sz="2300" dirty="0">
                <a:latin typeface="黑体" panose="02010609060101010101" pitchFamily="49" charset="-122"/>
              </a:rPr>
              <a:t>    </a:t>
            </a:r>
            <a:r>
              <a:rPr lang="en-US" altLang="zh-CN" sz="2300" dirty="0">
                <a:latin typeface="黑体" panose="02010609060101010101" pitchFamily="49" charset="-122"/>
              </a:rPr>
              <a:t>A</a:t>
            </a:r>
            <a:r>
              <a:rPr lang="zh-CN" altLang="en-US" sz="2300" dirty="0">
                <a:latin typeface="黑体" panose="02010609060101010101" pitchFamily="49" charset="-122"/>
              </a:rPr>
              <a:t>．</a:t>
            </a:r>
            <a:r>
              <a:rPr lang="en-US" altLang="zh-CN" sz="2300" dirty="0">
                <a:latin typeface="黑体" panose="02010609060101010101" pitchFamily="49" charset="-122"/>
              </a:rPr>
              <a:t>1</a:t>
            </a:r>
            <a:r>
              <a:rPr lang="zh-CN" altLang="en-US" sz="2300" dirty="0">
                <a:latin typeface="黑体" panose="02010609060101010101" pitchFamily="49" charset="-122"/>
              </a:rPr>
              <a:t>个       </a:t>
            </a:r>
            <a:r>
              <a:rPr lang="en-US" altLang="zh-CN" sz="2300" dirty="0">
                <a:latin typeface="黑体" panose="02010609060101010101" pitchFamily="49" charset="-122"/>
              </a:rPr>
              <a:t>B</a:t>
            </a:r>
            <a:r>
              <a:rPr lang="zh-CN" altLang="en-US" sz="2300" dirty="0">
                <a:latin typeface="黑体" panose="02010609060101010101" pitchFamily="49" charset="-122"/>
              </a:rPr>
              <a:t>．</a:t>
            </a:r>
            <a:r>
              <a:rPr lang="en-US" altLang="zh-CN" sz="2300" dirty="0">
                <a:latin typeface="黑体" panose="02010609060101010101" pitchFamily="49" charset="-122"/>
              </a:rPr>
              <a:t>2</a:t>
            </a:r>
            <a:r>
              <a:rPr lang="zh-CN" altLang="en-US" sz="2300" dirty="0">
                <a:latin typeface="黑体" panose="02010609060101010101" pitchFamily="49" charset="-122"/>
              </a:rPr>
              <a:t>个      </a:t>
            </a:r>
            <a:r>
              <a:rPr lang="en-US" altLang="zh-CN" sz="2300" dirty="0">
                <a:latin typeface="黑体" panose="02010609060101010101" pitchFamily="49" charset="-122"/>
              </a:rPr>
              <a:t>C</a:t>
            </a:r>
            <a:r>
              <a:rPr lang="zh-CN" altLang="en-US" sz="2300" dirty="0">
                <a:latin typeface="黑体" panose="02010609060101010101" pitchFamily="49" charset="-122"/>
              </a:rPr>
              <a:t>．</a:t>
            </a:r>
            <a:r>
              <a:rPr lang="en-US" altLang="zh-CN" sz="2300" dirty="0">
                <a:latin typeface="黑体" panose="02010609060101010101" pitchFamily="49" charset="-122"/>
              </a:rPr>
              <a:t>3</a:t>
            </a:r>
            <a:r>
              <a:rPr lang="zh-CN" altLang="en-US" sz="2300" dirty="0">
                <a:latin typeface="黑体" panose="02010609060101010101" pitchFamily="49" charset="-122"/>
              </a:rPr>
              <a:t>个      </a:t>
            </a:r>
            <a:r>
              <a:rPr lang="en-US" altLang="zh-CN" sz="2300" dirty="0">
                <a:latin typeface="黑体" panose="02010609060101010101" pitchFamily="49" charset="-122"/>
              </a:rPr>
              <a:t>D</a:t>
            </a:r>
            <a:r>
              <a:rPr lang="zh-CN" altLang="en-US" sz="2300" dirty="0">
                <a:latin typeface="黑体" panose="02010609060101010101" pitchFamily="49" charset="-122"/>
              </a:rPr>
              <a:t>．无法确定</a:t>
            </a:r>
          </a:p>
        </p:txBody>
      </p:sp>
      <p:sp>
        <p:nvSpPr>
          <p:cNvPr id="143366" name="Rectangle 6">
            <a:extLst>
              <a:ext uri="{FF2B5EF4-FFF2-40B4-BE49-F238E27FC236}">
                <a16:creationId xmlns:a16="http://schemas.microsoft.com/office/drawing/2014/main" id="{D4E2A5F1-3398-4A75-8A0B-CEED5EA581B2}"/>
              </a:ext>
            </a:extLst>
          </p:cNvPr>
          <p:cNvSpPr>
            <a:spLocks noChangeArrowheads="1"/>
          </p:cNvSpPr>
          <p:nvPr/>
        </p:nvSpPr>
        <p:spPr bwMode="auto">
          <a:xfrm>
            <a:off x="10551131" y="451621"/>
            <a:ext cx="492443" cy="646331"/>
          </a:xfrm>
          <a:prstGeom prst="rect">
            <a:avLst/>
          </a:prstGeom>
          <a:noFill/>
          <a:ln w="9525">
            <a:noFill/>
            <a:miter lim="800000"/>
          </a:ln>
          <a:effectLst/>
        </p:spPr>
        <p:txBody>
          <a:bodyPr wrap="none">
            <a:spAutoFit/>
          </a:bodyPr>
          <a:lstStyle>
            <a:lvl1pPr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3600" dirty="0">
                <a:solidFill>
                  <a:srgbClr val="FF0000"/>
                </a:solidFill>
                <a:effectLst>
                  <a:outerShdw blurRad="38100" dist="38100" dir="2700000" algn="tl">
                    <a:srgbClr val="C0C0C0"/>
                  </a:outerShdw>
                </a:effectLst>
                <a:sym typeface="+mn-ea"/>
              </a:rPr>
              <a:t>B</a:t>
            </a:r>
            <a:endParaRPr lang="en-US" altLang="zh-CN" dirty="0">
              <a:sym typeface="+mn-ea"/>
            </a:endParaRPr>
          </a:p>
        </p:txBody>
      </p:sp>
      <p:sp>
        <p:nvSpPr>
          <p:cNvPr id="143367" name="Rectangle 7">
            <a:extLst>
              <a:ext uri="{FF2B5EF4-FFF2-40B4-BE49-F238E27FC236}">
                <a16:creationId xmlns:a16="http://schemas.microsoft.com/office/drawing/2014/main" id="{15E68728-74E5-4CD8-9C14-55ECE5607850}"/>
              </a:ext>
            </a:extLst>
          </p:cNvPr>
          <p:cNvSpPr>
            <a:spLocks noChangeArrowheads="1"/>
          </p:cNvSpPr>
          <p:nvPr/>
        </p:nvSpPr>
        <p:spPr bwMode="auto">
          <a:xfrm>
            <a:off x="7619682" y="1852702"/>
            <a:ext cx="492443" cy="646331"/>
          </a:xfrm>
          <a:prstGeom prst="rect">
            <a:avLst/>
          </a:prstGeom>
          <a:noFill/>
          <a:ln w="9525">
            <a:noFill/>
            <a:miter lim="800000"/>
          </a:ln>
          <a:effectLst/>
        </p:spPr>
        <p:txBody>
          <a:bodyPr wrap="none">
            <a:spAutoFit/>
          </a:bodyPr>
          <a:lstStyle>
            <a:lvl1pPr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3600" dirty="0">
                <a:solidFill>
                  <a:srgbClr val="FF0000"/>
                </a:solidFill>
                <a:effectLst>
                  <a:outerShdw blurRad="38100" dist="38100" dir="2700000" algn="tl">
                    <a:srgbClr val="C0C0C0"/>
                  </a:outerShdw>
                </a:effectLst>
                <a:sym typeface="+mn-ea"/>
              </a:rPr>
              <a:t>A</a:t>
            </a:r>
            <a:endParaRPr lang="en-US" altLang="zh-CN" dirty="0">
              <a:sym typeface="+mn-ea"/>
            </a:endParaRPr>
          </a:p>
        </p:txBody>
      </p:sp>
      <p:sp>
        <p:nvSpPr>
          <p:cNvPr id="143368" name="Rectangle 8">
            <a:extLst>
              <a:ext uri="{FF2B5EF4-FFF2-40B4-BE49-F238E27FC236}">
                <a16:creationId xmlns:a16="http://schemas.microsoft.com/office/drawing/2014/main" id="{69F61D54-718D-44E4-A2C5-6D8CDF5BABFB}"/>
              </a:ext>
            </a:extLst>
          </p:cNvPr>
          <p:cNvSpPr>
            <a:spLocks noChangeArrowheads="1"/>
          </p:cNvSpPr>
          <p:nvPr/>
        </p:nvSpPr>
        <p:spPr bwMode="auto">
          <a:xfrm>
            <a:off x="9528695" y="4039458"/>
            <a:ext cx="492443" cy="646331"/>
          </a:xfrm>
          <a:prstGeom prst="rect">
            <a:avLst/>
          </a:prstGeom>
          <a:noFill/>
          <a:ln w="9525">
            <a:noFill/>
            <a:miter lim="800000"/>
          </a:ln>
          <a:effectLst/>
        </p:spPr>
        <p:txBody>
          <a:bodyPr wrap="none">
            <a:spAutoFit/>
          </a:bodyPr>
          <a:lstStyle>
            <a:lvl1pPr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3600" dirty="0">
                <a:solidFill>
                  <a:srgbClr val="FF0000"/>
                </a:solidFill>
                <a:effectLst>
                  <a:outerShdw blurRad="38100" dist="38100" dir="2700000" algn="tl">
                    <a:srgbClr val="C0C0C0"/>
                  </a:outerShdw>
                </a:effectLst>
                <a:sym typeface="+mn-ea"/>
              </a:rPr>
              <a:t>B</a:t>
            </a:r>
            <a:endParaRPr lang="en-US" altLang="zh-CN" dirty="0">
              <a:sym typeface="+mn-ea"/>
            </a:endParaRPr>
          </a:p>
        </p:txBody>
      </p:sp>
      <p:sp>
        <p:nvSpPr>
          <p:cNvPr id="143369" name="Rectangle 9">
            <a:extLst>
              <a:ext uri="{FF2B5EF4-FFF2-40B4-BE49-F238E27FC236}">
                <a16:creationId xmlns:a16="http://schemas.microsoft.com/office/drawing/2014/main" id="{FF8C5A48-70CD-4E26-A45B-431270208C82}"/>
              </a:ext>
            </a:extLst>
          </p:cNvPr>
          <p:cNvSpPr>
            <a:spLocks noChangeArrowheads="1"/>
          </p:cNvSpPr>
          <p:nvPr/>
        </p:nvSpPr>
        <p:spPr bwMode="auto">
          <a:xfrm>
            <a:off x="8868177" y="5048060"/>
            <a:ext cx="492443" cy="646331"/>
          </a:xfrm>
          <a:prstGeom prst="rect">
            <a:avLst/>
          </a:prstGeom>
          <a:noFill/>
          <a:ln w="9525">
            <a:noFill/>
            <a:miter lim="800000"/>
          </a:ln>
          <a:effectLst/>
        </p:spPr>
        <p:txBody>
          <a:bodyPr wrap="none">
            <a:spAutoFit/>
          </a:bodyPr>
          <a:lstStyle>
            <a:lvl1pPr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3600" dirty="0">
                <a:solidFill>
                  <a:srgbClr val="FF0000"/>
                </a:solidFill>
                <a:effectLst>
                  <a:outerShdw blurRad="38100" dist="38100" dir="2700000" algn="tl">
                    <a:srgbClr val="C0C0C0"/>
                  </a:outerShdw>
                </a:effectLst>
                <a:sym typeface="+mn-ea"/>
              </a:rPr>
              <a:t>A</a:t>
            </a:r>
            <a:endParaRPr lang="en-US" altLang="zh-CN" dirty="0">
              <a:sym typeface="+mn-ea"/>
            </a:endParaRPr>
          </a:p>
        </p:txBody>
      </p:sp>
      <p:sp>
        <p:nvSpPr>
          <p:cNvPr id="143370" name="Rectangle 10">
            <a:extLst>
              <a:ext uri="{FF2B5EF4-FFF2-40B4-BE49-F238E27FC236}">
                <a16:creationId xmlns:a16="http://schemas.microsoft.com/office/drawing/2014/main" id="{1D7B0604-1D5F-4A16-BD3B-49E2776B933D}"/>
              </a:ext>
            </a:extLst>
          </p:cNvPr>
          <p:cNvSpPr>
            <a:spLocks noChangeArrowheads="1"/>
          </p:cNvSpPr>
          <p:nvPr/>
        </p:nvSpPr>
        <p:spPr bwMode="auto">
          <a:xfrm>
            <a:off x="8868176" y="5829353"/>
            <a:ext cx="492443" cy="646331"/>
          </a:xfrm>
          <a:prstGeom prst="rect">
            <a:avLst/>
          </a:prstGeom>
          <a:noFill/>
          <a:ln w="9525">
            <a:noFill/>
            <a:miter lim="800000"/>
          </a:ln>
          <a:effectLst/>
        </p:spPr>
        <p:txBody>
          <a:bodyPr wrap="none">
            <a:spAutoFit/>
          </a:bodyPr>
          <a:lstStyle>
            <a:lvl1pPr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3600" dirty="0">
                <a:solidFill>
                  <a:srgbClr val="FF0000"/>
                </a:solidFill>
                <a:effectLst>
                  <a:outerShdw blurRad="38100" dist="38100" dir="2700000" algn="tl">
                    <a:srgbClr val="C0C0C0"/>
                  </a:outerShdw>
                </a:effectLst>
                <a:sym typeface="+mn-ea"/>
              </a:rPr>
              <a:t>B</a:t>
            </a:r>
            <a:endParaRPr lang="en-US" altLang="zh-CN" dirty="0">
              <a:sym typeface="+mn-ea"/>
            </a:endParaRPr>
          </a:p>
        </p:txBody>
      </p:sp>
    </p:spTree>
    <p:extLst>
      <p:ext uri="{BB962C8B-B14F-4D97-AF65-F5344CB8AC3E}">
        <p14:creationId xmlns:p14="http://schemas.microsoft.com/office/powerpoint/2010/main" val="15982792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66"/>
                                        </p:tgtEl>
                                        <p:attrNameLst>
                                          <p:attrName>style.visibility</p:attrName>
                                        </p:attrNameLst>
                                      </p:cBhvr>
                                      <p:to>
                                        <p:strVal val="visible"/>
                                      </p:to>
                                    </p:set>
                                    <p:animEffect transition="in" filter="blinds(horizontal)">
                                      <p:cBhvr>
                                        <p:cTn id="7" dur="500"/>
                                        <p:tgtEl>
                                          <p:spTgt spid="1433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367"/>
                                        </p:tgtEl>
                                        <p:attrNameLst>
                                          <p:attrName>style.visibility</p:attrName>
                                        </p:attrNameLst>
                                      </p:cBhvr>
                                      <p:to>
                                        <p:strVal val="visible"/>
                                      </p:to>
                                    </p:set>
                                    <p:animEffect transition="in" filter="blinds(horizontal)">
                                      <p:cBhvr>
                                        <p:cTn id="12" dur="500"/>
                                        <p:tgtEl>
                                          <p:spTgt spid="1433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368"/>
                                        </p:tgtEl>
                                        <p:attrNameLst>
                                          <p:attrName>style.visibility</p:attrName>
                                        </p:attrNameLst>
                                      </p:cBhvr>
                                      <p:to>
                                        <p:strVal val="visible"/>
                                      </p:to>
                                    </p:set>
                                    <p:animEffect transition="in" filter="blinds(horizontal)">
                                      <p:cBhvr>
                                        <p:cTn id="17" dur="500"/>
                                        <p:tgtEl>
                                          <p:spTgt spid="1433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3369"/>
                                        </p:tgtEl>
                                        <p:attrNameLst>
                                          <p:attrName>style.visibility</p:attrName>
                                        </p:attrNameLst>
                                      </p:cBhvr>
                                      <p:to>
                                        <p:strVal val="visible"/>
                                      </p:to>
                                    </p:set>
                                    <p:animEffect transition="in" filter="blinds(horizontal)">
                                      <p:cBhvr>
                                        <p:cTn id="22" dur="500"/>
                                        <p:tgtEl>
                                          <p:spTgt spid="1433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3370"/>
                                        </p:tgtEl>
                                        <p:attrNameLst>
                                          <p:attrName>style.visibility</p:attrName>
                                        </p:attrNameLst>
                                      </p:cBhvr>
                                      <p:to>
                                        <p:strVal val="visible"/>
                                      </p:to>
                                    </p:set>
                                    <p:animEffect transition="in" filter="blinds(horizontal)">
                                      <p:cBhvr>
                                        <p:cTn id="27" dur="500"/>
                                        <p:tgtEl>
                                          <p:spTgt spid="143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6" grpId="0"/>
      <p:bldP spid="143367" grpId="0"/>
      <p:bldP spid="143368" grpId="0"/>
      <p:bldP spid="143369" grpId="0"/>
      <p:bldP spid="14337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a:extLst>
              <a:ext uri="{FF2B5EF4-FFF2-40B4-BE49-F238E27FC236}">
                <a16:creationId xmlns:a16="http://schemas.microsoft.com/office/drawing/2014/main" id="{CAB71A9E-A890-47B0-BCF9-84737045404C}"/>
              </a:ext>
            </a:extLst>
          </p:cNvPr>
          <p:cNvSpPr>
            <a:spLocks noGrp="1" noChangeArrowheads="1"/>
          </p:cNvSpPr>
          <p:nvPr>
            <p:ph idx="1"/>
          </p:nvPr>
        </p:nvSpPr>
        <p:spPr bwMode="auto">
          <a:xfrm>
            <a:off x="705035" y="715916"/>
            <a:ext cx="10515600" cy="4351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buFontTx/>
              <a:buNone/>
            </a:pPr>
            <a:r>
              <a:rPr lang="en-US" altLang="zh-CN" b="1" dirty="0">
                <a:latin typeface="黑体" panose="02010609060101010101" pitchFamily="49" charset="-122"/>
                <a:ea typeface="黑体" panose="02010609060101010101" pitchFamily="49" charset="-122"/>
              </a:rPr>
              <a:t>12</a:t>
            </a:r>
            <a:r>
              <a:rPr lang="zh-CN" altLang="en-US" b="1" dirty="0">
                <a:latin typeface="黑体" panose="02010609060101010101" pitchFamily="49" charset="-122"/>
                <a:ea typeface="黑体" panose="02010609060101010101" pitchFamily="49" charset="-122"/>
              </a:rPr>
              <a:t>．在</a:t>
            </a:r>
            <a:r>
              <a:rPr lang="en-US" altLang="zh-CN" b="1" dirty="0">
                <a:latin typeface="黑体" panose="02010609060101010101" pitchFamily="49" charset="-122"/>
                <a:ea typeface="黑体" panose="02010609060101010101" pitchFamily="49" charset="-122"/>
              </a:rPr>
              <a:t>X</a:t>
            </a:r>
            <a:r>
              <a:rPr lang="en-US" altLang="zh-CN" b="1" baseline="30000"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测验中，同一自由度时，</a:t>
            </a:r>
            <a:r>
              <a:rPr lang="en-US" altLang="zh-CN" b="1" dirty="0">
                <a:latin typeface="黑体" panose="02010609060101010101" pitchFamily="49" charset="-122"/>
                <a:ea typeface="黑体" panose="02010609060101010101" pitchFamily="49" charset="-122"/>
              </a:rPr>
              <a:t>X</a:t>
            </a:r>
            <a:r>
              <a:rPr lang="en-US" altLang="zh-CN" b="1" baseline="30000"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值愈大，说明实验结果与预期结果符合的可能性</a:t>
            </a:r>
          </a:p>
          <a:p>
            <a:pPr eaLnBrk="1" hangingPunct="1">
              <a:buFontTx/>
              <a:buNone/>
            </a:pP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．愈大               </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．愈小          </a:t>
            </a:r>
          </a:p>
          <a:p>
            <a:pPr eaLnBrk="1" hangingPunct="1">
              <a:buFontTx/>
              <a:buNone/>
            </a:pP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C</a:t>
            </a:r>
            <a:r>
              <a:rPr lang="zh-CN" altLang="en-US" b="1" dirty="0">
                <a:latin typeface="黑体" panose="02010609060101010101" pitchFamily="49" charset="-122"/>
                <a:ea typeface="黑体" panose="02010609060101010101" pitchFamily="49" charset="-122"/>
              </a:rPr>
              <a:t>．两者不相关         </a:t>
            </a:r>
            <a:r>
              <a:rPr lang="en-US" altLang="zh-CN" b="1" dirty="0">
                <a:latin typeface="黑体" panose="02010609060101010101" pitchFamily="49" charset="-122"/>
                <a:ea typeface="黑体" panose="02010609060101010101" pitchFamily="49" charset="-122"/>
              </a:rPr>
              <a:t>D</a:t>
            </a:r>
            <a:r>
              <a:rPr lang="zh-CN" altLang="en-US" b="1" dirty="0">
                <a:latin typeface="黑体" panose="02010609060101010101" pitchFamily="49" charset="-122"/>
                <a:ea typeface="黑体" panose="02010609060101010101" pitchFamily="49" charset="-122"/>
              </a:rPr>
              <a:t>．以上均不是</a:t>
            </a:r>
          </a:p>
        </p:txBody>
      </p:sp>
      <p:sp>
        <p:nvSpPr>
          <p:cNvPr id="6471684" name="Text Box 4">
            <a:extLst>
              <a:ext uri="{FF2B5EF4-FFF2-40B4-BE49-F238E27FC236}">
                <a16:creationId xmlns:a16="http://schemas.microsoft.com/office/drawing/2014/main" id="{68AAF006-1C6D-4160-8A1A-67ACC700E7EF}"/>
              </a:ext>
            </a:extLst>
          </p:cNvPr>
          <p:cNvSpPr txBox="1">
            <a:spLocks noChangeArrowheads="1"/>
          </p:cNvSpPr>
          <p:nvPr/>
        </p:nvSpPr>
        <p:spPr bwMode="auto">
          <a:xfrm>
            <a:off x="8849015" y="1201075"/>
            <a:ext cx="415498" cy="646331"/>
          </a:xfrm>
          <a:prstGeom prst="rect">
            <a:avLst/>
          </a:prstGeom>
          <a:noFill/>
          <a:ln>
            <a:noFill/>
          </a:ln>
          <a:effectLst/>
        </p:spPr>
        <p:txBody>
          <a:bodyPr wrap="none">
            <a:spAutoFit/>
          </a:bodyPr>
          <a:lstStyle/>
          <a:p>
            <a:pPr algn="ctr" eaLnBrk="1" hangingPunct="1">
              <a:buFont typeface="Arial" panose="020B0604020202020204" pitchFamily="34" charset="0"/>
              <a:buNone/>
              <a:defRPr/>
            </a:pPr>
            <a:r>
              <a:rPr lang="en-US" altLang="zh-CN" sz="3600" b="1" noProof="1">
                <a:solidFill>
                  <a:srgbClr val="FF0000"/>
                </a:solidFill>
                <a:latin typeface="黑体" panose="02010609060101010101" pitchFamily="49" charset="-122"/>
                <a:ea typeface="黑体" panose="02010609060101010101" pitchFamily="49" charset="-122"/>
                <a:sym typeface="+mn-ea"/>
              </a:rPr>
              <a:t>B</a:t>
            </a:r>
          </a:p>
        </p:txBody>
      </p:sp>
    </p:spTree>
    <p:extLst>
      <p:ext uri="{BB962C8B-B14F-4D97-AF65-F5344CB8AC3E}">
        <p14:creationId xmlns:p14="http://schemas.microsoft.com/office/powerpoint/2010/main" val="26575366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71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68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4" name="Rectangle 6"/>
          <p:cNvSpPr/>
          <p:nvPr/>
        </p:nvSpPr>
        <p:spPr>
          <a:xfrm>
            <a:off x="1341549" y="304800"/>
            <a:ext cx="7315200" cy="533400"/>
          </a:xfrm>
          <a:prstGeom prst="rect">
            <a:avLst/>
          </a:prstGeom>
          <a:noFill/>
          <a:ln w="12700">
            <a:noFill/>
          </a:ln>
        </p:spPr>
        <p:txBody>
          <a:bodyPr lIns="0" rIns="0" anchor="t" anchorCtr="0"/>
          <a:lstStyle/>
          <a:p>
            <a:pPr marL="374641" indent="-374641" algn="just">
              <a:lnSpc>
                <a:spcPct val="120000"/>
              </a:lnSpc>
              <a:spcBef>
                <a:spcPct val="20000"/>
              </a:spcBef>
              <a:buClr>
                <a:schemeClr val="tx2"/>
              </a:buClr>
              <a:buSzPct val="75000"/>
            </a:pPr>
            <a:r>
              <a:rPr lang="zh-CN" altLang="en-US" sz="3200" b="1" dirty="0">
                <a:solidFill>
                  <a:srgbClr val="FF0000"/>
                </a:solidFill>
                <a:latin typeface="黑体" panose="02010609060101010101" pitchFamily="49" charset="-122"/>
              </a:rPr>
              <a:t>补充：</a:t>
            </a:r>
            <a:r>
              <a:rPr lang="en-US" altLang="zh-CN" sz="3200" b="1" dirty="0">
                <a:solidFill>
                  <a:srgbClr val="FF0000"/>
                </a:solidFill>
                <a:latin typeface="黑体" panose="02010609060101010101" pitchFamily="49" charset="-122"/>
              </a:rPr>
              <a:t>Bayes</a:t>
            </a:r>
            <a:r>
              <a:rPr lang="zh-CN" altLang="en-US" sz="3200" b="1" dirty="0">
                <a:solidFill>
                  <a:srgbClr val="FF0000"/>
                </a:solidFill>
                <a:latin typeface="黑体" panose="02010609060101010101" pitchFamily="49" charset="-122"/>
              </a:rPr>
              <a:t>法计算复发风险 </a:t>
            </a:r>
          </a:p>
        </p:txBody>
      </p:sp>
      <p:sp>
        <p:nvSpPr>
          <p:cNvPr id="89095" name="Rectangle 7"/>
          <p:cNvSpPr/>
          <p:nvPr/>
        </p:nvSpPr>
        <p:spPr>
          <a:xfrm>
            <a:off x="1524000" y="1066800"/>
            <a:ext cx="9144000" cy="5410200"/>
          </a:xfrm>
          <a:prstGeom prst="rect">
            <a:avLst/>
          </a:prstGeom>
          <a:noFill/>
          <a:ln w="12700">
            <a:noFill/>
          </a:ln>
        </p:spPr>
        <p:txBody>
          <a:bodyPr lIns="0" tIns="0" rIns="0" bIns="0" anchor="t" anchorCtr="0"/>
          <a:lstStyle/>
          <a:p>
            <a:pPr marL="384165" indent="-384165" algn="just">
              <a:lnSpc>
                <a:spcPct val="120000"/>
              </a:lnSpc>
              <a:spcBef>
                <a:spcPct val="20000"/>
              </a:spcBef>
              <a:buClr>
                <a:schemeClr val="tx2"/>
              </a:buClr>
              <a:buSzPct val="75000"/>
            </a:pPr>
            <a:r>
              <a:rPr lang="zh-CN" altLang="en-US" sz="2800" b="1" dirty="0">
                <a:solidFill>
                  <a:srgbClr val="3324FA"/>
                </a:solidFill>
                <a:latin typeface="Times New Roman" panose="02020603050405020304" pitchFamily="18" charset="0"/>
                <a:ea typeface="宋体" panose="02010600030101010101" pitchFamily="2" charset="-122"/>
              </a:rPr>
              <a:t>前概率</a:t>
            </a:r>
            <a:r>
              <a:rPr lang="en-US" altLang="zh-CN" sz="2800" b="1" dirty="0">
                <a:solidFill>
                  <a:srgbClr val="3324FA"/>
                </a:solidFill>
                <a:latin typeface="Times New Roman" panose="02020603050405020304" pitchFamily="18" charset="0"/>
                <a:ea typeface="宋体" panose="02010600030101010101" pitchFamily="2" charset="-122"/>
              </a:rPr>
              <a:t>(prior probability)</a:t>
            </a:r>
            <a:r>
              <a:rPr lang="zh-CN" altLang="en-US" sz="2800" b="1" dirty="0">
                <a:solidFill>
                  <a:srgbClr val="3324FA"/>
                </a:solidFill>
                <a:latin typeface="Times New Roman" panose="02020603050405020304" pitchFamily="18" charset="0"/>
                <a:ea typeface="宋体" panose="02010600030101010101" pitchFamily="2" charset="-122"/>
              </a:rPr>
              <a:t> ：</a:t>
            </a:r>
            <a:endParaRPr lang="en-US" altLang="zh-CN" sz="2800" b="1" dirty="0">
              <a:solidFill>
                <a:srgbClr val="3324FA"/>
              </a:solidFill>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r>
              <a:rPr lang="zh-CN" altLang="en-US" sz="2800" b="1" dirty="0">
                <a:latin typeface="Times New Roman" panose="02020603050405020304" pitchFamily="18" charset="0"/>
                <a:ea typeface="宋体" panose="02010600030101010101" pitchFamily="2" charset="-122"/>
              </a:rPr>
              <a:t>     根据孟德尔分离定律推算的某成员具有某基因型的概率</a:t>
            </a:r>
            <a:endParaRPr lang="en-US" altLang="zh-CN" sz="2800" b="1" dirty="0">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r>
              <a:rPr lang="zh-CN" altLang="en-US" sz="2800" b="1" dirty="0">
                <a:solidFill>
                  <a:srgbClr val="3324FA"/>
                </a:solidFill>
                <a:latin typeface="Times New Roman" panose="02020603050405020304" pitchFamily="18" charset="0"/>
                <a:ea typeface="宋体" panose="02010600030101010101" pitchFamily="2" charset="-122"/>
              </a:rPr>
              <a:t>条件概率</a:t>
            </a:r>
            <a:r>
              <a:rPr lang="en-US" altLang="zh-CN" sz="2800" b="1" dirty="0">
                <a:solidFill>
                  <a:srgbClr val="3324FA"/>
                </a:solidFill>
                <a:latin typeface="Times New Roman" panose="02020603050405020304" pitchFamily="18" charset="0"/>
                <a:ea typeface="宋体" panose="02010600030101010101" pitchFamily="2" charset="-122"/>
              </a:rPr>
              <a:t>(conditional probability)</a:t>
            </a:r>
            <a:r>
              <a:rPr lang="zh-CN" altLang="en-US" sz="2800" b="1" dirty="0">
                <a:solidFill>
                  <a:srgbClr val="3324FA"/>
                </a:solidFill>
                <a:latin typeface="Times New Roman" panose="02020603050405020304" pitchFamily="18" charset="0"/>
                <a:ea typeface="宋体" panose="02010600030101010101" pitchFamily="2" charset="-122"/>
              </a:rPr>
              <a:t> ：</a:t>
            </a:r>
            <a:endParaRPr lang="en-US" altLang="zh-CN" sz="2800" b="1" dirty="0">
              <a:solidFill>
                <a:srgbClr val="3324FA"/>
              </a:solidFill>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r>
              <a:rPr lang="zh-CN" altLang="en-US" sz="2800" b="1" dirty="0">
                <a:latin typeface="Times New Roman" panose="02020603050405020304" pitchFamily="18" charset="0"/>
                <a:ea typeface="宋体" panose="02010600030101010101" pitchFamily="2" charset="-122"/>
              </a:rPr>
              <a:t>     在某种假设条件下出现实际情况的概率</a:t>
            </a:r>
            <a:endParaRPr lang="en-US" altLang="zh-CN" sz="2800" b="1" dirty="0">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r>
              <a:rPr lang="zh-CN" altLang="en-US" sz="2800" b="1" dirty="0">
                <a:solidFill>
                  <a:srgbClr val="3324FA"/>
                </a:solidFill>
                <a:latin typeface="Times New Roman" panose="02020603050405020304" pitchFamily="18" charset="0"/>
                <a:ea typeface="宋体" panose="02010600030101010101" pitchFamily="2" charset="-122"/>
              </a:rPr>
              <a:t>联合概率</a:t>
            </a:r>
            <a:r>
              <a:rPr lang="en-US" altLang="zh-CN" sz="2800" b="1" dirty="0">
                <a:solidFill>
                  <a:srgbClr val="3324FA"/>
                </a:solidFill>
                <a:latin typeface="Times New Roman" panose="02020603050405020304" pitchFamily="18" charset="0"/>
                <a:ea typeface="宋体" panose="02010600030101010101" pitchFamily="2" charset="-122"/>
              </a:rPr>
              <a:t>(joint probability)</a:t>
            </a:r>
            <a:r>
              <a:rPr lang="zh-CN" altLang="en-US" sz="2800" b="1" dirty="0">
                <a:solidFill>
                  <a:srgbClr val="3324FA"/>
                </a:solidFill>
                <a:latin typeface="Times New Roman" panose="02020603050405020304" pitchFamily="18" charset="0"/>
                <a:ea typeface="宋体" panose="02010600030101010101" pitchFamily="2" charset="-122"/>
              </a:rPr>
              <a:t> ：</a:t>
            </a:r>
            <a:endParaRPr lang="en-US" altLang="zh-CN" sz="2800" b="1" dirty="0">
              <a:solidFill>
                <a:srgbClr val="3324FA"/>
              </a:solidFill>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将某一情况的前概率和条件概率的乘积</a:t>
            </a:r>
            <a:endParaRPr lang="en-US" altLang="zh-CN" sz="2800" b="1" dirty="0">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r>
              <a:rPr lang="zh-CN" altLang="en-US" sz="2800" b="1" dirty="0">
                <a:solidFill>
                  <a:srgbClr val="3324FA"/>
                </a:solidFill>
                <a:latin typeface="Times New Roman" panose="02020603050405020304" pitchFamily="18" charset="0"/>
                <a:ea typeface="宋体" panose="02010600030101010101" pitchFamily="2" charset="-122"/>
              </a:rPr>
              <a:t>后概率</a:t>
            </a:r>
            <a:r>
              <a:rPr lang="en-US" altLang="zh-CN" sz="2800" b="1" dirty="0">
                <a:solidFill>
                  <a:srgbClr val="3324FA"/>
                </a:solidFill>
                <a:latin typeface="Times New Roman" panose="02020603050405020304" pitchFamily="18" charset="0"/>
                <a:ea typeface="宋体" panose="02010600030101010101" pitchFamily="2" charset="-122"/>
              </a:rPr>
              <a:t>(posterior probability)</a:t>
            </a:r>
            <a:r>
              <a:rPr lang="zh-CN" altLang="en-US" sz="2800" b="1" dirty="0">
                <a:solidFill>
                  <a:srgbClr val="3324FA"/>
                </a:solidFill>
                <a:latin typeface="Times New Roman" panose="02020603050405020304" pitchFamily="18" charset="0"/>
                <a:ea typeface="宋体" panose="02010600030101010101" pitchFamily="2" charset="-122"/>
              </a:rPr>
              <a:t> ：</a:t>
            </a:r>
            <a:endParaRPr lang="en-US" altLang="zh-CN" sz="2800" b="1" dirty="0">
              <a:solidFill>
                <a:srgbClr val="3324FA"/>
              </a:solidFill>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r>
              <a:rPr lang="en-US" altLang="zh-CN" sz="2800" b="1" dirty="0">
                <a:latin typeface="Times New Roman" panose="02020603050405020304" pitchFamily="18" charset="0"/>
                <a:ea typeface="宋体" panose="02010600030101010101" pitchFamily="2" charset="-122"/>
              </a:rPr>
              <a:t>      </a:t>
            </a:r>
            <a:r>
              <a:rPr lang="zh-CN" altLang="en-US" sz="2800" b="1" dirty="0">
                <a:latin typeface="Times New Roman" panose="02020603050405020304" pitchFamily="18" charset="0"/>
                <a:ea typeface="宋体" panose="02010600030101010101" pitchFamily="2" charset="-122"/>
              </a:rPr>
              <a:t>联合概率的相对概率 </a:t>
            </a:r>
          </a:p>
          <a:p>
            <a:pPr marL="384165" indent="-384165" algn="just">
              <a:lnSpc>
                <a:spcPct val="120000"/>
              </a:lnSpc>
              <a:spcBef>
                <a:spcPct val="20000"/>
              </a:spcBef>
              <a:buClr>
                <a:schemeClr val="tx2"/>
              </a:buClr>
              <a:buSzPct val="75000"/>
            </a:pPr>
            <a:endParaRPr lang="en-US" altLang="zh-CN" sz="2800" b="1" dirty="0">
              <a:solidFill>
                <a:srgbClr val="6600CC"/>
              </a:solidFill>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endParaRPr lang="zh-CN" altLang="en-US" sz="2800" b="1" dirty="0">
              <a:solidFill>
                <a:srgbClr val="6600CC"/>
              </a:solidFill>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endParaRPr lang="en-US" altLang="zh-CN" sz="2800" b="1" dirty="0">
              <a:solidFill>
                <a:srgbClr val="6600CC"/>
              </a:solidFill>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endParaRPr lang="zh-CN" altLang="en-US" sz="2800" b="1" dirty="0">
              <a:solidFill>
                <a:srgbClr val="6600CC"/>
              </a:solidFill>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endParaRPr lang="en-US" altLang="zh-CN" sz="2800" b="1" dirty="0">
              <a:solidFill>
                <a:srgbClr val="6600CC"/>
              </a:solidFill>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endParaRPr lang="zh-CN" altLang="en-US" sz="2800" b="1" dirty="0">
              <a:solidFill>
                <a:srgbClr val="6600CC"/>
              </a:solidFill>
              <a:latin typeface="Times New Roman" panose="02020603050405020304" pitchFamily="18" charset="0"/>
              <a:ea typeface="宋体" panose="02010600030101010101" pitchFamily="2" charset="-122"/>
            </a:endParaRPr>
          </a:p>
          <a:p>
            <a:pPr marL="384165" indent="-384165" algn="just">
              <a:lnSpc>
                <a:spcPct val="120000"/>
              </a:lnSpc>
              <a:spcBef>
                <a:spcPct val="20000"/>
              </a:spcBef>
              <a:buClr>
                <a:schemeClr val="tx2"/>
              </a:buClr>
              <a:buSzPct val="75000"/>
            </a:pPr>
            <a:endParaRPr lang="en-US" altLang="zh-CN" sz="2800" b="1" dirty="0">
              <a:solidFill>
                <a:srgbClr val="6600CC"/>
              </a:solidFill>
              <a:latin typeface="Times New Roman" panose="02020603050405020304" pitchFamily="18" charset="0"/>
              <a:ea typeface="宋体" panose="02010600030101010101" pitchFamily="2" charset="-122"/>
            </a:endParaRPr>
          </a:p>
        </p:txBody>
      </p:sp>
      <p:sp>
        <p:nvSpPr>
          <p:cNvPr id="89097" name="Rectangle 9"/>
          <p:cNvSpPr/>
          <p:nvPr/>
        </p:nvSpPr>
        <p:spPr>
          <a:xfrm>
            <a:off x="1981200" y="3352800"/>
            <a:ext cx="7315200" cy="533400"/>
          </a:xfrm>
          <a:prstGeom prst="rect">
            <a:avLst/>
          </a:prstGeom>
          <a:noFill/>
          <a:ln w="12700">
            <a:noFill/>
          </a:ln>
        </p:spPr>
        <p:txBody>
          <a:bodyPr lIns="0" tIns="0" rIns="0" bIns="0" anchor="t" anchorCtr="0"/>
          <a:lstStyle/>
          <a:p>
            <a:pPr marL="384165" indent="-384165" algn="just">
              <a:lnSpc>
                <a:spcPct val="120000"/>
              </a:lnSpc>
              <a:spcBef>
                <a:spcPct val="20000"/>
              </a:spcBef>
              <a:buClr>
                <a:schemeClr val="tx2"/>
              </a:buClr>
              <a:buSzPct val="75000"/>
            </a:pPr>
            <a:endParaRPr lang="en-US" altLang="zh-CN" sz="2800" b="1" dirty="0">
              <a:solidFill>
                <a:srgbClr val="6600CC"/>
              </a:solidFill>
              <a:latin typeface="Times New Roman" panose="02020603050405020304" pitchFamily="18" charset="0"/>
              <a:ea typeface="宋体" panose="02010600030101010101" pitchFamily="2" charset="-122"/>
            </a:endParaRPr>
          </a:p>
        </p:txBody>
      </p:sp>
      <p:sp>
        <p:nvSpPr>
          <p:cNvPr id="89101" name="Rectangle 13"/>
          <p:cNvSpPr/>
          <p:nvPr/>
        </p:nvSpPr>
        <p:spPr>
          <a:xfrm>
            <a:off x="2057400" y="5029200"/>
            <a:ext cx="7315200" cy="533400"/>
          </a:xfrm>
          <a:prstGeom prst="rect">
            <a:avLst/>
          </a:prstGeom>
          <a:noFill/>
          <a:ln w="12700">
            <a:noFill/>
          </a:ln>
        </p:spPr>
        <p:txBody>
          <a:bodyPr lIns="0" tIns="0" rIns="0" bIns="0" anchor="t" anchorCtr="0"/>
          <a:lstStyle/>
          <a:p>
            <a:pPr marL="384165" indent="-384165" algn="just">
              <a:lnSpc>
                <a:spcPct val="120000"/>
              </a:lnSpc>
              <a:spcBef>
                <a:spcPct val="20000"/>
              </a:spcBef>
              <a:buClr>
                <a:schemeClr val="tx2"/>
              </a:buClr>
              <a:buSzPct val="75000"/>
            </a:pPr>
            <a:endParaRPr lang="en-US" altLang="zh-CN" sz="2800" b="1" dirty="0">
              <a:solidFill>
                <a:srgbClr val="6600CC"/>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9094"/>
                                        </p:tgtEl>
                                        <p:attrNameLst>
                                          <p:attrName>style.visibility</p:attrName>
                                        </p:attrNameLst>
                                      </p:cBhvr>
                                      <p:to>
                                        <p:strVal val="visible"/>
                                      </p:to>
                                    </p:set>
                                    <p:animEffect transition="in" filter="wipe(left)">
                                      <p:cBhvr>
                                        <p:cTn id="7" dur="500"/>
                                        <p:tgtEl>
                                          <p:spTgt spid="890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095"/>
                                        </p:tgtEl>
                                        <p:attrNameLst>
                                          <p:attrName>style.visibility</p:attrName>
                                        </p:attrNameLst>
                                      </p:cBhvr>
                                      <p:to>
                                        <p:strVal val="visible"/>
                                      </p:to>
                                    </p:set>
                                    <p:animEffect transition="in" filter="wipe(left)">
                                      <p:cBhvr>
                                        <p:cTn id="12" dur="500"/>
                                        <p:tgtEl>
                                          <p:spTgt spid="890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nodePh="1">
                                  <p:stCondLst>
                                    <p:cond delay="0"/>
                                  </p:stCondLst>
                                  <p:endCondLst>
                                    <p:cond delay="0"/>
                                  </p:endCondLst>
                                  <p:childTnLst>
                                    <p:set>
                                      <p:cBhvr>
                                        <p:cTn id="16" dur="1" fill="hold">
                                          <p:stCondLst>
                                            <p:cond delay="0"/>
                                          </p:stCondLst>
                                        </p:cTn>
                                        <p:tgtEl>
                                          <p:spTgt spid="89097"/>
                                        </p:tgtEl>
                                        <p:attrNameLst>
                                          <p:attrName>style.visibility</p:attrName>
                                        </p:attrNameLst>
                                      </p:cBhvr>
                                      <p:to>
                                        <p:strVal val="visible"/>
                                      </p:to>
                                    </p:set>
                                    <p:animEffect transition="in" filter="wipe(left)">
                                      <p:cBhvr>
                                        <p:cTn id="17" dur="500"/>
                                        <p:tgtEl>
                                          <p:spTgt spid="890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nodePh="1">
                                  <p:stCondLst>
                                    <p:cond delay="0"/>
                                  </p:stCondLst>
                                  <p:endCondLst>
                                    <p:cond delay="0"/>
                                  </p:endCondLst>
                                  <p:childTnLst>
                                    <p:set>
                                      <p:cBhvr>
                                        <p:cTn id="21" dur="1" fill="hold">
                                          <p:stCondLst>
                                            <p:cond delay="0"/>
                                          </p:stCondLst>
                                        </p:cTn>
                                        <p:tgtEl>
                                          <p:spTgt spid="89101"/>
                                        </p:tgtEl>
                                        <p:attrNameLst>
                                          <p:attrName>style.visibility</p:attrName>
                                        </p:attrNameLst>
                                      </p:cBhvr>
                                      <p:to>
                                        <p:strVal val="visible"/>
                                      </p:to>
                                    </p:set>
                                    <p:animEffect transition="in" filter="wipe(left)">
                                      <p:cBhvr>
                                        <p:cTn id="22" dur="500"/>
                                        <p:tgtEl>
                                          <p:spTgt spid="89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4" grpId="0"/>
      <p:bldP spid="89095" grpId="0"/>
      <p:bldP spid="89097" grpId="0"/>
      <p:bldP spid="8910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p:nvPr/>
        </p:nvSpPr>
        <p:spPr>
          <a:xfrm>
            <a:off x="406402" y="685800"/>
            <a:ext cx="10261601" cy="1524000"/>
          </a:xfrm>
          <a:prstGeom prst="rect">
            <a:avLst/>
          </a:prstGeom>
          <a:noFill/>
          <a:ln w="12700">
            <a:noFill/>
          </a:ln>
        </p:spPr>
        <p:txBody>
          <a:bodyPr anchor="t" anchorCtr="0"/>
          <a:lstStyle/>
          <a:p>
            <a:pPr marL="1435064" indent="-1435064" algn="just">
              <a:lnSpc>
                <a:spcPct val="90000"/>
              </a:lnSpc>
              <a:spcBef>
                <a:spcPct val="20000"/>
              </a:spcBef>
              <a:buClr>
                <a:schemeClr val="tx2"/>
              </a:buClr>
              <a:buSzPct val="75000"/>
            </a:pPr>
            <a:r>
              <a:rPr lang="zh-CN" altLang="en-US" sz="2400" b="1" dirty="0">
                <a:latin typeface="黑体" pitchFamily="49" charset="-122"/>
                <a:ea typeface="黑体" pitchFamily="49" charset="-122"/>
              </a:rPr>
              <a:t>伴</a:t>
            </a:r>
            <a:r>
              <a:rPr lang="en-US" altLang="zh-CN" sz="2400" b="1" dirty="0">
                <a:latin typeface="黑体" pitchFamily="49" charset="-122"/>
                <a:ea typeface="黑体" pitchFamily="49" charset="-122"/>
              </a:rPr>
              <a:t>X</a:t>
            </a:r>
            <a:r>
              <a:rPr lang="zh-CN" altLang="en-US" sz="2400" b="1" dirty="0">
                <a:latin typeface="黑体" pitchFamily="49" charset="-122"/>
                <a:ea typeface="黑体" pitchFamily="49" charset="-122"/>
              </a:rPr>
              <a:t>隐性遗传病发病风险的估算</a:t>
            </a:r>
          </a:p>
          <a:p>
            <a:pPr marL="1435064" indent="-1435064" algn="just">
              <a:lnSpc>
                <a:spcPct val="90000"/>
              </a:lnSpc>
              <a:spcBef>
                <a:spcPct val="20000"/>
              </a:spcBef>
              <a:buClr>
                <a:schemeClr val="tx2"/>
              </a:buClr>
              <a:buSzPct val="75000"/>
            </a:pPr>
            <a:endParaRPr lang="en-US" altLang="zh-CN" sz="2400" b="1" dirty="0">
              <a:latin typeface="黑体" pitchFamily="49" charset="-122"/>
              <a:ea typeface="黑体" pitchFamily="49" charset="-122"/>
            </a:endParaRPr>
          </a:p>
          <a:p>
            <a:pPr marL="1435064" indent="-1435064" algn="just">
              <a:lnSpc>
                <a:spcPct val="90000"/>
              </a:lnSpc>
              <a:spcBef>
                <a:spcPct val="20000"/>
              </a:spcBef>
              <a:buClr>
                <a:schemeClr val="tx2"/>
              </a:buClr>
              <a:buSzPct val="75000"/>
            </a:pPr>
            <a:r>
              <a:rPr lang="en-US" altLang="zh-CN" sz="2400" b="1" dirty="0">
                <a:latin typeface="黑体" pitchFamily="49" charset="-122"/>
                <a:ea typeface="黑体" pitchFamily="49" charset="-122"/>
              </a:rPr>
              <a:t>1.</a:t>
            </a:r>
            <a:r>
              <a:rPr lang="zh-CN" altLang="en-US" sz="2400" b="1" dirty="0">
                <a:latin typeface="黑体" pitchFamily="49" charset="-122"/>
                <a:ea typeface="黑体" pitchFamily="49" charset="-122"/>
              </a:rPr>
              <a:t>根据子女数量估计</a:t>
            </a:r>
            <a:r>
              <a:rPr lang="en-US" altLang="zh-CN" sz="2400" b="1" dirty="0">
                <a:latin typeface="黑体" pitchFamily="49" charset="-122"/>
                <a:ea typeface="黑体" pitchFamily="49" charset="-122"/>
              </a:rPr>
              <a:t>Ⅰ3</a:t>
            </a:r>
            <a:r>
              <a:rPr lang="zh-CN" altLang="en-US" sz="2400" b="1" dirty="0">
                <a:latin typeface="黑体" pitchFamily="49" charset="-122"/>
                <a:ea typeface="黑体" pitchFamily="49" charset="-122"/>
              </a:rPr>
              <a:t>的基因型</a:t>
            </a:r>
          </a:p>
        </p:txBody>
      </p:sp>
      <p:grpSp>
        <p:nvGrpSpPr>
          <p:cNvPr id="2" name="Group 3"/>
          <p:cNvGrpSpPr/>
          <p:nvPr/>
        </p:nvGrpSpPr>
        <p:grpSpPr>
          <a:xfrm>
            <a:off x="406401" y="2438400"/>
            <a:ext cx="4267200" cy="2625725"/>
            <a:chOff x="432" y="1814"/>
            <a:chExt cx="2016" cy="1654"/>
          </a:xfrm>
        </p:grpSpPr>
        <p:sp>
          <p:nvSpPr>
            <p:cNvPr id="59395" name="Rectangle 4"/>
            <p:cNvSpPr/>
            <p:nvPr/>
          </p:nvSpPr>
          <p:spPr>
            <a:xfrm>
              <a:off x="1200" y="2064"/>
              <a:ext cx="175" cy="166"/>
            </a:xfrm>
            <a:prstGeom prst="rect">
              <a:avLst/>
            </a:prstGeom>
            <a:solidFill>
              <a:srgbClr val="FF00FF"/>
            </a:solidFill>
            <a:ln w="12700" cap="sq" cmpd="sng">
              <a:solidFill>
                <a:srgbClr val="FF00FF"/>
              </a:solidFill>
              <a:prstDash val="solid"/>
              <a:miter/>
              <a:headEnd type="none" w="sm" len="sm"/>
              <a:tailEnd type="none" w="sm" len="sm"/>
            </a:ln>
          </p:spPr>
          <p:txBody>
            <a:bodyPr wrap="none" anchor="ctr" anchorCtr="0"/>
            <a:lstStyle/>
            <a:p>
              <a:pPr algn="ctr"/>
              <a:endParaRPr lang="zh-CN" altLang="en-US" dirty="0">
                <a:solidFill>
                  <a:schemeClr val="bg2"/>
                </a:solidFill>
                <a:latin typeface="Comic Sans MS" panose="030F0702030302020204" pitchFamily="66" charset="0"/>
                <a:ea typeface="宋体" panose="02010600030101010101" pitchFamily="2" charset="-122"/>
              </a:endParaRPr>
            </a:p>
          </p:txBody>
        </p:sp>
        <p:sp>
          <p:nvSpPr>
            <p:cNvPr id="59396" name="Rectangle 5"/>
            <p:cNvSpPr/>
            <p:nvPr/>
          </p:nvSpPr>
          <p:spPr>
            <a:xfrm>
              <a:off x="816" y="2064"/>
              <a:ext cx="175" cy="166"/>
            </a:xfrm>
            <a:prstGeom prst="rect">
              <a:avLst/>
            </a:prstGeom>
            <a:solidFill>
              <a:srgbClr val="FF00FF"/>
            </a:solidFill>
            <a:ln w="12700" cap="sq" cmpd="sng">
              <a:solidFill>
                <a:srgbClr val="FF00FF"/>
              </a:solidFill>
              <a:prstDash val="solid"/>
              <a:miter/>
              <a:headEnd type="none" w="sm" len="sm"/>
              <a:tailEnd type="none" w="sm" len="sm"/>
            </a:ln>
          </p:spPr>
          <p:txBody>
            <a:bodyPr wrap="none" anchor="ctr" anchorCtr="0"/>
            <a:lstStyle/>
            <a:p>
              <a:pPr algn="ctr"/>
              <a:endParaRPr lang="zh-CN" altLang="en-US" dirty="0">
                <a:solidFill>
                  <a:schemeClr val="bg2"/>
                </a:solidFill>
                <a:latin typeface="Comic Sans MS" panose="030F0702030302020204" pitchFamily="66" charset="0"/>
                <a:ea typeface="宋体" panose="02010600030101010101" pitchFamily="2" charset="-122"/>
              </a:endParaRPr>
            </a:p>
          </p:txBody>
        </p:sp>
        <p:grpSp>
          <p:nvGrpSpPr>
            <p:cNvPr id="59397" name="Group 6"/>
            <p:cNvGrpSpPr/>
            <p:nvPr/>
          </p:nvGrpSpPr>
          <p:grpSpPr>
            <a:xfrm>
              <a:off x="432" y="1814"/>
              <a:ext cx="2016" cy="1654"/>
              <a:chOff x="432" y="1814"/>
              <a:chExt cx="2016" cy="1654"/>
            </a:xfrm>
          </p:grpSpPr>
          <p:sp>
            <p:nvSpPr>
              <p:cNvPr id="59398" name="Text Box 7"/>
              <p:cNvSpPr txBox="1"/>
              <p:nvPr/>
            </p:nvSpPr>
            <p:spPr>
              <a:xfrm>
                <a:off x="816" y="3148"/>
                <a:ext cx="1632" cy="320"/>
              </a:xfrm>
              <a:prstGeom prst="rect">
                <a:avLst/>
              </a:prstGeom>
              <a:noFill/>
              <a:ln w="12700">
                <a:noFill/>
              </a:ln>
            </p:spPr>
            <p:txBody>
              <a:bodyPr anchor="t" anchorCtr="0">
                <a:spAutoFit/>
              </a:bodyPr>
              <a:lstStyle/>
              <a:p>
                <a:pPr>
                  <a:spcBef>
                    <a:spcPct val="50000"/>
                  </a:spcBef>
                </a:pPr>
                <a:r>
                  <a:rPr lang="en-US" altLang="zh-CN" sz="2700" dirty="0">
                    <a:latin typeface="Times New Roman" panose="02020603050405020304" pitchFamily="18" charset="0"/>
                    <a:ea typeface="宋体" panose="02010600030101010101" pitchFamily="2" charset="-122"/>
                  </a:rPr>
                  <a:t> 1      2       3     4       5</a:t>
                </a:r>
              </a:p>
            </p:txBody>
          </p:sp>
          <p:sp>
            <p:nvSpPr>
              <p:cNvPr id="59399" name="Rectangle 8"/>
              <p:cNvSpPr/>
              <p:nvPr/>
            </p:nvSpPr>
            <p:spPr>
              <a:xfrm>
                <a:off x="1728" y="2944"/>
                <a:ext cx="175" cy="166"/>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a:endParaRPr lang="zh-CN" altLang="en-US" dirty="0">
                  <a:solidFill>
                    <a:schemeClr val="bg2"/>
                  </a:solidFill>
                  <a:latin typeface="Comic Sans MS" panose="030F0702030302020204" pitchFamily="66" charset="0"/>
                  <a:ea typeface="宋体" panose="02010600030101010101" pitchFamily="2" charset="-122"/>
                </a:endParaRPr>
              </a:p>
            </p:txBody>
          </p:sp>
          <p:sp>
            <p:nvSpPr>
              <p:cNvPr id="59400" name="Line 9"/>
              <p:cNvSpPr/>
              <p:nvPr/>
            </p:nvSpPr>
            <p:spPr>
              <a:xfrm>
                <a:off x="816" y="2596"/>
                <a:ext cx="0" cy="332"/>
              </a:xfrm>
              <a:prstGeom prst="line">
                <a:avLst/>
              </a:prstGeom>
              <a:ln w="12700" cap="sq" cmpd="sng">
                <a:solidFill>
                  <a:schemeClr val="tx1"/>
                </a:solidFill>
                <a:prstDash val="solid"/>
                <a:round/>
                <a:headEnd type="none" w="sm" len="sm"/>
                <a:tailEnd type="none" w="sm" len="sm"/>
              </a:ln>
            </p:spPr>
          </p:sp>
          <p:sp>
            <p:nvSpPr>
              <p:cNvPr id="59401" name="Line 10"/>
              <p:cNvSpPr/>
              <p:nvPr/>
            </p:nvSpPr>
            <p:spPr>
              <a:xfrm>
                <a:off x="816" y="2592"/>
                <a:ext cx="1344" cy="0"/>
              </a:xfrm>
              <a:prstGeom prst="line">
                <a:avLst/>
              </a:prstGeom>
              <a:ln w="12700" cap="sq" cmpd="sng">
                <a:solidFill>
                  <a:schemeClr val="tx1"/>
                </a:solidFill>
                <a:prstDash val="solid"/>
                <a:round/>
                <a:headEnd type="none" w="sm" len="sm"/>
                <a:tailEnd type="none" w="sm" len="sm"/>
              </a:ln>
            </p:spPr>
          </p:sp>
          <p:sp>
            <p:nvSpPr>
              <p:cNvPr id="59402" name="Line 11"/>
              <p:cNvSpPr/>
              <p:nvPr/>
            </p:nvSpPr>
            <p:spPr>
              <a:xfrm>
                <a:off x="1680" y="2198"/>
                <a:ext cx="0" cy="379"/>
              </a:xfrm>
              <a:prstGeom prst="line">
                <a:avLst/>
              </a:prstGeom>
              <a:ln w="12700" cap="sq" cmpd="sng">
                <a:solidFill>
                  <a:schemeClr val="tx1"/>
                </a:solidFill>
                <a:prstDash val="solid"/>
                <a:round/>
                <a:headEnd type="none" w="sm" len="sm"/>
                <a:tailEnd type="none" w="sm" len="sm"/>
              </a:ln>
            </p:spPr>
          </p:sp>
          <p:sp>
            <p:nvSpPr>
              <p:cNvPr id="59403" name="Rectangle 12"/>
              <p:cNvSpPr/>
              <p:nvPr/>
            </p:nvSpPr>
            <p:spPr>
              <a:xfrm>
                <a:off x="1056" y="2944"/>
                <a:ext cx="175" cy="166"/>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a:endParaRPr lang="zh-CN" altLang="en-US" dirty="0">
                  <a:solidFill>
                    <a:schemeClr val="bg2"/>
                  </a:solidFill>
                  <a:latin typeface="Comic Sans MS" panose="030F0702030302020204" pitchFamily="66" charset="0"/>
                  <a:ea typeface="宋体" panose="02010600030101010101" pitchFamily="2" charset="-122"/>
                </a:endParaRPr>
              </a:p>
            </p:txBody>
          </p:sp>
          <p:sp>
            <p:nvSpPr>
              <p:cNvPr id="59404" name="Text Box 13"/>
              <p:cNvSpPr txBox="1"/>
              <p:nvPr/>
            </p:nvSpPr>
            <p:spPr>
              <a:xfrm>
                <a:off x="432" y="2016"/>
                <a:ext cx="192" cy="1435"/>
              </a:xfrm>
              <a:prstGeom prst="rect">
                <a:avLst/>
              </a:prstGeom>
              <a:noFill/>
              <a:ln w="12700">
                <a:noFill/>
              </a:ln>
            </p:spPr>
            <p:txBody>
              <a:bodyPr lIns="0" tIns="0" rIns="0" bIns="0" anchor="t" anchorCtr="0">
                <a:spAutoFit/>
              </a:bodyPr>
              <a:lstStyle/>
              <a:p>
                <a:pPr>
                  <a:spcBef>
                    <a:spcPct val="50000"/>
                  </a:spcBef>
                </a:pPr>
                <a:r>
                  <a:rPr lang="en-US" altLang="zh-CN" sz="3200" dirty="0">
                    <a:latin typeface="Times New Roman" panose="02020603050405020304" pitchFamily="18" charset="0"/>
                    <a:ea typeface="宋体" panose="02010600030101010101" pitchFamily="2" charset="-122"/>
                  </a:rPr>
                  <a:t>Ⅰ</a:t>
                </a:r>
              </a:p>
              <a:p>
                <a:pPr>
                  <a:spcBef>
                    <a:spcPct val="50000"/>
                  </a:spcBef>
                </a:pPr>
                <a:endParaRPr lang="en-US" altLang="zh-CN" sz="4500" dirty="0">
                  <a:latin typeface="Times New Roman" panose="02020603050405020304" pitchFamily="18" charset="0"/>
                  <a:ea typeface="宋体" panose="02010600030101010101" pitchFamily="2" charset="-122"/>
                </a:endParaRPr>
              </a:p>
              <a:p>
                <a:pPr>
                  <a:spcBef>
                    <a:spcPct val="50000"/>
                  </a:spcBef>
                </a:pPr>
                <a:r>
                  <a:rPr lang="en-US" altLang="zh-CN" sz="3200" dirty="0">
                    <a:latin typeface="Times New Roman" panose="02020603050405020304" pitchFamily="18" charset="0"/>
                    <a:ea typeface="宋体" panose="02010600030101010101" pitchFamily="2" charset="-122"/>
                  </a:rPr>
                  <a:t>Ⅱ</a:t>
                </a:r>
              </a:p>
            </p:txBody>
          </p:sp>
          <p:sp>
            <p:nvSpPr>
              <p:cNvPr id="59405" name="Line 15"/>
              <p:cNvSpPr/>
              <p:nvPr/>
            </p:nvSpPr>
            <p:spPr>
              <a:xfrm>
                <a:off x="1152" y="2597"/>
                <a:ext cx="0" cy="331"/>
              </a:xfrm>
              <a:prstGeom prst="line">
                <a:avLst/>
              </a:prstGeom>
              <a:ln w="12700" cap="sq" cmpd="sng">
                <a:solidFill>
                  <a:schemeClr val="tx1"/>
                </a:solidFill>
                <a:prstDash val="solid"/>
                <a:round/>
                <a:headEnd type="none" w="sm" len="sm"/>
                <a:tailEnd type="none" w="sm" len="sm"/>
              </a:ln>
            </p:spPr>
          </p:sp>
          <p:sp>
            <p:nvSpPr>
              <p:cNvPr id="59406" name="Oval 16"/>
              <p:cNvSpPr/>
              <p:nvPr/>
            </p:nvSpPr>
            <p:spPr>
              <a:xfrm>
                <a:off x="1584" y="2054"/>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dirty="0">
                  <a:solidFill>
                    <a:schemeClr val="bg2"/>
                  </a:solidFill>
                  <a:latin typeface="Comic Sans MS" panose="030F0702030302020204" pitchFamily="66" charset="0"/>
                  <a:ea typeface="宋体" panose="02010600030101010101" pitchFamily="2" charset="-122"/>
                </a:endParaRPr>
              </a:p>
            </p:txBody>
          </p:sp>
          <p:sp>
            <p:nvSpPr>
              <p:cNvPr id="59407" name="Text Box 17"/>
              <p:cNvSpPr txBox="1"/>
              <p:nvPr/>
            </p:nvSpPr>
            <p:spPr>
              <a:xfrm>
                <a:off x="912" y="2150"/>
                <a:ext cx="1200" cy="320"/>
              </a:xfrm>
              <a:prstGeom prst="rect">
                <a:avLst/>
              </a:prstGeom>
              <a:noFill/>
              <a:ln w="12700">
                <a:noFill/>
              </a:ln>
            </p:spPr>
            <p:txBody>
              <a:bodyPr anchor="t" anchorCtr="0">
                <a:spAutoFit/>
              </a:bodyPr>
              <a:lstStyle/>
              <a:p>
                <a:pPr>
                  <a:spcBef>
                    <a:spcPct val="50000"/>
                  </a:spcBef>
                </a:pPr>
                <a:r>
                  <a:rPr lang="en-US" altLang="zh-CN" sz="2700" dirty="0">
                    <a:latin typeface="Times New Roman" panose="02020603050405020304" pitchFamily="18" charset="0"/>
                    <a:ea typeface="宋体" panose="02010600030101010101" pitchFamily="2" charset="-122"/>
                  </a:rPr>
                  <a:t> 1        2       3</a:t>
                </a:r>
              </a:p>
            </p:txBody>
          </p:sp>
          <p:sp>
            <p:nvSpPr>
              <p:cNvPr id="59408" name="Line 18"/>
              <p:cNvSpPr/>
              <p:nvPr/>
            </p:nvSpPr>
            <p:spPr>
              <a:xfrm>
                <a:off x="912" y="1814"/>
                <a:ext cx="768" cy="0"/>
              </a:xfrm>
              <a:prstGeom prst="line">
                <a:avLst/>
              </a:prstGeom>
              <a:ln w="12700" cap="sq" cmpd="sng">
                <a:solidFill>
                  <a:schemeClr val="tx1"/>
                </a:solidFill>
                <a:prstDash val="solid"/>
                <a:round/>
                <a:headEnd type="none" w="sm" len="sm"/>
                <a:tailEnd type="none" w="sm" len="sm"/>
              </a:ln>
            </p:spPr>
          </p:sp>
          <p:sp>
            <p:nvSpPr>
              <p:cNvPr id="59409" name="Line 19"/>
              <p:cNvSpPr/>
              <p:nvPr/>
            </p:nvSpPr>
            <p:spPr>
              <a:xfrm>
                <a:off x="912" y="1814"/>
                <a:ext cx="0" cy="240"/>
              </a:xfrm>
              <a:prstGeom prst="line">
                <a:avLst/>
              </a:prstGeom>
              <a:ln w="12700" cap="sq" cmpd="sng">
                <a:solidFill>
                  <a:schemeClr val="tx1"/>
                </a:solidFill>
                <a:prstDash val="solid"/>
                <a:round/>
                <a:headEnd type="none" w="sm" len="sm"/>
                <a:tailEnd type="none" w="sm" len="sm"/>
              </a:ln>
            </p:spPr>
          </p:sp>
          <p:sp>
            <p:nvSpPr>
              <p:cNvPr id="59410" name="Line 20"/>
              <p:cNvSpPr/>
              <p:nvPr/>
            </p:nvSpPr>
            <p:spPr>
              <a:xfrm>
                <a:off x="1680" y="1814"/>
                <a:ext cx="0" cy="240"/>
              </a:xfrm>
              <a:prstGeom prst="line">
                <a:avLst/>
              </a:prstGeom>
              <a:ln w="12700" cap="sq" cmpd="sng">
                <a:solidFill>
                  <a:schemeClr val="tx1"/>
                </a:solidFill>
                <a:prstDash val="solid"/>
                <a:round/>
                <a:headEnd type="none" w="sm" len="sm"/>
                <a:tailEnd type="none" w="sm" len="sm"/>
              </a:ln>
            </p:spPr>
          </p:sp>
          <p:sp>
            <p:nvSpPr>
              <p:cNvPr id="59411" name="Oval 21"/>
              <p:cNvSpPr/>
              <p:nvPr/>
            </p:nvSpPr>
            <p:spPr>
              <a:xfrm>
                <a:off x="720" y="2944"/>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dirty="0">
                  <a:solidFill>
                    <a:schemeClr val="bg2"/>
                  </a:solidFill>
                  <a:latin typeface="Comic Sans MS" panose="030F0702030302020204" pitchFamily="66" charset="0"/>
                  <a:ea typeface="宋体" panose="02010600030101010101" pitchFamily="2" charset="-122"/>
                </a:endParaRPr>
              </a:p>
            </p:txBody>
          </p:sp>
          <p:sp>
            <p:nvSpPr>
              <p:cNvPr id="59412" name="Line 22"/>
              <p:cNvSpPr/>
              <p:nvPr/>
            </p:nvSpPr>
            <p:spPr>
              <a:xfrm>
                <a:off x="1488" y="2592"/>
                <a:ext cx="0" cy="336"/>
              </a:xfrm>
              <a:prstGeom prst="line">
                <a:avLst/>
              </a:prstGeom>
              <a:ln w="12700" cap="sq" cmpd="sng">
                <a:solidFill>
                  <a:schemeClr val="tx1"/>
                </a:solidFill>
                <a:prstDash val="solid"/>
                <a:round/>
                <a:headEnd type="none" w="sm" len="sm"/>
                <a:tailEnd type="none" w="sm" len="sm"/>
              </a:ln>
            </p:spPr>
          </p:sp>
          <p:sp>
            <p:nvSpPr>
              <p:cNvPr id="59413" name="Line 23"/>
              <p:cNvSpPr/>
              <p:nvPr/>
            </p:nvSpPr>
            <p:spPr>
              <a:xfrm>
                <a:off x="1296" y="1814"/>
                <a:ext cx="0" cy="240"/>
              </a:xfrm>
              <a:prstGeom prst="line">
                <a:avLst/>
              </a:prstGeom>
              <a:ln w="12700" cap="sq" cmpd="sng">
                <a:solidFill>
                  <a:schemeClr val="tx1"/>
                </a:solidFill>
                <a:prstDash val="solid"/>
                <a:round/>
                <a:headEnd type="none" w="sm" len="sm"/>
                <a:tailEnd type="none" w="sm" len="sm"/>
              </a:ln>
            </p:spPr>
          </p:sp>
          <p:sp>
            <p:nvSpPr>
              <p:cNvPr id="59414" name="Rectangle 24"/>
              <p:cNvSpPr/>
              <p:nvPr/>
            </p:nvSpPr>
            <p:spPr>
              <a:xfrm>
                <a:off x="1392" y="2944"/>
                <a:ext cx="175" cy="166"/>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a:endParaRPr lang="zh-CN" altLang="en-US" dirty="0">
                  <a:solidFill>
                    <a:schemeClr val="bg2"/>
                  </a:solidFill>
                  <a:latin typeface="Comic Sans MS" panose="030F0702030302020204" pitchFamily="66" charset="0"/>
                  <a:ea typeface="宋体" panose="02010600030101010101" pitchFamily="2" charset="-122"/>
                </a:endParaRPr>
              </a:p>
            </p:txBody>
          </p:sp>
          <p:sp>
            <p:nvSpPr>
              <p:cNvPr id="59415" name="Rectangle 25"/>
              <p:cNvSpPr/>
              <p:nvPr/>
            </p:nvSpPr>
            <p:spPr>
              <a:xfrm>
                <a:off x="2075" y="2944"/>
                <a:ext cx="175" cy="166"/>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a:endParaRPr lang="zh-CN" altLang="en-US" dirty="0">
                  <a:solidFill>
                    <a:schemeClr val="bg2"/>
                  </a:solidFill>
                  <a:latin typeface="Comic Sans MS" panose="030F0702030302020204" pitchFamily="66" charset="0"/>
                  <a:ea typeface="宋体" panose="02010600030101010101" pitchFamily="2" charset="-122"/>
                </a:endParaRPr>
              </a:p>
            </p:txBody>
          </p:sp>
          <p:sp>
            <p:nvSpPr>
              <p:cNvPr id="59416" name="Line 26"/>
              <p:cNvSpPr/>
              <p:nvPr/>
            </p:nvSpPr>
            <p:spPr>
              <a:xfrm>
                <a:off x="2160" y="2592"/>
                <a:ext cx="0" cy="284"/>
              </a:xfrm>
              <a:prstGeom prst="line">
                <a:avLst/>
              </a:prstGeom>
              <a:ln w="12700" cap="sq" cmpd="sng">
                <a:solidFill>
                  <a:schemeClr val="tx1"/>
                </a:solidFill>
                <a:prstDash val="solid"/>
                <a:round/>
                <a:headEnd type="none" w="sm" len="sm"/>
                <a:tailEnd type="none" w="sm" len="sm"/>
              </a:ln>
            </p:spPr>
          </p:sp>
        </p:grpSp>
      </p:grpSp>
      <p:sp>
        <p:nvSpPr>
          <p:cNvPr id="90140" name="Rectangle 28"/>
          <p:cNvSpPr/>
          <p:nvPr/>
        </p:nvSpPr>
        <p:spPr>
          <a:xfrm>
            <a:off x="5181603" y="2743200"/>
            <a:ext cx="5892800" cy="381000"/>
          </a:xfrm>
          <a:prstGeom prst="rect">
            <a:avLst/>
          </a:prstGeom>
          <a:noFill/>
          <a:ln w="12700">
            <a:noFill/>
          </a:ln>
        </p:spPr>
        <p:txBody>
          <a:bodyPr lIns="121917" tIns="60958" rIns="121917" bIns="60958" anchor="t" anchorCtr="0"/>
          <a:lstStyle/>
          <a:p>
            <a:pPr marL="1913419" indent="-1913419" algn="just">
              <a:lnSpc>
                <a:spcPct val="90000"/>
              </a:lnSpc>
              <a:spcBef>
                <a:spcPct val="20000"/>
              </a:spcBef>
              <a:buClr>
                <a:schemeClr val="tx2"/>
              </a:buClr>
              <a:buSzPct val="75000"/>
            </a:pPr>
            <a:r>
              <a:rPr lang="en-US" altLang="zh-CN" sz="2700" dirty="0">
                <a:solidFill>
                  <a:srgbClr val="6600CC"/>
                </a:solidFill>
                <a:latin typeface="Times New Roman" panose="02020603050405020304" pitchFamily="18" charset="0"/>
                <a:ea typeface="宋体" panose="02010600030101010101" pitchFamily="2" charset="-122"/>
              </a:rPr>
              <a:t>Ⅰ3</a:t>
            </a:r>
            <a:r>
              <a:rPr lang="zh-CN" altLang="en-US" sz="2700" dirty="0">
                <a:solidFill>
                  <a:srgbClr val="6600CC"/>
                </a:solidFill>
                <a:latin typeface="Times New Roman" panose="02020603050405020304" pitchFamily="18" charset="0"/>
                <a:ea typeface="宋体" panose="02010600030101010101" pitchFamily="2" charset="-122"/>
              </a:rPr>
              <a:t>的基因型           </a:t>
            </a:r>
            <a:r>
              <a:rPr lang="en-US" altLang="zh-CN" sz="2700" i="1" dirty="0">
                <a:solidFill>
                  <a:srgbClr val="6600CC"/>
                </a:solidFill>
                <a:latin typeface="Times New Roman" panose="02020603050405020304" pitchFamily="18" charset="0"/>
                <a:ea typeface="宋体" panose="02010600030101010101" pitchFamily="2" charset="-122"/>
              </a:rPr>
              <a:t>X</a:t>
            </a:r>
            <a:r>
              <a:rPr lang="en-US" altLang="zh-CN" sz="2700" i="1" baseline="30000" dirty="0">
                <a:solidFill>
                  <a:srgbClr val="6600CC"/>
                </a:solidFill>
                <a:latin typeface="Times New Roman" panose="02020603050405020304" pitchFamily="18" charset="0"/>
                <a:ea typeface="宋体" panose="02010600030101010101" pitchFamily="2" charset="-122"/>
              </a:rPr>
              <a:t>H</a:t>
            </a:r>
            <a:r>
              <a:rPr lang="en-US" altLang="zh-CN" sz="2700" i="1" dirty="0">
                <a:solidFill>
                  <a:srgbClr val="6600CC"/>
                </a:solidFill>
                <a:latin typeface="Times New Roman" panose="02020603050405020304" pitchFamily="18" charset="0"/>
                <a:ea typeface="宋体" panose="02010600030101010101" pitchFamily="2" charset="-122"/>
              </a:rPr>
              <a:t>X</a:t>
            </a:r>
            <a:r>
              <a:rPr lang="en-US" altLang="zh-CN" sz="2700" i="1" baseline="30000" dirty="0">
                <a:solidFill>
                  <a:srgbClr val="6600CC"/>
                </a:solidFill>
                <a:latin typeface="Times New Roman" panose="02020603050405020304" pitchFamily="18" charset="0"/>
                <a:ea typeface="宋体" panose="02010600030101010101" pitchFamily="2" charset="-122"/>
              </a:rPr>
              <a:t>H                  </a:t>
            </a:r>
            <a:r>
              <a:rPr lang="en-US" altLang="zh-CN" sz="2700" i="1" dirty="0">
                <a:solidFill>
                  <a:srgbClr val="6600CC"/>
                </a:solidFill>
                <a:latin typeface="Times New Roman" panose="02020603050405020304" pitchFamily="18" charset="0"/>
                <a:ea typeface="宋体" panose="02010600030101010101" pitchFamily="2" charset="-122"/>
              </a:rPr>
              <a:t>X</a:t>
            </a:r>
            <a:r>
              <a:rPr lang="en-US" altLang="zh-CN" sz="2700" i="1" baseline="30000" dirty="0">
                <a:solidFill>
                  <a:srgbClr val="6600CC"/>
                </a:solidFill>
                <a:latin typeface="Times New Roman" panose="02020603050405020304" pitchFamily="18" charset="0"/>
                <a:ea typeface="宋体" panose="02010600030101010101" pitchFamily="2" charset="-122"/>
              </a:rPr>
              <a:t>H</a:t>
            </a:r>
            <a:r>
              <a:rPr lang="en-US" altLang="zh-CN" sz="2700" i="1" dirty="0">
                <a:solidFill>
                  <a:srgbClr val="6600CC"/>
                </a:solidFill>
                <a:latin typeface="Times New Roman" panose="02020603050405020304" pitchFamily="18" charset="0"/>
                <a:ea typeface="宋体" panose="02010600030101010101" pitchFamily="2" charset="-122"/>
              </a:rPr>
              <a:t>X</a:t>
            </a:r>
            <a:r>
              <a:rPr lang="en-US" altLang="zh-CN" sz="2700" i="1" baseline="30000" dirty="0">
                <a:solidFill>
                  <a:srgbClr val="6600CC"/>
                </a:solidFill>
                <a:latin typeface="Times New Roman" panose="02020603050405020304" pitchFamily="18" charset="0"/>
                <a:ea typeface="宋体" panose="02010600030101010101" pitchFamily="2" charset="-122"/>
              </a:rPr>
              <a:t>h</a:t>
            </a:r>
          </a:p>
        </p:txBody>
      </p:sp>
      <p:sp>
        <p:nvSpPr>
          <p:cNvPr id="90141" name="Rectangle 29"/>
          <p:cNvSpPr>
            <a:spLocks noChangeArrowheads="1"/>
          </p:cNvSpPr>
          <p:nvPr/>
        </p:nvSpPr>
        <p:spPr bwMode="auto">
          <a:xfrm>
            <a:off x="5344586" y="3276600"/>
            <a:ext cx="1970617" cy="381000"/>
          </a:xfrm>
          <a:prstGeom prst="rect">
            <a:avLst/>
          </a:prstGeom>
          <a:noFill/>
          <a:ln w="12700" cap="sq">
            <a:noFill/>
            <a:miter lim="800000"/>
            <a:headEnd type="none" w="sm" len="sm"/>
            <a:tailEnd type="none" w="sm" len="sm"/>
          </a:ln>
          <a:effectLst/>
        </p:spPr>
        <p:txBody>
          <a:bodyPr lIns="0" tIns="60958" rIns="0" bIns="60958"/>
          <a:lstStyle/>
          <a:p>
            <a:pPr marL="1913419" indent="-1913419" algn="just" defTabSz="1219170" fontAlgn="base">
              <a:lnSpc>
                <a:spcPct val="90000"/>
              </a:lnSpc>
              <a:spcBef>
                <a:spcPct val="20000"/>
              </a:spcBef>
              <a:spcAft>
                <a:spcPct val="0"/>
              </a:spcAft>
              <a:buClr>
                <a:schemeClr val="tx2"/>
              </a:buClr>
              <a:buSzPct val="75000"/>
              <a:defRPr/>
            </a:pPr>
            <a:r>
              <a:rPr kumimoji="1" lang="zh-CN" altLang="en-US" sz="2700" b="1">
                <a:solidFill>
                  <a:schemeClr val="tx2"/>
                </a:solidFill>
                <a:effectLst>
                  <a:outerShdw blurRad="38100" dist="38100" dir="2700000" algn="tl">
                    <a:srgbClr val="000000"/>
                  </a:outerShdw>
                </a:effectLst>
                <a:latin typeface="Times New Roman" panose="02020603050405020304" pitchFamily="18" charset="0"/>
                <a:ea typeface="黑体" panose="02010609060101010101" pitchFamily="49" charset="-122"/>
                <a:sym typeface="+mn-ea"/>
              </a:rPr>
              <a:t>前  概  率</a:t>
            </a:r>
          </a:p>
        </p:txBody>
      </p:sp>
      <p:sp>
        <p:nvSpPr>
          <p:cNvPr id="90142" name="Rectangle 30"/>
          <p:cNvSpPr>
            <a:spLocks noChangeArrowheads="1"/>
          </p:cNvSpPr>
          <p:nvPr/>
        </p:nvSpPr>
        <p:spPr bwMode="auto">
          <a:xfrm>
            <a:off x="8128000" y="3276600"/>
            <a:ext cx="2844800" cy="381000"/>
          </a:xfrm>
          <a:prstGeom prst="rect">
            <a:avLst/>
          </a:prstGeom>
          <a:noFill/>
          <a:ln w="12700" cap="sq">
            <a:noFill/>
            <a:miter lim="800000"/>
            <a:headEnd type="none" w="sm" len="sm"/>
            <a:tailEnd type="none" w="sm" len="sm"/>
          </a:ln>
          <a:effectLst/>
        </p:spPr>
        <p:txBody>
          <a:bodyPr lIns="121917" tIns="60958" rIns="121917" bIns="60958"/>
          <a:lstStyle/>
          <a:p>
            <a:pPr marL="1913419" indent="-1913419" algn="just" defTabSz="1219170" fontAlgn="base">
              <a:lnSpc>
                <a:spcPct val="90000"/>
              </a:lnSpc>
              <a:spcBef>
                <a:spcPct val="20000"/>
              </a:spcBef>
              <a:spcAft>
                <a:spcPct val="0"/>
              </a:spcAft>
              <a:buClr>
                <a:schemeClr val="tx2"/>
              </a:buClr>
              <a:buSzPct val="75000"/>
              <a:defRPr/>
            </a:pPr>
            <a:r>
              <a:rPr kumimoji="1" lang="en-US" altLang="zh-CN" sz="2700" b="1" dirty="0">
                <a:solidFill>
                  <a:schemeClr val="tx2"/>
                </a:solidFill>
                <a:effectLst>
                  <a:outerShdw blurRad="38100" dist="38100" dir="2700000" algn="tl">
                    <a:srgbClr val="000000"/>
                  </a:outerShdw>
                </a:effectLst>
                <a:latin typeface="Times New Roman" panose="02020603050405020304" pitchFamily="18" charset="0"/>
                <a:ea typeface="黑体" panose="02010609060101010101" pitchFamily="49" charset="-122"/>
                <a:sym typeface="+mn-ea"/>
              </a:rPr>
              <a:t>1/2                 1/2</a:t>
            </a:r>
          </a:p>
        </p:txBody>
      </p:sp>
      <p:sp>
        <p:nvSpPr>
          <p:cNvPr id="90143" name="Rectangle 31"/>
          <p:cNvSpPr>
            <a:spLocks noChangeArrowheads="1"/>
          </p:cNvSpPr>
          <p:nvPr/>
        </p:nvSpPr>
        <p:spPr bwMode="auto">
          <a:xfrm>
            <a:off x="5344583" y="3733800"/>
            <a:ext cx="2032000" cy="381000"/>
          </a:xfrm>
          <a:prstGeom prst="rect">
            <a:avLst/>
          </a:prstGeom>
          <a:noFill/>
          <a:ln w="12700" cap="sq">
            <a:noFill/>
            <a:miter lim="800000"/>
            <a:headEnd type="none" w="sm" len="sm"/>
            <a:tailEnd type="none" w="sm" len="sm"/>
          </a:ln>
          <a:effectLst/>
        </p:spPr>
        <p:txBody>
          <a:bodyPr lIns="0" tIns="60958" rIns="0" bIns="60958"/>
          <a:lstStyle/>
          <a:p>
            <a:pPr marL="1913419" indent="-1913419" algn="just" defTabSz="1219170" fontAlgn="base">
              <a:lnSpc>
                <a:spcPct val="90000"/>
              </a:lnSpc>
              <a:spcBef>
                <a:spcPct val="20000"/>
              </a:spcBef>
              <a:spcAft>
                <a:spcPct val="0"/>
              </a:spcAft>
              <a:buClr>
                <a:schemeClr val="tx2"/>
              </a:buClr>
              <a:buSzPct val="75000"/>
              <a:defRPr/>
            </a:pPr>
            <a:r>
              <a:rPr kumimoji="1" lang="zh-CN" altLang="en-US" sz="2700" b="1">
                <a:solidFill>
                  <a:schemeClr val="tx2"/>
                </a:solidFill>
                <a:effectLst>
                  <a:outerShdw blurRad="38100" dist="38100" dir="2700000" algn="tl">
                    <a:srgbClr val="000000"/>
                  </a:outerShdw>
                </a:effectLst>
                <a:latin typeface="Times New Roman" panose="02020603050405020304" pitchFamily="18" charset="0"/>
                <a:ea typeface="黑体" panose="02010609060101010101" pitchFamily="49" charset="-122"/>
                <a:sym typeface="+mn-ea"/>
              </a:rPr>
              <a:t>条件概率</a:t>
            </a:r>
          </a:p>
        </p:txBody>
      </p:sp>
      <p:sp>
        <p:nvSpPr>
          <p:cNvPr id="90144" name="Rectangle 32"/>
          <p:cNvSpPr>
            <a:spLocks noChangeArrowheads="1"/>
          </p:cNvSpPr>
          <p:nvPr/>
        </p:nvSpPr>
        <p:spPr bwMode="auto">
          <a:xfrm>
            <a:off x="8026403" y="3733800"/>
            <a:ext cx="3048000" cy="381000"/>
          </a:xfrm>
          <a:prstGeom prst="rect">
            <a:avLst/>
          </a:prstGeom>
          <a:noFill/>
          <a:ln w="12700" cap="sq">
            <a:noFill/>
            <a:miter lim="800000"/>
            <a:headEnd type="none" w="sm" len="sm"/>
            <a:tailEnd type="none" w="sm" len="sm"/>
          </a:ln>
          <a:effectLst/>
        </p:spPr>
        <p:txBody>
          <a:bodyPr lIns="121917" tIns="60958" rIns="121917" bIns="60958"/>
          <a:lstStyle/>
          <a:p>
            <a:pPr marL="1913419" indent="-1913419" algn="just" defTabSz="1219170" fontAlgn="base">
              <a:lnSpc>
                <a:spcPct val="90000"/>
              </a:lnSpc>
              <a:spcBef>
                <a:spcPct val="20000"/>
              </a:spcBef>
              <a:spcAft>
                <a:spcPct val="0"/>
              </a:spcAft>
              <a:buClr>
                <a:schemeClr val="tx2"/>
              </a:buClr>
              <a:buSzPct val="75000"/>
              <a:defRPr/>
            </a:pPr>
            <a:r>
              <a:rPr kumimoji="1" lang="en-US" altLang="zh-CN" sz="2700" b="1" dirty="0">
                <a:solidFill>
                  <a:schemeClr val="tx2"/>
                </a:solidFill>
                <a:effectLst>
                  <a:outerShdw blurRad="38100" dist="38100" dir="2700000" algn="tl">
                    <a:srgbClr val="000000"/>
                  </a:outerShdw>
                </a:effectLst>
                <a:latin typeface="Times New Roman" panose="02020603050405020304" pitchFamily="18" charset="0"/>
                <a:ea typeface="黑体" panose="02010609060101010101" pitchFamily="49" charset="-122"/>
                <a:sym typeface="+mn-ea"/>
              </a:rPr>
              <a:t>  1                   1/16</a:t>
            </a:r>
          </a:p>
        </p:txBody>
      </p:sp>
      <p:sp>
        <p:nvSpPr>
          <p:cNvPr id="90145" name="Rectangle 33"/>
          <p:cNvSpPr>
            <a:spLocks noChangeArrowheads="1"/>
          </p:cNvSpPr>
          <p:nvPr/>
        </p:nvSpPr>
        <p:spPr bwMode="auto">
          <a:xfrm>
            <a:off x="5344584" y="4191000"/>
            <a:ext cx="1972733" cy="381000"/>
          </a:xfrm>
          <a:prstGeom prst="rect">
            <a:avLst/>
          </a:prstGeom>
          <a:noFill/>
          <a:ln w="12700" cap="sq">
            <a:noFill/>
            <a:miter lim="800000"/>
            <a:headEnd type="none" w="sm" len="sm"/>
            <a:tailEnd type="none" w="sm" len="sm"/>
          </a:ln>
          <a:effectLst/>
        </p:spPr>
        <p:txBody>
          <a:bodyPr lIns="0" tIns="60958" rIns="0" bIns="60958"/>
          <a:lstStyle/>
          <a:p>
            <a:pPr marL="1913419" indent="-1913419" algn="just" defTabSz="1219170" fontAlgn="base">
              <a:lnSpc>
                <a:spcPct val="90000"/>
              </a:lnSpc>
              <a:spcBef>
                <a:spcPct val="20000"/>
              </a:spcBef>
              <a:spcAft>
                <a:spcPct val="0"/>
              </a:spcAft>
              <a:buClr>
                <a:schemeClr val="tx2"/>
              </a:buClr>
              <a:buSzPct val="75000"/>
              <a:defRPr/>
            </a:pPr>
            <a:r>
              <a:rPr kumimoji="1" lang="zh-CN" altLang="en-US" sz="2700" b="1" dirty="0">
                <a:solidFill>
                  <a:schemeClr val="tx2"/>
                </a:solidFill>
                <a:effectLst>
                  <a:outerShdw blurRad="38100" dist="38100" dir="2700000" algn="tl">
                    <a:srgbClr val="000000"/>
                  </a:outerShdw>
                </a:effectLst>
                <a:latin typeface="Times New Roman" panose="02020603050405020304" pitchFamily="18" charset="0"/>
                <a:ea typeface="黑体" panose="02010609060101010101" pitchFamily="49" charset="-122"/>
                <a:sym typeface="+mn-ea"/>
              </a:rPr>
              <a:t>联合概率</a:t>
            </a:r>
          </a:p>
        </p:txBody>
      </p:sp>
      <p:sp>
        <p:nvSpPr>
          <p:cNvPr id="90146" name="Rectangle 34"/>
          <p:cNvSpPr>
            <a:spLocks noChangeArrowheads="1"/>
          </p:cNvSpPr>
          <p:nvPr/>
        </p:nvSpPr>
        <p:spPr bwMode="auto">
          <a:xfrm>
            <a:off x="7823201" y="4191000"/>
            <a:ext cx="3251200" cy="381000"/>
          </a:xfrm>
          <a:prstGeom prst="rect">
            <a:avLst/>
          </a:prstGeom>
          <a:noFill/>
          <a:ln w="12700" cap="sq">
            <a:noFill/>
            <a:miter lim="800000"/>
            <a:headEnd type="none" w="sm" len="sm"/>
            <a:tailEnd type="none" w="sm" len="sm"/>
          </a:ln>
          <a:effectLst/>
        </p:spPr>
        <p:txBody>
          <a:bodyPr lIns="121917" tIns="60958" rIns="121917" bIns="60958"/>
          <a:lstStyle/>
          <a:p>
            <a:pPr marL="1913419" indent="-1913419" algn="just" defTabSz="1219170" fontAlgn="base">
              <a:lnSpc>
                <a:spcPct val="90000"/>
              </a:lnSpc>
              <a:spcBef>
                <a:spcPct val="20000"/>
              </a:spcBef>
              <a:spcAft>
                <a:spcPct val="0"/>
              </a:spcAft>
              <a:buClr>
                <a:schemeClr val="tx2"/>
              </a:buClr>
              <a:buSzPct val="75000"/>
              <a:defRPr/>
            </a:pPr>
            <a:r>
              <a:rPr kumimoji="1" lang="en-US" altLang="zh-CN" sz="2700" b="1">
                <a:solidFill>
                  <a:schemeClr val="tx2"/>
                </a:solidFill>
                <a:effectLst>
                  <a:outerShdw blurRad="38100" dist="38100" dir="2700000" algn="tl">
                    <a:srgbClr val="000000"/>
                  </a:outerShdw>
                </a:effectLst>
                <a:latin typeface="Times New Roman" panose="02020603050405020304" pitchFamily="18" charset="0"/>
                <a:ea typeface="黑体" panose="02010609060101010101" pitchFamily="49" charset="-122"/>
                <a:sym typeface="+mn-ea"/>
              </a:rPr>
              <a:t>  16/32              1/32</a:t>
            </a:r>
          </a:p>
        </p:txBody>
      </p:sp>
      <p:sp>
        <p:nvSpPr>
          <p:cNvPr id="90147" name="Rectangle 35"/>
          <p:cNvSpPr>
            <a:spLocks noChangeArrowheads="1"/>
          </p:cNvSpPr>
          <p:nvPr/>
        </p:nvSpPr>
        <p:spPr bwMode="auto">
          <a:xfrm>
            <a:off x="5344583" y="4648200"/>
            <a:ext cx="2032000" cy="381000"/>
          </a:xfrm>
          <a:prstGeom prst="rect">
            <a:avLst/>
          </a:prstGeom>
          <a:noFill/>
          <a:ln w="12700" cap="sq">
            <a:noFill/>
            <a:miter lim="800000"/>
            <a:headEnd type="none" w="sm" len="sm"/>
            <a:tailEnd type="none" w="sm" len="sm"/>
          </a:ln>
          <a:effectLst/>
        </p:spPr>
        <p:txBody>
          <a:bodyPr lIns="0" tIns="60958" rIns="0" bIns="60958"/>
          <a:lstStyle/>
          <a:p>
            <a:pPr marL="1913419" indent="-1913419" algn="just" defTabSz="1219170" fontAlgn="base">
              <a:lnSpc>
                <a:spcPct val="90000"/>
              </a:lnSpc>
              <a:spcBef>
                <a:spcPct val="20000"/>
              </a:spcBef>
              <a:spcAft>
                <a:spcPct val="0"/>
              </a:spcAft>
              <a:buClr>
                <a:schemeClr val="tx2"/>
              </a:buClr>
              <a:buSzPct val="75000"/>
              <a:defRPr/>
            </a:pPr>
            <a:r>
              <a:rPr kumimoji="1" lang="zh-CN" altLang="en-US" sz="2700" b="1" dirty="0">
                <a:solidFill>
                  <a:schemeClr val="tx2"/>
                </a:solidFill>
                <a:effectLst>
                  <a:outerShdw blurRad="38100" dist="38100" dir="2700000" algn="tl">
                    <a:srgbClr val="000000"/>
                  </a:outerShdw>
                </a:effectLst>
                <a:latin typeface="Times New Roman" panose="02020603050405020304" pitchFamily="18" charset="0"/>
                <a:ea typeface="黑体" panose="02010609060101010101" pitchFamily="49" charset="-122"/>
                <a:sym typeface="+mn-ea"/>
              </a:rPr>
              <a:t>后  概  率</a:t>
            </a:r>
          </a:p>
        </p:txBody>
      </p:sp>
      <p:sp>
        <p:nvSpPr>
          <p:cNvPr id="90148" name="Rectangle 36"/>
          <p:cNvSpPr>
            <a:spLocks noChangeArrowheads="1"/>
          </p:cNvSpPr>
          <p:nvPr/>
        </p:nvSpPr>
        <p:spPr bwMode="auto">
          <a:xfrm>
            <a:off x="7823201" y="4648200"/>
            <a:ext cx="3251200" cy="381000"/>
          </a:xfrm>
          <a:prstGeom prst="rect">
            <a:avLst/>
          </a:prstGeom>
          <a:noFill/>
          <a:ln w="12700" cap="sq">
            <a:noFill/>
            <a:miter lim="800000"/>
            <a:headEnd type="none" w="sm" len="sm"/>
            <a:tailEnd type="none" w="sm" len="sm"/>
          </a:ln>
          <a:effectLst/>
        </p:spPr>
        <p:txBody>
          <a:bodyPr lIns="121917" tIns="60958" rIns="121917" bIns="60958"/>
          <a:lstStyle/>
          <a:p>
            <a:pPr marL="1913419" indent="-1913419" algn="just" defTabSz="1219170" fontAlgn="base">
              <a:lnSpc>
                <a:spcPct val="90000"/>
              </a:lnSpc>
              <a:spcBef>
                <a:spcPct val="20000"/>
              </a:spcBef>
              <a:spcAft>
                <a:spcPct val="0"/>
              </a:spcAft>
              <a:buClr>
                <a:schemeClr val="tx2"/>
              </a:buClr>
              <a:buSzPct val="75000"/>
              <a:defRPr/>
            </a:pPr>
            <a:r>
              <a:rPr kumimoji="1" lang="en-US" altLang="zh-CN" sz="2700" b="1">
                <a:solidFill>
                  <a:schemeClr val="tx2"/>
                </a:solidFill>
                <a:effectLst>
                  <a:outerShdw blurRad="38100" dist="38100" dir="2700000" algn="tl">
                    <a:srgbClr val="000000"/>
                  </a:outerShdw>
                </a:effectLst>
                <a:latin typeface="Times New Roman" panose="02020603050405020304" pitchFamily="18" charset="0"/>
                <a:ea typeface="黑体" panose="02010609060101010101" pitchFamily="49" charset="-122"/>
                <a:sym typeface="+mn-ea"/>
              </a:rPr>
              <a:t>  16/17              1/17</a:t>
            </a:r>
          </a:p>
        </p:txBody>
      </p:sp>
      <p:sp>
        <p:nvSpPr>
          <p:cNvPr id="59426" name="Line 22"/>
          <p:cNvSpPr/>
          <p:nvPr/>
        </p:nvSpPr>
        <p:spPr>
          <a:xfrm>
            <a:off x="3352801" y="3657600"/>
            <a:ext cx="0" cy="533400"/>
          </a:xfrm>
          <a:prstGeom prst="line">
            <a:avLst/>
          </a:prstGeom>
          <a:ln w="12700" cap="sq" cmpd="sng">
            <a:solidFill>
              <a:schemeClr val="tx1"/>
            </a:solidFill>
            <a:prstDash val="solid"/>
            <a:round/>
            <a:headEnd type="none" w="sm" len="sm"/>
            <a:tailEnd type="none" w="sm" len="sm"/>
          </a:ln>
        </p:spPr>
      </p:sp>
      <p:sp>
        <p:nvSpPr>
          <p:cNvPr id="59427" name="Line 22"/>
          <p:cNvSpPr/>
          <p:nvPr/>
        </p:nvSpPr>
        <p:spPr>
          <a:xfrm>
            <a:off x="4064000" y="3733800"/>
            <a:ext cx="0" cy="533400"/>
          </a:xfrm>
          <a:prstGeom prst="line">
            <a:avLst/>
          </a:prstGeom>
          <a:ln w="12700" cap="sq" cmpd="sng">
            <a:solidFill>
              <a:schemeClr val="tx1"/>
            </a:solidFill>
            <a:prstDash val="solid"/>
            <a:round/>
            <a:headEnd type="none" w="sm" len="sm"/>
            <a:tailEnd type="none" w="sm" len="sm"/>
          </a:ln>
        </p:spPr>
      </p:sp>
      <p:sp>
        <p:nvSpPr>
          <p:cNvPr id="59428" name="TextBox 36"/>
          <p:cNvSpPr txBox="1"/>
          <p:nvPr/>
        </p:nvSpPr>
        <p:spPr>
          <a:xfrm>
            <a:off x="203202" y="5486401"/>
            <a:ext cx="11480801" cy="861770"/>
          </a:xfrm>
          <a:prstGeom prst="rect">
            <a:avLst/>
          </a:prstGeom>
          <a:noFill/>
          <a:ln w="12700">
            <a:noFill/>
          </a:ln>
        </p:spPr>
        <p:txBody>
          <a:bodyPr anchor="t" anchorCtr="0"/>
          <a:lstStyle>
            <a:defPPr>
              <a:defRPr lang="zh-CN"/>
            </a:defPPr>
            <a:lvl1pPr marL="1435064" indent="-1435064" algn="just">
              <a:lnSpc>
                <a:spcPct val="90000"/>
              </a:lnSpc>
              <a:spcBef>
                <a:spcPct val="20000"/>
              </a:spcBef>
              <a:buClr>
                <a:schemeClr val="tx2"/>
              </a:buClr>
              <a:buSzPct val="75000"/>
              <a:defRPr sz="2400" b="1">
                <a:latin typeface="黑体" pitchFamily="49" charset="-122"/>
                <a:ea typeface="黑体" pitchFamily="49" charset="-122"/>
              </a:defRPr>
            </a:lvl1pPr>
          </a:lstStyle>
          <a:p>
            <a:r>
              <a:rPr lang="en-US" altLang="zh-CN" dirty="0"/>
              <a:t>2.</a:t>
            </a:r>
            <a:r>
              <a:rPr lang="zh-CN" altLang="en-US" dirty="0"/>
              <a:t>当</a:t>
            </a:r>
            <a:r>
              <a:rPr lang="en-US" altLang="zh-CN" dirty="0"/>
              <a:t>Ⅰ3</a:t>
            </a:r>
            <a:r>
              <a:rPr lang="zh-CN" altLang="en-US" dirty="0"/>
              <a:t>的基因型为</a:t>
            </a:r>
            <a:r>
              <a:rPr lang="en-US" altLang="zh-CN" dirty="0"/>
              <a:t>X</a:t>
            </a:r>
            <a:r>
              <a:rPr lang="en-US" altLang="zh-CN" baseline="30000" dirty="0"/>
              <a:t>H</a:t>
            </a:r>
            <a:r>
              <a:rPr lang="en-US" altLang="zh-CN" dirty="0"/>
              <a:t>X</a:t>
            </a:r>
            <a:r>
              <a:rPr lang="en-US" altLang="zh-CN" baseline="30000" dirty="0"/>
              <a:t>h</a:t>
            </a:r>
            <a:r>
              <a:rPr lang="zh-CN" altLang="en-US" dirty="0"/>
              <a:t>时后代才有可能发病，可估算后代发病风险</a:t>
            </a:r>
            <a:endParaRPr lang="en-US" altLang="zh-CN" dirty="0"/>
          </a:p>
          <a:p>
            <a:endParaRPr lang="zh-CN" altLang="en-US" dirty="0"/>
          </a:p>
        </p:txBody>
      </p:sp>
    </p:spTree>
    <p:extLst>
      <p:ext uri="{BB962C8B-B14F-4D97-AF65-F5344CB8AC3E}">
        <p14:creationId xmlns:p14="http://schemas.microsoft.com/office/powerpoint/2010/main" val="151324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140"/>
                                        </p:tgtEl>
                                        <p:attrNameLst>
                                          <p:attrName>style.visibility</p:attrName>
                                        </p:attrNameLst>
                                      </p:cBhvr>
                                      <p:to>
                                        <p:strVal val="visible"/>
                                      </p:to>
                                    </p:set>
                                    <p:animEffect transition="in" filter="wipe(left)">
                                      <p:cBhvr>
                                        <p:cTn id="12" dur="500"/>
                                        <p:tgtEl>
                                          <p:spTgt spid="9014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01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01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901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9014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901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901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901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90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40" grpId="0"/>
      <p:bldP spid="90141" grpId="0"/>
      <p:bldP spid="90142" grpId="0"/>
      <p:bldP spid="90143" grpId="0"/>
      <p:bldP spid="90144" grpId="0"/>
      <p:bldP spid="90145" grpId="0"/>
      <p:bldP spid="90146" grpId="0"/>
      <p:bldP spid="90147" grpId="0"/>
      <p:bldP spid="90148"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7" name="Rectangle 2"/>
          <p:cNvSpPr>
            <a:spLocks noGrp="1" noRot="1"/>
          </p:cNvSpPr>
          <p:nvPr>
            <p:ph type="title"/>
          </p:nvPr>
        </p:nvSpPr>
        <p:spPr>
          <a:xfrm>
            <a:off x="1828801" y="1"/>
            <a:ext cx="8510588" cy="868363"/>
          </a:xfrm>
          <a:noFill/>
          <a:ln>
            <a:noFill/>
          </a:ln>
        </p:spPr>
        <p:txBody>
          <a:bodyPr anchor="t" anchorCtr="0"/>
          <a:lstStyle/>
          <a:p>
            <a:pPr eaLnBrk="1" hangingPunct="1"/>
            <a:r>
              <a:rPr lang="zh-CN" altLang="en-US" sz="3600" dirty="0"/>
              <a:t>常染色体隐性遗传病</a:t>
            </a:r>
            <a:r>
              <a:rPr lang="zh-CN" altLang="en-US" b="1" dirty="0"/>
              <a:t> </a:t>
            </a:r>
          </a:p>
        </p:txBody>
      </p:sp>
      <p:sp>
        <p:nvSpPr>
          <p:cNvPr id="60418" name="Rectangle 3"/>
          <p:cNvSpPr>
            <a:spLocks noGrp="1" noRot="1"/>
          </p:cNvSpPr>
          <p:nvPr>
            <p:ph idx="1"/>
          </p:nvPr>
        </p:nvSpPr>
        <p:spPr>
          <a:xfrm>
            <a:off x="1828801" y="838202"/>
            <a:ext cx="8540751" cy="4422775"/>
          </a:xfrm>
          <a:noFill/>
          <a:ln>
            <a:noFill/>
          </a:ln>
        </p:spPr>
        <p:txBody>
          <a:bodyPr anchor="t" anchorCtr="0"/>
          <a:lstStyle/>
          <a:p>
            <a:pPr eaLnBrk="1" hangingPunct="1">
              <a:buFont typeface="Wingdings" panose="05000000000000000000" pitchFamily="2" charset="2"/>
              <a:buNone/>
            </a:pPr>
            <a:r>
              <a:rPr lang="zh-CN" altLang="en-US" dirty="0"/>
              <a:t>先天聋哑</a:t>
            </a:r>
            <a:r>
              <a:rPr lang="en-US" altLang="zh-CN" dirty="0"/>
              <a:t>(Ⅲ</a:t>
            </a:r>
            <a:r>
              <a:rPr lang="en-US" altLang="zh-CN" baseline="-25000" dirty="0"/>
              <a:t>1</a:t>
            </a:r>
            <a:r>
              <a:rPr lang="en-US" altLang="zh-CN" dirty="0"/>
              <a:t>)</a:t>
            </a:r>
            <a:r>
              <a:rPr lang="zh-CN" altLang="en-US" dirty="0"/>
              <a:t>与他的姨表妹</a:t>
            </a:r>
            <a:r>
              <a:rPr lang="en-US" altLang="zh-CN" dirty="0"/>
              <a:t>(Ⅲ</a:t>
            </a:r>
            <a:r>
              <a:rPr lang="en-US" altLang="zh-CN" baseline="-25000" dirty="0"/>
              <a:t>2</a:t>
            </a:r>
            <a:r>
              <a:rPr lang="en-US" altLang="zh-CN" dirty="0"/>
              <a:t>)</a:t>
            </a:r>
            <a:r>
              <a:rPr lang="zh-CN" altLang="en-US" dirty="0"/>
              <a:t>婚后生有一女并不是聋哑</a:t>
            </a:r>
            <a:r>
              <a:rPr lang="en-US" altLang="zh-CN" dirty="0"/>
              <a:t>,</a:t>
            </a:r>
            <a:r>
              <a:rPr lang="zh-CN" altLang="en-US" dirty="0"/>
              <a:t>如果再生孩子</a:t>
            </a:r>
            <a:r>
              <a:rPr lang="en-US" altLang="zh-CN" dirty="0"/>
              <a:t>,</a:t>
            </a:r>
            <a:r>
              <a:rPr lang="zh-CN" altLang="en-US" dirty="0"/>
              <a:t>患先天性聋哑的概率是多少</a:t>
            </a:r>
            <a:r>
              <a:rPr lang="en-US" altLang="zh-CN" dirty="0"/>
              <a:t>?</a:t>
            </a:r>
          </a:p>
        </p:txBody>
      </p:sp>
      <p:grpSp>
        <p:nvGrpSpPr>
          <p:cNvPr id="60419" name="Group 39"/>
          <p:cNvGrpSpPr/>
          <p:nvPr/>
        </p:nvGrpSpPr>
        <p:grpSpPr>
          <a:xfrm>
            <a:off x="2895600" y="2286002"/>
            <a:ext cx="2819400" cy="3371851"/>
            <a:chOff x="864" y="1968"/>
            <a:chExt cx="1776" cy="2124"/>
          </a:xfrm>
        </p:grpSpPr>
        <p:sp>
          <p:nvSpPr>
            <p:cNvPr id="60420" name="Line 10"/>
            <p:cNvSpPr/>
            <p:nvPr/>
          </p:nvSpPr>
          <p:spPr>
            <a:xfrm>
              <a:off x="1824" y="2352"/>
              <a:ext cx="528" cy="0"/>
            </a:xfrm>
            <a:prstGeom prst="line">
              <a:avLst/>
            </a:prstGeom>
            <a:ln w="12700" cap="sq" cmpd="sng">
              <a:solidFill>
                <a:schemeClr val="tx1"/>
              </a:solidFill>
              <a:prstDash val="solid"/>
              <a:round/>
              <a:headEnd type="none" w="sm" len="sm"/>
              <a:tailEnd type="none" w="sm" len="sm"/>
            </a:ln>
          </p:spPr>
        </p:sp>
        <p:sp>
          <p:nvSpPr>
            <p:cNvPr id="60421" name="Line 11"/>
            <p:cNvSpPr/>
            <p:nvPr/>
          </p:nvSpPr>
          <p:spPr>
            <a:xfrm>
              <a:off x="1824" y="2352"/>
              <a:ext cx="0" cy="192"/>
            </a:xfrm>
            <a:prstGeom prst="line">
              <a:avLst/>
            </a:prstGeom>
            <a:ln w="12700" cap="sq" cmpd="sng">
              <a:solidFill>
                <a:schemeClr val="tx1"/>
              </a:solidFill>
              <a:prstDash val="solid"/>
              <a:round/>
              <a:headEnd type="none" w="sm" len="sm"/>
              <a:tailEnd type="none" w="sm" len="sm"/>
            </a:ln>
          </p:spPr>
        </p:sp>
        <p:sp>
          <p:nvSpPr>
            <p:cNvPr id="60422" name="Line 12"/>
            <p:cNvSpPr/>
            <p:nvPr/>
          </p:nvSpPr>
          <p:spPr>
            <a:xfrm>
              <a:off x="2352" y="2352"/>
              <a:ext cx="0" cy="192"/>
            </a:xfrm>
            <a:prstGeom prst="line">
              <a:avLst/>
            </a:prstGeom>
            <a:ln w="12700" cap="sq" cmpd="sng">
              <a:solidFill>
                <a:schemeClr val="tx1"/>
              </a:solidFill>
              <a:prstDash val="solid"/>
              <a:round/>
              <a:headEnd type="none" w="sm" len="sm"/>
              <a:tailEnd type="none" w="sm" len="sm"/>
            </a:ln>
          </p:spPr>
        </p:sp>
        <p:sp>
          <p:nvSpPr>
            <p:cNvPr id="60423" name="Line 13"/>
            <p:cNvSpPr/>
            <p:nvPr/>
          </p:nvSpPr>
          <p:spPr>
            <a:xfrm>
              <a:off x="1920" y="3120"/>
              <a:ext cx="351" cy="0"/>
            </a:xfrm>
            <a:prstGeom prst="line">
              <a:avLst/>
            </a:prstGeom>
            <a:ln w="12700" cap="sq" cmpd="sng">
              <a:solidFill>
                <a:schemeClr val="tx1"/>
              </a:solidFill>
              <a:prstDash val="solid"/>
              <a:round/>
              <a:headEnd type="none" w="sm" len="sm"/>
              <a:tailEnd type="none" w="sm" len="sm"/>
            </a:ln>
          </p:spPr>
        </p:sp>
        <p:sp>
          <p:nvSpPr>
            <p:cNvPr id="60424" name="Text Box 14"/>
            <p:cNvSpPr txBox="1"/>
            <p:nvPr/>
          </p:nvSpPr>
          <p:spPr>
            <a:xfrm>
              <a:off x="864" y="1968"/>
              <a:ext cx="192" cy="1917"/>
            </a:xfrm>
            <a:prstGeom prst="rect">
              <a:avLst/>
            </a:prstGeom>
            <a:noFill/>
            <a:ln w="12700">
              <a:noFill/>
            </a:ln>
          </p:spPr>
          <p:txBody>
            <a:bodyPr lIns="0" tIns="0" rIns="0" bIns="0"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Ⅰ</a:t>
              </a:r>
            </a:p>
            <a:p>
              <a:pPr>
                <a:spcBef>
                  <a:spcPct val="50000"/>
                </a:spcBef>
              </a:pPr>
              <a:endParaRPr lang="en-US" altLang="zh-CN" sz="100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Ⅱ</a:t>
              </a:r>
            </a:p>
            <a:p>
              <a:endParaRPr lang="en-US" altLang="zh-CN" sz="220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Ⅲ</a:t>
              </a:r>
            </a:p>
            <a:p>
              <a:pPr>
                <a:spcBef>
                  <a:spcPct val="20000"/>
                </a:spcBef>
              </a:pPr>
              <a:endParaRPr lang="en-US" altLang="zh-CN" sz="240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Ⅳ</a:t>
              </a:r>
            </a:p>
          </p:txBody>
        </p:sp>
        <p:sp>
          <p:nvSpPr>
            <p:cNvPr id="60425" name="Line 15"/>
            <p:cNvSpPr/>
            <p:nvPr/>
          </p:nvSpPr>
          <p:spPr>
            <a:xfrm>
              <a:off x="1920" y="3093"/>
              <a:ext cx="351" cy="0"/>
            </a:xfrm>
            <a:prstGeom prst="line">
              <a:avLst/>
            </a:prstGeom>
            <a:ln w="12700" cap="sq" cmpd="sng">
              <a:solidFill>
                <a:schemeClr val="tx1"/>
              </a:solidFill>
              <a:prstDash val="solid"/>
              <a:round/>
              <a:headEnd type="none" w="sm" len="sm"/>
              <a:tailEnd type="none" w="sm" len="sm"/>
            </a:ln>
          </p:spPr>
        </p:sp>
        <p:sp>
          <p:nvSpPr>
            <p:cNvPr id="60426" name="Line 16"/>
            <p:cNvSpPr/>
            <p:nvPr/>
          </p:nvSpPr>
          <p:spPr>
            <a:xfrm>
              <a:off x="1824" y="2688"/>
              <a:ext cx="0" cy="331"/>
            </a:xfrm>
            <a:prstGeom prst="line">
              <a:avLst/>
            </a:prstGeom>
            <a:ln w="12700" cap="sq" cmpd="sng">
              <a:solidFill>
                <a:schemeClr val="tx1"/>
              </a:solidFill>
              <a:prstDash val="solid"/>
              <a:round/>
              <a:headEnd type="none" w="sm" len="sm"/>
              <a:tailEnd type="none" w="sm" len="sm"/>
            </a:ln>
          </p:spPr>
        </p:sp>
        <p:sp>
          <p:nvSpPr>
            <p:cNvPr id="60427" name="Line 17"/>
            <p:cNvSpPr/>
            <p:nvPr/>
          </p:nvSpPr>
          <p:spPr>
            <a:xfrm>
              <a:off x="2352" y="2688"/>
              <a:ext cx="0" cy="331"/>
            </a:xfrm>
            <a:prstGeom prst="line">
              <a:avLst/>
            </a:prstGeom>
            <a:ln w="12700" cap="sq" cmpd="sng">
              <a:solidFill>
                <a:schemeClr val="tx1"/>
              </a:solidFill>
              <a:prstDash val="solid"/>
              <a:round/>
              <a:headEnd type="none" w="sm" len="sm"/>
              <a:tailEnd type="none" w="sm" len="sm"/>
            </a:ln>
          </p:spPr>
        </p:sp>
        <p:sp>
          <p:nvSpPr>
            <p:cNvPr id="60428" name="Rectangle 18"/>
            <p:cNvSpPr/>
            <p:nvPr/>
          </p:nvSpPr>
          <p:spPr>
            <a:xfrm>
              <a:off x="1728" y="3024"/>
              <a:ext cx="175" cy="166"/>
            </a:xfrm>
            <a:prstGeom prst="rect">
              <a:avLst/>
            </a:prstGeom>
            <a:solidFill>
              <a:schemeClr val="hlink"/>
            </a:solidFill>
            <a:ln w="12700" cap="sq" cmpd="sng">
              <a:solidFill>
                <a:schemeClr val="folHlink"/>
              </a:solidFill>
              <a:prstDash val="solid"/>
              <a:miter/>
              <a:headEnd type="none" w="sm" len="sm"/>
              <a:tailEnd type="none" w="sm" len="sm"/>
            </a:ln>
          </p:spPr>
          <p:txBody>
            <a:bodyPr wrap="none" anchor="ctr" anchorCtr="0"/>
            <a:lstStyle/>
            <a:p>
              <a:pPr algn="ctr"/>
              <a:endParaRPr lang="zh-CN" altLang="zh-CN" sz="1351" dirty="0">
                <a:solidFill>
                  <a:schemeClr val="bg2"/>
                </a:solidFill>
                <a:latin typeface="Comic Sans MS" panose="030F0702030302020204" pitchFamily="66" charset="0"/>
                <a:ea typeface="宋体" panose="02010600030101010101" pitchFamily="2" charset="-122"/>
              </a:endParaRPr>
            </a:p>
          </p:txBody>
        </p:sp>
        <p:sp>
          <p:nvSpPr>
            <p:cNvPr id="60429" name="Oval 19"/>
            <p:cNvSpPr/>
            <p:nvPr/>
          </p:nvSpPr>
          <p:spPr>
            <a:xfrm>
              <a:off x="2256" y="2544"/>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0430" name="Text Box 20"/>
            <p:cNvSpPr txBox="1"/>
            <p:nvPr/>
          </p:nvSpPr>
          <p:spPr>
            <a:xfrm>
              <a:off x="1824" y="2640"/>
              <a:ext cx="816" cy="252"/>
            </a:xfrm>
            <a:prstGeom prst="rect">
              <a:avLst/>
            </a:prstGeom>
            <a:noFill/>
            <a:ln w="12700">
              <a:noFill/>
            </a:ln>
          </p:spPr>
          <p:txBody>
            <a:bodyPr anchor="t" anchorCtr="0">
              <a:spAutoFit/>
            </a:bodyPr>
            <a:lstStyle/>
            <a:p>
              <a:pPr>
                <a:spcBef>
                  <a:spcPct val="50000"/>
                </a:spcBef>
              </a:pPr>
              <a:r>
                <a:rPr lang="en-US" altLang="zh-CN" sz="2000" dirty="0">
                  <a:latin typeface="Times New Roman" panose="02020603050405020304" pitchFamily="18" charset="0"/>
                  <a:ea typeface="宋体" panose="02010600030101010101" pitchFamily="2" charset="-122"/>
                </a:rPr>
                <a:t> 1          2</a:t>
              </a:r>
            </a:p>
          </p:txBody>
        </p:sp>
        <p:sp>
          <p:nvSpPr>
            <p:cNvPr id="60431" name="Oval 21"/>
            <p:cNvSpPr/>
            <p:nvPr/>
          </p:nvSpPr>
          <p:spPr>
            <a:xfrm>
              <a:off x="1728" y="2544"/>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0432" name="Text Box 22"/>
            <p:cNvSpPr txBox="1"/>
            <p:nvPr/>
          </p:nvSpPr>
          <p:spPr>
            <a:xfrm>
              <a:off x="1824" y="3168"/>
              <a:ext cx="816" cy="252"/>
            </a:xfrm>
            <a:prstGeom prst="rect">
              <a:avLst/>
            </a:prstGeom>
            <a:noFill/>
            <a:ln w="12700">
              <a:noFill/>
            </a:ln>
          </p:spPr>
          <p:txBody>
            <a:bodyPr anchor="t" anchorCtr="0">
              <a:spAutoFit/>
            </a:bodyPr>
            <a:lstStyle/>
            <a:p>
              <a:pPr>
                <a:spcBef>
                  <a:spcPct val="50000"/>
                </a:spcBef>
              </a:pPr>
              <a:r>
                <a:rPr lang="en-US" altLang="zh-CN" sz="2000" dirty="0">
                  <a:latin typeface="Times New Roman" panose="02020603050405020304" pitchFamily="18" charset="0"/>
                  <a:ea typeface="宋体" panose="02010600030101010101" pitchFamily="2" charset="-122"/>
                </a:rPr>
                <a:t> 1          2</a:t>
              </a:r>
            </a:p>
          </p:txBody>
        </p:sp>
        <p:sp>
          <p:nvSpPr>
            <p:cNvPr id="60433" name="Oval 23"/>
            <p:cNvSpPr/>
            <p:nvPr/>
          </p:nvSpPr>
          <p:spPr>
            <a:xfrm>
              <a:off x="2256" y="3024"/>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0434" name="Line 24"/>
            <p:cNvSpPr/>
            <p:nvPr/>
          </p:nvSpPr>
          <p:spPr>
            <a:xfrm>
              <a:off x="2088" y="3120"/>
              <a:ext cx="0" cy="336"/>
            </a:xfrm>
            <a:prstGeom prst="line">
              <a:avLst/>
            </a:prstGeom>
            <a:ln w="12700" cap="sq" cmpd="sng">
              <a:solidFill>
                <a:schemeClr val="tx1"/>
              </a:solidFill>
              <a:prstDash val="solid"/>
              <a:round/>
              <a:headEnd type="none" w="sm" len="sm"/>
              <a:tailEnd type="none" w="sm" len="sm"/>
            </a:ln>
          </p:spPr>
        </p:sp>
        <p:sp>
          <p:nvSpPr>
            <p:cNvPr id="60435" name="Line 25"/>
            <p:cNvSpPr/>
            <p:nvPr/>
          </p:nvSpPr>
          <p:spPr>
            <a:xfrm>
              <a:off x="1824" y="3456"/>
              <a:ext cx="528" cy="0"/>
            </a:xfrm>
            <a:prstGeom prst="line">
              <a:avLst/>
            </a:prstGeom>
            <a:ln w="12700" cap="sq" cmpd="sng">
              <a:solidFill>
                <a:schemeClr val="tx1"/>
              </a:solidFill>
              <a:prstDash val="solid"/>
              <a:round/>
              <a:headEnd type="none" w="sm" len="sm"/>
              <a:tailEnd type="none" w="sm" len="sm"/>
            </a:ln>
          </p:spPr>
        </p:sp>
        <p:sp>
          <p:nvSpPr>
            <p:cNvPr id="60436" name="Line 26"/>
            <p:cNvSpPr/>
            <p:nvPr/>
          </p:nvSpPr>
          <p:spPr>
            <a:xfrm>
              <a:off x="1824" y="3456"/>
              <a:ext cx="0" cy="240"/>
            </a:xfrm>
            <a:prstGeom prst="line">
              <a:avLst/>
            </a:prstGeom>
            <a:ln w="12700" cap="sq" cmpd="sng">
              <a:solidFill>
                <a:schemeClr val="tx1"/>
              </a:solidFill>
              <a:prstDash val="solid"/>
              <a:round/>
              <a:headEnd type="none" w="sm" len="sm"/>
              <a:tailEnd type="none" w="sm" len="sm"/>
            </a:ln>
          </p:spPr>
        </p:sp>
        <p:sp>
          <p:nvSpPr>
            <p:cNvPr id="60437" name="Line 27"/>
            <p:cNvSpPr/>
            <p:nvPr/>
          </p:nvSpPr>
          <p:spPr>
            <a:xfrm>
              <a:off x="2352" y="3456"/>
              <a:ext cx="0" cy="240"/>
            </a:xfrm>
            <a:prstGeom prst="line">
              <a:avLst/>
            </a:prstGeom>
            <a:ln w="12700" cap="sq" cmpd="sng">
              <a:solidFill>
                <a:schemeClr val="tx1"/>
              </a:solidFill>
              <a:prstDash val="solid"/>
              <a:round/>
              <a:headEnd type="none" w="sm" len="sm"/>
              <a:tailEnd type="none" w="sm" len="sm"/>
            </a:ln>
          </p:spPr>
        </p:sp>
        <p:sp>
          <p:nvSpPr>
            <p:cNvPr id="60438" name="Oval 28"/>
            <p:cNvSpPr/>
            <p:nvPr/>
          </p:nvSpPr>
          <p:spPr>
            <a:xfrm>
              <a:off x="1728" y="3696"/>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0439" name="AutoShape 29"/>
            <p:cNvSpPr/>
            <p:nvPr/>
          </p:nvSpPr>
          <p:spPr>
            <a:xfrm>
              <a:off x="2256" y="3696"/>
              <a:ext cx="192" cy="192"/>
            </a:xfrm>
            <a:prstGeom prst="diamond">
              <a:avLst/>
            </a:prstGeom>
            <a:noFill/>
            <a:ln w="12700" cap="sq" cmpd="sng">
              <a:solidFill>
                <a:schemeClr val="tx1"/>
              </a:solidFill>
              <a:prstDash val="solid"/>
              <a:miter/>
              <a:headEnd type="none" w="med" len="med"/>
              <a:tailEnd type="none" w="med" len="med"/>
            </a:ln>
          </p:spPr>
          <p:txBody>
            <a:bodyPr vert="eaVert"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0440" name="Text Box 30"/>
            <p:cNvSpPr txBox="1"/>
            <p:nvPr/>
          </p:nvSpPr>
          <p:spPr>
            <a:xfrm>
              <a:off x="1776" y="3840"/>
              <a:ext cx="816" cy="252"/>
            </a:xfrm>
            <a:prstGeom prst="rect">
              <a:avLst/>
            </a:prstGeom>
            <a:noFill/>
            <a:ln w="12700">
              <a:noFill/>
            </a:ln>
          </p:spPr>
          <p:txBody>
            <a:bodyPr anchor="t" anchorCtr="0">
              <a:spAutoFit/>
            </a:bodyPr>
            <a:lstStyle/>
            <a:p>
              <a:pPr>
                <a:spcBef>
                  <a:spcPct val="50000"/>
                </a:spcBef>
              </a:pPr>
              <a:r>
                <a:rPr lang="en-US" altLang="zh-CN" sz="2000" dirty="0">
                  <a:latin typeface="Times New Roman" panose="02020603050405020304" pitchFamily="18" charset="0"/>
                  <a:ea typeface="宋体" panose="02010600030101010101" pitchFamily="2" charset="-122"/>
                </a:rPr>
                <a:t> 1          2</a:t>
              </a:r>
            </a:p>
          </p:txBody>
        </p:sp>
        <p:sp>
          <p:nvSpPr>
            <p:cNvPr id="60441" name="Line 31"/>
            <p:cNvSpPr/>
            <p:nvPr/>
          </p:nvSpPr>
          <p:spPr>
            <a:xfrm>
              <a:off x="2087" y="2112"/>
              <a:ext cx="0" cy="240"/>
            </a:xfrm>
            <a:prstGeom prst="line">
              <a:avLst/>
            </a:prstGeom>
            <a:ln w="12700" cap="sq" cmpd="sng">
              <a:solidFill>
                <a:schemeClr val="tx1"/>
              </a:solidFill>
              <a:prstDash val="solid"/>
              <a:round/>
              <a:headEnd type="none" w="sm" len="sm"/>
              <a:tailEnd type="none" w="sm" len="sm"/>
            </a:ln>
          </p:spPr>
        </p:sp>
        <p:sp>
          <p:nvSpPr>
            <p:cNvPr id="60442" name="Line 32"/>
            <p:cNvSpPr/>
            <p:nvPr/>
          </p:nvSpPr>
          <p:spPr>
            <a:xfrm>
              <a:off x="1824" y="2112"/>
              <a:ext cx="528" cy="0"/>
            </a:xfrm>
            <a:prstGeom prst="line">
              <a:avLst/>
            </a:prstGeom>
            <a:ln w="12700" cap="sq" cmpd="sng">
              <a:solidFill>
                <a:schemeClr val="tx1"/>
              </a:solidFill>
              <a:prstDash val="solid"/>
              <a:round/>
              <a:headEnd type="none" w="sm" len="sm"/>
              <a:tailEnd type="none" w="sm" len="sm"/>
            </a:ln>
          </p:spPr>
        </p:sp>
        <p:sp>
          <p:nvSpPr>
            <p:cNvPr id="60443" name="Oval 36"/>
            <p:cNvSpPr/>
            <p:nvPr/>
          </p:nvSpPr>
          <p:spPr>
            <a:xfrm>
              <a:off x="2352" y="2016"/>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0444" name="Rectangle 38"/>
            <p:cNvSpPr/>
            <p:nvPr/>
          </p:nvSpPr>
          <p:spPr>
            <a:xfrm>
              <a:off x="1632" y="2016"/>
              <a:ext cx="175" cy="166"/>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3"/>
          <p:cNvSpPr/>
          <p:nvPr/>
        </p:nvSpPr>
        <p:spPr>
          <a:xfrm>
            <a:off x="1905000" y="96390"/>
            <a:ext cx="7467600" cy="1371600"/>
          </a:xfrm>
          <a:prstGeom prst="rect">
            <a:avLst/>
          </a:prstGeom>
          <a:noFill/>
          <a:ln w="12700">
            <a:noFill/>
          </a:ln>
        </p:spPr>
        <p:txBody>
          <a:bodyPr anchor="t" anchorCtr="0"/>
          <a:lstStyle/>
          <a:p>
            <a:pPr marL="1435064" indent="-1435064" algn="just">
              <a:lnSpc>
                <a:spcPct val="90000"/>
              </a:lnSpc>
              <a:spcBef>
                <a:spcPct val="20000"/>
              </a:spcBef>
              <a:buClr>
                <a:schemeClr val="tx2"/>
              </a:buClr>
              <a:buSzPct val="75000"/>
            </a:pPr>
            <a:r>
              <a:rPr lang="zh-CN" altLang="en-US" sz="1351" dirty="0">
                <a:solidFill>
                  <a:schemeClr val="tx2"/>
                </a:solidFill>
                <a:latin typeface="Book Antiqua" panose="02040602050305030304" pitchFamily="18" charset="0"/>
                <a:ea typeface="宋体" panose="02010600030101010101" pitchFamily="2" charset="-122"/>
              </a:rPr>
              <a:t>          常染色体隐性遗传病</a:t>
            </a:r>
            <a:endParaRPr lang="en-US" altLang="zh-CN" sz="1351" dirty="0">
              <a:solidFill>
                <a:schemeClr val="tx2"/>
              </a:solidFill>
              <a:latin typeface="Book Antiqua" panose="02040602050305030304" pitchFamily="18" charset="0"/>
              <a:ea typeface="宋体" panose="02010600030101010101" pitchFamily="2" charset="-122"/>
            </a:endParaRPr>
          </a:p>
          <a:p>
            <a:pPr marL="1435064" indent="-1435064" algn="just">
              <a:lnSpc>
                <a:spcPct val="90000"/>
              </a:lnSpc>
              <a:spcBef>
                <a:spcPct val="20000"/>
              </a:spcBef>
              <a:buClr>
                <a:schemeClr val="tx2"/>
              </a:buClr>
              <a:buSzPct val="75000"/>
            </a:pPr>
            <a:endParaRPr lang="en-US" altLang="zh-CN" sz="1351" dirty="0">
              <a:solidFill>
                <a:schemeClr val="tx2"/>
              </a:solidFill>
              <a:latin typeface="Book Antiqua" panose="02040602050305030304" pitchFamily="18" charset="0"/>
              <a:ea typeface="宋体" panose="02010600030101010101" pitchFamily="2" charset="-122"/>
            </a:endParaRPr>
          </a:p>
          <a:p>
            <a:pPr marL="1435064" indent="-1435064" algn="just">
              <a:lnSpc>
                <a:spcPct val="90000"/>
              </a:lnSpc>
              <a:spcBef>
                <a:spcPct val="20000"/>
              </a:spcBef>
              <a:buClr>
                <a:schemeClr val="tx2"/>
              </a:buClr>
              <a:buSzPct val="75000"/>
            </a:pPr>
            <a:r>
              <a:rPr lang="zh-CN" altLang="en-US" sz="2600" dirty="0">
                <a:solidFill>
                  <a:schemeClr val="tx2"/>
                </a:solidFill>
                <a:latin typeface="Times New Roman" panose="02020603050405020304" pitchFamily="18" charset="0"/>
                <a:ea typeface="宋体" panose="02010600030101010101" pitchFamily="2" charset="-122"/>
              </a:rPr>
              <a:t>根据子女数量估计</a:t>
            </a:r>
            <a:r>
              <a:rPr lang="en-US" altLang="zh-CN" sz="2400" dirty="0">
                <a:solidFill>
                  <a:schemeClr val="tx2"/>
                </a:solidFill>
                <a:latin typeface="Book Antiqua" panose="02040602050305030304" pitchFamily="18" charset="0"/>
                <a:ea typeface="宋体" panose="02010600030101010101" pitchFamily="2" charset="-122"/>
              </a:rPr>
              <a:t>Ⅳ</a:t>
            </a:r>
            <a:r>
              <a:rPr lang="en-US" altLang="zh-CN" sz="1351" dirty="0">
                <a:solidFill>
                  <a:schemeClr val="tx2"/>
                </a:solidFill>
                <a:latin typeface="Book Antiqua" panose="02040602050305030304" pitchFamily="18" charset="0"/>
                <a:ea typeface="宋体" panose="02010600030101010101" pitchFamily="2" charset="-122"/>
              </a:rPr>
              <a:t>2</a:t>
            </a:r>
            <a:r>
              <a:rPr lang="zh-CN" altLang="en-US" sz="2400" dirty="0">
                <a:solidFill>
                  <a:schemeClr val="tx2"/>
                </a:solidFill>
                <a:latin typeface="Book Antiqua" panose="02040602050305030304" pitchFamily="18" charset="0"/>
                <a:ea typeface="宋体" panose="02010600030101010101" pitchFamily="2" charset="-122"/>
              </a:rPr>
              <a:t>的患病风险</a:t>
            </a:r>
          </a:p>
        </p:txBody>
      </p:sp>
      <p:grpSp>
        <p:nvGrpSpPr>
          <p:cNvPr id="2" name="Group 4"/>
          <p:cNvGrpSpPr/>
          <p:nvPr/>
        </p:nvGrpSpPr>
        <p:grpSpPr>
          <a:xfrm>
            <a:off x="1981200" y="2153792"/>
            <a:ext cx="2819400" cy="3752851"/>
            <a:chOff x="480" y="1584"/>
            <a:chExt cx="1776" cy="2364"/>
          </a:xfrm>
        </p:grpSpPr>
        <p:sp>
          <p:nvSpPr>
            <p:cNvPr id="61443" name="Rectangle 5"/>
            <p:cNvSpPr/>
            <p:nvPr/>
          </p:nvSpPr>
          <p:spPr>
            <a:xfrm>
              <a:off x="1223" y="1834"/>
              <a:ext cx="175" cy="166"/>
            </a:xfrm>
            <a:prstGeom prst="rect">
              <a:avLst/>
            </a:prstGeom>
            <a:solidFill>
              <a:srgbClr val="FF00FF"/>
            </a:solidFill>
            <a:ln w="12700" cap="sq" cmpd="sng">
              <a:solidFill>
                <a:srgbClr val="FF00FF"/>
              </a:solidFill>
              <a:prstDash val="solid"/>
              <a:miter/>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1444" name="Rectangle 6"/>
            <p:cNvSpPr/>
            <p:nvPr/>
          </p:nvSpPr>
          <p:spPr>
            <a:xfrm>
              <a:off x="839" y="1834"/>
              <a:ext cx="175" cy="166"/>
            </a:xfrm>
            <a:prstGeom prst="rect">
              <a:avLst/>
            </a:prstGeom>
            <a:solidFill>
              <a:srgbClr val="FF00FF"/>
            </a:solidFill>
            <a:ln w="12700" cap="sq" cmpd="sng">
              <a:solidFill>
                <a:srgbClr val="FF00FF"/>
              </a:solidFill>
              <a:prstDash val="solid"/>
              <a:miter/>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grpSp>
          <p:nvGrpSpPr>
            <p:cNvPr id="61445" name="Group 7"/>
            <p:cNvGrpSpPr/>
            <p:nvPr/>
          </p:nvGrpSpPr>
          <p:grpSpPr>
            <a:xfrm>
              <a:off x="480" y="1584"/>
              <a:ext cx="1776" cy="2364"/>
              <a:chOff x="480" y="1584"/>
              <a:chExt cx="1776" cy="2364"/>
            </a:xfrm>
          </p:grpSpPr>
          <p:sp>
            <p:nvSpPr>
              <p:cNvPr id="61446" name="Line 8"/>
              <p:cNvSpPr/>
              <p:nvPr/>
            </p:nvSpPr>
            <p:spPr>
              <a:xfrm>
                <a:off x="1440" y="2208"/>
                <a:ext cx="528" cy="0"/>
              </a:xfrm>
              <a:prstGeom prst="line">
                <a:avLst/>
              </a:prstGeom>
              <a:ln w="12700" cap="sq" cmpd="sng">
                <a:solidFill>
                  <a:schemeClr val="tx1"/>
                </a:solidFill>
                <a:prstDash val="solid"/>
                <a:round/>
                <a:headEnd type="none" w="sm" len="sm"/>
                <a:tailEnd type="none" w="sm" len="sm"/>
              </a:ln>
            </p:spPr>
          </p:sp>
          <p:sp>
            <p:nvSpPr>
              <p:cNvPr id="61447" name="Line 9"/>
              <p:cNvSpPr/>
              <p:nvPr/>
            </p:nvSpPr>
            <p:spPr>
              <a:xfrm>
                <a:off x="1440" y="2208"/>
                <a:ext cx="0" cy="192"/>
              </a:xfrm>
              <a:prstGeom prst="line">
                <a:avLst/>
              </a:prstGeom>
              <a:ln w="12700" cap="sq" cmpd="sng">
                <a:solidFill>
                  <a:schemeClr val="tx1"/>
                </a:solidFill>
                <a:prstDash val="solid"/>
                <a:round/>
                <a:headEnd type="none" w="sm" len="sm"/>
                <a:tailEnd type="none" w="sm" len="sm"/>
              </a:ln>
            </p:spPr>
          </p:sp>
          <p:sp>
            <p:nvSpPr>
              <p:cNvPr id="61448" name="Line 10"/>
              <p:cNvSpPr/>
              <p:nvPr/>
            </p:nvSpPr>
            <p:spPr>
              <a:xfrm>
                <a:off x="1968" y="2208"/>
                <a:ext cx="0" cy="192"/>
              </a:xfrm>
              <a:prstGeom prst="line">
                <a:avLst/>
              </a:prstGeom>
              <a:ln w="12700" cap="sq" cmpd="sng">
                <a:solidFill>
                  <a:schemeClr val="tx1"/>
                </a:solidFill>
                <a:prstDash val="solid"/>
                <a:round/>
                <a:headEnd type="none" w="sm" len="sm"/>
                <a:tailEnd type="none" w="sm" len="sm"/>
              </a:ln>
            </p:spPr>
          </p:sp>
          <p:sp>
            <p:nvSpPr>
              <p:cNvPr id="61449" name="Line 11"/>
              <p:cNvSpPr/>
              <p:nvPr/>
            </p:nvSpPr>
            <p:spPr>
              <a:xfrm>
                <a:off x="1536" y="2976"/>
                <a:ext cx="351" cy="0"/>
              </a:xfrm>
              <a:prstGeom prst="line">
                <a:avLst/>
              </a:prstGeom>
              <a:ln w="12700" cap="sq" cmpd="sng">
                <a:solidFill>
                  <a:schemeClr val="tx1"/>
                </a:solidFill>
                <a:prstDash val="solid"/>
                <a:round/>
                <a:headEnd type="none" w="sm" len="sm"/>
                <a:tailEnd type="none" w="sm" len="sm"/>
              </a:ln>
            </p:spPr>
          </p:sp>
          <p:sp>
            <p:nvSpPr>
              <p:cNvPr id="61450" name="Text Box 12"/>
              <p:cNvSpPr txBox="1"/>
              <p:nvPr/>
            </p:nvSpPr>
            <p:spPr>
              <a:xfrm>
                <a:off x="480" y="1824"/>
                <a:ext cx="192" cy="1917"/>
              </a:xfrm>
              <a:prstGeom prst="rect">
                <a:avLst/>
              </a:prstGeom>
              <a:noFill/>
              <a:ln w="12700">
                <a:noFill/>
              </a:ln>
            </p:spPr>
            <p:txBody>
              <a:bodyPr lIns="0" tIns="0" rIns="0" bIns="0" anchor="t" anchorCtr="0">
                <a:spAutoFit/>
              </a:bodyPr>
              <a:lstStyle/>
              <a:p>
                <a:pPr>
                  <a:spcBef>
                    <a:spcPct val="50000"/>
                  </a:spcBef>
                </a:pPr>
                <a:r>
                  <a:rPr lang="en-US" altLang="zh-CN" sz="2400" dirty="0">
                    <a:latin typeface="Times New Roman" panose="02020603050405020304" pitchFamily="18" charset="0"/>
                    <a:ea typeface="宋体" panose="02010600030101010101" pitchFamily="2" charset="-122"/>
                  </a:rPr>
                  <a:t>Ⅰ</a:t>
                </a:r>
              </a:p>
              <a:p>
                <a:pPr>
                  <a:spcBef>
                    <a:spcPct val="50000"/>
                  </a:spcBef>
                </a:pPr>
                <a:endParaRPr lang="en-US" altLang="zh-CN" sz="100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Ⅱ</a:t>
                </a:r>
              </a:p>
              <a:p>
                <a:endParaRPr lang="en-US" altLang="zh-CN" sz="220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Ⅲ</a:t>
                </a:r>
              </a:p>
              <a:p>
                <a:pPr>
                  <a:spcBef>
                    <a:spcPct val="20000"/>
                  </a:spcBef>
                </a:pPr>
                <a:endParaRPr lang="en-US" altLang="zh-CN" sz="2400" dirty="0">
                  <a:latin typeface="Times New Roman" panose="02020603050405020304" pitchFamily="18" charset="0"/>
                  <a:ea typeface="宋体" panose="02010600030101010101" pitchFamily="2" charset="-122"/>
                </a:endParaRPr>
              </a:p>
              <a:p>
                <a:pPr>
                  <a:spcBef>
                    <a:spcPct val="50000"/>
                  </a:spcBef>
                </a:pPr>
                <a:r>
                  <a:rPr lang="en-US" altLang="zh-CN" sz="2400" dirty="0">
                    <a:latin typeface="Times New Roman" panose="02020603050405020304" pitchFamily="18" charset="0"/>
                    <a:ea typeface="宋体" panose="02010600030101010101" pitchFamily="2" charset="-122"/>
                  </a:rPr>
                  <a:t>Ⅳ</a:t>
                </a:r>
              </a:p>
            </p:txBody>
          </p:sp>
          <p:sp>
            <p:nvSpPr>
              <p:cNvPr id="61451" name="Line 13"/>
              <p:cNvSpPr/>
              <p:nvPr/>
            </p:nvSpPr>
            <p:spPr>
              <a:xfrm>
                <a:off x="1536" y="2949"/>
                <a:ext cx="351" cy="0"/>
              </a:xfrm>
              <a:prstGeom prst="line">
                <a:avLst/>
              </a:prstGeom>
              <a:ln w="12700" cap="sq" cmpd="sng">
                <a:solidFill>
                  <a:schemeClr val="tx1"/>
                </a:solidFill>
                <a:prstDash val="solid"/>
                <a:round/>
                <a:headEnd type="none" w="sm" len="sm"/>
                <a:tailEnd type="none" w="sm" len="sm"/>
              </a:ln>
            </p:spPr>
          </p:sp>
          <p:sp>
            <p:nvSpPr>
              <p:cNvPr id="61452" name="Line 14"/>
              <p:cNvSpPr/>
              <p:nvPr/>
            </p:nvSpPr>
            <p:spPr>
              <a:xfrm>
                <a:off x="1440" y="2544"/>
                <a:ext cx="0" cy="331"/>
              </a:xfrm>
              <a:prstGeom prst="line">
                <a:avLst/>
              </a:prstGeom>
              <a:ln w="12700" cap="sq" cmpd="sng">
                <a:solidFill>
                  <a:schemeClr val="tx1"/>
                </a:solidFill>
                <a:prstDash val="solid"/>
                <a:round/>
                <a:headEnd type="none" w="sm" len="sm"/>
                <a:tailEnd type="none" w="sm" len="sm"/>
              </a:ln>
            </p:spPr>
          </p:sp>
          <p:sp>
            <p:nvSpPr>
              <p:cNvPr id="61453" name="Line 15"/>
              <p:cNvSpPr/>
              <p:nvPr/>
            </p:nvSpPr>
            <p:spPr>
              <a:xfrm>
                <a:off x="1968" y="2544"/>
                <a:ext cx="0" cy="331"/>
              </a:xfrm>
              <a:prstGeom prst="line">
                <a:avLst/>
              </a:prstGeom>
              <a:ln w="12700" cap="sq" cmpd="sng">
                <a:solidFill>
                  <a:schemeClr val="tx1"/>
                </a:solidFill>
                <a:prstDash val="solid"/>
                <a:round/>
                <a:headEnd type="none" w="sm" len="sm"/>
                <a:tailEnd type="none" w="sm" len="sm"/>
              </a:ln>
            </p:spPr>
          </p:sp>
          <p:sp>
            <p:nvSpPr>
              <p:cNvPr id="61454" name="Rectangle 16"/>
              <p:cNvSpPr/>
              <p:nvPr/>
            </p:nvSpPr>
            <p:spPr>
              <a:xfrm>
                <a:off x="1344" y="2880"/>
                <a:ext cx="175" cy="166"/>
              </a:xfrm>
              <a:prstGeom prst="rect">
                <a:avLst/>
              </a:prstGeom>
              <a:noFill/>
              <a:ln w="12700" cap="sq" cmpd="sng">
                <a:solidFill>
                  <a:schemeClr val="tx1"/>
                </a:solidFill>
                <a:prstDash val="solid"/>
                <a:miter/>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1455" name="Oval 17"/>
              <p:cNvSpPr/>
              <p:nvPr/>
            </p:nvSpPr>
            <p:spPr>
              <a:xfrm>
                <a:off x="1872" y="2400"/>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1456" name="Text Box 18"/>
              <p:cNvSpPr txBox="1"/>
              <p:nvPr/>
            </p:nvSpPr>
            <p:spPr>
              <a:xfrm>
                <a:off x="1440" y="2496"/>
                <a:ext cx="816" cy="252"/>
              </a:xfrm>
              <a:prstGeom prst="rect">
                <a:avLst/>
              </a:prstGeom>
              <a:noFill/>
              <a:ln w="12700">
                <a:noFill/>
              </a:ln>
            </p:spPr>
            <p:txBody>
              <a:bodyPr anchor="t" anchorCtr="0">
                <a:spAutoFit/>
              </a:bodyPr>
              <a:lstStyle/>
              <a:p>
                <a:pPr>
                  <a:spcBef>
                    <a:spcPct val="50000"/>
                  </a:spcBef>
                </a:pPr>
                <a:r>
                  <a:rPr lang="en-US" altLang="zh-CN" sz="2000" dirty="0">
                    <a:latin typeface="Times New Roman" panose="02020603050405020304" pitchFamily="18" charset="0"/>
                    <a:ea typeface="宋体" panose="02010600030101010101" pitchFamily="2" charset="-122"/>
                  </a:rPr>
                  <a:t> 1          2</a:t>
                </a:r>
              </a:p>
            </p:txBody>
          </p:sp>
          <p:sp>
            <p:nvSpPr>
              <p:cNvPr id="61457" name="Oval 19"/>
              <p:cNvSpPr/>
              <p:nvPr/>
            </p:nvSpPr>
            <p:spPr>
              <a:xfrm>
                <a:off x="1344" y="2400"/>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1458" name="Text Box 20"/>
              <p:cNvSpPr txBox="1"/>
              <p:nvPr/>
            </p:nvSpPr>
            <p:spPr>
              <a:xfrm>
                <a:off x="1440" y="3024"/>
                <a:ext cx="816" cy="252"/>
              </a:xfrm>
              <a:prstGeom prst="rect">
                <a:avLst/>
              </a:prstGeom>
              <a:noFill/>
              <a:ln w="12700">
                <a:noFill/>
              </a:ln>
            </p:spPr>
            <p:txBody>
              <a:bodyPr anchor="t" anchorCtr="0">
                <a:spAutoFit/>
              </a:bodyPr>
              <a:lstStyle/>
              <a:p>
                <a:pPr>
                  <a:spcBef>
                    <a:spcPct val="50000"/>
                  </a:spcBef>
                </a:pPr>
                <a:r>
                  <a:rPr lang="en-US" altLang="zh-CN" sz="2000" dirty="0">
                    <a:latin typeface="Times New Roman" panose="02020603050405020304" pitchFamily="18" charset="0"/>
                    <a:ea typeface="宋体" panose="02010600030101010101" pitchFamily="2" charset="-122"/>
                  </a:rPr>
                  <a:t> 1          2</a:t>
                </a:r>
              </a:p>
            </p:txBody>
          </p:sp>
          <p:sp>
            <p:nvSpPr>
              <p:cNvPr id="61459" name="Oval 21"/>
              <p:cNvSpPr/>
              <p:nvPr/>
            </p:nvSpPr>
            <p:spPr>
              <a:xfrm>
                <a:off x="1872" y="2880"/>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1460" name="Line 22"/>
              <p:cNvSpPr/>
              <p:nvPr/>
            </p:nvSpPr>
            <p:spPr>
              <a:xfrm>
                <a:off x="1704" y="2976"/>
                <a:ext cx="0" cy="336"/>
              </a:xfrm>
              <a:prstGeom prst="line">
                <a:avLst/>
              </a:prstGeom>
              <a:ln w="12700" cap="sq" cmpd="sng">
                <a:solidFill>
                  <a:schemeClr val="tx1"/>
                </a:solidFill>
                <a:prstDash val="solid"/>
                <a:round/>
                <a:headEnd type="none" w="sm" len="sm"/>
                <a:tailEnd type="none" w="sm" len="sm"/>
              </a:ln>
            </p:spPr>
          </p:sp>
          <p:sp>
            <p:nvSpPr>
              <p:cNvPr id="61461" name="Line 23"/>
              <p:cNvSpPr/>
              <p:nvPr/>
            </p:nvSpPr>
            <p:spPr>
              <a:xfrm>
                <a:off x="1440" y="3312"/>
                <a:ext cx="528" cy="0"/>
              </a:xfrm>
              <a:prstGeom prst="line">
                <a:avLst/>
              </a:prstGeom>
              <a:ln w="12700" cap="sq" cmpd="sng">
                <a:solidFill>
                  <a:schemeClr val="tx1"/>
                </a:solidFill>
                <a:prstDash val="solid"/>
                <a:round/>
                <a:headEnd type="none" w="sm" len="sm"/>
                <a:tailEnd type="none" w="sm" len="sm"/>
              </a:ln>
            </p:spPr>
          </p:sp>
          <p:sp>
            <p:nvSpPr>
              <p:cNvPr id="61462" name="Line 24"/>
              <p:cNvSpPr/>
              <p:nvPr/>
            </p:nvSpPr>
            <p:spPr>
              <a:xfrm>
                <a:off x="1440" y="3312"/>
                <a:ext cx="0" cy="240"/>
              </a:xfrm>
              <a:prstGeom prst="line">
                <a:avLst/>
              </a:prstGeom>
              <a:ln w="12700" cap="sq" cmpd="sng">
                <a:solidFill>
                  <a:schemeClr val="tx1"/>
                </a:solidFill>
                <a:prstDash val="solid"/>
                <a:round/>
                <a:headEnd type="none" w="sm" len="sm"/>
                <a:tailEnd type="none" w="sm" len="sm"/>
              </a:ln>
            </p:spPr>
          </p:sp>
          <p:sp>
            <p:nvSpPr>
              <p:cNvPr id="61463" name="Line 25"/>
              <p:cNvSpPr/>
              <p:nvPr/>
            </p:nvSpPr>
            <p:spPr>
              <a:xfrm>
                <a:off x="1968" y="3312"/>
                <a:ext cx="0" cy="240"/>
              </a:xfrm>
              <a:prstGeom prst="line">
                <a:avLst/>
              </a:prstGeom>
              <a:ln w="12700" cap="sq" cmpd="sng">
                <a:solidFill>
                  <a:schemeClr val="tx1"/>
                </a:solidFill>
                <a:prstDash val="solid"/>
                <a:round/>
                <a:headEnd type="none" w="sm" len="sm"/>
                <a:tailEnd type="none" w="sm" len="sm"/>
              </a:ln>
            </p:spPr>
          </p:sp>
          <p:sp>
            <p:nvSpPr>
              <p:cNvPr id="61464" name="Oval 26"/>
              <p:cNvSpPr/>
              <p:nvPr/>
            </p:nvSpPr>
            <p:spPr>
              <a:xfrm>
                <a:off x="1344" y="3552"/>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1465" name="AutoShape 27"/>
              <p:cNvSpPr/>
              <p:nvPr/>
            </p:nvSpPr>
            <p:spPr>
              <a:xfrm>
                <a:off x="1872" y="3552"/>
                <a:ext cx="192" cy="192"/>
              </a:xfrm>
              <a:prstGeom prst="diamond">
                <a:avLst/>
              </a:prstGeom>
              <a:noFill/>
              <a:ln w="12700" cap="sq" cmpd="sng">
                <a:solidFill>
                  <a:schemeClr val="tx1"/>
                </a:solidFill>
                <a:prstDash val="solid"/>
                <a:miter/>
                <a:headEnd type="none" w="med" len="med"/>
                <a:tailEnd type="none" w="med" len="med"/>
              </a:ln>
            </p:spPr>
            <p:txBody>
              <a:bodyPr vert="eaVert"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1466" name="Text Box 28"/>
              <p:cNvSpPr txBox="1"/>
              <p:nvPr/>
            </p:nvSpPr>
            <p:spPr>
              <a:xfrm>
                <a:off x="1392" y="3696"/>
                <a:ext cx="816" cy="252"/>
              </a:xfrm>
              <a:prstGeom prst="rect">
                <a:avLst/>
              </a:prstGeom>
              <a:noFill/>
              <a:ln w="12700">
                <a:noFill/>
              </a:ln>
            </p:spPr>
            <p:txBody>
              <a:bodyPr anchor="t" anchorCtr="0">
                <a:spAutoFit/>
              </a:bodyPr>
              <a:lstStyle/>
              <a:p>
                <a:pPr>
                  <a:spcBef>
                    <a:spcPct val="50000"/>
                  </a:spcBef>
                </a:pPr>
                <a:r>
                  <a:rPr lang="en-US" altLang="zh-CN" sz="2000" dirty="0">
                    <a:latin typeface="Times New Roman" panose="02020603050405020304" pitchFamily="18" charset="0"/>
                    <a:ea typeface="宋体" panose="02010600030101010101" pitchFamily="2" charset="-122"/>
                  </a:rPr>
                  <a:t> 1          2</a:t>
                </a:r>
              </a:p>
            </p:txBody>
          </p:sp>
          <p:sp>
            <p:nvSpPr>
              <p:cNvPr id="61467" name="Line 29"/>
              <p:cNvSpPr/>
              <p:nvPr/>
            </p:nvSpPr>
            <p:spPr>
              <a:xfrm>
                <a:off x="1703" y="1968"/>
                <a:ext cx="0" cy="240"/>
              </a:xfrm>
              <a:prstGeom prst="line">
                <a:avLst/>
              </a:prstGeom>
              <a:ln w="12700" cap="sq" cmpd="sng">
                <a:solidFill>
                  <a:schemeClr val="tx1"/>
                </a:solidFill>
                <a:prstDash val="solid"/>
                <a:round/>
                <a:headEnd type="none" w="sm" len="sm"/>
                <a:tailEnd type="none" w="sm" len="sm"/>
              </a:ln>
            </p:spPr>
          </p:sp>
          <p:sp>
            <p:nvSpPr>
              <p:cNvPr id="61468" name="Line 30"/>
              <p:cNvSpPr/>
              <p:nvPr/>
            </p:nvSpPr>
            <p:spPr>
              <a:xfrm>
                <a:off x="929" y="1584"/>
                <a:ext cx="768" cy="0"/>
              </a:xfrm>
              <a:prstGeom prst="line">
                <a:avLst/>
              </a:prstGeom>
              <a:ln w="12700" cap="sq" cmpd="sng">
                <a:solidFill>
                  <a:schemeClr val="tx1"/>
                </a:solidFill>
                <a:prstDash val="solid"/>
                <a:round/>
                <a:headEnd type="none" w="sm" len="sm"/>
                <a:tailEnd type="none" w="sm" len="sm"/>
              </a:ln>
            </p:spPr>
          </p:sp>
          <p:sp>
            <p:nvSpPr>
              <p:cNvPr id="61469" name="Line 31"/>
              <p:cNvSpPr/>
              <p:nvPr/>
            </p:nvSpPr>
            <p:spPr>
              <a:xfrm>
                <a:off x="929" y="1584"/>
                <a:ext cx="0" cy="240"/>
              </a:xfrm>
              <a:prstGeom prst="line">
                <a:avLst/>
              </a:prstGeom>
              <a:ln w="12700" cap="sq" cmpd="sng">
                <a:solidFill>
                  <a:schemeClr val="tx1"/>
                </a:solidFill>
                <a:prstDash val="solid"/>
                <a:round/>
                <a:headEnd type="none" w="sm" len="sm"/>
                <a:tailEnd type="none" w="sm" len="sm"/>
              </a:ln>
            </p:spPr>
          </p:sp>
          <p:sp>
            <p:nvSpPr>
              <p:cNvPr id="61470" name="Line 32"/>
              <p:cNvSpPr/>
              <p:nvPr/>
            </p:nvSpPr>
            <p:spPr>
              <a:xfrm>
                <a:off x="1697" y="1584"/>
                <a:ext cx="0" cy="240"/>
              </a:xfrm>
              <a:prstGeom prst="line">
                <a:avLst/>
              </a:prstGeom>
              <a:ln w="12700" cap="sq" cmpd="sng">
                <a:solidFill>
                  <a:schemeClr val="tx1"/>
                </a:solidFill>
                <a:prstDash val="solid"/>
                <a:round/>
                <a:headEnd type="none" w="sm" len="sm"/>
                <a:tailEnd type="none" w="sm" len="sm"/>
              </a:ln>
            </p:spPr>
          </p:sp>
          <p:sp>
            <p:nvSpPr>
              <p:cNvPr id="61471" name="Line 33"/>
              <p:cNvSpPr/>
              <p:nvPr/>
            </p:nvSpPr>
            <p:spPr>
              <a:xfrm>
                <a:off x="1313" y="1584"/>
                <a:ext cx="0" cy="240"/>
              </a:xfrm>
              <a:prstGeom prst="line">
                <a:avLst/>
              </a:prstGeom>
              <a:ln w="12700" cap="sq" cmpd="sng">
                <a:solidFill>
                  <a:schemeClr val="tx1"/>
                </a:solidFill>
                <a:prstDash val="solid"/>
                <a:round/>
                <a:headEnd type="none" w="sm" len="sm"/>
                <a:tailEnd type="none" w="sm" len="sm"/>
              </a:ln>
            </p:spPr>
          </p:sp>
          <p:sp>
            <p:nvSpPr>
              <p:cNvPr id="61472" name="Oval 34"/>
              <p:cNvSpPr/>
              <p:nvPr/>
            </p:nvSpPr>
            <p:spPr>
              <a:xfrm>
                <a:off x="1607" y="1824"/>
                <a:ext cx="175" cy="166"/>
              </a:xfrm>
              <a:prstGeom prst="ellipse">
                <a:avLst/>
              </a:prstGeom>
              <a:noFill/>
              <a:ln w="12700" cap="sq" cmpd="sng">
                <a:solidFill>
                  <a:schemeClr val="tx1"/>
                </a:solidFill>
                <a:prstDash val="solid"/>
                <a:round/>
                <a:headEnd type="none" w="sm" len="sm"/>
                <a:tailEnd type="none" w="sm" len="sm"/>
              </a:ln>
            </p:spPr>
            <p:txBody>
              <a:bodyPr wrap="none" anchor="ctr" anchorCtr="0"/>
              <a:lstStyle/>
              <a:p>
                <a:pPr algn="ctr"/>
                <a:endParaRPr lang="zh-CN" altLang="en-US" sz="1351" dirty="0">
                  <a:solidFill>
                    <a:schemeClr val="bg2"/>
                  </a:solidFill>
                  <a:latin typeface="Comic Sans MS" panose="030F0702030302020204" pitchFamily="66" charset="0"/>
                  <a:ea typeface="宋体" panose="02010600030101010101" pitchFamily="2" charset="-122"/>
                </a:endParaRPr>
              </a:p>
            </p:txBody>
          </p:sp>
          <p:sp>
            <p:nvSpPr>
              <p:cNvPr id="61473" name="Text Box 35"/>
              <p:cNvSpPr txBox="1"/>
              <p:nvPr/>
            </p:nvSpPr>
            <p:spPr>
              <a:xfrm>
                <a:off x="912" y="1968"/>
                <a:ext cx="1152" cy="252"/>
              </a:xfrm>
              <a:prstGeom prst="rect">
                <a:avLst/>
              </a:prstGeom>
              <a:noFill/>
              <a:ln w="12700">
                <a:noFill/>
              </a:ln>
            </p:spPr>
            <p:txBody>
              <a:bodyPr anchor="t" anchorCtr="0">
                <a:spAutoFit/>
              </a:bodyPr>
              <a:lstStyle/>
              <a:p>
                <a:pPr>
                  <a:spcBef>
                    <a:spcPct val="50000"/>
                  </a:spcBef>
                </a:pPr>
                <a:r>
                  <a:rPr lang="en-US" altLang="zh-CN" sz="2000" dirty="0">
                    <a:latin typeface="Times New Roman" panose="02020603050405020304" pitchFamily="18" charset="0"/>
                    <a:ea typeface="宋体" panose="02010600030101010101" pitchFamily="2" charset="-122"/>
                  </a:rPr>
                  <a:t> 1        2       3</a:t>
                </a:r>
              </a:p>
            </p:txBody>
          </p:sp>
        </p:grpSp>
      </p:grpSp>
      <p:sp>
        <p:nvSpPr>
          <p:cNvPr id="91172" name="Rectangle 36"/>
          <p:cNvSpPr/>
          <p:nvPr/>
        </p:nvSpPr>
        <p:spPr>
          <a:xfrm>
            <a:off x="5105400" y="2382390"/>
            <a:ext cx="4648200" cy="381000"/>
          </a:xfrm>
          <a:prstGeom prst="rect">
            <a:avLst/>
          </a:prstGeom>
          <a:noFill/>
          <a:ln w="12700">
            <a:noFill/>
          </a:ln>
        </p:spPr>
        <p:txBody>
          <a:bodyPr anchor="t" anchorCtr="0"/>
          <a:lstStyle/>
          <a:p>
            <a:pPr marL="1435064" indent="-1435064" algn="just">
              <a:lnSpc>
                <a:spcPct val="90000"/>
              </a:lnSpc>
              <a:spcBef>
                <a:spcPct val="20000"/>
              </a:spcBef>
              <a:buClr>
                <a:schemeClr val="tx2"/>
              </a:buClr>
              <a:buSzPct val="75000"/>
            </a:pPr>
            <a:r>
              <a:rPr lang="en-US" altLang="zh-CN" sz="2000" dirty="0">
                <a:solidFill>
                  <a:srgbClr val="6600CC"/>
                </a:solidFill>
                <a:latin typeface="Times New Roman" panose="02020603050405020304" pitchFamily="18" charset="0"/>
                <a:ea typeface="宋体" panose="02010600030101010101" pitchFamily="2" charset="-122"/>
              </a:rPr>
              <a:t>Ⅲ1</a:t>
            </a:r>
            <a:r>
              <a:rPr lang="zh-CN" altLang="en-US" sz="2000" dirty="0">
                <a:solidFill>
                  <a:srgbClr val="6600CC"/>
                </a:solidFill>
                <a:latin typeface="Times New Roman" panose="02020603050405020304" pitchFamily="18" charset="0"/>
                <a:ea typeface="宋体" panose="02010600030101010101" pitchFamily="2" charset="-122"/>
              </a:rPr>
              <a:t>、 </a:t>
            </a:r>
            <a:r>
              <a:rPr lang="en-US" altLang="zh-CN" sz="2000" dirty="0">
                <a:solidFill>
                  <a:srgbClr val="6600CC"/>
                </a:solidFill>
                <a:latin typeface="Times New Roman" panose="02020603050405020304" pitchFamily="18" charset="0"/>
                <a:ea typeface="宋体" panose="02010600030101010101" pitchFamily="2" charset="-122"/>
              </a:rPr>
              <a:t>Ⅲ 2    </a:t>
            </a:r>
            <a:r>
              <a:rPr lang="zh-CN" altLang="en-US" sz="2000" dirty="0">
                <a:solidFill>
                  <a:srgbClr val="6600CC"/>
                </a:solidFill>
                <a:latin typeface="Times New Roman" panose="02020603050405020304" pitchFamily="18" charset="0"/>
                <a:ea typeface="宋体" panose="02010600030101010101" pitchFamily="2" charset="-122"/>
              </a:rPr>
              <a:t>同为携带者   不同为携带者 </a:t>
            </a:r>
          </a:p>
        </p:txBody>
      </p:sp>
      <p:sp>
        <p:nvSpPr>
          <p:cNvPr id="91173" name="Rectangle 37"/>
          <p:cNvSpPr/>
          <p:nvPr/>
        </p:nvSpPr>
        <p:spPr>
          <a:xfrm>
            <a:off x="5227637" y="2915790"/>
            <a:ext cx="1477963" cy="381000"/>
          </a:xfrm>
          <a:prstGeom prst="rect">
            <a:avLst/>
          </a:prstGeom>
          <a:noFill/>
          <a:ln w="12700">
            <a:noFill/>
          </a:ln>
        </p:spPr>
        <p:txBody>
          <a:bodyPr lIns="0" rIns="0" anchor="t" anchorCtr="0"/>
          <a:lstStyle/>
          <a:p>
            <a:pPr marL="1435064" indent="-1435064" algn="just">
              <a:lnSpc>
                <a:spcPct val="90000"/>
              </a:lnSpc>
              <a:spcBef>
                <a:spcPct val="20000"/>
              </a:spcBef>
              <a:buClr>
                <a:schemeClr val="tx2"/>
              </a:buClr>
              <a:buSzPct val="75000"/>
            </a:pPr>
            <a:r>
              <a:rPr lang="zh-CN" altLang="en-US" sz="2000" dirty="0">
                <a:solidFill>
                  <a:schemeClr val="tx2"/>
                </a:solidFill>
                <a:latin typeface="Times New Roman" panose="02020603050405020304" pitchFamily="18" charset="0"/>
                <a:ea typeface="宋体" panose="02010600030101010101" pitchFamily="2" charset="-122"/>
              </a:rPr>
              <a:t>前  概  率</a:t>
            </a:r>
          </a:p>
        </p:txBody>
      </p:sp>
      <p:sp>
        <p:nvSpPr>
          <p:cNvPr id="91174" name="Rectangle 38"/>
          <p:cNvSpPr/>
          <p:nvPr/>
        </p:nvSpPr>
        <p:spPr>
          <a:xfrm>
            <a:off x="6934200" y="2915790"/>
            <a:ext cx="2514600" cy="381000"/>
          </a:xfrm>
          <a:prstGeom prst="rect">
            <a:avLst/>
          </a:prstGeom>
          <a:noFill/>
          <a:ln w="12700">
            <a:noFill/>
          </a:ln>
        </p:spPr>
        <p:txBody>
          <a:bodyPr anchor="t" anchorCtr="0"/>
          <a:lstStyle/>
          <a:p>
            <a:pPr marL="1435064" indent="-1435064" algn="just">
              <a:lnSpc>
                <a:spcPct val="90000"/>
              </a:lnSpc>
              <a:spcBef>
                <a:spcPct val="20000"/>
              </a:spcBef>
              <a:buClr>
                <a:schemeClr val="tx2"/>
              </a:buClr>
              <a:buSzPct val="75000"/>
            </a:pPr>
            <a:r>
              <a:rPr lang="en-US" altLang="zh-CN" sz="2000" dirty="0">
                <a:solidFill>
                  <a:schemeClr val="tx2"/>
                </a:solidFill>
                <a:latin typeface="Times New Roman" panose="02020603050405020304" pitchFamily="18" charset="0"/>
                <a:ea typeface="宋体" panose="02010600030101010101" pitchFamily="2" charset="-122"/>
              </a:rPr>
              <a:t>1/36                 35/36</a:t>
            </a:r>
          </a:p>
        </p:txBody>
      </p:sp>
      <p:sp>
        <p:nvSpPr>
          <p:cNvPr id="91175" name="Rectangle 39"/>
          <p:cNvSpPr/>
          <p:nvPr/>
        </p:nvSpPr>
        <p:spPr>
          <a:xfrm>
            <a:off x="5227639" y="3372990"/>
            <a:ext cx="1524000" cy="381000"/>
          </a:xfrm>
          <a:prstGeom prst="rect">
            <a:avLst/>
          </a:prstGeom>
          <a:noFill/>
          <a:ln w="12700">
            <a:noFill/>
          </a:ln>
        </p:spPr>
        <p:txBody>
          <a:bodyPr lIns="0" rIns="0" anchor="t" anchorCtr="0"/>
          <a:lstStyle/>
          <a:p>
            <a:pPr marL="1435064" indent="-1435064" algn="just">
              <a:lnSpc>
                <a:spcPct val="90000"/>
              </a:lnSpc>
              <a:spcBef>
                <a:spcPct val="20000"/>
              </a:spcBef>
              <a:buClr>
                <a:schemeClr val="tx2"/>
              </a:buClr>
              <a:buSzPct val="75000"/>
            </a:pPr>
            <a:r>
              <a:rPr lang="zh-CN" altLang="en-US" sz="2000" dirty="0">
                <a:solidFill>
                  <a:schemeClr val="tx2"/>
                </a:solidFill>
                <a:latin typeface="Times New Roman" panose="02020603050405020304" pitchFamily="18" charset="0"/>
                <a:ea typeface="宋体" panose="02010600030101010101" pitchFamily="2" charset="-122"/>
              </a:rPr>
              <a:t>条件概率</a:t>
            </a:r>
          </a:p>
        </p:txBody>
      </p:sp>
      <p:sp>
        <p:nvSpPr>
          <p:cNvPr id="91176" name="Rectangle 40"/>
          <p:cNvSpPr/>
          <p:nvPr/>
        </p:nvSpPr>
        <p:spPr>
          <a:xfrm>
            <a:off x="6858000" y="3372990"/>
            <a:ext cx="2438400" cy="381000"/>
          </a:xfrm>
          <a:prstGeom prst="rect">
            <a:avLst/>
          </a:prstGeom>
          <a:noFill/>
          <a:ln w="12700">
            <a:noFill/>
          </a:ln>
        </p:spPr>
        <p:txBody>
          <a:bodyPr anchor="t" anchorCtr="0"/>
          <a:lstStyle/>
          <a:p>
            <a:pPr marL="1435064" indent="-1435064" algn="just">
              <a:lnSpc>
                <a:spcPct val="90000"/>
              </a:lnSpc>
              <a:spcBef>
                <a:spcPct val="20000"/>
              </a:spcBef>
              <a:buClr>
                <a:schemeClr val="tx2"/>
              </a:buClr>
              <a:buSzPct val="75000"/>
            </a:pPr>
            <a:r>
              <a:rPr lang="en-US" altLang="zh-CN" sz="2000" dirty="0">
                <a:solidFill>
                  <a:schemeClr val="tx2"/>
                </a:solidFill>
                <a:latin typeface="Times New Roman" panose="02020603050405020304" pitchFamily="18" charset="0"/>
                <a:ea typeface="宋体" panose="02010600030101010101" pitchFamily="2" charset="-122"/>
              </a:rPr>
              <a:t>  3/4                     1</a:t>
            </a:r>
          </a:p>
        </p:txBody>
      </p:sp>
      <p:sp>
        <p:nvSpPr>
          <p:cNvPr id="91177" name="Rectangle 41"/>
          <p:cNvSpPr/>
          <p:nvPr/>
        </p:nvSpPr>
        <p:spPr>
          <a:xfrm>
            <a:off x="5227638" y="3830190"/>
            <a:ext cx="1479551" cy="381000"/>
          </a:xfrm>
          <a:prstGeom prst="rect">
            <a:avLst/>
          </a:prstGeom>
          <a:noFill/>
          <a:ln w="12700">
            <a:noFill/>
          </a:ln>
        </p:spPr>
        <p:txBody>
          <a:bodyPr lIns="0" rIns="0" anchor="t" anchorCtr="0"/>
          <a:lstStyle/>
          <a:p>
            <a:pPr marL="1435064" indent="-1435064" algn="just">
              <a:lnSpc>
                <a:spcPct val="90000"/>
              </a:lnSpc>
              <a:spcBef>
                <a:spcPct val="20000"/>
              </a:spcBef>
              <a:buClr>
                <a:schemeClr val="tx2"/>
              </a:buClr>
              <a:buSzPct val="75000"/>
            </a:pPr>
            <a:r>
              <a:rPr lang="zh-CN" altLang="en-US" sz="2000" dirty="0">
                <a:solidFill>
                  <a:schemeClr val="tx2"/>
                </a:solidFill>
                <a:latin typeface="Times New Roman" panose="02020603050405020304" pitchFamily="18" charset="0"/>
                <a:ea typeface="宋体" panose="02010600030101010101" pitchFamily="2" charset="-122"/>
              </a:rPr>
              <a:t>联合概率</a:t>
            </a:r>
          </a:p>
        </p:txBody>
      </p:sp>
      <p:sp>
        <p:nvSpPr>
          <p:cNvPr id="91178" name="Rectangle 42"/>
          <p:cNvSpPr/>
          <p:nvPr/>
        </p:nvSpPr>
        <p:spPr>
          <a:xfrm>
            <a:off x="6858000" y="3830190"/>
            <a:ext cx="2514600" cy="381000"/>
          </a:xfrm>
          <a:prstGeom prst="rect">
            <a:avLst/>
          </a:prstGeom>
          <a:noFill/>
          <a:ln w="12700">
            <a:noFill/>
          </a:ln>
        </p:spPr>
        <p:txBody>
          <a:bodyPr anchor="t" anchorCtr="0"/>
          <a:lstStyle/>
          <a:p>
            <a:pPr marL="1435064" indent="-1435064" algn="just">
              <a:lnSpc>
                <a:spcPct val="90000"/>
              </a:lnSpc>
              <a:spcBef>
                <a:spcPct val="20000"/>
              </a:spcBef>
              <a:buClr>
                <a:schemeClr val="tx2"/>
              </a:buClr>
              <a:buSzPct val="75000"/>
            </a:pPr>
            <a:r>
              <a:rPr lang="en-US" altLang="zh-CN" sz="2000" dirty="0">
                <a:solidFill>
                  <a:schemeClr val="tx2"/>
                </a:solidFill>
                <a:latin typeface="Times New Roman" panose="02020603050405020304" pitchFamily="18" charset="0"/>
                <a:ea typeface="宋体" panose="02010600030101010101" pitchFamily="2" charset="-122"/>
              </a:rPr>
              <a:t> 3/144             140/144</a:t>
            </a:r>
          </a:p>
        </p:txBody>
      </p:sp>
      <p:grpSp>
        <p:nvGrpSpPr>
          <p:cNvPr id="4" name="Group 43"/>
          <p:cNvGrpSpPr/>
          <p:nvPr/>
        </p:nvGrpSpPr>
        <p:grpSpPr>
          <a:xfrm>
            <a:off x="5227637" y="4287390"/>
            <a:ext cx="4221163" cy="381000"/>
            <a:chOff x="2525" y="2928"/>
            <a:chExt cx="2659" cy="240"/>
          </a:xfrm>
        </p:grpSpPr>
        <p:sp>
          <p:nvSpPr>
            <p:cNvPr id="61482" name="Rectangle 44"/>
            <p:cNvSpPr/>
            <p:nvPr/>
          </p:nvSpPr>
          <p:spPr>
            <a:xfrm>
              <a:off x="2525" y="2928"/>
              <a:ext cx="960" cy="240"/>
            </a:xfrm>
            <a:prstGeom prst="rect">
              <a:avLst/>
            </a:prstGeom>
            <a:noFill/>
            <a:ln w="12700">
              <a:noFill/>
            </a:ln>
          </p:spPr>
          <p:txBody>
            <a:bodyPr lIns="0" rIns="0" anchor="t" anchorCtr="0"/>
            <a:lstStyle/>
            <a:p>
              <a:pPr marL="1435064" indent="-1435064" algn="just">
                <a:lnSpc>
                  <a:spcPct val="90000"/>
                </a:lnSpc>
                <a:spcBef>
                  <a:spcPct val="20000"/>
                </a:spcBef>
                <a:buClr>
                  <a:schemeClr val="tx2"/>
                </a:buClr>
                <a:buSzPct val="75000"/>
              </a:pPr>
              <a:r>
                <a:rPr lang="zh-CN" altLang="en-US" sz="2000" dirty="0">
                  <a:solidFill>
                    <a:schemeClr val="tx2"/>
                  </a:solidFill>
                  <a:latin typeface="Times New Roman" panose="02020603050405020304" pitchFamily="18" charset="0"/>
                  <a:ea typeface="宋体" panose="02010600030101010101" pitchFamily="2" charset="-122"/>
                </a:rPr>
                <a:t>后  概  率</a:t>
              </a:r>
            </a:p>
          </p:txBody>
        </p:sp>
        <p:sp>
          <p:nvSpPr>
            <p:cNvPr id="61483" name="Rectangle 45"/>
            <p:cNvSpPr/>
            <p:nvPr/>
          </p:nvSpPr>
          <p:spPr>
            <a:xfrm>
              <a:off x="3552" y="2928"/>
              <a:ext cx="1632" cy="240"/>
            </a:xfrm>
            <a:prstGeom prst="rect">
              <a:avLst/>
            </a:prstGeom>
            <a:noFill/>
            <a:ln w="12700">
              <a:noFill/>
            </a:ln>
          </p:spPr>
          <p:txBody>
            <a:bodyPr anchor="t" anchorCtr="0"/>
            <a:lstStyle/>
            <a:p>
              <a:pPr marL="1435064" indent="-1435064" algn="just">
                <a:lnSpc>
                  <a:spcPct val="90000"/>
                </a:lnSpc>
                <a:spcBef>
                  <a:spcPct val="20000"/>
                </a:spcBef>
                <a:buClr>
                  <a:schemeClr val="tx2"/>
                </a:buClr>
                <a:buSzPct val="75000"/>
              </a:pPr>
              <a:r>
                <a:rPr lang="en-US" altLang="zh-CN" sz="2000" dirty="0">
                  <a:solidFill>
                    <a:schemeClr val="tx2"/>
                  </a:solidFill>
                  <a:latin typeface="Times New Roman" panose="02020603050405020304" pitchFamily="18" charset="0"/>
                  <a:ea typeface="宋体" panose="02010600030101010101" pitchFamily="2" charset="-122"/>
                </a:rPr>
                <a:t> 3/143             140/143</a:t>
              </a:r>
            </a:p>
          </p:txBody>
        </p:sp>
      </p:grpSp>
      <p:sp>
        <p:nvSpPr>
          <p:cNvPr id="91182" name="Rectangle 46"/>
          <p:cNvSpPr/>
          <p:nvPr/>
        </p:nvSpPr>
        <p:spPr>
          <a:xfrm>
            <a:off x="4876800" y="4896990"/>
            <a:ext cx="5181600" cy="762000"/>
          </a:xfrm>
          <a:prstGeom prst="rect">
            <a:avLst/>
          </a:prstGeom>
          <a:noFill/>
          <a:ln w="12700">
            <a:noFill/>
          </a:ln>
        </p:spPr>
        <p:txBody>
          <a:bodyPr lIns="0" rIns="0" anchor="t" anchorCtr="0"/>
          <a:lstStyle/>
          <a:p>
            <a:pPr marL="1435064" indent="-1435064" algn="just">
              <a:lnSpc>
                <a:spcPct val="90000"/>
              </a:lnSpc>
              <a:spcBef>
                <a:spcPct val="20000"/>
              </a:spcBef>
              <a:buClr>
                <a:schemeClr val="tx2"/>
              </a:buClr>
              <a:buSzPct val="75000"/>
            </a:pPr>
            <a:r>
              <a:rPr lang="en-US" altLang="zh-CN" sz="2200" dirty="0">
                <a:solidFill>
                  <a:srgbClr val="6600CC"/>
                </a:solidFill>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Ⅳ2</a:t>
            </a:r>
            <a:r>
              <a:rPr lang="zh-CN" altLang="en-US" sz="2200" dirty="0">
                <a:latin typeface="Times New Roman" panose="02020603050405020304" pitchFamily="18" charset="0"/>
                <a:ea typeface="宋体" panose="02010600030101010101" pitchFamily="2" charset="-122"/>
              </a:rPr>
              <a:t>的患病风险为：</a:t>
            </a:r>
          </a:p>
          <a:p>
            <a:pPr marL="1435064" indent="-1435064" algn="just">
              <a:lnSpc>
                <a:spcPct val="90000"/>
              </a:lnSpc>
              <a:spcBef>
                <a:spcPct val="20000"/>
              </a:spcBef>
              <a:buClr>
                <a:schemeClr val="tx2"/>
              </a:buClr>
              <a:buSzPct val="75000"/>
            </a:pP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3/143 × 1/4 </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3/572 </a:t>
            </a:r>
            <a:r>
              <a:rPr lang="zh-CN" altLang="en-US" sz="2200" dirty="0">
                <a:latin typeface="Times New Roman" panose="02020603050405020304" pitchFamily="18" charset="0"/>
                <a:ea typeface="宋体" panose="02010600030101010101" pitchFamily="2" charset="-122"/>
              </a:rPr>
              <a:t>＝ </a:t>
            </a:r>
            <a:r>
              <a:rPr lang="en-US" altLang="zh-CN" sz="2200" dirty="0">
                <a:latin typeface="Times New Roman" panose="02020603050405020304" pitchFamily="18" charset="0"/>
                <a:ea typeface="宋体" panose="02010600030101010101" pitchFamily="2" charset="-122"/>
              </a:rPr>
              <a:t>0.005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72"/>
                                        </p:tgtEl>
                                        <p:attrNameLst>
                                          <p:attrName>style.visibility</p:attrName>
                                        </p:attrNameLst>
                                      </p:cBhvr>
                                      <p:to>
                                        <p:strVal val="visible"/>
                                      </p:to>
                                    </p:set>
                                    <p:animEffect transition="in" filter="wipe(left)">
                                      <p:cBhvr>
                                        <p:cTn id="12" dur="500"/>
                                        <p:tgtEl>
                                          <p:spTgt spid="9117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117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117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9117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9117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9117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9117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5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1182"/>
                                        </p:tgtEl>
                                        <p:attrNameLst>
                                          <p:attrName>style.visibility</p:attrName>
                                        </p:attrNameLst>
                                      </p:cBhvr>
                                      <p:to>
                                        <p:strVal val="visible"/>
                                      </p:to>
                                    </p:set>
                                    <p:animEffect transition="in" filter="wipe(left)">
                                      <p:cBhvr>
                                        <p:cTn id="46" dur="500"/>
                                        <p:tgtEl>
                                          <p:spTgt spid="91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72" grpId="0"/>
      <p:bldP spid="91173" grpId="0"/>
      <p:bldP spid="91174" grpId="0"/>
      <p:bldP spid="91175" grpId="0"/>
      <p:bldP spid="91176" grpId="0"/>
      <p:bldP spid="91177" grpId="0"/>
      <p:bldP spid="91178" grpId="0"/>
      <p:bldP spid="9118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657</TotalTime>
  <Words>4542</Words>
  <Application>Microsoft Office PowerPoint</Application>
  <PresentationFormat>宽屏</PresentationFormat>
  <Paragraphs>449</Paragraphs>
  <Slides>58</Slides>
  <Notes>13</Notes>
  <HiddenSlides>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58</vt:i4>
      </vt:variant>
    </vt:vector>
  </HeadingPairs>
  <TitlesOfParts>
    <vt:vector size="73" baseType="lpstr">
      <vt:lpstr>等线</vt:lpstr>
      <vt:lpstr>等线 Light</vt:lpstr>
      <vt:lpstr>黑体</vt:lpstr>
      <vt:lpstr>华文楷体</vt:lpstr>
      <vt:lpstr>楷体</vt:lpstr>
      <vt:lpstr>隶书</vt:lpstr>
      <vt:lpstr>宋体</vt:lpstr>
      <vt:lpstr>Arial</vt:lpstr>
      <vt:lpstr>Book Antiqua</vt:lpstr>
      <vt:lpstr>Comic Sans MS</vt:lpstr>
      <vt:lpstr>Times New Roman</vt:lpstr>
      <vt:lpstr>Wingdings</vt:lpstr>
      <vt:lpstr>Office 主题​​</vt:lpstr>
      <vt:lpstr>Equation.3</vt:lpstr>
      <vt:lpstr>Equation.DSMT4</vt:lpstr>
      <vt:lpstr>PowerPoint 演示文稿</vt:lpstr>
      <vt:lpstr>孟德尔生平</vt:lpstr>
      <vt:lpstr>2.1 分离定律</vt:lpstr>
      <vt:lpstr>PowerPoint 演示文稿</vt:lpstr>
      <vt:lpstr>PowerPoint 演示文稿</vt:lpstr>
      <vt:lpstr>PowerPoint 演示文稿</vt:lpstr>
      <vt:lpstr>相关符号</vt:lpstr>
      <vt:lpstr>二、性状分离现象的解释</vt:lpstr>
      <vt:lpstr>三、分离规律的验证</vt:lpstr>
      <vt:lpstr>五、分离定律的意义</vt:lpstr>
      <vt:lpstr>2.2独立分配规律 </vt:lpstr>
      <vt:lpstr>PowerPoint 演示文稿</vt:lpstr>
      <vt:lpstr>二、自由组合现象的解释</vt:lpstr>
      <vt:lpstr>三、独立分配规律的验证</vt:lpstr>
      <vt:lpstr>PowerPoint 演示文稿</vt:lpstr>
      <vt:lpstr>四、多对相对性状的遗传</vt:lpstr>
      <vt:lpstr>五、自由组合规律的意义</vt:lpstr>
      <vt:lpstr>第三节 遗传学数据的统计处理 </vt:lpstr>
      <vt:lpstr>为什么要应用统计方法分析数据？</vt:lpstr>
      <vt:lpstr>为什么要应用统计方法分析数据？</vt:lpstr>
      <vt:lpstr>PowerPoint 演示文稿</vt:lpstr>
      <vt:lpstr>(三)概率定理的应用示例</vt:lpstr>
      <vt:lpstr>(三)概率定理的应用示例</vt:lpstr>
      <vt:lpstr>(三)概率定理的应用示例</vt:lpstr>
      <vt:lpstr>PowerPoint 演示文稿</vt:lpstr>
      <vt:lpstr>二、二项式展开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四、2测验：检测适合度</vt:lpstr>
      <vt:lpstr>PowerPoint 演示文稿</vt:lpstr>
      <vt:lpstr>PowerPoint 演示文稿</vt:lpstr>
      <vt:lpstr>X2(卡平方)测验实例：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常染色体隐性遗传病 </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Yijie Lee</cp:lastModifiedBy>
  <cp:revision>28</cp:revision>
  <dcterms:created xsi:type="dcterms:W3CDTF">2023-04-20T13:35:22Z</dcterms:created>
  <dcterms:modified xsi:type="dcterms:W3CDTF">2024-01-09T12:12:15Z</dcterms:modified>
</cp:coreProperties>
</file>