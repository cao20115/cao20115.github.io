
<file path=[Content_Types].xml><?xml version="1.0" encoding="utf-8"?>
<Types xmlns="http://schemas.openxmlformats.org/package/2006/content-types">
  <Default Extension="jpeg" ContentType="image/jpeg"/>
  <Default Extension="JPG" ContentType="image/.jpg"/>
  <Default Extension="wav" ContentType="audio/x-wav"/>
  <Default Extension="wdp" ContentType="image/vnd.ms-photo"/>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316" r:id="rId3"/>
    <p:sldId id="367" r:id="rId4"/>
    <p:sldId id="368" r:id="rId5"/>
    <p:sldId id="370" r:id="rId6"/>
    <p:sldId id="295" r:id="rId7"/>
    <p:sldId id="296" r:id="rId8"/>
    <p:sldId id="320" r:id="rId10"/>
    <p:sldId id="325" r:id="rId11"/>
    <p:sldId id="324" r:id="rId12"/>
    <p:sldId id="323" r:id="rId13"/>
    <p:sldId id="312" r:id="rId14"/>
    <p:sldId id="332" r:id="rId15"/>
    <p:sldId id="334" r:id="rId16"/>
    <p:sldId id="335" r:id="rId17"/>
    <p:sldId id="344" r:id="rId18"/>
    <p:sldId id="338" r:id="rId19"/>
    <p:sldId id="357" r:id="rId20"/>
    <p:sldId id="440" r:id="rId21"/>
    <p:sldId id="441" r:id="rId22"/>
    <p:sldId id="393" r:id="rId23"/>
    <p:sldId id="401" r:id="rId24"/>
    <p:sldId id="444" r:id="rId25"/>
    <p:sldId id="445" r:id="rId26"/>
    <p:sldId id="446" r:id="rId27"/>
    <p:sldId id="447" r:id="rId28"/>
    <p:sldId id="448" r:id="rId29"/>
    <p:sldId id="322" r:id="rId30"/>
    <p:sldId id="449" r:id="rId31"/>
    <p:sldId id="326" r:id="rId32"/>
    <p:sldId id="327" r:id="rId33"/>
    <p:sldId id="328" r:id="rId34"/>
    <p:sldId id="329" r:id="rId35"/>
    <p:sldId id="414" r:id="rId36"/>
    <p:sldId id="450" r:id="rId37"/>
    <p:sldId id="451" r:id="rId38"/>
    <p:sldId id="336" r:id="rId39"/>
    <p:sldId id="452" r:id="rId40"/>
    <p:sldId id="453" r:id="rId41"/>
    <p:sldId id="454" r:id="rId42"/>
    <p:sldId id="455" r:id="rId43"/>
    <p:sldId id="463" r:id="rId44"/>
    <p:sldId id="456" r:id="rId45"/>
    <p:sldId id="457" r:id="rId46"/>
    <p:sldId id="459" r:id="rId47"/>
    <p:sldId id="460" r:id="rId48"/>
    <p:sldId id="461" r:id="rId49"/>
    <p:sldId id="464" r:id="rId50"/>
    <p:sldId id="465" r:id="rId51"/>
  </p:sldIdLst>
  <p:sldSz cx="12192000" cy="6858000"/>
  <p:notesSz cx="6858000" cy="9144000"/>
  <p:custDataLst>
    <p:tags r:id="rId5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2"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559" autoAdjust="0"/>
    <p:restoredTop sz="81065" autoAdjust="0"/>
  </p:normalViewPr>
  <p:slideViewPr>
    <p:cSldViewPr snapToGrid="0" showGuides="1">
      <p:cViewPr varScale="1">
        <p:scale>
          <a:sx n="92" d="100"/>
          <a:sy n="92" d="100"/>
        </p:scale>
        <p:origin x="1026" y="84"/>
      </p:cViewPr>
      <p:guideLst>
        <p:guide orient="horz" pos="2162"/>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5" Type="http://schemas.openxmlformats.org/officeDocument/2006/relationships/tags" Target="tags/tag1.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DF4B12-1BB9-4789-80D8-0EC8CEEDF9D7}"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0525C2-DC29-4E25-91E8-DA061A1FE72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黑体" panose="02010609060101010101" pitchFamily="49" charset="-122"/>
                <a:ea typeface="黑体" panose="02010609060101010101" pitchFamily="49" charset="-122"/>
              </a:rPr>
              <a:t>下面将叙述细菌和噬菌体遗传物质的交换过程，并且将利用这些方法作出细菌和噬菌体的染色体图。</a:t>
            </a:r>
            <a:endParaRPr lang="zh-CN" altLang="en-US" dirty="0"/>
          </a:p>
        </p:txBody>
      </p:sp>
      <p:sp>
        <p:nvSpPr>
          <p:cNvPr id="4" name="灯片编号占位符 3"/>
          <p:cNvSpPr>
            <a:spLocks noGrp="1"/>
          </p:cNvSpPr>
          <p:nvPr>
            <p:ph type="sldNum" sz="quarter" idx="5"/>
          </p:nvPr>
        </p:nvSpPr>
        <p:spPr/>
        <p:txBody>
          <a:bodyPr/>
          <a:lstStyle/>
          <a:p>
            <a:fld id="{240525C2-DC29-4E25-91E8-DA061A1FE726}"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突变？交换养料？重组？</a:t>
            </a:r>
            <a:endParaRPr lang="zh-CN" altLang="en-US" dirty="0"/>
          </a:p>
        </p:txBody>
      </p:sp>
      <p:sp>
        <p:nvSpPr>
          <p:cNvPr id="4" name="灯片编号占位符 3"/>
          <p:cNvSpPr>
            <a:spLocks noGrp="1"/>
          </p:cNvSpPr>
          <p:nvPr>
            <p:ph type="sldNum" sz="quarter" idx="10"/>
          </p:nvPr>
        </p:nvSpPr>
        <p:spPr/>
        <p:txBody>
          <a:bodyPr/>
          <a:lstStyle/>
          <a:p>
            <a:fld id="{240525C2-DC29-4E25-91E8-DA061A1FE726}"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defRPr/>
            </a:pPr>
            <a:r>
              <a:rPr lang="zh-CN" altLang="en-US" sz="2000" dirty="0"/>
              <a:t>概括上面的两个实验，我们可以这样说，菌株</a:t>
            </a:r>
            <a:r>
              <a:rPr lang="en-US" altLang="zh-CN" sz="2000" dirty="0"/>
              <a:t>A</a:t>
            </a:r>
            <a:r>
              <a:rPr lang="zh-CN" altLang="en-US" sz="2000" dirty="0"/>
              <a:t>和菌株</a:t>
            </a:r>
            <a:r>
              <a:rPr lang="en-US" altLang="zh-CN" sz="2000" dirty="0"/>
              <a:t>B</a:t>
            </a:r>
            <a:r>
              <a:rPr lang="zh-CN" altLang="en-US" sz="2000" dirty="0"/>
              <a:t>通过接触后，可能就像高等生物的有性生殖过程一样，发生了杂交，遗传物质有了交换，产生与两个亲代菌株不同的野生型菌株。</a:t>
            </a:r>
            <a:endParaRPr lang="zh-CN" altLang="en-US" sz="2000" dirty="0"/>
          </a:p>
          <a:p>
            <a:endParaRPr lang="zh-CN" altLang="en-US" dirty="0"/>
          </a:p>
        </p:txBody>
      </p:sp>
      <p:sp>
        <p:nvSpPr>
          <p:cNvPr id="4" name="灯片编号占位符 3"/>
          <p:cNvSpPr>
            <a:spLocks noGrp="1"/>
          </p:cNvSpPr>
          <p:nvPr>
            <p:ph type="sldNum" sz="quarter" idx="10"/>
          </p:nvPr>
        </p:nvSpPr>
        <p:spPr/>
        <p:txBody>
          <a:bodyPr/>
          <a:lstStyle/>
          <a:p>
            <a:fld id="{240525C2-DC29-4E25-91E8-DA061A1FE726}"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40525C2-DC29-4E25-91E8-DA061A1FE726}"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40525C2-DC29-4E25-91E8-DA061A1FE726}"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结果发现，在两菌株混合后 </a:t>
            </a:r>
            <a:r>
              <a:rPr lang="en-US" altLang="zh-CN" dirty="0"/>
              <a:t>8 min </a:t>
            </a:r>
            <a:r>
              <a:rPr lang="zh-CN" altLang="en-US" dirty="0"/>
              <a:t>取样时，还未见有供体菌的非选择性标记基因进入 </a:t>
            </a:r>
            <a:r>
              <a:rPr lang="en-US" altLang="zh-CN" dirty="0"/>
              <a:t>F− </a:t>
            </a:r>
            <a:r>
              <a:rPr lang="zh-CN" altLang="en-US" dirty="0"/>
              <a:t>细胞。</a:t>
            </a:r>
            <a:endParaRPr lang="en-US" altLang="zh-CN" dirty="0"/>
          </a:p>
          <a:p>
            <a:r>
              <a:rPr lang="zh-CN" altLang="en-US" dirty="0"/>
              <a:t>在混合后 </a:t>
            </a:r>
            <a:r>
              <a:rPr lang="en-US" altLang="zh-CN" dirty="0"/>
              <a:t>9 min</a:t>
            </a:r>
            <a:r>
              <a:rPr lang="zh-CN" altLang="en-US" dirty="0"/>
              <a:t>，开始出现少量叠氮化钠抗性菌落，但此时受体菌对 </a:t>
            </a:r>
            <a:r>
              <a:rPr lang="en-US" altLang="zh-CN" dirty="0"/>
              <a:t>T1 </a:t>
            </a:r>
            <a:r>
              <a:rPr lang="zh-CN" altLang="en-US" dirty="0"/>
              <a:t>噬菌体还是敏感的，说明 </a:t>
            </a:r>
            <a:r>
              <a:rPr lang="en-US" altLang="zh-CN" dirty="0" err="1"/>
              <a:t>tonr</a:t>
            </a:r>
            <a:r>
              <a:rPr lang="en-US" altLang="zh-CN" dirty="0"/>
              <a:t> </a:t>
            </a:r>
            <a:r>
              <a:rPr lang="zh-CN" altLang="en-US" dirty="0"/>
              <a:t>基因尚未进入 </a:t>
            </a:r>
            <a:r>
              <a:rPr lang="en-US" altLang="zh-CN" dirty="0"/>
              <a:t>F− </a:t>
            </a:r>
            <a:r>
              <a:rPr lang="zh-CN" altLang="en-US" dirty="0"/>
              <a:t>细菌中。</a:t>
            </a:r>
            <a:endParaRPr lang="en-US" altLang="zh-CN" dirty="0"/>
          </a:p>
          <a:p>
            <a:r>
              <a:rPr lang="zh-CN" altLang="en-US" dirty="0"/>
              <a:t>混合后 </a:t>
            </a:r>
            <a:r>
              <a:rPr lang="en-US" altLang="zh-CN" dirty="0"/>
              <a:t>11 min </a:t>
            </a:r>
            <a:r>
              <a:rPr lang="zh-CN" altLang="en-US" dirty="0"/>
              <a:t>时，开始出现对 </a:t>
            </a:r>
            <a:r>
              <a:rPr lang="en-US" altLang="zh-CN" dirty="0"/>
              <a:t>T1 </a:t>
            </a:r>
            <a:r>
              <a:rPr lang="zh-CN" altLang="en-US" dirty="0"/>
              <a:t>噬菌体有抗性的菌落。</a:t>
            </a:r>
            <a:endParaRPr lang="en-US" altLang="zh-CN" dirty="0"/>
          </a:p>
          <a:p>
            <a:r>
              <a:rPr lang="zh-CN" altLang="en-US" dirty="0"/>
              <a:t>混合后 </a:t>
            </a:r>
            <a:r>
              <a:rPr lang="en-US" altLang="zh-CN" dirty="0"/>
              <a:t>18 min </a:t>
            </a:r>
            <a:r>
              <a:rPr lang="zh-CN" altLang="en-US" dirty="0"/>
              <a:t>和 </a:t>
            </a:r>
            <a:r>
              <a:rPr lang="en-US" altLang="zh-CN" dirty="0"/>
              <a:t>25 min</a:t>
            </a:r>
            <a:r>
              <a:rPr lang="zh-CN" altLang="en-US" dirty="0"/>
              <a:t>，又陆续出现乳糖能利用（</a:t>
            </a:r>
            <a:r>
              <a:rPr lang="en-US" altLang="zh-CN" dirty="0"/>
              <a:t>lac+</a:t>
            </a:r>
            <a:r>
              <a:rPr lang="zh-CN" altLang="en-US" dirty="0"/>
              <a:t>）和半乳糖能利用（</a:t>
            </a:r>
            <a:r>
              <a:rPr lang="en-US" altLang="zh-CN" dirty="0"/>
              <a:t>gal+</a:t>
            </a:r>
            <a:r>
              <a:rPr lang="zh-CN" altLang="en-US" dirty="0"/>
              <a:t>）菌落，而在这以前，全部菌落都属于不能利用型。</a:t>
            </a:r>
            <a:endParaRPr lang="zh-CN" altLang="en-US" dirty="0"/>
          </a:p>
          <a:p>
            <a:r>
              <a:rPr lang="zh-CN" altLang="en-US" dirty="0"/>
              <a:t>还可以看到，从 </a:t>
            </a:r>
            <a:r>
              <a:rPr lang="en-US" altLang="zh-CN" dirty="0" err="1"/>
              <a:t>Hfr</a:t>
            </a:r>
            <a:r>
              <a:rPr lang="en-US" altLang="zh-CN" dirty="0"/>
              <a:t> </a:t>
            </a:r>
            <a:r>
              <a:rPr lang="zh-CN" altLang="en-US" dirty="0"/>
              <a:t>菌株的基因在 </a:t>
            </a:r>
            <a:r>
              <a:rPr lang="en-US" altLang="zh-CN" dirty="0"/>
              <a:t>F− </a:t>
            </a:r>
            <a:r>
              <a:rPr lang="zh-CN" altLang="en-US" dirty="0"/>
              <a:t>细菌中出现开始，随着时间的推移，携带这一基因的菌落逐渐增加，直到某一百分数为止；而且某一基因出现的时间愈早，它所达到的百分数也愈高。</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240525C2-DC29-4E25-91E8-DA061A1FE726}"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r>
              <a:rPr lang="zh-CN" altLang="en-US" sz="1200" dirty="0">
                <a:latin typeface="Times New Roman" panose="02020603050405020304" pitchFamily="18" charset="0"/>
                <a:ea typeface="微软雅黑" panose="020B0503020204020204" charset="-122"/>
                <a:cs typeface="Times New Roman" panose="02020603050405020304" pitchFamily="18" charset="0"/>
              </a:rPr>
              <a:t>（</a:t>
            </a:r>
            <a:r>
              <a:rPr lang="en-US" altLang="zh-CN" sz="1200" dirty="0">
                <a:latin typeface="Times New Roman" panose="02020603050405020304" pitchFamily="18" charset="0"/>
                <a:ea typeface="微软雅黑" panose="020B0503020204020204" charset="-122"/>
                <a:cs typeface="Times New Roman" panose="02020603050405020304" pitchFamily="18" charset="0"/>
              </a:rPr>
              <a:t>a</a:t>
            </a:r>
            <a:r>
              <a:rPr lang="zh-CN" altLang="en-US" sz="1200" dirty="0">
                <a:latin typeface="Times New Roman" panose="02020603050405020304" pitchFamily="18" charset="0"/>
                <a:ea typeface="微软雅黑" panose="020B0503020204020204" charset="-122"/>
                <a:cs typeface="Times New Roman" panose="02020603050405020304" pitchFamily="18" charset="0"/>
              </a:rPr>
              <a:t>） </a:t>
            </a:r>
            <a:r>
              <a:rPr lang="en-US" altLang="zh-CN" sz="1200" dirty="0" err="1">
                <a:latin typeface="Times New Roman" panose="02020603050405020304" pitchFamily="18" charset="0"/>
                <a:ea typeface="微软雅黑" panose="020B0503020204020204" charset="-122"/>
                <a:cs typeface="Times New Roman" panose="02020603050405020304" pitchFamily="18" charset="0"/>
              </a:rPr>
              <a:t>F</a:t>
            </a:r>
            <a:r>
              <a:rPr lang="en-US" altLang="zh-CN" sz="1200" baseline="30000" dirty="0" err="1">
                <a:latin typeface="Times New Roman" panose="02020603050405020304" pitchFamily="18" charset="0"/>
                <a:ea typeface="微软雅黑" panose="020B0503020204020204" charset="-122"/>
                <a:cs typeface="Times New Roman" panose="02020603050405020304" pitchFamily="18" charset="0"/>
              </a:rPr>
              <a:t>+</a:t>
            </a:r>
            <a:r>
              <a:rPr lang="en-US" altLang="zh-CN" sz="1200" i="1" dirty="0" err="1">
                <a:latin typeface="Times New Roman" panose="02020603050405020304" pitchFamily="18" charset="0"/>
                <a:ea typeface="微软雅黑" panose="020B0503020204020204" charset="-122"/>
                <a:cs typeface="Times New Roman" panose="02020603050405020304" pitchFamily="18" charset="0"/>
              </a:rPr>
              <a:t>a</a:t>
            </a:r>
            <a:r>
              <a:rPr lang="en-US" altLang="zh-CN" sz="1200" i="1" baseline="30000" dirty="0">
                <a:latin typeface="Times New Roman" panose="02020603050405020304" pitchFamily="18" charset="0"/>
                <a:ea typeface="微软雅黑" panose="020B0503020204020204" charset="-122"/>
                <a:cs typeface="Times New Roman" panose="02020603050405020304" pitchFamily="18" charset="0"/>
              </a:rPr>
              <a:t>+ </a:t>
            </a:r>
            <a:r>
              <a:rPr lang="zh-CN" altLang="en-US" sz="1200" dirty="0">
                <a:latin typeface="Times New Roman" panose="02020603050405020304" pitchFamily="18" charset="0"/>
                <a:ea typeface="微软雅黑" panose="020B0503020204020204" charset="-122"/>
                <a:cs typeface="Times New Roman" panose="02020603050405020304" pitchFamily="18" charset="0"/>
              </a:rPr>
              <a:t>细菌与 </a:t>
            </a:r>
            <a:r>
              <a:rPr lang="en-US" altLang="zh-CN" sz="1200" dirty="0">
                <a:latin typeface="Times New Roman" panose="02020603050405020304" pitchFamily="18" charset="0"/>
                <a:ea typeface="微软雅黑" panose="020B0503020204020204" charset="-122"/>
                <a:cs typeface="Times New Roman" panose="02020603050405020304" pitchFamily="18" charset="0"/>
              </a:rPr>
              <a:t>F</a:t>
            </a:r>
            <a:r>
              <a:rPr lang="en-US" altLang="zh-CN" sz="1200" baseline="30000" dirty="0">
                <a:latin typeface="Times New Roman" panose="02020603050405020304" pitchFamily="18" charset="0"/>
                <a:ea typeface="微软雅黑" panose="020B0503020204020204" charset="-122"/>
                <a:cs typeface="Times New Roman" panose="02020603050405020304" pitchFamily="18" charset="0"/>
              </a:rPr>
              <a:t>-</a:t>
            </a:r>
            <a:r>
              <a:rPr lang="en-US" altLang="zh-CN" sz="1200" i="1" dirty="0">
                <a:latin typeface="Times New Roman" panose="02020603050405020304" pitchFamily="18" charset="0"/>
                <a:ea typeface="微软雅黑" panose="020B0503020204020204" charset="-122"/>
                <a:cs typeface="Times New Roman" panose="02020603050405020304" pitchFamily="18" charset="0"/>
              </a:rPr>
              <a:t>a</a:t>
            </a:r>
            <a:r>
              <a:rPr lang="en-US" altLang="zh-CN" sz="1200" i="1" baseline="30000" dirty="0">
                <a:latin typeface="Times New Roman" panose="02020603050405020304" pitchFamily="18" charset="0"/>
                <a:ea typeface="微软雅黑" panose="020B0503020204020204" charset="-122"/>
                <a:cs typeface="Times New Roman" panose="02020603050405020304" pitchFamily="18" charset="0"/>
              </a:rPr>
              <a:t>-</a:t>
            </a:r>
            <a:r>
              <a:rPr lang="en-US" altLang="zh-CN" sz="1200" dirty="0">
                <a:latin typeface="Times New Roman" panose="02020603050405020304" pitchFamily="18" charset="0"/>
                <a:ea typeface="微软雅黑" panose="020B0503020204020204" charset="-122"/>
                <a:cs typeface="Times New Roman" panose="02020603050405020304" pitchFamily="18" charset="0"/>
              </a:rPr>
              <a:t> </a:t>
            </a:r>
            <a:r>
              <a:rPr lang="zh-CN" altLang="en-US" sz="1200" dirty="0">
                <a:latin typeface="Times New Roman" panose="02020603050405020304" pitchFamily="18" charset="0"/>
                <a:ea typeface="微软雅黑" panose="020B0503020204020204" charset="-122"/>
                <a:cs typeface="Times New Roman" panose="02020603050405020304" pitchFamily="18" charset="0"/>
              </a:rPr>
              <a:t>细菌配对，接合管形成，</a:t>
            </a:r>
            <a:r>
              <a:rPr lang="en-US" altLang="zh-CN" sz="1200" dirty="0">
                <a:latin typeface="Times New Roman" panose="02020603050405020304" pitchFamily="18" charset="0"/>
                <a:ea typeface="微软雅黑" panose="020B0503020204020204" charset="-122"/>
                <a:cs typeface="Times New Roman" panose="02020603050405020304" pitchFamily="18" charset="0"/>
              </a:rPr>
              <a:t>F</a:t>
            </a:r>
            <a:r>
              <a:rPr lang="en-US" altLang="zh-CN" sz="1200" baseline="30000" dirty="0">
                <a:latin typeface="Times New Roman" panose="02020603050405020304" pitchFamily="18" charset="0"/>
                <a:ea typeface="微软雅黑" panose="020B0503020204020204" charset="-122"/>
                <a:cs typeface="Times New Roman" panose="02020603050405020304" pitchFamily="18" charset="0"/>
              </a:rPr>
              <a:t>+</a:t>
            </a:r>
            <a:r>
              <a:rPr lang="en-US" altLang="zh-CN" sz="1200" dirty="0">
                <a:latin typeface="Times New Roman" panose="02020603050405020304" pitchFamily="18" charset="0"/>
                <a:ea typeface="微软雅黑" panose="020B0503020204020204" charset="-122"/>
                <a:cs typeface="Times New Roman" panose="02020603050405020304" pitchFamily="18" charset="0"/>
              </a:rPr>
              <a:t> </a:t>
            </a:r>
            <a:r>
              <a:rPr lang="zh-CN" altLang="en-US" sz="1200" dirty="0">
                <a:latin typeface="Times New Roman" panose="02020603050405020304" pitchFamily="18" charset="0"/>
                <a:ea typeface="微软雅黑" panose="020B0503020204020204" charset="-122"/>
                <a:cs typeface="Times New Roman" panose="02020603050405020304" pitchFamily="18" charset="0"/>
              </a:rPr>
              <a:t>细胞中 </a:t>
            </a:r>
            <a:r>
              <a:rPr lang="en-US" altLang="zh-CN" sz="1200" dirty="0">
                <a:latin typeface="Times New Roman" panose="02020603050405020304" pitchFamily="18" charset="0"/>
                <a:ea typeface="微软雅黑" panose="020B0503020204020204" charset="-122"/>
                <a:cs typeface="Times New Roman" panose="02020603050405020304" pitchFamily="18" charset="0"/>
              </a:rPr>
              <a:t>F </a:t>
            </a:r>
            <a:r>
              <a:rPr lang="zh-CN" altLang="en-US" sz="1200" dirty="0">
                <a:latin typeface="Times New Roman" panose="02020603050405020304" pitchFamily="18" charset="0"/>
                <a:ea typeface="微软雅黑" panose="020B0503020204020204" charset="-122"/>
                <a:cs typeface="Times New Roman" panose="02020603050405020304" pitchFamily="18" charset="0"/>
              </a:rPr>
              <a:t>因子复制，其中一个通过接合管进入 </a:t>
            </a:r>
            <a:r>
              <a:rPr lang="en-US" altLang="zh-CN" sz="1200" dirty="0">
                <a:latin typeface="Times New Roman" panose="02020603050405020304" pitchFamily="18" charset="0"/>
                <a:ea typeface="微软雅黑" panose="020B0503020204020204" charset="-122"/>
                <a:cs typeface="Times New Roman" panose="02020603050405020304" pitchFamily="18" charset="0"/>
              </a:rPr>
              <a:t>F</a:t>
            </a:r>
            <a:r>
              <a:rPr lang="en-US" altLang="zh-CN" sz="1200" baseline="30000" dirty="0">
                <a:latin typeface="Times New Roman" panose="02020603050405020304" pitchFamily="18" charset="0"/>
                <a:ea typeface="微软雅黑" panose="020B0503020204020204" charset="-122"/>
                <a:cs typeface="Times New Roman" panose="02020603050405020304" pitchFamily="18" charset="0"/>
              </a:rPr>
              <a:t>- </a:t>
            </a:r>
            <a:r>
              <a:rPr lang="zh-CN" altLang="en-US" sz="1200" dirty="0">
                <a:latin typeface="Times New Roman" panose="02020603050405020304" pitchFamily="18" charset="0"/>
                <a:ea typeface="微软雅黑" panose="020B0503020204020204" charset="-122"/>
                <a:cs typeface="Times New Roman" panose="02020603050405020304" pitchFamily="18" charset="0"/>
              </a:rPr>
              <a:t>细菌。一般，转移只限于</a:t>
            </a:r>
            <a:r>
              <a:rPr lang="en-US" altLang="zh-CN" sz="1200" dirty="0">
                <a:latin typeface="Times New Roman" panose="02020603050405020304" pitchFamily="18" charset="0"/>
                <a:ea typeface="微软雅黑" panose="020B0503020204020204" charset="-122"/>
                <a:cs typeface="Times New Roman" panose="02020603050405020304" pitchFamily="18" charset="0"/>
              </a:rPr>
              <a:t>F</a:t>
            </a:r>
            <a:r>
              <a:rPr lang="zh-CN" altLang="en-US" sz="1200" dirty="0">
                <a:latin typeface="Times New Roman" panose="02020603050405020304" pitchFamily="18" charset="0"/>
                <a:ea typeface="微软雅黑" panose="020B0503020204020204" charset="-122"/>
                <a:cs typeface="Times New Roman" panose="02020603050405020304" pitchFamily="18" charset="0"/>
              </a:rPr>
              <a:t>因子，细菌染色体的转移频率极低。两个接合后体（</a:t>
            </a:r>
            <a:r>
              <a:rPr lang="en-US" altLang="zh-CN" sz="1200" dirty="0">
                <a:latin typeface="Times New Roman" panose="02020603050405020304" pitchFamily="18" charset="0"/>
                <a:ea typeface="微软雅黑" panose="020B0503020204020204" charset="-122"/>
                <a:cs typeface="Times New Roman" panose="02020603050405020304" pitchFamily="18" charset="0"/>
              </a:rPr>
              <a:t>exconjugant</a:t>
            </a:r>
            <a:r>
              <a:rPr lang="zh-CN" altLang="en-US" sz="1200" dirty="0">
                <a:latin typeface="Times New Roman" panose="02020603050405020304" pitchFamily="18" charset="0"/>
                <a:ea typeface="微软雅黑" panose="020B0503020204020204" charset="-122"/>
                <a:cs typeface="Times New Roman" panose="02020603050405020304" pitchFamily="18" charset="0"/>
              </a:rPr>
              <a:t>）都是 </a:t>
            </a:r>
            <a:r>
              <a:rPr lang="en-US" altLang="zh-CN" sz="1200" dirty="0">
                <a:latin typeface="Times New Roman" panose="02020603050405020304" pitchFamily="18" charset="0"/>
                <a:ea typeface="微软雅黑" panose="020B0503020204020204" charset="-122"/>
                <a:cs typeface="Times New Roman" panose="02020603050405020304" pitchFamily="18" charset="0"/>
              </a:rPr>
              <a:t>F</a:t>
            </a:r>
            <a:r>
              <a:rPr lang="en-US" altLang="zh-CN" sz="1200" baseline="30000" dirty="0">
                <a:latin typeface="Times New Roman" panose="02020603050405020304" pitchFamily="18" charset="0"/>
                <a:ea typeface="微软雅黑" panose="020B0503020204020204" charset="-122"/>
                <a:cs typeface="Times New Roman" panose="02020603050405020304" pitchFamily="18" charset="0"/>
              </a:rPr>
              <a:t>+</a:t>
            </a:r>
            <a:r>
              <a:rPr lang="zh-CN" altLang="en-US" sz="1200" dirty="0">
                <a:latin typeface="Times New Roman" panose="02020603050405020304" pitchFamily="18" charset="0"/>
                <a:ea typeface="微软雅黑" panose="020B0503020204020204" charset="-122"/>
                <a:cs typeface="Times New Roman" panose="02020603050405020304" pitchFamily="18" charset="0"/>
              </a:rPr>
              <a:t>。</a:t>
            </a:r>
            <a:endParaRPr lang="en-US" altLang="zh-CN" sz="1200" dirty="0">
              <a:latin typeface="Times New Roman" panose="02020603050405020304" pitchFamily="18" charset="0"/>
              <a:ea typeface="微软雅黑" panose="020B0503020204020204" charset="-122"/>
              <a:cs typeface="Times New Roman" panose="02020603050405020304" pitchFamily="18" charset="0"/>
            </a:endParaRPr>
          </a:p>
          <a:p>
            <a:pPr>
              <a:lnSpc>
                <a:spcPct val="150000"/>
              </a:lnSpc>
            </a:pPr>
            <a:r>
              <a:rPr lang="zh-CN" altLang="en-US" sz="1200" dirty="0">
                <a:latin typeface="Times New Roman" panose="02020603050405020304" pitchFamily="18" charset="0"/>
                <a:ea typeface="微软雅黑" panose="020B0503020204020204" charset="-122"/>
                <a:cs typeface="Times New Roman" panose="02020603050405020304" pitchFamily="18" charset="0"/>
              </a:rPr>
              <a:t>（</a:t>
            </a:r>
            <a:r>
              <a:rPr lang="en-US" altLang="zh-CN" sz="1200" dirty="0">
                <a:latin typeface="Times New Roman" panose="02020603050405020304" pitchFamily="18" charset="0"/>
                <a:ea typeface="微软雅黑" panose="020B0503020204020204" charset="-122"/>
                <a:cs typeface="Times New Roman" panose="02020603050405020304" pitchFamily="18" charset="0"/>
              </a:rPr>
              <a:t>b</a:t>
            </a:r>
            <a:r>
              <a:rPr lang="zh-CN" altLang="en-US" sz="1200" dirty="0">
                <a:latin typeface="Times New Roman" panose="02020603050405020304" pitchFamily="18" charset="0"/>
                <a:ea typeface="微软雅黑" panose="020B0503020204020204" charset="-122"/>
                <a:cs typeface="Times New Roman" panose="02020603050405020304" pitchFamily="18" charset="0"/>
              </a:rPr>
              <a:t>）</a:t>
            </a:r>
            <a:r>
              <a:rPr lang="en-US" altLang="zh-CN" sz="1200" dirty="0" err="1">
                <a:latin typeface="Times New Roman" panose="02020603050405020304" pitchFamily="18" charset="0"/>
                <a:ea typeface="微软雅黑" panose="020B0503020204020204" charset="-122"/>
                <a:cs typeface="Times New Roman" panose="02020603050405020304" pitchFamily="18" charset="0"/>
              </a:rPr>
              <a:t>Hfr</a:t>
            </a:r>
            <a:r>
              <a:rPr lang="en-US" altLang="zh-CN" sz="1200" dirty="0">
                <a:latin typeface="Times New Roman" panose="02020603050405020304" pitchFamily="18" charset="0"/>
                <a:ea typeface="微软雅黑" panose="020B0503020204020204" charset="-122"/>
                <a:cs typeface="Times New Roman" panose="02020603050405020304" pitchFamily="18" charset="0"/>
              </a:rPr>
              <a:t> </a:t>
            </a:r>
            <a:r>
              <a:rPr lang="en-US" altLang="zh-CN" sz="1200" i="1" dirty="0">
                <a:latin typeface="Times New Roman" panose="02020603050405020304" pitchFamily="18" charset="0"/>
                <a:ea typeface="微软雅黑" panose="020B0503020204020204" charset="-122"/>
                <a:cs typeface="Times New Roman" panose="02020603050405020304" pitchFamily="18" charset="0"/>
              </a:rPr>
              <a:t>a</a:t>
            </a:r>
            <a:r>
              <a:rPr lang="en-US" altLang="zh-CN" sz="1200" i="1" baseline="30000" dirty="0">
                <a:latin typeface="Times New Roman" panose="02020603050405020304" pitchFamily="18" charset="0"/>
                <a:ea typeface="微软雅黑" panose="020B0503020204020204" charset="-122"/>
                <a:cs typeface="Times New Roman" panose="02020603050405020304" pitchFamily="18" charset="0"/>
              </a:rPr>
              <a:t>+</a:t>
            </a:r>
            <a:r>
              <a:rPr lang="en-US" altLang="zh-CN" sz="1200" i="1" dirty="0">
                <a:latin typeface="Times New Roman" panose="02020603050405020304" pitchFamily="18" charset="0"/>
                <a:ea typeface="微软雅黑" panose="020B0503020204020204" charset="-122"/>
                <a:cs typeface="Times New Roman" panose="02020603050405020304" pitchFamily="18" charset="0"/>
              </a:rPr>
              <a:t> </a:t>
            </a:r>
            <a:r>
              <a:rPr lang="zh-CN" altLang="en-US" sz="1200" dirty="0">
                <a:latin typeface="Times New Roman" panose="02020603050405020304" pitchFamily="18" charset="0"/>
                <a:ea typeface="微软雅黑" panose="020B0503020204020204" charset="-122"/>
                <a:cs typeface="Times New Roman" panose="02020603050405020304" pitchFamily="18" charset="0"/>
              </a:rPr>
              <a:t>与 </a:t>
            </a:r>
            <a:r>
              <a:rPr lang="en-US" altLang="zh-CN" sz="1200" dirty="0">
                <a:latin typeface="Times New Roman" panose="02020603050405020304" pitchFamily="18" charset="0"/>
                <a:ea typeface="微软雅黑" panose="020B0503020204020204" charset="-122"/>
                <a:cs typeface="Times New Roman" panose="02020603050405020304" pitchFamily="18" charset="0"/>
              </a:rPr>
              <a:t>F</a:t>
            </a:r>
            <a:r>
              <a:rPr lang="en-US" altLang="zh-CN" sz="1200" baseline="30000" dirty="0">
                <a:latin typeface="Times New Roman" panose="02020603050405020304" pitchFamily="18" charset="0"/>
                <a:ea typeface="微软雅黑" panose="020B0503020204020204" charset="-122"/>
                <a:cs typeface="Times New Roman" panose="02020603050405020304" pitchFamily="18" charset="0"/>
              </a:rPr>
              <a:t>-</a:t>
            </a:r>
            <a:r>
              <a:rPr lang="en-US" altLang="zh-CN" sz="1200" i="1" dirty="0">
                <a:latin typeface="Times New Roman" panose="02020603050405020304" pitchFamily="18" charset="0"/>
                <a:ea typeface="微软雅黑" panose="020B0503020204020204" charset="-122"/>
                <a:cs typeface="Times New Roman" panose="02020603050405020304" pitchFamily="18" charset="0"/>
              </a:rPr>
              <a:t>a</a:t>
            </a:r>
            <a:r>
              <a:rPr lang="en-US" altLang="zh-CN" sz="1200" i="1" baseline="30000" dirty="0">
                <a:latin typeface="Times New Roman" panose="02020603050405020304" pitchFamily="18" charset="0"/>
                <a:ea typeface="微软雅黑" panose="020B0503020204020204" charset="-122"/>
                <a:cs typeface="Times New Roman" panose="02020603050405020304" pitchFamily="18" charset="0"/>
              </a:rPr>
              <a:t>- </a:t>
            </a:r>
            <a:r>
              <a:rPr lang="zh-CN" altLang="en-US" sz="1200" dirty="0">
                <a:latin typeface="Times New Roman" panose="02020603050405020304" pitchFamily="18" charset="0"/>
                <a:ea typeface="微软雅黑" panose="020B0503020204020204" charset="-122"/>
                <a:cs typeface="Times New Roman" panose="02020603050405020304" pitchFamily="18" charset="0"/>
              </a:rPr>
              <a:t>杂交时，接合管形成，</a:t>
            </a:r>
            <a:r>
              <a:rPr lang="en-US" altLang="zh-CN" sz="1200" dirty="0" err="1">
                <a:latin typeface="Times New Roman" panose="02020603050405020304" pitchFamily="18" charset="0"/>
                <a:ea typeface="微软雅黑" panose="020B0503020204020204" charset="-122"/>
                <a:cs typeface="Times New Roman" panose="02020603050405020304" pitchFamily="18" charset="0"/>
              </a:rPr>
              <a:t>Hfr</a:t>
            </a:r>
            <a:r>
              <a:rPr lang="en-US" altLang="zh-CN" sz="1200" dirty="0">
                <a:latin typeface="Times New Roman" panose="02020603050405020304" pitchFamily="18" charset="0"/>
                <a:ea typeface="微软雅黑" panose="020B0503020204020204" charset="-122"/>
                <a:cs typeface="Times New Roman" panose="02020603050405020304" pitchFamily="18" charset="0"/>
              </a:rPr>
              <a:t> </a:t>
            </a:r>
            <a:r>
              <a:rPr lang="zh-CN" altLang="en-US" sz="1200" dirty="0">
                <a:latin typeface="Times New Roman" panose="02020603050405020304" pitchFamily="18" charset="0"/>
                <a:ea typeface="微软雅黑" panose="020B0503020204020204" charset="-122"/>
                <a:cs typeface="Times New Roman" panose="02020603050405020304" pitchFamily="18" charset="0"/>
              </a:rPr>
              <a:t>染色体复制。一个拷贝的原点和附近的基因通过接合管进入受体细菌。在复制和转移过程中，接合管断裂，交配中细菌分开。</a:t>
            </a:r>
            <a:r>
              <a:rPr lang="en-US" altLang="zh-CN" sz="1200" dirty="0" err="1">
                <a:latin typeface="Times New Roman" panose="02020603050405020304" pitchFamily="18" charset="0"/>
                <a:ea typeface="微软雅黑" panose="020B0503020204020204" charset="-122"/>
                <a:cs typeface="Times New Roman" panose="02020603050405020304" pitchFamily="18" charset="0"/>
              </a:rPr>
              <a:t>Hfr</a:t>
            </a:r>
            <a:r>
              <a:rPr lang="en-US" altLang="zh-CN" sz="1200" dirty="0">
                <a:latin typeface="Times New Roman" panose="02020603050405020304" pitchFamily="18" charset="0"/>
                <a:ea typeface="微软雅黑" panose="020B0503020204020204" charset="-122"/>
                <a:cs typeface="Times New Roman" panose="02020603050405020304" pitchFamily="18" charset="0"/>
              </a:rPr>
              <a:t> </a:t>
            </a:r>
            <a:r>
              <a:rPr lang="zh-CN" altLang="en-US" sz="1200" dirty="0">
                <a:latin typeface="Times New Roman" panose="02020603050405020304" pitchFamily="18" charset="0"/>
                <a:ea typeface="微软雅黑" panose="020B0503020204020204" charset="-122"/>
                <a:cs typeface="Times New Roman" panose="02020603050405020304" pitchFamily="18" charset="0"/>
              </a:rPr>
              <a:t>的部分染色体进入受体细菌，</a:t>
            </a:r>
            <a:r>
              <a:rPr lang="en-US" altLang="zh-CN" sz="1200" dirty="0">
                <a:latin typeface="Times New Roman" panose="02020603050405020304" pitchFamily="18" charset="0"/>
                <a:ea typeface="微软雅黑" panose="020B0503020204020204" charset="-122"/>
                <a:cs typeface="Times New Roman" panose="02020603050405020304" pitchFamily="18" charset="0"/>
              </a:rPr>
              <a:t>F </a:t>
            </a:r>
            <a:r>
              <a:rPr lang="zh-CN" altLang="en-US" sz="1200" dirty="0">
                <a:latin typeface="Times New Roman" panose="02020603050405020304" pitchFamily="18" charset="0"/>
                <a:ea typeface="微软雅黑" panose="020B0503020204020204" charset="-122"/>
                <a:cs typeface="Times New Roman" panose="02020603050405020304" pitchFamily="18" charset="0"/>
              </a:rPr>
              <a:t>因子位于 </a:t>
            </a:r>
            <a:r>
              <a:rPr lang="en-US" altLang="zh-CN" sz="1200" dirty="0" err="1">
                <a:latin typeface="Times New Roman" panose="02020603050405020304" pitchFamily="18" charset="0"/>
                <a:ea typeface="微软雅黑" panose="020B0503020204020204" charset="-122"/>
                <a:cs typeface="Times New Roman" panose="02020603050405020304" pitchFamily="18" charset="0"/>
              </a:rPr>
              <a:t>Hfr</a:t>
            </a:r>
            <a:r>
              <a:rPr lang="en-US" altLang="zh-CN" sz="1200" dirty="0">
                <a:latin typeface="Times New Roman" panose="02020603050405020304" pitchFamily="18" charset="0"/>
                <a:ea typeface="微软雅黑" panose="020B0503020204020204" charset="-122"/>
                <a:cs typeface="Times New Roman" panose="02020603050405020304" pitchFamily="18" charset="0"/>
              </a:rPr>
              <a:t> </a:t>
            </a:r>
            <a:r>
              <a:rPr lang="zh-CN" altLang="en-US" sz="1200" dirty="0">
                <a:latin typeface="Times New Roman" panose="02020603050405020304" pitchFamily="18" charset="0"/>
                <a:ea typeface="微软雅黑" panose="020B0503020204020204" charset="-122"/>
                <a:cs typeface="Times New Roman" panose="02020603050405020304" pitchFamily="18" charset="0"/>
              </a:rPr>
              <a:t>染色体的最后端，极少进入。形成的部分合子中，完整的 </a:t>
            </a:r>
            <a:r>
              <a:rPr lang="en-US" altLang="zh-CN" sz="1200" dirty="0">
                <a:latin typeface="Times New Roman" panose="02020603050405020304" pitchFamily="18" charset="0"/>
                <a:ea typeface="微软雅黑" panose="020B0503020204020204" charset="-122"/>
                <a:cs typeface="Times New Roman" panose="02020603050405020304" pitchFamily="18" charset="0"/>
              </a:rPr>
              <a:t>F</a:t>
            </a:r>
            <a:r>
              <a:rPr lang="en-US" altLang="zh-CN" sz="1200" baseline="30000" dirty="0">
                <a:latin typeface="Times New Roman" panose="02020603050405020304" pitchFamily="18" charset="0"/>
                <a:ea typeface="微软雅黑" panose="020B0503020204020204" charset="-122"/>
                <a:cs typeface="Times New Roman" panose="02020603050405020304" pitchFamily="18" charset="0"/>
              </a:rPr>
              <a:t>-</a:t>
            </a:r>
            <a:r>
              <a:rPr lang="en-US" altLang="zh-CN" sz="1200" dirty="0">
                <a:latin typeface="Times New Roman" panose="02020603050405020304" pitchFamily="18" charset="0"/>
                <a:ea typeface="微软雅黑" panose="020B0503020204020204" charset="-122"/>
                <a:cs typeface="Times New Roman" panose="02020603050405020304" pitchFamily="18" charset="0"/>
              </a:rPr>
              <a:t> </a:t>
            </a:r>
            <a:r>
              <a:rPr lang="zh-CN" altLang="en-US" sz="1200" dirty="0">
                <a:latin typeface="Times New Roman" panose="02020603050405020304" pitchFamily="18" charset="0"/>
                <a:ea typeface="微软雅黑" panose="020B0503020204020204" charset="-122"/>
                <a:cs typeface="Times New Roman" panose="02020603050405020304" pitchFamily="18" charset="0"/>
              </a:rPr>
              <a:t>染色体与 </a:t>
            </a:r>
            <a:r>
              <a:rPr lang="en-US" altLang="zh-CN" sz="1200" dirty="0" err="1">
                <a:latin typeface="Times New Roman" panose="02020603050405020304" pitchFamily="18" charset="0"/>
                <a:ea typeface="微软雅黑" panose="020B0503020204020204" charset="-122"/>
                <a:cs typeface="Times New Roman" panose="02020603050405020304" pitchFamily="18" charset="0"/>
              </a:rPr>
              <a:t>Hfr</a:t>
            </a:r>
            <a:r>
              <a:rPr lang="en-US" altLang="zh-CN" sz="1200" dirty="0">
                <a:latin typeface="Times New Roman" panose="02020603050405020304" pitchFamily="18" charset="0"/>
                <a:ea typeface="微软雅黑" panose="020B0503020204020204" charset="-122"/>
                <a:cs typeface="Times New Roman" panose="02020603050405020304" pitchFamily="18" charset="0"/>
              </a:rPr>
              <a:t> </a:t>
            </a:r>
            <a:r>
              <a:rPr lang="zh-CN" altLang="en-US" sz="1200" dirty="0">
                <a:latin typeface="Times New Roman" panose="02020603050405020304" pitchFamily="18" charset="0"/>
                <a:ea typeface="微软雅黑" panose="020B0503020204020204" charset="-122"/>
                <a:cs typeface="Times New Roman" panose="02020603050405020304" pitchFamily="18" charset="0"/>
              </a:rPr>
              <a:t>的部分染色体发生重组，产生重组子。</a:t>
            </a:r>
            <a:endParaRPr lang="zh-CN" altLang="en-US" sz="1200" dirty="0">
              <a:latin typeface="Times New Roman" panose="02020603050405020304" pitchFamily="18" charset="0"/>
              <a:ea typeface="微软雅黑" panose="020B0503020204020204"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240525C2-DC29-4E25-91E8-DA061A1FE726}"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40525C2-DC29-4E25-91E8-DA061A1FE726}"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40525C2-DC29-4E25-91E8-DA061A1FE726}"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240525C2-DC29-4E25-91E8-DA061A1FE726}"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sz="3200" b="1"/>
              <a:t>c+/+b</a:t>
            </a:r>
            <a:r>
              <a:rPr lang="zh-CN" altLang="en-US" sz="3200" b="1"/>
              <a:t>杂交，结果</a:t>
            </a:r>
            <a:r>
              <a:rPr lang="en-US" altLang="zh-CN" sz="3200" b="1"/>
              <a:t>cb</a:t>
            </a:r>
            <a:r>
              <a:rPr lang="zh-CN" altLang="en-US" sz="3200" b="1"/>
              <a:t>之间的重组率大于</a:t>
            </a:r>
            <a:r>
              <a:rPr lang="en-US" altLang="zh-CN" sz="3200" b="1"/>
              <a:t>hb</a:t>
            </a:r>
            <a:r>
              <a:rPr lang="zh-CN" altLang="en-US" sz="3200" b="1"/>
              <a:t>之间的重组率</a:t>
            </a:r>
            <a:r>
              <a:rPr lang="en-US" altLang="zh-CN" sz="3200" b="1"/>
              <a:t>12.3</a:t>
            </a:r>
            <a:endParaRPr lang="en-US" altLang="zh-CN" sz="3200" b="1"/>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defRPr/>
            </a:pPr>
            <a:r>
              <a:rPr lang="zh-CN" altLang="en-US" sz="1800" dirty="0"/>
              <a:t>例如： </a:t>
            </a:r>
            <a:r>
              <a:rPr lang="en-US" altLang="zh-CN" sz="1800" dirty="0"/>
              <a:t>P22</a:t>
            </a:r>
            <a:r>
              <a:rPr lang="zh-CN" altLang="en-US" sz="1800" dirty="0"/>
              <a:t>感染细菌细胞时，细菌染色体断裂成小片段。在形成噬菌体颗粒时，偶尔错误地将细菌染色体的片段组合到头部。</a:t>
            </a:r>
            <a:endParaRPr lang="zh-CN" altLang="en-US" sz="1800" dirty="0"/>
          </a:p>
          <a:p>
            <a:pPr marL="0" marR="0" lvl="1" indent="0" algn="l" defTabSz="914400" rtl="0" eaLnBrk="1" fontAlgn="auto" latinLnBrk="0" hangingPunct="1">
              <a:lnSpc>
                <a:spcPct val="100000"/>
              </a:lnSpc>
              <a:spcBef>
                <a:spcPts val="0"/>
              </a:spcBef>
              <a:spcAft>
                <a:spcPts val="0"/>
              </a:spcAft>
              <a:buClrTx/>
              <a:buSzTx/>
              <a:buFontTx/>
              <a:buNone/>
              <a:defRPr/>
            </a:pPr>
            <a:r>
              <a:rPr lang="zh-CN" altLang="en-US" sz="2400" b="1" dirty="0"/>
              <a:t>这种病毒或转导颗粒可以吸附到另一个细菌细胞上，注入它们的内容物，形成一个部分二倍体。导入的基因通过重组，整合到宿主菌的染色体上，就形成转导子。</a:t>
            </a:r>
            <a:endParaRPr lang="zh-CN" altLang="en-US" sz="2400" b="1" dirty="0"/>
          </a:p>
          <a:p>
            <a:endParaRPr lang="zh-CN" altLang="en-US" sz="2400" b="1" dirty="0"/>
          </a:p>
        </p:txBody>
      </p:sp>
      <p:sp>
        <p:nvSpPr>
          <p:cNvPr id="4" name="灯片编号占位符 3"/>
          <p:cNvSpPr>
            <a:spLocks noGrp="1"/>
          </p:cNvSpPr>
          <p:nvPr>
            <p:ph type="sldNum" sz="quarter" idx="10"/>
          </p:nvPr>
        </p:nvSpPr>
        <p:spPr/>
        <p:txBody>
          <a:bodyPr/>
          <a:lstStyle/>
          <a:p>
            <a:fld id="{240525C2-DC29-4E25-91E8-DA061A1FE726}"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以 </a:t>
            </a:r>
            <a:r>
              <a:rPr lang="en-US" altLang="zh-CN" dirty="0" err="1"/>
              <a:t>leu</a:t>
            </a:r>
            <a:r>
              <a:rPr lang="en-US" altLang="zh-CN" dirty="0"/>
              <a:t>+ </a:t>
            </a:r>
            <a:r>
              <a:rPr lang="zh-CN" altLang="en-US" dirty="0"/>
              <a:t>为选择标记，得知被转导的供体菌染色体中，同时有 </a:t>
            </a:r>
            <a:r>
              <a:rPr lang="en-US" altLang="zh-CN" dirty="0"/>
              <a:t>50% </a:t>
            </a:r>
            <a:r>
              <a:rPr lang="zh-CN" altLang="en-US" dirty="0"/>
              <a:t>为 </a:t>
            </a:r>
            <a:r>
              <a:rPr lang="en-US" altLang="zh-CN" dirty="0" err="1"/>
              <a:t>azir</a:t>
            </a:r>
            <a:r>
              <a:rPr lang="en-US" altLang="zh-CN" dirty="0"/>
              <a:t> </a:t>
            </a:r>
            <a:r>
              <a:rPr lang="zh-CN" altLang="en-US" dirty="0"/>
              <a:t>，</a:t>
            </a:r>
            <a:r>
              <a:rPr lang="en-US" altLang="zh-CN" dirty="0"/>
              <a:t>2% </a:t>
            </a:r>
            <a:r>
              <a:rPr lang="zh-CN" altLang="en-US" dirty="0"/>
              <a:t>为 </a:t>
            </a:r>
            <a:r>
              <a:rPr lang="en-US" altLang="zh-CN" dirty="0" err="1"/>
              <a:t>thr</a:t>
            </a:r>
            <a:r>
              <a:rPr lang="en-US" altLang="zh-CN" dirty="0"/>
              <a:t>+</a:t>
            </a:r>
            <a:r>
              <a:rPr lang="zh-CN" altLang="en-US" dirty="0"/>
              <a:t>。这表明 </a:t>
            </a:r>
            <a:r>
              <a:rPr lang="en-US" altLang="zh-CN" dirty="0" err="1"/>
              <a:t>leu</a:t>
            </a:r>
            <a:r>
              <a:rPr lang="en-US" altLang="zh-CN" dirty="0"/>
              <a:t> </a:t>
            </a:r>
            <a:r>
              <a:rPr lang="zh-CN" altLang="en-US" dirty="0"/>
              <a:t>比较靠近 </a:t>
            </a:r>
            <a:r>
              <a:rPr lang="en-US" altLang="zh-CN" dirty="0" err="1"/>
              <a:t>azi</a:t>
            </a:r>
            <a:r>
              <a:rPr lang="zh-CN" altLang="en-US" dirty="0"/>
              <a:t>，而离 </a:t>
            </a:r>
            <a:r>
              <a:rPr lang="en-US" altLang="zh-CN" dirty="0" err="1"/>
              <a:t>thr</a:t>
            </a:r>
            <a:r>
              <a:rPr lang="en-US" altLang="zh-CN" dirty="0"/>
              <a:t> </a:t>
            </a:r>
            <a:r>
              <a:rPr lang="zh-CN" altLang="en-US" dirty="0"/>
              <a:t>较远。所以排列顺序是 </a:t>
            </a:r>
            <a:r>
              <a:rPr lang="en-US" altLang="zh-CN" dirty="0" err="1"/>
              <a:t>thr</a:t>
            </a:r>
            <a:r>
              <a:rPr lang="en-US" altLang="zh-CN" dirty="0"/>
              <a:t>—</a:t>
            </a:r>
            <a:r>
              <a:rPr lang="en-US" altLang="zh-CN" dirty="0" err="1"/>
              <a:t>azi</a:t>
            </a:r>
            <a:r>
              <a:rPr lang="en-US" altLang="zh-CN" dirty="0"/>
              <a:t>—</a:t>
            </a:r>
            <a:r>
              <a:rPr lang="en-US" altLang="zh-CN" dirty="0" err="1"/>
              <a:t>leu</a:t>
            </a:r>
            <a:r>
              <a:rPr lang="en-US" altLang="zh-CN" dirty="0"/>
              <a:t> </a:t>
            </a:r>
            <a:r>
              <a:rPr lang="zh-CN" altLang="en-US" dirty="0"/>
              <a:t>或 </a:t>
            </a:r>
            <a:r>
              <a:rPr lang="en-US" altLang="zh-CN" dirty="0" err="1"/>
              <a:t>thr</a:t>
            </a:r>
            <a:r>
              <a:rPr lang="en-US" altLang="zh-CN" dirty="0"/>
              <a:t>—</a:t>
            </a:r>
            <a:r>
              <a:rPr lang="en-US" altLang="zh-CN" dirty="0" err="1"/>
              <a:t>leu</a:t>
            </a:r>
            <a:r>
              <a:rPr lang="en-US" altLang="zh-CN" dirty="0"/>
              <a:t>—</a:t>
            </a:r>
            <a:r>
              <a:rPr lang="en-US" altLang="zh-CN" dirty="0" err="1"/>
              <a:t>azi</a:t>
            </a:r>
            <a:r>
              <a:rPr lang="en-US" altLang="zh-CN" dirty="0"/>
              <a:t> </a:t>
            </a:r>
            <a:r>
              <a:rPr lang="zh-CN" altLang="en-US" dirty="0"/>
              <a:t>。以</a:t>
            </a:r>
            <a:r>
              <a:rPr lang="en-US" altLang="zh-CN" dirty="0" err="1"/>
              <a:t>thr</a:t>
            </a:r>
            <a:r>
              <a:rPr lang="en-US" altLang="zh-CN" dirty="0"/>
              <a:t>+ </a:t>
            </a:r>
            <a:r>
              <a:rPr lang="zh-CN" altLang="en-US" dirty="0"/>
              <a:t>为选择标记，发现同时被转导到受体菌的，有 </a:t>
            </a:r>
            <a:r>
              <a:rPr lang="en-US" altLang="zh-CN" dirty="0"/>
              <a:t>3% </a:t>
            </a:r>
            <a:r>
              <a:rPr lang="zh-CN" altLang="en-US" dirty="0"/>
              <a:t>为 </a:t>
            </a:r>
            <a:r>
              <a:rPr lang="en-US" altLang="zh-CN" dirty="0" err="1"/>
              <a:t>leu</a:t>
            </a:r>
            <a:r>
              <a:rPr lang="en-US" altLang="zh-CN" dirty="0"/>
              <a:t>+ </a:t>
            </a:r>
            <a:r>
              <a:rPr lang="zh-CN" altLang="en-US" dirty="0"/>
              <a:t>，而未检出有 </a:t>
            </a:r>
            <a:r>
              <a:rPr lang="en-US" altLang="zh-CN" dirty="0" err="1"/>
              <a:t>azir</a:t>
            </a:r>
            <a:r>
              <a:rPr lang="en-US" altLang="zh-CN" dirty="0"/>
              <a:t> </a:t>
            </a:r>
            <a:r>
              <a:rPr lang="zh-CN" altLang="en-US" dirty="0"/>
              <a:t>，这表明 </a:t>
            </a:r>
            <a:r>
              <a:rPr lang="en-US" altLang="zh-CN" dirty="0" err="1"/>
              <a:t>thr</a:t>
            </a:r>
            <a:r>
              <a:rPr lang="en-US" altLang="zh-CN" dirty="0"/>
              <a:t> </a:t>
            </a:r>
            <a:r>
              <a:rPr lang="zh-CN" altLang="en-US" dirty="0"/>
              <a:t>比较靠近 </a:t>
            </a:r>
            <a:r>
              <a:rPr lang="en-US" altLang="zh-CN" dirty="0" err="1"/>
              <a:t>leu</a:t>
            </a:r>
            <a:r>
              <a:rPr lang="zh-CN" altLang="en-US" dirty="0"/>
              <a:t>，所以基因顺序应该是 </a:t>
            </a:r>
            <a:r>
              <a:rPr lang="en-US" altLang="zh-CN" dirty="0" err="1"/>
              <a:t>thr</a:t>
            </a:r>
            <a:r>
              <a:rPr lang="en-US" altLang="zh-CN" dirty="0"/>
              <a:t>—</a:t>
            </a:r>
            <a:r>
              <a:rPr lang="en-US" altLang="zh-CN" dirty="0" err="1"/>
              <a:t>leu</a:t>
            </a:r>
            <a:r>
              <a:rPr lang="en-US" altLang="zh-CN" dirty="0"/>
              <a:t>—</a:t>
            </a:r>
            <a:r>
              <a:rPr lang="en-US" altLang="zh-CN" dirty="0" err="1"/>
              <a:t>azi</a:t>
            </a:r>
            <a:r>
              <a:rPr lang="zh-CN" altLang="en-US" dirty="0"/>
              <a:t>。</a:t>
            </a:r>
            <a:endParaRPr lang="zh-CN" altLang="en-US" dirty="0"/>
          </a:p>
          <a:p>
            <a:r>
              <a:rPr lang="zh-CN" altLang="en-US" dirty="0"/>
              <a:t>一般地说，根据转导实验构建的遗传学图与依照接合实验作成的遗传学图是一致的，但前者更为精细些。</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40525C2-DC29-4E25-91E8-DA061A1FE726}"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121C3678-3ACE-43D9-BE6F-905ACBCA495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6E633AA-8009-47BA-B778-7CC695ECB2FA}"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121C3678-3ACE-43D9-BE6F-905ACBCA495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6E633AA-8009-47BA-B778-7CC695ECB2FA}"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121C3678-3ACE-43D9-BE6F-905ACBCA495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6E633AA-8009-47BA-B778-7CC695ECB2FA}"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121C3678-3ACE-43D9-BE6F-905ACBCA495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6E633AA-8009-47BA-B778-7CC695ECB2FA}"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121C3678-3ACE-43D9-BE6F-905ACBCA4951}"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6E633AA-8009-47BA-B778-7CC695ECB2FA}"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121C3678-3ACE-43D9-BE6F-905ACBCA4951}"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6E633AA-8009-47BA-B778-7CC695ECB2FA}"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21C3678-3ACE-43D9-BE6F-905ACBCA4951}"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6E633AA-8009-47BA-B778-7CC695ECB2FA}"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121C3678-3ACE-43D9-BE6F-905ACBCA495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6E633AA-8009-47BA-B778-7CC695ECB2FA}"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121C3678-3ACE-43D9-BE6F-905ACBCA495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6E633AA-8009-47BA-B778-7CC695ECB2FA}"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121C3678-3ACE-43D9-BE6F-905ACBCA495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6E633AA-8009-47BA-B778-7CC695ECB2FA}"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121C3678-3ACE-43D9-BE6F-905ACBCA495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6E633AA-8009-47BA-B778-7CC695ECB2FA}"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7485" y="273050"/>
            <a:ext cx="10968567"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07484" y="1598613"/>
            <a:ext cx="5382683" cy="4497387"/>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3367" y="1598613"/>
            <a:ext cx="5382684" cy="4497387"/>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a:xfrm>
            <a:off x="607485" y="6242051"/>
            <a:ext cx="2840567" cy="474663"/>
          </a:xfrm>
        </p:spPr>
        <p:txBody>
          <a:bodyPr/>
          <a:lstStyle>
            <a:lvl1pPr>
              <a:defRPr/>
            </a:lvl1pPr>
          </a:lstStyle>
          <a:p>
            <a:fld id="{D09F09E9-7F6F-4B90-8032-BDAA2938F8C3}" type="datetime1">
              <a:rPr lang="zh-CN" altLang="en-US"/>
            </a:fld>
            <a:endParaRPr lang="en-US" altLang="zh-CN"/>
          </a:p>
        </p:txBody>
      </p:sp>
      <p:sp>
        <p:nvSpPr>
          <p:cNvPr id="6" name="页脚占位符 5"/>
          <p:cNvSpPr>
            <a:spLocks noGrp="1"/>
          </p:cNvSpPr>
          <p:nvPr>
            <p:ph type="ftr" sz="quarter" idx="11"/>
          </p:nvPr>
        </p:nvSpPr>
        <p:spPr>
          <a:xfrm>
            <a:off x="4165600" y="6242051"/>
            <a:ext cx="3860800" cy="474663"/>
          </a:xfrm>
        </p:spPr>
        <p:txBody>
          <a:bodyPr/>
          <a:lstStyle>
            <a:lvl1pPr>
              <a:defRPr/>
            </a:lvl1pPr>
          </a:lstStyle>
          <a:p>
            <a:r>
              <a:rPr lang="en-US" altLang="zh-CN"/>
              <a:t>湖北大学生命科学学院  陈建国</a:t>
            </a:r>
            <a:endParaRPr lang="en-US" altLang="zh-CN"/>
          </a:p>
        </p:txBody>
      </p:sp>
      <p:sp>
        <p:nvSpPr>
          <p:cNvPr id="7" name="灯片编号占位符 6"/>
          <p:cNvSpPr>
            <a:spLocks noGrp="1"/>
          </p:cNvSpPr>
          <p:nvPr>
            <p:ph type="sldNum" sz="quarter" idx="12"/>
          </p:nvPr>
        </p:nvSpPr>
        <p:spPr>
          <a:xfrm>
            <a:off x="8737601" y="6242051"/>
            <a:ext cx="2840567" cy="474663"/>
          </a:xfrm>
        </p:spPr>
        <p:txBody>
          <a:bodyPr/>
          <a:lstStyle>
            <a:lvl1pPr>
              <a:defRPr/>
            </a:lvl1pPr>
          </a:lstStyle>
          <a:p>
            <a:fld id="{D2B7A081-10A7-441F-BB0E-A627CA6B4532}" type="slidenum">
              <a:rPr lang="en-US" altLang="zh-CN"/>
            </a:fld>
            <a:endParaRPr lang="en-US" altLang="zh-CN"/>
          </a:p>
        </p:txBody>
      </p:sp>
    </p:spTree>
  </p:cSld>
  <p:clrMapOvr>
    <a:masterClrMapping/>
  </p:clrMapOvr>
  <p:transition spd="slow">
    <p:randomBar dir="vert"/>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x">
  <p:cSld name="标题，内容与文本">
    <p:spTree>
      <p:nvGrpSpPr>
        <p:cNvPr id="1" name=""/>
        <p:cNvGrpSpPr/>
        <p:nvPr/>
      </p:nvGrpSpPr>
      <p:grpSpPr>
        <a:xfrm>
          <a:off x="0" y="0"/>
          <a:ext cx="0" cy="0"/>
          <a:chOff x="0" y="0"/>
          <a:chExt cx="0" cy="0"/>
        </a:xfrm>
      </p:grpSpPr>
      <p:sp>
        <p:nvSpPr>
          <p:cNvPr id="2" name="标题 1"/>
          <p:cNvSpPr>
            <a:spLocks noGrp="1"/>
          </p:cNvSpPr>
          <p:nvPr>
            <p:ph type="title"/>
          </p:nvPr>
        </p:nvSpPr>
        <p:spPr>
          <a:xfrm>
            <a:off x="607485" y="273050"/>
            <a:ext cx="10968567" cy="1143000"/>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7484" y="1598613"/>
            <a:ext cx="5382683" cy="4497387"/>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193367" y="1598613"/>
            <a:ext cx="5382684" cy="4497387"/>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a:xfrm>
            <a:off x="607485" y="6242051"/>
            <a:ext cx="2840567" cy="474663"/>
          </a:xfrm>
        </p:spPr>
        <p:txBody>
          <a:bodyPr/>
          <a:lstStyle>
            <a:lvl1pPr>
              <a:defRPr/>
            </a:lvl1pPr>
          </a:lstStyle>
          <a:p>
            <a:fld id="{1461CE2F-F6AF-4B93-88D2-6FF299A2C1CE}" type="datetime1">
              <a:rPr lang="zh-CN" altLang="en-US"/>
            </a:fld>
            <a:endParaRPr lang="en-US" altLang="zh-CN"/>
          </a:p>
        </p:txBody>
      </p:sp>
      <p:sp>
        <p:nvSpPr>
          <p:cNvPr id="6" name="页脚占位符 5"/>
          <p:cNvSpPr>
            <a:spLocks noGrp="1"/>
          </p:cNvSpPr>
          <p:nvPr>
            <p:ph type="ftr" sz="quarter" idx="11"/>
          </p:nvPr>
        </p:nvSpPr>
        <p:spPr>
          <a:xfrm>
            <a:off x="4165600" y="6242051"/>
            <a:ext cx="3860800" cy="474663"/>
          </a:xfrm>
        </p:spPr>
        <p:txBody>
          <a:bodyPr/>
          <a:lstStyle>
            <a:lvl1pPr>
              <a:defRPr/>
            </a:lvl1pPr>
          </a:lstStyle>
          <a:p>
            <a:r>
              <a:rPr lang="en-US" altLang="zh-CN"/>
              <a:t>湖北大学生命科学学院  陈建国</a:t>
            </a:r>
            <a:endParaRPr lang="en-US" altLang="zh-CN"/>
          </a:p>
        </p:txBody>
      </p:sp>
      <p:sp>
        <p:nvSpPr>
          <p:cNvPr id="7" name="灯片编号占位符 6"/>
          <p:cNvSpPr>
            <a:spLocks noGrp="1"/>
          </p:cNvSpPr>
          <p:nvPr>
            <p:ph type="sldNum" sz="quarter" idx="12"/>
          </p:nvPr>
        </p:nvSpPr>
        <p:spPr>
          <a:xfrm>
            <a:off x="8737601" y="6242051"/>
            <a:ext cx="2840567" cy="474663"/>
          </a:xfrm>
        </p:spPr>
        <p:txBody>
          <a:bodyPr/>
          <a:lstStyle>
            <a:lvl1pPr>
              <a:defRPr/>
            </a:lvl1pPr>
          </a:lstStyle>
          <a:p>
            <a:fld id="{F9C6931E-F138-4A55-8634-248D2D143818}" type="slidenum">
              <a:rPr lang="en-US" altLang="zh-CN"/>
            </a:fld>
            <a:endParaRPr lang="en-US" altLang="zh-CN"/>
          </a:p>
        </p:txBody>
      </p:sp>
    </p:spTree>
  </p:cSld>
  <p:clrMapOvr>
    <a:masterClrMapping/>
  </p:clrMapOvr>
  <p:transition spd="slow">
    <p:randomBar dir="vert"/>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7485" y="273050"/>
            <a:ext cx="10968567"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07484" y="1598613"/>
            <a:ext cx="5382683" cy="4497387"/>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quarter" idx="2"/>
          </p:nvPr>
        </p:nvSpPr>
        <p:spPr>
          <a:xfrm>
            <a:off x="6193367" y="1598613"/>
            <a:ext cx="5382684" cy="21717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内容占位符 4"/>
          <p:cNvSpPr>
            <a:spLocks noGrp="1"/>
          </p:cNvSpPr>
          <p:nvPr>
            <p:ph sz="quarter" idx="3"/>
          </p:nvPr>
        </p:nvSpPr>
        <p:spPr>
          <a:xfrm>
            <a:off x="6193367" y="3922714"/>
            <a:ext cx="5382684" cy="2173287"/>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日期占位符 5"/>
          <p:cNvSpPr>
            <a:spLocks noGrp="1"/>
          </p:cNvSpPr>
          <p:nvPr>
            <p:ph type="dt" sz="half" idx="10"/>
          </p:nvPr>
        </p:nvSpPr>
        <p:spPr>
          <a:xfrm>
            <a:off x="607485" y="6242051"/>
            <a:ext cx="2840567" cy="474663"/>
          </a:xfrm>
        </p:spPr>
        <p:txBody>
          <a:bodyPr/>
          <a:lstStyle>
            <a:lvl1pPr>
              <a:defRPr/>
            </a:lvl1pPr>
          </a:lstStyle>
          <a:p>
            <a:fld id="{D6F120F2-613F-4FDA-83F8-B383290BF3CE}" type="datetime1">
              <a:rPr lang="zh-CN" altLang="en-US"/>
            </a:fld>
            <a:endParaRPr lang="en-US" altLang="zh-CN"/>
          </a:p>
        </p:txBody>
      </p:sp>
      <p:sp>
        <p:nvSpPr>
          <p:cNvPr id="7" name="页脚占位符 6"/>
          <p:cNvSpPr>
            <a:spLocks noGrp="1"/>
          </p:cNvSpPr>
          <p:nvPr>
            <p:ph type="ftr" sz="quarter" idx="11"/>
          </p:nvPr>
        </p:nvSpPr>
        <p:spPr>
          <a:xfrm>
            <a:off x="4165600" y="6242051"/>
            <a:ext cx="3860800" cy="474663"/>
          </a:xfrm>
        </p:spPr>
        <p:txBody>
          <a:bodyPr/>
          <a:lstStyle>
            <a:lvl1pPr>
              <a:defRPr/>
            </a:lvl1pPr>
          </a:lstStyle>
          <a:p>
            <a:r>
              <a:rPr lang="en-US" altLang="zh-CN"/>
              <a:t>湖北大学生命科学学院  陈建国</a:t>
            </a:r>
            <a:endParaRPr lang="en-US" altLang="zh-CN"/>
          </a:p>
        </p:txBody>
      </p:sp>
      <p:sp>
        <p:nvSpPr>
          <p:cNvPr id="8" name="灯片编号占位符 7"/>
          <p:cNvSpPr>
            <a:spLocks noGrp="1"/>
          </p:cNvSpPr>
          <p:nvPr>
            <p:ph type="sldNum" sz="quarter" idx="12"/>
          </p:nvPr>
        </p:nvSpPr>
        <p:spPr>
          <a:xfrm>
            <a:off x="8737601" y="6242051"/>
            <a:ext cx="2840567" cy="474663"/>
          </a:xfrm>
        </p:spPr>
        <p:txBody>
          <a:bodyPr/>
          <a:lstStyle>
            <a:lvl1pPr>
              <a:defRPr/>
            </a:lvl1pPr>
          </a:lstStyle>
          <a:p>
            <a:fld id="{87284AAB-A14B-44A6-BD94-09C2F78CA55A}" type="slidenum">
              <a:rPr lang="en-US" altLang="zh-CN"/>
            </a:fld>
            <a:endParaRPr lang="en-US" altLang="zh-CN"/>
          </a:p>
        </p:txBody>
      </p:sp>
    </p:spTree>
  </p:cSld>
  <p:clrMapOvr>
    <a:masterClrMapping/>
  </p:clrMapOvr>
  <p:transition spd="slow">
    <p:randomBar dir="vert"/>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565638" y="1211017"/>
            <a:ext cx="4938347" cy="4965946"/>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stStyle>
          <a:p>
            <a:pPr lvl="0"/>
            <a:r>
              <a:rPr lang="zh-CN" altLang="en-US" dirty="0"/>
              <a:t>单击此处编辑母版文本样式</a:t>
            </a:r>
            <a:endParaRPr lang="zh-CN" altLang="en-US" dirty="0"/>
          </a:p>
          <a:p>
            <a:pPr lvl="1"/>
            <a:r>
              <a:rPr lang="zh-CN" altLang="en-US" dirty="0"/>
              <a:t>第二级</a:t>
            </a:r>
            <a:endParaRPr lang="zh-CN" altLang="en-US" dirty="0"/>
          </a:p>
        </p:txBody>
      </p:sp>
      <p:sp>
        <p:nvSpPr>
          <p:cNvPr id="5" name="日期占位符 4"/>
          <p:cNvSpPr>
            <a:spLocks noGrp="1"/>
          </p:cNvSpPr>
          <p:nvPr>
            <p:ph type="dt" sz="half" idx="10"/>
          </p:nvPr>
        </p:nvSpPr>
        <p:spPr/>
        <p:txBody>
          <a:bodyPr/>
          <a:lstStyle/>
          <a:p>
            <a:fld id="{D6D7687D-AB34-4C37-9D27-4EC8F8F50E7C}"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8" name="灯片编号占位符 6"/>
          <p:cNvSpPr>
            <a:spLocks noGrp="1"/>
          </p:cNvSpPr>
          <p:nvPr>
            <p:ph type="sldNum" sz="quarter" idx="12"/>
          </p:nvPr>
        </p:nvSpPr>
        <p:spPr>
          <a:xfrm>
            <a:off x="11353799" y="6356350"/>
            <a:ext cx="577363" cy="365125"/>
          </a:xfrm>
        </p:spPr>
        <p:txBody>
          <a:bodyPr/>
          <a:lstStyle>
            <a:lvl1pPr>
              <a:defRPr/>
            </a:lvl1pPr>
          </a:lstStyle>
          <a:p>
            <a:fld id="{D4751D38-C989-48BC-B1AB-387F6E8DCEB6}" type="slidenum">
              <a:rPr lang="zh-CN" altLang="en-US" smtClean="0"/>
            </a:fld>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_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565638" y="1211017"/>
            <a:ext cx="4938347" cy="4965946"/>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stStyle>
          <a:p>
            <a:pPr lvl="0"/>
            <a:r>
              <a:rPr lang="zh-CN" altLang="en-US" dirty="0"/>
              <a:t>单击此处编辑母版文本样式</a:t>
            </a:r>
            <a:endParaRPr lang="zh-CN" altLang="en-US" dirty="0"/>
          </a:p>
          <a:p>
            <a:pPr lvl="1"/>
            <a:r>
              <a:rPr lang="zh-CN" altLang="en-US" dirty="0"/>
              <a:t>第二级</a:t>
            </a:r>
            <a:endParaRPr lang="zh-CN" altLang="en-US" dirty="0"/>
          </a:p>
        </p:txBody>
      </p:sp>
      <p:sp>
        <p:nvSpPr>
          <p:cNvPr id="5" name="日期占位符 4"/>
          <p:cNvSpPr>
            <a:spLocks noGrp="1"/>
          </p:cNvSpPr>
          <p:nvPr>
            <p:ph type="dt" sz="half" idx="10"/>
          </p:nvPr>
        </p:nvSpPr>
        <p:spPr/>
        <p:txBody>
          <a:bodyPr/>
          <a:lstStyle/>
          <a:p>
            <a:fld id="{D6D7687D-AB34-4C37-9D27-4EC8F8F50E7C}"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8" name="灯片编号占位符 6"/>
          <p:cNvSpPr>
            <a:spLocks noGrp="1"/>
          </p:cNvSpPr>
          <p:nvPr>
            <p:ph type="sldNum" sz="quarter" idx="12"/>
          </p:nvPr>
        </p:nvSpPr>
        <p:spPr>
          <a:xfrm>
            <a:off x="11353799" y="6356350"/>
            <a:ext cx="577363" cy="365125"/>
          </a:xfrm>
        </p:spPr>
        <p:txBody>
          <a:bodyPr/>
          <a:lstStyle>
            <a:lvl1pPr>
              <a:defRPr/>
            </a:lvl1pPr>
          </a:lstStyle>
          <a:p>
            <a:fld id="{D4751D38-C989-48BC-B1AB-387F6E8DCEB6}" type="slidenum">
              <a:rPr lang="zh-CN" altLang="en-US" smtClean="0"/>
            </a:fld>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3_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565638" y="1211017"/>
            <a:ext cx="4938347" cy="4965946"/>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stStyle>
          <a:p>
            <a:pPr lvl="0"/>
            <a:r>
              <a:rPr lang="zh-CN" altLang="en-US" dirty="0"/>
              <a:t>单击此处编辑母版文本样式</a:t>
            </a:r>
            <a:endParaRPr lang="zh-CN" altLang="en-US" dirty="0"/>
          </a:p>
          <a:p>
            <a:pPr lvl="1"/>
            <a:r>
              <a:rPr lang="zh-CN" altLang="en-US" dirty="0"/>
              <a:t>第二级</a:t>
            </a:r>
            <a:endParaRPr lang="zh-CN" altLang="en-US" dirty="0"/>
          </a:p>
        </p:txBody>
      </p:sp>
      <p:sp>
        <p:nvSpPr>
          <p:cNvPr id="5" name="日期占位符 4"/>
          <p:cNvSpPr>
            <a:spLocks noGrp="1"/>
          </p:cNvSpPr>
          <p:nvPr>
            <p:ph type="dt" sz="half" idx="10"/>
          </p:nvPr>
        </p:nvSpPr>
        <p:spPr/>
        <p:txBody>
          <a:bodyPr/>
          <a:lstStyle/>
          <a:p>
            <a:fld id="{D6D7687D-AB34-4C37-9D27-4EC8F8F50E7C}"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8" name="灯片编号占位符 6"/>
          <p:cNvSpPr>
            <a:spLocks noGrp="1"/>
          </p:cNvSpPr>
          <p:nvPr>
            <p:ph type="sldNum" sz="quarter" idx="12"/>
          </p:nvPr>
        </p:nvSpPr>
        <p:spPr>
          <a:xfrm>
            <a:off x="11353799" y="6356350"/>
            <a:ext cx="577363" cy="365125"/>
          </a:xfrm>
        </p:spPr>
        <p:txBody>
          <a:bodyPr/>
          <a:lstStyle>
            <a:lvl1pPr>
              <a:defRPr/>
            </a:lvl1pPr>
          </a:lstStyle>
          <a:p>
            <a:fld id="{D4751D38-C989-48BC-B1AB-387F6E8DCEB6}" type="slidenum">
              <a:rPr lang="zh-CN" altLang="en-US" smtClean="0"/>
            </a:fld>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4_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565638" y="1211017"/>
            <a:ext cx="4938347" cy="4965946"/>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stStyle>
          <a:p>
            <a:pPr lvl="0"/>
            <a:r>
              <a:rPr lang="zh-CN" altLang="en-US" dirty="0"/>
              <a:t>单击此处编辑母版文本样式</a:t>
            </a:r>
            <a:endParaRPr lang="zh-CN" altLang="en-US" dirty="0"/>
          </a:p>
          <a:p>
            <a:pPr lvl="1"/>
            <a:r>
              <a:rPr lang="zh-CN" altLang="en-US" dirty="0"/>
              <a:t>第二级</a:t>
            </a:r>
            <a:endParaRPr lang="zh-CN" altLang="en-US" dirty="0"/>
          </a:p>
        </p:txBody>
      </p:sp>
      <p:sp>
        <p:nvSpPr>
          <p:cNvPr id="5" name="日期占位符 4"/>
          <p:cNvSpPr>
            <a:spLocks noGrp="1"/>
          </p:cNvSpPr>
          <p:nvPr>
            <p:ph type="dt" sz="half" idx="10"/>
          </p:nvPr>
        </p:nvSpPr>
        <p:spPr/>
        <p:txBody>
          <a:bodyPr/>
          <a:lstStyle/>
          <a:p>
            <a:fld id="{D6D7687D-AB34-4C37-9D27-4EC8F8F50E7C}"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8" name="灯片编号占位符 6"/>
          <p:cNvSpPr>
            <a:spLocks noGrp="1"/>
          </p:cNvSpPr>
          <p:nvPr>
            <p:ph type="sldNum" sz="quarter" idx="12"/>
          </p:nvPr>
        </p:nvSpPr>
        <p:spPr>
          <a:xfrm>
            <a:off x="11353799" y="6356350"/>
            <a:ext cx="577363" cy="365125"/>
          </a:xfrm>
        </p:spPr>
        <p:txBody>
          <a:bodyPr/>
          <a:lstStyle>
            <a:lvl1pPr>
              <a:defRPr/>
            </a:lvl1pPr>
          </a:lstStyle>
          <a:p>
            <a:fld id="{D4751D38-C989-48BC-B1AB-387F6E8DCEB6}" type="slidenum">
              <a:rPr lang="zh-CN" altLang="en-US" smtClean="0"/>
            </a:fld>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5_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565638" y="1211017"/>
            <a:ext cx="4938347" cy="4965946"/>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stStyle>
          <a:p>
            <a:pPr lvl="0"/>
            <a:r>
              <a:rPr lang="zh-CN" altLang="en-US" dirty="0"/>
              <a:t>单击此处编辑母版文本样式</a:t>
            </a:r>
            <a:endParaRPr lang="zh-CN" altLang="en-US" dirty="0"/>
          </a:p>
          <a:p>
            <a:pPr lvl="1"/>
            <a:r>
              <a:rPr lang="zh-CN" altLang="en-US" dirty="0"/>
              <a:t>第二级</a:t>
            </a:r>
            <a:endParaRPr lang="zh-CN" altLang="en-US" dirty="0"/>
          </a:p>
        </p:txBody>
      </p:sp>
      <p:sp>
        <p:nvSpPr>
          <p:cNvPr id="5" name="日期占位符 4"/>
          <p:cNvSpPr>
            <a:spLocks noGrp="1"/>
          </p:cNvSpPr>
          <p:nvPr>
            <p:ph type="dt" sz="half" idx="10"/>
          </p:nvPr>
        </p:nvSpPr>
        <p:spPr/>
        <p:txBody>
          <a:bodyPr/>
          <a:lstStyle/>
          <a:p>
            <a:fld id="{D6D7687D-AB34-4C37-9D27-4EC8F8F50E7C}"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8" name="灯片编号占位符 6"/>
          <p:cNvSpPr>
            <a:spLocks noGrp="1"/>
          </p:cNvSpPr>
          <p:nvPr>
            <p:ph type="sldNum" sz="quarter" idx="12"/>
          </p:nvPr>
        </p:nvSpPr>
        <p:spPr>
          <a:xfrm>
            <a:off x="11353799" y="6356350"/>
            <a:ext cx="577363" cy="365125"/>
          </a:xfrm>
        </p:spPr>
        <p:txBody>
          <a:bodyPr/>
          <a:lstStyle>
            <a:lvl1pPr>
              <a:defRPr/>
            </a:lvl1pPr>
          </a:lstStyle>
          <a:p>
            <a:fld id="{D4751D38-C989-48BC-B1AB-387F6E8DCEB6}" type="slidenum">
              <a:rPr lang="zh-CN" altLang="en-US" smtClean="0"/>
            </a:fld>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6_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565638" y="1211017"/>
            <a:ext cx="4938347" cy="4965946"/>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stStyle>
          <a:p>
            <a:pPr lvl="0"/>
            <a:r>
              <a:rPr lang="zh-CN" altLang="en-US" dirty="0"/>
              <a:t>单击此处编辑母版文本样式</a:t>
            </a:r>
            <a:endParaRPr lang="zh-CN" altLang="en-US" dirty="0"/>
          </a:p>
          <a:p>
            <a:pPr lvl="1"/>
            <a:r>
              <a:rPr lang="zh-CN" altLang="en-US" dirty="0"/>
              <a:t>第二级</a:t>
            </a:r>
            <a:endParaRPr lang="zh-CN" altLang="en-US" dirty="0"/>
          </a:p>
        </p:txBody>
      </p:sp>
      <p:sp>
        <p:nvSpPr>
          <p:cNvPr id="5" name="日期占位符 4"/>
          <p:cNvSpPr>
            <a:spLocks noGrp="1"/>
          </p:cNvSpPr>
          <p:nvPr>
            <p:ph type="dt" sz="half" idx="10"/>
          </p:nvPr>
        </p:nvSpPr>
        <p:spPr/>
        <p:txBody>
          <a:bodyPr/>
          <a:lstStyle/>
          <a:p>
            <a:fld id="{D6D7687D-AB34-4C37-9D27-4EC8F8F50E7C}"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8" name="灯片编号占位符 6"/>
          <p:cNvSpPr>
            <a:spLocks noGrp="1"/>
          </p:cNvSpPr>
          <p:nvPr>
            <p:ph type="sldNum" sz="quarter" idx="12"/>
          </p:nvPr>
        </p:nvSpPr>
        <p:spPr>
          <a:xfrm>
            <a:off x="11353799" y="6356350"/>
            <a:ext cx="577363" cy="365125"/>
          </a:xfrm>
        </p:spPr>
        <p:txBody>
          <a:bodyPr/>
          <a:lstStyle>
            <a:lvl1pPr>
              <a:defRPr/>
            </a:lvl1pPr>
          </a:lstStyle>
          <a:p>
            <a:fld id="{D4751D38-C989-48BC-B1AB-387F6E8DCEB6}" type="slidenum">
              <a:rPr lang="zh-CN" altLang="en-US" smtClean="0"/>
            </a:fld>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7_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565638" y="1211017"/>
            <a:ext cx="4938347" cy="4965946"/>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stStyle>
          <a:p>
            <a:pPr lvl="0"/>
            <a:r>
              <a:rPr lang="zh-CN" altLang="en-US" dirty="0"/>
              <a:t>单击此处编辑母版文本样式</a:t>
            </a:r>
            <a:endParaRPr lang="zh-CN" altLang="en-US" dirty="0"/>
          </a:p>
          <a:p>
            <a:pPr lvl="1"/>
            <a:r>
              <a:rPr lang="zh-CN" altLang="en-US" dirty="0"/>
              <a:t>第二级</a:t>
            </a:r>
            <a:endParaRPr lang="zh-CN" altLang="en-US" dirty="0"/>
          </a:p>
        </p:txBody>
      </p:sp>
      <p:sp>
        <p:nvSpPr>
          <p:cNvPr id="5" name="日期占位符 4"/>
          <p:cNvSpPr>
            <a:spLocks noGrp="1"/>
          </p:cNvSpPr>
          <p:nvPr>
            <p:ph type="dt" sz="half" idx="10"/>
          </p:nvPr>
        </p:nvSpPr>
        <p:spPr/>
        <p:txBody>
          <a:bodyPr/>
          <a:lstStyle/>
          <a:p>
            <a:fld id="{D6D7687D-AB34-4C37-9D27-4EC8F8F50E7C}"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8" name="灯片编号占位符 6"/>
          <p:cNvSpPr>
            <a:spLocks noGrp="1"/>
          </p:cNvSpPr>
          <p:nvPr>
            <p:ph type="sldNum" sz="quarter" idx="12"/>
          </p:nvPr>
        </p:nvSpPr>
        <p:spPr>
          <a:xfrm>
            <a:off x="11353799" y="6356350"/>
            <a:ext cx="577363" cy="365125"/>
          </a:xfrm>
        </p:spPr>
        <p:txBody>
          <a:bodyPr/>
          <a:lstStyle>
            <a:lvl1pPr>
              <a:defRPr/>
            </a:lvl1pPr>
          </a:lstStyle>
          <a:p>
            <a:fld id="{D4751D38-C989-48BC-B1AB-387F6E8DCEB6}" type="slidenum">
              <a:rPr lang="zh-CN" altLang="en-US" smtClean="0"/>
            </a:fld>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8_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565638" y="1211017"/>
            <a:ext cx="4938347" cy="4965946"/>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stStyle>
          <a:p>
            <a:pPr lvl="0"/>
            <a:r>
              <a:rPr lang="zh-CN" altLang="en-US" dirty="0"/>
              <a:t>单击此处编辑母版文本样式</a:t>
            </a:r>
            <a:endParaRPr lang="zh-CN" altLang="en-US" dirty="0"/>
          </a:p>
          <a:p>
            <a:pPr lvl="1"/>
            <a:r>
              <a:rPr lang="zh-CN" altLang="en-US" dirty="0"/>
              <a:t>第二级</a:t>
            </a:r>
            <a:endParaRPr lang="zh-CN" altLang="en-US" dirty="0"/>
          </a:p>
        </p:txBody>
      </p:sp>
      <p:sp>
        <p:nvSpPr>
          <p:cNvPr id="5" name="日期占位符 4"/>
          <p:cNvSpPr>
            <a:spLocks noGrp="1"/>
          </p:cNvSpPr>
          <p:nvPr>
            <p:ph type="dt" sz="half" idx="10"/>
          </p:nvPr>
        </p:nvSpPr>
        <p:spPr/>
        <p:txBody>
          <a:bodyPr/>
          <a:lstStyle/>
          <a:p>
            <a:fld id="{D6D7687D-AB34-4C37-9D27-4EC8F8F50E7C}"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8" name="灯片编号占位符 6"/>
          <p:cNvSpPr>
            <a:spLocks noGrp="1"/>
          </p:cNvSpPr>
          <p:nvPr>
            <p:ph type="sldNum" sz="quarter" idx="12"/>
          </p:nvPr>
        </p:nvSpPr>
        <p:spPr>
          <a:xfrm>
            <a:off x="11353799" y="6356350"/>
            <a:ext cx="577363" cy="365125"/>
          </a:xfrm>
        </p:spPr>
        <p:txBody>
          <a:bodyPr/>
          <a:lstStyle>
            <a:lvl1pPr>
              <a:defRPr/>
            </a:lvl1pPr>
          </a:lstStyle>
          <a:p>
            <a:fld id="{D4751D38-C989-48BC-B1AB-387F6E8DCEB6}" type="slidenum">
              <a:rPr lang="zh-CN" altLang="en-US" smtClean="0"/>
            </a:fld>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9_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565638" y="1211017"/>
            <a:ext cx="4938347" cy="4965946"/>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stStyle>
          <a:p>
            <a:pPr lvl="0"/>
            <a:r>
              <a:rPr lang="zh-CN" altLang="en-US" dirty="0"/>
              <a:t>单击此处编辑母版文本样式</a:t>
            </a:r>
            <a:endParaRPr lang="zh-CN" altLang="en-US" dirty="0"/>
          </a:p>
          <a:p>
            <a:pPr lvl="1"/>
            <a:r>
              <a:rPr lang="zh-CN" altLang="en-US" dirty="0"/>
              <a:t>第二级</a:t>
            </a:r>
            <a:endParaRPr lang="zh-CN" altLang="en-US" dirty="0"/>
          </a:p>
        </p:txBody>
      </p:sp>
      <p:sp>
        <p:nvSpPr>
          <p:cNvPr id="5" name="日期占位符 4"/>
          <p:cNvSpPr>
            <a:spLocks noGrp="1"/>
          </p:cNvSpPr>
          <p:nvPr>
            <p:ph type="dt" sz="half" idx="10"/>
          </p:nvPr>
        </p:nvSpPr>
        <p:spPr/>
        <p:txBody>
          <a:bodyPr/>
          <a:lstStyle/>
          <a:p>
            <a:fld id="{D6D7687D-AB34-4C37-9D27-4EC8F8F50E7C}"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8" name="灯片编号占位符 6"/>
          <p:cNvSpPr>
            <a:spLocks noGrp="1"/>
          </p:cNvSpPr>
          <p:nvPr>
            <p:ph type="sldNum" sz="quarter" idx="12"/>
          </p:nvPr>
        </p:nvSpPr>
        <p:spPr>
          <a:xfrm>
            <a:off x="11353799" y="6356350"/>
            <a:ext cx="577363" cy="365125"/>
          </a:xfrm>
        </p:spPr>
        <p:txBody>
          <a:bodyPr/>
          <a:lstStyle>
            <a:lvl1pPr>
              <a:defRPr/>
            </a:lvl1pPr>
          </a:lstStyle>
          <a:p>
            <a:fld id="{D4751D38-C989-48BC-B1AB-387F6E8DCEB6}" type="slidenum">
              <a:rPr lang="zh-CN" altLang="en-US" smtClean="0"/>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0_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565638" y="1211017"/>
            <a:ext cx="4938347" cy="4965946"/>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stStyle>
          <a:p>
            <a:pPr lvl="0"/>
            <a:r>
              <a:rPr lang="zh-CN" altLang="en-US" dirty="0"/>
              <a:t>单击此处编辑母版文本样式</a:t>
            </a:r>
            <a:endParaRPr lang="zh-CN" altLang="en-US" dirty="0"/>
          </a:p>
          <a:p>
            <a:pPr lvl="1"/>
            <a:r>
              <a:rPr lang="zh-CN" altLang="en-US" dirty="0"/>
              <a:t>第二级</a:t>
            </a:r>
            <a:endParaRPr lang="zh-CN" altLang="en-US" dirty="0"/>
          </a:p>
        </p:txBody>
      </p:sp>
      <p:sp>
        <p:nvSpPr>
          <p:cNvPr id="5" name="日期占位符 4"/>
          <p:cNvSpPr>
            <a:spLocks noGrp="1"/>
          </p:cNvSpPr>
          <p:nvPr>
            <p:ph type="dt" sz="half" idx="10"/>
          </p:nvPr>
        </p:nvSpPr>
        <p:spPr/>
        <p:txBody>
          <a:bodyPr/>
          <a:lstStyle/>
          <a:p>
            <a:fld id="{D6D7687D-AB34-4C37-9D27-4EC8F8F50E7C}"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8" name="灯片编号占位符 6"/>
          <p:cNvSpPr>
            <a:spLocks noGrp="1"/>
          </p:cNvSpPr>
          <p:nvPr>
            <p:ph type="sldNum" sz="quarter" idx="12"/>
          </p:nvPr>
        </p:nvSpPr>
        <p:spPr>
          <a:xfrm>
            <a:off x="11353799" y="6356350"/>
            <a:ext cx="577363" cy="365125"/>
          </a:xfrm>
        </p:spPr>
        <p:txBody>
          <a:bodyPr/>
          <a:lstStyle>
            <a:lvl1pPr>
              <a:defRPr/>
            </a:lvl1pPr>
          </a:lstStyle>
          <a:p>
            <a:fld id="{D4751D38-C989-48BC-B1AB-387F6E8DCEB6}" type="slidenum">
              <a:rPr lang="zh-CN" altLang="en-US" smtClean="0"/>
            </a:fld>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1_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565638" y="1211017"/>
            <a:ext cx="4938347" cy="4965946"/>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stStyle>
          <a:p>
            <a:pPr lvl="0"/>
            <a:r>
              <a:rPr lang="zh-CN" altLang="en-US" dirty="0"/>
              <a:t>单击此处编辑母版文本样式</a:t>
            </a:r>
            <a:endParaRPr lang="zh-CN" altLang="en-US" dirty="0"/>
          </a:p>
          <a:p>
            <a:pPr lvl="1"/>
            <a:r>
              <a:rPr lang="zh-CN" altLang="en-US" dirty="0"/>
              <a:t>第二级</a:t>
            </a:r>
            <a:endParaRPr lang="zh-CN" altLang="en-US" dirty="0"/>
          </a:p>
        </p:txBody>
      </p:sp>
      <p:sp>
        <p:nvSpPr>
          <p:cNvPr id="5" name="日期占位符 4"/>
          <p:cNvSpPr>
            <a:spLocks noGrp="1"/>
          </p:cNvSpPr>
          <p:nvPr>
            <p:ph type="dt" sz="half" idx="10"/>
          </p:nvPr>
        </p:nvSpPr>
        <p:spPr/>
        <p:txBody>
          <a:bodyPr/>
          <a:lstStyle/>
          <a:p>
            <a:fld id="{D6D7687D-AB34-4C37-9D27-4EC8F8F50E7C}"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8" name="灯片编号占位符 6"/>
          <p:cNvSpPr>
            <a:spLocks noGrp="1"/>
          </p:cNvSpPr>
          <p:nvPr>
            <p:ph type="sldNum" sz="quarter" idx="12"/>
          </p:nvPr>
        </p:nvSpPr>
        <p:spPr>
          <a:xfrm>
            <a:off x="11353799" y="6356350"/>
            <a:ext cx="577363" cy="365125"/>
          </a:xfrm>
        </p:spPr>
        <p:txBody>
          <a:bodyPr/>
          <a:lstStyle>
            <a:lvl1pPr>
              <a:defRPr/>
            </a:lvl1pPr>
          </a:lstStyle>
          <a:p>
            <a:fld id="{D4751D38-C989-48BC-B1AB-387F6E8DCEB6}" type="slidenum">
              <a:rPr lang="zh-CN" altLang="en-US" smtClean="0"/>
            </a:fld>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2_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565638" y="1211017"/>
            <a:ext cx="4938347" cy="4965946"/>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stStyle>
          <a:p>
            <a:pPr lvl="0"/>
            <a:r>
              <a:rPr lang="zh-CN" altLang="en-US" dirty="0"/>
              <a:t>单击此处编辑母版文本样式</a:t>
            </a:r>
            <a:endParaRPr lang="zh-CN" altLang="en-US" dirty="0"/>
          </a:p>
          <a:p>
            <a:pPr lvl="1"/>
            <a:r>
              <a:rPr lang="zh-CN" altLang="en-US" dirty="0"/>
              <a:t>第二级</a:t>
            </a:r>
            <a:endParaRPr lang="zh-CN" altLang="en-US" dirty="0"/>
          </a:p>
        </p:txBody>
      </p:sp>
      <p:sp>
        <p:nvSpPr>
          <p:cNvPr id="5" name="日期占位符 4"/>
          <p:cNvSpPr>
            <a:spLocks noGrp="1"/>
          </p:cNvSpPr>
          <p:nvPr>
            <p:ph type="dt" sz="half" idx="10"/>
          </p:nvPr>
        </p:nvSpPr>
        <p:spPr/>
        <p:txBody>
          <a:bodyPr/>
          <a:lstStyle/>
          <a:p>
            <a:fld id="{D6D7687D-AB34-4C37-9D27-4EC8F8F50E7C}"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8" name="灯片编号占位符 6"/>
          <p:cNvSpPr>
            <a:spLocks noGrp="1"/>
          </p:cNvSpPr>
          <p:nvPr>
            <p:ph type="sldNum" sz="quarter" idx="12"/>
          </p:nvPr>
        </p:nvSpPr>
        <p:spPr>
          <a:xfrm>
            <a:off x="11353799" y="6356350"/>
            <a:ext cx="577363" cy="365125"/>
          </a:xfrm>
        </p:spPr>
        <p:txBody>
          <a:bodyPr/>
          <a:lstStyle>
            <a:lvl1pPr>
              <a:defRPr/>
            </a:lvl1pPr>
          </a:lstStyle>
          <a:p>
            <a:fld id="{D4751D38-C989-48BC-B1AB-387F6E8DCEB6}" type="slidenum">
              <a:rPr lang="zh-CN" altLang="en-US" smtClean="0"/>
            </a:fld>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3_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565638" y="1211017"/>
            <a:ext cx="4938347" cy="4965946"/>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stStyle>
          <a:p>
            <a:pPr lvl="0"/>
            <a:r>
              <a:rPr lang="zh-CN" altLang="en-US" dirty="0"/>
              <a:t>单击此处编辑母版文本样式</a:t>
            </a:r>
            <a:endParaRPr lang="zh-CN" altLang="en-US" dirty="0"/>
          </a:p>
          <a:p>
            <a:pPr lvl="1"/>
            <a:r>
              <a:rPr lang="zh-CN" altLang="en-US" dirty="0"/>
              <a:t>第二级</a:t>
            </a:r>
            <a:endParaRPr lang="zh-CN" altLang="en-US" dirty="0"/>
          </a:p>
        </p:txBody>
      </p:sp>
      <p:sp>
        <p:nvSpPr>
          <p:cNvPr id="5" name="日期占位符 4"/>
          <p:cNvSpPr>
            <a:spLocks noGrp="1"/>
          </p:cNvSpPr>
          <p:nvPr>
            <p:ph type="dt" sz="half" idx="10"/>
          </p:nvPr>
        </p:nvSpPr>
        <p:spPr/>
        <p:txBody>
          <a:bodyPr/>
          <a:lstStyle/>
          <a:p>
            <a:fld id="{D6D7687D-AB34-4C37-9D27-4EC8F8F50E7C}"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8" name="灯片编号占位符 6"/>
          <p:cNvSpPr>
            <a:spLocks noGrp="1"/>
          </p:cNvSpPr>
          <p:nvPr>
            <p:ph type="sldNum" sz="quarter" idx="12"/>
          </p:nvPr>
        </p:nvSpPr>
        <p:spPr>
          <a:xfrm>
            <a:off x="11353799" y="6356350"/>
            <a:ext cx="577363" cy="365125"/>
          </a:xfrm>
        </p:spPr>
        <p:txBody>
          <a:bodyPr/>
          <a:lstStyle>
            <a:lvl1pPr>
              <a:defRPr/>
            </a:lvl1pPr>
          </a:lstStyle>
          <a:p>
            <a:fld id="{D4751D38-C989-48BC-B1AB-387F6E8DCEB6}" type="slidenum">
              <a:rPr lang="zh-CN" altLang="en-US" smtClean="0"/>
            </a:fld>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4_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565638" y="1211017"/>
            <a:ext cx="4938347" cy="4965946"/>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stStyle>
          <a:p>
            <a:pPr lvl="0"/>
            <a:r>
              <a:rPr lang="zh-CN" altLang="en-US" dirty="0"/>
              <a:t>单击此处编辑母版文本样式</a:t>
            </a:r>
            <a:endParaRPr lang="zh-CN" altLang="en-US" dirty="0"/>
          </a:p>
          <a:p>
            <a:pPr lvl="1"/>
            <a:r>
              <a:rPr lang="zh-CN" altLang="en-US" dirty="0"/>
              <a:t>第二级</a:t>
            </a:r>
            <a:endParaRPr lang="zh-CN" altLang="en-US" dirty="0"/>
          </a:p>
        </p:txBody>
      </p:sp>
      <p:sp>
        <p:nvSpPr>
          <p:cNvPr id="5" name="日期占位符 4"/>
          <p:cNvSpPr>
            <a:spLocks noGrp="1"/>
          </p:cNvSpPr>
          <p:nvPr>
            <p:ph type="dt" sz="half" idx="10"/>
          </p:nvPr>
        </p:nvSpPr>
        <p:spPr/>
        <p:txBody>
          <a:bodyPr/>
          <a:lstStyle/>
          <a:p>
            <a:fld id="{D6D7687D-AB34-4C37-9D27-4EC8F8F50E7C}"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8" name="灯片编号占位符 6"/>
          <p:cNvSpPr>
            <a:spLocks noGrp="1"/>
          </p:cNvSpPr>
          <p:nvPr>
            <p:ph type="sldNum" sz="quarter" idx="12"/>
          </p:nvPr>
        </p:nvSpPr>
        <p:spPr>
          <a:xfrm>
            <a:off x="11353799" y="6356350"/>
            <a:ext cx="577363" cy="365125"/>
          </a:xfrm>
        </p:spPr>
        <p:txBody>
          <a:bodyPr/>
          <a:lstStyle>
            <a:lvl1pPr>
              <a:defRPr/>
            </a:lvl1pPr>
          </a:lstStyle>
          <a:p>
            <a:fld id="{D4751D38-C989-48BC-B1AB-387F6E8DCEB6}" type="slidenum">
              <a:rPr lang="zh-CN" altLang="en-US" smtClean="0"/>
            </a:fld>
            <a:endParaRPr lang="zh-CN" alt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5_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565638" y="1211017"/>
            <a:ext cx="4938347" cy="4965946"/>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stStyle>
          <a:p>
            <a:pPr lvl="0"/>
            <a:r>
              <a:rPr lang="zh-CN" altLang="en-US" dirty="0"/>
              <a:t>单击此处编辑母版文本样式</a:t>
            </a:r>
            <a:endParaRPr lang="zh-CN" altLang="en-US" dirty="0"/>
          </a:p>
          <a:p>
            <a:pPr lvl="1"/>
            <a:r>
              <a:rPr lang="zh-CN" altLang="en-US" dirty="0"/>
              <a:t>第二级</a:t>
            </a:r>
            <a:endParaRPr lang="zh-CN" altLang="en-US" dirty="0"/>
          </a:p>
        </p:txBody>
      </p:sp>
      <p:sp>
        <p:nvSpPr>
          <p:cNvPr id="5" name="日期占位符 4"/>
          <p:cNvSpPr>
            <a:spLocks noGrp="1"/>
          </p:cNvSpPr>
          <p:nvPr>
            <p:ph type="dt" sz="half" idx="10"/>
          </p:nvPr>
        </p:nvSpPr>
        <p:spPr/>
        <p:txBody>
          <a:bodyPr/>
          <a:lstStyle/>
          <a:p>
            <a:fld id="{D6D7687D-AB34-4C37-9D27-4EC8F8F50E7C}"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8" name="灯片编号占位符 6"/>
          <p:cNvSpPr>
            <a:spLocks noGrp="1"/>
          </p:cNvSpPr>
          <p:nvPr>
            <p:ph type="sldNum" sz="quarter" idx="12"/>
          </p:nvPr>
        </p:nvSpPr>
        <p:spPr>
          <a:xfrm>
            <a:off x="11353799" y="6356350"/>
            <a:ext cx="577363" cy="365125"/>
          </a:xfrm>
        </p:spPr>
        <p:txBody>
          <a:bodyPr/>
          <a:lstStyle>
            <a:lvl1pPr>
              <a:defRPr/>
            </a:lvl1pPr>
          </a:lstStyle>
          <a:p>
            <a:fld id="{D4751D38-C989-48BC-B1AB-387F6E8DCEB6}" type="slidenum">
              <a:rPr lang="zh-CN" altLang="en-US" smtClean="0"/>
            </a:fld>
            <a:endParaRPr lang="zh-CN" alt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6_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565638" y="1211017"/>
            <a:ext cx="4938347" cy="4965946"/>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stStyle>
          <a:p>
            <a:pPr lvl="0"/>
            <a:r>
              <a:rPr lang="zh-CN" altLang="en-US" dirty="0"/>
              <a:t>单击此处编辑母版文本样式</a:t>
            </a:r>
            <a:endParaRPr lang="zh-CN" altLang="en-US" dirty="0"/>
          </a:p>
          <a:p>
            <a:pPr lvl="1"/>
            <a:r>
              <a:rPr lang="zh-CN" altLang="en-US" dirty="0"/>
              <a:t>第二级</a:t>
            </a:r>
            <a:endParaRPr lang="zh-CN" altLang="en-US" dirty="0"/>
          </a:p>
        </p:txBody>
      </p:sp>
      <p:sp>
        <p:nvSpPr>
          <p:cNvPr id="5" name="日期占位符 4"/>
          <p:cNvSpPr>
            <a:spLocks noGrp="1"/>
          </p:cNvSpPr>
          <p:nvPr>
            <p:ph type="dt" sz="half" idx="10"/>
          </p:nvPr>
        </p:nvSpPr>
        <p:spPr/>
        <p:txBody>
          <a:bodyPr/>
          <a:lstStyle/>
          <a:p>
            <a:fld id="{D6D7687D-AB34-4C37-9D27-4EC8F8F50E7C}"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8" name="灯片编号占位符 6"/>
          <p:cNvSpPr>
            <a:spLocks noGrp="1"/>
          </p:cNvSpPr>
          <p:nvPr>
            <p:ph type="sldNum" sz="quarter" idx="12"/>
          </p:nvPr>
        </p:nvSpPr>
        <p:spPr>
          <a:xfrm>
            <a:off x="11353799" y="6356350"/>
            <a:ext cx="577363" cy="365125"/>
          </a:xfrm>
        </p:spPr>
        <p:txBody>
          <a:bodyPr/>
          <a:lstStyle>
            <a:lvl1pPr>
              <a:defRPr/>
            </a:lvl1pPr>
          </a:lstStyle>
          <a:p>
            <a:fld id="{D4751D38-C989-48BC-B1AB-387F6E8DCEB6}" type="slidenum">
              <a:rPr lang="zh-CN" altLang="en-US" smtClean="0"/>
            </a:fld>
            <a:endParaRPr lang="zh-CN" alt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7_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565638" y="1211017"/>
            <a:ext cx="4938347" cy="4965946"/>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stStyle>
          <a:p>
            <a:pPr lvl="0"/>
            <a:r>
              <a:rPr lang="zh-CN" altLang="en-US" dirty="0"/>
              <a:t>单击此处编辑母版文本样式</a:t>
            </a:r>
            <a:endParaRPr lang="zh-CN" altLang="en-US" dirty="0"/>
          </a:p>
          <a:p>
            <a:pPr lvl="1"/>
            <a:r>
              <a:rPr lang="zh-CN" altLang="en-US" dirty="0"/>
              <a:t>第二级</a:t>
            </a:r>
            <a:endParaRPr lang="zh-CN" altLang="en-US" dirty="0"/>
          </a:p>
        </p:txBody>
      </p:sp>
      <p:sp>
        <p:nvSpPr>
          <p:cNvPr id="5" name="日期占位符 4"/>
          <p:cNvSpPr>
            <a:spLocks noGrp="1"/>
          </p:cNvSpPr>
          <p:nvPr>
            <p:ph type="dt" sz="half" idx="10"/>
          </p:nvPr>
        </p:nvSpPr>
        <p:spPr/>
        <p:txBody>
          <a:bodyPr/>
          <a:lstStyle/>
          <a:p>
            <a:fld id="{D6D7687D-AB34-4C37-9D27-4EC8F8F50E7C}"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8" name="灯片编号占位符 6"/>
          <p:cNvSpPr>
            <a:spLocks noGrp="1"/>
          </p:cNvSpPr>
          <p:nvPr>
            <p:ph type="sldNum" sz="quarter" idx="12"/>
          </p:nvPr>
        </p:nvSpPr>
        <p:spPr>
          <a:xfrm>
            <a:off x="11353799" y="6356350"/>
            <a:ext cx="577363" cy="365125"/>
          </a:xfrm>
        </p:spPr>
        <p:txBody>
          <a:bodyPr/>
          <a:lstStyle>
            <a:lvl1pPr>
              <a:defRPr/>
            </a:lvl1pPr>
          </a:lstStyle>
          <a:p>
            <a:fld id="{D4751D38-C989-48BC-B1AB-387F6E8DCEB6}" type="slidenum">
              <a:rPr lang="zh-CN" altLang="en-US" smtClean="0"/>
            </a:fld>
            <a:endParaRPr lang="zh-CN" alt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8_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565638" y="1211017"/>
            <a:ext cx="4938347" cy="4965946"/>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stStyle>
          <a:p>
            <a:pPr lvl="0"/>
            <a:r>
              <a:rPr lang="zh-CN" altLang="en-US" dirty="0"/>
              <a:t>单击此处编辑母版文本样式</a:t>
            </a:r>
            <a:endParaRPr lang="zh-CN" altLang="en-US" dirty="0"/>
          </a:p>
          <a:p>
            <a:pPr lvl="1"/>
            <a:r>
              <a:rPr lang="zh-CN" altLang="en-US" dirty="0"/>
              <a:t>第二级</a:t>
            </a:r>
            <a:endParaRPr lang="zh-CN" altLang="en-US" dirty="0"/>
          </a:p>
        </p:txBody>
      </p:sp>
      <p:sp>
        <p:nvSpPr>
          <p:cNvPr id="5" name="日期占位符 4"/>
          <p:cNvSpPr>
            <a:spLocks noGrp="1"/>
          </p:cNvSpPr>
          <p:nvPr>
            <p:ph type="dt" sz="half" idx="10"/>
          </p:nvPr>
        </p:nvSpPr>
        <p:spPr/>
        <p:txBody>
          <a:bodyPr/>
          <a:lstStyle/>
          <a:p>
            <a:fld id="{D6D7687D-AB34-4C37-9D27-4EC8F8F50E7C}"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8" name="灯片编号占位符 6"/>
          <p:cNvSpPr>
            <a:spLocks noGrp="1"/>
          </p:cNvSpPr>
          <p:nvPr>
            <p:ph type="sldNum" sz="quarter" idx="12"/>
          </p:nvPr>
        </p:nvSpPr>
        <p:spPr>
          <a:xfrm>
            <a:off x="11353799" y="6356350"/>
            <a:ext cx="577363" cy="365125"/>
          </a:xfrm>
        </p:spPr>
        <p:txBody>
          <a:bodyPr/>
          <a:lstStyle>
            <a:lvl1pPr>
              <a:defRPr/>
            </a:lvl1pPr>
          </a:lstStyle>
          <a:p>
            <a:fld id="{D4751D38-C989-48BC-B1AB-387F6E8DCEB6}" type="slidenum">
              <a:rPr lang="zh-CN" altLang="en-US" smtClean="0"/>
            </a:fld>
            <a:endParaRPr lang="zh-CN" alt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20_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565638" y="1211017"/>
            <a:ext cx="4938347" cy="4965946"/>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stStyle>
          <a:p>
            <a:pPr lvl="0"/>
            <a:r>
              <a:rPr lang="zh-CN" altLang="en-US" dirty="0"/>
              <a:t>单击此处编辑母版文本样式</a:t>
            </a:r>
            <a:endParaRPr lang="zh-CN" altLang="en-US" dirty="0"/>
          </a:p>
          <a:p>
            <a:pPr lvl="1"/>
            <a:r>
              <a:rPr lang="zh-CN" altLang="en-US" dirty="0"/>
              <a:t>第二级</a:t>
            </a:r>
            <a:endParaRPr lang="zh-CN" altLang="en-US" dirty="0"/>
          </a:p>
        </p:txBody>
      </p:sp>
      <p:sp>
        <p:nvSpPr>
          <p:cNvPr id="5" name="日期占位符 4"/>
          <p:cNvSpPr>
            <a:spLocks noGrp="1"/>
          </p:cNvSpPr>
          <p:nvPr>
            <p:ph type="dt" sz="half" idx="10"/>
          </p:nvPr>
        </p:nvSpPr>
        <p:spPr/>
        <p:txBody>
          <a:bodyPr/>
          <a:lstStyle/>
          <a:p>
            <a:fld id="{D6D7687D-AB34-4C37-9D27-4EC8F8F50E7C}"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8" name="灯片编号占位符 6"/>
          <p:cNvSpPr>
            <a:spLocks noGrp="1"/>
          </p:cNvSpPr>
          <p:nvPr>
            <p:ph type="sldNum" sz="quarter" idx="12"/>
          </p:nvPr>
        </p:nvSpPr>
        <p:spPr>
          <a:xfrm>
            <a:off x="11353799" y="6356350"/>
            <a:ext cx="577363" cy="365125"/>
          </a:xfrm>
        </p:spPr>
        <p:txBody>
          <a:bodyPr/>
          <a:lstStyle>
            <a:lvl1pPr>
              <a:defRPr/>
            </a:lvl1pPr>
          </a:lstStyle>
          <a:p>
            <a:fld id="{D4751D38-C989-48BC-B1AB-387F6E8DCEB6}" type="slidenum">
              <a:rPr lang="zh-CN" altLang="en-US" smtClean="0"/>
            </a:fld>
            <a:endParaRPr lang="zh-CN" alt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6_Title Slide">
    <p:spTree>
      <p:nvGrpSpPr>
        <p:cNvPr id="1" name=""/>
        <p:cNvGrpSpPr/>
        <p:nvPr/>
      </p:nvGrpSpPr>
      <p:grpSpPr>
        <a:xfrm>
          <a:off x="0" y="0"/>
          <a:ext cx="0" cy="0"/>
          <a:chOff x="0" y="0"/>
          <a:chExt cx="0" cy="0"/>
        </a:xfrm>
      </p:grpSpPr>
      <p:sp>
        <p:nvSpPr>
          <p:cNvPr id="2" name="灯片编号占位符 6"/>
          <p:cNvSpPr>
            <a:spLocks noGrp="1"/>
          </p:cNvSpPr>
          <p:nvPr>
            <p:ph type="sldNum" sz="quarter" idx="12"/>
          </p:nvPr>
        </p:nvSpPr>
        <p:spPr>
          <a:xfrm>
            <a:off x="11353799" y="6356350"/>
            <a:ext cx="577363" cy="365125"/>
          </a:xfrm>
        </p:spPr>
        <p:txBody>
          <a:bodyPr/>
          <a:lstStyle>
            <a:lvl1pPr>
              <a:defRPr/>
            </a:lvl1pPr>
          </a:lstStyle>
          <a:p>
            <a:fld id="{D4751D38-C989-48BC-B1AB-387F6E8DCEB6}" type="slidenum">
              <a:rPr lang="zh-CN" altLang="en-US" smtClean="0"/>
            </a:fld>
            <a:endParaRPr lang="zh-CN" alt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21_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565638" y="1211017"/>
            <a:ext cx="4938347" cy="4965946"/>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stStyle>
          <a:p>
            <a:pPr lvl="0"/>
            <a:r>
              <a:rPr lang="zh-CN" altLang="en-US" dirty="0"/>
              <a:t>单击此处编辑母版文本样式</a:t>
            </a:r>
            <a:endParaRPr lang="zh-CN" altLang="en-US" dirty="0"/>
          </a:p>
          <a:p>
            <a:pPr lvl="1"/>
            <a:r>
              <a:rPr lang="zh-CN" altLang="en-US" dirty="0"/>
              <a:t>第二级</a:t>
            </a:r>
            <a:endParaRPr lang="zh-CN" altLang="en-US" dirty="0"/>
          </a:p>
        </p:txBody>
      </p:sp>
      <p:sp>
        <p:nvSpPr>
          <p:cNvPr id="5" name="日期占位符 4"/>
          <p:cNvSpPr>
            <a:spLocks noGrp="1"/>
          </p:cNvSpPr>
          <p:nvPr>
            <p:ph type="dt" sz="half" idx="10"/>
          </p:nvPr>
        </p:nvSpPr>
        <p:spPr/>
        <p:txBody>
          <a:bodyPr/>
          <a:lstStyle/>
          <a:p>
            <a:fld id="{D6D7687D-AB34-4C37-9D27-4EC8F8F50E7C}"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8" name="灯片编号占位符 6"/>
          <p:cNvSpPr>
            <a:spLocks noGrp="1"/>
          </p:cNvSpPr>
          <p:nvPr>
            <p:ph type="sldNum" sz="quarter" idx="12"/>
          </p:nvPr>
        </p:nvSpPr>
        <p:spPr>
          <a:xfrm>
            <a:off x="11353799" y="6356350"/>
            <a:ext cx="577363" cy="365125"/>
          </a:xfrm>
        </p:spPr>
        <p:txBody>
          <a:bodyPr/>
          <a:lstStyle>
            <a:lvl1pPr>
              <a:defRPr/>
            </a:lvl1pPr>
          </a:lstStyle>
          <a:p>
            <a:fld id="{D4751D38-C989-48BC-B1AB-387F6E8DCEB6}" type="slidenum">
              <a:rPr lang="zh-CN" altLang="en-US" smtClean="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6" Type="http://schemas.openxmlformats.org/officeDocument/2006/relationships/theme" Target="../theme/theme1.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1C3678-3ACE-43D9-BE6F-905ACBCA4951}"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E633AA-8009-47BA-B778-7CC695ECB2FA}"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5.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6.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audio" Target="../media/audio1.wav"/><Relationship Id="rId1" Type="http://schemas.openxmlformats.org/officeDocument/2006/relationships/image" Target="../media/image8.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2.xml"/><Relationship Id="rId4" Type="http://schemas.microsoft.com/office/2007/relationships/hdphoto" Target="../media/image13.wdp"/><Relationship Id="rId3" Type="http://schemas.openxmlformats.org/officeDocument/2006/relationships/image" Target="../media/image12.png"/><Relationship Id="rId2" Type="http://schemas.microsoft.com/office/2007/relationships/hdphoto" Target="../media/image11.wdp"/><Relationship Id="rId1" Type="http://schemas.openxmlformats.org/officeDocument/2006/relationships/image" Target="../media/image10.jpe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5.xml"/><Relationship Id="rId3" Type="http://schemas.openxmlformats.org/officeDocument/2006/relationships/image" Target="../media/image16.png"/><Relationship Id="rId2" Type="http://schemas.microsoft.com/office/2007/relationships/hdphoto" Target="../media/image15.wdp"/><Relationship Id="rId1" Type="http://schemas.openxmlformats.org/officeDocument/2006/relationships/image" Target="../media/image14.jpe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microsoft.com/office/2007/relationships/hdphoto" Target="../media/image18.wdp"/><Relationship Id="rId1" Type="http://schemas.openxmlformats.org/officeDocument/2006/relationships/image" Target="../media/image17.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9.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jpe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21.png"/></Relationships>
</file>

<file path=ppt/slides/_rels/slide23.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7.xml"/><Relationship Id="rId4" Type="http://schemas.microsoft.com/office/2007/relationships/hdphoto" Target="../media/image25.wdp"/><Relationship Id="rId3" Type="http://schemas.openxmlformats.org/officeDocument/2006/relationships/image" Target="../media/image24.png"/><Relationship Id="rId2" Type="http://schemas.openxmlformats.org/officeDocument/2006/relationships/image" Target="../media/image23.jpeg"/><Relationship Id="rId1"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image" Target="../media/image26.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7.jpeg"/></Relationships>
</file>

<file path=ppt/slides/_rels/slide2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7.xml"/><Relationship Id="rId4" Type="http://schemas.microsoft.com/office/2007/relationships/hdphoto" Target="../media/image30.wdp"/><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6.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microsoft.com/office/2007/relationships/hdphoto" Target="../media/image32.wdp"/><Relationship Id="rId1" Type="http://schemas.openxmlformats.org/officeDocument/2006/relationships/image" Target="../media/image31.png"/></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19.xml"/><Relationship Id="rId3" Type="http://schemas.openxmlformats.org/officeDocument/2006/relationships/image" Target="../media/image35.png"/><Relationship Id="rId2" Type="http://schemas.microsoft.com/office/2007/relationships/hdphoto" Target="../media/image34.wdp"/><Relationship Id="rId1" Type="http://schemas.openxmlformats.org/officeDocument/2006/relationships/image" Target="../media/image33.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microsoft.com/office/2007/relationships/hdphoto" Target="../media/image37.wdp"/><Relationship Id="rId1" Type="http://schemas.openxmlformats.org/officeDocument/2006/relationships/image" Target="../media/image36.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38.emf"/></Relationships>
</file>

<file path=ppt/slides/_rels/slide31.xml.rels><?xml version="1.0" encoding="UTF-8" standalone="yes"?>
<Relationships xmlns="http://schemas.openxmlformats.org/package/2006/relationships"><Relationship Id="rId7" Type="http://schemas.openxmlformats.org/officeDocument/2006/relationships/slideLayout" Target="../slideLayouts/slideLayout22.xml"/><Relationship Id="rId6" Type="http://schemas.microsoft.com/office/2007/relationships/hdphoto" Target="../media/image44.wdp"/><Relationship Id="rId5" Type="http://schemas.openxmlformats.org/officeDocument/2006/relationships/image" Target="../media/image43.png"/><Relationship Id="rId4" Type="http://schemas.microsoft.com/office/2007/relationships/hdphoto" Target="../media/image42.wdp"/><Relationship Id="rId3" Type="http://schemas.openxmlformats.org/officeDocument/2006/relationships/image" Target="../media/image41.png"/><Relationship Id="rId2" Type="http://schemas.microsoft.com/office/2007/relationships/hdphoto" Target="../media/image40.wdp"/><Relationship Id="rId1" Type="http://schemas.openxmlformats.org/officeDocument/2006/relationships/image" Target="../media/image39.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3.xml"/><Relationship Id="rId1" Type="http://schemas.openxmlformats.org/officeDocument/2006/relationships/image" Target="../media/image45.emf"/></Relationships>
</file>

<file path=ppt/slides/_rels/slide33.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emf"/><Relationship Id="rId4" Type="http://schemas.microsoft.com/office/2007/relationships/hdphoto" Target="../media/image49.wdp"/><Relationship Id="rId3" Type="http://schemas.openxmlformats.org/officeDocument/2006/relationships/image" Target="../media/image48.png"/><Relationship Id="rId2" Type="http://schemas.microsoft.com/office/2007/relationships/hdphoto" Target="../media/image47.wdp"/><Relationship Id="rId1" Type="http://schemas.openxmlformats.org/officeDocument/2006/relationships/image" Target="../media/image46.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microsoft.com/office/2007/relationships/hdphoto" Target="../media/image53.wdp"/><Relationship Id="rId1" Type="http://schemas.openxmlformats.org/officeDocument/2006/relationships/image" Target="../media/image52.pn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5.xml"/><Relationship Id="rId2" Type="http://schemas.microsoft.com/office/2007/relationships/hdphoto" Target="../media/image55.wdp"/><Relationship Id="rId1" Type="http://schemas.openxmlformats.org/officeDocument/2006/relationships/image" Target="../media/image54.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microsoft.com/office/2007/relationships/hdphoto" Target="../media/image57.wdp"/><Relationship Id="rId1" Type="http://schemas.openxmlformats.org/officeDocument/2006/relationships/image" Target="../media/image56.jpeg"/></Relationships>
</file>

<file path=ppt/slides/_rels/slide37.xml.rels><?xml version="1.0" encoding="UTF-8" standalone="yes"?>
<Relationships xmlns="http://schemas.openxmlformats.org/package/2006/relationships"><Relationship Id="rId5" Type="http://schemas.openxmlformats.org/officeDocument/2006/relationships/slideLayout" Target="../slideLayouts/slideLayout27.xml"/><Relationship Id="rId4" Type="http://schemas.microsoft.com/office/2007/relationships/hdphoto" Target="../media/image61.wdp"/><Relationship Id="rId3" Type="http://schemas.openxmlformats.org/officeDocument/2006/relationships/image" Target="../media/image60.jpeg"/><Relationship Id="rId2" Type="http://schemas.microsoft.com/office/2007/relationships/hdphoto" Target="../media/image59.wdp"/><Relationship Id="rId1" Type="http://schemas.openxmlformats.org/officeDocument/2006/relationships/image" Target="../media/image58.jpe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8.xml"/><Relationship Id="rId1" Type="http://schemas.openxmlformats.org/officeDocument/2006/relationships/image" Target="../media/image62.png"/></Relationships>
</file>

<file path=ppt/slides/_rels/slide39.xml.rels><?xml version="1.0" encoding="UTF-8" standalone="yes"?>
<Relationships xmlns="http://schemas.openxmlformats.org/package/2006/relationships"><Relationship Id="rId4" Type="http://schemas.openxmlformats.org/officeDocument/2006/relationships/slideLayout" Target="../slideLayouts/slideLayout29.xml"/><Relationship Id="rId3" Type="http://schemas.microsoft.com/office/2007/relationships/hdphoto" Target="../media/image65.wdp"/><Relationship Id="rId2" Type="http://schemas.openxmlformats.org/officeDocument/2006/relationships/image" Target="../media/image64.jpeg"/><Relationship Id="rId1" Type="http://schemas.openxmlformats.org/officeDocument/2006/relationships/image" Target="../media/image63.png"/></Relationships>
</file>

<file path=ppt/slides/_rels/slide4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30.xml"/><Relationship Id="rId3" Type="http://schemas.openxmlformats.org/officeDocument/2006/relationships/image" Target="../media/image68.png"/><Relationship Id="rId2" Type="http://schemas.microsoft.com/office/2007/relationships/hdphoto" Target="../media/image67.wdp"/><Relationship Id="rId1" Type="http://schemas.openxmlformats.org/officeDocument/2006/relationships/image" Target="../media/image66.png"/></Relationships>
</file>

<file path=ppt/slides/_rels/slide41.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30.xml"/><Relationship Id="rId5" Type="http://schemas.openxmlformats.org/officeDocument/2006/relationships/image" Target="../media/image73.png"/><Relationship Id="rId4" Type="http://schemas.microsoft.com/office/2007/relationships/hdphoto" Target="../media/image72.wdp"/><Relationship Id="rId3" Type="http://schemas.openxmlformats.org/officeDocument/2006/relationships/image" Target="../media/image71.jpeg"/><Relationship Id="rId2" Type="http://schemas.microsoft.com/office/2007/relationships/hdphoto" Target="../media/image70.wdp"/><Relationship Id="rId1" Type="http://schemas.openxmlformats.org/officeDocument/2006/relationships/image" Target="../media/image69.jpe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31.xml"/><Relationship Id="rId2" Type="http://schemas.microsoft.com/office/2007/relationships/hdphoto" Target="../media/image75.wdp"/><Relationship Id="rId1" Type="http://schemas.openxmlformats.org/officeDocument/2006/relationships/image" Target="../media/image74.jpe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32.xml"/><Relationship Id="rId2" Type="http://schemas.microsoft.com/office/2007/relationships/hdphoto" Target="../media/image77.wdp"/><Relationship Id="rId1" Type="http://schemas.openxmlformats.org/officeDocument/2006/relationships/image" Target="../media/image76.jpeg"/></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33.xml"/><Relationship Id="rId2" Type="http://schemas.microsoft.com/office/2007/relationships/hdphoto" Target="../media/image79.wdp"/><Relationship Id="rId1" Type="http://schemas.openxmlformats.org/officeDocument/2006/relationships/image" Target="../media/image78.jpeg"/></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34.xml"/><Relationship Id="rId2" Type="http://schemas.openxmlformats.org/officeDocument/2006/relationships/image" Target="../media/image81.png"/><Relationship Id="rId1" Type="http://schemas.openxmlformats.org/officeDocument/2006/relationships/image" Target="../media/image80.png"/></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microsoft.com/office/2007/relationships/hdphoto" Target="../media/image83.wdp"/><Relationship Id="rId1" Type="http://schemas.openxmlformats.org/officeDocument/2006/relationships/image" Target="../media/image82.jpe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microsoft.com/office/2007/relationships/hdphoto" Target="../media/image83.wdp"/><Relationship Id="rId1" Type="http://schemas.openxmlformats.org/officeDocument/2006/relationships/image" Target="../media/image82.jpe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4" name="Rectangle 4"/>
          <p:cNvSpPr>
            <a:spLocks noGrp="1" noChangeArrowheads="1"/>
          </p:cNvSpPr>
          <p:nvPr>
            <p:ph type="ctrTitle"/>
          </p:nvPr>
        </p:nvSpPr>
        <p:spPr>
          <a:xfrm>
            <a:off x="1577900" y="1109709"/>
            <a:ext cx="8684687" cy="806405"/>
          </a:xfrm>
        </p:spPr>
        <p:txBody>
          <a:bodyPr>
            <a:normAutofit/>
          </a:bodyPr>
          <a:lstStyle/>
          <a:p>
            <a:r>
              <a:rPr lang="en-US" altLang="en-US" sz="4000" b="1" dirty="0" err="1">
                <a:solidFill>
                  <a:srgbClr val="FF0000"/>
                </a:solidFill>
                <a:latin typeface="黑体" panose="02010609060101010101" pitchFamily="49" charset="-122"/>
                <a:ea typeface="黑体" panose="02010609060101010101" pitchFamily="49" charset="-122"/>
                <a:sym typeface="Wingdings" panose="05000000000000000000" pitchFamily="2" charset="2"/>
              </a:rPr>
              <a:t>第一节</a:t>
            </a:r>
            <a:r>
              <a:rPr lang="en-US" altLang="en-US" sz="4000" b="1" dirty="0">
                <a:solidFill>
                  <a:srgbClr val="FF0000"/>
                </a:solidFill>
                <a:latin typeface="黑体" panose="02010609060101010101" pitchFamily="49" charset="-122"/>
                <a:ea typeface="黑体" panose="02010609060101010101" pitchFamily="49" charset="-122"/>
                <a:sym typeface="Wingdings" panose="05000000000000000000" pitchFamily="2" charset="2"/>
              </a:rPr>
              <a:t> </a:t>
            </a:r>
            <a:r>
              <a:rPr lang="en-US" altLang="en-US" sz="4000" b="1" dirty="0" err="1">
                <a:solidFill>
                  <a:srgbClr val="FF0000"/>
                </a:solidFill>
                <a:latin typeface="黑体" panose="02010609060101010101" pitchFamily="49" charset="-122"/>
                <a:ea typeface="黑体" panose="02010609060101010101" pitchFamily="49" charset="-122"/>
                <a:sym typeface="Wingdings" panose="05000000000000000000" pitchFamily="2" charset="2"/>
              </a:rPr>
              <a:t>细菌和病毒遗传研究的意义</a:t>
            </a:r>
            <a:endParaRPr lang="en-US" altLang="en-US" sz="4000" b="1" dirty="0">
              <a:solidFill>
                <a:srgbClr val="FF0000"/>
              </a:solidFill>
              <a:latin typeface="黑体" panose="02010609060101010101" pitchFamily="49" charset="-122"/>
              <a:ea typeface="黑体" panose="02010609060101010101" pitchFamily="49" charset="-122"/>
              <a:sym typeface="Wingdings" panose="05000000000000000000" pitchFamily="2" charset="2"/>
            </a:endParaRPr>
          </a:p>
        </p:txBody>
      </p:sp>
      <p:sp>
        <p:nvSpPr>
          <p:cNvPr id="76805" name="Rectangle 5"/>
          <p:cNvSpPr>
            <a:spLocks noGrp="1" noChangeArrowheads="1"/>
          </p:cNvSpPr>
          <p:nvPr>
            <p:ph type="subTitle" idx="1"/>
          </p:nvPr>
        </p:nvSpPr>
        <p:spPr>
          <a:xfrm>
            <a:off x="1323697" y="2159078"/>
            <a:ext cx="8938890" cy="3034359"/>
          </a:xfrm>
        </p:spPr>
        <p:txBody>
          <a:bodyPr>
            <a:normAutofit lnSpcReduction="10000"/>
          </a:bodyPr>
          <a:lstStyle/>
          <a:p>
            <a:pPr algn="just"/>
            <a:r>
              <a:rPr lang="zh-CN" altLang="en-US" sz="3600" b="1" dirty="0">
                <a:solidFill>
                  <a:srgbClr val="0000FF"/>
                </a:solidFill>
                <a:latin typeface="黑体" panose="02010609060101010101" pitchFamily="49" charset="-122"/>
                <a:ea typeface="黑体" panose="02010609060101010101" pitchFamily="49" charset="-122"/>
              </a:rPr>
              <a:t>一、细菌的生物学特征</a:t>
            </a:r>
            <a:endParaRPr lang="zh-CN" altLang="en-US" sz="3600" b="1" dirty="0">
              <a:solidFill>
                <a:srgbClr val="0000FF"/>
              </a:solidFill>
              <a:latin typeface="黑体" panose="02010609060101010101" pitchFamily="49" charset="-122"/>
              <a:ea typeface="黑体" panose="02010609060101010101" pitchFamily="49" charset="-122"/>
            </a:endParaRPr>
          </a:p>
          <a:p>
            <a:pPr algn="just"/>
            <a:r>
              <a:rPr lang="zh-CN" altLang="en-US" sz="3600" b="1" dirty="0">
                <a:solidFill>
                  <a:srgbClr val="0000FF"/>
                </a:solidFill>
                <a:latin typeface="黑体" panose="02010609060101010101" pitchFamily="49" charset="-122"/>
                <a:ea typeface="黑体" panose="02010609060101010101" pitchFamily="49" charset="-122"/>
              </a:rPr>
              <a:t>二、病毒的生物学特征</a:t>
            </a:r>
            <a:endParaRPr lang="zh-CN" altLang="en-US" sz="3600" b="1" dirty="0">
              <a:solidFill>
                <a:srgbClr val="0000FF"/>
              </a:solidFill>
              <a:latin typeface="黑体" panose="02010609060101010101" pitchFamily="49" charset="-122"/>
              <a:ea typeface="黑体" panose="02010609060101010101" pitchFamily="49" charset="-122"/>
            </a:endParaRPr>
          </a:p>
          <a:p>
            <a:pPr algn="just"/>
            <a:r>
              <a:rPr lang="zh-CN" altLang="en-US" sz="3600" b="1" dirty="0">
                <a:solidFill>
                  <a:srgbClr val="0000FF"/>
                </a:solidFill>
                <a:latin typeface="黑体" panose="02010609060101010101" pitchFamily="49" charset="-122"/>
                <a:ea typeface="黑体" panose="02010609060101010101" pitchFamily="49" charset="-122"/>
              </a:rPr>
              <a:t>三、细菌和病毒在遗传研究中的优越性</a:t>
            </a:r>
            <a:endParaRPr lang="zh-CN" altLang="en-US" sz="3600" b="1" dirty="0">
              <a:solidFill>
                <a:srgbClr val="0000FF"/>
              </a:solidFill>
              <a:latin typeface="黑体" panose="02010609060101010101" pitchFamily="49" charset="-122"/>
              <a:ea typeface="黑体" panose="02010609060101010101" pitchFamily="49" charset="-122"/>
            </a:endParaRPr>
          </a:p>
          <a:p>
            <a:pPr algn="just"/>
            <a:r>
              <a:rPr lang="zh-CN" altLang="en-US" sz="3600" b="1" dirty="0">
                <a:solidFill>
                  <a:srgbClr val="0000FF"/>
                </a:solidFill>
                <a:latin typeface="黑体" panose="02010609060101010101" pitchFamily="49" charset="-122"/>
                <a:ea typeface="黑体" panose="02010609060101010101" pitchFamily="49" charset="-122"/>
              </a:rPr>
              <a:t>四、细菌和病毒的拟有性过程</a:t>
            </a:r>
            <a:endParaRPr lang="zh-CN" altLang="en-US" sz="3600" b="1" dirty="0">
              <a:solidFill>
                <a:srgbClr val="0000FF"/>
              </a:solidFill>
              <a:latin typeface="黑体" panose="02010609060101010101" pitchFamily="49" charset="-122"/>
              <a:ea typeface="黑体" panose="02010609060101010101" pitchFamily="49" charset="-122"/>
            </a:endParaRPr>
          </a:p>
          <a:p>
            <a:pPr algn="just"/>
            <a:r>
              <a:rPr lang="zh-CN" altLang="en-US" sz="3600" b="1" dirty="0">
                <a:solidFill>
                  <a:srgbClr val="0000FF"/>
                </a:solidFill>
                <a:latin typeface="黑体" panose="02010609060101010101" pitchFamily="49" charset="-122"/>
                <a:ea typeface="黑体" panose="02010609060101010101" pitchFamily="49" charset="-122"/>
              </a:rPr>
              <a:t>五、细菌遗传的实验研究方法</a:t>
            </a:r>
            <a:endParaRPr lang="zh-CN" altLang="en-US" sz="3600" b="1" dirty="0">
              <a:solidFill>
                <a:srgbClr val="0000FF"/>
              </a:solidFill>
              <a:latin typeface="黑体" panose="02010609060101010101" pitchFamily="49" charset="-122"/>
              <a:ea typeface="黑体" panose="02010609060101010101" pitchFamily="49" charset="-122"/>
            </a:endParaRPr>
          </a:p>
        </p:txBody>
      </p:sp>
      <p:sp>
        <p:nvSpPr>
          <p:cNvPr id="7" name="Rectangle 6"/>
          <p:cNvSpPr txBox="1">
            <a:spLocks noChangeArrowheads="1"/>
          </p:cNvSpPr>
          <p:nvPr/>
        </p:nvSpPr>
        <p:spPr>
          <a:xfrm>
            <a:off x="834395" y="319596"/>
            <a:ext cx="10156161" cy="79011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400" b="1" noProof="1">
                <a:latin typeface="黑体" panose="02010609060101010101" pitchFamily="49" charset="-122"/>
                <a:ea typeface="黑体" panose="02010609060101010101" pitchFamily="49" charset="-122"/>
                <a:sym typeface="Wingdings" panose="05000000000000000000" pitchFamily="2" charset="2"/>
              </a:rPr>
              <a:t>第八章	</a:t>
            </a:r>
            <a:r>
              <a:rPr lang="zh-CN" altLang="en-US" sz="4400" b="1" dirty="0">
                <a:latin typeface="黑体" panose="02010609060101010101" pitchFamily="49" charset="-122"/>
                <a:ea typeface="黑体" panose="02010609060101010101" pitchFamily="49" charset="-122"/>
              </a:rPr>
              <a:t>细菌和噬菌体的重组和连锁</a:t>
            </a:r>
            <a:endParaRPr lang="zh-CN" altLang="en-US" sz="4400" b="1" noProof="1">
              <a:latin typeface="黑体" panose="02010609060101010101" pitchFamily="49" charset="-122"/>
              <a:ea typeface="黑体" panose="020106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p:cNvSpPr>
            <a:spLocks noGrp="1" noChangeArrowheads="1"/>
          </p:cNvSpPr>
          <p:nvPr>
            <p:ph type="title"/>
          </p:nvPr>
        </p:nvSpPr>
        <p:spPr>
          <a:xfrm>
            <a:off x="25151" y="81240"/>
            <a:ext cx="10515600" cy="594468"/>
          </a:xfrm>
        </p:spPr>
        <p:txBody>
          <a:bodyPr>
            <a:normAutofit/>
          </a:bodyPr>
          <a:lstStyle/>
          <a:p>
            <a:r>
              <a:rPr lang="zh-CN" altLang="en-US" sz="3600" b="1" dirty="0">
                <a:solidFill>
                  <a:srgbClr val="0000FF"/>
                </a:solidFill>
                <a:latin typeface="黑体" panose="02010609060101010101" pitchFamily="49" charset="-122"/>
                <a:ea typeface="黑体" panose="02010609060101010101" pitchFamily="49" charset="-122"/>
              </a:rPr>
              <a:t>一、细菌的生物学特征</a:t>
            </a:r>
            <a:endParaRPr lang="zh-CN" altLang="en-US" sz="3600" b="1" dirty="0">
              <a:solidFill>
                <a:srgbClr val="0000FF"/>
              </a:solidFill>
              <a:latin typeface="黑体" panose="02010609060101010101" pitchFamily="49" charset="-122"/>
              <a:ea typeface="黑体" panose="02010609060101010101" pitchFamily="49" charset="-122"/>
            </a:endParaRPr>
          </a:p>
        </p:txBody>
      </p:sp>
      <p:sp>
        <p:nvSpPr>
          <p:cNvPr id="210947" name="Rectangle 3"/>
          <p:cNvSpPr>
            <a:spLocks noGrp="1" noChangeArrowheads="1"/>
          </p:cNvSpPr>
          <p:nvPr>
            <p:ph type="body" idx="1"/>
          </p:nvPr>
        </p:nvSpPr>
        <p:spPr>
          <a:xfrm>
            <a:off x="0" y="707038"/>
            <a:ext cx="12192000" cy="2721961"/>
          </a:xfrm>
        </p:spPr>
        <p:txBody>
          <a:bodyPr>
            <a:normAutofit fontScale="85000" lnSpcReduction="10000"/>
          </a:bodyPr>
          <a:lstStyle/>
          <a:p>
            <a:pPr>
              <a:lnSpc>
                <a:spcPct val="120000"/>
              </a:lnSpc>
              <a:buFont typeface="Wingdings" panose="05000000000000000000" pitchFamily="2" charset="2"/>
              <a:buChar char="Ø"/>
            </a:pPr>
            <a:r>
              <a:rPr lang="zh-CN" altLang="en-US" b="1" dirty="0">
                <a:latin typeface="黑体" panose="02010609060101010101" pitchFamily="49" charset="-122"/>
                <a:ea typeface="黑体" panose="02010609060101010101" pitchFamily="49" charset="-122"/>
              </a:rPr>
              <a:t>细菌是单细胞生物，形状和大小变化很多，它的遗传物质是一个大型的环状核酸分子，称为基因带，也称为染色体。</a:t>
            </a:r>
            <a:endParaRPr lang="zh-CN" altLang="en-US" b="1" dirty="0">
              <a:latin typeface="黑体" panose="02010609060101010101" pitchFamily="49" charset="-122"/>
              <a:ea typeface="黑体" panose="02010609060101010101" pitchFamily="49" charset="-122"/>
            </a:endParaRPr>
          </a:p>
          <a:p>
            <a:pPr>
              <a:lnSpc>
                <a:spcPct val="120000"/>
              </a:lnSpc>
              <a:buFont typeface="Wingdings" panose="05000000000000000000" pitchFamily="2" charset="2"/>
              <a:buChar char="Ø"/>
            </a:pPr>
            <a:r>
              <a:rPr lang="zh-CN" altLang="en-US" b="1" dirty="0">
                <a:latin typeface="黑体" panose="02010609060101010101" pitchFamily="49" charset="-122"/>
                <a:ea typeface="黑体" panose="02010609060101010101" pitchFamily="49" charset="-122"/>
              </a:rPr>
              <a:t>细菌通常利用简单的二分分裂增殖，通过这种无性的分裂，一个细菌可在固体培养基上形成一个</a:t>
            </a:r>
            <a:r>
              <a:rPr lang="zh-CN" altLang="en-US" b="1" dirty="0">
                <a:solidFill>
                  <a:srgbClr val="FF0000"/>
                </a:solidFill>
                <a:latin typeface="黑体" panose="02010609060101010101" pitchFamily="49" charset="-122"/>
                <a:ea typeface="黑体" panose="02010609060101010101" pitchFamily="49" charset="-122"/>
              </a:rPr>
              <a:t>菌落</a:t>
            </a:r>
            <a:r>
              <a:rPr lang="zh-CN" altLang="en-US" b="1" dirty="0">
                <a:latin typeface="黑体" panose="02010609060101010101" pitchFamily="49" charset="-122"/>
                <a:ea typeface="黑体" panose="02010609060101010101" pitchFamily="49" charset="-122"/>
              </a:rPr>
              <a:t>。</a:t>
            </a:r>
            <a:endParaRPr lang="zh-CN" altLang="en-US" b="1" dirty="0">
              <a:latin typeface="黑体" panose="02010609060101010101" pitchFamily="49" charset="-122"/>
              <a:ea typeface="黑体" panose="02010609060101010101" pitchFamily="49" charset="-122"/>
            </a:endParaRPr>
          </a:p>
          <a:p>
            <a:pPr>
              <a:lnSpc>
                <a:spcPct val="120000"/>
              </a:lnSpc>
              <a:buFont typeface="Wingdings" panose="05000000000000000000" pitchFamily="2" charset="2"/>
              <a:buChar char="Ø"/>
            </a:pPr>
            <a:r>
              <a:rPr lang="zh-CN" altLang="en-US" b="1" dirty="0">
                <a:latin typeface="黑体" panose="02010609060101010101" pitchFamily="49" charset="-122"/>
                <a:ea typeface="黑体" panose="02010609060101010101" pitchFamily="49" charset="-122"/>
              </a:rPr>
              <a:t>如果某种细菌的菌落或菌株丧失产生某种营养物质（如氨基酸）的能力，就称为</a:t>
            </a:r>
            <a:r>
              <a:rPr lang="zh-CN" altLang="en-US" b="1" dirty="0">
                <a:solidFill>
                  <a:srgbClr val="FF0000"/>
                </a:solidFill>
                <a:latin typeface="黑体" panose="02010609060101010101" pitchFamily="49" charset="-122"/>
                <a:ea typeface="黑体" panose="02010609060101010101" pitchFamily="49" charset="-122"/>
              </a:rPr>
              <a:t>营养缺陷型</a:t>
            </a: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auxotroph</a:t>
            </a:r>
            <a:r>
              <a:rPr lang="zh-CN" altLang="en-US" b="1" dirty="0">
                <a:latin typeface="黑体" panose="02010609060101010101" pitchFamily="49" charset="-122"/>
                <a:ea typeface="黑体" panose="02010609060101010101" pitchFamily="49" charset="-122"/>
              </a:rPr>
              <a:t>），相对于缺陷型，野生型菌株可以叫作</a:t>
            </a:r>
            <a:r>
              <a:rPr lang="zh-CN" altLang="en-US" b="1" dirty="0">
                <a:solidFill>
                  <a:srgbClr val="FF0000"/>
                </a:solidFill>
                <a:latin typeface="黑体" panose="02010609060101010101" pitchFamily="49" charset="-122"/>
                <a:ea typeface="黑体" panose="02010609060101010101" pitchFamily="49" charset="-122"/>
              </a:rPr>
              <a:t>原养型</a:t>
            </a: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prototroph</a:t>
            </a:r>
            <a:r>
              <a:rPr lang="zh-CN" altLang="en-US" b="1" dirty="0">
                <a:latin typeface="黑体" panose="02010609060101010101" pitchFamily="49" charset="-122"/>
                <a:ea typeface="黑体" panose="02010609060101010101" pitchFamily="49" charset="-122"/>
              </a:rPr>
              <a:t>）。</a:t>
            </a:r>
            <a:endParaRPr lang="zh-CN" altLang="en-US" b="1" dirty="0">
              <a:latin typeface="黑体" panose="02010609060101010101" pitchFamily="49" charset="-122"/>
              <a:ea typeface="黑体" panose="02010609060101010101" pitchFamily="49" charset="-122"/>
            </a:endParaRPr>
          </a:p>
        </p:txBody>
      </p:sp>
      <p:sp>
        <p:nvSpPr>
          <p:cNvPr id="8" name="Rectangle 2"/>
          <p:cNvSpPr txBox="1">
            <a:spLocks noChangeArrowheads="1"/>
          </p:cNvSpPr>
          <p:nvPr/>
        </p:nvSpPr>
        <p:spPr>
          <a:xfrm>
            <a:off x="2131799" y="5972777"/>
            <a:ext cx="2495333" cy="809625"/>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a:solidFill>
                  <a:srgbClr val="0000FF"/>
                </a:solidFill>
                <a:latin typeface="黑体" panose="02010609060101010101" pitchFamily="49" charset="-122"/>
                <a:ea typeface="黑体" panose="02010609060101010101" pitchFamily="49" charset="-122"/>
              </a:rPr>
              <a:t>大肠杆菌菌落</a:t>
            </a:r>
            <a:endParaRPr lang="zh-CN" altLang="en-US" sz="3200" b="1" dirty="0">
              <a:solidFill>
                <a:srgbClr val="0000FF"/>
              </a:solidFill>
              <a:latin typeface="黑体" panose="02010609060101010101" pitchFamily="49" charset="-122"/>
              <a:ea typeface="黑体" panose="02010609060101010101" pitchFamily="49" charset="-122"/>
            </a:endParaRPr>
          </a:p>
        </p:txBody>
      </p:sp>
      <p:pic>
        <p:nvPicPr>
          <p:cNvPr id="9" name="Picture 5" descr="13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5765826" y="3365584"/>
            <a:ext cx="3846133" cy="267060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 name="Rectangle 2"/>
          <p:cNvSpPr txBox="1">
            <a:spLocks noChangeArrowheads="1"/>
          </p:cNvSpPr>
          <p:nvPr/>
        </p:nvSpPr>
        <p:spPr>
          <a:xfrm>
            <a:off x="6760079" y="6044214"/>
            <a:ext cx="1873896" cy="6667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a:solidFill>
                  <a:srgbClr val="0000FF"/>
                </a:solidFill>
                <a:latin typeface="黑体" panose="02010609060101010101" pitchFamily="49" charset="-122"/>
                <a:ea typeface="黑体" panose="02010609060101010101" pitchFamily="49" charset="-122"/>
              </a:rPr>
              <a:t>大肠杆菌</a:t>
            </a:r>
            <a:endParaRPr lang="zh-CN" altLang="en-US" sz="3200" b="1" dirty="0">
              <a:solidFill>
                <a:srgbClr val="0000FF"/>
              </a:solidFill>
              <a:latin typeface="黑体" panose="02010609060101010101" pitchFamily="49" charset="-122"/>
              <a:ea typeface="黑体" panose="02010609060101010101" pitchFamily="49" charset="-122"/>
            </a:endParaRP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79228" y="3460329"/>
            <a:ext cx="2632190" cy="248111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5" name="Rectangle 3"/>
          <p:cNvSpPr>
            <a:spLocks noGrp="1" noChangeArrowheads="1"/>
          </p:cNvSpPr>
          <p:nvPr>
            <p:ph type="body" idx="1"/>
          </p:nvPr>
        </p:nvSpPr>
        <p:spPr>
          <a:xfrm>
            <a:off x="220024" y="887501"/>
            <a:ext cx="12166849" cy="2541500"/>
          </a:xfrm>
        </p:spPr>
        <p:txBody>
          <a:bodyPr>
            <a:normAutofit/>
          </a:bodyPr>
          <a:lstStyle/>
          <a:p>
            <a:pPr marL="0" indent="0">
              <a:lnSpc>
                <a:spcPct val="110000"/>
              </a:lnSpc>
              <a:buNone/>
            </a:pPr>
            <a:r>
              <a:rPr lang="zh-CN" altLang="en-US" b="1" dirty="0">
                <a:latin typeface="黑体" panose="02010609060101010101" pitchFamily="49" charset="-122"/>
                <a:ea typeface="黑体" panose="02010609060101010101" pitchFamily="49" charset="-122"/>
              </a:rPr>
              <a:t>培养中的细菌可发生突变，如：</a:t>
            </a:r>
            <a:endParaRPr lang="zh-CN" altLang="en-US" b="1" dirty="0">
              <a:latin typeface="黑体" panose="02010609060101010101" pitchFamily="49" charset="-122"/>
              <a:ea typeface="黑体" panose="02010609060101010101" pitchFamily="49" charset="-122"/>
            </a:endParaRPr>
          </a:p>
          <a:p>
            <a:pPr>
              <a:lnSpc>
                <a:spcPct val="110000"/>
              </a:lnSpc>
              <a:buFont typeface="Wingdings" panose="05000000000000000000" pitchFamily="2" charset="2"/>
              <a:buChar char="Ø"/>
            </a:pPr>
            <a:r>
              <a:rPr lang="zh-CN" altLang="en-US" b="1" dirty="0">
                <a:solidFill>
                  <a:srgbClr val="FF0000"/>
                </a:solidFill>
                <a:latin typeface="黑体" panose="02010609060101010101" pitchFamily="49" charset="-122"/>
                <a:ea typeface="黑体" panose="02010609060101010101" pitchFamily="49" charset="-122"/>
              </a:rPr>
              <a:t>菌落形态性状</a:t>
            </a:r>
            <a:r>
              <a:rPr lang="zh-CN" altLang="en-US" b="1" dirty="0">
                <a:solidFill>
                  <a:schemeClr val="tx1"/>
                </a:solidFill>
                <a:latin typeface="黑体" panose="02010609060101010101" pitchFamily="49" charset="-122"/>
                <a:ea typeface="黑体" panose="02010609060101010101" pitchFamily="49" charset="-122"/>
              </a:rPr>
              <a:t>的突变</a:t>
            </a:r>
            <a:r>
              <a:rPr lang="zh-CN" altLang="en-US" b="1" dirty="0">
                <a:latin typeface="黑体" panose="02010609060101010101" pitchFamily="49" charset="-122"/>
                <a:ea typeface="黑体" panose="02010609060101010101" pitchFamily="49" charset="-122"/>
              </a:rPr>
              <a:t>包括：</a:t>
            </a:r>
            <a:r>
              <a:rPr lang="zh-CN" altLang="en-US" b="1" dirty="0">
                <a:solidFill>
                  <a:srgbClr val="0000FF"/>
                </a:solidFill>
                <a:latin typeface="黑体" panose="02010609060101010101" pitchFamily="49" charset="-122"/>
                <a:ea typeface="黑体" panose="02010609060101010101" pitchFamily="49" charset="-122"/>
              </a:rPr>
              <a:t>菌落的形状、颜色和大小</a:t>
            </a:r>
            <a:r>
              <a:rPr lang="zh-CN" altLang="en-US" b="1" dirty="0">
                <a:latin typeface="黑体" panose="02010609060101010101" pitchFamily="49" charset="-122"/>
                <a:ea typeface="黑体" panose="02010609060101010101" pitchFamily="49" charset="-122"/>
              </a:rPr>
              <a:t>等。</a:t>
            </a:r>
            <a:endParaRPr lang="zh-CN" altLang="en-US" b="1" dirty="0">
              <a:latin typeface="黑体" panose="02010609060101010101" pitchFamily="49" charset="-122"/>
              <a:ea typeface="黑体" panose="02010609060101010101" pitchFamily="49" charset="-122"/>
            </a:endParaRPr>
          </a:p>
          <a:p>
            <a:pPr>
              <a:lnSpc>
                <a:spcPct val="110000"/>
              </a:lnSpc>
              <a:buFont typeface="Wingdings" panose="05000000000000000000" pitchFamily="2" charset="2"/>
              <a:buChar char="Ø"/>
            </a:pPr>
            <a:r>
              <a:rPr lang="zh-CN" altLang="en-US" b="1" dirty="0">
                <a:solidFill>
                  <a:srgbClr val="FF0000"/>
                </a:solidFill>
                <a:latin typeface="黑体" panose="02010609060101010101" pitchFamily="49" charset="-122"/>
                <a:ea typeface="黑体" panose="02010609060101010101" pitchFamily="49" charset="-122"/>
              </a:rPr>
              <a:t>生理特性</a:t>
            </a:r>
            <a:r>
              <a:rPr lang="zh-CN" altLang="en-US" b="1" dirty="0">
                <a:solidFill>
                  <a:schemeClr val="tx1"/>
                </a:solidFill>
                <a:latin typeface="黑体" panose="02010609060101010101" pitchFamily="49" charset="-122"/>
                <a:ea typeface="黑体" panose="02010609060101010101" pitchFamily="49" charset="-122"/>
              </a:rPr>
              <a:t>的突变</a:t>
            </a:r>
            <a:r>
              <a:rPr lang="zh-CN" altLang="en-US" b="1" dirty="0">
                <a:latin typeface="黑体" panose="02010609060101010101" pitchFamily="49" charset="-122"/>
                <a:ea typeface="黑体" panose="02010609060101010101" pitchFamily="49" charset="-122"/>
              </a:rPr>
              <a:t>包括：丧失合成某种营养物质能力的</a:t>
            </a:r>
            <a:r>
              <a:rPr lang="zh-CN" altLang="en-US" b="1" dirty="0">
                <a:solidFill>
                  <a:srgbClr val="0000FF"/>
                </a:solidFill>
                <a:latin typeface="黑体" panose="02010609060101010101" pitchFamily="49" charset="-122"/>
                <a:ea typeface="黑体" panose="02010609060101010101" pitchFamily="49" charset="-122"/>
              </a:rPr>
              <a:t>营养缺陷型</a:t>
            </a:r>
            <a:r>
              <a:rPr lang="zh-CN" altLang="en-US" b="1" dirty="0">
                <a:latin typeface="黑体" panose="02010609060101010101" pitchFamily="49" charset="-122"/>
                <a:ea typeface="黑体" panose="02010609060101010101" pitchFamily="49" charset="-122"/>
              </a:rPr>
              <a:t>。</a:t>
            </a:r>
            <a:endParaRPr lang="zh-CN" altLang="en-US" b="1" dirty="0">
              <a:latin typeface="黑体" panose="02010609060101010101" pitchFamily="49" charset="-122"/>
              <a:ea typeface="黑体" panose="02010609060101010101" pitchFamily="49" charset="-122"/>
            </a:endParaRPr>
          </a:p>
          <a:p>
            <a:pPr>
              <a:lnSpc>
                <a:spcPct val="110000"/>
              </a:lnSpc>
              <a:buFont typeface="Wingdings" panose="05000000000000000000" pitchFamily="2" charset="2"/>
              <a:buChar char="Ø"/>
            </a:pPr>
            <a:r>
              <a:rPr lang="zh-CN" altLang="en-US" b="1" dirty="0">
                <a:solidFill>
                  <a:srgbClr val="FF0000"/>
                </a:solidFill>
                <a:latin typeface="黑体" panose="02010609060101010101" pitchFamily="49" charset="-122"/>
                <a:ea typeface="黑体" panose="02010609060101010101" pitchFamily="49" charset="-122"/>
              </a:rPr>
              <a:t>抗性</a:t>
            </a:r>
            <a:r>
              <a:rPr lang="zh-CN" altLang="en-US" b="1" dirty="0">
                <a:solidFill>
                  <a:schemeClr val="tx1"/>
                </a:solidFill>
                <a:latin typeface="黑体" panose="02010609060101010101" pitchFamily="49" charset="-122"/>
                <a:ea typeface="黑体" panose="02010609060101010101" pitchFamily="49" charset="-122"/>
              </a:rPr>
              <a:t>突变</a:t>
            </a:r>
            <a:r>
              <a:rPr lang="zh-CN" altLang="en-US" b="1" dirty="0">
                <a:latin typeface="黑体" panose="02010609060101010101" pitchFamily="49" charset="-122"/>
                <a:ea typeface="黑体" panose="02010609060101010101" pitchFamily="49" charset="-122"/>
              </a:rPr>
              <a:t>包括：</a:t>
            </a:r>
            <a:r>
              <a:rPr lang="zh-CN" altLang="en-US" b="1" dirty="0">
                <a:solidFill>
                  <a:srgbClr val="0000FF"/>
                </a:solidFill>
                <a:latin typeface="黑体" panose="02010609060101010101" pitchFamily="49" charset="-122"/>
                <a:ea typeface="黑体" panose="02010609060101010101" pitchFamily="49" charset="-122"/>
              </a:rPr>
              <a:t>抗药性或抗感染性</a:t>
            </a:r>
            <a:r>
              <a:rPr lang="zh-CN" altLang="en-US" b="1" dirty="0">
                <a:latin typeface="黑体" panose="02010609060101010101" pitchFamily="49" charset="-122"/>
                <a:ea typeface="黑体" panose="02010609060101010101" pitchFamily="49" charset="-122"/>
              </a:rPr>
              <a:t>。 </a:t>
            </a:r>
            <a:endParaRPr lang="zh-CN" altLang="en-US" b="1" dirty="0">
              <a:latin typeface="黑体" panose="02010609060101010101" pitchFamily="49" charset="-122"/>
              <a:ea typeface="黑体" panose="02010609060101010101" pitchFamily="49" charset="-122"/>
            </a:endParaRPr>
          </a:p>
        </p:txBody>
      </p:sp>
      <p:sp>
        <p:nvSpPr>
          <p:cNvPr id="4" name="Rectangle 2"/>
          <p:cNvSpPr>
            <a:spLocks noGrp="1" noChangeArrowheads="1"/>
          </p:cNvSpPr>
          <p:nvPr>
            <p:ph type="title"/>
          </p:nvPr>
        </p:nvSpPr>
        <p:spPr>
          <a:xfrm>
            <a:off x="25151" y="81240"/>
            <a:ext cx="10515600" cy="594468"/>
          </a:xfrm>
        </p:spPr>
        <p:txBody>
          <a:bodyPr>
            <a:normAutofit/>
          </a:bodyPr>
          <a:lstStyle/>
          <a:p>
            <a:r>
              <a:rPr lang="zh-CN" altLang="en-US" sz="3600" b="1" dirty="0">
                <a:solidFill>
                  <a:srgbClr val="0000FF"/>
                </a:solidFill>
                <a:latin typeface="黑体" panose="02010609060101010101" pitchFamily="49" charset="-122"/>
                <a:ea typeface="黑体" panose="02010609060101010101" pitchFamily="49" charset="-122"/>
              </a:rPr>
              <a:t>一、细菌的生物学特征</a:t>
            </a:r>
            <a:endParaRPr lang="zh-CN" altLang="en-US" sz="3600" b="1" dirty="0">
              <a:solidFill>
                <a:srgbClr val="0000FF"/>
              </a:solidFill>
              <a:latin typeface="黑体" panose="02010609060101010101" pitchFamily="49" charset="-122"/>
              <a:ea typeface="黑体" panose="02010609060101010101"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2"/>
          <p:cNvSpPr>
            <a:spLocks noGrp="1" noChangeArrowheads="1"/>
          </p:cNvSpPr>
          <p:nvPr>
            <p:ph type="title"/>
          </p:nvPr>
        </p:nvSpPr>
        <p:spPr>
          <a:xfrm>
            <a:off x="287785" y="136525"/>
            <a:ext cx="10515600" cy="771217"/>
          </a:xfrm>
        </p:spPr>
        <p:txBody>
          <a:bodyPr>
            <a:normAutofit/>
          </a:bodyPr>
          <a:lstStyle/>
          <a:p>
            <a:r>
              <a:rPr lang="zh-CN" altLang="en-US" sz="3600" b="1" dirty="0">
                <a:solidFill>
                  <a:srgbClr val="0000FF"/>
                </a:solidFill>
                <a:latin typeface="黑体" panose="02010609060101010101" pitchFamily="49" charset="-122"/>
                <a:ea typeface="黑体" panose="02010609060101010101" pitchFamily="49" charset="-122"/>
              </a:rPr>
              <a:t>二、病毒的生物学特征</a:t>
            </a:r>
            <a:endParaRPr lang="zh-CN" altLang="en-US" sz="3600" b="1" dirty="0">
              <a:solidFill>
                <a:srgbClr val="0000FF"/>
              </a:solidFill>
              <a:latin typeface="黑体" panose="02010609060101010101" pitchFamily="49" charset="-122"/>
              <a:ea typeface="黑体" panose="02010609060101010101" pitchFamily="49" charset="-122"/>
            </a:endParaRPr>
          </a:p>
        </p:txBody>
      </p:sp>
      <p:sp>
        <p:nvSpPr>
          <p:cNvPr id="289795" name="Rectangle 3"/>
          <p:cNvSpPr>
            <a:spLocks noGrp="1" noChangeArrowheads="1"/>
          </p:cNvSpPr>
          <p:nvPr>
            <p:ph type="body" idx="1"/>
          </p:nvPr>
        </p:nvSpPr>
        <p:spPr>
          <a:xfrm>
            <a:off x="287785" y="965993"/>
            <a:ext cx="6956396" cy="4791177"/>
          </a:xfrm>
        </p:spPr>
        <p:txBody>
          <a:bodyPr>
            <a:normAutofit/>
          </a:bodyPr>
          <a:lstStyle/>
          <a:p>
            <a:pPr>
              <a:lnSpc>
                <a:spcPct val="120000"/>
              </a:lnSpc>
              <a:buFont typeface="Wingdings" panose="05000000000000000000" pitchFamily="2" charset="2"/>
              <a:buChar char="Ø"/>
            </a:pPr>
            <a:r>
              <a:rPr lang="zh-CN" altLang="en-US" b="1" dirty="0">
                <a:latin typeface="黑体" panose="02010609060101010101" pitchFamily="49" charset="-122"/>
                <a:ea typeface="黑体" panose="02010609060101010101" pitchFamily="49" charset="-122"/>
              </a:rPr>
              <a:t>病毒是比细胞更简单的一种生命存在形式。它们自身没有代谢机能，必须</a:t>
            </a:r>
            <a:r>
              <a:rPr lang="zh-CN" altLang="en-US" b="1" dirty="0">
                <a:solidFill>
                  <a:srgbClr val="0000FF"/>
                </a:solidFill>
                <a:latin typeface="黑体" panose="02010609060101010101" pitchFamily="49" charset="-122"/>
                <a:ea typeface="黑体" panose="02010609060101010101" pitchFamily="49" charset="-122"/>
              </a:rPr>
              <a:t>寄生</a:t>
            </a:r>
            <a:r>
              <a:rPr lang="zh-CN" altLang="en-US" b="1" dirty="0">
                <a:latin typeface="黑体" panose="02010609060101010101" pitchFamily="49" charset="-122"/>
                <a:ea typeface="黑体" panose="02010609060101010101" pitchFamily="49" charset="-122"/>
              </a:rPr>
              <a:t>在活细胞中进行增殖。</a:t>
            </a:r>
            <a:endParaRPr lang="zh-CN" altLang="en-US" b="1" dirty="0">
              <a:latin typeface="黑体" panose="02010609060101010101" pitchFamily="49" charset="-122"/>
              <a:ea typeface="黑体" panose="02010609060101010101" pitchFamily="49" charset="-122"/>
            </a:endParaRPr>
          </a:p>
          <a:p>
            <a:pPr>
              <a:lnSpc>
                <a:spcPct val="120000"/>
              </a:lnSpc>
              <a:buFont typeface="Wingdings" panose="05000000000000000000" pitchFamily="2" charset="2"/>
              <a:buChar char="Ø"/>
            </a:pPr>
            <a:r>
              <a:rPr lang="zh-CN" altLang="en-US" b="1" dirty="0">
                <a:latin typeface="黑体" panose="02010609060101010101" pitchFamily="49" charset="-122"/>
                <a:ea typeface="黑体" panose="02010609060101010101" pitchFamily="49" charset="-122"/>
              </a:rPr>
              <a:t>病毒根据宿主细胞的不同，可以分为</a:t>
            </a:r>
            <a:r>
              <a:rPr lang="zh-CN" altLang="en-US" b="1" dirty="0">
                <a:solidFill>
                  <a:srgbClr val="0000FF"/>
                </a:solidFill>
                <a:latin typeface="黑体" panose="02010609060101010101" pitchFamily="49" charset="-122"/>
                <a:ea typeface="黑体" panose="02010609060101010101" pitchFamily="49" charset="-122"/>
              </a:rPr>
              <a:t>动物病毒、植物病毒和细菌病毒</a:t>
            </a:r>
            <a:r>
              <a:rPr lang="en-US" altLang="zh-CN" b="1" dirty="0">
                <a:latin typeface="黑体" panose="02010609060101010101" pitchFamily="49" charset="-122"/>
                <a:ea typeface="黑体" panose="02010609060101010101" pitchFamily="49" charset="-122"/>
              </a:rPr>
              <a:t>3</a:t>
            </a:r>
            <a:r>
              <a:rPr lang="zh-CN" altLang="en-US" b="1" dirty="0">
                <a:latin typeface="黑体" panose="02010609060101010101" pitchFamily="49" charset="-122"/>
                <a:ea typeface="黑体" panose="02010609060101010101" pitchFamily="49" charset="-122"/>
              </a:rPr>
              <a:t>种。细菌病毒又称</a:t>
            </a:r>
            <a:r>
              <a:rPr lang="zh-CN" altLang="en-US" b="1" dirty="0">
                <a:solidFill>
                  <a:srgbClr val="FF0000"/>
                </a:solidFill>
                <a:latin typeface="黑体" panose="02010609060101010101" pitchFamily="49" charset="-122"/>
                <a:ea typeface="黑体" panose="02010609060101010101" pitchFamily="49" charset="-122"/>
              </a:rPr>
              <a:t>噬菌体</a:t>
            </a:r>
            <a:r>
              <a:rPr lang="zh-CN" altLang="en-US" b="1" dirty="0">
                <a:latin typeface="黑体" panose="02010609060101010101" pitchFamily="49" charset="-122"/>
                <a:ea typeface="黑体" panose="02010609060101010101" pitchFamily="49" charset="-122"/>
              </a:rPr>
              <a:t>。病毒的结构包括蛋白质的外壳和包裹在中间的病毒遗传物质</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核酸分子（</a:t>
            </a:r>
            <a:r>
              <a:rPr lang="en-US" altLang="zh-CN" b="1" dirty="0">
                <a:latin typeface="黑体" panose="02010609060101010101" pitchFamily="49" charset="-122"/>
                <a:ea typeface="黑体" panose="02010609060101010101" pitchFamily="49" charset="-122"/>
              </a:rPr>
              <a:t>DNA</a:t>
            </a:r>
            <a:r>
              <a:rPr lang="zh-CN" altLang="en-US" b="1" dirty="0">
                <a:latin typeface="黑体" panose="02010609060101010101" pitchFamily="49" charset="-122"/>
                <a:ea typeface="黑体" panose="02010609060101010101" pitchFamily="49" charset="-122"/>
              </a:rPr>
              <a:t>或</a:t>
            </a:r>
            <a:r>
              <a:rPr lang="en-US" altLang="zh-CN" b="1" dirty="0">
                <a:latin typeface="黑体" panose="02010609060101010101" pitchFamily="49" charset="-122"/>
                <a:ea typeface="黑体" panose="02010609060101010101" pitchFamily="49" charset="-122"/>
              </a:rPr>
              <a:t>RNA</a:t>
            </a:r>
            <a:r>
              <a:rPr lang="zh-CN" altLang="en-US" b="1" dirty="0">
                <a:latin typeface="黑体" panose="02010609060101010101" pitchFamily="49" charset="-122"/>
                <a:ea typeface="黑体" panose="02010609060101010101" pitchFamily="49" charset="-122"/>
              </a:rPr>
              <a:t>），这个核酸分子也称为基因带或染色体。</a:t>
            </a:r>
            <a:endParaRPr lang="zh-CN" altLang="en-US" b="1" dirty="0">
              <a:latin typeface="黑体" panose="02010609060101010101" pitchFamily="49" charset="-122"/>
              <a:ea typeface="黑体" panose="02010609060101010101" pitchFamily="49" charset="-122"/>
            </a:endParaRPr>
          </a:p>
        </p:txBody>
      </p:sp>
      <p:pic>
        <p:nvPicPr>
          <p:cNvPr id="7" name="Picture 5" descr="15_1b"/>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7244181" y="1100830"/>
            <a:ext cx="4264734" cy="428557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 name="Rectangle 2"/>
          <p:cNvSpPr txBox="1">
            <a:spLocks noChangeArrowheads="1"/>
          </p:cNvSpPr>
          <p:nvPr/>
        </p:nvSpPr>
        <p:spPr>
          <a:xfrm>
            <a:off x="8545492" y="5579497"/>
            <a:ext cx="1662111" cy="59569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a:solidFill>
                  <a:srgbClr val="0000FF"/>
                </a:solidFill>
                <a:latin typeface="黑体" panose="02010609060101010101" pitchFamily="49" charset="-122"/>
                <a:ea typeface="黑体" panose="02010609060101010101" pitchFamily="49" charset="-122"/>
              </a:rPr>
              <a:t>噬菌体</a:t>
            </a:r>
            <a:endParaRPr lang="zh-CN" altLang="en-US" sz="3200" b="1" dirty="0">
              <a:solidFill>
                <a:srgbClr val="0000FF"/>
              </a:solidFill>
              <a:latin typeface="黑体" panose="02010609060101010101" pitchFamily="49" charset="-122"/>
              <a:ea typeface="黑体" panose="02010609060101010101" pitchFamily="49"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7" name="Rectangle 11"/>
          <p:cNvSpPr>
            <a:spLocks noGrp="1" noChangeArrowheads="1"/>
          </p:cNvSpPr>
          <p:nvPr>
            <p:ph type="title"/>
          </p:nvPr>
        </p:nvSpPr>
        <p:spPr>
          <a:xfrm>
            <a:off x="349928" y="214206"/>
            <a:ext cx="10515600" cy="780094"/>
          </a:xfrm>
        </p:spPr>
        <p:txBody>
          <a:bodyPr>
            <a:normAutofit/>
          </a:bodyPr>
          <a:lstStyle/>
          <a:p>
            <a:r>
              <a:rPr lang="zh-CN" altLang="en-US" sz="3600" b="1" dirty="0">
                <a:solidFill>
                  <a:srgbClr val="0000FF"/>
                </a:solidFill>
                <a:latin typeface="黑体" panose="02010609060101010101" pitchFamily="49" charset="-122"/>
                <a:ea typeface="黑体" panose="02010609060101010101" pitchFamily="49" charset="-122"/>
              </a:rPr>
              <a:t>三、细菌和病毒在遗传研究中的优越性</a:t>
            </a:r>
            <a:endParaRPr lang="zh-CN" altLang="en-US" sz="3200" b="1" dirty="0">
              <a:solidFill>
                <a:srgbClr val="0000FF"/>
              </a:solidFill>
              <a:latin typeface="黑体" panose="02010609060101010101" pitchFamily="49" charset="-122"/>
              <a:ea typeface="黑体" panose="02010609060101010101" pitchFamily="49" charset="-122"/>
            </a:endParaRPr>
          </a:p>
        </p:txBody>
      </p:sp>
      <p:sp>
        <p:nvSpPr>
          <p:cNvPr id="45068" name="Rectangle 12"/>
          <p:cNvSpPr>
            <a:spLocks noGrp="1" noChangeArrowheads="1"/>
          </p:cNvSpPr>
          <p:nvPr>
            <p:ph type="body" idx="1"/>
          </p:nvPr>
        </p:nvSpPr>
        <p:spPr>
          <a:xfrm>
            <a:off x="736740" y="1001712"/>
            <a:ext cx="10280448" cy="4138459"/>
          </a:xfrm>
        </p:spPr>
        <p:txBody>
          <a:bodyPr>
            <a:normAutofit/>
          </a:bodyPr>
          <a:lstStyle/>
          <a:p>
            <a:pPr marL="0" indent="0">
              <a:lnSpc>
                <a:spcPct val="120000"/>
              </a:lnSpc>
              <a:buNone/>
            </a:pPr>
            <a:r>
              <a:rPr lang="zh-CN" altLang="en-US" b="1" dirty="0">
                <a:latin typeface="黑体" panose="02010609060101010101" pitchFamily="49" charset="-122"/>
                <a:ea typeface="黑体" panose="02010609060101010101" pitchFamily="49" charset="-122"/>
              </a:rPr>
              <a:t>细菌和病毒在遗传研究中的优越性可以归纳为： </a:t>
            </a:r>
            <a:endParaRPr lang="zh-CN" altLang="en-US" b="1" dirty="0">
              <a:latin typeface="黑体" panose="02010609060101010101" pitchFamily="49" charset="-122"/>
              <a:ea typeface="黑体" panose="02010609060101010101" pitchFamily="49" charset="-122"/>
            </a:endParaRPr>
          </a:p>
          <a:p>
            <a:pPr lvl="1">
              <a:lnSpc>
                <a:spcPct val="120000"/>
              </a:lnSpc>
            </a:pPr>
            <a:r>
              <a:rPr lang="zh-CN" altLang="en-US" sz="2800" b="1" dirty="0">
                <a:latin typeface="黑体" panose="02010609060101010101" pitchFamily="49" charset="-122"/>
                <a:ea typeface="黑体" panose="02010609060101010101" pitchFamily="49" charset="-122"/>
              </a:rPr>
              <a:t>世代周期短；</a:t>
            </a:r>
            <a:endParaRPr lang="zh-CN" altLang="en-US" sz="2800" b="1" dirty="0">
              <a:latin typeface="黑体" panose="02010609060101010101" pitchFamily="49" charset="-122"/>
              <a:ea typeface="黑体" panose="02010609060101010101" pitchFamily="49" charset="-122"/>
            </a:endParaRPr>
          </a:p>
          <a:p>
            <a:pPr lvl="1">
              <a:lnSpc>
                <a:spcPct val="120000"/>
              </a:lnSpc>
            </a:pPr>
            <a:r>
              <a:rPr lang="zh-CN" altLang="en-US" sz="2800" b="1" dirty="0">
                <a:latin typeface="黑体" panose="02010609060101010101" pitchFamily="49" charset="-122"/>
                <a:ea typeface="黑体" panose="02010609060101010101" pitchFamily="49" charset="-122"/>
              </a:rPr>
              <a:t>易于操作管理和进行化学分析</a:t>
            </a:r>
            <a:r>
              <a:rPr lang="en-US" altLang="zh-CN" sz="2800" b="1" dirty="0">
                <a:latin typeface="黑体" panose="02010609060101010101" pitchFamily="49" charset="-122"/>
                <a:ea typeface="黑体" panose="02010609060101010101" pitchFamily="49" charset="-122"/>
              </a:rPr>
              <a:t>(</a:t>
            </a:r>
            <a:r>
              <a:rPr lang="zh-CN" altLang="en-US" sz="2800" b="1" dirty="0">
                <a:solidFill>
                  <a:srgbClr val="0000FF"/>
                </a:solidFill>
                <a:latin typeface="黑体" panose="02010609060101010101" pitchFamily="49" charset="-122"/>
                <a:ea typeface="黑体" panose="02010609060101010101" pitchFamily="49" charset="-122"/>
              </a:rPr>
              <a:t>纯培养与代谢产物累积</a:t>
            </a:r>
            <a:r>
              <a:rPr lang="en-US" altLang="zh-CN" sz="2800" b="1" dirty="0">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a:t>
            </a:r>
            <a:endParaRPr lang="zh-CN" altLang="en-US" sz="2800" b="1" dirty="0">
              <a:latin typeface="黑体" panose="02010609060101010101" pitchFamily="49" charset="-122"/>
              <a:ea typeface="黑体" panose="02010609060101010101" pitchFamily="49" charset="-122"/>
            </a:endParaRPr>
          </a:p>
          <a:p>
            <a:pPr lvl="1">
              <a:lnSpc>
                <a:spcPct val="120000"/>
              </a:lnSpc>
            </a:pPr>
            <a:r>
              <a:rPr lang="zh-CN" altLang="en-US" sz="2800" b="1" dirty="0">
                <a:latin typeface="黑体" panose="02010609060101010101" pitchFamily="49" charset="-122"/>
                <a:ea typeface="黑体" panose="02010609060101010101" pitchFamily="49" charset="-122"/>
              </a:rPr>
              <a:t>便于研究</a:t>
            </a:r>
            <a:r>
              <a:rPr lang="zh-CN" altLang="en-US" sz="2800" b="1" dirty="0">
                <a:solidFill>
                  <a:srgbClr val="FF0000"/>
                </a:solidFill>
                <a:latin typeface="黑体" panose="02010609060101010101" pitchFamily="49" charset="-122"/>
                <a:ea typeface="黑体" panose="02010609060101010101" pitchFamily="49" charset="-122"/>
              </a:rPr>
              <a:t>基因的突变</a:t>
            </a:r>
            <a:r>
              <a:rPr lang="en-US" altLang="zh-CN" sz="2800" b="1" dirty="0">
                <a:latin typeface="黑体" panose="02010609060101010101" pitchFamily="49" charset="-122"/>
                <a:ea typeface="黑体" panose="02010609060101010101" pitchFamily="49" charset="-122"/>
              </a:rPr>
              <a:t>(</a:t>
            </a:r>
            <a:r>
              <a:rPr lang="zh-CN" altLang="en-US" sz="2800" b="1" dirty="0">
                <a:solidFill>
                  <a:srgbClr val="0000FF"/>
                </a:solidFill>
                <a:latin typeface="黑体" panose="02010609060101010101" pitchFamily="49" charset="-122"/>
                <a:ea typeface="黑体" panose="02010609060101010101" pitchFamily="49" charset="-122"/>
              </a:rPr>
              <a:t>表现与选择（营养缺陷型）</a:t>
            </a:r>
            <a:r>
              <a:rPr lang="en-US" altLang="zh-CN" sz="2800" b="1" dirty="0">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a:t>
            </a:r>
            <a:endParaRPr lang="zh-CN" altLang="en-US" sz="2800" b="1" dirty="0">
              <a:latin typeface="黑体" panose="02010609060101010101" pitchFamily="49" charset="-122"/>
              <a:ea typeface="黑体" panose="02010609060101010101" pitchFamily="49" charset="-122"/>
            </a:endParaRPr>
          </a:p>
          <a:p>
            <a:pPr lvl="1">
              <a:lnSpc>
                <a:spcPct val="120000"/>
              </a:lnSpc>
            </a:pPr>
            <a:r>
              <a:rPr lang="zh-CN" altLang="en-US" sz="2800" b="1" dirty="0">
                <a:latin typeface="黑体" panose="02010609060101010101" pitchFamily="49" charset="-122"/>
                <a:ea typeface="黑体" panose="02010609060101010101" pitchFamily="49" charset="-122"/>
              </a:rPr>
              <a:t>便于研究</a:t>
            </a:r>
            <a:r>
              <a:rPr lang="zh-CN" altLang="en-US" sz="2800" b="1" dirty="0">
                <a:solidFill>
                  <a:srgbClr val="FF0000"/>
                </a:solidFill>
                <a:latin typeface="黑体" panose="02010609060101010101" pitchFamily="49" charset="-122"/>
                <a:ea typeface="黑体" panose="02010609060101010101" pitchFamily="49" charset="-122"/>
              </a:rPr>
              <a:t>基因的作用</a:t>
            </a:r>
            <a:r>
              <a:rPr lang="en-US" altLang="zh-CN" sz="2800" b="1" dirty="0">
                <a:latin typeface="黑体" panose="02010609060101010101" pitchFamily="49" charset="-122"/>
                <a:ea typeface="黑体" panose="02010609060101010101" pitchFamily="49" charset="-122"/>
              </a:rPr>
              <a:t>(</a:t>
            </a:r>
            <a:r>
              <a:rPr lang="zh-CN" altLang="en-US" sz="2800" b="1" dirty="0">
                <a:solidFill>
                  <a:srgbClr val="0000FF"/>
                </a:solidFill>
                <a:latin typeface="黑体" panose="02010609060101010101" pitchFamily="49" charset="-122"/>
                <a:ea typeface="黑体" panose="02010609060101010101" pitchFamily="49" charset="-122"/>
              </a:rPr>
              <a:t>突变型生长条件与基因作用</a:t>
            </a:r>
            <a:r>
              <a:rPr lang="en-US" altLang="zh-CN" sz="2800" b="1" dirty="0">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a:t>
            </a:r>
            <a:endParaRPr lang="zh-CN" altLang="en-US" sz="2800" b="1" dirty="0">
              <a:latin typeface="黑体" panose="02010609060101010101" pitchFamily="49" charset="-122"/>
              <a:ea typeface="黑体" panose="02010609060101010101" pitchFamily="49" charset="-122"/>
            </a:endParaRPr>
          </a:p>
          <a:p>
            <a:pPr lvl="1">
              <a:lnSpc>
                <a:spcPct val="120000"/>
              </a:lnSpc>
            </a:pPr>
            <a:r>
              <a:rPr lang="zh-CN" altLang="en-US" sz="2800" b="1" dirty="0">
                <a:latin typeface="黑体" panose="02010609060101010101" pitchFamily="49" charset="-122"/>
                <a:ea typeface="黑体" panose="02010609060101010101" pitchFamily="49" charset="-122"/>
              </a:rPr>
              <a:t>便于研究</a:t>
            </a:r>
            <a:r>
              <a:rPr lang="zh-CN" altLang="en-US" sz="2800" b="1" dirty="0">
                <a:solidFill>
                  <a:srgbClr val="FF0000"/>
                </a:solidFill>
                <a:latin typeface="黑体" panose="02010609060101010101" pitchFamily="49" charset="-122"/>
                <a:ea typeface="黑体" panose="02010609060101010101" pitchFamily="49" charset="-122"/>
              </a:rPr>
              <a:t>基因的重组</a:t>
            </a:r>
            <a:r>
              <a:rPr lang="en-US" altLang="zh-CN" sz="2800" b="1" dirty="0">
                <a:latin typeface="黑体" panose="02010609060101010101" pitchFamily="49" charset="-122"/>
                <a:ea typeface="黑体" panose="02010609060101010101" pitchFamily="49" charset="-122"/>
              </a:rPr>
              <a:t>(</a:t>
            </a:r>
            <a:r>
              <a:rPr lang="zh-CN" altLang="en-US" sz="2800" b="1" dirty="0">
                <a:solidFill>
                  <a:srgbClr val="0000FF"/>
                </a:solidFill>
                <a:latin typeface="黑体" panose="02010609060101010101" pitchFamily="49" charset="-122"/>
                <a:ea typeface="黑体" panose="02010609060101010101" pitchFamily="49" charset="-122"/>
              </a:rPr>
              <a:t>重组群体大、选择方法简便有效</a:t>
            </a:r>
            <a:r>
              <a:rPr lang="en-US" altLang="zh-CN" sz="2800" b="1" dirty="0">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a:t>
            </a:r>
            <a:endParaRPr lang="zh-CN" altLang="en-US" sz="2800" b="1" dirty="0">
              <a:latin typeface="黑体" panose="02010609060101010101" pitchFamily="49" charset="-122"/>
              <a:ea typeface="黑体" panose="02010609060101010101" pitchFamily="49" charset="-122"/>
            </a:endParaRPr>
          </a:p>
          <a:p>
            <a:pPr lvl="1">
              <a:lnSpc>
                <a:spcPct val="120000"/>
              </a:lnSpc>
            </a:pPr>
            <a:r>
              <a:rPr lang="zh-CN" altLang="en-US" sz="2800" b="1" dirty="0">
                <a:latin typeface="黑体" panose="02010609060101010101" pitchFamily="49" charset="-122"/>
                <a:ea typeface="黑体" panose="02010609060101010101" pitchFamily="49" charset="-122"/>
              </a:rPr>
              <a:t>遗传物质比较简单，可作为研究高等生物的简单模型。</a:t>
            </a:r>
            <a:endParaRPr lang="zh-CN" altLang="en-US" sz="2800" b="1" dirty="0">
              <a:latin typeface="黑体" panose="02010609060101010101" pitchFamily="49" charset="-122"/>
              <a:ea typeface="黑体" panose="02010609060101010101" pitchFamily="49"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4"/>
          <p:cNvSpPr>
            <a:spLocks noGrp="1" noChangeArrowheads="1"/>
          </p:cNvSpPr>
          <p:nvPr>
            <p:ph type="title"/>
          </p:nvPr>
        </p:nvSpPr>
        <p:spPr>
          <a:xfrm>
            <a:off x="199008" y="249715"/>
            <a:ext cx="10515600" cy="717951"/>
          </a:xfrm>
        </p:spPr>
        <p:txBody>
          <a:bodyPr>
            <a:normAutofit/>
          </a:bodyPr>
          <a:lstStyle/>
          <a:p>
            <a:r>
              <a:rPr lang="zh-CN" altLang="en-US" sz="3600" b="1" dirty="0">
                <a:solidFill>
                  <a:srgbClr val="0000FF"/>
                </a:solidFill>
                <a:latin typeface="黑体" panose="02010609060101010101" pitchFamily="49" charset="-122"/>
                <a:ea typeface="黑体" panose="02010609060101010101" pitchFamily="49" charset="-122"/>
              </a:rPr>
              <a:t>四、细菌和病毒的拟有性过程</a:t>
            </a:r>
            <a:endParaRPr lang="zh-CN" altLang="en-US" sz="3600" b="1" dirty="0">
              <a:solidFill>
                <a:srgbClr val="0000FF"/>
              </a:solidFill>
              <a:latin typeface="黑体" panose="02010609060101010101" pitchFamily="49" charset="-122"/>
              <a:ea typeface="黑体" panose="02010609060101010101" pitchFamily="49" charset="-122"/>
            </a:endParaRPr>
          </a:p>
        </p:txBody>
      </p:sp>
      <p:sp>
        <p:nvSpPr>
          <p:cNvPr id="46085" name="Rectangle 5"/>
          <p:cNvSpPr>
            <a:spLocks noGrp="1" noChangeArrowheads="1"/>
          </p:cNvSpPr>
          <p:nvPr>
            <p:ph type="body" idx="1"/>
          </p:nvPr>
        </p:nvSpPr>
        <p:spPr>
          <a:xfrm>
            <a:off x="354155" y="1054751"/>
            <a:ext cx="11483689" cy="3451934"/>
          </a:xfrm>
        </p:spPr>
        <p:txBody>
          <a:bodyPr>
            <a:normAutofit/>
          </a:bodyPr>
          <a:lstStyle/>
          <a:p>
            <a:pPr marL="0" indent="0">
              <a:lnSpc>
                <a:spcPct val="110000"/>
              </a:lnSpc>
              <a:buNone/>
            </a:pPr>
            <a:r>
              <a:rPr lang="en-US" altLang="zh-CN" sz="2600" b="1" dirty="0">
                <a:latin typeface="黑体" panose="02010609060101010101" pitchFamily="49" charset="-122"/>
                <a:ea typeface="黑体" panose="02010609060101010101" pitchFamily="49" charset="-122"/>
              </a:rPr>
              <a:t>    </a:t>
            </a:r>
            <a:r>
              <a:rPr lang="zh-CN" altLang="en-US" sz="2600" b="1" dirty="0">
                <a:latin typeface="黑体" panose="02010609060101010101" pitchFamily="49" charset="-122"/>
                <a:ea typeface="黑体" panose="02010609060101010101" pitchFamily="49" charset="-122"/>
              </a:rPr>
              <a:t>虽然细菌和病毒不具备像真核生物配子进行融合的有性过程，但它们的遗传物质也能从一个细胞传递到另一个细胞，并且也能形成重组体。细菌获取外源遗传物质有四种不同的方式：</a:t>
            </a:r>
            <a:r>
              <a:rPr lang="zh-CN" altLang="en-US" sz="2600" b="1" dirty="0">
                <a:solidFill>
                  <a:srgbClr val="FF0000"/>
                </a:solidFill>
                <a:latin typeface="黑体" panose="02010609060101010101" pitchFamily="49" charset="-122"/>
                <a:ea typeface="黑体" panose="02010609060101010101" pitchFamily="49" charset="-122"/>
              </a:rPr>
              <a:t>转化，接合，性导和转导</a:t>
            </a:r>
            <a:r>
              <a:rPr lang="zh-CN" altLang="en-US" sz="2600" b="1" dirty="0">
                <a:latin typeface="黑体" panose="02010609060101010101" pitchFamily="49" charset="-122"/>
                <a:ea typeface="黑体" panose="02010609060101010101" pitchFamily="49" charset="-122"/>
              </a:rPr>
              <a:t>。</a:t>
            </a:r>
            <a:endParaRPr lang="en-US" altLang="zh-CN" sz="2600" b="1" dirty="0">
              <a:latin typeface="黑体" panose="02010609060101010101" pitchFamily="49" charset="-122"/>
              <a:ea typeface="黑体" panose="02010609060101010101" pitchFamily="49" charset="-122"/>
            </a:endParaRPr>
          </a:p>
          <a:p>
            <a:pPr marL="0" indent="0">
              <a:lnSpc>
                <a:spcPct val="110000"/>
              </a:lnSpc>
              <a:buNone/>
            </a:pPr>
            <a:r>
              <a:rPr lang="en-US" altLang="zh-CN" sz="2600" b="1" dirty="0">
                <a:solidFill>
                  <a:srgbClr val="0000FF"/>
                </a:solidFill>
                <a:latin typeface="黑体" panose="02010609060101010101" pitchFamily="49" charset="-122"/>
                <a:ea typeface="黑体" panose="02010609060101010101" pitchFamily="49" charset="-122"/>
              </a:rPr>
              <a:t>    </a:t>
            </a:r>
            <a:r>
              <a:rPr lang="zh-CN" altLang="en-US" sz="2600" b="1" dirty="0">
                <a:solidFill>
                  <a:srgbClr val="0000FF"/>
                </a:solidFill>
                <a:latin typeface="黑体" panose="02010609060101010101" pitchFamily="49" charset="-122"/>
                <a:ea typeface="黑体" panose="02010609060101010101" pitchFamily="49" charset="-122"/>
              </a:rPr>
              <a:t>当一个细菌被一个以上的病毒粒子所侵染时，噬菌体也能在细菌体内交换遗传物质</a:t>
            </a:r>
            <a:r>
              <a:rPr lang="zh-CN" altLang="en-US" sz="2600" b="1" dirty="0">
                <a:latin typeface="黑体" panose="02010609060101010101" pitchFamily="49" charset="-122"/>
                <a:ea typeface="黑体" panose="02010609060101010101" pitchFamily="49" charset="-122"/>
              </a:rPr>
              <a:t>。如果两个噬菌体属于不同品系，它们之间可以发生遗传物质的部分交换</a:t>
            </a:r>
            <a:r>
              <a:rPr lang="en-US" altLang="zh-CN" sz="2600" b="1" dirty="0">
                <a:latin typeface="黑体" panose="02010609060101010101" pitchFamily="49" charset="-122"/>
                <a:ea typeface="黑体" panose="02010609060101010101" pitchFamily="49" charset="-122"/>
              </a:rPr>
              <a:t>(</a:t>
            </a:r>
            <a:r>
              <a:rPr lang="zh-CN" altLang="en-US" sz="2600" b="1" dirty="0">
                <a:latin typeface="黑体" panose="02010609060101010101" pitchFamily="49" charset="-122"/>
                <a:ea typeface="黑体" panose="02010609060101010101" pitchFamily="49" charset="-122"/>
              </a:rPr>
              <a:t>重组</a:t>
            </a:r>
            <a:r>
              <a:rPr lang="en-US" altLang="zh-CN" sz="2600" b="1" dirty="0">
                <a:latin typeface="黑体" panose="02010609060101010101" pitchFamily="49" charset="-122"/>
                <a:ea typeface="黑体" panose="02010609060101010101" pitchFamily="49" charset="-122"/>
              </a:rPr>
              <a:t>)</a:t>
            </a:r>
            <a:r>
              <a:rPr lang="zh-CN" altLang="en-US" sz="2600" b="1" dirty="0">
                <a:latin typeface="黑体" panose="02010609060101010101" pitchFamily="49" charset="-122"/>
                <a:ea typeface="黑体" panose="02010609060101010101" pitchFamily="49" charset="-122"/>
              </a:rPr>
              <a:t>。</a:t>
            </a:r>
            <a:endParaRPr lang="zh-CN" altLang="en-US" sz="2600" b="1" dirty="0">
              <a:latin typeface="黑体" panose="02010609060101010101" pitchFamily="49" charset="-122"/>
              <a:ea typeface="黑体" panose="02010609060101010101" pitchFamily="49" charset="-122"/>
            </a:endParaRPr>
          </a:p>
          <a:p>
            <a:pPr marL="0" indent="0">
              <a:lnSpc>
                <a:spcPct val="110000"/>
              </a:lnSpc>
              <a:buNone/>
            </a:pPr>
            <a:r>
              <a:rPr lang="en-US" altLang="zh-CN" sz="2600" b="1" dirty="0">
                <a:latin typeface="黑体" panose="02010609060101010101" pitchFamily="49" charset="-122"/>
                <a:ea typeface="黑体" panose="02010609060101010101" pitchFamily="49" charset="-122"/>
              </a:rPr>
              <a:t>	</a:t>
            </a:r>
            <a:endParaRPr lang="zh-CN" altLang="en-US" sz="2600" b="1" dirty="0">
              <a:latin typeface="黑体" panose="02010609060101010101" pitchFamily="49" charset="-122"/>
              <a:ea typeface="黑体" panose="02010609060101010101" pitchFamily="49"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8" name="Rectangle 8"/>
          <p:cNvSpPr>
            <a:spLocks noGrp="1" noChangeArrowheads="1"/>
          </p:cNvSpPr>
          <p:nvPr>
            <p:ph type="ctrTitle"/>
          </p:nvPr>
        </p:nvSpPr>
        <p:spPr>
          <a:xfrm>
            <a:off x="372756" y="284997"/>
            <a:ext cx="8226425" cy="871537"/>
          </a:xfrm>
        </p:spPr>
        <p:txBody>
          <a:bodyPr/>
          <a:lstStyle/>
          <a:p>
            <a:pPr algn="l"/>
            <a:r>
              <a:rPr lang="en-US" altLang="zh-CN" sz="4400" b="1" dirty="0"/>
              <a:t> </a:t>
            </a:r>
            <a:r>
              <a:rPr lang="zh-CN" altLang="en-US" sz="3600" b="1" dirty="0">
                <a:solidFill>
                  <a:srgbClr val="0000FF"/>
                </a:solidFill>
                <a:latin typeface="黑体" panose="02010609060101010101" pitchFamily="49" charset="-122"/>
                <a:ea typeface="黑体" panose="02010609060101010101" pitchFamily="49" charset="-122"/>
              </a:rPr>
              <a:t>五、细菌遗传的实验研究方法</a:t>
            </a:r>
            <a:endParaRPr lang="zh-CN" altLang="en-US" sz="4400" b="1" dirty="0">
              <a:solidFill>
                <a:srgbClr val="0000FF"/>
              </a:solidFill>
              <a:latin typeface="黑体" panose="02010609060101010101" pitchFamily="49" charset="-122"/>
              <a:ea typeface="黑体" panose="02010609060101010101" pitchFamily="49" charset="-122"/>
            </a:endParaRPr>
          </a:p>
        </p:txBody>
      </p:sp>
      <p:sp>
        <p:nvSpPr>
          <p:cNvPr id="87049" name="Rectangle 9"/>
          <p:cNvSpPr>
            <a:spLocks noGrp="1" noChangeArrowheads="1"/>
          </p:cNvSpPr>
          <p:nvPr>
            <p:ph type="subTitle" idx="1"/>
          </p:nvPr>
        </p:nvSpPr>
        <p:spPr>
          <a:xfrm>
            <a:off x="667307" y="1387353"/>
            <a:ext cx="5715738" cy="2687638"/>
          </a:xfrm>
        </p:spPr>
        <p:txBody>
          <a:bodyPr>
            <a:normAutofit fontScale="92500"/>
          </a:bodyPr>
          <a:lstStyle/>
          <a:p>
            <a:pPr algn="just">
              <a:lnSpc>
                <a:spcPct val="120000"/>
              </a:lnSpc>
            </a:pPr>
            <a:r>
              <a:rPr lang="en-US" altLang="zh-CN" sz="2800" b="1" dirty="0">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一</a:t>
            </a:r>
            <a:r>
              <a:rPr lang="en-US" altLang="zh-CN" sz="2800" b="1" dirty="0">
                <a:latin typeface="黑体" panose="02010609060101010101" pitchFamily="49" charset="-122"/>
                <a:ea typeface="黑体" panose="02010609060101010101" pitchFamily="49" charset="-122"/>
              </a:rPr>
              <a:t>) </a:t>
            </a:r>
            <a:r>
              <a:rPr lang="zh-CN" altLang="en-US" sz="2800" b="1" dirty="0">
                <a:latin typeface="黑体" panose="02010609060101010101" pitchFamily="49" charset="-122"/>
                <a:ea typeface="黑体" panose="02010609060101010101" pitchFamily="49" charset="-122"/>
              </a:rPr>
              <a:t>细胞计数</a:t>
            </a:r>
            <a:r>
              <a:rPr lang="en-US" altLang="zh-CN" sz="2800" b="1" dirty="0">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培养物细胞浓度</a:t>
            </a:r>
            <a:r>
              <a:rPr lang="en-US" altLang="zh-CN" sz="2800" b="1" dirty="0">
                <a:latin typeface="黑体" panose="02010609060101010101" pitchFamily="49" charset="-122"/>
                <a:ea typeface="黑体" panose="02010609060101010101" pitchFamily="49" charset="-122"/>
              </a:rPr>
              <a:t>)</a:t>
            </a:r>
            <a:endParaRPr lang="en-US" altLang="zh-CN" sz="2800" b="1" dirty="0">
              <a:latin typeface="黑体" panose="02010609060101010101" pitchFamily="49" charset="-122"/>
              <a:ea typeface="黑体" panose="02010609060101010101" pitchFamily="49" charset="-122"/>
            </a:endParaRPr>
          </a:p>
          <a:p>
            <a:pPr algn="just">
              <a:lnSpc>
                <a:spcPct val="120000"/>
              </a:lnSpc>
            </a:pPr>
            <a:r>
              <a:rPr lang="en-US" altLang="zh-CN" sz="2800" b="1" dirty="0">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二</a:t>
            </a:r>
            <a:r>
              <a:rPr lang="en-US" altLang="zh-CN" sz="2800" b="1" dirty="0">
                <a:latin typeface="黑体" panose="02010609060101010101" pitchFamily="49" charset="-122"/>
                <a:ea typeface="黑体" panose="02010609060101010101" pitchFamily="49" charset="-122"/>
              </a:rPr>
              <a:t>) </a:t>
            </a:r>
            <a:r>
              <a:rPr lang="zh-CN" altLang="en-US" sz="2800" b="1" dirty="0">
                <a:latin typeface="黑体" panose="02010609060101010101" pitchFamily="49" charset="-122"/>
                <a:ea typeface="黑体" panose="02010609060101010101" pitchFamily="49" charset="-122"/>
              </a:rPr>
              <a:t>建立纯系的方法</a:t>
            </a:r>
            <a:endParaRPr lang="zh-CN" altLang="en-US" sz="2800" b="1" dirty="0">
              <a:latin typeface="黑体" panose="02010609060101010101" pitchFamily="49" charset="-122"/>
              <a:ea typeface="黑体" panose="02010609060101010101" pitchFamily="49" charset="-122"/>
            </a:endParaRPr>
          </a:p>
          <a:p>
            <a:pPr algn="just">
              <a:lnSpc>
                <a:spcPct val="120000"/>
              </a:lnSpc>
            </a:pPr>
            <a:r>
              <a:rPr lang="en-US" altLang="zh-CN" sz="2800" b="1" dirty="0">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三</a:t>
            </a:r>
            <a:r>
              <a:rPr lang="en-US" altLang="zh-CN" sz="2800" b="1" dirty="0">
                <a:latin typeface="黑体" panose="02010609060101010101" pitchFamily="49" charset="-122"/>
                <a:ea typeface="黑体" panose="02010609060101010101" pitchFamily="49" charset="-122"/>
              </a:rPr>
              <a:t>) </a:t>
            </a:r>
            <a:r>
              <a:rPr lang="zh-CN" altLang="en-US" sz="2800" b="1" dirty="0">
                <a:latin typeface="黑体" panose="02010609060101010101" pitchFamily="49" charset="-122"/>
                <a:ea typeface="黑体" panose="02010609060101010101" pitchFamily="49" charset="-122"/>
              </a:rPr>
              <a:t>选择培养法鉴定突变型与重组型</a:t>
            </a:r>
            <a:endParaRPr lang="zh-CN" altLang="en-US" sz="2800" b="1" dirty="0">
              <a:latin typeface="黑体" panose="02010609060101010101" pitchFamily="49" charset="-122"/>
              <a:ea typeface="黑体" panose="02010609060101010101" pitchFamily="49" charset="-122"/>
            </a:endParaRPr>
          </a:p>
          <a:p>
            <a:pPr algn="just">
              <a:lnSpc>
                <a:spcPct val="120000"/>
              </a:lnSpc>
            </a:pPr>
            <a:r>
              <a:rPr lang="en-US" altLang="zh-CN" sz="2800" b="1" dirty="0">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四</a:t>
            </a:r>
            <a:r>
              <a:rPr lang="en-US" altLang="zh-CN" sz="2800" b="1" dirty="0">
                <a:latin typeface="黑体" panose="02010609060101010101" pitchFamily="49" charset="-122"/>
                <a:ea typeface="黑体" panose="02010609060101010101" pitchFamily="49" charset="-122"/>
              </a:rPr>
              <a:t>) </a:t>
            </a:r>
            <a:r>
              <a:rPr lang="zh-CN" altLang="en-US" sz="2800" b="1" dirty="0">
                <a:latin typeface="黑体" panose="02010609060101010101" pitchFamily="49" charset="-122"/>
                <a:ea typeface="黑体" panose="02010609060101010101" pitchFamily="49" charset="-122"/>
              </a:rPr>
              <a:t>突变型与重组型的批量筛选方法</a:t>
            </a:r>
            <a:endParaRPr lang="zh-CN" altLang="en-US" sz="2800" b="1" dirty="0">
              <a:latin typeface="黑体" panose="02010609060101010101" pitchFamily="49" charset="-122"/>
              <a:ea typeface="黑体" panose="02010609060101010101" pitchFamily="49" charset="-122"/>
            </a:endParaRPr>
          </a:p>
        </p:txBody>
      </p:sp>
      <p:pic>
        <p:nvPicPr>
          <p:cNvPr id="7" name="Picture 4" descr="132"/>
          <p:cNvPicPr>
            <a:picLocks noChangeAspect="1" noChangeArrowheads="1"/>
          </p:cNvPicPr>
          <p:nvPr/>
        </p:nvPicPr>
        <p:blipFill>
          <a:blip r:embed="rId1">
            <a:extLst>
              <a:ext uri="{28A0092B-C50C-407E-A947-70E740481C1C}">
                <a14:useLocalDpi xmlns:a14="http://schemas.microsoft.com/office/drawing/2010/main" val="0"/>
              </a:ext>
            </a:extLst>
          </a:blip>
          <a:srcRect l="1184" t="4877" b="1813"/>
          <a:stretch>
            <a:fillRect/>
          </a:stretch>
        </p:blipFill>
        <p:spPr>
          <a:xfrm>
            <a:off x="7234827" y="1260629"/>
            <a:ext cx="4039846" cy="322700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 name="Rectangle 5"/>
          <p:cNvSpPr txBox="1">
            <a:spLocks noChangeArrowheads="1"/>
          </p:cNvSpPr>
          <p:nvPr/>
        </p:nvSpPr>
        <p:spPr>
          <a:xfrm>
            <a:off x="7664390" y="4292323"/>
            <a:ext cx="2475158" cy="8636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3200" b="1">
                <a:solidFill>
                  <a:srgbClr val="0000FF"/>
                </a:solidFill>
                <a:latin typeface="黑体" panose="02010609060101010101" pitchFamily="49" charset="-122"/>
                <a:ea typeface="黑体" panose="02010609060101010101" pitchFamily="49" charset="-122"/>
              </a:rPr>
              <a:t>细菌培养</a:t>
            </a:r>
            <a:endParaRPr kumimoji="1" lang="zh-CN" altLang="en-US" sz="3200" b="1" dirty="0">
              <a:solidFill>
                <a:srgbClr val="0000FF"/>
              </a:solidFill>
              <a:latin typeface="黑体" panose="02010609060101010101" pitchFamily="49" charset="-122"/>
              <a:ea typeface="黑体" panose="02010609060101010101" pitchFamily="49"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2" name="Rectangle 4"/>
          <p:cNvSpPr>
            <a:spLocks noGrp="1" noChangeArrowheads="1"/>
          </p:cNvSpPr>
          <p:nvPr>
            <p:ph type="title"/>
          </p:nvPr>
        </p:nvSpPr>
        <p:spPr>
          <a:xfrm>
            <a:off x="392680" y="141286"/>
            <a:ext cx="10968567" cy="901145"/>
          </a:xfrm>
        </p:spPr>
        <p:txBody>
          <a:bodyPr>
            <a:normAutofit/>
          </a:bodyPr>
          <a:lstStyle/>
          <a:p>
            <a:r>
              <a:rPr lang="en-US" altLang="zh-CN" sz="3200" b="1" dirty="0">
                <a:latin typeface="黑体" panose="02010609060101010101" pitchFamily="49" charset="-122"/>
                <a:ea typeface="黑体" panose="02010609060101010101" pitchFamily="49" charset="-122"/>
              </a:rPr>
              <a:t>(</a:t>
            </a:r>
            <a:r>
              <a:rPr lang="zh-CN" altLang="en-US" sz="3200" b="1" dirty="0">
                <a:latin typeface="黑体" panose="02010609060101010101" pitchFamily="49" charset="-122"/>
                <a:ea typeface="黑体" panose="02010609060101010101" pitchFamily="49" charset="-122"/>
              </a:rPr>
              <a:t>一</a:t>
            </a:r>
            <a:r>
              <a:rPr lang="en-US" altLang="zh-CN" sz="3200" b="1" dirty="0">
                <a:latin typeface="黑体" panose="02010609060101010101" pitchFamily="49" charset="-122"/>
                <a:ea typeface="黑体" panose="02010609060101010101" pitchFamily="49" charset="-122"/>
              </a:rPr>
              <a:t>)</a:t>
            </a:r>
            <a:r>
              <a:rPr lang="zh-CN" altLang="en-US" sz="3200" b="1" dirty="0">
                <a:latin typeface="黑体" panose="02010609060101010101" pitchFamily="49" charset="-122"/>
                <a:ea typeface="黑体" panose="02010609060101010101" pitchFamily="49" charset="-122"/>
              </a:rPr>
              <a:t>细胞计数</a:t>
            </a:r>
            <a:r>
              <a:rPr lang="en-US" altLang="zh-CN" sz="3200" b="1" dirty="0">
                <a:latin typeface="黑体" panose="02010609060101010101" pitchFamily="49" charset="-122"/>
                <a:ea typeface="黑体" panose="02010609060101010101" pitchFamily="49" charset="-122"/>
              </a:rPr>
              <a:t>(</a:t>
            </a:r>
            <a:r>
              <a:rPr lang="zh-CN" altLang="en-US" sz="3200" b="1" dirty="0">
                <a:latin typeface="黑体" panose="02010609060101010101" pitchFamily="49" charset="-122"/>
                <a:ea typeface="黑体" panose="02010609060101010101" pitchFamily="49" charset="-122"/>
              </a:rPr>
              <a:t>培养物细胞浓度</a:t>
            </a:r>
            <a:r>
              <a:rPr lang="en-US" altLang="zh-CN" sz="3200" b="1" dirty="0">
                <a:latin typeface="黑体" panose="02010609060101010101" pitchFamily="49" charset="-122"/>
                <a:ea typeface="黑体" panose="02010609060101010101" pitchFamily="49" charset="-122"/>
              </a:rPr>
              <a:t>)</a:t>
            </a:r>
            <a:endParaRPr lang="en-US" altLang="zh-CN" sz="3200" b="1" dirty="0">
              <a:latin typeface="黑体" panose="02010609060101010101" pitchFamily="49" charset="-122"/>
              <a:ea typeface="黑体" panose="02010609060101010101" pitchFamily="49" charset="-122"/>
            </a:endParaRPr>
          </a:p>
        </p:txBody>
      </p:sp>
      <p:sp>
        <p:nvSpPr>
          <p:cNvPr id="94213" name="Rectangle 5"/>
          <p:cNvSpPr>
            <a:spLocks noGrp="1" noChangeArrowheads="1"/>
          </p:cNvSpPr>
          <p:nvPr>
            <p:ph type="body" sz="half" idx="1"/>
          </p:nvPr>
        </p:nvSpPr>
        <p:spPr>
          <a:xfrm>
            <a:off x="607485" y="958364"/>
            <a:ext cx="10968567" cy="2894544"/>
          </a:xfrm>
        </p:spPr>
        <p:txBody>
          <a:bodyPr>
            <a:normAutofit/>
          </a:bodyPr>
          <a:lstStyle/>
          <a:p>
            <a:pPr marL="0" indent="0">
              <a:lnSpc>
                <a:spcPct val="100000"/>
              </a:lnSpc>
              <a:buNone/>
            </a:pPr>
            <a:r>
              <a:rPr lang="zh-CN" altLang="en-US" b="1" dirty="0">
                <a:latin typeface="黑体" panose="02010609060101010101" pitchFamily="49" charset="-122"/>
                <a:ea typeface="黑体" panose="02010609060101010101" pitchFamily="49" charset="-122"/>
              </a:rPr>
              <a:t>培养物中微生物计数方法是微生物学的基本实验技术，其基本思路是：</a:t>
            </a:r>
            <a:endParaRPr lang="zh-CN" altLang="en-US" b="1" dirty="0">
              <a:latin typeface="黑体" panose="02010609060101010101" pitchFamily="49" charset="-122"/>
              <a:ea typeface="黑体" panose="02010609060101010101" pitchFamily="49" charset="-122"/>
            </a:endParaRPr>
          </a:p>
          <a:p>
            <a:pPr lvl="1">
              <a:lnSpc>
                <a:spcPct val="100000"/>
              </a:lnSpc>
            </a:pPr>
            <a:r>
              <a:rPr lang="zh-CN" altLang="en-US" sz="2800" b="1" dirty="0">
                <a:solidFill>
                  <a:srgbClr val="0000FF"/>
                </a:solidFill>
                <a:latin typeface="黑体" panose="02010609060101010101" pitchFamily="49" charset="-122"/>
                <a:ea typeface="黑体" panose="02010609060101010101" pitchFamily="49" charset="-122"/>
              </a:rPr>
              <a:t>对原培养物进行连续稀释</a:t>
            </a:r>
            <a:r>
              <a:rPr lang="zh-CN" altLang="en-US" sz="2800" b="1" dirty="0">
                <a:latin typeface="黑体" panose="02010609060101010101" pitchFamily="49" charset="-122"/>
                <a:ea typeface="黑体" panose="02010609060101010101" pitchFamily="49" charset="-122"/>
              </a:rPr>
              <a:t>；</a:t>
            </a:r>
            <a:endParaRPr lang="zh-CN" altLang="en-US" sz="2800" b="1" dirty="0">
              <a:latin typeface="黑体" panose="02010609060101010101" pitchFamily="49" charset="-122"/>
              <a:ea typeface="黑体" panose="02010609060101010101" pitchFamily="49" charset="-122"/>
            </a:endParaRPr>
          </a:p>
          <a:p>
            <a:pPr lvl="1">
              <a:lnSpc>
                <a:spcPct val="100000"/>
              </a:lnSpc>
            </a:pPr>
            <a:r>
              <a:rPr lang="zh-CN" altLang="en-US" sz="2800" b="1" dirty="0">
                <a:solidFill>
                  <a:srgbClr val="0000FF"/>
                </a:solidFill>
                <a:latin typeface="黑体" panose="02010609060101010101" pitchFamily="49" charset="-122"/>
                <a:ea typeface="黑体" panose="02010609060101010101" pitchFamily="49" charset="-122"/>
              </a:rPr>
              <a:t>进行平板涂抹培养</a:t>
            </a:r>
            <a:r>
              <a:rPr lang="zh-CN" altLang="en-US" sz="2800" b="1" dirty="0">
                <a:latin typeface="黑体" panose="02010609060101010101" pitchFamily="49" charset="-122"/>
                <a:ea typeface="黑体" panose="02010609060101010101" pitchFamily="49" charset="-122"/>
              </a:rPr>
              <a:t>；</a:t>
            </a:r>
            <a:endParaRPr lang="zh-CN" altLang="en-US" sz="2800" b="1" dirty="0">
              <a:latin typeface="黑体" panose="02010609060101010101" pitchFamily="49" charset="-122"/>
              <a:ea typeface="黑体" panose="02010609060101010101" pitchFamily="49" charset="-122"/>
            </a:endParaRPr>
          </a:p>
          <a:p>
            <a:pPr lvl="1">
              <a:lnSpc>
                <a:spcPct val="100000"/>
              </a:lnSpc>
            </a:pPr>
            <a:r>
              <a:rPr lang="zh-CN" altLang="en-US" sz="2800" b="1" dirty="0">
                <a:solidFill>
                  <a:srgbClr val="0000FF"/>
                </a:solidFill>
                <a:latin typeface="黑体" panose="02010609060101010101" pitchFamily="49" charset="-122"/>
                <a:ea typeface="黑体" panose="02010609060101010101" pitchFamily="49" charset="-122"/>
              </a:rPr>
              <a:t>由于每个细胞形成一个菌落，计数菌落数</a:t>
            </a:r>
            <a:r>
              <a:rPr lang="zh-CN" altLang="en-US" sz="2800" b="1" dirty="0">
                <a:latin typeface="黑体" panose="02010609060101010101" pitchFamily="49" charset="-122"/>
                <a:ea typeface="黑体" panose="02010609060101010101" pitchFamily="49" charset="-122"/>
              </a:rPr>
              <a:t>；</a:t>
            </a:r>
            <a:endParaRPr lang="zh-CN" altLang="en-US" sz="2800" b="1" dirty="0">
              <a:latin typeface="黑体" panose="02010609060101010101" pitchFamily="49" charset="-122"/>
              <a:ea typeface="黑体" panose="02010609060101010101" pitchFamily="49" charset="-122"/>
            </a:endParaRPr>
          </a:p>
          <a:p>
            <a:pPr lvl="1">
              <a:lnSpc>
                <a:spcPct val="100000"/>
              </a:lnSpc>
            </a:pPr>
            <a:r>
              <a:rPr lang="zh-CN" altLang="en-US" sz="2800" b="1" dirty="0">
                <a:solidFill>
                  <a:srgbClr val="0000FF"/>
                </a:solidFill>
                <a:latin typeface="黑体" panose="02010609060101010101" pitchFamily="49" charset="-122"/>
                <a:ea typeface="黑体" panose="02010609060101010101" pitchFamily="49" charset="-122"/>
              </a:rPr>
              <a:t>根据稀释倍数计算原培养物中的细胞浓度</a:t>
            </a:r>
            <a:r>
              <a:rPr lang="zh-CN" altLang="en-US" sz="2800" b="1" dirty="0">
                <a:latin typeface="黑体" panose="02010609060101010101" pitchFamily="49" charset="-122"/>
                <a:ea typeface="黑体" panose="02010609060101010101" pitchFamily="49" charset="-122"/>
              </a:rPr>
              <a:t>。</a:t>
            </a:r>
            <a:endParaRPr lang="zh-CN" altLang="en-US" sz="2800" b="1" dirty="0">
              <a:latin typeface="黑体" panose="02010609060101010101" pitchFamily="49" charset="-122"/>
              <a:ea typeface="黑体" panose="02010609060101010101" pitchFamily="49" charset="-122"/>
            </a:endParaRPr>
          </a:p>
        </p:txBody>
      </p:sp>
      <p:pic>
        <p:nvPicPr>
          <p:cNvPr id="7" name="Picture 4" descr="0-10-1"/>
          <p:cNvPicPr>
            <a:picLocks noGrp="1" noChangeAspect="1" noChangeArrowheads="1"/>
          </p:cNvPicPr>
          <p:nvPr>
            <p:ph sz="half" idx="2"/>
          </p:nvPr>
        </p:nvPicPr>
        <p:blipFill>
          <a:blip r:embed="rId1">
            <a:extLst>
              <a:ext uri="{28A0092B-C50C-407E-A947-70E740481C1C}">
                <a14:useLocalDpi xmlns:a14="http://schemas.microsoft.com/office/drawing/2010/main" val="0"/>
              </a:ext>
            </a:extLst>
          </a:blip>
          <a:srcRect/>
          <a:stretch>
            <a:fillRect/>
          </a:stretch>
        </p:blipFill>
        <p:spPr>
          <a:xfrm>
            <a:off x="8442663" y="1612719"/>
            <a:ext cx="2854171" cy="341204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a:xfrm>
            <a:off x="6848401" y="5212461"/>
            <a:ext cx="5154210" cy="7651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a:solidFill>
                  <a:srgbClr val="0000FF"/>
                </a:solidFill>
                <a:latin typeface="黑体" panose="02010609060101010101" pitchFamily="49" charset="-122"/>
                <a:ea typeface="黑体" panose="02010609060101010101" pitchFamily="49" charset="-122"/>
              </a:rPr>
              <a:t>细胞计数</a:t>
            </a:r>
            <a:r>
              <a:rPr lang="en-US" altLang="zh-CN" sz="3200" b="1">
                <a:solidFill>
                  <a:srgbClr val="0000FF"/>
                </a:solidFill>
                <a:latin typeface="黑体" panose="02010609060101010101" pitchFamily="49" charset="-122"/>
                <a:ea typeface="黑体" panose="02010609060101010101" pitchFamily="49" charset="-122"/>
              </a:rPr>
              <a:t>(</a:t>
            </a:r>
            <a:r>
              <a:rPr lang="zh-CN" altLang="en-US" sz="3200" b="1">
                <a:solidFill>
                  <a:srgbClr val="0000FF"/>
                </a:solidFill>
                <a:latin typeface="黑体" panose="02010609060101010101" pitchFamily="49" charset="-122"/>
                <a:ea typeface="黑体" panose="02010609060101010101" pitchFamily="49" charset="-122"/>
              </a:rPr>
              <a:t>培养物细胞浓度</a:t>
            </a:r>
            <a:r>
              <a:rPr lang="en-US" altLang="zh-CN" sz="3200" b="1">
                <a:solidFill>
                  <a:srgbClr val="0000FF"/>
                </a:solidFill>
                <a:latin typeface="黑体" panose="02010609060101010101" pitchFamily="49" charset="-122"/>
                <a:ea typeface="黑体" panose="02010609060101010101" pitchFamily="49" charset="-122"/>
              </a:rPr>
              <a:t>)</a:t>
            </a:r>
            <a:endParaRPr lang="en-US" altLang="zh-CN" sz="3200" b="1" dirty="0">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spd="slow">
    <p:randomBar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8" name="Rectangle 4"/>
          <p:cNvSpPr>
            <a:spLocks noGrp="1" noChangeArrowheads="1"/>
          </p:cNvSpPr>
          <p:nvPr>
            <p:ph type="title"/>
          </p:nvPr>
        </p:nvSpPr>
        <p:spPr>
          <a:xfrm>
            <a:off x="329633" y="244428"/>
            <a:ext cx="10968567" cy="681784"/>
          </a:xfrm>
        </p:spPr>
        <p:txBody>
          <a:bodyPr>
            <a:normAutofit/>
          </a:bodyPr>
          <a:lstStyle/>
          <a:p>
            <a:r>
              <a:rPr lang="en-US" altLang="zh-CN" sz="3200" b="1" dirty="0">
                <a:latin typeface="黑体" panose="02010609060101010101" pitchFamily="49" charset="-122"/>
                <a:ea typeface="黑体" panose="02010609060101010101" pitchFamily="49" charset="-122"/>
              </a:rPr>
              <a:t>(</a:t>
            </a:r>
            <a:r>
              <a:rPr lang="zh-CN" altLang="en-US" sz="3200" b="1" dirty="0">
                <a:latin typeface="黑体" panose="02010609060101010101" pitchFamily="49" charset="-122"/>
                <a:ea typeface="黑体" panose="02010609060101010101" pitchFamily="49" charset="-122"/>
              </a:rPr>
              <a:t>二</a:t>
            </a:r>
            <a:r>
              <a:rPr lang="en-US" altLang="zh-CN" sz="3200" b="1" dirty="0">
                <a:latin typeface="黑体" panose="02010609060101010101" pitchFamily="49" charset="-122"/>
                <a:ea typeface="黑体" panose="02010609060101010101" pitchFamily="49" charset="-122"/>
              </a:rPr>
              <a:t>)</a:t>
            </a:r>
            <a:r>
              <a:rPr lang="zh-CN" altLang="en-US" sz="3200" b="1" dirty="0">
                <a:latin typeface="黑体" panose="02010609060101010101" pitchFamily="49" charset="-122"/>
                <a:ea typeface="黑体" panose="02010609060101010101" pitchFamily="49" charset="-122"/>
              </a:rPr>
              <a:t>建立纯系的方法</a:t>
            </a:r>
            <a:r>
              <a:rPr lang="en-US" altLang="zh-CN" sz="3200" b="1" dirty="0">
                <a:latin typeface="黑体" panose="02010609060101010101" pitchFamily="49" charset="-122"/>
                <a:ea typeface="黑体" panose="02010609060101010101" pitchFamily="49" charset="-122"/>
              </a:rPr>
              <a:t>——</a:t>
            </a:r>
            <a:r>
              <a:rPr lang="zh-CN" altLang="en-US" sz="3200" b="1" dirty="0">
                <a:latin typeface="黑体" panose="02010609060101010101" pitchFamily="49" charset="-122"/>
                <a:ea typeface="黑体" panose="02010609060101010101" pitchFamily="49" charset="-122"/>
              </a:rPr>
              <a:t>纯培养</a:t>
            </a:r>
            <a:endParaRPr lang="zh-CN" altLang="en-US" sz="3200" b="1" dirty="0">
              <a:latin typeface="黑体" panose="02010609060101010101" pitchFamily="49" charset="-122"/>
              <a:ea typeface="黑体" panose="02010609060101010101" pitchFamily="49" charset="-122"/>
            </a:endParaRPr>
          </a:p>
        </p:txBody>
      </p:sp>
      <p:sp>
        <p:nvSpPr>
          <p:cNvPr id="93189" name="Rectangle 5"/>
          <p:cNvSpPr>
            <a:spLocks noGrp="1" noChangeArrowheads="1"/>
          </p:cNvSpPr>
          <p:nvPr>
            <p:ph type="body" sz="half" idx="2"/>
          </p:nvPr>
        </p:nvSpPr>
        <p:spPr>
          <a:xfrm>
            <a:off x="0" y="926212"/>
            <a:ext cx="6613865" cy="5548967"/>
          </a:xfrm>
        </p:spPr>
        <p:txBody>
          <a:bodyPr>
            <a:normAutofit/>
          </a:bodyPr>
          <a:lstStyle/>
          <a:p>
            <a:pPr>
              <a:lnSpc>
                <a:spcPct val="120000"/>
              </a:lnSpc>
            </a:pPr>
            <a:r>
              <a:rPr lang="zh-CN" altLang="en-US" b="1" dirty="0">
                <a:latin typeface="黑体" panose="02010609060101010101" pitchFamily="49" charset="-122"/>
                <a:ea typeface="黑体" panose="02010609060101010101" pitchFamily="49" charset="-122"/>
              </a:rPr>
              <a:t>挑取由单个细胞繁殖而来的菌落进行培养就可以获得由一个细胞繁殖而来的</a:t>
            </a:r>
            <a:r>
              <a:rPr lang="zh-CN" altLang="en-US" b="1" dirty="0">
                <a:solidFill>
                  <a:srgbClr val="0000FF"/>
                </a:solidFill>
                <a:latin typeface="黑体" panose="02010609060101010101" pitchFamily="49" charset="-122"/>
                <a:ea typeface="黑体" panose="02010609060101010101" pitchFamily="49" charset="-122"/>
              </a:rPr>
              <a:t>纯系</a:t>
            </a:r>
            <a:r>
              <a:rPr lang="zh-CN" altLang="en-US" b="1" dirty="0">
                <a:latin typeface="黑体" panose="02010609060101010101" pitchFamily="49" charset="-122"/>
                <a:ea typeface="黑体" panose="02010609060101010101" pitchFamily="49" charset="-122"/>
              </a:rPr>
              <a:t>。</a:t>
            </a:r>
            <a:endParaRPr lang="zh-CN" altLang="en-US" b="1" dirty="0">
              <a:latin typeface="黑体" panose="02010609060101010101" pitchFamily="49" charset="-122"/>
              <a:ea typeface="黑体" panose="02010609060101010101" pitchFamily="49" charset="-122"/>
            </a:endParaRPr>
          </a:p>
          <a:p>
            <a:pPr>
              <a:lnSpc>
                <a:spcPct val="120000"/>
              </a:lnSpc>
            </a:pPr>
            <a:r>
              <a:rPr lang="zh-CN" altLang="en-US" b="1" dirty="0">
                <a:latin typeface="黑体" panose="02010609060101010101" pitchFamily="49" charset="-122"/>
                <a:ea typeface="黑体" panose="02010609060101010101" pitchFamily="49" charset="-122"/>
              </a:rPr>
              <a:t>通常采用</a:t>
            </a:r>
            <a:r>
              <a:rPr lang="zh-CN" altLang="en-US" b="1" dirty="0">
                <a:solidFill>
                  <a:srgbClr val="FF3300"/>
                </a:solidFill>
                <a:latin typeface="黑体" panose="02010609060101010101" pitchFamily="49" charset="-122"/>
                <a:ea typeface="黑体" panose="02010609060101010101" pitchFamily="49" charset="-122"/>
              </a:rPr>
              <a:t>平板表面涂布法</a:t>
            </a:r>
            <a:r>
              <a:rPr lang="zh-CN" altLang="en-US" b="1" dirty="0">
                <a:latin typeface="黑体" panose="02010609060101010101" pitchFamily="49" charset="-122"/>
                <a:ea typeface="黑体" panose="02010609060101010101" pitchFamily="49" charset="-122"/>
              </a:rPr>
              <a:t>或</a:t>
            </a:r>
            <a:r>
              <a:rPr lang="zh-CN" altLang="en-US" b="1" dirty="0">
                <a:solidFill>
                  <a:srgbClr val="FF3300"/>
                </a:solidFill>
                <a:latin typeface="黑体" panose="02010609060101010101" pitchFamily="49" charset="-122"/>
                <a:ea typeface="黑体" panose="02010609060101010101" pitchFamily="49" charset="-122"/>
              </a:rPr>
              <a:t>划线法</a:t>
            </a:r>
            <a:r>
              <a:rPr lang="zh-CN" altLang="en-US" b="1" dirty="0">
                <a:latin typeface="黑体" panose="02010609060101010101" pitchFamily="49" charset="-122"/>
                <a:ea typeface="黑体" panose="02010609060101010101" pitchFamily="49" charset="-122"/>
              </a:rPr>
              <a:t>可以获得单菌落。这种方法获得的纯系，称为“</a:t>
            </a:r>
            <a:r>
              <a:rPr lang="zh-CN" altLang="en-US" b="1" dirty="0">
                <a:solidFill>
                  <a:srgbClr val="0000FF"/>
                </a:solidFill>
                <a:latin typeface="黑体" panose="02010609060101010101" pitchFamily="49" charset="-122"/>
                <a:ea typeface="黑体" panose="02010609060101010101" pitchFamily="49" charset="-122"/>
              </a:rPr>
              <a:t>菌种纯</a:t>
            </a:r>
            <a:r>
              <a:rPr lang="zh-CN" altLang="en-US" b="1" dirty="0">
                <a:latin typeface="黑体" panose="02010609060101010101" pitchFamily="49" charset="-122"/>
                <a:ea typeface="黑体" panose="02010609060101010101" pitchFamily="49" charset="-122"/>
              </a:rPr>
              <a:t>”。</a:t>
            </a:r>
            <a:endParaRPr lang="zh-CN" altLang="en-US" b="1" dirty="0">
              <a:latin typeface="黑体" panose="02010609060101010101" pitchFamily="49" charset="-122"/>
              <a:ea typeface="黑体" panose="02010609060101010101" pitchFamily="49" charset="-122"/>
            </a:endParaRPr>
          </a:p>
          <a:p>
            <a:pPr>
              <a:lnSpc>
                <a:spcPct val="120000"/>
              </a:lnSpc>
            </a:pPr>
            <a:r>
              <a:rPr lang="zh-CN" altLang="en-US" b="1" dirty="0">
                <a:latin typeface="黑体" panose="02010609060101010101" pitchFamily="49" charset="-122"/>
                <a:ea typeface="黑体" panose="02010609060101010101" pitchFamily="49" charset="-122"/>
              </a:rPr>
              <a:t>有时采用显微操纵器进行菌丝尖端切割等方法从单个细胞直接培养建立纯系。采用这种方法获得的纯系称为“</a:t>
            </a:r>
            <a:r>
              <a:rPr lang="zh-CN" altLang="en-US" b="1" dirty="0">
                <a:solidFill>
                  <a:srgbClr val="0000FF"/>
                </a:solidFill>
                <a:latin typeface="黑体" panose="02010609060101010101" pitchFamily="49" charset="-122"/>
                <a:ea typeface="黑体" panose="02010609060101010101" pitchFamily="49" charset="-122"/>
              </a:rPr>
              <a:t>菌株纯</a:t>
            </a:r>
            <a:r>
              <a:rPr lang="zh-CN" altLang="en-US" b="1" dirty="0">
                <a:latin typeface="黑体" panose="02010609060101010101" pitchFamily="49" charset="-122"/>
                <a:ea typeface="黑体" panose="02010609060101010101" pitchFamily="49" charset="-122"/>
              </a:rPr>
              <a:t>”。</a:t>
            </a:r>
            <a:endParaRPr lang="zh-CN" altLang="en-US" b="1" dirty="0">
              <a:latin typeface="黑体" panose="02010609060101010101" pitchFamily="49" charset="-122"/>
              <a:ea typeface="黑体" panose="02010609060101010101" pitchFamily="49" charset="-122"/>
            </a:endParaRPr>
          </a:p>
        </p:txBody>
      </p:sp>
      <p:pic>
        <p:nvPicPr>
          <p:cNvPr id="7" name="Picture 4" descr="00-10-021"/>
          <p:cNvPicPr>
            <a:picLocks noGrp="1" noChangeAspect="1" noChangeArrowheads="1"/>
          </p:cNvPicPr>
          <p:nvPr>
            <p:ph sz="half" idx="1"/>
          </p:nvPr>
        </p:nvPicPr>
        <p:blipFill>
          <a:blip r:embed="rId1">
            <a:extLst>
              <a:ext uri="{28A0092B-C50C-407E-A947-70E740481C1C}">
                <a14:useLocalDpi xmlns:a14="http://schemas.microsoft.com/office/drawing/2010/main" val="0"/>
              </a:ext>
            </a:extLst>
          </a:blip>
          <a:srcRect/>
          <a:stretch>
            <a:fillRect/>
          </a:stretch>
        </p:blipFill>
        <p:spPr>
          <a:xfrm>
            <a:off x="6594491" y="458825"/>
            <a:ext cx="5568780" cy="59403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Bar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6" descr="00-10-02"/>
          <p:cNvPicPr>
            <a:picLocks noChangeAspect="1" noChangeArrowheads="1"/>
          </p:cNvPicPr>
          <p:nvPr/>
        </p:nvPicPr>
        <p:blipFill rotWithShape="1">
          <a:blip r:embed="rId1">
            <a:extLst>
              <a:ext uri="{28A0092B-C50C-407E-A947-70E740481C1C}">
                <a14:useLocalDpi xmlns:a14="http://schemas.microsoft.com/office/drawing/2010/main" val="0"/>
              </a:ext>
            </a:extLst>
          </a:blip>
          <a:srcRect b="10067"/>
          <a:stretch>
            <a:fillRect/>
          </a:stretch>
        </p:blipFill>
        <p:spPr>
          <a:xfrm>
            <a:off x="7674964" y="2842742"/>
            <a:ext cx="4517036" cy="401525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64" name="Rectangle 4"/>
          <p:cNvSpPr>
            <a:spLocks noGrp="1" noChangeArrowheads="1"/>
          </p:cNvSpPr>
          <p:nvPr>
            <p:ph type="title"/>
          </p:nvPr>
        </p:nvSpPr>
        <p:spPr>
          <a:xfrm>
            <a:off x="192970" y="0"/>
            <a:ext cx="8364537" cy="852488"/>
          </a:xfrm>
        </p:spPr>
        <p:txBody>
          <a:bodyPr>
            <a:normAutofit/>
          </a:bodyPr>
          <a:lstStyle/>
          <a:p>
            <a:r>
              <a:rPr lang="en-US" altLang="zh-CN" sz="3200" b="1" dirty="0">
                <a:latin typeface="黑体" panose="02010609060101010101" pitchFamily="49" charset="-122"/>
                <a:ea typeface="黑体" panose="02010609060101010101" pitchFamily="49" charset="-122"/>
              </a:rPr>
              <a:t>(</a:t>
            </a:r>
            <a:r>
              <a:rPr lang="zh-CN" altLang="en-US" sz="3200" b="1" dirty="0">
                <a:latin typeface="黑体" panose="02010609060101010101" pitchFamily="49" charset="-122"/>
                <a:ea typeface="黑体" panose="02010609060101010101" pitchFamily="49" charset="-122"/>
              </a:rPr>
              <a:t>三</a:t>
            </a:r>
            <a:r>
              <a:rPr lang="en-US" altLang="zh-CN" sz="3200" b="1" dirty="0">
                <a:latin typeface="黑体" panose="02010609060101010101" pitchFamily="49" charset="-122"/>
                <a:ea typeface="黑体" panose="02010609060101010101" pitchFamily="49" charset="-122"/>
              </a:rPr>
              <a:t>)</a:t>
            </a:r>
            <a:r>
              <a:rPr lang="zh-CN" altLang="en-US" sz="3200" b="1" dirty="0">
                <a:latin typeface="黑体" panose="02010609060101010101" pitchFamily="49" charset="-122"/>
                <a:ea typeface="黑体" panose="02010609060101010101" pitchFamily="49" charset="-122"/>
              </a:rPr>
              <a:t>选择培养法鉴定突变型与重组型</a:t>
            </a:r>
            <a:endParaRPr lang="zh-CN" altLang="en-US" sz="3200" b="1" dirty="0">
              <a:latin typeface="黑体" panose="02010609060101010101" pitchFamily="49" charset="-122"/>
              <a:ea typeface="黑体" panose="02010609060101010101" pitchFamily="49" charset="-122"/>
            </a:endParaRPr>
          </a:p>
        </p:txBody>
      </p:sp>
      <p:sp>
        <p:nvSpPr>
          <p:cNvPr id="6" name="Rectangle 5"/>
          <p:cNvSpPr txBox="1">
            <a:spLocks noChangeArrowheads="1"/>
          </p:cNvSpPr>
          <p:nvPr/>
        </p:nvSpPr>
        <p:spPr>
          <a:xfrm>
            <a:off x="0" y="687556"/>
            <a:ext cx="12192000" cy="16033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Font typeface="Arial" panose="020B0604020202020204" pitchFamily="34" charset="0"/>
              <a:buNone/>
            </a:pPr>
            <a:r>
              <a:rPr lang="en-US" altLang="zh-CN" b="1" dirty="0">
                <a:latin typeface="黑体" panose="02010609060101010101" pitchFamily="49" charset="-122"/>
                <a:ea typeface="黑体" panose="02010609060101010101" pitchFamily="49" charset="-122"/>
              </a:rPr>
              <a:t>	</a:t>
            </a:r>
            <a:r>
              <a:rPr lang="zh-CN" altLang="en-US" b="1" dirty="0">
                <a:solidFill>
                  <a:srgbClr val="0000FF"/>
                </a:solidFill>
                <a:latin typeface="黑体" panose="02010609060101010101" pitchFamily="49" charset="-122"/>
                <a:ea typeface="黑体" panose="02010609060101010101" pitchFamily="49" charset="-122"/>
              </a:rPr>
              <a:t>选择培养法一次可鉴定、筛选一种突变型</a:t>
            </a:r>
            <a:r>
              <a:rPr lang="zh-CN" altLang="en-US" b="1" dirty="0">
                <a:latin typeface="黑体" panose="02010609060101010101" pitchFamily="49" charset="-122"/>
                <a:ea typeface="黑体" panose="02010609060101010101" pitchFamily="49" charset="-122"/>
              </a:rPr>
              <a:t>，但要检测分离含有多种突变型的混合菌株，仅采用选择培养法要进行多次试验才能够达到目的、效率低。</a:t>
            </a:r>
            <a:endParaRPr lang="zh-CN" altLang="en-US" b="1" dirty="0">
              <a:latin typeface="黑体" panose="02010609060101010101" pitchFamily="49" charset="-122"/>
              <a:ea typeface="黑体" panose="02010609060101010101" pitchFamily="49" charset="-122"/>
            </a:endParaRPr>
          </a:p>
        </p:txBody>
      </p:sp>
      <p:sp>
        <p:nvSpPr>
          <p:cNvPr id="7" name="Rectangle 3"/>
          <p:cNvSpPr txBox="1">
            <a:spLocks noChangeArrowheads="1"/>
          </p:cNvSpPr>
          <p:nvPr/>
        </p:nvSpPr>
        <p:spPr>
          <a:xfrm>
            <a:off x="0" y="1751285"/>
            <a:ext cx="12192000" cy="16777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为提高效率，黎德伯格夫妇设计了</a:t>
            </a:r>
            <a:r>
              <a:rPr lang="zh-CN" altLang="en-US" b="1" dirty="0">
                <a:solidFill>
                  <a:srgbClr val="FF0000"/>
                </a:solidFill>
                <a:latin typeface="黑体" panose="02010609060101010101" pitchFamily="49" charset="-122"/>
                <a:ea typeface="黑体" panose="02010609060101010101" pitchFamily="49" charset="-122"/>
              </a:rPr>
              <a:t>影印培养法</a:t>
            </a:r>
            <a:r>
              <a:rPr lang="zh-CN" altLang="en-US" b="1" dirty="0">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该方法原理与选择培养法一致，但是采用影印法将</a:t>
            </a:r>
            <a:r>
              <a:rPr lang="zh-CN" altLang="en-US" sz="2800" b="1" dirty="0">
                <a:solidFill>
                  <a:srgbClr val="0000FF"/>
                </a:solidFill>
                <a:latin typeface="黑体" panose="02010609060101010101" pitchFamily="49" charset="-122"/>
                <a:ea typeface="黑体" panose="02010609060101010101" pitchFamily="49" charset="-122"/>
              </a:rPr>
              <a:t>在完全培养基上单菌落同时接种到不同选择培养基上同时对所有菌落进行选择培养</a:t>
            </a:r>
            <a:r>
              <a:rPr lang="zh-CN" altLang="en-US" sz="2800" b="1" dirty="0">
                <a:latin typeface="黑体" panose="02010609060101010101" pitchFamily="49" charset="-122"/>
                <a:ea typeface="黑体" panose="02010609060101010101" pitchFamily="49" charset="-122"/>
              </a:rPr>
              <a:t>，鉴定效率大大提高。</a:t>
            </a:r>
            <a:endParaRPr lang="zh-CN" altLang="en-US" sz="2800" b="1"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500"/>
                                        <p:tgtEl>
                                          <p:spTgt spid="7">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0" name="Rectangle 4"/>
          <p:cNvSpPr>
            <a:spLocks noGrp="1" noChangeArrowheads="1"/>
          </p:cNvSpPr>
          <p:nvPr>
            <p:ph type="ctrTitle"/>
          </p:nvPr>
        </p:nvSpPr>
        <p:spPr>
          <a:xfrm>
            <a:off x="1709791" y="1109563"/>
            <a:ext cx="8226425" cy="720695"/>
          </a:xfrm>
        </p:spPr>
        <p:txBody>
          <a:bodyPr>
            <a:normAutofit/>
          </a:bodyPr>
          <a:lstStyle/>
          <a:p>
            <a:r>
              <a:rPr lang="en-US" altLang="en-US" sz="4400" b="1" dirty="0" err="1">
                <a:solidFill>
                  <a:srgbClr val="FF0000"/>
                </a:solidFill>
                <a:latin typeface="黑体" panose="02010609060101010101" pitchFamily="49" charset="-122"/>
                <a:ea typeface="黑体" panose="02010609060101010101" pitchFamily="49" charset="-122"/>
                <a:sym typeface="Wingdings" panose="05000000000000000000" pitchFamily="2" charset="2"/>
              </a:rPr>
              <a:t>第二节</a:t>
            </a:r>
            <a:r>
              <a:rPr lang="en-US" altLang="en-US" sz="4400" b="1" dirty="0">
                <a:solidFill>
                  <a:srgbClr val="FF0000"/>
                </a:solidFill>
                <a:latin typeface="黑体" panose="02010609060101010101" pitchFamily="49" charset="-122"/>
                <a:ea typeface="黑体" panose="02010609060101010101" pitchFamily="49" charset="-122"/>
                <a:sym typeface="Wingdings" panose="05000000000000000000" pitchFamily="2" charset="2"/>
              </a:rPr>
              <a:t> </a:t>
            </a:r>
            <a:r>
              <a:rPr lang="zh-CN" altLang="en-US" sz="4400" b="1" dirty="0">
                <a:solidFill>
                  <a:srgbClr val="FF0000"/>
                </a:solidFill>
                <a:latin typeface="黑体" panose="02010609060101010101" pitchFamily="49" charset="-122"/>
                <a:ea typeface="黑体" panose="02010609060101010101" pitchFamily="49" charset="-122"/>
                <a:sym typeface="Wingdings" panose="05000000000000000000" pitchFamily="2" charset="2"/>
              </a:rPr>
              <a:t> </a:t>
            </a:r>
            <a:r>
              <a:rPr lang="en-US" altLang="en-US" sz="4400" b="1" dirty="0" err="1">
                <a:solidFill>
                  <a:srgbClr val="FF0000"/>
                </a:solidFill>
                <a:latin typeface="黑体" panose="02010609060101010101" pitchFamily="49" charset="-122"/>
                <a:ea typeface="黑体" panose="02010609060101010101" pitchFamily="49" charset="-122"/>
                <a:sym typeface="Wingdings" panose="05000000000000000000" pitchFamily="2" charset="2"/>
              </a:rPr>
              <a:t>细菌的遗传重组</a:t>
            </a:r>
            <a:endParaRPr lang="en-US" altLang="en-US" sz="4400" b="1" dirty="0">
              <a:solidFill>
                <a:srgbClr val="FF0000"/>
              </a:solidFill>
              <a:latin typeface="黑体" panose="02010609060101010101" pitchFamily="49" charset="-122"/>
              <a:ea typeface="黑体" panose="02010609060101010101" pitchFamily="49" charset="-122"/>
              <a:sym typeface="Wingdings" panose="05000000000000000000" pitchFamily="2" charset="2"/>
            </a:endParaRPr>
          </a:p>
        </p:txBody>
      </p:sp>
      <p:sp>
        <p:nvSpPr>
          <p:cNvPr id="70661" name="Rectangle 5"/>
          <p:cNvSpPr>
            <a:spLocks noGrp="1" noChangeArrowheads="1"/>
          </p:cNvSpPr>
          <p:nvPr>
            <p:ph type="subTitle" idx="1"/>
          </p:nvPr>
        </p:nvSpPr>
        <p:spPr>
          <a:xfrm>
            <a:off x="4582709" y="2552699"/>
            <a:ext cx="3991665" cy="2798789"/>
          </a:xfrm>
        </p:spPr>
        <p:txBody>
          <a:bodyPr>
            <a:normAutofit/>
          </a:bodyPr>
          <a:lstStyle/>
          <a:p>
            <a:pPr algn="just"/>
            <a:r>
              <a:rPr lang="en-US" altLang="en-US" sz="4000" b="1" dirty="0" err="1">
                <a:solidFill>
                  <a:srgbClr val="0000FF"/>
                </a:solidFill>
                <a:latin typeface="黑体" panose="02010609060101010101" pitchFamily="49" charset="-122"/>
                <a:ea typeface="黑体" panose="02010609060101010101" pitchFamily="49" charset="-122"/>
                <a:sym typeface="Wingdings" panose="05000000000000000000" pitchFamily="2" charset="2"/>
              </a:rPr>
              <a:t>一、转化</a:t>
            </a:r>
            <a:endParaRPr lang="en-US" altLang="en-US" sz="4000" b="1" dirty="0">
              <a:solidFill>
                <a:srgbClr val="0000FF"/>
              </a:solidFill>
              <a:latin typeface="黑体" panose="02010609060101010101" pitchFamily="49" charset="-122"/>
              <a:ea typeface="黑体" panose="02010609060101010101" pitchFamily="49" charset="-122"/>
              <a:sym typeface="Wingdings" panose="05000000000000000000" pitchFamily="2" charset="2"/>
            </a:endParaRPr>
          </a:p>
          <a:p>
            <a:pPr algn="just"/>
            <a:r>
              <a:rPr lang="en-US" altLang="en-US" sz="4000" b="1" dirty="0" err="1">
                <a:solidFill>
                  <a:srgbClr val="0000FF"/>
                </a:solidFill>
                <a:latin typeface="黑体" panose="02010609060101010101" pitchFamily="49" charset="-122"/>
                <a:ea typeface="黑体" panose="02010609060101010101" pitchFamily="49" charset="-122"/>
                <a:sym typeface="Wingdings" panose="05000000000000000000" pitchFamily="2" charset="2"/>
              </a:rPr>
              <a:t>二、接合</a:t>
            </a:r>
            <a:endParaRPr lang="en-US" altLang="en-US" sz="4000" b="1" dirty="0">
              <a:solidFill>
                <a:srgbClr val="0000FF"/>
              </a:solidFill>
              <a:latin typeface="黑体" panose="02010609060101010101" pitchFamily="49" charset="-122"/>
              <a:ea typeface="黑体" panose="02010609060101010101" pitchFamily="49" charset="-122"/>
              <a:sym typeface="Wingdings" panose="05000000000000000000" pitchFamily="2" charset="2"/>
            </a:endParaRPr>
          </a:p>
          <a:p>
            <a:pPr algn="just"/>
            <a:r>
              <a:rPr lang="en-US" altLang="en-US" sz="4000" b="1" dirty="0" err="1">
                <a:solidFill>
                  <a:srgbClr val="0000FF"/>
                </a:solidFill>
                <a:latin typeface="黑体" panose="02010609060101010101" pitchFamily="49" charset="-122"/>
                <a:ea typeface="黑体" panose="02010609060101010101" pitchFamily="49" charset="-122"/>
                <a:sym typeface="Wingdings" panose="05000000000000000000" pitchFamily="2" charset="2"/>
              </a:rPr>
              <a:t>三、性导</a:t>
            </a:r>
            <a:endParaRPr lang="en-US" altLang="en-US" sz="4000" b="1" noProof="1">
              <a:solidFill>
                <a:srgbClr val="0000FF"/>
              </a:solidFill>
              <a:latin typeface="黑体" panose="02010609060101010101" pitchFamily="49" charset="-122"/>
              <a:ea typeface="黑体" panose="02010609060101010101" pitchFamily="49" charset="-122"/>
              <a:sym typeface="Wingdings" panose="05000000000000000000" pitchFamily="2" charset="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Rectangle 2"/>
          <p:cNvSpPr txBox="1">
            <a:spLocks noChangeArrowheads="1"/>
          </p:cNvSpPr>
          <p:nvPr/>
        </p:nvSpPr>
        <p:spPr>
          <a:xfrm>
            <a:off x="177282" y="29644"/>
            <a:ext cx="8358188" cy="63475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3600" b="1" dirty="0" err="1">
                <a:solidFill>
                  <a:srgbClr val="0000FF"/>
                </a:solidFill>
                <a:latin typeface="黑体" panose="02010609060101010101" pitchFamily="49" charset="-122"/>
                <a:ea typeface="黑体" panose="02010609060101010101" pitchFamily="49" charset="-122"/>
                <a:sym typeface="Wingdings" panose="05000000000000000000" pitchFamily="2" charset="2"/>
              </a:rPr>
              <a:t>一、转化</a:t>
            </a:r>
            <a:r>
              <a:rPr lang="en-US" altLang="en-US" sz="3600" b="1" dirty="0">
                <a:solidFill>
                  <a:srgbClr val="0000FF"/>
                </a:solidFill>
                <a:latin typeface="黑体" panose="02010609060101010101" pitchFamily="49" charset="-122"/>
                <a:ea typeface="黑体" panose="02010609060101010101" pitchFamily="49" charset="-122"/>
                <a:sym typeface="Wingdings" panose="05000000000000000000" pitchFamily="2" charset="2"/>
              </a:rPr>
              <a:t>(transformation)</a:t>
            </a:r>
            <a:endParaRPr lang="en-US" altLang="en-US" sz="3600" b="1" dirty="0">
              <a:solidFill>
                <a:srgbClr val="0000FF"/>
              </a:solidFill>
              <a:latin typeface="黑体" panose="02010609060101010101" pitchFamily="49" charset="-122"/>
              <a:ea typeface="黑体" panose="02010609060101010101" pitchFamily="49" charset="-122"/>
              <a:sym typeface="Wingdings" panose="05000000000000000000" pitchFamily="2" charset="2"/>
            </a:endParaRPr>
          </a:p>
        </p:txBody>
      </p:sp>
      <p:pic>
        <p:nvPicPr>
          <p:cNvPr id="11" name="Picture 7" descr="4-11-1"/>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2074109" y="568145"/>
            <a:ext cx="8157545" cy="590124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sndAc>
      <p:stSnd>
        <p:snd r:embed="rId2" name="Rollup.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a:xfrm>
            <a:off x="474215" y="304306"/>
            <a:ext cx="10515600" cy="753461"/>
          </a:xfrm>
        </p:spPr>
        <p:txBody>
          <a:bodyPr>
            <a:normAutofit/>
          </a:bodyPr>
          <a:lstStyle/>
          <a:p>
            <a:r>
              <a:rPr lang="en-US" altLang="zh-CN" sz="3200" b="1" dirty="0">
                <a:solidFill>
                  <a:srgbClr val="0000FF"/>
                </a:solidFill>
                <a:latin typeface="黑体" panose="02010609060101010101" pitchFamily="49" charset="-122"/>
                <a:ea typeface="黑体" panose="02010609060101010101" pitchFamily="49" charset="-122"/>
              </a:rPr>
              <a:t>Griffith</a:t>
            </a:r>
            <a:r>
              <a:rPr lang="zh-CN" altLang="en-US" sz="3200" b="1" dirty="0">
                <a:solidFill>
                  <a:srgbClr val="0000FF"/>
                </a:solidFill>
                <a:latin typeface="黑体" panose="02010609060101010101" pitchFamily="49" charset="-122"/>
                <a:ea typeface="黑体" panose="02010609060101010101" pitchFamily="49" charset="-122"/>
              </a:rPr>
              <a:t>对其试验结论及发展</a:t>
            </a:r>
            <a:endParaRPr lang="zh-CN" altLang="en-US" sz="3200" b="1" dirty="0">
              <a:solidFill>
                <a:srgbClr val="0000FF"/>
              </a:solidFill>
              <a:latin typeface="黑体" panose="02010609060101010101" pitchFamily="49" charset="-122"/>
              <a:ea typeface="黑体" panose="02010609060101010101" pitchFamily="49" charset="-122"/>
            </a:endParaRPr>
          </a:p>
        </p:txBody>
      </p:sp>
      <p:sp>
        <p:nvSpPr>
          <p:cNvPr id="106499" name="Rectangle 3"/>
          <p:cNvSpPr>
            <a:spLocks noGrp="1" noChangeArrowheads="1"/>
          </p:cNvSpPr>
          <p:nvPr>
            <p:ph type="body" idx="1"/>
          </p:nvPr>
        </p:nvSpPr>
        <p:spPr>
          <a:xfrm>
            <a:off x="429733" y="1057767"/>
            <a:ext cx="11197585" cy="4351338"/>
          </a:xfrm>
        </p:spPr>
        <p:txBody>
          <a:bodyPr/>
          <a:lstStyle/>
          <a:p>
            <a:pPr marL="0" indent="0">
              <a:lnSpc>
                <a:spcPct val="120000"/>
              </a:lnSpc>
              <a:buNone/>
            </a:pPr>
            <a:r>
              <a:rPr lang="zh-CN" altLang="en-US" b="1" dirty="0">
                <a:latin typeface="黑体" panose="02010609060101010101" pitchFamily="49" charset="-122"/>
                <a:ea typeface="黑体" panose="02010609060101010101" pitchFamily="49" charset="-122"/>
              </a:rPr>
              <a:t>根据上述研究结果</a:t>
            </a:r>
            <a:r>
              <a:rPr lang="en-US" altLang="zh-CN" b="1" dirty="0">
                <a:latin typeface="黑体" panose="02010609060101010101" pitchFamily="49" charset="-122"/>
                <a:ea typeface="黑体" panose="02010609060101010101" pitchFamily="49" charset="-122"/>
              </a:rPr>
              <a:t>Griffith</a:t>
            </a:r>
            <a:r>
              <a:rPr lang="zh-CN" altLang="en-US" b="1" dirty="0">
                <a:latin typeface="黑体" panose="02010609060101010101" pitchFamily="49" charset="-122"/>
                <a:ea typeface="黑体" panose="02010609060101010101" pitchFamily="49" charset="-122"/>
              </a:rPr>
              <a:t>认为：</a:t>
            </a:r>
            <a:endParaRPr lang="zh-CN" altLang="en-US" b="1" dirty="0">
              <a:latin typeface="黑体" panose="02010609060101010101" pitchFamily="49" charset="-122"/>
              <a:ea typeface="黑体" panose="02010609060101010101" pitchFamily="49" charset="-122"/>
            </a:endParaRPr>
          </a:p>
          <a:p>
            <a:pPr lvl="1">
              <a:lnSpc>
                <a:spcPct val="120000"/>
              </a:lnSpc>
              <a:buFont typeface="Wingdings" panose="05000000000000000000" pitchFamily="2" charset="2"/>
              <a:buChar char="Ø"/>
            </a:pP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有毒</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死细菌中的某种物质转移到</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无毒</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活细菌中，并使之具有毒性，导致小家鼠死亡。</a:t>
            </a:r>
            <a:endParaRPr lang="zh-CN" altLang="en-US" b="1" dirty="0">
              <a:latin typeface="黑体" panose="02010609060101010101" pitchFamily="49" charset="-122"/>
              <a:ea typeface="黑体" panose="02010609060101010101" pitchFamily="49" charset="-122"/>
            </a:endParaRPr>
          </a:p>
          <a:p>
            <a:pPr lvl="1">
              <a:lnSpc>
                <a:spcPct val="120000"/>
              </a:lnSpc>
              <a:buFont typeface="Wingdings" panose="05000000000000000000" pitchFamily="2" charset="2"/>
              <a:buChar char="Ø"/>
            </a:pPr>
            <a:r>
              <a:rPr lang="zh-CN" altLang="en-US" b="1" dirty="0">
                <a:latin typeface="黑体" panose="02010609060101010101" pitchFamily="49" charset="-122"/>
                <a:ea typeface="黑体" panose="02010609060101010101" pitchFamily="49" charset="-122"/>
              </a:rPr>
              <a:t>他将这种细菌遗传类型的转变称为</a:t>
            </a:r>
            <a:r>
              <a:rPr lang="zh-CN" altLang="en-US" b="1" dirty="0">
                <a:solidFill>
                  <a:srgbClr val="FF3300"/>
                </a:solidFill>
                <a:latin typeface="黑体" panose="02010609060101010101" pitchFamily="49" charset="-122"/>
                <a:ea typeface="黑体" panose="02010609060101010101" pitchFamily="49" charset="-122"/>
              </a:rPr>
              <a:t>转化</a:t>
            </a:r>
            <a:r>
              <a:rPr lang="zh-CN" altLang="en-US" b="1" dirty="0">
                <a:latin typeface="黑体" panose="02010609060101010101" pitchFamily="49" charset="-122"/>
                <a:ea typeface="黑体" panose="02010609060101010101" pitchFamily="49" charset="-122"/>
              </a:rPr>
              <a:t>，并将引起转化的物质称为</a:t>
            </a:r>
            <a:r>
              <a:rPr lang="zh-CN" altLang="en-US" b="1" dirty="0">
                <a:solidFill>
                  <a:srgbClr val="FF3300"/>
                </a:solidFill>
                <a:latin typeface="黑体" panose="02010609060101010101" pitchFamily="49" charset="-122"/>
                <a:ea typeface="黑体" panose="02010609060101010101" pitchFamily="49" charset="-122"/>
              </a:rPr>
              <a:t>转化因子</a:t>
            </a:r>
            <a:r>
              <a:rPr lang="en-US" altLang="zh-CN" b="1" dirty="0">
                <a:latin typeface="黑体" panose="02010609060101010101" pitchFamily="49" charset="-122"/>
                <a:ea typeface="黑体" panose="02010609060101010101" pitchFamily="49" charset="-122"/>
              </a:rPr>
              <a:t>(</a:t>
            </a:r>
            <a:r>
              <a:rPr lang="en-US" altLang="zh-CN" b="1" dirty="0" err="1">
                <a:latin typeface="黑体" panose="02010609060101010101" pitchFamily="49" charset="-122"/>
                <a:ea typeface="黑体" panose="02010609060101010101" pitchFamily="49" charset="-122"/>
              </a:rPr>
              <a:t>tranforming</a:t>
            </a:r>
            <a:r>
              <a:rPr lang="en-US" altLang="zh-CN" b="1" dirty="0">
                <a:latin typeface="黑体" panose="02010609060101010101" pitchFamily="49" charset="-122"/>
                <a:ea typeface="黑体" panose="02010609060101010101" pitchFamily="49" charset="-122"/>
              </a:rPr>
              <a:t> principle)</a:t>
            </a:r>
            <a:r>
              <a:rPr lang="zh-CN" altLang="en-US" b="1" dirty="0">
                <a:latin typeface="黑体" panose="02010609060101010101" pitchFamily="49" charset="-122"/>
                <a:ea typeface="黑体" panose="02010609060101010101" pitchFamily="49" charset="-122"/>
              </a:rPr>
              <a:t>。</a:t>
            </a:r>
            <a:endParaRPr lang="zh-CN" altLang="en-US" b="1" dirty="0">
              <a:latin typeface="黑体" panose="02010609060101010101" pitchFamily="49" charset="-122"/>
              <a:ea typeface="黑体" panose="02010609060101010101" pitchFamily="49"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7527" name="Picture 7" descr="a-10-1"/>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4163060" y="365125"/>
            <a:ext cx="7571105" cy="603313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7522" name="Rectangle 2"/>
          <p:cNvSpPr>
            <a:spLocks noGrp="1" noChangeArrowheads="1"/>
          </p:cNvSpPr>
          <p:nvPr>
            <p:ph type="title"/>
          </p:nvPr>
        </p:nvSpPr>
        <p:spPr>
          <a:xfrm>
            <a:off x="191517" y="365227"/>
            <a:ext cx="4842496" cy="925512"/>
          </a:xfrm>
        </p:spPr>
        <p:txBody>
          <a:bodyPr>
            <a:normAutofit fontScale="90000"/>
          </a:bodyPr>
          <a:lstStyle/>
          <a:p>
            <a:pPr algn="ctr"/>
            <a:r>
              <a:rPr lang="zh-CN" altLang="en-US" sz="3200" b="1" dirty="0">
                <a:latin typeface="黑体" panose="02010609060101010101" pitchFamily="49" charset="-122"/>
                <a:ea typeface="黑体" panose="02010609060101010101" pitchFamily="49" charset="-122"/>
              </a:rPr>
              <a:t>艾弗里</a:t>
            </a:r>
            <a:r>
              <a:rPr lang="en-US" altLang="zh-CN" sz="3200" b="1" dirty="0">
                <a:latin typeface="黑体" panose="02010609060101010101" pitchFamily="49" charset="-122"/>
                <a:ea typeface="黑体" panose="02010609060101010101" pitchFamily="49" charset="-122"/>
              </a:rPr>
              <a:t>(Avery)</a:t>
            </a:r>
            <a:r>
              <a:rPr lang="zh-CN" altLang="en-US" sz="3200" b="1" dirty="0">
                <a:latin typeface="黑体" panose="02010609060101010101" pitchFamily="49" charset="-122"/>
                <a:ea typeface="黑体" panose="02010609060101010101" pitchFamily="49" charset="-122"/>
              </a:rPr>
              <a:t>等的转化实验</a:t>
            </a:r>
            <a:r>
              <a:rPr lang="en-US" altLang="zh-CN" sz="3200" b="1" dirty="0">
                <a:latin typeface="黑体" panose="02010609060101010101" pitchFamily="49" charset="-122"/>
                <a:ea typeface="黑体" panose="02010609060101010101" pitchFamily="49" charset="-122"/>
              </a:rPr>
              <a:t>(1944)</a:t>
            </a:r>
            <a:endParaRPr lang="en-US" altLang="zh-CN" sz="3200" b="1" dirty="0">
              <a:solidFill>
                <a:schemeClr val="accent2"/>
              </a:solidFill>
              <a:latin typeface="黑体" panose="02010609060101010101" pitchFamily="49" charset="-122"/>
              <a:ea typeface="黑体" panose="02010609060101010101" pitchFamily="49"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a:xfrm>
            <a:off x="290614" y="81300"/>
            <a:ext cx="8226425" cy="817008"/>
          </a:xfrm>
        </p:spPr>
        <p:txBody>
          <a:bodyPr>
            <a:normAutofit/>
          </a:bodyPr>
          <a:lstStyle/>
          <a:p>
            <a:r>
              <a:rPr lang="zh-CN" altLang="en-US" sz="3200" b="1" dirty="0">
                <a:solidFill>
                  <a:srgbClr val="0000FF"/>
                </a:solidFill>
                <a:latin typeface="黑体" panose="02010609060101010101" pitchFamily="49" charset="-122"/>
                <a:ea typeface="黑体" panose="02010609060101010101" pitchFamily="49" charset="-122"/>
              </a:rPr>
              <a:t>实验结论：</a:t>
            </a:r>
            <a:endParaRPr lang="zh-CN" altLang="en-US" sz="3200" b="1" dirty="0">
              <a:solidFill>
                <a:srgbClr val="0000FF"/>
              </a:solidFill>
              <a:latin typeface="黑体" panose="02010609060101010101" pitchFamily="49" charset="-122"/>
              <a:ea typeface="黑体" panose="02010609060101010101" pitchFamily="49" charset="-122"/>
            </a:endParaRPr>
          </a:p>
        </p:txBody>
      </p:sp>
      <p:sp>
        <p:nvSpPr>
          <p:cNvPr id="137219" name="Rectangle 3"/>
          <p:cNvSpPr>
            <a:spLocks noGrp="1" noChangeArrowheads="1"/>
          </p:cNvSpPr>
          <p:nvPr>
            <p:ph type="body" idx="1"/>
          </p:nvPr>
        </p:nvSpPr>
        <p:spPr>
          <a:xfrm>
            <a:off x="225517" y="898308"/>
            <a:ext cx="11740965" cy="2858348"/>
          </a:xfrm>
        </p:spPr>
        <p:txBody>
          <a:bodyPr>
            <a:normAutofit/>
          </a:bodyPr>
          <a:lstStyle/>
          <a:p>
            <a:pPr marL="0" indent="0">
              <a:lnSpc>
                <a:spcPct val="120000"/>
              </a:lnSpc>
              <a:buNone/>
            </a:pP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上述实验结果表明：加热杀死的</a:t>
            </a:r>
            <a:r>
              <a:rPr lang="en-US" altLang="zh-CN" b="1" dirty="0">
                <a:latin typeface="黑体" panose="02010609060101010101" pitchFamily="49" charset="-122"/>
                <a:ea typeface="黑体" panose="02010609060101010101" pitchFamily="49" charset="-122"/>
              </a:rPr>
              <a:t>S</a:t>
            </a:r>
            <a:r>
              <a:rPr lang="en-US" altLang="zh-CN" b="1" dirty="0">
                <a:latin typeface="Times New Roman" panose="02020603050405020304" pitchFamily="18" charset="0"/>
                <a:ea typeface="黑体" panose="02010609060101010101" pitchFamily="49" charset="-122"/>
                <a:cs typeface="Times New Roman" panose="02020603050405020304" pitchFamily="18" charset="0"/>
              </a:rPr>
              <a:t>III</a:t>
            </a:r>
            <a:r>
              <a:rPr lang="zh-CN" altLang="en-US" b="1" dirty="0">
                <a:latin typeface="黑体" panose="02010609060101010101" pitchFamily="49" charset="-122"/>
                <a:ea typeface="黑体" panose="02010609060101010101" pitchFamily="49" charset="-122"/>
              </a:rPr>
              <a:t>细菌的</a:t>
            </a:r>
            <a:r>
              <a:rPr lang="en-US" altLang="zh-CN" b="1" dirty="0">
                <a:latin typeface="黑体" panose="02010609060101010101" pitchFamily="49" charset="-122"/>
                <a:ea typeface="黑体" panose="02010609060101010101" pitchFamily="49" charset="-122"/>
              </a:rPr>
              <a:t>DNA</a:t>
            </a:r>
            <a:r>
              <a:rPr lang="zh-CN" altLang="en-US" b="1" dirty="0">
                <a:latin typeface="黑体" panose="02010609060101010101" pitchFamily="49" charset="-122"/>
                <a:ea typeface="黑体" panose="02010609060101010101" pitchFamily="49" charset="-122"/>
              </a:rPr>
              <a:t>，使</a:t>
            </a:r>
            <a:r>
              <a:rPr lang="en-US" altLang="zh-CN" b="1" dirty="0">
                <a:latin typeface="黑体" panose="02010609060101010101" pitchFamily="49" charset="-122"/>
                <a:ea typeface="黑体" panose="02010609060101010101" pitchFamily="49" charset="-122"/>
              </a:rPr>
              <a:t>R</a:t>
            </a:r>
            <a:r>
              <a:rPr lang="en-US" altLang="zh-CN" b="1" dirty="0">
                <a:latin typeface="Times New Roman" panose="02020603050405020304" pitchFamily="18" charset="0"/>
                <a:ea typeface="黑体" panose="02010609060101010101" pitchFamily="49" charset="-122"/>
                <a:cs typeface="Times New Roman" panose="02020603050405020304" pitchFamily="18" charset="0"/>
              </a:rPr>
              <a:t>II</a:t>
            </a:r>
            <a:r>
              <a:rPr lang="zh-CN" altLang="en-US" b="1" dirty="0">
                <a:latin typeface="黑体" panose="02010609060101010101" pitchFamily="49" charset="-122"/>
                <a:ea typeface="黑体" panose="02010609060101010101" pitchFamily="49" charset="-122"/>
              </a:rPr>
              <a:t>细菌转化成为</a:t>
            </a:r>
            <a:r>
              <a:rPr lang="en-US" altLang="zh-CN" b="1" dirty="0">
                <a:latin typeface="黑体" panose="02010609060101010101" pitchFamily="49" charset="-122"/>
                <a:ea typeface="黑体" panose="02010609060101010101" pitchFamily="49" charset="-122"/>
              </a:rPr>
              <a:t>S</a:t>
            </a:r>
            <a:r>
              <a:rPr lang="en-US" altLang="zh-CN" b="1" dirty="0">
                <a:latin typeface="Times New Roman" panose="02020603050405020304" pitchFamily="18" charset="0"/>
                <a:ea typeface="黑体" panose="02010609060101010101" pitchFamily="49" charset="-122"/>
                <a:cs typeface="Times New Roman" panose="02020603050405020304" pitchFamily="18" charset="0"/>
              </a:rPr>
              <a:t>III</a:t>
            </a:r>
            <a:r>
              <a:rPr lang="zh-CN" altLang="en-US" b="1" dirty="0">
                <a:latin typeface="黑体" panose="02010609060101010101" pitchFamily="49" charset="-122"/>
                <a:ea typeface="黑体" panose="02010609060101010101" pitchFamily="49" charset="-122"/>
              </a:rPr>
              <a:t>型细菌。</a:t>
            </a:r>
            <a:endParaRPr lang="en-US" altLang="zh-CN" b="1" dirty="0">
              <a:latin typeface="黑体" panose="02010609060101010101" pitchFamily="49" charset="-122"/>
              <a:ea typeface="黑体" panose="02010609060101010101" pitchFamily="49" charset="-122"/>
            </a:endParaRPr>
          </a:p>
          <a:p>
            <a:pPr marL="0" indent="0">
              <a:lnSpc>
                <a:spcPct val="120000"/>
              </a:lnSpc>
              <a:buNone/>
            </a:pPr>
            <a:r>
              <a:rPr lang="zh-CN" altLang="en-US" b="1" dirty="0">
                <a:solidFill>
                  <a:srgbClr val="FF3300"/>
                </a:solidFill>
                <a:latin typeface="黑体" panose="02010609060101010101" pitchFamily="49" charset="-122"/>
                <a:ea typeface="黑体" panose="02010609060101010101" pitchFamily="49" charset="-122"/>
              </a:rPr>
              <a:t>转化</a:t>
            </a:r>
            <a:r>
              <a:rPr lang="zh-CN" altLang="en-US" b="1" dirty="0">
                <a:latin typeface="黑体" panose="02010609060101010101" pitchFamily="49" charset="-122"/>
                <a:ea typeface="黑体" panose="02010609060101010101" pitchFamily="49" charset="-122"/>
              </a:rPr>
              <a:t>：</a:t>
            </a:r>
            <a:r>
              <a:rPr lang="zh-CN" altLang="en-US" b="1" dirty="0">
                <a:solidFill>
                  <a:srgbClr val="0000FF"/>
                </a:solidFill>
                <a:latin typeface="黑体" panose="02010609060101010101" pitchFamily="49" charset="-122"/>
                <a:ea typeface="黑体" panose="02010609060101010101" pitchFamily="49" charset="-122"/>
              </a:rPr>
              <a:t>某一基因型的细胞从周围介质中吸收来自另一基因型的</a:t>
            </a:r>
            <a:r>
              <a:rPr lang="en-US" altLang="zh-CN" b="1" dirty="0">
                <a:solidFill>
                  <a:srgbClr val="0000FF"/>
                </a:solidFill>
                <a:latin typeface="黑体" panose="02010609060101010101" pitchFamily="49" charset="-122"/>
                <a:ea typeface="黑体" panose="02010609060101010101" pitchFamily="49" charset="-122"/>
              </a:rPr>
              <a:t>DNA</a:t>
            </a:r>
            <a:r>
              <a:rPr lang="zh-CN" altLang="en-US" b="1" dirty="0">
                <a:solidFill>
                  <a:srgbClr val="0000FF"/>
                </a:solidFill>
                <a:latin typeface="黑体" panose="02010609060101010101" pitchFamily="49" charset="-122"/>
                <a:ea typeface="黑体" panose="02010609060101010101" pitchFamily="49" charset="-122"/>
              </a:rPr>
              <a:t>而使它的基因型和表现型发生相应变化的现象</a:t>
            </a:r>
            <a:r>
              <a:rPr lang="zh-CN" altLang="en-US" b="1" dirty="0">
                <a:latin typeface="黑体" panose="02010609060101010101" pitchFamily="49" charset="-122"/>
                <a:ea typeface="黑体" panose="02010609060101010101" pitchFamily="49" charset="-122"/>
              </a:rPr>
              <a:t>。</a:t>
            </a:r>
            <a:endParaRPr lang="zh-CN" altLang="en-US" b="1"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7219">
                                            <p:txEl>
                                              <p:pRg st="1" end="1"/>
                                            </p:txEl>
                                          </p:spTgt>
                                        </p:tgtEl>
                                        <p:attrNameLst>
                                          <p:attrName>style.visibility</p:attrName>
                                        </p:attrNameLst>
                                      </p:cBhvr>
                                      <p:to>
                                        <p:strVal val="visible"/>
                                      </p:to>
                                    </p:set>
                                    <p:animEffect transition="in" filter="fade">
                                      <p:cBhvr>
                                        <p:cTn id="7" dur="500"/>
                                        <p:tgtEl>
                                          <p:spTgt spid="13721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6" name="Rectangle 4"/>
          <p:cNvSpPr>
            <a:spLocks noGrp="1" noChangeArrowheads="1"/>
          </p:cNvSpPr>
          <p:nvPr>
            <p:ph type="title"/>
          </p:nvPr>
        </p:nvSpPr>
        <p:spPr>
          <a:xfrm>
            <a:off x="243396" y="222442"/>
            <a:ext cx="10515600" cy="1325563"/>
          </a:xfrm>
        </p:spPr>
        <p:txBody>
          <a:bodyPr>
            <a:normAutofit/>
          </a:bodyPr>
          <a:lstStyle/>
          <a:p>
            <a:r>
              <a:rPr lang="en-US" altLang="zh-CN" sz="3200" b="1" dirty="0">
                <a:latin typeface="黑体" panose="02010609060101010101" pitchFamily="49" charset="-122"/>
                <a:ea typeface="黑体" panose="02010609060101010101" pitchFamily="49" charset="-122"/>
              </a:rPr>
              <a:t>*</a:t>
            </a:r>
            <a:r>
              <a:rPr lang="zh-CN" altLang="en-US" sz="3200" b="1" dirty="0">
                <a:latin typeface="黑体" panose="02010609060101010101" pitchFamily="49" charset="-122"/>
                <a:ea typeface="黑体" panose="02010609060101010101" pitchFamily="49" charset="-122"/>
              </a:rPr>
              <a:t>共同转化与遗传图谱绘制</a:t>
            </a:r>
            <a:endParaRPr lang="zh-CN" altLang="en-US" sz="2800" b="1" dirty="0">
              <a:latin typeface="黑体" panose="02010609060101010101" pitchFamily="49" charset="-122"/>
              <a:ea typeface="黑体" panose="02010609060101010101" pitchFamily="49" charset="-122"/>
              <a:sym typeface="Wingdings" panose="05000000000000000000" pitchFamily="2" charset="2"/>
            </a:endParaRPr>
          </a:p>
        </p:txBody>
      </p:sp>
      <p:sp>
        <p:nvSpPr>
          <p:cNvPr id="110597" name="Rectangle 5"/>
          <p:cNvSpPr>
            <a:spLocks noGrp="1" noChangeArrowheads="1"/>
          </p:cNvSpPr>
          <p:nvPr>
            <p:ph type="body" idx="1"/>
          </p:nvPr>
        </p:nvSpPr>
        <p:spPr>
          <a:xfrm>
            <a:off x="480008" y="1328474"/>
            <a:ext cx="11079933" cy="2155871"/>
          </a:xfrm>
        </p:spPr>
        <p:txBody>
          <a:bodyPr>
            <a:normAutofit/>
          </a:bodyPr>
          <a:lstStyle/>
          <a:p>
            <a:pPr marL="0" indent="0">
              <a:lnSpc>
                <a:spcPct val="100000"/>
              </a:lnSpc>
              <a:buNone/>
            </a:pPr>
            <a:r>
              <a:rPr lang="zh-CN" altLang="en-US" b="1" dirty="0">
                <a:latin typeface="黑体" panose="02010609060101010101" pitchFamily="49" charset="-122"/>
                <a:ea typeface="黑体" panose="02010609060101010101" pitchFamily="49" charset="-122"/>
              </a:rPr>
              <a:t>利用</a:t>
            </a:r>
            <a:r>
              <a:rPr lang="zh-CN" altLang="en-US" b="1" dirty="0">
                <a:solidFill>
                  <a:srgbClr val="FF3300"/>
                </a:solidFill>
                <a:latin typeface="黑体" panose="02010609060101010101" pitchFamily="49" charset="-122"/>
                <a:ea typeface="黑体" panose="02010609060101010101" pitchFamily="49" charset="-122"/>
              </a:rPr>
              <a:t>共同转化</a:t>
            </a:r>
            <a:r>
              <a:rPr lang="zh-CN" altLang="en-US" b="1" dirty="0">
                <a:latin typeface="黑体" panose="02010609060101010101" pitchFamily="49" charset="-122"/>
                <a:ea typeface="黑体" panose="02010609060101010101" pitchFamily="49" charset="-122"/>
              </a:rPr>
              <a:t>绘制细菌连锁遗传图谱的基本原理：</a:t>
            </a:r>
            <a:endParaRPr lang="zh-CN" altLang="en-US" b="1" dirty="0">
              <a:latin typeface="黑体" panose="02010609060101010101" pitchFamily="49" charset="-122"/>
              <a:ea typeface="黑体" panose="02010609060101010101" pitchFamily="49" charset="-122"/>
            </a:endParaRPr>
          </a:p>
          <a:p>
            <a:pPr marL="0" lvl="1" indent="0">
              <a:lnSpc>
                <a:spcPct val="100000"/>
              </a:lnSpc>
              <a:buNone/>
            </a:pPr>
            <a:r>
              <a:rPr lang="zh-CN" altLang="en-US" sz="2800" b="1" dirty="0">
                <a:solidFill>
                  <a:srgbClr val="0000FF"/>
                </a:solidFill>
                <a:latin typeface="黑体" panose="02010609060101010101" pitchFamily="49" charset="-122"/>
                <a:ea typeface="黑体" panose="02010609060101010101" pitchFamily="49" charset="-122"/>
              </a:rPr>
              <a:t>    相邻基因发生共同转化的概率与两者的距离间成正向关系</a:t>
            </a:r>
            <a:r>
              <a:rPr lang="zh-CN" altLang="en-US" sz="2800" b="1" dirty="0">
                <a:latin typeface="黑体" panose="02010609060101010101" pitchFamily="49" charset="-122"/>
                <a:ea typeface="黑体" panose="02010609060101010101" pitchFamily="49" charset="-122"/>
              </a:rPr>
              <a:t>，</a:t>
            </a:r>
            <a:r>
              <a:rPr lang="zh-CN" altLang="en-US" sz="2800" b="1" dirty="0">
                <a:solidFill>
                  <a:srgbClr val="FF0000"/>
                </a:solidFill>
                <a:latin typeface="黑体" panose="02010609060101010101" pitchFamily="49" charset="-122"/>
                <a:ea typeface="黑体" panose="02010609060101010101" pitchFamily="49" charset="-122"/>
              </a:rPr>
              <a:t>基因间距离越近，发生共同转化的频率越高</a:t>
            </a:r>
            <a:r>
              <a:rPr lang="zh-CN" altLang="en-US" sz="2800" b="1" dirty="0">
                <a:latin typeface="黑体" panose="02010609060101010101" pitchFamily="49" charset="-122"/>
                <a:ea typeface="黑体" panose="02010609060101010101" pitchFamily="49" charset="-122"/>
              </a:rPr>
              <a:t>。</a:t>
            </a:r>
            <a:endParaRPr lang="zh-CN" altLang="en-US" sz="2800" b="1" dirty="0">
              <a:latin typeface="黑体" panose="02010609060101010101" pitchFamily="49" charset="-122"/>
              <a:ea typeface="黑体" panose="02010609060101010101" pitchFamily="49" charset="-122"/>
            </a:endParaRPr>
          </a:p>
          <a:p>
            <a:pPr marL="0" lvl="1" indent="0">
              <a:lnSpc>
                <a:spcPct val="100000"/>
              </a:lnSpc>
              <a:buNone/>
            </a:pPr>
            <a:r>
              <a:rPr lang="zh-CN" altLang="en-US" sz="2800" b="1" dirty="0">
                <a:latin typeface="黑体" panose="02010609060101010101" pitchFamily="49" charset="-122"/>
                <a:ea typeface="黑体" panose="02010609060101010101" pitchFamily="49" charset="-122"/>
              </a:rPr>
              <a:t>因此可能通过测定两基因共同转化的频率来指示基因间的相对距离。</a:t>
            </a:r>
            <a:endParaRPr lang="zh-CN" altLang="en-US" sz="2800" b="1" dirty="0">
              <a:latin typeface="黑体" panose="02010609060101010101" pitchFamily="49" charset="-122"/>
              <a:ea typeface="黑体" panose="02010609060101010101" pitchFamily="49"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p:cNvPicPr>
            <a:picLocks noChangeAspect="1"/>
          </p:cNvPicPr>
          <p:nvPr/>
        </p:nvPicPr>
        <p:blipFill>
          <a:blip r:embed="rId1" cstate="print">
            <a:extLst>
              <a:ext uri="{BEBA8EAE-BF5A-486C-A8C5-ECC9F3942E4B}">
                <a14:imgProps xmlns:a14="http://schemas.microsoft.com/office/drawing/2010/main">
                  <a14:imgLayer r:embed="rId2">
                    <a14:imgEffect>
                      <a14:brightnessContrast bright="20000" contrast="20000"/>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7141780" y="0"/>
            <a:ext cx="4902856" cy="6858000"/>
          </a:xfrm>
          <a:prstGeom prst="rect">
            <a:avLst/>
          </a:prstGeom>
        </p:spPr>
      </p:pic>
      <p:sp>
        <p:nvSpPr>
          <p:cNvPr id="159746" name="Rectangle 2"/>
          <p:cNvSpPr>
            <a:spLocks noGrp="1" noChangeArrowheads="1"/>
          </p:cNvSpPr>
          <p:nvPr>
            <p:ph type="title"/>
          </p:nvPr>
        </p:nvSpPr>
        <p:spPr>
          <a:xfrm>
            <a:off x="233012" y="768495"/>
            <a:ext cx="10515600" cy="594018"/>
          </a:xfrm>
        </p:spPr>
        <p:txBody>
          <a:bodyPr>
            <a:normAutofit/>
          </a:bodyPr>
          <a:lstStyle/>
          <a:p>
            <a:r>
              <a:rPr lang="en-US" altLang="zh-CN" sz="3200" b="1" dirty="0">
                <a:solidFill>
                  <a:srgbClr val="0000FF"/>
                </a:solidFill>
                <a:latin typeface="黑体" panose="02010609060101010101" pitchFamily="49" charset="-122"/>
                <a:ea typeface="黑体" panose="02010609060101010101" pitchFamily="49" charset="-122"/>
              </a:rPr>
              <a:t>(</a:t>
            </a:r>
            <a:r>
              <a:rPr lang="zh-CN" altLang="en-US" sz="3200" b="1" dirty="0">
                <a:solidFill>
                  <a:srgbClr val="0000FF"/>
                </a:solidFill>
                <a:latin typeface="黑体" panose="02010609060101010101" pitchFamily="49" charset="-122"/>
                <a:ea typeface="黑体" panose="02010609060101010101" pitchFamily="49" charset="-122"/>
              </a:rPr>
              <a:t>一</a:t>
            </a:r>
            <a:r>
              <a:rPr lang="en-US" altLang="zh-CN" sz="3200" b="1" dirty="0">
                <a:solidFill>
                  <a:srgbClr val="0000FF"/>
                </a:solidFill>
                <a:latin typeface="黑体" panose="02010609060101010101" pitchFamily="49" charset="-122"/>
                <a:ea typeface="黑体" panose="02010609060101010101" pitchFamily="49" charset="-122"/>
              </a:rPr>
              <a:t>)</a:t>
            </a:r>
            <a:r>
              <a:rPr lang="zh-CN" altLang="en-US" sz="3200" b="1" dirty="0">
                <a:solidFill>
                  <a:srgbClr val="0000FF"/>
                </a:solidFill>
                <a:latin typeface="黑体" panose="02010609060101010101" pitchFamily="49" charset="-122"/>
                <a:ea typeface="黑体" panose="02010609060101010101" pitchFamily="49" charset="-122"/>
              </a:rPr>
              <a:t>接合现象的发现和证实</a:t>
            </a:r>
            <a:endParaRPr lang="zh-CN" altLang="en-US" sz="3200" b="1" dirty="0">
              <a:solidFill>
                <a:srgbClr val="0000FF"/>
              </a:solidFill>
              <a:latin typeface="黑体" panose="02010609060101010101" pitchFamily="49" charset="-122"/>
              <a:ea typeface="黑体" panose="02010609060101010101" pitchFamily="49" charset="-122"/>
            </a:endParaRPr>
          </a:p>
        </p:txBody>
      </p:sp>
      <p:sp>
        <p:nvSpPr>
          <p:cNvPr id="159747" name="Rectangle 3"/>
          <p:cNvSpPr>
            <a:spLocks noGrp="1" noChangeArrowheads="1"/>
          </p:cNvSpPr>
          <p:nvPr>
            <p:ph type="body" idx="1"/>
          </p:nvPr>
        </p:nvSpPr>
        <p:spPr>
          <a:xfrm>
            <a:off x="278908" y="1376673"/>
            <a:ext cx="6216486" cy="594018"/>
          </a:xfrm>
        </p:spPr>
        <p:txBody>
          <a:bodyPr>
            <a:noAutofit/>
          </a:bodyPr>
          <a:lstStyle/>
          <a:p>
            <a:pPr>
              <a:lnSpc>
                <a:spcPct val="110000"/>
              </a:lnSpc>
              <a:buFont typeface="Wingdings" panose="05000000000000000000" pitchFamily="2" charset="2"/>
              <a:buNone/>
            </a:pPr>
            <a:r>
              <a:rPr lang="zh-CN" altLang="en-US" b="1" dirty="0">
                <a:latin typeface="黑体" panose="02010609060101010101" pitchFamily="49" charset="-122"/>
                <a:ea typeface="黑体" panose="02010609060101010101" pitchFamily="49" charset="-122"/>
              </a:rPr>
              <a:t>黎德伯格和塔特姆大肠杆菌杂交试验：</a:t>
            </a:r>
            <a:endParaRPr lang="zh-CN" altLang="en-US" b="1" dirty="0">
              <a:latin typeface="黑体" panose="02010609060101010101" pitchFamily="49" charset="-122"/>
              <a:ea typeface="黑体" panose="02010609060101010101" pitchFamily="49" charset="-122"/>
            </a:endParaRPr>
          </a:p>
        </p:txBody>
      </p:sp>
      <p:sp>
        <p:nvSpPr>
          <p:cNvPr id="7" name="Rectangle 2"/>
          <p:cNvSpPr txBox="1">
            <a:spLocks noChangeArrowheads="1"/>
          </p:cNvSpPr>
          <p:nvPr/>
        </p:nvSpPr>
        <p:spPr>
          <a:xfrm>
            <a:off x="468099" y="-26084"/>
            <a:ext cx="2130426" cy="78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3600" b="1" dirty="0" err="1">
                <a:solidFill>
                  <a:srgbClr val="0000FF"/>
                </a:solidFill>
                <a:latin typeface="黑体" panose="02010609060101010101" pitchFamily="49" charset="-122"/>
                <a:ea typeface="黑体" panose="02010609060101010101" pitchFamily="49" charset="-122"/>
                <a:sym typeface="Wingdings" panose="05000000000000000000" pitchFamily="2" charset="2"/>
              </a:rPr>
              <a:t>二、接合</a:t>
            </a:r>
            <a:endParaRPr lang="en-US" altLang="en-US" sz="3600" b="1" dirty="0">
              <a:solidFill>
                <a:srgbClr val="0000FF"/>
              </a:solidFill>
              <a:latin typeface="黑体" panose="02010609060101010101" pitchFamily="49" charset="-122"/>
              <a:ea typeface="黑体" panose="02010609060101010101" pitchFamily="49" charset="-122"/>
              <a:sym typeface="Wingdings" panose="05000000000000000000" pitchFamily="2" charset="2"/>
            </a:endParaRPr>
          </a:p>
        </p:txBody>
      </p:sp>
      <p:sp>
        <p:nvSpPr>
          <p:cNvPr id="2" name="矩形 1"/>
          <p:cNvSpPr/>
          <p:nvPr/>
        </p:nvSpPr>
        <p:spPr>
          <a:xfrm>
            <a:off x="233012" y="3253799"/>
            <a:ext cx="6703816" cy="1717393"/>
          </a:xfrm>
          <a:prstGeom prst="rect">
            <a:avLst/>
          </a:prstGeom>
        </p:spPr>
        <p:txBody>
          <a:bodyPr wrap="square">
            <a:spAutoFit/>
          </a:bodyPr>
          <a:lstStyle/>
          <a:p>
            <a:pPr marL="0" lvl="1">
              <a:lnSpc>
                <a:spcPct val="110000"/>
              </a:lnSpc>
            </a:pPr>
            <a:r>
              <a:rPr lang="zh-CN" altLang="en-US" sz="3200" b="1" dirty="0">
                <a:latin typeface="黑体" panose="02010609060101010101" pitchFamily="49" charset="-122"/>
                <a:ea typeface="黑体" panose="02010609060101010101" pitchFamily="49" charset="-122"/>
              </a:rPr>
              <a:t>将</a:t>
            </a:r>
            <a:r>
              <a:rPr lang="en-US" altLang="zh-CN" sz="3200" b="1" dirty="0">
                <a:latin typeface="黑体" panose="02010609060101010101" pitchFamily="49" charset="-122"/>
                <a:ea typeface="黑体" panose="02010609060101010101" pitchFamily="49" charset="-122"/>
              </a:rPr>
              <a:t>A</a:t>
            </a:r>
            <a:r>
              <a:rPr lang="zh-CN" altLang="en-US" sz="3200" b="1" dirty="0">
                <a:latin typeface="黑体" panose="02010609060101010101" pitchFamily="49" charset="-122"/>
                <a:ea typeface="黑体" panose="02010609060101010101" pitchFamily="49" charset="-122"/>
              </a:rPr>
              <a:t>、</a:t>
            </a:r>
            <a:r>
              <a:rPr lang="en-US" altLang="zh-CN" sz="3200" b="1" dirty="0">
                <a:latin typeface="黑体" panose="02010609060101010101" pitchFamily="49" charset="-122"/>
                <a:ea typeface="黑体" panose="02010609060101010101" pitchFamily="49" charset="-122"/>
              </a:rPr>
              <a:t>B</a:t>
            </a:r>
            <a:r>
              <a:rPr lang="zh-CN" altLang="en-US" sz="3200" b="1" dirty="0">
                <a:latin typeface="黑体" panose="02010609060101010101" pitchFamily="49" charset="-122"/>
                <a:ea typeface="黑体" panose="02010609060101010101" pitchFamily="49" charset="-122"/>
              </a:rPr>
              <a:t>混和，在基本培养基上涂布培养。结果平板上长出</a:t>
            </a:r>
            <a:r>
              <a:rPr lang="zh-CN" altLang="en-US" sz="3200" b="1" dirty="0">
                <a:solidFill>
                  <a:srgbClr val="0000FF"/>
                </a:solidFill>
                <a:latin typeface="黑体" panose="02010609060101010101" pitchFamily="49" charset="-122"/>
                <a:ea typeface="黑体" panose="02010609060101010101" pitchFamily="49" charset="-122"/>
              </a:rPr>
              <a:t>原养型菌落</a:t>
            </a:r>
            <a:r>
              <a:rPr lang="en-US" altLang="zh-CN" sz="3200" b="1" dirty="0">
                <a:latin typeface="黑体" panose="02010609060101010101" pitchFamily="49" charset="-122"/>
                <a:ea typeface="黑体" panose="02010609060101010101" pitchFamily="49" charset="-122"/>
              </a:rPr>
              <a:t>(+++++)</a:t>
            </a:r>
            <a:r>
              <a:rPr lang="zh-CN" altLang="en-US" sz="3200" b="1" dirty="0">
                <a:latin typeface="黑体" panose="02010609060101010101" pitchFamily="49" charset="-122"/>
                <a:ea typeface="黑体" panose="02010609060101010101" pitchFamily="49" charset="-122"/>
              </a:rPr>
              <a:t>。</a:t>
            </a:r>
            <a:endParaRPr lang="zh-CN" altLang="en-US" sz="3200" b="1" dirty="0">
              <a:latin typeface="黑体" panose="02010609060101010101" pitchFamily="49" charset="-122"/>
              <a:ea typeface="黑体" panose="02010609060101010101" pitchFamily="49" charset="-122"/>
            </a:endParaRPr>
          </a:p>
        </p:txBody>
      </p:sp>
      <p:pic>
        <p:nvPicPr>
          <p:cNvPr id="8" name="图片 7"/>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645981" y="1877005"/>
            <a:ext cx="5533485" cy="1376794"/>
          </a:xfrm>
          <a:prstGeom prst="rect">
            <a:avLst/>
          </a:prstGeom>
        </p:spPr>
      </p:pic>
      <p:sp>
        <p:nvSpPr>
          <p:cNvPr id="3" name="矩形 2"/>
          <p:cNvSpPr/>
          <p:nvPr/>
        </p:nvSpPr>
        <p:spPr>
          <a:xfrm>
            <a:off x="2365236" y="4386417"/>
            <a:ext cx="2236510" cy="584775"/>
          </a:xfrm>
          <a:prstGeom prst="rect">
            <a:avLst/>
          </a:prstGeom>
        </p:spPr>
        <p:txBody>
          <a:bodyPr wrap="none">
            <a:spAutoFit/>
          </a:bodyPr>
          <a:lstStyle/>
          <a:p>
            <a:r>
              <a:rPr lang="zh-CN" altLang="en-US" sz="3200" b="1" dirty="0">
                <a:solidFill>
                  <a:srgbClr val="FF0000"/>
                </a:solidFill>
              </a:rPr>
              <a:t>如何解释？</a:t>
            </a:r>
            <a:endParaRPr lang="zh-CN" altLang="en-US" sz="3200" b="1" dirty="0">
              <a:solidFill>
                <a:srgbClr val="FF0000"/>
              </a:solidFill>
            </a:endParaRPr>
          </a:p>
        </p:txBody>
      </p:sp>
      <p:sp>
        <p:nvSpPr>
          <p:cNvPr id="6" name="文本框 5"/>
          <p:cNvSpPr txBox="1"/>
          <p:nvPr/>
        </p:nvSpPr>
        <p:spPr>
          <a:xfrm>
            <a:off x="2419666" y="5023543"/>
            <a:ext cx="2773324" cy="1384995"/>
          </a:xfrm>
          <a:prstGeom prst="rect">
            <a:avLst/>
          </a:prstGeom>
        </p:spPr>
        <p:txBody>
          <a:bodyPr wrap="square">
            <a:spAutoFit/>
          </a:bodyPr>
          <a:lstStyle>
            <a:defPPr>
              <a:defRPr lang="zh-CN"/>
            </a:defPPr>
            <a:lvl2pPr marL="0" lvl="1">
              <a:lnSpc>
                <a:spcPct val="110000"/>
              </a:lnSpc>
              <a:defRPr sz="3200" b="1">
                <a:latin typeface="黑体" panose="02010609060101010101" pitchFamily="49" charset="-122"/>
                <a:ea typeface="黑体" panose="02010609060101010101" pitchFamily="49" charset="-122"/>
              </a:defRPr>
            </a:lvl2pPr>
          </a:lstStyle>
          <a:p>
            <a:r>
              <a:rPr lang="zh-CN" altLang="en-US" sz="2800" b="1" dirty="0"/>
              <a:t>突变？</a:t>
            </a:r>
            <a:endParaRPr lang="en-US" altLang="zh-CN" sz="2800" b="1" dirty="0"/>
          </a:p>
          <a:p>
            <a:r>
              <a:rPr lang="zh-CN" altLang="en-US" sz="2800" b="1" dirty="0"/>
              <a:t>交换养料？</a:t>
            </a:r>
            <a:endParaRPr lang="en-US" altLang="zh-CN" sz="2800" b="1" dirty="0"/>
          </a:p>
          <a:p>
            <a:r>
              <a:rPr lang="zh-CN" altLang="en-US" sz="2800" b="1" dirty="0"/>
              <a:t>重组？</a:t>
            </a:r>
            <a:endParaRPr lang="zh-CN" altLang="en-US" sz="28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D4751D38-C989-48BC-B1AB-387F6E8DCEB6}" type="slidenum">
              <a:rPr lang="zh-CN" altLang="en-US" smtClean="0"/>
            </a:fld>
            <a:endParaRPr lang="zh-CN" altLang="en-US" dirty="0"/>
          </a:p>
        </p:txBody>
      </p:sp>
      <p:pic>
        <p:nvPicPr>
          <p:cNvPr id="8" name="内容占位符 7"/>
          <p:cNvPicPr>
            <a:picLocks noGrp="1" noChangeAspect="1"/>
          </p:cNvPicPr>
          <p:nvPr>
            <p:ph sz="half" idx="1"/>
          </p:nvPr>
        </p:nvPicPr>
        <p:blipFill>
          <a:blip r:embed="rId1" cstate="print">
            <a:extLst>
              <a:ext uri="{BEBA8EAE-BF5A-486C-A8C5-ECC9F3942E4B}">
                <a14:imgProps xmlns:a14="http://schemas.microsoft.com/office/drawing/2010/main">
                  <a14:imgLayer r:embed="rId2">
                    <a14:imgEffect>
                      <a14:brightnessContrast bright="20000"/>
                    </a14:imgEffect>
                  </a14:imgLayer>
                </a14:imgProps>
              </a:ext>
              <a:ext uri="{28A0092B-C50C-407E-A947-70E740481C1C}">
                <a14:useLocalDpi xmlns:a14="http://schemas.microsoft.com/office/drawing/2010/main" val="0"/>
              </a:ext>
            </a:extLst>
          </a:blip>
          <a:stretch>
            <a:fillRect/>
          </a:stretch>
        </p:blipFill>
        <p:spPr>
          <a:xfrm>
            <a:off x="6428241" y="334151"/>
            <a:ext cx="3921388" cy="4914946"/>
          </a:xfrm>
        </p:spPr>
      </p:pic>
      <p:sp>
        <p:nvSpPr>
          <p:cNvPr id="10" name="文本框 9"/>
          <p:cNvSpPr txBox="1"/>
          <p:nvPr/>
        </p:nvSpPr>
        <p:spPr>
          <a:xfrm>
            <a:off x="0" y="527874"/>
            <a:ext cx="6525185" cy="4212149"/>
          </a:xfrm>
          <a:prstGeom prst="rect">
            <a:avLst/>
          </a:prstGeom>
        </p:spPr>
        <p:txBody>
          <a:bodyPr vert="horz" lIns="91440" tIns="45720" rIns="91440" bIns="45720" rtlCol="0">
            <a:noAutofit/>
          </a:bodyPr>
          <a:lstStyle>
            <a:defPPr>
              <a:defRPr lang="zh-CN"/>
            </a:defPPr>
            <a:lvl1pPr marL="457200" indent="-457200">
              <a:lnSpc>
                <a:spcPct val="150000"/>
              </a:lnSpc>
              <a:spcBef>
                <a:spcPts val="1000"/>
              </a:spcBef>
              <a:buFont typeface="+mj-lt"/>
              <a:buAutoNum type="arabicPeriod"/>
              <a:defRPr sz="2200">
                <a:solidFill>
                  <a:srgbClr val="3A5991"/>
                </a:solidFill>
                <a:latin typeface="Times New Roman" panose="02020603050405020304" pitchFamily="18" charset="0"/>
                <a:ea typeface="微软雅黑" panose="020B0503020204020204" charset="-122"/>
                <a:cs typeface="Times New Roman" panose="02020603050405020304" pitchFamily="18" charset="0"/>
              </a:defRPr>
            </a:lvl1pPr>
            <a:lvl2pPr marL="685800" lvl="1" indent="-228600">
              <a:lnSpc>
                <a:spcPct val="150000"/>
              </a:lnSpc>
              <a:spcBef>
                <a:spcPts val="500"/>
              </a:spcBef>
              <a:buFont typeface="Wingdings" panose="05000000000000000000" pitchFamily="2" charset="2"/>
              <a:buChar char="Ø"/>
              <a:defRPr>
                <a:latin typeface="Times New Roman" panose="02020603050405020304" pitchFamily="18" charset="0"/>
                <a:ea typeface="微软雅黑" panose="020B0503020204020204"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400">
                <a:latin typeface="微软雅黑" panose="020B0503020204020204" charset="-122"/>
                <a:ea typeface="微软雅黑" panose="020B0503020204020204" charset="-122"/>
              </a:defRPr>
            </a:lvl3pPr>
            <a:lvl4pPr marL="1600200" indent="-228600">
              <a:lnSpc>
                <a:spcPct val="90000"/>
              </a:lnSpc>
              <a:spcBef>
                <a:spcPts val="500"/>
              </a:spcBef>
              <a:buFont typeface="Arial" panose="020B0604020202020204" pitchFamily="34" charset="0"/>
              <a:buChar char="•"/>
              <a:defRPr sz="2400">
                <a:latin typeface="微软雅黑" panose="020B0503020204020204" charset="-122"/>
                <a:ea typeface="微软雅黑" panose="020B0503020204020204" charset="-122"/>
              </a:defRPr>
            </a:lvl4pPr>
            <a:lvl5pPr marL="2057400" indent="-228600">
              <a:lnSpc>
                <a:spcPct val="90000"/>
              </a:lnSpc>
              <a:spcBef>
                <a:spcPts val="500"/>
              </a:spcBef>
              <a:buFont typeface="Arial" panose="020B0604020202020204" pitchFamily="34" charset="0"/>
              <a:buChar char="•"/>
              <a:defRPr sz="2400">
                <a:latin typeface="微软雅黑" panose="020B0503020204020204" charset="-122"/>
                <a:ea typeface="微软雅黑" panose="020B0503020204020204" charset="-122"/>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lvl="1" indent="0">
              <a:lnSpc>
                <a:spcPct val="100000"/>
              </a:lnSpc>
              <a:buNone/>
            </a:pPr>
            <a:r>
              <a:rPr lang="zh-CN" altLang="en-US" sz="3200" b="1" dirty="0"/>
              <a:t>戴维斯</a:t>
            </a:r>
            <a:r>
              <a:rPr lang="zh-CN" altLang="en-US" sz="3200" dirty="0"/>
              <a:t>设计了一种 </a:t>
            </a:r>
            <a:r>
              <a:rPr lang="en-US" altLang="zh-CN" sz="3200" dirty="0"/>
              <a:t>U </a:t>
            </a:r>
            <a:r>
              <a:rPr lang="zh-CN" altLang="en-US" sz="3200" dirty="0"/>
              <a:t>型管，中间有过滤器隔开，滤器的孔很小，</a:t>
            </a:r>
            <a:r>
              <a:rPr lang="zh-CN" altLang="en-US" sz="3200" b="1" dirty="0"/>
              <a:t>细菌不能通过，但培养液和营养物质可以通过</a:t>
            </a:r>
            <a:r>
              <a:rPr lang="zh-CN" altLang="en-US" sz="3200" dirty="0"/>
              <a:t>。</a:t>
            </a:r>
            <a:r>
              <a:rPr lang="en-US" altLang="zh-CN" sz="3200" dirty="0"/>
              <a:t>U</a:t>
            </a:r>
            <a:r>
              <a:rPr lang="zh-CN" altLang="en-US" sz="3200" dirty="0"/>
              <a:t>型管的一臂添加菌株 </a:t>
            </a:r>
            <a:r>
              <a:rPr lang="en-US" altLang="zh-CN" sz="3200" dirty="0"/>
              <a:t>A</a:t>
            </a:r>
            <a:r>
              <a:rPr lang="zh-CN" altLang="en-US" sz="3200" dirty="0"/>
              <a:t>，另一臂添加菌株</a:t>
            </a:r>
            <a:r>
              <a:rPr lang="en-US" altLang="zh-CN" sz="3200" dirty="0"/>
              <a:t>B</a:t>
            </a:r>
            <a:r>
              <a:rPr lang="zh-CN" altLang="en-US" sz="3200" dirty="0"/>
              <a:t>。在</a:t>
            </a:r>
            <a:r>
              <a:rPr lang="en-US" altLang="zh-CN" sz="3200" dirty="0"/>
              <a:t>U</a:t>
            </a:r>
            <a:r>
              <a:rPr lang="zh-CN" altLang="en-US" sz="3200" dirty="0"/>
              <a:t>型管中培养一段时间，再测定每一臂的细菌，发现没有一个细菌能在基本培养基上生长。</a:t>
            </a:r>
            <a:endParaRPr lang="zh-CN" altLang="en-US" sz="3200" dirty="0"/>
          </a:p>
        </p:txBody>
      </p:sp>
      <p:pic>
        <p:nvPicPr>
          <p:cNvPr id="12" name="图片 11"/>
          <p:cNvPicPr>
            <a:picLocks noChangeAspect="1"/>
          </p:cNvPicPr>
          <p:nvPr/>
        </p:nvPicPr>
        <p:blipFill>
          <a:blip r:embed="rId3"/>
          <a:stretch>
            <a:fillRect/>
          </a:stretch>
        </p:blipFill>
        <p:spPr>
          <a:xfrm>
            <a:off x="9730620" y="3454419"/>
            <a:ext cx="2324733" cy="2571211"/>
          </a:xfrm>
          <a:prstGeom prst="rect">
            <a:avLst/>
          </a:prstGeom>
        </p:spPr>
      </p:pic>
      <p:sp>
        <p:nvSpPr>
          <p:cNvPr id="14" name="文本框 13"/>
          <p:cNvSpPr txBox="1"/>
          <p:nvPr/>
        </p:nvSpPr>
        <p:spPr>
          <a:xfrm>
            <a:off x="10003913" y="2608919"/>
            <a:ext cx="2051440" cy="646331"/>
          </a:xfrm>
          <a:prstGeom prst="rect">
            <a:avLst/>
          </a:prstGeom>
          <a:noFill/>
        </p:spPr>
        <p:txBody>
          <a:bodyPr wrap="square">
            <a:spAutoFit/>
          </a:bodyPr>
          <a:lstStyle>
            <a:defPPr>
              <a:defRPr lang="zh-CN"/>
            </a:defPPr>
            <a:lvl1pPr algn="ctr">
              <a:defRPr sz="1200"/>
            </a:lvl1pPr>
          </a:lstStyle>
          <a:p>
            <a:r>
              <a:rPr lang="en-US" altLang="zh-CN" dirty="0"/>
              <a:t>Bernard David Davis</a:t>
            </a:r>
            <a:endParaRPr lang="en-US" altLang="zh-CN" dirty="0"/>
          </a:p>
          <a:p>
            <a:r>
              <a:rPr lang="en-US" altLang="zh-CN" dirty="0"/>
              <a:t>(1916—1994)</a:t>
            </a:r>
            <a:endParaRPr lang="en-US" altLang="zh-CN" dirty="0"/>
          </a:p>
          <a:p>
            <a:r>
              <a:rPr lang="en-US" altLang="zh-CN" dirty="0"/>
              <a:t>American microbiologist</a:t>
            </a:r>
            <a:endParaRPr lang="en-US" altLang="zh-CN" dirty="0"/>
          </a:p>
        </p:txBody>
      </p:sp>
      <p:sp>
        <p:nvSpPr>
          <p:cNvPr id="16" name="文本框 15"/>
          <p:cNvSpPr txBox="1"/>
          <p:nvPr/>
        </p:nvSpPr>
        <p:spPr>
          <a:xfrm>
            <a:off x="65989" y="5302189"/>
            <a:ext cx="11353799" cy="1555811"/>
          </a:xfrm>
          <a:prstGeom prst="rect">
            <a:avLst/>
          </a:prstGeom>
        </p:spPr>
        <p:txBody>
          <a:bodyPr vert="horz" lIns="91440" tIns="45720" rIns="91440" bIns="45720" rtlCol="0">
            <a:noAutofit/>
          </a:bodyPr>
          <a:lstStyle>
            <a:defPPr>
              <a:defRPr lang="zh-CN"/>
            </a:defPPr>
            <a:lvl1pPr marL="457200" indent="-457200">
              <a:lnSpc>
                <a:spcPct val="150000"/>
              </a:lnSpc>
              <a:spcBef>
                <a:spcPts val="1000"/>
              </a:spcBef>
              <a:buFont typeface="+mj-lt"/>
              <a:buAutoNum type="arabicPeriod"/>
              <a:defRPr sz="2200">
                <a:solidFill>
                  <a:srgbClr val="3A5991"/>
                </a:solidFill>
                <a:latin typeface="Times New Roman" panose="02020603050405020304" pitchFamily="18" charset="0"/>
                <a:ea typeface="微软雅黑" panose="020B0503020204020204" charset="-122"/>
                <a:cs typeface="Times New Roman" panose="02020603050405020304" pitchFamily="18" charset="0"/>
              </a:defRPr>
            </a:lvl1pPr>
            <a:lvl2pPr marL="685800" lvl="1" indent="-228600">
              <a:lnSpc>
                <a:spcPct val="150000"/>
              </a:lnSpc>
              <a:spcBef>
                <a:spcPts val="500"/>
              </a:spcBef>
              <a:buFont typeface="Wingdings" panose="05000000000000000000" pitchFamily="2" charset="2"/>
              <a:buChar char="Ø"/>
              <a:defRPr>
                <a:latin typeface="Times New Roman" panose="02020603050405020304" pitchFamily="18" charset="0"/>
                <a:ea typeface="微软雅黑" panose="020B0503020204020204"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400">
                <a:latin typeface="微软雅黑" panose="020B0503020204020204" charset="-122"/>
                <a:ea typeface="微软雅黑" panose="020B0503020204020204" charset="-122"/>
              </a:defRPr>
            </a:lvl3pPr>
            <a:lvl4pPr marL="1600200" indent="-228600">
              <a:lnSpc>
                <a:spcPct val="90000"/>
              </a:lnSpc>
              <a:spcBef>
                <a:spcPts val="500"/>
              </a:spcBef>
              <a:buFont typeface="Arial" panose="020B0604020202020204" pitchFamily="34" charset="0"/>
              <a:buChar char="•"/>
              <a:defRPr sz="2400">
                <a:latin typeface="微软雅黑" panose="020B0503020204020204" charset="-122"/>
                <a:ea typeface="微软雅黑" panose="020B0503020204020204" charset="-122"/>
              </a:defRPr>
            </a:lvl4pPr>
            <a:lvl5pPr marL="2057400" indent="-228600">
              <a:lnSpc>
                <a:spcPct val="90000"/>
              </a:lnSpc>
              <a:spcBef>
                <a:spcPts val="500"/>
              </a:spcBef>
              <a:buFont typeface="Arial" panose="020B0604020202020204" pitchFamily="34" charset="0"/>
              <a:buChar char="•"/>
              <a:defRPr sz="2400">
                <a:latin typeface="微软雅黑" panose="020B0503020204020204" charset="-122"/>
                <a:ea typeface="微软雅黑" panose="020B0503020204020204" charset="-122"/>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1"/>
            <a:endParaRPr lang="zh-CN" altLang="en-US" sz="2000" dirty="0"/>
          </a:p>
        </p:txBody>
      </p:sp>
      <p:sp>
        <p:nvSpPr>
          <p:cNvPr id="2" name="矩形 1"/>
          <p:cNvSpPr/>
          <p:nvPr/>
        </p:nvSpPr>
        <p:spPr>
          <a:xfrm>
            <a:off x="0" y="5249097"/>
            <a:ext cx="10220116" cy="584775"/>
          </a:xfrm>
          <a:prstGeom prst="rect">
            <a:avLst/>
          </a:prstGeom>
        </p:spPr>
        <p:txBody>
          <a:bodyPr wrap="square">
            <a:spAutoFit/>
          </a:bodyPr>
          <a:lstStyle/>
          <a:p>
            <a:pPr marL="0" lvl="1" indent="0">
              <a:lnSpc>
                <a:spcPct val="100000"/>
              </a:lnSpc>
            </a:pPr>
            <a:r>
              <a:rPr lang="zh-CN" altLang="en-US" sz="3200" b="1" dirty="0">
                <a:solidFill>
                  <a:srgbClr val="FF0000"/>
                </a:solidFill>
                <a:latin typeface="黑体" panose="02010609060101010101" pitchFamily="49" charset="-122"/>
                <a:ea typeface="黑体" panose="02010609060101010101" pitchFamily="49" charset="-122"/>
              </a:rPr>
              <a:t>原养型细胞的形成，两菌株间的直接接触必不可少。</a:t>
            </a:r>
            <a:endParaRPr lang="zh-CN" altLang="en-US" sz="3200" b="1" dirty="0">
              <a:solidFill>
                <a:srgbClr val="FF00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0515600" cy="675399"/>
          </a:xfrm>
        </p:spPr>
        <p:txBody>
          <a:bodyPr vert="horz" lIns="91440" tIns="45720" rIns="91440" bIns="45720" rtlCol="0" anchor="ctr">
            <a:normAutofit/>
          </a:bodyPr>
          <a:lstStyle/>
          <a:p>
            <a:r>
              <a:rPr lang="zh-CN" altLang="en-US" sz="3200" b="1" dirty="0">
                <a:solidFill>
                  <a:srgbClr val="0000FF"/>
                </a:solidFill>
                <a:latin typeface="黑体" panose="02010609060101010101" pitchFamily="49" charset="-122"/>
                <a:ea typeface="黑体" panose="02010609060101010101" pitchFamily="49" charset="-122"/>
              </a:rPr>
              <a:t>（二）</a:t>
            </a:r>
            <a:r>
              <a:rPr lang="en-US" altLang="zh-CN" sz="3200" b="1" dirty="0">
                <a:solidFill>
                  <a:srgbClr val="0000FF"/>
                </a:solidFill>
                <a:latin typeface="黑体" panose="02010609060101010101" pitchFamily="49" charset="-122"/>
                <a:ea typeface="黑体" panose="02010609060101010101" pitchFamily="49" charset="-122"/>
              </a:rPr>
              <a:t>F </a:t>
            </a:r>
            <a:r>
              <a:rPr lang="zh-CN" altLang="en-US" sz="3200" b="1" dirty="0">
                <a:solidFill>
                  <a:srgbClr val="0000FF"/>
                </a:solidFill>
                <a:latin typeface="黑体" panose="02010609060101010101" pitchFamily="49" charset="-122"/>
                <a:ea typeface="黑体" panose="02010609060101010101" pitchFamily="49" charset="-122"/>
              </a:rPr>
              <a:t>因子与接合</a:t>
            </a:r>
            <a:endParaRPr lang="zh-CN" altLang="en-US" sz="3200" b="1" dirty="0">
              <a:solidFill>
                <a:srgbClr val="0000FF"/>
              </a:solidFill>
              <a:latin typeface="黑体" panose="02010609060101010101" pitchFamily="49" charset="-122"/>
              <a:ea typeface="黑体" panose="02010609060101010101" pitchFamily="49" charset="-122"/>
            </a:endParaRPr>
          </a:p>
        </p:txBody>
      </p:sp>
      <p:sp>
        <p:nvSpPr>
          <p:cNvPr id="10" name="内容占位符 9"/>
          <p:cNvSpPr>
            <a:spLocks noGrp="1"/>
          </p:cNvSpPr>
          <p:nvPr>
            <p:ph sz="half" idx="1"/>
          </p:nvPr>
        </p:nvSpPr>
        <p:spPr>
          <a:xfrm>
            <a:off x="221408" y="2608399"/>
            <a:ext cx="11970592" cy="2609987"/>
          </a:xfrm>
        </p:spPr>
        <p:txBody>
          <a:bodyPr vert="horz" lIns="91440" tIns="45720" rIns="91440" bIns="45720" rtlCol="0">
            <a:noAutofit/>
          </a:bodyPr>
          <a:lstStyle/>
          <a:p>
            <a:pPr marL="0" lvl="1" indent="0">
              <a:lnSpc>
                <a:spcPct val="100000"/>
              </a:lnSpc>
              <a:buFont typeface="Wingdings" panose="05000000000000000000" pitchFamily="2" charset="2"/>
              <a:buNone/>
            </a:pPr>
            <a:r>
              <a:rPr lang="zh-CN" altLang="en-US" sz="3200" dirty="0">
                <a:ea typeface="微软雅黑" panose="020B0503020204020204" charset="-122"/>
              </a:rPr>
              <a:t>用链霉素处理菌株 </a:t>
            </a:r>
            <a:r>
              <a:rPr lang="en-US" altLang="zh-CN" sz="3200" dirty="0">
                <a:ea typeface="微软雅黑" panose="020B0503020204020204" charset="-122"/>
              </a:rPr>
              <a:t>A </a:t>
            </a:r>
            <a:r>
              <a:rPr lang="zh-CN" altLang="en-US" sz="3200" dirty="0">
                <a:ea typeface="微软雅黑" panose="020B0503020204020204" charset="-122"/>
              </a:rPr>
              <a:t>或菌株 </a:t>
            </a:r>
            <a:r>
              <a:rPr lang="en-US" altLang="zh-CN" sz="3200" dirty="0">
                <a:ea typeface="微软雅黑" panose="020B0503020204020204" charset="-122"/>
              </a:rPr>
              <a:t>B</a:t>
            </a:r>
            <a:r>
              <a:rPr lang="zh-CN" altLang="en-US" sz="3200" dirty="0">
                <a:ea typeface="微软雅黑" panose="020B0503020204020204" charset="-122"/>
              </a:rPr>
              <a:t>（阻碍分裂）。将</a:t>
            </a:r>
            <a:r>
              <a:rPr lang="zh-CN" altLang="en-US" sz="3200" b="1" dirty="0">
                <a:ea typeface="微软雅黑" panose="020B0503020204020204" charset="-122"/>
              </a:rPr>
              <a:t>处理过的菌株 </a:t>
            </a:r>
            <a:r>
              <a:rPr lang="en-US" altLang="zh-CN" sz="3200" b="1" dirty="0">
                <a:ea typeface="微软雅黑" panose="020B0503020204020204" charset="-122"/>
              </a:rPr>
              <a:t>A </a:t>
            </a:r>
            <a:r>
              <a:rPr lang="zh-CN" altLang="en-US" sz="3200" b="1" dirty="0">
                <a:ea typeface="微软雅黑" panose="020B0503020204020204" charset="-122"/>
              </a:rPr>
              <a:t>跟未处理的菌株 </a:t>
            </a:r>
            <a:r>
              <a:rPr lang="en-US" altLang="zh-CN" sz="3200" b="1" dirty="0">
                <a:ea typeface="微软雅黑" panose="020B0503020204020204" charset="-122"/>
              </a:rPr>
              <a:t>B </a:t>
            </a:r>
            <a:r>
              <a:rPr lang="zh-CN" altLang="en-US" sz="3200" b="1" dirty="0">
                <a:ea typeface="微软雅黑" panose="020B0503020204020204" charset="-122"/>
              </a:rPr>
              <a:t>混合</a:t>
            </a:r>
            <a:r>
              <a:rPr lang="zh-CN" altLang="en-US" sz="3200" dirty="0">
                <a:ea typeface="微软雅黑" panose="020B0503020204020204" charset="-122"/>
              </a:rPr>
              <a:t>，或将</a:t>
            </a:r>
            <a:r>
              <a:rPr lang="zh-CN" altLang="en-US" sz="3200" b="1" dirty="0">
                <a:ea typeface="微软雅黑" panose="020B0503020204020204" charset="-122"/>
              </a:rPr>
              <a:t>处理过的菌株 </a:t>
            </a:r>
            <a:r>
              <a:rPr lang="en-US" altLang="zh-CN" sz="3200" b="1" dirty="0">
                <a:ea typeface="微软雅黑" panose="020B0503020204020204" charset="-122"/>
              </a:rPr>
              <a:t>B </a:t>
            </a:r>
            <a:r>
              <a:rPr lang="zh-CN" altLang="en-US" sz="3200" b="1" dirty="0">
                <a:ea typeface="微软雅黑" panose="020B0503020204020204" charset="-122"/>
              </a:rPr>
              <a:t>跟未处理的菌株 </a:t>
            </a:r>
            <a:r>
              <a:rPr lang="en-US" altLang="zh-CN" sz="3200" b="1" dirty="0">
                <a:ea typeface="微软雅黑" panose="020B0503020204020204" charset="-122"/>
              </a:rPr>
              <a:t>A </a:t>
            </a:r>
            <a:r>
              <a:rPr lang="zh-CN" altLang="en-US" sz="3200" b="1" dirty="0">
                <a:ea typeface="微软雅黑" panose="020B0503020204020204" charset="-122"/>
              </a:rPr>
              <a:t>混合</a:t>
            </a:r>
            <a:r>
              <a:rPr lang="zh-CN" altLang="en-US" sz="3200" dirty="0">
                <a:ea typeface="微软雅黑" panose="020B0503020204020204" charset="-122"/>
              </a:rPr>
              <a:t>，结果大不相同。菌株 </a:t>
            </a:r>
            <a:r>
              <a:rPr lang="en-US" altLang="zh-CN" sz="3200" dirty="0">
                <a:ea typeface="微软雅黑" panose="020B0503020204020204" charset="-122"/>
              </a:rPr>
              <a:t>B </a:t>
            </a:r>
            <a:r>
              <a:rPr lang="zh-CN" altLang="en-US" sz="3200" dirty="0">
                <a:ea typeface="微软雅黑" panose="020B0503020204020204" charset="-122"/>
              </a:rPr>
              <a:t>经处理后，在基本培养基上没有活下来的菌株；</a:t>
            </a:r>
            <a:r>
              <a:rPr lang="zh-CN" altLang="en-US" sz="3200" b="1" dirty="0">
                <a:ea typeface="微软雅黑" panose="020B0503020204020204" charset="-122"/>
              </a:rPr>
              <a:t>但是菌株 </a:t>
            </a:r>
            <a:r>
              <a:rPr lang="en-US" altLang="zh-CN" sz="3200" b="1" dirty="0">
                <a:ea typeface="微软雅黑" panose="020B0503020204020204" charset="-122"/>
              </a:rPr>
              <a:t>A </a:t>
            </a:r>
            <a:r>
              <a:rPr lang="zh-CN" altLang="en-US" sz="3200" b="1" dirty="0">
                <a:ea typeface="微软雅黑" panose="020B0503020204020204" charset="-122"/>
              </a:rPr>
              <a:t>经过处理后，基本培养基上有活下来的菌株</a:t>
            </a:r>
            <a:r>
              <a:rPr lang="zh-CN" altLang="en-US" sz="3200" dirty="0">
                <a:ea typeface="微软雅黑" panose="020B0503020204020204" charset="-122"/>
              </a:rPr>
              <a:t>，而且频率跟未经处理的对照一样。</a:t>
            </a:r>
            <a:endParaRPr lang="en-US" altLang="zh-CN" sz="3200" dirty="0">
              <a:ea typeface="微软雅黑" panose="020B0503020204020204" charset="-122"/>
            </a:endParaRPr>
          </a:p>
          <a:p>
            <a:pPr marL="457200" indent="-457200">
              <a:lnSpc>
                <a:spcPct val="150000"/>
              </a:lnSpc>
              <a:buFont typeface="+mj-lt"/>
              <a:buAutoNum type="arabicPeriod"/>
            </a:pPr>
            <a:endParaRPr lang="zh-CN" altLang="en-US" sz="2200" dirty="0">
              <a:solidFill>
                <a:srgbClr val="3A5991"/>
              </a:solidFill>
              <a:ea typeface="微软雅黑" panose="020B0503020204020204" charset="-122"/>
            </a:endParaRPr>
          </a:p>
        </p:txBody>
      </p:sp>
      <p:pic>
        <p:nvPicPr>
          <p:cNvPr id="15" name="图片 14"/>
          <p:cNvPicPr>
            <a:picLocks noChangeAspect="1"/>
          </p:cNvPicPr>
          <p:nvPr/>
        </p:nvPicPr>
        <p:blipFill>
          <a:blip r:embed="rId1">
            <a:extLst>
              <a:ext uri="{BEBA8EAE-BF5A-486C-A8C5-ECC9F3942E4B}">
                <a14:imgProps xmlns:a14="http://schemas.microsoft.com/office/drawing/2010/main">
                  <a14:imgLayer r:embed="rId2">
                    <a14:imgEffect>
                      <a14:brightnessContrast contrast="-40000"/>
                    </a14:imgEffect>
                    <a14:imgEffect>
                      <a14:sharpenSoften amount="50000"/>
                    </a14:imgEffect>
                  </a14:imgLayer>
                </a14:imgProps>
              </a:ext>
            </a:extLst>
          </a:blip>
          <a:stretch>
            <a:fillRect/>
          </a:stretch>
        </p:blipFill>
        <p:spPr>
          <a:xfrm>
            <a:off x="1350974" y="1210682"/>
            <a:ext cx="5976701" cy="1397717"/>
          </a:xfrm>
          <a:prstGeom prst="rect">
            <a:avLst/>
          </a:prstGeom>
        </p:spPr>
      </p:pic>
      <p:sp>
        <p:nvSpPr>
          <p:cNvPr id="3" name="矩形 2"/>
          <p:cNvSpPr/>
          <p:nvPr/>
        </p:nvSpPr>
        <p:spPr>
          <a:xfrm>
            <a:off x="1350974" y="669933"/>
            <a:ext cx="5222905" cy="584775"/>
          </a:xfrm>
          <a:prstGeom prst="rect">
            <a:avLst/>
          </a:prstGeom>
        </p:spPr>
        <p:txBody>
          <a:bodyPr vert="horz" lIns="91440" tIns="45720" rIns="91440" bIns="45720" rtlCol="0">
            <a:noAutofit/>
          </a:bodyPr>
          <a:lstStyle/>
          <a:p>
            <a:pPr marL="0" lvl="1">
              <a:spcBef>
                <a:spcPts val="500"/>
              </a:spcBef>
              <a:buFont typeface="Wingdings" panose="05000000000000000000" pitchFamily="2" charset="2"/>
              <a:buNone/>
            </a:pPr>
            <a:r>
              <a:rPr lang="zh-CN" altLang="en-US" sz="3200" dirty="0">
                <a:latin typeface="Times New Roman" panose="02020603050405020304" pitchFamily="18" charset="0"/>
                <a:ea typeface="微软雅黑" panose="020B0503020204020204" charset="-122"/>
                <a:cs typeface="Times New Roman" panose="02020603050405020304" pitchFamily="18" charset="0"/>
              </a:rPr>
              <a:t>哈耶斯（</a:t>
            </a:r>
            <a:r>
              <a:rPr lang="en-US" altLang="zh-CN" sz="3200" dirty="0">
                <a:latin typeface="Times New Roman" panose="02020603050405020304" pitchFamily="18" charset="0"/>
                <a:ea typeface="微软雅黑" panose="020B0503020204020204" charset="-122"/>
                <a:cs typeface="Times New Roman" panose="02020603050405020304" pitchFamily="18" charset="0"/>
              </a:rPr>
              <a:t>1953</a:t>
            </a:r>
            <a:r>
              <a:rPr lang="zh-CN" altLang="en-US" sz="3200" dirty="0">
                <a:latin typeface="Times New Roman" panose="02020603050405020304" pitchFamily="18" charset="0"/>
                <a:ea typeface="微软雅黑" panose="020B0503020204020204" charset="-122"/>
                <a:cs typeface="Times New Roman" panose="02020603050405020304" pitchFamily="18" charset="0"/>
              </a:rPr>
              <a:t>）的杂交实验</a:t>
            </a:r>
            <a:r>
              <a:rPr lang="en-US" altLang="zh-CN" sz="3200" dirty="0">
                <a:latin typeface="Times New Roman" panose="02020603050405020304" pitchFamily="18" charset="0"/>
                <a:ea typeface="微软雅黑" panose="020B0503020204020204" charset="-122"/>
                <a:cs typeface="Times New Roman" panose="02020603050405020304" pitchFamily="18" charset="0"/>
              </a:rPr>
              <a:t>:</a:t>
            </a:r>
            <a:endParaRPr lang="en-US" altLang="zh-CN" sz="3200" dirty="0">
              <a:latin typeface="Times New Roman" panose="02020603050405020304" pitchFamily="18" charset="0"/>
              <a:ea typeface="微软雅黑" panose="020B0503020204020204" charset="-122"/>
              <a:cs typeface="Times New Roman" panose="02020603050405020304" pitchFamily="18" charset="0"/>
            </a:endParaRPr>
          </a:p>
        </p:txBody>
      </p:sp>
      <p:sp>
        <p:nvSpPr>
          <p:cNvPr id="5" name="矩形 4"/>
          <p:cNvSpPr/>
          <p:nvPr/>
        </p:nvSpPr>
        <p:spPr>
          <a:xfrm>
            <a:off x="288693" y="5162941"/>
            <a:ext cx="11771928" cy="1077218"/>
          </a:xfrm>
          <a:prstGeom prst="rect">
            <a:avLst/>
          </a:prstGeom>
        </p:spPr>
        <p:txBody>
          <a:bodyPr wrap="square">
            <a:spAutoFit/>
          </a:bodyPr>
          <a:lstStyle/>
          <a:p>
            <a:pPr marL="0" lvl="1"/>
            <a:r>
              <a:rPr lang="zh-CN" altLang="en-US" sz="3200" b="1" dirty="0">
                <a:solidFill>
                  <a:srgbClr val="FF0000"/>
                </a:solidFill>
                <a:latin typeface="黑体" panose="02010609060101010101" pitchFamily="49" charset="-122"/>
                <a:ea typeface="黑体" panose="02010609060101010101" pitchFamily="49" charset="-122"/>
              </a:rPr>
              <a:t>推论：细菌间基因的交换不是相互的，而是单向的。</a:t>
            </a:r>
            <a:r>
              <a:rPr lang="zh-CN" altLang="en-US" sz="3200" b="1" dirty="0">
                <a:latin typeface="黑体" panose="02010609060101010101" pitchFamily="49" charset="-122"/>
                <a:ea typeface="黑体" panose="02010609060101010101" pitchFamily="49" charset="-122"/>
              </a:rPr>
              <a:t>菌株</a:t>
            </a:r>
            <a:r>
              <a:rPr lang="en-US" altLang="zh-CN" sz="3200" b="1" dirty="0">
                <a:latin typeface="黑体" panose="02010609060101010101" pitchFamily="49" charset="-122"/>
                <a:ea typeface="黑体" panose="02010609060101010101" pitchFamily="49" charset="-122"/>
              </a:rPr>
              <a:t>B</a:t>
            </a:r>
            <a:r>
              <a:rPr lang="zh-CN" altLang="en-US" sz="3200" b="1" dirty="0">
                <a:latin typeface="黑体" panose="02010609060101010101" pitchFamily="49" charset="-122"/>
                <a:ea typeface="黑体" panose="02010609060101010101" pitchFamily="49" charset="-122"/>
              </a:rPr>
              <a:t>作为遗传物质的受体（</a:t>
            </a:r>
            <a:r>
              <a:rPr lang="en-US" altLang="zh-CN" sz="3200" b="1" dirty="0">
                <a:latin typeface="黑体" panose="02010609060101010101" pitchFamily="49" charset="-122"/>
                <a:ea typeface="黑体" panose="02010609060101010101" pitchFamily="49" charset="-122"/>
              </a:rPr>
              <a:t>recipient</a:t>
            </a:r>
            <a:r>
              <a:rPr lang="zh-CN" altLang="en-US" sz="3200" b="1" dirty="0">
                <a:latin typeface="黑体" panose="02010609060101010101" pitchFamily="49" charset="-122"/>
                <a:ea typeface="黑体" panose="02010609060101010101" pitchFamily="49" charset="-122"/>
              </a:rPr>
              <a:t>），菌株</a:t>
            </a:r>
            <a:r>
              <a:rPr lang="en-US" altLang="zh-CN" sz="3200" b="1" dirty="0">
                <a:latin typeface="黑体" panose="02010609060101010101" pitchFamily="49" charset="-122"/>
                <a:ea typeface="黑体" panose="02010609060101010101" pitchFamily="49" charset="-122"/>
              </a:rPr>
              <a:t>A</a:t>
            </a:r>
            <a:r>
              <a:rPr lang="zh-CN" altLang="en-US" sz="3200" b="1" dirty="0">
                <a:latin typeface="黑体" panose="02010609060101010101" pitchFamily="49" charset="-122"/>
                <a:ea typeface="黑体" panose="02010609060101010101" pitchFamily="49" charset="-122"/>
              </a:rPr>
              <a:t>是供体（</a:t>
            </a:r>
            <a:r>
              <a:rPr lang="en-US" altLang="zh-CN" sz="3200" b="1" dirty="0">
                <a:latin typeface="黑体" panose="02010609060101010101" pitchFamily="49" charset="-122"/>
                <a:ea typeface="黑体" panose="02010609060101010101" pitchFamily="49" charset="-122"/>
              </a:rPr>
              <a:t>donor</a:t>
            </a:r>
            <a:r>
              <a:rPr lang="zh-CN" altLang="en-US" sz="3200" b="1" dirty="0">
                <a:latin typeface="黑体" panose="02010609060101010101" pitchFamily="49" charset="-122"/>
                <a:ea typeface="黑体" panose="02010609060101010101" pitchFamily="49" charset="-122"/>
              </a:rPr>
              <a:t>）。</a:t>
            </a:r>
            <a:endParaRPr lang="zh-CN" altLang="en-US" sz="3200" b="1"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3" name="Rectangle 3"/>
          <p:cNvSpPr>
            <a:spLocks noGrp="1" noChangeArrowheads="1"/>
          </p:cNvSpPr>
          <p:nvPr>
            <p:ph type="body" sz="half" idx="1"/>
          </p:nvPr>
        </p:nvSpPr>
        <p:spPr>
          <a:xfrm>
            <a:off x="173422" y="669717"/>
            <a:ext cx="11902964" cy="670352"/>
          </a:xfrm>
        </p:spPr>
        <p:txBody>
          <a:bodyPr>
            <a:normAutofit/>
          </a:bodyPr>
          <a:lstStyle/>
          <a:p>
            <a:pPr marL="0" lvl="1" indent="0">
              <a:lnSpc>
                <a:spcPct val="100000"/>
              </a:lnSpc>
              <a:buNone/>
            </a:pPr>
            <a:r>
              <a:rPr lang="zh-CN" altLang="en-US" sz="3200" b="1" dirty="0">
                <a:latin typeface="黑体" panose="02010609060101010101" pitchFamily="49" charset="-122"/>
                <a:ea typeface="黑体" panose="02010609060101010101" pitchFamily="49" charset="-122"/>
              </a:rPr>
              <a:t>遗传物质从供体</a:t>
            </a:r>
            <a:r>
              <a:rPr lang="en-US" altLang="zh-CN" sz="3200" b="1" dirty="0">
                <a:latin typeface="黑体" panose="02010609060101010101" pitchFamily="49" charset="-122"/>
                <a:ea typeface="黑体" panose="02010609060101010101" pitchFamily="49" charset="-122"/>
              </a:rPr>
              <a:t> (“</a:t>
            </a:r>
            <a:r>
              <a:rPr lang="zh-CN" altLang="en-US" sz="3200" b="1" dirty="0">
                <a:latin typeface="黑体" panose="02010609060101010101" pitchFamily="49" charset="-122"/>
                <a:ea typeface="黑体" panose="02010609060101010101" pitchFamily="49" charset="-122"/>
              </a:rPr>
              <a:t>雄性”</a:t>
            </a:r>
            <a:r>
              <a:rPr lang="en-US" altLang="zh-CN" sz="3200" b="1" dirty="0">
                <a:latin typeface="黑体" panose="02010609060101010101" pitchFamily="49" charset="-122"/>
                <a:ea typeface="黑体" panose="02010609060101010101" pitchFamily="49" charset="-122"/>
              </a:rPr>
              <a:t>)</a:t>
            </a:r>
            <a:r>
              <a:rPr lang="zh-CN" altLang="en-US" sz="3200" b="1" dirty="0">
                <a:latin typeface="黑体" panose="02010609060101010101" pitchFamily="49" charset="-122"/>
                <a:ea typeface="黑体" panose="02010609060101010101" pitchFamily="49" charset="-122"/>
              </a:rPr>
              <a:t>转移到受体</a:t>
            </a:r>
            <a:r>
              <a:rPr lang="en-US" altLang="zh-CN" sz="3200" b="1" dirty="0">
                <a:latin typeface="黑体" panose="02010609060101010101" pitchFamily="49" charset="-122"/>
                <a:ea typeface="黑体" panose="02010609060101010101" pitchFamily="49" charset="-122"/>
              </a:rPr>
              <a:t> (“</a:t>
            </a:r>
            <a:r>
              <a:rPr lang="zh-CN" altLang="en-US" sz="3200" b="1" dirty="0">
                <a:latin typeface="黑体" panose="02010609060101010101" pitchFamily="49" charset="-122"/>
                <a:ea typeface="黑体" panose="02010609060101010101" pitchFamily="49" charset="-122"/>
              </a:rPr>
              <a:t>雌性”</a:t>
            </a:r>
            <a:r>
              <a:rPr lang="en-US" altLang="zh-CN" sz="3200" b="1" dirty="0">
                <a:latin typeface="黑体" panose="02010609060101010101" pitchFamily="49" charset="-122"/>
                <a:ea typeface="黑体" panose="02010609060101010101" pitchFamily="49" charset="-122"/>
              </a:rPr>
              <a:t>)</a:t>
            </a:r>
            <a:r>
              <a:rPr lang="zh-CN" altLang="en-US" sz="3200" b="1" dirty="0">
                <a:latin typeface="黑体" panose="02010609060101010101" pitchFamily="49" charset="-122"/>
                <a:ea typeface="黑体" panose="02010609060101010101" pitchFamily="49" charset="-122"/>
              </a:rPr>
              <a:t>的重组过程。</a:t>
            </a:r>
            <a:endParaRPr lang="zh-CN" altLang="en-US" sz="3200" b="1" dirty="0">
              <a:latin typeface="黑体" panose="02010609060101010101" pitchFamily="49" charset="-122"/>
              <a:ea typeface="黑体" panose="02010609060101010101" pitchFamily="49" charset="-122"/>
            </a:endParaRPr>
          </a:p>
        </p:txBody>
      </p:sp>
      <p:sp>
        <p:nvSpPr>
          <p:cNvPr id="3" name="矩形 2"/>
          <p:cNvSpPr/>
          <p:nvPr/>
        </p:nvSpPr>
        <p:spPr>
          <a:xfrm>
            <a:off x="196265" y="49170"/>
            <a:ext cx="4108817" cy="604781"/>
          </a:xfrm>
          <a:prstGeom prst="rect">
            <a:avLst/>
          </a:prstGeom>
        </p:spPr>
        <p:txBody>
          <a:bodyPr wrap="none">
            <a:spAutoFit/>
          </a:bodyPr>
          <a:lstStyle/>
          <a:p>
            <a:pPr>
              <a:lnSpc>
                <a:spcPct val="120000"/>
              </a:lnSpc>
            </a:pPr>
            <a:r>
              <a:rPr lang="zh-CN" altLang="en-US" sz="3200" b="1" dirty="0">
                <a:solidFill>
                  <a:srgbClr val="0000FF"/>
                </a:solidFill>
                <a:latin typeface="黑体" panose="02010609060101010101" pitchFamily="49" charset="-122"/>
                <a:ea typeface="黑体" panose="02010609060101010101" pitchFamily="49" charset="-122"/>
              </a:rPr>
              <a:t>接合</a:t>
            </a:r>
            <a:r>
              <a:rPr lang="en-US" altLang="zh-CN" sz="3200" b="1" dirty="0">
                <a:solidFill>
                  <a:srgbClr val="0000FF"/>
                </a:solidFill>
                <a:latin typeface="黑体" panose="02010609060101010101" pitchFamily="49" charset="-122"/>
                <a:ea typeface="黑体" panose="02010609060101010101" pitchFamily="49" charset="-122"/>
              </a:rPr>
              <a:t>(conjugation)</a:t>
            </a:r>
            <a:r>
              <a:rPr lang="zh-CN" altLang="en-US" sz="3200" b="1" dirty="0">
                <a:solidFill>
                  <a:srgbClr val="0000FF"/>
                </a:solidFill>
                <a:latin typeface="黑体" panose="02010609060101010101" pitchFamily="49" charset="-122"/>
                <a:ea typeface="黑体" panose="02010609060101010101" pitchFamily="49" charset="-122"/>
              </a:rPr>
              <a:t>：</a:t>
            </a:r>
            <a:endParaRPr lang="zh-CN" altLang="en-US" sz="3200" b="1" dirty="0">
              <a:solidFill>
                <a:srgbClr val="0000FF"/>
              </a:solidFill>
              <a:latin typeface="黑体" panose="02010609060101010101" pitchFamily="49" charset="-122"/>
              <a:ea typeface="黑体" panose="02010609060101010101" pitchFamily="49" charset="-122"/>
            </a:endParaRPr>
          </a:p>
        </p:txBody>
      </p:sp>
      <p:pic>
        <p:nvPicPr>
          <p:cNvPr id="8" name="图片 7"/>
          <p:cNvPicPr>
            <a:picLocks noChangeAspect="1"/>
          </p:cNvPicPr>
          <p:nvPr/>
        </p:nvPicPr>
        <p:blipFill>
          <a:blip r:embed="rId1"/>
          <a:stretch>
            <a:fillRect/>
          </a:stretch>
        </p:blipFill>
        <p:spPr>
          <a:xfrm>
            <a:off x="7543661" y="1686842"/>
            <a:ext cx="4522215" cy="2796816"/>
          </a:xfrm>
          <a:prstGeom prst="rect">
            <a:avLst/>
          </a:prstGeom>
        </p:spPr>
      </p:pic>
      <p:sp>
        <p:nvSpPr>
          <p:cNvPr id="9" name="内容占位符 9"/>
          <p:cNvSpPr>
            <a:spLocks noGrp="1"/>
          </p:cNvSpPr>
          <p:nvPr>
            <p:ph sz="half" idx="1"/>
          </p:nvPr>
        </p:nvSpPr>
        <p:spPr>
          <a:xfrm>
            <a:off x="-1" y="1653693"/>
            <a:ext cx="7669785" cy="3766159"/>
          </a:xfrm>
        </p:spPr>
        <p:txBody>
          <a:bodyPr wrap="square">
            <a:spAutoFit/>
          </a:bodyPr>
          <a:lstStyle/>
          <a:p>
            <a:pPr marL="228600" lvl="1" indent="-457200">
              <a:buFont typeface="Wingdings" panose="05000000000000000000" pitchFamily="2" charset="2"/>
              <a:buChar char="Ø"/>
            </a:pPr>
            <a:r>
              <a:rPr lang="zh-CN" altLang="en-US" sz="3200" b="1" dirty="0">
                <a:latin typeface="黑体" panose="02010609060101010101" pitchFamily="49" charset="-122"/>
                <a:ea typeface="黑体" panose="02010609060101010101" pitchFamily="49" charset="-122"/>
              </a:rPr>
              <a:t>供体和受体间行为的不同，是由</a:t>
            </a:r>
            <a:r>
              <a:rPr lang="en-US" altLang="zh-CN" sz="3200" b="1" dirty="0">
                <a:solidFill>
                  <a:srgbClr val="FF0000"/>
                </a:solidFill>
                <a:latin typeface="黑体" panose="02010609060101010101" pitchFamily="49" charset="-122"/>
                <a:ea typeface="黑体" panose="02010609060101010101" pitchFamily="49" charset="-122"/>
              </a:rPr>
              <a:t>F</a:t>
            </a:r>
            <a:r>
              <a:rPr lang="zh-CN" altLang="en-US" sz="3200" b="1" dirty="0">
                <a:solidFill>
                  <a:srgbClr val="FF0000"/>
                </a:solidFill>
                <a:latin typeface="黑体" panose="02010609060101010101" pitchFamily="49" charset="-122"/>
                <a:ea typeface="黑体" panose="02010609060101010101" pitchFamily="49" charset="-122"/>
              </a:rPr>
              <a:t>因子</a:t>
            </a:r>
            <a:r>
              <a:rPr lang="zh-CN" altLang="en-US" sz="3200" b="1" dirty="0">
                <a:latin typeface="黑体" panose="02010609060101010101" pitchFamily="49" charset="-122"/>
                <a:ea typeface="黑体" panose="02010609060101010101" pitchFamily="49" charset="-122"/>
              </a:rPr>
              <a:t>（</a:t>
            </a:r>
            <a:r>
              <a:rPr lang="zh-CN" altLang="en-US" sz="3200" b="1" dirty="0">
                <a:solidFill>
                  <a:srgbClr val="FF0000"/>
                </a:solidFill>
                <a:latin typeface="黑体" panose="02010609060101010101" pitchFamily="49" charset="-122"/>
                <a:ea typeface="黑体" panose="02010609060101010101" pitchFamily="49" charset="-122"/>
              </a:rPr>
              <a:t>性因子、致育因子</a:t>
            </a:r>
            <a:r>
              <a:rPr lang="zh-CN" altLang="en-US" sz="3200" b="1" dirty="0">
                <a:latin typeface="黑体" panose="02010609060101010101" pitchFamily="49" charset="-122"/>
                <a:ea typeface="黑体" panose="02010609060101010101" pitchFamily="49" charset="-122"/>
              </a:rPr>
              <a:t>）引起的。它是能独立增殖的环状</a:t>
            </a:r>
            <a:r>
              <a:rPr lang="en-US" altLang="zh-CN" sz="3200" b="1" dirty="0">
                <a:latin typeface="黑体" panose="02010609060101010101" pitchFamily="49" charset="-122"/>
                <a:ea typeface="黑体" panose="02010609060101010101" pitchFamily="49" charset="-122"/>
              </a:rPr>
              <a:t>DNA</a:t>
            </a:r>
            <a:r>
              <a:rPr lang="zh-CN" altLang="en-US" sz="3200" b="1" dirty="0">
                <a:latin typeface="黑体" panose="02010609060101010101" pitchFamily="49" charset="-122"/>
                <a:ea typeface="黑体" panose="02010609060101010101" pitchFamily="49" charset="-122"/>
              </a:rPr>
              <a:t>分子。可以自主状态存在于</a:t>
            </a:r>
            <a:r>
              <a:rPr lang="zh-CN" altLang="en-US" sz="3200" b="1" dirty="0">
                <a:solidFill>
                  <a:srgbClr val="FF0000"/>
                </a:solidFill>
                <a:latin typeface="黑体" panose="02010609060101010101" pitchFamily="49" charset="-122"/>
                <a:ea typeface="黑体" panose="02010609060101010101" pitchFamily="49" charset="-122"/>
              </a:rPr>
              <a:t>细胞质中或整合到细菌的染色体</a:t>
            </a:r>
            <a:r>
              <a:rPr lang="zh-CN" altLang="en-US" sz="3200" b="1" dirty="0">
                <a:latin typeface="黑体" panose="02010609060101010101" pitchFamily="49" charset="-122"/>
                <a:ea typeface="黑体" panose="02010609060101010101" pitchFamily="49" charset="-122"/>
              </a:rPr>
              <a:t>上。</a:t>
            </a:r>
            <a:endParaRPr lang="en-US" altLang="zh-CN" sz="3200" b="1" dirty="0">
              <a:latin typeface="黑体" panose="02010609060101010101" pitchFamily="49" charset="-122"/>
              <a:ea typeface="黑体" panose="02010609060101010101" pitchFamily="49" charset="-122"/>
            </a:endParaRPr>
          </a:p>
          <a:p>
            <a:pPr marL="228600" lvl="1" indent="-457200">
              <a:buFont typeface="Wingdings" panose="05000000000000000000" pitchFamily="2" charset="2"/>
              <a:buChar char="Ø"/>
            </a:pPr>
            <a:r>
              <a:rPr lang="en-US" altLang="zh-CN" sz="3200" b="1" dirty="0">
                <a:latin typeface="黑体" panose="02010609060101010101" pitchFamily="49" charset="-122"/>
                <a:ea typeface="黑体" panose="02010609060101010101" pitchFamily="49" charset="-122"/>
              </a:rPr>
              <a:t>F</a:t>
            </a:r>
            <a:r>
              <a:rPr lang="zh-CN" altLang="en-US" sz="3200" b="1" dirty="0">
                <a:latin typeface="黑体" panose="02010609060101010101" pitchFamily="49" charset="-122"/>
                <a:ea typeface="黑体" panose="02010609060101010101" pitchFamily="49" charset="-122"/>
              </a:rPr>
              <a:t>因子可以在细菌细胞间进行转移并传递遗传物质。</a:t>
            </a:r>
            <a:endParaRPr lang="zh-CN" altLang="en-US" sz="3200" b="1" dirty="0">
              <a:latin typeface="黑体" panose="02010609060101010101" pitchFamily="49" charset="-122"/>
              <a:ea typeface="黑体" panose="02010609060101010101" pitchFamily="49" charset="-122"/>
            </a:endParaRPr>
          </a:p>
          <a:p>
            <a:pPr marL="228600" lvl="1" indent="-457200">
              <a:buFont typeface="Wingdings" panose="05000000000000000000" pitchFamily="2" charset="2"/>
              <a:buChar char="Ø"/>
            </a:pPr>
            <a:endParaRPr lang="en-US" altLang="zh-CN" sz="3200" b="1" dirty="0">
              <a:latin typeface="黑体" panose="02010609060101010101" pitchFamily="49" charset="-122"/>
              <a:ea typeface="黑体" panose="02010609060101010101" pitchFamily="49" charset="-122"/>
            </a:endParaRPr>
          </a:p>
        </p:txBody>
      </p:sp>
      <p:sp>
        <p:nvSpPr>
          <p:cNvPr id="5" name="矩形 4"/>
          <p:cNvSpPr/>
          <p:nvPr/>
        </p:nvSpPr>
        <p:spPr>
          <a:xfrm>
            <a:off x="7610733" y="4618623"/>
            <a:ext cx="4388069" cy="1569660"/>
          </a:xfrm>
          <a:prstGeom prst="rect">
            <a:avLst/>
          </a:prstGeom>
        </p:spPr>
        <p:txBody>
          <a:bodyPr wrap="square">
            <a:spAutoFit/>
          </a:bodyPr>
          <a:lstStyle/>
          <a:p>
            <a:r>
              <a:rPr lang="zh-CN" altLang="en-US" sz="2400" b="1" dirty="0">
                <a:solidFill>
                  <a:srgbClr val="FF0000"/>
                </a:solidFill>
                <a:latin typeface="Times New Roman" panose="02020603050405020304" pitchFamily="18" charset="0"/>
                <a:ea typeface="微软雅黑" panose="020B0503020204020204" charset="-122"/>
                <a:cs typeface="Times New Roman" panose="02020603050405020304" pitchFamily="18" charset="0"/>
              </a:rPr>
              <a:t>供体细胞含有 </a:t>
            </a:r>
            <a:r>
              <a:rPr lang="en-US" altLang="zh-CN" sz="2400" b="1" dirty="0">
                <a:solidFill>
                  <a:srgbClr val="FF0000"/>
                </a:solidFill>
                <a:latin typeface="Times New Roman" panose="02020603050405020304" pitchFamily="18" charset="0"/>
                <a:ea typeface="微软雅黑" panose="020B0503020204020204" charset="-122"/>
                <a:cs typeface="Times New Roman" panose="02020603050405020304" pitchFamily="18" charset="0"/>
              </a:rPr>
              <a:t>F </a:t>
            </a:r>
            <a:r>
              <a:rPr lang="zh-CN" altLang="en-US" sz="2400" b="1" dirty="0">
                <a:solidFill>
                  <a:srgbClr val="FF0000"/>
                </a:solidFill>
                <a:latin typeface="Times New Roman" panose="02020603050405020304" pitchFamily="18" charset="0"/>
                <a:ea typeface="微软雅黑" panose="020B0503020204020204" charset="-122"/>
                <a:cs typeface="Times New Roman" panose="02020603050405020304" pitchFamily="18" charset="0"/>
              </a:rPr>
              <a:t>因子，记作 </a:t>
            </a:r>
            <a:r>
              <a:rPr lang="en-US" altLang="zh-CN" sz="2400" b="1" dirty="0">
                <a:solidFill>
                  <a:srgbClr val="FF0000"/>
                </a:solidFill>
                <a:latin typeface="Times New Roman" panose="02020603050405020304" pitchFamily="18" charset="0"/>
                <a:ea typeface="微软雅黑" panose="020B0503020204020204" charset="-122"/>
                <a:cs typeface="Times New Roman" panose="02020603050405020304" pitchFamily="18" charset="0"/>
              </a:rPr>
              <a:t>F</a:t>
            </a:r>
            <a:r>
              <a:rPr lang="en-US" altLang="zh-CN" sz="2400" b="1" baseline="30000" dirty="0">
                <a:solidFill>
                  <a:srgbClr val="FF0000"/>
                </a:solidFill>
                <a:latin typeface="Times New Roman" panose="02020603050405020304" pitchFamily="18" charset="0"/>
                <a:ea typeface="微软雅黑" panose="020B0503020204020204" charset="-122"/>
                <a:cs typeface="Times New Roman" panose="02020603050405020304" pitchFamily="18" charset="0"/>
              </a:rPr>
              <a:t>+</a:t>
            </a:r>
            <a:r>
              <a:rPr lang="en-US" altLang="zh-CN" sz="2400" b="1" dirty="0">
                <a:latin typeface="Times New Roman" panose="02020603050405020304" pitchFamily="18" charset="0"/>
                <a:ea typeface="微软雅黑" panose="020B0503020204020204" charset="-122"/>
                <a:cs typeface="Times New Roman" panose="02020603050405020304" pitchFamily="18" charset="0"/>
              </a:rPr>
              <a:t> </a:t>
            </a:r>
            <a:r>
              <a:rPr lang="zh-CN" altLang="en-US" sz="2400" b="1" dirty="0">
                <a:latin typeface="Times New Roman" panose="02020603050405020304" pitchFamily="18" charset="0"/>
                <a:ea typeface="微软雅黑" panose="020B0503020204020204" charset="-122"/>
                <a:cs typeface="Times New Roman" panose="02020603050405020304" pitchFamily="18" charset="0"/>
              </a:rPr>
              <a:t>。</a:t>
            </a:r>
            <a:r>
              <a:rPr lang="en-US" altLang="zh-CN" sz="2400" b="1" dirty="0">
                <a:latin typeface="Times New Roman" panose="02020603050405020304" pitchFamily="18" charset="0"/>
                <a:ea typeface="微软雅黑" panose="020B0503020204020204" charset="-122"/>
                <a:cs typeface="Times New Roman" panose="02020603050405020304" pitchFamily="18" charset="0"/>
              </a:rPr>
              <a:t> F</a:t>
            </a:r>
            <a:r>
              <a:rPr lang="en-US" altLang="zh-CN" sz="2400" b="1" baseline="30000" dirty="0">
                <a:latin typeface="Times New Roman" panose="02020603050405020304" pitchFamily="18" charset="0"/>
                <a:ea typeface="微软雅黑" panose="020B0503020204020204" charset="-122"/>
                <a:cs typeface="Times New Roman" panose="02020603050405020304" pitchFamily="18" charset="0"/>
              </a:rPr>
              <a:t>+</a:t>
            </a:r>
            <a:r>
              <a:rPr lang="en-US" altLang="zh-CN" sz="2400" b="1" dirty="0">
                <a:latin typeface="Times New Roman" panose="02020603050405020304" pitchFamily="18" charset="0"/>
                <a:ea typeface="微软雅黑" panose="020B0503020204020204" charset="-122"/>
                <a:cs typeface="Times New Roman" panose="02020603050405020304" pitchFamily="18" charset="0"/>
              </a:rPr>
              <a:t> </a:t>
            </a:r>
            <a:r>
              <a:rPr lang="zh-CN" altLang="en-US" sz="2400" b="1" dirty="0">
                <a:latin typeface="Times New Roman" panose="02020603050405020304" pitchFamily="18" charset="0"/>
                <a:ea typeface="微软雅黑" panose="020B0503020204020204" charset="-122"/>
                <a:cs typeface="Times New Roman" panose="02020603050405020304" pitchFamily="18" charset="0"/>
              </a:rPr>
              <a:t>细菌的表面有称作性伞毛的细长纤毛，由此与 </a:t>
            </a:r>
            <a:r>
              <a:rPr lang="en-US" altLang="zh-CN" sz="2400" b="1" dirty="0">
                <a:latin typeface="Times New Roman" panose="02020603050405020304" pitchFamily="18" charset="0"/>
                <a:ea typeface="微软雅黑" panose="020B0503020204020204" charset="-122"/>
                <a:cs typeface="Times New Roman" panose="02020603050405020304" pitchFamily="18" charset="0"/>
              </a:rPr>
              <a:t>F</a:t>
            </a:r>
            <a:r>
              <a:rPr lang="en-US" altLang="zh-CN" sz="2400" b="1" baseline="30000" dirty="0">
                <a:latin typeface="Times New Roman" panose="02020603050405020304" pitchFamily="18" charset="0"/>
                <a:ea typeface="微软雅黑" panose="020B0503020204020204" charset="-122"/>
                <a:cs typeface="Times New Roman" panose="02020603050405020304" pitchFamily="18" charset="0"/>
              </a:rPr>
              <a:t>−</a:t>
            </a:r>
            <a:r>
              <a:rPr lang="en-US" altLang="zh-CN" sz="2400" b="1" dirty="0">
                <a:latin typeface="Times New Roman" panose="02020603050405020304" pitchFamily="18" charset="0"/>
                <a:ea typeface="微软雅黑" panose="020B0503020204020204" charset="-122"/>
                <a:cs typeface="Times New Roman" panose="02020603050405020304" pitchFamily="18" charset="0"/>
              </a:rPr>
              <a:t> </a:t>
            </a:r>
            <a:r>
              <a:rPr lang="zh-CN" altLang="en-US" sz="2400" b="1" dirty="0">
                <a:latin typeface="Times New Roman" panose="02020603050405020304" pitchFamily="18" charset="0"/>
                <a:ea typeface="微软雅黑" panose="020B0503020204020204" charset="-122"/>
                <a:cs typeface="Times New Roman" panose="02020603050405020304" pitchFamily="18" charset="0"/>
              </a:rPr>
              <a:t>细菌接合。接合仅发生在 </a:t>
            </a:r>
            <a:r>
              <a:rPr lang="en-US" altLang="zh-CN" sz="2400" b="1" dirty="0">
                <a:latin typeface="Times New Roman" panose="02020603050405020304" pitchFamily="18" charset="0"/>
                <a:ea typeface="微软雅黑" panose="020B0503020204020204" charset="-122"/>
                <a:cs typeface="Times New Roman" panose="02020603050405020304" pitchFamily="18" charset="0"/>
              </a:rPr>
              <a:t>F</a:t>
            </a:r>
            <a:r>
              <a:rPr lang="en-US" altLang="zh-CN" sz="2400" b="1" baseline="30000" dirty="0">
                <a:latin typeface="Times New Roman" panose="02020603050405020304" pitchFamily="18" charset="0"/>
                <a:ea typeface="微软雅黑" panose="020B0503020204020204" charset="-122"/>
                <a:cs typeface="Times New Roman" panose="02020603050405020304" pitchFamily="18" charset="0"/>
              </a:rPr>
              <a:t>+</a:t>
            </a:r>
            <a:r>
              <a:rPr lang="en-US" altLang="zh-CN" sz="2400" b="1" dirty="0">
                <a:latin typeface="Times New Roman" panose="02020603050405020304" pitchFamily="18" charset="0"/>
                <a:ea typeface="微软雅黑" panose="020B0503020204020204" charset="-122"/>
                <a:cs typeface="Times New Roman" panose="02020603050405020304" pitchFamily="18" charset="0"/>
              </a:rPr>
              <a:t> </a:t>
            </a:r>
            <a:r>
              <a:rPr lang="zh-CN" altLang="en-US" sz="2400" b="1" dirty="0">
                <a:latin typeface="Times New Roman" panose="02020603050405020304" pitchFamily="18" charset="0"/>
                <a:ea typeface="微软雅黑" panose="020B0503020204020204" charset="-122"/>
                <a:cs typeface="Times New Roman" panose="02020603050405020304" pitchFamily="18" charset="0"/>
              </a:rPr>
              <a:t>与 </a:t>
            </a:r>
            <a:r>
              <a:rPr lang="en-US" altLang="zh-CN" sz="2400" b="1" dirty="0">
                <a:latin typeface="Times New Roman" panose="02020603050405020304" pitchFamily="18" charset="0"/>
                <a:ea typeface="微软雅黑" panose="020B0503020204020204" charset="-122"/>
                <a:cs typeface="Times New Roman" panose="02020603050405020304" pitchFamily="18" charset="0"/>
              </a:rPr>
              <a:t>F</a:t>
            </a:r>
            <a:r>
              <a:rPr lang="en-US" altLang="zh-CN" sz="2400" b="1" baseline="30000" dirty="0">
                <a:latin typeface="Times New Roman" panose="02020603050405020304" pitchFamily="18" charset="0"/>
                <a:ea typeface="微软雅黑" panose="020B0503020204020204" charset="-122"/>
                <a:cs typeface="Times New Roman" panose="02020603050405020304" pitchFamily="18" charset="0"/>
              </a:rPr>
              <a:t>−</a:t>
            </a:r>
            <a:r>
              <a:rPr lang="en-US" altLang="zh-CN" sz="2400" b="1" dirty="0">
                <a:latin typeface="Times New Roman" panose="02020603050405020304" pitchFamily="18" charset="0"/>
                <a:ea typeface="微软雅黑" panose="020B0503020204020204" charset="-122"/>
                <a:cs typeface="Times New Roman" panose="02020603050405020304" pitchFamily="18" charset="0"/>
              </a:rPr>
              <a:t> </a:t>
            </a:r>
            <a:r>
              <a:rPr lang="zh-CN" altLang="en-US" sz="2400" b="1" dirty="0">
                <a:latin typeface="Times New Roman" panose="02020603050405020304" pitchFamily="18" charset="0"/>
                <a:ea typeface="微软雅黑" panose="020B0503020204020204" charset="-122"/>
                <a:cs typeface="Times New Roman" panose="02020603050405020304" pitchFamily="18" charset="0"/>
              </a:rPr>
              <a:t>之间。</a:t>
            </a:r>
            <a:endParaRPr lang="zh-CN" altLang="en-US" sz="2400" b="1" dirty="0"/>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fade">
                                      <p:cBhvr>
                                        <p:cTn id="10" dur="500"/>
                                        <p:tgtEl>
                                          <p:spTgt spid="9">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3" name="Rectangle 3"/>
          <p:cNvSpPr>
            <a:spLocks noGrp="1" noChangeArrowheads="1"/>
          </p:cNvSpPr>
          <p:nvPr>
            <p:ph type="body" idx="1"/>
          </p:nvPr>
        </p:nvSpPr>
        <p:spPr>
          <a:xfrm>
            <a:off x="189186" y="387136"/>
            <a:ext cx="6306207" cy="6029430"/>
          </a:xfrm>
        </p:spPr>
        <p:txBody>
          <a:bodyPr>
            <a:noAutofit/>
          </a:bodyPr>
          <a:lstStyle/>
          <a:p>
            <a:pPr marL="0" indent="0">
              <a:lnSpc>
                <a:spcPct val="120000"/>
              </a:lnSpc>
              <a:buNone/>
            </a:pPr>
            <a:r>
              <a:rPr lang="zh-CN" altLang="en-US" sz="3200" b="1" dirty="0">
                <a:solidFill>
                  <a:srgbClr val="FF0000"/>
                </a:solidFill>
                <a:latin typeface="黑体" panose="02010609060101010101" pitchFamily="49" charset="-122"/>
                <a:ea typeface="黑体" panose="02010609060101010101" pitchFamily="49" charset="-122"/>
              </a:rPr>
              <a:t>当</a:t>
            </a:r>
            <a:r>
              <a:rPr lang="en-US" altLang="zh-CN" sz="3200" b="1" dirty="0">
                <a:solidFill>
                  <a:srgbClr val="FF0000"/>
                </a:solidFill>
                <a:latin typeface="黑体" panose="02010609060101010101" pitchFamily="49" charset="-122"/>
                <a:ea typeface="黑体" panose="02010609060101010101" pitchFamily="49" charset="-122"/>
              </a:rPr>
              <a:t>F</a:t>
            </a:r>
            <a:r>
              <a:rPr lang="en-US" altLang="zh-CN" sz="3200" b="1" baseline="30000" dirty="0">
                <a:solidFill>
                  <a:srgbClr val="FF0000"/>
                </a:solidFill>
                <a:latin typeface="黑体" panose="02010609060101010101" pitchFamily="49" charset="-122"/>
                <a:ea typeface="黑体" panose="02010609060101010101" pitchFamily="49" charset="-122"/>
              </a:rPr>
              <a:t>+</a:t>
            </a:r>
            <a:r>
              <a:rPr lang="zh-CN" altLang="en-US" sz="3200" b="1" dirty="0">
                <a:solidFill>
                  <a:srgbClr val="FF0000"/>
                </a:solidFill>
                <a:latin typeface="黑体" panose="02010609060101010101" pitchFamily="49" charset="-122"/>
                <a:ea typeface="黑体" panose="02010609060101010101" pitchFamily="49" charset="-122"/>
              </a:rPr>
              <a:t>细菌和</a:t>
            </a:r>
            <a:r>
              <a:rPr lang="en-US" altLang="zh-CN" sz="3200" b="1" dirty="0">
                <a:solidFill>
                  <a:srgbClr val="FF0000"/>
                </a:solidFill>
                <a:latin typeface="黑体" panose="02010609060101010101" pitchFamily="49" charset="-122"/>
                <a:ea typeface="黑体" panose="02010609060101010101" pitchFamily="49" charset="-122"/>
              </a:rPr>
              <a:t>F</a:t>
            </a:r>
            <a:r>
              <a:rPr lang="en-US" altLang="zh-CN" sz="3200" b="1" baseline="30000" dirty="0">
                <a:solidFill>
                  <a:srgbClr val="FF0000"/>
                </a:solidFill>
                <a:latin typeface="黑体" panose="02010609060101010101" pitchFamily="49" charset="-122"/>
                <a:ea typeface="黑体" panose="02010609060101010101" pitchFamily="49" charset="-122"/>
              </a:rPr>
              <a:t>-</a:t>
            </a:r>
            <a:r>
              <a:rPr lang="zh-CN" altLang="en-US" sz="3200" b="1" dirty="0">
                <a:solidFill>
                  <a:srgbClr val="FF0000"/>
                </a:solidFill>
                <a:latin typeface="黑体" panose="02010609060101010101" pitchFamily="49" charset="-122"/>
                <a:ea typeface="黑体" panose="02010609060101010101" pitchFamily="49" charset="-122"/>
              </a:rPr>
              <a:t>细菌接合时 </a:t>
            </a:r>
            <a:r>
              <a:rPr lang="en-US" altLang="zh-CN" sz="3200" b="1" dirty="0">
                <a:latin typeface="黑体" panose="02010609060101010101" pitchFamily="49" charset="-122"/>
                <a:ea typeface="黑体" panose="02010609060101010101" pitchFamily="49" charset="-122"/>
              </a:rPr>
              <a:t>(F</a:t>
            </a:r>
            <a:r>
              <a:rPr lang="en-US" altLang="zh-CN" sz="3200" b="1" baseline="30000" dirty="0">
                <a:latin typeface="黑体" panose="02010609060101010101" pitchFamily="49" charset="-122"/>
                <a:ea typeface="黑体" panose="02010609060101010101" pitchFamily="49" charset="-122"/>
              </a:rPr>
              <a:t>+</a:t>
            </a:r>
            <a:r>
              <a:rPr lang="en-US" altLang="zh-CN" sz="3200" b="1" dirty="0">
                <a:latin typeface="黑体" panose="02010609060101010101" pitchFamily="49" charset="-122"/>
                <a:ea typeface="黑体" panose="02010609060101010101" pitchFamily="49" charset="-122"/>
              </a:rPr>
              <a:t>×F</a:t>
            </a:r>
            <a:r>
              <a:rPr lang="en-US" altLang="zh-CN" sz="3200" b="1" baseline="30000" dirty="0">
                <a:latin typeface="黑体" panose="02010609060101010101" pitchFamily="49" charset="-122"/>
                <a:ea typeface="黑体" panose="02010609060101010101" pitchFamily="49" charset="-122"/>
              </a:rPr>
              <a:t>-</a:t>
            </a:r>
            <a:r>
              <a:rPr lang="en-US" altLang="zh-CN" sz="3200" b="1" dirty="0">
                <a:latin typeface="黑体" panose="02010609060101010101" pitchFamily="49" charset="-122"/>
                <a:ea typeface="黑体" panose="02010609060101010101" pitchFamily="49" charset="-122"/>
              </a:rPr>
              <a:t>)</a:t>
            </a:r>
            <a:r>
              <a:rPr lang="zh-CN" altLang="en-US" sz="3200" b="1" dirty="0">
                <a:latin typeface="黑体" panose="02010609060101010101" pitchFamily="49" charset="-122"/>
                <a:ea typeface="黑体" panose="02010609060101010101" pitchFamily="49" charset="-122"/>
              </a:rPr>
              <a:t>，</a:t>
            </a:r>
            <a:r>
              <a:rPr lang="en-US" altLang="zh-CN" sz="3200" b="1" dirty="0">
                <a:solidFill>
                  <a:srgbClr val="0000FF"/>
                </a:solidFill>
                <a:latin typeface="黑体" panose="02010609060101010101" pitchFamily="49" charset="-122"/>
                <a:ea typeface="黑体" panose="02010609060101010101" pitchFamily="49" charset="-122"/>
              </a:rPr>
              <a:t>F</a:t>
            </a:r>
            <a:r>
              <a:rPr lang="zh-CN" altLang="en-US" sz="3200" b="1" dirty="0">
                <a:solidFill>
                  <a:srgbClr val="0000FF"/>
                </a:solidFill>
                <a:latin typeface="黑体" panose="02010609060101010101" pitchFamily="49" charset="-122"/>
                <a:ea typeface="黑体" panose="02010609060101010101" pitchFamily="49" charset="-122"/>
              </a:rPr>
              <a:t>因子</a:t>
            </a:r>
            <a:r>
              <a:rPr lang="zh-CN" altLang="en-US" sz="3200" b="1" dirty="0">
                <a:latin typeface="黑体" panose="02010609060101010101" pitchFamily="49" charset="-122"/>
                <a:ea typeface="黑体" panose="02010609060101010101" pitchFamily="49" charset="-122"/>
              </a:rPr>
              <a:t>的新拷贝能在接合过程中</a:t>
            </a:r>
            <a:r>
              <a:rPr lang="zh-CN" altLang="en-US" sz="3200" b="1" dirty="0">
                <a:solidFill>
                  <a:srgbClr val="0000FF"/>
                </a:solidFill>
                <a:latin typeface="黑体" panose="02010609060101010101" pitchFamily="49" charset="-122"/>
                <a:ea typeface="黑体" panose="02010609060101010101" pitchFamily="49" charset="-122"/>
              </a:rPr>
              <a:t>转移到</a:t>
            </a:r>
            <a:r>
              <a:rPr lang="en-US" altLang="zh-CN" sz="3200" b="1" dirty="0">
                <a:solidFill>
                  <a:srgbClr val="0000FF"/>
                </a:solidFill>
                <a:latin typeface="黑体" panose="02010609060101010101" pitchFamily="49" charset="-122"/>
                <a:ea typeface="黑体" panose="02010609060101010101" pitchFamily="49" charset="-122"/>
              </a:rPr>
              <a:t>F</a:t>
            </a:r>
            <a:r>
              <a:rPr lang="en-US" altLang="zh-CN" sz="3200" b="1" baseline="30000" dirty="0">
                <a:solidFill>
                  <a:srgbClr val="0000FF"/>
                </a:solidFill>
                <a:latin typeface="黑体" panose="02010609060101010101" pitchFamily="49" charset="-122"/>
                <a:ea typeface="黑体" panose="02010609060101010101" pitchFamily="49" charset="-122"/>
              </a:rPr>
              <a:t>-</a:t>
            </a:r>
            <a:r>
              <a:rPr lang="zh-CN" altLang="en-US" sz="3200" b="1" dirty="0">
                <a:solidFill>
                  <a:srgbClr val="0000FF"/>
                </a:solidFill>
                <a:latin typeface="黑体" panose="02010609060101010101" pitchFamily="49" charset="-122"/>
                <a:ea typeface="黑体" panose="02010609060101010101" pitchFamily="49" charset="-122"/>
              </a:rPr>
              <a:t>细胞中去，使</a:t>
            </a:r>
            <a:r>
              <a:rPr lang="en-US" altLang="zh-CN" sz="3200" b="1" dirty="0">
                <a:solidFill>
                  <a:srgbClr val="0000FF"/>
                </a:solidFill>
                <a:latin typeface="黑体" panose="02010609060101010101" pitchFamily="49" charset="-122"/>
                <a:ea typeface="黑体" panose="02010609060101010101" pitchFamily="49" charset="-122"/>
              </a:rPr>
              <a:t>F</a:t>
            </a:r>
            <a:r>
              <a:rPr lang="en-US" altLang="zh-CN" sz="3200" b="1" baseline="30000" dirty="0">
                <a:solidFill>
                  <a:srgbClr val="0000FF"/>
                </a:solidFill>
                <a:latin typeface="黑体" panose="02010609060101010101" pitchFamily="49" charset="-122"/>
                <a:ea typeface="黑体" panose="02010609060101010101" pitchFamily="49" charset="-122"/>
              </a:rPr>
              <a:t>-</a:t>
            </a:r>
            <a:r>
              <a:rPr lang="zh-CN" altLang="en-US" sz="3200" b="1" dirty="0">
                <a:solidFill>
                  <a:srgbClr val="0000FF"/>
                </a:solidFill>
                <a:latin typeface="黑体" panose="02010609060101010101" pitchFamily="49" charset="-122"/>
                <a:ea typeface="黑体" panose="02010609060101010101" pitchFamily="49" charset="-122"/>
              </a:rPr>
              <a:t>细胞转变成</a:t>
            </a:r>
            <a:r>
              <a:rPr lang="en-US" altLang="zh-CN" sz="3200" b="1" dirty="0">
                <a:solidFill>
                  <a:srgbClr val="0000FF"/>
                </a:solidFill>
                <a:latin typeface="黑体" panose="02010609060101010101" pitchFamily="49" charset="-122"/>
                <a:ea typeface="黑体" panose="02010609060101010101" pitchFamily="49" charset="-122"/>
              </a:rPr>
              <a:t>F</a:t>
            </a:r>
            <a:r>
              <a:rPr lang="en-US" altLang="zh-CN" sz="3200" b="1" baseline="30000" dirty="0">
                <a:solidFill>
                  <a:srgbClr val="0000FF"/>
                </a:solidFill>
                <a:latin typeface="黑体" panose="02010609060101010101" pitchFamily="49" charset="-122"/>
                <a:ea typeface="黑体" panose="02010609060101010101" pitchFamily="49" charset="-122"/>
              </a:rPr>
              <a:t>+</a:t>
            </a:r>
            <a:r>
              <a:rPr lang="zh-CN" altLang="en-US" sz="3200" b="1" dirty="0">
                <a:solidFill>
                  <a:srgbClr val="0000FF"/>
                </a:solidFill>
                <a:latin typeface="黑体" panose="02010609060101010101" pitchFamily="49" charset="-122"/>
                <a:ea typeface="黑体" panose="02010609060101010101" pitchFamily="49" charset="-122"/>
              </a:rPr>
              <a:t>细胞</a:t>
            </a:r>
            <a:r>
              <a:rPr lang="zh-CN" altLang="en-US" sz="3200" b="1" dirty="0">
                <a:latin typeface="黑体" panose="02010609060101010101" pitchFamily="49" charset="-122"/>
                <a:ea typeface="黑体" panose="02010609060101010101" pitchFamily="49" charset="-122"/>
              </a:rPr>
              <a:t>，在接合管形成后，</a:t>
            </a:r>
            <a:r>
              <a:rPr lang="en-US" altLang="zh-CN" sz="3200" b="1" dirty="0">
                <a:latin typeface="黑体" panose="02010609060101010101" pitchFamily="49" charset="-122"/>
                <a:ea typeface="黑体" panose="02010609060101010101" pitchFamily="49" charset="-122"/>
              </a:rPr>
              <a:t>F</a:t>
            </a:r>
            <a:r>
              <a:rPr lang="zh-CN" altLang="en-US" sz="3200" b="1" dirty="0">
                <a:latin typeface="黑体" panose="02010609060101010101" pitchFamily="49" charset="-122"/>
                <a:ea typeface="黑体" panose="02010609060101010101" pitchFamily="49" charset="-122"/>
                <a:sym typeface="+mn-ea"/>
              </a:rPr>
              <a:t>因子</a:t>
            </a:r>
            <a:r>
              <a:rPr lang="en-US" altLang="zh-CN" sz="3200" b="1" dirty="0">
                <a:latin typeface="黑体" panose="02010609060101010101" pitchFamily="49" charset="-122"/>
                <a:ea typeface="黑体" panose="02010609060101010101" pitchFamily="49" charset="-122"/>
              </a:rPr>
              <a:t>DNA</a:t>
            </a:r>
            <a:r>
              <a:rPr lang="zh-CN" altLang="en-US" sz="3200" b="1" dirty="0">
                <a:latin typeface="黑体" panose="02010609060101010101" pitchFamily="49" charset="-122"/>
                <a:ea typeface="黑体" panose="02010609060101010101" pitchFamily="49" charset="-122"/>
              </a:rPr>
              <a:t>双链之一被切断，从断端转移到</a:t>
            </a:r>
            <a:r>
              <a:rPr lang="en-US" altLang="zh-CN" sz="3200" b="1" dirty="0">
                <a:latin typeface="黑体" panose="02010609060101010101" pitchFamily="49" charset="-122"/>
                <a:ea typeface="黑体" panose="02010609060101010101" pitchFamily="49" charset="-122"/>
              </a:rPr>
              <a:t>F</a:t>
            </a:r>
            <a:r>
              <a:rPr lang="en-US" altLang="zh-CN" sz="3200" b="1" baseline="30000" dirty="0">
                <a:uFillTx/>
                <a:latin typeface="黑体" panose="02010609060101010101" pitchFamily="49" charset="-122"/>
                <a:ea typeface="黑体" panose="02010609060101010101" pitchFamily="49" charset="-122"/>
              </a:rPr>
              <a:t>-</a:t>
            </a:r>
            <a:r>
              <a:rPr lang="zh-CN" altLang="en-US" sz="3200" b="1" dirty="0">
                <a:latin typeface="黑体" panose="02010609060101010101" pitchFamily="49" charset="-122"/>
                <a:ea typeface="黑体" panose="02010609060101010101" pitchFamily="49" charset="-122"/>
              </a:rPr>
              <a:t>细胞，在那里发生</a:t>
            </a:r>
            <a:r>
              <a:rPr lang="en-US" altLang="zh-CN" sz="3200" b="1" dirty="0">
                <a:latin typeface="黑体" panose="02010609060101010101" pitchFamily="49" charset="-122"/>
                <a:ea typeface="黑体" panose="02010609060101010101" pitchFamily="49" charset="-122"/>
              </a:rPr>
              <a:t>DNA</a:t>
            </a:r>
            <a:r>
              <a:rPr lang="zh-CN" altLang="en-US" sz="3200" b="1" dirty="0">
                <a:latin typeface="黑体" panose="02010609060101010101" pitchFamily="49" charset="-122"/>
                <a:ea typeface="黑体" panose="02010609060101010101" pitchFamily="49" charset="-122"/>
              </a:rPr>
              <a:t>复制。当</a:t>
            </a:r>
            <a:r>
              <a:rPr lang="en-US" altLang="zh-CN" sz="3200" b="1" dirty="0">
                <a:latin typeface="黑体" panose="02010609060101010101" pitchFamily="49" charset="-122"/>
                <a:ea typeface="黑体" panose="02010609060101010101" pitchFamily="49" charset="-122"/>
              </a:rPr>
              <a:t>F</a:t>
            </a:r>
            <a:r>
              <a:rPr lang="zh-CN" altLang="en-US" sz="3200" b="1" dirty="0">
                <a:latin typeface="黑体" panose="02010609060101010101" pitchFamily="49" charset="-122"/>
                <a:ea typeface="黑体" panose="02010609060101010101" pitchFamily="49" charset="-122"/>
              </a:rPr>
              <a:t>因子复制完成后，</a:t>
            </a:r>
            <a:r>
              <a:rPr lang="en-US" altLang="zh-CN" sz="3200" b="1" dirty="0">
                <a:latin typeface="黑体" panose="02010609060101010101" pitchFamily="49" charset="-122"/>
                <a:ea typeface="黑体" panose="02010609060101010101" pitchFamily="49" charset="-122"/>
              </a:rPr>
              <a:t>F</a:t>
            </a:r>
            <a:r>
              <a:rPr lang="en-US" altLang="zh-CN" sz="3200" b="1" baseline="30000" dirty="0">
                <a:latin typeface="黑体" panose="02010609060101010101" pitchFamily="49" charset="-122"/>
                <a:ea typeface="黑体" panose="02010609060101010101" pitchFamily="49" charset="-122"/>
              </a:rPr>
              <a:t>-</a:t>
            </a:r>
            <a:r>
              <a:rPr lang="zh-CN" altLang="en-US" sz="3200" b="1" dirty="0">
                <a:latin typeface="黑体" panose="02010609060101010101" pitchFamily="49" charset="-122"/>
                <a:ea typeface="黑体" panose="02010609060101010101" pitchFamily="49" charset="-122"/>
              </a:rPr>
              <a:t>变成</a:t>
            </a:r>
            <a:r>
              <a:rPr lang="en-US" altLang="zh-CN" sz="3200" b="1" dirty="0">
                <a:latin typeface="黑体" panose="02010609060101010101" pitchFamily="49" charset="-122"/>
                <a:ea typeface="黑体" panose="02010609060101010101" pitchFamily="49" charset="-122"/>
              </a:rPr>
              <a:t>F</a:t>
            </a:r>
            <a:r>
              <a:rPr lang="en-US" altLang="zh-CN" sz="3200" b="1" baseline="30000" dirty="0">
                <a:latin typeface="黑体" panose="02010609060101010101" pitchFamily="49" charset="-122"/>
                <a:ea typeface="黑体" panose="02010609060101010101" pitchFamily="49" charset="-122"/>
              </a:rPr>
              <a:t>+</a:t>
            </a:r>
            <a:r>
              <a:rPr lang="en-US" altLang="zh-CN" sz="3200" b="1" dirty="0">
                <a:latin typeface="黑体" panose="02010609060101010101" pitchFamily="49" charset="-122"/>
                <a:ea typeface="黑体" panose="02010609060101010101" pitchFamily="49" charset="-122"/>
              </a:rPr>
              <a:t> </a:t>
            </a:r>
            <a:r>
              <a:rPr lang="zh-CN" altLang="en-US" sz="3200" b="1" dirty="0">
                <a:latin typeface="黑体" panose="02010609060101010101" pitchFamily="49" charset="-122"/>
                <a:ea typeface="黑体" panose="02010609060101010101" pitchFamily="49" charset="-122"/>
              </a:rPr>
              <a:t>。 </a:t>
            </a:r>
            <a:endParaRPr lang="zh-CN" altLang="en-US" sz="3200" b="1" dirty="0">
              <a:latin typeface="黑体" panose="02010609060101010101" pitchFamily="49" charset="-122"/>
              <a:ea typeface="黑体" panose="02010609060101010101" pitchFamily="49" charset="-122"/>
            </a:endParaRPr>
          </a:p>
        </p:txBody>
      </p:sp>
      <p:pic>
        <p:nvPicPr>
          <p:cNvPr id="7" name="Picture 7" descr="00-10-11"/>
          <p:cNvPicPr>
            <a:picLocks noChangeAspect="1" noChangeArrowheads="1"/>
          </p:cNvPicPr>
          <p:nvPr/>
        </p:nvPicPr>
        <p:blipFill rotWithShape="1">
          <a:blip r:embed="rId1">
            <a:extLst>
              <a:ext uri="{28A0092B-C50C-407E-A947-70E740481C1C}">
                <a14:useLocalDpi xmlns:a14="http://schemas.microsoft.com/office/drawing/2010/main" val="0"/>
              </a:ext>
            </a:extLst>
          </a:blip>
          <a:srcRect b="5780"/>
          <a:stretch>
            <a:fillRect/>
          </a:stretch>
        </p:blipFill>
        <p:spPr>
          <a:xfrm>
            <a:off x="6321973" y="39413"/>
            <a:ext cx="5870028" cy="675889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2548" y="18256"/>
            <a:ext cx="10515600" cy="662782"/>
          </a:xfrm>
        </p:spPr>
        <p:txBody>
          <a:bodyPr vert="horz" lIns="91440" tIns="45720" rIns="91440" bIns="45720" rtlCol="0" anchor="ctr">
            <a:normAutofit/>
          </a:bodyPr>
          <a:lstStyle/>
          <a:p>
            <a:r>
              <a:rPr lang="zh-CN" altLang="en-US" sz="3200" b="1" dirty="0">
                <a:solidFill>
                  <a:srgbClr val="0000FF"/>
                </a:solidFill>
                <a:latin typeface="黑体" panose="02010609060101010101" pitchFamily="49" charset="-122"/>
                <a:ea typeface="黑体" panose="02010609060101010101" pitchFamily="49" charset="-122"/>
              </a:rPr>
              <a:t>（三）高频重组与中断杂交技术</a:t>
            </a:r>
            <a:endParaRPr lang="zh-CN" altLang="en-US" sz="3200" b="1" dirty="0">
              <a:solidFill>
                <a:srgbClr val="0000FF"/>
              </a:solidFill>
              <a:latin typeface="黑体" panose="02010609060101010101" pitchFamily="49" charset="-122"/>
              <a:ea typeface="黑体" panose="02010609060101010101" pitchFamily="49" charset="-122"/>
            </a:endParaRPr>
          </a:p>
        </p:txBody>
      </p:sp>
      <p:sp>
        <p:nvSpPr>
          <p:cNvPr id="3" name="内容占位符 2"/>
          <p:cNvSpPr>
            <a:spLocks noGrp="1"/>
          </p:cNvSpPr>
          <p:nvPr>
            <p:ph sz="half" idx="1"/>
          </p:nvPr>
        </p:nvSpPr>
        <p:spPr>
          <a:xfrm>
            <a:off x="122548" y="834408"/>
            <a:ext cx="9785127" cy="3256915"/>
          </a:xfrm>
        </p:spPr>
        <p:txBody>
          <a:bodyPr vert="horz" wrap="square" lIns="91440" tIns="45720" rIns="91440" bIns="45720" rtlCol="0">
            <a:spAutoFit/>
          </a:bodyPr>
          <a:lstStyle/>
          <a:p>
            <a:pPr marL="228600" lvl="1" indent="-457200">
              <a:buFont typeface="Wingdings" panose="05000000000000000000" pitchFamily="2" charset="2"/>
              <a:buChar char="Ø"/>
            </a:pPr>
            <a:r>
              <a:rPr lang="zh-CN" altLang="en-US" sz="3200" b="1" i="1" u="sng" dirty="0">
                <a:latin typeface="黑体" panose="02010609060101010101" pitchFamily="49" charset="-122"/>
                <a:ea typeface="黑体" panose="02010609060101010101" pitchFamily="49" charset="-122"/>
                <a:cs typeface="+mn-cs"/>
              </a:rPr>
              <a:t>卡瓦利</a:t>
            </a:r>
            <a:r>
              <a:rPr lang="en-US" altLang="zh-CN" sz="3200" b="1" i="1" u="sng" dirty="0">
                <a:latin typeface="黑体" panose="02010609060101010101" pitchFamily="49" charset="-122"/>
                <a:ea typeface="黑体" panose="02010609060101010101" pitchFamily="49" charset="-122"/>
                <a:cs typeface="+mn-cs"/>
              </a:rPr>
              <a:t>-</a:t>
            </a:r>
            <a:r>
              <a:rPr lang="zh-CN" altLang="en-US" sz="3200" b="1" i="1" u="sng" dirty="0">
                <a:latin typeface="黑体" panose="02010609060101010101" pitchFamily="49" charset="-122"/>
                <a:ea typeface="黑体" panose="02010609060101010101" pitchFamily="49" charset="-122"/>
                <a:cs typeface="+mn-cs"/>
              </a:rPr>
              <a:t>斯福尔扎</a:t>
            </a:r>
            <a:r>
              <a:rPr lang="zh-CN" altLang="en-US" sz="3200" b="1" dirty="0">
                <a:latin typeface="黑体" panose="02010609060101010101" pitchFamily="49" charset="-122"/>
                <a:ea typeface="黑体" panose="02010609060101010101" pitchFamily="49" charset="-122"/>
                <a:cs typeface="+mn-cs"/>
              </a:rPr>
              <a:t>偶然间在菌株</a:t>
            </a:r>
            <a:r>
              <a:rPr lang="en-US" altLang="zh-CN" sz="3200" b="1" dirty="0">
                <a:latin typeface="黑体" panose="02010609060101010101" pitchFamily="49" charset="-122"/>
                <a:ea typeface="黑体" panose="02010609060101010101" pitchFamily="49" charset="-122"/>
                <a:cs typeface="+mn-cs"/>
              </a:rPr>
              <a:t>A</a:t>
            </a:r>
            <a:r>
              <a:rPr lang="zh-CN" altLang="en-US" sz="3200" b="1" dirty="0">
                <a:latin typeface="黑体" panose="02010609060101010101" pitchFamily="49" charset="-122"/>
                <a:ea typeface="黑体" panose="02010609060101010101" pitchFamily="49" charset="-122"/>
                <a:cs typeface="+mn-cs"/>
              </a:rPr>
              <a:t>中发现一个新菌株，跟菌株</a:t>
            </a:r>
            <a:r>
              <a:rPr lang="en-US" altLang="zh-CN" sz="3200" b="1" dirty="0">
                <a:latin typeface="黑体" panose="02010609060101010101" pitchFamily="49" charset="-122"/>
                <a:ea typeface="黑体" panose="02010609060101010101" pitchFamily="49" charset="-122"/>
                <a:cs typeface="+mn-cs"/>
              </a:rPr>
              <a:t>B</a:t>
            </a:r>
            <a:r>
              <a:rPr lang="zh-CN" altLang="en-US" sz="3200" b="1" dirty="0">
                <a:latin typeface="黑体" panose="02010609060101010101" pitchFamily="49" charset="-122"/>
                <a:ea typeface="黑体" panose="02010609060101010101" pitchFamily="49" charset="-122"/>
                <a:cs typeface="+mn-cs"/>
              </a:rPr>
              <a:t>（</a:t>
            </a:r>
            <a:r>
              <a:rPr lang="en-US" altLang="zh-CN" sz="3200" b="1" dirty="0">
                <a:latin typeface="黑体" panose="02010609060101010101" pitchFamily="49" charset="-122"/>
                <a:ea typeface="黑体" panose="02010609060101010101" pitchFamily="49" charset="-122"/>
                <a:cs typeface="+mn-cs"/>
              </a:rPr>
              <a:t>F</a:t>
            </a:r>
            <a:r>
              <a:rPr lang="en-US" altLang="zh-CN" sz="3200" b="1" baseline="30000" dirty="0">
                <a:latin typeface="黑体" panose="02010609060101010101" pitchFamily="49" charset="-122"/>
                <a:ea typeface="黑体" panose="02010609060101010101" pitchFamily="49" charset="-122"/>
                <a:cs typeface="+mn-cs"/>
              </a:rPr>
              <a:t>−</a:t>
            </a:r>
            <a:r>
              <a:rPr lang="zh-CN" altLang="en-US" sz="3200" b="1" dirty="0">
                <a:latin typeface="黑体" panose="02010609060101010101" pitchFamily="49" charset="-122"/>
                <a:ea typeface="黑体" panose="02010609060101010101" pitchFamily="49" charset="-122"/>
                <a:cs typeface="+mn-cs"/>
              </a:rPr>
              <a:t>）杂交时，</a:t>
            </a:r>
            <a:r>
              <a:rPr lang="zh-CN" altLang="en-US" sz="3200" b="1" dirty="0">
                <a:solidFill>
                  <a:srgbClr val="FF0000"/>
                </a:solidFill>
                <a:latin typeface="黑体" panose="02010609060101010101" pitchFamily="49" charset="-122"/>
                <a:ea typeface="黑体" panose="02010609060101010101" pitchFamily="49" charset="-122"/>
                <a:cs typeface="+mn-cs"/>
              </a:rPr>
              <a:t>出现重组子的频率很高</a:t>
            </a:r>
            <a:r>
              <a:rPr lang="zh-CN" altLang="en-US" sz="3200" b="1" dirty="0">
                <a:latin typeface="黑体" panose="02010609060101010101" pitchFamily="49" charset="-122"/>
                <a:ea typeface="黑体" panose="02010609060101010101" pitchFamily="49" charset="-122"/>
                <a:cs typeface="+mn-cs"/>
              </a:rPr>
              <a:t>，几乎比</a:t>
            </a:r>
            <a:r>
              <a:rPr lang="en-US" altLang="zh-CN" sz="3200" b="1" dirty="0">
                <a:latin typeface="黑体" panose="02010609060101010101" pitchFamily="49" charset="-122"/>
                <a:ea typeface="黑体" panose="02010609060101010101" pitchFamily="49" charset="-122"/>
                <a:cs typeface="+mn-cs"/>
              </a:rPr>
              <a:t>F</a:t>
            </a:r>
            <a:r>
              <a:rPr lang="en-US" altLang="zh-CN" sz="3200" b="1" baseline="30000" dirty="0">
                <a:latin typeface="黑体" panose="02010609060101010101" pitchFamily="49" charset="-122"/>
                <a:ea typeface="黑体" panose="02010609060101010101" pitchFamily="49" charset="-122"/>
                <a:cs typeface="+mn-cs"/>
              </a:rPr>
              <a:t>+</a:t>
            </a:r>
            <a:r>
              <a:rPr lang="en-US" altLang="zh-CN" sz="3200" b="1" dirty="0">
                <a:latin typeface="黑体" panose="02010609060101010101" pitchFamily="49" charset="-122"/>
                <a:ea typeface="黑体" panose="02010609060101010101" pitchFamily="49" charset="-122"/>
                <a:cs typeface="+mn-cs"/>
              </a:rPr>
              <a:t>×F</a:t>
            </a:r>
            <a:r>
              <a:rPr lang="en-US" altLang="zh-CN" sz="3200" b="1" baseline="30000" dirty="0">
                <a:latin typeface="黑体" panose="02010609060101010101" pitchFamily="49" charset="-122"/>
                <a:ea typeface="黑体" panose="02010609060101010101" pitchFamily="49" charset="-122"/>
                <a:cs typeface="+mn-cs"/>
              </a:rPr>
              <a:t>−</a:t>
            </a:r>
            <a:r>
              <a:rPr lang="zh-CN" altLang="en-US" sz="3200" b="1" dirty="0">
                <a:latin typeface="黑体" panose="02010609060101010101" pitchFamily="49" charset="-122"/>
                <a:ea typeface="黑体" panose="02010609060101010101" pitchFamily="49" charset="-122"/>
                <a:cs typeface="+mn-cs"/>
              </a:rPr>
              <a:t>杂交高</a:t>
            </a:r>
            <a:r>
              <a:rPr lang="en-US" altLang="zh-CN" sz="3200" b="1" dirty="0">
                <a:latin typeface="黑体" panose="02010609060101010101" pitchFamily="49" charset="-122"/>
                <a:ea typeface="黑体" panose="02010609060101010101" pitchFamily="49" charset="-122"/>
                <a:cs typeface="+mn-cs"/>
              </a:rPr>
              <a:t>1000</a:t>
            </a:r>
            <a:r>
              <a:rPr lang="zh-CN" altLang="en-US" sz="3200" b="1" dirty="0">
                <a:latin typeface="黑体" panose="02010609060101010101" pitchFamily="49" charset="-122"/>
                <a:ea typeface="黑体" panose="02010609060101010101" pitchFamily="49" charset="-122"/>
                <a:cs typeface="+mn-cs"/>
              </a:rPr>
              <a:t>倍。这个新菌株就叫作</a:t>
            </a:r>
            <a:r>
              <a:rPr lang="zh-CN" altLang="en-US" sz="3200" b="1" dirty="0">
                <a:solidFill>
                  <a:srgbClr val="FF0000"/>
                </a:solidFill>
                <a:latin typeface="黑体" panose="02010609060101010101" pitchFamily="49" charset="-122"/>
                <a:ea typeface="黑体" panose="02010609060101010101" pitchFamily="49" charset="-122"/>
                <a:cs typeface="+mn-cs"/>
              </a:rPr>
              <a:t>高频重组（</a:t>
            </a:r>
            <a:r>
              <a:rPr lang="en-US" altLang="zh-CN" sz="3200" b="1" dirty="0">
                <a:solidFill>
                  <a:srgbClr val="FF0000"/>
                </a:solidFill>
                <a:latin typeface="黑体" panose="02010609060101010101" pitchFamily="49" charset="-122"/>
                <a:ea typeface="黑体" panose="02010609060101010101" pitchFamily="49" charset="-122"/>
                <a:cs typeface="+mn-cs"/>
              </a:rPr>
              <a:t>high frequency of recombination</a:t>
            </a:r>
            <a:r>
              <a:rPr lang="zh-CN" altLang="en-US" sz="3200" b="1" dirty="0">
                <a:solidFill>
                  <a:srgbClr val="FF0000"/>
                </a:solidFill>
                <a:latin typeface="黑体" panose="02010609060101010101" pitchFamily="49" charset="-122"/>
                <a:ea typeface="黑体" panose="02010609060101010101" pitchFamily="49" charset="-122"/>
                <a:cs typeface="+mn-cs"/>
              </a:rPr>
              <a:t>）菌株</a:t>
            </a:r>
            <a:r>
              <a:rPr lang="zh-CN" altLang="en-US" sz="3200" b="1" dirty="0">
                <a:latin typeface="黑体" panose="02010609060101010101" pitchFamily="49" charset="-122"/>
                <a:ea typeface="黑体" panose="02010609060101010101" pitchFamily="49" charset="-122"/>
                <a:cs typeface="+mn-cs"/>
              </a:rPr>
              <a:t>，简称</a:t>
            </a:r>
            <a:r>
              <a:rPr lang="en-US" altLang="zh-CN" sz="3200" b="1" dirty="0" err="1">
                <a:solidFill>
                  <a:srgbClr val="FF0000"/>
                </a:solidFill>
                <a:latin typeface="黑体" panose="02010609060101010101" pitchFamily="49" charset="-122"/>
                <a:ea typeface="黑体" panose="02010609060101010101" pitchFamily="49" charset="-122"/>
                <a:cs typeface="+mn-cs"/>
              </a:rPr>
              <a:t>Hfr</a:t>
            </a:r>
            <a:r>
              <a:rPr lang="zh-CN" altLang="en-US" sz="3200" b="1" dirty="0">
                <a:solidFill>
                  <a:srgbClr val="FF0000"/>
                </a:solidFill>
                <a:latin typeface="黑体" panose="02010609060101010101" pitchFamily="49" charset="-122"/>
                <a:ea typeface="黑体" panose="02010609060101010101" pitchFamily="49" charset="-122"/>
                <a:cs typeface="+mn-cs"/>
              </a:rPr>
              <a:t>菌株</a:t>
            </a:r>
            <a:r>
              <a:rPr lang="zh-CN" altLang="en-US" sz="3200" b="1" dirty="0">
                <a:latin typeface="黑体" panose="02010609060101010101" pitchFamily="49" charset="-122"/>
                <a:ea typeface="黑体" panose="02010609060101010101" pitchFamily="49" charset="-122"/>
                <a:cs typeface="+mn-cs"/>
              </a:rPr>
              <a:t>。</a:t>
            </a:r>
            <a:endParaRPr lang="en-US" altLang="zh-CN" sz="3200" b="1" dirty="0">
              <a:latin typeface="黑体" panose="02010609060101010101" pitchFamily="49" charset="-122"/>
              <a:ea typeface="黑体" panose="02010609060101010101" pitchFamily="49" charset="-122"/>
              <a:cs typeface="+mn-cs"/>
            </a:endParaRPr>
          </a:p>
          <a:p>
            <a:pPr marL="228600" lvl="1" indent="-457200">
              <a:buFont typeface="Wingdings" panose="05000000000000000000" pitchFamily="2" charset="2"/>
              <a:buChar char="Ø"/>
            </a:pPr>
            <a:r>
              <a:rPr lang="zh-CN" altLang="en-US" sz="3200" b="1" dirty="0">
                <a:latin typeface="黑体" panose="02010609060101010101" pitchFamily="49" charset="-122"/>
                <a:ea typeface="黑体" panose="02010609060101010101" pitchFamily="49" charset="-122"/>
                <a:cs typeface="+mn-cs"/>
              </a:rPr>
              <a:t>在</a:t>
            </a:r>
            <a:r>
              <a:rPr lang="en-US" altLang="zh-CN" sz="3200" b="1" dirty="0" err="1">
                <a:latin typeface="黑体" panose="02010609060101010101" pitchFamily="49" charset="-122"/>
                <a:ea typeface="黑体" panose="02010609060101010101" pitchFamily="49" charset="-122"/>
                <a:cs typeface="+mn-cs"/>
              </a:rPr>
              <a:t>Hfr×F</a:t>
            </a:r>
            <a:r>
              <a:rPr lang="en-US" altLang="zh-CN" sz="3200" b="1" baseline="30000" dirty="0">
                <a:latin typeface="黑体" panose="02010609060101010101" pitchFamily="49" charset="-122"/>
                <a:ea typeface="黑体" panose="02010609060101010101" pitchFamily="49" charset="-122"/>
                <a:cs typeface="+mn-cs"/>
              </a:rPr>
              <a:t>−</a:t>
            </a:r>
            <a:r>
              <a:rPr lang="zh-CN" altLang="en-US" sz="3200" b="1" dirty="0">
                <a:latin typeface="黑体" panose="02010609060101010101" pitchFamily="49" charset="-122"/>
                <a:ea typeface="黑体" panose="02010609060101010101" pitchFamily="49" charset="-122"/>
                <a:cs typeface="+mn-cs"/>
              </a:rPr>
              <a:t>杂交中，尽管出现高频率的重组，但</a:t>
            </a:r>
            <a:r>
              <a:rPr lang="en-US" altLang="zh-CN" sz="3200" b="1" dirty="0">
                <a:solidFill>
                  <a:srgbClr val="0000FF"/>
                </a:solidFill>
                <a:latin typeface="黑体" panose="02010609060101010101" pitchFamily="49" charset="-122"/>
                <a:ea typeface="黑体" panose="02010609060101010101" pitchFamily="49" charset="-122"/>
                <a:cs typeface="+mn-cs"/>
              </a:rPr>
              <a:t>F</a:t>
            </a:r>
            <a:r>
              <a:rPr lang="en-US" altLang="zh-CN" sz="3200" b="1" baseline="30000" dirty="0">
                <a:solidFill>
                  <a:srgbClr val="0000FF"/>
                </a:solidFill>
                <a:latin typeface="黑体" panose="02010609060101010101" pitchFamily="49" charset="-122"/>
                <a:ea typeface="黑体" panose="02010609060101010101" pitchFamily="49" charset="-122"/>
                <a:cs typeface="+mn-cs"/>
              </a:rPr>
              <a:t>−</a:t>
            </a:r>
            <a:r>
              <a:rPr lang="zh-CN" altLang="en-US" sz="3200" b="1" dirty="0">
                <a:solidFill>
                  <a:srgbClr val="0000FF"/>
                </a:solidFill>
                <a:latin typeface="黑体" panose="02010609060101010101" pitchFamily="49" charset="-122"/>
                <a:ea typeface="黑体" panose="02010609060101010101" pitchFamily="49" charset="-122"/>
                <a:cs typeface="+mn-cs"/>
              </a:rPr>
              <a:t>细菌很少有转变为</a:t>
            </a:r>
            <a:r>
              <a:rPr lang="en-US" altLang="zh-CN" sz="3200" b="1" dirty="0">
                <a:solidFill>
                  <a:srgbClr val="0000FF"/>
                </a:solidFill>
                <a:latin typeface="黑体" panose="02010609060101010101" pitchFamily="49" charset="-122"/>
                <a:ea typeface="黑体" panose="02010609060101010101" pitchFamily="49" charset="-122"/>
                <a:cs typeface="+mn-cs"/>
              </a:rPr>
              <a:t>F</a:t>
            </a:r>
            <a:r>
              <a:rPr lang="en-US" altLang="zh-CN" sz="3200" b="1" baseline="30000" dirty="0">
                <a:solidFill>
                  <a:srgbClr val="0000FF"/>
                </a:solidFill>
                <a:latin typeface="黑体" panose="02010609060101010101" pitchFamily="49" charset="-122"/>
                <a:ea typeface="黑体" panose="02010609060101010101" pitchFamily="49" charset="-122"/>
                <a:cs typeface="+mn-cs"/>
              </a:rPr>
              <a:t>+</a:t>
            </a:r>
            <a:r>
              <a:rPr lang="zh-CN" altLang="en-US" sz="3200" b="1" dirty="0">
                <a:solidFill>
                  <a:srgbClr val="0000FF"/>
                </a:solidFill>
                <a:latin typeface="黑体" panose="02010609060101010101" pitchFamily="49" charset="-122"/>
                <a:ea typeface="黑体" panose="02010609060101010101" pitchFamily="49" charset="-122"/>
                <a:cs typeface="+mn-cs"/>
              </a:rPr>
              <a:t>细菌的</a:t>
            </a:r>
            <a:r>
              <a:rPr lang="zh-CN" altLang="en-US" sz="3200" b="1" dirty="0">
                <a:latin typeface="黑体" panose="02010609060101010101" pitchFamily="49" charset="-122"/>
                <a:ea typeface="黑体" panose="02010609060101010101" pitchFamily="49" charset="-122"/>
                <a:cs typeface="+mn-cs"/>
              </a:rPr>
              <a:t>。</a:t>
            </a:r>
            <a:endParaRPr lang="en-US" altLang="zh-CN" sz="3200" b="1" dirty="0">
              <a:latin typeface="黑体" panose="02010609060101010101" pitchFamily="49" charset="-122"/>
              <a:ea typeface="黑体" panose="02010609060101010101" pitchFamily="49" charset="-122"/>
              <a:cs typeface="+mn-cs"/>
            </a:endParaRPr>
          </a:p>
        </p:txBody>
      </p:sp>
      <p:sp>
        <p:nvSpPr>
          <p:cNvPr id="7" name="文本框 6"/>
          <p:cNvSpPr txBox="1"/>
          <p:nvPr/>
        </p:nvSpPr>
        <p:spPr>
          <a:xfrm>
            <a:off x="10226143" y="3040436"/>
            <a:ext cx="1935098" cy="646331"/>
          </a:xfrm>
          <a:prstGeom prst="rect">
            <a:avLst/>
          </a:prstGeom>
          <a:noFill/>
        </p:spPr>
        <p:txBody>
          <a:bodyPr wrap="square">
            <a:spAutoFit/>
          </a:bodyPr>
          <a:lstStyle>
            <a:defPPr>
              <a:defRPr lang="zh-CN"/>
            </a:defPPr>
            <a:lvl1pPr algn="ctr">
              <a:defRPr sz="1200"/>
            </a:lvl1pPr>
          </a:lstStyle>
          <a:p>
            <a:r>
              <a:rPr lang="en-US" altLang="zh-CN" b="1" dirty="0"/>
              <a:t>Luigi Luca Cavalli-Sforza</a:t>
            </a:r>
            <a:endParaRPr lang="en-US" altLang="zh-CN" b="1" dirty="0"/>
          </a:p>
          <a:p>
            <a:r>
              <a:rPr lang="en-US" altLang="zh-CN" b="1" dirty="0"/>
              <a:t>(1922—2018)</a:t>
            </a:r>
            <a:endParaRPr lang="en-US" altLang="zh-CN" b="1" dirty="0"/>
          </a:p>
          <a:p>
            <a:r>
              <a:rPr lang="en-US" altLang="zh-CN" b="1" dirty="0"/>
              <a:t>Italian geneticist</a:t>
            </a:r>
            <a:endParaRPr lang="zh-CN" altLang="en-US" b="1" dirty="0"/>
          </a:p>
        </p:txBody>
      </p:sp>
      <p:pic>
        <p:nvPicPr>
          <p:cNvPr id="6" name="图片 5"/>
          <p:cNvPicPr>
            <a:picLocks noChangeAspect="1"/>
          </p:cNvPicPr>
          <p:nvPr/>
        </p:nvPicPr>
        <p:blipFill>
          <a:blip r:embed="rId1"/>
          <a:stretch>
            <a:fillRect/>
          </a:stretch>
        </p:blipFill>
        <p:spPr>
          <a:xfrm>
            <a:off x="10317932" y="834408"/>
            <a:ext cx="1751520" cy="220602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12691" y="854573"/>
            <a:ext cx="8116638" cy="865505"/>
          </a:xfrm>
          <a:prstGeom prst="rect">
            <a:avLst/>
          </a:prstGeom>
        </p:spPr>
        <p:txBody>
          <a:bodyPr vert="horz" wrap="square" lIns="91440" tIns="45720" rIns="91440" bIns="45720" rtlCol="0">
            <a:spAutoFit/>
          </a:bodyPr>
          <a:lstStyle>
            <a:lvl1pPr marL="228600" indent="-228600">
              <a:lnSpc>
                <a:spcPct val="90000"/>
              </a:lnSpc>
              <a:spcBef>
                <a:spcPts val="1000"/>
              </a:spcBef>
              <a:buFont typeface="Arial" panose="020B0604020202020204" pitchFamily="34" charset="0"/>
              <a:buChar char="•"/>
              <a:defRPr sz="2800">
                <a:latin typeface="Times New Roman" panose="02020603050405020304" pitchFamily="18" charset="0"/>
                <a:cs typeface="Times New Roman" panose="02020603050405020304" pitchFamily="18" charset="0"/>
              </a:defRPr>
            </a:lvl1pPr>
            <a:lvl2pPr marL="228600" lvl="1" indent="-457200">
              <a:lnSpc>
                <a:spcPct val="90000"/>
              </a:lnSpc>
              <a:spcBef>
                <a:spcPts val="500"/>
              </a:spcBef>
              <a:buFont typeface="Wingdings" panose="05000000000000000000" pitchFamily="2" charset="2"/>
              <a:buChar char="Ø"/>
              <a:defRPr sz="3200" b="1">
                <a:latin typeface="黑体" panose="02010609060101010101" pitchFamily="49" charset="-122"/>
                <a:ea typeface="黑体" panose="02010609060101010101" pitchFamily="49" charset="-122"/>
              </a:defRPr>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lvl="1" indent="0">
              <a:buNone/>
            </a:pPr>
            <a:r>
              <a:rPr lang="zh-CN" altLang="en-US" sz="2800" i="1" u="sng" dirty="0"/>
              <a:t>沃尔曼</a:t>
            </a:r>
            <a:r>
              <a:rPr lang="zh-CN" altLang="en-US" sz="2800" dirty="0"/>
              <a:t>和</a:t>
            </a:r>
            <a:r>
              <a:rPr lang="zh-CN" altLang="en-US" sz="2800" i="1" u="sng" dirty="0"/>
              <a:t>雅各布</a:t>
            </a:r>
            <a:r>
              <a:rPr lang="zh-CN" altLang="en-US" sz="2800" dirty="0"/>
              <a:t>，根据</a:t>
            </a:r>
            <a:r>
              <a:rPr lang="zh-CN" altLang="en-US" sz="2800" dirty="0">
                <a:solidFill>
                  <a:srgbClr val="0000FF"/>
                </a:solidFill>
              </a:rPr>
              <a:t>供体基因进入受体细胞的顺序和时间</a:t>
            </a:r>
            <a:r>
              <a:rPr lang="zh-CN" altLang="en-US" sz="2800" dirty="0"/>
              <a:t>绘制连锁图的技术。</a:t>
            </a:r>
            <a:endParaRPr lang="zh-CN" altLang="en-US" sz="2800" dirty="0"/>
          </a:p>
        </p:txBody>
      </p:sp>
      <p:pic>
        <p:nvPicPr>
          <p:cNvPr id="5" name="图片 4"/>
          <p:cNvPicPr>
            <a:picLocks noChangeAspect="1"/>
          </p:cNvPicPr>
          <p:nvPr/>
        </p:nvPicPr>
        <p:blipFill>
          <a:blip r:embed="rId1"/>
          <a:stretch>
            <a:fillRect/>
          </a:stretch>
        </p:blipFill>
        <p:spPr>
          <a:xfrm>
            <a:off x="8741447" y="0"/>
            <a:ext cx="1785201" cy="2231501"/>
          </a:xfrm>
          <a:prstGeom prst="rect">
            <a:avLst/>
          </a:prstGeom>
        </p:spPr>
      </p:pic>
      <p:sp>
        <p:nvSpPr>
          <p:cNvPr id="6" name="文本框 5"/>
          <p:cNvSpPr txBox="1"/>
          <p:nvPr/>
        </p:nvSpPr>
        <p:spPr>
          <a:xfrm>
            <a:off x="8649658" y="2231501"/>
            <a:ext cx="1986699" cy="830997"/>
          </a:xfrm>
          <a:prstGeom prst="rect">
            <a:avLst/>
          </a:prstGeom>
          <a:noFill/>
        </p:spPr>
        <p:txBody>
          <a:bodyPr wrap="square">
            <a:spAutoFit/>
          </a:bodyPr>
          <a:lstStyle>
            <a:defPPr>
              <a:defRPr lang="zh-CN"/>
            </a:defPPr>
            <a:lvl1pPr algn="ctr">
              <a:defRPr sz="1200" b="1"/>
            </a:lvl1pPr>
          </a:lstStyle>
          <a:p>
            <a:r>
              <a:rPr lang="en-US" altLang="zh-CN" dirty="0"/>
              <a:t>Elie Wollman</a:t>
            </a:r>
            <a:endParaRPr lang="en-US" altLang="zh-CN" dirty="0"/>
          </a:p>
          <a:p>
            <a:r>
              <a:rPr lang="en-US" altLang="zh-CN" dirty="0"/>
              <a:t>(1917—2008)</a:t>
            </a:r>
            <a:endParaRPr lang="en-US" altLang="zh-CN" dirty="0"/>
          </a:p>
          <a:p>
            <a:r>
              <a:rPr lang="en-US" altLang="zh-CN" dirty="0"/>
              <a:t>French microbial geneticist</a:t>
            </a:r>
            <a:endParaRPr lang="zh-CN" altLang="en-US" dirty="0"/>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4757" y="0"/>
            <a:ext cx="1577830" cy="2231501"/>
          </a:xfrm>
          <a:prstGeom prst="rect">
            <a:avLst/>
          </a:prstGeom>
        </p:spPr>
      </p:pic>
      <p:sp>
        <p:nvSpPr>
          <p:cNvPr id="8" name="文本框 7"/>
          <p:cNvSpPr txBox="1"/>
          <p:nvPr/>
        </p:nvSpPr>
        <p:spPr>
          <a:xfrm>
            <a:off x="10627434" y="2231501"/>
            <a:ext cx="1527273" cy="646331"/>
          </a:xfrm>
          <a:prstGeom prst="rect">
            <a:avLst/>
          </a:prstGeom>
          <a:noFill/>
        </p:spPr>
        <p:txBody>
          <a:bodyPr wrap="square" rtlCol="0">
            <a:spAutoFit/>
          </a:bodyPr>
          <a:lstStyle/>
          <a:p>
            <a:pPr algn="ctr"/>
            <a:r>
              <a:rPr lang="en-US" altLang="zh-CN" sz="1200" b="1" dirty="0">
                <a:latin typeface="Calibri" panose="020F0502020204030204" pitchFamily="34" charset="0"/>
              </a:rPr>
              <a:t>François Jacob</a:t>
            </a:r>
            <a:endParaRPr lang="en-US" altLang="zh-CN" sz="1200" b="1" dirty="0">
              <a:latin typeface="Calibri" panose="020F0502020204030204" pitchFamily="34" charset="0"/>
            </a:endParaRPr>
          </a:p>
          <a:p>
            <a:pPr algn="ctr"/>
            <a:r>
              <a:rPr lang="zh-CN" altLang="en-US" sz="1200" b="1" dirty="0">
                <a:latin typeface="Calibri" panose="020F0502020204030204" pitchFamily="34" charset="0"/>
              </a:rPr>
              <a:t>（</a:t>
            </a:r>
            <a:r>
              <a:rPr lang="en-US" altLang="zh-CN" sz="1200" b="1" dirty="0"/>
              <a:t>1920-2013</a:t>
            </a:r>
            <a:r>
              <a:rPr lang="zh-CN" altLang="en-US" sz="1200" b="1" dirty="0">
                <a:latin typeface="Calibri" panose="020F0502020204030204" pitchFamily="34" charset="0"/>
              </a:rPr>
              <a:t>）</a:t>
            </a:r>
            <a:endParaRPr lang="en-US" altLang="zh-CN" sz="1200" b="1" dirty="0">
              <a:latin typeface="Calibri" panose="020F0502020204030204" pitchFamily="34" charset="0"/>
            </a:endParaRPr>
          </a:p>
          <a:p>
            <a:pPr algn="ctr"/>
            <a:r>
              <a:rPr lang="en-US" altLang="zh-CN" sz="1200" b="1" dirty="0">
                <a:latin typeface="Calibri" panose="020F0502020204030204" pitchFamily="34" charset="0"/>
              </a:rPr>
              <a:t>French biologist</a:t>
            </a:r>
            <a:endParaRPr lang="en-US" altLang="zh-CN" sz="1200" b="1" dirty="0">
              <a:latin typeface="Calibri" panose="020F0502020204030204" pitchFamily="34" charset="0"/>
            </a:endParaRPr>
          </a:p>
        </p:txBody>
      </p:sp>
      <p:sp>
        <p:nvSpPr>
          <p:cNvPr id="10" name="文本框 9"/>
          <p:cNvSpPr txBox="1"/>
          <p:nvPr/>
        </p:nvSpPr>
        <p:spPr>
          <a:xfrm>
            <a:off x="212691" y="71571"/>
            <a:ext cx="8287459" cy="535531"/>
          </a:xfrm>
          <a:prstGeom prst="rect">
            <a:avLst/>
          </a:prstGeom>
        </p:spPr>
        <p:txBody>
          <a:bodyPr vert="horz" lIns="91440" tIns="45720" rIns="91440" bIns="45720" rtlCol="0" anchor="ctr">
            <a:normAutofit fontScale="92500"/>
          </a:bodyPr>
          <a:lstStyle>
            <a:lvl1pPr>
              <a:lnSpc>
                <a:spcPct val="90000"/>
              </a:lnSpc>
              <a:spcBef>
                <a:spcPct val="0"/>
              </a:spcBef>
              <a:buNone/>
              <a:defRPr sz="3200" b="1">
                <a:solidFill>
                  <a:srgbClr val="0000FF"/>
                </a:solidFill>
                <a:latin typeface="黑体" panose="02010609060101010101" pitchFamily="49" charset="-122"/>
                <a:ea typeface="黑体" panose="02010609060101010101" pitchFamily="49" charset="-122"/>
                <a:cs typeface="+mj-cs"/>
              </a:defRPr>
            </a:lvl1pPr>
          </a:lstStyle>
          <a:p>
            <a:r>
              <a:rPr lang="zh-CN" altLang="en-US" dirty="0"/>
              <a:t>中断杂交技术（</a:t>
            </a:r>
            <a:r>
              <a:rPr lang="en-US" altLang="zh-CN" dirty="0"/>
              <a:t>interrupted mating technique</a:t>
            </a:r>
            <a:r>
              <a:rPr lang="zh-CN" altLang="en-US" dirty="0"/>
              <a:t>）</a:t>
            </a:r>
            <a:endParaRPr lang="en-US" altLang="zh-CN" dirty="0"/>
          </a:p>
        </p:txBody>
      </p:sp>
      <p:pic>
        <p:nvPicPr>
          <p:cNvPr id="11" name="图片 10"/>
          <p:cNvPicPr>
            <a:picLocks noChangeAspect="1"/>
          </p:cNvPicPr>
          <p:nvPr/>
        </p:nvPicPr>
        <p:blipFill>
          <a:blip r:embed="rId3">
            <a:extLst>
              <a:ext uri="{BEBA8EAE-BF5A-486C-A8C5-ECC9F3942E4B}">
                <a14:imgProps xmlns:a14="http://schemas.microsoft.com/office/drawing/2010/main">
                  <a14:imgLayer r:embed="rId4">
                    <a14:imgEffect>
                      <a14:brightnessContrast contrast="-40000"/>
                    </a14:imgEffect>
                    <a14:imgEffect>
                      <a14:sharpenSoften amount="50000"/>
                    </a14:imgEffect>
                  </a14:imgLayer>
                </a14:imgProps>
              </a:ext>
            </a:extLst>
          </a:blip>
          <a:stretch>
            <a:fillRect/>
          </a:stretch>
        </p:blipFill>
        <p:spPr>
          <a:xfrm>
            <a:off x="149190" y="1714839"/>
            <a:ext cx="8442359" cy="995428"/>
          </a:xfrm>
          <a:prstGeom prst="rect">
            <a:avLst/>
          </a:prstGeom>
        </p:spPr>
      </p:pic>
      <p:sp>
        <p:nvSpPr>
          <p:cNvPr id="12" name="文本框 11"/>
          <p:cNvSpPr txBox="1"/>
          <p:nvPr/>
        </p:nvSpPr>
        <p:spPr>
          <a:xfrm>
            <a:off x="37292" y="3091767"/>
            <a:ext cx="12154708" cy="1031167"/>
          </a:xfrm>
          <a:prstGeom prst="rect">
            <a:avLst/>
          </a:prstGeom>
        </p:spPr>
        <p:txBody>
          <a:bodyPr vert="horz" lIns="91440" tIns="45720" rIns="91440" bIns="45720" rtlCol="0">
            <a:noAutofit/>
          </a:bodyPr>
          <a:lstStyle>
            <a:lvl1pPr marL="457200" indent="-457200">
              <a:lnSpc>
                <a:spcPct val="150000"/>
              </a:lnSpc>
              <a:spcBef>
                <a:spcPts val="1000"/>
              </a:spcBef>
              <a:buFont typeface="+mj-lt"/>
              <a:buAutoNum type="arabicPeriod"/>
              <a:defRPr sz="2200">
                <a:solidFill>
                  <a:srgbClr val="3A5991"/>
                </a:solidFill>
                <a:latin typeface="Times New Roman" panose="02020603050405020304" pitchFamily="18" charset="0"/>
                <a:ea typeface="微软雅黑" panose="020B0503020204020204" charset="-122"/>
                <a:cs typeface="Times New Roman" panose="02020603050405020304" pitchFamily="18" charset="0"/>
              </a:defRPr>
            </a:lvl1pPr>
            <a:lvl2pPr marL="0" lvl="1" indent="0">
              <a:lnSpc>
                <a:spcPct val="100000"/>
              </a:lnSpc>
              <a:spcBef>
                <a:spcPts val="500"/>
              </a:spcBef>
              <a:buFont typeface="Wingdings" panose="05000000000000000000" pitchFamily="2" charset="2"/>
              <a:buNone/>
              <a:defRPr sz="3200">
                <a:latin typeface="Times New Roman" panose="02020603050405020304" pitchFamily="18" charset="0"/>
                <a:ea typeface="微软雅黑" panose="020B0503020204020204"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1"/>
            <a:r>
              <a:rPr lang="zh-CN" altLang="en-US" sz="2800" dirty="0"/>
              <a:t>把如上两个</a:t>
            </a:r>
            <a:r>
              <a:rPr lang="en-US" altLang="zh-CN" sz="2800" dirty="0" err="1"/>
              <a:t>Hfr</a:t>
            </a:r>
            <a:r>
              <a:rPr lang="en-US" altLang="zh-CN" sz="2800" dirty="0"/>
              <a:t> </a:t>
            </a:r>
            <a:r>
              <a:rPr lang="zh-CN" altLang="en-US" sz="2800" dirty="0"/>
              <a:t>细菌与 </a:t>
            </a:r>
            <a:r>
              <a:rPr lang="en-US" altLang="zh-CN" sz="2800" dirty="0"/>
              <a:t>F</a:t>
            </a:r>
            <a:r>
              <a:rPr lang="en-US" altLang="zh-CN" sz="2800" baseline="30000" dirty="0"/>
              <a:t>−</a:t>
            </a:r>
            <a:r>
              <a:rPr lang="en-US" altLang="zh-CN" sz="2800" dirty="0"/>
              <a:t> </a:t>
            </a:r>
            <a:r>
              <a:rPr lang="zh-CN" altLang="en-US" sz="2800" dirty="0"/>
              <a:t>细菌在培养液中进行通气培养，每隔一定时间取样，涂布在</a:t>
            </a:r>
            <a:r>
              <a:rPr lang="zh-CN" altLang="en-US" sz="2800" b="1" dirty="0"/>
              <a:t>含有链霉素</a:t>
            </a:r>
            <a:r>
              <a:rPr lang="en-US" altLang="zh-CN" sz="2800" b="1" dirty="0"/>
              <a:t>(</a:t>
            </a:r>
            <a:r>
              <a:rPr lang="en-US" altLang="zh-CN" sz="2800" b="1" i="1" dirty="0"/>
              <a:t>str</a:t>
            </a:r>
            <a:r>
              <a:rPr lang="en-US" altLang="zh-CN" sz="2800" b="1" dirty="0"/>
              <a:t>)</a:t>
            </a:r>
            <a:r>
              <a:rPr lang="zh-CN" altLang="en-US" sz="2800" b="1" dirty="0"/>
              <a:t>但不含有苏氨酸</a:t>
            </a:r>
            <a:r>
              <a:rPr lang="en-US" altLang="zh-CN" sz="2800" b="1" dirty="0"/>
              <a:t>(</a:t>
            </a:r>
            <a:r>
              <a:rPr lang="en-US" altLang="zh-CN" sz="2800" b="1" i="1" dirty="0" err="1"/>
              <a:t>thr</a:t>
            </a:r>
            <a:r>
              <a:rPr lang="en-US" altLang="zh-CN" sz="2800" b="1" dirty="0"/>
              <a:t>)</a:t>
            </a:r>
            <a:r>
              <a:rPr lang="zh-CN" altLang="en-US" sz="2800" b="1" dirty="0"/>
              <a:t>和亮氨酸</a:t>
            </a:r>
            <a:r>
              <a:rPr lang="en-US" altLang="zh-CN" sz="2800" b="1" dirty="0"/>
              <a:t>(</a:t>
            </a:r>
            <a:r>
              <a:rPr lang="en-US" altLang="zh-CN" sz="2800" b="1" i="1" dirty="0"/>
              <a:t>leu</a:t>
            </a:r>
            <a:r>
              <a:rPr lang="en-US" altLang="zh-CN" sz="2800" b="1" dirty="0"/>
              <a:t>)</a:t>
            </a:r>
            <a:r>
              <a:rPr lang="zh-CN" altLang="en-US" sz="2800" dirty="0"/>
              <a:t>的培养基上。</a:t>
            </a:r>
            <a:endParaRPr lang="en-US" altLang="zh-CN" sz="2800" dirty="0"/>
          </a:p>
        </p:txBody>
      </p:sp>
      <p:sp>
        <p:nvSpPr>
          <p:cNvPr id="14" name="文本框 13"/>
          <p:cNvSpPr txBox="1"/>
          <p:nvPr/>
        </p:nvSpPr>
        <p:spPr>
          <a:xfrm>
            <a:off x="14706" y="4649454"/>
            <a:ext cx="12162587" cy="1449115"/>
          </a:xfrm>
          <a:prstGeom prst="rect">
            <a:avLst/>
          </a:prstGeom>
        </p:spPr>
        <p:txBody>
          <a:bodyPr vert="horz" lIns="91440" tIns="45720" rIns="91440" bIns="45720" rtlCol="0">
            <a:noAutofit/>
          </a:bodyPr>
          <a:lstStyle>
            <a:defPPr>
              <a:defRPr lang="zh-CN"/>
            </a:defPPr>
            <a:lvl1pPr marL="457200" indent="-457200">
              <a:lnSpc>
                <a:spcPct val="150000"/>
              </a:lnSpc>
              <a:spcBef>
                <a:spcPts val="1000"/>
              </a:spcBef>
              <a:buFont typeface="+mj-lt"/>
              <a:buAutoNum type="arabicPeriod"/>
              <a:defRPr sz="2200">
                <a:solidFill>
                  <a:srgbClr val="3A5991"/>
                </a:solidFill>
                <a:latin typeface="Times New Roman" panose="02020603050405020304" pitchFamily="18" charset="0"/>
                <a:ea typeface="微软雅黑" panose="020B0503020204020204" charset="-122"/>
                <a:cs typeface="Times New Roman" panose="02020603050405020304" pitchFamily="18" charset="0"/>
              </a:defRPr>
            </a:lvl1pPr>
            <a:lvl2pPr marL="0" lvl="1" indent="0">
              <a:lnSpc>
                <a:spcPct val="100000"/>
              </a:lnSpc>
              <a:spcBef>
                <a:spcPts val="500"/>
              </a:spcBef>
              <a:buFont typeface="Wingdings" panose="05000000000000000000" pitchFamily="2" charset="2"/>
              <a:buNone/>
              <a:defRPr sz="2800">
                <a:latin typeface="Times New Roman" panose="02020603050405020304" pitchFamily="18" charset="0"/>
                <a:ea typeface="微软雅黑" panose="020B0503020204020204"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457200" lvl="1" indent="-457200">
              <a:buFont typeface="Wingdings" panose="05000000000000000000" pitchFamily="2" charset="2"/>
              <a:buChar char="Ø"/>
            </a:pPr>
            <a:r>
              <a:rPr lang="zh-CN" altLang="en-US" dirty="0"/>
              <a:t>只有</a:t>
            </a:r>
            <a:r>
              <a:rPr lang="zh-CN" altLang="en-US" dirty="0">
                <a:solidFill>
                  <a:srgbClr val="0000FF"/>
                </a:solidFill>
              </a:rPr>
              <a:t>带有</a:t>
            </a:r>
            <a:r>
              <a:rPr lang="en-US" altLang="zh-CN" dirty="0" err="1">
                <a:solidFill>
                  <a:srgbClr val="0000FF"/>
                </a:solidFill>
              </a:rPr>
              <a:t>thr</a:t>
            </a:r>
            <a:r>
              <a:rPr lang="en-US" altLang="zh-CN" baseline="30000" dirty="0">
                <a:solidFill>
                  <a:srgbClr val="0000FF"/>
                </a:solidFill>
              </a:rPr>
              <a:t>+</a:t>
            </a:r>
            <a:r>
              <a:rPr lang="zh-CN" altLang="en-US" dirty="0">
                <a:solidFill>
                  <a:srgbClr val="0000FF"/>
                </a:solidFill>
              </a:rPr>
              <a:t>和</a:t>
            </a:r>
            <a:r>
              <a:rPr lang="en-US" altLang="zh-CN" dirty="0">
                <a:solidFill>
                  <a:srgbClr val="0000FF"/>
                </a:solidFill>
              </a:rPr>
              <a:t>leu</a:t>
            </a:r>
            <a:r>
              <a:rPr lang="en-US" altLang="zh-CN" baseline="30000" dirty="0">
                <a:solidFill>
                  <a:srgbClr val="0000FF"/>
                </a:solidFill>
              </a:rPr>
              <a:t>+</a:t>
            </a:r>
            <a:r>
              <a:rPr lang="zh-CN" altLang="en-US" dirty="0">
                <a:solidFill>
                  <a:srgbClr val="0000FF"/>
                </a:solidFill>
              </a:rPr>
              <a:t>的</a:t>
            </a:r>
            <a:r>
              <a:rPr lang="en-US" altLang="zh-CN" dirty="0" err="1">
                <a:solidFill>
                  <a:srgbClr val="0000FF"/>
                </a:solidFill>
              </a:rPr>
              <a:t>Hfr</a:t>
            </a:r>
            <a:r>
              <a:rPr lang="zh-CN" altLang="en-US" dirty="0">
                <a:solidFill>
                  <a:srgbClr val="0000FF"/>
                </a:solidFill>
              </a:rPr>
              <a:t>菌</a:t>
            </a:r>
            <a:r>
              <a:rPr lang="zh-CN" altLang="en-US" dirty="0"/>
              <a:t>和</a:t>
            </a:r>
            <a:r>
              <a:rPr lang="zh-CN" altLang="en-US" dirty="0">
                <a:solidFill>
                  <a:srgbClr val="0000FF"/>
                </a:solidFill>
              </a:rPr>
              <a:t>带有</a:t>
            </a:r>
            <a:r>
              <a:rPr lang="en-US" altLang="zh-CN" dirty="0" err="1">
                <a:solidFill>
                  <a:srgbClr val="0000FF"/>
                </a:solidFill>
              </a:rPr>
              <a:t>str</a:t>
            </a:r>
            <a:r>
              <a:rPr lang="en-US" altLang="zh-CN" baseline="30000" dirty="0" err="1">
                <a:solidFill>
                  <a:srgbClr val="0000FF"/>
                </a:solidFill>
              </a:rPr>
              <a:t>r</a:t>
            </a:r>
            <a:r>
              <a:rPr lang="zh-CN" altLang="en-US" dirty="0">
                <a:solidFill>
                  <a:srgbClr val="0000FF"/>
                </a:solidFill>
              </a:rPr>
              <a:t>的</a:t>
            </a:r>
            <a:r>
              <a:rPr lang="en-US" altLang="zh-CN" dirty="0">
                <a:solidFill>
                  <a:srgbClr val="0000FF"/>
                </a:solidFill>
              </a:rPr>
              <a:t>F</a:t>
            </a:r>
            <a:r>
              <a:rPr lang="en-US" altLang="zh-CN" baseline="30000" dirty="0">
                <a:solidFill>
                  <a:srgbClr val="0000FF"/>
                </a:solidFill>
              </a:rPr>
              <a:t>−</a:t>
            </a:r>
            <a:r>
              <a:rPr lang="zh-CN" altLang="en-US" dirty="0">
                <a:solidFill>
                  <a:srgbClr val="0000FF"/>
                </a:solidFill>
              </a:rPr>
              <a:t>菌的</a:t>
            </a:r>
            <a:r>
              <a:rPr lang="zh-CN" altLang="en-US" b="1" dirty="0">
                <a:solidFill>
                  <a:srgbClr val="FF0000"/>
                </a:solidFill>
              </a:rPr>
              <a:t>重组子</a:t>
            </a:r>
            <a:r>
              <a:rPr lang="zh-CN" altLang="en-US" dirty="0"/>
              <a:t>可以生长。</a:t>
            </a:r>
            <a:endParaRPr lang="en-US" altLang="zh-CN" dirty="0"/>
          </a:p>
          <a:p>
            <a:pPr marL="457200" lvl="1" indent="-457200">
              <a:buFont typeface="Wingdings" panose="05000000000000000000" pitchFamily="2" charset="2"/>
              <a:buChar char="Ø"/>
            </a:pPr>
            <a:r>
              <a:rPr lang="zh-CN" altLang="en-US" dirty="0"/>
              <a:t>重组子的菌落影印培养在若干不同的选择培养基上，分析</a:t>
            </a:r>
            <a:r>
              <a:rPr lang="en-US" altLang="zh-CN" dirty="0" err="1"/>
              <a:t>Hfr</a:t>
            </a:r>
            <a:r>
              <a:rPr lang="zh-CN" altLang="en-US" dirty="0"/>
              <a:t>染色体上</a:t>
            </a:r>
            <a:r>
              <a:rPr lang="zh-CN" altLang="en-US" dirty="0">
                <a:solidFill>
                  <a:srgbClr val="0000FF"/>
                </a:solidFill>
              </a:rPr>
              <a:t>其他非选择性标记基因进入</a:t>
            </a:r>
            <a:r>
              <a:rPr lang="en-US" altLang="zh-CN" dirty="0">
                <a:solidFill>
                  <a:srgbClr val="0000FF"/>
                </a:solidFill>
              </a:rPr>
              <a:t>F</a:t>
            </a:r>
            <a:r>
              <a:rPr lang="en-US" altLang="zh-CN" baseline="30000" dirty="0">
                <a:solidFill>
                  <a:srgbClr val="0000FF"/>
                </a:solidFill>
              </a:rPr>
              <a:t>−</a:t>
            </a:r>
            <a:r>
              <a:rPr lang="en-US" altLang="zh-CN" dirty="0">
                <a:solidFill>
                  <a:srgbClr val="0000FF"/>
                </a:solidFill>
              </a:rPr>
              <a:t> </a:t>
            </a:r>
            <a:r>
              <a:rPr lang="zh-CN" altLang="en-US" dirty="0">
                <a:solidFill>
                  <a:srgbClr val="0000FF"/>
                </a:solidFill>
              </a:rPr>
              <a:t>细菌的顺序和所需时间</a:t>
            </a:r>
            <a:r>
              <a:rPr lang="zh-CN" altLang="en-US" dirty="0"/>
              <a:t>，</a:t>
            </a:r>
            <a:r>
              <a:rPr lang="zh-CN" altLang="en-US" dirty="0">
                <a:solidFill>
                  <a:srgbClr val="FF0000"/>
                </a:solidFill>
              </a:rPr>
              <a:t>绘制出连锁图</a:t>
            </a:r>
            <a:r>
              <a:rPr lang="zh-CN" altLang="en-US" dirty="0"/>
              <a:t>。</a:t>
            </a:r>
            <a:endParaRPr lang="zh-CN" altLang="en-US" dirty="0"/>
          </a:p>
        </p:txBody>
      </p:sp>
      <p:sp>
        <p:nvSpPr>
          <p:cNvPr id="16" name="文本框 15"/>
          <p:cNvSpPr txBox="1"/>
          <p:nvPr/>
        </p:nvSpPr>
        <p:spPr>
          <a:xfrm>
            <a:off x="3511168" y="4062917"/>
            <a:ext cx="6375400" cy="480131"/>
          </a:xfrm>
          <a:prstGeom prst="rect">
            <a:avLst/>
          </a:prstGeom>
        </p:spPr>
        <p:txBody>
          <a:bodyPr vert="horz" wrap="square" lIns="91440" tIns="45720" rIns="91440" bIns="45720" rtlCol="0">
            <a:spAutoFit/>
          </a:bodyPr>
          <a:lstStyle>
            <a:defPPr>
              <a:defRPr lang="zh-CN"/>
            </a:defPPr>
            <a:lvl1pPr marL="228600" indent="-228600">
              <a:lnSpc>
                <a:spcPct val="90000"/>
              </a:lnSpc>
              <a:spcBef>
                <a:spcPts val="1000"/>
              </a:spcBef>
              <a:buFont typeface="Arial" panose="020B0604020202020204" pitchFamily="34" charset="0"/>
              <a:buChar char="•"/>
              <a:defRPr sz="2800">
                <a:latin typeface="Times New Roman" panose="02020603050405020304" pitchFamily="18" charset="0"/>
                <a:cs typeface="Times New Roman" panose="02020603050405020304" pitchFamily="18" charset="0"/>
              </a:defRPr>
            </a:lvl1pPr>
            <a:lvl2pPr marL="0" lvl="1" indent="0">
              <a:lnSpc>
                <a:spcPct val="90000"/>
              </a:lnSpc>
              <a:spcBef>
                <a:spcPts val="500"/>
              </a:spcBef>
              <a:buFont typeface="Wingdings" panose="05000000000000000000" pitchFamily="2" charset="2"/>
              <a:buNone/>
              <a:defRPr sz="2800" b="1">
                <a:latin typeface="黑体" panose="02010609060101010101" pitchFamily="49" charset="-122"/>
                <a:ea typeface="黑体" panose="02010609060101010101" pitchFamily="49" charset="-122"/>
              </a:defRPr>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r>
              <a:rPr lang="zh-CN" altLang="en-US" b="1" dirty="0">
                <a:solidFill>
                  <a:srgbClr val="FF0000"/>
                </a:solidFill>
                <a:latin typeface="黑体" panose="02010609060101010101" pitchFamily="49" charset="-122"/>
                <a:ea typeface="黑体" panose="02010609060101010101" pitchFamily="49" charset="-122"/>
              </a:rPr>
              <a:t>什么样的细菌能生长？</a:t>
            </a:r>
            <a:endParaRPr lang="zh-CN" altLang="en-US" b="1" dirty="0">
              <a:solidFill>
                <a:srgbClr val="FF00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xEl>
                                              <p:pRg st="0" end="0"/>
                                            </p:txEl>
                                          </p:spTgt>
                                        </p:tgtEl>
                                        <p:attrNameLst>
                                          <p:attrName>style.visibility</p:attrName>
                                        </p:attrNameLst>
                                      </p:cBhvr>
                                      <p:to>
                                        <p:strVal val="visible"/>
                                      </p:to>
                                    </p:set>
                                    <p:animEffect transition="in" filter="fade">
                                      <p:cBhvr>
                                        <p:cTn id="10" dur="500"/>
                                        <p:tgtEl>
                                          <p:spTgt spid="12">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4">
                                            <p:txEl>
                                              <p:pRg st="0" end="0"/>
                                            </p:txEl>
                                          </p:spTgt>
                                        </p:tgtEl>
                                        <p:attrNameLst>
                                          <p:attrName>style.visibility</p:attrName>
                                        </p:attrNameLst>
                                      </p:cBhvr>
                                      <p:to>
                                        <p:strVal val="visible"/>
                                      </p:to>
                                    </p:set>
                                    <p:animEffect transition="in" filter="fade">
                                      <p:cBhvr>
                                        <p:cTn id="20" dur="500"/>
                                        <p:tgtEl>
                                          <p:spTgt spid="14">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4">
                                            <p:txEl>
                                              <p:pRg st="1" end="1"/>
                                            </p:txEl>
                                          </p:spTgt>
                                        </p:tgtEl>
                                        <p:attrNameLst>
                                          <p:attrName>style.visibility</p:attrName>
                                        </p:attrNameLst>
                                      </p:cBhvr>
                                      <p:to>
                                        <p:strVal val="visible"/>
                                      </p:to>
                                    </p:set>
                                    <p:animEffect transition="in" filter="fade">
                                      <p:cBhvr>
                                        <p:cTn id="25" dur="500"/>
                                        <p:tgtEl>
                                          <p:spTgt spid="1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a:srcRect l="-26" t="1038" b="1"/>
          <a:stretch>
            <a:fillRect/>
          </a:stretch>
        </p:blipFill>
        <p:spPr>
          <a:xfrm>
            <a:off x="30480" y="35560"/>
            <a:ext cx="7223606" cy="6786880"/>
          </a:xfrm>
          <a:prstGeom prst="rect">
            <a:avLst/>
          </a:prstGeom>
        </p:spPr>
      </p:pic>
      <p:sp>
        <p:nvSpPr>
          <p:cNvPr id="6" name="Rectangle 3"/>
          <p:cNvSpPr txBox="1">
            <a:spLocks noChangeArrowheads="1"/>
          </p:cNvSpPr>
          <p:nvPr/>
        </p:nvSpPr>
        <p:spPr>
          <a:xfrm>
            <a:off x="7254086" y="368872"/>
            <a:ext cx="4805834" cy="587952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Font typeface="Arial" panose="020B0604020202020204" pitchFamily="34" charset="0"/>
              <a:buNone/>
            </a:pP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每隔一定时间取样，把菌液放在搅拌器内搅拌，以中断杂交。经过稀释（防止再度配对），接种到含有链霉素的完全培养基上，这样将杀死所有</a:t>
            </a:r>
            <a:r>
              <a:rPr lang="en-US" altLang="zh-CN" b="1" dirty="0" err="1">
                <a:latin typeface="黑体" panose="02010609060101010101" pitchFamily="49" charset="-122"/>
                <a:ea typeface="黑体" panose="02010609060101010101" pitchFamily="49" charset="-122"/>
              </a:rPr>
              <a:t>Hfr</a:t>
            </a:r>
            <a:r>
              <a:rPr lang="zh-CN" altLang="en-US" b="1" dirty="0">
                <a:latin typeface="黑体" panose="02010609060101010101" pitchFamily="49" charset="-122"/>
                <a:ea typeface="黑体" panose="02010609060101010101" pitchFamily="49" charset="-122"/>
              </a:rPr>
              <a:t>细胞，然后对形成菌落的</a:t>
            </a:r>
            <a:r>
              <a:rPr lang="en-US" altLang="zh-CN" b="1" dirty="0">
                <a:latin typeface="黑体" panose="02010609060101010101" pitchFamily="49" charset="-122"/>
                <a:ea typeface="黑体" panose="02010609060101010101" pitchFamily="49" charset="-122"/>
              </a:rPr>
              <a:t>F</a:t>
            </a:r>
            <a:r>
              <a:rPr lang="en-US" altLang="zh-CN" b="1" baseline="30000"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细胞用</a:t>
            </a:r>
            <a:r>
              <a:rPr lang="zh-CN" altLang="en-US" b="1" dirty="0">
                <a:solidFill>
                  <a:srgbClr val="0000FF"/>
                </a:solidFill>
                <a:latin typeface="黑体" panose="02010609060101010101" pitchFamily="49" charset="-122"/>
                <a:ea typeface="黑体" panose="02010609060101010101" pitchFamily="49" charset="-122"/>
              </a:rPr>
              <a:t>影印培养法测试其基因型</a:t>
            </a:r>
            <a:r>
              <a:rPr lang="zh-CN" altLang="en-US" b="1" dirty="0">
                <a:latin typeface="黑体" panose="02010609060101010101" pitchFamily="49" charset="-122"/>
                <a:ea typeface="黑体" panose="02010609060101010101" pitchFamily="49" charset="-122"/>
              </a:rPr>
              <a:t>，以便确定每个基因转移到</a:t>
            </a:r>
            <a:r>
              <a:rPr lang="en-US" altLang="zh-CN" b="1" dirty="0">
                <a:latin typeface="黑体" panose="02010609060101010101" pitchFamily="49" charset="-122"/>
                <a:ea typeface="黑体" panose="02010609060101010101" pitchFamily="49" charset="-122"/>
              </a:rPr>
              <a:t>F</a:t>
            </a:r>
            <a:r>
              <a:rPr lang="en-US" altLang="zh-CN" b="1" baseline="30000"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细胞的时间 </a:t>
            </a:r>
            <a:endParaRPr lang="zh-CN" altLang="en-US" b="1" dirty="0">
              <a:latin typeface="黑体" panose="02010609060101010101" pitchFamily="49" charset="-122"/>
              <a:ea typeface="黑体" panose="02010609060101010101" pitchFamily="49"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7271678" cy="6858000"/>
          </a:xfrm>
          <a:prstGeom prst="rect">
            <a:avLst/>
          </a:prstGeom>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a:srcRect l="-26" t="1038" b="1"/>
          <a:stretch>
            <a:fillRect/>
          </a:stretch>
        </p:blipFill>
        <p:spPr>
          <a:xfrm>
            <a:off x="30480" y="35560"/>
            <a:ext cx="7223606" cy="6786880"/>
          </a:xfrm>
          <a:prstGeom prst="rect">
            <a:avLst/>
          </a:prstGeom>
        </p:spPr>
      </p:pic>
      <p:pic>
        <p:nvPicPr>
          <p:cNvPr id="4" name="图片 3"/>
          <p:cNvPicPr>
            <a:picLocks noChangeAspect="1"/>
          </p:cNvPicPr>
          <p:nvPr/>
        </p:nvPicPr>
        <p:blipFill>
          <a:blip r:embed="rId2"/>
          <a:stretch>
            <a:fillRect/>
          </a:stretch>
        </p:blipFill>
        <p:spPr>
          <a:xfrm>
            <a:off x="7324595" y="5080"/>
            <a:ext cx="4867405" cy="3532099"/>
          </a:xfrm>
          <a:prstGeom prst="rect">
            <a:avLst/>
          </a:prstGeom>
        </p:spPr>
      </p:pic>
      <p:pic>
        <p:nvPicPr>
          <p:cNvPr id="5" name="内容占位符 5"/>
          <p:cNvPicPr>
            <a:picLocks noChangeAspect="1"/>
          </p:cNvPicPr>
          <p:nvPr/>
        </p:nvPicPr>
        <p:blipFill>
          <a:blip r:embed="rId3" cstate="print">
            <a:extLst>
              <a:ext uri="{BEBA8EAE-BF5A-486C-A8C5-ECC9F3942E4B}">
                <a14:imgProps xmlns:a14="http://schemas.microsoft.com/office/drawing/2010/main">
                  <a14:imgLayer r:embed="rId4">
                    <a14:imgEffect>
                      <a14:brightnessContrast bright="20000" contrast="20000"/>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7585095" y="3429001"/>
            <a:ext cx="4231644" cy="3429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half" idx="1"/>
          </p:nvPr>
        </p:nvSpPr>
        <p:spPr>
          <a:xfrm>
            <a:off x="0" y="18165"/>
            <a:ext cx="12192000" cy="4150129"/>
          </a:xfrm>
        </p:spPr>
        <p:txBody>
          <a:bodyPr vert="horz" lIns="91440" tIns="45720" rIns="91440" bIns="45720" rtlCol="0">
            <a:noAutofit/>
          </a:bodyPr>
          <a:lstStyle/>
          <a:p>
            <a:pPr marL="457200" lvl="1" indent="-457200">
              <a:lnSpc>
                <a:spcPct val="100000"/>
              </a:lnSpc>
              <a:buFont typeface="Wingdings" panose="05000000000000000000" pitchFamily="2" charset="2"/>
              <a:buChar char="Ø"/>
            </a:pPr>
            <a:r>
              <a:rPr lang="en-US" altLang="zh-CN" sz="2800" dirty="0" err="1">
                <a:ea typeface="微软雅黑" panose="020B0503020204020204" charset="-122"/>
              </a:rPr>
              <a:t>Hfr</a:t>
            </a:r>
            <a:r>
              <a:rPr lang="en-US" altLang="zh-CN" sz="2800" dirty="0">
                <a:ea typeface="微软雅黑" panose="020B0503020204020204" charset="-122"/>
              </a:rPr>
              <a:t> </a:t>
            </a:r>
            <a:r>
              <a:rPr lang="zh-CN" altLang="en-US" sz="2800" dirty="0">
                <a:ea typeface="微软雅黑" panose="020B0503020204020204" charset="-122"/>
              </a:rPr>
              <a:t>细菌的基因按一定的时间顺序依次地出现在</a:t>
            </a:r>
            <a:r>
              <a:rPr lang="en-US" altLang="zh-CN" sz="2800" dirty="0">
                <a:ea typeface="微软雅黑" panose="020B0503020204020204" charset="-122"/>
              </a:rPr>
              <a:t>F</a:t>
            </a:r>
            <a:r>
              <a:rPr lang="en-US" altLang="zh-CN" sz="2800" baseline="30000" dirty="0">
                <a:ea typeface="微软雅黑" panose="020B0503020204020204" charset="-122"/>
              </a:rPr>
              <a:t>−</a:t>
            </a:r>
            <a:r>
              <a:rPr lang="zh-CN" altLang="en-US" sz="2800" dirty="0">
                <a:ea typeface="微软雅黑" panose="020B0503020204020204" charset="-122"/>
              </a:rPr>
              <a:t>细胞中。也就是说，染色体是从一端开始以线性方式进入</a:t>
            </a:r>
            <a:r>
              <a:rPr lang="en-US" altLang="zh-CN" sz="2800" dirty="0">
                <a:ea typeface="微软雅黑" panose="020B0503020204020204" charset="-122"/>
              </a:rPr>
              <a:t>F</a:t>
            </a:r>
            <a:r>
              <a:rPr lang="en-US" altLang="zh-CN" sz="2800" baseline="30000" dirty="0">
                <a:ea typeface="微软雅黑" panose="020B0503020204020204" charset="-122"/>
              </a:rPr>
              <a:t>−</a:t>
            </a:r>
            <a:r>
              <a:rPr lang="zh-CN" altLang="en-US" sz="2800" dirty="0">
                <a:ea typeface="微软雅黑" panose="020B0503020204020204" charset="-122"/>
              </a:rPr>
              <a:t>细胞中，这一端称为</a:t>
            </a:r>
            <a:r>
              <a:rPr lang="zh-CN" altLang="en-US" sz="2800" dirty="0">
                <a:solidFill>
                  <a:srgbClr val="FF0000"/>
                </a:solidFill>
                <a:ea typeface="微软雅黑" panose="020B0503020204020204" charset="-122"/>
              </a:rPr>
              <a:t>原点（</a:t>
            </a:r>
            <a:r>
              <a:rPr lang="en-US" altLang="zh-CN" sz="2800" dirty="0">
                <a:solidFill>
                  <a:srgbClr val="FF0000"/>
                </a:solidFill>
                <a:ea typeface="微软雅黑" panose="020B0503020204020204" charset="-122"/>
              </a:rPr>
              <a:t>origin</a:t>
            </a:r>
            <a:r>
              <a:rPr lang="zh-CN" altLang="en-US" sz="2800" dirty="0">
                <a:solidFill>
                  <a:srgbClr val="FF0000"/>
                </a:solidFill>
                <a:ea typeface="微软雅黑" panose="020B0503020204020204" charset="-122"/>
              </a:rPr>
              <a:t>） 或</a:t>
            </a:r>
            <a:r>
              <a:rPr lang="en-US" altLang="zh-CN" sz="2800" dirty="0">
                <a:solidFill>
                  <a:srgbClr val="FF0000"/>
                </a:solidFill>
                <a:ea typeface="微软雅黑" panose="020B0503020204020204" charset="-122"/>
              </a:rPr>
              <a:t>O</a:t>
            </a:r>
            <a:r>
              <a:rPr lang="zh-CN" altLang="en-US" sz="2800" dirty="0">
                <a:ea typeface="微软雅黑" panose="020B0503020204020204" charset="-122"/>
              </a:rPr>
              <a:t>。基因离开原点越远，进入</a:t>
            </a:r>
            <a:r>
              <a:rPr lang="en-US" altLang="zh-CN" sz="2800" dirty="0">
                <a:ea typeface="微软雅黑" panose="020B0503020204020204" charset="-122"/>
              </a:rPr>
              <a:t>F</a:t>
            </a:r>
            <a:r>
              <a:rPr lang="en-US" altLang="zh-CN" sz="2800" baseline="30000" dirty="0">
                <a:ea typeface="微软雅黑" panose="020B0503020204020204" charset="-122"/>
              </a:rPr>
              <a:t>−</a:t>
            </a:r>
            <a:r>
              <a:rPr lang="zh-CN" altLang="en-US" sz="2800" dirty="0">
                <a:ea typeface="微软雅黑" panose="020B0503020204020204" charset="-122"/>
              </a:rPr>
              <a:t>细胞越迟。</a:t>
            </a:r>
            <a:endParaRPr lang="en-US" altLang="zh-CN" sz="2800" dirty="0">
              <a:ea typeface="微软雅黑" panose="020B0503020204020204" charset="-122"/>
            </a:endParaRPr>
          </a:p>
          <a:p>
            <a:pPr marL="457200" lvl="1" indent="-457200">
              <a:lnSpc>
                <a:spcPct val="100000"/>
              </a:lnSpc>
              <a:buFont typeface="Wingdings" panose="05000000000000000000" pitchFamily="2" charset="2"/>
              <a:buChar char="Ø"/>
            </a:pPr>
            <a:r>
              <a:rPr lang="zh-CN" altLang="en-US" sz="2800" dirty="0">
                <a:ea typeface="微软雅黑" panose="020B0503020204020204" charset="-122"/>
              </a:rPr>
              <a:t>根据中断杂交技术，用杂交后</a:t>
            </a:r>
            <a:r>
              <a:rPr lang="en-US" altLang="zh-CN" sz="2800" dirty="0" err="1">
                <a:ea typeface="微软雅黑" panose="020B0503020204020204" charset="-122"/>
              </a:rPr>
              <a:t>Hfr</a:t>
            </a:r>
            <a:r>
              <a:rPr lang="zh-CN" altLang="en-US" sz="2800" dirty="0">
                <a:ea typeface="微软雅黑" panose="020B0503020204020204" charset="-122"/>
              </a:rPr>
              <a:t>基因最初在受体细菌中出现的时间作为指标，可以</a:t>
            </a:r>
            <a:r>
              <a:rPr lang="zh-CN" altLang="en-US" sz="2800" b="1" dirty="0">
                <a:solidFill>
                  <a:srgbClr val="FF0000"/>
                </a:solidFill>
                <a:ea typeface="微软雅黑" panose="020B0503020204020204" charset="-122"/>
              </a:rPr>
              <a:t>绘制连锁图</a:t>
            </a:r>
            <a:r>
              <a:rPr lang="zh-CN" altLang="en-US" sz="2800" dirty="0">
                <a:ea typeface="微软雅黑" panose="020B0503020204020204" charset="-122"/>
              </a:rPr>
              <a:t>。</a:t>
            </a:r>
            <a:r>
              <a:rPr lang="zh-CN" altLang="en-US" sz="2800" dirty="0">
                <a:solidFill>
                  <a:srgbClr val="FF0000"/>
                </a:solidFill>
                <a:ea typeface="微软雅黑" panose="020B0503020204020204" charset="-122"/>
              </a:rPr>
              <a:t>距离的单位是</a:t>
            </a:r>
            <a:r>
              <a:rPr lang="en-US" altLang="zh-CN" sz="2800" dirty="0">
                <a:solidFill>
                  <a:srgbClr val="FF0000"/>
                </a:solidFill>
                <a:ea typeface="微软雅黑" panose="020B0503020204020204" charset="-122"/>
              </a:rPr>
              <a:t>min</a:t>
            </a:r>
            <a:r>
              <a:rPr lang="zh-CN" altLang="en-US" sz="2800" dirty="0">
                <a:ea typeface="微软雅黑" panose="020B0503020204020204" charset="-122"/>
              </a:rPr>
              <a:t>，如果</a:t>
            </a:r>
            <a:r>
              <a:rPr lang="en-US" altLang="zh-CN" sz="2800" dirty="0">
                <a:ea typeface="微软雅黑" panose="020B0503020204020204" charset="-122"/>
              </a:rPr>
              <a:t>ton</a:t>
            </a:r>
            <a:r>
              <a:rPr lang="zh-CN" altLang="en-US" sz="2800" dirty="0">
                <a:ea typeface="微软雅黑" panose="020B0503020204020204" charset="-122"/>
              </a:rPr>
              <a:t>在</a:t>
            </a:r>
            <a:r>
              <a:rPr lang="en-US" altLang="zh-CN" sz="2800" dirty="0" err="1">
                <a:ea typeface="微软雅黑" panose="020B0503020204020204" charset="-122"/>
              </a:rPr>
              <a:t>azi</a:t>
            </a:r>
            <a:r>
              <a:rPr lang="zh-CN" altLang="en-US" sz="2800" dirty="0">
                <a:ea typeface="微软雅黑" panose="020B0503020204020204" charset="-122"/>
              </a:rPr>
              <a:t>开始进入</a:t>
            </a:r>
            <a:r>
              <a:rPr lang="en-US" altLang="zh-CN" sz="2800" dirty="0">
                <a:ea typeface="微软雅黑" panose="020B0503020204020204" charset="-122"/>
              </a:rPr>
              <a:t>F</a:t>
            </a:r>
            <a:r>
              <a:rPr lang="en-US" altLang="zh-CN" sz="2800" baseline="30000" dirty="0">
                <a:ea typeface="微软雅黑" panose="020B0503020204020204" charset="-122"/>
              </a:rPr>
              <a:t>−</a:t>
            </a:r>
            <a:r>
              <a:rPr lang="zh-CN" altLang="en-US" sz="2800" dirty="0">
                <a:ea typeface="微软雅黑" panose="020B0503020204020204" charset="-122"/>
              </a:rPr>
              <a:t>细胞后</a:t>
            </a:r>
            <a:r>
              <a:rPr lang="en-US" altLang="zh-CN" sz="2800" dirty="0">
                <a:ea typeface="微软雅黑" panose="020B0503020204020204" charset="-122"/>
              </a:rPr>
              <a:t>2 min</a:t>
            </a:r>
            <a:r>
              <a:rPr lang="zh-CN" altLang="en-US" sz="2800" dirty="0">
                <a:ea typeface="微软雅黑" panose="020B0503020204020204" charset="-122"/>
              </a:rPr>
              <a:t>进入，那么</a:t>
            </a:r>
            <a:r>
              <a:rPr lang="en-US" altLang="zh-CN" sz="2800" dirty="0" err="1">
                <a:ea typeface="微软雅黑" panose="020B0503020204020204" charset="-122"/>
              </a:rPr>
              <a:t>azi</a:t>
            </a:r>
            <a:r>
              <a:rPr lang="zh-CN" altLang="en-US" sz="2800" dirty="0">
                <a:ea typeface="微软雅黑" panose="020B0503020204020204" charset="-122"/>
              </a:rPr>
              <a:t>和</a:t>
            </a:r>
            <a:r>
              <a:rPr lang="en-US" altLang="zh-CN" sz="2800" dirty="0">
                <a:ea typeface="微软雅黑" panose="020B0503020204020204" charset="-122"/>
              </a:rPr>
              <a:t>ton</a:t>
            </a:r>
            <a:r>
              <a:rPr lang="zh-CN" altLang="en-US" sz="2800" dirty="0">
                <a:ea typeface="微软雅黑" panose="020B0503020204020204" charset="-122"/>
              </a:rPr>
              <a:t>相隔</a:t>
            </a:r>
            <a:r>
              <a:rPr lang="en-US" altLang="zh-CN" sz="2800" dirty="0">
                <a:ea typeface="微软雅黑" panose="020B0503020204020204" charset="-122"/>
              </a:rPr>
              <a:t>2</a:t>
            </a:r>
            <a:r>
              <a:rPr lang="zh-CN" altLang="en-US" sz="2800" dirty="0">
                <a:ea typeface="微软雅黑" panose="020B0503020204020204" charset="-122"/>
              </a:rPr>
              <a:t>单位。</a:t>
            </a:r>
            <a:r>
              <a:rPr lang="zh-CN" altLang="en-US" sz="2800" i="1" dirty="0">
                <a:ea typeface="微软雅黑" panose="020B0503020204020204" charset="-122"/>
              </a:rPr>
              <a:t>这种连锁图是根据遗传学资料作成的，</a:t>
            </a:r>
            <a:r>
              <a:rPr lang="zh-CN" altLang="en-US" sz="2800" i="1" dirty="0">
                <a:solidFill>
                  <a:srgbClr val="FF0000"/>
                </a:solidFill>
                <a:ea typeface="微软雅黑" panose="020B0503020204020204" charset="-122"/>
              </a:rPr>
              <a:t>并不能</a:t>
            </a:r>
            <a:r>
              <a:rPr lang="zh-CN" altLang="en-US" sz="2800" i="1" dirty="0">
                <a:ea typeface="微软雅黑" panose="020B0503020204020204" charset="-122"/>
              </a:rPr>
              <a:t>准确反映基因间真实的物理距离。</a:t>
            </a:r>
            <a:endParaRPr lang="en-US" altLang="zh-CN" sz="2800" dirty="0">
              <a:ea typeface="微软雅黑" panose="020B0503020204020204" charset="-122"/>
            </a:endParaRPr>
          </a:p>
          <a:p>
            <a:pPr marL="457200" lvl="1" indent="-457200">
              <a:lnSpc>
                <a:spcPct val="100000"/>
              </a:lnSpc>
              <a:buFont typeface="Wingdings" panose="05000000000000000000" pitchFamily="2" charset="2"/>
              <a:buChar char="Ø"/>
            </a:pPr>
            <a:r>
              <a:rPr lang="en-US" altLang="zh-CN" sz="2800" dirty="0">
                <a:solidFill>
                  <a:srgbClr val="0000FF"/>
                </a:solidFill>
                <a:ea typeface="微软雅黑" panose="020B0503020204020204" charset="-122"/>
              </a:rPr>
              <a:t>F</a:t>
            </a:r>
            <a:r>
              <a:rPr lang="zh-CN" altLang="en-US" sz="2800" dirty="0">
                <a:solidFill>
                  <a:srgbClr val="0000FF"/>
                </a:solidFill>
                <a:ea typeface="微软雅黑" panose="020B0503020204020204" charset="-122"/>
              </a:rPr>
              <a:t>因子</a:t>
            </a:r>
            <a:r>
              <a:rPr lang="zh-CN" altLang="en-US" sz="2800" dirty="0">
                <a:solidFill>
                  <a:srgbClr val="FF0000"/>
                </a:solidFill>
                <a:ea typeface="微软雅黑" panose="020B0503020204020204" charset="-122"/>
              </a:rPr>
              <a:t>最后转移</a:t>
            </a:r>
            <a:r>
              <a:rPr lang="zh-CN" altLang="en-US" sz="2800" dirty="0">
                <a:solidFill>
                  <a:srgbClr val="0000FF"/>
                </a:solidFill>
                <a:ea typeface="微软雅黑" panose="020B0503020204020204" charset="-122"/>
              </a:rPr>
              <a:t>到受体，并使它们成为供体，但效率很低，是线性染色体的最后一个单位。</a:t>
            </a:r>
            <a:endParaRPr lang="zh-CN" altLang="en-US" sz="2800" dirty="0">
              <a:solidFill>
                <a:srgbClr val="0000FF"/>
              </a:solidFill>
              <a:ea typeface="微软雅黑" panose="020B0503020204020204" charset="-122"/>
            </a:endParaRPr>
          </a:p>
        </p:txBody>
      </p:sp>
      <p:sp>
        <p:nvSpPr>
          <p:cNvPr id="11" name="文本框 10"/>
          <p:cNvSpPr txBox="1"/>
          <p:nvPr/>
        </p:nvSpPr>
        <p:spPr>
          <a:xfrm>
            <a:off x="3260682" y="5522409"/>
            <a:ext cx="6035718" cy="461665"/>
          </a:xfrm>
          <a:prstGeom prst="rect">
            <a:avLst/>
          </a:prstGeom>
          <a:noFill/>
        </p:spPr>
        <p:txBody>
          <a:bodyPr wrap="square">
            <a:spAutoFit/>
          </a:bodyPr>
          <a:lstStyle>
            <a:defPPr>
              <a:defRPr lang="zh-CN"/>
            </a:defPPr>
            <a:lvl1pPr algn="ctr">
              <a:defRPr sz="1400">
                <a:latin typeface="Times New Roman" panose="02020603050405020304" pitchFamily="18" charset="0"/>
                <a:ea typeface="微软雅黑" panose="020B0503020204020204" charset="-122"/>
                <a:cs typeface="Times New Roman" panose="02020603050405020304" pitchFamily="18" charset="0"/>
              </a:defRPr>
            </a:lvl1pPr>
          </a:lstStyle>
          <a:p>
            <a:r>
              <a:rPr lang="zh-CN" altLang="en-US" sz="2400" b="1" dirty="0"/>
              <a:t>根据中断杂交技术制作的大肠杆菌连锁图</a:t>
            </a:r>
            <a:endParaRPr lang="zh-CN" altLang="en-US" sz="2400" b="1" dirty="0"/>
          </a:p>
        </p:txBody>
      </p:sp>
      <p:pic>
        <p:nvPicPr>
          <p:cNvPr id="13" name="内容占位符 4"/>
          <p:cNvPicPr>
            <a:picLocks noChangeAspect="1"/>
          </p:cNvPicPr>
          <p:nvPr/>
        </p:nvPicPr>
        <p:blipFill>
          <a:blip r:embed="rId1" cstate="print">
            <a:extLst>
              <a:ext uri="{BEBA8EAE-BF5A-486C-A8C5-ECC9F3942E4B}">
                <a14:imgProps xmlns:a14="http://schemas.microsoft.com/office/drawing/2010/main">
                  <a14:imgLayer r:embed="rId2">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2070538" y="4444548"/>
            <a:ext cx="8050923" cy="80160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150828" y="750125"/>
            <a:ext cx="6285435" cy="4246418"/>
          </a:xfrm>
        </p:spPr>
        <p:txBody>
          <a:bodyPr vert="horz" lIns="91440" tIns="45720" rIns="91440" bIns="45720" rtlCol="0">
            <a:noAutofit/>
          </a:bodyPr>
          <a:lstStyle/>
          <a:p>
            <a:pPr marL="457200" lvl="1" indent="-457200">
              <a:lnSpc>
                <a:spcPct val="100000"/>
              </a:lnSpc>
              <a:buFont typeface="Wingdings" panose="05000000000000000000" pitchFamily="2" charset="2"/>
              <a:buChar char="Ø"/>
            </a:pPr>
            <a:r>
              <a:rPr lang="zh-CN" altLang="en-US" sz="2800" dirty="0">
                <a:ea typeface="微软雅黑" panose="020B0503020204020204" charset="-122"/>
              </a:rPr>
              <a:t>用不同</a:t>
            </a:r>
            <a:r>
              <a:rPr lang="en-US" altLang="zh-CN" sz="2800" dirty="0" err="1">
                <a:ea typeface="微软雅黑" panose="020B0503020204020204" charset="-122"/>
              </a:rPr>
              <a:t>Hfr</a:t>
            </a:r>
            <a:r>
              <a:rPr lang="zh-CN" altLang="en-US" sz="2800" dirty="0">
                <a:ea typeface="微软雅黑" panose="020B0503020204020204" charset="-122"/>
              </a:rPr>
              <a:t>菌株进行中断杂交实验，都可作成连锁图，可是基因转移的顺序、转移起点和转移方向却很不相同。</a:t>
            </a:r>
            <a:r>
              <a:rPr lang="zh-CN" altLang="en-US" sz="2800" dirty="0">
                <a:solidFill>
                  <a:srgbClr val="0000FF"/>
                </a:solidFill>
                <a:ea typeface="微软雅黑" panose="020B0503020204020204" charset="-122"/>
              </a:rPr>
              <a:t>如何解释？</a:t>
            </a:r>
            <a:endParaRPr lang="en-US" altLang="zh-CN" sz="2800" dirty="0">
              <a:solidFill>
                <a:srgbClr val="0000FF"/>
              </a:solidFill>
              <a:ea typeface="微软雅黑" panose="020B0503020204020204" charset="-122"/>
            </a:endParaRPr>
          </a:p>
          <a:p>
            <a:pPr marL="0" lvl="1" indent="0">
              <a:lnSpc>
                <a:spcPct val="100000"/>
              </a:lnSpc>
              <a:buNone/>
            </a:pPr>
            <a:endParaRPr lang="en-US" altLang="zh-CN" sz="2800" dirty="0">
              <a:ea typeface="微软雅黑" panose="020B0503020204020204" charset="-122"/>
            </a:endParaRPr>
          </a:p>
          <a:p>
            <a:pPr marL="457200" lvl="1" indent="-457200">
              <a:lnSpc>
                <a:spcPct val="100000"/>
              </a:lnSpc>
              <a:buFont typeface="Wingdings" panose="05000000000000000000" pitchFamily="2" charset="2"/>
              <a:buChar char="Ø"/>
            </a:pPr>
            <a:r>
              <a:rPr lang="en-US" altLang="zh-CN" sz="2800" dirty="0">
                <a:solidFill>
                  <a:srgbClr val="FF0000"/>
                </a:solidFill>
                <a:ea typeface="微软雅黑" panose="020B0503020204020204" charset="-122"/>
              </a:rPr>
              <a:t>F</a:t>
            </a:r>
            <a:r>
              <a:rPr lang="zh-CN" altLang="en-US" sz="2800" dirty="0">
                <a:solidFill>
                  <a:srgbClr val="FF0000"/>
                </a:solidFill>
                <a:ea typeface="微软雅黑" panose="020B0503020204020204" charset="-122"/>
              </a:rPr>
              <a:t>因子和细菌染色体都是环状的，</a:t>
            </a:r>
            <a:r>
              <a:rPr lang="zh-CN" altLang="en-US" sz="2800" dirty="0">
                <a:ea typeface="微软雅黑" panose="020B0503020204020204" charset="-122"/>
              </a:rPr>
              <a:t>而</a:t>
            </a:r>
            <a:r>
              <a:rPr lang="en-US" altLang="zh-CN" sz="2800" dirty="0" err="1">
                <a:ea typeface="微软雅黑" panose="020B0503020204020204" charset="-122"/>
              </a:rPr>
              <a:t>Hfr</a:t>
            </a:r>
            <a:r>
              <a:rPr lang="zh-CN" altLang="en-US" sz="2800" dirty="0">
                <a:ea typeface="微软雅黑" panose="020B0503020204020204" charset="-122"/>
              </a:rPr>
              <a:t>细胞染色体的形成，则因</a:t>
            </a:r>
            <a:r>
              <a:rPr lang="en-US" altLang="zh-CN" sz="2800" dirty="0">
                <a:solidFill>
                  <a:srgbClr val="FF0000"/>
                </a:solidFill>
                <a:ea typeface="微软雅黑" panose="020B0503020204020204" charset="-122"/>
              </a:rPr>
              <a:t>F</a:t>
            </a:r>
            <a:r>
              <a:rPr lang="zh-CN" altLang="en-US" sz="2800" dirty="0">
                <a:solidFill>
                  <a:srgbClr val="FF0000"/>
                </a:solidFill>
                <a:ea typeface="微软雅黑" panose="020B0503020204020204" charset="-122"/>
              </a:rPr>
              <a:t>因子插入环状染色体的不同位置</a:t>
            </a:r>
            <a:r>
              <a:rPr lang="zh-CN" altLang="en-US" sz="2800" dirty="0">
                <a:ea typeface="微软雅黑" panose="020B0503020204020204" charset="-122"/>
              </a:rPr>
              <a:t>，而形成了不同的转移原点和转移方向</a:t>
            </a:r>
            <a:endParaRPr lang="zh-CN" altLang="en-US" sz="2800" dirty="0">
              <a:ea typeface="微软雅黑" panose="020B0503020204020204" charset="-122"/>
            </a:endParaRPr>
          </a:p>
        </p:txBody>
      </p:sp>
      <p:pic>
        <p:nvPicPr>
          <p:cNvPr id="9" name="内容占位符 5"/>
          <p:cNvPicPr>
            <a:picLocks noChangeAspect="1"/>
          </p:cNvPicPr>
          <p:nvPr/>
        </p:nvPicPr>
        <p:blipFill>
          <a:blip r:embed="rId1" cstate="print">
            <a:extLst>
              <a:ext uri="{BEBA8EAE-BF5A-486C-A8C5-ECC9F3942E4B}">
                <a14:imgProps xmlns:a14="http://schemas.microsoft.com/office/drawing/2010/main">
                  <a14:imgLayer r:embed="rId2">
                    <a14:imgEffect>
                      <a14:brightnessContrast bright="20000" contrast="20000"/>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6941820" y="2536825"/>
            <a:ext cx="4300220" cy="3502660"/>
          </a:xfrm>
          <a:prstGeom prst="rect">
            <a:avLst/>
          </a:prstGeom>
        </p:spPr>
      </p:pic>
      <p:sp>
        <p:nvSpPr>
          <p:cNvPr id="10" name="文本框 9"/>
          <p:cNvSpPr txBox="1"/>
          <p:nvPr/>
        </p:nvSpPr>
        <p:spPr>
          <a:xfrm>
            <a:off x="6368415" y="6111875"/>
            <a:ext cx="5710555" cy="746125"/>
          </a:xfrm>
          <a:prstGeom prst="rect">
            <a:avLst/>
          </a:prstGeom>
        </p:spPr>
        <p:txBody>
          <a:bodyPr vert="horz" lIns="91440" tIns="45720" rIns="91440" bIns="45720" rtlCol="0">
            <a:noAutofit/>
          </a:bodyPr>
          <a:lstStyle>
            <a:lvl1pPr marL="228600" indent="-228600">
              <a:lnSpc>
                <a:spcPct val="90000"/>
              </a:lnSpc>
              <a:spcBef>
                <a:spcPts val="1000"/>
              </a:spcBef>
              <a:buFont typeface="Arial" panose="020B0604020202020204" pitchFamily="34" charset="0"/>
              <a:buChar char="•"/>
              <a:defRPr sz="2800">
                <a:latin typeface="Times New Roman" panose="02020603050405020304" pitchFamily="18" charset="0"/>
                <a:cs typeface="Times New Roman" panose="02020603050405020304" pitchFamily="18" charset="0"/>
              </a:defRPr>
            </a:lvl1pPr>
            <a:lvl2pPr lvl="1" indent="-457200">
              <a:lnSpc>
                <a:spcPct val="100000"/>
              </a:lnSpc>
              <a:spcBef>
                <a:spcPts val="500"/>
              </a:spcBef>
              <a:buFont typeface="Wingdings" panose="05000000000000000000" pitchFamily="2" charset="2"/>
              <a:buChar char="Ø"/>
              <a:defRPr sz="2800">
                <a:latin typeface="Times New Roman" panose="02020603050405020304" pitchFamily="18" charset="0"/>
                <a:ea typeface="微软雅黑" panose="020B0503020204020204"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r>
              <a:rPr lang="zh-CN" altLang="en-US" sz="2000" b="1" dirty="0"/>
              <a:t>图中小黑方块代表</a:t>
            </a:r>
            <a:r>
              <a:rPr lang="en-US" altLang="zh-CN" sz="2000" b="1" dirty="0"/>
              <a:t>F</a:t>
            </a:r>
            <a:r>
              <a:rPr lang="zh-CN" altLang="en-US" sz="2000" b="1" dirty="0"/>
              <a:t>因子插入环形染色体的位置，箭头表示各 </a:t>
            </a:r>
            <a:r>
              <a:rPr lang="en-US" altLang="zh-CN" sz="2000" b="1" dirty="0" err="1"/>
              <a:t>Hfr</a:t>
            </a:r>
            <a:r>
              <a:rPr lang="zh-CN" altLang="en-US" sz="2000" b="1" dirty="0"/>
              <a:t>菌株的染色体的转移起点和方向。</a:t>
            </a:r>
            <a:endParaRPr lang="zh-CN" altLang="en-US" sz="2000" b="1" dirty="0"/>
          </a:p>
        </p:txBody>
      </p:sp>
      <p:pic>
        <p:nvPicPr>
          <p:cNvPr id="11" name="图片 10"/>
          <p:cNvPicPr>
            <a:picLocks noChangeAspect="1"/>
          </p:cNvPicPr>
          <p:nvPr/>
        </p:nvPicPr>
        <p:blipFill>
          <a:blip r:embed="rId3"/>
          <a:stretch>
            <a:fillRect/>
          </a:stretch>
        </p:blipFill>
        <p:spPr>
          <a:xfrm>
            <a:off x="6831658" y="0"/>
            <a:ext cx="4593772" cy="253866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3584" y="21486"/>
            <a:ext cx="10515600" cy="659551"/>
          </a:xfrm>
        </p:spPr>
        <p:txBody>
          <a:bodyPr vert="horz" lIns="91440" tIns="45720" rIns="91440" bIns="45720" rtlCol="0" anchor="ctr">
            <a:normAutofit/>
          </a:bodyPr>
          <a:lstStyle/>
          <a:p>
            <a:r>
              <a:rPr lang="zh-CN" altLang="en-US" sz="3200" b="1" dirty="0">
                <a:solidFill>
                  <a:srgbClr val="0000FF"/>
                </a:solidFill>
                <a:latin typeface="黑体" panose="02010609060101010101" pitchFamily="49" charset="-122"/>
                <a:ea typeface="黑体" panose="02010609060101010101" pitchFamily="49" charset="-122"/>
              </a:rPr>
              <a:t>（四）</a:t>
            </a:r>
            <a:r>
              <a:rPr lang="en-US" altLang="zh-CN" sz="3200" b="1" dirty="0">
                <a:solidFill>
                  <a:srgbClr val="0000FF"/>
                </a:solidFill>
                <a:latin typeface="黑体" panose="02010609060101010101" pitchFamily="49" charset="-122"/>
                <a:ea typeface="黑体" panose="02010609060101010101" pitchFamily="49" charset="-122"/>
              </a:rPr>
              <a:t>F</a:t>
            </a:r>
            <a:r>
              <a:rPr lang="zh-CN" altLang="en-US" sz="3200" b="1" dirty="0">
                <a:solidFill>
                  <a:srgbClr val="0000FF"/>
                </a:solidFill>
                <a:latin typeface="黑体" panose="02010609060101010101" pitchFamily="49" charset="-122"/>
                <a:ea typeface="黑体" panose="02010609060101010101" pitchFamily="49" charset="-122"/>
              </a:rPr>
              <a:t>因子整合到细菌染色体的过程</a:t>
            </a:r>
            <a:endParaRPr lang="zh-CN" altLang="en-US" sz="3200" b="1" dirty="0">
              <a:solidFill>
                <a:srgbClr val="0000FF"/>
              </a:solidFill>
              <a:latin typeface="黑体" panose="02010609060101010101" pitchFamily="49" charset="-122"/>
              <a:ea typeface="黑体" panose="02010609060101010101" pitchFamily="49" charset="-122"/>
            </a:endParaRPr>
          </a:p>
        </p:txBody>
      </p:sp>
      <p:sp>
        <p:nvSpPr>
          <p:cNvPr id="8" name="文本框 7"/>
          <p:cNvSpPr txBox="1"/>
          <p:nvPr/>
        </p:nvSpPr>
        <p:spPr>
          <a:xfrm>
            <a:off x="1475625" y="3495073"/>
            <a:ext cx="9293559" cy="590931"/>
          </a:xfrm>
          <a:prstGeom prst="rect">
            <a:avLst/>
          </a:prstGeom>
        </p:spPr>
        <p:txBody>
          <a:bodyPr vert="horz" lIns="91440" tIns="45720" rIns="91440" bIns="45720" rtlCol="0">
            <a:noAutofit/>
          </a:bodyPr>
          <a:lstStyle>
            <a:defPPr>
              <a:defRPr lang="zh-CN"/>
            </a:defPPr>
            <a:lvl1pPr indent="0">
              <a:lnSpc>
                <a:spcPct val="90000"/>
              </a:lnSpc>
              <a:spcBef>
                <a:spcPts val="1000"/>
              </a:spcBef>
              <a:buFont typeface="Arial" panose="020B0604020202020204" pitchFamily="34" charset="0"/>
              <a:buNone/>
              <a:defRPr b="1">
                <a:latin typeface="Times New Roman" panose="02020603050405020304" pitchFamily="18" charset="0"/>
                <a:cs typeface="Times New Roman" panose="02020603050405020304" pitchFamily="18" charset="0"/>
              </a:defRPr>
            </a:lvl1pPr>
            <a:lvl2pPr lvl="1" indent="-457200">
              <a:lnSpc>
                <a:spcPct val="100000"/>
              </a:lnSpc>
              <a:spcBef>
                <a:spcPts val="500"/>
              </a:spcBef>
              <a:buFont typeface="Wingdings" panose="05000000000000000000" pitchFamily="2" charset="2"/>
              <a:buChar char="Ø"/>
              <a:defRPr sz="2800">
                <a:latin typeface="Times New Roman" panose="02020603050405020304" pitchFamily="18" charset="0"/>
                <a:ea typeface="微软雅黑" panose="020B0503020204020204"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sz="2400" dirty="0">
                <a:latin typeface="黑体" panose="02010609060101010101" pitchFamily="49" charset="-122"/>
                <a:ea typeface="黑体" panose="02010609060101010101" pitchFamily="49" charset="-122"/>
              </a:rPr>
              <a:t>环状</a:t>
            </a:r>
            <a:r>
              <a:rPr lang="en-US" altLang="zh-CN" sz="2400" dirty="0">
                <a:latin typeface="黑体" panose="02010609060101010101" pitchFamily="49" charset="-122"/>
                <a:ea typeface="黑体" panose="02010609060101010101" pitchFamily="49" charset="-122"/>
              </a:rPr>
              <a:t>F</a:t>
            </a:r>
            <a:r>
              <a:rPr lang="zh-CN" altLang="en-US" sz="2400" dirty="0">
                <a:latin typeface="黑体" panose="02010609060101010101" pitchFamily="49" charset="-122"/>
                <a:ea typeface="黑体" panose="02010609060101010101" pitchFamily="49" charset="-122"/>
              </a:rPr>
              <a:t>因子通过交换整合到环状的细菌染色体中，形成</a:t>
            </a:r>
            <a:r>
              <a:rPr lang="en-US" altLang="zh-CN" sz="2400" dirty="0" err="1">
                <a:latin typeface="黑体" panose="02010609060101010101" pitchFamily="49" charset="-122"/>
                <a:ea typeface="黑体" panose="02010609060101010101" pitchFamily="49" charset="-122"/>
              </a:rPr>
              <a:t>Hfr</a:t>
            </a:r>
            <a:r>
              <a:rPr lang="zh-CN" altLang="en-US" sz="2400" dirty="0">
                <a:latin typeface="黑体" panose="02010609060101010101" pitchFamily="49" charset="-122"/>
                <a:ea typeface="黑体" panose="02010609060101010101" pitchFamily="49" charset="-122"/>
              </a:rPr>
              <a:t>染色体。</a:t>
            </a:r>
            <a:endParaRPr lang="zh-CN" altLang="en-US" sz="2400" dirty="0">
              <a:latin typeface="黑体" panose="02010609060101010101" pitchFamily="49" charset="-122"/>
              <a:ea typeface="黑体" panose="02010609060101010101" pitchFamily="49" charset="-122"/>
            </a:endParaRPr>
          </a:p>
        </p:txBody>
      </p:sp>
      <p:pic>
        <p:nvPicPr>
          <p:cNvPr id="3" name="图片 2"/>
          <p:cNvPicPr>
            <a:picLocks noChangeAspect="1"/>
          </p:cNvPicPr>
          <p:nvPr/>
        </p:nvPicPr>
        <p:blipFill>
          <a:blip r:embed="rId1" cstate="print">
            <a:extLst>
              <a:ext uri="{BEBA8EAE-BF5A-486C-A8C5-ECC9F3942E4B}">
                <a14:imgProps xmlns:a14="http://schemas.microsoft.com/office/drawing/2010/main">
                  <a14:imgLayer r:embed="rId2">
                    <a14:imgEffect>
                      <a14:brightnessContrast bright="20000" contrast="20000"/>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477112" y="886328"/>
            <a:ext cx="6631969" cy="2403454"/>
          </a:xfrm>
          <a:prstGeom prst="rect">
            <a:avLst/>
          </a:prstGeom>
        </p:spPr>
      </p:pic>
      <p:sp>
        <p:nvSpPr>
          <p:cNvPr id="5" name="内容占位符 4"/>
          <p:cNvSpPr>
            <a:spLocks noGrp="1"/>
          </p:cNvSpPr>
          <p:nvPr>
            <p:ph sz="half" idx="1"/>
          </p:nvPr>
        </p:nvSpPr>
        <p:spPr>
          <a:xfrm>
            <a:off x="121638" y="4175408"/>
            <a:ext cx="11809524" cy="1771767"/>
          </a:xfrm>
        </p:spPr>
        <p:txBody>
          <a:bodyPr vert="horz" wrap="square" lIns="91440" tIns="45720" rIns="91440" bIns="45720" rtlCol="0">
            <a:spAutoFit/>
          </a:bodyPr>
          <a:lstStyle/>
          <a:p>
            <a:pPr marL="0" lvl="1" indent="0">
              <a:buNone/>
            </a:pPr>
            <a:r>
              <a:rPr lang="en-US" altLang="zh-CN" sz="2800" b="1" dirty="0">
                <a:latin typeface="黑体" panose="02010609060101010101" pitchFamily="49" charset="-122"/>
                <a:ea typeface="黑体" panose="02010609060101010101" pitchFamily="49" charset="-122"/>
                <a:cs typeface="+mn-cs"/>
              </a:rPr>
              <a:t>    </a:t>
            </a:r>
            <a:r>
              <a:rPr lang="en-US" altLang="zh-CN" sz="2800" b="1" dirty="0">
                <a:solidFill>
                  <a:srgbClr val="0000FF"/>
                </a:solidFill>
                <a:latin typeface="黑体" panose="02010609060101010101" pitchFamily="49" charset="-122"/>
                <a:ea typeface="黑体" panose="02010609060101010101" pitchFamily="49" charset="-122"/>
                <a:cs typeface="+mn-cs"/>
              </a:rPr>
              <a:t>F</a:t>
            </a:r>
            <a:r>
              <a:rPr lang="zh-CN" altLang="en-US" sz="2800" b="1" dirty="0">
                <a:solidFill>
                  <a:srgbClr val="0000FF"/>
                </a:solidFill>
                <a:latin typeface="黑体" panose="02010609060101010101" pitchFamily="49" charset="-122"/>
                <a:ea typeface="黑体" panose="02010609060101010101" pitchFamily="49" charset="-122"/>
                <a:cs typeface="+mn-cs"/>
              </a:rPr>
              <a:t>因子是质粒的一种</a:t>
            </a:r>
            <a:r>
              <a:rPr lang="zh-CN" altLang="en-US" sz="2800" b="1" dirty="0">
                <a:latin typeface="黑体" panose="02010609060101010101" pitchFamily="49" charset="-122"/>
                <a:ea typeface="黑体" panose="02010609060101010101" pitchFamily="49" charset="-122"/>
                <a:cs typeface="+mn-cs"/>
              </a:rPr>
              <a:t>。可以自我复制，并在细胞分裂时分配到子细胞中。</a:t>
            </a:r>
            <a:r>
              <a:rPr lang="zh-CN" altLang="en-US" sz="2800" b="1" dirty="0">
                <a:solidFill>
                  <a:srgbClr val="FF0000"/>
                </a:solidFill>
                <a:latin typeface="黑体" panose="02010609060101010101" pitchFamily="49" charset="-122"/>
                <a:ea typeface="黑体" panose="02010609060101010101" pitchFamily="49" charset="-122"/>
                <a:cs typeface="+mn-cs"/>
              </a:rPr>
              <a:t>有的质粒还可整合到染色体上</a:t>
            </a:r>
            <a:r>
              <a:rPr lang="zh-CN" altLang="en-US" sz="2800" b="1" dirty="0">
                <a:latin typeface="黑体" panose="02010609060101010101" pitchFamily="49" charset="-122"/>
                <a:ea typeface="黑体" panose="02010609060101010101" pitchFamily="49" charset="-122"/>
                <a:cs typeface="+mn-cs"/>
              </a:rPr>
              <a:t>，成为染色体的一部分，这样的质粒被特称为</a:t>
            </a:r>
            <a:r>
              <a:rPr lang="zh-CN" altLang="en-US" sz="2800" b="1" dirty="0">
                <a:solidFill>
                  <a:srgbClr val="FF0000"/>
                </a:solidFill>
                <a:latin typeface="黑体" panose="02010609060101010101" pitchFamily="49" charset="-122"/>
                <a:ea typeface="黑体" panose="02010609060101010101" pitchFamily="49" charset="-122"/>
                <a:cs typeface="+mn-cs"/>
              </a:rPr>
              <a:t>附加体</a:t>
            </a:r>
            <a:r>
              <a:rPr lang="zh-CN" altLang="en-US" sz="2800" b="1" dirty="0">
                <a:latin typeface="黑体" panose="02010609060101010101" pitchFamily="49" charset="-122"/>
                <a:ea typeface="黑体" panose="02010609060101010101" pitchFamily="49" charset="-122"/>
                <a:cs typeface="+mn-cs"/>
              </a:rPr>
              <a:t>（</a:t>
            </a:r>
            <a:r>
              <a:rPr lang="en-US" altLang="zh-CN" sz="2800" b="1" dirty="0">
                <a:latin typeface="黑体" panose="02010609060101010101" pitchFamily="49" charset="-122"/>
                <a:ea typeface="黑体" panose="02010609060101010101" pitchFamily="49" charset="-122"/>
                <a:cs typeface="+mn-cs"/>
              </a:rPr>
              <a:t>episome</a:t>
            </a:r>
            <a:r>
              <a:rPr lang="zh-CN" altLang="en-US" sz="2800" b="1" dirty="0">
                <a:latin typeface="黑体" panose="02010609060101010101" pitchFamily="49" charset="-122"/>
                <a:ea typeface="黑体" panose="02010609060101010101" pitchFamily="49" charset="-122"/>
                <a:cs typeface="+mn-cs"/>
              </a:rPr>
              <a:t>）。 </a:t>
            </a:r>
            <a:r>
              <a:rPr lang="en-US" altLang="zh-CN" sz="2800" b="1" dirty="0">
                <a:latin typeface="黑体" panose="02010609060101010101" pitchFamily="49" charset="-122"/>
                <a:ea typeface="黑体" panose="02010609060101010101" pitchFamily="49" charset="-122"/>
                <a:cs typeface="+mn-cs"/>
              </a:rPr>
              <a:t>F</a:t>
            </a:r>
            <a:r>
              <a:rPr lang="zh-CN" altLang="en-US" sz="2800" b="1" dirty="0">
                <a:latin typeface="黑体" panose="02010609060101010101" pitchFamily="49" charset="-122"/>
                <a:ea typeface="黑体" panose="02010609060101010101" pitchFamily="49" charset="-122"/>
                <a:cs typeface="+mn-cs"/>
              </a:rPr>
              <a:t>质粒也是附加体的一种。</a:t>
            </a:r>
            <a:endParaRPr lang="en-US" altLang="zh-CN" sz="2800" b="1" dirty="0">
              <a:latin typeface="黑体" panose="02010609060101010101" pitchFamily="49" charset="-122"/>
              <a:ea typeface="黑体" panose="02010609060101010101" pitchFamily="49" charset="-122"/>
              <a:cs typeface="+mn-cs"/>
            </a:endParaRPr>
          </a:p>
          <a:p>
            <a:endParaRPr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7061690" y="6410232"/>
            <a:ext cx="4748322" cy="341632"/>
          </a:xfrm>
          <a:prstGeom prst="rect">
            <a:avLst/>
          </a:prstGeom>
        </p:spPr>
        <p:txBody>
          <a:bodyPr vert="horz" lIns="91440" tIns="45720" rIns="91440" bIns="45720" rtlCol="0">
            <a:noAutofit/>
          </a:bodyPr>
          <a:lstStyle>
            <a:defPPr>
              <a:defRPr lang="zh-CN"/>
            </a:defPPr>
            <a:lvl1pPr indent="0">
              <a:lnSpc>
                <a:spcPct val="90000"/>
              </a:lnSpc>
              <a:spcBef>
                <a:spcPts val="1000"/>
              </a:spcBef>
              <a:buFont typeface="Arial" panose="020B0604020202020204" pitchFamily="34" charset="0"/>
              <a:buNone/>
              <a:defRPr b="1">
                <a:latin typeface="Times New Roman" panose="02020603050405020304" pitchFamily="18" charset="0"/>
                <a:cs typeface="Times New Roman" panose="02020603050405020304" pitchFamily="18" charset="0"/>
              </a:defRPr>
            </a:lvl1pPr>
            <a:lvl2pPr lvl="1" indent="-457200">
              <a:lnSpc>
                <a:spcPct val="100000"/>
              </a:lnSpc>
              <a:spcBef>
                <a:spcPts val="500"/>
              </a:spcBef>
              <a:buFont typeface="Wingdings" panose="05000000000000000000" pitchFamily="2" charset="2"/>
              <a:buChar char="Ø"/>
              <a:defRPr sz="2800">
                <a:latin typeface="Times New Roman" panose="02020603050405020304" pitchFamily="18" charset="0"/>
                <a:ea typeface="微软雅黑" panose="020B0503020204020204"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ea typeface="微软雅黑" panose="020B0503020204020204" charset="-122"/>
              </a:rPr>
              <a:t>F </a:t>
            </a:r>
            <a:r>
              <a:rPr lang="zh-CN" altLang="en-US" dirty="0">
                <a:ea typeface="微软雅黑" panose="020B0503020204020204" charset="-122"/>
              </a:rPr>
              <a:t>因子的结构及其整合到细菌染色体的过程</a:t>
            </a:r>
            <a:endParaRPr lang="en-US" altLang="zh-CN" dirty="0">
              <a:ea typeface="微软雅黑" panose="020B0503020204020204" charset="-122"/>
            </a:endParaRPr>
          </a:p>
        </p:txBody>
      </p:sp>
      <p:sp>
        <p:nvSpPr>
          <p:cNvPr id="10" name="文本框 9"/>
          <p:cNvSpPr txBox="1"/>
          <p:nvPr/>
        </p:nvSpPr>
        <p:spPr>
          <a:xfrm>
            <a:off x="200319" y="290362"/>
            <a:ext cx="6231117" cy="5897880"/>
          </a:xfrm>
          <a:prstGeom prst="rect">
            <a:avLst/>
          </a:prstGeom>
        </p:spPr>
        <p:txBody>
          <a:bodyPr vert="horz" wrap="square" lIns="91440" tIns="45720" rIns="91440" bIns="45720" rtlCol="0">
            <a:spAutoFit/>
          </a:bodyPr>
          <a:lstStyle>
            <a:lvl1pPr marL="228600" indent="-228600">
              <a:lnSpc>
                <a:spcPct val="90000"/>
              </a:lnSpc>
              <a:spcBef>
                <a:spcPts val="1000"/>
              </a:spcBef>
              <a:buFont typeface="Arial" panose="020B0604020202020204" pitchFamily="34" charset="0"/>
              <a:buChar char="•"/>
              <a:defRPr sz="2400">
                <a:latin typeface="Times New Roman" panose="02020603050405020304" pitchFamily="18" charset="0"/>
                <a:cs typeface="Times New Roman" panose="02020603050405020304" pitchFamily="18" charset="0"/>
              </a:defRPr>
            </a:lvl1pPr>
            <a:lvl2pPr marL="0" lvl="1" indent="0">
              <a:lnSpc>
                <a:spcPct val="90000"/>
              </a:lnSpc>
              <a:spcBef>
                <a:spcPts val="500"/>
              </a:spcBef>
              <a:buFont typeface="Arial" panose="020B0604020202020204" pitchFamily="34" charset="0"/>
              <a:buNone/>
              <a:defRPr sz="2400" b="1">
                <a:latin typeface="黑体" panose="02010609060101010101" pitchFamily="49" charset="-122"/>
                <a:ea typeface="黑体" panose="02010609060101010101" pitchFamily="49" charset="-122"/>
              </a:defRPr>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342900" lvl="1" indent="-342900">
              <a:buFont typeface="Wingdings" panose="05000000000000000000" pitchFamily="2" charset="2"/>
              <a:buChar char="Ø"/>
            </a:pPr>
            <a:r>
              <a:rPr lang="zh-CN" altLang="en-US" sz="2800" dirty="0">
                <a:latin typeface="Times New Roman" panose="02020603050405020304" pitchFamily="18" charset="0"/>
                <a:cs typeface="Times New Roman" panose="02020603050405020304" pitchFamily="18" charset="0"/>
              </a:rPr>
              <a:t>环状的</a:t>
            </a:r>
            <a:r>
              <a:rPr lang="en-US" altLang="zh-CN" sz="2800" dirty="0">
                <a:latin typeface="Times New Roman" panose="02020603050405020304" pitchFamily="18" charset="0"/>
                <a:cs typeface="Times New Roman" panose="02020603050405020304" pitchFamily="18" charset="0"/>
              </a:rPr>
              <a:t>F</a:t>
            </a:r>
            <a:r>
              <a:rPr lang="zh-CN" altLang="en-US" sz="2800" dirty="0">
                <a:latin typeface="Times New Roman" panose="02020603050405020304" pitchFamily="18" charset="0"/>
                <a:cs typeface="Times New Roman" panose="02020603050405020304" pitchFamily="18" charset="0"/>
              </a:rPr>
              <a:t>因子包括几个部分：</a:t>
            </a:r>
            <a:endParaRPr lang="zh-CN" altLang="en-US" sz="2800" dirty="0">
              <a:latin typeface="Times New Roman" panose="02020603050405020304" pitchFamily="18" charset="0"/>
              <a:cs typeface="Times New Roman" panose="02020603050405020304" pitchFamily="18" charset="0"/>
            </a:endParaRPr>
          </a:p>
          <a:p>
            <a:pPr lvl="1"/>
            <a:r>
              <a:rPr lang="zh-CN" altLang="en-US" sz="2800" b="0" dirty="0">
                <a:latin typeface="Times New Roman" panose="02020603050405020304" pitchFamily="18" charset="0"/>
                <a:cs typeface="Times New Roman" panose="02020603050405020304" pitchFamily="18" charset="0"/>
              </a:rPr>
              <a:t>①原点，</a:t>
            </a:r>
            <a:r>
              <a:rPr lang="en-US" altLang="zh-CN" sz="2800" b="0" dirty="0">
                <a:latin typeface="Times New Roman" panose="02020603050405020304" pitchFamily="18" charset="0"/>
                <a:cs typeface="Times New Roman" panose="02020603050405020304" pitchFamily="18" charset="0"/>
              </a:rPr>
              <a:t>F</a:t>
            </a:r>
            <a:r>
              <a:rPr lang="zh-CN" altLang="en-US" sz="2800" b="0" dirty="0">
                <a:latin typeface="Times New Roman" panose="02020603050405020304" pitchFamily="18" charset="0"/>
                <a:cs typeface="Times New Roman" panose="02020603050405020304" pitchFamily="18" charset="0"/>
              </a:rPr>
              <a:t>因子自身转移的起点</a:t>
            </a:r>
            <a:endParaRPr lang="zh-CN" altLang="en-US" sz="2800" b="0" dirty="0">
              <a:latin typeface="Times New Roman" panose="02020603050405020304" pitchFamily="18" charset="0"/>
              <a:cs typeface="Times New Roman" panose="02020603050405020304" pitchFamily="18" charset="0"/>
            </a:endParaRPr>
          </a:p>
          <a:p>
            <a:pPr lvl="1"/>
            <a:r>
              <a:rPr lang="zh-CN" altLang="en-US" sz="2800" b="0" dirty="0">
                <a:latin typeface="Times New Roman" panose="02020603050405020304" pitchFamily="18" charset="0"/>
                <a:cs typeface="Times New Roman" panose="02020603050405020304" pitchFamily="18" charset="0"/>
              </a:rPr>
              <a:t>②形成性伞毛的基因群</a:t>
            </a:r>
            <a:endParaRPr lang="zh-CN" altLang="en-US" sz="2800" b="0" dirty="0">
              <a:latin typeface="Times New Roman" panose="02020603050405020304" pitchFamily="18" charset="0"/>
              <a:cs typeface="Times New Roman" panose="02020603050405020304" pitchFamily="18" charset="0"/>
            </a:endParaRPr>
          </a:p>
          <a:p>
            <a:pPr lvl="1"/>
            <a:r>
              <a:rPr lang="zh-CN" altLang="en-US" sz="2800" b="0" dirty="0">
                <a:latin typeface="Times New Roman" panose="02020603050405020304" pitchFamily="18" charset="0"/>
                <a:cs typeface="Times New Roman" panose="02020603050405020304" pitchFamily="18" charset="0"/>
              </a:rPr>
              <a:t>③</a:t>
            </a:r>
            <a:r>
              <a:rPr lang="en-US" altLang="zh-CN" sz="2800" b="0" dirty="0">
                <a:latin typeface="Times New Roman" panose="02020603050405020304" pitchFamily="18" charset="0"/>
                <a:cs typeface="Times New Roman" panose="02020603050405020304" pitchFamily="18" charset="0"/>
              </a:rPr>
              <a:t>DNA</a:t>
            </a:r>
            <a:r>
              <a:rPr lang="zh-CN" altLang="en-US" sz="2800" b="0" dirty="0">
                <a:latin typeface="Times New Roman" panose="02020603050405020304" pitchFamily="18" charset="0"/>
                <a:cs typeface="Times New Roman" panose="02020603050405020304" pitchFamily="18" charset="0"/>
              </a:rPr>
              <a:t>复制酶基因</a:t>
            </a:r>
            <a:endParaRPr lang="zh-CN" altLang="en-US" sz="2800" b="0" dirty="0">
              <a:latin typeface="Times New Roman" panose="02020603050405020304" pitchFamily="18" charset="0"/>
              <a:cs typeface="Times New Roman" panose="02020603050405020304" pitchFamily="18" charset="0"/>
            </a:endParaRPr>
          </a:p>
          <a:p>
            <a:pPr lvl="1"/>
            <a:r>
              <a:rPr lang="zh-CN" altLang="en-US" sz="2800" b="0" dirty="0">
                <a:latin typeface="Times New Roman" panose="02020603050405020304" pitchFamily="18" charset="0"/>
                <a:cs typeface="Times New Roman" panose="02020603050405020304" pitchFamily="18" charset="0"/>
              </a:rPr>
              <a:t>④插入序列（</a:t>
            </a:r>
            <a:r>
              <a:rPr lang="en-US" altLang="zh-CN" sz="2800" b="0" dirty="0">
                <a:latin typeface="Times New Roman" panose="02020603050405020304" pitchFamily="18" charset="0"/>
                <a:cs typeface="Times New Roman" panose="02020603050405020304" pitchFamily="18" charset="0"/>
              </a:rPr>
              <a:t>insertion sequence</a:t>
            </a:r>
            <a:r>
              <a:rPr lang="zh-CN" altLang="en-US" sz="2800" b="0" dirty="0">
                <a:latin typeface="Times New Roman" panose="02020603050405020304" pitchFamily="18" charset="0"/>
                <a:cs typeface="Times New Roman" panose="02020603050405020304" pitchFamily="18" charset="0"/>
              </a:rPr>
              <a:t>，</a:t>
            </a:r>
            <a:r>
              <a:rPr lang="en-US" altLang="zh-CN" sz="2800" b="0" dirty="0">
                <a:solidFill>
                  <a:srgbClr val="FF0000"/>
                </a:solidFill>
                <a:latin typeface="Times New Roman" panose="02020603050405020304" pitchFamily="18" charset="0"/>
                <a:cs typeface="Times New Roman" panose="02020603050405020304" pitchFamily="18" charset="0"/>
              </a:rPr>
              <a:t>IS</a:t>
            </a:r>
            <a:r>
              <a:rPr lang="zh-CN" altLang="en-US" sz="2800" b="0" dirty="0">
                <a:latin typeface="Times New Roman" panose="02020603050405020304" pitchFamily="18" charset="0"/>
                <a:cs typeface="Times New Roman" panose="02020603050405020304" pitchFamily="18" charset="0"/>
              </a:rPr>
              <a:t>），与其插入细菌染色体的过程有关。</a:t>
            </a:r>
            <a:endParaRPr lang="en-US" altLang="zh-CN" sz="2800" b="0" dirty="0">
              <a:latin typeface="Times New Roman" panose="02020603050405020304" pitchFamily="18" charset="0"/>
              <a:cs typeface="Times New Roman" panose="02020603050405020304" pitchFamily="18" charset="0"/>
            </a:endParaRPr>
          </a:p>
          <a:p>
            <a:pPr marL="342900" lvl="1" indent="-342900">
              <a:buFont typeface="Wingdings" panose="05000000000000000000" pitchFamily="2" charset="2"/>
              <a:buChar char="Ø"/>
            </a:pPr>
            <a:r>
              <a:rPr lang="en-US" altLang="zh-CN" sz="2800" dirty="0">
                <a:latin typeface="Times New Roman" panose="02020603050405020304" pitchFamily="18" charset="0"/>
                <a:cs typeface="Times New Roman" panose="02020603050405020304" pitchFamily="18" charset="0"/>
              </a:rPr>
              <a:t>F</a:t>
            </a:r>
            <a:r>
              <a:rPr lang="zh-CN" altLang="en-US" sz="2800" dirty="0">
                <a:latin typeface="Times New Roman" panose="02020603050405020304" pitchFamily="18" charset="0"/>
                <a:cs typeface="Times New Roman" panose="02020603050405020304" pitchFamily="18" charset="0"/>
              </a:rPr>
              <a:t>因子在</a:t>
            </a:r>
            <a:r>
              <a:rPr lang="en-US" altLang="zh-CN" sz="2800" dirty="0">
                <a:latin typeface="Times New Roman" panose="02020603050405020304" pitchFamily="18" charset="0"/>
                <a:cs typeface="Times New Roman" panose="02020603050405020304" pitchFamily="18" charset="0"/>
              </a:rPr>
              <a:t>F</a:t>
            </a:r>
            <a:r>
              <a:rPr lang="en-US" altLang="zh-CN" sz="2800" baseline="30000" dirty="0">
                <a:latin typeface="Times New Roman" panose="02020603050405020304" pitchFamily="18" charset="0"/>
                <a:cs typeface="Times New Roman" panose="02020603050405020304" pitchFamily="18" charset="0"/>
              </a:rPr>
              <a:t>+</a:t>
            </a:r>
            <a:r>
              <a:rPr lang="zh-CN" altLang="en-US" sz="2800" dirty="0">
                <a:latin typeface="Times New Roman" panose="02020603050405020304" pitchFamily="18" charset="0"/>
                <a:cs typeface="Times New Roman" panose="02020603050405020304" pitchFamily="18" charset="0"/>
              </a:rPr>
              <a:t>细菌中以游离状态存在，</a:t>
            </a:r>
            <a:r>
              <a:rPr lang="zh-CN" altLang="en-US" sz="2800" dirty="0">
                <a:solidFill>
                  <a:srgbClr val="FF0000"/>
                </a:solidFill>
                <a:latin typeface="Times New Roman" panose="02020603050405020304" pitchFamily="18" charset="0"/>
                <a:cs typeface="Times New Roman" panose="02020603050405020304" pitchFamily="18" charset="0"/>
              </a:rPr>
              <a:t>整合时</a:t>
            </a:r>
            <a:r>
              <a:rPr lang="en-US" altLang="zh-CN" sz="2800" dirty="0">
                <a:solidFill>
                  <a:srgbClr val="FF0000"/>
                </a:solidFill>
                <a:latin typeface="Times New Roman" panose="02020603050405020304" pitchFamily="18" charset="0"/>
                <a:cs typeface="Times New Roman" panose="02020603050405020304" pitchFamily="18" charset="0"/>
              </a:rPr>
              <a:t>F</a:t>
            </a:r>
            <a:r>
              <a:rPr lang="zh-CN" altLang="en-US" sz="2800" dirty="0">
                <a:solidFill>
                  <a:srgbClr val="FF0000"/>
                </a:solidFill>
                <a:latin typeface="Times New Roman" panose="02020603050405020304" pitchFamily="18" charset="0"/>
                <a:cs typeface="Times New Roman" panose="02020603050405020304" pitchFamily="18" charset="0"/>
              </a:rPr>
              <a:t>的</a:t>
            </a:r>
            <a:r>
              <a:rPr lang="en-US" altLang="zh-CN" sz="2800" dirty="0">
                <a:solidFill>
                  <a:srgbClr val="FF0000"/>
                </a:solidFill>
                <a:latin typeface="Times New Roman" panose="02020603050405020304" pitchFamily="18" charset="0"/>
                <a:cs typeface="Times New Roman" panose="02020603050405020304" pitchFamily="18" charset="0"/>
              </a:rPr>
              <a:t>IS</a:t>
            </a:r>
            <a:r>
              <a:rPr lang="zh-CN" altLang="en-US" sz="2800" dirty="0">
                <a:solidFill>
                  <a:srgbClr val="FF0000"/>
                </a:solidFill>
                <a:latin typeface="Times New Roman" panose="02020603050405020304" pitchFamily="18" charset="0"/>
                <a:cs typeface="Times New Roman" panose="02020603050405020304" pitchFamily="18" charset="0"/>
              </a:rPr>
              <a:t>与细菌染色体的</a:t>
            </a:r>
            <a:r>
              <a:rPr lang="en-US" altLang="zh-CN" sz="2800" dirty="0">
                <a:solidFill>
                  <a:srgbClr val="FF0000"/>
                </a:solidFill>
                <a:latin typeface="Times New Roman" panose="02020603050405020304" pitchFamily="18" charset="0"/>
                <a:cs typeface="Times New Roman" panose="02020603050405020304" pitchFamily="18" charset="0"/>
              </a:rPr>
              <a:t>IS</a:t>
            </a:r>
            <a:r>
              <a:rPr lang="zh-CN" altLang="en-US" sz="2800" dirty="0">
                <a:solidFill>
                  <a:srgbClr val="FF0000"/>
                </a:solidFill>
                <a:latin typeface="Times New Roman" panose="02020603050405020304" pitchFamily="18" charset="0"/>
                <a:cs typeface="Times New Roman" panose="02020603050405020304" pitchFamily="18" charset="0"/>
              </a:rPr>
              <a:t>配对</a:t>
            </a:r>
            <a:r>
              <a:rPr lang="zh-CN" altLang="en-US" sz="2800" dirty="0">
                <a:latin typeface="Times New Roman" panose="02020603050405020304" pitchFamily="18" charset="0"/>
                <a:cs typeface="Times New Roman" panose="02020603050405020304" pitchFamily="18" charset="0"/>
              </a:rPr>
              <a:t>，</a:t>
            </a:r>
            <a:r>
              <a:rPr lang="zh-CN" altLang="en-US" sz="2800" dirty="0">
                <a:solidFill>
                  <a:srgbClr val="FF0000"/>
                </a:solidFill>
                <a:latin typeface="Times New Roman" panose="02020603050405020304" pitchFamily="18" charset="0"/>
                <a:cs typeface="Times New Roman" panose="02020603050405020304" pitchFamily="18" charset="0"/>
              </a:rPr>
              <a:t>发生交换</a:t>
            </a:r>
            <a:r>
              <a:rPr lang="zh-CN" altLang="en-US"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F</a:t>
            </a:r>
            <a:r>
              <a:rPr lang="zh-CN" altLang="en-US" sz="2800" dirty="0">
                <a:latin typeface="Times New Roman" panose="02020603050405020304" pitchFamily="18" charset="0"/>
                <a:cs typeface="Times New Roman" panose="02020603050405020304" pitchFamily="18" charset="0"/>
              </a:rPr>
              <a:t>因子整合到细菌染色体，</a:t>
            </a:r>
            <a:r>
              <a:rPr lang="en-US" altLang="zh-CN" sz="2800" dirty="0">
                <a:latin typeface="Times New Roman" panose="02020603050405020304" pitchFamily="18" charset="0"/>
                <a:cs typeface="Times New Roman" panose="02020603050405020304" pitchFamily="18" charset="0"/>
              </a:rPr>
              <a:t>F</a:t>
            </a:r>
            <a:r>
              <a:rPr lang="en-US" altLang="zh-CN" sz="2800" baseline="30000" dirty="0">
                <a:latin typeface="Times New Roman" panose="02020603050405020304" pitchFamily="18" charset="0"/>
                <a:cs typeface="Times New Roman" panose="02020603050405020304" pitchFamily="18" charset="0"/>
              </a:rPr>
              <a:t>+</a:t>
            </a:r>
            <a:r>
              <a:rPr lang="zh-CN" altLang="en-US" sz="2800" dirty="0">
                <a:latin typeface="Times New Roman" panose="02020603050405020304" pitchFamily="18" charset="0"/>
                <a:cs typeface="Times New Roman" panose="02020603050405020304" pitchFamily="18" charset="0"/>
              </a:rPr>
              <a:t>菌成为</a:t>
            </a:r>
            <a:r>
              <a:rPr lang="en-US" altLang="zh-CN" sz="2800" dirty="0" err="1">
                <a:latin typeface="Times New Roman" panose="02020603050405020304" pitchFamily="18" charset="0"/>
                <a:cs typeface="Times New Roman" panose="02020603050405020304" pitchFamily="18" charset="0"/>
              </a:rPr>
              <a:t>Hfr</a:t>
            </a:r>
            <a:r>
              <a:rPr lang="zh-CN" altLang="en-US" sz="2800" dirty="0">
                <a:latin typeface="Times New Roman" panose="02020603050405020304" pitchFamily="18" charset="0"/>
                <a:cs typeface="Times New Roman" panose="02020603050405020304" pitchFamily="18" charset="0"/>
              </a:rPr>
              <a:t>菌。</a:t>
            </a:r>
            <a:endParaRPr lang="zh-CN" altLang="en-US" sz="2800" dirty="0">
              <a:latin typeface="Times New Roman" panose="02020603050405020304" pitchFamily="18" charset="0"/>
              <a:cs typeface="Times New Roman" panose="02020603050405020304" pitchFamily="18" charset="0"/>
            </a:endParaRPr>
          </a:p>
          <a:p>
            <a:pPr marL="342900" lvl="1" indent="-342900">
              <a:buFont typeface="Wingdings" panose="05000000000000000000" pitchFamily="2" charset="2"/>
              <a:buChar char="Ø"/>
            </a:pPr>
            <a:r>
              <a:rPr lang="en-US" altLang="zh-CN" sz="2800" dirty="0">
                <a:solidFill>
                  <a:srgbClr val="FF0000"/>
                </a:solidFill>
                <a:latin typeface="Times New Roman" panose="02020603050405020304" pitchFamily="18" charset="0"/>
                <a:cs typeface="Times New Roman" panose="02020603050405020304" pitchFamily="18" charset="0"/>
              </a:rPr>
              <a:t>IS</a:t>
            </a:r>
            <a:r>
              <a:rPr lang="zh-CN" altLang="en-US" sz="2800" dirty="0">
                <a:solidFill>
                  <a:srgbClr val="FF0000"/>
                </a:solidFill>
                <a:latin typeface="Times New Roman" panose="02020603050405020304" pitchFamily="18" charset="0"/>
                <a:cs typeface="Times New Roman" panose="02020603050405020304" pitchFamily="18" charset="0"/>
              </a:rPr>
              <a:t>有极性</a:t>
            </a:r>
            <a:r>
              <a:rPr lang="zh-CN" altLang="en-US" sz="2800" dirty="0">
                <a:latin typeface="Times New Roman" panose="02020603050405020304" pitchFamily="18" charset="0"/>
                <a:cs typeface="Times New Roman" panose="02020603050405020304" pitchFamily="18" charset="0"/>
              </a:rPr>
              <a:t>，向左或者向右。各</a:t>
            </a:r>
            <a:r>
              <a:rPr lang="en-US" altLang="zh-CN" sz="2800" dirty="0" err="1">
                <a:latin typeface="Times New Roman" panose="02020603050405020304" pitchFamily="18" charset="0"/>
                <a:cs typeface="Times New Roman" panose="02020603050405020304" pitchFamily="18" charset="0"/>
              </a:rPr>
              <a:t>Hfr</a:t>
            </a:r>
            <a:r>
              <a:rPr lang="zh-CN" altLang="en-US" sz="2800" dirty="0">
                <a:latin typeface="Times New Roman" panose="02020603050405020304" pitchFamily="18" charset="0"/>
                <a:cs typeface="Times New Roman" panose="02020603050405020304" pitchFamily="18" charset="0"/>
              </a:rPr>
              <a:t>菌株染色体的原点和转移方向的不同，可以认为是</a:t>
            </a:r>
            <a:r>
              <a:rPr lang="en-US" altLang="zh-CN" sz="2800" dirty="0">
                <a:latin typeface="Times New Roman" panose="02020603050405020304" pitchFamily="18" charset="0"/>
                <a:cs typeface="Times New Roman" panose="02020603050405020304" pitchFamily="18" charset="0"/>
              </a:rPr>
              <a:t>F</a:t>
            </a:r>
            <a:r>
              <a:rPr lang="zh-CN" altLang="en-US" sz="2800" dirty="0">
                <a:latin typeface="Times New Roman" panose="02020603050405020304" pitchFamily="18" charset="0"/>
                <a:cs typeface="Times New Roman" panose="02020603050405020304" pitchFamily="18" charset="0"/>
              </a:rPr>
              <a:t>因子整合到细菌染色体的</a:t>
            </a:r>
            <a:r>
              <a:rPr lang="zh-CN" altLang="en-US" sz="2800" dirty="0">
                <a:solidFill>
                  <a:srgbClr val="FF0000"/>
                </a:solidFill>
                <a:latin typeface="Times New Roman" panose="02020603050405020304" pitchFamily="18" charset="0"/>
                <a:cs typeface="Times New Roman" panose="02020603050405020304" pitchFamily="18" charset="0"/>
              </a:rPr>
              <a:t>不同</a:t>
            </a:r>
            <a:r>
              <a:rPr lang="en-US" altLang="zh-CN" sz="2800" dirty="0">
                <a:solidFill>
                  <a:srgbClr val="FF0000"/>
                </a:solidFill>
                <a:latin typeface="Times New Roman" panose="02020603050405020304" pitchFamily="18" charset="0"/>
                <a:cs typeface="Times New Roman" panose="02020603050405020304" pitchFamily="18" charset="0"/>
              </a:rPr>
              <a:t>IS</a:t>
            </a:r>
            <a:r>
              <a:rPr lang="zh-CN" altLang="en-US" sz="2800" dirty="0">
                <a:solidFill>
                  <a:srgbClr val="FF0000"/>
                </a:solidFill>
                <a:latin typeface="Times New Roman" panose="02020603050405020304" pitchFamily="18" charset="0"/>
                <a:cs typeface="Times New Roman" panose="02020603050405020304" pitchFamily="18" charset="0"/>
              </a:rPr>
              <a:t>部位</a:t>
            </a:r>
            <a:r>
              <a:rPr lang="zh-CN" altLang="en-US" sz="2800" dirty="0">
                <a:latin typeface="Times New Roman" panose="02020603050405020304" pitchFamily="18" charset="0"/>
                <a:cs typeface="Times New Roman" panose="02020603050405020304" pitchFamily="18" charset="0"/>
              </a:rPr>
              <a:t>的结果。</a:t>
            </a:r>
            <a:endParaRPr lang="zh-CN" altLang="en-US" sz="2800" dirty="0">
              <a:latin typeface="Times New Roman" panose="02020603050405020304" pitchFamily="18" charset="0"/>
              <a:cs typeface="Times New Roman" panose="02020603050405020304" pitchFamily="18" charset="0"/>
            </a:endParaRPr>
          </a:p>
        </p:txBody>
      </p:sp>
      <p:pic>
        <p:nvPicPr>
          <p:cNvPr id="9" name="图片 8"/>
          <p:cNvPicPr>
            <a:picLocks noChangeAspect="1"/>
          </p:cNvPicPr>
          <p:nvPr/>
        </p:nvPicPr>
        <p:blipFill>
          <a:blip r:embed="rId1"/>
          <a:stretch>
            <a:fillRect/>
          </a:stretch>
        </p:blipFill>
        <p:spPr>
          <a:xfrm>
            <a:off x="6431436" y="106136"/>
            <a:ext cx="5760564" cy="6341266"/>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87645" y="84390"/>
            <a:ext cx="10515600" cy="440548"/>
          </a:xfrm>
        </p:spPr>
        <p:txBody>
          <a:bodyPr vert="horz" lIns="91440" tIns="45720" rIns="91440" bIns="45720" rtlCol="0" anchor="ctr">
            <a:normAutofit fontScale="90000"/>
          </a:bodyPr>
          <a:lstStyle/>
          <a:p>
            <a:r>
              <a:rPr lang="zh-CN" altLang="en-US" sz="3200" b="1" dirty="0">
                <a:solidFill>
                  <a:srgbClr val="0000FF"/>
                </a:solidFill>
                <a:latin typeface="黑体" panose="02010609060101010101" pitchFamily="49" charset="-122"/>
                <a:ea typeface="黑体" panose="02010609060101010101" pitchFamily="49" charset="-122"/>
              </a:rPr>
              <a:t>（五）细菌基因的交换过程</a:t>
            </a:r>
            <a:endParaRPr lang="zh-CN" altLang="en-US" sz="3200" b="1" dirty="0">
              <a:solidFill>
                <a:srgbClr val="0000FF"/>
              </a:solidFill>
              <a:latin typeface="黑体" panose="02010609060101010101" pitchFamily="49" charset="-122"/>
              <a:ea typeface="黑体" panose="02010609060101010101" pitchFamily="49" charset="-122"/>
            </a:endParaRPr>
          </a:p>
        </p:txBody>
      </p:sp>
      <p:sp>
        <p:nvSpPr>
          <p:cNvPr id="7" name="文本框 6"/>
          <p:cNvSpPr txBox="1"/>
          <p:nvPr/>
        </p:nvSpPr>
        <p:spPr>
          <a:xfrm>
            <a:off x="6932071" y="1878064"/>
            <a:ext cx="4967129" cy="341632"/>
          </a:xfrm>
          <a:prstGeom prst="rect">
            <a:avLst/>
          </a:prstGeom>
        </p:spPr>
        <p:txBody>
          <a:bodyPr vert="horz" lIns="91440" tIns="45720" rIns="91440" bIns="45720" rtlCol="0">
            <a:noAutofit/>
          </a:bodyPr>
          <a:lstStyle>
            <a:defPPr>
              <a:defRPr lang="zh-CN"/>
            </a:defPPr>
            <a:lvl1pPr indent="0">
              <a:lnSpc>
                <a:spcPct val="90000"/>
              </a:lnSpc>
              <a:spcBef>
                <a:spcPts val="1000"/>
              </a:spcBef>
              <a:buFont typeface="Arial" panose="020B0604020202020204" pitchFamily="34" charset="0"/>
              <a:buNone/>
              <a:defRPr b="1">
                <a:latin typeface="微软雅黑" panose="020B0503020204020204" charset="-122"/>
                <a:ea typeface="微软雅黑" panose="020B0503020204020204" charset="-122"/>
                <a:cs typeface="Times New Roman" panose="02020603050405020304" pitchFamily="18" charset="0"/>
              </a:defRPr>
            </a:lvl1pPr>
            <a:lvl2pPr lvl="1" indent="-457200">
              <a:lnSpc>
                <a:spcPct val="100000"/>
              </a:lnSpc>
              <a:spcBef>
                <a:spcPts val="500"/>
              </a:spcBef>
              <a:buFont typeface="Wingdings" panose="05000000000000000000" pitchFamily="2" charset="2"/>
              <a:buChar char="Ø"/>
              <a:defRPr sz="2800">
                <a:latin typeface="Times New Roman" panose="02020603050405020304" pitchFamily="18" charset="0"/>
                <a:ea typeface="微软雅黑" panose="020B0503020204020204"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r>
              <a:rPr lang="zh-CN" altLang="en-US" dirty="0"/>
              <a:t>部分合子模式图</a:t>
            </a:r>
            <a:endParaRPr lang="zh-CN" altLang="en-US" dirty="0"/>
          </a:p>
        </p:txBody>
      </p:sp>
      <p:pic>
        <p:nvPicPr>
          <p:cNvPr id="3" name="图片 2"/>
          <p:cNvPicPr>
            <a:picLocks noChangeAspect="1"/>
          </p:cNvPicPr>
          <p:nvPr/>
        </p:nvPicPr>
        <p:blipFill>
          <a:blip r:embed="rId1" cstate="print">
            <a:extLst>
              <a:ext uri="{BEBA8EAE-BF5A-486C-A8C5-ECC9F3942E4B}">
                <a14:imgProps xmlns:a14="http://schemas.microsoft.com/office/drawing/2010/main">
                  <a14:imgLayer r:embed="rId2">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6819274" y="174817"/>
            <a:ext cx="4967130" cy="1653432"/>
          </a:xfrm>
          <a:prstGeom prst="rect">
            <a:avLst/>
          </a:prstGeom>
        </p:spPr>
      </p:pic>
      <p:sp>
        <p:nvSpPr>
          <p:cNvPr id="5" name="内容占位符 4"/>
          <p:cNvSpPr>
            <a:spLocks noGrp="1"/>
          </p:cNvSpPr>
          <p:nvPr>
            <p:ph sz="half" idx="1"/>
          </p:nvPr>
        </p:nvSpPr>
        <p:spPr>
          <a:xfrm>
            <a:off x="41217" y="809117"/>
            <a:ext cx="6655324" cy="3194721"/>
          </a:xfrm>
        </p:spPr>
        <p:txBody>
          <a:bodyPr vert="horz" wrap="square" lIns="91440" tIns="45720" rIns="91440" bIns="45720" rtlCol="0">
            <a:spAutoFit/>
          </a:bodyPr>
          <a:lstStyle/>
          <a:p>
            <a:pPr marL="0" lvl="1" indent="0">
              <a:buNone/>
            </a:pPr>
            <a:r>
              <a:rPr lang="zh-CN" altLang="en-US" sz="2800" b="1" dirty="0">
                <a:latin typeface="黑体" panose="02010609060101010101" pitchFamily="49" charset="-122"/>
                <a:ea typeface="黑体" panose="02010609060101010101" pitchFamily="49" charset="-122"/>
                <a:cs typeface="+mn-cs"/>
              </a:rPr>
              <a:t>    原核类中的遗传交换并不像真核类那样在两整套染色体组间进行，而是在一个完整的环状染色体（称作 </a:t>
            </a:r>
            <a:r>
              <a:rPr lang="en-US" altLang="zh-CN" sz="2800" b="1" dirty="0">
                <a:latin typeface="黑体" panose="02010609060101010101" pitchFamily="49" charset="-122"/>
                <a:ea typeface="黑体" panose="02010609060101010101" pitchFamily="49" charset="-122"/>
                <a:cs typeface="+mn-cs"/>
              </a:rPr>
              <a:t>F</a:t>
            </a:r>
            <a:r>
              <a:rPr lang="en-US" altLang="zh-CN" sz="2800" b="1" baseline="30000" dirty="0">
                <a:latin typeface="黑体" panose="02010609060101010101" pitchFamily="49" charset="-122"/>
                <a:ea typeface="黑体" panose="02010609060101010101" pitchFamily="49" charset="-122"/>
                <a:cs typeface="+mn-cs"/>
              </a:rPr>
              <a:t>−</a:t>
            </a:r>
            <a:r>
              <a:rPr lang="zh-CN" altLang="en-US" sz="2800" b="1" dirty="0">
                <a:latin typeface="黑体" panose="02010609060101010101" pitchFamily="49" charset="-122"/>
                <a:ea typeface="黑体" panose="02010609060101010101" pitchFamily="49" charset="-122"/>
                <a:cs typeface="+mn-cs"/>
              </a:rPr>
              <a:t>内基因子，</a:t>
            </a:r>
            <a:r>
              <a:rPr lang="en-US" altLang="zh-CN" sz="2800" b="1" dirty="0">
                <a:latin typeface="黑体" panose="02010609060101010101" pitchFamily="49" charset="-122"/>
                <a:ea typeface="黑体" panose="02010609060101010101" pitchFamily="49" charset="-122"/>
                <a:cs typeface="+mn-cs"/>
              </a:rPr>
              <a:t>endogenote</a:t>
            </a:r>
            <a:r>
              <a:rPr lang="zh-CN" altLang="en-US" sz="2800" b="1" dirty="0">
                <a:latin typeface="黑体" panose="02010609060101010101" pitchFamily="49" charset="-122"/>
                <a:ea typeface="黑体" panose="02010609060101010101" pitchFamily="49" charset="-122"/>
                <a:cs typeface="+mn-cs"/>
              </a:rPr>
              <a:t>）与一条来自供体细胞不完整的染色体（称作供体外基因子，</a:t>
            </a:r>
            <a:r>
              <a:rPr lang="en-US" altLang="zh-CN" sz="2800" b="1" dirty="0" err="1">
                <a:latin typeface="黑体" panose="02010609060101010101" pitchFamily="49" charset="-122"/>
                <a:ea typeface="黑体" panose="02010609060101010101" pitchFamily="49" charset="-122"/>
                <a:cs typeface="+mn-cs"/>
              </a:rPr>
              <a:t>exogenote</a:t>
            </a:r>
            <a:r>
              <a:rPr lang="zh-CN" altLang="en-US" sz="2800" b="1" dirty="0">
                <a:latin typeface="黑体" panose="02010609060101010101" pitchFamily="49" charset="-122"/>
                <a:ea typeface="黑体" panose="02010609060101010101" pitchFamily="49" charset="-122"/>
                <a:cs typeface="+mn-cs"/>
              </a:rPr>
              <a:t>）间进行，所以是在</a:t>
            </a:r>
            <a:r>
              <a:rPr lang="zh-CN" altLang="en-US" sz="2800" b="1" dirty="0">
                <a:solidFill>
                  <a:srgbClr val="FF0000"/>
                </a:solidFill>
                <a:latin typeface="黑体" panose="02010609060101010101" pitchFamily="49" charset="-122"/>
                <a:ea typeface="黑体" panose="02010609060101010101" pitchFamily="49" charset="-122"/>
                <a:cs typeface="+mn-cs"/>
              </a:rPr>
              <a:t>部分二倍体</a:t>
            </a:r>
            <a:r>
              <a:rPr lang="zh-CN" altLang="en-US" sz="2800" b="1" dirty="0">
                <a:latin typeface="黑体" panose="02010609060101010101" pitchFamily="49" charset="-122"/>
                <a:ea typeface="黑体" panose="02010609060101010101" pitchFamily="49" charset="-122"/>
                <a:cs typeface="+mn-cs"/>
              </a:rPr>
              <a:t>（</a:t>
            </a:r>
            <a:r>
              <a:rPr lang="en-US" altLang="zh-CN" sz="2800" b="1" dirty="0">
                <a:latin typeface="黑体" panose="02010609060101010101" pitchFamily="49" charset="-122"/>
                <a:ea typeface="黑体" panose="02010609060101010101" pitchFamily="49" charset="-122"/>
                <a:cs typeface="+mn-cs"/>
              </a:rPr>
              <a:t>partial diploid</a:t>
            </a:r>
            <a:r>
              <a:rPr lang="zh-CN" altLang="en-US" sz="2800" b="1" dirty="0">
                <a:latin typeface="黑体" panose="02010609060101010101" pitchFamily="49" charset="-122"/>
                <a:ea typeface="黑体" panose="02010609060101010101" pitchFamily="49" charset="-122"/>
                <a:cs typeface="+mn-cs"/>
              </a:rPr>
              <a:t>）或</a:t>
            </a:r>
            <a:r>
              <a:rPr lang="zh-CN" altLang="en-US" sz="2800" b="1" dirty="0">
                <a:solidFill>
                  <a:srgbClr val="FF0000"/>
                </a:solidFill>
                <a:latin typeface="黑体" panose="02010609060101010101" pitchFamily="49" charset="-122"/>
                <a:ea typeface="黑体" panose="02010609060101010101" pitchFamily="49" charset="-122"/>
                <a:cs typeface="+mn-cs"/>
              </a:rPr>
              <a:t>部分合子</a:t>
            </a:r>
            <a:r>
              <a:rPr lang="zh-CN" altLang="en-US" sz="2800" b="1" dirty="0">
                <a:latin typeface="黑体" panose="02010609060101010101" pitchFamily="49" charset="-122"/>
                <a:ea typeface="黑体" panose="02010609060101010101" pitchFamily="49" charset="-122"/>
                <a:cs typeface="+mn-cs"/>
              </a:rPr>
              <a:t>间进行。</a:t>
            </a:r>
            <a:endParaRPr lang="en-US" altLang="zh-CN" sz="2800" b="1" dirty="0">
              <a:latin typeface="黑体" panose="02010609060101010101" pitchFamily="49" charset="-122"/>
              <a:ea typeface="黑体" panose="02010609060101010101" pitchFamily="49" charset="-122"/>
              <a:cs typeface="+mn-cs"/>
            </a:endParaRPr>
          </a:p>
        </p:txBody>
      </p:sp>
      <p:sp>
        <p:nvSpPr>
          <p:cNvPr id="8" name="文本框 7"/>
          <p:cNvSpPr txBox="1"/>
          <p:nvPr/>
        </p:nvSpPr>
        <p:spPr>
          <a:xfrm>
            <a:off x="7008064" y="3840395"/>
            <a:ext cx="4967128" cy="341632"/>
          </a:xfrm>
          <a:prstGeom prst="rect">
            <a:avLst/>
          </a:prstGeom>
        </p:spPr>
        <p:txBody>
          <a:bodyPr vert="horz" lIns="91440" tIns="45720" rIns="91440" bIns="45720" rtlCol="0">
            <a:noAutofit/>
          </a:bodyPr>
          <a:lstStyle>
            <a:defPPr>
              <a:defRPr lang="zh-CN"/>
            </a:defPPr>
            <a:lvl1pPr indent="0">
              <a:lnSpc>
                <a:spcPct val="90000"/>
              </a:lnSpc>
              <a:spcBef>
                <a:spcPts val="1000"/>
              </a:spcBef>
              <a:buFont typeface="Arial" panose="020B0604020202020204" pitchFamily="34" charset="0"/>
              <a:buNone/>
              <a:defRPr b="1">
                <a:latin typeface="微软雅黑" panose="020B0503020204020204" charset="-122"/>
                <a:ea typeface="微软雅黑" panose="020B0503020204020204" charset="-122"/>
                <a:cs typeface="Times New Roman" panose="02020603050405020304" pitchFamily="18" charset="0"/>
              </a:defRPr>
            </a:lvl1pPr>
            <a:lvl2pPr lvl="1" indent="-457200">
              <a:lnSpc>
                <a:spcPct val="100000"/>
              </a:lnSpc>
              <a:spcBef>
                <a:spcPts val="500"/>
              </a:spcBef>
              <a:buFont typeface="Wingdings" panose="05000000000000000000" pitchFamily="2" charset="2"/>
              <a:buChar char="Ø"/>
              <a:defRPr sz="2800">
                <a:latin typeface="Times New Roman" panose="02020603050405020304" pitchFamily="18" charset="0"/>
                <a:ea typeface="微软雅黑" panose="020B0503020204020204"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r>
              <a:rPr lang="zh-CN" altLang="en-US" dirty="0"/>
              <a:t>单交换产生不平衡的线性染色体</a:t>
            </a:r>
            <a:endParaRPr lang="zh-CN" altLang="en-US" dirty="0"/>
          </a:p>
        </p:txBody>
      </p:sp>
      <p:pic>
        <p:nvPicPr>
          <p:cNvPr id="9" name="内容占位符 5"/>
          <p:cNvPicPr>
            <a:picLocks noChangeAspect="1"/>
          </p:cNvPicPr>
          <p:nvPr/>
        </p:nvPicPr>
        <p:blipFill>
          <a:blip r:embed="rId3" cstate="print">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6819274" y="2445888"/>
            <a:ext cx="4986264" cy="1303311"/>
          </a:xfrm>
          <a:prstGeom prst="rect">
            <a:avLst/>
          </a:prstGeom>
        </p:spPr>
      </p:pic>
      <p:sp>
        <p:nvSpPr>
          <p:cNvPr id="10" name="文本框 9"/>
          <p:cNvSpPr txBox="1"/>
          <p:nvPr/>
        </p:nvSpPr>
        <p:spPr>
          <a:xfrm>
            <a:off x="6856080" y="5802726"/>
            <a:ext cx="5119112" cy="840230"/>
          </a:xfrm>
          <a:prstGeom prst="rect">
            <a:avLst/>
          </a:prstGeom>
        </p:spPr>
        <p:txBody>
          <a:bodyPr vert="horz" lIns="91440" tIns="45720" rIns="91440" bIns="45720" rtlCol="0">
            <a:noAutofit/>
          </a:bodyPr>
          <a:lstStyle>
            <a:defPPr>
              <a:defRPr lang="zh-CN"/>
            </a:defPPr>
            <a:lvl1pPr indent="0">
              <a:lnSpc>
                <a:spcPct val="90000"/>
              </a:lnSpc>
              <a:spcBef>
                <a:spcPts val="1000"/>
              </a:spcBef>
              <a:buFont typeface="Arial" panose="020B0604020202020204" pitchFamily="34" charset="0"/>
              <a:buNone/>
              <a:defRPr b="1">
                <a:latin typeface="微软雅黑" panose="020B0503020204020204" charset="-122"/>
                <a:ea typeface="微软雅黑" panose="020B0503020204020204" charset="-122"/>
                <a:cs typeface="Times New Roman" panose="02020603050405020304" pitchFamily="18" charset="0"/>
              </a:defRPr>
            </a:lvl1pPr>
            <a:lvl2pPr lvl="1" indent="-457200">
              <a:lnSpc>
                <a:spcPct val="100000"/>
              </a:lnSpc>
              <a:spcBef>
                <a:spcPts val="500"/>
              </a:spcBef>
              <a:buFont typeface="Wingdings" panose="05000000000000000000" pitchFamily="2" charset="2"/>
              <a:buChar char="Ø"/>
              <a:defRPr sz="2800">
                <a:latin typeface="Times New Roman" panose="02020603050405020304" pitchFamily="18" charset="0"/>
                <a:ea typeface="微软雅黑" panose="020B0503020204020204"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双交换产生有活性的重组子和片段，片段在以后的细胞分裂中失去，所以相反的重组子不出现</a:t>
            </a:r>
            <a:endParaRPr lang="zh-CN" altLang="en-US" dirty="0"/>
          </a:p>
        </p:txBody>
      </p:sp>
      <p:pic>
        <p:nvPicPr>
          <p:cNvPr id="11" name="图片 10"/>
          <p:cNvPicPr>
            <a:picLocks noChangeAspect="1"/>
          </p:cNvPicPr>
          <p:nvPr/>
        </p:nvPicPr>
        <p:blipFill>
          <a:blip r:embed="rId5" cstate="print">
            <a:extLst>
              <a:ext uri="{BEBA8EAE-BF5A-486C-A8C5-ECC9F3942E4B}">
                <a14:imgProps xmlns:a14="http://schemas.microsoft.com/office/drawing/2010/main">
                  <a14:imgLayer r:embed="rId6">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6824978" y="4379391"/>
            <a:ext cx="4980560" cy="1368896"/>
          </a:xfrm>
          <a:prstGeom prst="rect">
            <a:avLst/>
          </a:prstGeom>
        </p:spPr>
      </p:pic>
      <p:sp>
        <p:nvSpPr>
          <p:cNvPr id="12" name="文本框 11"/>
          <p:cNvSpPr txBox="1"/>
          <p:nvPr/>
        </p:nvSpPr>
        <p:spPr>
          <a:xfrm>
            <a:off x="689610" y="4671330"/>
            <a:ext cx="6103184" cy="1200329"/>
          </a:xfrm>
          <a:prstGeom prst="rect">
            <a:avLst/>
          </a:prstGeom>
          <a:noFill/>
        </p:spPr>
        <p:txBody>
          <a:bodyPr wrap="square">
            <a:spAutoFit/>
          </a:bodyPr>
          <a:lstStyle/>
          <a:p>
            <a:r>
              <a:rPr lang="zh-CN" altLang="en-US" sz="2400" b="1" dirty="0">
                <a:solidFill>
                  <a:srgbClr val="FF0000"/>
                </a:solidFill>
                <a:latin typeface="黑体" panose="02010609060101010101" pitchFamily="49" charset="-122"/>
                <a:ea typeface="黑体" panose="02010609060101010101" pitchFamily="49" charset="-122"/>
                <a:cs typeface="+mn-cs"/>
              </a:rPr>
              <a:t>①只有偶数交换才能产生平衡的重组子；</a:t>
            </a:r>
            <a:endParaRPr lang="en-US" altLang="zh-CN" sz="2400" b="1" dirty="0">
              <a:solidFill>
                <a:srgbClr val="FF0000"/>
              </a:solidFill>
              <a:latin typeface="黑体" panose="02010609060101010101" pitchFamily="49" charset="-122"/>
              <a:ea typeface="黑体" panose="02010609060101010101" pitchFamily="49" charset="-122"/>
              <a:cs typeface="+mn-cs"/>
            </a:endParaRPr>
          </a:p>
          <a:p>
            <a:r>
              <a:rPr lang="zh-CN" altLang="en-US" sz="2400" b="1" dirty="0">
                <a:solidFill>
                  <a:srgbClr val="FF0000"/>
                </a:solidFill>
                <a:latin typeface="黑体" panose="02010609060101010101" pitchFamily="49" charset="-122"/>
                <a:ea typeface="黑体" panose="02010609060101010101" pitchFamily="49" charset="-122"/>
                <a:cs typeface="+mn-cs"/>
              </a:rPr>
              <a:t>②相反的重组子不出现，所以在选择培养上只出现一种重组子。</a:t>
            </a:r>
            <a:endParaRPr lang="zh-CN" altLang="en-US" sz="2400" dirty="0">
              <a:solidFill>
                <a:srgbClr val="FF0000"/>
              </a:solidFill>
            </a:endParaRPr>
          </a:p>
        </p:txBody>
      </p:sp>
      <p:sp>
        <p:nvSpPr>
          <p:cNvPr id="14" name="文本框 13"/>
          <p:cNvSpPr txBox="1"/>
          <p:nvPr/>
        </p:nvSpPr>
        <p:spPr>
          <a:xfrm>
            <a:off x="781529" y="4008326"/>
            <a:ext cx="6150542" cy="523220"/>
          </a:xfrm>
          <a:prstGeom prst="rect">
            <a:avLst/>
          </a:prstGeom>
          <a:noFill/>
        </p:spPr>
        <p:txBody>
          <a:bodyPr wrap="square">
            <a:spAutoFit/>
          </a:bodyPr>
          <a:lstStyle/>
          <a:p>
            <a:pPr marL="0" lvl="1"/>
            <a:r>
              <a:rPr lang="zh-CN" altLang="en-US" sz="2800" b="1" dirty="0">
                <a:solidFill>
                  <a:srgbClr val="0000FF"/>
                </a:solidFill>
                <a:latin typeface="黑体" panose="02010609060101010101" pitchFamily="49" charset="-122"/>
                <a:ea typeface="黑体" panose="02010609060101010101" pitchFamily="49" charset="-122"/>
                <a:cs typeface="+mn-cs"/>
              </a:rPr>
              <a:t>细菌重组的特点？</a:t>
            </a:r>
            <a:endParaRPr lang="zh-CN" altLang="en-US" sz="2800" b="1" dirty="0">
              <a:solidFill>
                <a:srgbClr val="0000FF"/>
              </a:solidFill>
              <a:latin typeface="黑体" panose="02010609060101010101" pitchFamily="49" charset="-122"/>
              <a:ea typeface="黑体" panose="02010609060101010101"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34057" y="514960"/>
            <a:ext cx="5181600" cy="365125"/>
          </a:xfrm>
          <a:prstGeom prst="rect">
            <a:avLst/>
          </a:prstGeom>
        </p:spPr>
        <p:txBody>
          <a:bodyPr vert="horz" lIns="91440" tIns="45720" rIns="91440" bIns="45720" rtlCol="0">
            <a:noAutofit/>
          </a:bodyPr>
          <a:lstStyle>
            <a:defPPr>
              <a:defRPr lang="zh-CN"/>
            </a:defPPr>
            <a:lvl1pPr indent="0" algn="ctr">
              <a:lnSpc>
                <a:spcPct val="90000"/>
              </a:lnSpc>
              <a:spcBef>
                <a:spcPts val="1000"/>
              </a:spcBef>
              <a:buFont typeface="Arial" panose="020B0604020202020204" pitchFamily="34" charset="0"/>
              <a:buNone/>
              <a:defRPr b="1">
                <a:latin typeface="微软雅黑" panose="020B0503020204020204" charset="-122"/>
                <a:ea typeface="微软雅黑" panose="020B0503020204020204" charset="-122"/>
                <a:cs typeface="Times New Roman" panose="02020603050405020304" pitchFamily="18" charset="0"/>
              </a:defRPr>
            </a:lvl1pPr>
            <a:lvl2pPr lvl="1" indent="-457200">
              <a:lnSpc>
                <a:spcPct val="100000"/>
              </a:lnSpc>
              <a:spcBef>
                <a:spcPts val="500"/>
              </a:spcBef>
              <a:buFont typeface="Wingdings" panose="05000000000000000000" pitchFamily="2" charset="2"/>
              <a:buChar char="Ø"/>
              <a:defRPr sz="2800">
                <a:latin typeface="Times New Roman" panose="02020603050405020304" pitchFamily="18" charset="0"/>
                <a:ea typeface="微软雅黑" panose="020B0503020204020204"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sz="2400" dirty="0"/>
              <a:t>大肠杆菌的性过程模式图</a:t>
            </a:r>
            <a:endParaRPr lang="zh-CN" altLang="en-US" sz="2400" dirty="0"/>
          </a:p>
        </p:txBody>
      </p:sp>
      <p:pic>
        <p:nvPicPr>
          <p:cNvPr id="6" name="图片 5"/>
          <p:cNvPicPr>
            <a:picLocks noChangeAspect="1"/>
          </p:cNvPicPr>
          <p:nvPr/>
        </p:nvPicPr>
        <p:blipFill>
          <a:blip r:embed="rId1"/>
          <a:stretch>
            <a:fillRect/>
          </a:stretch>
        </p:blipFill>
        <p:spPr>
          <a:xfrm>
            <a:off x="3726386" y="0"/>
            <a:ext cx="7836145"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8" name="Rectangle 2"/>
          <p:cNvSpPr>
            <a:spLocks noGrp="1" noChangeArrowheads="1"/>
          </p:cNvSpPr>
          <p:nvPr>
            <p:ph type="title"/>
          </p:nvPr>
        </p:nvSpPr>
        <p:spPr>
          <a:xfrm>
            <a:off x="276085" y="-121562"/>
            <a:ext cx="10515600" cy="717951"/>
          </a:xfrm>
        </p:spPr>
        <p:txBody>
          <a:bodyPr>
            <a:normAutofit/>
          </a:bodyPr>
          <a:lstStyle/>
          <a:p>
            <a:r>
              <a:rPr lang="en-US" altLang="zh-CN" sz="3200" b="1" dirty="0">
                <a:solidFill>
                  <a:srgbClr val="0000FF"/>
                </a:solidFill>
                <a:latin typeface="黑体" panose="02010609060101010101" pitchFamily="49" charset="-122"/>
                <a:ea typeface="黑体" panose="02010609060101010101" pitchFamily="49" charset="-122"/>
              </a:rPr>
              <a:t>(</a:t>
            </a:r>
            <a:r>
              <a:rPr lang="zh-CN" altLang="en-US" sz="3200" b="1" dirty="0">
                <a:solidFill>
                  <a:srgbClr val="0000FF"/>
                </a:solidFill>
                <a:latin typeface="黑体" panose="02010609060101010101" pitchFamily="49" charset="-122"/>
                <a:ea typeface="黑体" panose="02010609060101010101" pitchFamily="49" charset="-122"/>
              </a:rPr>
              <a:t>六</a:t>
            </a:r>
            <a:r>
              <a:rPr lang="en-US" altLang="zh-CN" sz="3200" b="1" dirty="0">
                <a:solidFill>
                  <a:srgbClr val="0000FF"/>
                </a:solidFill>
                <a:latin typeface="黑体" panose="02010609060101010101" pitchFamily="49" charset="-122"/>
                <a:ea typeface="黑体" panose="02010609060101010101" pitchFamily="49" charset="-122"/>
              </a:rPr>
              <a:t>)</a:t>
            </a:r>
            <a:r>
              <a:rPr lang="zh-CN" altLang="en-US" sz="3200" b="1" dirty="0">
                <a:solidFill>
                  <a:srgbClr val="0000FF"/>
                </a:solidFill>
                <a:latin typeface="黑体" panose="02010609060101010101" pitchFamily="49" charset="-122"/>
                <a:ea typeface="黑体" panose="02010609060101010101" pitchFamily="49" charset="-122"/>
              </a:rPr>
              <a:t>重组作图 </a:t>
            </a:r>
            <a:endParaRPr lang="zh-CN" altLang="en-US" sz="3200" b="1" dirty="0">
              <a:solidFill>
                <a:srgbClr val="0000FF"/>
              </a:solidFill>
              <a:latin typeface="黑体" panose="02010609060101010101" pitchFamily="49" charset="-122"/>
              <a:ea typeface="黑体" panose="02010609060101010101" pitchFamily="49" charset="-122"/>
            </a:endParaRPr>
          </a:p>
        </p:txBody>
      </p:sp>
      <p:sp>
        <p:nvSpPr>
          <p:cNvPr id="352259" name="Rectangle 3"/>
          <p:cNvSpPr>
            <a:spLocks noGrp="1" noChangeArrowheads="1"/>
          </p:cNvSpPr>
          <p:nvPr>
            <p:ph type="body" idx="1"/>
          </p:nvPr>
        </p:nvSpPr>
        <p:spPr>
          <a:xfrm>
            <a:off x="67562" y="462269"/>
            <a:ext cx="8903327" cy="1132116"/>
          </a:xfrm>
        </p:spPr>
        <p:txBody>
          <a:bodyPr/>
          <a:lstStyle/>
          <a:p>
            <a:pPr marL="0" indent="0">
              <a:lnSpc>
                <a:spcPct val="100000"/>
              </a:lnSpc>
              <a:buNone/>
            </a:pP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如果两个基因间的转移时间</a:t>
            </a:r>
            <a:r>
              <a:rPr lang="zh-CN" altLang="en-US" b="1" dirty="0">
                <a:solidFill>
                  <a:srgbClr val="FF0000"/>
                </a:solidFill>
                <a:latin typeface="黑体" panose="02010609060101010101" pitchFamily="49" charset="-122"/>
                <a:ea typeface="黑体" panose="02010609060101010101" pitchFamily="49" charset="-122"/>
              </a:rPr>
              <a:t>小于</a:t>
            </a:r>
            <a:r>
              <a:rPr lang="en-US" altLang="zh-CN" b="1" dirty="0">
                <a:solidFill>
                  <a:srgbClr val="FF0000"/>
                </a:solidFill>
                <a:latin typeface="黑体" panose="02010609060101010101" pitchFamily="49" charset="-122"/>
                <a:ea typeface="黑体" panose="02010609060101010101" pitchFamily="49" charset="-122"/>
              </a:rPr>
              <a:t>2</a:t>
            </a:r>
            <a:r>
              <a:rPr lang="zh-CN" altLang="en-US" b="1" dirty="0">
                <a:solidFill>
                  <a:srgbClr val="FF0000"/>
                </a:solidFill>
                <a:latin typeface="黑体" panose="02010609060101010101" pitchFamily="49" charset="-122"/>
                <a:ea typeface="黑体" panose="02010609060101010101" pitchFamily="49" charset="-122"/>
              </a:rPr>
              <a:t>分钟</a:t>
            </a:r>
            <a:r>
              <a:rPr lang="zh-CN" altLang="en-US" b="1" dirty="0">
                <a:latin typeface="黑体" panose="02010609060101010101" pitchFamily="49" charset="-122"/>
                <a:ea typeface="黑体" panose="02010609060101010101" pitchFamily="49" charset="-122"/>
              </a:rPr>
              <a:t>，用中断杂交法所得的图距不太可靠，应采用传统的重组作图法。</a:t>
            </a:r>
            <a:endParaRPr lang="zh-CN" altLang="en-US" b="1" dirty="0">
              <a:latin typeface="黑体" panose="02010609060101010101" pitchFamily="49" charset="-122"/>
              <a:ea typeface="黑体" panose="02010609060101010101" pitchFamily="49" charset="-122"/>
            </a:endParaRPr>
          </a:p>
        </p:txBody>
      </p:sp>
      <p:sp>
        <p:nvSpPr>
          <p:cNvPr id="3" name="文本框 2"/>
          <p:cNvSpPr txBox="1"/>
          <p:nvPr/>
        </p:nvSpPr>
        <p:spPr>
          <a:xfrm>
            <a:off x="67562" y="2376276"/>
            <a:ext cx="8333266" cy="3138222"/>
          </a:xfrm>
          <a:prstGeom prst="rect">
            <a:avLst/>
          </a:prstGeom>
        </p:spPr>
        <p:txBody>
          <a:bodyPr vert="horz" lIns="91440" tIns="45720" rIns="91440" bIns="45720" rtlCol="0">
            <a:noAutofit/>
          </a:bodyPr>
          <a:lstStyle>
            <a:lvl1pPr marL="457200" indent="-457200">
              <a:lnSpc>
                <a:spcPct val="90000"/>
              </a:lnSpc>
              <a:spcBef>
                <a:spcPts val="1000"/>
              </a:spcBef>
              <a:buFont typeface="+mj-lt"/>
              <a:buAutoNum type="arabicPeriod"/>
              <a:defRPr sz="2400">
                <a:solidFill>
                  <a:srgbClr val="3A5991"/>
                </a:solidFill>
                <a:latin typeface="Times New Roman" panose="02020603050405020304" pitchFamily="18" charset="0"/>
                <a:ea typeface="微软雅黑" panose="020B0503020204020204" charset="-122"/>
                <a:cs typeface="Times New Roman" panose="02020603050405020304" pitchFamily="18" charset="0"/>
              </a:defRPr>
            </a:lvl1pPr>
            <a:lvl2pPr marL="685800" lvl="1" indent="-228600">
              <a:lnSpc>
                <a:spcPct val="150000"/>
              </a:lnSpc>
              <a:spcBef>
                <a:spcPts val="500"/>
              </a:spcBef>
              <a:buFont typeface="Wingdings" panose="05000000000000000000" pitchFamily="2" charset="2"/>
              <a:buChar char="Ø"/>
              <a:defRPr sz="2000">
                <a:latin typeface="Times New Roman" panose="02020603050405020304" pitchFamily="18" charset="0"/>
                <a:ea typeface="微软雅黑" panose="020B0503020204020204"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400">
                <a:latin typeface="微软雅黑" panose="020B0503020204020204" charset="-122"/>
                <a:ea typeface="微软雅黑" panose="020B0503020204020204" charset="-122"/>
              </a:defRPr>
            </a:lvl3pPr>
            <a:lvl4pPr marL="1600200" indent="-228600">
              <a:lnSpc>
                <a:spcPct val="90000"/>
              </a:lnSpc>
              <a:spcBef>
                <a:spcPts val="500"/>
              </a:spcBef>
              <a:buFont typeface="Arial" panose="020B0604020202020204" pitchFamily="34" charset="0"/>
              <a:buChar char="•"/>
              <a:defRPr sz="2400">
                <a:latin typeface="微软雅黑" panose="020B0503020204020204" charset="-122"/>
                <a:ea typeface="微软雅黑" panose="020B0503020204020204" charset="-122"/>
              </a:defRPr>
            </a:lvl4pPr>
            <a:lvl5pPr marL="2057400" indent="-228600">
              <a:lnSpc>
                <a:spcPct val="90000"/>
              </a:lnSpc>
              <a:spcBef>
                <a:spcPts val="500"/>
              </a:spcBef>
              <a:buFont typeface="Arial" panose="020B0604020202020204" pitchFamily="34" charset="0"/>
              <a:buChar char="•"/>
              <a:defRPr sz="2400">
                <a:latin typeface="微软雅黑" panose="020B0503020204020204" charset="-122"/>
                <a:ea typeface="微软雅黑" panose="020B0503020204020204" charset="-122"/>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lvl="1" indent="0">
              <a:lnSpc>
                <a:spcPct val="100000"/>
              </a:lnSpc>
              <a:buFont typeface="Arial" panose="020B0604020202020204" pitchFamily="34" charset="0"/>
              <a:buChar char="•"/>
            </a:pPr>
            <a:r>
              <a:rPr lang="zh-CN" altLang="en-US" sz="2400" b="1" dirty="0">
                <a:latin typeface="黑体" panose="02010609060101010101" pitchFamily="49" charset="-122"/>
                <a:ea typeface="黑体" panose="02010609060101010101" pitchFamily="49" charset="-122"/>
              </a:rPr>
              <a:t>将上述两型细菌混合</a:t>
            </a:r>
            <a:r>
              <a:rPr lang="en-US" altLang="zh-CN" sz="2400" b="1" dirty="0">
                <a:latin typeface="黑体" panose="02010609060101010101" pitchFamily="49" charset="-122"/>
                <a:ea typeface="黑体" panose="02010609060101010101" pitchFamily="49" charset="-122"/>
              </a:rPr>
              <a:t>60min</a:t>
            </a:r>
            <a:r>
              <a:rPr lang="zh-CN" altLang="en-US" sz="2400" b="1" dirty="0">
                <a:latin typeface="黑体" panose="02010609060101010101" pitchFamily="49" charset="-122"/>
                <a:ea typeface="黑体" panose="02010609060101010101" pitchFamily="49" charset="-122"/>
              </a:rPr>
              <a:t>后涂布在含有链霉素（</a:t>
            </a:r>
            <a:r>
              <a:rPr lang="en-US" altLang="zh-CN" sz="2400" b="1" dirty="0">
                <a:latin typeface="黑体" panose="02010609060101010101" pitchFamily="49" charset="-122"/>
                <a:ea typeface="黑体" panose="02010609060101010101" pitchFamily="49" charset="-122"/>
              </a:rPr>
              <a:t>str</a:t>
            </a:r>
            <a:r>
              <a:rPr lang="zh-CN" altLang="en-US" sz="2400" b="1" dirty="0">
                <a:latin typeface="黑体" panose="02010609060101010101" pitchFamily="49" charset="-122"/>
                <a:ea typeface="黑体" panose="02010609060101010101" pitchFamily="49" charset="-122"/>
              </a:rPr>
              <a:t>）的基本培养基上，选出来的重组子是？ </a:t>
            </a:r>
            <a:endParaRPr lang="en-US" altLang="zh-CN" sz="2400" b="1" dirty="0">
              <a:latin typeface="黑体" panose="02010609060101010101" pitchFamily="49" charset="-122"/>
              <a:ea typeface="黑体" panose="02010609060101010101" pitchFamily="49" charset="-122"/>
            </a:endParaRPr>
          </a:p>
          <a:p>
            <a:pPr marL="0" lvl="1" indent="0">
              <a:lnSpc>
                <a:spcPct val="100000"/>
              </a:lnSpc>
              <a:buNone/>
            </a:pPr>
            <a:endParaRPr lang="en-US" altLang="zh-CN" sz="2400" b="1" dirty="0">
              <a:latin typeface="黑体" panose="02010609060101010101" pitchFamily="49" charset="-122"/>
              <a:ea typeface="黑体" panose="02010609060101010101" pitchFamily="49" charset="-122"/>
            </a:endParaRPr>
          </a:p>
          <a:p>
            <a:pPr marL="0" lvl="1" indent="0">
              <a:lnSpc>
                <a:spcPct val="100000"/>
              </a:lnSpc>
              <a:buFont typeface="Arial" panose="020B0604020202020204" pitchFamily="34" charset="0"/>
              <a:buChar char="•"/>
            </a:pPr>
            <a:r>
              <a:rPr lang="zh-CN" altLang="en-US" sz="2400" b="1" dirty="0">
                <a:latin typeface="黑体" panose="02010609060101010101" pitchFamily="49" charset="-122"/>
                <a:ea typeface="黑体" panose="02010609060101010101" pitchFamily="49" charset="-122"/>
              </a:rPr>
              <a:t>已知</a:t>
            </a:r>
            <a:r>
              <a:rPr lang="en-US" altLang="zh-CN" sz="2400" b="1" dirty="0" err="1">
                <a:latin typeface="黑体" panose="02010609060101010101" pitchFamily="49" charset="-122"/>
                <a:ea typeface="黑体" panose="02010609060101010101" pitchFamily="49" charset="-122"/>
              </a:rPr>
              <a:t>ade</a:t>
            </a:r>
            <a:r>
              <a:rPr lang="en-US" altLang="zh-CN" sz="2400" b="1" baseline="30000" dirty="0">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是在</a:t>
            </a:r>
            <a:r>
              <a:rPr lang="en-US" altLang="zh-CN" sz="2400" b="1" dirty="0">
                <a:latin typeface="黑体" panose="02010609060101010101" pitchFamily="49" charset="-122"/>
                <a:ea typeface="黑体" panose="02010609060101010101" pitchFamily="49" charset="-122"/>
              </a:rPr>
              <a:t>lac</a:t>
            </a:r>
            <a:r>
              <a:rPr lang="en-US" altLang="zh-CN" sz="2400" b="1" baseline="30000" dirty="0">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之后进入</a:t>
            </a:r>
            <a:r>
              <a:rPr lang="en-US" altLang="zh-CN" sz="2400" b="1" dirty="0">
                <a:latin typeface="黑体" panose="02010609060101010101" pitchFamily="49" charset="-122"/>
                <a:ea typeface="黑体" panose="02010609060101010101" pitchFamily="49" charset="-122"/>
              </a:rPr>
              <a:t>F</a:t>
            </a:r>
            <a:r>
              <a:rPr lang="en-US" altLang="zh-CN" b="1" baseline="30000" dirty="0">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细胞的，因此只要</a:t>
            </a:r>
            <a:r>
              <a:rPr lang="en-US" altLang="zh-CN" sz="2400" b="1" dirty="0" err="1">
                <a:latin typeface="黑体" panose="02010609060101010101" pitchFamily="49" charset="-122"/>
                <a:ea typeface="黑体" panose="02010609060101010101" pitchFamily="49" charset="-122"/>
              </a:rPr>
              <a:t>ade</a:t>
            </a:r>
            <a:r>
              <a:rPr lang="en-US" altLang="zh-CN" sz="2400" b="1" baseline="30000" dirty="0">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进入</a:t>
            </a:r>
            <a:r>
              <a:rPr lang="en-US" altLang="zh-CN" sz="2400" b="1" dirty="0">
                <a:latin typeface="黑体" panose="02010609060101010101" pitchFamily="49" charset="-122"/>
                <a:ea typeface="黑体" panose="02010609060101010101" pitchFamily="49" charset="-122"/>
              </a:rPr>
              <a:t>F</a:t>
            </a:r>
            <a:r>
              <a:rPr lang="en-US" altLang="zh-CN" sz="2400" b="1" baseline="30000" dirty="0">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细胞，</a:t>
            </a:r>
            <a:r>
              <a:rPr lang="en-US" altLang="zh-CN" sz="2400" b="1" dirty="0">
                <a:latin typeface="黑体" panose="02010609060101010101" pitchFamily="49" charset="-122"/>
                <a:ea typeface="黑体" panose="02010609060101010101" pitchFamily="49" charset="-122"/>
              </a:rPr>
              <a:t>lac</a:t>
            </a:r>
            <a:r>
              <a:rPr lang="en-US" altLang="zh-CN" sz="2400" b="1" baseline="30000" dirty="0">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自然也已经进入。如果选出</a:t>
            </a:r>
            <a:r>
              <a:rPr lang="en-US" altLang="zh-CN" sz="2400" b="1" dirty="0" err="1">
                <a:latin typeface="黑体" panose="02010609060101010101" pitchFamily="49" charset="-122"/>
                <a:ea typeface="黑体" panose="02010609060101010101" pitchFamily="49" charset="-122"/>
              </a:rPr>
              <a:t>ade</a:t>
            </a:r>
            <a:r>
              <a:rPr lang="en-US" altLang="zh-CN" sz="2400" b="1" baseline="30000" dirty="0">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同时也是</a:t>
            </a:r>
            <a:r>
              <a:rPr lang="en-US" altLang="zh-CN" sz="2400" b="1" dirty="0">
                <a:latin typeface="黑体" panose="02010609060101010101" pitchFamily="49" charset="-122"/>
                <a:ea typeface="黑体" panose="02010609060101010101" pitchFamily="49" charset="-122"/>
              </a:rPr>
              <a:t>lac</a:t>
            </a:r>
            <a:r>
              <a:rPr lang="en-US" altLang="zh-CN" sz="2400" b="1" baseline="30000" dirty="0">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，说明</a:t>
            </a:r>
            <a:r>
              <a:rPr lang="en-US" altLang="zh-CN" sz="2400" b="1" dirty="0">
                <a:latin typeface="黑体" panose="02010609060101010101" pitchFamily="49" charset="-122"/>
                <a:ea typeface="黑体" panose="02010609060101010101" pitchFamily="49" charset="-122"/>
              </a:rPr>
              <a:t>lac</a:t>
            </a:r>
            <a:r>
              <a:rPr lang="en-US" altLang="zh-CN" sz="2400" b="1" baseline="30000" dirty="0">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和</a:t>
            </a:r>
            <a:r>
              <a:rPr lang="en-US" altLang="zh-CN" sz="2400" b="1" dirty="0" err="1">
                <a:latin typeface="黑体" panose="02010609060101010101" pitchFamily="49" charset="-122"/>
                <a:ea typeface="黑体" panose="02010609060101010101" pitchFamily="49" charset="-122"/>
              </a:rPr>
              <a:t>ade</a:t>
            </a:r>
            <a:r>
              <a:rPr lang="en-US" altLang="zh-CN" sz="2400" b="1" baseline="30000" dirty="0">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间没有发生过交换；如果是</a:t>
            </a:r>
            <a:r>
              <a:rPr lang="en-US" altLang="zh-CN" sz="2400" b="1" dirty="0">
                <a:latin typeface="黑体" panose="02010609060101010101" pitchFamily="49" charset="-122"/>
                <a:ea typeface="黑体" panose="02010609060101010101" pitchFamily="49" charset="-122"/>
              </a:rPr>
              <a:t>lac</a:t>
            </a:r>
            <a:r>
              <a:rPr lang="en-US" altLang="zh-CN" sz="2400" b="1" baseline="30000" dirty="0">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，说明两者之间发生过交换。如何计算重组率？</a:t>
            </a:r>
            <a:endParaRPr lang="en-US" altLang="zh-CN" sz="2400" b="1" dirty="0">
              <a:latin typeface="黑体" panose="02010609060101010101" pitchFamily="49" charset="-122"/>
              <a:ea typeface="黑体" panose="02010609060101010101" pitchFamily="49" charset="-122"/>
            </a:endParaRPr>
          </a:p>
        </p:txBody>
      </p:sp>
      <p:sp>
        <p:nvSpPr>
          <p:cNvPr id="5" name="文本框 4"/>
          <p:cNvSpPr txBox="1"/>
          <p:nvPr/>
        </p:nvSpPr>
        <p:spPr>
          <a:xfrm>
            <a:off x="3681745" y="3057193"/>
            <a:ext cx="2343150" cy="523220"/>
          </a:xfrm>
          <a:prstGeom prst="rect">
            <a:avLst/>
          </a:prstGeom>
          <a:noFill/>
        </p:spPr>
        <p:txBody>
          <a:bodyPr wrap="square">
            <a:spAutoFit/>
          </a:bodyPr>
          <a:lstStyle/>
          <a:p>
            <a:r>
              <a:rPr lang="en-US" altLang="zh-CN" sz="2800" b="1" i="1" dirty="0" err="1">
                <a:solidFill>
                  <a:srgbClr val="FF0000"/>
                </a:solidFill>
                <a:latin typeface="黑体" panose="02010609060101010101" pitchFamily="49" charset="-122"/>
                <a:ea typeface="黑体" panose="02010609060101010101" pitchFamily="49" charset="-122"/>
              </a:rPr>
              <a:t>ade</a:t>
            </a:r>
            <a:r>
              <a:rPr lang="en-US" altLang="zh-CN" sz="2800" b="1" i="1" baseline="30000" dirty="0">
                <a:solidFill>
                  <a:srgbClr val="FF0000"/>
                </a:solidFill>
                <a:latin typeface="黑体" panose="02010609060101010101" pitchFamily="49" charset="-122"/>
                <a:ea typeface="黑体" panose="02010609060101010101" pitchFamily="49" charset="-122"/>
              </a:rPr>
              <a:t>+</a:t>
            </a:r>
            <a:r>
              <a:rPr lang="en-US" altLang="zh-CN" sz="2800" b="1" i="1" dirty="0">
                <a:solidFill>
                  <a:srgbClr val="FF0000"/>
                </a:solidFill>
                <a:latin typeface="黑体" panose="02010609060101010101" pitchFamily="49" charset="-122"/>
                <a:ea typeface="黑体" panose="02010609060101010101" pitchFamily="49" charset="-122"/>
              </a:rPr>
              <a:t> </a:t>
            </a:r>
            <a:r>
              <a:rPr lang="en-US" altLang="zh-CN" sz="2800" b="1" i="1" dirty="0" err="1">
                <a:solidFill>
                  <a:srgbClr val="FF0000"/>
                </a:solidFill>
                <a:latin typeface="黑体" panose="02010609060101010101" pitchFamily="49" charset="-122"/>
                <a:ea typeface="黑体" panose="02010609060101010101" pitchFamily="49" charset="-122"/>
              </a:rPr>
              <a:t>str</a:t>
            </a:r>
            <a:r>
              <a:rPr lang="en-US" altLang="zh-CN" sz="2800" b="1" i="1" baseline="30000" dirty="0" err="1">
                <a:solidFill>
                  <a:srgbClr val="FF0000"/>
                </a:solidFill>
                <a:latin typeface="黑体" panose="02010609060101010101" pitchFamily="49" charset="-122"/>
                <a:ea typeface="黑体" panose="02010609060101010101" pitchFamily="49" charset="-122"/>
              </a:rPr>
              <a:t>r</a:t>
            </a:r>
            <a:r>
              <a:rPr lang="en-US" altLang="zh-CN" sz="2800" b="1" i="1" dirty="0">
                <a:solidFill>
                  <a:srgbClr val="FF0000"/>
                </a:solidFill>
                <a:latin typeface="黑体" panose="02010609060101010101" pitchFamily="49" charset="-122"/>
                <a:ea typeface="黑体" panose="02010609060101010101" pitchFamily="49" charset="-122"/>
              </a:rPr>
              <a:t> </a:t>
            </a:r>
            <a:endParaRPr lang="zh-CN" altLang="en-US" sz="2800" i="1" dirty="0">
              <a:solidFill>
                <a:srgbClr val="FF0000"/>
              </a:solidFill>
            </a:endParaRPr>
          </a:p>
        </p:txBody>
      </p:sp>
      <p:pic>
        <p:nvPicPr>
          <p:cNvPr id="6" name="图片 5"/>
          <p:cNvPicPr>
            <a:picLocks noChangeAspect="1"/>
          </p:cNvPicPr>
          <p:nvPr/>
        </p:nvPicPr>
        <p:blipFill rotWithShape="1">
          <a:blip r:embed="rId1">
            <a:extLst>
              <a:ext uri="{BEBA8EAE-BF5A-486C-A8C5-ECC9F3942E4B}">
                <a14:imgProps xmlns:a14="http://schemas.microsoft.com/office/drawing/2010/main">
                  <a14:imgLayer r:embed="rId2">
                    <a14:imgEffect>
                      <a14:sharpenSoften amount="50000"/>
                    </a14:imgEffect>
                  </a14:imgLayer>
                </a14:imgProps>
              </a:ext>
            </a:extLst>
          </a:blip>
          <a:srcRect t="16516" b="8941"/>
          <a:stretch>
            <a:fillRect/>
          </a:stretch>
        </p:blipFill>
        <p:spPr>
          <a:xfrm>
            <a:off x="0" y="5126108"/>
            <a:ext cx="8059507" cy="990601"/>
          </a:xfrm>
          <a:prstGeom prst="rect">
            <a:avLst/>
          </a:prstGeom>
        </p:spPr>
      </p:pic>
      <p:pic>
        <p:nvPicPr>
          <p:cNvPr id="9" name="内容占位符 5"/>
          <p:cNvPicPr>
            <a:picLocks noChangeAspect="1"/>
          </p:cNvPicPr>
          <p:nvPr/>
        </p:nvPicPr>
        <p:blipFill>
          <a:blip r:embed="rId3" cstate="print">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179412" y="105990"/>
            <a:ext cx="2832955" cy="1958474"/>
          </a:xfrm>
          <a:prstGeom prst="rect">
            <a:avLst/>
          </a:prstGeom>
        </p:spPr>
      </p:pic>
      <p:pic>
        <p:nvPicPr>
          <p:cNvPr id="12" name="图片 11"/>
          <p:cNvPicPr>
            <a:picLocks noChangeAspect="1"/>
          </p:cNvPicPr>
          <p:nvPr/>
        </p:nvPicPr>
        <p:blipFill>
          <a:blip r:embed="rId5"/>
          <a:stretch>
            <a:fillRect/>
          </a:stretch>
        </p:blipFill>
        <p:spPr>
          <a:xfrm>
            <a:off x="8249265" y="2386596"/>
            <a:ext cx="3942735" cy="3234813"/>
          </a:xfrm>
          <a:prstGeom prst="rect">
            <a:avLst/>
          </a:prstGeom>
        </p:spPr>
      </p:pic>
      <p:pic>
        <p:nvPicPr>
          <p:cNvPr id="14" name="图片 13"/>
          <p:cNvPicPr>
            <a:picLocks noChangeAspect="1"/>
          </p:cNvPicPr>
          <p:nvPr/>
        </p:nvPicPr>
        <p:blipFill>
          <a:blip r:embed="rId6"/>
          <a:stretch>
            <a:fillRect/>
          </a:stretch>
        </p:blipFill>
        <p:spPr>
          <a:xfrm>
            <a:off x="1892011" y="1403876"/>
            <a:ext cx="4895850" cy="800100"/>
          </a:xfrm>
          <a:prstGeom prst="rect">
            <a:avLst/>
          </a:prstGeom>
        </p:spPr>
      </p:pic>
      <p:sp>
        <p:nvSpPr>
          <p:cNvPr id="16" name="文本框 15"/>
          <p:cNvSpPr txBox="1"/>
          <p:nvPr/>
        </p:nvSpPr>
        <p:spPr>
          <a:xfrm>
            <a:off x="67562" y="6082000"/>
            <a:ext cx="10614293"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solidFill>
                  <a:srgbClr val="0000FF"/>
                </a:solidFill>
                <a:latin typeface="黑体" panose="02010609060101010101" pitchFamily="49" charset="-122"/>
                <a:ea typeface="黑体" panose="02010609060101010101" pitchFamily="49" charset="-122"/>
              </a:rPr>
              <a:t>把重组子菌落影印培养在</a:t>
            </a:r>
            <a:r>
              <a:rPr lang="en-US" altLang="zh-CN" sz="2400" b="1" dirty="0">
                <a:solidFill>
                  <a:srgbClr val="0000FF"/>
                </a:solidFill>
                <a:latin typeface="黑体" panose="02010609060101010101" pitchFamily="49" charset="-122"/>
                <a:ea typeface="黑体" panose="02010609060101010101" pitchFamily="49" charset="-122"/>
              </a:rPr>
              <a:t>EMB</a:t>
            </a:r>
            <a:r>
              <a:rPr lang="zh-CN" altLang="en-US" sz="2400" b="1" dirty="0">
                <a:solidFill>
                  <a:srgbClr val="0000FF"/>
                </a:solidFill>
                <a:latin typeface="黑体" panose="02010609060101010101" pitchFamily="49" charset="-122"/>
                <a:ea typeface="黑体" panose="02010609060101010101" pitchFamily="49" charset="-122"/>
              </a:rPr>
              <a:t>培养基上，鉴定能否利用乳糖。如能发酵乳糖（</a:t>
            </a:r>
            <a:r>
              <a:rPr lang="en-US" altLang="zh-CN" sz="2400" b="1" i="1" dirty="0">
                <a:solidFill>
                  <a:srgbClr val="0000FF"/>
                </a:solidFill>
                <a:latin typeface="黑体" panose="02010609060101010101" pitchFamily="49" charset="-122"/>
                <a:ea typeface="黑体" panose="02010609060101010101" pitchFamily="49" charset="-122"/>
              </a:rPr>
              <a:t>lac</a:t>
            </a:r>
            <a:r>
              <a:rPr lang="en-US" altLang="zh-CN" sz="2400" b="1" i="1" baseline="30000" dirty="0">
                <a:solidFill>
                  <a:srgbClr val="0000FF"/>
                </a:solidFill>
                <a:latin typeface="黑体" panose="02010609060101010101" pitchFamily="49" charset="-122"/>
                <a:ea typeface="黑体" panose="02010609060101010101" pitchFamily="49" charset="-122"/>
              </a:rPr>
              <a:t>+</a:t>
            </a:r>
            <a:r>
              <a:rPr lang="zh-CN" altLang="en-US" sz="2400" b="1" dirty="0">
                <a:solidFill>
                  <a:srgbClr val="0000FF"/>
                </a:solidFill>
                <a:latin typeface="黑体" panose="02010609060101010101" pitchFamily="49" charset="-122"/>
                <a:ea typeface="黑体" panose="02010609060101010101" pitchFamily="49" charset="-122"/>
              </a:rPr>
              <a:t>），菌落是紫红色的；如不能，菌落是粉红色的。</a:t>
            </a:r>
            <a:endParaRPr lang="en-US" altLang="zh-CN" sz="2400" b="1" dirty="0">
              <a:solidFill>
                <a:srgbClr val="0000FF"/>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childTnLst>
                          </p:cTn>
                        </p:par>
                        <p:par>
                          <p:cTn id="21" fill="hold">
                            <p:stCondLst>
                              <p:cond delay="500"/>
                            </p:stCondLst>
                            <p:childTnLst>
                              <p:par>
                                <p:cTn id="22" presetID="10" presetClass="entr" presetSubtype="0" fill="hold"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7061708" y="5507866"/>
            <a:ext cx="4497719" cy="584775"/>
          </a:xfrm>
          <a:prstGeom prst="rect">
            <a:avLst/>
          </a:prstGeom>
        </p:spPr>
        <p:txBody>
          <a:bodyPr vert="horz" lIns="91440" tIns="45720" rIns="91440" bIns="45720" rtlCol="0">
            <a:noAutofit/>
          </a:bodyPr>
          <a:lstStyle>
            <a:defPPr>
              <a:defRPr lang="zh-CN"/>
            </a:defPPr>
            <a:lvl1pPr indent="0" algn="ctr">
              <a:lnSpc>
                <a:spcPct val="90000"/>
              </a:lnSpc>
              <a:spcBef>
                <a:spcPts val="1000"/>
              </a:spcBef>
              <a:buFont typeface="Arial" panose="020B0604020202020204" pitchFamily="34" charset="0"/>
              <a:buNone/>
              <a:defRPr b="1">
                <a:latin typeface="微软雅黑" panose="020B0503020204020204" charset="-122"/>
                <a:ea typeface="微软雅黑" panose="020B0503020204020204" charset="-122"/>
                <a:cs typeface="Times New Roman" panose="02020603050405020304" pitchFamily="18" charset="0"/>
              </a:defRPr>
            </a:lvl1pPr>
            <a:lvl2pPr lvl="1" indent="-457200">
              <a:lnSpc>
                <a:spcPct val="100000"/>
              </a:lnSpc>
              <a:spcBef>
                <a:spcPts val="500"/>
              </a:spcBef>
              <a:buFont typeface="Wingdings" panose="05000000000000000000" pitchFamily="2" charset="2"/>
              <a:buChar char="Ø"/>
              <a:defRPr sz="2800">
                <a:latin typeface="Times New Roman" panose="02020603050405020304" pitchFamily="18" charset="0"/>
                <a:ea typeface="微软雅黑" panose="020B0503020204020204"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大肠杆菌 </a:t>
            </a:r>
            <a:r>
              <a:rPr lang="en-US" altLang="zh-CN" dirty="0"/>
              <a:t>K-12 </a:t>
            </a:r>
            <a:r>
              <a:rPr lang="zh-CN" altLang="en-US" dirty="0"/>
              <a:t>的环状遗传学图</a:t>
            </a:r>
            <a:endParaRPr lang="en-US" altLang="zh-CN" dirty="0"/>
          </a:p>
          <a:p>
            <a:r>
              <a:rPr lang="zh-CN" altLang="en-US" dirty="0"/>
              <a:t>（引自 </a:t>
            </a:r>
            <a:r>
              <a:rPr lang="en-US" altLang="zh-CN" dirty="0"/>
              <a:t>Gardner</a:t>
            </a:r>
            <a:r>
              <a:rPr lang="zh-CN" altLang="en-US" dirty="0"/>
              <a:t>，</a:t>
            </a:r>
            <a:r>
              <a:rPr lang="en-US" altLang="zh-CN" dirty="0"/>
              <a:t>1984</a:t>
            </a:r>
            <a:r>
              <a:rPr lang="zh-CN" altLang="en-US" dirty="0"/>
              <a:t>）</a:t>
            </a:r>
            <a:endParaRPr lang="zh-CN" altLang="en-US" dirty="0"/>
          </a:p>
        </p:txBody>
      </p:sp>
      <p:pic>
        <p:nvPicPr>
          <p:cNvPr id="6" name="内容占位符 5"/>
          <p:cNvPicPr>
            <a:picLocks noGrp="1" noChangeAspect="1"/>
          </p:cNvPicPr>
          <p:nvPr>
            <p:ph sz="half" idx="1"/>
          </p:nvPr>
        </p:nvPicPr>
        <p:blipFill>
          <a:blip r:embed="rId1" cstate="print">
            <a:extLst>
              <a:ext uri="{BEBA8EAE-BF5A-486C-A8C5-ECC9F3942E4B}">
                <a14:imgProps xmlns:a14="http://schemas.microsoft.com/office/drawing/2010/main">
                  <a14:imgLayer r:embed="rId2">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7061708" y="630963"/>
            <a:ext cx="4199586" cy="4202254"/>
          </a:xfrm>
        </p:spPr>
      </p:pic>
      <p:sp>
        <p:nvSpPr>
          <p:cNvPr id="9" name="文本框 8"/>
          <p:cNvSpPr txBox="1"/>
          <p:nvPr/>
        </p:nvSpPr>
        <p:spPr>
          <a:xfrm>
            <a:off x="0" y="687345"/>
            <a:ext cx="6838359" cy="1489798"/>
          </a:xfrm>
          <a:prstGeom prst="rect">
            <a:avLst/>
          </a:prstGeom>
        </p:spPr>
        <p:txBody>
          <a:bodyPr vert="horz" lIns="91440" tIns="45720" rIns="91440" bIns="45720" rtlCol="0">
            <a:noAutofit/>
          </a:bodyPr>
          <a:lstStyle>
            <a:defPPr>
              <a:defRPr lang="zh-CN"/>
            </a:defPPr>
            <a:lvl1pPr marL="457200" indent="-457200">
              <a:lnSpc>
                <a:spcPct val="90000"/>
              </a:lnSpc>
              <a:spcBef>
                <a:spcPts val="1000"/>
              </a:spcBef>
              <a:buFont typeface="+mj-lt"/>
              <a:buAutoNum type="arabicPeriod"/>
              <a:defRPr sz="2400">
                <a:solidFill>
                  <a:srgbClr val="3A5991"/>
                </a:solidFill>
                <a:latin typeface="Times New Roman" panose="02020603050405020304" pitchFamily="18" charset="0"/>
                <a:ea typeface="微软雅黑" panose="020B0503020204020204" charset="-122"/>
                <a:cs typeface="Times New Roman" panose="02020603050405020304" pitchFamily="18" charset="0"/>
              </a:defRPr>
            </a:lvl1pPr>
            <a:lvl2pPr marL="685800" lvl="1" indent="-228600">
              <a:lnSpc>
                <a:spcPct val="120000"/>
              </a:lnSpc>
              <a:spcBef>
                <a:spcPts val="500"/>
              </a:spcBef>
              <a:buFont typeface="Wingdings" panose="05000000000000000000" pitchFamily="2" charset="2"/>
              <a:buChar char="Ø"/>
              <a:defRPr>
                <a:latin typeface="Times New Roman" panose="02020603050405020304" pitchFamily="18" charset="0"/>
                <a:ea typeface="微软雅黑" panose="020B0503020204020204"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400">
                <a:latin typeface="微软雅黑" panose="020B0503020204020204" charset="-122"/>
                <a:ea typeface="微软雅黑" panose="020B0503020204020204" charset="-122"/>
              </a:defRPr>
            </a:lvl3pPr>
            <a:lvl4pPr marL="1600200" indent="-228600">
              <a:lnSpc>
                <a:spcPct val="90000"/>
              </a:lnSpc>
              <a:spcBef>
                <a:spcPts val="500"/>
              </a:spcBef>
              <a:buFont typeface="Arial" panose="020B0604020202020204" pitchFamily="34" charset="0"/>
              <a:buChar char="•"/>
              <a:defRPr sz="2400">
                <a:latin typeface="微软雅黑" panose="020B0503020204020204" charset="-122"/>
                <a:ea typeface="微软雅黑" panose="020B0503020204020204" charset="-122"/>
              </a:defRPr>
            </a:lvl4pPr>
            <a:lvl5pPr marL="2057400" indent="-228600">
              <a:lnSpc>
                <a:spcPct val="90000"/>
              </a:lnSpc>
              <a:spcBef>
                <a:spcPts val="500"/>
              </a:spcBef>
              <a:buFont typeface="Arial" panose="020B0604020202020204" pitchFamily="34" charset="0"/>
              <a:buChar char="•"/>
              <a:defRPr sz="2400">
                <a:latin typeface="微软雅黑" panose="020B0503020204020204" charset="-122"/>
                <a:ea typeface="微软雅黑" panose="020B0503020204020204" charset="-122"/>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1"/>
            <a:r>
              <a:rPr lang="zh-CN" altLang="en-US" sz="2800" dirty="0"/>
              <a:t>中断杂交中的</a:t>
            </a:r>
            <a:r>
              <a:rPr lang="en-US" altLang="zh-CN" sz="2800" dirty="0">
                <a:solidFill>
                  <a:srgbClr val="0000FF"/>
                </a:solidFill>
              </a:rPr>
              <a:t>1</a:t>
            </a:r>
            <a:r>
              <a:rPr lang="zh-CN" altLang="en-US" sz="2800" dirty="0">
                <a:solidFill>
                  <a:srgbClr val="0000FF"/>
                </a:solidFill>
              </a:rPr>
              <a:t>个时间单位</a:t>
            </a:r>
            <a:r>
              <a:rPr lang="zh-CN" altLang="en-US" sz="2800" dirty="0"/>
              <a:t>（</a:t>
            </a:r>
            <a:r>
              <a:rPr lang="en-US" altLang="zh-CN" sz="2800" dirty="0"/>
              <a:t>1 min</a:t>
            </a:r>
            <a:r>
              <a:rPr lang="zh-CN" altLang="en-US" sz="2800" dirty="0"/>
              <a:t>）大致相当于重组作图中 </a:t>
            </a:r>
            <a:r>
              <a:rPr lang="en-US" altLang="zh-CN" sz="2800" dirty="0">
                <a:solidFill>
                  <a:srgbClr val="0000FF"/>
                </a:solidFill>
              </a:rPr>
              <a:t>20% </a:t>
            </a:r>
            <a:r>
              <a:rPr lang="zh-CN" altLang="en-US" sz="2800" dirty="0">
                <a:solidFill>
                  <a:srgbClr val="0000FF"/>
                </a:solidFill>
              </a:rPr>
              <a:t>的重组率</a:t>
            </a:r>
            <a:r>
              <a:rPr lang="zh-CN" altLang="en-US" sz="2800" dirty="0"/>
              <a:t>。用重组率所测得的基因间距离和由 </a:t>
            </a:r>
            <a:r>
              <a:rPr lang="en-US" altLang="zh-CN" sz="2800" dirty="0" err="1"/>
              <a:t>Hfr</a:t>
            </a:r>
            <a:r>
              <a:rPr lang="en-US" altLang="zh-CN" sz="2800" dirty="0"/>
              <a:t> </a:t>
            </a:r>
            <a:r>
              <a:rPr lang="zh-CN" altLang="en-US" sz="2800" dirty="0"/>
              <a:t>基因进入 </a:t>
            </a:r>
            <a:r>
              <a:rPr lang="en-US" altLang="zh-CN" sz="2800" dirty="0"/>
              <a:t>F</a:t>
            </a:r>
            <a:r>
              <a:rPr lang="en-US" altLang="zh-CN" sz="2800" baseline="30000" dirty="0"/>
              <a:t>− </a:t>
            </a:r>
            <a:r>
              <a:rPr lang="zh-CN" altLang="en-US" sz="2800" dirty="0"/>
              <a:t>细菌的时间先后所测得的基因间距离基本上是符合的。</a:t>
            </a:r>
            <a:endParaRPr lang="en-US" altLang="zh-CN" sz="2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856080" y="6317576"/>
            <a:ext cx="4497719" cy="341632"/>
          </a:xfrm>
          <a:prstGeom prst="rect">
            <a:avLst/>
          </a:prstGeom>
        </p:spPr>
        <p:txBody>
          <a:bodyPr vert="horz" lIns="91440" tIns="45720" rIns="91440" bIns="45720" rtlCol="0">
            <a:noAutofit/>
          </a:bodyPr>
          <a:lstStyle>
            <a:defPPr>
              <a:defRPr lang="zh-CN"/>
            </a:defPPr>
            <a:lvl1pPr indent="0" algn="ctr">
              <a:lnSpc>
                <a:spcPct val="90000"/>
              </a:lnSpc>
              <a:spcBef>
                <a:spcPts val="1000"/>
              </a:spcBef>
              <a:buFont typeface="Arial" panose="020B0604020202020204" pitchFamily="34" charset="0"/>
              <a:buNone/>
              <a:defRPr b="1">
                <a:latin typeface="微软雅黑" panose="020B0503020204020204" charset="-122"/>
                <a:ea typeface="微软雅黑" panose="020B0503020204020204" charset="-122"/>
                <a:cs typeface="Times New Roman" panose="02020603050405020304" pitchFamily="18" charset="0"/>
              </a:defRPr>
            </a:lvl1pPr>
            <a:lvl2pPr lvl="1" indent="-457200">
              <a:lnSpc>
                <a:spcPct val="100000"/>
              </a:lnSpc>
              <a:spcBef>
                <a:spcPts val="500"/>
              </a:spcBef>
              <a:buFont typeface="Wingdings" panose="05000000000000000000" pitchFamily="2" charset="2"/>
              <a:buChar char="Ø"/>
              <a:defRPr sz="2800">
                <a:latin typeface="Times New Roman" panose="02020603050405020304" pitchFamily="18" charset="0"/>
                <a:ea typeface="微软雅黑" panose="020B0503020204020204"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t>F′ </a:t>
            </a:r>
            <a:r>
              <a:rPr lang="zh-CN" altLang="en-US" dirty="0"/>
              <a:t>因子的形成过程</a:t>
            </a:r>
            <a:endParaRPr lang="zh-CN" altLang="en-US" dirty="0"/>
          </a:p>
        </p:txBody>
      </p:sp>
      <p:sp>
        <p:nvSpPr>
          <p:cNvPr id="8" name="文本框 7"/>
          <p:cNvSpPr txBox="1"/>
          <p:nvPr/>
        </p:nvSpPr>
        <p:spPr>
          <a:xfrm>
            <a:off x="115084" y="2970478"/>
            <a:ext cx="5900057" cy="2483265"/>
          </a:xfrm>
          <a:prstGeom prst="rect">
            <a:avLst/>
          </a:prstGeom>
        </p:spPr>
        <p:txBody>
          <a:bodyPr vert="horz" lIns="91440" tIns="45720" rIns="91440" bIns="45720" rtlCol="0">
            <a:normAutofit/>
          </a:bodyPr>
          <a:lstStyle>
            <a:lvl1pPr indent="0">
              <a:lnSpc>
                <a:spcPct val="100000"/>
              </a:lnSpc>
              <a:spcBef>
                <a:spcPts val="1000"/>
              </a:spcBef>
              <a:buFont typeface="Arial" panose="020B0604020202020204" pitchFamily="34" charset="0"/>
              <a:buNone/>
              <a:defRPr sz="2800" b="1">
                <a:latin typeface="黑体" panose="02010609060101010101" pitchFamily="49" charset="-122"/>
                <a:ea typeface="黑体" panose="02010609060101010101" pitchFamily="49"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a:t>
            </a:r>
            <a:r>
              <a:rPr lang="en-US" altLang="zh-CN" dirty="0"/>
              <a:t>a</a:t>
            </a:r>
            <a:r>
              <a:rPr lang="zh-CN" altLang="en-US" dirty="0"/>
              <a:t>）</a:t>
            </a:r>
            <a:r>
              <a:rPr lang="en-US" altLang="zh-CN" dirty="0" err="1"/>
              <a:t>Hfr</a:t>
            </a:r>
            <a:r>
              <a:rPr lang="zh-CN" altLang="en-US" dirty="0"/>
              <a:t>菌株中，</a:t>
            </a:r>
            <a:r>
              <a:rPr lang="en-US" altLang="zh-CN" dirty="0"/>
              <a:t>F</a:t>
            </a:r>
            <a:r>
              <a:rPr lang="zh-CN" altLang="en-US" dirty="0"/>
              <a:t>因子的不精确解离将部分染色体基因片段一同切下（</a:t>
            </a:r>
            <a:r>
              <a:rPr lang="en-US" altLang="zh-CN" dirty="0"/>
              <a:t>lac+</a:t>
            </a:r>
            <a:r>
              <a:rPr lang="zh-CN" altLang="en-US" dirty="0"/>
              <a:t>），形成 </a:t>
            </a:r>
            <a:r>
              <a:rPr lang="en-US" altLang="zh-CN" dirty="0"/>
              <a:t>F′</a:t>
            </a:r>
            <a:r>
              <a:rPr lang="zh-CN" altLang="en-US" dirty="0"/>
              <a:t>因子</a:t>
            </a:r>
            <a:endParaRPr lang="en-US" altLang="zh-CN" dirty="0"/>
          </a:p>
          <a:p>
            <a:r>
              <a:rPr lang="zh-CN" altLang="en-US" dirty="0"/>
              <a:t>（</a:t>
            </a:r>
            <a:r>
              <a:rPr lang="en-US" altLang="zh-CN" dirty="0"/>
              <a:t>b</a:t>
            </a:r>
            <a:r>
              <a:rPr lang="zh-CN" altLang="en-US" dirty="0"/>
              <a:t>）在新的接合受体细菌中，</a:t>
            </a:r>
            <a:r>
              <a:rPr lang="en-US" altLang="zh-CN" dirty="0"/>
              <a:t>F′</a:t>
            </a:r>
            <a:r>
              <a:rPr lang="zh-CN" altLang="en-US" dirty="0"/>
              <a:t>因子与细菌染色体形成了部分二倍体</a:t>
            </a:r>
            <a:endParaRPr lang="zh-CN" altLang="en-US" dirty="0"/>
          </a:p>
        </p:txBody>
      </p:sp>
      <p:pic>
        <p:nvPicPr>
          <p:cNvPr id="3" name="图片 2"/>
          <p:cNvPicPr>
            <a:picLocks noChangeAspect="1"/>
          </p:cNvPicPr>
          <p:nvPr/>
        </p:nvPicPr>
        <p:blipFill>
          <a:blip r:embed="rId1" cstate="print">
            <a:extLst>
              <a:ext uri="{BEBA8EAE-BF5A-486C-A8C5-ECC9F3942E4B}">
                <a14:imgProps xmlns:a14="http://schemas.microsoft.com/office/drawing/2010/main">
                  <a14:imgLayer r:embed="rId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6176860" y="198792"/>
            <a:ext cx="6015140" cy="5880229"/>
          </a:xfrm>
          <a:prstGeom prst="rect">
            <a:avLst/>
          </a:prstGeom>
        </p:spPr>
      </p:pic>
      <p:sp>
        <p:nvSpPr>
          <p:cNvPr id="5" name="内容占位符 4"/>
          <p:cNvSpPr>
            <a:spLocks noGrp="1"/>
          </p:cNvSpPr>
          <p:nvPr>
            <p:ph sz="half" idx="1"/>
          </p:nvPr>
        </p:nvSpPr>
        <p:spPr>
          <a:xfrm>
            <a:off x="1" y="1004047"/>
            <a:ext cx="6176860" cy="1643527"/>
          </a:xfrm>
        </p:spPr>
        <p:txBody>
          <a:bodyPr vert="horz" wrap="square" lIns="91440" tIns="45720" rIns="91440" bIns="45720" rtlCol="0">
            <a:spAutoFit/>
          </a:bodyPr>
          <a:lstStyle/>
          <a:p>
            <a:pPr marL="0" lvl="1" indent="0">
              <a:buNone/>
            </a:pPr>
            <a:r>
              <a:rPr lang="zh-CN" altLang="en-US" sz="2800" b="1" dirty="0">
                <a:latin typeface="黑体" panose="02010609060101010101" pitchFamily="49" charset="-122"/>
                <a:ea typeface="黑体" panose="02010609060101010101" pitchFamily="49" charset="-122"/>
                <a:cs typeface="+mn-cs"/>
              </a:rPr>
              <a:t>大肠杆菌中还有另一种新的</a:t>
            </a:r>
            <a:r>
              <a:rPr lang="en-US" altLang="zh-CN" sz="2800" b="1" dirty="0">
                <a:latin typeface="黑体" panose="02010609060101010101" pitchFamily="49" charset="-122"/>
                <a:ea typeface="黑体" panose="02010609060101010101" pitchFamily="49" charset="-122"/>
                <a:cs typeface="+mn-cs"/>
              </a:rPr>
              <a:t>F</a:t>
            </a:r>
            <a:r>
              <a:rPr lang="zh-CN" altLang="en-US" sz="2800" b="1" dirty="0">
                <a:latin typeface="黑体" panose="02010609060101010101" pitchFamily="49" charset="-122"/>
                <a:ea typeface="黑体" panose="02010609060101010101" pitchFamily="49" charset="-122"/>
                <a:cs typeface="+mn-cs"/>
              </a:rPr>
              <a:t>因子</a:t>
            </a:r>
            <a:r>
              <a:rPr lang="en-US" altLang="zh-CN" sz="2800" b="1" dirty="0">
                <a:latin typeface="黑体" panose="02010609060101010101" pitchFamily="49" charset="-122"/>
                <a:ea typeface="黑体" panose="02010609060101010101" pitchFamily="49" charset="-122"/>
                <a:cs typeface="+mn-cs"/>
              </a:rPr>
              <a:t>—</a:t>
            </a:r>
            <a:r>
              <a:rPr lang="en-US" altLang="zh-CN" sz="2800" b="1" dirty="0">
                <a:solidFill>
                  <a:srgbClr val="FF0000"/>
                </a:solidFill>
                <a:latin typeface="黑体" panose="02010609060101010101" pitchFamily="49" charset="-122"/>
                <a:ea typeface="黑体" panose="02010609060101010101" pitchFamily="49" charset="-122"/>
                <a:cs typeface="+mn-cs"/>
              </a:rPr>
              <a:t>F′</a:t>
            </a:r>
            <a:r>
              <a:rPr lang="zh-CN" altLang="en-US" sz="2800" b="1" dirty="0">
                <a:solidFill>
                  <a:srgbClr val="FF0000"/>
                </a:solidFill>
                <a:latin typeface="黑体" panose="02010609060101010101" pitchFamily="49" charset="-122"/>
                <a:ea typeface="黑体" panose="02010609060101010101" pitchFamily="49" charset="-122"/>
                <a:cs typeface="+mn-cs"/>
              </a:rPr>
              <a:t>因子</a:t>
            </a:r>
            <a:r>
              <a:rPr lang="zh-CN" altLang="en-US" sz="2800" b="1" dirty="0">
                <a:latin typeface="黑体" panose="02010609060101010101" pitchFamily="49" charset="-122"/>
                <a:ea typeface="黑体" panose="02010609060101010101" pitchFamily="49" charset="-122"/>
                <a:cs typeface="+mn-cs"/>
              </a:rPr>
              <a:t>。利用</a:t>
            </a:r>
            <a:r>
              <a:rPr lang="en-US" altLang="zh-CN" sz="2800" b="1" dirty="0">
                <a:latin typeface="黑体" panose="02010609060101010101" pitchFamily="49" charset="-122"/>
                <a:ea typeface="黑体" panose="02010609060101010101" pitchFamily="49" charset="-122"/>
                <a:cs typeface="+mn-cs"/>
              </a:rPr>
              <a:t>F′</a:t>
            </a:r>
            <a:r>
              <a:rPr lang="zh-CN" altLang="en-US" sz="2800" b="1" dirty="0">
                <a:latin typeface="黑体" panose="02010609060101010101" pitchFamily="49" charset="-122"/>
                <a:ea typeface="黑体" panose="02010609060101010101" pitchFamily="49" charset="-122"/>
                <a:cs typeface="+mn-cs"/>
              </a:rPr>
              <a:t>因子进行细菌间基因的转移叫作</a:t>
            </a:r>
            <a:r>
              <a:rPr lang="zh-CN" altLang="en-US" sz="2800" b="1" dirty="0">
                <a:solidFill>
                  <a:srgbClr val="FF0000"/>
                </a:solidFill>
                <a:latin typeface="黑体" panose="02010609060101010101" pitchFamily="49" charset="-122"/>
                <a:ea typeface="黑体" panose="02010609060101010101" pitchFamily="49" charset="-122"/>
                <a:cs typeface="+mn-cs"/>
              </a:rPr>
              <a:t>性导</a:t>
            </a:r>
            <a:r>
              <a:rPr lang="zh-CN" altLang="en-US" sz="2800" b="1" dirty="0">
                <a:latin typeface="黑体" panose="02010609060101010101" pitchFamily="49" charset="-122"/>
                <a:ea typeface="黑体" panose="02010609060101010101" pitchFamily="49" charset="-122"/>
                <a:cs typeface="+mn-cs"/>
              </a:rPr>
              <a:t>（</a:t>
            </a:r>
            <a:r>
              <a:rPr lang="en-US" altLang="zh-CN" sz="2800" b="1" dirty="0" err="1">
                <a:latin typeface="黑体" panose="02010609060101010101" pitchFamily="49" charset="-122"/>
                <a:ea typeface="黑体" panose="02010609060101010101" pitchFamily="49" charset="-122"/>
                <a:cs typeface="+mn-cs"/>
              </a:rPr>
              <a:t>sexduction</a:t>
            </a:r>
            <a:r>
              <a:rPr lang="zh-CN" altLang="en-US" sz="2800" b="1" dirty="0">
                <a:latin typeface="黑体" panose="02010609060101010101" pitchFamily="49" charset="-122"/>
                <a:ea typeface="黑体" panose="02010609060101010101" pitchFamily="49" charset="-122"/>
                <a:cs typeface="+mn-cs"/>
              </a:rPr>
              <a:t>，</a:t>
            </a:r>
            <a:r>
              <a:rPr lang="en-US" altLang="zh-CN" sz="2800" b="1" dirty="0">
                <a:latin typeface="黑体" panose="02010609060101010101" pitchFamily="49" charset="-122"/>
                <a:ea typeface="黑体" panose="02010609060101010101" pitchFamily="49" charset="-122"/>
                <a:cs typeface="+mn-cs"/>
              </a:rPr>
              <a:t>F-duction</a:t>
            </a:r>
            <a:r>
              <a:rPr lang="zh-CN" altLang="en-US" sz="2800" b="1" dirty="0">
                <a:latin typeface="黑体" panose="02010609060101010101" pitchFamily="49" charset="-122"/>
                <a:ea typeface="黑体" panose="02010609060101010101" pitchFamily="49" charset="-122"/>
                <a:cs typeface="+mn-cs"/>
              </a:rPr>
              <a:t>）。</a:t>
            </a:r>
            <a:endParaRPr lang="zh-CN" altLang="en-US" sz="2800" b="1" dirty="0">
              <a:latin typeface="黑体" panose="02010609060101010101" pitchFamily="49" charset="-122"/>
              <a:ea typeface="黑体" panose="02010609060101010101" pitchFamily="49" charset="-122"/>
              <a:cs typeface="+mn-cs"/>
            </a:endParaRPr>
          </a:p>
        </p:txBody>
      </p:sp>
      <p:sp>
        <p:nvSpPr>
          <p:cNvPr id="10" name="Rectangle 2"/>
          <p:cNvSpPr txBox="1">
            <a:spLocks noChangeArrowheads="1"/>
          </p:cNvSpPr>
          <p:nvPr/>
        </p:nvSpPr>
        <p:spPr>
          <a:xfrm>
            <a:off x="219734" y="0"/>
            <a:ext cx="10515600" cy="66468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3600" b="1" dirty="0" err="1">
                <a:solidFill>
                  <a:srgbClr val="0000FF"/>
                </a:solidFill>
                <a:latin typeface="黑体" panose="02010609060101010101" pitchFamily="49" charset="-122"/>
                <a:ea typeface="黑体" panose="02010609060101010101" pitchFamily="49" charset="-122"/>
                <a:sym typeface="Wingdings" panose="05000000000000000000" pitchFamily="2" charset="2"/>
              </a:rPr>
              <a:t>三、性导与F</a:t>
            </a:r>
            <a:r>
              <a:rPr lang="en-US" altLang="en-US" sz="3600" b="1" dirty="0" err="1">
                <a:solidFill>
                  <a:srgbClr val="0000FF"/>
                </a:solidFill>
                <a:latin typeface="黑体" panose="02010609060101010101" pitchFamily="49" charset="-122"/>
                <a:ea typeface="黑体" panose="02010609060101010101" pitchFamily="49" charset="-122"/>
                <a:cs typeface="Times New Roman" panose="02020603050405020304" pitchFamily="18" charset="0"/>
                <a:sym typeface="Symbol" panose="05050102010706020507" pitchFamily="18" charset="2"/>
              </a:rPr>
              <a:t></a:t>
            </a:r>
            <a:r>
              <a:rPr lang="en-US" altLang="en-US" sz="3600" b="1" dirty="0" err="1">
                <a:solidFill>
                  <a:srgbClr val="0000FF"/>
                </a:solidFill>
                <a:latin typeface="黑体" panose="02010609060101010101" pitchFamily="49" charset="-122"/>
                <a:ea typeface="黑体" panose="02010609060101010101" pitchFamily="49" charset="-122"/>
                <a:sym typeface="Wingdings" panose="05000000000000000000" pitchFamily="2" charset="2"/>
              </a:rPr>
              <a:t>因子</a:t>
            </a:r>
            <a:endParaRPr lang="zh-CN" altLang="en-US" sz="3600" b="1" dirty="0">
              <a:solidFill>
                <a:srgbClr val="0000FF"/>
              </a:solidFill>
              <a:latin typeface="黑体" panose="02010609060101010101" pitchFamily="49" charset="-122"/>
              <a:ea typeface="黑体" panose="02010609060101010101" pitchFamily="49" charset="-122"/>
              <a:sym typeface="Wingdings" panose="05000000000000000000" pitchFamily="2" charset="2"/>
            </a:endParaRPr>
          </a:p>
        </p:txBody>
      </p:sp>
      <p:sp>
        <p:nvSpPr>
          <p:cNvPr id="12" name="文本框 11"/>
          <p:cNvSpPr txBox="1"/>
          <p:nvPr/>
        </p:nvSpPr>
        <p:spPr>
          <a:xfrm>
            <a:off x="683881" y="5669287"/>
            <a:ext cx="2353233" cy="523220"/>
          </a:xfrm>
          <a:prstGeom prst="rect">
            <a:avLst/>
          </a:prstGeom>
          <a:noFill/>
        </p:spPr>
        <p:txBody>
          <a:bodyPr wrap="square">
            <a:spAutoFit/>
          </a:bodyPr>
          <a:lstStyle/>
          <a:p>
            <a:r>
              <a:rPr lang="zh-CN" altLang="en-US" sz="2800" b="1" dirty="0">
                <a:solidFill>
                  <a:srgbClr val="0000FF"/>
                </a:solidFill>
                <a:latin typeface="黑体" panose="02010609060101010101" pitchFamily="49" charset="-122"/>
                <a:ea typeface="黑体" panose="02010609060101010101" pitchFamily="49" charset="-122"/>
                <a:cs typeface="+mn-cs"/>
              </a:rPr>
              <a:t>性导</a:t>
            </a:r>
            <a:r>
              <a:rPr lang="zh-CN" altLang="en-US" sz="2800" b="1" dirty="0">
                <a:solidFill>
                  <a:srgbClr val="0000FF"/>
                </a:solidFill>
                <a:latin typeface="黑体" panose="02010609060101010101" pitchFamily="49" charset="-122"/>
                <a:ea typeface="黑体" panose="02010609060101010101" pitchFamily="49" charset="-122"/>
              </a:rPr>
              <a:t>的特点？</a:t>
            </a:r>
            <a:endParaRPr lang="zh-CN" altLang="en-US" sz="2800" dirty="0">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p:cNvPicPr>
            <a:picLocks noGrp="1" noChangeAspect="1"/>
          </p:cNvPicPr>
          <p:nvPr>
            <p:ph sz="half" idx="1"/>
          </p:nvPr>
        </p:nvPicPr>
        <p:blipFill>
          <a:blip r:embed="rId1" cstate="print">
            <a:extLst>
              <a:ext uri="{BEBA8EAE-BF5A-486C-A8C5-ECC9F3942E4B}">
                <a14:imgProps xmlns:a14="http://schemas.microsoft.com/office/drawing/2010/main">
                  <a14:imgLayer r:embed="rId2">
                    <a14:imgEffect>
                      <a14:brightnessContrast bright="20000"/>
                    </a14:imgEffect>
                  </a14:imgLayer>
                </a14:imgProps>
              </a:ext>
              <a:ext uri="{28A0092B-C50C-407E-A947-70E740481C1C}">
                <a14:useLocalDpi xmlns:a14="http://schemas.microsoft.com/office/drawing/2010/main" val="0"/>
              </a:ext>
            </a:extLst>
          </a:blip>
          <a:stretch>
            <a:fillRect/>
          </a:stretch>
        </p:blipFill>
        <p:spPr>
          <a:xfrm>
            <a:off x="7958743" y="55771"/>
            <a:ext cx="4233257" cy="6802229"/>
          </a:xfrm>
        </p:spPr>
      </p:pic>
      <p:sp>
        <p:nvSpPr>
          <p:cNvPr id="10" name="文本框 9"/>
          <p:cNvSpPr txBox="1"/>
          <p:nvPr/>
        </p:nvSpPr>
        <p:spPr>
          <a:xfrm>
            <a:off x="-1" y="8349"/>
            <a:ext cx="7903924" cy="6655498"/>
          </a:xfrm>
          <a:prstGeom prst="rect">
            <a:avLst/>
          </a:prstGeom>
        </p:spPr>
        <p:txBody>
          <a:bodyPr vert="horz" lIns="91440" tIns="45720" rIns="91440" bIns="45720" rtlCol="0">
            <a:noAutofit/>
          </a:bodyPr>
          <a:lstStyle>
            <a:lvl1pPr marL="457200" indent="-457200">
              <a:lnSpc>
                <a:spcPct val="90000"/>
              </a:lnSpc>
              <a:spcBef>
                <a:spcPts val="1000"/>
              </a:spcBef>
              <a:buFont typeface="+mj-lt"/>
              <a:buAutoNum type="arabicPeriod"/>
              <a:defRPr sz="2400">
                <a:solidFill>
                  <a:srgbClr val="3A5991"/>
                </a:solidFill>
                <a:latin typeface="Times New Roman" panose="02020603050405020304" pitchFamily="18" charset="0"/>
                <a:ea typeface="微软雅黑" panose="020B0503020204020204" charset="-122"/>
                <a:cs typeface="Times New Roman" panose="02020603050405020304" pitchFamily="18" charset="0"/>
              </a:defRPr>
            </a:lvl1pPr>
            <a:lvl2pPr marL="685800" lvl="1" indent="-228600">
              <a:lnSpc>
                <a:spcPct val="150000"/>
              </a:lnSpc>
              <a:spcBef>
                <a:spcPts val="500"/>
              </a:spcBef>
              <a:buFont typeface="Wingdings" panose="05000000000000000000" pitchFamily="2" charset="2"/>
              <a:buChar char="Ø"/>
              <a:defRPr sz="2000">
                <a:latin typeface="Times New Roman" panose="02020603050405020304" pitchFamily="18" charset="0"/>
                <a:ea typeface="微软雅黑" panose="020B0503020204020204"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400">
                <a:latin typeface="微软雅黑" panose="020B0503020204020204" charset="-122"/>
                <a:ea typeface="微软雅黑" panose="020B0503020204020204" charset="-122"/>
              </a:defRPr>
            </a:lvl3pPr>
            <a:lvl4pPr marL="1600200" indent="-228600">
              <a:lnSpc>
                <a:spcPct val="90000"/>
              </a:lnSpc>
              <a:spcBef>
                <a:spcPts val="500"/>
              </a:spcBef>
              <a:buFont typeface="Arial" panose="020B0604020202020204" pitchFamily="34" charset="0"/>
              <a:buChar char="•"/>
              <a:defRPr sz="2400">
                <a:latin typeface="微软雅黑" panose="020B0503020204020204" charset="-122"/>
                <a:ea typeface="微软雅黑" panose="020B0503020204020204" charset="-122"/>
              </a:defRPr>
            </a:lvl4pPr>
            <a:lvl5pPr marL="2057400" indent="-228600">
              <a:lnSpc>
                <a:spcPct val="90000"/>
              </a:lnSpc>
              <a:spcBef>
                <a:spcPts val="500"/>
              </a:spcBef>
              <a:buFont typeface="Arial" panose="020B0604020202020204" pitchFamily="34" charset="0"/>
              <a:buChar char="•"/>
              <a:defRPr sz="2400">
                <a:latin typeface="微软雅黑" panose="020B0503020204020204" charset="-122"/>
                <a:ea typeface="微软雅黑" panose="020B0503020204020204" charset="-122"/>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lvl="1" indent="0">
              <a:lnSpc>
                <a:spcPct val="100000"/>
              </a:lnSpc>
              <a:buNone/>
            </a:pPr>
            <a:r>
              <a:rPr lang="zh-CN" altLang="en-US" sz="3200" b="1" dirty="0"/>
              <a:t>雄性菌株不同致育因子</a:t>
            </a:r>
            <a:r>
              <a:rPr lang="en-US" altLang="zh-CN" sz="3200" b="1" dirty="0"/>
              <a:t>F′</a:t>
            </a:r>
            <a:r>
              <a:rPr lang="zh-CN" altLang="en-US" sz="3200" b="1" dirty="0"/>
              <a:t>、</a:t>
            </a:r>
            <a:r>
              <a:rPr lang="en-US" altLang="zh-CN" sz="3200" b="1" dirty="0" err="1"/>
              <a:t>Hfr</a:t>
            </a:r>
            <a:r>
              <a:rPr lang="zh-CN" altLang="en-US" sz="3200" b="1" dirty="0"/>
              <a:t>、</a:t>
            </a:r>
            <a:r>
              <a:rPr lang="en-US" altLang="zh-CN" sz="3200" b="1" dirty="0"/>
              <a:t>F</a:t>
            </a:r>
            <a:r>
              <a:rPr lang="zh-CN" altLang="en-US" sz="3200" b="1" dirty="0"/>
              <a:t>的关系</a:t>
            </a:r>
            <a:r>
              <a:rPr lang="zh-CN" altLang="en-US" sz="2400" b="1" dirty="0"/>
              <a:t>：</a:t>
            </a:r>
            <a:endParaRPr lang="en-US" altLang="zh-CN" sz="2400" b="1" dirty="0"/>
          </a:p>
          <a:p>
            <a:pPr marL="0" lvl="1" indent="0">
              <a:lnSpc>
                <a:spcPct val="100000"/>
              </a:lnSpc>
              <a:buNone/>
            </a:pPr>
            <a:r>
              <a:rPr lang="zh-CN" altLang="en-US" sz="2400" dirty="0"/>
              <a:t>（</a:t>
            </a:r>
            <a:r>
              <a:rPr lang="en-US" altLang="zh-CN" sz="2400" dirty="0"/>
              <a:t>1</a:t>
            </a:r>
            <a:r>
              <a:rPr lang="zh-CN" altLang="en-US" sz="2400" dirty="0"/>
              <a:t>）</a:t>
            </a:r>
            <a:r>
              <a:rPr lang="en-US" altLang="zh-CN" sz="2400" b="1" dirty="0"/>
              <a:t>F′ </a:t>
            </a:r>
            <a:r>
              <a:rPr lang="zh-CN" altLang="en-US" sz="2400" dirty="0"/>
              <a:t>是带有部分细菌染色体的</a:t>
            </a:r>
            <a:r>
              <a:rPr lang="en-US" altLang="zh-CN" sz="2400" dirty="0"/>
              <a:t>F</a:t>
            </a:r>
            <a:r>
              <a:rPr lang="zh-CN" altLang="en-US" sz="2400" dirty="0"/>
              <a:t>因子，它的</a:t>
            </a:r>
            <a:r>
              <a:rPr lang="zh-CN" altLang="en-US" sz="2400" b="1" dirty="0"/>
              <a:t>性质介于</a:t>
            </a:r>
            <a:r>
              <a:rPr lang="en-US" altLang="zh-CN" sz="2400" b="1" dirty="0"/>
              <a:t>F </a:t>
            </a:r>
            <a:r>
              <a:rPr lang="zh-CN" altLang="en-US" sz="2400" b="1" dirty="0"/>
              <a:t>和</a:t>
            </a:r>
            <a:r>
              <a:rPr lang="en-US" altLang="zh-CN" sz="2400" b="1" dirty="0" err="1"/>
              <a:t>Hfr</a:t>
            </a:r>
            <a:r>
              <a:rPr lang="zh-CN" altLang="en-US" sz="2400" b="1" dirty="0"/>
              <a:t>之间</a:t>
            </a:r>
            <a:r>
              <a:rPr lang="zh-CN" altLang="en-US" sz="2400" dirty="0"/>
              <a:t>。</a:t>
            </a:r>
            <a:r>
              <a:rPr lang="en-US" altLang="zh-CN" sz="2400" dirty="0" err="1"/>
              <a:t>Hfr</a:t>
            </a:r>
            <a:r>
              <a:rPr lang="zh-CN" altLang="en-US" sz="2400" dirty="0"/>
              <a:t>可以形成带有部分细菌染色体的</a:t>
            </a:r>
            <a:r>
              <a:rPr lang="en-US" altLang="zh-CN" sz="2400" dirty="0"/>
              <a:t>F′</a:t>
            </a:r>
            <a:r>
              <a:rPr lang="zh-CN" altLang="en-US" sz="2400" dirty="0"/>
              <a:t>因子，而</a:t>
            </a:r>
            <a:r>
              <a:rPr lang="en-US" altLang="zh-CN" sz="2400" dirty="0"/>
              <a:t>F′</a:t>
            </a:r>
            <a:r>
              <a:rPr lang="zh-CN" altLang="en-US" sz="2400" dirty="0"/>
              <a:t>因子又可重新整合到细菌染色体上形成</a:t>
            </a:r>
            <a:r>
              <a:rPr lang="en-US" altLang="zh-CN" sz="2400" dirty="0" err="1"/>
              <a:t>Hfr</a:t>
            </a:r>
            <a:r>
              <a:rPr lang="zh-CN" altLang="en-US" sz="2400" dirty="0"/>
              <a:t>。 </a:t>
            </a:r>
            <a:endParaRPr lang="en-US" altLang="zh-CN" sz="2400" dirty="0"/>
          </a:p>
          <a:p>
            <a:pPr marL="0" lvl="1" indent="0">
              <a:lnSpc>
                <a:spcPct val="100000"/>
              </a:lnSpc>
              <a:buNone/>
            </a:pPr>
            <a:r>
              <a:rPr lang="zh-CN" altLang="en-US" sz="2400" dirty="0"/>
              <a:t>（</a:t>
            </a:r>
            <a:r>
              <a:rPr lang="en-US" altLang="zh-CN" sz="2400" dirty="0"/>
              <a:t>2</a:t>
            </a:r>
            <a:r>
              <a:rPr lang="zh-CN" altLang="en-US" sz="2400" dirty="0"/>
              <a:t>）</a:t>
            </a:r>
            <a:r>
              <a:rPr lang="en-US" altLang="zh-CN" sz="2400" b="1" dirty="0"/>
              <a:t>F′</a:t>
            </a:r>
            <a:r>
              <a:rPr lang="zh-CN" altLang="en-US" sz="2400" b="1" dirty="0"/>
              <a:t>因子</a:t>
            </a:r>
            <a:r>
              <a:rPr lang="zh-CN" altLang="en-US" sz="2400" dirty="0"/>
              <a:t>连同它所带有的部分细菌染色体可一起转移到 </a:t>
            </a:r>
            <a:r>
              <a:rPr lang="en-US" altLang="zh-CN" sz="2400" dirty="0"/>
              <a:t>F</a:t>
            </a:r>
            <a:r>
              <a:rPr lang="en-US" altLang="zh-CN" sz="2400" baseline="30000" dirty="0"/>
              <a:t>−</a:t>
            </a:r>
            <a:r>
              <a:rPr lang="zh-CN" altLang="en-US" sz="2400" dirty="0"/>
              <a:t>细胞，</a:t>
            </a:r>
            <a:r>
              <a:rPr lang="zh-CN" altLang="en-US" sz="2400" b="1" dirty="0"/>
              <a:t>其转移速率近于</a:t>
            </a:r>
            <a:r>
              <a:rPr lang="en-US" altLang="zh-CN" sz="2400" b="1" dirty="0"/>
              <a:t>F</a:t>
            </a:r>
            <a:r>
              <a:rPr lang="zh-CN" altLang="en-US" sz="2400" b="1" dirty="0"/>
              <a:t>因子</a:t>
            </a:r>
            <a:r>
              <a:rPr lang="zh-CN" altLang="en-US" sz="2400" dirty="0"/>
              <a:t>。 </a:t>
            </a:r>
            <a:r>
              <a:rPr lang="en-US" altLang="zh-CN" sz="2400" dirty="0"/>
              <a:t>F′</a:t>
            </a:r>
            <a:r>
              <a:rPr lang="zh-CN" altLang="en-US" sz="2400" dirty="0"/>
              <a:t>因子</a:t>
            </a:r>
            <a:r>
              <a:rPr lang="zh-CN" altLang="en-US" sz="2400" b="1" dirty="0"/>
              <a:t>偶尔也可把它所在的供体细菌的染色体转移到</a:t>
            </a:r>
            <a:r>
              <a:rPr lang="en-US" altLang="zh-CN" sz="2400" b="1" dirty="0"/>
              <a:t>F</a:t>
            </a:r>
            <a:r>
              <a:rPr lang="en-US" altLang="zh-CN" sz="2400" b="1" baseline="30000" dirty="0"/>
              <a:t>−</a:t>
            </a:r>
            <a:r>
              <a:rPr lang="zh-CN" altLang="en-US" sz="2400" b="1" dirty="0"/>
              <a:t>细胞</a:t>
            </a:r>
            <a:r>
              <a:rPr lang="zh-CN" altLang="en-US" sz="2400" dirty="0"/>
              <a:t>，基因的转移方向和顺序跟</a:t>
            </a:r>
            <a:r>
              <a:rPr lang="en-US" altLang="zh-CN" sz="2400" dirty="0"/>
              <a:t>F′</a:t>
            </a:r>
            <a:r>
              <a:rPr lang="zh-CN" altLang="en-US" sz="2400" dirty="0"/>
              <a:t>所来自的</a:t>
            </a:r>
            <a:r>
              <a:rPr lang="en-US" altLang="zh-CN" sz="2400" dirty="0" err="1"/>
              <a:t>Hfr</a:t>
            </a:r>
            <a:r>
              <a:rPr lang="zh-CN" altLang="en-US" sz="2400" dirty="0"/>
              <a:t>一样。</a:t>
            </a:r>
            <a:endParaRPr lang="en-US" altLang="zh-CN" sz="2400" dirty="0"/>
          </a:p>
          <a:p>
            <a:pPr marL="0" lvl="1" indent="0">
              <a:lnSpc>
                <a:spcPct val="100000"/>
              </a:lnSpc>
              <a:buNone/>
            </a:pPr>
            <a:r>
              <a:rPr lang="zh-CN" altLang="en-US" sz="2400" dirty="0"/>
              <a:t>（</a:t>
            </a:r>
            <a:r>
              <a:rPr lang="en-US" altLang="zh-CN" sz="2400" dirty="0"/>
              <a:t>3</a:t>
            </a:r>
            <a:r>
              <a:rPr lang="zh-CN" altLang="en-US" sz="2400" dirty="0"/>
              <a:t>）没有</a:t>
            </a:r>
            <a:r>
              <a:rPr lang="en-US" altLang="zh-CN" sz="2400" dirty="0"/>
              <a:t>F</a:t>
            </a:r>
            <a:r>
              <a:rPr lang="zh-CN" altLang="en-US" sz="2400" dirty="0"/>
              <a:t>因子的细胞是</a:t>
            </a:r>
            <a:r>
              <a:rPr lang="en-US" altLang="zh-CN" sz="2400" dirty="0"/>
              <a:t>F</a:t>
            </a:r>
            <a:r>
              <a:rPr lang="en-US" altLang="zh-CN" sz="2400" baseline="30000" dirty="0"/>
              <a:t>−</a:t>
            </a:r>
            <a:r>
              <a:rPr lang="zh-CN" altLang="en-US" sz="2400" dirty="0"/>
              <a:t>细胞。 </a:t>
            </a:r>
            <a:r>
              <a:rPr lang="en-US" altLang="zh-CN" sz="2400" dirty="0"/>
              <a:t>F</a:t>
            </a:r>
            <a:r>
              <a:rPr lang="en-US" altLang="zh-CN" sz="2400" baseline="30000" dirty="0"/>
              <a:t>+</a:t>
            </a:r>
            <a:r>
              <a:rPr lang="zh-CN" altLang="en-US" sz="2400" dirty="0"/>
              <a:t>与 </a:t>
            </a:r>
            <a:r>
              <a:rPr lang="en-US" altLang="zh-CN" sz="2400" dirty="0"/>
              <a:t>F</a:t>
            </a:r>
            <a:r>
              <a:rPr lang="en-US" altLang="zh-CN" sz="2400" baseline="30000" dirty="0"/>
              <a:t>−</a:t>
            </a:r>
            <a:r>
              <a:rPr lang="zh-CN" altLang="en-US" sz="2400" dirty="0"/>
              <a:t>杂交，</a:t>
            </a:r>
            <a:r>
              <a:rPr lang="en-US" altLang="zh-CN" sz="2400" dirty="0"/>
              <a:t>F</a:t>
            </a:r>
            <a:r>
              <a:rPr lang="zh-CN" altLang="en-US" sz="2400" dirty="0"/>
              <a:t>因子由 </a:t>
            </a:r>
            <a:r>
              <a:rPr lang="en-US" altLang="zh-CN" sz="2400" dirty="0"/>
              <a:t>F</a:t>
            </a:r>
            <a:r>
              <a:rPr lang="en-US" altLang="zh-CN" sz="2400" baseline="30000" dirty="0"/>
              <a:t>+</a:t>
            </a:r>
            <a:r>
              <a:rPr lang="zh-CN" altLang="en-US" sz="2400" dirty="0"/>
              <a:t>进入</a:t>
            </a:r>
            <a:r>
              <a:rPr lang="en-US" altLang="zh-CN" sz="2400" dirty="0"/>
              <a:t>F</a:t>
            </a:r>
            <a:r>
              <a:rPr lang="en-US" altLang="zh-CN" sz="2400" baseline="30000" dirty="0"/>
              <a:t>−</a:t>
            </a:r>
            <a:r>
              <a:rPr lang="zh-CN" altLang="en-US" sz="2400" dirty="0"/>
              <a:t>，使受体细胞成为</a:t>
            </a:r>
            <a:r>
              <a:rPr lang="en-US" altLang="zh-CN" sz="2400" dirty="0"/>
              <a:t>F</a:t>
            </a:r>
            <a:r>
              <a:rPr lang="en-US" altLang="zh-CN" sz="2400" baseline="30000" dirty="0"/>
              <a:t>+</a:t>
            </a:r>
            <a:r>
              <a:rPr lang="en-US" altLang="zh-CN" sz="2400" dirty="0"/>
              <a:t> </a:t>
            </a:r>
            <a:r>
              <a:rPr lang="zh-CN" altLang="en-US" sz="2400" dirty="0"/>
              <a:t>。</a:t>
            </a:r>
            <a:r>
              <a:rPr lang="en-US" altLang="zh-CN" sz="2400" dirty="0"/>
              <a:t>F</a:t>
            </a:r>
            <a:r>
              <a:rPr lang="zh-CN" altLang="en-US" sz="2400" dirty="0"/>
              <a:t>因子可通过简单交换整合到细菌染色体上，形成</a:t>
            </a:r>
            <a:r>
              <a:rPr lang="en-US" altLang="zh-CN" sz="2400" dirty="0" err="1"/>
              <a:t>Hfr</a:t>
            </a:r>
            <a:r>
              <a:rPr lang="zh-CN" altLang="en-US" sz="2400" dirty="0"/>
              <a:t>染色体。也可从</a:t>
            </a:r>
            <a:r>
              <a:rPr lang="en-US" altLang="zh-CN" sz="2400" dirty="0" err="1"/>
              <a:t>Hfr</a:t>
            </a:r>
            <a:r>
              <a:rPr lang="zh-CN" altLang="en-US" sz="2400" dirty="0"/>
              <a:t>染色体解离产生</a:t>
            </a:r>
            <a:r>
              <a:rPr lang="en-US" altLang="zh-CN" sz="2400" dirty="0"/>
              <a:t>F</a:t>
            </a:r>
            <a:r>
              <a:rPr lang="zh-CN" altLang="en-US" sz="2400" dirty="0"/>
              <a:t>因子。</a:t>
            </a:r>
            <a:endParaRPr lang="en-US" altLang="zh-CN" sz="2400" dirty="0"/>
          </a:p>
          <a:p>
            <a:pPr marL="0" lvl="1" indent="0">
              <a:lnSpc>
                <a:spcPct val="100000"/>
              </a:lnSpc>
              <a:buNone/>
            </a:pPr>
            <a:r>
              <a:rPr lang="zh-CN" altLang="en-US" sz="2400" dirty="0"/>
              <a:t>（</a:t>
            </a:r>
            <a:r>
              <a:rPr lang="en-US" altLang="zh-CN" sz="2400" dirty="0"/>
              <a:t>4</a:t>
            </a:r>
            <a:r>
              <a:rPr lang="zh-CN" altLang="en-US" sz="2400" dirty="0"/>
              <a:t>） </a:t>
            </a:r>
            <a:r>
              <a:rPr lang="en-US" altLang="zh-CN" sz="2400" b="1" dirty="0" err="1"/>
              <a:t>Hfr</a:t>
            </a:r>
            <a:r>
              <a:rPr lang="zh-CN" altLang="en-US" sz="2400" b="1" dirty="0"/>
              <a:t>能以高频率把细菌染色体转移到</a:t>
            </a:r>
            <a:r>
              <a:rPr lang="en-US" altLang="zh-CN" sz="2400" b="1" dirty="0"/>
              <a:t>F</a:t>
            </a:r>
            <a:r>
              <a:rPr lang="en-US" altLang="zh-CN" sz="2400" b="1" baseline="30000" dirty="0"/>
              <a:t>−</a:t>
            </a:r>
            <a:r>
              <a:rPr lang="zh-CN" altLang="en-US" sz="2400" b="1" dirty="0"/>
              <a:t>细菌中</a:t>
            </a:r>
            <a:r>
              <a:rPr lang="zh-CN" altLang="en-US" sz="2400" dirty="0"/>
              <a:t>，而</a:t>
            </a:r>
            <a:r>
              <a:rPr lang="en-US" altLang="zh-CN" sz="2400" dirty="0"/>
              <a:t>F </a:t>
            </a:r>
            <a:r>
              <a:rPr lang="zh-CN" altLang="en-US" sz="2400" dirty="0"/>
              <a:t>因子因位于</a:t>
            </a:r>
            <a:r>
              <a:rPr lang="en-US" altLang="zh-CN" sz="2400" dirty="0" err="1"/>
              <a:t>Hfr</a:t>
            </a:r>
            <a:r>
              <a:rPr lang="zh-CN" altLang="en-US" sz="2400" dirty="0"/>
              <a:t>染色体的最末端， 极少进入。 </a:t>
            </a:r>
            <a:r>
              <a:rPr lang="en-US" altLang="zh-CN" sz="2400" b="1" dirty="0"/>
              <a:t>F</a:t>
            </a:r>
            <a:r>
              <a:rPr lang="zh-CN" altLang="en-US" sz="2400" b="1" dirty="0"/>
              <a:t>因子很容易转移到</a:t>
            </a:r>
            <a:r>
              <a:rPr lang="en-US" altLang="zh-CN" sz="2400" b="1" dirty="0"/>
              <a:t>F</a:t>
            </a:r>
            <a:r>
              <a:rPr lang="en-US" altLang="zh-CN" sz="2400" b="1" baseline="30000" dirty="0"/>
              <a:t>−</a:t>
            </a:r>
            <a:r>
              <a:rPr lang="zh-CN" altLang="en-US" sz="2400" b="1" dirty="0"/>
              <a:t>细胞中，但供体染色体的转移率很低</a:t>
            </a:r>
            <a:r>
              <a:rPr lang="zh-CN" altLang="en-US" sz="2400" dirty="0"/>
              <a:t>。</a:t>
            </a:r>
            <a:r>
              <a:rPr lang="en-US" altLang="zh-CN" sz="2400" dirty="0"/>
              <a:t>F′</a:t>
            </a:r>
            <a:r>
              <a:rPr lang="zh-CN" altLang="en-US" sz="2400" dirty="0"/>
              <a:t>因子可以将自身连接的部分染色体基因以较高的频率转移到</a:t>
            </a:r>
            <a:r>
              <a:rPr lang="en-US" altLang="zh-CN" sz="2400" dirty="0"/>
              <a:t>F</a:t>
            </a:r>
            <a:r>
              <a:rPr lang="en-US" altLang="zh-CN" sz="2400" baseline="30000" dirty="0"/>
              <a:t>−</a:t>
            </a:r>
            <a:r>
              <a:rPr lang="en-US" altLang="zh-CN" sz="2400" dirty="0"/>
              <a:t> </a:t>
            </a:r>
            <a:r>
              <a:rPr lang="zh-CN" altLang="en-US" sz="2400" dirty="0"/>
              <a:t>细胞中。</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3" end="3"/>
                                            </p:txEl>
                                          </p:spTgt>
                                        </p:tgtEl>
                                        <p:attrNameLst>
                                          <p:attrName>style.visibility</p:attrName>
                                        </p:attrNameLst>
                                      </p:cBhvr>
                                      <p:to>
                                        <p:strVal val="visible"/>
                                      </p:to>
                                    </p:set>
                                    <p:animEffect transition="in" filter="fade">
                                      <p:cBhvr>
                                        <p:cTn id="7" dur="500"/>
                                        <p:tgtEl>
                                          <p:spTgt spid="10">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0">
                                            <p:txEl>
                                              <p:pRg st="4" end="4"/>
                                            </p:txEl>
                                          </p:spTgt>
                                        </p:tgtEl>
                                        <p:attrNameLst>
                                          <p:attrName>style.visibility</p:attrName>
                                        </p:attrNameLst>
                                      </p:cBhvr>
                                      <p:to>
                                        <p:strVal val="visible"/>
                                      </p:to>
                                    </p:set>
                                    <p:animEffect transition="in" filter="fade">
                                      <p:cBhvr>
                                        <p:cTn id="10" dur="50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2591" y="635739"/>
            <a:ext cx="10515600" cy="604337"/>
          </a:xfrm>
        </p:spPr>
        <p:txBody>
          <a:bodyPr vert="horz" lIns="91440" tIns="45720" rIns="91440" bIns="45720" rtlCol="0" anchor="ctr">
            <a:normAutofit/>
          </a:bodyPr>
          <a:lstStyle/>
          <a:p>
            <a:r>
              <a:rPr lang="zh-CN" altLang="en-US" sz="3200" b="1" dirty="0">
                <a:solidFill>
                  <a:srgbClr val="0000FF"/>
                </a:solidFill>
                <a:latin typeface="黑体" panose="02010609060101010101" pitchFamily="49" charset="-122"/>
                <a:ea typeface="黑体" panose="02010609060101010101" pitchFamily="49" charset="-122"/>
              </a:rPr>
              <a:t>一、烈性噬菌体</a:t>
            </a:r>
            <a:r>
              <a:rPr lang="en-US" altLang="zh-CN" sz="3200" b="1" dirty="0">
                <a:solidFill>
                  <a:srgbClr val="0000FF"/>
                </a:solidFill>
                <a:latin typeface="黑体" panose="02010609060101010101" pitchFamily="49" charset="-122"/>
                <a:ea typeface="黑体" panose="02010609060101010101" pitchFamily="49" charset="-122"/>
              </a:rPr>
              <a:t>——</a:t>
            </a:r>
            <a:r>
              <a:rPr lang="zh-CN" altLang="en-US" sz="3200" b="1" dirty="0">
                <a:latin typeface="黑体" panose="02010609060101010101" pitchFamily="49" charset="-122"/>
                <a:ea typeface="黑体" panose="02010609060101010101" pitchFamily="49" charset="-122"/>
              </a:rPr>
              <a:t>使宿主菌发生裂解的噬菌体</a:t>
            </a:r>
            <a:endParaRPr lang="zh-CN" altLang="en-US" sz="3200" b="1" dirty="0">
              <a:solidFill>
                <a:srgbClr val="0000FF"/>
              </a:solidFill>
              <a:latin typeface="黑体" panose="02010609060101010101" pitchFamily="49" charset="-122"/>
              <a:ea typeface="黑体" panose="02010609060101010101" pitchFamily="49" charset="-122"/>
            </a:endParaRPr>
          </a:p>
        </p:txBody>
      </p:sp>
      <p:sp>
        <p:nvSpPr>
          <p:cNvPr id="7" name="文本框 6"/>
          <p:cNvSpPr txBox="1"/>
          <p:nvPr/>
        </p:nvSpPr>
        <p:spPr>
          <a:xfrm>
            <a:off x="9428802" y="4405594"/>
            <a:ext cx="1531110" cy="369332"/>
          </a:xfrm>
          <a:prstGeom prst="rect">
            <a:avLst/>
          </a:prstGeom>
        </p:spPr>
        <p:txBody>
          <a:bodyPr vert="horz" lIns="91440" tIns="45720" rIns="91440" bIns="45720" rtlCol="0">
            <a:noAutofit/>
          </a:bodyPr>
          <a:lstStyle>
            <a:defPPr>
              <a:defRPr lang="zh-CN"/>
            </a:defPPr>
            <a:lvl1pPr indent="0" algn="ctr">
              <a:lnSpc>
                <a:spcPct val="90000"/>
              </a:lnSpc>
              <a:spcBef>
                <a:spcPts val="1000"/>
              </a:spcBef>
              <a:buFont typeface="Arial" panose="020B0604020202020204" pitchFamily="34" charset="0"/>
              <a:buNone/>
              <a:defRPr sz="2000" b="1">
                <a:latin typeface="微软雅黑" panose="020B0503020204020204" charset="-122"/>
                <a:ea typeface="微软雅黑" panose="020B0503020204020204" charset="-122"/>
                <a:cs typeface="Times New Roman" panose="02020603050405020304" pitchFamily="18" charset="0"/>
              </a:defRPr>
            </a:lvl1pPr>
            <a:lvl2pPr lvl="1" indent="-457200">
              <a:lnSpc>
                <a:spcPct val="100000"/>
              </a:lnSpc>
              <a:spcBef>
                <a:spcPts val="500"/>
              </a:spcBef>
              <a:buFont typeface="Wingdings" panose="05000000000000000000" pitchFamily="2" charset="2"/>
              <a:buChar char="Ø"/>
              <a:defRPr sz="2800">
                <a:latin typeface="Times New Roman" panose="02020603050405020304" pitchFamily="18" charset="0"/>
                <a:ea typeface="微软雅黑" panose="020B0503020204020204"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几种噬菌体</a:t>
            </a:r>
            <a:endParaRPr lang="zh-CN" altLang="en-US" dirty="0"/>
          </a:p>
        </p:txBody>
      </p:sp>
      <p:pic>
        <p:nvPicPr>
          <p:cNvPr id="3" name="图片 2"/>
          <p:cNvPicPr>
            <a:picLocks noChangeAspect="1"/>
          </p:cNvPicPr>
          <p:nvPr/>
        </p:nvPicPr>
        <p:blipFill>
          <a:blip r:embed="rId1" cstate="print">
            <a:extLst>
              <a:ext uri="{BEBA8EAE-BF5A-486C-A8C5-ECC9F3942E4B}">
                <a14:imgProps xmlns:a14="http://schemas.microsoft.com/office/drawing/2010/main">
                  <a14:imgLayer r:embed="rId2">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299451" y="651352"/>
            <a:ext cx="2892549" cy="3592545"/>
          </a:xfrm>
          <a:prstGeom prst="rect">
            <a:avLst/>
          </a:prstGeom>
        </p:spPr>
      </p:pic>
      <p:sp>
        <p:nvSpPr>
          <p:cNvPr id="8" name="文本框 7"/>
          <p:cNvSpPr txBox="1"/>
          <p:nvPr/>
        </p:nvSpPr>
        <p:spPr>
          <a:xfrm>
            <a:off x="302591" y="0"/>
            <a:ext cx="6094428" cy="535531"/>
          </a:xfrm>
          <a:prstGeom prst="rect">
            <a:avLst/>
          </a:prstGeom>
        </p:spPr>
        <p:txBody>
          <a:bodyPr vert="horz" lIns="91440" tIns="45720" rIns="91440" bIns="45720" rtlCol="0" anchor="ctr">
            <a:noAutofit/>
          </a:bodyPr>
          <a:lstStyle>
            <a:lvl1pPr>
              <a:lnSpc>
                <a:spcPct val="90000"/>
              </a:lnSpc>
              <a:spcBef>
                <a:spcPct val="0"/>
              </a:spcBef>
              <a:buNone/>
              <a:defRPr sz="3200" b="1">
                <a:solidFill>
                  <a:srgbClr val="0000FF"/>
                </a:solidFill>
                <a:latin typeface="黑体" panose="02010609060101010101" pitchFamily="49" charset="-122"/>
                <a:ea typeface="黑体" panose="02010609060101010101" pitchFamily="49" charset="-122"/>
                <a:cs typeface="+mj-cs"/>
              </a:defRPr>
            </a:lvl1pPr>
          </a:lstStyle>
          <a:p>
            <a:r>
              <a:rPr lang="zh-CN" altLang="en-US" sz="3600" dirty="0"/>
              <a:t>第三节　噬菌体的遗传分析</a:t>
            </a:r>
            <a:endParaRPr lang="zh-CN" altLang="en-US" sz="3600" dirty="0"/>
          </a:p>
        </p:txBody>
      </p:sp>
      <p:sp>
        <p:nvSpPr>
          <p:cNvPr id="11" name="文本框 10"/>
          <p:cNvSpPr txBox="1"/>
          <p:nvPr/>
        </p:nvSpPr>
        <p:spPr>
          <a:xfrm>
            <a:off x="2090600" y="4393731"/>
            <a:ext cx="4497719" cy="341632"/>
          </a:xfrm>
          <a:prstGeom prst="rect">
            <a:avLst/>
          </a:prstGeom>
        </p:spPr>
        <p:txBody>
          <a:bodyPr vert="horz" lIns="91440" tIns="45720" rIns="91440" bIns="45720" rtlCol="0">
            <a:noAutofit/>
          </a:bodyPr>
          <a:lstStyle>
            <a:defPPr>
              <a:defRPr lang="zh-CN"/>
            </a:defPPr>
            <a:lvl1pPr indent="0" algn="ctr">
              <a:lnSpc>
                <a:spcPct val="90000"/>
              </a:lnSpc>
              <a:spcBef>
                <a:spcPts val="1000"/>
              </a:spcBef>
              <a:buFont typeface="Arial" panose="020B0604020202020204" pitchFamily="34" charset="0"/>
              <a:buNone/>
              <a:defRPr b="1">
                <a:latin typeface="微软雅黑" panose="020B0503020204020204" charset="-122"/>
                <a:ea typeface="微软雅黑" panose="020B0503020204020204" charset="-122"/>
                <a:cs typeface="Times New Roman" panose="02020603050405020304" pitchFamily="18" charset="0"/>
              </a:defRPr>
            </a:lvl1pPr>
            <a:lvl2pPr lvl="1" indent="-457200">
              <a:lnSpc>
                <a:spcPct val="100000"/>
              </a:lnSpc>
              <a:spcBef>
                <a:spcPts val="500"/>
              </a:spcBef>
              <a:buFont typeface="Wingdings" panose="05000000000000000000" pitchFamily="2" charset="2"/>
              <a:buChar char="Ø"/>
              <a:defRPr sz="2800">
                <a:latin typeface="Times New Roman" panose="02020603050405020304" pitchFamily="18" charset="0"/>
                <a:ea typeface="微软雅黑" panose="020B0503020204020204"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sz="2400" dirty="0"/>
              <a:t>烈性噬菌体的生活史</a:t>
            </a:r>
            <a:endParaRPr lang="zh-CN" altLang="en-US" sz="2400" dirty="0"/>
          </a:p>
        </p:txBody>
      </p:sp>
      <p:pic>
        <p:nvPicPr>
          <p:cNvPr id="12" name="内容占位符 5"/>
          <p:cNvPicPr>
            <a:picLocks noChangeAspect="1"/>
          </p:cNvPicPr>
          <p:nvPr/>
        </p:nvPicPr>
        <p:blipFill>
          <a:blip r:embed="rId3" cstate="print">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0" y="1336822"/>
            <a:ext cx="8977234" cy="2907076"/>
          </a:xfrm>
          <a:prstGeom prst="rect">
            <a:avLst/>
          </a:prstGeom>
        </p:spPr>
      </p:pic>
      <p:sp>
        <p:nvSpPr>
          <p:cNvPr id="13" name="文本框 12"/>
          <p:cNvSpPr txBox="1"/>
          <p:nvPr/>
        </p:nvSpPr>
        <p:spPr>
          <a:xfrm>
            <a:off x="0" y="4998339"/>
            <a:ext cx="11881358" cy="1168846"/>
          </a:xfrm>
          <a:prstGeom prst="rect">
            <a:avLst/>
          </a:prstGeom>
          <a:solidFill>
            <a:schemeClr val="bg1">
              <a:lumMod val="85000"/>
            </a:schemeClr>
          </a:solidFill>
        </p:spPr>
        <p:txBody>
          <a:bodyPr wrap="square">
            <a:spAutoFit/>
          </a:bodyPr>
          <a:lstStyle/>
          <a:p>
            <a:pPr>
              <a:lnSpc>
                <a:spcPct val="120000"/>
              </a:lnSpc>
            </a:pPr>
            <a:r>
              <a:rPr lang="zh-CN" altLang="en-US" sz="2000" dirty="0">
                <a:latin typeface="Times New Roman" panose="02020603050405020304" pitchFamily="18" charset="0"/>
                <a:ea typeface="微软雅黑" panose="020B050302020402020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charset="-122"/>
                <a:cs typeface="Times New Roman" panose="02020603050405020304" pitchFamily="18" charset="0"/>
              </a:rPr>
              <a:t>a</a:t>
            </a:r>
            <a:r>
              <a:rPr lang="zh-CN" altLang="en-US" sz="2000" dirty="0">
                <a:latin typeface="Times New Roman" panose="02020603050405020304" pitchFamily="18" charset="0"/>
                <a:ea typeface="微软雅黑" panose="020B0503020204020204" charset="-122"/>
                <a:cs typeface="Times New Roman" panose="02020603050405020304" pitchFamily="18" charset="0"/>
              </a:rPr>
              <a:t>）感染，噬菌体吸附在菌体上。（</a:t>
            </a:r>
            <a:r>
              <a:rPr lang="en-US" altLang="zh-CN" sz="2000" dirty="0">
                <a:latin typeface="Times New Roman" panose="02020603050405020304" pitchFamily="18" charset="0"/>
                <a:ea typeface="微软雅黑" panose="020B0503020204020204" charset="-122"/>
                <a:cs typeface="Times New Roman" panose="02020603050405020304" pitchFamily="18" charset="0"/>
              </a:rPr>
              <a:t>b</a:t>
            </a:r>
            <a:r>
              <a:rPr lang="zh-CN" altLang="en-US" sz="2000" dirty="0">
                <a:latin typeface="Times New Roman" panose="02020603050405020304" pitchFamily="18" charset="0"/>
                <a:ea typeface="微软雅黑" panose="020B0503020204020204" charset="-122"/>
                <a:cs typeface="Times New Roman" panose="02020603050405020304" pitchFamily="18" charset="0"/>
              </a:rPr>
              <a:t>）噬菌体遗传物质进入细菌。（</a:t>
            </a:r>
            <a:r>
              <a:rPr lang="en-US" altLang="zh-CN" sz="2000" dirty="0">
                <a:latin typeface="Times New Roman" panose="02020603050405020304" pitchFamily="18" charset="0"/>
                <a:ea typeface="微软雅黑" panose="020B0503020204020204" charset="-122"/>
                <a:cs typeface="Times New Roman" panose="02020603050405020304" pitchFamily="18" charset="0"/>
              </a:rPr>
              <a:t>c</a:t>
            </a:r>
            <a:r>
              <a:rPr lang="zh-CN" altLang="en-US" sz="2000" dirty="0">
                <a:latin typeface="Times New Roman" panose="02020603050405020304" pitchFamily="18" charset="0"/>
                <a:ea typeface="微软雅黑" panose="020B0503020204020204" charset="-122"/>
                <a:cs typeface="Times New Roman" panose="02020603050405020304" pitchFamily="18" charset="0"/>
              </a:rPr>
              <a:t>）细菌染色体断裂，噬菌体遗传物质复制。（</a:t>
            </a:r>
            <a:r>
              <a:rPr lang="en-US" altLang="zh-CN" sz="2000" dirty="0">
                <a:latin typeface="Times New Roman" panose="02020603050405020304" pitchFamily="18" charset="0"/>
                <a:ea typeface="微软雅黑" panose="020B0503020204020204" charset="-122"/>
                <a:cs typeface="Times New Roman" panose="02020603050405020304" pitchFamily="18" charset="0"/>
              </a:rPr>
              <a:t>d</a:t>
            </a:r>
            <a:r>
              <a:rPr lang="zh-CN" altLang="en-US" sz="2000" dirty="0">
                <a:latin typeface="Times New Roman" panose="02020603050405020304" pitchFamily="18" charset="0"/>
                <a:ea typeface="微软雅黑" panose="020B0503020204020204" charset="-122"/>
                <a:cs typeface="Times New Roman" panose="02020603050405020304" pitchFamily="18" charset="0"/>
              </a:rPr>
              <a:t>）噬菌体遗传物质继续复制，并合成噬菌体蛋白质。（</a:t>
            </a:r>
            <a:r>
              <a:rPr lang="en-US" altLang="zh-CN" sz="2000" dirty="0">
                <a:latin typeface="Times New Roman" panose="02020603050405020304" pitchFamily="18" charset="0"/>
                <a:ea typeface="微软雅黑" panose="020B0503020204020204" charset="-122"/>
                <a:cs typeface="Times New Roman" panose="02020603050405020304" pitchFamily="18" charset="0"/>
              </a:rPr>
              <a:t>e</a:t>
            </a:r>
            <a:r>
              <a:rPr lang="zh-CN" altLang="en-US" sz="2000" dirty="0">
                <a:latin typeface="Times New Roman" panose="02020603050405020304" pitchFamily="18" charset="0"/>
                <a:ea typeface="微软雅黑" panose="020B0503020204020204" charset="-122"/>
                <a:cs typeface="Times New Roman" panose="02020603050405020304" pitchFamily="18" charset="0"/>
              </a:rPr>
              <a:t>）噬菌体遗传物质和蛋白质结合，形成子代噬菌体。（</a:t>
            </a:r>
            <a:r>
              <a:rPr lang="en-US" altLang="zh-CN" sz="2000" dirty="0">
                <a:latin typeface="Times New Roman" panose="02020603050405020304" pitchFamily="18" charset="0"/>
                <a:ea typeface="微软雅黑" panose="020B0503020204020204" charset="-122"/>
                <a:cs typeface="Times New Roman" panose="02020603050405020304" pitchFamily="18" charset="0"/>
              </a:rPr>
              <a:t>f</a:t>
            </a:r>
            <a:r>
              <a:rPr lang="zh-CN" altLang="en-US" sz="2000" dirty="0">
                <a:latin typeface="Times New Roman" panose="02020603050405020304" pitchFamily="18" charset="0"/>
                <a:ea typeface="微软雅黑" panose="020B0503020204020204" charset="-122"/>
                <a:cs typeface="Times New Roman" panose="02020603050405020304" pitchFamily="18" charset="0"/>
              </a:rPr>
              <a:t>）菌体裂解，噬菌体释放出来。</a:t>
            </a:r>
            <a:endParaRPr lang="zh-CN" altLang="en-US" sz="2000" dirty="0">
              <a:latin typeface="Times New Roman" panose="02020603050405020304" pitchFamily="18" charset="0"/>
              <a:ea typeface="微软雅黑" panose="020B050302020402020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9"/>
          <p:cNvSpPr>
            <a:spLocks noGrp="1"/>
          </p:cNvSpPr>
          <p:nvPr>
            <p:ph sz="half" idx="1"/>
          </p:nvPr>
        </p:nvSpPr>
        <p:spPr>
          <a:xfrm>
            <a:off x="0" y="388307"/>
            <a:ext cx="6626657" cy="5498233"/>
          </a:xfrm>
        </p:spPr>
        <p:txBody>
          <a:bodyPr vert="horz" lIns="91440" tIns="45720" rIns="91440" bIns="45720" rtlCol="0">
            <a:noAutofit/>
          </a:bodyPr>
          <a:lstStyle/>
          <a:p>
            <a:pPr marL="457200" lvl="1" indent="-457200">
              <a:lnSpc>
                <a:spcPct val="100000"/>
              </a:lnSpc>
              <a:buFont typeface="Wingdings" panose="05000000000000000000" pitchFamily="2" charset="2"/>
              <a:buChar char="Ø"/>
            </a:pPr>
            <a:r>
              <a:rPr lang="zh-CN" altLang="en-US" sz="2800" b="1" dirty="0">
                <a:latin typeface="黑体" panose="02010609060101010101" pitchFamily="49" charset="-122"/>
                <a:ea typeface="黑体" panose="02010609060101010101" pitchFamily="49" charset="-122"/>
              </a:rPr>
              <a:t>噬菌体只有在电子显微镜下才能看到，但它有一些特殊的遗传性状易于研究，例如</a:t>
            </a:r>
            <a:r>
              <a:rPr lang="zh-CN" altLang="en-US" sz="2800" b="1" dirty="0">
                <a:solidFill>
                  <a:srgbClr val="FF0000"/>
                </a:solidFill>
                <a:latin typeface="黑体" panose="02010609060101010101" pitchFamily="49" charset="-122"/>
                <a:ea typeface="黑体" panose="02010609060101010101" pitchFamily="49" charset="-122"/>
              </a:rPr>
              <a:t>噬菌斑</a:t>
            </a:r>
            <a:r>
              <a:rPr lang="zh-CN" altLang="en-US" sz="2800" b="1" dirty="0">
                <a:latin typeface="黑体" panose="02010609060101010101" pitchFamily="49" charset="-122"/>
                <a:ea typeface="黑体" panose="02010609060101010101" pitchFamily="49" charset="-122"/>
              </a:rPr>
              <a:t>形态。</a:t>
            </a:r>
            <a:endParaRPr lang="en-US" altLang="zh-CN" sz="2800" b="1" dirty="0">
              <a:latin typeface="黑体" panose="02010609060101010101" pitchFamily="49" charset="-122"/>
              <a:ea typeface="黑体" panose="02010609060101010101" pitchFamily="49" charset="-122"/>
            </a:endParaRPr>
          </a:p>
          <a:p>
            <a:pPr marL="457200" lvl="1" indent="-457200">
              <a:lnSpc>
                <a:spcPct val="100000"/>
              </a:lnSpc>
              <a:buFont typeface="Wingdings" panose="05000000000000000000" pitchFamily="2" charset="2"/>
              <a:buChar char="Ø"/>
            </a:pPr>
            <a:r>
              <a:rPr lang="zh-CN" altLang="en-US" sz="2800" b="1" dirty="0">
                <a:latin typeface="黑体" panose="02010609060101010101" pitchFamily="49" charset="-122"/>
                <a:ea typeface="黑体" panose="02010609060101010101" pitchFamily="49" charset="-122"/>
              </a:rPr>
              <a:t>一个噬菌斑中通常含有</a:t>
            </a:r>
            <a:r>
              <a:rPr lang="en-US" altLang="zh-CN" sz="2800" b="1" dirty="0">
                <a:latin typeface="黑体" panose="02010609060101010101" pitchFamily="49" charset="-122"/>
                <a:ea typeface="黑体" panose="02010609060101010101" pitchFamily="49" charset="-122"/>
              </a:rPr>
              <a:t>10</a:t>
            </a:r>
            <a:r>
              <a:rPr lang="en-US" altLang="zh-CN" sz="2800" b="1" baseline="30000" dirty="0">
                <a:latin typeface="黑体" panose="02010609060101010101" pitchFamily="49" charset="-122"/>
                <a:ea typeface="黑体" panose="02010609060101010101" pitchFamily="49" charset="-122"/>
              </a:rPr>
              <a:t>7</a:t>
            </a:r>
            <a:r>
              <a:rPr lang="en-US" altLang="zh-CN" sz="2800" b="1" dirty="0">
                <a:latin typeface="黑体" panose="02010609060101010101" pitchFamily="49" charset="-122"/>
                <a:ea typeface="黑体" panose="02010609060101010101" pitchFamily="49" charset="-122"/>
              </a:rPr>
              <a:t> </a:t>
            </a:r>
            <a:r>
              <a:rPr lang="zh-CN" altLang="en-US" sz="2800" b="1" dirty="0">
                <a:latin typeface="黑体" panose="02010609060101010101" pitchFamily="49" charset="-122"/>
                <a:ea typeface="黑体" panose="02010609060101010101" pitchFamily="49" charset="-122"/>
              </a:rPr>
              <a:t>～</a:t>
            </a:r>
            <a:r>
              <a:rPr lang="en-US" altLang="zh-CN" sz="2800" b="1" dirty="0">
                <a:latin typeface="黑体" panose="02010609060101010101" pitchFamily="49" charset="-122"/>
                <a:ea typeface="黑体" panose="02010609060101010101" pitchFamily="49" charset="-122"/>
              </a:rPr>
              <a:t>10</a:t>
            </a:r>
            <a:r>
              <a:rPr lang="en-US" altLang="zh-CN" sz="2800" b="1" baseline="30000" dirty="0">
                <a:latin typeface="黑体" panose="02010609060101010101" pitchFamily="49" charset="-122"/>
                <a:ea typeface="黑体" panose="02010609060101010101" pitchFamily="49" charset="-122"/>
              </a:rPr>
              <a:t>8</a:t>
            </a:r>
            <a:r>
              <a:rPr lang="en-US" altLang="zh-CN" sz="2800" b="1" dirty="0">
                <a:latin typeface="黑体" panose="02010609060101010101" pitchFamily="49" charset="-122"/>
                <a:ea typeface="黑体" panose="02010609060101010101" pitchFamily="49" charset="-122"/>
              </a:rPr>
              <a:t> </a:t>
            </a:r>
            <a:r>
              <a:rPr lang="zh-CN" altLang="en-US" sz="2800" b="1" dirty="0">
                <a:latin typeface="黑体" panose="02010609060101010101" pitchFamily="49" charset="-122"/>
                <a:ea typeface="黑体" panose="02010609060101010101" pitchFamily="49" charset="-122"/>
              </a:rPr>
              <a:t>噬菌体，这是由一个噬菌体起源的，相当于一个</a:t>
            </a:r>
            <a:r>
              <a:rPr lang="zh-CN" altLang="en-US" sz="2800" b="1" dirty="0">
                <a:solidFill>
                  <a:srgbClr val="FF0000"/>
                </a:solidFill>
                <a:latin typeface="黑体" panose="02010609060101010101" pitchFamily="49" charset="-122"/>
                <a:ea typeface="黑体" panose="02010609060101010101" pitchFamily="49" charset="-122"/>
              </a:rPr>
              <a:t>克隆</a:t>
            </a:r>
            <a:r>
              <a:rPr lang="zh-CN" altLang="en-US" sz="2800" b="1" dirty="0">
                <a:latin typeface="黑体" panose="02010609060101010101" pitchFamily="49" charset="-122"/>
                <a:ea typeface="黑体" panose="02010609060101010101" pitchFamily="49" charset="-122"/>
              </a:rPr>
              <a:t>。由于不同噬菌体的基因型不同，噬菌斑可以是大的或小的，边缘清晰的或模糊的等。除了噬菌斑，遗传上可以分析的噬菌体性状还有</a:t>
            </a:r>
            <a:r>
              <a:rPr lang="zh-CN" altLang="en-US" sz="2800" b="1" dirty="0">
                <a:solidFill>
                  <a:srgbClr val="FF0000"/>
                </a:solidFill>
                <a:latin typeface="黑体" panose="02010609060101010101" pitchFamily="49" charset="-122"/>
                <a:ea typeface="黑体" panose="02010609060101010101" pitchFamily="49" charset="-122"/>
              </a:rPr>
              <a:t>宿主范围</a:t>
            </a:r>
            <a:r>
              <a:rPr lang="zh-CN" altLang="en-US" sz="2800" b="1" dirty="0">
                <a:latin typeface="黑体" panose="02010609060101010101" pitchFamily="49" charset="-122"/>
                <a:ea typeface="黑体" panose="02010609060101010101" pitchFamily="49" charset="-122"/>
              </a:rPr>
              <a:t>（</a:t>
            </a:r>
            <a:r>
              <a:rPr lang="en-US" altLang="zh-CN" sz="2800" b="1" dirty="0">
                <a:latin typeface="黑体" panose="02010609060101010101" pitchFamily="49" charset="-122"/>
                <a:ea typeface="黑体" panose="02010609060101010101" pitchFamily="49" charset="-122"/>
              </a:rPr>
              <a:t>host range</a:t>
            </a:r>
            <a:r>
              <a:rPr lang="zh-CN" altLang="en-US" sz="2800" b="1" dirty="0">
                <a:latin typeface="黑体" panose="02010609060101010101" pitchFamily="49" charset="-122"/>
                <a:ea typeface="黑体" panose="02010609060101010101" pitchFamily="49" charset="-122"/>
              </a:rPr>
              <a:t>），噬菌体能感染和裂解的细菌菌株可以不同。</a:t>
            </a:r>
            <a:endParaRPr lang="zh-CN" altLang="en-US" sz="2800" b="1" dirty="0">
              <a:latin typeface="黑体" panose="02010609060101010101" pitchFamily="49" charset="-122"/>
              <a:ea typeface="黑体" panose="02010609060101010101" pitchFamily="49" charset="-122"/>
            </a:endParaRPr>
          </a:p>
        </p:txBody>
      </p:sp>
      <p:pic>
        <p:nvPicPr>
          <p:cNvPr id="7" name="图片 6"/>
          <p:cNvPicPr>
            <a:picLocks noChangeAspect="1"/>
          </p:cNvPicPr>
          <p:nvPr/>
        </p:nvPicPr>
        <p:blipFill>
          <a:blip r:embed="rId1"/>
          <a:stretch>
            <a:fillRect/>
          </a:stretch>
        </p:blipFill>
        <p:spPr>
          <a:xfrm>
            <a:off x="6865215" y="438410"/>
            <a:ext cx="4846619" cy="4399141"/>
          </a:xfrm>
          <a:prstGeom prst="rect">
            <a:avLst/>
          </a:prstGeom>
        </p:spPr>
      </p:pic>
      <p:sp>
        <p:nvSpPr>
          <p:cNvPr id="8" name="文本框 7"/>
          <p:cNvSpPr txBox="1"/>
          <p:nvPr/>
        </p:nvSpPr>
        <p:spPr>
          <a:xfrm>
            <a:off x="8117447" y="4988560"/>
            <a:ext cx="2560320" cy="369332"/>
          </a:xfrm>
          <a:prstGeom prst="rect">
            <a:avLst/>
          </a:prstGeom>
        </p:spPr>
        <p:txBody>
          <a:bodyPr vert="horz" lIns="91440" tIns="45720" rIns="91440" bIns="45720" rtlCol="0">
            <a:noAutofit/>
          </a:bodyPr>
          <a:lstStyle>
            <a:defPPr>
              <a:defRPr lang="zh-CN"/>
            </a:defPPr>
            <a:lvl1pPr indent="0" algn="ctr">
              <a:lnSpc>
                <a:spcPct val="90000"/>
              </a:lnSpc>
              <a:spcBef>
                <a:spcPts val="1000"/>
              </a:spcBef>
              <a:buFont typeface="Arial" panose="020B0604020202020204" pitchFamily="34" charset="0"/>
              <a:buNone/>
              <a:defRPr sz="2000" b="1">
                <a:latin typeface="微软雅黑" panose="020B0503020204020204" charset="-122"/>
                <a:ea typeface="微软雅黑" panose="020B0503020204020204" charset="-122"/>
                <a:cs typeface="Times New Roman" panose="02020603050405020304" pitchFamily="18" charset="0"/>
              </a:defRPr>
            </a:lvl1pPr>
            <a:lvl2pPr lvl="1" indent="-457200">
              <a:lnSpc>
                <a:spcPct val="100000"/>
              </a:lnSpc>
              <a:spcBef>
                <a:spcPts val="500"/>
              </a:spcBef>
              <a:buFont typeface="Wingdings" panose="05000000000000000000" pitchFamily="2" charset="2"/>
              <a:buChar char="Ø"/>
              <a:defRPr sz="2800">
                <a:latin typeface="Times New Roman" panose="02020603050405020304" pitchFamily="18" charset="0"/>
                <a:ea typeface="微软雅黑" panose="020B0503020204020204"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sz="2400" dirty="0"/>
              <a:t>噬菌斑形态</a:t>
            </a:r>
            <a:endParaRPr lang="zh-CN" altLang="en-US" sz="2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rotWithShape="1">
          <a:blip r:embed="rId1"/>
          <a:srcRect t="4408"/>
          <a:stretch>
            <a:fillRect/>
          </a:stretch>
        </p:blipFill>
        <p:spPr>
          <a:xfrm>
            <a:off x="142567" y="3239233"/>
            <a:ext cx="11963030" cy="3383475"/>
          </a:xfrm>
          <a:prstGeom prst="rect">
            <a:avLst/>
          </a:prstGeom>
        </p:spPr>
      </p:pic>
      <p:sp>
        <p:nvSpPr>
          <p:cNvPr id="2" name="标题 1"/>
          <p:cNvSpPr>
            <a:spLocks noGrp="1"/>
          </p:cNvSpPr>
          <p:nvPr>
            <p:ph type="title"/>
          </p:nvPr>
        </p:nvSpPr>
        <p:spPr>
          <a:xfrm>
            <a:off x="449893" y="0"/>
            <a:ext cx="10515600" cy="649483"/>
          </a:xfrm>
        </p:spPr>
        <p:txBody>
          <a:bodyPr vert="horz" lIns="91440" tIns="45720" rIns="91440" bIns="45720" rtlCol="0" anchor="ctr">
            <a:normAutofit/>
          </a:bodyPr>
          <a:lstStyle/>
          <a:p>
            <a:r>
              <a:rPr lang="zh-CN" altLang="en-US" sz="3200" b="1" dirty="0">
                <a:solidFill>
                  <a:srgbClr val="0000FF"/>
                </a:solidFill>
                <a:latin typeface="黑体" panose="02010609060101010101" pitchFamily="49" charset="-122"/>
                <a:ea typeface="黑体" panose="02010609060101010101" pitchFamily="49" charset="-122"/>
              </a:rPr>
              <a:t>二、噬菌体的基因重组</a:t>
            </a:r>
            <a:endParaRPr lang="zh-CN" altLang="en-US" sz="3200" b="1" dirty="0">
              <a:solidFill>
                <a:srgbClr val="0000FF"/>
              </a:solidFill>
              <a:latin typeface="黑体" panose="02010609060101010101" pitchFamily="49" charset="-122"/>
              <a:ea typeface="黑体" panose="02010609060101010101" pitchFamily="49" charset="-122"/>
            </a:endParaRPr>
          </a:p>
        </p:txBody>
      </p:sp>
      <p:sp>
        <p:nvSpPr>
          <p:cNvPr id="7" name="文本框 6"/>
          <p:cNvSpPr txBox="1"/>
          <p:nvPr/>
        </p:nvSpPr>
        <p:spPr>
          <a:xfrm>
            <a:off x="8591459" y="2729617"/>
            <a:ext cx="2815004" cy="369332"/>
          </a:xfrm>
          <a:prstGeom prst="rect">
            <a:avLst/>
          </a:prstGeom>
        </p:spPr>
        <p:txBody>
          <a:bodyPr vert="horz" lIns="91440" tIns="45720" rIns="91440" bIns="45720" rtlCol="0">
            <a:noAutofit/>
          </a:bodyPr>
          <a:lstStyle>
            <a:defPPr>
              <a:defRPr lang="zh-CN"/>
            </a:defPPr>
            <a:lvl1pPr indent="0" algn="ctr">
              <a:lnSpc>
                <a:spcPct val="90000"/>
              </a:lnSpc>
              <a:spcBef>
                <a:spcPts val="1000"/>
              </a:spcBef>
              <a:buFont typeface="Arial" panose="020B0604020202020204" pitchFamily="34" charset="0"/>
              <a:buNone/>
              <a:defRPr sz="2000" b="1">
                <a:latin typeface="微软雅黑" panose="020B0503020204020204" charset="-122"/>
                <a:ea typeface="微软雅黑" panose="020B0503020204020204" charset="-122"/>
                <a:cs typeface="Times New Roman" panose="02020603050405020304" pitchFamily="18" charset="0"/>
              </a:defRPr>
            </a:lvl1pPr>
            <a:lvl2pPr lvl="1" indent="-457200">
              <a:lnSpc>
                <a:spcPct val="100000"/>
              </a:lnSpc>
              <a:spcBef>
                <a:spcPts val="500"/>
              </a:spcBef>
              <a:buFont typeface="Wingdings" panose="05000000000000000000" pitchFamily="2" charset="2"/>
              <a:buChar char="Ø"/>
              <a:defRPr sz="2800">
                <a:latin typeface="Times New Roman" panose="02020603050405020304" pitchFamily="18" charset="0"/>
                <a:ea typeface="微软雅黑" panose="020B0503020204020204"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噬菌体的混合感染</a:t>
            </a:r>
            <a:endParaRPr lang="zh-CN" altLang="en-US" dirty="0"/>
          </a:p>
        </p:txBody>
      </p:sp>
      <p:pic>
        <p:nvPicPr>
          <p:cNvPr id="3" name="图片 2"/>
          <p:cNvPicPr>
            <a:picLocks noChangeAspect="1"/>
          </p:cNvPicPr>
          <p:nvPr/>
        </p:nvPicPr>
        <p:blipFill>
          <a:blip r:embed="rId2" cstate="print">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7753334" y="1111538"/>
            <a:ext cx="4438666" cy="1618079"/>
          </a:xfrm>
          <a:prstGeom prst="rect">
            <a:avLst/>
          </a:prstGeom>
        </p:spPr>
      </p:pic>
      <p:sp>
        <p:nvSpPr>
          <p:cNvPr id="5" name="内容占位符 4"/>
          <p:cNvSpPr>
            <a:spLocks noGrp="1"/>
          </p:cNvSpPr>
          <p:nvPr>
            <p:ph sz="half" idx="1"/>
          </p:nvPr>
        </p:nvSpPr>
        <p:spPr>
          <a:xfrm>
            <a:off x="0" y="639122"/>
            <a:ext cx="8050491" cy="2840984"/>
          </a:xfrm>
        </p:spPr>
        <p:txBody>
          <a:bodyPr vert="horz" lIns="91440" tIns="45720" rIns="91440" bIns="45720" rtlCol="0">
            <a:noAutofit/>
          </a:bodyPr>
          <a:lstStyle/>
          <a:p>
            <a:pPr marL="457200" lvl="1" indent="-457200">
              <a:lnSpc>
                <a:spcPct val="100000"/>
              </a:lnSpc>
              <a:buFont typeface="Wingdings" panose="05000000000000000000" pitchFamily="2" charset="2"/>
              <a:buChar char="Ø"/>
            </a:pPr>
            <a:r>
              <a:rPr lang="zh-CN" altLang="en-US" sz="2800" b="1" dirty="0">
                <a:latin typeface="黑体" panose="02010609060101010101" pitchFamily="49" charset="-122"/>
                <a:ea typeface="黑体" panose="02010609060101010101" pitchFamily="49" charset="-122"/>
              </a:rPr>
              <a:t>用两种突变型噬菌体感染同一宿主菌，它们的后裔可以出现重组子。细菌同时受到两种噬菌体的感染，称为</a:t>
            </a:r>
            <a:r>
              <a:rPr lang="zh-CN" altLang="en-US" sz="2800" b="1" dirty="0">
                <a:solidFill>
                  <a:srgbClr val="FF0000"/>
                </a:solidFill>
                <a:latin typeface="黑体" panose="02010609060101010101" pitchFamily="49" charset="-122"/>
                <a:ea typeface="黑体" panose="02010609060101010101" pitchFamily="49" charset="-122"/>
              </a:rPr>
              <a:t>混合感染或双重感染</a:t>
            </a:r>
            <a:r>
              <a:rPr lang="zh-CN" altLang="en-US" sz="2800" b="1" dirty="0">
                <a:latin typeface="黑体" panose="02010609060101010101" pitchFamily="49" charset="-122"/>
                <a:ea typeface="黑体" panose="02010609060101010101" pitchFamily="49" charset="-122"/>
              </a:rPr>
              <a:t>。</a:t>
            </a:r>
            <a:endParaRPr lang="en-US" altLang="zh-CN" sz="2800" b="1" dirty="0">
              <a:latin typeface="黑体" panose="02010609060101010101" pitchFamily="49" charset="-122"/>
              <a:ea typeface="黑体" panose="02010609060101010101" pitchFamily="49" charset="-122"/>
            </a:endParaRPr>
          </a:p>
          <a:p>
            <a:pPr marL="457200" lvl="1" indent="-457200">
              <a:lnSpc>
                <a:spcPct val="100000"/>
              </a:lnSpc>
              <a:buFont typeface="Wingdings" panose="05000000000000000000" pitchFamily="2" charset="2"/>
              <a:buChar char="Ø"/>
            </a:pPr>
            <a:r>
              <a:rPr lang="zh-CN" altLang="en-US" sz="2800" b="1" dirty="0">
                <a:latin typeface="黑体" panose="02010609060101010101" pitchFamily="49" charset="-122"/>
                <a:ea typeface="黑体" panose="02010609060101010101" pitchFamily="49" charset="-122"/>
              </a:rPr>
              <a:t>例：两个突变型亲本噬菌体（</a:t>
            </a:r>
            <a:r>
              <a:rPr lang="en-US" altLang="zh-CN" sz="2800" b="1" dirty="0" err="1">
                <a:latin typeface="黑体" panose="02010609060101010101" pitchFamily="49" charset="-122"/>
                <a:ea typeface="黑体" panose="02010609060101010101" pitchFamily="49" charset="-122"/>
              </a:rPr>
              <a:t>hr</a:t>
            </a:r>
            <a:r>
              <a:rPr lang="en-US" altLang="zh-CN" sz="2800" b="1" baseline="30000" dirty="0">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和</a:t>
            </a:r>
            <a:r>
              <a:rPr lang="en-US" altLang="zh-CN" sz="2800" b="1" dirty="0" err="1">
                <a:latin typeface="黑体" panose="02010609060101010101" pitchFamily="49" charset="-122"/>
                <a:ea typeface="黑体" panose="02010609060101010101" pitchFamily="49" charset="-122"/>
              </a:rPr>
              <a:t>h</a:t>
            </a:r>
            <a:r>
              <a:rPr lang="en-US" altLang="zh-CN" sz="2800" b="1" baseline="30000" dirty="0" err="1">
                <a:latin typeface="黑体" panose="02010609060101010101" pitchFamily="49" charset="-122"/>
                <a:ea typeface="黑体" panose="02010609060101010101" pitchFamily="49" charset="-122"/>
              </a:rPr>
              <a:t>+</a:t>
            </a:r>
            <a:r>
              <a:rPr lang="en-US" altLang="zh-CN" sz="2800" b="1" dirty="0" err="1">
                <a:latin typeface="黑体" panose="02010609060101010101" pitchFamily="49" charset="-122"/>
                <a:ea typeface="黑体" panose="02010609060101010101" pitchFamily="49" charset="-122"/>
              </a:rPr>
              <a:t>r</a:t>
            </a:r>
            <a:r>
              <a:rPr lang="zh-CN" altLang="en-US" sz="2800" b="1" dirty="0">
                <a:latin typeface="黑体" panose="02010609060101010101" pitchFamily="49" charset="-122"/>
                <a:ea typeface="黑体" panose="02010609060101010101" pitchFamily="49" charset="-122"/>
              </a:rPr>
              <a:t>）同时感染菌株</a:t>
            </a:r>
            <a:r>
              <a:rPr lang="en-US" altLang="zh-CN" sz="2800" b="1" dirty="0">
                <a:latin typeface="黑体" panose="02010609060101010101" pitchFamily="49" charset="-122"/>
                <a:ea typeface="黑体" panose="02010609060101010101" pitchFamily="49" charset="-122"/>
              </a:rPr>
              <a:t>B</a:t>
            </a:r>
            <a:r>
              <a:rPr lang="zh-CN" altLang="en-US" sz="2800" b="1" dirty="0">
                <a:latin typeface="黑体" panose="02010609060101010101" pitchFamily="49" charset="-122"/>
                <a:ea typeface="黑体" panose="02010609060101010101" pitchFamily="49" charset="-122"/>
              </a:rPr>
              <a:t>，把释放出来的噬菌体（子代噬菌体）接种在同时长有菌株</a:t>
            </a:r>
            <a:r>
              <a:rPr lang="en-US" altLang="zh-CN" sz="2800" b="1" dirty="0">
                <a:latin typeface="黑体" panose="02010609060101010101" pitchFamily="49" charset="-122"/>
                <a:ea typeface="黑体" panose="02010609060101010101" pitchFamily="49" charset="-122"/>
              </a:rPr>
              <a:t>B</a:t>
            </a:r>
            <a:r>
              <a:rPr lang="zh-CN" altLang="en-US" sz="2800" b="1" dirty="0">
                <a:latin typeface="黑体" panose="02010609060101010101" pitchFamily="49" charset="-122"/>
                <a:ea typeface="黑体" panose="02010609060101010101" pitchFamily="49" charset="-122"/>
              </a:rPr>
              <a:t>和</a:t>
            </a:r>
            <a:r>
              <a:rPr lang="en-US" altLang="zh-CN" sz="2800" b="1" dirty="0">
                <a:latin typeface="黑体" panose="02010609060101010101" pitchFamily="49" charset="-122"/>
                <a:ea typeface="黑体" panose="02010609060101010101" pitchFamily="49" charset="-122"/>
              </a:rPr>
              <a:t>B/2</a:t>
            </a:r>
            <a:r>
              <a:rPr lang="zh-CN" altLang="en-US" sz="2800" b="1" dirty="0">
                <a:latin typeface="黑体" panose="02010609060101010101" pitchFamily="49" charset="-122"/>
                <a:ea typeface="黑体" panose="02010609060101010101" pitchFamily="49" charset="-122"/>
              </a:rPr>
              <a:t>的培养基上，可以看到 </a:t>
            </a:r>
            <a:r>
              <a:rPr lang="en-US" altLang="zh-CN" sz="2800" b="1" dirty="0">
                <a:latin typeface="黑体" panose="02010609060101010101" pitchFamily="49" charset="-122"/>
                <a:ea typeface="黑体" panose="02010609060101010101" pitchFamily="49" charset="-122"/>
              </a:rPr>
              <a:t>4 </a:t>
            </a:r>
            <a:r>
              <a:rPr lang="zh-CN" altLang="en-US" sz="2800" b="1" dirty="0">
                <a:latin typeface="黑体" panose="02010609060101010101" pitchFamily="49" charset="-122"/>
                <a:ea typeface="黑体" panose="02010609060101010101" pitchFamily="49" charset="-122"/>
              </a:rPr>
              <a:t>种噬菌斑。</a:t>
            </a:r>
            <a:endParaRPr lang="zh-CN" altLang="en-US" sz="2800" b="1" dirty="0">
              <a:latin typeface="黑体" panose="02010609060101010101" pitchFamily="49" charset="-122"/>
              <a:ea typeface="黑体" panose="02010609060101010101" pitchFamily="49"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half" idx="1"/>
          </p:nvPr>
        </p:nvSpPr>
        <p:spPr>
          <a:xfrm>
            <a:off x="132080" y="0"/>
            <a:ext cx="11957050" cy="659765"/>
          </a:xfrm>
        </p:spPr>
        <p:txBody>
          <a:bodyPr vert="horz" lIns="91440" tIns="45720" rIns="91440" bIns="45720" rtlCol="0">
            <a:noAutofit/>
          </a:bodyPr>
          <a:lstStyle/>
          <a:p>
            <a:pPr marL="0" lvl="1" indent="0">
              <a:lnSpc>
                <a:spcPct val="100000"/>
              </a:lnSpc>
              <a:buNone/>
            </a:pPr>
            <a:r>
              <a:rPr lang="en-US" altLang="zh-CN" sz="2800" b="1" dirty="0">
                <a:latin typeface="黑体" panose="02010609060101010101" pitchFamily="49" charset="-122"/>
                <a:ea typeface="黑体" panose="02010609060101010101" pitchFamily="49" charset="-122"/>
              </a:rPr>
              <a:t>4</a:t>
            </a:r>
            <a:r>
              <a:rPr lang="zh-CN" altLang="en-US" sz="2800" b="1" dirty="0">
                <a:latin typeface="黑体" panose="02010609060101010101" pitchFamily="49" charset="-122"/>
                <a:ea typeface="黑体" panose="02010609060101010101" pitchFamily="49" charset="-122"/>
              </a:rPr>
              <a:t>噬菌斑中，</a:t>
            </a:r>
            <a:r>
              <a:rPr lang="en-US" altLang="zh-CN" sz="2800" b="1" dirty="0" err="1">
                <a:latin typeface="黑体" panose="02010609060101010101" pitchFamily="49" charset="-122"/>
                <a:ea typeface="黑体" panose="02010609060101010101" pitchFamily="49" charset="-122"/>
              </a:rPr>
              <a:t>hr</a:t>
            </a:r>
            <a:r>
              <a:rPr lang="en-US" altLang="zh-CN" sz="2800" b="1" baseline="30000" dirty="0">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和</a:t>
            </a:r>
            <a:r>
              <a:rPr lang="en-US" altLang="zh-CN" sz="2800" b="1" dirty="0">
                <a:latin typeface="黑体" panose="02010609060101010101" pitchFamily="49" charset="-122"/>
                <a:ea typeface="黑体" panose="02010609060101010101" pitchFamily="49" charset="-122"/>
              </a:rPr>
              <a:t>h</a:t>
            </a:r>
            <a:r>
              <a:rPr lang="en-US" altLang="zh-CN" sz="2800" b="1" baseline="30000" dirty="0">
                <a:latin typeface="黑体" panose="02010609060101010101" pitchFamily="49" charset="-122"/>
                <a:ea typeface="黑体" panose="02010609060101010101" pitchFamily="49" charset="-122"/>
              </a:rPr>
              <a:t>+</a:t>
            </a:r>
            <a:r>
              <a:rPr lang="en-US" altLang="zh-CN" sz="2800" b="1" dirty="0">
                <a:latin typeface="黑体" panose="02010609060101010101" pitchFamily="49" charset="-122"/>
                <a:ea typeface="黑体" panose="02010609060101010101" pitchFamily="49" charset="-122"/>
              </a:rPr>
              <a:t>r</a:t>
            </a:r>
            <a:r>
              <a:rPr lang="zh-CN" altLang="en-US" sz="2800" b="1" dirty="0">
                <a:latin typeface="黑体" panose="02010609060101010101" pitchFamily="49" charset="-122"/>
                <a:ea typeface="黑体" panose="02010609060101010101" pitchFamily="49" charset="-122"/>
              </a:rPr>
              <a:t>是亲组合，</a:t>
            </a:r>
            <a:r>
              <a:rPr lang="en-US" altLang="zh-CN" sz="2800" b="1" dirty="0">
                <a:latin typeface="黑体" panose="02010609060101010101" pitchFamily="49" charset="-122"/>
                <a:ea typeface="黑体" panose="02010609060101010101" pitchFamily="49" charset="-122"/>
              </a:rPr>
              <a:t>h</a:t>
            </a:r>
            <a:r>
              <a:rPr lang="en-US" altLang="zh-CN" sz="2800" b="1" baseline="30000" dirty="0">
                <a:latin typeface="黑体" panose="02010609060101010101" pitchFamily="49" charset="-122"/>
                <a:ea typeface="黑体" panose="02010609060101010101" pitchFamily="49" charset="-122"/>
              </a:rPr>
              <a:t>+</a:t>
            </a:r>
            <a:r>
              <a:rPr lang="en-US" altLang="zh-CN" sz="2800" b="1" dirty="0">
                <a:latin typeface="黑体" panose="02010609060101010101" pitchFamily="49" charset="-122"/>
                <a:ea typeface="黑体" panose="02010609060101010101" pitchFamily="49" charset="-122"/>
              </a:rPr>
              <a:t>r</a:t>
            </a:r>
            <a:r>
              <a:rPr lang="en-US" altLang="zh-CN" sz="2800" b="1" baseline="30000" dirty="0">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和</a:t>
            </a:r>
            <a:r>
              <a:rPr lang="en-US" altLang="zh-CN" sz="2800" b="1" dirty="0">
                <a:latin typeface="黑体" panose="02010609060101010101" pitchFamily="49" charset="-122"/>
                <a:ea typeface="黑体" panose="02010609060101010101" pitchFamily="49" charset="-122"/>
              </a:rPr>
              <a:t>hr</a:t>
            </a:r>
            <a:r>
              <a:rPr lang="zh-CN" altLang="en-US" sz="2800" b="1" dirty="0">
                <a:latin typeface="黑体" panose="02010609060101010101" pitchFamily="49" charset="-122"/>
                <a:ea typeface="黑体" panose="02010609060101010101" pitchFamily="49" charset="-122"/>
              </a:rPr>
              <a:t>是重组合。重组率可用下式计算：</a:t>
            </a:r>
            <a:endParaRPr lang="zh-CN" altLang="en-US" sz="2800" b="1" dirty="0">
              <a:latin typeface="黑体" panose="02010609060101010101" pitchFamily="49" charset="-122"/>
              <a:ea typeface="黑体" panose="02010609060101010101" pitchFamily="49" charset="-122"/>
            </a:endParaRPr>
          </a:p>
        </p:txBody>
      </p:sp>
      <p:pic>
        <p:nvPicPr>
          <p:cNvPr id="9" name="图片 8"/>
          <p:cNvPicPr>
            <a:picLocks noChangeAspect="1"/>
          </p:cNvPicPr>
          <p:nvPr/>
        </p:nvPicPr>
        <p:blipFill>
          <a:blip r:embed="rId1">
            <a:extLst>
              <a:ext uri="{BEBA8EAE-BF5A-486C-A8C5-ECC9F3942E4B}">
                <a14:imgProps xmlns:a14="http://schemas.microsoft.com/office/drawing/2010/main">
                  <a14:imgLayer r:embed="rId2">
                    <a14:imgEffect>
                      <a14:sharpenSoften amount="50000"/>
                    </a14:imgEffect>
                  </a14:imgLayer>
                </a14:imgProps>
              </a:ext>
            </a:extLst>
          </a:blip>
          <a:stretch>
            <a:fillRect/>
          </a:stretch>
        </p:blipFill>
        <p:spPr>
          <a:xfrm>
            <a:off x="2674620" y="477520"/>
            <a:ext cx="7017385" cy="1209675"/>
          </a:xfrm>
          <a:prstGeom prst="rect">
            <a:avLst/>
          </a:prstGeom>
        </p:spPr>
      </p:pic>
      <p:sp>
        <p:nvSpPr>
          <p:cNvPr id="2" name="矩形 1"/>
          <p:cNvSpPr/>
          <p:nvPr/>
        </p:nvSpPr>
        <p:spPr>
          <a:xfrm>
            <a:off x="132365" y="1686905"/>
            <a:ext cx="6939748" cy="480131"/>
          </a:xfrm>
          <a:prstGeom prst="rect">
            <a:avLst/>
          </a:prstGeom>
        </p:spPr>
        <p:txBody>
          <a:bodyPr vert="horz" lIns="91440" tIns="45720" rIns="91440" bIns="45720" rtlCol="0">
            <a:noAutofit/>
          </a:bodyPr>
          <a:lstStyle/>
          <a:p>
            <a:pPr>
              <a:lnSpc>
                <a:spcPct val="90000"/>
              </a:lnSpc>
              <a:spcBef>
                <a:spcPts val="1000"/>
              </a:spcBef>
            </a:pPr>
            <a:r>
              <a:rPr lang="zh-CN" altLang="en-US" sz="28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例：请推测</a:t>
            </a:r>
            <a:r>
              <a:rPr lang="en-US" altLang="zh-CN" sz="28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h</a:t>
            </a:r>
            <a:r>
              <a:rPr lang="zh-CN" altLang="en-US" sz="28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a:t>
            </a:r>
            <a:r>
              <a:rPr lang="en-US" altLang="zh-CN" sz="2800" b="1" dirty="0" err="1">
                <a:solidFill>
                  <a:srgbClr val="0000FF"/>
                </a:solidFill>
                <a:latin typeface="黑体" panose="02010609060101010101" pitchFamily="49" charset="-122"/>
                <a:ea typeface="黑体" panose="02010609060101010101" pitchFamily="49" charset="-122"/>
                <a:cs typeface="Times New Roman" panose="02020603050405020304" pitchFamily="18" charset="0"/>
              </a:rPr>
              <a:t>r</a:t>
            </a:r>
            <a:r>
              <a:rPr lang="en-US" altLang="zh-CN" sz="2800" b="1" baseline="-25000" dirty="0" err="1">
                <a:solidFill>
                  <a:srgbClr val="0000FF"/>
                </a:solidFill>
                <a:latin typeface="黑体" panose="02010609060101010101" pitchFamily="49" charset="-122"/>
                <a:ea typeface="黑体" panose="02010609060101010101" pitchFamily="49" charset="-122"/>
                <a:cs typeface="Times New Roman" panose="02020603050405020304" pitchFamily="18" charset="0"/>
              </a:rPr>
              <a:t>a</a:t>
            </a:r>
            <a:r>
              <a:rPr lang="zh-CN" altLang="en-US" sz="28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a:t>
            </a:r>
            <a:r>
              <a:rPr lang="en-US" altLang="zh-CN" sz="2800" b="1" dirty="0" err="1">
                <a:solidFill>
                  <a:srgbClr val="0000FF"/>
                </a:solidFill>
                <a:latin typeface="黑体" panose="02010609060101010101" pitchFamily="49" charset="-122"/>
                <a:ea typeface="黑体" panose="02010609060101010101" pitchFamily="49" charset="-122"/>
                <a:cs typeface="Times New Roman" panose="02020603050405020304" pitchFamily="18" charset="0"/>
              </a:rPr>
              <a:t>r</a:t>
            </a:r>
            <a:r>
              <a:rPr lang="en-US" altLang="zh-CN" sz="2800" b="1" baseline="-25000" dirty="0" err="1">
                <a:solidFill>
                  <a:srgbClr val="0000FF"/>
                </a:solidFill>
                <a:latin typeface="黑体" panose="02010609060101010101" pitchFamily="49" charset="-122"/>
                <a:ea typeface="黑体" panose="02010609060101010101" pitchFamily="49" charset="-122"/>
                <a:cs typeface="Times New Roman" panose="02020603050405020304" pitchFamily="18" charset="0"/>
              </a:rPr>
              <a:t>b</a:t>
            </a:r>
            <a:r>
              <a:rPr lang="zh-CN" altLang="en-US" sz="28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a:t>
            </a:r>
            <a:r>
              <a:rPr lang="en-US" altLang="zh-CN" sz="2800" b="1" dirty="0" err="1">
                <a:solidFill>
                  <a:srgbClr val="0000FF"/>
                </a:solidFill>
                <a:latin typeface="黑体" panose="02010609060101010101" pitchFamily="49" charset="-122"/>
                <a:ea typeface="黑体" panose="02010609060101010101" pitchFamily="49" charset="-122"/>
                <a:cs typeface="Times New Roman" panose="02020603050405020304" pitchFamily="18" charset="0"/>
              </a:rPr>
              <a:t>r</a:t>
            </a:r>
            <a:r>
              <a:rPr lang="en-US" altLang="zh-CN" sz="2800" b="1" baseline="-25000" dirty="0" err="1">
                <a:solidFill>
                  <a:srgbClr val="0000FF"/>
                </a:solidFill>
                <a:latin typeface="黑体" panose="02010609060101010101" pitchFamily="49" charset="-122"/>
                <a:ea typeface="黑体" panose="02010609060101010101" pitchFamily="49" charset="-122"/>
                <a:cs typeface="Times New Roman" panose="02020603050405020304" pitchFamily="18" charset="0"/>
              </a:rPr>
              <a:t>c</a:t>
            </a:r>
            <a:r>
              <a:rPr lang="zh-CN" altLang="en-US" sz="28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之间的位置关系</a:t>
            </a:r>
            <a:endParaRPr lang="en-US" altLang="zh-CN" sz="2800" b="1" dirty="0">
              <a:solidFill>
                <a:srgbClr val="0000FF"/>
              </a:solidFill>
              <a:latin typeface="黑体" panose="02010609060101010101" pitchFamily="49" charset="-122"/>
              <a:ea typeface="黑体" panose="02010609060101010101" pitchFamily="49" charset="-122"/>
              <a:cs typeface="Times New Roman" panose="02020603050405020304" pitchFamily="18"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6098" y="2167029"/>
            <a:ext cx="8961916" cy="4201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1026"/>
                                        </p:tgtEl>
                                        <p:attrNameLst>
                                          <p:attrName>style.visibility</p:attrName>
                                        </p:attrNameLst>
                                      </p:cBhvr>
                                      <p:to>
                                        <p:strVal val="visible"/>
                                      </p:to>
                                    </p:set>
                                    <p:animEffect transition="in" filter="fade">
                                      <p:cBhvr>
                                        <p:cTn id="10"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7964854" y="6385051"/>
            <a:ext cx="2814491" cy="369332"/>
          </a:xfrm>
          <a:prstGeom prst="rect">
            <a:avLst/>
          </a:prstGeom>
        </p:spPr>
        <p:txBody>
          <a:bodyPr vert="horz" lIns="91440" tIns="45720" rIns="91440" bIns="45720" rtlCol="0">
            <a:noAutofit/>
          </a:bodyPr>
          <a:lstStyle>
            <a:defPPr>
              <a:defRPr lang="zh-CN"/>
            </a:defPPr>
            <a:lvl1pPr indent="0" algn="ctr">
              <a:lnSpc>
                <a:spcPct val="90000"/>
              </a:lnSpc>
              <a:spcBef>
                <a:spcPts val="1000"/>
              </a:spcBef>
              <a:buFont typeface="Arial" panose="020B0604020202020204" pitchFamily="34" charset="0"/>
              <a:buNone/>
              <a:defRPr sz="2000" b="1">
                <a:latin typeface="微软雅黑" panose="020B0503020204020204" charset="-122"/>
                <a:ea typeface="微软雅黑" panose="020B0503020204020204" charset="-122"/>
                <a:cs typeface="Times New Roman" panose="02020603050405020304" pitchFamily="18" charset="0"/>
              </a:defRPr>
            </a:lvl1pPr>
            <a:lvl2pPr lvl="1" indent="-457200">
              <a:lnSpc>
                <a:spcPct val="100000"/>
              </a:lnSpc>
              <a:spcBef>
                <a:spcPts val="500"/>
              </a:spcBef>
              <a:buFont typeface="Wingdings" panose="05000000000000000000" pitchFamily="2" charset="2"/>
              <a:buChar char="Ø"/>
              <a:defRPr sz="2800">
                <a:latin typeface="Times New Roman" panose="02020603050405020304" pitchFamily="18" charset="0"/>
                <a:ea typeface="微软雅黑" panose="020B0503020204020204"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t>T2 </a:t>
            </a:r>
            <a:r>
              <a:rPr lang="zh-CN" altLang="en-US" dirty="0"/>
              <a:t>的连锁图</a:t>
            </a:r>
            <a:endParaRPr lang="zh-CN" altLang="en-US" dirty="0"/>
          </a:p>
        </p:txBody>
      </p:sp>
      <p:sp>
        <p:nvSpPr>
          <p:cNvPr id="13" name="文本框 12"/>
          <p:cNvSpPr txBox="1"/>
          <p:nvPr/>
        </p:nvSpPr>
        <p:spPr>
          <a:xfrm>
            <a:off x="1181061" y="6175332"/>
            <a:ext cx="3791771" cy="461665"/>
          </a:xfrm>
          <a:prstGeom prst="rect">
            <a:avLst/>
          </a:prstGeom>
        </p:spPr>
        <p:txBody>
          <a:bodyPr vert="horz" lIns="91440" tIns="45720" rIns="91440" bIns="45720" rtlCol="0">
            <a:noAutofit/>
          </a:bodyPr>
          <a:lstStyle>
            <a:defPPr>
              <a:defRPr lang="zh-CN"/>
            </a:defPPr>
            <a:lvl1pPr indent="0" algn="ctr">
              <a:lnSpc>
                <a:spcPct val="90000"/>
              </a:lnSpc>
              <a:spcBef>
                <a:spcPts val="1000"/>
              </a:spcBef>
              <a:buFont typeface="Arial" panose="020B0604020202020204" pitchFamily="34" charset="0"/>
              <a:buNone/>
              <a:defRPr sz="2000" b="1">
                <a:latin typeface="微软雅黑" panose="020B0503020204020204" charset="-122"/>
                <a:ea typeface="微软雅黑" panose="020B0503020204020204" charset="-122"/>
                <a:cs typeface="Times New Roman" panose="02020603050405020304" pitchFamily="18" charset="0"/>
              </a:defRPr>
            </a:lvl1pPr>
            <a:lvl2pPr lvl="1" indent="-457200">
              <a:lnSpc>
                <a:spcPct val="100000"/>
              </a:lnSpc>
              <a:spcBef>
                <a:spcPts val="500"/>
              </a:spcBef>
              <a:buFont typeface="Wingdings" panose="05000000000000000000" pitchFamily="2" charset="2"/>
              <a:buChar char="Ø"/>
              <a:defRPr sz="2800">
                <a:latin typeface="Times New Roman" panose="02020603050405020304" pitchFamily="18" charset="0"/>
                <a:ea typeface="微软雅黑" panose="020B0503020204020204"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t>r </a:t>
            </a:r>
            <a:r>
              <a:rPr lang="zh-CN" altLang="en-US" dirty="0"/>
              <a:t>基因与 </a:t>
            </a:r>
            <a:r>
              <a:rPr lang="en-US" altLang="zh-CN" dirty="0"/>
              <a:t>h </a:t>
            </a:r>
            <a:r>
              <a:rPr lang="zh-CN" altLang="en-US" dirty="0"/>
              <a:t>基因的连锁图</a:t>
            </a:r>
            <a:endParaRPr lang="zh-CN" altLang="en-US" dirty="0"/>
          </a:p>
        </p:txBody>
      </p:sp>
      <p:pic>
        <p:nvPicPr>
          <p:cNvPr id="14" name="图片 13"/>
          <p:cNvPicPr>
            <a:picLocks noChangeAspect="1"/>
          </p:cNvPicPr>
          <p:nvPr/>
        </p:nvPicPr>
        <p:blipFill>
          <a:blip r:embed="rId1" cstate="print">
            <a:extLst>
              <a:ext uri="{BEBA8EAE-BF5A-486C-A8C5-ECC9F3942E4B}">
                <a14:imgProps xmlns:a14="http://schemas.microsoft.com/office/drawing/2010/main">
                  <a14:imgLayer r:embed="rId2">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293245" y="3574514"/>
            <a:ext cx="6394778" cy="2600818"/>
          </a:xfrm>
          <a:prstGeom prst="rect">
            <a:avLst/>
          </a:prstGeom>
        </p:spPr>
      </p:pic>
      <p:pic>
        <p:nvPicPr>
          <p:cNvPr id="12" name="内容占位符 5"/>
          <p:cNvPicPr>
            <a:picLocks noChangeAspect="1"/>
          </p:cNvPicPr>
          <p:nvPr/>
        </p:nvPicPr>
        <p:blipFill>
          <a:blip r:embed="rId3" cstate="print">
            <a:extLst>
              <a:ext uri="{BEBA8EAE-BF5A-486C-A8C5-ECC9F3942E4B}">
                <a14:imgProps xmlns:a14="http://schemas.microsoft.com/office/drawing/2010/main">
                  <a14:imgLayer r:embed="rId4">
                    <a14:imgEffect>
                      <a14:brightnessContrast bright="20000"/>
                    </a14:imgEffect>
                  </a14:imgLayer>
                </a14:imgProps>
              </a:ext>
              <a:ext uri="{28A0092B-C50C-407E-A947-70E740481C1C}">
                <a14:useLocalDpi xmlns:a14="http://schemas.microsoft.com/office/drawing/2010/main" val="0"/>
              </a:ext>
            </a:extLst>
          </a:blip>
          <a:stretch>
            <a:fillRect/>
          </a:stretch>
        </p:blipFill>
        <p:spPr>
          <a:xfrm>
            <a:off x="8165433" y="3416158"/>
            <a:ext cx="2613912" cy="2917530"/>
          </a:xfrm>
          <a:prstGeom prst="rect">
            <a:avLst/>
          </a:prstGeom>
        </p:spPr>
      </p:pic>
      <p:pic>
        <p:nvPicPr>
          <p:cNvPr id="205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08617" y="0"/>
            <a:ext cx="9900721" cy="3416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3" grpId="1"/>
      <p:bldP spid="11" grpId="0"/>
      <p:bldP spid="11" grpId="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74200" y="0"/>
            <a:ext cx="10515600" cy="576197"/>
          </a:xfrm>
        </p:spPr>
        <p:txBody>
          <a:bodyPr vert="horz" lIns="91440" tIns="45720" rIns="91440" bIns="45720" rtlCol="0" anchor="ctr">
            <a:normAutofit/>
          </a:bodyPr>
          <a:lstStyle/>
          <a:p>
            <a:r>
              <a:rPr lang="zh-CN" altLang="en-US" sz="3200" b="1" dirty="0">
                <a:solidFill>
                  <a:srgbClr val="0000FF"/>
                </a:solidFill>
                <a:latin typeface="黑体" panose="02010609060101010101" pitchFamily="49" charset="-122"/>
                <a:ea typeface="黑体" panose="02010609060101010101" pitchFamily="49" charset="-122"/>
              </a:rPr>
              <a:t>三、溶原性细菌</a:t>
            </a:r>
            <a:endParaRPr lang="zh-CN" altLang="en-US" sz="3200" b="1" dirty="0">
              <a:solidFill>
                <a:srgbClr val="0000FF"/>
              </a:solidFill>
              <a:latin typeface="黑体" panose="02010609060101010101" pitchFamily="49" charset="-122"/>
              <a:ea typeface="黑体" panose="02010609060101010101" pitchFamily="49" charset="-122"/>
            </a:endParaRPr>
          </a:p>
        </p:txBody>
      </p:sp>
      <p:sp>
        <p:nvSpPr>
          <p:cNvPr id="7" name="文本框 6"/>
          <p:cNvSpPr txBox="1"/>
          <p:nvPr/>
        </p:nvSpPr>
        <p:spPr>
          <a:xfrm>
            <a:off x="6841466" y="4459811"/>
            <a:ext cx="4987785" cy="369332"/>
          </a:xfrm>
          <a:prstGeom prst="rect">
            <a:avLst/>
          </a:prstGeom>
        </p:spPr>
        <p:txBody>
          <a:bodyPr vert="horz" lIns="91440" tIns="45720" rIns="91440" bIns="45720" rtlCol="0">
            <a:noAutofit/>
          </a:bodyPr>
          <a:lstStyle>
            <a:defPPr>
              <a:defRPr lang="zh-CN"/>
            </a:defPPr>
            <a:lvl1pPr indent="0" algn="ctr">
              <a:lnSpc>
                <a:spcPct val="90000"/>
              </a:lnSpc>
              <a:spcBef>
                <a:spcPts val="1000"/>
              </a:spcBef>
              <a:buFont typeface="Arial" panose="020B0604020202020204" pitchFamily="34" charset="0"/>
              <a:buNone/>
              <a:defRPr sz="2000" b="1">
                <a:latin typeface="微软雅黑" panose="020B0503020204020204" charset="-122"/>
                <a:ea typeface="微软雅黑" panose="020B0503020204020204" charset="-122"/>
                <a:cs typeface="Times New Roman" panose="02020603050405020304" pitchFamily="18" charset="0"/>
              </a:defRPr>
            </a:lvl1pPr>
            <a:lvl2pPr lvl="1" indent="-457200">
              <a:lnSpc>
                <a:spcPct val="100000"/>
              </a:lnSpc>
              <a:spcBef>
                <a:spcPts val="500"/>
              </a:spcBef>
              <a:buFont typeface="Wingdings" panose="05000000000000000000" pitchFamily="2" charset="2"/>
              <a:buChar char="Ø"/>
              <a:defRPr sz="2800">
                <a:latin typeface="Times New Roman" panose="02020603050405020304" pitchFamily="18" charset="0"/>
                <a:ea typeface="微软雅黑" panose="020B0503020204020204"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温和噬菌体的溶菌周期和溶原周期</a:t>
            </a:r>
            <a:endParaRPr lang="zh-CN" altLang="en-US" dirty="0"/>
          </a:p>
        </p:txBody>
      </p:sp>
      <p:pic>
        <p:nvPicPr>
          <p:cNvPr id="3" name="图片 2"/>
          <p:cNvPicPr>
            <a:picLocks noChangeAspect="1"/>
          </p:cNvPicPr>
          <p:nvPr/>
        </p:nvPicPr>
        <p:blipFill>
          <a:blip r:embed="rId1" cstate="print">
            <a:extLst>
              <a:ext uri="{BEBA8EAE-BF5A-486C-A8C5-ECC9F3942E4B}">
                <a14:imgProps xmlns:a14="http://schemas.microsoft.com/office/drawing/2010/main">
                  <a14:imgLayer r:embed="rId2">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6055807" y="860425"/>
            <a:ext cx="6136193" cy="3509604"/>
          </a:xfrm>
          <a:prstGeom prst="rect">
            <a:avLst/>
          </a:prstGeom>
        </p:spPr>
      </p:pic>
      <p:sp>
        <p:nvSpPr>
          <p:cNvPr id="5" name="内容占位符 4"/>
          <p:cNvSpPr>
            <a:spLocks noGrp="1"/>
          </p:cNvSpPr>
          <p:nvPr>
            <p:ph sz="half" idx="1"/>
          </p:nvPr>
        </p:nvSpPr>
        <p:spPr>
          <a:xfrm>
            <a:off x="-1" y="653747"/>
            <a:ext cx="6055807" cy="6010033"/>
          </a:xfrm>
        </p:spPr>
        <p:txBody>
          <a:bodyPr vert="horz" lIns="91440" tIns="45720" rIns="91440" bIns="45720" rtlCol="0">
            <a:noAutofit/>
          </a:bodyPr>
          <a:lstStyle/>
          <a:p>
            <a:pPr marL="457200" lvl="1" indent="-457200">
              <a:lnSpc>
                <a:spcPct val="100000"/>
              </a:lnSpc>
              <a:buFont typeface="Wingdings" panose="05000000000000000000" pitchFamily="2" charset="2"/>
              <a:buChar char="Ø"/>
            </a:pPr>
            <a:r>
              <a:rPr lang="zh-CN" altLang="en-US" sz="2800" b="1" dirty="0">
                <a:latin typeface="黑体" panose="02010609060101010101" pitchFamily="49" charset="-122"/>
                <a:ea typeface="黑体" panose="02010609060101010101" pitchFamily="49" charset="-122"/>
              </a:rPr>
              <a:t>和烈性噬菌体不同，另一类噬菌体感染细菌后，除偶尔情况外，不出现溶菌现象。这一类噬菌体被称为</a:t>
            </a:r>
            <a:r>
              <a:rPr lang="zh-CN" altLang="en-US" sz="2800" b="1" dirty="0">
                <a:solidFill>
                  <a:srgbClr val="FF0000"/>
                </a:solidFill>
                <a:latin typeface="黑体" panose="02010609060101010101" pitchFamily="49" charset="-122"/>
                <a:ea typeface="黑体" panose="02010609060101010101" pitchFamily="49" charset="-122"/>
              </a:rPr>
              <a:t>温和噬菌体</a:t>
            </a:r>
            <a:r>
              <a:rPr lang="zh-CN" altLang="en-US" sz="2800" b="1" dirty="0">
                <a:latin typeface="黑体" panose="02010609060101010101" pitchFamily="49" charset="-122"/>
                <a:ea typeface="黑体" panose="02010609060101010101" pitchFamily="49" charset="-122"/>
              </a:rPr>
              <a:t>。</a:t>
            </a:r>
            <a:endParaRPr lang="en-US" altLang="zh-CN" sz="2800" b="1" dirty="0">
              <a:latin typeface="黑体" panose="02010609060101010101" pitchFamily="49" charset="-122"/>
              <a:ea typeface="黑体" panose="02010609060101010101" pitchFamily="49" charset="-122"/>
            </a:endParaRPr>
          </a:p>
          <a:p>
            <a:pPr marL="457200" lvl="1" indent="-457200">
              <a:lnSpc>
                <a:spcPct val="100000"/>
              </a:lnSpc>
              <a:buFont typeface="Wingdings" panose="05000000000000000000" pitchFamily="2" charset="2"/>
              <a:buChar char="Ø"/>
            </a:pPr>
            <a:r>
              <a:rPr lang="zh-CN" altLang="en-US" sz="2800" b="1" dirty="0">
                <a:latin typeface="黑体" panose="02010609060101010101" pitchFamily="49" charset="-122"/>
                <a:ea typeface="黑体" panose="02010609060101010101" pitchFamily="49" charset="-122"/>
              </a:rPr>
              <a:t>受感染的细菌特征：①细菌细胞内已有了侵入的噬菌体，不会受到同一种噬菌体的侵染，具备了</a:t>
            </a:r>
            <a:r>
              <a:rPr lang="zh-CN" altLang="en-US" sz="2800" b="1" dirty="0">
                <a:solidFill>
                  <a:srgbClr val="FF0000"/>
                </a:solidFill>
                <a:latin typeface="黑体" panose="02010609060101010101" pitchFamily="49" charset="-122"/>
                <a:ea typeface="黑体" panose="02010609060101010101" pitchFamily="49" charset="-122"/>
              </a:rPr>
              <a:t>免疫性</a:t>
            </a:r>
            <a:r>
              <a:rPr lang="zh-CN" altLang="en-US" sz="2800" b="1" dirty="0">
                <a:latin typeface="黑体" panose="02010609060101010101" pitchFamily="49" charset="-122"/>
                <a:ea typeface="黑体" panose="02010609060101010101" pitchFamily="49" charset="-122"/>
              </a:rPr>
              <a:t>。这种免疫性的特异程度很高。② 这种细菌即使没有外来噬菌体的感染，偶尔也</a:t>
            </a:r>
            <a:r>
              <a:rPr lang="zh-CN" altLang="en-US" sz="2800" b="1" dirty="0">
                <a:solidFill>
                  <a:srgbClr val="FF0000"/>
                </a:solidFill>
                <a:latin typeface="黑体" panose="02010609060101010101" pitchFamily="49" charset="-122"/>
                <a:ea typeface="黑体" panose="02010609060101010101" pitchFamily="49" charset="-122"/>
              </a:rPr>
              <a:t>会自发地释放噬菌体</a:t>
            </a:r>
            <a:r>
              <a:rPr lang="zh-CN" altLang="en-US" sz="2800" b="1" dirty="0">
                <a:latin typeface="黑体" panose="02010609060101010101" pitchFamily="49" charset="-122"/>
                <a:ea typeface="黑体" panose="02010609060101010101" pitchFamily="49" charset="-122"/>
              </a:rPr>
              <a:t>。</a:t>
            </a:r>
            <a:endParaRPr lang="en-US" altLang="zh-CN" sz="2800" b="1" dirty="0">
              <a:latin typeface="黑体" panose="02010609060101010101" pitchFamily="49" charset="-122"/>
              <a:ea typeface="黑体" panose="02010609060101010101" pitchFamily="49" charset="-122"/>
            </a:endParaRPr>
          </a:p>
          <a:p>
            <a:endParaRPr lang="zh-CN" altLang="en-US" dirty="0"/>
          </a:p>
        </p:txBody>
      </p:sp>
      <p:sp>
        <p:nvSpPr>
          <p:cNvPr id="8" name="文本框 7"/>
          <p:cNvSpPr txBox="1"/>
          <p:nvPr/>
        </p:nvSpPr>
        <p:spPr>
          <a:xfrm>
            <a:off x="7800340" y="4860290"/>
            <a:ext cx="3089275" cy="534035"/>
          </a:xfrm>
          <a:prstGeom prst="rect">
            <a:avLst/>
          </a:prstGeom>
          <a:solidFill>
            <a:schemeClr val="bg1">
              <a:lumMod val="85000"/>
            </a:schemeClr>
          </a:solidFill>
        </p:spPr>
        <p:txBody>
          <a:bodyPr wrap="square">
            <a:spAutoFit/>
          </a:bodyPr>
          <a:lstStyle/>
          <a:p>
            <a:pPr>
              <a:lnSpc>
                <a:spcPct val="120000"/>
              </a:lnSpc>
            </a:pPr>
            <a:r>
              <a:rPr lang="zh-CN" altLang="en-US" sz="2400" b="1" dirty="0">
                <a:latin typeface="Times New Roman" panose="02020603050405020304" pitchFamily="18" charset="0"/>
                <a:ea typeface="微软雅黑" panose="020B0503020204020204" charset="-122"/>
                <a:cs typeface="Times New Roman" panose="02020603050405020304" pitchFamily="18" charset="0"/>
              </a:rPr>
              <a:t>“○”表示原噬菌体。</a:t>
            </a:r>
            <a:endParaRPr lang="zh-CN" altLang="en-US" sz="2400" b="1" dirty="0">
              <a:latin typeface="Times New Roman" panose="02020603050405020304" pitchFamily="18" charset="0"/>
              <a:ea typeface="微软雅黑" panose="020B0503020204020204" charset="-122"/>
              <a:cs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614587" y="3213343"/>
            <a:ext cx="4497719" cy="369332"/>
          </a:xfrm>
          <a:prstGeom prst="rect">
            <a:avLst/>
          </a:prstGeom>
        </p:spPr>
        <p:txBody>
          <a:bodyPr vert="horz" lIns="91440" tIns="45720" rIns="91440" bIns="45720" rtlCol="0">
            <a:noAutofit/>
          </a:bodyPr>
          <a:lstStyle>
            <a:defPPr>
              <a:defRPr lang="zh-CN"/>
            </a:defPPr>
            <a:lvl1pPr indent="0" algn="ctr">
              <a:lnSpc>
                <a:spcPct val="90000"/>
              </a:lnSpc>
              <a:spcBef>
                <a:spcPts val="1000"/>
              </a:spcBef>
              <a:buFont typeface="Arial" panose="020B0604020202020204" pitchFamily="34" charset="0"/>
              <a:buNone/>
              <a:defRPr sz="2000" b="1">
                <a:latin typeface="微软雅黑" panose="020B0503020204020204" charset="-122"/>
                <a:ea typeface="微软雅黑" panose="020B0503020204020204" charset="-122"/>
                <a:cs typeface="Times New Roman" panose="02020603050405020304" pitchFamily="18" charset="0"/>
              </a:defRPr>
            </a:lvl1pPr>
            <a:lvl2pPr lvl="1" indent="-457200">
              <a:lnSpc>
                <a:spcPct val="100000"/>
              </a:lnSpc>
              <a:spcBef>
                <a:spcPts val="500"/>
              </a:spcBef>
              <a:buFont typeface="Wingdings" panose="05000000000000000000" pitchFamily="2" charset="2"/>
              <a:buChar char="Ø"/>
              <a:defRPr sz="2800">
                <a:latin typeface="Times New Roman" panose="02020603050405020304" pitchFamily="18" charset="0"/>
                <a:ea typeface="微软雅黑" panose="020B0503020204020204"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溶原菌中原噬菌体的存在形式</a:t>
            </a:r>
            <a:endParaRPr lang="zh-CN" altLang="en-US" dirty="0"/>
          </a:p>
        </p:txBody>
      </p:sp>
      <p:pic>
        <p:nvPicPr>
          <p:cNvPr id="6" name="内容占位符 5"/>
          <p:cNvPicPr>
            <a:picLocks noGrp="1" noChangeAspect="1"/>
          </p:cNvPicPr>
          <p:nvPr>
            <p:ph sz="half" idx="1"/>
          </p:nvPr>
        </p:nvPicPr>
        <p:blipFill>
          <a:blip r:embed="rId1" cstate="print">
            <a:extLst>
              <a:ext uri="{BEBA8EAE-BF5A-486C-A8C5-ECC9F3942E4B}">
                <a14:imgProps xmlns:a14="http://schemas.microsoft.com/office/drawing/2010/main">
                  <a14:imgLayer r:embed="rId2">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5655312" y="1402915"/>
            <a:ext cx="6416267" cy="1810428"/>
          </a:xfrm>
        </p:spPr>
      </p:pic>
      <p:sp>
        <p:nvSpPr>
          <p:cNvPr id="8" name="文本框 7"/>
          <p:cNvSpPr txBox="1"/>
          <p:nvPr/>
        </p:nvSpPr>
        <p:spPr>
          <a:xfrm>
            <a:off x="6071255" y="3829954"/>
            <a:ext cx="5585092" cy="1698029"/>
          </a:xfrm>
          <a:prstGeom prst="rect">
            <a:avLst/>
          </a:prstGeom>
          <a:solidFill>
            <a:schemeClr val="bg1">
              <a:lumMod val="85000"/>
            </a:schemeClr>
          </a:solidFill>
        </p:spPr>
        <p:txBody>
          <a:bodyPr wrap="square">
            <a:spAutoFit/>
          </a:bodyPr>
          <a:lstStyle/>
          <a:p>
            <a:pPr marL="0" lvl="1">
              <a:lnSpc>
                <a:spcPct val="150000"/>
              </a:lnSpc>
            </a:pPr>
            <a:r>
              <a:rPr lang="zh-CN" altLang="en-US" sz="2400" b="1" dirty="0"/>
              <a:t>溶原菌中原噬菌体的存在形式有两种：一种是染色体外以游离形式存在，</a:t>
            </a:r>
            <a:endParaRPr lang="en-US" altLang="zh-CN" sz="2400" b="1" dirty="0"/>
          </a:p>
          <a:p>
            <a:pPr marL="0" lvl="1">
              <a:lnSpc>
                <a:spcPct val="150000"/>
              </a:lnSpc>
            </a:pPr>
            <a:r>
              <a:rPr lang="zh-CN" altLang="en-US" sz="2400" b="1" dirty="0"/>
              <a:t>另一种是整合到细菌染色体上。</a:t>
            </a:r>
            <a:endParaRPr lang="zh-CN" altLang="en-US" sz="2400" b="1" dirty="0"/>
          </a:p>
        </p:txBody>
      </p:sp>
      <p:sp>
        <p:nvSpPr>
          <p:cNvPr id="10" name="文本框 9"/>
          <p:cNvSpPr txBox="1"/>
          <p:nvPr/>
        </p:nvSpPr>
        <p:spPr>
          <a:xfrm>
            <a:off x="1" y="238760"/>
            <a:ext cx="5761608" cy="5880892"/>
          </a:xfrm>
          <a:prstGeom prst="rect">
            <a:avLst/>
          </a:prstGeom>
        </p:spPr>
        <p:txBody>
          <a:bodyPr vert="horz" lIns="91440" tIns="45720" rIns="91440" bIns="45720" rtlCol="0">
            <a:noAutofit/>
          </a:bodyPr>
          <a:lstStyle>
            <a:lvl1pPr marL="228600" indent="-228600">
              <a:lnSpc>
                <a:spcPct val="90000"/>
              </a:lnSpc>
              <a:spcBef>
                <a:spcPts val="1000"/>
              </a:spcBef>
              <a:buFont typeface="Arial" panose="020B0604020202020204" pitchFamily="34" charset="0"/>
              <a:buChar char="•"/>
              <a:defRPr sz="2800">
                <a:latin typeface="Times New Roman" panose="02020603050405020304" pitchFamily="18" charset="0"/>
                <a:cs typeface="Times New Roman" panose="02020603050405020304" pitchFamily="18" charset="0"/>
              </a:defRPr>
            </a:lvl1pPr>
            <a:lvl2pPr lvl="1" indent="-457200">
              <a:lnSpc>
                <a:spcPct val="100000"/>
              </a:lnSpc>
              <a:spcBef>
                <a:spcPts val="500"/>
              </a:spcBef>
              <a:buFont typeface="Wingdings" panose="05000000000000000000" pitchFamily="2" charset="2"/>
              <a:buChar char="Ø"/>
              <a:defRPr sz="2800" b="1">
                <a:latin typeface="黑体" panose="02010609060101010101" pitchFamily="49" charset="-122"/>
                <a:ea typeface="黑体" panose="02010609060101010101" pitchFamily="49"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1"/>
            <a:r>
              <a:rPr lang="zh-CN" altLang="en-US" dirty="0"/>
              <a:t>有些细菌带有某种噬菌体，但并不立即导致溶菌，这种现象称为</a:t>
            </a:r>
            <a:r>
              <a:rPr lang="zh-CN" altLang="en-US" dirty="0">
                <a:solidFill>
                  <a:srgbClr val="FF0000"/>
                </a:solidFill>
              </a:rPr>
              <a:t>溶原性</a:t>
            </a:r>
            <a:r>
              <a:rPr lang="zh-CN" altLang="en-US" dirty="0"/>
              <a:t>（</a:t>
            </a:r>
            <a:r>
              <a:rPr lang="en-US" altLang="zh-CN" dirty="0"/>
              <a:t>lysogeny</a:t>
            </a:r>
            <a:r>
              <a:rPr lang="zh-CN" altLang="en-US" dirty="0"/>
              <a:t>）， 而这样的细菌称为</a:t>
            </a:r>
            <a:r>
              <a:rPr lang="zh-CN" altLang="en-US" dirty="0">
                <a:solidFill>
                  <a:srgbClr val="FF0000"/>
                </a:solidFill>
              </a:rPr>
              <a:t>溶原性细菌或溶原菌</a:t>
            </a:r>
            <a:r>
              <a:rPr lang="zh-CN" altLang="en-US" dirty="0"/>
              <a:t>（</a:t>
            </a:r>
            <a:r>
              <a:rPr lang="en-US" altLang="zh-CN" dirty="0"/>
              <a:t>lysogenic bacteria</a:t>
            </a:r>
            <a:r>
              <a:rPr lang="zh-CN" altLang="en-US" dirty="0"/>
              <a:t>）。</a:t>
            </a:r>
            <a:endParaRPr lang="en-US" altLang="zh-CN" dirty="0"/>
          </a:p>
          <a:p>
            <a:pPr lvl="1"/>
            <a:r>
              <a:rPr lang="zh-CN" altLang="en-US" dirty="0"/>
              <a:t>受温和噬菌体感染的细菌，几乎都成为溶原菌，而且能把这种特性传给子代细胞。溶原菌在诱导后又能产生成熟的噬菌体，所以细菌细胞内必然含有无感染能力的噬菌体，被称为</a:t>
            </a:r>
            <a:r>
              <a:rPr lang="zh-CN" altLang="en-US" dirty="0">
                <a:solidFill>
                  <a:srgbClr val="FF0000"/>
                </a:solidFill>
              </a:rPr>
              <a:t>原噬菌体</a:t>
            </a:r>
            <a:r>
              <a:rPr lang="zh-CN" altLang="en-US" dirty="0"/>
              <a:t>（</a:t>
            </a:r>
            <a:r>
              <a:rPr lang="en-US" altLang="zh-CN" dirty="0"/>
              <a:t>prophage</a:t>
            </a:r>
            <a:r>
              <a:rPr lang="zh-CN" altLang="en-US" dirty="0"/>
              <a:t>）。</a:t>
            </a:r>
            <a:endParaRPr lang="en-US" altLang="zh-CN"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4322" y="0"/>
            <a:ext cx="10515600" cy="674535"/>
          </a:xfrm>
        </p:spPr>
        <p:txBody>
          <a:bodyPr vert="horz" lIns="91440" tIns="45720" rIns="91440" bIns="45720" rtlCol="0" anchor="ctr">
            <a:normAutofit/>
          </a:bodyPr>
          <a:lstStyle/>
          <a:p>
            <a:r>
              <a:rPr lang="zh-CN" altLang="en-US" sz="3200" b="1" dirty="0">
                <a:solidFill>
                  <a:srgbClr val="0000FF"/>
                </a:solidFill>
                <a:latin typeface="黑体" panose="02010609060101010101" pitchFamily="49" charset="-122"/>
                <a:ea typeface="黑体" panose="02010609060101010101" pitchFamily="49" charset="-122"/>
              </a:rPr>
              <a:t>四、转导（</a:t>
            </a:r>
            <a:r>
              <a:rPr lang="en-US" altLang="zh-CN" sz="3200" b="1" dirty="0">
                <a:solidFill>
                  <a:srgbClr val="0000FF"/>
                </a:solidFill>
                <a:latin typeface="黑体" panose="02010609060101010101" pitchFamily="49" charset="-122"/>
                <a:ea typeface="黑体" panose="02010609060101010101" pitchFamily="49" charset="-122"/>
              </a:rPr>
              <a:t>transduction</a:t>
            </a:r>
            <a:r>
              <a:rPr lang="zh-CN" altLang="en-US" sz="3200" b="1" dirty="0">
                <a:solidFill>
                  <a:srgbClr val="0000FF"/>
                </a:solidFill>
                <a:latin typeface="黑体" panose="02010609060101010101" pitchFamily="49" charset="-122"/>
                <a:ea typeface="黑体" panose="02010609060101010101" pitchFamily="49" charset="-122"/>
              </a:rPr>
              <a:t>）</a:t>
            </a:r>
            <a:endParaRPr lang="zh-CN" altLang="en-US" sz="3200" b="1" dirty="0">
              <a:solidFill>
                <a:srgbClr val="0000FF"/>
              </a:solidFill>
              <a:latin typeface="黑体" panose="02010609060101010101" pitchFamily="49" charset="-122"/>
              <a:ea typeface="黑体" panose="02010609060101010101" pitchFamily="49" charset="-122"/>
            </a:endParaRPr>
          </a:p>
        </p:txBody>
      </p:sp>
      <p:pic>
        <p:nvPicPr>
          <p:cNvPr id="5" name="内容占位符 4"/>
          <p:cNvPicPr>
            <a:picLocks noGrp="1" noChangeAspect="1"/>
          </p:cNvPicPr>
          <p:nvPr>
            <p:ph sz="half" idx="1"/>
          </p:nvPr>
        </p:nvPicPr>
        <p:blipFill>
          <a:blip r:embed="rId1" cstate="print">
            <a:extLst>
              <a:ext uri="{BEBA8EAE-BF5A-486C-A8C5-ECC9F3942E4B}">
                <a14:imgProps xmlns:a14="http://schemas.microsoft.com/office/drawing/2010/main">
                  <a14:imgLayer r:embed="rId2">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3233420" y="1410335"/>
            <a:ext cx="8666480" cy="5314315"/>
          </a:xfrm>
        </p:spPr>
      </p:pic>
      <p:sp>
        <p:nvSpPr>
          <p:cNvPr id="10" name="文本框 9"/>
          <p:cNvSpPr txBox="1"/>
          <p:nvPr/>
        </p:nvSpPr>
        <p:spPr>
          <a:xfrm>
            <a:off x="254696" y="1620018"/>
            <a:ext cx="4735292" cy="524013"/>
          </a:xfrm>
          <a:prstGeom prst="rect">
            <a:avLst/>
          </a:prstGeom>
        </p:spPr>
        <p:txBody>
          <a:bodyPr vert="horz" lIns="91440" tIns="45720" rIns="91440" bIns="45720" rtlCol="0">
            <a:noAutofit/>
          </a:bodyPr>
          <a:lstStyle>
            <a:defPPr>
              <a:defRPr lang="zh-CN"/>
            </a:defPPr>
            <a:lvl1pPr marL="228600" indent="-228600">
              <a:lnSpc>
                <a:spcPct val="90000"/>
              </a:lnSpc>
              <a:spcBef>
                <a:spcPts val="1000"/>
              </a:spcBef>
              <a:buFont typeface="Arial" panose="020B0604020202020204" pitchFamily="34" charset="0"/>
              <a:buChar char="•"/>
              <a:defRPr sz="2800">
                <a:latin typeface="Times New Roman" panose="02020603050405020304" pitchFamily="18" charset="0"/>
                <a:cs typeface="Times New Roman" panose="02020603050405020304" pitchFamily="18" charset="0"/>
              </a:defRPr>
            </a:lvl1pPr>
            <a:lvl2pPr lvl="1" indent="-457200">
              <a:lnSpc>
                <a:spcPct val="100000"/>
              </a:lnSpc>
              <a:spcBef>
                <a:spcPts val="500"/>
              </a:spcBef>
              <a:buFont typeface="Wingdings" panose="05000000000000000000" pitchFamily="2" charset="2"/>
              <a:buChar char="Ø"/>
              <a:defRPr sz="2800" b="1">
                <a:latin typeface="黑体" panose="02010609060101010101" pitchFamily="49" charset="-122"/>
                <a:ea typeface="黑体" panose="02010609060101010101" pitchFamily="49"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lvl="1" indent="0">
              <a:buNone/>
            </a:pPr>
            <a:r>
              <a:rPr lang="en-US" altLang="zh-CN" dirty="0">
                <a:solidFill>
                  <a:srgbClr val="0000FF"/>
                </a:solidFill>
              </a:rPr>
              <a:t>1</a:t>
            </a:r>
            <a:r>
              <a:rPr lang="zh-CN" altLang="en-US" dirty="0">
                <a:solidFill>
                  <a:srgbClr val="0000FF"/>
                </a:solidFill>
              </a:rPr>
              <a:t>）普遍性转导</a:t>
            </a:r>
            <a:endParaRPr lang="en-US" altLang="zh-CN" dirty="0">
              <a:solidFill>
                <a:srgbClr val="0000FF"/>
              </a:solidFill>
            </a:endParaRPr>
          </a:p>
        </p:txBody>
      </p:sp>
      <p:sp>
        <p:nvSpPr>
          <p:cNvPr id="3" name="矩形 2"/>
          <p:cNvSpPr/>
          <p:nvPr/>
        </p:nvSpPr>
        <p:spPr>
          <a:xfrm>
            <a:off x="174625" y="551180"/>
            <a:ext cx="11937365" cy="988695"/>
          </a:xfrm>
          <a:prstGeom prst="rect">
            <a:avLst/>
          </a:prstGeom>
        </p:spPr>
        <p:txBody>
          <a:bodyPr vert="horz" lIns="91440" tIns="45720" rIns="91440" bIns="45720" rtlCol="0">
            <a:noAutofit/>
          </a:bodyPr>
          <a:lstStyle/>
          <a:p>
            <a:pPr marL="0" lvl="1">
              <a:spcBef>
                <a:spcPts val="500"/>
              </a:spcBef>
            </a:pPr>
            <a:r>
              <a:rPr lang="zh-CN" altLang="en-US" sz="2800" b="1" dirty="0">
                <a:latin typeface="黑体" panose="02010609060101010101" pitchFamily="49" charset="-122"/>
                <a:ea typeface="黑体" panose="02010609060101010101" pitchFamily="49" charset="-122"/>
                <a:cs typeface="Times New Roman" panose="02020603050405020304" pitchFamily="18" charset="0"/>
              </a:rPr>
              <a:t>    转导是指以噬菌体为媒介，将细菌的小片段染色体或基因从一个细菌转移到另一个细菌的过程。转导分为为</a:t>
            </a:r>
            <a:r>
              <a:rPr lang="zh-CN" altLang="en-US" sz="2800"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普遍性转导</a:t>
            </a:r>
            <a:r>
              <a:rPr lang="zh-CN" altLang="en-US" sz="2800" b="1" dirty="0">
                <a:latin typeface="黑体" panose="02010609060101010101" pitchFamily="49" charset="-122"/>
                <a:ea typeface="黑体" panose="02010609060101010101" pitchFamily="49" charset="-122"/>
                <a:cs typeface="Times New Roman" panose="02020603050405020304" pitchFamily="18" charset="0"/>
              </a:rPr>
              <a:t>和</a:t>
            </a:r>
            <a:r>
              <a:rPr lang="zh-CN" altLang="en-US" sz="2800"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特异性转导</a:t>
            </a:r>
            <a:r>
              <a:rPr lang="zh-CN" altLang="en-US" sz="2800" b="1" dirty="0">
                <a:latin typeface="黑体" panose="02010609060101010101" pitchFamily="49" charset="-122"/>
                <a:ea typeface="黑体" panose="02010609060101010101" pitchFamily="49" charset="-122"/>
                <a:cs typeface="Times New Roman" panose="02020603050405020304" pitchFamily="18" charset="0"/>
              </a:rPr>
              <a:t>。</a:t>
            </a:r>
            <a:endParaRPr lang="en-US" altLang="zh-CN" sz="2800" b="1" dirty="0">
              <a:latin typeface="黑体" panose="02010609060101010101" pitchFamily="49" charset="-122"/>
              <a:ea typeface="黑体" panose="02010609060101010101" pitchFamily="49" charset="-122"/>
              <a:cs typeface="Times New Roman" panose="02020603050405020304" pitchFamily="18" charset="0"/>
            </a:endParaRPr>
          </a:p>
        </p:txBody>
      </p:sp>
      <p:sp>
        <p:nvSpPr>
          <p:cNvPr id="6" name="矩形 5"/>
          <p:cNvSpPr/>
          <p:nvPr/>
        </p:nvSpPr>
        <p:spPr>
          <a:xfrm>
            <a:off x="310324" y="3089200"/>
            <a:ext cx="3202487" cy="2308324"/>
          </a:xfrm>
          <a:prstGeom prst="rect">
            <a:avLst/>
          </a:prstGeom>
        </p:spPr>
        <p:txBody>
          <a:bodyPr wrap="square">
            <a:spAutoFit/>
          </a:bodyPr>
          <a:lstStyle/>
          <a:p>
            <a:r>
              <a:rPr lang="en-US" altLang="zh-CN" sz="2400" b="1" dirty="0"/>
              <a:t>P22</a:t>
            </a:r>
            <a:r>
              <a:rPr lang="zh-CN" altLang="en-US" sz="2400" b="1" dirty="0"/>
              <a:t>感染细菌细胞时，细菌染色体断裂成小片段。</a:t>
            </a:r>
            <a:r>
              <a:rPr lang="zh-CN" altLang="en-US" sz="2400" b="1" dirty="0">
                <a:solidFill>
                  <a:srgbClr val="0000FF"/>
                </a:solidFill>
              </a:rPr>
              <a:t>在形成噬菌体颗粒时，偶尔错误地将细菌染色体的片段组合到头部</a:t>
            </a:r>
            <a:endParaRPr lang="zh-CN" altLang="en-US" sz="2400" b="1" dirty="0">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1"/>
          <a:srcRect t="5670" r="1662"/>
          <a:stretch>
            <a:fillRect/>
          </a:stretch>
        </p:blipFill>
        <p:spPr>
          <a:xfrm>
            <a:off x="1436126" y="1733123"/>
            <a:ext cx="9091634" cy="3156559"/>
          </a:xfrm>
          <a:prstGeom prst="rect">
            <a:avLst/>
          </a:prstGeom>
        </p:spPr>
      </p:pic>
      <p:sp>
        <p:nvSpPr>
          <p:cNvPr id="4" name="文本框 3"/>
          <p:cNvSpPr txBox="1"/>
          <p:nvPr/>
        </p:nvSpPr>
        <p:spPr>
          <a:xfrm>
            <a:off x="150313" y="5848"/>
            <a:ext cx="12041688" cy="1900065"/>
          </a:xfrm>
          <a:prstGeom prst="rect">
            <a:avLst/>
          </a:prstGeom>
        </p:spPr>
        <p:txBody>
          <a:bodyPr vert="horz" lIns="91440" tIns="45720" rIns="91440" bIns="45720" rtlCol="0">
            <a:noAutofit/>
          </a:bodyPr>
          <a:lstStyle>
            <a:defPPr>
              <a:defRPr lang="zh-CN"/>
            </a:defPPr>
            <a:lvl2pPr marL="0" lvl="1">
              <a:spcBef>
                <a:spcPts val="500"/>
              </a:spcBef>
              <a:defRPr sz="2800" b="1">
                <a:latin typeface="黑体" panose="02010609060101010101" pitchFamily="49" charset="-122"/>
                <a:ea typeface="黑体" panose="02010609060101010101" pitchFamily="49" charset="-122"/>
                <a:cs typeface="Times New Roman" panose="02020603050405020304" pitchFamily="18" charset="0"/>
              </a:defRPr>
            </a:lvl2pPr>
          </a:lstStyle>
          <a:p>
            <a:pPr lvl="1"/>
            <a:r>
              <a:rPr lang="zh-CN" altLang="en-US" dirty="0"/>
              <a:t>利用转导和部分二倍体，还</a:t>
            </a:r>
            <a:r>
              <a:rPr lang="zh-CN" altLang="en-US" dirty="0">
                <a:solidFill>
                  <a:srgbClr val="0000FF"/>
                </a:solidFill>
              </a:rPr>
              <a:t>可测定细菌基因间的连锁关系</a:t>
            </a:r>
            <a:r>
              <a:rPr lang="zh-CN" altLang="en-US" dirty="0"/>
              <a:t>。</a:t>
            </a:r>
            <a:endParaRPr lang="en-US" altLang="zh-CN" dirty="0"/>
          </a:p>
          <a:p>
            <a:pPr lvl="1"/>
            <a:r>
              <a:rPr lang="zh-CN" altLang="en-US" dirty="0"/>
              <a:t>例如，用大肠杆菌的</a:t>
            </a:r>
            <a:r>
              <a:rPr lang="en-US" altLang="zh-CN" dirty="0"/>
              <a:t>P1</a:t>
            </a:r>
            <a:r>
              <a:rPr lang="zh-CN" altLang="en-US" dirty="0"/>
              <a:t>噬菌体进行转导实验（供体 </a:t>
            </a:r>
            <a:r>
              <a:rPr lang="en-US" altLang="zh-CN" dirty="0" err="1"/>
              <a:t>thr</a:t>
            </a:r>
            <a:r>
              <a:rPr lang="en-US" altLang="zh-CN" baseline="30000" dirty="0"/>
              <a:t>+</a:t>
            </a:r>
            <a:r>
              <a:rPr lang="en-US" altLang="zh-CN" dirty="0"/>
              <a:t> leu</a:t>
            </a:r>
            <a:r>
              <a:rPr lang="en-US" altLang="zh-CN" baseline="30000" dirty="0"/>
              <a:t>+</a:t>
            </a:r>
            <a:r>
              <a:rPr lang="en-US" altLang="zh-CN" dirty="0"/>
              <a:t> </a:t>
            </a:r>
            <a:r>
              <a:rPr lang="en-US" altLang="zh-CN" dirty="0" err="1"/>
              <a:t>ara</a:t>
            </a:r>
            <a:r>
              <a:rPr lang="en-US" altLang="zh-CN" baseline="30000" dirty="0"/>
              <a:t>+</a:t>
            </a:r>
            <a:r>
              <a:rPr lang="en-US" altLang="zh-CN" dirty="0"/>
              <a:t> </a:t>
            </a:r>
            <a:r>
              <a:rPr lang="zh-CN" altLang="en-US" dirty="0"/>
              <a:t>；受体 </a:t>
            </a:r>
            <a:r>
              <a:rPr lang="en-US" altLang="zh-CN" dirty="0" err="1"/>
              <a:t>thr</a:t>
            </a:r>
            <a:r>
              <a:rPr lang="en-US" altLang="zh-CN" baseline="30000" dirty="0" err="1"/>
              <a:t>-</a:t>
            </a:r>
            <a:r>
              <a:rPr lang="en-US" altLang="zh-CN" dirty="0" err="1"/>
              <a:t>leu</a:t>
            </a:r>
            <a:r>
              <a:rPr lang="en-US" altLang="zh-CN" baseline="30000" dirty="0" err="1"/>
              <a:t>-</a:t>
            </a:r>
            <a:r>
              <a:rPr lang="en-US" altLang="zh-CN" dirty="0" err="1"/>
              <a:t>ara</a:t>
            </a:r>
            <a:r>
              <a:rPr lang="en-US" altLang="zh-CN" baseline="30000" dirty="0"/>
              <a:t>-</a:t>
            </a:r>
            <a:r>
              <a:rPr lang="zh-CN" altLang="en-US" dirty="0"/>
              <a:t>）。在受体中选择一个或几个供体的标记基因，然后鉴定非选择性标记基因的有或无。</a:t>
            </a:r>
            <a:endParaRPr lang="zh-CN" altLang="en-US" dirty="0"/>
          </a:p>
        </p:txBody>
      </p:sp>
      <p:sp>
        <p:nvSpPr>
          <p:cNvPr id="6" name="矩形 5"/>
          <p:cNvSpPr/>
          <p:nvPr/>
        </p:nvSpPr>
        <p:spPr>
          <a:xfrm>
            <a:off x="1436761" y="5144053"/>
            <a:ext cx="6939748" cy="480131"/>
          </a:xfrm>
          <a:prstGeom prst="rect">
            <a:avLst/>
          </a:prstGeom>
        </p:spPr>
        <p:txBody>
          <a:bodyPr vert="horz" lIns="91440" tIns="45720" rIns="91440" bIns="45720" rtlCol="0">
            <a:noAutofit/>
          </a:bodyPr>
          <a:lstStyle/>
          <a:p>
            <a:pPr>
              <a:lnSpc>
                <a:spcPct val="90000"/>
              </a:lnSpc>
              <a:spcBef>
                <a:spcPts val="1000"/>
              </a:spcBef>
            </a:pPr>
            <a:r>
              <a:rPr lang="zh-CN" altLang="en-US" sz="28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请推测基因的位置关系？</a:t>
            </a:r>
            <a:endParaRPr lang="en-US" altLang="zh-CN" sz="2800" b="1" dirty="0">
              <a:solidFill>
                <a:srgbClr val="0000FF"/>
              </a:solidFill>
              <a:latin typeface="黑体" panose="02010609060101010101" pitchFamily="49" charset="-122"/>
              <a:ea typeface="黑体" panose="02010609060101010101" pitchFamily="49" charset="-122"/>
              <a:cs typeface="Times New Roman" panose="02020603050405020304"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0901" y="5731044"/>
            <a:ext cx="4811018" cy="7323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fade">
                                      <p:cBhvr>
                                        <p:cTn id="7" dur="5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内容占位符 2"/>
          <p:cNvSpPr txBox="1"/>
          <p:nvPr/>
        </p:nvSpPr>
        <p:spPr>
          <a:xfrm>
            <a:off x="6695440" y="863600"/>
            <a:ext cx="5496560" cy="3505835"/>
          </a:xfrm>
          <a:prstGeom prst="rect">
            <a:avLst/>
          </a:prstGeom>
        </p:spPr>
        <p:txBody>
          <a:bodyPr vert="horz" lIns="91440" tIns="45720" rIns="91440" bIns="45720" rtlCol="0">
            <a:noAutofit/>
          </a:bodyPr>
          <a:lstStyle>
            <a:defPPr>
              <a:defRPr lang="zh-CN"/>
            </a:defPPr>
            <a:lvl2pPr marL="0" lvl="1">
              <a:spcBef>
                <a:spcPts val="500"/>
              </a:spcBef>
              <a:defRPr sz="2800" b="1">
                <a:latin typeface="黑体" panose="02010609060101010101" pitchFamily="49" charset="-122"/>
                <a:ea typeface="黑体" panose="02010609060101010101" pitchFamily="49" charset="-122"/>
                <a:cs typeface="Times New Roman" panose="02020603050405020304" pitchFamily="18" charset="0"/>
              </a:defRPr>
            </a:lvl2pPr>
          </a:lstStyle>
          <a:p>
            <a:pPr lvl="1"/>
            <a:r>
              <a:rPr lang="zh-CN" altLang="en-US" dirty="0"/>
              <a:t>特异性转导指的是噬菌体只转移细菌染色体的特定部分。</a:t>
            </a:r>
            <a:endParaRPr lang="en-US" altLang="zh-CN" dirty="0"/>
          </a:p>
          <a:p>
            <a:pPr lvl="1"/>
            <a:endParaRPr lang="en-US" altLang="zh-CN" dirty="0"/>
          </a:p>
          <a:p>
            <a:pPr lvl="1"/>
            <a:r>
              <a:rPr lang="zh-CN" altLang="en-US" dirty="0"/>
              <a:t>案例：大肠杆菌的一个溶原菌株 </a:t>
            </a:r>
            <a:r>
              <a:rPr lang="en-US" altLang="zh-CN" dirty="0"/>
              <a:t>K-12</a:t>
            </a:r>
            <a:r>
              <a:rPr lang="zh-CN" altLang="en-US" dirty="0"/>
              <a:t>（</a:t>
            </a:r>
            <a:r>
              <a:rPr lang="en-US" altLang="zh-CN" dirty="0"/>
              <a:t>λ</a:t>
            </a:r>
            <a:r>
              <a:rPr lang="zh-CN" altLang="en-US" dirty="0"/>
              <a:t>） 可由紫外线诱导用来进行转导，唯一成功的转导包括</a:t>
            </a:r>
            <a:r>
              <a:rPr lang="en-US" altLang="zh-CN" dirty="0"/>
              <a:t>gal</a:t>
            </a:r>
            <a:r>
              <a:rPr lang="zh-CN" altLang="en-US" dirty="0"/>
              <a:t>基因座（</a:t>
            </a:r>
            <a:r>
              <a:rPr lang="en-US" altLang="zh-CN" dirty="0">
                <a:sym typeface="+mn-ea"/>
              </a:rPr>
              <a:t>λ</a:t>
            </a:r>
            <a:r>
              <a:rPr lang="zh-CN" altLang="en-US" dirty="0"/>
              <a:t>总是附着到</a:t>
            </a:r>
            <a:r>
              <a:rPr lang="en-US" altLang="zh-CN" dirty="0"/>
              <a:t>gal</a:t>
            </a:r>
            <a:r>
              <a:rPr lang="zh-CN" altLang="en-US" dirty="0"/>
              <a:t>座位的临近位置）</a:t>
            </a:r>
            <a:r>
              <a:rPr lang="zh-CN" altLang="en-US" dirty="0">
                <a:sym typeface="+mn-ea"/>
              </a:rPr>
              <a:t>。</a:t>
            </a:r>
            <a:r>
              <a:rPr lang="zh-CN" altLang="en-US" dirty="0"/>
              <a:t>　</a:t>
            </a:r>
            <a:endParaRPr lang="zh-CN" altLang="en-US" dirty="0"/>
          </a:p>
        </p:txBody>
      </p:sp>
      <p:sp>
        <p:nvSpPr>
          <p:cNvPr id="2" name="矩形 1"/>
          <p:cNvSpPr/>
          <p:nvPr/>
        </p:nvSpPr>
        <p:spPr>
          <a:xfrm>
            <a:off x="6695442" y="174838"/>
            <a:ext cx="5734552" cy="480131"/>
          </a:xfrm>
          <a:prstGeom prst="rect">
            <a:avLst/>
          </a:prstGeom>
        </p:spPr>
        <p:txBody>
          <a:bodyPr vert="horz" lIns="91440" tIns="45720" rIns="91440" bIns="45720" rtlCol="0">
            <a:noAutofit/>
          </a:bodyPr>
          <a:lstStyle/>
          <a:p>
            <a:pPr>
              <a:lnSpc>
                <a:spcPct val="90000"/>
              </a:lnSpc>
              <a:spcBef>
                <a:spcPts val="1000"/>
              </a:spcBef>
            </a:pPr>
            <a:r>
              <a:rPr lang="zh-CN" altLang="en-US" sz="2800" b="1" dirty="0">
                <a:solidFill>
                  <a:srgbClr val="0000FF"/>
                </a:solidFill>
                <a:latin typeface="Times New Roman" panose="02020603050405020304" pitchFamily="18" charset="0"/>
                <a:cs typeface="Times New Roman" panose="02020603050405020304" pitchFamily="18" charset="0"/>
              </a:rPr>
              <a:t> </a:t>
            </a:r>
            <a:r>
              <a:rPr lang="en-US" altLang="zh-CN" sz="2800" b="1" dirty="0">
                <a:solidFill>
                  <a:srgbClr val="0000FF"/>
                </a:solidFill>
                <a:latin typeface="Times New Roman" panose="02020603050405020304" pitchFamily="18" charset="0"/>
                <a:cs typeface="Times New Roman" panose="02020603050405020304" pitchFamily="18" charset="0"/>
              </a:rPr>
              <a:t>2</a:t>
            </a:r>
            <a:r>
              <a:rPr lang="zh-CN" altLang="en-US" sz="2800" b="1" dirty="0">
                <a:solidFill>
                  <a:srgbClr val="0000FF"/>
                </a:solidFill>
                <a:latin typeface="Times New Roman" panose="02020603050405020304" pitchFamily="18" charset="0"/>
                <a:cs typeface="Times New Roman" panose="02020603050405020304" pitchFamily="18" charset="0"/>
              </a:rPr>
              <a:t>）特异性转导（局限性转导）</a:t>
            </a:r>
            <a:endParaRPr lang="en-US" altLang="zh-CN" sz="2800" b="1" dirty="0">
              <a:solidFill>
                <a:srgbClr val="0000FF"/>
              </a:solidFill>
              <a:latin typeface="Times New Roman" panose="02020603050405020304" pitchFamily="18" charset="0"/>
              <a:cs typeface="Times New Roman" panose="02020603050405020304" pitchFamily="18" charset="0"/>
            </a:endParaRPr>
          </a:p>
        </p:txBody>
      </p:sp>
      <p:pic>
        <p:nvPicPr>
          <p:cNvPr id="12" name="内容占位符 8"/>
          <p:cNvPicPr>
            <a:picLocks noGrp="1" noChangeAspect="1"/>
          </p:cNvPicPr>
          <p:nvPr>
            <p:ph sz="half" idx="1"/>
          </p:nvPr>
        </p:nvPicPr>
        <p:blipFill>
          <a:blip r:embed="rId1" cstate="print">
            <a:extLst>
              <a:ext uri="{BEBA8EAE-BF5A-486C-A8C5-ECC9F3942E4B}">
                <a14:imgProps xmlns:a14="http://schemas.microsoft.com/office/drawing/2010/main">
                  <a14:imgLayer r:embed="rId2">
                    <a14:imgEffect>
                      <a14:brightnessContrast bright="20000"/>
                    </a14:imgEffect>
                  </a14:imgLayer>
                </a14:imgProps>
              </a:ext>
              <a:ext uri="{28A0092B-C50C-407E-A947-70E740481C1C}">
                <a14:useLocalDpi xmlns:a14="http://schemas.microsoft.com/office/drawing/2010/main" val="0"/>
              </a:ext>
            </a:extLst>
          </a:blip>
          <a:stretch>
            <a:fillRect/>
          </a:stretch>
        </p:blipFill>
        <p:spPr>
          <a:xfrm>
            <a:off x="-1" y="0"/>
            <a:ext cx="6696351" cy="6858000"/>
          </a:xfr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内容占位符 8"/>
          <p:cNvPicPr>
            <a:picLocks noGrp="1" noChangeAspect="1"/>
          </p:cNvPicPr>
          <p:nvPr>
            <p:ph sz="half" idx="1"/>
          </p:nvPr>
        </p:nvPicPr>
        <p:blipFill>
          <a:blip r:embed="rId1" cstate="print">
            <a:extLst>
              <a:ext uri="{BEBA8EAE-BF5A-486C-A8C5-ECC9F3942E4B}">
                <a14:imgProps xmlns:a14="http://schemas.microsoft.com/office/drawing/2010/main">
                  <a14:imgLayer r:embed="rId2">
                    <a14:imgEffect>
                      <a14:brightnessContrast bright="20000"/>
                    </a14:imgEffect>
                  </a14:imgLayer>
                </a14:imgProps>
              </a:ext>
              <a:ext uri="{28A0092B-C50C-407E-A947-70E740481C1C}">
                <a14:useLocalDpi xmlns:a14="http://schemas.microsoft.com/office/drawing/2010/main" val="0"/>
              </a:ext>
            </a:extLst>
          </a:blip>
          <a:stretch>
            <a:fillRect/>
          </a:stretch>
        </p:blipFill>
        <p:spPr>
          <a:xfrm>
            <a:off x="-1" y="0"/>
            <a:ext cx="6696351" cy="6858000"/>
          </a:xfrm>
        </p:spPr>
      </p:pic>
      <p:sp>
        <p:nvSpPr>
          <p:cNvPr id="8" name="文本框 7"/>
          <p:cNvSpPr txBox="1"/>
          <p:nvPr/>
        </p:nvSpPr>
        <p:spPr>
          <a:xfrm>
            <a:off x="6372336" y="727635"/>
            <a:ext cx="5982503" cy="5726722"/>
          </a:xfrm>
          <a:prstGeom prst="rect">
            <a:avLst/>
          </a:prstGeom>
        </p:spPr>
        <p:txBody>
          <a:bodyPr vert="horz" lIns="91440" tIns="45720" rIns="91440" bIns="45720" rtlCol="0">
            <a:noAutofit/>
          </a:bodyPr>
          <a:lstStyle>
            <a:defPPr>
              <a:defRPr lang="zh-CN"/>
            </a:defPPr>
            <a:lvl2pPr marL="0" lvl="1">
              <a:spcBef>
                <a:spcPts val="500"/>
              </a:spcBef>
              <a:defRPr sz="2800" b="1">
                <a:latin typeface="黑体" panose="02010609060101010101" pitchFamily="49" charset="-122"/>
                <a:ea typeface="黑体" panose="02010609060101010101" pitchFamily="49" charset="-122"/>
                <a:cs typeface="Times New Roman" panose="02020603050405020304" pitchFamily="18" charset="0"/>
              </a:defRPr>
            </a:lvl2pPr>
          </a:lstStyle>
          <a:p>
            <a:pPr marL="457200" indent="-457200">
              <a:buFont typeface="+mj-lt"/>
              <a:buAutoNum type="arabicPeriod"/>
            </a:pP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λ </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噬菌体附着到 </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E.coli </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染色体的 </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gal+ </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座位附近，噬菌体染色体通过交换整合到细菌染色体，成为</a:t>
            </a:r>
            <a:r>
              <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原噬菌体</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400" b="1" dirty="0">
              <a:latin typeface="Times New Roman" panose="02020603050405020304" pitchFamily="18" charset="0"/>
              <a:ea typeface="黑体" panose="02010609060101010101" pitchFamily="49" charset="-122"/>
              <a:cs typeface="Times New Roman" panose="02020603050405020304" pitchFamily="18" charset="0"/>
            </a:endParaRPr>
          </a:p>
          <a:p>
            <a:pPr marL="457200" indent="-457200">
              <a:buFont typeface="+mj-lt"/>
              <a:buAutoNum type="arabicPeriod"/>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通过不规则交换，产生转导噬菌体</a:t>
            </a:r>
            <a:r>
              <a:rPr lang="en-US" altLang="zh-CN" sz="2400" b="1" dirty="0" err="1">
                <a:latin typeface="Times New Roman" panose="02020603050405020304" pitchFamily="18" charset="0"/>
                <a:ea typeface="黑体" panose="02010609060101010101" pitchFamily="49" charset="-122"/>
                <a:cs typeface="Times New Roman" panose="02020603050405020304" pitchFamily="18" charset="0"/>
              </a:rPr>
              <a:t>λd</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 gal</a:t>
            </a:r>
            <a:r>
              <a:rPr lang="en-US" altLang="zh-CN" sz="2400" b="1" baseline="300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400" b="1" dirty="0">
              <a:latin typeface="Times New Roman" panose="02020603050405020304" pitchFamily="18" charset="0"/>
              <a:ea typeface="黑体" panose="02010609060101010101" pitchFamily="49" charset="-122"/>
              <a:cs typeface="Times New Roman" panose="02020603050405020304" pitchFamily="18" charset="0"/>
            </a:endParaRPr>
          </a:p>
          <a:p>
            <a:pPr marL="457200" indent="-457200">
              <a:buFont typeface="+mj-lt"/>
              <a:buAutoNum type="arabicPeriod"/>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转导噬菌体</a:t>
            </a:r>
            <a:r>
              <a:rPr lang="en-US" altLang="zh-CN" sz="2400" b="1" dirty="0" err="1">
                <a:latin typeface="Times New Roman" panose="02020603050405020304" pitchFamily="18" charset="0"/>
                <a:ea typeface="黑体" panose="02010609060101010101" pitchFamily="49" charset="-122"/>
                <a:cs typeface="Times New Roman" panose="02020603050405020304" pitchFamily="18" charset="0"/>
              </a:rPr>
              <a:t>λd</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 gal</a:t>
            </a:r>
            <a:r>
              <a:rPr lang="en-US" altLang="zh-CN" sz="2400" b="1" baseline="300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感染 </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gal</a:t>
            </a:r>
            <a:r>
              <a:rPr lang="en-US" altLang="zh-CN" sz="2400" b="1" baseline="300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细菌，形成转导子</a:t>
            </a:r>
            <a:r>
              <a:rPr lang="en-US" altLang="zh-CN" sz="2400" b="1" dirty="0" err="1">
                <a:latin typeface="Times New Roman" panose="02020603050405020304" pitchFamily="18" charset="0"/>
                <a:ea typeface="黑体" panose="02010609060101010101" pitchFamily="49" charset="-122"/>
                <a:cs typeface="Times New Roman" panose="02020603050405020304" pitchFamily="18" charset="0"/>
              </a:rPr>
              <a:t>λd</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 gal</a:t>
            </a:r>
            <a:r>
              <a:rPr lang="en-US" altLang="zh-CN" sz="2400" b="1" baseline="300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/gal</a:t>
            </a:r>
            <a:r>
              <a:rPr lang="en-US" altLang="zh-CN" sz="2400" b="1" baseline="300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。转导子中少数是稳定的 </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gal</a:t>
            </a:r>
            <a:r>
              <a:rPr lang="en-US" altLang="zh-CN" sz="2400" b="1" baseline="300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型，这是由 </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gal </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座位上的重组形成的（</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3a</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）；但大多数是不稳定转导子，是</a:t>
            </a:r>
            <a:r>
              <a:rPr lang="en-US" altLang="zh-CN" sz="2400" b="1" dirty="0" err="1">
                <a:latin typeface="Times New Roman" panose="02020603050405020304" pitchFamily="18" charset="0"/>
                <a:ea typeface="黑体" panose="02010609060101010101" pitchFamily="49" charset="-122"/>
                <a:cs typeface="Times New Roman" panose="02020603050405020304" pitchFamily="18" charset="0"/>
              </a:rPr>
              <a:t>λd</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 gal</a:t>
            </a:r>
            <a:r>
              <a:rPr lang="en-US" altLang="zh-CN" sz="2400" b="1" baseline="300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/gal</a:t>
            </a:r>
            <a:r>
              <a:rPr lang="en-US" altLang="zh-CN" sz="2400" b="1" baseline="300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型（</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3b</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400" b="1" dirty="0">
              <a:latin typeface="Times New Roman" panose="02020603050405020304" pitchFamily="18" charset="0"/>
              <a:ea typeface="黑体" panose="02010609060101010101" pitchFamily="49" charset="-122"/>
              <a:cs typeface="Times New Roman" panose="02020603050405020304" pitchFamily="18" charset="0"/>
            </a:endParaRPr>
          </a:p>
          <a:p>
            <a:pPr marL="457200" indent="-457200">
              <a:buFont typeface="+mj-lt"/>
              <a:buAutoNum type="arabicPeriod"/>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不稳定转导子在少数情况下会分离出 </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gal</a:t>
            </a:r>
            <a:r>
              <a:rPr lang="en-US" altLang="zh-CN" sz="2400" b="1" baseline="300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细胞，这可用</a:t>
            </a:r>
            <a:r>
              <a:rPr lang="en-US" altLang="zh-CN" sz="2400" b="1" dirty="0" err="1">
                <a:latin typeface="Times New Roman" panose="02020603050405020304" pitchFamily="18" charset="0"/>
                <a:ea typeface="黑体" panose="02010609060101010101" pitchFamily="49" charset="-122"/>
                <a:cs typeface="Times New Roman" panose="02020603050405020304" pitchFamily="18" charset="0"/>
              </a:rPr>
              <a:t>λd</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 gal</a:t>
            </a:r>
            <a:r>
              <a:rPr lang="en-US" altLang="zh-CN" sz="2400" b="1" baseline="300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染色体的切除来说明，因为</a:t>
            </a:r>
            <a:r>
              <a:rPr lang="en-US" altLang="zh-CN" sz="2400" b="1" dirty="0" err="1">
                <a:latin typeface="Times New Roman" panose="02020603050405020304" pitchFamily="18" charset="0"/>
                <a:ea typeface="黑体" panose="02010609060101010101" pitchFamily="49" charset="-122"/>
                <a:cs typeface="Times New Roman" panose="02020603050405020304" pitchFamily="18" charset="0"/>
              </a:rPr>
              <a:t>λd</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不能复制，所以在细胞分裂中丢失或被稀释。</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7" name="Rectangle 3"/>
          <p:cNvSpPr>
            <a:spLocks noGrp="1"/>
          </p:cNvSpPr>
          <p:nvPr>
            <p:ph idx="1"/>
          </p:nvPr>
        </p:nvSpPr>
        <p:spPr>
          <a:xfrm>
            <a:off x="609600" y="1125538"/>
            <a:ext cx="10972800" cy="4525962"/>
          </a:xfrm>
          <a:noFill/>
          <a:ln>
            <a:noFill/>
          </a:ln>
        </p:spPr>
        <p:txBody>
          <a:bodyPr anchor="t" anchorCtr="0"/>
          <a:lstStyle/>
          <a:p>
            <a:pPr eaLnBrk="1" hangingPunct="1">
              <a:buNone/>
            </a:pPr>
            <a:r>
              <a:rPr lang="en-US" altLang="zh-CN" sz="2400" b="1" dirty="0"/>
              <a:t>1</a:t>
            </a:r>
            <a:r>
              <a:rPr lang="zh-CN" altLang="en-US" sz="2400" b="1" dirty="0"/>
              <a:t>．菌株</a:t>
            </a:r>
            <a:r>
              <a:rPr lang="en-US" altLang="zh-CN" sz="2400" b="1" dirty="0"/>
              <a:t>A</a:t>
            </a:r>
            <a:r>
              <a:rPr lang="zh-CN" altLang="en-US" sz="2400" b="1" dirty="0"/>
              <a:t>可以以石油燃料为营养，菌株</a:t>
            </a:r>
            <a:r>
              <a:rPr lang="en-US" altLang="zh-CN" sz="2400" b="1" dirty="0"/>
              <a:t>B</a:t>
            </a:r>
            <a:r>
              <a:rPr lang="zh-CN" altLang="en-US" sz="2400" b="1" dirty="0"/>
              <a:t>则不能利用石油燃料。以石油燃料为营养，把活化的菌株</a:t>
            </a:r>
            <a:r>
              <a:rPr lang="en-US" altLang="zh-CN" sz="2400" b="1" dirty="0"/>
              <a:t>B</a:t>
            </a:r>
            <a:r>
              <a:rPr lang="zh-CN" altLang="en-US" sz="2400" b="1" dirty="0"/>
              <a:t>和杀死的菌株</a:t>
            </a:r>
            <a:r>
              <a:rPr lang="en-US" altLang="zh-CN" sz="2400" b="1" dirty="0"/>
              <a:t>A</a:t>
            </a:r>
            <a:r>
              <a:rPr lang="zh-CN" altLang="en-US" sz="2400" b="1" dirty="0"/>
              <a:t>混合在一起，几小时后，混合物变得浑浊，经检查得知，浑浊是由于菌株</a:t>
            </a:r>
            <a:r>
              <a:rPr lang="en-US" altLang="zh-CN" sz="2400" b="1" dirty="0"/>
              <a:t>A</a:t>
            </a:r>
            <a:r>
              <a:rPr lang="zh-CN" altLang="en-US" sz="2400" b="1" dirty="0"/>
              <a:t>快速生长的结果，推测引起这种现象的原因是   </a:t>
            </a:r>
            <a:endParaRPr lang="zh-CN" altLang="en-US" sz="2400" b="1" dirty="0"/>
          </a:p>
          <a:p>
            <a:pPr eaLnBrk="1" hangingPunct="1">
              <a:buNone/>
            </a:pPr>
            <a:r>
              <a:rPr lang="zh-CN" altLang="en-US" sz="2400" b="1" dirty="0"/>
              <a:t>    </a:t>
            </a:r>
            <a:r>
              <a:rPr lang="en-US" altLang="zh-CN" sz="2400" b="1" dirty="0"/>
              <a:t>A</a:t>
            </a:r>
            <a:r>
              <a:rPr lang="zh-CN" altLang="en-US" sz="2400" b="1" dirty="0"/>
              <a:t>．性导            </a:t>
            </a:r>
            <a:r>
              <a:rPr lang="en-US" altLang="zh-CN" sz="2400" b="1" dirty="0"/>
              <a:t>B</a:t>
            </a:r>
            <a:r>
              <a:rPr lang="zh-CN" altLang="en-US" sz="2400" b="1" dirty="0"/>
              <a:t>．转录            </a:t>
            </a:r>
            <a:r>
              <a:rPr lang="en-US" altLang="zh-CN" sz="2400" b="1" dirty="0"/>
              <a:t>C</a:t>
            </a:r>
            <a:r>
              <a:rPr lang="zh-CN" altLang="en-US" sz="2400" b="1" dirty="0"/>
              <a:t>．转导             </a:t>
            </a:r>
            <a:r>
              <a:rPr lang="en-US" altLang="zh-CN" sz="2400" b="1" dirty="0"/>
              <a:t>D</a:t>
            </a:r>
            <a:r>
              <a:rPr lang="zh-CN" altLang="en-US" sz="2400" b="1" dirty="0"/>
              <a:t>．转化</a:t>
            </a:r>
            <a:endParaRPr lang="zh-CN" altLang="en-US" sz="2400" b="1" dirty="0"/>
          </a:p>
        </p:txBody>
      </p:sp>
      <p:sp>
        <p:nvSpPr>
          <p:cNvPr id="6474757" name="Text Box 5"/>
          <p:cNvSpPr txBox="1">
            <a:spLocks noChangeArrowheads="1"/>
          </p:cNvSpPr>
          <p:nvPr/>
        </p:nvSpPr>
        <p:spPr bwMode="auto">
          <a:xfrm>
            <a:off x="5808134" y="2622551"/>
            <a:ext cx="575733" cy="369332"/>
          </a:xfrm>
          <a:prstGeom prst="rect">
            <a:avLst/>
          </a:prstGeom>
          <a:noFill/>
          <a:ln>
            <a:noFill/>
          </a:ln>
          <a:effectLst/>
        </p:spPr>
        <p:txBody>
          <a:bodyPr>
            <a:spAutoFit/>
          </a:bodyPr>
          <a:lstStyle/>
          <a:p>
            <a:pPr marR="0" algn="ctr" defTabSz="914400">
              <a:spcBef>
                <a:spcPct val="50000"/>
              </a:spcBef>
              <a:buClrTx/>
              <a:buSzTx/>
              <a:buFont typeface="Arial" panose="020B0604020202020204" pitchFamily="34" charset="0"/>
            </a:pPr>
            <a:r>
              <a:rPr kumimoji="0" lang="en-US" altLang="zh-CN" kern="1200" cap="none" spc="0" normalizeH="0" baseline="0" noProof="1">
                <a:solidFill>
                  <a:srgbClr val="FF0000"/>
                </a:solidFill>
                <a:effectLst>
                  <a:outerShdw blurRad="38100" dist="38100" dir="2700000">
                    <a:srgbClr val="000000"/>
                  </a:outerShdw>
                </a:effectLst>
                <a:latin typeface="Arial" panose="020B0604020202020204" pitchFamily="34" charset="0"/>
                <a:ea typeface="黑体" panose="02010609060101010101" pitchFamily="49" charset="-122"/>
                <a:cs typeface="+mn-cs"/>
                <a:sym typeface="+mn-ea"/>
              </a:rPr>
              <a:t>D</a:t>
            </a:r>
            <a:endParaRPr kumimoji="0" lang="en-US" altLang="zh-CN" kern="1200" cap="none" spc="0" normalizeH="0" baseline="0" noProof="1">
              <a:solidFill>
                <a:srgbClr val="FF0000"/>
              </a:solidFill>
              <a:effectLst>
                <a:outerShdw blurRad="38100" dist="38100" dir="2700000">
                  <a:srgbClr val="000000"/>
                </a:outerShdw>
              </a:effectLst>
              <a:latin typeface="Arial" panose="020B0604020202020204" pitchFamily="34" charset="0"/>
              <a:ea typeface="黑体" panose="02010609060101010101" pitchFamily="49" charset="-122"/>
              <a:cs typeface="+mn-cs"/>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747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74757" grpId="0"/>
    </p:bldLst>
  </p:timing>
</p:sld>
</file>

<file path=ppt/tags/tag1.xml><?xml version="1.0" encoding="utf-8"?>
<p:tagLst xmlns:p="http://schemas.openxmlformats.org/presentationml/2006/main">
  <p:tag name="KSO_WPP_MARK_KEY" val="d652e8e8-95a2-4302-9435-600ca1be8081"/>
  <p:tag name="COMMONDATA" val="eyJoZGlkIjoiYmMyYTQ5OGY3YzE5OGVkNjIzYmQ1NzcyODljYzczOD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7283</Words>
  <Application>WPS 演示</Application>
  <PresentationFormat>宽屏</PresentationFormat>
  <Paragraphs>340</Paragraphs>
  <Slides>48</Slides>
  <Notes>12</Notes>
  <HiddenSlides>1</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48</vt:i4>
      </vt:variant>
    </vt:vector>
  </HeadingPairs>
  <TitlesOfParts>
    <vt:vector size="60" baseType="lpstr">
      <vt:lpstr>Arial</vt:lpstr>
      <vt:lpstr>宋体</vt:lpstr>
      <vt:lpstr>Wingdings</vt:lpstr>
      <vt:lpstr>Times New Roman</vt:lpstr>
      <vt:lpstr>黑体</vt:lpstr>
      <vt:lpstr>微软雅黑</vt:lpstr>
      <vt:lpstr>Arial Unicode MS</vt:lpstr>
      <vt:lpstr>等线 Light</vt:lpstr>
      <vt:lpstr>等线</vt:lpstr>
      <vt:lpstr>Calibri</vt:lpstr>
      <vt:lpstr>Symbol</vt:lpstr>
      <vt:lpstr>Office 主题​​</vt:lpstr>
      <vt:lpstr>第一节 细菌和病毒遗传研究的意义</vt:lpstr>
      <vt:lpstr>一、细菌的生物学特征</vt:lpstr>
      <vt:lpstr>一、细菌的生物学特征</vt:lpstr>
      <vt:lpstr>二、病毒的生物学特征</vt:lpstr>
      <vt:lpstr>三、细菌和病毒在遗传研究中的优越性</vt:lpstr>
      <vt:lpstr>四、细菌和病毒的拟有性过程</vt:lpstr>
      <vt:lpstr> 五、细菌遗传的实验研究方法</vt:lpstr>
      <vt:lpstr>(一)细胞计数(培养物细胞浓度)</vt:lpstr>
      <vt:lpstr>(二)建立纯系的方法——纯培养</vt:lpstr>
      <vt:lpstr>(三)选择培养法鉴定突变型与重组型</vt:lpstr>
      <vt:lpstr>第二节  细菌的遗传重组</vt:lpstr>
      <vt:lpstr>PowerPoint 演示文稿</vt:lpstr>
      <vt:lpstr>Griffith对其试验结论及发展</vt:lpstr>
      <vt:lpstr>艾弗里(Avery)等的转化实验(1944)</vt:lpstr>
      <vt:lpstr>实验结论：</vt:lpstr>
      <vt:lpstr>*共同转化与遗传图谱绘制</vt:lpstr>
      <vt:lpstr>(一)接合现象的发现和证实</vt:lpstr>
      <vt:lpstr>PowerPoint 演示文稿</vt:lpstr>
      <vt:lpstr>（二）F 因子与接合</vt:lpstr>
      <vt:lpstr>PowerPoint 演示文稿</vt:lpstr>
      <vt:lpstr>PowerPoint 演示文稿</vt:lpstr>
      <vt:lpstr>（三）高频重组与中断杂交技术</vt:lpstr>
      <vt:lpstr>PowerPoint 演示文稿</vt:lpstr>
      <vt:lpstr>PowerPoint 演示文稿</vt:lpstr>
      <vt:lpstr>PowerPoint 演示文稿</vt:lpstr>
      <vt:lpstr>PowerPoint 演示文稿</vt:lpstr>
      <vt:lpstr>PowerPoint 演示文稿</vt:lpstr>
      <vt:lpstr>PowerPoint 演示文稿</vt:lpstr>
      <vt:lpstr>（四）F因子整合到细菌染色体的过程</vt:lpstr>
      <vt:lpstr>PowerPoint 演示文稿</vt:lpstr>
      <vt:lpstr>（五）细菌基因的交换过程</vt:lpstr>
      <vt:lpstr>PowerPoint 演示文稿</vt:lpstr>
      <vt:lpstr>(六)重组作图 </vt:lpstr>
      <vt:lpstr>PowerPoint 演示文稿</vt:lpstr>
      <vt:lpstr>PowerPoint 演示文稿</vt:lpstr>
      <vt:lpstr>PowerPoint 演示文稿</vt:lpstr>
      <vt:lpstr>一、烈性噬菌体——使宿主菌发生裂解的噬菌体</vt:lpstr>
      <vt:lpstr>PowerPoint 演示文稿</vt:lpstr>
      <vt:lpstr>二、噬菌体的基因重组</vt:lpstr>
      <vt:lpstr>PowerPoint 演示文稿</vt:lpstr>
      <vt:lpstr>PowerPoint 演示文稿</vt:lpstr>
      <vt:lpstr>三、溶原性细菌</vt:lpstr>
      <vt:lpstr>PowerPoint 演示文稿</vt:lpstr>
      <vt:lpstr>四、转导（transduction）</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第一节 细菌和病毒遗传研究的意义</dc:title>
  <dc:creator> </dc:creator>
  <cp:lastModifiedBy>陈新奇</cp:lastModifiedBy>
  <cp:revision>110</cp:revision>
  <dcterms:created xsi:type="dcterms:W3CDTF">2019-11-07T07:58:00Z</dcterms:created>
  <dcterms:modified xsi:type="dcterms:W3CDTF">2025-03-03T07:14:24Z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2052-12.1.0.19770</vt:lpwstr>
  </property>
  <property fmtid="{D5CDD505-2E9C-101B-9397-08002B2CF9AE}" pid="3" name="ICV">
    <vt:lpwstr>9CC7BE29BBFF4FB08BC6338E23F6366F_12</vt:lpwstr>
  </property>
</Properties>
</file>