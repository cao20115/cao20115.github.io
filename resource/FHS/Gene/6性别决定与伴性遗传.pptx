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35"/>
  </p:notesMasterIdLst>
  <p:sldIdLst>
    <p:sldId id="263" r:id="rId3"/>
    <p:sldId id="353" r:id="rId4"/>
    <p:sldId id="354" r:id="rId5"/>
    <p:sldId id="355" r:id="rId6"/>
    <p:sldId id="356" r:id="rId7"/>
    <p:sldId id="321" r:id="rId8"/>
    <p:sldId id="325" r:id="rId9"/>
    <p:sldId id="357" r:id="rId10"/>
    <p:sldId id="4619" r:id="rId11"/>
    <p:sldId id="328" r:id="rId12"/>
    <p:sldId id="347" r:id="rId13"/>
    <p:sldId id="329" r:id="rId14"/>
    <p:sldId id="331" r:id="rId15"/>
    <p:sldId id="332" r:id="rId16"/>
    <p:sldId id="333" r:id="rId17"/>
    <p:sldId id="348" r:id="rId18"/>
    <p:sldId id="336" r:id="rId19"/>
    <p:sldId id="337" r:id="rId20"/>
    <p:sldId id="349" r:id="rId21"/>
    <p:sldId id="343" r:id="rId22"/>
    <p:sldId id="341" r:id="rId23"/>
    <p:sldId id="350" r:id="rId24"/>
    <p:sldId id="342" r:id="rId25"/>
    <p:sldId id="4600" r:id="rId26"/>
    <p:sldId id="4264" r:id="rId27"/>
    <p:sldId id="4310" r:id="rId28"/>
    <p:sldId id="4312" r:id="rId29"/>
    <p:sldId id="4313" r:id="rId30"/>
    <p:sldId id="4309" r:id="rId31"/>
    <p:sldId id="4316" r:id="rId32"/>
    <p:sldId id="4327" r:id="rId33"/>
    <p:sldId id="4315"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CC"/>
    <a:srgbClr val="3A5991"/>
    <a:srgbClr val="EDEEF2"/>
    <a:srgbClr val="063090"/>
    <a:srgbClr val="FFFF00"/>
    <a:srgbClr val="031386"/>
    <a:srgbClr val="006699"/>
    <a:srgbClr val="0046D4"/>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05" autoAdjust="0"/>
    <p:restoredTop sz="95897" autoAdjust="0"/>
  </p:normalViewPr>
  <p:slideViewPr>
    <p:cSldViewPr snapToGrid="0">
      <p:cViewPr>
        <p:scale>
          <a:sx n="75" d="100"/>
          <a:sy n="75" d="100"/>
        </p:scale>
        <p:origin x="2100" y="834"/>
      </p:cViewPr>
      <p:guideLst>
        <p:guide orient="horz" pos="2160"/>
        <p:guide pos="3840"/>
      </p:guideLst>
    </p:cSldViewPr>
  </p:slideViewPr>
  <p:notesTextViewPr>
    <p:cViewPr>
      <p:scale>
        <a:sx n="1" d="1"/>
        <a:sy n="1" d="1"/>
      </p:scale>
      <p:origin x="0" y="0"/>
    </p:cViewPr>
  </p:notesTextViewPr>
  <p:sorterViewPr>
    <p:cViewPr>
      <p:scale>
        <a:sx n="100" d="100"/>
        <a:sy n="100" d="100"/>
      </p:scale>
      <p:origin x="0" y="-2796"/>
    </p:cViewPr>
  </p:sorterViewPr>
  <p:notesViewPr>
    <p:cSldViewPr snapToGrid="0">
      <p:cViewPr varScale="1">
        <p:scale>
          <a:sx n="66" d="100"/>
          <a:sy n="66" d="100"/>
        </p:scale>
        <p:origin x="2323"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62BE6C-E1A6-417E-951F-337EB91C0C8D}" type="datetimeFigureOut">
              <a:rPr lang="zh-CN" altLang="en-US" smtClean="0"/>
              <a:t>2024/6/25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31CDC8-E1E3-4EFD-A43E-3723536F9B50}" type="slidenum">
              <a:rPr lang="zh-CN" altLang="en-US" smtClean="0"/>
              <a:t>‹#›</a:t>
            </a:fld>
            <a:endParaRPr lang="zh-CN" altLang="en-US"/>
          </a:p>
        </p:txBody>
      </p:sp>
    </p:spTree>
    <p:extLst>
      <p:ext uri="{BB962C8B-B14F-4D97-AF65-F5344CB8AC3E}">
        <p14:creationId xmlns:p14="http://schemas.microsoft.com/office/powerpoint/2010/main" val="2330475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31CDC8-E1E3-4EFD-A43E-3723536F9B50}" type="slidenum">
              <a:rPr lang="zh-CN" altLang="en-US" smtClean="0"/>
              <a:t>1</a:t>
            </a:fld>
            <a:endParaRPr lang="zh-CN" altLang="en-US"/>
          </a:p>
        </p:txBody>
      </p:sp>
    </p:spTree>
    <p:extLst>
      <p:ext uri="{BB962C8B-B14F-4D97-AF65-F5344CB8AC3E}">
        <p14:creationId xmlns:p14="http://schemas.microsoft.com/office/powerpoint/2010/main" val="3471985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a:ln/>
        </p:spPr>
      </p:sp>
      <p:sp>
        <p:nvSpPr>
          <p:cNvPr id="10243"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prstTxWarp prst="textNoShape">
              <a:avLst/>
            </a:prstTxWarp>
          </a:bodyPr>
          <a:lstStyle/>
          <a:p>
            <a:endParaRPr lang="zh-CN" altLang="en-US"/>
          </a:p>
        </p:txBody>
      </p:sp>
      <p:sp>
        <p:nvSpPr>
          <p:cNvPr id="10244" name="灯片编号占位符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90E38721-3318-4267-8DF1-9CF556B9BC58}" type="slidenum">
              <a:rPr altLang="zh-CN"/>
              <a:pPr/>
              <a:t>3</a:t>
            </a:fld>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例外的卵细胞可以被带有</a:t>
            </a:r>
            <a:r>
              <a:rPr lang="en-US" altLang="zh-CN" sz="1200" dirty="0"/>
              <a:t>X</a:t>
            </a:r>
            <a:r>
              <a:rPr lang="zh-CN" altLang="en-US" sz="1200" dirty="0"/>
              <a:t>的精子受精，也可以被带有</a:t>
            </a:r>
            <a:r>
              <a:rPr lang="en-US" altLang="zh-CN" sz="1200" dirty="0"/>
              <a:t>Y</a:t>
            </a:r>
            <a:r>
              <a:rPr lang="zh-CN" altLang="en-US" sz="1200" dirty="0"/>
              <a:t>的精子受精。</a:t>
            </a:r>
            <a:r>
              <a:rPr lang="en-US" altLang="zh-CN" sz="1200" dirty="0"/>
              <a:t>XX</a:t>
            </a:r>
            <a:r>
              <a:rPr lang="zh-CN" altLang="en-US" sz="1200" dirty="0"/>
              <a:t>卵被</a:t>
            </a:r>
            <a:r>
              <a:rPr lang="en-US" altLang="zh-CN" sz="1200" dirty="0"/>
              <a:t>Y</a:t>
            </a:r>
            <a:r>
              <a:rPr lang="zh-CN" altLang="en-US" sz="1200" dirty="0"/>
              <a:t>精子受精，则得</a:t>
            </a:r>
            <a:r>
              <a:rPr lang="en-US" altLang="zh-CN" sz="1200" dirty="0"/>
              <a:t>XXY</a:t>
            </a:r>
            <a:r>
              <a:rPr lang="zh-CN" altLang="en-US" sz="1200" dirty="0"/>
              <a:t>个体，这是例外的白眼雌蝇。无</a:t>
            </a:r>
            <a:r>
              <a:rPr lang="en-US" altLang="zh-CN" sz="1200" dirty="0"/>
              <a:t>X</a:t>
            </a:r>
            <a:r>
              <a:rPr lang="zh-CN" altLang="en-US" sz="1200" dirty="0"/>
              <a:t>卵被</a:t>
            </a:r>
            <a:r>
              <a:rPr lang="en-US" altLang="zh-CN" sz="1200" dirty="0"/>
              <a:t>X</a:t>
            </a:r>
            <a:r>
              <a:rPr lang="zh-CN" altLang="en-US" sz="1200" dirty="0"/>
              <a:t>精子受精，得到有</a:t>
            </a:r>
            <a:r>
              <a:rPr lang="en-US" altLang="zh-CN" sz="1200" dirty="0"/>
              <a:t>X</a:t>
            </a:r>
            <a:r>
              <a:rPr lang="zh-CN" altLang="en-US" sz="1200" dirty="0"/>
              <a:t>而无</a:t>
            </a:r>
            <a:r>
              <a:rPr lang="en-US" altLang="zh-CN" sz="1200" dirty="0"/>
              <a:t>Y</a:t>
            </a:r>
            <a:r>
              <a:rPr lang="zh-CN" altLang="en-US" sz="1200" dirty="0"/>
              <a:t>的个体（</a:t>
            </a:r>
            <a:r>
              <a:rPr lang="en-US" altLang="zh-CN" sz="1200" dirty="0"/>
              <a:t>XO</a:t>
            </a:r>
            <a:r>
              <a:rPr lang="zh-CN" altLang="en-US" sz="1200" dirty="0"/>
              <a:t>），这就是例外的红眼雄蝇。另外还可能有</a:t>
            </a:r>
            <a:r>
              <a:rPr lang="en-US" altLang="zh-CN" sz="1200" dirty="0"/>
              <a:t>Y</a:t>
            </a:r>
            <a:r>
              <a:rPr lang="zh-CN" altLang="en-US" sz="1200" dirty="0"/>
              <a:t>无</a:t>
            </a:r>
            <a:r>
              <a:rPr lang="en-US" altLang="zh-CN" sz="1200" dirty="0"/>
              <a:t>X</a:t>
            </a:r>
            <a:r>
              <a:rPr lang="zh-CN" altLang="en-US" sz="1200" dirty="0"/>
              <a:t>的受精卵（</a:t>
            </a:r>
            <a:r>
              <a:rPr lang="en-US" altLang="zh-CN" sz="1200" dirty="0"/>
              <a:t>YO</a:t>
            </a:r>
            <a:r>
              <a:rPr lang="zh-CN" altLang="en-US" sz="1200" dirty="0"/>
              <a:t>），它们不能发育成为成虫； 也有</a:t>
            </a:r>
            <a:r>
              <a:rPr lang="en-US" altLang="zh-CN" sz="1200" dirty="0"/>
              <a:t>3</a:t>
            </a:r>
            <a:r>
              <a:rPr lang="zh-CN" altLang="en-US" sz="1200" dirty="0"/>
              <a:t>个</a:t>
            </a:r>
            <a:r>
              <a:rPr lang="en-US" altLang="zh-CN" sz="1200" dirty="0"/>
              <a:t>X</a:t>
            </a:r>
            <a:r>
              <a:rPr lang="zh-CN" altLang="en-US" sz="1200" dirty="0"/>
              <a:t>的受精卵（</a:t>
            </a:r>
            <a:r>
              <a:rPr lang="en-US" altLang="zh-CN" sz="1200" dirty="0"/>
              <a:t>XXX</a:t>
            </a:r>
            <a:r>
              <a:rPr lang="zh-CN" altLang="en-US" sz="1200" dirty="0"/>
              <a:t>），大多数也死亡，偶尔有发育成为成虫的，表现为红眼雌蝇。</a:t>
            </a: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fld id="{8C31CDC8-E1E3-4EFD-A43E-3723536F9B50}" type="slidenum">
              <a:rPr lang="zh-CN" altLang="en-US" smtClean="0"/>
              <a:t>12</a:t>
            </a:fld>
            <a:endParaRPr lang="zh-CN" altLang="en-US"/>
          </a:p>
        </p:txBody>
      </p:sp>
    </p:spTree>
    <p:extLst>
      <p:ext uri="{BB962C8B-B14F-4D97-AF65-F5344CB8AC3E}">
        <p14:creationId xmlns:p14="http://schemas.microsoft.com/office/powerpoint/2010/main" val="821643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以蜜蜂为例，不受精的卵发育成为雄蜂，它们的染色体数是 </a:t>
            </a:r>
            <a:r>
              <a:rPr lang="en-US" altLang="zh-CN" dirty="0"/>
              <a:t>n=16</a:t>
            </a:r>
            <a:r>
              <a:rPr lang="zh-CN" altLang="en-US" dirty="0"/>
              <a:t>。受精卵可以成为正常能生育的雌蜂（蜂后），也可成为不育的雌蜂（工蜂），这主要靠环境</a:t>
            </a:r>
            <a:r>
              <a:rPr lang="en-US" altLang="zh-CN" dirty="0"/>
              <a:t>—— </a:t>
            </a:r>
            <a:r>
              <a:rPr lang="zh-CN" altLang="en-US" dirty="0"/>
              <a:t>蜂王浆</a:t>
            </a:r>
            <a:r>
              <a:rPr lang="en-US" altLang="zh-CN" dirty="0"/>
              <a:t>——</a:t>
            </a:r>
            <a:r>
              <a:rPr lang="zh-CN" altLang="en-US" dirty="0"/>
              <a:t>的影响。</a:t>
            </a:r>
          </a:p>
          <a:p>
            <a:endParaRPr lang="zh-CN" altLang="en-US" dirty="0"/>
          </a:p>
        </p:txBody>
      </p:sp>
      <p:sp>
        <p:nvSpPr>
          <p:cNvPr id="4" name="灯片编号占位符 3"/>
          <p:cNvSpPr>
            <a:spLocks noGrp="1"/>
          </p:cNvSpPr>
          <p:nvPr>
            <p:ph type="sldNum" sz="quarter" idx="5"/>
          </p:nvPr>
        </p:nvSpPr>
        <p:spPr/>
        <p:txBody>
          <a:bodyPr/>
          <a:lstStyle/>
          <a:p>
            <a:fld id="{8C31CDC8-E1E3-4EFD-A43E-3723536F9B50}" type="slidenum">
              <a:rPr lang="zh-CN" altLang="en-US" smtClean="0"/>
              <a:t>14</a:t>
            </a:fld>
            <a:endParaRPr lang="zh-CN" altLang="en-US"/>
          </a:p>
        </p:txBody>
      </p:sp>
    </p:spTree>
    <p:extLst>
      <p:ext uri="{BB962C8B-B14F-4D97-AF65-F5344CB8AC3E}">
        <p14:creationId xmlns:p14="http://schemas.microsoft.com/office/powerpoint/2010/main" val="4093690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31CDC8-E1E3-4EFD-A43E-3723536F9B50}" type="slidenum">
              <a:rPr lang="zh-CN" altLang="en-US" smtClean="0"/>
              <a:t>17</a:t>
            </a:fld>
            <a:endParaRPr lang="zh-CN" altLang="en-US"/>
          </a:p>
        </p:txBody>
      </p:sp>
    </p:spTree>
    <p:extLst>
      <p:ext uri="{BB962C8B-B14F-4D97-AF65-F5344CB8AC3E}">
        <p14:creationId xmlns:p14="http://schemas.microsoft.com/office/powerpoint/2010/main" val="2999287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2" indent="-457200">
              <a:lnSpc>
                <a:spcPct val="120000"/>
              </a:lnSpc>
              <a:buFont typeface="+mj-ea"/>
              <a:buAutoNum type="circleNumDbPlain"/>
            </a:pPr>
            <a:r>
              <a:rPr lang="en-US" altLang="zh-CN" sz="1200" dirty="0">
                <a:latin typeface="Times New Roman" panose="02020603050405020304" pitchFamily="18" charset="0"/>
                <a:cs typeface="Times New Roman" panose="02020603050405020304" pitchFamily="18" charset="0"/>
              </a:rPr>
              <a:t>X∶A </a:t>
            </a:r>
            <a:r>
              <a:rPr lang="zh-CN" altLang="en-US" sz="1200" dirty="0">
                <a:latin typeface="Times New Roman" panose="02020603050405020304" pitchFamily="18" charset="0"/>
                <a:cs typeface="Times New Roman" panose="02020603050405020304" pitchFamily="18" charset="0"/>
              </a:rPr>
              <a:t>比值高时（</a:t>
            </a:r>
            <a:r>
              <a:rPr lang="en-US" altLang="zh-CN" sz="1200" dirty="0">
                <a:latin typeface="Times New Roman" panose="02020603050405020304" pitchFamily="18" charset="0"/>
                <a:cs typeface="Times New Roman" panose="02020603050405020304" pitchFamily="18" charset="0"/>
              </a:rPr>
              <a:t>XX</a:t>
            </a:r>
            <a:r>
              <a:rPr lang="zh-CN" altLang="en-US" sz="1200" dirty="0">
                <a:latin typeface="Times New Roman" panose="02020603050405020304" pitchFamily="18" charset="0"/>
                <a:cs typeface="Times New Roman" panose="02020603050405020304" pitchFamily="18" charset="0"/>
              </a:rPr>
              <a:t>胚胎），充足的 </a:t>
            </a:r>
            <a:r>
              <a:rPr lang="en-US" altLang="zh-CN" sz="1200" dirty="0">
                <a:latin typeface="Times New Roman" panose="02020603050405020304" pitchFamily="18" charset="0"/>
                <a:cs typeface="Times New Roman" panose="02020603050405020304" pitchFamily="18" charset="0"/>
              </a:rPr>
              <a:t>X </a:t>
            </a:r>
            <a:r>
              <a:rPr lang="zh-CN" altLang="en-US" sz="1200" dirty="0">
                <a:latin typeface="Times New Roman" panose="02020603050405020304" pitchFamily="18" charset="0"/>
                <a:cs typeface="Times New Roman" panose="02020603050405020304" pitchFamily="18" charset="0"/>
              </a:rPr>
              <a:t>染色体连锁基因产物可以和受精卵中积累的母体效应基因产物相互作用， 激活性别相关基因</a:t>
            </a:r>
            <a:r>
              <a:rPr lang="zh-CN" altLang="en-US" sz="1200" i="1" dirty="0">
                <a:latin typeface="Times New Roman" panose="02020603050405020304" pitchFamily="18" charset="0"/>
                <a:cs typeface="Times New Roman" panose="02020603050405020304" pitchFamily="18" charset="0"/>
              </a:rPr>
              <a:t> </a:t>
            </a:r>
            <a:r>
              <a:rPr lang="en-US" altLang="zh-CN" sz="1200" i="1" dirty="0" err="1">
                <a:latin typeface="Times New Roman" panose="02020603050405020304" pitchFamily="18" charset="0"/>
                <a:cs typeface="Times New Roman" panose="02020603050405020304" pitchFamily="18" charset="0"/>
              </a:rPr>
              <a:t>Sxl</a:t>
            </a:r>
            <a:r>
              <a:rPr lang="en-US" altLang="zh-CN" sz="1200" i="1" dirty="0">
                <a:latin typeface="Times New Roman" panose="02020603050405020304" pitchFamily="18" charset="0"/>
                <a:cs typeface="Times New Roman" panose="02020603050405020304" pitchFamily="18" charset="0"/>
              </a:rPr>
              <a:t> </a:t>
            </a:r>
            <a:r>
              <a:rPr lang="zh-CN" altLang="en-US" sz="1200" dirty="0">
                <a:latin typeface="Times New Roman" panose="02020603050405020304" pitchFamily="18" charset="0"/>
                <a:cs typeface="Times New Roman" panose="02020603050405020304" pitchFamily="18" charset="0"/>
              </a:rPr>
              <a:t>的早期转录，</a:t>
            </a:r>
            <a:r>
              <a:rPr lang="en-US" altLang="zh-CN" sz="1200" i="1" dirty="0" err="1">
                <a:latin typeface="Times New Roman" panose="02020603050405020304" pitchFamily="18" charset="0"/>
                <a:cs typeface="Times New Roman" panose="02020603050405020304" pitchFamily="18" charset="0"/>
              </a:rPr>
              <a:t>Sxl</a:t>
            </a:r>
            <a:r>
              <a:rPr lang="en-US" altLang="zh-CN" sz="1200" i="1" dirty="0">
                <a:latin typeface="Times New Roman" panose="02020603050405020304" pitchFamily="18" charset="0"/>
                <a:cs typeface="Times New Roman" panose="02020603050405020304" pitchFamily="18" charset="0"/>
              </a:rPr>
              <a:t> </a:t>
            </a:r>
            <a:r>
              <a:rPr lang="zh-CN" altLang="en-US" sz="1200" dirty="0">
                <a:latin typeface="Times New Roman" panose="02020603050405020304" pitchFamily="18" charset="0"/>
                <a:cs typeface="Times New Roman" panose="02020603050405020304" pitchFamily="18" charset="0"/>
              </a:rPr>
              <a:t>的早期表达产物随后参与了自身 </a:t>
            </a:r>
            <a:r>
              <a:rPr lang="en-US" altLang="zh-CN" sz="1200" dirty="0">
                <a:latin typeface="Times New Roman" panose="02020603050405020304" pitchFamily="18" charset="0"/>
                <a:cs typeface="Times New Roman" panose="02020603050405020304" pitchFamily="18" charset="0"/>
              </a:rPr>
              <a:t>mRNA </a:t>
            </a:r>
            <a:r>
              <a:rPr lang="zh-CN" altLang="en-US" sz="1200" dirty="0">
                <a:latin typeface="Times New Roman" panose="02020603050405020304" pitchFamily="18" charset="0"/>
                <a:cs typeface="Times New Roman" panose="02020603050405020304" pitchFamily="18" charset="0"/>
              </a:rPr>
              <a:t>的加工成熟，最终合成大量的 </a:t>
            </a:r>
            <a:r>
              <a:rPr lang="en-US" altLang="zh-CN" sz="1200" dirty="0" err="1">
                <a:latin typeface="Times New Roman" panose="02020603050405020304" pitchFamily="18" charset="0"/>
                <a:cs typeface="Times New Roman" panose="02020603050405020304" pitchFamily="18" charset="0"/>
              </a:rPr>
              <a:t>Sxl</a:t>
            </a:r>
            <a:r>
              <a:rPr lang="en-US" altLang="zh-CN" sz="1200" dirty="0">
                <a:latin typeface="Times New Roman" panose="02020603050405020304" pitchFamily="18" charset="0"/>
                <a:cs typeface="Times New Roman" panose="02020603050405020304" pitchFamily="18" charset="0"/>
              </a:rPr>
              <a:t> </a:t>
            </a:r>
            <a:r>
              <a:rPr lang="zh-CN" altLang="en-US" sz="1200" dirty="0">
                <a:latin typeface="Times New Roman" panose="02020603050405020304" pitchFamily="18" charset="0"/>
                <a:cs typeface="Times New Roman" panose="02020603050405020304" pitchFamily="18" charset="0"/>
              </a:rPr>
              <a:t>蛋白质，促进雌性果蝇的性别分化。</a:t>
            </a:r>
            <a:r>
              <a:rPr lang="en-US" altLang="zh-CN" sz="1200" dirty="0">
                <a:latin typeface="Times New Roman" panose="02020603050405020304" pitchFamily="18" charset="0"/>
                <a:cs typeface="Times New Roman" panose="02020603050405020304" pitchFamily="18" charset="0"/>
              </a:rPr>
              <a:t>X∶A </a:t>
            </a:r>
            <a:r>
              <a:rPr lang="zh-CN" altLang="en-US" sz="1200" dirty="0">
                <a:latin typeface="Times New Roman" panose="02020603050405020304" pitchFamily="18" charset="0"/>
                <a:cs typeface="Times New Roman" panose="02020603050405020304" pitchFamily="18" charset="0"/>
              </a:rPr>
              <a:t>比值低时（</a:t>
            </a:r>
            <a:r>
              <a:rPr lang="en-US" altLang="zh-CN" sz="1200" dirty="0">
                <a:latin typeface="Times New Roman" panose="02020603050405020304" pitchFamily="18" charset="0"/>
                <a:cs typeface="Times New Roman" panose="02020603050405020304" pitchFamily="18" charset="0"/>
              </a:rPr>
              <a:t>XY</a:t>
            </a:r>
            <a:r>
              <a:rPr lang="zh-CN" altLang="en-US" sz="1200" dirty="0">
                <a:latin typeface="Times New Roman" panose="02020603050405020304" pitchFamily="18" charset="0"/>
                <a:cs typeface="Times New Roman" panose="02020603050405020304" pitchFamily="18" charset="0"/>
              </a:rPr>
              <a:t>胚胎），没有 </a:t>
            </a:r>
            <a:r>
              <a:rPr lang="en-US" altLang="zh-CN" sz="1200" dirty="0" err="1">
                <a:latin typeface="Times New Roman" panose="02020603050405020304" pitchFamily="18" charset="0"/>
                <a:cs typeface="Times New Roman" panose="02020603050405020304" pitchFamily="18" charset="0"/>
              </a:rPr>
              <a:t>Sxl</a:t>
            </a:r>
            <a:r>
              <a:rPr lang="en-US" altLang="zh-CN" sz="1200" dirty="0">
                <a:latin typeface="Times New Roman" panose="02020603050405020304" pitchFamily="18" charset="0"/>
                <a:cs typeface="Times New Roman" panose="02020603050405020304" pitchFamily="18" charset="0"/>
              </a:rPr>
              <a:t> </a:t>
            </a:r>
            <a:r>
              <a:rPr lang="zh-CN" altLang="en-US" sz="1200" dirty="0">
                <a:latin typeface="Times New Roman" panose="02020603050405020304" pitchFamily="18" charset="0"/>
                <a:cs typeface="Times New Roman" panose="02020603050405020304" pitchFamily="18" charset="0"/>
              </a:rPr>
              <a:t>蛋白质的积累，果蝇发育成为雄性。</a:t>
            </a:r>
            <a:endParaRPr lang="en-US" altLang="zh-CN" sz="1200" dirty="0">
              <a:latin typeface="Times New Roman" panose="02020603050405020304" pitchFamily="18" charset="0"/>
              <a:cs typeface="Times New Roman" panose="02020603050405020304" pitchFamily="18" charset="0"/>
            </a:endParaRPr>
          </a:p>
          <a:p>
            <a:pPr lvl="2" indent="-457200">
              <a:lnSpc>
                <a:spcPct val="120000"/>
              </a:lnSpc>
              <a:buFont typeface="+mj-ea"/>
              <a:buAutoNum type="circleNumDbPlain"/>
            </a:pPr>
            <a:r>
              <a:rPr lang="en-US" altLang="zh-CN" sz="1200" dirty="0">
                <a:latin typeface="Times New Roman" panose="02020603050405020304" pitchFamily="18" charset="0"/>
                <a:cs typeface="Times New Roman" panose="02020603050405020304" pitchFamily="18" charset="0"/>
              </a:rPr>
              <a:t>XX </a:t>
            </a:r>
            <a:r>
              <a:rPr lang="zh-CN" altLang="en-US" sz="1200" dirty="0">
                <a:latin typeface="Times New Roman" panose="02020603050405020304" pitchFamily="18" charset="0"/>
                <a:cs typeface="Times New Roman" panose="02020603050405020304" pitchFamily="18" charset="0"/>
              </a:rPr>
              <a:t>胚胎中，早期转录产生的 </a:t>
            </a:r>
            <a:r>
              <a:rPr lang="en-US" altLang="zh-CN" sz="1200" dirty="0" err="1">
                <a:latin typeface="Times New Roman" panose="02020603050405020304" pitchFamily="18" charset="0"/>
                <a:cs typeface="Times New Roman" panose="02020603050405020304" pitchFamily="18" charset="0"/>
              </a:rPr>
              <a:t>Sxl</a:t>
            </a:r>
            <a:r>
              <a:rPr lang="en-US" altLang="zh-CN" sz="1200" dirty="0">
                <a:latin typeface="Times New Roman" panose="02020603050405020304" pitchFamily="18" charset="0"/>
                <a:cs typeface="Times New Roman" panose="02020603050405020304" pitchFamily="18" charset="0"/>
              </a:rPr>
              <a:t> </a:t>
            </a:r>
            <a:r>
              <a:rPr lang="zh-CN" altLang="en-US" sz="1200" dirty="0">
                <a:latin typeface="Times New Roman" panose="02020603050405020304" pitchFamily="18" charset="0"/>
                <a:cs typeface="Times New Roman" panose="02020603050405020304" pitchFamily="18" charset="0"/>
              </a:rPr>
              <a:t>蛋白参与</a:t>
            </a:r>
            <a:r>
              <a:rPr lang="zh-CN" altLang="en-US" sz="1200" i="1" dirty="0">
                <a:latin typeface="Times New Roman" panose="02020603050405020304" pitchFamily="18" charset="0"/>
                <a:cs typeface="Times New Roman" panose="02020603050405020304" pitchFamily="18" charset="0"/>
              </a:rPr>
              <a:t> </a:t>
            </a:r>
            <a:r>
              <a:rPr lang="en-US" altLang="zh-CN" sz="1200" i="1" dirty="0" err="1">
                <a:latin typeface="Times New Roman" panose="02020603050405020304" pitchFamily="18" charset="0"/>
                <a:cs typeface="Times New Roman" panose="02020603050405020304" pitchFamily="18" charset="0"/>
              </a:rPr>
              <a:t>tra</a:t>
            </a:r>
            <a:r>
              <a:rPr lang="en-US" altLang="zh-CN" sz="1200" i="1" dirty="0">
                <a:latin typeface="Times New Roman" panose="02020603050405020304" pitchFamily="18" charset="0"/>
                <a:cs typeface="Times New Roman" panose="02020603050405020304" pitchFamily="18" charset="0"/>
              </a:rPr>
              <a:t> </a:t>
            </a:r>
            <a:r>
              <a:rPr lang="zh-CN" altLang="en-US" sz="1200" dirty="0">
                <a:latin typeface="Times New Roman" panose="02020603050405020304" pitchFamily="18" charset="0"/>
                <a:cs typeface="Times New Roman" panose="02020603050405020304" pitchFamily="18" charset="0"/>
              </a:rPr>
              <a:t>基因转录产物的加工，得到有功能的 </a:t>
            </a:r>
            <a:r>
              <a:rPr lang="en-US" altLang="zh-CN" sz="1200" dirty="0" err="1">
                <a:latin typeface="Times New Roman" panose="02020603050405020304" pitchFamily="18" charset="0"/>
                <a:cs typeface="Times New Roman" panose="02020603050405020304" pitchFamily="18" charset="0"/>
              </a:rPr>
              <a:t>tra</a:t>
            </a:r>
            <a:r>
              <a:rPr lang="en-US" altLang="zh-CN" sz="1200" dirty="0">
                <a:latin typeface="Times New Roman" panose="02020603050405020304" pitchFamily="18" charset="0"/>
                <a:cs typeface="Times New Roman" panose="02020603050405020304" pitchFamily="18" charset="0"/>
              </a:rPr>
              <a:t> </a:t>
            </a:r>
            <a:r>
              <a:rPr lang="zh-CN" altLang="en-US" sz="1200" dirty="0">
                <a:latin typeface="Times New Roman" panose="02020603050405020304" pitchFamily="18" charset="0"/>
                <a:cs typeface="Times New Roman" panose="02020603050405020304" pitchFamily="18" charset="0"/>
              </a:rPr>
              <a:t>蛋白。</a:t>
            </a:r>
            <a:r>
              <a:rPr lang="en-US" altLang="zh-CN" sz="1200" dirty="0">
                <a:latin typeface="Times New Roman" panose="02020603050405020304" pitchFamily="18" charset="0"/>
                <a:cs typeface="Times New Roman" panose="02020603050405020304" pitchFamily="18" charset="0"/>
              </a:rPr>
              <a:t>XY </a:t>
            </a:r>
            <a:r>
              <a:rPr lang="zh-CN" altLang="en-US" sz="1200" dirty="0">
                <a:latin typeface="Times New Roman" panose="02020603050405020304" pitchFamily="18" charset="0"/>
                <a:cs typeface="Times New Roman" panose="02020603050405020304" pitchFamily="18" charset="0"/>
              </a:rPr>
              <a:t>胚胎中没有 </a:t>
            </a:r>
            <a:r>
              <a:rPr lang="en-US" altLang="zh-CN" sz="1200" dirty="0" err="1">
                <a:latin typeface="Times New Roman" panose="02020603050405020304" pitchFamily="18" charset="0"/>
                <a:cs typeface="Times New Roman" panose="02020603050405020304" pitchFamily="18" charset="0"/>
              </a:rPr>
              <a:t>Sxl</a:t>
            </a:r>
            <a:r>
              <a:rPr lang="en-US" altLang="zh-CN" sz="1200" dirty="0">
                <a:latin typeface="Times New Roman" panose="02020603050405020304" pitchFamily="18" charset="0"/>
                <a:cs typeface="Times New Roman" panose="02020603050405020304" pitchFamily="18" charset="0"/>
              </a:rPr>
              <a:t> </a:t>
            </a:r>
            <a:r>
              <a:rPr lang="zh-CN" altLang="en-US" sz="1200" dirty="0">
                <a:latin typeface="Times New Roman" panose="02020603050405020304" pitchFamily="18" charset="0"/>
                <a:cs typeface="Times New Roman" panose="02020603050405020304" pitchFamily="18" charset="0"/>
              </a:rPr>
              <a:t>蛋白，</a:t>
            </a:r>
            <a:r>
              <a:rPr lang="en-US" altLang="zh-CN" sz="1200" i="1" dirty="0" err="1">
                <a:latin typeface="Times New Roman" panose="02020603050405020304" pitchFamily="18" charset="0"/>
                <a:cs typeface="Times New Roman" panose="02020603050405020304" pitchFamily="18" charset="0"/>
              </a:rPr>
              <a:t>tra</a:t>
            </a:r>
            <a:r>
              <a:rPr lang="en-US" altLang="zh-CN" sz="1200" i="1" dirty="0">
                <a:latin typeface="Times New Roman" panose="02020603050405020304" pitchFamily="18" charset="0"/>
                <a:cs typeface="Times New Roman" panose="02020603050405020304" pitchFamily="18" charset="0"/>
              </a:rPr>
              <a:t> </a:t>
            </a:r>
            <a:r>
              <a:rPr lang="zh-CN" altLang="en-US" sz="1200" dirty="0">
                <a:latin typeface="Times New Roman" panose="02020603050405020304" pitchFamily="18" charset="0"/>
                <a:cs typeface="Times New Roman" panose="02020603050405020304" pitchFamily="18" charset="0"/>
              </a:rPr>
              <a:t>基因加工不正常，只有截断的无功能的多肽产物。</a:t>
            </a:r>
            <a:endParaRPr lang="en-US" altLang="zh-CN" sz="1200" dirty="0">
              <a:latin typeface="Times New Roman" panose="02020603050405020304" pitchFamily="18" charset="0"/>
              <a:cs typeface="Times New Roman" panose="02020603050405020304" pitchFamily="18" charset="0"/>
            </a:endParaRPr>
          </a:p>
          <a:p>
            <a:pPr lvl="2" indent="-457200">
              <a:lnSpc>
                <a:spcPct val="120000"/>
              </a:lnSpc>
              <a:buFont typeface="+mj-ea"/>
              <a:buAutoNum type="circleNumDbPlain"/>
            </a:pPr>
            <a:r>
              <a:rPr lang="en-US" altLang="zh-CN" sz="1200" i="0" dirty="0">
                <a:latin typeface="Times New Roman" panose="02020603050405020304" pitchFamily="18" charset="0"/>
                <a:cs typeface="Times New Roman" panose="02020603050405020304" pitchFamily="18" charset="0"/>
              </a:rPr>
              <a:t>XX </a:t>
            </a:r>
            <a:r>
              <a:rPr lang="zh-CN" altLang="en-US" sz="1200" i="0" dirty="0">
                <a:latin typeface="Times New Roman" panose="02020603050405020304" pitchFamily="18" charset="0"/>
                <a:cs typeface="Times New Roman" panose="02020603050405020304" pitchFamily="18" charset="0"/>
              </a:rPr>
              <a:t>胚胎中的 </a:t>
            </a:r>
            <a:r>
              <a:rPr lang="en-US" altLang="zh-CN" sz="1200" i="0" dirty="0" err="1">
                <a:latin typeface="Times New Roman" panose="02020603050405020304" pitchFamily="18" charset="0"/>
                <a:cs typeface="Times New Roman" panose="02020603050405020304" pitchFamily="18" charset="0"/>
              </a:rPr>
              <a:t>tra</a:t>
            </a:r>
            <a:r>
              <a:rPr lang="en-US" altLang="zh-CN" sz="1200" i="0" dirty="0">
                <a:latin typeface="Times New Roman" panose="02020603050405020304" pitchFamily="18" charset="0"/>
                <a:cs typeface="Times New Roman" panose="02020603050405020304" pitchFamily="18" charset="0"/>
              </a:rPr>
              <a:t> </a:t>
            </a:r>
            <a:r>
              <a:rPr lang="zh-CN" altLang="en-US" sz="1200" i="0" dirty="0">
                <a:latin typeface="Times New Roman" panose="02020603050405020304" pitchFamily="18" charset="0"/>
                <a:cs typeface="Times New Roman" panose="02020603050405020304" pitchFamily="18" charset="0"/>
              </a:rPr>
              <a:t>蛋白和 </a:t>
            </a:r>
            <a:r>
              <a:rPr lang="en-US" altLang="zh-CN" sz="1200" i="0" dirty="0">
                <a:latin typeface="Times New Roman" panose="02020603050405020304" pitchFamily="18" charset="0"/>
                <a:cs typeface="Times New Roman" panose="02020603050405020304" pitchFamily="18" charset="0"/>
              </a:rPr>
              <a:t>tra2 </a:t>
            </a:r>
            <a:r>
              <a:rPr lang="zh-CN" altLang="en-US" sz="1200" i="0" dirty="0">
                <a:latin typeface="Times New Roman" panose="02020603050405020304" pitchFamily="18" charset="0"/>
                <a:cs typeface="Times New Roman" panose="02020603050405020304" pitchFamily="18" charset="0"/>
              </a:rPr>
              <a:t>蛋白（雌雄胚胎均表达）共同调控 </a:t>
            </a:r>
            <a:r>
              <a:rPr lang="en-US" altLang="zh-CN" sz="1200" i="1" dirty="0" err="1">
                <a:latin typeface="Times New Roman" panose="02020603050405020304" pitchFamily="18" charset="0"/>
                <a:cs typeface="Times New Roman" panose="02020603050405020304" pitchFamily="18" charset="0"/>
              </a:rPr>
              <a:t>dsx</a:t>
            </a:r>
            <a:r>
              <a:rPr lang="en-US" altLang="zh-CN" sz="1200" i="0" dirty="0">
                <a:latin typeface="Times New Roman" panose="02020603050405020304" pitchFamily="18" charset="0"/>
                <a:cs typeface="Times New Roman" panose="02020603050405020304" pitchFamily="18" charset="0"/>
              </a:rPr>
              <a:t> </a:t>
            </a:r>
            <a:r>
              <a:rPr lang="zh-CN" altLang="en-US" sz="1200" i="0" dirty="0">
                <a:latin typeface="Times New Roman" panose="02020603050405020304" pitchFamily="18" charset="0"/>
                <a:cs typeface="Times New Roman" panose="02020603050405020304" pitchFamily="18" charset="0"/>
              </a:rPr>
              <a:t>基因产物的加工成熟，得到雌性特异的 </a:t>
            </a:r>
            <a:r>
              <a:rPr lang="en-US" altLang="zh-CN" sz="1200" i="0" dirty="0" err="1">
                <a:latin typeface="Times New Roman" panose="02020603050405020304" pitchFamily="18" charset="0"/>
                <a:cs typeface="Times New Roman" panose="02020603050405020304" pitchFamily="18" charset="0"/>
              </a:rPr>
              <a:t>dsx</a:t>
            </a:r>
            <a:r>
              <a:rPr lang="en-US" altLang="zh-CN" sz="1200" i="0" dirty="0">
                <a:latin typeface="Times New Roman" panose="02020603050405020304" pitchFamily="18" charset="0"/>
                <a:cs typeface="Times New Roman" panose="02020603050405020304" pitchFamily="18" charset="0"/>
              </a:rPr>
              <a:t> </a:t>
            </a:r>
            <a:r>
              <a:rPr lang="zh-CN" altLang="en-US" sz="1200" i="0" dirty="0">
                <a:latin typeface="Times New Roman" panose="02020603050405020304" pitchFamily="18" charset="0"/>
                <a:cs typeface="Times New Roman" panose="02020603050405020304" pitchFamily="18" charset="0"/>
              </a:rPr>
              <a:t>蛋白（</a:t>
            </a:r>
            <a:r>
              <a:rPr lang="en-US" altLang="zh-CN" sz="1200" i="0" dirty="0" err="1">
                <a:latin typeface="Times New Roman" panose="02020603050405020304" pitchFamily="18" charset="0"/>
                <a:cs typeface="Times New Roman" panose="02020603050405020304" pitchFamily="18" charset="0"/>
              </a:rPr>
              <a:t>dsx</a:t>
            </a:r>
            <a:r>
              <a:rPr lang="en-US" altLang="zh-CN" sz="1200" i="0" baseline="30000" dirty="0" err="1">
                <a:latin typeface="Times New Roman" panose="02020603050405020304" pitchFamily="18" charset="0"/>
                <a:cs typeface="Times New Roman" panose="02020603050405020304" pitchFamily="18" charset="0"/>
              </a:rPr>
              <a:t>F</a:t>
            </a:r>
            <a:r>
              <a:rPr lang="zh-CN" altLang="en-US" sz="1200" i="0" dirty="0">
                <a:latin typeface="Times New Roman" panose="02020603050405020304" pitchFamily="18" charset="0"/>
                <a:cs typeface="Times New Roman" panose="02020603050405020304" pitchFamily="18" charset="0"/>
              </a:rPr>
              <a:t>），它可以抑制雄性性别发育，因此胚胎发育成雌性。</a:t>
            </a:r>
            <a:r>
              <a:rPr lang="en-US" altLang="zh-CN" sz="1200" i="0" dirty="0">
                <a:latin typeface="Times New Roman" panose="02020603050405020304" pitchFamily="18" charset="0"/>
                <a:cs typeface="Times New Roman" panose="02020603050405020304" pitchFamily="18" charset="0"/>
              </a:rPr>
              <a:t>XY </a:t>
            </a:r>
            <a:r>
              <a:rPr lang="zh-CN" altLang="en-US" sz="1200" i="0" dirty="0">
                <a:latin typeface="Times New Roman" panose="02020603050405020304" pitchFamily="18" charset="0"/>
                <a:cs typeface="Times New Roman" panose="02020603050405020304" pitchFamily="18" charset="0"/>
              </a:rPr>
              <a:t>胚胎中，由于没有 </a:t>
            </a:r>
            <a:r>
              <a:rPr lang="en-US" altLang="zh-CN" sz="1200" i="0" dirty="0" err="1">
                <a:latin typeface="Times New Roman" panose="02020603050405020304" pitchFamily="18" charset="0"/>
                <a:cs typeface="Times New Roman" panose="02020603050405020304" pitchFamily="18" charset="0"/>
              </a:rPr>
              <a:t>tra</a:t>
            </a:r>
            <a:r>
              <a:rPr lang="en-US" altLang="zh-CN" sz="1200" i="0" dirty="0">
                <a:latin typeface="Times New Roman" panose="02020603050405020304" pitchFamily="18" charset="0"/>
                <a:cs typeface="Times New Roman" panose="02020603050405020304" pitchFamily="18" charset="0"/>
              </a:rPr>
              <a:t> </a:t>
            </a:r>
            <a:r>
              <a:rPr lang="zh-CN" altLang="en-US" sz="1200" i="0" dirty="0">
                <a:latin typeface="Times New Roman" panose="02020603050405020304" pitchFamily="18" charset="0"/>
                <a:cs typeface="Times New Roman" panose="02020603050405020304" pitchFamily="18" charset="0"/>
              </a:rPr>
              <a:t>蛋白，</a:t>
            </a:r>
            <a:r>
              <a:rPr lang="en-US" altLang="zh-CN" sz="1200" i="1" dirty="0" err="1">
                <a:latin typeface="Times New Roman" panose="02020603050405020304" pitchFamily="18" charset="0"/>
                <a:cs typeface="Times New Roman" panose="02020603050405020304" pitchFamily="18" charset="0"/>
              </a:rPr>
              <a:t>dsx</a:t>
            </a:r>
            <a:r>
              <a:rPr lang="en-US" altLang="zh-CN" sz="1200" i="0" dirty="0">
                <a:latin typeface="Times New Roman" panose="02020603050405020304" pitchFamily="18" charset="0"/>
                <a:cs typeface="Times New Roman" panose="02020603050405020304" pitchFamily="18" charset="0"/>
              </a:rPr>
              <a:t> </a:t>
            </a:r>
            <a:r>
              <a:rPr lang="zh-CN" altLang="en-US" sz="1200" i="0" dirty="0">
                <a:latin typeface="Times New Roman" panose="02020603050405020304" pitchFamily="18" charset="0"/>
                <a:cs typeface="Times New Roman" panose="02020603050405020304" pitchFamily="18" charset="0"/>
              </a:rPr>
              <a:t>被加工成了另一种形式的 </a:t>
            </a:r>
            <a:r>
              <a:rPr lang="en-US" altLang="zh-CN" sz="1200" i="0" dirty="0" err="1">
                <a:latin typeface="Times New Roman" panose="02020603050405020304" pitchFamily="18" charset="0"/>
                <a:cs typeface="Times New Roman" panose="02020603050405020304" pitchFamily="18" charset="0"/>
              </a:rPr>
              <a:t>dsx</a:t>
            </a:r>
            <a:r>
              <a:rPr lang="en-US" altLang="zh-CN" sz="1200" i="0" dirty="0">
                <a:latin typeface="Times New Roman" panose="02020603050405020304" pitchFamily="18" charset="0"/>
                <a:cs typeface="Times New Roman" panose="02020603050405020304" pitchFamily="18" charset="0"/>
              </a:rPr>
              <a:t> </a:t>
            </a:r>
            <a:r>
              <a:rPr lang="zh-CN" altLang="en-US" sz="1200" i="0" dirty="0">
                <a:latin typeface="Times New Roman" panose="02020603050405020304" pitchFamily="18" charset="0"/>
                <a:cs typeface="Times New Roman" panose="02020603050405020304" pitchFamily="18" charset="0"/>
              </a:rPr>
              <a:t>蛋白（</a:t>
            </a:r>
            <a:r>
              <a:rPr lang="en-US" altLang="zh-CN" sz="1200" i="0" dirty="0" err="1">
                <a:latin typeface="Times New Roman" panose="02020603050405020304" pitchFamily="18" charset="0"/>
                <a:cs typeface="Times New Roman" panose="02020603050405020304" pitchFamily="18" charset="0"/>
              </a:rPr>
              <a:t>dsx</a:t>
            </a:r>
            <a:r>
              <a:rPr lang="en-US" altLang="zh-CN" sz="1200" i="0" baseline="30000" dirty="0" err="1">
                <a:latin typeface="Times New Roman" panose="02020603050405020304" pitchFamily="18" charset="0"/>
                <a:cs typeface="Times New Roman" panose="02020603050405020304" pitchFamily="18" charset="0"/>
              </a:rPr>
              <a:t>M</a:t>
            </a:r>
            <a:r>
              <a:rPr lang="zh-CN" altLang="en-US" sz="1200" i="0" dirty="0">
                <a:latin typeface="Times New Roman" panose="02020603050405020304" pitchFamily="18" charset="0"/>
                <a:cs typeface="Times New Roman" panose="02020603050405020304" pitchFamily="18" charset="0"/>
              </a:rPr>
              <a:t>），它可以抑制雌性性别发育，因此胚胎发育成雄性。</a:t>
            </a:r>
            <a:endParaRPr lang="en-US" altLang="zh-CN" sz="1200"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8C31CDC8-E1E3-4EFD-A43E-3723536F9B50}" type="slidenum">
              <a:rPr lang="zh-CN" altLang="en-US" smtClean="0"/>
              <a:t>22</a:t>
            </a:fld>
            <a:endParaRPr lang="zh-CN" altLang="en-US"/>
          </a:p>
        </p:txBody>
      </p:sp>
    </p:spTree>
    <p:extLst>
      <p:ext uri="{BB962C8B-B14F-4D97-AF65-F5344CB8AC3E}">
        <p14:creationId xmlns:p14="http://schemas.microsoft.com/office/powerpoint/2010/main" val="41397092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Y </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染色体示意图，</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Y </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染色体的两端是拟常染色体区，可以和 </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X </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染色体的两端区域联会配对并发生交换。其余部分是男性特异区。</a:t>
            </a:r>
            <a:r>
              <a:rPr lang="en-US" altLang="zh-CN" sz="1200" i="1" dirty="0">
                <a:latin typeface="Times New Roman" panose="02020603050405020304" pitchFamily="18" charset="0"/>
                <a:ea typeface="微软雅黑" panose="020B0503020204020204" pitchFamily="34" charset="-122"/>
                <a:cs typeface="Times New Roman" panose="02020603050405020304" pitchFamily="18" charset="0"/>
              </a:rPr>
              <a:t>SRY </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基因位于 </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Y </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染色体短臂邻近拟常染色体的区域。</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）正常 </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XY </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男性的性染色体与 </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XX </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男性、</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XY </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女性的性染色体组成。</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i="0" dirty="0"/>
              <a:t>由于人 </a:t>
            </a:r>
            <a:r>
              <a:rPr lang="en-US" altLang="zh-CN" dirty="0"/>
              <a:t>SRY </a:t>
            </a:r>
            <a:r>
              <a:rPr lang="zh-CN" altLang="en-US" i="0" dirty="0"/>
              <a:t>基因紧挨着 </a:t>
            </a:r>
            <a:r>
              <a:rPr lang="en-US" altLang="zh-CN" i="0" dirty="0"/>
              <a:t>X </a:t>
            </a:r>
            <a:r>
              <a:rPr lang="zh-CN" altLang="en-US" i="0" dirty="0"/>
              <a:t>染色体和 </a:t>
            </a:r>
            <a:r>
              <a:rPr lang="en-US" altLang="zh-CN" i="0" dirty="0"/>
              <a:t>Y </a:t>
            </a:r>
            <a:r>
              <a:rPr lang="zh-CN" altLang="en-US" i="0" dirty="0"/>
              <a:t>染色体能够发生重组交换的</a:t>
            </a:r>
            <a:r>
              <a:rPr lang="zh-CN" altLang="en-US" b="1" i="0" dirty="0">
                <a:solidFill>
                  <a:srgbClr val="3A5991"/>
                </a:solidFill>
              </a:rPr>
              <a:t>拟常染色体区（</a:t>
            </a:r>
            <a:r>
              <a:rPr lang="en-US" altLang="zh-CN" b="1" i="0" dirty="0" err="1">
                <a:solidFill>
                  <a:srgbClr val="3A5991"/>
                </a:solidFill>
              </a:rPr>
              <a:t>pseudoautosomal</a:t>
            </a:r>
            <a:r>
              <a:rPr lang="en-US" altLang="zh-CN" b="1" i="0" dirty="0">
                <a:solidFill>
                  <a:srgbClr val="3A5991"/>
                </a:solidFill>
              </a:rPr>
              <a:t> region</a:t>
            </a:r>
            <a:r>
              <a:rPr lang="zh-CN" altLang="en-US" b="1" i="0" dirty="0">
                <a:solidFill>
                  <a:srgbClr val="3A5991"/>
                </a:solidFill>
              </a:rPr>
              <a:t>）</a:t>
            </a:r>
            <a:r>
              <a:rPr lang="zh-CN" altLang="en-US" i="0" dirty="0"/>
              <a:t>， 因此有时候会因为不正常交换从 </a:t>
            </a:r>
            <a:r>
              <a:rPr lang="en-US" altLang="zh-CN" i="0" dirty="0"/>
              <a:t>Y </a:t>
            </a:r>
            <a:r>
              <a:rPr lang="zh-CN" altLang="en-US" i="0" dirty="0"/>
              <a:t>染色体转移到 </a:t>
            </a:r>
            <a:r>
              <a:rPr lang="en-US" altLang="zh-CN" i="0" dirty="0"/>
              <a:t>X </a:t>
            </a:r>
            <a:r>
              <a:rPr lang="zh-CN" altLang="en-US" i="0" dirty="0"/>
              <a:t>染色体上，形成含有缺乏 </a:t>
            </a:r>
            <a:r>
              <a:rPr lang="en-US" altLang="zh-CN" dirty="0"/>
              <a:t>SRY</a:t>
            </a:r>
            <a:r>
              <a:rPr lang="en-US" altLang="zh-CN" i="0" dirty="0"/>
              <a:t> </a:t>
            </a:r>
            <a:r>
              <a:rPr lang="zh-CN" altLang="en-US" i="0" dirty="0"/>
              <a:t>的 </a:t>
            </a:r>
            <a:r>
              <a:rPr lang="en-US" altLang="zh-CN" i="0" dirty="0"/>
              <a:t>Y </a:t>
            </a:r>
            <a:r>
              <a:rPr lang="zh-CN" altLang="en-US" i="0" dirty="0"/>
              <a:t>染色体的配子以及含有</a:t>
            </a:r>
            <a:r>
              <a:rPr lang="zh-CN" altLang="en-US" dirty="0"/>
              <a:t> </a:t>
            </a:r>
            <a:r>
              <a:rPr lang="en-US" altLang="zh-CN" dirty="0"/>
              <a:t>SRY </a:t>
            </a:r>
            <a:r>
              <a:rPr lang="zh-CN" altLang="en-US" i="0" dirty="0"/>
              <a:t>的 </a:t>
            </a:r>
            <a:r>
              <a:rPr lang="en-US" altLang="zh-CN" i="0" dirty="0"/>
              <a:t>X </a:t>
            </a:r>
            <a:r>
              <a:rPr lang="zh-CN" altLang="en-US" i="0" dirty="0"/>
              <a:t>染色体的配子，导致 </a:t>
            </a:r>
            <a:r>
              <a:rPr lang="en-US" altLang="zh-CN" i="0" dirty="0"/>
              <a:t>XY </a:t>
            </a:r>
            <a:r>
              <a:rPr lang="zh-CN" altLang="en-US" i="0" dirty="0"/>
              <a:t>女性和 </a:t>
            </a:r>
            <a:r>
              <a:rPr lang="en-US" altLang="zh-CN" i="0" dirty="0"/>
              <a:t>XX </a:t>
            </a:r>
            <a:r>
              <a:rPr lang="zh-CN" altLang="en-US" i="0" dirty="0"/>
              <a:t>男性个体的出生。</a:t>
            </a:r>
          </a:p>
          <a:p>
            <a:endParaRPr lang="zh-CN" altLang="en-US" dirty="0"/>
          </a:p>
        </p:txBody>
      </p:sp>
      <p:sp>
        <p:nvSpPr>
          <p:cNvPr id="4" name="灯片编号占位符 3"/>
          <p:cNvSpPr>
            <a:spLocks noGrp="1"/>
          </p:cNvSpPr>
          <p:nvPr>
            <p:ph type="sldNum" sz="quarter" idx="5"/>
          </p:nvPr>
        </p:nvSpPr>
        <p:spPr/>
        <p:txBody>
          <a:bodyPr/>
          <a:lstStyle/>
          <a:p>
            <a:fld id="{8C31CDC8-E1E3-4EFD-A43E-3723536F9B50}" type="slidenum">
              <a:rPr lang="zh-CN" altLang="en-US" smtClean="0"/>
              <a:t>23</a:t>
            </a:fld>
            <a:endParaRPr lang="zh-CN" altLang="en-US"/>
          </a:p>
        </p:txBody>
      </p:sp>
    </p:spTree>
    <p:extLst>
      <p:ext uri="{BB962C8B-B14F-4D97-AF65-F5344CB8AC3E}">
        <p14:creationId xmlns:p14="http://schemas.microsoft.com/office/powerpoint/2010/main" val="16435234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C31CDC8-E1E3-4EFD-A43E-3723536F9B50}" type="slidenum">
              <a:rPr lang="zh-CN" altLang="en-US" smtClean="0"/>
              <a:t>24</a:t>
            </a:fld>
            <a:endParaRPr lang="zh-CN" altLang="en-US"/>
          </a:p>
        </p:txBody>
      </p:sp>
    </p:spTree>
    <p:extLst>
      <p:ext uri="{BB962C8B-B14F-4D97-AF65-F5344CB8AC3E}">
        <p14:creationId xmlns:p14="http://schemas.microsoft.com/office/powerpoint/2010/main" val="1445258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5638" y="1211017"/>
            <a:ext cx="10515600"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p>
          <a:p>
            <a:pPr lvl="1"/>
            <a:r>
              <a:rPr lang="zh-CN" altLang="en-US" dirty="0"/>
              <a:t>第二级</a:t>
            </a:r>
          </a:p>
        </p:txBody>
      </p:sp>
    </p:spTree>
    <p:extLst>
      <p:ext uri="{BB962C8B-B14F-4D97-AF65-F5344CB8AC3E}">
        <p14:creationId xmlns:p14="http://schemas.microsoft.com/office/powerpoint/2010/main" val="459731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5638" y="1211017"/>
            <a:ext cx="4938347" cy="496594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p>
          <a:p>
            <a:pPr lvl="1"/>
            <a:r>
              <a:rPr lang="zh-CN" altLang="en-US" dirty="0"/>
              <a:t>第二级</a:t>
            </a:r>
          </a:p>
        </p:txBody>
      </p:sp>
    </p:spTree>
    <p:extLst>
      <p:ext uri="{BB962C8B-B14F-4D97-AF65-F5344CB8AC3E}">
        <p14:creationId xmlns:p14="http://schemas.microsoft.com/office/powerpoint/2010/main" val="2805196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405912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
        <p:nvSpPr>
          <p:cNvPr id="5" name="文本占位符 2">
            <a:extLst>
              <a:ext uri="{FF2B5EF4-FFF2-40B4-BE49-F238E27FC236}">
                <a16:creationId xmlns:a16="http://schemas.microsoft.com/office/drawing/2014/main" id="{E2C5B7A1-44B1-4D62-8157-AFEC4E28C6FA}"/>
              </a:ext>
            </a:extLst>
          </p:cNvPr>
          <p:cNvSpPr>
            <a:spLocks noGrp="1"/>
          </p:cNvSpPr>
          <p:nvPr>
            <p:ph idx="1"/>
          </p:nvPr>
        </p:nvSpPr>
        <p:spPr>
          <a:xfrm>
            <a:off x="565638" y="360485"/>
            <a:ext cx="10515600" cy="5764357"/>
          </a:xfrm>
          <a:prstGeom prst="rect">
            <a:avLst/>
          </a:prstGeom>
        </p:spPr>
        <p:txBody>
          <a:bodyPr vert="horz" lIns="91440" tIns="45720" rIns="91440" bIns="45720" rtlCol="0">
            <a:normAutofit/>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stStyle>
          <a:p>
            <a:pPr lvl="0"/>
            <a:r>
              <a:rPr lang="zh-CN" altLang="en-US" dirty="0"/>
              <a:t>单击此处编辑母版文本样式</a:t>
            </a:r>
          </a:p>
          <a:p>
            <a:pPr lvl="1"/>
            <a:r>
              <a:rPr lang="zh-CN" altLang="en-US" dirty="0"/>
              <a:t>第二级</a:t>
            </a:r>
            <a:endParaRPr lang="en-US" altLang="zh-CN" dirty="0"/>
          </a:p>
          <a:p>
            <a:pPr lvl="0"/>
            <a:r>
              <a:rPr lang="zh-CN" altLang="en-US" dirty="0"/>
              <a:t>单击此处编辑母版文本样式</a:t>
            </a:r>
          </a:p>
          <a:p>
            <a:pPr lvl="1"/>
            <a:r>
              <a:rPr lang="zh-CN" altLang="en-US" dirty="0"/>
              <a:t>第二级</a:t>
            </a:r>
          </a:p>
          <a:p>
            <a:pPr lvl="1"/>
            <a:endParaRPr lang="zh-CN" altLang="en-US" dirty="0"/>
          </a:p>
        </p:txBody>
      </p:sp>
    </p:spTree>
    <p:extLst>
      <p:ext uri="{BB962C8B-B14F-4D97-AF65-F5344CB8AC3E}">
        <p14:creationId xmlns:p14="http://schemas.microsoft.com/office/powerpoint/2010/main" val="4193131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6_Title Slide">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258880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4FDB94-F5D9-4E23-87FC-531BEAEEC019}"/>
              </a:ext>
            </a:extLst>
          </p:cNvPr>
          <p:cNvSpPr>
            <a:spLocks noGrp="1"/>
          </p:cNvSpPr>
          <p:nvPr>
            <p:ph type="title"/>
          </p:nvPr>
        </p:nvSpPr>
        <p:spPr>
          <a:xfrm>
            <a:off x="426127" y="365126"/>
            <a:ext cx="11336785" cy="904382"/>
          </a:xfrm>
        </p:spPr>
        <p:txBody>
          <a:bodyPr>
            <a:normAutofit/>
          </a:bodyPr>
          <a:lstStyle>
            <a:lvl1pPr>
              <a:defRPr sz="3600" b="1">
                <a:solidFill>
                  <a:srgbClr val="0070C0"/>
                </a:solidFill>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3" name="内容占位符 2">
            <a:extLst>
              <a:ext uri="{FF2B5EF4-FFF2-40B4-BE49-F238E27FC236}">
                <a16:creationId xmlns:a16="http://schemas.microsoft.com/office/drawing/2014/main" id="{C7B5EE13-5C08-44FE-B565-6B1E6D6A6B65}"/>
              </a:ext>
            </a:extLst>
          </p:cNvPr>
          <p:cNvSpPr>
            <a:spLocks noGrp="1"/>
          </p:cNvSpPr>
          <p:nvPr>
            <p:ph idx="1"/>
          </p:nvPr>
        </p:nvSpPr>
        <p:spPr>
          <a:xfrm>
            <a:off x="558649" y="559034"/>
            <a:ext cx="11336784" cy="5072447"/>
          </a:xfrm>
        </p:spPr>
        <p:txBody>
          <a:bodyPr>
            <a:normAutofit/>
          </a:bodyPr>
          <a:lstStyle>
            <a:lvl1pPr marL="228600" indent="-228600">
              <a:lnSpc>
                <a:spcPct val="120000"/>
              </a:lnSpc>
              <a:buClr>
                <a:schemeClr val="accent1"/>
              </a:buClr>
              <a:buSzPct val="80000"/>
              <a:buFont typeface="Wingdings" panose="05000000000000000000" pitchFamily="2" charset="2"/>
              <a:buChar char="p"/>
              <a:defRPr sz="2400">
                <a:latin typeface="微软雅黑" panose="020B0503020204020204" pitchFamily="34" charset="-122"/>
                <a:ea typeface="微软雅黑" panose="020B0503020204020204" pitchFamily="34" charset="-122"/>
              </a:defRPr>
            </a:lvl1pPr>
            <a:lvl2pPr marL="685800" indent="-228600">
              <a:lnSpc>
                <a:spcPct val="120000"/>
              </a:lnSpc>
              <a:buClr>
                <a:schemeClr val="accent1"/>
              </a:buClr>
              <a:buSzPct val="80000"/>
              <a:buFont typeface="Wingdings" panose="05000000000000000000" pitchFamily="2" charset="2"/>
              <a:buChar char="p"/>
              <a:defRPr sz="2000">
                <a:latin typeface="微软雅黑" panose="020B0503020204020204" pitchFamily="34" charset="-122"/>
                <a:ea typeface="微软雅黑" panose="020B0503020204020204" pitchFamily="34" charset="-122"/>
              </a:defRPr>
            </a:lvl2pPr>
            <a:lvl3pPr marL="1143000" indent="-228600">
              <a:lnSpc>
                <a:spcPct val="120000"/>
              </a:lnSpc>
              <a:buClr>
                <a:schemeClr val="accent1"/>
              </a:buClr>
              <a:buSzPct val="80000"/>
              <a:buFont typeface="Wingdings" panose="05000000000000000000" pitchFamily="2" charset="2"/>
              <a:buChar char="p"/>
              <a:defRPr sz="1800">
                <a:latin typeface="微软雅黑" panose="020B0503020204020204" pitchFamily="34" charset="-122"/>
                <a:ea typeface="微软雅黑" panose="020B0503020204020204" pitchFamily="34" charset="-122"/>
              </a:defRPr>
            </a:lvl3pPr>
            <a:lvl4pPr marL="1600200" indent="-228600">
              <a:lnSpc>
                <a:spcPct val="120000"/>
              </a:lnSpc>
              <a:buClr>
                <a:schemeClr val="accent1"/>
              </a:buClr>
              <a:buSzPct val="80000"/>
              <a:buFont typeface="Wingdings" panose="05000000000000000000" pitchFamily="2" charset="2"/>
              <a:buChar char="p"/>
              <a:defRPr sz="1600">
                <a:latin typeface="微软雅黑" panose="020B0503020204020204" pitchFamily="34" charset="-122"/>
                <a:ea typeface="微软雅黑" panose="020B0503020204020204" pitchFamily="34" charset="-122"/>
              </a:defRPr>
            </a:lvl4pPr>
            <a:lvl5pPr marL="2057400" indent="-228600">
              <a:lnSpc>
                <a:spcPct val="120000"/>
              </a:lnSpc>
              <a:buClr>
                <a:schemeClr val="accent1"/>
              </a:buClr>
              <a:buSzPct val="80000"/>
              <a:buFont typeface="Wingdings" panose="05000000000000000000" pitchFamily="2" charset="2"/>
              <a:buChar char="p"/>
              <a:defRPr sz="16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extLst>
      <p:ext uri="{BB962C8B-B14F-4D97-AF65-F5344CB8AC3E}">
        <p14:creationId xmlns:p14="http://schemas.microsoft.com/office/powerpoint/2010/main" val="3629930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5" name="Date Placeholder 3"/>
          <p:cNvSpPr>
            <a:spLocks noGrp="1"/>
          </p:cNvSpPr>
          <p:nvPr>
            <p:ph type="dt" sz="half" idx="10"/>
          </p:nvPr>
        </p:nvSpPr>
        <p:spPr>
          <a:xfrm>
            <a:off x="609600" y="6356351"/>
            <a:ext cx="2844800" cy="365125"/>
          </a:xfrm>
          <a:prstGeom prst="rect">
            <a:avLst/>
          </a:prstGeom>
        </p:spPr>
        <p:txBody>
          <a:bodyPr/>
          <a:lstStyle>
            <a:lvl1pPr>
              <a:defRPr/>
            </a:lvl1pPr>
          </a:lstStyle>
          <a:p>
            <a:pPr>
              <a:defRPr/>
            </a:pPr>
            <a:endParaRPr lang="en-US" altLang="zh-CN"/>
          </a:p>
        </p:txBody>
      </p:sp>
      <p:sp>
        <p:nvSpPr>
          <p:cNvPr id="6"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a:xfrm>
            <a:off x="8737600" y="6356351"/>
            <a:ext cx="2844800" cy="365125"/>
          </a:xfrm>
          <a:prstGeom prst="rect">
            <a:avLst/>
          </a:prstGeom>
        </p:spPr>
        <p:txBody>
          <a:bodyPr/>
          <a:lstStyle>
            <a:lvl1pPr>
              <a:defRPr/>
            </a:lvl1pPr>
          </a:lstStyle>
          <a:p>
            <a:fld id="{0C7B9434-4CDC-40E4-B5E5-A4857DCB6E2A}" type="slidenum">
              <a:rPr altLang="zh-CN"/>
              <a:pPr/>
              <a:t>‹#›</a:t>
            </a:fld>
            <a:endParaRPr lang="zh-CN" altLang="zh-CN"/>
          </a:p>
        </p:txBody>
      </p:sp>
    </p:spTree>
    <p:extLst>
      <p:ext uri="{BB962C8B-B14F-4D97-AF65-F5344CB8AC3E}">
        <p14:creationId xmlns:p14="http://schemas.microsoft.com/office/powerpoint/2010/main" val="1696075632"/>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xAndClipArt">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文本占位符 2"/>
          <p:cNvSpPr>
            <a:spLocks noGrp="1"/>
          </p:cNvSpPr>
          <p:nvPr>
            <p:ph type="body" sz="half" idx="1"/>
          </p:nvPr>
        </p:nvSpPr>
        <p:spPr>
          <a:xfrm>
            <a:off x="838200" y="1825625"/>
            <a:ext cx="51816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联机映像占位符 3"/>
          <p:cNvSpPr>
            <a:spLocks noGrp="1"/>
          </p:cNvSpPr>
          <p:nvPr>
            <p:ph type="clipArt" sz="half" idx="2"/>
          </p:nvPr>
        </p:nvSpPr>
        <p:spPr>
          <a:xfrm>
            <a:off x="6172200" y="1825625"/>
            <a:ext cx="5181600" cy="4351338"/>
          </a:xfrm>
        </p:spPr>
        <p:txBody>
          <a:bodyPr/>
          <a:lstStyle/>
          <a:p>
            <a:pPr lvl="0"/>
            <a:endParaRPr lang="zh-CN" altLang="en-US" noProof="1"/>
          </a:p>
        </p:txBody>
      </p:sp>
      <p:sp>
        <p:nvSpPr>
          <p:cNvPr id="5" name="灯片编号占位符 6"/>
          <p:cNvSpPr>
            <a:spLocks noGrp="1"/>
          </p:cNvSpPr>
          <p:nvPr>
            <p:ph type="sldNum" sz="quarter" idx="10"/>
          </p:nvPr>
        </p:nvSpPr>
        <p:spPr>
          <a:xfrm>
            <a:off x="8737600" y="6356351"/>
            <a:ext cx="2844800" cy="365125"/>
          </a:xfrm>
          <a:prstGeom prst="rect">
            <a:avLst/>
          </a:prstGeom>
        </p:spPr>
        <p:txBody>
          <a:bodyPr/>
          <a:lstStyle>
            <a:lvl1pPr>
              <a:defRPr>
                <a:latin typeface="Times New Roman" pitchFamily="18" charset="0"/>
                <a:ea typeface="宋体" pitchFamily="2" charset="-122"/>
              </a:defRPr>
            </a:lvl1pPr>
          </a:lstStyle>
          <a:p>
            <a:fld id="{29DD8403-EE2C-43CC-96F9-281EC9F828D1}" type="slidenum">
              <a:rPr altLang="en-US"/>
              <a:pPr/>
              <a:t>‹#›</a:t>
            </a:fld>
            <a:r>
              <a:rPr lang="zh-CN" altLang="zh-CN" sz="1400">
                <a:ea typeface="+mn-ea"/>
              </a:rPr>
              <a:t>/55</a:t>
            </a:r>
          </a:p>
        </p:txBody>
      </p:sp>
      <p:sp>
        <p:nvSpPr>
          <p:cNvPr id="6" name="日期占位符 4"/>
          <p:cNvSpPr>
            <a:spLocks noGrp="1"/>
          </p:cNvSpPr>
          <p:nvPr>
            <p:ph type="dt" sz="half" idx="11"/>
          </p:nvPr>
        </p:nvSpPr>
        <p:spPr>
          <a:xfrm>
            <a:off x="609600" y="6356351"/>
            <a:ext cx="2844800" cy="365125"/>
          </a:xfrm>
          <a:prstGeom prst="rect">
            <a:avLst/>
          </a:prstGeom>
        </p:spPr>
        <p:txBody>
          <a:bodyPr/>
          <a:lstStyle>
            <a:lvl1pPr>
              <a:defRPr/>
            </a:lvl1pPr>
          </a:lstStyle>
          <a:p>
            <a:pPr>
              <a:defRPr/>
            </a:pPr>
            <a:endParaRPr lang="en-US" altLang="zh-CN"/>
          </a:p>
        </p:txBody>
      </p:sp>
      <p:sp>
        <p:nvSpPr>
          <p:cNvPr id="7" name="页脚占位符 5"/>
          <p:cNvSpPr>
            <a:spLocks noGrp="1"/>
          </p:cNvSpPr>
          <p:nvPr>
            <p:ph type="ftr" sz="quarter" idx="12"/>
          </p:nvPr>
        </p:nvSpPr>
        <p:spPr>
          <a:xfrm>
            <a:off x="4165600" y="6356351"/>
            <a:ext cx="3860800" cy="365125"/>
          </a:xfrm>
          <a:prstGeom prst="rect">
            <a:avLst/>
          </a:prstGeom>
        </p:spPr>
        <p:txBody>
          <a:bodyPr/>
          <a:lstStyle>
            <a:lvl1pPr>
              <a:defRPr/>
            </a:lvl1pPr>
          </a:lstStyle>
          <a:p>
            <a:pPr>
              <a:defRPr/>
            </a:pPr>
            <a:endParaRPr lang="en-US" altLang="zh-CN"/>
          </a:p>
        </p:txBody>
      </p:sp>
    </p:spTree>
    <p:extLst>
      <p:ext uri="{BB962C8B-B14F-4D97-AF65-F5344CB8AC3E}">
        <p14:creationId xmlns:p14="http://schemas.microsoft.com/office/powerpoint/2010/main" val="267114858"/>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extLst>
      <p:ext uri="{BB962C8B-B14F-4D97-AF65-F5344CB8AC3E}">
        <p14:creationId xmlns:p14="http://schemas.microsoft.com/office/powerpoint/2010/main" val="5272902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53720" y="599598"/>
            <a:ext cx="11084560" cy="5658803"/>
          </a:xfrm>
        </p:spPr>
        <p:txBody>
          <a:bodyPr/>
          <a:lstStyle>
            <a:lvl1pPr>
              <a:defRPr sz="3200">
                <a:latin typeface="微软雅黑" panose="020B0503020204020204" pitchFamily="34" charset="-122"/>
                <a:ea typeface="微软雅黑" panose="020B0503020204020204" pitchFamily="34" charset="-122"/>
              </a:defRPr>
            </a:lvl1pPr>
            <a:lvl2pPr>
              <a:defRPr sz="2800">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一级标题</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77316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Tree>
    <p:extLst>
      <p:ext uri="{BB962C8B-B14F-4D97-AF65-F5344CB8AC3E}">
        <p14:creationId xmlns:p14="http://schemas.microsoft.com/office/powerpoint/2010/main" val="41405285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297506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711118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9477653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39933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2327320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25019581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854107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844777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2261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theme" Target="../theme/theme2.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65638" y="318476"/>
            <a:ext cx="10515600" cy="725121"/>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565638" y="1113448"/>
            <a:ext cx="10515600" cy="5011394"/>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endParaRPr lang="en-US" altLang="zh-CN" dirty="0"/>
          </a:p>
          <a:p>
            <a:pPr lvl="0"/>
            <a:r>
              <a:rPr lang="zh-CN" altLang="en-US" dirty="0"/>
              <a:t>单击此处编辑母版文本样式</a:t>
            </a:r>
          </a:p>
          <a:p>
            <a:pPr lvl="1"/>
            <a:r>
              <a:rPr lang="zh-CN" altLang="en-US" dirty="0"/>
              <a:t>第二级</a:t>
            </a:r>
          </a:p>
          <a:p>
            <a:pPr lvl="1"/>
            <a:endParaRPr lang="zh-CN" altLang="en-US" dirty="0"/>
          </a:p>
        </p:txBody>
      </p:sp>
    </p:spTree>
    <p:extLst>
      <p:ext uri="{BB962C8B-B14F-4D97-AF65-F5344CB8AC3E}">
        <p14:creationId xmlns:p14="http://schemas.microsoft.com/office/powerpoint/2010/main" val="3315201304"/>
      </p:ext>
    </p:extLst>
  </p:cSld>
  <p:clrMap bg1="lt1" tx1="dk1" bg2="lt2" tx2="dk2" accent1="accent1" accent2="accent2" accent3="accent3" accent4="accent4" accent5="accent5" accent6="accent6" hlink="hlink" folHlink="folHlink"/>
  <p:sldLayoutIdLst>
    <p:sldLayoutId id="2147483674" r:id="rId1"/>
    <p:sldLayoutId id="2147483652" r:id="rId2"/>
    <p:sldLayoutId id="2147483654" r:id="rId3"/>
    <p:sldLayoutId id="2147483655" r:id="rId4"/>
    <p:sldLayoutId id="2147483660" r:id="rId5"/>
    <p:sldLayoutId id="2147483675" r:id="rId6"/>
    <p:sldLayoutId id="2147483676" r:id="rId7"/>
    <p:sldLayoutId id="2147483677" r:id="rId8"/>
  </p:sldLayoutIdLst>
  <p:hf hdr="0" ftr="0" dt="0"/>
  <p:txStyles>
    <p:titleStyle>
      <a:lvl1pPr algn="l" defTabSz="914400" rtl="0" eaLnBrk="1" latinLnBrk="0" hangingPunct="1">
        <a:lnSpc>
          <a:spcPct val="90000"/>
        </a:lnSpc>
        <a:spcBef>
          <a:spcPct val="0"/>
        </a:spcBef>
        <a:buNone/>
        <a:defRPr sz="3200" kern="1200">
          <a:solidFill>
            <a:srgbClr val="3A5991"/>
          </a:solidFill>
          <a:latin typeface="微软雅黑" panose="020B0503020204020204" pitchFamily="34" charset="-122"/>
          <a:ea typeface="微软雅黑" panose="020B0503020204020204" pitchFamily="34" charset="-122"/>
          <a:cs typeface="+mj-cs"/>
        </a:defRPr>
      </a:lvl1pPr>
    </p:titleStyle>
    <p:bodyStyle>
      <a:lvl1pPr marL="457200" indent="-457200" algn="l" defTabSz="914400" rtl="0" eaLnBrk="1" latinLnBrk="0" hangingPunct="1">
        <a:lnSpc>
          <a:spcPct val="90000"/>
        </a:lnSpc>
        <a:spcBef>
          <a:spcPts val="1000"/>
        </a:spcBef>
        <a:buFont typeface="+mj-lt"/>
        <a:buAutoNum type="arabicPeriod"/>
        <a:defRPr sz="2400" kern="1200">
          <a:solidFill>
            <a:srgbClr val="3A599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65638" y="318476"/>
            <a:ext cx="10515600" cy="725121"/>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565638" y="1113448"/>
            <a:ext cx="10515600" cy="5011394"/>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endParaRPr lang="en-US" altLang="zh-CN" dirty="0"/>
          </a:p>
          <a:p>
            <a:pPr lvl="0"/>
            <a:r>
              <a:rPr lang="zh-CN" altLang="en-US" dirty="0"/>
              <a:t>单击此处编辑母版文本样式</a:t>
            </a:r>
          </a:p>
          <a:p>
            <a:pPr lvl="1"/>
            <a:r>
              <a:rPr lang="zh-CN" altLang="en-US" dirty="0"/>
              <a:t>第二级</a:t>
            </a:r>
          </a:p>
          <a:p>
            <a:pPr lvl="1"/>
            <a:endParaRPr lang="zh-CN" altLang="en-US" dirty="0"/>
          </a:p>
        </p:txBody>
      </p:sp>
    </p:spTree>
    <p:extLst>
      <p:ext uri="{BB962C8B-B14F-4D97-AF65-F5344CB8AC3E}">
        <p14:creationId xmlns:p14="http://schemas.microsoft.com/office/powerpoint/2010/main" val="411153265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defTabSz="914400" rtl="0" eaLnBrk="1" latinLnBrk="0" hangingPunct="1">
        <a:lnSpc>
          <a:spcPct val="90000"/>
        </a:lnSpc>
        <a:spcBef>
          <a:spcPct val="0"/>
        </a:spcBef>
        <a:buNone/>
        <a:defRPr sz="3200" kern="1200">
          <a:solidFill>
            <a:srgbClr val="3A5991"/>
          </a:solidFill>
          <a:latin typeface="微软雅黑" panose="020B0503020204020204" pitchFamily="34" charset="-122"/>
          <a:ea typeface="微软雅黑" panose="020B0503020204020204" pitchFamily="34" charset="-122"/>
          <a:cs typeface="+mj-cs"/>
        </a:defRPr>
      </a:lvl1pPr>
    </p:titleStyle>
    <p:bodyStyle>
      <a:lvl1pPr marL="457200" indent="-457200" algn="l" defTabSz="914400" rtl="0" eaLnBrk="1" latinLnBrk="0" hangingPunct="1">
        <a:lnSpc>
          <a:spcPct val="90000"/>
        </a:lnSpc>
        <a:spcBef>
          <a:spcPts val="1000"/>
        </a:spcBef>
        <a:buFont typeface="+mj-lt"/>
        <a:buAutoNum type="arabicPeriod"/>
        <a:defRPr sz="2400" kern="1200">
          <a:solidFill>
            <a:srgbClr val="3A599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2.wdp"/></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microsoft.com/office/2007/relationships/hdphoto" Target="../media/hdphoto4.wdp"/></Relationships>
</file>

<file path=ppt/slides/_rels/slide1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8.png"/><Relationship Id="rId1" Type="http://schemas.openxmlformats.org/officeDocument/2006/relationships/slideLayout" Target="../slideLayouts/slideLayout2.xml"/><Relationship Id="rId5" Type="http://schemas.microsoft.com/office/2007/relationships/hdphoto" Target="../media/hdphoto8.wdp"/><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microsoft.com/office/2007/relationships/hdphoto" Target="../media/hdphoto9.wdp"/></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microsoft.com/office/2007/relationships/hdphoto" Target="../media/hdphoto10.wdp"/></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E68668C-E989-456D-8173-377CB1C7F961}"/>
              </a:ext>
            </a:extLst>
          </p:cNvPr>
          <p:cNvSpPr txBox="1"/>
          <p:nvPr/>
        </p:nvSpPr>
        <p:spPr>
          <a:xfrm>
            <a:off x="645702" y="1638390"/>
            <a:ext cx="10752811" cy="1477328"/>
          </a:xfrm>
          <a:prstGeom prst="rect">
            <a:avLst/>
          </a:prstGeom>
          <a:noFill/>
        </p:spPr>
        <p:txBody>
          <a:bodyPr wrap="square" rtlCol="0">
            <a:spAutoFit/>
          </a:bodyPr>
          <a:lstStyle>
            <a:defPPr>
              <a:defRPr lang="zh-CN"/>
            </a:defPPr>
            <a:lvl1pPr algn="ctr">
              <a:lnSpc>
                <a:spcPct val="150000"/>
              </a:lnSpc>
              <a:defRPr sz="8800" b="1" spc="600">
                <a:solidFill>
                  <a:srgbClr val="3A5991"/>
                </a:solidFill>
                <a:latin typeface="Times New Roman" panose="02020603050405020304" pitchFamily="18" charset="0"/>
                <a:ea typeface="微软雅黑" panose="020B0503020204020204" pitchFamily="34" charset="-122"/>
              </a:defRPr>
            </a:lvl1pPr>
          </a:lstStyle>
          <a:p>
            <a:r>
              <a:rPr lang="zh-CN" altLang="en-US" sz="6000" dirty="0">
                <a:solidFill>
                  <a:schemeClr val="tx1"/>
                </a:solidFill>
              </a:rPr>
              <a:t>第六章 性别决定与伴性遗传</a:t>
            </a:r>
          </a:p>
        </p:txBody>
      </p:sp>
    </p:spTree>
    <p:extLst>
      <p:ext uri="{BB962C8B-B14F-4D97-AF65-F5344CB8AC3E}">
        <p14:creationId xmlns:p14="http://schemas.microsoft.com/office/powerpoint/2010/main" val="3435538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10"/>
          <p:cNvSpPr>
            <a:spLocks noGrp="1" noChangeArrowheads="1"/>
          </p:cNvSpPr>
          <p:nvPr>
            <p:ph type="title"/>
          </p:nvPr>
        </p:nvSpPr>
        <p:spPr>
          <a:xfrm>
            <a:off x="503767" y="169863"/>
            <a:ext cx="10363200" cy="914400"/>
          </a:xfrm>
        </p:spPr>
        <p:txBody>
          <a:bodyPr/>
          <a:lstStyle/>
          <a:p>
            <a:pPr algn="l" eaLnBrk="1" hangingPunct="1"/>
            <a:r>
              <a:rPr lang="zh-CN" altLang="en-US" sz="4000" b="1" dirty="0">
                <a:solidFill>
                  <a:srgbClr val="FF0000"/>
                </a:solidFill>
                <a:ea typeface="黑体" pitchFamily="49" charset="-122"/>
              </a:rPr>
              <a:t>基本概念</a:t>
            </a:r>
          </a:p>
        </p:txBody>
      </p:sp>
      <p:sp>
        <p:nvSpPr>
          <p:cNvPr id="6155" name="Rectangle 11"/>
          <p:cNvSpPr>
            <a:spLocks noGrp="1" noChangeArrowheads="1"/>
          </p:cNvSpPr>
          <p:nvPr>
            <p:ph type="body" idx="1"/>
          </p:nvPr>
        </p:nvSpPr>
        <p:spPr>
          <a:xfrm>
            <a:off x="503767" y="1084263"/>
            <a:ext cx="11184466" cy="4876800"/>
          </a:xfrm>
        </p:spPr>
        <p:txBody>
          <a:bodyPr/>
          <a:lstStyle/>
          <a:p>
            <a:pPr eaLnBrk="1" hangingPunct="1">
              <a:lnSpc>
                <a:spcPct val="115000"/>
              </a:lnSpc>
              <a:spcBef>
                <a:spcPct val="30000"/>
              </a:spcBef>
              <a:buFont typeface="Wingdings" pitchFamily="2" charset="2"/>
              <a:buChar char="Ø"/>
            </a:pPr>
            <a:r>
              <a:rPr lang="zh-CN" altLang="en-US" sz="2800" b="1" dirty="0">
                <a:solidFill>
                  <a:schemeClr val="tx1"/>
                </a:solidFill>
                <a:latin typeface="黑体" pitchFamily="49" charset="-122"/>
                <a:ea typeface="黑体" pitchFamily="49" charset="-122"/>
              </a:rPr>
              <a:t>性别是生物的一种重要的性状，它主要涉及至</a:t>
            </a:r>
            <a:r>
              <a:rPr lang="zh-CN" altLang="en-US" sz="2800" b="1" dirty="0">
                <a:solidFill>
                  <a:srgbClr val="FF0000"/>
                </a:solidFill>
                <a:latin typeface="黑体" pitchFamily="49" charset="-122"/>
                <a:ea typeface="黑体" pitchFamily="49" charset="-122"/>
              </a:rPr>
              <a:t>性别决定</a:t>
            </a:r>
            <a:r>
              <a:rPr lang="en-US" altLang="zh-CN" sz="2800" b="1" dirty="0">
                <a:solidFill>
                  <a:schemeClr val="tx1"/>
                </a:solidFill>
                <a:latin typeface="黑体" pitchFamily="49" charset="-122"/>
                <a:ea typeface="黑体" pitchFamily="49" charset="-122"/>
              </a:rPr>
              <a:t>(sex determination)</a:t>
            </a:r>
            <a:r>
              <a:rPr lang="zh-CN" altLang="en-US" sz="2800" b="1" dirty="0">
                <a:solidFill>
                  <a:schemeClr val="tx1"/>
                </a:solidFill>
                <a:latin typeface="黑体" pitchFamily="49" charset="-122"/>
                <a:ea typeface="黑体" pitchFamily="49" charset="-122"/>
              </a:rPr>
              <a:t>和</a:t>
            </a:r>
            <a:r>
              <a:rPr lang="zh-CN" altLang="en-US" sz="2800" b="1" dirty="0">
                <a:solidFill>
                  <a:srgbClr val="FF0000"/>
                </a:solidFill>
                <a:latin typeface="黑体" pitchFamily="49" charset="-122"/>
                <a:ea typeface="黑体" pitchFamily="49" charset="-122"/>
              </a:rPr>
              <a:t>性别分化</a:t>
            </a:r>
            <a:r>
              <a:rPr lang="en-US" altLang="zh-CN" sz="2800" b="1" dirty="0">
                <a:solidFill>
                  <a:schemeClr val="tx1"/>
                </a:solidFill>
                <a:latin typeface="黑体" pitchFamily="49" charset="-122"/>
                <a:ea typeface="黑体" pitchFamily="49" charset="-122"/>
              </a:rPr>
              <a:t>(sex differentiation)</a:t>
            </a:r>
            <a:r>
              <a:rPr lang="zh-CN" altLang="en-US" sz="2800" b="1" dirty="0">
                <a:solidFill>
                  <a:schemeClr val="tx1"/>
                </a:solidFill>
                <a:latin typeface="黑体" pitchFamily="49" charset="-122"/>
                <a:ea typeface="黑体" pitchFamily="49" charset="-122"/>
              </a:rPr>
              <a:t>。</a:t>
            </a:r>
            <a:r>
              <a:rPr lang="zh-CN" altLang="en-US" sz="2800" b="1" dirty="0">
                <a:solidFill>
                  <a:srgbClr val="0000FF"/>
                </a:solidFill>
                <a:latin typeface="黑体" pitchFamily="49" charset="-122"/>
                <a:ea typeface="黑体" pitchFamily="49" charset="-122"/>
              </a:rPr>
              <a:t>前者是指在各种因子的调控下，决定了性腺。后者指的是某些体细胞在性激素的作用下分化发育成内外生殖器以及第二性征</a:t>
            </a:r>
            <a:r>
              <a:rPr lang="zh-CN" altLang="en-US" sz="2800" b="1" dirty="0">
                <a:solidFill>
                  <a:schemeClr val="tx1"/>
                </a:solidFill>
                <a:latin typeface="黑体" pitchFamily="49" charset="-122"/>
                <a:ea typeface="黑体" pitchFamily="49" charset="-122"/>
              </a:rPr>
              <a:t>。</a:t>
            </a:r>
          </a:p>
          <a:p>
            <a:pPr eaLnBrk="1" hangingPunct="1">
              <a:lnSpc>
                <a:spcPct val="115000"/>
              </a:lnSpc>
              <a:spcBef>
                <a:spcPct val="30000"/>
              </a:spcBef>
              <a:buFont typeface="Wingdings" pitchFamily="2" charset="2"/>
              <a:buChar char="Ø"/>
            </a:pPr>
            <a:r>
              <a:rPr lang="zh-CN" altLang="en-US" sz="2800" b="1" dirty="0">
                <a:solidFill>
                  <a:schemeClr val="tx1"/>
                </a:solidFill>
                <a:latin typeface="黑体" pitchFamily="49" charset="-122"/>
                <a:ea typeface="黑体" pitchFamily="49" charset="-122"/>
              </a:rPr>
              <a:t>生物性别的决定机制可分为四类，即</a:t>
            </a:r>
            <a:r>
              <a:rPr lang="zh-CN" altLang="en-US" sz="2800" b="1" dirty="0">
                <a:solidFill>
                  <a:srgbClr val="FF0000"/>
                </a:solidFill>
                <a:latin typeface="黑体" pitchFamily="49" charset="-122"/>
                <a:ea typeface="黑体" pitchFamily="49" charset="-122"/>
              </a:rPr>
              <a:t>①性染色体</a:t>
            </a:r>
            <a:r>
              <a:rPr lang="en-US" altLang="zh-CN" sz="2800" b="1" dirty="0">
                <a:solidFill>
                  <a:srgbClr val="FF0000"/>
                </a:solidFill>
                <a:latin typeface="黑体" pitchFamily="49" charset="-122"/>
                <a:ea typeface="黑体" pitchFamily="49" charset="-122"/>
              </a:rPr>
              <a:t>;②</a:t>
            </a:r>
            <a:r>
              <a:rPr lang="zh-CN" altLang="en-US" sz="2800" b="1" dirty="0">
                <a:solidFill>
                  <a:srgbClr val="FF0000"/>
                </a:solidFill>
                <a:latin typeface="黑体" pitchFamily="49" charset="-122"/>
                <a:ea typeface="黑体" pitchFamily="49" charset="-122"/>
              </a:rPr>
              <a:t>基因型</a:t>
            </a:r>
            <a:r>
              <a:rPr lang="en-US" altLang="zh-CN" sz="2800" b="1" dirty="0">
                <a:solidFill>
                  <a:srgbClr val="FF0000"/>
                </a:solidFill>
                <a:latin typeface="黑体" pitchFamily="49" charset="-122"/>
                <a:ea typeface="黑体" pitchFamily="49" charset="-122"/>
              </a:rPr>
              <a:t>;③</a:t>
            </a:r>
            <a:r>
              <a:rPr lang="zh-CN" altLang="en-US" sz="2800" b="1" dirty="0">
                <a:solidFill>
                  <a:srgbClr val="FF0000"/>
                </a:solidFill>
                <a:latin typeface="黑体" pitchFamily="49" charset="-122"/>
                <a:ea typeface="黑体" pitchFamily="49" charset="-122"/>
              </a:rPr>
              <a:t>性指数</a:t>
            </a:r>
            <a:r>
              <a:rPr lang="en-US" altLang="zh-CN" sz="2800" b="1" dirty="0">
                <a:solidFill>
                  <a:srgbClr val="FF0000"/>
                </a:solidFill>
                <a:latin typeface="黑体" pitchFamily="49" charset="-122"/>
                <a:ea typeface="黑体" pitchFamily="49" charset="-122"/>
              </a:rPr>
              <a:t>;④</a:t>
            </a:r>
            <a:r>
              <a:rPr lang="zh-CN" altLang="en-US" sz="2800" b="1" dirty="0">
                <a:solidFill>
                  <a:srgbClr val="FF0000"/>
                </a:solidFill>
                <a:latin typeface="黑体" pitchFamily="49" charset="-122"/>
                <a:ea typeface="黑体" pitchFamily="49" charset="-122"/>
              </a:rPr>
              <a:t>环境条件</a:t>
            </a:r>
            <a:r>
              <a:rPr lang="zh-CN" altLang="en-US" sz="2800" b="1" dirty="0">
                <a:solidFill>
                  <a:schemeClr val="tx1"/>
                </a:solidFill>
                <a:latin typeface="黑体" pitchFamily="49" charset="-122"/>
                <a:ea typeface="黑体" pitchFamily="49" charset="-122"/>
              </a:rPr>
              <a:t>。</a:t>
            </a:r>
          </a:p>
          <a:p>
            <a:pPr eaLnBrk="1" hangingPunct="1">
              <a:lnSpc>
                <a:spcPct val="115000"/>
              </a:lnSpc>
              <a:spcBef>
                <a:spcPct val="30000"/>
              </a:spcBef>
              <a:buFont typeface="Wingdings" pitchFamily="2" charset="2"/>
              <a:buChar char="Ø"/>
            </a:pPr>
            <a:r>
              <a:rPr lang="zh-CN" altLang="en-US" sz="2800" b="1" dirty="0">
                <a:solidFill>
                  <a:schemeClr val="tx1"/>
                </a:solidFill>
                <a:latin typeface="黑体" pitchFamily="49" charset="-122"/>
                <a:ea typeface="黑体" pitchFamily="49" charset="-122"/>
              </a:rPr>
              <a:t>三种不同的性染色体系统分别是</a:t>
            </a:r>
            <a:r>
              <a:rPr lang="en-US" altLang="zh-CN" sz="2800" b="1" dirty="0">
                <a:solidFill>
                  <a:srgbClr val="0000FF"/>
                </a:solidFill>
                <a:latin typeface="黑体" pitchFamily="49" charset="-122"/>
                <a:ea typeface="黑体" pitchFamily="49" charset="-122"/>
              </a:rPr>
              <a:t>XX-XO</a:t>
            </a:r>
            <a:r>
              <a:rPr lang="zh-CN" altLang="en-US" sz="2800" b="1" dirty="0">
                <a:solidFill>
                  <a:srgbClr val="0000FF"/>
                </a:solidFill>
                <a:latin typeface="黑体" pitchFamily="49" charset="-122"/>
                <a:ea typeface="黑体" pitchFamily="49" charset="-122"/>
              </a:rPr>
              <a:t>，</a:t>
            </a:r>
            <a:r>
              <a:rPr lang="en-US" altLang="zh-CN" sz="2800" b="1" dirty="0">
                <a:solidFill>
                  <a:srgbClr val="0000FF"/>
                </a:solidFill>
                <a:latin typeface="黑体" pitchFamily="49" charset="-122"/>
                <a:ea typeface="黑体" pitchFamily="49" charset="-122"/>
              </a:rPr>
              <a:t>XX-XY</a:t>
            </a:r>
            <a:r>
              <a:rPr lang="zh-CN" altLang="en-US" sz="2800" b="1" dirty="0">
                <a:solidFill>
                  <a:srgbClr val="0000FF"/>
                </a:solidFill>
                <a:latin typeface="黑体" pitchFamily="49" charset="-122"/>
                <a:ea typeface="黑体" pitchFamily="49" charset="-122"/>
              </a:rPr>
              <a:t>，</a:t>
            </a:r>
            <a:r>
              <a:rPr lang="en-US" altLang="zh-CN" sz="2800" b="1" dirty="0">
                <a:solidFill>
                  <a:srgbClr val="0000FF"/>
                </a:solidFill>
                <a:latin typeface="黑体" pitchFamily="49" charset="-122"/>
                <a:ea typeface="黑体" pitchFamily="49" charset="-122"/>
              </a:rPr>
              <a:t>ZZ-ZW</a:t>
            </a:r>
            <a:r>
              <a:rPr lang="zh-CN" altLang="en-US" sz="2800" b="1" dirty="0">
                <a:solidFill>
                  <a:schemeClr val="tx1"/>
                </a:solidFill>
                <a:latin typeface="黑体" pitchFamily="49" charset="-122"/>
                <a:ea typeface="黑体" pitchFamily="49" charset="-122"/>
              </a:rPr>
              <a:t>。</a:t>
            </a:r>
          </a:p>
        </p:txBody>
      </p:sp>
    </p:spTree>
    <p:extLst>
      <p:ext uri="{BB962C8B-B14F-4D97-AF65-F5344CB8AC3E}">
        <p14:creationId xmlns:p14="http://schemas.microsoft.com/office/powerpoint/2010/main" val="20925815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55">
                                            <p:txEl>
                                              <p:pRg st="0" end="0"/>
                                            </p:txEl>
                                          </p:spTgt>
                                        </p:tgtEl>
                                        <p:attrNameLst>
                                          <p:attrName>style.visibility</p:attrName>
                                        </p:attrNameLst>
                                      </p:cBhvr>
                                      <p:to>
                                        <p:strVal val="visible"/>
                                      </p:to>
                                    </p:set>
                                    <p:anim calcmode="lin" valueType="num">
                                      <p:cBhvr additive="base">
                                        <p:cTn id="7" dur="500" fill="hold"/>
                                        <p:tgtEl>
                                          <p:spTgt spid="61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55">
                                            <p:txEl>
                                              <p:pRg st="1" end="1"/>
                                            </p:txEl>
                                          </p:spTgt>
                                        </p:tgtEl>
                                        <p:attrNameLst>
                                          <p:attrName>style.visibility</p:attrName>
                                        </p:attrNameLst>
                                      </p:cBhvr>
                                      <p:to>
                                        <p:strVal val="visible"/>
                                      </p:to>
                                    </p:set>
                                    <p:anim calcmode="lin" valueType="num">
                                      <p:cBhvr additive="base">
                                        <p:cTn id="13" dur="500" fill="hold"/>
                                        <p:tgtEl>
                                          <p:spTgt spid="61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1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155">
                                            <p:txEl>
                                              <p:pRg st="2" end="2"/>
                                            </p:txEl>
                                          </p:spTgt>
                                        </p:tgtEl>
                                        <p:attrNameLst>
                                          <p:attrName>style.visibility</p:attrName>
                                        </p:attrNameLst>
                                      </p:cBhvr>
                                      <p:to>
                                        <p:strVal val="visible"/>
                                      </p:to>
                                    </p:set>
                                    <p:anim calcmode="lin" valueType="num">
                                      <p:cBhvr additive="base">
                                        <p:cTn id="19" dur="500" fill="hold"/>
                                        <p:tgtEl>
                                          <p:spTgt spid="61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15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5"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4387" name="Rectangle 3"/>
          <p:cNvSpPr>
            <a:spLocks noGrp="1" noChangeArrowheads="1"/>
          </p:cNvSpPr>
          <p:nvPr>
            <p:ph type="body" idx="1"/>
          </p:nvPr>
        </p:nvSpPr>
        <p:spPr>
          <a:xfrm>
            <a:off x="330200" y="990600"/>
            <a:ext cx="11313584" cy="3381375"/>
          </a:xfrm>
        </p:spPr>
        <p:txBody>
          <a:bodyPr/>
          <a:lstStyle/>
          <a:p>
            <a:pPr eaLnBrk="1" hangingPunct="1">
              <a:lnSpc>
                <a:spcPct val="115000"/>
              </a:lnSpc>
              <a:spcBef>
                <a:spcPct val="30000"/>
              </a:spcBef>
              <a:buFont typeface="Wingdings" pitchFamily="2" charset="2"/>
              <a:buChar char="Ø"/>
            </a:pPr>
            <a:r>
              <a:rPr lang="zh-CN" altLang="en-US" sz="2800" b="1" dirty="0">
                <a:solidFill>
                  <a:schemeClr val="tx1"/>
                </a:solidFill>
                <a:latin typeface="黑体" pitchFamily="49" charset="-122"/>
                <a:ea typeface="黑体" pitchFamily="49" charset="-122"/>
              </a:rPr>
              <a:t>具有两个相同性染色体的性别称</a:t>
            </a:r>
            <a:r>
              <a:rPr lang="zh-CN" altLang="en-US" sz="2800" b="1" dirty="0">
                <a:solidFill>
                  <a:srgbClr val="FF0000"/>
                </a:solidFill>
                <a:latin typeface="黑体" pitchFamily="49" charset="-122"/>
                <a:ea typeface="黑体" pitchFamily="49" charset="-122"/>
              </a:rPr>
              <a:t>同配性别</a:t>
            </a:r>
            <a:r>
              <a:rPr lang="zh-CN" altLang="en-US" sz="2800" b="1" dirty="0">
                <a:solidFill>
                  <a:schemeClr val="tx1"/>
                </a:solidFill>
                <a:latin typeface="黑体" pitchFamily="49" charset="-122"/>
                <a:ea typeface="黑体" pitchFamily="49" charset="-122"/>
              </a:rPr>
              <a:t>，带有不同性染色体的称</a:t>
            </a:r>
            <a:r>
              <a:rPr lang="zh-CN" altLang="en-US" sz="2800" b="1" dirty="0">
                <a:solidFill>
                  <a:srgbClr val="FF0000"/>
                </a:solidFill>
                <a:latin typeface="黑体" pitchFamily="49" charset="-122"/>
                <a:ea typeface="黑体" pitchFamily="49" charset="-122"/>
              </a:rPr>
              <a:t>异配性别</a:t>
            </a:r>
            <a:r>
              <a:rPr lang="zh-CN" altLang="en-US" sz="2800" b="1" dirty="0">
                <a:solidFill>
                  <a:schemeClr val="tx1"/>
                </a:solidFill>
                <a:latin typeface="黑体" pitchFamily="49" charset="-122"/>
                <a:ea typeface="黑体" pitchFamily="49" charset="-122"/>
              </a:rPr>
              <a:t>。</a:t>
            </a:r>
          </a:p>
          <a:p>
            <a:pPr eaLnBrk="1" hangingPunct="1">
              <a:lnSpc>
                <a:spcPct val="115000"/>
              </a:lnSpc>
              <a:spcBef>
                <a:spcPct val="30000"/>
              </a:spcBef>
              <a:buFont typeface="Wingdings" pitchFamily="2" charset="2"/>
              <a:buChar char="Ø"/>
            </a:pPr>
            <a:r>
              <a:rPr lang="zh-CN" altLang="en-US" sz="2800" b="1" dirty="0">
                <a:solidFill>
                  <a:schemeClr val="tx1"/>
                </a:solidFill>
                <a:latin typeface="黑体" pitchFamily="49" charset="-122"/>
                <a:ea typeface="黑体" pitchFamily="49" charset="-122"/>
              </a:rPr>
              <a:t>大部分的植物都是两性的，少数植物具有</a:t>
            </a:r>
            <a:r>
              <a:rPr lang="en-US" altLang="zh-CN" sz="2800" b="1" dirty="0">
                <a:solidFill>
                  <a:schemeClr val="tx1"/>
                </a:solidFill>
                <a:latin typeface="黑体" pitchFamily="49" charset="-122"/>
                <a:ea typeface="黑体" pitchFamily="49" charset="-122"/>
              </a:rPr>
              <a:t>XX-XY</a:t>
            </a:r>
            <a:r>
              <a:rPr lang="zh-CN" altLang="en-US" sz="2800" b="1" dirty="0">
                <a:solidFill>
                  <a:schemeClr val="tx1"/>
                </a:solidFill>
                <a:latin typeface="黑体" pitchFamily="49" charset="-122"/>
                <a:ea typeface="黑体" pitchFamily="49" charset="-122"/>
              </a:rPr>
              <a:t>性染色体系统，称为雌雄异株植物。</a:t>
            </a:r>
          </a:p>
          <a:p>
            <a:pPr eaLnBrk="1" hangingPunct="1">
              <a:lnSpc>
                <a:spcPct val="115000"/>
              </a:lnSpc>
              <a:spcBef>
                <a:spcPct val="30000"/>
              </a:spcBef>
              <a:buFont typeface="Wingdings" pitchFamily="2" charset="2"/>
              <a:buChar char="Ø"/>
            </a:pPr>
            <a:r>
              <a:rPr lang="zh-CN" altLang="en-US" sz="2800" b="1" dirty="0">
                <a:solidFill>
                  <a:schemeClr val="tx1"/>
                </a:solidFill>
                <a:latin typeface="黑体" pitchFamily="49" charset="-122"/>
                <a:ea typeface="黑体" pitchFamily="49" charset="-122"/>
              </a:rPr>
              <a:t>和性别相关的遗传都称为性相关遗传</a:t>
            </a:r>
            <a:r>
              <a:rPr lang="en-US" altLang="zh-CN" sz="2800" b="1" dirty="0">
                <a:solidFill>
                  <a:schemeClr val="tx1"/>
                </a:solidFill>
                <a:latin typeface="黑体" pitchFamily="49" charset="-122"/>
                <a:ea typeface="黑体" pitchFamily="49" charset="-122"/>
              </a:rPr>
              <a:t>(sex-related inheritance)</a:t>
            </a:r>
            <a:r>
              <a:rPr lang="zh-CN" altLang="en-US" sz="2800" b="1" dirty="0">
                <a:solidFill>
                  <a:schemeClr val="tx1"/>
                </a:solidFill>
                <a:latin typeface="黑体" pitchFamily="49" charset="-122"/>
                <a:ea typeface="黑体" pitchFamily="49" charset="-122"/>
              </a:rPr>
              <a:t>，性相关遗传有三种类型：</a:t>
            </a:r>
            <a:r>
              <a:rPr lang="zh-CN" altLang="en-US" sz="2800" b="1" dirty="0">
                <a:solidFill>
                  <a:srgbClr val="FF0000"/>
                </a:solidFill>
                <a:latin typeface="黑体" pitchFamily="49" charset="-122"/>
                <a:ea typeface="黑体" pitchFamily="49" charset="-122"/>
              </a:rPr>
              <a:t>伴性遗传、从性遗传</a:t>
            </a:r>
            <a:r>
              <a:rPr lang="zh-CN" altLang="en-US" sz="2800" b="1" dirty="0">
                <a:solidFill>
                  <a:schemeClr val="tx1"/>
                </a:solidFill>
                <a:latin typeface="黑体" pitchFamily="49" charset="-122"/>
                <a:ea typeface="黑体" pitchFamily="49" charset="-122"/>
              </a:rPr>
              <a:t>和</a:t>
            </a:r>
            <a:r>
              <a:rPr lang="zh-CN" altLang="en-US" sz="2800" b="1" dirty="0">
                <a:solidFill>
                  <a:srgbClr val="FF0000"/>
                </a:solidFill>
                <a:latin typeface="黑体" pitchFamily="49" charset="-122"/>
                <a:ea typeface="黑体" pitchFamily="49" charset="-122"/>
              </a:rPr>
              <a:t>限性遗传</a:t>
            </a:r>
            <a:r>
              <a:rPr lang="zh-CN" altLang="en-US" sz="2800" b="1" dirty="0">
                <a:solidFill>
                  <a:schemeClr val="tx1"/>
                </a:solidFill>
                <a:latin typeface="黑体" pitchFamily="49" charset="-122"/>
                <a:ea typeface="黑体" pitchFamily="49" charset="-122"/>
              </a:rPr>
              <a:t>。</a:t>
            </a:r>
          </a:p>
        </p:txBody>
      </p:sp>
      <p:sp>
        <p:nvSpPr>
          <p:cNvPr id="4" name="Rectangle 10">
            <a:extLst>
              <a:ext uri="{FF2B5EF4-FFF2-40B4-BE49-F238E27FC236}">
                <a16:creationId xmlns:a16="http://schemas.microsoft.com/office/drawing/2014/main" id="{9E1A439B-4912-87B1-77BD-1D3E0CECEA2D}"/>
              </a:ext>
            </a:extLst>
          </p:cNvPr>
          <p:cNvSpPr>
            <a:spLocks noGrp="1" noChangeArrowheads="1"/>
          </p:cNvSpPr>
          <p:nvPr>
            <p:ph type="title"/>
          </p:nvPr>
        </p:nvSpPr>
        <p:spPr>
          <a:xfrm>
            <a:off x="503767" y="169863"/>
            <a:ext cx="10363200" cy="914400"/>
          </a:xfrm>
        </p:spPr>
        <p:txBody>
          <a:bodyPr/>
          <a:lstStyle/>
          <a:p>
            <a:pPr algn="l" eaLnBrk="1" hangingPunct="1"/>
            <a:r>
              <a:rPr lang="zh-CN" altLang="en-US" sz="4000" b="1" dirty="0">
                <a:solidFill>
                  <a:srgbClr val="FF0000"/>
                </a:solidFill>
                <a:ea typeface="黑体" pitchFamily="49" charset="-122"/>
              </a:rPr>
              <a:t>基本概念</a:t>
            </a:r>
          </a:p>
        </p:txBody>
      </p:sp>
    </p:spTree>
    <p:extLst>
      <p:ext uri="{BB962C8B-B14F-4D97-AF65-F5344CB8AC3E}">
        <p14:creationId xmlns:p14="http://schemas.microsoft.com/office/powerpoint/2010/main" val="40028679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4387">
                                            <p:txEl>
                                              <p:pRg st="0" end="0"/>
                                            </p:txEl>
                                          </p:spTgt>
                                        </p:tgtEl>
                                        <p:attrNameLst>
                                          <p:attrName>style.visibility</p:attrName>
                                        </p:attrNameLst>
                                      </p:cBhvr>
                                      <p:to>
                                        <p:strVal val="visible"/>
                                      </p:to>
                                    </p:set>
                                    <p:anim calcmode="lin" valueType="num">
                                      <p:cBhvr additive="base">
                                        <p:cTn id="7" dur="500" fill="hold"/>
                                        <p:tgtEl>
                                          <p:spTgt spid="1443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43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4387">
                                            <p:txEl>
                                              <p:pRg st="1" end="1"/>
                                            </p:txEl>
                                          </p:spTgt>
                                        </p:tgtEl>
                                        <p:attrNameLst>
                                          <p:attrName>style.visibility</p:attrName>
                                        </p:attrNameLst>
                                      </p:cBhvr>
                                      <p:to>
                                        <p:strVal val="visible"/>
                                      </p:to>
                                    </p:set>
                                    <p:anim calcmode="lin" valueType="num">
                                      <p:cBhvr additive="base">
                                        <p:cTn id="13" dur="500" fill="hold"/>
                                        <p:tgtEl>
                                          <p:spTgt spid="14438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43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4387">
                                            <p:txEl>
                                              <p:pRg st="2" end="2"/>
                                            </p:txEl>
                                          </p:spTgt>
                                        </p:tgtEl>
                                        <p:attrNameLst>
                                          <p:attrName>style.visibility</p:attrName>
                                        </p:attrNameLst>
                                      </p:cBhvr>
                                      <p:to>
                                        <p:strVal val="visible"/>
                                      </p:to>
                                    </p:set>
                                    <p:anim calcmode="lin" valueType="num">
                                      <p:cBhvr additive="base">
                                        <p:cTn id="19" dur="500" fill="hold"/>
                                        <p:tgtEl>
                                          <p:spTgt spid="14438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438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7"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标题 173057"/>
          <p:cNvSpPr>
            <a:spLocks noGrp="1" noChangeArrowheads="1"/>
          </p:cNvSpPr>
          <p:nvPr>
            <p:ph type="title"/>
          </p:nvPr>
        </p:nvSpPr>
        <p:spPr>
          <a:xfrm>
            <a:off x="137584" y="-79375"/>
            <a:ext cx="10972800" cy="1143000"/>
          </a:xfrm>
        </p:spPr>
        <p:txBody>
          <a:bodyPr/>
          <a:lstStyle/>
          <a:p>
            <a:pPr algn="l"/>
            <a:r>
              <a:rPr lang="zh-CN" altLang="en-US" sz="3600" b="1" dirty="0">
                <a:solidFill>
                  <a:srgbClr val="0000FF"/>
                </a:solidFill>
                <a:latin typeface="黑体" pitchFamily="49" charset="-122"/>
                <a:ea typeface="黑体" pitchFamily="49" charset="-122"/>
              </a:rPr>
              <a:t>一、性染色体决定性别的方式</a:t>
            </a:r>
            <a:endParaRPr lang="zh-CN" altLang="en-US" sz="2000" b="1" dirty="0">
              <a:solidFill>
                <a:srgbClr val="0000FF"/>
              </a:solidFill>
              <a:latin typeface="黑体" pitchFamily="49" charset="-122"/>
              <a:ea typeface="黑体" pitchFamily="49" charset="-122"/>
            </a:endParaRPr>
          </a:p>
        </p:txBody>
      </p:sp>
      <p:sp>
        <p:nvSpPr>
          <p:cNvPr id="173060" name="内容占位符 173059"/>
          <p:cNvSpPr>
            <a:spLocks noGrp="1" noChangeArrowheads="1"/>
          </p:cNvSpPr>
          <p:nvPr>
            <p:ph sz="half" idx="2"/>
          </p:nvPr>
        </p:nvSpPr>
        <p:spPr>
          <a:xfrm>
            <a:off x="6366934" y="895350"/>
            <a:ext cx="5575300" cy="4371975"/>
          </a:xfrm>
        </p:spPr>
        <p:txBody>
          <a:bodyPr>
            <a:normAutofit/>
          </a:bodyPr>
          <a:lstStyle/>
          <a:p>
            <a:pPr marL="0" indent="0">
              <a:lnSpc>
                <a:spcPct val="125000"/>
              </a:lnSpc>
              <a:buNone/>
            </a:pPr>
            <a:r>
              <a:rPr lang="en-US" altLang="zh-CN" sz="3200" b="1" dirty="0">
                <a:solidFill>
                  <a:schemeClr val="tx1"/>
                </a:solidFill>
                <a:latin typeface="黑体" pitchFamily="49" charset="-122"/>
                <a:ea typeface="黑体" pitchFamily="49" charset="-122"/>
              </a:rPr>
              <a:t>2.</a:t>
            </a:r>
            <a:r>
              <a:rPr lang="zh-CN" altLang="zh-CN" sz="3200" b="1" dirty="0">
                <a:solidFill>
                  <a:schemeClr val="tx1"/>
                </a:solidFill>
                <a:latin typeface="黑体" pitchFamily="49" charset="-122"/>
                <a:ea typeface="黑体" pitchFamily="49" charset="-122"/>
              </a:rPr>
              <a:t>XO型</a:t>
            </a:r>
            <a:r>
              <a:rPr lang="zh-CN" altLang="en-US" sz="3200" b="1" dirty="0">
                <a:solidFill>
                  <a:schemeClr val="tx1"/>
                </a:solidFill>
                <a:latin typeface="黑体" pitchFamily="49" charset="-122"/>
                <a:ea typeface="黑体" pitchFamily="49" charset="-122"/>
              </a:rPr>
              <a:t>：</a:t>
            </a:r>
            <a:endParaRPr lang="zh-CN" altLang="zh-CN" sz="3200" b="1" dirty="0">
              <a:solidFill>
                <a:schemeClr val="tx1"/>
              </a:solidFill>
              <a:latin typeface="黑体" pitchFamily="49" charset="-122"/>
              <a:ea typeface="黑体" pitchFamily="49" charset="-122"/>
            </a:endParaRPr>
          </a:p>
          <a:p>
            <a:pPr>
              <a:buFont typeface="Wingdings" pitchFamily="2" charset="2"/>
              <a:buChar char="Ø"/>
            </a:pPr>
            <a:r>
              <a:rPr lang="zh-CN" altLang="en-US" b="1" dirty="0">
                <a:solidFill>
                  <a:schemeClr val="tx1"/>
                </a:solidFill>
                <a:latin typeface="黑体" pitchFamily="49" charset="-122"/>
                <a:ea typeface="黑体" pitchFamily="49" charset="-122"/>
              </a:rPr>
              <a:t>与</a:t>
            </a:r>
            <a:r>
              <a:rPr lang="en-US" altLang="zh-CN" b="1" dirty="0">
                <a:solidFill>
                  <a:schemeClr val="tx1"/>
                </a:solidFill>
                <a:latin typeface="黑体" pitchFamily="49" charset="-122"/>
                <a:ea typeface="黑体" pitchFamily="49" charset="-122"/>
              </a:rPr>
              <a:t>XY</a:t>
            </a:r>
            <a:r>
              <a:rPr lang="zh-CN" altLang="en-US" b="1" dirty="0">
                <a:solidFill>
                  <a:schemeClr val="tx1"/>
                </a:solidFill>
                <a:latin typeface="黑体" pitchFamily="49" charset="-122"/>
                <a:ea typeface="黑体" pitchFamily="49" charset="-122"/>
              </a:rPr>
              <a:t>型相似，但只有一条性染色体</a:t>
            </a:r>
            <a:r>
              <a:rPr lang="en-US" altLang="zh-CN" b="1" dirty="0">
                <a:solidFill>
                  <a:schemeClr val="tx1"/>
                </a:solidFill>
                <a:latin typeface="黑体" pitchFamily="49" charset="-122"/>
                <a:ea typeface="黑体" pitchFamily="49" charset="-122"/>
              </a:rPr>
              <a:t>X</a:t>
            </a:r>
            <a:r>
              <a:rPr lang="zh-CN" altLang="en-US" b="1" dirty="0">
                <a:solidFill>
                  <a:schemeClr val="tx1"/>
                </a:solidFill>
                <a:latin typeface="黑体" pitchFamily="49" charset="-122"/>
                <a:ea typeface="黑体" pitchFamily="49" charset="-122"/>
              </a:rPr>
              <a:t>；</a:t>
            </a:r>
          </a:p>
          <a:p>
            <a:pPr>
              <a:buFont typeface="Wingdings" pitchFamily="2" charset="2"/>
              <a:buChar char="Ø"/>
            </a:pPr>
            <a:r>
              <a:rPr lang="zh-CN" altLang="en-US" b="1" dirty="0">
                <a:solidFill>
                  <a:schemeClr val="tx1"/>
                </a:solidFill>
                <a:latin typeface="黑体" pitchFamily="49" charset="-122"/>
                <a:ea typeface="黑体" pitchFamily="49" charset="-122"/>
              </a:rPr>
              <a:t>雄性个体只有一条</a:t>
            </a:r>
            <a:r>
              <a:rPr lang="en-US" altLang="zh-CN" b="1" dirty="0">
                <a:solidFill>
                  <a:schemeClr val="tx1"/>
                </a:solidFill>
                <a:latin typeface="黑体" pitchFamily="49" charset="-122"/>
                <a:ea typeface="黑体" pitchFamily="49" charset="-122"/>
              </a:rPr>
              <a:t>X</a:t>
            </a:r>
            <a:r>
              <a:rPr lang="zh-CN" altLang="en-US" b="1" dirty="0">
                <a:solidFill>
                  <a:schemeClr val="tx1"/>
                </a:solidFill>
                <a:latin typeface="黑体" pitchFamily="49" charset="-122"/>
                <a:ea typeface="黑体" pitchFamily="49" charset="-122"/>
              </a:rPr>
              <a:t>染色体</a:t>
            </a:r>
            <a:r>
              <a:rPr lang="en-US" altLang="zh-CN" b="1" dirty="0">
                <a:solidFill>
                  <a:schemeClr val="tx1"/>
                </a:solidFill>
                <a:latin typeface="黑体" pitchFamily="49" charset="-122"/>
                <a:ea typeface="黑体" pitchFamily="49" charset="-122"/>
              </a:rPr>
              <a:t>(XO</a:t>
            </a:r>
            <a:r>
              <a:rPr lang="zh-CN" altLang="en-US" b="1" dirty="0">
                <a:solidFill>
                  <a:schemeClr val="tx1"/>
                </a:solidFill>
                <a:latin typeface="黑体" pitchFamily="49" charset="-122"/>
                <a:ea typeface="黑体" pitchFamily="49" charset="-122"/>
              </a:rPr>
              <a:t>，不成对</a:t>
            </a:r>
            <a:r>
              <a:rPr lang="en-US" altLang="zh-CN" b="1" dirty="0">
                <a:solidFill>
                  <a:schemeClr val="tx1"/>
                </a:solidFill>
                <a:latin typeface="黑体" pitchFamily="49" charset="-122"/>
                <a:ea typeface="黑体" pitchFamily="49" charset="-122"/>
              </a:rPr>
              <a:t>)</a:t>
            </a:r>
            <a:r>
              <a:rPr lang="zh-CN" altLang="en-US" b="1" dirty="0">
                <a:solidFill>
                  <a:schemeClr val="tx1"/>
                </a:solidFill>
                <a:latin typeface="黑体" pitchFamily="49" charset="-122"/>
                <a:ea typeface="黑体" pitchFamily="49" charset="-122"/>
              </a:rPr>
              <a:t>，它产生含</a:t>
            </a:r>
            <a:r>
              <a:rPr lang="en-US" altLang="zh-CN" b="1" dirty="0">
                <a:solidFill>
                  <a:schemeClr val="tx1"/>
                </a:solidFill>
                <a:latin typeface="黑体" pitchFamily="49" charset="-122"/>
                <a:ea typeface="黑体" pitchFamily="49" charset="-122"/>
              </a:rPr>
              <a:t>X</a:t>
            </a:r>
            <a:r>
              <a:rPr lang="zh-CN" altLang="en-US" b="1" dirty="0">
                <a:solidFill>
                  <a:schemeClr val="tx1"/>
                </a:solidFill>
                <a:latin typeface="黑体" pitchFamily="49" charset="-122"/>
                <a:ea typeface="黑体" pitchFamily="49" charset="-122"/>
              </a:rPr>
              <a:t>染色体和不含性染色体两种类型的配子；</a:t>
            </a:r>
          </a:p>
          <a:p>
            <a:pPr>
              <a:buFont typeface="Wingdings" pitchFamily="2" charset="2"/>
              <a:buChar char="Ø"/>
            </a:pPr>
            <a:r>
              <a:rPr lang="zh-CN" altLang="en-US" b="1" dirty="0">
                <a:solidFill>
                  <a:schemeClr val="tx1"/>
                </a:solidFill>
                <a:latin typeface="黑体" pitchFamily="49" charset="-122"/>
                <a:ea typeface="黑体" pitchFamily="49" charset="-122"/>
              </a:rPr>
              <a:t>雌性个体性染色体为</a:t>
            </a:r>
            <a:r>
              <a:rPr lang="en-US" altLang="zh-CN" b="1" dirty="0">
                <a:solidFill>
                  <a:schemeClr val="tx1"/>
                </a:solidFill>
                <a:latin typeface="黑体" pitchFamily="49" charset="-122"/>
                <a:ea typeface="黑体" pitchFamily="49" charset="-122"/>
              </a:rPr>
              <a:t>XX</a:t>
            </a:r>
            <a:r>
              <a:rPr lang="zh-CN" altLang="en-US" b="1" dirty="0">
                <a:solidFill>
                  <a:schemeClr val="tx1"/>
                </a:solidFill>
                <a:latin typeface="黑体" pitchFamily="49" charset="-122"/>
                <a:ea typeface="黑体" pitchFamily="49" charset="-122"/>
              </a:rPr>
              <a:t>。</a:t>
            </a:r>
          </a:p>
          <a:p>
            <a:pPr>
              <a:buFont typeface="Wingdings" pitchFamily="2" charset="2"/>
              <a:buChar char="Ø"/>
            </a:pPr>
            <a:r>
              <a:rPr lang="zh-CN" altLang="en-US" b="1" dirty="0">
                <a:solidFill>
                  <a:schemeClr val="tx1"/>
                </a:solidFill>
                <a:latin typeface="黑体" pitchFamily="49" charset="-122"/>
                <a:ea typeface="黑体" pitchFamily="49" charset="-122"/>
              </a:rPr>
              <a:t>如：蝗虫、蟋蟀。</a:t>
            </a:r>
          </a:p>
        </p:txBody>
      </p:sp>
      <p:sp>
        <p:nvSpPr>
          <p:cNvPr id="173061" name="内容占位符 173060"/>
          <p:cNvSpPr>
            <a:spLocks noGrp="1" noChangeArrowheads="1"/>
          </p:cNvSpPr>
          <p:nvPr>
            <p:ph sz="half" idx="1"/>
          </p:nvPr>
        </p:nvSpPr>
        <p:spPr>
          <a:xfrm>
            <a:off x="237068" y="923925"/>
            <a:ext cx="5973232" cy="4752975"/>
          </a:xfrm>
        </p:spPr>
        <p:txBody>
          <a:bodyPr>
            <a:normAutofit/>
          </a:bodyPr>
          <a:lstStyle/>
          <a:p>
            <a:pPr marL="0" indent="0">
              <a:lnSpc>
                <a:spcPct val="125000"/>
              </a:lnSpc>
              <a:buNone/>
            </a:pPr>
            <a:r>
              <a:rPr lang="en-US" altLang="zh-CN" sz="3200" b="1" dirty="0">
                <a:solidFill>
                  <a:schemeClr val="tx1"/>
                </a:solidFill>
                <a:latin typeface="黑体" pitchFamily="49" charset="-122"/>
                <a:ea typeface="黑体" pitchFamily="49" charset="-122"/>
              </a:rPr>
              <a:t>1.</a:t>
            </a:r>
            <a:r>
              <a:rPr lang="zh-CN" altLang="en-US" sz="3200" b="1" dirty="0">
                <a:solidFill>
                  <a:schemeClr val="tx1"/>
                </a:solidFill>
                <a:latin typeface="黑体" pitchFamily="49" charset="-122"/>
                <a:ea typeface="黑体" pitchFamily="49" charset="-122"/>
              </a:rPr>
              <a:t>雄杂合型</a:t>
            </a:r>
            <a:r>
              <a:rPr lang="zh-CN" altLang="zh-CN" sz="3200" b="1" dirty="0">
                <a:solidFill>
                  <a:schemeClr val="tx1"/>
                </a:solidFill>
                <a:latin typeface="黑体" pitchFamily="49" charset="-122"/>
                <a:ea typeface="黑体" pitchFamily="49" charset="-122"/>
              </a:rPr>
              <a:t>(XY型</a:t>
            </a:r>
            <a:r>
              <a:rPr lang="en-US" altLang="zh-CN" sz="3200" b="1" dirty="0">
                <a:solidFill>
                  <a:schemeClr val="tx1"/>
                </a:solidFill>
                <a:latin typeface="黑体" pitchFamily="49" charset="-122"/>
                <a:ea typeface="黑体" pitchFamily="49" charset="-122"/>
              </a:rPr>
              <a:t>)</a:t>
            </a:r>
            <a:r>
              <a:rPr lang="zh-CN" altLang="en-US" sz="3200" b="1" dirty="0">
                <a:solidFill>
                  <a:schemeClr val="tx1"/>
                </a:solidFill>
                <a:latin typeface="黑体" pitchFamily="49" charset="-122"/>
                <a:ea typeface="黑体" pitchFamily="49" charset="-122"/>
              </a:rPr>
              <a:t>：</a:t>
            </a:r>
          </a:p>
          <a:p>
            <a:pPr>
              <a:buFont typeface="Wingdings" pitchFamily="2" charset="2"/>
              <a:buChar char="Ø"/>
            </a:pPr>
            <a:r>
              <a:rPr lang="zh-CN" altLang="en-US" b="1" dirty="0">
                <a:solidFill>
                  <a:schemeClr val="tx1"/>
                </a:solidFill>
                <a:latin typeface="黑体" pitchFamily="49" charset="-122"/>
                <a:ea typeface="黑体" pitchFamily="49" charset="-122"/>
              </a:rPr>
              <a:t>雄性个体的性染色体组成为</a:t>
            </a:r>
            <a:r>
              <a:rPr lang="en-US" altLang="zh-CN" b="1" dirty="0">
                <a:solidFill>
                  <a:schemeClr val="tx1"/>
                </a:solidFill>
                <a:latin typeface="黑体" pitchFamily="49" charset="-122"/>
                <a:ea typeface="黑体" pitchFamily="49" charset="-122"/>
              </a:rPr>
              <a:t>XY(</a:t>
            </a:r>
            <a:r>
              <a:rPr lang="zh-CN" altLang="en-US" b="1" dirty="0">
                <a:solidFill>
                  <a:schemeClr val="tx1"/>
                </a:solidFill>
                <a:latin typeface="黑体" pitchFamily="49" charset="-122"/>
                <a:ea typeface="黑体" pitchFamily="49" charset="-122"/>
              </a:rPr>
              <a:t>异配子性别</a:t>
            </a:r>
            <a:r>
              <a:rPr lang="en-US" altLang="zh-CN" b="1" dirty="0">
                <a:solidFill>
                  <a:schemeClr val="tx1"/>
                </a:solidFill>
                <a:latin typeface="黑体" pitchFamily="49" charset="-122"/>
                <a:ea typeface="黑体" pitchFamily="49" charset="-122"/>
              </a:rPr>
              <a:t>)</a:t>
            </a:r>
            <a:r>
              <a:rPr lang="zh-CN" altLang="en-US" b="1" dirty="0">
                <a:solidFill>
                  <a:schemeClr val="tx1"/>
                </a:solidFill>
                <a:latin typeface="黑体" pitchFamily="49" charset="-122"/>
                <a:ea typeface="黑体" pitchFamily="49" charset="-122"/>
              </a:rPr>
              <a:t>，产生两种类型的配子，分别含</a:t>
            </a:r>
            <a:r>
              <a:rPr lang="en-US" altLang="zh-CN" b="1" dirty="0">
                <a:solidFill>
                  <a:schemeClr val="tx1"/>
                </a:solidFill>
                <a:latin typeface="黑体" pitchFamily="49" charset="-122"/>
                <a:ea typeface="黑体" pitchFamily="49" charset="-122"/>
              </a:rPr>
              <a:t>X</a:t>
            </a:r>
            <a:r>
              <a:rPr lang="zh-CN" altLang="en-US" b="1" dirty="0">
                <a:solidFill>
                  <a:schemeClr val="tx1"/>
                </a:solidFill>
                <a:latin typeface="黑体" pitchFamily="49" charset="-122"/>
                <a:ea typeface="黑体" pitchFamily="49" charset="-122"/>
              </a:rPr>
              <a:t>和</a:t>
            </a:r>
            <a:r>
              <a:rPr lang="en-US" altLang="zh-CN" b="1" dirty="0">
                <a:solidFill>
                  <a:schemeClr val="tx1"/>
                </a:solidFill>
                <a:latin typeface="黑体" pitchFamily="49" charset="-122"/>
                <a:ea typeface="黑体" pitchFamily="49" charset="-122"/>
              </a:rPr>
              <a:t>Y</a:t>
            </a:r>
            <a:r>
              <a:rPr lang="zh-CN" altLang="en-US" b="1" dirty="0">
                <a:solidFill>
                  <a:schemeClr val="tx1"/>
                </a:solidFill>
                <a:latin typeface="黑体" pitchFamily="49" charset="-122"/>
                <a:ea typeface="黑体" pitchFamily="49" charset="-122"/>
              </a:rPr>
              <a:t>染色体；</a:t>
            </a:r>
          </a:p>
          <a:p>
            <a:pPr>
              <a:buFont typeface="Wingdings" pitchFamily="2" charset="2"/>
              <a:buChar char="Ø"/>
            </a:pPr>
            <a:r>
              <a:rPr lang="zh-CN" altLang="en-US" b="1" dirty="0">
                <a:solidFill>
                  <a:schemeClr val="tx1"/>
                </a:solidFill>
                <a:latin typeface="黑体" pitchFamily="49" charset="-122"/>
                <a:ea typeface="黑体" pitchFamily="49" charset="-122"/>
              </a:rPr>
              <a:t>雌性个体则为</a:t>
            </a:r>
            <a:r>
              <a:rPr lang="en-US" altLang="zh-CN" b="1" dirty="0">
                <a:solidFill>
                  <a:schemeClr val="tx1"/>
                </a:solidFill>
                <a:latin typeface="黑体" pitchFamily="49" charset="-122"/>
                <a:ea typeface="黑体" pitchFamily="49" charset="-122"/>
              </a:rPr>
              <a:t>XX(</a:t>
            </a:r>
            <a:r>
              <a:rPr lang="zh-CN" altLang="en-US" b="1" dirty="0">
                <a:solidFill>
                  <a:schemeClr val="tx1"/>
                </a:solidFill>
                <a:latin typeface="黑体" pitchFamily="49" charset="-122"/>
                <a:ea typeface="黑体" pitchFamily="49" charset="-122"/>
              </a:rPr>
              <a:t>同配子性别</a:t>
            </a:r>
            <a:r>
              <a:rPr lang="en-US" altLang="zh-CN" b="1" dirty="0">
                <a:solidFill>
                  <a:schemeClr val="tx1"/>
                </a:solidFill>
                <a:latin typeface="黑体" pitchFamily="49" charset="-122"/>
                <a:ea typeface="黑体" pitchFamily="49" charset="-122"/>
              </a:rPr>
              <a:t>)</a:t>
            </a:r>
            <a:r>
              <a:rPr lang="zh-CN" altLang="en-US" b="1" dirty="0">
                <a:solidFill>
                  <a:schemeClr val="tx1"/>
                </a:solidFill>
                <a:latin typeface="黑体" pitchFamily="49" charset="-122"/>
                <a:ea typeface="黑体" pitchFamily="49" charset="-122"/>
              </a:rPr>
              <a:t>，产生一种配子，含</a:t>
            </a:r>
            <a:r>
              <a:rPr lang="en-US" altLang="zh-CN" b="1" dirty="0">
                <a:solidFill>
                  <a:schemeClr val="tx1"/>
                </a:solidFill>
                <a:latin typeface="黑体" pitchFamily="49" charset="-122"/>
                <a:ea typeface="黑体" pitchFamily="49" charset="-122"/>
              </a:rPr>
              <a:t>X</a:t>
            </a:r>
            <a:r>
              <a:rPr lang="zh-CN" altLang="en-US" b="1" dirty="0">
                <a:solidFill>
                  <a:schemeClr val="tx1"/>
                </a:solidFill>
                <a:latin typeface="黑体" pitchFamily="49" charset="-122"/>
                <a:ea typeface="黑体" pitchFamily="49" charset="-122"/>
              </a:rPr>
              <a:t>染色体。</a:t>
            </a:r>
          </a:p>
          <a:p>
            <a:pPr>
              <a:buFont typeface="Wingdings" pitchFamily="2" charset="2"/>
              <a:buChar char="Ø"/>
            </a:pPr>
            <a:r>
              <a:rPr lang="zh-CN" altLang="en-US" b="1" dirty="0">
                <a:solidFill>
                  <a:schemeClr val="tx1"/>
                </a:solidFill>
                <a:latin typeface="黑体" pitchFamily="49" charset="-122"/>
                <a:ea typeface="黑体" pitchFamily="49" charset="-122"/>
              </a:rPr>
              <a:t>生物界中较为普遍，黑腹果蝇、很多雌雄异株植物、昆虫，某些鱼、两栖类和全体哺乳动物的性别决定都是 </a:t>
            </a:r>
            <a:r>
              <a:rPr lang="en-US" altLang="zh-CN" b="1" dirty="0">
                <a:solidFill>
                  <a:schemeClr val="tx1"/>
                </a:solidFill>
                <a:latin typeface="黑体" pitchFamily="49" charset="-122"/>
                <a:ea typeface="黑体" pitchFamily="49" charset="-122"/>
              </a:rPr>
              <a:t>XY</a:t>
            </a:r>
            <a:r>
              <a:rPr lang="zh-CN" altLang="en-US" b="1" dirty="0">
                <a:solidFill>
                  <a:schemeClr val="tx1"/>
                </a:solidFill>
                <a:latin typeface="黑体" pitchFamily="49" charset="-122"/>
                <a:ea typeface="黑体" pitchFamily="49" charset="-122"/>
              </a:rPr>
              <a:t>型。</a:t>
            </a:r>
          </a:p>
        </p:txBody>
      </p:sp>
    </p:spTree>
    <p:extLst>
      <p:ext uri="{BB962C8B-B14F-4D97-AF65-F5344CB8AC3E}">
        <p14:creationId xmlns:p14="http://schemas.microsoft.com/office/powerpoint/2010/main" val="92359464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173058"/>
                                        </p:tgtEl>
                                        <p:attrNameLst>
                                          <p:attrName>style.visibility</p:attrName>
                                        </p:attrNameLst>
                                      </p:cBhvr>
                                      <p:to>
                                        <p:strVal val="visible"/>
                                      </p:to>
                                    </p:set>
                                    <p:anim calcmode="lin" valueType="num">
                                      <p:cBhvr>
                                        <p:cTn id="7" dur="500" fill="hold"/>
                                        <p:tgtEl>
                                          <p:spTgt spid="173058"/>
                                        </p:tgtEl>
                                        <p:attrNameLst>
                                          <p:attrName>ppt_x</p:attrName>
                                        </p:attrNameLst>
                                      </p:cBhvr>
                                      <p:tavLst>
                                        <p:tav tm="0">
                                          <p:val>
                                            <p:strVal val="#ppt_x-#ppt_w/2"/>
                                          </p:val>
                                        </p:tav>
                                        <p:tav tm="100000">
                                          <p:val>
                                            <p:strVal val="#ppt_x"/>
                                          </p:val>
                                        </p:tav>
                                      </p:tavLst>
                                    </p:anim>
                                    <p:anim calcmode="lin" valueType="num">
                                      <p:cBhvr>
                                        <p:cTn id="8" dur="500" fill="hold"/>
                                        <p:tgtEl>
                                          <p:spTgt spid="173058"/>
                                        </p:tgtEl>
                                        <p:attrNameLst>
                                          <p:attrName>ppt_y</p:attrName>
                                        </p:attrNameLst>
                                      </p:cBhvr>
                                      <p:tavLst>
                                        <p:tav tm="0">
                                          <p:val>
                                            <p:strVal val="#ppt_y"/>
                                          </p:val>
                                        </p:tav>
                                        <p:tav tm="100000">
                                          <p:val>
                                            <p:strVal val="#ppt_y"/>
                                          </p:val>
                                        </p:tav>
                                      </p:tavLst>
                                    </p:anim>
                                    <p:anim calcmode="lin" valueType="num">
                                      <p:cBhvr>
                                        <p:cTn id="9" dur="500" fill="hold"/>
                                        <p:tgtEl>
                                          <p:spTgt spid="173058"/>
                                        </p:tgtEl>
                                        <p:attrNameLst>
                                          <p:attrName>ppt_w</p:attrName>
                                        </p:attrNameLst>
                                      </p:cBhvr>
                                      <p:tavLst>
                                        <p:tav tm="0">
                                          <p:val>
                                            <p:fltVal val="0"/>
                                          </p:val>
                                        </p:tav>
                                        <p:tav tm="100000">
                                          <p:val>
                                            <p:strVal val="#ppt_w"/>
                                          </p:val>
                                        </p:tav>
                                      </p:tavLst>
                                    </p:anim>
                                    <p:anim calcmode="lin" valueType="num">
                                      <p:cBhvr>
                                        <p:cTn id="10" dur="500" fill="hold"/>
                                        <p:tgtEl>
                                          <p:spTgt spid="173058"/>
                                        </p:tgtEl>
                                        <p:attrNameLst>
                                          <p:attrName>ppt_h</p:attrName>
                                        </p:attrNameLst>
                                      </p:cBhvr>
                                      <p:tavLst>
                                        <p:tav tm="0">
                                          <p:val>
                                            <p:strVal val="#ppt_h"/>
                                          </p:val>
                                        </p:tav>
                                        <p:tav tm="100000">
                                          <p:val>
                                            <p:strVal val="#ppt_h"/>
                                          </p:val>
                                        </p:tav>
                                      </p:tavLst>
                                    </p:anim>
                                  </p:childTnLst>
                                </p:cTn>
                              </p:par>
                            </p:childTnLst>
                          </p:cTn>
                        </p:par>
                        <p:par>
                          <p:cTn id="11" fill="hold" nodeType="afterGroup">
                            <p:stCondLst>
                              <p:cond delay="500"/>
                            </p:stCondLst>
                            <p:childTnLst>
                              <p:par>
                                <p:cTn id="12" presetID="4" presetClass="entr" presetSubtype="32" fill="hold" grpId="0" nodeType="afterEffect">
                                  <p:stCondLst>
                                    <p:cond delay="0"/>
                                  </p:stCondLst>
                                  <p:childTnLst>
                                    <p:set>
                                      <p:cBhvr>
                                        <p:cTn id="13" dur="1" fill="hold">
                                          <p:stCondLst>
                                            <p:cond delay="0"/>
                                          </p:stCondLst>
                                        </p:cTn>
                                        <p:tgtEl>
                                          <p:spTgt spid="173061"/>
                                        </p:tgtEl>
                                        <p:attrNameLst>
                                          <p:attrName>style.visibility</p:attrName>
                                        </p:attrNameLst>
                                      </p:cBhvr>
                                      <p:to>
                                        <p:strVal val="visible"/>
                                      </p:to>
                                    </p:set>
                                    <p:animEffect transition="in" filter="box(out)">
                                      <p:cBhvr>
                                        <p:cTn id="14" dur="500"/>
                                        <p:tgtEl>
                                          <p:spTgt spid="173061"/>
                                        </p:tgtEl>
                                      </p:cBhvr>
                                    </p:animEffect>
                                  </p:childTnLst>
                                </p:cTn>
                              </p:par>
                            </p:childTnLst>
                          </p:cTn>
                        </p:par>
                        <p:par>
                          <p:cTn id="15" fill="hold" nodeType="afterGroup">
                            <p:stCondLst>
                              <p:cond delay="1000"/>
                            </p:stCondLst>
                            <p:childTnLst>
                              <p:par>
                                <p:cTn id="16" presetID="4" presetClass="entr" presetSubtype="32" fill="hold" grpId="0" nodeType="afterEffect">
                                  <p:stCondLst>
                                    <p:cond delay="0"/>
                                  </p:stCondLst>
                                  <p:childTnLst>
                                    <p:set>
                                      <p:cBhvr>
                                        <p:cTn id="17" dur="1" fill="hold">
                                          <p:stCondLst>
                                            <p:cond delay="0"/>
                                          </p:stCondLst>
                                        </p:cTn>
                                        <p:tgtEl>
                                          <p:spTgt spid="173060"/>
                                        </p:tgtEl>
                                        <p:attrNameLst>
                                          <p:attrName>style.visibility</p:attrName>
                                        </p:attrNameLst>
                                      </p:cBhvr>
                                      <p:to>
                                        <p:strVal val="visible"/>
                                      </p:to>
                                    </p:set>
                                    <p:animEffect transition="in" filter="box(out)">
                                      <p:cBhvr>
                                        <p:cTn id="18" dur="500"/>
                                        <p:tgtEl>
                                          <p:spTgt spid="173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8" grpId="0"/>
      <p:bldP spid="173060" grpId="0" bldLvl="0"/>
      <p:bldP spid="173061" grpId="0" bldLvl="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77159"/>
          <p:cNvSpPr>
            <a:spLocks noGrp="1" noChangeArrowheads="1"/>
          </p:cNvSpPr>
          <p:nvPr>
            <p:ph type="title"/>
          </p:nvPr>
        </p:nvSpPr>
        <p:spPr>
          <a:xfrm>
            <a:off x="245533" y="244475"/>
            <a:ext cx="10972800" cy="609600"/>
          </a:xfrm>
        </p:spPr>
        <p:txBody>
          <a:bodyPr/>
          <a:lstStyle/>
          <a:p>
            <a:pPr algn="l"/>
            <a:r>
              <a:rPr lang="zh-CN" altLang="en-US" sz="3600" b="1" dirty="0">
                <a:solidFill>
                  <a:srgbClr val="0000FF"/>
                </a:solidFill>
                <a:latin typeface="黑体" pitchFamily="49" charset="-122"/>
                <a:ea typeface="黑体" pitchFamily="49" charset="-122"/>
              </a:rPr>
              <a:t>一、性染色体决定性别方式</a:t>
            </a:r>
          </a:p>
        </p:txBody>
      </p:sp>
      <p:sp>
        <p:nvSpPr>
          <p:cNvPr id="18435" name="文本占位符 177160"/>
          <p:cNvSpPr>
            <a:spLocks noGrp="1" noChangeArrowheads="1"/>
          </p:cNvSpPr>
          <p:nvPr>
            <p:ph type="body" sz="half" idx="1"/>
          </p:nvPr>
        </p:nvSpPr>
        <p:spPr>
          <a:xfrm>
            <a:off x="347133" y="920750"/>
            <a:ext cx="11211984" cy="2936875"/>
          </a:xfrm>
        </p:spPr>
        <p:txBody>
          <a:bodyPr>
            <a:normAutofit/>
          </a:bodyPr>
          <a:lstStyle/>
          <a:p>
            <a:pPr>
              <a:lnSpc>
                <a:spcPct val="155000"/>
              </a:lnSpc>
              <a:buFont typeface="Wingdings" pitchFamily="2" charset="2"/>
              <a:buNone/>
            </a:pPr>
            <a:r>
              <a:rPr lang="en-US" altLang="zh-CN" sz="3200" b="1" dirty="0">
                <a:solidFill>
                  <a:schemeClr val="tx1"/>
                </a:solidFill>
                <a:latin typeface="黑体" pitchFamily="49" charset="-122"/>
                <a:ea typeface="黑体" pitchFamily="49" charset="-122"/>
              </a:rPr>
              <a:t>3.</a:t>
            </a:r>
            <a:r>
              <a:rPr lang="zh-CN" altLang="en-US" sz="3200" b="1" dirty="0">
                <a:solidFill>
                  <a:schemeClr val="tx1"/>
                </a:solidFill>
                <a:latin typeface="黑体" pitchFamily="49" charset="-122"/>
                <a:ea typeface="黑体" pitchFamily="49" charset="-122"/>
              </a:rPr>
              <a:t>雌杂合型</a:t>
            </a:r>
            <a:r>
              <a:rPr lang="en-US" altLang="zh-CN" sz="3200" b="1" dirty="0">
                <a:solidFill>
                  <a:schemeClr val="tx1"/>
                </a:solidFill>
                <a:latin typeface="黑体" pitchFamily="49" charset="-122"/>
                <a:ea typeface="黑体" pitchFamily="49" charset="-122"/>
              </a:rPr>
              <a:t>(ZW</a:t>
            </a:r>
            <a:r>
              <a:rPr lang="zh-CN" altLang="en-US" sz="3200" b="1" dirty="0">
                <a:solidFill>
                  <a:schemeClr val="tx1"/>
                </a:solidFill>
                <a:latin typeface="黑体" pitchFamily="49" charset="-122"/>
                <a:ea typeface="黑体" pitchFamily="49" charset="-122"/>
              </a:rPr>
              <a:t>型</a:t>
            </a:r>
            <a:r>
              <a:rPr lang="en-US" altLang="zh-CN" sz="3200" b="1" dirty="0">
                <a:solidFill>
                  <a:schemeClr val="tx1"/>
                </a:solidFill>
                <a:latin typeface="黑体" pitchFamily="49" charset="-122"/>
                <a:ea typeface="黑体" pitchFamily="49" charset="-122"/>
              </a:rPr>
              <a:t>)</a:t>
            </a:r>
            <a:r>
              <a:rPr lang="zh-CN" altLang="en-US" sz="3200" b="1" dirty="0">
                <a:solidFill>
                  <a:schemeClr val="tx1"/>
                </a:solidFill>
                <a:latin typeface="黑体" pitchFamily="49" charset="-122"/>
                <a:ea typeface="黑体" pitchFamily="49" charset="-122"/>
              </a:rPr>
              <a:t>：</a:t>
            </a:r>
          </a:p>
          <a:p>
            <a:pPr lvl="1">
              <a:buSzPct val="90000"/>
            </a:pPr>
            <a:r>
              <a:rPr lang="zh-CN" altLang="en-US" sz="2800" b="1" dirty="0">
                <a:latin typeface="黑体" pitchFamily="49" charset="-122"/>
                <a:ea typeface="黑体" pitchFamily="49" charset="-122"/>
              </a:rPr>
              <a:t>雌性个体性染色体组成为</a:t>
            </a:r>
            <a:r>
              <a:rPr lang="en-US" altLang="zh-CN" sz="2800" b="1" dirty="0">
                <a:latin typeface="黑体" pitchFamily="49" charset="-122"/>
                <a:ea typeface="黑体" pitchFamily="49" charset="-122"/>
              </a:rPr>
              <a:t>ZW(</a:t>
            </a:r>
            <a:r>
              <a:rPr lang="zh-CN" altLang="en-US" sz="2800" b="1" dirty="0">
                <a:latin typeface="黑体" pitchFamily="49" charset="-122"/>
                <a:ea typeface="黑体" pitchFamily="49" charset="-122"/>
              </a:rPr>
              <a:t>异配子性别</a:t>
            </a:r>
            <a:r>
              <a:rPr lang="en-US" altLang="zh-CN" sz="2800" b="1" dirty="0">
                <a:latin typeface="黑体" pitchFamily="49" charset="-122"/>
                <a:ea typeface="黑体" pitchFamily="49" charset="-122"/>
              </a:rPr>
              <a:t>)</a:t>
            </a:r>
            <a:r>
              <a:rPr lang="zh-CN" altLang="en-US" sz="2800" b="1" dirty="0">
                <a:latin typeface="黑体" pitchFamily="49" charset="-122"/>
                <a:ea typeface="黑体" pitchFamily="49" charset="-122"/>
              </a:rPr>
              <a:t>，产生两种类型的配子，分别含</a:t>
            </a:r>
            <a:r>
              <a:rPr lang="en-US" altLang="zh-CN" sz="2800" b="1" dirty="0">
                <a:latin typeface="黑体" pitchFamily="49" charset="-122"/>
                <a:ea typeface="黑体" pitchFamily="49" charset="-122"/>
              </a:rPr>
              <a:t>Z</a:t>
            </a:r>
            <a:r>
              <a:rPr lang="zh-CN" altLang="en-US" sz="2800" b="1" dirty="0">
                <a:latin typeface="黑体" pitchFamily="49" charset="-122"/>
                <a:ea typeface="黑体" pitchFamily="49" charset="-122"/>
              </a:rPr>
              <a:t>和</a:t>
            </a:r>
            <a:r>
              <a:rPr lang="en-US" altLang="zh-CN" sz="2800" b="1" dirty="0">
                <a:latin typeface="黑体" pitchFamily="49" charset="-122"/>
                <a:ea typeface="黑体" pitchFamily="49" charset="-122"/>
              </a:rPr>
              <a:t>W</a:t>
            </a:r>
            <a:r>
              <a:rPr lang="zh-CN" altLang="en-US" sz="2800" b="1" dirty="0">
                <a:latin typeface="黑体" pitchFamily="49" charset="-122"/>
                <a:ea typeface="黑体" pitchFamily="49" charset="-122"/>
              </a:rPr>
              <a:t>染色体；</a:t>
            </a:r>
          </a:p>
          <a:p>
            <a:pPr lvl="1">
              <a:buSzPct val="90000"/>
            </a:pPr>
            <a:r>
              <a:rPr lang="zh-CN" altLang="en-US" sz="2800" b="1" dirty="0">
                <a:latin typeface="黑体" pitchFamily="49" charset="-122"/>
                <a:ea typeface="黑体" pitchFamily="49" charset="-122"/>
              </a:rPr>
              <a:t>雄性个体则为</a:t>
            </a:r>
            <a:r>
              <a:rPr lang="en-US" altLang="zh-CN" sz="2800" b="1" dirty="0">
                <a:latin typeface="黑体" pitchFamily="49" charset="-122"/>
                <a:ea typeface="黑体" pitchFamily="49" charset="-122"/>
              </a:rPr>
              <a:t>ZZ(</a:t>
            </a:r>
            <a:r>
              <a:rPr lang="zh-CN" altLang="en-US" sz="2800" b="1" dirty="0">
                <a:latin typeface="黑体" pitchFamily="49" charset="-122"/>
                <a:ea typeface="黑体" pitchFamily="49" charset="-122"/>
              </a:rPr>
              <a:t>同配子性别</a:t>
            </a:r>
            <a:r>
              <a:rPr lang="en-US" altLang="zh-CN" sz="2800" b="1" dirty="0">
                <a:latin typeface="黑体" pitchFamily="49" charset="-122"/>
                <a:ea typeface="黑体" pitchFamily="49" charset="-122"/>
              </a:rPr>
              <a:t>)</a:t>
            </a:r>
            <a:r>
              <a:rPr lang="zh-CN" altLang="en-US" sz="2800" b="1" dirty="0">
                <a:latin typeface="黑体" pitchFamily="49" charset="-122"/>
                <a:ea typeface="黑体" pitchFamily="49" charset="-122"/>
              </a:rPr>
              <a:t>，产生一种配子含</a:t>
            </a:r>
            <a:r>
              <a:rPr lang="en-US" altLang="zh-CN" sz="2800" b="1" dirty="0">
                <a:latin typeface="黑体" pitchFamily="49" charset="-122"/>
                <a:ea typeface="黑体" pitchFamily="49" charset="-122"/>
              </a:rPr>
              <a:t>Z</a:t>
            </a:r>
            <a:r>
              <a:rPr lang="zh-CN" altLang="en-US" sz="2800" b="1" dirty="0">
                <a:latin typeface="黑体" pitchFamily="49" charset="-122"/>
                <a:ea typeface="黑体" pitchFamily="49" charset="-122"/>
              </a:rPr>
              <a:t>染色体。</a:t>
            </a:r>
          </a:p>
          <a:p>
            <a:pPr lvl="1">
              <a:buSzPct val="90000"/>
            </a:pPr>
            <a:r>
              <a:rPr lang="zh-CN" altLang="en-US" sz="2800" b="1" dirty="0">
                <a:latin typeface="黑体" pitchFamily="49" charset="-122"/>
                <a:ea typeface="黑体" pitchFamily="49" charset="-122"/>
              </a:rPr>
              <a:t>家蚕、蛾类、蝶类，鸡鸭（鸟类）、某些爬行类等</a:t>
            </a:r>
          </a:p>
        </p:txBody>
      </p:sp>
    </p:spTree>
    <p:extLst>
      <p:ext uri="{BB962C8B-B14F-4D97-AF65-F5344CB8AC3E}">
        <p14:creationId xmlns:p14="http://schemas.microsoft.com/office/powerpoint/2010/main" val="258271961"/>
      </p:ext>
    </p:extLst>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325950" y="1290120"/>
            <a:ext cx="3503100" cy="426753"/>
          </a:xfrm>
        </p:spPr>
        <p:txBody>
          <a:bodyPr vert="horz" lIns="91440" tIns="45720" rIns="91440" bIns="45720" rtlCol="0" anchor="ctr">
            <a:noAutofit/>
          </a:bodyPr>
          <a:lstStyle/>
          <a:p>
            <a:r>
              <a:rPr lang="zh-CN" altLang="en-US" sz="2800" b="1" dirty="0">
                <a:solidFill>
                  <a:srgbClr val="0000FF"/>
                </a:solidFill>
                <a:latin typeface="黑体" pitchFamily="49" charset="-122"/>
                <a:ea typeface="黑体" pitchFamily="49" charset="-122"/>
              </a:rPr>
              <a:t>一、果蝇的伴性遗传</a:t>
            </a:r>
          </a:p>
        </p:txBody>
      </p:sp>
      <p:sp>
        <p:nvSpPr>
          <p:cNvPr id="9" name="内容占位符 8"/>
          <p:cNvSpPr>
            <a:spLocks noGrp="1"/>
          </p:cNvSpPr>
          <p:nvPr>
            <p:ph sz="half" idx="1"/>
          </p:nvPr>
        </p:nvSpPr>
        <p:spPr>
          <a:xfrm>
            <a:off x="270570" y="718156"/>
            <a:ext cx="11262790" cy="566349"/>
          </a:xfrm>
        </p:spPr>
        <p:txBody>
          <a:bodyPr vert="horz" lIns="91440" tIns="45720" rIns="91440" bIns="45720" rtlCol="0">
            <a:normAutofit/>
          </a:bodyPr>
          <a:lstStyle/>
          <a:p>
            <a:pPr marL="0" lvl="1" indent="0">
              <a:lnSpc>
                <a:spcPct val="100000"/>
              </a:lnSpc>
              <a:spcBef>
                <a:spcPts val="0"/>
              </a:spcBef>
              <a:buSzPct val="90000"/>
              <a:buNone/>
            </a:pPr>
            <a:r>
              <a:rPr lang="zh-CN" altLang="en-US" sz="2800" b="1" dirty="0">
                <a:latin typeface="黑体" pitchFamily="49" charset="-122"/>
                <a:ea typeface="黑体" pitchFamily="49" charset="-122"/>
                <a:cs typeface="+mn-cs"/>
              </a:rPr>
              <a:t>在性染色体上的基因所控制的性状跟性别相联系，称为伴性遗传。</a:t>
            </a:r>
            <a:endParaRPr lang="en-US" altLang="zh-CN" sz="2800" b="1" dirty="0">
              <a:latin typeface="黑体" pitchFamily="49" charset="-122"/>
              <a:ea typeface="黑体" pitchFamily="49" charset="-122"/>
              <a:cs typeface="+mn-cs"/>
            </a:endParaRPr>
          </a:p>
          <a:p>
            <a:pPr marL="0" lvl="1" indent="0">
              <a:lnSpc>
                <a:spcPct val="100000"/>
              </a:lnSpc>
              <a:spcBef>
                <a:spcPts val="0"/>
              </a:spcBef>
              <a:buSzPct val="90000"/>
              <a:buNone/>
            </a:pPr>
            <a:endParaRPr lang="zh-CN" altLang="en-US" sz="2800" b="1" dirty="0">
              <a:latin typeface="黑体" pitchFamily="49" charset="-122"/>
              <a:ea typeface="黑体" pitchFamily="49" charset="-122"/>
              <a:cs typeface="+mn-cs"/>
            </a:endParaRPr>
          </a:p>
        </p:txBody>
      </p:sp>
      <p:sp>
        <p:nvSpPr>
          <p:cNvPr id="13" name="文本框 12">
            <a:extLst>
              <a:ext uri="{FF2B5EF4-FFF2-40B4-BE49-F238E27FC236}">
                <a16:creationId xmlns:a16="http://schemas.microsoft.com/office/drawing/2014/main" id="{5325498D-06B2-4E1C-A9DA-430A5A13C45C}"/>
              </a:ext>
            </a:extLst>
          </p:cNvPr>
          <p:cNvSpPr txBox="1"/>
          <p:nvPr/>
        </p:nvSpPr>
        <p:spPr>
          <a:xfrm>
            <a:off x="270570" y="81155"/>
            <a:ext cx="8675722" cy="725121"/>
          </a:xfrm>
          <a:prstGeom prst="rect">
            <a:avLst/>
          </a:prstGeom>
        </p:spPr>
        <p:txBody>
          <a:bodyPr vert="horz" lIns="91440" tIns="45720" rIns="91440" bIns="45720" rtlCol="0" anchor="ctr">
            <a:normAutofit fontScale="92500"/>
          </a:bodyPr>
          <a:lstStyle>
            <a:lvl1pPr>
              <a:lnSpc>
                <a:spcPct val="90000"/>
              </a:lnSpc>
              <a:spcBef>
                <a:spcPct val="0"/>
              </a:spcBef>
              <a:buNone/>
              <a:defRPr sz="3600" b="1">
                <a:solidFill>
                  <a:srgbClr val="0000FF"/>
                </a:solidFill>
                <a:latin typeface="黑体" pitchFamily="49" charset="-122"/>
                <a:ea typeface="黑体" pitchFamily="49" charset="-122"/>
                <a:cs typeface="+mj-cs"/>
              </a:defRPr>
            </a:lvl1pPr>
          </a:lstStyle>
          <a:p>
            <a:r>
              <a:rPr lang="zh-CN" altLang="en-US" dirty="0"/>
              <a:t>第二节　伴性遗传（</a:t>
            </a:r>
            <a:r>
              <a:rPr lang="en-US" altLang="zh-CN" dirty="0"/>
              <a:t>sex-linked inheritance</a:t>
            </a:r>
            <a:r>
              <a:rPr lang="zh-CN" altLang="en-US" dirty="0"/>
              <a:t>）</a:t>
            </a:r>
          </a:p>
        </p:txBody>
      </p:sp>
      <p:grpSp>
        <p:nvGrpSpPr>
          <p:cNvPr id="8" name="组合 7">
            <a:extLst>
              <a:ext uri="{FF2B5EF4-FFF2-40B4-BE49-F238E27FC236}">
                <a16:creationId xmlns:a16="http://schemas.microsoft.com/office/drawing/2014/main" id="{9D2B011B-968A-6137-0A88-587CB2515670}"/>
              </a:ext>
            </a:extLst>
          </p:cNvPr>
          <p:cNvGrpSpPr/>
          <p:nvPr/>
        </p:nvGrpSpPr>
        <p:grpSpPr>
          <a:xfrm>
            <a:off x="270570" y="1674946"/>
            <a:ext cx="4434480" cy="5017979"/>
            <a:chOff x="270570" y="1674946"/>
            <a:chExt cx="4434480" cy="5017979"/>
          </a:xfrm>
        </p:grpSpPr>
        <p:pic>
          <p:nvPicPr>
            <p:cNvPr id="10" name="图片 9">
              <a:extLst>
                <a:ext uri="{FF2B5EF4-FFF2-40B4-BE49-F238E27FC236}">
                  <a16:creationId xmlns:a16="http://schemas.microsoft.com/office/drawing/2014/main" id="{1DD16014-2CCE-41D9-B93A-644CB43631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34069" y="1674946"/>
              <a:ext cx="1259743" cy="1590004"/>
            </a:xfrm>
            <a:prstGeom prst="rect">
              <a:avLst/>
            </a:prstGeom>
          </p:spPr>
        </p:pic>
        <p:pic>
          <p:nvPicPr>
            <p:cNvPr id="11" name="图片 10">
              <a:extLst>
                <a:ext uri="{FF2B5EF4-FFF2-40B4-BE49-F238E27FC236}">
                  <a16:creationId xmlns:a16="http://schemas.microsoft.com/office/drawing/2014/main" id="{92A87734-DC7E-40DF-A3DA-7F14A915A9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97571" y="1674946"/>
              <a:ext cx="1259741" cy="1590003"/>
            </a:xfrm>
            <a:prstGeom prst="rect">
              <a:avLst/>
            </a:prstGeom>
          </p:spPr>
        </p:pic>
        <p:pic>
          <p:nvPicPr>
            <p:cNvPr id="12" name="图片 11">
              <a:extLst>
                <a:ext uri="{FF2B5EF4-FFF2-40B4-BE49-F238E27FC236}">
                  <a16:creationId xmlns:a16="http://schemas.microsoft.com/office/drawing/2014/main" id="{7D6236C9-6CC2-4881-9B0F-6295B364D05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11426" y="3363704"/>
              <a:ext cx="1259741" cy="1590003"/>
            </a:xfrm>
            <a:prstGeom prst="rect">
              <a:avLst/>
            </a:prstGeom>
          </p:spPr>
        </p:pic>
        <p:pic>
          <p:nvPicPr>
            <p:cNvPr id="17" name="图片 16">
              <a:extLst>
                <a:ext uri="{FF2B5EF4-FFF2-40B4-BE49-F238E27FC236}">
                  <a16:creationId xmlns:a16="http://schemas.microsoft.com/office/drawing/2014/main" id="{41C36D7E-FCBF-4CB0-BCEA-89BEFB17C3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8195" y="3364796"/>
              <a:ext cx="1259741" cy="1590003"/>
            </a:xfrm>
            <a:prstGeom prst="rect">
              <a:avLst/>
            </a:prstGeom>
          </p:spPr>
        </p:pic>
        <p:pic>
          <p:nvPicPr>
            <p:cNvPr id="18" name="图片 17">
              <a:extLst>
                <a:ext uri="{FF2B5EF4-FFF2-40B4-BE49-F238E27FC236}">
                  <a16:creationId xmlns:a16="http://schemas.microsoft.com/office/drawing/2014/main" id="{BFE9A69D-5058-45E2-9090-4182A632B2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0570" y="5094395"/>
              <a:ext cx="1259741" cy="1590003"/>
            </a:xfrm>
            <a:prstGeom prst="rect">
              <a:avLst/>
            </a:prstGeom>
          </p:spPr>
        </p:pic>
        <p:pic>
          <p:nvPicPr>
            <p:cNvPr id="19" name="图片 18">
              <a:extLst>
                <a:ext uri="{FF2B5EF4-FFF2-40B4-BE49-F238E27FC236}">
                  <a16:creationId xmlns:a16="http://schemas.microsoft.com/office/drawing/2014/main" id="{2334CEAC-3114-4F4F-B49D-8D5FCB78A4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97572" y="5102921"/>
              <a:ext cx="1259741" cy="1590003"/>
            </a:xfrm>
            <a:prstGeom prst="rect">
              <a:avLst/>
            </a:prstGeom>
          </p:spPr>
        </p:pic>
        <p:pic>
          <p:nvPicPr>
            <p:cNvPr id="20" name="图片 19">
              <a:extLst>
                <a:ext uri="{FF2B5EF4-FFF2-40B4-BE49-F238E27FC236}">
                  <a16:creationId xmlns:a16="http://schemas.microsoft.com/office/drawing/2014/main" id="{673F437D-B4BC-4118-B4C3-504DE1D988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45307" y="5102921"/>
              <a:ext cx="1259743" cy="1590004"/>
            </a:xfrm>
            <a:prstGeom prst="rect">
              <a:avLst/>
            </a:prstGeom>
          </p:spPr>
        </p:pic>
        <p:pic>
          <p:nvPicPr>
            <p:cNvPr id="21" name="图片 20">
              <a:extLst>
                <a:ext uri="{FF2B5EF4-FFF2-40B4-BE49-F238E27FC236}">
                  <a16:creationId xmlns:a16="http://schemas.microsoft.com/office/drawing/2014/main" id="{79E38BEF-237E-4556-BA10-8CABEF32911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4071" y="5102921"/>
              <a:ext cx="1259741" cy="1590003"/>
            </a:xfrm>
            <a:prstGeom prst="rect">
              <a:avLst/>
            </a:prstGeom>
          </p:spPr>
        </p:pic>
        <p:sp>
          <p:nvSpPr>
            <p:cNvPr id="22" name="文本框 19">
              <a:extLst>
                <a:ext uri="{FF2B5EF4-FFF2-40B4-BE49-F238E27FC236}">
                  <a16:creationId xmlns:a16="http://schemas.microsoft.com/office/drawing/2014/main" id="{F6C6230F-F7B9-45BA-A158-1D9FD22B9C51}"/>
                </a:ext>
              </a:extLst>
            </p:cNvPr>
            <p:cNvSpPr txBox="1"/>
            <p:nvPr/>
          </p:nvSpPr>
          <p:spPr>
            <a:xfrm>
              <a:off x="2294853" y="2285281"/>
              <a:ext cx="674897" cy="369332"/>
            </a:xfrm>
            <a:prstGeom prst="rect">
              <a:avLst/>
            </a:prstGeom>
            <a:noFill/>
          </p:spPr>
          <p:txBody>
            <a:bodyPr wrap="square" rtlCol="0">
              <a:spAutoFit/>
            </a:bodyPr>
            <a:lstStyle/>
            <a:p>
              <a:r>
                <a:rPr lang="en-US" altLang="zh-CN" b="1" dirty="0"/>
                <a:t>×</a:t>
              </a:r>
              <a:endParaRPr lang="zh-CN" altLang="en-US" b="1" dirty="0"/>
            </a:p>
          </p:txBody>
        </p:sp>
        <p:sp>
          <p:nvSpPr>
            <p:cNvPr id="23" name="箭头: 下 20">
              <a:extLst>
                <a:ext uri="{FF2B5EF4-FFF2-40B4-BE49-F238E27FC236}">
                  <a16:creationId xmlns:a16="http://schemas.microsoft.com/office/drawing/2014/main" id="{4B801361-66DE-4081-AE9F-336FB23294A3}"/>
                </a:ext>
              </a:extLst>
            </p:cNvPr>
            <p:cNvSpPr/>
            <p:nvPr/>
          </p:nvSpPr>
          <p:spPr>
            <a:xfrm>
              <a:off x="2411426" y="3054775"/>
              <a:ext cx="166510" cy="422050"/>
            </a:xfrm>
            <a:prstGeom prst="downArrow">
              <a:avLst/>
            </a:prstGeom>
            <a:solidFill>
              <a:srgbClr val="3A5991"/>
            </a:solidFill>
            <a:ln>
              <a:solidFill>
                <a:srgbClr val="3A59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下 21">
              <a:extLst>
                <a:ext uri="{FF2B5EF4-FFF2-40B4-BE49-F238E27FC236}">
                  <a16:creationId xmlns:a16="http://schemas.microsoft.com/office/drawing/2014/main" id="{5D181D1A-0794-418C-A533-D916DC82FBA2}"/>
                </a:ext>
              </a:extLst>
            </p:cNvPr>
            <p:cNvSpPr/>
            <p:nvPr/>
          </p:nvSpPr>
          <p:spPr>
            <a:xfrm>
              <a:off x="2404793" y="4770054"/>
              <a:ext cx="166510" cy="422050"/>
            </a:xfrm>
            <a:prstGeom prst="downArrow">
              <a:avLst/>
            </a:prstGeom>
            <a:solidFill>
              <a:srgbClr val="3A5991"/>
            </a:solidFill>
            <a:ln>
              <a:solidFill>
                <a:srgbClr val="3A59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标题 1">
            <a:extLst>
              <a:ext uri="{FF2B5EF4-FFF2-40B4-BE49-F238E27FC236}">
                <a16:creationId xmlns:a16="http://schemas.microsoft.com/office/drawing/2014/main" id="{F66D867F-DDE7-5982-8CDF-98E812678648}"/>
              </a:ext>
            </a:extLst>
          </p:cNvPr>
          <p:cNvSpPr txBox="1">
            <a:spLocks/>
          </p:cNvSpPr>
          <p:nvPr/>
        </p:nvSpPr>
        <p:spPr>
          <a:xfrm>
            <a:off x="6250213" y="1214518"/>
            <a:ext cx="4225478" cy="540455"/>
          </a:xfrm>
          <a:prstGeom prst="rect">
            <a:avLst/>
          </a:prstGeom>
        </p:spPr>
        <p:txBody>
          <a:bodyPr vert="horz" lIns="91440" tIns="45720" rIns="91440" bIns="45720" rtlCol="0" anchor="ctr">
            <a:noAutofit/>
          </a:bodyPr>
          <a:lstStyle>
            <a:lvl1pPr>
              <a:lnSpc>
                <a:spcPct val="90000"/>
              </a:lnSpc>
              <a:spcBef>
                <a:spcPct val="0"/>
              </a:spcBef>
              <a:buNone/>
              <a:defRPr sz="2800" b="1">
                <a:solidFill>
                  <a:srgbClr val="0000FF"/>
                </a:solidFill>
                <a:latin typeface="黑体" pitchFamily="49" charset="-122"/>
                <a:ea typeface="黑体" pitchFamily="49" charset="-122"/>
                <a:cs typeface="+mj-cs"/>
              </a:defRPr>
            </a:lvl1pPr>
          </a:lstStyle>
          <a:p>
            <a:r>
              <a:rPr lang="zh-CN" altLang="en-US" dirty="0"/>
              <a:t>二、鸡的伴性遗传</a:t>
            </a:r>
          </a:p>
        </p:txBody>
      </p:sp>
      <p:pic>
        <p:nvPicPr>
          <p:cNvPr id="7" name="内容占位符 2">
            <a:extLst>
              <a:ext uri="{FF2B5EF4-FFF2-40B4-BE49-F238E27FC236}">
                <a16:creationId xmlns:a16="http://schemas.microsoft.com/office/drawing/2014/main" id="{316FE472-D880-4F3F-A670-4AC7E9F8EC2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66272" y="1961827"/>
            <a:ext cx="5067088" cy="4469956"/>
          </a:xfrm>
          <a:prstGeom prst="rect">
            <a:avLst/>
          </a:prstGeom>
        </p:spPr>
      </p:pic>
    </p:spTree>
    <p:extLst>
      <p:ext uri="{BB962C8B-B14F-4D97-AF65-F5344CB8AC3E}">
        <p14:creationId xmlns:p14="http://schemas.microsoft.com/office/powerpoint/2010/main" val="1593906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1331E420-1490-5169-84AD-D56D129D9A06}"/>
              </a:ext>
            </a:extLst>
          </p:cNvPr>
          <p:cNvPicPr>
            <a:picLocks noChangeAspect="1"/>
          </p:cNvPicPr>
          <p:nvPr/>
        </p:nvPicPr>
        <p:blipFill>
          <a:blip r:embed="rId2"/>
          <a:stretch>
            <a:fillRect/>
          </a:stretch>
        </p:blipFill>
        <p:spPr>
          <a:xfrm>
            <a:off x="6096000" y="1632442"/>
            <a:ext cx="5616678" cy="3593116"/>
          </a:xfrm>
          <a:prstGeom prst="rect">
            <a:avLst/>
          </a:prstGeom>
        </p:spPr>
      </p:pic>
      <p:sp>
        <p:nvSpPr>
          <p:cNvPr id="2" name="标题 1"/>
          <p:cNvSpPr>
            <a:spLocks noGrp="1"/>
          </p:cNvSpPr>
          <p:nvPr>
            <p:ph type="title"/>
          </p:nvPr>
        </p:nvSpPr>
        <p:spPr>
          <a:xfrm>
            <a:off x="403713" y="113688"/>
            <a:ext cx="4787412" cy="462574"/>
          </a:xfrm>
        </p:spPr>
        <p:txBody>
          <a:bodyPr vert="horz" lIns="91440" tIns="45720" rIns="91440" bIns="45720" rtlCol="0" anchor="ctr">
            <a:noAutofit/>
          </a:bodyPr>
          <a:lstStyle/>
          <a:p>
            <a:r>
              <a:rPr lang="zh-CN" altLang="en-US" sz="2800" b="1" dirty="0">
                <a:solidFill>
                  <a:srgbClr val="0000FF"/>
                </a:solidFill>
                <a:latin typeface="黑体" pitchFamily="49" charset="-122"/>
                <a:ea typeface="黑体" pitchFamily="49" charset="-122"/>
              </a:rPr>
              <a:t>三、高等植物的伴性遗传</a:t>
            </a:r>
          </a:p>
        </p:txBody>
      </p:sp>
      <p:sp>
        <p:nvSpPr>
          <p:cNvPr id="4" name="灯片编号占位符 3"/>
          <p:cNvSpPr>
            <a:spLocks noGrp="1"/>
          </p:cNvSpPr>
          <p:nvPr>
            <p:ph type="sldNum" sz="quarter" idx="4294967295"/>
          </p:nvPr>
        </p:nvSpPr>
        <p:spPr>
          <a:xfrm>
            <a:off x="11353799" y="6356350"/>
            <a:ext cx="577363" cy="365125"/>
          </a:xfrm>
          <a:prstGeom prst="rect">
            <a:avLst/>
          </a:prstGeom>
        </p:spPr>
        <p:txBody>
          <a:bodyPr/>
          <a:lstStyle/>
          <a:p>
            <a:fld id="{D4751D38-C989-48BC-B1AB-387F6E8DCEB6}" type="slidenum">
              <a:rPr lang="zh-CN" altLang="en-US" smtClean="0"/>
              <a:pPr/>
              <a:t>7</a:t>
            </a:fld>
            <a:endParaRPr lang="zh-CN" altLang="en-US" dirty="0"/>
          </a:p>
        </p:txBody>
      </p:sp>
      <p:sp>
        <p:nvSpPr>
          <p:cNvPr id="9" name="内容占位符 8"/>
          <p:cNvSpPr>
            <a:spLocks noGrp="1"/>
          </p:cNvSpPr>
          <p:nvPr>
            <p:ph sz="half" idx="1"/>
          </p:nvPr>
        </p:nvSpPr>
        <p:spPr>
          <a:xfrm>
            <a:off x="132432" y="587744"/>
            <a:ext cx="11927136" cy="1208333"/>
          </a:xfrm>
        </p:spPr>
        <p:txBody>
          <a:bodyPr vert="horz" lIns="91440" tIns="45720" rIns="91440" bIns="45720" rtlCol="0">
            <a:normAutofit fontScale="92500" lnSpcReduction="10000"/>
          </a:bodyPr>
          <a:lstStyle/>
          <a:p>
            <a:pPr marL="0" lvl="1" indent="0">
              <a:lnSpc>
                <a:spcPct val="100000"/>
              </a:lnSpc>
              <a:spcBef>
                <a:spcPts val="0"/>
              </a:spcBef>
              <a:buClr>
                <a:schemeClr val="accent1"/>
              </a:buClr>
              <a:buSzPct val="80000"/>
              <a:buNone/>
            </a:pPr>
            <a:r>
              <a:rPr lang="zh-CN" altLang="en-US" sz="2800" b="1" dirty="0">
                <a:latin typeface="黑体" panose="02010609060101010101" pitchFamily="49" charset="-122"/>
                <a:ea typeface="黑体" panose="02010609060101010101" pitchFamily="49" charset="-122"/>
                <a:cs typeface="+mn-cs"/>
              </a:rPr>
              <a:t>蝇子草的叶子形状有阔叶和细叶两型。如把阔叶的雌株跟细叶的雄株交配，子代全部是阔叶的雄株。如把杂合的阔叶雌株跟阔叶的雄株交配，子代雌雄都有，但雌株全是阔叶，而雄株中阔叶和细叶约各占半数。</a:t>
            </a:r>
          </a:p>
        </p:txBody>
      </p:sp>
      <p:pic>
        <p:nvPicPr>
          <p:cNvPr id="8" name="图片 7">
            <a:extLst>
              <a:ext uri="{FF2B5EF4-FFF2-40B4-BE49-F238E27FC236}">
                <a16:creationId xmlns:a16="http://schemas.microsoft.com/office/drawing/2014/main" id="{7E1AD489-0C0A-9940-D0D8-C36245F10E09}"/>
              </a:ext>
            </a:extLst>
          </p:cNvPr>
          <p:cNvPicPr>
            <a:picLocks noChangeAspect="1"/>
          </p:cNvPicPr>
          <p:nvPr/>
        </p:nvPicPr>
        <p:blipFill>
          <a:blip r:embed="rId3"/>
          <a:stretch>
            <a:fillRect/>
          </a:stretch>
        </p:blipFill>
        <p:spPr>
          <a:xfrm>
            <a:off x="127487" y="2313520"/>
            <a:ext cx="5667375" cy="2912038"/>
          </a:xfrm>
          <a:prstGeom prst="rect">
            <a:avLst/>
          </a:prstGeom>
        </p:spPr>
      </p:pic>
      <p:sp>
        <p:nvSpPr>
          <p:cNvPr id="20" name="文本框 19">
            <a:extLst>
              <a:ext uri="{FF2B5EF4-FFF2-40B4-BE49-F238E27FC236}">
                <a16:creationId xmlns:a16="http://schemas.microsoft.com/office/drawing/2014/main" id="{04011387-01A1-1376-B2F6-561F433B9531}"/>
              </a:ext>
            </a:extLst>
          </p:cNvPr>
          <p:cNvSpPr txBox="1"/>
          <p:nvPr/>
        </p:nvSpPr>
        <p:spPr>
          <a:xfrm>
            <a:off x="127487" y="5225558"/>
            <a:ext cx="11927136" cy="1200329"/>
          </a:xfrm>
          <a:prstGeom prst="rect">
            <a:avLst/>
          </a:prstGeom>
          <a:noFill/>
        </p:spPr>
        <p:txBody>
          <a:bodyPr wrap="square">
            <a:spAutoFit/>
          </a:bodyPr>
          <a:lstStyle/>
          <a:p>
            <a:pPr marL="0" lvl="1">
              <a:lnSpc>
                <a:spcPct val="100000"/>
              </a:lnSpc>
              <a:spcBef>
                <a:spcPts val="600"/>
              </a:spcBef>
              <a:buFont typeface="Wingdings" panose="05000000000000000000" pitchFamily="2" charset="2"/>
              <a:buChar char="Ø"/>
            </a:pPr>
            <a:r>
              <a:rPr lang="zh-CN" altLang="en-US" sz="2400" b="1" dirty="0">
                <a:solidFill>
                  <a:srgbClr val="FF0000"/>
                </a:solidFill>
                <a:latin typeface="黑体" panose="02010609060101010101" pitchFamily="49" charset="-122"/>
                <a:ea typeface="黑体" panose="02010609060101010101" pitchFamily="49" charset="-122"/>
              </a:rPr>
              <a:t>如果假设阔叶由基因</a:t>
            </a:r>
            <a:r>
              <a:rPr lang="en-US" altLang="zh-CN" sz="2400" b="1" dirty="0">
                <a:solidFill>
                  <a:srgbClr val="FF0000"/>
                </a:solidFill>
                <a:latin typeface="黑体" panose="02010609060101010101" pitchFamily="49" charset="-122"/>
                <a:ea typeface="黑体" panose="02010609060101010101" pitchFamily="49" charset="-122"/>
              </a:rPr>
              <a:t>B</a:t>
            </a:r>
            <a:r>
              <a:rPr lang="zh-CN" altLang="en-US" sz="2400" b="1" dirty="0">
                <a:solidFill>
                  <a:srgbClr val="FF0000"/>
                </a:solidFill>
                <a:latin typeface="黑体" panose="02010609060101010101" pitchFamily="49" charset="-122"/>
                <a:ea typeface="黑体" panose="02010609060101010101" pitchFamily="49" charset="-122"/>
              </a:rPr>
              <a:t>引起，细叶由基因</a:t>
            </a:r>
            <a:r>
              <a:rPr lang="en-US" altLang="zh-CN" sz="2400" b="1" dirty="0">
                <a:solidFill>
                  <a:srgbClr val="FF0000"/>
                </a:solidFill>
                <a:latin typeface="黑体" panose="02010609060101010101" pitchFamily="49" charset="-122"/>
                <a:ea typeface="黑体" panose="02010609060101010101" pitchFamily="49" charset="-122"/>
              </a:rPr>
              <a:t>b</a:t>
            </a:r>
            <a:r>
              <a:rPr lang="zh-CN" altLang="en-US" sz="2400" b="1" dirty="0">
                <a:solidFill>
                  <a:srgbClr val="FF0000"/>
                </a:solidFill>
                <a:latin typeface="黑体" panose="02010609060101010101" pitchFamily="49" charset="-122"/>
                <a:ea typeface="黑体" panose="02010609060101010101" pitchFamily="49" charset="-122"/>
              </a:rPr>
              <a:t>引起，</a:t>
            </a:r>
            <a:r>
              <a:rPr lang="en-US" altLang="zh-CN" sz="2400" b="1" dirty="0">
                <a:solidFill>
                  <a:srgbClr val="FF0000"/>
                </a:solidFill>
                <a:latin typeface="黑体" panose="02010609060101010101" pitchFamily="49" charset="-122"/>
                <a:ea typeface="黑体" panose="02010609060101010101" pitchFamily="49" charset="-122"/>
              </a:rPr>
              <a:t>B</a:t>
            </a:r>
            <a:r>
              <a:rPr lang="zh-CN" altLang="en-US" sz="2400" b="1" dirty="0">
                <a:solidFill>
                  <a:srgbClr val="FF0000"/>
                </a:solidFill>
                <a:latin typeface="黑体" panose="02010609060101010101" pitchFamily="49" charset="-122"/>
                <a:ea typeface="黑体" panose="02010609060101010101" pitchFamily="49" charset="-122"/>
              </a:rPr>
              <a:t>相对</a:t>
            </a:r>
            <a:r>
              <a:rPr lang="en-US" altLang="zh-CN" sz="2400" b="1" dirty="0">
                <a:solidFill>
                  <a:srgbClr val="FF0000"/>
                </a:solidFill>
                <a:latin typeface="黑体" panose="02010609060101010101" pitchFamily="49" charset="-122"/>
                <a:ea typeface="黑体" panose="02010609060101010101" pitchFamily="49" charset="-122"/>
              </a:rPr>
              <a:t>b</a:t>
            </a:r>
            <a:r>
              <a:rPr lang="zh-CN" altLang="en-US" sz="2400" b="1" dirty="0">
                <a:solidFill>
                  <a:srgbClr val="FF0000"/>
                </a:solidFill>
                <a:latin typeface="黑体" panose="02010609060101010101" pitchFamily="49" charset="-122"/>
                <a:ea typeface="黑体" panose="02010609060101010101" pitchFamily="49" charset="-122"/>
              </a:rPr>
              <a:t>完全显性，位于</a:t>
            </a:r>
            <a:r>
              <a:rPr lang="en-US" altLang="zh-CN" sz="2400" b="1" dirty="0">
                <a:solidFill>
                  <a:srgbClr val="FF0000"/>
                </a:solidFill>
                <a:latin typeface="黑体" panose="02010609060101010101" pitchFamily="49" charset="-122"/>
                <a:ea typeface="黑体" panose="02010609060101010101" pitchFamily="49" charset="-122"/>
              </a:rPr>
              <a:t>X</a:t>
            </a:r>
            <a:r>
              <a:rPr lang="zh-CN" altLang="en-US" sz="2400" b="1" dirty="0">
                <a:solidFill>
                  <a:srgbClr val="FF0000"/>
                </a:solidFill>
                <a:latin typeface="黑体" panose="02010609060101010101" pitchFamily="49" charset="-122"/>
                <a:ea typeface="黑体" panose="02010609060101010101" pitchFamily="49" charset="-122"/>
              </a:rPr>
              <a:t>染色体上，</a:t>
            </a:r>
            <a:r>
              <a:rPr lang="en-US" altLang="zh-CN" sz="2400" b="1" dirty="0">
                <a:solidFill>
                  <a:srgbClr val="FF0000"/>
                </a:solidFill>
                <a:latin typeface="黑体" panose="02010609060101010101" pitchFamily="49" charset="-122"/>
                <a:ea typeface="黑体" panose="02010609060101010101" pitchFamily="49" charset="-122"/>
              </a:rPr>
              <a:t>Y</a:t>
            </a:r>
            <a:r>
              <a:rPr lang="zh-CN" altLang="en-US" sz="2400" b="1" dirty="0">
                <a:solidFill>
                  <a:srgbClr val="FF0000"/>
                </a:solidFill>
                <a:latin typeface="黑体" panose="02010609060101010101" pitchFamily="49" charset="-122"/>
                <a:ea typeface="黑体" panose="02010609060101010101" pitchFamily="49" charset="-122"/>
              </a:rPr>
              <a:t>染色体上没有相对应的基因。此外，再加上一个假设，带有基因</a:t>
            </a:r>
            <a:r>
              <a:rPr lang="en-US" altLang="zh-CN" sz="2400" b="1" dirty="0">
                <a:solidFill>
                  <a:srgbClr val="FF0000"/>
                </a:solidFill>
                <a:latin typeface="黑体" panose="02010609060101010101" pitchFamily="49" charset="-122"/>
                <a:ea typeface="黑体" panose="02010609060101010101" pitchFamily="49" charset="-122"/>
              </a:rPr>
              <a:t>b</a:t>
            </a:r>
            <a:r>
              <a:rPr lang="zh-CN" altLang="en-US" sz="2400" b="1" dirty="0">
                <a:solidFill>
                  <a:srgbClr val="FF0000"/>
                </a:solidFill>
                <a:latin typeface="黑体" panose="02010609060101010101" pitchFamily="49" charset="-122"/>
                <a:ea typeface="黑体" panose="02010609060101010101" pitchFamily="49" charset="-122"/>
              </a:rPr>
              <a:t>的花粉是致死的。这样就可圆满地说明杂交结果。</a:t>
            </a:r>
          </a:p>
        </p:txBody>
      </p:sp>
    </p:spTree>
    <p:extLst>
      <p:ext uri="{BB962C8B-B14F-4D97-AF65-F5344CB8AC3E}">
        <p14:creationId xmlns:p14="http://schemas.microsoft.com/office/powerpoint/2010/main" val="616923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75BF8FF-0623-2189-A67B-1A2DA0E1CE48}"/>
              </a:ext>
            </a:extLst>
          </p:cNvPr>
          <p:cNvSpPr txBox="1"/>
          <p:nvPr/>
        </p:nvSpPr>
        <p:spPr>
          <a:xfrm>
            <a:off x="114200" y="161002"/>
            <a:ext cx="10532269" cy="693737"/>
          </a:xfrm>
          <a:prstGeom prst="rect">
            <a:avLst/>
          </a:prstGeom>
        </p:spPr>
        <p:txBody>
          <a:bodyPr vert="horz" lIns="91440" tIns="45720" rIns="91440" bIns="45720" rtlCol="0" anchor="ctr">
            <a:normAutofit fontScale="97500"/>
          </a:bodyPr>
          <a:lstStyle>
            <a:lvl1pPr>
              <a:lnSpc>
                <a:spcPct val="90000"/>
              </a:lnSpc>
              <a:spcBef>
                <a:spcPct val="0"/>
              </a:spcBef>
              <a:buNone/>
              <a:defRPr sz="3600" b="1">
                <a:solidFill>
                  <a:srgbClr val="0000FF"/>
                </a:solidFill>
                <a:latin typeface="黑体" pitchFamily="49" charset="-122"/>
                <a:ea typeface="黑体" pitchFamily="49" charset="-122"/>
                <a:cs typeface="+mj-cs"/>
              </a:defRPr>
            </a:lvl1pPr>
          </a:lstStyle>
          <a:p>
            <a:r>
              <a:rPr lang="zh-CN" altLang="en-US" sz="3200" dirty="0"/>
              <a:t>从性遗传</a:t>
            </a:r>
            <a:r>
              <a:rPr lang="en-US" altLang="zh-CN" sz="3200" dirty="0"/>
              <a:t>(</a:t>
            </a:r>
            <a:r>
              <a:rPr lang="en-US" altLang="zh-CN" sz="3300" dirty="0"/>
              <a:t>sex-controlled</a:t>
            </a:r>
            <a:r>
              <a:rPr lang="en-US" altLang="zh-CN" sz="3200" dirty="0"/>
              <a:t> inheritance)</a:t>
            </a:r>
            <a:endParaRPr lang="zh-CN" altLang="en-US" sz="3200" dirty="0"/>
          </a:p>
        </p:txBody>
      </p:sp>
      <p:sp>
        <p:nvSpPr>
          <p:cNvPr id="7" name="文本框 6">
            <a:extLst>
              <a:ext uri="{FF2B5EF4-FFF2-40B4-BE49-F238E27FC236}">
                <a16:creationId xmlns:a16="http://schemas.microsoft.com/office/drawing/2014/main" id="{0FAC01DE-6DBD-520D-1BE6-FBED1C52C00E}"/>
              </a:ext>
            </a:extLst>
          </p:cNvPr>
          <p:cNvSpPr txBox="1"/>
          <p:nvPr/>
        </p:nvSpPr>
        <p:spPr>
          <a:xfrm>
            <a:off x="107057" y="872202"/>
            <a:ext cx="11596952" cy="693738"/>
          </a:xfrm>
          <a:prstGeom prst="rect">
            <a:avLst/>
          </a:prstGeom>
        </p:spPr>
        <p:txBody>
          <a:bodyPr vert="horz" lIns="91440" tIns="45720" rIns="91440" bIns="45720" rtlCol="0">
            <a:normAutofit/>
          </a:bodyPr>
          <a:lstStyle>
            <a:lvl1pPr marL="228600" indent="-228600">
              <a:lnSpc>
                <a:spcPct val="120000"/>
              </a:lnSpc>
              <a:spcBef>
                <a:spcPts val="1000"/>
              </a:spcBef>
              <a:buClr>
                <a:schemeClr val="accent1"/>
              </a:buClr>
              <a:buSzPct val="80000"/>
              <a:buFont typeface="Wingdings" panose="05000000000000000000" pitchFamily="2" charset="2"/>
              <a:buChar char="p"/>
              <a:defRPr sz="2400">
                <a:solidFill>
                  <a:srgbClr val="3A5991"/>
                </a:solidFill>
                <a:latin typeface="微软雅黑" panose="020B0503020204020204" pitchFamily="34" charset="-122"/>
                <a:ea typeface="微软雅黑" panose="020B0503020204020204" pitchFamily="34" charset="-122"/>
              </a:defRPr>
            </a:lvl1pPr>
            <a:lvl2pPr marL="0" lvl="1" indent="0">
              <a:lnSpc>
                <a:spcPct val="100000"/>
              </a:lnSpc>
              <a:spcBef>
                <a:spcPts val="0"/>
              </a:spcBef>
              <a:buClr>
                <a:schemeClr val="accent1"/>
              </a:buClr>
              <a:buSzPct val="80000"/>
              <a:buFont typeface="Wingdings" panose="05000000000000000000" pitchFamily="2" charset="2"/>
              <a:buNone/>
              <a:defRPr sz="2800" b="1">
                <a:latin typeface="黑体" panose="02010609060101010101" pitchFamily="49" charset="-122"/>
                <a:ea typeface="黑体" panose="02010609060101010101" pitchFamily="49" charset="-122"/>
              </a:defRPr>
            </a:lvl2pPr>
            <a:lvl3pPr marL="1143000" indent="-228600">
              <a:lnSpc>
                <a:spcPct val="120000"/>
              </a:lnSpc>
              <a:spcBef>
                <a:spcPts val="500"/>
              </a:spcBef>
              <a:buClr>
                <a:schemeClr val="accent1"/>
              </a:buClr>
              <a:buSzPct val="80000"/>
              <a:buFont typeface="Wingdings" panose="05000000000000000000" pitchFamily="2" charset="2"/>
              <a:buChar char="p"/>
              <a:defRPr>
                <a:latin typeface="微软雅黑" panose="020B0503020204020204" pitchFamily="34" charset="-122"/>
                <a:ea typeface="微软雅黑" panose="020B0503020204020204" pitchFamily="34" charset="-122"/>
              </a:defRPr>
            </a:lvl3pPr>
            <a:lvl4pPr marL="1600200" indent="-228600">
              <a:lnSpc>
                <a:spcPct val="120000"/>
              </a:lnSpc>
              <a:spcBef>
                <a:spcPts val="500"/>
              </a:spcBef>
              <a:buClr>
                <a:schemeClr val="accent1"/>
              </a:buClr>
              <a:buSzPct val="80000"/>
              <a:buFont typeface="Wingdings" panose="05000000000000000000" pitchFamily="2" charset="2"/>
              <a:buChar char="p"/>
              <a:defRPr sz="1600">
                <a:latin typeface="微软雅黑" panose="020B0503020204020204" pitchFamily="34" charset="-122"/>
                <a:ea typeface="微软雅黑" panose="020B0503020204020204" pitchFamily="34" charset="-122"/>
              </a:defRPr>
            </a:lvl4pPr>
            <a:lvl5pPr marL="2057400" indent="-228600">
              <a:lnSpc>
                <a:spcPct val="120000"/>
              </a:lnSpc>
              <a:spcBef>
                <a:spcPts val="500"/>
              </a:spcBef>
              <a:buClr>
                <a:schemeClr val="accent1"/>
              </a:buClr>
              <a:buSzPct val="80000"/>
              <a:buFont typeface="Wingdings" panose="05000000000000000000" pitchFamily="2" charset="2"/>
              <a:buChar char="p"/>
              <a:defRPr sz="16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zh-CN" altLang="zh-CN" sz="2800" b="1" dirty="0">
                <a:solidFill>
                  <a:schemeClr val="tx1"/>
                </a:solidFill>
                <a:latin typeface="黑体" panose="02010609060101010101" pitchFamily="49" charset="-122"/>
                <a:ea typeface="黑体" panose="02010609060101010101" pitchFamily="49" charset="-122"/>
              </a:rPr>
              <a:t>控制性状的基因位于常染色体上，但其性状表现受个体性别影响的现象</a:t>
            </a:r>
            <a:endParaRPr lang="zh-CN" altLang="en-US" sz="2800" b="1" dirty="0">
              <a:solidFill>
                <a:schemeClr val="tx1"/>
              </a:solidFill>
              <a:latin typeface="黑体" panose="02010609060101010101" pitchFamily="49" charset="-122"/>
              <a:ea typeface="黑体" panose="02010609060101010101" pitchFamily="49" charset="-122"/>
            </a:endParaRPr>
          </a:p>
        </p:txBody>
      </p:sp>
      <p:sp>
        <p:nvSpPr>
          <p:cNvPr id="9" name="文本框 8">
            <a:extLst>
              <a:ext uri="{FF2B5EF4-FFF2-40B4-BE49-F238E27FC236}">
                <a16:creationId xmlns:a16="http://schemas.microsoft.com/office/drawing/2014/main" id="{26419C58-5C1D-5CE0-FFEA-009149064D5A}"/>
              </a:ext>
            </a:extLst>
          </p:cNvPr>
          <p:cNvSpPr txBox="1"/>
          <p:nvPr/>
        </p:nvSpPr>
        <p:spPr>
          <a:xfrm>
            <a:off x="107057" y="1451640"/>
            <a:ext cx="11596952" cy="830997"/>
          </a:xfrm>
          <a:prstGeom prst="rect">
            <a:avLst/>
          </a:prstGeom>
          <a:noFill/>
        </p:spPr>
        <p:txBody>
          <a:bodyPr wrap="square">
            <a:spAutoFit/>
          </a:bodyPr>
          <a:lstStyle/>
          <a:p>
            <a:r>
              <a:rPr lang="zh-CN" altLang="en-US" sz="2400" dirty="0">
                <a:solidFill>
                  <a:srgbClr val="0000FF"/>
                </a:solidFill>
                <a:latin typeface="微软雅黑" panose="020B0503020204020204" pitchFamily="34" charset="-122"/>
                <a:ea typeface="微软雅黑" panose="020B0503020204020204" pitchFamily="34" charset="-122"/>
              </a:rPr>
              <a:t>实质是常染色体上基因所控制的性状受到性染色体遗传背景和生理环境</a:t>
            </a:r>
            <a:r>
              <a:rPr lang="en-US" altLang="zh-CN" sz="2400" dirty="0">
                <a:solidFill>
                  <a:srgbClr val="0000FF"/>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内分泌等因素</a:t>
            </a:r>
            <a:r>
              <a:rPr lang="en-US" altLang="zh-CN" sz="2400" dirty="0">
                <a:solidFill>
                  <a:srgbClr val="0000FF"/>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的影响</a:t>
            </a:r>
            <a:endParaRPr lang="zh-CN" altLang="en-US" sz="2400" dirty="0">
              <a:latin typeface="微软雅黑" panose="020B0503020204020204" pitchFamily="34" charset="-122"/>
              <a:ea typeface="微软雅黑" panose="020B0503020204020204" pitchFamily="34" charset="-122"/>
            </a:endParaRPr>
          </a:p>
        </p:txBody>
      </p:sp>
      <p:pic>
        <p:nvPicPr>
          <p:cNvPr id="10" name="内容占位符 148496">
            <a:extLst>
              <a:ext uri="{FF2B5EF4-FFF2-40B4-BE49-F238E27FC236}">
                <a16:creationId xmlns:a16="http://schemas.microsoft.com/office/drawing/2014/main" id="{62137780-36DE-35A3-F0CB-9262706EAE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1466" y="2358836"/>
            <a:ext cx="8348133" cy="2099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a:extLst>
              <a:ext uri="{FF2B5EF4-FFF2-40B4-BE49-F238E27FC236}">
                <a16:creationId xmlns:a16="http://schemas.microsoft.com/office/drawing/2014/main" id="{87C67A94-D9EF-7F34-0F67-4B1A5FF4A32C}"/>
              </a:ext>
            </a:extLst>
          </p:cNvPr>
          <p:cNvSpPr txBox="1"/>
          <p:nvPr/>
        </p:nvSpPr>
        <p:spPr>
          <a:xfrm>
            <a:off x="5029365" y="2126883"/>
            <a:ext cx="1797844" cy="369332"/>
          </a:xfrm>
          <a:prstGeom prst="rect">
            <a:avLst/>
          </a:prstGeom>
          <a:noFill/>
        </p:spPr>
        <p:txBody>
          <a:bodyPr wrap="square">
            <a:spAutoFit/>
          </a:bodyPr>
          <a:lstStyle/>
          <a:p>
            <a:r>
              <a:rPr lang="zh-CN" altLang="zh-CN" sz="1800" b="1" dirty="0">
                <a:latin typeface="黑体" pitchFamily="49" charset="-122"/>
                <a:ea typeface="黑体" pitchFamily="49" charset="-122"/>
              </a:rPr>
              <a:t>绵羊角的遗传</a:t>
            </a:r>
            <a:endParaRPr lang="zh-CN" altLang="en-US" dirty="0"/>
          </a:p>
        </p:txBody>
      </p:sp>
    </p:spTree>
    <p:extLst>
      <p:ext uri="{BB962C8B-B14F-4D97-AF65-F5344CB8AC3E}">
        <p14:creationId xmlns:p14="http://schemas.microsoft.com/office/powerpoint/2010/main" val="3121696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i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47457"/>
          <p:cNvSpPr>
            <a:spLocks noGrp="1" noChangeArrowheads="1"/>
          </p:cNvSpPr>
          <p:nvPr>
            <p:ph type="title"/>
          </p:nvPr>
        </p:nvSpPr>
        <p:spPr>
          <a:xfrm>
            <a:off x="135467" y="141288"/>
            <a:ext cx="10972800" cy="557212"/>
          </a:xfrm>
        </p:spPr>
        <p:txBody>
          <a:bodyPr>
            <a:normAutofit fontScale="90000"/>
          </a:bodyPr>
          <a:lstStyle/>
          <a:p>
            <a:pPr algn="l"/>
            <a:r>
              <a:rPr lang="zh-CN" altLang="en-US" sz="3600" b="1" dirty="0">
                <a:solidFill>
                  <a:srgbClr val="0000FF"/>
                </a:solidFill>
                <a:latin typeface="黑体" pitchFamily="49" charset="-122"/>
                <a:ea typeface="黑体" pitchFamily="49" charset="-122"/>
              </a:rPr>
              <a:t>限性遗传</a:t>
            </a:r>
            <a:r>
              <a:rPr lang="en-US" altLang="zh-CN" sz="3600" b="1" dirty="0">
                <a:solidFill>
                  <a:srgbClr val="0000FF"/>
                </a:solidFill>
                <a:latin typeface="黑体" pitchFamily="49" charset="-122"/>
                <a:ea typeface="黑体" pitchFamily="49" charset="-122"/>
              </a:rPr>
              <a:t>(sex-limited inheritance)</a:t>
            </a:r>
            <a:endParaRPr lang="zh-CN" altLang="en-US" sz="3600" b="1" dirty="0">
              <a:solidFill>
                <a:srgbClr val="0000FF"/>
              </a:solidFill>
              <a:latin typeface="黑体" pitchFamily="49" charset="-122"/>
              <a:ea typeface="黑体" pitchFamily="49" charset="-122"/>
            </a:endParaRPr>
          </a:p>
        </p:txBody>
      </p:sp>
      <p:sp>
        <p:nvSpPr>
          <p:cNvPr id="6" name="文本框 5">
            <a:extLst>
              <a:ext uri="{FF2B5EF4-FFF2-40B4-BE49-F238E27FC236}">
                <a16:creationId xmlns:a16="http://schemas.microsoft.com/office/drawing/2014/main" id="{763CF295-5E6B-D61B-E1EF-ECDA1E9F4135}"/>
              </a:ext>
            </a:extLst>
          </p:cNvPr>
          <p:cNvSpPr txBox="1"/>
          <p:nvPr/>
        </p:nvSpPr>
        <p:spPr>
          <a:xfrm>
            <a:off x="279103" y="828675"/>
            <a:ext cx="11459239" cy="2600325"/>
          </a:xfrm>
          <a:prstGeom prst="rect">
            <a:avLst/>
          </a:prstGeom>
        </p:spPr>
        <p:txBody>
          <a:bodyPr vert="horz" lIns="91440" tIns="45720" rIns="91440" bIns="45720" rtlCol="0">
            <a:noAutofit/>
          </a:bodyPr>
          <a:lstStyle>
            <a:lvl1pPr marL="457200" indent="-457200">
              <a:lnSpc>
                <a:spcPct val="90000"/>
              </a:lnSpc>
              <a:spcBef>
                <a:spcPts val="1000"/>
              </a:spcBef>
              <a:buFont typeface="+mj-lt"/>
              <a:buAutoNum type="arabicPeriod"/>
              <a:defRPr sz="2400">
                <a:solidFill>
                  <a:srgbClr val="3A5991"/>
                </a:solidFill>
                <a:latin typeface="Times New Roman" panose="02020603050405020304" pitchFamily="18" charset="0"/>
                <a:ea typeface="微软雅黑" panose="020B0503020204020204" pitchFamily="34" charset="-122"/>
                <a:cs typeface="Times New Roman" panose="02020603050405020304" pitchFamily="18" charset="0"/>
              </a:defRPr>
            </a:lvl1pPr>
            <a:lvl2pPr marL="0" lvl="1" indent="0">
              <a:lnSpc>
                <a:spcPct val="100000"/>
              </a:lnSpc>
              <a:spcBef>
                <a:spcPts val="0"/>
              </a:spcBef>
              <a:buClr>
                <a:schemeClr val="accent1"/>
              </a:buClr>
              <a:buSzPct val="80000"/>
              <a:buFont typeface="Wingdings" panose="05000000000000000000" pitchFamily="2" charset="2"/>
              <a:buNone/>
              <a:defRPr sz="2800" b="1">
                <a:latin typeface="黑体" panose="02010609060101010101" pitchFamily="49" charset="-122"/>
                <a:ea typeface="黑体" panose="02010609060101010101" pitchFamily="49" charset="-122"/>
              </a:defRPr>
            </a:lvl2pPr>
            <a:lvl3pPr marL="11430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nSpc>
                <a:spcPct val="120000"/>
              </a:lnSpc>
              <a:spcBef>
                <a:spcPts val="0"/>
              </a:spcBef>
              <a:buNone/>
            </a:pPr>
            <a:r>
              <a:rPr lang="zh-CN" altLang="en-US" b="1">
                <a:solidFill>
                  <a:schemeClr val="tx1"/>
                </a:solidFill>
                <a:latin typeface="黑体" panose="02010609060101010101" pitchFamily="49" charset="-122"/>
                <a:ea typeface="黑体" panose="02010609060101010101" pitchFamily="49" charset="-122"/>
              </a:rPr>
              <a:t>    1</a:t>
            </a:r>
            <a:r>
              <a:rPr lang="zh-CN" altLang="en-US" b="1" dirty="0">
                <a:solidFill>
                  <a:schemeClr val="tx1"/>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限性性状</a:t>
            </a:r>
            <a:r>
              <a:rPr lang="zh-CN" altLang="en-US" b="1" dirty="0">
                <a:solidFill>
                  <a:schemeClr val="tx1"/>
                </a:solidFill>
                <a:latin typeface="黑体" panose="02010609060101010101" pitchFamily="49" charset="-122"/>
                <a:ea typeface="黑体" panose="02010609060101010101" pitchFamily="49" charset="-122"/>
              </a:rPr>
              <a:t>（</a:t>
            </a:r>
            <a:r>
              <a:rPr lang="en-US" altLang="zh-CN" b="1" dirty="0">
                <a:solidFill>
                  <a:schemeClr val="tx1"/>
                </a:solidFill>
                <a:latin typeface="黑体" panose="02010609060101010101" pitchFamily="49" charset="-122"/>
                <a:ea typeface="黑体" panose="02010609060101010101" pitchFamily="49" charset="-122"/>
              </a:rPr>
              <a:t>sex-limited traits）：</a:t>
            </a:r>
            <a:r>
              <a:rPr lang="zh-CN" altLang="en-US" b="1" dirty="0">
                <a:solidFill>
                  <a:schemeClr val="tx1"/>
                </a:solidFill>
                <a:latin typeface="黑体" panose="02010609060101010101" pitchFamily="49" charset="-122"/>
                <a:ea typeface="黑体" panose="02010609060101010101" pitchFamily="49" charset="-122"/>
              </a:rPr>
              <a:t>指只在某一种性别表现的性状，控制此类性状的基因多数位于常染色体上，也有少部分位于性染色体上。</a:t>
            </a:r>
          </a:p>
          <a:p>
            <a:pPr marL="0" indent="0">
              <a:lnSpc>
                <a:spcPct val="120000"/>
              </a:lnSpc>
              <a:spcBef>
                <a:spcPts val="0"/>
              </a:spcBef>
              <a:buNone/>
            </a:pPr>
            <a:r>
              <a:rPr lang="zh-CN" altLang="en-US" b="1" dirty="0">
                <a:solidFill>
                  <a:schemeClr val="tx1"/>
                </a:solidFill>
                <a:latin typeface="微软雅黑" panose="020B0503020204020204" pitchFamily="34" charset="-122"/>
              </a:rPr>
              <a:t>限性性状有单基因控制的单位性状，如单睾、隐睾；有的是多基因控制的数量性状或多性状复合体，如泌乳量、产仔数、产蛋性状（包括：产蛋持久性、开产日龄、产蛋量、就巢性等）等。</a:t>
            </a:r>
            <a:endParaRPr lang="en-US" altLang="zh-CN" b="1" dirty="0">
              <a:solidFill>
                <a:schemeClr val="tx1"/>
              </a:solidFill>
              <a:latin typeface="微软雅黑" panose="020B0503020204020204" pitchFamily="34" charset="-122"/>
            </a:endParaRPr>
          </a:p>
          <a:p>
            <a:pPr marL="0" indent="0">
              <a:lnSpc>
                <a:spcPct val="120000"/>
              </a:lnSpc>
              <a:spcBef>
                <a:spcPts val="0"/>
              </a:spcBef>
              <a:buNone/>
            </a:pPr>
            <a:r>
              <a:rPr lang="zh-CN" altLang="en-US" b="1">
                <a:solidFill>
                  <a:schemeClr val="tx1"/>
                </a:solidFill>
                <a:latin typeface="黑体" panose="02010609060101010101" pitchFamily="49" charset="-122"/>
                <a:ea typeface="黑体" panose="02010609060101010101" pitchFamily="49" charset="-122"/>
              </a:rPr>
              <a:t>    2</a:t>
            </a:r>
            <a:r>
              <a:rPr lang="zh-CN" altLang="en-US" b="1" dirty="0">
                <a:solidFill>
                  <a:schemeClr val="tx1"/>
                </a:solidFill>
                <a:latin typeface="黑体" panose="02010609060101010101" pitchFamily="49" charset="-122"/>
                <a:ea typeface="黑体" panose="02010609060101010101" pitchFamily="49" charset="-122"/>
              </a:rPr>
              <a:t>.限性遗传指限性性状的遗传行为。</a:t>
            </a:r>
          </a:p>
          <a:p>
            <a:pPr marL="0" indent="0">
              <a:lnSpc>
                <a:spcPct val="120000"/>
              </a:lnSpc>
              <a:spcBef>
                <a:spcPts val="0"/>
              </a:spcBef>
              <a:buNone/>
            </a:pPr>
            <a:endParaRPr lang="zh-CN" altLang="en-US" b="1" dirty="0">
              <a:solidFill>
                <a:schemeClr val="tx1"/>
              </a:solidFill>
              <a:latin typeface="黑体" panose="02010609060101010101" pitchFamily="49" charset="-122"/>
              <a:ea typeface="黑体" panose="02010609060101010101" pitchFamily="49" charset="-122"/>
            </a:endParaRPr>
          </a:p>
        </p:txBody>
      </p:sp>
      <p:sp>
        <p:nvSpPr>
          <p:cNvPr id="11" name="文本框 10">
            <a:extLst>
              <a:ext uri="{FF2B5EF4-FFF2-40B4-BE49-F238E27FC236}">
                <a16:creationId xmlns:a16="http://schemas.microsoft.com/office/drawing/2014/main" id="{F2CBB742-F326-6533-9EB5-C54C31E1116A}"/>
              </a:ext>
            </a:extLst>
          </p:cNvPr>
          <p:cNvSpPr txBox="1"/>
          <p:nvPr/>
        </p:nvSpPr>
        <p:spPr>
          <a:xfrm>
            <a:off x="135467" y="3824732"/>
            <a:ext cx="11459239" cy="1754326"/>
          </a:xfrm>
          <a:prstGeom prst="rect">
            <a:avLst/>
          </a:prstGeom>
        </p:spPr>
        <p:txBody>
          <a:bodyPr vert="horz" lIns="91440" tIns="45720" rIns="91440" bIns="45720" rtlCol="0">
            <a:normAutofit fontScale="92500" lnSpcReduction="20000"/>
          </a:bodyPr>
          <a:lstStyle>
            <a:defPPr>
              <a:defRPr lang="zh-CN"/>
            </a:defPPr>
            <a:lvl1pPr indent="0">
              <a:lnSpc>
                <a:spcPct val="90000"/>
              </a:lnSpc>
              <a:spcBef>
                <a:spcPts val="1000"/>
              </a:spcBef>
              <a:buFont typeface="+mj-lt"/>
              <a:buNone/>
              <a:defRPr sz="2400" b="1">
                <a:latin typeface="黑体" panose="02010609060101010101" pitchFamily="49" charset="-122"/>
                <a:ea typeface="黑体" panose="02010609060101010101" pitchFamily="49" charset="-122"/>
                <a:cs typeface="Times New Roman" panose="02020603050405020304" pitchFamily="18" charset="0"/>
              </a:defRPr>
            </a:lvl1pPr>
            <a:lvl2pPr marL="0" lvl="1" indent="0">
              <a:lnSpc>
                <a:spcPct val="100000"/>
              </a:lnSpc>
              <a:spcBef>
                <a:spcPts val="0"/>
              </a:spcBef>
              <a:buClr>
                <a:schemeClr val="accent1"/>
              </a:buClr>
              <a:buSzPct val="80000"/>
              <a:buFont typeface="Wingdings" panose="05000000000000000000" pitchFamily="2" charset="2"/>
              <a:buNone/>
              <a:defRPr sz="2800" b="1">
                <a:latin typeface="黑体" panose="02010609060101010101" pitchFamily="49" charset="-122"/>
                <a:ea typeface="黑体" panose="02010609060101010101" pitchFamily="49" charset="-122"/>
              </a:defRPr>
            </a:lvl2pPr>
            <a:lvl3pPr marL="11430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0000"/>
              </a:lnSpc>
              <a:spcBef>
                <a:spcPts val="0"/>
              </a:spcBef>
            </a:pPr>
            <a:r>
              <a:rPr lang="zh-CN" altLang="en-US" sz="1800" dirty="0"/>
              <a:t>3.限性遗传的特点 </a:t>
            </a:r>
          </a:p>
          <a:p>
            <a:pPr>
              <a:lnSpc>
                <a:spcPct val="120000"/>
              </a:lnSpc>
              <a:spcBef>
                <a:spcPts val="0"/>
              </a:spcBef>
            </a:pPr>
            <a:r>
              <a:rPr lang="zh-CN" altLang="en-US" sz="1800" dirty="0"/>
              <a:t>①没有固定的遗传模式；</a:t>
            </a:r>
          </a:p>
          <a:p>
            <a:pPr>
              <a:lnSpc>
                <a:spcPct val="120000"/>
              </a:lnSpc>
              <a:spcBef>
                <a:spcPts val="0"/>
              </a:spcBef>
            </a:pPr>
            <a:r>
              <a:rPr lang="zh-CN" altLang="en-US" sz="1800" dirty="0"/>
              <a:t>②由常染色体上基因控制的限性性状在某种性别中，有其遗传基础却无性状表现，如泌乳性状、繁殖性状等。具有遗传基础而无性状表现的个体在该性状上用</a:t>
            </a:r>
            <a:r>
              <a:rPr lang="zh-CN" altLang="en-US" sz="1800" dirty="0">
                <a:solidFill>
                  <a:srgbClr val="0000FF"/>
                </a:solidFill>
              </a:rPr>
              <a:t>性状指数</a:t>
            </a:r>
            <a:r>
              <a:rPr lang="zh-CN" altLang="en-US" sz="1800" dirty="0"/>
              <a:t>表示。如公牛的泌乳性能用泌乳指数表示；公鸡的产蛋性能用产蛋指数表示。</a:t>
            </a:r>
          </a:p>
          <a:p>
            <a:pPr>
              <a:lnSpc>
                <a:spcPct val="120000"/>
              </a:lnSpc>
              <a:spcBef>
                <a:spcPts val="0"/>
              </a:spcBef>
            </a:pPr>
            <a:r>
              <a:rPr lang="zh-CN" altLang="en-US" sz="1800" dirty="0"/>
              <a:t>③位于性染色体上基因控制的限性性状实际上只在雄性个体中表现，这类性状的遗传行为又称为</a:t>
            </a:r>
            <a:r>
              <a:rPr lang="zh-CN" altLang="en-US" sz="1800" dirty="0">
                <a:solidFill>
                  <a:srgbClr val="FF0000"/>
                </a:solidFill>
              </a:rPr>
              <a:t>限雄遗传</a:t>
            </a:r>
            <a:r>
              <a:rPr lang="en-US" altLang="zh-CN" sz="1800"/>
              <a:t>。</a:t>
            </a:r>
            <a:endParaRPr lang="zh-CN" altLang="en-US" sz="1800" dirty="0"/>
          </a:p>
        </p:txBody>
      </p:sp>
    </p:spTree>
    <p:extLst>
      <p:ext uri="{BB962C8B-B14F-4D97-AF65-F5344CB8AC3E}">
        <p14:creationId xmlns:p14="http://schemas.microsoft.com/office/powerpoint/2010/main" val="583429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11353799" y="6356350"/>
            <a:ext cx="577363" cy="365125"/>
          </a:xfrm>
          <a:prstGeom prst="rect">
            <a:avLst/>
          </a:prstGeom>
        </p:spPr>
        <p:txBody>
          <a:bodyPr/>
          <a:lstStyle/>
          <a:p>
            <a:fld id="{D4751D38-C989-48BC-B1AB-387F6E8DCEB6}" type="slidenum">
              <a:rPr lang="zh-CN" altLang="en-US" smtClean="0"/>
              <a:pPr/>
              <a:t>10</a:t>
            </a:fld>
            <a:endParaRPr lang="zh-CN" altLang="en-US" dirty="0"/>
          </a:p>
        </p:txBody>
      </p:sp>
      <p:sp>
        <p:nvSpPr>
          <p:cNvPr id="5" name="内容占位符 4"/>
          <p:cNvSpPr>
            <a:spLocks noGrp="1"/>
          </p:cNvSpPr>
          <p:nvPr>
            <p:ph sz="half" idx="1"/>
          </p:nvPr>
        </p:nvSpPr>
        <p:spPr>
          <a:xfrm>
            <a:off x="192290" y="1562771"/>
            <a:ext cx="6354354" cy="3732458"/>
          </a:xfrm>
        </p:spPr>
        <p:txBody>
          <a:bodyPr>
            <a:normAutofit fontScale="92500" lnSpcReduction="10000"/>
          </a:bodyPr>
          <a:lstStyle/>
          <a:p>
            <a:pPr marL="0" lvl="1">
              <a:lnSpc>
                <a:spcPct val="150000"/>
              </a:lnSpc>
            </a:pPr>
            <a:r>
              <a:rPr lang="zh-CN" altLang="en-US" sz="2400" dirty="0"/>
              <a:t>萨顿在 </a:t>
            </a:r>
            <a:r>
              <a:rPr lang="en-US" altLang="zh-CN" sz="2400" dirty="0"/>
              <a:t>1903 </a:t>
            </a:r>
            <a:r>
              <a:rPr lang="zh-CN" altLang="en-US" sz="2400" dirty="0"/>
              <a:t>年提出遗传的染色体假说，相关证据还只是基因的行为一般与染色体的行为平行。</a:t>
            </a:r>
            <a:endParaRPr lang="en-US" altLang="zh-CN" sz="2400" dirty="0"/>
          </a:p>
          <a:p>
            <a:pPr marL="0" lvl="1">
              <a:lnSpc>
                <a:spcPct val="150000"/>
              </a:lnSpc>
            </a:pPr>
            <a:r>
              <a:rPr lang="zh-CN" altLang="en-US" sz="2400" dirty="0"/>
              <a:t>摩尔根在 </a:t>
            </a:r>
            <a:r>
              <a:rPr lang="en-US" altLang="zh-CN" sz="2400" dirty="0"/>
              <a:t>1910 </a:t>
            </a:r>
            <a:r>
              <a:rPr lang="zh-CN" altLang="en-US" sz="2400" dirty="0"/>
              <a:t>年在果蝇中发现的白眼性状的遗传方式，第一次把一个特定基因（</a:t>
            </a:r>
            <a:r>
              <a:rPr lang="en-US" altLang="zh-CN" sz="2400" i="1" dirty="0"/>
              <a:t>w</a:t>
            </a:r>
            <a:r>
              <a:rPr lang="zh-CN" altLang="en-US" sz="2400" dirty="0"/>
              <a:t>）与一特定染色体（</a:t>
            </a:r>
            <a:r>
              <a:rPr lang="en-US" altLang="zh-CN" sz="2400" dirty="0"/>
              <a:t>X </a:t>
            </a:r>
            <a:r>
              <a:rPr lang="zh-CN" altLang="en-US" sz="2400" dirty="0"/>
              <a:t>染色体）联系起来。</a:t>
            </a:r>
            <a:endParaRPr lang="en-US" altLang="zh-CN" sz="2400" dirty="0"/>
          </a:p>
          <a:p>
            <a:pPr marL="0" lvl="1">
              <a:lnSpc>
                <a:spcPct val="150000"/>
              </a:lnSpc>
            </a:pPr>
            <a:r>
              <a:rPr lang="zh-CN" altLang="en-US" sz="2400" dirty="0">
                <a:solidFill>
                  <a:srgbClr val="FF0000"/>
                </a:solidFill>
              </a:rPr>
              <a:t>布里奇斯</a:t>
            </a:r>
            <a:r>
              <a:rPr lang="zh-CN" altLang="en-US" sz="2400" dirty="0"/>
              <a:t>在 </a:t>
            </a:r>
            <a:r>
              <a:rPr lang="en-US" altLang="zh-CN" sz="2400" dirty="0"/>
              <a:t>1916 </a:t>
            </a:r>
            <a:r>
              <a:rPr lang="zh-CN" altLang="en-US" sz="2400" dirty="0"/>
              <a:t>年发现的</a:t>
            </a:r>
            <a:r>
              <a:rPr lang="zh-CN" altLang="en-US" sz="2400" b="1" dirty="0">
                <a:solidFill>
                  <a:srgbClr val="FF0000"/>
                </a:solidFill>
              </a:rPr>
              <a:t>果蝇 </a:t>
            </a:r>
            <a:r>
              <a:rPr lang="en-US" altLang="zh-CN" sz="2400" b="1" dirty="0">
                <a:solidFill>
                  <a:srgbClr val="FF0000"/>
                </a:solidFill>
              </a:rPr>
              <a:t>X </a:t>
            </a:r>
            <a:r>
              <a:rPr lang="zh-CN" altLang="en-US" sz="2400" b="1" dirty="0">
                <a:solidFill>
                  <a:srgbClr val="FF0000"/>
                </a:solidFill>
              </a:rPr>
              <a:t>染色体不分开现象</a:t>
            </a:r>
            <a:r>
              <a:rPr lang="zh-CN" altLang="en-US" sz="2400" dirty="0">
                <a:solidFill>
                  <a:srgbClr val="FF0000"/>
                </a:solidFill>
              </a:rPr>
              <a:t>，无可辩驳地证明了遗传的染色体学说</a:t>
            </a:r>
            <a:r>
              <a:rPr lang="zh-CN" altLang="en-US" sz="2400" dirty="0"/>
              <a:t>。</a:t>
            </a:r>
            <a:endParaRPr lang="en-US" altLang="zh-CN" sz="2400" dirty="0"/>
          </a:p>
          <a:p>
            <a:pPr marL="0" lvl="1">
              <a:lnSpc>
                <a:spcPct val="150000"/>
              </a:lnSpc>
            </a:pPr>
            <a:endParaRPr lang="zh-CN" altLang="en-US" sz="2400" dirty="0"/>
          </a:p>
        </p:txBody>
      </p:sp>
      <p:sp>
        <p:nvSpPr>
          <p:cNvPr id="7" name="标题 6"/>
          <p:cNvSpPr>
            <a:spLocks noGrp="1"/>
          </p:cNvSpPr>
          <p:nvPr>
            <p:ph type="title"/>
          </p:nvPr>
        </p:nvSpPr>
        <p:spPr>
          <a:xfrm>
            <a:off x="289413" y="250962"/>
            <a:ext cx="10515600" cy="725121"/>
          </a:xfrm>
        </p:spPr>
        <p:txBody>
          <a:bodyPr/>
          <a:lstStyle/>
          <a:p>
            <a:r>
              <a:rPr lang="zh-CN" altLang="en-US" b="1" dirty="0">
                <a:solidFill>
                  <a:srgbClr val="0000FF"/>
                </a:solidFill>
              </a:rPr>
              <a:t>第三节　遗传的染色体学说的直接证明</a:t>
            </a:r>
          </a:p>
        </p:txBody>
      </p:sp>
      <p:pic>
        <p:nvPicPr>
          <p:cNvPr id="8" name="Picture 5" descr="Calvin Bridges 的图像结果">
            <a:extLst>
              <a:ext uri="{FF2B5EF4-FFF2-40B4-BE49-F238E27FC236}">
                <a16:creationId xmlns:a16="http://schemas.microsoft.com/office/drawing/2014/main" id="{6A7BBA0E-BE7D-45E2-9015-24A8999CE22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7184" t="10773" r="22761" b="36263"/>
          <a:stretch/>
        </p:blipFill>
        <p:spPr bwMode="auto">
          <a:xfrm>
            <a:off x="6724455" y="2129232"/>
            <a:ext cx="1766690" cy="2306298"/>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10">
            <a:extLst>
              <a:ext uri="{FF2B5EF4-FFF2-40B4-BE49-F238E27FC236}">
                <a16:creationId xmlns:a16="http://schemas.microsoft.com/office/drawing/2014/main" id="{811FB5A4-00C1-4603-AD06-DFAB47DDA9F2}"/>
              </a:ext>
            </a:extLst>
          </p:cNvPr>
          <p:cNvSpPr txBox="1"/>
          <p:nvPr/>
        </p:nvSpPr>
        <p:spPr>
          <a:xfrm>
            <a:off x="6759674" y="4435530"/>
            <a:ext cx="1696252" cy="738664"/>
          </a:xfrm>
          <a:prstGeom prst="rect">
            <a:avLst/>
          </a:prstGeom>
          <a:noFill/>
        </p:spPr>
        <p:txBody>
          <a:bodyPr wrap="square" rtlCol="0">
            <a:spAutoFit/>
          </a:bodyPr>
          <a:lstStyle/>
          <a:p>
            <a:pPr algn="ctr"/>
            <a:r>
              <a:rPr lang="en-US" altLang="zh-CN" sz="1400" dirty="0">
                <a:latin typeface="Calibri" panose="020F0502020204030204" pitchFamily="34" charset="0"/>
              </a:rPr>
              <a:t>Calvin Bridges</a:t>
            </a:r>
          </a:p>
          <a:p>
            <a:pPr algn="ctr"/>
            <a:r>
              <a:rPr lang="en-US" altLang="zh-CN" sz="1400" dirty="0">
                <a:latin typeface="Calibri" panose="020F0502020204030204" pitchFamily="34" charset="0"/>
              </a:rPr>
              <a:t>(1889-1938)</a:t>
            </a:r>
          </a:p>
          <a:p>
            <a:pPr algn="ctr"/>
            <a:r>
              <a:rPr lang="en-US" altLang="zh-CN" sz="1400" dirty="0">
                <a:latin typeface="Calibri" panose="020F0502020204030204" pitchFamily="34" charset="0"/>
              </a:rPr>
              <a:t>American geneticist</a:t>
            </a:r>
            <a:endParaRPr lang="zh-CN" altLang="en-US" sz="1400" dirty="0">
              <a:latin typeface="Calibri" panose="020F0502020204030204" pitchFamily="34" charset="0"/>
            </a:endParaRPr>
          </a:p>
        </p:txBody>
      </p:sp>
      <p:pic>
        <p:nvPicPr>
          <p:cNvPr id="10" name="图片 9">
            <a:extLst>
              <a:ext uri="{FF2B5EF4-FFF2-40B4-BE49-F238E27FC236}">
                <a16:creationId xmlns:a16="http://schemas.microsoft.com/office/drawing/2014/main" id="{1EE4A04E-F8AC-46E0-BAFE-0411EA324C19}"/>
              </a:ext>
            </a:extLst>
          </p:cNvPr>
          <p:cNvPicPr>
            <a:picLocks noChangeAspect="1"/>
          </p:cNvPicPr>
          <p:nvPr/>
        </p:nvPicPr>
        <p:blipFill>
          <a:blip r:embed="rId3"/>
          <a:stretch>
            <a:fillRect/>
          </a:stretch>
        </p:blipFill>
        <p:spPr>
          <a:xfrm>
            <a:off x="8633737" y="1210683"/>
            <a:ext cx="2720062" cy="5008284"/>
          </a:xfrm>
          <a:prstGeom prst="rect">
            <a:avLst/>
          </a:prstGeom>
        </p:spPr>
      </p:pic>
    </p:spTree>
    <p:extLst>
      <p:ext uri="{BB962C8B-B14F-4D97-AF65-F5344CB8AC3E}">
        <p14:creationId xmlns:p14="http://schemas.microsoft.com/office/powerpoint/2010/main" val="2929724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FB33C78-6751-4019-A89D-0CC4EBDC1126}"/>
              </a:ext>
            </a:extLst>
          </p:cNvPr>
          <p:cNvSpPr>
            <a:spLocks noGrp="1"/>
          </p:cNvSpPr>
          <p:nvPr>
            <p:ph type="sldNum" sz="quarter" idx="4294967295"/>
          </p:nvPr>
        </p:nvSpPr>
        <p:spPr>
          <a:xfrm>
            <a:off x="11353799" y="6356350"/>
            <a:ext cx="577363" cy="365125"/>
          </a:xfrm>
          <a:prstGeom prst="rect">
            <a:avLst/>
          </a:prstGeom>
        </p:spPr>
        <p:txBody>
          <a:bodyPr/>
          <a:lstStyle/>
          <a:p>
            <a:fld id="{D4751D38-C989-48BC-B1AB-387F6E8DCEB6}" type="slidenum">
              <a:rPr lang="zh-CN" altLang="en-US" smtClean="0"/>
              <a:pPr/>
              <a:t>11</a:t>
            </a:fld>
            <a:endParaRPr lang="zh-CN" altLang="en-US" dirty="0"/>
          </a:p>
        </p:txBody>
      </p:sp>
      <p:pic>
        <p:nvPicPr>
          <p:cNvPr id="5" name="内容占位符 2">
            <a:extLst>
              <a:ext uri="{FF2B5EF4-FFF2-40B4-BE49-F238E27FC236}">
                <a16:creationId xmlns:a16="http://schemas.microsoft.com/office/drawing/2014/main" id="{1C97B96E-5861-4C7D-98F2-BEF68EBF2342}"/>
              </a:ext>
            </a:extLst>
          </p:cNvPr>
          <p:cNvPicPr>
            <a:picLocks noChangeAspect="1"/>
          </p:cNvPicPr>
          <p:nvPr/>
        </p:nvPicPr>
        <p:blipFill>
          <a:blip r:embed="rId2" cstate="print">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2155105" y="2467096"/>
            <a:ext cx="7026995" cy="3981964"/>
          </a:xfrm>
          <a:prstGeom prst="rect">
            <a:avLst/>
          </a:prstGeom>
        </p:spPr>
      </p:pic>
      <p:sp>
        <p:nvSpPr>
          <p:cNvPr id="10" name="内容占位符 9">
            <a:extLst>
              <a:ext uri="{FF2B5EF4-FFF2-40B4-BE49-F238E27FC236}">
                <a16:creationId xmlns:a16="http://schemas.microsoft.com/office/drawing/2014/main" id="{76208CA9-E854-450C-A7F2-559F196AD321}"/>
              </a:ext>
            </a:extLst>
          </p:cNvPr>
          <p:cNvSpPr>
            <a:spLocks noGrp="1"/>
          </p:cNvSpPr>
          <p:nvPr>
            <p:ph sz="half" idx="1"/>
          </p:nvPr>
        </p:nvSpPr>
        <p:spPr>
          <a:xfrm>
            <a:off x="80963" y="66451"/>
            <a:ext cx="11850200" cy="2857724"/>
          </a:xfrm>
        </p:spPr>
        <p:txBody>
          <a:bodyPr>
            <a:normAutofit/>
          </a:bodyPr>
          <a:lstStyle/>
          <a:p>
            <a:pPr marL="0" lvl="1">
              <a:lnSpc>
                <a:spcPct val="100000"/>
              </a:lnSpc>
            </a:pPr>
            <a:r>
              <a:rPr lang="zh-CN" altLang="en-US" sz="2400" dirty="0"/>
              <a:t>用白眼雌蝇与红眼雄蝇交配，子代雌蝇是红眼，雄蝇是白眼。但在每</a:t>
            </a:r>
            <a:r>
              <a:rPr lang="en-US" altLang="zh-CN" sz="2400" dirty="0"/>
              <a:t>2000</a:t>
            </a:r>
            <a:r>
              <a:rPr lang="zh-CN" altLang="en-US" sz="2400" dirty="0"/>
              <a:t>个子代中，会有一个白眼雌蝇或红眼雄蝇。这些例外子代的表型跟它们的同一性别的亲本一样，叫作</a:t>
            </a:r>
            <a:r>
              <a:rPr lang="zh-CN" altLang="en-US" sz="2400" b="1" dirty="0">
                <a:solidFill>
                  <a:srgbClr val="FF0000"/>
                </a:solidFill>
              </a:rPr>
              <a:t>初级例外子代</a:t>
            </a:r>
            <a:r>
              <a:rPr lang="zh-CN" altLang="en-US" sz="2400" dirty="0"/>
              <a:t>。</a:t>
            </a:r>
            <a:endParaRPr lang="en-US" altLang="zh-CN" sz="2400" dirty="0"/>
          </a:p>
          <a:p>
            <a:pPr marL="0" lvl="1">
              <a:lnSpc>
                <a:spcPct val="100000"/>
              </a:lnSpc>
            </a:pPr>
            <a:r>
              <a:rPr lang="zh-CN" altLang="en-US" sz="2400" dirty="0"/>
              <a:t>初级例外子代中，雄蝇不育，雌蝇可育。</a:t>
            </a:r>
            <a:endParaRPr lang="en-US" altLang="zh-CN" sz="2400" dirty="0"/>
          </a:p>
          <a:p>
            <a:pPr marL="0" lvl="1">
              <a:lnSpc>
                <a:spcPct val="100000"/>
              </a:lnSpc>
            </a:pPr>
            <a:r>
              <a:rPr lang="zh-CN" altLang="en-US" sz="2400" dirty="0"/>
              <a:t>将初级例外的白眼雌蝇与正常红眼雄蝇交配，</a:t>
            </a:r>
            <a:r>
              <a:rPr lang="en-US" altLang="zh-CN" sz="2400" dirty="0"/>
              <a:t>4% </a:t>
            </a:r>
            <a:r>
              <a:rPr lang="zh-CN" altLang="en-US" sz="2400" dirty="0"/>
              <a:t>的子代又出现了例外，为白眼雌蝇和红眼雄蝇，不过这次频率较高，而且雄蝇可育。这些初级例外雌蝇的例外子裔称作</a:t>
            </a:r>
            <a:r>
              <a:rPr lang="zh-CN" altLang="en-US" sz="2400" b="1" dirty="0">
                <a:solidFill>
                  <a:srgbClr val="FF0000"/>
                </a:solidFill>
              </a:rPr>
              <a:t>次级例外子裔</a:t>
            </a:r>
            <a:r>
              <a:rPr lang="zh-CN" altLang="en-US" sz="2400" dirty="0"/>
              <a:t>。</a:t>
            </a:r>
          </a:p>
        </p:txBody>
      </p:sp>
    </p:spTree>
    <p:extLst>
      <p:ext uri="{BB962C8B-B14F-4D97-AF65-F5344CB8AC3E}">
        <p14:creationId xmlns:p14="http://schemas.microsoft.com/office/powerpoint/2010/main" val="383602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11353799" y="6356350"/>
            <a:ext cx="577363" cy="365125"/>
          </a:xfrm>
          <a:prstGeom prst="rect">
            <a:avLst/>
          </a:prstGeom>
        </p:spPr>
        <p:txBody>
          <a:bodyPr/>
          <a:lstStyle/>
          <a:p>
            <a:fld id="{D4751D38-C989-48BC-B1AB-387F6E8DCEB6}" type="slidenum">
              <a:rPr lang="zh-CN" altLang="en-US" smtClean="0"/>
              <a:pPr/>
              <a:t>12</a:t>
            </a:fld>
            <a:endParaRPr lang="zh-CN" altLang="en-US" dirty="0"/>
          </a:p>
        </p:txBody>
      </p:sp>
      <p:pic>
        <p:nvPicPr>
          <p:cNvPr id="10" name="内容占位符 2"/>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333375" y="270828"/>
            <a:ext cx="7012744" cy="2714067"/>
          </a:xfrm>
          <a:prstGeom prst="rect">
            <a:avLst/>
          </a:prstGeom>
        </p:spPr>
      </p:pic>
      <p:sp>
        <p:nvSpPr>
          <p:cNvPr id="12" name="文本框 11">
            <a:extLst>
              <a:ext uri="{FF2B5EF4-FFF2-40B4-BE49-F238E27FC236}">
                <a16:creationId xmlns:a16="http://schemas.microsoft.com/office/drawing/2014/main" id="{0A09C844-3EBA-4E29-85BC-F2E0B3B5733D}"/>
              </a:ext>
            </a:extLst>
          </p:cNvPr>
          <p:cNvSpPr txBox="1"/>
          <p:nvPr/>
        </p:nvSpPr>
        <p:spPr>
          <a:xfrm>
            <a:off x="333375" y="3305175"/>
            <a:ext cx="11506200" cy="1587186"/>
          </a:xfrm>
          <a:prstGeom prst="rect">
            <a:avLst/>
          </a:prstGeom>
        </p:spPr>
        <p:txBody>
          <a:bodyPr vert="horz" lIns="91440" tIns="45720" rIns="91440" bIns="45720" rtlCol="0">
            <a:normAutofit/>
          </a:bodyPr>
          <a:lstStyle>
            <a:lvl1pPr marL="457200" indent="-457200">
              <a:lnSpc>
                <a:spcPct val="90000"/>
              </a:lnSpc>
              <a:spcBef>
                <a:spcPts val="1000"/>
              </a:spcBef>
              <a:buFont typeface="+mj-lt"/>
              <a:buAutoNum type="arabicPeriod"/>
              <a:defRPr sz="2400">
                <a:solidFill>
                  <a:srgbClr val="3A5991"/>
                </a:solidFill>
                <a:latin typeface="Times New Roman" panose="02020603050405020304" pitchFamily="18" charset="0"/>
                <a:ea typeface="微软雅黑" panose="020B0503020204020204" pitchFamily="34" charset="-122"/>
                <a:cs typeface="Times New Roman" panose="02020603050405020304" pitchFamily="18" charset="0"/>
              </a:defRPr>
            </a:lvl1pPr>
            <a:lvl2pPr marL="0" lvl="1" indent="-228600">
              <a:lnSpc>
                <a:spcPct val="100000"/>
              </a:lnSpc>
              <a:spcBef>
                <a:spcPts val="500"/>
              </a:spcBef>
              <a:buFont typeface="Wingdings" panose="05000000000000000000" pitchFamily="2" charset="2"/>
              <a:buChar char="Ø"/>
              <a:defRPr sz="2400">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zh-CN" altLang="en-US" dirty="0">
                <a:solidFill>
                  <a:schemeClr val="tx1"/>
                </a:solidFill>
              </a:rPr>
              <a:t>减数分裂时卵的两个</a:t>
            </a:r>
            <a:r>
              <a:rPr lang="en-US" altLang="zh-CN" dirty="0">
                <a:solidFill>
                  <a:schemeClr val="tx1"/>
                </a:solidFill>
              </a:rPr>
              <a:t>X</a:t>
            </a:r>
            <a:r>
              <a:rPr lang="zh-CN" altLang="en-US" dirty="0">
                <a:solidFill>
                  <a:schemeClr val="tx1"/>
                </a:solidFill>
              </a:rPr>
              <a:t>染色体不分开，结果产生有两</a:t>
            </a:r>
            <a:r>
              <a:rPr lang="en-US" altLang="zh-CN" dirty="0">
                <a:solidFill>
                  <a:schemeClr val="tx1"/>
                </a:solidFill>
              </a:rPr>
              <a:t>X</a:t>
            </a:r>
            <a:r>
              <a:rPr lang="zh-CN" altLang="en-US" dirty="0">
                <a:solidFill>
                  <a:schemeClr val="tx1"/>
                </a:solidFill>
              </a:rPr>
              <a:t>的卵和无</a:t>
            </a:r>
            <a:r>
              <a:rPr lang="en-US" altLang="zh-CN" dirty="0">
                <a:solidFill>
                  <a:schemeClr val="tx1"/>
                </a:solidFill>
              </a:rPr>
              <a:t>X</a:t>
            </a:r>
            <a:r>
              <a:rPr lang="zh-CN" altLang="en-US" dirty="0">
                <a:solidFill>
                  <a:schemeClr val="tx1"/>
                </a:solidFill>
              </a:rPr>
              <a:t>的卵。这两种卵受精后，</a:t>
            </a:r>
            <a:r>
              <a:rPr lang="zh-CN" altLang="en-US" b="1" dirty="0">
                <a:solidFill>
                  <a:schemeClr val="tx1"/>
                </a:solidFill>
              </a:rPr>
              <a:t>产生初级例外个体</a:t>
            </a:r>
            <a:r>
              <a:rPr lang="zh-CN" altLang="en-US" dirty="0">
                <a:solidFill>
                  <a:schemeClr val="tx1"/>
                </a:solidFill>
              </a:rPr>
              <a:t>：偏母的白眼雌蝇和偏父的红眼雄蝇。</a:t>
            </a:r>
          </a:p>
        </p:txBody>
      </p:sp>
    </p:spTree>
    <p:extLst>
      <p:ext uri="{BB962C8B-B14F-4D97-AF65-F5344CB8AC3E}">
        <p14:creationId xmlns:p14="http://schemas.microsoft.com/office/powerpoint/2010/main" val="2983485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内容占位符 2"/>
          <p:cNvPicPr>
            <a:picLocks noGrp="1" noChangeAspect="1"/>
          </p:cNvPicPr>
          <p:nvPr>
            <p:ph sz="half" idx="1"/>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120751" y="118057"/>
            <a:ext cx="7571520" cy="6238293"/>
          </a:xfrm>
        </p:spPr>
      </p:pic>
      <p:sp>
        <p:nvSpPr>
          <p:cNvPr id="11" name="文本框 10">
            <a:extLst>
              <a:ext uri="{FF2B5EF4-FFF2-40B4-BE49-F238E27FC236}">
                <a16:creationId xmlns:a16="http://schemas.microsoft.com/office/drawing/2014/main" id="{111F3A11-9007-4637-8855-AA97E1756EA2}"/>
              </a:ext>
            </a:extLst>
          </p:cNvPr>
          <p:cNvSpPr txBox="1"/>
          <p:nvPr/>
        </p:nvSpPr>
        <p:spPr>
          <a:xfrm>
            <a:off x="402370" y="6488668"/>
            <a:ext cx="5455505" cy="369332"/>
          </a:xfrm>
          <a:prstGeom prst="rect">
            <a:avLst/>
          </a:prstGeom>
          <a:noFill/>
        </p:spPr>
        <p:txBody>
          <a:bodyPr wrap="square">
            <a:spAutoFit/>
          </a:bodyPr>
          <a:lstStyle>
            <a:defPPr>
              <a:defRPr lang="zh-CN"/>
            </a:defPPr>
            <a:lvl1pPr algn="ctr">
              <a:defRPr sz="1400">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sz="1800" b="1" dirty="0"/>
              <a:t>初级例外白眼雌蝇 </a:t>
            </a:r>
            <a:r>
              <a:rPr lang="en-US" altLang="zh-CN" sz="1800" b="1" i="1" dirty="0" err="1"/>
              <a:t>X</a:t>
            </a:r>
            <a:r>
              <a:rPr lang="en-US" altLang="zh-CN" sz="1800" b="1" i="1" baseline="30000" dirty="0" err="1"/>
              <a:t>w</a:t>
            </a:r>
            <a:r>
              <a:rPr lang="en-US" altLang="zh-CN" sz="1800" b="1" i="1" dirty="0"/>
              <a:t> </a:t>
            </a:r>
            <a:r>
              <a:rPr lang="en-US" altLang="zh-CN" sz="1800" b="1" i="1" dirty="0" err="1"/>
              <a:t>X</a:t>
            </a:r>
            <a:r>
              <a:rPr lang="en-US" altLang="zh-CN" sz="1800" b="1" i="1" baseline="30000" dirty="0" err="1"/>
              <a:t>w</a:t>
            </a:r>
            <a:r>
              <a:rPr lang="en-US" altLang="zh-CN" sz="1800" b="1" i="1" dirty="0"/>
              <a:t> Y </a:t>
            </a:r>
            <a:r>
              <a:rPr lang="zh-CN" altLang="en-US" sz="1800" b="1" dirty="0"/>
              <a:t>与正常红眼雄绳杂交结果</a:t>
            </a:r>
          </a:p>
        </p:txBody>
      </p:sp>
      <p:sp>
        <p:nvSpPr>
          <p:cNvPr id="12" name="文本框 11">
            <a:extLst>
              <a:ext uri="{FF2B5EF4-FFF2-40B4-BE49-F238E27FC236}">
                <a16:creationId xmlns:a16="http://schemas.microsoft.com/office/drawing/2014/main" id="{0A09C844-3EBA-4E29-85BC-F2E0B3B5733D}"/>
              </a:ext>
            </a:extLst>
          </p:cNvPr>
          <p:cNvSpPr txBox="1"/>
          <p:nvPr/>
        </p:nvSpPr>
        <p:spPr>
          <a:xfrm>
            <a:off x="6563670" y="5490882"/>
            <a:ext cx="5455505" cy="1249061"/>
          </a:xfrm>
          <a:prstGeom prst="rect">
            <a:avLst/>
          </a:prstGeom>
        </p:spPr>
        <p:txBody>
          <a:bodyPr vert="horz" lIns="91440" tIns="45720" rIns="91440" bIns="45720" rtlCol="0">
            <a:normAutofit/>
          </a:bodyPr>
          <a:lstStyle>
            <a:defPPr>
              <a:defRPr lang="zh-CN"/>
            </a:defPPr>
            <a:lvl1pPr indent="0">
              <a:lnSpc>
                <a:spcPct val="90000"/>
              </a:lnSpc>
              <a:spcBef>
                <a:spcPts val="1000"/>
              </a:spcBef>
              <a:buFont typeface="+mj-lt"/>
              <a:buNone/>
              <a:defRPr sz="2400">
                <a:latin typeface="Times New Roman" panose="02020603050405020304" pitchFamily="18" charset="0"/>
                <a:ea typeface="微软雅黑" panose="020B0503020204020204" pitchFamily="34" charset="-122"/>
                <a:cs typeface="Times New Roman" panose="02020603050405020304" pitchFamily="18" charset="0"/>
              </a:defRPr>
            </a:lvl1pPr>
            <a:lvl2pPr marL="0" lvl="1" indent="-228600">
              <a:lnSpc>
                <a:spcPct val="100000"/>
              </a:lnSpc>
              <a:spcBef>
                <a:spcPts val="500"/>
              </a:spcBef>
              <a:buFont typeface="Wingdings" panose="05000000000000000000" pitchFamily="2" charset="2"/>
              <a:buChar char="Ø"/>
              <a:defRPr sz="2400">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sz="2000" dirty="0"/>
              <a:t>后裔中</a:t>
            </a:r>
            <a:r>
              <a:rPr lang="zh-CN" altLang="en-US" sz="2000" b="1" dirty="0"/>
              <a:t>出现次级例外个体</a:t>
            </a:r>
            <a:r>
              <a:rPr lang="zh-CN" altLang="en-US" sz="2000" dirty="0"/>
              <a:t>：白眼雌蝇（</a:t>
            </a:r>
            <a:r>
              <a:rPr lang="en-US" altLang="zh-CN" sz="2000" dirty="0" err="1"/>
              <a:t>X</a:t>
            </a:r>
            <a:r>
              <a:rPr lang="en-US" altLang="zh-CN" sz="2000" baseline="30000" dirty="0" err="1"/>
              <a:t>w</a:t>
            </a:r>
            <a:r>
              <a:rPr lang="en-US" altLang="zh-CN" sz="2000" dirty="0"/>
              <a:t> </a:t>
            </a:r>
            <a:r>
              <a:rPr lang="en-US" altLang="zh-CN" sz="2000" dirty="0" err="1"/>
              <a:t>X</a:t>
            </a:r>
            <a:r>
              <a:rPr lang="en-US" altLang="zh-CN" sz="2000" baseline="30000" dirty="0" err="1"/>
              <a:t>w</a:t>
            </a:r>
            <a:r>
              <a:rPr lang="en-US" altLang="zh-CN" sz="2000" dirty="0"/>
              <a:t> Y</a:t>
            </a:r>
            <a:r>
              <a:rPr lang="zh-CN" altLang="en-US" sz="2000" dirty="0"/>
              <a:t>）和可育的红眼雄蝇（</a:t>
            </a:r>
            <a:r>
              <a:rPr lang="en-US" altLang="zh-CN" sz="2000" dirty="0"/>
              <a:t>X</a:t>
            </a:r>
            <a:r>
              <a:rPr lang="en-US" altLang="zh-CN" sz="2000" baseline="30000" dirty="0"/>
              <a:t>+</a:t>
            </a:r>
            <a:r>
              <a:rPr lang="en-US" altLang="zh-CN" sz="2000" dirty="0"/>
              <a:t>Y</a:t>
            </a:r>
            <a:r>
              <a:rPr lang="zh-CN" altLang="en-US" sz="2000" dirty="0"/>
              <a:t>）。括号内各百分数是从有</a:t>
            </a:r>
            <a:r>
              <a:rPr lang="en-US" altLang="zh-CN" sz="2000" dirty="0"/>
              <a:t>4% </a:t>
            </a:r>
            <a:r>
              <a:rPr lang="zh-CN" altLang="en-US" sz="2000" dirty="0"/>
              <a:t>的次级例外后裔这一事实倒推而得的，不是实际得到的数值。</a:t>
            </a:r>
          </a:p>
        </p:txBody>
      </p:sp>
      <p:sp>
        <p:nvSpPr>
          <p:cNvPr id="8" name="文本框 7">
            <a:extLst>
              <a:ext uri="{FF2B5EF4-FFF2-40B4-BE49-F238E27FC236}">
                <a16:creationId xmlns:a16="http://schemas.microsoft.com/office/drawing/2014/main" id="{A470DE51-B4C2-4FAE-82E8-78573A3CCDF3}"/>
              </a:ext>
            </a:extLst>
          </p:cNvPr>
          <p:cNvSpPr txBox="1"/>
          <p:nvPr/>
        </p:nvSpPr>
        <p:spPr>
          <a:xfrm>
            <a:off x="6890994" y="501650"/>
            <a:ext cx="5128181" cy="4524315"/>
          </a:xfrm>
          <a:prstGeom prst="rect">
            <a:avLst/>
          </a:prstGeom>
          <a:noFill/>
        </p:spPr>
        <p:txBody>
          <a:bodyPr wrap="square">
            <a:spAutoFit/>
          </a:bodyPr>
          <a:lstStyle/>
          <a:p>
            <a:pPr lvl="1"/>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布里奇斯推论，如果上述假设是正确的，那么他可作如下预期，并能通过观察成虫的性原细胞来验证他的预期。</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buFont typeface="Wingdings" panose="05000000000000000000" pitchFamily="2" charset="2"/>
              <a:buChar char="Ø"/>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① 遗传学上检出的初期例外雌蝇和雄蝇，应该是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XXY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XO</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。在显微镜下观察，丝毫不差。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buFont typeface="Wingdings" panose="05000000000000000000" pitchFamily="2" charset="2"/>
              <a:buChar char="Ø"/>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② 遗传学上检出的次级例外雌蝇和雄蝇，应该是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XXY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和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XY</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，在显微镜下观察，果然如此。 </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buFont typeface="Wingdings" panose="05000000000000000000" pitchFamily="2" charset="2"/>
              <a:buChar char="Ø"/>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③ 例外白眼雌蝇的红眼女儿中，应该一半是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XXY</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，一半是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XX</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。在显微镜下观察，确是这样。</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buFont typeface="Wingdings" panose="05000000000000000000" pitchFamily="2" charset="2"/>
              <a:buChar char="Ø"/>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④ 例外白眼雌蝇的白眼儿子中，一半也会产生例外的后裔。会产生例外后裔的全部白眼儿子应该是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XYY</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。在显微镜下观察，完全证实。</a:t>
            </a:r>
          </a:p>
        </p:txBody>
      </p:sp>
    </p:spTree>
    <p:extLst>
      <p:ext uri="{BB962C8B-B14F-4D97-AF65-F5344CB8AC3E}">
        <p14:creationId xmlns:p14="http://schemas.microsoft.com/office/powerpoint/2010/main" val="2963109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65638" y="2058288"/>
            <a:ext cx="10515600" cy="446788"/>
          </a:xfrm>
        </p:spPr>
        <p:txBody>
          <a:bodyPr>
            <a:normAutofit fontScale="90000"/>
          </a:bodyPr>
          <a:lstStyle/>
          <a:p>
            <a:r>
              <a:rPr lang="zh-CN" altLang="en-US" sz="2800" dirty="0">
                <a:solidFill>
                  <a:srgbClr val="0000FF"/>
                </a:solidFill>
              </a:rPr>
              <a:t>一、蜂的性别决定</a:t>
            </a:r>
          </a:p>
        </p:txBody>
      </p:sp>
      <p:sp>
        <p:nvSpPr>
          <p:cNvPr id="4" name="灯片编号占位符 3"/>
          <p:cNvSpPr>
            <a:spLocks noGrp="1"/>
          </p:cNvSpPr>
          <p:nvPr>
            <p:ph type="sldNum" sz="quarter" idx="4294967295"/>
          </p:nvPr>
        </p:nvSpPr>
        <p:spPr>
          <a:xfrm>
            <a:off x="11353799" y="6356350"/>
            <a:ext cx="577363" cy="365125"/>
          </a:xfrm>
          <a:prstGeom prst="rect">
            <a:avLst/>
          </a:prstGeom>
        </p:spPr>
        <p:txBody>
          <a:bodyPr/>
          <a:lstStyle/>
          <a:p>
            <a:fld id="{D4751D38-C989-48BC-B1AB-387F6E8DCEB6}" type="slidenum">
              <a:rPr lang="zh-CN" altLang="en-US" smtClean="0"/>
              <a:pPr/>
              <a:t>14</a:t>
            </a:fld>
            <a:endParaRPr lang="zh-CN" altLang="en-US" dirty="0"/>
          </a:p>
        </p:txBody>
      </p:sp>
      <p:sp>
        <p:nvSpPr>
          <p:cNvPr id="5" name="内容占位符 4"/>
          <p:cNvSpPr>
            <a:spLocks noGrp="1"/>
          </p:cNvSpPr>
          <p:nvPr>
            <p:ph sz="half" idx="1"/>
          </p:nvPr>
        </p:nvSpPr>
        <p:spPr>
          <a:xfrm>
            <a:off x="3124536" y="1974885"/>
            <a:ext cx="10059382" cy="556771"/>
          </a:xfrm>
        </p:spPr>
        <p:txBody>
          <a:bodyPr/>
          <a:lstStyle/>
          <a:p>
            <a:pPr marL="457200" lvl="1" indent="0">
              <a:lnSpc>
                <a:spcPct val="150000"/>
              </a:lnSpc>
              <a:buNone/>
            </a:pPr>
            <a:r>
              <a:rPr lang="zh-CN" altLang="en-US" dirty="0">
                <a:solidFill>
                  <a:srgbClr val="FF0000"/>
                </a:solidFill>
              </a:rPr>
              <a:t>不仅与</a:t>
            </a:r>
            <a:r>
              <a:rPr lang="zh-CN" altLang="en-US" b="1" dirty="0">
                <a:solidFill>
                  <a:srgbClr val="FF0000"/>
                </a:solidFill>
              </a:rPr>
              <a:t>染色体数</a:t>
            </a:r>
            <a:r>
              <a:rPr lang="zh-CN" altLang="en-US" dirty="0">
                <a:solidFill>
                  <a:srgbClr val="FF0000"/>
                </a:solidFill>
              </a:rPr>
              <a:t>有关，而且也与</a:t>
            </a:r>
            <a:r>
              <a:rPr lang="zh-CN" altLang="en-US" b="1" dirty="0">
                <a:solidFill>
                  <a:srgbClr val="FF0000"/>
                </a:solidFill>
              </a:rPr>
              <a:t>环境</a:t>
            </a:r>
            <a:r>
              <a:rPr lang="zh-CN" altLang="en-US" dirty="0">
                <a:solidFill>
                  <a:srgbClr val="FF0000"/>
                </a:solidFill>
              </a:rPr>
              <a:t>有关。</a:t>
            </a:r>
            <a:endParaRPr lang="en-US" altLang="zh-CN" dirty="0">
              <a:solidFill>
                <a:srgbClr val="FF0000"/>
              </a:solidFill>
            </a:endParaRPr>
          </a:p>
        </p:txBody>
      </p:sp>
      <p:pic>
        <p:nvPicPr>
          <p:cNvPr id="13" name="内容占位符 2"/>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1958491" y="2505076"/>
            <a:ext cx="7061684" cy="3601341"/>
          </a:xfrm>
          <a:prstGeom prst="rect">
            <a:avLst/>
          </a:prstGeom>
        </p:spPr>
      </p:pic>
      <p:sp>
        <p:nvSpPr>
          <p:cNvPr id="14" name="文本框 13">
            <a:extLst>
              <a:ext uri="{FF2B5EF4-FFF2-40B4-BE49-F238E27FC236}">
                <a16:creationId xmlns:a16="http://schemas.microsoft.com/office/drawing/2014/main" id="{111F3A11-9007-4637-8855-AA97E1756EA2}"/>
              </a:ext>
            </a:extLst>
          </p:cNvPr>
          <p:cNvSpPr txBox="1"/>
          <p:nvPr/>
        </p:nvSpPr>
        <p:spPr>
          <a:xfrm>
            <a:off x="2824834" y="6218301"/>
            <a:ext cx="4992909" cy="400110"/>
          </a:xfrm>
          <a:prstGeom prst="rect">
            <a:avLst/>
          </a:prstGeom>
          <a:noFill/>
        </p:spPr>
        <p:txBody>
          <a:bodyPr wrap="square">
            <a:spAutoFit/>
          </a:bodyPr>
          <a:lstStyle>
            <a:defPPr>
              <a:defRPr lang="zh-CN"/>
            </a:defPPr>
            <a:lvl1pPr algn="ctr">
              <a:defRPr sz="1400">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sz="2000" b="1" dirty="0"/>
              <a:t>蜜蜂的性别决定</a:t>
            </a:r>
          </a:p>
        </p:txBody>
      </p:sp>
      <p:sp>
        <p:nvSpPr>
          <p:cNvPr id="8" name="文本框 7">
            <a:extLst>
              <a:ext uri="{FF2B5EF4-FFF2-40B4-BE49-F238E27FC236}">
                <a16:creationId xmlns:a16="http://schemas.microsoft.com/office/drawing/2014/main" id="{2886B396-72F1-4FB3-A786-970B9218FA0D}"/>
              </a:ext>
            </a:extLst>
          </p:cNvPr>
          <p:cNvSpPr txBox="1"/>
          <p:nvPr/>
        </p:nvSpPr>
        <p:spPr>
          <a:xfrm>
            <a:off x="565638" y="413272"/>
            <a:ext cx="6094428" cy="535531"/>
          </a:xfrm>
          <a:prstGeom prst="rect">
            <a:avLst/>
          </a:prstGeom>
        </p:spPr>
        <p:txBody>
          <a:bodyPr vert="horz" lIns="91440" tIns="45720" rIns="91440" bIns="45720" rtlCol="0" anchor="ctr">
            <a:normAutofit/>
          </a:bodyPr>
          <a:lstStyle>
            <a:lvl1pPr>
              <a:lnSpc>
                <a:spcPct val="90000"/>
              </a:lnSpc>
              <a:spcBef>
                <a:spcPct val="0"/>
              </a:spcBef>
              <a:buNone/>
              <a:defRPr sz="3200">
                <a:solidFill>
                  <a:srgbClr val="3A5991"/>
                </a:solidFill>
                <a:latin typeface="微软雅黑" panose="020B0503020204020204" pitchFamily="34" charset="-122"/>
                <a:ea typeface="微软雅黑" panose="020B0503020204020204" pitchFamily="34" charset="-122"/>
                <a:cs typeface="+mj-cs"/>
              </a:defRPr>
            </a:lvl1pPr>
          </a:lstStyle>
          <a:p>
            <a:r>
              <a:rPr lang="zh-CN" altLang="en-US" b="1" dirty="0">
                <a:solidFill>
                  <a:srgbClr val="0000FF"/>
                </a:solidFill>
              </a:rPr>
              <a:t>第四节　其他类型的性别决定</a:t>
            </a:r>
          </a:p>
        </p:txBody>
      </p:sp>
      <p:sp>
        <p:nvSpPr>
          <p:cNvPr id="10" name="文本框 9">
            <a:extLst>
              <a:ext uri="{FF2B5EF4-FFF2-40B4-BE49-F238E27FC236}">
                <a16:creationId xmlns:a16="http://schemas.microsoft.com/office/drawing/2014/main" id="{8110BFD7-3A3D-4C04-8D0C-AD2D842293E3}"/>
              </a:ext>
            </a:extLst>
          </p:cNvPr>
          <p:cNvSpPr txBox="1"/>
          <p:nvPr/>
        </p:nvSpPr>
        <p:spPr>
          <a:xfrm>
            <a:off x="412688" y="998866"/>
            <a:ext cx="11518474" cy="961289"/>
          </a:xfrm>
          <a:prstGeom prst="rect">
            <a:avLst/>
          </a:prstGeom>
          <a:noFill/>
        </p:spPr>
        <p:txBody>
          <a:bodyPr wrap="square">
            <a:spAutoFit/>
          </a:bodyPr>
          <a:lstStyle>
            <a:defPPr>
              <a:defRPr lang="zh-CN"/>
            </a:defPPr>
            <a:lvl2pPr marL="742950" lvl="1" indent="-285750">
              <a:lnSpc>
                <a:spcPct val="130000"/>
              </a:lnSpc>
              <a:buFont typeface="Wingdings" panose="05000000000000000000" pitchFamily="2" charset="2"/>
              <a:buChar char="Ø"/>
              <a:defRPr sz="1600">
                <a:latin typeface="Times New Roman" panose="02020603050405020304" pitchFamily="18" charset="0"/>
                <a:ea typeface="微软雅黑" panose="020B0503020204020204" pitchFamily="34" charset="-122"/>
                <a:cs typeface="Times New Roman" panose="02020603050405020304" pitchFamily="18" charset="0"/>
              </a:defRPr>
            </a:lvl2pPr>
          </a:lstStyle>
          <a:p>
            <a:pPr>
              <a:lnSpc>
                <a:spcPct val="150000"/>
              </a:lnSpc>
            </a:pPr>
            <a:r>
              <a:rPr lang="zh-CN" altLang="en-US" sz="2000" dirty="0">
                <a:latin typeface="微软雅黑" panose="020B0503020204020204" pitchFamily="34" charset="-122"/>
                <a:ea typeface="微软雅黑" panose="020B0503020204020204" pitchFamily="34" charset="-122"/>
              </a:rPr>
              <a:t>性别是一个复杂的发育性状，除了性染色体可以决定性别以外，</a:t>
            </a:r>
            <a:r>
              <a:rPr lang="zh-CN" altLang="en-US" sz="2000" b="1" dirty="0">
                <a:latin typeface="微软雅黑" panose="020B0503020204020204" pitchFamily="34" charset="-122"/>
                <a:ea typeface="微软雅黑" panose="020B0503020204020204" pitchFamily="34" charset="-122"/>
              </a:rPr>
              <a:t>常染色体上的基因</a:t>
            </a:r>
            <a:r>
              <a:rPr lang="zh-CN" altLang="en-US" sz="2000" dirty="0">
                <a:latin typeface="微软雅黑" panose="020B0503020204020204" pitchFamily="34" charset="-122"/>
                <a:ea typeface="微软雅黑" panose="020B0503020204020204" pitchFamily="34" charset="-122"/>
              </a:rPr>
              <a:t>也可以影响性别，</a:t>
            </a:r>
            <a:r>
              <a:rPr lang="zh-CN" altLang="en-US" sz="2000" b="1" dirty="0">
                <a:latin typeface="微软雅黑" panose="020B0503020204020204" pitchFamily="34" charset="-122"/>
                <a:ea typeface="微软雅黑" panose="020B0503020204020204" pitchFamily="34" charset="-122"/>
              </a:rPr>
              <a:t>受精与否</a:t>
            </a:r>
            <a:r>
              <a:rPr lang="zh-CN" altLang="en-US" sz="2000" dirty="0">
                <a:latin typeface="微软雅黑" panose="020B0503020204020204" pitchFamily="34" charset="-122"/>
                <a:ea typeface="微软雅黑" panose="020B0503020204020204" pitchFamily="34" charset="-122"/>
              </a:rPr>
              <a:t>以及</a:t>
            </a:r>
            <a:r>
              <a:rPr lang="zh-CN" altLang="en-US" sz="2000" b="1" dirty="0">
                <a:latin typeface="微软雅黑" panose="020B0503020204020204" pitchFamily="34" charset="-122"/>
                <a:ea typeface="微软雅黑" panose="020B0503020204020204" pitchFamily="34" charset="-122"/>
              </a:rPr>
              <a:t>环境的变化</a:t>
            </a:r>
            <a:r>
              <a:rPr lang="zh-CN" altLang="en-US" sz="2000" dirty="0">
                <a:latin typeface="微软雅黑" panose="020B0503020204020204" pitchFamily="34" charset="-122"/>
                <a:ea typeface="微软雅黑" panose="020B0503020204020204" pitchFamily="34" charset="-122"/>
              </a:rPr>
              <a:t>等也可影响性别。</a:t>
            </a:r>
          </a:p>
        </p:txBody>
      </p:sp>
    </p:spTree>
    <p:extLst>
      <p:ext uri="{BB962C8B-B14F-4D97-AF65-F5344CB8AC3E}">
        <p14:creationId xmlns:p14="http://schemas.microsoft.com/office/powerpoint/2010/main" val="766089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lIns="91440" tIns="45720" rIns="91440" bIns="45720" rtlCol="0" anchor="ctr">
            <a:normAutofit/>
          </a:bodyPr>
          <a:lstStyle/>
          <a:p>
            <a:r>
              <a:rPr lang="zh-CN" altLang="en-US" sz="2800" dirty="0">
                <a:solidFill>
                  <a:srgbClr val="0000FF"/>
                </a:solidFill>
              </a:rPr>
              <a:t>二、后螠的性别决定</a:t>
            </a:r>
          </a:p>
        </p:txBody>
      </p:sp>
      <p:sp>
        <p:nvSpPr>
          <p:cNvPr id="4" name="灯片编号占位符 3"/>
          <p:cNvSpPr>
            <a:spLocks noGrp="1"/>
          </p:cNvSpPr>
          <p:nvPr>
            <p:ph type="sldNum" sz="quarter" idx="4294967295"/>
          </p:nvPr>
        </p:nvSpPr>
        <p:spPr>
          <a:xfrm>
            <a:off x="11353799" y="6356350"/>
            <a:ext cx="577363" cy="365125"/>
          </a:xfrm>
          <a:prstGeom prst="rect">
            <a:avLst/>
          </a:prstGeom>
        </p:spPr>
        <p:txBody>
          <a:bodyPr/>
          <a:lstStyle/>
          <a:p>
            <a:fld id="{D4751D38-C989-48BC-B1AB-387F6E8DCEB6}" type="slidenum">
              <a:rPr lang="zh-CN" altLang="en-US" smtClean="0"/>
              <a:pPr/>
              <a:t>15</a:t>
            </a:fld>
            <a:endParaRPr lang="zh-CN" altLang="en-US" dirty="0"/>
          </a:p>
        </p:txBody>
      </p:sp>
      <p:sp>
        <p:nvSpPr>
          <p:cNvPr id="6" name="内容占位符 5"/>
          <p:cNvSpPr>
            <a:spLocks noGrp="1"/>
          </p:cNvSpPr>
          <p:nvPr>
            <p:ph sz="half" idx="1"/>
          </p:nvPr>
        </p:nvSpPr>
        <p:spPr>
          <a:xfrm>
            <a:off x="112659" y="1775493"/>
            <a:ext cx="8286623" cy="1072482"/>
          </a:xfrm>
        </p:spPr>
        <p:txBody>
          <a:bodyPr>
            <a:normAutofit/>
          </a:bodyPr>
          <a:lstStyle/>
          <a:p>
            <a:pPr lvl="1">
              <a:lnSpc>
                <a:spcPct val="150000"/>
              </a:lnSpc>
            </a:pPr>
            <a:r>
              <a:rPr lang="zh-CN" altLang="en-US" dirty="0"/>
              <a:t>海生蠕虫后螠自由游泳的幼虫是中性的；如果它落在海底，就成为雌虫；如果它落在雌虫口吻上，它就发育成为一个雄虫。</a:t>
            </a:r>
          </a:p>
        </p:txBody>
      </p:sp>
      <p:pic>
        <p:nvPicPr>
          <p:cNvPr id="10" name="内容占位符 2"/>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8193528" y="1024546"/>
            <a:ext cx="2987054" cy="3737954"/>
          </a:xfrm>
          <a:prstGeom prst="rect">
            <a:avLst/>
          </a:prstGeom>
        </p:spPr>
      </p:pic>
      <p:sp>
        <p:nvSpPr>
          <p:cNvPr id="11" name="文本框 10">
            <a:extLst>
              <a:ext uri="{FF2B5EF4-FFF2-40B4-BE49-F238E27FC236}">
                <a16:creationId xmlns:a16="http://schemas.microsoft.com/office/drawing/2014/main" id="{111F3A11-9007-4637-8855-AA97E1756EA2}"/>
              </a:ext>
            </a:extLst>
          </p:cNvPr>
          <p:cNvSpPr txBox="1"/>
          <p:nvPr/>
        </p:nvSpPr>
        <p:spPr>
          <a:xfrm>
            <a:off x="9110583" y="5503778"/>
            <a:ext cx="1837659" cy="307777"/>
          </a:xfrm>
          <a:prstGeom prst="rect">
            <a:avLst/>
          </a:prstGeom>
          <a:noFill/>
        </p:spPr>
        <p:txBody>
          <a:bodyPr wrap="square">
            <a:spAutoFit/>
          </a:bodyPr>
          <a:lstStyle>
            <a:defPPr>
              <a:defRPr lang="zh-CN"/>
            </a:defPPr>
            <a:lvl1pPr algn="ctr">
              <a:defRPr sz="1400">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solidFill>
                  <a:srgbClr val="3A5991"/>
                </a:solidFill>
              </a:rPr>
              <a:t>后螠的两性个体</a:t>
            </a:r>
          </a:p>
        </p:txBody>
      </p:sp>
      <p:sp>
        <p:nvSpPr>
          <p:cNvPr id="5" name="文本框 4">
            <a:extLst>
              <a:ext uri="{FF2B5EF4-FFF2-40B4-BE49-F238E27FC236}">
                <a16:creationId xmlns:a16="http://schemas.microsoft.com/office/drawing/2014/main" id="{E49F873B-4CCD-9955-DF0F-86CB7C961D67}"/>
              </a:ext>
            </a:extLst>
          </p:cNvPr>
          <p:cNvSpPr txBox="1"/>
          <p:nvPr/>
        </p:nvSpPr>
        <p:spPr>
          <a:xfrm>
            <a:off x="4019550" y="468670"/>
            <a:ext cx="6096000" cy="424732"/>
          </a:xfrm>
          <a:prstGeom prst="rect">
            <a:avLst/>
          </a:prstGeom>
        </p:spPr>
        <p:txBody>
          <a:bodyPr vert="horz" lIns="91440" tIns="45720" rIns="91440" bIns="45720" rtlCol="0">
            <a:normAutofit/>
          </a:bodyPr>
          <a:lstStyle>
            <a:lvl1pPr marL="457200" indent="-457200">
              <a:lnSpc>
                <a:spcPct val="90000"/>
              </a:lnSpc>
              <a:spcBef>
                <a:spcPts val="1000"/>
              </a:spcBef>
              <a:buFont typeface="+mj-lt"/>
              <a:buAutoNum type="arabicPeriod"/>
              <a:defRPr sz="2400">
                <a:solidFill>
                  <a:srgbClr val="3A5991"/>
                </a:solidFill>
                <a:latin typeface="Times New Roman" panose="02020603050405020304" pitchFamily="18" charset="0"/>
                <a:ea typeface="微软雅黑" panose="020B0503020204020204" pitchFamily="34" charset="-122"/>
                <a:cs typeface="Times New Roman" panose="02020603050405020304" pitchFamily="18" charset="0"/>
              </a:defRPr>
            </a:lvl1pPr>
            <a:lvl2pPr lvl="1" indent="0">
              <a:lnSpc>
                <a:spcPct val="150000"/>
              </a:lnSpc>
              <a:spcBef>
                <a:spcPts val="500"/>
              </a:spcBef>
              <a:buFont typeface="Wingdings" panose="05000000000000000000" pitchFamily="2" charset="2"/>
              <a:buNone/>
              <a:defRPr sz="20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zh-CN" altLang="en-US" dirty="0">
                <a:solidFill>
                  <a:srgbClr val="FF0000"/>
                </a:solidFill>
              </a:rPr>
              <a:t>由环境决定</a:t>
            </a:r>
          </a:p>
        </p:txBody>
      </p:sp>
    </p:spTree>
    <p:extLst>
      <p:ext uri="{BB962C8B-B14F-4D97-AF65-F5344CB8AC3E}">
        <p14:creationId xmlns:p14="http://schemas.microsoft.com/office/powerpoint/2010/main" val="1099651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11353799" y="6356350"/>
            <a:ext cx="577363" cy="365125"/>
          </a:xfrm>
          <a:prstGeom prst="rect">
            <a:avLst/>
          </a:prstGeom>
        </p:spPr>
        <p:txBody>
          <a:bodyPr/>
          <a:lstStyle/>
          <a:p>
            <a:fld id="{D4751D38-C989-48BC-B1AB-387F6E8DCEB6}" type="slidenum">
              <a:rPr lang="zh-CN" altLang="en-US" smtClean="0"/>
              <a:pPr/>
              <a:t>16</a:t>
            </a:fld>
            <a:endParaRPr lang="zh-CN" altLang="en-US" dirty="0"/>
          </a:p>
        </p:txBody>
      </p:sp>
      <p:sp>
        <p:nvSpPr>
          <p:cNvPr id="8" name="标题 1">
            <a:extLst>
              <a:ext uri="{FF2B5EF4-FFF2-40B4-BE49-F238E27FC236}">
                <a16:creationId xmlns:a16="http://schemas.microsoft.com/office/drawing/2014/main" id="{CBF7661E-8C78-4B4B-AD5A-80311852253C}"/>
              </a:ext>
            </a:extLst>
          </p:cNvPr>
          <p:cNvSpPr txBox="1">
            <a:spLocks/>
          </p:cNvSpPr>
          <p:nvPr/>
        </p:nvSpPr>
        <p:spPr>
          <a:xfrm>
            <a:off x="518504" y="400640"/>
            <a:ext cx="10515600" cy="725121"/>
          </a:xfrm>
          <a:prstGeom prst="rect">
            <a:avLst/>
          </a:prstGeom>
        </p:spPr>
        <p:txBody>
          <a:bodyPr vert="horz" lIns="91440" tIns="45720" rIns="91440" bIns="45720" rtlCol="0" anchor="ctr">
            <a:normAutofit fontScale="97500"/>
          </a:bodyPr>
          <a:lstStyle>
            <a:lvl1pPr>
              <a:lnSpc>
                <a:spcPct val="90000"/>
              </a:lnSpc>
              <a:spcBef>
                <a:spcPct val="0"/>
              </a:spcBef>
              <a:buNone/>
              <a:defRPr sz="2800">
                <a:solidFill>
                  <a:srgbClr val="0000FF"/>
                </a:solidFill>
                <a:latin typeface="微软雅黑" panose="020B0503020204020204" pitchFamily="34" charset="-122"/>
                <a:ea typeface="微软雅黑" panose="020B0503020204020204" pitchFamily="34" charset="-122"/>
                <a:cs typeface="+mj-cs"/>
              </a:defRPr>
            </a:lvl1pPr>
          </a:lstStyle>
          <a:p>
            <a:r>
              <a:rPr lang="zh-CN" altLang="en-US" dirty="0"/>
              <a:t>三、高等植物的性别决定</a:t>
            </a:r>
          </a:p>
        </p:txBody>
      </p:sp>
      <p:pic>
        <p:nvPicPr>
          <p:cNvPr id="13" name="内容占位符 5">
            <a:extLst>
              <a:ext uri="{FF2B5EF4-FFF2-40B4-BE49-F238E27FC236}">
                <a16:creationId xmlns:a16="http://schemas.microsoft.com/office/drawing/2014/main" id="{231C6947-1E08-415D-B425-48D97A0D7119}"/>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7703773" y="327336"/>
            <a:ext cx="4428121" cy="3374139"/>
          </a:xfrm>
          <a:prstGeom prst="rect">
            <a:avLst/>
          </a:prstGeom>
        </p:spPr>
      </p:pic>
      <p:sp>
        <p:nvSpPr>
          <p:cNvPr id="14" name="文本框 13">
            <a:extLst>
              <a:ext uri="{FF2B5EF4-FFF2-40B4-BE49-F238E27FC236}">
                <a16:creationId xmlns:a16="http://schemas.microsoft.com/office/drawing/2014/main" id="{101ED4AA-B30E-4E06-91EC-C5AF33111671}"/>
              </a:ext>
            </a:extLst>
          </p:cNvPr>
          <p:cNvSpPr txBox="1"/>
          <p:nvPr/>
        </p:nvSpPr>
        <p:spPr>
          <a:xfrm>
            <a:off x="8475663" y="3862940"/>
            <a:ext cx="2746161" cy="307777"/>
          </a:xfrm>
          <a:prstGeom prst="rect">
            <a:avLst/>
          </a:prstGeom>
          <a:noFill/>
        </p:spPr>
        <p:txBody>
          <a:bodyPr wrap="square">
            <a:spAutoFit/>
          </a:bodyPr>
          <a:lstStyle>
            <a:defPPr>
              <a:defRPr lang="zh-CN"/>
            </a:defPPr>
            <a:lvl1pPr algn="ctr">
              <a:defRPr sz="1400">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b="1" dirty="0"/>
              <a:t>玉米的</a:t>
            </a:r>
            <a:r>
              <a:rPr lang="en-US" altLang="zh-CN" b="1" dirty="0"/>
              <a:t>3</a:t>
            </a:r>
            <a:r>
              <a:rPr lang="zh-CN" altLang="en-US" b="1" dirty="0"/>
              <a:t>种性别类型</a:t>
            </a:r>
          </a:p>
        </p:txBody>
      </p:sp>
      <p:sp>
        <p:nvSpPr>
          <p:cNvPr id="15" name="文本框 14">
            <a:extLst>
              <a:ext uri="{FF2B5EF4-FFF2-40B4-BE49-F238E27FC236}">
                <a16:creationId xmlns:a16="http://schemas.microsoft.com/office/drawing/2014/main" id="{2E6CE38A-7D25-48D8-848D-8B003267EEF3}"/>
              </a:ext>
            </a:extLst>
          </p:cNvPr>
          <p:cNvSpPr txBox="1"/>
          <p:nvPr/>
        </p:nvSpPr>
        <p:spPr>
          <a:xfrm>
            <a:off x="44761" y="1125761"/>
            <a:ext cx="7768149" cy="5073750"/>
          </a:xfrm>
          <a:prstGeom prst="rect">
            <a:avLst/>
          </a:prstGeom>
        </p:spPr>
        <p:txBody>
          <a:bodyPr vert="horz" lIns="91440" tIns="45720" rIns="91440" bIns="45720" rtlCol="0">
            <a:normAutofit/>
          </a:bodyPr>
          <a:lstStyle>
            <a:lvl1pPr marL="457200" indent="-457200">
              <a:lnSpc>
                <a:spcPct val="90000"/>
              </a:lnSpc>
              <a:spcBef>
                <a:spcPts val="1000"/>
              </a:spcBef>
              <a:buFont typeface="+mj-lt"/>
              <a:buAutoNum type="arabicPeriod"/>
              <a:defRPr sz="2400">
                <a:solidFill>
                  <a:srgbClr val="3A5991"/>
                </a:solidFill>
                <a:latin typeface="Times New Roman" panose="02020603050405020304" pitchFamily="18" charset="0"/>
                <a:ea typeface="微软雅黑" panose="020B0503020204020204" pitchFamily="34" charset="-122"/>
                <a:cs typeface="Times New Roman" panose="02020603050405020304" pitchFamily="18" charset="0"/>
              </a:defRPr>
            </a:lvl1pPr>
            <a:lvl2pPr marL="0" lvl="1" indent="-228600">
              <a:lnSpc>
                <a:spcPct val="100000"/>
              </a:lnSpc>
              <a:spcBef>
                <a:spcPts val="500"/>
              </a:spcBef>
              <a:buFont typeface="Wingdings" panose="05000000000000000000" pitchFamily="2" charset="2"/>
              <a:buChar char="Ø"/>
              <a:defRPr sz="2400">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zh-CN" altLang="en-US" dirty="0"/>
              <a:t>已知玉米中有若干基因可以改变玉米植株的性别，能把雌雄同株转变为雌株或雄株。植株的性别由 </a:t>
            </a:r>
            <a:r>
              <a:rPr lang="en-US" altLang="zh-CN" dirty="0" err="1"/>
              <a:t>Tsts</a:t>
            </a:r>
            <a:r>
              <a:rPr lang="en-US" altLang="zh-CN" dirty="0"/>
              <a:t> </a:t>
            </a:r>
            <a:r>
              <a:rPr lang="zh-CN" altLang="en-US" dirty="0"/>
              <a:t>的分离决定。</a:t>
            </a:r>
            <a:endParaRPr lang="en-US" altLang="zh-CN" dirty="0"/>
          </a:p>
          <a:p>
            <a:pPr lvl="1"/>
            <a:r>
              <a:rPr lang="zh-CN" altLang="en-US" dirty="0"/>
              <a:t>右图中：（</a:t>
            </a:r>
            <a:r>
              <a:rPr lang="en-US" altLang="zh-CN" dirty="0"/>
              <a:t>a</a:t>
            </a:r>
            <a:r>
              <a:rPr lang="zh-CN" altLang="en-US" dirty="0"/>
              <a:t>）雌雄同株，基因型一般是 </a:t>
            </a:r>
            <a:r>
              <a:rPr lang="en-US" altLang="zh-CN" dirty="0" err="1"/>
              <a:t>BaBaTsTs</a:t>
            </a:r>
            <a:r>
              <a:rPr lang="zh-CN" altLang="en-US" dirty="0"/>
              <a:t>，这是常见的正常植株。（</a:t>
            </a:r>
            <a:r>
              <a:rPr lang="en-US" altLang="zh-CN" dirty="0"/>
              <a:t>b</a:t>
            </a:r>
            <a:r>
              <a:rPr lang="zh-CN" altLang="en-US" dirty="0"/>
              <a:t>）</a:t>
            </a:r>
            <a:r>
              <a:rPr lang="zh-CN" altLang="en-US" dirty="0">
                <a:solidFill>
                  <a:srgbClr val="FF0000"/>
                </a:solidFill>
              </a:rPr>
              <a:t>雄性植株</a:t>
            </a:r>
            <a:r>
              <a:rPr lang="zh-CN" altLang="en-US" dirty="0"/>
              <a:t>，基因型 </a:t>
            </a:r>
            <a:r>
              <a:rPr lang="en-US" altLang="zh-CN" b="1" dirty="0" err="1"/>
              <a:t>baba</a:t>
            </a:r>
            <a:r>
              <a:rPr lang="en-US" altLang="zh-CN" dirty="0" err="1"/>
              <a:t>TsTs</a:t>
            </a:r>
            <a:r>
              <a:rPr lang="en-US" altLang="zh-CN" dirty="0"/>
              <a:t> </a:t>
            </a:r>
            <a:r>
              <a:rPr lang="zh-CN" altLang="en-US" dirty="0"/>
              <a:t>或 </a:t>
            </a:r>
            <a:r>
              <a:rPr lang="en-US" altLang="zh-CN" b="1" dirty="0" err="1"/>
              <a:t>baba</a:t>
            </a:r>
            <a:r>
              <a:rPr lang="en-US" altLang="zh-CN" dirty="0" err="1"/>
              <a:t>Tsts</a:t>
            </a:r>
            <a:r>
              <a:rPr lang="zh-CN" altLang="en-US" dirty="0"/>
              <a:t>，长雌花序的地方</a:t>
            </a:r>
            <a:r>
              <a:rPr lang="zh-CN" altLang="en-US" b="1" dirty="0"/>
              <a:t>不能长出雌花序</a:t>
            </a:r>
            <a:r>
              <a:rPr lang="zh-CN" altLang="en-US" dirty="0"/>
              <a:t>。（</a:t>
            </a:r>
            <a:r>
              <a:rPr lang="en-US" altLang="zh-CN" dirty="0"/>
              <a:t>c</a:t>
            </a:r>
            <a:r>
              <a:rPr lang="zh-CN" altLang="en-US" dirty="0"/>
              <a:t>）</a:t>
            </a:r>
            <a:r>
              <a:rPr lang="zh-CN" altLang="en-US" dirty="0">
                <a:solidFill>
                  <a:srgbClr val="FF0000"/>
                </a:solidFill>
              </a:rPr>
              <a:t>雌性植株</a:t>
            </a:r>
            <a:r>
              <a:rPr lang="zh-CN" altLang="en-US" dirty="0"/>
              <a:t>，基因型 </a:t>
            </a:r>
            <a:r>
              <a:rPr lang="en-US" altLang="zh-CN" dirty="0" err="1"/>
              <a:t>baba</a:t>
            </a:r>
            <a:r>
              <a:rPr lang="en-US" altLang="zh-CN" b="1" dirty="0" err="1"/>
              <a:t>tsts</a:t>
            </a:r>
            <a:r>
              <a:rPr lang="zh-CN" altLang="en-US" dirty="0"/>
              <a:t>，</a:t>
            </a:r>
            <a:r>
              <a:rPr lang="zh-CN" altLang="en-US" b="1" dirty="0"/>
              <a:t>在长雄花序的地方结出种子</a:t>
            </a:r>
            <a:r>
              <a:rPr lang="zh-CN" altLang="en-US" dirty="0"/>
              <a:t>。</a:t>
            </a:r>
            <a:endParaRPr lang="en-US" altLang="zh-CN" dirty="0"/>
          </a:p>
          <a:p>
            <a:pPr lvl="1"/>
            <a:r>
              <a:rPr lang="zh-CN" altLang="en-US" b="1" dirty="0"/>
              <a:t>通过基因型的改变，可把玉米从雌雄同株变为雌雄异株</a:t>
            </a:r>
            <a:r>
              <a:rPr lang="zh-CN" altLang="en-US" dirty="0"/>
              <a:t>。</a:t>
            </a:r>
          </a:p>
          <a:p>
            <a:pPr lvl="1"/>
            <a:endParaRPr lang="zh-CN" altLang="en-US" dirty="0"/>
          </a:p>
        </p:txBody>
      </p:sp>
      <p:pic>
        <p:nvPicPr>
          <p:cNvPr id="16" name="内容占位符 2">
            <a:extLst>
              <a:ext uri="{FF2B5EF4-FFF2-40B4-BE49-F238E27FC236}">
                <a16:creationId xmlns:a16="http://schemas.microsoft.com/office/drawing/2014/main" id="{3044A284-DE88-48CE-986F-9CB80D47B56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13153" y="4334725"/>
            <a:ext cx="4634717" cy="2021625"/>
          </a:xfrm>
          <a:prstGeom prst="rect">
            <a:avLst/>
          </a:prstGeom>
        </p:spPr>
      </p:pic>
      <p:sp>
        <p:nvSpPr>
          <p:cNvPr id="17" name="文本框 16">
            <a:extLst>
              <a:ext uri="{FF2B5EF4-FFF2-40B4-BE49-F238E27FC236}">
                <a16:creationId xmlns:a16="http://schemas.microsoft.com/office/drawing/2014/main" id="{395E041A-217A-483A-82D9-0BC4F17B6840}"/>
              </a:ext>
            </a:extLst>
          </p:cNvPr>
          <p:cNvSpPr txBox="1"/>
          <p:nvPr/>
        </p:nvSpPr>
        <p:spPr>
          <a:xfrm>
            <a:off x="6041195" y="6048573"/>
            <a:ext cx="4992909" cy="307777"/>
          </a:xfrm>
          <a:prstGeom prst="rect">
            <a:avLst/>
          </a:prstGeom>
          <a:noFill/>
        </p:spPr>
        <p:txBody>
          <a:bodyPr wrap="square">
            <a:spAutoFit/>
          </a:bodyPr>
          <a:lstStyle>
            <a:defPPr>
              <a:defRPr lang="zh-CN"/>
            </a:defPPr>
            <a:lvl1pPr algn="ctr">
              <a:defRPr sz="1400">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ltLang="zh-CN" i="1" dirty="0"/>
              <a:t>Ts</a:t>
            </a:r>
            <a:r>
              <a:rPr lang="en-US" altLang="zh-CN" dirty="0"/>
              <a:t> </a:t>
            </a:r>
            <a:r>
              <a:rPr lang="zh-CN" altLang="en-US" dirty="0"/>
              <a:t>基因决定的玉米性别</a:t>
            </a:r>
            <a:endParaRPr lang="zh-CN" altLang="en-US" dirty="0">
              <a:solidFill>
                <a:srgbClr val="3A5991"/>
              </a:solidFill>
            </a:endParaRPr>
          </a:p>
        </p:txBody>
      </p:sp>
    </p:spTree>
    <p:extLst>
      <p:ext uri="{BB962C8B-B14F-4D97-AF65-F5344CB8AC3E}">
        <p14:creationId xmlns:p14="http://schemas.microsoft.com/office/powerpoint/2010/main" val="2215544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382831" y="99401"/>
            <a:ext cx="10515600" cy="491149"/>
          </a:xfrm>
        </p:spPr>
        <p:txBody>
          <a:bodyPr vert="horz" lIns="91440" tIns="45720" rIns="91440" bIns="45720" rtlCol="0" anchor="ctr">
            <a:normAutofit/>
          </a:bodyPr>
          <a:lstStyle/>
          <a:p>
            <a:r>
              <a:rPr lang="zh-CN" altLang="en-US" sz="2800" dirty="0">
                <a:solidFill>
                  <a:srgbClr val="0000FF"/>
                </a:solidFill>
              </a:rPr>
              <a:t>四、环境对性别分化的影响</a:t>
            </a:r>
          </a:p>
        </p:txBody>
      </p:sp>
      <p:sp>
        <p:nvSpPr>
          <p:cNvPr id="12" name="Rectangle 3">
            <a:extLst>
              <a:ext uri="{FF2B5EF4-FFF2-40B4-BE49-F238E27FC236}">
                <a16:creationId xmlns:a16="http://schemas.microsoft.com/office/drawing/2014/main" id="{7C1AA8D2-4FAC-AC74-3A32-27AA1B138C66}"/>
              </a:ext>
            </a:extLst>
          </p:cNvPr>
          <p:cNvSpPr txBox="1">
            <a:spLocks noChangeArrowheads="1"/>
          </p:cNvSpPr>
          <p:nvPr/>
        </p:nvSpPr>
        <p:spPr>
          <a:xfrm>
            <a:off x="382831" y="710221"/>
            <a:ext cx="11426337" cy="5185753"/>
          </a:xfrm>
          <a:prstGeom prst="rect">
            <a:avLst/>
          </a:prstGeom>
        </p:spPr>
        <p:txBody>
          <a:bodyPr vert="horz" lIns="18000" tIns="45720" rIns="18000" bIns="45720" rtlCol="0">
            <a:normAutofit/>
          </a:bodyPr>
          <a:lstStyle>
            <a:lvl1pPr marL="457200" indent="-457200" algn="l" defTabSz="914400" rtl="0" eaLnBrk="1" latinLnBrk="0" hangingPunct="1">
              <a:lnSpc>
                <a:spcPct val="90000"/>
              </a:lnSpc>
              <a:spcBef>
                <a:spcPts val="1000"/>
              </a:spcBef>
              <a:buFont typeface="+mj-lt"/>
              <a:buAutoNum type="arabicPeriod"/>
              <a:defRPr sz="2400" kern="1200">
                <a:solidFill>
                  <a:srgbClr val="3A5991"/>
                </a:solidFill>
                <a:latin typeface="Times New Roman" panose="02020603050405020304" pitchFamily="18" charset="0"/>
                <a:ea typeface="微软雅黑" panose="020B0503020204020204" pitchFamily="34" charset="-122"/>
                <a:cs typeface="Times New Roman" panose="02020603050405020304" pitchFamily="18" charset="0"/>
              </a:defRPr>
            </a:lvl1pPr>
            <a:lvl2pPr marL="685800" indent="-228600" algn="l" defTabSz="914400" rtl="0" eaLnBrk="1" latinLnBrk="0" hangingPunct="1">
              <a:lnSpc>
                <a:spcPct val="90000"/>
              </a:lnSpc>
              <a:spcBef>
                <a:spcPts val="500"/>
              </a:spcBef>
              <a:buFont typeface="Wingdings" panose="05000000000000000000" pitchFamily="2" charset="2"/>
              <a:buChar char="Ø"/>
              <a:defRPr sz="2000" kern="12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9400" indent="-279400">
              <a:buFont typeface="Wingdings" panose="05000000000000000000" pitchFamily="2" charset="2"/>
              <a:buChar char="Ø"/>
            </a:pPr>
            <a:r>
              <a:rPr lang="zh-CN" altLang="en-US" sz="2800" b="1" dirty="0">
                <a:solidFill>
                  <a:schemeClr val="tx1"/>
                </a:solidFill>
                <a:ea typeface="黑体" panose="02010609060101010101" pitchFamily="49" charset="-122"/>
              </a:rPr>
              <a:t>两栖类中的蛙，其性染色体为</a:t>
            </a:r>
            <a:r>
              <a:rPr lang="en-US" altLang="zh-CN" sz="2800" b="1" dirty="0">
                <a:solidFill>
                  <a:schemeClr val="tx1"/>
                </a:solidFill>
                <a:ea typeface="黑体" panose="02010609060101010101" pitchFamily="49" charset="-122"/>
              </a:rPr>
              <a:t>XY</a:t>
            </a:r>
            <a:r>
              <a:rPr lang="zh-CN" altLang="en-US" sz="2800" b="1" dirty="0">
                <a:solidFill>
                  <a:schemeClr val="tx1"/>
                </a:solidFill>
                <a:ea typeface="黑体" panose="02010609060101010101" pitchFamily="49" charset="-122"/>
              </a:rPr>
              <a:t>型。蝌蚪在</a:t>
            </a:r>
            <a:r>
              <a:rPr lang="en-US" altLang="zh-CN" sz="2800" b="1" dirty="0">
                <a:solidFill>
                  <a:srgbClr val="0000FF"/>
                </a:solidFill>
                <a:ea typeface="黑体" panose="02010609060101010101" pitchFamily="49" charset="-122"/>
              </a:rPr>
              <a:t>20℃</a:t>
            </a:r>
            <a:r>
              <a:rPr lang="zh-CN" altLang="en-US" sz="2800" b="1" dirty="0">
                <a:solidFill>
                  <a:schemeClr val="tx1"/>
                </a:solidFill>
                <a:ea typeface="黑体" panose="02010609060101010101" pitchFamily="49" charset="-122"/>
              </a:rPr>
              <a:t>时性别按其性染色体的构成正常分化。但在</a:t>
            </a:r>
            <a:r>
              <a:rPr lang="en-US" altLang="zh-CN" sz="2800" b="1" dirty="0">
                <a:solidFill>
                  <a:srgbClr val="0000FF"/>
                </a:solidFill>
                <a:ea typeface="黑体" panose="02010609060101010101" pitchFamily="49" charset="-122"/>
              </a:rPr>
              <a:t>30℃</a:t>
            </a:r>
            <a:r>
              <a:rPr lang="zh-CN" altLang="en-US" sz="2800" b="1" dirty="0">
                <a:solidFill>
                  <a:srgbClr val="0000FF"/>
                </a:solidFill>
                <a:ea typeface="黑体" panose="02010609060101010101" pitchFamily="49" charset="-122"/>
              </a:rPr>
              <a:t>时，</a:t>
            </a:r>
            <a:r>
              <a:rPr lang="en-US" altLang="zh-CN" sz="2800" b="1" dirty="0">
                <a:solidFill>
                  <a:srgbClr val="0000FF"/>
                </a:solidFill>
                <a:ea typeface="黑体" panose="02010609060101010101" pitchFamily="49" charset="-122"/>
              </a:rPr>
              <a:t>XY</a:t>
            </a:r>
            <a:r>
              <a:rPr lang="zh-CN" altLang="en-US" sz="2800" b="1" dirty="0">
                <a:solidFill>
                  <a:srgbClr val="0000FF"/>
                </a:solidFill>
                <a:ea typeface="黑体" panose="02010609060101010101" pitchFamily="49" charset="-122"/>
              </a:rPr>
              <a:t>和</a:t>
            </a:r>
            <a:r>
              <a:rPr lang="en-US" altLang="zh-CN" sz="2800" b="1" dirty="0">
                <a:solidFill>
                  <a:srgbClr val="0000FF"/>
                </a:solidFill>
                <a:ea typeface="黑体" panose="02010609060101010101" pitchFamily="49" charset="-122"/>
              </a:rPr>
              <a:t>XX</a:t>
            </a:r>
            <a:r>
              <a:rPr lang="zh-CN" altLang="en-US" sz="2800" b="1" dirty="0">
                <a:solidFill>
                  <a:srgbClr val="0000FF"/>
                </a:solidFill>
                <a:ea typeface="黑体" panose="02010609060101010101" pitchFamily="49" charset="-122"/>
              </a:rPr>
              <a:t>都发育为雌性</a:t>
            </a:r>
            <a:r>
              <a:rPr lang="zh-CN" altLang="en-US" sz="2800" b="1" dirty="0">
                <a:solidFill>
                  <a:schemeClr val="tx1"/>
                </a:solidFill>
                <a:ea typeface="黑体" panose="02010609060101010101" pitchFamily="49" charset="-122"/>
              </a:rPr>
              <a:t>。</a:t>
            </a:r>
          </a:p>
          <a:p>
            <a:pPr marL="279400" indent="-279400">
              <a:buFont typeface="Wingdings" panose="05000000000000000000" pitchFamily="2" charset="2"/>
              <a:buChar char="Ø"/>
            </a:pPr>
            <a:r>
              <a:rPr lang="zh-CN" altLang="en-US" sz="2800" b="1" dirty="0">
                <a:solidFill>
                  <a:schemeClr val="tx1"/>
                </a:solidFill>
                <a:ea typeface="黑体" panose="02010609060101010101" pitchFamily="49" charset="-122"/>
              </a:rPr>
              <a:t>扬子鳄和密西西比鳄的卵在</a:t>
            </a:r>
            <a:r>
              <a:rPr lang="en-US" altLang="zh-CN" sz="2800" b="1" dirty="0">
                <a:solidFill>
                  <a:srgbClr val="0000FF"/>
                </a:solidFill>
                <a:ea typeface="黑体" panose="02010609060101010101" pitchFamily="49" charset="-122"/>
              </a:rPr>
              <a:t>30℃</a:t>
            </a:r>
            <a:r>
              <a:rPr lang="zh-CN" altLang="en-US" sz="2800" b="1" dirty="0">
                <a:solidFill>
                  <a:srgbClr val="0000FF"/>
                </a:solidFill>
                <a:ea typeface="黑体" panose="02010609060101010101" pitchFamily="49" charset="-122"/>
              </a:rPr>
              <a:t>和</a:t>
            </a:r>
            <a:r>
              <a:rPr lang="en-US" altLang="zh-CN" sz="2800" b="1" dirty="0">
                <a:solidFill>
                  <a:srgbClr val="0000FF"/>
                </a:solidFill>
                <a:ea typeface="黑体" panose="02010609060101010101" pitchFamily="49" charset="-122"/>
              </a:rPr>
              <a:t>30℃</a:t>
            </a:r>
            <a:r>
              <a:rPr lang="zh-CN" altLang="en-US" sz="2800" b="1" dirty="0">
                <a:solidFill>
                  <a:srgbClr val="0000FF"/>
                </a:solidFill>
                <a:ea typeface="黑体" panose="02010609060101010101" pitchFamily="49" charset="-122"/>
              </a:rPr>
              <a:t>以下时，发育为雌体；在</a:t>
            </a:r>
            <a:r>
              <a:rPr lang="en-US" altLang="zh-CN" sz="2800" b="1" dirty="0">
                <a:solidFill>
                  <a:srgbClr val="0000FF"/>
                </a:solidFill>
                <a:ea typeface="黑体" panose="02010609060101010101" pitchFamily="49" charset="-122"/>
              </a:rPr>
              <a:t>34℃</a:t>
            </a:r>
            <a:r>
              <a:rPr lang="zh-CN" altLang="en-US" sz="2800" b="1" dirty="0">
                <a:solidFill>
                  <a:srgbClr val="0000FF"/>
                </a:solidFill>
                <a:ea typeface="黑体" panose="02010609060101010101" pitchFamily="49" charset="-122"/>
              </a:rPr>
              <a:t>及以上时发育为雄体</a:t>
            </a:r>
            <a:r>
              <a:rPr lang="zh-CN" altLang="en-US" sz="2800" b="1" dirty="0">
                <a:solidFill>
                  <a:schemeClr val="tx1"/>
                </a:solidFill>
                <a:ea typeface="黑体" panose="02010609060101010101" pitchFamily="49" charset="-122"/>
              </a:rPr>
              <a:t>。</a:t>
            </a:r>
          </a:p>
          <a:p>
            <a:pPr marL="279400" indent="-279400">
              <a:buFont typeface="Wingdings" panose="05000000000000000000" pitchFamily="2" charset="2"/>
              <a:buChar char="Ø"/>
            </a:pPr>
            <a:r>
              <a:rPr lang="zh-CN" altLang="en-US" sz="2800" b="1" dirty="0">
                <a:solidFill>
                  <a:schemeClr val="tx1"/>
                </a:solidFill>
                <a:ea typeface="黑体" panose="02010609060101010101" pitchFamily="49" charset="-122"/>
              </a:rPr>
              <a:t>乌龟的卵在</a:t>
            </a:r>
            <a:r>
              <a:rPr lang="en-US" altLang="zh-CN" sz="2800" b="1" dirty="0">
                <a:solidFill>
                  <a:srgbClr val="0000FF"/>
                </a:solidFill>
                <a:ea typeface="黑体" panose="02010609060101010101" pitchFamily="49" charset="-122"/>
              </a:rPr>
              <a:t>23℃-27℃</a:t>
            </a:r>
            <a:r>
              <a:rPr lang="zh-CN" altLang="en-US" sz="2800" b="1" dirty="0">
                <a:solidFill>
                  <a:srgbClr val="0000FF"/>
                </a:solidFill>
                <a:ea typeface="黑体" panose="02010609060101010101" pitchFamily="49" charset="-122"/>
              </a:rPr>
              <a:t>时发育为雄性，在</a:t>
            </a:r>
            <a:r>
              <a:rPr lang="en-US" altLang="zh-CN" sz="2800" b="1" dirty="0">
                <a:solidFill>
                  <a:srgbClr val="0000FF"/>
                </a:solidFill>
                <a:ea typeface="黑体" panose="02010609060101010101" pitchFamily="49" charset="-122"/>
              </a:rPr>
              <a:t>32℃-33℃</a:t>
            </a:r>
            <a:r>
              <a:rPr lang="zh-CN" altLang="en-US" sz="2800" b="1" dirty="0">
                <a:solidFill>
                  <a:srgbClr val="0000FF"/>
                </a:solidFill>
                <a:ea typeface="黑体" panose="02010609060101010101" pitchFamily="49" charset="-122"/>
              </a:rPr>
              <a:t>时发育为雌性</a:t>
            </a:r>
            <a:r>
              <a:rPr lang="zh-CN" altLang="en-US" sz="2800" b="1" dirty="0">
                <a:solidFill>
                  <a:schemeClr val="tx1"/>
                </a:solidFill>
                <a:ea typeface="黑体" panose="02010609060101010101" pitchFamily="49" charset="-122"/>
              </a:rPr>
              <a:t>。</a:t>
            </a:r>
          </a:p>
          <a:p>
            <a:pPr marL="279400" indent="-279400">
              <a:buFont typeface="Wingdings" panose="05000000000000000000" pitchFamily="2" charset="2"/>
              <a:buChar char="Ø"/>
            </a:pPr>
            <a:r>
              <a:rPr lang="zh-CN" altLang="en-US" sz="2800" b="1" dirty="0">
                <a:solidFill>
                  <a:schemeClr val="tx1"/>
                </a:solidFill>
                <a:ea typeface="黑体" panose="02010609060101010101" pitchFamily="49" charset="-122"/>
              </a:rPr>
              <a:t>在葫芦科的植物中，</a:t>
            </a:r>
            <a:r>
              <a:rPr lang="zh-CN" altLang="en-US" sz="2800" b="1" dirty="0">
                <a:solidFill>
                  <a:srgbClr val="0000FF"/>
                </a:solidFill>
                <a:ea typeface="黑体" panose="02010609060101010101" pitchFamily="49" charset="-122"/>
              </a:rPr>
              <a:t>丰富的氮肥，短的日照和夜晚的低温</a:t>
            </a:r>
            <a:r>
              <a:rPr lang="zh-CN" altLang="en-US" sz="2800" b="1" dirty="0">
                <a:solidFill>
                  <a:schemeClr val="tx1"/>
                </a:solidFill>
                <a:ea typeface="黑体" panose="02010609060101010101" pitchFamily="49" charset="-122"/>
              </a:rPr>
              <a:t>也有利于雌性的发育。</a:t>
            </a:r>
            <a:endParaRPr lang="en-US" altLang="zh-CN" sz="2800" b="1" dirty="0">
              <a:solidFill>
                <a:schemeClr val="tx1"/>
              </a:solidFill>
              <a:ea typeface="黑体" panose="02010609060101010101" pitchFamily="49" charset="-122"/>
            </a:endParaRPr>
          </a:p>
          <a:p>
            <a:pPr marL="279400" indent="-279400">
              <a:buFont typeface="Wingdings" panose="05000000000000000000" pitchFamily="2" charset="2"/>
              <a:buChar char="Ø"/>
            </a:pPr>
            <a:r>
              <a:rPr lang="zh-CN" altLang="en-US" sz="2800" b="1" dirty="0">
                <a:solidFill>
                  <a:schemeClr val="tx1"/>
                </a:solidFill>
                <a:ea typeface="黑体" panose="02010609060101010101" pitchFamily="49" charset="-122"/>
              </a:rPr>
              <a:t>生物从一种性别转变成另一种性别的现象称为</a:t>
            </a:r>
            <a:r>
              <a:rPr lang="zh-CN" altLang="en-US" sz="2800" b="1" dirty="0">
                <a:solidFill>
                  <a:srgbClr val="0000FF"/>
                </a:solidFill>
                <a:ea typeface="黑体" panose="02010609060101010101" pitchFamily="49" charset="-122"/>
              </a:rPr>
              <a:t>性反转现象</a:t>
            </a:r>
            <a:r>
              <a:rPr lang="en-US" altLang="zh-CN" sz="2800" b="1" dirty="0">
                <a:solidFill>
                  <a:schemeClr val="tx1"/>
                </a:solidFill>
                <a:ea typeface="黑体" panose="02010609060101010101" pitchFamily="49" charset="-122"/>
              </a:rPr>
              <a:t>(sex reversal)</a:t>
            </a:r>
            <a:r>
              <a:rPr lang="zh-CN" altLang="en-US" sz="2800" b="1" dirty="0">
                <a:solidFill>
                  <a:schemeClr val="tx1"/>
                </a:solidFill>
                <a:ea typeface="黑体" panose="02010609060101010101" pitchFamily="49" charset="-122"/>
              </a:rPr>
              <a:t>。这种情况有的是正常的自然性反转，有的是</a:t>
            </a:r>
            <a:r>
              <a:rPr lang="zh-CN" altLang="en-US" sz="2800" b="1" dirty="0">
                <a:solidFill>
                  <a:srgbClr val="0000FF"/>
                </a:solidFill>
                <a:ea typeface="黑体" panose="02010609060101010101" pitchFamily="49" charset="-122"/>
              </a:rPr>
              <a:t>人工</a:t>
            </a:r>
            <a:r>
              <a:rPr lang="zh-CN" altLang="en-US" sz="2800" b="1" dirty="0">
                <a:solidFill>
                  <a:schemeClr val="tx1"/>
                </a:solidFill>
                <a:ea typeface="黑体" panose="02010609060101010101" pitchFamily="49" charset="-122"/>
              </a:rPr>
              <a:t>引起的，或是</a:t>
            </a:r>
            <a:r>
              <a:rPr lang="zh-CN" altLang="en-US" sz="2800" b="1" dirty="0">
                <a:solidFill>
                  <a:srgbClr val="0000FF"/>
                </a:solidFill>
                <a:ea typeface="黑体" panose="02010609060101010101" pitchFamily="49" charset="-122"/>
              </a:rPr>
              <a:t>环境条件改变</a:t>
            </a:r>
            <a:r>
              <a:rPr lang="zh-CN" altLang="en-US" sz="2800" b="1" dirty="0">
                <a:solidFill>
                  <a:schemeClr val="tx1"/>
                </a:solidFill>
                <a:ea typeface="黑体" panose="02010609060101010101" pitchFamily="49" charset="-122"/>
              </a:rPr>
              <a:t>所造成，或由病理因素所引起。</a:t>
            </a:r>
          </a:p>
          <a:p>
            <a:pPr marL="279400" indent="-279400">
              <a:buFont typeface="Wingdings" panose="05000000000000000000" pitchFamily="2" charset="2"/>
              <a:buChar char="Ø"/>
            </a:pPr>
            <a:endParaRPr lang="zh-CN" altLang="en-US" sz="2800" b="1" dirty="0">
              <a:solidFill>
                <a:schemeClr val="tx1"/>
              </a:solidFill>
              <a:ea typeface="黑体" panose="02010609060101010101" pitchFamily="49" charset="-122"/>
            </a:endParaRPr>
          </a:p>
        </p:txBody>
      </p:sp>
    </p:spTree>
    <p:extLst>
      <p:ext uri="{BB962C8B-B14F-4D97-AF65-F5344CB8AC3E}">
        <p14:creationId xmlns:p14="http://schemas.microsoft.com/office/powerpoint/2010/main" val="51695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 calcmode="lin" valueType="num">
                                      <p:cBhvr additive="base">
                                        <p:cTn id="13" dur="500" fill="hold"/>
                                        <p:tgtEl>
                                          <p:spTgt spid="1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anim calcmode="lin" valueType="num">
                                      <p:cBhvr additive="base">
                                        <p:cTn id="19" dur="500" fill="hold"/>
                                        <p:tgtEl>
                                          <p:spTgt spid="1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anim calcmode="lin" valueType="num">
                                      <p:cBhvr additive="base">
                                        <p:cTn id="25" dur="500" fill="hold"/>
                                        <p:tgtEl>
                                          <p:spTgt spid="1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2">
                                            <p:txEl>
                                              <p:pRg st="4" end="4"/>
                                            </p:txEl>
                                          </p:spTgt>
                                        </p:tgtEl>
                                        <p:attrNameLst>
                                          <p:attrName>style.visibility</p:attrName>
                                        </p:attrNameLst>
                                      </p:cBhvr>
                                      <p:to>
                                        <p:strVal val="visible"/>
                                      </p:to>
                                    </p:set>
                                    <p:anim calcmode="lin" valueType="num">
                                      <p:cBhvr additive="base">
                                        <p:cTn id="31" dur="500" fill="hold"/>
                                        <p:tgtEl>
                                          <p:spTgt spid="1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2">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11353799" y="6356350"/>
            <a:ext cx="577363" cy="365125"/>
          </a:xfrm>
          <a:prstGeom prst="rect">
            <a:avLst/>
          </a:prstGeom>
        </p:spPr>
        <p:txBody>
          <a:bodyPr/>
          <a:lstStyle/>
          <a:p>
            <a:fld id="{D4751D38-C989-48BC-B1AB-387F6E8DCEB6}" type="slidenum">
              <a:rPr lang="zh-CN" altLang="en-US" smtClean="0"/>
              <a:pPr/>
              <a:t>18</a:t>
            </a:fld>
            <a:endParaRPr lang="zh-CN" altLang="en-US" dirty="0"/>
          </a:p>
        </p:txBody>
      </p:sp>
      <p:sp>
        <p:nvSpPr>
          <p:cNvPr id="6" name="文本框 5">
            <a:extLst>
              <a:ext uri="{FF2B5EF4-FFF2-40B4-BE49-F238E27FC236}">
                <a16:creationId xmlns:a16="http://schemas.microsoft.com/office/drawing/2014/main" id="{02D73204-5252-4125-81C2-961139F06FDA}"/>
              </a:ext>
            </a:extLst>
          </p:cNvPr>
          <p:cNvSpPr txBox="1"/>
          <p:nvPr/>
        </p:nvSpPr>
        <p:spPr>
          <a:xfrm>
            <a:off x="416056" y="142875"/>
            <a:ext cx="6094428" cy="553110"/>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200" b="1">
                <a:solidFill>
                  <a:srgbClr val="0000FF"/>
                </a:solidFill>
                <a:latin typeface="微软雅黑" panose="020B0503020204020204" pitchFamily="34" charset="-122"/>
                <a:ea typeface="微软雅黑" panose="020B0503020204020204" pitchFamily="34" charset="-122"/>
                <a:cs typeface="+mj-cs"/>
              </a:defRPr>
            </a:lvl1pPr>
          </a:lstStyle>
          <a:p>
            <a:r>
              <a:rPr lang="zh-CN" altLang="en-US" dirty="0"/>
              <a:t>第五节　人类的性别决定</a:t>
            </a:r>
          </a:p>
        </p:txBody>
      </p:sp>
      <p:sp>
        <p:nvSpPr>
          <p:cNvPr id="13" name="文本框 12">
            <a:extLst>
              <a:ext uri="{FF2B5EF4-FFF2-40B4-BE49-F238E27FC236}">
                <a16:creationId xmlns:a16="http://schemas.microsoft.com/office/drawing/2014/main" id="{39056176-C804-491B-8BCC-4694E0774EA0}"/>
              </a:ext>
            </a:extLst>
          </p:cNvPr>
          <p:cNvSpPr txBox="1"/>
          <p:nvPr/>
        </p:nvSpPr>
        <p:spPr>
          <a:xfrm>
            <a:off x="345596" y="4106119"/>
            <a:ext cx="11585565" cy="1569660"/>
          </a:xfrm>
          <a:prstGeom prst="rect">
            <a:avLst/>
          </a:prstGeom>
        </p:spPr>
        <p:txBody>
          <a:bodyPr vert="horz" lIns="91440" tIns="45720" rIns="91440" bIns="45720" rtlCol="0">
            <a:normAutofit/>
          </a:bodyPr>
          <a:lstStyle>
            <a:defPPr>
              <a:defRPr lang="zh-CN"/>
            </a:defPPr>
            <a:lvl1pPr indent="0">
              <a:lnSpc>
                <a:spcPct val="90000"/>
              </a:lnSpc>
              <a:spcBef>
                <a:spcPts val="1000"/>
              </a:spcBef>
              <a:buFont typeface="+mj-lt"/>
              <a:buNone/>
              <a:defRPr sz="2000">
                <a:latin typeface="Times New Roman" panose="02020603050405020304" pitchFamily="18" charset="0"/>
                <a:ea typeface="微软雅黑" panose="020B0503020204020204" pitchFamily="34" charset="-122"/>
                <a:cs typeface="Times New Roman" panose="02020603050405020304" pitchFamily="18" charset="0"/>
              </a:defRPr>
            </a:lvl1pPr>
            <a:lvl2pPr marL="0" lvl="1" indent="-228600">
              <a:lnSpc>
                <a:spcPct val="100000"/>
              </a:lnSpc>
              <a:spcBef>
                <a:spcPts val="500"/>
              </a:spcBef>
              <a:buFont typeface="Wingdings" panose="05000000000000000000" pitchFamily="2" charset="2"/>
              <a:buChar char="Ø"/>
              <a:defRPr sz="2400">
                <a:latin typeface="Times New Roman" panose="02020603050405020304" pitchFamily="18" charset="0"/>
                <a:ea typeface="微软雅黑" panose="020B0503020204020204" pitchFamily="34"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zh-CN" altLang="en-US" dirty="0"/>
              <a:t>虽然人和果蝇都是 </a:t>
            </a:r>
            <a:r>
              <a:rPr lang="en-US" altLang="zh-CN" dirty="0"/>
              <a:t>XY </a:t>
            </a:r>
            <a:r>
              <a:rPr lang="zh-CN" altLang="en-US" dirty="0"/>
              <a:t>型性别决定，但在人中 </a:t>
            </a:r>
            <a:r>
              <a:rPr lang="en-US" altLang="zh-CN" dirty="0"/>
              <a:t>Y </a:t>
            </a:r>
            <a:r>
              <a:rPr lang="zh-CN" altLang="en-US" dirty="0"/>
              <a:t>染色体在性别决定上所起的作用很重要，有</a:t>
            </a:r>
            <a:r>
              <a:rPr lang="en-US" altLang="zh-CN" dirty="0"/>
              <a:t>Y</a:t>
            </a:r>
            <a:r>
              <a:rPr lang="zh-CN" altLang="en-US" dirty="0"/>
              <a:t>染色体存在就有睾丸组织， </a:t>
            </a:r>
            <a:r>
              <a:rPr lang="en-US" altLang="zh-CN" b="1" dirty="0"/>
              <a:t>XO </a:t>
            </a:r>
            <a:r>
              <a:rPr lang="zh-CN" altLang="en-US" b="1" dirty="0"/>
              <a:t>个体是不育女性</a:t>
            </a:r>
            <a:r>
              <a:rPr lang="zh-CN" altLang="en-US" dirty="0"/>
              <a:t>；而在果蝇中，</a:t>
            </a:r>
            <a:r>
              <a:rPr lang="en-US" altLang="zh-CN" dirty="0"/>
              <a:t>Y </a:t>
            </a:r>
            <a:r>
              <a:rPr lang="zh-CN" altLang="en-US" dirty="0"/>
              <a:t>只跟育性有关，所以 </a:t>
            </a:r>
            <a:r>
              <a:rPr lang="en-US" altLang="zh-CN" b="1" dirty="0"/>
              <a:t>XO</a:t>
            </a:r>
            <a:r>
              <a:rPr lang="zh-CN" altLang="en-US" b="1" dirty="0"/>
              <a:t>个体是不育的雄蝇</a:t>
            </a:r>
            <a:r>
              <a:rPr lang="zh-CN" altLang="en-US" dirty="0"/>
              <a:t>。</a:t>
            </a:r>
          </a:p>
        </p:txBody>
      </p:sp>
      <p:pic>
        <p:nvPicPr>
          <p:cNvPr id="5" name="图片 4">
            <a:extLst>
              <a:ext uri="{FF2B5EF4-FFF2-40B4-BE49-F238E27FC236}">
                <a16:creationId xmlns:a16="http://schemas.microsoft.com/office/drawing/2014/main" id="{BF4D5B1E-7897-AC63-00AB-7B3CD59E6942}"/>
              </a:ext>
            </a:extLst>
          </p:cNvPr>
          <p:cNvPicPr>
            <a:picLocks noChangeAspect="1"/>
          </p:cNvPicPr>
          <p:nvPr/>
        </p:nvPicPr>
        <p:blipFill>
          <a:blip r:embed="rId2"/>
          <a:stretch>
            <a:fillRect/>
          </a:stretch>
        </p:blipFill>
        <p:spPr>
          <a:xfrm>
            <a:off x="270950" y="886358"/>
            <a:ext cx="11575453" cy="3029388"/>
          </a:xfrm>
          <a:prstGeom prst="rect">
            <a:avLst/>
          </a:prstGeom>
        </p:spPr>
      </p:pic>
    </p:spTree>
    <p:extLst>
      <p:ext uri="{BB962C8B-B14F-4D97-AF65-F5344CB8AC3E}">
        <p14:creationId xmlns:p14="http://schemas.microsoft.com/office/powerpoint/2010/main" val="2182544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371DDE3-E155-4F16-9F9E-C75CEEF2C9FC}"/>
              </a:ext>
            </a:extLst>
          </p:cNvPr>
          <p:cNvSpPr>
            <a:spLocks noGrp="1"/>
          </p:cNvSpPr>
          <p:nvPr>
            <p:ph sz="half" idx="1"/>
          </p:nvPr>
        </p:nvSpPr>
        <p:spPr>
          <a:xfrm>
            <a:off x="565150" y="1272028"/>
            <a:ext cx="11061699" cy="4817097"/>
          </a:xfrm>
        </p:spPr>
        <p:txBody>
          <a:bodyPr>
            <a:normAutofit/>
          </a:bodyPr>
          <a:lstStyle/>
          <a:p>
            <a:pPr>
              <a:lnSpc>
                <a:spcPct val="150000"/>
              </a:lnSpc>
            </a:pPr>
            <a:r>
              <a:rPr lang="zh-CN" altLang="en-US" b="1" dirty="0">
                <a:solidFill>
                  <a:schemeClr val="tx1"/>
                </a:solidFill>
              </a:rPr>
              <a:t>克兰费尔特综合征（</a:t>
            </a:r>
            <a:r>
              <a:rPr lang="en-US" altLang="zh-CN" b="1" dirty="0">
                <a:solidFill>
                  <a:schemeClr val="tx1"/>
                </a:solidFill>
              </a:rPr>
              <a:t>Klinefelter syndrome</a:t>
            </a:r>
            <a:r>
              <a:rPr lang="zh-CN" altLang="en-US" b="1" dirty="0">
                <a:solidFill>
                  <a:schemeClr val="tx1"/>
                </a:solidFill>
              </a:rPr>
              <a:t>）　</a:t>
            </a:r>
            <a:endParaRPr lang="en-US" altLang="zh-CN" b="1" dirty="0">
              <a:solidFill>
                <a:schemeClr val="tx1"/>
              </a:solidFill>
            </a:endParaRPr>
          </a:p>
          <a:p>
            <a:pPr lvl="1">
              <a:lnSpc>
                <a:spcPct val="150000"/>
              </a:lnSpc>
            </a:pPr>
            <a:r>
              <a:rPr lang="zh-CN" altLang="en-US" dirty="0"/>
              <a:t>又称先天性睾丸发育不全。性染色体组成是 </a:t>
            </a:r>
            <a:r>
              <a:rPr lang="en-US" altLang="zh-CN" b="1" dirty="0">
                <a:solidFill>
                  <a:srgbClr val="FF0000"/>
                </a:solidFill>
              </a:rPr>
              <a:t>XXY</a:t>
            </a:r>
            <a:r>
              <a:rPr lang="zh-CN" altLang="en-US" dirty="0"/>
              <a:t>，一般记作 </a:t>
            </a:r>
            <a:r>
              <a:rPr lang="en-US" altLang="zh-CN" dirty="0"/>
              <a:t>47</a:t>
            </a:r>
            <a:r>
              <a:rPr lang="zh-CN" altLang="en-US" dirty="0"/>
              <a:t>，</a:t>
            </a:r>
            <a:r>
              <a:rPr lang="en-US" altLang="zh-CN" dirty="0"/>
              <a:t>XXY</a:t>
            </a:r>
            <a:r>
              <a:rPr lang="zh-CN" altLang="en-US" dirty="0"/>
              <a:t>。</a:t>
            </a:r>
            <a:endParaRPr lang="en-US" altLang="zh-CN" dirty="0"/>
          </a:p>
          <a:p>
            <a:pPr>
              <a:lnSpc>
                <a:spcPct val="150000"/>
              </a:lnSpc>
            </a:pPr>
            <a:r>
              <a:rPr lang="en-US" altLang="zh-CN" b="1" dirty="0">
                <a:solidFill>
                  <a:schemeClr val="tx1"/>
                </a:solidFill>
              </a:rPr>
              <a:t>XYY </a:t>
            </a:r>
            <a:r>
              <a:rPr lang="zh-CN" altLang="en-US" b="1" dirty="0">
                <a:solidFill>
                  <a:schemeClr val="tx1"/>
                </a:solidFill>
              </a:rPr>
              <a:t>综合征（</a:t>
            </a:r>
            <a:r>
              <a:rPr lang="en-US" altLang="zh-CN" b="1" dirty="0">
                <a:solidFill>
                  <a:schemeClr val="tx1"/>
                </a:solidFill>
              </a:rPr>
              <a:t>XYY syndrome</a:t>
            </a:r>
            <a:r>
              <a:rPr lang="zh-CN" altLang="en-US" b="1" dirty="0">
                <a:solidFill>
                  <a:schemeClr val="tx1"/>
                </a:solidFill>
              </a:rPr>
              <a:t>）</a:t>
            </a:r>
            <a:endParaRPr lang="en-US" altLang="zh-CN" b="1" dirty="0">
              <a:solidFill>
                <a:schemeClr val="tx1"/>
              </a:solidFill>
            </a:endParaRPr>
          </a:p>
          <a:p>
            <a:pPr lvl="1">
              <a:lnSpc>
                <a:spcPct val="150000"/>
              </a:lnSpc>
            </a:pPr>
            <a:r>
              <a:rPr lang="zh-CN" altLang="en-US" dirty="0"/>
              <a:t>外貌男性，症状类似克兰费尔特综合征患者。性染色体组成是</a:t>
            </a:r>
            <a:r>
              <a:rPr lang="en-US" altLang="zh-CN" b="1" dirty="0">
                <a:solidFill>
                  <a:srgbClr val="FF0000"/>
                </a:solidFill>
              </a:rPr>
              <a:t>XYY</a:t>
            </a:r>
            <a:r>
              <a:rPr lang="zh-CN" altLang="en-US" dirty="0"/>
              <a:t>，一般记作 </a:t>
            </a:r>
            <a:r>
              <a:rPr lang="en-US" altLang="zh-CN" dirty="0"/>
              <a:t>47</a:t>
            </a:r>
            <a:r>
              <a:rPr lang="zh-CN" altLang="en-US" dirty="0"/>
              <a:t>，</a:t>
            </a:r>
            <a:r>
              <a:rPr lang="en-US" altLang="zh-CN" dirty="0"/>
              <a:t>XYY</a:t>
            </a:r>
            <a:r>
              <a:rPr lang="zh-CN" altLang="en-US" dirty="0"/>
              <a:t>。</a:t>
            </a:r>
            <a:endParaRPr lang="en-US" altLang="zh-CN" dirty="0"/>
          </a:p>
          <a:p>
            <a:pPr>
              <a:lnSpc>
                <a:spcPct val="150000"/>
              </a:lnSpc>
            </a:pPr>
            <a:r>
              <a:rPr lang="zh-CN" altLang="en-US" b="1">
                <a:solidFill>
                  <a:schemeClr val="tx1"/>
                </a:solidFill>
              </a:rPr>
              <a:t>特纳氏综合征</a:t>
            </a:r>
            <a:r>
              <a:rPr lang="zh-CN" altLang="en-US" b="1" dirty="0">
                <a:solidFill>
                  <a:schemeClr val="tx1"/>
                </a:solidFill>
              </a:rPr>
              <a:t>（</a:t>
            </a:r>
            <a:r>
              <a:rPr lang="en-US" altLang="zh-CN" b="1" dirty="0">
                <a:solidFill>
                  <a:schemeClr val="tx1"/>
                </a:solidFill>
              </a:rPr>
              <a:t>Turner syndrome</a:t>
            </a:r>
            <a:r>
              <a:rPr lang="zh-CN" altLang="en-US" b="1" dirty="0">
                <a:solidFill>
                  <a:schemeClr val="tx1"/>
                </a:solidFill>
              </a:rPr>
              <a:t>）　</a:t>
            </a:r>
            <a:endParaRPr lang="en-US" altLang="zh-CN" b="1" dirty="0">
              <a:solidFill>
                <a:schemeClr val="tx1"/>
              </a:solidFill>
            </a:endParaRPr>
          </a:p>
          <a:p>
            <a:pPr lvl="1">
              <a:lnSpc>
                <a:spcPct val="150000"/>
              </a:lnSpc>
            </a:pPr>
            <a:r>
              <a:rPr lang="zh-CN" altLang="en-US" dirty="0"/>
              <a:t>又称先天性卵巢发育不全。性染色体组成是 </a:t>
            </a:r>
            <a:r>
              <a:rPr lang="en-US" altLang="zh-CN" b="1" dirty="0">
                <a:solidFill>
                  <a:srgbClr val="FF0000"/>
                </a:solidFill>
              </a:rPr>
              <a:t>XO</a:t>
            </a:r>
            <a:r>
              <a:rPr lang="zh-CN" altLang="en-US" dirty="0"/>
              <a:t>，一般记作 </a:t>
            </a:r>
            <a:r>
              <a:rPr lang="en-US" altLang="zh-CN" dirty="0"/>
              <a:t>45</a:t>
            </a:r>
            <a:r>
              <a:rPr lang="zh-CN" altLang="en-US" dirty="0"/>
              <a:t>，</a:t>
            </a:r>
            <a:r>
              <a:rPr lang="en-US" altLang="zh-CN" dirty="0"/>
              <a:t>X</a:t>
            </a:r>
            <a:r>
              <a:rPr lang="zh-CN" altLang="en-US" dirty="0"/>
              <a:t>。</a:t>
            </a:r>
            <a:endParaRPr lang="en-US" altLang="zh-CN" dirty="0"/>
          </a:p>
        </p:txBody>
      </p:sp>
      <p:sp>
        <p:nvSpPr>
          <p:cNvPr id="4" name="灯片编号占位符 3">
            <a:extLst>
              <a:ext uri="{FF2B5EF4-FFF2-40B4-BE49-F238E27FC236}">
                <a16:creationId xmlns:a16="http://schemas.microsoft.com/office/drawing/2014/main" id="{921C1B1E-C6D1-4643-B653-72C8BC1936BF}"/>
              </a:ext>
            </a:extLst>
          </p:cNvPr>
          <p:cNvSpPr>
            <a:spLocks noGrp="1"/>
          </p:cNvSpPr>
          <p:nvPr>
            <p:ph type="sldNum" sz="quarter" idx="4294967295"/>
          </p:nvPr>
        </p:nvSpPr>
        <p:spPr>
          <a:xfrm>
            <a:off x="11353799" y="6356350"/>
            <a:ext cx="577363" cy="365125"/>
          </a:xfrm>
          <a:prstGeom prst="rect">
            <a:avLst/>
          </a:prstGeom>
        </p:spPr>
        <p:txBody>
          <a:bodyPr/>
          <a:lstStyle/>
          <a:p>
            <a:fld id="{D4751D38-C989-48BC-B1AB-387F6E8DCEB6}" type="slidenum">
              <a:rPr lang="zh-CN" altLang="en-US" smtClean="0"/>
              <a:pPr/>
              <a:t>19</a:t>
            </a:fld>
            <a:endParaRPr lang="zh-CN" altLang="en-US" dirty="0"/>
          </a:p>
        </p:txBody>
      </p:sp>
      <p:sp>
        <p:nvSpPr>
          <p:cNvPr id="5" name="标题 1">
            <a:extLst>
              <a:ext uri="{FF2B5EF4-FFF2-40B4-BE49-F238E27FC236}">
                <a16:creationId xmlns:a16="http://schemas.microsoft.com/office/drawing/2014/main" id="{B018BFA9-329A-4E63-99E1-A7AEA679C527}"/>
              </a:ext>
            </a:extLst>
          </p:cNvPr>
          <p:cNvSpPr>
            <a:spLocks noGrp="1"/>
          </p:cNvSpPr>
          <p:nvPr>
            <p:ph type="title"/>
          </p:nvPr>
        </p:nvSpPr>
        <p:spPr>
          <a:xfrm>
            <a:off x="565150" y="319088"/>
            <a:ext cx="10515600" cy="723900"/>
          </a:xfrm>
        </p:spPr>
        <p:txBody>
          <a:bodyPr vert="horz" lIns="91440" tIns="45720" rIns="91440" bIns="45720" rtlCol="0" anchor="ctr">
            <a:normAutofit/>
          </a:bodyPr>
          <a:lstStyle/>
          <a:p>
            <a:r>
              <a:rPr lang="zh-CN" altLang="en-US" sz="2800" b="1" dirty="0">
                <a:solidFill>
                  <a:srgbClr val="0000FF"/>
                </a:solidFill>
              </a:rPr>
              <a:t>一、几种性别畸形</a:t>
            </a:r>
          </a:p>
        </p:txBody>
      </p:sp>
    </p:spTree>
    <p:extLst>
      <p:ext uri="{BB962C8B-B14F-4D97-AF65-F5344CB8AC3E}">
        <p14:creationId xmlns:p14="http://schemas.microsoft.com/office/powerpoint/2010/main" val="2926642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26485" y="117382"/>
            <a:ext cx="10515600" cy="647767"/>
          </a:xfrm>
        </p:spPr>
        <p:txBody>
          <a:bodyPr vert="horz" lIns="91440" tIns="45720" rIns="91440" bIns="45720" rtlCol="0" anchor="ctr">
            <a:normAutofit/>
          </a:bodyPr>
          <a:lstStyle/>
          <a:p>
            <a:r>
              <a:rPr lang="zh-CN" altLang="en-US" sz="2800" dirty="0">
                <a:solidFill>
                  <a:srgbClr val="0000FF"/>
                </a:solidFill>
              </a:rPr>
              <a:t>二、遗传变异与人类性别决定</a:t>
            </a:r>
          </a:p>
        </p:txBody>
      </p:sp>
      <p:pic>
        <p:nvPicPr>
          <p:cNvPr id="5" name="内容占位符 4"/>
          <p:cNvPicPr>
            <a:picLocks noGrp="1" noChangeAspect="1"/>
          </p:cNvPicPr>
          <p:nvPr>
            <p:ph sz="half" idx="1"/>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108067" y="1933455"/>
            <a:ext cx="5888737" cy="3905753"/>
          </a:xfrm>
        </p:spPr>
      </p:pic>
      <p:sp>
        <p:nvSpPr>
          <p:cNvPr id="9" name="文本框 8">
            <a:extLst>
              <a:ext uri="{FF2B5EF4-FFF2-40B4-BE49-F238E27FC236}">
                <a16:creationId xmlns:a16="http://schemas.microsoft.com/office/drawing/2014/main" id="{111F3A11-9007-4637-8855-AA97E1756EA2}"/>
              </a:ext>
            </a:extLst>
          </p:cNvPr>
          <p:cNvSpPr txBox="1"/>
          <p:nvPr/>
        </p:nvSpPr>
        <p:spPr>
          <a:xfrm>
            <a:off x="384663" y="5810634"/>
            <a:ext cx="4992909" cy="338554"/>
          </a:xfrm>
          <a:prstGeom prst="rect">
            <a:avLst/>
          </a:prstGeom>
          <a:noFill/>
        </p:spPr>
        <p:txBody>
          <a:bodyPr wrap="square">
            <a:spAutoFit/>
          </a:bodyPr>
          <a:lstStyle>
            <a:defPPr>
              <a:defRPr lang="zh-CN"/>
            </a:defPPr>
            <a:lvl1pPr algn="ctr">
              <a:defRPr sz="1400">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sz="1600" b="1" dirty="0"/>
              <a:t>睾丸女性化的一个家系（周焕庚等，</a:t>
            </a:r>
            <a:r>
              <a:rPr lang="en-US" altLang="zh-CN" sz="1600" b="1" dirty="0"/>
              <a:t>1964</a:t>
            </a:r>
            <a:r>
              <a:rPr lang="zh-CN" altLang="en-US" sz="1600" b="1" dirty="0"/>
              <a:t>）</a:t>
            </a:r>
          </a:p>
        </p:txBody>
      </p:sp>
      <p:pic>
        <p:nvPicPr>
          <p:cNvPr id="6" name="内容占位符 2">
            <a:extLst>
              <a:ext uri="{FF2B5EF4-FFF2-40B4-BE49-F238E27FC236}">
                <a16:creationId xmlns:a16="http://schemas.microsoft.com/office/drawing/2014/main" id="{439C65E5-E527-4A17-8D27-2BAFF334F268}"/>
              </a:ext>
            </a:extLst>
          </p:cNvPr>
          <p:cNvPicPr>
            <a:picLocks noChangeAspect="1"/>
          </p:cNvPicPr>
          <p:nvPr/>
        </p:nvPicPr>
        <p:blipFill>
          <a:blip r:embed="rId4" cstate="print">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6081358" y="2857501"/>
            <a:ext cx="6069249" cy="2343150"/>
          </a:xfrm>
          <a:prstGeom prst="rect">
            <a:avLst/>
          </a:prstGeom>
        </p:spPr>
      </p:pic>
      <p:sp>
        <p:nvSpPr>
          <p:cNvPr id="7" name="文本框 6">
            <a:extLst>
              <a:ext uri="{FF2B5EF4-FFF2-40B4-BE49-F238E27FC236}">
                <a16:creationId xmlns:a16="http://schemas.microsoft.com/office/drawing/2014/main" id="{30957CCA-441E-416B-8424-7B1CB2604EEA}"/>
              </a:ext>
            </a:extLst>
          </p:cNvPr>
          <p:cNvSpPr txBox="1"/>
          <p:nvPr/>
        </p:nvSpPr>
        <p:spPr>
          <a:xfrm>
            <a:off x="6741890" y="5437356"/>
            <a:ext cx="4992909" cy="338554"/>
          </a:xfrm>
          <a:prstGeom prst="rect">
            <a:avLst/>
          </a:prstGeom>
          <a:noFill/>
        </p:spPr>
        <p:txBody>
          <a:bodyPr wrap="square">
            <a:spAutoFit/>
          </a:bodyPr>
          <a:lstStyle>
            <a:defPPr>
              <a:defRPr lang="zh-CN"/>
            </a:defPPr>
            <a:lvl1pPr algn="ctr">
              <a:defRPr sz="1600" b="1">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睾丸女性化基因携带者的遗传特点</a:t>
            </a:r>
          </a:p>
        </p:txBody>
      </p:sp>
      <p:sp>
        <p:nvSpPr>
          <p:cNvPr id="13" name="文本框 12">
            <a:extLst>
              <a:ext uri="{FF2B5EF4-FFF2-40B4-BE49-F238E27FC236}">
                <a16:creationId xmlns:a16="http://schemas.microsoft.com/office/drawing/2014/main" id="{69318186-B9C2-4655-A321-A0F4CFAB10E8}"/>
              </a:ext>
            </a:extLst>
          </p:cNvPr>
          <p:cNvSpPr txBox="1"/>
          <p:nvPr/>
        </p:nvSpPr>
        <p:spPr>
          <a:xfrm>
            <a:off x="565638" y="691200"/>
            <a:ext cx="10600821" cy="1200329"/>
          </a:xfrm>
          <a:prstGeom prst="rect">
            <a:avLst/>
          </a:prstGeom>
          <a:noFill/>
        </p:spPr>
        <p:txBody>
          <a:bodyPr wrap="square">
            <a:spAutoFit/>
          </a:bodyPr>
          <a:lstStyle/>
          <a:p>
            <a:pPr marL="285750" indent="-285750">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Y </a:t>
            </a:r>
            <a:r>
              <a:rPr lang="zh-CN" altLang="en-US" sz="2400" dirty="0">
                <a:latin typeface="微软雅黑" panose="020B0503020204020204" pitchFamily="34" charset="-122"/>
                <a:ea typeface="微软雅黑" panose="020B0503020204020204" pitchFamily="34" charset="-122"/>
              </a:rPr>
              <a:t>染色体虽有强烈的男性化作用，但它的作用也不是绝对的。</a:t>
            </a:r>
            <a:endParaRPr lang="en-US" altLang="zh-CN" sz="24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某些个体有 </a:t>
            </a:r>
            <a:r>
              <a:rPr lang="en-US" altLang="zh-CN" sz="2400" dirty="0">
                <a:latin typeface="微软雅黑" panose="020B0503020204020204" pitchFamily="34" charset="-122"/>
                <a:ea typeface="微软雅黑" panose="020B0503020204020204" pitchFamily="34" charset="-122"/>
              </a:rPr>
              <a:t>XY </a:t>
            </a:r>
            <a:r>
              <a:rPr lang="zh-CN" altLang="en-US" sz="2400" dirty="0">
                <a:latin typeface="微软雅黑" panose="020B0503020204020204" pitchFamily="34" charset="-122"/>
                <a:ea typeface="微软雅黑" panose="020B0503020204020204" pitchFamily="34" charset="-122"/>
              </a:rPr>
              <a:t>型性染色体组成，身体内有睾丸，可是外貌跟正常女性一样，像这样的“睾丸女性化”是基因突变的结果。</a:t>
            </a:r>
          </a:p>
        </p:txBody>
      </p:sp>
    </p:spTree>
    <p:extLst>
      <p:ext uri="{BB962C8B-B14F-4D97-AF65-F5344CB8AC3E}">
        <p14:creationId xmlns:p14="http://schemas.microsoft.com/office/powerpoint/2010/main" val="3721195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489438" y="2367545"/>
            <a:ext cx="10515600" cy="725121"/>
          </a:xfrm>
        </p:spPr>
        <p:txBody>
          <a:bodyPr vert="horz" lIns="91440" tIns="45720" rIns="91440" bIns="45720" rtlCol="0" anchor="ctr">
            <a:normAutofit/>
          </a:bodyPr>
          <a:lstStyle/>
          <a:p>
            <a:r>
              <a:rPr lang="zh-CN" altLang="en-US" sz="2800" dirty="0">
                <a:solidFill>
                  <a:srgbClr val="0000FF"/>
                </a:solidFill>
              </a:rPr>
              <a:t>一、果蝇的性指数</a:t>
            </a:r>
          </a:p>
        </p:txBody>
      </p:sp>
      <p:sp>
        <p:nvSpPr>
          <p:cNvPr id="4" name="灯片编号占位符 3"/>
          <p:cNvSpPr>
            <a:spLocks noGrp="1"/>
          </p:cNvSpPr>
          <p:nvPr>
            <p:ph type="sldNum" sz="quarter" idx="4294967295"/>
          </p:nvPr>
        </p:nvSpPr>
        <p:spPr>
          <a:xfrm>
            <a:off x="11353799" y="6356350"/>
            <a:ext cx="577363" cy="365125"/>
          </a:xfrm>
          <a:prstGeom prst="rect">
            <a:avLst/>
          </a:prstGeom>
        </p:spPr>
        <p:txBody>
          <a:bodyPr/>
          <a:lstStyle/>
          <a:p>
            <a:fld id="{D4751D38-C989-48BC-B1AB-387F6E8DCEB6}" type="slidenum">
              <a:rPr lang="zh-CN" altLang="en-US" smtClean="0"/>
              <a:pPr/>
              <a:t>21</a:t>
            </a:fld>
            <a:endParaRPr lang="zh-CN" altLang="en-US" dirty="0"/>
          </a:p>
        </p:txBody>
      </p:sp>
      <p:sp>
        <p:nvSpPr>
          <p:cNvPr id="7" name="内容占位符 6"/>
          <p:cNvSpPr>
            <a:spLocks noGrp="1"/>
          </p:cNvSpPr>
          <p:nvPr>
            <p:ph sz="half" idx="1"/>
          </p:nvPr>
        </p:nvSpPr>
        <p:spPr>
          <a:xfrm>
            <a:off x="0" y="3105377"/>
            <a:ext cx="6278251" cy="2133374"/>
          </a:xfrm>
        </p:spPr>
        <p:txBody>
          <a:bodyPr>
            <a:normAutofit/>
          </a:bodyPr>
          <a:lstStyle/>
          <a:p>
            <a:pPr lvl="1">
              <a:lnSpc>
                <a:spcPct val="150000"/>
              </a:lnSpc>
            </a:pPr>
            <a:r>
              <a:rPr lang="en-US" altLang="zh-CN" dirty="0"/>
              <a:t>1932 </a:t>
            </a:r>
            <a:r>
              <a:rPr lang="zh-CN" altLang="en-US" dirty="0"/>
              <a:t>年， 布里奇斯进一步揭示果蝇的性别是由早期胚胎的</a:t>
            </a:r>
            <a:r>
              <a:rPr lang="zh-CN" altLang="en-US" b="1" dirty="0">
                <a:solidFill>
                  <a:srgbClr val="FF0000"/>
                </a:solidFill>
              </a:rPr>
              <a:t>性指数（</a:t>
            </a:r>
            <a:r>
              <a:rPr lang="en-US" altLang="zh-CN" b="1" dirty="0">
                <a:solidFill>
                  <a:srgbClr val="FF0000"/>
                </a:solidFill>
              </a:rPr>
              <a:t>sex index</a:t>
            </a:r>
            <a:r>
              <a:rPr lang="zh-CN" altLang="en-US" b="1" dirty="0">
                <a:solidFill>
                  <a:srgbClr val="FF0000"/>
                </a:solidFill>
              </a:rPr>
              <a:t>）</a:t>
            </a:r>
            <a:r>
              <a:rPr lang="zh-CN" altLang="en-US" dirty="0"/>
              <a:t>所决定的，</a:t>
            </a:r>
            <a:r>
              <a:rPr lang="zh-CN" altLang="en-US" b="1" dirty="0"/>
              <a:t>即</a:t>
            </a:r>
            <a:r>
              <a:rPr lang="en-US" altLang="zh-CN" b="1" dirty="0"/>
              <a:t>X </a:t>
            </a:r>
            <a:r>
              <a:rPr lang="zh-CN" altLang="en-US" b="1" dirty="0"/>
              <a:t>染色体的数目与常染色体组数的比例（</a:t>
            </a:r>
            <a:r>
              <a:rPr lang="en-US" altLang="zh-CN" b="1" dirty="0"/>
              <a:t>X∶A</a:t>
            </a:r>
            <a:r>
              <a:rPr lang="zh-CN" altLang="en-US" b="1" dirty="0"/>
              <a:t>）</a:t>
            </a:r>
            <a:r>
              <a:rPr lang="zh-CN" altLang="en-US" dirty="0"/>
              <a:t>。</a:t>
            </a:r>
            <a:r>
              <a:rPr lang="en-US" altLang="zh-CN" dirty="0"/>
              <a:t>Y </a:t>
            </a:r>
            <a:r>
              <a:rPr lang="zh-CN" altLang="en-US" dirty="0"/>
              <a:t>染色体只决定雄蝇的可育性。</a:t>
            </a:r>
          </a:p>
        </p:txBody>
      </p:sp>
      <p:sp>
        <p:nvSpPr>
          <p:cNvPr id="9" name="文本框 8">
            <a:extLst>
              <a:ext uri="{FF2B5EF4-FFF2-40B4-BE49-F238E27FC236}">
                <a16:creationId xmlns:a16="http://schemas.microsoft.com/office/drawing/2014/main" id="{7311F665-6486-43F0-A1E3-9E80FCB637BD}"/>
              </a:ext>
            </a:extLst>
          </p:cNvPr>
          <p:cNvSpPr txBox="1"/>
          <p:nvPr/>
        </p:nvSpPr>
        <p:spPr>
          <a:xfrm>
            <a:off x="565637" y="140209"/>
            <a:ext cx="6094428" cy="535531"/>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200" b="1">
                <a:solidFill>
                  <a:srgbClr val="0000FF"/>
                </a:solidFill>
                <a:latin typeface="微软雅黑" panose="020B0503020204020204" pitchFamily="34" charset="-122"/>
                <a:ea typeface="微软雅黑" panose="020B0503020204020204" pitchFamily="34" charset="-122"/>
                <a:cs typeface="+mj-cs"/>
              </a:defRPr>
            </a:lvl1pPr>
          </a:lstStyle>
          <a:p>
            <a:r>
              <a:rPr lang="zh-CN" altLang="en-US" dirty="0"/>
              <a:t>第六节　基因与性指数</a:t>
            </a:r>
          </a:p>
        </p:txBody>
      </p:sp>
      <p:sp>
        <p:nvSpPr>
          <p:cNvPr id="10" name="文本框 9">
            <a:extLst>
              <a:ext uri="{FF2B5EF4-FFF2-40B4-BE49-F238E27FC236}">
                <a16:creationId xmlns:a16="http://schemas.microsoft.com/office/drawing/2014/main" id="{63EA1D8E-35C4-4AB9-97C2-BCCD45C12F71}"/>
              </a:ext>
            </a:extLst>
          </p:cNvPr>
          <p:cNvSpPr txBox="1"/>
          <p:nvPr/>
        </p:nvSpPr>
        <p:spPr>
          <a:xfrm>
            <a:off x="375137" y="772955"/>
            <a:ext cx="11483487" cy="1422762"/>
          </a:xfrm>
          <a:prstGeom prst="rect">
            <a:avLst/>
          </a:prstGeom>
          <a:noFill/>
        </p:spPr>
        <p:txBody>
          <a:bodyPr wrap="square">
            <a:spAutoFit/>
          </a:bodyPr>
          <a:lstStyle>
            <a:defPPr>
              <a:defRPr lang="zh-CN"/>
            </a:defPPr>
            <a:lvl1pPr marL="285750" indent="-285750">
              <a:lnSpc>
                <a:spcPct val="150000"/>
              </a:lnSpc>
              <a:buFont typeface="Wingdings" panose="05000000000000000000" pitchFamily="2" charset="2"/>
              <a:buChar char="Ø"/>
              <a:defRPr sz="2000">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由染色体决定的性别发育实际上是一系列性别相关基因调控的发育过程，环境因素可以通过影响这些性别相关基因的表达或相互作用从而实现对性别发育的调控。</a:t>
            </a:r>
            <a:endParaRPr lang="en-US" altLang="zh-CN" dirty="0"/>
          </a:p>
          <a:p>
            <a:r>
              <a:rPr lang="zh-CN" altLang="en-US" dirty="0"/>
              <a:t>性别相关基因不仅位于性染色体上，</a:t>
            </a:r>
            <a:r>
              <a:rPr lang="zh-CN" altLang="en-US" b="1" dirty="0"/>
              <a:t>常染色体上也有影响性别发育的关键基因</a:t>
            </a:r>
            <a:r>
              <a:rPr lang="zh-CN" altLang="en-US" dirty="0"/>
              <a:t>。</a:t>
            </a:r>
          </a:p>
        </p:txBody>
      </p:sp>
      <p:graphicFrame>
        <p:nvGraphicFramePr>
          <p:cNvPr id="11" name="表格 2">
            <a:extLst>
              <a:ext uri="{FF2B5EF4-FFF2-40B4-BE49-F238E27FC236}">
                <a16:creationId xmlns:a16="http://schemas.microsoft.com/office/drawing/2014/main" id="{2FC0D67A-C9AE-48F8-9087-0A1361D643F7}"/>
              </a:ext>
            </a:extLst>
          </p:cNvPr>
          <p:cNvGraphicFramePr>
            <a:graphicFrameLocks noGrp="1"/>
          </p:cNvGraphicFramePr>
          <p:nvPr>
            <p:extLst>
              <p:ext uri="{D42A27DB-BD31-4B8C-83A1-F6EECF244321}">
                <p14:modId xmlns:p14="http://schemas.microsoft.com/office/powerpoint/2010/main" val="852026326"/>
              </p:ext>
            </p:extLst>
          </p:nvPr>
        </p:nvGraphicFramePr>
        <p:xfrm>
          <a:off x="6196271" y="2661090"/>
          <a:ext cx="5734891" cy="3092012"/>
        </p:xfrm>
        <a:graphic>
          <a:graphicData uri="http://schemas.openxmlformats.org/drawingml/2006/table">
            <a:tbl>
              <a:tblPr firstRow="1" bandRow="1">
                <a:tableStyleId>{7DF18680-E054-41AD-8BC1-D1AEF772440D}</a:tableStyleId>
              </a:tblPr>
              <a:tblGrid>
                <a:gridCol w="1915616">
                  <a:extLst>
                    <a:ext uri="{9D8B030D-6E8A-4147-A177-3AD203B41FA5}">
                      <a16:colId xmlns:a16="http://schemas.microsoft.com/office/drawing/2014/main" val="2228313140"/>
                    </a:ext>
                  </a:extLst>
                </a:gridCol>
                <a:gridCol w="3819275">
                  <a:extLst>
                    <a:ext uri="{9D8B030D-6E8A-4147-A177-3AD203B41FA5}">
                      <a16:colId xmlns:a16="http://schemas.microsoft.com/office/drawing/2014/main" val="372641423"/>
                    </a:ext>
                  </a:extLst>
                </a:gridCol>
              </a:tblGrid>
              <a:tr h="534082">
                <a:tc>
                  <a:txBody>
                    <a:bodyPr/>
                    <a:lstStyle/>
                    <a:p>
                      <a:r>
                        <a:rPr lang="en-US" altLang="zh-CN" dirty="0">
                          <a:solidFill>
                            <a:schemeClr val="bg1"/>
                          </a:solidFill>
                        </a:rPr>
                        <a:t>X/A ratio</a:t>
                      </a:r>
                      <a:endParaRPr lang="zh-CN" altLang="en-US" dirty="0">
                        <a:solidFill>
                          <a:schemeClr val="bg1"/>
                        </a:solidFill>
                      </a:endParaRPr>
                    </a:p>
                  </a:txBody>
                  <a:tcPr>
                    <a:solidFill>
                      <a:srgbClr val="3A5991"/>
                    </a:solidFill>
                  </a:tcPr>
                </a:tc>
                <a:tc>
                  <a:txBody>
                    <a:bodyPr/>
                    <a:lstStyle/>
                    <a:p>
                      <a:r>
                        <a:rPr lang="en-US" altLang="zh-CN" dirty="0">
                          <a:solidFill>
                            <a:schemeClr val="bg1"/>
                          </a:solidFill>
                        </a:rPr>
                        <a:t>Sex</a:t>
                      </a:r>
                      <a:endParaRPr lang="zh-CN" altLang="en-US" dirty="0">
                        <a:solidFill>
                          <a:schemeClr val="bg1"/>
                        </a:solidFill>
                      </a:endParaRPr>
                    </a:p>
                  </a:txBody>
                  <a:tcPr>
                    <a:solidFill>
                      <a:srgbClr val="3A5991"/>
                    </a:solidFill>
                  </a:tcPr>
                </a:tc>
                <a:extLst>
                  <a:ext uri="{0D108BD9-81ED-4DB2-BD59-A6C34878D82A}">
                    <a16:rowId xmlns:a16="http://schemas.microsoft.com/office/drawing/2014/main" val="442211501"/>
                  </a:ext>
                </a:extLst>
              </a:tr>
              <a:tr h="534082">
                <a:tc>
                  <a:txBody>
                    <a:bodyPr/>
                    <a:lstStyle/>
                    <a:p>
                      <a:r>
                        <a:rPr lang="en-US" altLang="zh-CN" dirty="0"/>
                        <a:t>&gt; 1.0</a:t>
                      </a:r>
                      <a:endParaRPr lang="zh-CN" altLang="en-US" dirty="0"/>
                    </a:p>
                  </a:txBody>
                  <a:tcPr/>
                </a:tc>
                <a:tc>
                  <a:txBody>
                    <a:bodyPr/>
                    <a:lstStyle/>
                    <a:p>
                      <a:r>
                        <a:rPr lang="en-US" altLang="zh-CN" dirty="0"/>
                        <a:t>Superfemale (sterile)</a:t>
                      </a:r>
                      <a:endParaRPr lang="zh-CN" altLang="en-US" dirty="0"/>
                    </a:p>
                  </a:txBody>
                  <a:tcPr/>
                </a:tc>
                <a:extLst>
                  <a:ext uri="{0D108BD9-81ED-4DB2-BD59-A6C34878D82A}">
                    <a16:rowId xmlns:a16="http://schemas.microsoft.com/office/drawing/2014/main" val="216654311"/>
                  </a:ext>
                </a:extLst>
              </a:tr>
              <a:tr h="534082">
                <a:tc>
                  <a:txBody>
                    <a:bodyPr/>
                    <a:lstStyle/>
                    <a:p>
                      <a:r>
                        <a:rPr lang="en-US" altLang="zh-CN" dirty="0"/>
                        <a:t>1.0</a:t>
                      </a:r>
                      <a:endParaRPr lang="zh-CN" altLang="en-US" dirty="0"/>
                    </a:p>
                  </a:txBody>
                  <a:tcPr/>
                </a:tc>
                <a:tc>
                  <a:txBody>
                    <a:bodyPr/>
                    <a:lstStyle/>
                    <a:p>
                      <a:r>
                        <a:rPr lang="en-US" altLang="zh-CN" dirty="0"/>
                        <a:t>Female</a:t>
                      </a:r>
                      <a:endParaRPr lang="zh-CN" altLang="en-US" dirty="0"/>
                    </a:p>
                  </a:txBody>
                  <a:tcPr/>
                </a:tc>
                <a:extLst>
                  <a:ext uri="{0D108BD9-81ED-4DB2-BD59-A6C34878D82A}">
                    <a16:rowId xmlns:a16="http://schemas.microsoft.com/office/drawing/2014/main" val="1477468352"/>
                  </a:ext>
                </a:extLst>
              </a:tr>
              <a:tr h="534082">
                <a:tc>
                  <a:txBody>
                    <a:bodyPr/>
                    <a:lstStyle/>
                    <a:p>
                      <a:r>
                        <a:rPr lang="en-US" altLang="zh-CN" dirty="0"/>
                        <a:t>1.0-0.5</a:t>
                      </a:r>
                      <a:endParaRPr lang="zh-CN" altLang="en-US" dirty="0"/>
                    </a:p>
                  </a:txBody>
                  <a:tcPr/>
                </a:tc>
                <a:tc>
                  <a:txBody>
                    <a:bodyPr/>
                    <a:lstStyle/>
                    <a:p>
                      <a:r>
                        <a:rPr lang="en-US" altLang="zh-CN" dirty="0"/>
                        <a:t>Intersex (sterile)</a:t>
                      </a:r>
                      <a:endParaRPr lang="zh-CN" altLang="en-US" dirty="0"/>
                    </a:p>
                  </a:txBody>
                  <a:tcPr/>
                </a:tc>
                <a:extLst>
                  <a:ext uri="{0D108BD9-81ED-4DB2-BD59-A6C34878D82A}">
                    <a16:rowId xmlns:a16="http://schemas.microsoft.com/office/drawing/2014/main" val="1279936248"/>
                  </a:ext>
                </a:extLst>
              </a:tr>
              <a:tr h="421602">
                <a:tc>
                  <a:txBody>
                    <a:bodyPr/>
                    <a:lstStyle/>
                    <a:p>
                      <a:r>
                        <a:rPr lang="en-US" altLang="zh-CN" dirty="0"/>
                        <a:t>0.5</a:t>
                      </a:r>
                      <a:endParaRPr lang="zh-CN" altLang="en-US" dirty="0"/>
                    </a:p>
                  </a:txBody>
                  <a:tcPr/>
                </a:tc>
                <a:tc>
                  <a:txBody>
                    <a:bodyPr/>
                    <a:lstStyle/>
                    <a:p>
                      <a:r>
                        <a:rPr lang="en-US" altLang="zh-CN" dirty="0"/>
                        <a:t>Male</a:t>
                      </a:r>
                      <a:endParaRPr lang="zh-CN" altLang="en-US" dirty="0"/>
                    </a:p>
                  </a:txBody>
                  <a:tcPr/>
                </a:tc>
                <a:extLst>
                  <a:ext uri="{0D108BD9-81ED-4DB2-BD59-A6C34878D82A}">
                    <a16:rowId xmlns:a16="http://schemas.microsoft.com/office/drawing/2014/main" val="281254657"/>
                  </a:ext>
                </a:extLst>
              </a:tr>
              <a:tr h="534082">
                <a:tc>
                  <a:txBody>
                    <a:bodyPr/>
                    <a:lstStyle/>
                    <a:p>
                      <a:r>
                        <a:rPr lang="en-US" altLang="zh-CN" dirty="0"/>
                        <a:t>&lt; 0.5</a:t>
                      </a:r>
                      <a:endParaRPr lang="zh-CN" altLang="en-US" dirty="0"/>
                    </a:p>
                  </a:txBody>
                  <a:tcPr/>
                </a:tc>
                <a:tc>
                  <a:txBody>
                    <a:bodyPr/>
                    <a:lstStyle/>
                    <a:p>
                      <a:r>
                        <a:rPr lang="en-US" altLang="zh-CN" dirty="0"/>
                        <a:t>Supermale (sterile)</a:t>
                      </a:r>
                      <a:endParaRPr lang="zh-CN" altLang="en-US" dirty="0"/>
                    </a:p>
                  </a:txBody>
                  <a:tcPr/>
                </a:tc>
                <a:extLst>
                  <a:ext uri="{0D108BD9-81ED-4DB2-BD59-A6C34878D82A}">
                    <a16:rowId xmlns:a16="http://schemas.microsoft.com/office/drawing/2014/main" val="49960515"/>
                  </a:ext>
                </a:extLst>
              </a:tr>
            </a:tbl>
          </a:graphicData>
        </a:graphic>
      </p:graphicFrame>
    </p:spTree>
    <p:extLst>
      <p:ext uri="{BB962C8B-B14F-4D97-AF65-F5344CB8AC3E}">
        <p14:creationId xmlns:p14="http://schemas.microsoft.com/office/powerpoint/2010/main" val="934575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11353799" y="6356350"/>
            <a:ext cx="577363" cy="365125"/>
          </a:xfrm>
          <a:prstGeom prst="rect">
            <a:avLst/>
          </a:prstGeom>
        </p:spPr>
        <p:txBody>
          <a:bodyPr/>
          <a:lstStyle/>
          <a:p>
            <a:fld id="{D4751D38-C989-48BC-B1AB-387F6E8DCEB6}" type="slidenum">
              <a:rPr lang="zh-CN" altLang="en-US" smtClean="0"/>
              <a:pPr/>
              <a:t>22</a:t>
            </a:fld>
            <a:endParaRPr lang="zh-CN" altLang="en-US" dirty="0"/>
          </a:p>
        </p:txBody>
      </p:sp>
      <p:sp>
        <p:nvSpPr>
          <p:cNvPr id="6" name="文本框 5">
            <a:extLst>
              <a:ext uri="{FF2B5EF4-FFF2-40B4-BE49-F238E27FC236}">
                <a16:creationId xmlns:a16="http://schemas.microsoft.com/office/drawing/2014/main" id="{111F3A11-9007-4637-8855-AA97E1756EA2}"/>
              </a:ext>
            </a:extLst>
          </p:cNvPr>
          <p:cNvSpPr txBox="1"/>
          <p:nvPr/>
        </p:nvSpPr>
        <p:spPr>
          <a:xfrm>
            <a:off x="7684377" y="5987018"/>
            <a:ext cx="2961426" cy="369332"/>
          </a:xfrm>
          <a:prstGeom prst="rect">
            <a:avLst/>
          </a:prstGeom>
          <a:noFill/>
        </p:spPr>
        <p:txBody>
          <a:bodyPr wrap="square">
            <a:spAutoFit/>
          </a:bodyPr>
          <a:lstStyle>
            <a:defPPr>
              <a:defRPr lang="zh-CN"/>
            </a:defPPr>
            <a:lvl1pPr algn="ctr">
              <a:defRPr sz="1400">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sz="1800" b="1" dirty="0"/>
              <a:t>果蝇的性别决定途径</a:t>
            </a:r>
          </a:p>
        </p:txBody>
      </p:sp>
      <p:sp>
        <p:nvSpPr>
          <p:cNvPr id="7" name="内容占位符 6"/>
          <p:cNvSpPr>
            <a:spLocks noGrp="1"/>
          </p:cNvSpPr>
          <p:nvPr>
            <p:ph sz="half" idx="1"/>
          </p:nvPr>
        </p:nvSpPr>
        <p:spPr>
          <a:xfrm>
            <a:off x="518079" y="1194297"/>
            <a:ext cx="6393084" cy="3541260"/>
          </a:xfrm>
        </p:spPr>
        <p:txBody>
          <a:bodyPr>
            <a:normAutofit/>
          </a:bodyPr>
          <a:lstStyle/>
          <a:p>
            <a:pPr marL="571500" lvl="1" indent="-342900">
              <a:lnSpc>
                <a:spcPct val="120000"/>
              </a:lnSpc>
            </a:pPr>
            <a:r>
              <a:rPr lang="en-US" altLang="zh-CN" sz="2800" dirty="0"/>
              <a:t>X∶A </a:t>
            </a:r>
            <a:r>
              <a:rPr lang="zh-CN" altLang="en-US" sz="2800" dirty="0"/>
              <a:t>比值调控果蝇性别发育的分子机制：一系列性别相关基因共同调控，级联作用的结果。</a:t>
            </a:r>
            <a:endParaRPr lang="en-US" altLang="zh-CN" sz="2800" dirty="0"/>
          </a:p>
          <a:p>
            <a:pPr marL="571500" lvl="1" indent="-342900">
              <a:lnSpc>
                <a:spcPct val="120000"/>
              </a:lnSpc>
            </a:pPr>
            <a:r>
              <a:rPr lang="en-US" altLang="zh-CN" sz="2800" dirty="0"/>
              <a:t>X∶A </a:t>
            </a:r>
            <a:r>
              <a:rPr lang="zh-CN" altLang="en-US" sz="2800" dirty="0"/>
              <a:t>的比值决定了 </a:t>
            </a:r>
            <a:r>
              <a:rPr lang="en-US" altLang="zh-CN" sz="2800" dirty="0"/>
              <a:t>X </a:t>
            </a:r>
            <a:r>
              <a:rPr lang="zh-CN" altLang="en-US" sz="2800" dirty="0"/>
              <a:t>染色体连锁基因产物和常染色体基因产物之间的相对丰度</a:t>
            </a:r>
            <a:endParaRPr lang="en-US" altLang="zh-CN" sz="2800" dirty="0"/>
          </a:p>
          <a:p>
            <a:pPr marL="571500" lvl="1" indent="-342900">
              <a:lnSpc>
                <a:spcPct val="120000"/>
              </a:lnSpc>
            </a:pPr>
            <a:endParaRPr lang="en-US" altLang="zh-CN" sz="1800" dirty="0"/>
          </a:p>
        </p:txBody>
      </p:sp>
      <p:pic>
        <p:nvPicPr>
          <p:cNvPr id="8" name="内容占位符 4"/>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7473401" y="109809"/>
            <a:ext cx="3599932" cy="5710237"/>
          </a:xfrm>
          <a:prstGeom prst="rect">
            <a:avLst/>
          </a:prstGeom>
        </p:spPr>
      </p:pic>
    </p:spTree>
    <p:extLst>
      <p:ext uri="{BB962C8B-B14F-4D97-AF65-F5344CB8AC3E}">
        <p14:creationId xmlns:p14="http://schemas.microsoft.com/office/powerpoint/2010/main" val="40937297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240059" y="65923"/>
            <a:ext cx="10515600" cy="725121"/>
          </a:xfrm>
        </p:spPr>
        <p:txBody>
          <a:bodyPr vert="horz" lIns="91440" tIns="45720" rIns="91440" bIns="45720" rtlCol="0" anchor="ctr">
            <a:normAutofit/>
          </a:bodyPr>
          <a:lstStyle/>
          <a:p>
            <a:r>
              <a:rPr lang="zh-CN" altLang="en-US" sz="2800" dirty="0">
                <a:solidFill>
                  <a:srgbClr val="0000FF"/>
                </a:solidFill>
              </a:rPr>
              <a:t>二、 人类的睾丸决定因子</a:t>
            </a:r>
          </a:p>
        </p:txBody>
      </p:sp>
      <p:pic>
        <p:nvPicPr>
          <p:cNvPr id="5" name="内容占位符 4"/>
          <p:cNvPicPr>
            <a:picLocks noGrp="1" noChangeAspect="1"/>
          </p:cNvPicPr>
          <p:nvPr>
            <p:ph sz="half" idx="1"/>
          </p:nvPr>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1978971" y="2954860"/>
            <a:ext cx="7037776" cy="3584052"/>
          </a:xfrm>
        </p:spPr>
      </p:pic>
      <p:sp>
        <p:nvSpPr>
          <p:cNvPr id="4" name="灯片编号占位符 3"/>
          <p:cNvSpPr>
            <a:spLocks noGrp="1"/>
          </p:cNvSpPr>
          <p:nvPr>
            <p:ph type="sldNum" sz="quarter" idx="4294967295"/>
          </p:nvPr>
        </p:nvSpPr>
        <p:spPr>
          <a:xfrm>
            <a:off x="11353799" y="6356350"/>
            <a:ext cx="577363" cy="365125"/>
          </a:xfrm>
          <a:prstGeom prst="rect">
            <a:avLst/>
          </a:prstGeom>
        </p:spPr>
        <p:txBody>
          <a:bodyPr/>
          <a:lstStyle/>
          <a:p>
            <a:fld id="{D4751D38-C989-48BC-B1AB-387F6E8DCEB6}" type="slidenum">
              <a:rPr lang="zh-CN" altLang="en-US" smtClean="0"/>
              <a:pPr/>
              <a:t>23</a:t>
            </a:fld>
            <a:endParaRPr lang="zh-CN" altLang="en-US" dirty="0"/>
          </a:p>
        </p:txBody>
      </p:sp>
      <p:sp>
        <p:nvSpPr>
          <p:cNvPr id="8" name="文本框 7">
            <a:extLst>
              <a:ext uri="{FF2B5EF4-FFF2-40B4-BE49-F238E27FC236}">
                <a16:creationId xmlns:a16="http://schemas.microsoft.com/office/drawing/2014/main" id="{2BAD9883-D7C4-4FDC-974A-ED4E26906B91}"/>
              </a:ext>
            </a:extLst>
          </p:cNvPr>
          <p:cNvSpPr txBox="1"/>
          <p:nvPr/>
        </p:nvSpPr>
        <p:spPr>
          <a:xfrm>
            <a:off x="240059" y="681036"/>
            <a:ext cx="11519550" cy="2242858"/>
          </a:xfrm>
          <a:prstGeom prst="rect">
            <a:avLst/>
          </a:prstGeom>
          <a:noFill/>
        </p:spPr>
        <p:txBody>
          <a:bodyPr wrap="square">
            <a:spAutoFit/>
          </a:bodyPr>
          <a:lstStyle>
            <a:defPPr>
              <a:defRPr lang="zh-CN"/>
            </a:defPPr>
            <a:lvl1pPr marL="285750" indent="-285750">
              <a:lnSpc>
                <a:spcPct val="150000"/>
              </a:lnSpc>
              <a:buFont typeface="Wingdings" panose="05000000000000000000" pitchFamily="2" charset="2"/>
              <a:buChar char="Ø"/>
              <a:defRPr sz="2000">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sz="2400" b="1" dirty="0"/>
              <a:t>哺乳动物的性别决定分为</a:t>
            </a:r>
            <a:r>
              <a:rPr lang="zh-CN" altLang="en-US" sz="2400" b="1" dirty="0">
                <a:solidFill>
                  <a:srgbClr val="FF0000"/>
                </a:solidFill>
              </a:rPr>
              <a:t>初级性别决定</a:t>
            </a:r>
            <a:r>
              <a:rPr lang="zh-CN" altLang="en-US" sz="2400" b="1" dirty="0"/>
              <a:t>和</a:t>
            </a:r>
            <a:r>
              <a:rPr lang="zh-CN" altLang="en-US" sz="2400" b="1" dirty="0">
                <a:solidFill>
                  <a:srgbClr val="FF0000"/>
                </a:solidFill>
              </a:rPr>
              <a:t>次级性别决定 </a:t>
            </a:r>
            <a:r>
              <a:rPr lang="zh-CN" altLang="en-US" sz="2400" b="1" dirty="0"/>
              <a:t>前者是性腺的发育，后者是性腺以外的第二性征的发育，受性腺分泌的激素所调控。</a:t>
            </a:r>
            <a:endParaRPr lang="en-US" altLang="zh-CN" sz="2400" b="1" dirty="0"/>
          </a:p>
          <a:p>
            <a:r>
              <a:rPr lang="en-US" altLang="zh-CN" sz="2400" b="1" dirty="0"/>
              <a:t>1990 </a:t>
            </a:r>
            <a:r>
              <a:rPr lang="zh-CN" altLang="en-US" sz="2400" b="1" dirty="0"/>
              <a:t>年，研究者从 </a:t>
            </a:r>
            <a:r>
              <a:rPr lang="en-US" altLang="zh-CN" sz="2400" b="1" dirty="0"/>
              <a:t>35 kb </a:t>
            </a:r>
            <a:r>
              <a:rPr lang="zh-CN" altLang="en-US" sz="2400" b="1" dirty="0"/>
              <a:t>的 </a:t>
            </a:r>
            <a:r>
              <a:rPr lang="en-US" altLang="zh-CN" sz="2400" b="1" dirty="0"/>
              <a:t>Y </a:t>
            </a:r>
            <a:r>
              <a:rPr lang="zh-CN" altLang="en-US" sz="2400" b="1" dirty="0"/>
              <a:t>染色体区域中分离出了编码 睾丸决定因子的候选基因，称为 </a:t>
            </a:r>
            <a:r>
              <a:rPr lang="en-US" altLang="zh-CN" sz="2400" b="1" dirty="0">
                <a:solidFill>
                  <a:srgbClr val="FF0000"/>
                </a:solidFill>
              </a:rPr>
              <a:t>Y </a:t>
            </a:r>
            <a:r>
              <a:rPr lang="zh-CN" altLang="en-US" sz="2400" b="1" dirty="0">
                <a:solidFill>
                  <a:srgbClr val="FF0000"/>
                </a:solidFill>
              </a:rPr>
              <a:t>染色体性别决定区（</a:t>
            </a:r>
            <a:r>
              <a:rPr lang="en-US" altLang="zh-CN" sz="2400" b="1" dirty="0">
                <a:solidFill>
                  <a:srgbClr val="FF0000"/>
                </a:solidFill>
              </a:rPr>
              <a:t>sex-determining region of Y</a:t>
            </a:r>
            <a:r>
              <a:rPr lang="zh-CN" altLang="en-US" sz="2400" b="1" dirty="0">
                <a:solidFill>
                  <a:srgbClr val="FF0000"/>
                </a:solidFill>
              </a:rPr>
              <a:t>，</a:t>
            </a:r>
            <a:r>
              <a:rPr lang="en-US" altLang="zh-CN" sz="2400" b="1" dirty="0">
                <a:solidFill>
                  <a:srgbClr val="FF0000"/>
                </a:solidFill>
              </a:rPr>
              <a:t>SRY</a:t>
            </a:r>
            <a:r>
              <a:rPr lang="zh-CN" altLang="en-US" sz="2400" b="1" dirty="0">
                <a:solidFill>
                  <a:srgbClr val="FF0000"/>
                </a:solidFill>
              </a:rPr>
              <a:t>）</a:t>
            </a:r>
            <a:r>
              <a:rPr lang="zh-CN" altLang="en-US" sz="2400" b="1" dirty="0"/>
              <a:t>。</a:t>
            </a:r>
          </a:p>
        </p:txBody>
      </p:sp>
    </p:spTree>
    <p:extLst>
      <p:ext uri="{BB962C8B-B14F-4D97-AF65-F5344CB8AC3E}">
        <p14:creationId xmlns:p14="http://schemas.microsoft.com/office/powerpoint/2010/main" val="3993141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2"/>
          <p:cNvSpPr>
            <a:spLocks noGrp="1"/>
          </p:cNvSpPr>
          <p:nvPr>
            <p:ph type="title"/>
          </p:nvPr>
        </p:nvSpPr>
        <p:spPr>
          <a:xfrm>
            <a:off x="274675" y="85024"/>
            <a:ext cx="7772400" cy="552930"/>
          </a:xfrm>
        </p:spPr>
        <p:txBody>
          <a:bodyPr vert="horz" lIns="91440" tIns="45720" rIns="91440" bIns="45720" rtlCol="0" anchor="ctr">
            <a:normAutofit/>
          </a:bodyPr>
          <a:lstStyle/>
          <a:p>
            <a:r>
              <a:rPr lang="zh-CN" altLang="en-US" sz="2800" dirty="0">
                <a:solidFill>
                  <a:srgbClr val="0000FF"/>
                </a:solidFill>
              </a:rPr>
              <a:t>三、性别决定的剂量补偿</a:t>
            </a:r>
          </a:p>
        </p:txBody>
      </p:sp>
      <p:sp>
        <p:nvSpPr>
          <p:cNvPr id="196610" name="Rectangle 3"/>
          <p:cNvSpPr>
            <a:spLocks noGrp="1"/>
          </p:cNvSpPr>
          <p:nvPr>
            <p:ph idx="1"/>
          </p:nvPr>
        </p:nvSpPr>
        <p:spPr>
          <a:xfrm>
            <a:off x="274675" y="1066800"/>
            <a:ext cx="11633790" cy="4800600"/>
          </a:xfrm>
          <a:noFill/>
          <a:ln>
            <a:noFill/>
          </a:ln>
        </p:spPr>
        <p:txBody>
          <a:bodyPr anchor="t" anchorCtr="0"/>
          <a:lstStyle/>
          <a:p>
            <a:pPr marL="87628" indent="-87628">
              <a:buNone/>
            </a:pPr>
            <a:r>
              <a:rPr lang="zh-CN" altLang="en-US" dirty="0">
                <a:solidFill>
                  <a:srgbClr val="FF0000"/>
                </a:solidFill>
              </a:rPr>
              <a:t>1.巴氏小体</a:t>
            </a:r>
            <a:r>
              <a:rPr lang="zh-CN" altLang="en-US" dirty="0">
                <a:solidFill>
                  <a:schemeClr val="tx1"/>
                </a:solidFill>
              </a:rPr>
              <a:t>——</a:t>
            </a:r>
            <a:r>
              <a:rPr lang="zh-CN" altLang="en-US" dirty="0">
                <a:solidFill>
                  <a:schemeClr val="tx1"/>
                </a:solidFill>
                <a:latin typeface="宋体" panose="02010600030101010101" pitchFamily="2" charset="-122"/>
              </a:rPr>
              <a:t>由雌性哺乳动物体细胞中失活的</a:t>
            </a:r>
            <a:r>
              <a:rPr lang="en-US" altLang="zh-CN" dirty="0">
                <a:solidFill>
                  <a:schemeClr val="tx1"/>
                </a:solidFill>
              </a:rPr>
              <a:t>X</a:t>
            </a:r>
            <a:r>
              <a:rPr lang="zh-CN" altLang="en-US" dirty="0">
                <a:solidFill>
                  <a:schemeClr val="tx1"/>
                </a:solidFill>
                <a:latin typeface="宋体" panose="02010600030101010101" pitchFamily="2" charset="-122"/>
              </a:rPr>
              <a:t>染色体在间期细胞核中呈异固缩状态（染色质高度螺旋化），形成约</a:t>
            </a:r>
            <a:r>
              <a:rPr lang="zh-CN" altLang="en-US" dirty="0">
                <a:solidFill>
                  <a:schemeClr val="tx1"/>
                </a:solidFill>
              </a:rPr>
              <a:t>1</a:t>
            </a:r>
            <a:r>
              <a:rPr lang="en-US" altLang="zh-CN" dirty="0">
                <a:solidFill>
                  <a:schemeClr val="tx1"/>
                </a:solidFill>
                <a:latin typeface="宋体" panose="02010600030101010101" pitchFamily="2" charset="-122"/>
              </a:rPr>
              <a:t>μ</a:t>
            </a:r>
            <a:r>
              <a:rPr lang="en-US" altLang="zh-CN" dirty="0">
                <a:solidFill>
                  <a:schemeClr val="tx1"/>
                </a:solidFill>
              </a:rPr>
              <a:t>m</a:t>
            </a:r>
            <a:r>
              <a:rPr lang="zh-CN" altLang="en-US" dirty="0">
                <a:solidFill>
                  <a:schemeClr val="tx1"/>
                </a:solidFill>
                <a:latin typeface="宋体" panose="02010600030101010101" pitchFamily="2" charset="-122"/>
              </a:rPr>
              <a:t>大小，贴近于核膜边缘的染色小体，又称为</a:t>
            </a:r>
            <a:r>
              <a:rPr lang="en-US" altLang="zh-CN" dirty="0">
                <a:solidFill>
                  <a:schemeClr val="tx1"/>
                </a:solidFill>
              </a:rPr>
              <a:t>X</a:t>
            </a:r>
            <a:r>
              <a:rPr lang="zh-CN" altLang="en-US" dirty="0">
                <a:solidFill>
                  <a:schemeClr val="tx1"/>
                </a:solidFill>
                <a:latin typeface="宋体" panose="02010600030101010101" pitchFamily="2" charset="-122"/>
              </a:rPr>
              <a:t>染色质或性染色质。</a:t>
            </a:r>
          </a:p>
          <a:p>
            <a:pPr marL="87628" indent="-87628">
              <a:buNone/>
            </a:pPr>
            <a:r>
              <a:rPr lang="zh-CN" altLang="en-US" dirty="0">
                <a:solidFill>
                  <a:srgbClr val="FF0000"/>
                </a:solidFill>
                <a:latin typeface="宋体" panose="02010600030101010101" pitchFamily="2" charset="-122"/>
              </a:rPr>
              <a:t>2.剂量补偿效应</a:t>
            </a:r>
            <a:r>
              <a:rPr lang="zh-CN" altLang="en-US" dirty="0">
                <a:solidFill>
                  <a:schemeClr val="tx1"/>
                </a:solidFill>
              </a:rPr>
              <a:t>——</a:t>
            </a:r>
            <a:r>
              <a:rPr lang="zh-CN" altLang="en-US" dirty="0">
                <a:solidFill>
                  <a:schemeClr val="tx1"/>
                </a:solidFill>
                <a:latin typeface="宋体" panose="02010600030101010101" pitchFamily="2" charset="-122"/>
              </a:rPr>
              <a:t>指具有两份或两份以上的基因量的个体与只有一份基因量的个体的基因表达趋于一致的遗传效应。</a:t>
            </a:r>
          </a:p>
          <a:p>
            <a:pPr marL="87628" indent="-87628">
              <a:buNone/>
            </a:pPr>
            <a:r>
              <a:rPr lang="zh-CN" altLang="en-US" dirty="0">
                <a:solidFill>
                  <a:srgbClr val="FF0000"/>
                </a:solidFill>
                <a:latin typeface="宋体" panose="02010600030101010101" pitchFamily="2" charset="-122"/>
              </a:rPr>
              <a:t>3.莱昂假说</a:t>
            </a:r>
            <a:r>
              <a:rPr lang="zh-CN" altLang="en-US" dirty="0">
                <a:solidFill>
                  <a:schemeClr val="tx1"/>
                </a:solidFill>
              </a:rPr>
              <a:t>——雌性个体的两条</a:t>
            </a:r>
            <a:r>
              <a:rPr lang="en-US" altLang="zh-CN" dirty="0">
                <a:solidFill>
                  <a:schemeClr val="tx1"/>
                </a:solidFill>
                <a:latin typeface="宋体" panose="02010600030101010101" pitchFamily="2" charset="-122"/>
              </a:rPr>
              <a:t>X</a:t>
            </a:r>
            <a:r>
              <a:rPr lang="zh-CN" altLang="en-US" dirty="0">
                <a:solidFill>
                  <a:schemeClr val="tx1"/>
                </a:solidFill>
              </a:rPr>
              <a:t>染色体中必有一条是随机失活的；</a:t>
            </a:r>
            <a:r>
              <a:rPr lang="en-US" altLang="zh-CN" dirty="0">
                <a:solidFill>
                  <a:schemeClr val="tx1"/>
                </a:solidFill>
                <a:latin typeface="宋体" panose="02010600030101010101" pitchFamily="2" charset="-122"/>
              </a:rPr>
              <a:t>X</a:t>
            </a:r>
            <a:r>
              <a:rPr lang="zh-CN" altLang="en-US" dirty="0">
                <a:solidFill>
                  <a:schemeClr val="tx1"/>
                </a:solidFill>
                <a:latin typeface="宋体" panose="02010600030101010101" pitchFamily="2" charset="-122"/>
              </a:rPr>
              <a:t>染色体的失活发生在胚胎发育早期（受精后的7-12天），且失活的那条</a:t>
            </a:r>
            <a:r>
              <a:rPr lang="en-US" altLang="zh-CN" dirty="0">
                <a:solidFill>
                  <a:schemeClr val="tx1"/>
                </a:solidFill>
                <a:latin typeface="宋体" panose="02010600030101010101" pitchFamily="2" charset="-122"/>
              </a:rPr>
              <a:t>X</a:t>
            </a:r>
            <a:r>
              <a:rPr lang="zh-CN" altLang="en-US" dirty="0">
                <a:solidFill>
                  <a:schemeClr val="tx1"/>
                </a:solidFill>
                <a:latin typeface="宋体" panose="02010600030101010101" pitchFamily="2" charset="-122"/>
              </a:rPr>
              <a:t>染色体在以后的细胞增殖中永久失活。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Rectangle 3"/>
          <p:cNvSpPr>
            <a:spLocks noGrp="1"/>
          </p:cNvSpPr>
          <p:nvPr>
            <p:ph idx="1"/>
          </p:nvPr>
        </p:nvSpPr>
        <p:spPr>
          <a:xfrm>
            <a:off x="654142" y="927688"/>
            <a:ext cx="10201700" cy="4525963"/>
          </a:xfrm>
          <a:noFill/>
          <a:ln>
            <a:noFill/>
          </a:ln>
        </p:spPr>
        <p:txBody>
          <a:bodyPr anchor="t" anchorCtr="0"/>
          <a:lstStyle/>
          <a:p>
            <a:pPr eaLnBrk="1" hangingPunct="1">
              <a:buNone/>
            </a:pPr>
            <a:r>
              <a:rPr lang="en-US" altLang="zh-CN" b="1" dirty="0">
                <a:solidFill>
                  <a:schemeClr val="tx1"/>
                </a:solidFill>
              </a:rPr>
              <a:t>1</a:t>
            </a:r>
            <a:r>
              <a:rPr lang="zh-CN" altLang="en-US" b="1" dirty="0">
                <a:solidFill>
                  <a:schemeClr val="tx1"/>
                </a:solidFill>
              </a:rPr>
              <a:t>、（</a:t>
            </a:r>
            <a:r>
              <a:rPr lang="en-US" altLang="zh-CN" b="1" dirty="0">
                <a:solidFill>
                  <a:schemeClr val="tx1"/>
                </a:solidFill>
              </a:rPr>
              <a:t>09</a:t>
            </a:r>
            <a:r>
              <a:rPr lang="zh-CN" altLang="en-US" b="1" dirty="0">
                <a:solidFill>
                  <a:schemeClr val="tx1"/>
                </a:solidFill>
              </a:rPr>
              <a:t>年全国联赛）性染色体的组成均为</a:t>
            </a:r>
            <a:r>
              <a:rPr lang="en-US" altLang="zh-CN" b="1" dirty="0">
                <a:solidFill>
                  <a:schemeClr val="tx1"/>
                </a:solidFill>
              </a:rPr>
              <a:t>XXY</a:t>
            </a:r>
            <a:r>
              <a:rPr lang="zh-CN" altLang="en-US" b="1" dirty="0">
                <a:solidFill>
                  <a:schemeClr val="tx1"/>
                </a:solidFill>
              </a:rPr>
              <a:t>的人和果蝇，它们的性别：</a:t>
            </a:r>
          </a:p>
          <a:p>
            <a:pPr eaLnBrk="1" hangingPunct="1">
              <a:buNone/>
            </a:pPr>
            <a:r>
              <a:rPr lang="zh-CN" altLang="en-US" b="1" dirty="0">
                <a:solidFill>
                  <a:schemeClr val="tx1"/>
                </a:solidFill>
              </a:rPr>
              <a:t>   </a:t>
            </a:r>
            <a:r>
              <a:rPr lang="en-US" altLang="zh-CN" b="1" dirty="0">
                <a:solidFill>
                  <a:schemeClr val="tx1"/>
                </a:solidFill>
              </a:rPr>
              <a:t>A. </a:t>
            </a:r>
            <a:r>
              <a:rPr lang="zh-CN" altLang="en-US" b="1" dirty="0">
                <a:solidFill>
                  <a:schemeClr val="tx1"/>
                </a:solidFill>
              </a:rPr>
              <a:t>均为雄性     </a:t>
            </a:r>
            <a:r>
              <a:rPr lang="en-US" altLang="zh-CN" b="1" dirty="0">
                <a:solidFill>
                  <a:schemeClr val="tx1"/>
                </a:solidFill>
              </a:rPr>
              <a:t>B. </a:t>
            </a:r>
            <a:r>
              <a:rPr lang="zh-CN" altLang="en-US" b="1" dirty="0">
                <a:solidFill>
                  <a:schemeClr val="tx1"/>
                </a:solidFill>
              </a:rPr>
              <a:t>人为雄性，而果蝇为雌性 </a:t>
            </a:r>
            <a:r>
              <a:rPr lang="en-US" altLang="zh-CN" b="1" dirty="0">
                <a:solidFill>
                  <a:schemeClr val="tx1"/>
                </a:solidFill>
              </a:rPr>
              <a:t>C. </a:t>
            </a:r>
            <a:r>
              <a:rPr lang="zh-CN" altLang="en-US" b="1" dirty="0">
                <a:solidFill>
                  <a:schemeClr val="tx1"/>
                </a:solidFill>
              </a:rPr>
              <a:t>均为超雌性   </a:t>
            </a:r>
            <a:r>
              <a:rPr lang="en-US" altLang="zh-CN" b="1" dirty="0">
                <a:solidFill>
                  <a:schemeClr val="tx1"/>
                </a:solidFill>
              </a:rPr>
              <a:t>D. </a:t>
            </a:r>
            <a:r>
              <a:rPr lang="zh-CN" altLang="en-US" b="1" dirty="0">
                <a:solidFill>
                  <a:schemeClr val="tx1"/>
                </a:solidFill>
              </a:rPr>
              <a:t>均为间性</a:t>
            </a:r>
          </a:p>
          <a:p>
            <a:pPr eaLnBrk="1" hangingPunct="1">
              <a:buNone/>
            </a:pPr>
            <a:endParaRPr lang="en-US" altLang="zh-CN" b="1" dirty="0">
              <a:solidFill>
                <a:schemeClr val="tx1"/>
              </a:solidFill>
            </a:endParaRPr>
          </a:p>
          <a:p>
            <a:pPr eaLnBrk="1" hangingPunct="1">
              <a:buNone/>
            </a:pPr>
            <a:r>
              <a:rPr lang="en-US" altLang="zh-CN" b="1" dirty="0">
                <a:solidFill>
                  <a:schemeClr val="tx1"/>
                </a:solidFill>
              </a:rPr>
              <a:t>2</a:t>
            </a:r>
            <a:r>
              <a:rPr lang="zh-CN" altLang="en-US" b="1" dirty="0">
                <a:solidFill>
                  <a:schemeClr val="tx1"/>
                </a:solidFill>
              </a:rPr>
              <a:t>、（</a:t>
            </a:r>
            <a:r>
              <a:rPr lang="en-US" altLang="zh-CN" b="1" dirty="0">
                <a:solidFill>
                  <a:schemeClr val="tx1"/>
                </a:solidFill>
              </a:rPr>
              <a:t>11</a:t>
            </a:r>
            <a:r>
              <a:rPr lang="zh-CN" altLang="en-US" b="1" dirty="0">
                <a:solidFill>
                  <a:schemeClr val="tx1"/>
                </a:solidFill>
              </a:rPr>
              <a:t>年全国联赛）男性秃头的几率高于女性的原因是秃头性状表现为 （</a:t>
            </a:r>
            <a:r>
              <a:rPr lang="en-US" altLang="zh-CN" b="1" dirty="0">
                <a:solidFill>
                  <a:schemeClr val="tx1"/>
                </a:solidFill>
              </a:rPr>
              <a:t>1</a:t>
            </a:r>
            <a:r>
              <a:rPr lang="zh-CN" altLang="en-US" b="1" dirty="0">
                <a:solidFill>
                  <a:schemeClr val="tx1"/>
                </a:solidFill>
              </a:rPr>
              <a:t>分）</a:t>
            </a:r>
          </a:p>
          <a:p>
            <a:pPr eaLnBrk="1" hangingPunct="1">
              <a:buNone/>
            </a:pPr>
            <a:r>
              <a:rPr lang="zh-CN" altLang="en-US" b="1" dirty="0">
                <a:solidFill>
                  <a:schemeClr val="tx1"/>
                </a:solidFill>
              </a:rPr>
              <a:t>    </a:t>
            </a:r>
            <a:r>
              <a:rPr lang="en-US" altLang="zh-CN" b="1" dirty="0">
                <a:solidFill>
                  <a:schemeClr val="tx1"/>
                </a:solidFill>
              </a:rPr>
              <a:t>A</a:t>
            </a:r>
            <a:r>
              <a:rPr lang="zh-CN" altLang="en-US" b="1" dirty="0">
                <a:solidFill>
                  <a:schemeClr val="tx1"/>
                </a:solidFill>
              </a:rPr>
              <a:t>．伴性遗传         </a:t>
            </a:r>
            <a:r>
              <a:rPr lang="en-US" altLang="zh-CN" b="1" dirty="0">
                <a:solidFill>
                  <a:schemeClr val="tx1"/>
                </a:solidFill>
              </a:rPr>
              <a:t>B</a:t>
            </a:r>
            <a:r>
              <a:rPr lang="zh-CN" altLang="en-US" b="1" dirty="0">
                <a:solidFill>
                  <a:schemeClr val="tx1"/>
                </a:solidFill>
              </a:rPr>
              <a:t>．从性遗传      </a:t>
            </a:r>
          </a:p>
          <a:p>
            <a:pPr eaLnBrk="1" hangingPunct="1">
              <a:buNone/>
            </a:pPr>
            <a:r>
              <a:rPr lang="zh-CN" altLang="en-US" b="1" dirty="0">
                <a:solidFill>
                  <a:schemeClr val="tx1"/>
                </a:solidFill>
              </a:rPr>
              <a:t>    </a:t>
            </a:r>
            <a:r>
              <a:rPr lang="en-US" altLang="zh-CN" b="1" dirty="0">
                <a:solidFill>
                  <a:schemeClr val="tx1"/>
                </a:solidFill>
              </a:rPr>
              <a:t>C</a:t>
            </a:r>
            <a:r>
              <a:rPr lang="zh-CN" altLang="en-US" b="1" dirty="0">
                <a:solidFill>
                  <a:schemeClr val="tx1"/>
                </a:solidFill>
              </a:rPr>
              <a:t>．限性遗传         </a:t>
            </a:r>
            <a:r>
              <a:rPr lang="en-US" altLang="zh-CN" b="1" dirty="0">
                <a:solidFill>
                  <a:schemeClr val="tx1"/>
                </a:solidFill>
              </a:rPr>
              <a:t>D</a:t>
            </a:r>
            <a:r>
              <a:rPr lang="zh-CN" altLang="en-US" b="1" dirty="0">
                <a:solidFill>
                  <a:schemeClr val="tx1"/>
                </a:solidFill>
              </a:rPr>
              <a:t>．性连锁遗传</a:t>
            </a:r>
          </a:p>
        </p:txBody>
      </p:sp>
      <p:sp>
        <p:nvSpPr>
          <p:cNvPr id="6419460" name="Text Box 4"/>
          <p:cNvSpPr txBox="1">
            <a:spLocks noChangeArrowheads="1"/>
          </p:cNvSpPr>
          <p:nvPr/>
        </p:nvSpPr>
        <p:spPr bwMode="auto">
          <a:xfrm>
            <a:off x="10855842" y="758018"/>
            <a:ext cx="436338" cy="646331"/>
          </a:xfrm>
          <a:prstGeom prst="rect">
            <a:avLst/>
          </a:prstGeom>
          <a:noFill/>
          <a:ln>
            <a:noFill/>
          </a:ln>
          <a:effectLst/>
        </p:spPr>
        <p:txBody>
          <a:bodyPr wrap="none">
            <a:spAutoFit/>
          </a:bodyPr>
          <a:lstStyle/>
          <a:p>
            <a:pPr algn="ctr">
              <a:buFont typeface="Arial" panose="020B0604020202020204" pitchFamily="34" charset="0"/>
            </a:pPr>
            <a:r>
              <a:rPr lang="en-US" altLang="zh-CN" sz="3600" noProof="1">
                <a:solidFill>
                  <a:srgbClr val="FF0000"/>
                </a:solidFill>
                <a:effectLst>
                  <a:outerShdw blurRad="38100" dist="38100" dir="2700000">
                    <a:srgbClr val="000000"/>
                  </a:outerShdw>
                </a:effectLst>
                <a:sym typeface="+mn-ea"/>
              </a:rPr>
              <a:t>B</a:t>
            </a:r>
          </a:p>
        </p:txBody>
      </p:sp>
      <p:sp>
        <p:nvSpPr>
          <p:cNvPr id="6419461" name="Text Box 5"/>
          <p:cNvSpPr txBox="1">
            <a:spLocks noChangeArrowheads="1"/>
          </p:cNvSpPr>
          <p:nvPr/>
        </p:nvSpPr>
        <p:spPr bwMode="auto">
          <a:xfrm>
            <a:off x="9201893" y="3190669"/>
            <a:ext cx="436338" cy="646331"/>
          </a:xfrm>
          <a:prstGeom prst="rect">
            <a:avLst/>
          </a:prstGeom>
          <a:noFill/>
          <a:ln>
            <a:noFill/>
          </a:ln>
          <a:effectLst/>
        </p:spPr>
        <p:txBody>
          <a:bodyPr wrap="none">
            <a:spAutoFit/>
          </a:bodyPr>
          <a:lstStyle/>
          <a:p>
            <a:pPr algn="ctr">
              <a:buFont typeface="Arial" panose="020B0604020202020204" pitchFamily="34" charset="0"/>
            </a:pPr>
            <a:r>
              <a:rPr lang="en-US" altLang="zh-CN" sz="3600" noProof="1">
                <a:solidFill>
                  <a:srgbClr val="FF0000"/>
                </a:solidFill>
                <a:effectLst>
                  <a:outerShdw blurRad="38100" dist="38100" dir="2700000">
                    <a:srgbClr val="000000"/>
                  </a:outerShdw>
                </a:effectLst>
                <a:sym typeface="+mn-ea"/>
              </a:rPr>
              <a:t>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194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194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19460" grpId="0"/>
      <p:bldP spid="641946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Rectangle 3"/>
          <p:cNvSpPr>
            <a:spLocks noGrp="1"/>
          </p:cNvSpPr>
          <p:nvPr>
            <p:ph idx="1"/>
          </p:nvPr>
        </p:nvSpPr>
        <p:spPr>
          <a:xfrm>
            <a:off x="85061" y="771673"/>
            <a:ext cx="11600120" cy="5029200"/>
          </a:xfrm>
          <a:noFill/>
          <a:ln>
            <a:noFill/>
          </a:ln>
        </p:spPr>
        <p:txBody>
          <a:bodyPr anchor="t" anchorCtr="0"/>
          <a:lstStyle/>
          <a:p>
            <a:pPr eaLnBrk="1" hangingPunct="1">
              <a:lnSpc>
                <a:spcPct val="90000"/>
              </a:lnSpc>
              <a:buNone/>
            </a:pPr>
            <a:r>
              <a:rPr lang="en-US" altLang="zh-CN" b="1" dirty="0">
                <a:solidFill>
                  <a:schemeClr val="tx1"/>
                </a:solidFill>
                <a:latin typeface="黑体" panose="02010609060101010101" pitchFamily="49" charset="-122"/>
                <a:ea typeface="黑体" panose="02010609060101010101" pitchFamily="49" charset="-122"/>
              </a:rPr>
              <a:t>3</a:t>
            </a:r>
            <a:r>
              <a:rPr lang="zh-CN" altLang="en-US" b="1" dirty="0">
                <a:solidFill>
                  <a:schemeClr val="tx1"/>
                </a:solidFill>
                <a:latin typeface="黑体" panose="02010609060101010101" pitchFamily="49" charset="-122"/>
                <a:ea typeface="黑体" panose="02010609060101010101" pitchFamily="49" charset="-122"/>
              </a:rPr>
              <a:t>、</a:t>
            </a:r>
            <a:r>
              <a:rPr lang="en-US" altLang="zh-CN" b="1" i="1" dirty="0">
                <a:solidFill>
                  <a:schemeClr val="tx1"/>
                </a:solidFill>
                <a:latin typeface="黑体" panose="02010609060101010101" pitchFamily="49" charset="-122"/>
                <a:ea typeface="黑体" panose="02010609060101010101" pitchFamily="49" charset="-122"/>
              </a:rPr>
              <a:t>(05</a:t>
            </a:r>
            <a:r>
              <a:rPr lang="zh-CN" altLang="en-US" b="1" i="1" dirty="0">
                <a:solidFill>
                  <a:schemeClr val="tx1"/>
                </a:solidFill>
                <a:latin typeface="黑体" panose="02010609060101010101" pitchFamily="49" charset="-122"/>
                <a:ea typeface="黑体" panose="02010609060101010101" pitchFamily="49" charset="-122"/>
              </a:rPr>
              <a:t>年全国联赛</a:t>
            </a:r>
            <a:r>
              <a:rPr lang="en-US" altLang="zh-CN" b="1" i="1" dirty="0">
                <a:solidFill>
                  <a:schemeClr val="tx1"/>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一个患有牙齿珐琅质褐色病症的男人与正常女人结婚后，其所有男性后代均正常，但是所有女性后代都为患病者。当男性后代与正常女性结婚后，子女都正常。而女性后代与正常男性结婚后子女有 </a:t>
            </a:r>
            <a:r>
              <a:rPr lang="en-US" altLang="zh-CN" b="1" dirty="0">
                <a:solidFill>
                  <a:schemeClr val="tx1"/>
                </a:solidFill>
                <a:latin typeface="黑体" panose="02010609060101010101" pitchFamily="49" charset="-122"/>
                <a:ea typeface="黑体" panose="02010609060101010101" pitchFamily="49" charset="-122"/>
              </a:rPr>
              <a:t>50</a:t>
            </a:r>
            <a:r>
              <a:rPr lang="zh-CN" altLang="en-US" b="1" dirty="0">
                <a:solidFill>
                  <a:schemeClr val="tx1"/>
                </a:solidFill>
                <a:latin typeface="黑体" panose="02010609060101010101" pitchFamily="49" charset="-122"/>
                <a:ea typeface="黑体" panose="02010609060101010101" pitchFamily="49" charset="-122"/>
              </a:rPr>
              <a:t>％的发病率。这种遗传病属于</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A</a:t>
            </a:r>
            <a:r>
              <a:rPr lang="zh-CN" altLang="en-US" b="1" dirty="0">
                <a:solidFill>
                  <a:schemeClr val="tx1"/>
                </a:solidFill>
                <a:latin typeface="黑体" panose="02010609060101010101" pitchFamily="49" charset="-122"/>
                <a:ea typeface="黑体" panose="02010609060101010101" pitchFamily="49" charset="-122"/>
              </a:rPr>
              <a:t>．常染色体显性遗传病      </a:t>
            </a:r>
            <a:r>
              <a:rPr lang="en-US" altLang="zh-CN" b="1" dirty="0">
                <a:solidFill>
                  <a:schemeClr val="tx1"/>
                </a:solidFill>
                <a:latin typeface="黑体" panose="02010609060101010101" pitchFamily="49" charset="-122"/>
                <a:ea typeface="黑体" panose="02010609060101010101" pitchFamily="49" charset="-122"/>
              </a:rPr>
              <a:t>B.X</a:t>
            </a:r>
            <a:r>
              <a:rPr lang="zh-CN" altLang="en-US" b="1" dirty="0">
                <a:solidFill>
                  <a:schemeClr val="tx1"/>
                </a:solidFill>
                <a:latin typeface="黑体" panose="02010609060101010101" pitchFamily="49" charset="-122"/>
                <a:ea typeface="黑体" panose="02010609060101010101" pitchFamily="49" charset="-122"/>
              </a:rPr>
              <a:t>染色体显性遗传病 </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C. Y</a:t>
            </a:r>
            <a:r>
              <a:rPr lang="zh-CN" altLang="en-US" b="1" dirty="0">
                <a:solidFill>
                  <a:schemeClr val="tx1"/>
                </a:solidFill>
                <a:latin typeface="黑体" panose="02010609060101010101" pitchFamily="49" charset="-122"/>
                <a:ea typeface="黑体" panose="02010609060101010101" pitchFamily="49" charset="-122"/>
              </a:rPr>
              <a:t>染色体显性遗传病       </a:t>
            </a:r>
            <a:r>
              <a:rPr lang="en-US" altLang="zh-CN" b="1" dirty="0">
                <a:solidFill>
                  <a:schemeClr val="tx1"/>
                </a:solidFill>
                <a:latin typeface="黑体" panose="02010609060101010101" pitchFamily="49" charset="-122"/>
                <a:ea typeface="黑体" panose="02010609060101010101" pitchFamily="49" charset="-122"/>
              </a:rPr>
              <a:t>D.X</a:t>
            </a:r>
            <a:r>
              <a:rPr lang="zh-CN" altLang="en-US" b="1" dirty="0">
                <a:solidFill>
                  <a:schemeClr val="tx1"/>
                </a:solidFill>
                <a:latin typeface="黑体" panose="02010609060101010101" pitchFamily="49" charset="-122"/>
                <a:ea typeface="黑体" panose="02010609060101010101" pitchFamily="49" charset="-122"/>
              </a:rPr>
              <a:t>染色体隐性遗传病 </a:t>
            </a:r>
          </a:p>
          <a:p>
            <a:pPr eaLnBrk="1" hangingPunct="1">
              <a:lnSpc>
                <a:spcPct val="90000"/>
              </a:lnSpc>
              <a:buNone/>
            </a:pPr>
            <a:endParaRPr lang="en-US" altLang="zh-CN" b="1" dirty="0">
              <a:solidFill>
                <a:schemeClr val="tx1"/>
              </a:solidFill>
              <a:latin typeface="黑体" panose="02010609060101010101" pitchFamily="49" charset="-122"/>
              <a:ea typeface="黑体" panose="02010609060101010101" pitchFamily="49" charset="-122"/>
            </a:endParaRPr>
          </a:p>
          <a:p>
            <a:pPr eaLnBrk="1" hangingPunct="1">
              <a:lnSpc>
                <a:spcPct val="90000"/>
              </a:lnSpc>
              <a:buNone/>
            </a:pPr>
            <a:r>
              <a:rPr lang="en-US" altLang="zh-CN" b="1" dirty="0">
                <a:solidFill>
                  <a:schemeClr val="tx1"/>
                </a:solidFill>
                <a:latin typeface="黑体" panose="02010609060101010101" pitchFamily="49" charset="-122"/>
                <a:ea typeface="黑体" panose="02010609060101010101" pitchFamily="49" charset="-122"/>
              </a:rPr>
              <a:t>4</a:t>
            </a:r>
            <a:r>
              <a:rPr lang="zh-CN" altLang="en-US" b="1" dirty="0">
                <a:solidFill>
                  <a:schemeClr val="tx1"/>
                </a:solidFill>
                <a:latin typeface="黑体" panose="02010609060101010101" pitchFamily="49" charset="-122"/>
                <a:ea typeface="黑体" panose="02010609060101010101" pitchFamily="49" charset="-122"/>
              </a:rPr>
              <a:t>、</a:t>
            </a:r>
            <a:r>
              <a:rPr lang="en-US" altLang="zh-CN" b="1" i="1" dirty="0">
                <a:solidFill>
                  <a:schemeClr val="tx1"/>
                </a:solidFill>
                <a:latin typeface="黑体" panose="02010609060101010101" pitchFamily="49" charset="-122"/>
                <a:ea typeface="黑体" panose="02010609060101010101" pitchFamily="49" charset="-122"/>
              </a:rPr>
              <a:t>(01</a:t>
            </a:r>
            <a:r>
              <a:rPr lang="zh-CN" altLang="en-US" b="1" i="1" dirty="0">
                <a:solidFill>
                  <a:schemeClr val="tx1"/>
                </a:solidFill>
                <a:latin typeface="黑体" panose="02010609060101010101" pitchFamily="49" charset="-122"/>
                <a:ea typeface="黑体" panose="02010609060101010101" pitchFamily="49" charset="-122"/>
              </a:rPr>
              <a:t>年全国联赛</a:t>
            </a:r>
            <a:r>
              <a:rPr lang="en-US" altLang="zh-CN" b="1" i="1" dirty="0">
                <a:solidFill>
                  <a:schemeClr val="tx1"/>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如果让小眼睛的雄果蝇与正常眼睛的雌果蝇交配，其后代中有</a:t>
            </a:r>
            <a:r>
              <a:rPr lang="en-US" altLang="zh-CN" b="1" dirty="0">
                <a:solidFill>
                  <a:schemeClr val="tx1"/>
                </a:solidFill>
                <a:latin typeface="黑体" panose="02010609060101010101" pitchFamily="49" charset="-122"/>
                <a:ea typeface="黑体" panose="02010609060101010101" pitchFamily="49" charset="-122"/>
              </a:rPr>
              <a:t>77</a:t>
            </a:r>
            <a:r>
              <a:rPr lang="zh-CN" altLang="en-US" b="1" dirty="0">
                <a:solidFill>
                  <a:schemeClr val="tx1"/>
                </a:solidFill>
                <a:latin typeface="黑体" panose="02010609060101010101" pitchFamily="49" charset="-122"/>
                <a:ea typeface="黑体" panose="02010609060101010101" pitchFamily="49" charset="-122"/>
              </a:rPr>
              <a:t>只眼睛全部正常的雄果蝇，</a:t>
            </a:r>
            <a:r>
              <a:rPr lang="en-US" altLang="zh-CN" b="1" dirty="0">
                <a:solidFill>
                  <a:schemeClr val="tx1"/>
                </a:solidFill>
                <a:latin typeface="黑体" panose="02010609060101010101" pitchFamily="49" charset="-122"/>
                <a:ea typeface="黑体" panose="02010609060101010101" pitchFamily="49" charset="-122"/>
              </a:rPr>
              <a:t>78</a:t>
            </a:r>
            <a:r>
              <a:rPr lang="zh-CN" altLang="en-US" b="1" dirty="0">
                <a:solidFill>
                  <a:schemeClr val="tx1"/>
                </a:solidFill>
                <a:latin typeface="黑体" panose="02010609060101010101" pitchFamily="49" charset="-122"/>
                <a:ea typeface="黑体" panose="02010609060101010101" pitchFamily="49" charset="-122"/>
              </a:rPr>
              <a:t>只全为小眼睛的雌果蝇。小眼睛这一性状属</a:t>
            </a:r>
            <a:r>
              <a:rPr lang="zh-CN" altLang="en-US" b="1" u="sng" dirty="0">
                <a:solidFill>
                  <a:schemeClr val="tx1"/>
                </a:solidFill>
                <a:latin typeface="黑体" panose="02010609060101010101" pitchFamily="49" charset="-122"/>
                <a:ea typeface="黑体" panose="02010609060101010101" pitchFamily="49" charset="-122"/>
              </a:rPr>
              <a:t>  </a:t>
            </a:r>
            <a:r>
              <a:rPr lang="zh-CN" altLang="en-US" b="1" dirty="0">
                <a:solidFill>
                  <a:schemeClr val="tx1"/>
                </a:solidFill>
                <a:latin typeface="黑体" panose="02010609060101010101" pitchFamily="49" charset="-122"/>
                <a:ea typeface="黑体" panose="02010609060101010101" pitchFamily="49" charset="-122"/>
              </a:rPr>
              <a:t>遗传。</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A</a:t>
            </a:r>
            <a:r>
              <a:rPr lang="zh-CN" altLang="en-US" b="1" dirty="0">
                <a:solidFill>
                  <a:schemeClr val="tx1"/>
                </a:solidFill>
                <a:latin typeface="黑体" panose="02010609060101010101" pitchFamily="49" charset="-122"/>
                <a:ea typeface="黑体" panose="02010609060101010101" pitchFamily="49" charset="-122"/>
              </a:rPr>
              <a:t>．常染色体显性	</a:t>
            </a:r>
            <a:r>
              <a:rPr lang="en-US" altLang="zh-CN" b="1" dirty="0">
                <a:solidFill>
                  <a:schemeClr val="tx1"/>
                </a:solidFill>
                <a:latin typeface="黑体" panose="02010609060101010101" pitchFamily="49" charset="-122"/>
                <a:ea typeface="黑体" panose="02010609060101010101" pitchFamily="49" charset="-122"/>
              </a:rPr>
              <a:t>B</a:t>
            </a:r>
            <a:r>
              <a:rPr lang="zh-CN" altLang="en-US" b="1" dirty="0">
                <a:solidFill>
                  <a:schemeClr val="tx1"/>
                </a:solidFill>
                <a:latin typeface="黑体" panose="02010609060101010101" pitchFamily="49" charset="-122"/>
                <a:ea typeface="黑体" panose="02010609060101010101" pitchFamily="49" charset="-122"/>
              </a:rPr>
              <a:t>．常染色体隐性	</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C</a:t>
            </a:r>
            <a:r>
              <a:rPr lang="zh-CN" altLang="en-US" b="1" dirty="0">
                <a:solidFill>
                  <a:schemeClr val="tx1"/>
                </a:solidFill>
                <a:latin typeface="黑体" panose="02010609060101010101" pitchFamily="49" charset="-122"/>
                <a:ea typeface="黑体" panose="02010609060101010101" pitchFamily="49" charset="-122"/>
              </a:rPr>
              <a:t>．</a:t>
            </a:r>
            <a:r>
              <a:rPr lang="en-US" altLang="zh-CN" b="1" dirty="0">
                <a:solidFill>
                  <a:schemeClr val="tx1"/>
                </a:solidFill>
                <a:latin typeface="黑体" panose="02010609060101010101" pitchFamily="49" charset="-122"/>
                <a:ea typeface="黑体" panose="02010609060101010101" pitchFamily="49" charset="-122"/>
              </a:rPr>
              <a:t>X</a:t>
            </a:r>
            <a:r>
              <a:rPr lang="zh-CN" altLang="en-US" b="1" dirty="0">
                <a:solidFill>
                  <a:schemeClr val="tx1"/>
                </a:solidFill>
                <a:latin typeface="黑体" panose="02010609060101010101" pitchFamily="49" charset="-122"/>
                <a:ea typeface="黑体" panose="02010609060101010101" pitchFamily="49" charset="-122"/>
              </a:rPr>
              <a:t>连锁显性	      </a:t>
            </a:r>
            <a:r>
              <a:rPr lang="en-US" altLang="zh-CN" b="1" dirty="0">
                <a:solidFill>
                  <a:schemeClr val="tx1"/>
                </a:solidFill>
                <a:latin typeface="黑体" panose="02010609060101010101" pitchFamily="49" charset="-122"/>
                <a:ea typeface="黑体" panose="02010609060101010101" pitchFamily="49" charset="-122"/>
              </a:rPr>
              <a:t>D</a:t>
            </a:r>
            <a:r>
              <a:rPr lang="zh-CN" altLang="en-US" b="1" dirty="0">
                <a:solidFill>
                  <a:schemeClr val="tx1"/>
                </a:solidFill>
                <a:latin typeface="黑体" panose="02010609060101010101" pitchFamily="49" charset="-122"/>
                <a:ea typeface="黑体" panose="02010609060101010101" pitchFamily="49" charset="-122"/>
              </a:rPr>
              <a:t>．</a:t>
            </a:r>
            <a:r>
              <a:rPr lang="en-US" altLang="zh-CN" b="1" dirty="0">
                <a:solidFill>
                  <a:schemeClr val="tx1"/>
                </a:solidFill>
                <a:latin typeface="黑体" panose="02010609060101010101" pitchFamily="49" charset="-122"/>
                <a:ea typeface="黑体" panose="02010609060101010101" pitchFamily="49" charset="-122"/>
              </a:rPr>
              <a:t>X</a:t>
            </a:r>
            <a:r>
              <a:rPr lang="zh-CN" altLang="en-US" b="1" dirty="0">
                <a:solidFill>
                  <a:schemeClr val="tx1"/>
                </a:solidFill>
                <a:latin typeface="黑体" panose="02010609060101010101" pitchFamily="49" charset="-122"/>
                <a:ea typeface="黑体" panose="02010609060101010101" pitchFamily="49" charset="-122"/>
              </a:rPr>
              <a:t>连锁隐性</a:t>
            </a:r>
          </a:p>
        </p:txBody>
      </p:sp>
      <p:sp>
        <p:nvSpPr>
          <p:cNvPr id="6467589" name="Text Box 5"/>
          <p:cNvSpPr txBox="1">
            <a:spLocks noChangeArrowheads="1"/>
          </p:cNvSpPr>
          <p:nvPr/>
        </p:nvSpPr>
        <p:spPr bwMode="auto">
          <a:xfrm>
            <a:off x="10211652" y="1733073"/>
            <a:ext cx="504825" cy="584775"/>
          </a:xfrm>
          <a:prstGeom prst="rect">
            <a:avLst/>
          </a:prstGeom>
          <a:noFill/>
          <a:ln>
            <a:noFill/>
          </a:ln>
          <a:effectLst/>
        </p:spPr>
        <p:txBody>
          <a:bodyPr>
            <a:spAutoFit/>
          </a:bodyPr>
          <a:lstStyle/>
          <a:p>
            <a:pPr algn="ctr">
              <a:spcBef>
                <a:spcPct val="50000"/>
              </a:spcBef>
              <a:buFont typeface="Arial" panose="020B0604020202020204" pitchFamily="34" charset="0"/>
            </a:pPr>
            <a:r>
              <a:rPr lang="en-US" altLang="zh-CN" sz="3200" noProof="1">
                <a:solidFill>
                  <a:srgbClr val="FF0000"/>
                </a:solidFill>
                <a:effectLst>
                  <a:outerShdw blurRad="38100" dist="38100" dir="2700000">
                    <a:srgbClr val="000000"/>
                  </a:outerShdw>
                </a:effectLst>
                <a:sym typeface="+mn-ea"/>
              </a:rPr>
              <a:t>B</a:t>
            </a:r>
          </a:p>
        </p:txBody>
      </p:sp>
      <p:sp>
        <p:nvSpPr>
          <p:cNvPr id="6467590" name="Text Box 6"/>
          <p:cNvSpPr txBox="1">
            <a:spLocks noChangeArrowheads="1"/>
          </p:cNvSpPr>
          <p:nvPr/>
        </p:nvSpPr>
        <p:spPr bwMode="auto">
          <a:xfrm>
            <a:off x="9910472" y="3955378"/>
            <a:ext cx="504825" cy="584775"/>
          </a:xfrm>
          <a:prstGeom prst="rect">
            <a:avLst/>
          </a:prstGeom>
          <a:noFill/>
          <a:ln>
            <a:noFill/>
          </a:ln>
          <a:effectLst/>
        </p:spPr>
        <p:txBody>
          <a:bodyPr>
            <a:spAutoFit/>
          </a:bodyPr>
          <a:lstStyle/>
          <a:p>
            <a:pPr algn="ctr">
              <a:spcBef>
                <a:spcPct val="50000"/>
              </a:spcBef>
              <a:buFont typeface="Arial" panose="020B0604020202020204" pitchFamily="34" charset="0"/>
            </a:pPr>
            <a:r>
              <a:rPr lang="en-US" altLang="zh-CN" sz="3200" noProof="1">
                <a:solidFill>
                  <a:srgbClr val="FF0000"/>
                </a:solidFill>
                <a:effectLst>
                  <a:outerShdw blurRad="38100" dist="38100" dir="2700000">
                    <a:srgbClr val="000000"/>
                  </a:outerShdw>
                </a:effectLst>
                <a:sym typeface="+mn-ea"/>
              </a:rPr>
              <a:t>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675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675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67589" grpId="0"/>
      <p:bldP spid="646759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Rectangle 2"/>
          <p:cNvSpPr>
            <a:spLocks noGrp="1"/>
          </p:cNvSpPr>
          <p:nvPr>
            <p:ph idx="1"/>
          </p:nvPr>
        </p:nvSpPr>
        <p:spPr>
          <a:xfrm>
            <a:off x="225909" y="707015"/>
            <a:ext cx="11451264" cy="5029200"/>
          </a:xfrm>
          <a:noFill/>
          <a:ln>
            <a:noFill/>
          </a:ln>
        </p:spPr>
        <p:txBody>
          <a:bodyPr anchor="t" anchorCtr="0">
            <a:normAutofit/>
          </a:bodyPr>
          <a:lstStyle/>
          <a:p>
            <a:pPr eaLnBrk="1" hangingPunct="1">
              <a:lnSpc>
                <a:spcPct val="90000"/>
              </a:lnSpc>
              <a:buNone/>
            </a:pPr>
            <a:r>
              <a:rPr lang="en-US" altLang="zh-CN" b="1" dirty="0">
                <a:solidFill>
                  <a:schemeClr val="tx1"/>
                </a:solidFill>
                <a:latin typeface="黑体" panose="02010609060101010101" pitchFamily="49" charset="-122"/>
                <a:ea typeface="黑体" panose="02010609060101010101" pitchFamily="49" charset="-122"/>
              </a:rPr>
              <a:t>5</a:t>
            </a:r>
            <a:r>
              <a:rPr lang="zh-CN" altLang="en-US" b="1" dirty="0">
                <a:solidFill>
                  <a:schemeClr val="tx1"/>
                </a:solidFill>
                <a:latin typeface="黑体" panose="02010609060101010101" pitchFamily="49" charset="-122"/>
                <a:ea typeface="黑体" panose="02010609060101010101" pitchFamily="49" charset="-122"/>
              </a:rPr>
              <a:t>、</a:t>
            </a:r>
            <a:r>
              <a:rPr lang="en-US" altLang="zh-CN" b="1" i="1" dirty="0">
                <a:solidFill>
                  <a:schemeClr val="tx1"/>
                </a:solidFill>
                <a:latin typeface="黑体" panose="02010609060101010101" pitchFamily="49" charset="-122"/>
                <a:ea typeface="黑体" panose="02010609060101010101" pitchFamily="49" charset="-122"/>
              </a:rPr>
              <a:t>(06</a:t>
            </a:r>
            <a:r>
              <a:rPr lang="zh-CN" altLang="en-US" b="1" i="1" dirty="0">
                <a:solidFill>
                  <a:schemeClr val="tx1"/>
                </a:solidFill>
                <a:latin typeface="黑体" panose="02010609060101010101" pitchFamily="49" charset="-122"/>
                <a:ea typeface="黑体" panose="02010609060101010101" pitchFamily="49" charset="-122"/>
              </a:rPr>
              <a:t>年全国联赛</a:t>
            </a:r>
            <a:r>
              <a:rPr lang="en-US" altLang="zh-CN" b="1" i="1" dirty="0">
                <a:solidFill>
                  <a:schemeClr val="tx1"/>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某男子患有一种罕见的皮肤病。他与一位正常女子结婚后，生育了</a:t>
            </a:r>
            <a:r>
              <a:rPr lang="en-US" altLang="zh-CN" b="1" dirty="0">
                <a:solidFill>
                  <a:schemeClr val="tx1"/>
                </a:solidFill>
                <a:latin typeface="黑体" panose="02010609060101010101" pitchFamily="49" charset="-122"/>
                <a:ea typeface="黑体" panose="02010609060101010101" pitchFamily="49" charset="-122"/>
              </a:rPr>
              <a:t>6</a:t>
            </a:r>
            <a:r>
              <a:rPr lang="zh-CN" altLang="en-US" b="1" dirty="0">
                <a:solidFill>
                  <a:schemeClr val="tx1"/>
                </a:solidFill>
                <a:latin typeface="黑体" panose="02010609060101010101" pitchFamily="49" charset="-122"/>
                <a:ea typeface="黑体" panose="02010609060101010101" pitchFamily="49" charset="-122"/>
              </a:rPr>
              <a:t>个儿子和</a:t>
            </a:r>
            <a:r>
              <a:rPr lang="en-US" altLang="zh-CN" b="1" dirty="0">
                <a:solidFill>
                  <a:schemeClr val="tx1"/>
                </a:solidFill>
                <a:latin typeface="黑体" panose="02010609060101010101" pitchFamily="49" charset="-122"/>
                <a:ea typeface="黑体" panose="02010609060101010101" pitchFamily="49" charset="-122"/>
              </a:rPr>
              <a:t>4</a:t>
            </a:r>
            <a:r>
              <a:rPr lang="zh-CN" altLang="en-US" b="1" dirty="0">
                <a:solidFill>
                  <a:schemeClr val="tx1"/>
                </a:solidFill>
                <a:latin typeface="黑体" panose="02010609060101010101" pitchFamily="49" charset="-122"/>
                <a:ea typeface="黑体" panose="02010609060101010101" pitchFamily="49" charset="-122"/>
              </a:rPr>
              <a:t>个女儿。所有儿子都患该病，所有女儿都正常。随后发现，该男子所有孙子都患病，所有孙女、外孙、外孙女都正常，该病的遗传方式最可能为</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A</a:t>
            </a:r>
            <a:r>
              <a:rPr lang="zh-CN" altLang="en-US" b="1" dirty="0">
                <a:solidFill>
                  <a:schemeClr val="tx1"/>
                </a:solidFill>
                <a:latin typeface="黑体" panose="02010609060101010101" pitchFamily="49" charset="-122"/>
                <a:ea typeface="黑体" panose="02010609060101010101" pitchFamily="49" charset="-122"/>
              </a:rPr>
              <a:t>．</a:t>
            </a:r>
            <a:r>
              <a:rPr lang="en-US" altLang="zh-CN" b="1" dirty="0">
                <a:solidFill>
                  <a:schemeClr val="tx1"/>
                </a:solidFill>
                <a:latin typeface="黑体" panose="02010609060101010101" pitchFamily="49" charset="-122"/>
                <a:ea typeface="黑体" panose="02010609060101010101" pitchFamily="49" charset="-122"/>
              </a:rPr>
              <a:t>X</a:t>
            </a:r>
            <a:r>
              <a:rPr lang="zh-CN" altLang="en-US" b="1" dirty="0">
                <a:solidFill>
                  <a:schemeClr val="tx1"/>
                </a:solidFill>
                <a:latin typeface="黑体" panose="02010609060101010101" pitchFamily="49" charset="-122"/>
                <a:ea typeface="黑体" panose="02010609060101010101" pitchFamily="49" charset="-122"/>
              </a:rPr>
              <a:t>连锁隐性遗传		</a:t>
            </a:r>
            <a:r>
              <a:rPr lang="en-US" altLang="zh-CN" b="1" dirty="0">
                <a:solidFill>
                  <a:schemeClr val="tx1"/>
                </a:solidFill>
                <a:latin typeface="黑体" panose="02010609060101010101" pitchFamily="49" charset="-122"/>
                <a:ea typeface="黑体" panose="02010609060101010101" pitchFamily="49" charset="-122"/>
              </a:rPr>
              <a:t>B</a:t>
            </a:r>
            <a:r>
              <a:rPr lang="zh-CN" altLang="en-US" b="1" dirty="0">
                <a:solidFill>
                  <a:schemeClr val="tx1"/>
                </a:solidFill>
                <a:latin typeface="黑体" panose="02010609060101010101" pitchFamily="49" charset="-122"/>
                <a:ea typeface="黑体" panose="02010609060101010101" pitchFamily="49" charset="-122"/>
              </a:rPr>
              <a:t>．常染色体显性遗传</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C</a:t>
            </a:r>
            <a:r>
              <a:rPr lang="zh-CN" altLang="en-US" b="1" dirty="0">
                <a:solidFill>
                  <a:schemeClr val="tx1"/>
                </a:solidFill>
                <a:latin typeface="黑体" panose="02010609060101010101" pitchFamily="49" charset="-122"/>
                <a:ea typeface="黑体" panose="02010609060101010101" pitchFamily="49" charset="-122"/>
              </a:rPr>
              <a:t>．</a:t>
            </a:r>
            <a:r>
              <a:rPr lang="en-US" altLang="zh-CN" b="1" dirty="0">
                <a:solidFill>
                  <a:schemeClr val="tx1"/>
                </a:solidFill>
                <a:latin typeface="黑体" panose="02010609060101010101" pitchFamily="49" charset="-122"/>
                <a:ea typeface="黑体" panose="02010609060101010101" pitchFamily="49" charset="-122"/>
              </a:rPr>
              <a:t>Y</a:t>
            </a:r>
            <a:r>
              <a:rPr lang="zh-CN" altLang="en-US" b="1" dirty="0">
                <a:solidFill>
                  <a:schemeClr val="tx1"/>
                </a:solidFill>
                <a:latin typeface="黑体" panose="02010609060101010101" pitchFamily="49" charset="-122"/>
                <a:ea typeface="黑体" panose="02010609060101010101" pitchFamily="49" charset="-122"/>
              </a:rPr>
              <a:t>连锁遗传			</a:t>
            </a:r>
            <a:r>
              <a:rPr lang="en-US" altLang="zh-CN" b="1" dirty="0">
                <a:solidFill>
                  <a:schemeClr val="tx1"/>
                </a:solidFill>
                <a:latin typeface="黑体" panose="02010609060101010101" pitchFamily="49" charset="-122"/>
                <a:ea typeface="黑体" panose="02010609060101010101" pitchFamily="49" charset="-122"/>
              </a:rPr>
              <a:t>D</a:t>
            </a:r>
            <a:r>
              <a:rPr lang="zh-CN" altLang="en-US" b="1" dirty="0">
                <a:solidFill>
                  <a:schemeClr val="tx1"/>
                </a:solidFill>
                <a:latin typeface="黑体" panose="02010609060101010101" pitchFamily="49" charset="-122"/>
                <a:ea typeface="黑体" panose="02010609060101010101" pitchFamily="49" charset="-122"/>
              </a:rPr>
              <a:t>．无法判断</a:t>
            </a:r>
          </a:p>
          <a:p>
            <a:pPr eaLnBrk="1" hangingPunct="1">
              <a:lnSpc>
                <a:spcPct val="90000"/>
              </a:lnSpc>
              <a:buNone/>
            </a:pPr>
            <a:endParaRPr lang="en-US" altLang="zh-CN" b="1" dirty="0">
              <a:solidFill>
                <a:schemeClr val="tx1"/>
              </a:solidFill>
              <a:latin typeface="黑体" panose="02010609060101010101" pitchFamily="49" charset="-122"/>
              <a:ea typeface="黑体" panose="02010609060101010101" pitchFamily="49" charset="-122"/>
            </a:endParaRPr>
          </a:p>
          <a:p>
            <a:pPr eaLnBrk="1" hangingPunct="1">
              <a:lnSpc>
                <a:spcPct val="90000"/>
              </a:lnSpc>
              <a:buNone/>
            </a:pPr>
            <a:r>
              <a:rPr lang="en-US" altLang="zh-CN" b="1" dirty="0">
                <a:solidFill>
                  <a:schemeClr val="tx1"/>
                </a:solidFill>
                <a:latin typeface="黑体" panose="02010609060101010101" pitchFamily="49" charset="-122"/>
                <a:ea typeface="黑体" panose="02010609060101010101" pitchFamily="49" charset="-122"/>
              </a:rPr>
              <a:t>6</a:t>
            </a:r>
            <a:r>
              <a:rPr lang="zh-CN" altLang="en-US" b="1" dirty="0">
                <a:solidFill>
                  <a:schemeClr val="tx1"/>
                </a:solidFill>
                <a:latin typeface="黑体" panose="02010609060101010101" pitchFamily="49" charset="-122"/>
                <a:ea typeface="黑体" panose="02010609060101010101" pitchFamily="49" charset="-122"/>
              </a:rPr>
              <a:t>、</a:t>
            </a:r>
            <a:r>
              <a:rPr lang="en-US" altLang="zh-CN" b="1" i="1" dirty="0">
                <a:solidFill>
                  <a:schemeClr val="tx1"/>
                </a:solidFill>
                <a:latin typeface="黑体" panose="02010609060101010101" pitchFamily="49" charset="-122"/>
                <a:ea typeface="黑体" panose="02010609060101010101" pitchFamily="49" charset="-122"/>
              </a:rPr>
              <a:t>(06</a:t>
            </a:r>
            <a:r>
              <a:rPr lang="zh-CN" altLang="en-US" b="1" i="1" dirty="0">
                <a:solidFill>
                  <a:schemeClr val="tx1"/>
                </a:solidFill>
                <a:latin typeface="黑体" panose="02010609060101010101" pitchFamily="49" charset="-122"/>
                <a:ea typeface="黑体" panose="02010609060101010101" pitchFamily="49" charset="-122"/>
              </a:rPr>
              <a:t>年全国联赛</a:t>
            </a:r>
            <a:r>
              <a:rPr lang="en-US" altLang="zh-CN" b="1" i="1" dirty="0">
                <a:solidFill>
                  <a:schemeClr val="tx1"/>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下面哪些（种）有关性别决定的说法正确？ </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A</a:t>
            </a:r>
            <a:r>
              <a:rPr lang="zh-CN" altLang="en-US" b="1" dirty="0">
                <a:solidFill>
                  <a:schemeClr val="tx1"/>
                </a:solidFill>
                <a:latin typeface="黑体" panose="02010609060101010101" pitchFamily="49" charset="-122"/>
                <a:ea typeface="黑体" panose="02010609060101010101" pitchFamily="49" charset="-122"/>
              </a:rPr>
              <a:t>．哺乳类的性别是由</a:t>
            </a:r>
            <a:r>
              <a:rPr lang="en-US" altLang="zh-CN" b="1" dirty="0">
                <a:solidFill>
                  <a:schemeClr val="tx1"/>
                </a:solidFill>
                <a:latin typeface="黑体" panose="02010609060101010101" pitchFamily="49" charset="-122"/>
                <a:ea typeface="黑体" panose="02010609060101010101" pitchFamily="49" charset="-122"/>
              </a:rPr>
              <a:t>XY</a:t>
            </a:r>
            <a:r>
              <a:rPr lang="zh-CN" altLang="en-US" b="1" dirty="0">
                <a:solidFill>
                  <a:schemeClr val="tx1"/>
                </a:solidFill>
                <a:latin typeface="黑体" panose="02010609060101010101" pitchFamily="49" charset="-122"/>
                <a:ea typeface="黑体" panose="02010609060101010101" pitchFamily="49" charset="-122"/>
              </a:rPr>
              <a:t>染色体决定的    </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B</a:t>
            </a:r>
            <a:r>
              <a:rPr lang="zh-CN" altLang="en-US" b="1" dirty="0">
                <a:solidFill>
                  <a:schemeClr val="tx1"/>
                </a:solidFill>
                <a:latin typeface="黑体" panose="02010609060101010101" pitchFamily="49" charset="-122"/>
                <a:ea typeface="黑体" panose="02010609060101010101" pitchFamily="49" charset="-122"/>
              </a:rPr>
              <a:t>．植物没有性染色体</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C</a:t>
            </a:r>
            <a:r>
              <a:rPr lang="zh-CN" altLang="en-US" b="1" dirty="0">
                <a:solidFill>
                  <a:schemeClr val="tx1"/>
                </a:solidFill>
                <a:latin typeface="黑体" panose="02010609060101010101" pitchFamily="49" charset="-122"/>
                <a:ea typeface="黑体" panose="02010609060101010101" pitchFamily="49" charset="-122"/>
              </a:rPr>
              <a:t>．染色体数目可能决定性别             </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D</a:t>
            </a:r>
            <a:r>
              <a:rPr lang="zh-CN" altLang="en-US" b="1" dirty="0">
                <a:solidFill>
                  <a:schemeClr val="tx1"/>
                </a:solidFill>
                <a:latin typeface="黑体" panose="02010609060101010101" pitchFamily="49" charset="-122"/>
                <a:ea typeface="黑体" panose="02010609060101010101" pitchFamily="49" charset="-122"/>
              </a:rPr>
              <a:t>．有的动物是雌雄同体的</a:t>
            </a:r>
          </a:p>
        </p:txBody>
      </p:sp>
      <p:sp>
        <p:nvSpPr>
          <p:cNvPr id="6469636" name="Text Box 4"/>
          <p:cNvSpPr txBox="1">
            <a:spLocks noChangeArrowheads="1"/>
          </p:cNvSpPr>
          <p:nvPr/>
        </p:nvSpPr>
        <p:spPr bwMode="auto">
          <a:xfrm>
            <a:off x="9322062" y="1907598"/>
            <a:ext cx="504825" cy="584775"/>
          </a:xfrm>
          <a:prstGeom prst="rect">
            <a:avLst/>
          </a:prstGeom>
          <a:noFill/>
          <a:ln>
            <a:noFill/>
          </a:ln>
          <a:effectLst/>
        </p:spPr>
        <p:txBody>
          <a:bodyPr>
            <a:spAutoFit/>
          </a:bodyPr>
          <a:lstStyle/>
          <a:p>
            <a:pPr algn="ctr">
              <a:spcBef>
                <a:spcPct val="50000"/>
              </a:spcBef>
              <a:buFont typeface="Arial" panose="020B0604020202020204" pitchFamily="34" charset="0"/>
            </a:pPr>
            <a:r>
              <a:rPr lang="en-US" altLang="zh-CN" sz="3200" noProof="1">
                <a:solidFill>
                  <a:srgbClr val="FF0000"/>
                </a:solidFill>
                <a:effectLst>
                  <a:outerShdw blurRad="38100" dist="38100" dir="2700000">
                    <a:srgbClr val="000000"/>
                  </a:outerShdw>
                </a:effectLst>
                <a:sym typeface="+mn-ea"/>
              </a:rPr>
              <a:t>C</a:t>
            </a:r>
          </a:p>
        </p:txBody>
      </p:sp>
      <p:sp>
        <p:nvSpPr>
          <p:cNvPr id="6469637" name="Text Box 5"/>
          <p:cNvSpPr txBox="1">
            <a:spLocks noChangeArrowheads="1"/>
          </p:cNvSpPr>
          <p:nvPr/>
        </p:nvSpPr>
        <p:spPr bwMode="auto">
          <a:xfrm>
            <a:off x="8401052" y="4365627"/>
            <a:ext cx="1655763" cy="584775"/>
          </a:xfrm>
          <a:prstGeom prst="rect">
            <a:avLst/>
          </a:prstGeom>
          <a:noFill/>
          <a:ln>
            <a:noFill/>
          </a:ln>
          <a:effectLst/>
        </p:spPr>
        <p:txBody>
          <a:bodyPr>
            <a:spAutoFit/>
          </a:bodyPr>
          <a:lstStyle/>
          <a:p>
            <a:pPr algn="ctr">
              <a:spcBef>
                <a:spcPct val="50000"/>
              </a:spcBef>
              <a:defRPr/>
            </a:pPr>
            <a:r>
              <a:rPr lang="en-US" altLang="zh-CN" sz="3200">
                <a:solidFill>
                  <a:srgbClr val="FF0000"/>
                </a:solidFill>
                <a:effectLst>
                  <a:outerShdw blurRad="38100" dist="38100" dir="2700000" algn="tl">
                    <a:srgbClr val="C0C0C0"/>
                  </a:outerShdw>
                </a:effectLst>
                <a:sym typeface="+mn-ea"/>
              </a:rPr>
              <a:t>ABCD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696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696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69636" grpId="0"/>
      <p:bldP spid="646963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Rectangle 2"/>
          <p:cNvSpPr>
            <a:spLocks noGrp="1"/>
          </p:cNvSpPr>
          <p:nvPr>
            <p:ph idx="1"/>
          </p:nvPr>
        </p:nvSpPr>
        <p:spPr>
          <a:xfrm>
            <a:off x="531628" y="1196975"/>
            <a:ext cx="11291777" cy="5029200"/>
          </a:xfrm>
          <a:noFill/>
          <a:ln>
            <a:noFill/>
          </a:ln>
        </p:spPr>
        <p:txBody>
          <a:bodyPr anchor="t" anchorCtr="0"/>
          <a:lstStyle/>
          <a:p>
            <a:pPr eaLnBrk="1" hangingPunct="1">
              <a:buNone/>
            </a:pPr>
            <a:r>
              <a:rPr lang="en-US" altLang="zh-CN" b="1" dirty="0">
                <a:solidFill>
                  <a:schemeClr val="tx1"/>
                </a:solidFill>
              </a:rPr>
              <a:t>7</a:t>
            </a:r>
            <a:r>
              <a:rPr lang="zh-CN" altLang="en-US" b="1" dirty="0">
                <a:solidFill>
                  <a:schemeClr val="tx1"/>
                </a:solidFill>
              </a:rPr>
              <a:t>、</a:t>
            </a:r>
            <a:r>
              <a:rPr lang="en-US" altLang="zh-CN" b="1" i="1" dirty="0">
                <a:solidFill>
                  <a:schemeClr val="tx1"/>
                </a:solidFill>
              </a:rPr>
              <a:t>(03</a:t>
            </a:r>
            <a:r>
              <a:rPr lang="zh-CN" altLang="en-US" b="1" i="1" dirty="0">
                <a:solidFill>
                  <a:schemeClr val="tx1"/>
                </a:solidFill>
              </a:rPr>
              <a:t>年全国联赛</a:t>
            </a:r>
            <a:r>
              <a:rPr lang="en-US" altLang="zh-CN" b="1" i="1" dirty="0">
                <a:solidFill>
                  <a:schemeClr val="tx1"/>
                </a:solidFill>
              </a:rPr>
              <a:t>)</a:t>
            </a:r>
            <a:r>
              <a:rPr lang="zh-CN" altLang="en-US" b="1" dirty="0">
                <a:solidFill>
                  <a:schemeClr val="tx1"/>
                </a:solidFill>
              </a:rPr>
              <a:t>一雄蜂和一雌蜂交配后产生的</a:t>
            </a:r>
            <a:r>
              <a:rPr lang="en-US" altLang="zh-CN" b="1" dirty="0">
                <a:solidFill>
                  <a:schemeClr val="tx1"/>
                </a:solidFill>
              </a:rPr>
              <a:t>F</a:t>
            </a:r>
            <a:r>
              <a:rPr lang="en-US" altLang="zh-CN" b="1" baseline="-25000" dirty="0">
                <a:solidFill>
                  <a:schemeClr val="tx1"/>
                </a:solidFill>
              </a:rPr>
              <a:t>1</a:t>
            </a:r>
            <a:r>
              <a:rPr lang="zh-CN" altLang="en-US" b="1" dirty="0">
                <a:solidFill>
                  <a:schemeClr val="tx1"/>
                </a:solidFill>
              </a:rPr>
              <a:t>中，雄蜂的基因型有</a:t>
            </a:r>
            <a:r>
              <a:rPr lang="en-US" altLang="zh-CN" b="1" dirty="0">
                <a:solidFill>
                  <a:schemeClr val="tx1"/>
                </a:solidFill>
              </a:rPr>
              <a:t>AB</a:t>
            </a:r>
            <a:r>
              <a:rPr lang="zh-CN" altLang="en-US" b="1" dirty="0">
                <a:solidFill>
                  <a:schemeClr val="tx1"/>
                </a:solidFill>
              </a:rPr>
              <a:t>、</a:t>
            </a:r>
            <a:r>
              <a:rPr lang="en-US" altLang="zh-CN" b="1" dirty="0">
                <a:solidFill>
                  <a:schemeClr val="tx1"/>
                </a:solidFill>
              </a:rPr>
              <a:t>Ab</a:t>
            </a:r>
            <a:r>
              <a:rPr lang="zh-CN" altLang="en-US" b="1" dirty="0">
                <a:solidFill>
                  <a:schemeClr val="tx1"/>
                </a:solidFill>
              </a:rPr>
              <a:t>、</a:t>
            </a:r>
            <a:r>
              <a:rPr lang="en-US" altLang="zh-CN" b="1" dirty="0">
                <a:solidFill>
                  <a:schemeClr val="tx1"/>
                </a:solidFill>
              </a:rPr>
              <a:t>aB</a:t>
            </a:r>
            <a:r>
              <a:rPr lang="zh-CN" altLang="en-US" b="1" dirty="0">
                <a:solidFill>
                  <a:schemeClr val="tx1"/>
                </a:solidFill>
              </a:rPr>
              <a:t>、</a:t>
            </a:r>
            <a:r>
              <a:rPr lang="en-US" altLang="zh-CN" b="1" dirty="0">
                <a:solidFill>
                  <a:schemeClr val="tx1"/>
                </a:solidFill>
              </a:rPr>
              <a:t>ab</a:t>
            </a:r>
            <a:r>
              <a:rPr lang="zh-CN" altLang="en-US" b="1" dirty="0">
                <a:solidFill>
                  <a:schemeClr val="tx1"/>
                </a:solidFill>
              </a:rPr>
              <a:t>四种；雌蜂的基因型有</a:t>
            </a:r>
            <a:r>
              <a:rPr lang="en-US" altLang="zh-CN" b="1" dirty="0">
                <a:solidFill>
                  <a:schemeClr val="tx1"/>
                </a:solidFill>
              </a:rPr>
              <a:t>AaBb</a:t>
            </a:r>
            <a:r>
              <a:rPr lang="zh-CN" altLang="en-US" b="1" dirty="0">
                <a:solidFill>
                  <a:schemeClr val="tx1"/>
                </a:solidFill>
              </a:rPr>
              <a:t>、</a:t>
            </a:r>
            <a:r>
              <a:rPr lang="en-US" altLang="zh-CN" b="1" dirty="0">
                <a:solidFill>
                  <a:schemeClr val="tx1"/>
                </a:solidFill>
              </a:rPr>
              <a:t>Aabb</a:t>
            </a:r>
            <a:r>
              <a:rPr lang="zh-CN" altLang="en-US" b="1" dirty="0">
                <a:solidFill>
                  <a:schemeClr val="tx1"/>
                </a:solidFill>
              </a:rPr>
              <a:t>、</a:t>
            </a:r>
            <a:r>
              <a:rPr lang="en-US" altLang="zh-CN" b="1" dirty="0">
                <a:solidFill>
                  <a:schemeClr val="tx1"/>
                </a:solidFill>
              </a:rPr>
              <a:t>aaBb</a:t>
            </a:r>
            <a:r>
              <a:rPr lang="zh-CN" altLang="en-US" b="1" dirty="0">
                <a:solidFill>
                  <a:schemeClr val="tx1"/>
                </a:solidFill>
              </a:rPr>
              <a:t>和</a:t>
            </a:r>
            <a:r>
              <a:rPr lang="en-US" altLang="zh-CN" b="1" dirty="0">
                <a:solidFill>
                  <a:schemeClr val="tx1"/>
                </a:solidFill>
              </a:rPr>
              <a:t>aabb</a:t>
            </a:r>
            <a:r>
              <a:rPr lang="zh-CN" altLang="en-US" b="1" dirty="0">
                <a:solidFill>
                  <a:schemeClr val="tx1"/>
                </a:solidFill>
              </a:rPr>
              <a:t>四种。则亲本的基因型是</a:t>
            </a:r>
          </a:p>
          <a:p>
            <a:pPr eaLnBrk="1" hangingPunct="1">
              <a:buNone/>
            </a:pPr>
            <a:r>
              <a:rPr lang="zh-CN" altLang="en-US" b="1" dirty="0">
                <a:solidFill>
                  <a:schemeClr val="tx1"/>
                </a:solidFill>
              </a:rPr>
              <a:t>   </a:t>
            </a:r>
            <a:r>
              <a:rPr lang="en-US" altLang="zh-CN" b="1" dirty="0">
                <a:solidFill>
                  <a:schemeClr val="tx1"/>
                </a:solidFill>
              </a:rPr>
              <a:t>A</a:t>
            </a:r>
            <a:r>
              <a:rPr lang="zh-CN" altLang="en-US" b="1" dirty="0">
                <a:solidFill>
                  <a:schemeClr val="tx1"/>
                </a:solidFill>
              </a:rPr>
              <a:t>．</a:t>
            </a:r>
            <a:r>
              <a:rPr lang="en-US" altLang="zh-CN" b="1" dirty="0">
                <a:solidFill>
                  <a:schemeClr val="tx1"/>
                </a:solidFill>
              </a:rPr>
              <a:t>aaBb×Ab      B</a:t>
            </a:r>
            <a:r>
              <a:rPr lang="zh-CN" altLang="en-US" b="1" dirty="0">
                <a:solidFill>
                  <a:schemeClr val="tx1"/>
                </a:solidFill>
              </a:rPr>
              <a:t>．</a:t>
            </a:r>
            <a:r>
              <a:rPr lang="en-US" altLang="zh-CN" b="1" dirty="0">
                <a:solidFill>
                  <a:schemeClr val="tx1"/>
                </a:solidFill>
              </a:rPr>
              <a:t>AaBb×Ab     C</a:t>
            </a:r>
            <a:r>
              <a:rPr lang="zh-CN" altLang="en-US" b="1" dirty="0">
                <a:solidFill>
                  <a:schemeClr val="tx1"/>
                </a:solidFill>
              </a:rPr>
              <a:t>．</a:t>
            </a:r>
            <a:r>
              <a:rPr lang="en-US" altLang="zh-CN" b="1" dirty="0">
                <a:solidFill>
                  <a:schemeClr val="tx1"/>
                </a:solidFill>
              </a:rPr>
              <a:t>AAbb×aB     D</a:t>
            </a:r>
            <a:r>
              <a:rPr lang="zh-CN" altLang="en-US" b="1" dirty="0">
                <a:solidFill>
                  <a:schemeClr val="tx1"/>
                </a:solidFill>
              </a:rPr>
              <a:t>．</a:t>
            </a:r>
            <a:r>
              <a:rPr lang="en-US" altLang="zh-CN" b="1" dirty="0">
                <a:solidFill>
                  <a:schemeClr val="tx1"/>
                </a:solidFill>
              </a:rPr>
              <a:t>AaBb×ab</a:t>
            </a:r>
          </a:p>
        </p:txBody>
      </p:sp>
      <p:sp>
        <p:nvSpPr>
          <p:cNvPr id="6470660" name="Text Box 4"/>
          <p:cNvSpPr txBox="1">
            <a:spLocks noChangeArrowheads="1"/>
          </p:cNvSpPr>
          <p:nvPr/>
        </p:nvSpPr>
        <p:spPr bwMode="auto">
          <a:xfrm>
            <a:off x="9255423" y="3429000"/>
            <a:ext cx="504825" cy="646331"/>
          </a:xfrm>
          <a:prstGeom prst="rect">
            <a:avLst/>
          </a:prstGeom>
          <a:noFill/>
          <a:ln>
            <a:noFill/>
          </a:ln>
          <a:effectLst/>
        </p:spPr>
        <p:txBody>
          <a:bodyPr>
            <a:spAutoFit/>
          </a:bodyPr>
          <a:lstStyle/>
          <a:p>
            <a:pPr algn="ctr">
              <a:spcBef>
                <a:spcPct val="50000"/>
              </a:spcBef>
              <a:buFont typeface="Arial" panose="020B0604020202020204" pitchFamily="34" charset="0"/>
            </a:pPr>
            <a:r>
              <a:rPr lang="en-US" altLang="zh-CN" sz="3600" noProof="1">
                <a:solidFill>
                  <a:srgbClr val="FF0000"/>
                </a:solidFill>
                <a:effectLst>
                  <a:outerShdw blurRad="38100" dist="38100" dir="2700000">
                    <a:srgbClr val="000000"/>
                  </a:outerShdw>
                </a:effectLst>
                <a:sym typeface="+mn-ea"/>
              </a:rPr>
              <a:t>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706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066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Rectangle 3"/>
          <p:cNvSpPr>
            <a:spLocks noGrp="1"/>
          </p:cNvSpPr>
          <p:nvPr>
            <p:ph idx="1"/>
          </p:nvPr>
        </p:nvSpPr>
        <p:spPr>
          <a:xfrm>
            <a:off x="520996" y="1196977"/>
            <a:ext cx="11174818" cy="4525963"/>
          </a:xfrm>
          <a:noFill/>
          <a:ln>
            <a:noFill/>
          </a:ln>
        </p:spPr>
        <p:txBody>
          <a:bodyPr anchor="t" anchorCtr="0"/>
          <a:lstStyle/>
          <a:p>
            <a:pPr eaLnBrk="1" hangingPunct="1">
              <a:lnSpc>
                <a:spcPct val="90000"/>
              </a:lnSpc>
              <a:buNone/>
            </a:pPr>
            <a:r>
              <a:rPr lang="en-US" altLang="zh-CN" b="1" dirty="0">
                <a:solidFill>
                  <a:schemeClr val="tx1"/>
                </a:solidFill>
                <a:latin typeface="黑体" panose="02010609060101010101" pitchFamily="49" charset="-122"/>
                <a:ea typeface="黑体" panose="02010609060101010101" pitchFamily="49" charset="-122"/>
              </a:rPr>
              <a:t>8</a:t>
            </a:r>
            <a:r>
              <a:rPr lang="zh-CN" altLang="en-US" b="1" dirty="0">
                <a:solidFill>
                  <a:schemeClr val="tx1"/>
                </a:solidFill>
                <a:latin typeface="黑体" panose="02010609060101010101" pitchFamily="49" charset="-122"/>
                <a:ea typeface="黑体" panose="02010609060101010101" pitchFamily="49" charset="-122"/>
              </a:rPr>
              <a:t>、（</a:t>
            </a:r>
            <a:r>
              <a:rPr lang="en-US" altLang="zh-CN" b="1" dirty="0">
                <a:solidFill>
                  <a:schemeClr val="tx1"/>
                </a:solidFill>
                <a:latin typeface="黑体" panose="02010609060101010101" pitchFamily="49" charset="-122"/>
                <a:ea typeface="黑体" panose="02010609060101010101" pitchFamily="49" charset="-122"/>
              </a:rPr>
              <a:t>07</a:t>
            </a:r>
            <a:r>
              <a:rPr lang="zh-CN" altLang="en-US" b="1" dirty="0">
                <a:solidFill>
                  <a:schemeClr val="tx1"/>
                </a:solidFill>
                <a:latin typeface="黑体" panose="02010609060101010101" pitchFamily="49" charset="-122"/>
                <a:ea typeface="黑体" panose="02010609060101010101" pitchFamily="49" charset="-122"/>
              </a:rPr>
              <a:t>年联赛）假设蜜蜂的显性基因</a:t>
            </a:r>
            <a:r>
              <a:rPr lang="en-US" altLang="zh-CN" b="1" dirty="0">
                <a:solidFill>
                  <a:schemeClr val="tx1"/>
                </a:solidFill>
                <a:latin typeface="黑体" panose="02010609060101010101" pitchFamily="49" charset="-122"/>
                <a:ea typeface="黑体" panose="02010609060101010101" pitchFamily="49" charset="-122"/>
              </a:rPr>
              <a:t>B</a:t>
            </a:r>
            <a:r>
              <a:rPr lang="zh-CN" altLang="en-US" b="1" dirty="0">
                <a:solidFill>
                  <a:schemeClr val="tx1"/>
                </a:solidFill>
                <a:latin typeface="黑体" panose="02010609060101010101" pitchFamily="49" charset="-122"/>
                <a:ea typeface="黑体" panose="02010609060101010101" pitchFamily="49" charset="-122"/>
              </a:rPr>
              <a:t>产生野生型眼色</a:t>
            </a:r>
            <a:r>
              <a:rPr lang="en-US" altLang="zh-CN" b="1" dirty="0">
                <a:solidFill>
                  <a:schemeClr val="tx1"/>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棕色</a:t>
            </a:r>
            <a:r>
              <a:rPr lang="en-US" altLang="zh-CN" b="1" dirty="0">
                <a:solidFill>
                  <a:schemeClr val="tx1"/>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，其隐性等位基因</a:t>
            </a:r>
            <a:r>
              <a:rPr lang="en-US" altLang="zh-CN" b="1" dirty="0">
                <a:solidFill>
                  <a:schemeClr val="tx1"/>
                </a:solidFill>
                <a:latin typeface="黑体" panose="02010609060101010101" pitchFamily="49" charset="-122"/>
                <a:ea typeface="黑体" panose="02010609060101010101" pitchFamily="49" charset="-122"/>
              </a:rPr>
              <a:t>b</a:t>
            </a:r>
            <a:r>
              <a:rPr lang="zh-CN" altLang="en-US" b="1" dirty="0">
                <a:solidFill>
                  <a:schemeClr val="tx1"/>
                </a:solidFill>
                <a:latin typeface="黑体" panose="02010609060101010101" pitchFamily="49" charset="-122"/>
                <a:ea typeface="黑体" panose="02010609060101010101" pitchFamily="49" charset="-122"/>
              </a:rPr>
              <a:t>产生粉色眼。如果粉色眼蜂王与棕色眼雄蜂交配，则他们的后代最有可能的是</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A</a:t>
            </a:r>
            <a:r>
              <a:rPr lang="zh-CN" altLang="en-US" b="1" dirty="0">
                <a:solidFill>
                  <a:schemeClr val="tx1"/>
                </a:solidFill>
                <a:latin typeface="黑体" panose="02010609060101010101" pitchFamily="49" charset="-122"/>
                <a:ea typeface="黑体" panose="02010609060101010101" pitchFamily="49" charset="-122"/>
              </a:rPr>
              <a:t>．只有野生型颜色的后代    </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B</a:t>
            </a:r>
            <a:r>
              <a:rPr lang="zh-CN" altLang="en-US" b="1" dirty="0">
                <a:solidFill>
                  <a:schemeClr val="tx1"/>
                </a:solidFill>
                <a:latin typeface="黑体" panose="02010609060101010101" pitchFamily="49" charset="-122"/>
                <a:ea typeface="黑体" panose="02010609060101010101" pitchFamily="49" charset="-122"/>
              </a:rPr>
              <a:t>．野生型工蜂与粉色眼雄蜂    </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C</a:t>
            </a:r>
            <a:r>
              <a:rPr lang="zh-CN" altLang="en-US" b="1" dirty="0">
                <a:solidFill>
                  <a:schemeClr val="tx1"/>
                </a:solidFill>
                <a:latin typeface="黑体" panose="02010609060101010101" pitchFamily="49" charset="-122"/>
                <a:ea typeface="黑体" panose="02010609060101010101" pitchFamily="49" charset="-122"/>
              </a:rPr>
              <a:t>．只有粉色眼后代</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D</a:t>
            </a:r>
            <a:r>
              <a:rPr lang="zh-CN" altLang="en-US" b="1" dirty="0">
                <a:solidFill>
                  <a:schemeClr val="tx1"/>
                </a:solidFill>
                <a:latin typeface="黑体" panose="02010609060101010101" pitchFamily="49" charset="-122"/>
                <a:ea typeface="黑体" panose="02010609060101010101" pitchFamily="49" charset="-122"/>
              </a:rPr>
              <a:t>．工蜂的表型比例是野生型：粉色眼</a:t>
            </a:r>
            <a:r>
              <a:rPr lang="en-US" altLang="zh-CN" b="1" dirty="0">
                <a:solidFill>
                  <a:schemeClr val="tx1"/>
                </a:solidFill>
                <a:latin typeface="黑体" panose="02010609060101010101" pitchFamily="49" charset="-122"/>
                <a:ea typeface="黑体" panose="02010609060101010101" pitchFamily="49" charset="-122"/>
              </a:rPr>
              <a:t>=1:1</a:t>
            </a:r>
            <a:r>
              <a:rPr lang="zh-CN" altLang="en-US" b="1" dirty="0">
                <a:solidFill>
                  <a:schemeClr val="tx1"/>
                </a:solidFill>
                <a:latin typeface="黑体" panose="02010609060101010101" pitchFamily="49" charset="-122"/>
                <a:ea typeface="黑体" panose="02010609060101010101" pitchFamily="49" charset="-122"/>
              </a:rPr>
              <a:t>，而所有雄蜂为野生型</a:t>
            </a:r>
          </a:p>
        </p:txBody>
      </p:sp>
      <p:sp>
        <p:nvSpPr>
          <p:cNvPr id="6466564" name="Text Box 4"/>
          <p:cNvSpPr txBox="1">
            <a:spLocks noChangeArrowheads="1"/>
          </p:cNvSpPr>
          <p:nvPr/>
        </p:nvSpPr>
        <p:spPr bwMode="auto">
          <a:xfrm>
            <a:off x="10002434" y="2193521"/>
            <a:ext cx="504825" cy="584775"/>
          </a:xfrm>
          <a:prstGeom prst="rect">
            <a:avLst/>
          </a:prstGeom>
          <a:noFill/>
          <a:ln>
            <a:noFill/>
          </a:ln>
          <a:effectLst/>
        </p:spPr>
        <p:txBody>
          <a:bodyPr>
            <a:spAutoFit/>
          </a:bodyPr>
          <a:lstStyle/>
          <a:p>
            <a:pPr algn="ctr">
              <a:spcBef>
                <a:spcPct val="50000"/>
              </a:spcBef>
              <a:buFont typeface="Arial" panose="020B0604020202020204" pitchFamily="34" charset="0"/>
            </a:pPr>
            <a:r>
              <a:rPr lang="en-US" altLang="zh-CN" sz="3200" noProof="1">
                <a:solidFill>
                  <a:srgbClr val="FF0000"/>
                </a:solidFill>
                <a:effectLst>
                  <a:outerShdw blurRad="38100" dist="38100" dir="2700000">
                    <a:srgbClr val="000000"/>
                  </a:outerShdw>
                </a:effectLst>
                <a:sym typeface="+mn-ea"/>
              </a:rPr>
              <a:t>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665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6656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3"/>
          <p:cNvSpPr>
            <a:spLocks noGrp="1"/>
          </p:cNvSpPr>
          <p:nvPr>
            <p:ph idx="1"/>
          </p:nvPr>
        </p:nvSpPr>
        <p:spPr>
          <a:xfrm>
            <a:off x="982219" y="1078872"/>
            <a:ext cx="10469045" cy="4525963"/>
          </a:xfrm>
          <a:noFill/>
          <a:ln>
            <a:noFill/>
          </a:ln>
        </p:spPr>
        <p:txBody>
          <a:bodyPr anchor="t" anchorCtr="0"/>
          <a:lstStyle/>
          <a:p>
            <a:pPr eaLnBrk="1" hangingPunct="1">
              <a:lnSpc>
                <a:spcPct val="90000"/>
              </a:lnSpc>
              <a:buNone/>
            </a:pPr>
            <a:r>
              <a:rPr lang="en-US" altLang="zh-CN" b="1" dirty="0">
                <a:solidFill>
                  <a:schemeClr val="tx1"/>
                </a:solidFill>
                <a:latin typeface="黑体" panose="02010609060101010101" pitchFamily="49" charset="-122"/>
                <a:ea typeface="黑体" panose="02010609060101010101" pitchFamily="49" charset="-122"/>
              </a:rPr>
              <a:t>9</a:t>
            </a:r>
            <a:r>
              <a:rPr lang="zh-CN" altLang="en-US" b="1" dirty="0">
                <a:solidFill>
                  <a:schemeClr val="tx1"/>
                </a:solidFill>
                <a:latin typeface="黑体" panose="02010609060101010101" pitchFamily="49" charset="-122"/>
                <a:ea typeface="黑体" panose="02010609060101010101" pitchFamily="49" charset="-122"/>
              </a:rPr>
              <a:t>．试指出交叉遗传是下列哪些遗传方式表现   </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的特色（多选）</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A</a:t>
            </a:r>
            <a:r>
              <a:rPr lang="zh-CN" altLang="en-US" b="1" dirty="0">
                <a:solidFill>
                  <a:schemeClr val="tx1"/>
                </a:solidFill>
                <a:latin typeface="黑体" panose="02010609060101010101" pitchFamily="49" charset="-122"/>
                <a:ea typeface="黑体" panose="02010609060101010101" pitchFamily="49" charset="-122"/>
              </a:rPr>
              <a:t>．</a:t>
            </a:r>
            <a:r>
              <a:rPr lang="en-US" altLang="zh-CN" b="1" dirty="0">
                <a:solidFill>
                  <a:schemeClr val="tx1"/>
                </a:solidFill>
                <a:latin typeface="黑体" panose="02010609060101010101" pitchFamily="49" charset="-122"/>
                <a:ea typeface="黑体" panose="02010609060101010101" pitchFamily="49" charset="-122"/>
              </a:rPr>
              <a:t>X</a:t>
            </a:r>
            <a:r>
              <a:rPr lang="zh-CN" altLang="en-US" b="1" dirty="0">
                <a:solidFill>
                  <a:schemeClr val="tx1"/>
                </a:solidFill>
                <a:latin typeface="黑体" panose="02010609060101010101" pitchFamily="49" charset="-122"/>
                <a:ea typeface="黑体" panose="02010609060101010101" pitchFamily="49" charset="-122"/>
              </a:rPr>
              <a:t>连锁显性遗传      </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B</a:t>
            </a:r>
            <a:r>
              <a:rPr lang="zh-CN" altLang="en-US" b="1" dirty="0">
                <a:solidFill>
                  <a:schemeClr val="tx1"/>
                </a:solidFill>
                <a:latin typeface="黑体" panose="02010609060101010101" pitchFamily="49" charset="-122"/>
                <a:ea typeface="黑体" panose="02010609060101010101" pitchFamily="49" charset="-122"/>
              </a:rPr>
              <a:t>．</a:t>
            </a:r>
            <a:r>
              <a:rPr lang="en-US" altLang="zh-CN" b="1" dirty="0">
                <a:solidFill>
                  <a:schemeClr val="tx1"/>
                </a:solidFill>
                <a:latin typeface="黑体" panose="02010609060101010101" pitchFamily="49" charset="-122"/>
                <a:ea typeface="黑体" panose="02010609060101010101" pitchFamily="49" charset="-122"/>
              </a:rPr>
              <a:t>X</a:t>
            </a:r>
            <a:r>
              <a:rPr lang="zh-CN" altLang="en-US" b="1" dirty="0">
                <a:solidFill>
                  <a:schemeClr val="tx1"/>
                </a:solidFill>
                <a:latin typeface="黑体" panose="02010609060101010101" pitchFamily="49" charset="-122"/>
                <a:ea typeface="黑体" panose="02010609060101010101" pitchFamily="49" charset="-122"/>
              </a:rPr>
              <a:t>连锁隐性遗传       </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C</a:t>
            </a:r>
            <a:r>
              <a:rPr lang="zh-CN" altLang="en-US" b="1" dirty="0">
                <a:solidFill>
                  <a:schemeClr val="tx1"/>
                </a:solidFill>
                <a:latin typeface="黑体" panose="02010609060101010101" pitchFamily="49" charset="-122"/>
                <a:ea typeface="黑体" panose="02010609060101010101" pitchFamily="49" charset="-122"/>
              </a:rPr>
              <a:t>．</a:t>
            </a:r>
            <a:r>
              <a:rPr lang="en-US" altLang="zh-CN" b="1" dirty="0">
                <a:solidFill>
                  <a:schemeClr val="tx1"/>
                </a:solidFill>
                <a:latin typeface="黑体" panose="02010609060101010101" pitchFamily="49" charset="-122"/>
                <a:ea typeface="黑体" panose="02010609060101010101" pitchFamily="49" charset="-122"/>
              </a:rPr>
              <a:t>Z</a:t>
            </a:r>
            <a:r>
              <a:rPr lang="zh-CN" altLang="en-US" b="1" dirty="0">
                <a:solidFill>
                  <a:schemeClr val="tx1"/>
                </a:solidFill>
                <a:latin typeface="黑体" panose="02010609060101010101" pitchFamily="49" charset="-122"/>
                <a:ea typeface="黑体" panose="02010609060101010101" pitchFamily="49" charset="-122"/>
              </a:rPr>
              <a:t>连锁显性遗传</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D</a:t>
            </a:r>
            <a:r>
              <a:rPr lang="zh-CN" altLang="en-US" b="1" dirty="0">
                <a:solidFill>
                  <a:schemeClr val="tx1"/>
                </a:solidFill>
                <a:latin typeface="黑体" panose="02010609060101010101" pitchFamily="49" charset="-122"/>
                <a:ea typeface="黑体" panose="02010609060101010101" pitchFamily="49" charset="-122"/>
              </a:rPr>
              <a:t>．</a:t>
            </a:r>
            <a:r>
              <a:rPr lang="en-US" altLang="zh-CN" b="1" dirty="0">
                <a:solidFill>
                  <a:schemeClr val="tx1"/>
                </a:solidFill>
                <a:latin typeface="黑体" panose="02010609060101010101" pitchFamily="49" charset="-122"/>
                <a:ea typeface="黑体" panose="02010609060101010101" pitchFamily="49" charset="-122"/>
              </a:rPr>
              <a:t>Z</a:t>
            </a:r>
            <a:r>
              <a:rPr lang="zh-CN" altLang="en-US" b="1" dirty="0">
                <a:solidFill>
                  <a:schemeClr val="tx1"/>
                </a:solidFill>
                <a:latin typeface="黑体" panose="02010609060101010101" pitchFamily="49" charset="-122"/>
                <a:ea typeface="黑体" panose="02010609060101010101" pitchFamily="49" charset="-122"/>
              </a:rPr>
              <a:t>连锁隐性遗传     </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E</a:t>
            </a:r>
            <a:r>
              <a:rPr lang="zh-CN" altLang="en-US" b="1" dirty="0">
                <a:solidFill>
                  <a:schemeClr val="tx1"/>
                </a:solidFill>
                <a:latin typeface="黑体" panose="02010609060101010101" pitchFamily="49" charset="-122"/>
                <a:ea typeface="黑体" panose="02010609060101010101" pitchFamily="49" charset="-122"/>
              </a:rPr>
              <a:t>．</a:t>
            </a:r>
            <a:r>
              <a:rPr lang="en-US" altLang="zh-CN" b="1" dirty="0">
                <a:solidFill>
                  <a:schemeClr val="tx1"/>
                </a:solidFill>
                <a:latin typeface="黑体" panose="02010609060101010101" pitchFamily="49" charset="-122"/>
                <a:ea typeface="黑体" panose="02010609060101010101" pitchFamily="49" charset="-122"/>
              </a:rPr>
              <a:t>Y</a:t>
            </a:r>
            <a:r>
              <a:rPr lang="zh-CN" altLang="en-US" b="1" dirty="0">
                <a:solidFill>
                  <a:schemeClr val="tx1"/>
                </a:solidFill>
                <a:latin typeface="黑体" panose="02010609060101010101" pitchFamily="49" charset="-122"/>
                <a:ea typeface="黑体" panose="02010609060101010101" pitchFamily="49" charset="-122"/>
              </a:rPr>
              <a:t>连锁遗传            </a:t>
            </a:r>
          </a:p>
          <a:p>
            <a:pPr eaLnBrk="1" hangingPunct="1">
              <a:lnSpc>
                <a:spcPct val="90000"/>
              </a:lnSpc>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F</a:t>
            </a:r>
            <a:r>
              <a:rPr lang="zh-CN" altLang="en-US" b="1" dirty="0">
                <a:solidFill>
                  <a:schemeClr val="tx1"/>
                </a:solidFill>
                <a:latin typeface="黑体" panose="02010609060101010101" pitchFamily="49" charset="-122"/>
                <a:ea typeface="黑体" panose="02010609060101010101" pitchFamily="49" charset="-122"/>
              </a:rPr>
              <a:t>．均不是</a:t>
            </a:r>
          </a:p>
        </p:txBody>
      </p:sp>
      <p:sp>
        <p:nvSpPr>
          <p:cNvPr id="6473733" name="Text Box 5"/>
          <p:cNvSpPr txBox="1">
            <a:spLocks noChangeArrowheads="1"/>
          </p:cNvSpPr>
          <p:nvPr/>
        </p:nvSpPr>
        <p:spPr bwMode="auto">
          <a:xfrm>
            <a:off x="7175502" y="2276476"/>
            <a:ext cx="1368425" cy="584775"/>
          </a:xfrm>
          <a:prstGeom prst="rect">
            <a:avLst/>
          </a:prstGeom>
          <a:noFill/>
          <a:ln>
            <a:noFill/>
          </a:ln>
          <a:effectLst/>
        </p:spPr>
        <p:txBody>
          <a:bodyPr>
            <a:spAutoFit/>
          </a:bodyPr>
          <a:lstStyle/>
          <a:p>
            <a:pPr algn="ctr">
              <a:spcBef>
                <a:spcPct val="50000"/>
              </a:spcBef>
              <a:defRPr/>
            </a:pPr>
            <a:r>
              <a:rPr lang="en-US" altLang="zh-CN" sz="3200">
                <a:solidFill>
                  <a:srgbClr val="FF0000"/>
                </a:solidFill>
                <a:effectLst>
                  <a:outerShdw blurRad="38100" dist="38100" dir="2700000" algn="tl">
                    <a:srgbClr val="C0C0C0"/>
                  </a:outerShdw>
                </a:effectLst>
                <a:sym typeface="+mn-ea"/>
              </a:rPr>
              <a:t>ABCD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737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373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3"/>
          <p:cNvSpPr>
            <a:spLocks noGrp="1"/>
          </p:cNvSpPr>
          <p:nvPr>
            <p:ph idx="1"/>
          </p:nvPr>
        </p:nvSpPr>
        <p:spPr>
          <a:noFill/>
          <a:ln>
            <a:noFill/>
          </a:ln>
        </p:spPr>
        <p:txBody>
          <a:bodyPr anchor="t" anchorCtr="0"/>
          <a:lstStyle/>
          <a:p>
            <a:pPr eaLnBrk="1" hangingPunct="1">
              <a:buNone/>
            </a:pPr>
            <a:r>
              <a:rPr lang="en-US" altLang="zh-CN" b="1" dirty="0">
                <a:solidFill>
                  <a:schemeClr val="tx1"/>
                </a:solidFill>
              </a:rPr>
              <a:t>10</a:t>
            </a:r>
            <a:r>
              <a:rPr lang="zh-CN" altLang="en-US" b="1" dirty="0">
                <a:solidFill>
                  <a:schemeClr val="tx1"/>
                </a:solidFill>
              </a:rPr>
              <a:t>．（</a:t>
            </a:r>
            <a:r>
              <a:rPr lang="en-US" altLang="zh-CN" b="1" dirty="0">
                <a:solidFill>
                  <a:schemeClr val="tx1"/>
                </a:solidFill>
              </a:rPr>
              <a:t>13</a:t>
            </a:r>
            <a:r>
              <a:rPr lang="zh-CN" altLang="en-US" b="1" dirty="0">
                <a:solidFill>
                  <a:schemeClr val="tx1"/>
                </a:solidFill>
              </a:rPr>
              <a:t>年全国联赛）在性别决定为</a:t>
            </a:r>
            <a:r>
              <a:rPr lang="en-US" altLang="zh-CN" b="1" dirty="0">
                <a:solidFill>
                  <a:schemeClr val="tx1"/>
                </a:solidFill>
              </a:rPr>
              <a:t>XO</a:t>
            </a:r>
            <a:r>
              <a:rPr lang="zh-CN" altLang="en-US" b="1" dirty="0">
                <a:solidFill>
                  <a:schemeClr val="tx1"/>
                </a:solidFill>
              </a:rPr>
              <a:t>类型的某种动物中，以下哪种可能是其体细胞中的正常染色体数目 </a:t>
            </a:r>
          </a:p>
          <a:p>
            <a:pPr eaLnBrk="1" hangingPunct="1">
              <a:buNone/>
            </a:pPr>
            <a:r>
              <a:rPr lang="zh-CN" altLang="en-US" b="1" dirty="0">
                <a:solidFill>
                  <a:schemeClr val="tx1"/>
                </a:solidFill>
              </a:rPr>
              <a:t>    </a:t>
            </a:r>
            <a:r>
              <a:rPr lang="en-US" altLang="zh-CN" b="1" dirty="0">
                <a:solidFill>
                  <a:schemeClr val="tx1"/>
                </a:solidFill>
              </a:rPr>
              <a:t>A</a:t>
            </a:r>
            <a:r>
              <a:rPr lang="zh-CN" altLang="en-US" b="1" dirty="0">
                <a:solidFill>
                  <a:schemeClr val="tx1"/>
                </a:solidFill>
              </a:rPr>
              <a:t>．雄性</a:t>
            </a:r>
            <a:r>
              <a:rPr lang="en-US" altLang="zh-CN" b="1" dirty="0">
                <a:solidFill>
                  <a:schemeClr val="tx1"/>
                </a:solidFill>
              </a:rPr>
              <a:t>28		B</a:t>
            </a:r>
            <a:r>
              <a:rPr lang="zh-CN" altLang="en-US" b="1" dirty="0">
                <a:solidFill>
                  <a:schemeClr val="tx1"/>
                </a:solidFill>
              </a:rPr>
              <a:t>．雌性</a:t>
            </a:r>
            <a:r>
              <a:rPr lang="en-US" altLang="zh-CN" b="1" dirty="0">
                <a:solidFill>
                  <a:schemeClr val="tx1"/>
                </a:solidFill>
              </a:rPr>
              <a:t>35</a:t>
            </a:r>
          </a:p>
          <a:p>
            <a:pPr eaLnBrk="1" hangingPunct="1">
              <a:buNone/>
            </a:pPr>
            <a:r>
              <a:rPr lang="en-US" altLang="zh-CN" b="1" dirty="0">
                <a:solidFill>
                  <a:schemeClr val="tx1"/>
                </a:solidFill>
              </a:rPr>
              <a:t>    C</a:t>
            </a:r>
            <a:r>
              <a:rPr lang="zh-CN" altLang="en-US" b="1" dirty="0">
                <a:solidFill>
                  <a:schemeClr val="tx1"/>
                </a:solidFill>
              </a:rPr>
              <a:t>．雄性</a:t>
            </a:r>
            <a:r>
              <a:rPr lang="en-US" altLang="zh-CN" b="1" dirty="0">
                <a:solidFill>
                  <a:schemeClr val="tx1"/>
                </a:solidFill>
              </a:rPr>
              <a:t>15		D</a:t>
            </a:r>
            <a:r>
              <a:rPr lang="zh-CN" altLang="en-US" b="1" dirty="0">
                <a:solidFill>
                  <a:schemeClr val="tx1"/>
                </a:solidFill>
              </a:rPr>
              <a:t>．以上都不对</a:t>
            </a:r>
          </a:p>
        </p:txBody>
      </p:sp>
      <p:sp>
        <p:nvSpPr>
          <p:cNvPr id="6484996" name="Text Box 4"/>
          <p:cNvSpPr txBox="1">
            <a:spLocks noChangeArrowheads="1"/>
          </p:cNvSpPr>
          <p:nvPr/>
        </p:nvSpPr>
        <p:spPr bwMode="auto">
          <a:xfrm>
            <a:off x="8543926" y="2852740"/>
            <a:ext cx="865188" cy="769441"/>
          </a:xfrm>
          <a:prstGeom prst="rect">
            <a:avLst/>
          </a:prstGeom>
          <a:noFill/>
          <a:ln>
            <a:noFill/>
          </a:ln>
          <a:effectLst/>
        </p:spPr>
        <p:txBody>
          <a:bodyPr>
            <a:spAutoFit/>
          </a:bodyPr>
          <a:lstStyle/>
          <a:p>
            <a:pPr algn="ctr">
              <a:spcBef>
                <a:spcPct val="50000"/>
              </a:spcBef>
              <a:buFont typeface="Arial" panose="020B0604020202020204" pitchFamily="34" charset="0"/>
            </a:pPr>
            <a:r>
              <a:rPr lang="en-US" altLang="zh-CN" sz="4400" noProof="1">
                <a:solidFill>
                  <a:srgbClr val="FF0000"/>
                </a:solidFill>
                <a:effectLst>
                  <a:outerShdw blurRad="38100" dist="38100" dir="2700000">
                    <a:srgbClr val="000000"/>
                  </a:outerShdw>
                </a:effectLst>
                <a:sym typeface="+mn-ea"/>
              </a:rPr>
              <a:t>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849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499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Rectangle 3"/>
          <p:cNvSpPr>
            <a:spLocks noGrp="1"/>
          </p:cNvSpPr>
          <p:nvPr>
            <p:ph idx="1"/>
          </p:nvPr>
        </p:nvSpPr>
        <p:spPr>
          <a:xfrm>
            <a:off x="1703389" y="1052513"/>
            <a:ext cx="8964612" cy="4525963"/>
          </a:xfrm>
          <a:noFill/>
          <a:ln>
            <a:noFill/>
          </a:ln>
        </p:spPr>
        <p:txBody>
          <a:bodyPr anchor="t" anchorCtr="0"/>
          <a:lstStyle/>
          <a:p>
            <a:pPr eaLnBrk="1" hangingPunct="1">
              <a:buNone/>
            </a:pPr>
            <a:r>
              <a:rPr lang="en-US" altLang="zh-CN" b="1" dirty="0">
                <a:solidFill>
                  <a:schemeClr val="tx1"/>
                </a:solidFill>
              </a:rPr>
              <a:t>11</a:t>
            </a:r>
            <a:r>
              <a:rPr lang="zh-CN" altLang="en-US" b="1" dirty="0">
                <a:solidFill>
                  <a:schemeClr val="tx1"/>
                </a:solidFill>
              </a:rPr>
              <a:t>、人类细胞中的巴氏小体数目是</a:t>
            </a:r>
          </a:p>
          <a:p>
            <a:pPr eaLnBrk="1" hangingPunct="1">
              <a:buNone/>
            </a:pPr>
            <a:r>
              <a:rPr lang="zh-CN" altLang="en-US" b="1" dirty="0">
                <a:solidFill>
                  <a:schemeClr val="tx1"/>
                </a:solidFill>
              </a:rPr>
              <a:t>      </a:t>
            </a:r>
            <a:r>
              <a:rPr lang="en-US" altLang="zh-CN" b="1" dirty="0">
                <a:solidFill>
                  <a:schemeClr val="tx1"/>
                </a:solidFill>
              </a:rPr>
              <a:t>A</a:t>
            </a:r>
            <a:r>
              <a:rPr lang="zh-CN" altLang="en-US" b="1" dirty="0">
                <a:solidFill>
                  <a:schemeClr val="tx1"/>
                </a:solidFill>
              </a:rPr>
              <a:t>．细胞内</a:t>
            </a:r>
            <a:r>
              <a:rPr lang="en-US" altLang="zh-CN" b="1" dirty="0">
                <a:solidFill>
                  <a:schemeClr val="tx1"/>
                </a:solidFill>
              </a:rPr>
              <a:t>X</a:t>
            </a:r>
            <a:r>
              <a:rPr lang="zh-CN" altLang="en-US" b="1" dirty="0">
                <a:solidFill>
                  <a:schemeClr val="tx1"/>
                </a:solidFill>
              </a:rPr>
              <a:t>染色体数减</a:t>
            </a:r>
            <a:r>
              <a:rPr lang="en-US" altLang="zh-CN" b="1" dirty="0">
                <a:solidFill>
                  <a:schemeClr val="tx1"/>
                </a:solidFill>
              </a:rPr>
              <a:t>1             </a:t>
            </a:r>
          </a:p>
          <a:p>
            <a:pPr eaLnBrk="1" hangingPunct="1">
              <a:buNone/>
            </a:pPr>
            <a:r>
              <a:rPr lang="en-US" altLang="zh-CN" b="1" dirty="0">
                <a:solidFill>
                  <a:schemeClr val="tx1"/>
                </a:solidFill>
              </a:rPr>
              <a:t>      B</a:t>
            </a:r>
            <a:r>
              <a:rPr lang="zh-CN" altLang="en-US" b="1" dirty="0">
                <a:solidFill>
                  <a:schemeClr val="tx1"/>
                </a:solidFill>
              </a:rPr>
              <a:t>．细胞内</a:t>
            </a:r>
            <a:r>
              <a:rPr lang="en-US" altLang="zh-CN" b="1" dirty="0">
                <a:solidFill>
                  <a:schemeClr val="tx1"/>
                </a:solidFill>
              </a:rPr>
              <a:t>X</a:t>
            </a:r>
            <a:r>
              <a:rPr lang="zh-CN" altLang="en-US" b="1" dirty="0">
                <a:solidFill>
                  <a:schemeClr val="tx1"/>
                </a:solidFill>
              </a:rPr>
              <a:t>染色体数加</a:t>
            </a:r>
            <a:r>
              <a:rPr lang="en-US" altLang="zh-CN" b="1" dirty="0">
                <a:solidFill>
                  <a:schemeClr val="tx1"/>
                </a:solidFill>
              </a:rPr>
              <a:t>1</a:t>
            </a:r>
          </a:p>
          <a:p>
            <a:pPr eaLnBrk="1" hangingPunct="1">
              <a:buNone/>
            </a:pPr>
            <a:r>
              <a:rPr lang="en-US" altLang="zh-CN" b="1" dirty="0">
                <a:solidFill>
                  <a:schemeClr val="tx1"/>
                </a:solidFill>
              </a:rPr>
              <a:t>      C</a:t>
            </a:r>
            <a:r>
              <a:rPr lang="zh-CN" altLang="en-US" b="1" dirty="0">
                <a:solidFill>
                  <a:schemeClr val="tx1"/>
                </a:solidFill>
              </a:rPr>
              <a:t>．细胞内</a:t>
            </a:r>
            <a:r>
              <a:rPr lang="en-US" altLang="zh-CN" b="1" dirty="0">
                <a:solidFill>
                  <a:schemeClr val="tx1"/>
                </a:solidFill>
              </a:rPr>
              <a:t>X</a:t>
            </a:r>
            <a:r>
              <a:rPr lang="zh-CN" altLang="en-US" b="1" dirty="0">
                <a:solidFill>
                  <a:schemeClr val="tx1"/>
                </a:solidFill>
              </a:rPr>
              <a:t>染色体数                 </a:t>
            </a:r>
          </a:p>
          <a:p>
            <a:pPr eaLnBrk="1" hangingPunct="1">
              <a:buNone/>
            </a:pPr>
            <a:r>
              <a:rPr lang="zh-CN" altLang="en-US" b="1" dirty="0">
                <a:solidFill>
                  <a:schemeClr val="tx1"/>
                </a:solidFill>
              </a:rPr>
              <a:t>     </a:t>
            </a:r>
            <a:r>
              <a:rPr lang="en-US" altLang="zh-CN" b="1" dirty="0">
                <a:solidFill>
                  <a:schemeClr val="tx1"/>
                </a:solidFill>
              </a:rPr>
              <a:t>D</a:t>
            </a:r>
            <a:r>
              <a:rPr lang="zh-CN" altLang="en-US" b="1" dirty="0">
                <a:solidFill>
                  <a:schemeClr val="tx1"/>
                </a:solidFill>
              </a:rPr>
              <a:t>．每个雌性细胞中有一个，雌性细胞中没有</a:t>
            </a:r>
          </a:p>
          <a:p>
            <a:pPr eaLnBrk="1" hangingPunct="1">
              <a:buNone/>
            </a:pPr>
            <a:r>
              <a:rPr lang="zh-CN" altLang="en-US" b="1" dirty="0">
                <a:solidFill>
                  <a:schemeClr val="tx1"/>
                </a:solidFill>
              </a:rPr>
              <a:t>     </a:t>
            </a:r>
            <a:r>
              <a:rPr lang="en-US" altLang="zh-CN" b="1" dirty="0">
                <a:solidFill>
                  <a:schemeClr val="tx1"/>
                </a:solidFill>
              </a:rPr>
              <a:t>E</a:t>
            </a:r>
            <a:r>
              <a:rPr lang="zh-CN" altLang="en-US" b="1" dirty="0">
                <a:solidFill>
                  <a:schemeClr val="tx1"/>
                </a:solidFill>
              </a:rPr>
              <a:t>．与性别或细胞内</a:t>
            </a:r>
            <a:r>
              <a:rPr lang="en-US" altLang="zh-CN" b="1" dirty="0">
                <a:solidFill>
                  <a:schemeClr val="tx1"/>
                </a:solidFill>
              </a:rPr>
              <a:t>X</a:t>
            </a:r>
            <a:r>
              <a:rPr lang="zh-CN" altLang="en-US" b="1" dirty="0">
                <a:solidFill>
                  <a:schemeClr val="tx1"/>
                </a:solidFill>
              </a:rPr>
              <a:t>染色体数无关</a:t>
            </a:r>
          </a:p>
        </p:txBody>
      </p:sp>
      <p:sp>
        <p:nvSpPr>
          <p:cNvPr id="6472709" name="Text Box 5"/>
          <p:cNvSpPr txBox="1">
            <a:spLocks noChangeArrowheads="1"/>
          </p:cNvSpPr>
          <p:nvPr/>
        </p:nvSpPr>
        <p:spPr bwMode="auto">
          <a:xfrm>
            <a:off x="8256588" y="1196976"/>
            <a:ext cx="1081088" cy="646331"/>
          </a:xfrm>
          <a:prstGeom prst="rect">
            <a:avLst/>
          </a:prstGeom>
          <a:noFill/>
          <a:ln>
            <a:noFill/>
          </a:ln>
          <a:effectLst/>
        </p:spPr>
        <p:txBody>
          <a:bodyPr>
            <a:spAutoFit/>
          </a:bodyPr>
          <a:lstStyle/>
          <a:p>
            <a:pPr algn="ctr">
              <a:spcBef>
                <a:spcPct val="50000"/>
              </a:spcBef>
              <a:buFont typeface="Arial" panose="020B0604020202020204" pitchFamily="34" charset="0"/>
            </a:pPr>
            <a:r>
              <a:rPr lang="en-US" altLang="zh-CN" sz="3600" noProof="1">
                <a:solidFill>
                  <a:srgbClr val="FF0000"/>
                </a:solidFill>
                <a:effectLst>
                  <a:outerShdw blurRad="38100" dist="38100" dir="2700000">
                    <a:srgbClr val="000000"/>
                  </a:outerShdw>
                </a:effectLst>
                <a:sym typeface="+mn-ea"/>
              </a:rPr>
              <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727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2709"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931</TotalTime>
  <Words>3690</Words>
  <Application>Microsoft Office PowerPoint</Application>
  <PresentationFormat>宽屏</PresentationFormat>
  <Paragraphs>209</Paragraphs>
  <Slides>32</Slides>
  <Notes>8</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32</vt:i4>
      </vt:variant>
    </vt:vector>
  </HeadingPairs>
  <TitlesOfParts>
    <vt:vector size="41" baseType="lpstr">
      <vt:lpstr>黑体</vt:lpstr>
      <vt:lpstr>宋体</vt:lpstr>
      <vt:lpstr>微软雅黑</vt:lpstr>
      <vt:lpstr>Arial</vt:lpstr>
      <vt:lpstr>Calibri</vt:lpstr>
      <vt:lpstr>Times New Roman</vt:lpstr>
      <vt:lpstr>Wingdings</vt:lpstr>
      <vt:lpstr>Office 主题</vt:lpstr>
      <vt:lpstr>1_Office 主题</vt:lpstr>
      <vt:lpstr>PowerPoint 演示文稿</vt:lpstr>
      <vt:lpstr>基本概念</vt:lpstr>
      <vt:lpstr>基本概念</vt:lpstr>
      <vt:lpstr>一、性染色体决定性别的方式</vt:lpstr>
      <vt:lpstr>一、性染色体决定性别方式</vt:lpstr>
      <vt:lpstr>一、果蝇的伴性遗传</vt:lpstr>
      <vt:lpstr>三、高等植物的伴性遗传</vt:lpstr>
      <vt:lpstr>PowerPoint 演示文稿</vt:lpstr>
      <vt:lpstr>限性遗传(sex-limited inheritance)</vt:lpstr>
      <vt:lpstr>第三节　遗传的染色体学说的直接证明</vt:lpstr>
      <vt:lpstr>PowerPoint 演示文稿</vt:lpstr>
      <vt:lpstr>PowerPoint 演示文稿</vt:lpstr>
      <vt:lpstr>PowerPoint 演示文稿</vt:lpstr>
      <vt:lpstr>一、蜂的性别决定</vt:lpstr>
      <vt:lpstr>二、后螠的性别决定</vt:lpstr>
      <vt:lpstr>PowerPoint 演示文稿</vt:lpstr>
      <vt:lpstr>四、环境对性别分化的影响</vt:lpstr>
      <vt:lpstr>PowerPoint 演示文稿</vt:lpstr>
      <vt:lpstr>一、几种性别畸形</vt:lpstr>
      <vt:lpstr>二、遗传变异与人类性别决定</vt:lpstr>
      <vt:lpstr>一、果蝇的性指数</vt:lpstr>
      <vt:lpstr>PowerPoint 演示文稿</vt:lpstr>
      <vt:lpstr>二、 人类的睾丸决定因子</vt:lpstr>
      <vt:lpstr>三、性别决定的剂量补偿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zhaojy@hep.com.cn</dc:creator>
  <cp:lastModifiedBy>Yijie Lee</cp:lastModifiedBy>
  <cp:revision>151</cp:revision>
  <dcterms:created xsi:type="dcterms:W3CDTF">2020-09-25T05:42:09Z</dcterms:created>
  <dcterms:modified xsi:type="dcterms:W3CDTF">2024-06-25T01:37:37Z</dcterms:modified>
</cp:coreProperties>
</file>