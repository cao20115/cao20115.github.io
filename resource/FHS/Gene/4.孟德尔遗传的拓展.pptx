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360" r:id="rId2"/>
    <p:sldId id="361" r:id="rId3"/>
    <p:sldId id="364" r:id="rId4"/>
    <p:sldId id="365" r:id="rId5"/>
    <p:sldId id="374" r:id="rId6"/>
    <p:sldId id="367" r:id="rId7"/>
    <p:sldId id="375" r:id="rId8"/>
    <p:sldId id="369" r:id="rId9"/>
    <p:sldId id="376" r:id="rId10"/>
    <p:sldId id="377" r:id="rId11"/>
    <p:sldId id="378" r:id="rId12"/>
    <p:sldId id="379" r:id="rId13"/>
    <p:sldId id="380" r:id="rId14"/>
    <p:sldId id="381" r:id="rId15"/>
    <p:sldId id="382" r:id="rId16"/>
    <p:sldId id="383" r:id="rId17"/>
    <p:sldId id="384" r:id="rId18"/>
    <p:sldId id="385" r:id="rId19"/>
    <p:sldId id="289" r:id="rId20"/>
    <p:sldId id="387" r:id="rId21"/>
    <p:sldId id="296" r:id="rId22"/>
    <p:sldId id="404" r:id="rId23"/>
    <p:sldId id="390" r:id="rId24"/>
    <p:sldId id="391" r:id="rId25"/>
    <p:sldId id="392" r:id="rId26"/>
    <p:sldId id="393" r:id="rId27"/>
    <p:sldId id="394" r:id="rId28"/>
    <p:sldId id="402" r:id="rId29"/>
    <p:sldId id="396" r:id="rId30"/>
    <p:sldId id="397" r:id="rId31"/>
    <p:sldId id="398" r:id="rId32"/>
    <p:sldId id="403" r:id="rId33"/>
    <p:sldId id="306" r:id="rId34"/>
    <p:sldId id="401" r:id="rId35"/>
    <p:sldId id="410" r:id="rId36"/>
    <p:sldId id="411" r:id="rId37"/>
    <p:sldId id="412" r:id="rId38"/>
    <p:sldId id="320" r:id="rId39"/>
    <p:sldId id="322" r:id="rId40"/>
    <p:sldId id="324" r:id="rId41"/>
    <p:sldId id="326" r:id="rId42"/>
    <p:sldId id="328" r:id="rId43"/>
    <p:sldId id="405" r:id="rId44"/>
    <p:sldId id="406" r:id="rId45"/>
    <p:sldId id="413" r:id="rId46"/>
    <p:sldId id="407" r:id="rId47"/>
    <p:sldId id="408" r:id="rId48"/>
    <p:sldId id="409"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75" autoAdjust="0"/>
    <p:restoredTop sz="96366" autoAdjust="0"/>
  </p:normalViewPr>
  <p:slideViewPr>
    <p:cSldViewPr snapToGrid="0">
      <p:cViewPr>
        <p:scale>
          <a:sx n="70" d="100"/>
          <a:sy n="70" d="100"/>
        </p:scale>
        <p:origin x="2364" y="105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4150C0-6045-4AC7-A524-3CC68ACED6D8}" type="datetimeFigureOut">
              <a:rPr lang="zh-CN" altLang="en-US" smtClean="0"/>
              <a:t>2024/3/7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7D6D9B-F3F9-401C-A0C5-ADD25CE49E34}" type="slidenum">
              <a:rPr lang="zh-CN" altLang="en-US" smtClean="0"/>
              <a:t>‹#›</a:t>
            </a:fld>
            <a:endParaRPr lang="zh-CN" altLang="en-US"/>
          </a:p>
        </p:txBody>
      </p:sp>
    </p:spTree>
    <p:extLst>
      <p:ext uri="{BB962C8B-B14F-4D97-AF65-F5344CB8AC3E}">
        <p14:creationId xmlns:p14="http://schemas.microsoft.com/office/powerpoint/2010/main" val="1484417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prstClr val="black"/>
                </a:solidFill>
                <a:latin typeface="黑体" panose="02010600030101010101" pitchFamily="49" charset="-122"/>
                <a:ea typeface="黑体" panose="02010600030101010101" pitchFamily="49" charset="-122"/>
              </a:rPr>
              <a:t>就</a:t>
            </a:r>
            <a:r>
              <a:rPr lang="en-US" altLang="zh-CN" b="1" dirty="0">
                <a:solidFill>
                  <a:prstClr val="black"/>
                </a:solidFill>
                <a:latin typeface="黑体" panose="02010600030101010101" pitchFamily="49" charset="-122"/>
                <a:ea typeface="黑体" panose="02010600030101010101" pitchFamily="49" charset="-122"/>
              </a:rPr>
              <a:t>MN</a:t>
            </a:r>
            <a:r>
              <a:rPr lang="zh-CN" altLang="en-US" b="1" dirty="0">
                <a:solidFill>
                  <a:prstClr val="black"/>
                </a:solidFill>
                <a:latin typeface="黑体" panose="02010600030101010101" pitchFamily="49" charset="-122"/>
                <a:ea typeface="黑体" panose="02010600030101010101" pitchFamily="49" charset="-122"/>
              </a:rPr>
              <a:t>血型而言，有</a:t>
            </a:r>
            <a:r>
              <a:rPr lang="en-US" altLang="zh-CN" b="1" dirty="0">
                <a:solidFill>
                  <a:prstClr val="black"/>
                </a:solidFill>
                <a:latin typeface="黑体" panose="02010600030101010101" pitchFamily="49" charset="-122"/>
                <a:ea typeface="黑体" panose="02010600030101010101" pitchFamily="49" charset="-122"/>
              </a:rPr>
              <a:t>M</a:t>
            </a:r>
            <a:r>
              <a:rPr lang="zh-CN" altLang="en-US" b="1" dirty="0">
                <a:solidFill>
                  <a:prstClr val="black"/>
                </a:solidFill>
                <a:latin typeface="黑体" panose="02010600030101010101" pitchFamily="49" charset="-122"/>
                <a:ea typeface="黑体" panose="02010600030101010101" pitchFamily="49" charset="-122"/>
              </a:rPr>
              <a:t>型、</a:t>
            </a:r>
            <a:r>
              <a:rPr lang="en-US" altLang="zh-CN" b="1" dirty="0">
                <a:solidFill>
                  <a:prstClr val="black"/>
                </a:solidFill>
                <a:latin typeface="黑体" panose="02010600030101010101" pitchFamily="49" charset="-122"/>
                <a:ea typeface="黑体" panose="02010600030101010101" pitchFamily="49" charset="-122"/>
              </a:rPr>
              <a:t>N</a:t>
            </a:r>
            <a:r>
              <a:rPr lang="zh-CN" altLang="en-US" b="1" dirty="0">
                <a:solidFill>
                  <a:prstClr val="black"/>
                </a:solidFill>
                <a:latin typeface="黑体" panose="02010600030101010101" pitchFamily="49" charset="-122"/>
                <a:ea typeface="黑体" panose="02010600030101010101" pitchFamily="49" charset="-122"/>
              </a:rPr>
              <a:t>型、</a:t>
            </a:r>
            <a:r>
              <a:rPr lang="en-US" altLang="zh-CN" b="1" dirty="0">
                <a:solidFill>
                  <a:prstClr val="black"/>
                </a:solidFill>
                <a:latin typeface="黑体" panose="02010600030101010101" pitchFamily="49" charset="-122"/>
                <a:ea typeface="黑体" panose="02010600030101010101" pitchFamily="49" charset="-122"/>
              </a:rPr>
              <a:t>MN</a:t>
            </a:r>
            <a:r>
              <a:rPr lang="zh-CN" altLang="en-US" b="1" dirty="0">
                <a:solidFill>
                  <a:prstClr val="black"/>
                </a:solidFill>
                <a:latin typeface="黑体" panose="02010600030101010101" pitchFamily="49" charset="-122"/>
                <a:ea typeface="黑体" panose="02010600030101010101" pitchFamily="49" charset="-122"/>
              </a:rPr>
              <a:t>型，</a:t>
            </a:r>
            <a:r>
              <a:rPr lang="en-US" altLang="zh-CN" b="1" dirty="0">
                <a:solidFill>
                  <a:prstClr val="black"/>
                </a:solidFill>
                <a:latin typeface="黑体" panose="02010600030101010101" pitchFamily="49" charset="-122"/>
                <a:ea typeface="黑体" panose="02010600030101010101" pitchFamily="49" charset="-122"/>
              </a:rPr>
              <a:t>M</a:t>
            </a:r>
            <a:r>
              <a:rPr lang="zh-CN" altLang="en-US" b="1" dirty="0">
                <a:solidFill>
                  <a:prstClr val="black"/>
                </a:solidFill>
                <a:latin typeface="黑体" panose="02010600030101010101" pitchFamily="49" charset="-122"/>
                <a:ea typeface="黑体" panose="02010600030101010101" pitchFamily="49" charset="-122"/>
              </a:rPr>
              <a:t>型个体的红血细胞上有</a:t>
            </a:r>
            <a:r>
              <a:rPr lang="en-US" altLang="zh-CN" b="1" dirty="0">
                <a:solidFill>
                  <a:prstClr val="black"/>
                </a:solidFill>
                <a:latin typeface="黑体" panose="02010600030101010101" pitchFamily="49" charset="-122"/>
                <a:ea typeface="黑体" panose="02010600030101010101" pitchFamily="49" charset="-122"/>
              </a:rPr>
              <a:t>M</a:t>
            </a:r>
            <a:r>
              <a:rPr lang="zh-CN" altLang="en-US" b="1" dirty="0">
                <a:solidFill>
                  <a:prstClr val="black"/>
                </a:solidFill>
                <a:latin typeface="黑体" panose="02010600030101010101" pitchFamily="49" charset="-122"/>
                <a:ea typeface="黑体" panose="02010600030101010101" pitchFamily="49" charset="-122"/>
              </a:rPr>
              <a:t>抗原，</a:t>
            </a:r>
            <a:r>
              <a:rPr lang="en-US" altLang="zh-CN" b="1" dirty="0">
                <a:solidFill>
                  <a:prstClr val="black"/>
                </a:solidFill>
                <a:latin typeface="黑体" panose="02010600030101010101" pitchFamily="49" charset="-122"/>
                <a:ea typeface="黑体" panose="02010600030101010101" pitchFamily="49" charset="-122"/>
              </a:rPr>
              <a:t>N</a:t>
            </a:r>
            <a:r>
              <a:rPr lang="zh-CN" altLang="en-US" b="1" dirty="0">
                <a:solidFill>
                  <a:prstClr val="black"/>
                </a:solidFill>
                <a:latin typeface="黑体" panose="02010600030101010101" pitchFamily="49" charset="-122"/>
                <a:ea typeface="黑体" panose="02010600030101010101" pitchFamily="49" charset="-122"/>
              </a:rPr>
              <a:t>型的红血细胞上有</a:t>
            </a:r>
            <a:r>
              <a:rPr lang="en-US" altLang="zh-CN" b="1" dirty="0">
                <a:solidFill>
                  <a:prstClr val="black"/>
                </a:solidFill>
                <a:latin typeface="黑体" panose="02010600030101010101" pitchFamily="49" charset="-122"/>
                <a:ea typeface="黑体" panose="02010600030101010101" pitchFamily="49" charset="-122"/>
              </a:rPr>
              <a:t>N</a:t>
            </a:r>
            <a:r>
              <a:rPr lang="zh-CN" altLang="en-US" b="1" dirty="0">
                <a:solidFill>
                  <a:prstClr val="black"/>
                </a:solidFill>
                <a:latin typeface="黑体" panose="02010600030101010101" pitchFamily="49" charset="-122"/>
                <a:ea typeface="黑体" panose="02010600030101010101" pitchFamily="49" charset="-122"/>
              </a:rPr>
              <a:t>抗原，</a:t>
            </a:r>
            <a:r>
              <a:rPr lang="en-US" altLang="zh-CN" b="1" dirty="0">
                <a:solidFill>
                  <a:prstClr val="black"/>
                </a:solidFill>
                <a:latin typeface="黑体" panose="02010600030101010101" pitchFamily="49" charset="-122"/>
                <a:ea typeface="黑体" panose="02010600030101010101" pitchFamily="49" charset="-122"/>
              </a:rPr>
              <a:t>MN</a:t>
            </a:r>
            <a:r>
              <a:rPr lang="zh-CN" altLang="en-US" b="1" dirty="0">
                <a:solidFill>
                  <a:prstClr val="black"/>
                </a:solidFill>
                <a:latin typeface="黑体" panose="02010600030101010101" pitchFamily="49" charset="-122"/>
                <a:ea typeface="黑体" panose="02010600030101010101" pitchFamily="49" charset="-122"/>
              </a:rPr>
              <a:t>型的红血细胞上既有</a:t>
            </a:r>
            <a:r>
              <a:rPr lang="en-US" altLang="zh-CN" b="1" dirty="0">
                <a:solidFill>
                  <a:prstClr val="black"/>
                </a:solidFill>
                <a:latin typeface="黑体" panose="02010600030101010101" pitchFamily="49" charset="-122"/>
                <a:ea typeface="黑体" panose="02010600030101010101" pitchFamily="49" charset="-122"/>
              </a:rPr>
              <a:t>M</a:t>
            </a:r>
            <a:r>
              <a:rPr lang="zh-CN" altLang="en-US" b="1" dirty="0">
                <a:solidFill>
                  <a:prstClr val="black"/>
                </a:solidFill>
                <a:latin typeface="黑体" panose="02010600030101010101" pitchFamily="49" charset="-122"/>
                <a:ea typeface="黑体" panose="02010600030101010101" pitchFamily="49" charset="-122"/>
              </a:rPr>
              <a:t>抗原又有</a:t>
            </a:r>
            <a:r>
              <a:rPr lang="en-US" altLang="zh-CN" b="1" dirty="0">
                <a:solidFill>
                  <a:prstClr val="black"/>
                </a:solidFill>
                <a:latin typeface="黑体" panose="02010600030101010101" pitchFamily="49" charset="-122"/>
                <a:ea typeface="黑体" panose="02010600030101010101" pitchFamily="49" charset="-122"/>
              </a:rPr>
              <a:t>N</a:t>
            </a:r>
            <a:r>
              <a:rPr lang="zh-CN" altLang="en-US" b="1" dirty="0">
                <a:solidFill>
                  <a:prstClr val="black"/>
                </a:solidFill>
                <a:latin typeface="黑体" panose="02010600030101010101" pitchFamily="49" charset="-122"/>
                <a:ea typeface="黑体" panose="02010600030101010101" pitchFamily="49" charset="-122"/>
              </a:rPr>
              <a:t>型抗原。</a:t>
            </a:r>
            <a:r>
              <a:rPr lang="zh-CN" altLang="en-US" b="1" dirty="0">
                <a:solidFill>
                  <a:srgbClr val="0000FF"/>
                </a:solidFill>
                <a:latin typeface="黑体" panose="02010600030101010101" pitchFamily="49" charset="-122"/>
                <a:ea typeface="黑体" panose="02010600030101010101" pitchFamily="49" charset="-122"/>
              </a:rPr>
              <a:t>它的遗传是由一对等位基因决定的，用</a:t>
            </a:r>
            <a:r>
              <a:rPr lang="en-US" altLang="zh-CN" b="1" dirty="0">
                <a:solidFill>
                  <a:srgbClr val="0000FF"/>
                </a:solidFill>
                <a:latin typeface="黑体" panose="02010600030101010101" pitchFamily="49" charset="-122"/>
                <a:ea typeface="黑体" panose="02010600030101010101" pitchFamily="49" charset="-122"/>
              </a:rPr>
              <a:t>L</a:t>
            </a:r>
            <a:r>
              <a:rPr lang="en-US" altLang="zh-CN" b="1" baseline="30000" dirty="0">
                <a:solidFill>
                  <a:srgbClr val="0000FF"/>
                </a:solidFill>
                <a:latin typeface="黑体" panose="02010600030101010101" pitchFamily="49" charset="-122"/>
                <a:ea typeface="黑体" panose="02010600030101010101" pitchFamily="49" charset="-122"/>
              </a:rPr>
              <a:t>M</a:t>
            </a:r>
            <a:r>
              <a:rPr lang="zh-CN" altLang="en-US" b="1" dirty="0">
                <a:solidFill>
                  <a:srgbClr val="0000FF"/>
                </a:solidFill>
                <a:latin typeface="黑体" panose="02010600030101010101" pitchFamily="49" charset="-122"/>
                <a:ea typeface="黑体" panose="02010600030101010101" pitchFamily="49" charset="-122"/>
              </a:rPr>
              <a:t>，</a:t>
            </a:r>
            <a:r>
              <a:rPr lang="en-US" altLang="zh-CN" b="1" dirty="0">
                <a:solidFill>
                  <a:srgbClr val="0000FF"/>
                </a:solidFill>
                <a:latin typeface="黑体" panose="02010600030101010101" pitchFamily="49" charset="-122"/>
                <a:ea typeface="黑体" panose="02010600030101010101" pitchFamily="49" charset="-122"/>
              </a:rPr>
              <a:t>L</a:t>
            </a:r>
            <a:r>
              <a:rPr lang="en-US" altLang="zh-CN" b="1" baseline="30000" dirty="0">
                <a:solidFill>
                  <a:srgbClr val="0000FF"/>
                </a:solidFill>
                <a:latin typeface="黑体" panose="02010600030101010101" pitchFamily="49" charset="-122"/>
                <a:ea typeface="黑体" panose="02010600030101010101" pitchFamily="49" charset="-122"/>
              </a:rPr>
              <a:t>N</a:t>
            </a:r>
            <a:r>
              <a:rPr lang="zh-CN" altLang="en-US" b="1" dirty="0">
                <a:solidFill>
                  <a:srgbClr val="0000FF"/>
                </a:solidFill>
                <a:latin typeface="黑体" panose="02010600030101010101" pitchFamily="49" charset="-122"/>
                <a:ea typeface="黑体" panose="02010600030101010101" pitchFamily="49" charset="-122"/>
              </a:rPr>
              <a:t>表示</a:t>
            </a:r>
            <a:r>
              <a:rPr lang="zh-CN" altLang="en-US" b="1" dirty="0">
                <a:solidFill>
                  <a:prstClr val="black"/>
                </a:solidFill>
                <a:latin typeface="黑体" panose="02010600030101010101" pitchFamily="49" charset="-122"/>
                <a:ea typeface="黑体" panose="02010600030101010101" pitchFamily="49" charset="-122"/>
              </a:rPr>
              <a:t>。</a:t>
            </a:r>
            <a:r>
              <a:rPr lang="en-US" altLang="zh-CN" b="1" dirty="0">
                <a:solidFill>
                  <a:prstClr val="black"/>
                </a:solidFill>
                <a:latin typeface="黑体" panose="02010600030101010101" pitchFamily="49" charset="-122"/>
                <a:ea typeface="黑体" panose="02010600030101010101" pitchFamily="49" charset="-122"/>
              </a:rPr>
              <a:t>3</a:t>
            </a:r>
            <a:r>
              <a:rPr lang="zh-CN" altLang="en-US" b="1" dirty="0">
                <a:solidFill>
                  <a:prstClr val="black"/>
                </a:solidFill>
                <a:latin typeface="黑体" panose="02010600030101010101" pitchFamily="49" charset="-122"/>
                <a:ea typeface="黑体" panose="02010600030101010101" pitchFamily="49" charset="-122"/>
              </a:rPr>
              <a:t>种表型的基因型分别为</a:t>
            </a:r>
            <a:r>
              <a:rPr lang="en-US" altLang="zh-CN" b="1" dirty="0">
                <a:solidFill>
                  <a:prstClr val="black"/>
                </a:solidFill>
                <a:latin typeface="黑体" panose="02010600030101010101" pitchFamily="49" charset="-122"/>
                <a:ea typeface="黑体" panose="02010600030101010101" pitchFamily="49" charset="-122"/>
              </a:rPr>
              <a:t>L</a:t>
            </a:r>
            <a:r>
              <a:rPr lang="en-US" altLang="zh-CN" b="1" baseline="30000" dirty="0">
                <a:solidFill>
                  <a:prstClr val="black"/>
                </a:solidFill>
                <a:latin typeface="黑体" panose="02010600030101010101" pitchFamily="49" charset="-122"/>
                <a:ea typeface="黑体" panose="02010600030101010101" pitchFamily="49" charset="-122"/>
              </a:rPr>
              <a:t>M</a:t>
            </a:r>
            <a:r>
              <a:rPr lang="en-US" altLang="zh-CN" b="1" dirty="0">
                <a:solidFill>
                  <a:prstClr val="black"/>
                </a:solidFill>
                <a:latin typeface="黑体" panose="02010600030101010101" pitchFamily="49" charset="-122"/>
                <a:ea typeface="黑体" panose="02010600030101010101" pitchFamily="49" charset="-122"/>
              </a:rPr>
              <a:t>L</a:t>
            </a:r>
            <a:r>
              <a:rPr lang="en-US" altLang="zh-CN" b="1" baseline="30000" dirty="0">
                <a:solidFill>
                  <a:prstClr val="black"/>
                </a:solidFill>
                <a:latin typeface="黑体" panose="02010600030101010101" pitchFamily="49" charset="-122"/>
                <a:ea typeface="黑体" panose="02010600030101010101" pitchFamily="49" charset="-122"/>
              </a:rPr>
              <a:t>M</a:t>
            </a:r>
            <a:r>
              <a:rPr lang="zh-CN" altLang="en-US" b="1" dirty="0">
                <a:solidFill>
                  <a:prstClr val="black"/>
                </a:solidFill>
                <a:latin typeface="黑体" panose="02010600030101010101" pitchFamily="49" charset="-122"/>
                <a:ea typeface="黑体" panose="02010600030101010101" pitchFamily="49" charset="-122"/>
              </a:rPr>
              <a:t>，</a:t>
            </a:r>
            <a:r>
              <a:rPr lang="en-US" altLang="zh-CN" b="1" dirty="0">
                <a:solidFill>
                  <a:prstClr val="black"/>
                </a:solidFill>
                <a:latin typeface="黑体" panose="02010600030101010101" pitchFamily="49" charset="-122"/>
                <a:ea typeface="黑体" panose="02010600030101010101" pitchFamily="49" charset="-122"/>
              </a:rPr>
              <a:t>L</a:t>
            </a:r>
            <a:r>
              <a:rPr lang="en-US" altLang="zh-CN" b="1" baseline="30000" dirty="0">
                <a:solidFill>
                  <a:prstClr val="black"/>
                </a:solidFill>
                <a:latin typeface="黑体" panose="02010600030101010101" pitchFamily="49" charset="-122"/>
                <a:ea typeface="黑体" panose="02010600030101010101" pitchFamily="49" charset="-122"/>
              </a:rPr>
              <a:t>N</a:t>
            </a:r>
            <a:r>
              <a:rPr lang="en-US" altLang="zh-CN" b="1" dirty="0">
                <a:solidFill>
                  <a:prstClr val="black"/>
                </a:solidFill>
                <a:latin typeface="黑体" panose="02010600030101010101" pitchFamily="49" charset="-122"/>
                <a:ea typeface="黑体" panose="02010600030101010101" pitchFamily="49" charset="-122"/>
              </a:rPr>
              <a:t>L</a:t>
            </a:r>
            <a:r>
              <a:rPr lang="en-US" altLang="zh-CN" b="1" baseline="30000" dirty="0">
                <a:solidFill>
                  <a:prstClr val="black"/>
                </a:solidFill>
                <a:latin typeface="黑体" panose="02010600030101010101" pitchFamily="49" charset="-122"/>
                <a:ea typeface="黑体" panose="02010600030101010101" pitchFamily="49" charset="-122"/>
              </a:rPr>
              <a:t>N</a:t>
            </a:r>
            <a:r>
              <a:rPr lang="zh-CN" altLang="en-US" b="1" dirty="0">
                <a:solidFill>
                  <a:prstClr val="black"/>
                </a:solidFill>
                <a:latin typeface="黑体" panose="02010600030101010101" pitchFamily="49" charset="-122"/>
                <a:ea typeface="黑体" panose="02010600030101010101" pitchFamily="49" charset="-122"/>
              </a:rPr>
              <a:t>，</a:t>
            </a:r>
            <a:r>
              <a:rPr lang="en-US" altLang="zh-CN" b="1" dirty="0">
                <a:solidFill>
                  <a:prstClr val="black"/>
                </a:solidFill>
                <a:latin typeface="黑体" panose="02010600030101010101" pitchFamily="49" charset="-122"/>
                <a:ea typeface="黑体" panose="02010600030101010101" pitchFamily="49" charset="-122"/>
              </a:rPr>
              <a:t>L</a:t>
            </a:r>
            <a:r>
              <a:rPr lang="en-US" altLang="zh-CN" b="1" baseline="30000" dirty="0">
                <a:solidFill>
                  <a:prstClr val="black"/>
                </a:solidFill>
                <a:latin typeface="黑体" panose="02010600030101010101" pitchFamily="49" charset="-122"/>
                <a:ea typeface="黑体" panose="02010600030101010101" pitchFamily="49" charset="-122"/>
              </a:rPr>
              <a:t>M</a:t>
            </a:r>
            <a:r>
              <a:rPr lang="en-US" altLang="zh-CN" b="1" dirty="0">
                <a:solidFill>
                  <a:prstClr val="black"/>
                </a:solidFill>
                <a:latin typeface="黑体" panose="02010600030101010101" pitchFamily="49" charset="-122"/>
                <a:ea typeface="黑体" panose="02010600030101010101" pitchFamily="49" charset="-122"/>
              </a:rPr>
              <a:t>L</a:t>
            </a:r>
            <a:r>
              <a:rPr lang="en-US" altLang="zh-CN" b="1" baseline="30000" dirty="0">
                <a:solidFill>
                  <a:prstClr val="black"/>
                </a:solidFill>
                <a:latin typeface="黑体" panose="02010600030101010101" pitchFamily="49" charset="-122"/>
                <a:ea typeface="黑体" panose="02010600030101010101" pitchFamily="49" charset="-122"/>
              </a:rPr>
              <a:t>N</a:t>
            </a:r>
            <a:r>
              <a:rPr lang="zh-CN" altLang="en-US" b="1" dirty="0">
                <a:solidFill>
                  <a:prstClr val="black"/>
                </a:solidFill>
                <a:latin typeface="黑体" panose="02010600030101010101" pitchFamily="49" charset="-122"/>
                <a:ea typeface="黑体" panose="02010600030101010101" pitchFamily="49" charset="-122"/>
              </a:rPr>
              <a:t>。</a:t>
            </a:r>
            <a:r>
              <a:rPr lang="en-US" altLang="zh-CN" b="1" dirty="0">
                <a:solidFill>
                  <a:srgbClr val="0000FF"/>
                </a:solidFill>
                <a:latin typeface="黑体" panose="02010600030101010101" pitchFamily="49" charset="-122"/>
                <a:ea typeface="黑体" panose="02010600030101010101" pitchFamily="49" charset="-122"/>
              </a:rPr>
              <a:t>MN</a:t>
            </a:r>
            <a:r>
              <a:rPr lang="zh-CN" altLang="en-US" b="1" dirty="0">
                <a:solidFill>
                  <a:srgbClr val="0000FF"/>
                </a:solidFill>
                <a:latin typeface="黑体" panose="02010600030101010101" pitchFamily="49" charset="-122"/>
                <a:ea typeface="黑体" panose="02010600030101010101" pitchFamily="49" charset="-122"/>
              </a:rPr>
              <a:t>血型这种现象表明</a:t>
            </a:r>
            <a:r>
              <a:rPr lang="en-US" altLang="zh-CN" b="1" dirty="0">
                <a:solidFill>
                  <a:srgbClr val="0000FF"/>
                </a:solidFill>
                <a:latin typeface="黑体" panose="02010600030101010101" pitchFamily="49" charset="-122"/>
                <a:ea typeface="黑体" panose="02010600030101010101" pitchFamily="49" charset="-122"/>
              </a:rPr>
              <a:t>L</a:t>
            </a:r>
            <a:r>
              <a:rPr lang="en-US" altLang="zh-CN" b="1" baseline="30000" dirty="0">
                <a:solidFill>
                  <a:srgbClr val="0000FF"/>
                </a:solidFill>
                <a:latin typeface="黑体" panose="02010600030101010101" pitchFamily="49" charset="-122"/>
                <a:ea typeface="黑体" panose="02010600030101010101" pitchFamily="49" charset="-122"/>
              </a:rPr>
              <a:t>M</a:t>
            </a:r>
            <a:r>
              <a:rPr lang="zh-CN" altLang="en-US" b="1" dirty="0">
                <a:solidFill>
                  <a:srgbClr val="0000FF"/>
                </a:solidFill>
                <a:latin typeface="黑体" panose="02010600030101010101" pitchFamily="49" charset="-122"/>
                <a:ea typeface="黑体" panose="02010600030101010101" pitchFamily="49" charset="-122"/>
              </a:rPr>
              <a:t>与</a:t>
            </a:r>
            <a:r>
              <a:rPr lang="en-US" altLang="zh-CN" b="1" dirty="0">
                <a:solidFill>
                  <a:srgbClr val="0000FF"/>
                </a:solidFill>
                <a:latin typeface="黑体" panose="02010600030101010101" pitchFamily="49" charset="-122"/>
                <a:ea typeface="黑体" panose="02010600030101010101" pitchFamily="49" charset="-122"/>
              </a:rPr>
              <a:t>L</a:t>
            </a:r>
            <a:r>
              <a:rPr lang="en-US" altLang="zh-CN" b="1" baseline="30000" dirty="0">
                <a:solidFill>
                  <a:srgbClr val="0000FF"/>
                </a:solidFill>
                <a:latin typeface="黑体" panose="02010600030101010101" pitchFamily="49" charset="-122"/>
                <a:ea typeface="黑体" panose="02010600030101010101" pitchFamily="49" charset="-122"/>
              </a:rPr>
              <a:t>N</a:t>
            </a:r>
            <a:r>
              <a:rPr lang="zh-CN" altLang="en-US" b="1" dirty="0">
                <a:solidFill>
                  <a:srgbClr val="0000FF"/>
                </a:solidFill>
                <a:latin typeface="黑体" panose="02010600030101010101" pitchFamily="49" charset="-122"/>
                <a:ea typeface="黑体" panose="02010600030101010101" pitchFamily="49" charset="-122"/>
              </a:rPr>
              <a:t>这一对等位基因的两个成员分别控制不同的抗原物质</a:t>
            </a:r>
            <a:r>
              <a:rPr lang="zh-CN" altLang="en-US" b="1" dirty="0">
                <a:solidFill>
                  <a:prstClr val="black"/>
                </a:solidFill>
                <a:latin typeface="黑体" panose="02010600030101010101" pitchFamily="49" charset="-122"/>
                <a:ea typeface="黑体" panose="02010600030101010101" pitchFamily="49" charset="-122"/>
              </a:rPr>
              <a:t>，它们</a:t>
            </a:r>
            <a:r>
              <a:rPr lang="zh-CN" altLang="en-US" b="1" dirty="0">
                <a:solidFill>
                  <a:srgbClr val="0000FF"/>
                </a:solidFill>
                <a:latin typeface="黑体" panose="02010600030101010101" pitchFamily="49" charset="-122"/>
                <a:ea typeface="黑体" panose="02010600030101010101" pitchFamily="49" charset="-122"/>
              </a:rPr>
              <a:t>在杂合体中同时表现出来，互不遮盖</a:t>
            </a:r>
            <a:r>
              <a:rPr lang="zh-CN" altLang="en-US" b="1" dirty="0">
                <a:solidFill>
                  <a:prstClr val="black"/>
                </a:solidFill>
                <a:latin typeface="黑体" panose="02010600030101010101" pitchFamily="49" charset="-122"/>
                <a:ea typeface="黑体" panose="02010600030101010101" pitchFamily="49" charset="-122"/>
              </a:rPr>
              <a:t>。 </a:t>
            </a:r>
          </a:p>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6</a:t>
            </a:fld>
            <a:endParaRPr lang="zh-CN" altLang="en-US"/>
          </a:p>
        </p:txBody>
      </p:sp>
    </p:spTree>
    <p:extLst>
      <p:ext uri="{BB962C8B-B14F-4D97-AF65-F5344CB8AC3E}">
        <p14:creationId xmlns:p14="http://schemas.microsoft.com/office/powerpoint/2010/main" val="2486238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7</a:t>
            </a:fld>
            <a:endParaRPr lang="zh-CN" altLang="en-US"/>
          </a:p>
        </p:txBody>
      </p:sp>
    </p:spTree>
    <p:extLst>
      <p:ext uri="{BB962C8B-B14F-4D97-AF65-F5344CB8AC3E}">
        <p14:creationId xmlns:p14="http://schemas.microsoft.com/office/powerpoint/2010/main" val="1704731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9</a:t>
            </a:fld>
            <a:endParaRPr lang="zh-CN" altLang="en-US"/>
          </a:p>
        </p:txBody>
      </p:sp>
    </p:spTree>
    <p:extLst>
      <p:ext uri="{BB962C8B-B14F-4D97-AF65-F5344CB8AC3E}">
        <p14:creationId xmlns:p14="http://schemas.microsoft.com/office/powerpoint/2010/main" val="1171256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10</a:t>
            </a:fld>
            <a:endParaRPr lang="zh-CN" altLang="en-US"/>
          </a:p>
        </p:txBody>
      </p:sp>
    </p:spTree>
    <p:extLst>
      <p:ext uri="{BB962C8B-B14F-4D97-AF65-F5344CB8AC3E}">
        <p14:creationId xmlns:p14="http://schemas.microsoft.com/office/powerpoint/2010/main" val="3329474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黑体" pitchFamily="49" charset="-122"/>
                <a:ea typeface="黑体" pitchFamily="49" charset="-122"/>
                <a:cs typeface="Times New Roman" panose="02020603050405020304" pitchFamily="18" charset="0"/>
              </a:rPr>
              <a:t>虽然性状由很多基因决定，可是我们在写某一个体的基因型时，只要写出与分离比有关的那些基因就可以了。</a:t>
            </a:r>
          </a:p>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13</a:t>
            </a:fld>
            <a:endParaRPr lang="zh-CN" altLang="en-US"/>
          </a:p>
        </p:txBody>
      </p:sp>
    </p:spTree>
    <p:extLst>
      <p:ext uri="{BB962C8B-B14F-4D97-AF65-F5344CB8AC3E}">
        <p14:creationId xmlns:p14="http://schemas.microsoft.com/office/powerpoint/2010/main" val="322974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黑体" pitchFamily="49" charset="-122"/>
                <a:ea typeface="黑体" pitchFamily="49" charset="-122"/>
                <a:cs typeface="Times New Roman" panose="02020603050405020304" pitchFamily="18" charset="0"/>
              </a:rPr>
              <a:t>黑腹果蝇中有一个细眼基因影响复眼的大小和形状，它的表型变化则很大：可使眼变得只有针尖大小，也可使眼保持相当大，几乎跟野生型没有差别。</a:t>
            </a:r>
            <a:endParaRPr lang="en-US" altLang="zh-CN" b="1" dirty="0">
              <a:latin typeface="黑体" pitchFamily="49" charset="-122"/>
              <a:ea typeface="黑体"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15</a:t>
            </a:fld>
            <a:endParaRPr lang="zh-CN" altLang="en-US"/>
          </a:p>
        </p:txBody>
      </p:sp>
    </p:spTree>
    <p:extLst>
      <p:ext uri="{BB962C8B-B14F-4D97-AF65-F5344CB8AC3E}">
        <p14:creationId xmlns:p14="http://schemas.microsoft.com/office/powerpoint/2010/main" val="3545483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黑体" pitchFamily="49" charset="-122"/>
                <a:ea typeface="黑体" pitchFamily="49" charset="-122"/>
                <a:cs typeface="Times New Roman" panose="02020603050405020304" pitchFamily="18" charset="0"/>
              </a:rPr>
              <a:t>人类的成骨不全是显性遗传病，受单个基因控制，杂合子患者可以同时有多发性骨折、蓝色巩膜和耳聋等症状，也可只有其中一种或两种临床表现，</a:t>
            </a:r>
            <a:r>
              <a:rPr lang="zh-CN" altLang="en-US" b="1" dirty="0">
                <a:solidFill>
                  <a:srgbClr val="FF0000"/>
                </a:solidFill>
                <a:latin typeface="黑体" pitchFamily="49" charset="-122"/>
                <a:ea typeface="黑体" pitchFamily="49" charset="-122"/>
                <a:cs typeface="Times New Roman" panose="02020603050405020304" pitchFamily="18" charset="0"/>
              </a:rPr>
              <a:t>表现度很不一致</a:t>
            </a:r>
            <a:r>
              <a:rPr lang="zh-CN" altLang="en-US" b="1" dirty="0">
                <a:latin typeface="黑体" pitchFamily="49" charset="-122"/>
                <a:ea typeface="黑体" pitchFamily="49" charset="-122"/>
                <a:cs typeface="Times New Roman" panose="02020603050405020304" pitchFamily="18" charset="0"/>
              </a:rPr>
              <a:t>。</a:t>
            </a:r>
          </a:p>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16</a:t>
            </a:fld>
            <a:endParaRPr lang="zh-CN" altLang="en-US"/>
          </a:p>
        </p:txBody>
      </p:sp>
    </p:spTree>
    <p:extLst>
      <p:ext uri="{BB962C8B-B14F-4D97-AF65-F5344CB8AC3E}">
        <p14:creationId xmlns:p14="http://schemas.microsoft.com/office/powerpoint/2010/main" val="21227992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黑体" pitchFamily="49" charset="-122"/>
                <a:ea typeface="黑体" pitchFamily="49" charset="-122"/>
                <a:cs typeface="Times New Roman" panose="02020603050405020304" pitchFamily="18" charset="0"/>
              </a:rPr>
              <a:t>（图中的</a:t>
            </a:r>
            <a:r>
              <a:rPr lang="en-US" altLang="zh-CN" b="1" dirty="0">
                <a:latin typeface="黑体" pitchFamily="49" charset="-122"/>
                <a:ea typeface="黑体" pitchFamily="49" charset="-122"/>
                <a:cs typeface="Times New Roman" panose="02020603050405020304" pitchFamily="18" charset="0"/>
              </a:rPr>
              <a:t>II-2</a:t>
            </a:r>
            <a:r>
              <a:rPr lang="zh-CN" altLang="en-US" b="1" dirty="0">
                <a:latin typeface="黑体" pitchFamily="49" charset="-122"/>
                <a:ea typeface="黑体" pitchFamily="49" charset="-122"/>
                <a:cs typeface="Times New Roman" panose="02020603050405020304" pitchFamily="18" charset="0"/>
              </a:rPr>
              <a:t>个体没有表现出疾病表型）</a:t>
            </a:r>
            <a:endParaRPr lang="zh-CN" altLang="en-US" b="1" dirty="0">
              <a:latin typeface="黑体" panose="02010600030101010101" pitchFamily="49" charset="-122"/>
              <a:ea typeface="黑体" panose="0201060003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17</a:t>
            </a:fld>
            <a:endParaRPr lang="zh-CN" altLang="en-US"/>
          </a:p>
        </p:txBody>
      </p:sp>
    </p:spTree>
    <p:extLst>
      <p:ext uri="{BB962C8B-B14F-4D97-AF65-F5344CB8AC3E}">
        <p14:creationId xmlns:p14="http://schemas.microsoft.com/office/powerpoint/2010/main" val="2662530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黑体" panose="02010600030101010101" pitchFamily="49" charset="-122"/>
                <a:ea typeface="黑体" panose="02010600030101010101" pitchFamily="49" charset="-122"/>
              </a:rPr>
              <a:t>第一次发现致死基因是在</a:t>
            </a:r>
            <a:r>
              <a:rPr lang="en-US" altLang="zh-CN" b="1" dirty="0">
                <a:latin typeface="黑体" panose="02010600030101010101" pitchFamily="49" charset="-122"/>
                <a:ea typeface="黑体" panose="02010600030101010101" pitchFamily="49" charset="-122"/>
              </a:rPr>
              <a:t>1904</a:t>
            </a:r>
            <a:r>
              <a:rPr lang="zh-CN" altLang="en-US" b="1" dirty="0">
                <a:latin typeface="黑体" panose="02010600030101010101" pitchFamily="49" charset="-122"/>
                <a:ea typeface="黑体" panose="02010600030101010101" pitchFamily="49" charset="-122"/>
              </a:rPr>
              <a:t>年，法国</a:t>
            </a:r>
            <a:r>
              <a:rPr lang="en-US" altLang="zh-CN" b="1" dirty="0">
                <a:latin typeface="黑体" panose="02010600030101010101" pitchFamily="49" charset="-122"/>
                <a:ea typeface="黑体" panose="02010600030101010101" pitchFamily="49" charset="-122"/>
              </a:rPr>
              <a:t>L</a:t>
            </a:r>
            <a:r>
              <a:rPr lang="zh-CN" altLang="en-US" b="1" dirty="0">
                <a:latin typeface="黑体" panose="02010600030101010101" pitchFamily="49" charset="-122"/>
                <a:ea typeface="黑体" panose="02010600030101010101" pitchFamily="49" charset="-122"/>
              </a:rPr>
              <a:t>．</a:t>
            </a:r>
            <a:r>
              <a:rPr lang="en-US" altLang="zh-CN" b="1" dirty="0" err="1">
                <a:latin typeface="黑体" panose="02010600030101010101" pitchFamily="49" charset="-122"/>
                <a:ea typeface="黑体" panose="02010600030101010101" pitchFamily="49" charset="-122"/>
              </a:rPr>
              <a:t>Cuenot</a:t>
            </a:r>
            <a:r>
              <a:rPr lang="zh-CN" altLang="en-US" b="1" dirty="0">
                <a:latin typeface="黑体" panose="02010600030101010101" pitchFamily="49" charset="-122"/>
                <a:ea typeface="黑体" panose="02010600030101010101" pitchFamily="49" charset="-122"/>
              </a:rPr>
              <a:t>在研究中发现黑色小鼠是能真实遗传的，</a:t>
            </a:r>
            <a:r>
              <a:rPr lang="zh-CN" altLang="en-US" b="1" dirty="0">
                <a:solidFill>
                  <a:srgbClr val="0000FF"/>
                </a:solidFill>
                <a:latin typeface="黑体" panose="02010600030101010101" pitchFamily="49" charset="-122"/>
                <a:ea typeface="黑体" panose="02010600030101010101" pitchFamily="49" charset="-122"/>
              </a:rPr>
              <a:t>黄色皮毛的小鼠品种不能真实遗传</a:t>
            </a:r>
            <a:r>
              <a:rPr lang="zh-CN" altLang="en-US" b="1" dirty="0">
                <a:latin typeface="黑体" panose="02010600030101010101" pitchFamily="49" charset="-122"/>
                <a:ea typeface="黑体" panose="02010600030101010101" pitchFamily="49" charset="-122"/>
              </a:rPr>
              <a:t>。 </a:t>
            </a:r>
            <a:endParaRPr lang="en-US" altLang="zh-CN" b="1" dirty="0">
              <a:latin typeface="黑体" panose="02010600030101010101" pitchFamily="49" charset="-122"/>
              <a:ea typeface="黑体" panose="02010600030101010101" pitchFamily="49"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黑体" panose="02010600030101010101" pitchFamily="49" charset="-122"/>
                <a:ea typeface="黑体" panose="02010600030101010101" pitchFamily="49" charset="-122"/>
              </a:rPr>
              <a:t>以后的研究发现，每窝黄鼠</a:t>
            </a:r>
            <a:r>
              <a:rPr lang="zh-CN" altLang="en-US" sz="1200" b="1" dirty="0">
                <a:latin typeface="黑体" panose="02010600030101010101" pitchFamily="49" charset="-122"/>
                <a:ea typeface="黑体" panose="02010600030101010101" pitchFamily="49" charset="-122"/>
                <a:sym typeface="Symbol" panose="05050102010706020507" pitchFamily="18" charset="2"/>
              </a:rPr>
              <a:t></a:t>
            </a:r>
            <a:r>
              <a:rPr lang="zh-CN" altLang="en-US" sz="1200" b="1" dirty="0">
                <a:latin typeface="黑体" panose="02010600030101010101" pitchFamily="49" charset="-122"/>
                <a:ea typeface="黑体" panose="02010600030101010101" pitchFamily="49" charset="-122"/>
              </a:rPr>
              <a:t>黄鼠的子代数比黄鼠</a:t>
            </a:r>
            <a:r>
              <a:rPr lang="zh-CN" altLang="en-US" sz="1200" b="1" dirty="0">
                <a:latin typeface="黑体" panose="02010600030101010101" pitchFamily="49" charset="-122"/>
                <a:ea typeface="黑体" panose="02010600030101010101" pitchFamily="49" charset="-122"/>
                <a:sym typeface="Symbol" panose="05050102010706020507" pitchFamily="18" charset="2"/>
              </a:rPr>
              <a:t></a:t>
            </a:r>
            <a:r>
              <a:rPr lang="zh-CN" altLang="en-US" sz="1200" b="1" dirty="0">
                <a:latin typeface="黑体" panose="02010600030101010101" pitchFamily="49" charset="-122"/>
                <a:ea typeface="黑体" panose="02010600030101010101" pitchFamily="49" charset="-122"/>
              </a:rPr>
              <a:t>黑鼠的子代数少</a:t>
            </a:r>
            <a:r>
              <a:rPr lang="en-US" altLang="zh-CN" sz="1200" b="1" dirty="0">
                <a:latin typeface="黑体" panose="02010600030101010101" pitchFamily="49" charset="-122"/>
                <a:ea typeface="黑体" panose="02010600030101010101" pitchFamily="49" charset="-122"/>
              </a:rPr>
              <a:t>1</a:t>
            </a:r>
            <a:r>
              <a:rPr lang="zh-CN" altLang="en-US" sz="1200" b="1" dirty="0">
                <a:latin typeface="黑体" panose="02010600030101010101" pitchFamily="49" charset="-122"/>
                <a:ea typeface="黑体" panose="02010600030101010101" pitchFamily="49" charset="-122"/>
              </a:rPr>
              <a:t>／</a:t>
            </a:r>
            <a:r>
              <a:rPr lang="en-US" altLang="zh-CN" sz="1200" b="1" dirty="0">
                <a:latin typeface="黑体" panose="02010600030101010101" pitchFamily="49" charset="-122"/>
                <a:ea typeface="黑体" panose="02010600030101010101" pitchFamily="49" charset="-122"/>
              </a:rPr>
              <a:t>4</a:t>
            </a:r>
            <a:r>
              <a:rPr lang="zh-CN" altLang="en-US" sz="1200" b="1" dirty="0">
                <a:latin typeface="黑体" panose="02010600030101010101" pitchFamily="49" charset="-122"/>
                <a:ea typeface="黑体" panose="02010600030101010101" pitchFamily="49" charset="-122"/>
              </a:rPr>
              <a:t>左右，这就表明有</a:t>
            </a:r>
            <a:r>
              <a:rPr lang="zh-CN" altLang="en-US" sz="1200" b="1" dirty="0">
                <a:solidFill>
                  <a:srgbClr val="0000FF"/>
                </a:solidFill>
                <a:latin typeface="黑体" panose="02010600030101010101" pitchFamily="49" charset="-122"/>
                <a:ea typeface="黑体" panose="02010600030101010101" pitchFamily="49" charset="-122"/>
              </a:rPr>
              <a:t>一部分小鼠在胚胎期即死亡</a:t>
            </a:r>
            <a:endParaRPr lang="zh-CN" altLang="en-US"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b="1" dirty="0">
              <a:latin typeface="黑体" panose="02010600030101010101" pitchFamily="49" charset="-122"/>
              <a:ea typeface="黑体" panose="0201060003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19</a:t>
            </a:fld>
            <a:endParaRPr lang="zh-CN" altLang="en-US"/>
          </a:p>
        </p:txBody>
      </p:sp>
    </p:spTree>
    <p:extLst>
      <p:ext uri="{BB962C8B-B14F-4D97-AF65-F5344CB8AC3E}">
        <p14:creationId xmlns:p14="http://schemas.microsoft.com/office/powerpoint/2010/main" val="1840489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21</a:t>
            </a:fld>
            <a:endParaRPr lang="zh-CN" altLang="en-US"/>
          </a:p>
        </p:txBody>
      </p:sp>
    </p:spTree>
    <p:extLst>
      <p:ext uri="{BB962C8B-B14F-4D97-AF65-F5344CB8AC3E}">
        <p14:creationId xmlns:p14="http://schemas.microsoft.com/office/powerpoint/2010/main" val="21767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28</a:t>
            </a:fld>
            <a:endParaRPr lang="zh-CN" altLang="en-US"/>
          </a:p>
        </p:txBody>
      </p:sp>
    </p:spTree>
    <p:extLst>
      <p:ext uri="{BB962C8B-B14F-4D97-AF65-F5344CB8AC3E}">
        <p14:creationId xmlns:p14="http://schemas.microsoft.com/office/powerpoint/2010/main" val="2697065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latin typeface="黑体" panose="02010600030101010101" pitchFamily="49" charset="-122"/>
                <a:ea typeface="黑体" panose="02010600030101010101" pitchFamily="49" charset="-122"/>
              </a:rPr>
              <a:t>在烟草中，</a:t>
            </a:r>
            <a:r>
              <a:rPr lang="zh-CN" altLang="en-US" b="1" dirty="0">
                <a:solidFill>
                  <a:srgbClr val="0000FF"/>
                </a:solidFill>
                <a:latin typeface="黑体" panose="02010600030101010101" pitchFamily="49" charset="-122"/>
                <a:ea typeface="黑体" panose="02010600030101010101" pitchFamily="49" charset="-122"/>
              </a:rPr>
              <a:t>基因型为</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1</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2</a:t>
            </a:r>
            <a:r>
              <a:rPr lang="zh-CN" altLang="en-US" b="1" dirty="0">
                <a:solidFill>
                  <a:srgbClr val="0000FF"/>
                </a:solidFill>
                <a:latin typeface="黑体" panose="02010600030101010101" pitchFamily="49" charset="-122"/>
                <a:ea typeface="黑体" panose="02010600030101010101" pitchFamily="49" charset="-122"/>
              </a:rPr>
              <a:t>的植株的花粉会受到具有相同基因型</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1</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2</a:t>
            </a:r>
            <a:r>
              <a:rPr lang="zh-CN" altLang="en-US" b="1" dirty="0">
                <a:solidFill>
                  <a:srgbClr val="0000FF"/>
                </a:solidFill>
                <a:latin typeface="黑体" panose="02010600030101010101" pitchFamily="49" charset="-122"/>
                <a:ea typeface="黑体" panose="02010600030101010101" pitchFamily="49" charset="-122"/>
              </a:rPr>
              <a:t>的植株的花柱所抑阻，花粉不能萌发，</a:t>
            </a:r>
            <a:r>
              <a:rPr lang="zh-CN" altLang="en-US" b="1" dirty="0">
                <a:solidFill>
                  <a:schemeClr val="tx1"/>
                </a:solidFill>
                <a:latin typeface="黑体" panose="02010600030101010101" pitchFamily="49" charset="-122"/>
                <a:ea typeface="黑体" panose="02010600030101010101" pitchFamily="49" charset="-122"/>
              </a:rPr>
              <a:t>但</a:t>
            </a:r>
            <a:r>
              <a:rPr lang="zh-CN" altLang="en-US" b="1" dirty="0">
                <a:solidFill>
                  <a:srgbClr val="0000FF"/>
                </a:solidFill>
                <a:latin typeface="黑体" panose="02010600030101010101" pitchFamily="49" charset="-122"/>
                <a:ea typeface="黑体" panose="02010600030101010101" pitchFamily="49" charset="-122"/>
              </a:rPr>
              <a:t>基因型为</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1</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3</a:t>
            </a:r>
            <a:r>
              <a:rPr lang="zh-CN" altLang="en-US" b="1" dirty="0">
                <a:solidFill>
                  <a:srgbClr val="0000FF"/>
                </a:solidFill>
                <a:latin typeface="黑体" panose="02010600030101010101" pitchFamily="49" charset="-122"/>
                <a:ea typeface="黑体" panose="02010600030101010101" pitchFamily="49" charset="-122"/>
              </a:rPr>
              <a:t>的花粉落在</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1</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2</a:t>
            </a:r>
            <a:r>
              <a:rPr lang="zh-CN" altLang="en-US" b="1" dirty="0">
                <a:solidFill>
                  <a:srgbClr val="0000FF"/>
                </a:solidFill>
                <a:latin typeface="黑体" panose="02010600030101010101" pitchFamily="49" charset="-122"/>
                <a:ea typeface="黑体" panose="02010600030101010101" pitchFamily="49" charset="-122"/>
              </a:rPr>
              <a:t>的柱头上时，</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1</a:t>
            </a:r>
            <a:r>
              <a:rPr lang="zh-CN" altLang="en-US" b="1" dirty="0">
                <a:solidFill>
                  <a:srgbClr val="0000FF"/>
                </a:solidFill>
                <a:latin typeface="黑体" panose="02010600030101010101" pitchFamily="49" charset="-122"/>
                <a:ea typeface="黑体" panose="02010600030101010101" pitchFamily="49" charset="-122"/>
              </a:rPr>
              <a:t>的花粉受到抑阻，而</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3</a:t>
            </a:r>
            <a:r>
              <a:rPr lang="zh-CN" altLang="en-US" b="1" dirty="0">
                <a:solidFill>
                  <a:srgbClr val="0000FF"/>
                </a:solidFill>
                <a:latin typeface="黑体" panose="02010600030101010101" pitchFamily="49" charset="-122"/>
                <a:ea typeface="黑体" panose="02010600030101010101" pitchFamily="49" charset="-122"/>
              </a:rPr>
              <a:t>的花粉不被抑阻，因而可以参加受精，生成</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1</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3</a:t>
            </a:r>
            <a:r>
              <a:rPr lang="zh-CN" altLang="en-US" b="1" dirty="0">
                <a:solidFill>
                  <a:srgbClr val="0000FF"/>
                </a:solidFill>
                <a:latin typeface="黑体" panose="02010600030101010101" pitchFamily="49" charset="-122"/>
                <a:ea typeface="黑体" panose="02010600030101010101" pitchFamily="49" charset="-122"/>
              </a:rPr>
              <a:t>和</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2</a:t>
            </a:r>
            <a:r>
              <a:rPr lang="en-US" altLang="zh-CN" b="1" dirty="0">
                <a:solidFill>
                  <a:srgbClr val="0000FF"/>
                </a:solidFill>
                <a:latin typeface="黑体" panose="02010600030101010101" pitchFamily="49" charset="-122"/>
                <a:ea typeface="黑体" panose="02010600030101010101" pitchFamily="49" charset="-122"/>
              </a:rPr>
              <a:t>S</a:t>
            </a:r>
            <a:r>
              <a:rPr lang="en-US" altLang="zh-CN" b="1" baseline="-25000" dirty="0">
                <a:solidFill>
                  <a:srgbClr val="0000FF"/>
                </a:solidFill>
                <a:latin typeface="黑体" panose="02010600030101010101" pitchFamily="49" charset="-122"/>
                <a:ea typeface="黑体" panose="02010600030101010101" pitchFamily="49" charset="-122"/>
              </a:rPr>
              <a:t>3</a:t>
            </a:r>
            <a:r>
              <a:rPr lang="zh-CN" altLang="en-US" b="1" dirty="0">
                <a:solidFill>
                  <a:srgbClr val="0000FF"/>
                </a:solidFill>
                <a:latin typeface="黑体" panose="02010600030101010101" pitchFamily="49" charset="-122"/>
                <a:ea typeface="黑体" panose="02010600030101010101" pitchFamily="49" charset="-122"/>
              </a:rPr>
              <a:t>的合子</a:t>
            </a:r>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32</a:t>
            </a:fld>
            <a:endParaRPr lang="zh-CN" altLang="en-US"/>
          </a:p>
        </p:txBody>
      </p:sp>
    </p:spTree>
    <p:extLst>
      <p:ext uri="{BB962C8B-B14F-4D97-AF65-F5344CB8AC3E}">
        <p14:creationId xmlns:p14="http://schemas.microsoft.com/office/powerpoint/2010/main" val="1531899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a:t>
            </a:r>
            <a:r>
              <a:rPr lang="en-US" altLang="zh-CN" dirty="0"/>
              <a:t>2</a:t>
            </a:r>
            <a:r>
              <a:rPr lang="zh-CN" altLang="en-US" dirty="0"/>
              <a:t>可以产生新的性状</a:t>
            </a:r>
            <a:endParaRPr lang="en-US" altLang="zh-CN" dirty="0"/>
          </a:p>
          <a:p>
            <a:r>
              <a:rPr lang="zh-CN" altLang="en-US" dirty="0"/>
              <a:t>基因互作讨论的都是一种性状，孟德尔的经典遗传讨论的是</a:t>
            </a:r>
            <a:r>
              <a:rPr lang="en-US" altLang="zh-CN" dirty="0"/>
              <a:t>2</a:t>
            </a:r>
            <a:r>
              <a:rPr lang="zh-CN" altLang="en-US" dirty="0"/>
              <a:t>种性状，颜色和性状（黄绿、圆皱）</a:t>
            </a:r>
          </a:p>
        </p:txBody>
      </p:sp>
      <p:sp>
        <p:nvSpPr>
          <p:cNvPr id="4" name="灯片编号占位符 3"/>
          <p:cNvSpPr>
            <a:spLocks noGrp="1"/>
          </p:cNvSpPr>
          <p:nvPr>
            <p:ph type="sldNum" sz="quarter" idx="5"/>
          </p:nvPr>
        </p:nvSpPr>
        <p:spPr/>
        <p:txBody>
          <a:bodyPr/>
          <a:lstStyle/>
          <a:p>
            <a:fld id="{027D6D9B-F3F9-401C-A0C5-ADD25CE49E34}" type="slidenum">
              <a:rPr lang="zh-CN" altLang="en-US" smtClean="0"/>
              <a:t>34</a:t>
            </a:fld>
            <a:endParaRPr lang="zh-CN" altLang="en-US"/>
          </a:p>
        </p:txBody>
      </p:sp>
    </p:spTree>
    <p:extLst>
      <p:ext uri="{BB962C8B-B14F-4D97-AF65-F5344CB8AC3E}">
        <p14:creationId xmlns:p14="http://schemas.microsoft.com/office/powerpoint/2010/main" val="2154411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zh-CN" altLang="en-US" dirty="0"/>
              <a:t>现象：① </a:t>
            </a:r>
            <a:r>
              <a:rPr lang="en-US" altLang="zh-CN" dirty="0"/>
              <a:t>F1 </a:t>
            </a:r>
            <a:r>
              <a:rPr lang="zh-CN" altLang="en-US" dirty="0"/>
              <a:t>的鸡冠不像任何一个亲本，而是一种新的类型；② </a:t>
            </a:r>
            <a:r>
              <a:rPr lang="en-US" altLang="zh-CN" dirty="0"/>
              <a:t>F2 </a:t>
            </a:r>
            <a:r>
              <a:rPr lang="zh-CN" altLang="en-US" dirty="0"/>
              <a:t>出现两种新的类型，一种是胡桃冠，另外一种是单冠。</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黑体" panose="02010600030101010101" pitchFamily="49" charset="-122"/>
                <a:ea typeface="黑体" panose="02010600030101010101" pitchFamily="49" charset="-122"/>
              </a:rPr>
              <a:t>假定控制玫瑰冠的基因是</a:t>
            </a:r>
            <a:r>
              <a:rPr lang="en-US" altLang="zh-CN" b="1" dirty="0">
                <a:latin typeface="黑体" panose="02010600030101010101" pitchFamily="49" charset="-122"/>
                <a:ea typeface="黑体" panose="02010600030101010101" pitchFamily="49" charset="-122"/>
              </a:rPr>
              <a:t>R</a:t>
            </a:r>
            <a:r>
              <a:rPr lang="zh-CN" altLang="en-US" b="1" dirty="0">
                <a:latin typeface="黑体" panose="02010600030101010101" pitchFamily="49" charset="-122"/>
                <a:ea typeface="黑体" panose="02010600030101010101" pitchFamily="49" charset="-122"/>
              </a:rPr>
              <a:t>，控制碗豆冠的基因是</a:t>
            </a:r>
            <a:r>
              <a:rPr lang="en-US" altLang="zh-CN" b="1" dirty="0">
                <a:latin typeface="黑体" panose="02010600030101010101" pitchFamily="49" charset="-122"/>
                <a:ea typeface="黑体" panose="02010600030101010101" pitchFamily="49" charset="-122"/>
              </a:rPr>
              <a:t>P</a:t>
            </a:r>
            <a:r>
              <a:rPr lang="zh-CN" altLang="en-US" b="1" dirty="0">
                <a:latin typeface="黑体" panose="02010600030101010101" pitchFamily="49" charset="-122"/>
                <a:ea typeface="黑体" panose="02010600030101010101" pitchFamily="49" charset="-122"/>
              </a:rPr>
              <a:t>，而且都是显性的，那么玫瑰冠的鸡没有显性豌豆冠基因，所以基因型是</a:t>
            </a:r>
            <a:r>
              <a:rPr lang="en-US" altLang="zh-CN" b="1" dirty="0" err="1">
                <a:latin typeface="黑体" panose="02010600030101010101" pitchFamily="49" charset="-122"/>
                <a:ea typeface="黑体" panose="02010600030101010101" pitchFamily="49" charset="-122"/>
              </a:rPr>
              <a:t>RRpp</a:t>
            </a:r>
            <a:r>
              <a:rPr lang="zh-CN" altLang="en-US" b="1" dirty="0">
                <a:latin typeface="黑体" panose="02010600030101010101" pitchFamily="49" charset="-122"/>
                <a:ea typeface="黑体" panose="02010600030101010101" pitchFamily="49" charset="-122"/>
              </a:rPr>
              <a:t>；与之相反，豌豆冠的鸡没有显性玫瑰冠基因，所以基因型是</a:t>
            </a:r>
            <a:r>
              <a:rPr lang="en-US" altLang="zh-CN" b="1" dirty="0" err="1">
                <a:latin typeface="黑体" panose="02010600030101010101" pitchFamily="49" charset="-122"/>
                <a:ea typeface="黑体" panose="02010600030101010101" pitchFamily="49" charset="-122"/>
              </a:rPr>
              <a:t>rrPP</a:t>
            </a:r>
            <a:r>
              <a:rPr lang="zh-CN" altLang="en-US" b="1" dirty="0">
                <a:latin typeface="黑体" panose="02010600030101010101" pitchFamily="49" charset="-122"/>
                <a:ea typeface="黑体" panose="02010600030101010101" pitchFamily="49" charset="-122"/>
              </a:rPr>
              <a:t>。子一代的基因型是</a:t>
            </a:r>
            <a:r>
              <a:rPr lang="en-US" altLang="zh-CN" b="1" dirty="0" err="1">
                <a:latin typeface="黑体" panose="02010600030101010101" pitchFamily="49" charset="-122"/>
                <a:ea typeface="黑体" panose="02010600030101010101" pitchFamily="49" charset="-122"/>
              </a:rPr>
              <a:t>RrPp</a:t>
            </a:r>
            <a:r>
              <a:rPr lang="zh-CN" altLang="en-US" b="1" dirty="0">
                <a:latin typeface="黑体" panose="02010600030101010101" pitchFamily="49" charset="-122"/>
                <a:ea typeface="黑体" panose="02010600030101010101" pitchFamily="49" charset="-122"/>
              </a:rPr>
              <a:t>，</a:t>
            </a:r>
            <a:r>
              <a:rPr lang="zh-CN" altLang="en-US" b="1" dirty="0">
                <a:solidFill>
                  <a:srgbClr val="0000FF"/>
                </a:solidFill>
                <a:latin typeface="黑体" panose="02010600030101010101" pitchFamily="49" charset="-122"/>
                <a:ea typeface="黑体" panose="02010600030101010101" pitchFamily="49" charset="-122"/>
              </a:rPr>
              <a:t>由于</a:t>
            </a:r>
            <a:r>
              <a:rPr lang="en-US" altLang="zh-CN" b="1" dirty="0">
                <a:solidFill>
                  <a:srgbClr val="0000FF"/>
                </a:solidFill>
                <a:latin typeface="黑体" panose="02010600030101010101" pitchFamily="49" charset="-122"/>
                <a:ea typeface="黑体" panose="02010600030101010101" pitchFamily="49" charset="-122"/>
              </a:rPr>
              <a:t>P</a:t>
            </a:r>
            <a:r>
              <a:rPr lang="zh-CN" altLang="en-US" b="1" dirty="0">
                <a:solidFill>
                  <a:srgbClr val="0000FF"/>
                </a:solidFill>
                <a:latin typeface="黑体" panose="02010600030101010101" pitchFamily="49" charset="-122"/>
                <a:ea typeface="黑体" panose="02010600030101010101" pitchFamily="49" charset="-122"/>
              </a:rPr>
              <a:t>与</a:t>
            </a:r>
            <a:r>
              <a:rPr lang="en-US" altLang="zh-CN" b="1" dirty="0">
                <a:solidFill>
                  <a:srgbClr val="0000FF"/>
                </a:solidFill>
                <a:latin typeface="黑体" panose="02010600030101010101" pitchFamily="49" charset="-122"/>
                <a:ea typeface="黑体" panose="02010600030101010101" pitchFamily="49" charset="-122"/>
              </a:rPr>
              <a:t>R</a:t>
            </a:r>
            <a:r>
              <a:rPr lang="zh-CN" altLang="en-US" b="1" dirty="0">
                <a:solidFill>
                  <a:srgbClr val="0000FF"/>
                </a:solidFill>
                <a:latin typeface="黑体" panose="02010600030101010101" pitchFamily="49" charset="-122"/>
                <a:ea typeface="黑体" panose="02010600030101010101" pitchFamily="49" charset="-122"/>
              </a:rPr>
              <a:t>的互相作用，出现了胡桃冠</a:t>
            </a:r>
            <a:r>
              <a:rPr lang="zh-CN" altLang="en-US" b="1" dirty="0">
                <a:latin typeface="黑体" panose="02010600030101010101" pitchFamily="49" charset="-122"/>
                <a:ea typeface="黑体" panose="02010600030101010101" pitchFamily="49" charset="-122"/>
              </a:rPr>
              <a:t>。</a:t>
            </a:r>
          </a:p>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35</a:t>
            </a:fld>
            <a:endParaRPr lang="zh-CN" altLang="en-US"/>
          </a:p>
        </p:txBody>
      </p:sp>
    </p:spTree>
    <p:extLst>
      <p:ext uri="{BB962C8B-B14F-4D97-AF65-F5344CB8AC3E}">
        <p14:creationId xmlns:p14="http://schemas.microsoft.com/office/powerpoint/2010/main" val="5304174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a:t>
            </a:r>
            <a:r>
              <a:rPr lang="en-US" altLang="zh-CN" baseline="-25000" dirty="0"/>
              <a:t>1 </a:t>
            </a:r>
            <a:r>
              <a:rPr lang="zh-CN" altLang="en-US" dirty="0"/>
              <a:t>自交，</a:t>
            </a:r>
            <a:r>
              <a:rPr lang="en-US" altLang="zh-CN" dirty="0"/>
              <a:t> F</a:t>
            </a:r>
            <a:r>
              <a:rPr lang="en-US" altLang="zh-CN" baseline="-25000" dirty="0"/>
              <a:t>2 </a:t>
            </a:r>
            <a:r>
              <a:rPr lang="zh-CN" altLang="en-US" dirty="0"/>
              <a:t>中应该 </a:t>
            </a:r>
            <a:r>
              <a:rPr lang="en-US" altLang="zh-CN" dirty="0"/>
              <a:t>9/16 </a:t>
            </a:r>
            <a:r>
              <a:rPr lang="zh-CN" altLang="en-US" dirty="0"/>
              <a:t>是 </a:t>
            </a:r>
            <a:r>
              <a:rPr lang="en-US" altLang="zh-CN" i="1" dirty="0"/>
              <a:t>C_R_</a:t>
            </a:r>
            <a:r>
              <a:rPr lang="zh-CN" altLang="en-US" dirty="0"/>
              <a:t>，</a:t>
            </a:r>
            <a:r>
              <a:rPr lang="en-US" altLang="zh-CN" dirty="0"/>
              <a:t>3/16 </a:t>
            </a:r>
            <a:r>
              <a:rPr lang="zh-CN" altLang="en-US" dirty="0"/>
              <a:t>是 </a:t>
            </a:r>
            <a:r>
              <a:rPr lang="en-US" altLang="zh-CN" i="1" dirty="0" err="1"/>
              <a:t>C_rr</a:t>
            </a:r>
            <a:r>
              <a:rPr lang="zh-CN" altLang="en-US" dirty="0"/>
              <a:t>，</a:t>
            </a:r>
            <a:r>
              <a:rPr lang="en-US" altLang="zh-CN" dirty="0"/>
              <a:t>3/16 </a:t>
            </a:r>
            <a:r>
              <a:rPr lang="zh-CN" altLang="en-US" dirty="0"/>
              <a:t>是 </a:t>
            </a:r>
            <a:r>
              <a:rPr lang="en-US" altLang="zh-CN" i="1" dirty="0" err="1"/>
              <a:t>ccR</a:t>
            </a:r>
            <a:r>
              <a:rPr lang="en-US" altLang="zh-CN" i="1" dirty="0"/>
              <a:t>_</a:t>
            </a:r>
            <a:r>
              <a:rPr lang="zh-CN" altLang="en-US" dirty="0"/>
              <a:t>，</a:t>
            </a:r>
            <a:r>
              <a:rPr lang="en-US" altLang="zh-CN" dirty="0"/>
              <a:t>1/16 </a:t>
            </a:r>
            <a:r>
              <a:rPr lang="zh-CN" altLang="en-US" dirty="0"/>
              <a:t>是 </a:t>
            </a:r>
            <a:r>
              <a:rPr lang="en-US" altLang="zh-CN" i="1" dirty="0" err="1"/>
              <a:t>ccrr</a:t>
            </a:r>
            <a:r>
              <a:rPr lang="zh-CN" altLang="en-US" dirty="0"/>
              <a:t>。 </a:t>
            </a:r>
            <a:endParaRPr lang="en-US" altLang="zh-CN" dirty="0"/>
          </a:p>
          <a:p>
            <a:r>
              <a:rPr lang="zh-CN" altLang="en-US" dirty="0"/>
              <a:t>由于显性基因 </a:t>
            </a:r>
            <a:r>
              <a:rPr lang="en-US" altLang="zh-CN" i="1" dirty="0"/>
              <a:t>C </a:t>
            </a:r>
            <a:r>
              <a:rPr lang="zh-CN" altLang="en-US" dirty="0"/>
              <a:t>与显性基因 </a:t>
            </a:r>
            <a:r>
              <a:rPr lang="en-US" altLang="zh-CN" i="1" dirty="0"/>
              <a:t>R </a:t>
            </a:r>
            <a:r>
              <a:rPr lang="zh-CN" altLang="en-US" dirty="0"/>
              <a:t>间的互补作用，只有 </a:t>
            </a:r>
            <a:r>
              <a:rPr lang="en-US" altLang="zh-CN" dirty="0"/>
              <a:t>9/16 </a:t>
            </a:r>
            <a:r>
              <a:rPr lang="zh-CN" altLang="en-US" dirty="0"/>
              <a:t>的 </a:t>
            </a:r>
            <a:r>
              <a:rPr lang="en-US" altLang="zh-CN" i="1" dirty="0"/>
              <a:t>C_R_</a:t>
            </a:r>
            <a:r>
              <a:rPr lang="en-US" altLang="zh-CN" dirty="0"/>
              <a:t> </a:t>
            </a:r>
            <a:r>
              <a:rPr lang="zh-CN" altLang="en-US" dirty="0"/>
              <a:t>在表型上是红花，其余 </a:t>
            </a:r>
            <a:r>
              <a:rPr lang="en-US" altLang="zh-CN" dirty="0"/>
              <a:t>7/16 </a:t>
            </a:r>
            <a:r>
              <a:rPr lang="zh-CN" altLang="en-US" dirty="0"/>
              <a:t>都是白花。</a:t>
            </a:r>
          </a:p>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37</a:t>
            </a:fld>
            <a:endParaRPr lang="zh-CN" altLang="en-US"/>
          </a:p>
        </p:txBody>
      </p:sp>
    </p:spTree>
    <p:extLst>
      <p:ext uri="{BB962C8B-B14F-4D97-AF65-F5344CB8AC3E}">
        <p14:creationId xmlns:p14="http://schemas.microsoft.com/office/powerpoint/2010/main" val="871026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黑体" panose="02010600030101010101" pitchFamily="49" charset="-122"/>
                <a:ea typeface="黑体" panose="02010600030101010101" pitchFamily="49" charset="-122"/>
              </a:rPr>
              <a:t>从以上分析可知，</a:t>
            </a:r>
            <a:r>
              <a:rPr lang="zh-CN" altLang="en-US" b="1" dirty="0">
                <a:solidFill>
                  <a:srgbClr val="0000FF"/>
                </a:solidFill>
                <a:latin typeface="黑体" panose="02010600030101010101" pitchFamily="49" charset="-122"/>
                <a:ea typeface="黑体" panose="02010600030101010101" pitchFamily="49" charset="-122"/>
              </a:rPr>
              <a:t>两对基因都是隐性时，形成长圆形</a:t>
            </a:r>
            <a:r>
              <a:rPr lang="zh-CN" altLang="en-US" b="1" dirty="0">
                <a:latin typeface="黑体" panose="02010600030101010101" pitchFamily="49" charset="-122"/>
                <a:ea typeface="黑体" panose="02010600030101010101" pitchFamily="49" charset="-122"/>
              </a:rPr>
              <a:t>，</a:t>
            </a:r>
            <a:r>
              <a:rPr lang="zh-CN" altLang="en-US" b="1" dirty="0">
                <a:solidFill>
                  <a:srgbClr val="0000FF"/>
                </a:solidFill>
                <a:latin typeface="黑体" panose="02010600030101010101" pitchFamily="49" charset="-122"/>
                <a:ea typeface="黑体" panose="02010600030101010101" pitchFamily="49" charset="-122"/>
              </a:rPr>
              <a:t>只有显性基因</a:t>
            </a:r>
            <a:r>
              <a:rPr lang="en-US" altLang="zh-CN" b="1" dirty="0">
                <a:solidFill>
                  <a:srgbClr val="0000FF"/>
                </a:solidFill>
                <a:latin typeface="黑体" panose="02010600030101010101" pitchFamily="49" charset="-122"/>
                <a:ea typeface="黑体" panose="02010600030101010101" pitchFamily="49" charset="-122"/>
              </a:rPr>
              <a:t>A</a:t>
            </a:r>
            <a:r>
              <a:rPr lang="zh-CN" altLang="en-US" b="1" dirty="0">
                <a:solidFill>
                  <a:srgbClr val="0000FF"/>
                </a:solidFill>
                <a:latin typeface="黑体" panose="02010600030101010101" pitchFamily="49" charset="-122"/>
                <a:ea typeface="黑体" panose="02010600030101010101" pitchFamily="49" charset="-122"/>
              </a:rPr>
              <a:t>或</a:t>
            </a:r>
            <a:r>
              <a:rPr lang="en-US" altLang="zh-CN" b="1" dirty="0">
                <a:solidFill>
                  <a:srgbClr val="0000FF"/>
                </a:solidFill>
                <a:latin typeface="黑体" panose="02010600030101010101" pitchFamily="49" charset="-122"/>
                <a:ea typeface="黑体" panose="02010600030101010101" pitchFamily="49" charset="-122"/>
              </a:rPr>
              <a:t>B</a:t>
            </a:r>
            <a:r>
              <a:rPr lang="zh-CN" altLang="en-US" b="1" dirty="0">
                <a:solidFill>
                  <a:srgbClr val="0000FF"/>
                </a:solidFill>
                <a:latin typeface="黑体" panose="02010600030101010101" pitchFamily="49" charset="-122"/>
                <a:ea typeface="黑体" panose="02010600030101010101" pitchFamily="49" charset="-122"/>
              </a:rPr>
              <a:t>存在时，形成圆球形</a:t>
            </a:r>
            <a:r>
              <a:rPr lang="zh-CN" altLang="en-US" b="1" dirty="0">
                <a:latin typeface="黑体" panose="02010600030101010101" pitchFamily="49" charset="-122"/>
                <a:ea typeface="黑体" panose="02010600030101010101" pitchFamily="49" charset="-122"/>
              </a:rPr>
              <a:t>，</a:t>
            </a:r>
            <a:r>
              <a:rPr lang="en-US" altLang="zh-CN" b="1" dirty="0">
                <a:solidFill>
                  <a:srgbClr val="0000FF"/>
                </a:solidFill>
                <a:latin typeface="黑体" panose="02010600030101010101" pitchFamily="49" charset="-122"/>
                <a:ea typeface="黑体" panose="02010600030101010101" pitchFamily="49" charset="-122"/>
              </a:rPr>
              <a:t>A</a:t>
            </a:r>
            <a:r>
              <a:rPr lang="zh-CN" altLang="en-US" b="1" dirty="0">
                <a:solidFill>
                  <a:srgbClr val="0000FF"/>
                </a:solidFill>
                <a:latin typeface="黑体" panose="02010600030101010101" pitchFamily="49" charset="-122"/>
                <a:ea typeface="黑体" panose="02010600030101010101" pitchFamily="49" charset="-122"/>
              </a:rPr>
              <a:t>和</a:t>
            </a:r>
            <a:r>
              <a:rPr lang="en-US" altLang="zh-CN" b="1" dirty="0">
                <a:solidFill>
                  <a:srgbClr val="0000FF"/>
                </a:solidFill>
                <a:latin typeface="黑体" panose="02010600030101010101" pitchFamily="49" charset="-122"/>
                <a:ea typeface="黑体" panose="02010600030101010101" pitchFamily="49" charset="-122"/>
              </a:rPr>
              <a:t>B</a:t>
            </a:r>
            <a:r>
              <a:rPr lang="zh-CN" altLang="en-US" b="1" dirty="0">
                <a:solidFill>
                  <a:srgbClr val="0000FF"/>
                </a:solidFill>
                <a:latin typeface="黑体" panose="02010600030101010101" pitchFamily="49" charset="-122"/>
                <a:ea typeface="黑体" panose="02010600030101010101" pitchFamily="49" charset="-122"/>
              </a:rPr>
              <a:t>同时存在时，则形成扁盘形</a:t>
            </a:r>
            <a:r>
              <a:rPr lang="zh-CN" altLang="en-US" dirty="0"/>
              <a:t>。</a:t>
            </a:r>
          </a:p>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38</a:t>
            </a:fld>
            <a:endParaRPr lang="zh-CN" altLang="en-US"/>
          </a:p>
        </p:txBody>
      </p:sp>
    </p:spTree>
    <p:extLst>
      <p:ext uri="{BB962C8B-B14F-4D97-AF65-F5344CB8AC3E}">
        <p14:creationId xmlns:p14="http://schemas.microsoft.com/office/powerpoint/2010/main" val="2809987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黑体" panose="02010600030101010101" pitchFamily="49" charset="-122"/>
                <a:ea typeface="黑体" panose="02010600030101010101" pitchFamily="49" charset="-122"/>
                <a:cs typeface="黑体" panose="02010600030101010101" pitchFamily="49" charset="-122"/>
              </a:rPr>
              <a:t>由于每一对显性基因都具有使蒴果表现为三角形的相同作用。</a:t>
            </a:r>
            <a:r>
              <a:rPr lang="zh-CN" altLang="en-US" b="1" dirty="0">
                <a:solidFill>
                  <a:srgbClr val="0000FF"/>
                </a:solidFill>
                <a:latin typeface="黑体" panose="02010600030101010101" pitchFamily="49" charset="-122"/>
                <a:ea typeface="黑体" panose="02010600030101010101" pitchFamily="49" charset="-122"/>
                <a:cs typeface="黑体" panose="02010600030101010101" pitchFamily="49" charset="-122"/>
              </a:rPr>
              <a:t>如果只有隐性基因，即表现为卵型蒴果，所以</a:t>
            </a:r>
            <a:r>
              <a:rPr lang="en-US" altLang="zh-CN" b="1" dirty="0">
                <a:solidFill>
                  <a:srgbClr val="0000FF"/>
                </a:solidFill>
                <a:latin typeface="黑体" panose="02010600030101010101" pitchFamily="49" charset="-122"/>
                <a:ea typeface="黑体" panose="02010600030101010101" pitchFamily="49" charset="-122"/>
                <a:cs typeface="黑体" panose="02010600030101010101" pitchFamily="49" charset="-122"/>
              </a:rPr>
              <a:t>F</a:t>
            </a:r>
            <a:r>
              <a:rPr lang="en-US" altLang="zh-CN" b="1" baseline="-25000" dirty="0">
                <a:solidFill>
                  <a:srgbClr val="0000FF"/>
                </a:solidFill>
                <a:latin typeface="黑体" panose="02010600030101010101" pitchFamily="49" charset="-122"/>
                <a:ea typeface="黑体" panose="02010600030101010101" pitchFamily="49" charset="-122"/>
                <a:cs typeface="黑体" panose="02010600030101010101" pitchFamily="49" charset="-122"/>
              </a:rPr>
              <a:t>2</a:t>
            </a:r>
            <a:r>
              <a:rPr lang="zh-CN" altLang="en-US" b="1" dirty="0">
                <a:solidFill>
                  <a:srgbClr val="0000FF"/>
                </a:solidFill>
                <a:latin typeface="黑体" panose="02010600030101010101" pitchFamily="49" charset="-122"/>
                <a:ea typeface="黑体" panose="02010600030101010101" pitchFamily="49" charset="-122"/>
                <a:cs typeface="黑体" panose="02010600030101010101" pitchFamily="49" charset="-122"/>
              </a:rPr>
              <a:t>出现</a:t>
            </a:r>
            <a:r>
              <a:rPr lang="en-US" altLang="zh-CN" b="1" dirty="0">
                <a:solidFill>
                  <a:srgbClr val="0000FF"/>
                </a:solidFill>
                <a:latin typeface="黑体" panose="02010600030101010101" pitchFamily="49" charset="-122"/>
                <a:ea typeface="黑体" panose="02010600030101010101" pitchFamily="49" charset="-122"/>
                <a:cs typeface="黑体" panose="02010600030101010101" pitchFamily="49" charset="-122"/>
              </a:rPr>
              <a:t>15∶1</a:t>
            </a:r>
            <a:r>
              <a:rPr lang="zh-CN" altLang="en-US" b="1" dirty="0">
                <a:solidFill>
                  <a:srgbClr val="0000FF"/>
                </a:solidFill>
                <a:latin typeface="黑体" panose="02010600030101010101" pitchFamily="49" charset="-122"/>
                <a:ea typeface="黑体" panose="02010600030101010101" pitchFamily="49" charset="-122"/>
                <a:cs typeface="黑体" panose="02010600030101010101" pitchFamily="49" charset="-122"/>
              </a:rPr>
              <a:t>的比例。</a:t>
            </a:r>
          </a:p>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39</a:t>
            </a:fld>
            <a:endParaRPr lang="zh-CN" altLang="en-US"/>
          </a:p>
        </p:txBody>
      </p:sp>
    </p:spTree>
    <p:extLst>
      <p:ext uri="{BB962C8B-B14F-4D97-AF65-F5344CB8AC3E}">
        <p14:creationId xmlns:p14="http://schemas.microsoft.com/office/powerpoint/2010/main" val="7394289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只要有一个显性基因 </a:t>
            </a:r>
            <a:r>
              <a:rPr lang="en-US" altLang="zh-CN" dirty="0"/>
              <a:t>B </a:t>
            </a:r>
            <a:r>
              <a:rPr lang="zh-CN" altLang="en-US" dirty="0"/>
              <a:t>存在，植株就表现黑颖，有没有显性基因 </a:t>
            </a:r>
            <a:r>
              <a:rPr lang="en-US" altLang="zh-CN" dirty="0"/>
              <a:t>Y </a:t>
            </a:r>
            <a:r>
              <a:rPr lang="zh-CN" altLang="en-US" dirty="0"/>
              <a:t>都一样。</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40</a:t>
            </a:fld>
            <a:endParaRPr lang="zh-CN" altLang="en-US"/>
          </a:p>
        </p:txBody>
      </p:sp>
    </p:spTree>
    <p:extLst>
      <p:ext uri="{BB962C8B-B14F-4D97-AF65-F5344CB8AC3E}">
        <p14:creationId xmlns:p14="http://schemas.microsoft.com/office/powerpoint/2010/main" val="4286798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在 </a:t>
            </a:r>
            <a:r>
              <a:rPr lang="en-US" altLang="zh-CN" i="1" dirty="0"/>
              <a:t>cc </a:t>
            </a:r>
            <a:r>
              <a:rPr lang="zh-CN" altLang="en-US" dirty="0"/>
              <a:t>个体中，不论是 </a:t>
            </a:r>
            <a:r>
              <a:rPr lang="en-US" altLang="zh-CN" i="1" dirty="0"/>
              <a:t>GG</a:t>
            </a:r>
            <a:r>
              <a:rPr lang="zh-CN" altLang="en-US" dirty="0"/>
              <a:t>，</a:t>
            </a:r>
            <a:r>
              <a:rPr lang="en-US" altLang="zh-CN" i="1" dirty="0" err="1"/>
              <a:t>Gg</a:t>
            </a:r>
            <a:r>
              <a:rPr lang="en-US" altLang="zh-CN" i="1" dirty="0"/>
              <a:t> </a:t>
            </a:r>
            <a:r>
              <a:rPr lang="zh-CN" altLang="en-US" dirty="0"/>
              <a:t>还是 </a:t>
            </a:r>
            <a:r>
              <a:rPr lang="en-US" altLang="zh-CN" i="1" dirty="0" err="1"/>
              <a:t>gg</a:t>
            </a:r>
            <a:r>
              <a:rPr lang="zh-CN" altLang="en-US" dirty="0"/>
              <a:t>，都表现为白色。</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027D6D9B-F3F9-401C-A0C5-ADD25CE49E34}" type="slidenum">
              <a:rPr lang="zh-CN" altLang="en-US" smtClean="0"/>
              <a:t>41</a:t>
            </a:fld>
            <a:endParaRPr lang="zh-CN" altLang="en-US"/>
          </a:p>
        </p:txBody>
      </p:sp>
    </p:spTree>
    <p:extLst>
      <p:ext uri="{BB962C8B-B14F-4D97-AF65-F5344CB8AC3E}">
        <p14:creationId xmlns:p14="http://schemas.microsoft.com/office/powerpoint/2010/main" val="1884896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7D6D9B-F3F9-401C-A0C5-ADD25CE49E34}" type="slidenum">
              <a:rPr lang="zh-CN" altLang="en-US" smtClean="0"/>
              <a:t>43</a:t>
            </a:fld>
            <a:endParaRPr lang="zh-CN" altLang="en-US"/>
          </a:p>
        </p:txBody>
      </p:sp>
    </p:spTree>
    <p:extLst>
      <p:ext uri="{BB962C8B-B14F-4D97-AF65-F5344CB8AC3E}">
        <p14:creationId xmlns:p14="http://schemas.microsoft.com/office/powerpoint/2010/main" val="25095839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7D6D9B-F3F9-401C-A0C5-ADD25CE49E34}" type="slidenum">
              <a:rPr lang="zh-CN" altLang="en-US" smtClean="0"/>
              <a:t>45</a:t>
            </a:fld>
            <a:endParaRPr lang="zh-CN" altLang="en-US"/>
          </a:p>
        </p:txBody>
      </p:sp>
    </p:spTree>
    <p:extLst>
      <p:ext uri="{BB962C8B-B14F-4D97-AF65-F5344CB8AC3E}">
        <p14:creationId xmlns:p14="http://schemas.microsoft.com/office/powerpoint/2010/main" val="2636843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E390EE4-4DE1-4DED-BBFC-E089C9E35805}" type="datetimeFigureOut">
              <a:rPr lang="zh-CN" altLang="en-US" smtClean="0"/>
              <a:t>2024/3/7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F68DF6-4743-440D-BBB3-8B1225514BE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E390EE4-4DE1-4DED-BBFC-E089C9E35805}" type="datetimeFigureOut">
              <a:rPr lang="zh-CN" altLang="en-US" smtClean="0"/>
              <a:t>2024/3/7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F68DF6-4743-440D-BBB3-8B1225514BE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E390EE4-4DE1-4DED-BBFC-E089C9E35805}" type="datetimeFigureOut">
              <a:rPr lang="zh-CN" altLang="en-US" smtClean="0"/>
              <a:t>2024/3/7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F68DF6-4743-440D-BBB3-8B1225514BE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BE390EE4-4DE1-4DED-BBFC-E089C9E35805}" type="datetimeFigureOut">
              <a:rPr lang="zh-CN" altLang="en-US" smtClean="0"/>
              <a:t>2024/3/7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F68DF6-4743-440D-BBB3-8B1225514BE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BE390EE4-4DE1-4DED-BBFC-E089C9E35805}" type="datetimeFigureOut">
              <a:rPr lang="zh-CN" altLang="en-US" smtClean="0"/>
              <a:t>2024/3/7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F68DF6-4743-440D-BBB3-8B1225514BE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E390EE4-4DE1-4DED-BBFC-E089C9E35805}" type="datetimeFigureOut">
              <a:rPr lang="zh-CN" altLang="en-US" smtClean="0"/>
              <a:t>2024/3/7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FF68DF6-4743-440D-BBB3-8B1225514BE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E390EE4-4DE1-4DED-BBFC-E089C9E35805}" type="datetimeFigureOut">
              <a:rPr lang="zh-CN" altLang="en-US" smtClean="0"/>
              <a:t>2024/3/7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FF68DF6-4743-440D-BBB3-8B1225514BE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E390EE4-4DE1-4DED-BBFC-E089C9E35805}" type="datetimeFigureOut">
              <a:rPr lang="zh-CN" altLang="en-US" smtClean="0"/>
              <a:t>2024/3/7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F68DF6-4743-440D-BBB3-8B1225514BE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E390EE4-4DE1-4DED-BBFC-E089C9E35805}" type="datetimeFigureOut">
              <a:rPr lang="zh-CN" altLang="en-US" smtClean="0"/>
              <a:t>2024/3/7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F68DF6-4743-440D-BBB3-8B1225514BE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E390EE4-4DE1-4DED-BBFC-E089C9E35805}" type="datetimeFigureOut">
              <a:rPr lang="zh-CN" altLang="en-US" smtClean="0"/>
              <a:t>2024/3/7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F68DF6-4743-440D-BBB3-8B1225514BE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BE390EE4-4DE1-4DED-BBFC-E089C9E35805}" type="datetimeFigureOut">
              <a:rPr lang="zh-CN" altLang="en-US" smtClean="0"/>
              <a:t>2024/3/7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F68DF6-4743-440D-BBB3-8B1225514BE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685800"/>
            <a:ext cx="1138766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06401" y="1981200"/>
            <a:ext cx="5592233"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quarter" idx="2"/>
          </p:nvPr>
        </p:nvSpPr>
        <p:spPr>
          <a:xfrm>
            <a:off x="6201834" y="1981200"/>
            <a:ext cx="5592233" cy="18669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p:cNvSpPr>
            <a:spLocks noGrp="1"/>
          </p:cNvSpPr>
          <p:nvPr>
            <p:ph sz="quarter" idx="3"/>
          </p:nvPr>
        </p:nvSpPr>
        <p:spPr>
          <a:xfrm>
            <a:off x="6201834" y="4000500"/>
            <a:ext cx="5592233" cy="18669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日期占位符 5"/>
          <p:cNvSpPr>
            <a:spLocks noGrp="1"/>
          </p:cNvSpPr>
          <p:nvPr>
            <p:ph type="dt" sz="half" idx="10"/>
          </p:nvPr>
        </p:nvSpPr>
        <p:spPr>
          <a:xfrm>
            <a:off x="402167" y="6019800"/>
            <a:ext cx="3052233" cy="476250"/>
          </a:xfrm>
        </p:spPr>
        <p:txBody>
          <a:bodyPr/>
          <a:lstStyle>
            <a:lvl1pPr>
              <a:defRPr/>
            </a:lvl1pPr>
          </a:lstStyle>
          <a:p>
            <a:fld id="{9FBE4677-57C6-4D8F-9838-374EB36420EB}" type="datetime1">
              <a:rPr lang="zh-CN" altLang="en-US"/>
              <a:t>2024/3/7</a:t>
            </a:fld>
            <a:endParaRPr lang="en-US" altLang="zh-CN"/>
          </a:p>
        </p:txBody>
      </p:sp>
      <p:sp>
        <p:nvSpPr>
          <p:cNvPr id="7" name="页脚占位符 6"/>
          <p:cNvSpPr>
            <a:spLocks noGrp="1"/>
          </p:cNvSpPr>
          <p:nvPr>
            <p:ph type="ftr" sz="quarter" idx="11"/>
          </p:nvPr>
        </p:nvSpPr>
        <p:spPr>
          <a:xfrm>
            <a:off x="4165600" y="6019800"/>
            <a:ext cx="3860800" cy="476250"/>
          </a:xfrm>
        </p:spPr>
        <p:txBody>
          <a:bodyPr/>
          <a:lstStyle>
            <a:lvl1pPr>
              <a:defRPr/>
            </a:lvl1pPr>
          </a:lstStyle>
          <a:p>
            <a:r>
              <a:rPr lang="en-US" altLang="zh-CN"/>
              <a:t>湖北大学生命科学学院 陈建国</a:t>
            </a:r>
          </a:p>
        </p:txBody>
      </p:sp>
      <p:sp>
        <p:nvSpPr>
          <p:cNvPr id="8" name="灯片编号占位符 7"/>
          <p:cNvSpPr>
            <a:spLocks noGrp="1"/>
          </p:cNvSpPr>
          <p:nvPr>
            <p:ph type="sldNum" sz="quarter" idx="12"/>
          </p:nvPr>
        </p:nvSpPr>
        <p:spPr>
          <a:xfrm>
            <a:off x="8737601" y="6019800"/>
            <a:ext cx="3052233" cy="476250"/>
          </a:xfrm>
        </p:spPr>
        <p:txBody>
          <a:bodyPr/>
          <a:lstStyle>
            <a:lvl1pPr>
              <a:defRPr/>
            </a:lvl1pPr>
          </a:lstStyle>
          <a:p>
            <a:fld id="{E8F0C7A8-634A-443F-B9D8-5004DCED6BB7}"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Tree>
    <p:extLst>
      <p:ext uri="{BB962C8B-B14F-4D97-AF65-F5344CB8AC3E}">
        <p14:creationId xmlns:p14="http://schemas.microsoft.com/office/powerpoint/2010/main" val="257686609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060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390EE4-4DE1-4DED-BBFC-E089C9E35805}" type="datetimeFigureOut">
              <a:rPr lang="zh-CN" altLang="en-US" smtClean="0"/>
              <a:t>2024/3/7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F68DF6-4743-440D-BBB3-8B1225514BE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microsoft.com/office/2007/relationships/hdphoto" Target="../media/hdphoto3.wdp"/><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jpeg"/><Relationship Id="rId5" Type="http://schemas.microsoft.com/office/2007/relationships/hdphoto" Target="../media/hdphoto2.wdp"/><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microsoft.com/office/2007/relationships/hdphoto" Target="../media/hdphoto4.wdp"/></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microsoft.com/office/2007/relationships/hdphoto" Target="../media/hdphoto5.wdp"/><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microsoft.com/office/2007/relationships/hdphoto" Target="../media/hdphoto6.wdp"/></Relationships>
</file>

<file path=ppt/slides/_rels/slide1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microsoft.com/office/2007/relationships/hdphoto" Target="../media/hdphoto8.wdp"/></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microsoft.com/office/2007/relationships/hdphoto" Target="../media/hdphoto9.wdp"/></Relationships>
</file>

<file path=ppt/slides/_rels/slide18.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4.jpe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19.jpe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microsoft.com/office/2007/relationships/hdphoto" Target="../media/hdphoto15.wdp"/></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microsoft.com/office/2007/relationships/hdphoto" Target="../media/hdphoto16.wdp"/><Relationship Id="rId4" Type="http://schemas.openxmlformats.org/officeDocument/2006/relationships/image" Target="../media/image25.jpeg"/></Relationships>
</file>

<file path=ppt/slides/_rels/slide36.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26.jpe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microsoft.com/office/2007/relationships/hdphoto" Target="../media/hdphoto18.wdp"/></Relationships>
</file>

<file path=ppt/slides/_rels/slide3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3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microsoft.com/office/2007/relationships/hdphoto" Target="../media/hdphoto19.wdp"/></Relationships>
</file>

<file path=ppt/slides/_rels/slide4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microsoft.com/office/2007/relationships/hdphoto" Target="../media/hdphoto20.wdp"/><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audio" Target="../media/audio1.wav"/><Relationship Id="rId1" Type="http://schemas.openxmlformats.org/officeDocument/2006/relationships/slideLayout" Target="../slideLayouts/slideLayout2.xml"/><Relationship Id="rId4" Type="http://schemas.microsoft.com/office/2007/relationships/hdphoto" Target="../media/hdphoto21.wdp"/></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microsoft.com/office/2007/relationships/hdphoto" Target="../media/hdphoto22.wdp"/></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a:spLocks noGrp="1"/>
          </p:cNvSpPr>
          <p:nvPr>
            <p:ph type="title"/>
          </p:nvPr>
        </p:nvSpPr>
        <p:spPr>
          <a:xfrm>
            <a:off x="2773214" y="2875696"/>
            <a:ext cx="7273981" cy="846598"/>
          </a:xfrm>
          <a:noFill/>
          <a:ln>
            <a:noFill/>
          </a:ln>
        </p:spPr>
        <p:txBody>
          <a:bodyPr anchor="t" anchorCtr="0">
            <a:noAutofit/>
          </a:bodyPr>
          <a:lstStyle/>
          <a:p>
            <a:r>
              <a:rPr lang="zh-CN" altLang="en-US" b="1" dirty="0">
                <a:latin typeface="黑体" panose="02010609060101010101" pitchFamily="49" charset="-122"/>
                <a:ea typeface="黑体" panose="02010609060101010101" pitchFamily="49" charset="-122"/>
              </a:rPr>
              <a:t>第四章  孟德尔遗传的拓展</a:t>
            </a:r>
          </a:p>
        </p:txBody>
      </p:sp>
    </p:spTree>
    <p:extLst>
      <p:ext uri="{BB962C8B-B14F-4D97-AF65-F5344CB8AC3E}">
        <p14:creationId xmlns:p14="http://schemas.microsoft.com/office/powerpoint/2010/main" val="1586914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ext Box 4"/>
          <p:cNvSpPr txBox="1"/>
          <p:nvPr/>
        </p:nvSpPr>
        <p:spPr>
          <a:xfrm>
            <a:off x="483132" y="1352205"/>
            <a:ext cx="11520445" cy="2544286"/>
          </a:xfrm>
          <a:prstGeom prst="rect">
            <a:avLst/>
          </a:prstGeom>
          <a:noFill/>
          <a:ln>
            <a:noFill/>
          </a:ln>
        </p:spPr>
        <p:txBody>
          <a:bodyPr vert="horz" lIns="91440" tIns="45720" rIns="91440" bIns="45720" rtlCol="0" anchor="t" anchorCtr="0">
            <a:normAutofit/>
          </a:bodyPr>
          <a:lstStyle>
            <a:lvl1pPr marL="228600" indent="-228600">
              <a:lnSpc>
                <a:spcPct val="90000"/>
              </a:lnSpc>
              <a:spcBef>
                <a:spcPts val="1000"/>
              </a:spcBef>
              <a:buClr>
                <a:schemeClr val="folHlink"/>
              </a:buClr>
              <a:buFont typeface="Wingdings" panose="05000000000000000000" pitchFamily="2" charset="2"/>
              <a:buNone/>
              <a:defRPr sz="2800" b="1">
                <a:latin typeface="黑体" pitchFamily="49" charset="-122"/>
                <a:ea typeface="黑体" pitchFamily="49"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（一）二倍体，显性完全。</a:t>
            </a:r>
            <a:endParaRPr lang="en-US" altLang="zh-CN" dirty="0"/>
          </a:p>
          <a:p>
            <a:r>
              <a:rPr lang="zh-CN" altLang="en-US" dirty="0"/>
              <a:t>（二）控制不同性状的基因位于不同的同源染色体上。</a:t>
            </a:r>
          </a:p>
          <a:p>
            <a:r>
              <a:rPr lang="zh-CN" altLang="en-US" dirty="0"/>
              <a:t>（三）不同对基因间无互作，一种基因一种效应。</a:t>
            </a:r>
          </a:p>
          <a:p>
            <a:r>
              <a:rPr lang="zh-CN" altLang="en-US" dirty="0"/>
              <a:t>（四）</a:t>
            </a:r>
            <a:r>
              <a:rPr lang="en-US" altLang="zh-CN" dirty="0"/>
              <a:t> F</a:t>
            </a:r>
            <a:r>
              <a:rPr lang="en-US" altLang="zh-CN" baseline="-25000" dirty="0"/>
              <a:t>1</a:t>
            </a:r>
            <a:r>
              <a:rPr lang="zh-CN" altLang="en-US" dirty="0"/>
              <a:t>代产生的配子比例相等，生活力相同，</a:t>
            </a:r>
            <a:r>
              <a:rPr lang="en-US" altLang="zh-CN" dirty="0"/>
              <a:t>F</a:t>
            </a:r>
            <a:r>
              <a:rPr lang="en-US" altLang="zh-CN" baseline="-25000" dirty="0"/>
              <a:t>2</a:t>
            </a:r>
            <a:r>
              <a:rPr lang="zh-CN" altLang="en-US" dirty="0"/>
              <a:t>代个体的成活率相同。</a:t>
            </a:r>
          </a:p>
          <a:p>
            <a:r>
              <a:rPr lang="zh-CN" altLang="en-US" dirty="0"/>
              <a:t>（五）实验群体要足够大。</a:t>
            </a:r>
          </a:p>
        </p:txBody>
      </p:sp>
      <p:sp>
        <p:nvSpPr>
          <p:cNvPr id="2" name="矩形 1"/>
          <p:cNvSpPr/>
          <p:nvPr/>
        </p:nvSpPr>
        <p:spPr>
          <a:xfrm>
            <a:off x="3307359" y="217285"/>
            <a:ext cx="5038619" cy="780242"/>
          </a:xfrm>
          <a:prstGeom prst="rect">
            <a:avLst/>
          </a:prstGeom>
        </p:spPr>
        <p:txBody>
          <a:bodyPr vert="horz" lIns="91440" tIns="45720" rIns="91440" bIns="45720" rtlCol="0">
            <a:noAutofit/>
          </a:bodyPr>
          <a:lstStyle/>
          <a:p>
            <a:pPr>
              <a:lnSpc>
                <a:spcPct val="120000"/>
              </a:lnSpc>
              <a:spcBef>
                <a:spcPts val="1000"/>
              </a:spcBef>
              <a:buFont typeface="Arial" panose="020B0604020202020204" pitchFamily="34" charset="0"/>
              <a:buNone/>
            </a:pPr>
            <a:r>
              <a:rPr lang="zh-CN" altLang="en-US" sz="3600" b="1" dirty="0">
                <a:solidFill>
                  <a:srgbClr val="0000FF"/>
                </a:solidFill>
                <a:latin typeface="黑体" panose="02010600030101010101" pitchFamily="49" charset="-122"/>
                <a:ea typeface="黑体" panose="02010600030101010101" pitchFamily="49" charset="-122"/>
              </a:rPr>
              <a:t>孟德尔定律实现的条件</a:t>
            </a:r>
            <a:endParaRPr lang="en-US" altLang="zh-CN" sz="3600" b="1" dirty="0">
              <a:solidFill>
                <a:srgbClr val="0000FF"/>
              </a:solidFill>
              <a:latin typeface="黑体" panose="02010600030101010101" pitchFamily="49" charset="-122"/>
              <a:ea typeface="黑体" panose="02010600030101010101" pitchFamily="49" charset="-122"/>
            </a:endParaRPr>
          </a:p>
        </p:txBody>
      </p:sp>
    </p:spTree>
    <p:extLst>
      <p:ext uri="{BB962C8B-B14F-4D97-AF65-F5344CB8AC3E}">
        <p14:creationId xmlns:p14="http://schemas.microsoft.com/office/powerpoint/2010/main" val="75363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6737"/>
                                        </p:tgtEl>
                                        <p:attrNameLst>
                                          <p:attrName>style.visibility</p:attrName>
                                        </p:attrNameLst>
                                      </p:cBhvr>
                                      <p:to>
                                        <p:strVal val="visible"/>
                                      </p:to>
                                    </p:set>
                                    <p:animEffect transition="in" filter="fade">
                                      <p:cBhvr>
                                        <p:cTn id="7" dur="500"/>
                                        <p:tgtEl>
                                          <p:spTgt spid="116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rrowheads="1"/>
          </p:cNvSpPr>
          <p:nvPr>
            <p:ph type="title"/>
          </p:nvPr>
        </p:nvSpPr>
        <p:spPr>
          <a:xfrm>
            <a:off x="495935" y="339090"/>
            <a:ext cx="7833418" cy="552681"/>
          </a:xfrm>
        </p:spPr>
        <p:txBody>
          <a:bodyPr>
            <a:noAutofit/>
          </a:bodyPr>
          <a:lstStyle/>
          <a:p>
            <a:r>
              <a:rPr lang="zh-CN" altLang="en-US" sz="3600" b="1" dirty="0">
                <a:solidFill>
                  <a:srgbClr val="0000FF"/>
                </a:solidFill>
                <a:latin typeface="黑体" panose="02010600030101010101" pitchFamily="49" charset="-122"/>
                <a:ea typeface="黑体" panose="02010600030101010101" pitchFamily="49" charset="-122"/>
              </a:rPr>
              <a:t>一、显隐性关系的相对性 </a:t>
            </a:r>
          </a:p>
        </p:txBody>
      </p:sp>
      <p:sp>
        <p:nvSpPr>
          <p:cNvPr id="25603" name="Rectangle 3"/>
          <p:cNvSpPr>
            <a:spLocks noGrp="1" noRot="1" noChangeArrowheads="1"/>
          </p:cNvSpPr>
          <p:nvPr>
            <p:ph type="body" idx="1"/>
          </p:nvPr>
        </p:nvSpPr>
        <p:spPr>
          <a:xfrm>
            <a:off x="694055" y="1402715"/>
            <a:ext cx="10515600" cy="2266084"/>
          </a:xfrm>
        </p:spPr>
        <p:txBody>
          <a:bodyPr/>
          <a:lstStyle/>
          <a:p>
            <a:pPr marL="0" indent="0" algn="just">
              <a:lnSpc>
                <a:spcPct val="120000"/>
              </a:lnSpc>
              <a:buNone/>
            </a:pPr>
            <a:r>
              <a:rPr lang="en-US" altLang="zh-CN" b="1" dirty="0">
                <a:latin typeface="黑体" panose="02010600030101010101" pitchFamily="49" charset="-122"/>
                <a:ea typeface="黑体" panose="02010600030101010101" pitchFamily="49" charset="-122"/>
              </a:rPr>
              <a:t>	</a:t>
            </a:r>
            <a:r>
              <a:rPr lang="zh-CN" altLang="en-US" b="1" dirty="0">
                <a:latin typeface="黑体" panose="02010600030101010101" pitchFamily="49" charset="-122"/>
                <a:ea typeface="黑体" panose="02010600030101010101" pitchFamily="49" charset="-122"/>
              </a:rPr>
              <a:t>在孟德尔实验所用的</a:t>
            </a:r>
            <a:r>
              <a:rPr lang="en-US" altLang="zh-CN" b="1" dirty="0">
                <a:latin typeface="黑体" panose="02010600030101010101" pitchFamily="49" charset="-122"/>
                <a:ea typeface="黑体" panose="02010600030101010101" pitchFamily="49" charset="-122"/>
              </a:rPr>
              <a:t>7</a:t>
            </a:r>
            <a:r>
              <a:rPr lang="zh-CN" altLang="en-US" b="1" dirty="0">
                <a:latin typeface="黑体" panose="02010600030101010101" pitchFamily="49" charset="-122"/>
                <a:ea typeface="黑体" panose="02010600030101010101" pitchFamily="49" charset="-122"/>
              </a:rPr>
              <a:t>对相对性状中，显隐性现象是完全的，即</a:t>
            </a:r>
            <a:r>
              <a:rPr lang="zh-CN" altLang="en-US" b="1" dirty="0">
                <a:solidFill>
                  <a:srgbClr val="0000FF"/>
                </a:solidFill>
                <a:latin typeface="黑体" panose="02010600030101010101" pitchFamily="49" charset="-122"/>
                <a:ea typeface="黑体" panose="02010600030101010101" pitchFamily="49" charset="-122"/>
              </a:rPr>
              <a:t>杂合体</a:t>
            </a:r>
            <a:r>
              <a:rPr lang="en-US" altLang="zh-CN" b="1" dirty="0">
                <a:solidFill>
                  <a:srgbClr val="0000FF"/>
                </a:solidFill>
                <a:latin typeface="黑体" panose="02010600030101010101" pitchFamily="49" charset="-122"/>
                <a:ea typeface="黑体" panose="02010600030101010101" pitchFamily="49" charset="-122"/>
              </a:rPr>
              <a:t>Cc</a:t>
            </a:r>
            <a:r>
              <a:rPr lang="zh-CN" altLang="en-US" b="1" dirty="0">
                <a:solidFill>
                  <a:srgbClr val="0000FF"/>
                </a:solidFill>
                <a:latin typeface="黑体" panose="02010600030101010101" pitchFamily="49" charset="-122"/>
                <a:ea typeface="黑体" panose="02010600030101010101" pitchFamily="49" charset="-122"/>
              </a:rPr>
              <a:t>与显性纯合体</a:t>
            </a:r>
            <a:r>
              <a:rPr lang="en-US" altLang="zh-CN" b="1" dirty="0">
                <a:solidFill>
                  <a:srgbClr val="0000FF"/>
                </a:solidFill>
                <a:latin typeface="黑体" panose="02010600030101010101" pitchFamily="49" charset="-122"/>
                <a:ea typeface="黑体" panose="02010600030101010101" pitchFamily="49" charset="-122"/>
              </a:rPr>
              <a:t>CC</a:t>
            </a:r>
            <a:r>
              <a:rPr lang="zh-CN" altLang="en-US" b="1" dirty="0">
                <a:solidFill>
                  <a:srgbClr val="0000FF"/>
                </a:solidFill>
                <a:latin typeface="黑体" panose="02010600030101010101" pitchFamily="49" charset="-122"/>
                <a:ea typeface="黑体" panose="02010600030101010101" pitchFamily="49" charset="-122"/>
              </a:rPr>
              <a:t>在性状上几乎完全不能区别</a:t>
            </a:r>
            <a:r>
              <a:rPr lang="zh-CN" altLang="en-US" b="1" dirty="0">
                <a:latin typeface="黑体" panose="02010600030101010101" pitchFamily="49" charset="-122"/>
                <a:ea typeface="黑体" panose="02010600030101010101" pitchFamily="49" charset="-122"/>
              </a:rPr>
              <a:t>，但后来发现在有些相对性状中，</a:t>
            </a:r>
            <a:r>
              <a:rPr lang="zh-CN" altLang="en-US" b="1" dirty="0">
                <a:solidFill>
                  <a:srgbClr val="0000FF"/>
                </a:solidFill>
                <a:latin typeface="黑体" panose="02010600030101010101" pitchFamily="49" charset="-122"/>
                <a:ea typeface="黑体" panose="02010600030101010101" pitchFamily="49" charset="-122"/>
              </a:rPr>
              <a:t>显隐性现象是不完全的</a:t>
            </a:r>
            <a:r>
              <a:rPr lang="zh-CN" altLang="en-US" b="1" dirty="0">
                <a:latin typeface="黑体" panose="02010600030101010101" pitchFamily="49" charset="-122"/>
                <a:ea typeface="黑体" panose="02010600030101010101" pitchFamily="49" charset="-122"/>
              </a:rPr>
              <a:t>，或</a:t>
            </a:r>
            <a:r>
              <a:rPr lang="zh-CN" altLang="en-US" b="1" dirty="0">
                <a:solidFill>
                  <a:srgbClr val="0000FF"/>
                </a:solidFill>
                <a:latin typeface="黑体" panose="02010600030101010101" pitchFamily="49" charset="-122"/>
                <a:ea typeface="黑体" panose="02010600030101010101" pitchFamily="49" charset="-122"/>
              </a:rPr>
              <a:t>显隐性关系可以随所依据的标准而改变</a:t>
            </a:r>
            <a:r>
              <a:rPr lang="zh-CN" altLang="en-US" b="1" dirty="0">
                <a:latin typeface="黑体" panose="02010600030101010101" pitchFamily="49" charset="-122"/>
                <a:ea typeface="黑体" panose="02010600030101010101" pitchFamily="49" charset="-122"/>
              </a:rPr>
              <a:t>。 </a:t>
            </a:r>
          </a:p>
        </p:txBody>
      </p:sp>
    </p:spTree>
    <p:extLst>
      <p:ext uri="{BB962C8B-B14F-4D97-AF65-F5344CB8AC3E}">
        <p14:creationId xmlns:p14="http://schemas.microsoft.com/office/powerpoint/2010/main" val="10353998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fade">
                                      <p:cBhvr>
                                        <p:cTn id="7" dur="500"/>
                                        <p:tgtEl>
                                          <p:spTgt spid="256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rrowheads="1"/>
          </p:cNvSpPr>
          <p:nvPr>
            <p:ph type="title"/>
          </p:nvPr>
        </p:nvSpPr>
        <p:spPr>
          <a:xfrm>
            <a:off x="146685" y="332509"/>
            <a:ext cx="10515600" cy="698269"/>
          </a:xfrm>
        </p:spPr>
        <p:txBody>
          <a:bodyPr vert="horz" lIns="91440" tIns="45720" rIns="91440" bIns="45720" rtlCol="0">
            <a:noAutofit/>
          </a:bodyPr>
          <a:lstStyle/>
          <a:p>
            <a:pPr>
              <a:lnSpc>
                <a:spcPct val="120000"/>
              </a:lnSpc>
              <a:spcBef>
                <a:spcPts val="1000"/>
              </a:spcBef>
              <a:buFont typeface="Arial" panose="020B0604020202020204" pitchFamily="34" charset="0"/>
            </a:pPr>
            <a:r>
              <a:rPr lang="en-US" altLang="zh-CN" sz="3600" b="1" dirty="0">
                <a:solidFill>
                  <a:srgbClr val="0000FF"/>
                </a:solidFill>
                <a:latin typeface="黑体" panose="02010600030101010101" pitchFamily="49" charset="-122"/>
                <a:ea typeface="黑体" panose="02010600030101010101" pitchFamily="49" charset="-122"/>
                <a:cs typeface="+mn-cs"/>
              </a:rPr>
              <a:t>(1)</a:t>
            </a:r>
            <a:r>
              <a:rPr lang="zh-CN" altLang="en-US" sz="3600" b="1" dirty="0">
                <a:solidFill>
                  <a:srgbClr val="0000FF"/>
                </a:solidFill>
                <a:latin typeface="黑体" panose="02010600030101010101" pitchFamily="49" charset="-122"/>
                <a:ea typeface="黑体" panose="02010600030101010101" pitchFamily="49" charset="-122"/>
                <a:cs typeface="+mn-cs"/>
              </a:rPr>
              <a:t>不完全显性</a:t>
            </a:r>
            <a:r>
              <a:rPr lang="en-US" altLang="zh-CN" sz="3600" b="1" dirty="0">
                <a:solidFill>
                  <a:srgbClr val="0000FF"/>
                </a:solidFill>
                <a:latin typeface="黑体" panose="02010600030101010101" pitchFamily="49" charset="-122"/>
                <a:ea typeface="黑体" panose="02010600030101010101" pitchFamily="49" charset="-122"/>
                <a:cs typeface="+mn-cs"/>
              </a:rPr>
              <a:t>(incomplete dominance) </a:t>
            </a:r>
          </a:p>
        </p:txBody>
      </p:sp>
      <p:sp>
        <p:nvSpPr>
          <p:cNvPr id="26627" name="Rectangle 3"/>
          <p:cNvSpPr>
            <a:spLocks noGrp="1" noRot="1" noChangeArrowheads="1"/>
          </p:cNvSpPr>
          <p:nvPr>
            <p:ph type="body" idx="1"/>
          </p:nvPr>
        </p:nvSpPr>
        <p:spPr>
          <a:xfrm>
            <a:off x="703580" y="1277909"/>
            <a:ext cx="11283373" cy="2030557"/>
          </a:xfrm>
        </p:spPr>
        <p:txBody>
          <a:bodyPr>
            <a:noAutofit/>
          </a:bodyPr>
          <a:lstStyle/>
          <a:p>
            <a:pPr marL="0" indent="0">
              <a:lnSpc>
                <a:spcPct val="120000"/>
              </a:lnSpc>
              <a:buNone/>
            </a:pPr>
            <a:r>
              <a:rPr lang="zh-CN" altLang="en-US" sz="3200" b="1" dirty="0">
                <a:latin typeface="黑体" panose="02010600030101010101" pitchFamily="49" charset="-122"/>
                <a:ea typeface="黑体" panose="02010600030101010101" pitchFamily="49" charset="-122"/>
              </a:rPr>
              <a:t>杂合子中显性性状不能完全掩盖隐性性状的现象</a:t>
            </a:r>
            <a:endParaRPr lang="en-US" altLang="zh-CN" sz="3200" b="1" dirty="0">
              <a:latin typeface="黑体" panose="02010600030101010101" pitchFamily="49" charset="-122"/>
              <a:ea typeface="黑体" panose="02010600030101010101" pitchFamily="49" charset="-122"/>
            </a:endParaRPr>
          </a:p>
          <a:p>
            <a:pPr marL="0" indent="0">
              <a:lnSpc>
                <a:spcPct val="120000"/>
              </a:lnSpc>
              <a:buNone/>
            </a:pPr>
            <a:r>
              <a:rPr lang="zh-CN" altLang="en-US" sz="3200" b="1" dirty="0">
                <a:latin typeface="黑体" panose="02010600030101010101" pitchFamily="49" charset="-122"/>
                <a:ea typeface="黑体" panose="02010600030101010101" pitchFamily="49" charset="-122"/>
              </a:rPr>
              <a:t>例如：</a:t>
            </a:r>
            <a:r>
              <a:rPr lang="zh-CN" altLang="en-US" sz="3200" b="1" dirty="0">
                <a:solidFill>
                  <a:srgbClr val="FF0000"/>
                </a:solidFill>
                <a:latin typeface="黑体" panose="02010600030101010101" pitchFamily="49" charset="-122"/>
                <a:ea typeface="黑体" panose="02010600030101010101" pitchFamily="49" charset="-122"/>
              </a:rPr>
              <a:t>紫茉莉的花色遗传</a:t>
            </a:r>
            <a:r>
              <a:rPr lang="zh-CN" altLang="en-US" sz="3200" b="1" dirty="0">
                <a:latin typeface="黑体" panose="02010600030101010101" pitchFamily="49" charset="-122"/>
                <a:ea typeface="黑体" panose="02010600030101010101" pitchFamily="49" charset="-122"/>
              </a:rPr>
              <a:t>。</a:t>
            </a:r>
            <a:endParaRPr lang="en-US" altLang="zh-CN" sz="3200" b="1" dirty="0">
              <a:latin typeface="黑体" panose="02010600030101010101" pitchFamily="49" charset="-122"/>
              <a:ea typeface="黑体" panose="02010600030101010101" pitchFamily="49" charset="-122"/>
            </a:endParaRPr>
          </a:p>
          <a:p>
            <a:pPr marL="0" indent="0">
              <a:lnSpc>
                <a:spcPct val="120000"/>
              </a:lnSpc>
              <a:buNone/>
            </a:pPr>
            <a:r>
              <a:rPr lang="zh-CN" altLang="en-US" sz="3200" b="1" dirty="0">
                <a:latin typeface="黑体" panose="02010600030101010101" pitchFamily="49" charset="-122"/>
                <a:ea typeface="黑体" panose="02010600030101010101" pitchFamily="49" charset="-122"/>
              </a:rPr>
              <a:t>红花亲本（</a:t>
            </a:r>
            <a:r>
              <a:rPr lang="en-US" altLang="zh-CN" sz="3200" b="1" dirty="0">
                <a:latin typeface="黑体" panose="02010600030101010101" pitchFamily="49" charset="-122"/>
                <a:ea typeface="黑体" panose="02010600030101010101" pitchFamily="49" charset="-122"/>
              </a:rPr>
              <a:t>RR</a:t>
            </a:r>
            <a:r>
              <a:rPr lang="zh-CN" altLang="en-US" sz="3200" b="1" dirty="0">
                <a:latin typeface="黑体" panose="02010600030101010101" pitchFamily="49" charset="-122"/>
                <a:ea typeface="黑体" panose="02010600030101010101" pitchFamily="49" charset="-122"/>
              </a:rPr>
              <a:t>）和白花亲本（</a:t>
            </a:r>
            <a:r>
              <a:rPr lang="en-US" altLang="zh-CN" sz="3200" b="1" dirty="0" err="1">
                <a:latin typeface="黑体" panose="02010600030101010101" pitchFamily="49" charset="-122"/>
                <a:ea typeface="黑体" panose="02010600030101010101" pitchFamily="49" charset="-122"/>
              </a:rPr>
              <a:t>rr</a:t>
            </a:r>
            <a:r>
              <a:rPr lang="zh-CN" altLang="en-US" sz="3200" b="1" dirty="0">
                <a:latin typeface="黑体" panose="02010600030101010101" pitchFamily="49" charset="-122"/>
                <a:ea typeface="黑体" panose="02010600030101010101" pitchFamily="49" charset="-122"/>
              </a:rPr>
              <a:t>）杂交，</a:t>
            </a:r>
            <a:r>
              <a:rPr lang="en-US" altLang="zh-CN" sz="3200" b="1" dirty="0">
                <a:latin typeface="黑体" panose="02010600030101010101" pitchFamily="49" charset="-122"/>
                <a:ea typeface="黑体" panose="02010600030101010101" pitchFamily="49" charset="-122"/>
              </a:rPr>
              <a:t>F1</a:t>
            </a:r>
            <a:r>
              <a:rPr lang="zh-CN" altLang="en-US" sz="3200" b="1" dirty="0">
                <a:latin typeface="黑体" panose="02010600030101010101" pitchFamily="49" charset="-122"/>
                <a:ea typeface="黑体" panose="02010600030101010101" pitchFamily="49" charset="-122"/>
              </a:rPr>
              <a:t>（</a:t>
            </a:r>
            <a:r>
              <a:rPr lang="en-US" altLang="zh-CN" sz="3200" b="1" dirty="0">
                <a:latin typeface="黑体" panose="02010600030101010101" pitchFamily="49" charset="-122"/>
                <a:ea typeface="黑体" panose="02010600030101010101" pitchFamily="49" charset="-122"/>
              </a:rPr>
              <a:t>Rr</a:t>
            </a:r>
            <a:r>
              <a:rPr lang="zh-CN" altLang="en-US" sz="3200" b="1" dirty="0">
                <a:latin typeface="黑体" panose="02010600030101010101" pitchFamily="49" charset="-122"/>
                <a:ea typeface="黑体" panose="02010600030101010101" pitchFamily="49" charset="-122"/>
              </a:rPr>
              <a:t>）为粉红色。</a:t>
            </a:r>
          </a:p>
        </p:txBody>
      </p:sp>
    </p:spTree>
    <p:extLst>
      <p:ext uri="{BB962C8B-B14F-4D97-AF65-F5344CB8AC3E}">
        <p14:creationId xmlns:p14="http://schemas.microsoft.com/office/powerpoint/2010/main" val="29796665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fade">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fade">
                                      <p:cBhvr>
                                        <p:cTn id="12" dur="500"/>
                                        <p:tgtEl>
                                          <p:spTgt spid="2662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animEffect transition="in" filter="fade">
                                      <p:cBhvr>
                                        <p:cTn id="15" dur="500"/>
                                        <p:tgtEl>
                                          <p:spTgt spid="266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BA9F1F2-6EE2-4593-A4D3-5B9C1460980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1728628" y="662378"/>
            <a:ext cx="8346116" cy="4391760"/>
          </a:xfrm>
          <a:prstGeom prst="rect">
            <a:avLst/>
          </a:prstGeom>
        </p:spPr>
      </p:pic>
    </p:spTree>
    <p:extLst>
      <p:ext uri="{BB962C8B-B14F-4D97-AF65-F5344CB8AC3E}">
        <p14:creationId xmlns:p14="http://schemas.microsoft.com/office/powerpoint/2010/main" val="1748071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1F62D5D-A546-4520-B940-ECF2F32903FC}"/>
              </a:ext>
            </a:extLst>
          </p:cNvPr>
          <p:cNvPicPr>
            <a:picLocks noChangeAspect="1"/>
          </p:cNvPicPr>
          <p:nvPr/>
        </p:nvPicPr>
        <p:blipFill>
          <a:blip r:embed="rId3"/>
          <a:stretch>
            <a:fillRect/>
          </a:stretch>
        </p:blipFill>
        <p:spPr>
          <a:xfrm>
            <a:off x="0" y="1549877"/>
            <a:ext cx="12192000" cy="4899240"/>
          </a:xfrm>
          <a:prstGeom prst="rect">
            <a:avLst/>
          </a:prstGeom>
        </p:spPr>
      </p:pic>
      <p:sp>
        <p:nvSpPr>
          <p:cNvPr id="31746" name="Rectangle 2"/>
          <p:cNvSpPr>
            <a:spLocks noGrp="1" noRot="1" noChangeArrowheads="1"/>
          </p:cNvSpPr>
          <p:nvPr>
            <p:ph type="title"/>
          </p:nvPr>
        </p:nvSpPr>
        <p:spPr>
          <a:xfrm>
            <a:off x="314767" y="-258453"/>
            <a:ext cx="10515600" cy="1325563"/>
          </a:xfrm>
        </p:spPr>
        <p:txBody>
          <a:bodyPr>
            <a:normAutofit/>
          </a:bodyPr>
          <a:lstStyle/>
          <a:p>
            <a:r>
              <a:rPr lang="en-US" altLang="zh-CN" sz="3600" dirty="0">
                <a:solidFill>
                  <a:srgbClr val="0000FF"/>
                </a:solidFill>
              </a:rPr>
              <a:t> </a:t>
            </a:r>
            <a:r>
              <a:rPr lang="en-US" altLang="zh-CN" sz="3600" b="1" dirty="0">
                <a:solidFill>
                  <a:srgbClr val="0000FF"/>
                </a:solidFill>
                <a:latin typeface="黑体" panose="02010600030101010101" pitchFamily="49" charset="-122"/>
                <a:ea typeface="黑体" panose="02010600030101010101" pitchFamily="49" charset="-122"/>
                <a:cs typeface="黑体" panose="02010600030101010101" pitchFamily="49" charset="-122"/>
              </a:rPr>
              <a:t>(2)</a:t>
            </a:r>
            <a:r>
              <a:rPr lang="zh-CN" altLang="en-US" sz="3600" b="1" dirty="0">
                <a:solidFill>
                  <a:srgbClr val="0000FF"/>
                </a:solidFill>
                <a:latin typeface="黑体" panose="02010600030101010101" pitchFamily="49" charset="-122"/>
                <a:ea typeface="黑体" panose="02010600030101010101" pitchFamily="49" charset="-122"/>
                <a:cs typeface="黑体" panose="02010600030101010101" pitchFamily="49" charset="-122"/>
              </a:rPr>
              <a:t>并显性</a:t>
            </a:r>
            <a:r>
              <a:rPr lang="en-US" altLang="zh-CN" sz="3600" b="1" dirty="0">
                <a:solidFill>
                  <a:srgbClr val="0000FF"/>
                </a:solidFill>
                <a:latin typeface="黑体" panose="02010600030101010101" pitchFamily="49" charset="-122"/>
                <a:ea typeface="黑体" panose="02010600030101010101" pitchFamily="49" charset="-122"/>
                <a:cs typeface="黑体" panose="02010600030101010101" pitchFamily="49" charset="-122"/>
              </a:rPr>
              <a:t>(</a:t>
            </a:r>
            <a:r>
              <a:rPr lang="en-US" altLang="zh-CN" sz="3600" b="1" dirty="0" err="1">
                <a:solidFill>
                  <a:srgbClr val="0000FF"/>
                </a:solidFill>
                <a:latin typeface="黑体" panose="02010600030101010101" pitchFamily="49" charset="-122"/>
                <a:ea typeface="黑体" panose="02010600030101010101" pitchFamily="49" charset="-122"/>
                <a:cs typeface="黑体" panose="02010600030101010101" pitchFamily="49" charset="-122"/>
              </a:rPr>
              <a:t>codominance</a:t>
            </a:r>
            <a:r>
              <a:rPr lang="en-US" altLang="zh-CN" sz="3600" b="1" dirty="0">
                <a:solidFill>
                  <a:srgbClr val="0000FF"/>
                </a:solidFill>
                <a:latin typeface="黑体" panose="02010600030101010101" pitchFamily="49" charset="-122"/>
                <a:ea typeface="黑体" panose="02010600030101010101" pitchFamily="49" charset="-122"/>
                <a:cs typeface="黑体" panose="02010600030101010101" pitchFamily="49" charset="-122"/>
              </a:rPr>
              <a:t>)</a:t>
            </a:r>
            <a:r>
              <a:rPr lang="zh-CN" altLang="en-US" sz="3600" b="1" dirty="0">
                <a:solidFill>
                  <a:srgbClr val="0000FF"/>
                </a:solidFill>
                <a:latin typeface="黑体" panose="02010600030101010101" pitchFamily="49" charset="-122"/>
                <a:ea typeface="黑体" panose="02010600030101010101" pitchFamily="49" charset="-122"/>
                <a:cs typeface="黑体" panose="02010600030101010101" pitchFamily="49" charset="-122"/>
              </a:rPr>
              <a:t>（</a:t>
            </a:r>
            <a:r>
              <a:rPr lang="zh-CN" altLang="en-US" sz="3600" b="1" dirty="0">
                <a:solidFill>
                  <a:srgbClr val="0000FF"/>
                </a:solidFill>
                <a:latin typeface="黑体" panose="02010600030101010101" pitchFamily="49" charset="-122"/>
                <a:ea typeface="黑体" panose="02010600030101010101" pitchFamily="49" charset="-122"/>
              </a:rPr>
              <a:t>也叫共显性</a:t>
            </a:r>
            <a:r>
              <a:rPr lang="zh-CN" altLang="en-US" sz="3600" b="1" dirty="0">
                <a:solidFill>
                  <a:srgbClr val="0000FF"/>
                </a:solidFill>
                <a:latin typeface="黑体" panose="02010600030101010101" pitchFamily="49" charset="-122"/>
                <a:ea typeface="黑体" panose="02010600030101010101" pitchFamily="49" charset="-122"/>
                <a:cs typeface="黑体" panose="02010600030101010101" pitchFamily="49" charset="-122"/>
              </a:rPr>
              <a:t>）</a:t>
            </a:r>
            <a:endParaRPr lang="en-US" altLang="zh-CN" sz="3600" b="1" dirty="0">
              <a:solidFill>
                <a:srgbClr val="0000FF"/>
              </a:solidFill>
              <a:latin typeface="黑体" panose="02010600030101010101" pitchFamily="49" charset="-122"/>
              <a:ea typeface="黑体" panose="02010600030101010101" pitchFamily="49" charset="-122"/>
              <a:cs typeface="黑体" panose="02010600030101010101" pitchFamily="49" charset="-122"/>
            </a:endParaRPr>
          </a:p>
        </p:txBody>
      </p:sp>
      <p:sp>
        <p:nvSpPr>
          <p:cNvPr id="31747" name="Rectangle 3"/>
          <p:cNvSpPr>
            <a:spLocks noGrp="1" noRot="1" noChangeArrowheads="1"/>
          </p:cNvSpPr>
          <p:nvPr>
            <p:ph type="body" idx="1"/>
          </p:nvPr>
        </p:nvSpPr>
        <p:spPr>
          <a:xfrm>
            <a:off x="243706" y="807750"/>
            <a:ext cx="10759633" cy="587512"/>
          </a:xfrm>
        </p:spPr>
        <p:txBody>
          <a:bodyPr>
            <a:normAutofit fontScale="92500"/>
          </a:bodyPr>
          <a:lstStyle/>
          <a:p>
            <a:pPr marL="0" indent="0">
              <a:lnSpc>
                <a:spcPct val="120000"/>
              </a:lnSpc>
              <a:buNone/>
            </a:pPr>
            <a:r>
              <a:rPr lang="en-US" altLang="zh-CN" sz="3200" b="1" dirty="0">
                <a:latin typeface="黑体" panose="02010600030101010101" pitchFamily="49" charset="-122"/>
                <a:ea typeface="黑体" panose="02010600030101010101" pitchFamily="49" charset="-122"/>
              </a:rPr>
              <a:t>	</a:t>
            </a:r>
            <a:r>
              <a:rPr lang="zh-CN" altLang="en-US" sz="3200" b="1" dirty="0">
                <a:latin typeface="黑体" panose="02010600030101010101" pitchFamily="49" charset="-122"/>
                <a:ea typeface="黑体" panose="02010600030101010101" pitchFamily="49" charset="-122"/>
              </a:rPr>
              <a:t>一对等位基因在杂合子中共同显示出相对应的表型的现象</a:t>
            </a:r>
          </a:p>
        </p:txBody>
      </p:sp>
      <p:sp>
        <p:nvSpPr>
          <p:cNvPr id="2" name="矩形 1"/>
          <p:cNvSpPr/>
          <p:nvPr/>
        </p:nvSpPr>
        <p:spPr>
          <a:xfrm>
            <a:off x="756920" y="1395262"/>
            <a:ext cx="3688830" cy="604781"/>
          </a:xfrm>
          <a:prstGeom prst="rect">
            <a:avLst/>
          </a:prstGeom>
        </p:spPr>
        <p:txBody>
          <a:bodyPr wrap="none">
            <a:spAutoFit/>
          </a:bodyPr>
          <a:lstStyle/>
          <a:p>
            <a:pPr>
              <a:lnSpc>
                <a:spcPct val="120000"/>
              </a:lnSpc>
            </a:pPr>
            <a:r>
              <a:rPr lang="zh-CN" altLang="en-US" sz="3200" b="1" dirty="0">
                <a:latin typeface="黑体" panose="02010600030101010101" pitchFamily="49" charset="-122"/>
                <a:ea typeface="黑体" panose="02010600030101010101" pitchFamily="49" charset="-122"/>
              </a:rPr>
              <a:t>例如</a:t>
            </a:r>
            <a:r>
              <a:rPr lang="en-US" altLang="zh-CN" sz="3200" b="1" dirty="0">
                <a:latin typeface="黑体" panose="02010600030101010101" pitchFamily="49" charset="-122"/>
                <a:ea typeface="黑体" panose="02010600030101010101" pitchFamily="49" charset="-122"/>
              </a:rPr>
              <a:t>:</a:t>
            </a:r>
            <a:r>
              <a:rPr lang="zh-CN" altLang="en-US" sz="3200" b="1" dirty="0">
                <a:solidFill>
                  <a:srgbClr val="FF0000"/>
                </a:solidFill>
                <a:latin typeface="黑体" panose="02010600030101010101" pitchFamily="49" charset="-122"/>
                <a:ea typeface="黑体" panose="02010600030101010101" pitchFamily="49" charset="-122"/>
              </a:rPr>
              <a:t>人类的</a:t>
            </a:r>
            <a:r>
              <a:rPr lang="en-US" altLang="zh-CN" sz="3200" b="1" dirty="0">
                <a:solidFill>
                  <a:srgbClr val="FF0000"/>
                </a:solidFill>
                <a:latin typeface="黑体" panose="02010600030101010101" pitchFamily="49" charset="-122"/>
                <a:ea typeface="黑体" panose="02010600030101010101" pitchFamily="49" charset="-122"/>
              </a:rPr>
              <a:t>MN</a:t>
            </a:r>
            <a:r>
              <a:rPr lang="zh-CN" altLang="en-US" sz="3200" b="1" dirty="0">
                <a:solidFill>
                  <a:srgbClr val="FF0000"/>
                </a:solidFill>
                <a:latin typeface="黑体" panose="02010600030101010101" pitchFamily="49" charset="-122"/>
                <a:ea typeface="黑体" panose="02010600030101010101" pitchFamily="49" charset="-122"/>
              </a:rPr>
              <a:t>血型</a:t>
            </a:r>
          </a:p>
        </p:txBody>
      </p:sp>
      <p:sp>
        <p:nvSpPr>
          <p:cNvPr id="3" name="矩形 2"/>
          <p:cNvSpPr/>
          <p:nvPr/>
        </p:nvSpPr>
        <p:spPr>
          <a:xfrm>
            <a:off x="1967696" y="4317357"/>
            <a:ext cx="1713053" cy="520861"/>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6" name="矩形 5"/>
          <p:cNvSpPr/>
          <p:nvPr/>
        </p:nvSpPr>
        <p:spPr>
          <a:xfrm>
            <a:off x="6829063" y="4317357"/>
            <a:ext cx="659757" cy="520861"/>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0" name="矩形 9"/>
          <p:cNvSpPr/>
          <p:nvPr/>
        </p:nvSpPr>
        <p:spPr>
          <a:xfrm>
            <a:off x="1979271" y="5847145"/>
            <a:ext cx="1713053" cy="520861"/>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1" name="矩形 10"/>
          <p:cNvSpPr/>
          <p:nvPr/>
        </p:nvSpPr>
        <p:spPr>
          <a:xfrm>
            <a:off x="9157503" y="5847144"/>
            <a:ext cx="2718122" cy="520861"/>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9492921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fade">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P spid="2" grpId="0"/>
      <p:bldP spid="3" grpId="0" animBg="1"/>
      <p:bldP spid="6"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4BFE9C-C7C7-415F-BB31-96462916866B}"/>
              </a:ext>
            </a:extLst>
          </p:cNvPr>
          <p:cNvSpPr>
            <a:spLocks noGrp="1"/>
          </p:cNvSpPr>
          <p:nvPr>
            <p:ph type="title"/>
          </p:nvPr>
        </p:nvSpPr>
        <p:spPr>
          <a:xfrm>
            <a:off x="0" y="15972"/>
            <a:ext cx="9236826" cy="665017"/>
          </a:xfrm>
        </p:spPr>
        <p:txBody>
          <a:bodyPr vert="horz" lIns="91440" tIns="45720" rIns="91440" bIns="45720" rtlCol="0" anchor="ctr">
            <a:noAutofit/>
          </a:bodyPr>
          <a:lstStyle/>
          <a:p>
            <a:pPr>
              <a:lnSpc>
                <a:spcPct val="120000"/>
              </a:lnSpc>
              <a:spcBef>
                <a:spcPts val="1000"/>
              </a:spcBef>
              <a:buFont typeface="Arial" panose="020B0604020202020204" pitchFamily="34" charset="0"/>
            </a:pPr>
            <a:r>
              <a:rPr lang="zh-CN" altLang="en-US" sz="3600" b="1" dirty="0">
                <a:solidFill>
                  <a:srgbClr val="0000FF"/>
                </a:solidFill>
                <a:latin typeface="黑体" panose="02010600030101010101" pitchFamily="49" charset="-122"/>
                <a:ea typeface="黑体" panose="02010600030101010101" pitchFamily="49" charset="-122"/>
                <a:cs typeface="+mn-cs"/>
              </a:rPr>
              <a:t>（</a:t>
            </a:r>
            <a:r>
              <a:rPr lang="en-US" altLang="zh-CN" sz="3600" b="1" dirty="0">
                <a:solidFill>
                  <a:srgbClr val="0000FF"/>
                </a:solidFill>
                <a:latin typeface="黑体" panose="02010600030101010101" pitchFamily="49" charset="-122"/>
                <a:ea typeface="黑体" panose="02010600030101010101" pitchFamily="49" charset="-122"/>
                <a:cs typeface="+mn-cs"/>
              </a:rPr>
              <a:t>3</a:t>
            </a:r>
            <a:r>
              <a:rPr lang="zh-CN" altLang="en-US" sz="3600" b="1" dirty="0">
                <a:solidFill>
                  <a:srgbClr val="0000FF"/>
                </a:solidFill>
                <a:latin typeface="黑体" panose="02010600030101010101" pitchFamily="49" charset="-122"/>
                <a:ea typeface="黑体" panose="02010600030101010101" pitchFamily="49" charset="-122"/>
                <a:cs typeface="+mn-cs"/>
              </a:rPr>
              <a:t>）镶嵌显性（</a:t>
            </a:r>
            <a:r>
              <a:rPr lang="en-US" altLang="zh-CN" sz="3600" b="1" dirty="0">
                <a:solidFill>
                  <a:srgbClr val="0000FF"/>
                </a:solidFill>
                <a:latin typeface="黑体" panose="02010600030101010101" pitchFamily="49" charset="-122"/>
                <a:ea typeface="黑体" panose="02010600030101010101" pitchFamily="49" charset="-122"/>
                <a:cs typeface="+mn-cs"/>
              </a:rPr>
              <a:t>mosaic  dominance</a:t>
            </a:r>
            <a:r>
              <a:rPr lang="zh-CN" altLang="en-US" sz="3600" b="1" dirty="0">
                <a:solidFill>
                  <a:srgbClr val="0000FF"/>
                </a:solidFill>
                <a:latin typeface="黑体" panose="02010600030101010101" pitchFamily="49" charset="-122"/>
                <a:ea typeface="黑体" panose="02010600030101010101" pitchFamily="49" charset="-122"/>
                <a:cs typeface="+mn-cs"/>
              </a:rPr>
              <a:t>） </a:t>
            </a:r>
          </a:p>
        </p:txBody>
      </p:sp>
      <p:sp>
        <p:nvSpPr>
          <p:cNvPr id="6" name="TextBox 10">
            <a:extLst>
              <a:ext uri="{FF2B5EF4-FFF2-40B4-BE49-F238E27FC236}">
                <a16:creationId xmlns:a16="http://schemas.microsoft.com/office/drawing/2014/main" id="{4B1381E9-78F7-4E35-AC85-7A8ABF95ECD4}"/>
              </a:ext>
            </a:extLst>
          </p:cNvPr>
          <p:cNvSpPr txBox="1"/>
          <p:nvPr/>
        </p:nvSpPr>
        <p:spPr>
          <a:xfrm>
            <a:off x="1867917" y="5682950"/>
            <a:ext cx="2402467" cy="738664"/>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谈家桢 </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a:r>
              <a:rPr lang="en-US" altLang="zh-CN" sz="1400" dirty="0">
                <a:solidFill>
                  <a:prstClr val="black"/>
                </a:solidFill>
                <a:latin typeface="微软雅黑" panose="020B0503020204020204" pitchFamily="34" charset="-122"/>
                <a:ea typeface="微软雅黑" panose="020B0503020204020204" pitchFamily="34" charset="-122"/>
              </a:rPr>
              <a:t>(1909-2008)</a:t>
            </a:r>
          </a:p>
          <a:p>
            <a:pPr algn="ctr"/>
            <a:r>
              <a:rPr lang="zh-CN" altLang="en-US" sz="1400" dirty="0">
                <a:solidFill>
                  <a:prstClr val="black"/>
                </a:solidFill>
                <a:latin typeface="微软雅黑" panose="020B0503020204020204" pitchFamily="34" charset="-122"/>
                <a:ea typeface="微软雅黑" panose="020B0503020204020204" pitchFamily="34" charset="-122"/>
              </a:rPr>
              <a:t>中国遗传学家</a:t>
            </a:r>
            <a:endParaRPr lang="en-US" altLang="zh-CN" sz="1400" dirty="0">
              <a:solidFill>
                <a:prstClr val="black"/>
              </a:solidFill>
              <a:latin typeface="微软雅黑" panose="020B0503020204020204" pitchFamily="34" charset="-122"/>
              <a:ea typeface="微软雅黑" panose="020B0503020204020204" pitchFamily="34" charset="-122"/>
            </a:endParaRPr>
          </a:p>
        </p:txBody>
      </p:sp>
      <p:pic>
        <p:nvPicPr>
          <p:cNvPr id="7" name="Picture 2">
            <a:extLst>
              <a:ext uri="{FF2B5EF4-FFF2-40B4-BE49-F238E27FC236}">
                <a16:creationId xmlns:a16="http://schemas.microsoft.com/office/drawing/2014/main" id="{AC97FD67-5E56-4B96-BA06-959F4A3A8AF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505" r="21695" b="23371"/>
          <a:stretch/>
        </p:blipFill>
        <p:spPr bwMode="auto">
          <a:xfrm>
            <a:off x="1681506" y="2106895"/>
            <a:ext cx="2775291" cy="3576055"/>
          </a:xfrm>
          <a:prstGeom prst="rect">
            <a:avLst/>
          </a:prstGeom>
          <a:noFill/>
          <a:ln w="88900" cap="sq">
            <a:noFill/>
            <a:miter lim="800000"/>
          </a:ln>
          <a:effectLst/>
          <a:scene3d>
            <a:camera prst="orthographicFront"/>
            <a:lightRig rig="twoPt" dir="t">
              <a:rot lat="0" lon="0" rev="7200000"/>
            </a:lightRig>
          </a:scene3d>
          <a:sp3d>
            <a:bevelT w="25400" h="19050"/>
            <a:contourClr>
              <a:srgbClr val="FFFFFF"/>
            </a:contourClr>
          </a:sp3d>
        </p:spPr>
      </p:pic>
      <p:pic>
        <p:nvPicPr>
          <p:cNvPr id="8" name="图片 7">
            <a:extLst>
              <a:ext uri="{FF2B5EF4-FFF2-40B4-BE49-F238E27FC236}">
                <a16:creationId xmlns:a16="http://schemas.microsoft.com/office/drawing/2014/main" id="{211E76D0-DA2E-4ABF-BAFE-F51E61C755E6}"/>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5682465" y="1384476"/>
            <a:ext cx="3338352" cy="4612877"/>
          </a:xfrm>
          <a:prstGeom prst="rect">
            <a:avLst/>
          </a:prstGeom>
        </p:spPr>
      </p:pic>
      <p:pic>
        <p:nvPicPr>
          <p:cNvPr id="10" name="图片 9">
            <a:extLst>
              <a:ext uri="{FF2B5EF4-FFF2-40B4-BE49-F238E27FC236}">
                <a16:creationId xmlns:a16="http://schemas.microsoft.com/office/drawing/2014/main" id="{424AFA81-E010-4D54-94DC-7EF4674DC0E5}"/>
              </a:ext>
            </a:extLst>
          </p:cNvPr>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20000"/>
                    </a14:imgEffect>
                  </a14:imgLayer>
                </a14:imgProps>
              </a:ext>
              <a:ext uri="{28A0092B-C50C-407E-A947-70E740481C1C}">
                <a14:useLocalDpi xmlns:a14="http://schemas.microsoft.com/office/drawing/2010/main" val="0"/>
              </a:ext>
            </a:extLst>
          </a:blip>
          <a:srcRect l="21019"/>
          <a:stretch/>
        </p:blipFill>
        <p:spPr>
          <a:xfrm>
            <a:off x="9166214" y="1447384"/>
            <a:ext cx="2750004" cy="4542210"/>
          </a:xfrm>
          <a:prstGeom prst="rect">
            <a:avLst/>
          </a:prstGeom>
        </p:spPr>
      </p:pic>
      <p:sp>
        <p:nvSpPr>
          <p:cNvPr id="12" name="文本框 11">
            <a:extLst>
              <a:ext uri="{FF2B5EF4-FFF2-40B4-BE49-F238E27FC236}">
                <a16:creationId xmlns:a16="http://schemas.microsoft.com/office/drawing/2014/main" id="{849DCBEA-627A-40C9-90C1-997B4CEF7AB5}"/>
              </a:ext>
            </a:extLst>
          </p:cNvPr>
          <p:cNvSpPr txBox="1"/>
          <p:nvPr/>
        </p:nvSpPr>
        <p:spPr>
          <a:xfrm>
            <a:off x="6258833" y="5981261"/>
            <a:ext cx="2637179" cy="584775"/>
          </a:xfrm>
          <a:prstGeom prst="rect">
            <a:avLst/>
          </a:prstGeom>
          <a:noFill/>
        </p:spPr>
        <p:txBody>
          <a:bodyPr wrap="square">
            <a:spAutoFit/>
          </a:bodyPr>
          <a:lstStyle>
            <a:defPPr>
              <a:defRPr lang="zh-CN"/>
            </a:defPPr>
            <a:lvl1pPr algn="ctr">
              <a:defRPr sz="1400">
                <a:solidFill>
                  <a:srgbClr val="3A5991"/>
                </a:solidFill>
                <a:latin typeface="微软雅黑" panose="020B0503020204020204" pitchFamily="34" charset="-122"/>
                <a:ea typeface="微软雅黑" panose="020B0503020204020204" pitchFamily="34" charset="-122"/>
              </a:defRPr>
            </a:lvl1pPr>
          </a:lstStyle>
          <a:p>
            <a:r>
              <a:rPr lang="zh-CN" altLang="en-US" sz="1600" b="1" dirty="0">
                <a:solidFill>
                  <a:schemeClr val="tx1"/>
                </a:solidFill>
              </a:rPr>
              <a:t>　异色瓢虫色斑的镶嵌遗传</a:t>
            </a:r>
            <a:endParaRPr lang="en-US" altLang="zh-CN" sz="1600" b="1" dirty="0">
              <a:solidFill>
                <a:schemeClr val="tx1"/>
              </a:solidFill>
            </a:endParaRPr>
          </a:p>
          <a:p>
            <a:r>
              <a:rPr lang="en-US" altLang="zh-CN" sz="1600" b="1" dirty="0">
                <a:solidFill>
                  <a:schemeClr val="tx1"/>
                </a:solidFill>
              </a:rPr>
              <a:t>——</a:t>
            </a:r>
            <a:r>
              <a:rPr lang="zh-CN" altLang="en-US" sz="1600" b="1" dirty="0">
                <a:solidFill>
                  <a:schemeClr val="tx1"/>
                </a:solidFill>
              </a:rPr>
              <a:t>包括式遗传</a:t>
            </a:r>
          </a:p>
        </p:txBody>
      </p:sp>
      <p:sp>
        <p:nvSpPr>
          <p:cNvPr id="16" name="文本框 15">
            <a:extLst>
              <a:ext uri="{FF2B5EF4-FFF2-40B4-BE49-F238E27FC236}">
                <a16:creationId xmlns:a16="http://schemas.microsoft.com/office/drawing/2014/main" id="{E4E6A295-6866-4F60-86A0-118E76F274B3}"/>
              </a:ext>
            </a:extLst>
          </p:cNvPr>
          <p:cNvSpPr txBox="1"/>
          <p:nvPr/>
        </p:nvSpPr>
        <p:spPr>
          <a:xfrm>
            <a:off x="9166214" y="5989594"/>
            <a:ext cx="3007186" cy="584775"/>
          </a:xfrm>
          <a:prstGeom prst="rect">
            <a:avLst/>
          </a:prstGeom>
          <a:noFill/>
        </p:spPr>
        <p:txBody>
          <a:bodyPr wrap="square">
            <a:spAutoFit/>
          </a:bodyPr>
          <a:lstStyle>
            <a:defPPr>
              <a:defRPr lang="zh-CN"/>
            </a:defPPr>
            <a:lvl1pPr algn="ctr">
              <a:defRPr sz="1600" b="1">
                <a:latin typeface="微软雅黑" panose="020B0503020204020204" pitchFamily="34" charset="-122"/>
                <a:ea typeface="微软雅黑" panose="020B0503020204020204" pitchFamily="34" charset="-122"/>
              </a:defRPr>
            </a:lvl1pPr>
          </a:lstStyle>
          <a:p>
            <a:r>
              <a:rPr lang="zh-CN" altLang="en-US" dirty="0"/>
              <a:t>异色瓢虫色斑的镶嵌遗传</a:t>
            </a:r>
            <a:endParaRPr lang="en-US" altLang="zh-CN" dirty="0"/>
          </a:p>
          <a:p>
            <a:r>
              <a:rPr lang="en-US" altLang="zh-CN" dirty="0"/>
              <a:t>——</a:t>
            </a:r>
            <a:r>
              <a:rPr lang="zh-CN" altLang="en-US" dirty="0"/>
              <a:t>重叠式遗传</a:t>
            </a:r>
          </a:p>
        </p:txBody>
      </p:sp>
      <p:sp>
        <p:nvSpPr>
          <p:cNvPr id="4" name="矩形 3"/>
          <p:cNvSpPr/>
          <p:nvPr/>
        </p:nvSpPr>
        <p:spPr>
          <a:xfrm>
            <a:off x="1154084" y="690429"/>
            <a:ext cx="8012130" cy="604781"/>
          </a:xfrm>
          <a:prstGeom prst="rect">
            <a:avLst/>
          </a:prstGeom>
        </p:spPr>
        <p:txBody>
          <a:bodyPr vert="horz" lIns="91440" tIns="45720" rIns="91440" bIns="45720" rtlCol="0">
            <a:normAutofit/>
          </a:bodyPr>
          <a:lstStyle/>
          <a:p>
            <a:pPr>
              <a:lnSpc>
                <a:spcPct val="120000"/>
              </a:lnSpc>
              <a:spcBef>
                <a:spcPts val="1000"/>
              </a:spcBef>
              <a:buFont typeface="Arial" panose="020B0604020202020204" pitchFamily="34" charset="0"/>
              <a:buNone/>
            </a:pPr>
            <a:r>
              <a:rPr lang="zh-CN" altLang="en-US" sz="3200" b="1" dirty="0">
                <a:latin typeface="黑体" panose="02010600030101010101" pitchFamily="49" charset="-122"/>
                <a:ea typeface="黑体" panose="02010600030101010101" pitchFamily="49" charset="-122"/>
              </a:rPr>
              <a:t>杂合子表现为两种亲本性状的嵌合体的现象</a:t>
            </a:r>
          </a:p>
        </p:txBody>
      </p:sp>
      <p:sp>
        <p:nvSpPr>
          <p:cNvPr id="5" name="矩形 4"/>
          <p:cNvSpPr/>
          <p:nvPr/>
        </p:nvSpPr>
        <p:spPr>
          <a:xfrm>
            <a:off x="1271310" y="1658880"/>
            <a:ext cx="3185487" cy="369332"/>
          </a:xfrm>
          <a:prstGeom prst="rect">
            <a:avLst/>
          </a:prstGeom>
        </p:spPr>
        <p:txBody>
          <a:bodyPr vert="horz" lIns="91440" tIns="45720" rIns="91440" bIns="45720" rtlCol="0">
            <a:normAutofit/>
          </a:bodyPr>
          <a:lstStyle/>
          <a:p>
            <a:pPr lvl="1"/>
            <a:endParaRPr lang="en-US" altLang="zh-CN" dirty="0"/>
          </a:p>
        </p:txBody>
      </p:sp>
      <p:sp>
        <p:nvSpPr>
          <p:cNvPr id="13" name="矩形 12"/>
          <p:cNvSpPr/>
          <p:nvPr/>
        </p:nvSpPr>
        <p:spPr>
          <a:xfrm>
            <a:off x="1154084" y="1384476"/>
            <a:ext cx="4716356" cy="604781"/>
          </a:xfrm>
          <a:prstGeom prst="rect">
            <a:avLst/>
          </a:prstGeom>
        </p:spPr>
        <p:txBody>
          <a:bodyPr vert="horz" lIns="91440" tIns="45720" rIns="91440" bIns="45720" rtlCol="0">
            <a:normAutofit/>
          </a:bodyPr>
          <a:lstStyle/>
          <a:p>
            <a:pPr>
              <a:lnSpc>
                <a:spcPct val="120000"/>
              </a:lnSpc>
              <a:spcBef>
                <a:spcPts val="1000"/>
              </a:spcBef>
              <a:buFont typeface="Arial" panose="020B0604020202020204" pitchFamily="34" charset="0"/>
              <a:buNone/>
            </a:pPr>
            <a:r>
              <a:rPr lang="zh-CN" altLang="en-US" sz="3200" b="1" dirty="0">
                <a:latin typeface="黑体" panose="02010600030101010101" pitchFamily="49" charset="-122"/>
                <a:ea typeface="黑体" panose="02010600030101010101" pitchFamily="49" charset="-122"/>
              </a:rPr>
              <a:t>案例：</a:t>
            </a:r>
            <a:r>
              <a:rPr lang="zh-CN" altLang="en-US" sz="3200" b="1" dirty="0">
                <a:solidFill>
                  <a:srgbClr val="FF0000"/>
                </a:solidFill>
                <a:latin typeface="黑体" panose="02010600030101010101" pitchFamily="49" charset="-122"/>
                <a:ea typeface="黑体" panose="02010600030101010101" pitchFamily="49" charset="-122"/>
              </a:rPr>
              <a:t>亚洲瓢虫鞘翅色斑</a:t>
            </a:r>
          </a:p>
        </p:txBody>
      </p:sp>
    </p:spTree>
    <p:extLst>
      <p:ext uri="{BB962C8B-B14F-4D97-AF65-F5344CB8AC3E}">
        <p14:creationId xmlns:p14="http://schemas.microsoft.com/office/powerpoint/2010/main" val="1253585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300"/>
                                        <p:tgtEl>
                                          <p:spTgt spid="13"/>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6" grpId="0"/>
      <p:bldP spid="4"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rrowheads="1"/>
          </p:cNvSpPr>
          <p:nvPr>
            <p:ph type="title"/>
          </p:nvPr>
        </p:nvSpPr>
        <p:spPr>
          <a:xfrm>
            <a:off x="600304" y="107388"/>
            <a:ext cx="10515600" cy="678180"/>
          </a:xfrm>
        </p:spPr>
        <p:txBody>
          <a:bodyPr vert="horz" lIns="91440" tIns="45720" rIns="91440" bIns="45720" rtlCol="0" anchor="ctr">
            <a:noAutofit/>
          </a:bodyPr>
          <a:lstStyle/>
          <a:p>
            <a:pPr>
              <a:lnSpc>
                <a:spcPct val="120000"/>
              </a:lnSpc>
              <a:spcBef>
                <a:spcPts val="1000"/>
              </a:spcBef>
              <a:buFont typeface="Arial" panose="020B0604020202020204" pitchFamily="34" charset="0"/>
            </a:pPr>
            <a:r>
              <a:rPr lang="en-US" altLang="zh-CN" sz="3600" b="1" dirty="0">
                <a:solidFill>
                  <a:srgbClr val="0000FF"/>
                </a:solidFill>
                <a:latin typeface="黑体" panose="02010600030101010101" pitchFamily="49" charset="-122"/>
                <a:ea typeface="黑体" panose="02010600030101010101" pitchFamily="49" charset="-122"/>
                <a:cs typeface="+mn-cs"/>
              </a:rPr>
              <a:t>(4)</a:t>
            </a:r>
            <a:r>
              <a:rPr lang="zh-CN" altLang="en-US" sz="3600" b="1" dirty="0">
                <a:solidFill>
                  <a:srgbClr val="0000FF"/>
                </a:solidFill>
                <a:latin typeface="黑体" panose="02010600030101010101" pitchFamily="49" charset="-122"/>
                <a:ea typeface="黑体" panose="02010600030101010101" pitchFamily="49" charset="-122"/>
                <a:cs typeface="+mn-cs"/>
              </a:rPr>
              <a:t>超显性 </a:t>
            </a:r>
          </a:p>
        </p:txBody>
      </p:sp>
      <p:sp>
        <p:nvSpPr>
          <p:cNvPr id="36867" name="Rectangle 3"/>
          <p:cNvSpPr>
            <a:spLocks noGrp="1" noRot="1" noChangeArrowheads="1"/>
          </p:cNvSpPr>
          <p:nvPr>
            <p:ph type="body" idx="1"/>
          </p:nvPr>
        </p:nvSpPr>
        <p:spPr>
          <a:xfrm>
            <a:off x="406762" y="1777247"/>
            <a:ext cx="11452780" cy="1255321"/>
          </a:xfrm>
        </p:spPr>
        <p:txBody>
          <a:bodyPr/>
          <a:lstStyle/>
          <a:p>
            <a:pPr marL="0" indent="0">
              <a:lnSpc>
                <a:spcPct val="120000"/>
              </a:lnSpc>
              <a:buNone/>
            </a:pPr>
            <a:r>
              <a:rPr lang="zh-CN" altLang="en-US" b="1">
                <a:latin typeface="黑体" panose="02010600030101010101" pitchFamily="49" charset="-122"/>
                <a:ea typeface="黑体" panose="02010600030101010101" pitchFamily="49" charset="-122"/>
              </a:rPr>
              <a:t>   例如</a:t>
            </a:r>
            <a:r>
              <a:rPr lang="zh-CN" altLang="en-US" b="1" dirty="0">
                <a:latin typeface="黑体" panose="02010600030101010101" pitchFamily="49" charset="-122"/>
                <a:ea typeface="黑体" panose="02010600030101010101" pitchFamily="49" charset="-122"/>
              </a:rPr>
              <a:t>，果蝇杂合体白眼</a:t>
            </a:r>
            <a:r>
              <a:rPr lang="en-US" altLang="zh-CN" b="1" dirty="0">
                <a:latin typeface="黑体" panose="02010600030101010101" pitchFamily="49" charset="-122"/>
                <a:ea typeface="黑体" panose="02010600030101010101" pitchFamily="49" charset="-122"/>
              </a:rPr>
              <a:t>w</a:t>
            </a:r>
            <a:r>
              <a:rPr lang="en-US" altLang="zh-CN" b="1" baseline="30000" dirty="0">
                <a:latin typeface="黑体" panose="02010600030101010101" pitchFamily="49" charset="-122"/>
                <a:ea typeface="黑体" panose="02010600030101010101" pitchFamily="49" charset="-122"/>
              </a:rPr>
              <a:t>+</a:t>
            </a:r>
            <a:r>
              <a:rPr lang="zh-CN" altLang="en-US" b="1" dirty="0">
                <a:latin typeface="黑体" panose="02010600030101010101" pitchFamily="49" charset="-122"/>
                <a:ea typeface="黑体" panose="02010600030101010101" pitchFamily="49" charset="-122"/>
              </a:rPr>
              <a:t>／</a:t>
            </a:r>
            <a:r>
              <a:rPr lang="en-US" altLang="zh-CN" b="1" dirty="0">
                <a:latin typeface="黑体" panose="02010600030101010101" pitchFamily="49" charset="-122"/>
                <a:ea typeface="黑体" panose="02010600030101010101" pitchFamily="49" charset="-122"/>
              </a:rPr>
              <a:t>w</a:t>
            </a:r>
            <a:r>
              <a:rPr lang="zh-CN" altLang="en-US" b="1" dirty="0">
                <a:latin typeface="黑体" panose="02010600030101010101" pitchFamily="49" charset="-122"/>
                <a:ea typeface="黑体" panose="02010600030101010101" pitchFamily="49" charset="-122"/>
              </a:rPr>
              <a:t>的荧光素的量超过白眼纯合体</a:t>
            </a:r>
            <a:r>
              <a:rPr lang="en-US" altLang="zh-CN" b="1" dirty="0">
                <a:latin typeface="黑体" panose="02010600030101010101" pitchFamily="49" charset="-122"/>
                <a:ea typeface="黑体" panose="02010600030101010101" pitchFamily="49" charset="-122"/>
              </a:rPr>
              <a:t>w</a:t>
            </a:r>
            <a:r>
              <a:rPr lang="zh-CN" altLang="en-US" b="1" dirty="0">
                <a:latin typeface="黑体" panose="02010600030101010101" pitchFamily="49" charset="-122"/>
                <a:ea typeface="黑体" panose="02010600030101010101" pitchFamily="49" charset="-122"/>
              </a:rPr>
              <a:t>／</a:t>
            </a:r>
            <a:r>
              <a:rPr lang="en-US" altLang="zh-CN" b="1" dirty="0">
                <a:latin typeface="黑体" panose="02010600030101010101" pitchFamily="49" charset="-122"/>
                <a:ea typeface="黑体" panose="02010600030101010101" pitchFamily="49" charset="-122"/>
              </a:rPr>
              <a:t>w</a:t>
            </a:r>
            <a:r>
              <a:rPr lang="zh-CN" altLang="en-US" b="1" dirty="0">
                <a:latin typeface="黑体" panose="02010600030101010101" pitchFamily="49" charset="-122"/>
                <a:ea typeface="黑体" panose="02010600030101010101" pitchFamily="49" charset="-122"/>
              </a:rPr>
              <a:t>和野生型纯合体</a:t>
            </a:r>
            <a:r>
              <a:rPr lang="en-US" altLang="zh-CN" b="1" dirty="0">
                <a:latin typeface="黑体" panose="02010600030101010101" pitchFamily="49" charset="-122"/>
                <a:ea typeface="黑体" panose="02010600030101010101" pitchFamily="49" charset="-122"/>
              </a:rPr>
              <a:t>w</a:t>
            </a:r>
            <a:r>
              <a:rPr lang="en-US" altLang="zh-CN" b="1" baseline="30000" dirty="0">
                <a:latin typeface="黑体" panose="02010600030101010101" pitchFamily="49" charset="-122"/>
                <a:ea typeface="黑体" panose="02010600030101010101" pitchFamily="49" charset="-122"/>
              </a:rPr>
              <a:t>+</a:t>
            </a:r>
            <a:r>
              <a:rPr lang="zh-CN" altLang="en-US" b="1" dirty="0">
                <a:latin typeface="黑体" panose="02010600030101010101" pitchFamily="49" charset="-122"/>
                <a:ea typeface="黑体" panose="02010600030101010101" pitchFamily="49" charset="-122"/>
              </a:rPr>
              <a:t>／</a:t>
            </a:r>
            <a:r>
              <a:rPr lang="en-US" altLang="zh-CN" b="1" dirty="0">
                <a:latin typeface="黑体" panose="02010600030101010101" pitchFamily="49" charset="-122"/>
                <a:ea typeface="黑体" panose="02010600030101010101" pitchFamily="49" charset="-122"/>
              </a:rPr>
              <a:t>w</a:t>
            </a:r>
            <a:r>
              <a:rPr lang="en-US" altLang="zh-CN" b="1" baseline="30000" dirty="0">
                <a:latin typeface="黑体" panose="02010600030101010101" pitchFamily="49" charset="-122"/>
                <a:ea typeface="黑体" panose="02010600030101010101" pitchFamily="49" charset="-122"/>
              </a:rPr>
              <a:t>+</a:t>
            </a:r>
            <a:r>
              <a:rPr lang="zh-CN" altLang="en-US" b="1" dirty="0">
                <a:latin typeface="黑体" panose="02010600030101010101" pitchFamily="49" charset="-122"/>
                <a:ea typeface="黑体" panose="02010600030101010101" pitchFamily="49" charset="-122"/>
              </a:rPr>
              <a:t>所产生的量。这就是所谓的</a:t>
            </a:r>
            <a:r>
              <a:rPr lang="zh-CN" altLang="en-US" b="1" dirty="0">
                <a:solidFill>
                  <a:srgbClr val="0000FF"/>
                </a:solidFill>
                <a:latin typeface="黑体" panose="02010600030101010101" pitchFamily="49" charset="-122"/>
                <a:ea typeface="黑体" panose="02010600030101010101" pitchFamily="49" charset="-122"/>
              </a:rPr>
              <a:t>杂种优势</a:t>
            </a:r>
            <a:r>
              <a:rPr lang="zh-CN" altLang="en-US" b="1" dirty="0">
                <a:latin typeface="黑体" panose="02010600030101010101" pitchFamily="49" charset="-122"/>
                <a:ea typeface="黑体" panose="02010600030101010101" pitchFamily="49" charset="-122"/>
              </a:rPr>
              <a:t>。</a:t>
            </a:r>
          </a:p>
        </p:txBody>
      </p:sp>
      <p:sp>
        <p:nvSpPr>
          <p:cNvPr id="2" name="矩形 1"/>
          <p:cNvSpPr/>
          <p:nvPr/>
        </p:nvSpPr>
        <p:spPr>
          <a:xfrm>
            <a:off x="739658" y="1172466"/>
            <a:ext cx="8015336" cy="604781"/>
          </a:xfrm>
          <a:prstGeom prst="rect">
            <a:avLst/>
          </a:prstGeom>
        </p:spPr>
        <p:txBody>
          <a:bodyPr vert="horz" lIns="91440" tIns="45720" rIns="91440" bIns="45720" rtlCol="0">
            <a:normAutofit fontScale="92500"/>
          </a:bodyPr>
          <a:lstStyle/>
          <a:p>
            <a:pPr>
              <a:lnSpc>
                <a:spcPct val="120000"/>
              </a:lnSpc>
              <a:spcBef>
                <a:spcPts val="1000"/>
              </a:spcBef>
              <a:buFont typeface="Arial" panose="020B0604020202020204" pitchFamily="34" charset="0"/>
              <a:buNone/>
            </a:pPr>
            <a:r>
              <a:rPr lang="zh-CN" altLang="en-US" sz="3200" b="1">
                <a:latin typeface="黑体" panose="02010600030101010101" pitchFamily="49" charset="-122"/>
                <a:ea typeface="黑体" panose="02010600030101010101" pitchFamily="49" charset="-122"/>
              </a:rPr>
              <a:t> 杂合</a:t>
            </a:r>
            <a:r>
              <a:rPr lang="zh-CN" altLang="en-US" sz="3200" b="1" dirty="0">
                <a:latin typeface="黑体" panose="02010600030101010101" pitchFamily="49" charset="-122"/>
                <a:ea typeface="黑体" panose="02010600030101010101" pitchFamily="49" charset="-122"/>
              </a:rPr>
              <a:t>体</a:t>
            </a:r>
            <a:r>
              <a:rPr lang="en-US" altLang="zh-CN" sz="3200" b="1" dirty="0" err="1">
                <a:latin typeface="黑体" panose="02010600030101010101" pitchFamily="49" charset="-122"/>
                <a:ea typeface="黑体" panose="02010600030101010101" pitchFamily="49" charset="-122"/>
              </a:rPr>
              <a:t>Aa</a:t>
            </a:r>
            <a:r>
              <a:rPr lang="zh-CN" altLang="en-US" sz="3200" b="1" dirty="0">
                <a:latin typeface="黑体" panose="02010600030101010101" pitchFamily="49" charset="-122"/>
                <a:ea typeface="黑体" panose="02010600030101010101" pitchFamily="49" charset="-122"/>
              </a:rPr>
              <a:t>的性状表现超过纯合显性</a:t>
            </a:r>
            <a:r>
              <a:rPr lang="en-US" altLang="zh-CN" sz="3200" b="1" dirty="0">
                <a:latin typeface="黑体" panose="02010600030101010101" pitchFamily="49" charset="-122"/>
                <a:ea typeface="黑体" panose="02010600030101010101" pitchFamily="49" charset="-122"/>
              </a:rPr>
              <a:t>AA</a:t>
            </a:r>
            <a:r>
              <a:rPr lang="zh-CN" altLang="en-US" sz="3200" b="1" dirty="0">
                <a:latin typeface="黑体" panose="02010600030101010101" pitchFamily="49" charset="-122"/>
                <a:ea typeface="黑体" panose="02010600030101010101" pitchFamily="49" charset="-122"/>
              </a:rPr>
              <a:t>的现象</a:t>
            </a:r>
          </a:p>
        </p:txBody>
      </p:sp>
    </p:spTree>
    <p:extLst>
      <p:ext uri="{BB962C8B-B14F-4D97-AF65-F5344CB8AC3E}">
        <p14:creationId xmlns:p14="http://schemas.microsoft.com/office/powerpoint/2010/main" val="23939996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867">
                                            <p:txEl>
                                              <p:pRg st="0" end="0"/>
                                            </p:txEl>
                                          </p:spTgt>
                                        </p:tgtEl>
                                        <p:attrNameLst>
                                          <p:attrName>style.visibility</p:attrName>
                                        </p:attrNameLst>
                                      </p:cBhvr>
                                      <p:to>
                                        <p:strVal val="visible"/>
                                      </p:to>
                                    </p:set>
                                    <p:animEffect transition="in" filter="fade">
                                      <p:cBhvr>
                                        <p:cTn id="12" dur="500"/>
                                        <p:tgtEl>
                                          <p:spTgt spid="368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4BFE9C-C7C7-415F-BB31-96462916866B}"/>
              </a:ext>
            </a:extLst>
          </p:cNvPr>
          <p:cNvSpPr>
            <a:spLocks noGrp="1"/>
          </p:cNvSpPr>
          <p:nvPr>
            <p:ph type="title"/>
          </p:nvPr>
        </p:nvSpPr>
        <p:spPr>
          <a:xfrm>
            <a:off x="-244285" y="-85972"/>
            <a:ext cx="10496189" cy="814647"/>
          </a:xfrm>
        </p:spPr>
        <p:txBody>
          <a:bodyPr vert="horz" lIns="91440" tIns="45720" rIns="91440" bIns="45720" rtlCol="0" anchor="ctr">
            <a:noAutofit/>
          </a:bodyPr>
          <a:lstStyle/>
          <a:p>
            <a:r>
              <a:rPr lang="zh-CN" altLang="en-US" sz="3600" b="1" dirty="0">
                <a:solidFill>
                  <a:srgbClr val="0000FF"/>
                </a:solidFill>
                <a:latin typeface="黑体" panose="02010600030101010101" pitchFamily="49" charset="-122"/>
                <a:ea typeface="黑体" panose="02010600030101010101" pitchFamily="49" charset="-122"/>
              </a:rPr>
              <a:t>（</a:t>
            </a:r>
            <a:r>
              <a:rPr lang="en-US" altLang="zh-CN" sz="3600" b="1" dirty="0">
                <a:solidFill>
                  <a:srgbClr val="0000FF"/>
                </a:solidFill>
                <a:latin typeface="黑体" panose="02010600030101010101" pitchFamily="49" charset="-122"/>
                <a:ea typeface="黑体" panose="02010600030101010101" pitchFamily="49" charset="-122"/>
              </a:rPr>
              <a:t>5</a:t>
            </a:r>
            <a:r>
              <a:rPr lang="zh-CN" altLang="en-US" sz="3600" b="1" dirty="0">
                <a:solidFill>
                  <a:srgbClr val="0000FF"/>
                </a:solidFill>
                <a:latin typeface="黑体" panose="02010600030101010101" pitchFamily="49" charset="-122"/>
                <a:ea typeface="黑体" panose="02010600030101010101" pitchFamily="49" charset="-122"/>
              </a:rPr>
              <a:t>）显隐性可随所依据的标准而更改</a:t>
            </a:r>
          </a:p>
        </p:txBody>
      </p:sp>
      <p:sp>
        <p:nvSpPr>
          <p:cNvPr id="3" name="内容占位符 2">
            <a:extLst>
              <a:ext uri="{FF2B5EF4-FFF2-40B4-BE49-F238E27FC236}">
                <a16:creationId xmlns:a16="http://schemas.microsoft.com/office/drawing/2014/main" id="{03B05142-68B2-497A-AB60-BC81ACF48921}"/>
              </a:ext>
            </a:extLst>
          </p:cNvPr>
          <p:cNvSpPr>
            <a:spLocks noGrp="1"/>
          </p:cNvSpPr>
          <p:nvPr>
            <p:ph idx="4294967295"/>
          </p:nvPr>
        </p:nvSpPr>
        <p:spPr>
          <a:xfrm>
            <a:off x="913494" y="679835"/>
            <a:ext cx="5148282" cy="661213"/>
          </a:xfrm>
        </p:spPr>
        <p:txBody>
          <a:bodyPr>
            <a:noAutofit/>
          </a:bodyPr>
          <a:lstStyle/>
          <a:p>
            <a:pPr marL="0" lvl="1" indent="0">
              <a:lnSpc>
                <a:spcPct val="100000"/>
              </a:lnSpc>
              <a:spcBef>
                <a:spcPts val="0"/>
              </a:spcBef>
              <a:buNone/>
            </a:pPr>
            <a:r>
              <a:rPr lang="zh-CN" altLang="en-US" sz="2800" b="1" dirty="0">
                <a:solidFill>
                  <a:srgbClr val="FF0000"/>
                </a:solidFill>
                <a:latin typeface="黑体" pitchFamily="49" charset="-122"/>
                <a:ea typeface="黑体" pitchFamily="49" charset="-122"/>
              </a:rPr>
              <a:t>案例</a:t>
            </a:r>
            <a:r>
              <a:rPr lang="en-US" altLang="zh-CN" sz="2800" b="1" dirty="0">
                <a:solidFill>
                  <a:srgbClr val="FF0000"/>
                </a:solidFill>
                <a:latin typeface="黑体" pitchFamily="49" charset="-122"/>
                <a:ea typeface="黑体" pitchFamily="49" charset="-122"/>
              </a:rPr>
              <a:t>1</a:t>
            </a:r>
            <a:r>
              <a:rPr lang="zh-CN" altLang="en-US" sz="2800" b="1" dirty="0">
                <a:solidFill>
                  <a:srgbClr val="FF0000"/>
                </a:solidFill>
                <a:latin typeface="黑体" pitchFamily="49" charset="-122"/>
                <a:ea typeface="黑体" pitchFamily="49" charset="-122"/>
              </a:rPr>
              <a:t>：饱满豆粒与皱缩豆粒</a:t>
            </a:r>
          </a:p>
        </p:txBody>
      </p:sp>
      <p:pic>
        <p:nvPicPr>
          <p:cNvPr id="5" name="图片 4">
            <a:extLst>
              <a:ext uri="{FF2B5EF4-FFF2-40B4-BE49-F238E27FC236}">
                <a16:creationId xmlns:a16="http://schemas.microsoft.com/office/drawing/2014/main" id="{58C75BD6-DC1C-4D59-976F-7DAE8FBE267C}"/>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b="11518"/>
          <a:stretch/>
        </p:blipFill>
        <p:spPr>
          <a:xfrm>
            <a:off x="3125468" y="4387709"/>
            <a:ext cx="6018606" cy="1960250"/>
          </a:xfrm>
          <a:prstGeom prst="rect">
            <a:avLst/>
          </a:prstGeom>
        </p:spPr>
      </p:pic>
      <p:grpSp>
        <p:nvGrpSpPr>
          <p:cNvPr id="64" name="Group 1080"/>
          <p:cNvGrpSpPr/>
          <p:nvPr/>
        </p:nvGrpSpPr>
        <p:grpSpPr>
          <a:xfrm>
            <a:off x="855938" y="1226245"/>
            <a:ext cx="10489219" cy="3485456"/>
            <a:chOff x="-3" y="515"/>
            <a:chExt cx="2792" cy="1903"/>
          </a:xfrm>
        </p:grpSpPr>
        <p:grpSp>
          <p:nvGrpSpPr>
            <p:cNvPr id="65" name="Group 1078"/>
            <p:cNvGrpSpPr/>
            <p:nvPr/>
          </p:nvGrpSpPr>
          <p:grpSpPr>
            <a:xfrm>
              <a:off x="0" y="518"/>
              <a:ext cx="2786" cy="1900"/>
              <a:chOff x="0" y="518"/>
              <a:chExt cx="2786" cy="1900"/>
            </a:xfrm>
          </p:grpSpPr>
          <p:grpSp>
            <p:nvGrpSpPr>
              <p:cNvPr id="67" name="Group 1045"/>
              <p:cNvGrpSpPr/>
              <p:nvPr/>
            </p:nvGrpSpPr>
            <p:grpSpPr>
              <a:xfrm>
                <a:off x="0" y="518"/>
                <a:ext cx="676" cy="518"/>
                <a:chOff x="0" y="518"/>
                <a:chExt cx="676" cy="518"/>
              </a:xfrm>
            </p:grpSpPr>
            <p:sp>
              <p:nvSpPr>
                <p:cNvPr id="116" name="Rectangle 1027"/>
                <p:cNvSpPr/>
                <p:nvPr/>
              </p:nvSpPr>
              <p:spPr>
                <a:xfrm>
                  <a:off x="43" y="518"/>
                  <a:ext cx="590" cy="518"/>
                </a:xfrm>
                <a:prstGeom prst="rect">
                  <a:avLst/>
                </a:prstGeom>
                <a:noFill/>
                <a:ln w="12700">
                  <a:noFill/>
                </a:ln>
              </p:spPr>
              <p:txBody>
                <a:bodyPr anchor="ctr" anchorCtr="0"/>
                <a:lstStyle/>
                <a:p>
                  <a:pPr algn="ctr"/>
                  <a:r>
                    <a:rPr lang="zh-CN" altLang="en-US" sz="2800" b="1" dirty="0">
                      <a:latin typeface="黑体" pitchFamily="49" charset="-122"/>
                      <a:ea typeface="黑体" pitchFamily="49" charset="-122"/>
                    </a:rPr>
                    <a:t>豌豆性状</a:t>
                  </a:r>
                </a:p>
              </p:txBody>
            </p:sp>
            <p:sp>
              <p:nvSpPr>
                <p:cNvPr id="117" name="Rectangle 1044"/>
                <p:cNvSpPr/>
                <p:nvPr/>
              </p:nvSpPr>
              <p:spPr>
                <a:xfrm>
                  <a:off x="0" y="518"/>
                  <a:ext cx="676" cy="518"/>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68" name="Group 1047"/>
              <p:cNvGrpSpPr/>
              <p:nvPr/>
            </p:nvGrpSpPr>
            <p:grpSpPr>
              <a:xfrm>
                <a:off x="676" y="518"/>
                <a:ext cx="1534" cy="518"/>
                <a:chOff x="676" y="518"/>
                <a:chExt cx="1534" cy="518"/>
              </a:xfrm>
            </p:grpSpPr>
            <p:sp>
              <p:nvSpPr>
                <p:cNvPr id="114" name="Rectangle 1028"/>
                <p:cNvSpPr/>
                <p:nvPr/>
              </p:nvSpPr>
              <p:spPr>
                <a:xfrm>
                  <a:off x="719" y="518"/>
                  <a:ext cx="1448" cy="518"/>
                </a:xfrm>
                <a:prstGeom prst="rect">
                  <a:avLst/>
                </a:prstGeom>
                <a:noFill/>
                <a:ln w="12700">
                  <a:noFill/>
                </a:ln>
              </p:spPr>
              <p:txBody>
                <a:bodyPr anchor="ctr" anchorCtr="0"/>
                <a:lstStyle/>
                <a:p>
                  <a:pPr algn="ctr"/>
                  <a:r>
                    <a:rPr lang="zh-CN" altLang="en-US" sz="2800" b="1" dirty="0">
                      <a:latin typeface="黑体" pitchFamily="49" charset="-122"/>
                      <a:ea typeface="黑体" pitchFamily="49" charset="-122"/>
                    </a:rPr>
                    <a:t>基因型</a:t>
                  </a:r>
                </a:p>
              </p:txBody>
            </p:sp>
            <p:sp>
              <p:nvSpPr>
                <p:cNvPr id="115" name="Rectangle 1046"/>
                <p:cNvSpPr/>
                <p:nvPr/>
              </p:nvSpPr>
              <p:spPr>
                <a:xfrm>
                  <a:off x="676" y="518"/>
                  <a:ext cx="1534" cy="518"/>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69" name="Group 1049"/>
              <p:cNvGrpSpPr/>
              <p:nvPr/>
            </p:nvGrpSpPr>
            <p:grpSpPr>
              <a:xfrm>
                <a:off x="2210" y="518"/>
                <a:ext cx="576" cy="518"/>
                <a:chOff x="2210" y="518"/>
                <a:chExt cx="576" cy="518"/>
              </a:xfrm>
            </p:grpSpPr>
            <p:sp>
              <p:nvSpPr>
                <p:cNvPr id="112" name="Rectangle 1029"/>
                <p:cNvSpPr/>
                <p:nvPr/>
              </p:nvSpPr>
              <p:spPr>
                <a:xfrm>
                  <a:off x="2253" y="518"/>
                  <a:ext cx="490" cy="518"/>
                </a:xfrm>
                <a:prstGeom prst="rect">
                  <a:avLst/>
                </a:prstGeom>
                <a:noFill/>
                <a:ln w="12700">
                  <a:noFill/>
                </a:ln>
              </p:spPr>
              <p:txBody>
                <a:bodyPr anchor="ctr" anchorCtr="0"/>
                <a:lstStyle/>
                <a:p>
                  <a:pPr algn="ctr"/>
                  <a:r>
                    <a:rPr lang="zh-CN" altLang="en-US" sz="2800" b="1" dirty="0">
                      <a:latin typeface="黑体" pitchFamily="49" charset="-122"/>
                      <a:ea typeface="黑体" pitchFamily="49" charset="-122"/>
                    </a:rPr>
                    <a:t>显性表现</a:t>
                  </a:r>
                </a:p>
              </p:txBody>
            </p:sp>
            <p:sp>
              <p:nvSpPr>
                <p:cNvPr id="113" name="Rectangle 1048"/>
                <p:cNvSpPr/>
                <p:nvPr/>
              </p:nvSpPr>
              <p:spPr>
                <a:xfrm>
                  <a:off x="2210" y="518"/>
                  <a:ext cx="576" cy="518"/>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70" name="Group 1051"/>
              <p:cNvGrpSpPr/>
              <p:nvPr/>
            </p:nvGrpSpPr>
            <p:grpSpPr>
              <a:xfrm>
                <a:off x="0" y="1036"/>
                <a:ext cx="676" cy="518"/>
                <a:chOff x="0" y="1036"/>
                <a:chExt cx="676" cy="518"/>
              </a:xfrm>
            </p:grpSpPr>
            <p:sp>
              <p:nvSpPr>
                <p:cNvPr id="110" name="Rectangle 1030"/>
                <p:cNvSpPr/>
                <p:nvPr/>
              </p:nvSpPr>
              <p:spPr>
                <a:xfrm>
                  <a:off x="43" y="1036"/>
                  <a:ext cx="590" cy="518"/>
                </a:xfrm>
                <a:prstGeom prst="rect">
                  <a:avLst/>
                </a:prstGeom>
                <a:noFill/>
                <a:ln w="12700">
                  <a:noFill/>
                </a:ln>
              </p:spPr>
              <p:txBody>
                <a:bodyPr anchor="ctr" anchorCtr="0"/>
                <a:lstStyle/>
                <a:p>
                  <a:pPr algn="ctr"/>
                  <a:r>
                    <a:rPr lang="zh-CN" altLang="en-US" sz="2800" b="1" dirty="0">
                      <a:solidFill>
                        <a:srgbClr val="0000FF"/>
                      </a:solidFill>
                      <a:latin typeface="黑体" pitchFamily="49" charset="-122"/>
                      <a:ea typeface="黑体" pitchFamily="49" charset="-122"/>
                    </a:rPr>
                    <a:t>种子形态</a:t>
                  </a:r>
                </a:p>
              </p:txBody>
            </p:sp>
            <p:sp>
              <p:nvSpPr>
                <p:cNvPr id="111" name="Rectangle 1050"/>
                <p:cNvSpPr/>
                <p:nvPr/>
              </p:nvSpPr>
              <p:spPr>
                <a:xfrm>
                  <a:off x="0" y="1036"/>
                  <a:ext cx="676" cy="518"/>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71" name="Group 1053"/>
              <p:cNvGrpSpPr/>
              <p:nvPr/>
            </p:nvGrpSpPr>
            <p:grpSpPr>
              <a:xfrm>
                <a:off x="676" y="1036"/>
                <a:ext cx="1070" cy="518"/>
                <a:chOff x="676" y="1036"/>
                <a:chExt cx="1070" cy="518"/>
              </a:xfrm>
            </p:grpSpPr>
            <p:sp>
              <p:nvSpPr>
                <p:cNvPr id="108" name="Rectangle 1031"/>
                <p:cNvSpPr/>
                <p:nvPr/>
              </p:nvSpPr>
              <p:spPr>
                <a:xfrm>
                  <a:off x="719" y="1066"/>
                  <a:ext cx="989" cy="446"/>
                </a:xfrm>
                <a:prstGeom prst="rect">
                  <a:avLst/>
                </a:prstGeom>
                <a:noFill/>
                <a:ln w="12700">
                  <a:noFill/>
                </a:ln>
              </p:spPr>
              <p:txBody>
                <a:bodyPr anchor="ctr" anchorCtr="0"/>
                <a:lstStyle/>
                <a:p>
                  <a:pPr algn="ctr"/>
                  <a:r>
                    <a:rPr lang="en-US" altLang="zh-CN" sz="2800" b="1">
                      <a:latin typeface="黑体" pitchFamily="49" charset="-122"/>
                      <a:ea typeface="黑体" pitchFamily="49" charset="-122"/>
                    </a:rPr>
                    <a:t>RR         </a:t>
                  </a:r>
                  <a:r>
                    <a:rPr lang="en-US" altLang="zh-CN" sz="2800" b="1" dirty="0">
                      <a:latin typeface="黑体" pitchFamily="49" charset="-122"/>
                      <a:ea typeface="黑体" pitchFamily="49" charset="-122"/>
                    </a:rPr>
                    <a:t>Rr</a:t>
                  </a:r>
                </a:p>
                <a:p>
                  <a:pPr algn="ctr" eaLnBrk="0" hangingPunct="0"/>
                  <a:r>
                    <a:rPr lang="zh-CN" altLang="en-US" sz="2800" b="1" dirty="0">
                      <a:latin typeface="黑体" pitchFamily="49" charset="-122"/>
                      <a:ea typeface="黑体" pitchFamily="49" charset="-122"/>
                    </a:rPr>
                    <a:t>圆粒</a:t>
                  </a:r>
                </a:p>
              </p:txBody>
            </p:sp>
            <p:sp>
              <p:nvSpPr>
                <p:cNvPr id="109" name="Rectangle 1052"/>
                <p:cNvSpPr/>
                <p:nvPr/>
              </p:nvSpPr>
              <p:spPr>
                <a:xfrm>
                  <a:off x="676" y="1036"/>
                  <a:ext cx="1070" cy="518"/>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72" name="Group 1055"/>
              <p:cNvGrpSpPr/>
              <p:nvPr/>
            </p:nvGrpSpPr>
            <p:grpSpPr>
              <a:xfrm>
                <a:off x="1746" y="976"/>
                <a:ext cx="464" cy="578"/>
                <a:chOff x="1746" y="976"/>
                <a:chExt cx="464" cy="578"/>
              </a:xfrm>
            </p:grpSpPr>
            <p:sp>
              <p:nvSpPr>
                <p:cNvPr id="106" name="Rectangle 1032"/>
                <p:cNvSpPr/>
                <p:nvPr/>
              </p:nvSpPr>
              <p:spPr>
                <a:xfrm>
                  <a:off x="1789" y="976"/>
                  <a:ext cx="398" cy="565"/>
                </a:xfrm>
                <a:prstGeom prst="rect">
                  <a:avLst/>
                </a:prstGeom>
                <a:noFill/>
                <a:ln w="12700">
                  <a:noFill/>
                </a:ln>
              </p:spPr>
              <p:txBody>
                <a:bodyPr anchor="ctr" anchorCtr="0"/>
                <a:lstStyle/>
                <a:p>
                  <a:pPr algn="ctr"/>
                  <a:r>
                    <a:rPr lang="en-US" altLang="zh-CN" sz="2800" b="1" dirty="0">
                      <a:latin typeface="黑体" pitchFamily="49" charset="-122"/>
                      <a:ea typeface="黑体" pitchFamily="49" charset="-122"/>
                    </a:rPr>
                    <a:t>rr</a:t>
                  </a:r>
                </a:p>
                <a:p>
                  <a:pPr algn="ctr" eaLnBrk="0" hangingPunct="0"/>
                  <a:r>
                    <a:rPr lang="zh-CN" altLang="en-US" sz="2800" b="1" dirty="0">
                      <a:latin typeface="黑体" pitchFamily="49" charset="-122"/>
                      <a:ea typeface="黑体" pitchFamily="49" charset="-122"/>
                    </a:rPr>
                    <a:t>皱粒</a:t>
                  </a:r>
                </a:p>
              </p:txBody>
            </p:sp>
            <p:sp>
              <p:nvSpPr>
                <p:cNvPr id="107" name="Rectangle 1054"/>
                <p:cNvSpPr/>
                <p:nvPr/>
              </p:nvSpPr>
              <p:spPr>
                <a:xfrm>
                  <a:off x="1746" y="1036"/>
                  <a:ext cx="464" cy="518"/>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73" name="Group 1057"/>
              <p:cNvGrpSpPr/>
              <p:nvPr/>
            </p:nvGrpSpPr>
            <p:grpSpPr>
              <a:xfrm>
                <a:off x="2210" y="1036"/>
                <a:ext cx="576" cy="518"/>
                <a:chOff x="2210" y="1036"/>
                <a:chExt cx="576" cy="518"/>
              </a:xfrm>
            </p:grpSpPr>
            <p:sp>
              <p:nvSpPr>
                <p:cNvPr id="104" name="Rectangle 1033"/>
                <p:cNvSpPr/>
                <p:nvPr/>
              </p:nvSpPr>
              <p:spPr>
                <a:xfrm>
                  <a:off x="2253" y="1036"/>
                  <a:ext cx="490" cy="518"/>
                </a:xfrm>
                <a:prstGeom prst="rect">
                  <a:avLst/>
                </a:prstGeom>
                <a:noFill/>
                <a:ln w="12700">
                  <a:noFill/>
                </a:ln>
              </p:spPr>
              <p:txBody>
                <a:bodyPr anchor="ctr" anchorCtr="0"/>
                <a:lstStyle/>
                <a:p>
                  <a:pPr algn="ctr"/>
                  <a:r>
                    <a:rPr lang="zh-CN" altLang="en-US" sz="2800" b="1" dirty="0">
                      <a:latin typeface="黑体" pitchFamily="49" charset="-122"/>
                      <a:ea typeface="黑体" pitchFamily="49" charset="-122"/>
                    </a:rPr>
                    <a:t>完全显性</a:t>
                  </a:r>
                </a:p>
              </p:txBody>
            </p:sp>
            <p:sp>
              <p:nvSpPr>
                <p:cNvPr id="105" name="Rectangle 1056"/>
                <p:cNvSpPr/>
                <p:nvPr/>
              </p:nvSpPr>
              <p:spPr>
                <a:xfrm>
                  <a:off x="2210" y="1036"/>
                  <a:ext cx="576" cy="518"/>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74" name="Group 1059"/>
              <p:cNvGrpSpPr/>
              <p:nvPr/>
            </p:nvGrpSpPr>
            <p:grpSpPr>
              <a:xfrm>
                <a:off x="0" y="1554"/>
                <a:ext cx="676" cy="633"/>
                <a:chOff x="0" y="1554"/>
                <a:chExt cx="676" cy="633"/>
              </a:xfrm>
            </p:grpSpPr>
            <p:sp>
              <p:nvSpPr>
                <p:cNvPr id="102" name="Rectangle 1034"/>
                <p:cNvSpPr/>
                <p:nvPr/>
              </p:nvSpPr>
              <p:spPr>
                <a:xfrm>
                  <a:off x="43" y="1554"/>
                  <a:ext cx="590" cy="633"/>
                </a:xfrm>
                <a:prstGeom prst="rect">
                  <a:avLst/>
                </a:prstGeom>
                <a:noFill/>
                <a:ln w="12700">
                  <a:noFill/>
                </a:ln>
              </p:spPr>
              <p:txBody>
                <a:bodyPr anchor="ctr" anchorCtr="0"/>
                <a:lstStyle/>
                <a:p>
                  <a:pPr algn="ctr"/>
                  <a:r>
                    <a:rPr lang="zh-CN" altLang="en-US" sz="2800" b="1" dirty="0">
                      <a:solidFill>
                        <a:srgbClr val="0000FF"/>
                      </a:solidFill>
                      <a:latin typeface="黑体" pitchFamily="49" charset="-122"/>
                      <a:ea typeface="黑体" pitchFamily="49" charset="-122"/>
                    </a:rPr>
                    <a:t>淀粉粒形态</a:t>
                  </a:r>
                </a:p>
              </p:txBody>
            </p:sp>
            <p:sp>
              <p:nvSpPr>
                <p:cNvPr id="103" name="Rectangle 1058"/>
                <p:cNvSpPr/>
                <p:nvPr/>
              </p:nvSpPr>
              <p:spPr>
                <a:xfrm>
                  <a:off x="0" y="1554"/>
                  <a:ext cx="676" cy="633"/>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75" name="Group 1061"/>
              <p:cNvGrpSpPr/>
              <p:nvPr/>
            </p:nvGrpSpPr>
            <p:grpSpPr>
              <a:xfrm>
                <a:off x="676" y="1554"/>
                <a:ext cx="529" cy="817"/>
                <a:chOff x="676" y="1554"/>
                <a:chExt cx="529" cy="817"/>
              </a:xfrm>
            </p:grpSpPr>
            <p:sp>
              <p:nvSpPr>
                <p:cNvPr id="100" name="Rectangle 1035"/>
                <p:cNvSpPr/>
                <p:nvPr/>
              </p:nvSpPr>
              <p:spPr>
                <a:xfrm>
                  <a:off x="719" y="1554"/>
                  <a:ext cx="486" cy="817"/>
                </a:xfrm>
                <a:prstGeom prst="rect">
                  <a:avLst/>
                </a:prstGeom>
                <a:noFill/>
                <a:ln w="12700">
                  <a:noFill/>
                </a:ln>
              </p:spPr>
              <p:txBody>
                <a:bodyPr anchor="ctr" anchorCtr="0"/>
                <a:lstStyle/>
                <a:p>
                  <a:pPr algn="ctr"/>
                  <a:r>
                    <a:rPr lang="en-US" altLang="zh-CN" sz="2800" b="1" dirty="0">
                      <a:latin typeface="黑体" pitchFamily="49" charset="-122"/>
                      <a:ea typeface="黑体" pitchFamily="49" charset="-122"/>
                    </a:rPr>
                    <a:t>RR</a:t>
                  </a:r>
                </a:p>
                <a:p>
                  <a:pPr algn="ctr" eaLnBrk="0" hangingPunct="0"/>
                  <a:r>
                    <a:rPr lang="zh-CN" altLang="en-US" sz="2800" b="1">
                      <a:latin typeface="黑体" pitchFamily="49" charset="-122"/>
                      <a:ea typeface="黑体" pitchFamily="49" charset="-122"/>
                    </a:rPr>
                    <a:t>卵</a:t>
                  </a:r>
                  <a:r>
                    <a:rPr lang="zh-CN" altLang="en-US" sz="2800" b="1" dirty="0">
                      <a:latin typeface="黑体" pitchFamily="49" charset="-122"/>
                      <a:ea typeface="黑体" pitchFamily="49" charset="-122"/>
                    </a:rPr>
                    <a:t>圆形</a:t>
                  </a:r>
                </a:p>
                <a:p>
                  <a:pPr algn="ctr" eaLnBrk="0" hangingPunct="0"/>
                  <a:endParaRPr lang="zh-CN" altLang="en-US" sz="2800" b="1" dirty="0">
                    <a:latin typeface="黑体" pitchFamily="49" charset="-122"/>
                    <a:ea typeface="黑体" pitchFamily="49" charset="-122"/>
                  </a:endParaRPr>
                </a:p>
              </p:txBody>
            </p:sp>
            <p:sp>
              <p:nvSpPr>
                <p:cNvPr id="101" name="Rectangle 1060"/>
                <p:cNvSpPr/>
                <p:nvPr/>
              </p:nvSpPr>
              <p:spPr>
                <a:xfrm>
                  <a:off x="676" y="1554"/>
                  <a:ext cx="504" cy="633"/>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76" name="Group 1063"/>
              <p:cNvGrpSpPr/>
              <p:nvPr/>
            </p:nvGrpSpPr>
            <p:grpSpPr>
              <a:xfrm>
                <a:off x="1180" y="1554"/>
                <a:ext cx="566" cy="633"/>
                <a:chOff x="1180" y="1554"/>
                <a:chExt cx="566" cy="633"/>
              </a:xfrm>
            </p:grpSpPr>
            <p:sp>
              <p:nvSpPr>
                <p:cNvPr id="98" name="Rectangle 1036"/>
                <p:cNvSpPr/>
                <p:nvPr/>
              </p:nvSpPr>
              <p:spPr>
                <a:xfrm>
                  <a:off x="1223" y="1554"/>
                  <a:ext cx="480" cy="633"/>
                </a:xfrm>
                <a:prstGeom prst="rect">
                  <a:avLst/>
                </a:prstGeom>
                <a:noFill/>
                <a:ln w="12700">
                  <a:noFill/>
                </a:ln>
              </p:spPr>
              <p:txBody>
                <a:bodyPr anchor="ctr" anchorCtr="0"/>
                <a:lstStyle/>
                <a:p>
                  <a:pPr algn="ctr"/>
                  <a:r>
                    <a:rPr lang="en-US" altLang="zh-CN" sz="2800" b="1" dirty="0">
                      <a:latin typeface="黑体" pitchFamily="49" charset="-122"/>
                      <a:ea typeface="黑体" pitchFamily="49" charset="-122"/>
                    </a:rPr>
                    <a:t>Rr</a:t>
                  </a:r>
                </a:p>
                <a:p>
                  <a:pPr algn="ctr" eaLnBrk="0" hangingPunct="0"/>
                  <a:r>
                    <a:rPr lang="zh-CN" altLang="en-US" sz="2800" b="1" dirty="0">
                      <a:latin typeface="黑体" pitchFamily="49" charset="-122"/>
                      <a:ea typeface="黑体" pitchFamily="49" charset="-122"/>
                    </a:rPr>
                    <a:t>二者兼有</a:t>
                  </a:r>
                </a:p>
              </p:txBody>
            </p:sp>
            <p:sp>
              <p:nvSpPr>
                <p:cNvPr id="99" name="Rectangle 1062"/>
                <p:cNvSpPr/>
                <p:nvPr/>
              </p:nvSpPr>
              <p:spPr>
                <a:xfrm>
                  <a:off x="1180" y="1554"/>
                  <a:ext cx="566" cy="633"/>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77" name="Group 1065"/>
              <p:cNvGrpSpPr/>
              <p:nvPr/>
            </p:nvGrpSpPr>
            <p:grpSpPr>
              <a:xfrm>
                <a:off x="1746" y="1554"/>
                <a:ext cx="464" cy="633"/>
                <a:chOff x="1746" y="1554"/>
                <a:chExt cx="464" cy="633"/>
              </a:xfrm>
            </p:grpSpPr>
            <p:sp>
              <p:nvSpPr>
                <p:cNvPr id="96" name="Rectangle 1037"/>
                <p:cNvSpPr/>
                <p:nvPr/>
              </p:nvSpPr>
              <p:spPr>
                <a:xfrm>
                  <a:off x="1789" y="1554"/>
                  <a:ext cx="378" cy="633"/>
                </a:xfrm>
                <a:prstGeom prst="rect">
                  <a:avLst/>
                </a:prstGeom>
                <a:noFill/>
                <a:ln w="12700">
                  <a:noFill/>
                </a:ln>
              </p:spPr>
              <p:txBody>
                <a:bodyPr anchor="ctr" anchorCtr="0"/>
                <a:lstStyle/>
                <a:p>
                  <a:pPr algn="ctr"/>
                  <a:r>
                    <a:rPr lang="en-US" altLang="zh-CN" sz="2800" b="1" dirty="0" err="1">
                      <a:latin typeface="黑体" pitchFamily="49" charset="-122"/>
                      <a:ea typeface="黑体" pitchFamily="49" charset="-122"/>
                    </a:rPr>
                    <a:t>rr</a:t>
                  </a:r>
                  <a:endParaRPr lang="en-US" altLang="zh-CN" sz="2800" b="1" dirty="0">
                    <a:latin typeface="黑体" pitchFamily="49" charset="-122"/>
                    <a:ea typeface="黑体" pitchFamily="49" charset="-122"/>
                  </a:endParaRPr>
                </a:p>
                <a:p>
                  <a:pPr algn="ctr" eaLnBrk="0" hangingPunct="0"/>
                  <a:r>
                    <a:rPr lang="zh-CN" altLang="en-US" sz="2800" b="1" dirty="0">
                      <a:latin typeface="黑体" pitchFamily="49" charset="-122"/>
                      <a:ea typeface="黑体" pitchFamily="49" charset="-122"/>
                    </a:rPr>
                    <a:t>多角形</a:t>
                  </a:r>
                </a:p>
              </p:txBody>
            </p:sp>
            <p:sp>
              <p:nvSpPr>
                <p:cNvPr id="97" name="Rectangle 1064"/>
                <p:cNvSpPr/>
                <p:nvPr/>
              </p:nvSpPr>
              <p:spPr>
                <a:xfrm>
                  <a:off x="1746" y="1554"/>
                  <a:ext cx="464" cy="633"/>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78" name="Group 1067"/>
              <p:cNvGrpSpPr/>
              <p:nvPr/>
            </p:nvGrpSpPr>
            <p:grpSpPr>
              <a:xfrm>
                <a:off x="2210" y="1554"/>
                <a:ext cx="576" cy="633"/>
                <a:chOff x="2210" y="1554"/>
                <a:chExt cx="576" cy="633"/>
              </a:xfrm>
            </p:grpSpPr>
            <p:sp>
              <p:nvSpPr>
                <p:cNvPr id="94" name="Rectangle 1038"/>
                <p:cNvSpPr/>
                <p:nvPr/>
              </p:nvSpPr>
              <p:spPr>
                <a:xfrm>
                  <a:off x="2253" y="1554"/>
                  <a:ext cx="450" cy="633"/>
                </a:xfrm>
                <a:prstGeom prst="rect">
                  <a:avLst/>
                </a:prstGeom>
                <a:noFill/>
                <a:ln w="12700">
                  <a:noFill/>
                </a:ln>
              </p:spPr>
              <p:txBody>
                <a:bodyPr anchor="ctr" anchorCtr="0"/>
                <a:lstStyle/>
                <a:p>
                  <a:pPr algn="ctr"/>
                  <a:r>
                    <a:rPr lang="zh-CN" altLang="en-US" sz="2800" b="1" dirty="0">
                      <a:latin typeface="黑体" pitchFamily="49" charset="-122"/>
                      <a:ea typeface="黑体" pitchFamily="49" charset="-122"/>
                    </a:rPr>
                    <a:t> 不完全显性</a:t>
                  </a:r>
                </a:p>
              </p:txBody>
            </p:sp>
            <p:sp>
              <p:nvSpPr>
                <p:cNvPr id="95" name="Rectangle 1066"/>
                <p:cNvSpPr/>
                <p:nvPr/>
              </p:nvSpPr>
              <p:spPr>
                <a:xfrm>
                  <a:off x="2210" y="1554"/>
                  <a:ext cx="576" cy="633"/>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79" name="Group 1069"/>
              <p:cNvGrpSpPr/>
              <p:nvPr/>
            </p:nvGrpSpPr>
            <p:grpSpPr>
              <a:xfrm>
                <a:off x="0" y="2187"/>
                <a:ext cx="676" cy="231"/>
                <a:chOff x="0" y="2187"/>
                <a:chExt cx="676" cy="231"/>
              </a:xfrm>
            </p:grpSpPr>
            <p:sp>
              <p:nvSpPr>
                <p:cNvPr id="92" name="Rectangle 1039"/>
                <p:cNvSpPr/>
                <p:nvPr/>
              </p:nvSpPr>
              <p:spPr>
                <a:xfrm>
                  <a:off x="0" y="2187"/>
                  <a:ext cx="676" cy="231"/>
                </a:xfrm>
                <a:prstGeom prst="rect">
                  <a:avLst/>
                </a:prstGeom>
                <a:noFill/>
                <a:ln w="12700">
                  <a:noFill/>
                </a:ln>
              </p:spPr>
              <p:txBody>
                <a:bodyPr anchor="t" anchorCtr="0">
                  <a:spAutoFit/>
                </a:bodyPr>
                <a:lstStyle/>
                <a:p>
                  <a:pPr algn="ctr"/>
                  <a:endParaRPr lang="zh-CN" altLang="en-US" sz="2800" b="1" dirty="0">
                    <a:latin typeface="黑体" pitchFamily="49" charset="-122"/>
                    <a:ea typeface="黑体" pitchFamily="49" charset="-122"/>
                  </a:endParaRPr>
                </a:p>
              </p:txBody>
            </p:sp>
            <p:sp>
              <p:nvSpPr>
                <p:cNvPr id="93" name="Rectangle 1068"/>
                <p:cNvSpPr/>
                <p:nvPr/>
              </p:nvSpPr>
              <p:spPr>
                <a:xfrm>
                  <a:off x="0" y="2187"/>
                  <a:ext cx="676" cy="0"/>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80" name="Group 1071"/>
              <p:cNvGrpSpPr/>
              <p:nvPr/>
            </p:nvGrpSpPr>
            <p:grpSpPr>
              <a:xfrm>
                <a:off x="676" y="2187"/>
                <a:ext cx="504" cy="231"/>
                <a:chOff x="676" y="2187"/>
                <a:chExt cx="504" cy="231"/>
              </a:xfrm>
            </p:grpSpPr>
            <p:sp>
              <p:nvSpPr>
                <p:cNvPr id="90" name="Rectangle 1040"/>
                <p:cNvSpPr/>
                <p:nvPr/>
              </p:nvSpPr>
              <p:spPr>
                <a:xfrm>
                  <a:off x="676" y="2187"/>
                  <a:ext cx="504" cy="231"/>
                </a:xfrm>
                <a:prstGeom prst="rect">
                  <a:avLst/>
                </a:prstGeom>
                <a:noFill/>
                <a:ln w="12700">
                  <a:noFill/>
                </a:ln>
              </p:spPr>
              <p:txBody>
                <a:bodyPr anchor="t" anchorCtr="0">
                  <a:spAutoFit/>
                </a:bodyPr>
                <a:lstStyle/>
                <a:p>
                  <a:pPr algn="ctr"/>
                  <a:endParaRPr lang="zh-CN" altLang="en-US" sz="2800" b="1" dirty="0">
                    <a:latin typeface="黑体" pitchFamily="49" charset="-122"/>
                    <a:ea typeface="黑体" pitchFamily="49" charset="-122"/>
                  </a:endParaRPr>
                </a:p>
              </p:txBody>
            </p:sp>
            <p:sp>
              <p:nvSpPr>
                <p:cNvPr id="91" name="Rectangle 1070"/>
                <p:cNvSpPr/>
                <p:nvPr/>
              </p:nvSpPr>
              <p:spPr>
                <a:xfrm>
                  <a:off x="676" y="2187"/>
                  <a:ext cx="504" cy="0"/>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81" name="Group 1073"/>
              <p:cNvGrpSpPr/>
              <p:nvPr/>
            </p:nvGrpSpPr>
            <p:grpSpPr>
              <a:xfrm>
                <a:off x="1180" y="2187"/>
                <a:ext cx="566" cy="231"/>
                <a:chOff x="1180" y="2187"/>
                <a:chExt cx="566" cy="231"/>
              </a:xfrm>
            </p:grpSpPr>
            <p:sp>
              <p:nvSpPr>
                <p:cNvPr id="88" name="Rectangle 1041"/>
                <p:cNvSpPr/>
                <p:nvPr/>
              </p:nvSpPr>
              <p:spPr>
                <a:xfrm>
                  <a:off x="1180" y="2187"/>
                  <a:ext cx="566" cy="231"/>
                </a:xfrm>
                <a:prstGeom prst="rect">
                  <a:avLst/>
                </a:prstGeom>
                <a:noFill/>
                <a:ln w="12700">
                  <a:noFill/>
                </a:ln>
              </p:spPr>
              <p:txBody>
                <a:bodyPr anchor="t" anchorCtr="0">
                  <a:spAutoFit/>
                </a:bodyPr>
                <a:lstStyle/>
                <a:p>
                  <a:pPr algn="ctr"/>
                  <a:endParaRPr lang="zh-CN" altLang="en-US" sz="2800" b="1" dirty="0">
                    <a:latin typeface="黑体" pitchFamily="49" charset="-122"/>
                    <a:ea typeface="黑体" pitchFamily="49" charset="-122"/>
                  </a:endParaRPr>
                </a:p>
              </p:txBody>
            </p:sp>
            <p:sp>
              <p:nvSpPr>
                <p:cNvPr id="89" name="Rectangle 1072"/>
                <p:cNvSpPr/>
                <p:nvPr/>
              </p:nvSpPr>
              <p:spPr>
                <a:xfrm>
                  <a:off x="1180" y="2187"/>
                  <a:ext cx="566" cy="0"/>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82" name="Group 1075"/>
              <p:cNvGrpSpPr/>
              <p:nvPr/>
            </p:nvGrpSpPr>
            <p:grpSpPr>
              <a:xfrm>
                <a:off x="1746" y="2187"/>
                <a:ext cx="464" cy="231"/>
                <a:chOff x="1746" y="2187"/>
                <a:chExt cx="464" cy="231"/>
              </a:xfrm>
            </p:grpSpPr>
            <p:sp>
              <p:nvSpPr>
                <p:cNvPr id="86" name="Rectangle 1042"/>
                <p:cNvSpPr/>
                <p:nvPr/>
              </p:nvSpPr>
              <p:spPr>
                <a:xfrm>
                  <a:off x="1746" y="2187"/>
                  <a:ext cx="464" cy="231"/>
                </a:xfrm>
                <a:prstGeom prst="rect">
                  <a:avLst/>
                </a:prstGeom>
                <a:noFill/>
                <a:ln w="12700">
                  <a:noFill/>
                </a:ln>
              </p:spPr>
              <p:txBody>
                <a:bodyPr anchor="t" anchorCtr="0">
                  <a:spAutoFit/>
                </a:bodyPr>
                <a:lstStyle/>
                <a:p>
                  <a:pPr algn="ctr"/>
                  <a:endParaRPr lang="zh-CN" altLang="en-US" sz="2800" b="1" dirty="0">
                    <a:latin typeface="黑体" pitchFamily="49" charset="-122"/>
                    <a:ea typeface="黑体" pitchFamily="49" charset="-122"/>
                  </a:endParaRPr>
                </a:p>
              </p:txBody>
            </p:sp>
            <p:sp>
              <p:nvSpPr>
                <p:cNvPr id="87" name="Rectangle 1074"/>
                <p:cNvSpPr/>
                <p:nvPr/>
              </p:nvSpPr>
              <p:spPr>
                <a:xfrm>
                  <a:off x="1746" y="2187"/>
                  <a:ext cx="464" cy="0"/>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nvGrpSpPr>
              <p:cNvPr id="83" name="Group 1077"/>
              <p:cNvGrpSpPr/>
              <p:nvPr/>
            </p:nvGrpSpPr>
            <p:grpSpPr>
              <a:xfrm>
                <a:off x="2210" y="2187"/>
                <a:ext cx="576" cy="231"/>
                <a:chOff x="2210" y="2187"/>
                <a:chExt cx="576" cy="231"/>
              </a:xfrm>
            </p:grpSpPr>
            <p:sp>
              <p:nvSpPr>
                <p:cNvPr id="84" name="Rectangle 1043"/>
                <p:cNvSpPr/>
                <p:nvPr/>
              </p:nvSpPr>
              <p:spPr>
                <a:xfrm>
                  <a:off x="2210" y="2187"/>
                  <a:ext cx="576" cy="231"/>
                </a:xfrm>
                <a:prstGeom prst="rect">
                  <a:avLst/>
                </a:prstGeom>
                <a:noFill/>
                <a:ln w="12700">
                  <a:noFill/>
                </a:ln>
              </p:spPr>
              <p:txBody>
                <a:bodyPr anchor="t" anchorCtr="0">
                  <a:spAutoFit/>
                </a:bodyPr>
                <a:lstStyle/>
                <a:p>
                  <a:pPr algn="ctr"/>
                  <a:endParaRPr lang="zh-CN" altLang="en-US" sz="2800" b="1" dirty="0">
                    <a:latin typeface="黑体" pitchFamily="49" charset="-122"/>
                    <a:ea typeface="黑体" pitchFamily="49" charset="-122"/>
                  </a:endParaRPr>
                </a:p>
              </p:txBody>
            </p:sp>
            <p:sp>
              <p:nvSpPr>
                <p:cNvPr id="85" name="Rectangle 1076"/>
                <p:cNvSpPr/>
                <p:nvPr/>
              </p:nvSpPr>
              <p:spPr>
                <a:xfrm>
                  <a:off x="2210" y="2187"/>
                  <a:ext cx="576" cy="0"/>
                </a:xfrm>
                <a:prstGeom prst="rect">
                  <a:avLst/>
                </a:prstGeom>
                <a:noFill/>
                <a:ln w="7"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grpSp>
        <p:sp>
          <p:nvSpPr>
            <p:cNvPr id="66" name="Rectangle 1079"/>
            <p:cNvSpPr/>
            <p:nvPr/>
          </p:nvSpPr>
          <p:spPr>
            <a:xfrm>
              <a:off x="-3" y="515"/>
              <a:ext cx="2792" cy="1675"/>
            </a:xfrm>
            <a:prstGeom prst="rect">
              <a:avLst/>
            </a:prstGeom>
            <a:noFill/>
            <a:ln w="9525" cap="sq" cmpd="sng">
              <a:solidFill>
                <a:srgbClr val="A0A0A0"/>
              </a:solidFill>
              <a:prstDash val="solid"/>
              <a:miter/>
              <a:headEnd type="none" w="sm" len="sm"/>
              <a:tailEnd type="none" w="sm" len="sm"/>
            </a:ln>
          </p:spPr>
          <p:txBody>
            <a:bodyPr wrap="none" anchor="t" anchorCtr="0"/>
            <a:lstStyle/>
            <a:p>
              <a:pPr algn="ctr"/>
              <a:endParaRPr lang="zh-CN" altLang="en-US" sz="2800" b="1" dirty="0">
                <a:latin typeface="黑体" pitchFamily="49" charset="-122"/>
                <a:ea typeface="黑体" pitchFamily="49" charset="-122"/>
              </a:endParaRPr>
            </a:p>
          </p:txBody>
        </p:sp>
      </p:grpSp>
      <p:sp>
        <p:nvSpPr>
          <p:cNvPr id="4" name="矩形 3"/>
          <p:cNvSpPr/>
          <p:nvPr/>
        </p:nvSpPr>
        <p:spPr>
          <a:xfrm>
            <a:off x="3635462" y="6297719"/>
            <a:ext cx="777777" cy="584775"/>
          </a:xfrm>
          <a:prstGeom prst="rect">
            <a:avLst/>
          </a:prstGeom>
        </p:spPr>
        <p:txBody>
          <a:bodyPr wrap="none">
            <a:spAutoFit/>
          </a:bodyPr>
          <a:lstStyle/>
          <a:p>
            <a:r>
              <a:rPr lang="en-US" altLang="zh-CN" sz="3200" b="1" dirty="0">
                <a:solidFill>
                  <a:srgbClr val="FF0000"/>
                </a:solidFill>
                <a:latin typeface="Times New Roman" pitchFamily="18" charset="0"/>
                <a:cs typeface="Times New Roman" pitchFamily="18" charset="0"/>
              </a:rPr>
              <a:t>RR</a:t>
            </a:r>
            <a:endParaRPr lang="zh-CN" altLang="en-US" sz="3200" b="1" dirty="0">
              <a:solidFill>
                <a:srgbClr val="FF0000"/>
              </a:solidFill>
              <a:latin typeface="Times New Roman" pitchFamily="18" charset="0"/>
              <a:cs typeface="Times New Roman" pitchFamily="18" charset="0"/>
            </a:endParaRPr>
          </a:p>
        </p:txBody>
      </p:sp>
      <p:sp>
        <p:nvSpPr>
          <p:cNvPr id="6" name="矩形 5"/>
          <p:cNvSpPr/>
          <p:nvPr/>
        </p:nvSpPr>
        <p:spPr>
          <a:xfrm>
            <a:off x="5859695" y="6247479"/>
            <a:ext cx="550151" cy="584775"/>
          </a:xfrm>
          <a:prstGeom prst="rect">
            <a:avLst/>
          </a:prstGeom>
        </p:spPr>
        <p:txBody>
          <a:bodyPr wrap="none">
            <a:spAutoFit/>
          </a:bodyPr>
          <a:lstStyle/>
          <a:p>
            <a:r>
              <a:rPr lang="en-US" altLang="zh-CN" sz="3200" b="1" dirty="0" err="1">
                <a:solidFill>
                  <a:srgbClr val="FF0000"/>
                </a:solidFill>
                <a:latin typeface="Times New Roman" pitchFamily="18" charset="0"/>
                <a:cs typeface="Times New Roman" pitchFamily="18" charset="0"/>
              </a:rPr>
              <a:t>rr</a:t>
            </a:r>
            <a:endParaRPr lang="zh-CN" altLang="en-US" sz="3200" b="1" dirty="0">
              <a:solidFill>
                <a:srgbClr val="FF0000"/>
              </a:solidFill>
              <a:latin typeface="Times New Roman" pitchFamily="18" charset="0"/>
              <a:cs typeface="Times New Roman" pitchFamily="18" charset="0"/>
            </a:endParaRPr>
          </a:p>
        </p:txBody>
      </p:sp>
      <p:sp>
        <p:nvSpPr>
          <p:cNvPr id="118" name="矩形 117"/>
          <p:cNvSpPr/>
          <p:nvPr/>
        </p:nvSpPr>
        <p:spPr>
          <a:xfrm>
            <a:off x="7942822" y="6297719"/>
            <a:ext cx="663964" cy="584775"/>
          </a:xfrm>
          <a:prstGeom prst="rect">
            <a:avLst/>
          </a:prstGeom>
        </p:spPr>
        <p:txBody>
          <a:bodyPr wrap="none">
            <a:spAutoFit/>
          </a:bodyPr>
          <a:lstStyle/>
          <a:p>
            <a:r>
              <a:rPr lang="en-US" altLang="zh-CN" sz="3200" b="1" dirty="0" err="1">
                <a:solidFill>
                  <a:srgbClr val="FF0000"/>
                </a:solidFill>
                <a:latin typeface="Times New Roman" pitchFamily="18" charset="0"/>
                <a:cs typeface="Times New Roman" pitchFamily="18" charset="0"/>
              </a:rPr>
              <a:t>Rr</a:t>
            </a:r>
            <a:endParaRPr lang="zh-CN" altLang="en-US" sz="32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52773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4"/>
                                        </p:tgtEl>
                                        <p:attrNameLst>
                                          <p:attrName>style.visibility</p:attrName>
                                        </p:attrNameLst>
                                      </p:cBhvr>
                                      <p:to>
                                        <p:strVal val="visible"/>
                                      </p:to>
                                    </p:set>
                                    <p:animEffect transition="in" filter="fade">
                                      <p:cBhvr>
                                        <p:cTn id="13" dur="500"/>
                                        <p:tgtEl>
                                          <p:spTgt spid="6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8"/>
                                        </p:tgtEl>
                                        <p:attrNameLst>
                                          <p:attrName>style.visibility</p:attrName>
                                        </p:attrNameLst>
                                      </p:cBhvr>
                                      <p:to>
                                        <p:strVal val="visible"/>
                                      </p:to>
                                    </p:set>
                                    <p:animEffect transition="in" filter="fade">
                                      <p:cBhvr>
                                        <p:cTn id="22"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1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3B05142-68B2-497A-AB60-BC81ACF48921}"/>
              </a:ext>
            </a:extLst>
          </p:cNvPr>
          <p:cNvSpPr>
            <a:spLocks noGrp="1"/>
          </p:cNvSpPr>
          <p:nvPr>
            <p:ph idx="4294967295"/>
          </p:nvPr>
        </p:nvSpPr>
        <p:spPr>
          <a:xfrm>
            <a:off x="214984" y="0"/>
            <a:ext cx="11337925" cy="471324"/>
          </a:xfrm>
        </p:spPr>
        <p:txBody>
          <a:bodyPr vert="horz" lIns="91440" tIns="45720" rIns="91440" bIns="45720" rtlCol="0">
            <a:noAutofit/>
          </a:bodyPr>
          <a:lstStyle/>
          <a:p>
            <a:pPr marL="0" lvl="1" indent="0">
              <a:lnSpc>
                <a:spcPct val="100000"/>
              </a:lnSpc>
              <a:spcBef>
                <a:spcPts val="0"/>
              </a:spcBef>
              <a:buNone/>
            </a:pPr>
            <a:r>
              <a:rPr lang="zh-CN" altLang="en-US" sz="2800" b="1" dirty="0">
                <a:solidFill>
                  <a:srgbClr val="FF0000"/>
                </a:solidFill>
                <a:latin typeface="黑体" pitchFamily="49" charset="-122"/>
                <a:ea typeface="黑体" pitchFamily="49" charset="-122"/>
              </a:rPr>
              <a:t>案例</a:t>
            </a:r>
            <a:r>
              <a:rPr lang="en-US" altLang="zh-CN" sz="2800" b="1" dirty="0">
                <a:solidFill>
                  <a:srgbClr val="FF0000"/>
                </a:solidFill>
                <a:latin typeface="黑体" pitchFamily="49" charset="-122"/>
                <a:ea typeface="黑体" pitchFamily="49" charset="-122"/>
              </a:rPr>
              <a:t>2</a:t>
            </a:r>
            <a:r>
              <a:rPr lang="zh-CN" altLang="en-US" sz="2800" b="1" dirty="0">
                <a:solidFill>
                  <a:srgbClr val="FF0000"/>
                </a:solidFill>
                <a:latin typeface="黑体" pitchFamily="49" charset="-122"/>
                <a:ea typeface="黑体" pitchFamily="49" charset="-122"/>
              </a:rPr>
              <a:t>：镰状细胞贫血（</a:t>
            </a:r>
            <a:r>
              <a:rPr lang="en-US" altLang="zh-CN" sz="2800" b="1" dirty="0">
                <a:solidFill>
                  <a:srgbClr val="FF0000"/>
                </a:solidFill>
                <a:latin typeface="黑体" pitchFamily="49" charset="-122"/>
                <a:ea typeface="黑体" pitchFamily="49" charset="-122"/>
              </a:rPr>
              <a:t>sickle cell anemia</a:t>
            </a:r>
            <a:r>
              <a:rPr lang="zh-CN" altLang="en-US" sz="2800" b="1" dirty="0">
                <a:solidFill>
                  <a:srgbClr val="FF0000"/>
                </a:solidFill>
                <a:latin typeface="黑体" pitchFamily="49" charset="-122"/>
                <a:ea typeface="黑体" pitchFamily="49" charset="-122"/>
              </a:rPr>
              <a:t>）</a:t>
            </a:r>
          </a:p>
        </p:txBody>
      </p:sp>
      <p:pic>
        <p:nvPicPr>
          <p:cNvPr id="7" name="图片 6">
            <a:extLst>
              <a:ext uri="{FF2B5EF4-FFF2-40B4-BE49-F238E27FC236}">
                <a16:creationId xmlns:a16="http://schemas.microsoft.com/office/drawing/2014/main" id="{97C2A7A8-EDAD-4CB1-A463-64F54D8F64D2}"/>
              </a:ext>
            </a:extLst>
          </p:cNvPr>
          <p:cNvPicPr>
            <a:picLocks noChangeAspect="1"/>
          </p:cNvPicPr>
          <p:nvPr/>
        </p:nvPicPr>
        <p:blipFill rotWithShape="1">
          <a:blip r:embed="rId3"/>
          <a:srcRect l="3618" t="8314" r="732"/>
          <a:stretch/>
        </p:blipFill>
        <p:spPr>
          <a:xfrm>
            <a:off x="423555" y="3429000"/>
            <a:ext cx="11696699" cy="2768317"/>
          </a:xfrm>
          <a:prstGeom prst="rect">
            <a:avLst/>
          </a:prstGeom>
        </p:spPr>
      </p:pic>
      <p:pic>
        <p:nvPicPr>
          <p:cNvPr id="6" name="图片 5">
            <a:extLst>
              <a:ext uri="{FF2B5EF4-FFF2-40B4-BE49-F238E27FC236}">
                <a16:creationId xmlns:a16="http://schemas.microsoft.com/office/drawing/2014/main" id="{09AA4EA0-37E4-4383-A1FE-94BAF02805C7}"/>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b="13705"/>
          <a:stretch/>
        </p:blipFill>
        <p:spPr>
          <a:xfrm>
            <a:off x="253017" y="677308"/>
            <a:ext cx="7510672" cy="1776952"/>
          </a:xfrm>
          <a:prstGeom prst="rect">
            <a:avLst/>
          </a:prstGeom>
        </p:spPr>
      </p:pic>
      <p:sp>
        <p:nvSpPr>
          <p:cNvPr id="9" name="文本框 8">
            <a:extLst>
              <a:ext uri="{FF2B5EF4-FFF2-40B4-BE49-F238E27FC236}">
                <a16:creationId xmlns:a16="http://schemas.microsoft.com/office/drawing/2014/main" id="{4E65EAA1-D9D1-41A2-A025-E9FB32C44302}"/>
              </a:ext>
            </a:extLst>
          </p:cNvPr>
          <p:cNvSpPr txBox="1"/>
          <p:nvPr/>
        </p:nvSpPr>
        <p:spPr>
          <a:xfrm>
            <a:off x="8104305" y="1186456"/>
            <a:ext cx="1986699" cy="461665"/>
          </a:xfrm>
          <a:prstGeom prst="rect">
            <a:avLst/>
          </a:prstGeom>
          <a:noFill/>
        </p:spPr>
        <p:txBody>
          <a:bodyPr wrap="square">
            <a:spAutoFit/>
          </a:bodyPr>
          <a:lstStyle>
            <a:defPPr>
              <a:defRPr lang="zh-CN"/>
            </a:defPPr>
            <a:lvl1pPr algn="ctr">
              <a:defRPr sz="1400">
                <a:solidFill>
                  <a:srgbClr val="3A5991"/>
                </a:solidFill>
                <a:latin typeface="微软雅黑" panose="020B0503020204020204" pitchFamily="34" charset="-122"/>
                <a:ea typeface="微软雅黑" panose="020B0503020204020204" pitchFamily="34" charset="-122"/>
              </a:defRPr>
            </a:lvl1pPr>
          </a:lstStyle>
          <a:p>
            <a:r>
              <a:rPr lang="zh-CN" altLang="en-US" sz="2400" b="1" dirty="0">
                <a:solidFill>
                  <a:schemeClr val="tx1"/>
                </a:solidFill>
                <a:latin typeface="黑体" pitchFamily="49" charset="-122"/>
                <a:ea typeface="黑体" pitchFamily="49" charset="-122"/>
              </a:rPr>
              <a:t>人的红细胞</a:t>
            </a:r>
          </a:p>
        </p:txBody>
      </p:sp>
      <p:sp>
        <p:nvSpPr>
          <p:cNvPr id="10" name="Rectangle 47"/>
          <p:cNvSpPr/>
          <p:nvPr/>
        </p:nvSpPr>
        <p:spPr>
          <a:xfrm>
            <a:off x="586790" y="2414697"/>
            <a:ext cx="1788109" cy="471363"/>
          </a:xfrm>
          <a:prstGeom prst="rect">
            <a:avLst/>
          </a:prstGeom>
          <a:noFill/>
          <a:ln w="12700">
            <a:noFill/>
          </a:ln>
        </p:spPr>
        <p:txBody>
          <a:bodyPr anchor="ctr" anchorCtr="0"/>
          <a:lstStyle/>
          <a:p>
            <a:pPr algn="ctr"/>
            <a:r>
              <a:rPr lang="en-US" altLang="zh-CN" sz="2400" b="1" dirty="0">
                <a:solidFill>
                  <a:srgbClr val="FF0000"/>
                </a:solidFill>
                <a:latin typeface="Times New Roman" pitchFamily="18" charset="0"/>
                <a:ea typeface="黑体" panose="02010609060101010101" pitchFamily="49" charset="-122"/>
                <a:cs typeface="Times New Roman" pitchFamily="18" charset="0"/>
              </a:rPr>
              <a:t>HBB</a:t>
            </a:r>
            <a:r>
              <a:rPr lang="en-US" altLang="zh-CN" sz="2400" b="1" baseline="30000" dirty="0">
                <a:solidFill>
                  <a:srgbClr val="0000FF"/>
                </a:solidFill>
                <a:latin typeface="Times New Roman" pitchFamily="18" charset="0"/>
                <a:ea typeface="黑体" panose="02010609060101010101" pitchFamily="49" charset="-122"/>
                <a:cs typeface="Times New Roman" pitchFamily="18" charset="0"/>
              </a:rPr>
              <a:t>A</a:t>
            </a:r>
            <a:r>
              <a:rPr lang="en-US" altLang="zh-CN" sz="2400" b="1" dirty="0">
                <a:solidFill>
                  <a:srgbClr val="FF0000"/>
                </a:solidFill>
                <a:latin typeface="Times New Roman" pitchFamily="18" charset="0"/>
                <a:ea typeface="黑体" panose="02010609060101010101" pitchFamily="49" charset="-122"/>
                <a:cs typeface="Times New Roman" pitchFamily="18" charset="0"/>
              </a:rPr>
              <a:t>HBB</a:t>
            </a:r>
            <a:r>
              <a:rPr lang="en-US" altLang="zh-CN" sz="2400" b="1" baseline="30000" dirty="0">
                <a:solidFill>
                  <a:srgbClr val="0000FF"/>
                </a:solidFill>
                <a:latin typeface="Times New Roman" pitchFamily="18" charset="0"/>
                <a:ea typeface="黑体" panose="02010609060101010101" pitchFamily="49" charset="-122"/>
                <a:cs typeface="Times New Roman" pitchFamily="18" charset="0"/>
              </a:rPr>
              <a:t>A</a:t>
            </a:r>
            <a:endParaRPr lang="en-US" altLang="zh-CN" sz="2400" b="1" dirty="0">
              <a:solidFill>
                <a:srgbClr val="0000FF"/>
              </a:solidFill>
              <a:latin typeface="Times New Roman" pitchFamily="18" charset="0"/>
              <a:ea typeface="黑体" panose="02010609060101010101" pitchFamily="49" charset="-122"/>
              <a:cs typeface="Times New Roman" pitchFamily="18" charset="0"/>
            </a:endParaRPr>
          </a:p>
        </p:txBody>
      </p:sp>
      <p:sp>
        <p:nvSpPr>
          <p:cNvPr id="12" name="Rectangle 47"/>
          <p:cNvSpPr/>
          <p:nvPr/>
        </p:nvSpPr>
        <p:spPr>
          <a:xfrm>
            <a:off x="3113205" y="2416160"/>
            <a:ext cx="1788109" cy="471363"/>
          </a:xfrm>
          <a:prstGeom prst="rect">
            <a:avLst/>
          </a:prstGeom>
          <a:noFill/>
          <a:ln w="12700">
            <a:noFill/>
          </a:ln>
        </p:spPr>
        <p:txBody>
          <a:bodyPr anchor="ctr" anchorCtr="0"/>
          <a:lstStyle/>
          <a:p>
            <a:pPr algn="ctr"/>
            <a:r>
              <a:rPr lang="en-US" altLang="zh-CN" sz="2400" b="1" dirty="0">
                <a:solidFill>
                  <a:srgbClr val="FF0000"/>
                </a:solidFill>
                <a:latin typeface="Times New Roman" pitchFamily="18" charset="0"/>
                <a:ea typeface="黑体" panose="02010609060101010101" pitchFamily="49" charset="-122"/>
                <a:cs typeface="Times New Roman" pitchFamily="18" charset="0"/>
              </a:rPr>
              <a:t>HBB</a:t>
            </a:r>
            <a:r>
              <a:rPr lang="en-US" altLang="zh-CN" sz="2400" b="1" baseline="30000" dirty="0">
                <a:solidFill>
                  <a:srgbClr val="0000FF"/>
                </a:solidFill>
                <a:latin typeface="Times New Roman" pitchFamily="18" charset="0"/>
                <a:ea typeface="黑体" panose="02010609060101010101" pitchFamily="49" charset="-122"/>
                <a:cs typeface="Times New Roman" pitchFamily="18" charset="0"/>
              </a:rPr>
              <a:t>A</a:t>
            </a:r>
            <a:r>
              <a:rPr lang="en-US" altLang="zh-CN" sz="2400" b="1" dirty="0">
                <a:solidFill>
                  <a:srgbClr val="FF0000"/>
                </a:solidFill>
                <a:latin typeface="Times New Roman" pitchFamily="18" charset="0"/>
                <a:ea typeface="黑体" panose="02010609060101010101" pitchFamily="49" charset="-122"/>
                <a:cs typeface="Times New Roman" pitchFamily="18" charset="0"/>
              </a:rPr>
              <a:t>HBB</a:t>
            </a:r>
            <a:r>
              <a:rPr lang="en-US" altLang="zh-CN" sz="2400" b="1" baseline="30000" dirty="0">
                <a:solidFill>
                  <a:srgbClr val="0000FF"/>
                </a:solidFill>
                <a:latin typeface="Times New Roman" pitchFamily="18" charset="0"/>
                <a:ea typeface="黑体" panose="02010609060101010101" pitchFamily="49" charset="-122"/>
                <a:cs typeface="Times New Roman" pitchFamily="18" charset="0"/>
              </a:rPr>
              <a:t>S</a:t>
            </a:r>
            <a:endParaRPr lang="en-US" altLang="zh-CN" sz="2400" b="1" dirty="0">
              <a:solidFill>
                <a:srgbClr val="0000FF"/>
              </a:solidFill>
              <a:latin typeface="Times New Roman" pitchFamily="18" charset="0"/>
              <a:ea typeface="黑体" panose="02010609060101010101" pitchFamily="49" charset="-122"/>
              <a:cs typeface="Times New Roman" pitchFamily="18" charset="0"/>
            </a:endParaRPr>
          </a:p>
        </p:txBody>
      </p:sp>
      <p:sp>
        <p:nvSpPr>
          <p:cNvPr id="13" name="Rectangle 47"/>
          <p:cNvSpPr/>
          <p:nvPr/>
        </p:nvSpPr>
        <p:spPr>
          <a:xfrm>
            <a:off x="5704005" y="2403460"/>
            <a:ext cx="1788109" cy="471363"/>
          </a:xfrm>
          <a:prstGeom prst="rect">
            <a:avLst/>
          </a:prstGeom>
          <a:noFill/>
          <a:ln w="12700">
            <a:noFill/>
          </a:ln>
        </p:spPr>
        <p:txBody>
          <a:bodyPr anchor="ctr" anchorCtr="0"/>
          <a:lstStyle/>
          <a:p>
            <a:pPr algn="ctr"/>
            <a:r>
              <a:rPr lang="en-US" altLang="zh-CN" sz="2400" b="1" dirty="0">
                <a:solidFill>
                  <a:srgbClr val="FF0000"/>
                </a:solidFill>
                <a:latin typeface="Times New Roman" pitchFamily="18" charset="0"/>
                <a:ea typeface="黑体" panose="02010609060101010101" pitchFamily="49" charset="-122"/>
                <a:cs typeface="Times New Roman" pitchFamily="18" charset="0"/>
              </a:rPr>
              <a:t>HBB</a:t>
            </a:r>
            <a:r>
              <a:rPr lang="en-US" altLang="zh-CN" sz="2400" b="1" baseline="30000" dirty="0">
                <a:solidFill>
                  <a:srgbClr val="0000FF"/>
                </a:solidFill>
                <a:latin typeface="Times New Roman" pitchFamily="18" charset="0"/>
                <a:ea typeface="黑体" panose="02010609060101010101" pitchFamily="49" charset="-122"/>
                <a:cs typeface="Times New Roman" pitchFamily="18" charset="0"/>
              </a:rPr>
              <a:t>S</a:t>
            </a:r>
            <a:r>
              <a:rPr lang="en-US" altLang="zh-CN" sz="2400" b="1" dirty="0">
                <a:solidFill>
                  <a:srgbClr val="FF0000"/>
                </a:solidFill>
                <a:latin typeface="Times New Roman" pitchFamily="18" charset="0"/>
                <a:ea typeface="黑体" panose="02010609060101010101" pitchFamily="49" charset="-122"/>
                <a:cs typeface="Times New Roman" pitchFamily="18" charset="0"/>
              </a:rPr>
              <a:t>HBB</a:t>
            </a:r>
            <a:r>
              <a:rPr lang="en-US" altLang="zh-CN" sz="2400" b="1" baseline="30000" dirty="0">
                <a:solidFill>
                  <a:srgbClr val="0000FF"/>
                </a:solidFill>
                <a:latin typeface="Times New Roman" pitchFamily="18" charset="0"/>
                <a:ea typeface="黑体" panose="02010609060101010101" pitchFamily="49" charset="-122"/>
                <a:cs typeface="Times New Roman" pitchFamily="18" charset="0"/>
              </a:rPr>
              <a:t>S</a:t>
            </a:r>
            <a:endParaRPr lang="en-US" altLang="zh-CN" sz="2400" b="1" dirty="0">
              <a:solidFill>
                <a:srgbClr val="0000FF"/>
              </a:solidFill>
              <a:latin typeface="Times New Roman" pitchFamily="18" charset="0"/>
              <a:ea typeface="黑体" panose="02010609060101010101" pitchFamily="49" charset="-122"/>
              <a:cs typeface="Times New Roman" pitchFamily="18" charset="0"/>
            </a:endParaRPr>
          </a:p>
        </p:txBody>
      </p:sp>
    </p:spTree>
    <p:extLst>
      <p:ext uri="{BB962C8B-B14F-4D97-AF65-F5344CB8AC3E}">
        <p14:creationId xmlns:p14="http://schemas.microsoft.com/office/powerpoint/2010/main" val="1455967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FB4F9D-FD0E-4438-B6D0-013EFDBF6DBC}"/>
              </a:ext>
            </a:extLst>
          </p:cNvPr>
          <p:cNvSpPr>
            <a:spLocks noGrp="1"/>
          </p:cNvSpPr>
          <p:nvPr>
            <p:ph type="title"/>
          </p:nvPr>
        </p:nvSpPr>
        <p:spPr>
          <a:xfrm>
            <a:off x="-152400" y="266700"/>
            <a:ext cx="10515600" cy="676275"/>
          </a:xfrm>
        </p:spPr>
        <p:txBody>
          <a:bodyPr vert="horz" lIns="91440" tIns="45720" rIns="91440" bIns="45720" rtlCol="0" anchor="ctr">
            <a:noAutofit/>
          </a:bodyPr>
          <a:lstStyle/>
          <a:p>
            <a:r>
              <a:rPr lang="zh-CN" altLang="en-US" sz="3600" b="1" dirty="0">
                <a:solidFill>
                  <a:srgbClr val="0000FF"/>
                </a:solidFill>
                <a:latin typeface="黑体" panose="02010600030101010101" pitchFamily="49" charset="-122"/>
                <a:ea typeface="黑体" panose="02010600030101010101" pitchFamily="49" charset="-122"/>
              </a:rPr>
              <a:t>（</a:t>
            </a:r>
            <a:r>
              <a:rPr lang="en-US" altLang="zh-CN" sz="3600" b="1" dirty="0">
                <a:solidFill>
                  <a:srgbClr val="0000FF"/>
                </a:solidFill>
                <a:latin typeface="黑体" panose="02010600030101010101" pitchFamily="49" charset="-122"/>
                <a:ea typeface="黑体" panose="02010600030101010101" pitchFamily="49" charset="-122"/>
              </a:rPr>
              <a:t>6</a:t>
            </a:r>
            <a:r>
              <a:rPr lang="zh-CN" altLang="en-US" sz="3600" b="1">
                <a:solidFill>
                  <a:srgbClr val="0000FF"/>
                </a:solidFill>
                <a:latin typeface="黑体" panose="02010600030101010101" pitchFamily="49" charset="-122"/>
                <a:ea typeface="黑体" panose="02010600030101010101" pitchFamily="49" charset="-122"/>
              </a:rPr>
              <a:t>）显隐性</a:t>
            </a:r>
            <a:r>
              <a:rPr lang="zh-CN" altLang="en-US" sz="3600" b="1" dirty="0">
                <a:solidFill>
                  <a:srgbClr val="0000FF"/>
                </a:solidFill>
                <a:latin typeface="黑体" panose="02010600030101010101" pitchFamily="49" charset="-122"/>
                <a:ea typeface="黑体" panose="02010600030101010101" pitchFamily="49" charset="-122"/>
              </a:rPr>
              <a:t>与环境的影响</a:t>
            </a:r>
          </a:p>
        </p:txBody>
      </p:sp>
      <p:sp>
        <p:nvSpPr>
          <p:cNvPr id="3" name="内容占位符 2">
            <a:extLst>
              <a:ext uri="{FF2B5EF4-FFF2-40B4-BE49-F238E27FC236}">
                <a16:creationId xmlns:a16="http://schemas.microsoft.com/office/drawing/2014/main" id="{4E59ED0B-07F7-4B35-BF82-53058B2133A4}"/>
              </a:ext>
            </a:extLst>
          </p:cNvPr>
          <p:cNvSpPr>
            <a:spLocks noGrp="1"/>
          </p:cNvSpPr>
          <p:nvPr>
            <p:ph idx="4294967295"/>
          </p:nvPr>
        </p:nvSpPr>
        <p:spPr>
          <a:xfrm>
            <a:off x="1009162" y="866775"/>
            <a:ext cx="10909300" cy="1912426"/>
          </a:xfrm>
        </p:spPr>
        <p:txBody>
          <a:bodyPr vert="horz" lIns="91440" tIns="45720" rIns="91440" bIns="45720" rtlCol="0" anchor="ctr">
            <a:noAutofit/>
          </a:bodyPr>
          <a:lstStyle/>
          <a:p>
            <a:pPr marL="0" lvl="1" indent="0">
              <a:lnSpc>
                <a:spcPct val="100000"/>
              </a:lnSpc>
              <a:spcBef>
                <a:spcPts val="0"/>
              </a:spcBef>
              <a:buNone/>
            </a:pPr>
            <a:r>
              <a:rPr lang="zh-CN" altLang="en-US" sz="3200" b="1" dirty="0">
                <a:solidFill>
                  <a:srgbClr val="0000FF"/>
                </a:solidFill>
                <a:latin typeface="黑体" pitchFamily="49" charset="-122"/>
                <a:ea typeface="黑体" pitchFamily="49" charset="-122"/>
              </a:rPr>
              <a:t>在某些情况下，即使所依据的标准固定，显隐性关系也不是恒定不变的。</a:t>
            </a:r>
            <a:r>
              <a:rPr lang="zh-CN" altLang="en-US" sz="3200" b="1" dirty="0">
                <a:latin typeface="黑体" pitchFamily="49" charset="-122"/>
                <a:ea typeface="黑体" pitchFamily="49" charset="-122"/>
              </a:rPr>
              <a:t>显隐性关系可以受环境的影响，或为其他生理因素，如年龄、性别、营养、健康状况等所</a:t>
            </a:r>
            <a:r>
              <a:rPr lang="zh-CN" altLang="en-US" sz="3200" b="1">
                <a:latin typeface="黑体" pitchFamily="49" charset="-122"/>
                <a:ea typeface="黑体" pitchFamily="49" charset="-122"/>
              </a:rPr>
              <a:t>左右。</a:t>
            </a:r>
            <a:endParaRPr lang="en-US" altLang="zh-CN" sz="3200" b="1" dirty="0">
              <a:latin typeface="黑体" pitchFamily="49" charset="-122"/>
              <a:ea typeface="黑体" pitchFamily="49" charset="-122"/>
            </a:endParaRPr>
          </a:p>
        </p:txBody>
      </p:sp>
      <p:sp>
        <p:nvSpPr>
          <p:cNvPr id="4" name="灯片编号占位符 2">
            <a:extLst>
              <a:ext uri="{FF2B5EF4-FFF2-40B4-BE49-F238E27FC236}">
                <a16:creationId xmlns:a16="http://schemas.microsoft.com/office/drawing/2014/main" id="{E1352C23-F7DA-4E28-8A13-F5402401B54D}"/>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11</a:t>
            </a:fld>
            <a:endParaRPr lang="zh-CN" altLang="en-US" dirty="0"/>
          </a:p>
        </p:txBody>
      </p:sp>
    </p:spTree>
    <p:extLst>
      <p:ext uri="{BB962C8B-B14F-4D97-AF65-F5344CB8AC3E}">
        <p14:creationId xmlns:p14="http://schemas.microsoft.com/office/powerpoint/2010/main" val="4765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3"/>
          <p:cNvSpPr>
            <a:spLocks noGrp="1"/>
          </p:cNvSpPr>
          <p:nvPr>
            <p:ph idx="1"/>
          </p:nvPr>
        </p:nvSpPr>
        <p:spPr>
          <a:xfrm>
            <a:off x="279022" y="2093788"/>
            <a:ext cx="11691305" cy="1159626"/>
          </a:xfrm>
        </p:spPr>
        <p:txBody>
          <a:bodyPr vert="horz" lIns="91440" tIns="45720" rIns="91440" bIns="45720" rtlCol="0">
            <a:normAutofit/>
          </a:bodyPr>
          <a:lstStyle/>
          <a:p>
            <a:pPr marL="0" indent="0">
              <a:lnSpc>
                <a:spcPct val="100000"/>
              </a:lnSpc>
              <a:spcBef>
                <a:spcPts val="0"/>
              </a:spcBef>
              <a:buNone/>
            </a:pPr>
            <a:r>
              <a:rPr lang="zh-CN" altLang="en-US" b="1" dirty="0">
                <a:latin typeface="黑体" pitchFamily="49" charset="-122"/>
                <a:ea typeface="黑体" pitchFamily="49" charset="-122"/>
              </a:rPr>
              <a:t>    基因型是性状发育的</a:t>
            </a:r>
            <a:r>
              <a:rPr lang="zh-CN" altLang="en-US" b="1" dirty="0">
                <a:solidFill>
                  <a:srgbClr val="FF0000"/>
                </a:solidFill>
                <a:latin typeface="黑体" pitchFamily="49" charset="-122"/>
                <a:ea typeface="黑体" pitchFamily="49" charset="-122"/>
              </a:rPr>
              <a:t>内因</a:t>
            </a:r>
            <a:r>
              <a:rPr lang="zh-CN" altLang="en-US" b="1" dirty="0">
                <a:latin typeface="黑体" pitchFamily="49" charset="-122"/>
                <a:ea typeface="黑体" pitchFamily="49" charset="-122"/>
              </a:rPr>
              <a:t>，环境条件是性状发育的</a:t>
            </a:r>
            <a:r>
              <a:rPr lang="zh-CN" altLang="en-US" b="1" dirty="0">
                <a:solidFill>
                  <a:srgbClr val="FF0000"/>
                </a:solidFill>
                <a:latin typeface="黑体" pitchFamily="49" charset="-122"/>
                <a:ea typeface="黑体" pitchFamily="49" charset="-122"/>
              </a:rPr>
              <a:t>外因</a:t>
            </a:r>
            <a:r>
              <a:rPr lang="zh-CN" altLang="en-US" b="1" dirty="0">
                <a:latin typeface="黑体" pitchFamily="49" charset="-122"/>
                <a:ea typeface="黑体" pitchFamily="49" charset="-122"/>
              </a:rPr>
              <a:t>，表型是性状发育的</a:t>
            </a:r>
            <a:r>
              <a:rPr lang="zh-CN" altLang="en-US" b="1" dirty="0">
                <a:solidFill>
                  <a:srgbClr val="FF0000"/>
                </a:solidFill>
                <a:latin typeface="黑体" pitchFamily="49" charset="-122"/>
                <a:ea typeface="黑体" pitchFamily="49" charset="-122"/>
              </a:rPr>
              <a:t>现实</a:t>
            </a:r>
            <a:r>
              <a:rPr lang="zh-CN" altLang="en-US" b="1" dirty="0">
                <a:latin typeface="黑体" pitchFamily="49" charset="-122"/>
                <a:ea typeface="黑体" pitchFamily="49" charset="-122"/>
              </a:rPr>
              <a:t>，是基因型和环境相互作用的结果。</a:t>
            </a:r>
          </a:p>
        </p:txBody>
      </p:sp>
      <p:sp>
        <p:nvSpPr>
          <p:cNvPr id="3" name="矩形 2"/>
          <p:cNvSpPr/>
          <p:nvPr/>
        </p:nvSpPr>
        <p:spPr>
          <a:xfrm>
            <a:off x="-30348" y="1008222"/>
            <a:ext cx="9280614" cy="720823"/>
          </a:xfrm>
          <a:prstGeom prst="rect">
            <a:avLst/>
          </a:prstGeom>
        </p:spPr>
        <p:txBody>
          <a:bodyPr vert="horz" lIns="91440" tIns="45720" rIns="91440" bIns="45720" rtlCol="0" anchor="ctr">
            <a:noAutofit/>
          </a:bodyPr>
          <a:lstStyle/>
          <a:p>
            <a:pPr>
              <a:lnSpc>
                <a:spcPct val="90000"/>
              </a:lnSpc>
              <a:spcBef>
                <a:spcPct val="0"/>
              </a:spcBef>
            </a:pPr>
            <a:r>
              <a:rPr lang="zh-CN" altLang="en-US" sz="3600" b="1" dirty="0">
                <a:solidFill>
                  <a:srgbClr val="0000FF"/>
                </a:solidFill>
                <a:latin typeface="黑体" panose="02010600030101010101" pitchFamily="49" charset="-122"/>
                <a:ea typeface="黑体" panose="02010600030101010101" pitchFamily="49" charset="-122"/>
                <a:cs typeface="+mj-cs"/>
              </a:rPr>
              <a:t>（一）环境与基因作用的关系：</a:t>
            </a:r>
          </a:p>
        </p:txBody>
      </p:sp>
      <p:sp>
        <p:nvSpPr>
          <p:cNvPr id="4" name="矩形 3"/>
          <p:cNvSpPr/>
          <p:nvPr/>
        </p:nvSpPr>
        <p:spPr>
          <a:xfrm>
            <a:off x="254924" y="3253414"/>
            <a:ext cx="11658054" cy="1384995"/>
          </a:xfrm>
          <a:prstGeom prst="rect">
            <a:avLst/>
          </a:prstGeom>
        </p:spPr>
        <p:txBody>
          <a:bodyPr vert="horz" lIns="91440" tIns="45720" rIns="91440" bIns="45720" rtlCol="0">
            <a:normAutofit/>
          </a:bodyPr>
          <a:lstStyle/>
          <a:p>
            <a:pPr>
              <a:buFont typeface="Arial" panose="020B0604020202020204" pitchFamily="34" charset="0"/>
              <a:buNone/>
            </a:pPr>
            <a:r>
              <a:rPr lang="zh-CN" altLang="en-US" sz="2800" b="1">
                <a:solidFill>
                  <a:srgbClr val="FF0000"/>
                </a:solidFill>
                <a:latin typeface="黑体" pitchFamily="49" charset="-122"/>
                <a:ea typeface="黑体" pitchFamily="49" charset="-122"/>
              </a:rPr>
              <a:t>    反应规范</a:t>
            </a:r>
            <a:r>
              <a:rPr lang="zh-CN" altLang="en-US" sz="2800" b="1" dirty="0">
                <a:latin typeface="黑体" pitchFamily="49" charset="-122"/>
                <a:ea typeface="黑体" pitchFamily="49" charset="-122"/>
              </a:rPr>
              <a:t>——基因型对环境反应的幅度，即在一定的环境条件下特定的基因型产生表型的可变性。</a:t>
            </a:r>
          </a:p>
        </p:txBody>
      </p:sp>
      <p:sp>
        <p:nvSpPr>
          <p:cNvPr id="8" name="Rectangle 2"/>
          <p:cNvSpPr>
            <a:spLocks noGrp="1" noRot="1" noChangeArrowheads="1"/>
          </p:cNvSpPr>
          <p:nvPr>
            <p:ph type="title"/>
          </p:nvPr>
        </p:nvSpPr>
        <p:spPr>
          <a:xfrm>
            <a:off x="301029" y="33250"/>
            <a:ext cx="8942724" cy="716222"/>
          </a:xfrm>
        </p:spPr>
        <p:txBody>
          <a:bodyPr vert="horz" lIns="91440" tIns="45720" rIns="91440" bIns="45720" rtlCol="0" anchor="ctr">
            <a:noAutofit/>
          </a:bodyPr>
          <a:lstStyle/>
          <a:p>
            <a:r>
              <a:rPr lang="zh-CN" altLang="en-US" sz="3600" b="1" dirty="0">
                <a:solidFill>
                  <a:srgbClr val="0000FF"/>
                </a:solidFill>
                <a:latin typeface="黑体" panose="02010600030101010101" pitchFamily="49" charset="-122"/>
                <a:ea typeface="黑体" panose="02010600030101010101" pitchFamily="49" charset="-122"/>
              </a:rPr>
              <a:t>二、环境的影响和基因的表型效应</a:t>
            </a:r>
          </a:p>
        </p:txBody>
      </p:sp>
    </p:spTree>
    <p:extLst>
      <p:ext uri="{BB962C8B-B14F-4D97-AF65-F5344CB8AC3E}">
        <p14:creationId xmlns:p14="http://schemas.microsoft.com/office/powerpoint/2010/main" val="4233576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73AAFF-644D-446C-A9BF-F26FD54DAC76}"/>
              </a:ext>
            </a:extLst>
          </p:cNvPr>
          <p:cNvSpPr>
            <a:spLocks noGrp="1"/>
          </p:cNvSpPr>
          <p:nvPr>
            <p:ph type="title"/>
          </p:nvPr>
        </p:nvSpPr>
        <p:spPr>
          <a:xfrm>
            <a:off x="136451" y="0"/>
            <a:ext cx="9167037" cy="712380"/>
          </a:xfrm>
        </p:spPr>
        <p:txBody>
          <a:bodyPr vert="horz" lIns="91440" tIns="45720" rIns="91440" bIns="45720" rtlCol="0" anchor="ctr">
            <a:noAutofit/>
          </a:bodyPr>
          <a:lstStyle/>
          <a:p>
            <a:r>
              <a:rPr lang="en-US" altLang="zh-CN" sz="3600" b="1" dirty="0">
                <a:solidFill>
                  <a:srgbClr val="0000FF"/>
                </a:solidFill>
                <a:latin typeface="黑体" panose="02010600030101010101" pitchFamily="49" charset="-122"/>
                <a:ea typeface="黑体" panose="02010600030101010101" pitchFamily="49" charset="-122"/>
              </a:rPr>
              <a:t>(</a:t>
            </a:r>
            <a:r>
              <a:rPr lang="zh-CN" altLang="en-US" sz="3600" b="1" dirty="0">
                <a:solidFill>
                  <a:srgbClr val="0000FF"/>
                </a:solidFill>
                <a:latin typeface="黑体" panose="02010600030101010101" pitchFamily="49" charset="-122"/>
                <a:ea typeface="黑体" panose="02010600030101010101" pitchFamily="49" charset="-122"/>
              </a:rPr>
              <a:t>二</a:t>
            </a:r>
            <a:r>
              <a:rPr lang="en-US" altLang="zh-CN" sz="3600" b="1" dirty="0">
                <a:solidFill>
                  <a:srgbClr val="0000FF"/>
                </a:solidFill>
                <a:latin typeface="黑体" panose="02010600030101010101" pitchFamily="49" charset="-122"/>
                <a:ea typeface="黑体" panose="02010600030101010101" pitchFamily="49" charset="-122"/>
              </a:rPr>
              <a:t>)</a:t>
            </a:r>
            <a:r>
              <a:rPr lang="zh-CN" altLang="en-US" sz="3600" b="1" dirty="0">
                <a:solidFill>
                  <a:srgbClr val="0000FF"/>
                </a:solidFill>
                <a:latin typeface="黑体" panose="02010600030101010101" pitchFamily="49" charset="-122"/>
                <a:ea typeface="黑体" panose="02010600030101010101" pitchFamily="49" charset="-122"/>
              </a:rPr>
              <a:t>性状的多基因决定（多因一效）</a:t>
            </a:r>
          </a:p>
        </p:txBody>
      </p:sp>
      <p:sp>
        <p:nvSpPr>
          <p:cNvPr id="3" name="内容占位符 2">
            <a:extLst>
              <a:ext uri="{FF2B5EF4-FFF2-40B4-BE49-F238E27FC236}">
                <a16:creationId xmlns:a16="http://schemas.microsoft.com/office/drawing/2014/main" id="{0FAF04EC-B951-440D-8399-20F20E9C8318}"/>
              </a:ext>
            </a:extLst>
          </p:cNvPr>
          <p:cNvSpPr>
            <a:spLocks noGrp="1"/>
          </p:cNvSpPr>
          <p:nvPr>
            <p:ph idx="4294967295"/>
          </p:nvPr>
        </p:nvSpPr>
        <p:spPr>
          <a:xfrm>
            <a:off x="0" y="726518"/>
            <a:ext cx="8464453" cy="4738616"/>
          </a:xfrm>
        </p:spPr>
        <p:txBody>
          <a:bodyPr>
            <a:normAutofit/>
          </a:bodyPr>
          <a:lstStyle/>
          <a:p>
            <a:pPr marL="0" lvl="1">
              <a:lnSpc>
                <a:spcPct val="120000"/>
              </a:lnSpc>
              <a:spcBef>
                <a:spcPts val="0"/>
              </a:spcBef>
              <a:buFont typeface="Wingdings" pitchFamily="2" charset="2"/>
              <a:buChar char="Ø"/>
            </a:pPr>
            <a:r>
              <a:rPr lang="zh-CN" altLang="en-US" b="1" dirty="0">
                <a:solidFill>
                  <a:srgbClr val="FF0000"/>
                </a:solidFill>
                <a:latin typeface="黑体" pitchFamily="49" charset="-122"/>
                <a:ea typeface="黑体" pitchFamily="49" charset="-122"/>
                <a:cs typeface="Times New Roman" panose="02020603050405020304" pitchFamily="18" charset="0"/>
              </a:rPr>
              <a:t>案例</a:t>
            </a:r>
            <a:r>
              <a:rPr lang="zh-CN" altLang="en-US" b="1" dirty="0">
                <a:latin typeface="黑体" pitchFamily="49" charset="-122"/>
                <a:ea typeface="黑体" pitchFamily="49" charset="-122"/>
                <a:cs typeface="Times New Roman" panose="02020603050405020304" pitchFamily="18" charset="0"/>
              </a:rPr>
              <a:t>：玉米中 </a:t>
            </a:r>
            <a:r>
              <a:rPr lang="en-US" altLang="zh-CN" b="1" i="1" dirty="0">
                <a:latin typeface="黑体" pitchFamily="49" charset="-122"/>
                <a:ea typeface="黑体" pitchFamily="49" charset="-122"/>
                <a:cs typeface="Times New Roman" panose="02020603050405020304" pitchFamily="18" charset="0"/>
              </a:rPr>
              <a:t>A</a:t>
            </a:r>
            <a:r>
              <a:rPr lang="en-US" altLang="zh-CN" b="1" i="1" baseline="-25000" dirty="0">
                <a:latin typeface="黑体" pitchFamily="49" charset="-122"/>
                <a:ea typeface="黑体" pitchFamily="49" charset="-122"/>
                <a:cs typeface="Times New Roman" panose="02020603050405020304" pitchFamily="18" charset="0"/>
              </a:rPr>
              <a:t>1 </a:t>
            </a:r>
            <a:r>
              <a:rPr lang="zh-CN" altLang="en-US" b="1" dirty="0">
                <a:latin typeface="黑体" pitchFamily="49" charset="-122"/>
                <a:ea typeface="黑体" pitchFamily="49" charset="-122"/>
                <a:cs typeface="Times New Roman" panose="02020603050405020304" pitchFamily="18" charset="0"/>
              </a:rPr>
              <a:t>和 </a:t>
            </a:r>
            <a:r>
              <a:rPr lang="en-US" altLang="zh-CN" b="1" i="1" dirty="0">
                <a:latin typeface="黑体" pitchFamily="49" charset="-122"/>
                <a:ea typeface="黑体" pitchFamily="49" charset="-122"/>
                <a:cs typeface="Times New Roman" panose="02020603050405020304" pitchFamily="18" charset="0"/>
              </a:rPr>
              <a:t>a</a:t>
            </a:r>
            <a:r>
              <a:rPr lang="en-US" altLang="zh-CN" b="1" i="1" baseline="-25000" dirty="0">
                <a:latin typeface="黑体" pitchFamily="49" charset="-122"/>
                <a:ea typeface="黑体" pitchFamily="49" charset="-122"/>
                <a:cs typeface="Times New Roman" panose="02020603050405020304" pitchFamily="18" charset="0"/>
              </a:rPr>
              <a:t>1</a:t>
            </a:r>
            <a:r>
              <a:rPr lang="en-US" altLang="zh-CN" b="1" baseline="-25000" dirty="0">
                <a:latin typeface="黑体" pitchFamily="49" charset="-122"/>
                <a:ea typeface="黑体" pitchFamily="49" charset="-122"/>
                <a:cs typeface="Times New Roman" panose="02020603050405020304" pitchFamily="18" charset="0"/>
              </a:rPr>
              <a:t> </a:t>
            </a:r>
            <a:r>
              <a:rPr lang="zh-CN" altLang="en-US" b="1" dirty="0">
                <a:latin typeface="黑体" pitchFamily="49" charset="-122"/>
                <a:ea typeface="黑体" pitchFamily="49" charset="-122"/>
                <a:cs typeface="Times New Roman" panose="02020603050405020304" pitchFamily="18" charset="0"/>
              </a:rPr>
              <a:t>这对基因决定花青素的有无，</a:t>
            </a:r>
            <a:r>
              <a:rPr lang="en-US" altLang="zh-CN" b="1" i="1" dirty="0">
                <a:latin typeface="黑体" pitchFamily="49" charset="-122"/>
                <a:ea typeface="黑体" pitchFamily="49" charset="-122"/>
                <a:cs typeface="Times New Roman" panose="02020603050405020304" pitchFamily="18" charset="0"/>
              </a:rPr>
              <a:t>A</a:t>
            </a:r>
            <a:r>
              <a:rPr lang="en-US" altLang="zh-CN" b="1" i="1" baseline="-25000" dirty="0">
                <a:latin typeface="黑体" pitchFamily="49" charset="-122"/>
                <a:ea typeface="黑体" pitchFamily="49" charset="-122"/>
                <a:cs typeface="Times New Roman" panose="02020603050405020304" pitchFamily="18" charset="0"/>
              </a:rPr>
              <a:t>2</a:t>
            </a:r>
            <a:r>
              <a:rPr lang="en-US" altLang="zh-CN" b="1" i="1" dirty="0">
                <a:latin typeface="黑体" pitchFamily="49" charset="-122"/>
                <a:ea typeface="黑体" pitchFamily="49" charset="-122"/>
                <a:cs typeface="Times New Roman" panose="02020603050405020304" pitchFamily="18" charset="0"/>
              </a:rPr>
              <a:t> </a:t>
            </a:r>
            <a:r>
              <a:rPr lang="zh-CN" altLang="en-US" b="1" dirty="0">
                <a:latin typeface="黑体" pitchFamily="49" charset="-122"/>
                <a:ea typeface="黑体" pitchFamily="49" charset="-122"/>
                <a:cs typeface="Times New Roman" panose="02020603050405020304" pitchFamily="18" charset="0"/>
              </a:rPr>
              <a:t>和 </a:t>
            </a:r>
            <a:r>
              <a:rPr lang="en-US" altLang="zh-CN" b="1" i="1" dirty="0">
                <a:latin typeface="黑体" pitchFamily="49" charset="-122"/>
                <a:ea typeface="黑体" pitchFamily="49" charset="-122"/>
                <a:cs typeface="Times New Roman" panose="02020603050405020304" pitchFamily="18" charset="0"/>
              </a:rPr>
              <a:t>a</a:t>
            </a:r>
            <a:r>
              <a:rPr lang="en-US" altLang="zh-CN" b="1" i="1" baseline="-25000" dirty="0">
                <a:latin typeface="黑体" pitchFamily="49" charset="-122"/>
                <a:ea typeface="黑体" pitchFamily="49" charset="-122"/>
                <a:cs typeface="Times New Roman" panose="02020603050405020304" pitchFamily="18" charset="0"/>
              </a:rPr>
              <a:t>2 </a:t>
            </a:r>
            <a:r>
              <a:rPr lang="zh-CN" altLang="en-US" b="1" dirty="0">
                <a:latin typeface="黑体" pitchFamily="49" charset="-122"/>
                <a:ea typeface="黑体" pitchFamily="49" charset="-122"/>
                <a:cs typeface="Times New Roman" panose="02020603050405020304" pitchFamily="18" charset="0"/>
              </a:rPr>
              <a:t>这对基因也决定花青素的有无，</a:t>
            </a:r>
            <a:r>
              <a:rPr lang="en-US" altLang="zh-CN" b="1" i="1" dirty="0">
                <a:latin typeface="黑体" pitchFamily="49" charset="-122"/>
                <a:ea typeface="黑体" pitchFamily="49" charset="-122"/>
                <a:cs typeface="Times New Roman" panose="02020603050405020304" pitchFamily="18" charset="0"/>
              </a:rPr>
              <a:t>C</a:t>
            </a:r>
            <a:r>
              <a:rPr lang="en-US" altLang="zh-CN" b="1" dirty="0">
                <a:latin typeface="黑体" pitchFamily="49" charset="-122"/>
                <a:ea typeface="黑体" pitchFamily="49" charset="-122"/>
                <a:cs typeface="Times New Roman" panose="02020603050405020304" pitchFamily="18" charset="0"/>
              </a:rPr>
              <a:t> </a:t>
            </a:r>
            <a:r>
              <a:rPr lang="zh-CN" altLang="en-US" b="1" dirty="0">
                <a:latin typeface="黑体" pitchFamily="49" charset="-122"/>
                <a:ea typeface="黑体" pitchFamily="49" charset="-122"/>
                <a:cs typeface="Times New Roman" panose="02020603050405020304" pitchFamily="18" charset="0"/>
              </a:rPr>
              <a:t>和 </a:t>
            </a:r>
            <a:r>
              <a:rPr lang="en-US" altLang="zh-CN" b="1" i="1" dirty="0">
                <a:latin typeface="黑体" pitchFamily="49" charset="-122"/>
                <a:ea typeface="黑体" pitchFamily="49" charset="-122"/>
                <a:cs typeface="Times New Roman" panose="02020603050405020304" pitchFamily="18" charset="0"/>
              </a:rPr>
              <a:t>c</a:t>
            </a:r>
            <a:r>
              <a:rPr lang="en-US" altLang="zh-CN" b="1" dirty="0">
                <a:latin typeface="黑体" pitchFamily="49" charset="-122"/>
                <a:ea typeface="黑体" pitchFamily="49" charset="-122"/>
                <a:cs typeface="Times New Roman" panose="02020603050405020304" pitchFamily="18" charset="0"/>
              </a:rPr>
              <a:t> </a:t>
            </a:r>
            <a:r>
              <a:rPr lang="zh-CN" altLang="en-US" b="1" dirty="0">
                <a:latin typeface="黑体" pitchFamily="49" charset="-122"/>
                <a:ea typeface="黑体" pitchFamily="49" charset="-122"/>
                <a:cs typeface="Times New Roman" panose="02020603050405020304" pitchFamily="18" charset="0"/>
              </a:rPr>
              <a:t>这对基因决定糊粉层颜色的有无，</a:t>
            </a:r>
            <a:r>
              <a:rPr lang="en-US" altLang="zh-CN" b="1" i="1" dirty="0">
                <a:latin typeface="黑体" pitchFamily="49" charset="-122"/>
                <a:ea typeface="黑体" pitchFamily="49" charset="-122"/>
                <a:cs typeface="Times New Roman" panose="02020603050405020304" pitchFamily="18" charset="0"/>
              </a:rPr>
              <a:t>R </a:t>
            </a:r>
            <a:r>
              <a:rPr lang="zh-CN" altLang="en-US" b="1" dirty="0">
                <a:latin typeface="黑体" pitchFamily="49" charset="-122"/>
                <a:ea typeface="黑体" pitchFamily="49" charset="-122"/>
                <a:cs typeface="Times New Roman" panose="02020603050405020304" pitchFamily="18" charset="0"/>
              </a:rPr>
              <a:t>和 </a:t>
            </a:r>
            <a:r>
              <a:rPr lang="en-US" altLang="zh-CN" b="1" i="1" dirty="0">
                <a:latin typeface="黑体" pitchFamily="49" charset="-122"/>
                <a:ea typeface="黑体" pitchFamily="49" charset="-122"/>
                <a:cs typeface="Times New Roman" panose="02020603050405020304" pitchFamily="18" charset="0"/>
              </a:rPr>
              <a:t>r</a:t>
            </a:r>
            <a:r>
              <a:rPr lang="en-US" altLang="zh-CN" b="1" dirty="0">
                <a:latin typeface="黑体" pitchFamily="49" charset="-122"/>
                <a:ea typeface="黑体" pitchFamily="49" charset="-122"/>
                <a:cs typeface="Times New Roman" panose="02020603050405020304" pitchFamily="18" charset="0"/>
              </a:rPr>
              <a:t> </a:t>
            </a:r>
            <a:r>
              <a:rPr lang="zh-CN" altLang="en-US" b="1" dirty="0">
                <a:latin typeface="黑体" pitchFamily="49" charset="-122"/>
                <a:ea typeface="黑体" pitchFamily="49" charset="-122"/>
                <a:cs typeface="Times New Roman" panose="02020603050405020304" pitchFamily="18" charset="0"/>
              </a:rPr>
              <a:t>这对基因决定糊粉层和植株颜色的有无</a:t>
            </a:r>
            <a:r>
              <a:rPr lang="en-US" altLang="zh-CN" b="1" dirty="0">
                <a:latin typeface="黑体" pitchFamily="49" charset="-122"/>
                <a:ea typeface="黑体" pitchFamily="49" charset="-122"/>
                <a:cs typeface="Times New Roman" panose="02020603050405020304" pitchFamily="18" charset="0"/>
              </a:rPr>
              <a:t>……</a:t>
            </a:r>
            <a:r>
              <a:rPr lang="zh-CN" altLang="en-US" b="1" dirty="0">
                <a:solidFill>
                  <a:srgbClr val="0000FF"/>
                </a:solidFill>
                <a:latin typeface="黑体" pitchFamily="49" charset="-122"/>
                <a:ea typeface="黑体" pitchFamily="49" charset="-122"/>
                <a:cs typeface="Times New Roman" panose="02020603050405020304" pitchFamily="18" charset="0"/>
              </a:rPr>
              <a:t>当 </a:t>
            </a:r>
            <a:r>
              <a:rPr lang="en-US" altLang="zh-CN" b="1" i="1" dirty="0">
                <a:solidFill>
                  <a:srgbClr val="0000FF"/>
                </a:solidFill>
                <a:latin typeface="黑体" pitchFamily="49" charset="-122"/>
                <a:ea typeface="黑体" pitchFamily="49" charset="-122"/>
                <a:cs typeface="Times New Roman" panose="02020603050405020304" pitchFamily="18" charset="0"/>
              </a:rPr>
              <a:t>A</a:t>
            </a:r>
            <a:r>
              <a:rPr lang="en-US" altLang="zh-CN" b="1" i="1" baseline="-25000" dirty="0">
                <a:solidFill>
                  <a:srgbClr val="0000FF"/>
                </a:solidFill>
                <a:latin typeface="黑体" pitchFamily="49" charset="-122"/>
                <a:ea typeface="黑体" pitchFamily="49" charset="-122"/>
                <a:cs typeface="Times New Roman" panose="02020603050405020304" pitchFamily="18" charset="0"/>
              </a:rPr>
              <a:t>1 </a:t>
            </a:r>
            <a:r>
              <a:rPr lang="zh-CN" altLang="en-US" b="1" dirty="0">
                <a:solidFill>
                  <a:srgbClr val="0000FF"/>
                </a:solidFill>
                <a:latin typeface="黑体" pitchFamily="49" charset="-122"/>
                <a:ea typeface="黑体" pitchFamily="49" charset="-122"/>
                <a:cs typeface="Times New Roman" panose="02020603050405020304" pitchFamily="18" charset="0"/>
              </a:rPr>
              <a:t>，</a:t>
            </a:r>
            <a:r>
              <a:rPr lang="en-US" altLang="zh-CN" b="1" i="1" dirty="0">
                <a:solidFill>
                  <a:srgbClr val="0000FF"/>
                </a:solidFill>
                <a:latin typeface="黑体" pitchFamily="49" charset="-122"/>
                <a:ea typeface="黑体" pitchFamily="49" charset="-122"/>
                <a:cs typeface="Times New Roman" panose="02020603050405020304" pitchFamily="18" charset="0"/>
              </a:rPr>
              <a:t> A</a:t>
            </a:r>
            <a:r>
              <a:rPr lang="en-US" altLang="zh-CN" b="1" i="1" baseline="-25000" dirty="0">
                <a:solidFill>
                  <a:srgbClr val="0000FF"/>
                </a:solidFill>
                <a:latin typeface="黑体" pitchFamily="49" charset="-122"/>
                <a:ea typeface="黑体" pitchFamily="49" charset="-122"/>
                <a:cs typeface="Times New Roman" panose="02020603050405020304" pitchFamily="18" charset="0"/>
              </a:rPr>
              <a:t>2</a:t>
            </a:r>
            <a:r>
              <a:rPr lang="en-US" altLang="zh-CN" b="1" i="1" dirty="0">
                <a:solidFill>
                  <a:srgbClr val="0000FF"/>
                </a:solidFill>
                <a:latin typeface="黑体" pitchFamily="49" charset="-122"/>
                <a:ea typeface="黑体" pitchFamily="49" charset="-122"/>
                <a:cs typeface="Times New Roman" panose="02020603050405020304" pitchFamily="18" charset="0"/>
              </a:rPr>
              <a:t> </a:t>
            </a:r>
            <a:r>
              <a:rPr lang="zh-CN" altLang="en-US" b="1" dirty="0">
                <a:solidFill>
                  <a:srgbClr val="0000FF"/>
                </a:solidFill>
                <a:latin typeface="黑体" pitchFamily="49" charset="-122"/>
                <a:ea typeface="黑体" pitchFamily="49" charset="-122"/>
                <a:cs typeface="Times New Roman" panose="02020603050405020304" pitchFamily="18" charset="0"/>
              </a:rPr>
              <a:t>，</a:t>
            </a:r>
            <a:r>
              <a:rPr lang="en-US" altLang="zh-CN" b="1" i="1" dirty="0">
                <a:solidFill>
                  <a:srgbClr val="0000FF"/>
                </a:solidFill>
                <a:latin typeface="黑体" pitchFamily="49" charset="-122"/>
                <a:ea typeface="黑体" pitchFamily="49" charset="-122"/>
                <a:cs typeface="Times New Roman" panose="02020603050405020304" pitchFamily="18" charset="0"/>
              </a:rPr>
              <a:t>C</a:t>
            </a:r>
            <a:r>
              <a:rPr lang="en-US" altLang="zh-CN" b="1" dirty="0">
                <a:solidFill>
                  <a:srgbClr val="0000FF"/>
                </a:solidFill>
                <a:latin typeface="黑体" pitchFamily="49" charset="-122"/>
                <a:ea typeface="黑体" pitchFamily="49" charset="-122"/>
                <a:cs typeface="Times New Roman" panose="02020603050405020304" pitchFamily="18" charset="0"/>
              </a:rPr>
              <a:t> </a:t>
            </a:r>
            <a:r>
              <a:rPr lang="zh-CN" altLang="en-US" b="1" dirty="0">
                <a:solidFill>
                  <a:srgbClr val="0000FF"/>
                </a:solidFill>
                <a:latin typeface="黑体" pitchFamily="49" charset="-122"/>
                <a:ea typeface="黑体" pitchFamily="49" charset="-122"/>
                <a:cs typeface="Times New Roman" panose="02020603050405020304" pitchFamily="18" charset="0"/>
              </a:rPr>
              <a:t>和 </a:t>
            </a:r>
            <a:r>
              <a:rPr lang="en-US" altLang="zh-CN" b="1" i="1" dirty="0">
                <a:solidFill>
                  <a:srgbClr val="0000FF"/>
                </a:solidFill>
                <a:latin typeface="黑体" pitchFamily="49" charset="-122"/>
                <a:ea typeface="黑体" pitchFamily="49" charset="-122"/>
                <a:cs typeface="Times New Roman" panose="02020603050405020304" pitchFamily="18" charset="0"/>
              </a:rPr>
              <a:t>R</a:t>
            </a:r>
            <a:r>
              <a:rPr lang="en-US" altLang="zh-CN" b="1" dirty="0">
                <a:solidFill>
                  <a:srgbClr val="0000FF"/>
                </a:solidFill>
                <a:latin typeface="黑体" pitchFamily="49" charset="-122"/>
                <a:ea typeface="黑体" pitchFamily="49" charset="-122"/>
                <a:cs typeface="Times New Roman" panose="02020603050405020304" pitchFamily="18" charset="0"/>
              </a:rPr>
              <a:t> </a:t>
            </a:r>
            <a:r>
              <a:rPr lang="zh-CN" altLang="en-US" b="1" dirty="0">
                <a:solidFill>
                  <a:srgbClr val="0000FF"/>
                </a:solidFill>
                <a:latin typeface="黑体" pitchFamily="49" charset="-122"/>
                <a:ea typeface="黑体" pitchFamily="49" charset="-122"/>
                <a:cs typeface="Times New Roman" panose="02020603050405020304" pitchFamily="18" charset="0"/>
              </a:rPr>
              <a:t>这 </a:t>
            </a:r>
            <a:r>
              <a:rPr lang="en-US" altLang="zh-CN" b="1" dirty="0">
                <a:solidFill>
                  <a:srgbClr val="0000FF"/>
                </a:solidFill>
                <a:latin typeface="黑体" pitchFamily="49" charset="-122"/>
                <a:ea typeface="黑体" pitchFamily="49" charset="-122"/>
                <a:cs typeface="Times New Roman" panose="02020603050405020304" pitchFamily="18" charset="0"/>
              </a:rPr>
              <a:t>4 </a:t>
            </a:r>
            <a:r>
              <a:rPr lang="zh-CN" altLang="en-US" b="1" dirty="0">
                <a:solidFill>
                  <a:srgbClr val="0000FF"/>
                </a:solidFill>
                <a:latin typeface="黑体" pitchFamily="49" charset="-122"/>
                <a:ea typeface="黑体" pitchFamily="49" charset="-122"/>
                <a:cs typeface="Times New Roman" panose="02020603050405020304" pitchFamily="18" charset="0"/>
              </a:rPr>
              <a:t>个显性基因都存在时，胚乳是红色</a:t>
            </a:r>
            <a:r>
              <a:rPr lang="zh-CN" altLang="en-US" b="1" dirty="0">
                <a:latin typeface="黑体" pitchFamily="49" charset="-122"/>
                <a:ea typeface="黑体" pitchFamily="49" charset="-122"/>
                <a:cs typeface="Times New Roman" panose="02020603050405020304" pitchFamily="18" charset="0"/>
              </a:rPr>
              <a:t>，</a:t>
            </a:r>
            <a:r>
              <a:rPr lang="zh-CN" altLang="en-US" b="1" dirty="0">
                <a:solidFill>
                  <a:srgbClr val="0000FF"/>
                </a:solidFill>
                <a:latin typeface="黑体" pitchFamily="49" charset="-122"/>
                <a:ea typeface="黑体" pitchFamily="49" charset="-122"/>
                <a:cs typeface="Times New Roman" panose="02020603050405020304" pitchFamily="18" charset="0"/>
              </a:rPr>
              <a:t>但如有另一显性基因 </a:t>
            </a:r>
            <a:r>
              <a:rPr lang="en-US" altLang="zh-CN" b="1" i="1" dirty="0" err="1">
                <a:solidFill>
                  <a:srgbClr val="0000FF"/>
                </a:solidFill>
                <a:latin typeface="黑体" pitchFamily="49" charset="-122"/>
                <a:ea typeface="黑体" pitchFamily="49" charset="-122"/>
                <a:cs typeface="Times New Roman" panose="02020603050405020304" pitchFamily="18" charset="0"/>
              </a:rPr>
              <a:t>Pr</a:t>
            </a:r>
            <a:r>
              <a:rPr lang="en-US" altLang="zh-CN" b="1" i="1" dirty="0">
                <a:solidFill>
                  <a:srgbClr val="0000FF"/>
                </a:solidFill>
                <a:latin typeface="黑体" pitchFamily="49" charset="-122"/>
                <a:ea typeface="黑体" pitchFamily="49" charset="-122"/>
                <a:cs typeface="Times New Roman" panose="02020603050405020304" pitchFamily="18" charset="0"/>
              </a:rPr>
              <a:t> </a:t>
            </a:r>
            <a:r>
              <a:rPr lang="zh-CN" altLang="en-US" b="1" dirty="0">
                <a:solidFill>
                  <a:srgbClr val="0000FF"/>
                </a:solidFill>
                <a:latin typeface="黑体" pitchFamily="49" charset="-122"/>
                <a:ea typeface="黑体" pitchFamily="49" charset="-122"/>
                <a:cs typeface="Times New Roman" panose="02020603050405020304" pitchFamily="18" charset="0"/>
              </a:rPr>
              <a:t>存在时，胚乳成为紫色</a:t>
            </a:r>
            <a:r>
              <a:rPr lang="zh-CN" altLang="en-US" b="1" dirty="0">
                <a:latin typeface="黑体" pitchFamily="49" charset="-122"/>
                <a:ea typeface="黑体" pitchFamily="49" charset="-122"/>
                <a:cs typeface="Times New Roman" panose="02020603050405020304" pitchFamily="18" charset="0"/>
              </a:rPr>
              <a:t>，所以胚乳的紫色和红色由 </a:t>
            </a:r>
            <a:r>
              <a:rPr lang="en-US" altLang="zh-CN" b="1" i="1" dirty="0" err="1">
                <a:latin typeface="黑体" pitchFamily="49" charset="-122"/>
                <a:ea typeface="黑体" pitchFamily="49" charset="-122"/>
                <a:cs typeface="Times New Roman" panose="02020603050405020304" pitchFamily="18" charset="0"/>
              </a:rPr>
              <a:t>Pr</a:t>
            </a:r>
            <a:r>
              <a:rPr lang="en-US" altLang="zh-CN" b="1" dirty="0">
                <a:latin typeface="黑体" pitchFamily="49" charset="-122"/>
                <a:ea typeface="黑体" pitchFamily="49" charset="-122"/>
                <a:cs typeface="Times New Roman" panose="02020603050405020304" pitchFamily="18" charset="0"/>
              </a:rPr>
              <a:t> </a:t>
            </a:r>
            <a:r>
              <a:rPr lang="zh-CN" altLang="en-US" b="1" dirty="0">
                <a:latin typeface="黑体" pitchFamily="49" charset="-122"/>
                <a:ea typeface="黑体" pitchFamily="49" charset="-122"/>
                <a:cs typeface="Times New Roman" panose="02020603050405020304" pitchFamily="18" charset="0"/>
              </a:rPr>
              <a:t>和 </a:t>
            </a:r>
            <a:r>
              <a:rPr lang="en-US" altLang="zh-CN" b="1" i="1" dirty="0">
                <a:latin typeface="黑体" pitchFamily="49" charset="-122"/>
                <a:ea typeface="黑体" pitchFamily="49" charset="-122"/>
                <a:cs typeface="Times New Roman" panose="02020603050405020304" pitchFamily="18" charset="0"/>
              </a:rPr>
              <a:t>pr </a:t>
            </a:r>
            <a:r>
              <a:rPr lang="zh-CN" altLang="en-US" b="1" dirty="0">
                <a:latin typeface="黑体" pitchFamily="49" charset="-122"/>
                <a:ea typeface="黑体" pitchFamily="49" charset="-122"/>
                <a:cs typeface="Times New Roman" panose="02020603050405020304" pitchFamily="18" charset="0"/>
              </a:rPr>
              <a:t>这对基因决定，但前提是至少 </a:t>
            </a:r>
            <a:r>
              <a:rPr lang="en-US" altLang="zh-CN" b="1" i="1" dirty="0">
                <a:latin typeface="黑体" pitchFamily="49" charset="-122"/>
                <a:ea typeface="黑体" pitchFamily="49" charset="-122"/>
                <a:cs typeface="Times New Roman" panose="02020603050405020304" pitchFamily="18" charset="0"/>
              </a:rPr>
              <a:t>A</a:t>
            </a:r>
            <a:r>
              <a:rPr lang="en-US" altLang="zh-CN" b="1" i="1" baseline="-25000" dirty="0">
                <a:latin typeface="黑体" pitchFamily="49" charset="-122"/>
                <a:ea typeface="黑体" pitchFamily="49" charset="-122"/>
                <a:cs typeface="Times New Roman" panose="02020603050405020304" pitchFamily="18" charset="0"/>
              </a:rPr>
              <a:t>1 </a:t>
            </a:r>
            <a:r>
              <a:rPr lang="zh-CN" altLang="en-US" b="1" dirty="0">
                <a:latin typeface="黑体" pitchFamily="49" charset="-122"/>
                <a:ea typeface="黑体" pitchFamily="49" charset="-122"/>
                <a:cs typeface="Times New Roman" panose="02020603050405020304" pitchFamily="18" charset="0"/>
              </a:rPr>
              <a:t>， </a:t>
            </a:r>
            <a:r>
              <a:rPr lang="en-US" altLang="zh-CN" b="1" i="1" dirty="0">
                <a:latin typeface="黑体" pitchFamily="49" charset="-122"/>
                <a:ea typeface="黑体" pitchFamily="49" charset="-122"/>
                <a:cs typeface="Times New Roman" panose="02020603050405020304" pitchFamily="18" charset="0"/>
              </a:rPr>
              <a:t>A</a:t>
            </a:r>
            <a:r>
              <a:rPr lang="en-US" altLang="zh-CN" b="1" i="1" baseline="-25000" dirty="0">
                <a:latin typeface="黑体" pitchFamily="49" charset="-122"/>
                <a:ea typeface="黑体" pitchFamily="49" charset="-122"/>
                <a:cs typeface="Times New Roman" panose="02020603050405020304" pitchFamily="18" charset="0"/>
              </a:rPr>
              <a:t>2</a:t>
            </a:r>
            <a:r>
              <a:rPr lang="en-US" altLang="zh-CN" b="1" i="1" dirty="0">
                <a:latin typeface="黑体" pitchFamily="49" charset="-122"/>
                <a:ea typeface="黑体" pitchFamily="49" charset="-122"/>
                <a:cs typeface="Times New Roman" panose="02020603050405020304" pitchFamily="18" charset="0"/>
              </a:rPr>
              <a:t> </a:t>
            </a:r>
            <a:r>
              <a:rPr lang="zh-CN" altLang="en-US" b="1" dirty="0">
                <a:latin typeface="黑体" pitchFamily="49" charset="-122"/>
                <a:ea typeface="黑体" pitchFamily="49" charset="-122"/>
                <a:cs typeface="Times New Roman" panose="02020603050405020304" pitchFamily="18" charset="0"/>
              </a:rPr>
              <a:t>，</a:t>
            </a:r>
            <a:r>
              <a:rPr lang="en-US" altLang="zh-CN" b="1" i="1" dirty="0">
                <a:latin typeface="黑体" pitchFamily="49" charset="-122"/>
                <a:ea typeface="黑体" pitchFamily="49" charset="-122"/>
                <a:cs typeface="Times New Roman" panose="02020603050405020304" pitchFamily="18" charset="0"/>
              </a:rPr>
              <a:t>C</a:t>
            </a:r>
            <a:r>
              <a:rPr lang="en-US" altLang="zh-CN" b="1" dirty="0">
                <a:latin typeface="黑体" pitchFamily="49" charset="-122"/>
                <a:ea typeface="黑体" pitchFamily="49" charset="-122"/>
                <a:cs typeface="Times New Roman" panose="02020603050405020304" pitchFamily="18" charset="0"/>
              </a:rPr>
              <a:t> </a:t>
            </a:r>
            <a:r>
              <a:rPr lang="zh-CN" altLang="en-US" b="1" dirty="0">
                <a:latin typeface="黑体" pitchFamily="49" charset="-122"/>
                <a:ea typeface="黑体" pitchFamily="49" charset="-122"/>
                <a:cs typeface="Times New Roman" panose="02020603050405020304" pitchFamily="18" charset="0"/>
              </a:rPr>
              <a:t>和 </a:t>
            </a:r>
            <a:r>
              <a:rPr lang="en-US" altLang="zh-CN" b="1" i="1" dirty="0">
                <a:latin typeface="黑体" pitchFamily="49" charset="-122"/>
                <a:ea typeface="黑体" pitchFamily="49" charset="-122"/>
                <a:cs typeface="Times New Roman" panose="02020603050405020304" pitchFamily="18" charset="0"/>
              </a:rPr>
              <a:t>R</a:t>
            </a:r>
            <a:r>
              <a:rPr lang="en-US" altLang="zh-CN" b="1" dirty="0">
                <a:latin typeface="黑体" pitchFamily="49" charset="-122"/>
                <a:ea typeface="黑体" pitchFamily="49" charset="-122"/>
                <a:cs typeface="Times New Roman" panose="02020603050405020304" pitchFamily="18" charset="0"/>
              </a:rPr>
              <a:t> </a:t>
            </a:r>
            <a:r>
              <a:rPr lang="zh-CN" altLang="en-US" b="1" dirty="0">
                <a:latin typeface="黑体" pitchFamily="49" charset="-122"/>
                <a:ea typeface="黑体" pitchFamily="49" charset="-122"/>
                <a:cs typeface="Times New Roman" panose="02020603050405020304" pitchFamily="18" charset="0"/>
              </a:rPr>
              <a:t>这 </a:t>
            </a:r>
            <a:r>
              <a:rPr lang="en-US" altLang="zh-CN" b="1" dirty="0">
                <a:latin typeface="黑体" pitchFamily="49" charset="-122"/>
                <a:ea typeface="黑体" pitchFamily="49" charset="-122"/>
                <a:cs typeface="Times New Roman" panose="02020603050405020304" pitchFamily="18" charset="0"/>
              </a:rPr>
              <a:t>4 </a:t>
            </a:r>
            <a:r>
              <a:rPr lang="zh-CN" altLang="en-US" b="1" dirty="0">
                <a:latin typeface="黑体" pitchFamily="49" charset="-122"/>
                <a:ea typeface="黑体" pitchFamily="49" charset="-122"/>
                <a:cs typeface="Times New Roman" panose="02020603050405020304" pitchFamily="18" charset="0"/>
              </a:rPr>
              <a:t>个显性基因都存在，即紫色胚乳植株的基因型是 </a:t>
            </a:r>
            <a:r>
              <a:rPr lang="en-US" altLang="zh-CN" b="1" i="1" dirty="0">
                <a:latin typeface="黑体" pitchFamily="49" charset="-122"/>
                <a:ea typeface="黑体" pitchFamily="49" charset="-122"/>
                <a:cs typeface="Times New Roman" panose="02020603050405020304" pitchFamily="18" charset="0"/>
              </a:rPr>
              <a:t>A</a:t>
            </a:r>
            <a:r>
              <a:rPr lang="en-US" altLang="zh-CN" b="1" i="1" baseline="-25000" dirty="0">
                <a:latin typeface="黑体" pitchFamily="49" charset="-122"/>
                <a:ea typeface="黑体" pitchFamily="49" charset="-122"/>
                <a:cs typeface="Times New Roman" panose="02020603050405020304" pitchFamily="18" charset="0"/>
              </a:rPr>
              <a:t>1 </a:t>
            </a:r>
            <a:r>
              <a:rPr lang="en-US" altLang="zh-CN" b="1" dirty="0">
                <a:latin typeface="黑体" pitchFamily="49" charset="-122"/>
                <a:ea typeface="黑体" pitchFamily="49" charset="-122"/>
                <a:cs typeface="Times New Roman" panose="02020603050405020304" pitchFamily="18" charset="0"/>
              </a:rPr>
              <a:t>_</a:t>
            </a:r>
            <a:r>
              <a:rPr lang="en-US" altLang="zh-CN" b="1" i="1" dirty="0">
                <a:latin typeface="黑体" pitchFamily="49" charset="-122"/>
                <a:ea typeface="黑体" pitchFamily="49" charset="-122"/>
                <a:cs typeface="Times New Roman" panose="02020603050405020304" pitchFamily="18" charset="0"/>
              </a:rPr>
              <a:t> A</a:t>
            </a:r>
            <a:r>
              <a:rPr lang="en-US" altLang="zh-CN" b="1" i="1" baseline="-25000" dirty="0">
                <a:latin typeface="黑体" pitchFamily="49" charset="-122"/>
                <a:ea typeface="黑体" pitchFamily="49" charset="-122"/>
                <a:cs typeface="Times New Roman" panose="02020603050405020304" pitchFamily="18" charset="0"/>
              </a:rPr>
              <a:t>2</a:t>
            </a:r>
            <a:r>
              <a:rPr lang="en-US" altLang="zh-CN" b="1" i="1" dirty="0">
                <a:latin typeface="黑体" pitchFamily="49" charset="-122"/>
                <a:ea typeface="黑体" pitchFamily="49" charset="-122"/>
                <a:cs typeface="Times New Roman" panose="02020603050405020304" pitchFamily="18" charset="0"/>
              </a:rPr>
              <a:t> </a:t>
            </a:r>
            <a:r>
              <a:rPr lang="en-US" altLang="zh-CN" b="1" dirty="0">
                <a:latin typeface="黑体" pitchFamily="49" charset="-122"/>
                <a:ea typeface="黑体" pitchFamily="49" charset="-122"/>
                <a:cs typeface="Times New Roman" panose="02020603050405020304" pitchFamily="18" charset="0"/>
              </a:rPr>
              <a:t>_</a:t>
            </a:r>
            <a:r>
              <a:rPr lang="en-US" altLang="zh-CN" b="1" i="1" dirty="0" err="1">
                <a:latin typeface="黑体" pitchFamily="49" charset="-122"/>
                <a:ea typeface="黑体" pitchFamily="49" charset="-122"/>
                <a:cs typeface="Times New Roman" panose="02020603050405020304" pitchFamily="18" charset="0"/>
              </a:rPr>
              <a:t>C</a:t>
            </a:r>
            <a:r>
              <a:rPr lang="en-US" altLang="zh-CN" b="1" dirty="0" err="1">
                <a:latin typeface="黑体" pitchFamily="49" charset="-122"/>
                <a:ea typeface="黑体" pitchFamily="49" charset="-122"/>
                <a:cs typeface="Times New Roman" panose="02020603050405020304" pitchFamily="18" charset="0"/>
              </a:rPr>
              <a:t>_</a:t>
            </a:r>
            <a:r>
              <a:rPr lang="en-US" altLang="zh-CN" b="1" i="1" dirty="0" err="1">
                <a:latin typeface="黑体" pitchFamily="49" charset="-122"/>
                <a:ea typeface="黑体" pitchFamily="49" charset="-122"/>
                <a:cs typeface="Times New Roman" panose="02020603050405020304" pitchFamily="18" charset="0"/>
              </a:rPr>
              <a:t>R</a:t>
            </a:r>
            <a:r>
              <a:rPr lang="en-US" altLang="zh-CN" b="1" dirty="0" err="1">
                <a:latin typeface="黑体" pitchFamily="49" charset="-122"/>
                <a:ea typeface="黑体" pitchFamily="49" charset="-122"/>
                <a:cs typeface="Times New Roman" panose="02020603050405020304" pitchFamily="18" charset="0"/>
              </a:rPr>
              <a:t>_</a:t>
            </a:r>
            <a:r>
              <a:rPr lang="en-US" altLang="zh-CN" b="1" i="1" dirty="0" err="1">
                <a:latin typeface="黑体" pitchFamily="49" charset="-122"/>
                <a:ea typeface="黑体" pitchFamily="49" charset="-122"/>
                <a:cs typeface="Times New Roman" panose="02020603050405020304" pitchFamily="18" charset="0"/>
              </a:rPr>
              <a:t>Pr</a:t>
            </a:r>
            <a:r>
              <a:rPr lang="en-US" altLang="zh-CN" b="1" dirty="0">
                <a:latin typeface="黑体" pitchFamily="49" charset="-122"/>
                <a:ea typeface="黑体" pitchFamily="49" charset="-122"/>
                <a:cs typeface="Times New Roman" panose="02020603050405020304" pitchFamily="18" charset="0"/>
              </a:rPr>
              <a:t>_</a:t>
            </a:r>
            <a:r>
              <a:rPr lang="zh-CN" altLang="en-US" b="1" dirty="0">
                <a:latin typeface="黑体" pitchFamily="49" charset="-122"/>
                <a:ea typeface="黑体" pitchFamily="49" charset="-122"/>
                <a:cs typeface="Times New Roman" panose="02020603050405020304" pitchFamily="18" charset="0"/>
              </a:rPr>
              <a:t>。</a:t>
            </a:r>
            <a:endParaRPr lang="en-US" altLang="zh-CN" b="1" dirty="0">
              <a:latin typeface="黑体" pitchFamily="49" charset="-122"/>
              <a:ea typeface="黑体" pitchFamily="49" charset="-122"/>
              <a:cs typeface="Times New Roman" panose="02020603050405020304" pitchFamily="18" charset="0"/>
            </a:endParaRPr>
          </a:p>
          <a:p>
            <a:pPr marL="0" lvl="1">
              <a:lnSpc>
                <a:spcPct val="120000"/>
              </a:lnSpc>
              <a:spcBef>
                <a:spcPts val="0"/>
              </a:spcBef>
              <a:buFont typeface="Wingdings" pitchFamily="2" charset="2"/>
              <a:buChar char="Ø"/>
            </a:pPr>
            <a:r>
              <a:rPr lang="zh-CN" altLang="en-US" b="1" dirty="0">
                <a:solidFill>
                  <a:srgbClr val="FF0000"/>
                </a:solidFill>
                <a:latin typeface="黑体" pitchFamily="49" charset="-122"/>
                <a:ea typeface="黑体" pitchFamily="49" charset="-122"/>
                <a:cs typeface="Times New Roman" panose="02020603050405020304" pitchFamily="18" charset="0"/>
              </a:rPr>
              <a:t>在其他基因都相同的情况下，两个个体间某一性状的差异可由一对基因的差异决定</a:t>
            </a:r>
            <a:r>
              <a:rPr lang="zh-CN" altLang="en-US" b="1" dirty="0">
                <a:latin typeface="黑体" pitchFamily="49" charset="-122"/>
                <a:ea typeface="黑体" pitchFamily="49" charset="-122"/>
                <a:cs typeface="Times New Roman" panose="02020603050405020304" pitchFamily="18" charset="0"/>
              </a:rPr>
              <a:t>。</a:t>
            </a:r>
            <a:endParaRPr lang="en-US" altLang="zh-CN" b="1" dirty="0">
              <a:latin typeface="黑体" pitchFamily="49" charset="-122"/>
              <a:ea typeface="黑体"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CDF554BA-67AD-4BD9-A538-144241BF78BD}"/>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8298487" y="763931"/>
            <a:ext cx="3893513" cy="4571998"/>
          </a:xfrm>
          <a:prstGeom prst="rect">
            <a:avLst/>
          </a:prstGeom>
        </p:spPr>
      </p:pic>
    </p:spTree>
    <p:extLst>
      <p:ext uri="{BB962C8B-B14F-4D97-AF65-F5344CB8AC3E}">
        <p14:creationId xmlns:p14="http://schemas.microsoft.com/office/powerpoint/2010/main" val="390116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73AAFF-644D-446C-A9BF-F26FD54DAC76}"/>
              </a:ext>
            </a:extLst>
          </p:cNvPr>
          <p:cNvSpPr>
            <a:spLocks noGrp="1"/>
          </p:cNvSpPr>
          <p:nvPr>
            <p:ph type="title"/>
          </p:nvPr>
        </p:nvSpPr>
        <p:spPr>
          <a:xfrm>
            <a:off x="8858" y="70398"/>
            <a:ext cx="10515600" cy="684514"/>
          </a:xfrm>
        </p:spPr>
        <p:txBody>
          <a:bodyPr vert="horz" lIns="91440" tIns="45720" rIns="91440" bIns="45720" rtlCol="0" anchor="ctr">
            <a:noAutofit/>
          </a:bodyPr>
          <a:lstStyle/>
          <a:p>
            <a:r>
              <a:rPr lang="zh-CN" altLang="en-US" sz="3600" b="1" dirty="0">
                <a:solidFill>
                  <a:srgbClr val="0000FF"/>
                </a:solidFill>
                <a:latin typeface="黑体" panose="02010600030101010101" pitchFamily="49" charset="-122"/>
                <a:ea typeface="黑体" panose="02010600030101010101" pitchFamily="49" charset="-122"/>
              </a:rPr>
              <a:t>（三）基因的多效性（一因多效）</a:t>
            </a:r>
          </a:p>
        </p:txBody>
      </p:sp>
      <p:sp>
        <p:nvSpPr>
          <p:cNvPr id="3" name="内容占位符 2">
            <a:extLst>
              <a:ext uri="{FF2B5EF4-FFF2-40B4-BE49-F238E27FC236}">
                <a16:creationId xmlns:a16="http://schemas.microsoft.com/office/drawing/2014/main" id="{0FAF04EC-B951-440D-8399-20F20E9C8318}"/>
              </a:ext>
            </a:extLst>
          </p:cNvPr>
          <p:cNvSpPr>
            <a:spLocks noGrp="1"/>
          </p:cNvSpPr>
          <p:nvPr>
            <p:ph idx="4294967295"/>
          </p:nvPr>
        </p:nvSpPr>
        <p:spPr>
          <a:xfrm>
            <a:off x="0" y="819799"/>
            <a:ext cx="7028121" cy="3642870"/>
          </a:xfrm>
        </p:spPr>
        <p:txBody>
          <a:bodyPr vert="horz" lIns="91440" tIns="45720" rIns="91440" bIns="45720" rtlCol="0">
            <a:normAutofit/>
          </a:bodyPr>
          <a:lstStyle/>
          <a:p>
            <a:pPr marL="114300" lvl="1" indent="-342900">
              <a:lnSpc>
                <a:spcPct val="120000"/>
              </a:lnSpc>
              <a:spcBef>
                <a:spcPts val="0"/>
              </a:spcBef>
              <a:buFont typeface="Wingdings" pitchFamily="2" charset="2"/>
              <a:buChar char="Ø"/>
            </a:pPr>
            <a:r>
              <a:rPr lang="zh-CN" altLang="en-US" b="1" dirty="0">
                <a:latin typeface="黑体" pitchFamily="49" charset="-122"/>
                <a:ea typeface="黑体" pitchFamily="49" charset="-122"/>
                <a:cs typeface="Times New Roman" panose="02020603050405020304" pitchFamily="18" charset="0"/>
              </a:rPr>
              <a:t>一个性状可以受到若干基因的影响，一个基因也可影响若干性状。</a:t>
            </a:r>
            <a:endParaRPr lang="en-US" altLang="zh-CN" b="1" dirty="0">
              <a:latin typeface="黑体" pitchFamily="49" charset="-122"/>
              <a:ea typeface="黑体" pitchFamily="49" charset="-122"/>
              <a:cs typeface="Times New Roman" panose="02020603050405020304" pitchFamily="18" charset="0"/>
            </a:endParaRPr>
          </a:p>
          <a:p>
            <a:pPr marL="114300" lvl="1" indent="-342900">
              <a:lnSpc>
                <a:spcPct val="120000"/>
              </a:lnSpc>
              <a:spcBef>
                <a:spcPts val="0"/>
              </a:spcBef>
              <a:buFont typeface="Wingdings" pitchFamily="2" charset="2"/>
              <a:buChar char="Ø"/>
            </a:pPr>
            <a:r>
              <a:rPr lang="zh-CN" altLang="en-US" b="1" dirty="0">
                <a:solidFill>
                  <a:srgbClr val="FF0000"/>
                </a:solidFill>
                <a:latin typeface="黑体" pitchFamily="49" charset="-122"/>
                <a:ea typeface="黑体" pitchFamily="49" charset="-122"/>
                <a:cs typeface="Times New Roman" panose="02020603050405020304" pitchFamily="18" charset="0"/>
              </a:rPr>
              <a:t>案例</a:t>
            </a:r>
            <a:r>
              <a:rPr lang="zh-CN" altLang="en-US" b="1" dirty="0">
                <a:latin typeface="黑体" pitchFamily="49" charset="-122"/>
                <a:ea typeface="黑体" pitchFamily="49" charset="-122"/>
                <a:cs typeface="Times New Roman" panose="02020603050405020304" pitchFamily="18" charset="0"/>
              </a:rPr>
              <a:t>：</a:t>
            </a:r>
            <a:r>
              <a:rPr lang="en-US" altLang="zh-CN" b="1" dirty="0">
                <a:latin typeface="黑体" pitchFamily="49" charset="-122"/>
                <a:ea typeface="黑体" pitchFamily="49" charset="-122"/>
                <a:cs typeface="Times New Roman" panose="02020603050405020304" pitchFamily="18" charset="0"/>
              </a:rPr>
              <a:t>FF</a:t>
            </a:r>
            <a:r>
              <a:rPr lang="zh-CN" altLang="en-US" b="1" dirty="0">
                <a:latin typeface="黑体" pitchFamily="49" charset="-122"/>
                <a:ea typeface="黑体" pitchFamily="49" charset="-122"/>
                <a:cs typeface="Times New Roman" panose="02020603050405020304" pitchFamily="18" charset="0"/>
              </a:rPr>
              <a:t>和</a:t>
            </a:r>
            <a:r>
              <a:rPr lang="en-US" altLang="zh-CN" b="1" dirty="0" err="1">
                <a:latin typeface="黑体" pitchFamily="49" charset="-122"/>
                <a:ea typeface="黑体" pitchFamily="49" charset="-122"/>
                <a:cs typeface="Times New Roman" panose="02020603050405020304" pitchFamily="18" charset="0"/>
              </a:rPr>
              <a:t>ff</a:t>
            </a:r>
            <a:r>
              <a:rPr lang="zh-CN" altLang="en-US" b="1" dirty="0">
                <a:latin typeface="黑体" pitchFamily="49" charset="-122"/>
                <a:ea typeface="黑体" pitchFamily="49" charset="-122"/>
                <a:cs typeface="Times New Roman" panose="02020603050405020304" pitchFamily="18" charset="0"/>
              </a:rPr>
              <a:t>基因分别决定翻毛鸡和非翻毛鸡。与此同时，翻毛鸡的体温比正常鸡低，心跳增加，心脏慢慢扩大，心脏的形状也发生改变，血液增加，脾也扩大。消化器官、消化腺和排泄器官都发生变化，生殖能力降低。</a:t>
            </a:r>
            <a:endParaRPr lang="en-US" altLang="zh-CN" b="1" dirty="0">
              <a:latin typeface="黑体" pitchFamily="49" charset="-122"/>
              <a:ea typeface="黑体" pitchFamily="49" charset="-122"/>
              <a:cs typeface="Times New Roman" panose="02020603050405020304" pitchFamily="18" charset="0"/>
            </a:endParaRPr>
          </a:p>
          <a:p>
            <a:pPr>
              <a:buFont typeface="Wingdings" pitchFamily="2" charset="2"/>
              <a:buChar char="Ø"/>
            </a:pPr>
            <a:endParaRPr lang="zh-CN" altLang="en-US" dirty="0"/>
          </a:p>
        </p:txBody>
      </p:sp>
      <p:pic>
        <p:nvPicPr>
          <p:cNvPr id="6" name="图片 5">
            <a:extLst>
              <a:ext uri="{FF2B5EF4-FFF2-40B4-BE49-F238E27FC236}">
                <a16:creationId xmlns:a16="http://schemas.microsoft.com/office/drawing/2014/main" id="{3821F0E1-A2DA-4320-AE4A-27B716469E21}"/>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6940031" y="1095018"/>
            <a:ext cx="5176986" cy="3367649"/>
          </a:xfrm>
          <a:prstGeom prst="rect">
            <a:avLst/>
          </a:prstGeom>
        </p:spPr>
      </p:pic>
      <p:sp>
        <p:nvSpPr>
          <p:cNvPr id="9" name="文本框 8">
            <a:extLst>
              <a:ext uri="{FF2B5EF4-FFF2-40B4-BE49-F238E27FC236}">
                <a16:creationId xmlns:a16="http://schemas.microsoft.com/office/drawing/2014/main" id="{A27B5153-1944-49C5-996D-7914B47B56D2}"/>
              </a:ext>
            </a:extLst>
          </p:cNvPr>
          <p:cNvSpPr txBox="1"/>
          <p:nvPr/>
        </p:nvSpPr>
        <p:spPr>
          <a:xfrm>
            <a:off x="7634887" y="4682168"/>
            <a:ext cx="4041918" cy="307777"/>
          </a:xfrm>
          <a:prstGeom prst="rect">
            <a:avLst/>
          </a:prstGeom>
          <a:noFill/>
        </p:spPr>
        <p:txBody>
          <a:bodyPr wrap="square">
            <a:spAutoFit/>
          </a:bodyPr>
          <a:lstStyle>
            <a:defPPr>
              <a:defRPr lang="zh-CN"/>
            </a:defPPr>
            <a:lvl1pPr algn="ctr">
              <a:defRPr sz="1400">
                <a:solidFill>
                  <a:srgbClr val="3A5991"/>
                </a:solidFill>
                <a:latin typeface="微软雅黑" panose="020B0503020204020204" pitchFamily="34" charset="-122"/>
                <a:ea typeface="微软雅黑" panose="020B0503020204020204" pitchFamily="34" charset="-122"/>
              </a:defRPr>
            </a:lvl1pPr>
          </a:lstStyle>
          <a:p>
            <a:r>
              <a:rPr lang="zh-CN" altLang="en-US" b="1" dirty="0">
                <a:solidFill>
                  <a:schemeClr val="tx1"/>
                </a:solidFill>
              </a:rPr>
              <a:t>非翻毛鸡与翻毛鸡交配， </a:t>
            </a:r>
            <a:r>
              <a:rPr lang="en-US" altLang="zh-CN" b="1" dirty="0">
                <a:solidFill>
                  <a:schemeClr val="tx1"/>
                </a:solidFill>
              </a:rPr>
              <a:t>F</a:t>
            </a:r>
            <a:r>
              <a:rPr lang="en-US" altLang="zh-CN" b="1" baseline="-25000" dirty="0">
                <a:solidFill>
                  <a:schemeClr val="tx1"/>
                </a:solidFill>
              </a:rPr>
              <a:t>1</a:t>
            </a:r>
            <a:r>
              <a:rPr lang="en-US" altLang="zh-CN" b="1" dirty="0">
                <a:solidFill>
                  <a:schemeClr val="tx1"/>
                </a:solidFill>
              </a:rPr>
              <a:t> </a:t>
            </a:r>
            <a:r>
              <a:rPr lang="zh-CN" altLang="en-US" b="1" dirty="0">
                <a:solidFill>
                  <a:schemeClr val="tx1"/>
                </a:solidFill>
              </a:rPr>
              <a:t>是轻度翻毛</a:t>
            </a:r>
          </a:p>
        </p:txBody>
      </p:sp>
    </p:spTree>
    <p:extLst>
      <p:ext uri="{BB962C8B-B14F-4D97-AF65-F5344CB8AC3E}">
        <p14:creationId xmlns:p14="http://schemas.microsoft.com/office/powerpoint/2010/main" val="22144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73AAFF-644D-446C-A9BF-F26FD54DAC76}"/>
              </a:ext>
            </a:extLst>
          </p:cNvPr>
          <p:cNvSpPr>
            <a:spLocks noGrp="1"/>
          </p:cNvSpPr>
          <p:nvPr>
            <p:ph type="title"/>
          </p:nvPr>
        </p:nvSpPr>
        <p:spPr>
          <a:xfrm>
            <a:off x="-25068" y="78047"/>
            <a:ext cx="11703911" cy="549274"/>
          </a:xfrm>
        </p:spPr>
        <p:txBody>
          <a:bodyPr vert="horz" lIns="91440" tIns="45720" rIns="91440" bIns="45720" rtlCol="0" anchor="ctr">
            <a:noAutofit/>
          </a:bodyPr>
          <a:lstStyle/>
          <a:p>
            <a:r>
              <a:rPr lang="zh-CN" altLang="en-US" sz="3600" b="1" dirty="0">
                <a:solidFill>
                  <a:srgbClr val="0000FF"/>
                </a:solidFill>
                <a:latin typeface="Times New Roman" pitchFamily="18" charset="0"/>
                <a:ea typeface="黑体" panose="02010600030101010101" pitchFamily="49" charset="-122"/>
                <a:cs typeface="Times New Roman" pitchFamily="18" charset="0"/>
              </a:rPr>
              <a:t>（四）表现度（</a:t>
            </a:r>
            <a:r>
              <a:rPr lang="en-US" altLang="zh-CN" sz="3600" b="1" dirty="0">
                <a:solidFill>
                  <a:srgbClr val="0000FF"/>
                </a:solidFill>
                <a:latin typeface="Times New Roman" pitchFamily="18" charset="0"/>
                <a:ea typeface="黑体" panose="02010600030101010101" pitchFamily="49" charset="-122"/>
                <a:cs typeface="Times New Roman" pitchFamily="18" charset="0"/>
              </a:rPr>
              <a:t>expressivity</a:t>
            </a:r>
            <a:r>
              <a:rPr lang="zh-CN" altLang="en-US" sz="3600" b="1" dirty="0">
                <a:solidFill>
                  <a:srgbClr val="0000FF"/>
                </a:solidFill>
                <a:latin typeface="Times New Roman" pitchFamily="18" charset="0"/>
                <a:ea typeface="黑体" panose="02010600030101010101" pitchFamily="49" charset="-122"/>
                <a:cs typeface="Times New Roman" pitchFamily="18" charset="0"/>
              </a:rPr>
              <a:t>）和外显率（</a:t>
            </a:r>
            <a:r>
              <a:rPr lang="en-US" altLang="zh-CN" sz="3600" b="1" dirty="0">
                <a:solidFill>
                  <a:srgbClr val="0000FF"/>
                </a:solidFill>
                <a:latin typeface="Times New Roman" pitchFamily="18" charset="0"/>
                <a:ea typeface="黑体" panose="02010600030101010101" pitchFamily="49" charset="-122"/>
                <a:cs typeface="Times New Roman" pitchFamily="18" charset="0"/>
              </a:rPr>
              <a:t>penetrance</a:t>
            </a:r>
            <a:r>
              <a:rPr lang="zh-CN" altLang="en-US" sz="3600" b="1" dirty="0">
                <a:solidFill>
                  <a:srgbClr val="0000FF"/>
                </a:solidFill>
                <a:latin typeface="Times New Roman" pitchFamily="18" charset="0"/>
                <a:ea typeface="黑体" panose="02010600030101010101" pitchFamily="49" charset="-122"/>
                <a:cs typeface="Times New Roman" pitchFamily="18" charset="0"/>
              </a:rPr>
              <a:t>）</a:t>
            </a:r>
          </a:p>
        </p:txBody>
      </p:sp>
      <p:sp>
        <p:nvSpPr>
          <p:cNvPr id="3" name="内容占位符 2">
            <a:extLst>
              <a:ext uri="{FF2B5EF4-FFF2-40B4-BE49-F238E27FC236}">
                <a16:creationId xmlns:a16="http://schemas.microsoft.com/office/drawing/2014/main" id="{0FAF04EC-B951-440D-8399-20F20E9C8318}"/>
              </a:ext>
            </a:extLst>
          </p:cNvPr>
          <p:cNvSpPr>
            <a:spLocks noGrp="1"/>
          </p:cNvSpPr>
          <p:nvPr>
            <p:ph idx="4294967295"/>
          </p:nvPr>
        </p:nvSpPr>
        <p:spPr>
          <a:xfrm>
            <a:off x="108997" y="825389"/>
            <a:ext cx="7503736" cy="4687887"/>
          </a:xfrm>
        </p:spPr>
        <p:txBody>
          <a:bodyPr vert="horz" lIns="91440" tIns="45720" rIns="91440" bIns="45720" rtlCol="0">
            <a:normAutofit/>
          </a:bodyPr>
          <a:lstStyle/>
          <a:p>
            <a:pPr marL="114300" lvl="1" indent="-342900">
              <a:lnSpc>
                <a:spcPct val="120000"/>
              </a:lnSpc>
              <a:spcBef>
                <a:spcPts val="0"/>
              </a:spcBef>
              <a:buFont typeface="Wingdings" pitchFamily="2" charset="2"/>
              <a:buChar char="Ø"/>
            </a:pPr>
            <a:r>
              <a:rPr lang="zh-CN" altLang="en-US" b="1" dirty="0">
                <a:latin typeface="黑体" pitchFamily="49" charset="-122"/>
                <a:ea typeface="黑体" pitchFamily="49" charset="-122"/>
                <a:cs typeface="Times New Roman" panose="02020603050405020304" pitchFamily="18" charset="0"/>
              </a:rPr>
              <a:t>有些基因的表型效应在不同个体中有各种变化。这种变化有时来源于环境因子的变动，有时是其他基因的影响，有时是环境和基因的共同作用。</a:t>
            </a:r>
            <a:endParaRPr lang="en-US" altLang="zh-CN" b="1" dirty="0">
              <a:latin typeface="黑体" pitchFamily="49" charset="-122"/>
              <a:ea typeface="黑体" pitchFamily="49" charset="-122"/>
              <a:cs typeface="Times New Roman" panose="02020603050405020304" pitchFamily="18" charset="0"/>
            </a:endParaRPr>
          </a:p>
          <a:p>
            <a:pPr marL="114300" lvl="1" indent="-342900">
              <a:lnSpc>
                <a:spcPct val="120000"/>
              </a:lnSpc>
              <a:spcBef>
                <a:spcPts val="0"/>
              </a:spcBef>
              <a:buFont typeface="Wingdings" pitchFamily="2" charset="2"/>
              <a:buChar char="Ø"/>
            </a:pPr>
            <a:r>
              <a:rPr lang="zh-CN" altLang="en-US" b="1" dirty="0">
                <a:solidFill>
                  <a:srgbClr val="0000FF"/>
                </a:solidFill>
                <a:latin typeface="黑体" pitchFamily="49" charset="-122"/>
                <a:ea typeface="黑体" pitchFamily="49" charset="-122"/>
                <a:cs typeface="Times New Roman" panose="02020603050405020304" pitchFamily="18" charset="0"/>
              </a:rPr>
              <a:t>具有相同基因型的个体间基因表达的变化程度称为表现度</a:t>
            </a:r>
            <a:r>
              <a:rPr lang="zh-CN" altLang="en-US" b="1" dirty="0">
                <a:latin typeface="黑体" pitchFamily="49" charset="-122"/>
                <a:ea typeface="黑体" pitchFamily="49" charset="-122"/>
                <a:cs typeface="Times New Roman" panose="02020603050405020304" pitchFamily="18" charset="0"/>
              </a:rPr>
              <a:t>。</a:t>
            </a:r>
            <a:endParaRPr lang="en-US" altLang="zh-CN" b="1" dirty="0">
              <a:latin typeface="黑体" pitchFamily="49" charset="-122"/>
              <a:ea typeface="黑体" pitchFamily="49" charset="-122"/>
              <a:cs typeface="Times New Roman" panose="02020603050405020304" pitchFamily="18" charset="0"/>
            </a:endParaRPr>
          </a:p>
          <a:p>
            <a:pPr marL="114300" lvl="1" indent="-342900">
              <a:lnSpc>
                <a:spcPct val="120000"/>
              </a:lnSpc>
              <a:spcBef>
                <a:spcPts val="0"/>
              </a:spcBef>
              <a:buFont typeface="Wingdings" pitchFamily="2" charset="2"/>
              <a:buChar char="Ø"/>
            </a:pPr>
            <a:r>
              <a:rPr lang="zh-CN" altLang="en-US" b="1" dirty="0">
                <a:solidFill>
                  <a:srgbClr val="FF0000"/>
                </a:solidFill>
                <a:latin typeface="黑体" pitchFamily="49" charset="-122"/>
                <a:ea typeface="黑体" pitchFamily="49" charset="-122"/>
                <a:cs typeface="Times New Roman" panose="02020603050405020304" pitchFamily="18" charset="0"/>
              </a:rPr>
              <a:t>案例</a:t>
            </a:r>
            <a:r>
              <a:rPr lang="zh-CN" altLang="en-US" b="1" dirty="0">
                <a:latin typeface="黑体" pitchFamily="49" charset="-122"/>
                <a:ea typeface="黑体" pitchFamily="49" charset="-122"/>
                <a:cs typeface="Times New Roman" panose="02020603050405020304" pitchFamily="18" charset="0"/>
              </a:rPr>
              <a:t>：黑腹果蝇中有一个细眼基因影响复眼的大小和形状。</a:t>
            </a:r>
            <a:endParaRPr lang="en-US" altLang="zh-CN" b="1" dirty="0">
              <a:latin typeface="黑体" pitchFamily="49" charset="-122"/>
              <a:ea typeface="黑体"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1270DBD6-D2ED-4B6E-B6BA-04C9BF9E7779}"/>
              </a:ext>
            </a:extLst>
          </p:cNvPr>
          <p:cNvPicPr>
            <a:picLocks noChangeAspect="1"/>
          </p:cNvPicPr>
          <p:nvPr/>
        </p:nvPicPr>
        <p:blipFill>
          <a:blip r:embed="rId3"/>
          <a:stretch>
            <a:fillRect/>
          </a:stretch>
        </p:blipFill>
        <p:spPr>
          <a:xfrm>
            <a:off x="7366060" y="967563"/>
            <a:ext cx="4825940" cy="3398981"/>
          </a:xfrm>
          <a:prstGeom prst="rect">
            <a:avLst/>
          </a:prstGeom>
        </p:spPr>
      </p:pic>
      <p:sp>
        <p:nvSpPr>
          <p:cNvPr id="6" name="文本框 5">
            <a:extLst>
              <a:ext uri="{FF2B5EF4-FFF2-40B4-BE49-F238E27FC236}">
                <a16:creationId xmlns:a16="http://schemas.microsoft.com/office/drawing/2014/main" id="{3D98B822-3E4C-4D18-A4A1-03B52A900BFE}"/>
              </a:ext>
            </a:extLst>
          </p:cNvPr>
          <p:cNvSpPr txBox="1"/>
          <p:nvPr/>
        </p:nvSpPr>
        <p:spPr>
          <a:xfrm>
            <a:off x="7754524" y="4366544"/>
            <a:ext cx="4041918" cy="307777"/>
          </a:xfrm>
          <a:prstGeom prst="rect">
            <a:avLst/>
          </a:prstGeom>
          <a:noFill/>
        </p:spPr>
        <p:txBody>
          <a:bodyPr wrap="square">
            <a:spAutoFit/>
          </a:bodyPr>
          <a:lstStyle>
            <a:defPPr>
              <a:defRPr lang="zh-CN"/>
            </a:defPPr>
            <a:lvl1pPr algn="ctr">
              <a:defRPr sz="1400">
                <a:solidFill>
                  <a:srgbClr val="3A5991"/>
                </a:solidFill>
                <a:latin typeface="微软雅黑" panose="020B0503020204020204" pitchFamily="34" charset="-122"/>
                <a:ea typeface="微软雅黑" panose="020B0503020204020204" pitchFamily="34" charset="-122"/>
              </a:defRPr>
            </a:lvl1pPr>
          </a:lstStyle>
          <a:p>
            <a:r>
              <a:rPr lang="zh-CN" altLang="en-US" b="1" dirty="0">
                <a:solidFill>
                  <a:schemeClr val="tx1"/>
                </a:solidFill>
                <a:latin typeface="黑体" pitchFamily="49" charset="-122"/>
                <a:ea typeface="黑体" pitchFamily="49" charset="-122"/>
              </a:rPr>
              <a:t>细眼基因突变果蝇的表型变化</a:t>
            </a:r>
          </a:p>
        </p:txBody>
      </p:sp>
      <p:sp>
        <p:nvSpPr>
          <p:cNvPr id="7" name="文本框 6">
            <a:extLst>
              <a:ext uri="{FF2B5EF4-FFF2-40B4-BE49-F238E27FC236}">
                <a16:creationId xmlns:a16="http://schemas.microsoft.com/office/drawing/2014/main" id="{5E6D4D92-1889-477C-B9E6-B68B22144626}"/>
              </a:ext>
            </a:extLst>
          </p:cNvPr>
          <p:cNvSpPr txBox="1"/>
          <p:nvPr/>
        </p:nvSpPr>
        <p:spPr>
          <a:xfrm>
            <a:off x="7646429" y="4674321"/>
            <a:ext cx="4325500" cy="461665"/>
          </a:xfrm>
          <a:prstGeom prst="rect">
            <a:avLst/>
          </a:prstGeom>
          <a:noFill/>
        </p:spPr>
        <p:txBody>
          <a:bodyPr wrap="square">
            <a:spAutoFit/>
          </a:bodyPr>
          <a:lstStyle>
            <a:defPPr>
              <a:defRPr lang="zh-CN"/>
            </a:defPPr>
            <a:lvl1pPr>
              <a:defRPr sz="1200">
                <a:solidFill>
                  <a:prstClr val="black"/>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b="1" dirty="0">
                <a:solidFill>
                  <a:schemeClr val="tx1"/>
                </a:solidFill>
                <a:latin typeface="黑体" pitchFamily="49" charset="-122"/>
                <a:ea typeface="黑体" pitchFamily="49" charset="-122"/>
              </a:rPr>
              <a:t>(</a:t>
            </a:r>
            <a:r>
              <a:rPr lang="zh-CN" altLang="en-US" b="1" dirty="0">
                <a:solidFill>
                  <a:schemeClr val="tx1"/>
                </a:solidFill>
                <a:latin typeface="黑体" pitchFamily="49" charset="-122"/>
                <a:ea typeface="黑体" pitchFamily="49" charset="-122"/>
              </a:rPr>
              <a:t>引自</a:t>
            </a:r>
            <a:r>
              <a:rPr lang="en-US" altLang="zh-CN" sz="1200" b="1" dirty="0" err="1">
                <a:solidFill>
                  <a:schemeClr val="tx1"/>
                </a:solidFill>
                <a:latin typeface="黑体" pitchFamily="49" charset="-122"/>
                <a:ea typeface="黑体" pitchFamily="49" charset="-122"/>
              </a:rPr>
              <a:t>Snustad</a:t>
            </a:r>
            <a:r>
              <a:rPr lang="en-US" altLang="zh-CN" sz="1200" b="1" dirty="0">
                <a:solidFill>
                  <a:schemeClr val="tx1"/>
                </a:solidFill>
                <a:latin typeface="黑体" pitchFamily="49" charset="-122"/>
                <a:ea typeface="黑体" pitchFamily="49" charset="-122"/>
              </a:rPr>
              <a:t> D P</a:t>
            </a:r>
            <a:r>
              <a:rPr lang="en-US" altLang="zh-CN" b="1" dirty="0">
                <a:solidFill>
                  <a:schemeClr val="tx1"/>
                </a:solidFill>
                <a:latin typeface="黑体" pitchFamily="49" charset="-122"/>
                <a:ea typeface="黑体" pitchFamily="49" charset="-122"/>
              </a:rPr>
              <a:t>,</a:t>
            </a:r>
            <a:r>
              <a:rPr lang="zh-CN" altLang="en-US" b="1" dirty="0">
                <a:solidFill>
                  <a:schemeClr val="tx1"/>
                </a:solidFill>
                <a:latin typeface="黑体" pitchFamily="49" charset="-122"/>
                <a:ea typeface="黑体" pitchFamily="49" charset="-122"/>
              </a:rPr>
              <a:t> </a:t>
            </a:r>
            <a:r>
              <a:rPr lang="en-US" altLang="zh-CN" b="1" dirty="0">
                <a:solidFill>
                  <a:schemeClr val="tx1"/>
                </a:solidFill>
                <a:latin typeface="黑体" pitchFamily="49" charset="-122"/>
                <a:ea typeface="黑体" pitchFamily="49" charset="-122"/>
              </a:rPr>
              <a:t>et</a:t>
            </a:r>
            <a:r>
              <a:rPr lang="zh-CN" altLang="en-US" b="1" dirty="0">
                <a:solidFill>
                  <a:schemeClr val="tx1"/>
                </a:solidFill>
                <a:latin typeface="黑体" pitchFamily="49" charset="-122"/>
                <a:ea typeface="黑体" pitchFamily="49" charset="-122"/>
              </a:rPr>
              <a:t> </a:t>
            </a:r>
            <a:r>
              <a:rPr lang="en-US" altLang="zh-CN" b="1" dirty="0">
                <a:solidFill>
                  <a:schemeClr val="tx1"/>
                </a:solidFill>
                <a:latin typeface="黑体" pitchFamily="49" charset="-122"/>
                <a:ea typeface="黑体" pitchFamily="49" charset="-122"/>
              </a:rPr>
              <a:t>al</a:t>
            </a:r>
            <a:r>
              <a:rPr lang="en-US" altLang="zh-CN" sz="1200" b="1" dirty="0">
                <a:solidFill>
                  <a:schemeClr val="tx1"/>
                </a:solidFill>
                <a:latin typeface="黑体" pitchFamily="49" charset="-122"/>
                <a:ea typeface="黑体" pitchFamily="49" charset="-122"/>
              </a:rPr>
              <a:t>. </a:t>
            </a:r>
            <a:r>
              <a:rPr lang="en-US" altLang="zh-CN" sz="1200" b="1" i="1" dirty="0">
                <a:solidFill>
                  <a:schemeClr val="tx1"/>
                </a:solidFill>
                <a:latin typeface="黑体" pitchFamily="49" charset="-122"/>
                <a:ea typeface="黑体" pitchFamily="49" charset="-122"/>
              </a:rPr>
              <a:t>Principles of Genetics </a:t>
            </a:r>
            <a:r>
              <a:rPr lang="en-US" altLang="zh-CN" sz="1200" b="1" dirty="0">
                <a:solidFill>
                  <a:schemeClr val="tx1"/>
                </a:solidFill>
                <a:latin typeface="黑体" pitchFamily="49" charset="-122"/>
                <a:ea typeface="黑体" pitchFamily="49" charset="-122"/>
              </a:rPr>
              <a:t>6</a:t>
            </a:r>
            <a:r>
              <a:rPr lang="en-US" altLang="zh-CN" sz="1200" b="1" baseline="30000" dirty="0">
                <a:solidFill>
                  <a:schemeClr val="tx1"/>
                </a:solidFill>
                <a:latin typeface="黑体" pitchFamily="49" charset="-122"/>
                <a:ea typeface="黑体" pitchFamily="49" charset="-122"/>
              </a:rPr>
              <a:t>th</a:t>
            </a:r>
            <a:r>
              <a:rPr lang="en-US" altLang="zh-CN" sz="1200" b="1" dirty="0">
                <a:solidFill>
                  <a:schemeClr val="tx1"/>
                </a:solidFill>
                <a:latin typeface="黑体" pitchFamily="49" charset="-122"/>
                <a:ea typeface="黑体" pitchFamily="49" charset="-122"/>
              </a:rPr>
              <a:t> edition. John Wiley &amp; Sons, Inc. 2012)</a:t>
            </a:r>
            <a:endParaRPr lang="zh-CN" altLang="en-US" b="1" dirty="0">
              <a:solidFill>
                <a:schemeClr val="tx1"/>
              </a:solidFill>
              <a:latin typeface="黑体" pitchFamily="49" charset="-122"/>
              <a:ea typeface="黑体" pitchFamily="49" charset="-122"/>
            </a:endParaRPr>
          </a:p>
        </p:txBody>
      </p:sp>
    </p:spTree>
    <p:extLst>
      <p:ext uri="{BB962C8B-B14F-4D97-AF65-F5344CB8AC3E}">
        <p14:creationId xmlns:p14="http://schemas.microsoft.com/office/powerpoint/2010/main" val="959649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6992364C-AEDF-4661-9B53-CC596D29F377}"/>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1942522" y="532437"/>
            <a:ext cx="8335549" cy="4051542"/>
          </a:xfrm>
          <a:prstGeom prst="rect">
            <a:avLst/>
          </a:prstGeom>
        </p:spPr>
      </p:pic>
      <p:sp>
        <p:nvSpPr>
          <p:cNvPr id="8" name="文本框 7">
            <a:extLst>
              <a:ext uri="{FF2B5EF4-FFF2-40B4-BE49-F238E27FC236}">
                <a16:creationId xmlns:a16="http://schemas.microsoft.com/office/drawing/2014/main" id="{7B20FD52-F6DF-4A92-A35F-53CD2F016B9A}"/>
              </a:ext>
            </a:extLst>
          </p:cNvPr>
          <p:cNvSpPr txBox="1"/>
          <p:nvPr/>
        </p:nvSpPr>
        <p:spPr>
          <a:xfrm>
            <a:off x="1773821" y="4766188"/>
            <a:ext cx="8353779" cy="461665"/>
          </a:xfrm>
          <a:prstGeom prst="rect">
            <a:avLst/>
          </a:prstGeom>
          <a:noFill/>
        </p:spPr>
        <p:txBody>
          <a:bodyPr wrap="square">
            <a:spAutoFit/>
          </a:bodyPr>
          <a:lstStyle>
            <a:defPPr>
              <a:defRPr lang="zh-CN"/>
            </a:defPPr>
            <a:lvl1pPr algn="ctr">
              <a:defRPr sz="1400" b="1">
                <a:latin typeface="黑体" pitchFamily="49" charset="-122"/>
                <a:ea typeface="黑体" pitchFamily="49" charset="-122"/>
              </a:defRPr>
            </a:lvl1pPr>
          </a:lstStyle>
          <a:p>
            <a:r>
              <a:rPr lang="zh-CN" altLang="en-US" sz="2400" dirty="0"/>
              <a:t>一个成骨不全患者的家系（单基因显性遗传病）（李璞提供）</a:t>
            </a:r>
          </a:p>
        </p:txBody>
      </p:sp>
    </p:spTree>
    <p:extLst>
      <p:ext uri="{BB962C8B-B14F-4D97-AF65-F5344CB8AC3E}">
        <p14:creationId xmlns:p14="http://schemas.microsoft.com/office/powerpoint/2010/main" val="1103805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3B05142-68B2-497A-AB60-BC81ACF48921}"/>
              </a:ext>
            </a:extLst>
          </p:cNvPr>
          <p:cNvSpPr>
            <a:spLocks noGrp="1"/>
          </p:cNvSpPr>
          <p:nvPr>
            <p:ph idx="4294967295"/>
          </p:nvPr>
        </p:nvSpPr>
        <p:spPr>
          <a:xfrm>
            <a:off x="0" y="1195043"/>
            <a:ext cx="6667249" cy="4469041"/>
          </a:xfrm>
        </p:spPr>
        <p:txBody>
          <a:bodyPr vert="horz" lIns="91440" tIns="45720" rIns="91440" bIns="45720" rtlCol="0">
            <a:normAutofit/>
          </a:bodyPr>
          <a:lstStyle/>
          <a:p>
            <a:pPr marL="342900" lvl="1" indent="-342900">
              <a:lnSpc>
                <a:spcPct val="120000"/>
              </a:lnSpc>
              <a:spcBef>
                <a:spcPts val="0"/>
              </a:spcBef>
              <a:buFont typeface="Wingdings" pitchFamily="2" charset="2"/>
              <a:buChar char="Ø"/>
            </a:pPr>
            <a:r>
              <a:rPr lang="zh-CN" altLang="en-US" b="1" dirty="0">
                <a:solidFill>
                  <a:srgbClr val="FF0000"/>
                </a:solidFill>
                <a:latin typeface="黑体" pitchFamily="49" charset="-122"/>
                <a:ea typeface="黑体" pitchFamily="49" charset="-122"/>
                <a:cs typeface="Times New Roman" panose="02020603050405020304" pitchFamily="18" charset="0"/>
              </a:rPr>
              <a:t>外显率是某一基因型个体显示预期表型的比例。</a:t>
            </a:r>
            <a:endParaRPr lang="en-US" altLang="zh-CN" b="1" dirty="0">
              <a:solidFill>
                <a:srgbClr val="FF0000"/>
              </a:solidFill>
              <a:latin typeface="黑体" pitchFamily="49" charset="-122"/>
              <a:ea typeface="黑体" pitchFamily="49" charset="-122"/>
              <a:cs typeface="Times New Roman" panose="02020603050405020304" pitchFamily="18" charset="0"/>
            </a:endParaRPr>
          </a:p>
          <a:p>
            <a:pPr marL="342900" lvl="1" indent="-342900">
              <a:lnSpc>
                <a:spcPct val="120000"/>
              </a:lnSpc>
              <a:spcBef>
                <a:spcPts val="0"/>
              </a:spcBef>
              <a:buFont typeface="Wingdings" pitchFamily="2" charset="2"/>
              <a:buChar char="Ø"/>
            </a:pPr>
            <a:r>
              <a:rPr lang="zh-CN" altLang="en-US" b="1" dirty="0">
                <a:solidFill>
                  <a:srgbClr val="FF0000"/>
                </a:solidFill>
                <a:latin typeface="黑体" pitchFamily="49" charset="-122"/>
                <a:ea typeface="黑体" pitchFamily="49" charset="-122"/>
                <a:cs typeface="Times New Roman" panose="02020603050405020304" pitchFamily="18" charset="0"/>
              </a:rPr>
              <a:t>案例</a:t>
            </a:r>
            <a:r>
              <a:rPr lang="en-US" altLang="zh-CN" b="1" dirty="0">
                <a:solidFill>
                  <a:srgbClr val="FF0000"/>
                </a:solidFill>
                <a:latin typeface="黑体" pitchFamily="49" charset="-122"/>
                <a:ea typeface="黑体" pitchFamily="49" charset="-122"/>
                <a:cs typeface="Times New Roman" panose="02020603050405020304" pitchFamily="18" charset="0"/>
              </a:rPr>
              <a:t>1</a:t>
            </a:r>
            <a:r>
              <a:rPr lang="zh-CN" altLang="en-US" b="1" dirty="0">
                <a:latin typeface="黑体" pitchFamily="49" charset="-122"/>
                <a:ea typeface="黑体" pitchFamily="49" charset="-122"/>
                <a:cs typeface="Times New Roman" panose="02020603050405020304" pitchFamily="18" charset="0"/>
              </a:rPr>
              <a:t>：黑腹果蝇中，隐性的间断翅脉基因 </a:t>
            </a:r>
            <a:r>
              <a:rPr lang="en-US" altLang="zh-CN" b="1" dirty="0">
                <a:latin typeface="黑体" pitchFamily="49" charset="-122"/>
                <a:ea typeface="黑体" pitchFamily="49" charset="-122"/>
                <a:cs typeface="Times New Roman" panose="02020603050405020304" pitchFamily="18" charset="0"/>
              </a:rPr>
              <a:t>i </a:t>
            </a:r>
            <a:r>
              <a:rPr lang="zh-CN" altLang="en-US" b="1" dirty="0">
                <a:latin typeface="黑体" pitchFamily="49" charset="-122"/>
                <a:ea typeface="黑体" pitchFamily="49" charset="-122"/>
                <a:cs typeface="Times New Roman" panose="02020603050405020304" pitchFamily="18" charset="0"/>
              </a:rPr>
              <a:t>的外显率不全，只有</a:t>
            </a:r>
            <a:r>
              <a:rPr lang="en-US" altLang="zh-CN" b="1" dirty="0">
                <a:latin typeface="黑体" pitchFamily="49" charset="-122"/>
                <a:ea typeface="黑体" pitchFamily="49" charset="-122"/>
                <a:cs typeface="Times New Roman" panose="02020603050405020304" pitchFamily="18" charset="0"/>
              </a:rPr>
              <a:t>90%</a:t>
            </a:r>
            <a:r>
              <a:rPr lang="zh-CN" altLang="en-US" b="1" dirty="0">
                <a:latin typeface="黑体" pitchFamily="49" charset="-122"/>
                <a:ea typeface="黑体" pitchFamily="49" charset="-122"/>
                <a:cs typeface="Times New Roman" panose="02020603050405020304" pitchFamily="18" charset="0"/>
              </a:rPr>
              <a:t>。即</a:t>
            </a:r>
            <a:r>
              <a:rPr lang="en-US" altLang="zh-CN" b="1" dirty="0">
                <a:latin typeface="黑体" pitchFamily="49" charset="-122"/>
                <a:ea typeface="黑体" pitchFamily="49" charset="-122"/>
                <a:cs typeface="Times New Roman" panose="02020603050405020304" pitchFamily="18" charset="0"/>
              </a:rPr>
              <a:t>90%</a:t>
            </a:r>
            <a:r>
              <a:rPr lang="zh-CN" altLang="en-US" b="1" dirty="0">
                <a:latin typeface="黑体" pitchFamily="49" charset="-122"/>
                <a:ea typeface="黑体" pitchFamily="49" charset="-122"/>
                <a:cs typeface="Times New Roman" panose="02020603050405020304" pitchFamily="18" charset="0"/>
              </a:rPr>
              <a:t>的</a:t>
            </a:r>
            <a:r>
              <a:rPr lang="en-US" altLang="zh-CN" b="1" dirty="0">
                <a:latin typeface="黑体" pitchFamily="49" charset="-122"/>
                <a:ea typeface="黑体" pitchFamily="49" charset="-122"/>
                <a:cs typeface="Times New Roman" panose="02020603050405020304" pitchFamily="18" charset="0"/>
              </a:rPr>
              <a:t>ii</a:t>
            </a:r>
            <a:r>
              <a:rPr lang="zh-CN" altLang="en-US" b="1" dirty="0">
                <a:latin typeface="黑体" pitchFamily="49" charset="-122"/>
                <a:ea typeface="黑体" pitchFamily="49" charset="-122"/>
                <a:cs typeface="Times New Roman" panose="02020603050405020304" pitchFamily="18" charset="0"/>
              </a:rPr>
              <a:t>基因型个体有间断翅脉， 其余</a:t>
            </a:r>
            <a:r>
              <a:rPr lang="en-US" altLang="zh-CN" b="1" dirty="0">
                <a:latin typeface="黑体" pitchFamily="49" charset="-122"/>
                <a:ea typeface="黑体" pitchFamily="49" charset="-122"/>
                <a:cs typeface="Times New Roman" panose="02020603050405020304" pitchFamily="18" charset="0"/>
              </a:rPr>
              <a:t>10%</a:t>
            </a:r>
            <a:r>
              <a:rPr lang="zh-CN" altLang="en-US" b="1" dirty="0">
                <a:latin typeface="黑体" pitchFamily="49" charset="-122"/>
                <a:ea typeface="黑体" pitchFamily="49" charset="-122"/>
                <a:cs typeface="Times New Roman" panose="02020603050405020304" pitchFamily="18" charset="0"/>
              </a:rPr>
              <a:t>是野生型表型。</a:t>
            </a:r>
            <a:endParaRPr lang="en-US" altLang="zh-CN" b="1" dirty="0">
              <a:latin typeface="黑体" pitchFamily="49" charset="-122"/>
              <a:ea typeface="黑体" pitchFamily="49" charset="-122"/>
              <a:cs typeface="Times New Roman" panose="02020603050405020304" pitchFamily="18" charset="0"/>
            </a:endParaRPr>
          </a:p>
          <a:p>
            <a:pPr marL="342900" lvl="1" indent="-342900">
              <a:lnSpc>
                <a:spcPct val="120000"/>
              </a:lnSpc>
              <a:spcBef>
                <a:spcPts val="0"/>
              </a:spcBef>
              <a:buFont typeface="Wingdings" pitchFamily="2" charset="2"/>
              <a:buChar char="Ø"/>
            </a:pPr>
            <a:r>
              <a:rPr lang="zh-CN" altLang="en-US" b="1" dirty="0">
                <a:solidFill>
                  <a:srgbClr val="FF0000"/>
                </a:solidFill>
                <a:latin typeface="黑体" pitchFamily="49" charset="-122"/>
                <a:ea typeface="黑体" pitchFamily="49" charset="-122"/>
                <a:cs typeface="Times New Roman" panose="02020603050405020304" pitchFamily="18" charset="0"/>
              </a:rPr>
              <a:t>案例</a:t>
            </a:r>
            <a:r>
              <a:rPr lang="en-US" altLang="zh-CN" b="1" dirty="0">
                <a:solidFill>
                  <a:srgbClr val="FF0000"/>
                </a:solidFill>
                <a:latin typeface="黑体" pitchFamily="49" charset="-122"/>
                <a:ea typeface="黑体" pitchFamily="49" charset="-122"/>
                <a:cs typeface="Times New Roman" panose="02020603050405020304" pitchFamily="18" charset="0"/>
              </a:rPr>
              <a:t>2</a:t>
            </a:r>
            <a:r>
              <a:rPr lang="zh-CN" altLang="en-US" b="1" dirty="0">
                <a:latin typeface="黑体" pitchFamily="49" charset="-122"/>
                <a:ea typeface="黑体" pitchFamily="49" charset="-122"/>
                <a:cs typeface="Times New Roman" panose="02020603050405020304" pitchFamily="18" charset="0"/>
              </a:rPr>
              <a:t>：人的克鲁宗综合征（不完全外显的显性遗传病）。</a:t>
            </a:r>
          </a:p>
        </p:txBody>
      </p:sp>
      <p:pic>
        <p:nvPicPr>
          <p:cNvPr id="6" name="图片 5">
            <a:extLst>
              <a:ext uri="{FF2B5EF4-FFF2-40B4-BE49-F238E27FC236}">
                <a16:creationId xmlns:a16="http://schemas.microsoft.com/office/drawing/2014/main" id="{854B3898-DC74-4C0C-82F5-C6D123052922}"/>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6869016" y="659740"/>
            <a:ext cx="5322984" cy="4123296"/>
          </a:xfrm>
          <a:prstGeom prst="rect">
            <a:avLst/>
          </a:prstGeom>
        </p:spPr>
      </p:pic>
      <p:sp>
        <p:nvSpPr>
          <p:cNvPr id="8" name="文本框 7">
            <a:extLst>
              <a:ext uri="{FF2B5EF4-FFF2-40B4-BE49-F238E27FC236}">
                <a16:creationId xmlns:a16="http://schemas.microsoft.com/office/drawing/2014/main" id="{4043A83D-8C6B-4807-83EA-3CFBD1B99BF6}"/>
              </a:ext>
            </a:extLst>
          </p:cNvPr>
          <p:cNvSpPr txBox="1"/>
          <p:nvPr/>
        </p:nvSpPr>
        <p:spPr>
          <a:xfrm>
            <a:off x="7278294" y="4916813"/>
            <a:ext cx="5017878" cy="400110"/>
          </a:xfrm>
          <a:prstGeom prst="rect">
            <a:avLst/>
          </a:prstGeom>
          <a:noFill/>
        </p:spPr>
        <p:txBody>
          <a:bodyPr wrap="square">
            <a:spAutoFit/>
          </a:bodyPr>
          <a:lstStyle>
            <a:defPPr>
              <a:defRPr lang="zh-CN"/>
            </a:defPPr>
            <a:lvl1pPr algn="ctr">
              <a:defRPr sz="2000" b="1">
                <a:latin typeface="黑体" pitchFamily="49" charset="-122"/>
                <a:ea typeface="黑体" pitchFamily="49" charset="-122"/>
              </a:defRPr>
            </a:lvl1pPr>
          </a:lstStyle>
          <a:p>
            <a:r>
              <a:rPr lang="zh-CN" altLang="en-US" dirty="0"/>
              <a:t>一个克鲁宗综合征的家系</a:t>
            </a:r>
          </a:p>
        </p:txBody>
      </p:sp>
      <p:sp>
        <p:nvSpPr>
          <p:cNvPr id="5" name="灯片编号占位符 2">
            <a:extLst>
              <a:ext uri="{FF2B5EF4-FFF2-40B4-BE49-F238E27FC236}">
                <a16:creationId xmlns:a16="http://schemas.microsoft.com/office/drawing/2014/main" id="{542EE901-1411-4562-9D91-EDD06600F4AE}"/>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17</a:t>
            </a:fld>
            <a:endParaRPr lang="zh-CN" altLang="en-US" dirty="0"/>
          </a:p>
        </p:txBody>
      </p:sp>
      <p:sp>
        <p:nvSpPr>
          <p:cNvPr id="2" name="矩形 1"/>
          <p:cNvSpPr/>
          <p:nvPr/>
        </p:nvSpPr>
        <p:spPr>
          <a:xfrm>
            <a:off x="-1411" y="183071"/>
            <a:ext cx="8776363" cy="476669"/>
          </a:xfrm>
          <a:prstGeom prst="rect">
            <a:avLst/>
          </a:prstGeom>
        </p:spPr>
        <p:txBody>
          <a:bodyPr vert="horz" lIns="91440" tIns="45720" rIns="91440" bIns="45720" rtlCol="0">
            <a:noAutofit/>
          </a:bodyPr>
          <a:lstStyle/>
          <a:p>
            <a:pPr marL="114300" lvl="1" indent="-342900">
              <a:lnSpc>
                <a:spcPct val="120000"/>
              </a:lnSpc>
              <a:buFont typeface="Wingdings" pitchFamily="2" charset="2"/>
              <a:buChar char="Ø"/>
            </a:pPr>
            <a:r>
              <a:rPr lang="zh-CN" altLang="en-US" sz="3200" b="1" dirty="0">
                <a:solidFill>
                  <a:srgbClr val="0000FF"/>
                </a:solidFill>
                <a:latin typeface="黑体" pitchFamily="49" charset="-122"/>
                <a:ea typeface="黑体" pitchFamily="49" charset="-122"/>
                <a:cs typeface="Times New Roman" panose="02020603050405020304" pitchFamily="18" charset="0"/>
              </a:rPr>
              <a:t>不完全外显（</a:t>
            </a:r>
            <a:r>
              <a:rPr lang="en-US" altLang="zh-CN" sz="3200" b="1" dirty="0">
                <a:solidFill>
                  <a:srgbClr val="0000FF"/>
                </a:solidFill>
                <a:latin typeface="黑体" pitchFamily="49" charset="-122"/>
                <a:ea typeface="黑体" pitchFamily="49" charset="-122"/>
                <a:cs typeface="Times New Roman" panose="02020603050405020304" pitchFamily="18" charset="0"/>
              </a:rPr>
              <a:t>incomplete penetrance</a:t>
            </a:r>
            <a:r>
              <a:rPr lang="zh-CN" altLang="en-US" sz="3200" b="1" dirty="0">
                <a:solidFill>
                  <a:srgbClr val="0000FF"/>
                </a:solidFill>
                <a:latin typeface="黑体" pitchFamily="49" charset="-122"/>
                <a:ea typeface="黑体" pitchFamily="49" charset="-122"/>
                <a:cs typeface="Times New Roman" panose="02020603050405020304" pitchFamily="18" charset="0"/>
              </a:rPr>
              <a:t>）</a:t>
            </a:r>
            <a:endParaRPr lang="en-US" altLang="zh-CN" sz="3200" b="1" dirty="0">
              <a:solidFill>
                <a:srgbClr val="0000FF"/>
              </a:solidFill>
              <a:latin typeface="黑体" pitchFamily="49" charset="-122"/>
              <a:ea typeface="黑体" pitchFamily="49" charset="-122"/>
              <a:cs typeface="Times New Roman" panose="02020603050405020304" pitchFamily="18" charset="0"/>
            </a:endParaRPr>
          </a:p>
        </p:txBody>
      </p:sp>
      <p:sp>
        <p:nvSpPr>
          <p:cNvPr id="4" name="矩形 3"/>
          <p:cNvSpPr/>
          <p:nvPr/>
        </p:nvSpPr>
        <p:spPr>
          <a:xfrm>
            <a:off x="223777" y="5443920"/>
            <a:ext cx="11443503" cy="830997"/>
          </a:xfrm>
          <a:prstGeom prst="rect">
            <a:avLst/>
          </a:prstGeom>
        </p:spPr>
        <p:txBody>
          <a:bodyPr wrap="square">
            <a:spAutoFit/>
          </a:bodyPr>
          <a:lstStyle/>
          <a:p>
            <a:pPr>
              <a:defRPr/>
            </a:pPr>
            <a:r>
              <a:rPr lang="zh-CN" altLang="en-US" sz="2400" b="1" dirty="0">
                <a:solidFill>
                  <a:srgbClr val="FF0000"/>
                </a:solidFill>
                <a:latin typeface="黑体" panose="02010600030101010101" pitchFamily="49" charset="-122"/>
                <a:ea typeface="黑体" panose="02010600030101010101" pitchFamily="49" charset="-122"/>
              </a:rPr>
              <a:t>外显率是指一个基因效应的表达或不表达，而不管表达的程度如何</a:t>
            </a:r>
            <a:r>
              <a:rPr lang="zh-CN" altLang="en-US" sz="2400" b="1" dirty="0">
                <a:latin typeface="黑体" panose="02010600030101010101" pitchFamily="49" charset="-122"/>
                <a:ea typeface="黑体" panose="02010600030101010101" pitchFamily="49" charset="-122"/>
              </a:rPr>
              <a:t>；</a:t>
            </a:r>
            <a:endParaRPr lang="en-US" altLang="zh-CN" sz="2400" b="1" dirty="0">
              <a:latin typeface="黑体" panose="02010600030101010101" pitchFamily="49" charset="-122"/>
              <a:ea typeface="黑体" panose="02010600030101010101" pitchFamily="49" charset="-122"/>
            </a:endParaRPr>
          </a:p>
          <a:p>
            <a:pPr>
              <a:defRPr/>
            </a:pPr>
            <a:r>
              <a:rPr lang="zh-CN" altLang="en-US" sz="2400" b="1" dirty="0">
                <a:latin typeface="黑体" panose="02010600030101010101" pitchFamily="49" charset="-122"/>
                <a:ea typeface="黑体" panose="02010600030101010101" pitchFamily="49" charset="-122"/>
              </a:rPr>
              <a:t>而</a:t>
            </a:r>
            <a:r>
              <a:rPr lang="zh-CN" altLang="en-US" sz="2400" b="1" dirty="0">
                <a:solidFill>
                  <a:srgbClr val="FF0000"/>
                </a:solidFill>
                <a:latin typeface="黑体" panose="02010600030101010101" pitchFamily="49" charset="-122"/>
                <a:ea typeface="黑体" panose="02010600030101010101" pitchFamily="49" charset="-122"/>
              </a:rPr>
              <a:t>表现度则适用于描述基因表达的程度</a:t>
            </a:r>
            <a:r>
              <a:rPr lang="zh-CN" altLang="en-US" sz="2400" b="1" dirty="0">
                <a:latin typeface="黑体" panose="02010600030101010101" pitchFamily="49" charset="-122"/>
                <a:ea typeface="黑体" panose="02010600030101010101" pitchFamily="49" charset="-122"/>
              </a:rPr>
              <a:t>。 </a:t>
            </a:r>
            <a:endParaRPr lang="en-US" altLang="zh-CN" sz="2400" b="1" dirty="0">
              <a:latin typeface="黑体" panose="02010600030101010101" pitchFamily="49" charset="-122"/>
              <a:ea typeface="黑体" panose="02010600030101010101" pitchFamily="49" charset="-122"/>
            </a:endParaRPr>
          </a:p>
        </p:txBody>
      </p:sp>
    </p:spTree>
    <p:extLst>
      <p:ext uri="{BB962C8B-B14F-4D97-AF65-F5344CB8AC3E}">
        <p14:creationId xmlns:p14="http://schemas.microsoft.com/office/powerpoint/2010/main" val="2253393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4BFE9C-C7C7-415F-BB31-96462916866B}"/>
              </a:ext>
            </a:extLst>
          </p:cNvPr>
          <p:cNvSpPr>
            <a:spLocks noGrp="1"/>
          </p:cNvSpPr>
          <p:nvPr>
            <p:ph type="title"/>
          </p:nvPr>
        </p:nvSpPr>
        <p:spPr>
          <a:xfrm>
            <a:off x="274675" y="53163"/>
            <a:ext cx="10602432" cy="680484"/>
          </a:xfrm>
        </p:spPr>
        <p:txBody>
          <a:bodyPr vert="horz" lIns="91440" tIns="45720" rIns="91440" bIns="45720" rtlCol="0" anchor="ctr">
            <a:noAutofit/>
          </a:bodyPr>
          <a:lstStyle/>
          <a:p>
            <a:r>
              <a:rPr lang="zh-CN" altLang="en-US" sz="3600" b="1" dirty="0">
                <a:solidFill>
                  <a:srgbClr val="0000FF"/>
                </a:solidFill>
                <a:latin typeface="黑体" panose="02010600030101010101" pitchFamily="49" charset="-122"/>
                <a:ea typeface="黑体" panose="02010600030101010101" pitchFamily="49" charset="-122"/>
              </a:rPr>
              <a:t>（五）拟表型（</a:t>
            </a:r>
            <a:r>
              <a:rPr lang="en-US" altLang="zh-CN" sz="3600" b="1" dirty="0" err="1">
                <a:solidFill>
                  <a:srgbClr val="0000FF"/>
                </a:solidFill>
                <a:latin typeface="黑体" panose="02010600030101010101" pitchFamily="49" charset="-122"/>
                <a:ea typeface="黑体" panose="02010600030101010101" pitchFamily="49" charset="-122"/>
              </a:rPr>
              <a:t>phenocopy</a:t>
            </a:r>
            <a:r>
              <a:rPr lang="zh-CN" altLang="en-US" sz="3600" b="1" dirty="0">
                <a:solidFill>
                  <a:srgbClr val="0000FF"/>
                </a:solidFill>
                <a:latin typeface="黑体" panose="02010600030101010101" pitchFamily="49" charset="-122"/>
                <a:ea typeface="黑体" panose="02010600030101010101" pitchFamily="49" charset="-122"/>
              </a:rPr>
              <a:t>）（表型模写）</a:t>
            </a:r>
          </a:p>
        </p:txBody>
      </p:sp>
      <p:sp>
        <p:nvSpPr>
          <p:cNvPr id="3" name="内容占位符 2">
            <a:extLst>
              <a:ext uri="{FF2B5EF4-FFF2-40B4-BE49-F238E27FC236}">
                <a16:creationId xmlns:a16="http://schemas.microsoft.com/office/drawing/2014/main" id="{03B05142-68B2-497A-AB60-BC81ACF48921}"/>
              </a:ext>
            </a:extLst>
          </p:cNvPr>
          <p:cNvSpPr>
            <a:spLocks noGrp="1"/>
          </p:cNvSpPr>
          <p:nvPr>
            <p:ph idx="4294967295"/>
          </p:nvPr>
        </p:nvSpPr>
        <p:spPr>
          <a:xfrm>
            <a:off x="144893" y="787081"/>
            <a:ext cx="12135846" cy="694478"/>
          </a:xfrm>
        </p:spPr>
        <p:txBody>
          <a:bodyPr vert="horz" lIns="91440" tIns="45720" rIns="91440" bIns="45720" rtlCol="0">
            <a:normAutofit/>
          </a:bodyPr>
          <a:lstStyle/>
          <a:p>
            <a:pPr marL="114300" lvl="1" indent="-342900">
              <a:lnSpc>
                <a:spcPct val="120000"/>
              </a:lnSpc>
              <a:spcBef>
                <a:spcPts val="0"/>
              </a:spcBef>
              <a:buFont typeface="Wingdings" pitchFamily="2" charset="2"/>
              <a:buChar char="Ø"/>
            </a:pPr>
            <a:r>
              <a:rPr lang="zh-CN" altLang="en-US" b="1" dirty="0">
                <a:latin typeface="黑体" pitchFamily="49" charset="-122"/>
                <a:ea typeface="黑体" pitchFamily="49" charset="-122"/>
                <a:cs typeface="Times New Roman" panose="02020603050405020304" pitchFamily="18" charset="0"/>
              </a:rPr>
              <a:t>环境改变所引起的表型改变，有时与由某基因引起的表型变化很相似，这叫作拟表型。</a:t>
            </a:r>
            <a:endParaRPr lang="en-US" altLang="zh-CN" b="1" dirty="0">
              <a:latin typeface="黑体" pitchFamily="49" charset="-122"/>
              <a:ea typeface="黑体"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1CA0A154-2010-4DF3-82AC-35EA23868894}"/>
              </a:ext>
            </a:extLst>
          </p:cNvPr>
          <p:cNvSpPr txBox="1"/>
          <p:nvPr/>
        </p:nvSpPr>
        <p:spPr>
          <a:xfrm>
            <a:off x="3888431" y="1643210"/>
            <a:ext cx="5639698" cy="1569660"/>
          </a:xfrm>
          <a:prstGeom prst="rect">
            <a:avLst/>
          </a:prstGeom>
          <a:noFill/>
        </p:spPr>
        <p:txBody>
          <a:bodyPr wrap="square">
            <a:spAutoFit/>
          </a:bodyPr>
          <a:lstStyle>
            <a:defPPr>
              <a:defRPr lang="zh-CN"/>
            </a:defPPr>
            <a:lvl1pPr algn="ctr">
              <a:defRPr sz="2000" b="1">
                <a:latin typeface="黑体" pitchFamily="49" charset="-122"/>
                <a:ea typeface="黑体" pitchFamily="49" charset="-122"/>
              </a:defRPr>
            </a:lvl1pPr>
          </a:lstStyle>
          <a:p>
            <a:pPr algn="l"/>
            <a:r>
              <a:rPr lang="zh-CN" altLang="en-US" sz="2400" dirty="0"/>
              <a:t>案例</a:t>
            </a:r>
            <a:r>
              <a:rPr lang="en-US" altLang="zh-CN" sz="2400" dirty="0"/>
              <a:t>1</a:t>
            </a:r>
            <a:r>
              <a:rPr lang="zh-CN" altLang="en-US" sz="2400" dirty="0"/>
              <a:t>：果蝇的突变型（</a:t>
            </a:r>
            <a:r>
              <a:rPr lang="en-US" altLang="zh-CN" sz="2400" dirty="0" err="1"/>
              <a:t>vgvg</a:t>
            </a:r>
            <a:r>
              <a:rPr lang="zh-CN" altLang="en-US" sz="2400" dirty="0"/>
              <a:t>）是残翅，用一定的</a:t>
            </a:r>
            <a:r>
              <a:rPr lang="zh-CN" altLang="en-US" sz="2400" dirty="0">
                <a:solidFill>
                  <a:srgbClr val="0000FF"/>
                </a:solidFill>
              </a:rPr>
              <a:t>高温</a:t>
            </a:r>
            <a:r>
              <a:rPr lang="zh-CN" altLang="en-US" sz="2400" dirty="0"/>
              <a:t>处理残翅果蝇的幼虫，以后个体长大，羽化为成虫后，翅膀接近于野生型，不过它们的基因型还是</a:t>
            </a:r>
            <a:r>
              <a:rPr lang="en-US" altLang="zh-CN" sz="2400" dirty="0" err="1"/>
              <a:t>vgvg</a:t>
            </a:r>
            <a:r>
              <a:rPr lang="zh-CN" altLang="en-US" sz="2400" dirty="0"/>
              <a:t>。</a:t>
            </a:r>
            <a:endParaRPr lang="en-US" altLang="zh-CN" sz="2400" dirty="0"/>
          </a:p>
        </p:txBody>
      </p:sp>
      <p:pic>
        <p:nvPicPr>
          <p:cNvPr id="6" name="图片 5">
            <a:extLst>
              <a:ext uri="{FF2B5EF4-FFF2-40B4-BE49-F238E27FC236}">
                <a16:creationId xmlns:a16="http://schemas.microsoft.com/office/drawing/2014/main" id="{15E505CC-F176-4857-9820-440FC7DDF08D}"/>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81910" y="1716388"/>
            <a:ext cx="3609670" cy="3167540"/>
          </a:xfrm>
          <a:prstGeom prst="rect">
            <a:avLst/>
          </a:prstGeom>
        </p:spPr>
      </p:pic>
      <p:sp>
        <p:nvSpPr>
          <p:cNvPr id="9" name="文本框 8">
            <a:extLst>
              <a:ext uri="{FF2B5EF4-FFF2-40B4-BE49-F238E27FC236}">
                <a16:creationId xmlns:a16="http://schemas.microsoft.com/office/drawing/2014/main" id="{209A266F-6338-41B0-91AF-2B22D6658451}"/>
              </a:ext>
            </a:extLst>
          </p:cNvPr>
          <p:cNvSpPr txBox="1"/>
          <p:nvPr/>
        </p:nvSpPr>
        <p:spPr>
          <a:xfrm>
            <a:off x="348997" y="4883928"/>
            <a:ext cx="3075495" cy="307777"/>
          </a:xfrm>
          <a:prstGeom prst="rect">
            <a:avLst/>
          </a:prstGeom>
          <a:noFill/>
        </p:spPr>
        <p:txBody>
          <a:bodyPr wrap="square">
            <a:spAutoFit/>
          </a:bodyPr>
          <a:lstStyle>
            <a:defPPr>
              <a:defRPr lang="zh-CN"/>
            </a:defPPr>
            <a:lvl1pPr algn="ctr">
              <a:defRPr sz="1400" b="1">
                <a:latin typeface="微软雅黑" panose="020B0503020204020204" pitchFamily="34" charset="-122"/>
                <a:ea typeface="微软雅黑" panose="020B0503020204020204" pitchFamily="34" charset="-122"/>
              </a:defRPr>
            </a:lvl1pPr>
          </a:lstStyle>
          <a:p>
            <a:r>
              <a:rPr lang="zh-CN" altLang="en-US" dirty="0"/>
              <a:t>果蝇翅的类型</a:t>
            </a:r>
          </a:p>
        </p:txBody>
      </p:sp>
      <p:sp>
        <p:nvSpPr>
          <p:cNvPr id="11" name="文本框 10">
            <a:extLst>
              <a:ext uri="{FF2B5EF4-FFF2-40B4-BE49-F238E27FC236}">
                <a16:creationId xmlns:a16="http://schemas.microsoft.com/office/drawing/2014/main" id="{AF22161C-12B2-4127-8F77-9E58E01E1614}"/>
              </a:ext>
            </a:extLst>
          </p:cNvPr>
          <p:cNvSpPr txBox="1"/>
          <p:nvPr/>
        </p:nvSpPr>
        <p:spPr>
          <a:xfrm>
            <a:off x="9350778" y="5487743"/>
            <a:ext cx="2703136" cy="307777"/>
          </a:xfrm>
          <a:prstGeom prst="rect">
            <a:avLst/>
          </a:prstGeom>
          <a:noFill/>
        </p:spPr>
        <p:txBody>
          <a:bodyPr wrap="square">
            <a:spAutoFit/>
          </a:bodyPr>
          <a:lstStyle>
            <a:defPPr>
              <a:defRPr lang="zh-CN"/>
            </a:defPPr>
            <a:lvl1pPr algn="ctr">
              <a:defRPr sz="1400" b="1">
                <a:latin typeface="微软雅黑" panose="020B0503020204020204" pitchFamily="34" charset="-122"/>
                <a:ea typeface="微软雅黑" panose="020B0503020204020204" pitchFamily="34" charset="-122"/>
              </a:defRPr>
            </a:lvl1pPr>
          </a:lstStyle>
          <a:p>
            <a:r>
              <a:rPr lang="zh-CN" altLang="en-US" dirty="0"/>
              <a:t>海豹肢畸形患儿</a:t>
            </a:r>
            <a:endParaRPr lang="en-US" altLang="zh-CN" dirty="0"/>
          </a:p>
        </p:txBody>
      </p:sp>
      <p:pic>
        <p:nvPicPr>
          <p:cNvPr id="12" name="图片 11">
            <a:extLst>
              <a:ext uri="{FF2B5EF4-FFF2-40B4-BE49-F238E27FC236}">
                <a16:creationId xmlns:a16="http://schemas.microsoft.com/office/drawing/2014/main" id="{389D5B01-4866-43F2-BE8F-9708593FE9E1}"/>
              </a:ext>
            </a:extLst>
          </p:cNvPr>
          <p:cNvPicPr>
            <a:picLocks noChangeAspect="1"/>
          </p:cNvPicPr>
          <p:nvPr/>
        </p:nvPicPr>
        <p:blipFill>
          <a:blip r:embed="rId4"/>
          <a:stretch>
            <a:fillRect/>
          </a:stretch>
        </p:blipFill>
        <p:spPr>
          <a:xfrm>
            <a:off x="9528128" y="1670553"/>
            <a:ext cx="2348437" cy="3713466"/>
          </a:xfrm>
          <a:prstGeom prst="rect">
            <a:avLst/>
          </a:prstGeom>
        </p:spPr>
      </p:pic>
      <p:sp>
        <p:nvSpPr>
          <p:cNvPr id="14" name="文本框 13">
            <a:extLst>
              <a:ext uri="{FF2B5EF4-FFF2-40B4-BE49-F238E27FC236}">
                <a16:creationId xmlns:a16="http://schemas.microsoft.com/office/drawing/2014/main" id="{428666E1-7CB2-4403-B702-83F35DF22258}"/>
              </a:ext>
            </a:extLst>
          </p:cNvPr>
          <p:cNvSpPr txBox="1"/>
          <p:nvPr/>
        </p:nvSpPr>
        <p:spPr>
          <a:xfrm>
            <a:off x="3888431" y="3641084"/>
            <a:ext cx="5639697" cy="2308324"/>
          </a:xfrm>
          <a:prstGeom prst="rect">
            <a:avLst/>
          </a:prstGeom>
          <a:noFill/>
        </p:spPr>
        <p:txBody>
          <a:bodyPr wrap="square">
            <a:spAutoFit/>
          </a:bodyPr>
          <a:lstStyle>
            <a:defPPr>
              <a:defRPr lang="zh-CN"/>
            </a:defPPr>
            <a:lvl1pPr>
              <a:defRPr sz="2000" b="1">
                <a:latin typeface="黑体" pitchFamily="49" charset="-122"/>
                <a:ea typeface="黑体" pitchFamily="49" charset="-122"/>
              </a:defRPr>
            </a:lvl1pPr>
          </a:lstStyle>
          <a:p>
            <a:r>
              <a:rPr lang="zh-CN" altLang="en-US" sz="2400" dirty="0"/>
              <a:t>案例</a:t>
            </a:r>
            <a:r>
              <a:rPr lang="en-US" altLang="zh-CN" sz="2400" dirty="0"/>
              <a:t>2</a:t>
            </a:r>
            <a:r>
              <a:rPr lang="zh-CN" altLang="en-US" sz="2400" dirty="0"/>
              <a:t>：人类隐性遗传病海豹肢畸形的发病原因是妇女在妊娠早期，特别是在第 </a:t>
            </a:r>
            <a:r>
              <a:rPr lang="en-US" altLang="zh-CN" sz="2400" dirty="0"/>
              <a:t>3</a:t>
            </a:r>
            <a:r>
              <a:rPr lang="zh-CN" altLang="en-US" sz="2400" dirty="0"/>
              <a:t>～</a:t>
            </a:r>
            <a:r>
              <a:rPr lang="en-US" altLang="zh-CN" sz="2400" dirty="0"/>
              <a:t>5 </a:t>
            </a:r>
            <a:r>
              <a:rPr lang="zh-CN" altLang="en-US" sz="2400" dirty="0"/>
              <a:t>周时，服用</a:t>
            </a:r>
            <a:r>
              <a:rPr lang="zh-CN" altLang="en-US" sz="2400" dirty="0">
                <a:solidFill>
                  <a:srgbClr val="0000FF"/>
                </a:solidFill>
              </a:rPr>
              <a:t>反应停</a:t>
            </a:r>
            <a:r>
              <a:rPr lang="zh-CN" altLang="en-US" sz="2400" dirty="0"/>
              <a:t>，这种药在发育关键时刻延缓了胎儿四肢的发育，导致了海豹肢畸形。这是药物引起的表型变化，使正常个体模写了突变型的表型。</a:t>
            </a:r>
          </a:p>
        </p:txBody>
      </p:sp>
    </p:spTree>
    <p:extLst>
      <p:ext uri="{BB962C8B-B14F-4D97-AF65-F5344CB8AC3E}">
        <p14:creationId xmlns:p14="http://schemas.microsoft.com/office/powerpoint/2010/main" val="303189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9" grpId="0"/>
      <p:bldP spid="11"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rrowheads="1"/>
          </p:cNvSpPr>
          <p:nvPr>
            <p:ph type="title"/>
          </p:nvPr>
        </p:nvSpPr>
        <p:spPr>
          <a:xfrm>
            <a:off x="292100" y="0"/>
            <a:ext cx="10515600" cy="840105"/>
          </a:xfrm>
        </p:spPr>
        <p:txBody>
          <a:bodyPr vert="horz" lIns="91440" tIns="45720" rIns="91440" bIns="45720" rtlCol="0" anchor="ctr">
            <a:noAutofit/>
          </a:bodyPr>
          <a:lstStyle/>
          <a:p>
            <a:r>
              <a:rPr lang="zh-CN" altLang="en-US" sz="3600" b="1" dirty="0">
                <a:solidFill>
                  <a:srgbClr val="0000FF"/>
                </a:solidFill>
                <a:latin typeface="黑体" panose="02010600030101010101" pitchFamily="49" charset="-122"/>
                <a:ea typeface="黑体" panose="02010600030101010101" pitchFamily="49" charset="-122"/>
              </a:rPr>
              <a:t>三、致死基因</a:t>
            </a:r>
            <a:r>
              <a:rPr lang="en-US" altLang="zh-CN" sz="3600" b="1" dirty="0">
                <a:solidFill>
                  <a:srgbClr val="0000FF"/>
                </a:solidFill>
                <a:latin typeface="黑体" panose="02010600030101010101" pitchFamily="49" charset="-122"/>
                <a:ea typeface="黑体" panose="02010600030101010101" pitchFamily="49" charset="-122"/>
              </a:rPr>
              <a:t>(lethal genes)</a:t>
            </a:r>
          </a:p>
        </p:txBody>
      </p:sp>
      <p:sp>
        <p:nvSpPr>
          <p:cNvPr id="49155" name="Rectangle 3"/>
          <p:cNvSpPr>
            <a:spLocks noGrp="1" noRot="1" noChangeArrowheads="1"/>
          </p:cNvSpPr>
          <p:nvPr>
            <p:ph type="body" idx="1"/>
          </p:nvPr>
        </p:nvSpPr>
        <p:spPr>
          <a:xfrm>
            <a:off x="154016" y="991235"/>
            <a:ext cx="8973359" cy="1020445"/>
          </a:xfrm>
        </p:spPr>
        <p:txBody>
          <a:bodyPr>
            <a:normAutofit fontScale="92500" lnSpcReduction="10000"/>
          </a:bodyPr>
          <a:lstStyle/>
          <a:p>
            <a:pPr marL="0" indent="0">
              <a:lnSpc>
                <a:spcPct val="120000"/>
              </a:lnSpc>
              <a:buNone/>
            </a:pPr>
            <a:r>
              <a:rPr lang="en-US" altLang="zh-CN" b="1" dirty="0">
                <a:latin typeface="黑体" panose="02010600030101010101" pitchFamily="49" charset="-122"/>
                <a:ea typeface="黑体" panose="02010600030101010101" pitchFamily="49" charset="-122"/>
              </a:rPr>
              <a:t>1904</a:t>
            </a:r>
            <a:r>
              <a:rPr lang="zh-CN" altLang="en-US" b="1" dirty="0">
                <a:latin typeface="黑体" panose="02010600030101010101" pitchFamily="49" charset="-122"/>
                <a:ea typeface="黑体" panose="02010600030101010101" pitchFamily="49" charset="-122"/>
              </a:rPr>
              <a:t>年，法国</a:t>
            </a:r>
            <a:r>
              <a:rPr lang="en-US" altLang="zh-CN" b="1" dirty="0">
                <a:latin typeface="黑体" panose="02010600030101010101" pitchFamily="49" charset="-122"/>
                <a:ea typeface="黑体" panose="02010600030101010101" pitchFamily="49" charset="-122"/>
              </a:rPr>
              <a:t>L</a:t>
            </a:r>
            <a:r>
              <a:rPr lang="zh-CN" altLang="en-US" b="1" dirty="0">
                <a:latin typeface="黑体" panose="02010600030101010101" pitchFamily="49" charset="-122"/>
                <a:ea typeface="黑体" panose="02010600030101010101" pitchFamily="49" charset="-122"/>
              </a:rPr>
              <a:t>．</a:t>
            </a:r>
            <a:r>
              <a:rPr lang="en-US" altLang="zh-CN" b="1" dirty="0" err="1">
                <a:latin typeface="黑体" panose="02010600030101010101" pitchFamily="49" charset="-122"/>
                <a:ea typeface="黑体" panose="02010600030101010101" pitchFamily="49" charset="-122"/>
              </a:rPr>
              <a:t>Cuenot</a:t>
            </a:r>
            <a:r>
              <a:rPr lang="zh-CN" altLang="en-US" b="1" dirty="0">
                <a:latin typeface="黑体" panose="02010600030101010101" pitchFamily="49" charset="-122"/>
                <a:ea typeface="黑体" panose="02010600030101010101" pitchFamily="49" charset="-122"/>
              </a:rPr>
              <a:t>的小鼠</a:t>
            </a:r>
            <a:r>
              <a:rPr lang="en-US" altLang="zh-CN" b="1" dirty="0">
                <a:latin typeface="黑体" panose="02010600030101010101" pitchFamily="49" charset="-122"/>
                <a:ea typeface="黑体" panose="02010600030101010101" pitchFamily="49" charset="-122"/>
              </a:rPr>
              <a:t>(</a:t>
            </a:r>
            <a:r>
              <a:rPr lang="en-US" altLang="zh-CN" b="1" i="1" dirty="0" err="1">
                <a:latin typeface="黑体" panose="02010600030101010101" pitchFamily="49" charset="-122"/>
                <a:ea typeface="黑体" panose="02010600030101010101" pitchFamily="49" charset="-122"/>
              </a:rPr>
              <a:t>Mus</a:t>
            </a:r>
            <a:r>
              <a:rPr lang="en-US" altLang="zh-CN" b="1" i="1" dirty="0">
                <a:latin typeface="黑体" panose="02010600030101010101" pitchFamily="49" charset="-122"/>
                <a:ea typeface="黑体" panose="02010600030101010101" pitchFamily="49" charset="-122"/>
              </a:rPr>
              <a:t> </a:t>
            </a:r>
            <a:r>
              <a:rPr lang="en-US" altLang="zh-CN" b="1" i="1" dirty="0" err="1">
                <a:latin typeface="黑体" panose="02010600030101010101" pitchFamily="49" charset="-122"/>
                <a:ea typeface="黑体" panose="02010600030101010101" pitchFamily="49" charset="-122"/>
              </a:rPr>
              <a:t>musculus</a:t>
            </a:r>
            <a:r>
              <a:rPr lang="en-US" altLang="zh-CN" b="1" dirty="0">
                <a:latin typeface="黑体" panose="02010600030101010101" pitchFamily="49" charset="-122"/>
                <a:ea typeface="黑体" panose="02010600030101010101" pitchFamily="49" charset="-122"/>
              </a:rPr>
              <a:t>)</a:t>
            </a:r>
            <a:r>
              <a:rPr lang="zh-CN" altLang="en-US" b="1" dirty="0">
                <a:latin typeface="黑体" panose="02010600030101010101" pitchFamily="49" charset="-122"/>
                <a:ea typeface="黑体" panose="02010600030101010101" pitchFamily="49" charset="-122"/>
              </a:rPr>
              <a:t>杂交实验结果如下：</a:t>
            </a:r>
          </a:p>
          <a:p>
            <a:pPr marL="0" indent="0">
              <a:lnSpc>
                <a:spcPct val="120000"/>
              </a:lnSpc>
              <a:buNone/>
            </a:pPr>
            <a:endParaRPr lang="zh-CN" altLang="en-US" b="1" dirty="0">
              <a:latin typeface="黑体" panose="02010600030101010101" pitchFamily="49" charset="-122"/>
              <a:ea typeface="黑体" panose="02010600030101010101" pitchFamily="49" charset="-122"/>
            </a:endParaRPr>
          </a:p>
        </p:txBody>
      </p:sp>
      <p:sp>
        <p:nvSpPr>
          <p:cNvPr id="50179" name="Rectangle 3"/>
          <p:cNvSpPr>
            <a:spLocks noGrp="1" noRot="1" noChangeArrowheads="1"/>
          </p:cNvSpPr>
          <p:nvPr/>
        </p:nvSpPr>
        <p:spPr>
          <a:xfrm>
            <a:off x="1291052" y="1996089"/>
            <a:ext cx="6313516" cy="12941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None/>
            </a:pPr>
            <a:r>
              <a:rPr lang="zh-CN" altLang="en-US" b="1" dirty="0">
                <a:latin typeface="黑体" panose="02010600030101010101" pitchFamily="49" charset="-122"/>
                <a:ea typeface="黑体" panose="02010600030101010101" pitchFamily="49" charset="-122"/>
              </a:rPr>
              <a:t>黄鼠</a:t>
            </a:r>
            <a:r>
              <a:rPr lang="zh-CN" altLang="en-US" b="1" dirty="0">
                <a:latin typeface="黑体" panose="02010600030101010101" pitchFamily="49" charset="-122"/>
                <a:ea typeface="黑体" panose="02010600030101010101" pitchFamily="49" charset="-122"/>
                <a:sym typeface="Symbol" panose="05050102010706020507" pitchFamily="18" charset="2"/>
              </a:rPr>
              <a:t></a:t>
            </a:r>
            <a:r>
              <a:rPr lang="zh-CN" altLang="en-US" b="1" dirty="0">
                <a:latin typeface="黑体" panose="02010600030101010101" pitchFamily="49" charset="-122"/>
                <a:ea typeface="黑体" panose="02010600030101010101" pitchFamily="49" charset="-122"/>
              </a:rPr>
              <a:t>黑鼠</a:t>
            </a:r>
            <a:r>
              <a:rPr lang="zh-CN" altLang="en-US" b="1" dirty="0">
                <a:latin typeface="黑体" panose="02010600030101010101" pitchFamily="49" charset="-122"/>
                <a:ea typeface="黑体" panose="02010600030101010101" pitchFamily="49" charset="-122"/>
                <a:sym typeface="Symbol" panose="05050102010706020507" pitchFamily="18" charset="2"/>
              </a:rPr>
              <a:t></a:t>
            </a:r>
            <a:r>
              <a:rPr lang="zh-CN" altLang="en-US" b="1" dirty="0">
                <a:latin typeface="黑体" panose="02010600030101010101" pitchFamily="49" charset="-122"/>
                <a:ea typeface="黑体" panose="02010600030101010101" pitchFamily="49" charset="-122"/>
              </a:rPr>
              <a:t>黄</a:t>
            </a:r>
            <a:r>
              <a:rPr lang="en-US" altLang="zh-CN" b="1" dirty="0">
                <a:latin typeface="黑体" panose="02010600030101010101" pitchFamily="49" charset="-122"/>
                <a:ea typeface="黑体" panose="02010600030101010101" pitchFamily="49" charset="-122"/>
              </a:rPr>
              <a:t>2378</a:t>
            </a:r>
            <a:r>
              <a:rPr lang="zh-CN" altLang="en-US" b="1" dirty="0">
                <a:latin typeface="黑体" panose="02010600030101010101" pitchFamily="49" charset="-122"/>
                <a:ea typeface="黑体" panose="02010600030101010101" pitchFamily="49" charset="-122"/>
              </a:rPr>
              <a:t>：黑</a:t>
            </a:r>
            <a:r>
              <a:rPr lang="en-US" altLang="zh-CN" b="1" dirty="0">
                <a:latin typeface="黑体" panose="02010600030101010101" pitchFamily="49" charset="-122"/>
                <a:ea typeface="黑体" panose="02010600030101010101" pitchFamily="49" charset="-122"/>
              </a:rPr>
              <a:t>2398</a:t>
            </a:r>
          </a:p>
          <a:p>
            <a:pPr>
              <a:lnSpc>
                <a:spcPct val="120000"/>
              </a:lnSpc>
              <a:buNone/>
            </a:pPr>
            <a:r>
              <a:rPr lang="zh-CN" altLang="en-US" b="1" dirty="0">
                <a:latin typeface="黑体" panose="02010600030101010101" pitchFamily="49" charset="-122"/>
                <a:ea typeface="黑体" panose="02010600030101010101" pitchFamily="49" charset="-122"/>
              </a:rPr>
              <a:t>黄鼠</a:t>
            </a:r>
            <a:r>
              <a:rPr lang="zh-CN" altLang="en-US" b="1" dirty="0">
                <a:latin typeface="黑体" panose="02010600030101010101" pitchFamily="49" charset="-122"/>
                <a:ea typeface="黑体" panose="02010600030101010101" pitchFamily="49" charset="-122"/>
                <a:sym typeface="Symbol" panose="05050102010706020507" pitchFamily="18" charset="2"/>
              </a:rPr>
              <a:t></a:t>
            </a:r>
            <a:r>
              <a:rPr lang="zh-CN" altLang="en-US" b="1" dirty="0">
                <a:latin typeface="黑体" panose="02010600030101010101" pitchFamily="49" charset="-122"/>
                <a:ea typeface="黑体" panose="02010600030101010101" pitchFamily="49" charset="-122"/>
              </a:rPr>
              <a:t>黄鼠</a:t>
            </a:r>
            <a:r>
              <a:rPr lang="zh-CN" altLang="en-US" b="1" dirty="0">
                <a:latin typeface="黑体" panose="02010600030101010101" pitchFamily="49" charset="-122"/>
                <a:ea typeface="黑体" panose="02010600030101010101" pitchFamily="49" charset="-122"/>
                <a:sym typeface="Symbol" panose="05050102010706020507" pitchFamily="18" charset="2"/>
              </a:rPr>
              <a:t></a:t>
            </a:r>
            <a:r>
              <a:rPr lang="zh-CN" altLang="en-US" b="1" dirty="0">
                <a:latin typeface="黑体" panose="02010600030101010101" pitchFamily="49" charset="-122"/>
                <a:ea typeface="黑体" panose="02010600030101010101" pitchFamily="49" charset="-122"/>
              </a:rPr>
              <a:t>黄</a:t>
            </a:r>
            <a:r>
              <a:rPr lang="en-US" altLang="zh-CN" b="1" dirty="0">
                <a:latin typeface="黑体" panose="02010600030101010101" pitchFamily="49" charset="-122"/>
                <a:ea typeface="黑体" panose="02010600030101010101" pitchFamily="49" charset="-122"/>
              </a:rPr>
              <a:t>2396</a:t>
            </a:r>
            <a:r>
              <a:rPr lang="zh-CN" altLang="en-US" b="1" dirty="0">
                <a:latin typeface="黑体" panose="02010600030101010101" pitchFamily="49" charset="-122"/>
                <a:ea typeface="黑体" panose="02010600030101010101" pitchFamily="49" charset="-122"/>
              </a:rPr>
              <a:t>：黑</a:t>
            </a:r>
            <a:r>
              <a:rPr lang="en-US" altLang="zh-CN" b="1" dirty="0">
                <a:latin typeface="黑体" panose="02010600030101010101" pitchFamily="49" charset="-122"/>
                <a:ea typeface="黑体" panose="02010600030101010101" pitchFamily="49" charset="-122"/>
              </a:rPr>
              <a:t>l235</a:t>
            </a:r>
          </a:p>
        </p:txBody>
      </p:sp>
      <p:pic>
        <p:nvPicPr>
          <p:cNvPr id="5" name="图片 4">
            <a:extLst>
              <a:ext uri="{FF2B5EF4-FFF2-40B4-BE49-F238E27FC236}">
                <a16:creationId xmlns:a16="http://schemas.microsoft.com/office/drawing/2014/main" id="{694EB8F4-151C-4AF8-9812-3CCDCFCE0ACC}"/>
              </a:ext>
            </a:extLst>
          </p:cNvPr>
          <p:cNvPicPr>
            <a:picLocks noChangeAspect="1"/>
          </p:cNvPicPr>
          <p:nvPr/>
        </p:nvPicPr>
        <p:blipFill>
          <a:blip r:embed="rId3"/>
          <a:stretch>
            <a:fillRect/>
          </a:stretch>
        </p:blipFill>
        <p:spPr>
          <a:xfrm>
            <a:off x="8970381" y="535162"/>
            <a:ext cx="3036425" cy="4217914"/>
          </a:xfrm>
          <a:prstGeom prst="rect">
            <a:avLst/>
          </a:prstGeom>
        </p:spPr>
      </p:pic>
      <p:sp>
        <p:nvSpPr>
          <p:cNvPr id="4" name="矩形 3"/>
          <p:cNvSpPr/>
          <p:nvPr/>
        </p:nvSpPr>
        <p:spPr>
          <a:xfrm>
            <a:off x="9870475" y="4922663"/>
            <a:ext cx="1236236" cy="369332"/>
          </a:xfrm>
          <a:prstGeom prst="rect">
            <a:avLst/>
          </a:prstGeom>
        </p:spPr>
        <p:txBody>
          <a:bodyPr wrap="none">
            <a:spAutoFit/>
          </a:bodyPr>
          <a:lstStyle/>
          <a:p>
            <a:r>
              <a:rPr lang="en-US" altLang="zh-CN" b="1" dirty="0">
                <a:latin typeface="黑体" panose="02010600030101010101" pitchFamily="49" charset="-122"/>
                <a:ea typeface="黑体" panose="02010600030101010101" pitchFamily="49" charset="-122"/>
              </a:rPr>
              <a:t>L</a:t>
            </a:r>
            <a:r>
              <a:rPr lang="zh-CN" altLang="en-US" b="1" dirty="0">
                <a:latin typeface="黑体" panose="02010600030101010101" pitchFamily="49" charset="-122"/>
                <a:ea typeface="黑体" panose="02010600030101010101" pitchFamily="49" charset="-122"/>
              </a:rPr>
              <a:t>．</a:t>
            </a:r>
            <a:r>
              <a:rPr lang="en-US" altLang="zh-CN" b="1" dirty="0" err="1">
                <a:latin typeface="黑体" panose="02010600030101010101" pitchFamily="49" charset="-122"/>
                <a:ea typeface="黑体" panose="02010600030101010101" pitchFamily="49" charset="-122"/>
              </a:rPr>
              <a:t>Cuenot</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fade">
                                      <p:cBhvr>
                                        <p:cTn id="7" dur="500"/>
                                        <p:tgtEl>
                                          <p:spTgt spid="4915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179"/>
                                        </p:tgtEl>
                                        <p:attrNameLst>
                                          <p:attrName>style.visibility</p:attrName>
                                        </p:attrNameLst>
                                      </p:cBhvr>
                                      <p:to>
                                        <p:strVal val="visible"/>
                                      </p:to>
                                    </p:set>
                                    <p:animEffect transition="in" filter="fade">
                                      <p:cBhvr>
                                        <p:cTn id="10" dur="500"/>
                                        <p:tgtEl>
                                          <p:spTgt spid="50179"/>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P spid="50179"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p:cNvSpPr>
            <a:spLocks noGrp="1"/>
          </p:cNvSpPr>
          <p:nvPr>
            <p:ph idx="1"/>
          </p:nvPr>
        </p:nvSpPr>
        <p:spPr>
          <a:xfrm>
            <a:off x="166254" y="895003"/>
            <a:ext cx="11887201" cy="4890655"/>
          </a:xfrm>
        </p:spPr>
        <p:txBody>
          <a:bodyPr vert="horz" lIns="91440" tIns="45720" rIns="91440" bIns="45720" rtlCol="0">
            <a:normAutofit/>
          </a:bodyPr>
          <a:lstStyle/>
          <a:p>
            <a:r>
              <a:rPr lang="zh-CN" altLang="en-US" sz="3200" b="1" dirty="0">
                <a:solidFill>
                  <a:srgbClr val="FF0000"/>
                </a:solidFill>
                <a:latin typeface="黑体" pitchFamily="49" charset="-122"/>
                <a:ea typeface="黑体" pitchFamily="49" charset="-122"/>
              </a:rPr>
              <a:t>隐性致死</a:t>
            </a:r>
            <a:r>
              <a:rPr lang="zh-CN" altLang="en-US" sz="3200" b="1" dirty="0">
                <a:latin typeface="黑体" pitchFamily="49" charset="-122"/>
                <a:ea typeface="黑体" pitchFamily="49" charset="-122"/>
              </a:rPr>
              <a:t>—致死基因纯合后才使个体致死的现象。</a:t>
            </a:r>
          </a:p>
          <a:p>
            <a:r>
              <a:rPr lang="zh-CN" altLang="en-US" sz="3200" b="1" dirty="0">
                <a:solidFill>
                  <a:srgbClr val="FF0000"/>
                </a:solidFill>
                <a:latin typeface="黑体" pitchFamily="49" charset="-122"/>
                <a:ea typeface="黑体" pitchFamily="49" charset="-122"/>
              </a:rPr>
              <a:t>显性致死</a:t>
            </a:r>
            <a:r>
              <a:rPr lang="zh-CN" altLang="en-US" sz="3200" b="1" dirty="0">
                <a:latin typeface="黑体" pitchFamily="49" charset="-122"/>
                <a:ea typeface="黑体" pitchFamily="49" charset="-122"/>
              </a:rPr>
              <a:t>—又叫杂合致死，指凡含有致死基因的个体就死亡的现象。</a:t>
            </a:r>
          </a:p>
          <a:p>
            <a:r>
              <a:rPr lang="zh-CN" altLang="en-US" sz="3200" b="1" dirty="0">
                <a:solidFill>
                  <a:srgbClr val="FF0000"/>
                </a:solidFill>
                <a:latin typeface="黑体" pitchFamily="49" charset="-122"/>
                <a:ea typeface="黑体" pitchFamily="49" charset="-122"/>
              </a:rPr>
              <a:t>配子致死</a:t>
            </a:r>
            <a:r>
              <a:rPr lang="zh-CN" altLang="en-US" sz="3200" b="1" dirty="0">
                <a:latin typeface="黑体" pitchFamily="49" charset="-122"/>
                <a:ea typeface="黑体" pitchFamily="49" charset="-122"/>
              </a:rPr>
              <a:t>—在配子期致死。</a:t>
            </a:r>
          </a:p>
          <a:p>
            <a:r>
              <a:rPr lang="zh-CN" altLang="en-US" sz="3200" b="1" dirty="0">
                <a:solidFill>
                  <a:srgbClr val="FF0000"/>
                </a:solidFill>
                <a:latin typeface="黑体" pitchFamily="49" charset="-122"/>
                <a:ea typeface="黑体" pitchFamily="49" charset="-122"/>
              </a:rPr>
              <a:t>合子致死</a:t>
            </a:r>
            <a:r>
              <a:rPr lang="zh-CN" altLang="en-US" sz="3200" b="1" dirty="0">
                <a:latin typeface="黑体" pitchFamily="49" charset="-122"/>
                <a:ea typeface="黑体" pitchFamily="49" charset="-122"/>
              </a:rPr>
              <a:t>—在胚胎期或生后期致死。</a:t>
            </a:r>
            <a:endParaRPr lang="en-US" altLang="zh-CN" sz="3200" b="1" dirty="0">
              <a:latin typeface="黑体" pitchFamily="49" charset="-122"/>
              <a:ea typeface="黑体" pitchFamily="49" charset="-122"/>
            </a:endParaRPr>
          </a:p>
          <a:p>
            <a:r>
              <a:rPr lang="zh-CN" altLang="en-US" sz="3200" b="1" dirty="0">
                <a:latin typeface="黑体" pitchFamily="49" charset="-122"/>
                <a:ea typeface="黑体" pitchFamily="49" charset="-122"/>
              </a:rPr>
              <a:t>致死现象仅出现在一部分个体上，称为</a:t>
            </a:r>
            <a:r>
              <a:rPr lang="zh-CN" altLang="en-US" sz="3200" b="1" dirty="0">
                <a:solidFill>
                  <a:srgbClr val="FF0000"/>
                </a:solidFill>
                <a:latin typeface="黑体" pitchFamily="49" charset="-122"/>
                <a:ea typeface="黑体" pitchFamily="49" charset="-122"/>
              </a:rPr>
              <a:t>亚致死现象</a:t>
            </a:r>
            <a:r>
              <a:rPr lang="zh-CN" altLang="en-US" sz="3200" b="1" dirty="0">
                <a:latin typeface="黑体" pitchFamily="49" charset="-122"/>
                <a:ea typeface="黑体" pitchFamily="49" charset="-122"/>
              </a:rPr>
              <a:t>（</a:t>
            </a:r>
            <a:r>
              <a:rPr lang="en-US" altLang="zh-CN" sz="3200" b="1" dirty="0">
                <a:latin typeface="黑体" pitchFamily="49" charset="-122"/>
                <a:ea typeface="黑体" pitchFamily="49" charset="-122"/>
              </a:rPr>
              <a:t>partial lethality</a:t>
            </a:r>
            <a:r>
              <a:rPr lang="zh-CN" altLang="en-US" sz="3200" b="1" dirty="0">
                <a:latin typeface="黑体" pitchFamily="49" charset="-122"/>
                <a:ea typeface="黑体" pitchFamily="49" charset="-122"/>
              </a:rPr>
              <a:t>），它的致死率可在 </a:t>
            </a:r>
            <a:r>
              <a:rPr lang="en-US" altLang="zh-CN" sz="3200" b="1" dirty="0">
                <a:latin typeface="黑体" pitchFamily="49" charset="-122"/>
                <a:ea typeface="黑体" pitchFamily="49" charset="-122"/>
              </a:rPr>
              <a:t>0</a:t>
            </a:r>
            <a:r>
              <a:rPr lang="zh-CN" altLang="en-US" sz="3200" b="1" dirty="0">
                <a:latin typeface="黑体" pitchFamily="49" charset="-122"/>
                <a:ea typeface="黑体" pitchFamily="49" charset="-122"/>
              </a:rPr>
              <a:t>～</a:t>
            </a:r>
            <a:r>
              <a:rPr lang="en-US" altLang="zh-CN" sz="3200" b="1" dirty="0">
                <a:latin typeface="黑体" pitchFamily="49" charset="-122"/>
                <a:ea typeface="黑体" pitchFamily="49" charset="-122"/>
              </a:rPr>
              <a:t>100% </a:t>
            </a:r>
            <a:r>
              <a:rPr lang="zh-CN" altLang="en-US" sz="3200" b="1" dirty="0">
                <a:latin typeface="黑体" pitchFamily="49" charset="-122"/>
                <a:ea typeface="黑体" pitchFamily="49" charset="-122"/>
              </a:rPr>
              <a:t>之间变动，取决于个体所处的生活环境以及个体遗传组成中的其余基因</a:t>
            </a:r>
            <a:r>
              <a:rPr lang="en-US" altLang="zh-CN" sz="3200" b="1" dirty="0">
                <a:latin typeface="黑体" pitchFamily="49" charset="-122"/>
                <a:ea typeface="黑体" pitchFamily="49" charset="-122"/>
              </a:rPr>
              <a:t>——</a:t>
            </a:r>
            <a:r>
              <a:rPr lang="zh-CN" altLang="en-US" sz="3200" b="1" dirty="0">
                <a:latin typeface="黑体" pitchFamily="49" charset="-122"/>
                <a:ea typeface="黑体" pitchFamily="49" charset="-122"/>
              </a:rPr>
              <a:t>遗传背景</a:t>
            </a:r>
          </a:p>
        </p:txBody>
      </p:sp>
      <p:sp>
        <p:nvSpPr>
          <p:cNvPr id="7" name="Rectangle 2"/>
          <p:cNvSpPr>
            <a:spLocks noGrp="1" noRot="1" noChangeArrowheads="1"/>
          </p:cNvSpPr>
          <p:nvPr>
            <p:ph type="title"/>
          </p:nvPr>
        </p:nvSpPr>
        <p:spPr>
          <a:xfrm>
            <a:off x="292100" y="0"/>
            <a:ext cx="10515600" cy="840105"/>
          </a:xfrm>
        </p:spPr>
        <p:txBody>
          <a:bodyPr vert="horz" lIns="91440" tIns="45720" rIns="91440" bIns="45720" rtlCol="0" anchor="ctr">
            <a:noAutofit/>
          </a:bodyPr>
          <a:lstStyle/>
          <a:p>
            <a:r>
              <a:rPr lang="zh-CN" altLang="en-US" sz="3600" b="1" dirty="0">
                <a:solidFill>
                  <a:srgbClr val="0000FF"/>
                </a:solidFill>
                <a:latin typeface="黑体" panose="02010600030101010101" pitchFamily="49" charset="-122"/>
                <a:ea typeface="黑体" panose="02010600030101010101" pitchFamily="49" charset="-122"/>
              </a:rPr>
              <a:t>三、致死基因</a:t>
            </a:r>
            <a:r>
              <a:rPr lang="en-US" altLang="zh-CN" sz="3600" b="1" dirty="0">
                <a:solidFill>
                  <a:srgbClr val="0000FF"/>
                </a:solidFill>
                <a:latin typeface="黑体" panose="02010600030101010101" pitchFamily="49" charset="-122"/>
                <a:ea typeface="黑体" panose="02010600030101010101" pitchFamily="49" charset="-122"/>
              </a:rPr>
              <a:t>(lethal genes)</a:t>
            </a:r>
          </a:p>
        </p:txBody>
      </p:sp>
    </p:spTree>
    <p:extLst>
      <p:ext uri="{BB962C8B-B14F-4D97-AF65-F5344CB8AC3E}">
        <p14:creationId xmlns:p14="http://schemas.microsoft.com/office/powerpoint/2010/main" val="1568394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rrowheads="1"/>
          </p:cNvSpPr>
          <p:nvPr>
            <p:ph type="title"/>
          </p:nvPr>
        </p:nvSpPr>
        <p:spPr>
          <a:xfrm>
            <a:off x="522316" y="232756"/>
            <a:ext cx="10633364" cy="648393"/>
          </a:xfrm>
        </p:spPr>
        <p:txBody>
          <a:bodyPr vert="horz" lIns="91440" tIns="45720" rIns="91440" bIns="45720" rtlCol="0" anchor="ctr">
            <a:noAutofit/>
          </a:bodyPr>
          <a:lstStyle/>
          <a:p>
            <a:r>
              <a:rPr lang="zh-CN" altLang="en-US" sz="3600" b="1" dirty="0">
                <a:solidFill>
                  <a:srgbClr val="0000FF"/>
                </a:solidFill>
                <a:latin typeface="黑体" panose="02010600030101010101" pitchFamily="49" charset="-122"/>
                <a:ea typeface="黑体" panose="02010600030101010101" pitchFamily="49" charset="-122"/>
              </a:rPr>
              <a:t>四、复等位基因</a:t>
            </a:r>
            <a:r>
              <a:rPr lang="en-US" altLang="zh-CN" sz="3600" b="1" dirty="0">
                <a:solidFill>
                  <a:srgbClr val="0000FF"/>
                </a:solidFill>
                <a:latin typeface="黑体" panose="02010600030101010101" pitchFamily="49" charset="-122"/>
                <a:ea typeface="黑体" panose="02010600030101010101" pitchFamily="49" charset="-122"/>
              </a:rPr>
              <a:t>(multiple </a:t>
            </a:r>
            <a:r>
              <a:rPr lang="en-US" altLang="zh-CN" sz="3600" b="1" dirty="0" err="1">
                <a:solidFill>
                  <a:srgbClr val="0000FF"/>
                </a:solidFill>
                <a:latin typeface="黑体" panose="02010600030101010101" pitchFamily="49" charset="-122"/>
                <a:ea typeface="黑体" panose="02010600030101010101" pitchFamily="49" charset="-122"/>
              </a:rPr>
              <a:t>alelles</a:t>
            </a:r>
            <a:r>
              <a:rPr lang="en-US" altLang="zh-CN" sz="3600" b="1" dirty="0">
                <a:solidFill>
                  <a:srgbClr val="0000FF"/>
                </a:solidFill>
                <a:latin typeface="黑体" panose="02010600030101010101" pitchFamily="49" charset="-122"/>
                <a:ea typeface="黑体" panose="02010600030101010101" pitchFamily="49" charset="-122"/>
              </a:rPr>
              <a:t>)</a:t>
            </a:r>
          </a:p>
        </p:txBody>
      </p:sp>
      <p:sp>
        <p:nvSpPr>
          <p:cNvPr id="57347" name="Rectangle 3"/>
          <p:cNvSpPr>
            <a:spLocks noGrp="1" noRot="1" noChangeArrowheads="1"/>
          </p:cNvSpPr>
          <p:nvPr>
            <p:ph type="body" idx="1"/>
          </p:nvPr>
        </p:nvSpPr>
        <p:spPr>
          <a:xfrm>
            <a:off x="232756" y="1106170"/>
            <a:ext cx="11737571" cy="1454150"/>
          </a:xfrm>
        </p:spPr>
        <p:txBody>
          <a:bodyPr>
            <a:normAutofit/>
          </a:bodyPr>
          <a:lstStyle/>
          <a:p>
            <a:pPr marL="0" indent="0">
              <a:lnSpc>
                <a:spcPct val="120000"/>
              </a:lnSpc>
              <a:buNone/>
            </a:pPr>
            <a:r>
              <a:rPr lang="en-US" altLang="zh-CN" b="1" dirty="0">
                <a:latin typeface="黑体" panose="02010600030101010101" pitchFamily="49" charset="-122"/>
                <a:ea typeface="黑体" panose="02010600030101010101" pitchFamily="49" charset="-122"/>
                <a:cs typeface="黑体" panose="02010600030101010101" pitchFamily="49" charset="-122"/>
              </a:rPr>
              <a:t>	</a:t>
            </a:r>
            <a:r>
              <a:rPr lang="zh-CN" altLang="en-US" b="1" dirty="0">
                <a:latin typeface="黑体" panose="02010600030101010101" pitchFamily="49" charset="-122"/>
                <a:ea typeface="黑体" panose="02010600030101010101" pitchFamily="49" charset="-122"/>
                <a:cs typeface="黑体" panose="02010600030101010101" pitchFamily="49" charset="-122"/>
              </a:rPr>
              <a:t>一个基因存在很多等位形式，称为复等位现象，这组基因就叫复等位基因。</a:t>
            </a:r>
            <a:r>
              <a:rPr lang="zh-CN" altLang="en-US" b="1" dirty="0">
                <a:latin typeface="黑体" panose="02010600030101010101" pitchFamily="49" charset="-122"/>
                <a:ea typeface="黑体" panose="02010600030101010101" pitchFamily="49" charset="-122"/>
              </a:rPr>
              <a:t>就二倍体而言，任何个体只含有复等位基因中的两个。</a:t>
            </a:r>
            <a:endParaRPr lang="zh-CN" altLang="en-US" b="1" dirty="0"/>
          </a:p>
        </p:txBody>
      </p:sp>
      <p:sp>
        <p:nvSpPr>
          <p:cNvPr id="58371" name="Rectangle 3"/>
          <p:cNvSpPr>
            <a:spLocks noGrp="1" noRot="1" noChangeArrowheads="1"/>
          </p:cNvSpPr>
          <p:nvPr/>
        </p:nvSpPr>
        <p:spPr>
          <a:xfrm>
            <a:off x="49875" y="3720480"/>
            <a:ext cx="12009118" cy="14792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b="1" dirty="0">
                <a:solidFill>
                  <a:srgbClr val="FF0000"/>
                </a:solidFill>
                <a:latin typeface="黑体" panose="02010600030101010101" pitchFamily="49" charset="-122"/>
                <a:ea typeface="黑体" panose="02010600030101010101" pitchFamily="49" charset="-122"/>
              </a:rPr>
              <a:t>	</a:t>
            </a:r>
            <a:r>
              <a:rPr lang="zh-CN" altLang="en-US" b="1" dirty="0">
                <a:solidFill>
                  <a:srgbClr val="FF0000"/>
                </a:solidFill>
                <a:latin typeface="黑体" panose="02010600030101010101" pitchFamily="49" charset="-122"/>
                <a:ea typeface="黑体" panose="02010600030101010101" pitchFamily="49" charset="-122"/>
              </a:rPr>
              <a:t>一般而言，</a:t>
            </a:r>
            <a:r>
              <a:rPr lang="en-US" altLang="zh-CN" b="1" dirty="0">
                <a:solidFill>
                  <a:srgbClr val="FF0000"/>
                </a:solidFill>
                <a:latin typeface="黑体" panose="02010600030101010101" pitchFamily="49" charset="-122"/>
                <a:ea typeface="黑体" panose="02010600030101010101" pitchFamily="49" charset="-122"/>
              </a:rPr>
              <a:t>n</a:t>
            </a:r>
            <a:r>
              <a:rPr lang="zh-CN" altLang="en-US" b="1" dirty="0">
                <a:solidFill>
                  <a:srgbClr val="FF0000"/>
                </a:solidFill>
                <a:latin typeface="黑体" panose="02010600030101010101" pitchFamily="49" charset="-122"/>
                <a:ea typeface="黑体" panose="02010600030101010101" pitchFamily="49" charset="-122"/>
              </a:rPr>
              <a:t>个复等位基因的基因型数目为</a:t>
            </a:r>
            <a:r>
              <a:rPr lang="en-US" altLang="zh-CN" b="1" dirty="0">
                <a:solidFill>
                  <a:srgbClr val="FF0000"/>
                </a:solidFill>
                <a:latin typeface="黑体" panose="02010600030101010101" pitchFamily="49" charset="-122"/>
                <a:ea typeface="黑体" panose="02010600030101010101" pitchFamily="49" charset="-122"/>
              </a:rPr>
              <a:t>[</a:t>
            </a:r>
            <a:r>
              <a:rPr lang="en-US" altLang="zh-CN" b="1" dirty="0" err="1">
                <a:solidFill>
                  <a:srgbClr val="FF0000"/>
                </a:solidFill>
                <a:latin typeface="黑体" panose="02010600030101010101" pitchFamily="49" charset="-122"/>
                <a:ea typeface="黑体" panose="02010600030101010101" pitchFamily="49" charset="-122"/>
              </a:rPr>
              <a:t>n+n</a:t>
            </a:r>
            <a:r>
              <a:rPr lang="en-US" altLang="zh-CN" b="1" dirty="0">
                <a:solidFill>
                  <a:srgbClr val="FF0000"/>
                </a:solidFill>
                <a:latin typeface="黑体" panose="02010600030101010101" pitchFamily="49" charset="-122"/>
                <a:ea typeface="黑体" panose="02010600030101010101" pitchFamily="49" charset="-122"/>
              </a:rPr>
              <a:t>(n-1)/2]</a:t>
            </a:r>
            <a:r>
              <a:rPr lang="zh-CN" altLang="en-US" b="1" dirty="0">
                <a:solidFill>
                  <a:srgbClr val="FF0000"/>
                </a:solidFill>
                <a:latin typeface="黑体" panose="02010600030101010101" pitchFamily="49" charset="-122"/>
                <a:ea typeface="黑体" panose="02010600030101010101" pitchFamily="49" charset="-122"/>
              </a:rPr>
              <a:t>，其中纯合体为</a:t>
            </a:r>
            <a:r>
              <a:rPr lang="en-US" altLang="zh-CN" b="1" dirty="0">
                <a:solidFill>
                  <a:srgbClr val="FF0000"/>
                </a:solidFill>
                <a:latin typeface="黑体" panose="02010600030101010101" pitchFamily="49" charset="-122"/>
                <a:ea typeface="黑体" panose="02010600030101010101" pitchFamily="49" charset="-122"/>
              </a:rPr>
              <a:t>n</a:t>
            </a:r>
            <a:r>
              <a:rPr lang="zh-CN" altLang="en-US" b="1" dirty="0">
                <a:solidFill>
                  <a:srgbClr val="FF0000"/>
                </a:solidFill>
                <a:latin typeface="黑体" panose="02010600030101010101" pitchFamily="49" charset="-122"/>
                <a:ea typeface="黑体" panose="02010600030101010101" pitchFamily="49" charset="-122"/>
              </a:rPr>
              <a:t>个，杂合体为</a:t>
            </a:r>
            <a:r>
              <a:rPr lang="en-US" altLang="zh-CN" b="1" dirty="0">
                <a:solidFill>
                  <a:srgbClr val="FF0000"/>
                </a:solidFill>
                <a:latin typeface="黑体" panose="02010600030101010101" pitchFamily="49" charset="-122"/>
                <a:ea typeface="黑体" panose="02010600030101010101" pitchFamily="49" charset="-122"/>
              </a:rPr>
              <a:t>n(n-1)/2 </a:t>
            </a:r>
            <a:r>
              <a:rPr lang="zh-CN" altLang="en-US" b="1" dirty="0">
                <a:solidFill>
                  <a:srgbClr val="FF0000"/>
                </a:solidFill>
                <a:latin typeface="黑体" panose="02010600030101010101" pitchFamily="49" charset="-122"/>
                <a:ea typeface="黑体" panose="02010600030101010101" pitchFamily="49" charset="-122"/>
              </a:rPr>
              <a:t>。 </a:t>
            </a:r>
          </a:p>
        </p:txBody>
      </p:sp>
      <p:sp>
        <p:nvSpPr>
          <p:cNvPr id="2" name="矩形 1"/>
          <p:cNvSpPr/>
          <p:nvPr/>
        </p:nvSpPr>
        <p:spPr>
          <a:xfrm>
            <a:off x="986484" y="3059668"/>
            <a:ext cx="5775940" cy="523220"/>
          </a:xfrm>
          <a:prstGeom prst="rect">
            <a:avLst/>
          </a:prstGeom>
        </p:spPr>
        <p:txBody>
          <a:bodyPr wrap="none">
            <a:spAutoFit/>
          </a:bodyPr>
          <a:lstStyle/>
          <a:p>
            <a:r>
              <a:rPr lang="en-US" altLang="zh-CN" sz="2800" b="1" dirty="0">
                <a:solidFill>
                  <a:srgbClr val="0000FF"/>
                </a:solidFill>
                <a:latin typeface="黑体" panose="02010600030101010101" pitchFamily="49" charset="-122"/>
                <a:ea typeface="黑体" panose="02010600030101010101" pitchFamily="49" charset="-122"/>
              </a:rPr>
              <a:t>n</a:t>
            </a:r>
            <a:r>
              <a:rPr lang="zh-CN" altLang="en-US" sz="2800" b="1" dirty="0">
                <a:solidFill>
                  <a:srgbClr val="0000FF"/>
                </a:solidFill>
                <a:latin typeface="黑体" panose="02010600030101010101" pitchFamily="49" charset="-122"/>
                <a:ea typeface="黑体" panose="02010600030101010101" pitchFamily="49" charset="-122"/>
              </a:rPr>
              <a:t>个复等位基因的基因型数有多少？</a:t>
            </a:r>
            <a:endParaRPr lang="zh-CN" altLang="en-US" sz="2800" dirty="0">
              <a:solidFill>
                <a:srgbClr val="0000FF"/>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fade">
                                      <p:cBhvr>
                                        <p:cTn id="7" dur="500"/>
                                        <p:tgtEl>
                                          <p:spTgt spid="57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8371"/>
                                        </p:tgtEl>
                                        <p:attrNameLst>
                                          <p:attrName>style.visibility</p:attrName>
                                        </p:attrNameLst>
                                      </p:cBhvr>
                                      <p:to>
                                        <p:strVal val="visible"/>
                                      </p:to>
                                    </p:set>
                                    <p:animEffect transition="in" filter="fade">
                                      <p:cBhvr>
                                        <p:cTn id="17" dur="500"/>
                                        <p:tgtEl>
                                          <p:spTgt spid="58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P spid="58371"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3"/>
          <p:cNvSpPr>
            <a:spLocks noGrp="1"/>
          </p:cNvSpPr>
          <p:nvPr>
            <p:ph idx="1"/>
          </p:nvPr>
        </p:nvSpPr>
        <p:spPr>
          <a:xfrm>
            <a:off x="334433" y="549276"/>
            <a:ext cx="11328400" cy="4525963"/>
          </a:xfrm>
          <a:noFill/>
          <a:ln>
            <a:noFill/>
          </a:ln>
        </p:spPr>
        <p:txBody>
          <a:bodyPr anchor="t" anchorCtr="0"/>
          <a:lstStyle/>
          <a:p>
            <a:pPr marL="0" indent="0" eaLnBrk="1" hangingPunct="1">
              <a:buNone/>
            </a:pP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09</a:t>
            </a:r>
            <a:r>
              <a:rPr lang="zh-CN" altLang="en-US" b="1" dirty="0">
                <a:latin typeface="黑体" panose="02010609060101010101" pitchFamily="49" charset="-122"/>
                <a:ea typeface="黑体" panose="02010609060101010101" pitchFamily="49" charset="-122"/>
              </a:rPr>
              <a:t>年全国联赛）一个二倍体物种，在</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基因座位上有</a:t>
            </a:r>
            <a:r>
              <a:rPr lang="en-US" altLang="zh-CN" b="1" dirty="0">
                <a:latin typeface="黑体" panose="02010609060101010101" pitchFamily="49" charset="-122"/>
                <a:ea typeface="黑体" panose="02010609060101010101" pitchFamily="49" charset="-122"/>
              </a:rPr>
              <a:t>10</a:t>
            </a:r>
            <a:r>
              <a:rPr lang="zh-CN" altLang="en-US" b="1" dirty="0">
                <a:latin typeface="黑体" panose="02010609060101010101" pitchFamily="49" charset="-122"/>
                <a:ea typeface="黑体" panose="02010609060101010101" pitchFamily="49" charset="-122"/>
              </a:rPr>
              <a:t>个复等位基因，在</a:t>
            </a: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基因座上有</a:t>
            </a:r>
            <a:r>
              <a:rPr lang="en-US" altLang="zh-CN" b="1" dirty="0">
                <a:latin typeface="黑体" panose="02010609060101010101" pitchFamily="49" charset="-122"/>
                <a:ea typeface="黑体" panose="02010609060101010101" pitchFamily="49" charset="-122"/>
              </a:rPr>
              <a:t>8</a:t>
            </a:r>
            <a:r>
              <a:rPr lang="zh-CN" altLang="en-US" b="1" dirty="0">
                <a:latin typeface="黑体" panose="02010609060101010101" pitchFamily="49" charset="-122"/>
                <a:ea typeface="黑体" panose="02010609060101010101" pitchFamily="49" charset="-122"/>
              </a:rPr>
              <a:t>个复等位基因；</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两个基因不连锁。请问可能存在的基因型有几种：</a:t>
            </a:r>
          </a:p>
          <a:p>
            <a:pPr marL="0" indent="0" eaLnBrk="1" hangingPunct="1">
              <a:buNone/>
            </a:pPr>
            <a:r>
              <a:rPr lang="en-US" altLang="zh-CN" b="1" dirty="0">
                <a:latin typeface="黑体" panose="02010609060101010101" pitchFamily="49" charset="-122"/>
                <a:ea typeface="黑体" panose="02010609060101010101" pitchFamily="49" charset="-122"/>
              </a:rPr>
              <a:t>A.18</a:t>
            </a:r>
            <a:r>
              <a:rPr lang="zh-CN" altLang="en-US" b="1" dirty="0">
                <a:latin typeface="黑体" panose="02010609060101010101" pitchFamily="49" charset="-122"/>
                <a:ea typeface="黑体" panose="02010609060101010101" pitchFamily="49" charset="-122"/>
              </a:rPr>
              <a:t>种  </a:t>
            </a:r>
            <a:r>
              <a:rPr lang="en-US" altLang="zh-CN" b="1" dirty="0">
                <a:latin typeface="黑体" panose="02010609060101010101" pitchFamily="49" charset="-122"/>
                <a:ea typeface="黑体" panose="02010609060101010101" pitchFamily="49" charset="-122"/>
              </a:rPr>
              <a:t>B.1260</a:t>
            </a:r>
            <a:r>
              <a:rPr lang="zh-CN" altLang="en-US" b="1" dirty="0">
                <a:latin typeface="黑体" panose="02010609060101010101" pitchFamily="49" charset="-122"/>
                <a:ea typeface="黑体" panose="02010609060101010101" pitchFamily="49" charset="-122"/>
              </a:rPr>
              <a:t>种  </a:t>
            </a:r>
            <a:r>
              <a:rPr lang="en-US" altLang="zh-CN" b="1" dirty="0">
                <a:latin typeface="黑体" panose="02010609060101010101" pitchFamily="49" charset="-122"/>
                <a:ea typeface="黑体" panose="02010609060101010101" pitchFamily="49" charset="-122"/>
              </a:rPr>
              <a:t>C.80</a:t>
            </a:r>
            <a:r>
              <a:rPr lang="zh-CN" altLang="en-US" b="1" dirty="0">
                <a:latin typeface="黑体" panose="02010609060101010101" pitchFamily="49" charset="-122"/>
                <a:ea typeface="黑体" panose="02010609060101010101" pitchFamily="49" charset="-122"/>
              </a:rPr>
              <a:t>种  </a:t>
            </a:r>
            <a:r>
              <a:rPr lang="en-US" altLang="zh-CN" b="1" dirty="0">
                <a:latin typeface="黑体" panose="02010609060101010101" pitchFamily="49" charset="-122"/>
                <a:ea typeface="黑体" panose="02010609060101010101" pitchFamily="49" charset="-122"/>
              </a:rPr>
              <a:t>D.180</a:t>
            </a:r>
            <a:r>
              <a:rPr lang="zh-CN" altLang="en-US" b="1" dirty="0">
                <a:latin typeface="黑体" panose="02010609060101010101" pitchFamily="49" charset="-122"/>
                <a:ea typeface="黑体" panose="02010609060101010101" pitchFamily="49" charset="-122"/>
              </a:rPr>
              <a:t>种</a:t>
            </a:r>
          </a:p>
        </p:txBody>
      </p:sp>
      <p:sp>
        <p:nvSpPr>
          <p:cNvPr id="6409220" name="Text Box 4"/>
          <p:cNvSpPr txBox="1">
            <a:spLocks noChangeArrowheads="1"/>
          </p:cNvSpPr>
          <p:nvPr/>
        </p:nvSpPr>
        <p:spPr bwMode="auto">
          <a:xfrm>
            <a:off x="8209491" y="1558708"/>
            <a:ext cx="958851" cy="646331"/>
          </a:xfrm>
          <a:prstGeom prst="rect">
            <a:avLst/>
          </a:prstGeom>
          <a:noFill/>
          <a:ln>
            <a:noFill/>
          </a:ln>
          <a:effectLst/>
        </p:spPr>
        <p:txBody>
          <a:bodyPr>
            <a:spAutoFit/>
          </a:bodyPr>
          <a:lstStyle/>
          <a:p>
            <a:pPr marR="0" algn="ctr" defTabSz="914400">
              <a:spcBef>
                <a:spcPct val="50000"/>
              </a:spcBef>
              <a:buClrTx/>
              <a:buSzTx/>
              <a:buFont typeface="Arial" panose="020B0604020202020204" pitchFamily="34" charset="0"/>
            </a:pPr>
            <a:r>
              <a:rPr kumimoji="0" lang="en-US" altLang="zh-CN" sz="3600" kern="1200" cap="none" spc="0" normalizeH="0" baseline="0" noProof="1">
                <a:solidFill>
                  <a:srgbClr val="FF0000"/>
                </a:solidFill>
                <a:effectLst>
                  <a:outerShdw blurRad="38100" dist="38100" dir="2700000">
                    <a:srgbClr val="000000"/>
                  </a:outerShdw>
                </a:effectLst>
                <a:latin typeface="Arial" panose="020B0604020202020204" pitchFamily="34" charset="0"/>
                <a:ea typeface="黑体" panose="02010609060101010101" pitchFamily="49" charset="-122"/>
                <a:cs typeface="+mn-cs"/>
                <a:sym typeface="+mn-ea"/>
              </a:rPr>
              <a:t>B</a:t>
            </a:r>
          </a:p>
        </p:txBody>
      </p:sp>
      <p:sp>
        <p:nvSpPr>
          <p:cNvPr id="6409221" name="Text Box 5"/>
          <p:cNvSpPr txBox="1">
            <a:spLocks noChangeArrowheads="1"/>
          </p:cNvSpPr>
          <p:nvPr/>
        </p:nvSpPr>
        <p:spPr bwMode="auto">
          <a:xfrm>
            <a:off x="349697" y="3220453"/>
            <a:ext cx="11377084" cy="2246769"/>
          </a:xfrm>
          <a:prstGeom prst="rect">
            <a:avLst/>
          </a:prstGeom>
          <a:noFill/>
          <a:ln>
            <a:noFill/>
          </a:ln>
          <a:effectLst/>
        </p:spPr>
        <p:txBody>
          <a:bodyPr>
            <a:spAutoFit/>
          </a:bodyPr>
          <a:lstStyle/>
          <a:p>
            <a:pPr marR="0" defTabSz="914400">
              <a:spcBef>
                <a:spcPct val="50000"/>
              </a:spcBef>
              <a:buClrTx/>
              <a:buSzTx/>
              <a:defRPr/>
            </a:pPr>
            <a:r>
              <a:rPr kumimoji="0" lang="zh-CN" altLang="en-US" sz="2800" kern="1200" cap="none" spc="0" normalizeH="0" baseline="0" noProof="0"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解析</a:t>
            </a: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：考虑</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A</a:t>
            </a: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基因座位：基因型为</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10+10</a:t>
            </a:r>
            <a:r>
              <a:rPr kumimoji="0" lang="en-US"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9/2=55 </a:t>
            </a: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种；</a:t>
            </a:r>
            <a:b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rPr>
            </a:b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考虑</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B</a:t>
            </a: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基因座位：基因型为</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8+8</a:t>
            </a:r>
            <a:r>
              <a:rPr kumimoji="0" lang="en-US"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7/2=36</a:t>
            </a: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种；</a:t>
            </a:r>
            <a:b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rPr>
            </a:b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同时考虑</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A</a:t>
            </a: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B</a:t>
            </a: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基因座位：</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55×36=</a:t>
            </a:r>
            <a:r>
              <a:rPr kumimoji="0" lang="en-US" altLang="zh-CN" sz="2800" kern="1200" cap="none" spc="0" normalizeH="0" baseline="0" noProof="0"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1980</a:t>
            </a:r>
            <a:r>
              <a:rPr kumimoji="0" lang="zh-CN" altLang="en-US" sz="2800" kern="1200" cap="none" spc="0" normalizeH="0" baseline="0" noProof="0" dirty="0">
                <a:solidFill>
                  <a:srgbClr val="FF0000"/>
                </a:solidFill>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种</a:t>
            </a: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a:t>
            </a:r>
            <a:b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rPr>
            </a:b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参考答案为</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1260</a:t>
            </a: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种，正好是</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A</a:t>
            </a: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B</a:t>
            </a: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基因座位杂合基因型种数的乘积（</a:t>
            </a:r>
            <a:r>
              <a:rPr kumimoji="0" lang="en-US" altLang="zh-CN"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45×28=1260</a:t>
            </a:r>
            <a:r>
              <a:rPr kumimoji="0" lang="zh-CN" altLang="en-US" sz="2800" kern="1200" cap="none" spc="0" normalizeH="0" baseline="0" noProof="0" dirty="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），遗漏了纯合的基因型。 </a:t>
            </a:r>
          </a:p>
        </p:txBody>
      </p:sp>
    </p:spTree>
    <p:extLst>
      <p:ext uri="{BB962C8B-B14F-4D97-AF65-F5344CB8AC3E}">
        <p14:creationId xmlns:p14="http://schemas.microsoft.com/office/powerpoint/2010/main" val="183099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09220"/>
                                        </p:tgtEl>
                                        <p:attrNameLst>
                                          <p:attrName>style.visibility</p:attrName>
                                        </p:attrNameLst>
                                      </p:cBhvr>
                                      <p:to>
                                        <p:strVal val="visible"/>
                                      </p:to>
                                    </p:set>
                                    <p:anim calcmode="lin" valueType="num">
                                      <p:cBhvr additive="base">
                                        <p:cTn id="7" dur="500" fill="hold"/>
                                        <p:tgtEl>
                                          <p:spTgt spid="6409220"/>
                                        </p:tgtEl>
                                        <p:attrNameLst>
                                          <p:attrName>ppt_x</p:attrName>
                                        </p:attrNameLst>
                                      </p:cBhvr>
                                      <p:tavLst>
                                        <p:tav tm="0">
                                          <p:val>
                                            <p:strVal val="#ppt_x"/>
                                          </p:val>
                                        </p:tav>
                                        <p:tav tm="100000">
                                          <p:val>
                                            <p:strVal val="#ppt_x"/>
                                          </p:val>
                                        </p:tav>
                                      </p:tavLst>
                                    </p:anim>
                                    <p:anim calcmode="lin" valueType="num">
                                      <p:cBhvr additive="base">
                                        <p:cTn id="8" dur="500" fill="hold"/>
                                        <p:tgtEl>
                                          <p:spTgt spid="64092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409221"/>
                                        </p:tgtEl>
                                        <p:attrNameLst>
                                          <p:attrName>style.visibility</p:attrName>
                                        </p:attrNameLst>
                                      </p:cBhvr>
                                      <p:to>
                                        <p:strVal val="visible"/>
                                      </p:to>
                                    </p:set>
                                    <p:anim calcmode="lin" valueType="num">
                                      <p:cBhvr additive="base">
                                        <p:cTn id="13" dur="500" fill="hold"/>
                                        <p:tgtEl>
                                          <p:spTgt spid="6409221"/>
                                        </p:tgtEl>
                                        <p:attrNameLst>
                                          <p:attrName>ppt_x</p:attrName>
                                        </p:attrNameLst>
                                      </p:cBhvr>
                                      <p:tavLst>
                                        <p:tav tm="0">
                                          <p:val>
                                            <p:strVal val="#ppt_x"/>
                                          </p:val>
                                        </p:tav>
                                        <p:tav tm="100000">
                                          <p:val>
                                            <p:strVal val="#ppt_x"/>
                                          </p:val>
                                        </p:tav>
                                      </p:tavLst>
                                    </p:anim>
                                    <p:anim calcmode="lin" valueType="num">
                                      <p:cBhvr additive="base">
                                        <p:cTn id="14" dur="500" fill="hold"/>
                                        <p:tgtEl>
                                          <p:spTgt spid="64092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09220" grpId="0"/>
      <p:bldP spid="64092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a:extLst>
              <a:ext uri="{FF2B5EF4-FFF2-40B4-BE49-F238E27FC236}">
                <a16:creationId xmlns:a16="http://schemas.microsoft.com/office/drawing/2014/main" id="{D91710B8-97B9-4D60-99C2-40A1B1624095}"/>
              </a:ext>
            </a:extLst>
          </p:cNvPr>
          <p:cNvPicPr>
            <a:picLocks noChangeAspect="1"/>
          </p:cNvPicPr>
          <p:nvPr/>
        </p:nvPicPr>
        <p:blipFill rotWithShape="1">
          <a:blip r:embed="rId2"/>
          <a:srcRect t="2460"/>
          <a:stretch/>
        </p:blipFill>
        <p:spPr>
          <a:xfrm>
            <a:off x="0" y="509283"/>
            <a:ext cx="12192000" cy="4734935"/>
          </a:xfrm>
          <a:prstGeom prst="rect">
            <a:avLst/>
          </a:prstGeom>
        </p:spPr>
      </p:pic>
      <p:sp>
        <p:nvSpPr>
          <p:cNvPr id="8" name="灯片编号占位符 2">
            <a:extLst>
              <a:ext uri="{FF2B5EF4-FFF2-40B4-BE49-F238E27FC236}">
                <a16:creationId xmlns:a16="http://schemas.microsoft.com/office/drawing/2014/main" id="{37EBB5E4-FA0D-4D57-855B-BEF46DC10D76}"/>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23</a:t>
            </a:fld>
            <a:endParaRPr lang="zh-CN" altLang="en-US" dirty="0"/>
          </a:p>
        </p:txBody>
      </p:sp>
      <p:sp>
        <p:nvSpPr>
          <p:cNvPr id="3" name="矩形 2"/>
          <p:cNvSpPr/>
          <p:nvPr/>
        </p:nvSpPr>
        <p:spPr>
          <a:xfrm>
            <a:off x="428263" y="5256680"/>
            <a:ext cx="11655707" cy="461665"/>
          </a:xfrm>
          <a:prstGeom prst="rect">
            <a:avLst/>
          </a:prstGeom>
        </p:spPr>
        <p:txBody>
          <a:bodyPr wrap="square">
            <a:spAutoFit/>
          </a:bodyPr>
          <a:lstStyle/>
          <a:p>
            <a:r>
              <a:rPr lang="en-US" altLang="zh-CN" sz="2400" b="1" dirty="0">
                <a:solidFill>
                  <a:srgbClr val="0000FF"/>
                </a:solidFill>
                <a:latin typeface="黑体" panose="02010600030101010101" pitchFamily="49" charset="-122"/>
                <a:ea typeface="黑体" panose="02010600030101010101" pitchFamily="49" charset="-122"/>
              </a:rPr>
              <a:t>ABO</a:t>
            </a:r>
            <a:r>
              <a:rPr lang="zh-CN" altLang="en-US" sz="2400" b="1" dirty="0">
                <a:solidFill>
                  <a:srgbClr val="0000FF"/>
                </a:solidFill>
                <a:latin typeface="黑体" panose="02010600030101010101" pitchFamily="49" charset="-122"/>
                <a:ea typeface="黑体" panose="02010600030101010101" pitchFamily="49" charset="-122"/>
              </a:rPr>
              <a:t>血型由</a:t>
            </a:r>
            <a:r>
              <a:rPr lang="en-US" altLang="zh-CN" sz="2400" b="1" dirty="0">
                <a:solidFill>
                  <a:srgbClr val="0000FF"/>
                </a:solidFill>
                <a:latin typeface="黑体" panose="02010600030101010101" pitchFamily="49" charset="-122"/>
                <a:ea typeface="黑体" panose="02010600030101010101" pitchFamily="49" charset="-122"/>
              </a:rPr>
              <a:t>3</a:t>
            </a:r>
            <a:r>
              <a:rPr lang="zh-CN" altLang="en-US" sz="2400" b="1" dirty="0">
                <a:solidFill>
                  <a:srgbClr val="0000FF"/>
                </a:solidFill>
                <a:latin typeface="黑体" panose="02010600030101010101" pitchFamily="49" charset="-122"/>
                <a:ea typeface="黑体" panose="02010600030101010101" pitchFamily="49" charset="-122"/>
              </a:rPr>
              <a:t>个复等位基因决定（</a:t>
            </a:r>
            <a:r>
              <a:rPr lang="en-US" altLang="zh-CN" sz="2400" b="1" dirty="0">
                <a:solidFill>
                  <a:srgbClr val="0000FF"/>
                </a:solidFill>
                <a:latin typeface="黑体" panose="02010600030101010101" pitchFamily="49" charset="-122"/>
                <a:ea typeface="黑体" panose="02010600030101010101" pitchFamily="49" charset="-122"/>
              </a:rPr>
              <a:t>I</a:t>
            </a:r>
            <a:r>
              <a:rPr lang="en-US" altLang="zh-CN" sz="2400" b="1" baseline="30000" dirty="0">
                <a:solidFill>
                  <a:srgbClr val="0000FF"/>
                </a:solidFill>
                <a:latin typeface="黑体" panose="02010600030101010101" pitchFamily="49" charset="-122"/>
                <a:ea typeface="黑体" panose="02010600030101010101" pitchFamily="49" charset="-122"/>
              </a:rPr>
              <a:t>A</a:t>
            </a:r>
            <a:r>
              <a:rPr lang="zh-CN" altLang="en-US" sz="2400" b="1" dirty="0">
                <a:solidFill>
                  <a:srgbClr val="0000FF"/>
                </a:solidFill>
                <a:latin typeface="黑体" panose="02010600030101010101" pitchFamily="49" charset="-122"/>
                <a:ea typeface="黑体" panose="02010600030101010101" pitchFamily="49" charset="-122"/>
              </a:rPr>
              <a:t>，</a:t>
            </a:r>
            <a:r>
              <a:rPr lang="en-US" altLang="zh-CN" sz="2400" b="1" dirty="0">
                <a:solidFill>
                  <a:srgbClr val="0000FF"/>
                </a:solidFill>
                <a:latin typeface="黑体" panose="02010600030101010101" pitchFamily="49" charset="-122"/>
                <a:ea typeface="黑体" panose="02010600030101010101" pitchFamily="49" charset="-122"/>
              </a:rPr>
              <a:t>I</a:t>
            </a:r>
            <a:r>
              <a:rPr lang="en-US" altLang="zh-CN" sz="2400" b="1" baseline="30000" dirty="0">
                <a:solidFill>
                  <a:srgbClr val="0000FF"/>
                </a:solidFill>
                <a:latin typeface="黑体" panose="02010600030101010101" pitchFamily="49" charset="-122"/>
                <a:ea typeface="黑体" panose="02010600030101010101" pitchFamily="49" charset="-122"/>
              </a:rPr>
              <a:t>B</a:t>
            </a:r>
            <a:r>
              <a:rPr lang="zh-CN" altLang="en-US" sz="2400" b="1" dirty="0">
                <a:solidFill>
                  <a:srgbClr val="0000FF"/>
                </a:solidFill>
                <a:latin typeface="黑体" panose="02010600030101010101" pitchFamily="49" charset="-122"/>
                <a:ea typeface="黑体" panose="02010600030101010101" pitchFamily="49" charset="-122"/>
              </a:rPr>
              <a:t>和</a:t>
            </a:r>
            <a:r>
              <a:rPr lang="en-US" altLang="zh-CN" sz="2400" b="1" dirty="0">
                <a:solidFill>
                  <a:srgbClr val="0000FF"/>
                </a:solidFill>
                <a:latin typeface="黑体" panose="02010600030101010101" pitchFamily="49" charset="-122"/>
                <a:ea typeface="黑体" panose="02010600030101010101" pitchFamily="49" charset="-122"/>
              </a:rPr>
              <a:t>i</a:t>
            </a:r>
            <a:r>
              <a:rPr lang="zh-CN" altLang="en-US" sz="2400" b="1" dirty="0">
                <a:solidFill>
                  <a:srgbClr val="0000FF"/>
                </a:solidFill>
                <a:latin typeface="黑体" panose="02010600030101010101" pitchFamily="49" charset="-122"/>
                <a:ea typeface="黑体" panose="02010600030101010101" pitchFamily="49" charset="-122"/>
              </a:rPr>
              <a:t>），</a:t>
            </a:r>
            <a:r>
              <a:rPr lang="en-US" altLang="zh-CN" sz="2400" b="1" dirty="0">
                <a:solidFill>
                  <a:srgbClr val="0000FF"/>
                </a:solidFill>
                <a:latin typeface="黑体" panose="02010600030101010101" pitchFamily="49" charset="-122"/>
                <a:ea typeface="黑体" panose="02010600030101010101" pitchFamily="49" charset="-122"/>
              </a:rPr>
              <a:t>I</a:t>
            </a:r>
            <a:r>
              <a:rPr lang="en-US" altLang="zh-CN" sz="2400" b="1" baseline="30000" dirty="0">
                <a:solidFill>
                  <a:srgbClr val="0000FF"/>
                </a:solidFill>
                <a:latin typeface="黑体" panose="02010600030101010101" pitchFamily="49" charset="-122"/>
                <a:ea typeface="黑体" panose="02010600030101010101" pitchFamily="49" charset="-122"/>
              </a:rPr>
              <a:t>A</a:t>
            </a:r>
            <a:r>
              <a:rPr lang="zh-CN" altLang="en-US" sz="2400" b="1" dirty="0">
                <a:solidFill>
                  <a:srgbClr val="0000FF"/>
                </a:solidFill>
                <a:latin typeface="黑体" panose="02010600030101010101" pitchFamily="49" charset="-122"/>
                <a:ea typeface="黑体" panose="02010600030101010101" pitchFamily="49" charset="-122"/>
              </a:rPr>
              <a:t>和</a:t>
            </a:r>
            <a:r>
              <a:rPr lang="en-US" altLang="zh-CN" sz="2400" b="1" dirty="0">
                <a:solidFill>
                  <a:srgbClr val="0000FF"/>
                </a:solidFill>
                <a:latin typeface="黑体" panose="02010600030101010101" pitchFamily="49" charset="-122"/>
                <a:ea typeface="黑体" panose="02010600030101010101" pitchFamily="49" charset="-122"/>
              </a:rPr>
              <a:t>I</a:t>
            </a:r>
            <a:r>
              <a:rPr lang="en-US" altLang="zh-CN" sz="2400" b="1" baseline="30000" dirty="0">
                <a:solidFill>
                  <a:srgbClr val="0000FF"/>
                </a:solidFill>
                <a:latin typeface="黑体" panose="02010600030101010101" pitchFamily="49" charset="-122"/>
                <a:ea typeface="黑体" panose="02010600030101010101" pitchFamily="49" charset="-122"/>
              </a:rPr>
              <a:t>B</a:t>
            </a:r>
            <a:r>
              <a:rPr lang="zh-CN" altLang="en-US" sz="2400" b="1" dirty="0">
                <a:solidFill>
                  <a:srgbClr val="0000FF"/>
                </a:solidFill>
                <a:latin typeface="黑体" panose="02010600030101010101" pitchFamily="49" charset="-122"/>
                <a:ea typeface="黑体" panose="02010600030101010101" pitchFamily="49" charset="-122"/>
              </a:rPr>
              <a:t>是并显性，</a:t>
            </a:r>
            <a:r>
              <a:rPr lang="en-US" altLang="zh-CN" sz="2400" b="1" dirty="0">
                <a:solidFill>
                  <a:srgbClr val="0000FF"/>
                </a:solidFill>
                <a:latin typeface="黑体" panose="02010600030101010101" pitchFamily="49" charset="-122"/>
                <a:ea typeface="黑体" panose="02010600030101010101" pitchFamily="49" charset="-122"/>
              </a:rPr>
              <a:t>I</a:t>
            </a:r>
            <a:r>
              <a:rPr lang="en-US" altLang="zh-CN" sz="2400" b="1" baseline="30000" dirty="0">
                <a:solidFill>
                  <a:srgbClr val="0000FF"/>
                </a:solidFill>
                <a:latin typeface="黑体" panose="02010600030101010101" pitchFamily="49" charset="-122"/>
                <a:ea typeface="黑体" panose="02010600030101010101" pitchFamily="49" charset="-122"/>
              </a:rPr>
              <a:t>A</a:t>
            </a:r>
            <a:r>
              <a:rPr lang="zh-CN" altLang="en-US" sz="2400" b="1" dirty="0">
                <a:solidFill>
                  <a:srgbClr val="0000FF"/>
                </a:solidFill>
                <a:latin typeface="黑体" panose="02010600030101010101" pitchFamily="49" charset="-122"/>
                <a:ea typeface="黑体" panose="02010600030101010101" pitchFamily="49" charset="-122"/>
              </a:rPr>
              <a:t>和</a:t>
            </a:r>
            <a:r>
              <a:rPr lang="en-US" altLang="zh-CN" sz="2400" b="1" dirty="0">
                <a:solidFill>
                  <a:srgbClr val="0000FF"/>
                </a:solidFill>
                <a:latin typeface="黑体" panose="02010600030101010101" pitchFamily="49" charset="-122"/>
                <a:ea typeface="黑体" panose="02010600030101010101" pitchFamily="49" charset="-122"/>
              </a:rPr>
              <a:t>I</a:t>
            </a:r>
            <a:r>
              <a:rPr lang="en-US" altLang="zh-CN" sz="2400" b="1" baseline="30000" dirty="0">
                <a:solidFill>
                  <a:srgbClr val="0000FF"/>
                </a:solidFill>
                <a:latin typeface="黑体" panose="02010600030101010101" pitchFamily="49" charset="-122"/>
                <a:ea typeface="黑体" panose="02010600030101010101" pitchFamily="49" charset="-122"/>
              </a:rPr>
              <a:t>B</a:t>
            </a:r>
            <a:r>
              <a:rPr lang="zh-CN" altLang="en-US" sz="2400" b="1" dirty="0">
                <a:solidFill>
                  <a:srgbClr val="0000FF"/>
                </a:solidFill>
                <a:latin typeface="黑体" panose="02010600030101010101" pitchFamily="49" charset="-122"/>
                <a:ea typeface="黑体" panose="02010600030101010101" pitchFamily="49" charset="-122"/>
              </a:rPr>
              <a:t>对</a:t>
            </a:r>
            <a:r>
              <a:rPr lang="en-US" altLang="zh-CN" sz="2400" b="1" dirty="0">
                <a:solidFill>
                  <a:srgbClr val="0000FF"/>
                </a:solidFill>
                <a:latin typeface="黑体" panose="02010600030101010101" pitchFamily="49" charset="-122"/>
                <a:ea typeface="黑体" panose="02010600030101010101" pitchFamily="49" charset="-122"/>
              </a:rPr>
              <a:t>i</a:t>
            </a:r>
            <a:r>
              <a:rPr lang="zh-CN" altLang="en-US" sz="2400" b="1" dirty="0">
                <a:solidFill>
                  <a:srgbClr val="0000FF"/>
                </a:solidFill>
                <a:latin typeface="黑体" panose="02010600030101010101" pitchFamily="49" charset="-122"/>
                <a:ea typeface="黑体" panose="02010600030101010101" pitchFamily="49" charset="-122"/>
              </a:rPr>
              <a:t>是显性</a:t>
            </a:r>
            <a:endParaRPr lang="zh-CN" altLang="en-US" sz="2400" dirty="0">
              <a:solidFill>
                <a:srgbClr val="0000FF"/>
              </a:solidFill>
            </a:endParaRPr>
          </a:p>
        </p:txBody>
      </p:sp>
      <p:sp>
        <p:nvSpPr>
          <p:cNvPr id="6" name="Rectangle 2"/>
          <p:cNvSpPr>
            <a:spLocks noGrp="1" noRot="1" noChangeArrowheads="1"/>
          </p:cNvSpPr>
          <p:nvPr>
            <p:ph type="title"/>
          </p:nvPr>
        </p:nvSpPr>
        <p:spPr>
          <a:xfrm>
            <a:off x="94053" y="0"/>
            <a:ext cx="10633364" cy="648393"/>
          </a:xfrm>
        </p:spPr>
        <p:txBody>
          <a:bodyPr vert="horz" lIns="91440" tIns="45720" rIns="91440" bIns="45720" rtlCol="0" anchor="ctr">
            <a:noAutofit/>
          </a:bodyPr>
          <a:lstStyle/>
          <a:p>
            <a:r>
              <a:rPr lang="zh-CN" altLang="en-US" sz="3600" b="1" dirty="0">
                <a:solidFill>
                  <a:srgbClr val="0000FF"/>
                </a:solidFill>
                <a:latin typeface="Times New Roman" pitchFamily="18" charset="0"/>
                <a:ea typeface="黑体" panose="02010600030101010101" pitchFamily="49" charset="-122"/>
                <a:cs typeface="Times New Roman" pitchFamily="18" charset="0"/>
              </a:rPr>
              <a:t>四、复等位基因</a:t>
            </a:r>
            <a:r>
              <a:rPr lang="en-US" altLang="zh-CN" sz="3600" b="1" dirty="0">
                <a:solidFill>
                  <a:srgbClr val="0000FF"/>
                </a:solidFill>
                <a:latin typeface="Times New Roman" pitchFamily="18" charset="0"/>
                <a:ea typeface="黑体" panose="02010600030101010101" pitchFamily="49" charset="-122"/>
                <a:cs typeface="Times New Roman" pitchFamily="18" charset="0"/>
              </a:rPr>
              <a:t>(multiple </a:t>
            </a:r>
            <a:r>
              <a:rPr lang="en-US" altLang="zh-CN" sz="3600" b="1" dirty="0" err="1">
                <a:solidFill>
                  <a:srgbClr val="0000FF"/>
                </a:solidFill>
                <a:latin typeface="Times New Roman" pitchFamily="18" charset="0"/>
                <a:ea typeface="黑体" panose="02010600030101010101" pitchFamily="49" charset="-122"/>
                <a:cs typeface="Times New Roman" pitchFamily="18" charset="0"/>
              </a:rPr>
              <a:t>alelles</a:t>
            </a:r>
            <a:r>
              <a:rPr lang="en-US" altLang="zh-CN" sz="3600" b="1" dirty="0">
                <a:solidFill>
                  <a:srgbClr val="0000FF"/>
                </a:solidFill>
                <a:latin typeface="Times New Roman" pitchFamily="18" charset="0"/>
                <a:ea typeface="黑体" panose="02010600030101010101" pitchFamily="49" charset="-122"/>
                <a:cs typeface="Times New Roman" pitchFamily="18" charset="0"/>
              </a:rPr>
              <a:t>)</a:t>
            </a:r>
          </a:p>
        </p:txBody>
      </p:sp>
    </p:spTree>
    <p:extLst>
      <p:ext uri="{BB962C8B-B14F-4D97-AF65-F5344CB8AC3E}">
        <p14:creationId xmlns:p14="http://schemas.microsoft.com/office/powerpoint/2010/main" val="327945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a:extLst>
              <a:ext uri="{FF2B5EF4-FFF2-40B4-BE49-F238E27FC236}">
                <a16:creationId xmlns:a16="http://schemas.microsoft.com/office/drawing/2014/main" id="{8B41B2C5-F024-40DF-8D66-E4C4594688A8}"/>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2998989" y="182880"/>
            <a:ext cx="5177628" cy="5853541"/>
          </a:xfrm>
          <a:prstGeom prst="rect">
            <a:avLst/>
          </a:prstGeom>
        </p:spPr>
      </p:pic>
      <p:sp>
        <p:nvSpPr>
          <p:cNvPr id="8" name="灯片编号占位符 2">
            <a:extLst>
              <a:ext uri="{FF2B5EF4-FFF2-40B4-BE49-F238E27FC236}">
                <a16:creationId xmlns:a16="http://schemas.microsoft.com/office/drawing/2014/main" id="{37EBB5E4-FA0D-4D57-855B-BEF46DC10D76}"/>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24</a:t>
            </a:fld>
            <a:endParaRPr lang="zh-CN" altLang="en-US" dirty="0"/>
          </a:p>
        </p:txBody>
      </p:sp>
    </p:spTree>
    <p:extLst>
      <p:ext uri="{BB962C8B-B14F-4D97-AF65-F5344CB8AC3E}">
        <p14:creationId xmlns:p14="http://schemas.microsoft.com/office/powerpoint/2010/main" val="3794052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Rectangle 3"/>
          <p:cNvSpPr>
            <a:spLocks noGrp="1" noRot="1" noChangeArrowheads="1"/>
          </p:cNvSpPr>
          <p:nvPr/>
        </p:nvSpPr>
        <p:spPr>
          <a:xfrm>
            <a:off x="0" y="0"/>
            <a:ext cx="12192000" cy="32419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altLang="zh-CN" b="1" i="1" dirty="0">
                <a:latin typeface="黑体" panose="02010600030101010101" pitchFamily="49" charset="-122"/>
                <a:ea typeface="黑体" panose="02010600030101010101" pitchFamily="49" charset="-122"/>
              </a:rPr>
              <a:t>	</a:t>
            </a:r>
            <a:r>
              <a:rPr lang="en-US" altLang="zh-CN" b="1" dirty="0">
                <a:latin typeface="黑体" panose="02010600030101010101" pitchFamily="49" charset="-122"/>
                <a:ea typeface="黑体" panose="02010600030101010101" pitchFamily="49" charset="-122"/>
              </a:rPr>
              <a:t>ABO</a:t>
            </a:r>
            <a:r>
              <a:rPr lang="zh-CN" altLang="en-US" b="1" dirty="0">
                <a:latin typeface="黑体" panose="02010600030101010101" pitchFamily="49" charset="-122"/>
                <a:ea typeface="黑体" panose="02010600030101010101" pitchFamily="49" charset="-122"/>
              </a:rPr>
              <a:t>血型抗原是分布在红细胞表面的一类特异性跨膜脂多糖：</a:t>
            </a:r>
            <a:endParaRPr lang="en-US" altLang="zh-CN" b="1" dirty="0">
              <a:latin typeface="黑体" panose="02010600030101010101" pitchFamily="49" charset="-122"/>
              <a:ea typeface="黑体" panose="02010600030101010101" pitchFamily="49" charset="-122"/>
            </a:endParaRPr>
          </a:p>
          <a:p>
            <a:pPr marL="0" indent="0">
              <a:lnSpc>
                <a:spcPct val="100000"/>
              </a:lnSpc>
              <a:spcBef>
                <a:spcPts val="0"/>
              </a:spcBef>
              <a:buNone/>
            </a:pPr>
            <a:r>
              <a:rPr lang="en-US" altLang="zh-CN" b="1" dirty="0">
                <a:solidFill>
                  <a:srgbClr val="0000FF"/>
                </a:solidFill>
                <a:latin typeface="黑体" panose="02010600030101010101" pitchFamily="49" charset="-122"/>
                <a:ea typeface="黑体" panose="02010600030101010101" pitchFamily="49" charset="-122"/>
              </a:rPr>
              <a:t>I</a:t>
            </a:r>
            <a:r>
              <a:rPr lang="en-US" altLang="zh-CN" b="1" baseline="30000" dirty="0">
                <a:solidFill>
                  <a:srgbClr val="0000FF"/>
                </a:solidFill>
                <a:latin typeface="黑体" panose="02010600030101010101" pitchFamily="49" charset="-122"/>
                <a:ea typeface="黑体" panose="02010600030101010101" pitchFamily="49" charset="-122"/>
              </a:rPr>
              <a:t>A</a:t>
            </a:r>
            <a:r>
              <a:rPr lang="zh-CN" altLang="en-US" b="1" dirty="0">
                <a:solidFill>
                  <a:srgbClr val="0000FF"/>
                </a:solidFill>
                <a:latin typeface="黑体" panose="02010600030101010101" pitchFamily="49" charset="-122"/>
                <a:ea typeface="黑体" panose="02010600030101010101" pitchFamily="49" charset="-122"/>
              </a:rPr>
              <a:t>基因控制合成</a:t>
            </a:r>
            <a:r>
              <a:rPr lang="en-US" altLang="zh-CN" b="1" dirty="0">
                <a:solidFill>
                  <a:srgbClr val="0000FF"/>
                </a:solidFill>
                <a:latin typeface="黑体" panose="02010600030101010101" pitchFamily="49" charset="-122"/>
                <a:ea typeface="黑体" panose="02010600030101010101" pitchFamily="49" charset="-122"/>
              </a:rPr>
              <a:t>N-</a:t>
            </a:r>
            <a:r>
              <a:rPr lang="zh-CN" altLang="en-US" b="1" dirty="0">
                <a:solidFill>
                  <a:srgbClr val="0000FF"/>
                </a:solidFill>
                <a:latin typeface="黑体" panose="02010600030101010101" pitchFamily="49" charset="-122"/>
                <a:ea typeface="黑体" panose="02010600030101010101" pitchFamily="49" charset="-122"/>
              </a:rPr>
              <a:t>乙酰</a:t>
            </a:r>
            <a:r>
              <a:rPr lang="en-US" altLang="zh-CN" b="1" dirty="0">
                <a:solidFill>
                  <a:srgbClr val="0000FF"/>
                </a:solidFill>
                <a:latin typeface="黑体" panose="02010600030101010101" pitchFamily="49" charset="-122"/>
                <a:ea typeface="黑体" panose="02010600030101010101" pitchFamily="49" charset="-122"/>
              </a:rPr>
              <a:t>-D-</a:t>
            </a:r>
            <a:r>
              <a:rPr lang="zh-CN" altLang="en-US" b="1" dirty="0">
                <a:solidFill>
                  <a:srgbClr val="0000FF"/>
                </a:solidFill>
                <a:latin typeface="黑体" panose="02010600030101010101" pitchFamily="49" charset="-122"/>
                <a:ea typeface="黑体" panose="02010600030101010101" pitchFamily="49" charset="-122"/>
              </a:rPr>
              <a:t>半乳糖胺转移酶</a:t>
            </a:r>
            <a:r>
              <a:rPr lang="zh-CN" altLang="en-US" b="1" dirty="0">
                <a:latin typeface="黑体" panose="02010600030101010101" pitchFamily="49" charset="-122"/>
                <a:ea typeface="黑体" panose="02010600030101010101" pitchFamily="49" charset="-122"/>
              </a:rPr>
              <a:t>，能将</a:t>
            </a:r>
            <a:r>
              <a:rPr lang="zh-CN" altLang="en-US" b="1" dirty="0">
                <a:latin typeface="黑体" panose="02010600030101010101" pitchFamily="49" charset="-122"/>
                <a:ea typeface="黑体" panose="02010600030101010101" pitchFamily="49" charset="-122"/>
                <a:sym typeface="Symbol" panose="05050102010706020507" pitchFamily="18" charset="2"/>
              </a:rPr>
              <a:t></a:t>
            </a:r>
            <a:r>
              <a:rPr lang="en-US" altLang="zh-CN" b="1" dirty="0">
                <a:latin typeface="黑体" panose="02010600030101010101" pitchFamily="49" charset="-122"/>
                <a:ea typeface="黑体" panose="02010600030101010101" pitchFamily="49" charset="-122"/>
              </a:rPr>
              <a:t>-N-</a:t>
            </a:r>
            <a:r>
              <a:rPr lang="zh-CN" altLang="en-US" b="1" dirty="0">
                <a:latin typeface="黑体" panose="02010600030101010101" pitchFamily="49" charset="-122"/>
                <a:ea typeface="黑体" panose="02010600030101010101" pitchFamily="49" charset="-122"/>
              </a:rPr>
              <a:t>乙酰半乳糖胺分子连接到</a:t>
            </a:r>
            <a:r>
              <a:rPr lang="en-US" altLang="zh-CN" b="1" dirty="0">
                <a:latin typeface="黑体" panose="02010600030101010101" pitchFamily="49" charset="-122"/>
                <a:ea typeface="黑体" panose="02010600030101010101" pitchFamily="49" charset="-122"/>
              </a:rPr>
              <a:t>H</a:t>
            </a:r>
            <a:r>
              <a:rPr lang="zh-CN" altLang="en-US" b="1" dirty="0">
                <a:latin typeface="黑体" panose="02010600030101010101" pitchFamily="49" charset="-122"/>
                <a:ea typeface="黑体" panose="02010600030101010101" pitchFamily="49" charset="-122"/>
              </a:rPr>
              <a:t>物质上，产生</a:t>
            </a:r>
            <a:r>
              <a:rPr lang="en-US" altLang="zh-CN" b="1" dirty="0">
                <a:solidFill>
                  <a:srgbClr val="0000FF"/>
                </a:solidFill>
                <a:latin typeface="黑体" panose="02010600030101010101" pitchFamily="49" charset="-122"/>
                <a:ea typeface="黑体" panose="02010600030101010101" pitchFamily="49" charset="-122"/>
              </a:rPr>
              <a:t>A</a:t>
            </a:r>
            <a:r>
              <a:rPr lang="zh-CN" altLang="en-US" b="1" dirty="0">
                <a:solidFill>
                  <a:srgbClr val="0000FF"/>
                </a:solidFill>
                <a:latin typeface="黑体" panose="02010600030101010101" pitchFamily="49" charset="-122"/>
                <a:ea typeface="黑体" panose="02010600030101010101" pitchFamily="49" charset="-122"/>
              </a:rPr>
              <a:t>抗原</a:t>
            </a:r>
            <a:r>
              <a:rPr lang="zh-CN" altLang="en-US" b="1" dirty="0">
                <a:latin typeface="黑体" panose="02010600030101010101" pitchFamily="49" charset="-122"/>
                <a:ea typeface="黑体" panose="02010600030101010101" pitchFamily="49" charset="-122"/>
              </a:rPr>
              <a:t>；</a:t>
            </a:r>
            <a:endParaRPr lang="en-US" altLang="zh-CN" b="1" dirty="0">
              <a:latin typeface="黑体" panose="02010600030101010101" pitchFamily="49" charset="-122"/>
              <a:ea typeface="黑体" panose="02010600030101010101" pitchFamily="49" charset="-122"/>
            </a:endParaRPr>
          </a:p>
          <a:p>
            <a:pPr marL="0" indent="0">
              <a:lnSpc>
                <a:spcPct val="100000"/>
              </a:lnSpc>
              <a:spcBef>
                <a:spcPts val="0"/>
              </a:spcBef>
              <a:buNone/>
            </a:pPr>
            <a:r>
              <a:rPr lang="en-US" altLang="zh-CN" b="1" dirty="0">
                <a:solidFill>
                  <a:srgbClr val="0000FF"/>
                </a:solidFill>
                <a:latin typeface="黑体" panose="02010600030101010101" pitchFamily="49" charset="-122"/>
                <a:ea typeface="黑体" panose="02010600030101010101" pitchFamily="49" charset="-122"/>
              </a:rPr>
              <a:t>I</a:t>
            </a:r>
            <a:r>
              <a:rPr lang="en-US" altLang="zh-CN" b="1" baseline="30000" dirty="0">
                <a:solidFill>
                  <a:srgbClr val="0000FF"/>
                </a:solidFill>
                <a:latin typeface="黑体" panose="02010600030101010101" pitchFamily="49" charset="-122"/>
                <a:ea typeface="黑体" panose="02010600030101010101" pitchFamily="49" charset="-122"/>
              </a:rPr>
              <a:t>B</a:t>
            </a:r>
            <a:r>
              <a:rPr lang="zh-CN" altLang="en-US" b="1" dirty="0">
                <a:solidFill>
                  <a:srgbClr val="0000FF"/>
                </a:solidFill>
                <a:latin typeface="黑体" panose="02010600030101010101" pitchFamily="49" charset="-122"/>
                <a:ea typeface="黑体" panose="02010600030101010101" pitchFamily="49" charset="-122"/>
              </a:rPr>
              <a:t>基因控制合成半乳糖转移酶</a:t>
            </a:r>
            <a:r>
              <a:rPr lang="zh-CN" altLang="en-US" b="1" dirty="0">
                <a:latin typeface="黑体" panose="02010600030101010101" pitchFamily="49" charset="-122"/>
                <a:ea typeface="黑体" panose="02010600030101010101" pitchFamily="49" charset="-122"/>
              </a:rPr>
              <a:t>，能将</a:t>
            </a:r>
            <a:r>
              <a:rPr lang="zh-CN" altLang="en-US" b="1" dirty="0">
                <a:latin typeface="黑体" panose="02010600030101010101" pitchFamily="49" charset="-122"/>
                <a:ea typeface="黑体" panose="02010600030101010101" pitchFamily="49" charset="-122"/>
                <a:sym typeface="Symbol" panose="05050102010706020507" pitchFamily="18" charset="2"/>
              </a:rPr>
              <a:t></a:t>
            </a:r>
            <a:r>
              <a:rPr lang="en-US" altLang="zh-CN" b="1" dirty="0">
                <a:latin typeface="黑体" panose="02010600030101010101" pitchFamily="49" charset="-122"/>
                <a:ea typeface="黑体" panose="02010600030101010101" pitchFamily="49" charset="-122"/>
              </a:rPr>
              <a:t>-N-</a:t>
            </a:r>
            <a:r>
              <a:rPr lang="zh-CN" altLang="en-US" b="1" dirty="0">
                <a:latin typeface="黑体" panose="02010600030101010101" pitchFamily="49" charset="-122"/>
                <a:ea typeface="黑体" panose="02010600030101010101" pitchFamily="49" charset="-122"/>
              </a:rPr>
              <a:t>半乳糖分子连接到</a:t>
            </a:r>
            <a:r>
              <a:rPr lang="en-US" altLang="zh-CN" b="1" dirty="0">
                <a:latin typeface="黑体" panose="02010600030101010101" pitchFamily="49" charset="-122"/>
                <a:ea typeface="黑体" panose="02010600030101010101" pitchFamily="49" charset="-122"/>
              </a:rPr>
              <a:t>H</a:t>
            </a:r>
            <a:r>
              <a:rPr lang="zh-CN" altLang="en-US" b="1" dirty="0">
                <a:latin typeface="黑体" panose="02010600030101010101" pitchFamily="49" charset="-122"/>
                <a:ea typeface="黑体" panose="02010600030101010101" pitchFamily="49" charset="-122"/>
              </a:rPr>
              <a:t>物质上，产生</a:t>
            </a:r>
            <a:r>
              <a:rPr lang="en-US" altLang="zh-CN" b="1" dirty="0">
                <a:solidFill>
                  <a:srgbClr val="0000FF"/>
                </a:solidFill>
                <a:latin typeface="黑体" panose="02010600030101010101" pitchFamily="49" charset="-122"/>
                <a:ea typeface="黑体" panose="02010600030101010101" pitchFamily="49" charset="-122"/>
              </a:rPr>
              <a:t>B</a:t>
            </a:r>
            <a:r>
              <a:rPr lang="zh-CN" altLang="en-US" b="1" dirty="0">
                <a:solidFill>
                  <a:srgbClr val="0000FF"/>
                </a:solidFill>
                <a:latin typeface="黑体" panose="02010600030101010101" pitchFamily="49" charset="-122"/>
                <a:ea typeface="黑体" panose="02010600030101010101" pitchFamily="49" charset="-122"/>
              </a:rPr>
              <a:t>抗原</a:t>
            </a:r>
            <a:r>
              <a:rPr lang="zh-CN" altLang="en-US" b="1" dirty="0">
                <a:latin typeface="黑体" panose="02010600030101010101" pitchFamily="49" charset="-122"/>
                <a:ea typeface="黑体" panose="02010600030101010101" pitchFamily="49" charset="-122"/>
              </a:rPr>
              <a:t>；</a:t>
            </a:r>
            <a:endParaRPr lang="en-US" altLang="zh-CN" b="1" dirty="0">
              <a:latin typeface="黑体" panose="02010600030101010101" pitchFamily="49" charset="-122"/>
              <a:ea typeface="黑体" panose="02010600030101010101" pitchFamily="49" charset="-122"/>
            </a:endParaRPr>
          </a:p>
          <a:p>
            <a:pPr marL="0" indent="0">
              <a:lnSpc>
                <a:spcPct val="100000"/>
              </a:lnSpc>
              <a:spcBef>
                <a:spcPts val="0"/>
              </a:spcBef>
              <a:buNone/>
            </a:pPr>
            <a:r>
              <a:rPr lang="en-US" altLang="zh-CN" b="1" dirty="0">
                <a:solidFill>
                  <a:srgbClr val="0000FF"/>
                </a:solidFill>
                <a:latin typeface="黑体" panose="02010600030101010101" pitchFamily="49" charset="-122"/>
                <a:ea typeface="黑体" panose="02010600030101010101" pitchFamily="49" charset="-122"/>
              </a:rPr>
              <a:t>i</a:t>
            </a:r>
            <a:r>
              <a:rPr lang="zh-CN" altLang="en-US" b="1" dirty="0">
                <a:solidFill>
                  <a:srgbClr val="0000FF"/>
                </a:solidFill>
                <a:latin typeface="黑体" panose="02010600030101010101" pitchFamily="49" charset="-122"/>
                <a:ea typeface="黑体" panose="02010600030101010101" pitchFamily="49" charset="-122"/>
              </a:rPr>
              <a:t>基因不编码任一种转移酶，</a:t>
            </a:r>
            <a:r>
              <a:rPr lang="zh-CN" altLang="en-US" b="1" dirty="0">
                <a:latin typeface="黑体" panose="02010600030101010101" pitchFamily="49" charset="-122"/>
                <a:ea typeface="黑体" panose="02010600030101010101" pitchFamily="49" charset="-122"/>
              </a:rPr>
              <a:t>不能形成</a:t>
            </a:r>
            <a:r>
              <a:rPr lang="en-US" altLang="zh-CN" b="1" dirty="0">
                <a:latin typeface="黑体" panose="02010600030101010101" pitchFamily="49" charset="-122"/>
                <a:ea typeface="黑体" panose="02010600030101010101" pitchFamily="49" charset="-122"/>
              </a:rPr>
              <a:t>A</a:t>
            </a:r>
            <a:r>
              <a:rPr lang="zh-CN" altLang="en-US" b="1" dirty="0">
                <a:latin typeface="黑体" panose="02010600030101010101" pitchFamily="49" charset="-122"/>
                <a:ea typeface="黑体" panose="02010600030101010101" pitchFamily="49" charset="-122"/>
              </a:rPr>
              <a:t>或</a:t>
            </a:r>
            <a:r>
              <a:rPr lang="en-US" altLang="zh-CN" b="1" dirty="0">
                <a:latin typeface="黑体" panose="02010600030101010101" pitchFamily="49" charset="-122"/>
                <a:ea typeface="黑体" panose="02010600030101010101" pitchFamily="49" charset="-122"/>
              </a:rPr>
              <a:t>B</a:t>
            </a:r>
            <a:r>
              <a:rPr lang="zh-CN" altLang="en-US" b="1" dirty="0">
                <a:latin typeface="黑体" panose="02010600030101010101" pitchFamily="49" charset="-122"/>
                <a:ea typeface="黑体" panose="02010600030101010101" pitchFamily="49" charset="-122"/>
              </a:rPr>
              <a:t>抗原，但保留了</a:t>
            </a:r>
            <a:r>
              <a:rPr lang="en-US" altLang="zh-CN" b="1" dirty="0">
                <a:latin typeface="黑体" panose="02010600030101010101" pitchFamily="49" charset="-122"/>
                <a:ea typeface="黑体" panose="02010600030101010101" pitchFamily="49" charset="-122"/>
              </a:rPr>
              <a:t>H</a:t>
            </a:r>
            <a:r>
              <a:rPr lang="zh-CN" altLang="en-US" b="1" dirty="0">
                <a:latin typeface="黑体" panose="02010600030101010101" pitchFamily="49" charset="-122"/>
                <a:ea typeface="黑体" panose="02010600030101010101" pitchFamily="49" charset="-122"/>
              </a:rPr>
              <a:t>物质（</a:t>
            </a:r>
            <a:r>
              <a:rPr lang="en-US" altLang="zh-CN" b="1" dirty="0">
                <a:solidFill>
                  <a:srgbClr val="0000FF"/>
                </a:solidFill>
                <a:latin typeface="黑体" panose="02010600030101010101" pitchFamily="49" charset="-122"/>
                <a:ea typeface="黑体" panose="02010600030101010101" pitchFamily="49" charset="-122"/>
              </a:rPr>
              <a:t>H</a:t>
            </a:r>
            <a:r>
              <a:rPr lang="zh-CN" altLang="en-US" b="1" dirty="0">
                <a:solidFill>
                  <a:srgbClr val="0000FF"/>
                </a:solidFill>
                <a:latin typeface="黑体" panose="02010600030101010101" pitchFamily="49" charset="-122"/>
                <a:ea typeface="黑体" panose="02010600030101010101" pitchFamily="49" charset="-122"/>
              </a:rPr>
              <a:t>抗原</a:t>
            </a:r>
            <a:r>
              <a:rPr lang="zh-CN" altLang="en-US" b="1" dirty="0">
                <a:latin typeface="黑体" panose="02010600030101010101" pitchFamily="49" charset="-122"/>
                <a:ea typeface="黑体" panose="02010600030101010101" pitchFamily="49" charset="-122"/>
              </a:rPr>
              <a:t>）</a:t>
            </a:r>
          </a:p>
        </p:txBody>
      </p:sp>
      <p:pic>
        <p:nvPicPr>
          <p:cNvPr id="7" name="图片 6">
            <a:extLst>
              <a:ext uri="{FF2B5EF4-FFF2-40B4-BE49-F238E27FC236}">
                <a16:creationId xmlns:a16="http://schemas.microsoft.com/office/drawing/2014/main" id="{5F844A25-F863-4FC4-B545-A1F6F2D33947}"/>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867450" y="2809702"/>
            <a:ext cx="9972040" cy="3498045"/>
          </a:xfrm>
          <a:prstGeom prst="rect">
            <a:avLst/>
          </a:prstGeom>
        </p:spPr>
      </p:pic>
    </p:spTree>
    <p:extLst>
      <p:ext uri="{BB962C8B-B14F-4D97-AF65-F5344CB8AC3E}">
        <p14:creationId xmlns:p14="http://schemas.microsoft.com/office/powerpoint/2010/main" val="313437985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4AABB30-5514-4C4D-979E-EDAFBFBA35AD}"/>
              </a:ext>
            </a:extLst>
          </p:cNvPr>
          <p:cNvSpPr>
            <a:spLocks noGrp="1"/>
          </p:cNvSpPr>
          <p:nvPr>
            <p:ph type="title"/>
          </p:nvPr>
        </p:nvSpPr>
        <p:spPr>
          <a:xfrm>
            <a:off x="398362" y="226229"/>
            <a:ext cx="9602165" cy="549275"/>
          </a:xfrm>
        </p:spPr>
        <p:txBody>
          <a:bodyPr vert="horz" lIns="91440" tIns="45720" rIns="91440" bIns="45720" rtlCol="0" anchor="ctr">
            <a:noAutofit/>
          </a:bodyPr>
          <a:lstStyle/>
          <a:p>
            <a:r>
              <a:rPr lang="zh-CN" altLang="en-US" sz="3600" b="1" dirty="0">
                <a:solidFill>
                  <a:srgbClr val="0000FF"/>
                </a:solidFill>
                <a:latin typeface="黑体" panose="02010600030101010101" pitchFamily="49" charset="-122"/>
                <a:ea typeface="黑体" panose="02010600030101010101" pitchFamily="49" charset="-122"/>
              </a:rPr>
              <a:t>孟买型与</a:t>
            </a:r>
            <a:r>
              <a:rPr lang="en-US" altLang="zh-CN" sz="3600" b="1" dirty="0">
                <a:solidFill>
                  <a:srgbClr val="0000FF"/>
                </a:solidFill>
                <a:latin typeface="黑体" panose="02010600030101010101" pitchFamily="49" charset="-122"/>
                <a:ea typeface="黑体" panose="02010600030101010101" pitchFamily="49" charset="-122"/>
              </a:rPr>
              <a:t>H</a:t>
            </a:r>
            <a:r>
              <a:rPr lang="zh-CN" altLang="en-US" sz="3600" b="1" dirty="0">
                <a:solidFill>
                  <a:srgbClr val="0000FF"/>
                </a:solidFill>
                <a:latin typeface="黑体" panose="02010600030101010101" pitchFamily="49" charset="-122"/>
                <a:ea typeface="黑体" panose="02010600030101010101" pitchFamily="49" charset="-122"/>
              </a:rPr>
              <a:t>抗原</a:t>
            </a:r>
          </a:p>
        </p:txBody>
      </p:sp>
      <p:pic>
        <p:nvPicPr>
          <p:cNvPr id="6" name="图片 5">
            <a:extLst>
              <a:ext uri="{FF2B5EF4-FFF2-40B4-BE49-F238E27FC236}">
                <a16:creationId xmlns:a16="http://schemas.microsoft.com/office/drawing/2014/main" id="{BF3173C4-F9FC-4CFF-ACB9-22A9A8D6CDA9}"/>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5749246" y="92597"/>
            <a:ext cx="6442753" cy="5278028"/>
          </a:xfrm>
          <a:prstGeom prst="rect">
            <a:avLst/>
          </a:prstGeom>
        </p:spPr>
      </p:pic>
      <p:sp>
        <p:nvSpPr>
          <p:cNvPr id="7" name="文本框 6">
            <a:extLst>
              <a:ext uri="{FF2B5EF4-FFF2-40B4-BE49-F238E27FC236}">
                <a16:creationId xmlns:a16="http://schemas.microsoft.com/office/drawing/2014/main" id="{AF24C7DF-16D4-4D53-803B-9FA7527E2D91}"/>
              </a:ext>
            </a:extLst>
          </p:cNvPr>
          <p:cNvSpPr txBox="1"/>
          <p:nvPr/>
        </p:nvSpPr>
        <p:spPr>
          <a:xfrm>
            <a:off x="0" y="1250052"/>
            <a:ext cx="5636216" cy="3298799"/>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800"/>
            </a:lvl1pPr>
            <a:lvl2pPr marL="114300" lvl="1" indent="-342900">
              <a:lnSpc>
                <a:spcPct val="120000"/>
              </a:lnSpc>
              <a:spcBef>
                <a:spcPts val="0"/>
              </a:spcBef>
              <a:buFont typeface="Wingdings" pitchFamily="2" charset="2"/>
              <a:buChar char="Ø"/>
              <a:defRPr sz="2400" b="1">
                <a:latin typeface="黑体" pitchFamily="49" charset="-122"/>
                <a:ea typeface="黑体"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indent="0">
              <a:buNone/>
            </a:pPr>
            <a:r>
              <a:rPr lang="en-US" altLang="zh-CN" dirty="0">
                <a:latin typeface="Times New Roman" pitchFamily="18" charset="0"/>
              </a:rPr>
              <a:t>        O</a:t>
            </a:r>
            <a:r>
              <a:rPr lang="zh-CN" altLang="en-US" dirty="0">
                <a:latin typeface="Times New Roman" pitchFamily="18" charset="0"/>
              </a:rPr>
              <a:t>型的人也有相应的抗原，这个抗原是</a:t>
            </a:r>
            <a:r>
              <a:rPr lang="en-US" altLang="zh-CN" dirty="0">
                <a:latin typeface="Times New Roman" pitchFamily="18" charset="0"/>
              </a:rPr>
              <a:t>H</a:t>
            </a:r>
            <a:r>
              <a:rPr lang="zh-CN" altLang="en-US" dirty="0">
                <a:latin typeface="Times New Roman" pitchFamily="18" charset="0"/>
              </a:rPr>
              <a:t>物质。但</a:t>
            </a:r>
            <a:r>
              <a:rPr lang="en-US" altLang="zh-CN" dirty="0" err="1">
                <a:latin typeface="Times New Roman" pitchFamily="18" charset="0"/>
              </a:rPr>
              <a:t>hh</a:t>
            </a:r>
            <a:r>
              <a:rPr lang="zh-CN" altLang="en-US" dirty="0">
                <a:latin typeface="Times New Roman" pitchFamily="18" charset="0"/>
              </a:rPr>
              <a:t>个体无法合成</a:t>
            </a:r>
            <a:r>
              <a:rPr lang="en-US" altLang="zh-CN" dirty="0">
                <a:latin typeface="Times New Roman" pitchFamily="18" charset="0"/>
              </a:rPr>
              <a:t>H</a:t>
            </a:r>
            <a:r>
              <a:rPr lang="zh-CN" altLang="en-US" dirty="0">
                <a:latin typeface="Times New Roman" pitchFamily="18" charset="0"/>
              </a:rPr>
              <a:t>物质，这种人被称为</a:t>
            </a:r>
            <a:r>
              <a:rPr lang="zh-CN" altLang="en-US" dirty="0">
                <a:solidFill>
                  <a:srgbClr val="FF0000"/>
                </a:solidFill>
                <a:latin typeface="Times New Roman" pitchFamily="18" charset="0"/>
              </a:rPr>
              <a:t>孟买型</a:t>
            </a:r>
            <a:r>
              <a:rPr lang="zh-CN" altLang="en-US" dirty="0">
                <a:latin typeface="Times New Roman" pitchFamily="18" charset="0"/>
              </a:rPr>
              <a:t>（</a:t>
            </a:r>
            <a:r>
              <a:rPr lang="en-US" altLang="zh-CN" dirty="0">
                <a:latin typeface="Times New Roman" pitchFamily="18" charset="0"/>
              </a:rPr>
              <a:t>Bombay phenotype</a:t>
            </a:r>
            <a:r>
              <a:rPr lang="zh-CN" altLang="en-US" dirty="0">
                <a:latin typeface="Times New Roman" pitchFamily="18" charset="0"/>
              </a:rPr>
              <a:t>）</a:t>
            </a:r>
            <a:endParaRPr lang="en-US" altLang="zh-CN" dirty="0">
              <a:latin typeface="Times New Roman" pitchFamily="18" charset="0"/>
            </a:endParaRPr>
          </a:p>
          <a:p>
            <a:pPr marL="0" lvl="1" indent="0">
              <a:buNone/>
            </a:pPr>
            <a:r>
              <a:rPr lang="zh-CN" altLang="en-US" dirty="0">
                <a:latin typeface="Times New Roman" pitchFamily="18" charset="0"/>
              </a:rPr>
              <a:t>        孟买型的人没有</a:t>
            </a:r>
            <a:r>
              <a:rPr lang="en-US" altLang="zh-CN" dirty="0">
                <a:latin typeface="Times New Roman" pitchFamily="18" charset="0"/>
              </a:rPr>
              <a:t>H</a:t>
            </a:r>
            <a:r>
              <a:rPr lang="zh-CN" altLang="en-US" dirty="0">
                <a:latin typeface="Times New Roman" pitchFamily="18" charset="0"/>
              </a:rPr>
              <a:t>物质，即使有</a:t>
            </a:r>
            <a:r>
              <a:rPr lang="en-US" altLang="zh-CN" dirty="0">
                <a:latin typeface="Times New Roman" pitchFamily="18" charset="0"/>
              </a:rPr>
              <a:t>I</a:t>
            </a:r>
            <a:r>
              <a:rPr lang="en-US" altLang="zh-CN" baseline="30000" dirty="0">
                <a:latin typeface="Times New Roman" pitchFamily="18" charset="0"/>
              </a:rPr>
              <a:t>A</a:t>
            </a:r>
            <a:r>
              <a:rPr lang="zh-CN" altLang="en-US" dirty="0">
                <a:latin typeface="Times New Roman" pitchFamily="18" charset="0"/>
              </a:rPr>
              <a:t>或</a:t>
            </a:r>
            <a:r>
              <a:rPr lang="en-US" altLang="zh-CN" dirty="0">
                <a:latin typeface="Times New Roman" pitchFamily="18" charset="0"/>
              </a:rPr>
              <a:t>I</a:t>
            </a:r>
            <a:r>
              <a:rPr lang="en-US" altLang="zh-CN" baseline="30000" dirty="0">
                <a:latin typeface="Times New Roman" pitchFamily="18" charset="0"/>
              </a:rPr>
              <a:t>B</a:t>
            </a:r>
            <a:r>
              <a:rPr lang="zh-CN" altLang="en-US" dirty="0">
                <a:latin typeface="Times New Roman" pitchFamily="18" charset="0"/>
              </a:rPr>
              <a:t>基因，也不能形成</a:t>
            </a:r>
            <a:r>
              <a:rPr lang="en-US" altLang="zh-CN" dirty="0">
                <a:latin typeface="Times New Roman" pitchFamily="18" charset="0"/>
              </a:rPr>
              <a:t>A</a:t>
            </a:r>
            <a:r>
              <a:rPr lang="zh-CN" altLang="en-US" dirty="0">
                <a:latin typeface="Times New Roman" pitchFamily="18" charset="0"/>
              </a:rPr>
              <a:t>抗原或</a:t>
            </a:r>
            <a:r>
              <a:rPr lang="en-US" altLang="zh-CN" dirty="0">
                <a:latin typeface="Times New Roman" pitchFamily="18" charset="0"/>
              </a:rPr>
              <a:t>B</a:t>
            </a:r>
            <a:r>
              <a:rPr lang="zh-CN" altLang="en-US" dirty="0">
                <a:latin typeface="Times New Roman" pitchFamily="18" charset="0"/>
              </a:rPr>
              <a:t>抗原。</a:t>
            </a:r>
            <a:endParaRPr lang="en-US" altLang="zh-CN" dirty="0">
              <a:latin typeface="Times New Roman" pitchFamily="18" charset="0"/>
            </a:endParaRPr>
          </a:p>
          <a:p>
            <a:pPr marL="0" lvl="1" indent="0">
              <a:buNone/>
            </a:pPr>
            <a:endParaRPr lang="en-US" altLang="zh-CN" dirty="0">
              <a:latin typeface="Times New Roman" pitchFamily="18" charset="0"/>
            </a:endParaRPr>
          </a:p>
        </p:txBody>
      </p:sp>
      <p:sp>
        <p:nvSpPr>
          <p:cNvPr id="9" name="灯片编号占位符 2">
            <a:extLst>
              <a:ext uri="{FF2B5EF4-FFF2-40B4-BE49-F238E27FC236}">
                <a16:creationId xmlns:a16="http://schemas.microsoft.com/office/drawing/2014/main" id="{CA3D54E7-D020-44D8-87F1-69F26ECEBAF3}"/>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26</a:t>
            </a:fld>
            <a:endParaRPr lang="zh-CN" altLang="en-US" dirty="0"/>
          </a:p>
        </p:txBody>
      </p:sp>
    </p:spTree>
    <p:extLst>
      <p:ext uri="{BB962C8B-B14F-4D97-AF65-F5344CB8AC3E}">
        <p14:creationId xmlns:p14="http://schemas.microsoft.com/office/powerpoint/2010/main" val="4234161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DACF32C3-68CC-450C-87B7-154C7D935DCF}"/>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14324" y="605446"/>
            <a:ext cx="5191213" cy="4684183"/>
          </a:xfrm>
          <a:prstGeom prst="rect">
            <a:avLst/>
          </a:prstGeom>
        </p:spPr>
      </p:pic>
      <p:sp>
        <p:nvSpPr>
          <p:cNvPr id="8" name="文本框 7">
            <a:extLst>
              <a:ext uri="{FF2B5EF4-FFF2-40B4-BE49-F238E27FC236}">
                <a16:creationId xmlns:a16="http://schemas.microsoft.com/office/drawing/2014/main" id="{118B32AC-DEF6-4EDE-BC5A-1E9180384B56}"/>
              </a:ext>
            </a:extLst>
          </p:cNvPr>
          <p:cNvSpPr txBox="1"/>
          <p:nvPr/>
        </p:nvSpPr>
        <p:spPr>
          <a:xfrm>
            <a:off x="879050" y="5531938"/>
            <a:ext cx="4211424" cy="369332"/>
          </a:xfrm>
          <a:prstGeom prst="rect">
            <a:avLst/>
          </a:prstGeom>
          <a:noFill/>
        </p:spPr>
        <p:txBody>
          <a:bodyPr wrap="square">
            <a:spAutoFit/>
          </a:bodyPr>
          <a:lstStyle>
            <a:defPPr>
              <a:defRPr lang="zh-CN"/>
            </a:defPPr>
            <a:lvl1pPr algn="ctr">
              <a:defRPr sz="1400">
                <a:solidFill>
                  <a:srgbClr val="3A5991"/>
                </a:solidFill>
                <a:latin typeface="微软雅黑" panose="020B0503020204020204" pitchFamily="34" charset="-122"/>
                <a:ea typeface="微软雅黑" panose="020B0503020204020204" pitchFamily="34" charset="-122"/>
              </a:defRPr>
            </a:lvl1pPr>
          </a:lstStyle>
          <a:p>
            <a:r>
              <a:rPr lang="zh-CN" altLang="en-US" sz="1800" b="1" dirty="0">
                <a:solidFill>
                  <a:schemeClr val="tx1"/>
                </a:solidFill>
                <a:latin typeface="黑体" pitchFamily="49" charset="-122"/>
                <a:ea typeface="黑体" pitchFamily="49" charset="-122"/>
              </a:rPr>
              <a:t>一个孟买型个体的家系（赵桐茂提供）</a:t>
            </a:r>
          </a:p>
        </p:txBody>
      </p:sp>
      <p:sp>
        <p:nvSpPr>
          <p:cNvPr id="7" name="文本框 6">
            <a:extLst>
              <a:ext uri="{FF2B5EF4-FFF2-40B4-BE49-F238E27FC236}">
                <a16:creationId xmlns:a16="http://schemas.microsoft.com/office/drawing/2014/main" id="{EF8315D3-F860-4E9F-9275-9D36D5B5720E}"/>
              </a:ext>
            </a:extLst>
          </p:cNvPr>
          <p:cNvSpPr txBox="1"/>
          <p:nvPr/>
        </p:nvSpPr>
        <p:spPr>
          <a:xfrm>
            <a:off x="5235775" y="2947537"/>
            <a:ext cx="6655283" cy="1507034"/>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800"/>
            </a:lvl1pPr>
            <a:lvl2pPr marL="114300" lvl="1" indent="-342900">
              <a:lnSpc>
                <a:spcPct val="120000"/>
              </a:lnSpc>
              <a:spcBef>
                <a:spcPts val="0"/>
              </a:spcBef>
              <a:buFont typeface="Wingdings" pitchFamily="2" charset="2"/>
              <a:buChar char="Ø"/>
              <a:defRPr sz="2400" b="1">
                <a:latin typeface="黑体" pitchFamily="49" charset="-122"/>
                <a:ea typeface="黑体"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indent="0">
              <a:buNone/>
            </a:pPr>
            <a:r>
              <a:rPr lang="en-US" altLang="zh-CN" dirty="0">
                <a:solidFill>
                  <a:srgbClr val="FF0000"/>
                </a:solidFill>
                <a:latin typeface="Times New Roman" pitchFamily="18" charset="0"/>
              </a:rPr>
              <a:t>II-2</a:t>
            </a:r>
            <a:r>
              <a:rPr lang="zh-CN" altLang="en-US" dirty="0">
                <a:solidFill>
                  <a:srgbClr val="FF0000"/>
                </a:solidFill>
                <a:latin typeface="Times New Roman" pitchFamily="18" charset="0"/>
              </a:rPr>
              <a:t>妇女为孟买型，她真正的</a:t>
            </a:r>
            <a:r>
              <a:rPr lang="en-US" altLang="zh-CN" dirty="0">
                <a:solidFill>
                  <a:srgbClr val="FF0000"/>
                </a:solidFill>
                <a:latin typeface="Times New Roman" pitchFamily="18" charset="0"/>
              </a:rPr>
              <a:t>ABO</a:t>
            </a:r>
            <a:r>
              <a:rPr lang="zh-CN" altLang="en-US" dirty="0">
                <a:solidFill>
                  <a:srgbClr val="FF0000"/>
                </a:solidFill>
                <a:latin typeface="Times New Roman" pitchFamily="18" charset="0"/>
              </a:rPr>
              <a:t>血型应属 </a:t>
            </a:r>
            <a:r>
              <a:rPr lang="en-US" altLang="zh-CN" dirty="0">
                <a:solidFill>
                  <a:srgbClr val="FF0000"/>
                </a:solidFill>
                <a:latin typeface="Times New Roman" pitchFamily="18" charset="0"/>
              </a:rPr>
              <a:t>B </a:t>
            </a:r>
            <a:r>
              <a:rPr lang="zh-CN" altLang="en-US" dirty="0">
                <a:solidFill>
                  <a:srgbClr val="FF0000"/>
                </a:solidFill>
                <a:latin typeface="Times New Roman" pitchFamily="18" charset="0"/>
              </a:rPr>
              <a:t>型，但她没有显性基因 </a:t>
            </a:r>
            <a:r>
              <a:rPr lang="en-US" altLang="zh-CN" dirty="0">
                <a:solidFill>
                  <a:srgbClr val="FF0000"/>
                </a:solidFill>
                <a:latin typeface="Times New Roman" pitchFamily="18" charset="0"/>
              </a:rPr>
              <a:t>H</a:t>
            </a:r>
            <a:r>
              <a:rPr lang="zh-CN" altLang="en-US" dirty="0">
                <a:solidFill>
                  <a:srgbClr val="FF0000"/>
                </a:solidFill>
                <a:latin typeface="Times New Roman" pitchFamily="18" charset="0"/>
              </a:rPr>
              <a:t>，不能形成 </a:t>
            </a:r>
            <a:r>
              <a:rPr lang="en-US" altLang="zh-CN" dirty="0">
                <a:solidFill>
                  <a:srgbClr val="FF0000"/>
                </a:solidFill>
                <a:latin typeface="Times New Roman" pitchFamily="18" charset="0"/>
              </a:rPr>
              <a:t>H</a:t>
            </a:r>
            <a:r>
              <a:rPr lang="zh-CN" altLang="en-US" dirty="0">
                <a:solidFill>
                  <a:srgbClr val="FF0000"/>
                </a:solidFill>
                <a:latin typeface="Times New Roman" pitchFamily="18" charset="0"/>
              </a:rPr>
              <a:t>物质，从而也不能形成 </a:t>
            </a:r>
            <a:r>
              <a:rPr lang="en-US" altLang="zh-CN" dirty="0">
                <a:solidFill>
                  <a:srgbClr val="FF0000"/>
                </a:solidFill>
                <a:latin typeface="Times New Roman" pitchFamily="18" charset="0"/>
              </a:rPr>
              <a:t>B </a:t>
            </a:r>
            <a:r>
              <a:rPr lang="zh-CN" altLang="en-US" dirty="0">
                <a:solidFill>
                  <a:srgbClr val="FF0000"/>
                </a:solidFill>
                <a:latin typeface="Times New Roman" pitchFamily="18" charset="0"/>
              </a:rPr>
              <a:t>抗原，在表型上显现为 </a:t>
            </a:r>
            <a:r>
              <a:rPr lang="en-US" altLang="zh-CN" dirty="0">
                <a:solidFill>
                  <a:srgbClr val="FF0000"/>
                </a:solidFill>
                <a:latin typeface="Times New Roman" pitchFamily="18" charset="0"/>
              </a:rPr>
              <a:t>O </a:t>
            </a:r>
            <a:r>
              <a:rPr lang="zh-CN" altLang="en-US" dirty="0">
                <a:solidFill>
                  <a:srgbClr val="FF0000"/>
                </a:solidFill>
                <a:latin typeface="Times New Roman" pitchFamily="18" charset="0"/>
              </a:rPr>
              <a:t>型。</a:t>
            </a:r>
          </a:p>
        </p:txBody>
      </p:sp>
      <p:sp>
        <p:nvSpPr>
          <p:cNvPr id="9" name="灯片编号占位符 2">
            <a:extLst>
              <a:ext uri="{FF2B5EF4-FFF2-40B4-BE49-F238E27FC236}">
                <a16:creationId xmlns:a16="http://schemas.microsoft.com/office/drawing/2014/main" id="{FD936166-D27B-495B-A370-F5B122754B17}"/>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27</a:t>
            </a:fld>
            <a:endParaRPr lang="zh-CN" altLang="en-US" dirty="0"/>
          </a:p>
        </p:txBody>
      </p:sp>
      <p:sp>
        <p:nvSpPr>
          <p:cNvPr id="2" name="矩形 1"/>
          <p:cNvSpPr/>
          <p:nvPr/>
        </p:nvSpPr>
        <p:spPr>
          <a:xfrm>
            <a:off x="5132028" y="2171311"/>
            <a:ext cx="6950942" cy="523220"/>
          </a:xfrm>
          <a:prstGeom prst="rect">
            <a:avLst/>
          </a:prstGeom>
        </p:spPr>
        <p:txBody>
          <a:bodyPr wrap="none">
            <a:spAutoFit/>
          </a:bodyPr>
          <a:lstStyle/>
          <a:p>
            <a:r>
              <a:rPr lang="en-US" altLang="zh-CN" sz="2800" b="1" dirty="0">
                <a:latin typeface="Times New Roman" pitchFamily="18" charset="0"/>
                <a:ea typeface="黑体" pitchFamily="49" charset="-122"/>
                <a:cs typeface="Times New Roman" pitchFamily="18" charset="0"/>
              </a:rPr>
              <a:t>II-2</a:t>
            </a:r>
            <a:r>
              <a:rPr lang="zh-CN" altLang="en-US" sz="2800" b="1" dirty="0">
                <a:latin typeface="Times New Roman" pitchFamily="18" charset="0"/>
                <a:ea typeface="黑体" pitchFamily="49" charset="-122"/>
                <a:cs typeface="Times New Roman" pitchFamily="18" charset="0"/>
              </a:rPr>
              <a:t>妇女为孟买型，她的</a:t>
            </a:r>
            <a:r>
              <a:rPr lang="en-US" altLang="zh-CN" sz="2800" b="1" dirty="0">
                <a:latin typeface="Times New Roman" pitchFamily="18" charset="0"/>
                <a:ea typeface="黑体" pitchFamily="49" charset="-122"/>
                <a:cs typeface="Times New Roman" pitchFamily="18" charset="0"/>
              </a:rPr>
              <a:t>ABO</a:t>
            </a:r>
            <a:r>
              <a:rPr lang="zh-CN" altLang="en-US" sz="2800" b="1" dirty="0">
                <a:latin typeface="Times New Roman" pitchFamily="18" charset="0"/>
                <a:ea typeface="黑体" pitchFamily="49" charset="-122"/>
                <a:cs typeface="Times New Roman" pitchFamily="18" charset="0"/>
              </a:rPr>
              <a:t>血型是什么？</a:t>
            </a:r>
          </a:p>
        </p:txBody>
      </p:sp>
    </p:spTree>
    <p:extLst>
      <p:ext uri="{BB962C8B-B14F-4D97-AF65-F5344CB8AC3E}">
        <p14:creationId xmlns:p14="http://schemas.microsoft.com/office/powerpoint/2010/main" val="367045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A6879E7-D863-4078-BC57-85CFBDB2B6FC}"/>
              </a:ext>
            </a:extLst>
          </p:cNvPr>
          <p:cNvSpPr>
            <a:spLocks noGrp="1"/>
          </p:cNvSpPr>
          <p:nvPr>
            <p:ph type="title"/>
          </p:nvPr>
        </p:nvSpPr>
        <p:spPr>
          <a:xfrm>
            <a:off x="340488" y="145207"/>
            <a:ext cx="10515600" cy="641871"/>
          </a:xfrm>
        </p:spPr>
        <p:txBody>
          <a:bodyPr vert="horz" lIns="91440" tIns="45720" rIns="91440" bIns="45720" rtlCol="0" anchor="ctr">
            <a:noAutofit/>
          </a:bodyPr>
          <a:lstStyle/>
          <a:p>
            <a:r>
              <a:rPr lang="en-US" altLang="zh-CN" sz="3600" b="1" dirty="0">
                <a:solidFill>
                  <a:srgbClr val="0000FF"/>
                </a:solidFill>
                <a:latin typeface="黑体" panose="02010600030101010101" pitchFamily="49" charset="-122"/>
                <a:ea typeface="黑体" panose="02010600030101010101" pitchFamily="49" charset="-122"/>
              </a:rPr>
              <a:t>Rh</a:t>
            </a:r>
            <a:r>
              <a:rPr lang="zh-CN" altLang="en-US" sz="3600" b="1" dirty="0">
                <a:solidFill>
                  <a:srgbClr val="0000FF"/>
                </a:solidFill>
                <a:latin typeface="黑体" panose="02010600030101010101" pitchFamily="49" charset="-122"/>
                <a:ea typeface="黑体" panose="02010600030101010101" pitchFamily="49" charset="-122"/>
              </a:rPr>
              <a:t>血型与母子间不相容</a:t>
            </a:r>
          </a:p>
        </p:txBody>
      </p:sp>
      <p:sp>
        <p:nvSpPr>
          <p:cNvPr id="7" name="文本框 6">
            <a:extLst>
              <a:ext uri="{FF2B5EF4-FFF2-40B4-BE49-F238E27FC236}">
                <a16:creationId xmlns:a16="http://schemas.microsoft.com/office/drawing/2014/main" id="{49B71AAE-D47C-4790-BCBA-742B546B0788}"/>
              </a:ext>
            </a:extLst>
          </p:cNvPr>
          <p:cNvSpPr txBox="1"/>
          <p:nvPr/>
        </p:nvSpPr>
        <p:spPr>
          <a:xfrm>
            <a:off x="81023" y="851312"/>
            <a:ext cx="11991372" cy="1440476"/>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800"/>
            </a:lvl1pPr>
            <a:lvl2pPr marL="114300" lvl="1" indent="-342900">
              <a:lnSpc>
                <a:spcPct val="120000"/>
              </a:lnSpc>
              <a:spcBef>
                <a:spcPts val="0"/>
              </a:spcBef>
              <a:buFont typeface="Wingdings" pitchFamily="2" charset="2"/>
              <a:buChar char="Ø"/>
              <a:defRPr sz="2400" b="1">
                <a:latin typeface="黑体" pitchFamily="49" charset="-122"/>
                <a:ea typeface="黑体"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indent="0">
              <a:buNone/>
            </a:pPr>
            <a:r>
              <a:rPr lang="zh-CN" altLang="en-US" dirty="0">
                <a:latin typeface="Times New Roman" pitchFamily="18" charset="0"/>
              </a:rPr>
              <a:t>         在人类中，</a:t>
            </a:r>
            <a:r>
              <a:rPr lang="en-US" altLang="zh-CN" dirty="0">
                <a:latin typeface="Times New Roman" pitchFamily="18" charset="0"/>
              </a:rPr>
              <a:t>Rh</a:t>
            </a:r>
            <a:r>
              <a:rPr lang="zh-CN" altLang="en-US" dirty="0">
                <a:latin typeface="Times New Roman" pitchFamily="18" charset="0"/>
              </a:rPr>
              <a:t>血型是独立于</a:t>
            </a:r>
            <a:r>
              <a:rPr lang="en-US" altLang="zh-CN" dirty="0">
                <a:latin typeface="Times New Roman" pitchFamily="18" charset="0"/>
              </a:rPr>
              <a:t>ABO</a:t>
            </a:r>
            <a:r>
              <a:rPr lang="zh-CN" altLang="en-US" dirty="0">
                <a:latin typeface="Times New Roman" pitchFamily="18" charset="0"/>
              </a:rPr>
              <a:t>血型和</a:t>
            </a:r>
            <a:r>
              <a:rPr lang="en-US" altLang="zh-CN" dirty="0">
                <a:latin typeface="Times New Roman" pitchFamily="18" charset="0"/>
              </a:rPr>
              <a:t>MN</a:t>
            </a:r>
            <a:r>
              <a:rPr lang="zh-CN" altLang="en-US" dirty="0">
                <a:latin typeface="Times New Roman" pitchFamily="18" charset="0"/>
              </a:rPr>
              <a:t>血型的另一血型系统。在中国人中，</a:t>
            </a:r>
            <a:r>
              <a:rPr lang="en-US" altLang="zh-CN" dirty="0">
                <a:latin typeface="Times New Roman" pitchFamily="18" charset="0"/>
              </a:rPr>
              <a:t>Rh</a:t>
            </a:r>
            <a:r>
              <a:rPr lang="zh-CN" altLang="en-US" dirty="0">
                <a:latin typeface="Times New Roman" pitchFamily="18" charset="0"/>
              </a:rPr>
              <a:t>阴性个体比较少见。</a:t>
            </a:r>
            <a:r>
              <a:rPr lang="en-US" altLang="zh-CN" dirty="0">
                <a:latin typeface="Times New Roman" pitchFamily="18" charset="0"/>
              </a:rPr>
              <a:t>Rh</a:t>
            </a:r>
            <a:r>
              <a:rPr lang="zh-CN" altLang="en-US" dirty="0">
                <a:latin typeface="Times New Roman" pitchFamily="18" charset="0"/>
              </a:rPr>
              <a:t>阴性个体在正常情况下并不含有对抗</a:t>
            </a:r>
            <a:r>
              <a:rPr lang="en-US" altLang="zh-CN" dirty="0">
                <a:latin typeface="Times New Roman" pitchFamily="18" charset="0"/>
              </a:rPr>
              <a:t>Rh</a:t>
            </a:r>
            <a:r>
              <a:rPr lang="zh-CN" altLang="en-US" dirty="0">
                <a:latin typeface="Times New Roman" pitchFamily="18" charset="0"/>
              </a:rPr>
              <a:t>阳性细胞的抗体，可是有两种情况可以产生抗体。请分析是什么情况？</a:t>
            </a:r>
          </a:p>
        </p:txBody>
      </p:sp>
      <p:sp>
        <p:nvSpPr>
          <p:cNvPr id="10" name="灯片编号占位符 2">
            <a:extLst>
              <a:ext uri="{FF2B5EF4-FFF2-40B4-BE49-F238E27FC236}">
                <a16:creationId xmlns:a16="http://schemas.microsoft.com/office/drawing/2014/main" id="{0A0BE54D-8BE8-4429-9CD8-E823B3B208FD}"/>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28</a:t>
            </a:fld>
            <a:endParaRPr lang="zh-CN" altLang="en-US" dirty="0"/>
          </a:p>
        </p:txBody>
      </p:sp>
      <p:sp>
        <p:nvSpPr>
          <p:cNvPr id="2" name="矩形 1"/>
          <p:cNvSpPr/>
          <p:nvPr/>
        </p:nvSpPr>
        <p:spPr>
          <a:xfrm>
            <a:off x="104172" y="2333902"/>
            <a:ext cx="11968223" cy="3637919"/>
          </a:xfrm>
          <a:prstGeom prst="rect">
            <a:avLst/>
          </a:prstGeom>
        </p:spPr>
        <p:txBody>
          <a:bodyPr vert="horz" lIns="91440" tIns="45720" rIns="91440" bIns="45720" rtlCol="0">
            <a:normAutofit/>
          </a:bodyPr>
          <a:lstStyle/>
          <a:p>
            <a:pPr marL="0" lvl="1">
              <a:lnSpc>
                <a:spcPct val="120000"/>
              </a:lnSpc>
              <a:buFont typeface="Wingdings" pitchFamily="2" charset="2"/>
              <a:buNone/>
            </a:pPr>
            <a:r>
              <a:rPr lang="zh-CN" altLang="en-US" sz="2400" b="1" dirty="0">
                <a:solidFill>
                  <a:srgbClr val="FF0000"/>
                </a:solidFill>
                <a:latin typeface="Times New Roman" pitchFamily="18" charset="0"/>
                <a:ea typeface="黑体" pitchFamily="49" charset="-122"/>
                <a:cs typeface="Times New Roman" panose="02020603050405020304" pitchFamily="18" charset="0"/>
              </a:rPr>
              <a:t>（</a:t>
            </a:r>
            <a:r>
              <a:rPr lang="en-US" altLang="zh-CN" sz="2400" b="1" dirty="0">
                <a:solidFill>
                  <a:srgbClr val="FF0000"/>
                </a:solidFill>
                <a:latin typeface="Times New Roman" pitchFamily="18" charset="0"/>
                <a:ea typeface="黑体" pitchFamily="49" charset="-122"/>
                <a:cs typeface="Times New Roman" panose="02020603050405020304" pitchFamily="18" charset="0"/>
              </a:rPr>
              <a:t>1</a:t>
            </a:r>
            <a:r>
              <a:rPr lang="zh-CN" altLang="en-US" sz="2400" b="1" dirty="0">
                <a:solidFill>
                  <a:srgbClr val="FF0000"/>
                </a:solidFill>
                <a:latin typeface="Times New Roman" pitchFamily="18" charset="0"/>
                <a:ea typeface="黑体" pitchFamily="49" charset="-122"/>
                <a:cs typeface="Times New Roman" panose="02020603050405020304" pitchFamily="18" charset="0"/>
              </a:rPr>
              <a:t>）一个 </a:t>
            </a:r>
            <a:r>
              <a:rPr lang="en-US" altLang="zh-CN" sz="2400" b="1" dirty="0">
                <a:solidFill>
                  <a:srgbClr val="FF0000"/>
                </a:solidFill>
                <a:latin typeface="Times New Roman" pitchFamily="18" charset="0"/>
                <a:ea typeface="黑体" pitchFamily="49" charset="-122"/>
                <a:cs typeface="Times New Roman" panose="02020603050405020304" pitchFamily="18" charset="0"/>
              </a:rPr>
              <a:t>Rh</a:t>
            </a:r>
            <a:r>
              <a:rPr lang="zh-CN" altLang="en-US" sz="2400" b="1" dirty="0">
                <a:solidFill>
                  <a:srgbClr val="FF0000"/>
                </a:solidFill>
                <a:latin typeface="Times New Roman" pitchFamily="18" charset="0"/>
                <a:ea typeface="黑体" pitchFamily="49" charset="-122"/>
                <a:cs typeface="Times New Roman" panose="02020603050405020304" pitchFamily="18" charset="0"/>
              </a:rPr>
              <a:t>阴性个体反复接受</a:t>
            </a:r>
            <a:r>
              <a:rPr lang="en-US" altLang="zh-CN" sz="2400" b="1" dirty="0">
                <a:solidFill>
                  <a:srgbClr val="FF0000"/>
                </a:solidFill>
                <a:latin typeface="Times New Roman" pitchFamily="18" charset="0"/>
                <a:ea typeface="黑体" pitchFamily="49" charset="-122"/>
                <a:cs typeface="Times New Roman" panose="02020603050405020304" pitchFamily="18" charset="0"/>
              </a:rPr>
              <a:t>Rh</a:t>
            </a:r>
            <a:r>
              <a:rPr lang="zh-CN" altLang="en-US" sz="2400" b="1" dirty="0">
                <a:solidFill>
                  <a:srgbClr val="FF0000"/>
                </a:solidFill>
                <a:latin typeface="Times New Roman" pitchFamily="18" charset="0"/>
                <a:ea typeface="黑体" pitchFamily="49" charset="-122"/>
                <a:cs typeface="Times New Roman" panose="02020603050405020304" pitchFamily="18" charset="0"/>
              </a:rPr>
              <a:t>阳性血液，这样可能在体内形成抗体。</a:t>
            </a:r>
            <a:endParaRPr lang="en-US" altLang="zh-CN" sz="2400" b="1" dirty="0">
              <a:solidFill>
                <a:srgbClr val="FF0000"/>
              </a:solidFill>
              <a:latin typeface="Times New Roman" pitchFamily="18" charset="0"/>
              <a:ea typeface="黑体" pitchFamily="49" charset="-122"/>
              <a:cs typeface="Times New Roman" panose="02020603050405020304" pitchFamily="18" charset="0"/>
            </a:endParaRPr>
          </a:p>
          <a:p>
            <a:pPr marL="0" lvl="1">
              <a:lnSpc>
                <a:spcPct val="120000"/>
              </a:lnSpc>
              <a:buFont typeface="Wingdings" pitchFamily="2" charset="2"/>
              <a:buNone/>
            </a:pPr>
            <a:r>
              <a:rPr lang="zh-CN" altLang="en-US" sz="2400" b="1" dirty="0">
                <a:solidFill>
                  <a:srgbClr val="FF0000"/>
                </a:solidFill>
                <a:latin typeface="Times New Roman" pitchFamily="18" charset="0"/>
                <a:ea typeface="黑体" pitchFamily="49" charset="-122"/>
                <a:cs typeface="Times New Roman" panose="02020603050405020304" pitchFamily="18" charset="0"/>
              </a:rPr>
              <a:t>（</a:t>
            </a:r>
            <a:r>
              <a:rPr lang="en-US" altLang="zh-CN" sz="2400" b="1" dirty="0">
                <a:solidFill>
                  <a:srgbClr val="FF0000"/>
                </a:solidFill>
                <a:latin typeface="Times New Roman" pitchFamily="18" charset="0"/>
                <a:ea typeface="黑体" pitchFamily="49" charset="-122"/>
                <a:cs typeface="Times New Roman" panose="02020603050405020304" pitchFamily="18" charset="0"/>
              </a:rPr>
              <a:t>2</a:t>
            </a:r>
            <a:r>
              <a:rPr lang="zh-CN" altLang="en-US" sz="2400" b="1" dirty="0">
                <a:solidFill>
                  <a:srgbClr val="FF0000"/>
                </a:solidFill>
                <a:latin typeface="Times New Roman" pitchFamily="18" charset="0"/>
                <a:ea typeface="黑体" pitchFamily="49" charset="-122"/>
                <a:cs typeface="Times New Roman" panose="02020603050405020304" pitchFamily="18" charset="0"/>
              </a:rPr>
              <a:t>）</a:t>
            </a:r>
            <a:r>
              <a:rPr lang="en-US" altLang="zh-CN" sz="2400" b="1" dirty="0">
                <a:solidFill>
                  <a:srgbClr val="FF0000"/>
                </a:solidFill>
                <a:latin typeface="Times New Roman" pitchFamily="18" charset="0"/>
                <a:ea typeface="黑体" pitchFamily="49" charset="-122"/>
                <a:cs typeface="Times New Roman" panose="02020603050405020304" pitchFamily="18" charset="0"/>
              </a:rPr>
              <a:t>Rh</a:t>
            </a:r>
            <a:r>
              <a:rPr lang="zh-CN" altLang="en-US" sz="2400" b="1" dirty="0">
                <a:solidFill>
                  <a:srgbClr val="FF0000"/>
                </a:solidFill>
                <a:latin typeface="Times New Roman" pitchFamily="18" charset="0"/>
                <a:ea typeface="黑体" pitchFamily="49" charset="-122"/>
                <a:cs typeface="Times New Roman" panose="02020603050405020304" pitchFamily="18" charset="0"/>
              </a:rPr>
              <a:t>阴性母亲怀了</a:t>
            </a:r>
            <a:r>
              <a:rPr lang="en-US" altLang="zh-CN" sz="2400" b="1" dirty="0">
                <a:solidFill>
                  <a:srgbClr val="FF0000"/>
                </a:solidFill>
                <a:latin typeface="Times New Roman" pitchFamily="18" charset="0"/>
                <a:ea typeface="黑体" pitchFamily="49" charset="-122"/>
                <a:cs typeface="Times New Roman" panose="02020603050405020304" pitchFamily="18" charset="0"/>
              </a:rPr>
              <a:t>Rh</a:t>
            </a:r>
            <a:r>
              <a:rPr lang="zh-CN" altLang="en-US" sz="2400" b="1" dirty="0">
                <a:solidFill>
                  <a:srgbClr val="FF0000"/>
                </a:solidFill>
                <a:latin typeface="Times New Roman" pitchFamily="18" charset="0"/>
                <a:ea typeface="黑体" pitchFamily="49" charset="-122"/>
                <a:cs typeface="Times New Roman" panose="02020603050405020304" pitchFamily="18" charset="0"/>
              </a:rPr>
              <a:t>阳性的胎儿，在分娩时，阳性胎儿的红细胞有可能通过胎盘进入母体血循环中，使母亲产生对</a:t>
            </a:r>
            <a:r>
              <a:rPr lang="en-US" altLang="zh-CN" sz="2400" b="1" dirty="0">
                <a:solidFill>
                  <a:srgbClr val="FF0000"/>
                </a:solidFill>
                <a:latin typeface="Times New Roman" pitchFamily="18" charset="0"/>
                <a:ea typeface="黑体" pitchFamily="49" charset="-122"/>
                <a:cs typeface="Times New Roman" panose="02020603050405020304" pitchFamily="18" charset="0"/>
              </a:rPr>
              <a:t>Rh</a:t>
            </a:r>
            <a:r>
              <a:rPr lang="zh-CN" altLang="en-US" sz="2400" b="1" dirty="0">
                <a:solidFill>
                  <a:srgbClr val="FF0000"/>
                </a:solidFill>
                <a:latin typeface="Times New Roman" pitchFamily="18" charset="0"/>
                <a:ea typeface="黑体" pitchFamily="49" charset="-122"/>
                <a:cs typeface="Times New Roman" panose="02020603050405020304" pitchFamily="18" charset="0"/>
              </a:rPr>
              <a:t>阳性细胞的抗体。</a:t>
            </a:r>
            <a:r>
              <a:rPr lang="zh-CN" altLang="en-US" sz="2400" b="1" dirty="0">
                <a:latin typeface="Times New Roman" pitchFamily="18" charset="0"/>
                <a:ea typeface="黑体" pitchFamily="49" charset="-122"/>
                <a:cs typeface="Times New Roman" panose="02020603050405020304" pitchFamily="18" charset="0"/>
              </a:rPr>
              <a:t>在怀第二胎时，如胎儿仍为</a:t>
            </a:r>
            <a:r>
              <a:rPr lang="en-US" altLang="zh-CN" sz="2400" b="1" dirty="0">
                <a:latin typeface="Times New Roman" pitchFamily="18" charset="0"/>
                <a:ea typeface="黑体" pitchFamily="49" charset="-122"/>
                <a:cs typeface="Times New Roman" panose="02020603050405020304" pitchFamily="18" charset="0"/>
              </a:rPr>
              <a:t>Rh</a:t>
            </a:r>
            <a:r>
              <a:rPr lang="zh-CN" altLang="en-US" sz="2400" b="1" dirty="0">
                <a:latin typeface="Times New Roman" pitchFamily="18" charset="0"/>
                <a:ea typeface="黑体" pitchFamily="49" charset="-122"/>
                <a:cs typeface="Times New Roman" panose="02020603050405020304" pitchFamily="18" charset="0"/>
              </a:rPr>
              <a:t>阳性，则母亲血液中的抗体通过胎盘进入胎儿血液循环时，就可使胎儿的红细胞被破坏，造成胎儿死亡或发生为新生儿溶血症。这种现象被称为</a:t>
            </a:r>
            <a:r>
              <a:rPr lang="zh-CN" altLang="en-US" sz="2400" b="1" dirty="0">
                <a:solidFill>
                  <a:srgbClr val="0000FF"/>
                </a:solidFill>
                <a:latin typeface="Times New Roman" pitchFamily="18" charset="0"/>
                <a:ea typeface="黑体" pitchFamily="49" charset="-122"/>
                <a:cs typeface="Times New Roman" panose="02020603050405020304" pitchFamily="18" charset="0"/>
              </a:rPr>
              <a:t>母婴间</a:t>
            </a:r>
            <a:r>
              <a:rPr lang="en-US" altLang="zh-CN" sz="2400" b="1" dirty="0">
                <a:solidFill>
                  <a:srgbClr val="0000FF"/>
                </a:solidFill>
                <a:latin typeface="Times New Roman" pitchFamily="18" charset="0"/>
                <a:ea typeface="黑体" pitchFamily="49" charset="-122"/>
                <a:cs typeface="Times New Roman" panose="02020603050405020304" pitchFamily="18" charset="0"/>
              </a:rPr>
              <a:t>Rh</a:t>
            </a:r>
            <a:r>
              <a:rPr lang="zh-CN" altLang="en-US" sz="2400" b="1" dirty="0">
                <a:solidFill>
                  <a:srgbClr val="0000FF"/>
                </a:solidFill>
                <a:latin typeface="Times New Roman" pitchFamily="18" charset="0"/>
                <a:ea typeface="黑体" pitchFamily="49" charset="-122"/>
                <a:cs typeface="Times New Roman" panose="02020603050405020304" pitchFamily="18" charset="0"/>
              </a:rPr>
              <a:t>血型的不相容</a:t>
            </a:r>
            <a:r>
              <a:rPr lang="zh-CN" altLang="en-US" sz="2400" b="1" dirty="0">
                <a:latin typeface="Times New Roman" pitchFamily="18" charset="0"/>
                <a:ea typeface="黑体" pitchFamily="49" charset="-122"/>
                <a:cs typeface="Times New Roman" panose="02020603050405020304" pitchFamily="18" charset="0"/>
              </a:rPr>
              <a:t>。</a:t>
            </a:r>
            <a:endParaRPr lang="en-US" altLang="zh-CN" sz="2400" b="1" dirty="0">
              <a:latin typeface="Times New Roman" pitchFamily="18" charset="0"/>
              <a:ea typeface="黑体" pitchFamily="49" charset="-122"/>
              <a:cs typeface="Times New Roman" panose="02020603050405020304" pitchFamily="18" charset="0"/>
            </a:endParaRPr>
          </a:p>
          <a:p>
            <a:pPr marL="0" lvl="1">
              <a:lnSpc>
                <a:spcPct val="120000"/>
              </a:lnSpc>
              <a:buFont typeface="Wingdings" pitchFamily="2" charset="2"/>
              <a:buNone/>
            </a:pPr>
            <a:r>
              <a:rPr lang="zh-CN" altLang="en-US" sz="2400" b="1" dirty="0">
                <a:latin typeface="楷体" pitchFamily="49" charset="-122"/>
                <a:ea typeface="楷体" pitchFamily="49" charset="-122"/>
                <a:cs typeface="Times New Roman" panose="02020603050405020304" pitchFamily="18" charset="0"/>
              </a:rPr>
              <a:t>母婴间在</a:t>
            </a:r>
            <a:r>
              <a:rPr lang="en-US" altLang="zh-CN" sz="2400" b="1" dirty="0">
                <a:latin typeface="楷体" pitchFamily="49" charset="-122"/>
                <a:ea typeface="楷体" pitchFamily="49" charset="-122"/>
                <a:cs typeface="Times New Roman" panose="02020603050405020304" pitchFamily="18" charset="0"/>
              </a:rPr>
              <a:t>ABO</a:t>
            </a:r>
            <a:r>
              <a:rPr lang="zh-CN" altLang="en-US" sz="2400" b="1" dirty="0">
                <a:latin typeface="楷体" pitchFamily="49" charset="-122"/>
                <a:ea typeface="楷体" pitchFamily="49" charset="-122"/>
                <a:cs typeface="Times New Roman" panose="02020603050405020304" pitchFamily="18" charset="0"/>
              </a:rPr>
              <a:t>血型上不同，如母亲为</a:t>
            </a:r>
            <a:r>
              <a:rPr lang="en-US" altLang="zh-CN" sz="2400" b="1" dirty="0">
                <a:latin typeface="楷体" pitchFamily="49" charset="-122"/>
                <a:ea typeface="楷体" pitchFamily="49" charset="-122"/>
                <a:cs typeface="Times New Roman" panose="02020603050405020304" pitchFamily="18" charset="0"/>
              </a:rPr>
              <a:t>O</a:t>
            </a:r>
            <a:r>
              <a:rPr lang="zh-CN" altLang="en-US" sz="2400" b="1" dirty="0">
                <a:latin typeface="楷体" pitchFamily="49" charset="-122"/>
                <a:ea typeface="楷体" pitchFamily="49" charset="-122"/>
                <a:cs typeface="Times New Roman" panose="02020603050405020304" pitchFamily="18" charset="0"/>
              </a:rPr>
              <a:t>型，胎儿为</a:t>
            </a:r>
            <a:r>
              <a:rPr lang="en-US" altLang="zh-CN" sz="2400" b="1" dirty="0">
                <a:latin typeface="楷体" pitchFamily="49" charset="-122"/>
                <a:ea typeface="楷体" pitchFamily="49" charset="-122"/>
                <a:cs typeface="Times New Roman" panose="02020603050405020304" pitchFamily="18" charset="0"/>
              </a:rPr>
              <a:t>A</a:t>
            </a:r>
            <a:r>
              <a:rPr lang="zh-CN" altLang="en-US" sz="2400" b="1" dirty="0">
                <a:latin typeface="楷体" pitchFamily="49" charset="-122"/>
                <a:ea typeface="楷体" pitchFamily="49" charset="-122"/>
                <a:cs typeface="Times New Roman" panose="02020603050405020304" pitchFamily="18" charset="0"/>
              </a:rPr>
              <a:t>型或</a:t>
            </a:r>
            <a:r>
              <a:rPr lang="en-US" altLang="zh-CN" sz="2400" b="1" dirty="0">
                <a:latin typeface="楷体" pitchFamily="49" charset="-122"/>
                <a:ea typeface="楷体" pitchFamily="49" charset="-122"/>
                <a:cs typeface="Times New Roman" panose="02020603050405020304" pitchFamily="18" charset="0"/>
              </a:rPr>
              <a:t>B</a:t>
            </a:r>
            <a:r>
              <a:rPr lang="zh-CN" altLang="en-US" sz="2400" b="1" dirty="0">
                <a:latin typeface="楷体" pitchFamily="49" charset="-122"/>
                <a:ea typeface="楷体" pitchFamily="49" charset="-122"/>
                <a:cs typeface="Times New Roman" panose="02020603050405020304" pitchFamily="18" charset="0"/>
              </a:rPr>
              <a:t>型，也可引起新生儿溶血症，但症状一般不像</a:t>
            </a:r>
            <a:r>
              <a:rPr lang="en-US" altLang="zh-CN" sz="2400" b="1" dirty="0">
                <a:latin typeface="楷体" pitchFamily="49" charset="-122"/>
                <a:ea typeface="楷体" pitchFamily="49" charset="-122"/>
                <a:cs typeface="Times New Roman" panose="02020603050405020304" pitchFamily="18" charset="0"/>
              </a:rPr>
              <a:t>Rh</a:t>
            </a:r>
            <a:r>
              <a:rPr lang="zh-CN" altLang="en-US" sz="2400" b="1" dirty="0">
                <a:latin typeface="楷体" pitchFamily="49" charset="-122"/>
                <a:ea typeface="楷体" pitchFamily="49" charset="-122"/>
                <a:cs typeface="Times New Roman" panose="02020603050405020304" pitchFamily="18" charset="0"/>
              </a:rPr>
              <a:t>引起的那样严重。</a:t>
            </a:r>
            <a:endParaRPr lang="en-US" altLang="zh-CN" sz="2400" b="1" dirty="0">
              <a:latin typeface="楷体" pitchFamily="49" charset="-122"/>
              <a:ea typeface="楷体" pitchFamily="49" charset="-122"/>
              <a:cs typeface="Times New Roman" panose="02020603050405020304" pitchFamily="18" charset="0"/>
            </a:endParaRPr>
          </a:p>
        </p:txBody>
      </p:sp>
      <p:sp>
        <p:nvSpPr>
          <p:cNvPr id="3" name="矩形 2"/>
          <p:cNvSpPr/>
          <p:nvPr/>
        </p:nvSpPr>
        <p:spPr>
          <a:xfrm>
            <a:off x="81023" y="5502189"/>
            <a:ext cx="11991372" cy="830997"/>
          </a:xfrm>
          <a:prstGeom prst="rect">
            <a:avLst/>
          </a:prstGeom>
        </p:spPr>
        <p:txBody>
          <a:bodyPr wrap="square">
            <a:spAutoFit/>
          </a:bodyPr>
          <a:lstStyle/>
          <a:p>
            <a:r>
              <a:rPr lang="en-US" altLang="zh-CN" sz="2400" b="1" dirty="0">
                <a:solidFill>
                  <a:srgbClr val="0000FF"/>
                </a:solidFill>
                <a:latin typeface="黑体" pitchFamily="49" charset="-122"/>
                <a:ea typeface="黑体" pitchFamily="49" charset="-122"/>
              </a:rPr>
              <a:t>1</a:t>
            </a:r>
            <a:r>
              <a:rPr lang="zh-CN" altLang="en-US" sz="2400" b="1" dirty="0">
                <a:solidFill>
                  <a:srgbClr val="0000FF"/>
                </a:solidFill>
                <a:latin typeface="黑体" pitchFamily="49" charset="-122"/>
                <a:ea typeface="黑体" pitchFamily="49" charset="-122"/>
              </a:rPr>
              <a:t>、如何补救？</a:t>
            </a:r>
            <a:endParaRPr lang="en-US" altLang="zh-CN" sz="2400" b="1" dirty="0">
              <a:solidFill>
                <a:srgbClr val="0000FF"/>
              </a:solidFill>
              <a:latin typeface="黑体" pitchFamily="49" charset="-122"/>
              <a:ea typeface="黑体" pitchFamily="49" charset="-122"/>
            </a:endParaRPr>
          </a:p>
          <a:p>
            <a:r>
              <a:rPr lang="en-US" altLang="zh-CN" sz="2400" b="1" dirty="0">
                <a:solidFill>
                  <a:srgbClr val="0000FF"/>
                </a:solidFill>
                <a:latin typeface="黑体" pitchFamily="49" charset="-122"/>
                <a:ea typeface="黑体" pitchFamily="49" charset="-122"/>
              </a:rPr>
              <a:t>2</a:t>
            </a:r>
            <a:r>
              <a:rPr lang="zh-CN" altLang="en-US" sz="2400" b="1" dirty="0">
                <a:solidFill>
                  <a:srgbClr val="0000FF"/>
                </a:solidFill>
                <a:latin typeface="黑体" pitchFamily="49" charset="-122"/>
                <a:ea typeface="黑体" pitchFamily="49" charset="-122"/>
              </a:rPr>
              <a:t>、</a:t>
            </a:r>
            <a:r>
              <a:rPr lang="en-US" altLang="zh-CN" sz="2400" b="1" dirty="0">
                <a:solidFill>
                  <a:srgbClr val="0000FF"/>
                </a:solidFill>
                <a:latin typeface="黑体" pitchFamily="49" charset="-122"/>
                <a:ea typeface="黑体" pitchFamily="49" charset="-122"/>
              </a:rPr>
              <a:t>O</a:t>
            </a:r>
            <a:r>
              <a:rPr lang="zh-CN" altLang="en-US" sz="2400" b="1" dirty="0">
                <a:solidFill>
                  <a:srgbClr val="0000FF"/>
                </a:solidFill>
                <a:latin typeface="黑体" pitchFamily="49" charset="-122"/>
                <a:ea typeface="黑体" pitchFamily="49" charset="-122"/>
              </a:rPr>
              <a:t>型</a:t>
            </a:r>
            <a:r>
              <a:rPr lang="en-US" altLang="zh-CN" sz="2400" b="1" dirty="0">
                <a:solidFill>
                  <a:srgbClr val="0000FF"/>
                </a:solidFill>
                <a:latin typeface="黑体" pitchFamily="49" charset="-122"/>
                <a:ea typeface="黑体" pitchFamily="49" charset="-122"/>
              </a:rPr>
              <a:t>Rh</a:t>
            </a:r>
            <a:r>
              <a:rPr lang="zh-CN" altLang="en-US" sz="2400" b="1" dirty="0">
                <a:solidFill>
                  <a:srgbClr val="0000FF"/>
                </a:solidFill>
                <a:latin typeface="黑体" pitchFamily="49" charset="-122"/>
                <a:ea typeface="黑体" pitchFamily="49" charset="-122"/>
              </a:rPr>
              <a:t>阴性女人第一胎怀有一个</a:t>
            </a:r>
            <a:r>
              <a:rPr lang="en-US" altLang="zh-CN" sz="2400" b="1" dirty="0">
                <a:solidFill>
                  <a:srgbClr val="0000FF"/>
                </a:solidFill>
                <a:latin typeface="黑体" pitchFamily="49" charset="-122"/>
                <a:ea typeface="黑体" pitchFamily="49" charset="-122"/>
              </a:rPr>
              <a:t>A</a:t>
            </a:r>
            <a:r>
              <a:rPr lang="zh-CN" altLang="en-US" sz="2400" b="1" dirty="0">
                <a:solidFill>
                  <a:srgbClr val="0000FF"/>
                </a:solidFill>
                <a:latin typeface="黑体" pitchFamily="49" charset="-122"/>
                <a:ea typeface="黑体" pitchFamily="49" charset="-122"/>
              </a:rPr>
              <a:t>型</a:t>
            </a:r>
            <a:r>
              <a:rPr lang="en-US" altLang="zh-CN" sz="2400" b="1" dirty="0">
                <a:solidFill>
                  <a:srgbClr val="0000FF"/>
                </a:solidFill>
                <a:latin typeface="黑体" pitchFamily="49" charset="-122"/>
                <a:ea typeface="黑体" pitchFamily="49" charset="-122"/>
              </a:rPr>
              <a:t>Rh</a:t>
            </a:r>
            <a:r>
              <a:rPr lang="zh-CN" altLang="en-US" sz="2400" b="1" dirty="0">
                <a:solidFill>
                  <a:srgbClr val="0000FF"/>
                </a:solidFill>
                <a:latin typeface="黑体" pitchFamily="49" charset="-122"/>
                <a:ea typeface="黑体" pitchFamily="49" charset="-122"/>
              </a:rPr>
              <a:t>阳性胎儿，可避免第二胎新生儿溶血症</a:t>
            </a:r>
            <a:r>
              <a:rPr lang="zh-CN" altLang="en-US" sz="2400" b="1" dirty="0">
                <a:solidFill>
                  <a:srgbClr val="0000FF"/>
                </a:solidFill>
                <a:latin typeface="黑体" pitchFamily="49" charset="-122"/>
                <a:ea typeface="黑体" pitchFamily="49" charset="-122"/>
                <a:cs typeface="Times New Roman" panose="02020603050405020304" pitchFamily="18" charset="0"/>
              </a:rPr>
              <a:t>，为何？</a:t>
            </a:r>
            <a:endParaRPr lang="zh-CN" altLang="en-US" sz="2400" b="1" dirty="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91431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47E9D7F-A23D-47AD-868E-3BF383D02097}"/>
              </a:ext>
            </a:extLst>
          </p:cNvPr>
          <p:cNvSpPr txBox="1"/>
          <p:nvPr/>
        </p:nvSpPr>
        <p:spPr>
          <a:xfrm>
            <a:off x="113222" y="319074"/>
            <a:ext cx="6638040" cy="4963594"/>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800"/>
            </a:lvl1pPr>
            <a:lvl2pPr marL="114300" lvl="1" indent="-342900">
              <a:lnSpc>
                <a:spcPct val="120000"/>
              </a:lnSpc>
              <a:spcBef>
                <a:spcPts val="0"/>
              </a:spcBef>
              <a:buFont typeface="Wingdings" pitchFamily="2" charset="2"/>
              <a:buChar char="Ø"/>
              <a:defRPr sz="2400" b="1">
                <a:latin typeface="黑体" pitchFamily="49" charset="-122"/>
                <a:ea typeface="黑体"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en-US" altLang="zh-CN" dirty="0"/>
              <a:t>Rh</a:t>
            </a:r>
            <a:r>
              <a:rPr lang="zh-CN" altLang="en-US" dirty="0"/>
              <a:t>系统涉及相当数目的抗原类型，主要的有</a:t>
            </a:r>
            <a:r>
              <a:rPr lang="en-US" altLang="zh-CN" dirty="0"/>
              <a:t>5</a:t>
            </a:r>
            <a:r>
              <a:rPr lang="zh-CN" altLang="en-US" dirty="0"/>
              <a:t>个，即</a:t>
            </a:r>
            <a:r>
              <a:rPr lang="en-US" altLang="zh-CN" dirty="0">
                <a:solidFill>
                  <a:srgbClr val="0000FF"/>
                </a:solidFill>
              </a:rPr>
              <a:t>D</a:t>
            </a:r>
            <a:r>
              <a:rPr lang="zh-CN" altLang="en-US" dirty="0">
                <a:solidFill>
                  <a:srgbClr val="0000FF"/>
                </a:solidFill>
              </a:rPr>
              <a:t>、</a:t>
            </a:r>
            <a:r>
              <a:rPr lang="en-US" altLang="zh-CN" dirty="0">
                <a:solidFill>
                  <a:srgbClr val="0000FF"/>
                </a:solidFill>
              </a:rPr>
              <a:t>C</a:t>
            </a:r>
            <a:r>
              <a:rPr lang="zh-CN" altLang="en-US" dirty="0">
                <a:solidFill>
                  <a:srgbClr val="0000FF"/>
                </a:solidFill>
              </a:rPr>
              <a:t>、</a:t>
            </a:r>
            <a:r>
              <a:rPr lang="en-US" altLang="zh-CN" dirty="0">
                <a:solidFill>
                  <a:srgbClr val="0000FF"/>
                </a:solidFill>
              </a:rPr>
              <a:t>c</a:t>
            </a:r>
            <a:r>
              <a:rPr lang="zh-CN" altLang="en-US" dirty="0">
                <a:solidFill>
                  <a:srgbClr val="0000FF"/>
                </a:solidFill>
              </a:rPr>
              <a:t>、</a:t>
            </a:r>
            <a:r>
              <a:rPr lang="en-US" altLang="zh-CN" dirty="0">
                <a:solidFill>
                  <a:srgbClr val="0000FF"/>
                </a:solidFill>
              </a:rPr>
              <a:t>E</a:t>
            </a:r>
            <a:r>
              <a:rPr lang="zh-CN" altLang="en-US" dirty="0">
                <a:solidFill>
                  <a:srgbClr val="0000FF"/>
                </a:solidFill>
              </a:rPr>
              <a:t>、</a:t>
            </a:r>
            <a:r>
              <a:rPr lang="en-US" altLang="zh-CN" dirty="0">
                <a:solidFill>
                  <a:srgbClr val="0000FF"/>
                </a:solidFill>
              </a:rPr>
              <a:t>e</a:t>
            </a:r>
            <a:r>
              <a:rPr lang="zh-CN" altLang="en-US" dirty="0">
                <a:solidFill>
                  <a:srgbClr val="0000FF"/>
                </a:solidFill>
              </a:rPr>
              <a:t>，无</a:t>
            </a:r>
            <a:r>
              <a:rPr lang="en-US" altLang="zh-CN" dirty="0">
                <a:solidFill>
                  <a:srgbClr val="0000FF"/>
                </a:solidFill>
              </a:rPr>
              <a:t>d</a:t>
            </a:r>
            <a:r>
              <a:rPr lang="zh-CN" altLang="en-US" dirty="0">
                <a:solidFill>
                  <a:srgbClr val="0000FF"/>
                </a:solidFill>
              </a:rPr>
              <a:t>抗原</a:t>
            </a:r>
            <a:r>
              <a:rPr lang="zh-CN" altLang="en-US" dirty="0"/>
              <a:t>。其抗原性强弱顺序为 </a:t>
            </a:r>
            <a:r>
              <a:rPr lang="en-US" altLang="zh-CN" dirty="0"/>
              <a:t>D</a:t>
            </a:r>
            <a:r>
              <a:rPr lang="zh-CN" altLang="en-US" dirty="0"/>
              <a:t>、</a:t>
            </a:r>
            <a:r>
              <a:rPr lang="en-US" altLang="zh-CN" dirty="0"/>
              <a:t>E</a:t>
            </a:r>
            <a:r>
              <a:rPr lang="zh-CN" altLang="en-US" dirty="0"/>
              <a:t>、</a:t>
            </a:r>
            <a:r>
              <a:rPr lang="en-US" altLang="zh-CN" dirty="0"/>
              <a:t>c</a:t>
            </a:r>
            <a:r>
              <a:rPr lang="zh-CN" altLang="en-US" dirty="0"/>
              <a:t>、</a:t>
            </a:r>
            <a:r>
              <a:rPr lang="en-US" altLang="zh-CN" dirty="0"/>
              <a:t>C</a:t>
            </a:r>
            <a:r>
              <a:rPr lang="zh-CN" altLang="en-US" dirty="0"/>
              <a:t>、</a:t>
            </a:r>
            <a:r>
              <a:rPr lang="en-US" altLang="zh-CN" dirty="0"/>
              <a:t>e</a:t>
            </a:r>
            <a:r>
              <a:rPr lang="zh-CN" altLang="en-US" dirty="0"/>
              <a:t>（研究者目前仍习惯用 </a:t>
            </a:r>
            <a:r>
              <a:rPr lang="en-US" altLang="zh-CN" dirty="0"/>
              <a:t>C/c</a:t>
            </a:r>
            <a:r>
              <a:rPr lang="zh-CN" altLang="en-US" dirty="0"/>
              <a:t>、 </a:t>
            </a:r>
            <a:r>
              <a:rPr lang="en-US" altLang="zh-CN" dirty="0"/>
              <a:t>D/d</a:t>
            </a:r>
            <a:r>
              <a:rPr lang="zh-CN" altLang="en-US" dirty="0"/>
              <a:t>、</a:t>
            </a:r>
            <a:r>
              <a:rPr lang="en-US" altLang="zh-CN" dirty="0"/>
              <a:t>E/e </a:t>
            </a:r>
            <a:r>
              <a:rPr lang="zh-CN" altLang="en-US" dirty="0"/>
              <a:t>这</a:t>
            </a:r>
            <a:r>
              <a:rPr lang="en-US" altLang="zh-CN" dirty="0"/>
              <a:t>3</a:t>
            </a:r>
            <a:r>
              <a:rPr lang="zh-CN" altLang="en-US" dirty="0"/>
              <a:t>对假想的等位基因来描述</a:t>
            </a:r>
            <a:r>
              <a:rPr lang="en-US" altLang="zh-CN" dirty="0"/>
              <a:t>Rh</a:t>
            </a:r>
            <a:r>
              <a:rPr lang="zh-CN" altLang="en-US" dirty="0"/>
              <a:t>血型决定基因）。</a:t>
            </a:r>
            <a:r>
              <a:rPr lang="zh-CN" altLang="en-US" dirty="0">
                <a:solidFill>
                  <a:srgbClr val="FF0000"/>
                </a:solidFill>
              </a:rPr>
              <a:t>有无</a:t>
            </a:r>
            <a:r>
              <a:rPr lang="en-US" altLang="zh-CN" dirty="0">
                <a:solidFill>
                  <a:srgbClr val="FF0000"/>
                </a:solidFill>
              </a:rPr>
              <a:t>D</a:t>
            </a:r>
            <a:r>
              <a:rPr lang="zh-CN" altLang="en-US" dirty="0">
                <a:solidFill>
                  <a:srgbClr val="FF0000"/>
                </a:solidFill>
              </a:rPr>
              <a:t>抗原决定了红细胞属于</a:t>
            </a:r>
            <a:r>
              <a:rPr lang="en-US" altLang="zh-CN" dirty="0">
                <a:solidFill>
                  <a:srgbClr val="FF0000"/>
                </a:solidFill>
              </a:rPr>
              <a:t>Rh</a:t>
            </a:r>
            <a:r>
              <a:rPr lang="zh-CN" altLang="en-US" dirty="0">
                <a:solidFill>
                  <a:srgbClr val="FF0000"/>
                </a:solidFill>
              </a:rPr>
              <a:t>阳性还是阴性</a:t>
            </a:r>
            <a:r>
              <a:rPr lang="zh-CN" altLang="en-US" dirty="0"/>
              <a:t>。</a:t>
            </a:r>
            <a:endParaRPr lang="en-US" altLang="zh-CN" dirty="0"/>
          </a:p>
          <a:p>
            <a:pPr lvl="1"/>
            <a:r>
              <a:rPr lang="zh-CN" altLang="en-US" dirty="0"/>
              <a:t>单条染色体上决定</a:t>
            </a:r>
            <a:r>
              <a:rPr lang="en-US" altLang="zh-CN" dirty="0"/>
              <a:t>Rh</a:t>
            </a:r>
            <a:r>
              <a:rPr lang="zh-CN" altLang="en-US" dirty="0"/>
              <a:t>血型的非等位基因组合包括</a:t>
            </a:r>
            <a:r>
              <a:rPr lang="en-US" altLang="zh-CN" dirty="0"/>
              <a:t>CDE</a:t>
            </a:r>
            <a:r>
              <a:rPr lang="zh-CN" altLang="en-US" dirty="0"/>
              <a:t>、</a:t>
            </a:r>
            <a:r>
              <a:rPr lang="en-US" altLang="zh-CN" dirty="0" err="1"/>
              <a:t>CDe</a:t>
            </a:r>
            <a:r>
              <a:rPr lang="zh-CN" altLang="en-US" dirty="0"/>
              <a:t>、</a:t>
            </a:r>
            <a:r>
              <a:rPr lang="en-US" altLang="zh-CN" dirty="0" err="1"/>
              <a:t>CdE</a:t>
            </a:r>
            <a:r>
              <a:rPr lang="zh-CN" altLang="en-US" dirty="0"/>
              <a:t>、</a:t>
            </a:r>
            <a:r>
              <a:rPr lang="en-US" altLang="zh-CN" dirty="0"/>
              <a:t>Cde</a:t>
            </a:r>
            <a:r>
              <a:rPr lang="zh-CN" altLang="en-US" dirty="0"/>
              <a:t>、</a:t>
            </a:r>
            <a:r>
              <a:rPr lang="en-US" altLang="zh-CN" dirty="0" err="1"/>
              <a:t>cDe</a:t>
            </a:r>
            <a:r>
              <a:rPr lang="zh-CN" altLang="en-US" dirty="0"/>
              <a:t>、</a:t>
            </a:r>
            <a:r>
              <a:rPr lang="en-US" altLang="zh-CN" dirty="0" err="1"/>
              <a:t>cdE</a:t>
            </a:r>
            <a:r>
              <a:rPr lang="zh-CN" altLang="en-US" dirty="0"/>
              <a:t>、</a:t>
            </a:r>
            <a:r>
              <a:rPr lang="en-US" altLang="zh-CN" dirty="0" err="1"/>
              <a:t>cDE</a:t>
            </a:r>
            <a:r>
              <a:rPr lang="zh-CN" altLang="en-US" dirty="0"/>
              <a:t>、</a:t>
            </a:r>
            <a:r>
              <a:rPr lang="en-US" altLang="zh-CN" dirty="0"/>
              <a:t>cde8</a:t>
            </a:r>
            <a:r>
              <a:rPr lang="zh-CN" altLang="en-US" dirty="0"/>
              <a:t>种，由于存在紧密连锁，这</a:t>
            </a:r>
            <a:r>
              <a:rPr lang="en-US" altLang="zh-CN" dirty="0"/>
              <a:t>8</a:t>
            </a:r>
            <a:r>
              <a:rPr lang="zh-CN" altLang="en-US" dirty="0"/>
              <a:t>种等位基因组合在人群中并不是均等分布的，比如汉族 </a:t>
            </a:r>
            <a:r>
              <a:rPr lang="en-US" altLang="zh-CN" dirty="0"/>
              <a:t>97.36% </a:t>
            </a:r>
            <a:r>
              <a:rPr lang="zh-CN" altLang="en-US" dirty="0"/>
              <a:t>是</a:t>
            </a:r>
            <a:r>
              <a:rPr lang="en-US" altLang="zh-CN" dirty="0" err="1"/>
              <a:t>CDe</a:t>
            </a:r>
            <a:r>
              <a:rPr lang="en-US" altLang="zh-CN" dirty="0"/>
              <a:t>/</a:t>
            </a:r>
            <a:r>
              <a:rPr lang="en-US" altLang="zh-CN" dirty="0" err="1"/>
              <a:t>cDE</a:t>
            </a:r>
            <a:r>
              <a:rPr lang="zh-CN" altLang="en-US" dirty="0"/>
              <a:t>。</a:t>
            </a:r>
          </a:p>
        </p:txBody>
      </p:sp>
      <p:grpSp>
        <p:nvGrpSpPr>
          <p:cNvPr id="25" name="组合 24">
            <a:extLst>
              <a:ext uri="{FF2B5EF4-FFF2-40B4-BE49-F238E27FC236}">
                <a16:creationId xmlns:a16="http://schemas.microsoft.com/office/drawing/2014/main" id="{3D58D6B3-F3B3-499F-9768-98E7F850B513}"/>
              </a:ext>
            </a:extLst>
          </p:cNvPr>
          <p:cNvGrpSpPr/>
          <p:nvPr/>
        </p:nvGrpSpPr>
        <p:grpSpPr>
          <a:xfrm>
            <a:off x="7504479" y="416936"/>
            <a:ext cx="4973029" cy="3550715"/>
            <a:chOff x="7556716" y="2809187"/>
            <a:chExt cx="3943985" cy="2728124"/>
          </a:xfrm>
        </p:grpSpPr>
        <p:grpSp>
          <p:nvGrpSpPr>
            <p:cNvPr id="21" name="组合 20">
              <a:extLst>
                <a:ext uri="{FF2B5EF4-FFF2-40B4-BE49-F238E27FC236}">
                  <a16:creationId xmlns:a16="http://schemas.microsoft.com/office/drawing/2014/main" id="{C451F206-75E6-4244-9F61-D1F8457943D0}"/>
                </a:ext>
              </a:extLst>
            </p:cNvPr>
            <p:cNvGrpSpPr/>
            <p:nvPr/>
          </p:nvGrpSpPr>
          <p:grpSpPr>
            <a:xfrm>
              <a:off x="7645138" y="2809187"/>
              <a:ext cx="3176833" cy="2175143"/>
              <a:chOff x="7032396" y="2960016"/>
              <a:chExt cx="3176833" cy="2175143"/>
            </a:xfrm>
          </p:grpSpPr>
          <p:sp>
            <p:nvSpPr>
              <p:cNvPr id="7" name="矩形 6">
                <a:extLst>
                  <a:ext uri="{FF2B5EF4-FFF2-40B4-BE49-F238E27FC236}">
                    <a16:creationId xmlns:a16="http://schemas.microsoft.com/office/drawing/2014/main" id="{8255077D-977C-4F54-A34E-1DF1EA696376}"/>
                  </a:ext>
                </a:extLst>
              </p:cNvPr>
              <p:cNvSpPr/>
              <p:nvPr/>
            </p:nvSpPr>
            <p:spPr>
              <a:xfrm>
                <a:off x="7032396" y="2960016"/>
                <a:ext cx="716437" cy="716437"/>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28575">
                    <a:solidFill>
                      <a:schemeClr val="tx1"/>
                    </a:solidFill>
                  </a:ln>
                </a:endParaRPr>
              </a:p>
            </p:txBody>
          </p:sp>
          <p:sp>
            <p:nvSpPr>
              <p:cNvPr id="8" name="椭圆 7">
                <a:extLst>
                  <a:ext uri="{FF2B5EF4-FFF2-40B4-BE49-F238E27FC236}">
                    <a16:creationId xmlns:a16="http://schemas.microsoft.com/office/drawing/2014/main" id="{B33AF758-C758-45CF-9D45-5F94002AB129}"/>
                  </a:ext>
                </a:extLst>
              </p:cNvPr>
              <p:cNvSpPr/>
              <p:nvPr/>
            </p:nvSpPr>
            <p:spPr>
              <a:xfrm>
                <a:off x="9492792" y="2960016"/>
                <a:ext cx="716437" cy="716437"/>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28575">
                    <a:solidFill>
                      <a:schemeClr val="tx1"/>
                    </a:solidFill>
                  </a:ln>
                </a:endParaRPr>
              </a:p>
            </p:txBody>
          </p:sp>
          <p:cxnSp>
            <p:nvCxnSpPr>
              <p:cNvPr id="10" name="直接连接符 9">
                <a:extLst>
                  <a:ext uri="{FF2B5EF4-FFF2-40B4-BE49-F238E27FC236}">
                    <a16:creationId xmlns:a16="http://schemas.microsoft.com/office/drawing/2014/main" id="{9078E65B-8C47-4CC5-8A62-920BE4AF4632}"/>
                  </a:ext>
                </a:extLst>
              </p:cNvPr>
              <p:cNvCxnSpPr>
                <a:stCxn id="7" idx="3"/>
                <a:endCxn id="8" idx="2"/>
              </p:cNvCxnSpPr>
              <p:nvPr/>
            </p:nvCxnSpPr>
            <p:spPr>
              <a:xfrm>
                <a:off x="7748833" y="3318235"/>
                <a:ext cx="174395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F30CE656-EE08-4D86-9201-EA4611BDCE71}"/>
                  </a:ext>
                </a:extLst>
              </p:cNvPr>
              <p:cNvCxnSpPr/>
              <p:nvPr/>
            </p:nvCxnSpPr>
            <p:spPr>
              <a:xfrm>
                <a:off x="8625526" y="3318234"/>
                <a:ext cx="0" cy="9521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58498B01-EC55-47D9-B1AC-0B980E735F62}"/>
                  </a:ext>
                </a:extLst>
              </p:cNvPr>
              <p:cNvSpPr/>
              <p:nvPr/>
            </p:nvSpPr>
            <p:spPr>
              <a:xfrm rot="2700000">
                <a:off x="8281447" y="4418722"/>
                <a:ext cx="716437" cy="716437"/>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28575">
                    <a:solidFill>
                      <a:schemeClr val="tx1"/>
                    </a:solidFill>
                  </a:ln>
                </a:endParaRPr>
              </a:p>
            </p:txBody>
          </p:sp>
        </p:grpSp>
        <p:sp>
          <p:nvSpPr>
            <p:cNvPr id="22" name="文本框 21">
              <a:extLst>
                <a:ext uri="{FF2B5EF4-FFF2-40B4-BE49-F238E27FC236}">
                  <a16:creationId xmlns:a16="http://schemas.microsoft.com/office/drawing/2014/main" id="{5FC649DD-A5E0-4417-BCA1-F566852A8D9C}"/>
                </a:ext>
              </a:extLst>
            </p:cNvPr>
            <p:cNvSpPr txBox="1"/>
            <p:nvPr/>
          </p:nvSpPr>
          <p:spPr>
            <a:xfrm>
              <a:off x="10105534" y="3521752"/>
              <a:ext cx="1395167" cy="369332"/>
            </a:xfrm>
            <a:prstGeom prst="rect">
              <a:avLst/>
            </a:prstGeom>
            <a:noFill/>
          </p:spPr>
          <p:txBody>
            <a:bodyPr wrap="square" rtlCol="0">
              <a:spAutoFit/>
            </a:bodyPr>
            <a:lstStyle/>
            <a:p>
              <a:r>
                <a:rPr lang="en-US" altLang="zh-CN" dirty="0"/>
                <a:t>C, D, E</a:t>
              </a:r>
              <a:endParaRPr lang="zh-CN" altLang="en-US" dirty="0"/>
            </a:p>
          </p:txBody>
        </p:sp>
        <p:sp>
          <p:nvSpPr>
            <p:cNvPr id="23" name="文本框 22">
              <a:extLst>
                <a:ext uri="{FF2B5EF4-FFF2-40B4-BE49-F238E27FC236}">
                  <a16:creationId xmlns:a16="http://schemas.microsoft.com/office/drawing/2014/main" id="{71927338-C947-4531-93C3-19C91206096A}"/>
                </a:ext>
              </a:extLst>
            </p:cNvPr>
            <p:cNvSpPr txBox="1"/>
            <p:nvPr/>
          </p:nvSpPr>
          <p:spPr>
            <a:xfrm>
              <a:off x="7556716" y="3538921"/>
              <a:ext cx="1395167" cy="369332"/>
            </a:xfrm>
            <a:prstGeom prst="rect">
              <a:avLst/>
            </a:prstGeom>
            <a:noFill/>
          </p:spPr>
          <p:txBody>
            <a:bodyPr wrap="square" rtlCol="0">
              <a:spAutoFit/>
            </a:bodyPr>
            <a:lstStyle/>
            <a:p>
              <a:r>
                <a:rPr lang="en-US" altLang="zh-CN" dirty="0"/>
                <a:t>C, c, E, e</a:t>
              </a:r>
              <a:endParaRPr lang="zh-CN" altLang="en-US" dirty="0"/>
            </a:p>
          </p:txBody>
        </p:sp>
        <p:sp>
          <p:nvSpPr>
            <p:cNvPr id="24" name="文本框 23">
              <a:extLst>
                <a:ext uri="{FF2B5EF4-FFF2-40B4-BE49-F238E27FC236}">
                  <a16:creationId xmlns:a16="http://schemas.microsoft.com/office/drawing/2014/main" id="{0B55372D-2CFA-4830-9FB0-541E820C2793}"/>
                </a:ext>
              </a:extLst>
            </p:cNvPr>
            <p:cNvSpPr txBox="1"/>
            <p:nvPr/>
          </p:nvSpPr>
          <p:spPr>
            <a:xfrm>
              <a:off x="8752973" y="5167979"/>
              <a:ext cx="1395167" cy="369332"/>
            </a:xfrm>
            <a:prstGeom prst="rect">
              <a:avLst/>
            </a:prstGeom>
            <a:noFill/>
          </p:spPr>
          <p:txBody>
            <a:bodyPr wrap="square" rtlCol="0">
              <a:spAutoFit/>
            </a:bodyPr>
            <a:lstStyle/>
            <a:p>
              <a:r>
                <a:rPr lang="en-US" altLang="zh-CN" dirty="0"/>
                <a:t>C, c, E, e</a:t>
              </a:r>
              <a:endParaRPr lang="zh-CN" altLang="en-US" dirty="0"/>
            </a:p>
          </p:txBody>
        </p:sp>
      </p:grpSp>
      <p:sp>
        <p:nvSpPr>
          <p:cNvPr id="2" name="矩形 1"/>
          <p:cNvSpPr/>
          <p:nvPr/>
        </p:nvSpPr>
        <p:spPr>
          <a:xfrm>
            <a:off x="6841404" y="3967651"/>
            <a:ext cx="5261812" cy="1569660"/>
          </a:xfrm>
          <a:prstGeom prst="rect">
            <a:avLst/>
          </a:prstGeom>
        </p:spPr>
        <p:txBody>
          <a:bodyPr wrap="square">
            <a:spAutoFit/>
          </a:bodyPr>
          <a:lstStyle/>
          <a:p>
            <a:r>
              <a:rPr lang="zh-CN" altLang="en-US" sz="2400" b="1" dirty="0">
                <a:latin typeface="Times New Roman" pitchFamily="18" charset="0"/>
                <a:ea typeface="黑体" pitchFamily="49" charset="-122"/>
                <a:cs typeface="Times New Roman" pitchFamily="18" charset="0"/>
                <a:sym typeface="Symbol" pitchFamily="18" charset="2"/>
              </a:rPr>
              <a:t>如果一位母亲具有 </a:t>
            </a:r>
            <a:r>
              <a:rPr lang="en-US" altLang="zh-CN" sz="2400" b="1" dirty="0">
                <a:latin typeface="Times New Roman" pitchFamily="18" charset="0"/>
                <a:ea typeface="黑体" pitchFamily="49" charset="-122"/>
                <a:cs typeface="Times New Roman" pitchFamily="18" charset="0"/>
                <a:sym typeface="Symbol" pitchFamily="18" charset="2"/>
              </a:rPr>
              <a:t>C,D,E </a:t>
            </a:r>
            <a:r>
              <a:rPr lang="zh-CN" altLang="en-US" sz="2400" b="1" dirty="0">
                <a:latin typeface="Times New Roman" pitchFamily="18" charset="0"/>
                <a:ea typeface="黑体" pitchFamily="49" charset="-122"/>
                <a:cs typeface="Times New Roman" pitchFamily="18" charset="0"/>
                <a:sym typeface="Symbol" pitchFamily="18" charset="2"/>
              </a:rPr>
              <a:t>抗原，父亲具有 </a:t>
            </a:r>
            <a:r>
              <a:rPr lang="en-US" altLang="zh-CN" sz="2400" b="1" dirty="0" err="1">
                <a:latin typeface="Times New Roman" pitchFamily="18" charset="0"/>
                <a:ea typeface="黑体" pitchFamily="49" charset="-122"/>
                <a:cs typeface="Times New Roman" pitchFamily="18" charset="0"/>
                <a:sym typeface="Symbol" pitchFamily="18" charset="2"/>
              </a:rPr>
              <a:t>C,c,E,e</a:t>
            </a:r>
            <a:r>
              <a:rPr lang="en-US" altLang="zh-CN" sz="2400" b="1" dirty="0">
                <a:latin typeface="Times New Roman" pitchFamily="18" charset="0"/>
                <a:ea typeface="黑体" pitchFamily="49" charset="-122"/>
                <a:cs typeface="Times New Roman" pitchFamily="18" charset="0"/>
                <a:sym typeface="Symbol" pitchFamily="18" charset="2"/>
              </a:rPr>
              <a:t> </a:t>
            </a:r>
            <a:r>
              <a:rPr lang="zh-CN" altLang="en-US" sz="2400" b="1" dirty="0">
                <a:latin typeface="Times New Roman" pitchFamily="18" charset="0"/>
                <a:ea typeface="黑体" pitchFamily="49" charset="-122"/>
                <a:cs typeface="Times New Roman" pitchFamily="18" charset="0"/>
                <a:sym typeface="Symbol" pitchFamily="18" charset="2"/>
              </a:rPr>
              <a:t>抗原，他们的子女中有一个具有 </a:t>
            </a:r>
            <a:r>
              <a:rPr lang="en-US" altLang="zh-CN" sz="2400" b="1" dirty="0" err="1">
                <a:latin typeface="Times New Roman" pitchFamily="18" charset="0"/>
                <a:ea typeface="黑体" pitchFamily="49" charset="-122"/>
                <a:cs typeface="Times New Roman" pitchFamily="18" charset="0"/>
                <a:sym typeface="Symbol" pitchFamily="18" charset="2"/>
              </a:rPr>
              <a:t>C,c,E,e</a:t>
            </a:r>
            <a:r>
              <a:rPr lang="en-US" altLang="zh-CN" sz="2400" b="1" dirty="0">
                <a:latin typeface="Times New Roman" pitchFamily="18" charset="0"/>
                <a:ea typeface="黑体" pitchFamily="49" charset="-122"/>
                <a:cs typeface="Times New Roman" pitchFamily="18" charset="0"/>
                <a:sym typeface="Symbol" pitchFamily="18" charset="2"/>
              </a:rPr>
              <a:t> </a:t>
            </a:r>
            <a:r>
              <a:rPr lang="zh-CN" altLang="en-US" sz="2400" b="1" dirty="0">
                <a:latin typeface="Times New Roman" pitchFamily="18" charset="0"/>
                <a:ea typeface="黑体" pitchFamily="49" charset="-122"/>
                <a:cs typeface="Times New Roman" pitchFamily="18" charset="0"/>
                <a:sym typeface="Symbol" pitchFamily="18" charset="2"/>
              </a:rPr>
              <a:t>抗原，可以反推出父母</a:t>
            </a:r>
            <a:r>
              <a:rPr lang="en-US" altLang="zh-CN" sz="2400" b="1" dirty="0">
                <a:latin typeface="Times New Roman" pitchFamily="18" charset="0"/>
                <a:ea typeface="黑体" pitchFamily="49" charset="-122"/>
                <a:cs typeface="Times New Roman" pitchFamily="18" charset="0"/>
                <a:sym typeface="Symbol" pitchFamily="18" charset="2"/>
              </a:rPr>
              <a:t>Rh</a:t>
            </a:r>
            <a:r>
              <a:rPr lang="zh-CN" altLang="en-US" sz="2400" b="1" dirty="0">
                <a:latin typeface="Times New Roman" pitchFamily="18" charset="0"/>
                <a:ea typeface="黑体" pitchFamily="49" charset="-122"/>
                <a:cs typeface="Times New Roman" pitchFamily="18" charset="0"/>
                <a:sym typeface="Symbol" pitchFamily="18" charset="2"/>
              </a:rPr>
              <a:t>血型对应的基因型的单倍型吗</a:t>
            </a:r>
            <a:r>
              <a:rPr lang="en-US" altLang="zh-CN" sz="2400" b="1" dirty="0">
                <a:latin typeface="Times New Roman" pitchFamily="18" charset="0"/>
                <a:ea typeface="黑体" pitchFamily="49" charset="-122"/>
                <a:cs typeface="Times New Roman" pitchFamily="18" charset="0"/>
                <a:sym typeface="Symbol" pitchFamily="18" charset="2"/>
              </a:rPr>
              <a:t>?</a:t>
            </a:r>
            <a:endParaRPr lang="zh-CN" altLang="en-US" sz="2400" b="1" dirty="0">
              <a:latin typeface="Times New Roman" pitchFamily="18" charset="0"/>
              <a:ea typeface="黑体" pitchFamily="49" charset="-122"/>
              <a:cs typeface="Times New Roman" pitchFamily="18" charset="0"/>
              <a:sym typeface="Symbol" pitchFamily="18" charset="2"/>
            </a:endParaRPr>
          </a:p>
        </p:txBody>
      </p:sp>
    </p:spTree>
    <p:extLst>
      <p:ext uri="{BB962C8B-B14F-4D97-AF65-F5344CB8AC3E}">
        <p14:creationId xmlns:p14="http://schemas.microsoft.com/office/powerpoint/2010/main" val="3413141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1F322D7-C3E9-4EE7-95EB-7D76C8766719}"/>
              </a:ext>
            </a:extLst>
          </p:cNvPr>
          <p:cNvSpPr txBox="1"/>
          <p:nvPr/>
        </p:nvSpPr>
        <p:spPr>
          <a:xfrm>
            <a:off x="150830" y="829558"/>
            <a:ext cx="6843860" cy="4914900"/>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800"/>
            </a:lvl1pPr>
            <a:lvl2pPr marL="114300" lvl="1" indent="-342900">
              <a:lnSpc>
                <a:spcPct val="120000"/>
              </a:lnSpc>
              <a:spcBef>
                <a:spcPts val="0"/>
              </a:spcBef>
              <a:buFont typeface="Wingdings" pitchFamily="2" charset="2"/>
              <a:buChar char="Ø"/>
              <a:defRPr sz="2400" b="1">
                <a:latin typeface="黑体" pitchFamily="49" charset="-122"/>
                <a:ea typeface="黑体"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dirty="0"/>
              <a:t>和</a:t>
            </a:r>
            <a:r>
              <a:rPr lang="en-US" altLang="zh-CN" dirty="0"/>
              <a:t>ABO</a:t>
            </a:r>
            <a:r>
              <a:rPr lang="zh-CN" altLang="en-US" dirty="0"/>
              <a:t>血型抗原不同，</a:t>
            </a:r>
            <a:r>
              <a:rPr lang="en-US" altLang="zh-CN" dirty="0"/>
              <a:t>Rh</a:t>
            </a:r>
            <a:r>
              <a:rPr lang="zh-CN" altLang="en-US" dirty="0"/>
              <a:t>血型决定抗原是红细胞表面的一类跨膜糖蛋白，是由</a:t>
            </a:r>
            <a:r>
              <a:rPr lang="en-US" altLang="zh-CN" dirty="0"/>
              <a:t>2</a:t>
            </a:r>
            <a:r>
              <a:rPr lang="zh-CN" altLang="en-US" dirty="0"/>
              <a:t>分子</a:t>
            </a:r>
            <a:r>
              <a:rPr lang="en-US" altLang="zh-CN" dirty="0" err="1"/>
              <a:t>RhAG</a:t>
            </a:r>
            <a:r>
              <a:rPr lang="zh-CN" altLang="en-US" dirty="0"/>
              <a:t>、</a:t>
            </a:r>
            <a:r>
              <a:rPr lang="en-US" altLang="zh-CN" dirty="0"/>
              <a:t>1</a:t>
            </a:r>
            <a:r>
              <a:rPr lang="zh-CN" altLang="en-US" dirty="0"/>
              <a:t>分子</a:t>
            </a:r>
            <a:r>
              <a:rPr lang="en-US" altLang="zh-CN" dirty="0" err="1"/>
              <a:t>RhD</a:t>
            </a:r>
            <a:r>
              <a:rPr lang="zh-CN" altLang="en-US" dirty="0"/>
              <a:t>和</a:t>
            </a:r>
            <a:r>
              <a:rPr lang="en-US" altLang="zh-CN" dirty="0"/>
              <a:t>1</a:t>
            </a:r>
            <a:r>
              <a:rPr lang="zh-CN" altLang="en-US" dirty="0"/>
              <a:t>分子</a:t>
            </a:r>
            <a:r>
              <a:rPr lang="en-US" altLang="zh-CN" dirty="0" err="1"/>
              <a:t>RhCE</a:t>
            </a:r>
            <a:r>
              <a:rPr lang="zh-CN" altLang="en-US" dirty="0"/>
              <a:t>构成的四聚体跨膜蛋白。</a:t>
            </a:r>
            <a:endParaRPr lang="en-US" altLang="zh-CN" dirty="0"/>
          </a:p>
          <a:p>
            <a:pPr lvl="1"/>
            <a:r>
              <a:rPr lang="en-US" altLang="zh-CN" dirty="0"/>
              <a:t>Rh</a:t>
            </a:r>
            <a:r>
              <a:rPr lang="zh-CN" altLang="en-US" dirty="0"/>
              <a:t>抗原差异主要受到两个基因：</a:t>
            </a:r>
            <a:r>
              <a:rPr lang="en-US" altLang="zh-CN" dirty="0" err="1"/>
              <a:t>RhD</a:t>
            </a:r>
            <a:r>
              <a:rPr lang="zh-CN" altLang="en-US" dirty="0"/>
              <a:t>和</a:t>
            </a:r>
            <a:r>
              <a:rPr lang="en-US" altLang="zh-CN" dirty="0" err="1"/>
              <a:t>RhCE</a:t>
            </a:r>
            <a:r>
              <a:rPr lang="zh-CN" altLang="en-US" dirty="0"/>
              <a:t>控制的，它们定位于</a:t>
            </a:r>
            <a:r>
              <a:rPr lang="en-US" altLang="zh-CN" dirty="0"/>
              <a:t>1</a:t>
            </a:r>
            <a:r>
              <a:rPr lang="zh-CN" altLang="en-US" dirty="0"/>
              <a:t>号染色体的短臂，紧密连锁。</a:t>
            </a:r>
            <a:endParaRPr lang="en-US" altLang="zh-CN" dirty="0"/>
          </a:p>
          <a:p>
            <a:pPr lvl="1"/>
            <a:r>
              <a:rPr lang="en-US" altLang="zh-CN" dirty="0"/>
              <a:t>Rh</a:t>
            </a:r>
            <a:r>
              <a:rPr lang="zh-CN" altLang="en-US" dirty="0"/>
              <a:t>阴性个体没有</a:t>
            </a:r>
            <a:r>
              <a:rPr lang="en-US" altLang="zh-CN" dirty="0"/>
              <a:t>D</a:t>
            </a:r>
            <a:r>
              <a:rPr lang="zh-CN" altLang="en-US" dirty="0"/>
              <a:t>抗原的常见原因是</a:t>
            </a:r>
            <a:r>
              <a:rPr lang="en-US" altLang="zh-CN" dirty="0" err="1"/>
              <a:t>RhD</a:t>
            </a:r>
            <a:r>
              <a:rPr lang="zh-CN" altLang="en-US" dirty="0"/>
              <a:t>基因发生缺失突变或沉默突变。</a:t>
            </a:r>
            <a:endParaRPr lang="en-US" altLang="zh-CN" dirty="0"/>
          </a:p>
          <a:p>
            <a:endParaRPr lang="zh-CN" altLang="en-US" dirty="0"/>
          </a:p>
        </p:txBody>
      </p:sp>
      <p:pic>
        <p:nvPicPr>
          <p:cNvPr id="5" name="图片 4">
            <a:extLst>
              <a:ext uri="{FF2B5EF4-FFF2-40B4-BE49-F238E27FC236}">
                <a16:creationId xmlns:a16="http://schemas.microsoft.com/office/drawing/2014/main" id="{28100769-D69A-4746-B2F0-F0EB59295DEF}"/>
              </a:ext>
            </a:extLst>
          </p:cNvPr>
          <p:cNvPicPr>
            <a:picLocks noChangeAspect="1"/>
          </p:cNvPicPr>
          <p:nvPr/>
        </p:nvPicPr>
        <p:blipFill>
          <a:blip r:embed="rId2"/>
          <a:stretch>
            <a:fillRect/>
          </a:stretch>
        </p:blipFill>
        <p:spPr>
          <a:xfrm>
            <a:off x="6994690" y="325655"/>
            <a:ext cx="5118113" cy="5791549"/>
          </a:xfrm>
          <a:prstGeom prst="rect">
            <a:avLst/>
          </a:prstGeom>
        </p:spPr>
      </p:pic>
      <p:sp>
        <p:nvSpPr>
          <p:cNvPr id="7" name="文本框 6">
            <a:extLst>
              <a:ext uri="{FF2B5EF4-FFF2-40B4-BE49-F238E27FC236}">
                <a16:creationId xmlns:a16="http://schemas.microsoft.com/office/drawing/2014/main" id="{2BACD38D-1D5C-4B02-882F-78908CF1865B}"/>
              </a:ext>
            </a:extLst>
          </p:cNvPr>
          <p:cNvSpPr txBox="1"/>
          <p:nvPr/>
        </p:nvSpPr>
        <p:spPr>
          <a:xfrm>
            <a:off x="7854885" y="6117205"/>
            <a:ext cx="3268744" cy="369332"/>
          </a:xfrm>
          <a:prstGeom prst="rect">
            <a:avLst/>
          </a:prstGeom>
          <a:noFill/>
        </p:spPr>
        <p:txBody>
          <a:bodyPr wrap="square">
            <a:spAutoFit/>
          </a:bodyPr>
          <a:lstStyle>
            <a:defPPr>
              <a:defRPr lang="zh-CN"/>
            </a:defPPr>
            <a:lvl1pPr algn="ctr">
              <a:defRPr sz="1400">
                <a:solidFill>
                  <a:srgbClr val="3A5991"/>
                </a:solidFill>
                <a:latin typeface="微软雅黑" panose="020B0503020204020204" pitchFamily="34" charset="-122"/>
                <a:ea typeface="微软雅黑" panose="020B0503020204020204" pitchFamily="34" charset="-122"/>
              </a:defRPr>
            </a:lvl1pPr>
          </a:lstStyle>
          <a:p>
            <a:r>
              <a:rPr lang="en-US" altLang="zh-CN" sz="1800" b="1" dirty="0">
                <a:solidFill>
                  <a:schemeClr val="tx1"/>
                </a:solidFill>
              </a:rPr>
              <a:t>Rh </a:t>
            </a:r>
            <a:r>
              <a:rPr lang="zh-CN" altLang="en-US" sz="1800" b="1" dirty="0">
                <a:solidFill>
                  <a:schemeClr val="tx1"/>
                </a:solidFill>
              </a:rPr>
              <a:t>血型的组成</a:t>
            </a:r>
          </a:p>
        </p:txBody>
      </p:sp>
      <p:sp>
        <p:nvSpPr>
          <p:cNvPr id="8" name="灯片编号占位符 2">
            <a:extLst>
              <a:ext uri="{FF2B5EF4-FFF2-40B4-BE49-F238E27FC236}">
                <a16:creationId xmlns:a16="http://schemas.microsoft.com/office/drawing/2014/main" id="{C7102844-1D1A-448F-AE7C-9BB5DAF389DB}"/>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30</a:t>
            </a:fld>
            <a:endParaRPr lang="zh-CN" altLang="en-US" dirty="0"/>
          </a:p>
        </p:txBody>
      </p:sp>
    </p:spTree>
    <p:extLst>
      <p:ext uri="{BB962C8B-B14F-4D97-AF65-F5344CB8AC3E}">
        <p14:creationId xmlns:p14="http://schemas.microsoft.com/office/powerpoint/2010/main" val="13044731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81380C26-0386-4CBC-BE84-A2E061A5B86D}"/>
              </a:ext>
            </a:extLst>
          </p:cNvPr>
          <p:cNvSpPr>
            <a:spLocks noGrp="1"/>
          </p:cNvSpPr>
          <p:nvPr>
            <p:ph type="title"/>
          </p:nvPr>
        </p:nvSpPr>
        <p:spPr>
          <a:xfrm>
            <a:off x="98331" y="122057"/>
            <a:ext cx="10515600" cy="665022"/>
          </a:xfrm>
        </p:spPr>
        <p:txBody>
          <a:bodyPr vert="horz" lIns="91440" tIns="45720" rIns="91440" bIns="45720" rtlCol="0" anchor="ctr">
            <a:noAutofit/>
          </a:bodyPr>
          <a:lstStyle/>
          <a:p>
            <a:r>
              <a:rPr lang="zh-CN" altLang="en-US" sz="3600" b="1" dirty="0">
                <a:solidFill>
                  <a:srgbClr val="0000FF"/>
                </a:solidFill>
                <a:latin typeface="黑体" panose="02010600030101010101" pitchFamily="49" charset="-122"/>
                <a:ea typeface="黑体" panose="02010600030101010101" pitchFamily="49" charset="-122"/>
              </a:rPr>
              <a:t> 家畜的母子间的血型不相容</a:t>
            </a:r>
          </a:p>
        </p:txBody>
      </p:sp>
      <p:sp>
        <p:nvSpPr>
          <p:cNvPr id="7" name="文本框 6">
            <a:extLst>
              <a:ext uri="{FF2B5EF4-FFF2-40B4-BE49-F238E27FC236}">
                <a16:creationId xmlns:a16="http://schemas.microsoft.com/office/drawing/2014/main" id="{442A3344-F372-4F9E-9D3A-EAC845A66B33}"/>
              </a:ext>
            </a:extLst>
          </p:cNvPr>
          <p:cNvSpPr txBox="1"/>
          <p:nvPr/>
        </p:nvSpPr>
        <p:spPr>
          <a:xfrm>
            <a:off x="98331" y="895490"/>
            <a:ext cx="11858317" cy="2866282"/>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800"/>
            </a:lvl1pPr>
            <a:lvl2pPr marL="114300" lvl="1" indent="-342900">
              <a:lnSpc>
                <a:spcPct val="120000"/>
              </a:lnSpc>
              <a:spcBef>
                <a:spcPts val="0"/>
              </a:spcBef>
              <a:buFont typeface="Wingdings" pitchFamily="2" charset="2"/>
              <a:buChar char="Ø"/>
              <a:defRPr sz="2400" b="1">
                <a:latin typeface="黑体" pitchFamily="49" charset="-122"/>
                <a:ea typeface="黑体"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sz="2800" dirty="0"/>
              <a:t>在马、驴和猪中，由于母畜与胎儿间的血型的不相容，偶尔也出现新生畜溶血症。</a:t>
            </a:r>
            <a:endParaRPr lang="en-US" altLang="zh-CN" sz="2800" dirty="0"/>
          </a:p>
          <a:p>
            <a:pPr lvl="1"/>
            <a:r>
              <a:rPr lang="zh-CN" altLang="en-US" sz="2800" dirty="0"/>
              <a:t>母马和公驴的杂交中，新生骡驹的溶血病的发病率可高达</a:t>
            </a:r>
            <a:r>
              <a:rPr lang="en-US" altLang="zh-CN" sz="2800" dirty="0"/>
              <a:t>30%</a:t>
            </a:r>
            <a:r>
              <a:rPr lang="zh-CN" altLang="en-US" sz="2800" dirty="0"/>
              <a:t>以上。因为母畜产生的抗体不是通过胎盘流向胎儿，而是直接进入初奶中。幼畜吃了初奶，在数小时内发病，几天内死亡。</a:t>
            </a:r>
            <a:endParaRPr lang="en-US" altLang="zh-CN" sz="2800" dirty="0"/>
          </a:p>
          <a:p>
            <a:endParaRPr lang="zh-CN" altLang="en-US" sz="3200" dirty="0"/>
          </a:p>
        </p:txBody>
      </p:sp>
    </p:spTree>
    <p:extLst>
      <p:ext uri="{BB962C8B-B14F-4D97-AF65-F5344CB8AC3E}">
        <p14:creationId xmlns:p14="http://schemas.microsoft.com/office/powerpoint/2010/main" val="387002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C8484630-A3D9-440C-B092-356B8402E80E}"/>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5741043" y="402845"/>
            <a:ext cx="6296044" cy="5454742"/>
          </a:xfrm>
          <a:prstGeom prst="rect">
            <a:avLst/>
          </a:prstGeom>
        </p:spPr>
      </p:pic>
      <p:sp>
        <p:nvSpPr>
          <p:cNvPr id="9" name="文本框 8">
            <a:extLst>
              <a:ext uri="{FF2B5EF4-FFF2-40B4-BE49-F238E27FC236}">
                <a16:creationId xmlns:a16="http://schemas.microsoft.com/office/drawing/2014/main" id="{F43265E8-CA38-4331-AD7E-988F2CA96F5F}"/>
              </a:ext>
            </a:extLst>
          </p:cNvPr>
          <p:cNvSpPr txBox="1"/>
          <p:nvPr/>
        </p:nvSpPr>
        <p:spPr>
          <a:xfrm>
            <a:off x="206822" y="135080"/>
            <a:ext cx="6094428" cy="535531"/>
          </a:xfrm>
          <a:prstGeom prst="rect">
            <a:avLst/>
          </a:prstGeom>
        </p:spPr>
        <p:txBody>
          <a:bodyPr vert="horz" lIns="91440" tIns="45720" rIns="91440" bIns="45720" rtlCol="0" anchor="ctr">
            <a:noAutofit/>
          </a:bodyPr>
          <a:lstStyle>
            <a:lvl1pPr>
              <a:lnSpc>
                <a:spcPct val="90000"/>
              </a:lnSpc>
              <a:spcBef>
                <a:spcPct val="0"/>
              </a:spcBef>
              <a:buNone/>
              <a:defRPr sz="3600" b="1">
                <a:solidFill>
                  <a:srgbClr val="0000FF"/>
                </a:solidFill>
                <a:latin typeface="黑体" panose="02010600030101010101" pitchFamily="49" charset="-122"/>
                <a:ea typeface="黑体" panose="02010600030101010101" pitchFamily="49" charset="-122"/>
                <a:cs typeface="+mj-cs"/>
              </a:defRPr>
            </a:lvl1pPr>
          </a:lstStyle>
          <a:p>
            <a:r>
              <a:rPr lang="zh-CN" altLang="en-US" dirty="0"/>
              <a:t> 自交不亲和</a:t>
            </a:r>
          </a:p>
        </p:txBody>
      </p:sp>
      <p:sp>
        <p:nvSpPr>
          <p:cNvPr id="10" name="文本框 9">
            <a:extLst>
              <a:ext uri="{FF2B5EF4-FFF2-40B4-BE49-F238E27FC236}">
                <a16:creationId xmlns:a16="http://schemas.microsoft.com/office/drawing/2014/main" id="{9C1E6A51-E396-4250-A2A4-74D75194D6D3}"/>
              </a:ext>
            </a:extLst>
          </p:cNvPr>
          <p:cNvSpPr txBox="1"/>
          <p:nvPr/>
        </p:nvSpPr>
        <p:spPr>
          <a:xfrm>
            <a:off x="0" y="1973441"/>
            <a:ext cx="6389225" cy="1383217"/>
          </a:xfrm>
          <a:prstGeom prst="rect">
            <a:avLst/>
          </a:prstGeom>
        </p:spPr>
        <p:txBody>
          <a:bodyPr vert="horz" lIns="91440" tIns="45720" rIns="91440" bIns="45720" rtlCol="0">
            <a:noAutofit/>
          </a:bodyPr>
          <a:lstStyle>
            <a:lvl1pPr marL="228600" indent="-228600">
              <a:lnSpc>
                <a:spcPct val="90000"/>
              </a:lnSpc>
              <a:spcBef>
                <a:spcPts val="1000"/>
              </a:spcBef>
              <a:buFont typeface="Arial" panose="020B0604020202020204" pitchFamily="34" charset="0"/>
              <a:buChar char="•"/>
              <a:defRPr sz="2800"/>
            </a:lvl1pPr>
            <a:lvl2pPr marL="114300" lvl="1" indent="-342900">
              <a:lnSpc>
                <a:spcPct val="120000"/>
              </a:lnSpc>
              <a:spcBef>
                <a:spcPts val="0"/>
              </a:spcBef>
              <a:buFont typeface="Wingdings" pitchFamily="2" charset="2"/>
              <a:buChar char="Ø"/>
              <a:defRPr sz="2400" b="1">
                <a:latin typeface="黑体" pitchFamily="49" charset="-122"/>
                <a:ea typeface="黑体"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zh-CN" altLang="en-US" sz="2800" dirty="0"/>
              <a:t>烟草至少有</a:t>
            </a:r>
            <a:r>
              <a:rPr lang="en-US" altLang="zh-CN" sz="2800" dirty="0"/>
              <a:t>15</a:t>
            </a:r>
            <a:r>
              <a:rPr lang="zh-CN" altLang="en-US" sz="2800" dirty="0"/>
              <a:t>个自交不亲和相关基因，</a:t>
            </a:r>
            <a:r>
              <a:rPr lang="en-US" altLang="zh-CN" sz="2800" dirty="0"/>
              <a:t>S1</a:t>
            </a:r>
            <a:r>
              <a:rPr lang="zh-CN" altLang="en-US" sz="2800" dirty="0"/>
              <a:t>，</a:t>
            </a:r>
            <a:r>
              <a:rPr lang="en-US" altLang="zh-CN" sz="2800" dirty="0"/>
              <a:t>S2</a:t>
            </a:r>
            <a:r>
              <a:rPr lang="zh-CN" altLang="en-US" sz="2800" dirty="0"/>
              <a:t>，</a:t>
            </a:r>
            <a:r>
              <a:rPr lang="en-US" altLang="zh-CN" sz="2800" dirty="0"/>
              <a:t>…</a:t>
            </a:r>
            <a:r>
              <a:rPr lang="zh-CN" altLang="en-US" sz="2800" dirty="0"/>
              <a:t>，</a:t>
            </a:r>
            <a:r>
              <a:rPr lang="en-US" altLang="zh-CN" sz="2800" dirty="0"/>
              <a:t>S15</a:t>
            </a:r>
            <a:r>
              <a:rPr lang="zh-CN" altLang="en-US" sz="2800" dirty="0"/>
              <a:t>，构成一个复等位基因系列。</a:t>
            </a:r>
            <a:endParaRPr lang="zh-CN" altLang="en-US" sz="3200" dirty="0"/>
          </a:p>
        </p:txBody>
      </p:sp>
      <p:sp>
        <p:nvSpPr>
          <p:cNvPr id="11" name="灯片编号占位符 2">
            <a:extLst>
              <a:ext uri="{FF2B5EF4-FFF2-40B4-BE49-F238E27FC236}">
                <a16:creationId xmlns:a16="http://schemas.microsoft.com/office/drawing/2014/main" id="{C45E7CAE-20C6-443E-B3C9-2B1AC588EA1E}"/>
              </a:ext>
            </a:extLst>
          </p:cNvPr>
          <p:cNvSpPr>
            <a:spLocks noGrp="1"/>
          </p:cNvSpPr>
          <p:nvPr>
            <p:ph type="sldNum" sz="quarter" idx="12"/>
          </p:nvPr>
        </p:nvSpPr>
        <p:spPr>
          <a:xfrm>
            <a:off x="11353799" y="6356350"/>
            <a:ext cx="577363" cy="365125"/>
          </a:xfrm>
        </p:spPr>
        <p:txBody>
          <a:bodyPr/>
          <a:lstStyle/>
          <a:p>
            <a:fld id="{D4751D38-C989-48BC-B1AB-387F6E8DCEB6}" type="slidenum">
              <a:rPr lang="zh-CN" altLang="en-US" smtClean="0"/>
              <a:pPr/>
              <a:t>32</a:t>
            </a:fld>
            <a:endParaRPr lang="zh-CN" altLang="en-US" dirty="0"/>
          </a:p>
        </p:txBody>
      </p:sp>
    </p:spTree>
    <p:extLst>
      <p:ext uri="{BB962C8B-B14F-4D97-AF65-F5344CB8AC3E}">
        <p14:creationId xmlns:p14="http://schemas.microsoft.com/office/powerpoint/2010/main" val="3296530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Rot="1" noChangeArrowheads="1"/>
          </p:cNvSpPr>
          <p:nvPr>
            <p:ph type="body" idx="1"/>
          </p:nvPr>
        </p:nvSpPr>
        <p:spPr>
          <a:xfrm>
            <a:off x="155415" y="937027"/>
            <a:ext cx="12036585" cy="1956644"/>
          </a:xfrm>
        </p:spPr>
        <p:txBody>
          <a:bodyPr/>
          <a:lstStyle/>
          <a:p>
            <a:pPr marL="0" indent="0" fontAlgn="auto">
              <a:lnSpc>
                <a:spcPct val="140000"/>
              </a:lnSpc>
              <a:buNone/>
            </a:pPr>
            <a:r>
              <a:rPr lang="en-US" altLang="zh-CN" b="1" dirty="0">
                <a:latin typeface="黑体" panose="02010600030101010101" pitchFamily="49" charset="-122"/>
                <a:ea typeface="黑体" panose="02010600030101010101" pitchFamily="49" charset="-122"/>
              </a:rPr>
              <a:t>	</a:t>
            </a:r>
            <a:r>
              <a:rPr lang="zh-CN" altLang="en-US" b="1" dirty="0">
                <a:latin typeface="黑体" panose="02010600030101010101" pitchFamily="49" charset="-122"/>
                <a:ea typeface="黑体" panose="02010600030101010101" pitchFamily="49" charset="-122"/>
              </a:rPr>
              <a:t>很多果树如苹果、梨、桃等都是通过扦插或是嫁接进行营养繁殖产生，它们的基因型是相同的，如果这些果树是自交不亲和的，那么整个果园的结实率就很低，怎样解决这个问题？</a:t>
            </a:r>
            <a:endParaRPr lang="en-US" altLang="zh-CN" b="1" dirty="0">
              <a:latin typeface="黑体" panose="02010600030101010101" pitchFamily="49" charset="-122"/>
              <a:ea typeface="黑体" panose="02010600030101010101" pitchFamily="49" charset="-122"/>
            </a:endParaRPr>
          </a:p>
        </p:txBody>
      </p:sp>
      <p:sp>
        <p:nvSpPr>
          <p:cNvPr id="3" name="矩形 2"/>
          <p:cNvSpPr/>
          <p:nvPr/>
        </p:nvSpPr>
        <p:spPr>
          <a:xfrm>
            <a:off x="206822" y="2904433"/>
            <a:ext cx="11819274" cy="1298817"/>
          </a:xfrm>
          <a:prstGeom prst="rect">
            <a:avLst/>
          </a:prstGeom>
        </p:spPr>
        <p:txBody>
          <a:bodyPr wrap="square">
            <a:spAutoFit/>
          </a:bodyPr>
          <a:lstStyle/>
          <a:p>
            <a:pPr>
              <a:lnSpc>
                <a:spcPct val="140000"/>
              </a:lnSpc>
            </a:pPr>
            <a:r>
              <a:rPr lang="zh-CN" altLang="en-US" sz="2800" b="1" dirty="0">
                <a:solidFill>
                  <a:srgbClr val="FF0000"/>
                </a:solidFill>
                <a:latin typeface="黑体" panose="02010600030101010101" pitchFamily="49" charset="-122"/>
                <a:ea typeface="黑体" panose="02010600030101010101" pitchFamily="49" charset="-122"/>
              </a:rPr>
              <a:t>    通过在果园里添种一些不同基因型系列的授粉植物来供应合适基因型的花粉，从而可促使正常结实。 </a:t>
            </a:r>
          </a:p>
        </p:txBody>
      </p:sp>
      <p:sp>
        <p:nvSpPr>
          <p:cNvPr id="5" name="文本框 8">
            <a:extLst>
              <a:ext uri="{FF2B5EF4-FFF2-40B4-BE49-F238E27FC236}">
                <a16:creationId xmlns:a16="http://schemas.microsoft.com/office/drawing/2014/main" id="{F43265E8-CA38-4331-AD7E-988F2CA96F5F}"/>
              </a:ext>
            </a:extLst>
          </p:cNvPr>
          <p:cNvSpPr txBox="1"/>
          <p:nvPr/>
        </p:nvSpPr>
        <p:spPr>
          <a:xfrm>
            <a:off x="206822" y="135080"/>
            <a:ext cx="6094428" cy="535531"/>
          </a:xfrm>
          <a:prstGeom prst="rect">
            <a:avLst/>
          </a:prstGeom>
        </p:spPr>
        <p:txBody>
          <a:bodyPr vert="horz" lIns="91440" tIns="45720" rIns="91440" bIns="45720" rtlCol="0" anchor="ctr">
            <a:noAutofit/>
          </a:bodyPr>
          <a:lstStyle>
            <a:lvl1pPr>
              <a:lnSpc>
                <a:spcPct val="90000"/>
              </a:lnSpc>
              <a:spcBef>
                <a:spcPct val="0"/>
              </a:spcBef>
              <a:buNone/>
              <a:defRPr sz="3600" b="1">
                <a:solidFill>
                  <a:srgbClr val="0000FF"/>
                </a:solidFill>
                <a:latin typeface="黑体" panose="02010600030101010101" pitchFamily="49" charset="-122"/>
                <a:ea typeface="黑体" panose="02010600030101010101" pitchFamily="49" charset="-122"/>
                <a:cs typeface="+mj-cs"/>
              </a:defRPr>
            </a:lvl1pPr>
          </a:lstStyle>
          <a:p>
            <a:r>
              <a:rPr lang="zh-CN" altLang="en-US" dirty="0"/>
              <a:t> 自交不亲和</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9455" y="812697"/>
            <a:ext cx="12320337" cy="584775"/>
          </a:xfrm>
          <a:prstGeom prst="rect">
            <a:avLst/>
          </a:prstGeom>
        </p:spPr>
        <p:txBody>
          <a:bodyPr wrap="square">
            <a:spAutoFit/>
          </a:bodyPr>
          <a:lstStyle/>
          <a:p>
            <a:r>
              <a:rPr lang="zh-CN" altLang="en-US" sz="3200" b="1" dirty="0">
                <a:latin typeface="黑体" pitchFamily="49" charset="-122"/>
                <a:ea typeface="黑体" pitchFamily="49" charset="-122"/>
              </a:rPr>
              <a:t>基因互作：非等位基因之间通过相互作用影响</a:t>
            </a:r>
            <a:r>
              <a:rPr lang="zh-CN" altLang="en-US" sz="3200" b="1" dirty="0">
                <a:solidFill>
                  <a:srgbClr val="0000FF"/>
                </a:solidFill>
                <a:latin typeface="黑体" pitchFamily="49" charset="-122"/>
                <a:ea typeface="黑体" pitchFamily="49" charset="-122"/>
              </a:rPr>
              <a:t>同一性状</a:t>
            </a:r>
            <a:r>
              <a:rPr lang="zh-CN" altLang="en-US" sz="3200" b="1" dirty="0">
                <a:latin typeface="黑体" pitchFamily="49" charset="-122"/>
                <a:ea typeface="黑体" pitchFamily="49" charset="-122"/>
              </a:rPr>
              <a:t>表现的现象</a:t>
            </a:r>
          </a:p>
        </p:txBody>
      </p:sp>
      <p:sp>
        <p:nvSpPr>
          <p:cNvPr id="4" name="Rectangle 2"/>
          <p:cNvSpPr txBox="1">
            <a:spLocks noRot="1" noChangeArrowheads="1"/>
          </p:cNvSpPr>
          <p:nvPr/>
        </p:nvSpPr>
        <p:spPr>
          <a:xfrm>
            <a:off x="591720" y="67945"/>
            <a:ext cx="10515600" cy="71811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b="1" dirty="0">
                <a:solidFill>
                  <a:srgbClr val="0000FF"/>
                </a:solidFill>
                <a:latin typeface="黑体" panose="02010600030101010101" pitchFamily="49" charset="-122"/>
                <a:ea typeface="黑体" panose="02010600030101010101" pitchFamily="49" charset="-122"/>
              </a:rPr>
              <a:t>  </a:t>
            </a:r>
            <a:r>
              <a:rPr lang="zh-CN" altLang="en-US" sz="3600" b="1" dirty="0">
                <a:solidFill>
                  <a:srgbClr val="0000FF"/>
                </a:solidFill>
                <a:latin typeface="黑体" panose="02010600030101010101" pitchFamily="49" charset="-122"/>
                <a:ea typeface="黑体" panose="02010600030101010101" pitchFamily="49" charset="-122"/>
              </a:rPr>
              <a:t>五、非等位基因间的相互作用 </a:t>
            </a:r>
          </a:p>
        </p:txBody>
      </p:sp>
      <p:sp>
        <p:nvSpPr>
          <p:cNvPr id="5" name="Rectangle 3"/>
          <p:cNvSpPr txBox="1">
            <a:spLocks noRot="1" noChangeArrowheads="1"/>
          </p:cNvSpPr>
          <p:nvPr/>
        </p:nvSpPr>
        <p:spPr>
          <a:xfrm>
            <a:off x="1307933" y="1798922"/>
            <a:ext cx="3723439" cy="43516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ltLang="zh-CN" sz="3200" b="1" dirty="0">
                <a:latin typeface="黑体" panose="02010600030101010101" pitchFamily="49" charset="-122"/>
                <a:ea typeface="黑体" panose="02010600030101010101" pitchFamily="49" charset="-122"/>
              </a:rPr>
              <a:t>1.</a:t>
            </a:r>
            <a:r>
              <a:rPr lang="zh-CN" altLang="en-US" sz="3200" b="1" dirty="0">
                <a:latin typeface="黑体" panose="02010600030101010101" pitchFamily="49" charset="-122"/>
                <a:ea typeface="黑体" panose="02010600030101010101" pitchFamily="49" charset="-122"/>
              </a:rPr>
              <a:t>互补效应</a:t>
            </a:r>
          </a:p>
          <a:p>
            <a:pPr>
              <a:buFont typeface="Arial" panose="020B0604020202020204" pitchFamily="34" charset="0"/>
              <a:buNone/>
            </a:pPr>
            <a:r>
              <a:rPr lang="en-US" altLang="zh-CN" sz="3200" b="1" dirty="0">
                <a:latin typeface="黑体" panose="02010600030101010101" pitchFamily="49" charset="-122"/>
                <a:ea typeface="黑体" panose="02010600030101010101" pitchFamily="49" charset="-122"/>
              </a:rPr>
              <a:t>2.</a:t>
            </a:r>
            <a:r>
              <a:rPr lang="zh-CN" altLang="en-US" sz="3200" b="1" dirty="0">
                <a:latin typeface="黑体" panose="02010600030101010101" pitchFamily="49" charset="-122"/>
                <a:ea typeface="黑体" panose="02010600030101010101" pitchFamily="49" charset="-122"/>
              </a:rPr>
              <a:t>积加作用</a:t>
            </a:r>
          </a:p>
          <a:p>
            <a:pPr>
              <a:buFont typeface="Arial" panose="020B0604020202020204" pitchFamily="34" charset="0"/>
              <a:buNone/>
            </a:pPr>
            <a:r>
              <a:rPr lang="en-US" altLang="zh-CN" sz="3200" b="1" dirty="0">
                <a:latin typeface="黑体" panose="02010600030101010101" pitchFamily="49" charset="-122"/>
                <a:ea typeface="黑体" panose="02010600030101010101" pitchFamily="49" charset="-122"/>
              </a:rPr>
              <a:t>3.</a:t>
            </a:r>
            <a:r>
              <a:rPr lang="zh-CN" altLang="en-US" sz="3200" b="1" dirty="0">
                <a:latin typeface="黑体" panose="02010600030101010101" pitchFamily="49" charset="-122"/>
                <a:ea typeface="黑体" panose="02010600030101010101" pitchFamily="49" charset="-122"/>
              </a:rPr>
              <a:t>重叠作用</a:t>
            </a:r>
          </a:p>
          <a:p>
            <a:pPr>
              <a:buFont typeface="Arial" panose="020B0604020202020204" pitchFamily="34" charset="0"/>
              <a:buNone/>
            </a:pPr>
            <a:r>
              <a:rPr lang="en-US" altLang="zh-CN" sz="3200" b="1" dirty="0">
                <a:latin typeface="黑体" panose="02010600030101010101" pitchFamily="49" charset="-122"/>
                <a:ea typeface="黑体" panose="02010600030101010101" pitchFamily="49" charset="-122"/>
              </a:rPr>
              <a:t>4.</a:t>
            </a:r>
            <a:r>
              <a:rPr lang="zh-CN" altLang="en-US" sz="3200" b="1" dirty="0">
                <a:latin typeface="黑体" panose="02010600030101010101" pitchFamily="49" charset="-122"/>
                <a:ea typeface="黑体" panose="02010600030101010101" pitchFamily="49" charset="-122"/>
              </a:rPr>
              <a:t>显性上位作用</a:t>
            </a:r>
          </a:p>
          <a:p>
            <a:pPr>
              <a:buFont typeface="Arial" panose="020B0604020202020204" pitchFamily="34" charset="0"/>
              <a:buNone/>
            </a:pPr>
            <a:r>
              <a:rPr lang="en-US" altLang="zh-CN" sz="3200" b="1" dirty="0">
                <a:latin typeface="黑体" panose="02010600030101010101" pitchFamily="49" charset="-122"/>
                <a:ea typeface="黑体" panose="02010600030101010101" pitchFamily="49" charset="-122"/>
              </a:rPr>
              <a:t>5.</a:t>
            </a:r>
            <a:r>
              <a:rPr lang="zh-CN" altLang="en-US" sz="3200" b="1" dirty="0">
                <a:latin typeface="黑体" panose="02010600030101010101" pitchFamily="49" charset="-122"/>
                <a:ea typeface="黑体" panose="02010600030101010101" pitchFamily="49" charset="-122"/>
              </a:rPr>
              <a:t>隐性上位作用</a:t>
            </a:r>
          </a:p>
          <a:p>
            <a:pPr>
              <a:buFont typeface="Arial" panose="020B0604020202020204" pitchFamily="34" charset="0"/>
              <a:buNone/>
            </a:pPr>
            <a:r>
              <a:rPr lang="en-US" altLang="zh-CN" sz="3200" b="1" dirty="0">
                <a:latin typeface="黑体" panose="02010600030101010101" pitchFamily="49" charset="-122"/>
                <a:ea typeface="黑体" panose="02010600030101010101" pitchFamily="49" charset="-122"/>
              </a:rPr>
              <a:t>6.</a:t>
            </a:r>
            <a:r>
              <a:rPr lang="zh-CN" altLang="en-US" sz="3200" b="1" dirty="0">
                <a:latin typeface="黑体" panose="02010600030101010101" pitchFamily="49" charset="-122"/>
                <a:ea typeface="黑体" panose="02010600030101010101" pitchFamily="49" charset="-122"/>
              </a:rPr>
              <a:t>抑制作用</a:t>
            </a:r>
            <a:endParaRPr lang="zh-CN" altLang="en-US" b="1" dirty="0">
              <a:latin typeface="黑体" panose="02010600030101010101" pitchFamily="49" charset="-122"/>
              <a:ea typeface="黑体" panose="02010600030101010101" pitchFamily="49" charset="-122"/>
            </a:endParaRPr>
          </a:p>
          <a:p>
            <a:endParaRPr lang="en-US" altLang="zh-CN" b="1" dirty="0">
              <a:latin typeface="黑体" panose="02010600030101010101" pitchFamily="49" charset="-122"/>
              <a:ea typeface="黑体" panose="02010600030101010101" pitchFamily="49" charset="-122"/>
            </a:endParaRPr>
          </a:p>
        </p:txBody>
      </p:sp>
    </p:spTree>
    <p:extLst>
      <p:ext uri="{BB962C8B-B14F-4D97-AF65-F5344CB8AC3E}">
        <p14:creationId xmlns:p14="http://schemas.microsoft.com/office/powerpoint/2010/main" val="795935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7EE20AE-1F59-49AF-91CA-94B331B2C388}"/>
              </a:ext>
            </a:extLst>
          </p:cNvPr>
          <p:cNvSpPr>
            <a:spLocks noGrp="1"/>
          </p:cNvSpPr>
          <p:nvPr>
            <p:ph type="title"/>
          </p:nvPr>
        </p:nvSpPr>
        <p:spPr>
          <a:xfrm>
            <a:off x="362618" y="0"/>
            <a:ext cx="10515600" cy="799934"/>
          </a:xfrm>
        </p:spPr>
        <p:txBody>
          <a:bodyPr>
            <a:normAutofit/>
          </a:bodyPr>
          <a:lstStyle/>
          <a:p>
            <a:r>
              <a:rPr lang="en-US" altLang="zh-CN" sz="3600" b="1" dirty="0">
                <a:solidFill>
                  <a:srgbClr val="0000FF"/>
                </a:solidFill>
                <a:latin typeface="黑体" panose="02010600030101010101" pitchFamily="49" charset="-122"/>
                <a:ea typeface="黑体" panose="02010600030101010101" pitchFamily="49" charset="-122"/>
              </a:rPr>
              <a:t>1.</a:t>
            </a:r>
            <a:r>
              <a:rPr lang="zh-CN" altLang="en-US" sz="3600" b="1" dirty="0">
                <a:solidFill>
                  <a:srgbClr val="0000FF"/>
                </a:solidFill>
                <a:latin typeface="黑体" panose="02010600030101010101" pitchFamily="49" charset="-122"/>
                <a:ea typeface="黑体" panose="02010600030101010101" pitchFamily="49" charset="-122"/>
              </a:rPr>
              <a:t>互补基因（</a:t>
            </a:r>
            <a:r>
              <a:rPr lang="en-US" altLang="zh-CN" sz="3600" b="1" dirty="0">
                <a:solidFill>
                  <a:srgbClr val="0000FF"/>
                </a:solidFill>
                <a:latin typeface="黑体" panose="02010600030101010101" pitchFamily="49" charset="-122"/>
                <a:ea typeface="黑体" panose="02010600030101010101" pitchFamily="49" charset="-122"/>
              </a:rPr>
              <a:t>complementary gene</a:t>
            </a:r>
            <a:r>
              <a:rPr lang="zh-CN" altLang="en-US" sz="3600" b="1" dirty="0">
                <a:solidFill>
                  <a:srgbClr val="0000FF"/>
                </a:solidFill>
                <a:latin typeface="黑体" panose="02010600030101010101" pitchFamily="49" charset="-122"/>
                <a:ea typeface="黑体" panose="02010600030101010101" pitchFamily="49" charset="-122"/>
              </a:rPr>
              <a:t>）</a:t>
            </a:r>
          </a:p>
        </p:txBody>
      </p:sp>
      <p:pic>
        <p:nvPicPr>
          <p:cNvPr id="8" name="图片 7">
            <a:extLst>
              <a:ext uri="{FF2B5EF4-FFF2-40B4-BE49-F238E27FC236}">
                <a16:creationId xmlns:a16="http://schemas.microsoft.com/office/drawing/2014/main" id="{4B7C6B4D-BE36-4D36-85C1-4A3AE195A272}"/>
              </a:ext>
            </a:extLst>
          </p:cNvPr>
          <p:cNvPicPr>
            <a:picLocks noChangeAspect="1"/>
          </p:cNvPicPr>
          <p:nvPr/>
        </p:nvPicPr>
        <p:blipFill rotWithShape="1">
          <a:blip r:embed="rId3"/>
          <a:srcRect b="50352"/>
          <a:stretch/>
        </p:blipFill>
        <p:spPr>
          <a:xfrm>
            <a:off x="1018774" y="2031133"/>
            <a:ext cx="3286260" cy="2279283"/>
          </a:xfrm>
          <a:prstGeom prst="rect">
            <a:avLst/>
          </a:prstGeom>
        </p:spPr>
      </p:pic>
      <p:sp>
        <p:nvSpPr>
          <p:cNvPr id="9" name="文本框 8">
            <a:extLst>
              <a:ext uri="{FF2B5EF4-FFF2-40B4-BE49-F238E27FC236}">
                <a16:creationId xmlns:a16="http://schemas.microsoft.com/office/drawing/2014/main" id="{8311E7A6-2E6B-4A61-B8EE-156F2FF60F9F}"/>
              </a:ext>
            </a:extLst>
          </p:cNvPr>
          <p:cNvSpPr txBox="1"/>
          <p:nvPr/>
        </p:nvSpPr>
        <p:spPr>
          <a:xfrm>
            <a:off x="0" y="791172"/>
            <a:ext cx="12192000" cy="1108064"/>
          </a:xfrm>
          <a:prstGeom prst="rect">
            <a:avLst/>
          </a:prstGeom>
        </p:spPr>
        <p:txBody>
          <a:bodyPr vert="horz" lIns="91440" tIns="45720" rIns="91440" bIns="45720" rtlCol="0">
            <a:normAutofit/>
          </a:bodyPr>
          <a:lstStyle>
            <a:defPPr>
              <a:defRPr lang="zh-CN"/>
            </a:defPPr>
            <a:lvl1pPr marL="228600" indent="-228600">
              <a:lnSpc>
                <a:spcPct val="90000"/>
              </a:lnSpc>
              <a:spcBef>
                <a:spcPts val="1000"/>
              </a:spcBef>
              <a:buFont typeface="Arial" panose="020B0604020202020204" pitchFamily="34" charset="0"/>
              <a:buChar char="•"/>
              <a:defRPr sz="2800"/>
            </a:lvl1pPr>
            <a:lvl2pPr marL="0" lvl="1" indent="0">
              <a:lnSpc>
                <a:spcPct val="120000"/>
              </a:lnSpc>
              <a:spcBef>
                <a:spcPts val="0"/>
              </a:spcBef>
              <a:buFont typeface="Wingdings" pitchFamily="2" charset="2"/>
              <a:buNone/>
              <a:defRPr sz="2400" b="1">
                <a:latin typeface="Times New Roman" pitchFamily="18" charset="0"/>
                <a:ea typeface="黑体" pitchFamily="49" charset="-122"/>
                <a:cs typeface="Times New Roman" panose="02020603050405020304" pitchFamily="18" charset="0"/>
              </a:defRPr>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342900" lvl="1" indent="-342900">
              <a:buFont typeface="Wingdings" pitchFamily="2" charset="2"/>
              <a:buChar char="Ø"/>
            </a:pPr>
            <a:r>
              <a:rPr lang="zh-CN" altLang="en-US" dirty="0"/>
              <a:t>两对非等位基因相互作用，出现了新的性状，这两个互作的基因叫作</a:t>
            </a:r>
            <a:r>
              <a:rPr lang="zh-CN" altLang="en-US" dirty="0">
                <a:solidFill>
                  <a:srgbClr val="0000FF"/>
                </a:solidFill>
              </a:rPr>
              <a:t>互补基因</a:t>
            </a:r>
            <a:r>
              <a:rPr lang="zh-CN" altLang="en-US" dirty="0"/>
              <a:t> 。</a:t>
            </a:r>
            <a:endParaRPr lang="en-US" altLang="zh-CN" dirty="0"/>
          </a:p>
          <a:p>
            <a:pPr marL="342900" lvl="1" indent="-342900">
              <a:buFont typeface="Wingdings" pitchFamily="2" charset="2"/>
              <a:buChar char="Ø"/>
            </a:pPr>
            <a:r>
              <a:rPr lang="zh-CN" altLang="en-US" dirty="0">
                <a:solidFill>
                  <a:srgbClr val="FF0000"/>
                </a:solidFill>
              </a:rPr>
              <a:t>案例</a:t>
            </a:r>
            <a:r>
              <a:rPr lang="en-US" altLang="zh-CN" dirty="0">
                <a:solidFill>
                  <a:srgbClr val="FF0000"/>
                </a:solidFill>
              </a:rPr>
              <a:t>1</a:t>
            </a:r>
            <a:r>
              <a:rPr lang="zh-CN" altLang="en-US" dirty="0">
                <a:solidFill>
                  <a:srgbClr val="FF0000"/>
                </a:solidFill>
              </a:rPr>
              <a:t>：鸡冠形状的遗传</a:t>
            </a:r>
            <a:endParaRPr lang="zh-CN" altLang="en-US" dirty="0"/>
          </a:p>
        </p:txBody>
      </p:sp>
      <p:pic>
        <p:nvPicPr>
          <p:cNvPr id="11" name="图片 10">
            <a:extLst>
              <a:ext uri="{FF2B5EF4-FFF2-40B4-BE49-F238E27FC236}">
                <a16:creationId xmlns:a16="http://schemas.microsoft.com/office/drawing/2014/main" id="{A6545838-46BD-49C5-B440-7BB0B44E3E33}"/>
              </a:ext>
            </a:extLst>
          </p:cNvPr>
          <p:cNvPicPr>
            <a:picLocks noChangeAspect="1"/>
          </p:cNvPicPr>
          <p:nvPr/>
        </p:nvPicPr>
        <p:blipFill rotWithShape="1">
          <a:blip r:embed="rId3"/>
          <a:srcRect t="50352"/>
          <a:stretch/>
        </p:blipFill>
        <p:spPr>
          <a:xfrm>
            <a:off x="1136788" y="4147128"/>
            <a:ext cx="3168246" cy="2367470"/>
          </a:xfrm>
          <a:prstGeom prst="rect">
            <a:avLst/>
          </a:prstGeom>
        </p:spPr>
      </p:pic>
      <p:grpSp>
        <p:nvGrpSpPr>
          <p:cNvPr id="17" name="组合 16"/>
          <p:cNvGrpSpPr/>
          <p:nvPr/>
        </p:nvGrpSpPr>
        <p:grpSpPr>
          <a:xfrm>
            <a:off x="4994243" y="1413882"/>
            <a:ext cx="6843787" cy="5148289"/>
            <a:chOff x="6626908" y="594956"/>
            <a:chExt cx="5579344" cy="3957649"/>
          </a:xfrm>
        </p:grpSpPr>
        <p:pic>
          <p:nvPicPr>
            <p:cNvPr id="6" name="图片 5">
              <a:extLst>
                <a:ext uri="{FF2B5EF4-FFF2-40B4-BE49-F238E27FC236}">
                  <a16:creationId xmlns:a16="http://schemas.microsoft.com/office/drawing/2014/main" id="{06FA055B-FCD4-44EF-A4C1-2EF119303A3A}"/>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6626908" y="899516"/>
              <a:ext cx="5579344" cy="3431852"/>
            </a:xfrm>
            <a:prstGeom prst="rect">
              <a:avLst/>
            </a:prstGeom>
          </p:spPr>
        </p:pic>
        <p:sp>
          <p:nvSpPr>
            <p:cNvPr id="2" name="矩形 1"/>
            <p:cNvSpPr/>
            <p:nvPr/>
          </p:nvSpPr>
          <p:spPr>
            <a:xfrm>
              <a:off x="8226998" y="606531"/>
              <a:ext cx="877163" cy="369332"/>
            </a:xfrm>
            <a:prstGeom prst="rect">
              <a:avLst/>
            </a:prstGeom>
          </p:spPr>
          <p:txBody>
            <a:bodyPr wrap="none">
              <a:spAutoFit/>
            </a:bodyPr>
            <a:lstStyle/>
            <a:p>
              <a:r>
                <a:rPr lang="zh-CN" altLang="en-US" b="1" dirty="0"/>
                <a:t>豌豆冠</a:t>
              </a:r>
            </a:p>
          </p:txBody>
        </p:sp>
        <p:sp>
          <p:nvSpPr>
            <p:cNvPr id="3" name="矩形 2"/>
            <p:cNvSpPr/>
            <p:nvPr/>
          </p:nvSpPr>
          <p:spPr>
            <a:xfrm>
              <a:off x="10715555" y="594956"/>
              <a:ext cx="877163" cy="369332"/>
            </a:xfrm>
            <a:prstGeom prst="rect">
              <a:avLst/>
            </a:prstGeom>
          </p:spPr>
          <p:txBody>
            <a:bodyPr wrap="none">
              <a:spAutoFit/>
            </a:bodyPr>
            <a:lstStyle/>
            <a:p>
              <a:r>
                <a:rPr lang="zh-CN" altLang="en-US" b="1" dirty="0"/>
                <a:t>玫瑰冠</a:t>
              </a:r>
            </a:p>
          </p:txBody>
        </p:sp>
        <p:sp>
          <p:nvSpPr>
            <p:cNvPr id="5" name="矩形 4"/>
            <p:cNvSpPr/>
            <p:nvPr/>
          </p:nvSpPr>
          <p:spPr>
            <a:xfrm>
              <a:off x="10391463" y="2295831"/>
              <a:ext cx="877163" cy="369332"/>
            </a:xfrm>
            <a:prstGeom prst="rect">
              <a:avLst/>
            </a:prstGeom>
          </p:spPr>
          <p:txBody>
            <a:bodyPr wrap="none">
              <a:spAutoFit/>
            </a:bodyPr>
            <a:lstStyle/>
            <a:p>
              <a:r>
                <a:rPr lang="zh-CN" altLang="en-US" b="1" dirty="0"/>
                <a:t>胡桃冠</a:t>
              </a:r>
            </a:p>
          </p:txBody>
        </p:sp>
        <p:sp>
          <p:nvSpPr>
            <p:cNvPr id="7" name="矩形 6"/>
            <p:cNvSpPr/>
            <p:nvPr/>
          </p:nvSpPr>
          <p:spPr>
            <a:xfrm>
              <a:off x="7451494" y="4146702"/>
              <a:ext cx="877163" cy="369332"/>
            </a:xfrm>
            <a:prstGeom prst="rect">
              <a:avLst/>
            </a:prstGeom>
          </p:spPr>
          <p:txBody>
            <a:bodyPr wrap="none">
              <a:spAutoFit/>
            </a:bodyPr>
            <a:lstStyle/>
            <a:p>
              <a:r>
                <a:rPr lang="zh-CN" altLang="en-US" b="1" dirty="0"/>
                <a:t>胡桃冠</a:t>
              </a:r>
            </a:p>
          </p:txBody>
        </p:sp>
        <p:sp>
          <p:nvSpPr>
            <p:cNvPr id="13" name="矩形 12"/>
            <p:cNvSpPr/>
            <p:nvPr/>
          </p:nvSpPr>
          <p:spPr>
            <a:xfrm>
              <a:off x="8747858" y="4150125"/>
              <a:ext cx="877163" cy="369332"/>
            </a:xfrm>
            <a:prstGeom prst="rect">
              <a:avLst/>
            </a:prstGeom>
          </p:spPr>
          <p:txBody>
            <a:bodyPr wrap="none">
              <a:spAutoFit/>
            </a:bodyPr>
            <a:lstStyle/>
            <a:p>
              <a:r>
                <a:rPr lang="zh-CN" altLang="en-US" b="1" dirty="0"/>
                <a:t>玫瑰冠</a:t>
              </a:r>
            </a:p>
          </p:txBody>
        </p:sp>
        <p:sp>
          <p:nvSpPr>
            <p:cNvPr id="15" name="矩形 14"/>
            <p:cNvSpPr/>
            <p:nvPr/>
          </p:nvSpPr>
          <p:spPr>
            <a:xfrm>
              <a:off x="10080877" y="4168276"/>
              <a:ext cx="877163" cy="369332"/>
            </a:xfrm>
            <a:prstGeom prst="rect">
              <a:avLst/>
            </a:prstGeom>
          </p:spPr>
          <p:txBody>
            <a:bodyPr wrap="none">
              <a:spAutoFit/>
            </a:bodyPr>
            <a:lstStyle/>
            <a:p>
              <a:r>
                <a:rPr lang="zh-CN" altLang="en-US" b="1" dirty="0"/>
                <a:t>豌豆冠</a:t>
              </a:r>
            </a:p>
          </p:txBody>
        </p:sp>
        <p:sp>
          <p:nvSpPr>
            <p:cNvPr id="16" name="矩形 15"/>
            <p:cNvSpPr/>
            <p:nvPr/>
          </p:nvSpPr>
          <p:spPr>
            <a:xfrm>
              <a:off x="11398130" y="4183273"/>
              <a:ext cx="646331" cy="369332"/>
            </a:xfrm>
            <a:prstGeom prst="rect">
              <a:avLst/>
            </a:prstGeom>
          </p:spPr>
          <p:txBody>
            <a:bodyPr wrap="none">
              <a:spAutoFit/>
            </a:bodyPr>
            <a:lstStyle/>
            <a:p>
              <a:r>
                <a:rPr lang="zh-CN" altLang="en-US" b="1" dirty="0"/>
                <a:t>单冠</a:t>
              </a:r>
            </a:p>
          </p:txBody>
        </p:sp>
      </p:grpSp>
    </p:spTree>
    <p:extLst>
      <p:ext uri="{BB962C8B-B14F-4D97-AF65-F5344CB8AC3E}">
        <p14:creationId xmlns:p14="http://schemas.microsoft.com/office/powerpoint/2010/main" val="156776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D3408E3-B408-4FAB-9F36-149595408D8F}"/>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58170" y="820167"/>
            <a:ext cx="5990647" cy="4661443"/>
          </a:xfrm>
          <a:prstGeom prst="rect">
            <a:avLst/>
          </a:prstGeom>
        </p:spPr>
      </p:pic>
      <p:sp>
        <p:nvSpPr>
          <p:cNvPr id="6" name="文本框 5">
            <a:extLst>
              <a:ext uri="{FF2B5EF4-FFF2-40B4-BE49-F238E27FC236}">
                <a16:creationId xmlns:a16="http://schemas.microsoft.com/office/drawing/2014/main" id="{9B1CF5A7-348F-491A-848F-9F931E7A9E8B}"/>
              </a:ext>
            </a:extLst>
          </p:cNvPr>
          <p:cNvSpPr txBox="1"/>
          <p:nvPr/>
        </p:nvSpPr>
        <p:spPr>
          <a:xfrm>
            <a:off x="6449437" y="1139506"/>
            <a:ext cx="5570504" cy="1949508"/>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altLang="zh-CN" sz="2800" b="1" i="1" dirty="0">
                <a:latin typeface="Times New Roman" pitchFamily="18" charset="0"/>
                <a:ea typeface="黑体" pitchFamily="49" charset="-122"/>
                <a:cs typeface="Times New Roman" pitchFamily="18" charset="0"/>
              </a:rPr>
              <a:t>R</a:t>
            </a:r>
            <a:r>
              <a:rPr lang="en-US" altLang="zh-CN" sz="2800" b="1" dirty="0">
                <a:latin typeface="Times New Roman" pitchFamily="18" charset="0"/>
                <a:ea typeface="黑体" pitchFamily="49" charset="-122"/>
                <a:cs typeface="Times New Roman" pitchFamily="18" charset="0"/>
              </a:rPr>
              <a:t> </a:t>
            </a:r>
            <a:r>
              <a:rPr lang="zh-CN" altLang="en-US" sz="2800" b="1" dirty="0">
                <a:latin typeface="Times New Roman" pitchFamily="18" charset="0"/>
                <a:ea typeface="黑体" pitchFamily="49" charset="-122"/>
                <a:cs typeface="Times New Roman" pitchFamily="18" charset="0"/>
              </a:rPr>
              <a:t>与 </a:t>
            </a:r>
            <a:r>
              <a:rPr lang="en-US" altLang="zh-CN" sz="2800" b="1" i="1" dirty="0">
                <a:latin typeface="Times New Roman" pitchFamily="18" charset="0"/>
                <a:ea typeface="黑体" pitchFamily="49" charset="-122"/>
                <a:cs typeface="Times New Roman" pitchFamily="18" charset="0"/>
              </a:rPr>
              <a:t>P</a:t>
            </a:r>
            <a:r>
              <a:rPr lang="en-US" altLang="zh-CN" sz="2800" b="1" dirty="0">
                <a:latin typeface="Times New Roman" pitchFamily="18" charset="0"/>
                <a:ea typeface="黑体" pitchFamily="49" charset="-122"/>
                <a:cs typeface="Times New Roman" pitchFamily="18" charset="0"/>
              </a:rPr>
              <a:t> </a:t>
            </a:r>
            <a:r>
              <a:rPr lang="zh-CN" altLang="en-US" sz="2800" b="1" dirty="0">
                <a:latin typeface="Times New Roman" pitchFamily="18" charset="0"/>
                <a:ea typeface="黑体" pitchFamily="49" charset="-122"/>
                <a:cs typeface="Times New Roman" pitchFamily="18" charset="0"/>
              </a:rPr>
              <a:t>是互补的， 形成了胡桃冠，</a:t>
            </a:r>
            <a:r>
              <a:rPr lang="en-US" altLang="zh-CN" sz="2800" b="1" i="1" dirty="0">
                <a:latin typeface="Times New Roman" pitchFamily="18" charset="0"/>
                <a:ea typeface="黑体" pitchFamily="49" charset="-122"/>
                <a:cs typeface="Times New Roman" pitchFamily="18" charset="0"/>
              </a:rPr>
              <a:t>r</a:t>
            </a:r>
            <a:r>
              <a:rPr lang="en-US" altLang="zh-CN" sz="2800" b="1" dirty="0">
                <a:latin typeface="Times New Roman" pitchFamily="18" charset="0"/>
                <a:ea typeface="黑体" pitchFamily="49" charset="-122"/>
                <a:cs typeface="Times New Roman" pitchFamily="18" charset="0"/>
              </a:rPr>
              <a:t> </a:t>
            </a:r>
            <a:r>
              <a:rPr lang="zh-CN" altLang="en-US" sz="2800" b="1" dirty="0">
                <a:latin typeface="Times New Roman" pitchFamily="18" charset="0"/>
                <a:ea typeface="黑体" pitchFamily="49" charset="-122"/>
                <a:cs typeface="Times New Roman" pitchFamily="18" charset="0"/>
              </a:rPr>
              <a:t>与 </a:t>
            </a:r>
            <a:r>
              <a:rPr lang="en-US" altLang="zh-CN" sz="2800" b="1" i="1" dirty="0">
                <a:latin typeface="Times New Roman" pitchFamily="18" charset="0"/>
                <a:ea typeface="黑体" pitchFamily="49" charset="-122"/>
                <a:cs typeface="Times New Roman" pitchFamily="18" charset="0"/>
              </a:rPr>
              <a:t>p</a:t>
            </a:r>
            <a:r>
              <a:rPr lang="en-US" altLang="zh-CN" sz="2800" b="1" dirty="0">
                <a:latin typeface="Times New Roman" pitchFamily="18" charset="0"/>
                <a:ea typeface="黑体" pitchFamily="49" charset="-122"/>
                <a:cs typeface="Times New Roman" pitchFamily="18" charset="0"/>
              </a:rPr>
              <a:t> </a:t>
            </a:r>
            <a:r>
              <a:rPr lang="zh-CN" altLang="en-US" sz="2800" b="1" dirty="0">
                <a:latin typeface="Times New Roman" pitchFamily="18" charset="0"/>
                <a:ea typeface="黑体" pitchFamily="49" charset="-122"/>
                <a:cs typeface="Times New Roman" pitchFamily="18" charset="0"/>
              </a:rPr>
              <a:t>是互补的，形成了单冠。</a:t>
            </a:r>
            <a:endParaRPr lang="en-US" altLang="zh-CN" sz="2800" b="1" dirty="0">
              <a:latin typeface="Times New Roman" pitchFamily="18" charset="0"/>
              <a:ea typeface="黑体" pitchFamily="49" charset="-122"/>
              <a:cs typeface="Times New Roman" pitchFamily="18" charset="0"/>
            </a:endParaRPr>
          </a:p>
          <a:p>
            <a:pPr marL="285750" indent="-285750">
              <a:lnSpc>
                <a:spcPct val="150000"/>
              </a:lnSpc>
              <a:buFont typeface="Wingdings" panose="05000000000000000000" pitchFamily="2" charset="2"/>
              <a:buChar char="Ø"/>
            </a:pPr>
            <a:r>
              <a:rPr lang="zh-CN" altLang="en-US" sz="2800" b="1" i="1" dirty="0">
                <a:latin typeface="Times New Roman" pitchFamily="18" charset="0"/>
                <a:ea typeface="黑体" pitchFamily="49" charset="-122"/>
                <a:cs typeface="Times New Roman" pitchFamily="18" charset="0"/>
              </a:rPr>
              <a:t> </a:t>
            </a:r>
            <a:r>
              <a:rPr lang="en-US" altLang="zh-CN" sz="2800" b="1" i="1" dirty="0">
                <a:latin typeface="Times New Roman" pitchFamily="18" charset="0"/>
                <a:ea typeface="黑体" pitchFamily="49" charset="-122"/>
                <a:cs typeface="Times New Roman" pitchFamily="18" charset="0"/>
              </a:rPr>
              <a:t>R </a:t>
            </a:r>
            <a:r>
              <a:rPr lang="zh-CN" altLang="en-US" sz="2800" b="1" dirty="0">
                <a:latin typeface="Times New Roman" pitchFamily="18" charset="0"/>
                <a:ea typeface="黑体" pitchFamily="49" charset="-122"/>
                <a:cs typeface="Times New Roman" pitchFamily="18" charset="0"/>
              </a:rPr>
              <a:t>与 </a:t>
            </a:r>
            <a:r>
              <a:rPr lang="en-US" altLang="zh-CN" sz="2800" b="1" i="1" dirty="0">
                <a:latin typeface="Times New Roman" pitchFamily="18" charset="0"/>
                <a:ea typeface="黑体" pitchFamily="49" charset="-122"/>
                <a:cs typeface="Times New Roman" pitchFamily="18" charset="0"/>
              </a:rPr>
              <a:t>P</a:t>
            </a:r>
            <a:r>
              <a:rPr lang="zh-CN" altLang="en-US" sz="2800" b="1" dirty="0">
                <a:latin typeface="Times New Roman" pitchFamily="18" charset="0"/>
                <a:ea typeface="黑体" pitchFamily="49" charset="-122"/>
                <a:cs typeface="Times New Roman" pitchFamily="18" charset="0"/>
              </a:rPr>
              <a:t>，</a:t>
            </a:r>
            <a:r>
              <a:rPr lang="en-US" altLang="zh-CN" sz="2800" b="1" i="1" dirty="0">
                <a:latin typeface="Times New Roman" pitchFamily="18" charset="0"/>
                <a:ea typeface="黑体" pitchFamily="49" charset="-122"/>
                <a:cs typeface="Times New Roman" pitchFamily="18" charset="0"/>
              </a:rPr>
              <a:t>r </a:t>
            </a:r>
            <a:r>
              <a:rPr lang="zh-CN" altLang="en-US" sz="2800" b="1" dirty="0">
                <a:latin typeface="Times New Roman" pitchFamily="18" charset="0"/>
                <a:ea typeface="黑体" pitchFamily="49" charset="-122"/>
                <a:cs typeface="Times New Roman" pitchFamily="18" charset="0"/>
              </a:rPr>
              <a:t>与 </a:t>
            </a:r>
            <a:r>
              <a:rPr lang="en-US" altLang="zh-CN" sz="2800" b="1" i="1" dirty="0">
                <a:latin typeface="Times New Roman" pitchFamily="18" charset="0"/>
                <a:ea typeface="黑体" pitchFamily="49" charset="-122"/>
                <a:cs typeface="Times New Roman" pitchFamily="18" charset="0"/>
              </a:rPr>
              <a:t>p</a:t>
            </a:r>
            <a:r>
              <a:rPr lang="en-US" altLang="zh-CN" sz="2800" b="1" dirty="0">
                <a:latin typeface="Times New Roman" pitchFamily="18" charset="0"/>
                <a:ea typeface="黑体" pitchFamily="49" charset="-122"/>
                <a:cs typeface="Times New Roman" pitchFamily="18" charset="0"/>
              </a:rPr>
              <a:t> </a:t>
            </a:r>
            <a:r>
              <a:rPr lang="zh-CN" altLang="en-US" sz="2800" b="1" dirty="0">
                <a:latin typeface="Times New Roman" pitchFamily="18" charset="0"/>
                <a:ea typeface="黑体" pitchFamily="49" charset="-122"/>
                <a:cs typeface="Times New Roman" pitchFamily="18" charset="0"/>
              </a:rPr>
              <a:t>是互补基因。</a:t>
            </a:r>
          </a:p>
        </p:txBody>
      </p:sp>
      <p:sp>
        <p:nvSpPr>
          <p:cNvPr id="7" name="灯片编号占位符 2">
            <a:extLst>
              <a:ext uri="{FF2B5EF4-FFF2-40B4-BE49-F238E27FC236}">
                <a16:creationId xmlns:a16="http://schemas.microsoft.com/office/drawing/2014/main" id="{1300EE2D-627C-431F-88C9-005C3C7AEC79}"/>
              </a:ext>
            </a:extLst>
          </p:cNvPr>
          <p:cNvSpPr txBox="1">
            <a:spLocks/>
          </p:cNvSpPr>
          <p:nvPr/>
        </p:nvSpPr>
        <p:spPr>
          <a:xfrm>
            <a:off x="11614637" y="6383645"/>
            <a:ext cx="577363" cy="365125"/>
          </a:xfrm>
          <a:prstGeom prst="rect">
            <a:avLst/>
          </a:prstGeom>
        </p:spPr>
        <p:txBody>
          <a:bodyPr vert="horz" lIns="91440" tIns="45720" rIns="91440" bIns="45720" rtlCol="0" anchor="ctr"/>
          <a:lstStyle>
            <a:defPPr>
              <a:defRPr lang="zh-CN"/>
            </a:defPPr>
            <a:lvl1pPr algn="r">
              <a:defRPr sz="12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751D38-C989-48BC-B1AB-387F6E8DCEB6}" type="slidenum">
              <a:rPr lang="zh-CN" altLang="en-US"/>
              <a:pPr/>
              <a:t>36</a:t>
            </a:fld>
            <a:endParaRPr lang="zh-CN" altLang="en-US" dirty="0"/>
          </a:p>
        </p:txBody>
      </p:sp>
    </p:spTree>
    <p:extLst>
      <p:ext uri="{BB962C8B-B14F-4D97-AF65-F5344CB8AC3E}">
        <p14:creationId xmlns:p14="http://schemas.microsoft.com/office/powerpoint/2010/main" val="402757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77EFB77-ECCE-4750-B953-CE17F43688D6}"/>
              </a:ext>
            </a:extLst>
          </p:cNvPr>
          <p:cNvSpPr txBox="1"/>
          <p:nvPr/>
        </p:nvSpPr>
        <p:spPr>
          <a:xfrm>
            <a:off x="90261" y="1917169"/>
            <a:ext cx="6175785" cy="954107"/>
          </a:xfrm>
          <a:prstGeom prst="rect">
            <a:avLst/>
          </a:prstGeom>
          <a:noFill/>
        </p:spPr>
        <p:txBody>
          <a:bodyPr wrap="square">
            <a:spAutoFit/>
          </a:bodyPr>
          <a:lstStyle>
            <a:defPPr>
              <a:defRPr lang="zh-CN"/>
            </a:defPPr>
            <a:lvl1pPr marL="285750" indent="-285750">
              <a:lnSpc>
                <a:spcPct val="150000"/>
              </a:lnSpc>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pPr marL="0">
              <a:lnSpc>
                <a:spcPct val="100000"/>
              </a:lnSpc>
            </a:pPr>
            <a:r>
              <a:rPr lang="zh-CN" altLang="en-US" sz="2800" b="1" dirty="0">
                <a:ea typeface="黑体" pitchFamily="49" charset="-122"/>
              </a:rPr>
              <a:t>白花品种</a:t>
            </a:r>
            <a:r>
              <a:rPr lang="en-US" altLang="zh-CN" sz="2800" b="1" dirty="0">
                <a:ea typeface="黑体" pitchFamily="49" charset="-122"/>
              </a:rPr>
              <a:t>A</a:t>
            </a:r>
            <a:r>
              <a:rPr lang="zh-CN" altLang="en-US" sz="2800" b="1" dirty="0">
                <a:ea typeface="黑体" pitchFamily="49" charset="-122"/>
              </a:rPr>
              <a:t>与白花品种</a:t>
            </a:r>
            <a:r>
              <a:rPr lang="en-US" altLang="zh-CN" sz="2800" b="1" dirty="0">
                <a:ea typeface="黑体" pitchFamily="49" charset="-122"/>
              </a:rPr>
              <a:t>B</a:t>
            </a:r>
            <a:r>
              <a:rPr lang="zh-CN" altLang="en-US" sz="2800" b="1" dirty="0">
                <a:ea typeface="黑体" pitchFamily="49" charset="-122"/>
              </a:rPr>
              <a:t>杂交，</a:t>
            </a:r>
            <a:r>
              <a:rPr lang="en-US" altLang="zh-CN" sz="2800" b="1" dirty="0">
                <a:ea typeface="黑体" pitchFamily="49" charset="-122"/>
              </a:rPr>
              <a:t>F</a:t>
            </a:r>
            <a:r>
              <a:rPr lang="en-US" altLang="zh-CN" sz="2800" b="1" baseline="-25000" dirty="0">
                <a:ea typeface="黑体" pitchFamily="49" charset="-122"/>
              </a:rPr>
              <a:t>1</a:t>
            </a:r>
            <a:r>
              <a:rPr lang="zh-CN" altLang="en-US" sz="2800" b="1" dirty="0">
                <a:ea typeface="黑体" pitchFamily="49" charset="-122"/>
              </a:rPr>
              <a:t>全是红花，</a:t>
            </a:r>
            <a:r>
              <a:rPr lang="en-US" altLang="zh-CN" sz="2800" b="1" dirty="0">
                <a:ea typeface="黑体" pitchFamily="49" charset="-122"/>
              </a:rPr>
              <a:t>F</a:t>
            </a:r>
            <a:r>
              <a:rPr lang="en-US" altLang="zh-CN" sz="2800" b="1" baseline="-25000" dirty="0">
                <a:ea typeface="黑体" pitchFamily="49" charset="-122"/>
              </a:rPr>
              <a:t>2</a:t>
            </a:r>
            <a:r>
              <a:rPr lang="zh-CN" altLang="en-US" sz="2800" b="1" dirty="0">
                <a:ea typeface="黑体" pitchFamily="49" charset="-122"/>
              </a:rPr>
              <a:t>红花比白花是 </a:t>
            </a:r>
            <a:r>
              <a:rPr lang="en-US" altLang="zh-CN" sz="2800" b="1" dirty="0">
                <a:ea typeface="黑体" pitchFamily="49" charset="-122"/>
              </a:rPr>
              <a:t>9∶7</a:t>
            </a:r>
            <a:r>
              <a:rPr lang="zh-CN" altLang="en-US" sz="2800" b="1" dirty="0">
                <a:ea typeface="黑体" pitchFamily="49" charset="-122"/>
              </a:rPr>
              <a:t>。</a:t>
            </a:r>
            <a:endParaRPr lang="en-US" altLang="zh-CN" sz="2800" b="1" dirty="0">
              <a:ea typeface="黑体" pitchFamily="49" charset="-122"/>
            </a:endParaRPr>
          </a:p>
        </p:txBody>
      </p:sp>
      <p:sp>
        <p:nvSpPr>
          <p:cNvPr id="5" name="灯片编号占位符 2">
            <a:extLst>
              <a:ext uri="{FF2B5EF4-FFF2-40B4-BE49-F238E27FC236}">
                <a16:creationId xmlns:a16="http://schemas.microsoft.com/office/drawing/2014/main" id="{1DB228E4-3EE6-410F-BD57-B386AB7E461C}"/>
              </a:ext>
            </a:extLst>
          </p:cNvPr>
          <p:cNvSpPr txBox="1">
            <a:spLocks/>
          </p:cNvSpPr>
          <p:nvPr/>
        </p:nvSpPr>
        <p:spPr>
          <a:xfrm>
            <a:off x="11353799" y="6356350"/>
            <a:ext cx="577363" cy="365125"/>
          </a:xfrm>
          <a:prstGeom prst="rect">
            <a:avLst/>
          </a:prstGeom>
        </p:spPr>
        <p:txBody>
          <a:bodyPr vert="horz" lIns="91440" tIns="45720" rIns="91440" bIns="45720" rtlCol="0" anchor="ctr"/>
          <a:lstStyle>
            <a:defPPr>
              <a:defRPr lang="zh-CN"/>
            </a:defPPr>
            <a:lvl1pPr algn="r">
              <a:defRPr sz="12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751D38-C989-48BC-B1AB-387F6E8DCEB6}" type="slidenum">
              <a:rPr lang="zh-CN" altLang="en-US"/>
              <a:pPr/>
              <a:t>37</a:t>
            </a:fld>
            <a:endParaRPr lang="zh-CN" altLang="en-US" dirty="0"/>
          </a:p>
        </p:txBody>
      </p:sp>
      <p:sp>
        <p:nvSpPr>
          <p:cNvPr id="4" name="矩形 3"/>
          <p:cNvSpPr/>
          <p:nvPr/>
        </p:nvSpPr>
        <p:spPr>
          <a:xfrm>
            <a:off x="290234" y="478389"/>
            <a:ext cx="4331635" cy="559897"/>
          </a:xfrm>
          <a:prstGeom prst="rect">
            <a:avLst/>
          </a:prstGeom>
        </p:spPr>
        <p:txBody>
          <a:bodyPr wrap="none">
            <a:spAutoFit/>
          </a:bodyPr>
          <a:lstStyle/>
          <a:p>
            <a:pPr marL="0" lvl="1">
              <a:lnSpc>
                <a:spcPct val="120000"/>
              </a:lnSpc>
            </a:pPr>
            <a:r>
              <a:rPr lang="zh-CN" altLang="en-US" sz="2800" b="1" dirty="0">
                <a:solidFill>
                  <a:srgbClr val="FF0000"/>
                </a:solidFill>
                <a:latin typeface="Times New Roman" pitchFamily="18" charset="0"/>
                <a:ea typeface="黑体" pitchFamily="49" charset="-122"/>
                <a:cs typeface="Times New Roman" panose="02020603050405020304" pitchFamily="18" charset="0"/>
              </a:rPr>
              <a:t>案例</a:t>
            </a:r>
            <a:r>
              <a:rPr lang="en-US" altLang="zh-CN" sz="2800" b="1" dirty="0">
                <a:solidFill>
                  <a:srgbClr val="FF0000"/>
                </a:solidFill>
                <a:latin typeface="Times New Roman" pitchFamily="18" charset="0"/>
                <a:ea typeface="黑体" pitchFamily="49" charset="-122"/>
                <a:cs typeface="Times New Roman" panose="02020603050405020304" pitchFamily="18" charset="0"/>
              </a:rPr>
              <a:t>2</a:t>
            </a:r>
            <a:r>
              <a:rPr lang="zh-CN" altLang="en-US" sz="2800" b="1" dirty="0">
                <a:solidFill>
                  <a:srgbClr val="FF0000"/>
                </a:solidFill>
                <a:latin typeface="Times New Roman" pitchFamily="18" charset="0"/>
                <a:ea typeface="黑体" pitchFamily="49" charset="-122"/>
                <a:cs typeface="Times New Roman" panose="02020603050405020304" pitchFamily="18" charset="0"/>
              </a:rPr>
              <a:t>：香豌豆花色的遗传</a:t>
            </a:r>
            <a:endParaRPr lang="en-US" altLang="zh-CN" sz="2800" b="1" dirty="0">
              <a:solidFill>
                <a:srgbClr val="FF0000"/>
              </a:solidFill>
              <a:latin typeface="Times New Roman" pitchFamily="18" charset="0"/>
              <a:ea typeface="黑体" pitchFamily="49" charset="-122"/>
              <a:cs typeface="Times New Roman" panose="02020603050405020304" pitchFamily="18" charset="0"/>
            </a:endParaRPr>
          </a:p>
        </p:txBody>
      </p:sp>
      <p:pic>
        <p:nvPicPr>
          <p:cNvPr id="1026" name="Picture 2"/>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6266046" y="758337"/>
            <a:ext cx="5847759" cy="5188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68976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2"/>
          <p:cNvSpPr>
            <a:spLocks noGrp="1" noRot="1" noChangeArrowheads="1"/>
          </p:cNvSpPr>
          <p:nvPr>
            <p:ph type="title"/>
          </p:nvPr>
        </p:nvSpPr>
        <p:spPr>
          <a:xfrm>
            <a:off x="99474" y="0"/>
            <a:ext cx="10515600" cy="663575"/>
          </a:xfrm>
        </p:spPr>
        <p:txBody>
          <a:bodyPr vert="horz" lIns="91440" tIns="45720" rIns="91440" bIns="45720" rtlCol="0" anchor="ctr">
            <a:normAutofit/>
          </a:bodyPr>
          <a:lstStyle/>
          <a:p>
            <a:r>
              <a:rPr lang="en-US" altLang="zh-CN" sz="3600" b="1" dirty="0">
                <a:solidFill>
                  <a:srgbClr val="0000FF"/>
                </a:solidFill>
                <a:latin typeface="黑体" panose="02010600030101010101" pitchFamily="49" charset="-122"/>
                <a:ea typeface="黑体" panose="02010600030101010101" pitchFamily="49" charset="-122"/>
              </a:rPr>
              <a:t>2.</a:t>
            </a:r>
            <a:r>
              <a:rPr lang="zh-CN" altLang="en-US" sz="3600" b="1" dirty="0">
                <a:solidFill>
                  <a:srgbClr val="0000FF"/>
                </a:solidFill>
                <a:latin typeface="黑体" panose="02010600030101010101" pitchFamily="49" charset="-122"/>
                <a:ea typeface="黑体" panose="02010600030101010101" pitchFamily="49" charset="-122"/>
              </a:rPr>
              <a:t>积加作用</a:t>
            </a:r>
          </a:p>
        </p:txBody>
      </p:sp>
      <p:sp>
        <p:nvSpPr>
          <p:cNvPr id="102403" name="Rectangle 3"/>
          <p:cNvSpPr>
            <a:spLocks noGrp="1" noRot="1" noChangeArrowheads="1"/>
          </p:cNvSpPr>
          <p:nvPr>
            <p:ph type="body" idx="1"/>
          </p:nvPr>
        </p:nvSpPr>
        <p:spPr>
          <a:xfrm>
            <a:off x="98906" y="2167124"/>
            <a:ext cx="7181786" cy="1384995"/>
          </a:xfrm>
          <a:noFill/>
        </p:spPr>
        <p:txBody>
          <a:bodyPr wrap="square">
            <a:spAutoFit/>
          </a:bodyPr>
          <a:lstStyle/>
          <a:p>
            <a:pPr marL="0" indent="0">
              <a:lnSpc>
                <a:spcPct val="100000"/>
              </a:lnSpc>
              <a:buNone/>
            </a:pPr>
            <a:r>
              <a:rPr lang="zh-CN" altLang="en-US" b="1" dirty="0">
                <a:latin typeface="Times New Roman" panose="02020603050405020304" pitchFamily="18" charset="0"/>
                <a:ea typeface="黑体" pitchFamily="49" charset="-122"/>
                <a:cs typeface="Times New Roman" panose="02020603050405020304" pitchFamily="18" charset="0"/>
              </a:rPr>
              <a:t>南瓜有不同的果形，用两种不同基因型的圆球形品种杂交，</a:t>
            </a:r>
            <a:r>
              <a:rPr lang="en-US" altLang="zh-CN" b="1" dirty="0">
                <a:latin typeface="Times New Roman" panose="02020603050405020304" pitchFamily="18" charset="0"/>
                <a:ea typeface="黑体" pitchFamily="49" charset="-122"/>
                <a:cs typeface="Times New Roman" panose="02020603050405020304" pitchFamily="18" charset="0"/>
              </a:rPr>
              <a:t>F</a:t>
            </a:r>
            <a:r>
              <a:rPr lang="en-US" altLang="zh-CN" b="1" baseline="-25000" dirty="0">
                <a:latin typeface="Times New Roman" panose="02020603050405020304" pitchFamily="18" charset="0"/>
                <a:ea typeface="黑体" pitchFamily="49" charset="-122"/>
                <a:cs typeface="Times New Roman" panose="02020603050405020304" pitchFamily="18" charset="0"/>
              </a:rPr>
              <a:t>1</a:t>
            </a:r>
            <a:r>
              <a:rPr lang="zh-CN" altLang="en-US" b="1" dirty="0">
                <a:latin typeface="Times New Roman" panose="02020603050405020304" pitchFamily="18" charset="0"/>
                <a:ea typeface="黑体" pitchFamily="49" charset="-122"/>
                <a:cs typeface="Times New Roman" panose="02020603050405020304" pitchFamily="18" charset="0"/>
              </a:rPr>
              <a:t>产生扁盘形，</a:t>
            </a:r>
            <a:r>
              <a:rPr lang="en-US" altLang="zh-CN" b="1" dirty="0">
                <a:latin typeface="Times New Roman" panose="02020603050405020304" pitchFamily="18" charset="0"/>
                <a:ea typeface="黑体" pitchFamily="49" charset="-122"/>
                <a:cs typeface="Times New Roman" panose="02020603050405020304" pitchFamily="18" charset="0"/>
              </a:rPr>
              <a:t>F</a:t>
            </a:r>
            <a:r>
              <a:rPr lang="en-US" altLang="zh-CN" b="1" baseline="-25000" dirty="0">
                <a:latin typeface="Times New Roman" panose="02020603050405020304" pitchFamily="18" charset="0"/>
                <a:ea typeface="黑体" pitchFamily="49" charset="-122"/>
                <a:cs typeface="Times New Roman" panose="02020603050405020304" pitchFamily="18" charset="0"/>
              </a:rPr>
              <a:t>2</a:t>
            </a:r>
            <a:r>
              <a:rPr lang="zh-CN" altLang="en-US" b="1" dirty="0">
                <a:latin typeface="Times New Roman" panose="02020603050405020304" pitchFamily="18" charset="0"/>
                <a:ea typeface="黑体" pitchFamily="49" charset="-122"/>
                <a:cs typeface="Times New Roman" panose="02020603050405020304" pitchFamily="18" charset="0"/>
              </a:rPr>
              <a:t>出现三种果形：</a:t>
            </a:r>
            <a:r>
              <a:rPr lang="en-US" altLang="zh-CN" b="1" dirty="0">
                <a:latin typeface="Times New Roman" panose="02020603050405020304" pitchFamily="18" charset="0"/>
                <a:ea typeface="黑体" pitchFamily="49" charset="-122"/>
                <a:cs typeface="Times New Roman" panose="02020603050405020304" pitchFamily="18" charset="0"/>
              </a:rPr>
              <a:t>9/16</a:t>
            </a:r>
            <a:r>
              <a:rPr lang="zh-CN" altLang="en-US" b="1" dirty="0">
                <a:latin typeface="Times New Roman" panose="02020603050405020304" pitchFamily="18" charset="0"/>
                <a:ea typeface="黑体" pitchFamily="49" charset="-122"/>
                <a:cs typeface="Times New Roman" panose="02020603050405020304" pitchFamily="18" charset="0"/>
              </a:rPr>
              <a:t>扁盘形，</a:t>
            </a:r>
            <a:r>
              <a:rPr lang="en-US" altLang="zh-CN" b="1" dirty="0">
                <a:latin typeface="Times New Roman" panose="02020603050405020304" pitchFamily="18" charset="0"/>
                <a:ea typeface="黑体" pitchFamily="49" charset="-122"/>
                <a:cs typeface="Times New Roman" panose="02020603050405020304" pitchFamily="18" charset="0"/>
              </a:rPr>
              <a:t>6/16</a:t>
            </a:r>
            <a:r>
              <a:rPr lang="zh-CN" altLang="en-US" b="1" dirty="0">
                <a:latin typeface="Times New Roman" panose="02020603050405020304" pitchFamily="18" charset="0"/>
                <a:ea typeface="黑体" pitchFamily="49" charset="-122"/>
                <a:cs typeface="Times New Roman" panose="02020603050405020304" pitchFamily="18" charset="0"/>
              </a:rPr>
              <a:t>圆球形，</a:t>
            </a:r>
            <a:r>
              <a:rPr lang="en-US" altLang="zh-CN" b="1" dirty="0">
                <a:latin typeface="Times New Roman" panose="02020603050405020304" pitchFamily="18" charset="0"/>
                <a:ea typeface="黑体" pitchFamily="49" charset="-122"/>
                <a:cs typeface="Times New Roman" panose="02020603050405020304" pitchFamily="18" charset="0"/>
              </a:rPr>
              <a:t>1/16</a:t>
            </a:r>
            <a:r>
              <a:rPr lang="zh-CN" altLang="en-US" b="1" dirty="0">
                <a:latin typeface="Times New Roman" panose="02020603050405020304" pitchFamily="18" charset="0"/>
                <a:ea typeface="黑体" pitchFamily="49" charset="-122"/>
                <a:cs typeface="Times New Roman" panose="02020603050405020304" pitchFamily="18" charset="0"/>
              </a:rPr>
              <a:t>长圆形。</a:t>
            </a:r>
            <a:endParaRPr lang="en-US" altLang="zh-CN" b="1" dirty="0">
              <a:latin typeface="Times New Roman" panose="02020603050405020304" pitchFamily="18" charset="0"/>
              <a:ea typeface="黑体" pitchFamily="49" charset="-122"/>
              <a:cs typeface="Times New Roman" panose="02020603050405020304" pitchFamily="18" charset="0"/>
            </a:endParaRPr>
          </a:p>
        </p:txBody>
      </p:sp>
      <p:pic>
        <p:nvPicPr>
          <p:cNvPr id="103427" name="Picture 3" descr="图3-5-5"/>
          <p:cNvPicPr>
            <a:picLocks noChangeAspect="1" noChangeArrowheads="1"/>
          </p:cNvPicPr>
          <p:nvPr/>
        </p:nvPicPr>
        <p:blipFill>
          <a:blip r:embed="rId4">
            <a:extLst>
              <a:ext uri="{28A0092B-C50C-407E-A947-70E740481C1C}">
                <a14:useLocalDpi xmlns:a14="http://schemas.microsoft.com/office/drawing/2010/main" val="0"/>
              </a:ext>
            </a:extLst>
          </a:blip>
          <a:srcRect l="17943" r="24918"/>
          <a:stretch>
            <a:fillRect/>
          </a:stretch>
        </p:blipFill>
        <p:spPr bwMode="auto">
          <a:xfrm>
            <a:off x="7424515" y="1257587"/>
            <a:ext cx="4365062" cy="5275232"/>
          </a:xfrm>
          <a:prstGeom prst="rect">
            <a:avLst/>
          </a:prstGeom>
          <a:noFill/>
          <a:extLst>
            <a:ext uri="{909E8E84-426E-40DD-AFC4-6F175D3DCCD1}">
              <a14:hiddenFill xmlns:a14="http://schemas.microsoft.com/office/drawing/2010/main">
                <a:solidFill>
                  <a:srgbClr val="FFFFFF"/>
                </a:solidFill>
              </a14:hiddenFill>
            </a:ext>
          </a:extLst>
        </p:spPr>
      </p:pic>
      <p:sp>
        <p:nvSpPr>
          <p:cNvPr id="103426" name="Rectangle 2"/>
          <p:cNvSpPr>
            <a:spLocks noGrp="1" noRot="1" noChangeArrowheads="1"/>
          </p:cNvSpPr>
          <p:nvPr/>
        </p:nvSpPr>
        <p:spPr>
          <a:xfrm>
            <a:off x="5941286" y="3421308"/>
            <a:ext cx="4789538" cy="29041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endParaRPr lang="zh-CN" altLang="en-US" dirty="0"/>
          </a:p>
        </p:txBody>
      </p:sp>
      <p:sp>
        <p:nvSpPr>
          <p:cNvPr id="2" name="矩形 1"/>
          <p:cNvSpPr/>
          <p:nvPr/>
        </p:nvSpPr>
        <p:spPr>
          <a:xfrm>
            <a:off x="98906" y="663575"/>
            <a:ext cx="11919473" cy="954107"/>
          </a:xfrm>
          <a:prstGeom prst="rect">
            <a:avLst/>
          </a:prstGeom>
        </p:spPr>
        <p:txBody>
          <a:bodyPr wrap="square">
            <a:spAutoFit/>
          </a:bodyPr>
          <a:lstStyle/>
          <a:p>
            <a:pPr marL="0" lvl="1" indent="0">
              <a:lnSpc>
                <a:spcPct val="100000"/>
              </a:lnSpc>
              <a:spcBef>
                <a:spcPts val="0"/>
              </a:spcBef>
              <a:buNone/>
            </a:pPr>
            <a:r>
              <a:rPr lang="zh-CN" altLang="en-US" sz="2800" b="1" dirty="0">
                <a:latin typeface="黑体" pitchFamily="49" charset="-122"/>
                <a:ea typeface="黑体" pitchFamily="49" charset="-122"/>
              </a:rPr>
              <a:t>积加作用：两种显性基因同时存在时产生一种性状，单独存在时，分别表现相似的性状。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anim calcmode="lin" valueType="num">
                                      <p:cBhvr additive="base">
                                        <p:cTn id="7" dur="500" fill="hold"/>
                                        <p:tgtEl>
                                          <p:spTgt spid="1024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0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LASER.WAV"/>
                                        </p:tgtEl>
                                      </p:cMediaNode>
                                    </p:audio>
                                  </p:subTnLst>
                                </p:cTn>
                              </p:par>
                              <p:par>
                                <p:cTn id="9" presetID="10" presetClass="entr" presetSubtype="0" fill="hold" nodeType="withEffect">
                                  <p:stCondLst>
                                    <p:cond delay="0"/>
                                  </p:stCondLst>
                                  <p:childTnLst>
                                    <p:set>
                                      <p:cBhvr>
                                        <p:cTn id="10" dur="1" fill="hold">
                                          <p:stCondLst>
                                            <p:cond delay="0"/>
                                          </p:stCondLst>
                                        </p:cTn>
                                        <p:tgtEl>
                                          <p:spTgt spid="103427"/>
                                        </p:tgtEl>
                                        <p:attrNameLst>
                                          <p:attrName>style.visibility</p:attrName>
                                        </p:attrNameLst>
                                      </p:cBhvr>
                                      <p:to>
                                        <p:strVal val="visible"/>
                                      </p:to>
                                    </p:set>
                                    <p:animEffect transition="in" filter="fade">
                                      <p:cBhvr>
                                        <p:cTn id="11" dur="500"/>
                                        <p:tgtEl>
                                          <p:spTgt spid="103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uiExpand="1"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Rot="1" noChangeArrowheads="1"/>
          </p:cNvSpPr>
          <p:nvPr>
            <p:ph type="title"/>
          </p:nvPr>
        </p:nvSpPr>
        <p:spPr>
          <a:xfrm>
            <a:off x="215715" y="75874"/>
            <a:ext cx="10515600" cy="767715"/>
          </a:xfrm>
        </p:spPr>
        <p:txBody>
          <a:bodyPr vert="horz" lIns="91440" tIns="45720" rIns="91440" bIns="45720" rtlCol="0" anchor="ctr">
            <a:normAutofit/>
          </a:bodyPr>
          <a:lstStyle/>
          <a:p>
            <a:r>
              <a:rPr lang="en-US" altLang="zh-CN" sz="3600" b="1" dirty="0">
                <a:solidFill>
                  <a:srgbClr val="0000FF"/>
                </a:solidFill>
                <a:latin typeface="黑体" panose="02010600030101010101" pitchFamily="49" charset="-122"/>
                <a:ea typeface="黑体" panose="02010600030101010101" pitchFamily="49" charset="-122"/>
              </a:rPr>
              <a:t>3.</a:t>
            </a:r>
            <a:r>
              <a:rPr lang="zh-CN" altLang="en-US" sz="3600" b="1" dirty="0">
                <a:solidFill>
                  <a:srgbClr val="0000FF"/>
                </a:solidFill>
                <a:latin typeface="黑体" panose="02010600030101010101" pitchFamily="49" charset="-122"/>
                <a:ea typeface="黑体" panose="02010600030101010101" pitchFamily="49" charset="-122"/>
              </a:rPr>
              <a:t>重叠作用</a:t>
            </a:r>
          </a:p>
        </p:txBody>
      </p:sp>
      <p:sp>
        <p:nvSpPr>
          <p:cNvPr id="104451" name="Rectangle 3"/>
          <p:cNvSpPr>
            <a:spLocks noGrp="1" noRot="1" noChangeArrowheads="1"/>
          </p:cNvSpPr>
          <p:nvPr>
            <p:ph type="body" idx="1"/>
          </p:nvPr>
        </p:nvSpPr>
        <p:spPr>
          <a:xfrm>
            <a:off x="92011" y="1054388"/>
            <a:ext cx="7345238" cy="2805896"/>
          </a:xfrm>
          <a:noFill/>
        </p:spPr>
        <p:txBody>
          <a:bodyPr vert="horz" wrap="square" lIns="91440" tIns="45720" rIns="91440" bIns="45720" rtlCol="0">
            <a:spAutoFit/>
          </a:bodyPr>
          <a:lstStyle/>
          <a:p>
            <a:pPr marL="0" indent="0">
              <a:lnSpc>
                <a:spcPct val="100000"/>
              </a:lnSpc>
              <a:buNone/>
            </a:pPr>
            <a:r>
              <a:rPr lang="zh-CN" altLang="en-US" b="1" dirty="0">
                <a:latin typeface="Times New Roman" panose="02020603050405020304" pitchFamily="18" charset="0"/>
                <a:ea typeface="黑体" pitchFamily="49" charset="-122"/>
                <a:cs typeface="Times New Roman" panose="02020603050405020304" pitchFamily="18" charset="0"/>
              </a:rPr>
              <a:t>重叠作用：不同对基因互作时，对表现型产生相同的影响，</a:t>
            </a:r>
            <a:r>
              <a:rPr lang="en-US" altLang="zh-CN" b="1" dirty="0">
                <a:latin typeface="Times New Roman" panose="02020603050405020304" pitchFamily="18" charset="0"/>
                <a:ea typeface="黑体" pitchFamily="49" charset="-122"/>
                <a:cs typeface="Times New Roman" panose="02020603050405020304" pitchFamily="18" charset="0"/>
              </a:rPr>
              <a:t>F</a:t>
            </a:r>
            <a:r>
              <a:rPr lang="en-US" altLang="zh-CN" b="1" baseline="-25000" dirty="0">
                <a:latin typeface="Times New Roman" panose="02020603050405020304" pitchFamily="18" charset="0"/>
                <a:ea typeface="黑体" pitchFamily="49" charset="-122"/>
                <a:cs typeface="Times New Roman" panose="02020603050405020304" pitchFamily="18" charset="0"/>
              </a:rPr>
              <a:t>2</a:t>
            </a:r>
            <a:r>
              <a:rPr lang="en-US" altLang="zh-CN" b="1" dirty="0">
                <a:latin typeface="Times New Roman" panose="02020603050405020304" pitchFamily="18" charset="0"/>
                <a:ea typeface="黑体" pitchFamily="49" charset="-122"/>
                <a:cs typeface="Times New Roman" panose="02020603050405020304" pitchFamily="18" charset="0"/>
              </a:rPr>
              <a:t> </a:t>
            </a:r>
            <a:r>
              <a:rPr lang="zh-CN" altLang="en-US" b="1" dirty="0">
                <a:latin typeface="Times New Roman" panose="02020603050405020304" pitchFamily="18" charset="0"/>
                <a:ea typeface="黑体" pitchFamily="49" charset="-122"/>
                <a:cs typeface="Times New Roman" panose="02020603050405020304" pitchFamily="18" charset="0"/>
              </a:rPr>
              <a:t>产生</a:t>
            </a:r>
            <a:r>
              <a:rPr lang="en-US" altLang="zh-CN" b="1" dirty="0">
                <a:latin typeface="Times New Roman" panose="02020603050405020304" pitchFamily="18" charset="0"/>
                <a:ea typeface="黑体" pitchFamily="49" charset="-122"/>
                <a:cs typeface="Times New Roman" panose="02020603050405020304" pitchFamily="18" charset="0"/>
              </a:rPr>
              <a:t>15∶1</a:t>
            </a:r>
            <a:r>
              <a:rPr lang="zh-CN" altLang="en-US" b="1" dirty="0">
                <a:latin typeface="Times New Roman" panose="02020603050405020304" pitchFamily="18" charset="0"/>
                <a:ea typeface="黑体" pitchFamily="49" charset="-122"/>
                <a:cs typeface="Times New Roman" panose="02020603050405020304" pitchFamily="18" charset="0"/>
              </a:rPr>
              <a:t>的比例。这类表现相同作用的基因，称为重叠基因。</a:t>
            </a:r>
          </a:p>
          <a:p>
            <a:pPr marL="0" indent="0">
              <a:lnSpc>
                <a:spcPct val="100000"/>
              </a:lnSpc>
              <a:buNone/>
            </a:pPr>
            <a:r>
              <a:rPr lang="zh-CN" altLang="en-US" b="1" dirty="0">
                <a:latin typeface="Times New Roman" panose="02020603050405020304" pitchFamily="18" charset="0"/>
                <a:ea typeface="黑体" pitchFamily="49" charset="-122"/>
                <a:cs typeface="Times New Roman" panose="02020603050405020304" pitchFamily="18" charset="0"/>
              </a:rPr>
              <a:t>例：将荠菜三角形蒴果与卵圆形蒴果植株杂交，</a:t>
            </a:r>
            <a:r>
              <a:rPr lang="en-US" altLang="zh-CN" b="1" dirty="0">
                <a:latin typeface="Times New Roman" panose="02020603050405020304" pitchFamily="18" charset="0"/>
                <a:ea typeface="黑体" pitchFamily="49" charset="-122"/>
                <a:cs typeface="Times New Roman" panose="02020603050405020304" pitchFamily="18" charset="0"/>
              </a:rPr>
              <a:t>F</a:t>
            </a:r>
            <a:r>
              <a:rPr lang="en-US" altLang="zh-CN" b="1" baseline="-25000" dirty="0">
                <a:latin typeface="Times New Roman" panose="02020603050405020304" pitchFamily="18" charset="0"/>
                <a:ea typeface="黑体" pitchFamily="49" charset="-122"/>
                <a:cs typeface="Times New Roman" panose="02020603050405020304" pitchFamily="18" charset="0"/>
              </a:rPr>
              <a:t>1</a:t>
            </a:r>
            <a:r>
              <a:rPr lang="zh-CN" altLang="en-US" b="1" dirty="0">
                <a:latin typeface="Times New Roman" panose="02020603050405020304" pitchFamily="18" charset="0"/>
                <a:ea typeface="黑体" pitchFamily="49" charset="-122"/>
                <a:cs typeface="Times New Roman" panose="02020603050405020304" pitchFamily="18" charset="0"/>
              </a:rPr>
              <a:t>全是三角形蒴果。 </a:t>
            </a:r>
            <a:r>
              <a:rPr lang="en-US" altLang="zh-CN" b="1" dirty="0">
                <a:latin typeface="Times New Roman" panose="02020603050405020304" pitchFamily="18" charset="0"/>
                <a:ea typeface="黑体" pitchFamily="49" charset="-122"/>
                <a:cs typeface="Times New Roman" panose="02020603050405020304" pitchFamily="18" charset="0"/>
              </a:rPr>
              <a:t>F</a:t>
            </a:r>
            <a:r>
              <a:rPr lang="en-US" altLang="zh-CN" b="1" baseline="-25000" dirty="0">
                <a:latin typeface="Times New Roman" panose="02020603050405020304" pitchFamily="18" charset="0"/>
                <a:ea typeface="黑体" pitchFamily="49" charset="-122"/>
                <a:cs typeface="Times New Roman" panose="02020603050405020304" pitchFamily="18" charset="0"/>
              </a:rPr>
              <a:t>2</a:t>
            </a:r>
            <a:r>
              <a:rPr lang="zh-CN" altLang="en-US" b="1" dirty="0">
                <a:latin typeface="Times New Roman" panose="02020603050405020304" pitchFamily="18" charset="0"/>
                <a:ea typeface="黑体" pitchFamily="49" charset="-122"/>
                <a:cs typeface="Times New Roman" panose="02020603050405020304" pitchFamily="18" charset="0"/>
              </a:rPr>
              <a:t>分离为</a:t>
            </a:r>
            <a:r>
              <a:rPr lang="en-US" altLang="zh-CN" b="1" dirty="0">
                <a:latin typeface="Times New Roman" panose="02020603050405020304" pitchFamily="18" charset="0"/>
                <a:ea typeface="黑体" pitchFamily="49" charset="-122"/>
                <a:cs typeface="Times New Roman" panose="02020603050405020304" pitchFamily="18" charset="0"/>
              </a:rPr>
              <a:t>15/16</a:t>
            </a:r>
            <a:r>
              <a:rPr lang="zh-CN" altLang="en-US" b="1" dirty="0">
                <a:latin typeface="Times New Roman" panose="02020603050405020304" pitchFamily="18" charset="0"/>
                <a:ea typeface="黑体" pitchFamily="49" charset="-122"/>
                <a:cs typeface="Times New Roman" panose="02020603050405020304" pitchFamily="18" charset="0"/>
              </a:rPr>
              <a:t>三角形蒴果∶</a:t>
            </a:r>
            <a:r>
              <a:rPr lang="en-US" altLang="zh-CN" b="1" dirty="0">
                <a:latin typeface="Times New Roman" panose="02020603050405020304" pitchFamily="18" charset="0"/>
                <a:ea typeface="黑体" pitchFamily="49" charset="-122"/>
                <a:cs typeface="Times New Roman" panose="02020603050405020304" pitchFamily="18" charset="0"/>
              </a:rPr>
              <a:t>1/16</a:t>
            </a:r>
            <a:r>
              <a:rPr lang="zh-CN" altLang="en-US" b="1" dirty="0">
                <a:latin typeface="Times New Roman" panose="02020603050405020304" pitchFamily="18" charset="0"/>
                <a:ea typeface="黑体" pitchFamily="49" charset="-122"/>
                <a:cs typeface="Times New Roman" panose="02020603050405020304" pitchFamily="18" charset="0"/>
              </a:rPr>
              <a:t>卵形蒴果。</a:t>
            </a:r>
          </a:p>
        </p:txBody>
      </p:sp>
      <p:pic>
        <p:nvPicPr>
          <p:cNvPr id="105475" name="Picture 3" descr="图3-5-6"/>
          <p:cNvPicPr>
            <a:picLocks noChangeAspect="1" noChangeArrowheads="1"/>
          </p:cNvPicPr>
          <p:nvPr/>
        </p:nvPicPr>
        <p:blipFill>
          <a:blip r:embed="rId4">
            <a:lum contrast="18000"/>
            <a:extLst>
              <a:ext uri="{28A0092B-C50C-407E-A947-70E740481C1C}">
                <a14:useLocalDpi xmlns:a14="http://schemas.microsoft.com/office/drawing/2010/main" val="0"/>
              </a:ext>
            </a:extLst>
          </a:blip>
          <a:srcRect l="16570" r="24648"/>
          <a:stretch>
            <a:fillRect/>
          </a:stretch>
        </p:blipFill>
        <p:spPr bwMode="auto">
          <a:xfrm>
            <a:off x="7437249" y="808865"/>
            <a:ext cx="4754751" cy="51976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451">
                                            <p:txEl>
                                              <p:pRg st="0" end="0"/>
                                            </p:txEl>
                                          </p:spTgt>
                                        </p:tgtEl>
                                        <p:attrNameLst>
                                          <p:attrName>style.visibility</p:attrName>
                                        </p:attrNameLst>
                                      </p:cBhvr>
                                      <p:to>
                                        <p:strVal val="visible"/>
                                      </p:to>
                                    </p:set>
                                    <p:anim calcmode="lin" valueType="num">
                                      <p:cBhvr additive="base">
                                        <p:cTn id="7"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4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LASER.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451">
                                            <p:txEl>
                                              <p:pRg st="1" end="1"/>
                                            </p:txEl>
                                          </p:spTgt>
                                        </p:tgtEl>
                                        <p:attrNameLst>
                                          <p:attrName>style.visibility</p:attrName>
                                        </p:attrNameLst>
                                      </p:cBhvr>
                                      <p:to>
                                        <p:strVal val="visible"/>
                                      </p:to>
                                    </p:set>
                                    <p:anim calcmode="lin" valueType="num">
                                      <p:cBhvr additive="base">
                                        <p:cTn id="13"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44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LASER.WAV"/>
                                        </p:tgtEl>
                                      </p:cMediaNode>
                                    </p:audio>
                                  </p:subTnLst>
                                </p:cTn>
                              </p:par>
                              <p:par>
                                <p:cTn id="15" presetID="10" presetClass="entr" presetSubtype="0" fill="hold" nodeType="withEffect">
                                  <p:stCondLst>
                                    <p:cond delay="0"/>
                                  </p:stCondLst>
                                  <p:childTnLst>
                                    <p:set>
                                      <p:cBhvr>
                                        <p:cTn id="16" dur="1" fill="hold">
                                          <p:stCondLst>
                                            <p:cond delay="0"/>
                                          </p:stCondLst>
                                        </p:cTn>
                                        <p:tgtEl>
                                          <p:spTgt spid="105475"/>
                                        </p:tgtEl>
                                        <p:attrNameLst>
                                          <p:attrName>style.visibility</p:attrName>
                                        </p:attrNameLst>
                                      </p:cBhvr>
                                      <p:to>
                                        <p:strVal val="visible"/>
                                      </p:to>
                                    </p:set>
                                    <p:animEffect transition="in" filter="fade">
                                      <p:cBhvr>
                                        <p:cTn id="17" dur="500"/>
                                        <p:tgtEl>
                                          <p:spTgt spid="105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uiExpand="1"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Rectangle 2"/>
          <p:cNvSpPr>
            <a:spLocks noGrp="1" noRot="1" noChangeArrowheads="1"/>
          </p:cNvSpPr>
          <p:nvPr>
            <p:ph type="title"/>
          </p:nvPr>
        </p:nvSpPr>
        <p:spPr>
          <a:xfrm>
            <a:off x="473933" y="23149"/>
            <a:ext cx="7770812" cy="645541"/>
          </a:xfrm>
        </p:spPr>
        <p:txBody>
          <a:bodyPr vert="horz" lIns="91440" tIns="45720" rIns="91440" bIns="45720" rtlCol="0" anchor="ctr">
            <a:normAutofit/>
          </a:bodyPr>
          <a:lstStyle/>
          <a:p>
            <a:r>
              <a:rPr lang="en-US" altLang="zh-CN" sz="3600" b="1" dirty="0">
                <a:solidFill>
                  <a:srgbClr val="0000FF"/>
                </a:solidFill>
                <a:latin typeface="黑体" panose="02010600030101010101" pitchFamily="49" charset="-122"/>
                <a:ea typeface="黑体" panose="02010600030101010101" pitchFamily="49" charset="-122"/>
              </a:rPr>
              <a:t>4.</a:t>
            </a:r>
            <a:r>
              <a:rPr lang="zh-CN" altLang="en-US" sz="3600" b="1" dirty="0">
                <a:solidFill>
                  <a:srgbClr val="0000FF"/>
                </a:solidFill>
                <a:latin typeface="黑体" panose="02010600030101010101" pitchFamily="49" charset="-122"/>
                <a:ea typeface="黑体" panose="02010600030101010101" pitchFamily="49" charset="-122"/>
              </a:rPr>
              <a:t>显性上位作用</a:t>
            </a:r>
          </a:p>
        </p:txBody>
      </p:sp>
      <p:sp>
        <p:nvSpPr>
          <p:cNvPr id="106499" name="Rectangle 3"/>
          <p:cNvSpPr>
            <a:spLocks noGrp="1" noRot="1" noChangeArrowheads="1"/>
          </p:cNvSpPr>
          <p:nvPr>
            <p:ph type="body" idx="1"/>
          </p:nvPr>
        </p:nvSpPr>
        <p:spPr>
          <a:xfrm>
            <a:off x="0" y="640397"/>
            <a:ext cx="12192000" cy="1203906"/>
          </a:xfrm>
        </p:spPr>
        <p:txBody>
          <a:bodyPr>
            <a:normAutofit/>
          </a:bodyPr>
          <a:lstStyle/>
          <a:p>
            <a:pPr marL="0" indent="0" algn="just">
              <a:lnSpc>
                <a:spcPct val="120000"/>
              </a:lnSpc>
              <a:buNone/>
            </a:pPr>
            <a:r>
              <a:rPr lang="en-US" altLang="zh-CN" b="1" dirty="0">
                <a:latin typeface="黑体" panose="02010600030101010101" pitchFamily="49" charset="-122"/>
                <a:ea typeface="黑体" panose="02010600030101010101" pitchFamily="49" charset="-122"/>
              </a:rPr>
              <a:t>	</a:t>
            </a:r>
            <a:r>
              <a:rPr lang="zh-CN" altLang="en-US" b="1" dirty="0">
                <a:latin typeface="黑体" panose="02010600030101010101" pitchFamily="49" charset="-122"/>
                <a:ea typeface="黑体" panose="02010600030101010101" pitchFamily="49" charset="-122"/>
              </a:rPr>
              <a:t>显性上位作用：一对基因对另一对基因的表现有遮盖作用，起遮盖作用的基因如果是显性基因，就是显性上位作用。</a:t>
            </a:r>
          </a:p>
        </p:txBody>
      </p:sp>
      <p:pic>
        <p:nvPicPr>
          <p:cNvPr id="2051" name="Picture 3"/>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901126" y="1901262"/>
            <a:ext cx="4884768" cy="4325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框 5">
            <a:extLst>
              <a:ext uri="{FF2B5EF4-FFF2-40B4-BE49-F238E27FC236}">
                <a16:creationId xmlns:a16="http://schemas.microsoft.com/office/drawing/2014/main" id="{696FF296-6A6A-4700-AF3D-E5493C43212B}"/>
              </a:ext>
            </a:extLst>
          </p:cNvPr>
          <p:cNvSpPr txBox="1"/>
          <p:nvPr/>
        </p:nvSpPr>
        <p:spPr>
          <a:xfrm>
            <a:off x="6231118" y="2923634"/>
            <a:ext cx="5552387" cy="1291822"/>
          </a:xfrm>
          <a:prstGeom prst="rect">
            <a:avLst/>
          </a:prstGeom>
        </p:spPr>
        <p:txBody>
          <a:bodyPr vert="horz" lIns="91440" tIns="45720" rIns="91440" bIns="45720" rtlCol="0">
            <a:normAutofit/>
          </a:bodyPr>
          <a:lstStyle>
            <a:lvl1pPr indent="0" algn="just">
              <a:lnSpc>
                <a:spcPct val="120000"/>
              </a:lnSpc>
              <a:spcBef>
                <a:spcPts val="1000"/>
              </a:spcBef>
              <a:buFont typeface="Arial" panose="020B0604020202020204" pitchFamily="34" charset="0"/>
              <a:buNone/>
              <a:defRPr sz="2800" b="1">
                <a:latin typeface="黑体" panose="02010600030101010101" pitchFamily="49" charset="-122"/>
                <a:ea typeface="黑体" panose="02010600030101010101" pitchFamily="49"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olidFill>
                  <a:srgbClr val="FF0000"/>
                </a:solidFill>
              </a:rPr>
              <a:t>B</a:t>
            </a:r>
            <a:r>
              <a:rPr lang="zh-CN" altLang="en-US" dirty="0">
                <a:solidFill>
                  <a:srgbClr val="FF0000"/>
                </a:solidFill>
              </a:rPr>
              <a:t>可遮盖另一对非对位基因</a:t>
            </a:r>
            <a:r>
              <a:rPr lang="en-US" altLang="zh-CN" dirty="0">
                <a:solidFill>
                  <a:srgbClr val="FF0000"/>
                </a:solidFill>
              </a:rPr>
              <a:t>Y</a:t>
            </a:r>
            <a:r>
              <a:rPr lang="zh-CN" altLang="en-US" dirty="0">
                <a:solidFill>
                  <a:srgbClr val="FF0000"/>
                </a:solidFill>
              </a:rPr>
              <a:t>和</a:t>
            </a:r>
            <a:r>
              <a:rPr lang="en-US" altLang="zh-CN" dirty="0">
                <a:solidFill>
                  <a:srgbClr val="FF0000"/>
                </a:solidFill>
              </a:rPr>
              <a:t>y</a:t>
            </a:r>
            <a:r>
              <a:rPr lang="zh-CN" altLang="en-US" dirty="0">
                <a:solidFill>
                  <a:srgbClr val="FF0000"/>
                </a:solidFill>
              </a:rPr>
              <a:t>的表现，</a:t>
            </a:r>
            <a:r>
              <a:rPr lang="en-US" altLang="zh-CN" dirty="0">
                <a:solidFill>
                  <a:srgbClr val="FF0000"/>
                </a:solidFill>
              </a:rPr>
              <a:t>B</a:t>
            </a:r>
            <a:r>
              <a:rPr lang="zh-CN" altLang="en-US" dirty="0">
                <a:solidFill>
                  <a:srgbClr val="FF0000"/>
                </a:solidFill>
              </a:rPr>
              <a:t>和</a:t>
            </a:r>
            <a:r>
              <a:rPr lang="en-US" altLang="zh-CN" dirty="0">
                <a:solidFill>
                  <a:srgbClr val="FF0000"/>
                </a:solidFill>
              </a:rPr>
              <a:t>b</a:t>
            </a:r>
            <a:r>
              <a:rPr lang="zh-CN" altLang="en-US" dirty="0">
                <a:solidFill>
                  <a:srgbClr val="FF0000"/>
                </a:solidFill>
              </a:rPr>
              <a:t>对</a:t>
            </a:r>
            <a:r>
              <a:rPr lang="en-US" altLang="zh-CN" dirty="0">
                <a:solidFill>
                  <a:srgbClr val="FF0000"/>
                </a:solidFill>
              </a:rPr>
              <a:t>Y</a:t>
            </a:r>
            <a:r>
              <a:rPr lang="zh-CN" altLang="en-US" dirty="0">
                <a:solidFill>
                  <a:srgbClr val="FF0000"/>
                </a:solidFill>
              </a:rPr>
              <a:t>和</a:t>
            </a:r>
            <a:r>
              <a:rPr lang="en-US" altLang="zh-CN" dirty="0">
                <a:solidFill>
                  <a:srgbClr val="FF0000"/>
                </a:solidFill>
              </a:rPr>
              <a:t>y</a:t>
            </a:r>
            <a:r>
              <a:rPr lang="zh-CN" altLang="en-US" dirty="0">
                <a:solidFill>
                  <a:srgbClr val="FF0000"/>
                </a:solidFill>
              </a:rPr>
              <a:t>是上位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fade">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Rectangle 2"/>
          <p:cNvSpPr>
            <a:spLocks noGrp="1" noRot="1" noChangeArrowheads="1"/>
          </p:cNvSpPr>
          <p:nvPr>
            <p:ph type="title"/>
          </p:nvPr>
        </p:nvSpPr>
        <p:spPr>
          <a:xfrm>
            <a:off x="590216" y="0"/>
            <a:ext cx="10515600" cy="898055"/>
          </a:xfrm>
        </p:spPr>
        <p:txBody>
          <a:bodyPr vert="horz" lIns="91440" tIns="45720" rIns="91440" bIns="45720" rtlCol="0" anchor="ctr">
            <a:normAutofit/>
          </a:bodyPr>
          <a:lstStyle/>
          <a:p>
            <a:r>
              <a:rPr lang="en-US" altLang="zh-CN" sz="3600" b="1" dirty="0">
                <a:solidFill>
                  <a:srgbClr val="0000FF"/>
                </a:solidFill>
                <a:latin typeface="黑体" panose="02010600030101010101" pitchFamily="49" charset="-122"/>
                <a:ea typeface="黑体" panose="02010600030101010101" pitchFamily="49" charset="-122"/>
              </a:rPr>
              <a:t>5.</a:t>
            </a:r>
            <a:r>
              <a:rPr lang="zh-CN" altLang="en-US" sz="3600" b="1" dirty="0">
                <a:solidFill>
                  <a:srgbClr val="0000FF"/>
                </a:solidFill>
                <a:latin typeface="黑体" panose="02010600030101010101" pitchFamily="49" charset="-122"/>
                <a:ea typeface="黑体" panose="02010600030101010101" pitchFamily="49" charset="-122"/>
              </a:rPr>
              <a:t>隐性上位作用</a:t>
            </a:r>
          </a:p>
        </p:txBody>
      </p:sp>
      <p:sp>
        <p:nvSpPr>
          <p:cNvPr id="108547" name="Rectangle 3"/>
          <p:cNvSpPr>
            <a:spLocks noGrp="1" noRot="1" noChangeArrowheads="1"/>
          </p:cNvSpPr>
          <p:nvPr>
            <p:ph type="body" idx="1"/>
          </p:nvPr>
        </p:nvSpPr>
        <p:spPr>
          <a:xfrm>
            <a:off x="152682" y="782955"/>
            <a:ext cx="11135360" cy="1150017"/>
          </a:xfrm>
        </p:spPr>
        <p:txBody>
          <a:bodyPr vert="horz" lIns="91440" tIns="45720" rIns="91440" bIns="45720" rtlCol="0">
            <a:normAutofit/>
          </a:bodyPr>
          <a:lstStyle/>
          <a:p>
            <a:pPr marL="0" indent="0" algn="just">
              <a:lnSpc>
                <a:spcPct val="120000"/>
              </a:lnSpc>
              <a:buNone/>
            </a:pPr>
            <a:r>
              <a:rPr lang="en-US" altLang="zh-CN" b="1" dirty="0">
                <a:latin typeface="黑体" panose="02010600030101010101" pitchFamily="49" charset="-122"/>
                <a:ea typeface="黑体" panose="02010600030101010101" pitchFamily="49" charset="-122"/>
              </a:rPr>
              <a:t>	</a:t>
            </a:r>
            <a:r>
              <a:rPr lang="zh-CN" altLang="en-US" b="1" dirty="0">
                <a:latin typeface="黑体" panose="02010600030101010101" pitchFamily="49" charset="-122"/>
                <a:ea typeface="黑体" panose="02010600030101010101" pitchFamily="49" charset="-122"/>
              </a:rPr>
              <a:t>隐性上位作用：在两对互作的基因中，其中一对隐性基因对另一对基因起上位性作用。</a:t>
            </a:r>
          </a:p>
        </p:txBody>
      </p:sp>
      <p:pic>
        <p:nvPicPr>
          <p:cNvPr id="6" name="Picture 2"/>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791639" y="1912635"/>
            <a:ext cx="4695825" cy="432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5570195" y="3058890"/>
            <a:ext cx="6467476" cy="1339490"/>
          </a:xfrm>
          <a:prstGeom prst="rect">
            <a:avLst/>
          </a:prstGeom>
        </p:spPr>
        <p:txBody>
          <a:bodyPr vert="horz" lIns="91440" tIns="45720" rIns="91440" bIns="45720" rtlCol="0">
            <a:noAutofit/>
          </a:bodyPr>
          <a:lstStyle/>
          <a:p>
            <a:pPr algn="just">
              <a:lnSpc>
                <a:spcPct val="120000"/>
              </a:lnSpc>
              <a:spcBef>
                <a:spcPts val="1000"/>
              </a:spcBef>
              <a:buFont typeface="Arial" panose="020B0604020202020204" pitchFamily="34" charset="0"/>
              <a:buNone/>
            </a:pPr>
            <a:r>
              <a:rPr lang="zh-CN" altLang="en-US" sz="2800" b="1" dirty="0">
                <a:solidFill>
                  <a:srgbClr val="FF0000"/>
                </a:solidFill>
                <a:latin typeface="黑体" panose="02010600030101010101" pitchFamily="49" charset="-122"/>
                <a:ea typeface="黑体" panose="02010600030101010101" pitchFamily="49" charset="-122"/>
              </a:rPr>
              <a:t>隐性基因</a:t>
            </a:r>
            <a:r>
              <a:rPr lang="en-US" altLang="zh-CN" sz="2800" b="1" dirty="0">
                <a:solidFill>
                  <a:srgbClr val="FF0000"/>
                </a:solidFill>
                <a:latin typeface="黑体" panose="02010600030101010101" pitchFamily="49" charset="-122"/>
                <a:ea typeface="黑体" panose="02010600030101010101" pitchFamily="49" charset="-122"/>
              </a:rPr>
              <a:t>c</a:t>
            </a:r>
            <a:r>
              <a:rPr lang="zh-CN" altLang="en-US" sz="2800" b="1" dirty="0">
                <a:solidFill>
                  <a:srgbClr val="FF0000"/>
                </a:solidFill>
                <a:latin typeface="黑体" panose="02010600030101010101" pitchFamily="49" charset="-122"/>
                <a:ea typeface="黑体" panose="02010600030101010101" pitchFamily="49" charset="-122"/>
              </a:rPr>
              <a:t>可遮盖另一对非等位基因</a:t>
            </a:r>
            <a:r>
              <a:rPr lang="en-US" altLang="zh-CN" sz="2800" b="1" dirty="0">
                <a:solidFill>
                  <a:srgbClr val="FF0000"/>
                </a:solidFill>
                <a:latin typeface="黑体" panose="02010600030101010101" pitchFamily="49" charset="-122"/>
                <a:ea typeface="黑体" panose="02010600030101010101" pitchFamily="49" charset="-122"/>
              </a:rPr>
              <a:t>G</a:t>
            </a:r>
            <a:r>
              <a:rPr lang="zh-CN" altLang="en-US" sz="2800" b="1" dirty="0">
                <a:solidFill>
                  <a:srgbClr val="FF0000"/>
                </a:solidFill>
                <a:latin typeface="黑体" panose="02010600030101010101" pitchFamily="49" charset="-122"/>
                <a:ea typeface="黑体" panose="02010600030101010101" pitchFamily="49" charset="-122"/>
              </a:rPr>
              <a:t>和</a:t>
            </a:r>
            <a:r>
              <a:rPr lang="en-US" altLang="zh-CN" sz="2800" b="1" dirty="0">
                <a:solidFill>
                  <a:srgbClr val="FF0000"/>
                </a:solidFill>
                <a:latin typeface="黑体" panose="02010600030101010101" pitchFamily="49" charset="-122"/>
                <a:ea typeface="黑体" panose="02010600030101010101" pitchFamily="49" charset="-122"/>
              </a:rPr>
              <a:t>g</a:t>
            </a:r>
            <a:r>
              <a:rPr lang="zh-CN" altLang="en-US" sz="2800" b="1" dirty="0">
                <a:solidFill>
                  <a:srgbClr val="FF0000"/>
                </a:solidFill>
                <a:latin typeface="黑体" panose="02010600030101010101" pitchFamily="49" charset="-122"/>
                <a:ea typeface="黑体" panose="02010600030101010101" pitchFamily="49" charset="-122"/>
              </a:rPr>
              <a:t>的表现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anim calcmode="lin" valueType="num">
                                      <p:cBhvr additive="base">
                                        <p:cTn id="7" dur="500" fill="hold"/>
                                        <p:tgtEl>
                                          <p:spTgt spid="1085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854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Rectangle 2"/>
          <p:cNvSpPr>
            <a:spLocks noGrp="1" noRot="1" noChangeArrowheads="1"/>
          </p:cNvSpPr>
          <p:nvPr>
            <p:ph type="title"/>
          </p:nvPr>
        </p:nvSpPr>
        <p:spPr>
          <a:xfrm>
            <a:off x="619615" y="0"/>
            <a:ext cx="10515600" cy="657538"/>
          </a:xfrm>
        </p:spPr>
        <p:txBody>
          <a:bodyPr vert="horz" lIns="91440" tIns="45720" rIns="91440" bIns="45720" rtlCol="0" anchor="ctr">
            <a:normAutofit/>
          </a:bodyPr>
          <a:lstStyle/>
          <a:p>
            <a:r>
              <a:rPr lang="en-US" altLang="zh-CN" sz="3600" b="1" dirty="0">
                <a:solidFill>
                  <a:srgbClr val="0000FF"/>
                </a:solidFill>
                <a:latin typeface="黑体" panose="02010600030101010101" pitchFamily="49" charset="-122"/>
                <a:ea typeface="黑体" panose="02010600030101010101" pitchFamily="49" charset="-122"/>
              </a:rPr>
              <a:t>6.</a:t>
            </a:r>
            <a:r>
              <a:rPr lang="zh-CN" altLang="en-US" sz="3600" b="1" dirty="0">
                <a:solidFill>
                  <a:srgbClr val="0000FF"/>
                </a:solidFill>
                <a:latin typeface="黑体" panose="02010600030101010101" pitchFamily="49" charset="-122"/>
                <a:ea typeface="黑体" panose="02010600030101010101" pitchFamily="49" charset="-122"/>
              </a:rPr>
              <a:t>抑制作用</a:t>
            </a:r>
          </a:p>
        </p:txBody>
      </p:sp>
      <p:sp>
        <p:nvSpPr>
          <p:cNvPr id="110595" name="Rectangle 3"/>
          <p:cNvSpPr>
            <a:spLocks noGrp="1" noRot="1" noChangeArrowheads="1"/>
          </p:cNvSpPr>
          <p:nvPr>
            <p:ph type="body" idx="1"/>
          </p:nvPr>
        </p:nvSpPr>
        <p:spPr>
          <a:xfrm>
            <a:off x="374332" y="631359"/>
            <a:ext cx="11674914" cy="989097"/>
          </a:xfrm>
        </p:spPr>
        <p:txBody>
          <a:bodyPr vert="horz" lIns="91440" tIns="45720" rIns="91440" bIns="45720" rtlCol="0">
            <a:normAutofit lnSpcReduction="10000"/>
          </a:bodyPr>
          <a:lstStyle/>
          <a:p>
            <a:pPr marL="0" indent="0" algn="just">
              <a:lnSpc>
                <a:spcPct val="120000"/>
              </a:lnSpc>
              <a:buNone/>
            </a:pPr>
            <a:r>
              <a:rPr lang="en-US" altLang="zh-CN" b="1" dirty="0">
                <a:latin typeface="黑体" panose="02010600030101010101" pitchFamily="49" charset="-122"/>
                <a:ea typeface="黑体" panose="02010600030101010101" pitchFamily="49" charset="-122"/>
              </a:rPr>
              <a:t>	</a:t>
            </a:r>
            <a:r>
              <a:rPr lang="zh-CN" altLang="en-US" b="1" dirty="0">
                <a:latin typeface="黑体" panose="02010600030101010101" pitchFamily="49" charset="-122"/>
                <a:ea typeface="黑体" panose="02010600030101010101" pitchFamily="49" charset="-122"/>
              </a:rPr>
              <a:t>抑制作用：一对显性基因本身并不控制性状的表现，但对另一对基因的表现有抑制作用，称为抑制基因。</a:t>
            </a:r>
          </a:p>
        </p:txBody>
      </p:sp>
      <p:pic>
        <p:nvPicPr>
          <p:cNvPr id="3074" name="Picture 2"/>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1341877" y="1709592"/>
            <a:ext cx="5077190" cy="4887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6887901" y="3244334"/>
            <a:ext cx="3254417" cy="540725"/>
          </a:xfrm>
          <a:prstGeom prst="rect">
            <a:avLst/>
          </a:prstGeom>
        </p:spPr>
        <p:txBody>
          <a:bodyPr vert="horz" lIns="91440" tIns="45720" rIns="91440" bIns="45720" rtlCol="0">
            <a:noAutofit/>
          </a:bodyPr>
          <a:lstStyle/>
          <a:p>
            <a:pPr algn="just">
              <a:lnSpc>
                <a:spcPct val="120000"/>
              </a:lnSpc>
              <a:spcBef>
                <a:spcPts val="1000"/>
              </a:spcBef>
              <a:buFont typeface="Arial" panose="020B0604020202020204" pitchFamily="34" charset="0"/>
              <a:buNone/>
            </a:pPr>
            <a:r>
              <a:rPr lang="en-US" altLang="zh-CN" sz="2800" b="1" dirty="0">
                <a:solidFill>
                  <a:srgbClr val="FF0000"/>
                </a:solidFill>
                <a:latin typeface="黑体" panose="02010600030101010101" pitchFamily="49" charset="-122"/>
                <a:ea typeface="黑体" panose="02010600030101010101" pitchFamily="49" charset="-122"/>
              </a:rPr>
              <a:t>I</a:t>
            </a:r>
            <a:r>
              <a:rPr lang="zh-CN" altLang="en-US" sz="2800" b="1" dirty="0">
                <a:solidFill>
                  <a:srgbClr val="FF0000"/>
                </a:solidFill>
                <a:latin typeface="黑体" panose="02010600030101010101" pitchFamily="49" charset="-122"/>
                <a:ea typeface="黑体" panose="02010600030101010101" pitchFamily="49" charset="-122"/>
              </a:rPr>
              <a:t>对</a:t>
            </a:r>
            <a:r>
              <a:rPr lang="en-US" altLang="zh-CN" sz="2800" b="1" dirty="0">
                <a:solidFill>
                  <a:srgbClr val="FF0000"/>
                </a:solidFill>
                <a:latin typeface="黑体" panose="02010600030101010101" pitchFamily="49" charset="-122"/>
                <a:ea typeface="黑体" panose="02010600030101010101" pitchFamily="49" charset="-122"/>
              </a:rPr>
              <a:t>Y</a:t>
            </a:r>
            <a:r>
              <a:rPr lang="zh-CN" altLang="en-US" sz="2800" b="1" dirty="0">
                <a:solidFill>
                  <a:srgbClr val="FF0000"/>
                </a:solidFill>
                <a:latin typeface="黑体" panose="02010600030101010101" pitchFamily="49" charset="-122"/>
                <a:ea typeface="黑体" panose="02010600030101010101" pitchFamily="49" charset="-122"/>
              </a:rPr>
              <a:t>有抑制作用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0595">
                                            <p:txEl>
                                              <p:pRg st="0" end="0"/>
                                            </p:txEl>
                                          </p:spTgt>
                                        </p:tgtEl>
                                        <p:attrNameLst>
                                          <p:attrName>style.visibility</p:attrName>
                                        </p:attrNameLst>
                                      </p:cBhvr>
                                      <p:to>
                                        <p:strVal val="visible"/>
                                      </p:to>
                                    </p:set>
                                    <p:anim calcmode="lin" valueType="num">
                                      <p:cBhvr additive="base">
                                        <p:cTn id="7" dur="500" fill="hold"/>
                                        <p:tgtEl>
                                          <p:spTgt spid="1105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059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08" name="Text Box 8"/>
          <p:cNvSpPr txBox="1"/>
          <p:nvPr/>
        </p:nvSpPr>
        <p:spPr>
          <a:xfrm>
            <a:off x="0" y="413826"/>
            <a:ext cx="11831357" cy="2315725"/>
          </a:xfrm>
          <a:prstGeom prst="rect">
            <a:avLst/>
          </a:prstGeom>
        </p:spPr>
        <p:txBody>
          <a:bodyPr vert="horz" lIns="91440" tIns="45720" rIns="91440" bIns="45720" rtlCol="0">
            <a:noAutofit/>
          </a:bodyPr>
          <a:lstStyle>
            <a:lvl1pPr indent="0" algn="just">
              <a:lnSpc>
                <a:spcPct val="120000"/>
              </a:lnSpc>
              <a:spcBef>
                <a:spcPts val="1000"/>
              </a:spcBef>
              <a:buFont typeface="Arial" panose="020B0604020202020204" pitchFamily="34" charset="0"/>
              <a:buNone/>
              <a:defRPr sz="2800" b="1">
                <a:latin typeface="黑体" panose="02010600030101010101" pitchFamily="49" charset="-122"/>
                <a:ea typeface="黑体" panose="02010600030101010101" pitchFamily="49"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3200" dirty="0"/>
              <a:t>     上位作用和抑制不同，抑制基因本身不能决定性状，而显性上位基因除遮盖其他的基因的表现外，本身还能决定性状。</a:t>
            </a:r>
          </a:p>
        </p:txBody>
      </p:sp>
    </p:spTree>
    <p:extLst>
      <p:ext uri="{BB962C8B-B14F-4D97-AF65-F5344CB8AC3E}">
        <p14:creationId xmlns:p14="http://schemas.microsoft.com/office/powerpoint/2010/main" val="255922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36808">
                                            <p:txEl>
                                              <p:pRg st="0" end="0"/>
                                            </p:txEl>
                                          </p:spTgt>
                                        </p:tgtEl>
                                        <p:attrNameLst>
                                          <p:attrName>style.visibility</p:attrName>
                                        </p:attrNameLst>
                                      </p:cBhvr>
                                      <p:to>
                                        <p:strVal val="visible"/>
                                      </p:to>
                                    </p:set>
                                    <p:anim calcmode="lin" valueType="num">
                                      <p:cBhvr additive="base">
                                        <p:cTn id="7" dur="500" fill="hold"/>
                                        <p:tgtEl>
                                          <p:spTgt spid="58368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3680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17447" name="Group 39"/>
          <p:cNvGraphicFramePr>
            <a:graphicFrameLocks noGrp="1"/>
          </p:cNvGraphicFramePr>
          <p:nvPr>
            <p:ph idx="4294967295"/>
          </p:nvPr>
        </p:nvGraphicFramePr>
        <p:xfrm>
          <a:off x="381000" y="1"/>
          <a:ext cx="11430000" cy="6357939"/>
        </p:xfrm>
        <a:graphic>
          <a:graphicData uri="http://schemas.openxmlformats.org/drawingml/2006/table">
            <a:tbl>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1008045">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基因互作类型</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比  率</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相当于自由组合比率</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90802">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12:3:1</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(9:3):3:1</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92496">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9:3:4</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9:3:(3:1)</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90802">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9:7</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9:(3:3:1)</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92496">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15:1</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(9:3:3):1</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90802">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9:6:1</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9:(3:3):1</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892496">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13:3</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(9:3:1):3</a:t>
                      </a:r>
                    </a:p>
                  </a:txBody>
                  <a:tcPr marL="121919" marR="121919" marT="45718" marB="4571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 name="矩形 1"/>
          <p:cNvSpPr/>
          <p:nvPr/>
        </p:nvSpPr>
        <p:spPr>
          <a:xfrm>
            <a:off x="1508970" y="1184041"/>
            <a:ext cx="1627369" cy="523220"/>
          </a:xfrm>
          <a:prstGeom prst="rect">
            <a:avLst/>
          </a:prstGeom>
        </p:spPr>
        <p:txBody>
          <a:bodyPr wrap="none">
            <a:spAutoFit/>
          </a:bodyPr>
          <a:lstStyle/>
          <a:p>
            <a:pPr lvl="0" algn="ctr" fontAlgn="base">
              <a:spcBef>
                <a:spcPct val="0"/>
              </a:spcBef>
              <a:spcAft>
                <a:spcPct val="0"/>
              </a:spcAft>
            </a:pPr>
            <a:r>
              <a:rPr lang="zh-CN" altLang="en-US" sz="2800" b="1" dirty="0">
                <a:latin typeface="黑体" panose="02010609060101010101" pitchFamily="49" charset="-122"/>
                <a:ea typeface="黑体" panose="02010609060101010101" pitchFamily="49" charset="-122"/>
                <a:cs typeface="Times New Roman" panose="02020603050405020304" pitchFamily="18" charset="0"/>
              </a:rPr>
              <a:t>显性上位</a:t>
            </a:r>
          </a:p>
        </p:txBody>
      </p:sp>
      <p:sp>
        <p:nvSpPr>
          <p:cNvPr id="3" name="矩形 2"/>
          <p:cNvSpPr/>
          <p:nvPr/>
        </p:nvSpPr>
        <p:spPr>
          <a:xfrm>
            <a:off x="1508967" y="2144737"/>
            <a:ext cx="1627369" cy="523220"/>
          </a:xfrm>
          <a:prstGeom prst="rect">
            <a:avLst/>
          </a:prstGeom>
        </p:spPr>
        <p:txBody>
          <a:bodyPr wrap="none">
            <a:spAutoFit/>
          </a:bodyPr>
          <a:lstStyle/>
          <a:p>
            <a:pPr lvl="0" algn="ctr" fontAlgn="base">
              <a:spcBef>
                <a:spcPct val="0"/>
              </a:spcBef>
              <a:spcAft>
                <a:spcPct val="0"/>
              </a:spcAft>
            </a:pPr>
            <a:r>
              <a:rPr lang="zh-CN" altLang="en-US" sz="2800" b="1" dirty="0">
                <a:latin typeface="黑体" panose="02010609060101010101" pitchFamily="49" charset="-122"/>
                <a:ea typeface="黑体" panose="02010609060101010101" pitchFamily="49" charset="-122"/>
                <a:cs typeface="Times New Roman" panose="02020603050405020304" pitchFamily="18" charset="0"/>
              </a:rPr>
              <a:t>隐性上位</a:t>
            </a:r>
          </a:p>
        </p:txBody>
      </p:sp>
      <p:sp>
        <p:nvSpPr>
          <p:cNvPr id="4" name="矩形 3"/>
          <p:cNvSpPr/>
          <p:nvPr/>
        </p:nvSpPr>
        <p:spPr>
          <a:xfrm>
            <a:off x="1508970" y="3001793"/>
            <a:ext cx="1627369" cy="523220"/>
          </a:xfrm>
          <a:prstGeom prst="rect">
            <a:avLst/>
          </a:prstGeom>
        </p:spPr>
        <p:txBody>
          <a:bodyPr wrap="none">
            <a:spAutoFit/>
          </a:bodyPr>
          <a:lstStyle/>
          <a:p>
            <a:pPr lvl="0" algn="ctr" fontAlgn="base">
              <a:spcBef>
                <a:spcPct val="0"/>
              </a:spcBef>
              <a:spcAft>
                <a:spcPct val="0"/>
              </a:spcAft>
            </a:pPr>
            <a:r>
              <a:rPr lang="zh-CN" altLang="en-US" sz="2800" b="1" dirty="0">
                <a:latin typeface="黑体" panose="02010609060101010101" pitchFamily="49" charset="-122"/>
                <a:ea typeface="黑体" panose="02010609060101010101" pitchFamily="49" charset="-122"/>
                <a:cs typeface="Times New Roman" panose="02020603050405020304" pitchFamily="18" charset="0"/>
              </a:rPr>
              <a:t>显性互补</a:t>
            </a:r>
          </a:p>
        </p:txBody>
      </p:sp>
      <p:sp>
        <p:nvSpPr>
          <p:cNvPr id="5" name="矩形 4"/>
          <p:cNvSpPr/>
          <p:nvPr/>
        </p:nvSpPr>
        <p:spPr>
          <a:xfrm>
            <a:off x="1508970" y="3904090"/>
            <a:ext cx="1627369" cy="523220"/>
          </a:xfrm>
          <a:prstGeom prst="rect">
            <a:avLst/>
          </a:prstGeom>
        </p:spPr>
        <p:txBody>
          <a:bodyPr wrap="none">
            <a:spAutoFit/>
          </a:bodyPr>
          <a:lstStyle/>
          <a:p>
            <a:pPr lvl="0" algn="ctr" fontAlgn="base">
              <a:spcBef>
                <a:spcPct val="0"/>
              </a:spcBef>
              <a:spcAft>
                <a:spcPct val="0"/>
              </a:spcAft>
            </a:pPr>
            <a:r>
              <a:rPr lang="zh-CN" altLang="en-US" sz="2800" b="1" dirty="0">
                <a:latin typeface="黑体" panose="02010609060101010101" pitchFamily="49" charset="-122"/>
                <a:ea typeface="黑体" panose="02010609060101010101" pitchFamily="49" charset="-122"/>
                <a:cs typeface="Times New Roman" panose="02020603050405020304" pitchFamily="18" charset="0"/>
              </a:rPr>
              <a:t>重叠作用</a:t>
            </a:r>
          </a:p>
        </p:txBody>
      </p:sp>
      <p:sp>
        <p:nvSpPr>
          <p:cNvPr id="6" name="矩形 5"/>
          <p:cNvSpPr/>
          <p:nvPr/>
        </p:nvSpPr>
        <p:spPr>
          <a:xfrm>
            <a:off x="1497392" y="4772718"/>
            <a:ext cx="1627369" cy="523220"/>
          </a:xfrm>
          <a:prstGeom prst="rect">
            <a:avLst/>
          </a:prstGeom>
        </p:spPr>
        <p:txBody>
          <a:bodyPr wrap="none">
            <a:spAutoFit/>
          </a:bodyPr>
          <a:lstStyle/>
          <a:p>
            <a:pPr lvl="0" algn="ctr" fontAlgn="base">
              <a:spcBef>
                <a:spcPct val="0"/>
              </a:spcBef>
              <a:spcAft>
                <a:spcPct val="0"/>
              </a:spcAft>
            </a:pPr>
            <a:r>
              <a:rPr lang="zh-CN" altLang="en-US" sz="2800" b="1" dirty="0">
                <a:latin typeface="黑体" panose="02010609060101010101" pitchFamily="49" charset="-122"/>
                <a:ea typeface="黑体" panose="02010609060101010101" pitchFamily="49" charset="-122"/>
                <a:cs typeface="Times New Roman" panose="02020603050405020304" pitchFamily="18" charset="0"/>
              </a:rPr>
              <a:t>积加作用</a:t>
            </a:r>
          </a:p>
        </p:txBody>
      </p:sp>
      <p:sp>
        <p:nvSpPr>
          <p:cNvPr id="7" name="矩形 6"/>
          <p:cNvSpPr/>
          <p:nvPr/>
        </p:nvSpPr>
        <p:spPr>
          <a:xfrm>
            <a:off x="1485817" y="5617142"/>
            <a:ext cx="1627369" cy="523220"/>
          </a:xfrm>
          <a:prstGeom prst="rect">
            <a:avLst/>
          </a:prstGeom>
        </p:spPr>
        <p:txBody>
          <a:bodyPr wrap="none">
            <a:spAutoFit/>
          </a:bodyPr>
          <a:lstStyle/>
          <a:p>
            <a:pPr lvl="0" algn="ctr" fontAlgn="base">
              <a:spcBef>
                <a:spcPct val="0"/>
              </a:spcBef>
              <a:spcAft>
                <a:spcPct val="0"/>
              </a:spcAft>
            </a:pPr>
            <a:r>
              <a:rPr lang="zh-CN" altLang="en-US" sz="2800" b="1" dirty="0">
                <a:latin typeface="黑体" panose="02010609060101010101" pitchFamily="49" charset="-122"/>
                <a:ea typeface="黑体" panose="02010609060101010101" pitchFamily="49" charset="-122"/>
                <a:cs typeface="Times New Roman" panose="02020603050405020304" pitchFamily="18" charset="0"/>
              </a:rPr>
              <a:t>抑制作用</a:t>
            </a:r>
          </a:p>
        </p:txBody>
      </p:sp>
    </p:spTree>
    <p:extLst>
      <p:ext uri="{BB962C8B-B14F-4D97-AF65-F5344CB8AC3E}">
        <p14:creationId xmlns:p14="http://schemas.microsoft.com/office/powerpoint/2010/main" val="34444347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11B34D3-A962-4C9A-8646-93613537F82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472526" y="2884672"/>
            <a:ext cx="6601194" cy="2809118"/>
          </a:xfrm>
          <a:prstGeom prst="rect">
            <a:avLst/>
          </a:prstGeom>
        </p:spPr>
      </p:pic>
      <p:sp>
        <p:nvSpPr>
          <p:cNvPr id="5" name="文本框 4">
            <a:extLst>
              <a:ext uri="{FF2B5EF4-FFF2-40B4-BE49-F238E27FC236}">
                <a16:creationId xmlns:a16="http://schemas.microsoft.com/office/drawing/2014/main" id="{A6359804-EA06-49B5-B1F8-9C2201E4EC05}"/>
              </a:ext>
            </a:extLst>
          </p:cNvPr>
          <p:cNvSpPr txBox="1"/>
          <p:nvPr/>
        </p:nvSpPr>
        <p:spPr>
          <a:xfrm>
            <a:off x="1199562" y="5816901"/>
            <a:ext cx="5182384" cy="307777"/>
          </a:xfrm>
          <a:prstGeom prst="rect">
            <a:avLst/>
          </a:prstGeom>
          <a:noFill/>
        </p:spPr>
        <p:txBody>
          <a:bodyPr wrap="square">
            <a:spAutoFit/>
          </a:bodyPr>
          <a:lstStyle>
            <a:defPPr>
              <a:defRPr lang="zh-CN"/>
            </a:defPPr>
            <a:lvl1pPr algn="ctr">
              <a:defRPr sz="1400">
                <a:solidFill>
                  <a:srgbClr val="3A5991"/>
                </a:solidFill>
                <a:latin typeface="微软雅黑" panose="020B0503020204020204" pitchFamily="34" charset="-122"/>
                <a:ea typeface="微软雅黑" panose="020B0503020204020204" pitchFamily="34" charset="-122"/>
              </a:defRPr>
            </a:lvl1pPr>
          </a:lstStyle>
          <a:p>
            <a:r>
              <a:rPr lang="zh-CN" altLang="en-US" dirty="0"/>
              <a:t>基因互作关系中隐性上位的生化机制（以孟买血型为例）</a:t>
            </a:r>
          </a:p>
        </p:txBody>
      </p:sp>
      <p:sp>
        <p:nvSpPr>
          <p:cNvPr id="6" name="文本框 5">
            <a:extLst>
              <a:ext uri="{FF2B5EF4-FFF2-40B4-BE49-F238E27FC236}">
                <a16:creationId xmlns:a16="http://schemas.microsoft.com/office/drawing/2014/main" id="{1D486A49-7BFF-4241-BC8A-1FA5D20E324F}"/>
              </a:ext>
            </a:extLst>
          </p:cNvPr>
          <p:cNvSpPr txBox="1"/>
          <p:nvPr/>
        </p:nvSpPr>
        <p:spPr>
          <a:xfrm>
            <a:off x="401038" y="147489"/>
            <a:ext cx="10952761" cy="2862322"/>
          </a:xfrm>
          <a:prstGeom prst="rect">
            <a:avLst/>
          </a:prstGeom>
          <a:noFill/>
        </p:spPr>
        <p:txBody>
          <a:bodyPr wrap="square">
            <a:spAutoFit/>
          </a:bodyPr>
          <a:lstStyle>
            <a:defPPr>
              <a:defRPr lang="zh-CN"/>
            </a:defPPr>
            <a:lvl1pPr marL="285750" indent="-285750">
              <a:lnSpc>
                <a:spcPct val="150000"/>
              </a:lnSpc>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sz="2400" b="1" dirty="0"/>
              <a:t>发生基因互作的非等位基因仍遵循孟德尔分离和自由组合定律，后代的 基因型及其比例一般仍是可预计的。</a:t>
            </a:r>
            <a:endParaRPr lang="en-US" altLang="zh-CN" sz="2400" b="1" dirty="0"/>
          </a:p>
          <a:p>
            <a:r>
              <a:rPr lang="zh-CN" altLang="en-US" sz="2400" b="1" dirty="0"/>
              <a:t>基因相互之间的作用体现在表型比例的衍变上，而基因型比例是不变的。造成两者不同变化的原因是非等位基因的基因产物可能参与了同一条生化代谢途径或信号转导途径，共同调控了某一表型。</a:t>
            </a:r>
          </a:p>
        </p:txBody>
      </p:sp>
      <p:sp>
        <p:nvSpPr>
          <p:cNvPr id="7" name="文本框 6">
            <a:extLst>
              <a:ext uri="{FF2B5EF4-FFF2-40B4-BE49-F238E27FC236}">
                <a16:creationId xmlns:a16="http://schemas.microsoft.com/office/drawing/2014/main" id="{FAA76AF3-9711-4C2C-8238-1777640B008B}"/>
              </a:ext>
            </a:extLst>
          </p:cNvPr>
          <p:cNvSpPr txBox="1"/>
          <p:nvPr/>
        </p:nvSpPr>
        <p:spPr>
          <a:xfrm>
            <a:off x="7104667" y="3058610"/>
            <a:ext cx="4249132" cy="2242858"/>
          </a:xfrm>
          <a:prstGeom prst="rect">
            <a:avLst/>
          </a:prstGeom>
          <a:noFill/>
        </p:spPr>
        <p:txBody>
          <a:bodyPr wrap="square">
            <a:spAutoFit/>
          </a:bodyPr>
          <a:lstStyle>
            <a:defPPr>
              <a:defRPr lang="zh-CN"/>
            </a:defPPr>
            <a:lvl1pPr marL="285750" indent="-285750">
              <a:lnSpc>
                <a:spcPct val="150000"/>
              </a:lnSpc>
              <a:buFont typeface="Wingdings" panose="05000000000000000000" pitchFamily="2" charset="2"/>
              <a:buChar char="Ø"/>
              <a:defRPr sz="2000">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sz="2400" b="1" dirty="0"/>
              <a:t>从生化代谢途径或信号转导途径更容易，也能更深入地理解非等位基因之间的相互作用。</a:t>
            </a:r>
          </a:p>
        </p:txBody>
      </p:sp>
      <p:sp>
        <p:nvSpPr>
          <p:cNvPr id="8" name="灯片编号占位符 2">
            <a:extLst>
              <a:ext uri="{FF2B5EF4-FFF2-40B4-BE49-F238E27FC236}">
                <a16:creationId xmlns:a16="http://schemas.microsoft.com/office/drawing/2014/main" id="{B61D8936-B052-4D7A-9110-18246DCF00F0}"/>
              </a:ext>
            </a:extLst>
          </p:cNvPr>
          <p:cNvSpPr txBox="1">
            <a:spLocks/>
          </p:cNvSpPr>
          <p:nvPr/>
        </p:nvSpPr>
        <p:spPr>
          <a:xfrm>
            <a:off x="11353799" y="6356350"/>
            <a:ext cx="577363" cy="365125"/>
          </a:xfrm>
          <a:prstGeom prst="rect">
            <a:avLst/>
          </a:prstGeom>
        </p:spPr>
        <p:txBody>
          <a:bodyPr vert="horz" lIns="91440" tIns="45720" rIns="91440" bIns="45720" rtlCol="0" anchor="ctr"/>
          <a:lstStyle>
            <a:defPPr>
              <a:defRPr lang="zh-CN"/>
            </a:defPPr>
            <a:lvl1pPr algn="r">
              <a:defRPr sz="1200">
                <a:solidFill>
                  <a:schemeClr val="tx1">
                    <a:tint val="75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751D38-C989-48BC-B1AB-387F6E8DCEB6}" type="slidenum">
              <a:rPr lang="zh-CN" altLang="en-US"/>
              <a:pPr/>
              <a:t>45</a:t>
            </a:fld>
            <a:endParaRPr lang="zh-CN" altLang="en-US" dirty="0"/>
          </a:p>
        </p:txBody>
      </p:sp>
    </p:spTree>
    <p:extLst>
      <p:ext uri="{BB962C8B-B14F-4D97-AF65-F5344CB8AC3E}">
        <p14:creationId xmlns:p14="http://schemas.microsoft.com/office/powerpoint/2010/main" val="613014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3"/>
          <p:cNvSpPr>
            <a:spLocks noGrp="1"/>
          </p:cNvSpPr>
          <p:nvPr>
            <p:ph idx="1"/>
          </p:nvPr>
        </p:nvSpPr>
        <p:spPr>
          <a:xfrm>
            <a:off x="527051" y="981076"/>
            <a:ext cx="10972800" cy="4525963"/>
          </a:xfrm>
          <a:noFill/>
          <a:ln>
            <a:noFill/>
          </a:ln>
        </p:spPr>
        <p:txBody>
          <a:bodyPr anchor="t" anchorCtr="0"/>
          <a:lstStyle/>
          <a:p>
            <a:pPr eaLnBrk="1" hangingPunct="1">
              <a:buNone/>
            </a:pPr>
            <a:r>
              <a:rPr lang="en-US" altLang="zh-CN" b="1" dirty="0"/>
              <a:t>1</a:t>
            </a:r>
            <a:r>
              <a:rPr lang="zh-CN" altLang="en-US" b="1" dirty="0"/>
              <a:t>、</a:t>
            </a:r>
            <a:r>
              <a:rPr lang="en-US" altLang="zh-CN" b="1" i="1" dirty="0"/>
              <a:t>(03</a:t>
            </a:r>
            <a:r>
              <a:rPr lang="zh-CN" altLang="en-US" b="1" i="1" dirty="0"/>
              <a:t>年全国联赛</a:t>
            </a:r>
            <a:r>
              <a:rPr lang="en-US" altLang="zh-CN" b="1" i="1" dirty="0"/>
              <a:t>)</a:t>
            </a:r>
            <a:r>
              <a:rPr lang="zh-CN" altLang="en-US" b="1" dirty="0"/>
              <a:t>在</a:t>
            </a:r>
            <a:r>
              <a:rPr lang="en-US" altLang="zh-CN" b="1" dirty="0"/>
              <a:t>ABO</a:t>
            </a:r>
            <a:r>
              <a:rPr lang="zh-CN" altLang="en-US" b="1" dirty="0"/>
              <a:t>血型遗传中，后代可能出现三种血型的双亲之一血型一定为</a:t>
            </a:r>
          </a:p>
          <a:p>
            <a:pPr eaLnBrk="1" hangingPunct="1">
              <a:buNone/>
            </a:pPr>
            <a:r>
              <a:rPr lang="zh-CN" altLang="en-US" b="1" dirty="0"/>
              <a:t>     </a:t>
            </a:r>
            <a:r>
              <a:rPr lang="en-US" altLang="zh-CN" b="1" dirty="0"/>
              <a:t>A</a:t>
            </a:r>
            <a:r>
              <a:rPr lang="zh-CN" altLang="en-US" b="1" dirty="0"/>
              <a:t>．</a:t>
            </a:r>
            <a:r>
              <a:rPr lang="en-US" altLang="zh-CN" b="1" dirty="0"/>
              <a:t>O       B</a:t>
            </a:r>
            <a:r>
              <a:rPr lang="zh-CN" altLang="en-US" b="1" dirty="0"/>
              <a:t>．</a:t>
            </a:r>
            <a:r>
              <a:rPr lang="en-US" altLang="zh-CN" b="1" dirty="0"/>
              <a:t>A       C</a:t>
            </a:r>
            <a:r>
              <a:rPr lang="zh-CN" altLang="en-US" b="1" dirty="0"/>
              <a:t>．</a:t>
            </a:r>
            <a:r>
              <a:rPr lang="en-US" altLang="zh-CN" b="1" dirty="0"/>
              <a:t>B      D</a:t>
            </a:r>
            <a:r>
              <a:rPr lang="zh-CN" altLang="en-US" b="1" dirty="0"/>
              <a:t>．</a:t>
            </a:r>
            <a:r>
              <a:rPr lang="en-US" altLang="zh-CN" b="1" dirty="0"/>
              <a:t>AB</a:t>
            </a:r>
          </a:p>
          <a:p>
            <a:pPr eaLnBrk="1" hangingPunct="1">
              <a:buNone/>
            </a:pPr>
            <a:r>
              <a:rPr lang="en-US" altLang="zh-CN" b="1" dirty="0"/>
              <a:t>2</a:t>
            </a:r>
            <a:r>
              <a:rPr lang="zh-CN" altLang="en-US" b="1" dirty="0"/>
              <a:t>、</a:t>
            </a:r>
            <a:r>
              <a:rPr lang="en-US" altLang="zh-CN" b="1" i="1" dirty="0"/>
              <a:t>(00</a:t>
            </a:r>
            <a:r>
              <a:rPr lang="zh-CN" altLang="en-US" b="1" i="1" dirty="0"/>
              <a:t>年全国联赛</a:t>
            </a:r>
            <a:r>
              <a:rPr lang="en-US" altLang="zh-CN" b="1" i="1" dirty="0"/>
              <a:t>)</a:t>
            </a:r>
            <a:r>
              <a:rPr lang="zh-CN" altLang="en-US" b="1" dirty="0"/>
              <a:t>假若小王的父亲的血型为 </a:t>
            </a:r>
          </a:p>
          <a:p>
            <a:pPr eaLnBrk="1" hangingPunct="1">
              <a:buNone/>
            </a:pPr>
            <a:r>
              <a:rPr lang="zh-CN" altLang="en-US" b="1" dirty="0"/>
              <a:t>      </a:t>
            </a:r>
            <a:r>
              <a:rPr lang="en-US" altLang="zh-CN" b="1" dirty="0"/>
              <a:t>A</a:t>
            </a:r>
            <a:r>
              <a:rPr lang="zh-CN" altLang="en-US" b="1" dirty="0"/>
              <a:t>型</a:t>
            </a:r>
            <a:r>
              <a:rPr lang="en-US" altLang="zh-CN" b="1" dirty="0"/>
              <a:t>,</a:t>
            </a:r>
            <a:r>
              <a:rPr lang="zh-CN" altLang="en-US" b="1" dirty="0"/>
              <a:t>母亲的是</a:t>
            </a:r>
            <a:r>
              <a:rPr lang="en-US" altLang="zh-CN" b="1" dirty="0"/>
              <a:t>O</a:t>
            </a:r>
            <a:r>
              <a:rPr lang="zh-CN" altLang="en-US" b="1" dirty="0"/>
              <a:t>型</a:t>
            </a:r>
            <a:r>
              <a:rPr lang="en-US" altLang="zh-CN" b="1" dirty="0"/>
              <a:t>,</a:t>
            </a:r>
            <a:r>
              <a:rPr lang="zh-CN" altLang="en-US" b="1" dirty="0"/>
              <a:t>小王的血型可能是</a:t>
            </a:r>
          </a:p>
          <a:p>
            <a:pPr eaLnBrk="1" hangingPunct="1">
              <a:buNone/>
            </a:pPr>
            <a:r>
              <a:rPr lang="zh-CN" altLang="en-US" b="1" dirty="0"/>
              <a:t>      </a:t>
            </a:r>
            <a:r>
              <a:rPr lang="en-US" altLang="zh-CN" b="1" dirty="0"/>
              <a:t>A</a:t>
            </a:r>
            <a:r>
              <a:rPr lang="zh-CN" altLang="en-US" b="1" dirty="0"/>
              <a:t>．</a:t>
            </a:r>
            <a:r>
              <a:rPr lang="en-US" altLang="zh-CN" b="1" dirty="0"/>
              <a:t>A</a:t>
            </a:r>
            <a:r>
              <a:rPr lang="zh-CN" altLang="en-US" b="1" dirty="0"/>
              <a:t>或</a:t>
            </a:r>
            <a:r>
              <a:rPr lang="en-US" altLang="zh-CN" b="1" dirty="0"/>
              <a:t>B</a:t>
            </a:r>
            <a:r>
              <a:rPr lang="zh-CN" altLang="en-US" b="1" dirty="0"/>
              <a:t>型        </a:t>
            </a:r>
            <a:r>
              <a:rPr lang="en-US" altLang="zh-CN" b="1" dirty="0"/>
              <a:t>B</a:t>
            </a:r>
            <a:r>
              <a:rPr lang="zh-CN" altLang="en-US" b="1" dirty="0"/>
              <a:t>．</a:t>
            </a:r>
            <a:r>
              <a:rPr lang="en-US" altLang="zh-CN" b="1" dirty="0"/>
              <a:t>A</a:t>
            </a:r>
            <a:r>
              <a:rPr lang="zh-CN" altLang="en-US" b="1" dirty="0"/>
              <a:t>或</a:t>
            </a:r>
            <a:r>
              <a:rPr lang="en-US" altLang="zh-CN" b="1" dirty="0"/>
              <a:t>O</a:t>
            </a:r>
            <a:r>
              <a:rPr lang="zh-CN" altLang="en-US" b="1" dirty="0"/>
              <a:t>型     </a:t>
            </a:r>
          </a:p>
          <a:p>
            <a:pPr eaLnBrk="1" hangingPunct="1">
              <a:buNone/>
            </a:pPr>
            <a:r>
              <a:rPr lang="zh-CN" altLang="en-US" b="1" dirty="0"/>
              <a:t>      </a:t>
            </a:r>
            <a:r>
              <a:rPr lang="en-US" altLang="zh-CN" b="1" dirty="0"/>
              <a:t>C</a:t>
            </a:r>
            <a:r>
              <a:rPr lang="zh-CN" altLang="en-US" b="1" dirty="0"/>
              <a:t>．</a:t>
            </a:r>
            <a:r>
              <a:rPr lang="en-US" altLang="zh-CN" b="1" dirty="0"/>
              <a:t>A</a:t>
            </a:r>
            <a:r>
              <a:rPr lang="zh-CN" altLang="en-US" b="1" dirty="0"/>
              <a:t>或</a:t>
            </a:r>
            <a:r>
              <a:rPr lang="en-US" altLang="zh-CN" b="1" dirty="0"/>
              <a:t>AB</a:t>
            </a:r>
            <a:r>
              <a:rPr lang="zh-CN" altLang="en-US" b="1" dirty="0"/>
              <a:t>型      </a:t>
            </a:r>
            <a:r>
              <a:rPr lang="en-US" altLang="zh-CN" b="1" dirty="0"/>
              <a:t>D</a:t>
            </a:r>
            <a:r>
              <a:rPr lang="zh-CN" altLang="en-US" b="1" dirty="0"/>
              <a:t>．</a:t>
            </a:r>
            <a:r>
              <a:rPr lang="en-US" altLang="zh-CN" b="1" dirty="0"/>
              <a:t>B</a:t>
            </a:r>
            <a:r>
              <a:rPr lang="zh-CN" altLang="en-US" b="1" dirty="0"/>
              <a:t>或</a:t>
            </a:r>
            <a:r>
              <a:rPr lang="en-US" altLang="zh-CN" b="1" dirty="0"/>
              <a:t>A</a:t>
            </a:r>
            <a:r>
              <a:rPr lang="zh-CN" altLang="en-US" b="1" dirty="0"/>
              <a:t>型</a:t>
            </a:r>
          </a:p>
        </p:txBody>
      </p:sp>
      <p:sp>
        <p:nvSpPr>
          <p:cNvPr id="6411268" name="Text Box 4"/>
          <p:cNvSpPr txBox="1">
            <a:spLocks noChangeArrowheads="1"/>
          </p:cNvSpPr>
          <p:nvPr/>
        </p:nvSpPr>
        <p:spPr bwMode="auto">
          <a:xfrm>
            <a:off x="10919879" y="1989139"/>
            <a:ext cx="351378" cy="369332"/>
          </a:xfrm>
          <a:prstGeom prst="rect">
            <a:avLst/>
          </a:prstGeom>
          <a:noFill/>
          <a:ln>
            <a:noFill/>
          </a:ln>
          <a:effectLst/>
        </p:spPr>
        <p:txBody>
          <a:bodyPr wrap="none">
            <a:spAutoFit/>
          </a:bodyPr>
          <a:lstStyle/>
          <a:p>
            <a:pPr marR="0" algn="ctr" defTabSz="914400">
              <a:buClrTx/>
              <a:buSzTx/>
              <a:buFont typeface="Arial" panose="020B0604020202020204" pitchFamily="34" charset="0"/>
            </a:pPr>
            <a:r>
              <a:rPr kumimoji="0" lang="en-US" altLang="zh-CN" kern="1200" cap="none" spc="0" normalizeH="0" baseline="0" noProof="1">
                <a:solidFill>
                  <a:srgbClr val="FF0000"/>
                </a:solidFill>
                <a:effectLst>
                  <a:outerShdw blurRad="38100" dist="38100" dir="2700000">
                    <a:srgbClr val="000000"/>
                  </a:outerShdw>
                </a:effectLst>
                <a:latin typeface="Arial" panose="020B0604020202020204" pitchFamily="34" charset="0"/>
                <a:ea typeface="黑体" panose="02010609060101010101" pitchFamily="49" charset="-122"/>
                <a:cs typeface="+mn-cs"/>
                <a:sym typeface="+mn-ea"/>
              </a:rPr>
              <a:t>D</a:t>
            </a:r>
          </a:p>
        </p:txBody>
      </p:sp>
      <p:sp>
        <p:nvSpPr>
          <p:cNvPr id="6411269" name="Text Box 5"/>
          <p:cNvSpPr txBox="1">
            <a:spLocks noChangeArrowheads="1"/>
          </p:cNvSpPr>
          <p:nvPr/>
        </p:nvSpPr>
        <p:spPr bwMode="auto">
          <a:xfrm>
            <a:off x="10828924" y="3284538"/>
            <a:ext cx="338554" cy="369332"/>
          </a:xfrm>
          <a:prstGeom prst="rect">
            <a:avLst/>
          </a:prstGeom>
          <a:noFill/>
          <a:ln>
            <a:noFill/>
          </a:ln>
          <a:effectLst/>
        </p:spPr>
        <p:txBody>
          <a:bodyPr wrap="none">
            <a:spAutoFit/>
          </a:bodyPr>
          <a:lstStyle/>
          <a:p>
            <a:pPr marR="0" algn="ctr" defTabSz="914400">
              <a:buClrTx/>
              <a:buSzTx/>
              <a:buFont typeface="Arial" panose="020B0604020202020204" pitchFamily="34" charset="0"/>
            </a:pPr>
            <a:r>
              <a:rPr kumimoji="0" lang="en-US" altLang="zh-CN" kern="1200" cap="none" spc="0" normalizeH="0" baseline="0" noProof="1">
                <a:solidFill>
                  <a:srgbClr val="FF0000"/>
                </a:solidFill>
                <a:effectLst>
                  <a:outerShdw blurRad="38100" dist="38100" dir="2700000">
                    <a:srgbClr val="000000"/>
                  </a:outerShdw>
                </a:effectLst>
                <a:latin typeface="Arial" panose="020B0604020202020204" pitchFamily="34" charset="0"/>
                <a:ea typeface="黑体" panose="02010609060101010101" pitchFamily="49" charset="-122"/>
                <a:cs typeface="+mn-cs"/>
                <a:sym typeface="+mn-ea"/>
              </a:rPr>
              <a:t>B</a:t>
            </a:r>
          </a:p>
        </p:txBody>
      </p:sp>
    </p:spTree>
    <p:extLst>
      <p:ext uri="{BB962C8B-B14F-4D97-AF65-F5344CB8AC3E}">
        <p14:creationId xmlns:p14="http://schemas.microsoft.com/office/powerpoint/2010/main" val="460337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112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1126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3"/>
          <p:cNvSpPr>
            <a:spLocks noGrp="1"/>
          </p:cNvSpPr>
          <p:nvPr>
            <p:ph idx="1"/>
          </p:nvPr>
        </p:nvSpPr>
        <p:spPr>
          <a:xfrm>
            <a:off x="0" y="115888"/>
            <a:ext cx="10972800" cy="4525962"/>
          </a:xfrm>
          <a:noFill/>
          <a:ln>
            <a:noFill/>
          </a:ln>
        </p:spPr>
        <p:txBody>
          <a:bodyPr anchor="t" anchorCtr="0"/>
          <a:lstStyle/>
          <a:p>
            <a:pPr eaLnBrk="1" hangingPunct="1">
              <a:lnSpc>
                <a:spcPct val="90000"/>
              </a:lnSpc>
            </a:pPr>
            <a:endParaRPr lang="en-US" altLang="zh-CN" b="1" dirty="0">
              <a:latin typeface="黑体" panose="02010609060101010101" pitchFamily="49" charset="-122"/>
              <a:ea typeface="黑体" panose="02010609060101010101" pitchFamily="49" charset="-122"/>
            </a:endParaRPr>
          </a:p>
          <a:p>
            <a:pPr eaLnBrk="1" hangingPunct="1">
              <a:lnSpc>
                <a:spcPct val="90000"/>
              </a:lnSpc>
              <a:buNone/>
            </a:pP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11</a:t>
            </a:r>
            <a:r>
              <a:rPr lang="zh-CN" altLang="en-US" b="1" dirty="0">
                <a:latin typeface="黑体" panose="02010609060101010101" pitchFamily="49" charset="-122"/>
                <a:ea typeface="黑体" panose="02010609060101010101" pitchFamily="49" charset="-122"/>
              </a:rPr>
              <a:t>年全国联赛</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）已知控制人类</a:t>
            </a:r>
            <a:r>
              <a:rPr lang="en-US" altLang="zh-CN" b="1" dirty="0">
                <a:latin typeface="黑体" panose="02010609060101010101" pitchFamily="49" charset="-122"/>
                <a:ea typeface="黑体" panose="02010609060101010101" pitchFamily="49" charset="-122"/>
              </a:rPr>
              <a:t>ABO</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Rh</a:t>
            </a:r>
            <a:r>
              <a:rPr lang="zh-CN" altLang="en-US" b="1" dirty="0">
                <a:latin typeface="黑体" panose="02010609060101010101" pitchFamily="49" charset="-122"/>
                <a:ea typeface="黑体" panose="02010609060101010101" pitchFamily="49" charset="-122"/>
              </a:rPr>
              <a:t>血型的基因分别在第</a:t>
            </a:r>
            <a:r>
              <a:rPr lang="en-US" altLang="zh-CN" b="1" dirty="0">
                <a:latin typeface="黑体" panose="02010609060101010101" pitchFamily="49" charset="-122"/>
                <a:ea typeface="黑体" panose="02010609060101010101" pitchFamily="49" charset="-122"/>
              </a:rPr>
              <a:t>9</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号染色体上，假定父亲的血型基因型为</a:t>
            </a:r>
            <a:r>
              <a:rPr lang="en-US" altLang="zh-CN" b="1" dirty="0">
                <a:latin typeface="黑体" panose="02010609060101010101" pitchFamily="49" charset="-122"/>
                <a:ea typeface="黑体" panose="02010609060101010101" pitchFamily="49" charset="-122"/>
              </a:rPr>
              <a:t>I</a:t>
            </a:r>
            <a:r>
              <a:rPr lang="en-US" altLang="zh-CN" b="1" baseline="30000" dirty="0">
                <a:latin typeface="黑体" panose="02010609060101010101" pitchFamily="49" charset="-122"/>
                <a:ea typeface="黑体" panose="02010609060101010101" pitchFamily="49" charset="-122"/>
              </a:rPr>
              <a:t>B</a:t>
            </a:r>
            <a:r>
              <a:rPr lang="en-US" altLang="zh-CN" b="1" dirty="0">
                <a:latin typeface="黑体" panose="02010609060101010101" pitchFamily="49" charset="-122"/>
                <a:ea typeface="黑体" panose="02010609060101010101" pitchFamily="49" charset="-122"/>
              </a:rPr>
              <a:t>iRr</a:t>
            </a:r>
            <a:r>
              <a:rPr lang="zh-CN" altLang="en-US" b="1" dirty="0">
                <a:latin typeface="黑体" panose="02010609060101010101" pitchFamily="49" charset="-122"/>
                <a:ea typeface="黑体" panose="02010609060101010101" pitchFamily="49" charset="-122"/>
              </a:rPr>
              <a:t>，母亲的血型基因型是</a:t>
            </a:r>
            <a:r>
              <a:rPr lang="en-US" altLang="zh-CN" b="1" dirty="0">
                <a:latin typeface="黑体" panose="02010609060101010101" pitchFamily="49" charset="-122"/>
                <a:ea typeface="黑体" panose="02010609060101010101" pitchFamily="49" charset="-122"/>
              </a:rPr>
              <a:t>I</a:t>
            </a:r>
            <a:r>
              <a:rPr lang="en-US" altLang="zh-CN" b="1" baseline="30000" dirty="0">
                <a:latin typeface="黑体" panose="02010609060101010101" pitchFamily="49" charset="-122"/>
                <a:ea typeface="黑体" panose="02010609060101010101" pitchFamily="49" charset="-122"/>
              </a:rPr>
              <a:t>B</a:t>
            </a:r>
            <a:r>
              <a:rPr lang="en-US" altLang="zh-CN" b="1" dirty="0">
                <a:latin typeface="黑体" panose="02010609060101010101" pitchFamily="49" charset="-122"/>
                <a:ea typeface="黑体" panose="02010609060101010101" pitchFamily="49" charset="-122"/>
              </a:rPr>
              <a:t>irr</a:t>
            </a:r>
            <a:r>
              <a:rPr lang="zh-CN" altLang="en-US" b="1" dirty="0">
                <a:latin typeface="黑体" panose="02010609060101010101" pitchFamily="49" charset="-122"/>
                <a:ea typeface="黑体" panose="02010609060101010101" pitchFamily="49" charset="-122"/>
              </a:rPr>
              <a:t>，若允许这对夫妇生</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个孩子，则</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个孩子中至少有</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个为</a:t>
            </a:r>
            <a:r>
              <a:rPr lang="en-US" altLang="zh-CN" b="1" dirty="0">
                <a:latin typeface="黑体" panose="02010609060101010101" pitchFamily="49" charset="-122"/>
                <a:ea typeface="黑体" panose="02010609060101010101" pitchFamily="49" charset="-122"/>
              </a:rPr>
              <a:t>ORh</a:t>
            </a:r>
            <a:r>
              <a:rPr lang="en-US" altLang="zh-CN" b="1" baseline="30000"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血型的概率是（</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分）</a:t>
            </a:r>
          </a:p>
          <a:p>
            <a:pPr eaLnBrk="1" hangingPunct="1">
              <a:lnSpc>
                <a:spcPct val="90000"/>
              </a:lnSpc>
              <a:buNone/>
            </a:pP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1/8           B</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147/512       </a:t>
            </a:r>
          </a:p>
          <a:p>
            <a:pPr eaLnBrk="1" hangingPunct="1">
              <a:lnSpc>
                <a:spcPct val="90000"/>
              </a:lnSpc>
              <a:buNone/>
            </a:pPr>
            <a:r>
              <a:rPr lang="en-US" altLang="zh-CN" b="1" dirty="0">
                <a:latin typeface="黑体" panose="02010609060101010101" pitchFamily="49" charset="-122"/>
                <a:ea typeface="黑体" panose="02010609060101010101" pitchFamily="49" charset="-122"/>
              </a:rPr>
              <a:t>   C</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169/512       D</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1/512</a:t>
            </a:r>
          </a:p>
        </p:txBody>
      </p:sp>
      <p:sp>
        <p:nvSpPr>
          <p:cNvPr id="6410244" name="Text Box 4"/>
          <p:cNvSpPr txBox="1">
            <a:spLocks noChangeArrowheads="1"/>
          </p:cNvSpPr>
          <p:nvPr/>
        </p:nvSpPr>
        <p:spPr bwMode="auto">
          <a:xfrm>
            <a:off x="8688917" y="2924176"/>
            <a:ext cx="1153584" cy="369332"/>
          </a:xfrm>
          <a:prstGeom prst="rect">
            <a:avLst/>
          </a:prstGeom>
          <a:noFill/>
          <a:ln>
            <a:noFill/>
          </a:ln>
          <a:effectLst/>
        </p:spPr>
        <p:txBody>
          <a:bodyPr>
            <a:spAutoFit/>
          </a:bodyPr>
          <a:lstStyle/>
          <a:p>
            <a:pPr marR="0" algn="ctr" defTabSz="914400">
              <a:spcBef>
                <a:spcPct val="50000"/>
              </a:spcBef>
              <a:buClrTx/>
              <a:buSzTx/>
              <a:buFont typeface="Arial" panose="020B0604020202020204" pitchFamily="34" charset="0"/>
            </a:pPr>
            <a:r>
              <a:rPr kumimoji="0" lang="en-US" altLang="zh-CN" kern="1200" cap="none" spc="0" normalizeH="0" baseline="0" noProof="1">
                <a:solidFill>
                  <a:srgbClr val="FF0000"/>
                </a:solidFill>
                <a:effectLst>
                  <a:outerShdw blurRad="38100" dist="38100" dir="2700000">
                    <a:srgbClr val="000000"/>
                  </a:outerShdw>
                </a:effectLst>
                <a:latin typeface="Arial" panose="020B0604020202020204" pitchFamily="34" charset="0"/>
                <a:ea typeface="黑体" panose="02010609060101010101" pitchFamily="49" charset="-122"/>
                <a:cs typeface="+mn-cs"/>
                <a:sym typeface="+mn-ea"/>
              </a:rPr>
              <a:t>C</a:t>
            </a:r>
          </a:p>
        </p:txBody>
      </p:sp>
      <p:sp>
        <p:nvSpPr>
          <p:cNvPr id="6410245" name="Text Box 5"/>
          <p:cNvSpPr txBox="1">
            <a:spLocks noChangeArrowheads="1"/>
          </p:cNvSpPr>
          <p:nvPr/>
        </p:nvSpPr>
        <p:spPr bwMode="auto">
          <a:xfrm>
            <a:off x="814917" y="4724400"/>
            <a:ext cx="9601200" cy="369332"/>
          </a:xfrm>
          <a:prstGeom prst="rect">
            <a:avLst/>
          </a:prstGeom>
          <a:noFill/>
          <a:ln>
            <a:noFill/>
          </a:ln>
          <a:effectLst/>
        </p:spPr>
        <p:txBody>
          <a:bodyPr>
            <a:spAutoFit/>
          </a:bodyPr>
          <a:lstStyle/>
          <a:p>
            <a:pPr marR="0" defTabSz="914400">
              <a:spcBef>
                <a:spcPct val="50000"/>
              </a:spcBef>
              <a:buClrTx/>
              <a:buSzTx/>
              <a:defRPr/>
            </a:pPr>
            <a:r>
              <a:rPr kumimoji="0" lang="zh-CN" altLang="en-US" kern="1200" cap="none" spc="0" normalizeH="0" baseline="0" noProof="0">
                <a:latin typeface="Arial" panose="020B0604020202020204" pitchFamily="34" charset="0"/>
                <a:ea typeface="黑体" panose="02010609060101010101" pitchFamily="49" charset="-122"/>
                <a:cs typeface="+mn-cs"/>
                <a:sym typeface="+mn-ea"/>
              </a:rPr>
              <a:t>某个小孩是</a:t>
            </a:r>
            <a:r>
              <a:rPr kumimoji="0" lang="en-US" altLang="zh-CN" kern="1200" cap="none" spc="0" normalizeH="0" baseline="0" noProof="0">
                <a:latin typeface="Arial" panose="020B0604020202020204" pitchFamily="34" charset="0"/>
                <a:ea typeface="黑体" panose="02010609060101010101" pitchFamily="49" charset="-122"/>
                <a:cs typeface="+mn-cs"/>
                <a:sym typeface="+mn-ea"/>
              </a:rPr>
              <a:t>ORh</a:t>
            </a:r>
            <a:r>
              <a:rPr kumimoji="0" lang="en-US" altLang="zh-CN" kern="1200" cap="none" spc="0" normalizeH="0" baseline="30000" noProof="0">
                <a:latin typeface="Arial" panose="020B0604020202020204" pitchFamily="34" charset="0"/>
                <a:ea typeface="黑体" panose="02010609060101010101" pitchFamily="49" charset="-122"/>
                <a:cs typeface="+mn-cs"/>
                <a:sym typeface="+mn-ea"/>
              </a:rPr>
              <a:t>-</a:t>
            </a:r>
            <a:r>
              <a:rPr kumimoji="0" lang="zh-CN" altLang="en-US" kern="1200" cap="none" spc="0" normalizeH="0" baseline="0" noProof="0">
                <a:latin typeface="Arial" panose="020B0604020202020204" pitchFamily="34" charset="0"/>
                <a:ea typeface="黑体" panose="02010609060101010101" pitchFamily="49" charset="-122"/>
                <a:cs typeface="+mn-cs"/>
                <a:sym typeface="+mn-ea"/>
              </a:rPr>
              <a:t>血型的概率是</a:t>
            </a:r>
            <a:r>
              <a:rPr kumimoji="0" lang="en-US" altLang="zh-CN" kern="1200" cap="none" spc="0" normalizeH="0" baseline="0" noProof="0">
                <a:latin typeface="Arial" panose="020B0604020202020204" pitchFamily="34" charset="0"/>
                <a:ea typeface="黑体" panose="02010609060101010101" pitchFamily="49" charset="-122"/>
                <a:cs typeface="+mn-cs"/>
                <a:sym typeface="+mn-ea"/>
              </a:rPr>
              <a:t>1/8, 3</a:t>
            </a:r>
            <a:r>
              <a:rPr kumimoji="0" lang="zh-CN" altLang="en-US" kern="1200" cap="none" spc="0" normalizeH="0" baseline="0" noProof="0">
                <a:latin typeface="Arial" panose="020B0604020202020204" pitchFamily="34" charset="0"/>
                <a:ea typeface="黑体" panose="02010609060101010101" pitchFamily="49" charset="-122"/>
                <a:cs typeface="+mn-cs"/>
                <a:sym typeface="+mn-ea"/>
              </a:rPr>
              <a:t>个小孩至少有</a:t>
            </a:r>
            <a:r>
              <a:rPr kumimoji="0" lang="en-US" altLang="zh-CN" kern="1200" cap="none" spc="0" normalizeH="0" baseline="0" noProof="0">
                <a:latin typeface="Arial" panose="020B0604020202020204" pitchFamily="34" charset="0"/>
                <a:ea typeface="黑体" panose="02010609060101010101" pitchFamily="49" charset="-122"/>
                <a:cs typeface="+mn-cs"/>
                <a:sym typeface="+mn-ea"/>
              </a:rPr>
              <a:t>1</a:t>
            </a:r>
            <a:r>
              <a:rPr kumimoji="0" lang="zh-CN" altLang="en-US" kern="1200" cap="none" spc="0" normalizeH="0" baseline="0" noProof="0">
                <a:latin typeface="Arial" panose="020B0604020202020204" pitchFamily="34" charset="0"/>
                <a:ea typeface="黑体" panose="02010609060101010101" pitchFamily="49" charset="-122"/>
                <a:cs typeface="+mn-cs"/>
                <a:sym typeface="+mn-ea"/>
              </a:rPr>
              <a:t>个是此血型的概率为</a:t>
            </a:r>
            <a:r>
              <a:rPr kumimoji="0" lang="en-US" altLang="zh-CN" kern="1200" cap="none" spc="0" normalizeH="0" baseline="0" noProof="0">
                <a:latin typeface="Arial" panose="020B0604020202020204" pitchFamily="34" charset="0"/>
                <a:ea typeface="黑体" panose="02010609060101010101" pitchFamily="49" charset="-122"/>
                <a:cs typeface="+mn-cs"/>
                <a:sym typeface="+mn-ea"/>
              </a:rPr>
              <a:t>1-( 7/8</a:t>
            </a:r>
            <a:r>
              <a:rPr kumimoji="0" lang="en-US" altLang="zh-CN" kern="1200" cap="none" spc="0" normalizeH="0" baseline="0" noProof="0">
                <a:effectLst>
                  <a:outerShdw blurRad="38100" dist="38100" dir="2700000" algn="tl">
                    <a:srgbClr val="C0C0C0"/>
                  </a:outerShdw>
                </a:effectLst>
                <a:latin typeface="Arial" panose="020B0604020202020204" pitchFamily="34" charset="0"/>
                <a:ea typeface="黑体" panose="02010609060101010101" pitchFamily="49" charset="-122"/>
                <a:cs typeface="+mn-cs"/>
                <a:sym typeface="+mn-ea"/>
              </a:rPr>
              <a:t> </a:t>
            </a:r>
            <a:r>
              <a:rPr kumimoji="0" lang="en-US" altLang="zh-CN" kern="1200" cap="none" spc="0" normalizeH="0" baseline="0" noProof="0">
                <a:latin typeface="Arial" panose="020B0604020202020204" pitchFamily="34" charset="0"/>
                <a:ea typeface="黑体" panose="02010609060101010101" pitchFamily="49" charset="-122"/>
                <a:cs typeface="+mn-cs"/>
                <a:sym typeface="+mn-ea"/>
              </a:rPr>
              <a:t>)</a:t>
            </a:r>
            <a:r>
              <a:rPr kumimoji="0" lang="en-US" altLang="zh-CN" kern="1200" cap="none" spc="0" normalizeH="0" baseline="30000" noProof="0">
                <a:latin typeface="Arial" panose="020B0604020202020204" pitchFamily="34" charset="0"/>
                <a:ea typeface="黑体" panose="02010609060101010101" pitchFamily="49" charset="-122"/>
                <a:cs typeface="+mn-cs"/>
                <a:sym typeface="+mn-ea"/>
              </a:rPr>
              <a:t>3</a:t>
            </a:r>
          </a:p>
        </p:txBody>
      </p:sp>
    </p:spTree>
    <p:extLst>
      <p:ext uri="{BB962C8B-B14F-4D97-AF65-F5344CB8AC3E}">
        <p14:creationId xmlns:p14="http://schemas.microsoft.com/office/powerpoint/2010/main" val="3034000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102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1024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24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3314" name="Rectangle 2"/>
          <p:cNvSpPr>
            <a:spLocks noChangeArrowheads="1"/>
          </p:cNvSpPr>
          <p:nvPr/>
        </p:nvSpPr>
        <p:spPr bwMode="auto">
          <a:xfrm>
            <a:off x="6003634" y="1554490"/>
            <a:ext cx="184731" cy="523220"/>
          </a:xfrm>
          <a:prstGeom prst="rect">
            <a:avLst/>
          </a:prstGeom>
          <a:noFill/>
          <a:ln>
            <a:noFill/>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Arial" panose="020B0604020202020204" pitchFamily="34" charset="0"/>
              <a:ea typeface="黑体" panose="02010609060101010101" pitchFamily="49" charset="-122"/>
              <a:cs typeface="+mn-cs"/>
            </a:endParaRPr>
          </a:p>
        </p:txBody>
      </p:sp>
      <p:sp>
        <p:nvSpPr>
          <p:cNvPr id="147458" name="Rectangle 4"/>
          <p:cNvSpPr/>
          <p:nvPr/>
        </p:nvSpPr>
        <p:spPr>
          <a:xfrm>
            <a:off x="0" y="347593"/>
            <a:ext cx="11618384" cy="1754326"/>
          </a:xfrm>
          <a:prstGeom prst="rect">
            <a:avLst/>
          </a:prstGeom>
          <a:noFill/>
          <a:ln w="9525">
            <a:noFill/>
          </a:ln>
        </p:spPr>
        <p:txBody>
          <a:bodyPr anchor="ctr" anchorCtr="0">
            <a:spAutoFit/>
          </a:bodyPr>
          <a:lstStyle/>
          <a:p>
            <a:pPr indent="266700"/>
            <a:endParaRPr lang="en-US" altLang="zh-CN" dirty="0">
              <a:latin typeface="黑体" panose="02010609060101010101" pitchFamily="49" charset="-122"/>
              <a:ea typeface="黑体" panose="02010609060101010101" pitchFamily="49" charset="-122"/>
            </a:endParaRPr>
          </a:p>
          <a:p>
            <a:pPr indent="266700" eaLnBrk="0" hangingPunct="0"/>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．灰兔和白兔杂交，子一代全是灰色，子一代灰兔相互交配，子二代中有灰兔、黑兔和白兔；比率为</a:t>
            </a:r>
            <a:r>
              <a:rPr lang="en-US" altLang="zh-CN" dirty="0">
                <a:latin typeface="黑体" panose="02010609060101010101" pitchFamily="49" charset="-122"/>
                <a:ea typeface="黑体" panose="02010609060101010101" pitchFamily="49" charset="-122"/>
              </a:rPr>
              <a:t>9:3:4</a:t>
            </a:r>
            <a:r>
              <a:rPr lang="zh-CN" altLang="en-US" dirty="0">
                <a:latin typeface="黑体" panose="02010609060101010101" pitchFamily="49" charset="-122"/>
                <a:ea typeface="黑体" panose="02010609060101010101" pitchFamily="49" charset="-122"/>
              </a:rPr>
              <a:t>，这种遗传现象说明的是 </a:t>
            </a:r>
          </a:p>
          <a:p>
            <a:pPr indent="266700" eaLnBrk="0" hangingPunct="0"/>
            <a:r>
              <a:rPr lang="en-US" altLang="zh-CN" dirty="0">
                <a:latin typeface="黑体" panose="02010609060101010101" pitchFamily="49" charset="-122"/>
                <a:ea typeface="黑体" panose="02010609060101010101" pitchFamily="49" charset="-122"/>
              </a:rPr>
              <a:t>A</a:t>
            </a:r>
            <a:r>
              <a:rPr lang="zh-CN" altLang="en-US" dirty="0">
                <a:latin typeface="黑体" panose="02010609060101010101" pitchFamily="49" charset="-122"/>
                <a:ea typeface="黑体" panose="02010609060101010101" pitchFamily="49" charset="-122"/>
              </a:rPr>
              <a:t>．性状的多基因决定    </a:t>
            </a:r>
            <a:r>
              <a:rPr lang="en-US" altLang="zh-CN" dirty="0">
                <a:latin typeface="黑体" panose="02010609060101010101" pitchFamily="49" charset="-122"/>
                <a:ea typeface="黑体" panose="02010609060101010101" pitchFamily="49" charset="-122"/>
              </a:rPr>
              <a:t>B</a:t>
            </a:r>
            <a:r>
              <a:rPr lang="zh-CN" altLang="en-US" dirty="0">
                <a:latin typeface="黑体" panose="02010609060101010101" pitchFamily="49" charset="-122"/>
                <a:ea typeface="黑体" panose="02010609060101010101" pitchFamily="49" charset="-122"/>
              </a:rPr>
              <a:t>．显性上位效应</a:t>
            </a:r>
          </a:p>
          <a:p>
            <a:pPr indent="266700" eaLnBrk="0" hangingPunct="0"/>
            <a:r>
              <a:rPr lang="en-US" altLang="zh-CN" dirty="0">
                <a:latin typeface="黑体" panose="02010609060101010101" pitchFamily="49" charset="-122"/>
                <a:ea typeface="黑体" panose="02010609060101010101" pitchFamily="49" charset="-122"/>
              </a:rPr>
              <a:t>C</a:t>
            </a:r>
            <a:r>
              <a:rPr lang="zh-CN" altLang="en-US" dirty="0">
                <a:latin typeface="黑体" panose="02010609060101010101" pitchFamily="49" charset="-122"/>
                <a:ea typeface="黑体" panose="02010609060101010101" pitchFamily="49" charset="-122"/>
              </a:rPr>
              <a:t>．基因的多效性	    </a:t>
            </a:r>
            <a:r>
              <a:rPr lang="en-US" altLang="zh-CN" dirty="0">
                <a:latin typeface="黑体" panose="02010609060101010101" pitchFamily="49" charset="-122"/>
                <a:ea typeface="黑体" panose="02010609060101010101" pitchFamily="49" charset="-122"/>
              </a:rPr>
              <a:t>D</a:t>
            </a:r>
            <a:r>
              <a:rPr lang="zh-CN" altLang="en-US" dirty="0">
                <a:latin typeface="黑体" panose="02010609060101010101" pitchFamily="49" charset="-122"/>
                <a:ea typeface="黑体" panose="02010609060101010101" pitchFamily="49" charset="-122"/>
              </a:rPr>
              <a:t>．隐性上位效应</a:t>
            </a:r>
          </a:p>
          <a:p>
            <a:pPr indent="266700" eaLnBrk="0" hangingPunct="0"/>
            <a:endParaRPr lang="en-US" altLang="zh-CN" dirty="0">
              <a:latin typeface="黑体" panose="02010609060101010101" pitchFamily="49" charset="-122"/>
              <a:ea typeface="Times New Roman" panose="02020603050405020304" pitchFamily="18" charset="0"/>
            </a:endParaRPr>
          </a:p>
        </p:txBody>
      </p:sp>
      <p:sp>
        <p:nvSpPr>
          <p:cNvPr id="6413353" name="Text Box 41"/>
          <p:cNvSpPr txBox="1">
            <a:spLocks noChangeArrowheads="1"/>
          </p:cNvSpPr>
          <p:nvPr/>
        </p:nvSpPr>
        <p:spPr bwMode="auto">
          <a:xfrm>
            <a:off x="9935633" y="1341439"/>
            <a:ext cx="1441451" cy="369332"/>
          </a:xfrm>
          <a:prstGeom prst="rect">
            <a:avLst/>
          </a:prstGeom>
          <a:noFill/>
          <a:ln>
            <a:noFill/>
          </a:ln>
          <a:effectLst/>
        </p:spPr>
        <p:txBody>
          <a:bodyPr>
            <a:spAutoFit/>
          </a:bodyPr>
          <a:lstStyle/>
          <a:p>
            <a:pPr marR="0" algn="ctr" defTabSz="914400">
              <a:spcBef>
                <a:spcPct val="50000"/>
              </a:spcBef>
              <a:buClrTx/>
              <a:buSzTx/>
              <a:buFont typeface="Arial" panose="020B0604020202020204" pitchFamily="34" charset="0"/>
            </a:pPr>
            <a:r>
              <a:rPr kumimoji="0" lang="en-US" altLang="zh-CN" kern="1200" cap="none" spc="0" normalizeH="0" baseline="0" noProof="1">
                <a:solidFill>
                  <a:srgbClr val="FF0000"/>
                </a:solidFill>
                <a:effectLst>
                  <a:outerShdw blurRad="38100" dist="38100" dir="2700000">
                    <a:srgbClr val="000000"/>
                  </a:outerShdw>
                </a:effectLst>
                <a:latin typeface="Arial" panose="020B0604020202020204" pitchFamily="34" charset="0"/>
                <a:ea typeface="黑体" panose="02010609060101010101" pitchFamily="49" charset="-122"/>
                <a:cs typeface="+mn-cs"/>
                <a:sym typeface="+mn-ea"/>
              </a:rPr>
              <a:t>D</a:t>
            </a:r>
          </a:p>
        </p:txBody>
      </p:sp>
      <p:sp>
        <p:nvSpPr>
          <p:cNvPr id="6413358" name="Text Box 46"/>
          <p:cNvSpPr txBox="1">
            <a:spLocks noChangeArrowheads="1"/>
          </p:cNvSpPr>
          <p:nvPr/>
        </p:nvSpPr>
        <p:spPr bwMode="auto">
          <a:xfrm>
            <a:off x="239185" y="2492376"/>
            <a:ext cx="11713633" cy="3477875"/>
          </a:xfrm>
          <a:prstGeom prst="rect">
            <a:avLst/>
          </a:prstGeom>
          <a:noFill/>
          <a:ln>
            <a:noFill/>
          </a:ln>
        </p:spPr>
        <p:txBody>
          <a:bodyPr>
            <a:spAutoFit/>
          </a:bodyPr>
          <a:lstStyle>
            <a:lvl1pPr algn="ctr">
              <a:defRPr sz="2800" b="1">
                <a:solidFill>
                  <a:schemeClr val="tx1"/>
                </a:solidFill>
                <a:latin typeface="Arial" panose="020B0604020202020204" pitchFamily="34" charset="0"/>
                <a:ea typeface="黑体" panose="02010609060101010101" pitchFamily="49" charset="-122"/>
              </a:defRPr>
            </a:lvl1pPr>
            <a:lvl2pPr algn="ctr">
              <a:defRPr sz="2800" b="1">
                <a:solidFill>
                  <a:schemeClr val="tx1"/>
                </a:solidFill>
                <a:latin typeface="Arial" panose="020B0604020202020204" pitchFamily="34" charset="0"/>
                <a:ea typeface="黑体" panose="02010609060101010101" pitchFamily="49" charset="-122"/>
              </a:defRPr>
            </a:lvl2pPr>
            <a:lvl3pPr algn="ctr">
              <a:defRPr sz="2800" b="1">
                <a:solidFill>
                  <a:schemeClr val="tx1"/>
                </a:solidFill>
                <a:latin typeface="Arial" panose="020B0604020202020204" pitchFamily="34" charset="0"/>
                <a:ea typeface="黑体" panose="02010609060101010101" pitchFamily="49" charset="-122"/>
              </a:defRPr>
            </a:lvl3pPr>
            <a:lvl4pPr algn="ctr">
              <a:defRPr sz="2800" b="1">
                <a:solidFill>
                  <a:schemeClr val="tx1"/>
                </a:solidFill>
                <a:latin typeface="Arial" panose="020B0604020202020204" pitchFamily="34" charset="0"/>
                <a:ea typeface="黑体" panose="02010609060101010101" pitchFamily="49" charset="-122"/>
              </a:defRPr>
            </a:lvl4pPr>
            <a:lvl5pPr algn="ctr">
              <a:defRPr sz="2800" b="1">
                <a:solidFill>
                  <a:schemeClr val="tx1"/>
                </a:solidFill>
                <a:latin typeface="Arial" panose="020B0604020202020204" pitchFamily="34" charset="0"/>
                <a:ea typeface="黑体" panose="02010609060101010101" pitchFamily="49" charset="-122"/>
              </a:defRPr>
            </a:lvl5pPr>
            <a:lvl6pPr algn="ctr" fontAlgn="base">
              <a:spcBef>
                <a:spcPct val="0"/>
              </a:spcBef>
              <a:spcAft>
                <a:spcPct val="0"/>
              </a:spcAft>
              <a:buFont typeface="Arial" panose="020B0604020202020204" pitchFamily="34" charset="0"/>
              <a:defRPr sz="2800" b="1">
                <a:solidFill>
                  <a:schemeClr val="tx1"/>
                </a:solidFill>
                <a:latin typeface="Arial" panose="020B0604020202020204" pitchFamily="34" charset="0"/>
                <a:ea typeface="黑体" panose="02010609060101010101" pitchFamily="49" charset="-122"/>
              </a:defRPr>
            </a:lvl6pPr>
            <a:lvl7pPr algn="ctr" fontAlgn="base">
              <a:spcBef>
                <a:spcPct val="0"/>
              </a:spcBef>
              <a:spcAft>
                <a:spcPct val="0"/>
              </a:spcAft>
              <a:buFont typeface="Arial" panose="020B0604020202020204" pitchFamily="34" charset="0"/>
              <a:defRPr sz="2800" b="1">
                <a:solidFill>
                  <a:schemeClr val="tx1"/>
                </a:solidFill>
                <a:latin typeface="Arial" panose="020B0604020202020204" pitchFamily="34" charset="0"/>
                <a:ea typeface="黑体" panose="02010609060101010101" pitchFamily="49" charset="-122"/>
              </a:defRPr>
            </a:lvl7pPr>
            <a:lvl8pPr algn="ctr" fontAlgn="base">
              <a:spcBef>
                <a:spcPct val="0"/>
              </a:spcBef>
              <a:spcAft>
                <a:spcPct val="0"/>
              </a:spcAft>
              <a:buFont typeface="Arial" panose="020B0604020202020204" pitchFamily="34" charset="0"/>
              <a:defRPr sz="2800" b="1">
                <a:solidFill>
                  <a:schemeClr val="tx1"/>
                </a:solidFill>
                <a:latin typeface="Arial" panose="020B0604020202020204" pitchFamily="34" charset="0"/>
                <a:ea typeface="黑体" panose="02010609060101010101" pitchFamily="49" charset="-122"/>
              </a:defRPr>
            </a:lvl8pPr>
            <a:lvl9pPr algn="ctr" fontAlgn="base">
              <a:spcBef>
                <a:spcPct val="0"/>
              </a:spcBef>
              <a:spcAft>
                <a:spcPct val="0"/>
              </a:spcAft>
              <a:buFont typeface="Arial" panose="020B0604020202020204" pitchFamily="34" charset="0"/>
              <a:defRPr sz="28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5</a:t>
            </a:r>
            <a:r>
              <a:rPr kumimoji="0" lang="zh-CN" altLang="en-US" sz="20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rPr>
              <a:t>．</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某植物的花色受不连锁的两对基因</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B</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b</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控制，这两对基因与花色的关系如下图所示，此外，</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基因对于</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B</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基因的表达有抑制作用。现将基因型为</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AABB</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的个体与基因型为</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aabb</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的个体杂交得到</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F</a:t>
            </a:r>
            <a:r>
              <a:rPr kumimoji="0" lang="en-US" altLang="zh-CN" sz="2000" b="1" i="0" u="none" strike="noStrike" kern="1200" cap="none" spc="0" normalizeH="0" baseline="-2500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l</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，则</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F</a:t>
            </a:r>
            <a:r>
              <a:rPr kumimoji="0" lang="en-US" altLang="zh-CN" sz="2000" b="1" i="0" u="none" strike="noStrike" kern="1200" cap="none" spc="0" normalizeH="0" baseline="-2500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1</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的自交后代中花色的表现型及比例是 </a:t>
            </a: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    </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    </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．白：粉：红，</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3</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10</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3       B</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．白：粉：红，</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3</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12</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1</a:t>
            </a: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    C</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．白：粉：红，</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4</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9</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3        D</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．白：粉：红，</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4</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3</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t>
            </a:r>
            <a:r>
              <a:rPr kumimoji="0" lang="en-US" altLang="zh-CN"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9 </a:t>
            </a:r>
          </a:p>
        </p:txBody>
      </p:sp>
      <p:pic>
        <p:nvPicPr>
          <p:cNvPr id="6413359" name="Picture 47"/>
          <p:cNvPicPr>
            <a:picLocks noChangeAspect="1"/>
          </p:cNvPicPr>
          <p:nvPr/>
        </p:nvPicPr>
        <p:blipFill>
          <a:blip r:embed="rId2"/>
          <a:stretch>
            <a:fillRect/>
          </a:stretch>
        </p:blipFill>
        <p:spPr>
          <a:xfrm>
            <a:off x="719667" y="4005264"/>
            <a:ext cx="9889067" cy="1330325"/>
          </a:xfrm>
          <a:prstGeom prst="rect">
            <a:avLst/>
          </a:prstGeom>
          <a:noFill/>
          <a:ln w="9525">
            <a:noFill/>
          </a:ln>
        </p:spPr>
      </p:pic>
      <p:sp>
        <p:nvSpPr>
          <p:cNvPr id="6413360" name="Text Box 48"/>
          <p:cNvSpPr txBox="1">
            <a:spLocks noChangeArrowheads="1"/>
          </p:cNvSpPr>
          <p:nvPr/>
        </p:nvSpPr>
        <p:spPr bwMode="auto">
          <a:xfrm>
            <a:off x="10128251" y="3486151"/>
            <a:ext cx="1441451" cy="369332"/>
          </a:xfrm>
          <a:prstGeom prst="rect">
            <a:avLst/>
          </a:prstGeom>
          <a:noFill/>
          <a:ln>
            <a:noFill/>
          </a:ln>
          <a:effectLst/>
        </p:spPr>
        <p:txBody>
          <a:bodyPr>
            <a:spAutoFit/>
          </a:bodyPr>
          <a:lstStyle/>
          <a:p>
            <a:pPr marR="0" algn="ctr" defTabSz="914400">
              <a:spcBef>
                <a:spcPct val="50000"/>
              </a:spcBef>
              <a:buClrTx/>
              <a:buSzTx/>
              <a:buFont typeface="Arial" panose="020B0604020202020204" pitchFamily="34" charset="0"/>
            </a:pPr>
            <a:r>
              <a:rPr kumimoji="0" lang="en-US" altLang="zh-CN" kern="1200" cap="none" spc="0" normalizeH="0" baseline="0" noProof="1">
                <a:solidFill>
                  <a:srgbClr val="FF0000"/>
                </a:solidFill>
                <a:effectLst>
                  <a:outerShdw blurRad="38100" dist="38100" dir="2700000">
                    <a:srgbClr val="000000"/>
                  </a:outerShdw>
                </a:effectLst>
                <a:latin typeface="Arial" panose="020B0604020202020204" pitchFamily="34" charset="0"/>
                <a:ea typeface="黑体" panose="02010609060101010101" pitchFamily="49" charset="-122"/>
                <a:cs typeface="+mn-cs"/>
                <a:sym typeface="+mn-ea"/>
              </a:rPr>
              <a:t>C</a:t>
            </a:r>
          </a:p>
        </p:txBody>
      </p:sp>
    </p:spTree>
    <p:extLst>
      <p:ext uri="{BB962C8B-B14F-4D97-AF65-F5344CB8AC3E}">
        <p14:creationId xmlns:p14="http://schemas.microsoft.com/office/powerpoint/2010/main" val="940904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133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133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133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1336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3358"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2"/>
        </a:lnRef>
        <a:fillRef idx="1">
          <a:schemeClr val="lt1"/>
        </a:fillRef>
        <a:effectRef idx="0">
          <a:schemeClr val="accent2"/>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648</TotalTime>
  <Words>4380</Words>
  <Application>Microsoft Office PowerPoint</Application>
  <PresentationFormat>宽屏</PresentationFormat>
  <Paragraphs>288</Paragraphs>
  <Slides>48</Slides>
  <Notes>21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48</vt:i4>
      </vt:variant>
    </vt:vector>
  </HeadingPairs>
  <TitlesOfParts>
    <vt:vector size="58" baseType="lpstr">
      <vt:lpstr>等线</vt:lpstr>
      <vt:lpstr>等线 Light</vt:lpstr>
      <vt:lpstr>黑体</vt:lpstr>
      <vt:lpstr>楷体</vt:lpstr>
      <vt:lpstr>微软雅黑</vt:lpstr>
      <vt:lpstr>Arial</vt:lpstr>
      <vt:lpstr>Calibri</vt:lpstr>
      <vt:lpstr>Times New Roman</vt:lpstr>
      <vt:lpstr>Wingdings</vt:lpstr>
      <vt:lpstr>Office 主题​​</vt:lpstr>
      <vt:lpstr>第四章  孟德尔遗传的拓展</vt:lpstr>
      <vt:lpstr>PowerPoint 演示文稿</vt:lpstr>
      <vt:lpstr>一、显隐性关系的相对性 </vt:lpstr>
      <vt:lpstr>(1)不完全显性(incomplete dominance) </vt:lpstr>
      <vt:lpstr>PowerPoint 演示文稿</vt:lpstr>
      <vt:lpstr> (2)并显性(codominance)（也叫共显性）</vt:lpstr>
      <vt:lpstr>（3）镶嵌显性（mosaic  dominance） </vt:lpstr>
      <vt:lpstr>(4)超显性 </vt:lpstr>
      <vt:lpstr>（5）显隐性可随所依据的标准而更改</vt:lpstr>
      <vt:lpstr>PowerPoint 演示文稿</vt:lpstr>
      <vt:lpstr>（6）显隐性与环境的影响</vt:lpstr>
      <vt:lpstr>二、环境的影响和基因的表型效应</vt:lpstr>
      <vt:lpstr>(二)性状的多基因决定（多因一效）</vt:lpstr>
      <vt:lpstr>（三）基因的多效性（一因多效）</vt:lpstr>
      <vt:lpstr>（四）表现度（expressivity）和外显率（penetrance）</vt:lpstr>
      <vt:lpstr>PowerPoint 演示文稿</vt:lpstr>
      <vt:lpstr>PowerPoint 演示文稿</vt:lpstr>
      <vt:lpstr>（五）拟表型（phenocopy）（表型模写）</vt:lpstr>
      <vt:lpstr>三、致死基因(lethal genes)</vt:lpstr>
      <vt:lpstr>三、致死基因(lethal genes)</vt:lpstr>
      <vt:lpstr>四、复等位基因(multiple alelles)</vt:lpstr>
      <vt:lpstr>PowerPoint 演示文稿</vt:lpstr>
      <vt:lpstr>四、复等位基因(multiple alelles)</vt:lpstr>
      <vt:lpstr>PowerPoint 演示文稿</vt:lpstr>
      <vt:lpstr>PowerPoint 演示文稿</vt:lpstr>
      <vt:lpstr>孟买型与H抗原</vt:lpstr>
      <vt:lpstr>PowerPoint 演示文稿</vt:lpstr>
      <vt:lpstr>Rh血型与母子间不相容</vt:lpstr>
      <vt:lpstr>PowerPoint 演示文稿</vt:lpstr>
      <vt:lpstr>PowerPoint 演示文稿</vt:lpstr>
      <vt:lpstr> 家畜的母子间的血型不相容</vt:lpstr>
      <vt:lpstr>PowerPoint 演示文稿</vt:lpstr>
      <vt:lpstr>PowerPoint 演示文稿</vt:lpstr>
      <vt:lpstr>PowerPoint 演示文稿</vt:lpstr>
      <vt:lpstr>1.互补基因（complementary gene）</vt:lpstr>
      <vt:lpstr>PowerPoint 演示文稿</vt:lpstr>
      <vt:lpstr>PowerPoint 演示文稿</vt:lpstr>
      <vt:lpstr>2.积加作用</vt:lpstr>
      <vt:lpstr>3.重叠作用</vt:lpstr>
      <vt:lpstr>4.显性上位作用</vt:lpstr>
      <vt:lpstr>5.隐性上位作用</vt:lpstr>
      <vt:lpstr>6.抑制作用</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基因的作用及其与环境的关系</dc:title>
  <dc:creator> </dc:creator>
  <cp:lastModifiedBy>Yijie Lee</cp:lastModifiedBy>
  <cp:revision>113</cp:revision>
  <dcterms:created xsi:type="dcterms:W3CDTF">2019-10-10T03:04:00Z</dcterms:created>
  <dcterms:modified xsi:type="dcterms:W3CDTF">2024-03-07T12:48:29Z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